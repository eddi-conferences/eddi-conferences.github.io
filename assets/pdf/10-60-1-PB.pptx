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935" r:id="rId1"/>
  </p:sldMasterIdLst>
  <p:notesMasterIdLst>
    <p:notesMasterId r:id="rId19"/>
  </p:notesMasterIdLst>
  <p:handoutMasterIdLst>
    <p:handoutMasterId r:id="rId20"/>
  </p:handoutMasterIdLst>
  <p:sldIdLst>
    <p:sldId id="304" r:id="rId2"/>
    <p:sldId id="364" r:id="rId3"/>
    <p:sldId id="405" r:id="rId4"/>
    <p:sldId id="416" r:id="rId5"/>
    <p:sldId id="411" r:id="rId6"/>
    <p:sldId id="412" r:id="rId7"/>
    <p:sldId id="406" r:id="rId8"/>
    <p:sldId id="413" r:id="rId9"/>
    <p:sldId id="414" r:id="rId10"/>
    <p:sldId id="415" r:id="rId11"/>
    <p:sldId id="407" r:id="rId12"/>
    <p:sldId id="408" r:id="rId13"/>
    <p:sldId id="417" r:id="rId14"/>
    <p:sldId id="419" r:id="rId15"/>
    <p:sldId id="409" r:id="rId16"/>
    <p:sldId id="418" r:id="rId17"/>
    <p:sldId id="410" r:id="rId18"/>
  </p:sldIdLst>
  <p:sldSz cx="9144000" cy="6858000" type="screen4x3"/>
  <p:notesSz cx="6794500" cy="99314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99D9"/>
    <a:srgbClr val="2C69B2"/>
    <a:srgbClr val="89C4FF"/>
    <a:srgbClr val="61B0FF"/>
    <a:srgbClr val="33CCFF"/>
    <a:srgbClr val="008000"/>
    <a:srgbClr val="660066"/>
    <a:srgbClr val="A8C6EA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73" autoAdjust="0"/>
    <p:restoredTop sz="85891" autoAdjust="0"/>
  </p:normalViewPr>
  <p:slideViewPr>
    <p:cSldViewPr>
      <p:cViewPr>
        <p:scale>
          <a:sx n="75" d="100"/>
          <a:sy n="75" d="100"/>
        </p:scale>
        <p:origin x="-17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C917143A-0C50-4D97-A04E-D2D15AB4A508}" type="datetimeFigureOut">
              <a:rPr lang="de-DE"/>
              <a:pPr>
                <a:defRPr/>
              </a:pPr>
              <a:t>02.12.2012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5F3A6675-CFA4-49FC-8A85-EEFE9718407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283" cy="496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8645" y="0"/>
            <a:ext cx="2944283" cy="496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6B204713-553F-410C-A27F-96EDE1972DE0}" type="datetimeFigureOut">
              <a:rPr lang="de-DE"/>
              <a:pPr>
                <a:defRPr/>
              </a:pPr>
              <a:t>02.12.2012</a:t>
            </a:fld>
            <a:endParaRPr lang="de-DE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4400" y="744538"/>
            <a:ext cx="4965700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7415"/>
            <a:ext cx="5435600" cy="4469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smtClean="0"/>
              <a:t>Textmasterformate durch Klicken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  <a:p>
            <a:pPr lvl="4"/>
            <a:r>
              <a:rPr lang="de-DE" noProof="0" smtClean="0"/>
              <a:t>Fünfte Ebene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3106"/>
            <a:ext cx="2944283" cy="496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8645" y="9433106"/>
            <a:ext cx="2944283" cy="496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CAE0258B-E6C0-470B-B89F-41C0090B2096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de-DE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de-DE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de-DE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de-DE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de-DE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de-DE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de-DE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smtClean="0"/>
              <a:t>from "DDI_3.1_Part_II_UserGuide.pdf", line 890:</a:t>
            </a:r>
          </a:p>
          <a:p>
            <a:pPr eaLnBrk="1" hangingPunct="1"/>
            <a:r>
              <a:rPr lang="en-US" dirty="0" smtClean="0"/>
              <a:t>Note that the purpose of Topical Coverage is different than that of concept and universe. </a:t>
            </a:r>
          </a:p>
          <a:p>
            <a:pPr eaLnBrk="1" hangingPunct="1"/>
            <a:r>
              <a:rPr lang="en-US" dirty="0" smtClean="0"/>
              <a:t>Concepts are what questions and variables are designed to measure and universe describes the </a:t>
            </a:r>
          </a:p>
          <a:p>
            <a:pPr eaLnBrk="1" hangingPunct="1"/>
            <a:r>
              <a:rPr lang="en-US" dirty="0" smtClean="0"/>
              <a:t>object to which the concept refers. These tend to be very specific and well defined. Subject </a:t>
            </a:r>
          </a:p>
          <a:p>
            <a:pPr eaLnBrk="1" hangingPunct="1"/>
            <a:r>
              <a:rPr lang="en-US" dirty="0" smtClean="0"/>
              <a:t>and keywords are more loosely applied and may reflect more about how someone would search for </a:t>
            </a:r>
          </a:p>
          <a:p>
            <a:pPr eaLnBrk="1" hangingPunct="1"/>
            <a:r>
              <a:rPr lang="en-US" dirty="0" smtClean="0"/>
              <a:t>specific information as opposed to the specified intent of the researcher.</a:t>
            </a:r>
            <a:endParaRPr lang="de-DE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de-DE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de-DE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de-DE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de-DE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de-DE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de-DE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de-DE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de-DE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leichschenkliges Dreieck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9" name="Untertitel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de-DE" smtClean="0"/>
              <a:t>Formatvorlage des Untertitelmasters durch Klicken bearbeiten</a:t>
            </a:r>
            <a:endParaRPr kumimoji="0" lang="en-US"/>
          </a:p>
        </p:txBody>
      </p:sp>
      <p:sp>
        <p:nvSpPr>
          <p:cNvPr id="28" name="Datumsplatzhalter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pPr>
              <a:defRPr/>
            </a:pPr>
            <a:r>
              <a:rPr lang="en-US" b="1" dirty="0" smtClean="0"/>
              <a:t>December 3-4, 2012 in Bergen, Norway</a:t>
            </a:r>
          </a:p>
          <a:p>
            <a:pPr>
              <a:defRPr/>
            </a:pPr>
            <a:endParaRPr lang="de-DE" dirty="0"/>
          </a:p>
        </p:txBody>
      </p:sp>
      <p:sp>
        <p:nvSpPr>
          <p:cNvPr id="17" name="Fußzeilenplatzhalter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pPr>
              <a:defRPr/>
            </a:pPr>
            <a:r>
              <a:rPr lang="en-US" b="1" dirty="0" smtClean="0"/>
              <a:t>EDDI12 – 4th Annual European DDI User Conference</a:t>
            </a:r>
            <a:endParaRPr lang="de-DE" dirty="0"/>
          </a:p>
        </p:txBody>
      </p:sp>
      <p:sp>
        <p:nvSpPr>
          <p:cNvPr id="29" name="Foliennummernplatzhalter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31C416C-0A84-4E47-8F45-DB22EE5F6640}" type="slidenum">
              <a:rPr lang="de-DE" smtClean="0"/>
              <a:pPr>
                <a:defRPr/>
              </a:pPr>
              <a:t>‹Nr.›</a:t>
            </a:fld>
            <a:r>
              <a:rPr lang="de-DE" smtClean="0"/>
              <a:t>1</a:t>
            </a:r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1052736"/>
            <a:ext cx="8229600" cy="1399032"/>
          </a:xfrm>
        </p:spPr>
        <p:txBody>
          <a:bodyPr/>
          <a:lstStyle/>
          <a:p>
            <a:r>
              <a:rPr kumimoji="0" lang="de-DE" dirty="0" smtClean="0"/>
              <a:t>Titelmasterformat durch Klicken bearbeiten</a:t>
            </a:r>
            <a:endParaRPr kumimoji="0"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564904"/>
            <a:ext cx="8229600" cy="3889904"/>
          </a:xfrm>
        </p:spPr>
        <p:txBody>
          <a:bodyPr/>
          <a:lstStyle/>
          <a:p>
            <a:pPr lvl="0" eaLnBrk="1" latinLnBrk="0" hangingPunct="1"/>
            <a:r>
              <a:rPr lang="de-DE" dirty="0" smtClean="0"/>
              <a:t>Textmasterformate durch Klicken bearbeiten</a:t>
            </a:r>
          </a:p>
          <a:p>
            <a:pPr lvl="1" eaLnBrk="1" latinLnBrk="0" hangingPunct="1"/>
            <a:r>
              <a:rPr lang="de-DE" dirty="0" smtClean="0"/>
              <a:t>Zweite Ebene</a:t>
            </a:r>
          </a:p>
          <a:p>
            <a:pPr lvl="2" eaLnBrk="1" latinLnBrk="0" hangingPunct="1"/>
            <a:r>
              <a:rPr lang="de-DE" dirty="0" smtClean="0"/>
              <a:t>Dritte Ebene</a:t>
            </a:r>
          </a:p>
          <a:p>
            <a:pPr lvl="3" eaLnBrk="1" latinLnBrk="0" hangingPunct="1"/>
            <a:r>
              <a:rPr lang="de-DE" dirty="0" smtClean="0"/>
              <a:t>Vierte Ebene</a:t>
            </a:r>
          </a:p>
          <a:p>
            <a:pPr lvl="4" eaLnBrk="1" latinLnBrk="0" hangingPunct="1"/>
            <a:r>
              <a:rPr lang="de-DE" dirty="0" smtClean="0"/>
              <a:t>Fünfte Ebene</a:t>
            </a:r>
            <a:endParaRPr kumimoji="0"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pPr>
              <a:defRPr/>
            </a:pPr>
            <a:fld id="{962B937B-77B1-46C4-BE9C-25CF6F48DD17}" type="datetime1">
              <a:rPr lang="de-DE" smtClean="0"/>
              <a:pPr>
                <a:defRPr/>
              </a:pPr>
              <a:t>02.12.2012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pPr>
              <a:defRPr/>
            </a:pPr>
            <a:r>
              <a:rPr lang="de-DE" smtClean="0"/>
              <a:t>IL Sitzung, 18. März 2010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C84B4C-0D4A-4877-8625-36DD759D6A9B}" type="slidenum">
              <a:rPr lang="de-DE" smtClean="0"/>
              <a:pPr>
                <a:defRPr/>
              </a:pPr>
              <a:t>‹Nr.›</a:t>
            </a:fld>
            <a:r>
              <a:rPr lang="de-DE" smtClean="0"/>
              <a:t>1</a:t>
            </a:r>
            <a:endParaRPr lang="de-DE"/>
          </a:p>
        </p:txBody>
      </p:sp>
      <p:pic>
        <p:nvPicPr>
          <p:cNvPr id="7" name="Grafik 6" descr="GS_Kopf PPT_en.bmp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überschrif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winkliges Dreieck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Gleichschenkliges Dreieck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pPr>
              <a:defRPr/>
            </a:pPr>
            <a:fld id="{751C9C0D-1B5F-45B5-8339-752B4722C45C}" type="datetime1">
              <a:rPr lang="de-DE" smtClean="0"/>
              <a:pPr>
                <a:defRPr/>
              </a:pPr>
              <a:t>02.12.2012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pPr>
              <a:defRPr/>
            </a:pPr>
            <a:r>
              <a:rPr lang="de-DE" smtClean="0"/>
              <a:t>IL Sitzung, 18. März 2010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pPr>
              <a:defRPr/>
            </a:pPr>
            <a:fld id="{6E389D81-3CBB-46C5-BD08-E713E12F1384}" type="slidenum">
              <a:rPr lang="de-DE" smtClean="0"/>
              <a:pPr>
                <a:defRPr/>
              </a:pPr>
              <a:t>‹Nr.›</a:t>
            </a:fld>
            <a:r>
              <a:rPr lang="de-DE" smtClean="0"/>
              <a:t>1</a:t>
            </a:r>
            <a:endParaRPr lang="de-DE"/>
          </a:p>
        </p:txBody>
      </p:sp>
      <p:cxnSp>
        <p:nvCxnSpPr>
          <p:cNvPr id="11" name="Gerade Verbindung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de-DE" smtClean="0"/>
              <a:t>Textmasterformate durch Klicken bearbeiten</a:t>
            </a:r>
          </a:p>
        </p:txBody>
      </p:sp>
      <p:pic>
        <p:nvPicPr>
          <p:cNvPr id="12" name="Grafik 11" descr="GS_Kopf PPT_en.bmp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pPr>
              <a:defRPr/>
            </a:pPr>
            <a:fld id="{B41455BA-81F6-4F6F-A3BC-E1E5BC00C1C7}" type="datetime1">
              <a:rPr lang="de-DE" smtClean="0"/>
              <a:pPr>
                <a:defRPr/>
              </a:pPr>
              <a:t>02.12.2012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pPr>
              <a:defRPr/>
            </a:pPr>
            <a:r>
              <a:rPr lang="de-DE" smtClean="0"/>
              <a:t>IL Sitzung, 18. März 2010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pPr>
              <a:defRPr/>
            </a:pPr>
            <a:fld id="{31E65F30-EDFE-4C91-A20C-07B8595B623C}" type="slidenum">
              <a:rPr lang="de-DE" smtClean="0"/>
              <a:pPr>
                <a:defRPr/>
              </a:pPr>
              <a:t>‹Nr.›</a:t>
            </a:fld>
            <a:r>
              <a:rPr lang="de-DE" smtClean="0"/>
              <a:t>1</a:t>
            </a:r>
            <a:endParaRPr lang="de-DE"/>
          </a:p>
        </p:txBody>
      </p:sp>
      <p:pic>
        <p:nvPicPr>
          <p:cNvPr id="8" name="Grafik 7" descr="GS_Kopf PPT_en.bmp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Vergleich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de-DE" smtClean="0"/>
              <a:t>Textmasterformate durch Klicken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de-DE" smtClean="0"/>
              <a:t>Textmasterformate durch Klicken bearbeiten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pPr>
              <a:defRPr/>
            </a:pPr>
            <a:fld id="{068C09C5-E81F-4F7F-B350-3899C6D0FC46}" type="datetime1">
              <a:rPr lang="de-DE" smtClean="0"/>
              <a:pPr>
                <a:defRPr/>
              </a:pPr>
              <a:t>02.12.2012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pPr>
              <a:defRPr/>
            </a:pPr>
            <a:r>
              <a:rPr lang="de-DE" smtClean="0"/>
              <a:t>IL Sitzung, 18. März 2010</a:t>
            </a: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3BABC6F1-9C43-4763-A21E-4FAEDACFB1CD}" type="slidenum">
              <a:rPr lang="de-DE" smtClean="0"/>
              <a:pPr>
                <a:defRPr/>
              </a:pPr>
              <a:t>‹Nr.›</a:t>
            </a:fld>
            <a:r>
              <a:rPr lang="de-DE" smtClean="0"/>
              <a:t>1</a:t>
            </a:r>
            <a:endParaRPr lang="de-DE"/>
          </a:p>
        </p:txBody>
      </p:sp>
      <p:pic>
        <p:nvPicPr>
          <p:cNvPr id="10" name="Grafik 9" descr="GS_Kopf PPT_en.bmp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59AEC70-5DE6-4834-903F-F28D35E2745F}" type="datetime1">
              <a:rPr lang="de-DE" smtClean="0"/>
              <a:pPr>
                <a:defRPr/>
              </a:pPr>
              <a:t>02.12.2012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IL Sitzung, 18. März 2010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1B9FEE-4599-4766-A762-D997757D29BC}" type="slidenum">
              <a:rPr lang="de-DE" smtClean="0"/>
              <a:pPr>
                <a:defRPr/>
              </a:pPr>
              <a:t>‹Nr.›</a:t>
            </a:fld>
            <a:r>
              <a:rPr lang="de-DE" smtClean="0"/>
              <a:t>1</a:t>
            </a:r>
            <a:endParaRPr lang="de-DE"/>
          </a:p>
        </p:txBody>
      </p:sp>
      <p:pic>
        <p:nvPicPr>
          <p:cNvPr id="6" name="Grafik 5" descr="GS_Kopf PPT_en.bmp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7CB97365-EBCA-4027-87D5-99FC1D4DF0BB}" type="datetimeFigureOut">
              <a:rPr lang="en-US" smtClean="0"/>
              <a:pPr/>
              <a:t>12/2/2012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69E29E33-B620-47F9-BB04-8846C2A5AFCC}" type="slidenum">
              <a:rPr kumimoji="0" lang="en-US" smtClean="0"/>
              <a:pPr/>
              <a:t>‹Nr.›</a:t>
            </a:fld>
            <a:endParaRPr kumimoji="0" lang="en-US"/>
          </a:p>
        </p:txBody>
      </p:sp>
      <p:pic>
        <p:nvPicPr>
          <p:cNvPr id="5" name="Grafik 4" descr="GS_Kopf PPT_en.bmp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pPr>
              <a:defRPr/>
            </a:pPr>
            <a:fld id="{F9FB7D46-2A44-4917-83A2-7269685E6C5A}" type="datetime1">
              <a:rPr lang="de-DE" smtClean="0"/>
              <a:pPr>
                <a:defRPr/>
              </a:pPr>
              <a:t>02.12.2012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pPr>
              <a:defRPr/>
            </a:pPr>
            <a:fld id="{6B739B44-FEFF-4C20-BB4C-CE146E55EE91}" type="slidenum">
              <a:rPr lang="de-DE" smtClean="0"/>
              <a:pPr>
                <a:defRPr/>
              </a:pPr>
              <a:t>‹Nr.›</a:t>
            </a:fld>
            <a:r>
              <a:rPr lang="de-DE" smtClean="0"/>
              <a:t>1</a:t>
            </a:r>
            <a:endParaRPr lang="de-DE"/>
          </a:p>
        </p:txBody>
      </p:sp>
      <p:pic>
        <p:nvPicPr>
          <p:cNvPr id="8" name="Grafik 7" descr="GS_Kopf PPT_en.bmp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de-DE" smtClean="0"/>
              <a:t>Bild durch Klicken auf Symbol hinzufügen</a:t>
            </a:r>
            <a:endParaRPr kumimoji="0" lang="en-US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pPr>
              <a:defRPr/>
            </a:pPr>
            <a:fld id="{7B1729B4-1FD8-49B9-87FA-7F9F6320A6DA}" type="datetime1">
              <a:rPr lang="de-DE" smtClean="0"/>
              <a:pPr>
                <a:defRPr/>
              </a:pPr>
              <a:t>02.12.2012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pPr>
              <a:defRPr/>
            </a:pPr>
            <a:r>
              <a:rPr lang="de-DE" smtClean="0"/>
              <a:t>IL Sitzung, 18. März 2010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pPr>
              <a:defRPr/>
            </a:pPr>
            <a:fld id="{9495984F-337F-4783-B022-607C6AFBBC08}" type="slidenum">
              <a:rPr lang="de-DE" smtClean="0"/>
              <a:pPr>
                <a:defRPr/>
              </a:pPr>
              <a:t>‹Nr.›</a:t>
            </a:fld>
            <a:r>
              <a:rPr lang="de-DE" smtClean="0"/>
              <a:t>1</a:t>
            </a:r>
            <a:endParaRPr lang="de-DE"/>
          </a:p>
        </p:txBody>
      </p:sp>
      <p:pic>
        <p:nvPicPr>
          <p:cNvPr id="8" name="Grafik 7" descr="GS_Kopf PPT_en.bmp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898518-3E68-459B-A548-1597C876D3CD}" type="datetime1">
              <a:rPr lang="de-DE" smtClean="0"/>
              <a:pPr>
                <a:defRPr/>
              </a:pPr>
              <a:t>02.12.2012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Sitzung, 18. März 2010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5DAE4F-910A-4DA8-8D33-0380B40A027A}" type="slidenum">
              <a:rPr lang="de-DE" smtClean="0"/>
              <a:pPr>
                <a:defRPr/>
              </a:pPr>
              <a:t>‹Nr.›</a:t>
            </a:fld>
            <a:r>
              <a:rPr lang="de-DE" smtClean="0"/>
              <a:t>1</a:t>
            </a:r>
            <a:endParaRPr lang="de-DE"/>
          </a:p>
        </p:txBody>
      </p:sp>
      <p:pic>
        <p:nvPicPr>
          <p:cNvPr id="7" name="Grafik 6" descr="GS_Kopf PPT_en.bmp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61EAC5D-1AC1-4D0B-9BB4-341379A78152}" type="datetime1">
              <a:rPr lang="de-DE" smtClean="0"/>
              <a:pPr>
                <a:defRPr/>
              </a:pPr>
              <a:t>02.12.2012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IL Sitzung, 18. März 2010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31B196-8F1B-41E6-90B1-866463C1D57B}" type="slidenum">
              <a:rPr lang="de-DE" smtClean="0"/>
              <a:pPr>
                <a:defRPr/>
              </a:pPr>
              <a:t>‹Nr.›</a:t>
            </a:fld>
            <a:r>
              <a:rPr lang="de-DE" smtClean="0"/>
              <a:t>1</a:t>
            </a:r>
            <a:endParaRPr lang="de-DE"/>
          </a:p>
        </p:txBody>
      </p:sp>
      <p:pic>
        <p:nvPicPr>
          <p:cNvPr id="7" name="Grafik 6" descr="GS_Kopf PPT_en.bmp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GS_Kopf PPT_en.bmp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winkliges Dreieck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Gerade Verbindung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elplatzhalter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13" name="Textplatzhalter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de-DE" smtClean="0"/>
              <a:t>Textmasterformate durch Klicken bearbeiten</a:t>
            </a:r>
          </a:p>
          <a:p>
            <a:pPr lvl="1" eaLnBrk="1" latinLnBrk="0" hangingPunct="1"/>
            <a:r>
              <a:rPr kumimoji="0" lang="de-DE" smtClean="0"/>
              <a:t>Zweite Ebene</a:t>
            </a:r>
          </a:p>
          <a:p>
            <a:pPr lvl="2" eaLnBrk="1" latinLnBrk="0" hangingPunct="1"/>
            <a:r>
              <a:rPr kumimoji="0" lang="de-DE" smtClean="0"/>
              <a:t>Dritte Ebene</a:t>
            </a:r>
          </a:p>
          <a:p>
            <a:pPr lvl="3" eaLnBrk="1" latinLnBrk="0" hangingPunct="1"/>
            <a:r>
              <a:rPr kumimoji="0" lang="de-DE" smtClean="0"/>
              <a:t>Vierte Ebene</a:t>
            </a:r>
          </a:p>
          <a:p>
            <a:pPr lvl="4" eaLnBrk="1" latinLnBrk="0" hangingPunct="1"/>
            <a:r>
              <a:rPr kumimoji="0" lang="de-DE" smtClean="0"/>
              <a:t>Fünfte Ebene</a:t>
            </a:r>
            <a:endParaRPr kumimoji="0" lang="en-US"/>
          </a:p>
        </p:txBody>
      </p:sp>
      <p:sp>
        <p:nvSpPr>
          <p:cNvPr id="14" name="Datumsplatzhalter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9FB7D46-2A44-4917-83A2-7269685E6C5A}" type="datetime1">
              <a:rPr lang="de-DE" smtClean="0"/>
              <a:pPr>
                <a:defRPr/>
              </a:pPr>
              <a:t>02.12.2012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3" name="Foliennummernplatzhalter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B739B44-FEFF-4C20-BB4C-CE146E55EE91}" type="slidenum">
              <a:rPr lang="de-DE" smtClean="0"/>
              <a:pPr>
                <a:defRPr/>
              </a:pPr>
              <a:t>‹Nr.›</a:t>
            </a:fld>
            <a:r>
              <a:rPr lang="de-DE" smtClean="0"/>
              <a:t>1</a:t>
            </a:r>
            <a:endParaRPr lang="de-DE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  <p:sldLayoutId id="2147483744" r:id="rId12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Wolfgang.Zenk-Moeltgen@gesis.or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dx.doi.org/10.4232/1.3431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mailto:Wolfgang.Zenk-Moeltgen@gesis.org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Sharing Category Systems for Survey Items with Others in DDI-Lifecycle Format</a:t>
            </a:r>
            <a:endParaRPr lang="de-DE" dirty="0"/>
          </a:p>
        </p:txBody>
      </p:sp>
      <p:sp>
        <p:nvSpPr>
          <p:cNvPr id="4" name="Untertitel 3"/>
          <p:cNvSpPr>
            <a:spLocks noGrp="1"/>
          </p:cNvSpPr>
          <p:nvPr>
            <p:ph type="subTitle" idx="1"/>
          </p:nvPr>
        </p:nvSpPr>
        <p:spPr>
          <a:xfrm>
            <a:off x="179512" y="4941168"/>
            <a:ext cx="8062912" cy="1752600"/>
          </a:xfrm>
        </p:spPr>
        <p:txBody>
          <a:bodyPr>
            <a:normAutofit/>
          </a:bodyPr>
          <a:lstStyle/>
          <a:p>
            <a:pPr algn="l"/>
            <a:r>
              <a:rPr lang="de-DE" sz="2400" dirty="0" smtClean="0"/>
              <a:t>Wolfgang Zenk-Möltgen</a:t>
            </a:r>
            <a:br>
              <a:rPr lang="de-DE" sz="2400" dirty="0" smtClean="0"/>
            </a:br>
            <a:r>
              <a:rPr lang="de-DE" sz="2400" dirty="0" smtClean="0"/>
              <a:t>GESIS – Leibniz Institute </a:t>
            </a:r>
            <a:r>
              <a:rPr lang="de-DE" sz="2400" dirty="0" err="1" smtClean="0"/>
              <a:t>for</a:t>
            </a:r>
            <a:r>
              <a:rPr lang="de-DE" sz="2400" dirty="0" smtClean="0"/>
              <a:t> </a:t>
            </a:r>
            <a:r>
              <a:rPr lang="de-DE" sz="2400" dirty="0" err="1" smtClean="0"/>
              <a:t>the</a:t>
            </a:r>
            <a:r>
              <a:rPr lang="de-DE" sz="2400" dirty="0" smtClean="0"/>
              <a:t> </a:t>
            </a:r>
            <a:r>
              <a:rPr lang="de-DE" sz="2400" dirty="0" err="1" smtClean="0"/>
              <a:t>Social</a:t>
            </a:r>
            <a:r>
              <a:rPr lang="de-DE" sz="2400" dirty="0" smtClean="0"/>
              <a:t> </a:t>
            </a:r>
            <a:r>
              <a:rPr lang="de-DE" sz="2400" dirty="0" err="1" smtClean="0"/>
              <a:t>Sciences</a:t>
            </a:r>
            <a:r>
              <a:rPr lang="de-DE" sz="3200" dirty="0" smtClean="0"/>
              <a:t/>
            </a:r>
            <a:br>
              <a:rPr lang="de-DE" sz="3200" dirty="0" smtClean="0"/>
            </a:br>
            <a:r>
              <a:rPr lang="de-DE" sz="2000" dirty="0" smtClean="0">
                <a:hlinkClick r:id="rId3"/>
              </a:rPr>
              <a:t>Wolfgang.Zenk-Moeltgen@gesis.org</a:t>
            </a:r>
            <a:endParaRPr lang="de-DE" dirty="0"/>
          </a:p>
        </p:txBody>
      </p:sp>
      <p:sp>
        <p:nvSpPr>
          <p:cNvPr id="5" name="Datumsplatzhalter 27"/>
          <p:cNvSpPr>
            <a:spLocks noGrp="1"/>
          </p:cNvSpPr>
          <p:nvPr>
            <p:ph type="dt" sz="half" idx="10"/>
          </p:nvPr>
        </p:nvSpPr>
        <p:spPr>
          <a:xfrm>
            <a:off x="2699792" y="285293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pPr>
              <a:defRPr/>
            </a:pPr>
            <a:r>
              <a:rPr lang="en-US" sz="1200" b="1" dirty="0" smtClean="0">
                <a:latin typeface="+mn-lt"/>
              </a:rPr>
              <a:t>December 3-4, 2012 in Bergen, Norway</a:t>
            </a:r>
          </a:p>
          <a:p>
            <a:pPr>
              <a:defRPr/>
            </a:pPr>
            <a:endParaRPr lang="de-DE" sz="1200" dirty="0">
              <a:latin typeface="+mn-lt"/>
            </a:endParaRPr>
          </a:p>
        </p:txBody>
      </p:sp>
      <p:sp>
        <p:nvSpPr>
          <p:cNvPr id="6" name="Fußzeilenplatzhalter 16"/>
          <p:cNvSpPr>
            <a:spLocks noGrp="1"/>
          </p:cNvSpPr>
          <p:nvPr>
            <p:ph type="ftr" sz="quarter" idx="11"/>
          </p:nvPr>
        </p:nvSpPr>
        <p:spPr>
          <a:xfrm>
            <a:off x="2699792" y="249098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pPr>
              <a:defRPr/>
            </a:pPr>
            <a:r>
              <a:rPr lang="en-US" sz="1200" b="1" dirty="0" smtClean="0">
                <a:latin typeface="+mn-lt"/>
              </a:rPr>
              <a:t>EDDI12 – 4th Annual European DDI User Conference</a:t>
            </a:r>
            <a:endParaRPr lang="de-DE" sz="12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dirty="0" err="1" smtClean="0"/>
              <a:t>Overview</a:t>
            </a:r>
            <a:endParaRPr lang="de-DE" dirty="0" smtClean="0"/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de-DE" dirty="0" err="1" smtClean="0"/>
              <a:t>What</a:t>
            </a:r>
            <a:r>
              <a:rPr lang="de-DE" dirty="0" smtClean="0"/>
              <a:t> </a:t>
            </a:r>
            <a:r>
              <a:rPr lang="de-DE" dirty="0" err="1" smtClean="0"/>
              <a:t>we</a:t>
            </a:r>
            <a:r>
              <a:rPr lang="de-DE" dirty="0" smtClean="0"/>
              <a:t> </a:t>
            </a:r>
            <a:r>
              <a:rPr lang="de-DE" dirty="0" err="1" smtClean="0"/>
              <a:t>have</a:t>
            </a:r>
            <a:endParaRPr lang="de-DE" dirty="0" smtClean="0"/>
          </a:p>
          <a:p>
            <a:pPr eaLnBrk="1" hangingPunct="1"/>
            <a:r>
              <a:rPr lang="de-DE" dirty="0" err="1" smtClean="0"/>
              <a:t>What</a:t>
            </a:r>
            <a:r>
              <a:rPr lang="de-DE" dirty="0" smtClean="0"/>
              <a:t> </a:t>
            </a:r>
            <a:r>
              <a:rPr lang="de-DE" dirty="0" err="1" smtClean="0"/>
              <a:t>we</a:t>
            </a:r>
            <a:r>
              <a:rPr lang="de-DE" dirty="0" smtClean="0"/>
              <a:t> </a:t>
            </a:r>
            <a:r>
              <a:rPr lang="de-DE" dirty="0" err="1" smtClean="0"/>
              <a:t>want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do</a:t>
            </a:r>
          </a:p>
          <a:p>
            <a:pPr eaLnBrk="1" hangingPunct="1"/>
            <a:r>
              <a:rPr lang="de-DE" dirty="0" err="1" smtClean="0"/>
              <a:t>Possibilities</a:t>
            </a:r>
            <a:r>
              <a:rPr lang="de-DE" dirty="0" smtClean="0"/>
              <a:t> in DDI-</a:t>
            </a:r>
            <a:r>
              <a:rPr lang="de-DE" dirty="0" err="1" smtClean="0"/>
              <a:t>Lifecycle</a:t>
            </a:r>
            <a:endParaRPr lang="de-DE" dirty="0" smtClean="0"/>
          </a:p>
          <a:p>
            <a:pPr eaLnBrk="1" hangingPunct="1"/>
            <a:r>
              <a:rPr lang="de-DE" dirty="0" smtClean="0"/>
              <a:t>Evaluation </a:t>
            </a:r>
            <a:r>
              <a:rPr lang="de-DE" dirty="0" err="1" smtClean="0"/>
              <a:t>Criteria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Results</a:t>
            </a:r>
            <a:endParaRPr lang="de-DE" dirty="0" smtClean="0"/>
          </a:p>
          <a:p>
            <a:pPr eaLnBrk="1" hangingPunct="1"/>
            <a:r>
              <a:rPr lang="de-DE" dirty="0" err="1" smtClean="0"/>
              <a:t>Recommendations</a:t>
            </a:r>
            <a:endParaRPr lang="de-DE" dirty="0" smtClean="0"/>
          </a:p>
          <a:p>
            <a:pPr eaLnBrk="1" hangingPunct="1"/>
            <a:endParaRPr lang="de-DE" dirty="0" smtClean="0"/>
          </a:p>
          <a:p>
            <a:pPr eaLnBrk="1" hangingPunct="1"/>
            <a:endParaRPr lang="de-DE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dirty="0" err="1" smtClean="0"/>
              <a:t>What</a:t>
            </a:r>
            <a:r>
              <a:rPr lang="de-DE" dirty="0" smtClean="0"/>
              <a:t> </a:t>
            </a:r>
            <a:r>
              <a:rPr lang="de-DE" dirty="0" err="1" smtClean="0"/>
              <a:t>we</a:t>
            </a:r>
            <a:r>
              <a:rPr lang="de-DE" dirty="0" smtClean="0"/>
              <a:t> </a:t>
            </a:r>
            <a:r>
              <a:rPr lang="de-DE" dirty="0" err="1" smtClean="0"/>
              <a:t>have</a:t>
            </a:r>
            <a:endParaRPr lang="de-DE" dirty="0" smtClean="0"/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de-DE" dirty="0" err="1" smtClean="0"/>
              <a:t>Category</a:t>
            </a:r>
            <a:r>
              <a:rPr lang="de-DE" dirty="0" smtClean="0"/>
              <a:t> Systems </a:t>
            </a:r>
            <a:r>
              <a:rPr lang="de-DE" dirty="0" err="1" smtClean="0"/>
              <a:t>for</a:t>
            </a:r>
            <a:r>
              <a:rPr lang="de-DE" dirty="0" smtClean="0"/>
              <a:t> Variables</a:t>
            </a:r>
          </a:p>
          <a:p>
            <a:pPr eaLnBrk="1" hangingPunct="1"/>
            <a:r>
              <a:rPr lang="de-DE" dirty="0" err="1" smtClean="0"/>
              <a:t>CodebookExplorer</a:t>
            </a:r>
            <a:r>
              <a:rPr lang="de-DE" dirty="0" smtClean="0"/>
              <a:t> </a:t>
            </a:r>
            <a:r>
              <a:rPr lang="de-DE" dirty="0" err="1" smtClean="0"/>
              <a:t>Application</a:t>
            </a:r>
            <a:endParaRPr lang="de-DE" dirty="0" smtClean="0"/>
          </a:p>
          <a:p>
            <a:pPr eaLnBrk="1" hangingPunct="1"/>
            <a:r>
              <a:rPr lang="de-DE" dirty="0" smtClean="0"/>
              <a:t>Trends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Scales</a:t>
            </a:r>
            <a:endParaRPr lang="de-DE" dirty="0" smtClean="0"/>
          </a:p>
          <a:p>
            <a:pPr eaLnBrk="1" hangingPunct="1"/>
            <a:r>
              <a:rPr lang="de-DE" dirty="0" smtClean="0"/>
              <a:t>Multiple </a:t>
            </a:r>
            <a:r>
              <a:rPr lang="de-DE" dirty="0" err="1" smtClean="0"/>
              <a:t>Languages</a:t>
            </a:r>
            <a:endParaRPr lang="de-DE" dirty="0" smtClean="0"/>
          </a:p>
          <a:p>
            <a:pPr eaLnBrk="1" hangingPunct="1"/>
            <a:r>
              <a:rPr lang="de-DE" dirty="0" err="1" smtClean="0"/>
              <a:t>Hierarchical</a:t>
            </a:r>
            <a:r>
              <a:rPr lang="de-DE" dirty="0" smtClean="0"/>
              <a:t> </a:t>
            </a:r>
            <a:r>
              <a:rPr lang="de-DE" dirty="0" err="1" smtClean="0"/>
              <a:t>Structure</a:t>
            </a:r>
            <a:endParaRPr lang="de-DE" dirty="0" smtClean="0"/>
          </a:p>
          <a:p>
            <a:pPr eaLnBrk="1" hangingPunct="1"/>
            <a:r>
              <a:rPr lang="de-DE" dirty="0" smtClean="0"/>
              <a:t>Variable </a:t>
            </a:r>
            <a:r>
              <a:rPr lang="de-DE" dirty="0" err="1" smtClean="0"/>
              <a:t>Assignments</a:t>
            </a:r>
            <a:endParaRPr lang="de-DE" dirty="0" smtClean="0"/>
          </a:p>
          <a:p>
            <a:pPr eaLnBrk="1" hangingPunct="1"/>
            <a:endParaRPr lang="de-DE" dirty="0" smtClean="0"/>
          </a:p>
          <a:p>
            <a:pPr eaLnBrk="1" hangingPunct="1"/>
            <a:endParaRPr lang="de-DE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dirty="0" err="1" smtClean="0"/>
              <a:t>What</a:t>
            </a:r>
            <a:r>
              <a:rPr lang="de-DE" dirty="0" smtClean="0"/>
              <a:t> </a:t>
            </a:r>
            <a:r>
              <a:rPr lang="de-DE" dirty="0" err="1" smtClean="0"/>
              <a:t>we</a:t>
            </a:r>
            <a:r>
              <a:rPr lang="de-DE" dirty="0" smtClean="0"/>
              <a:t> </a:t>
            </a:r>
            <a:r>
              <a:rPr lang="de-DE" dirty="0" err="1" smtClean="0"/>
              <a:t>want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do</a:t>
            </a:r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de-DE" dirty="0" smtClean="0"/>
              <a:t>Export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Category</a:t>
            </a:r>
            <a:r>
              <a:rPr lang="de-DE" dirty="0" smtClean="0"/>
              <a:t> Systems</a:t>
            </a:r>
          </a:p>
          <a:p>
            <a:pPr eaLnBrk="1" hangingPunct="1"/>
            <a:r>
              <a:rPr lang="de-DE" dirty="0" err="1" smtClean="0"/>
              <a:t>Publish</a:t>
            </a:r>
            <a:r>
              <a:rPr lang="de-DE" dirty="0" smtClean="0"/>
              <a:t> </a:t>
            </a:r>
            <a:r>
              <a:rPr lang="de-DE" dirty="0" err="1" smtClean="0"/>
              <a:t>Independently</a:t>
            </a:r>
            <a:r>
              <a:rPr lang="de-DE" dirty="0" smtClean="0"/>
              <a:t> </a:t>
            </a:r>
            <a:r>
              <a:rPr lang="de-DE" dirty="0" err="1" smtClean="0"/>
              <a:t>from</a:t>
            </a:r>
            <a:r>
              <a:rPr lang="de-DE" dirty="0" smtClean="0"/>
              <a:t> Database</a:t>
            </a:r>
          </a:p>
          <a:p>
            <a:pPr eaLnBrk="1" hangingPunct="1"/>
            <a:r>
              <a:rPr lang="de-DE" dirty="0" smtClean="0"/>
              <a:t>Share </a:t>
            </a:r>
            <a:r>
              <a:rPr lang="de-DE" dirty="0" err="1" smtClean="0"/>
              <a:t>with</a:t>
            </a:r>
            <a:r>
              <a:rPr lang="de-DE" dirty="0" smtClean="0"/>
              <a:t> </a:t>
            </a:r>
            <a:r>
              <a:rPr lang="de-DE" dirty="0" err="1" smtClean="0"/>
              <a:t>Others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be</a:t>
            </a:r>
            <a:r>
              <a:rPr lang="de-DE" dirty="0" smtClean="0"/>
              <a:t> Re-</a:t>
            </a:r>
            <a:r>
              <a:rPr lang="de-DE" dirty="0" err="1" smtClean="0"/>
              <a:t>Used</a:t>
            </a:r>
            <a:endParaRPr lang="de-DE" dirty="0" smtClean="0"/>
          </a:p>
          <a:p>
            <a:pPr eaLnBrk="1" hangingPunct="1"/>
            <a:r>
              <a:rPr lang="de-DE" dirty="0" err="1" smtClean="0"/>
              <a:t>Maintain</a:t>
            </a:r>
            <a:r>
              <a:rPr lang="de-DE" dirty="0" smtClean="0"/>
              <a:t> Versions</a:t>
            </a:r>
          </a:p>
          <a:p>
            <a:pPr eaLnBrk="1" hangingPunct="1"/>
            <a:r>
              <a:rPr lang="de-DE" dirty="0" err="1" smtClean="0"/>
              <a:t>Get</a:t>
            </a:r>
            <a:r>
              <a:rPr lang="de-DE" dirty="0" smtClean="0"/>
              <a:t> </a:t>
            </a:r>
            <a:r>
              <a:rPr lang="de-DE" dirty="0" err="1" smtClean="0"/>
              <a:t>Cited</a:t>
            </a:r>
            <a:endParaRPr lang="de-DE" dirty="0" smtClean="0"/>
          </a:p>
          <a:p>
            <a:pPr eaLnBrk="1" hangingPunct="1"/>
            <a:endParaRPr lang="de-DE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Category</a:t>
            </a:r>
            <a:r>
              <a:rPr lang="de-DE" dirty="0" smtClean="0"/>
              <a:t> Systems </a:t>
            </a:r>
            <a:r>
              <a:rPr lang="de-DE" dirty="0" err="1" smtClean="0"/>
              <a:t>for</a:t>
            </a:r>
            <a:r>
              <a:rPr lang="de-DE" dirty="0" smtClean="0"/>
              <a:t> Variables</a:t>
            </a:r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>
          <a:xfrm>
            <a:off x="457200" y="2564904"/>
            <a:ext cx="8229600" cy="410445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/>
              <a:t>Example Database: “Childhood, Adolescence and becoming an Adult 1991-1997”</a:t>
            </a:r>
            <a:endParaRPr lang="de-DE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Topics: political-social experiences and orientations; youth and becoming adult as a phase in life in the framework of the course of life; courses of development and development risks; life styles, cultures and social  reference groups of young people and the social-structural differentiating of the youth phase.</a:t>
            </a:r>
          </a:p>
          <a:p>
            <a:pPr marL="0" indent="0">
              <a:buNone/>
            </a:pPr>
            <a:endParaRPr lang="en-US" i="1" dirty="0" smtClean="0"/>
          </a:p>
          <a:p>
            <a:pPr marL="0" indent="0">
              <a:buNone/>
            </a:pPr>
            <a:r>
              <a:rPr lang="en-US" sz="2200" i="1" dirty="0" smtClean="0"/>
              <a:t>Source: Fischer, Arthur; </a:t>
            </a:r>
            <a:r>
              <a:rPr lang="en-US" sz="2200" i="1" dirty="0" err="1" smtClean="0"/>
              <a:t>Jugendwerk</a:t>
            </a:r>
            <a:r>
              <a:rPr lang="en-US" sz="2200" i="1" dirty="0" smtClean="0"/>
              <a:t> </a:t>
            </a:r>
            <a:r>
              <a:rPr lang="en-US" sz="2200" i="1" dirty="0" err="1" smtClean="0"/>
              <a:t>der</a:t>
            </a:r>
            <a:r>
              <a:rPr lang="en-US" sz="2200" i="1" dirty="0" smtClean="0"/>
              <a:t> </a:t>
            </a:r>
            <a:r>
              <a:rPr lang="en-US" sz="2200" i="1" dirty="0" err="1" smtClean="0"/>
              <a:t>Deutschen</a:t>
            </a:r>
            <a:r>
              <a:rPr lang="en-US" sz="2200" i="1" dirty="0" smtClean="0"/>
              <a:t> Shell, Hamburg; </a:t>
            </a:r>
            <a:r>
              <a:rPr lang="en-US" sz="2200" i="1" dirty="0" err="1" smtClean="0"/>
              <a:t>Silbereisen</a:t>
            </a:r>
            <a:r>
              <a:rPr lang="en-US" sz="2200" i="1" dirty="0" smtClean="0"/>
              <a:t>, Rainer K.; </a:t>
            </a:r>
            <a:r>
              <a:rPr lang="en-US" sz="2200" i="1" dirty="0" err="1" smtClean="0"/>
              <a:t>Vaskovics</a:t>
            </a:r>
            <a:r>
              <a:rPr lang="en-US" sz="2200" i="1" dirty="0" smtClean="0"/>
              <a:t>, Laszlo A.; </a:t>
            </a:r>
            <a:r>
              <a:rPr lang="en-US" sz="2200" i="1" dirty="0" err="1" smtClean="0"/>
              <a:t>Zinnecker</a:t>
            </a:r>
            <a:r>
              <a:rPr lang="en-US" sz="2200" i="1" dirty="0" smtClean="0"/>
              <a:t>, Jürgen (1999): Childhood, </a:t>
            </a:r>
            <a:r>
              <a:rPr lang="en-US" sz="2200" i="1" dirty="0" err="1" smtClean="0"/>
              <a:t>Adolencence</a:t>
            </a:r>
            <a:r>
              <a:rPr lang="en-US" sz="2200" i="1" dirty="0" smtClean="0"/>
              <a:t>, and Becoming an Adult 1991-1997 - Youth Longitudinal 1991-1995/96. GESIS Data Archive, Cologne. ZA3431 Data file Version 1.0.0, </a:t>
            </a:r>
            <a:r>
              <a:rPr lang="en-US" sz="2200" i="1" dirty="0" smtClean="0">
                <a:hlinkClick r:id="rId3"/>
              </a:rPr>
              <a:t>doi:10.4232/1.3431</a:t>
            </a:r>
            <a:endParaRPr lang="en-US" sz="2200" dirty="0" smtClean="0"/>
          </a:p>
          <a:p>
            <a:pPr marL="0" indent="0">
              <a:buNone/>
            </a:pPr>
            <a:endParaRPr lang="de-DE" dirty="0" smtClean="0"/>
          </a:p>
          <a:p>
            <a:pPr marL="0" indent="0" eaLnBrk="1" hangingPunct="1">
              <a:buFontTx/>
              <a:buChar char="-"/>
            </a:pPr>
            <a:endParaRPr lang="de-DE" dirty="0" smtClean="0"/>
          </a:p>
          <a:p>
            <a:pPr marL="0" indent="0" eaLnBrk="1" hangingPunct="1">
              <a:buFontTx/>
              <a:buChar char="-"/>
            </a:pPr>
            <a:endParaRPr lang="de-DE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de-DE" dirty="0" smtClean="0"/>
              <a:t>Studies </a:t>
            </a:r>
            <a:r>
              <a:rPr lang="de-DE" dirty="0" err="1" smtClean="0"/>
              <a:t>and</a:t>
            </a:r>
            <a:r>
              <a:rPr lang="de-DE" dirty="0" smtClean="0"/>
              <a:t> Variables</a:t>
            </a:r>
          </a:p>
          <a:p>
            <a:pPr eaLnBrk="1" hangingPunct="1"/>
            <a:r>
              <a:rPr lang="de-DE" dirty="0" err="1" smtClean="0"/>
              <a:t>Comparative</a:t>
            </a:r>
            <a:r>
              <a:rPr lang="de-DE" dirty="0" smtClean="0"/>
              <a:t> </a:t>
            </a:r>
            <a:r>
              <a:rPr lang="de-DE" dirty="0" err="1" smtClean="0"/>
              <a:t>Questions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Scales</a:t>
            </a:r>
            <a:endParaRPr lang="de-DE" dirty="0" smtClean="0"/>
          </a:p>
          <a:p>
            <a:pPr eaLnBrk="1" hangingPunct="1"/>
            <a:r>
              <a:rPr lang="de-DE" dirty="0" smtClean="0"/>
              <a:t>English </a:t>
            </a:r>
            <a:r>
              <a:rPr lang="de-DE" dirty="0" err="1" smtClean="0"/>
              <a:t>and</a:t>
            </a:r>
            <a:r>
              <a:rPr lang="de-DE" dirty="0" smtClean="0"/>
              <a:t> Original Language</a:t>
            </a:r>
          </a:p>
          <a:p>
            <a:pPr eaLnBrk="1" hangingPunct="1"/>
            <a:r>
              <a:rPr lang="de-DE" dirty="0" err="1" smtClean="0"/>
              <a:t>Scale</a:t>
            </a:r>
            <a:r>
              <a:rPr lang="de-DE" dirty="0" smtClean="0"/>
              <a:t> </a:t>
            </a:r>
            <a:r>
              <a:rPr lang="de-DE" dirty="0" err="1" smtClean="0"/>
              <a:t>Descriptions</a:t>
            </a:r>
            <a:endParaRPr lang="de-DE" dirty="0" smtClean="0"/>
          </a:p>
          <a:p>
            <a:pPr eaLnBrk="1" hangingPunct="1"/>
            <a:endParaRPr lang="de-DE" dirty="0" smtClean="0"/>
          </a:p>
        </p:txBody>
      </p:sp>
      <p:sp>
        <p:nvSpPr>
          <p:cNvPr id="1331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Screenshots</a:t>
            </a:r>
            <a:endParaRPr lang="de-DE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1080000"/>
            <a:ext cx="7757175" cy="58064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2000" y="1080000"/>
            <a:ext cx="7757175" cy="58064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2000" y="1080000"/>
            <a:ext cx="7757175" cy="58064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12000" y="1080000"/>
            <a:ext cx="7757175" cy="58064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Possibilities</a:t>
            </a:r>
            <a:r>
              <a:rPr lang="de-DE" dirty="0" smtClean="0"/>
              <a:t> in DDI-</a:t>
            </a:r>
            <a:r>
              <a:rPr lang="de-DE" dirty="0" err="1" smtClean="0"/>
              <a:t>Lifecycle</a:t>
            </a:r>
            <a:endParaRPr lang="de-DE" dirty="0" smtClean="0"/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de-DE" dirty="0" err="1" smtClean="0"/>
              <a:t>Concepts</a:t>
            </a:r>
            <a:endParaRPr lang="de-DE" dirty="0" smtClean="0"/>
          </a:p>
          <a:p>
            <a:pPr eaLnBrk="1" hangingPunct="1"/>
            <a:r>
              <a:rPr lang="de-DE" dirty="0" err="1" smtClean="0"/>
              <a:t>Subjects</a:t>
            </a:r>
            <a:endParaRPr lang="de-DE" dirty="0" smtClean="0"/>
          </a:p>
          <a:p>
            <a:pPr eaLnBrk="1" hangingPunct="1"/>
            <a:r>
              <a:rPr lang="de-DE" dirty="0" smtClean="0"/>
              <a:t>Notes</a:t>
            </a:r>
          </a:p>
          <a:p>
            <a:pPr eaLnBrk="1" hangingPunct="1"/>
            <a:r>
              <a:rPr lang="de-DE" dirty="0" err="1" smtClean="0"/>
              <a:t>Controlled</a:t>
            </a:r>
            <a:r>
              <a:rPr lang="de-DE" dirty="0" smtClean="0"/>
              <a:t> </a:t>
            </a:r>
            <a:r>
              <a:rPr lang="de-DE" dirty="0" err="1" smtClean="0"/>
              <a:t>Vocabularies</a:t>
            </a:r>
            <a:r>
              <a:rPr lang="de-DE" dirty="0" smtClean="0"/>
              <a:t> (</a:t>
            </a:r>
            <a:r>
              <a:rPr lang="de-DE" dirty="0" err="1" smtClean="0"/>
              <a:t>Genericode</a:t>
            </a:r>
            <a:r>
              <a:rPr lang="de-DE" dirty="0" smtClean="0"/>
              <a:t>)</a:t>
            </a:r>
          </a:p>
          <a:p>
            <a:pPr eaLnBrk="1" hangingPunct="1"/>
            <a:endParaRPr lang="de-DE" dirty="0" smtClean="0"/>
          </a:p>
          <a:p>
            <a:pPr eaLnBrk="1" hangingPunct="1"/>
            <a:endParaRPr lang="de-DE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Concepts</a:t>
            </a:r>
            <a:endParaRPr lang="de-DE" dirty="0" smtClean="0"/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de-DE" dirty="0" err="1" smtClean="0"/>
              <a:t>ConceptScheme</a:t>
            </a:r>
            <a:r>
              <a:rPr lang="de-DE" dirty="0" smtClean="0"/>
              <a:t> in </a:t>
            </a:r>
            <a:r>
              <a:rPr lang="de-DE" dirty="0" err="1" smtClean="0"/>
              <a:t>RessourcePackage</a:t>
            </a:r>
            <a:endParaRPr lang="de-DE" dirty="0" smtClean="0"/>
          </a:p>
          <a:p>
            <a:pPr eaLnBrk="1" hangingPunct="1"/>
            <a:r>
              <a:rPr lang="de-DE" dirty="0" err="1" smtClean="0"/>
              <a:t>Concept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each</a:t>
            </a:r>
            <a:r>
              <a:rPr lang="de-DE" dirty="0" smtClean="0"/>
              <a:t> </a:t>
            </a:r>
            <a:r>
              <a:rPr lang="de-DE" dirty="0" err="1" smtClean="0"/>
              <a:t>Node</a:t>
            </a:r>
            <a:endParaRPr lang="de-DE" dirty="0" smtClean="0"/>
          </a:p>
          <a:p>
            <a:pPr lvl="1"/>
            <a:r>
              <a:rPr lang="de-DE" dirty="0" smtClean="0"/>
              <a:t>Label</a:t>
            </a:r>
          </a:p>
          <a:p>
            <a:pPr lvl="1"/>
            <a:r>
              <a:rPr lang="de-DE" dirty="0" smtClean="0"/>
              <a:t>Description</a:t>
            </a:r>
          </a:p>
          <a:p>
            <a:pPr lvl="1"/>
            <a:r>
              <a:rPr lang="de-DE" dirty="0" err="1" smtClean="0"/>
              <a:t>UserID</a:t>
            </a:r>
            <a:endParaRPr lang="de-DE" dirty="0" smtClean="0"/>
          </a:p>
          <a:p>
            <a:r>
              <a:rPr lang="de-DE" dirty="0" err="1" smtClean="0"/>
              <a:t>ConceptGroup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Root </a:t>
            </a:r>
            <a:r>
              <a:rPr lang="de-DE" dirty="0" err="1" smtClean="0"/>
              <a:t>Node</a:t>
            </a:r>
            <a:endParaRPr lang="de-DE" dirty="0" smtClean="0"/>
          </a:p>
          <a:p>
            <a:pPr lvl="1"/>
            <a:r>
              <a:rPr lang="de-DE" dirty="0" err="1" smtClean="0"/>
              <a:t>Nested</a:t>
            </a:r>
            <a:r>
              <a:rPr lang="de-DE" dirty="0" smtClean="0"/>
              <a:t> </a:t>
            </a:r>
            <a:r>
              <a:rPr lang="de-DE" dirty="0" err="1" smtClean="0"/>
              <a:t>ConceptReferences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Structure</a:t>
            </a:r>
            <a:endParaRPr lang="de-DE" dirty="0" smtClean="0"/>
          </a:p>
          <a:p>
            <a:r>
              <a:rPr lang="de-DE" dirty="0" smtClean="0"/>
              <a:t>Variables </a:t>
            </a:r>
            <a:r>
              <a:rPr lang="de-DE" dirty="0" err="1" smtClean="0"/>
              <a:t>use</a:t>
            </a:r>
            <a:r>
              <a:rPr lang="de-DE" dirty="0" smtClean="0"/>
              <a:t> </a:t>
            </a:r>
            <a:r>
              <a:rPr lang="de-DE" dirty="0" err="1" smtClean="0"/>
              <a:t>ConceptReference</a:t>
            </a:r>
            <a:endParaRPr lang="de-DE" dirty="0" smtClean="0"/>
          </a:p>
          <a:p>
            <a:pPr eaLnBrk="1" hangingPunct="1"/>
            <a:endParaRPr lang="de-DE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Subjects</a:t>
            </a:r>
            <a:endParaRPr lang="de-DE" dirty="0" smtClean="0"/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de-DE" dirty="0" err="1" smtClean="0"/>
              <a:t>TopicalCoverage</a:t>
            </a:r>
            <a:r>
              <a:rPr lang="de-DE" dirty="0" smtClean="0"/>
              <a:t> in </a:t>
            </a:r>
            <a:r>
              <a:rPr lang="de-DE" dirty="0" err="1" smtClean="0"/>
              <a:t>Coverage</a:t>
            </a:r>
            <a:r>
              <a:rPr lang="de-DE" dirty="0" smtClean="0"/>
              <a:t> in </a:t>
            </a:r>
            <a:r>
              <a:rPr lang="de-DE" dirty="0" err="1" smtClean="0"/>
              <a:t>RessourcePackage</a:t>
            </a:r>
            <a:endParaRPr lang="de-DE" dirty="0" smtClean="0"/>
          </a:p>
          <a:p>
            <a:pPr eaLnBrk="1" hangingPunct="1"/>
            <a:r>
              <a:rPr lang="de-DE" dirty="0" err="1" smtClean="0"/>
              <a:t>Subject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each</a:t>
            </a:r>
            <a:r>
              <a:rPr lang="de-DE" dirty="0" smtClean="0"/>
              <a:t> </a:t>
            </a:r>
            <a:r>
              <a:rPr lang="de-DE" dirty="0" err="1" smtClean="0"/>
              <a:t>Node</a:t>
            </a:r>
            <a:endParaRPr lang="de-DE" dirty="0" smtClean="0"/>
          </a:p>
          <a:p>
            <a:pPr lvl="1"/>
            <a:r>
              <a:rPr lang="de-DE" dirty="0" smtClean="0"/>
              <a:t>Optional </a:t>
            </a:r>
            <a:r>
              <a:rPr lang="de-DE" dirty="0" err="1" smtClean="0"/>
              <a:t>with</a:t>
            </a:r>
            <a:r>
              <a:rPr lang="de-DE" dirty="0" smtClean="0"/>
              <a:t> </a:t>
            </a:r>
            <a:r>
              <a:rPr lang="de-DE" dirty="0" err="1" smtClean="0"/>
              <a:t>CodeListID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Controlled</a:t>
            </a:r>
            <a:r>
              <a:rPr lang="de-DE" dirty="0" smtClean="0"/>
              <a:t> </a:t>
            </a:r>
            <a:r>
              <a:rPr lang="de-DE" dirty="0" err="1" smtClean="0"/>
              <a:t>Vocabulary</a:t>
            </a:r>
            <a:endParaRPr lang="de-DE" dirty="0" smtClean="0"/>
          </a:p>
          <a:p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structure</a:t>
            </a:r>
            <a:endParaRPr lang="de-DE" dirty="0" smtClean="0"/>
          </a:p>
          <a:p>
            <a:r>
              <a:rPr lang="de-DE" dirty="0" err="1" smtClean="0"/>
              <a:t>No</a:t>
            </a:r>
            <a:r>
              <a:rPr lang="de-DE" dirty="0" smtClean="0"/>
              <a:t> Variable </a:t>
            </a:r>
            <a:r>
              <a:rPr lang="de-DE" dirty="0" err="1" smtClean="0"/>
              <a:t>Assignments</a:t>
            </a:r>
            <a:endParaRPr lang="de-DE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Notes</a:t>
            </a:r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de-DE" dirty="0" smtClean="0"/>
              <a:t>Notes in </a:t>
            </a:r>
            <a:r>
              <a:rPr lang="de-DE" dirty="0" err="1" smtClean="0"/>
              <a:t>RessourcePackage</a:t>
            </a:r>
            <a:endParaRPr lang="de-DE" dirty="0" smtClean="0"/>
          </a:p>
          <a:p>
            <a:pPr eaLnBrk="1" hangingPunct="1"/>
            <a:r>
              <a:rPr lang="de-DE" dirty="0" smtClean="0"/>
              <a:t>Header </a:t>
            </a:r>
            <a:r>
              <a:rPr lang="de-DE" dirty="0" err="1" smtClean="0"/>
              <a:t>for</a:t>
            </a:r>
            <a:r>
              <a:rPr lang="de-DE" dirty="0" smtClean="0"/>
              <a:t> Label</a:t>
            </a:r>
          </a:p>
          <a:p>
            <a:pPr eaLnBrk="1" hangingPunct="1"/>
            <a:r>
              <a:rPr lang="de-DE" dirty="0" smtClean="0"/>
              <a:t>Content </a:t>
            </a:r>
            <a:r>
              <a:rPr lang="de-DE" dirty="0" err="1" smtClean="0"/>
              <a:t>for</a:t>
            </a:r>
            <a:r>
              <a:rPr lang="de-DE" dirty="0" smtClean="0"/>
              <a:t> Description</a:t>
            </a:r>
          </a:p>
          <a:p>
            <a:pPr eaLnBrk="1" hangingPunct="1"/>
            <a:r>
              <a:rPr lang="de-DE" dirty="0" err="1" smtClean="0"/>
              <a:t>Relationship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Assignments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Variables</a:t>
            </a:r>
          </a:p>
          <a:p>
            <a:pPr eaLnBrk="1" hangingPunct="1"/>
            <a:r>
              <a:rPr lang="de-DE" dirty="0" smtClean="0"/>
              <a:t>Type Attribute </a:t>
            </a:r>
            <a:r>
              <a:rPr lang="de-DE" dirty="0" err="1" smtClean="0"/>
              <a:t>does</a:t>
            </a:r>
            <a:r>
              <a:rPr lang="de-DE" dirty="0" smtClean="0"/>
              <a:t> not fit well</a:t>
            </a:r>
          </a:p>
          <a:p>
            <a:pPr eaLnBrk="1" hangingPunct="1"/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Structure</a:t>
            </a:r>
            <a:endParaRPr lang="de-DE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Controlled</a:t>
            </a:r>
            <a:r>
              <a:rPr lang="de-DE" dirty="0" smtClean="0"/>
              <a:t> </a:t>
            </a:r>
            <a:r>
              <a:rPr lang="de-DE" dirty="0" err="1" smtClean="0"/>
              <a:t>Vocabularies</a:t>
            </a:r>
            <a:endParaRPr lang="de-DE" dirty="0" smtClean="0"/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de-DE" dirty="0" err="1" smtClean="0"/>
              <a:t>Uses</a:t>
            </a:r>
            <a:r>
              <a:rPr lang="de-DE" dirty="0" smtClean="0"/>
              <a:t> </a:t>
            </a:r>
            <a:r>
              <a:rPr lang="de-DE" dirty="0" err="1" smtClean="0"/>
              <a:t>Genericode</a:t>
            </a:r>
            <a:r>
              <a:rPr lang="de-DE" dirty="0" smtClean="0"/>
              <a:t> Code Lists</a:t>
            </a:r>
          </a:p>
          <a:p>
            <a:pPr eaLnBrk="1" hangingPunct="1"/>
            <a:r>
              <a:rPr lang="de-DE" dirty="0" smtClean="0"/>
              <a:t>DDI </a:t>
            </a:r>
            <a:r>
              <a:rPr lang="de-DE" dirty="0" err="1" smtClean="0"/>
              <a:t>Alliance</a:t>
            </a:r>
            <a:r>
              <a:rPr lang="de-DE" dirty="0" smtClean="0"/>
              <a:t> </a:t>
            </a:r>
            <a:r>
              <a:rPr lang="de-DE" dirty="0" err="1" smtClean="0"/>
              <a:t>uses</a:t>
            </a:r>
            <a:r>
              <a:rPr lang="de-DE" dirty="0" smtClean="0"/>
              <a:t> </a:t>
            </a:r>
            <a:r>
              <a:rPr lang="de-DE" dirty="0" err="1" smtClean="0"/>
              <a:t>Column</a:t>
            </a:r>
            <a:r>
              <a:rPr lang="de-DE" dirty="0" smtClean="0"/>
              <a:t> Set</a:t>
            </a:r>
          </a:p>
          <a:p>
            <a:pPr lvl="1"/>
            <a:r>
              <a:rPr lang="de-DE" dirty="0" smtClean="0"/>
              <a:t>Code</a:t>
            </a:r>
          </a:p>
          <a:p>
            <a:pPr lvl="1"/>
            <a:r>
              <a:rPr lang="de-DE" dirty="0" smtClean="0"/>
              <a:t>Term</a:t>
            </a:r>
          </a:p>
          <a:p>
            <a:pPr lvl="1"/>
            <a:r>
              <a:rPr lang="de-DE" dirty="0" smtClean="0"/>
              <a:t>Definition</a:t>
            </a:r>
          </a:p>
          <a:p>
            <a:r>
              <a:rPr lang="de-DE" dirty="0" err="1" smtClean="0"/>
              <a:t>Maintained</a:t>
            </a:r>
            <a:r>
              <a:rPr lang="de-DE" dirty="0" smtClean="0"/>
              <a:t> </a:t>
            </a:r>
            <a:r>
              <a:rPr lang="de-DE" dirty="0" err="1" smtClean="0"/>
              <a:t>by</a:t>
            </a:r>
            <a:r>
              <a:rPr lang="de-DE" dirty="0" smtClean="0"/>
              <a:t> Code List Sets</a:t>
            </a:r>
          </a:p>
          <a:p>
            <a:pPr eaLnBrk="1" hangingPunct="1"/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Hierarchy</a:t>
            </a:r>
            <a:endParaRPr lang="de-DE" dirty="0" smtClean="0"/>
          </a:p>
          <a:p>
            <a:pPr eaLnBrk="1" hangingPunct="1"/>
            <a:endParaRPr lang="de-DE" dirty="0" smtClean="0"/>
          </a:p>
          <a:p>
            <a:pPr eaLnBrk="1" hangingPunct="1"/>
            <a:endParaRPr lang="de-DE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Evaluation </a:t>
            </a:r>
            <a:r>
              <a:rPr lang="de-DE" dirty="0" err="1" smtClean="0"/>
              <a:t>Criteria</a:t>
            </a:r>
            <a:endParaRPr lang="de-DE" dirty="0" smtClean="0"/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de-DE" dirty="0" smtClean="0"/>
              <a:t>Are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Semantics</a:t>
            </a:r>
            <a:r>
              <a:rPr lang="de-DE" dirty="0" smtClean="0"/>
              <a:t> OK?</a:t>
            </a:r>
          </a:p>
          <a:p>
            <a:pPr eaLnBrk="1" hangingPunct="1"/>
            <a:r>
              <a:rPr lang="de-DE" dirty="0" smtClean="0"/>
              <a:t>Support </a:t>
            </a:r>
            <a:r>
              <a:rPr lang="de-DE" dirty="0" err="1" smtClean="0"/>
              <a:t>for</a:t>
            </a:r>
            <a:r>
              <a:rPr lang="de-DE" dirty="0" smtClean="0"/>
              <a:t> Multiple Language?</a:t>
            </a:r>
          </a:p>
          <a:p>
            <a:pPr eaLnBrk="1" hangingPunct="1"/>
            <a:r>
              <a:rPr lang="de-DE" dirty="0" smtClean="0"/>
              <a:t>Support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Structure</a:t>
            </a:r>
            <a:r>
              <a:rPr lang="de-DE" dirty="0" smtClean="0"/>
              <a:t>?</a:t>
            </a:r>
          </a:p>
          <a:p>
            <a:pPr eaLnBrk="1" hangingPunct="1"/>
            <a:r>
              <a:rPr lang="de-DE" dirty="0" err="1" smtClean="0"/>
              <a:t>Usable</a:t>
            </a:r>
            <a:r>
              <a:rPr lang="de-DE" dirty="0" smtClean="0"/>
              <a:t> in Ressource </a:t>
            </a:r>
            <a:r>
              <a:rPr lang="de-DE" dirty="0" err="1" smtClean="0"/>
              <a:t>Package</a:t>
            </a:r>
            <a:r>
              <a:rPr lang="de-DE" dirty="0" smtClean="0"/>
              <a:t>?</a:t>
            </a:r>
          </a:p>
          <a:p>
            <a:pPr eaLnBrk="1" hangingPunct="1"/>
            <a:r>
              <a:rPr lang="de-DE" dirty="0" smtClean="0"/>
              <a:t>Support </a:t>
            </a:r>
            <a:r>
              <a:rPr lang="de-DE" dirty="0" err="1" smtClean="0"/>
              <a:t>for</a:t>
            </a:r>
            <a:r>
              <a:rPr lang="de-DE" dirty="0" smtClean="0"/>
              <a:t> Variable </a:t>
            </a:r>
            <a:r>
              <a:rPr lang="de-DE" dirty="0" err="1" smtClean="0"/>
              <a:t>Assignments</a:t>
            </a:r>
            <a:r>
              <a:rPr lang="de-DE" dirty="0" smtClean="0"/>
              <a:t>?</a:t>
            </a:r>
          </a:p>
          <a:p>
            <a:pPr eaLnBrk="1" hangingPunct="1"/>
            <a:r>
              <a:rPr lang="de-DE" dirty="0" smtClean="0"/>
              <a:t>Is </a:t>
            </a:r>
            <a:r>
              <a:rPr lang="de-DE" dirty="0" err="1" smtClean="0"/>
              <a:t>It</a:t>
            </a:r>
            <a:r>
              <a:rPr lang="de-DE" dirty="0" smtClean="0"/>
              <a:t> </a:t>
            </a:r>
            <a:r>
              <a:rPr lang="de-DE" dirty="0" err="1" smtClean="0"/>
              <a:t>Possible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Maintain</a:t>
            </a:r>
            <a:r>
              <a:rPr lang="de-DE" dirty="0" smtClean="0"/>
              <a:t> </a:t>
            </a:r>
            <a:r>
              <a:rPr lang="de-DE" dirty="0" err="1" smtClean="0"/>
              <a:t>it</a:t>
            </a:r>
            <a:r>
              <a:rPr lang="de-DE" dirty="0" smtClean="0"/>
              <a:t>?</a:t>
            </a:r>
          </a:p>
          <a:p>
            <a:pPr eaLnBrk="1" hangingPunct="1"/>
            <a:endParaRPr lang="de-DE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Evaluation </a:t>
            </a:r>
            <a:r>
              <a:rPr lang="de-DE" dirty="0" err="1" smtClean="0"/>
              <a:t>Results</a:t>
            </a:r>
            <a:endParaRPr lang="de-DE" dirty="0" smtClean="0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idx="1"/>
          </p:nvPr>
        </p:nvGraphicFramePr>
        <p:xfrm>
          <a:off x="457200" y="2565400"/>
          <a:ext cx="8229600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536"/>
                <a:gridCol w="1553304"/>
                <a:gridCol w="1645920"/>
                <a:gridCol w="1645920"/>
                <a:gridCol w="1645920"/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 smtClean="0"/>
                        <a:t>Concept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 smtClean="0"/>
                        <a:t>Subject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Note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 smtClean="0"/>
                        <a:t>Controlled</a:t>
                      </a:r>
                      <a:r>
                        <a:rPr lang="de-DE" dirty="0" smtClean="0"/>
                        <a:t> </a:t>
                      </a:r>
                      <a:r>
                        <a:rPr lang="de-DE" dirty="0" err="1" smtClean="0"/>
                        <a:t>Vocabulary</a:t>
                      </a:r>
                      <a:endParaRPr lang="de-DE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 smtClean="0"/>
                        <a:t>Semantics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+/-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+/-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-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+</a:t>
                      </a:r>
                      <a:endParaRPr lang="de-DE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Language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+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+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+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+</a:t>
                      </a:r>
                      <a:endParaRPr lang="de-DE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 smtClean="0"/>
                        <a:t>Structure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+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-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-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-</a:t>
                      </a:r>
                      <a:endParaRPr lang="de-DE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Ressource </a:t>
                      </a:r>
                    </a:p>
                    <a:p>
                      <a:r>
                        <a:rPr lang="de-DE" dirty="0" err="1" smtClean="0"/>
                        <a:t>Package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+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+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+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-</a:t>
                      </a:r>
                      <a:endParaRPr lang="de-DE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Variable </a:t>
                      </a:r>
                      <a:r>
                        <a:rPr lang="de-DE" dirty="0" err="1" smtClean="0"/>
                        <a:t>Assignments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+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-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+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-</a:t>
                      </a:r>
                      <a:endParaRPr lang="de-DE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smtClean="0"/>
                        <a:t>Maintainable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+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-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-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smtClean="0"/>
                        <a:t>+</a:t>
                      </a:r>
                      <a:endParaRPr lang="de-DE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Recommendations</a:t>
            </a:r>
            <a:endParaRPr lang="de-DE" dirty="0" smtClean="0"/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de-DE" dirty="0" err="1" smtClean="0"/>
              <a:t>Use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DDI </a:t>
            </a:r>
            <a:r>
              <a:rPr lang="de-DE" dirty="0" err="1" smtClean="0"/>
              <a:t>Concept</a:t>
            </a:r>
            <a:r>
              <a:rPr lang="de-DE" dirty="0" smtClean="0"/>
              <a:t> Element</a:t>
            </a:r>
          </a:p>
          <a:p>
            <a:pPr eaLnBrk="1" hangingPunct="1"/>
            <a:r>
              <a:rPr lang="de-DE" dirty="0" err="1" smtClean="0"/>
              <a:t>Include</a:t>
            </a:r>
            <a:r>
              <a:rPr lang="de-DE" dirty="0" smtClean="0"/>
              <a:t> </a:t>
            </a:r>
            <a:r>
              <a:rPr lang="de-DE" dirty="0" err="1" smtClean="0"/>
              <a:t>it</a:t>
            </a:r>
            <a:r>
              <a:rPr lang="de-DE" dirty="0" smtClean="0"/>
              <a:t> in a Ressource </a:t>
            </a:r>
            <a:r>
              <a:rPr lang="de-DE" dirty="0" err="1" smtClean="0"/>
              <a:t>Package</a:t>
            </a:r>
            <a:endParaRPr lang="de-DE" dirty="0" smtClean="0"/>
          </a:p>
          <a:p>
            <a:pPr eaLnBrk="1" hangingPunct="1"/>
            <a:r>
              <a:rPr lang="de-DE" dirty="0" err="1" smtClean="0"/>
              <a:t>Use</a:t>
            </a:r>
            <a:r>
              <a:rPr lang="de-DE" dirty="0" smtClean="0"/>
              <a:t> </a:t>
            </a:r>
            <a:r>
              <a:rPr lang="de-DE" dirty="0" err="1" smtClean="0"/>
              <a:t>Hierarchical</a:t>
            </a:r>
            <a:r>
              <a:rPr lang="de-DE" dirty="0" smtClean="0"/>
              <a:t> </a:t>
            </a:r>
            <a:r>
              <a:rPr lang="de-DE" dirty="0" err="1" smtClean="0"/>
              <a:t>Structure</a:t>
            </a:r>
            <a:endParaRPr lang="de-DE" dirty="0" smtClean="0"/>
          </a:p>
          <a:p>
            <a:pPr eaLnBrk="1" hangingPunct="1"/>
            <a:r>
              <a:rPr lang="de-DE" dirty="0" err="1" smtClean="0"/>
              <a:t>Include</a:t>
            </a:r>
            <a:r>
              <a:rPr lang="de-DE" dirty="0" smtClean="0"/>
              <a:t> </a:t>
            </a:r>
            <a:r>
              <a:rPr lang="de-DE" dirty="0" err="1" smtClean="0"/>
              <a:t>Languages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Ids</a:t>
            </a:r>
            <a:endParaRPr lang="de-DE" dirty="0" smtClean="0"/>
          </a:p>
          <a:p>
            <a:pPr eaLnBrk="1" hangingPunct="1"/>
            <a:r>
              <a:rPr lang="de-DE" dirty="0" smtClean="0"/>
              <a:t>Reference </a:t>
            </a:r>
            <a:r>
              <a:rPr lang="de-DE" dirty="0" err="1" smtClean="0"/>
              <a:t>Concepts</a:t>
            </a:r>
            <a:r>
              <a:rPr lang="de-DE" dirty="0" smtClean="0"/>
              <a:t> </a:t>
            </a:r>
            <a:r>
              <a:rPr lang="de-DE" dirty="0" err="1" smtClean="0"/>
              <a:t>from</a:t>
            </a:r>
            <a:r>
              <a:rPr lang="de-DE" dirty="0" smtClean="0"/>
              <a:t> Variables</a:t>
            </a:r>
          </a:p>
          <a:p>
            <a:pPr eaLnBrk="1" hangingPunct="1"/>
            <a:endParaRPr lang="de-DE" dirty="0" smtClean="0"/>
          </a:p>
          <a:p>
            <a:pPr eaLnBrk="1" hangingPunct="1"/>
            <a:endParaRPr lang="de-DE" dirty="0" smtClean="0"/>
          </a:p>
          <a:p>
            <a:pPr eaLnBrk="1" hangingPunct="1"/>
            <a:endParaRPr lang="de-DE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Example</a:t>
            </a:r>
            <a:r>
              <a:rPr lang="de-DE" dirty="0" smtClean="0"/>
              <a:t> DDI Code</a:t>
            </a:r>
            <a:endParaRPr lang="de-DE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6424" y="2189564"/>
            <a:ext cx="9022080" cy="433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7504" y="2170132"/>
            <a:ext cx="8968740" cy="4427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64604" y="1988840"/>
            <a:ext cx="8343900" cy="4655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Future Work</a:t>
            </a:r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de-DE" dirty="0" err="1" smtClean="0"/>
              <a:t>Implement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Export </a:t>
            </a:r>
            <a:r>
              <a:rPr lang="de-DE" dirty="0" err="1" smtClean="0"/>
              <a:t>into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next</a:t>
            </a:r>
            <a:r>
              <a:rPr lang="de-DE" dirty="0" smtClean="0"/>
              <a:t> </a:t>
            </a:r>
            <a:r>
              <a:rPr lang="de-DE" dirty="0" err="1" smtClean="0"/>
              <a:t>version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CodebookExplorer</a:t>
            </a:r>
            <a:endParaRPr lang="de-DE" dirty="0" smtClean="0"/>
          </a:p>
          <a:p>
            <a:pPr eaLnBrk="1" hangingPunct="1"/>
            <a:r>
              <a:rPr lang="de-DE" dirty="0" err="1" smtClean="0"/>
              <a:t>Explore</a:t>
            </a:r>
            <a:r>
              <a:rPr lang="de-DE" dirty="0" smtClean="0"/>
              <a:t> </a:t>
            </a:r>
            <a:r>
              <a:rPr lang="de-DE" dirty="0" err="1" smtClean="0"/>
              <a:t>Linked</a:t>
            </a:r>
            <a:r>
              <a:rPr lang="de-DE" dirty="0" smtClean="0"/>
              <a:t> Open Data Standards </a:t>
            </a:r>
            <a:r>
              <a:rPr lang="de-DE" dirty="0" err="1" smtClean="0"/>
              <a:t>like</a:t>
            </a:r>
            <a:r>
              <a:rPr lang="de-DE" dirty="0" smtClean="0"/>
              <a:t> SKOS</a:t>
            </a:r>
          </a:p>
          <a:p>
            <a:pPr eaLnBrk="1" hangingPunct="1"/>
            <a:endParaRPr lang="de-DE" dirty="0" smtClean="0"/>
          </a:p>
          <a:p>
            <a:pPr eaLnBrk="1" hangingPunct="1"/>
            <a:endParaRPr lang="de-DE" dirty="0" smtClean="0"/>
          </a:p>
          <a:p>
            <a:pPr eaLnBrk="1" hangingPunct="1"/>
            <a:endParaRPr lang="de-DE" dirty="0" smtClean="0"/>
          </a:p>
          <a:p>
            <a:pPr eaLnBrk="1" hangingPunct="1"/>
            <a:endParaRPr lang="de-DE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 smtClean="0"/>
              <a:t>Thank</a:t>
            </a:r>
            <a:r>
              <a:rPr lang="de-DE" dirty="0" smtClean="0"/>
              <a:t> </a:t>
            </a:r>
            <a:r>
              <a:rPr lang="de-DE" dirty="0" err="1" smtClean="0"/>
              <a:t>you</a:t>
            </a:r>
            <a:r>
              <a:rPr lang="de-DE" dirty="0" smtClean="0"/>
              <a:t>!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Untertitel 3"/>
          <p:cNvSpPr txBox="1">
            <a:spLocks/>
          </p:cNvSpPr>
          <p:nvPr/>
        </p:nvSpPr>
        <p:spPr>
          <a:xfrm>
            <a:off x="179512" y="4941168"/>
            <a:ext cx="8062912" cy="17526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marL="0" marR="36576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endParaRPr kumimoji="0" lang="de-DE" sz="2400" b="0" i="0" u="none" strike="noStrike" kern="1200" cap="none" spc="0" normalizeH="0" baseline="0" noProof="0" dirty="0" smtClean="0">
              <a:ln>
                <a:solidFill>
                  <a:schemeClr val="bg2"/>
                </a:solidFill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36576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 err="1" smtClean="0"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Remarks</a:t>
            </a:r>
            <a:r>
              <a:rPr kumimoji="0" lang="de-DE" sz="2400" b="0" i="0" u="none" strike="noStrike" kern="1200" cap="none" spc="0" normalizeH="0" baseline="0" noProof="0" dirty="0" smtClean="0"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lang="de-DE" sz="2400" dirty="0" err="1" smtClean="0"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  <a:latin typeface="+mn-lt"/>
              </a:rPr>
              <a:t>Q</a:t>
            </a:r>
            <a:r>
              <a:rPr kumimoji="0" lang="de-DE" sz="2400" b="0" i="0" u="none" strike="noStrike" kern="1200" cap="none" spc="0" normalizeH="0" baseline="0" noProof="0" dirty="0" err="1" smtClean="0"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uestions</a:t>
            </a:r>
            <a:r>
              <a:rPr kumimoji="0" lang="de-DE" sz="2400" b="0" i="0" u="none" strike="noStrike" kern="1200" cap="none" spc="0" normalizeH="0" baseline="0" noProof="0" dirty="0" smtClean="0"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?</a:t>
            </a:r>
          </a:p>
          <a:p>
            <a:pPr marL="0" marR="36576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de-DE" sz="2000" b="0" i="0" u="none" strike="noStrike" kern="1200" cap="none" spc="0" normalizeH="0" baseline="0" noProof="0" dirty="0" smtClean="0"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2"/>
              </a:rPr>
              <a:t>Wolfgang.Zenk-Moeltgen@gesis.org</a:t>
            </a:r>
            <a:endParaRPr kumimoji="0" lang="de-DE" sz="3000" b="0" i="0" u="none" strike="noStrike" kern="1200" cap="none" spc="0" normalizeH="0" baseline="0" noProof="0" dirty="0">
              <a:ln>
                <a:solidFill>
                  <a:schemeClr val="bg2"/>
                </a:solidFill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lesto">
  <a:themeElements>
    <a:clrScheme name="Nereus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Telesto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Telesto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0</TotalTime>
  <Words>529</Words>
  <Application>Microsoft Office PowerPoint</Application>
  <PresentationFormat>Bildschirmpräsentation (4:3)</PresentationFormat>
  <Paragraphs>136</Paragraphs>
  <Slides>17</Slides>
  <Notes>16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18" baseType="lpstr">
      <vt:lpstr>Telesto</vt:lpstr>
      <vt:lpstr>Sharing Category Systems for Survey Items with Others in DDI-Lifecycle Format</vt:lpstr>
      <vt:lpstr>Overview</vt:lpstr>
      <vt:lpstr>What we have</vt:lpstr>
      <vt:lpstr>What we want to do</vt:lpstr>
      <vt:lpstr>Category Systems for Variables</vt:lpstr>
      <vt:lpstr>Screenshots</vt:lpstr>
      <vt:lpstr>Possibilities in DDI-Lifecycle</vt:lpstr>
      <vt:lpstr>Concepts</vt:lpstr>
      <vt:lpstr>Subjects</vt:lpstr>
      <vt:lpstr>Notes</vt:lpstr>
      <vt:lpstr>Controlled Vocabularies</vt:lpstr>
      <vt:lpstr>Evaluation Criteria</vt:lpstr>
      <vt:lpstr>Evaluation Results</vt:lpstr>
      <vt:lpstr>Recommendations</vt:lpstr>
      <vt:lpstr>Example DDI Code</vt:lpstr>
      <vt:lpstr>Future Work</vt:lpstr>
      <vt:lpstr>Thank you!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Zenk-Möltgen, Wolfgang</dc:creator>
  <cp:lastModifiedBy>moeltgen</cp:lastModifiedBy>
  <cp:revision>940</cp:revision>
  <dcterms:created xsi:type="dcterms:W3CDTF">2009-05-26T11:46:45Z</dcterms:created>
  <dcterms:modified xsi:type="dcterms:W3CDTF">2012-12-02T19:03:11Z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">
    <vt:lpwstr>Dokument</vt:lpwstr>
  </property>
</Properties>
</file>