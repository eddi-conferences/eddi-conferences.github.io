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8" r:id="rId2"/>
    <p:sldId id="324" r:id="rId3"/>
    <p:sldId id="325" r:id="rId4"/>
    <p:sldId id="326" r:id="rId5"/>
    <p:sldId id="271" r:id="rId6"/>
    <p:sldId id="274" r:id="rId7"/>
    <p:sldId id="327" r:id="rId8"/>
    <p:sldId id="332" r:id="rId9"/>
    <p:sldId id="335" r:id="rId10"/>
    <p:sldId id="334" r:id="rId11"/>
    <p:sldId id="333" r:id="rId12"/>
    <p:sldId id="276" r:id="rId13"/>
    <p:sldId id="278" r:id="rId14"/>
    <p:sldId id="328" r:id="rId15"/>
    <p:sldId id="280" r:id="rId16"/>
    <p:sldId id="28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33"/>
    <a:srgbClr val="CCFF33"/>
    <a:srgbClr val="FF66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2" autoAdjust="0"/>
    <p:restoredTop sz="79751" autoAdjust="0"/>
  </p:normalViewPr>
  <p:slideViewPr>
    <p:cSldViewPr>
      <p:cViewPr varScale="1">
        <p:scale>
          <a:sx n="58" d="100"/>
          <a:sy n="58" d="100"/>
        </p:scale>
        <p:origin x="-115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073C4D-B052-4F56-BFE8-F975E2038443}" type="datetimeFigureOut">
              <a:rPr lang="en-AU" smtClean="0"/>
              <a:t>03/12/2013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B2EAED-B804-4D9C-9E6E-AD0BFC7AFDD3}" type="slidenum">
              <a:rPr lang="en-AU" smtClean="0"/>
              <a:t>‹#›</a:t>
            </a:fld>
            <a:endParaRPr lang="en-AU"/>
          </a:p>
        </p:txBody>
      </p:sp>
    </p:spTree>
    <p:extLst>
      <p:ext uri="{BB962C8B-B14F-4D97-AF65-F5344CB8AC3E}">
        <p14:creationId xmlns:p14="http://schemas.microsoft.com/office/powerpoint/2010/main" val="60780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800"/>
              </a:spcBef>
            </a:pPr>
            <a:r>
              <a:rPr lang="en-AU" dirty="0" smtClean="0"/>
              <a:t>Some background</a:t>
            </a:r>
          </a:p>
          <a:p>
            <a:pPr>
              <a:spcBef>
                <a:spcPts val="1800"/>
              </a:spcBef>
            </a:pPr>
            <a:r>
              <a:rPr lang="en-AU" dirty="0" smtClean="0"/>
              <a:t>Our aspirations</a:t>
            </a:r>
          </a:p>
          <a:p>
            <a:pPr>
              <a:spcBef>
                <a:spcPts val="1800"/>
              </a:spcBef>
            </a:pPr>
            <a:r>
              <a:rPr lang="en-AU" dirty="0" smtClean="0"/>
              <a:t>What we have done</a:t>
            </a:r>
          </a:p>
          <a:p>
            <a:pPr>
              <a:spcBef>
                <a:spcPts val="1800"/>
              </a:spcBef>
            </a:pPr>
            <a:r>
              <a:rPr lang="en-AU" dirty="0" smtClean="0"/>
              <a:t>What else we need to do</a:t>
            </a:r>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a:t>
            </a:fld>
            <a:endParaRPr lang="en-AU"/>
          </a:p>
        </p:txBody>
      </p:sp>
    </p:spTree>
    <p:extLst>
      <p:ext uri="{BB962C8B-B14F-4D97-AF65-F5344CB8AC3E}">
        <p14:creationId xmlns:p14="http://schemas.microsoft.com/office/powerpoint/2010/main" val="1995275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ABS is part of push to modernise, HLG Stats Network, GSIM, DDI.</a:t>
            </a:r>
          </a:p>
          <a:p>
            <a:r>
              <a:rPr lang="en-AU" dirty="0" smtClean="0"/>
              <a:t> it has a vision of reengineering the production of statistics</a:t>
            </a:r>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2</a:t>
            </a:fld>
            <a:endParaRPr lang="en-AU"/>
          </a:p>
        </p:txBody>
      </p:sp>
    </p:spTree>
    <p:extLst>
      <p:ext uri="{BB962C8B-B14F-4D97-AF65-F5344CB8AC3E}">
        <p14:creationId xmlns:p14="http://schemas.microsoft.com/office/powerpoint/2010/main" val="133687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Realisation </a:t>
            </a:r>
            <a:r>
              <a:rPr lang="en-AU" dirty="0" smtClean="0"/>
              <a:t>of vision </a:t>
            </a:r>
            <a:r>
              <a:rPr lang="en-AU" dirty="0" smtClean="0"/>
              <a:t>of modernisation relies </a:t>
            </a:r>
            <a:r>
              <a:rPr lang="en-AU" dirty="0" smtClean="0"/>
              <a:t>on </a:t>
            </a:r>
            <a:r>
              <a:rPr lang="en-AU" dirty="0" smtClean="0"/>
              <a:t>automation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Focus today is on web forms</a:t>
            </a:r>
            <a:endParaRPr lang="en-AU" dirty="0" smtClean="0"/>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3</a:t>
            </a:fld>
            <a:endParaRPr lang="en-AU"/>
          </a:p>
        </p:txBody>
      </p:sp>
    </p:spTree>
    <p:extLst>
      <p:ext uri="{BB962C8B-B14F-4D97-AF65-F5344CB8AC3E}">
        <p14:creationId xmlns:p14="http://schemas.microsoft.com/office/powerpoint/2010/main" val="133687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smtClean="0"/>
              <a:t>lots of issues</a:t>
            </a:r>
          </a:p>
          <a:p>
            <a:pPr lvl="1"/>
            <a:r>
              <a:rPr lang="en-AU" dirty="0" smtClean="0"/>
              <a:t>also very flexible</a:t>
            </a:r>
          </a:p>
          <a:p>
            <a:pPr lvl="1"/>
            <a:r>
              <a:rPr lang="en-AU" dirty="0" smtClean="0"/>
              <a:t>what is the right (best) way?</a:t>
            </a:r>
          </a:p>
          <a:p>
            <a:pPr lvl="0"/>
            <a:r>
              <a:rPr lang="en-AU" dirty="0" smtClean="0"/>
              <a:t>dialects vary widely</a:t>
            </a:r>
          </a:p>
          <a:p>
            <a:pPr lvl="0"/>
            <a:r>
              <a:rPr lang="en-AU" dirty="0" smtClean="0"/>
              <a:t>(Separate implantation from spec -</a:t>
            </a:r>
            <a:r>
              <a:rPr lang="en-AU" dirty="0" err="1" smtClean="0"/>
              <a:t>xforms</a:t>
            </a:r>
            <a:r>
              <a:rPr lang="en-AU" dirty="0" smtClean="0"/>
              <a:t> is another possibility, ACES too)</a:t>
            </a:r>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4</a:t>
            </a:fld>
            <a:endParaRPr lang="en-AU"/>
          </a:p>
        </p:txBody>
      </p:sp>
    </p:spTree>
    <p:extLst>
      <p:ext uri="{BB962C8B-B14F-4D97-AF65-F5344CB8AC3E}">
        <p14:creationId xmlns:p14="http://schemas.microsoft.com/office/powerpoint/2010/main" val="1356790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DDI as the enabling standard</a:t>
            </a:r>
          </a:p>
          <a:p>
            <a:r>
              <a:rPr lang="en-AU" dirty="0" smtClean="0"/>
              <a:t>our aspiration is actionability </a:t>
            </a:r>
          </a:p>
          <a:p>
            <a:pPr lvl="0"/>
            <a:r>
              <a:rPr lang="en-AU" dirty="0" smtClean="0"/>
              <a:t>Tools for subject matter experts to specify collection instruments, reusing existing metadata wherever possible.</a:t>
            </a:r>
          </a:p>
          <a:p>
            <a:pPr lvl="0"/>
            <a:r>
              <a:rPr lang="en-AU" dirty="0" smtClean="0"/>
              <a:t>Then generate instruments automatically.</a:t>
            </a:r>
          </a:p>
          <a:p>
            <a:r>
              <a:rPr lang="en-AU" dirty="0" smtClean="0"/>
              <a:t>SMA – QDT -</a:t>
            </a:r>
            <a:r>
              <a:rPr lang="en-AU" dirty="0" smtClean="0">
                <a:sym typeface="Wingdings"/>
              </a:rPr>
              <a:t></a:t>
            </a:r>
            <a:r>
              <a:rPr lang="en-AU" dirty="0" smtClean="0"/>
              <a:t> DDI -</a:t>
            </a:r>
            <a:r>
              <a:rPr lang="en-AU" dirty="0" smtClean="0">
                <a:sym typeface="Wingdings"/>
              </a:rPr>
              <a:t></a:t>
            </a:r>
            <a:r>
              <a:rPr lang="en-AU" dirty="0" smtClean="0"/>
              <a:t> DDI-Blaise --</a:t>
            </a:r>
            <a:r>
              <a:rPr lang="en-AU" dirty="0" smtClean="0">
                <a:sym typeface="Wingdings"/>
              </a:rPr>
              <a:t></a:t>
            </a:r>
            <a:r>
              <a:rPr lang="en-AU" dirty="0" smtClean="0"/>
              <a:t> </a:t>
            </a:r>
            <a:r>
              <a:rPr lang="en-AU" dirty="0" err="1" smtClean="0"/>
              <a:t>webform</a:t>
            </a:r>
            <a:endParaRPr lang="en-AU" dirty="0" smtClean="0"/>
          </a:p>
          <a:p>
            <a:r>
              <a:rPr lang="en-AU" dirty="0" smtClean="0"/>
              <a:t>Could be </a:t>
            </a:r>
            <a:r>
              <a:rPr lang="en-AU" dirty="0" err="1" smtClean="0"/>
              <a:t>webform</a:t>
            </a:r>
            <a:r>
              <a:rPr lang="en-AU" dirty="0" smtClean="0"/>
              <a:t>, CATI, CAPI, </a:t>
            </a:r>
            <a:r>
              <a:rPr lang="en-AU" dirty="0" err="1" smtClean="0"/>
              <a:t>etc</a:t>
            </a:r>
            <a:endParaRPr lang="en-AU" dirty="0" smtClean="0"/>
          </a:p>
          <a:p>
            <a:r>
              <a:rPr lang="en-AU" dirty="0" smtClean="0"/>
              <a:t>Business</a:t>
            </a:r>
            <a:r>
              <a:rPr lang="en-AU" baseline="0" dirty="0" smtClean="0"/>
              <a:t> users DON’T see </a:t>
            </a:r>
            <a:r>
              <a:rPr lang="en-AU" baseline="0" dirty="0" smtClean="0"/>
              <a:t>DDI</a:t>
            </a:r>
          </a:p>
          <a:p>
            <a:r>
              <a:rPr lang="en-AU" baseline="0" dirty="0" smtClean="0"/>
              <a:t>Nothing really new in some ways</a:t>
            </a:r>
            <a:endParaRPr lang="en-AU" baseline="0" dirty="0" smtClean="0"/>
          </a:p>
          <a:p>
            <a:r>
              <a:rPr lang="en-AU" baseline="0" dirty="0" smtClean="0"/>
              <a:t>Goal is commodity code</a:t>
            </a:r>
          </a:p>
          <a:p>
            <a:r>
              <a:rPr lang="en-AU" baseline="0" dirty="0" smtClean="0"/>
              <a:t>Put the focus on business purpose</a:t>
            </a:r>
          </a:p>
          <a:p>
            <a:r>
              <a:rPr lang="en-AU" baseline="0" dirty="0" smtClean="0"/>
              <a:t>Don’t much care whether output is </a:t>
            </a:r>
            <a:r>
              <a:rPr lang="en-AU" baseline="0" dirty="0" err="1" smtClean="0"/>
              <a:t>webform</a:t>
            </a:r>
            <a:r>
              <a:rPr lang="en-AU" baseline="0" dirty="0" smtClean="0"/>
              <a:t> or something else, Blaise or something else -&gt; this is about capturing specifications and then using them</a:t>
            </a:r>
            <a:endParaRPr lang="en-AU" dirty="0" smtClean="0"/>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5</a:t>
            </a:fld>
            <a:endParaRPr lang="en-AU"/>
          </a:p>
        </p:txBody>
      </p:sp>
    </p:spTree>
    <p:extLst>
      <p:ext uri="{BB962C8B-B14F-4D97-AF65-F5344CB8AC3E}">
        <p14:creationId xmlns:p14="http://schemas.microsoft.com/office/powerpoint/2010/main" val="3013306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AU" dirty="0" smtClean="0"/>
              <a:t>The aim is not Blaise - community have different focus</a:t>
            </a:r>
          </a:p>
          <a:p>
            <a:pPr lvl="0"/>
            <a:r>
              <a:rPr lang="en-AU" dirty="0" smtClean="0"/>
              <a:t>variety of people making tools to create/capture logical specs for questionnaires in </a:t>
            </a:r>
            <a:r>
              <a:rPr lang="en-AU" dirty="0" err="1" smtClean="0"/>
              <a:t>ddi</a:t>
            </a:r>
            <a:r>
              <a:rPr lang="en-AU" dirty="0" smtClean="0"/>
              <a:t> (not quite right)</a:t>
            </a:r>
          </a:p>
          <a:p>
            <a:pPr lvl="1"/>
            <a:r>
              <a:rPr lang="en-AU" dirty="0" smtClean="0"/>
              <a:t>MDQS tool does baize to </a:t>
            </a:r>
            <a:r>
              <a:rPr lang="en-AU" dirty="0" err="1" smtClean="0"/>
              <a:t>ddi</a:t>
            </a:r>
            <a:r>
              <a:rPr lang="en-AU" dirty="0" smtClean="0"/>
              <a:t> somewhat</a:t>
            </a:r>
          </a:p>
          <a:p>
            <a:pPr lvl="1"/>
            <a:r>
              <a:rPr lang="en-AU" dirty="0" smtClean="0"/>
              <a:t>Stats Canada, Stats Denmark using templates</a:t>
            </a:r>
          </a:p>
          <a:p>
            <a:pPr lvl="1"/>
            <a:r>
              <a:rPr lang="en-AU" dirty="0" smtClean="0"/>
              <a:t>CBS looking at DDI to </a:t>
            </a:r>
            <a:r>
              <a:rPr lang="en-AU" dirty="0" err="1" smtClean="0"/>
              <a:t>blaise</a:t>
            </a:r>
            <a:r>
              <a:rPr lang="en-AU" dirty="0" smtClean="0"/>
              <a:t> </a:t>
            </a:r>
            <a:r>
              <a:rPr lang="en-AU" u="sng" dirty="0" smtClean="0"/>
              <a:t>in order to get stuff into Blaise</a:t>
            </a:r>
            <a:endParaRPr lang="en-AU" dirty="0" smtClean="0"/>
          </a:p>
          <a:p>
            <a:pPr lvl="1"/>
            <a:r>
              <a:rPr lang="en-AU" dirty="0" err="1" smtClean="0"/>
              <a:t>Colectica</a:t>
            </a:r>
            <a:endParaRPr lang="en-AU" dirty="0" smtClean="0"/>
          </a:p>
          <a:p>
            <a:pPr lvl="1"/>
            <a:r>
              <a:rPr lang="en-AU" dirty="0" smtClean="0"/>
              <a:t>Specific instance/</a:t>
            </a:r>
            <a:r>
              <a:rPr lang="en-AU" dirty="0" err="1" smtClean="0"/>
              <a:t>usecase</a:t>
            </a:r>
            <a:r>
              <a:rPr lang="en-AU" dirty="0" smtClean="0"/>
              <a:t> of general problem – limited aspiration</a:t>
            </a:r>
          </a:p>
          <a:p>
            <a:pPr lvl="0"/>
            <a:r>
              <a:rPr lang="en-AU" dirty="0" smtClean="0"/>
              <a:t>we have one under development too!</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AU"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AU" dirty="0" smtClean="0"/>
              <a:t>, as opposed to </a:t>
            </a:r>
            <a:r>
              <a:rPr lang="en-AU" dirty="0" err="1" smtClean="0"/>
              <a:t>techos</a:t>
            </a:r>
            <a:r>
              <a:rPr lang="en-AU" dirty="0" smtClean="0"/>
              <a:t> having to understand spec, and bus area having to test - long, slow, tedious, fallible, expensive</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6</a:t>
            </a:fld>
            <a:endParaRPr lang="en-AU"/>
          </a:p>
        </p:txBody>
      </p:sp>
    </p:spTree>
    <p:extLst>
      <p:ext uri="{BB962C8B-B14F-4D97-AF65-F5344CB8AC3E}">
        <p14:creationId xmlns:p14="http://schemas.microsoft.com/office/powerpoint/2010/main" val="1584586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Lots of fine tuning,</a:t>
            </a:r>
            <a:r>
              <a:rPr lang="en-AU" baseline="0" dirty="0" smtClean="0"/>
              <a:t> but much faster, more tangible.</a:t>
            </a:r>
          </a:p>
          <a:p>
            <a:r>
              <a:rPr lang="en-AU" baseline="0" dirty="0" smtClean="0"/>
              <a:t>Also, agile </a:t>
            </a:r>
            <a:r>
              <a:rPr lang="en-AU" baseline="0" dirty="0" err="1" smtClean="0"/>
              <a:t>dev</a:t>
            </a:r>
            <a:r>
              <a:rPr lang="en-AU" baseline="0" dirty="0" smtClean="0"/>
              <a:t> methodology, </a:t>
            </a:r>
            <a:r>
              <a:rPr lang="en-AU" baseline="0" dirty="0" err="1" smtClean="0"/>
              <a:t>demonstarting</a:t>
            </a:r>
            <a:r>
              <a:rPr lang="en-AU" baseline="0" dirty="0" smtClean="0"/>
              <a:t> to client often</a:t>
            </a:r>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7</a:t>
            </a:fld>
            <a:endParaRPr lang="en-AU"/>
          </a:p>
        </p:txBody>
      </p:sp>
    </p:spTree>
    <p:extLst>
      <p:ext uri="{BB962C8B-B14F-4D97-AF65-F5344CB8AC3E}">
        <p14:creationId xmlns:p14="http://schemas.microsoft.com/office/powerpoint/2010/main" val="926838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smtClean="0"/>
              <a:t>blaise</a:t>
            </a:r>
            <a:r>
              <a:rPr lang="en-AU" dirty="0" smtClean="0"/>
              <a:t> output</a:t>
            </a:r>
          </a:p>
          <a:p>
            <a:r>
              <a:rPr lang="en-AU" dirty="0" smtClean="0"/>
              <a:t>Field and sequencing</a:t>
            </a:r>
          </a:p>
          <a:p>
            <a:r>
              <a:rPr lang="en-AU" dirty="0" smtClean="0"/>
              <a:t>more sequencing</a:t>
            </a:r>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10</a:t>
            </a:fld>
            <a:endParaRPr lang="en-AU"/>
          </a:p>
        </p:txBody>
      </p:sp>
    </p:spTree>
    <p:extLst>
      <p:ext uri="{BB962C8B-B14F-4D97-AF65-F5344CB8AC3E}">
        <p14:creationId xmlns:p14="http://schemas.microsoft.com/office/powerpoint/2010/main" val="3651856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end result</a:t>
            </a:r>
          </a:p>
          <a:p>
            <a:r>
              <a:rPr lang="en-AU" dirty="0" smtClean="0"/>
              <a:t>matrix question 2</a:t>
            </a:r>
          </a:p>
          <a:p>
            <a:r>
              <a:rPr lang="en-AU" dirty="0" smtClean="0"/>
              <a:t>matrix question</a:t>
            </a:r>
          </a:p>
          <a:p>
            <a:r>
              <a:rPr lang="en-AU" dirty="0" smtClean="0"/>
              <a:t>typical question</a:t>
            </a:r>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11</a:t>
            </a:fld>
            <a:endParaRPr lang="en-AU"/>
          </a:p>
        </p:txBody>
      </p:sp>
    </p:spTree>
    <p:extLst>
      <p:ext uri="{BB962C8B-B14F-4D97-AF65-F5344CB8AC3E}">
        <p14:creationId xmlns:p14="http://schemas.microsoft.com/office/powerpoint/2010/main" val="31981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Low level</a:t>
            </a:r>
          </a:p>
          <a:p>
            <a:r>
              <a:rPr lang="en-AU" dirty="0" smtClean="0"/>
              <a:t>Deal with levels of DDI ability</a:t>
            </a:r>
          </a:p>
          <a:p>
            <a:pPr lvl="1"/>
            <a:r>
              <a:rPr lang="en-AU" dirty="0" smtClean="0"/>
              <a:t>‘DDI is horrible’</a:t>
            </a:r>
          </a:p>
          <a:p>
            <a:pPr lvl="1"/>
            <a:r>
              <a:rPr lang="en-AU" dirty="0" smtClean="0"/>
              <a:t>understand is easier</a:t>
            </a:r>
          </a:p>
          <a:p>
            <a:pPr lvl="1"/>
            <a:r>
              <a:rPr lang="en-AU" dirty="0" smtClean="0"/>
              <a:t>generate needs intense level of expertise</a:t>
            </a:r>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12</a:t>
            </a:fld>
            <a:endParaRPr lang="en-AU"/>
          </a:p>
        </p:txBody>
      </p:sp>
    </p:spTree>
    <p:extLst>
      <p:ext uri="{BB962C8B-B14F-4D97-AF65-F5344CB8AC3E}">
        <p14:creationId xmlns:p14="http://schemas.microsoft.com/office/powerpoint/2010/main" val="1223046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Higher level</a:t>
            </a:r>
          </a:p>
          <a:p>
            <a:r>
              <a:rPr lang="en-AU" dirty="0" smtClean="0"/>
              <a:t>Need new thinking</a:t>
            </a:r>
          </a:p>
          <a:p>
            <a:r>
              <a:rPr lang="en-AU" dirty="0" smtClean="0"/>
              <a:t>Another challenge with implementing metadata driven e-forms has been dealing with the existing processes within the ABS, such as the current form design process (e.g. that it is based on translating paper forms, rather than considering how best to design forms in an electronic environment). This has been challenging both from the perspective of the available metadata but is also a challenge for modernising the statistical processes for instrument design</a:t>
            </a:r>
          </a:p>
          <a:p>
            <a:r>
              <a:rPr lang="en-AU" dirty="0" smtClean="0"/>
              <a:t>May be incrementally useful, or develop enough to generate business forms, then look at household forms</a:t>
            </a:r>
            <a:r>
              <a:rPr lang="en-AU" baseline="0" dirty="0" smtClean="0"/>
              <a:t> </a:t>
            </a:r>
            <a:r>
              <a:rPr lang="en-AU" dirty="0" smtClean="0"/>
              <a:t>In parallel?</a:t>
            </a:r>
          </a:p>
          <a:p>
            <a:r>
              <a:rPr lang="en-AU" dirty="0" smtClean="0"/>
              <a:t>Multimodal stuff – the right way! Cant assume we know what best practice for specifying instruments is yet</a:t>
            </a:r>
          </a:p>
          <a:p>
            <a:endParaRPr lang="en-AU" dirty="0" smtClean="0"/>
          </a:p>
          <a:p>
            <a:r>
              <a:rPr lang="en-AU" dirty="0" smtClean="0"/>
              <a:t>Different sequence = different instrument? (modal bias) – talk to Emma</a:t>
            </a:r>
          </a:p>
          <a:p>
            <a:endParaRPr lang="en-A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Important that someone has shown it can be done.</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13</a:t>
            </a:fld>
            <a:endParaRPr lang="en-AU"/>
          </a:p>
        </p:txBody>
      </p:sp>
    </p:spTree>
    <p:extLst>
      <p:ext uri="{BB962C8B-B14F-4D97-AF65-F5344CB8AC3E}">
        <p14:creationId xmlns:p14="http://schemas.microsoft.com/office/powerpoint/2010/main" val="4141316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Keep working!</a:t>
            </a:r>
          </a:p>
          <a:p>
            <a:r>
              <a:rPr lang="en-AU" dirty="0" smtClean="0"/>
              <a:t>International partners?</a:t>
            </a:r>
          </a:p>
          <a:p>
            <a:r>
              <a:rPr lang="en-AU" dirty="0" smtClean="0"/>
              <a:t>(Can they get hold of it? Or us?)</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0DB2EAED-B804-4D9C-9E6E-AD0BFC7AFDD3}" type="slidenum">
              <a:rPr lang="en-AU" smtClean="0"/>
              <a:t>15</a:t>
            </a:fld>
            <a:endParaRPr lang="en-AU"/>
          </a:p>
        </p:txBody>
      </p:sp>
    </p:spTree>
    <p:extLst>
      <p:ext uri="{BB962C8B-B14F-4D97-AF65-F5344CB8AC3E}">
        <p14:creationId xmlns:p14="http://schemas.microsoft.com/office/powerpoint/2010/main" val="907112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7194E8A6-EC54-4FEA-AF4B-2A1B2A6C1BFA}" type="datetimeFigureOut">
              <a:rPr lang="en-AU" smtClean="0"/>
              <a:t>03/12/2013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1112658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194E8A6-EC54-4FEA-AF4B-2A1B2A6C1BFA}" type="datetimeFigureOut">
              <a:rPr lang="en-AU" smtClean="0"/>
              <a:t>03/12/2013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1164654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94E8A6-EC54-4FEA-AF4B-2A1B2A6C1BFA}" type="datetimeFigureOut">
              <a:rPr lang="en-AU" smtClean="0"/>
              <a:t>03/12/2013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3620351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7194E8A6-EC54-4FEA-AF4B-2A1B2A6C1BFA}" type="datetimeFigureOut">
              <a:rPr lang="en-AU" smtClean="0"/>
              <a:t>03/12/2013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4020612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7194E8A6-EC54-4FEA-AF4B-2A1B2A6C1BFA}" type="datetimeFigureOut">
              <a:rPr lang="en-AU" smtClean="0"/>
              <a:t>03/12/2013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891364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7194E8A6-EC54-4FEA-AF4B-2A1B2A6C1BFA}" type="datetimeFigureOut">
              <a:rPr lang="en-AU" smtClean="0"/>
              <a:t>03/12/2013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1853898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94E8A6-EC54-4FEA-AF4B-2A1B2A6C1BFA}" type="datetimeFigureOut">
              <a:rPr lang="en-AU" smtClean="0"/>
              <a:t>03/12/2013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299113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94E8A6-EC54-4FEA-AF4B-2A1B2A6C1BFA}" type="datetimeFigureOut">
              <a:rPr lang="en-AU" smtClean="0"/>
              <a:t>03/12/2013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3111394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94E8A6-EC54-4FEA-AF4B-2A1B2A6C1BFA}" type="datetimeFigureOut">
              <a:rPr lang="en-AU" smtClean="0"/>
              <a:t>03/12/2013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252383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194E8A6-EC54-4FEA-AF4B-2A1B2A6C1BFA}" type="datetimeFigureOut">
              <a:rPr lang="en-AU" smtClean="0"/>
              <a:t>03/12/2013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4241484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194E8A6-EC54-4FEA-AF4B-2A1B2A6C1BFA}" type="datetimeFigureOut">
              <a:rPr lang="en-AU" smtClean="0"/>
              <a:t>03/12/2013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C7CAEF3-C23B-4D51-B029-657CAD77B1AD}" type="slidenum">
              <a:rPr lang="en-AU" smtClean="0"/>
              <a:t>‹#›</a:t>
            </a:fld>
            <a:endParaRPr lang="en-AU"/>
          </a:p>
        </p:txBody>
      </p:sp>
    </p:spTree>
    <p:extLst>
      <p:ext uri="{BB962C8B-B14F-4D97-AF65-F5344CB8AC3E}">
        <p14:creationId xmlns:p14="http://schemas.microsoft.com/office/powerpoint/2010/main" val="733147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4E8A6-EC54-4FEA-AF4B-2A1B2A6C1BFA}" type="datetimeFigureOut">
              <a:rPr lang="en-AU" smtClean="0"/>
              <a:t>03/12/2013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7CAEF3-C23B-4D51-B029-657CAD77B1AD}" type="slidenum">
              <a:rPr lang="en-AU" smtClean="0"/>
              <a:t>‹#›</a:t>
            </a:fld>
            <a:endParaRPr lang="en-AU"/>
          </a:p>
        </p:txBody>
      </p:sp>
    </p:spTree>
    <p:extLst>
      <p:ext uri="{BB962C8B-B14F-4D97-AF65-F5344CB8AC3E}">
        <p14:creationId xmlns:p14="http://schemas.microsoft.com/office/powerpoint/2010/main" val="2741677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AU" b="1" dirty="0"/>
              <a:t>Using DDI to Automate Blaise Instrument Generation </a:t>
            </a:r>
            <a:endParaRPr lang="en-AU" dirty="0"/>
          </a:p>
        </p:txBody>
      </p:sp>
      <p:sp>
        <p:nvSpPr>
          <p:cNvPr id="5" name="Subtitle 4"/>
          <p:cNvSpPr>
            <a:spLocks noGrp="1"/>
          </p:cNvSpPr>
          <p:nvPr>
            <p:ph type="subTitle" idx="1"/>
          </p:nvPr>
        </p:nvSpPr>
        <p:spPr>
          <a:xfrm>
            <a:off x="0" y="3789040"/>
            <a:ext cx="9144000" cy="1752600"/>
          </a:xfrm>
        </p:spPr>
        <p:txBody>
          <a:bodyPr/>
          <a:lstStyle/>
          <a:p>
            <a:r>
              <a:rPr lang="en-AU" dirty="0" smtClean="0"/>
              <a:t/>
            </a:r>
            <a:br>
              <a:rPr lang="en-AU" dirty="0" smtClean="0"/>
            </a:br>
            <a:r>
              <a:rPr lang="en-AU" dirty="0" smtClean="0"/>
              <a:t>Simon </a:t>
            </a:r>
            <a:r>
              <a:rPr lang="en-AU" dirty="0" smtClean="0"/>
              <a:t>Wall</a:t>
            </a:r>
            <a:br>
              <a:rPr lang="en-AU" dirty="0" smtClean="0"/>
            </a:br>
            <a:r>
              <a:rPr lang="en-AU" dirty="0" smtClean="0"/>
              <a:t>Australian Bureau of Statistics</a:t>
            </a:r>
            <a:endParaRPr lang="en-AU" dirty="0"/>
          </a:p>
        </p:txBody>
      </p:sp>
    </p:spTree>
    <p:extLst>
      <p:ext uri="{BB962C8B-B14F-4D97-AF65-F5344CB8AC3E}">
        <p14:creationId xmlns:p14="http://schemas.microsoft.com/office/powerpoint/2010/main" val="4271967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some background</a:t>
            </a:r>
            <a:endParaRPr lang="en-AU" dirty="0">
              <a:solidFill>
                <a:srgbClr val="C00000"/>
              </a:solidFill>
            </a:endParaRPr>
          </a:p>
        </p:txBody>
      </p:sp>
      <p:sp>
        <p:nvSpPr>
          <p:cNvPr id="3" name="Content Placeholder 2"/>
          <p:cNvSpPr>
            <a:spLocks noGrp="1"/>
          </p:cNvSpPr>
          <p:nvPr>
            <p:ph idx="1"/>
          </p:nvPr>
        </p:nvSpPr>
        <p:spPr/>
        <p:txBody>
          <a:bodyPr>
            <a:normAutofit/>
          </a:bodyPr>
          <a:lstStyle/>
          <a:p>
            <a:r>
              <a:rPr lang="en-AU" dirty="0" smtClean="0"/>
              <a:t>ABS </a:t>
            </a:r>
            <a:r>
              <a:rPr lang="en-AU" dirty="0"/>
              <a:t>is </a:t>
            </a:r>
            <a:r>
              <a:rPr lang="en-AU" dirty="0" smtClean="0"/>
              <a:t>modernising</a:t>
            </a:r>
          </a:p>
          <a:p>
            <a:pPr lvl="1"/>
            <a:r>
              <a:rPr lang="en-AU" dirty="0" smtClean="0"/>
              <a:t>new infrastructure and systems</a:t>
            </a:r>
          </a:p>
          <a:p>
            <a:pPr lvl="1"/>
            <a:r>
              <a:rPr lang="en-AU" dirty="0" smtClean="0"/>
              <a:t>process reengineering</a:t>
            </a:r>
          </a:p>
          <a:p>
            <a:pPr>
              <a:spcBef>
                <a:spcPts val="1800"/>
              </a:spcBef>
            </a:pPr>
            <a:r>
              <a:rPr lang="en-AU" dirty="0" smtClean="0"/>
              <a:t>Business is </a:t>
            </a:r>
            <a:r>
              <a:rPr lang="en-AU" dirty="0" smtClean="0"/>
              <a:t>already changing</a:t>
            </a:r>
            <a:endParaRPr lang="en-AU" dirty="0" smtClean="0"/>
          </a:p>
          <a:p>
            <a:pPr lvl="1"/>
            <a:r>
              <a:rPr lang="en-AU" dirty="0" smtClean="0"/>
              <a:t>translating paper to web forms</a:t>
            </a:r>
            <a:endParaRPr lang="en-AU" dirty="0"/>
          </a:p>
          <a:p>
            <a:endParaRPr lang="en-AU" dirty="0"/>
          </a:p>
        </p:txBody>
      </p:sp>
      <p:sp>
        <p:nvSpPr>
          <p:cNvPr id="5" name="Right Arrow 4"/>
          <p:cNvSpPr/>
          <p:nvPr/>
        </p:nvSpPr>
        <p:spPr>
          <a:xfrm>
            <a:off x="1151960" y="4581368"/>
            <a:ext cx="3060000" cy="2160000"/>
          </a:xfrm>
          <a:prstGeom prst="rightArrow">
            <a:avLst/>
          </a:prstGeom>
          <a:solidFill>
            <a:schemeClr val="bg2">
              <a:lumMod val="50000"/>
            </a:schemeClr>
          </a:solidFill>
          <a:ln>
            <a:noFill/>
          </a:ln>
          <a:effectLst>
            <a:outerShdw blurRad="50800" dist="38100" dir="2700000" sx="106000" sy="106000" algn="tl" rotWithShape="0">
              <a:prstClr val="black">
                <a:alpha val="18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000" dirty="0" smtClean="0">
                <a:solidFill>
                  <a:schemeClr val="tx1"/>
                </a:solidFill>
              </a:rPr>
              <a:t>modernisation</a:t>
            </a:r>
            <a:endParaRPr lang="en-AU" sz="3000" dirty="0">
              <a:solidFill>
                <a:schemeClr val="tx1"/>
              </a:solidFill>
            </a:endParaRPr>
          </a:p>
        </p:txBody>
      </p:sp>
      <p:sp>
        <p:nvSpPr>
          <p:cNvPr id="6" name="Left Arrow 5"/>
          <p:cNvSpPr/>
          <p:nvPr/>
        </p:nvSpPr>
        <p:spPr>
          <a:xfrm>
            <a:off x="5004048" y="4581368"/>
            <a:ext cx="3060000" cy="2160000"/>
          </a:xfrm>
          <a:prstGeom prst="leftArrow">
            <a:avLst/>
          </a:prstGeom>
          <a:solidFill>
            <a:srgbClr val="92D050"/>
          </a:solidFill>
          <a:ln>
            <a:noFill/>
          </a:ln>
          <a:effectLst>
            <a:outerShdw blurRad="50800" dist="38100" dir="2700000" sx="106000" sy="106000" algn="tl" rotWithShape="0">
              <a:prstClr val="black">
                <a:alpha val="18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000" dirty="0" smtClean="0">
                <a:solidFill>
                  <a:schemeClr val="tx1"/>
                </a:solidFill>
              </a:rPr>
              <a:t>web forms</a:t>
            </a:r>
            <a:endParaRPr lang="en-AU" sz="3000" dirty="0">
              <a:solidFill>
                <a:schemeClr val="tx1"/>
              </a:solidFill>
            </a:endParaRPr>
          </a:p>
        </p:txBody>
      </p:sp>
      <p:sp>
        <p:nvSpPr>
          <p:cNvPr id="4" name="Explosion 2 3"/>
          <p:cNvSpPr/>
          <p:nvPr/>
        </p:nvSpPr>
        <p:spPr>
          <a:xfrm>
            <a:off x="3347864" y="4509120"/>
            <a:ext cx="2664296" cy="2016224"/>
          </a:xfrm>
          <a:prstGeom prst="irregularSeal2">
            <a:avLst/>
          </a:prstGeom>
          <a:solidFill>
            <a:srgbClr val="FFFF00"/>
          </a:solidFill>
          <a:ln>
            <a:solidFill>
              <a:srgbClr val="FF0000"/>
            </a:solidFill>
          </a:ln>
          <a:effectLst/>
          <a:scene3d>
            <a:camera prst="orthographicFront"/>
            <a:lightRig rig="balanced" dir="t"/>
          </a:scene3d>
          <a:sp3d extrusionH="12700" contourW="76200" prstMaterial="metal">
            <a:bevelT w="120650" h="88900" prst="coolSlant"/>
            <a:extrusionClr>
              <a:srgbClr val="7030A0"/>
            </a:extrusionClr>
            <a:contourClr>
              <a:srgbClr val="FF000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smtClean="0">
                <a:solidFill>
                  <a:schemeClr val="tx1"/>
                </a:solidFill>
              </a:rPr>
              <a:t>DDI</a:t>
            </a:r>
            <a:endParaRPr lang="en-AU" sz="4400" b="1" dirty="0">
              <a:solidFill>
                <a:schemeClr val="tx1"/>
              </a:solidFill>
            </a:endParaRPr>
          </a:p>
        </p:txBody>
      </p:sp>
    </p:spTree>
    <p:extLst>
      <p:ext uri="{BB962C8B-B14F-4D97-AF65-F5344CB8AC3E}">
        <p14:creationId xmlns:p14="http://schemas.microsoft.com/office/powerpoint/2010/main" val="331235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C00000"/>
                </a:solidFill>
              </a:rPr>
              <a:t>a</a:t>
            </a:r>
            <a:r>
              <a:rPr lang="en-AU" dirty="0" smtClean="0">
                <a:solidFill>
                  <a:srgbClr val="C00000"/>
                </a:solidFill>
              </a:rPr>
              <a:t>bout </a:t>
            </a:r>
            <a:r>
              <a:rPr lang="en-AU" dirty="0" smtClean="0">
                <a:solidFill>
                  <a:srgbClr val="C00000"/>
                </a:solidFill>
              </a:rPr>
              <a:t>Blaise</a:t>
            </a:r>
            <a:endParaRPr lang="en-AU" dirty="0">
              <a:solidFill>
                <a:srgbClr val="C00000"/>
              </a:solidFill>
            </a:endParaRPr>
          </a:p>
        </p:txBody>
      </p:sp>
      <p:sp>
        <p:nvSpPr>
          <p:cNvPr id="3" name="Content Placeholder 2"/>
          <p:cNvSpPr>
            <a:spLocks noGrp="1"/>
          </p:cNvSpPr>
          <p:nvPr>
            <p:ph idx="1"/>
          </p:nvPr>
        </p:nvSpPr>
        <p:spPr/>
        <p:txBody>
          <a:bodyPr>
            <a:normAutofit/>
          </a:bodyPr>
          <a:lstStyle/>
          <a:p>
            <a:r>
              <a:rPr lang="en-AU" dirty="0" smtClean="0"/>
              <a:t>ABS uses Blaise widely</a:t>
            </a:r>
          </a:p>
          <a:p>
            <a:pPr lvl="1"/>
            <a:r>
              <a:rPr lang="en-AU" dirty="0" smtClean="0">
                <a:solidFill>
                  <a:srgbClr val="0070C0"/>
                </a:solidFill>
              </a:rPr>
              <a:t> </a:t>
            </a:r>
            <a:r>
              <a:rPr lang="en-AU" dirty="0" smtClean="0">
                <a:solidFill>
                  <a:srgbClr val="0070C0"/>
                </a:solidFill>
              </a:rPr>
              <a:t>CAPI, CATI, </a:t>
            </a:r>
            <a:r>
              <a:rPr lang="en-AU" dirty="0">
                <a:solidFill>
                  <a:srgbClr val="0070C0"/>
                </a:solidFill>
              </a:rPr>
              <a:t>editing, web forms</a:t>
            </a:r>
            <a:endParaRPr lang="en-AU" dirty="0" smtClean="0">
              <a:solidFill>
                <a:srgbClr val="0070C0"/>
              </a:solidFill>
            </a:endParaRPr>
          </a:p>
          <a:p>
            <a:pPr>
              <a:spcBef>
                <a:spcPts val="1800"/>
              </a:spcBef>
            </a:pPr>
            <a:r>
              <a:rPr lang="en-AU" dirty="0" smtClean="0"/>
              <a:t>Modernisation relies </a:t>
            </a:r>
            <a:r>
              <a:rPr lang="en-AU" dirty="0"/>
              <a:t>on </a:t>
            </a:r>
            <a:r>
              <a:rPr lang="en-AU" dirty="0" smtClean="0"/>
              <a:t>automation</a:t>
            </a:r>
          </a:p>
          <a:p>
            <a:pPr lvl="1"/>
            <a:r>
              <a:rPr lang="en-AU" dirty="0" smtClean="0">
                <a:solidFill>
                  <a:srgbClr val="0070C0"/>
                </a:solidFill>
              </a:rPr>
              <a:t>Automate </a:t>
            </a:r>
            <a:r>
              <a:rPr lang="en-AU" u="sng" dirty="0">
                <a:solidFill>
                  <a:srgbClr val="0070C0"/>
                </a:solidFill>
              </a:rPr>
              <a:t>everything</a:t>
            </a:r>
            <a:r>
              <a:rPr lang="en-AU" dirty="0">
                <a:solidFill>
                  <a:srgbClr val="0070C0"/>
                </a:solidFill>
              </a:rPr>
              <a:t> we </a:t>
            </a:r>
            <a:r>
              <a:rPr lang="en-AU" dirty="0" smtClean="0">
                <a:solidFill>
                  <a:srgbClr val="0070C0"/>
                </a:solidFill>
              </a:rPr>
              <a:t>can</a:t>
            </a:r>
          </a:p>
          <a:p>
            <a:pPr>
              <a:spcBef>
                <a:spcPts val="1800"/>
              </a:spcBef>
            </a:pPr>
            <a:r>
              <a:rPr lang="en-AU" dirty="0" smtClean="0"/>
              <a:t>Manual coding of Blaise is a bottleneck</a:t>
            </a:r>
          </a:p>
          <a:p>
            <a:pPr lvl="1"/>
            <a:r>
              <a:rPr lang="en-AU" dirty="0" smtClean="0">
                <a:solidFill>
                  <a:srgbClr val="0070C0"/>
                </a:solidFill>
              </a:rPr>
              <a:t>many cycles of change and testing</a:t>
            </a:r>
          </a:p>
        </p:txBody>
      </p:sp>
    </p:spTree>
    <p:extLst>
      <p:ext uri="{BB962C8B-B14F-4D97-AF65-F5344CB8AC3E}">
        <p14:creationId xmlns:p14="http://schemas.microsoft.com/office/powerpoint/2010/main" val="1603667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manual coding is a problem</a:t>
            </a:r>
            <a:endParaRPr lang="en-AU" dirty="0">
              <a:solidFill>
                <a:srgbClr val="C00000"/>
              </a:solidFill>
            </a:endParaRPr>
          </a:p>
        </p:txBody>
      </p:sp>
      <p:sp>
        <p:nvSpPr>
          <p:cNvPr id="3" name="Content Placeholder 2"/>
          <p:cNvSpPr>
            <a:spLocks noGrp="1"/>
          </p:cNvSpPr>
          <p:nvPr>
            <p:ph idx="1"/>
          </p:nvPr>
        </p:nvSpPr>
        <p:spPr>
          <a:xfrm>
            <a:off x="457200" y="1600200"/>
            <a:ext cx="8229600" cy="5069160"/>
          </a:xfrm>
        </p:spPr>
        <p:txBody>
          <a:bodyPr>
            <a:normAutofit lnSpcReduction="10000"/>
          </a:bodyPr>
          <a:lstStyle/>
          <a:p>
            <a:pPr>
              <a:spcBef>
                <a:spcPts val="1200"/>
              </a:spcBef>
            </a:pPr>
            <a:r>
              <a:rPr lang="en-AU" dirty="0" smtClean="0"/>
              <a:t>Poor specifications = poor metadata</a:t>
            </a:r>
          </a:p>
          <a:p>
            <a:pPr>
              <a:spcBef>
                <a:spcPts val="1200"/>
              </a:spcBef>
            </a:pPr>
            <a:r>
              <a:rPr lang="en-AU" dirty="0" smtClean="0"/>
              <a:t>IT staff </a:t>
            </a:r>
            <a:r>
              <a:rPr lang="en-AU" dirty="0" smtClean="0"/>
              <a:t>are part </a:t>
            </a:r>
            <a:r>
              <a:rPr lang="en-AU" dirty="0" smtClean="0"/>
              <a:t>of </a:t>
            </a:r>
            <a:r>
              <a:rPr lang="en-AU" dirty="0" smtClean="0"/>
              <a:t>the business </a:t>
            </a:r>
            <a:r>
              <a:rPr lang="en-AU" dirty="0" smtClean="0"/>
              <a:t>process</a:t>
            </a:r>
          </a:p>
          <a:p>
            <a:pPr>
              <a:spcBef>
                <a:spcPts val="1200"/>
              </a:spcBef>
            </a:pPr>
            <a:r>
              <a:rPr lang="en-AU" dirty="0" smtClean="0"/>
              <a:t>Very slow</a:t>
            </a:r>
          </a:p>
          <a:p>
            <a:pPr>
              <a:spcBef>
                <a:spcPts val="1200"/>
              </a:spcBef>
            </a:pPr>
            <a:r>
              <a:rPr lang="en-AU" dirty="0" smtClean="0"/>
              <a:t>Requires repeated </a:t>
            </a:r>
            <a:r>
              <a:rPr lang="en-AU" dirty="0" smtClean="0"/>
              <a:t>and extensive testing</a:t>
            </a:r>
          </a:p>
          <a:p>
            <a:pPr>
              <a:spcBef>
                <a:spcPts val="1200"/>
              </a:spcBef>
            </a:pPr>
            <a:r>
              <a:rPr lang="en-AU" dirty="0" smtClean="0"/>
              <a:t>Takes focus away from business purpose</a:t>
            </a:r>
          </a:p>
          <a:p>
            <a:pPr>
              <a:spcBef>
                <a:spcPts val="1200"/>
              </a:spcBef>
            </a:pPr>
            <a:r>
              <a:rPr lang="en-AU" dirty="0" smtClean="0"/>
              <a:t>Many lost opportunities</a:t>
            </a:r>
          </a:p>
          <a:p>
            <a:pPr lvl="1"/>
            <a:r>
              <a:rPr lang="en-AU" dirty="0" smtClean="0">
                <a:solidFill>
                  <a:srgbClr val="0070C0"/>
                </a:solidFill>
              </a:rPr>
              <a:t>visualisation</a:t>
            </a:r>
          </a:p>
          <a:p>
            <a:pPr lvl="1"/>
            <a:r>
              <a:rPr lang="en-AU" dirty="0" smtClean="0">
                <a:solidFill>
                  <a:srgbClr val="0070C0"/>
                </a:solidFill>
              </a:rPr>
              <a:t>analysis</a:t>
            </a:r>
          </a:p>
          <a:p>
            <a:pPr lvl="1"/>
            <a:r>
              <a:rPr lang="en-AU" dirty="0" smtClean="0">
                <a:solidFill>
                  <a:srgbClr val="0070C0"/>
                </a:solidFill>
              </a:rPr>
              <a:t>reuse</a:t>
            </a:r>
          </a:p>
        </p:txBody>
      </p:sp>
    </p:spTree>
    <p:extLst>
      <p:ext uri="{BB962C8B-B14F-4D97-AF65-F5344CB8AC3E}">
        <p14:creationId xmlns:p14="http://schemas.microsoft.com/office/powerpoint/2010/main" val="18203646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what we are aiming for</a:t>
            </a:r>
            <a:endParaRPr lang="en-AU" dirty="0">
              <a:solidFill>
                <a:srgbClr val="C00000"/>
              </a:solidFill>
            </a:endParaRPr>
          </a:p>
        </p:txBody>
      </p:sp>
      <p:sp>
        <p:nvSpPr>
          <p:cNvPr id="3" name="Content Placeholder 2"/>
          <p:cNvSpPr>
            <a:spLocks noGrp="1"/>
          </p:cNvSpPr>
          <p:nvPr>
            <p:ph idx="1"/>
          </p:nvPr>
        </p:nvSpPr>
        <p:spPr>
          <a:xfrm>
            <a:off x="457200" y="1600200"/>
            <a:ext cx="8435280" cy="4525963"/>
          </a:xfrm>
        </p:spPr>
        <p:txBody>
          <a:bodyPr>
            <a:normAutofit/>
          </a:bodyPr>
          <a:lstStyle/>
          <a:p>
            <a:pPr lvl="0"/>
            <a:r>
              <a:rPr lang="en-AU" dirty="0" smtClean="0"/>
              <a:t>Give subject </a:t>
            </a:r>
            <a:r>
              <a:rPr lang="en-AU" dirty="0"/>
              <a:t>matter </a:t>
            </a:r>
            <a:r>
              <a:rPr lang="en-AU" dirty="0" smtClean="0"/>
              <a:t>experts a tool</a:t>
            </a:r>
          </a:p>
          <a:p>
            <a:pPr lvl="1">
              <a:spcBef>
                <a:spcPts val="600"/>
              </a:spcBef>
            </a:pPr>
            <a:r>
              <a:rPr lang="en-AU" dirty="0" smtClean="0">
                <a:solidFill>
                  <a:srgbClr val="0070C0"/>
                </a:solidFill>
              </a:rPr>
              <a:t>reusing </a:t>
            </a:r>
            <a:r>
              <a:rPr lang="en-AU" dirty="0">
                <a:solidFill>
                  <a:srgbClr val="0070C0"/>
                </a:solidFill>
              </a:rPr>
              <a:t>existing metadata wherever </a:t>
            </a:r>
            <a:r>
              <a:rPr lang="en-AU" dirty="0" smtClean="0">
                <a:solidFill>
                  <a:srgbClr val="0070C0"/>
                </a:solidFill>
              </a:rPr>
              <a:t>possible</a:t>
            </a:r>
            <a:endParaRPr lang="en-AU" dirty="0">
              <a:solidFill>
                <a:srgbClr val="0070C0"/>
              </a:solidFill>
            </a:endParaRPr>
          </a:p>
          <a:p>
            <a:pPr lvl="0">
              <a:spcBef>
                <a:spcPts val="1800"/>
              </a:spcBef>
            </a:pPr>
            <a:r>
              <a:rPr lang="en-AU" dirty="0" smtClean="0"/>
              <a:t>Create collection instruments </a:t>
            </a:r>
            <a:r>
              <a:rPr lang="en-AU" dirty="0" smtClean="0"/>
              <a:t>automatically</a:t>
            </a:r>
          </a:p>
          <a:p>
            <a:pPr lvl="1">
              <a:spcBef>
                <a:spcPts val="600"/>
              </a:spcBef>
            </a:pPr>
            <a:r>
              <a:rPr lang="en-AU" dirty="0">
                <a:solidFill>
                  <a:srgbClr val="0070C0"/>
                </a:solidFill>
              </a:rPr>
              <a:t>m</a:t>
            </a:r>
            <a:r>
              <a:rPr lang="en-AU" dirty="0" smtClean="0">
                <a:solidFill>
                  <a:srgbClr val="0070C0"/>
                </a:solidFill>
              </a:rPr>
              <a:t>ake Blais</a:t>
            </a:r>
            <a:r>
              <a:rPr lang="en-AU" dirty="0" smtClean="0">
                <a:solidFill>
                  <a:srgbClr val="0070C0"/>
                </a:solidFill>
              </a:rPr>
              <a:t>e a commodity not an asset</a:t>
            </a:r>
            <a:endParaRPr lang="en-AU" dirty="0" smtClean="0">
              <a:solidFill>
                <a:srgbClr val="0070C0"/>
              </a:solidFill>
            </a:endParaRPr>
          </a:p>
          <a:p>
            <a:pPr lvl="0">
              <a:spcBef>
                <a:spcPts val="1800"/>
              </a:spcBef>
            </a:pPr>
            <a:r>
              <a:rPr lang="en-AU" dirty="0" smtClean="0"/>
              <a:t>Use </a:t>
            </a:r>
            <a:r>
              <a:rPr lang="en-AU" dirty="0" smtClean="0"/>
              <a:t>DDI as the enabling standard</a:t>
            </a:r>
          </a:p>
        </p:txBody>
      </p:sp>
      <p:grpSp>
        <p:nvGrpSpPr>
          <p:cNvPr id="16" name="Group 15"/>
          <p:cNvGrpSpPr/>
          <p:nvPr/>
        </p:nvGrpSpPr>
        <p:grpSpPr>
          <a:xfrm>
            <a:off x="179512" y="5232838"/>
            <a:ext cx="2186249" cy="1436522"/>
            <a:chOff x="873583" y="4491682"/>
            <a:chExt cx="2186249" cy="1436522"/>
          </a:xfrm>
        </p:grpSpPr>
        <p:pic>
          <p:nvPicPr>
            <p:cNvPr id="5" name="Picture 3" descr="C:\Users\wallsi\AppData\Local\Microsoft\Windows\Temporary Internet Files\Content.IE5\HSOY3AK6\MC900383566[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3583" y="4491682"/>
              <a:ext cx="735013" cy="8699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wallsi\AppData\Local\Microsoft\Windows\Temporary Internet Files\Content.IE5\HSOY3AK6\MC900389724[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41090" y="4491682"/>
              <a:ext cx="1818742" cy="143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p:cNvGrpSpPr/>
          <p:nvPr/>
        </p:nvGrpSpPr>
        <p:grpSpPr>
          <a:xfrm>
            <a:off x="4777671" y="5445222"/>
            <a:ext cx="2386617" cy="792090"/>
            <a:chOff x="5111702" y="5018842"/>
            <a:chExt cx="2386617" cy="792090"/>
          </a:xfrm>
        </p:grpSpPr>
        <p:sp>
          <p:nvSpPr>
            <p:cNvPr id="8" name="Flowchart: Process 7"/>
            <p:cNvSpPr/>
            <p:nvPr/>
          </p:nvSpPr>
          <p:spPr>
            <a:xfrm>
              <a:off x="6357229" y="5018842"/>
              <a:ext cx="1141090" cy="792090"/>
            </a:xfrm>
            <a:prstGeom prst="flowChartProcess">
              <a:avLst/>
            </a:prstGeom>
            <a:solidFill>
              <a:srgbClr val="99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smtClean="0">
                  <a:solidFill>
                    <a:schemeClr val="tx1"/>
                  </a:solidFill>
                </a:rPr>
                <a:t>tool</a:t>
              </a:r>
              <a:endParaRPr lang="en-AU" sz="2400" dirty="0">
                <a:solidFill>
                  <a:schemeClr val="tx1"/>
                </a:solidFill>
              </a:endParaRPr>
            </a:p>
          </p:txBody>
        </p:sp>
        <p:sp>
          <p:nvSpPr>
            <p:cNvPr id="14" name="Right Arrow 13"/>
            <p:cNvSpPr/>
            <p:nvPr/>
          </p:nvSpPr>
          <p:spPr>
            <a:xfrm>
              <a:off x="5111702" y="5090930"/>
              <a:ext cx="1080000" cy="720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smtClean="0">
                  <a:solidFill>
                    <a:schemeClr val="tx1"/>
                  </a:solidFill>
                </a:rPr>
                <a:t>DDI</a:t>
              </a:r>
              <a:endParaRPr lang="en-AU" sz="2400" b="1" dirty="0">
                <a:solidFill>
                  <a:schemeClr val="tx1"/>
                </a:solidFill>
              </a:endParaRPr>
            </a:p>
          </p:txBody>
        </p:sp>
      </p:grpSp>
      <p:grpSp>
        <p:nvGrpSpPr>
          <p:cNvPr id="18" name="Group 17"/>
          <p:cNvGrpSpPr/>
          <p:nvPr/>
        </p:nvGrpSpPr>
        <p:grpSpPr>
          <a:xfrm>
            <a:off x="2060310" y="5267023"/>
            <a:ext cx="2555567" cy="1114305"/>
            <a:chOff x="2507050" y="5589240"/>
            <a:chExt cx="2555567" cy="1114305"/>
          </a:xfrm>
        </p:grpSpPr>
        <p:sp>
          <p:nvSpPr>
            <p:cNvPr id="7" name="Can 6"/>
            <p:cNvSpPr/>
            <p:nvPr/>
          </p:nvSpPr>
          <p:spPr>
            <a:xfrm>
              <a:off x="3874485" y="5589240"/>
              <a:ext cx="1188132" cy="1114305"/>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smtClean="0">
                  <a:solidFill>
                    <a:schemeClr val="tx1"/>
                  </a:solidFill>
                </a:rPr>
                <a:t>registry</a:t>
              </a:r>
              <a:endParaRPr lang="en-AU" sz="2400" b="1" dirty="0">
                <a:solidFill>
                  <a:schemeClr val="tx1"/>
                </a:solidFill>
              </a:endParaRPr>
            </a:p>
          </p:txBody>
        </p:sp>
        <p:sp>
          <p:nvSpPr>
            <p:cNvPr id="12" name="Left-Right Arrow 11"/>
            <p:cNvSpPr/>
            <p:nvPr/>
          </p:nvSpPr>
          <p:spPr>
            <a:xfrm>
              <a:off x="2507050" y="5834100"/>
              <a:ext cx="1287554" cy="720000"/>
            </a:xfrm>
            <a:prstGeom prst="lef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smtClean="0">
                  <a:solidFill>
                    <a:schemeClr val="tx1"/>
                  </a:solidFill>
                </a:rPr>
                <a:t>DDI</a:t>
              </a:r>
              <a:endParaRPr lang="en-AU" sz="2400" b="1" dirty="0">
                <a:solidFill>
                  <a:schemeClr val="tx1"/>
                </a:solidFill>
              </a:endParaRPr>
            </a:p>
          </p:txBody>
        </p:sp>
      </p:grpSp>
      <p:grpSp>
        <p:nvGrpSpPr>
          <p:cNvPr id="19" name="Group 18"/>
          <p:cNvGrpSpPr/>
          <p:nvPr/>
        </p:nvGrpSpPr>
        <p:grpSpPr>
          <a:xfrm>
            <a:off x="7348628" y="5229200"/>
            <a:ext cx="1471844" cy="1243839"/>
            <a:chOff x="7492644" y="4653136"/>
            <a:chExt cx="1471844" cy="1243839"/>
          </a:xfrm>
        </p:grpSpPr>
        <p:sp>
          <p:nvSpPr>
            <p:cNvPr id="10" name="Webpage"/>
            <p:cNvSpPr>
              <a:spLocks noEditPoints="1" noChangeArrowheads="1"/>
            </p:cNvSpPr>
            <p:nvPr/>
          </p:nvSpPr>
          <p:spPr bwMode="auto">
            <a:xfrm>
              <a:off x="7884368" y="4653136"/>
              <a:ext cx="1080120" cy="1243839"/>
            </a:xfrm>
            <a:custGeom>
              <a:avLst/>
              <a:gdLst>
                <a:gd name="T0" fmla="*/ 5187 w 21600"/>
                <a:gd name="T1" fmla="*/ 21600 h 21600"/>
                <a:gd name="T2" fmla="*/ 0 w 21600"/>
                <a:gd name="T3" fmla="*/ 17509 h 21600"/>
                <a:gd name="T4" fmla="*/ 21600 w 21600"/>
                <a:gd name="T5" fmla="*/ 0 h 21600"/>
                <a:gd name="T6" fmla="*/ 0 w 21600"/>
                <a:gd name="T7" fmla="*/ 0 h 21600"/>
                <a:gd name="T8" fmla="*/ 10800 w 21600"/>
                <a:gd name="T9" fmla="*/ 0 h 21600"/>
                <a:gd name="T10" fmla="*/ 21600 w 21600"/>
                <a:gd name="T11" fmla="*/ 0 h 21600"/>
                <a:gd name="T12" fmla="*/ 21600 w 21600"/>
                <a:gd name="T13" fmla="*/ 10800 h 21600"/>
                <a:gd name="T14" fmla="*/ 21600 w 21600"/>
                <a:gd name="T15" fmla="*/ 21600 h 21600"/>
                <a:gd name="T16" fmla="*/ 10800 w 21600"/>
                <a:gd name="T17" fmla="*/ 21600 h 21600"/>
                <a:gd name="T18" fmla="*/ 0 w 21600"/>
                <a:gd name="T19" fmla="*/ 10800 h 21600"/>
                <a:gd name="T20" fmla="*/ 1955 w 21600"/>
                <a:gd name="T21" fmla="*/ 12829 h 21600"/>
                <a:gd name="T22" fmla="*/ 19814 w 21600"/>
                <a:gd name="T23" fmla="*/ 20749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9184" y="949"/>
                  </a:moveTo>
                  <a:lnTo>
                    <a:pt x="9758" y="1309"/>
                  </a:lnTo>
                  <a:lnTo>
                    <a:pt x="11544" y="1292"/>
                  </a:lnTo>
                  <a:lnTo>
                    <a:pt x="12437" y="1292"/>
                  </a:lnTo>
                  <a:lnTo>
                    <a:pt x="13414" y="1161"/>
                  </a:lnTo>
                  <a:lnTo>
                    <a:pt x="13648" y="1243"/>
                  </a:lnTo>
                  <a:lnTo>
                    <a:pt x="13542" y="1390"/>
                  </a:lnTo>
                  <a:lnTo>
                    <a:pt x="13967" y="1849"/>
                  </a:lnTo>
                  <a:lnTo>
                    <a:pt x="14562" y="2520"/>
                  </a:lnTo>
                  <a:lnTo>
                    <a:pt x="14669" y="3223"/>
                  </a:lnTo>
                  <a:lnTo>
                    <a:pt x="14796" y="3518"/>
                  </a:lnTo>
                  <a:lnTo>
                    <a:pt x="15264" y="3665"/>
                  </a:lnTo>
                  <a:lnTo>
                    <a:pt x="15753" y="3518"/>
                  </a:lnTo>
                  <a:lnTo>
                    <a:pt x="15902" y="2978"/>
                  </a:lnTo>
                  <a:lnTo>
                    <a:pt x="16008" y="2323"/>
                  </a:lnTo>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extrusionOk="0">
                  <a:moveTo>
                    <a:pt x="85" y="17509"/>
                  </a:moveTo>
                  <a:lnTo>
                    <a:pt x="5187" y="17509"/>
                  </a:lnTo>
                  <a:lnTo>
                    <a:pt x="5187" y="21632"/>
                  </a:lnTo>
                  <a:lnTo>
                    <a:pt x="85" y="17509"/>
                  </a:lnTo>
                  <a:close/>
                </a:path>
                <a:path w="21600" h="21600" extrusionOk="0">
                  <a:moveTo>
                    <a:pt x="5591" y="10620"/>
                  </a:moveTo>
                  <a:lnTo>
                    <a:pt x="6122" y="10996"/>
                  </a:lnTo>
                  <a:lnTo>
                    <a:pt x="6696" y="11340"/>
                  </a:lnTo>
                  <a:lnTo>
                    <a:pt x="7313" y="11618"/>
                  </a:lnTo>
                  <a:lnTo>
                    <a:pt x="7972" y="11863"/>
                  </a:lnTo>
                  <a:lnTo>
                    <a:pt x="8652" y="12060"/>
                  </a:lnTo>
                  <a:lnTo>
                    <a:pt x="9396" y="12190"/>
                  </a:lnTo>
                  <a:lnTo>
                    <a:pt x="10119" y="12272"/>
                  </a:lnTo>
                  <a:lnTo>
                    <a:pt x="10906" y="12305"/>
                  </a:lnTo>
                  <a:lnTo>
                    <a:pt x="11650" y="12272"/>
                  </a:lnTo>
                  <a:lnTo>
                    <a:pt x="12373" y="12190"/>
                  </a:lnTo>
                  <a:lnTo>
                    <a:pt x="13117" y="12060"/>
                  </a:lnTo>
                  <a:lnTo>
                    <a:pt x="13797" y="11863"/>
                  </a:lnTo>
                  <a:lnTo>
                    <a:pt x="14456" y="11618"/>
                  </a:lnTo>
                  <a:lnTo>
                    <a:pt x="15073" y="11340"/>
                  </a:lnTo>
                  <a:lnTo>
                    <a:pt x="15647" y="11029"/>
                  </a:lnTo>
                  <a:lnTo>
                    <a:pt x="16178" y="10652"/>
                  </a:lnTo>
                  <a:lnTo>
                    <a:pt x="16667" y="10243"/>
                  </a:lnTo>
                  <a:lnTo>
                    <a:pt x="17071" y="9801"/>
                  </a:lnTo>
                  <a:lnTo>
                    <a:pt x="17475" y="9327"/>
                  </a:lnTo>
                  <a:lnTo>
                    <a:pt x="17815" y="8820"/>
                  </a:lnTo>
                  <a:lnTo>
                    <a:pt x="18049" y="8296"/>
                  </a:lnTo>
                  <a:lnTo>
                    <a:pt x="18262" y="7723"/>
                  </a:lnTo>
                  <a:lnTo>
                    <a:pt x="18347" y="7134"/>
                  </a:lnTo>
                  <a:lnTo>
                    <a:pt x="18389" y="6561"/>
                  </a:lnTo>
                  <a:lnTo>
                    <a:pt x="18347" y="5956"/>
                  </a:lnTo>
                  <a:lnTo>
                    <a:pt x="18262" y="5400"/>
                  </a:lnTo>
                  <a:lnTo>
                    <a:pt x="18049" y="4827"/>
                  </a:lnTo>
                  <a:lnTo>
                    <a:pt x="17815" y="4303"/>
                  </a:lnTo>
                  <a:lnTo>
                    <a:pt x="17475" y="3796"/>
                  </a:lnTo>
                  <a:lnTo>
                    <a:pt x="17114" y="3321"/>
                  </a:lnTo>
                  <a:lnTo>
                    <a:pt x="16710" y="2880"/>
                  </a:lnTo>
                  <a:lnTo>
                    <a:pt x="16221" y="2470"/>
                  </a:lnTo>
                  <a:lnTo>
                    <a:pt x="15689" y="2094"/>
                  </a:lnTo>
                  <a:lnTo>
                    <a:pt x="15115" y="1750"/>
                  </a:lnTo>
                  <a:lnTo>
                    <a:pt x="14499" y="1472"/>
                  </a:lnTo>
                  <a:lnTo>
                    <a:pt x="13797" y="1227"/>
                  </a:lnTo>
                  <a:lnTo>
                    <a:pt x="13117" y="1030"/>
                  </a:lnTo>
                  <a:lnTo>
                    <a:pt x="12415" y="883"/>
                  </a:lnTo>
                  <a:lnTo>
                    <a:pt x="11650" y="818"/>
                  </a:lnTo>
                  <a:lnTo>
                    <a:pt x="10906" y="785"/>
                  </a:lnTo>
                  <a:lnTo>
                    <a:pt x="10119" y="818"/>
                  </a:lnTo>
                  <a:lnTo>
                    <a:pt x="9396" y="883"/>
                  </a:lnTo>
                  <a:lnTo>
                    <a:pt x="8652" y="1030"/>
                  </a:lnTo>
                  <a:lnTo>
                    <a:pt x="8014" y="1227"/>
                  </a:lnTo>
                  <a:lnTo>
                    <a:pt x="7355" y="1440"/>
                  </a:lnTo>
                  <a:lnTo>
                    <a:pt x="6739" y="1750"/>
                  </a:lnTo>
                  <a:lnTo>
                    <a:pt x="6122" y="2061"/>
                  </a:lnTo>
                  <a:lnTo>
                    <a:pt x="5591" y="2438"/>
                  </a:lnTo>
                  <a:lnTo>
                    <a:pt x="5102" y="2847"/>
                  </a:lnTo>
                  <a:lnTo>
                    <a:pt x="4698" y="3289"/>
                  </a:lnTo>
                  <a:lnTo>
                    <a:pt x="4294" y="3763"/>
                  </a:lnTo>
                  <a:lnTo>
                    <a:pt x="3996" y="4270"/>
                  </a:lnTo>
                  <a:lnTo>
                    <a:pt x="3720" y="4794"/>
                  </a:lnTo>
                  <a:lnTo>
                    <a:pt x="3550" y="5367"/>
                  </a:lnTo>
                  <a:lnTo>
                    <a:pt x="3422" y="5956"/>
                  </a:lnTo>
                  <a:lnTo>
                    <a:pt x="3380" y="6561"/>
                  </a:lnTo>
                  <a:lnTo>
                    <a:pt x="3422" y="7134"/>
                  </a:lnTo>
                  <a:lnTo>
                    <a:pt x="3550" y="7690"/>
                  </a:lnTo>
                  <a:lnTo>
                    <a:pt x="3720" y="8263"/>
                  </a:lnTo>
                  <a:lnTo>
                    <a:pt x="3954" y="8787"/>
                  </a:lnTo>
                  <a:lnTo>
                    <a:pt x="4294" y="9294"/>
                  </a:lnTo>
                  <a:lnTo>
                    <a:pt x="4655" y="9769"/>
                  </a:lnTo>
                  <a:lnTo>
                    <a:pt x="5102" y="10210"/>
                  </a:lnTo>
                  <a:lnTo>
                    <a:pt x="5591" y="10620"/>
                  </a:lnTo>
                  <a:close/>
                </a:path>
                <a:path w="21600" h="21600" extrusionOk="0">
                  <a:moveTo>
                    <a:pt x="3401" y="6021"/>
                  </a:moveTo>
                  <a:lnTo>
                    <a:pt x="4039" y="5530"/>
                  </a:lnTo>
                  <a:lnTo>
                    <a:pt x="4294" y="4892"/>
                  </a:lnTo>
                  <a:lnTo>
                    <a:pt x="4677" y="4156"/>
                  </a:lnTo>
                  <a:lnTo>
                    <a:pt x="5166" y="3763"/>
                  </a:lnTo>
                  <a:lnTo>
                    <a:pt x="5378" y="3354"/>
                  </a:lnTo>
                  <a:lnTo>
                    <a:pt x="5293" y="2732"/>
                  </a:lnTo>
                  <a:moveTo>
                    <a:pt x="3507" y="7380"/>
                  </a:moveTo>
                  <a:lnTo>
                    <a:pt x="3890" y="7200"/>
                  </a:lnTo>
                  <a:lnTo>
                    <a:pt x="4103" y="7249"/>
                  </a:lnTo>
                  <a:lnTo>
                    <a:pt x="4400" y="7527"/>
                  </a:lnTo>
                  <a:lnTo>
                    <a:pt x="4719" y="7674"/>
                  </a:lnTo>
                  <a:lnTo>
                    <a:pt x="5293" y="7641"/>
                  </a:lnTo>
                  <a:lnTo>
                    <a:pt x="5740" y="7543"/>
                  </a:lnTo>
                  <a:lnTo>
                    <a:pt x="6144" y="7543"/>
                  </a:lnTo>
                  <a:lnTo>
                    <a:pt x="6526" y="7821"/>
                  </a:lnTo>
                  <a:lnTo>
                    <a:pt x="6569" y="8312"/>
                  </a:lnTo>
                  <a:lnTo>
                    <a:pt x="6059" y="8852"/>
                  </a:lnTo>
                  <a:lnTo>
                    <a:pt x="5803" y="8967"/>
                  </a:lnTo>
                  <a:lnTo>
                    <a:pt x="5803" y="9147"/>
                  </a:lnTo>
                  <a:lnTo>
                    <a:pt x="5421" y="9294"/>
                  </a:lnTo>
                  <a:lnTo>
                    <a:pt x="4868" y="9163"/>
                  </a:lnTo>
                  <a:lnTo>
                    <a:pt x="4337" y="9049"/>
                  </a:lnTo>
                  <a:lnTo>
                    <a:pt x="4081" y="9000"/>
                  </a:lnTo>
                  <a:moveTo>
                    <a:pt x="14988" y="11372"/>
                  </a:moveTo>
                  <a:lnTo>
                    <a:pt x="15115" y="10865"/>
                  </a:lnTo>
                  <a:lnTo>
                    <a:pt x="16072" y="10096"/>
                  </a:lnTo>
                  <a:lnTo>
                    <a:pt x="16455" y="9605"/>
                  </a:lnTo>
                  <a:lnTo>
                    <a:pt x="16455" y="8329"/>
                  </a:lnTo>
                  <a:lnTo>
                    <a:pt x="17156" y="7969"/>
                  </a:lnTo>
                  <a:lnTo>
                    <a:pt x="17879" y="7870"/>
                  </a:lnTo>
                  <a:lnTo>
                    <a:pt x="18177" y="7821"/>
                  </a:lnTo>
                  <a:moveTo>
                    <a:pt x="18368" y="6840"/>
                  </a:moveTo>
                  <a:lnTo>
                    <a:pt x="18049" y="6610"/>
                  </a:lnTo>
                  <a:lnTo>
                    <a:pt x="17411" y="6512"/>
                  </a:lnTo>
                  <a:lnTo>
                    <a:pt x="16859" y="6545"/>
                  </a:lnTo>
                  <a:lnTo>
                    <a:pt x="16603" y="6201"/>
                  </a:lnTo>
                  <a:lnTo>
                    <a:pt x="16731" y="5874"/>
                  </a:lnTo>
                  <a:lnTo>
                    <a:pt x="17241" y="5465"/>
                  </a:lnTo>
                  <a:lnTo>
                    <a:pt x="17858" y="5236"/>
                  </a:lnTo>
                  <a:lnTo>
                    <a:pt x="18007" y="5089"/>
                  </a:lnTo>
                  <a:lnTo>
                    <a:pt x="18049" y="4892"/>
                  </a:lnTo>
                  <a:moveTo>
                    <a:pt x="8100" y="1260"/>
                  </a:moveTo>
                  <a:cubicBezTo>
                    <a:pt x="8333" y="1276"/>
                    <a:pt x="8206" y="1554"/>
                    <a:pt x="8695" y="1652"/>
                  </a:cubicBezTo>
                  <a:cubicBezTo>
                    <a:pt x="9184" y="1750"/>
                    <a:pt x="10481" y="1685"/>
                    <a:pt x="10991" y="1881"/>
                  </a:cubicBezTo>
                  <a:cubicBezTo>
                    <a:pt x="11501" y="2078"/>
                    <a:pt x="11629" y="2503"/>
                    <a:pt x="11799" y="2830"/>
                  </a:cubicBezTo>
                  <a:cubicBezTo>
                    <a:pt x="11969" y="3158"/>
                    <a:pt x="11905" y="3910"/>
                    <a:pt x="12054" y="3894"/>
                  </a:cubicBezTo>
                  <a:cubicBezTo>
                    <a:pt x="12203" y="3878"/>
                    <a:pt x="12351" y="2880"/>
                    <a:pt x="12649" y="2683"/>
                  </a:cubicBezTo>
                  <a:cubicBezTo>
                    <a:pt x="12947" y="2487"/>
                    <a:pt x="13670" y="2536"/>
                    <a:pt x="13840" y="2683"/>
                  </a:cubicBezTo>
                  <a:cubicBezTo>
                    <a:pt x="14010" y="2830"/>
                    <a:pt x="13733" y="3370"/>
                    <a:pt x="13648" y="3616"/>
                  </a:cubicBezTo>
                  <a:cubicBezTo>
                    <a:pt x="13563" y="3861"/>
                    <a:pt x="13457" y="4058"/>
                    <a:pt x="13351" y="4156"/>
                  </a:cubicBezTo>
                  <a:cubicBezTo>
                    <a:pt x="13244" y="4254"/>
                    <a:pt x="13096" y="4221"/>
                    <a:pt x="12947" y="4254"/>
                  </a:cubicBezTo>
                  <a:cubicBezTo>
                    <a:pt x="12777" y="4303"/>
                    <a:pt x="12585" y="4369"/>
                    <a:pt x="12394" y="4401"/>
                  </a:cubicBezTo>
                  <a:cubicBezTo>
                    <a:pt x="12139" y="4500"/>
                    <a:pt x="12054" y="4614"/>
                    <a:pt x="11862" y="4647"/>
                  </a:cubicBezTo>
                  <a:cubicBezTo>
                    <a:pt x="11650" y="4761"/>
                    <a:pt x="11671" y="4680"/>
                    <a:pt x="11437" y="4778"/>
                  </a:cubicBezTo>
                  <a:cubicBezTo>
                    <a:pt x="11352" y="4827"/>
                    <a:pt x="11225" y="4974"/>
                    <a:pt x="11246" y="5072"/>
                  </a:cubicBezTo>
                  <a:cubicBezTo>
                    <a:pt x="11225" y="5154"/>
                    <a:pt x="11267" y="5220"/>
                    <a:pt x="11310" y="5269"/>
                  </a:cubicBezTo>
                  <a:cubicBezTo>
                    <a:pt x="11352" y="5318"/>
                    <a:pt x="11480" y="5383"/>
                    <a:pt x="11565" y="5416"/>
                  </a:cubicBezTo>
                  <a:cubicBezTo>
                    <a:pt x="11629" y="5400"/>
                    <a:pt x="11820" y="5465"/>
                    <a:pt x="11862" y="5432"/>
                  </a:cubicBezTo>
                  <a:cubicBezTo>
                    <a:pt x="11905" y="5416"/>
                    <a:pt x="11926" y="5269"/>
                    <a:pt x="11884" y="5236"/>
                  </a:cubicBezTo>
                  <a:cubicBezTo>
                    <a:pt x="11841" y="5203"/>
                    <a:pt x="11629" y="5269"/>
                    <a:pt x="11565" y="5220"/>
                  </a:cubicBezTo>
                  <a:cubicBezTo>
                    <a:pt x="11480" y="5187"/>
                    <a:pt x="11459" y="5040"/>
                    <a:pt x="11480" y="4974"/>
                  </a:cubicBezTo>
                  <a:cubicBezTo>
                    <a:pt x="11501" y="4909"/>
                    <a:pt x="11607" y="4860"/>
                    <a:pt x="11692" y="4843"/>
                  </a:cubicBezTo>
                  <a:cubicBezTo>
                    <a:pt x="11905" y="4876"/>
                    <a:pt x="11820" y="4876"/>
                    <a:pt x="12054" y="4876"/>
                  </a:cubicBezTo>
                  <a:cubicBezTo>
                    <a:pt x="12075" y="5040"/>
                    <a:pt x="12096" y="5269"/>
                    <a:pt x="12139" y="5416"/>
                  </a:cubicBezTo>
                  <a:cubicBezTo>
                    <a:pt x="12160" y="5465"/>
                    <a:pt x="12330" y="5465"/>
                    <a:pt x="12373" y="5416"/>
                  </a:cubicBezTo>
                  <a:cubicBezTo>
                    <a:pt x="12415" y="5367"/>
                    <a:pt x="12330" y="4974"/>
                    <a:pt x="12394" y="4892"/>
                  </a:cubicBezTo>
                  <a:cubicBezTo>
                    <a:pt x="12458" y="4810"/>
                    <a:pt x="12692" y="4925"/>
                    <a:pt x="12755" y="4892"/>
                  </a:cubicBezTo>
                  <a:cubicBezTo>
                    <a:pt x="12798" y="4860"/>
                    <a:pt x="12840" y="4761"/>
                    <a:pt x="12755" y="4729"/>
                  </a:cubicBezTo>
                  <a:cubicBezTo>
                    <a:pt x="12670" y="4696"/>
                    <a:pt x="12118" y="4745"/>
                    <a:pt x="12203" y="4696"/>
                  </a:cubicBezTo>
                  <a:cubicBezTo>
                    <a:pt x="12543" y="4549"/>
                    <a:pt x="12819" y="4434"/>
                    <a:pt x="13266" y="4401"/>
                  </a:cubicBezTo>
                  <a:cubicBezTo>
                    <a:pt x="13436" y="4385"/>
                    <a:pt x="13585" y="4500"/>
                    <a:pt x="13776" y="4532"/>
                  </a:cubicBezTo>
                  <a:cubicBezTo>
                    <a:pt x="13967" y="4630"/>
                    <a:pt x="13861" y="4843"/>
                    <a:pt x="13712" y="4925"/>
                  </a:cubicBezTo>
                  <a:cubicBezTo>
                    <a:pt x="13648" y="5023"/>
                    <a:pt x="13521" y="5121"/>
                    <a:pt x="13414" y="5187"/>
                  </a:cubicBezTo>
                  <a:cubicBezTo>
                    <a:pt x="13351" y="5285"/>
                    <a:pt x="13287" y="5334"/>
                    <a:pt x="13159" y="5383"/>
                  </a:cubicBezTo>
                  <a:cubicBezTo>
                    <a:pt x="13117" y="5563"/>
                    <a:pt x="12862" y="5743"/>
                    <a:pt x="12649" y="5809"/>
                  </a:cubicBezTo>
                  <a:cubicBezTo>
                    <a:pt x="12543" y="5907"/>
                    <a:pt x="12437" y="5940"/>
                    <a:pt x="12309" y="6005"/>
                  </a:cubicBezTo>
                  <a:cubicBezTo>
                    <a:pt x="12245" y="6120"/>
                    <a:pt x="12139" y="6185"/>
                    <a:pt x="12075" y="6300"/>
                  </a:cubicBezTo>
                  <a:cubicBezTo>
                    <a:pt x="12118" y="6561"/>
                    <a:pt x="12075" y="6643"/>
                    <a:pt x="12373" y="6741"/>
                  </a:cubicBezTo>
                  <a:cubicBezTo>
                    <a:pt x="12500" y="6840"/>
                    <a:pt x="12522" y="6970"/>
                    <a:pt x="12330" y="7036"/>
                  </a:cubicBezTo>
                  <a:cubicBezTo>
                    <a:pt x="12011" y="6987"/>
                    <a:pt x="12033" y="6823"/>
                    <a:pt x="11799" y="6692"/>
                  </a:cubicBezTo>
                  <a:cubicBezTo>
                    <a:pt x="11714" y="6529"/>
                    <a:pt x="11459" y="6430"/>
                    <a:pt x="11246" y="6398"/>
                  </a:cubicBezTo>
                  <a:cubicBezTo>
                    <a:pt x="11076" y="6332"/>
                    <a:pt x="11182" y="6365"/>
                    <a:pt x="10906" y="6365"/>
                  </a:cubicBezTo>
                  <a:cubicBezTo>
                    <a:pt x="10608" y="6512"/>
                    <a:pt x="10544" y="7347"/>
                    <a:pt x="11246" y="7478"/>
                  </a:cubicBezTo>
                  <a:cubicBezTo>
                    <a:pt x="12394" y="7429"/>
                    <a:pt x="13329" y="7772"/>
                    <a:pt x="13733" y="7985"/>
                  </a:cubicBezTo>
                  <a:cubicBezTo>
                    <a:pt x="13840" y="8410"/>
                    <a:pt x="13329" y="8901"/>
                    <a:pt x="12500" y="9343"/>
                  </a:cubicBezTo>
                  <a:cubicBezTo>
                    <a:pt x="11629" y="9736"/>
                    <a:pt x="11480" y="10194"/>
                    <a:pt x="11246" y="10980"/>
                  </a:cubicBezTo>
                  <a:cubicBezTo>
                    <a:pt x="10991" y="11372"/>
                    <a:pt x="10481" y="10930"/>
                    <a:pt x="10289" y="10096"/>
                  </a:cubicBezTo>
                  <a:cubicBezTo>
                    <a:pt x="10140" y="9196"/>
                    <a:pt x="9907" y="8165"/>
                    <a:pt x="10459" y="7576"/>
                  </a:cubicBezTo>
                  <a:cubicBezTo>
                    <a:pt x="9375" y="6790"/>
                    <a:pt x="9269" y="6070"/>
                    <a:pt x="9056" y="6218"/>
                  </a:cubicBezTo>
                  <a:cubicBezTo>
                    <a:pt x="9205" y="6987"/>
                    <a:pt x="8929" y="6660"/>
                    <a:pt x="8737" y="6021"/>
                  </a:cubicBezTo>
                  <a:cubicBezTo>
                    <a:pt x="8822" y="5023"/>
                    <a:pt x="8610" y="4385"/>
                    <a:pt x="8440" y="3550"/>
                  </a:cubicBezTo>
                  <a:lnTo>
                    <a:pt x="7844" y="2290"/>
                  </a:lnTo>
                  <a:lnTo>
                    <a:pt x="6654" y="1849"/>
                  </a:lnTo>
                </a:path>
              </a:pathLst>
            </a:custGeom>
            <a:solidFill>
              <a:srgbClr val="D8EBB3"/>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a:endParaRPr lang="en-AU" sz="2000" b="1" dirty="0">
                <a:solidFill>
                  <a:srgbClr val="FF0000"/>
                </a:solidFill>
              </a:endParaRPr>
            </a:p>
          </p:txBody>
        </p:sp>
        <p:sp>
          <p:nvSpPr>
            <p:cNvPr id="15" name="Right Arrow 14"/>
            <p:cNvSpPr/>
            <p:nvPr/>
          </p:nvSpPr>
          <p:spPr>
            <a:xfrm>
              <a:off x="7492644" y="4981620"/>
              <a:ext cx="288032" cy="648072"/>
            </a:xfrm>
            <a:prstGeom prst="rightArrow">
              <a:avLst/>
            </a:prstGeom>
            <a:solidFill>
              <a:srgbClr val="99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121788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C00000"/>
                </a:solidFill>
              </a:rPr>
              <a:t>w</a:t>
            </a:r>
            <a:r>
              <a:rPr lang="en-AU" dirty="0" smtClean="0">
                <a:solidFill>
                  <a:srgbClr val="C00000"/>
                </a:solidFill>
              </a:rPr>
              <a:t>hat’s different?</a:t>
            </a:r>
            <a:endParaRPr lang="en-AU" dirty="0">
              <a:solidFill>
                <a:srgbClr val="C00000"/>
              </a:solidFill>
            </a:endParaRPr>
          </a:p>
        </p:txBody>
      </p:sp>
      <p:sp>
        <p:nvSpPr>
          <p:cNvPr id="3" name="Content Placeholder 2"/>
          <p:cNvSpPr>
            <a:spLocks noGrp="1"/>
          </p:cNvSpPr>
          <p:nvPr>
            <p:ph idx="1"/>
          </p:nvPr>
        </p:nvSpPr>
        <p:spPr>
          <a:xfrm>
            <a:off x="457200" y="1600200"/>
            <a:ext cx="8579296" cy="5257800"/>
          </a:xfrm>
        </p:spPr>
        <p:txBody>
          <a:bodyPr>
            <a:normAutofit/>
          </a:bodyPr>
          <a:lstStyle/>
          <a:p>
            <a:r>
              <a:rPr lang="en-AU" dirty="0" smtClean="0"/>
              <a:t>Treat Blaise </a:t>
            </a:r>
            <a:r>
              <a:rPr lang="en-AU" dirty="0"/>
              <a:t>a</a:t>
            </a:r>
            <a:r>
              <a:rPr lang="en-AU" dirty="0" smtClean="0"/>
              <a:t>s a means, not an end</a:t>
            </a:r>
          </a:p>
          <a:p>
            <a:pPr lvl="1"/>
            <a:r>
              <a:rPr lang="en-AU" dirty="0" smtClean="0">
                <a:solidFill>
                  <a:srgbClr val="0070C0"/>
                </a:solidFill>
              </a:rPr>
              <a:t>It shouldn’t be a metadata graveyard</a:t>
            </a:r>
          </a:p>
          <a:p>
            <a:pPr lvl="1"/>
            <a:r>
              <a:rPr lang="en-AU" dirty="0" smtClean="0">
                <a:solidFill>
                  <a:srgbClr val="0070C0"/>
                </a:solidFill>
              </a:rPr>
              <a:t>Making it </a:t>
            </a:r>
            <a:r>
              <a:rPr lang="en-AU" dirty="0" smtClean="0">
                <a:solidFill>
                  <a:srgbClr val="0070C0"/>
                </a:solidFill>
              </a:rPr>
              <a:t>easier to get Blaise code is not enough</a:t>
            </a:r>
          </a:p>
          <a:p>
            <a:pPr lvl="1"/>
            <a:r>
              <a:rPr lang="en-AU" dirty="0" smtClean="0">
                <a:solidFill>
                  <a:srgbClr val="0070C0"/>
                </a:solidFill>
              </a:rPr>
              <a:t>The specification is the real asset</a:t>
            </a:r>
          </a:p>
          <a:p>
            <a:pPr lvl="0"/>
            <a:r>
              <a:rPr lang="en-AU" dirty="0" smtClean="0"/>
              <a:t>Put </a:t>
            </a:r>
            <a:r>
              <a:rPr lang="en-AU" dirty="0"/>
              <a:t>power in hands of survey </a:t>
            </a:r>
            <a:r>
              <a:rPr lang="en-AU" dirty="0" smtClean="0"/>
              <a:t>designers</a:t>
            </a:r>
          </a:p>
          <a:p>
            <a:pPr lvl="1"/>
            <a:r>
              <a:rPr lang="en-AU" dirty="0">
                <a:solidFill>
                  <a:srgbClr val="0070C0"/>
                </a:solidFill>
              </a:rPr>
              <a:t>G</a:t>
            </a:r>
            <a:r>
              <a:rPr lang="en-AU" dirty="0" smtClean="0">
                <a:solidFill>
                  <a:srgbClr val="0070C0"/>
                </a:solidFill>
              </a:rPr>
              <a:t>et </a:t>
            </a:r>
            <a:r>
              <a:rPr lang="en-AU" dirty="0" smtClean="0">
                <a:solidFill>
                  <a:srgbClr val="0070C0"/>
                </a:solidFill>
              </a:rPr>
              <a:t>technical people out of business processes</a:t>
            </a:r>
          </a:p>
          <a:p>
            <a:pPr lvl="1"/>
            <a:r>
              <a:rPr lang="en-AU" dirty="0" smtClean="0">
                <a:solidFill>
                  <a:srgbClr val="0070C0"/>
                </a:solidFill>
              </a:rPr>
              <a:t>Empower the designers</a:t>
            </a:r>
            <a:endParaRPr lang="en-AU" dirty="0" smtClean="0">
              <a:solidFill>
                <a:srgbClr val="0070C0"/>
              </a:solidFill>
            </a:endParaRPr>
          </a:p>
        </p:txBody>
      </p:sp>
    </p:spTree>
    <p:extLst>
      <p:ext uri="{BB962C8B-B14F-4D97-AF65-F5344CB8AC3E}">
        <p14:creationId xmlns:p14="http://schemas.microsoft.com/office/powerpoint/2010/main" val="29932183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fast-tracking development</a:t>
            </a:r>
            <a:endParaRPr lang="en-AU" dirty="0">
              <a:solidFill>
                <a:srgbClr val="C00000"/>
              </a:solidFill>
            </a:endParaRPr>
          </a:p>
        </p:txBody>
      </p:sp>
      <p:sp>
        <p:nvSpPr>
          <p:cNvPr id="3" name="Content Placeholder 2"/>
          <p:cNvSpPr>
            <a:spLocks noGrp="1"/>
          </p:cNvSpPr>
          <p:nvPr>
            <p:ph idx="1"/>
          </p:nvPr>
        </p:nvSpPr>
        <p:spPr>
          <a:xfrm>
            <a:off x="457200" y="1600200"/>
            <a:ext cx="8229600" cy="5257800"/>
          </a:xfrm>
        </p:spPr>
        <p:txBody>
          <a:bodyPr>
            <a:normAutofit/>
          </a:bodyPr>
          <a:lstStyle/>
          <a:p>
            <a:r>
              <a:rPr lang="en-AU" dirty="0" smtClean="0"/>
              <a:t>Chose an existing business survey</a:t>
            </a:r>
          </a:p>
          <a:p>
            <a:pPr lvl="1"/>
            <a:r>
              <a:rPr lang="en-AU" dirty="0" err="1" smtClean="0">
                <a:solidFill>
                  <a:srgbClr val="0070C0"/>
                </a:solidFill>
              </a:rPr>
              <a:t>LaMPS</a:t>
            </a:r>
            <a:r>
              <a:rPr lang="en-AU" dirty="0">
                <a:solidFill>
                  <a:srgbClr val="0070C0"/>
                </a:solidFill>
              </a:rPr>
              <a:t> </a:t>
            </a:r>
            <a:r>
              <a:rPr lang="en-AU" dirty="0" smtClean="0">
                <a:solidFill>
                  <a:srgbClr val="0070C0"/>
                </a:solidFill>
              </a:rPr>
              <a:t>= Land Management Practices Survey</a:t>
            </a:r>
          </a:p>
          <a:p>
            <a:pPr>
              <a:spcBef>
                <a:spcPts val="1200"/>
              </a:spcBef>
            </a:pPr>
            <a:r>
              <a:rPr lang="en-AU" dirty="0" err="1" smtClean="0"/>
              <a:t>Handcoded</a:t>
            </a:r>
            <a:r>
              <a:rPr lang="en-AU" dirty="0" smtClean="0"/>
              <a:t> DDI to represent the survey</a:t>
            </a:r>
          </a:p>
          <a:p>
            <a:pPr lvl="1"/>
            <a:r>
              <a:rPr lang="en-AU" dirty="0" smtClean="0">
                <a:solidFill>
                  <a:srgbClr val="0070C0"/>
                </a:solidFill>
              </a:rPr>
              <a:t>Resolving representation issues</a:t>
            </a:r>
          </a:p>
          <a:p>
            <a:pPr>
              <a:spcBef>
                <a:spcPts val="1200"/>
              </a:spcBef>
            </a:pPr>
            <a:r>
              <a:rPr lang="en-AU" dirty="0" smtClean="0"/>
              <a:t>Put one team on the specification tool</a:t>
            </a:r>
          </a:p>
          <a:p>
            <a:pPr lvl="1"/>
            <a:r>
              <a:rPr lang="en-AU" dirty="0" smtClean="0">
                <a:solidFill>
                  <a:srgbClr val="0070C0"/>
                </a:solidFill>
              </a:rPr>
              <a:t>Create output to match the sample</a:t>
            </a:r>
          </a:p>
          <a:p>
            <a:pPr>
              <a:spcBef>
                <a:spcPts val="1200"/>
              </a:spcBef>
            </a:pPr>
            <a:r>
              <a:rPr lang="en-AU" dirty="0" smtClean="0"/>
              <a:t>Put another team on the Blaise tool</a:t>
            </a:r>
          </a:p>
          <a:p>
            <a:pPr lvl="1"/>
            <a:r>
              <a:rPr lang="en-AU" dirty="0" smtClean="0">
                <a:solidFill>
                  <a:srgbClr val="0070C0"/>
                </a:solidFill>
              </a:rPr>
              <a:t>Use the sample to create the form </a:t>
            </a:r>
            <a:endParaRPr lang="en-AU" dirty="0">
              <a:solidFill>
                <a:srgbClr val="0070C0"/>
              </a:solidFill>
            </a:endParaRPr>
          </a:p>
        </p:txBody>
      </p:sp>
    </p:spTree>
    <p:extLst>
      <p:ext uri="{BB962C8B-B14F-4D97-AF65-F5344CB8AC3E}">
        <p14:creationId xmlns:p14="http://schemas.microsoft.com/office/powerpoint/2010/main" val="247665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123" t="2527" r="3351" b="3489"/>
          <a:stretch/>
        </p:blipFill>
        <p:spPr>
          <a:xfrm>
            <a:off x="2268272" y="81376"/>
            <a:ext cx="4752000" cy="6696000"/>
          </a:xfrm>
          <a:prstGeom prst="rect">
            <a:avLst/>
          </a:prstGeom>
          <a:ln w="12700">
            <a:solidFill>
              <a:schemeClr val="tx1"/>
            </a:solidFill>
          </a:ln>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4124" t="3012" r="3350" b="3006"/>
          <a:stretch/>
        </p:blipFill>
        <p:spPr>
          <a:xfrm>
            <a:off x="2268272" y="81376"/>
            <a:ext cx="4752000" cy="6696000"/>
          </a:xfrm>
          <a:prstGeom prst="rect">
            <a:avLst/>
          </a:prstGeom>
          <a:ln w="12700">
            <a:solidFill>
              <a:schemeClr val="tx1"/>
            </a:solidFill>
          </a:ln>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4123" t="2527" r="3352" b="3489"/>
          <a:stretch/>
        </p:blipFill>
        <p:spPr>
          <a:xfrm>
            <a:off x="2268272" y="81376"/>
            <a:ext cx="4752000" cy="6696000"/>
          </a:xfrm>
          <a:prstGeom prst="rect">
            <a:avLst/>
          </a:prstGeom>
          <a:ln w="12700">
            <a:solidFill>
              <a:schemeClr val="tx1"/>
            </a:solidFill>
          </a:ln>
        </p:spPr>
      </p:pic>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l="4123" t="2527" r="3352" b="2984"/>
          <a:stretch/>
        </p:blipFill>
        <p:spPr>
          <a:xfrm>
            <a:off x="2268272" y="81376"/>
            <a:ext cx="4752000" cy="6732000"/>
          </a:xfrm>
          <a:prstGeom prst="rect">
            <a:avLst/>
          </a:prstGeom>
          <a:ln w="12700">
            <a:solidFill>
              <a:schemeClr val="tx1"/>
            </a:solidFill>
          </a:ln>
        </p:spPr>
      </p:pic>
    </p:spTree>
    <p:extLst>
      <p:ext uri="{BB962C8B-B14F-4D97-AF65-F5344CB8AC3E}">
        <p14:creationId xmlns:p14="http://schemas.microsoft.com/office/powerpoint/2010/main" val="23910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9753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97536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9753600"/>
          </a:xfrm>
          <a:prstGeom prst="rect">
            <a:avLst/>
          </a:prstGeom>
        </p:spPr>
      </p:pic>
    </p:spTree>
    <p:extLst>
      <p:ext uri="{BB962C8B-B14F-4D97-AF65-F5344CB8AC3E}">
        <p14:creationId xmlns:p14="http://schemas.microsoft.com/office/powerpoint/2010/main" val="222567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972800" cy="877824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972800" cy="877824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0972800" cy="8778240"/>
          </a:xfrm>
          <a:prstGeom prst="rect">
            <a:avLst/>
          </a:prstGeom>
        </p:spPr>
      </p:pic>
    </p:spTree>
    <p:extLst>
      <p:ext uri="{BB962C8B-B14F-4D97-AF65-F5344CB8AC3E}">
        <p14:creationId xmlns:p14="http://schemas.microsoft.com/office/powerpoint/2010/main" val="218319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547" y="116632"/>
            <a:ext cx="5167313" cy="665416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7547" y="116632"/>
            <a:ext cx="5167313" cy="6654165"/>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17547" y="116632"/>
            <a:ext cx="5167313" cy="6654165"/>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7547" y="116632"/>
            <a:ext cx="5167313" cy="6654165"/>
          </a:xfrm>
          <a:prstGeom prst="rect">
            <a:avLst/>
          </a:prstGeom>
        </p:spPr>
      </p:pic>
    </p:spTree>
    <p:extLst>
      <p:ext uri="{BB962C8B-B14F-4D97-AF65-F5344CB8AC3E}">
        <p14:creationId xmlns:p14="http://schemas.microsoft.com/office/powerpoint/2010/main" val="127731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C00000"/>
                </a:solidFill>
              </a:rPr>
              <a:t>t</a:t>
            </a:r>
            <a:r>
              <a:rPr lang="en-AU" dirty="0" smtClean="0">
                <a:solidFill>
                  <a:srgbClr val="C00000"/>
                </a:solidFill>
              </a:rPr>
              <a:t>echnical challenges</a:t>
            </a:r>
            <a:endParaRPr lang="en-AU" dirty="0">
              <a:solidFill>
                <a:srgbClr val="C00000"/>
              </a:solidFill>
            </a:endParaRPr>
          </a:p>
        </p:txBody>
      </p:sp>
      <p:sp>
        <p:nvSpPr>
          <p:cNvPr id="3" name="Content Placeholder 2"/>
          <p:cNvSpPr>
            <a:spLocks noGrp="1"/>
          </p:cNvSpPr>
          <p:nvPr>
            <p:ph idx="1"/>
          </p:nvPr>
        </p:nvSpPr>
        <p:spPr>
          <a:xfrm>
            <a:off x="457200" y="1600200"/>
            <a:ext cx="8229600" cy="5257800"/>
          </a:xfrm>
        </p:spPr>
        <p:txBody>
          <a:bodyPr>
            <a:normAutofit/>
          </a:bodyPr>
          <a:lstStyle/>
          <a:p>
            <a:pPr lvl="0"/>
            <a:r>
              <a:rPr lang="en-AU" dirty="0" smtClean="0"/>
              <a:t>DDI </a:t>
            </a:r>
            <a:r>
              <a:rPr lang="en-AU" dirty="0"/>
              <a:t>too </a:t>
            </a:r>
            <a:r>
              <a:rPr lang="en-AU" dirty="0" smtClean="0"/>
              <a:t>expressive</a:t>
            </a:r>
          </a:p>
          <a:p>
            <a:pPr lvl="1"/>
            <a:r>
              <a:rPr lang="en-AU" dirty="0" smtClean="0">
                <a:solidFill>
                  <a:srgbClr val="0070C0"/>
                </a:solidFill>
              </a:rPr>
              <a:t>Common profiles?</a:t>
            </a:r>
            <a:endParaRPr lang="en-AU" dirty="0" smtClean="0">
              <a:solidFill>
                <a:srgbClr val="0070C0"/>
              </a:solidFill>
            </a:endParaRPr>
          </a:p>
          <a:p>
            <a:pPr lvl="0">
              <a:spcBef>
                <a:spcPts val="1200"/>
              </a:spcBef>
            </a:pPr>
            <a:r>
              <a:rPr lang="en-AU" dirty="0" smtClean="0"/>
              <a:t>Mapping </a:t>
            </a:r>
            <a:r>
              <a:rPr lang="en-AU" dirty="0" smtClean="0"/>
              <a:t>specifications to Blaise</a:t>
            </a:r>
          </a:p>
          <a:p>
            <a:pPr lvl="1"/>
            <a:r>
              <a:rPr lang="en-AU" dirty="0" smtClean="0">
                <a:solidFill>
                  <a:srgbClr val="0070C0"/>
                </a:solidFill>
              </a:rPr>
              <a:t>e.g</a:t>
            </a:r>
            <a:r>
              <a:rPr lang="en-AU" dirty="0">
                <a:solidFill>
                  <a:srgbClr val="0070C0"/>
                </a:solidFill>
              </a:rPr>
              <a:t>. </a:t>
            </a:r>
            <a:r>
              <a:rPr lang="en-AU" dirty="0" smtClean="0">
                <a:solidFill>
                  <a:srgbClr val="0070C0"/>
                </a:solidFill>
              </a:rPr>
              <a:t>we can use Blaise tables </a:t>
            </a:r>
            <a:r>
              <a:rPr lang="en-AU" dirty="0">
                <a:solidFill>
                  <a:srgbClr val="0070C0"/>
                </a:solidFill>
              </a:rPr>
              <a:t>for grid </a:t>
            </a:r>
            <a:r>
              <a:rPr lang="en-AU" dirty="0" smtClean="0">
                <a:solidFill>
                  <a:srgbClr val="0070C0"/>
                </a:solidFill>
              </a:rPr>
              <a:t>questions,</a:t>
            </a:r>
            <a:br>
              <a:rPr lang="en-AU" dirty="0" smtClean="0">
                <a:solidFill>
                  <a:srgbClr val="0070C0"/>
                </a:solidFill>
              </a:rPr>
            </a:br>
            <a:r>
              <a:rPr lang="en-AU" dirty="0" smtClean="0">
                <a:solidFill>
                  <a:srgbClr val="0070C0"/>
                </a:solidFill>
              </a:rPr>
              <a:t>but </a:t>
            </a:r>
            <a:r>
              <a:rPr lang="en-AU" dirty="0">
                <a:solidFill>
                  <a:srgbClr val="0070C0"/>
                </a:solidFill>
              </a:rPr>
              <a:t>Blaise only allows 1 per </a:t>
            </a:r>
            <a:r>
              <a:rPr lang="en-AU" dirty="0" smtClean="0">
                <a:solidFill>
                  <a:srgbClr val="0070C0"/>
                </a:solidFill>
              </a:rPr>
              <a:t>page…</a:t>
            </a:r>
          </a:p>
          <a:p>
            <a:pPr lvl="0">
              <a:spcBef>
                <a:spcPts val="1200"/>
              </a:spcBef>
            </a:pPr>
            <a:r>
              <a:rPr lang="en-AU" dirty="0" smtClean="0"/>
              <a:t>Pushing boundaries of DDI</a:t>
            </a:r>
          </a:p>
          <a:p>
            <a:pPr lvl="1"/>
            <a:r>
              <a:rPr lang="en-AU" dirty="0" smtClean="0">
                <a:solidFill>
                  <a:srgbClr val="0070C0"/>
                </a:solidFill>
              </a:rPr>
              <a:t>Layout? Deployment?</a:t>
            </a:r>
          </a:p>
          <a:p>
            <a:pPr>
              <a:spcBef>
                <a:spcPts val="1200"/>
              </a:spcBef>
            </a:pPr>
            <a:r>
              <a:rPr lang="en-AU" dirty="0" smtClean="0"/>
              <a:t>Doing it all</a:t>
            </a:r>
          </a:p>
          <a:p>
            <a:pPr lvl="1"/>
            <a:r>
              <a:rPr lang="en-AU" dirty="0" smtClean="0">
                <a:solidFill>
                  <a:srgbClr val="0070C0"/>
                </a:solidFill>
              </a:rPr>
              <a:t>“you can only do 80%”</a:t>
            </a:r>
          </a:p>
        </p:txBody>
      </p:sp>
    </p:spTree>
    <p:extLst>
      <p:ext uri="{BB962C8B-B14F-4D97-AF65-F5344CB8AC3E}">
        <p14:creationId xmlns:p14="http://schemas.microsoft.com/office/powerpoint/2010/main" val="39605402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C00000"/>
                </a:solidFill>
              </a:rPr>
              <a:t>b</a:t>
            </a:r>
            <a:r>
              <a:rPr lang="en-AU" dirty="0" smtClean="0">
                <a:solidFill>
                  <a:srgbClr val="C00000"/>
                </a:solidFill>
              </a:rPr>
              <a:t>usiness challenges</a:t>
            </a:r>
            <a:endParaRPr lang="en-AU" dirty="0">
              <a:solidFill>
                <a:srgbClr val="C00000"/>
              </a:solidFill>
            </a:endParaRPr>
          </a:p>
        </p:txBody>
      </p:sp>
      <p:sp>
        <p:nvSpPr>
          <p:cNvPr id="3" name="Content Placeholder 2"/>
          <p:cNvSpPr>
            <a:spLocks noGrp="1"/>
          </p:cNvSpPr>
          <p:nvPr>
            <p:ph idx="1"/>
          </p:nvPr>
        </p:nvSpPr>
        <p:spPr/>
        <p:txBody>
          <a:bodyPr>
            <a:normAutofit lnSpcReduction="10000"/>
          </a:bodyPr>
          <a:lstStyle/>
          <a:p>
            <a:pPr lvl="0"/>
            <a:r>
              <a:rPr lang="en-AU" dirty="0"/>
              <a:t>Imposition of standardisation</a:t>
            </a:r>
          </a:p>
          <a:p>
            <a:pPr lvl="1">
              <a:spcBef>
                <a:spcPts val="672"/>
              </a:spcBef>
            </a:pPr>
            <a:r>
              <a:rPr lang="en-AU" dirty="0">
                <a:solidFill>
                  <a:srgbClr val="0070C0"/>
                </a:solidFill>
              </a:rPr>
              <a:t>Compared to past flexibility</a:t>
            </a:r>
          </a:p>
          <a:p>
            <a:pPr lvl="0">
              <a:spcBef>
                <a:spcPts val="1800"/>
              </a:spcBef>
            </a:pPr>
            <a:r>
              <a:rPr lang="en-AU" dirty="0" smtClean="0"/>
              <a:t>E</a:t>
            </a:r>
            <a:r>
              <a:rPr lang="en-AU" dirty="0" smtClean="0"/>
              <a:t>xploring </a:t>
            </a:r>
            <a:r>
              <a:rPr lang="en-AU" dirty="0"/>
              <a:t>new </a:t>
            </a:r>
            <a:r>
              <a:rPr lang="en-AU" dirty="0" smtClean="0"/>
              <a:t>territory</a:t>
            </a:r>
          </a:p>
          <a:p>
            <a:pPr lvl="1">
              <a:spcBef>
                <a:spcPts val="672"/>
              </a:spcBef>
            </a:pPr>
            <a:r>
              <a:rPr lang="en-AU" dirty="0" smtClean="0">
                <a:solidFill>
                  <a:srgbClr val="0070C0"/>
                </a:solidFill>
              </a:rPr>
              <a:t>E.g. best way to handle multi-modal specifications</a:t>
            </a:r>
            <a:endParaRPr lang="en-AU" dirty="0">
              <a:solidFill>
                <a:srgbClr val="0070C0"/>
              </a:solidFill>
            </a:endParaRPr>
          </a:p>
          <a:p>
            <a:pPr lvl="0">
              <a:spcBef>
                <a:spcPts val="1800"/>
              </a:spcBef>
            </a:pPr>
            <a:r>
              <a:rPr lang="en-AU" dirty="0"/>
              <a:t>C</a:t>
            </a:r>
            <a:r>
              <a:rPr lang="en-AU" dirty="0" smtClean="0"/>
              <a:t>arrying </a:t>
            </a:r>
            <a:r>
              <a:rPr lang="en-AU" dirty="0" smtClean="0"/>
              <a:t>baggage</a:t>
            </a:r>
          </a:p>
          <a:p>
            <a:pPr lvl="1">
              <a:spcBef>
                <a:spcPts val="672"/>
              </a:spcBef>
            </a:pPr>
            <a:r>
              <a:rPr lang="en-AU" dirty="0" smtClean="0">
                <a:solidFill>
                  <a:srgbClr val="0070C0"/>
                </a:solidFill>
              </a:rPr>
              <a:t>Past practice is not always useful</a:t>
            </a:r>
            <a:endParaRPr lang="en-AU" dirty="0">
              <a:solidFill>
                <a:srgbClr val="0070C0"/>
              </a:solidFill>
            </a:endParaRPr>
          </a:p>
          <a:p>
            <a:pPr lvl="0">
              <a:spcBef>
                <a:spcPts val="1800"/>
              </a:spcBef>
            </a:pPr>
            <a:r>
              <a:rPr lang="en-AU" dirty="0"/>
              <a:t>L</a:t>
            </a:r>
            <a:r>
              <a:rPr lang="en-AU" dirty="0" smtClean="0"/>
              <a:t>ack </a:t>
            </a:r>
            <a:r>
              <a:rPr lang="en-AU" dirty="0"/>
              <a:t>of expert </a:t>
            </a:r>
            <a:r>
              <a:rPr lang="en-AU" dirty="0" smtClean="0"/>
              <a:t>guides</a:t>
            </a:r>
          </a:p>
          <a:p>
            <a:pPr lvl="1">
              <a:spcBef>
                <a:spcPts val="672"/>
              </a:spcBef>
            </a:pPr>
            <a:r>
              <a:rPr lang="en-AU" dirty="0">
                <a:solidFill>
                  <a:srgbClr val="0070C0"/>
                </a:solidFill>
              </a:rPr>
              <a:t>N</a:t>
            </a:r>
            <a:r>
              <a:rPr lang="en-AU" dirty="0" smtClean="0">
                <a:solidFill>
                  <a:srgbClr val="0070C0"/>
                </a:solidFill>
              </a:rPr>
              <a:t>o one has the answers yet</a:t>
            </a:r>
            <a:endParaRPr lang="en-AU" dirty="0" smtClean="0">
              <a:solidFill>
                <a:srgbClr val="0070C0"/>
              </a:solidFill>
            </a:endParaRPr>
          </a:p>
        </p:txBody>
      </p:sp>
    </p:spTree>
    <p:extLst>
      <p:ext uri="{BB962C8B-B14F-4D97-AF65-F5344CB8AC3E}">
        <p14:creationId xmlns:p14="http://schemas.microsoft.com/office/powerpoint/2010/main" val="5664973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C00000"/>
                </a:solidFill>
              </a:rPr>
              <a:t>a</a:t>
            </a:r>
            <a:r>
              <a:rPr lang="en-AU" dirty="0" smtClean="0">
                <a:solidFill>
                  <a:srgbClr val="C00000"/>
                </a:solidFill>
              </a:rPr>
              <a:t>bout the 80%...</a:t>
            </a:r>
            <a:endParaRPr lang="en-AU" dirty="0">
              <a:solidFill>
                <a:srgbClr val="C00000"/>
              </a:solidFill>
            </a:endParaRPr>
          </a:p>
        </p:txBody>
      </p:sp>
      <p:sp>
        <p:nvSpPr>
          <p:cNvPr id="3" name="Content Placeholder 2"/>
          <p:cNvSpPr>
            <a:spLocks noGrp="1"/>
          </p:cNvSpPr>
          <p:nvPr>
            <p:ph idx="1"/>
          </p:nvPr>
        </p:nvSpPr>
        <p:spPr>
          <a:xfrm>
            <a:off x="457200" y="1600200"/>
            <a:ext cx="8229600" cy="5257800"/>
          </a:xfrm>
        </p:spPr>
        <p:txBody>
          <a:bodyPr/>
          <a:lstStyle/>
          <a:p>
            <a:pPr marL="514350" indent="-514350">
              <a:buFont typeface="+mj-lt"/>
              <a:buAutoNum type="arabicPeriod"/>
            </a:pPr>
            <a:r>
              <a:rPr lang="en-AU" dirty="0" smtClean="0"/>
              <a:t>Our tool will make Blaise code for </a:t>
            </a:r>
            <a:r>
              <a:rPr lang="en-AU" dirty="0" err="1" smtClean="0"/>
              <a:t>LaMPS</a:t>
            </a:r>
            <a:endParaRPr lang="en-AU" dirty="0" smtClean="0"/>
          </a:p>
          <a:p>
            <a:pPr marL="514350" indent="-514350">
              <a:spcBef>
                <a:spcPts val="1800"/>
              </a:spcBef>
              <a:buFont typeface="+mj-lt"/>
              <a:buAutoNum type="arabicPeriod"/>
            </a:pPr>
            <a:r>
              <a:rPr lang="en-AU" dirty="0" smtClean="0"/>
              <a:t>The Blaise programmers will modify our output for use in the field</a:t>
            </a:r>
          </a:p>
          <a:p>
            <a:pPr marL="514350" indent="-514350">
              <a:spcBef>
                <a:spcPts val="1800"/>
              </a:spcBef>
              <a:buFont typeface="+mj-lt"/>
              <a:buAutoNum type="arabicPeriod"/>
            </a:pPr>
            <a:r>
              <a:rPr lang="en-AU" dirty="0" smtClean="0">
                <a:solidFill>
                  <a:srgbClr val="FF0000"/>
                </a:solidFill>
              </a:rPr>
              <a:t>We’ll analyse what they changed, to reduce the need for them to do it again.</a:t>
            </a:r>
          </a:p>
          <a:p>
            <a:pPr lvl="1"/>
            <a:r>
              <a:rPr lang="en-AU" dirty="0" smtClean="0">
                <a:solidFill>
                  <a:srgbClr val="0070C0"/>
                </a:solidFill>
              </a:rPr>
              <a:t>New metadata?</a:t>
            </a:r>
          </a:p>
          <a:p>
            <a:pPr lvl="1"/>
            <a:r>
              <a:rPr lang="en-AU" dirty="0" smtClean="0">
                <a:solidFill>
                  <a:srgbClr val="0070C0"/>
                </a:solidFill>
              </a:rPr>
              <a:t>Better specifications and outputs?</a:t>
            </a:r>
          </a:p>
          <a:p>
            <a:pPr marL="514350" indent="-514350">
              <a:spcBef>
                <a:spcPts val="1800"/>
              </a:spcBef>
              <a:buFont typeface="+mj-lt"/>
              <a:buAutoNum type="arabicPeriod"/>
            </a:pPr>
            <a:r>
              <a:rPr lang="en-AU" dirty="0" smtClean="0">
                <a:solidFill>
                  <a:srgbClr val="FF0000"/>
                </a:solidFill>
              </a:rPr>
              <a:t>Repeat until there is no manual coding</a:t>
            </a:r>
            <a:endParaRPr lang="en-AU" dirty="0">
              <a:solidFill>
                <a:srgbClr val="FF0000"/>
              </a:solidFill>
            </a:endParaRPr>
          </a:p>
        </p:txBody>
      </p:sp>
    </p:spTree>
    <p:extLst>
      <p:ext uri="{BB962C8B-B14F-4D97-AF65-F5344CB8AC3E}">
        <p14:creationId xmlns:p14="http://schemas.microsoft.com/office/powerpoint/2010/main" val="361942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what’s next for the project</a:t>
            </a:r>
            <a:endParaRPr lang="en-AU" dirty="0">
              <a:solidFill>
                <a:srgbClr val="C00000"/>
              </a:solidFill>
            </a:endParaRPr>
          </a:p>
        </p:txBody>
      </p:sp>
      <p:sp>
        <p:nvSpPr>
          <p:cNvPr id="3" name="Content Placeholder 2"/>
          <p:cNvSpPr>
            <a:spLocks noGrp="1"/>
          </p:cNvSpPr>
          <p:nvPr>
            <p:ph idx="1"/>
          </p:nvPr>
        </p:nvSpPr>
        <p:spPr/>
        <p:txBody>
          <a:bodyPr>
            <a:normAutofit/>
          </a:bodyPr>
          <a:lstStyle/>
          <a:p>
            <a:r>
              <a:rPr lang="en-AU" dirty="0" smtClean="0"/>
              <a:t>Make a better specification tool</a:t>
            </a:r>
          </a:p>
          <a:p>
            <a:pPr lvl="1"/>
            <a:r>
              <a:rPr lang="en-AU" dirty="0" smtClean="0">
                <a:solidFill>
                  <a:srgbClr val="0070C0"/>
                </a:solidFill>
              </a:rPr>
              <a:t>More question types</a:t>
            </a:r>
          </a:p>
          <a:p>
            <a:pPr lvl="1"/>
            <a:r>
              <a:rPr lang="en-AU" dirty="0" smtClean="0">
                <a:solidFill>
                  <a:srgbClr val="0070C0"/>
                </a:solidFill>
              </a:rPr>
              <a:t>Social surveys</a:t>
            </a:r>
            <a:endParaRPr lang="en-AU" dirty="0">
              <a:solidFill>
                <a:srgbClr val="0070C0"/>
              </a:solidFill>
            </a:endParaRPr>
          </a:p>
          <a:p>
            <a:pPr>
              <a:spcBef>
                <a:spcPts val="1800"/>
              </a:spcBef>
            </a:pPr>
            <a:r>
              <a:rPr lang="en-AU" dirty="0" smtClean="0"/>
              <a:t>Make a better output tool</a:t>
            </a:r>
          </a:p>
          <a:p>
            <a:pPr lvl="1"/>
            <a:r>
              <a:rPr lang="en-AU" dirty="0" smtClean="0">
                <a:solidFill>
                  <a:srgbClr val="0070C0"/>
                </a:solidFill>
              </a:rPr>
              <a:t>Layout</a:t>
            </a:r>
          </a:p>
          <a:p>
            <a:pPr lvl="1"/>
            <a:r>
              <a:rPr lang="en-AU" dirty="0" smtClean="0">
                <a:solidFill>
                  <a:srgbClr val="0070C0"/>
                </a:solidFill>
              </a:rPr>
              <a:t>Deployment</a:t>
            </a:r>
          </a:p>
          <a:p>
            <a:pPr>
              <a:spcBef>
                <a:spcPts val="1800"/>
              </a:spcBef>
            </a:pPr>
            <a:r>
              <a:rPr lang="en-AU" dirty="0" smtClean="0"/>
              <a:t>Share our work with others</a:t>
            </a:r>
          </a:p>
        </p:txBody>
      </p:sp>
    </p:spTree>
    <p:extLst>
      <p:ext uri="{BB962C8B-B14F-4D97-AF65-F5344CB8AC3E}">
        <p14:creationId xmlns:p14="http://schemas.microsoft.com/office/powerpoint/2010/main" val="14613374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rgbClr val="C00000"/>
                </a:solidFill>
              </a:rPr>
              <a:t>w</a:t>
            </a:r>
            <a:r>
              <a:rPr lang="en-AU" dirty="0" smtClean="0">
                <a:solidFill>
                  <a:srgbClr val="C00000"/>
                </a:solidFill>
              </a:rPr>
              <a:t>hat should come later</a:t>
            </a:r>
            <a:endParaRPr lang="en-AU" dirty="0">
              <a:solidFill>
                <a:srgbClr val="C00000"/>
              </a:solidFill>
            </a:endParaRPr>
          </a:p>
        </p:txBody>
      </p:sp>
      <p:sp>
        <p:nvSpPr>
          <p:cNvPr id="3" name="Content Placeholder 2"/>
          <p:cNvSpPr>
            <a:spLocks noGrp="1"/>
          </p:cNvSpPr>
          <p:nvPr>
            <p:ph idx="1"/>
          </p:nvPr>
        </p:nvSpPr>
        <p:spPr/>
        <p:txBody>
          <a:bodyPr/>
          <a:lstStyle/>
          <a:p>
            <a:pPr marL="0" indent="0">
              <a:buNone/>
            </a:pPr>
            <a:r>
              <a:rPr lang="en-AU" dirty="0" smtClean="0"/>
              <a:t>Better metadata opens up opportunities for making it easier to create better surveys, e.g.</a:t>
            </a:r>
          </a:p>
          <a:p>
            <a:pPr lvl="0">
              <a:spcBef>
                <a:spcPts val="1800"/>
              </a:spcBef>
            </a:pPr>
            <a:r>
              <a:rPr lang="en-AU" dirty="0" smtClean="0">
                <a:solidFill>
                  <a:srgbClr val="0070C0"/>
                </a:solidFill>
              </a:rPr>
              <a:t>Reuse of variables or concepts</a:t>
            </a:r>
          </a:p>
          <a:p>
            <a:pPr lvl="0">
              <a:spcBef>
                <a:spcPts val="1800"/>
              </a:spcBef>
            </a:pPr>
            <a:r>
              <a:rPr lang="en-AU" dirty="0" smtClean="0">
                <a:solidFill>
                  <a:srgbClr val="0070C0"/>
                </a:solidFill>
              </a:rPr>
              <a:t> </a:t>
            </a:r>
            <a:r>
              <a:rPr lang="en-AU" dirty="0" smtClean="0">
                <a:solidFill>
                  <a:srgbClr val="0070C0"/>
                </a:solidFill>
              </a:rPr>
              <a:t>Automated </a:t>
            </a:r>
            <a:r>
              <a:rPr lang="en-AU" dirty="0">
                <a:solidFill>
                  <a:srgbClr val="0070C0"/>
                </a:solidFill>
              </a:rPr>
              <a:t>path analysis</a:t>
            </a:r>
          </a:p>
          <a:p>
            <a:pPr lvl="0">
              <a:spcBef>
                <a:spcPts val="1800"/>
              </a:spcBef>
            </a:pPr>
            <a:r>
              <a:rPr lang="en-AU" dirty="0" smtClean="0">
                <a:solidFill>
                  <a:srgbClr val="0070C0"/>
                </a:solidFill>
              </a:rPr>
              <a:t>Improved visualisation </a:t>
            </a:r>
            <a:r>
              <a:rPr lang="en-AU" dirty="0">
                <a:solidFill>
                  <a:srgbClr val="0070C0"/>
                </a:solidFill>
              </a:rPr>
              <a:t>techniques</a:t>
            </a:r>
          </a:p>
          <a:p>
            <a:pPr lvl="0">
              <a:spcBef>
                <a:spcPts val="1800"/>
              </a:spcBef>
            </a:pPr>
            <a:r>
              <a:rPr lang="en-AU" dirty="0" smtClean="0">
                <a:solidFill>
                  <a:srgbClr val="0070C0"/>
                </a:solidFill>
              </a:rPr>
              <a:t>Simulated load </a:t>
            </a:r>
            <a:r>
              <a:rPr lang="en-AU" dirty="0">
                <a:solidFill>
                  <a:srgbClr val="0070C0"/>
                </a:solidFill>
              </a:rPr>
              <a:t>testing</a:t>
            </a:r>
          </a:p>
          <a:p>
            <a:endParaRPr lang="en-AU" dirty="0"/>
          </a:p>
        </p:txBody>
      </p:sp>
    </p:spTree>
    <p:extLst>
      <p:ext uri="{BB962C8B-B14F-4D97-AF65-F5344CB8AC3E}">
        <p14:creationId xmlns:p14="http://schemas.microsoft.com/office/powerpoint/2010/main" val="3870360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934</Words>
  <Application>Microsoft Office PowerPoint</Application>
  <PresentationFormat>On-screen Show (4:3)</PresentationFormat>
  <Paragraphs>167</Paragraphs>
  <Slides>16</Slides>
  <Notes>12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Using DDI to Automate Blaise Instrument Generation </vt:lpstr>
      <vt:lpstr>some background</vt:lpstr>
      <vt:lpstr>about Blaise</vt:lpstr>
      <vt:lpstr>manual coding is a problem</vt:lpstr>
      <vt:lpstr>what we are aiming for</vt:lpstr>
      <vt:lpstr>what’s different?</vt:lpstr>
      <vt:lpstr>fast-tracking development</vt:lpstr>
      <vt:lpstr>PowerPoint Presentation</vt:lpstr>
      <vt:lpstr>PowerPoint Presentation</vt:lpstr>
      <vt:lpstr>PowerPoint Presentation</vt:lpstr>
      <vt:lpstr>PowerPoint Presentation</vt:lpstr>
      <vt:lpstr>technical challenges</vt:lpstr>
      <vt:lpstr>business challenges</vt:lpstr>
      <vt:lpstr>about the 80%...</vt:lpstr>
      <vt:lpstr>what’s next for the project</vt:lpstr>
      <vt:lpstr>what should come later</vt:lpstr>
    </vt:vector>
  </TitlesOfParts>
  <Company>ABS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DDI Profiles at a National Statistical Office: Experiences at INSEE and ABS</dc:title>
  <dc:creator>Simon Wall</dc:creator>
  <cp:lastModifiedBy>Simon Wall</cp:lastModifiedBy>
  <cp:revision>38</cp:revision>
  <dcterms:created xsi:type="dcterms:W3CDTF">2013-11-29T09:22:33Z</dcterms:created>
  <dcterms:modified xsi:type="dcterms:W3CDTF">2013-12-03T00:52:05Z</dcterms:modified>
</cp:coreProperties>
</file>