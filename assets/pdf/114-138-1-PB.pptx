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7" r:id="rId2"/>
    <p:sldId id="256" r:id="rId3"/>
    <p:sldId id="258" r:id="rId4"/>
    <p:sldId id="259" r:id="rId5"/>
    <p:sldId id="260" r:id="rId6"/>
    <p:sldId id="263" r:id="rId7"/>
    <p:sldId id="261" r:id="rId8"/>
    <p:sldId id="262" r:id="rId9"/>
    <p:sldId id="269" r:id="rId10"/>
    <p:sldId id="270" r:id="rId11"/>
    <p:sldId id="265" r:id="rId12"/>
    <p:sldId id="264" r:id="rId13"/>
    <p:sldId id="266" r:id="rId14"/>
    <p:sldId id="268" r:id="rId15"/>
    <p:sldId id="267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57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1DECCC2-D664-4E16-88DE-69BA02109280}" type="datetimeFigureOut">
              <a:rPr lang="en-US" smtClean="0"/>
              <a:t>12/3/2013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4C8D40-AAC0-4176-BA5A-47B74501F6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42331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Shape 140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Shape 141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9543036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B849A-797F-45E0-8FAB-CDB04D336F89}" type="datetimeFigureOut">
              <a:rPr lang="en-US" smtClean="0"/>
              <a:t>12/3/2013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351E8-6387-43C4-AAEE-59F07617B0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51077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B849A-797F-45E0-8FAB-CDB04D336F89}" type="datetimeFigureOut">
              <a:rPr lang="en-US" smtClean="0"/>
              <a:t>12/3/2013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351E8-6387-43C4-AAEE-59F07617B0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72298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B849A-797F-45E0-8FAB-CDB04D336F89}" type="datetimeFigureOut">
              <a:rPr lang="en-US" smtClean="0"/>
              <a:t>12/3/2013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351E8-6387-43C4-AAEE-59F07617B0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76669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B849A-797F-45E0-8FAB-CDB04D336F89}" type="datetimeFigureOut">
              <a:rPr lang="en-US" smtClean="0"/>
              <a:t>12/3/2013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351E8-6387-43C4-AAEE-59F07617B0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74446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B849A-797F-45E0-8FAB-CDB04D336F89}" type="datetimeFigureOut">
              <a:rPr lang="en-US" smtClean="0"/>
              <a:t>12/3/2013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351E8-6387-43C4-AAEE-59F07617B0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94744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B849A-797F-45E0-8FAB-CDB04D336F89}" type="datetimeFigureOut">
              <a:rPr lang="en-US" smtClean="0"/>
              <a:t>12/3/2013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351E8-6387-43C4-AAEE-59F07617B0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38229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B849A-797F-45E0-8FAB-CDB04D336F89}" type="datetimeFigureOut">
              <a:rPr lang="en-US" smtClean="0"/>
              <a:t>12/3/2013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351E8-6387-43C4-AAEE-59F07617B0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82970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B849A-797F-45E0-8FAB-CDB04D336F89}" type="datetimeFigureOut">
              <a:rPr lang="en-US" smtClean="0"/>
              <a:t>12/3/2013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351E8-6387-43C4-AAEE-59F07617B0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0139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B849A-797F-45E0-8FAB-CDB04D336F89}" type="datetimeFigureOut">
              <a:rPr lang="en-US" smtClean="0"/>
              <a:t>12/3/2013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351E8-6387-43C4-AAEE-59F07617B0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4817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B849A-797F-45E0-8FAB-CDB04D336F89}" type="datetimeFigureOut">
              <a:rPr lang="en-US" smtClean="0"/>
              <a:t>12/3/2013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351E8-6387-43C4-AAEE-59F07617B0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74399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B849A-797F-45E0-8FAB-CDB04D336F89}" type="datetimeFigureOut">
              <a:rPr lang="en-US" smtClean="0"/>
              <a:t>12/3/2013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351E8-6387-43C4-AAEE-59F07617B0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36212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5B849A-797F-45E0-8FAB-CDB04D336F89}" type="datetimeFigureOut">
              <a:rPr lang="en-US" smtClean="0"/>
              <a:t>12/3/2013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8351E8-6387-43C4-AAEE-59F07617B066}" type="slidenum">
              <a:rPr lang="en-US" smtClean="0"/>
              <a:t>‹#›</a:t>
            </a:fld>
            <a:endParaRPr lang="en-US"/>
          </a:p>
        </p:txBody>
      </p:sp>
      <p:sp>
        <p:nvSpPr>
          <p:cNvPr id="7" name="Shape 39"/>
          <p:cNvSpPr/>
          <p:nvPr userDrawn="1"/>
        </p:nvSpPr>
        <p:spPr>
          <a:xfrm>
            <a:off x="11490601" y="6241500"/>
            <a:ext cx="701399" cy="616500"/>
          </a:xfrm>
          <a:prstGeom prst="roundRect">
            <a:avLst>
              <a:gd name="adj" fmla="val 16667"/>
            </a:avLst>
          </a:prstGeom>
          <a:solidFill>
            <a:srgbClr val="E69138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8" name="Shape 134"/>
          <p:cNvSpPr/>
          <p:nvPr userDrawn="1"/>
        </p:nvSpPr>
        <p:spPr>
          <a:xfrm>
            <a:off x="11490600" y="5590711"/>
            <a:ext cx="701399" cy="616500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9" name="Shape 134"/>
          <p:cNvSpPr/>
          <p:nvPr userDrawn="1"/>
        </p:nvSpPr>
        <p:spPr>
          <a:xfrm>
            <a:off x="10760173" y="6241500"/>
            <a:ext cx="701399" cy="616500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223"/>
            <a:ext cx="713804" cy="713804"/>
          </a:xfrm>
          <a:prstGeom prst="rect">
            <a:avLst/>
          </a:prstGeom>
        </p:spPr>
      </p:pic>
      <p:sp>
        <p:nvSpPr>
          <p:cNvPr id="11" name="Shape 134"/>
          <p:cNvSpPr/>
          <p:nvPr userDrawn="1"/>
        </p:nvSpPr>
        <p:spPr>
          <a:xfrm>
            <a:off x="0" y="748684"/>
            <a:ext cx="701399" cy="616500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2" name="Shape 134"/>
          <p:cNvSpPr/>
          <p:nvPr userDrawn="1"/>
        </p:nvSpPr>
        <p:spPr>
          <a:xfrm>
            <a:off x="730427" y="26661"/>
            <a:ext cx="701399" cy="616500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3" name="Shape 134"/>
          <p:cNvSpPr/>
          <p:nvPr userDrawn="1"/>
        </p:nvSpPr>
        <p:spPr>
          <a:xfrm>
            <a:off x="10776797" y="5261"/>
            <a:ext cx="701399" cy="616500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4" name="Shape 81"/>
          <p:cNvSpPr/>
          <p:nvPr userDrawn="1"/>
        </p:nvSpPr>
        <p:spPr>
          <a:xfrm>
            <a:off x="-1" y="6241500"/>
            <a:ext cx="701399" cy="616500"/>
          </a:xfrm>
          <a:prstGeom prst="roundRect">
            <a:avLst>
              <a:gd name="adj" fmla="val 16667"/>
            </a:avLst>
          </a:prstGeom>
          <a:solidFill>
            <a:srgbClr val="70B354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5" name="Shape 134"/>
          <p:cNvSpPr/>
          <p:nvPr userDrawn="1"/>
        </p:nvSpPr>
        <p:spPr>
          <a:xfrm>
            <a:off x="730425" y="6258754"/>
            <a:ext cx="701399" cy="616500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7" name="Shape 47"/>
          <p:cNvSpPr/>
          <p:nvPr userDrawn="1"/>
        </p:nvSpPr>
        <p:spPr>
          <a:xfrm>
            <a:off x="11490601" y="631014"/>
            <a:ext cx="701399" cy="616500"/>
          </a:xfrm>
          <a:prstGeom prst="roundRect">
            <a:avLst>
              <a:gd name="adj" fmla="val 16667"/>
            </a:avLst>
          </a:prstGeom>
          <a:solidFill>
            <a:srgbClr val="BECDB8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8" name="Shape 47"/>
          <p:cNvSpPr/>
          <p:nvPr userDrawn="1"/>
        </p:nvSpPr>
        <p:spPr>
          <a:xfrm>
            <a:off x="-2" y="5615809"/>
            <a:ext cx="701399" cy="616500"/>
          </a:xfrm>
          <a:prstGeom prst="roundRect">
            <a:avLst>
              <a:gd name="adj" fmla="val 16667"/>
            </a:avLst>
          </a:prstGeom>
          <a:solidFill>
            <a:srgbClr val="BECDB8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9" name="Shape 38"/>
          <p:cNvSpPr/>
          <p:nvPr userDrawn="1"/>
        </p:nvSpPr>
        <p:spPr>
          <a:xfrm>
            <a:off x="11490601" y="0"/>
            <a:ext cx="701399" cy="61650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0683601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cosminrentea/roda" TargetMode="Externa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hape 23"/>
          <p:cNvSpPr/>
          <p:nvPr/>
        </p:nvSpPr>
        <p:spPr>
          <a:xfrm>
            <a:off x="1522598" y="76200"/>
            <a:ext cx="701399" cy="61650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4" name="Shape 24"/>
          <p:cNvSpPr/>
          <p:nvPr/>
        </p:nvSpPr>
        <p:spPr>
          <a:xfrm>
            <a:off x="2290482" y="76200"/>
            <a:ext cx="701399" cy="616500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5" name="Shape 25"/>
          <p:cNvSpPr/>
          <p:nvPr/>
        </p:nvSpPr>
        <p:spPr>
          <a:xfrm>
            <a:off x="3058367" y="76200"/>
            <a:ext cx="701399" cy="616500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6" name="Shape 26"/>
          <p:cNvSpPr/>
          <p:nvPr/>
        </p:nvSpPr>
        <p:spPr>
          <a:xfrm>
            <a:off x="3826252" y="76200"/>
            <a:ext cx="701399" cy="616500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7" name="Shape 27"/>
          <p:cNvSpPr/>
          <p:nvPr/>
        </p:nvSpPr>
        <p:spPr>
          <a:xfrm>
            <a:off x="4594137" y="76200"/>
            <a:ext cx="701399" cy="616500"/>
          </a:xfrm>
          <a:prstGeom prst="roundRect">
            <a:avLst>
              <a:gd name="adj" fmla="val 16667"/>
            </a:avLst>
          </a:prstGeom>
          <a:solidFill>
            <a:srgbClr val="BECDB8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8" name="Shape 28"/>
          <p:cNvSpPr/>
          <p:nvPr/>
        </p:nvSpPr>
        <p:spPr>
          <a:xfrm>
            <a:off x="5362022" y="76200"/>
            <a:ext cx="701399" cy="616500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9" name="Shape 29"/>
          <p:cNvSpPr/>
          <p:nvPr/>
        </p:nvSpPr>
        <p:spPr>
          <a:xfrm>
            <a:off x="6129907" y="76200"/>
            <a:ext cx="701399" cy="616500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0" name="Shape 30"/>
          <p:cNvSpPr/>
          <p:nvPr/>
        </p:nvSpPr>
        <p:spPr>
          <a:xfrm>
            <a:off x="6897792" y="76200"/>
            <a:ext cx="701399" cy="616500"/>
          </a:xfrm>
          <a:prstGeom prst="roundRect">
            <a:avLst>
              <a:gd name="adj" fmla="val 16667"/>
            </a:avLst>
          </a:prstGeom>
          <a:solidFill>
            <a:srgbClr val="70B354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" name="Shape 31"/>
          <p:cNvSpPr/>
          <p:nvPr/>
        </p:nvSpPr>
        <p:spPr>
          <a:xfrm>
            <a:off x="7665677" y="76200"/>
            <a:ext cx="701399" cy="616500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2" name="Shape 32"/>
          <p:cNvSpPr/>
          <p:nvPr/>
        </p:nvSpPr>
        <p:spPr>
          <a:xfrm>
            <a:off x="8433561" y="76200"/>
            <a:ext cx="701399" cy="61650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3" name="Shape 33"/>
          <p:cNvSpPr/>
          <p:nvPr/>
        </p:nvSpPr>
        <p:spPr>
          <a:xfrm>
            <a:off x="1522598" y="756224"/>
            <a:ext cx="701399" cy="616500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4" name="Shape 34"/>
          <p:cNvSpPr/>
          <p:nvPr/>
        </p:nvSpPr>
        <p:spPr>
          <a:xfrm>
            <a:off x="2290482" y="756224"/>
            <a:ext cx="701399" cy="616500"/>
          </a:xfrm>
          <a:prstGeom prst="roundRect">
            <a:avLst>
              <a:gd name="adj" fmla="val 16667"/>
            </a:avLst>
          </a:prstGeom>
          <a:solidFill>
            <a:srgbClr val="BECDB8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5" name="Shape 35"/>
          <p:cNvSpPr/>
          <p:nvPr/>
        </p:nvSpPr>
        <p:spPr>
          <a:xfrm>
            <a:off x="3058367" y="756224"/>
            <a:ext cx="701399" cy="616500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6" name="Shape 36"/>
          <p:cNvSpPr/>
          <p:nvPr/>
        </p:nvSpPr>
        <p:spPr>
          <a:xfrm>
            <a:off x="3826252" y="756224"/>
            <a:ext cx="701399" cy="616500"/>
          </a:xfrm>
          <a:prstGeom prst="roundRect">
            <a:avLst>
              <a:gd name="adj" fmla="val 16667"/>
            </a:avLst>
          </a:prstGeom>
          <a:solidFill>
            <a:srgbClr val="70B354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7" name="Shape 37"/>
          <p:cNvSpPr/>
          <p:nvPr/>
        </p:nvSpPr>
        <p:spPr>
          <a:xfrm>
            <a:off x="4594137" y="756224"/>
            <a:ext cx="701399" cy="616500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8" name="Shape 38"/>
          <p:cNvSpPr/>
          <p:nvPr/>
        </p:nvSpPr>
        <p:spPr>
          <a:xfrm>
            <a:off x="5362022" y="756224"/>
            <a:ext cx="701399" cy="61650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9" name="Shape 39"/>
          <p:cNvSpPr/>
          <p:nvPr/>
        </p:nvSpPr>
        <p:spPr>
          <a:xfrm>
            <a:off x="6129907" y="756224"/>
            <a:ext cx="701399" cy="616500"/>
          </a:xfrm>
          <a:prstGeom prst="roundRect">
            <a:avLst>
              <a:gd name="adj" fmla="val 16667"/>
            </a:avLst>
          </a:prstGeom>
          <a:solidFill>
            <a:srgbClr val="E69138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40" name="Shape 40"/>
          <p:cNvSpPr/>
          <p:nvPr/>
        </p:nvSpPr>
        <p:spPr>
          <a:xfrm>
            <a:off x="6897792" y="756224"/>
            <a:ext cx="701399" cy="616500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41" name="Shape 41"/>
          <p:cNvSpPr/>
          <p:nvPr/>
        </p:nvSpPr>
        <p:spPr>
          <a:xfrm>
            <a:off x="7665677" y="756224"/>
            <a:ext cx="701399" cy="616500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42" name="Shape 42"/>
          <p:cNvSpPr/>
          <p:nvPr/>
        </p:nvSpPr>
        <p:spPr>
          <a:xfrm>
            <a:off x="8433561" y="756224"/>
            <a:ext cx="701399" cy="616500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43" name="Shape 43"/>
          <p:cNvSpPr/>
          <p:nvPr/>
        </p:nvSpPr>
        <p:spPr>
          <a:xfrm>
            <a:off x="1522598" y="1435654"/>
            <a:ext cx="701399" cy="616500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44" name="Shape 44"/>
          <p:cNvSpPr/>
          <p:nvPr/>
        </p:nvSpPr>
        <p:spPr>
          <a:xfrm>
            <a:off x="2290482" y="1435654"/>
            <a:ext cx="701399" cy="616500"/>
          </a:xfrm>
          <a:prstGeom prst="roundRect">
            <a:avLst>
              <a:gd name="adj" fmla="val 16667"/>
            </a:avLst>
          </a:prstGeom>
          <a:solidFill>
            <a:srgbClr val="70B354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45" name="Shape 45"/>
          <p:cNvSpPr/>
          <p:nvPr/>
        </p:nvSpPr>
        <p:spPr>
          <a:xfrm>
            <a:off x="3058367" y="1435654"/>
            <a:ext cx="701399" cy="61650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46" name="Shape 46"/>
          <p:cNvSpPr/>
          <p:nvPr/>
        </p:nvSpPr>
        <p:spPr>
          <a:xfrm>
            <a:off x="3826252" y="1435654"/>
            <a:ext cx="701399" cy="616500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47" name="Shape 47"/>
          <p:cNvSpPr/>
          <p:nvPr/>
        </p:nvSpPr>
        <p:spPr>
          <a:xfrm>
            <a:off x="4594137" y="1435654"/>
            <a:ext cx="701399" cy="616500"/>
          </a:xfrm>
          <a:prstGeom prst="roundRect">
            <a:avLst>
              <a:gd name="adj" fmla="val 16667"/>
            </a:avLst>
          </a:prstGeom>
          <a:solidFill>
            <a:srgbClr val="BECDB8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48" name="Shape 48"/>
          <p:cNvSpPr/>
          <p:nvPr/>
        </p:nvSpPr>
        <p:spPr>
          <a:xfrm>
            <a:off x="5362022" y="1435654"/>
            <a:ext cx="701399" cy="616500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49" name="Shape 49"/>
          <p:cNvSpPr/>
          <p:nvPr/>
        </p:nvSpPr>
        <p:spPr>
          <a:xfrm>
            <a:off x="6129907" y="1435654"/>
            <a:ext cx="701399" cy="616500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50" name="Shape 50"/>
          <p:cNvSpPr/>
          <p:nvPr/>
        </p:nvSpPr>
        <p:spPr>
          <a:xfrm>
            <a:off x="6897792" y="1435654"/>
            <a:ext cx="701399" cy="61650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51" name="Shape 51"/>
          <p:cNvSpPr/>
          <p:nvPr/>
        </p:nvSpPr>
        <p:spPr>
          <a:xfrm>
            <a:off x="7665677" y="1435654"/>
            <a:ext cx="701399" cy="616500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52" name="Shape 52"/>
          <p:cNvSpPr/>
          <p:nvPr/>
        </p:nvSpPr>
        <p:spPr>
          <a:xfrm>
            <a:off x="8433561" y="1435654"/>
            <a:ext cx="701399" cy="616500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53" name="Shape 53"/>
          <p:cNvSpPr/>
          <p:nvPr/>
        </p:nvSpPr>
        <p:spPr>
          <a:xfrm>
            <a:off x="1522598" y="2115679"/>
            <a:ext cx="701399" cy="616500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54" name="Shape 54"/>
          <p:cNvSpPr/>
          <p:nvPr/>
        </p:nvSpPr>
        <p:spPr>
          <a:xfrm>
            <a:off x="2290482" y="2115679"/>
            <a:ext cx="701399" cy="616500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55" name="Shape 55"/>
          <p:cNvSpPr/>
          <p:nvPr/>
        </p:nvSpPr>
        <p:spPr>
          <a:xfrm>
            <a:off x="3058367" y="2115679"/>
            <a:ext cx="701399" cy="616500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56" name="Shape 56"/>
          <p:cNvSpPr/>
          <p:nvPr/>
        </p:nvSpPr>
        <p:spPr>
          <a:xfrm>
            <a:off x="3826252" y="2115679"/>
            <a:ext cx="701399" cy="616500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57" name="Shape 57"/>
          <p:cNvSpPr/>
          <p:nvPr/>
        </p:nvSpPr>
        <p:spPr>
          <a:xfrm>
            <a:off x="4594137" y="2115679"/>
            <a:ext cx="701399" cy="616500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58" name="Shape 58"/>
          <p:cNvSpPr/>
          <p:nvPr/>
        </p:nvSpPr>
        <p:spPr>
          <a:xfrm>
            <a:off x="5362022" y="2115679"/>
            <a:ext cx="701399" cy="616500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59" name="Shape 59"/>
          <p:cNvSpPr/>
          <p:nvPr/>
        </p:nvSpPr>
        <p:spPr>
          <a:xfrm>
            <a:off x="6129907" y="2115679"/>
            <a:ext cx="701399" cy="616500"/>
          </a:xfrm>
          <a:prstGeom prst="roundRect">
            <a:avLst>
              <a:gd name="adj" fmla="val 16667"/>
            </a:avLst>
          </a:prstGeom>
          <a:solidFill>
            <a:srgbClr val="70B354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60" name="Shape 60"/>
          <p:cNvSpPr/>
          <p:nvPr/>
        </p:nvSpPr>
        <p:spPr>
          <a:xfrm>
            <a:off x="6897792" y="2115679"/>
            <a:ext cx="701399" cy="616500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61" name="Shape 61"/>
          <p:cNvSpPr/>
          <p:nvPr/>
        </p:nvSpPr>
        <p:spPr>
          <a:xfrm>
            <a:off x="7665677" y="2115679"/>
            <a:ext cx="701399" cy="616500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62" name="Shape 62"/>
          <p:cNvSpPr/>
          <p:nvPr/>
        </p:nvSpPr>
        <p:spPr>
          <a:xfrm>
            <a:off x="8433561" y="2115679"/>
            <a:ext cx="701399" cy="616500"/>
          </a:xfrm>
          <a:prstGeom prst="roundRect">
            <a:avLst>
              <a:gd name="adj" fmla="val 16667"/>
            </a:avLst>
          </a:prstGeom>
          <a:solidFill>
            <a:srgbClr val="BECDB8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63" name="Shape 63"/>
          <p:cNvSpPr/>
          <p:nvPr/>
        </p:nvSpPr>
        <p:spPr>
          <a:xfrm>
            <a:off x="1522598" y="2796300"/>
            <a:ext cx="6839399" cy="1284899"/>
          </a:xfrm>
          <a:prstGeom prst="roundRect">
            <a:avLst>
              <a:gd name="adj" fmla="val 7838"/>
            </a:avLst>
          </a:prstGeom>
          <a:solidFill>
            <a:srgbClr val="93C47D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64" name="Shape 64"/>
          <p:cNvSpPr/>
          <p:nvPr/>
        </p:nvSpPr>
        <p:spPr>
          <a:xfrm>
            <a:off x="8433561" y="2796299"/>
            <a:ext cx="701399" cy="616500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65" name="Shape 65"/>
          <p:cNvSpPr/>
          <p:nvPr/>
        </p:nvSpPr>
        <p:spPr>
          <a:xfrm>
            <a:off x="8433561" y="3476324"/>
            <a:ext cx="701399" cy="616500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66" name="Shape 66"/>
          <p:cNvSpPr/>
          <p:nvPr/>
        </p:nvSpPr>
        <p:spPr>
          <a:xfrm>
            <a:off x="1522598" y="4155754"/>
            <a:ext cx="701399" cy="616500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67" name="Shape 67"/>
          <p:cNvSpPr/>
          <p:nvPr/>
        </p:nvSpPr>
        <p:spPr>
          <a:xfrm>
            <a:off x="2290482" y="4155754"/>
            <a:ext cx="701399" cy="61650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68" name="Shape 68"/>
          <p:cNvSpPr/>
          <p:nvPr/>
        </p:nvSpPr>
        <p:spPr>
          <a:xfrm>
            <a:off x="3058367" y="4155754"/>
            <a:ext cx="701399" cy="616500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69" name="Shape 69"/>
          <p:cNvSpPr/>
          <p:nvPr/>
        </p:nvSpPr>
        <p:spPr>
          <a:xfrm>
            <a:off x="3826252" y="4155754"/>
            <a:ext cx="701399" cy="616500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70" name="Shape 70"/>
          <p:cNvSpPr/>
          <p:nvPr/>
        </p:nvSpPr>
        <p:spPr>
          <a:xfrm>
            <a:off x="4594137" y="4155754"/>
            <a:ext cx="701399" cy="616500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71" name="Shape 71"/>
          <p:cNvSpPr/>
          <p:nvPr/>
        </p:nvSpPr>
        <p:spPr>
          <a:xfrm>
            <a:off x="5362022" y="4155754"/>
            <a:ext cx="701399" cy="616500"/>
          </a:xfrm>
          <a:prstGeom prst="roundRect">
            <a:avLst>
              <a:gd name="adj" fmla="val 16667"/>
            </a:avLst>
          </a:prstGeom>
          <a:solidFill>
            <a:srgbClr val="BECDB8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72" name="Shape 72"/>
          <p:cNvSpPr/>
          <p:nvPr/>
        </p:nvSpPr>
        <p:spPr>
          <a:xfrm>
            <a:off x="6129907" y="4155754"/>
            <a:ext cx="701399" cy="616500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73" name="Shape 73"/>
          <p:cNvSpPr/>
          <p:nvPr/>
        </p:nvSpPr>
        <p:spPr>
          <a:xfrm>
            <a:off x="6897792" y="4155754"/>
            <a:ext cx="701399" cy="616500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74" name="Shape 74"/>
          <p:cNvSpPr/>
          <p:nvPr/>
        </p:nvSpPr>
        <p:spPr>
          <a:xfrm>
            <a:off x="7665677" y="4155754"/>
            <a:ext cx="701399" cy="616500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75" name="Shape 75"/>
          <p:cNvSpPr/>
          <p:nvPr/>
        </p:nvSpPr>
        <p:spPr>
          <a:xfrm>
            <a:off x="8433561" y="4155754"/>
            <a:ext cx="701399" cy="61650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76" name="Shape 76"/>
          <p:cNvSpPr/>
          <p:nvPr/>
        </p:nvSpPr>
        <p:spPr>
          <a:xfrm>
            <a:off x="1522598" y="4835779"/>
            <a:ext cx="701399" cy="616500"/>
          </a:xfrm>
          <a:prstGeom prst="roundRect">
            <a:avLst>
              <a:gd name="adj" fmla="val 16667"/>
            </a:avLst>
          </a:prstGeom>
          <a:solidFill>
            <a:srgbClr val="93C47D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77" name="Shape 77"/>
          <p:cNvSpPr/>
          <p:nvPr/>
        </p:nvSpPr>
        <p:spPr>
          <a:xfrm>
            <a:off x="2290482" y="4835779"/>
            <a:ext cx="701399" cy="616500"/>
          </a:xfrm>
          <a:prstGeom prst="roundRect">
            <a:avLst>
              <a:gd name="adj" fmla="val 16667"/>
            </a:avLst>
          </a:prstGeom>
          <a:solidFill>
            <a:srgbClr val="70B354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78" name="Shape 78"/>
          <p:cNvSpPr/>
          <p:nvPr/>
        </p:nvSpPr>
        <p:spPr>
          <a:xfrm>
            <a:off x="3058367" y="4835779"/>
            <a:ext cx="701399" cy="616500"/>
          </a:xfrm>
          <a:prstGeom prst="roundRect">
            <a:avLst>
              <a:gd name="adj" fmla="val 16667"/>
            </a:avLst>
          </a:prstGeom>
          <a:solidFill>
            <a:srgbClr val="E69138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79" name="Shape 79"/>
          <p:cNvSpPr/>
          <p:nvPr/>
        </p:nvSpPr>
        <p:spPr>
          <a:xfrm>
            <a:off x="3826252" y="4835779"/>
            <a:ext cx="701399" cy="616500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80" name="Shape 80"/>
          <p:cNvSpPr/>
          <p:nvPr/>
        </p:nvSpPr>
        <p:spPr>
          <a:xfrm>
            <a:off x="4594137" y="4835779"/>
            <a:ext cx="701399" cy="61650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81" name="Shape 81"/>
          <p:cNvSpPr/>
          <p:nvPr/>
        </p:nvSpPr>
        <p:spPr>
          <a:xfrm>
            <a:off x="5362022" y="4835779"/>
            <a:ext cx="701399" cy="616500"/>
          </a:xfrm>
          <a:prstGeom prst="roundRect">
            <a:avLst>
              <a:gd name="adj" fmla="val 16667"/>
            </a:avLst>
          </a:prstGeom>
          <a:solidFill>
            <a:srgbClr val="70B354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82" name="Shape 82"/>
          <p:cNvSpPr/>
          <p:nvPr/>
        </p:nvSpPr>
        <p:spPr>
          <a:xfrm>
            <a:off x="6129907" y="4835779"/>
            <a:ext cx="701399" cy="616500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83" name="Shape 83"/>
          <p:cNvSpPr/>
          <p:nvPr/>
        </p:nvSpPr>
        <p:spPr>
          <a:xfrm>
            <a:off x="6897792" y="4835779"/>
            <a:ext cx="701399" cy="616500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84" name="Shape 84"/>
          <p:cNvSpPr/>
          <p:nvPr/>
        </p:nvSpPr>
        <p:spPr>
          <a:xfrm>
            <a:off x="7665677" y="4835779"/>
            <a:ext cx="701399" cy="616500"/>
          </a:xfrm>
          <a:prstGeom prst="roundRect">
            <a:avLst>
              <a:gd name="adj" fmla="val 16667"/>
            </a:avLst>
          </a:prstGeom>
          <a:solidFill>
            <a:srgbClr val="93C47D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85" name="Shape 85"/>
          <p:cNvSpPr/>
          <p:nvPr/>
        </p:nvSpPr>
        <p:spPr>
          <a:xfrm>
            <a:off x="8433561" y="4835779"/>
            <a:ext cx="701399" cy="616500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86" name="Shape 86"/>
          <p:cNvSpPr/>
          <p:nvPr/>
        </p:nvSpPr>
        <p:spPr>
          <a:xfrm>
            <a:off x="9200119" y="76200"/>
            <a:ext cx="701399" cy="616500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87" name="Shape 87"/>
          <p:cNvSpPr/>
          <p:nvPr/>
        </p:nvSpPr>
        <p:spPr>
          <a:xfrm>
            <a:off x="9968004" y="76200"/>
            <a:ext cx="701399" cy="616500"/>
          </a:xfrm>
          <a:prstGeom prst="roundRect">
            <a:avLst>
              <a:gd name="adj" fmla="val 16667"/>
            </a:avLst>
          </a:prstGeom>
          <a:solidFill>
            <a:srgbClr val="BECDB8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88" name="Shape 88"/>
          <p:cNvSpPr/>
          <p:nvPr/>
        </p:nvSpPr>
        <p:spPr>
          <a:xfrm>
            <a:off x="9200119" y="756224"/>
            <a:ext cx="701399" cy="616500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89" name="Shape 89"/>
          <p:cNvSpPr/>
          <p:nvPr/>
        </p:nvSpPr>
        <p:spPr>
          <a:xfrm>
            <a:off x="9968004" y="756224"/>
            <a:ext cx="701399" cy="616500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90" name="Shape 90"/>
          <p:cNvSpPr/>
          <p:nvPr/>
        </p:nvSpPr>
        <p:spPr>
          <a:xfrm>
            <a:off x="9200119" y="1435654"/>
            <a:ext cx="701399" cy="616500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91" name="Shape 91"/>
          <p:cNvSpPr/>
          <p:nvPr/>
        </p:nvSpPr>
        <p:spPr>
          <a:xfrm>
            <a:off x="9968004" y="1435654"/>
            <a:ext cx="701399" cy="61650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92" name="Shape 92"/>
          <p:cNvSpPr/>
          <p:nvPr/>
        </p:nvSpPr>
        <p:spPr>
          <a:xfrm>
            <a:off x="9200119" y="2115679"/>
            <a:ext cx="701399" cy="616500"/>
          </a:xfrm>
          <a:prstGeom prst="roundRect">
            <a:avLst>
              <a:gd name="adj" fmla="val 16667"/>
            </a:avLst>
          </a:prstGeom>
          <a:solidFill>
            <a:srgbClr val="70B354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93" name="Shape 93"/>
          <p:cNvSpPr/>
          <p:nvPr/>
        </p:nvSpPr>
        <p:spPr>
          <a:xfrm>
            <a:off x="9968004" y="2115679"/>
            <a:ext cx="701399" cy="616500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94" name="Shape 94"/>
          <p:cNvSpPr/>
          <p:nvPr/>
        </p:nvSpPr>
        <p:spPr>
          <a:xfrm>
            <a:off x="9200119" y="2796299"/>
            <a:ext cx="701399" cy="616500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95" name="Shape 95"/>
          <p:cNvSpPr/>
          <p:nvPr/>
        </p:nvSpPr>
        <p:spPr>
          <a:xfrm>
            <a:off x="9968004" y="2796299"/>
            <a:ext cx="701399" cy="616500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96" name="Shape 96"/>
          <p:cNvSpPr/>
          <p:nvPr/>
        </p:nvSpPr>
        <p:spPr>
          <a:xfrm>
            <a:off x="9200119" y="3476324"/>
            <a:ext cx="701399" cy="616500"/>
          </a:xfrm>
          <a:prstGeom prst="roundRect">
            <a:avLst>
              <a:gd name="adj" fmla="val 16667"/>
            </a:avLst>
          </a:prstGeom>
          <a:solidFill>
            <a:srgbClr val="BECDB8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97" name="Shape 97"/>
          <p:cNvSpPr/>
          <p:nvPr/>
        </p:nvSpPr>
        <p:spPr>
          <a:xfrm>
            <a:off x="9968004" y="3476324"/>
            <a:ext cx="701399" cy="616500"/>
          </a:xfrm>
          <a:prstGeom prst="roundRect">
            <a:avLst>
              <a:gd name="adj" fmla="val 16667"/>
            </a:avLst>
          </a:prstGeom>
          <a:solidFill>
            <a:srgbClr val="E69138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98" name="Shape 98"/>
          <p:cNvSpPr/>
          <p:nvPr/>
        </p:nvSpPr>
        <p:spPr>
          <a:xfrm>
            <a:off x="9200119" y="4155754"/>
            <a:ext cx="701399" cy="616500"/>
          </a:xfrm>
          <a:prstGeom prst="roundRect">
            <a:avLst>
              <a:gd name="adj" fmla="val 16667"/>
            </a:avLst>
          </a:prstGeom>
          <a:solidFill>
            <a:srgbClr val="70B354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99" name="Shape 99"/>
          <p:cNvSpPr/>
          <p:nvPr/>
        </p:nvSpPr>
        <p:spPr>
          <a:xfrm>
            <a:off x="9968004" y="4155754"/>
            <a:ext cx="701399" cy="616500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00" name="Shape 100"/>
          <p:cNvSpPr/>
          <p:nvPr/>
        </p:nvSpPr>
        <p:spPr>
          <a:xfrm>
            <a:off x="9200119" y="4835779"/>
            <a:ext cx="701399" cy="616500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01" name="Shape 101"/>
          <p:cNvSpPr/>
          <p:nvPr/>
        </p:nvSpPr>
        <p:spPr>
          <a:xfrm>
            <a:off x="9968004" y="4835779"/>
            <a:ext cx="701399" cy="616500"/>
          </a:xfrm>
          <a:prstGeom prst="roundRect">
            <a:avLst>
              <a:gd name="adj" fmla="val 16667"/>
            </a:avLst>
          </a:prstGeom>
          <a:solidFill>
            <a:srgbClr val="93C47D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02" name="Shape 102"/>
          <p:cNvSpPr/>
          <p:nvPr/>
        </p:nvSpPr>
        <p:spPr>
          <a:xfrm>
            <a:off x="1669445" y="2876782"/>
            <a:ext cx="1276553" cy="1122041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>
            <a:noFill/>
          </a:ln>
        </p:spPr>
      </p:sp>
      <p:sp>
        <p:nvSpPr>
          <p:cNvPr id="103" name="Shape 103"/>
          <p:cNvSpPr/>
          <p:nvPr/>
        </p:nvSpPr>
        <p:spPr>
          <a:xfrm>
            <a:off x="3059031" y="76200"/>
            <a:ext cx="701399" cy="616500"/>
          </a:xfrm>
          <a:prstGeom prst="roundRect">
            <a:avLst>
              <a:gd name="adj" fmla="val 16667"/>
            </a:avLst>
          </a:prstGeom>
          <a:solidFill>
            <a:srgbClr val="93C47D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04" name="Shape 104"/>
          <p:cNvSpPr/>
          <p:nvPr/>
        </p:nvSpPr>
        <p:spPr>
          <a:xfrm>
            <a:off x="7666340" y="756224"/>
            <a:ext cx="701399" cy="616500"/>
          </a:xfrm>
          <a:prstGeom prst="roundRect">
            <a:avLst>
              <a:gd name="adj" fmla="val 16667"/>
            </a:avLst>
          </a:prstGeom>
          <a:solidFill>
            <a:srgbClr val="93C47D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05" name="Shape 105"/>
          <p:cNvSpPr/>
          <p:nvPr/>
        </p:nvSpPr>
        <p:spPr>
          <a:xfrm>
            <a:off x="1523262" y="1435654"/>
            <a:ext cx="701399" cy="616500"/>
          </a:xfrm>
          <a:prstGeom prst="roundRect">
            <a:avLst>
              <a:gd name="adj" fmla="val 16667"/>
            </a:avLst>
          </a:prstGeom>
          <a:solidFill>
            <a:srgbClr val="93C47D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06" name="Shape 106"/>
          <p:cNvSpPr/>
          <p:nvPr/>
        </p:nvSpPr>
        <p:spPr>
          <a:xfrm>
            <a:off x="3826916" y="2115679"/>
            <a:ext cx="701399" cy="616500"/>
          </a:xfrm>
          <a:prstGeom prst="roundRect">
            <a:avLst>
              <a:gd name="adj" fmla="val 16667"/>
            </a:avLst>
          </a:prstGeom>
          <a:solidFill>
            <a:srgbClr val="93C47D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07" name="Shape 107"/>
          <p:cNvSpPr/>
          <p:nvPr/>
        </p:nvSpPr>
        <p:spPr>
          <a:xfrm>
            <a:off x="8434226" y="2796299"/>
            <a:ext cx="701399" cy="616500"/>
          </a:xfrm>
          <a:prstGeom prst="roundRect">
            <a:avLst>
              <a:gd name="adj" fmla="val 16667"/>
            </a:avLst>
          </a:prstGeom>
          <a:solidFill>
            <a:srgbClr val="93C47D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08" name="Shape 108"/>
          <p:cNvSpPr/>
          <p:nvPr/>
        </p:nvSpPr>
        <p:spPr>
          <a:xfrm>
            <a:off x="3826916" y="4155754"/>
            <a:ext cx="701399" cy="616500"/>
          </a:xfrm>
          <a:prstGeom prst="roundRect">
            <a:avLst>
              <a:gd name="adj" fmla="val 16667"/>
            </a:avLst>
          </a:prstGeom>
          <a:solidFill>
            <a:srgbClr val="93C47D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09" name="Shape 109"/>
          <p:cNvSpPr/>
          <p:nvPr/>
        </p:nvSpPr>
        <p:spPr>
          <a:xfrm>
            <a:off x="6898455" y="4155754"/>
            <a:ext cx="701399" cy="616500"/>
          </a:xfrm>
          <a:prstGeom prst="roundRect">
            <a:avLst>
              <a:gd name="adj" fmla="val 16667"/>
            </a:avLst>
          </a:prstGeom>
          <a:solidFill>
            <a:srgbClr val="93C47D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10" name="Shape 110"/>
          <p:cNvSpPr/>
          <p:nvPr/>
        </p:nvSpPr>
        <p:spPr>
          <a:xfrm>
            <a:off x="9200783" y="756224"/>
            <a:ext cx="701399" cy="616500"/>
          </a:xfrm>
          <a:prstGeom prst="roundRect">
            <a:avLst>
              <a:gd name="adj" fmla="val 16667"/>
            </a:avLst>
          </a:prstGeom>
          <a:solidFill>
            <a:srgbClr val="93C47D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11" name="Shape 111"/>
          <p:cNvSpPr txBox="1"/>
          <p:nvPr/>
        </p:nvSpPr>
        <p:spPr>
          <a:xfrm>
            <a:off x="4388380" y="3025984"/>
            <a:ext cx="3824699" cy="1023900"/>
          </a:xfrm>
          <a:prstGeom prst="rect">
            <a:avLst/>
          </a:prstGeom>
          <a:noFill/>
        </p:spPr>
        <p:txBody>
          <a:bodyPr lIns="91425" tIns="91425" rIns="91425" bIns="91425" anchor="ctr" anchorCtr="0">
            <a:noAutofit/>
          </a:bodyPr>
          <a:lstStyle/>
          <a:p>
            <a:pPr algn="ctr">
              <a:buNone/>
            </a:pPr>
            <a:r>
              <a:rPr lang="en" sz="9600" b="1"/>
              <a:t>RODA</a:t>
            </a:r>
          </a:p>
        </p:txBody>
      </p:sp>
      <p:sp>
        <p:nvSpPr>
          <p:cNvPr id="112" name="Shape 112"/>
          <p:cNvSpPr/>
          <p:nvPr/>
        </p:nvSpPr>
        <p:spPr>
          <a:xfrm>
            <a:off x="1522598" y="5503150"/>
            <a:ext cx="701399" cy="616500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13" name="Shape 113"/>
          <p:cNvSpPr/>
          <p:nvPr/>
        </p:nvSpPr>
        <p:spPr>
          <a:xfrm>
            <a:off x="2290482" y="5503150"/>
            <a:ext cx="701399" cy="616500"/>
          </a:xfrm>
          <a:prstGeom prst="roundRect">
            <a:avLst>
              <a:gd name="adj" fmla="val 16667"/>
            </a:avLst>
          </a:prstGeom>
          <a:solidFill>
            <a:srgbClr val="BECDB8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14" name="Shape 114"/>
          <p:cNvSpPr/>
          <p:nvPr/>
        </p:nvSpPr>
        <p:spPr>
          <a:xfrm>
            <a:off x="3058367" y="5503150"/>
            <a:ext cx="701399" cy="616500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15" name="Shape 115"/>
          <p:cNvSpPr/>
          <p:nvPr/>
        </p:nvSpPr>
        <p:spPr>
          <a:xfrm>
            <a:off x="3826252" y="5503150"/>
            <a:ext cx="701399" cy="616500"/>
          </a:xfrm>
          <a:prstGeom prst="roundRect">
            <a:avLst>
              <a:gd name="adj" fmla="val 16667"/>
            </a:avLst>
          </a:prstGeom>
          <a:solidFill>
            <a:srgbClr val="70B354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16" name="Shape 116"/>
          <p:cNvSpPr/>
          <p:nvPr/>
        </p:nvSpPr>
        <p:spPr>
          <a:xfrm>
            <a:off x="4594137" y="5503150"/>
            <a:ext cx="701399" cy="616500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17" name="Shape 117"/>
          <p:cNvSpPr/>
          <p:nvPr/>
        </p:nvSpPr>
        <p:spPr>
          <a:xfrm>
            <a:off x="5362022" y="5503150"/>
            <a:ext cx="701399" cy="61650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18" name="Shape 118"/>
          <p:cNvSpPr/>
          <p:nvPr/>
        </p:nvSpPr>
        <p:spPr>
          <a:xfrm>
            <a:off x="6129907" y="5503150"/>
            <a:ext cx="701399" cy="616500"/>
          </a:xfrm>
          <a:prstGeom prst="roundRect">
            <a:avLst>
              <a:gd name="adj" fmla="val 16667"/>
            </a:avLst>
          </a:prstGeom>
          <a:solidFill>
            <a:srgbClr val="E69138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19" name="Shape 119"/>
          <p:cNvSpPr/>
          <p:nvPr/>
        </p:nvSpPr>
        <p:spPr>
          <a:xfrm>
            <a:off x="6897792" y="5503150"/>
            <a:ext cx="701399" cy="616500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20" name="Shape 120"/>
          <p:cNvSpPr/>
          <p:nvPr/>
        </p:nvSpPr>
        <p:spPr>
          <a:xfrm>
            <a:off x="7665677" y="5503150"/>
            <a:ext cx="701399" cy="616500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21" name="Shape 121"/>
          <p:cNvSpPr/>
          <p:nvPr/>
        </p:nvSpPr>
        <p:spPr>
          <a:xfrm>
            <a:off x="8433561" y="5503150"/>
            <a:ext cx="701399" cy="616500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22" name="Shape 122"/>
          <p:cNvSpPr/>
          <p:nvPr/>
        </p:nvSpPr>
        <p:spPr>
          <a:xfrm>
            <a:off x="1522598" y="6182580"/>
            <a:ext cx="701399" cy="616500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23" name="Shape 123"/>
          <p:cNvSpPr/>
          <p:nvPr/>
        </p:nvSpPr>
        <p:spPr>
          <a:xfrm>
            <a:off x="2290482" y="6182580"/>
            <a:ext cx="701399" cy="616500"/>
          </a:xfrm>
          <a:prstGeom prst="roundRect">
            <a:avLst>
              <a:gd name="adj" fmla="val 16667"/>
            </a:avLst>
          </a:prstGeom>
          <a:solidFill>
            <a:srgbClr val="70B354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24" name="Shape 124"/>
          <p:cNvSpPr/>
          <p:nvPr/>
        </p:nvSpPr>
        <p:spPr>
          <a:xfrm>
            <a:off x="3058367" y="6182580"/>
            <a:ext cx="701399" cy="61650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25" name="Shape 125"/>
          <p:cNvSpPr/>
          <p:nvPr/>
        </p:nvSpPr>
        <p:spPr>
          <a:xfrm>
            <a:off x="3826252" y="6182580"/>
            <a:ext cx="701399" cy="616500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26" name="Shape 126"/>
          <p:cNvSpPr/>
          <p:nvPr/>
        </p:nvSpPr>
        <p:spPr>
          <a:xfrm>
            <a:off x="4594137" y="6182580"/>
            <a:ext cx="701399" cy="616500"/>
          </a:xfrm>
          <a:prstGeom prst="roundRect">
            <a:avLst>
              <a:gd name="adj" fmla="val 16667"/>
            </a:avLst>
          </a:prstGeom>
          <a:solidFill>
            <a:srgbClr val="BECDB8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27" name="Shape 127"/>
          <p:cNvSpPr/>
          <p:nvPr/>
        </p:nvSpPr>
        <p:spPr>
          <a:xfrm>
            <a:off x="5362022" y="6182580"/>
            <a:ext cx="701399" cy="616500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28" name="Shape 128"/>
          <p:cNvSpPr/>
          <p:nvPr/>
        </p:nvSpPr>
        <p:spPr>
          <a:xfrm>
            <a:off x="6129907" y="6182580"/>
            <a:ext cx="701399" cy="616500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29" name="Shape 129"/>
          <p:cNvSpPr/>
          <p:nvPr/>
        </p:nvSpPr>
        <p:spPr>
          <a:xfrm>
            <a:off x="6897792" y="6182580"/>
            <a:ext cx="701399" cy="61650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30" name="Shape 130"/>
          <p:cNvSpPr/>
          <p:nvPr/>
        </p:nvSpPr>
        <p:spPr>
          <a:xfrm>
            <a:off x="7665677" y="6182580"/>
            <a:ext cx="701399" cy="616500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31" name="Shape 131"/>
          <p:cNvSpPr/>
          <p:nvPr/>
        </p:nvSpPr>
        <p:spPr>
          <a:xfrm>
            <a:off x="8433561" y="6182580"/>
            <a:ext cx="701399" cy="616500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32" name="Shape 132"/>
          <p:cNvSpPr/>
          <p:nvPr/>
        </p:nvSpPr>
        <p:spPr>
          <a:xfrm>
            <a:off x="9200119" y="5503150"/>
            <a:ext cx="701399" cy="616500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33" name="Shape 133"/>
          <p:cNvSpPr/>
          <p:nvPr/>
        </p:nvSpPr>
        <p:spPr>
          <a:xfrm>
            <a:off x="9968004" y="5503150"/>
            <a:ext cx="701399" cy="616500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34" name="Shape 134"/>
          <p:cNvSpPr/>
          <p:nvPr/>
        </p:nvSpPr>
        <p:spPr>
          <a:xfrm>
            <a:off x="9200119" y="6182580"/>
            <a:ext cx="701399" cy="616500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35" name="Shape 135"/>
          <p:cNvSpPr/>
          <p:nvPr/>
        </p:nvSpPr>
        <p:spPr>
          <a:xfrm>
            <a:off x="9968004" y="6182580"/>
            <a:ext cx="701399" cy="61650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36" name="Shape 136"/>
          <p:cNvSpPr/>
          <p:nvPr/>
        </p:nvSpPr>
        <p:spPr>
          <a:xfrm>
            <a:off x="7666340" y="5503150"/>
            <a:ext cx="701399" cy="616500"/>
          </a:xfrm>
          <a:prstGeom prst="roundRect">
            <a:avLst>
              <a:gd name="adj" fmla="val 16667"/>
            </a:avLst>
          </a:prstGeom>
          <a:solidFill>
            <a:srgbClr val="93C47D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37" name="Shape 137"/>
          <p:cNvSpPr/>
          <p:nvPr/>
        </p:nvSpPr>
        <p:spPr>
          <a:xfrm>
            <a:off x="1523262" y="6182580"/>
            <a:ext cx="701399" cy="616500"/>
          </a:xfrm>
          <a:prstGeom prst="roundRect">
            <a:avLst>
              <a:gd name="adj" fmla="val 16667"/>
            </a:avLst>
          </a:prstGeom>
          <a:solidFill>
            <a:srgbClr val="93C47D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38" name="Shape 138"/>
          <p:cNvSpPr/>
          <p:nvPr/>
        </p:nvSpPr>
        <p:spPr>
          <a:xfrm>
            <a:off x="9200783" y="5503150"/>
            <a:ext cx="701399" cy="616500"/>
          </a:xfrm>
          <a:prstGeom prst="roundRect">
            <a:avLst>
              <a:gd name="adj" fmla="val 16667"/>
            </a:avLst>
          </a:prstGeom>
          <a:solidFill>
            <a:srgbClr val="93C47D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937685707"/>
      </p:ext>
    </p:extLst>
  </p:cSld>
  <p:clrMapOvr>
    <a:masterClrMapping/>
  </p:clrMapOvr>
  <p:transition spd="slow">
    <p:cut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RODA's Open-Source </a:t>
            </a:r>
            <a:br>
              <a:rPr lang="en-US" dirty="0" smtClean="0"/>
            </a:br>
            <a:r>
              <a:rPr lang="en-US" dirty="0" smtClean="0"/>
              <a:t>Web Platform for DDI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2003632"/>
          </a:xfrm>
        </p:spPr>
        <p:txBody>
          <a:bodyPr>
            <a:normAutofit/>
          </a:bodyPr>
          <a:lstStyle/>
          <a:p>
            <a:pPr algn="r">
              <a:lnSpc>
                <a:spcPct val="100000"/>
              </a:lnSpc>
            </a:pPr>
            <a:endParaRPr lang="en-US" sz="3200" dirty="0" smtClean="0"/>
          </a:p>
          <a:p>
            <a:pPr algn="r">
              <a:lnSpc>
                <a:spcPct val="100000"/>
              </a:lnSpc>
            </a:pPr>
            <a:r>
              <a:rPr lang="en-US" sz="3200" dirty="0" smtClean="0"/>
              <a:t>Adrian </a:t>
            </a:r>
            <a:r>
              <a:rPr lang="en-US" sz="3200" dirty="0" err="1" smtClean="0"/>
              <a:t>Dușa</a:t>
            </a:r>
            <a:endParaRPr lang="en-US" sz="3200" dirty="0" smtClean="0"/>
          </a:p>
          <a:p>
            <a:pPr algn="r">
              <a:lnSpc>
                <a:spcPct val="100000"/>
              </a:lnSpc>
            </a:pPr>
            <a:r>
              <a:rPr lang="en-US" sz="3200" b="1" dirty="0" err="1" smtClean="0"/>
              <a:t>Cosmin</a:t>
            </a:r>
            <a:r>
              <a:rPr lang="en-US" sz="3200" b="1" dirty="0" smtClean="0"/>
              <a:t> </a:t>
            </a:r>
            <a:r>
              <a:rPr lang="en-US" sz="3200" b="1" dirty="0" err="1" smtClean="0"/>
              <a:t>Rentea</a:t>
            </a:r>
            <a:endParaRPr lang="en-US" sz="3200" dirty="0" smtClean="0"/>
          </a:p>
        </p:txBody>
      </p:sp>
    </p:spTree>
    <p:extLst>
      <p:ext uri="{BB962C8B-B14F-4D97-AF65-F5344CB8AC3E}">
        <p14:creationId xmlns:p14="http://schemas.microsoft.com/office/powerpoint/2010/main" val="19322426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Data &amp; Metadata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0000"/>
              </a:lnSpc>
              <a:buSzPct val="45000"/>
            </a:pPr>
            <a:r>
              <a:rPr lang="en-US" dirty="0" smtClean="0"/>
              <a:t>RODA = Romanian Social Data Archive, Bucharest</a:t>
            </a:r>
          </a:p>
          <a:p>
            <a:pPr>
              <a:lnSpc>
                <a:spcPct val="100000"/>
              </a:lnSpc>
              <a:buSzPct val="45000"/>
            </a:pPr>
            <a:r>
              <a:rPr lang="en-US" dirty="0" smtClean="0"/>
              <a:t>Currently: less than 100 Codebooks (</a:t>
            </a:r>
            <a:r>
              <a:rPr lang="en-US" dirty="0" err="1" smtClean="0"/>
              <a:t>Nesstar</a:t>
            </a:r>
            <a:r>
              <a:rPr lang="en-US" dirty="0" smtClean="0"/>
              <a:t>) and associated datasets (SPSS)</a:t>
            </a:r>
          </a:p>
          <a:p>
            <a:pPr>
              <a:lnSpc>
                <a:spcPct val="100000"/>
              </a:lnSpc>
              <a:buSzPct val="45000"/>
            </a:pPr>
            <a:r>
              <a:rPr lang="en-US" dirty="0" smtClean="0"/>
              <a:t>Project Goals: </a:t>
            </a:r>
          </a:p>
          <a:p>
            <a:pPr lvl="1">
              <a:lnSpc>
                <a:spcPct val="100000"/>
              </a:lnSpc>
              <a:buSzPct val="45000"/>
            </a:pPr>
            <a:r>
              <a:rPr lang="en-US" dirty="0" smtClean="0"/>
              <a:t>collect new data and metadata from Romanian public institutions and private </a:t>
            </a:r>
            <a:r>
              <a:rPr lang="en-US" dirty="0" err="1" smtClean="0"/>
              <a:t>organisations</a:t>
            </a:r>
            <a:r>
              <a:rPr lang="en-US" dirty="0" smtClean="0"/>
              <a:t> (doubling the archive contents after 2 years)</a:t>
            </a:r>
          </a:p>
          <a:p>
            <a:pPr lvl="1">
              <a:lnSpc>
                <a:spcPct val="100000"/>
              </a:lnSpc>
              <a:buSzPct val="45000"/>
            </a:pPr>
            <a:r>
              <a:rPr lang="en-US" dirty="0" smtClean="0"/>
              <a:t>migrate existing data to DDI-Lifecycle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7483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Software Solution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0000"/>
              </a:lnSpc>
              <a:buSzPct val="45000"/>
            </a:pPr>
            <a:r>
              <a:rPr lang="en-US" dirty="0" smtClean="0"/>
              <a:t>Open-source solution</a:t>
            </a:r>
          </a:p>
          <a:p>
            <a:pPr>
              <a:lnSpc>
                <a:spcPct val="100000"/>
              </a:lnSpc>
              <a:buSzPct val="45000"/>
            </a:pPr>
            <a:r>
              <a:rPr lang="en-US" dirty="0" smtClean="0"/>
              <a:t>Reusable extendable modules</a:t>
            </a:r>
          </a:p>
          <a:p>
            <a:pPr>
              <a:lnSpc>
                <a:spcPct val="100000"/>
              </a:lnSpc>
              <a:buSzPct val="45000"/>
            </a:pPr>
            <a:r>
              <a:rPr lang="en-US" dirty="0" smtClean="0"/>
              <a:t>Data Model implementing DDI-Codebook and a subset of DDI-Lifecycle</a:t>
            </a:r>
          </a:p>
          <a:p>
            <a:pPr>
              <a:lnSpc>
                <a:spcPct val="100000"/>
              </a:lnSpc>
              <a:buSzPct val="45000"/>
            </a:pPr>
            <a:r>
              <a:rPr lang="en-US" dirty="0" smtClean="0"/>
              <a:t>We are developing a multi-tier web application</a:t>
            </a:r>
          </a:p>
          <a:p>
            <a:pPr lvl="1">
              <a:lnSpc>
                <a:spcPct val="100000"/>
              </a:lnSpc>
              <a:buSzPct val="45000"/>
            </a:pPr>
            <a:r>
              <a:rPr lang="en-US" dirty="0" smtClean="0"/>
              <a:t>Server: Java-based; Clients: JavaScript;</a:t>
            </a:r>
          </a:p>
          <a:p>
            <a:pPr lvl="1">
              <a:lnSpc>
                <a:spcPct val="100000"/>
              </a:lnSpc>
              <a:buSzPct val="75000"/>
            </a:pPr>
            <a:r>
              <a:rPr lang="en-US" dirty="0" smtClean="0"/>
              <a:t>Complemented by other dedicated applications (CRM, DMS, Search)</a:t>
            </a:r>
          </a:p>
        </p:txBody>
      </p:sp>
    </p:spTree>
    <p:extLst>
      <p:ext uri="{BB962C8B-B14F-4D97-AF65-F5344CB8AC3E}">
        <p14:creationId xmlns:p14="http://schemas.microsoft.com/office/powerpoint/2010/main" val="21664211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Software Solution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676775"/>
          </a:xfrm>
        </p:spPr>
        <p:txBody>
          <a:bodyPr>
            <a:normAutofit fontScale="92500" lnSpcReduction="10000"/>
          </a:bodyPr>
          <a:lstStyle/>
          <a:p>
            <a:r>
              <a:rPr lang="en-US" dirty="0" smtClean="0"/>
              <a:t>Security-aware Application: </a:t>
            </a:r>
          </a:p>
          <a:p>
            <a:pPr lvl="1"/>
            <a:r>
              <a:rPr lang="en-US" dirty="0" smtClean="0"/>
              <a:t>users, roles</a:t>
            </a:r>
          </a:p>
          <a:p>
            <a:pPr lvl="1"/>
            <a:r>
              <a:rPr lang="en-US" dirty="0" smtClean="0"/>
              <a:t>multiple authentication methods</a:t>
            </a:r>
          </a:p>
          <a:p>
            <a:pPr lvl="1"/>
            <a:r>
              <a:rPr lang="en-US" dirty="0" smtClean="0"/>
              <a:t>authorization (ACL)</a:t>
            </a:r>
          </a:p>
          <a:p>
            <a:pPr lvl="1"/>
            <a:r>
              <a:rPr lang="en-US" dirty="0"/>
              <a:t>p</a:t>
            </a:r>
            <a:r>
              <a:rPr lang="en-US" dirty="0" smtClean="0"/>
              <a:t>ossibility to use LDAP</a:t>
            </a:r>
          </a:p>
          <a:p>
            <a:r>
              <a:rPr lang="en-US" dirty="0" smtClean="0"/>
              <a:t>Multiple persistence back-ends: </a:t>
            </a:r>
          </a:p>
          <a:p>
            <a:pPr lvl="1"/>
            <a:r>
              <a:rPr lang="en-US" dirty="0" smtClean="0"/>
              <a:t>RDBMS</a:t>
            </a:r>
          </a:p>
          <a:p>
            <a:pPr lvl="1"/>
            <a:r>
              <a:rPr lang="en-US" dirty="0" smtClean="0"/>
              <a:t>XML</a:t>
            </a:r>
          </a:p>
          <a:p>
            <a:pPr lvl="1"/>
            <a:r>
              <a:rPr lang="en-US" dirty="0" smtClean="0"/>
              <a:t>File Storage</a:t>
            </a:r>
          </a:p>
          <a:p>
            <a:r>
              <a:rPr lang="en-US" dirty="0" smtClean="0"/>
              <a:t>Indexing/Searching metadata</a:t>
            </a:r>
          </a:p>
          <a:p>
            <a:r>
              <a:rPr lang="en-US" dirty="0" smtClean="0"/>
              <a:t>CESSDA requirements for future integration: Shibboleth authentication, harvester access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03841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92850"/>
            <a:ext cx="10515600" cy="615536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 smtClean="0"/>
              <a:t>UML Component Diagram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/>
          <p:nvPr/>
        </p:nvPicPr>
        <p:blipFill>
          <a:blip r:embed="rId2"/>
          <a:stretch>
            <a:fillRect/>
          </a:stretch>
        </p:blipFill>
        <p:spPr>
          <a:xfrm>
            <a:off x="1810020" y="781920"/>
            <a:ext cx="8571960" cy="6076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66655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242" y="365125"/>
            <a:ext cx="9250019" cy="779463"/>
          </a:xfrm>
        </p:spPr>
        <p:txBody>
          <a:bodyPr/>
          <a:lstStyle/>
          <a:p>
            <a:pPr algn="ctr"/>
            <a:r>
              <a:rPr lang="en-US" dirty="0" smtClean="0"/>
              <a:t>Spring Framework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/>
          <p:nvPr/>
        </p:nvPicPr>
        <p:blipFill>
          <a:blip r:embed="rId2"/>
          <a:stretch>
            <a:fillRect/>
          </a:stretch>
        </p:blipFill>
        <p:spPr>
          <a:xfrm>
            <a:off x="2036552" y="1023840"/>
            <a:ext cx="8137800" cy="5834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92636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Database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495662"/>
          </a:xfrm>
        </p:spPr>
        <p:txBody>
          <a:bodyPr>
            <a:normAutofit lnSpcReduction="10000"/>
          </a:bodyPr>
          <a:lstStyle/>
          <a:p>
            <a:r>
              <a:rPr lang="en-US" dirty="0" smtClean="0"/>
              <a:t>Database Schemas for</a:t>
            </a:r>
          </a:p>
          <a:p>
            <a:pPr lvl="1"/>
            <a:r>
              <a:rPr lang="en-US" dirty="0" smtClean="0"/>
              <a:t>RODA Schema:</a:t>
            </a:r>
          </a:p>
          <a:p>
            <a:pPr lvl="2"/>
            <a:r>
              <a:rPr lang="en-US" dirty="0" smtClean="0"/>
              <a:t>Studies and related concepts (methodology …)</a:t>
            </a:r>
          </a:p>
          <a:p>
            <a:pPr lvl="2"/>
            <a:r>
              <a:rPr lang="en-US" dirty="0" smtClean="0"/>
              <a:t>Catalogs, Datasets, Variables, Questionnaires</a:t>
            </a:r>
          </a:p>
          <a:p>
            <a:pPr lvl="2"/>
            <a:r>
              <a:rPr lang="en-US" dirty="0" smtClean="0"/>
              <a:t>Persons &amp; Organizations</a:t>
            </a:r>
          </a:p>
          <a:p>
            <a:pPr lvl="2"/>
            <a:r>
              <a:rPr lang="en-US" dirty="0" smtClean="0"/>
              <a:t>Geographical Info</a:t>
            </a:r>
          </a:p>
          <a:p>
            <a:pPr lvl="2"/>
            <a:r>
              <a:rPr lang="en-US" dirty="0" smtClean="0"/>
              <a:t>Thesaurus (ELSST), Keywords, etc.</a:t>
            </a:r>
          </a:p>
          <a:p>
            <a:pPr lvl="1"/>
            <a:r>
              <a:rPr lang="en-US" dirty="0" smtClean="0"/>
              <a:t>DDI original data</a:t>
            </a:r>
          </a:p>
          <a:p>
            <a:pPr lvl="1"/>
            <a:r>
              <a:rPr lang="en-US" dirty="0" smtClean="0"/>
              <a:t>CMS</a:t>
            </a:r>
          </a:p>
          <a:p>
            <a:pPr lvl="1"/>
            <a:r>
              <a:rPr lang="en-US" dirty="0" smtClean="0"/>
              <a:t>ACL</a:t>
            </a:r>
          </a:p>
          <a:p>
            <a:pPr lvl="1"/>
            <a:r>
              <a:rPr lang="en-US" dirty="0" smtClean="0"/>
              <a:t>Versioning information</a:t>
            </a:r>
          </a:p>
          <a:p>
            <a:r>
              <a:rPr lang="en-US" dirty="0" smtClean="0"/>
              <a:t>RDBMS choice: </a:t>
            </a:r>
            <a:r>
              <a:rPr lang="en-US" dirty="0" err="1" smtClean="0"/>
              <a:t>PostgreSQL</a:t>
            </a:r>
            <a:endParaRPr lang="en-US" dirty="0" smtClean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90064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Components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24000"/>
            <a:ext cx="10515600" cy="4770782"/>
          </a:xfrm>
        </p:spPr>
        <p:txBody>
          <a:bodyPr>
            <a:normAutofit/>
          </a:bodyPr>
          <a:lstStyle/>
          <a:p>
            <a:r>
              <a:rPr lang="en-US" dirty="0" smtClean="0"/>
              <a:t>Web U.I. – based on </a:t>
            </a:r>
            <a:r>
              <a:rPr lang="en-US" dirty="0" err="1" smtClean="0"/>
              <a:t>ExtJS</a:t>
            </a:r>
            <a:endParaRPr lang="en-US" dirty="0" smtClean="0"/>
          </a:p>
          <a:p>
            <a:pPr lvl="2"/>
            <a:endParaRPr lang="en-US" dirty="0" smtClean="0"/>
          </a:p>
          <a:p>
            <a:r>
              <a:rPr lang="en-US" dirty="0" smtClean="0"/>
              <a:t>Task-Scheduling – using Spring</a:t>
            </a:r>
          </a:p>
          <a:p>
            <a:pPr lvl="2"/>
            <a:endParaRPr lang="en-US" dirty="0" smtClean="0"/>
          </a:p>
          <a:p>
            <a:r>
              <a:rPr lang="en-US" dirty="0" smtClean="0"/>
              <a:t>Data Versioning – using Hibernate </a:t>
            </a:r>
            <a:r>
              <a:rPr lang="en-US" dirty="0" err="1" smtClean="0"/>
              <a:t>Envers</a:t>
            </a:r>
            <a:endParaRPr lang="en-US" dirty="0" smtClean="0"/>
          </a:p>
          <a:p>
            <a:pPr lvl="2"/>
            <a:endParaRPr lang="en-US" dirty="0" smtClean="0"/>
          </a:p>
          <a:p>
            <a:r>
              <a:rPr lang="en-US" dirty="0" smtClean="0"/>
              <a:t>Content repository – using </a:t>
            </a:r>
            <a:r>
              <a:rPr lang="en-US" dirty="0" err="1" smtClean="0"/>
              <a:t>JackRabbit</a:t>
            </a:r>
            <a:r>
              <a:rPr lang="en-US" dirty="0" smtClean="0"/>
              <a:t> for</a:t>
            </a:r>
          </a:p>
          <a:p>
            <a:pPr lvl="1"/>
            <a:r>
              <a:rPr lang="en-US" dirty="0" smtClean="0"/>
              <a:t>Codebook-related files</a:t>
            </a:r>
          </a:p>
          <a:p>
            <a:pPr lvl="1"/>
            <a:r>
              <a:rPr lang="en-US" dirty="0" smtClean="0"/>
              <a:t>CMS</a:t>
            </a:r>
          </a:p>
          <a:p>
            <a:pPr lvl="2"/>
            <a:endParaRPr lang="en-US" dirty="0" smtClean="0"/>
          </a:p>
          <a:p>
            <a:r>
              <a:rPr lang="en-US" dirty="0" smtClean="0"/>
              <a:t>Statistical module – using 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70211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86774"/>
          </a:xfrm>
        </p:spPr>
        <p:txBody>
          <a:bodyPr/>
          <a:lstStyle/>
          <a:p>
            <a:pPr algn="ctr"/>
            <a:r>
              <a:rPr lang="en-US" dirty="0" smtClean="0"/>
              <a:t>Components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35314"/>
            <a:ext cx="10515600" cy="4841649"/>
          </a:xfrm>
        </p:spPr>
        <p:txBody>
          <a:bodyPr/>
          <a:lstStyle/>
          <a:p>
            <a:r>
              <a:rPr lang="en-US" dirty="0"/>
              <a:t>Importer &amp; Exporter – DDI data, other files (CSV, SQL, SPSS)</a:t>
            </a:r>
          </a:p>
          <a:p>
            <a:endParaRPr lang="en-US" dirty="0"/>
          </a:p>
        </p:txBody>
      </p:sp>
      <p:sp>
        <p:nvSpPr>
          <p:cNvPr id="33" name="Shape 194"/>
          <p:cNvSpPr/>
          <p:nvPr/>
        </p:nvSpPr>
        <p:spPr>
          <a:xfrm>
            <a:off x="6941425" y="4560537"/>
            <a:ext cx="2462099" cy="2024100"/>
          </a:xfrm>
          <a:prstGeom prst="roundRect">
            <a:avLst>
              <a:gd name="adj" fmla="val 6131"/>
            </a:avLst>
          </a:prstGeom>
          <a:solidFill>
            <a:srgbClr val="FFFFFF"/>
          </a:solidFill>
          <a:ln w="19050" cap="flat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>
            <a:def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1pPr>
            <a:lvl2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2pPr>
            <a:lvl3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3pPr>
            <a:lvl4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4pPr>
            <a:lvl5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5pPr>
            <a:lvl6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6pPr>
            <a:lvl7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7pPr>
            <a:lvl8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8pPr>
            <a:lvl9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9pPr>
          </a:lstStyle>
          <a:p>
            <a:endParaRPr/>
          </a:p>
        </p:txBody>
      </p:sp>
      <p:sp>
        <p:nvSpPr>
          <p:cNvPr id="34" name="Shape 195"/>
          <p:cNvSpPr/>
          <p:nvPr/>
        </p:nvSpPr>
        <p:spPr>
          <a:xfrm>
            <a:off x="7131925" y="4889137"/>
            <a:ext cx="561899" cy="856800"/>
          </a:xfrm>
          <a:prstGeom prst="rect">
            <a:avLst/>
          </a:prstGeom>
          <a:solidFill>
            <a:srgbClr val="A2C4C9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>
            <a:def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1pPr>
            <a:lvl2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2pPr>
            <a:lvl3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3pPr>
            <a:lvl4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4pPr>
            <a:lvl5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5pPr>
            <a:lvl6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6pPr>
            <a:lvl7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7pPr>
            <a:lvl8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8pPr>
            <a:lvl9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9pPr>
          </a:lstStyle>
          <a:p>
            <a:endParaRPr/>
          </a:p>
        </p:txBody>
      </p:sp>
      <p:sp>
        <p:nvSpPr>
          <p:cNvPr id="35" name="Shape 196"/>
          <p:cNvSpPr/>
          <p:nvPr/>
        </p:nvSpPr>
        <p:spPr>
          <a:xfrm>
            <a:off x="7884400" y="4889137"/>
            <a:ext cx="561899" cy="399600"/>
          </a:xfrm>
          <a:prstGeom prst="rect">
            <a:avLst/>
          </a:prstGeom>
          <a:solidFill>
            <a:srgbClr val="A2C4C9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>
            <a:def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1pPr>
            <a:lvl2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2pPr>
            <a:lvl3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3pPr>
            <a:lvl4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4pPr>
            <a:lvl5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5pPr>
            <a:lvl6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6pPr>
            <a:lvl7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7pPr>
            <a:lvl8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8pPr>
            <a:lvl9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9pPr>
          </a:lstStyle>
          <a:p>
            <a:endParaRPr/>
          </a:p>
        </p:txBody>
      </p:sp>
      <p:sp>
        <p:nvSpPr>
          <p:cNvPr id="36" name="Shape 197"/>
          <p:cNvSpPr/>
          <p:nvPr/>
        </p:nvSpPr>
        <p:spPr>
          <a:xfrm>
            <a:off x="8636875" y="4889137"/>
            <a:ext cx="561899" cy="661500"/>
          </a:xfrm>
          <a:prstGeom prst="rect">
            <a:avLst/>
          </a:prstGeom>
          <a:solidFill>
            <a:srgbClr val="A2C4C9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>
            <a:def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1pPr>
            <a:lvl2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2pPr>
            <a:lvl3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3pPr>
            <a:lvl4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4pPr>
            <a:lvl5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5pPr>
            <a:lvl6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6pPr>
            <a:lvl7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7pPr>
            <a:lvl8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8pPr>
            <a:lvl9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9pPr>
          </a:lstStyle>
          <a:p>
            <a:endParaRPr/>
          </a:p>
        </p:txBody>
      </p:sp>
      <p:sp>
        <p:nvSpPr>
          <p:cNvPr id="37" name="Shape 198"/>
          <p:cNvSpPr/>
          <p:nvPr/>
        </p:nvSpPr>
        <p:spPr>
          <a:xfrm>
            <a:off x="7131925" y="5884512"/>
            <a:ext cx="561899" cy="475800"/>
          </a:xfrm>
          <a:prstGeom prst="rect">
            <a:avLst/>
          </a:prstGeom>
          <a:solidFill>
            <a:srgbClr val="A2C4C9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>
            <a:def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1pPr>
            <a:lvl2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2pPr>
            <a:lvl3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3pPr>
            <a:lvl4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4pPr>
            <a:lvl5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5pPr>
            <a:lvl6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6pPr>
            <a:lvl7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7pPr>
            <a:lvl8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8pPr>
            <a:lvl9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9pPr>
          </a:lstStyle>
          <a:p>
            <a:endParaRPr/>
          </a:p>
        </p:txBody>
      </p:sp>
      <p:sp>
        <p:nvSpPr>
          <p:cNvPr id="38" name="Shape 199"/>
          <p:cNvSpPr/>
          <p:nvPr/>
        </p:nvSpPr>
        <p:spPr>
          <a:xfrm>
            <a:off x="7884400" y="5436862"/>
            <a:ext cx="561899" cy="923399"/>
          </a:xfrm>
          <a:prstGeom prst="rect">
            <a:avLst/>
          </a:prstGeom>
          <a:solidFill>
            <a:srgbClr val="A2C4C9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>
            <a:def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1pPr>
            <a:lvl2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2pPr>
            <a:lvl3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3pPr>
            <a:lvl4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4pPr>
            <a:lvl5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5pPr>
            <a:lvl6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6pPr>
            <a:lvl7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7pPr>
            <a:lvl8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8pPr>
            <a:lvl9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9pPr>
          </a:lstStyle>
          <a:p>
            <a:endParaRPr/>
          </a:p>
        </p:txBody>
      </p:sp>
      <p:sp>
        <p:nvSpPr>
          <p:cNvPr id="39" name="Shape 200"/>
          <p:cNvSpPr/>
          <p:nvPr/>
        </p:nvSpPr>
        <p:spPr>
          <a:xfrm>
            <a:off x="8636875" y="5698762"/>
            <a:ext cx="561899" cy="661500"/>
          </a:xfrm>
          <a:prstGeom prst="rect">
            <a:avLst/>
          </a:prstGeom>
          <a:solidFill>
            <a:srgbClr val="A2C4C9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>
            <a:def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1pPr>
            <a:lvl2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2pPr>
            <a:lvl3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3pPr>
            <a:lvl4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4pPr>
            <a:lvl5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5pPr>
            <a:lvl6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6pPr>
            <a:lvl7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7pPr>
            <a:lvl8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8pPr>
            <a:lvl9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9pPr>
          </a:lstStyle>
          <a:p>
            <a:endParaRPr/>
          </a:p>
        </p:txBody>
      </p:sp>
      <p:sp>
        <p:nvSpPr>
          <p:cNvPr id="40" name="Shape 201"/>
          <p:cNvSpPr/>
          <p:nvPr/>
        </p:nvSpPr>
        <p:spPr>
          <a:xfrm>
            <a:off x="7022425" y="4421812"/>
            <a:ext cx="2190599" cy="319199"/>
          </a:xfrm>
          <a:prstGeom prst="roundRect">
            <a:avLst>
              <a:gd name="adj" fmla="val 22638"/>
            </a:avLst>
          </a:prstGeom>
          <a:solidFill>
            <a:srgbClr val="FCE5CD"/>
          </a:solidFill>
          <a:ln w="19050" cap="flat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>
            <a:def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1pPr>
            <a:lvl2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2pPr>
            <a:lvl3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3pPr>
            <a:lvl4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4pPr>
            <a:lvl5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5pPr>
            <a:lvl6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6pPr>
            <a:lvl7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7pPr>
            <a:lvl8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8pPr>
            <a:lvl9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9pPr>
          </a:lstStyle>
          <a:p>
            <a:pPr lvl="0" rtl="0">
              <a:buNone/>
            </a:pPr>
            <a:r>
              <a:rPr lang="en" u="sng" dirty="0" smtClean="0"/>
              <a:t>RDBMS</a:t>
            </a:r>
            <a:endParaRPr lang="en" u="sng" dirty="0"/>
          </a:p>
        </p:txBody>
      </p:sp>
      <p:sp>
        <p:nvSpPr>
          <p:cNvPr id="41" name="Shape 203"/>
          <p:cNvSpPr/>
          <p:nvPr/>
        </p:nvSpPr>
        <p:spPr>
          <a:xfrm>
            <a:off x="6877877" y="3354250"/>
            <a:ext cx="2483659" cy="475602"/>
          </a:xfrm>
          <a:prstGeom prst="roundRect">
            <a:avLst>
              <a:gd name="adj" fmla="val 22638"/>
            </a:avLst>
          </a:prstGeom>
          <a:solidFill>
            <a:srgbClr val="FCE5CD"/>
          </a:solidFill>
          <a:ln w="19050" cap="flat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>
            <a:def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1pPr>
            <a:lvl2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2pPr>
            <a:lvl3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3pPr>
            <a:lvl4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4pPr>
            <a:lvl5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5pPr>
            <a:lvl6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6pPr>
            <a:lvl7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7pPr>
            <a:lvl8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8pPr>
            <a:lvl9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9pPr>
          </a:lstStyle>
          <a:p>
            <a:pPr lvl="0" rtl="0">
              <a:buNone/>
            </a:pPr>
            <a:r>
              <a:rPr lang="en" dirty="0" smtClean="0"/>
              <a:t>Object-Relational Mapping </a:t>
            </a:r>
          </a:p>
          <a:p>
            <a:pPr lvl="0" rtl="0">
              <a:buNone/>
            </a:pPr>
            <a:r>
              <a:rPr lang="en" dirty="0" smtClean="0"/>
              <a:t>(ORM: Hibernate)</a:t>
            </a:r>
            <a:endParaRPr lang="en" dirty="0"/>
          </a:p>
        </p:txBody>
      </p:sp>
      <p:sp>
        <p:nvSpPr>
          <p:cNvPr id="42" name="Shape 204"/>
          <p:cNvSpPr/>
          <p:nvPr/>
        </p:nvSpPr>
        <p:spPr>
          <a:xfrm>
            <a:off x="2343300" y="4401012"/>
            <a:ext cx="2705100" cy="2288399"/>
          </a:xfrm>
          <a:prstGeom prst="roundRect">
            <a:avLst>
              <a:gd name="adj" fmla="val 6131"/>
            </a:avLst>
          </a:prstGeom>
          <a:solidFill>
            <a:srgbClr val="FFFFFF"/>
          </a:solidFill>
          <a:ln w="19050" cap="flat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>
            <a:def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1pPr>
            <a:lvl2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2pPr>
            <a:lvl3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3pPr>
            <a:lvl4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4pPr>
            <a:lvl5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5pPr>
            <a:lvl6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6pPr>
            <a:lvl7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7pPr>
            <a:lvl8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8pPr>
            <a:lvl9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9pPr>
          </a:lstStyle>
          <a:p>
            <a:endParaRPr/>
          </a:p>
        </p:txBody>
      </p:sp>
      <p:sp>
        <p:nvSpPr>
          <p:cNvPr id="43" name="Shape 205"/>
          <p:cNvSpPr/>
          <p:nvPr/>
        </p:nvSpPr>
        <p:spPr>
          <a:xfrm>
            <a:off x="2433700" y="5411712"/>
            <a:ext cx="561899" cy="319199"/>
          </a:xfrm>
          <a:prstGeom prst="rect">
            <a:avLst/>
          </a:prstGeom>
          <a:solidFill>
            <a:srgbClr val="A2C4C9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>
            <a:def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1pPr>
            <a:lvl2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2pPr>
            <a:lvl3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3pPr>
            <a:lvl4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4pPr>
            <a:lvl5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5pPr>
            <a:lvl6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6pPr>
            <a:lvl7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7pPr>
            <a:lvl8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8pPr>
            <a:lvl9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9pPr>
          </a:lstStyle>
          <a:p>
            <a:endParaRPr/>
          </a:p>
        </p:txBody>
      </p:sp>
      <p:sp>
        <p:nvSpPr>
          <p:cNvPr id="44" name="Shape 206"/>
          <p:cNvSpPr/>
          <p:nvPr/>
        </p:nvSpPr>
        <p:spPr>
          <a:xfrm>
            <a:off x="3091000" y="4973562"/>
            <a:ext cx="561899" cy="319199"/>
          </a:xfrm>
          <a:prstGeom prst="rect">
            <a:avLst/>
          </a:prstGeom>
          <a:solidFill>
            <a:srgbClr val="A2C4C9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>
            <a:def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1pPr>
            <a:lvl2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2pPr>
            <a:lvl3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3pPr>
            <a:lvl4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4pPr>
            <a:lvl5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5pPr>
            <a:lvl6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6pPr>
            <a:lvl7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7pPr>
            <a:lvl8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8pPr>
            <a:lvl9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9pPr>
          </a:lstStyle>
          <a:p>
            <a:endParaRPr/>
          </a:p>
        </p:txBody>
      </p:sp>
      <p:sp>
        <p:nvSpPr>
          <p:cNvPr id="45" name="Shape 207"/>
          <p:cNvSpPr/>
          <p:nvPr/>
        </p:nvSpPr>
        <p:spPr>
          <a:xfrm>
            <a:off x="3091000" y="5849862"/>
            <a:ext cx="561899" cy="319199"/>
          </a:xfrm>
          <a:prstGeom prst="rect">
            <a:avLst/>
          </a:prstGeom>
          <a:solidFill>
            <a:srgbClr val="A2C4C9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>
            <a:def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1pPr>
            <a:lvl2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2pPr>
            <a:lvl3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3pPr>
            <a:lvl4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4pPr>
            <a:lvl5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5pPr>
            <a:lvl6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6pPr>
            <a:lvl7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7pPr>
            <a:lvl8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8pPr>
            <a:lvl9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9pPr>
          </a:lstStyle>
          <a:p>
            <a:endParaRPr/>
          </a:p>
        </p:txBody>
      </p:sp>
      <p:sp>
        <p:nvSpPr>
          <p:cNvPr id="46" name="Shape 208"/>
          <p:cNvSpPr/>
          <p:nvPr/>
        </p:nvSpPr>
        <p:spPr>
          <a:xfrm>
            <a:off x="3748300" y="4754474"/>
            <a:ext cx="561899" cy="319199"/>
          </a:xfrm>
          <a:prstGeom prst="rect">
            <a:avLst/>
          </a:prstGeom>
          <a:solidFill>
            <a:srgbClr val="A2C4C9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>
            <a:def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1pPr>
            <a:lvl2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2pPr>
            <a:lvl3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3pPr>
            <a:lvl4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4pPr>
            <a:lvl5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5pPr>
            <a:lvl6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6pPr>
            <a:lvl7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7pPr>
            <a:lvl8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8pPr>
            <a:lvl9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9pPr>
          </a:lstStyle>
          <a:p>
            <a:endParaRPr/>
          </a:p>
        </p:txBody>
      </p:sp>
      <p:sp>
        <p:nvSpPr>
          <p:cNvPr id="47" name="Shape 209"/>
          <p:cNvSpPr/>
          <p:nvPr/>
        </p:nvSpPr>
        <p:spPr>
          <a:xfrm>
            <a:off x="3748300" y="5192624"/>
            <a:ext cx="561899" cy="319199"/>
          </a:xfrm>
          <a:prstGeom prst="rect">
            <a:avLst/>
          </a:prstGeom>
          <a:solidFill>
            <a:srgbClr val="A2C4C9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>
            <a:def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1pPr>
            <a:lvl2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2pPr>
            <a:lvl3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3pPr>
            <a:lvl4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4pPr>
            <a:lvl5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5pPr>
            <a:lvl6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6pPr>
            <a:lvl7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7pPr>
            <a:lvl8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8pPr>
            <a:lvl9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9pPr>
          </a:lstStyle>
          <a:p>
            <a:endParaRPr/>
          </a:p>
        </p:txBody>
      </p:sp>
      <p:sp>
        <p:nvSpPr>
          <p:cNvPr id="48" name="Shape 210"/>
          <p:cNvSpPr/>
          <p:nvPr/>
        </p:nvSpPr>
        <p:spPr>
          <a:xfrm>
            <a:off x="3748300" y="6033387"/>
            <a:ext cx="561899" cy="319199"/>
          </a:xfrm>
          <a:prstGeom prst="rect">
            <a:avLst/>
          </a:prstGeom>
          <a:solidFill>
            <a:srgbClr val="A2C4C9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>
            <a:def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1pPr>
            <a:lvl2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2pPr>
            <a:lvl3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3pPr>
            <a:lvl4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4pPr>
            <a:lvl5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5pPr>
            <a:lvl6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6pPr>
            <a:lvl7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7pPr>
            <a:lvl8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8pPr>
            <a:lvl9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9pPr>
          </a:lstStyle>
          <a:p>
            <a:endParaRPr/>
          </a:p>
        </p:txBody>
      </p:sp>
      <p:sp>
        <p:nvSpPr>
          <p:cNvPr id="49" name="Shape 211"/>
          <p:cNvSpPr/>
          <p:nvPr/>
        </p:nvSpPr>
        <p:spPr>
          <a:xfrm>
            <a:off x="3748300" y="5630774"/>
            <a:ext cx="561899" cy="319199"/>
          </a:xfrm>
          <a:prstGeom prst="rect">
            <a:avLst/>
          </a:prstGeom>
          <a:solidFill>
            <a:srgbClr val="A2C4C9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>
            <a:def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1pPr>
            <a:lvl2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2pPr>
            <a:lvl3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3pPr>
            <a:lvl4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4pPr>
            <a:lvl5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5pPr>
            <a:lvl6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6pPr>
            <a:lvl7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7pPr>
            <a:lvl8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8pPr>
            <a:lvl9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9pPr>
          </a:lstStyle>
          <a:p>
            <a:endParaRPr/>
          </a:p>
        </p:txBody>
      </p:sp>
      <p:sp>
        <p:nvSpPr>
          <p:cNvPr id="50" name="Shape 212"/>
          <p:cNvSpPr/>
          <p:nvPr/>
        </p:nvSpPr>
        <p:spPr>
          <a:xfrm>
            <a:off x="4405600" y="4954162"/>
            <a:ext cx="561899" cy="319199"/>
          </a:xfrm>
          <a:prstGeom prst="rect">
            <a:avLst/>
          </a:prstGeom>
          <a:solidFill>
            <a:srgbClr val="A2C4C9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>
            <a:def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1pPr>
            <a:lvl2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2pPr>
            <a:lvl3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3pPr>
            <a:lvl4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4pPr>
            <a:lvl5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5pPr>
            <a:lvl6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6pPr>
            <a:lvl7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7pPr>
            <a:lvl8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8pPr>
            <a:lvl9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9pPr>
          </a:lstStyle>
          <a:p>
            <a:endParaRPr/>
          </a:p>
        </p:txBody>
      </p:sp>
      <p:sp>
        <p:nvSpPr>
          <p:cNvPr id="51" name="Shape 213"/>
          <p:cNvSpPr/>
          <p:nvPr/>
        </p:nvSpPr>
        <p:spPr>
          <a:xfrm>
            <a:off x="4405600" y="5819262"/>
            <a:ext cx="561899" cy="319199"/>
          </a:xfrm>
          <a:prstGeom prst="rect">
            <a:avLst/>
          </a:prstGeom>
          <a:solidFill>
            <a:srgbClr val="A2C4C9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>
            <a:def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1pPr>
            <a:lvl2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2pPr>
            <a:lvl3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3pPr>
            <a:lvl4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4pPr>
            <a:lvl5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5pPr>
            <a:lvl6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6pPr>
            <a:lvl7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7pPr>
            <a:lvl8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8pPr>
            <a:lvl9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9pPr>
          </a:lstStyle>
          <a:p>
            <a:endParaRPr/>
          </a:p>
        </p:txBody>
      </p:sp>
      <p:sp>
        <p:nvSpPr>
          <p:cNvPr id="52" name="Shape 214"/>
          <p:cNvSpPr/>
          <p:nvPr/>
        </p:nvSpPr>
        <p:spPr>
          <a:xfrm>
            <a:off x="4420000" y="6247537"/>
            <a:ext cx="561899" cy="319199"/>
          </a:xfrm>
          <a:prstGeom prst="rect">
            <a:avLst/>
          </a:prstGeom>
          <a:solidFill>
            <a:srgbClr val="A2C4C9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>
            <a:def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1pPr>
            <a:lvl2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2pPr>
            <a:lvl3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3pPr>
            <a:lvl4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4pPr>
            <a:lvl5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5pPr>
            <a:lvl6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6pPr>
            <a:lvl7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7pPr>
            <a:lvl8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8pPr>
            <a:lvl9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9pPr>
          </a:lstStyle>
          <a:p>
            <a:endParaRPr/>
          </a:p>
        </p:txBody>
      </p:sp>
      <p:sp>
        <p:nvSpPr>
          <p:cNvPr id="53" name="Shape 215"/>
          <p:cNvSpPr/>
          <p:nvPr/>
        </p:nvSpPr>
        <p:spPr>
          <a:xfrm>
            <a:off x="2433700" y="4246924"/>
            <a:ext cx="2190599" cy="319199"/>
          </a:xfrm>
          <a:prstGeom prst="roundRect">
            <a:avLst>
              <a:gd name="adj" fmla="val 22638"/>
            </a:avLst>
          </a:prstGeom>
          <a:solidFill>
            <a:srgbClr val="FCE5CD"/>
          </a:solidFill>
          <a:ln w="19050" cap="flat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>
            <a:def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1pPr>
            <a:lvl2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2pPr>
            <a:lvl3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3pPr>
            <a:lvl4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4pPr>
            <a:lvl5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5pPr>
            <a:lvl6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6pPr>
            <a:lvl7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7pPr>
            <a:lvl8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8pPr>
            <a:lvl9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9pPr>
          </a:lstStyle>
          <a:p>
            <a:pPr lvl="0" rtl="0">
              <a:buNone/>
            </a:pPr>
            <a:r>
              <a:rPr lang="en" dirty="0" smtClean="0"/>
              <a:t>XML / DDI</a:t>
            </a:r>
            <a:endParaRPr lang="en" dirty="0"/>
          </a:p>
        </p:txBody>
      </p:sp>
      <p:sp>
        <p:nvSpPr>
          <p:cNvPr id="54" name="Shape 216"/>
          <p:cNvSpPr/>
          <p:nvPr/>
        </p:nvSpPr>
        <p:spPr>
          <a:xfrm>
            <a:off x="2192419" y="3353999"/>
            <a:ext cx="2683700" cy="446873"/>
          </a:xfrm>
          <a:prstGeom prst="roundRect">
            <a:avLst>
              <a:gd name="adj" fmla="val 22638"/>
            </a:avLst>
          </a:prstGeom>
          <a:solidFill>
            <a:srgbClr val="FCE5CD"/>
          </a:solidFill>
          <a:ln w="19050" cap="flat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>
            <a:def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1pPr>
            <a:lvl2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2pPr>
            <a:lvl3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3pPr>
            <a:lvl4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4pPr>
            <a:lvl5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5pPr>
            <a:lvl6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6pPr>
            <a:lvl7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7pPr>
            <a:lvl8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8pPr>
            <a:lvl9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9pPr>
          </a:lstStyle>
          <a:p>
            <a:pPr lvl="0" rtl="0">
              <a:buNone/>
            </a:pPr>
            <a:r>
              <a:rPr lang="en" dirty="0" smtClean="0"/>
              <a:t>Object-to-XML Mapping </a:t>
            </a:r>
          </a:p>
          <a:p>
            <a:pPr lvl="0" rtl="0">
              <a:buNone/>
            </a:pPr>
            <a:r>
              <a:rPr lang="en" dirty="0" smtClean="0"/>
              <a:t>(OXM: JAXB</a:t>
            </a:r>
            <a:r>
              <a:rPr lang="en" dirty="0"/>
              <a:t>)</a:t>
            </a:r>
          </a:p>
        </p:txBody>
      </p:sp>
      <p:sp>
        <p:nvSpPr>
          <p:cNvPr id="55" name="Shape 217"/>
          <p:cNvSpPr/>
          <p:nvPr/>
        </p:nvSpPr>
        <p:spPr>
          <a:xfrm>
            <a:off x="4567300" y="2045112"/>
            <a:ext cx="2462099" cy="581100"/>
          </a:xfrm>
          <a:prstGeom prst="roundRect">
            <a:avLst>
              <a:gd name="adj" fmla="val 22638"/>
            </a:avLst>
          </a:prstGeom>
          <a:solidFill>
            <a:srgbClr val="FFF2CC"/>
          </a:solidFill>
          <a:ln w="19050" cap="flat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>
            <a:def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1pPr>
            <a:lvl2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2pPr>
            <a:lvl3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3pPr>
            <a:lvl4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4pPr>
            <a:lvl5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5pPr>
            <a:lvl6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6pPr>
            <a:lvl7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7pPr>
            <a:lvl8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8pPr>
            <a:lvl9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9pPr>
          </a:lstStyle>
          <a:p>
            <a:pPr lvl="0" rtl="0">
              <a:buNone/>
            </a:pPr>
            <a:r>
              <a:rPr lang="en"/>
              <a:t>IMPORTER / EXPORTER</a:t>
            </a:r>
          </a:p>
        </p:txBody>
      </p:sp>
      <p:cxnSp>
        <p:nvCxnSpPr>
          <p:cNvPr id="56" name="Shape 218"/>
          <p:cNvCxnSpPr>
            <a:stCxn id="53" idx="0"/>
            <a:endCxn id="54" idx="2"/>
          </p:cNvCxnSpPr>
          <p:nvPr/>
        </p:nvCxnSpPr>
        <p:spPr>
          <a:xfrm flipV="1">
            <a:off x="3529000" y="3800872"/>
            <a:ext cx="5269" cy="446052"/>
          </a:xfrm>
          <a:prstGeom prst="straightConnector1">
            <a:avLst/>
          </a:prstGeom>
          <a:noFill/>
          <a:ln w="38100" cap="flat">
            <a:solidFill>
              <a:schemeClr val="dk2"/>
            </a:solidFill>
            <a:prstDash val="solid"/>
            <a:round/>
            <a:headEnd type="stealth" w="lg" len="lg"/>
            <a:tailEnd type="stealth" w="lg" len="lg"/>
          </a:ln>
        </p:spPr>
      </p:cxnSp>
      <p:cxnSp>
        <p:nvCxnSpPr>
          <p:cNvPr id="57" name="Shape 219"/>
          <p:cNvCxnSpPr>
            <a:stCxn id="40" idx="0"/>
            <a:endCxn id="41" idx="2"/>
          </p:cNvCxnSpPr>
          <p:nvPr/>
        </p:nvCxnSpPr>
        <p:spPr>
          <a:xfrm flipV="1">
            <a:off x="8117725" y="3829852"/>
            <a:ext cx="1982" cy="591960"/>
          </a:xfrm>
          <a:prstGeom prst="straightConnector1">
            <a:avLst/>
          </a:prstGeom>
          <a:noFill/>
          <a:ln w="38100" cap="flat">
            <a:solidFill>
              <a:schemeClr val="dk2"/>
            </a:solidFill>
            <a:prstDash val="solid"/>
            <a:round/>
            <a:headEnd type="stealth" w="lg" len="lg"/>
            <a:tailEnd type="stealth" w="lg" len="lg"/>
          </a:ln>
        </p:spPr>
      </p:cxnSp>
      <p:cxnSp>
        <p:nvCxnSpPr>
          <p:cNvPr id="58" name="Shape 220"/>
          <p:cNvCxnSpPr>
            <a:stCxn id="54" idx="0"/>
            <a:endCxn id="55" idx="1"/>
          </p:cNvCxnSpPr>
          <p:nvPr/>
        </p:nvCxnSpPr>
        <p:spPr>
          <a:xfrm flipV="1">
            <a:off x="3534269" y="2335662"/>
            <a:ext cx="1033031" cy="1018337"/>
          </a:xfrm>
          <a:prstGeom prst="straightConnector1">
            <a:avLst/>
          </a:prstGeom>
          <a:noFill/>
          <a:ln w="38100" cap="flat">
            <a:solidFill>
              <a:schemeClr val="dk2"/>
            </a:solidFill>
            <a:prstDash val="solid"/>
            <a:round/>
            <a:headEnd type="stealth" w="lg" len="lg"/>
            <a:tailEnd type="stealth" w="lg" len="lg"/>
          </a:ln>
        </p:spPr>
      </p:cxnSp>
      <p:cxnSp>
        <p:nvCxnSpPr>
          <p:cNvPr id="59" name="Shape 221"/>
          <p:cNvCxnSpPr>
            <a:stCxn id="41" idx="0"/>
            <a:endCxn id="55" idx="3"/>
          </p:cNvCxnSpPr>
          <p:nvPr/>
        </p:nvCxnSpPr>
        <p:spPr>
          <a:xfrm flipH="1" flipV="1">
            <a:off x="7029399" y="2335662"/>
            <a:ext cx="1090308" cy="1018588"/>
          </a:xfrm>
          <a:prstGeom prst="straightConnector1">
            <a:avLst/>
          </a:prstGeom>
          <a:noFill/>
          <a:ln w="38100" cap="flat">
            <a:solidFill>
              <a:schemeClr val="dk2"/>
            </a:solidFill>
            <a:prstDash val="solid"/>
            <a:round/>
            <a:headEnd type="stealth" w="lg" len="lg"/>
            <a:tailEnd type="stealth" w="lg" len="lg"/>
          </a:ln>
        </p:spPr>
      </p:cxnSp>
    </p:spTree>
    <p:extLst>
      <p:ext uri="{BB962C8B-B14F-4D97-AF65-F5344CB8AC3E}">
        <p14:creationId xmlns:p14="http://schemas.microsoft.com/office/powerpoint/2010/main" val="25646979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/>
          <p:nvPr/>
        </p:nvPicPr>
        <p:blipFill>
          <a:blip r:embed="rId2"/>
          <a:stretch>
            <a:fillRect/>
          </a:stretch>
        </p:blipFill>
        <p:spPr>
          <a:xfrm>
            <a:off x="5353691" y="1451975"/>
            <a:ext cx="6490440" cy="38682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Quality Assurance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87081"/>
            <a:ext cx="10515600" cy="4787210"/>
          </a:xfrm>
        </p:spPr>
        <p:txBody>
          <a:bodyPr>
            <a:normAutofit fontScale="92500" lnSpcReduction="10000"/>
          </a:bodyPr>
          <a:lstStyle/>
          <a:p>
            <a:pPr marL="457200" indent="-457200"/>
            <a:r>
              <a:rPr lang="en-US" dirty="0" smtClean="0">
                <a:solidFill>
                  <a:srgbClr val="000000"/>
                </a:solidFill>
              </a:rPr>
              <a:t>Tests</a:t>
            </a:r>
          </a:p>
          <a:p>
            <a:pPr marL="914400" lvl="1" indent="-457200"/>
            <a:r>
              <a:rPr lang="en-US" dirty="0" smtClean="0">
                <a:solidFill>
                  <a:srgbClr val="000000"/>
                </a:solidFill>
              </a:rPr>
              <a:t>Unit Tests (</a:t>
            </a:r>
            <a:r>
              <a:rPr lang="en-US" dirty="0" err="1" smtClean="0">
                <a:solidFill>
                  <a:srgbClr val="000000"/>
                </a:solidFill>
              </a:rPr>
              <a:t>JUnit</a:t>
            </a:r>
            <a:r>
              <a:rPr lang="en-US" dirty="0" smtClean="0">
                <a:solidFill>
                  <a:srgbClr val="000000"/>
                </a:solidFill>
              </a:rPr>
              <a:t>)</a:t>
            </a:r>
          </a:p>
          <a:p>
            <a:pPr marL="914400" lvl="1" indent="-457200"/>
            <a:r>
              <a:rPr lang="en-US" dirty="0" smtClean="0">
                <a:solidFill>
                  <a:srgbClr val="000000"/>
                </a:solidFill>
              </a:rPr>
              <a:t>Integration Tests </a:t>
            </a:r>
          </a:p>
          <a:p>
            <a:pPr marL="1371600" lvl="2" indent="-457200"/>
            <a:r>
              <a:rPr lang="en-US" dirty="0" smtClean="0">
                <a:solidFill>
                  <a:srgbClr val="000000"/>
                </a:solidFill>
              </a:rPr>
              <a:t>Spring Testing Framework</a:t>
            </a:r>
          </a:p>
          <a:p>
            <a:pPr marL="1371600" lvl="2" indent="-457200"/>
            <a:r>
              <a:rPr lang="en-US" dirty="0" smtClean="0">
                <a:solidFill>
                  <a:srgbClr val="000000"/>
                </a:solidFill>
              </a:rPr>
              <a:t>Selenium</a:t>
            </a:r>
          </a:p>
          <a:p>
            <a:pPr marL="457200" indent="-457200"/>
            <a:r>
              <a:rPr lang="en-US" dirty="0" smtClean="0">
                <a:solidFill>
                  <a:srgbClr val="000000"/>
                </a:solidFill>
              </a:rPr>
              <a:t>Build manager</a:t>
            </a:r>
          </a:p>
          <a:p>
            <a:pPr marL="914400" lvl="1" indent="-457200"/>
            <a:r>
              <a:rPr lang="en-US" dirty="0">
                <a:solidFill>
                  <a:srgbClr val="000000"/>
                </a:solidFill>
              </a:rPr>
              <a:t>M</a:t>
            </a:r>
            <a:r>
              <a:rPr lang="en-US" dirty="0" smtClean="0">
                <a:solidFill>
                  <a:srgbClr val="000000"/>
                </a:solidFill>
              </a:rPr>
              <a:t>aven</a:t>
            </a:r>
            <a:endParaRPr lang="en-US" dirty="0" smtClean="0"/>
          </a:p>
          <a:p>
            <a:pPr marL="457200" indent="-457200"/>
            <a:r>
              <a:rPr lang="en-US" dirty="0">
                <a:solidFill>
                  <a:srgbClr val="000000"/>
                </a:solidFill>
              </a:rPr>
              <a:t>Continuous Build System </a:t>
            </a:r>
            <a:endParaRPr lang="en-US" dirty="0" smtClean="0">
              <a:solidFill>
                <a:srgbClr val="000000"/>
              </a:solidFill>
            </a:endParaRPr>
          </a:p>
          <a:p>
            <a:pPr marL="914400" lvl="1" indent="-457200"/>
            <a:r>
              <a:rPr lang="en-US" dirty="0" smtClean="0">
                <a:solidFill>
                  <a:srgbClr val="000000"/>
                </a:solidFill>
              </a:rPr>
              <a:t>Jenkins</a:t>
            </a:r>
            <a:endParaRPr lang="en-US" dirty="0" smtClean="0"/>
          </a:p>
          <a:p>
            <a:pPr marL="457200" indent="-457200"/>
            <a:r>
              <a:rPr lang="en-US" dirty="0" smtClean="0">
                <a:solidFill>
                  <a:srgbClr val="000000"/>
                </a:solidFill>
              </a:rPr>
              <a:t>Version-Control</a:t>
            </a:r>
          </a:p>
          <a:p>
            <a:pPr lvl="1"/>
            <a:r>
              <a:rPr lang="en-US" dirty="0" smtClean="0">
                <a:solidFill>
                  <a:srgbClr val="000000"/>
                </a:solidFill>
              </a:rPr>
              <a:t>SVN private </a:t>
            </a:r>
            <a:r>
              <a:rPr lang="en-US" dirty="0">
                <a:solidFill>
                  <a:srgbClr val="000000"/>
                </a:solidFill>
              </a:rPr>
              <a:t>repository </a:t>
            </a:r>
            <a:endParaRPr lang="en-US" dirty="0" smtClean="0">
              <a:solidFill>
                <a:srgbClr val="000000"/>
              </a:solidFill>
            </a:endParaRPr>
          </a:p>
          <a:p>
            <a:pPr marL="457200" lvl="1" indent="0">
              <a:buNone/>
            </a:pPr>
            <a:r>
              <a:rPr lang="en-US" dirty="0">
                <a:solidFill>
                  <a:srgbClr val="000000"/>
                </a:solidFill>
              </a:rPr>
              <a:t>	(</a:t>
            </a:r>
            <a:r>
              <a:rPr lang="en-US" dirty="0" smtClean="0">
                <a:solidFill>
                  <a:srgbClr val="000000"/>
                </a:solidFill>
              </a:rPr>
              <a:t>for </a:t>
            </a:r>
            <a:r>
              <a:rPr lang="en-US" dirty="0">
                <a:solidFill>
                  <a:srgbClr val="000000"/>
                </a:solidFill>
              </a:rPr>
              <a:t>the Archive’s </a:t>
            </a:r>
            <a:r>
              <a:rPr lang="en-US" dirty="0" smtClean="0">
                <a:solidFill>
                  <a:srgbClr val="000000"/>
                </a:solidFill>
              </a:rPr>
              <a:t>data)</a:t>
            </a:r>
          </a:p>
          <a:p>
            <a:pPr lvl="1"/>
            <a:r>
              <a:rPr lang="en-US" dirty="0" err="1" smtClean="0">
                <a:solidFill>
                  <a:srgbClr val="000000"/>
                </a:solidFill>
              </a:rPr>
              <a:t>Github</a:t>
            </a:r>
            <a:r>
              <a:rPr lang="en-US" dirty="0" smtClean="0">
                <a:solidFill>
                  <a:srgbClr val="000000"/>
                </a:solidFill>
              </a:rPr>
              <a:t> for code : </a:t>
            </a:r>
            <a:r>
              <a:rPr lang="en-US" dirty="0" smtClean="0">
                <a:solidFill>
                  <a:srgbClr val="000000"/>
                </a:solidFill>
                <a:hlinkClick r:id="rId3"/>
              </a:rPr>
              <a:t>https://github.com/cosminrentea/roda</a:t>
            </a:r>
            <a:r>
              <a:rPr lang="en-US" dirty="0" smtClean="0">
                <a:solidFill>
                  <a:srgbClr val="000000"/>
                </a:solidFill>
              </a:rPr>
              <a:t> </a:t>
            </a:r>
          </a:p>
          <a:p>
            <a:pPr marL="457200" lvl="1" indent="0">
              <a:buNone/>
            </a:pPr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9344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Hardware used by the software platform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100000"/>
              </a:lnSpc>
              <a:buSzPct val="45000"/>
            </a:pPr>
            <a:r>
              <a:rPr lang="en-US" dirty="0" smtClean="0"/>
              <a:t>Storage Server</a:t>
            </a:r>
          </a:p>
          <a:p>
            <a:pPr>
              <a:lnSpc>
                <a:spcPct val="100000"/>
              </a:lnSpc>
              <a:buSzPct val="45000"/>
            </a:pPr>
            <a:r>
              <a:rPr lang="en-US" dirty="0" smtClean="0"/>
              <a:t>Database Server(s)</a:t>
            </a:r>
          </a:p>
          <a:p>
            <a:pPr>
              <a:lnSpc>
                <a:spcPct val="100000"/>
              </a:lnSpc>
              <a:buSzPct val="45000"/>
            </a:pPr>
            <a:r>
              <a:rPr lang="en-US" dirty="0" smtClean="0"/>
              <a:t>Web Server</a:t>
            </a:r>
          </a:p>
          <a:p>
            <a:pPr>
              <a:lnSpc>
                <a:spcPct val="100000"/>
              </a:lnSpc>
              <a:buSzPct val="45000"/>
            </a:pPr>
            <a:r>
              <a:rPr lang="en-US" dirty="0" smtClean="0"/>
              <a:t>Email Server</a:t>
            </a:r>
          </a:p>
          <a:p>
            <a:pPr>
              <a:lnSpc>
                <a:spcPct val="100000"/>
              </a:lnSpc>
              <a:buSzPct val="45000"/>
            </a:pPr>
            <a:r>
              <a:rPr lang="en-US" b="1" dirty="0" smtClean="0"/>
              <a:t>Backup </a:t>
            </a:r>
            <a:r>
              <a:rPr lang="en-US" dirty="0" smtClean="0"/>
              <a:t>Server</a:t>
            </a:r>
          </a:p>
          <a:p>
            <a:pPr>
              <a:lnSpc>
                <a:spcPct val="100000"/>
              </a:lnSpc>
              <a:buSzPct val="45000"/>
            </a:pPr>
            <a:r>
              <a:rPr lang="en-US" b="1" dirty="0" smtClean="0"/>
              <a:t>LDAP</a:t>
            </a:r>
            <a:r>
              <a:rPr lang="en-US" dirty="0" smtClean="0"/>
              <a:t> server</a:t>
            </a:r>
          </a:p>
          <a:p>
            <a:pPr marL="0" indent="0">
              <a:lnSpc>
                <a:spcPct val="100000"/>
              </a:lnSpc>
              <a:buNone/>
            </a:pPr>
            <a:endParaRPr lang="en-US" dirty="0" smtClean="0"/>
          </a:p>
          <a:p>
            <a:pPr>
              <a:lnSpc>
                <a:spcPct val="100000"/>
              </a:lnSpc>
              <a:buSzPct val="45000"/>
            </a:pPr>
            <a:r>
              <a:rPr lang="en-US" dirty="0" smtClean="0"/>
              <a:t>Workstations, Laptops, Tablets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33847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Technologies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CustomShape 2"/>
          <p:cNvSpPr/>
          <p:nvPr/>
        </p:nvSpPr>
        <p:spPr>
          <a:xfrm>
            <a:off x="932031" y="1613880"/>
            <a:ext cx="8856000" cy="4384080"/>
          </a:xfrm>
          <a:prstGeom prst="rect">
            <a:avLst/>
          </a:prstGeom>
        </p:spPr>
      </p:sp>
      <p:pic>
        <p:nvPicPr>
          <p:cNvPr id="5" name="Picture 4"/>
          <p:cNvPicPr/>
          <p:nvPr/>
        </p:nvPicPr>
        <p:blipFill>
          <a:blip r:embed="rId2"/>
          <a:stretch>
            <a:fillRect/>
          </a:stretch>
        </p:blipFill>
        <p:spPr>
          <a:xfrm>
            <a:off x="2315151" y="3749040"/>
            <a:ext cx="2285640" cy="630720"/>
          </a:xfrm>
          <a:prstGeom prst="rect">
            <a:avLst/>
          </a:prstGeom>
        </p:spPr>
      </p:pic>
      <p:pic>
        <p:nvPicPr>
          <p:cNvPr id="6" name="Picture 5"/>
          <p:cNvPicPr/>
          <p:nvPr/>
        </p:nvPicPr>
        <p:blipFill>
          <a:blip r:embed="rId3"/>
          <a:stretch>
            <a:fillRect/>
          </a:stretch>
        </p:blipFill>
        <p:spPr>
          <a:xfrm>
            <a:off x="3686751" y="2405251"/>
            <a:ext cx="2237760" cy="789840"/>
          </a:xfrm>
          <a:prstGeom prst="rect">
            <a:avLst/>
          </a:prstGeom>
        </p:spPr>
      </p:pic>
      <p:pic>
        <p:nvPicPr>
          <p:cNvPr id="7" name="Picture 6"/>
          <p:cNvPicPr/>
          <p:nvPr/>
        </p:nvPicPr>
        <p:blipFill>
          <a:blip r:embed="rId4"/>
          <a:stretch>
            <a:fillRect/>
          </a:stretch>
        </p:blipFill>
        <p:spPr>
          <a:xfrm>
            <a:off x="2498211" y="4933709"/>
            <a:ext cx="2377080" cy="1883160"/>
          </a:xfrm>
          <a:prstGeom prst="rect">
            <a:avLst/>
          </a:prstGeom>
        </p:spPr>
      </p:pic>
      <p:pic>
        <p:nvPicPr>
          <p:cNvPr id="8" name="Picture 7"/>
          <p:cNvPicPr/>
          <p:nvPr/>
        </p:nvPicPr>
        <p:blipFill>
          <a:blip r:embed="rId5"/>
          <a:stretch>
            <a:fillRect/>
          </a:stretch>
        </p:blipFill>
        <p:spPr>
          <a:xfrm>
            <a:off x="5924511" y="1359803"/>
            <a:ext cx="1215720" cy="1215720"/>
          </a:xfrm>
          <a:prstGeom prst="rect">
            <a:avLst/>
          </a:prstGeom>
        </p:spPr>
      </p:pic>
      <p:pic>
        <p:nvPicPr>
          <p:cNvPr id="9" name="Picture 8"/>
          <p:cNvPicPr/>
          <p:nvPr/>
        </p:nvPicPr>
        <p:blipFill>
          <a:blip r:embed="rId6"/>
          <a:stretch>
            <a:fillRect/>
          </a:stretch>
        </p:blipFill>
        <p:spPr>
          <a:xfrm>
            <a:off x="947005" y="4049804"/>
            <a:ext cx="951840" cy="723240"/>
          </a:xfrm>
          <a:prstGeom prst="rect">
            <a:avLst/>
          </a:prstGeom>
        </p:spPr>
      </p:pic>
      <p:pic>
        <p:nvPicPr>
          <p:cNvPr id="10" name="Picture 9"/>
          <p:cNvPicPr/>
          <p:nvPr/>
        </p:nvPicPr>
        <p:blipFill>
          <a:blip r:embed="rId7"/>
          <a:stretch>
            <a:fillRect/>
          </a:stretch>
        </p:blipFill>
        <p:spPr>
          <a:xfrm>
            <a:off x="4917951" y="3574440"/>
            <a:ext cx="2152080" cy="1180440"/>
          </a:xfrm>
          <a:prstGeom prst="rect">
            <a:avLst/>
          </a:prstGeom>
        </p:spPr>
      </p:pic>
      <p:pic>
        <p:nvPicPr>
          <p:cNvPr id="11" name="Picture 10"/>
          <p:cNvPicPr/>
          <p:nvPr/>
        </p:nvPicPr>
        <p:blipFill>
          <a:blip r:embed="rId8"/>
          <a:stretch>
            <a:fillRect/>
          </a:stretch>
        </p:blipFill>
        <p:spPr>
          <a:xfrm>
            <a:off x="7369191" y="2668223"/>
            <a:ext cx="2923560" cy="799560"/>
          </a:xfrm>
          <a:prstGeom prst="rect">
            <a:avLst/>
          </a:prstGeom>
        </p:spPr>
      </p:pic>
      <p:pic>
        <p:nvPicPr>
          <p:cNvPr id="12" name="Picture 11"/>
          <p:cNvPicPr/>
          <p:nvPr/>
        </p:nvPicPr>
        <p:blipFill>
          <a:blip r:embed="rId9"/>
          <a:stretch>
            <a:fillRect/>
          </a:stretch>
        </p:blipFill>
        <p:spPr>
          <a:xfrm>
            <a:off x="6338511" y="5422320"/>
            <a:ext cx="1645560" cy="575640"/>
          </a:xfrm>
          <a:prstGeom prst="rect">
            <a:avLst/>
          </a:prstGeom>
        </p:spPr>
      </p:pic>
      <p:pic>
        <p:nvPicPr>
          <p:cNvPr id="13" name="Picture 12"/>
          <p:cNvPicPr/>
          <p:nvPr/>
        </p:nvPicPr>
        <p:blipFill>
          <a:blip r:embed="rId10"/>
          <a:stretch>
            <a:fillRect/>
          </a:stretch>
        </p:blipFill>
        <p:spPr>
          <a:xfrm>
            <a:off x="7089933" y="4049804"/>
            <a:ext cx="2400300" cy="714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77735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Closing Remarks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67540"/>
            <a:ext cx="10515600" cy="4769077"/>
          </a:xfrm>
        </p:spPr>
        <p:txBody>
          <a:bodyPr>
            <a:normAutofit lnSpcReduction="10000"/>
          </a:bodyPr>
          <a:lstStyle/>
          <a:p>
            <a:r>
              <a:rPr lang="en-US" dirty="0" smtClean="0"/>
              <a:t>RODA is dedicated to open-source software</a:t>
            </a:r>
          </a:p>
          <a:p>
            <a:pPr lvl="1"/>
            <a:r>
              <a:rPr lang="en-US" dirty="0" smtClean="0"/>
              <a:t>Willingness to share, test, reuse, contribute</a:t>
            </a:r>
          </a:p>
          <a:p>
            <a:pPr lvl="1"/>
            <a:r>
              <a:rPr lang="en-US" dirty="0" smtClean="0"/>
              <a:t>Modular application design</a:t>
            </a:r>
          </a:p>
          <a:p>
            <a:pPr lvl="1"/>
            <a:endParaRPr lang="en-US" dirty="0" smtClean="0"/>
          </a:p>
          <a:p>
            <a:r>
              <a:rPr lang="en-US" dirty="0" smtClean="0"/>
              <a:t>Data Model (Java) for DDI standards can be a shared asset</a:t>
            </a:r>
          </a:p>
          <a:p>
            <a:endParaRPr lang="en-US" dirty="0" smtClean="0"/>
          </a:p>
          <a:p>
            <a:r>
              <a:rPr lang="en-US" dirty="0" smtClean="0"/>
              <a:t>Many Components reusable for Social Sciences online platforms:</a:t>
            </a:r>
          </a:p>
          <a:p>
            <a:pPr lvl="1"/>
            <a:r>
              <a:rPr lang="en-US" dirty="0" smtClean="0"/>
              <a:t>CMS, DMS, Task-Scheduling, DB Versioning, Importer/Exporter</a:t>
            </a:r>
          </a:p>
          <a:p>
            <a:pPr lvl="1"/>
            <a:endParaRPr lang="en-US" dirty="0" smtClean="0"/>
          </a:p>
          <a:p>
            <a:r>
              <a:rPr lang="en-US" dirty="0" smtClean="0"/>
              <a:t>We can later share the encountered issues &amp; best practices in both software development and data migration process</a:t>
            </a:r>
          </a:p>
          <a:p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57581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/>
          <p:nvPr/>
        </p:nvPicPr>
        <p:blipFill>
          <a:blip r:embed="rId2"/>
          <a:stretch>
            <a:fillRect/>
          </a:stretch>
        </p:blipFill>
        <p:spPr>
          <a:xfrm>
            <a:off x="3243180" y="1152360"/>
            <a:ext cx="5705640" cy="5705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16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</TotalTime>
  <Words>385</Words>
  <Application>Microsoft Office PowerPoint</Application>
  <PresentationFormat>Widescreen</PresentationFormat>
  <Paragraphs>101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Calibri Light</vt:lpstr>
      <vt:lpstr>Office Theme</vt:lpstr>
      <vt:lpstr>PowerPoint Presentation</vt:lpstr>
      <vt:lpstr>RODA's Open-Source  Web Platform for DDI</vt:lpstr>
      <vt:lpstr>Data &amp; Metadata</vt:lpstr>
      <vt:lpstr>Software Solution</vt:lpstr>
      <vt:lpstr>Software Solution</vt:lpstr>
      <vt:lpstr>UML Component Diagram</vt:lpstr>
      <vt:lpstr>Spring Framework</vt:lpstr>
      <vt:lpstr>Database</vt:lpstr>
      <vt:lpstr>Components</vt:lpstr>
      <vt:lpstr>Components</vt:lpstr>
      <vt:lpstr>Quality Assurance</vt:lpstr>
      <vt:lpstr>Hardware used by the software platform</vt:lpstr>
      <vt:lpstr>Technologies</vt:lpstr>
      <vt:lpstr>Closing Remarks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geocris</dc:creator>
  <cp:lastModifiedBy>geocris</cp:lastModifiedBy>
  <cp:revision>32</cp:revision>
  <dcterms:created xsi:type="dcterms:W3CDTF">2013-12-03T08:55:39Z</dcterms:created>
  <dcterms:modified xsi:type="dcterms:W3CDTF">2013-12-03T11:42:32Z</dcterms:modified>
</cp:coreProperties>
</file>