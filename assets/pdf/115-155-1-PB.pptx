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5.xml" ContentType="application/vnd.openxmlformats-officedocument.theme+xml"/>
  <Override PartName="/ppt/slideLayouts/slideLayout11.xml" ContentType="application/vnd.openxmlformats-officedocument.presentationml.slideLayout+xml"/>
  <Override PartName="/ppt/theme/theme6.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7.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8.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9.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0.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63" r:id="rId2"/>
    <p:sldMasterId id="2147483667" r:id="rId3"/>
    <p:sldMasterId id="2147483671" r:id="rId4"/>
    <p:sldMasterId id="2147483675" r:id="rId5"/>
    <p:sldMasterId id="2147483679" r:id="rId6"/>
    <p:sldMasterId id="2147483683" r:id="rId7"/>
    <p:sldMasterId id="2147483690" r:id="rId8"/>
    <p:sldMasterId id="2147483694" r:id="rId9"/>
    <p:sldMasterId id="2147483699" r:id="rId10"/>
    <p:sldMasterId id="2147483704" r:id="rId11"/>
  </p:sldMasterIdLst>
  <p:notesMasterIdLst>
    <p:notesMasterId r:id="rId36"/>
  </p:notesMasterIdLst>
  <p:handoutMasterIdLst>
    <p:handoutMasterId r:id="rId37"/>
  </p:handoutMasterIdLst>
  <p:sldIdLst>
    <p:sldId id="280" r:id="rId12"/>
    <p:sldId id="347" r:id="rId13"/>
    <p:sldId id="348" r:id="rId14"/>
    <p:sldId id="365" r:id="rId15"/>
    <p:sldId id="370" r:id="rId16"/>
    <p:sldId id="369" r:id="rId17"/>
    <p:sldId id="372" r:id="rId18"/>
    <p:sldId id="374" r:id="rId19"/>
    <p:sldId id="375" r:id="rId20"/>
    <p:sldId id="355" r:id="rId21"/>
    <p:sldId id="356" r:id="rId22"/>
    <p:sldId id="357" r:id="rId23"/>
    <p:sldId id="376" r:id="rId24"/>
    <p:sldId id="377" r:id="rId25"/>
    <p:sldId id="378" r:id="rId26"/>
    <p:sldId id="379" r:id="rId27"/>
    <p:sldId id="385" r:id="rId28"/>
    <p:sldId id="380" r:id="rId29"/>
    <p:sldId id="381" r:id="rId30"/>
    <p:sldId id="382" r:id="rId31"/>
    <p:sldId id="383" r:id="rId32"/>
    <p:sldId id="384" r:id="rId33"/>
    <p:sldId id="386" r:id="rId34"/>
    <p:sldId id="332" r:id="rId35"/>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remy Williams" initials="JW"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8220" autoAdjust="0"/>
    <p:restoredTop sz="97802" autoAdjust="0"/>
  </p:normalViewPr>
  <p:slideViewPr>
    <p:cSldViewPr>
      <p:cViewPr>
        <p:scale>
          <a:sx n="45" d="100"/>
          <a:sy n="45" d="100"/>
        </p:scale>
        <p:origin x="-1472" y="-72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9" Type="http://schemas.openxmlformats.org/officeDocument/2006/relationships/slideMaster" Target="slideMasters/slideMaster9.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37" Type="http://schemas.openxmlformats.org/officeDocument/2006/relationships/handoutMaster" Target="handoutMasters/handoutMaster1.xml"/><Relationship Id="rId38" Type="http://schemas.openxmlformats.org/officeDocument/2006/relationships/printerSettings" Target="printerSettings/printerSettings1.bin"/><Relationship Id="rId39" Type="http://schemas.openxmlformats.org/officeDocument/2006/relationships/commentAuthors" Target="commentAuthors.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D57C46BD-238D-4EDB-A8D9-1A1A7BF7F46C}" type="datetimeFigureOut">
              <a:rPr lang="en-US" smtClean="0"/>
              <a:t>12/4/13</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4BCBCCA1-36C2-44B0-8E50-F7C0EBE63184}" type="slidenum">
              <a:rPr lang="en-US" smtClean="0"/>
              <a:t>‹#›</a:t>
            </a:fld>
            <a:endParaRPr lang="en-US"/>
          </a:p>
        </p:txBody>
      </p:sp>
    </p:spTree>
    <p:extLst>
      <p:ext uri="{BB962C8B-B14F-4D97-AF65-F5344CB8AC3E}">
        <p14:creationId xmlns:p14="http://schemas.microsoft.com/office/powerpoint/2010/main" val="12223244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E00458AC-E67F-46D6-AF67-6D285AC8B639}" type="datetimeFigureOut">
              <a:rPr lang="en-US" smtClean="0"/>
              <a:t>12/4/13</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5F7376C8-F39B-46E9-A905-3B5B71594841}" type="slidenum">
              <a:rPr lang="en-US" smtClean="0"/>
              <a:t>‹#›</a:t>
            </a:fld>
            <a:endParaRPr lang="en-US"/>
          </a:p>
        </p:txBody>
      </p:sp>
    </p:spTree>
    <p:extLst>
      <p:ext uri="{BB962C8B-B14F-4D97-AF65-F5344CB8AC3E}">
        <p14:creationId xmlns:p14="http://schemas.microsoft.com/office/powerpoint/2010/main" val="2167435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2110397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US" dirty="0">
              <a:solidFill>
                <a:srgbClr val="FF0000"/>
              </a:solidFill>
            </a:endParaRPr>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192158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US" dirty="0">
              <a:solidFill>
                <a:srgbClr val="FF0000"/>
              </a:solidFill>
            </a:endParaRPr>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192158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US" dirty="0">
              <a:solidFill>
                <a:srgbClr val="FF0000"/>
              </a:solidFill>
            </a:endParaRPr>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192158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this scenario, </a:t>
            </a:r>
            <a:r>
              <a:rPr lang="en-US" dirty="0" err="1" smtClean="0"/>
              <a:t>totfam_kids</a:t>
            </a:r>
            <a:r>
              <a:rPr lang="en-US" dirty="0" smtClean="0"/>
              <a:t> is public and</a:t>
            </a:r>
            <a:r>
              <a:rPr lang="en-US" baseline="0" dirty="0" smtClean="0"/>
              <a:t> </a:t>
            </a:r>
            <a:r>
              <a:rPr lang="en-US" baseline="0" dirty="0" err="1" smtClean="0"/>
              <a:t>totinc</a:t>
            </a:r>
            <a:r>
              <a:rPr lang="en-US" baseline="0" dirty="0" smtClean="0"/>
              <a:t> is confidential</a:t>
            </a:r>
            <a:endParaRPr lang="en-US" dirty="0"/>
          </a:p>
        </p:txBody>
      </p:sp>
      <p:sp>
        <p:nvSpPr>
          <p:cNvPr id="4" name="Slide Number Placeholder 3"/>
          <p:cNvSpPr>
            <a:spLocks noGrp="1"/>
          </p:cNvSpPr>
          <p:nvPr>
            <p:ph type="sldNum" sz="quarter" idx="10"/>
          </p:nvPr>
        </p:nvSpPr>
        <p:spPr/>
        <p:txBody>
          <a:bodyPr/>
          <a:lstStyle/>
          <a:p>
            <a:fld id="{540264C1-321D-453B-9555-0145EF24E19E}" type="slidenum">
              <a:rPr lang="en-US" smtClean="0"/>
              <a:t>11</a:t>
            </a:fld>
            <a:endParaRPr lang="en-US"/>
          </a:p>
        </p:txBody>
      </p:sp>
    </p:spTree>
    <p:extLst>
      <p:ext uri="{BB962C8B-B14F-4D97-AF65-F5344CB8AC3E}">
        <p14:creationId xmlns:p14="http://schemas.microsoft.com/office/powerpoint/2010/main" val="4283262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Wouldn’t it be cool if we could make </a:t>
            </a:r>
            <a:r>
              <a:rPr lang="en-US" dirty="0" err="1" smtClean="0"/>
              <a:t>totinc</a:t>
            </a:r>
            <a:r>
              <a:rPr lang="en-US" baseline="0" dirty="0" smtClean="0"/>
              <a:t> public, but make certain value codes confidential (currently not possible to assign access id to </a:t>
            </a:r>
            <a:r>
              <a:rPr lang="en-US" baseline="0" dirty="0" err="1" smtClean="0"/>
              <a:t>catgry</a:t>
            </a:r>
            <a:r>
              <a:rPr lang="en-US" baseline="0" smtClean="0"/>
              <a:t> element in DDI 2.5)</a:t>
            </a:r>
            <a:endParaRPr lang="en-US" dirty="0"/>
          </a:p>
        </p:txBody>
      </p:sp>
      <p:sp>
        <p:nvSpPr>
          <p:cNvPr id="4" name="Slide Number Placeholder 3"/>
          <p:cNvSpPr>
            <a:spLocks noGrp="1"/>
          </p:cNvSpPr>
          <p:nvPr>
            <p:ph type="sldNum" sz="quarter" idx="10"/>
          </p:nvPr>
        </p:nvSpPr>
        <p:spPr/>
        <p:txBody>
          <a:bodyPr/>
          <a:lstStyle/>
          <a:p>
            <a:fld id="{540264C1-321D-453B-9555-0145EF24E19E}" type="slidenum">
              <a:rPr lang="en-US" smtClean="0"/>
              <a:t>12</a:t>
            </a:fld>
            <a:endParaRPr lang="en-US"/>
          </a:p>
        </p:txBody>
      </p:sp>
    </p:spTree>
    <p:extLst>
      <p:ext uri="{BB962C8B-B14F-4D97-AF65-F5344CB8AC3E}">
        <p14:creationId xmlns:p14="http://schemas.microsoft.com/office/powerpoint/2010/main" val="731343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Wouldn’t it be cool if we could make </a:t>
            </a:r>
            <a:r>
              <a:rPr lang="en-US" dirty="0" err="1" smtClean="0"/>
              <a:t>totinc</a:t>
            </a:r>
            <a:r>
              <a:rPr lang="en-US" baseline="0" dirty="0" smtClean="0"/>
              <a:t> public, but make certain value codes confidential (currently not possible to assign access id to </a:t>
            </a:r>
            <a:r>
              <a:rPr lang="en-US" baseline="0" dirty="0" err="1" smtClean="0"/>
              <a:t>catgry</a:t>
            </a:r>
            <a:r>
              <a:rPr lang="en-US" baseline="0" smtClean="0"/>
              <a:t> element in DDI 2.5)</a:t>
            </a:r>
            <a:endParaRPr lang="en-US" dirty="0"/>
          </a:p>
        </p:txBody>
      </p:sp>
      <p:sp>
        <p:nvSpPr>
          <p:cNvPr id="4" name="Slide Number Placeholder 3"/>
          <p:cNvSpPr>
            <a:spLocks noGrp="1"/>
          </p:cNvSpPr>
          <p:nvPr>
            <p:ph type="sldNum" sz="quarter" idx="10"/>
          </p:nvPr>
        </p:nvSpPr>
        <p:spPr/>
        <p:txBody>
          <a:bodyPr/>
          <a:lstStyle/>
          <a:p>
            <a:fld id="{540264C1-321D-453B-9555-0145EF24E19E}" type="slidenum">
              <a:rPr lang="en-US" smtClean="0"/>
              <a:t>13</a:t>
            </a:fld>
            <a:endParaRPr lang="en-US"/>
          </a:p>
        </p:txBody>
      </p:sp>
    </p:spTree>
    <p:extLst>
      <p:ext uri="{BB962C8B-B14F-4D97-AF65-F5344CB8AC3E}">
        <p14:creationId xmlns:p14="http://schemas.microsoft.com/office/powerpoint/2010/main" val="731343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0264C1-321D-453B-9555-0145EF24E19E}" type="slidenum">
              <a:rPr lang="en-US" smtClean="0"/>
              <a:t>14</a:t>
            </a:fld>
            <a:endParaRPr lang="en-US"/>
          </a:p>
        </p:txBody>
      </p:sp>
    </p:spTree>
    <p:extLst>
      <p:ext uri="{BB962C8B-B14F-4D97-AF65-F5344CB8AC3E}">
        <p14:creationId xmlns:p14="http://schemas.microsoft.com/office/powerpoint/2010/main" val="731343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4" name="Date Placeholder 3"/>
          <p:cNvSpPr>
            <a:spLocks noGrp="1"/>
          </p:cNvSpPr>
          <p:nvPr>
            <p:ph type="dt" sz="quarter" idx="1"/>
          </p:nvPr>
        </p:nvSpPr>
        <p:spPr/>
        <p:txBody>
          <a:bodyPr/>
          <a:lstStyle/>
          <a:p>
            <a:pPr>
              <a:defRPr/>
            </a:pPr>
            <a:fld id="{0DAB8732-FC47-4EFE-A0F4-2B8DC6B68170}" type="datetime1">
              <a:rPr lang="en-US" smtClean="0">
                <a:solidFill>
                  <a:prstClr val="black"/>
                </a:solidFill>
              </a:rPr>
              <a:pPr>
                <a:defRPr/>
              </a:pPr>
              <a:t>12/4/13</a:t>
            </a:fld>
            <a:endParaRPr lang="en-US" dirty="0">
              <a:solidFill>
                <a:prstClr val="black"/>
              </a:solidFill>
            </a:endParaRPr>
          </a:p>
        </p:txBody>
      </p:sp>
      <p:sp>
        <p:nvSpPr>
          <p:cNvPr id="5" name="Footer Placeholder 4"/>
          <p:cNvSpPr>
            <a:spLocks noGrp="1"/>
          </p:cNvSpPr>
          <p:nvPr>
            <p:ph type="ftr" sz="quarter" idx="4"/>
          </p:nvPr>
        </p:nvSpPr>
        <p:spPr/>
        <p:txBody>
          <a:bodyPr/>
          <a:lstStyle/>
          <a:p>
            <a:pPr>
              <a:defRPr/>
            </a:pPr>
            <a:r>
              <a:rPr lang="en-US">
                <a:solidFill>
                  <a:prstClr val="black"/>
                </a:solidFill>
              </a:rPr>
              <a:t>Not for further distribution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268822"/>
            <a:ext cx="7772400" cy="1470025"/>
          </a:xfrm>
          <a:prstGeom prst="rect">
            <a:avLst/>
          </a:prstGeom>
        </p:spPr>
        <p:txBody>
          <a:bodyPr/>
          <a:lstStyle>
            <a:lvl1pPr algn="l">
              <a:defRPr sz="4000" b="0" i="0">
                <a:solidFill>
                  <a:schemeClr val="bg1"/>
                </a:solidFill>
                <a:latin typeface="Frutiger LT Std 57 Cn"/>
                <a:cs typeface="Frutiger LT Std 57 Cn"/>
              </a:defRPr>
            </a:lvl1pPr>
          </a:lstStyle>
          <a:p>
            <a:r>
              <a:rPr lang="en-US" dirty="0" smtClean="0"/>
              <a:t>Click to edit Master </a:t>
            </a:r>
            <a:br>
              <a:rPr lang="en-US" dirty="0" smtClean="0"/>
            </a:br>
            <a:r>
              <a:rPr lang="en-US" dirty="0" smtClean="0"/>
              <a:t>title style</a:t>
            </a:r>
            <a:endParaRPr lang="en-US" dirty="0"/>
          </a:p>
        </p:txBody>
      </p:sp>
      <p:sp>
        <p:nvSpPr>
          <p:cNvPr id="3" name="Subtitle 2"/>
          <p:cNvSpPr>
            <a:spLocks noGrp="1"/>
          </p:cNvSpPr>
          <p:nvPr>
            <p:ph type="subTitle" idx="1" hasCustomPrompt="1"/>
          </p:nvPr>
        </p:nvSpPr>
        <p:spPr>
          <a:xfrm>
            <a:off x="685800" y="4065302"/>
            <a:ext cx="6400800" cy="1752600"/>
          </a:xfrm>
          <a:prstGeom prst="rect">
            <a:avLst/>
          </a:prstGeom>
        </p:spPr>
        <p:txBody>
          <a:bodyPr>
            <a:normAutofit/>
          </a:bodyPr>
          <a:lstStyle>
            <a:lvl1pPr marL="0" indent="0" algn="l">
              <a:buNone/>
              <a:defRPr sz="3000" b="0" i="0">
                <a:solidFill>
                  <a:schemeClr val="bg1"/>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a:t>
            </a:r>
            <a:br>
              <a:rPr lang="en-US" dirty="0" smtClean="0"/>
            </a:br>
            <a:r>
              <a:rPr lang="en-US" dirty="0" smtClean="0"/>
              <a:t>subtitle style</a:t>
            </a:r>
            <a:endParaRPr lang="en-US" dirty="0"/>
          </a:p>
        </p:txBody>
      </p:sp>
    </p:spTree>
    <p:extLst>
      <p:ext uri="{BB962C8B-B14F-4D97-AF65-F5344CB8AC3E}">
        <p14:creationId xmlns:p14="http://schemas.microsoft.com/office/powerpoint/2010/main" val="3728186187"/>
      </p:ext>
    </p:extLst>
  </p:cSld>
  <p:clrMapOvr>
    <a:masterClrMapping/>
  </p:clrMapOvr>
  <p:transition xmlns:p14="http://schemas.microsoft.com/office/powerpoint/2010/main">
    <p:cut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4011589027"/>
      </p:ext>
    </p:extLst>
  </p:cSld>
  <p:clrMapOvr>
    <a:masterClrMapping/>
  </p:clrMapOvr>
  <p:transition xmlns:p14="http://schemas.microsoft.com/office/powerpoint/2010/main">
    <p:cut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264513207"/>
      </p:ext>
    </p:extLst>
  </p:cSld>
  <p:clrMapOvr>
    <a:masterClrMapping/>
  </p:clrMapOvr>
  <p:transition xmlns:p14="http://schemas.microsoft.com/office/powerpoint/2010/main">
    <p:cut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defTabSz="457200"/>
            <a:endParaRPr lang="en-US" dirty="0">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defTabSz="457200"/>
            <a:endParaRPr lang="en-US" dirty="0">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defTabSz="457200"/>
            <a:fld id="{35F10103-E679-4F95-995B-FCA2CC3A3828}" type="slidenum">
              <a:rPr lang="en-US">
                <a:solidFill>
                  <a:prstClr val="black"/>
                </a:solidFill>
              </a:rPr>
              <a:pPr defTabSz="457200"/>
              <a:t>‹#›</a:t>
            </a:fld>
            <a:endParaRPr lang="en-US" dirty="0">
              <a:solidFill>
                <a:prstClr val="black"/>
              </a:solidFill>
            </a:endParaRPr>
          </a:p>
        </p:txBody>
      </p:sp>
    </p:spTree>
    <p:extLst>
      <p:ext uri="{BB962C8B-B14F-4D97-AF65-F5344CB8AC3E}">
        <p14:creationId xmlns:p14="http://schemas.microsoft.com/office/powerpoint/2010/main" val="2335695107"/>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436723311"/>
      </p:ext>
    </p:extLst>
  </p:cSld>
  <p:clrMapOvr>
    <a:masterClrMapping/>
  </p:clrMapOvr>
  <p:transition xmlns:p14="http://schemas.microsoft.com/office/powerpoint/2010/main">
    <p:cut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2332004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989526475"/>
      </p:ext>
    </p:extLst>
  </p:cSld>
  <p:clrMapOvr>
    <a:masterClrMapping/>
  </p:clrMapOvr>
  <p:transition xmlns:p14="http://schemas.microsoft.com/office/powerpoint/2010/main">
    <p:cut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1190317323"/>
      </p:ext>
    </p:extLst>
  </p:cSld>
  <p:clrMapOvr>
    <a:masterClrMapping/>
  </p:clrMapOvr>
  <p:transition xmlns:p14="http://schemas.microsoft.com/office/powerpoint/2010/main">
    <p:cut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370332144"/>
      </p:ext>
    </p:extLst>
  </p:cSld>
  <p:clrMapOvr>
    <a:masterClrMapping/>
  </p:clrMapOvr>
  <p:transition xmlns:p14="http://schemas.microsoft.com/office/powerpoint/2010/main">
    <p:cut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defTabSz="457200"/>
            <a:endParaRPr lang="en-US" dirty="0">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defTabSz="457200"/>
            <a:endParaRPr lang="en-US" dirty="0">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defTabSz="457200"/>
            <a:fld id="{35F10103-E679-4F95-995B-FCA2CC3A3828}" type="slidenum">
              <a:rPr lang="en-US">
                <a:solidFill>
                  <a:prstClr val="black"/>
                </a:solidFill>
              </a:rPr>
              <a:pPr defTabSz="457200"/>
              <a:t>‹#›</a:t>
            </a:fld>
            <a:endParaRPr lang="en-US" dirty="0">
              <a:solidFill>
                <a:prstClr val="black"/>
              </a:solidFill>
            </a:endParaRPr>
          </a:p>
        </p:txBody>
      </p:sp>
    </p:spTree>
    <p:extLst>
      <p:ext uri="{BB962C8B-B14F-4D97-AF65-F5344CB8AC3E}">
        <p14:creationId xmlns:p14="http://schemas.microsoft.com/office/powerpoint/2010/main" val="2143395095"/>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1474986136"/>
      </p:ext>
    </p:extLst>
  </p:cSld>
  <p:clrMapOvr>
    <a:masterClrMapping/>
  </p:clrMapOvr>
  <p:transition xmlns:p14="http://schemas.microsoft.com/office/powerpoint/2010/main">
    <p:cut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372845978"/>
      </p:ext>
    </p:extLst>
  </p:cSld>
  <p:clrMapOvr>
    <a:masterClrMapping/>
  </p:clrMapOvr>
  <p:transition xmlns:p14="http://schemas.microsoft.com/office/powerpoint/2010/main">
    <p:cut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3741978621"/>
      </p:ext>
    </p:extLst>
  </p:cSld>
  <p:clrMapOvr>
    <a:masterClrMapping/>
  </p:clrMapOvr>
  <p:transition xmlns:p14="http://schemas.microsoft.com/office/powerpoint/2010/main">
    <p:cut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999234639"/>
      </p:ext>
    </p:extLst>
  </p:cSld>
  <p:clrMapOvr>
    <a:masterClrMapping/>
  </p:clrMapOvr>
  <p:transition xmlns:p14="http://schemas.microsoft.com/office/powerpoint/2010/main">
    <p:cut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defTabSz="457200"/>
            <a:endParaRPr lang="en-US" dirty="0">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defTabSz="457200"/>
            <a:endParaRPr lang="en-US" dirty="0">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defTabSz="457200"/>
            <a:fld id="{35F10103-E679-4F95-995B-FCA2CC3A3828}" type="slidenum">
              <a:rPr lang="en-US" smtClean="0">
                <a:solidFill>
                  <a:prstClr val="black"/>
                </a:solidFill>
              </a:rPr>
              <a:pPr defTabSz="457200"/>
              <a:t>‹#›</a:t>
            </a:fld>
            <a:endParaRPr lang="en-US" dirty="0">
              <a:solidFill>
                <a:prstClr val="black"/>
              </a:solidFill>
            </a:endParaRPr>
          </a:p>
        </p:txBody>
      </p:sp>
    </p:spTree>
    <p:extLst>
      <p:ext uri="{BB962C8B-B14F-4D97-AF65-F5344CB8AC3E}">
        <p14:creationId xmlns:p14="http://schemas.microsoft.com/office/powerpoint/2010/main" val="383689887"/>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3424715653"/>
      </p:ext>
    </p:extLst>
  </p:cSld>
  <p:clrMapOvr>
    <a:masterClrMapping/>
  </p:clrMapOvr>
  <p:transition xmlns:p14="http://schemas.microsoft.com/office/powerpoint/2010/main">
    <p:cut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2963425419"/>
      </p:ext>
    </p:extLst>
  </p:cSld>
  <p:clrMapOvr>
    <a:masterClrMapping/>
  </p:clrMapOvr>
  <p:transition xmlns:p14="http://schemas.microsoft.com/office/powerpoint/2010/main">
    <p:cut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3050208367"/>
      </p:ext>
    </p:extLst>
  </p:cSld>
  <p:clrMapOvr>
    <a:masterClrMapping/>
  </p:clrMapOvr>
  <p:transition xmlns:p14="http://schemas.microsoft.com/office/powerpoint/2010/main">
    <p:cut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509889681"/>
      </p:ext>
    </p:extLst>
  </p:cSld>
  <p:clrMapOvr>
    <a:masterClrMapping/>
  </p:clrMapOvr>
  <p:transition xmlns:p14="http://schemas.microsoft.com/office/powerpoint/2010/main">
    <p:cut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defTabSz="457200"/>
            <a:endParaRPr lang="en-US" dirty="0">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defTabSz="457200"/>
            <a:endParaRPr lang="en-US" dirty="0">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defTabSz="457200"/>
            <a:fld id="{35F10103-E679-4F95-995B-FCA2CC3A3828}" type="slidenum">
              <a:rPr lang="en-US">
                <a:solidFill>
                  <a:prstClr val="black"/>
                </a:solidFill>
              </a:rPr>
              <a:pPr defTabSz="457200"/>
              <a:t>‹#›</a:t>
            </a:fld>
            <a:endParaRPr lang="en-US" dirty="0">
              <a:solidFill>
                <a:prstClr val="black"/>
              </a:solidFill>
            </a:endParaRPr>
          </a:p>
        </p:txBody>
      </p:sp>
    </p:spTree>
    <p:extLst>
      <p:ext uri="{BB962C8B-B14F-4D97-AF65-F5344CB8AC3E}">
        <p14:creationId xmlns:p14="http://schemas.microsoft.com/office/powerpoint/2010/main" val="3012732176"/>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268822"/>
            <a:ext cx="7772400" cy="1470025"/>
          </a:xfrm>
          <a:prstGeom prst="rect">
            <a:avLst/>
          </a:prstGeom>
        </p:spPr>
        <p:txBody>
          <a:bodyPr/>
          <a:lstStyle>
            <a:lvl1pPr algn="l">
              <a:defRPr sz="4000" b="0" i="0">
                <a:solidFill>
                  <a:schemeClr val="bg1"/>
                </a:solidFill>
                <a:latin typeface="Frutiger LT Std 57 Cn"/>
                <a:cs typeface="Frutiger LT Std 57 Cn"/>
              </a:defRPr>
            </a:lvl1pPr>
          </a:lstStyle>
          <a:p>
            <a:r>
              <a:rPr lang="en-US" dirty="0" smtClean="0"/>
              <a:t>Click to edit Master </a:t>
            </a:r>
            <a:br>
              <a:rPr lang="en-US" dirty="0" smtClean="0"/>
            </a:br>
            <a:r>
              <a:rPr lang="en-US" dirty="0" smtClean="0"/>
              <a:t>title style</a:t>
            </a:r>
            <a:endParaRPr lang="en-US" dirty="0"/>
          </a:p>
        </p:txBody>
      </p:sp>
      <p:sp>
        <p:nvSpPr>
          <p:cNvPr id="3" name="Subtitle 2"/>
          <p:cNvSpPr>
            <a:spLocks noGrp="1"/>
          </p:cNvSpPr>
          <p:nvPr>
            <p:ph type="subTitle" idx="1" hasCustomPrompt="1"/>
          </p:nvPr>
        </p:nvSpPr>
        <p:spPr>
          <a:xfrm>
            <a:off x="685800" y="4065302"/>
            <a:ext cx="6400800" cy="1752600"/>
          </a:xfrm>
          <a:prstGeom prst="rect">
            <a:avLst/>
          </a:prstGeom>
        </p:spPr>
        <p:txBody>
          <a:bodyPr>
            <a:normAutofit/>
          </a:bodyPr>
          <a:lstStyle>
            <a:lvl1pPr marL="0" indent="0" algn="l">
              <a:buNone/>
              <a:defRPr sz="3000" b="0" i="0">
                <a:solidFill>
                  <a:schemeClr val="bg1"/>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a:t>
            </a:r>
            <a:br>
              <a:rPr lang="en-US" dirty="0" smtClean="0"/>
            </a:br>
            <a:r>
              <a:rPr lang="en-US" dirty="0" smtClean="0"/>
              <a:t>subtitle style</a:t>
            </a:r>
            <a:endParaRPr lang="en-US" dirty="0"/>
          </a:p>
        </p:txBody>
      </p:sp>
    </p:spTree>
    <p:extLst>
      <p:ext uri="{BB962C8B-B14F-4D97-AF65-F5344CB8AC3E}">
        <p14:creationId xmlns:p14="http://schemas.microsoft.com/office/powerpoint/2010/main" val="1537040780"/>
      </p:ext>
    </p:extLst>
  </p:cSld>
  <p:clrMapOvr>
    <a:masterClrMapping/>
  </p:clrMapOvr>
  <p:transition xmlns:p14="http://schemas.microsoft.com/office/powerpoint/2010/main">
    <p:cut thruBlk="1"/>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CB170998-985E-49FD-8136-735689F89D25}"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3345989155"/>
      </p:ext>
    </p:extLst>
  </p:cSld>
  <p:clrMapOvr>
    <a:masterClrMapping/>
  </p:clrMapOvr>
  <p:transition xmlns:p14="http://schemas.microsoft.com/office/powerpoint/2010/main">
    <p:cut thruBlk="1"/>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theme" Target="../theme/theme3.xml"/><Relationship Id="rId6" Type="http://schemas.openxmlformats.org/officeDocument/2006/relationships/image" Target="../media/image2.jpeg"/><Relationship Id="rId1" Type="http://schemas.openxmlformats.org/officeDocument/2006/relationships/slideLayout" Target="../slideLayouts/slideLayout3.xml"/><Relationship Id="rId2"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4" Type="http://schemas.openxmlformats.org/officeDocument/2006/relationships/image" Target="../media/image2.jpeg"/><Relationship Id="rId1" Type="http://schemas.openxmlformats.org/officeDocument/2006/relationships/slideLayout" Target="../slideLayouts/slideLayout7.xml"/><Relationship Id="rId2"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4" Type="http://schemas.openxmlformats.org/officeDocument/2006/relationships/image" Target="../media/image2.jpeg"/><Relationship Id="rId1" Type="http://schemas.openxmlformats.org/officeDocument/2006/relationships/slideLayout" Target="../slideLayouts/slideLayout9.xml"/><Relationship Id="rId2" Type="http://schemas.openxmlformats.org/officeDocument/2006/relationships/slideLayout" Target="../slideLayouts/slideLayout10.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6.xml"/><Relationship Id="rId3" Type="http://schemas.openxmlformats.org/officeDocument/2006/relationships/image" Target="../media/image2.jpe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4" Type="http://schemas.openxmlformats.org/officeDocument/2006/relationships/image" Target="../media/image2.jpeg"/><Relationship Id="rId1" Type="http://schemas.openxmlformats.org/officeDocument/2006/relationships/slideLayout" Target="../slideLayouts/slideLayout12.xml"/><Relationship Id="rId2" Type="http://schemas.openxmlformats.org/officeDocument/2006/relationships/slideLayout" Target="../slideLayouts/slideLayout13.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6.xml"/><Relationship Id="rId4" Type="http://schemas.openxmlformats.org/officeDocument/2006/relationships/theme" Target="../theme/theme8.xml"/><Relationship Id="rId5" Type="http://schemas.openxmlformats.org/officeDocument/2006/relationships/image" Target="../media/image2.jpeg"/><Relationship Id="rId1" Type="http://schemas.openxmlformats.org/officeDocument/2006/relationships/slideLayout" Target="../slideLayouts/slideLayout14.xml"/><Relationship Id="rId2" Type="http://schemas.openxmlformats.org/officeDocument/2006/relationships/slideLayout" Target="../slideLayouts/slideLayout15.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4" Type="http://schemas.openxmlformats.org/officeDocument/2006/relationships/image" Target="../media/image2.jpeg"/><Relationship Id="rId1" Type="http://schemas.openxmlformats.org/officeDocument/2006/relationships/slideLayout" Target="../slideLayouts/slideLayout17.xml"/><Relationship Id="rId2" Type="http://schemas.openxmlformats.org/officeDocument/2006/relationships/slideLayout" Target="../slideLayouts/slideLayout18.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4" Type="http://schemas.openxmlformats.org/officeDocument/2006/relationships/image" Target="../media/image2.jpeg"/><Relationship Id="rId1" Type="http://schemas.openxmlformats.org/officeDocument/2006/relationships/slideLayout" Target="../slideLayouts/slideLayout19.xml"/><Relationship Id="rId2"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4" Type="http://schemas.openxmlformats.org/officeDocument/2006/relationships/image" Target="../media/image1.jpeg"/><Relationship Id="rId1" Type="http://schemas.openxmlformats.org/officeDocument/2006/relationships/slideLayout" Target="../slideLayouts/slideLayout21.xml"/><Relationship Id="rId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descr="CISER_PP_cover_revised.jpg"/>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433661610"/>
      </p:ext>
    </p:extLst>
  </p:cSld>
  <p:clrMap bg1="lt1" tx1="dk1" bg2="lt2" tx2="dk2" accent1="accent1" accent2="accent2" accent3="accent3" accent4="accent4" accent5="accent5" accent6="accent6" hlink="hlink" folHlink="folHlink"/>
  <p:sldLayoutIdLst>
    <p:sldLayoutId id="2147483661" r:id="rId1"/>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068746667"/>
      </p:ext>
    </p:extLst>
  </p:cSld>
  <p:clrMap bg1="lt1" tx1="dk1" bg2="lt2" tx2="dk2" accent1="accent1" accent2="accent2" accent3="accent3" accent4="accent4" accent5="accent5" accent6="accent6" hlink="hlink" folHlink="folHlink"/>
  <p:sldLayoutIdLst>
    <p:sldLayoutId id="2147483664" r:id="rId1"/>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6"/>
          <a:stretch>
            <a:fillRect/>
          </a:stretch>
        </p:blipFill>
        <p:spPr>
          <a:xfrm>
            <a:off x="0" y="0"/>
            <a:ext cx="9144000" cy="6858000"/>
          </a:xfrm>
          <a:prstGeom prst="rect">
            <a:avLst/>
          </a:prstGeom>
        </p:spPr>
      </p:pic>
    </p:spTree>
    <p:extLst>
      <p:ext uri="{BB962C8B-B14F-4D97-AF65-F5344CB8AC3E}">
        <p14:creationId xmlns:p14="http://schemas.microsoft.com/office/powerpoint/2010/main" val="307574848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708" r:id="rId4"/>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971354464"/>
      </p:ext>
    </p:extLst>
  </p:cSld>
  <p:clrMap bg1="lt1" tx1="dk1" bg2="lt2" tx2="dk2" accent1="accent1" accent2="accent2" accent3="accent3" accent4="accent4" accent5="accent5" accent6="accent6" hlink="hlink" folHlink="folHlink"/>
  <p:sldLayoutIdLst>
    <p:sldLayoutId id="2147483672" r:id="rId1"/>
    <p:sldLayoutId id="2147483674"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371517034"/>
      </p:ext>
    </p:extLst>
  </p:cSld>
  <p:clrMap bg1="lt1" tx1="dk1" bg2="lt2" tx2="dk2" accent1="accent1" accent2="accent2" accent3="accent3" accent4="accent4" accent5="accent5" accent6="accent6" hlink="hlink" folHlink="folHlink"/>
  <p:sldLayoutIdLst>
    <p:sldLayoutId id="2147483676" r:id="rId1"/>
    <p:sldLayoutId id="2147483677"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993182122"/>
      </p:ext>
    </p:extLst>
  </p:cSld>
  <p:clrMap bg1="lt1" tx1="dk1" bg2="lt2" tx2="dk2" accent1="accent1" accent2="accent2" accent3="accent3" accent4="accent4" accent5="accent5" accent6="accent6" hlink="hlink" folHlink="folHlink"/>
  <p:sldLayoutIdLst>
    <p:sldLayoutId id="2147483680" r:id="rId1"/>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926888419"/>
      </p:ext>
    </p:extLst>
  </p:cSld>
  <p:clrMap bg1="lt1" tx1="dk1" bg2="lt2" tx2="dk2" accent1="accent1" accent2="accent2" accent3="accent3" accent4="accent4" accent5="accent5" accent6="accent6" hlink="hlink" folHlink="folHlink"/>
  <p:sldLayoutIdLst>
    <p:sldLayoutId id="2147483684" r:id="rId1"/>
    <p:sldLayoutId id="2147483686"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5"/>
          <a:stretch>
            <a:fillRect/>
          </a:stretch>
        </p:blipFill>
        <p:spPr>
          <a:xfrm>
            <a:off x="0" y="0"/>
            <a:ext cx="9144000" cy="6858000"/>
          </a:xfrm>
          <a:prstGeom prst="rect">
            <a:avLst/>
          </a:prstGeom>
        </p:spPr>
      </p:pic>
    </p:spTree>
    <p:extLst>
      <p:ext uri="{BB962C8B-B14F-4D97-AF65-F5344CB8AC3E}">
        <p14:creationId xmlns:p14="http://schemas.microsoft.com/office/powerpoint/2010/main" val="44947552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243918753"/>
      </p:ext>
    </p:extLst>
  </p:cSld>
  <p:clrMap bg1="lt1" tx1="dk1" bg2="lt2" tx2="dk2" accent1="accent1" accent2="accent2" accent3="accent3" accent4="accent4" accent5="accent5" accent6="accent6" hlink="hlink" folHlink="folHlink"/>
  <p:sldLayoutIdLst>
    <p:sldLayoutId id="2147483695" r:id="rId1"/>
    <p:sldLayoutId id="2147483697"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922926717"/>
      </p:ext>
    </p:extLst>
  </p:cSld>
  <p:clrMap bg1="lt1" tx1="dk1" bg2="lt2" tx2="dk2" accent1="accent1" accent2="accent2" accent3="accent3" accent4="accent4" accent5="accent5" accent6="accent6" hlink="hlink" folHlink="folHlink"/>
  <p:sldLayoutIdLst>
    <p:sldLayoutId id="2147483700" r:id="rId1"/>
    <p:sldLayoutId id="2147483701" r:id="rId2"/>
  </p:sldLayoutIdLst>
  <p:transition xmlns:p14="http://schemas.microsoft.com/office/powerpoint/2010/main">
    <p:cut thruBlk="1"/>
  </p:transition>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descr="CISER_PP_cover_revised.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090187404"/>
      </p:ext>
    </p:extLst>
  </p:cSld>
  <p:clrMap bg1="lt1" tx1="dk1" bg2="lt2" tx2="dk2" accent1="accent1" accent2="accent2" accent3="accent3" accent4="accent4" accent5="accent5" accent6="accent6" hlink="hlink" folHlink="folHlink"/>
  <p:sldLayoutIdLst>
    <p:sldLayoutId id="2147483705" r:id="rId1"/>
    <p:sldLayoutId id="2147483706"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www.ncrn.cornell.edu/" TargetMode="External"/><Relationship Id="rId4" Type="http://schemas.openxmlformats.org/officeDocument/2006/relationships/image" Target="../media/image4.png"/><Relationship Id="rId1" Type="http://schemas.openxmlformats.org/officeDocument/2006/relationships/slideLayout" Target="../slideLayouts/slideLayout5.xml"/><Relationship Id="rId2" Type="http://schemas.openxmlformats.org/officeDocument/2006/relationships/hyperlink" Target="http://www.nsf.gov/awardsearch/showAward.do?AwardNumber=113184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ctrTitle"/>
          </p:nvPr>
        </p:nvSpPr>
        <p:spPr>
          <a:xfrm>
            <a:off x="318977" y="2268822"/>
            <a:ext cx="8907507" cy="1470025"/>
          </a:xfrm>
        </p:spPr>
        <p:txBody>
          <a:bodyPr/>
          <a:lstStyle/>
          <a:p>
            <a:pPr algn="ctr"/>
            <a:r>
              <a:rPr lang="en-US" sz="2400" dirty="0" smtClean="0"/>
              <a:t>Encoding Provenance of Social Science Data:  </a:t>
            </a:r>
            <a:br>
              <a:rPr lang="en-US" sz="2400" dirty="0" smtClean="0"/>
            </a:br>
            <a:r>
              <a:rPr lang="en-US" sz="2400" dirty="0" smtClean="0"/>
              <a:t>Integrating PROV with DDI</a:t>
            </a:r>
            <a:endParaRPr lang="en-US" sz="2400" dirty="0"/>
          </a:p>
        </p:txBody>
      </p:sp>
      <p:sp>
        <p:nvSpPr>
          <p:cNvPr id="19" name="Subtitle 18"/>
          <p:cNvSpPr>
            <a:spLocks noGrp="1"/>
          </p:cNvSpPr>
          <p:nvPr>
            <p:ph type="subTitle" idx="1"/>
          </p:nvPr>
        </p:nvSpPr>
        <p:spPr>
          <a:xfrm>
            <a:off x="1295400" y="3657600"/>
            <a:ext cx="6477000" cy="2438400"/>
          </a:xfrm>
        </p:spPr>
        <p:txBody>
          <a:bodyPr>
            <a:normAutofit fontScale="92500" lnSpcReduction="20000"/>
          </a:bodyPr>
          <a:lstStyle/>
          <a:p>
            <a:pPr algn="ctr"/>
            <a:r>
              <a:rPr lang="en-US" sz="1400" dirty="0" smtClean="0"/>
              <a:t>Carl Lagoze,</a:t>
            </a:r>
            <a:r>
              <a:rPr lang="en-US" sz="1400" baseline="30000" dirty="0" smtClean="0"/>
              <a:t>1</a:t>
            </a:r>
            <a:r>
              <a:rPr lang="en-US" sz="1400" dirty="0" smtClean="0"/>
              <a:t> Jeremy Williams,</a:t>
            </a:r>
            <a:r>
              <a:rPr lang="en-US" sz="1400" baseline="30000" dirty="0"/>
              <a:t> 2</a:t>
            </a:r>
            <a:r>
              <a:rPr lang="en-US" sz="1400" dirty="0" smtClean="0"/>
              <a:t> Lars </a:t>
            </a:r>
            <a:r>
              <a:rPr lang="en-US" sz="1400" dirty="0" err="1" smtClean="0"/>
              <a:t>Vilhuber</a:t>
            </a:r>
            <a:r>
              <a:rPr lang="en-US" sz="1400" dirty="0" smtClean="0"/>
              <a:t>,</a:t>
            </a:r>
            <a:r>
              <a:rPr lang="en-US" sz="1400" baseline="30000" dirty="0"/>
              <a:t> </a:t>
            </a:r>
            <a:r>
              <a:rPr lang="en-US" sz="1400" baseline="30000" dirty="0" smtClean="0"/>
              <a:t>3</a:t>
            </a:r>
            <a:r>
              <a:rPr lang="en-US" sz="1400" dirty="0" smtClean="0"/>
              <a:t> and William C. Block,</a:t>
            </a:r>
            <a:r>
              <a:rPr lang="en-US" sz="1400" baseline="30000" dirty="0" smtClean="0"/>
              <a:t>2</a:t>
            </a:r>
          </a:p>
          <a:p>
            <a:pPr algn="ctr"/>
            <a:endParaRPr lang="en-US" sz="1400" baseline="30000" dirty="0" smtClean="0"/>
          </a:p>
          <a:p>
            <a:pPr algn="ctr"/>
            <a:endParaRPr lang="en-US" sz="1400" dirty="0" smtClean="0"/>
          </a:p>
          <a:p>
            <a:pPr algn="ctr"/>
            <a:r>
              <a:rPr lang="en-US" sz="1300" baseline="30000" dirty="0"/>
              <a:t>1</a:t>
            </a:r>
            <a:r>
              <a:rPr lang="en-US" sz="1300" dirty="0"/>
              <a:t> School of Information, University of Michigan</a:t>
            </a:r>
          </a:p>
          <a:p>
            <a:pPr algn="ctr"/>
            <a:r>
              <a:rPr lang="en-US" sz="1300" baseline="30000" dirty="0" smtClean="0"/>
              <a:t>2</a:t>
            </a:r>
            <a:r>
              <a:rPr lang="en-US" sz="1300" dirty="0"/>
              <a:t> </a:t>
            </a:r>
            <a:r>
              <a:rPr lang="en-US" sz="1300" dirty="0" smtClean="0"/>
              <a:t>Cornell Institute Social and Economic Research, Cornell University</a:t>
            </a:r>
          </a:p>
          <a:p>
            <a:pPr algn="ctr"/>
            <a:r>
              <a:rPr lang="en-US" sz="1300" baseline="30000" dirty="0"/>
              <a:t>3</a:t>
            </a:r>
            <a:r>
              <a:rPr lang="en-US" sz="1300" dirty="0" smtClean="0"/>
              <a:t> Labor Dynamics Institute, Cornell University</a:t>
            </a:r>
          </a:p>
          <a:p>
            <a:r>
              <a:rPr lang="en-US" sz="1800" b="1" i="1" u="sng" dirty="0" smtClean="0"/>
              <a:t> </a:t>
            </a:r>
          </a:p>
          <a:p>
            <a:endParaRPr lang="en-US" sz="1800" dirty="0" smtClean="0"/>
          </a:p>
          <a:p>
            <a:pPr algn="ctr"/>
            <a:r>
              <a:rPr lang="en-US" sz="1400" dirty="0" smtClean="0"/>
              <a:t>Presentation at the 5</a:t>
            </a:r>
            <a:r>
              <a:rPr lang="en-US" sz="1400" baseline="30000" dirty="0" smtClean="0"/>
              <a:t>th</a:t>
            </a:r>
            <a:r>
              <a:rPr lang="en-US" sz="1400" dirty="0" smtClean="0"/>
              <a:t> Annual European DDI User Conference (EDDI13)</a:t>
            </a:r>
          </a:p>
          <a:p>
            <a:pPr algn="ctr"/>
            <a:r>
              <a:rPr lang="en-US" sz="1400" dirty="0" smtClean="0"/>
              <a:t>Paris, France</a:t>
            </a:r>
          </a:p>
          <a:p>
            <a:pPr algn="ctr"/>
            <a:r>
              <a:rPr lang="en-US" sz="1400" dirty="0"/>
              <a:t>4</a:t>
            </a:r>
            <a:r>
              <a:rPr lang="en-US" sz="1400" dirty="0" smtClean="0"/>
              <a:t> December</a:t>
            </a:r>
            <a:r>
              <a:rPr lang="en-US" sz="1400" dirty="0"/>
              <a:t> </a:t>
            </a:r>
            <a:r>
              <a:rPr lang="en-US" sz="1400" dirty="0" smtClean="0"/>
              <a:t>2013</a:t>
            </a:r>
            <a:endParaRPr lang="en-US" sz="1400" dirty="0"/>
          </a:p>
          <a:p>
            <a:endParaRPr lang="en-US" sz="1800" dirty="0" smtClean="0"/>
          </a:p>
          <a:p>
            <a:endParaRPr lang="en-US" dirty="0"/>
          </a:p>
        </p:txBody>
      </p:sp>
    </p:spTree>
    <p:extLst>
      <p:ext uri="{BB962C8B-B14F-4D97-AF65-F5344CB8AC3E}">
        <p14:creationId xmlns:p14="http://schemas.microsoft.com/office/powerpoint/2010/main" val="1890792848"/>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82" y="990600"/>
            <a:ext cx="7465925" cy="5693866"/>
          </a:xfrm>
          <a:prstGeom prst="rect">
            <a:avLst/>
          </a:prstGeom>
          <a:noFill/>
        </p:spPr>
        <p:txBody>
          <a:bodyPr wrap="square" rtlCol="0">
            <a:spAutoFit/>
          </a:bodyPr>
          <a:lstStyle/>
          <a:p>
            <a:pPr algn="ctr" defTabSz="457200"/>
            <a:r>
              <a:rPr lang="en-US" sz="2800" dirty="0">
                <a:solidFill>
                  <a:srgbClr val="1F497D"/>
                </a:solidFill>
                <a:latin typeface="Frutiger LT Std 57 Cn"/>
              </a:rPr>
              <a:t>Outline</a:t>
            </a:r>
            <a:r>
              <a:rPr lang="en-US" sz="2400" dirty="0">
                <a:solidFill>
                  <a:srgbClr val="FF0000"/>
                </a:solidFill>
                <a:latin typeface="Frutiger LT Std 57 Cn"/>
              </a:rPr>
              <a:t> </a:t>
            </a:r>
            <a:endParaRPr lang="en-US" sz="2400" dirty="0" smtClean="0">
              <a:solidFill>
                <a:srgbClr val="1F497D"/>
              </a:solidFill>
              <a:latin typeface="Frutiger LT Std 57 Cn"/>
            </a:endParaRPr>
          </a:p>
          <a:p>
            <a:pPr defTabSz="457200"/>
            <a:endParaRPr lang="en-US" sz="2400" dirty="0" smtClean="0">
              <a:solidFill>
                <a:srgbClr val="1F497D"/>
              </a:solidFill>
              <a:latin typeface="Frutiger LT Std 57 Cn"/>
            </a:endParaRPr>
          </a:p>
          <a:p>
            <a:pPr defTabSz="457200"/>
            <a:r>
              <a:rPr lang="en-US" sz="2400" dirty="0" smtClean="0">
                <a:solidFill>
                  <a:srgbClr val="1F497D"/>
                </a:solidFill>
                <a:latin typeface="Frutiger LT Std 57 Cn"/>
              </a:rPr>
              <a:t>The Problem:  replication vs. security</a:t>
            </a:r>
            <a:endParaRPr lang="en-US" dirty="0" smtClean="0">
              <a:solidFill>
                <a:srgbClr val="1F497D"/>
              </a:solidFill>
              <a:latin typeface="Frutiger LT Std 57 Cn"/>
            </a:endParaRPr>
          </a:p>
          <a:p>
            <a:pPr defTabSz="457200"/>
            <a:endParaRPr lang="en-US" dirty="0" smtClean="0">
              <a:solidFill>
                <a:srgbClr val="1F497D"/>
              </a:solidFill>
              <a:latin typeface="Frutiger LT Std 57 Cn"/>
            </a:endParaRPr>
          </a:p>
          <a:p>
            <a:pPr defTabSz="457200"/>
            <a:r>
              <a:rPr lang="en-US" sz="2400" dirty="0" smtClean="0">
                <a:solidFill>
                  <a:srgbClr val="1F497D"/>
                </a:solidFill>
                <a:latin typeface="Frutiger LT Std 57 Cn"/>
              </a:rPr>
              <a:t>Background/Previous Work </a:t>
            </a:r>
          </a:p>
          <a:p>
            <a:pPr defTabSz="457200"/>
            <a:endParaRPr lang="en-US" sz="2400" dirty="0">
              <a:solidFill>
                <a:srgbClr val="1F497D"/>
              </a:solidFill>
              <a:latin typeface="Frutiger LT Std 57 Cn"/>
            </a:endParaRPr>
          </a:p>
          <a:p>
            <a:pPr defTabSz="457200"/>
            <a:r>
              <a:rPr lang="en-US" sz="2400" dirty="0" smtClean="0">
                <a:solidFill>
                  <a:srgbClr val="1F497D"/>
                </a:solidFill>
                <a:latin typeface="Frutiger LT Std 57 Cn"/>
              </a:rPr>
              <a:t>Integrating PROV with DDI</a:t>
            </a:r>
          </a:p>
          <a:p>
            <a:pPr defTabSz="457200"/>
            <a:endParaRPr lang="en-US" sz="2400" dirty="0" smtClean="0">
              <a:solidFill>
                <a:srgbClr val="1F497D"/>
              </a:solidFill>
              <a:latin typeface="Frutiger LT Std 57 Cn"/>
            </a:endParaRPr>
          </a:p>
          <a:p>
            <a:pPr defTabSz="457200"/>
            <a:r>
              <a:rPr lang="en-US" sz="2400" dirty="0" smtClean="0">
                <a:solidFill>
                  <a:srgbClr val="1F497D"/>
                </a:solidFill>
                <a:latin typeface="Frutiger LT Std 57 Cn"/>
              </a:rPr>
              <a:t>Questions and Discussion</a:t>
            </a:r>
            <a:endParaRPr lang="en-US" sz="2400" dirty="0">
              <a:solidFill>
                <a:srgbClr val="1F497D"/>
              </a:solidFill>
              <a:latin typeface="Frutiger LT Std 57 Cn"/>
            </a:endParaRPr>
          </a:p>
          <a:p>
            <a:pPr defTabSz="457200"/>
            <a:endParaRPr lang="en-US" sz="2400" dirty="0" smtClean="0">
              <a:solidFill>
                <a:srgbClr val="1F497D"/>
              </a:solidFill>
              <a:latin typeface="Frutiger LT Std 57 Cn"/>
            </a:endParaRPr>
          </a:p>
          <a:p>
            <a:pPr defTabSz="457200"/>
            <a:endParaRPr lang="en-US" dirty="0" smtClean="0">
              <a:solidFill>
                <a:srgbClr val="1F497D"/>
              </a:solidFill>
              <a:latin typeface="Frutiger LT Std 57 Cn"/>
            </a:endParaRPr>
          </a:p>
          <a:p>
            <a:pPr marL="742950" lvl="1" indent="-285750" defTabSz="457200">
              <a:buFont typeface="Arial" pitchFamily="34" charset="0"/>
              <a:buChar char="•"/>
            </a:pPr>
            <a:endParaRPr lang="en-US" dirty="0">
              <a:solidFill>
                <a:srgbClr val="1F497D"/>
              </a:solidFill>
              <a:latin typeface="Frutiger LT Std 57 Cn"/>
            </a:endParaRPr>
          </a:p>
          <a:p>
            <a:pPr defTabSz="457200"/>
            <a:endParaRPr lang="en-US" dirty="0">
              <a:solidFill>
                <a:srgbClr val="1F497D"/>
              </a:solidFill>
              <a:latin typeface="Frutiger LT Std 57 Cn"/>
            </a:endParaRPr>
          </a:p>
          <a:p>
            <a:pPr defTabSz="457200"/>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prstClr val="black"/>
              </a:solidFill>
            </a:endParaRPr>
          </a:p>
        </p:txBody>
      </p:sp>
      <p:sp>
        <p:nvSpPr>
          <p:cNvPr id="3" name="Slide Number Placeholder 2"/>
          <p:cNvSpPr>
            <a:spLocks noGrp="1"/>
          </p:cNvSpPr>
          <p:nvPr>
            <p:ph type="sldNum" sz="quarter" idx="12"/>
          </p:nvPr>
        </p:nvSpPr>
        <p:spPr>
          <a:xfrm>
            <a:off x="6553200" y="6096000"/>
            <a:ext cx="2133600" cy="365125"/>
          </a:xfrm>
        </p:spPr>
        <p:txBody>
          <a:bodyPr/>
          <a:lstStyle/>
          <a:p>
            <a:pPr algn="r" defTabSz="457200"/>
            <a:fld id="{35F10103-E679-4F95-995B-FCA2CC3A3828}" type="slidenum">
              <a:rPr lang="en-US" smtClean="0">
                <a:solidFill>
                  <a:prstClr val="black"/>
                </a:solidFill>
              </a:rPr>
              <a:pPr algn="r" defTabSz="457200"/>
              <a:t>2</a:t>
            </a:fld>
            <a:endParaRPr lang="en-US" dirty="0">
              <a:solidFill>
                <a:prstClr val="black"/>
              </a:solidFill>
            </a:endParaRPr>
          </a:p>
        </p:txBody>
      </p:sp>
    </p:spTree>
    <p:extLst>
      <p:ext uri="{BB962C8B-B14F-4D97-AF65-F5344CB8AC3E}">
        <p14:creationId xmlns:p14="http://schemas.microsoft.com/office/powerpoint/2010/main" val="2381145822"/>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82" y="990600"/>
            <a:ext cx="7465925" cy="5078313"/>
          </a:xfrm>
          <a:prstGeom prst="rect">
            <a:avLst/>
          </a:prstGeom>
          <a:noFill/>
        </p:spPr>
        <p:txBody>
          <a:bodyPr wrap="square" rtlCol="0">
            <a:spAutoFit/>
          </a:bodyPr>
          <a:lstStyle/>
          <a:p>
            <a:pPr defTabSz="457200"/>
            <a:r>
              <a:rPr lang="en-US" sz="2800" dirty="0" smtClean="0">
                <a:solidFill>
                  <a:srgbClr val="1F497D"/>
                </a:solidFill>
                <a:latin typeface="Frutiger LT Std 57 Cn"/>
              </a:rPr>
              <a:t>Our motivation:  </a:t>
            </a:r>
            <a:r>
              <a:rPr lang="en-US" sz="2800" dirty="0">
                <a:solidFill>
                  <a:srgbClr val="1F497D"/>
                </a:solidFill>
                <a:latin typeface="Frutiger LT Std 57 Cn"/>
              </a:rPr>
              <a:t>r</a:t>
            </a:r>
            <a:r>
              <a:rPr lang="en-US" sz="2800" dirty="0" smtClean="0">
                <a:solidFill>
                  <a:srgbClr val="1F497D"/>
                </a:solidFill>
                <a:latin typeface="Frutiger LT Std 57 Cn"/>
              </a:rPr>
              <a:t>eplication of research </a:t>
            </a:r>
            <a:r>
              <a:rPr lang="en-US" sz="2800" dirty="0">
                <a:solidFill>
                  <a:srgbClr val="1F497D"/>
                </a:solidFill>
                <a:latin typeface="Frutiger LT Std 57 Cn"/>
              </a:rPr>
              <a:t>r</a:t>
            </a:r>
            <a:r>
              <a:rPr lang="en-US" sz="2800" dirty="0" smtClean="0">
                <a:solidFill>
                  <a:srgbClr val="1F497D"/>
                </a:solidFill>
                <a:latin typeface="Frutiger LT Std 57 Cn"/>
              </a:rPr>
              <a:t>esults </a:t>
            </a:r>
            <a:r>
              <a:rPr lang="en-US" sz="2800" dirty="0">
                <a:solidFill>
                  <a:srgbClr val="1F497D"/>
                </a:solidFill>
                <a:latin typeface="Frutiger LT Std 57 Cn"/>
              </a:rPr>
              <a:t>c</a:t>
            </a:r>
            <a:r>
              <a:rPr lang="en-US" sz="2800" dirty="0" smtClean="0">
                <a:solidFill>
                  <a:srgbClr val="1F497D"/>
                </a:solidFill>
                <a:latin typeface="Frutiger LT Std 57 Cn"/>
              </a:rPr>
              <a:t>ritical to </a:t>
            </a:r>
            <a:r>
              <a:rPr lang="en-US" sz="2800" dirty="0">
                <a:solidFill>
                  <a:srgbClr val="1F497D"/>
                </a:solidFill>
                <a:latin typeface="Frutiger LT Std 57 Cn"/>
              </a:rPr>
              <a:t>s</a:t>
            </a:r>
            <a:r>
              <a:rPr lang="en-US" sz="2800" dirty="0" smtClean="0">
                <a:solidFill>
                  <a:srgbClr val="1F497D"/>
                </a:solidFill>
                <a:latin typeface="Frutiger LT Std 57 Cn"/>
              </a:rPr>
              <a:t>cientific advancement</a:t>
            </a:r>
          </a:p>
          <a:p>
            <a:pPr defTabSz="457200"/>
            <a:endParaRPr lang="en-US" sz="2800"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Scientific Method 101:  theory, hypothesis testing, replication </a:t>
            </a:r>
          </a:p>
          <a:p>
            <a:pPr marL="342900" indent="-342900" defTabSz="457200">
              <a:buFont typeface="Arial"/>
              <a:buChar char="•"/>
            </a:pPr>
            <a:endParaRPr lang="en-US" sz="2400"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Data inputs, methods, and computation:  </a:t>
            </a:r>
            <a:r>
              <a:rPr lang="en-US" sz="2400" i="1" dirty="0" smtClean="0">
                <a:solidFill>
                  <a:srgbClr val="1F497D"/>
                </a:solidFill>
                <a:latin typeface="Frutiger LT Std 57 Cn"/>
              </a:rPr>
              <a:t>all</a:t>
            </a:r>
            <a:r>
              <a:rPr lang="en-US" sz="2400" dirty="0" smtClean="0">
                <a:solidFill>
                  <a:srgbClr val="1F497D"/>
                </a:solidFill>
                <a:latin typeface="Frutiger LT Std 57 Cn"/>
              </a:rPr>
              <a:t> essential elements of the scientific approach</a:t>
            </a:r>
            <a:endParaRPr lang="en-US" sz="2400" i="1" dirty="0" smtClean="0">
              <a:solidFill>
                <a:srgbClr val="1F497D"/>
              </a:solidFill>
              <a:latin typeface="Frutiger LT Std 57 Cn"/>
            </a:endParaRPr>
          </a:p>
          <a:p>
            <a:pPr marL="342900" indent="-342900" defTabSz="457200">
              <a:buFont typeface="Arial"/>
              <a:buChar char="•"/>
            </a:pPr>
            <a:endParaRPr lang="en-US" sz="2400" i="1"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Encouraging:  Increased interest in archiving scientific data inputs (e.g., academic journals, U.S. funding agencies, Data Management Plans, etc.)</a:t>
            </a:r>
          </a:p>
          <a:p>
            <a:pPr marL="342900" indent="-342900" defTabSz="457200">
              <a:buFont typeface="Arial"/>
              <a:buChar char="•"/>
            </a:pPr>
            <a:endParaRPr lang="en-US" sz="2400" dirty="0">
              <a:solidFill>
                <a:srgbClr val="1F497D"/>
              </a:solidFill>
              <a:latin typeface="Frutiger LT Std 57 Cn"/>
            </a:endParaRPr>
          </a:p>
        </p:txBody>
      </p:sp>
      <p:sp>
        <p:nvSpPr>
          <p:cNvPr id="3" name="Slide Number Placeholder 2"/>
          <p:cNvSpPr>
            <a:spLocks noGrp="1"/>
          </p:cNvSpPr>
          <p:nvPr>
            <p:ph type="sldNum" sz="quarter" idx="12"/>
          </p:nvPr>
        </p:nvSpPr>
        <p:spPr>
          <a:xfrm>
            <a:off x="8229600" y="6096000"/>
            <a:ext cx="457200" cy="365125"/>
          </a:xfrm>
        </p:spPr>
        <p:txBody>
          <a:bodyPr/>
          <a:lstStyle/>
          <a:p>
            <a:pPr algn="r" defTabSz="457200"/>
            <a:fld id="{35F10103-E679-4F95-995B-FCA2CC3A3828}" type="slidenum">
              <a:rPr lang="en-US" smtClean="0">
                <a:solidFill>
                  <a:prstClr val="black"/>
                </a:solidFill>
              </a:rPr>
              <a:pPr algn="r" defTabSz="457200"/>
              <a:t>3</a:t>
            </a:fld>
            <a:endParaRPr lang="en-US" dirty="0">
              <a:solidFill>
                <a:prstClr val="black"/>
              </a:solidFill>
            </a:endParaRPr>
          </a:p>
        </p:txBody>
      </p:sp>
    </p:spTree>
    <p:extLst>
      <p:ext uri="{BB962C8B-B14F-4D97-AF65-F5344CB8AC3E}">
        <p14:creationId xmlns:p14="http://schemas.microsoft.com/office/powerpoint/2010/main" val="3216663997"/>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82" y="990600"/>
            <a:ext cx="7465925" cy="7017305"/>
          </a:xfrm>
          <a:prstGeom prst="rect">
            <a:avLst/>
          </a:prstGeom>
          <a:noFill/>
        </p:spPr>
        <p:txBody>
          <a:bodyPr wrap="square" rtlCol="0">
            <a:spAutoFit/>
          </a:bodyPr>
          <a:lstStyle/>
          <a:p>
            <a:pPr defTabSz="457200"/>
            <a:r>
              <a:rPr lang="en-US" sz="2800" dirty="0" smtClean="0">
                <a:solidFill>
                  <a:srgbClr val="1F497D"/>
                </a:solidFill>
                <a:latin typeface="Frutiger LT Std 57 Cn"/>
              </a:rPr>
              <a:t>Problem:  Replication relies on good data </a:t>
            </a:r>
            <a:r>
              <a:rPr lang="en-US" sz="2800" dirty="0" err="1" smtClean="0">
                <a:solidFill>
                  <a:srgbClr val="1F497D"/>
                </a:solidFill>
                <a:latin typeface="Frutiger LT Std 57 Cn"/>
              </a:rPr>
              <a:t>curation</a:t>
            </a:r>
            <a:r>
              <a:rPr lang="en-US" sz="2800" dirty="0">
                <a:solidFill>
                  <a:srgbClr val="1F497D"/>
                </a:solidFill>
                <a:latin typeface="Frutiger LT Std 57 Cn"/>
              </a:rPr>
              <a:t> </a:t>
            </a:r>
            <a:r>
              <a:rPr lang="en-US" sz="2800" dirty="0" smtClean="0">
                <a:solidFill>
                  <a:srgbClr val="1F497D"/>
                </a:solidFill>
                <a:latin typeface="Frutiger LT Std 57 Cn"/>
              </a:rPr>
              <a:t>(difficult in a secure environment)</a:t>
            </a:r>
          </a:p>
          <a:p>
            <a:pPr defTabSz="457200"/>
            <a:endParaRPr lang="en-US" sz="2800"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By definition:  Access is </a:t>
            </a:r>
            <a:r>
              <a:rPr lang="en-US" sz="2400" i="1" dirty="0" smtClean="0">
                <a:solidFill>
                  <a:srgbClr val="1F497D"/>
                </a:solidFill>
                <a:latin typeface="Frutiger LT Std 57 Cn"/>
              </a:rPr>
              <a:t>Restricted</a:t>
            </a:r>
          </a:p>
          <a:p>
            <a:pPr marL="342900" indent="-342900" defTabSz="457200">
              <a:buFont typeface="Arial"/>
              <a:buChar char="•"/>
            </a:pPr>
            <a:endParaRPr lang="en-US" sz="2400" i="1"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Lack of data </a:t>
            </a:r>
            <a:r>
              <a:rPr lang="en-US" sz="2400" dirty="0" err="1">
                <a:solidFill>
                  <a:srgbClr val="1F497D"/>
                </a:solidFill>
                <a:latin typeface="Frutiger LT Std 57 Cn"/>
              </a:rPr>
              <a:t>c</a:t>
            </a:r>
            <a:r>
              <a:rPr lang="en-US" sz="2400" dirty="0" err="1" smtClean="0">
                <a:solidFill>
                  <a:srgbClr val="1F497D"/>
                </a:solidFill>
                <a:latin typeface="Frutiger LT Std 57 Cn"/>
              </a:rPr>
              <a:t>uration</a:t>
            </a:r>
            <a:r>
              <a:rPr lang="en-US" sz="2400" dirty="0" smtClean="0">
                <a:solidFill>
                  <a:srgbClr val="1F497D"/>
                </a:solidFill>
                <a:latin typeface="Frutiger LT Std 57 Cn"/>
              </a:rPr>
              <a:t> blocks future </a:t>
            </a:r>
            <a:r>
              <a:rPr lang="en-US" sz="2400" dirty="0">
                <a:solidFill>
                  <a:srgbClr val="1F497D"/>
                </a:solidFill>
                <a:latin typeface="Frutiger LT Std 57 Cn"/>
              </a:rPr>
              <a:t>d</a:t>
            </a:r>
            <a:r>
              <a:rPr lang="en-US" sz="2400" dirty="0" smtClean="0">
                <a:solidFill>
                  <a:srgbClr val="1F497D"/>
                </a:solidFill>
                <a:latin typeface="Frutiger LT Std 57 Cn"/>
              </a:rPr>
              <a:t>iscovery and access</a:t>
            </a:r>
          </a:p>
          <a:p>
            <a:pPr marL="342900" indent="-342900" defTabSz="457200">
              <a:buFont typeface="Arial"/>
              <a:buChar char="•"/>
            </a:pPr>
            <a:endParaRPr lang="en-US" sz="2400" dirty="0" smtClean="0">
              <a:solidFill>
                <a:srgbClr val="1F497D"/>
              </a:solidFill>
              <a:latin typeface="Frutiger LT Std 57 Cn"/>
            </a:endParaRPr>
          </a:p>
          <a:p>
            <a:pPr marL="342900" indent="-342900" defTabSz="457200">
              <a:buFont typeface="Arial"/>
              <a:buChar char="•"/>
            </a:pPr>
            <a:r>
              <a:rPr lang="en-US" sz="2400" dirty="0">
                <a:solidFill>
                  <a:srgbClr val="1F497D"/>
                </a:solidFill>
                <a:latin typeface="Frutiger LT Std 57 Cn"/>
              </a:rPr>
              <a:t>R</a:t>
            </a:r>
            <a:r>
              <a:rPr lang="en-US" sz="2400" dirty="0" smtClean="0">
                <a:solidFill>
                  <a:srgbClr val="1F497D"/>
                </a:solidFill>
                <a:latin typeface="Frutiger LT Std 57 Cn"/>
              </a:rPr>
              <a:t>eplication of results becomes increasing difficult</a:t>
            </a:r>
            <a:endParaRPr lang="en-US" sz="2400" dirty="0">
              <a:solidFill>
                <a:srgbClr val="1F497D"/>
              </a:solidFill>
              <a:latin typeface="Frutiger LT Std 57 Cn"/>
            </a:endParaRPr>
          </a:p>
          <a:p>
            <a:pPr marL="800100" lvl="1" indent="-342900" defTabSz="457200">
              <a:buFont typeface="Arial"/>
              <a:buChar char="•"/>
            </a:pPr>
            <a:endParaRPr lang="en-US" sz="2400" dirty="0" smtClean="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Critically important! </a:t>
            </a:r>
            <a:r>
              <a:rPr lang="en-US" sz="2400" dirty="0">
                <a:solidFill>
                  <a:srgbClr val="1F497D"/>
                </a:solidFill>
                <a:latin typeface="Frutiger LT Std 57 Cn"/>
              </a:rPr>
              <a:t> </a:t>
            </a:r>
            <a:r>
              <a:rPr lang="en-US" sz="2400" dirty="0" smtClean="0">
                <a:solidFill>
                  <a:srgbClr val="1F497D"/>
                </a:solidFill>
                <a:latin typeface="Frutiger LT Std 57 Cn"/>
              </a:rPr>
              <a:t>The Scientific Method depends on the ability to replicate the results of research</a:t>
            </a:r>
          </a:p>
          <a:p>
            <a:pPr defTabSz="457200"/>
            <a:endParaRPr lang="en-US" sz="2400" dirty="0" smtClean="0">
              <a:solidFill>
                <a:srgbClr val="1F497D"/>
              </a:solidFill>
              <a:latin typeface="Frutiger LT Std 57 Cn"/>
            </a:endParaRPr>
          </a:p>
          <a:p>
            <a:pPr defTabSz="457200"/>
            <a:endParaRPr lang="en-US" dirty="0" smtClean="0">
              <a:solidFill>
                <a:srgbClr val="1F497D"/>
              </a:solidFill>
              <a:latin typeface="Frutiger LT Std 57 Cn"/>
            </a:endParaRPr>
          </a:p>
          <a:p>
            <a:pPr marL="742950" lvl="1" indent="-285750" defTabSz="457200">
              <a:buFont typeface="Arial" pitchFamily="34" charset="0"/>
              <a:buChar char="•"/>
            </a:pPr>
            <a:endParaRPr lang="en-US" dirty="0">
              <a:solidFill>
                <a:srgbClr val="1F497D"/>
              </a:solidFill>
              <a:latin typeface="Frutiger LT Std 57 Cn"/>
            </a:endParaRPr>
          </a:p>
          <a:p>
            <a:pPr defTabSz="457200"/>
            <a:endParaRPr lang="en-US" dirty="0">
              <a:solidFill>
                <a:srgbClr val="1F497D"/>
              </a:solidFill>
              <a:latin typeface="Frutiger LT Std 57 Cn"/>
            </a:endParaRPr>
          </a:p>
          <a:p>
            <a:pPr defTabSz="457200"/>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prstClr val="black"/>
              </a:solidFill>
            </a:endParaRPr>
          </a:p>
        </p:txBody>
      </p:sp>
      <p:sp>
        <p:nvSpPr>
          <p:cNvPr id="3" name="Slide Number Placeholder 2"/>
          <p:cNvSpPr>
            <a:spLocks noGrp="1"/>
          </p:cNvSpPr>
          <p:nvPr>
            <p:ph type="sldNum" sz="quarter" idx="12"/>
          </p:nvPr>
        </p:nvSpPr>
        <p:spPr>
          <a:xfrm>
            <a:off x="8229600" y="6096000"/>
            <a:ext cx="457200" cy="365125"/>
          </a:xfrm>
        </p:spPr>
        <p:txBody>
          <a:bodyPr/>
          <a:lstStyle/>
          <a:p>
            <a:pPr algn="r" defTabSz="457200"/>
            <a:fld id="{35F10103-E679-4F95-995B-FCA2CC3A3828}" type="slidenum">
              <a:rPr lang="en-US" smtClean="0">
                <a:solidFill>
                  <a:prstClr val="black"/>
                </a:solidFill>
              </a:rPr>
              <a:pPr algn="r" defTabSz="457200"/>
              <a:t>4</a:t>
            </a:fld>
            <a:endParaRPr lang="en-US" dirty="0">
              <a:solidFill>
                <a:prstClr val="black"/>
              </a:solidFill>
            </a:endParaRPr>
          </a:p>
        </p:txBody>
      </p:sp>
    </p:spTree>
    <p:extLst>
      <p:ext uri="{BB962C8B-B14F-4D97-AF65-F5344CB8AC3E}">
        <p14:creationId xmlns:p14="http://schemas.microsoft.com/office/powerpoint/2010/main" val="3161986257"/>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22" y="2743200"/>
            <a:ext cx="9102778"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503238"/>
            <a:ext cx="8229600" cy="1935162"/>
          </a:xfrm>
        </p:spPr>
        <p:txBody>
          <a:bodyPr>
            <a:noAutofit/>
          </a:bodyPr>
          <a:lstStyle/>
          <a:p>
            <a:r>
              <a:rPr lang="en-US" sz="3200" dirty="0" smtClean="0"/>
              <a:t/>
            </a:r>
            <a:br>
              <a:rPr lang="en-US" sz="3200" dirty="0" smtClean="0"/>
            </a:br>
            <a:r>
              <a:rPr lang="en-US" sz="3200" dirty="0" smtClean="0"/>
              <a:t>Increasing </a:t>
            </a:r>
            <a:r>
              <a:rPr lang="en-US" sz="3200" dirty="0"/>
              <a:t>number of scholars pursuing research programs that mandate inherently identifiable </a:t>
            </a:r>
            <a:r>
              <a:rPr lang="en-US" sz="3200" dirty="0" smtClean="0"/>
              <a:t>data</a:t>
            </a:r>
            <a:endParaRPr lang="en-US" sz="3200" dirty="0"/>
          </a:p>
        </p:txBody>
      </p:sp>
    </p:spTree>
    <p:extLst>
      <p:ext uri="{BB962C8B-B14F-4D97-AF65-F5344CB8AC3E}">
        <p14:creationId xmlns:p14="http://schemas.microsoft.com/office/powerpoint/2010/main" val="169081892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14400"/>
            <a:ext cx="8229600" cy="1143000"/>
          </a:xfrm>
        </p:spPr>
        <p:txBody>
          <a:bodyPr>
            <a:normAutofit fontScale="90000"/>
          </a:bodyPr>
          <a:lstStyle/>
          <a:p>
            <a:r>
              <a:rPr lang="en-US" dirty="0" smtClean="0"/>
              <a:t>Problem is not limited to economics and social science</a:t>
            </a:r>
            <a:endParaRPr lang="en-US" dirty="0"/>
          </a:p>
        </p:txBody>
      </p:sp>
      <p:sp>
        <p:nvSpPr>
          <p:cNvPr id="7" name="Content Placeholder 6"/>
          <p:cNvSpPr>
            <a:spLocks noGrp="1"/>
          </p:cNvSpPr>
          <p:nvPr>
            <p:ph idx="1"/>
          </p:nvPr>
        </p:nvSpPr>
        <p:spPr>
          <a:xfrm>
            <a:off x="457200" y="2514600"/>
            <a:ext cx="8229600" cy="3992563"/>
          </a:xfrm>
        </p:spPr>
        <p:txBody>
          <a:bodyPr/>
          <a:lstStyle/>
          <a:p>
            <a:pPr marL="0" indent="0">
              <a:buNone/>
            </a:pPr>
            <a:r>
              <a:rPr lang="en-US" sz="2800" dirty="0" smtClean="0"/>
              <a:t>“Many of the emerging ‘big data’ applications come from private sources that are inaccessible to other researchers. The data source may be hidden, compounding problems of verification, as well as concerns about the generality of the results.”</a:t>
            </a:r>
          </a:p>
          <a:p>
            <a:pPr>
              <a:buNone/>
            </a:pPr>
            <a:endParaRPr lang="en-US" sz="2400" dirty="0" smtClean="0"/>
          </a:p>
          <a:p>
            <a:pPr>
              <a:buNone/>
            </a:pPr>
            <a:r>
              <a:rPr lang="en-US" sz="2400" dirty="0" err="1" smtClean="0">
                <a:solidFill>
                  <a:schemeClr val="bg1">
                    <a:lumMod val="65000"/>
                  </a:schemeClr>
                </a:solidFill>
              </a:rPr>
              <a:t>Huberman</a:t>
            </a:r>
            <a:r>
              <a:rPr lang="en-US" sz="2400" dirty="0" smtClean="0">
                <a:solidFill>
                  <a:schemeClr val="bg1">
                    <a:lumMod val="65000"/>
                  </a:schemeClr>
                </a:solidFill>
              </a:rPr>
              <a:t>, Nature  482, 308 (16</a:t>
            </a:r>
            <a:r>
              <a:rPr lang="en-US" sz="2400" baseline="30000" dirty="0" smtClean="0">
                <a:solidFill>
                  <a:schemeClr val="bg1">
                    <a:lumMod val="65000"/>
                  </a:schemeClr>
                </a:solidFill>
              </a:rPr>
              <a:t>th</a:t>
            </a:r>
            <a:r>
              <a:rPr lang="en-US" sz="2400" dirty="0" smtClean="0">
                <a:solidFill>
                  <a:schemeClr val="bg1">
                    <a:lumMod val="65000"/>
                  </a:schemeClr>
                </a:solidFill>
              </a:rPr>
              <a:t> February 2012)</a:t>
            </a:r>
            <a:endParaRPr lang="en-US" dirty="0">
              <a:solidFill>
                <a:schemeClr val="bg1">
                  <a:lumMod val="65000"/>
                </a:schemeClr>
              </a:solidFill>
            </a:endParaRPr>
          </a:p>
        </p:txBody>
      </p:sp>
    </p:spTree>
    <p:extLst>
      <p:ext uri="{BB962C8B-B14F-4D97-AF65-F5344CB8AC3E}">
        <p14:creationId xmlns:p14="http://schemas.microsoft.com/office/powerpoint/2010/main" val="3818610779"/>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1143000"/>
          </a:xfrm>
        </p:spPr>
        <p:txBody>
          <a:bodyPr>
            <a:normAutofit fontScale="90000"/>
          </a:bodyPr>
          <a:lstStyle/>
          <a:p>
            <a:r>
              <a:rPr lang="en-US" dirty="0" smtClean="0"/>
              <a:t>Familiar problem to EDDI:  examples from North America and Europe</a:t>
            </a:r>
            <a:endParaRPr lang="en-US" dirty="0"/>
          </a:p>
        </p:txBody>
      </p:sp>
      <p:sp>
        <p:nvSpPr>
          <p:cNvPr id="7" name="Content Placeholder 6"/>
          <p:cNvSpPr>
            <a:spLocks noGrp="1"/>
          </p:cNvSpPr>
          <p:nvPr>
            <p:ph idx="1"/>
          </p:nvPr>
        </p:nvSpPr>
        <p:spPr>
          <a:xfrm>
            <a:off x="457200" y="1905000"/>
            <a:ext cx="8229600" cy="3992563"/>
          </a:xfrm>
        </p:spPr>
        <p:txBody>
          <a:bodyPr/>
          <a:lstStyle/>
          <a:p>
            <a:r>
              <a:rPr lang="en-US" sz="2800" dirty="0" smtClean="0"/>
              <a:t>North America:</a:t>
            </a:r>
            <a:endParaRPr lang="en-US" sz="2800" dirty="0"/>
          </a:p>
          <a:p>
            <a:pPr lvl="1"/>
            <a:r>
              <a:rPr lang="en-US" sz="2400" dirty="0" smtClean="0"/>
              <a:t>U.S.:   </a:t>
            </a:r>
            <a:r>
              <a:rPr lang="en-US" sz="2400" dirty="0"/>
              <a:t>Census Bureau </a:t>
            </a:r>
            <a:r>
              <a:rPr lang="en-US" sz="2400" dirty="0" smtClean="0"/>
              <a:t>(including RDC), Internal </a:t>
            </a:r>
            <a:r>
              <a:rPr lang="en-US" sz="2400" dirty="0"/>
              <a:t>Revenue </a:t>
            </a:r>
            <a:r>
              <a:rPr lang="en-US" sz="2400" dirty="0" smtClean="0"/>
              <a:t>Service, Bureau </a:t>
            </a:r>
            <a:r>
              <a:rPr lang="en-US" sz="2400" dirty="0"/>
              <a:t>of Labor Statistics (confidential, public-</a:t>
            </a:r>
            <a:r>
              <a:rPr lang="en-US" sz="2400" dirty="0" smtClean="0"/>
              <a:t>use data)</a:t>
            </a:r>
            <a:endParaRPr lang="en-US" sz="2800" dirty="0"/>
          </a:p>
          <a:p>
            <a:pPr lvl="1"/>
            <a:r>
              <a:rPr lang="en-US" sz="2400" dirty="0" smtClean="0"/>
              <a:t>Canada:  Centre </a:t>
            </a:r>
            <a:r>
              <a:rPr lang="en-US" sz="2400" dirty="0"/>
              <a:t>for Data Development and Economic </a:t>
            </a:r>
            <a:r>
              <a:rPr lang="en-US" sz="2400" dirty="0" smtClean="0"/>
              <a:t>Research (CDER</a:t>
            </a:r>
            <a:r>
              <a:rPr lang="en-US" sz="2400" dirty="0"/>
              <a:t>: RDC-like for business data</a:t>
            </a:r>
            <a:r>
              <a:rPr lang="en-US" sz="2400" dirty="0" smtClean="0"/>
              <a:t>); Statistics Canada, Canadian </a:t>
            </a:r>
            <a:r>
              <a:rPr lang="en-US" sz="2400" dirty="0"/>
              <a:t>RDC </a:t>
            </a:r>
            <a:r>
              <a:rPr lang="en-US" sz="2400" dirty="0" smtClean="0"/>
              <a:t>network</a:t>
            </a:r>
            <a:endParaRPr lang="en-US" sz="2400" dirty="0"/>
          </a:p>
          <a:p>
            <a:r>
              <a:rPr lang="en-US" sz="3200" dirty="0" smtClean="0"/>
              <a:t>Europe: </a:t>
            </a:r>
          </a:p>
          <a:p>
            <a:pPr lvl="1"/>
            <a:r>
              <a:rPr lang="en-US" sz="2400" dirty="0" smtClean="0"/>
              <a:t>France</a:t>
            </a:r>
            <a:r>
              <a:rPr lang="en-US" sz="2400" dirty="0"/>
              <a:t>: </a:t>
            </a:r>
            <a:r>
              <a:rPr lang="en-US" sz="2400" dirty="0" err="1"/>
              <a:t>R´eseau</a:t>
            </a:r>
            <a:r>
              <a:rPr lang="en-US" sz="2400" dirty="0"/>
              <a:t> </a:t>
            </a:r>
            <a:r>
              <a:rPr lang="en-US" sz="2400" dirty="0" err="1" smtClean="0"/>
              <a:t>Quetelet</a:t>
            </a:r>
            <a:r>
              <a:rPr lang="en-US" sz="2400" dirty="0" smtClean="0"/>
              <a:t>, Centre </a:t>
            </a:r>
            <a:r>
              <a:rPr lang="en-US" sz="2400" dirty="0" err="1"/>
              <a:t>d’acc´es</a:t>
            </a:r>
            <a:r>
              <a:rPr lang="en-US" sz="2400" dirty="0"/>
              <a:t> </a:t>
            </a:r>
            <a:r>
              <a:rPr lang="en-US" sz="2400" dirty="0" err="1"/>
              <a:t>s´ecuris</a:t>
            </a:r>
            <a:r>
              <a:rPr lang="en-US" sz="2400" dirty="0"/>
              <a:t> ´</a:t>
            </a:r>
            <a:r>
              <a:rPr lang="en-US" sz="2400" dirty="0" smtClean="0"/>
              <a:t>e</a:t>
            </a:r>
            <a:endParaRPr lang="en-US" sz="2400" dirty="0"/>
          </a:p>
          <a:p>
            <a:r>
              <a:rPr lang="en-US" sz="2400" dirty="0"/>
              <a:t>distant aux </a:t>
            </a:r>
            <a:r>
              <a:rPr lang="en-US" sz="2400" dirty="0" err="1"/>
              <a:t>donn´ees</a:t>
            </a:r>
            <a:r>
              <a:rPr lang="en-US" sz="2400" dirty="0"/>
              <a:t> (CASD</a:t>
            </a:r>
            <a:r>
              <a:rPr lang="en-US" sz="2400" dirty="0" smtClean="0"/>
              <a:t>)</a:t>
            </a:r>
          </a:p>
          <a:p>
            <a:pPr lvl="1"/>
            <a:r>
              <a:rPr lang="en-US" sz="2000" dirty="0" smtClean="0"/>
              <a:t>Germany</a:t>
            </a:r>
            <a:r>
              <a:rPr lang="en-US" sz="2000" dirty="0"/>
              <a:t>: </a:t>
            </a:r>
            <a:r>
              <a:rPr lang="en-US" sz="2000" dirty="0" smtClean="0"/>
              <a:t>IAB</a:t>
            </a:r>
          </a:p>
        </p:txBody>
      </p:sp>
    </p:spTree>
    <p:extLst>
      <p:ext uri="{BB962C8B-B14F-4D97-AF65-F5344CB8AC3E}">
        <p14:creationId xmlns:p14="http://schemas.microsoft.com/office/powerpoint/2010/main" val="3383214037"/>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14400"/>
            <a:ext cx="8229600" cy="1143000"/>
          </a:xfrm>
        </p:spPr>
        <p:txBody>
          <a:bodyPr>
            <a:normAutofit fontScale="90000"/>
          </a:bodyPr>
          <a:lstStyle/>
          <a:p>
            <a:r>
              <a:rPr lang="en-US" dirty="0" smtClean="0"/>
              <a:t>Solution:  Comprehensive Extensible Data Documentation and Access Repository (CED</a:t>
            </a:r>
            <a:r>
              <a:rPr lang="en-US" baseline="30000" dirty="0" smtClean="0"/>
              <a:t>2</a:t>
            </a:r>
            <a:r>
              <a:rPr lang="en-US" dirty="0" smtClean="0"/>
              <a:t>AR)</a:t>
            </a:r>
            <a:endParaRPr lang="en-US" baseline="30000" dirty="0"/>
          </a:p>
        </p:txBody>
      </p:sp>
      <p:sp>
        <p:nvSpPr>
          <p:cNvPr id="3" name="TextBox 2"/>
          <p:cNvSpPr txBox="1"/>
          <p:nvPr/>
        </p:nvSpPr>
        <p:spPr>
          <a:xfrm>
            <a:off x="609213" y="3200400"/>
            <a:ext cx="8229987" cy="2308324"/>
          </a:xfrm>
          <a:prstGeom prst="rect">
            <a:avLst/>
          </a:prstGeom>
          <a:noFill/>
        </p:spPr>
        <p:txBody>
          <a:bodyPr wrap="none" rtlCol="0">
            <a:spAutoFit/>
          </a:bodyPr>
          <a:lstStyle/>
          <a:p>
            <a:r>
              <a:rPr lang="en-US" sz="2400" dirty="0"/>
              <a:t>We develop the core of a method for solving the data archive</a:t>
            </a:r>
          </a:p>
          <a:p>
            <a:r>
              <a:rPr lang="en-US" sz="2400" dirty="0"/>
              <a:t>and </a:t>
            </a:r>
            <a:r>
              <a:rPr lang="en-US" sz="2400" dirty="0" err="1"/>
              <a:t>curation</a:t>
            </a:r>
            <a:r>
              <a:rPr lang="en-US" sz="2400" dirty="0"/>
              <a:t> problem that confronts the custodians of</a:t>
            </a:r>
          </a:p>
          <a:p>
            <a:r>
              <a:rPr lang="en-US" sz="2400" dirty="0"/>
              <a:t>restricted-access research data and the scientific users of such</a:t>
            </a:r>
          </a:p>
          <a:p>
            <a:r>
              <a:rPr lang="en-US" sz="2400" dirty="0"/>
              <a:t>data. Our solution recognizes the dual protections afforded by</a:t>
            </a:r>
          </a:p>
          <a:p>
            <a:r>
              <a:rPr lang="en-US" sz="2400" b="1" dirty="0"/>
              <a:t>physical security and access limitation protocols,</a:t>
            </a:r>
            <a:r>
              <a:rPr lang="en-US" sz="2400" dirty="0"/>
              <a:t> and allows for</a:t>
            </a:r>
          </a:p>
          <a:p>
            <a:r>
              <a:rPr lang="en-US" sz="2400" dirty="0"/>
              <a:t>much improved </a:t>
            </a:r>
            <a:r>
              <a:rPr lang="en-US" sz="2400" b="1" dirty="0"/>
              <a:t>provenance </a:t>
            </a:r>
            <a:r>
              <a:rPr lang="en-US" sz="2400" b="1" dirty="0" smtClean="0"/>
              <a:t>tracking</a:t>
            </a:r>
            <a:r>
              <a:rPr lang="en-US" dirty="0"/>
              <a:t>.</a:t>
            </a:r>
          </a:p>
        </p:txBody>
      </p:sp>
    </p:spTree>
    <p:extLst>
      <p:ext uri="{BB962C8B-B14F-4D97-AF65-F5344CB8AC3E}">
        <p14:creationId xmlns:p14="http://schemas.microsoft.com/office/powerpoint/2010/main" val="1882838835"/>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838200" y="2438400"/>
            <a:ext cx="7349207" cy="1937330"/>
          </a:xfrm>
          <a:prstGeom prst="rect">
            <a:avLst/>
          </a:prstGeom>
        </p:spPr>
        <p:txBody>
          <a:bodyPr vert="horz" wrap="square" lIns="0" tIns="0" rIns="0" bIns="0" rtlCol="0">
            <a:spAutoFit/>
          </a:bodyPr>
          <a:lstStyle/>
          <a:p>
            <a:pPr marL="574082" marR="12590" indent="-294595" algn="just">
              <a:lnSpc>
                <a:spcPct val="102600"/>
              </a:lnSpc>
              <a:spcBef>
                <a:spcPts val="1100"/>
              </a:spcBef>
            </a:pPr>
            <a:endParaRPr lang="en-US" sz="2400" dirty="0">
              <a:latin typeface="Times New Roman"/>
              <a:cs typeface="Times New Roman"/>
            </a:endParaRPr>
          </a:p>
          <a:p>
            <a:pPr marL="622387" marR="12590" indent="-342900" algn="just">
              <a:lnSpc>
                <a:spcPct val="102600"/>
              </a:lnSpc>
              <a:spcBef>
                <a:spcPts val="1100"/>
              </a:spcBef>
              <a:buFont typeface="Arial"/>
              <a:buChar char="•"/>
            </a:pPr>
            <a:r>
              <a:rPr lang="en-US" sz="2400" dirty="0" smtClean="0"/>
              <a:t>CED</a:t>
            </a:r>
            <a:r>
              <a:rPr lang="en-US" sz="2400" baseline="30000" dirty="0" smtClean="0"/>
              <a:t>2</a:t>
            </a:r>
            <a:r>
              <a:rPr lang="en-US" sz="2400" dirty="0" smtClean="0"/>
              <a:t>AR is one part of this project</a:t>
            </a:r>
            <a:endParaRPr lang="en-US" sz="2400" spc="14" baseline="6944" dirty="0">
              <a:solidFill>
                <a:srgbClr val="B21C1C"/>
              </a:solidFill>
              <a:latin typeface="Times New Roman"/>
              <a:cs typeface="Times New Roman"/>
            </a:endParaRPr>
          </a:p>
          <a:p>
            <a:pPr marL="622387" marR="12590" indent="-342900" algn="just">
              <a:lnSpc>
                <a:spcPct val="102600"/>
              </a:lnSpc>
              <a:spcBef>
                <a:spcPts val="1100"/>
              </a:spcBef>
              <a:buFont typeface="Arial"/>
              <a:buChar char="•"/>
            </a:pPr>
            <a:r>
              <a:rPr sz="2400" spc="129" dirty="0" smtClean="0">
                <a:cs typeface="Times New Roman"/>
              </a:rPr>
              <a:t>Funded</a:t>
            </a:r>
            <a:r>
              <a:rPr sz="2400" spc="50" dirty="0" smtClean="0">
                <a:cs typeface="Times New Roman"/>
              </a:rPr>
              <a:t> </a:t>
            </a:r>
            <a:r>
              <a:rPr sz="2400" spc="59" dirty="0">
                <a:cs typeface="Times New Roman"/>
              </a:rPr>
              <a:t>b</a:t>
            </a:r>
            <a:r>
              <a:rPr sz="2400" spc="-20" dirty="0">
                <a:cs typeface="Times New Roman"/>
              </a:rPr>
              <a:t>y</a:t>
            </a:r>
            <a:r>
              <a:rPr sz="2400" spc="50" dirty="0">
                <a:cs typeface="Times New Roman"/>
              </a:rPr>
              <a:t> </a:t>
            </a:r>
            <a:r>
              <a:rPr sz="2400" spc="99" dirty="0">
                <a:cs typeface="Times New Roman"/>
              </a:rPr>
              <a:t>NSF</a:t>
            </a:r>
            <a:r>
              <a:rPr sz="2400" spc="50" dirty="0">
                <a:cs typeface="Times New Roman"/>
              </a:rPr>
              <a:t> </a:t>
            </a:r>
            <a:r>
              <a:rPr sz="2400" spc="59" dirty="0">
                <a:cs typeface="Times New Roman"/>
              </a:rPr>
              <a:t>G</a:t>
            </a:r>
            <a:r>
              <a:rPr sz="2400" spc="-10" dirty="0">
                <a:cs typeface="Times New Roman"/>
              </a:rPr>
              <a:t>r</a:t>
            </a:r>
            <a:r>
              <a:rPr sz="2400" spc="99" dirty="0">
                <a:cs typeface="Times New Roman"/>
              </a:rPr>
              <a:t>ant</a:t>
            </a:r>
            <a:r>
              <a:rPr sz="2400" spc="50" dirty="0">
                <a:cs typeface="Times New Roman"/>
              </a:rPr>
              <a:t> </a:t>
            </a:r>
            <a:r>
              <a:rPr sz="2400" spc="99" dirty="0">
                <a:cs typeface="Times New Roman"/>
                <a:hlinkClick r:id="rId2"/>
              </a:rPr>
              <a:t>#1131848</a:t>
            </a:r>
            <a:r>
              <a:rPr sz="2400" spc="99" dirty="0" smtClean="0">
                <a:cs typeface="Times New Roman"/>
                <a:hlinkClick r:id="rId2"/>
              </a:rPr>
              <a:t>.</a:t>
            </a:r>
            <a:endParaRPr lang="en-US" sz="2400" dirty="0">
              <a:cs typeface="Times New Roman"/>
            </a:endParaRPr>
          </a:p>
          <a:p>
            <a:pPr marL="622387" marR="12590" indent="-342900" algn="just">
              <a:lnSpc>
                <a:spcPct val="102600"/>
              </a:lnSpc>
              <a:spcBef>
                <a:spcPts val="1100"/>
              </a:spcBef>
              <a:buFont typeface="Arial"/>
              <a:buChar char="•"/>
            </a:pPr>
            <a:r>
              <a:rPr sz="2400" spc="-163" baseline="6944" dirty="0" smtClean="0">
                <a:solidFill>
                  <a:srgbClr val="B21C1C"/>
                </a:solidFill>
                <a:cs typeface="Times New Roman"/>
              </a:rPr>
              <a:t> </a:t>
            </a:r>
            <a:r>
              <a:rPr sz="2400" spc="20" dirty="0">
                <a:cs typeface="Times New Roman"/>
              </a:rPr>
              <a:t>F</a:t>
            </a:r>
            <a:r>
              <a:rPr sz="2400" spc="40" dirty="0">
                <a:cs typeface="Times New Roman"/>
              </a:rPr>
              <a:t>or</a:t>
            </a:r>
            <a:r>
              <a:rPr sz="2400" spc="50" dirty="0">
                <a:cs typeface="Times New Roman"/>
              </a:rPr>
              <a:t> </a:t>
            </a:r>
            <a:r>
              <a:rPr sz="2400" spc="109" dirty="0">
                <a:cs typeface="Times New Roman"/>
              </a:rPr>
              <a:t>more</a:t>
            </a:r>
            <a:r>
              <a:rPr sz="2400" spc="50" dirty="0">
                <a:cs typeface="Times New Roman"/>
              </a:rPr>
              <a:t> </a:t>
            </a:r>
            <a:r>
              <a:rPr sz="2400" spc="-59" dirty="0">
                <a:cs typeface="Times New Roman"/>
              </a:rPr>
              <a:t>in</a:t>
            </a:r>
            <a:r>
              <a:rPr sz="2400" spc="-119" dirty="0">
                <a:cs typeface="Times New Roman"/>
              </a:rPr>
              <a:t>f</a:t>
            </a:r>
            <a:r>
              <a:rPr sz="2400" spc="50" dirty="0">
                <a:cs typeface="Times New Roman"/>
              </a:rPr>
              <a:t>o</a:t>
            </a:r>
            <a:r>
              <a:rPr sz="2400" spc="79" dirty="0">
                <a:cs typeface="Times New Roman"/>
              </a:rPr>
              <a:t>r</a:t>
            </a:r>
            <a:r>
              <a:rPr sz="2400" spc="59" dirty="0">
                <a:cs typeface="Times New Roman"/>
              </a:rPr>
              <a:t>mation,</a:t>
            </a:r>
            <a:r>
              <a:rPr sz="2400" spc="50" dirty="0">
                <a:cs typeface="Times New Roman"/>
              </a:rPr>
              <a:t> </a:t>
            </a:r>
            <a:r>
              <a:rPr sz="2400" spc="226" dirty="0">
                <a:cs typeface="Times New Roman"/>
              </a:rPr>
              <a:t>see</a:t>
            </a:r>
            <a:r>
              <a:rPr sz="2400" spc="50" dirty="0">
                <a:cs typeface="Times New Roman"/>
              </a:rPr>
              <a:t> </a:t>
            </a:r>
            <a:r>
              <a:rPr sz="2400" spc="-20" dirty="0">
                <a:cs typeface="Times New Roman"/>
                <a:hlinkClick r:id="rId3"/>
              </a:rPr>
              <a:t>ww</a:t>
            </a:r>
            <a:r>
              <a:rPr sz="2400" spc="-159" dirty="0">
                <a:cs typeface="Times New Roman"/>
                <a:hlinkClick r:id="rId3"/>
              </a:rPr>
              <a:t>w</a:t>
            </a:r>
            <a:r>
              <a:rPr sz="2400" spc="69" dirty="0">
                <a:cs typeface="Times New Roman"/>
                <a:hlinkClick r:id="rId3"/>
              </a:rPr>
              <a:t>.nc</a:t>
            </a:r>
            <a:r>
              <a:rPr sz="2400" spc="99" dirty="0">
                <a:cs typeface="Times New Roman"/>
                <a:hlinkClick r:id="rId3"/>
              </a:rPr>
              <a:t>r</a:t>
            </a:r>
            <a:r>
              <a:rPr sz="2400" spc="69" dirty="0">
                <a:cs typeface="Times New Roman"/>
                <a:hlinkClick r:id="rId3"/>
              </a:rPr>
              <a:t>n.co</a:t>
            </a:r>
            <a:r>
              <a:rPr sz="2400" spc="99" dirty="0">
                <a:cs typeface="Times New Roman"/>
                <a:hlinkClick r:id="rId3"/>
              </a:rPr>
              <a:t>r</a:t>
            </a:r>
            <a:r>
              <a:rPr sz="2400" spc="59" dirty="0">
                <a:cs typeface="Times New Roman"/>
                <a:hlinkClick r:id="rId3"/>
              </a:rPr>
              <a:t>nell.edu</a:t>
            </a:r>
            <a:r>
              <a:rPr sz="2200" spc="59" dirty="0">
                <a:cs typeface="Times New Roman"/>
                <a:hlinkClick r:id="rId3"/>
              </a:rPr>
              <a:t>.</a:t>
            </a:r>
            <a:endParaRPr sz="2200" dirty="0">
              <a:cs typeface="Times New Roman"/>
            </a:endParaRPr>
          </a:p>
        </p:txBody>
      </p:sp>
      <p:sp>
        <p:nvSpPr>
          <p:cNvPr id="10" name="object 6"/>
          <p:cNvSpPr/>
          <p:nvPr/>
        </p:nvSpPr>
        <p:spPr>
          <a:xfrm>
            <a:off x="3200400" y="4648200"/>
            <a:ext cx="1555242" cy="1539151"/>
          </a:xfrm>
          <a:prstGeom prst="rect">
            <a:avLst/>
          </a:prstGeom>
          <a:blipFill>
            <a:blip r:embed="rId4" cstate="print"/>
            <a:stretch>
              <a:fillRect/>
            </a:stretch>
          </a:blipFill>
        </p:spPr>
        <p:txBody>
          <a:bodyPr wrap="square" lIns="0" tIns="0" rIns="0" bIns="0" rtlCol="0">
            <a:spAutoFit/>
          </a:bodyPr>
          <a:lstStyle/>
          <a:p>
            <a:endParaRPr/>
          </a:p>
        </p:txBody>
      </p:sp>
      <p:sp>
        <p:nvSpPr>
          <p:cNvPr id="11" name="TextBox 10"/>
          <p:cNvSpPr txBox="1"/>
          <p:nvPr/>
        </p:nvSpPr>
        <p:spPr>
          <a:xfrm>
            <a:off x="533400" y="1219200"/>
            <a:ext cx="8229600" cy="1384995"/>
          </a:xfrm>
          <a:prstGeom prst="rect">
            <a:avLst/>
          </a:prstGeom>
          <a:noFill/>
        </p:spPr>
        <p:txBody>
          <a:bodyPr wrap="square" rtlCol="0">
            <a:spAutoFit/>
          </a:bodyPr>
          <a:lstStyle/>
          <a:p>
            <a:r>
              <a:rPr lang="en-US" sz="2800" dirty="0" smtClean="0"/>
              <a:t>NSF-Census Research Network (NCRN) – Cornell Node (“Integrated Research Support, Training and Documentation”)</a:t>
            </a:r>
            <a:endParaRPr lang="en-US" sz="2800" baseline="30000" dirty="0"/>
          </a:p>
        </p:txBody>
      </p:sp>
    </p:spTree>
    <p:extLst>
      <p:ext uri="{BB962C8B-B14F-4D97-AF65-F5344CB8AC3E}">
        <p14:creationId xmlns:p14="http://schemas.microsoft.com/office/powerpoint/2010/main" val="3396163539"/>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750" y="3048000"/>
            <a:ext cx="8591606"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90600" y="2438400"/>
            <a:ext cx="6814686" cy="461665"/>
          </a:xfrm>
          <a:prstGeom prst="rect">
            <a:avLst/>
          </a:prstGeom>
          <a:noFill/>
        </p:spPr>
        <p:txBody>
          <a:bodyPr wrap="none" rtlCol="0">
            <a:spAutoFit/>
          </a:bodyPr>
          <a:lstStyle/>
          <a:p>
            <a:r>
              <a:rPr lang="en-US" sz="2400" dirty="0" smtClean="0"/>
              <a:t>NCRN DDI Solution at the Variable Level:  &lt;</a:t>
            </a:r>
            <a:r>
              <a:rPr lang="en-US" sz="2400" dirty="0" err="1" smtClean="0"/>
              <a:t>dataAccs</a:t>
            </a:r>
            <a:r>
              <a:rPr lang="en-US" sz="2400" dirty="0" smtClean="0"/>
              <a:t>&gt;</a:t>
            </a:r>
            <a:endParaRPr lang="en-US" sz="2400" dirty="0"/>
          </a:p>
        </p:txBody>
      </p:sp>
      <p:sp>
        <p:nvSpPr>
          <p:cNvPr id="2" name="TextBox 1"/>
          <p:cNvSpPr txBox="1"/>
          <p:nvPr/>
        </p:nvSpPr>
        <p:spPr>
          <a:xfrm>
            <a:off x="8716879" y="6096000"/>
            <a:ext cx="427121" cy="646331"/>
          </a:xfrm>
          <a:prstGeom prst="rect">
            <a:avLst/>
          </a:prstGeom>
          <a:noFill/>
        </p:spPr>
        <p:txBody>
          <a:bodyPr wrap="square" rtlCol="0">
            <a:spAutoFit/>
          </a:bodyPr>
          <a:lstStyle/>
          <a:p>
            <a:r>
              <a:rPr lang="en-US" dirty="0" smtClean="0"/>
              <a:t>10</a:t>
            </a:r>
          </a:p>
          <a:p>
            <a:r>
              <a:rPr lang="en-US" dirty="0" smtClean="0"/>
              <a:t>15</a:t>
            </a:r>
            <a:endParaRPr lang="en-US" dirty="0" smtClean="0"/>
          </a:p>
        </p:txBody>
      </p:sp>
      <p:sp>
        <p:nvSpPr>
          <p:cNvPr id="4" name="TextBox 3"/>
          <p:cNvSpPr txBox="1"/>
          <p:nvPr/>
        </p:nvSpPr>
        <p:spPr>
          <a:xfrm>
            <a:off x="1219200" y="1066800"/>
            <a:ext cx="7239000" cy="1384995"/>
          </a:xfrm>
          <a:prstGeom prst="rect">
            <a:avLst/>
          </a:prstGeom>
          <a:noFill/>
        </p:spPr>
        <p:txBody>
          <a:bodyPr wrap="square" rtlCol="0">
            <a:spAutoFit/>
          </a:bodyPr>
          <a:lstStyle/>
          <a:p>
            <a:r>
              <a:rPr lang="en-US" sz="2800" dirty="0" smtClean="0"/>
              <a:t>Proposed a &lt;</a:t>
            </a:r>
            <a:r>
              <a:rPr lang="en-US" sz="2800" dirty="0" err="1" smtClean="0"/>
              <a:t>dataAccs</a:t>
            </a:r>
            <a:r>
              <a:rPr lang="en-US" sz="2800" dirty="0" smtClean="0"/>
              <a:t>&gt; Solution at </a:t>
            </a:r>
            <a:r>
              <a:rPr lang="en-US" sz="2800" dirty="0"/>
              <a:t>EDDI12 in </a:t>
            </a:r>
            <a:r>
              <a:rPr lang="en-US" sz="2800" dirty="0" smtClean="0"/>
              <a:t>Bergen</a:t>
            </a:r>
          </a:p>
          <a:p>
            <a:endParaRPr lang="en-US" sz="2800" dirty="0"/>
          </a:p>
        </p:txBody>
      </p:sp>
    </p:spTree>
    <p:extLst>
      <p:ext uri="{BB962C8B-B14F-4D97-AF65-F5344CB8AC3E}">
        <p14:creationId xmlns:p14="http://schemas.microsoft.com/office/powerpoint/2010/main" val="269673101"/>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1" y="1752600"/>
            <a:ext cx="5943599" cy="4329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Oval 7"/>
          <p:cNvSpPr/>
          <p:nvPr/>
        </p:nvSpPr>
        <p:spPr>
          <a:xfrm>
            <a:off x="6477000" y="1676400"/>
            <a:ext cx="914400" cy="381000"/>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Oval 10"/>
          <p:cNvSpPr/>
          <p:nvPr/>
        </p:nvSpPr>
        <p:spPr>
          <a:xfrm>
            <a:off x="6096000" y="4114800"/>
            <a:ext cx="914400" cy="381000"/>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extBox 1"/>
          <p:cNvSpPr txBox="1"/>
          <p:nvPr/>
        </p:nvSpPr>
        <p:spPr>
          <a:xfrm>
            <a:off x="2362200" y="1295400"/>
            <a:ext cx="4553650" cy="461665"/>
          </a:xfrm>
          <a:prstGeom prst="rect">
            <a:avLst/>
          </a:prstGeom>
          <a:noFill/>
        </p:spPr>
        <p:txBody>
          <a:bodyPr wrap="none" rtlCol="0">
            <a:spAutoFit/>
          </a:bodyPr>
          <a:lstStyle/>
          <a:p>
            <a:r>
              <a:rPr lang="en-US" sz="2400" dirty="0" smtClean="0"/>
              <a:t>Variable Level Solution (continued)</a:t>
            </a:r>
            <a:endParaRPr lang="en-US" sz="2400" dirty="0"/>
          </a:p>
        </p:txBody>
      </p:sp>
      <p:sp>
        <p:nvSpPr>
          <p:cNvPr id="3" name="TextBox 2"/>
          <p:cNvSpPr txBox="1"/>
          <p:nvPr/>
        </p:nvSpPr>
        <p:spPr>
          <a:xfrm>
            <a:off x="8725346" y="6172200"/>
            <a:ext cx="418654" cy="369332"/>
          </a:xfrm>
          <a:prstGeom prst="rect">
            <a:avLst/>
          </a:prstGeom>
          <a:noFill/>
        </p:spPr>
        <p:txBody>
          <a:bodyPr wrap="none" rtlCol="0">
            <a:spAutoFit/>
          </a:bodyPr>
          <a:lstStyle/>
          <a:p>
            <a:r>
              <a:rPr lang="en-US" dirty="0" smtClean="0"/>
              <a:t>11</a:t>
            </a:r>
            <a:endParaRPr lang="en-US" dirty="0"/>
          </a:p>
        </p:txBody>
      </p:sp>
    </p:spTree>
    <p:extLst>
      <p:ext uri="{BB962C8B-B14F-4D97-AF65-F5344CB8AC3E}">
        <p14:creationId xmlns:p14="http://schemas.microsoft.com/office/powerpoint/2010/main" val="1842085068"/>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905000"/>
            <a:ext cx="7175329" cy="391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Oval 3"/>
          <p:cNvSpPr/>
          <p:nvPr/>
        </p:nvSpPr>
        <p:spPr>
          <a:xfrm>
            <a:off x="6781800" y="1752600"/>
            <a:ext cx="990600" cy="457200"/>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Oval 4"/>
          <p:cNvSpPr/>
          <p:nvPr/>
        </p:nvSpPr>
        <p:spPr>
          <a:xfrm>
            <a:off x="2286000" y="4800600"/>
            <a:ext cx="1066800" cy="381000"/>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extBox 1"/>
          <p:cNvSpPr txBox="1"/>
          <p:nvPr/>
        </p:nvSpPr>
        <p:spPr>
          <a:xfrm>
            <a:off x="2286000" y="1143000"/>
            <a:ext cx="4357708" cy="369332"/>
          </a:xfrm>
          <a:prstGeom prst="rect">
            <a:avLst/>
          </a:prstGeom>
          <a:noFill/>
        </p:spPr>
        <p:txBody>
          <a:bodyPr wrap="none" rtlCol="0">
            <a:spAutoFit/>
          </a:bodyPr>
          <a:lstStyle/>
          <a:p>
            <a:r>
              <a:rPr lang="en-US" dirty="0" smtClean="0"/>
              <a:t>No DDI Solution at the level of a </a:t>
            </a:r>
            <a:r>
              <a:rPr lang="en-US" i="1" dirty="0" smtClean="0"/>
              <a:t>Value Label </a:t>
            </a:r>
            <a:endParaRPr lang="en-US" i="1" dirty="0"/>
          </a:p>
        </p:txBody>
      </p:sp>
      <p:sp>
        <p:nvSpPr>
          <p:cNvPr id="3" name="TextBox 2"/>
          <p:cNvSpPr txBox="1"/>
          <p:nvPr/>
        </p:nvSpPr>
        <p:spPr>
          <a:xfrm>
            <a:off x="1828800" y="5943600"/>
            <a:ext cx="5426410" cy="369332"/>
          </a:xfrm>
          <a:prstGeom prst="rect">
            <a:avLst/>
          </a:prstGeom>
          <a:noFill/>
        </p:spPr>
        <p:txBody>
          <a:bodyPr wrap="none" rtlCol="0">
            <a:spAutoFit/>
          </a:bodyPr>
          <a:lstStyle/>
          <a:p>
            <a:r>
              <a:rPr lang="en-US" dirty="0" smtClean="0"/>
              <a:t>Small tweak to the DDI Codebook Schema would fix this.</a:t>
            </a:r>
            <a:endParaRPr lang="en-US" dirty="0"/>
          </a:p>
        </p:txBody>
      </p:sp>
      <p:sp>
        <p:nvSpPr>
          <p:cNvPr id="6" name="TextBox 5"/>
          <p:cNvSpPr txBox="1"/>
          <p:nvPr/>
        </p:nvSpPr>
        <p:spPr>
          <a:xfrm>
            <a:off x="8725346" y="6172200"/>
            <a:ext cx="418654" cy="369332"/>
          </a:xfrm>
          <a:prstGeom prst="rect">
            <a:avLst/>
          </a:prstGeom>
          <a:noFill/>
        </p:spPr>
        <p:txBody>
          <a:bodyPr wrap="none" rtlCol="0">
            <a:spAutoFit/>
          </a:bodyPr>
          <a:lstStyle/>
          <a:p>
            <a:r>
              <a:rPr lang="en-US" dirty="0" smtClean="0"/>
              <a:t>12</a:t>
            </a:r>
          </a:p>
        </p:txBody>
      </p:sp>
    </p:spTree>
    <p:extLst>
      <p:ext uri="{BB962C8B-B14F-4D97-AF65-F5344CB8AC3E}">
        <p14:creationId xmlns:p14="http://schemas.microsoft.com/office/powerpoint/2010/main" val="3895222356"/>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725346" y="6172200"/>
            <a:ext cx="418654" cy="369332"/>
          </a:xfrm>
          <a:prstGeom prst="rect">
            <a:avLst/>
          </a:prstGeom>
          <a:noFill/>
        </p:spPr>
        <p:txBody>
          <a:bodyPr wrap="none" rtlCol="0">
            <a:spAutoFit/>
          </a:bodyPr>
          <a:lstStyle/>
          <a:p>
            <a:r>
              <a:rPr lang="en-US" dirty="0" smtClean="0"/>
              <a:t>13</a:t>
            </a:r>
            <a:endParaRPr lang="en-US" dirty="0"/>
          </a:p>
        </p:txBody>
      </p:sp>
      <p:sp>
        <p:nvSpPr>
          <p:cNvPr id="8" name="TextBox 7"/>
          <p:cNvSpPr txBox="1"/>
          <p:nvPr/>
        </p:nvSpPr>
        <p:spPr>
          <a:xfrm>
            <a:off x="609600" y="1229380"/>
            <a:ext cx="8229600" cy="523220"/>
          </a:xfrm>
          <a:prstGeom prst="rect">
            <a:avLst/>
          </a:prstGeom>
          <a:noFill/>
        </p:spPr>
        <p:txBody>
          <a:bodyPr wrap="square" rtlCol="0">
            <a:spAutoFit/>
          </a:bodyPr>
          <a:lstStyle/>
          <a:p>
            <a:r>
              <a:rPr lang="en-US" sz="2800" dirty="0" smtClean="0"/>
              <a:t>&lt;</a:t>
            </a:r>
            <a:r>
              <a:rPr lang="en-US" sz="2800" dirty="0" err="1" smtClean="0"/>
              <a:t>dataAccs</a:t>
            </a:r>
            <a:r>
              <a:rPr lang="en-US" sz="2800" dirty="0" smtClean="0"/>
              <a:t>&gt; developments since EDDI12</a:t>
            </a:r>
            <a:endParaRPr lang="en-US" sz="2800" dirty="0"/>
          </a:p>
        </p:txBody>
      </p:sp>
      <p:sp>
        <p:nvSpPr>
          <p:cNvPr id="10" name="TextBox 9"/>
          <p:cNvSpPr txBox="1"/>
          <p:nvPr/>
        </p:nvSpPr>
        <p:spPr>
          <a:xfrm>
            <a:off x="685800" y="1905000"/>
            <a:ext cx="8458200" cy="4001095"/>
          </a:xfrm>
          <a:prstGeom prst="rect">
            <a:avLst/>
          </a:prstGeom>
          <a:noFill/>
        </p:spPr>
        <p:txBody>
          <a:bodyPr wrap="square" rtlCol="0">
            <a:spAutoFit/>
          </a:bodyPr>
          <a:lstStyle/>
          <a:p>
            <a:pPr marL="342900" indent="-342900">
              <a:buFont typeface="Arial"/>
              <a:buChar char="•"/>
            </a:pPr>
            <a:r>
              <a:rPr lang="en-US" sz="2400" dirty="0" smtClean="0"/>
              <a:t>In </a:t>
            </a:r>
            <a:r>
              <a:rPr lang="en-US" sz="2400" dirty="0" err="1" smtClean="0"/>
              <a:t>Lagoze</a:t>
            </a:r>
            <a:r>
              <a:rPr lang="en-US" sz="2400" dirty="0" smtClean="0"/>
              <a:t>, Block </a:t>
            </a:r>
            <a:r>
              <a:rPr lang="en-US" sz="2400" dirty="0" err="1" smtClean="0"/>
              <a:t>et.al</a:t>
            </a:r>
            <a:r>
              <a:rPr lang="en-US" sz="2400" dirty="0" smtClean="0"/>
              <a:t>. (2013) we more completely </a:t>
            </a:r>
            <a:r>
              <a:rPr lang="en-US" sz="2400" dirty="0"/>
              <a:t>described </a:t>
            </a:r>
            <a:endParaRPr lang="en-US" sz="2400" dirty="0" smtClean="0"/>
          </a:p>
          <a:p>
            <a:r>
              <a:rPr lang="en-US" sz="2400" dirty="0"/>
              <a:t>t</a:t>
            </a:r>
            <a:r>
              <a:rPr lang="en-US" sz="2400" dirty="0" smtClean="0"/>
              <a:t>he solution for embedding </a:t>
            </a:r>
            <a:r>
              <a:rPr lang="en-US" sz="2400" dirty="0"/>
              <a:t>field-specific and value-specific </a:t>
            </a:r>
            <a:endParaRPr lang="en-US" sz="2400" dirty="0" smtClean="0"/>
          </a:p>
          <a:p>
            <a:r>
              <a:rPr lang="en-US" sz="2400" dirty="0" smtClean="0"/>
              <a:t>cloaking </a:t>
            </a:r>
            <a:r>
              <a:rPr lang="en-US" sz="2400" dirty="0"/>
              <a:t>in DDI </a:t>
            </a:r>
            <a:r>
              <a:rPr lang="en-US" sz="2400" dirty="0" smtClean="0"/>
              <a:t>Metadata*</a:t>
            </a:r>
          </a:p>
          <a:p>
            <a:pPr marL="342900" indent="-342900">
              <a:buFont typeface="Arial"/>
              <a:buChar char="•"/>
            </a:pPr>
            <a:r>
              <a:rPr lang="en-US" sz="2400" dirty="0" smtClean="0"/>
              <a:t>Proposed formal change to DDI 2.5 (April 2013)</a:t>
            </a:r>
          </a:p>
          <a:p>
            <a:pPr marL="342900" indent="-342900">
              <a:buFont typeface="Arial"/>
              <a:buChar char="•"/>
            </a:pPr>
            <a:r>
              <a:rPr lang="en-US" sz="2400" dirty="0" smtClean="0"/>
              <a:t>Brought modified “DDI 2.5.NCRN” schema online for testing</a:t>
            </a:r>
          </a:p>
          <a:p>
            <a:r>
              <a:rPr lang="en-US" sz="2400" dirty="0" smtClean="0"/>
              <a:t>    (Fall 2013)</a:t>
            </a:r>
          </a:p>
          <a:p>
            <a:pPr marL="342900" indent="-342900">
              <a:buFont typeface="Arial"/>
              <a:buChar char="•"/>
            </a:pPr>
            <a:r>
              <a:rPr lang="en-US" sz="2400" dirty="0" smtClean="0"/>
              <a:t>Look forward to DDI Technical Implementation Committee </a:t>
            </a:r>
          </a:p>
          <a:p>
            <a:r>
              <a:rPr lang="en-US" sz="2400" dirty="0" smtClean="0"/>
              <a:t>taking up our proposal; we have learned a lot since EDDI12</a:t>
            </a:r>
          </a:p>
          <a:p>
            <a:endParaRPr lang="en-US" sz="2400" dirty="0" smtClean="0"/>
          </a:p>
          <a:p>
            <a:r>
              <a:rPr lang="en-US" sz="2400" dirty="0" smtClean="0"/>
              <a:t>*</a:t>
            </a:r>
            <a:r>
              <a:rPr lang="en-US" sz="1400" dirty="0" err="1" smtClean="0"/>
              <a:t>Lagoze</a:t>
            </a:r>
            <a:r>
              <a:rPr lang="en-US" sz="1400" dirty="0"/>
              <a:t>, C., Block, W., Williams, J., </a:t>
            </a:r>
            <a:r>
              <a:rPr lang="en-US" sz="1400" dirty="0" err="1"/>
              <a:t>Abowd</a:t>
            </a:r>
            <a:r>
              <a:rPr lang="en-US" sz="1400" dirty="0"/>
              <a:t>, J. M., &amp; </a:t>
            </a:r>
            <a:r>
              <a:rPr lang="en-US" sz="1400" dirty="0" err="1"/>
              <a:t>Vilhuber</a:t>
            </a:r>
            <a:r>
              <a:rPr lang="en-US" sz="1400" dirty="0"/>
              <a:t>, L. </a:t>
            </a:r>
            <a:r>
              <a:rPr lang="en-US" sz="1400" dirty="0" smtClean="0"/>
              <a:t>(</a:t>
            </a:r>
            <a:r>
              <a:rPr lang="en-US" sz="1400" dirty="0"/>
              <a:t>2013). Data Management of Confidential </a:t>
            </a:r>
            <a:endParaRPr lang="en-US" sz="1400" dirty="0" smtClean="0"/>
          </a:p>
          <a:p>
            <a:r>
              <a:rPr lang="en-US" sz="1400" dirty="0" smtClean="0"/>
              <a:t>Data</a:t>
            </a:r>
            <a:r>
              <a:rPr lang="en-US" sz="1400" dirty="0"/>
              <a:t>. In </a:t>
            </a:r>
            <a:r>
              <a:rPr lang="en-US" sz="1400" i="1" dirty="0"/>
              <a:t>International Data </a:t>
            </a:r>
            <a:r>
              <a:rPr lang="en-US" sz="1400" i="1" dirty="0" err="1"/>
              <a:t>Curation</a:t>
            </a:r>
            <a:r>
              <a:rPr lang="en-US" sz="1400" i="1" dirty="0"/>
              <a:t> Conference</a:t>
            </a:r>
            <a:r>
              <a:rPr lang="en-US" sz="1400" dirty="0"/>
              <a:t>. Amsterdam. </a:t>
            </a:r>
          </a:p>
        </p:txBody>
      </p:sp>
    </p:spTree>
    <p:extLst>
      <p:ext uri="{BB962C8B-B14F-4D97-AF65-F5344CB8AC3E}">
        <p14:creationId xmlns:p14="http://schemas.microsoft.com/office/powerpoint/2010/main" val="4018322691"/>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725346" y="6172200"/>
            <a:ext cx="418654" cy="369332"/>
          </a:xfrm>
          <a:prstGeom prst="rect">
            <a:avLst/>
          </a:prstGeom>
          <a:noFill/>
        </p:spPr>
        <p:txBody>
          <a:bodyPr wrap="none" rtlCol="0">
            <a:spAutoFit/>
          </a:bodyPr>
          <a:lstStyle/>
          <a:p>
            <a:r>
              <a:rPr lang="en-US" dirty="0" smtClean="0"/>
              <a:t>14</a:t>
            </a:r>
          </a:p>
        </p:txBody>
      </p:sp>
      <p:sp>
        <p:nvSpPr>
          <p:cNvPr id="8" name="TextBox 7"/>
          <p:cNvSpPr txBox="1"/>
          <p:nvPr/>
        </p:nvSpPr>
        <p:spPr>
          <a:xfrm>
            <a:off x="609600" y="1229380"/>
            <a:ext cx="8229600" cy="523220"/>
          </a:xfrm>
          <a:prstGeom prst="rect">
            <a:avLst/>
          </a:prstGeom>
          <a:noFill/>
        </p:spPr>
        <p:txBody>
          <a:bodyPr wrap="square" rtlCol="0">
            <a:spAutoFit/>
          </a:bodyPr>
          <a:lstStyle/>
          <a:p>
            <a:r>
              <a:rPr lang="en-US" sz="2800" dirty="0" smtClean="0"/>
              <a:t>Provenance</a:t>
            </a:r>
            <a:endParaRPr lang="en-US" sz="2800" dirty="0"/>
          </a:p>
        </p:txBody>
      </p:sp>
      <p:sp>
        <p:nvSpPr>
          <p:cNvPr id="10" name="TextBox 9"/>
          <p:cNvSpPr txBox="1"/>
          <p:nvPr/>
        </p:nvSpPr>
        <p:spPr>
          <a:xfrm>
            <a:off x="533400" y="2133601"/>
            <a:ext cx="7924800" cy="5898285"/>
          </a:xfrm>
          <a:prstGeom prst="rect">
            <a:avLst/>
          </a:prstGeom>
          <a:noFill/>
        </p:spPr>
        <p:txBody>
          <a:bodyPr wrap="square" rtlCol="0">
            <a:spAutoFit/>
          </a:bodyPr>
          <a:lstStyle/>
          <a:p>
            <a:pPr marL="12700" marR="6350">
              <a:lnSpc>
                <a:spcPct val="102600"/>
              </a:lnSpc>
              <a:spcBef>
                <a:spcPts val="185"/>
              </a:spcBef>
            </a:pPr>
            <a:r>
              <a:rPr lang="en-US" sz="2400" dirty="0" smtClean="0"/>
              <a:t>“data provenance, one kind of </a:t>
            </a:r>
            <a:r>
              <a:rPr lang="en-US" sz="2400" spc="65" dirty="0" smtClean="0"/>
              <a:t>metadata</a:t>
            </a:r>
            <a:r>
              <a:rPr lang="en-US" sz="2400" spc="65" dirty="0"/>
              <a:t>,</a:t>
            </a:r>
            <a:r>
              <a:rPr lang="en-US" sz="2400" spc="25" dirty="0"/>
              <a:t> </a:t>
            </a:r>
            <a:r>
              <a:rPr lang="en-US" sz="2400" spc="60" dirty="0"/>
              <a:t>pe</a:t>
            </a:r>
            <a:r>
              <a:rPr lang="en-US" sz="2400" spc="75" dirty="0"/>
              <a:t>r</a:t>
            </a:r>
            <a:r>
              <a:rPr lang="en-US" sz="2400" spc="45" dirty="0"/>
              <a:t>tains</a:t>
            </a:r>
            <a:r>
              <a:rPr lang="en-US" sz="2400" spc="25" dirty="0"/>
              <a:t> to </a:t>
            </a:r>
            <a:r>
              <a:rPr lang="en-US" sz="2400" spc="50" dirty="0"/>
              <a:t>the der</a:t>
            </a:r>
            <a:r>
              <a:rPr lang="en-US" sz="2400" spc="-25" dirty="0"/>
              <a:t>i</a:t>
            </a:r>
            <a:r>
              <a:rPr lang="en-US" sz="2400" spc="-75" dirty="0"/>
              <a:t>v</a:t>
            </a:r>
            <a:r>
              <a:rPr lang="en-US" sz="2400" spc="30" dirty="0"/>
              <a:t>ation</a:t>
            </a:r>
            <a:r>
              <a:rPr lang="en-US" sz="2400" spc="25" dirty="0"/>
              <a:t> histo</a:t>
            </a:r>
            <a:r>
              <a:rPr lang="en-US" sz="2400" spc="50" dirty="0"/>
              <a:t>r</a:t>
            </a:r>
            <a:r>
              <a:rPr lang="en-US" sz="2400" spc="-10" dirty="0"/>
              <a:t>y</a:t>
            </a:r>
            <a:r>
              <a:rPr lang="en-US" sz="2400" spc="25" dirty="0"/>
              <a:t> </a:t>
            </a:r>
            <a:r>
              <a:rPr lang="en-US" sz="2400" spc="-5" dirty="0"/>
              <a:t>of</a:t>
            </a:r>
            <a:r>
              <a:rPr lang="en-US" sz="2400" spc="25" dirty="0"/>
              <a:t> </a:t>
            </a:r>
            <a:r>
              <a:rPr lang="en-US" sz="2400" spc="114" dirty="0"/>
              <a:t>a</a:t>
            </a:r>
            <a:r>
              <a:rPr lang="en-US" sz="2400" spc="25" dirty="0"/>
              <a:t> </a:t>
            </a:r>
            <a:r>
              <a:rPr lang="en-US" sz="2400" spc="70" dirty="0"/>
              <a:t>data</a:t>
            </a:r>
            <a:r>
              <a:rPr lang="en-US" sz="2400" spc="25" dirty="0"/>
              <a:t> </a:t>
            </a:r>
            <a:r>
              <a:rPr lang="en-US" sz="2400" spc="35" dirty="0"/>
              <a:t>product</a:t>
            </a:r>
            <a:r>
              <a:rPr lang="en-US" sz="2400" spc="25" dirty="0"/>
              <a:t> </a:t>
            </a:r>
            <a:r>
              <a:rPr lang="en-US" sz="2400" spc="55" dirty="0"/>
              <a:t>sta</a:t>
            </a:r>
            <a:r>
              <a:rPr lang="en-US" sz="2400" spc="90" dirty="0"/>
              <a:t>r</a:t>
            </a:r>
            <a:r>
              <a:rPr lang="en-US" sz="2400" spc="5" dirty="0"/>
              <a:t>ting</a:t>
            </a:r>
            <a:r>
              <a:rPr lang="en-US" sz="2400" spc="25" dirty="0"/>
              <a:t> </a:t>
            </a:r>
            <a:r>
              <a:rPr lang="en-US" sz="2400" spc="10" dirty="0"/>
              <a:t>from</a:t>
            </a:r>
            <a:r>
              <a:rPr lang="en-US" sz="2400" spc="25" dirty="0"/>
              <a:t> </a:t>
            </a:r>
            <a:r>
              <a:rPr lang="en-US" sz="2400" spc="15" dirty="0"/>
              <a:t>its</a:t>
            </a:r>
            <a:r>
              <a:rPr lang="en-US" sz="2400" spc="25" dirty="0"/>
              <a:t> or</a:t>
            </a:r>
            <a:r>
              <a:rPr lang="en-US" sz="2400" dirty="0"/>
              <a:t>iginal </a:t>
            </a:r>
            <a:r>
              <a:rPr lang="en-US" sz="2400" spc="45" dirty="0"/>
              <a:t>sources”</a:t>
            </a:r>
            <a:r>
              <a:rPr lang="en-US" sz="2400" spc="25" dirty="0"/>
              <a:t> </a:t>
            </a:r>
            <a:r>
              <a:rPr lang="en-US" sz="2400" spc="-10" dirty="0"/>
              <a:t>[...]</a:t>
            </a:r>
            <a:r>
              <a:rPr lang="en-US" sz="2400" spc="100" dirty="0"/>
              <a:t> </a:t>
            </a:r>
            <a:r>
              <a:rPr lang="en-US" sz="2400" spc="-25" dirty="0"/>
              <a:t>“from</a:t>
            </a:r>
            <a:r>
              <a:rPr lang="en-US" sz="2400" spc="25" dirty="0"/>
              <a:t> </a:t>
            </a:r>
            <a:r>
              <a:rPr lang="en-US" sz="2400" spc="-15" dirty="0"/>
              <a:t>it,</a:t>
            </a:r>
            <a:r>
              <a:rPr lang="en-US" sz="2400" spc="25" dirty="0"/>
              <a:t> </a:t>
            </a:r>
            <a:r>
              <a:rPr lang="en-US" sz="2400" spc="70" dirty="0"/>
              <a:t>one</a:t>
            </a:r>
            <a:r>
              <a:rPr lang="en-US" sz="2400" spc="25" dirty="0"/>
              <a:t> </a:t>
            </a:r>
            <a:r>
              <a:rPr lang="en-US" sz="2400" spc="75" dirty="0"/>
              <a:t>can</a:t>
            </a:r>
            <a:r>
              <a:rPr lang="en-US" sz="2400" spc="25" dirty="0"/>
              <a:t> </a:t>
            </a:r>
            <a:r>
              <a:rPr lang="en-US" sz="2400" spc="85" dirty="0"/>
              <a:t>asce</a:t>
            </a:r>
            <a:r>
              <a:rPr lang="en-US" sz="2400" spc="100" dirty="0"/>
              <a:t>r</a:t>
            </a:r>
            <a:r>
              <a:rPr lang="en-US" sz="2400" spc="20" dirty="0"/>
              <a:t>tain</a:t>
            </a:r>
            <a:r>
              <a:rPr lang="en-US" sz="2400" spc="25" dirty="0"/>
              <a:t> </a:t>
            </a:r>
            <a:r>
              <a:rPr lang="en-US" sz="2400" spc="50" dirty="0"/>
              <a:t>the</a:t>
            </a:r>
            <a:r>
              <a:rPr lang="en-US" sz="2400" spc="25" dirty="0"/>
              <a:t> </a:t>
            </a:r>
            <a:r>
              <a:rPr lang="en-US" sz="2400" spc="10" dirty="0"/>
              <a:t>quality</a:t>
            </a:r>
            <a:r>
              <a:rPr lang="en-US" sz="2400" spc="25" dirty="0"/>
              <a:t> </a:t>
            </a:r>
            <a:r>
              <a:rPr lang="en-US" sz="2400" spc="-5" dirty="0"/>
              <a:t>of</a:t>
            </a:r>
            <a:r>
              <a:rPr lang="en-US" sz="2400" spc="25" dirty="0"/>
              <a:t> </a:t>
            </a:r>
            <a:r>
              <a:rPr lang="en-US" sz="2400" spc="50" dirty="0"/>
              <a:t>the</a:t>
            </a:r>
            <a:r>
              <a:rPr lang="en-US" sz="2400" spc="25" dirty="0"/>
              <a:t> </a:t>
            </a:r>
            <a:r>
              <a:rPr lang="en-US" sz="2400" spc="70" dirty="0"/>
              <a:t>data</a:t>
            </a:r>
            <a:r>
              <a:rPr lang="en-US" sz="2400" spc="40" dirty="0"/>
              <a:t> </a:t>
            </a:r>
            <a:r>
              <a:rPr lang="en-US" sz="2400" spc="100" dirty="0"/>
              <a:t>base</a:t>
            </a:r>
            <a:r>
              <a:rPr lang="en-US" sz="2400" spc="25" dirty="0"/>
              <a:t> </a:t>
            </a:r>
            <a:r>
              <a:rPr lang="en-US" sz="2400" spc="70" dirty="0"/>
              <a:t>and</a:t>
            </a:r>
            <a:r>
              <a:rPr lang="en-US" sz="2400" spc="25" dirty="0"/>
              <a:t> </a:t>
            </a:r>
            <a:r>
              <a:rPr lang="en-US" sz="2400" spc="15" dirty="0"/>
              <a:t>its</a:t>
            </a:r>
            <a:r>
              <a:rPr lang="en-US" sz="2400" spc="25" dirty="0"/>
              <a:t> </a:t>
            </a:r>
            <a:r>
              <a:rPr lang="en-US" sz="2400" spc="60" dirty="0"/>
              <a:t>ancest</a:t>
            </a:r>
            <a:r>
              <a:rPr lang="en-US" sz="2400" spc="35" dirty="0"/>
              <a:t>r</a:t>
            </a:r>
            <a:r>
              <a:rPr lang="en-US" sz="2400" spc="25" dirty="0"/>
              <a:t>al </a:t>
            </a:r>
            <a:r>
              <a:rPr lang="en-US" sz="2400" spc="70" dirty="0"/>
              <a:t>data</a:t>
            </a:r>
            <a:r>
              <a:rPr lang="en-US" sz="2400" spc="25" dirty="0"/>
              <a:t> </a:t>
            </a:r>
            <a:r>
              <a:rPr lang="en-US" sz="2400" spc="70" dirty="0"/>
              <a:t>and</a:t>
            </a:r>
            <a:r>
              <a:rPr lang="en-US" sz="2400" spc="25" dirty="0"/>
              <a:t> </a:t>
            </a:r>
            <a:r>
              <a:rPr lang="en-US" sz="2400" spc="60" dirty="0"/>
              <a:t>de</a:t>
            </a:r>
            <a:r>
              <a:rPr lang="en-US" sz="2400" spc="50" dirty="0"/>
              <a:t>r</a:t>
            </a:r>
            <a:r>
              <a:rPr lang="en-US" sz="2400" spc="-25" dirty="0"/>
              <a:t>i</a:t>
            </a:r>
            <a:r>
              <a:rPr lang="en-US" sz="2400" spc="-75" dirty="0"/>
              <a:t>v</a:t>
            </a:r>
            <a:r>
              <a:rPr lang="en-US" sz="2400" spc="40" dirty="0"/>
              <a:t>ation</a:t>
            </a:r>
            <a:r>
              <a:rPr lang="en-US" sz="2400" spc="20" dirty="0"/>
              <a:t>s</a:t>
            </a:r>
            <a:r>
              <a:rPr lang="en-US" sz="2400" spc="25" dirty="0"/>
              <a:t>, </a:t>
            </a:r>
            <a:r>
              <a:rPr lang="en-US" sz="2400" spc="-5" dirty="0"/>
              <a:t>t</a:t>
            </a:r>
            <a:r>
              <a:rPr lang="en-US" sz="2400" spc="-20" dirty="0"/>
              <a:t>r</a:t>
            </a:r>
            <a:r>
              <a:rPr lang="en-US" sz="2400" spc="85" dirty="0"/>
              <a:t>a</a:t>
            </a:r>
            <a:r>
              <a:rPr lang="en-US" sz="2400" spc="60" dirty="0"/>
              <a:t>c</a:t>
            </a:r>
            <a:r>
              <a:rPr lang="en-US" sz="2400" spc="-10" dirty="0"/>
              <a:t>k</a:t>
            </a:r>
            <a:r>
              <a:rPr lang="en-US" sz="2400" spc="25" dirty="0"/>
              <a:t> </a:t>
            </a:r>
            <a:r>
              <a:rPr lang="en-US" sz="2400" spc="75" dirty="0"/>
              <a:t>ba</a:t>
            </a:r>
            <a:r>
              <a:rPr lang="en-US" sz="2400" spc="45" dirty="0"/>
              <a:t>c</a:t>
            </a:r>
            <a:r>
              <a:rPr lang="en-US" sz="2400" spc="-10" dirty="0"/>
              <a:t>k</a:t>
            </a:r>
            <a:r>
              <a:rPr lang="en-US" sz="2400" spc="25" dirty="0"/>
              <a:t> </a:t>
            </a:r>
            <a:r>
              <a:rPr lang="en-US" sz="2400" spc="70" dirty="0"/>
              <a:t>sources</a:t>
            </a:r>
            <a:r>
              <a:rPr lang="en-US" sz="2400" spc="40" dirty="0"/>
              <a:t> </a:t>
            </a:r>
            <a:r>
              <a:rPr lang="en-US" sz="2400" spc="-5" dirty="0"/>
              <a:t>of</a:t>
            </a:r>
            <a:r>
              <a:rPr lang="en-US" sz="2400" spc="25" dirty="0"/>
              <a:t> </a:t>
            </a:r>
            <a:r>
              <a:rPr lang="en-US" sz="2400" spc="45" dirty="0"/>
              <a:t>error</a:t>
            </a:r>
            <a:r>
              <a:rPr lang="en-US" sz="2400" spc="25" dirty="0"/>
              <a:t>s, </a:t>
            </a:r>
            <a:r>
              <a:rPr lang="en-US" sz="2400" spc="10" dirty="0"/>
              <a:t>all</a:t>
            </a:r>
            <a:r>
              <a:rPr lang="en-US" sz="2400" spc="-5" dirty="0"/>
              <a:t>o</a:t>
            </a:r>
            <a:r>
              <a:rPr lang="en-US" sz="2400" spc="-10" dirty="0"/>
              <a:t>w</a:t>
            </a:r>
            <a:r>
              <a:rPr lang="en-US" sz="2400" spc="25" dirty="0"/>
              <a:t> </a:t>
            </a:r>
            <a:r>
              <a:rPr lang="en-US" sz="2400" spc="60" dirty="0"/>
              <a:t>automated</a:t>
            </a:r>
            <a:r>
              <a:rPr lang="en-US" sz="2400" spc="25" dirty="0"/>
              <a:t> </a:t>
            </a:r>
            <a:r>
              <a:rPr lang="en-US" sz="2400" spc="55" dirty="0"/>
              <a:t>reenactment</a:t>
            </a:r>
            <a:r>
              <a:rPr lang="en-US" sz="2400" spc="25" dirty="0"/>
              <a:t> </a:t>
            </a:r>
            <a:r>
              <a:rPr lang="en-US" sz="2400" spc="-5" dirty="0"/>
              <a:t>of</a:t>
            </a:r>
            <a:r>
              <a:rPr lang="en-US" sz="2400" spc="25" dirty="0"/>
              <a:t> </a:t>
            </a:r>
            <a:r>
              <a:rPr lang="en-US" sz="2400" spc="60" dirty="0"/>
              <a:t>de</a:t>
            </a:r>
            <a:r>
              <a:rPr lang="en-US" sz="2400" spc="50" dirty="0"/>
              <a:t>r</a:t>
            </a:r>
            <a:r>
              <a:rPr lang="en-US" sz="2400" spc="-25" dirty="0"/>
              <a:t>i</a:t>
            </a:r>
            <a:r>
              <a:rPr lang="en-US" sz="2400" spc="-75" dirty="0"/>
              <a:t>v</a:t>
            </a:r>
            <a:r>
              <a:rPr lang="en-US" sz="2400" spc="40" dirty="0"/>
              <a:t>ations</a:t>
            </a:r>
            <a:r>
              <a:rPr lang="en-US" sz="2400" spc="25" dirty="0"/>
              <a:t> to </a:t>
            </a:r>
            <a:r>
              <a:rPr lang="en-US" sz="2400" spc="60" dirty="0"/>
              <a:t>update</a:t>
            </a:r>
            <a:r>
              <a:rPr lang="en-US" sz="2400" spc="35" dirty="0"/>
              <a:t> </a:t>
            </a:r>
            <a:r>
              <a:rPr lang="en-US" sz="2400" spc="50" dirty="0"/>
              <a:t>the</a:t>
            </a:r>
            <a:r>
              <a:rPr lang="en-US" sz="2400" spc="25" dirty="0"/>
              <a:t> </a:t>
            </a:r>
            <a:r>
              <a:rPr lang="en-US" sz="2400" spc="60" dirty="0"/>
              <a:t>data,</a:t>
            </a:r>
            <a:r>
              <a:rPr lang="en-US" sz="2400" spc="25" dirty="0"/>
              <a:t> </a:t>
            </a:r>
            <a:r>
              <a:rPr lang="en-US" sz="2400" spc="70" dirty="0"/>
              <a:t>and</a:t>
            </a:r>
            <a:r>
              <a:rPr lang="en-US" sz="2400" spc="25" dirty="0"/>
              <a:t> </a:t>
            </a:r>
            <a:r>
              <a:rPr lang="en-US" sz="2400" spc="30" dirty="0"/>
              <a:t>pr</a:t>
            </a:r>
            <a:r>
              <a:rPr lang="en-US" sz="2400" spc="15" dirty="0"/>
              <a:t>o</a:t>
            </a:r>
            <a:r>
              <a:rPr lang="en-US" sz="2400" spc="20" dirty="0"/>
              <a:t>vide</a:t>
            </a:r>
            <a:r>
              <a:rPr lang="en-US" sz="2400" spc="25" dirty="0"/>
              <a:t> att</a:t>
            </a:r>
            <a:r>
              <a:rPr lang="en-US" sz="2400" spc="40" dirty="0"/>
              <a:t>r</a:t>
            </a:r>
            <a:r>
              <a:rPr lang="en-US" sz="2400" spc="-5" dirty="0"/>
              <a:t>i</a:t>
            </a:r>
            <a:r>
              <a:rPr lang="en-US" sz="2400" spc="-35" dirty="0"/>
              <a:t>b</a:t>
            </a:r>
            <a:r>
              <a:rPr lang="en-US" sz="2400" spc="15" dirty="0"/>
              <a:t>ution</a:t>
            </a:r>
            <a:r>
              <a:rPr lang="en-US" sz="2400" spc="25" dirty="0"/>
              <a:t> </a:t>
            </a:r>
            <a:r>
              <a:rPr lang="en-US" sz="2400" spc="-5" dirty="0"/>
              <a:t>of</a:t>
            </a:r>
            <a:r>
              <a:rPr lang="en-US" sz="2400" spc="25" dirty="0"/>
              <a:t> </a:t>
            </a:r>
            <a:r>
              <a:rPr lang="en-US" sz="2400" spc="70" dirty="0"/>
              <a:t>data</a:t>
            </a:r>
            <a:r>
              <a:rPr lang="en-US" sz="2400" spc="25" dirty="0"/>
              <a:t> </a:t>
            </a:r>
            <a:r>
              <a:rPr lang="en-US" sz="2400" spc="45" dirty="0"/>
              <a:t>sources</a:t>
            </a:r>
            <a:r>
              <a:rPr lang="en-US" sz="2400" spc="45" dirty="0" smtClean="0"/>
              <a:t>”*</a:t>
            </a:r>
          </a:p>
          <a:p>
            <a:pPr marL="12700" marR="6350">
              <a:lnSpc>
                <a:spcPct val="102600"/>
              </a:lnSpc>
              <a:spcBef>
                <a:spcPts val="185"/>
              </a:spcBef>
            </a:pPr>
            <a:endParaRPr lang="en-US" sz="2400" dirty="0"/>
          </a:p>
          <a:p>
            <a:pPr marL="12700">
              <a:lnSpc>
                <a:spcPct val="100000"/>
              </a:lnSpc>
              <a:spcBef>
                <a:spcPts val="830"/>
              </a:spcBef>
            </a:pPr>
            <a:endParaRPr lang="en-US" spc="25" dirty="0" smtClean="0"/>
          </a:p>
          <a:p>
            <a:pPr marL="12700">
              <a:lnSpc>
                <a:spcPct val="100000"/>
              </a:lnSpc>
              <a:spcBef>
                <a:spcPts val="830"/>
              </a:spcBef>
            </a:pPr>
            <a:endParaRPr lang="en-US" spc="25" dirty="0"/>
          </a:p>
          <a:p>
            <a:pPr marL="12700">
              <a:lnSpc>
                <a:spcPct val="100000"/>
              </a:lnSpc>
              <a:spcBef>
                <a:spcPts val="830"/>
              </a:spcBef>
            </a:pPr>
            <a:r>
              <a:rPr lang="en-US" spc="25" dirty="0" smtClean="0"/>
              <a:t>*</a:t>
            </a:r>
            <a:r>
              <a:rPr lang="en-US" spc="25" dirty="0" err="1" smtClean="0"/>
              <a:t>Simmhan</a:t>
            </a:r>
            <a:r>
              <a:rPr lang="en-US" spc="25" dirty="0"/>
              <a:t>,</a:t>
            </a:r>
            <a:r>
              <a:rPr lang="en-US" spc="15" dirty="0"/>
              <a:t> </a:t>
            </a:r>
            <a:r>
              <a:rPr lang="en-US" spc="20" dirty="0" err="1"/>
              <a:t>Plal</a:t>
            </a:r>
            <a:r>
              <a:rPr lang="en-US" spc="15" dirty="0" err="1"/>
              <a:t>e</a:t>
            </a:r>
            <a:r>
              <a:rPr lang="en-US" spc="15" dirty="0"/>
              <a:t>, </a:t>
            </a:r>
            <a:r>
              <a:rPr lang="en-US" spc="40" dirty="0"/>
              <a:t>and</a:t>
            </a:r>
            <a:r>
              <a:rPr lang="en-US" spc="15" dirty="0"/>
              <a:t> </a:t>
            </a:r>
            <a:r>
              <a:rPr lang="en-US" spc="30" dirty="0"/>
              <a:t>Gannon,</a:t>
            </a:r>
            <a:r>
              <a:rPr lang="en-US" spc="15" dirty="0"/>
              <a:t> </a:t>
            </a:r>
            <a:r>
              <a:rPr lang="en-US" spc="-55" dirty="0"/>
              <a:t>“A</a:t>
            </a:r>
            <a:r>
              <a:rPr lang="en-US" spc="15" dirty="0"/>
              <a:t> </a:t>
            </a:r>
            <a:r>
              <a:rPr lang="en-US" spc="30" dirty="0"/>
              <a:t>su</a:t>
            </a:r>
            <a:r>
              <a:rPr lang="en-US" spc="40" dirty="0"/>
              <a:t>r</a:t>
            </a:r>
            <a:r>
              <a:rPr lang="en-US" spc="-20" dirty="0"/>
              <a:t>v</a:t>
            </a:r>
            <a:r>
              <a:rPr lang="en-US" spc="50" dirty="0"/>
              <a:t>e</a:t>
            </a:r>
            <a:r>
              <a:rPr lang="en-US" spc="-5" dirty="0"/>
              <a:t>y</a:t>
            </a:r>
            <a:r>
              <a:rPr lang="en-US" spc="15" dirty="0"/>
              <a:t> </a:t>
            </a:r>
            <a:r>
              <a:rPr lang="en-US" spc="-5" dirty="0"/>
              <a:t>of</a:t>
            </a:r>
            <a:r>
              <a:rPr lang="en-US" spc="15" dirty="0"/>
              <a:t> </a:t>
            </a:r>
            <a:r>
              <a:rPr lang="en-US" spc="40" dirty="0"/>
              <a:t>data</a:t>
            </a:r>
            <a:r>
              <a:rPr lang="en-US" spc="15" dirty="0"/>
              <a:t> pr</a:t>
            </a:r>
            <a:r>
              <a:rPr lang="en-US" spc="10" dirty="0"/>
              <a:t>o</a:t>
            </a:r>
            <a:r>
              <a:rPr lang="en-US" spc="-20" dirty="0"/>
              <a:t>v</a:t>
            </a:r>
            <a:r>
              <a:rPr lang="en-US" spc="45" dirty="0"/>
              <a:t>enance</a:t>
            </a:r>
            <a:r>
              <a:rPr lang="en-US" spc="15" dirty="0"/>
              <a:t> </a:t>
            </a:r>
            <a:r>
              <a:rPr lang="en-US" spc="-5" dirty="0"/>
              <a:t>in</a:t>
            </a:r>
            <a:r>
              <a:rPr lang="en-US" spc="15" dirty="0"/>
              <a:t> </a:t>
            </a:r>
            <a:r>
              <a:rPr lang="en-US" spc="30" dirty="0"/>
              <a:t>e-scienc</a:t>
            </a:r>
            <a:r>
              <a:rPr lang="en-US" spc="25" dirty="0"/>
              <a:t>e</a:t>
            </a:r>
            <a:r>
              <a:rPr lang="en-US" spc="-45" dirty="0"/>
              <a:t>,</a:t>
            </a:r>
            <a:r>
              <a:rPr lang="en-US" spc="-70" dirty="0"/>
              <a:t>”</a:t>
            </a:r>
            <a:r>
              <a:rPr lang="en-US" spc="15" dirty="0"/>
              <a:t> </a:t>
            </a:r>
            <a:r>
              <a:rPr lang="en-US" spc="-55" dirty="0"/>
              <a:t>A</a:t>
            </a:r>
            <a:r>
              <a:rPr lang="en-US" spc="-5" dirty="0"/>
              <a:t>CM</a:t>
            </a:r>
            <a:r>
              <a:rPr lang="en-US" spc="15" dirty="0"/>
              <a:t> </a:t>
            </a:r>
            <a:r>
              <a:rPr lang="en-US" spc="20" dirty="0" err="1"/>
              <a:t>Sigmod</a:t>
            </a:r>
            <a:r>
              <a:rPr lang="en-US" spc="15" dirty="0"/>
              <a:t> </a:t>
            </a:r>
            <a:r>
              <a:rPr lang="en-US" spc="30" dirty="0"/>
              <a:t>Reco</a:t>
            </a:r>
            <a:r>
              <a:rPr lang="en-US" spc="15" dirty="0"/>
              <a:t>r</a:t>
            </a:r>
            <a:r>
              <a:rPr lang="en-US" spc="20" dirty="0"/>
              <a:t>d,</a:t>
            </a:r>
            <a:r>
              <a:rPr lang="en-US" spc="15" dirty="0"/>
              <a:t> </a:t>
            </a:r>
            <a:r>
              <a:rPr lang="en-US" spc="30" dirty="0"/>
              <a:t>2005</a:t>
            </a:r>
            <a:endParaRPr lang="en-US" dirty="0"/>
          </a:p>
          <a:p>
            <a:endParaRPr lang="en-US" sz="2400" dirty="0" smtClean="0"/>
          </a:p>
          <a:p>
            <a:endParaRPr lang="en-US" sz="2400" dirty="0"/>
          </a:p>
          <a:p>
            <a:endParaRPr lang="en-US" sz="2400" dirty="0" smtClean="0"/>
          </a:p>
          <a:p>
            <a:endParaRPr lang="en-US" sz="1400" dirty="0"/>
          </a:p>
        </p:txBody>
      </p:sp>
    </p:spTree>
    <p:extLst>
      <p:ext uri="{BB962C8B-B14F-4D97-AF65-F5344CB8AC3E}">
        <p14:creationId xmlns:p14="http://schemas.microsoft.com/office/powerpoint/2010/main" val="556231506"/>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685801" y="1143001"/>
            <a:ext cx="6705600" cy="1368516"/>
          </a:xfrm>
          <a:prstGeom prst="rect">
            <a:avLst/>
          </a:prstGeom>
        </p:spPr>
        <p:txBody>
          <a:bodyPr vert="horz" wrap="square" lIns="0" tIns="0" rIns="0" bIns="0" rtlCol="0">
            <a:spAutoFit/>
          </a:bodyPr>
          <a:lstStyle/>
          <a:p>
            <a:pPr marL="25179">
              <a:lnSpc>
                <a:spcPts val="2845"/>
              </a:lnSpc>
            </a:pPr>
            <a:r>
              <a:rPr sz="2800" spc="109" dirty="0">
                <a:latin typeface="Times New Roman"/>
                <a:cs typeface="Times New Roman"/>
              </a:rPr>
              <a:t>Pr</a:t>
            </a:r>
            <a:r>
              <a:rPr sz="2800" spc="89" dirty="0">
                <a:latin typeface="Times New Roman"/>
                <a:cs typeface="Times New Roman"/>
              </a:rPr>
              <a:t>o</a:t>
            </a:r>
            <a:r>
              <a:rPr sz="2800" spc="-79" dirty="0">
                <a:latin typeface="Times New Roman"/>
                <a:cs typeface="Times New Roman"/>
              </a:rPr>
              <a:t>v</a:t>
            </a:r>
            <a:r>
              <a:rPr sz="2800" spc="178" dirty="0">
                <a:latin typeface="Times New Roman"/>
                <a:cs typeface="Times New Roman"/>
              </a:rPr>
              <a:t>enance</a:t>
            </a:r>
            <a:r>
              <a:rPr sz="2800" spc="59" dirty="0">
                <a:latin typeface="Times New Roman"/>
                <a:cs typeface="Times New Roman"/>
              </a:rPr>
              <a:t> </a:t>
            </a:r>
            <a:r>
              <a:rPr sz="2800" spc="169" dirty="0">
                <a:latin typeface="Times New Roman"/>
                <a:cs typeface="Times New Roman"/>
              </a:rPr>
              <a:t>and</a:t>
            </a:r>
            <a:r>
              <a:rPr sz="2800" spc="59" dirty="0">
                <a:latin typeface="Times New Roman"/>
                <a:cs typeface="Times New Roman"/>
              </a:rPr>
              <a:t> </a:t>
            </a:r>
            <a:r>
              <a:rPr sz="2800" spc="119" dirty="0">
                <a:latin typeface="Times New Roman"/>
                <a:cs typeface="Times New Roman"/>
              </a:rPr>
              <a:t>Metadata</a:t>
            </a:r>
            <a:endParaRPr sz="2800" dirty="0">
              <a:latin typeface="Times New Roman"/>
              <a:cs typeface="Times New Roman"/>
            </a:endParaRPr>
          </a:p>
          <a:p>
            <a:pPr marL="25179">
              <a:lnSpc>
                <a:spcPts val="2607"/>
              </a:lnSpc>
            </a:pPr>
            <a:endParaRPr lang="en-US" sz="2200" spc="20" dirty="0" smtClean="0">
              <a:latin typeface="Times New Roman"/>
              <a:cs typeface="Times New Roman"/>
            </a:endParaRPr>
          </a:p>
          <a:p>
            <a:pPr marL="25179">
              <a:lnSpc>
                <a:spcPts val="2607"/>
              </a:lnSpc>
            </a:pPr>
            <a:r>
              <a:rPr sz="2200" spc="20" dirty="0" smtClean="0">
                <a:latin typeface="Times New Roman"/>
                <a:cs typeface="Times New Roman"/>
              </a:rPr>
              <a:t>Not</a:t>
            </a:r>
            <a:r>
              <a:rPr sz="2200" spc="50" dirty="0" smtClean="0">
                <a:latin typeface="Times New Roman"/>
                <a:cs typeface="Times New Roman"/>
              </a:rPr>
              <a:t> </a:t>
            </a:r>
            <a:r>
              <a:rPr sz="2200" spc="30" dirty="0">
                <a:latin typeface="Times New Roman"/>
                <a:cs typeface="Times New Roman"/>
              </a:rPr>
              <a:t>(currently)</a:t>
            </a:r>
            <a:r>
              <a:rPr sz="2200" spc="50" dirty="0">
                <a:latin typeface="Times New Roman"/>
                <a:cs typeface="Times New Roman"/>
              </a:rPr>
              <a:t> </a:t>
            </a:r>
            <a:r>
              <a:rPr sz="2200" spc="226" dirty="0">
                <a:latin typeface="Times New Roman"/>
                <a:cs typeface="Times New Roman"/>
              </a:rPr>
              <a:t>a</a:t>
            </a:r>
            <a:r>
              <a:rPr sz="2200" spc="50" dirty="0">
                <a:latin typeface="Times New Roman"/>
                <a:cs typeface="Times New Roman"/>
              </a:rPr>
              <a:t> </a:t>
            </a:r>
            <a:r>
              <a:rPr sz="2200" spc="-10" dirty="0">
                <a:latin typeface="Times New Roman"/>
                <a:cs typeface="Times New Roman"/>
              </a:rPr>
              <a:t>“nati</a:t>
            </a:r>
            <a:r>
              <a:rPr sz="2200" spc="-79" dirty="0">
                <a:latin typeface="Times New Roman"/>
                <a:cs typeface="Times New Roman"/>
              </a:rPr>
              <a:t>v</a:t>
            </a:r>
            <a:r>
              <a:rPr sz="2200" spc="-10" dirty="0">
                <a:latin typeface="Times New Roman"/>
                <a:cs typeface="Times New Roman"/>
              </a:rPr>
              <a:t>e”</a:t>
            </a:r>
            <a:r>
              <a:rPr sz="2200" spc="50" dirty="0">
                <a:latin typeface="Times New Roman"/>
                <a:cs typeface="Times New Roman"/>
              </a:rPr>
              <a:t> </a:t>
            </a:r>
            <a:r>
              <a:rPr sz="2200" spc="99" dirty="0">
                <a:latin typeface="Times New Roman"/>
                <a:cs typeface="Times New Roman"/>
              </a:rPr>
              <a:t>component</a:t>
            </a:r>
            <a:r>
              <a:rPr sz="2200" spc="50" dirty="0">
                <a:latin typeface="Times New Roman"/>
                <a:cs typeface="Times New Roman"/>
              </a:rPr>
              <a:t> </a:t>
            </a:r>
            <a:r>
              <a:rPr sz="2200" spc="-10" dirty="0">
                <a:latin typeface="Times New Roman"/>
                <a:cs typeface="Times New Roman"/>
              </a:rPr>
              <a:t>of</a:t>
            </a:r>
            <a:r>
              <a:rPr sz="2200" spc="50" dirty="0">
                <a:latin typeface="Times New Roman"/>
                <a:cs typeface="Times New Roman"/>
              </a:rPr>
              <a:t> </a:t>
            </a:r>
            <a:r>
              <a:rPr sz="2200" spc="-40" dirty="0">
                <a:latin typeface="Times New Roman"/>
                <a:cs typeface="Times New Roman"/>
              </a:rPr>
              <a:t>DDI,</a:t>
            </a:r>
            <a:r>
              <a:rPr sz="2200" spc="50" dirty="0">
                <a:latin typeface="Times New Roman"/>
                <a:cs typeface="Times New Roman"/>
              </a:rPr>
              <a:t> </a:t>
            </a:r>
            <a:r>
              <a:rPr sz="2200" spc="109" dirty="0">
                <a:latin typeface="Times New Roman"/>
                <a:cs typeface="Times New Roman"/>
              </a:rPr>
              <a:t>closest</a:t>
            </a:r>
            <a:r>
              <a:rPr sz="2200" spc="50" dirty="0">
                <a:latin typeface="Times New Roman"/>
                <a:cs typeface="Times New Roman"/>
              </a:rPr>
              <a:t> </a:t>
            </a:r>
            <a:r>
              <a:rPr sz="2200" spc="30" dirty="0">
                <a:latin typeface="Times New Roman"/>
                <a:cs typeface="Times New Roman"/>
              </a:rPr>
              <a:t>thing</a:t>
            </a:r>
            <a:r>
              <a:rPr sz="2200" spc="50" dirty="0">
                <a:latin typeface="Times New Roman"/>
                <a:cs typeface="Times New Roman"/>
              </a:rPr>
              <a:t> </a:t>
            </a:r>
            <a:r>
              <a:rPr sz="2200" spc="30" dirty="0">
                <a:latin typeface="Times New Roman"/>
                <a:cs typeface="Times New Roman"/>
              </a:rPr>
              <a:t>is:</a:t>
            </a:r>
            <a:endParaRPr sz="2200" dirty="0">
              <a:latin typeface="Times New Roman"/>
              <a:cs typeface="Times New Roman"/>
            </a:endParaRPr>
          </a:p>
        </p:txBody>
      </p:sp>
      <p:sp>
        <p:nvSpPr>
          <p:cNvPr id="6" name="object 6"/>
          <p:cNvSpPr txBox="1"/>
          <p:nvPr/>
        </p:nvSpPr>
        <p:spPr>
          <a:xfrm>
            <a:off x="688848" y="2652247"/>
            <a:ext cx="6826512" cy="2832057"/>
          </a:xfrm>
          <a:prstGeom prst="rect">
            <a:avLst/>
          </a:prstGeom>
        </p:spPr>
        <p:txBody>
          <a:bodyPr vert="horz" wrap="square" lIns="0" tIns="0" rIns="0" bIns="0" rtlCol="0">
            <a:spAutoFit/>
          </a:bodyPr>
          <a:lstStyle/>
          <a:p>
            <a:pPr marL="25179">
              <a:lnSpc>
                <a:spcPts val="1408"/>
              </a:lnSpc>
            </a:pPr>
            <a:r>
              <a:rPr sz="1200" b="1" spc="109" dirty="0">
                <a:solidFill>
                  <a:srgbClr val="007F00"/>
                </a:solidFill>
                <a:latin typeface="Times New Roman"/>
                <a:cs typeface="Times New Roman"/>
              </a:rPr>
              <a:t>&lt;xs:complexType  </a:t>
            </a:r>
            <a:r>
              <a:rPr sz="1200" spc="50" dirty="0">
                <a:solidFill>
                  <a:srgbClr val="7C8E28"/>
                </a:solidFill>
                <a:latin typeface="Times New Roman"/>
                <a:cs typeface="Times New Roman"/>
              </a:rPr>
              <a:t>name=</a:t>
            </a:r>
            <a:r>
              <a:rPr sz="1200" spc="149" dirty="0">
                <a:solidFill>
                  <a:srgbClr val="BA2121"/>
                </a:solidFill>
                <a:latin typeface="Times New Roman"/>
                <a:cs typeface="Times New Roman"/>
              </a:rPr>
              <a:t>"othrStdyMatType"</a:t>
            </a:r>
            <a:r>
              <a:rPr sz="1200" b="1" spc="30" dirty="0">
                <a:solidFill>
                  <a:srgbClr val="007F00"/>
                </a:solidFill>
                <a:latin typeface="Times New Roman"/>
                <a:cs typeface="Times New Roman"/>
              </a:rPr>
              <a:t>&gt;</a:t>
            </a:r>
            <a:endParaRPr sz="1200" dirty="0">
              <a:latin typeface="Times New Roman"/>
              <a:cs typeface="Times New Roman"/>
            </a:endParaRPr>
          </a:p>
          <a:p>
            <a:pPr marR="4502009" algn="ctr">
              <a:lnSpc>
                <a:spcPts val="1378"/>
              </a:lnSpc>
            </a:pPr>
            <a:r>
              <a:rPr sz="1200" b="1" spc="119" dirty="0">
                <a:solidFill>
                  <a:srgbClr val="007F00"/>
                </a:solidFill>
                <a:latin typeface="Times New Roman"/>
                <a:cs typeface="Times New Roman"/>
              </a:rPr>
              <a:t>&lt;xs:complexContent&gt;</a:t>
            </a:r>
            <a:endParaRPr sz="1200" dirty="0">
              <a:latin typeface="Times New Roman"/>
              <a:cs typeface="Times New Roman"/>
            </a:endParaRPr>
          </a:p>
          <a:p>
            <a:pPr marL="566528">
              <a:lnSpc>
                <a:spcPts val="1378"/>
              </a:lnSpc>
            </a:pPr>
            <a:r>
              <a:rPr sz="1200" b="1" spc="178" dirty="0">
                <a:solidFill>
                  <a:srgbClr val="007F00"/>
                </a:solidFill>
                <a:latin typeface="Times New Roman"/>
                <a:cs typeface="Times New Roman"/>
              </a:rPr>
              <a:t>&lt;xs:extension </a:t>
            </a:r>
            <a:r>
              <a:rPr sz="1200" b="1" spc="109" dirty="0">
                <a:solidFill>
                  <a:srgbClr val="007F00"/>
                </a:solidFill>
                <a:latin typeface="Times New Roman"/>
                <a:cs typeface="Times New Roman"/>
              </a:rPr>
              <a:t> </a:t>
            </a:r>
            <a:r>
              <a:rPr sz="1200" spc="149" dirty="0">
                <a:solidFill>
                  <a:srgbClr val="7C8E28"/>
                </a:solidFill>
                <a:latin typeface="Times New Roman"/>
                <a:cs typeface="Times New Roman"/>
              </a:rPr>
              <a:t>base=</a:t>
            </a:r>
            <a:r>
              <a:rPr sz="1200" spc="149" dirty="0">
                <a:solidFill>
                  <a:srgbClr val="BA2121"/>
                </a:solidFill>
                <a:latin typeface="Times New Roman"/>
                <a:cs typeface="Times New Roman"/>
              </a:rPr>
              <a:t>"baseElementType"</a:t>
            </a:r>
            <a:r>
              <a:rPr sz="1200" b="1" spc="30" dirty="0">
                <a:solidFill>
                  <a:srgbClr val="007F00"/>
                </a:solidFill>
                <a:latin typeface="Times New Roman"/>
                <a:cs typeface="Times New Roman"/>
              </a:rPr>
              <a:t>&gt;</a:t>
            </a:r>
            <a:endParaRPr sz="1200" dirty="0">
              <a:latin typeface="Times New Roman"/>
              <a:cs typeface="Times New Roman"/>
            </a:endParaRPr>
          </a:p>
          <a:p>
            <a:pPr marL="837202">
              <a:lnSpc>
                <a:spcPts val="1378"/>
              </a:lnSpc>
            </a:pPr>
            <a:r>
              <a:rPr sz="1200" b="1" spc="139" dirty="0">
                <a:solidFill>
                  <a:srgbClr val="007F00"/>
                </a:solidFill>
                <a:latin typeface="Times New Roman"/>
                <a:cs typeface="Times New Roman"/>
              </a:rPr>
              <a:t>&lt;xs:sequence&gt;</a:t>
            </a:r>
            <a:endParaRPr sz="1200" dirty="0">
              <a:latin typeface="Times New Roman"/>
              <a:cs typeface="Times New Roman"/>
            </a:endParaRPr>
          </a:p>
          <a:p>
            <a:pPr marL="1107877">
              <a:lnSpc>
                <a:spcPts val="1378"/>
              </a:lnSpc>
            </a:pPr>
            <a:r>
              <a:rPr sz="1200" b="1" spc="149" dirty="0">
                <a:solidFill>
                  <a:srgbClr val="007F00"/>
                </a:solidFill>
                <a:latin typeface="Times New Roman"/>
                <a:cs typeface="Times New Roman"/>
              </a:rPr>
              <a:t>&lt;xs:element </a:t>
            </a:r>
            <a:r>
              <a:rPr sz="1200" b="1" spc="109" dirty="0">
                <a:solidFill>
                  <a:srgbClr val="007F00"/>
                </a:solidFill>
                <a:latin typeface="Times New Roman"/>
                <a:cs typeface="Times New Roman"/>
              </a:rPr>
              <a:t> </a:t>
            </a:r>
            <a:r>
              <a:rPr sz="1200" spc="208" dirty="0">
                <a:solidFill>
                  <a:srgbClr val="7C8E28"/>
                </a:solidFill>
                <a:latin typeface="Times New Roman"/>
                <a:cs typeface="Times New Roman"/>
              </a:rPr>
              <a:t>ref=</a:t>
            </a:r>
            <a:r>
              <a:rPr sz="1200" spc="188" dirty="0">
                <a:solidFill>
                  <a:srgbClr val="BA2121"/>
                </a:solidFill>
                <a:latin typeface="Times New Roman"/>
                <a:cs typeface="Times New Roman"/>
              </a:rPr>
              <a:t>"relMat"</a:t>
            </a:r>
            <a:r>
              <a:rPr sz="1200" dirty="0">
                <a:solidFill>
                  <a:srgbClr val="BA2121"/>
                </a:solidFill>
                <a:latin typeface="Times New Roman"/>
                <a:cs typeface="Times New Roman"/>
              </a:rPr>
              <a:t> </a:t>
            </a:r>
            <a:r>
              <a:rPr sz="1200" spc="109" dirty="0">
                <a:solidFill>
                  <a:srgbClr val="BA2121"/>
                </a:solidFill>
                <a:latin typeface="Times New Roman"/>
                <a:cs typeface="Times New Roman"/>
              </a:rPr>
              <a:t> </a:t>
            </a:r>
            <a:r>
              <a:rPr sz="1200" spc="109" dirty="0">
                <a:solidFill>
                  <a:srgbClr val="7C8E28"/>
                </a:solidFill>
                <a:latin typeface="Times New Roman"/>
                <a:cs typeface="Times New Roman"/>
              </a:rPr>
              <a:t>minOccurs=</a:t>
            </a:r>
            <a:r>
              <a:rPr sz="1200" spc="178" dirty="0">
                <a:solidFill>
                  <a:srgbClr val="BA2121"/>
                </a:solidFill>
                <a:latin typeface="Times New Roman"/>
                <a:cs typeface="Times New Roman"/>
              </a:rPr>
              <a:t>"0"</a:t>
            </a:r>
            <a:r>
              <a:rPr sz="1200" dirty="0">
                <a:solidFill>
                  <a:srgbClr val="BA2121"/>
                </a:solidFill>
                <a:latin typeface="Times New Roman"/>
                <a:cs typeface="Times New Roman"/>
              </a:rPr>
              <a:t> </a:t>
            </a:r>
            <a:r>
              <a:rPr sz="1200" spc="109" dirty="0">
                <a:solidFill>
                  <a:srgbClr val="BA2121"/>
                </a:solidFill>
                <a:latin typeface="Times New Roman"/>
                <a:cs typeface="Times New Roman"/>
              </a:rPr>
              <a:t> </a:t>
            </a:r>
            <a:r>
              <a:rPr sz="1200" spc="89" dirty="0">
                <a:solidFill>
                  <a:srgbClr val="7C8E28"/>
                </a:solidFill>
                <a:latin typeface="Times New Roman"/>
                <a:cs typeface="Times New Roman"/>
              </a:rPr>
              <a:t>maxOccurs=</a:t>
            </a:r>
            <a:r>
              <a:rPr sz="1200" spc="139" dirty="0">
                <a:solidFill>
                  <a:srgbClr val="BA2121"/>
                </a:solidFill>
                <a:latin typeface="Times New Roman"/>
                <a:cs typeface="Times New Roman"/>
              </a:rPr>
              <a:t>"unbounded"</a:t>
            </a:r>
            <a:r>
              <a:rPr sz="1200" b="1" spc="198" dirty="0">
                <a:solidFill>
                  <a:srgbClr val="007F00"/>
                </a:solidFill>
                <a:latin typeface="Times New Roman"/>
                <a:cs typeface="Times New Roman"/>
              </a:rPr>
              <a:t>/&gt;</a:t>
            </a:r>
            <a:endParaRPr sz="1200" dirty="0">
              <a:latin typeface="Times New Roman"/>
              <a:cs typeface="Times New Roman"/>
            </a:endParaRPr>
          </a:p>
          <a:p>
            <a:pPr marL="1107877">
              <a:lnSpc>
                <a:spcPts val="1378"/>
              </a:lnSpc>
            </a:pPr>
            <a:r>
              <a:rPr sz="1200" b="1" spc="149" dirty="0">
                <a:solidFill>
                  <a:srgbClr val="007F00"/>
                </a:solidFill>
                <a:latin typeface="Times New Roman"/>
                <a:cs typeface="Times New Roman"/>
              </a:rPr>
              <a:t>&lt;xs:element </a:t>
            </a:r>
            <a:r>
              <a:rPr sz="1200" b="1" spc="109" dirty="0">
                <a:solidFill>
                  <a:srgbClr val="007F00"/>
                </a:solidFill>
                <a:latin typeface="Times New Roman"/>
                <a:cs typeface="Times New Roman"/>
              </a:rPr>
              <a:t> </a:t>
            </a:r>
            <a:r>
              <a:rPr sz="1200" spc="208" dirty="0">
                <a:solidFill>
                  <a:srgbClr val="7C8E28"/>
                </a:solidFill>
                <a:latin typeface="Times New Roman"/>
                <a:cs typeface="Times New Roman"/>
              </a:rPr>
              <a:t>ref=</a:t>
            </a:r>
            <a:r>
              <a:rPr sz="1200" spc="218" dirty="0">
                <a:solidFill>
                  <a:srgbClr val="BA2121"/>
                </a:solidFill>
                <a:latin typeface="Times New Roman"/>
                <a:cs typeface="Times New Roman"/>
              </a:rPr>
              <a:t>"relStdy"</a:t>
            </a:r>
            <a:r>
              <a:rPr sz="1200" dirty="0">
                <a:solidFill>
                  <a:srgbClr val="BA2121"/>
                </a:solidFill>
                <a:latin typeface="Times New Roman"/>
                <a:cs typeface="Times New Roman"/>
              </a:rPr>
              <a:t> </a:t>
            </a:r>
            <a:r>
              <a:rPr sz="1200" spc="109" dirty="0">
                <a:solidFill>
                  <a:srgbClr val="BA2121"/>
                </a:solidFill>
                <a:latin typeface="Times New Roman"/>
                <a:cs typeface="Times New Roman"/>
              </a:rPr>
              <a:t> </a:t>
            </a:r>
            <a:r>
              <a:rPr sz="1200" spc="109" dirty="0">
                <a:solidFill>
                  <a:srgbClr val="7C8E28"/>
                </a:solidFill>
                <a:latin typeface="Times New Roman"/>
                <a:cs typeface="Times New Roman"/>
              </a:rPr>
              <a:t>minOccurs=</a:t>
            </a:r>
            <a:r>
              <a:rPr sz="1200" spc="178" dirty="0">
                <a:solidFill>
                  <a:srgbClr val="BA2121"/>
                </a:solidFill>
                <a:latin typeface="Times New Roman"/>
                <a:cs typeface="Times New Roman"/>
              </a:rPr>
              <a:t>"0"</a:t>
            </a:r>
            <a:r>
              <a:rPr sz="1200" dirty="0">
                <a:solidFill>
                  <a:srgbClr val="BA2121"/>
                </a:solidFill>
                <a:latin typeface="Times New Roman"/>
                <a:cs typeface="Times New Roman"/>
              </a:rPr>
              <a:t> </a:t>
            </a:r>
            <a:r>
              <a:rPr sz="1200" spc="109" dirty="0">
                <a:solidFill>
                  <a:srgbClr val="BA2121"/>
                </a:solidFill>
                <a:latin typeface="Times New Roman"/>
                <a:cs typeface="Times New Roman"/>
              </a:rPr>
              <a:t> </a:t>
            </a:r>
            <a:r>
              <a:rPr sz="1200" spc="89" dirty="0">
                <a:solidFill>
                  <a:srgbClr val="7C8E28"/>
                </a:solidFill>
                <a:latin typeface="Times New Roman"/>
                <a:cs typeface="Times New Roman"/>
              </a:rPr>
              <a:t>maxOccurs=</a:t>
            </a:r>
            <a:r>
              <a:rPr sz="1200" spc="139" dirty="0">
                <a:solidFill>
                  <a:srgbClr val="BA2121"/>
                </a:solidFill>
                <a:latin typeface="Times New Roman"/>
                <a:cs typeface="Times New Roman"/>
              </a:rPr>
              <a:t>"unbounded"</a:t>
            </a:r>
            <a:r>
              <a:rPr sz="1200" b="1" spc="198" dirty="0">
                <a:solidFill>
                  <a:srgbClr val="007F00"/>
                </a:solidFill>
                <a:latin typeface="Times New Roman"/>
                <a:cs typeface="Times New Roman"/>
              </a:rPr>
              <a:t>/&gt;</a:t>
            </a:r>
            <a:endParaRPr sz="1200" dirty="0">
              <a:latin typeface="Times New Roman"/>
              <a:cs typeface="Times New Roman"/>
            </a:endParaRPr>
          </a:p>
          <a:p>
            <a:pPr marL="1107877">
              <a:lnSpc>
                <a:spcPts val="1378"/>
              </a:lnSpc>
            </a:pPr>
            <a:r>
              <a:rPr sz="1200" b="1" spc="149" dirty="0">
                <a:solidFill>
                  <a:srgbClr val="007F00"/>
                </a:solidFill>
                <a:latin typeface="Times New Roman"/>
                <a:cs typeface="Times New Roman"/>
              </a:rPr>
              <a:t>&lt;xs:element </a:t>
            </a:r>
            <a:r>
              <a:rPr sz="1200" b="1" spc="109" dirty="0">
                <a:solidFill>
                  <a:srgbClr val="007F00"/>
                </a:solidFill>
                <a:latin typeface="Times New Roman"/>
                <a:cs typeface="Times New Roman"/>
              </a:rPr>
              <a:t> </a:t>
            </a:r>
            <a:r>
              <a:rPr sz="1200" spc="208" dirty="0">
                <a:solidFill>
                  <a:srgbClr val="7C8E28"/>
                </a:solidFill>
                <a:latin typeface="Times New Roman"/>
                <a:cs typeface="Times New Roman"/>
              </a:rPr>
              <a:t>ref=</a:t>
            </a:r>
            <a:r>
              <a:rPr sz="1200" spc="218" dirty="0">
                <a:solidFill>
                  <a:srgbClr val="BA2121"/>
                </a:solidFill>
                <a:latin typeface="Times New Roman"/>
                <a:cs typeface="Times New Roman"/>
              </a:rPr>
              <a:t>"relPubl"</a:t>
            </a:r>
            <a:r>
              <a:rPr sz="1200" dirty="0">
                <a:solidFill>
                  <a:srgbClr val="BA2121"/>
                </a:solidFill>
                <a:latin typeface="Times New Roman"/>
                <a:cs typeface="Times New Roman"/>
              </a:rPr>
              <a:t> </a:t>
            </a:r>
            <a:r>
              <a:rPr sz="1200" spc="109" dirty="0">
                <a:solidFill>
                  <a:srgbClr val="BA2121"/>
                </a:solidFill>
                <a:latin typeface="Times New Roman"/>
                <a:cs typeface="Times New Roman"/>
              </a:rPr>
              <a:t> </a:t>
            </a:r>
            <a:r>
              <a:rPr sz="1200" spc="109" dirty="0">
                <a:solidFill>
                  <a:srgbClr val="7C8E28"/>
                </a:solidFill>
                <a:latin typeface="Times New Roman"/>
                <a:cs typeface="Times New Roman"/>
              </a:rPr>
              <a:t>minOccurs=</a:t>
            </a:r>
            <a:r>
              <a:rPr sz="1200" spc="178" dirty="0">
                <a:solidFill>
                  <a:srgbClr val="BA2121"/>
                </a:solidFill>
                <a:latin typeface="Times New Roman"/>
                <a:cs typeface="Times New Roman"/>
              </a:rPr>
              <a:t>"0"</a:t>
            </a:r>
            <a:r>
              <a:rPr sz="1200" dirty="0">
                <a:solidFill>
                  <a:srgbClr val="BA2121"/>
                </a:solidFill>
                <a:latin typeface="Times New Roman"/>
                <a:cs typeface="Times New Roman"/>
              </a:rPr>
              <a:t> </a:t>
            </a:r>
            <a:r>
              <a:rPr sz="1200" spc="109" dirty="0">
                <a:solidFill>
                  <a:srgbClr val="BA2121"/>
                </a:solidFill>
                <a:latin typeface="Times New Roman"/>
                <a:cs typeface="Times New Roman"/>
              </a:rPr>
              <a:t> </a:t>
            </a:r>
            <a:r>
              <a:rPr sz="1200" spc="89" dirty="0">
                <a:solidFill>
                  <a:srgbClr val="7C8E28"/>
                </a:solidFill>
                <a:latin typeface="Times New Roman"/>
                <a:cs typeface="Times New Roman"/>
              </a:rPr>
              <a:t>maxOccurs=</a:t>
            </a:r>
            <a:r>
              <a:rPr sz="1200" spc="139" dirty="0">
                <a:solidFill>
                  <a:srgbClr val="BA2121"/>
                </a:solidFill>
                <a:latin typeface="Times New Roman"/>
                <a:cs typeface="Times New Roman"/>
              </a:rPr>
              <a:t>"unbounded"</a:t>
            </a:r>
            <a:r>
              <a:rPr sz="1200" b="1" spc="198" dirty="0">
                <a:solidFill>
                  <a:srgbClr val="007F00"/>
                </a:solidFill>
                <a:latin typeface="Times New Roman"/>
                <a:cs typeface="Times New Roman"/>
              </a:rPr>
              <a:t>/&gt;</a:t>
            </a:r>
            <a:endParaRPr sz="1200" dirty="0">
              <a:latin typeface="Times New Roman"/>
              <a:cs typeface="Times New Roman"/>
            </a:endParaRPr>
          </a:p>
          <a:p>
            <a:pPr marL="1107877">
              <a:lnSpc>
                <a:spcPts val="1378"/>
              </a:lnSpc>
            </a:pPr>
            <a:r>
              <a:rPr sz="1200" b="1" spc="149" dirty="0">
                <a:solidFill>
                  <a:srgbClr val="007F00"/>
                </a:solidFill>
                <a:latin typeface="Times New Roman"/>
                <a:cs typeface="Times New Roman"/>
              </a:rPr>
              <a:t>&lt;xs:element </a:t>
            </a:r>
            <a:r>
              <a:rPr sz="1200" b="1" spc="109" dirty="0">
                <a:solidFill>
                  <a:srgbClr val="007F00"/>
                </a:solidFill>
                <a:latin typeface="Times New Roman"/>
                <a:cs typeface="Times New Roman"/>
              </a:rPr>
              <a:t> </a:t>
            </a:r>
            <a:r>
              <a:rPr sz="1200" spc="208" dirty="0">
                <a:solidFill>
                  <a:srgbClr val="7C8E28"/>
                </a:solidFill>
                <a:latin typeface="Times New Roman"/>
                <a:cs typeface="Times New Roman"/>
              </a:rPr>
              <a:t>ref=</a:t>
            </a:r>
            <a:r>
              <a:rPr sz="1200" spc="188" dirty="0">
                <a:solidFill>
                  <a:srgbClr val="BA2121"/>
                </a:solidFill>
                <a:latin typeface="Times New Roman"/>
                <a:cs typeface="Times New Roman"/>
              </a:rPr>
              <a:t>"othRefs"</a:t>
            </a:r>
            <a:r>
              <a:rPr sz="1200" dirty="0">
                <a:solidFill>
                  <a:srgbClr val="BA2121"/>
                </a:solidFill>
                <a:latin typeface="Times New Roman"/>
                <a:cs typeface="Times New Roman"/>
              </a:rPr>
              <a:t> </a:t>
            </a:r>
            <a:r>
              <a:rPr sz="1200" spc="109" dirty="0">
                <a:solidFill>
                  <a:srgbClr val="BA2121"/>
                </a:solidFill>
                <a:latin typeface="Times New Roman"/>
                <a:cs typeface="Times New Roman"/>
              </a:rPr>
              <a:t> </a:t>
            </a:r>
            <a:r>
              <a:rPr sz="1200" spc="109" dirty="0">
                <a:solidFill>
                  <a:srgbClr val="7C8E28"/>
                </a:solidFill>
                <a:latin typeface="Times New Roman"/>
                <a:cs typeface="Times New Roman"/>
              </a:rPr>
              <a:t>minOccurs=</a:t>
            </a:r>
            <a:r>
              <a:rPr sz="1200" spc="178" dirty="0">
                <a:solidFill>
                  <a:srgbClr val="BA2121"/>
                </a:solidFill>
                <a:latin typeface="Times New Roman"/>
                <a:cs typeface="Times New Roman"/>
              </a:rPr>
              <a:t>"0"</a:t>
            </a:r>
            <a:r>
              <a:rPr sz="1200" dirty="0">
                <a:solidFill>
                  <a:srgbClr val="BA2121"/>
                </a:solidFill>
                <a:latin typeface="Times New Roman"/>
                <a:cs typeface="Times New Roman"/>
              </a:rPr>
              <a:t> </a:t>
            </a:r>
            <a:r>
              <a:rPr sz="1200" spc="109" dirty="0">
                <a:solidFill>
                  <a:srgbClr val="BA2121"/>
                </a:solidFill>
                <a:latin typeface="Times New Roman"/>
                <a:cs typeface="Times New Roman"/>
              </a:rPr>
              <a:t> </a:t>
            </a:r>
            <a:r>
              <a:rPr sz="1200" spc="89" dirty="0">
                <a:solidFill>
                  <a:srgbClr val="7C8E28"/>
                </a:solidFill>
                <a:latin typeface="Times New Roman"/>
                <a:cs typeface="Times New Roman"/>
              </a:rPr>
              <a:t>maxOccurs=</a:t>
            </a:r>
            <a:r>
              <a:rPr sz="1200" spc="139" dirty="0">
                <a:solidFill>
                  <a:srgbClr val="BA2121"/>
                </a:solidFill>
                <a:latin typeface="Times New Roman"/>
                <a:cs typeface="Times New Roman"/>
              </a:rPr>
              <a:t>"unbounded"</a:t>
            </a:r>
            <a:r>
              <a:rPr sz="1200" b="1" spc="198" dirty="0">
                <a:solidFill>
                  <a:srgbClr val="007F00"/>
                </a:solidFill>
                <a:latin typeface="Times New Roman"/>
                <a:cs typeface="Times New Roman"/>
              </a:rPr>
              <a:t>/&gt;</a:t>
            </a:r>
            <a:endParaRPr sz="1200" dirty="0">
              <a:latin typeface="Times New Roman"/>
              <a:cs typeface="Times New Roman"/>
            </a:endParaRPr>
          </a:p>
          <a:p>
            <a:pPr marL="837202">
              <a:lnSpc>
                <a:spcPts val="1378"/>
              </a:lnSpc>
            </a:pPr>
            <a:r>
              <a:rPr sz="1200" b="1" spc="159" dirty="0">
                <a:solidFill>
                  <a:srgbClr val="007F00"/>
                </a:solidFill>
                <a:latin typeface="Times New Roman"/>
                <a:cs typeface="Times New Roman"/>
              </a:rPr>
              <a:t>&lt;/xs:sequence&gt;</a:t>
            </a:r>
            <a:endParaRPr sz="1200" dirty="0">
              <a:latin typeface="Times New Roman"/>
              <a:cs typeface="Times New Roman"/>
            </a:endParaRPr>
          </a:p>
          <a:p>
            <a:pPr marR="4321979" algn="ctr">
              <a:lnSpc>
                <a:spcPts val="1378"/>
              </a:lnSpc>
            </a:pPr>
            <a:r>
              <a:rPr sz="1200" b="1" spc="178" dirty="0">
                <a:solidFill>
                  <a:srgbClr val="007F00"/>
                </a:solidFill>
                <a:latin typeface="Times New Roman"/>
                <a:cs typeface="Times New Roman"/>
              </a:rPr>
              <a:t>&lt;/xs:extension&gt;</a:t>
            </a:r>
            <a:endParaRPr sz="1200" dirty="0">
              <a:latin typeface="Times New Roman"/>
              <a:cs typeface="Times New Roman"/>
            </a:endParaRPr>
          </a:p>
          <a:p>
            <a:pPr marR="4411364" algn="ctr">
              <a:lnSpc>
                <a:spcPts val="1378"/>
              </a:lnSpc>
            </a:pPr>
            <a:r>
              <a:rPr sz="1200" b="1" spc="129" dirty="0">
                <a:solidFill>
                  <a:srgbClr val="007F00"/>
                </a:solidFill>
                <a:latin typeface="Times New Roman"/>
                <a:cs typeface="Times New Roman"/>
              </a:rPr>
              <a:t>&lt;/xs:complexContent&gt;</a:t>
            </a:r>
            <a:endParaRPr sz="1200" dirty="0">
              <a:latin typeface="Times New Roman"/>
              <a:cs typeface="Times New Roman"/>
            </a:endParaRPr>
          </a:p>
          <a:p>
            <a:pPr marL="25179">
              <a:lnSpc>
                <a:spcPts val="1408"/>
              </a:lnSpc>
            </a:pPr>
            <a:r>
              <a:rPr sz="1200" b="1" spc="119" dirty="0">
                <a:solidFill>
                  <a:srgbClr val="007F00"/>
                </a:solidFill>
                <a:latin typeface="Times New Roman"/>
                <a:cs typeface="Times New Roman"/>
              </a:rPr>
              <a:t>&lt;/xs:complexType&gt;</a:t>
            </a:r>
            <a:endParaRPr sz="1200" dirty="0">
              <a:latin typeface="Times New Roman"/>
              <a:cs typeface="Times New Roman"/>
            </a:endParaRPr>
          </a:p>
          <a:p>
            <a:pPr>
              <a:lnSpc>
                <a:spcPts val="1190"/>
              </a:lnSpc>
            </a:pPr>
            <a:endParaRPr sz="1200" dirty="0"/>
          </a:p>
          <a:p>
            <a:pPr>
              <a:lnSpc>
                <a:spcPts val="1388"/>
              </a:lnSpc>
              <a:spcBef>
                <a:spcPts val="30"/>
              </a:spcBef>
            </a:pPr>
            <a:endParaRPr sz="1400" dirty="0"/>
          </a:p>
          <a:p>
            <a:pPr marL="25179"/>
            <a:r>
              <a:rPr sz="2400" spc="59" dirty="0" smtClean="0">
                <a:latin typeface="Times New Roman"/>
                <a:cs typeface="Times New Roman"/>
              </a:rPr>
              <a:t>D</a:t>
            </a:r>
            <a:r>
              <a:rPr sz="2400" dirty="0" smtClean="0">
                <a:latin typeface="Times New Roman"/>
                <a:cs typeface="Times New Roman"/>
              </a:rPr>
              <a:t>o</a:t>
            </a:r>
            <a:r>
              <a:rPr sz="2400" spc="99" dirty="0" smtClean="0">
                <a:latin typeface="Times New Roman"/>
                <a:cs typeface="Times New Roman"/>
              </a:rPr>
              <a:t>wnsid</a:t>
            </a:r>
            <a:r>
              <a:rPr lang="en-US" sz="2400" spc="99" dirty="0" smtClean="0">
                <a:latin typeface="Times New Roman"/>
                <a:cs typeface="Times New Roman"/>
              </a:rPr>
              <a:t>e:</a:t>
            </a:r>
            <a:r>
              <a:rPr lang="en-US" sz="2400" dirty="0">
                <a:latin typeface="Times New Roman"/>
                <a:cs typeface="Times New Roman"/>
              </a:rPr>
              <a:t> </a:t>
            </a:r>
            <a:r>
              <a:rPr lang="en-US" sz="2400" dirty="0" smtClean="0">
                <a:latin typeface="Times New Roman"/>
                <a:cs typeface="Times New Roman"/>
              </a:rPr>
              <a:t> </a:t>
            </a:r>
            <a:r>
              <a:rPr sz="2200" spc="40" dirty="0" smtClean="0">
                <a:latin typeface="Times New Roman"/>
                <a:cs typeface="Times New Roman"/>
              </a:rPr>
              <a:t>No</a:t>
            </a:r>
            <a:r>
              <a:rPr sz="2200" spc="50" dirty="0" smtClean="0">
                <a:latin typeface="Times New Roman"/>
                <a:cs typeface="Times New Roman"/>
              </a:rPr>
              <a:t> </a:t>
            </a:r>
            <a:r>
              <a:rPr sz="2200" spc="69" dirty="0">
                <a:latin typeface="Times New Roman"/>
                <a:cs typeface="Times New Roman"/>
              </a:rPr>
              <a:t>st</a:t>
            </a:r>
            <a:r>
              <a:rPr sz="2200" spc="99" dirty="0">
                <a:latin typeface="Times New Roman"/>
                <a:cs typeface="Times New Roman"/>
              </a:rPr>
              <a:t>r</a:t>
            </a:r>
            <a:r>
              <a:rPr sz="2200" spc="89" dirty="0">
                <a:latin typeface="Times New Roman"/>
                <a:cs typeface="Times New Roman"/>
              </a:rPr>
              <a:t>uctur</a:t>
            </a:r>
            <a:r>
              <a:rPr sz="2200" spc="50" dirty="0">
                <a:latin typeface="Times New Roman"/>
                <a:cs typeface="Times New Roman"/>
              </a:rPr>
              <a:t>e.</a:t>
            </a:r>
            <a:r>
              <a:rPr sz="2200" spc="198" dirty="0">
                <a:latin typeface="Times New Roman"/>
                <a:cs typeface="Times New Roman"/>
              </a:rPr>
              <a:t> </a:t>
            </a:r>
            <a:r>
              <a:rPr sz="2200" spc="10" dirty="0">
                <a:latin typeface="Times New Roman"/>
                <a:cs typeface="Times New Roman"/>
              </a:rPr>
              <a:t>Mostly</a:t>
            </a:r>
            <a:r>
              <a:rPr sz="2200" spc="50" dirty="0">
                <a:latin typeface="Times New Roman"/>
                <a:cs typeface="Times New Roman"/>
              </a:rPr>
              <a:t> </a:t>
            </a:r>
            <a:r>
              <a:rPr sz="2200" spc="-79" dirty="0">
                <a:latin typeface="Times New Roman"/>
                <a:cs typeface="Times New Roman"/>
              </a:rPr>
              <a:t>v</a:t>
            </a:r>
            <a:r>
              <a:rPr sz="2200" spc="149" dirty="0">
                <a:latin typeface="Times New Roman"/>
                <a:cs typeface="Times New Roman"/>
              </a:rPr>
              <a:t>erbose</a:t>
            </a:r>
            <a:r>
              <a:rPr sz="2200" spc="50" dirty="0">
                <a:latin typeface="Times New Roman"/>
                <a:cs typeface="Times New Roman"/>
              </a:rPr>
              <a:t> </a:t>
            </a:r>
            <a:r>
              <a:rPr sz="2200" spc="79" dirty="0">
                <a:latin typeface="Times New Roman"/>
                <a:cs typeface="Times New Roman"/>
              </a:rPr>
              <a:t>ent</a:t>
            </a:r>
            <a:r>
              <a:rPr sz="2200" spc="99" dirty="0">
                <a:latin typeface="Times New Roman"/>
                <a:cs typeface="Times New Roman"/>
              </a:rPr>
              <a:t>r</a:t>
            </a:r>
            <a:r>
              <a:rPr sz="2200" spc="109" dirty="0">
                <a:latin typeface="Times New Roman"/>
                <a:cs typeface="Times New Roman"/>
              </a:rPr>
              <a:t>ie</a:t>
            </a:r>
            <a:r>
              <a:rPr sz="2200" spc="79" dirty="0">
                <a:latin typeface="Times New Roman"/>
                <a:cs typeface="Times New Roman"/>
              </a:rPr>
              <a:t>s</a:t>
            </a:r>
            <a:r>
              <a:rPr sz="2200" spc="50" dirty="0">
                <a:latin typeface="Times New Roman"/>
                <a:cs typeface="Times New Roman"/>
              </a:rPr>
              <a:t>.</a:t>
            </a:r>
            <a:endParaRPr sz="2200" dirty="0">
              <a:latin typeface="Times New Roman"/>
              <a:cs typeface="Times New Roman"/>
            </a:endParaRPr>
          </a:p>
        </p:txBody>
      </p:sp>
    </p:spTree>
    <p:extLst>
      <p:ext uri="{BB962C8B-B14F-4D97-AF65-F5344CB8AC3E}">
        <p14:creationId xmlns:p14="http://schemas.microsoft.com/office/powerpoint/2010/main" val="3637678148"/>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2000" y="1981200"/>
            <a:ext cx="7725370" cy="4343400"/>
          </a:xfrm>
          <a:prstGeom prst="rect">
            <a:avLst/>
          </a:prstGeom>
        </p:spPr>
      </p:pic>
      <p:sp>
        <p:nvSpPr>
          <p:cNvPr id="3" name="TextBox 2"/>
          <p:cNvSpPr txBox="1"/>
          <p:nvPr/>
        </p:nvSpPr>
        <p:spPr>
          <a:xfrm>
            <a:off x="1219200" y="1066800"/>
            <a:ext cx="7029138" cy="523220"/>
          </a:xfrm>
          <a:prstGeom prst="rect">
            <a:avLst/>
          </a:prstGeom>
          <a:noFill/>
        </p:spPr>
        <p:txBody>
          <a:bodyPr wrap="none" rtlCol="0">
            <a:spAutoFit/>
          </a:bodyPr>
          <a:lstStyle/>
          <a:p>
            <a:r>
              <a:rPr lang="en-US" sz="2800" dirty="0" smtClean="0"/>
              <a:t>Provenance example from the UK Data Archive</a:t>
            </a:r>
            <a:endParaRPr lang="en-US" sz="2800" dirty="0"/>
          </a:p>
        </p:txBody>
      </p:sp>
    </p:spTree>
    <p:extLst>
      <p:ext uri="{BB962C8B-B14F-4D97-AF65-F5344CB8AC3E}">
        <p14:creationId xmlns:p14="http://schemas.microsoft.com/office/powerpoint/2010/main" val="611903852"/>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3350" y="1219200"/>
            <a:ext cx="8625850" cy="990600"/>
          </a:xfrm>
          <a:prstGeom prst="rect">
            <a:avLst/>
          </a:prstGeom>
          <a:noFill/>
        </p:spPr>
        <p:txBody>
          <a:bodyPr wrap="square" rtlCol="0">
            <a:spAutoFit/>
          </a:bodyPr>
          <a:lstStyle/>
          <a:p>
            <a:r>
              <a:rPr lang="en-US" sz="2800" dirty="0" smtClean="0"/>
              <a:t>Earlier 2013 work (</a:t>
            </a:r>
            <a:r>
              <a:rPr lang="en-US" sz="2800" dirty="0" err="1" smtClean="0"/>
              <a:t>Lagoze</a:t>
            </a:r>
            <a:r>
              <a:rPr lang="en-US" sz="2800" dirty="0" smtClean="0"/>
              <a:t>, Williams, et. al) explored encoding PROV in RDF/XML* </a:t>
            </a:r>
            <a:endParaRPr lang="en-US" sz="2800" dirty="0"/>
          </a:p>
        </p:txBody>
      </p:sp>
      <p:sp>
        <p:nvSpPr>
          <p:cNvPr id="4" name="Rectangle 3"/>
          <p:cNvSpPr/>
          <p:nvPr/>
        </p:nvSpPr>
        <p:spPr>
          <a:xfrm>
            <a:off x="762000" y="2590800"/>
            <a:ext cx="8077200" cy="1569660"/>
          </a:xfrm>
          <a:prstGeom prst="rect">
            <a:avLst/>
          </a:prstGeom>
        </p:spPr>
        <p:txBody>
          <a:bodyPr wrap="square">
            <a:spAutoFit/>
          </a:bodyPr>
          <a:lstStyle/>
          <a:p>
            <a:pPr marL="355600" indent="-342900">
              <a:buFont typeface="Arial"/>
              <a:buChar char="•"/>
            </a:pPr>
            <a:r>
              <a:rPr lang="en-US" sz="2400" spc="-5" dirty="0" smtClean="0">
                <a:latin typeface="Times New Roman"/>
                <a:cs typeface="Times New Roman"/>
              </a:rPr>
              <a:t>Required use of CDATA tag to avoid interfering with schema compliance; deemed less promising</a:t>
            </a:r>
          </a:p>
          <a:p>
            <a:pPr marL="355600" indent="-342900">
              <a:buFont typeface="Arial"/>
              <a:buChar char="•"/>
            </a:pPr>
            <a:r>
              <a:rPr lang="en-US" sz="2400" spc="-5" dirty="0" smtClean="0">
                <a:latin typeface="Times New Roman"/>
                <a:cs typeface="Times New Roman"/>
              </a:rPr>
              <a:t>Interested in the RDF encoding for DDI effort (e.g., Bosch, </a:t>
            </a:r>
            <a:r>
              <a:rPr lang="en-US" sz="2400" spc="-5" dirty="0" err="1" smtClean="0">
                <a:latin typeface="Times New Roman"/>
                <a:cs typeface="Times New Roman"/>
              </a:rPr>
              <a:t>Cyganiak</a:t>
            </a:r>
            <a:r>
              <a:rPr lang="en-US" sz="2400" spc="-5" dirty="0" smtClean="0">
                <a:latin typeface="Times New Roman"/>
                <a:cs typeface="Times New Roman"/>
              </a:rPr>
              <a:t>, Gregory, and </a:t>
            </a:r>
            <a:r>
              <a:rPr lang="en-US" sz="2400" spc="-5" dirty="0" err="1" smtClean="0">
                <a:latin typeface="Times New Roman"/>
                <a:cs typeface="Times New Roman"/>
              </a:rPr>
              <a:t>Wackerow</a:t>
            </a:r>
            <a:r>
              <a:rPr lang="en-US" sz="2400" spc="-5" dirty="0" smtClean="0">
                <a:latin typeface="Times New Roman"/>
                <a:cs typeface="Times New Roman"/>
              </a:rPr>
              <a:t> 2013)** </a:t>
            </a:r>
          </a:p>
        </p:txBody>
      </p:sp>
      <p:sp>
        <p:nvSpPr>
          <p:cNvPr id="2" name="TextBox 1"/>
          <p:cNvSpPr txBox="1"/>
          <p:nvPr/>
        </p:nvSpPr>
        <p:spPr>
          <a:xfrm>
            <a:off x="381000" y="5029200"/>
            <a:ext cx="8458200" cy="1015663"/>
          </a:xfrm>
          <a:prstGeom prst="rect">
            <a:avLst/>
          </a:prstGeom>
          <a:noFill/>
        </p:spPr>
        <p:txBody>
          <a:bodyPr wrap="square" rtlCol="0">
            <a:spAutoFit/>
          </a:bodyPr>
          <a:lstStyle/>
          <a:p>
            <a:r>
              <a:rPr lang="en-US" sz="1200" dirty="0" smtClean="0"/>
              <a:t>*</a:t>
            </a:r>
            <a:r>
              <a:rPr lang="en-US" sz="1200" dirty="0" err="1"/>
              <a:t>Lagoze</a:t>
            </a:r>
            <a:r>
              <a:rPr lang="en-US" sz="1200" dirty="0"/>
              <a:t>, C., Williams, J., &amp; </a:t>
            </a:r>
            <a:r>
              <a:rPr lang="en-US" sz="1200" dirty="0" err="1"/>
              <a:t>Vilhuber</a:t>
            </a:r>
            <a:r>
              <a:rPr lang="en-US" sz="1200" dirty="0"/>
              <a:t>, L. (2013). Encoding Provenance Metadata for Social Science Datasets. In </a:t>
            </a:r>
            <a:r>
              <a:rPr lang="en-US" sz="1200" i="1" dirty="0"/>
              <a:t>7th Metadata and Semantics Research Conference</a:t>
            </a:r>
            <a:r>
              <a:rPr lang="en-US" sz="1200" dirty="0"/>
              <a:t>. Thessaloniki. </a:t>
            </a:r>
            <a:endParaRPr lang="en-US" sz="1200" dirty="0" smtClean="0"/>
          </a:p>
          <a:p>
            <a:endParaRPr lang="en-US" sz="1200" dirty="0"/>
          </a:p>
          <a:p>
            <a:r>
              <a:rPr lang="en-US" sz="1200" dirty="0" smtClean="0"/>
              <a:t>**Bosch</a:t>
            </a:r>
            <a:r>
              <a:rPr lang="en-US" sz="1200" dirty="0"/>
              <a:t>, T., </a:t>
            </a:r>
            <a:r>
              <a:rPr lang="en-US" sz="1200" dirty="0" err="1"/>
              <a:t>Cyganiak</a:t>
            </a:r>
            <a:r>
              <a:rPr lang="en-US" sz="1200" dirty="0"/>
              <a:t>, R., Gregory, A., &amp; </a:t>
            </a:r>
            <a:r>
              <a:rPr lang="en-US" sz="1200" dirty="0" err="1"/>
              <a:t>Wackerow</a:t>
            </a:r>
            <a:r>
              <a:rPr lang="en-US" sz="1200" dirty="0"/>
              <a:t>, J. (2013). DDI-RDF Discovery Vocabulary: A Metadata Vocabulary for Documenting Research and Survey Data. In </a:t>
            </a:r>
            <a:r>
              <a:rPr lang="en-US" sz="1200" i="1" dirty="0"/>
              <a:t>Linked Data on the Web Workshop</a:t>
            </a:r>
            <a:r>
              <a:rPr lang="en-US" sz="1200" dirty="0"/>
              <a:t>. Rio de Janeiro </a:t>
            </a:r>
          </a:p>
        </p:txBody>
      </p:sp>
    </p:spTree>
    <p:extLst>
      <p:ext uri="{BB962C8B-B14F-4D97-AF65-F5344CB8AC3E}">
        <p14:creationId xmlns:p14="http://schemas.microsoft.com/office/powerpoint/2010/main" val="1911060641"/>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dt" sz="half" idx="4294967295"/>
          </p:nvPr>
        </p:nvSpPr>
        <p:spPr>
          <a:xfrm>
            <a:off x="1578032" y="6609074"/>
            <a:ext cx="2803656" cy="276999"/>
          </a:xfrm>
          <a:prstGeom prst="rect">
            <a:avLst/>
          </a:prstGeom>
        </p:spPr>
        <p:txBody>
          <a:bodyPr vert="horz" wrap="square" lIns="0" tIns="0" rIns="0" bIns="0" rtlCol="0">
            <a:spAutoFit/>
          </a:bodyPr>
          <a:lstStyle/>
          <a:p>
            <a:pPr marL="25179"/>
            <a:endParaRPr dirty="0"/>
          </a:p>
        </p:txBody>
      </p:sp>
      <p:sp>
        <p:nvSpPr>
          <p:cNvPr id="3" name="TextBox 2"/>
          <p:cNvSpPr txBox="1"/>
          <p:nvPr/>
        </p:nvSpPr>
        <p:spPr>
          <a:xfrm>
            <a:off x="1219200" y="1066800"/>
            <a:ext cx="7775686" cy="954107"/>
          </a:xfrm>
          <a:prstGeom prst="rect">
            <a:avLst/>
          </a:prstGeom>
          <a:noFill/>
        </p:spPr>
        <p:txBody>
          <a:bodyPr wrap="none" rtlCol="0">
            <a:spAutoFit/>
          </a:bodyPr>
          <a:lstStyle/>
          <a:p>
            <a:r>
              <a:rPr lang="en-US" sz="2800" dirty="0" smtClean="0"/>
              <a:t>More recently:  exploring W3C PROV Model as basis</a:t>
            </a:r>
          </a:p>
          <a:p>
            <a:r>
              <a:rPr lang="en-US" sz="2800" dirty="0"/>
              <a:t>f</a:t>
            </a:r>
            <a:r>
              <a:rPr lang="en-US" sz="2800" dirty="0" smtClean="0"/>
              <a:t>or encoding provenance metadata in DDI</a:t>
            </a:r>
            <a:endParaRPr lang="en-US" sz="2800" dirty="0"/>
          </a:p>
        </p:txBody>
      </p:sp>
      <p:sp>
        <p:nvSpPr>
          <p:cNvPr id="4" name="Rectangle 3"/>
          <p:cNvSpPr/>
          <p:nvPr/>
        </p:nvSpPr>
        <p:spPr>
          <a:xfrm>
            <a:off x="685800" y="2514600"/>
            <a:ext cx="8077200" cy="3046988"/>
          </a:xfrm>
          <a:prstGeom prst="rect">
            <a:avLst/>
          </a:prstGeom>
        </p:spPr>
        <p:txBody>
          <a:bodyPr wrap="square">
            <a:spAutoFit/>
          </a:bodyPr>
          <a:lstStyle/>
          <a:p>
            <a:pPr marL="12700"/>
            <a:r>
              <a:rPr lang="en-US" sz="2400" b="1" spc="-5" dirty="0" smtClean="0">
                <a:latin typeface="Times New Roman"/>
                <a:cs typeface="Times New Roman"/>
              </a:rPr>
              <a:t>W3C PROV Model is based upon:</a:t>
            </a:r>
          </a:p>
          <a:p>
            <a:pPr marL="355600" indent="-342900">
              <a:buFont typeface="Arial"/>
              <a:buChar char="•"/>
            </a:pPr>
            <a:r>
              <a:rPr lang="en-US" sz="2400" b="1" spc="50" dirty="0" smtClean="0">
                <a:latin typeface="Times New Roman"/>
                <a:cs typeface="Times New Roman"/>
              </a:rPr>
              <a:t>entities</a:t>
            </a:r>
            <a:r>
              <a:rPr lang="en-US" sz="2400" b="1" spc="25" dirty="0" smtClean="0">
                <a:latin typeface="Times New Roman"/>
                <a:cs typeface="Times New Roman"/>
              </a:rPr>
              <a:t> </a:t>
            </a:r>
            <a:r>
              <a:rPr lang="en-US" sz="2400" spc="40" dirty="0">
                <a:latin typeface="Times New Roman"/>
                <a:cs typeface="Times New Roman"/>
              </a:rPr>
              <a:t>that</a:t>
            </a:r>
            <a:r>
              <a:rPr lang="en-US" sz="2400" spc="25" dirty="0">
                <a:latin typeface="Times New Roman"/>
                <a:cs typeface="Times New Roman"/>
              </a:rPr>
              <a:t> </a:t>
            </a:r>
            <a:r>
              <a:rPr lang="en-US" sz="2400" spc="75" dirty="0">
                <a:latin typeface="Times New Roman"/>
                <a:cs typeface="Times New Roman"/>
              </a:rPr>
              <a:t>are</a:t>
            </a:r>
            <a:r>
              <a:rPr lang="en-US" sz="2400" spc="25" dirty="0">
                <a:latin typeface="Times New Roman"/>
                <a:cs typeface="Times New Roman"/>
              </a:rPr>
              <a:t> </a:t>
            </a:r>
            <a:r>
              <a:rPr lang="en-US" sz="2400" spc="55" dirty="0">
                <a:latin typeface="Times New Roman"/>
                <a:cs typeface="Times New Roman"/>
              </a:rPr>
              <a:t>p</a:t>
            </a:r>
            <a:r>
              <a:rPr lang="en-US" sz="2400" spc="20" dirty="0">
                <a:latin typeface="Times New Roman"/>
                <a:cs typeface="Times New Roman"/>
              </a:rPr>
              <a:t>hysical,</a:t>
            </a:r>
            <a:r>
              <a:rPr lang="en-US" sz="2400" spc="25" dirty="0">
                <a:latin typeface="Times New Roman"/>
                <a:cs typeface="Times New Roman"/>
              </a:rPr>
              <a:t> </a:t>
            </a:r>
            <a:r>
              <a:rPr lang="en-US" sz="2400" spc="5" dirty="0">
                <a:latin typeface="Times New Roman"/>
                <a:cs typeface="Times New Roman"/>
              </a:rPr>
              <a:t>digital,</a:t>
            </a:r>
            <a:r>
              <a:rPr lang="en-US" sz="2400" spc="25" dirty="0">
                <a:latin typeface="Times New Roman"/>
                <a:cs typeface="Times New Roman"/>
              </a:rPr>
              <a:t> </a:t>
            </a:r>
            <a:r>
              <a:rPr lang="en-US" sz="2400" spc="70" dirty="0">
                <a:latin typeface="Times New Roman"/>
                <a:cs typeface="Times New Roman"/>
              </a:rPr>
              <a:t>and</a:t>
            </a:r>
            <a:r>
              <a:rPr lang="en-US" sz="2400" spc="25" dirty="0">
                <a:latin typeface="Times New Roman"/>
                <a:cs typeface="Times New Roman"/>
              </a:rPr>
              <a:t> </a:t>
            </a:r>
            <a:r>
              <a:rPr lang="en-US" sz="2400" spc="45" dirty="0">
                <a:latin typeface="Times New Roman"/>
                <a:cs typeface="Times New Roman"/>
              </a:rPr>
              <a:t>conceptual</a:t>
            </a:r>
            <a:r>
              <a:rPr lang="en-US" sz="2400" spc="25" dirty="0">
                <a:latin typeface="Times New Roman"/>
                <a:cs typeface="Times New Roman"/>
              </a:rPr>
              <a:t> </a:t>
            </a:r>
            <a:r>
              <a:rPr lang="en-US" sz="2400" spc="35" dirty="0">
                <a:latin typeface="Times New Roman"/>
                <a:cs typeface="Times New Roman"/>
              </a:rPr>
              <a:t>things</a:t>
            </a:r>
            <a:r>
              <a:rPr lang="en-US" sz="2400" spc="25" dirty="0">
                <a:latin typeface="Times New Roman"/>
                <a:cs typeface="Times New Roman"/>
              </a:rPr>
              <a:t> </a:t>
            </a:r>
            <a:r>
              <a:rPr lang="en-US" sz="2400" spc="-5" dirty="0" smtClean="0">
                <a:latin typeface="Times New Roman"/>
                <a:cs typeface="Times New Roman"/>
              </a:rPr>
              <a:t>in</a:t>
            </a:r>
          </a:p>
          <a:p>
            <a:r>
              <a:rPr lang="en-US" sz="2400" spc="50" dirty="0" smtClean="0">
                <a:latin typeface="Times New Roman"/>
                <a:cs typeface="Times New Roman"/>
              </a:rPr>
              <a:t>the</a:t>
            </a:r>
            <a:r>
              <a:rPr lang="en-US" sz="2400" spc="25" dirty="0" smtClean="0">
                <a:latin typeface="Times New Roman"/>
                <a:cs typeface="Times New Roman"/>
              </a:rPr>
              <a:t> </a:t>
            </a:r>
            <a:r>
              <a:rPr lang="en-US" sz="2400" spc="-25" dirty="0" smtClean="0">
                <a:latin typeface="Times New Roman"/>
                <a:cs typeface="Times New Roman"/>
              </a:rPr>
              <a:t>w</a:t>
            </a:r>
            <a:r>
              <a:rPr lang="en-US" sz="2400" spc="25" dirty="0" smtClean="0">
                <a:latin typeface="Times New Roman"/>
                <a:cs typeface="Times New Roman"/>
              </a:rPr>
              <a:t>or</a:t>
            </a:r>
            <a:r>
              <a:rPr lang="en-US" sz="2400" spc="-5" dirty="0" smtClean="0">
                <a:latin typeface="Times New Roman"/>
                <a:cs typeface="Times New Roman"/>
              </a:rPr>
              <a:t>ld;</a:t>
            </a:r>
          </a:p>
          <a:p>
            <a:pPr marL="342900" indent="-342900">
              <a:buFont typeface="Arial"/>
              <a:buChar char="•"/>
            </a:pPr>
            <a:r>
              <a:rPr lang="en-US" sz="2400" b="1" spc="45" dirty="0" smtClean="0">
                <a:latin typeface="Times New Roman"/>
                <a:cs typeface="Times New Roman"/>
              </a:rPr>
              <a:t>activities</a:t>
            </a:r>
            <a:r>
              <a:rPr lang="en-US" sz="2400" b="1" spc="25" dirty="0" smtClean="0">
                <a:latin typeface="Times New Roman"/>
                <a:cs typeface="Times New Roman"/>
              </a:rPr>
              <a:t> </a:t>
            </a:r>
            <a:r>
              <a:rPr lang="en-US" sz="2400" spc="40" dirty="0" smtClean="0">
                <a:latin typeface="Times New Roman"/>
                <a:cs typeface="Times New Roman"/>
              </a:rPr>
              <a:t>that</a:t>
            </a:r>
            <a:r>
              <a:rPr lang="en-US" sz="2400" spc="25" dirty="0" smtClean="0">
                <a:latin typeface="Times New Roman"/>
                <a:cs typeface="Times New Roman"/>
              </a:rPr>
              <a:t> </a:t>
            </a:r>
            <a:r>
              <a:rPr lang="en-US" sz="2400" spc="75" dirty="0" smtClean="0">
                <a:latin typeface="Times New Roman"/>
                <a:cs typeface="Times New Roman"/>
              </a:rPr>
              <a:t>are</a:t>
            </a:r>
            <a:r>
              <a:rPr lang="en-US" sz="2400" spc="25" dirty="0" smtClean="0">
                <a:latin typeface="Times New Roman"/>
                <a:cs typeface="Times New Roman"/>
              </a:rPr>
              <a:t> </a:t>
            </a:r>
            <a:r>
              <a:rPr lang="en-US" sz="2400" spc="35" dirty="0" smtClean="0">
                <a:latin typeface="Times New Roman"/>
                <a:cs typeface="Times New Roman"/>
              </a:rPr>
              <a:t>dynamic</a:t>
            </a:r>
            <a:r>
              <a:rPr lang="en-US" sz="2400" spc="25" dirty="0" smtClean="0">
                <a:latin typeface="Times New Roman"/>
                <a:cs typeface="Times New Roman"/>
              </a:rPr>
              <a:t> </a:t>
            </a:r>
            <a:r>
              <a:rPr lang="en-US" sz="2400" spc="80" dirty="0" smtClean="0">
                <a:latin typeface="Times New Roman"/>
                <a:cs typeface="Times New Roman"/>
              </a:rPr>
              <a:t>aspects</a:t>
            </a:r>
            <a:r>
              <a:rPr lang="en-US" sz="2400" spc="25" dirty="0" smtClean="0">
                <a:latin typeface="Times New Roman"/>
                <a:cs typeface="Times New Roman"/>
              </a:rPr>
              <a:t> </a:t>
            </a:r>
            <a:r>
              <a:rPr lang="en-US" sz="2400" spc="-5" dirty="0" smtClean="0">
                <a:latin typeface="Times New Roman"/>
                <a:cs typeface="Times New Roman"/>
              </a:rPr>
              <a:t>of</a:t>
            </a:r>
            <a:r>
              <a:rPr lang="en-US" sz="2400" spc="25" dirty="0" smtClean="0">
                <a:latin typeface="Times New Roman"/>
                <a:cs typeface="Times New Roman"/>
              </a:rPr>
              <a:t> </a:t>
            </a:r>
            <a:r>
              <a:rPr lang="en-US" sz="2400" spc="50" dirty="0" smtClean="0">
                <a:latin typeface="Times New Roman"/>
                <a:cs typeface="Times New Roman"/>
              </a:rPr>
              <a:t>the</a:t>
            </a:r>
            <a:r>
              <a:rPr lang="en-US" sz="2400" spc="25" dirty="0" smtClean="0">
                <a:latin typeface="Times New Roman"/>
                <a:cs typeface="Times New Roman"/>
              </a:rPr>
              <a:t> </a:t>
            </a:r>
            <a:r>
              <a:rPr lang="en-US" sz="2400" spc="-25" dirty="0" smtClean="0">
                <a:latin typeface="Times New Roman"/>
                <a:cs typeface="Times New Roman"/>
              </a:rPr>
              <a:t>w</a:t>
            </a:r>
            <a:r>
              <a:rPr lang="en-US" sz="2400" spc="25" dirty="0" smtClean="0">
                <a:latin typeface="Times New Roman"/>
                <a:cs typeface="Times New Roman"/>
              </a:rPr>
              <a:t>or</a:t>
            </a:r>
            <a:r>
              <a:rPr lang="en-US" sz="2400" spc="-5" dirty="0" smtClean="0">
                <a:latin typeface="Times New Roman"/>
                <a:cs typeface="Times New Roman"/>
              </a:rPr>
              <a:t>ld</a:t>
            </a:r>
            <a:r>
              <a:rPr lang="en-US" sz="2400" spc="25" dirty="0" smtClean="0">
                <a:latin typeface="Times New Roman"/>
                <a:cs typeface="Times New Roman"/>
              </a:rPr>
              <a:t> </a:t>
            </a:r>
            <a:r>
              <a:rPr lang="en-US" sz="2400" spc="40" dirty="0" smtClean="0">
                <a:latin typeface="Times New Roman"/>
                <a:cs typeface="Times New Roman"/>
              </a:rPr>
              <a:t>that</a:t>
            </a:r>
            <a:r>
              <a:rPr lang="en-US" sz="2400" spc="25" dirty="0" smtClean="0">
                <a:latin typeface="Times New Roman"/>
                <a:cs typeface="Times New Roman"/>
              </a:rPr>
              <a:t> </a:t>
            </a:r>
            <a:r>
              <a:rPr lang="en-US" sz="2400" spc="70" dirty="0" smtClean="0">
                <a:latin typeface="Times New Roman"/>
                <a:cs typeface="Times New Roman"/>
              </a:rPr>
              <a:t>change</a:t>
            </a:r>
            <a:r>
              <a:rPr lang="en-US" sz="2400" spc="25" dirty="0" smtClean="0">
                <a:latin typeface="Times New Roman"/>
                <a:cs typeface="Times New Roman"/>
              </a:rPr>
              <a:t> </a:t>
            </a:r>
            <a:r>
              <a:rPr lang="en-US" sz="2400" spc="70" dirty="0" smtClean="0">
                <a:latin typeface="Times New Roman"/>
                <a:cs typeface="Times New Roman"/>
              </a:rPr>
              <a:t>and</a:t>
            </a:r>
            <a:r>
              <a:rPr lang="en-US" sz="2400" spc="25" dirty="0" smtClean="0">
                <a:latin typeface="Times New Roman"/>
                <a:cs typeface="Times New Roman"/>
              </a:rPr>
              <a:t> </a:t>
            </a:r>
            <a:r>
              <a:rPr lang="en-US" sz="2400" spc="65" dirty="0" smtClean="0">
                <a:latin typeface="Times New Roman"/>
                <a:cs typeface="Times New Roman"/>
              </a:rPr>
              <a:t>create</a:t>
            </a:r>
            <a:r>
              <a:rPr lang="en-US" sz="2400" spc="25" dirty="0" smtClean="0">
                <a:latin typeface="Times New Roman"/>
                <a:cs typeface="Times New Roman"/>
              </a:rPr>
              <a:t> </a:t>
            </a:r>
            <a:r>
              <a:rPr lang="en-US" sz="2400" spc="30" dirty="0" smtClean="0">
                <a:latin typeface="Times New Roman"/>
                <a:cs typeface="Times New Roman"/>
              </a:rPr>
              <a:t>entities;</a:t>
            </a:r>
            <a:r>
              <a:rPr lang="en-US" sz="2400" spc="25" dirty="0" smtClean="0">
                <a:latin typeface="Times New Roman"/>
                <a:cs typeface="Times New Roman"/>
              </a:rPr>
              <a:t> </a:t>
            </a:r>
            <a:r>
              <a:rPr lang="en-US" sz="2400" spc="70" dirty="0" smtClean="0">
                <a:latin typeface="Times New Roman"/>
                <a:cs typeface="Times New Roman"/>
              </a:rPr>
              <a:t>and</a:t>
            </a:r>
            <a:endParaRPr lang="en-US" sz="2400" dirty="0">
              <a:latin typeface="Times New Roman"/>
              <a:cs typeface="Times New Roman"/>
            </a:endParaRPr>
          </a:p>
          <a:p>
            <a:pPr marL="342900" indent="-342900">
              <a:buFont typeface="Arial"/>
              <a:buChar char="•"/>
            </a:pPr>
            <a:r>
              <a:rPr lang="en-US" sz="2400" b="1" spc="40" dirty="0" smtClean="0">
                <a:latin typeface="Times New Roman"/>
                <a:cs typeface="Times New Roman"/>
              </a:rPr>
              <a:t>a</a:t>
            </a:r>
            <a:r>
              <a:rPr lang="en-US" sz="2400" b="1" spc="125" dirty="0" smtClean="0">
                <a:latin typeface="Times New Roman"/>
                <a:cs typeface="Times New Roman"/>
              </a:rPr>
              <a:t>g</a:t>
            </a:r>
            <a:r>
              <a:rPr lang="en-US" sz="2400" b="1" spc="85" dirty="0" smtClean="0">
                <a:latin typeface="Times New Roman"/>
                <a:cs typeface="Times New Roman"/>
              </a:rPr>
              <a:t>ents</a:t>
            </a:r>
            <a:r>
              <a:rPr lang="en-US" sz="2400" b="1" spc="25" dirty="0" smtClean="0">
                <a:latin typeface="Times New Roman"/>
                <a:cs typeface="Times New Roman"/>
              </a:rPr>
              <a:t> </a:t>
            </a:r>
            <a:r>
              <a:rPr lang="en-US" sz="2400" spc="40" dirty="0" smtClean="0">
                <a:latin typeface="Times New Roman"/>
                <a:cs typeface="Times New Roman"/>
              </a:rPr>
              <a:t>that</a:t>
            </a:r>
            <a:r>
              <a:rPr lang="en-US" sz="2400" spc="25" dirty="0" smtClean="0">
                <a:latin typeface="Times New Roman"/>
                <a:cs typeface="Times New Roman"/>
              </a:rPr>
              <a:t> </a:t>
            </a:r>
            <a:r>
              <a:rPr lang="en-US" sz="2400" spc="75" dirty="0" smtClean="0">
                <a:latin typeface="Times New Roman"/>
                <a:cs typeface="Times New Roman"/>
              </a:rPr>
              <a:t>are</a:t>
            </a:r>
            <a:r>
              <a:rPr lang="en-US" sz="2400" spc="25" dirty="0" smtClean="0">
                <a:latin typeface="Times New Roman"/>
                <a:cs typeface="Times New Roman"/>
              </a:rPr>
              <a:t> </a:t>
            </a:r>
            <a:r>
              <a:rPr lang="en-US" sz="2400" spc="55" dirty="0" smtClean="0">
                <a:latin typeface="Times New Roman"/>
                <a:cs typeface="Times New Roman"/>
              </a:rPr>
              <a:t>responsi</a:t>
            </a:r>
            <a:r>
              <a:rPr lang="en-US" sz="2400" spc="40" dirty="0" smtClean="0">
                <a:latin typeface="Times New Roman"/>
                <a:cs typeface="Times New Roman"/>
              </a:rPr>
              <a:t>b</a:t>
            </a:r>
            <a:r>
              <a:rPr lang="en-US" sz="2400" spc="25" dirty="0" smtClean="0">
                <a:latin typeface="Times New Roman"/>
                <a:cs typeface="Times New Roman"/>
              </a:rPr>
              <a:t>le </a:t>
            </a:r>
            <a:r>
              <a:rPr lang="en-US" sz="2400" spc="-105" dirty="0" smtClean="0">
                <a:latin typeface="Times New Roman"/>
                <a:cs typeface="Times New Roman"/>
              </a:rPr>
              <a:t>f</a:t>
            </a:r>
            <a:r>
              <a:rPr lang="en-US" sz="2400" spc="20" dirty="0" smtClean="0">
                <a:latin typeface="Times New Roman"/>
                <a:cs typeface="Times New Roman"/>
              </a:rPr>
              <a:t>or</a:t>
            </a:r>
            <a:r>
              <a:rPr lang="en-US" sz="2400" spc="25" dirty="0" smtClean="0">
                <a:latin typeface="Times New Roman"/>
                <a:cs typeface="Times New Roman"/>
              </a:rPr>
              <a:t> </a:t>
            </a:r>
            <a:r>
              <a:rPr lang="en-US" sz="2400" spc="15" dirty="0" smtClean="0">
                <a:latin typeface="Times New Roman"/>
                <a:cs typeface="Times New Roman"/>
              </a:rPr>
              <a:t>activitie</a:t>
            </a:r>
            <a:r>
              <a:rPr lang="en-US" sz="2400" dirty="0" smtClean="0">
                <a:latin typeface="Times New Roman"/>
                <a:cs typeface="Times New Roman"/>
              </a:rPr>
              <a:t>s</a:t>
            </a:r>
            <a:r>
              <a:rPr lang="en-US" sz="2400" spc="25" dirty="0" smtClean="0">
                <a:latin typeface="Times New Roman"/>
                <a:cs typeface="Times New Roman"/>
              </a:rPr>
              <a:t>.</a:t>
            </a:r>
            <a:endParaRPr lang="en-US" sz="2400" dirty="0">
              <a:latin typeface="Times New Roman"/>
              <a:cs typeface="Times New Roman"/>
            </a:endParaRPr>
          </a:p>
          <a:p>
            <a:pPr marL="342900" indent="-342900">
              <a:buFont typeface="Arial"/>
              <a:buChar char="•"/>
            </a:pPr>
            <a:r>
              <a:rPr lang="en-US" sz="2400" spc="114" dirty="0">
                <a:latin typeface="Times New Roman"/>
                <a:cs typeface="Times New Roman"/>
              </a:rPr>
              <a:t>A</a:t>
            </a:r>
            <a:r>
              <a:rPr lang="en-US" sz="2400" spc="25" dirty="0" smtClean="0">
                <a:latin typeface="Times New Roman"/>
                <a:cs typeface="Times New Roman"/>
              </a:rPr>
              <a:t> </a:t>
            </a:r>
            <a:r>
              <a:rPr lang="en-US" sz="2400" spc="75" dirty="0">
                <a:latin typeface="Times New Roman"/>
                <a:cs typeface="Times New Roman"/>
              </a:rPr>
              <a:t>set</a:t>
            </a:r>
            <a:r>
              <a:rPr lang="en-US" sz="2400" spc="25" dirty="0">
                <a:latin typeface="Times New Roman"/>
                <a:cs typeface="Times New Roman"/>
              </a:rPr>
              <a:t> </a:t>
            </a:r>
            <a:r>
              <a:rPr lang="en-US" sz="2400" spc="-5" dirty="0">
                <a:latin typeface="Times New Roman"/>
                <a:cs typeface="Times New Roman"/>
              </a:rPr>
              <a:t>of</a:t>
            </a:r>
            <a:r>
              <a:rPr lang="en-US" sz="2400" spc="25" dirty="0">
                <a:latin typeface="Times New Roman"/>
                <a:cs typeface="Times New Roman"/>
              </a:rPr>
              <a:t> </a:t>
            </a:r>
            <a:r>
              <a:rPr lang="en-US" sz="2400" b="1" spc="55" dirty="0">
                <a:latin typeface="Times New Roman"/>
                <a:cs typeface="Times New Roman"/>
              </a:rPr>
              <a:t>relationships</a:t>
            </a:r>
            <a:r>
              <a:rPr lang="en-US" sz="2400" b="1" spc="25" dirty="0">
                <a:latin typeface="Times New Roman"/>
                <a:cs typeface="Times New Roman"/>
              </a:rPr>
              <a:t> </a:t>
            </a:r>
            <a:r>
              <a:rPr lang="en-US" sz="2400" spc="40" dirty="0">
                <a:latin typeface="Times New Roman"/>
                <a:cs typeface="Times New Roman"/>
              </a:rPr>
              <a:t>that</a:t>
            </a:r>
            <a:r>
              <a:rPr lang="en-US" sz="2400" spc="25" dirty="0">
                <a:latin typeface="Times New Roman"/>
                <a:cs typeface="Times New Roman"/>
              </a:rPr>
              <a:t> </a:t>
            </a:r>
            <a:r>
              <a:rPr lang="en-US" sz="2400" spc="75" dirty="0">
                <a:latin typeface="Times New Roman"/>
                <a:cs typeface="Times New Roman"/>
              </a:rPr>
              <a:t>can</a:t>
            </a:r>
            <a:r>
              <a:rPr lang="en-US" sz="2400" spc="25" dirty="0">
                <a:latin typeface="Times New Roman"/>
                <a:cs typeface="Times New Roman"/>
              </a:rPr>
              <a:t> </a:t>
            </a:r>
            <a:r>
              <a:rPr lang="en-US" sz="2400" spc="80" dirty="0" smtClean="0">
                <a:latin typeface="Times New Roman"/>
                <a:cs typeface="Times New Roman"/>
              </a:rPr>
              <a:t>e</a:t>
            </a:r>
            <a:r>
              <a:rPr lang="en-US" sz="2400" spc="10" dirty="0" smtClean="0">
                <a:latin typeface="Times New Roman"/>
                <a:cs typeface="Times New Roman"/>
              </a:rPr>
              <a:t>xist</a:t>
            </a:r>
            <a:r>
              <a:rPr lang="en-US" sz="2400" spc="25" dirty="0" smtClean="0">
                <a:latin typeface="Times New Roman"/>
                <a:cs typeface="Times New Roman"/>
              </a:rPr>
              <a:t> </a:t>
            </a:r>
            <a:r>
              <a:rPr lang="en-US" sz="2400" spc="55" dirty="0" smtClean="0">
                <a:latin typeface="Times New Roman"/>
                <a:cs typeface="Times New Roman"/>
              </a:rPr>
              <a:t>be</a:t>
            </a:r>
            <a:r>
              <a:rPr lang="en-US" sz="2400" spc="-5" dirty="0" smtClean="0">
                <a:latin typeface="Times New Roman"/>
                <a:cs typeface="Times New Roman"/>
              </a:rPr>
              <a:t>t</a:t>
            </a:r>
            <a:r>
              <a:rPr lang="en-US" sz="2400" spc="-25" dirty="0" smtClean="0">
                <a:latin typeface="Times New Roman"/>
                <a:cs typeface="Times New Roman"/>
              </a:rPr>
              <a:t>w</a:t>
            </a:r>
            <a:r>
              <a:rPr lang="en-US" sz="2400" spc="95" dirty="0" smtClean="0">
                <a:latin typeface="Times New Roman"/>
                <a:cs typeface="Times New Roman"/>
              </a:rPr>
              <a:t>een</a:t>
            </a:r>
            <a:r>
              <a:rPr lang="en-US" sz="2400" spc="25" dirty="0" smtClean="0">
                <a:latin typeface="Times New Roman"/>
                <a:cs typeface="Times New Roman"/>
              </a:rPr>
              <a:t> </a:t>
            </a:r>
            <a:r>
              <a:rPr lang="en-US" sz="2400" spc="55" dirty="0">
                <a:latin typeface="Times New Roman"/>
                <a:cs typeface="Times New Roman"/>
              </a:rPr>
              <a:t>them</a:t>
            </a:r>
            <a:r>
              <a:rPr lang="en-US" sz="2400" spc="25" dirty="0">
                <a:latin typeface="Times New Roman"/>
                <a:cs typeface="Times New Roman"/>
              </a:rPr>
              <a:t> </a:t>
            </a:r>
            <a:r>
              <a:rPr lang="en-US" sz="2400" spc="40" dirty="0">
                <a:latin typeface="Times New Roman"/>
                <a:cs typeface="Times New Roman"/>
              </a:rPr>
              <a:t>that</a:t>
            </a:r>
            <a:r>
              <a:rPr lang="en-US" sz="2400" spc="25" dirty="0">
                <a:latin typeface="Times New Roman"/>
                <a:cs typeface="Times New Roman"/>
              </a:rPr>
              <a:t> </a:t>
            </a:r>
            <a:r>
              <a:rPr lang="en-US" sz="2400" spc="80" dirty="0">
                <a:latin typeface="Times New Roman"/>
                <a:cs typeface="Times New Roman"/>
              </a:rPr>
              <a:t>e</a:t>
            </a:r>
            <a:r>
              <a:rPr lang="en-US" sz="2400" spc="65" dirty="0">
                <a:latin typeface="Times New Roman"/>
                <a:cs typeface="Times New Roman"/>
              </a:rPr>
              <a:t>xpress</a:t>
            </a:r>
            <a:r>
              <a:rPr lang="en-US" sz="2400" spc="25" dirty="0">
                <a:latin typeface="Times New Roman"/>
                <a:cs typeface="Times New Roman"/>
              </a:rPr>
              <a:t> att</a:t>
            </a:r>
            <a:r>
              <a:rPr lang="en-US" sz="2400" spc="40" dirty="0">
                <a:latin typeface="Times New Roman"/>
                <a:cs typeface="Times New Roman"/>
              </a:rPr>
              <a:t>r</a:t>
            </a:r>
            <a:r>
              <a:rPr lang="en-US" sz="2400" spc="-5" dirty="0">
                <a:latin typeface="Times New Roman"/>
                <a:cs typeface="Times New Roman"/>
              </a:rPr>
              <a:t>i</a:t>
            </a:r>
            <a:r>
              <a:rPr lang="en-US" sz="2400" spc="-35" dirty="0">
                <a:latin typeface="Times New Roman"/>
                <a:cs typeface="Times New Roman"/>
              </a:rPr>
              <a:t>b</a:t>
            </a:r>
            <a:r>
              <a:rPr lang="en-US" sz="2400" spc="20" dirty="0">
                <a:latin typeface="Times New Roman"/>
                <a:cs typeface="Times New Roman"/>
              </a:rPr>
              <a:t>ution</a:t>
            </a:r>
            <a:r>
              <a:rPr lang="en-US" sz="2400" spc="20" dirty="0" smtClean="0">
                <a:latin typeface="Times New Roman"/>
                <a:cs typeface="Times New Roman"/>
              </a:rPr>
              <a:t>,</a:t>
            </a:r>
            <a:r>
              <a:rPr lang="en-US" sz="2400" spc="100" dirty="0" smtClean="0">
                <a:latin typeface="Times New Roman"/>
                <a:cs typeface="Times New Roman"/>
              </a:rPr>
              <a:t> </a:t>
            </a:r>
            <a:r>
              <a:rPr lang="en-US" sz="2400" spc="40" dirty="0">
                <a:latin typeface="Times New Roman"/>
                <a:cs typeface="Times New Roman"/>
              </a:rPr>
              <a:t>delegation,</a:t>
            </a:r>
            <a:r>
              <a:rPr lang="en-US" sz="2400" spc="25" dirty="0">
                <a:latin typeface="Times New Roman"/>
                <a:cs typeface="Times New Roman"/>
              </a:rPr>
              <a:t> </a:t>
            </a:r>
            <a:r>
              <a:rPr lang="en-US" sz="2400" spc="60" dirty="0">
                <a:latin typeface="Times New Roman"/>
                <a:cs typeface="Times New Roman"/>
              </a:rPr>
              <a:t>de</a:t>
            </a:r>
            <a:r>
              <a:rPr lang="en-US" sz="2400" spc="50" dirty="0">
                <a:latin typeface="Times New Roman"/>
                <a:cs typeface="Times New Roman"/>
              </a:rPr>
              <a:t>r</a:t>
            </a:r>
            <a:r>
              <a:rPr lang="en-US" sz="2400" spc="-25" dirty="0">
                <a:latin typeface="Times New Roman"/>
                <a:cs typeface="Times New Roman"/>
              </a:rPr>
              <a:t>i</a:t>
            </a:r>
            <a:r>
              <a:rPr lang="en-US" sz="2400" spc="-75" dirty="0">
                <a:latin typeface="Times New Roman"/>
                <a:cs typeface="Times New Roman"/>
              </a:rPr>
              <a:t>v</a:t>
            </a:r>
            <a:r>
              <a:rPr lang="en-US" sz="2400" spc="25" dirty="0">
                <a:latin typeface="Times New Roman"/>
                <a:cs typeface="Times New Roman"/>
              </a:rPr>
              <a:t>ation, </a:t>
            </a:r>
            <a:r>
              <a:rPr lang="en-US" sz="2400" spc="50" dirty="0">
                <a:latin typeface="Times New Roman"/>
                <a:cs typeface="Times New Roman"/>
              </a:rPr>
              <a:t>etc.</a:t>
            </a:r>
            <a:endParaRPr lang="en-US" sz="2400" dirty="0">
              <a:latin typeface="Times New Roman"/>
              <a:cs typeface="Times New Roman"/>
            </a:endParaRPr>
          </a:p>
        </p:txBody>
      </p:sp>
    </p:spTree>
    <p:extLst>
      <p:ext uri="{BB962C8B-B14F-4D97-AF65-F5344CB8AC3E}">
        <p14:creationId xmlns:p14="http://schemas.microsoft.com/office/powerpoint/2010/main" val="101106298"/>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dt" sz="half" idx="4294967295"/>
          </p:nvPr>
        </p:nvSpPr>
        <p:spPr>
          <a:xfrm>
            <a:off x="1578032" y="6609074"/>
            <a:ext cx="2803656" cy="276999"/>
          </a:xfrm>
          <a:prstGeom prst="rect">
            <a:avLst/>
          </a:prstGeom>
        </p:spPr>
        <p:txBody>
          <a:bodyPr vert="horz" wrap="square" lIns="0" tIns="0" rIns="0" bIns="0" rtlCol="0">
            <a:spAutoFit/>
          </a:bodyPr>
          <a:lstStyle/>
          <a:p>
            <a:pPr marL="25179"/>
            <a:endParaRPr dirty="0"/>
          </a:p>
        </p:txBody>
      </p:sp>
      <p:sp>
        <p:nvSpPr>
          <p:cNvPr id="3" name="TextBox 2"/>
          <p:cNvSpPr txBox="1"/>
          <p:nvPr/>
        </p:nvSpPr>
        <p:spPr>
          <a:xfrm>
            <a:off x="1066800" y="1066800"/>
            <a:ext cx="7818466" cy="523220"/>
          </a:xfrm>
          <a:prstGeom prst="rect">
            <a:avLst/>
          </a:prstGeom>
          <a:noFill/>
        </p:spPr>
        <p:txBody>
          <a:bodyPr wrap="none" rtlCol="0">
            <a:spAutoFit/>
          </a:bodyPr>
          <a:lstStyle/>
          <a:p>
            <a:r>
              <a:rPr lang="en-US" sz="2800" dirty="0" smtClean="0"/>
              <a:t>Provenance of Longitudinal Business Database (LBD)</a:t>
            </a:r>
            <a:endParaRPr lang="en-US" sz="2800" dirty="0"/>
          </a:p>
        </p:txBody>
      </p:sp>
      <p:sp>
        <p:nvSpPr>
          <p:cNvPr id="4" name="Rectangle 3"/>
          <p:cNvSpPr/>
          <p:nvPr/>
        </p:nvSpPr>
        <p:spPr>
          <a:xfrm>
            <a:off x="685800" y="1852865"/>
            <a:ext cx="8077200" cy="461665"/>
          </a:xfrm>
          <a:prstGeom prst="rect">
            <a:avLst/>
          </a:prstGeom>
        </p:spPr>
        <p:txBody>
          <a:bodyPr wrap="square">
            <a:spAutoFit/>
          </a:bodyPr>
          <a:lstStyle/>
          <a:p>
            <a:pPr marL="12700"/>
            <a:endParaRPr lang="en-US" sz="2400" b="1" spc="-5" dirty="0" smtClean="0">
              <a:latin typeface="Times New Roman"/>
              <a:cs typeface="Times New Roman"/>
            </a:endParaRPr>
          </a:p>
        </p:txBody>
      </p:sp>
      <p:sp>
        <p:nvSpPr>
          <p:cNvPr id="5" name="object 5"/>
          <p:cNvSpPr/>
          <p:nvPr/>
        </p:nvSpPr>
        <p:spPr>
          <a:xfrm>
            <a:off x="990600" y="1752600"/>
            <a:ext cx="7620000" cy="4495800"/>
          </a:xfrm>
          <a:prstGeom prst="rect">
            <a:avLst/>
          </a:prstGeom>
          <a:blipFill>
            <a:blip r:embed="rId2" cstate="print"/>
            <a:stretch>
              <a:fillRect/>
            </a:stretch>
          </a:blipFill>
        </p:spPr>
        <p:txBody>
          <a:bodyPr wrap="square" lIns="0" tIns="0" rIns="0" bIns="0" rtlCol="0">
            <a:spAutoFit/>
          </a:bodyPr>
          <a:lstStyle/>
          <a:p>
            <a:endParaRPr kern="1200"/>
          </a:p>
        </p:txBody>
      </p:sp>
    </p:spTree>
    <p:extLst>
      <p:ext uri="{BB962C8B-B14F-4D97-AF65-F5344CB8AC3E}">
        <p14:creationId xmlns:p14="http://schemas.microsoft.com/office/powerpoint/2010/main" val="1732946539"/>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dt" sz="half" idx="4294967295"/>
          </p:nvPr>
        </p:nvSpPr>
        <p:spPr>
          <a:xfrm>
            <a:off x="1578032" y="6609074"/>
            <a:ext cx="2803656" cy="276999"/>
          </a:xfrm>
          <a:prstGeom prst="rect">
            <a:avLst/>
          </a:prstGeom>
        </p:spPr>
        <p:txBody>
          <a:bodyPr vert="horz" wrap="square" lIns="0" tIns="0" rIns="0" bIns="0" rtlCol="0">
            <a:spAutoFit/>
          </a:bodyPr>
          <a:lstStyle/>
          <a:p>
            <a:pPr marL="25179"/>
            <a:endParaRPr dirty="0"/>
          </a:p>
        </p:txBody>
      </p:sp>
      <p:sp>
        <p:nvSpPr>
          <p:cNvPr id="3" name="TextBox 2"/>
          <p:cNvSpPr txBox="1"/>
          <p:nvPr/>
        </p:nvSpPr>
        <p:spPr>
          <a:xfrm>
            <a:off x="1066800" y="1066800"/>
            <a:ext cx="5365571" cy="523220"/>
          </a:xfrm>
          <a:prstGeom prst="rect">
            <a:avLst/>
          </a:prstGeom>
          <a:noFill/>
        </p:spPr>
        <p:txBody>
          <a:bodyPr wrap="none" rtlCol="0">
            <a:spAutoFit/>
          </a:bodyPr>
          <a:lstStyle/>
          <a:p>
            <a:r>
              <a:rPr lang="en-US" sz="2800" dirty="0" smtClean="0"/>
              <a:t>LBD Provenance expressed in PROV</a:t>
            </a:r>
            <a:endParaRPr lang="en-US" sz="2800" dirty="0"/>
          </a:p>
        </p:txBody>
      </p:sp>
      <p:sp>
        <p:nvSpPr>
          <p:cNvPr id="4" name="Rectangle 3"/>
          <p:cNvSpPr/>
          <p:nvPr/>
        </p:nvSpPr>
        <p:spPr>
          <a:xfrm>
            <a:off x="685800" y="1852865"/>
            <a:ext cx="8077200" cy="461665"/>
          </a:xfrm>
          <a:prstGeom prst="rect">
            <a:avLst/>
          </a:prstGeom>
        </p:spPr>
        <p:txBody>
          <a:bodyPr wrap="square">
            <a:spAutoFit/>
          </a:bodyPr>
          <a:lstStyle/>
          <a:p>
            <a:pPr marL="12700"/>
            <a:endParaRPr lang="en-US" sz="2400" b="1" spc="-5" dirty="0" smtClean="0">
              <a:latin typeface="Times New Roman"/>
              <a:cs typeface="Times New Roman"/>
            </a:endParaRPr>
          </a:p>
        </p:txBody>
      </p:sp>
      <p:sp>
        <p:nvSpPr>
          <p:cNvPr id="2" name="TextBox 1"/>
          <p:cNvSpPr txBox="1"/>
          <p:nvPr/>
        </p:nvSpPr>
        <p:spPr>
          <a:xfrm>
            <a:off x="1" y="2819400"/>
            <a:ext cx="2667000" cy="2031325"/>
          </a:xfrm>
          <a:prstGeom prst="rect">
            <a:avLst/>
          </a:prstGeom>
          <a:noFill/>
        </p:spPr>
        <p:txBody>
          <a:bodyPr wrap="square" rtlCol="0">
            <a:spAutoFit/>
          </a:bodyPr>
          <a:lstStyle/>
          <a:p>
            <a:pPr marL="285750" indent="-285750">
              <a:buFont typeface="Arial"/>
              <a:buChar char="•"/>
            </a:pPr>
            <a:r>
              <a:rPr lang="en-US" dirty="0" smtClean="0"/>
              <a:t>Oval Nodes:  Entities</a:t>
            </a:r>
          </a:p>
          <a:p>
            <a:pPr marL="285750" indent="-285750">
              <a:buFont typeface="Arial"/>
              <a:buChar char="•"/>
            </a:pPr>
            <a:r>
              <a:rPr lang="en-US" dirty="0" smtClean="0"/>
              <a:t>Rectangular Nodes:  Activities</a:t>
            </a:r>
          </a:p>
          <a:p>
            <a:pPr marL="285750" indent="-285750">
              <a:buFont typeface="Arial"/>
              <a:buChar char="•"/>
            </a:pPr>
            <a:r>
              <a:rPr lang="en-US" dirty="0" err="1" smtClean="0"/>
              <a:t>Pentangular</a:t>
            </a:r>
            <a:r>
              <a:rPr lang="en-US" dirty="0" smtClean="0"/>
              <a:t> Nodes:  Agents</a:t>
            </a:r>
          </a:p>
          <a:p>
            <a:endParaRPr lang="en-US" dirty="0" smtClean="0"/>
          </a:p>
          <a:p>
            <a:endParaRPr lang="en-US" dirty="0"/>
          </a:p>
        </p:txBody>
      </p:sp>
      <p:sp>
        <p:nvSpPr>
          <p:cNvPr id="10" name="object 5"/>
          <p:cNvSpPr/>
          <p:nvPr/>
        </p:nvSpPr>
        <p:spPr>
          <a:xfrm>
            <a:off x="2590800" y="2057400"/>
            <a:ext cx="6324600" cy="3810000"/>
          </a:xfrm>
          <a:prstGeom prst="rect">
            <a:avLst/>
          </a:prstGeom>
          <a:blipFill>
            <a:blip r:embed="rId2" cstate="print"/>
            <a:stretch>
              <a:fillRect/>
            </a:stretch>
          </a:blipFill>
        </p:spPr>
        <p:txBody>
          <a:bodyPr wrap="square" lIns="0" tIns="0" rIns="0" bIns="0" rtlCol="0">
            <a:spAutoFit/>
          </a:bodyPr>
          <a:lstStyle/>
          <a:p>
            <a:endParaRPr kern="1200"/>
          </a:p>
        </p:txBody>
      </p:sp>
    </p:spTree>
    <p:extLst>
      <p:ext uri="{BB962C8B-B14F-4D97-AF65-F5344CB8AC3E}">
        <p14:creationId xmlns:p14="http://schemas.microsoft.com/office/powerpoint/2010/main" val="1842262668"/>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dt" sz="half" idx="4294967295"/>
          </p:nvPr>
        </p:nvSpPr>
        <p:spPr>
          <a:xfrm>
            <a:off x="1578032" y="6609074"/>
            <a:ext cx="2803656" cy="276999"/>
          </a:xfrm>
          <a:prstGeom prst="rect">
            <a:avLst/>
          </a:prstGeom>
        </p:spPr>
        <p:txBody>
          <a:bodyPr vert="horz" wrap="square" lIns="0" tIns="0" rIns="0" bIns="0" rtlCol="0">
            <a:spAutoFit/>
          </a:bodyPr>
          <a:lstStyle/>
          <a:p>
            <a:pPr marL="25179"/>
            <a:endParaRPr dirty="0"/>
          </a:p>
        </p:txBody>
      </p:sp>
      <p:sp>
        <p:nvSpPr>
          <p:cNvPr id="3" name="TextBox 2"/>
          <p:cNvSpPr txBox="1"/>
          <p:nvPr/>
        </p:nvSpPr>
        <p:spPr>
          <a:xfrm>
            <a:off x="1066800" y="1066800"/>
            <a:ext cx="5365571" cy="523220"/>
          </a:xfrm>
          <a:prstGeom prst="rect">
            <a:avLst/>
          </a:prstGeom>
          <a:noFill/>
        </p:spPr>
        <p:txBody>
          <a:bodyPr wrap="none" rtlCol="0">
            <a:spAutoFit/>
          </a:bodyPr>
          <a:lstStyle/>
          <a:p>
            <a:r>
              <a:rPr lang="en-US" sz="2800" dirty="0" smtClean="0"/>
              <a:t>LBD Provenance expressed in PROV</a:t>
            </a:r>
            <a:endParaRPr lang="en-US" sz="2800" dirty="0"/>
          </a:p>
        </p:txBody>
      </p:sp>
      <p:sp>
        <p:nvSpPr>
          <p:cNvPr id="4" name="Rectangle 3"/>
          <p:cNvSpPr/>
          <p:nvPr/>
        </p:nvSpPr>
        <p:spPr>
          <a:xfrm>
            <a:off x="685800" y="1852865"/>
            <a:ext cx="8077200" cy="461665"/>
          </a:xfrm>
          <a:prstGeom prst="rect">
            <a:avLst/>
          </a:prstGeom>
        </p:spPr>
        <p:txBody>
          <a:bodyPr wrap="square">
            <a:spAutoFit/>
          </a:bodyPr>
          <a:lstStyle/>
          <a:p>
            <a:pPr marL="12700"/>
            <a:endParaRPr lang="en-US" sz="2400" b="1" spc="-5" dirty="0" smtClean="0">
              <a:latin typeface="Times New Roman"/>
              <a:cs typeface="Times New Roman"/>
            </a:endParaRPr>
          </a:p>
        </p:txBody>
      </p:sp>
      <p:sp>
        <p:nvSpPr>
          <p:cNvPr id="2" name="TextBox 1"/>
          <p:cNvSpPr txBox="1"/>
          <p:nvPr/>
        </p:nvSpPr>
        <p:spPr>
          <a:xfrm>
            <a:off x="1" y="2819400"/>
            <a:ext cx="2667000" cy="2031325"/>
          </a:xfrm>
          <a:prstGeom prst="rect">
            <a:avLst/>
          </a:prstGeom>
          <a:noFill/>
        </p:spPr>
        <p:txBody>
          <a:bodyPr wrap="square" rtlCol="0">
            <a:spAutoFit/>
          </a:bodyPr>
          <a:lstStyle/>
          <a:p>
            <a:pPr marL="285750" indent="-285750">
              <a:buFont typeface="Arial"/>
              <a:buChar char="•"/>
            </a:pPr>
            <a:r>
              <a:rPr lang="en-US" dirty="0" smtClean="0"/>
              <a:t>Oval Nodes:  Entities</a:t>
            </a:r>
          </a:p>
          <a:p>
            <a:pPr marL="285750" indent="-285750">
              <a:buFont typeface="Arial"/>
              <a:buChar char="•"/>
            </a:pPr>
            <a:r>
              <a:rPr lang="en-US" dirty="0" smtClean="0"/>
              <a:t>Rectangular Nodes:  Activities</a:t>
            </a:r>
          </a:p>
          <a:p>
            <a:pPr marL="285750" indent="-285750">
              <a:buFont typeface="Arial"/>
              <a:buChar char="•"/>
            </a:pPr>
            <a:r>
              <a:rPr lang="en-US" dirty="0" err="1" smtClean="0"/>
              <a:t>Pentangular</a:t>
            </a:r>
            <a:r>
              <a:rPr lang="en-US" dirty="0" smtClean="0"/>
              <a:t> Nodes:  Agents</a:t>
            </a:r>
          </a:p>
          <a:p>
            <a:endParaRPr lang="en-US" dirty="0" smtClean="0"/>
          </a:p>
          <a:p>
            <a:endParaRPr lang="en-US" dirty="0"/>
          </a:p>
        </p:txBody>
      </p:sp>
      <p:pic>
        <p:nvPicPr>
          <p:cNvPr id="5" name="Picture 4" descr="Screen Shot 2013-12-03 at 12.32.02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1905000"/>
            <a:ext cx="5853896" cy="3886200"/>
          </a:xfrm>
          <a:prstGeom prst="rect">
            <a:avLst/>
          </a:prstGeom>
        </p:spPr>
      </p:pic>
    </p:spTree>
    <p:extLst>
      <p:ext uri="{BB962C8B-B14F-4D97-AF65-F5344CB8AC3E}">
        <p14:creationId xmlns:p14="http://schemas.microsoft.com/office/powerpoint/2010/main" val="606725203"/>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dt" sz="half" idx="4294967295"/>
          </p:nvPr>
        </p:nvSpPr>
        <p:spPr>
          <a:xfrm>
            <a:off x="1578032" y="6609074"/>
            <a:ext cx="2803656" cy="276999"/>
          </a:xfrm>
          <a:prstGeom prst="rect">
            <a:avLst/>
          </a:prstGeom>
        </p:spPr>
        <p:txBody>
          <a:bodyPr vert="horz" wrap="square" lIns="0" tIns="0" rIns="0" bIns="0" rtlCol="0">
            <a:spAutoFit/>
          </a:bodyPr>
          <a:lstStyle/>
          <a:p>
            <a:pPr marL="25179"/>
            <a:endParaRPr dirty="0"/>
          </a:p>
        </p:txBody>
      </p:sp>
      <p:sp>
        <p:nvSpPr>
          <p:cNvPr id="3" name="TextBox 2"/>
          <p:cNvSpPr txBox="1"/>
          <p:nvPr/>
        </p:nvSpPr>
        <p:spPr>
          <a:xfrm>
            <a:off x="322490" y="1143000"/>
            <a:ext cx="8852554" cy="523220"/>
          </a:xfrm>
          <a:prstGeom prst="rect">
            <a:avLst/>
          </a:prstGeom>
          <a:noFill/>
        </p:spPr>
        <p:txBody>
          <a:bodyPr wrap="none" rtlCol="0">
            <a:spAutoFit/>
          </a:bodyPr>
          <a:lstStyle/>
          <a:p>
            <a:r>
              <a:rPr lang="en-US" sz="2800" dirty="0" smtClean="0"/>
              <a:t>Modular Approach;  Stitching Provenance Bundles together</a:t>
            </a:r>
            <a:endParaRPr lang="en-US" sz="2800" dirty="0"/>
          </a:p>
        </p:txBody>
      </p:sp>
      <p:sp>
        <p:nvSpPr>
          <p:cNvPr id="4" name="Rectangle 3"/>
          <p:cNvSpPr/>
          <p:nvPr/>
        </p:nvSpPr>
        <p:spPr>
          <a:xfrm>
            <a:off x="685800" y="1852865"/>
            <a:ext cx="8077200" cy="461665"/>
          </a:xfrm>
          <a:prstGeom prst="rect">
            <a:avLst/>
          </a:prstGeom>
        </p:spPr>
        <p:txBody>
          <a:bodyPr wrap="square">
            <a:spAutoFit/>
          </a:bodyPr>
          <a:lstStyle/>
          <a:p>
            <a:pPr marL="12700"/>
            <a:endParaRPr lang="en-US" sz="2400" b="1" spc="-5" dirty="0" smtClean="0">
              <a:latin typeface="Times New Roman"/>
              <a:cs typeface="Times New Roman"/>
            </a:endParaRPr>
          </a:p>
        </p:txBody>
      </p:sp>
      <p:sp>
        <p:nvSpPr>
          <p:cNvPr id="2" name="TextBox 1"/>
          <p:cNvSpPr txBox="1"/>
          <p:nvPr/>
        </p:nvSpPr>
        <p:spPr>
          <a:xfrm>
            <a:off x="1" y="2819400"/>
            <a:ext cx="2667000" cy="2862323"/>
          </a:xfrm>
          <a:prstGeom prst="rect">
            <a:avLst/>
          </a:prstGeom>
          <a:noFill/>
        </p:spPr>
        <p:txBody>
          <a:bodyPr wrap="square" rtlCol="0">
            <a:spAutoFit/>
          </a:bodyPr>
          <a:lstStyle/>
          <a:p>
            <a:pPr marL="285750" indent="-285750">
              <a:buFont typeface="Arial"/>
              <a:buChar char="•"/>
            </a:pPr>
            <a:r>
              <a:rPr lang="en-US" dirty="0" smtClean="0"/>
              <a:t>Provenance </a:t>
            </a:r>
            <a:r>
              <a:rPr lang="en-US" dirty="0" err="1"/>
              <a:t>s</a:t>
            </a:r>
            <a:r>
              <a:rPr lang="en-US" dirty="0" err="1" smtClean="0"/>
              <a:t>ubgraph</a:t>
            </a:r>
            <a:r>
              <a:rPr lang="en-US" dirty="0" smtClean="0"/>
              <a:t> “bundles” link, by resource, to other </a:t>
            </a:r>
            <a:r>
              <a:rPr lang="en-US" dirty="0" err="1" smtClean="0"/>
              <a:t>subgraphs</a:t>
            </a:r>
            <a:endParaRPr lang="en-US" dirty="0" smtClean="0"/>
          </a:p>
          <a:p>
            <a:pPr marL="285750" indent="-285750">
              <a:buFont typeface="Arial"/>
              <a:buChar char="•"/>
            </a:pPr>
            <a:r>
              <a:rPr lang="en-US" dirty="0" smtClean="0"/>
              <a:t>Allows dynamic generation of entire provenance graph</a:t>
            </a:r>
          </a:p>
          <a:p>
            <a:pPr marL="285750" indent="-285750">
              <a:buFont typeface="Arial"/>
              <a:buChar char="•"/>
            </a:pPr>
            <a:endParaRPr lang="en-US" dirty="0" smtClean="0"/>
          </a:p>
          <a:p>
            <a:endParaRPr lang="en-US" dirty="0" smtClean="0"/>
          </a:p>
          <a:p>
            <a:endParaRPr lang="en-US" dirty="0"/>
          </a:p>
        </p:txBody>
      </p:sp>
      <p:pic>
        <p:nvPicPr>
          <p:cNvPr id="7" name="Picture 6" descr="Screen Shot 2013-12-03 at 12.38.1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1752600"/>
            <a:ext cx="6288300" cy="3886200"/>
          </a:xfrm>
          <a:prstGeom prst="rect">
            <a:avLst/>
          </a:prstGeom>
        </p:spPr>
      </p:pic>
    </p:spTree>
    <p:extLst>
      <p:ext uri="{BB962C8B-B14F-4D97-AF65-F5344CB8AC3E}">
        <p14:creationId xmlns:p14="http://schemas.microsoft.com/office/powerpoint/2010/main" val="1355040883"/>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dt" sz="half" idx="4294967295"/>
          </p:nvPr>
        </p:nvSpPr>
        <p:spPr>
          <a:xfrm>
            <a:off x="1578032" y="6609074"/>
            <a:ext cx="2803656" cy="276999"/>
          </a:xfrm>
          <a:prstGeom prst="rect">
            <a:avLst/>
          </a:prstGeom>
        </p:spPr>
        <p:txBody>
          <a:bodyPr vert="horz" wrap="square" lIns="0" tIns="0" rIns="0" bIns="0" rtlCol="0">
            <a:spAutoFit/>
          </a:bodyPr>
          <a:lstStyle/>
          <a:p>
            <a:pPr marL="25179"/>
            <a:endParaRPr dirty="0"/>
          </a:p>
        </p:txBody>
      </p:sp>
      <p:sp>
        <p:nvSpPr>
          <p:cNvPr id="3" name="TextBox 2"/>
          <p:cNvSpPr txBox="1"/>
          <p:nvPr/>
        </p:nvSpPr>
        <p:spPr>
          <a:xfrm>
            <a:off x="322490" y="1143000"/>
            <a:ext cx="7347008" cy="954107"/>
          </a:xfrm>
          <a:prstGeom prst="rect">
            <a:avLst/>
          </a:prstGeom>
          <a:noFill/>
        </p:spPr>
        <p:txBody>
          <a:bodyPr wrap="none" rtlCol="0">
            <a:spAutoFit/>
          </a:bodyPr>
          <a:lstStyle/>
          <a:p>
            <a:r>
              <a:rPr lang="en-US" sz="2800" dirty="0" smtClean="0"/>
              <a:t>Future Work:   User Visualization and Exploration </a:t>
            </a:r>
          </a:p>
          <a:p>
            <a:r>
              <a:rPr lang="en-US" sz="2800" dirty="0" smtClean="0"/>
              <a:t>of Provenance Graphs </a:t>
            </a:r>
            <a:endParaRPr lang="en-US" sz="2800" dirty="0"/>
          </a:p>
        </p:txBody>
      </p:sp>
      <p:sp>
        <p:nvSpPr>
          <p:cNvPr id="4" name="Rectangle 3"/>
          <p:cNvSpPr/>
          <p:nvPr/>
        </p:nvSpPr>
        <p:spPr>
          <a:xfrm>
            <a:off x="685800" y="1852865"/>
            <a:ext cx="8077200" cy="461665"/>
          </a:xfrm>
          <a:prstGeom prst="rect">
            <a:avLst/>
          </a:prstGeom>
        </p:spPr>
        <p:txBody>
          <a:bodyPr wrap="square">
            <a:spAutoFit/>
          </a:bodyPr>
          <a:lstStyle/>
          <a:p>
            <a:pPr marL="12700"/>
            <a:endParaRPr lang="en-US" sz="2400" b="1" spc="-5" dirty="0" smtClean="0">
              <a:latin typeface="Times New Roman"/>
              <a:cs typeface="Times New Roman"/>
            </a:endParaRPr>
          </a:p>
        </p:txBody>
      </p:sp>
      <p:sp>
        <p:nvSpPr>
          <p:cNvPr id="2" name="TextBox 1"/>
          <p:cNvSpPr txBox="1"/>
          <p:nvPr/>
        </p:nvSpPr>
        <p:spPr>
          <a:xfrm>
            <a:off x="0" y="2819400"/>
            <a:ext cx="2743199" cy="2031325"/>
          </a:xfrm>
          <a:prstGeom prst="rect">
            <a:avLst/>
          </a:prstGeom>
          <a:noFill/>
        </p:spPr>
        <p:txBody>
          <a:bodyPr wrap="square" rtlCol="0">
            <a:spAutoFit/>
          </a:bodyPr>
          <a:lstStyle/>
          <a:p>
            <a:pPr marL="285750" indent="-285750">
              <a:buFont typeface="Arial"/>
              <a:buChar char="•"/>
            </a:pPr>
            <a:r>
              <a:rPr lang="en-US" dirty="0" smtClean="0"/>
              <a:t>Draft release early 2014</a:t>
            </a:r>
          </a:p>
          <a:p>
            <a:endParaRPr lang="en-US" dirty="0"/>
          </a:p>
          <a:p>
            <a:pPr marL="285750" indent="-285750">
              <a:buFont typeface="Arial"/>
              <a:buChar char="•"/>
            </a:pPr>
            <a:r>
              <a:rPr lang="en-US" dirty="0" smtClean="0"/>
              <a:t>Look forward to continued interaction with DDI community as we continue to refine CED</a:t>
            </a:r>
            <a:r>
              <a:rPr lang="en-US" baseline="30000" dirty="0" smtClean="0"/>
              <a:t>2</a:t>
            </a:r>
            <a:r>
              <a:rPr lang="en-US" dirty="0" smtClean="0"/>
              <a:t>AR</a:t>
            </a:r>
            <a:endParaRPr lang="en-US" dirty="0"/>
          </a:p>
        </p:txBody>
      </p:sp>
      <p:pic>
        <p:nvPicPr>
          <p:cNvPr id="5" name="Picture 4"/>
          <p:cNvPicPr>
            <a:picLocks noChangeAspect="1"/>
          </p:cNvPicPr>
          <p:nvPr/>
        </p:nvPicPr>
        <p:blipFill>
          <a:blip r:embed="rId2"/>
          <a:stretch>
            <a:fillRect/>
          </a:stretch>
        </p:blipFill>
        <p:spPr>
          <a:xfrm>
            <a:off x="3276600" y="2209800"/>
            <a:ext cx="4648200" cy="4088493"/>
          </a:xfrm>
          <a:prstGeom prst="rect">
            <a:avLst/>
          </a:prstGeom>
        </p:spPr>
      </p:pic>
    </p:spTree>
    <p:extLst>
      <p:ext uri="{BB962C8B-B14F-4D97-AF65-F5344CB8AC3E}">
        <p14:creationId xmlns:p14="http://schemas.microsoft.com/office/powerpoint/2010/main" val="3505382333"/>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txBox="1">
            <a:spLocks noChangeArrowheads="1"/>
          </p:cNvSpPr>
          <p:nvPr/>
        </p:nvSpPr>
        <p:spPr bwMode="auto">
          <a:xfrm>
            <a:off x="533400" y="2395799"/>
            <a:ext cx="5276850" cy="241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defRPr>
                <a:solidFill>
                  <a:schemeClr val="tx1"/>
                </a:solidFill>
                <a:latin typeface="Calibri" charset="0"/>
                <a:cs typeface="Arial" charset="0"/>
              </a:defRPr>
            </a:lvl1pPr>
            <a:lvl2pPr marL="742950" indent="-285750" defTabSz="457200" eaLnBrk="0" hangingPunct="0">
              <a:defRPr>
                <a:solidFill>
                  <a:schemeClr val="tx1"/>
                </a:solidFill>
                <a:latin typeface="Calibri" charset="0"/>
                <a:cs typeface="Arial" charset="0"/>
              </a:defRPr>
            </a:lvl2pPr>
            <a:lvl3pPr marL="1143000" indent="-228600" defTabSz="457200" eaLnBrk="0" hangingPunct="0">
              <a:defRPr>
                <a:solidFill>
                  <a:schemeClr val="tx1"/>
                </a:solidFill>
                <a:latin typeface="Calibri" charset="0"/>
                <a:cs typeface="Arial" charset="0"/>
              </a:defRPr>
            </a:lvl3pPr>
            <a:lvl4pPr marL="1600200" indent="-228600" defTabSz="457200" eaLnBrk="0" hangingPunct="0">
              <a:defRPr>
                <a:solidFill>
                  <a:schemeClr val="tx1"/>
                </a:solidFill>
                <a:latin typeface="Calibri" charset="0"/>
                <a:cs typeface="Arial" charset="0"/>
              </a:defRPr>
            </a:lvl4pPr>
            <a:lvl5pPr marL="2057400" indent="-228600" defTabSz="457200" eaLnBrk="0" hangingPunct="0">
              <a:defRPr>
                <a:solidFill>
                  <a:schemeClr val="tx1"/>
                </a:solidFill>
                <a:latin typeface="Calibri" charset="0"/>
                <a:cs typeface="Arial" charset="0"/>
              </a:defRPr>
            </a:lvl5pPr>
            <a:lvl6pPr marL="2514600" indent="-228600" defTabSz="457200" eaLnBrk="0" fontAlgn="base" hangingPunct="0">
              <a:spcBef>
                <a:spcPct val="0"/>
              </a:spcBef>
              <a:spcAft>
                <a:spcPct val="0"/>
              </a:spcAft>
              <a:defRPr>
                <a:solidFill>
                  <a:schemeClr val="tx1"/>
                </a:solidFill>
                <a:latin typeface="Calibri" charset="0"/>
                <a:cs typeface="Arial" charset="0"/>
              </a:defRPr>
            </a:lvl6pPr>
            <a:lvl7pPr marL="2971800" indent="-228600" defTabSz="457200" eaLnBrk="0" fontAlgn="base" hangingPunct="0">
              <a:spcBef>
                <a:spcPct val="0"/>
              </a:spcBef>
              <a:spcAft>
                <a:spcPct val="0"/>
              </a:spcAft>
              <a:defRPr>
                <a:solidFill>
                  <a:schemeClr val="tx1"/>
                </a:solidFill>
                <a:latin typeface="Calibri" charset="0"/>
                <a:cs typeface="Arial" charset="0"/>
              </a:defRPr>
            </a:lvl7pPr>
            <a:lvl8pPr marL="3429000" indent="-228600" defTabSz="457200" eaLnBrk="0" fontAlgn="base" hangingPunct="0">
              <a:spcBef>
                <a:spcPct val="0"/>
              </a:spcBef>
              <a:spcAft>
                <a:spcPct val="0"/>
              </a:spcAft>
              <a:defRPr>
                <a:solidFill>
                  <a:schemeClr val="tx1"/>
                </a:solidFill>
                <a:latin typeface="Calibri" charset="0"/>
                <a:cs typeface="Arial" charset="0"/>
              </a:defRPr>
            </a:lvl8pPr>
            <a:lvl9pPr marL="3886200" indent="-228600" defTabSz="457200" eaLnBrk="0" fontAlgn="base" hangingPunct="0">
              <a:spcBef>
                <a:spcPct val="0"/>
              </a:spcBef>
              <a:spcAft>
                <a:spcPct val="0"/>
              </a:spcAft>
              <a:defRPr>
                <a:solidFill>
                  <a:schemeClr val="tx1"/>
                </a:solidFill>
                <a:latin typeface="Calibri" charset="0"/>
                <a:cs typeface="Arial" charset="0"/>
              </a:defRPr>
            </a:lvl9pPr>
          </a:lstStyle>
          <a:p>
            <a:r>
              <a:rPr lang="en-US" sz="4000" dirty="0" smtClean="0">
                <a:solidFill>
                  <a:prstClr val="white"/>
                </a:solidFill>
                <a:latin typeface="Helvetica" charset="0"/>
                <a:ea typeface="ＭＳ Ｐゴシック" charset="-128"/>
                <a:cs typeface="Helvetica" charset="0"/>
              </a:rPr>
              <a:t>Merci!</a:t>
            </a:r>
          </a:p>
          <a:p>
            <a:endParaRPr lang="en-US" sz="4000" dirty="0">
              <a:solidFill>
                <a:prstClr val="white"/>
              </a:solidFill>
              <a:latin typeface="Helvetica" charset="0"/>
              <a:ea typeface="ＭＳ Ｐゴシック" charset="-128"/>
              <a:cs typeface="Helvetica" charset="0"/>
            </a:endParaRPr>
          </a:p>
          <a:p>
            <a:r>
              <a:rPr lang="en-US" sz="4000" dirty="0" smtClean="0">
                <a:solidFill>
                  <a:prstClr val="white"/>
                </a:solidFill>
                <a:latin typeface="Helvetica" charset="0"/>
                <a:ea typeface="ＭＳ Ｐゴシック" charset="-128"/>
                <a:cs typeface="Helvetica" charset="0"/>
              </a:rPr>
              <a:t>Questions?</a:t>
            </a:r>
            <a:endParaRPr lang="en-US" sz="4000" dirty="0">
              <a:solidFill>
                <a:prstClr val="white"/>
              </a:solidFill>
              <a:latin typeface="Helvetica" charset="0"/>
              <a:ea typeface="ＭＳ Ｐゴシック" charset="-128"/>
              <a:cs typeface="Helvetica" charset="0"/>
            </a:endParaRPr>
          </a:p>
        </p:txBody>
      </p:sp>
      <p:sp>
        <p:nvSpPr>
          <p:cNvPr id="7" name="Rectangle 3"/>
          <p:cNvSpPr txBox="1">
            <a:spLocks noChangeArrowheads="1"/>
          </p:cNvSpPr>
          <p:nvPr/>
        </p:nvSpPr>
        <p:spPr bwMode="auto">
          <a:xfrm>
            <a:off x="2047874" y="4533899"/>
            <a:ext cx="4806185" cy="1399429"/>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algn="l" rtl="0" eaLnBrk="0" fontAlgn="base" hangingPunct="0">
              <a:spcBef>
                <a:spcPct val="20000"/>
              </a:spcBef>
              <a:spcAft>
                <a:spcPct val="0"/>
              </a:spcAft>
              <a:buFont typeface="Wingdings" charset="2"/>
              <a:buChar char="§"/>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Times"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Times"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Times"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r" defTabSz="457200" eaLnBrk="1" hangingPunct="1">
              <a:buFont typeface="Wingdings" charset="2"/>
              <a:buNone/>
              <a:defRPr/>
            </a:pPr>
            <a:r>
              <a:rPr lang="en-US" sz="2800" dirty="0" smtClean="0">
                <a:solidFill>
                  <a:prstClr val="white"/>
                </a:solidFill>
              </a:rPr>
              <a:t/>
            </a:r>
            <a:br>
              <a:rPr lang="en-US" sz="2800" dirty="0" smtClean="0">
                <a:solidFill>
                  <a:prstClr val="white"/>
                </a:solidFill>
              </a:rPr>
            </a:br>
            <a:r>
              <a:rPr lang="en-US" sz="2800" dirty="0" err="1" smtClean="0">
                <a:solidFill>
                  <a:prstClr val="white"/>
                </a:solidFill>
              </a:rPr>
              <a:t>block@cornell.edu</a:t>
            </a:r>
            <a:endParaRPr lang="en-US" sz="2800" dirty="0" smtClean="0">
              <a:solidFill>
                <a:prstClr val="white"/>
              </a:solidFill>
            </a:endParaRPr>
          </a:p>
          <a:p>
            <a:pPr algn="r" defTabSz="457200" eaLnBrk="1" hangingPunct="1">
              <a:buFont typeface="Wingdings" charset="2"/>
              <a:buNone/>
              <a:defRPr/>
            </a:pPr>
            <a:r>
              <a:rPr lang="en-US" sz="2800" dirty="0" err="1" smtClean="0">
                <a:solidFill>
                  <a:prstClr val="white"/>
                </a:solidFill>
                <a:latin typeface="Arial" charset="0"/>
              </a:rPr>
              <a:t>ncrn.cornell.edu</a:t>
            </a:r>
            <a:endParaRPr lang="en-US" sz="2800" dirty="0">
              <a:solidFill>
                <a:prstClr val="white"/>
              </a:solidFill>
              <a:latin typeface="Arial" charset="0"/>
            </a:endParaRPr>
          </a:p>
          <a:p>
            <a:pPr algn="r" defTabSz="457200" eaLnBrk="1" hangingPunct="1">
              <a:buFont typeface="Wingdings" charset="2"/>
              <a:buNone/>
              <a:defRPr/>
            </a:pPr>
            <a:endParaRPr lang="en-US" sz="2800" dirty="0">
              <a:solidFill>
                <a:prstClr val="white"/>
              </a:solidFill>
            </a:endParaRPr>
          </a:p>
          <a:p>
            <a:pPr algn="r" defTabSz="457200" eaLnBrk="1" hangingPunct="1">
              <a:buFont typeface="Wingdings" charset="2"/>
              <a:buNone/>
              <a:defRPr/>
            </a:pPr>
            <a:r>
              <a:rPr lang="en-US" sz="2800" dirty="0" smtClean="0">
                <a:solidFill>
                  <a:prstClr val="white"/>
                </a:solidFill>
              </a:rPr>
              <a:t/>
            </a:r>
            <a:br>
              <a:rPr lang="en-US" sz="2800" dirty="0" smtClean="0">
                <a:solidFill>
                  <a:prstClr val="white"/>
                </a:solidFill>
              </a:rPr>
            </a:br>
            <a:endParaRPr lang="en-US" sz="2800" dirty="0" smtClean="0">
              <a:solidFill>
                <a:prstClr val="white"/>
              </a:solidFill>
            </a:endParaRPr>
          </a:p>
        </p:txBody>
      </p:sp>
      <p:sp>
        <p:nvSpPr>
          <p:cNvPr id="2" name="Slide Number Placeholder 1"/>
          <p:cNvSpPr>
            <a:spLocks noGrp="1"/>
          </p:cNvSpPr>
          <p:nvPr>
            <p:ph type="sldNum" sz="quarter" idx="12"/>
          </p:nvPr>
        </p:nvSpPr>
        <p:spPr>
          <a:xfrm>
            <a:off x="8534400" y="6400800"/>
            <a:ext cx="457200" cy="365125"/>
          </a:xfrm>
        </p:spPr>
        <p:txBody>
          <a:bodyPr/>
          <a:lstStyle/>
          <a:p>
            <a:pPr>
              <a:defRPr/>
            </a:pPr>
            <a:fld id="{CB170998-985E-49FD-8136-735689F89D25}" type="slidenum">
              <a:rPr lang="en-US" smtClean="0">
                <a:solidFill>
                  <a:prstClr val="black"/>
                </a:solidFill>
              </a:rPr>
              <a:pPr>
                <a:defRPr/>
              </a:pPr>
              <a:t>24</a:t>
            </a:fld>
            <a:endParaRPr lang="en-US" dirty="0">
              <a:solidFill>
                <a:prstClr val="black"/>
              </a:solidFill>
            </a:endParaRPr>
          </a:p>
        </p:txBody>
      </p:sp>
    </p:spTree>
    <p:extLst>
      <p:ext uri="{BB962C8B-B14F-4D97-AF65-F5344CB8AC3E}">
        <p14:creationId xmlns:p14="http://schemas.microsoft.com/office/powerpoint/2010/main" val="1671425453"/>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theme/theme1.xml><?xml version="1.0" encoding="utf-8"?>
<a:theme xmlns:a="http://schemas.openxmlformats.org/drawingml/2006/main" name="CISER_NEW Master pages_12_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2_CISER_NEW Master pages_12_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5886</TotalTime>
  <Words>1326</Words>
  <Application>Microsoft Macintosh PowerPoint</Application>
  <PresentationFormat>On-screen Show (4:3)</PresentationFormat>
  <Paragraphs>180</Paragraphs>
  <Slides>24</Slides>
  <Notes>9</Notes>
  <HiddenSlides>0</HiddenSlides>
  <MMClips>0</MMClips>
  <ScaleCrop>false</ScaleCrop>
  <HeadingPairs>
    <vt:vector size="4" baseType="variant">
      <vt:variant>
        <vt:lpstr>Theme</vt:lpstr>
      </vt:variant>
      <vt:variant>
        <vt:i4>11</vt:i4>
      </vt:variant>
      <vt:variant>
        <vt:lpstr>Slide Titles</vt:lpstr>
      </vt:variant>
      <vt:variant>
        <vt:i4>24</vt:i4>
      </vt:variant>
    </vt:vector>
  </HeadingPairs>
  <TitlesOfParts>
    <vt:vector size="35" baseType="lpstr">
      <vt:lpstr>CISER_NEW Master pages_12_6</vt:lpstr>
      <vt:lpstr>1_Office Theme</vt:lpstr>
      <vt:lpstr>2_Office Theme</vt:lpstr>
      <vt:lpstr>3_Office Theme</vt:lpstr>
      <vt:lpstr>4_Office Theme</vt:lpstr>
      <vt:lpstr>5_Office Theme</vt:lpstr>
      <vt:lpstr>6_Office Theme</vt:lpstr>
      <vt:lpstr>Office Theme</vt:lpstr>
      <vt:lpstr>7_Office Theme</vt:lpstr>
      <vt:lpstr>8_Office Theme</vt:lpstr>
      <vt:lpstr>2_CISER_NEW Master pages_12_6</vt:lpstr>
      <vt:lpstr>Encoding Provenance of Social Science Data:   Integrating PROV with DDI</vt:lpstr>
      <vt:lpstr>PowerPoint Presentation</vt:lpstr>
      <vt:lpstr>PowerPoint Presentation</vt:lpstr>
      <vt:lpstr>PowerPoint Presentation</vt:lpstr>
      <vt:lpstr> Increasing number of scholars pursuing research programs that mandate inherently identifiable data</vt:lpstr>
      <vt:lpstr>Problem is not limited to economics and social science</vt:lpstr>
      <vt:lpstr>Familiar problem to EDDI:  examples from North America and Europe</vt:lpstr>
      <vt:lpstr>Solution:  Comprehensive Extensible Data Documentation and Access Repository (CED2AR)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 Martin</dc:creator>
  <cp:lastModifiedBy>William Block</cp:lastModifiedBy>
  <cp:revision>174</cp:revision>
  <cp:lastPrinted>2012-11-28T15:14:28Z</cp:lastPrinted>
  <dcterms:created xsi:type="dcterms:W3CDTF">2012-07-18T12:10:14Z</dcterms:created>
  <dcterms:modified xsi:type="dcterms:W3CDTF">2013-12-04T12:04:05Z</dcterms:modified>
</cp:coreProperties>
</file>