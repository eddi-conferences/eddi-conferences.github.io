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43" r:id="rId1"/>
  </p:sldMasterIdLst>
  <p:notesMasterIdLst>
    <p:notesMasterId r:id="rId14"/>
  </p:notesMasterIdLst>
  <p:sldIdLst>
    <p:sldId id="256" r:id="rId2"/>
    <p:sldId id="326" r:id="rId3"/>
    <p:sldId id="381" r:id="rId4"/>
    <p:sldId id="382" r:id="rId5"/>
    <p:sldId id="383" r:id="rId6"/>
    <p:sldId id="389" r:id="rId7"/>
    <p:sldId id="384" r:id="rId8"/>
    <p:sldId id="380" r:id="rId9"/>
    <p:sldId id="386" r:id="rId10"/>
    <p:sldId id="387" r:id="rId11"/>
    <p:sldId id="388" r:id="rId12"/>
    <p:sldId id="377" r:id="rId13"/>
  </p:sldIdLst>
  <p:sldSz cx="9144000" cy="6858000" type="screen4x3"/>
  <p:notesSz cx="6797675" cy="9926638"/>
  <p:embeddedFontLst>
    <p:embeddedFont>
      <p:font typeface="Wingdings 3" pitchFamily="18" charset="2"/>
      <p:regular r:id="rId15"/>
    </p:embeddedFont>
    <p:embeddedFont>
      <p:font typeface="Calibri" pitchFamily="34" charset="0"/>
      <p:regular r:id="rId16"/>
      <p:bold r:id="rId17"/>
      <p:italic r:id="rId18"/>
      <p:boldItalic r:id="rId19"/>
    </p:embeddedFont>
    <p:embeddedFont>
      <p:font typeface="Century Gothic" pitchFamily="3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EC90"/>
    <a:srgbClr val="78BE20"/>
    <a:srgbClr val="B5BD00"/>
    <a:srgbClr val="CE0058"/>
    <a:srgbClr val="385E9D"/>
    <a:srgbClr val="461452"/>
    <a:srgbClr val="002A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7" autoAdjust="0"/>
    <p:restoredTop sz="82811" autoAdjust="0"/>
  </p:normalViewPr>
  <p:slideViewPr>
    <p:cSldViewPr>
      <p:cViewPr varScale="1">
        <p:scale>
          <a:sx n="64" d="100"/>
          <a:sy n="64" d="100"/>
        </p:scale>
        <p:origin x="-1062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29BC541-BA9A-4895-86A4-DFB5EF488518}" type="doc">
      <dgm:prSet loTypeId="urn:microsoft.com/office/officeart/2005/8/layout/vList5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58051CF7-A513-4A6E-9612-094DDA071565}">
      <dgm:prSet custT="1"/>
      <dgm:spPr/>
      <dgm:t>
        <a:bodyPr/>
        <a:lstStyle/>
        <a:p>
          <a:pPr rtl="0"/>
          <a:r>
            <a:rPr lang="en-GB" sz="2400" baseline="0" dirty="0" smtClean="0">
              <a:latin typeface="Arial" panose="020B0604020202020204" pitchFamily="34" charset="0"/>
              <a:cs typeface="Arial" panose="020B0604020202020204" pitchFamily="34" charset="0"/>
            </a:rPr>
            <a:t>Quality reports on own metadata</a:t>
          </a:r>
        </a:p>
        <a:p>
          <a:r>
            <a:rPr lang="en-GB" sz="2400" baseline="0" dirty="0" smtClean="0">
              <a:latin typeface="Arial" panose="020B0604020202020204" pitchFamily="34" charset="0"/>
              <a:cs typeface="Arial" panose="020B0604020202020204" pitchFamily="34" charset="0"/>
            </a:rPr>
            <a:t>Tools to improve quality</a:t>
          </a:r>
          <a:endParaRPr lang="en-GB" sz="2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4FC9B6B-BAB7-429E-A109-E63362CB2CD6}" type="parTrans" cxnId="{A880A960-3DAB-4632-A4F9-D032568B80F2}">
      <dgm:prSet/>
      <dgm:spPr/>
      <dgm:t>
        <a:bodyPr/>
        <a:lstStyle/>
        <a:p>
          <a:endParaRPr lang="en-GB"/>
        </a:p>
      </dgm:t>
    </dgm:pt>
    <dgm:pt modelId="{DBACFCD1-B1CA-41C9-969E-943C3A51C767}" type="sibTrans" cxnId="{A880A960-3DAB-4632-A4F9-D032568B80F2}">
      <dgm:prSet/>
      <dgm:spPr/>
      <dgm:t>
        <a:bodyPr/>
        <a:lstStyle/>
        <a:p>
          <a:endParaRPr lang="en-GB"/>
        </a:p>
      </dgm:t>
    </dgm:pt>
    <dgm:pt modelId="{2703ADBE-E298-4911-9F4E-644D5A85B81C}">
      <dgm:prSet custT="1"/>
      <dgm:spPr/>
      <dgm:t>
        <a:bodyPr/>
        <a:lstStyle/>
        <a:p>
          <a:pPr rtl="0"/>
          <a:r>
            <a:rPr lang="en-GB" sz="2400" baseline="0" dirty="0" smtClean="0">
              <a:latin typeface="Arial" panose="020B0604020202020204" pitchFamily="34" charset="0"/>
              <a:cs typeface="Arial" panose="020B0604020202020204" pitchFamily="34" charset="0"/>
            </a:rPr>
            <a:t>Tools to improve quality</a:t>
          </a:r>
        </a:p>
      </dgm:t>
    </dgm:pt>
    <dgm:pt modelId="{C3A26620-4428-492B-BF18-BEC0377BD920}" type="parTrans" cxnId="{496BA30D-A121-44C9-B7D3-7821D7D24041}">
      <dgm:prSet/>
      <dgm:spPr/>
      <dgm:t>
        <a:bodyPr/>
        <a:lstStyle/>
        <a:p>
          <a:endParaRPr lang="en-GB"/>
        </a:p>
      </dgm:t>
    </dgm:pt>
    <dgm:pt modelId="{7C335909-D697-42D8-98A0-0C5BBBB11BD0}" type="sibTrans" cxnId="{496BA30D-A121-44C9-B7D3-7821D7D24041}">
      <dgm:prSet/>
      <dgm:spPr/>
      <dgm:t>
        <a:bodyPr/>
        <a:lstStyle/>
        <a:p>
          <a:endParaRPr lang="en-GB"/>
        </a:p>
      </dgm:t>
    </dgm:pt>
    <dgm:pt modelId="{1FC8D58A-B4AB-46CA-9060-97FDA1CA004F}">
      <dgm:prSet custT="1"/>
      <dgm:spPr/>
      <dgm:t>
        <a:bodyPr/>
        <a:lstStyle/>
        <a:p>
          <a:pPr rtl="0"/>
          <a:r>
            <a:rPr lang="en-GB" sz="2400" baseline="0" dirty="0" smtClean="0">
              <a:latin typeface="Arial" panose="020B0604020202020204" pitchFamily="34" charset="0"/>
              <a:cs typeface="Arial" panose="020B0604020202020204" pitchFamily="34" charset="0"/>
            </a:rPr>
            <a:t>Version control of metadata (optional)</a:t>
          </a:r>
        </a:p>
      </dgm:t>
    </dgm:pt>
    <dgm:pt modelId="{843154D3-928D-445A-8F22-FFA60C00CEA1}" type="parTrans" cxnId="{2FF36D4E-1A15-43EC-BACE-108FF45CAEBF}">
      <dgm:prSet/>
      <dgm:spPr/>
      <dgm:t>
        <a:bodyPr/>
        <a:lstStyle/>
        <a:p>
          <a:endParaRPr lang="en-GB"/>
        </a:p>
      </dgm:t>
    </dgm:pt>
    <dgm:pt modelId="{03FF0D10-E544-4625-8DB6-5BDCF5B895A0}" type="sibTrans" cxnId="{2FF36D4E-1A15-43EC-BACE-108FF45CAEBF}">
      <dgm:prSet/>
      <dgm:spPr/>
      <dgm:t>
        <a:bodyPr/>
        <a:lstStyle/>
        <a:p>
          <a:endParaRPr lang="en-GB"/>
        </a:p>
      </dgm:t>
    </dgm:pt>
    <dgm:pt modelId="{E69831B5-95CA-480F-A778-780AD4AD0979}">
      <dgm:prSet custT="1"/>
      <dgm:spPr/>
      <dgm:t>
        <a:bodyPr/>
        <a:lstStyle/>
        <a:p>
          <a:pPr rtl="0"/>
          <a:r>
            <a:rPr lang="en-GB" sz="2400" baseline="0" dirty="0" smtClean="0">
              <a:latin typeface="Arial" panose="020B0604020202020204" pitchFamily="34" charset="0"/>
              <a:cs typeface="Arial" panose="020B0604020202020204" pitchFamily="34" charset="0"/>
            </a:rPr>
            <a:t>Profile and visibility management</a:t>
          </a:r>
        </a:p>
      </dgm:t>
    </dgm:pt>
    <dgm:pt modelId="{5E514D98-2BF7-4D32-B8BA-D0A157F3D320}" type="parTrans" cxnId="{8C4528B8-3801-4B66-B6AD-F80AAABB6576}">
      <dgm:prSet/>
      <dgm:spPr/>
      <dgm:t>
        <a:bodyPr/>
        <a:lstStyle/>
        <a:p>
          <a:endParaRPr lang="en-GB"/>
        </a:p>
      </dgm:t>
    </dgm:pt>
    <dgm:pt modelId="{112D8F55-B415-4957-8D57-699CF526A023}" type="sibTrans" cxnId="{8C4528B8-3801-4B66-B6AD-F80AAABB6576}">
      <dgm:prSet/>
      <dgm:spPr/>
      <dgm:t>
        <a:bodyPr/>
        <a:lstStyle/>
        <a:p>
          <a:endParaRPr lang="en-GB"/>
        </a:p>
      </dgm:t>
    </dgm:pt>
    <dgm:pt modelId="{524FCC4C-1805-4A15-A84D-3666A47E24CE}" type="pres">
      <dgm:prSet presAssocID="{729BC541-BA9A-4895-86A4-DFB5EF48851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3B513AEA-114E-4E4D-A9A5-2D71C3D5EC0F}" type="pres">
      <dgm:prSet presAssocID="{58051CF7-A513-4A6E-9612-094DDA071565}" presName="linNode" presStyleCnt="0"/>
      <dgm:spPr/>
    </dgm:pt>
    <dgm:pt modelId="{78A4F026-C337-4C6A-A64B-8BB8051409CC}" type="pres">
      <dgm:prSet presAssocID="{58051CF7-A513-4A6E-9612-094DDA071565}" presName="parentText" presStyleLbl="node1" presStyleIdx="0" presStyleCnt="4" custScaleX="226059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7709324D-8683-4AAB-8F0B-036AE9E9D937}" type="pres">
      <dgm:prSet presAssocID="{DBACFCD1-B1CA-41C9-969E-943C3A51C767}" presName="sp" presStyleCnt="0"/>
      <dgm:spPr/>
    </dgm:pt>
    <dgm:pt modelId="{F3C50F2C-DC44-4C74-8F57-6524F61CE216}" type="pres">
      <dgm:prSet presAssocID="{E69831B5-95CA-480F-A778-780AD4AD0979}" presName="linNode" presStyleCnt="0"/>
      <dgm:spPr/>
    </dgm:pt>
    <dgm:pt modelId="{0CD52C39-3AC7-4932-BDFB-D54B196F6806}" type="pres">
      <dgm:prSet presAssocID="{E69831B5-95CA-480F-A778-780AD4AD0979}" presName="parentText" presStyleLbl="node1" presStyleIdx="1" presStyleCnt="4" custScaleX="226059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F488BB27-9AA3-404C-A09C-941BCF2DCA77}" type="pres">
      <dgm:prSet presAssocID="{112D8F55-B415-4957-8D57-699CF526A023}" presName="sp" presStyleCnt="0"/>
      <dgm:spPr/>
    </dgm:pt>
    <dgm:pt modelId="{F147D601-EBF9-466B-B954-0D836BE511F1}" type="pres">
      <dgm:prSet presAssocID="{2703ADBE-E298-4911-9F4E-644D5A85B81C}" presName="linNode" presStyleCnt="0"/>
      <dgm:spPr/>
    </dgm:pt>
    <dgm:pt modelId="{2784ED65-294B-4365-87EF-C660EB518782}" type="pres">
      <dgm:prSet presAssocID="{2703ADBE-E298-4911-9F4E-644D5A85B81C}" presName="parentText" presStyleLbl="node1" presStyleIdx="2" presStyleCnt="4" custScaleX="226059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5CF5FEE4-49F8-4B7A-88E0-39A216C853C2}" type="pres">
      <dgm:prSet presAssocID="{7C335909-D697-42D8-98A0-0C5BBBB11BD0}" presName="sp" presStyleCnt="0"/>
      <dgm:spPr/>
    </dgm:pt>
    <dgm:pt modelId="{5DFE6906-792B-4C87-B150-92A2D3AD8AED}" type="pres">
      <dgm:prSet presAssocID="{1FC8D58A-B4AB-46CA-9060-97FDA1CA004F}" presName="linNode" presStyleCnt="0"/>
      <dgm:spPr/>
    </dgm:pt>
    <dgm:pt modelId="{D5BA338E-2AEC-47D3-A848-EBC04A4B8AF3}" type="pres">
      <dgm:prSet presAssocID="{1FC8D58A-B4AB-46CA-9060-97FDA1CA004F}" presName="parentText" presStyleLbl="node1" presStyleIdx="3" presStyleCnt="4" custScaleX="226059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A880A960-3DAB-4632-A4F9-D032568B80F2}" srcId="{729BC541-BA9A-4895-86A4-DFB5EF488518}" destId="{58051CF7-A513-4A6E-9612-094DDA071565}" srcOrd="0" destOrd="0" parTransId="{C4FC9B6B-BAB7-429E-A109-E63362CB2CD6}" sibTransId="{DBACFCD1-B1CA-41C9-969E-943C3A51C767}"/>
    <dgm:cxn modelId="{496BA30D-A121-44C9-B7D3-7821D7D24041}" srcId="{729BC541-BA9A-4895-86A4-DFB5EF488518}" destId="{2703ADBE-E298-4911-9F4E-644D5A85B81C}" srcOrd="2" destOrd="0" parTransId="{C3A26620-4428-492B-BF18-BEC0377BD920}" sibTransId="{7C335909-D697-42D8-98A0-0C5BBBB11BD0}"/>
    <dgm:cxn modelId="{63419DF9-E6DD-4F94-AFB6-D6305321007E}" type="presOf" srcId="{1FC8D58A-B4AB-46CA-9060-97FDA1CA004F}" destId="{D5BA338E-2AEC-47D3-A848-EBC04A4B8AF3}" srcOrd="0" destOrd="0" presId="urn:microsoft.com/office/officeart/2005/8/layout/vList5"/>
    <dgm:cxn modelId="{019DE63E-ED92-42EB-AD12-386DFAA1C374}" type="presOf" srcId="{729BC541-BA9A-4895-86A4-DFB5EF488518}" destId="{524FCC4C-1805-4A15-A84D-3666A47E24CE}" srcOrd="0" destOrd="0" presId="urn:microsoft.com/office/officeart/2005/8/layout/vList5"/>
    <dgm:cxn modelId="{62872E02-0B81-4575-84A1-D7B9694A3C8B}" type="presOf" srcId="{E69831B5-95CA-480F-A778-780AD4AD0979}" destId="{0CD52C39-3AC7-4932-BDFB-D54B196F6806}" srcOrd="0" destOrd="0" presId="urn:microsoft.com/office/officeart/2005/8/layout/vList5"/>
    <dgm:cxn modelId="{2FF36D4E-1A15-43EC-BACE-108FF45CAEBF}" srcId="{729BC541-BA9A-4895-86A4-DFB5EF488518}" destId="{1FC8D58A-B4AB-46CA-9060-97FDA1CA004F}" srcOrd="3" destOrd="0" parTransId="{843154D3-928D-445A-8F22-FFA60C00CEA1}" sibTransId="{03FF0D10-E544-4625-8DB6-5BDCF5B895A0}"/>
    <dgm:cxn modelId="{3E24DD30-6F93-4D71-9A0C-D4436819641A}" type="presOf" srcId="{2703ADBE-E298-4911-9F4E-644D5A85B81C}" destId="{2784ED65-294B-4365-87EF-C660EB518782}" srcOrd="0" destOrd="0" presId="urn:microsoft.com/office/officeart/2005/8/layout/vList5"/>
    <dgm:cxn modelId="{CA772984-B756-4516-A76A-D79D4BC0F09C}" type="presOf" srcId="{58051CF7-A513-4A6E-9612-094DDA071565}" destId="{78A4F026-C337-4C6A-A64B-8BB8051409CC}" srcOrd="0" destOrd="0" presId="urn:microsoft.com/office/officeart/2005/8/layout/vList5"/>
    <dgm:cxn modelId="{8C4528B8-3801-4B66-B6AD-F80AAABB6576}" srcId="{729BC541-BA9A-4895-86A4-DFB5EF488518}" destId="{E69831B5-95CA-480F-A778-780AD4AD0979}" srcOrd="1" destOrd="0" parTransId="{5E514D98-2BF7-4D32-B8BA-D0A157F3D320}" sibTransId="{112D8F55-B415-4957-8D57-699CF526A023}"/>
    <dgm:cxn modelId="{3D356536-E12F-4568-9AF4-3353D572780C}" type="presParOf" srcId="{524FCC4C-1805-4A15-A84D-3666A47E24CE}" destId="{3B513AEA-114E-4E4D-A9A5-2D71C3D5EC0F}" srcOrd="0" destOrd="0" presId="urn:microsoft.com/office/officeart/2005/8/layout/vList5"/>
    <dgm:cxn modelId="{28CBE14E-E6A5-4C93-8AC6-583CF0970FC9}" type="presParOf" srcId="{3B513AEA-114E-4E4D-A9A5-2D71C3D5EC0F}" destId="{78A4F026-C337-4C6A-A64B-8BB8051409CC}" srcOrd="0" destOrd="0" presId="urn:microsoft.com/office/officeart/2005/8/layout/vList5"/>
    <dgm:cxn modelId="{678C916C-EA6A-4FC4-B190-A5D08AF595E9}" type="presParOf" srcId="{524FCC4C-1805-4A15-A84D-3666A47E24CE}" destId="{7709324D-8683-4AAB-8F0B-036AE9E9D937}" srcOrd="1" destOrd="0" presId="urn:microsoft.com/office/officeart/2005/8/layout/vList5"/>
    <dgm:cxn modelId="{A483B8C2-3319-46D0-B159-F73E3E974A29}" type="presParOf" srcId="{524FCC4C-1805-4A15-A84D-3666A47E24CE}" destId="{F3C50F2C-DC44-4C74-8F57-6524F61CE216}" srcOrd="2" destOrd="0" presId="urn:microsoft.com/office/officeart/2005/8/layout/vList5"/>
    <dgm:cxn modelId="{E5A1E92A-A332-4985-82DF-52AA7989F488}" type="presParOf" srcId="{F3C50F2C-DC44-4C74-8F57-6524F61CE216}" destId="{0CD52C39-3AC7-4932-BDFB-D54B196F6806}" srcOrd="0" destOrd="0" presId="urn:microsoft.com/office/officeart/2005/8/layout/vList5"/>
    <dgm:cxn modelId="{4EC1E42D-3614-44DC-8CF2-31B1CC08A984}" type="presParOf" srcId="{524FCC4C-1805-4A15-A84D-3666A47E24CE}" destId="{F488BB27-9AA3-404C-A09C-941BCF2DCA77}" srcOrd="3" destOrd="0" presId="urn:microsoft.com/office/officeart/2005/8/layout/vList5"/>
    <dgm:cxn modelId="{E0879EBB-AA65-4B39-ADC2-E841BF8C5395}" type="presParOf" srcId="{524FCC4C-1805-4A15-A84D-3666A47E24CE}" destId="{F147D601-EBF9-466B-B954-0D836BE511F1}" srcOrd="4" destOrd="0" presId="urn:microsoft.com/office/officeart/2005/8/layout/vList5"/>
    <dgm:cxn modelId="{7E7ABA76-4688-4B21-8FE1-3482FF989EF0}" type="presParOf" srcId="{F147D601-EBF9-466B-B954-0D836BE511F1}" destId="{2784ED65-294B-4365-87EF-C660EB518782}" srcOrd="0" destOrd="0" presId="urn:microsoft.com/office/officeart/2005/8/layout/vList5"/>
    <dgm:cxn modelId="{AD48C020-306C-424E-A8C4-F93B7D218E83}" type="presParOf" srcId="{524FCC4C-1805-4A15-A84D-3666A47E24CE}" destId="{5CF5FEE4-49F8-4B7A-88E0-39A216C853C2}" srcOrd="5" destOrd="0" presId="urn:microsoft.com/office/officeart/2005/8/layout/vList5"/>
    <dgm:cxn modelId="{44D96605-F14A-4CD6-BF02-0223A00D3BF3}" type="presParOf" srcId="{524FCC4C-1805-4A15-A84D-3666A47E24CE}" destId="{5DFE6906-792B-4C87-B150-92A2D3AD8AED}" srcOrd="6" destOrd="0" presId="urn:microsoft.com/office/officeart/2005/8/layout/vList5"/>
    <dgm:cxn modelId="{506B5389-43DE-49C7-96D0-EE90B7148351}" type="presParOf" srcId="{5DFE6906-792B-4C87-B150-92A2D3AD8AED}" destId="{D5BA338E-2AEC-47D3-A848-EBC04A4B8AF3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A4F026-C337-4C6A-A64B-8BB8051409CC}">
      <dsp:nvSpPr>
        <dsp:cNvPr id="0" name=""/>
        <dsp:cNvSpPr/>
      </dsp:nvSpPr>
      <dsp:spPr>
        <a:xfrm>
          <a:off x="715634" y="2522"/>
          <a:ext cx="6255972" cy="121337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400" kern="1200" baseline="0" dirty="0" smtClean="0">
              <a:latin typeface="Arial" panose="020B0604020202020204" pitchFamily="34" charset="0"/>
              <a:cs typeface="Arial" panose="020B0604020202020204" pitchFamily="34" charset="0"/>
            </a:rPr>
            <a:t>Quality reports on own metadata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400" kern="1200" baseline="0" dirty="0" smtClean="0">
              <a:latin typeface="Arial" panose="020B0604020202020204" pitchFamily="34" charset="0"/>
              <a:cs typeface="Arial" panose="020B0604020202020204" pitchFamily="34" charset="0"/>
            </a:rPr>
            <a:t>Tools to improve quality</a:t>
          </a:r>
          <a:endParaRPr lang="en-GB" sz="2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74866" y="61754"/>
        <a:ext cx="6137508" cy="1094912"/>
      </dsp:txXfrm>
    </dsp:sp>
    <dsp:sp modelId="{0CD52C39-3AC7-4932-BDFB-D54B196F6806}">
      <dsp:nvSpPr>
        <dsp:cNvPr id="0" name=""/>
        <dsp:cNvSpPr/>
      </dsp:nvSpPr>
      <dsp:spPr>
        <a:xfrm>
          <a:off x="715634" y="1276568"/>
          <a:ext cx="6255972" cy="1213376"/>
        </a:xfrm>
        <a:prstGeom prst="roundRect">
          <a:avLst/>
        </a:prstGeom>
        <a:solidFill>
          <a:schemeClr val="accent3">
            <a:hueOff val="2189301"/>
            <a:satOff val="-16877"/>
            <a:lumOff val="458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400" kern="1200" baseline="0" dirty="0" smtClean="0">
              <a:latin typeface="Arial" panose="020B0604020202020204" pitchFamily="34" charset="0"/>
              <a:cs typeface="Arial" panose="020B0604020202020204" pitchFamily="34" charset="0"/>
            </a:rPr>
            <a:t>Profile and visibility management</a:t>
          </a:r>
        </a:p>
      </dsp:txBody>
      <dsp:txXfrm>
        <a:off x="774866" y="1335800"/>
        <a:ext cx="6137508" cy="1094912"/>
      </dsp:txXfrm>
    </dsp:sp>
    <dsp:sp modelId="{2784ED65-294B-4365-87EF-C660EB518782}">
      <dsp:nvSpPr>
        <dsp:cNvPr id="0" name=""/>
        <dsp:cNvSpPr/>
      </dsp:nvSpPr>
      <dsp:spPr>
        <a:xfrm>
          <a:off x="715634" y="2550614"/>
          <a:ext cx="6255972" cy="1213376"/>
        </a:xfrm>
        <a:prstGeom prst="roundRect">
          <a:avLst/>
        </a:prstGeom>
        <a:solidFill>
          <a:schemeClr val="accent3">
            <a:hueOff val="4378603"/>
            <a:satOff val="-33755"/>
            <a:lumOff val="91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400" kern="1200" baseline="0" dirty="0" smtClean="0">
              <a:latin typeface="Arial" panose="020B0604020202020204" pitchFamily="34" charset="0"/>
              <a:cs typeface="Arial" panose="020B0604020202020204" pitchFamily="34" charset="0"/>
            </a:rPr>
            <a:t>Tools to improve quality</a:t>
          </a:r>
        </a:p>
      </dsp:txBody>
      <dsp:txXfrm>
        <a:off x="774866" y="2609846"/>
        <a:ext cx="6137508" cy="1094912"/>
      </dsp:txXfrm>
    </dsp:sp>
    <dsp:sp modelId="{D5BA338E-2AEC-47D3-A848-EBC04A4B8AF3}">
      <dsp:nvSpPr>
        <dsp:cNvPr id="0" name=""/>
        <dsp:cNvSpPr/>
      </dsp:nvSpPr>
      <dsp:spPr>
        <a:xfrm>
          <a:off x="715634" y="3824660"/>
          <a:ext cx="6255972" cy="1213376"/>
        </a:xfrm>
        <a:prstGeom prst="roundRect">
          <a:avLst/>
        </a:prstGeom>
        <a:solidFill>
          <a:schemeClr val="accent3">
            <a:hueOff val="6567904"/>
            <a:satOff val="-50632"/>
            <a:lumOff val="1373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400" kern="1200" baseline="0" dirty="0" smtClean="0">
              <a:latin typeface="Arial" panose="020B0604020202020204" pitchFamily="34" charset="0"/>
              <a:cs typeface="Arial" panose="020B0604020202020204" pitchFamily="34" charset="0"/>
            </a:rPr>
            <a:t>Version control of metadata (optional)</a:t>
          </a:r>
        </a:p>
      </dsp:txBody>
      <dsp:txXfrm>
        <a:off x="774866" y="3883892"/>
        <a:ext cx="6137508" cy="10949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418AFB-9A18-6541-8609-1552D1D67629}" type="datetimeFigureOut">
              <a:rPr lang="en-US" smtClean="0"/>
              <a:t>12/1/2013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926D18-7A1A-E44C-8952-03A7CD08AA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239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926D18-7A1A-E44C-8952-03A7CD08AA2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2569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FBBAD-C8FA-48BD-A508-1A92C9B4AB4D}" type="datetimeFigureOut">
              <a:rPr lang="en-GB" smtClean="0"/>
              <a:pPr/>
              <a:t>01/12/2013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B53F1-2B6B-4145-8690-A00B65B2E43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141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FBBAD-C8FA-48BD-A508-1A92C9B4AB4D}" type="datetimeFigureOut">
              <a:rPr lang="en-GB" smtClean="0"/>
              <a:pPr/>
              <a:t>01/12/2013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B53F1-2B6B-4145-8690-A00B65B2E43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9745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FBBAD-C8FA-48BD-A508-1A92C9B4AB4D}" type="datetimeFigureOut">
              <a:rPr lang="en-GB" smtClean="0"/>
              <a:pPr/>
              <a:t>01/12/2013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B53F1-2B6B-4145-8690-A00B65B2E43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3018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FBBAD-C8FA-48BD-A508-1A92C9B4AB4D}" type="datetimeFigureOut">
              <a:rPr lang="en-GB" smtClean="0"/>
              <a:pPr/>
              <a:t>01/12/2013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B53F1-2B6B-4145-8690-A00B65B2E43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9920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FBBAD-C8FA-48BD-A508-1A92C9B4AB4D}" type="datetimeFigureOut">
              <a:rPr lang="en-GB" smtClean="0"/>
              <a:pPr/>
              <a:t>01/12/2013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B53F1-2B6B-4145-8690-A00B65B2E43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01721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FBBAD-C8FA-48BD-A508-1A92C9B4AB4D}" type="datetimeFigureOut">
              <a:rPr lang="en-GB" smtClean="0"/>
              <a:pPr/>
              <a:t>01/12/2013</a:t>
            </a:fld>
            <a:endParaRPr lang="en-GB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B53F1-2B6B-4145-8690-A00B65B2E43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5659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FBBAD-C8FA-48BD-A508-1A92C9B4AB4D}" type="datetimeFigureOut">
              <a:rPr lang="en-GB" smtClean="0"/>
              <a:pPr/>
              <a:t>01/12/2013</a:t>
            </a:fld>
            <a:endParaRPr lang="en-GB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B53F1-2B6B-4145-8690-A00B65B2E43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4795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FBBAD-C8FA-48BD-A508-1A92C9B4AB4D}" type="datetimeFigureOut">
              <a:rPr lang="en-GB" smtClean="0"/>
              <a:pPr/>
              <a:t>01/12/2013</a:t>
            </a:fld>
            <a:endParaRPr lang="en-GB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B53F1-2B6B-4145-8690-A00B65B2E43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2712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FBBAD-C8FA-48BD-A508-1A92C9B4AB4D}" type="datetimeFigureOut">
              <a:rPr lang="en-GB" smtClean="0"/>
              <a:pPr/>
              <a:t>01/12/2013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B53F1-2B6B-4145-8690-A00B65B2E43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2487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FBBAD-C8FA-48BD-A508-1A92C9B4AB4D}" type="datetimeFigureOut">
              <a:rPr lang="en-GB" smtClean="0"/>
              <a:pPr/>
              <a:t>01/12/2013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B53F1-2B6B-4145-8690-A00B65B2E43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28669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FBBAD-C8FA-48BD-A508-1A92C9B4AB4D}" type="datetimeFigureOut">
              <a:rPr lang="en-GB" smtClean="0"/>
              <a:pPr/>
              <a:t>01/12/2013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B53F1-2B6B-4145-8690-A00B65B2E43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2230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FBBAD-C8FA-48BD-A508-1A92C9B4AB4D}" type="datetimeFigureOut">
              <a:rPr lang="en-GB" smtClean="0"/>
              <a:pPr/>
              <a:t>01/12/2013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B53F1-2B6B-4145-8690-A00B65B2E43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73786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FBBAD-C8FA-48BD-A508-1A92C9B4AB4D}" type="datetimeFigureOut">
              <a:rPr lang="en-GB" smtClean="0"/>
              <a:pPr/>
              <a:t>01/12/2013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B53F1-2B6B-4145-8690-A00B65B2E43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78772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FBBAD-C8FA-48BD-A508-1A92C9B4AB4D}" type="datetimeFigureOut">
              <a:rPr lang="en-GB" smtClean="0"/>
              <a:pPr/>
              <a:t>01/12/2013</a:t>
            </a:fld>
            <a:endParaRPr lang="en-GB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B53F1-2B6B-4145-8690-A00B65B2E43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707941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FBBAD-C8FA-48BD-A508-1A92C9B4AB4D}" type="datetimeFigureOut">
              <a:rPr lang="en-GB" smtClean="0"/>
              <a:pPr/>
              <a:t>01/12/2013</a:t>
            </a:fld>
            <a:endParaRPr lang="en-GB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B53F1-2B6B-4145-8690-A00B65B2E43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96153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FBBAD-C8FA-48BD-A508-1A92C9B4AB4D}" type="datetimeFigureOut">
              <a:rPr lang="en-GB" smtClean="0"/>
              <a:pPr/>
              <a:t>01/12/2013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B53F1-2B6B-4145-8690-A00B65B2E43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28598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FBBAD-C8FA-48BD-A508-1A92C9B4AB4D}" type="datetimeFigureOut">
              <a:rPr lang="en-GB" smtClean="0"/>
              <a:pPr/>
              <a:t>01/12/2013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B53F1-2B6B-4145-8690-A00B65B2E43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235139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UKDS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251520" y="0"/>
            <a:ext cx="7272808" cy="2420888"/>
          </a:xfrm>
        </p:spPr>
        <p:txBody>
          <a:bodyPr>
            <a:normAutofit/>
          </a:bodyPr>
          <a:lstStyle>
            <a:lvl1pPr algn="l">
              <a:defRPr sz="4400" b="0" i="0" baseline="0">
                <a:latin typeface="Arial" pitchFamily="34" charset="0"/>
              </a:defRPr>
            </a:lvl1pPr>
          </a:lstStyle>
          <a:p>
            <a:r>
              <a:rPr lang="en-US" dirty="0" smtClean="0"/>
              <a:t>Insert title here (44pt)</a:t>
            </a:r>
            <a:endParaRPr lang="en-GB" dirty="0"/>
          </a:p>
        </p:txBody>
      </p:sp>
      <p:sp>
        <p:nvSpPr>
          <p:cNvPr id="1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1520" y="2708920"/>
            <a:ext cx="4032448" cy="1148409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Insert Name and Job Title on separate lines</a:t>
            </a:r>
            <a:endParaRPr lang="en-GB" dirty="0"/>
          </a:p>
        </p:txBody>
      </p:sp>
      <p:sp>
        <p:nvSpPr>
          <p:cNvPr id="22" name="Content Placeholder 21"/>
          <p:cNvSpPr>
            <a:spLocks noGrp="1"/>
          </p:cNvSpPr>
          <p:nvPr>
            <p:ph sz="quarter" idx="10" hasCustomPrompt="1"/>
          </p:nvPr>
        </p:nvSpPr>
        <p:spPr>
          <a:xfrm>
            <a:off x="304800" y="4149725"/>
            <a:ext cx="3979863" cy="1439863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latin typeface="Arial" pitchFamily="34" charset="0"/>
              </a:defRPr>
            </a:lvl1pPr>
          </a:lstStyle>
          <a:p>
            <a:pPr lvl="0"/>
            <a:r>
              <a:rPr lang="en-GB" dirty="0" smtClean="0"/>
              <a:t>Name of meeting and place followed by date on a separate line</a:t>
            </a:r>
            <a:endParaRPr lang="en-GB" dirty="0"/>
          </a:p>
        </p:txBody>
      </p:sp>
      <p:cxnSp>
        <p:nvCxnSpPr>
          <p:cNvPr id="23" name="Straight Connector 22"/>
          <p:cNvCxnSpPr/>
          <p:nvPr userDrawn="1"/>
        </p:nvCxnSpPr>
        <p:spPr>
          <a:xfrm flipV="1">
            <a:off x="309594" y="471584"/>
            <a:ext cx="8208912" cy="5088"/>
          </a:xfrm>
          <a:prstGeom prst="line">
            <a:avLst/>
          </a:prstGeom>
          <a:ln>
            <a:solidFill>
              <a:srgbClr val="8E95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15676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EEFBBAD-C8FA-48BD-A508-1A92C9B4AB4D}" type="datetimeFigureOut">
              <a:rPr lang="en-GB" smtClean="0"/>
              <a:pPr/>
              <a:t>01/12/2013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EB53F1-2B6B-4145-8690-A00B65B2E43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07247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  <p:sldLayoutId id="2147483760" r:id="rId17"/>
    <p:sldLayoutId id="2147483761" r:id="rId18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penmetadata.org/site/?page_id=366" TargetMode="External"/><Relationship Id="rId2" Type="http://schemas.openxmlformats.org/officeDocument/2006/relationships/hyperlink" Target="http://elsst.ukdataservice.ac.uk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24744"/>
            <a:ext cx="8496944" cy="2160240"/>
          </a:xfrm>
        </p:spPr>
        <p:txBody>
          <a:bodyPr>
            <a:normAutofit/>
          </a:bodyPr>
          <a:lstStyle/>
          <a:p>
            <a:r>
              <a:rPr lang="en-GB" sz="4000" dirty="0" err="1"/>
              <a:t>DwB</a:t>
            </a:r>
            <a:r>
              <a:rPr lang="en-GB" sz="4000" dirty="0"/>
              <a:t> Discovery Portal</a:t>
            </a:r>
            <a:br>
              <a:rPr lang="en-GB" sz="4000" dirty="0"/>
            </a:br>
            <a:r>
              <a:rPr lang="en-GB" sz="3600" i="1" dirty="0" smtClean="0"/>
              <a:t>A </a:t>
            </a:r>
            <a:r>
              <a:rPr lang="en-GB" sz="3600" i="1" dirty="0"/>
              <a:t>New CESSDA Portal for European </a:t>
            </a:r>
            <a:br>
              <a:rPr lang="en-GB" sz="3600" i="1" dirty="0"/>
            </a:br>
            <a:r>
              <a:rPr lang="en-GB" sz="3600" i="1" dirty="0"/>
              <a:t>Research Data Discovery</a:t>
            </a:r>
            <a:endParaRPr lang="en-GB" sz="4000" i="1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23528" y="4293096"/>
            <a:ext cx="3979863" cy="1224136"/>
          </a:xfrm>
        </p:spPr>
        <p:txBody>
          <a:bodyPr>
            <a:normAutofit fontScale="85000" lnSpcReduction="10000"/>
          </a:bodyPr>
          <a:lstStyle/>
          <a:p>
            <a:r>
              <a:rPr lang="en-GB" dirty="0"/>
              <a:t>John Shepherdson - UKDA</a:t>
            </a:r>
          </a:p>
          <a:p>
            <a:r>
              <a:rPr lang="en-GB" dirty="0"/>
              <a:t>Pascal </a:t>
            </a:r>
            <a:r>
              <a:rPr lang="en-GB" dirty="0" err="1"/>
              <a:t>Heus</a:t>
            </a:r>
            <a:r>
              <a:rPr lang="en-GB" dirty="0"/>
              <a:t> - Metadata Technology</a:t>
            </a:r>
          </a:p>
          <a:p>
            <a:r>
              <a:rPr lang="en-GB" dirty="0" err="1"/>
              <a:t>Ørnulf</a:t>
            </a:r>
            <a:r>
              <a:rPr lang="en-GB" dirty="0"/>
              <a:t> </a:t>
            </a:r>
            <a:r>
              <a:rPr lang="en-GB" dirty="0" err="1"/>
              <a:t>Risnes</a:t>
            </a:r>
            <a:r>
              <a:rPr lang="en-GB" dirty="0"/>
              <a:t> - NSD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323528" y="3068960"/>
            <a:ext cx="4032448" cy="11484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2452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628800"/>
            <a:ext cx="7887175" cy="4449837"/>
          </a:xfrm>
        </p:spPr>
        <p:txBody>
          <a:bodyPr>
            <a:normAutofit/>
          </a:bodyPr>
          <a:lstStyle/>
          <a:p>
            <a:pPr>
              <a:lnSpc>
                <a:spcPct val="114000"/>
              </a:lnSpc>
              <a:spcBef>
                <a:spcPts val="1800"/>
              </a:spcBef>
              <a:buClr>
                <a:srgbClr val="78BE20"/>
              </a:buClr>
            </a:pPr>
            <a:r>
              <a:rPr lang="en-GB" sz="2800" dirty="0"/>
              <a:t>Supports </a:t>
            </a:r>
            <a:r>
              <a:rPr lang="en-GB" sz="2800" dirty="0" err="1"/>
              <a:t>DwB</a:t>
            </a:r>
            <a:r>
              <a:rPr lang="en-GB" sz="2800" dirty="0"/>
              <a:t> goal “equal and easy access to official </a:t>
            </a:r>
            <a:r>
              <a:rPr lang="en-GB" sz="2800" dirty="0" err="1"/>
              <a:t>microdata</a:t>
            </a:r>
            <a:r>
              <a:rPr lang="en-GB" sz="2800" dirty="0"/>
              <a:t> for the European Research Area”</a:t>
            </a:r>
          </a:p>
          <a:p>
            <a:pPr lvl="1">
              <a:lnSpc>
                <a:spcPct val="114000"/>
              </a:lnSpc>
              <a:spcBef>
                <a:spcPts val="1800"/>
              </a:spcBef>
              <a:buClr>
                <a:srgbClr val="78BE20"/>
              </a:buClr>
            </a:pPr>
            <a:r>
              <a:rPr lang="en-GB" sz="2400" dirty="0" smtClean="0"/>
              <a:t>provides </a:t>
            </a:r>
            <a:r>
              <a:rPr lang="en-GB" sz="2400" dirty="0"/>
              <a:t>“more coherent system for resource discovery of official statistics”</a:t>
            </a:r>
          </a:p>
          <a:p>
            <a:pPr lvl="1">
              <a:lnSpc>
                <a:spcPct val="114000"/>
              </a:lnSpc>
              <a:spcBef>
                <a:spcPts val="1800"/>
              </a:spcBef>
              <a:buClr>
                <a:srgbClr val="78BE20"/>
              </a:buClr>
            </a:pPr>
            <a:r>
              <a:rPr lang="en-GB" sz="2400" dirty="0" smtClean="0"/>
              <a:t>demonstrates </a:t>
            </a:r>
            <a:r>
              <a:rPr lang="en-GB" sz="2400" dirty="0"/>
              <a:t>ability to ingest metadata from multiple sources, via multiple protocols</a:t>
            </a:r>
          </a:p>
          <a:p>
            <a:pPr marL="0" indent="0">
              <a:buClr>
                <a:srgbClr val="78BE20"/>
              </a:buClr>
              <a:buNone/>
            </a:pPr>
            <a:endParaRPr lang="en-US" sz="2600" dirty="0" smtClean="0"/>
          </a:p>
        </p:txBody>
      </p:sp>
    </p:spTree>
    <p:extLst>
      <p:ext uri="{BB962C8B-B14F-4D97-AF65-F5344CB8AC3E}">
        <p14:creationId xmlns:p14="http://schemas.microsoft.com/office/powerpoint/2010/main" val="3567136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Scope of the portal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628801"/>
            <a:ext cx="6711654" cy="4619606"/>
          </a:xfrm>
        </p:spPr>
        <p:txBody>
          <a:bodyPr>
            <a:normAutofit lnSpcReduction="10000"/>
          </a:bodyPr>
          <a:lstStyle/>
          <a:p>
            <a:r>
              <a:rPr lang="en-GB" sz="2800" dirty="0"/>
              <a:t>Content-wise</a:t>
            </a:r>
          </a:p>
          <a:p>
            <a:pPr lvl="1"/>
            <a:r>
              <a:rPr lang="en-GB" sz="2400" dirty="0"/>
              <a:t>Metadata from NSIs + Archives</a:t>
            </a:r>
          </a:p>
          <a:p>
            <a:r>
              <a:rPr lang="en-GB" sz="2800" dirty="0"/>
              <a:t>Technical</a:t>
            </a:r>
          </a:p>
          <a:p>
            <a:pPr lvl="1"/>
            <a:r>
              <a:rPr lang="en-GB" sz="2400" dirty="0"/>
              <a:t>Build prototype/beta </a:t>
            </a:r>
          </a:p>
          <a:p>
            <a:pPr lvl="1"/>
            <a:r>
              <a:rPr lang="en-GB" sz="2400" dirty="0"/>
              <a:t>Sound, future proof methods, architecture, components</a:t>
            </a:r>
          </a:p>
          <a:p>
            <a:pPr lvl="1"/>
            <a:r>
              <a:rPr lang="en-GB" sz="2400" dirty="0"/>
              <a:t>Standards-based</a:t>
            </a:r>
          </a:p>
          <a:p>
            <a:pPr lvl="1"/>
            <a:r>
              <a:rPr lang="en-GB" sz="2400" dirty="0"/>
              <a:t>Extensible</a:t>
            </a:r>
          </a:p>
          <a:p>
            <a:pPr lvl="1"/>
            <a:r>
              <a:rPr lang="en-GB" sz="2400" dirty="0"/>
              <a:t>Easy to handover to ‘sustainability’ body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8043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Aspects of the </a:t>
            </a:r>
            <a:r>
              <a:rPr lang="en-GB" dirty="0" smtClean="0"/>
              <a:t>portal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2052925"/>
            <a:ext cx="6984660" cy="4195481"/>
          </a:xfrm>
        </p:spPr>
        <p:txBody>
          <a:bodyPr>
            <a:normAutofit/>
          </a:bodyPr>
          <a:lstStyle/>
          <a:p>
            <a:r>
              <a:rPr lang="en-GB" sz="2800" dirty="0"/>
              <a:t>Research data discovery (obviously)</a:t>
            </a:r>
          </a:p>
          <a:p>
            <a:endParaRPr lang="en-GB" sz="2800" dirty="0"/>
          </a:p>
          <a:p>
            <a:r>
              <a:rPr lang="en-GB" sz="2800" dirty="0" smtClean="0"/>
              <a:t>Provider </a:t>
            </a:r>
            <a:r>
              <a:rPr lang="en-GB" sz="2800" dirty="0"/>
              <a:t>portal, QA</a:t>
            </a:r>
          </a:p>
          <a:p>
            <a:endParaRPr lang="en-GB" sz="2800" dirty="0"/>
          </a:p>
          <a:p>
            <a:r>
              <a:rPr lang="en-GB" sz="2800" dirty="0" smtClean="0"/>
              <a:t>Platform </a:t>
            </a:r>
            <a:r>
              <a:rPr lang="en-GB" sz="2800" dirty="0"/>
              <a:t>for additional services</a:t>
            </a:r>
          </a:p>
        </p:txBody>
      </p:sp>
    </p:spTree>
    <p:extLst>
      <p:ext uri="{BB962C8B-B14F-4D97-AF65-F5344CB8AC3E}">
        <p14:creationId xmlns:p14="http://schemas.microsoft.com/office/powerpoint/2010/main" val="2067137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4879378" cy="1400530"/>
          </a:xfrm>
        </p:spPr>
        <p:txBody>
          <a:bodyPr/>
          <a:lstStyle/>
          <a:p>
            <a:r>
              <a:rPr lang="en-GB" dirty="0" smtClean="0"/>
              <a:t>Metadata ingest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2052925"/>
            <a:ext cx="5112452" cy="4195481"/>
          </a:xfrm>
        </p:spPr>
        <p:txBody>
          <a:bodyPr/>
          <a:lstStyle/>
          <a:p>
            <a:r>
              <a:rPr lang="en-GB" sz="2800" dirty="0"/>
              <a:t>Metadata gets...</a:t>
            </a:r>
          </a:p>
          <a:p>
            <a:pPr lvl="1"/>
            <a:r>
              <a:rPr lang="en-GB" sz="2400" dirty="0"/>
              <a:t>harvested</a:t>
            </a:r>
          </a:p>
          <a:p>
            <a:pPr lvl="1"/>
            <a:r>
              <a:rPr lang="en-GB" sz="2400" dirty="0"/>
              <a:t>made ready for QA</a:t>
            </a:r>
          </a:p>
          <a:p>
            <a:pPr lvl="1"/>
            <a:r>
              <a:rPr lang="en-GB" sz="2400" dirty="0"/>
              <a:t>transformed into canonical model</a:t>
            </a:r>
          </a:p>
          <a:p>
            <a:pPr lvl="1"/>
            <a:r>
              <a:rPr lang="en-GB" sz="2400" dirty="0"/>
              <a:t>indexed</a:t>
            </a:r>
          </a:p>
          <a:p>
            <a:pPr lvl="1"/>
            <a:r>
              <a:rPr lang="en-GB" sz="2400" dirty="0"/>
              <a:t>exposed</a:t>
            </a:r>
          </a:p>
          <a:p>
            <a:endParaRPr lang="en-GB" dirty="0"/>
          </a:p>
        </p:txBody>
      </p:sp>
      <p:pic>
        <p:nvPicPr>
          <p:cNvPr id="1026" name="Picture 2" descr="https://lh3.googleusercontent.com/ML9y3zUI9qmvp0skXkTN7S9y6xQxYwKr7DBSxFdb4qy3r_poDZbV0tFRZ4PBF2wpBnu2GedDR3wS2GT2KqPCxBksuW1dckXeWFSzHdY4uYPwZGgj952_5nOxYIo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832" y="1158917"/>
            <a:ext cx="2356526" cy="558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3496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Canonical </a:t>
            </a:r>
            <a:r>
              <a:rPr lang="en-GB" dirty="0" smtClean="0"/>
              <a:t>metadata </a:t>
            </a:r>
            <a:r>
              <a:rPr lang="en-GB" dirty="0"/>
              <a:t>model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/>
              <a:t>Harmonisation</a:t>
            </a:r>
          </a:p>
          <a:p>
            <a:pPr lvl="1"/>
            <a:r>
              <a:rPr lang="en-GB" sz="2400" dirty="0"/>
              <a:t>DDI-C, DDI-L, MISSY, CIMES, </a:t>
            </a:r>
            <a:r>
              <a:rPr lang="en-GB" sz="2400" dirty="0" err="1"/>
              <a:t>etc</a:t>
            </a:r>
            <a:endParaRPr lang="en-GB" sz="2400" dirty="0"/>
          </a:p>
          <a:p>
            <a:endParaRPr lang="en-GB" sz="2400" dirty="0"/>
          </a:p>
          <a:p>
            <a:r>
              <a:rPr lang="en-GB" sz="2800" dirty="0"/>
              <a:t>Builds on DISCO </a:t>
            </a:r>
          </a:p>
          <a:p>
            <a:pPr lvl="1"/>
            <a:r>
              <a:rPr lang="en-GB" sz="2400" dirty="0"/>
              <a:t>(DDI discovery RDF)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994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Research data discovery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2052925"/>
            <a:ext cx="4392372" cy="4472419"/>
          </a:xfrm>
        </p:spPr>
        <p:txBody>
          <a:bodyPr>
            <a:normAutofit/>
          </a:bodyPr>
          <a:lstStyle/>
          <a:p>
            <a:r>
              <a:rPr lang="en-GB" dirty="0"/>
              <a:t>Powered by Solr </a:t>
            </a:r>
          </a:p>
          <a:p>
            <a:r>
              <a:rPr lang="en-GB" dirty="0"/>
              <a:t>Facets</a:t>
            </a:r>
          </a:p>
          <a:p>
            <a:pPr lvl="1"/>
            <a:r>
              <a:rPr lang="en-GB" dirty="0" smtClean="0"/>
              <a:t>producer</a:t>
            </a:r>
            <a:r>
              <a:rPr lang="en-GB" dirty="0"/>
              <a:t>, geography, date, data type ...</a:t>
            </a:r>
          </a:p>
          <a:p>
            <a:r>
              <a:rPr lang="en-GB" dirty="0"/>
              <a:t>Suggestions / </a:t>
            </a:r>
            <a:r>
              <a:rPr lang="en-GB" dirty="0" smtClean="0"/>
              <a:t>autocomplete</a:t>
            </a:r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‘Did you mean?’ </a:t>
            </a:r>
            <a:r>
              <a:rPr lang="en-GB" dirty="0" smtClean="0"/>
              <a:t>functionality</a:t>
            </a:r>
            <a:endParaRPr lang="en-GB" dirty="0"/>
          </a:p>
        </p:txBody>
      </p:sp>
      <p:pic>
        <p:nvPicPr>
          <p:cNvPr id="2050" name="Picture 2" descr="https://lh4.googleusercontent.com/yef2thNfc8jNT9uA85R-6dX9fj4xB-fk9PsEdRQZqOjO9bakljUm1QFzes-0O7nuqTPkQDIKQP5Iv1g3_oeaIFY2IxqBehXWS-Qtm_FQ5yU3YIxSfoI4CN0pjrn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4005064"/>
            <a:ext cx="2812951" cy="1653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lh3.googleusercontent.com/-JU7u5JT3DBys2TdIvOY6kwI5eV5FU-p69BKpEzPs_mLShUbmeMJsLIIeNyJcSb4lxcWdzoLqyvil5p4dmBluYaA5jt4hC4nQMOIIVllqk9MOh3x1L60sDqsVdl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6173866"/>
            <a:ext cx="2882542" cy="551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s://lh6.googleusercontent.com/7G04fEIielaBvKBNlRDCAfe76HJj921niUM5loIJymMlmSCIuZ4pwDIt3lQfn0V0d7TOjhMRzvaSGyQyoXvH8yYN3YJOumWzzGZzXR9lvJ-Q-mBg7pFrttoYnjDj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1688" y="2052012"/>
            <a:ext cx="2206736" cy="4113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2167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Provider portal, QA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5021204"/>
              </p:ext>
            </p:extLst>
          </p:nvPr>
        </p:nvGraphicFramePr>
        <p:xfrm>
          <a:off x="395536" y="1556792"/>
          <a:ext cx="7687241" cy="5040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10854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5383434" cy="1400530"/>
          </a:xfrm>
        </p:spPr>
        <p:txBody>
          <a:bodyPr/>
          <a:lstStyle/>
          <a:p>
            <a:r>
              <a:rPr lang="en-GB" dirty="0"/>
              <a:t>Platform for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2052925"/>
            <a:ext cx="4680404" cy="4195481"/>
          </a:xfrm>
        </p:spPr>
        <p:txBody>
          <a:bodyPr>
            <a:normAutofit/>
          </a:bodyPr>
          <a:lstStyle/>
          <a:p>
            <a:r>
              <a:rPr lang="en-GB" sz="2800" dirty="0" err="1"/>
              <a:t>DwB</a:t>
            </a:r>
            <a:r>
              <a:rPr lang="en-GB" sz="2800" dirty="0"/>
              <a:t> search portal is just a front-end application</a:t>
            </a:r>
          </a:p>
          <a:p>
            <a:r>
              <a:rPr lang="en-GB" sz="2800" dirty="0"/>
              <a:t>Machine-actionable interfaces for most functions</a:t>
            </a:r>
          </a:p>
        </p:txBody>
      </p:sp>
      <p:pic>
        <p:nvPicPr>
          <p:cNvPr id="1026" name="Picture 2" descr="https://lh3.googleusercontent.com/ML9y3zUI9qmvp0skXkTN7S9y6xQxYwKr7DBSxFdb4qy3r_poDZbV0tFRZ4PBF2wpBnu2GedDR3wS2GT2KqPCxBksuW1dckXeWFSzHdY4uYPwZGgj952_5nOxYIo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832" y="1158917"/>
            <a:ext cx="2356526" cy="558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5887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What Next?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2052925"/>
            <a:ext cx="7272692" cy="4195481"/>
          </a:xfrm>
        </p:spPr>
        <p:txBody>
          <a:bodyPr/>
          <a:lstStyle/>
          <a:p>
            <a:r>
              <a:rPr lang="en-GB" sz="2800" dirty="0"/>
              <a:t>Integrate </a:t>
            </a:r>
            <a:r>
              <a:rPr lang="en-GB" sz="2800" dirty="0">
                <a:hlinkClick r:id="rId2"/>
              </a:rPr>
              <a:t>ELSST multi-lingual thesaurus</a:t>
            </a:r>
            <a:endParaRPr lang="en-GB" sz="2800" dirty="0"/>
          </a:p>
          <a:p>
            <a:pPr lvl="1"/>
            <a:r>
              <a:rPr lang="en-GB" sz="2400" dirty="0"/>
              <a:t>expansion of queries</a:t>
            </a:r>
          </a:p>
          <a:p>
            <a:pPr lvl="1"/>
            <a:r>
              <a:rPr lang="en-GB" sz="2400" dirty="0"/>
              <a:t>14 languages, synonyms/ broader/ narrower terms</a:t>
            </a:r>
          </a:p>
          <a:p>
            <a:r>
              <a:rPr lang="en-GB" sz="2800" dirty="0"/>
              <a:t>Pre-harvest preparation tools</a:t>
            </a:r>
          </a:p>
          <a:p>
            <a:pPr lvl="1"/>
            <a:r>
              <a:rPr lang="en-GB" sz="2400" dirty="0"/>
              <a:t>based on e.g. </a:t>
            </a:r>
            <a:r>
              <a:rPr lang="en-GB" sz="2400" dirty="0" err="1">
                <a:hlinkClick r:id="rId3"/>
              </a:rPr>
              <a:t>DataForge:SledgeHammer</a:t>
            </a:r>
            <a:endParaRPr lang="en-GB" sz="2400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7057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s://lh5.googleusercontent.com/vKnJNLqRZdI82vuuJYNqgPzkEgxkst9ju0ItVUtiI5GXcuVP8051isKzvxe5NG1uOzU5fBhrCo_RQamSU9loFjotw9G2K2S7St7hJzlaL2-eOKRBrGzoRBERSkL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291" y="1484784"/>
            <a:ext cx="6220290" cy="511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/>
          <a:lstStyle>
            <a:lvl1pPr algn="l" defTabSz="457207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 smtClean="0"/>
              <a:t>ELSST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0471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Questions?</a:t>
            </a:r>
            <a:endParaRPr lang="en-GB" dirty="0"/>
          </a:p>
        </p:txBody>
      </p:sp>
      <p:pic>
        <p:nvPicPr>
          <p:cNvPr id="3" name="Picture 4" descr="https://lh6.googleusercontent.com/S607EFi_40L8_OXxec83SHIc7vhps01WudDdMJz5bvHLecbkBPOB-FsiUSuTeCq-oxbiFIb4zU_PI4yuWvNBfZ3lwcADQ9gL-EtBpYVu9s2iAaxUyG9v7NwQIL5J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556792"/>
            <a:ext cx="5219700" cy="4962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4987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2568</TotalTime>
  <Words>245</Words>
  <Application>Microsoft Office PowerPoint</Application>
  <PresentationFormat>Skjermfremvisning (4:3)</PresentationFormat>
  <Paragraphs>64</Paragraphs>
  <Slides>12</Slides>
  <Notes>1</Notes>
  <HiddenSlides>0</HiddenSlides>
  <MMClips>0</MMClips>
  <ScaleCrop>false</ScaleCrop>
  <HeadingPairs>
    <vt:vector size="6" baseType="variant">
      <vt:variant>
        <vt:lpstr>Brukte skrifter</vt:lpstr>
      </vt:variant>
      <vt:variant>
        <vt:i4>4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12</vt:i4>
      </vt:variant>
    </vt:vector>
  </HeadingPairs>
  <TitlesOfParts>
    <vt:vector size="17" baseType="lpstr">
      <vt:lpstr>Arial</vt:lpstr>
      <vt:lpstr>Wingdings 3</vt:lpstr>
      <vt:lpstr>Calibri</vt:lpstr>
      <vt:lpstr>Century Gothic</vt:lpstr>
      <vt:lpstr>Ion</vt:lpstr>
      <vt:lpstr>DwB Discovery Portal A New CESSDA Portal for European  Research Data Discovery</vt:lpstr>
      <vt:lpstr>Overview</vt:lpstr>
      <vt:lpstr>Scope of the portal</vt:lpstr>
      <vt:lpstr>Aspects of the portal</vt:lpstr>
      <vt:lpstr>Metadata ingest</vt:lpstr>
      <vt:lpstr>Canonical metadata model </vt:lpstr>
      <vt:lpstr>Research data discovery</vt:lpstr>
      <vt:lpstr>Provider portal, QA</vt:lpstr>
      <vt:lpstr>Platform for services</vt:lpstr>
      <vt:lpstr>What Next?</vt:lpstr>
      <vt:lpstr>PowerPoint-presentasjon</vt:lpstr>
      <vt:lpstr>Questions?</vt:lpstr>
    </vt:vector>
  </TitlesOfParts>
  <Company>UKDA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Cozzolino, Susan</dc:creator>
  <cp:lastModifiedBy>Ørnulf Risnes</cp:lastModifiedBy>
  <cp:revision>173</cp:revision>
  <cp:lastPrinted>2013-11-29T11:58:24Z</cp:lastPrinted>
  <dcterms:created xsi:type="dcterms:W3CDTF">2013-05-03T08:26:56Z</dcterms:created>
  <dcterms:modified xsi:type="dcterms:W3CDTF">2013-12-01T07:47:58Z</dcterms:modified>
</cp:coreProperties>
</file>