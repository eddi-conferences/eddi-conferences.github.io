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85" r:id="rId4"/>
    <p:sldId id="259" r:id="rId5"/>
    <p:sldId id="260" r:id="rId6"/>
    <p:sldId id="261" r:id="rId7"/>
    <p:sldId id="262" r:id="rId8"/>
    <p:sldId id="263" r:id="rId9"/>
    <p:sldId id="264" r:id="rId10"/>
    <p:sldId id="286" r:id="rId11"/>
    <p:sldId id="258" r:id="rId12"/>
    <p:sldId id="266" r:id="rId13"/>
    <p:sldId id="287" r:id="rId14"/>
    <p:sldId id="279" r:id="rId15"/>
    <p:sldId id="277" r:id="rId16"/>
    <p:sldId id="280" r:id="rId17"/>
    <p:sldId id="292" r:id="rId18"/>
    <p:sldId id="288" r:id="rId19"/>
    <p:sldId id="290" r:id="rId20"/>
    <p:sldId id="289" r:id="rId21"/>
    <p:sldId id="267" r:id="rId22"/>
    <p:sldId id="281" r:id="rId23"/>
    <p:sldId id="283" r:id="rId24"/>
    <p:sldId id="270" r:id="rId25"/>
    <p:sldId id="273" r:id="rId26"/>
    <p:sldId id="284" r:id="rId27"/>
    <p:sldId id="272" r:id="rId28"/>
    <p:sldId id="275" r:id="rId29"/>
    <p:sldId id="276" r:id="rId30"/>
    <p:sldId id="274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5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76" autoAdjust="0"/>
  </p:normalViewPr>
  <p:slideViewPr>
    <p:cSldViewPr>
      <p:cViewPr>
        <p:scale>
          <a:sx n="107" d="100"/>
          <a:sy n="107" d="100"/>
        </p:scale>
        <p:origin x="-89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9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1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A9F0-F3C4-46C5-983C-AC4678CF8A35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DF09D8-096C-42D6-B6A2-78BE4351F33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09BA9F0-F3C4-46C5-983C-AC4678CF8A35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2BDF09D8-096C-42D6-B6A2-78BE4351F33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A9F0-F3C4-46C5-983C-AC4678CF8A35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09D8-096C-42D6-B6A2-78BE4351F33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A9F0-F3C4-46C5-983C-AC4678CF8A35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09D8-096C-42D6-B6A2-78BE4351F33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09D8-096C-42D6-B6A2-78BE4351F3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A9F0-F3C4-46C5-983C-AC4678CF8A35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A9F0-F3C4-46C5-983C-AC4678CF8A35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09D8-096C-42D6-B6A2-78BE4351F33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A9F0-F3C4-46C5-983C-AC4678CF8A35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09D8-096C-42D6-B6A2-78BE4351F3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09BA9F0-F3C4-46C5-983C-AC4678CF8A35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DF09D8-096C-42D6-B6A2-78BE4351F3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A9F0-F3C4-46C5-983C-AC4678CF8A35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DF09D8-096C-42D6-B6A2-78BE4351F3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A9F0-F3C4-46C5-983C-AC4678CF8A35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09D8-096C-42D6-B6A2-78BE4351F3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A9F0-F3C4-46C5-983C-AC4678CF8A35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09D8-096C-42D6-B6A2-78BE4351F3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09BA9F0-F3C4-46C5-983C-AC4678CF8A35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2BDF09D8-096C-42D6-B6A2-78BE4351F3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0800" y="4038600"/>
            <a:ext cx="4013200" cy="145034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Wendy Thomas</a:t>
            </a:r>
          </a:p>
          <a:p>
            <a:r>
              <a:rPr lang="en-US" dirty="0" smtClean="0"/>
              <a:t>(Minnesota Population Center)</a:t>
            </a:r>
          </a:p>
          <a:p>
            <a:r>
              <a:rPr lang="en-US" dirty="0" smtClean="0"/>
              <a:t>Jon Johnson </a:t>
            </a:r>
          </a:p>
          <a:p>
            <a:r>
              <a:rPr lang="en-US" dirty="0" smtClean="0"/>
              <a:t>(Centre for Longitudinal Studies, London)</a:t>
            </a:r>
          </a:p>
          <a:p>
            <a:r>
              <a:rPr lang="en-US" dirty="0" smtClean="0"/>
              <a:t>EDDI 2013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 3.2 or Not to 3.2?</a:t>
            </a:r>
            <a:br>
              <a:rPr lang="en-US" dirty="0" smtClean="0"/>
            </a:br>
            <a:r>
              <a:rPr lang="en-US" dirty="0" smtClean="0"/>
              <a:t>That is the Question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67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There’s a new model driven DDI version already in the works. Shouldn’t I just wait for this?</a:t>
            </a:r>
          </a:p>
          <a:p>
            <a:pPr lvl="1"/>
            <a:r>
              <a:rPr lang="en-US" dirty="0" smtClean="0"/>
              <a:t>The work on version 4 just started and while there will be packages coming out during the 18 month development period the full functionality of  this won’t be available until the work is complete.</a:t>
            </a:r>
          </a:p>
          <a:p>
            <a:r>
              <a:rPr lang="en-US" dirty="0" smtClean="0"/>
              <a:t>There’s so many changes and I’ve got software for 3.1. Do I want to go through the pain of change?</a:t>
            </a:r>
          </a:p>
          <a:p>
            <a:pPr lvl="1"/>
            <a:r>
              <a:rPr lang="en-US" dirty="0" smtClean="0"/>
              <a:t>Probably not. If what you have works, stick with it. But pay attention to some changes in 3.2 that will facilitate work with later models.</a:t>
            </a:r>
          </a:p>
          <a:p>
            <a:r>
              <a:rPr lang="en-US" dirty="0" smtClean="0"/>
              <a:t>What took so long? I really need 3.2 to do my work!</a:t>
            </a:r>
          </a:p>
          <a:p>
            <a:pPr lvl="1"/>
            <a:r>
              <a:rPr lang="en-US" dirty="0" smtClean="0"/>
              <a:t>If you need the new functionality SWITCH!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“Whether ‘tis nobler in the mind to suffer the slings and arrows…”*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10200" y="6270563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*Shakespeare’s Hamlet (Act 3 Scene 1)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408699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1143000"/>
            <a:ext cx="7924800" cy="3733800"/>
          </a:xfrm>
        </p:spPr>
        <p:txBody>
          <a:bodyPr/>
          <a:lstStyle/>
          <a:p>
            <a:r>
              <a:rPr lang="en-US" dirty="0"/>
              <a:t>There’s so many changes and I’ve got software for 3.1. Do I want to go through the pain of change?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7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733800"/>
          </a:xfrm>
        </p:spPr>
        <p:txBody>
          <a:bodyPr>
            <a:normAutofit/>
          </a:bodyPr>
          <a:lstStyle/>
          <a:p>
            <a:r>
              <a:rPr lang="en-US" dirty="0" smtClean="0"/>
              <a:t>Bundling language equivalents in a single element</a:t>
            </a:r>
          </a:p>
          <a:p>
            <a:r>
              <a:rPr lang="en-US" dirty="0" smtClean="0"/>
              <a:t>Representations and missing values</a:t>
            </a:r>
          </a:p>
          <a:p>
            <a:r>
              <a:rPr lang="en-US" dirty="0" smtClean="0"/>
              <a:t>Managing identification content</a:t>
            </a:r>
          </a:p>
          <a:p>
            <a:r>
              <a:rPr lang="en-US" dirty="0"/>
              <a:t>Name clashes</a:t>
            </a:r>
          </a:p>
          <a:p>
            <a:r>
              <a:rPr lang="en-US" dirty="0"/>
              <a:t>New Code Value Types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 smtClean="0"/>
              <a:t>“And </a:t>
            </a:r>
            <a:r>
              <a:rPr lang="en-US" dirty="0"/>
              <a:t>makes us rather bear those ills we have, Than fly to others that we know not of</a:t>
            </a:r>
            <a:r>
              <a:rPr lang="en-US" dirty="0" smtClean="0"/>
              <a:t>.”*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10200" y="6270563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*Shakespeare’s Hamlet (Act 3 Scene 1)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12298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733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Bundling language equivalents in a single element</a:t>
            </a:r>
          </a:p>
          <a:p>
            <a:pPr lvl="1"/>
            <a:r>
              <a:rPr lang="en-US" dirty="0" smtClean="0"/>
              <a:t>Make sure multiple language content is complete</a:t>
            </a:r>
          </a:p>
          <a:p>
            <a:pPr lvl="1"/>
            <a:r>
              <a:rPr lang="en-US" dirty="0" smtClean="0"/>
              <a:t>Note where cardinality has been constrained in 3.2</a:t>
            </a:r>
          </a:p>
          <a:p>
            <a:pPr lvl="1"/>
            <a:r>
              <a:rPr lang="en-US" dirty="0" smtClean="0"/>
              <a:t>Loss of Identified Structured String – when multiple languages are involved</a:t>
            </a:r>
          </a:p>
          <a:p>
            <a:r>
              <a:rPr lang="en-US" dirty="0" smtClean="0"/>
              <a:t>Representations and missing values</a:t>
            </a:r>
          </a:p>
          <a:p>
            <a:r>
              <a:rPr lang="en-US" dirty="0" smtClean="0"/>
              <a:t>Managing identification content</a:t>
            </a:r>
          </a:p>
          <a:p>
            <a:r>
              <a:rPr lang="en-US" dirty="0"/>
              <a:t>Name clashes</a:t>
            </a:r>
          </a:p>
          <a:p>
            <a:r>
              <a:rPr lang="en-US" dirty="0"/>
              <a:t>New Code Value Types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 smtClean="0"/>
              <a:t>“And </a:t>
            </a:r>
            <a:r>
              <a:rPr lang="en-US" dirty="0"/>
              <a:t>makes us rather bear those ills we have, Than fly to others that we know not of</a:t>
            </a:r>
            <a:r>
              <a:rPr lang="en-US" dirty="0" smtClean="0"/>
              <a:t>.”*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10200" y="6270563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*Shakespeare’s Hamlet (Act 3 Scene 1)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620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733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Bundling language equivalents in a single element</a:t>
            </a:r>
          </a:p>
          <a:p>
            <a:r>
              <a:rPr lang="en-US" dirty="0" smtClean="0"/>
              <a:t>Representations and missing values</a:t>
            </a:r>
          </a:p>
          <a:p>
            <a:pPr lvl="1"/>
            <a:r>
              <a:rPr lang="en-US" dirty="0" smtClean="0"/>
              <a:t>Valid and Invalid (Missing) Values are handled separately in 3.2 – and probably into the future</a:t>
            </a:r>
          </a:p>
          <a:p>
            <a:pPr lvl="1"/>
            <a:r>
              <a:rPr lang="en-US" dirty="0" smtClean="0"/>
              <a:t>Create CodeSchemes that combine a CodeScheme of valid values and a CodeScheme of invalid (missing) values</a:t>
            </a:r>
          </a:p>
          <a:p>
            <a:pPr lvl="1"/>
            <a:r>
              <a:rPr lang="en-US" dirty="0" smtClean="0"/>
              <a:t>Managed Representations (Numeric, Text, DateTime,…)</a:t>
            </a:r>
          </a:p>
          <a:p>
            <a:r>
              <a:rPr lang="en-US" dirty="0" smtClean="0"/>
              <a:t>Managing identification content</a:t>
            </a:r>
          </a:p>
          <a:p>
            <a:r>
              <a:rPr lang="en-US" dirty="0"/>
              <a:t>Name clashes</a:t>
            </a:r>
          </a:p>
          <a:p>
            <a:r>
              <a:rPr lang="en-US" dirty="0"/>
              <a:t>New Code Value Types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 smtClean="0"/>
              <a:t>“And </a:t>
            </a:r>
            <a:r>
              <a:rPr lang="en-US" dirty="0"/>
              <a:t>makes us rather bear those ills we have, Than fly to others that we know not of</a:t>
            </a:r>
            <a:r>
              <a:rPr lang="en-US" dirty="0" smtClean="0"/>
              <a:t>.”*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10200" y="6270563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*Shakespeare’s Hamlet (Act 3 Scene 1)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36181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733800"/>
          </a:xfrm>
        </p:spPr>
        <p:txBody>
          <a:bodyPr>
            <a:normAutofit/>
          </a:bodyPr>
          <a:lstStyle/>
          <a:p>
            <a:r>
              <a:rPr lang="en-US" dirty="0" smtClean="0"/>
              <a:t>Bundling language equivalents in a single element</a:t>
            </a:r>
          </a:p>
          <a:p>
            <a:r>
              <a:rPr lang="en-US" dirty="0" smtClean="0"/>
              <a:t>Representations and missing values</a:t>
            </a:r>
          </a:p>
          <a:p>
            <a:r>
              <a:rPr lang="en-US" dirty="0" smtClean="0"/>
              <a:t>Managing identification content</a:t>
            </a:r>
          </a:p>
          <a:p>
            <a:pPr lvl="1"/>
            <a:r>
              <a:rPr lang="en-US" dirty="0" smtClean="0"/>
              <a:t>Use URN’s! </a:t>
            </a:r>
            <a:r>
              <a:rPr lang="en-US" dirty="0"/>
              <a:t>T</a:t>
            </a:r>
            <a:r>
              <a:rPr lang="en-US" dirty="0" smtClean="0"/>
              <a:t>his is the only place where all the content of the full object identification can be expressed for Identifiable and Versionable types</a:t>
            </a:r>
          </a:p>
          <a:p>
            <a:r>
              <a:rPr lang="en-US" dirty="0"/>
              <a:t>Name clashes</a:t>
            </a:r>
          </a:p>
          <a:p>
            <a:r>
              <a:rPr lang="en-US" dirty="0"/>
              <a:t>New Code Value Types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 smtClean="0"/>
              <a:t>“And </a:t>
            </a:r>
            <a:r>
              <a:rPr lang="en-US" dirty="0"/>
              <a:t>makes us rather bear those ills we have, Than fly to others that we know not of</a:t>
            </a:r>
            <a:r>
              <a:rPr lang="en-US" dirty="0" smtClean="0"/>
              <a:t>.”*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10200" y="6270563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*Shakespeare’s Hamlet (Act 3 Scene 1)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63373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733800"/>
          </a:xfrm>
        </p:spPr>
        <p:txBody>
          <a:bodyPr>
            <a:normAutofit/>
          </a:bodyPr>
          <a:lstStyle/>
          <a:p>
            <a:r>
              <a:rPr lang="en-US" dirty="0" smtClean="0"/>
              <a:t>Bundling language equivalents in a single element</a:t>
            </a:r>
          </a:p>
          <a:p>
            <a:r>
              <a:rPr lang="en-US" dirty="0" smtClean="0"/>
              <a:t>Representations and missing values</a:t>
            </a:r>
          </a:p>
          <a:p>
            <a:r>
              <a:rPr lang="en-US" dirty="0" smtClean="0"/>
              <a:t>Managing identification content</a:t>
            </a:r>
          </a:p>
          <a:p>
            <a:r>
              <a:rPr lang="en-US" dirty="0"/>
              <a:t>Name </a:t>
            </a:r>
            <a:r>
              <a:rPr lang="en-US" dirty="0" smtClean="0"/>
              <a:t>clashes</a:t>
            </a:r>
          </a:p>
          <a:p>
            <a:pPr lvl="1"/>
            <a:r>
              <a:rPr lang="en-US" dirty="0" smtClean="0"/>
              <a:t>Note where object names are changing (these may be namespace specific)</a:t>
            </a:r>
            <a:endParaRPr lang="en-US" dirty="0"/>
          </a:p>
          <a:p>
            <a:r>
              <a:rPr lang="en-US" dirty="0" smtClean="0"/>
              <a:t>New Code Value Types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 smtClean="0"/>
              <a:t>“And </a:t>
            </a:r>
            <a:r>
              <a:rPr lang="en-US" dirty="0"/>
              <a:t>makes us rather bear those ills we have, Than fly to others that we know not of</a:t>
            </a:r>
            <a:r>
              <a:rPr lang="en-US" dirty="0" smtClean="0"/>
              <a:t>.”*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10200" y="6270563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*Shakespeare’s Hamlet (Act 3 Scene 1)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74243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733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Bundling language equivalents in a single element</a:t>
            </a:r>
          </a:p>
          <a:p>
            <a:r>
              <a:rPr lang="en-US" dirty="0" smtClean="0"/>
              <a:t>Representations and missing values</a:t>
            </a:r>
          </a:p>
          <a:p>
            <a:r>
              <a:rPr lang="en-US" dirty="0" smtClean="0"/>
              <a:t>Managing identification content</a:t>
            </a:r>
          </a:p>
          <a:p>
            <a:r>
              <a:rPr lang="en-US" dirty="0"/>
              <a:t>Name clashes</a:t>
            </a:r>
          </a:p>
          <a:p>
            <a:r>
              <a:rPr lang="en-US" dirty="0"/>
              <a:t>New Code Value </a:t>
            </a:r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Many attributes were changed to elements to support external controlled vocabularies (</a:t>
            </a:r>
            <a:r>
              <a:rPr lang="en-US" dirty="0" err="1" smtClean="0"/>
              <a:t>CodeValueType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Constrain current content of these fields to values you plan to provide in an external controlled vocabulary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 smtClean="0"/>
              <a:t>“And </a:t>
            </a:r>
            <a:r>
              <a:rPr lang="en-US" dirty="0"/>
              <a:t>makes us rather bear those ills we have, Than fly to others that we know not of</a:t>
            </a:r>
            <a:r>
              <a:rPr lang="en-US" dirty="0" smtClean="0"/>
              <a:t>.”*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10200" y="6270563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*Shakespeare’s Hamlet (Act 3 Scene 1)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89310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590800"/>
            <a:ext cx="7924800" cy="2286000"/>
          </a:xfrm>
        </p:spPr>
        <p:txBody>
          <a:bodyPr/>
          <a:lstStyle/>
          <a:p>
            <a:r>
              <a:rPr lang="en-US" dirty="0"/>
              <a:t>What took so long? I really need 3.2 to do my work!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2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Complex Questionnaires</a:t>
            </a:r>
          </a:p>
          <a:p>
            <a:pPr lvl="1"/>
            <a:r>
              <a:rPr lang="en-US" dirty="0" smtClean="0"/>
              <a:t>Question Grids and </a:t>
            </a:r>
            <a:r>
              <a:rPr lang="en-US" dirty="0"/>
              <a:t>Question </a:t>
            </a:r>
            <a:r>
              <a:rPr lang="en-US" dirty="0" smtClean="0"/>
              <a:t>Blocks</a:t>
            </a:r>
          </a:p>
          <a:p>
            <a:pPr lvl="1"/>
            <a:r>
              <a:rPr lang="en-US" dirty="0" smtClean="0"/>
              <a:t>Data </a:t>
            </a:r>
            <a:r>
              <a:rPr lang="en-US" dirty="0"/>
              <a:t>Processing</a:t>
            </a:r>
          </a:p>
          <a:p>
            <a:pPr lvl="1"/>
            <a:r>
              <a:rPr lang="en-US" dirty="0" smtClean="0"/>
              <a:t>New representations and response domains</a:t>
            </a:r>
          </a:p>
          <a:p>
            <a:r>
              <a:rPr lang="en-US" dirty="0"/>
              <a:t>Concept Management</a:t>
            </a:r>
          </a:p>
          <a:p>
            <a:pPr lvl="1"/>
            <a:r>
              <a:rPr lang="en-US" dirty="0"/>
              <a:t>Conceptual modeling</a:t>
            </a:r>
          </a:p>
          <a:p>
            <a:pPr lvl="1"/>
            <a:r>
              <a:rPr lang="en-US" dirty="0"/>
              <a:t>Managed representations and missing (invalid) values</a:t>
            </a:r>
          </a:p>
          <a:p>
            <a:r>
              <a:rPr lang="en-US" dirty="0" smtClean="0"/>
              <a:t>Content Management</a:t>
            </a:r>
          </a:p>
          <a:p>
            <a:pPr lvl="1"/>
            <a:r>
              <a:rPr lang="en-US" dirty="0"/>
              <a:t>Quality and authority statements</a:t>
            </a:r>
          </a:p>
          <a:p>
            <a:pPr lvl="1"/>
            <a:r>
              <a:rPr lang="en-US" dirty="0" smtClean="0"/>
              <a:t>Reorganizing </a:t>
            </a:r>
            <a:r>
              <a:rPr lang="en-US" dirty="0"/>
              <a:t>Organizations and Individuals</a:t>
            </a:r>
          </a:p>
          <a:p>
            <a:pPr lvl="1"/>
            <a:r>
              <a:rPr lang="en-US" dirty="0"/>
              <a:t>Archiving submitted </a:t>
            </a:r>
            <a:r>
              <a:rPr lang="en-US" dirty="0" smtClean="0"/>
              <a:t>content</a:t>
            </a:r>
          </a:p>
          <a:p>
            <a:r>
              <a:rPr lang="en-US" dirty="0" smtClean="0"/>
              <a:t>Consistency</a:t>
            </a:r>
          </a:p>
          <a:p>
            <a:pPr lvl="1"/>
            <a:r>
              <a:rPr lang="en-US" dirty="0" smtClean="0"/>
              <a:t>Multilanguage </a:t>
            </a:r>
            <a:r>
              <a:rPr lang="en-US" dirty="0"/>
              <a:t>content</a:t>
            </a:r>
          </a:p>
          <a:p>
            <a:pPr lvl="1"/>
            <a:r>
              <a:rPr lang="en-US" dirty="0" smtClean="0"/>
              <a:t>Geographic </a:t>
            </a:r>
            <a:r>
              <a:rPr lang="en-US" dirty="0"/>
              <a:t>content consistency</a:t>
            </a:r>
          </a:p>
          <a:p>
            <a:pPr lvl="1"/>
            <a:r>
              <a:rPr lang="en-US" dirty="0" smtClean="0"/>
              <a:t>Scheme structure consistency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'Tis</a:t>
            </a:r>
            <a:r>
              <a:rPr lang="en-US" dirty="0" smtClean="0"/>
              <a:t> </a:t>
            </a:r>
            <a:r>
              <a:rPr lang="en-US" dirty="0"/>
              <a:t>a consummation</a:t>
            </a:r>
            <a:br>
              <a:rPr lang="en-US" dirty="0"/>
            </a:br>
            <a:r>
              <a:rPr lang="en-US" dirty="0"/>
              <a:t>Devoutly to be wished</a:t>
            </a:r>
            <a:r>
              <a:rPr lang="en-US" dirty="0" smtClean="0"/>
              <a:t>.”*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10200" y="6270563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*Shakespeare’s Hamlet (Act 3 Scene 1)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18429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primary reason for using 3.2</a:t>
            </a:r>
          </a:p>
          <a:p>
            <a:r>
              <a:rPr lang="en-US" dirty="0" smtClean="0"/>
              <a:t>Complex questionnaires are defined as those using:</a:t>
            </a:r>
          </a:p>
          <a:p>
            <a:pPr lvl="1"/>
            <a:r>
              <a:rPr lang="en-US" dirty="0" smtClean="0"/>
              <a:t>Complex Question Grids</a:t>
            </a:r>
          </a:p>
          <a:p>
            <a:pPr lvl="1"/>
            <a:r>
              <a:rPr lang="en-US" dirty="0" smtClean="0"/>
              <a:t>Question Blocks - where a set of questions are related to a specific stimulus item (common in educational testing)</a:t>
            </a:r>
          </a:p>
          <a:p>
            <a:pPr lvl="1"/>
            <a:r>
              <a:rPr lang="en-US" dirty="0" smtClean="0"/>
              <a:t>Need for a broader set of response domains</a:t>
            </a:r>
          </a:p>
          <a:p>
            <a:pPr lvl="2"/>
            <a:r>
              <a:rPr lang="en-US" dirty="0" smtClean="0"/>
              <a:t>Scales, capturing a mark on an object, geographic codes, ranking, distribution, etc.</a:t>
            </a:r>
          </a:p>
          <a:p>
            <a:pPr lvl="1"/>
            <a:r>
              <a:rPr lang="en-US" dirty="0"/>
              <a:t>Complex routing and reuse of data for calculations </a:t>
            </a:r>
          </a:p>
          <a:p>
            <a:pPr lvl="2"/>
            <a:r>
              <a:rPr lang="en-US" dirty="0"/>
              <a:t>Incorporating  pre-loaded content</a:t>
            </a:r>
          </a:p>
          <a:p>
            <a:pPr lvl="2"/>
            <a:r>
              <a:rPr lang="en-US" dirty="0"/>
              <a:t>Extensive use of response information to inform the content of dynamic text</a:t>
            </a:r>
          </a:p>
          <a:p>
            <a:pPr lvl="2"/>
            <a:r>
              <a:rPr lang="en-US" dirty="0"/>
              <a:t>Data validation done during the collection </a:t>
            </a:r>
            <a:r>
              <a:rPr lang="en-US" dirty="0" smtClean="0"/>
              <a:t>process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 Questionnaires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178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1295400"/>
            <a:ext cx="7239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Did you visit any one of the following performances or facilities over the past 12 months? </a:t>
            </a:r>
          </a:p>
          <a:p>
            <a:r>
              <a:rPr lang="en-US" dirty="0"/>
              <a:t>(Circle the correct response for each)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Yes	No	a theatre performance</a:t>
            </a:r>
          </a:p>
          <a:p>
            <a:r>
              <a:rPr lang="en-US" dirty="0"/>
              <a:t>Yes	No	a cabaret performance</a:t>
            </a:r>
          </a:p>
          <a:p>
            <a:r>
              <a:rPr lang="en-US" dirty="0"/>
              <a:t>Yes	No	a concert of classical music</a:t>
            </a:r>
          </a:p>
          <a:p>
            <a:r>
              <a:rPr lang="en-US" dirty="0"/>
              <a:t>Yes	No	an opera or operetta</a:t>
            </a:r>
          </a:p>
          <a:p>
            <a:r>
              <a:rPr lang="en-US" dirty="0"/>
              <a:t>Yes	No	a concert of popular music, pop, jazz, musical or </a:t>
            </a:r>
            <a:r>
              <a:rPr lang="en-US" dirty="0" smtClean="0"/>
              <a:t>pop</a:t>
            </a:r>
          </a:p>
          <a:p>
            <a:r>
              <a:rPr lang="en-US" dirty="0" smtClean="0"/>
              <a:t> 		opera</a:t>
            </a:r>
            <a:endParaRPr lang="en-US" dirty="0"/>
          </a:p>
          <a:p>
            <a:r>
              <a:rPr lang="en-US" dirty="0"/>
              <a:t>Yes	No	a 'dance' event, </a:t>
            </a:r>
            <a:r>
              <a:rPr lang="en-US" dirty="0" err="1"/>
              <a:t>houseparty</a:t>
            </a:r>
            <a:endParaRPr lang="en-US" dirty="0"/>
          </a:p>
          <a:p>
            <a:r>
              <a:rPr lang="en-US" dirty="0"/>
              <a:t>Yes	No	a ballet performance</a:t>
            </a:r>
          </a:p>
          <a:p>
            <a:r>
              <a:rPr lang="en-US" dirty="0"/>
              <a:t>Yes	No	the cinema</a:t>
            </a:r>
          </a:p>
          <a:p>
            <a:r>
              <a:rPr lang="en-US" dirty="0"/>
              <a:t>Yes	No	an art gallery</a:t>
            </a:r>
          </a:p>
          <a:p>
            <a:r>
              <a:rPr lang="en-US" dirty="0"/>
              <a:t>Yes	No	a museum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0800" y="762000"/>
            <a:ext cx="3703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3.1 Multiple Question Item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74483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0" y="3581400"/>
            <a:ext cx="334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Question Block example (PISA)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1962150"/>
            <a:ext cx="6781800" cy="293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57800" y="5715000"/>
            <a:ext cx="3563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Source: British Perinatal Mortality Study (1958)</a:t>
            </a:r>
            <a:endParaRPr lang="en-US" sz="1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511295" y="1143000"/>
            <a:ext cx="1765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Simple Grid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803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4497" y="914400"/>
            <a:ext cx="8077200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d:QuestionGrid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versionDate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="2013-11-20T12:09:32+00:00"&gt;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r:ID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&gt;qg1&lt;/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r:ID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d:QuestionGridName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r:String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xml:lang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="en-GB"&gt;butler15&lt;/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r:String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d:QuestionGridName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d:QuestionText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d:QuestionText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d:QuestionIntent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xml:lang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="en-GB"&gt;number </a:t>
            </a:r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of   siblings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d:QuestionIntent</a:t>
            </a:r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 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d:GridDimension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rank="1" 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displayCode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="false" 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displayLabel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="false"&gt;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d:CodeDomain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r:CodeListReference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r:ID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&gt;cl1&lt;/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r:ID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r:CodeListReference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d:CodeDomain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d:GridDimension</a:t>
            </a:r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en-GB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d:GridDimension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rank="2" 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displayCode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="false" 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displayLabel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="false"&gt;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d:CodeDomain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r:CodeListReference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r:ID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&gt;cl2&lt;/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r:ID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r:CodeListReference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d:CodeDomain</a:t>
            </a:r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d:GridDimension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d:NumericDomainReference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r:ID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&gt;n1&lt;/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r:ID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r:TypeOfObject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ManagedNumericRepresentation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r:TypeOfObject</a:t>
            </a:r>
            <a:r>
              <a:rPr lang="en-GB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d:NumericDomainReference</a:t>
            </a:r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GB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d:QuestionGrid</a:t>
            </a:r>
            <a:r>
              <a:rPr lang="en-GB" sz="13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GB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1200" y="392668"/>
            <a:ext cx="2615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Example of a simple grid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181600" y="6414870"/>
            <a:ext cx="3563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Source: British Perinatal Mortality Study (1958)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69929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9000" y="2286000"/>
            <a:ext cx="1248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Scales, etc.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84" y="626364"/>
            <a:ext cx="5285232" cy="5605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57799" y="6324600"/>
            <a:ext cx="3563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Source: British Perinatal Mortality Study (1958)</a:t>
            </a:r>
            <a:endParaRPr lang="en-US" sz="1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1676400"/>
            <a:ext cx="14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Complex Grid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679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866118"/>
              </p:ext>
            </p:extLst>
          </p:nvPr>
        </p:nvGraphicFramePr>
        <p:xfrm>
          <a:off x="1243011" y="2133602"/>
          <a:ext cx="6657977" cy="29979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484"/>
                <a:gridCol w="627320"/>
                <a:gridCol w="629860"/>
                <a:gridCol w="360011"/>
                <a:gridCol w="360011"/>
                <a:gridCol w="360011"/>
                <a:gridCol w="360011"/>
                <a:gridCol w="269849"/>
                <a:gridCol w="450172"/>
                <a:gridCol w="360011"/>
                <a:gridCol w="360011"/>
                <a:gridCol w="360011"/>
                <a:gridCol w="450172"/>
                <a:gridCol w="1440043"/>
              </a:tblGrid>
              <a:tr h="509694">
                <a:tc gridSpan="3">
                  <a:txBody>
                    <a:bodyPr/>
                    <a:lstStyle/>
                    <a:p>
                      <a:pPr marL="0" marR="31750" indent="7175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Places you stayed overnight in chronological order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marL="0" marR="31750" indent="7175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31750" indent="7175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Type of accommodation for overnight stays</a:t>
                      </a:r>
                      <a:endParaRPr lang="en-US" sz="1200">
                        <a:effectLst/>
                      </a:endParaRPr>
                    </a:p>
                    <a:p>
                      <a:pPr marL="0" marR="31750" indent="7175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(Please specify the number of nights)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08734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Name of the place</a:t>
                      </a:r>
                      <a:endParaRPr lang="en-US" sz="12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(City, town, etc.)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ctr"/>
                </a:tc>
                <a:tc>
                  <a:txBody>
                    <a:bodyPr/>
                    <a:lstStyle/>
                    <a:p>
                      <a:pPr marL="7112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Total number of nights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ctr"/>
                </a:tc>
                <a:tc>
                  <a:txBody>
                    <a:bodyPr/>
                    <a:lstStyle/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Hotel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vert="vert270"/>
                </a:tc>
                <a:tc>
                  <a:txBody>
                    <a:bodyPr/>
                    <a:lstStyle/>
                    <a:p>
                      <a:pPr marL="71755" marR="71755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</a:endParaRPr>
                    </a:p>
                    <a:p>
                      <a:pPr marL="71755" marR="71755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Motel</a:t>
                      </a:r>
                      <a:endParaRPr lang="en-US" sz="9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vert="vert270"/>
                </a:tc>
                <a:tc>
                  <a:txBody>
                    <a:bodyPr/>
                    <a:lstStyle/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Holiday village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vert="vert270"/>
                </a:tc>
                <a:tc>
                  <a:txBody>
                    <a:bodyPr/>
                    <a:lstStyle/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Pension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vert="vert270"/>
                </a:tc>
                <a:tc>
                  <a:txBody>
                    <a:bodyPr/>
                    <a:lstStyle/>
                    <a:p>
                      <a:pPr marL="0" marR="71755" indent="-3111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   Camp/ Caravan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 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vert="vert270"/>
                </a:tc>
                <a:tc>
                  <a:txBody>
                    <a:bodyPr/>
                    <a:lstStyle/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Youth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And Holiday Camp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vert="vert270"/>
                </a:tc>
                <a:tc>
                  <a:txBody>
                    <a:bodyPr/>
                    <a:lstStyle/>
                    <a:p>
                      <a:pPr marL="0" marR="71755" indent="-1905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Own House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vert="vert270"/>
                </a:tc>
                <a:tc>
                  <a:txBody>
                    <a:bodyPr/>
                    <a:lstStyle/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Rented House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vert="vert270"/>
                </a:tc>
                <a:tc>
                  <a:txBody>
                    <a:bodyPr/>
                    <a:lstStyle/>
                    <a:p>
                      <a:pPr marL="0" marR="71755" indent="-1905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   House of a        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-1905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   relative or friend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-1905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71755" indent="-1905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vert="vert270"/>
                </a:tc>
                <a:tc>
                  <a:txBody>
                    <a:bodyPr/>
                    <a:lstStyle/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In the vehicle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(Cruise, Yacht, Train, TIR)</a:t>
                      </a:r>
                      <a:endParaRPr lang="en-US" sz="9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71755" marR="7175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vert="vert270"/>
                </a:tc>
                <a:tc>
                  <a:txBody>
                    <a:bodyPr/>
                    <a:lstStyle/>
                    <a:p>
                      <a:pPr marL="0" marR="0" indent="7175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indent="7175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Other    (Please specify)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indent="7175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(…………………..........)</a:t>
                      </a:r>
                      <a:endParaRPr lang="en-US" sz="1200">
                        <a:effectLst/>
                      </a:endParaRPr>
                    </a:p>
                    <a:p>
                      <a:pPr marL="0" marR="0" indent="7175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indent="7175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/>
                </a:tc>
              </a:tr>
              <a:tr h="3192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01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02      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03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04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05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06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07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08 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09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10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 11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</a:tr>
              <a:tr h="2937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.....................................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</a:tr>
              <a:tr h="2881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....................................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</a:tr>
              <a:tr h="29236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.....................................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</a:tr>
              <a:tr h="20741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...........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.....................................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0" marB="0" anchor="b"/>
                </a:tc>
              </a:tr>
            </a:tbl>
          </a:graphicData>
        </a:graphic>
      </p:graphicFrame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7054850" y="5208588"/>
            <a:ext cx="0" cy="12541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Freeform 7"/>
          <p:cNvSpPr>
            <a:spLocks/>
          </p:cNvSpPr>
          <p:nvPr/>
        </p:nvSpPr>
        <p:spPr bwMode="auto">
          <a:xfrm>
            <a:off x="5410200" y="5337321"/>
            <a:ext cx="1644650" cy="98425"/>
          </a:xfrm>
          <a:custGeom>
            <a:avLst/>
            <a:gdLst>
              <a:gd name="T0" fmla="*/ 0 w 2648"/>
              <a:gd name="T1" fmla="*/ 0 h 1"/>
              <a:gd name="T2" fmla="*/ 2648 w 2648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648" h="1">
                <a:moveTo>
                  <a:pt x="0" y="0"/>
                </a:moveTo>
                <a:lnTo>
                  <a:pt x="2648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Line 1"/>
          <p:cNvSpPr>
            <a:spLocks noChangeShapeType="1"/>
          </p:cNvSpPr>
          <p:nvPr/>
        </p:nvSpPr>
        <p:spPr bwMode="auto">
          <a:xfrm>
            <a:off x="2971800" y="5229225"/>
            <a:ext cx="0" cy="1047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5110163" y="5238379"/>
            <a:ext cx="0" cy="1047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4"/>
          <p:cNvSpPr>
            <a:spLocks/>
          </p:cNvSpPr>
          <p:nvPr/>
        </p:nvSpPr>
        <p:spPr bwMode="auto">
          <a:xfrm>
            <a:off x="2971800" y="5334000"/>
            <a:ext cx="2138363" cy="90487"/>
          </a:xfrm>
          <a:custGeom>
            <a:avLst/>
            <a:gdLst>
              <a:gd name="T0" fmla="*/ 0 w 3643"/>
              <a:gd name="T1" fmla="*/ 0 h 1"/>
              <a:gd name="T2" fmla="*/ 3643 w 364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643" h="1">
                <a:moveTo>
                  <a:pt x="0" y="0"/>
                </a:moveTo>
                <a:lnTo>
                  <a:pt x="3643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Line 2"/>
          <p:cNvSpPr>
            <a:spLocks noChangeShapeType="1"/>
          </p:cNvSpPr>
          <p:nvPr/>
        </p:nvSpPr>
        <p:spPr bwMode="auto">
          <a:xfrm rot="21420000" flipH="1">
            <a:off x="4003968" y="5343532"/>
            <a:ext cx="11113" cy="2095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rot="21420000" flipH="1">
            <a:off x="6214098" y="5337468"/>
            <a:ext cx="11113" cy="2095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5410200" y="5205428"/>
            <a:ext cx="0" cy="12541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219200" y="1588177"/>
            <a:ext cx="678180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7143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14. Please write down the names of the places you stayed overnight and the duration of the stays in chronological order separately.</a:t>
            </a:r>
            <a:endParaRPr kumimoji="0" lang="en-US" altLang="en-US" sz="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2285129" y="5638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</a:t>
            </a:r>
            <a:endParaRPr kumimoji="0" lang="en-US" altLang="en-US" sz="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1" u="none" strike="noStrike" cap="none" normalizeH="0" baseline="0" dirty="0" smtClean="0">
                <a:ln>
                  <a:noFill/>
                </a:ln>
                <a:solidFill>
                  <a:srgbClr val="80008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</a:t>
            </a:r>
            <a:r>
              <a:rPr kumimoji="0" lang="en-US" altLang="en-US" sz="1000" b="1" i="1" u="sng" strike="noStrike" cap="none" normalizeH="0" baseline="0" dirty="0" smtClean="0">
                <a:ln>
                  <a:noFill/>
                </a:ln>
                <a:solidFill>
                  <a:srgbClr val="80008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(Go to Question 15)</a:t>
            </a:r>
            <a:r>
              <a:rPr kumimoji="0" lang="en-US" altLang="en-US" sz="1000" b="1" i="1" u="none" strike="noStrike" cap="none" normalizeH="0" baseline="0" dirty="0" smtClean="0">
                <a:ln>
                  <a:noFill/>
                </a:ln>
                <a:solidFill>
                  <a:srgbClr val="80008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	                     </a:t>
            </a:r>
            <a:r>
              <a:rPr kumimoji="0" lang="en-US" altLang="en-US" sz="1000" b="1" i="1" u="sng" strike="noStrike" cap="none" normalizeH="0" baseline="0" dirty="0" smtClean="0">
                <a:ln>
                  <a:noFill/>
                </a:ln>
                <a:solidFill>
                  <a:srgbClr val="80008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(Go to Question 17)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67400" y="6172200"/>
            <a:ext cx="2932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Source: TURKSTAT Tourism Survey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2709291" y="1048136"/>
            <a:ext cx="3801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Question Grids with Roster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1266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095" y="381000"/>
            <a:ext cx="4185122" cy="59436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62000" y="1143000"/>
            <a:ext cx="14205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Question</a:t>
            </a:r>
          </a:p>
          <a:p>
            <a:r>
              <a:rPr lang="en-US" sz="2400" dirty="0" smtClean="0"/>
              <a:t>Block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803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Response Domains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Location of marks on an image or recording</a:t>
            </a:r>
          </a:p>
          <a:p>
            <a:r>
              <a:rPr lang="en-US" dirty="0" smtClean="0"/>
              <a:t>Nominal level (for grids – checked or unchecked)</a:t>
            </a:r>
          </a:p>
          <a:p>
            <a:r>
              <a:rPr lang="en-US" dirty="0" smtClean="0"/>
              <a:t>Ranking (place categories in a specific order)</a:t>
            </a:r>
          </a:p>
          <a:p>
            <a:r>
              <a:rPr lang="en-US" dirty="0" smtClean="0"/>
              <a:t>Distribution (distribute a total value among a number of categories)</a:t>
            </a:r>
          </a:p>
          <a:p>
            <a:r>
              <a:rPr lang="en-US" dirty="0" smtClean="0"/>
              <a:t>Direct use of Geographic Structure and Location Codes</a:t>
            </a:r>
          </a:p>
          <a:p>
            <a:r>
              <a:rPr lang="en-US" dirty="0" smtClean="0"/>
              <a:t>Scales (anchored, unanchored, with/without a continuous line, etc.)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30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310" y="2743200"/>
            <a:ext cx="5705856" cy="9006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731060"/>
            <a:ext cx="6094476" cy="12344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338" y="4267200"/>
            <a:ext cx="2509800" cy="184554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33400" y="4648200"/>
            <a:ext cx="990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Scales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679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DDI is not fully there but 3.2 dramatically improves support for concept management and expression</a:t>
            </a:r>
          </a:p>
          <a:p>
            <a:r>
              <a:rPr lang="en-US" dirty="0" smtClean="0"/>
              <a:t>Alignment with GSIM content regarding Concepts, Conceptual Variables, and Represented Variables</a:t>
            </a:r>
          </a:p>
          <a:p>
            <a:r>
              <a:rPr lang="en-US" dirty="0" smtClean="0"/>
              <a:t>Managed representations allow numeric, textual, </a:t>
            </a:r>
            <a:r>
              <a:rPr lang="en-US" dirty="0" err="1" smtClean="0"/>
              <a:t>datatime</a:t>
            </a:r>
            <a:r>
              <a:rPr lang="en-US" dirty="0" smtClean="0"/>
              <a:t> and other representations to be captured once and reused</a:t>
            </a:r>
          </a:p>
          <a:p>
            <a:pPr lvl="1"/>
            <a:r>
              <a:rPr lang="en-US" dirty="0" smtClean="0"/>
              <a:t>BONUS: managed representations can be mapped for comparison, i.e. a numeric representation of age to a coded set of age cohorts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17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64419" y="1583924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Universe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562599" y="1589842"/>
            <a:ext cx="1295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Concept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658709" y="3050959"/>
            <a:ext cx="1981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Value Representation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552852" y="4690369"/>
            <a:ext cx="1447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Category Scheme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724920" y="4690369"/>
            <a:ext cx="182879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Code Representation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237672" y="4601592"/>
            <a:ext cx="17907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Described representation</a:t>
            </a:r>
            <a:endParaRPr lang="en-US" dirty="0"/>
          </a:p>
        </p:txBody>
      </p:sp>
      <p:cxnSp>
        <p:nvCxnSpPr>
          <p:cNvPr id="10" name="Straight Connector 9"/>
          <p:cNvCxnSpPr>
            <a:stCxn id="2" idx="3"/>
            <a:endCxn id="3" idx="1"/>
          </p:cNvCxnSpPr>
          <p:nvPr/>
        </p:nvCxnSpPr>
        <p:spPr>
          <a:xfrm>
            <a:off x="3736019" y="2041124"/>
            <a:ext cx="1826580" cy="59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37625" y="958334"/>
            <a:ext cx="219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Conceptual Variable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4649309" y="2656188"/>
            <a:ext cx="0" cy="381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66898" y="958334"/>
            <a:ext cx="5562600" cy="1676400"/>
          </a:xfrm>
          <a:prstGeom prst="rect">
            <a:avLst/>
          </a:prstGeom>
          <a:solidFill>
            <a:srgbClr val="FDE5CD">
              <a:alpha val="902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2357021" y="3981635"/>
            <a:ext cx="1943100" cy="6858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7" idx="0"/>
            <a:endCxn id="5" idx="2"/>
          </p:cNvCxnSpPr>
          <p:nvPr/>
        </p:nvCxnSpPr>
        <p:spPr>
          <a:xfrm flipV="1">
            <a:off x="4639320" y="3965359"/>
            <a:ext cx="9989" cy="7250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953000" y="3965359"/>
            <a:ext cx="2076450" cy="6096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342602" y="707624"/>
            <a:ext cx="6781800" cy="3581400"/>
          </a:xfrm>
          <a:prstGeom prst="rect">
            <a:avLst/>
          </a:prstGeom>
          <a:solidFill>
            <a:srgbClr val="FDE5CD">
              <a:alpha val="902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/>
          <p:cNvCxnSpPr>
            <a:stCxn id="6" idx="3"/>
            <a:endCxn id="7" idx="1"/>
          </p:cNvCxnSpPr>
          <p:nvPr/>
        </p:nvCxnSpPr>
        <p:spPr>
          <a:xfrm>
            <a:off x="3000652" y="5147569"/>
            <a:ext cx="724268" cy="0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502468" y="2656188"/>
            <a:ext cx="2291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Represented Variable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91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12" grpId="0"/>
      <p:bldP spid="16" grpId="0" animBg="1"/>
      <p:bldP spid="25" grpId="0" animBg="1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 Management: 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Capture information on Quality Frameworks, Quality Standards, and other means of assuring the quality of the data, metadata, and process.</a:t>
            </a:r>
          </a:p>
          <a:p>
            <a:r>
              <a:rPr lang="en-US" dirty="0" smtClean="0"/>
              <a:t>Quality statements can be referenced from many levels within DDI</a:t>
            </a:r>
          </a:p>
          <a:p>
            <a:r>
              <a:rPr lang="en-US" dirty="0" smtClean="0"/>
              <a:t>Additional content to reflect authorization, legal status, budget, and evaluation procedures have been added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11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Organization Scheme content has been cleaned up and stripped down</a:t>
            </a:r>
          </a:p>
          <a:p>
            <a:r>
              <a:rPr lang="en-US" dirty="0" smtClean="0"/>
              <a:t>Organization and Individual information can be better managed over time (specific contact information is time stamped, etc.)</a:t>
            </a:r>
          </a:p>
          <a:p>
            <a:r>
              <a:rPr lang="en-US" dirty="0" smtClean="0"/>
              <a:t>Relationships between any two Organizations and/or Individuals is tracked separately under “Relation”. Roles are assigned as part of the Relation</a:t>
            </a:r>
          </a:p>
          <a:p>
            <a:r>
              <a:rPr lang="en-US" dirty="0" smtClean="0"/>
              <a:t>Locations in DDI where names are associated with specific roles within the context of the Study can now reference an Individual or Organization</a:t>
            </a:r>
          </a:p>
          <a:p>
            <a:pPr marL="777240" lvl="2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Content Management: Actors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03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Supports inclusion of all major packaging types as submitted (deposited) content (StudyUnit, Group, ResourcePackage)</a:t>
            </a:r>
          </a:p>
          <a:p>
            <a:r>
              <a:rPr lang="en-US" dirty="0" smtClean="0"/>
              <a:t>Supports Local Added Content of all packaging types</a:t>
            </a:r>
          </a:p>
          <a:p>
            <a:r>
              <a:rPr lang="en-US" dirty="0" smtClean="0"/>
              <a:t>Links Local Added Content to Submitted (Deposited) content by mapping</a:t>
            </a:r>
          </a:p>
          <a:p>
            <a:pPr lvl="1"/>
            <a:r>
              <a:rPr lang="en-US" dirty="0" smtClean="0"/>
              <a:t>Local Object Reference</a:t>
            </a:r>
          </a:p>
          <a:p>
            <a:pPr lvl="1"/>
            <a:r>
              <a:rPr lang="en-US" dirty="0" smtClean="0"/>
              <a:t>Depository Object Reference</a:t>
            </a:r>
          </a:p>
          <a:p>
            <a:pPr lvl="1"/>
            <a:r>
              <a:rPr lang="en-US" dirty="0" smtClean="0"/>
              <a:t>Relationship Action (</a:t>
            </a:r>
            <a:r>
              <a:rPr lang="en-US" dirty="0" err="1" smtClean="0"/>
              <a:t>CodeValueType</a:t>
            </a:r>
            <a:r>
              <a:rPr lang="en-US" dirty="0" smtClean="0"/>
              <a:t>) i.e. </a:t>
            </a:r>
            <a:r>
              <a:rPr lang="en-US" dirty="0" err="1" smtClean="0"/>
              <a:t>Overides</a:t>
            </a:r>
            <a:r>
              <a:rPr lang="en-US" dirty="0" smtClean="0"/>
              <a:t>, Deletes, Extends, Restricts, etc.</a:t>
            </a:r>
          </a:p>
          <a:p>
            <a:pPr lvl="1"/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Management: Archiving</a:t>
            </a:r>
          </a:p>
        </p:txBody>
      </p:sp>
    </p:spTree>
    <p:extLst>
      <p:ext uri="{BB962C8B-B14F-4D97-AF65-F5344CB8AC3E}">
        <p14:creationId xmlns:p14="http://schemas.microsoft.com/office/powerpoint/2010/main" val="381254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Bundling equivalent content expressed in multiple languages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r:Label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xml:lang=“en”&gt;What is it?&lt;/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r:Label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r:Label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xml:lang=“de”&gt;Was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ist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das?&lt;/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r:Label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r:Label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r:String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xml:lang=“en”&gt;What is it?&lt;/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r:String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r:String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xml:lang=“de”&gt;Was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das?&lt;/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r:String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r:Label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Language Consistency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60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Added composite geographies (Metropolitan Areas – composite of counties)</a:t>
            </a:r>
          </a:p>
          <a:p>
            <a:r>
              <a:rPr lang="en-US" dirty="0" smtClean="0"/>
              <a:t>Improved management of geographic change over time</a:t>
            </a:r>
          </a:p>
          <a:p>
            <a:r>
              <a:rPr lang="en-US" dirty="0" smtClean="0"/>
              <a:t>Added ability to use geographic structures (names and codes) and geographic locations (names and codes) directly as representations or response domains</a:t>
            </a:r>
          </a:p>
          <a:p>
            <a:r>
              <a:rPr lang="en-US" dirty="0" smtClean="0"/>
              <a:t>Added ability to reference specific locations for the purpose of defining Spatial Coverage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Geographic content consistency</a:t>
            </a:r>
          </a:p>
        </p:txBody>
      </p:sp>
    </p:spTree>
    <p:extLst>
      <p:ext uri="{BB962C8B-B14F-4D97-AF65-F5344CB8AC3E}">
        <p14:creationId xmlns:p14="http://schemas.microsoft.com/office/powerpoint/2010/main" val="2701217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All schemes have the following structural features</a:t>
            </a:r>
          </a:p>
          <a:p>
            <a:pPr lvl="1"/>
            <a:r>
              <a:rPr lang="en-US" dirty="0" err="1" smtClean="0"/>
              <a:t>XxxxSchemeName</a:t>
            </a:r>
            <a:r>
              <a:rPr lang="en-US" dirty="0" smtClean="0"/>
              <a:t>, Label, Description</a:t>
            </a:r>
          </a:p>
          <a:p>
            <a:pPr lvl="1"/>
            <a:r>
              <a:rPr lang="en-US" dirty="0" smtClean="0"/>
              <a:t>Inclusion of a scheme by reference</a:t>
            </a:r>
          </a:p>
          <a:p>
            <a:pPr lvl="1"/>
            <a:r>
              <a:rPr lang="en-US" dirty="0" smtClean="0"/>
              <a:t>Object type included in-line or by reference</a:t>
            </a:r>
          </a:p>
          <a:p>
            <a:pPr lvl="1"/>
            <a:r>
              <a:rPr lang="en-US" dirty="0" smtClean="0"/>
              <a:t>Object Group included in-line or by reference</a:t>
            </a:r>
          </a:p>
          <a:p>
            <a:r>
              <a:rPr lang="en-US" dirty="0" smtClean="0"/>
              <a:t>All schemes have an </a:t>
            </a:r>
            <a:r>
              <a:rPr lang="en-US" dirty="0" err="1" smtClean="0"/>
              <a:t>XxxxGroup</a:t>
            </a:r>
            <a:r>
              <a:rPr lang="en-US" dirty="0" smtClean="0"/>
              <a:t> to support grouping for administrative or conceptual purposes</a:t>
            </a:r>
          </a:p>
          <a:p>
            <a:pPr lvl="1"/>
            <a:r>
              <a:rPr lang="en-US" dirty="0" err="1" smtClean="0"/>
              <a:t>XxxxGroupName</a:t>
            </a:r>
            <a:r>
              <a:rPr lang="en-US" dirty="0" smtClean="0"/>
              <a:t>, Label, Description, and </a:t>
            </a:r>
            <a:r>
              <a:rPr lang="en-US" dirty="0" err="1" smtClean="0"/>
              <a:t>TypeOfXxxxGroup</a:t>
            </a:r>
            <a:endParaRPr lang="en-US" dirty="0" smtClean="0"/>
          </a:p>
          <a:p>
            <a:pPr lvl="1"/>
            <a:r>
              <a:rPr lang="en-US" dirty="0" smtClean="0"/>
              <a:t>Universe and Concept references</a:t>
            </a:r>
          </a:p>
          <a:p>
            <a:pPr lvl="1"/>
            <a:r>
              <a:rPr lang="en-US" dirty="0" smtClean="0"/>
              <a:t>Subject and Keyword</a:t>
            </a:r>
          </a:p>
          <a:p>
            <a:pPr lvl="1"/>
            <a:r>
              <a:rPr lang="en-US" dirty="0" smtClean="0"/>
              <a:t>Group and object included by reference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Scheme structure consistency</a:t>
            </a:r>
          </a:p>
        </p:txBody>
      </p:sp>
    </p:spTree>
    <p:extLst>
      <p:ext uri="{BB962C8B-B14F-4D97-AF65-F5344CB8AC3E}">
        <p14:creationId xmlns:p14="http://schemas.microsoft.com/office/powerpoint/2010/main" val="4897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number of new tools are already available for 3.2</a:t>
            </a:r>
          </a:p>
          <a:p>
            <a:pPr lvl="1"/>
            <a:r>
              <a:rPr lang="en-US" dirty="0" err="1" smtClean="0"/>
              <a:t>Colectica</a:t>
            </a:r>
            <a:endParaRPr lang="en-US" dirty="0" smtClean="0"/>
          </a:p>
          <a:p>
            <a:pPr lvl="1"/>
            <a:r>
              <a:rPr lang="en-US" dirty="0" err="1" smtClean="0"/>
              <a:t>Rogatus</a:t>
            </a:r>
            <a:r>
              <a:rPr lang="en-US" dirty="0" smtClean="0"/>
              <a:t> Platform</a:t>
            </a:r>
          </a:p>
          <a:p>
            <a:r>
              <a:rPr lang="en-US" dirty="0" smtClean="0"/>
              <a:t>If DDI-C or DDI-L 3.1 does it for you and there are tools to support your work, USE THEM</a:t>
            </a:r>
          </a:p>
          <a:p>
            <a:pPr lvl="1"/>
            <a:r>
              <a:rPr lang="en-US" dirty="0" smtClean="0"/>
              <a:t>But….pay attention to the consistency changes made in 3.2 to make your work easy to migrate forward. These changes were made in anticipation of future version needs.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if I’m just starting out?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31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Technical Committee – ddi-srg@icpsr.umich.edu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46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428</TotalTime>
  <Words>1828</Words>
  <Application>Microsoft Office PowerPoint</Application>
  <PresentationFormat>On-screen Show (4:3)</PresentationFormat>
  <Paragraphs>367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Paper</vt:lpstr>
      <vt:lpstr>To 3.2 or Not to 3.2? That is the Question</vt:lpstr>
      <vt:lpstr>“Whether ‘tis nobler in the mind to suffer the slings and arrows…”*</vt:lpstr>
      <vt:lpstr>There’s so many changes and I’ve got software for 3.1. Do I want to go through the pain of change? </vt:lpstr>
      <vt:lpstr>“And makes us rather bear those ills we have, Than fly to others that we know not of.”*</vt:lpstr>
      <vt:lpstr>“And makes us rather bear those ills we have, Than fly to others that we know not of.”*</vt:lpstr>
      <vt:lpstr>“And makes us rather bear those ills we have, Than fly to others that we know not of.”*</vt:lpstr>
      <vt:lpstr>“And makes us rather bear those ills we have, Than fly to others that we know not of.”*</vt:lpstr>
      <vt:lpstr>“And makes us rather bear those ills we have, Than fly to others that we know not of.”*</vt:lpstr>
      <vt:lpstr>“And makes us rather bear those ills we have, Than fly to others that we know not of.”*</vt:lpstr>
      <vt:lpstr>What took so long? I really need 3.2 to do my work! </vt:lpstr>
      <vt:lpstr>“'Tis a consummation Devoutly to be wished.”*</vt:lpstr>
      <vt:lpstr>Complex Questionnaires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Response Domains</vt:lpstr>
      <vt:lpstr>PowerPoint Presentation</vt:lpstr>
      <vt:lpstr>Concept Management</vt:lpstr>
      <vt:lpstr>PowerPoint Presentation</vt:lpstr>
      <vt:lpstr>Content Management: Quality</vt:lpstr>
      <vt:lpstr>Content Management: Actors</vt:lpstr>
      <vt:lpstr>Content Management: Archiving</vt:lpstr>
      <vt:lpstr>Language Consistency</vt:lpstr>
      <vt:lpstr>Geographic content consistency</vt:lpstr>
      <vt:lpstr>Scheme structure consistency</vt:lpstr>
      <vt:lpstr>What if I’m just starting out?</vt:lpstr>
      <vt:lpstr>Questions?</vt:lpstr>
    </vt:vector>
  </TitlesOfParts>
  <Company>University of Minnesota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“To 3.2 or Not to 3.2?” That is the Question</dc:title>
  <dc:creator>Wendy L Thomas</dc:creator>
  <cp:lastModifiedBy>Wendy</cp:lastModifiedBy>
  <cp:revision>28</cp:revision>
  <dcterms:created xsi:type="dcterms:W3CDTF">2013-11-18T15:09:50Z</dcterms:created>
  <dcterms:modified xsi:type="dcterms:W3CDTF">2013-11-30T16:44:23Z</dcterms:modified>
</cp:coreProperties>
</file>