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66" r:id="rId2"/>
    <p:sldId id="276" r:id="rId3"/>
    <p:sldId id="278" r:id="rId4"/>
    <p:sldId id="268" r:id="rId5"/>
    <p:sldId id="270" r:id="rId6"/>
    <p:sldId id="269" r:id="rId7"/>
    <p:sldId id="271" r:id="rId8"/>
    <p:sldId id="277" r:id="rId9"/>
    <p:sldId id="272" r:id="rId10"/>
    <p:sldId id="273" r:id="rId11"/>
    <p:sldId id="275" r:id="rId12"/>
    <p:sldId id="267" r:id="rId13"/>
  </p:sldIdLst>
  <p:sldSz cx="9906000" cy="6858000" type="A4"/>
  <p:notesSz cx="6669088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DF68"/>
    <a:srgbClr val="FDE1BB"/>
    <a:srgbClr val="B0B7D3"/>
    <a:srgbClr val="FBBA00"/>
    <a:srgbClr val="003F7D"/>
    <a:srgbClr val="CCCFE2"/>
    <a:srgbClr val="E2DEBD"/>
    <a:srgbClr val="B9B6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-306" y="24"/>
      </p:cViewPr>
      <p:guideLst>
        <p:guide orient="horz" pos="2268"/>
        <p:guide pos="533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89" tIns="45994" rIns="91989" bIns="45994" numCol="1" anchor="t" anchorCtr="0" compatLnSpc="1">
            <a:prstTxWarp prst="textNoShape">
              <a:avLst/>
            </a:prstTxWarp>
          </a:bodyPr>
          <a:lstStyle>
            <a:lvl1pPr defTabSz="919163">
              <a:defRPr sz="1200"/>
            </a:lvl1pPr>
          </a:lstStyle>
          <a:p>
            <a:endParaRPr lang="de-DE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6663" y="0"/>
            <a:ext cx="2890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89" tIns="45994" rIns="91989" bIns="45994" numCol="1" anchor="t" anchorCtr="0" compatLnSpc="1">
            <a:prstTxWarp prst="textNoShape">
              <a:avLst/>
            </a:prstTxWarp>
          </a:bodyPr>
          <a:lstStyle>
            <a:lvl1pPr algn="r" defTabSz="919163">
              <a:defRPr sz="1200"/>
            </a:lvl1pPr>
          </a:lstStyle>
          <a:p>
            <a:endParaRPr lang="de-DE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46113" y="744538"/>
            <a:ext cx="537845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4875"/>
            <a:ext cx="53355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89" tIns="45994" rIns="91989" bIns="459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890838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89" tIns="45994" rIns="91989" bIns="45994" numCol="1" anchor="b" anchorCtr="0" compatLnSpc="1">
            <a:prstTxWarp prst="textNoShape">
              <a:avLst/>
            </a:prstTxWarp>
          </a:bodyPr>
          <a:lstStyle>
            <a:lvl1pPr defTabSz="919163">
              <a:defRPr sz="1200"/>
            </a:lvl1pPr>
          </a:lstStyle>
          <a:p>
            <a:endParaRPr lang="de-DE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6663" y="9428163"/>
            <a:ext cx="2890837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89" tIns="45994" rIns="91989" bIns="45994" numCol="1" anchor="b" anchorCtr="0" compatLnSpc="1">
            <a:prstTxWarp prst="textNoShape">
              <a:avLst/>
            </a:prstTxWarp>
          </a:bodyPr>
          <a:lstStyle>
            <a:lvl1pPr algn="r" defTabSz="919163">
              <a:defRPr sz="1200"/>
            </a:lvl1pPr>
          </a:lstStyle>
          <a:p>
            <a:fld id="{E3E35852-AA75-4DA6-9856-4DF21D96EB15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71529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E35852-AA75-4DA6-9856-4DF21D96EB15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9885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36" name="Picture 20" descr="LOGO-FDZ-englisch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0" y="0"/>
            <a:ext cx="3048000" cy="1438275"/>
          </a:xfrm>
          <a:prstGeom prst="rect">
            <a:avLst/>
          </a:prstGeom>
          <a:noFill/>
        </p:spPr>
      </p:pic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438275"/>
            <a:ext cx="9906000" cy="1439863"/>
          </a:xfrm>
          <a:solidFill>
            <a:srgbClr val="003F7D"/>
          </a:solidFill>
        </p:spPr>
        <p:txBody>
          <a:bodyPr/>
          <a:lstStyle>
            <a:lvl1pPr marL="628650">
              <a:defRPr sz="3500">
                <a:solidFill>
                  <a:srgbClr val="FFFFFF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28650" y="3471863"/>
            <a:ext cx="8416925" cy="2706687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321800" y="6318250"/>
            <a:ext cx="584200" cy="539750"/>
          </a:xfrm>
        </p:spPr>
        <p:txBody>
          <a:bodyPr/>
          <a:lstStyle>
            <a:lvl1pPr>
              <a:defRPr sz="1400"/>
            </a:lvl1pPr>
          </a:lstStyle>
          <a:p>
            <a:fld id="{1290EB8D-D4E8-42FC-9AA8-B8D10123E845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9230" name="Text Box 14"/>
          <p:cNvSpPr txBox="1">
            <a:spLocks noChangeArrowheads="1"/>
          </p:cNvSpPr>
          <p:nvPr userDrawn="1"/>
        </p:nvSpPr>
        <p:spPr bwMode="auto">
          <a:xfrm>
            <a:off x="0" y="2878138"/>
            <a:ext cx="719138" cy="719137"/>
          </a:xfrm>
          <a:prstGeom prst="rect">
            <a:avLst/>
          </a:prstGeom>
          <a:solidFill>
            <a:srgbClr val="B9B663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</a:pPr>
            <a:endParaRPr lang="de-DE"/>
          </a:p>
        </p:txBody>
      </p:sp>
      <p:sp>
        <p:nvSpPr>
          <p:cNvPr id="9232" name="Text Box 16"/>
          <p:cNvSpPr txBox="1">
            <a:spLocks noChangeArrowheads="1"/>
          </p:cNvSpPr>
          <p:nvPr userDrawn="1"/>
        </p:nvSpPr>
        <p:spPr bwMode="auto">
          <a:xfrm>
            <a:off x="8467725" y="1438275"/>
            <a:ext cx="1439863" cy="1439863"/>
          </a:xfrm>
          <a:prstGeom prst="rect">
            <a:avLst/>
          </a:prstGeom>
          <a:solidFill>
            <a:srgbClr val="647AA9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</a:pPr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CDF95F4-CABB-4217-93FB-588F57CEDAEC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1969794-EF09-4BC5-9272-8E8095A53C41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28650" y="1798638"/>
            <a:ext cx="4259263" cy="4394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40313" y="1798638"/>
            <a:ext cx="4259262" cy="4394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C6C51BD-02B0-4D3E-AF16-A7197C66CF8E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16B2064-2357-495A-8971-6CF6582325CD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49B7DC4-FD6D-4374-A2A7-25203D982D58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6CFD96B-DA76-4986-9744-995212BA83D5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5434671-4D52-455B-BCD6-64CE4179F796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D2E87E0-ABEA-4D84-A353-21E6FDBF245D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DB08E46-04F6-4F4C-B63C-2650F8C14913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132638" y="692150"/>
            <a:ext cx="2166937" cy="550068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28650" y="692150"/>
            <a:ext cx="6351588" cy="5500688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A17F995-A386-4609-8B26-AED7E1CE9D47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Text Box 18"/>
          <p:cNvSpPr txBox="1">
            <a:spLocks noChangeArrowheads="1"/>
          </p:cNvSpPr>
          <p:nvPr/>
        </p:nvSpPr>
        <p:spPr bwMode="auto">
          <a:xfrm>
            <a:off x="0" y="0"/>
            <a:ext cx="8467725" cy="684213"/>
          </a:xfrm>
          <a:prstGeom prst="rect">
            <a:avLst/>
          </a:prstGeom>
          <a:solidFill>
            <a:srgbClr val="003F7D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</a:pPr>
            <a:endParaRPr lang="de-DE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1825" y="692150"/>
            <a:ext cx="7880350" cy="71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Überschrift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798638"/>
            <a:ext cx="8670925" cy="439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45638" y="6497638"/>
            <a:ext cx="360362" cy="360362"/>
          </a:xfrm>
          <a:prstGeom prst="rect">
            <a:avLst/>
          </a:prstGeom>
          <a:solidFill>
            <a:srgbClr val="003F7D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2DBC399-0D2A-4769-8A10-9213F9C7716A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1044" name="Text Box 20"/>
          <p:cNvSpPr txBox="1">
            <a:spLocks noChangeArrowheads="1"/>
          </p:cNvSpPr>
          <p:nvPr/>
        </p:nvSpPr>
        <p:spPr bwMode="auto">
          <a:xfrm>
            <a:off x="0" y="6497638"/>
            <a:ext cx="8467725" cy="360362"/>
          </a:xfrm>
          <a:prstGeom prst="rect">
            <a:avLst/>
          </a:prstGeom>
          <a:solidFill>
            <a:srgbClr val="003F7D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</a:pPr>
            <a:endParaRPr lang="de-DE"/>
          </a:p>
        </p:txBody>
      </p:sp>
      <p:sp>
        <p:nvSpPr>
          <p:cNvPr id="1045" name="Text Box 21"/>
          <p:cNvSpPr txBox="1">
            <a:spLocks noChangeArrowheads="1"/>
          </p:cNvSpPr>
          <p:nvPr/>
        </p:nvSpPr>
        <p:spPr bwMode="auto">
          <a:xfrm>
            <a:off x="8467725" y="6497638"/>
            <a:ext cx="1085850" cy="360362"/>
          </a:xfrm>
          <a:prstGeom prst="rect">
            <a:avLst/>
          </a:prstGeom>
          <a:solidFill>
            <a:srgbClr val="B0B7D3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</a:pPr>
            <a:endParaRPr lang="de-DE"/>
          </a:p>
        </p:txBody>
      </p:sp>
      <p:pic>
        <p:nvPicPr>
          <p:cNvPr id="1051" name="Picture 27" descr="LOGO-FDZ-englisch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455025" y="0"/>
            <a:ext cx="1450975" cy="684213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rgbClr val="003F7D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rgbClr val="003F7D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rgbClr val="003F7D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rgbClr val="003F7D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rgbClr val="003F7D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03F7D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03F7D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03F7D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03F7D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003F7D"/>
        </a:buClr>
        <a:buSzPct val="110000"/>
        <a:buFont typeface="Wingdings" pitchFamily="2" charset="2"/>
        <a:buChar char="§"/>
        <a:defRPr sz="2800">
          <a:solidFill>
            <a:srgbClr val="003F7D"/>
          </a:solidFill>
          <a:latin typeface="+mn-lt"/>
          <a:ea typeface="+mn-ea"/>
          <a:cs typeface="+mn-cs"/>
        </a:defRPr>
      </a:lvl1pPr>
      <a:lvl2pPr marL="822325" indent="-300038" algn="l" rtl="0" fontAlgn="base">
        <a:spcBef>
          <a:spcPct val="20000"/>
        </a:spcBef>
        <a:spcAft>
          <a:spcPct val="0"/>
        </a:spcAft>
        <a:buClr>
          <a:srgbClr val="003F7D"/>
        </a:buClr>
        <a:buSzPct val="110000"/>
        <a:buFont typeface="Wingdings" pitchFamily="2" charset="2"/>
        <a:buChar char="§"/>
        <a:defRPr sz="2400">
          <a:solidFill>
            <a:srgbClr val="003F7D"/>
          </a:solidFill>
          <a:latin typeface="+mn-lt"/>
        </a:defRPr>
      </a:lvl2pPr>
      <a:lvl3pPr marL="1230313" indent="-228600" algn="l" rtl="0" fontAlgn="base">
        <a:spcBef>
          <a:spcPct val="20000"/>
        </a:spcBef>
        <a:spcAft>
          <a:spcPct val="0"/>
        </a:spcAft>
        <a:buClr>
          <a:srgbClr val="003F7D"/>
        </a:buClr>
        <a:buSzPct val="110000"/>
        <a:buFont typeface="Wingdings" pitchFamily="2" charset="2"/>
        <a:buChar char="§"/>
        <a:defRPr sz="2000">
          <a:solidFill>
            <a:srgbClr val="003F7D"/>
          </a:solidFill>
          <a:latin typeface="+mn-lt"/>
        </a:defRPr>
      </a:lvl3pPr>
      <a:lvl4pPr marL="1638300" indent="-228600" algn="l" rtl="0" fontAlgn="base">
        <a:spcBef>
          <a:spcPct val="20000"/>
        </a:spcBef>
        <a:spcAft>
          <a:spcPct val="0"/>
        </a:spcAft>
        <a:buClr>
          <a:srgbClr val="003F7D"/>
        </a:buClr>
        <a:buSzPct val="110000"/>
        <a:buFont typeface="Wingdings" pitchFamily="2" charset="2"/>
        <a:buChar char="§"/>
        <a:defRPr>
          <a:solidFill>
            <a:srgbClr val="003F7D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000080"/>
        </a:buClr>
        <a:buSzPct val="110000"/>
        <a:buFont typeface="Wingdings" pitchFamily="2" charset="2"/>
        <a:buChar char="§"/>
        <a:defRPr>
          <a:solidFill>
            <a:schemeClr val="tx1"/>
          </a:solidFill>
          <a:latin typeface="Agfa Rotis Semisans" pitchFamily="2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0080"/>
        </a:buClr>
        <a:buSzPct val="110000"/>
        <a:buFont typeface="Wingdings" pitchFamily="2" charset="2"/>
        <a:buChar char="§"/>
        <a:defRPr>
          <a:solidFill>
            <a:schemeClr val="tx1"/>
          </a:solidFill>
          <a:latin typeface="Agfa Rotis Semisans" pitchFamily="2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0080"/>
        </a:buClr>
        <a:buSzPct val="110000"/>
        <a:buFont typeface="Wingdings" pitchFamily="2" charset="2"/>
        <a:buChar char="§"/>
        <a:defRPr>
          <a:solidFill>
            <a:schemeClr val="tx1"/>
          </a:solidFill>
          <a:latin typeface="Agfa Rotis Semisans" pitchFamily="2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0080"/>
        </a:buClr>
        <a:buSzPct val="110000"/>
        <a:buFont typeface="Wingdings" pitchFamily="2" charset="2"/>
        <a:buChar char="§"/>
        <a:defRPr>
          <a:solidFill>
            <a:schemeClr val="tx1"/>
          </a:solidFill>
          <a:latin typeface="Agfa Rotis Semisans" pitchFamily="2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0080"/>
        </a:buClr>
        <a:buSzPct val="110000"/>
        <a:buFont typeface="Wingdings" pitchFamily="2" charset="2"/>
        <a:buChar char="§"/>
        <a:defRPr>
          <a:solidFill>
            <a:schemeClr val="tx1"/>
          </a:solidFill>
          <a:latin typeface="Agfa Rotis Semisans" pitchFamily="2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438275"/>
            <a:ext cx="8467725" cy="1439863"/>
          </a:xfrm>
          <a:ln/>
        </p:spPr>
        <p:txBody>
          <a:bodyPr>
            <a:normAutofit fontScale="90000"/>
          </a:bodyPr>
          <a:lstStyle/>
          <a:p>
            <a:r>
              <a:rPr lang="en-GB" sz="3600" dirty="0"/>
              <a:t>Harmonizing Between Different Agencies</a:t>
            </a:r>
            <a:r>
              <a:rPr lang="de-DE" sz="3600" dirty="0"/>
              <a:t/>
            </a:r>
            <a:br>
              <a:rPr lang="de-DE" sz="3600" dirty="0"/>
            </a:br>
            <a:r>
              <a:rPr lang="en-GB" sz="3600" dirty="0"/>
              <a:t>Using DDI Profiles</a:t>
            </a:r>
            <a:endParaRPr lang="de-DE" sz="3300" dirty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28650" y="3514725"/>
            <a:ext cx="5329238" cy="2663825"/>
          </a:xfrm>
          <a:noFill/>
          <a:ln/>
        </p:spPr>
        <p:txBody>
          <a:bodyPr/>
          <a:lstStyle/>
          <a:p>
            <a:r>
              <a:rPr lang="de-DE" sz="2400" dirty="0" smtClean="0"/>
              <a:t>EDDI 2013</a:t>
            </a:r>
            <a:endParaRPr lang="de-DE" sz="2400" dirty="0"/>
          </a:p>
          <a:p>
            <a:r>
              <a:rPr lang="de-DE" sz="2400" dirty="0" smtClean="0"/>
              <a:t>04.12.2013, Paris</a:t>
            </a:r>
            <a:endParaRPr lang="de-DE" sz="2400" dirty="0"/>
          </a:p>
        </p:txBody>
      </p:sp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7026275" y="3978275"/>
            <a:ext cx="2879725" cy="2879725"/>
          </a:xfrm>
          <a:prstGeom prst="rect">
            <a:avLst/>
          </a:prstGeom>
          <a:solidFill>
            <a:srgbClr val="E2DEBD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</a:pPr>
            <a:endParaRPr lang="de-DE" dirty="0">
              <a:solidFill>
                <a:srgbClr val="003F7D"/>
              </a:solidFill>
            </a:endParaRPr>
          </a:p>
          <a:p>
            <a:pPr>
              <a:spcBef>
                <a:spcPct val="50000"/>
              </a:spcBef>
            </a:pPr>
            <a:endParaRPr lang="de-DE" dirty="0">
              <a:solidFill>
                <a:srgbClr val="003F7D"/>
              </a:solidFill>
            </a:endParaRPr>
          </a:p>
          <a:p>
            <a:pPr>
              <a:spcBef>
                <a:spcPct val="50000"/>
              </a:spcBef>
            </a:pPr>
            <a:r>
              <a:rPr lang="de-DE" dirty="0" smtClean="0">
                <a:solidFill>
                  <a:srgbClr val="003F7D"/>
                </a:solidFill>
              </a:rPr>
              <a:t>David Schiller, IAB</a:t>
            </a:r>
          </a:p>
          <a:p>
            <a:pPr>
              <a:spcBef>
                <a:spcPct val="50000"/>
              </a:spcBef>
            </a:pPr>
            <a:r>
              <a:rPr lang="de-DE" dirty="0" smtClean="0">
                <a:solidFill>
                  <a:srgbClr val="003F7D"/>
                </a:solidFill>
              </a:rPr>
              <a:t>Ingo Barkow, DIPF</a:t>
            </a:r>
          </a:p>
          <a:p>
            <a:pPr>
              <a:spcBef>
                <a:spcPct val="50000"/>
              </a:spcBef>
            </a:pPr>
            <a:r>
              <a:rPr lang="de-DE" dirty="0" smtClean="0">
                <a:solidFill>
                  <a:srgbClr val="003F7D"/>
                </a:solidFill>
              </a:rPr>
              <a:t>Marcel </a:t>
            </a:r>
            <a:r>
              <a:rPr lang="de-DE" dirty="0" err="1" smtClean="0">
                <a:solidFill>
                  <a:srgbClr val="003F7D"/>
                </a:solidFill>
              </a:rPr>
              <a:t>Hebing</a:t>
            </a:r>
            <a:r>
              <a:rPr lang="de-DE" dirty="0" smtClean="0">
                <a:solidFill>
                  <a:srgbClr val="003F7D"/>
                </a:solidFill>
              </a:rPr>
              <a:t>, DIW</a:t>
            </a:r>
            <a:endParaRPr lang="de-DE" dirty="0">
              <a:solidFill>
                <a:srgbClr val="003F7D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2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developing software for data documentation one has to think about how to incorporate the DDI standard</a:t>
            </a:r>
          </a:p>
          <a:p>
            <a:r>
              <a:rPr lang="en-US" dirty="0" smtClean="0"/>
              <a:t>DDI-L 3.1 is a powerful standard that can support sophisticated data models and data production modes</a:t>
            </a:r>
          </a:p>
          <a:p>
            <a:r>
              <a:rPr lang="en-US" dirty="0" smtClean="0"/>
              <a:t>At the same time software needs to be manageable and adjusted to the given institution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848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3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DDI-L - considerations</a:t>
            </a:r>
            <a:endParaRPr lang="en-US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DDI Lifecycle 3.1 / 3.2</a:t>
            </a:r>
          </a:p>
          <a:p>
            <a:r>
              <a:rPr lang="en-GB" dirty="0" smtClean="0"/>
              <a:t>XML Schema</a:t>
            </a:r>
          </a:p>
          <a:p>
            <a:pPr lvl="1"/>
            <a:r>
              <a:rPr lang="en-GB" dirty="0" smtClean="0"/>
              <a:t>DDI 3.1 – about 900 main elements</a:t>
            </a:r>
          </a:p>
          <a:p>
            <a:pPr lvl="1"/>
            <a:r>
              <a:rPr lang="en-GB" dirty="0" smtClean="0"/>
              <a:t>DDI 3.2 – about 1150 main elements</a:t>
            </a:r>
          </a:p>
          <a:p>
            <a:pPr lvl="1"/>
            <a:r>
              <a:rPr lang="en-GB" dirty="0" smtClean="0"/>
              <a:t>Each element might contain a number of sub-elements</a:t>
            </a:r>
          </a:p>
          <a:p>
            <a:pPr lvl="1"/>
            <a:r>
              <a:rPr lang="en-GB" dirty="0" smtClean="0"/>
              <a:t>Some elements are quite domain specific</a:t>
            </a:r>
          </a:p>
          <a:p>
            <a:r>
              <a:rPr lang="en-GB" dirty="0" smtClean="0"/>
              <a:t>High degree of complexity</a:t>
            </a:r>
          </a:p>
          <a:p>
            <a:r>
              <a:rPr lang="en-GB" dirty="0" smtClean="0"/>
              <a:t>Number of mandatory element quite low due to the demands of different organizations or domains</a:t>
            </a:r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8558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4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 when building tools</a:t>
            </a:r>
            <a:endParaRPr lang="en-US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Normally </a:t>
            </a:r>
            <a:r>
              <a:rPr lang="en-GB" dirty="0" smtClean="0"/>
              <a:t>there is only a need </a:t>
            </a:r>
            <a:r>
              <a:rPr lang="en-GB" dirty="0"/>
              <a:t>for 50-60 </a:t>
            </a:r>
            <a:r>
              <a:rPr lang="en-GB" dirty="0" smtClean="0"/>
              <a:t>main elements for a given </a:t>
            </a:r>
            <a:r>
              <a:rPr lang="en-GB" dirty="0"/>
              <a:t>survey or organisation</a:t>
            </a:r>
          </a:p>
          <a:p>
            <a:r>
              <a:rPr lang="en-GB" dirty="0"/>
              <a:t>But not always </a:t>
            </a:r>
            <a:r>
              <a:rPr lang="en-GB" dirty="0" smtClean="0"/>
              <a:t>for the </a:t>
            </a:r>
            <a:r>
              <a:rPr lang="en-GB" dirty="0"/>
              <a:t>same </a:t>
            </a:r>
            <a:r>
              <a:rPr lang="en-GB" dirty="0" smtClean="0"/>
              <a:t>50-60 main elements</a:t>
            </a:r>
            <a:endParaRPr lang="en-GB" dirty="0" smtClean="0">
              <a:solidFill>
                <a:srgbClr val="FF0000"/>
              </a:solidFill>
            </a:endParaRPr>
          </a:p>
          <a:p>
            <a:endParaRPr lang="en-GB" dirty="0"/>
          </a:p>
          <a:p>
            <a:r>
              <a:rPr lang="en-GB" dirty="0" smtClean="0"/>
              <a:t>Huge challenge </a:t>
            </a:r>
            <a:r>
              <a:rPr lang="en-GB" dirty="0"/>
              <a:t>when building software </a:t>
            </a:r>
            <a:r>
              <a:rPr lang="en-GB" dirty="0" smtClean="0"/>
              <a:t>tools</a:t>
            </a:r>
          </a:p>
          <a:p>
            <a:r>
              <a:rPr lang="en-GB" dirty="0" smtClean="0"/>
              <a:t>Especially when it is about DDI import and export functionalities</a:t>
            </a:r>
            <a:endParaRPr lang="en-GB" dirty="0"/>
          </a:p>
          <a:p>
            <a:r>
              <a:rPr lang="en-GB" dirty="0" smtClean="0"/>
              <a:t>The </a:t>
            </a:r>
            <a:r>
              <a:rPr lang="en-GB" dirty="0" smtClean="0"/>
              <a:t>results are likely not </a:t>
            </a:r>
            <a:r>
              <a:rPr lang="en-GB" dirty="0"/>
              <a:t>interoperable solutions</a:t>
            </a:r>
          </a:p>
        </p:txBody>
      </p:sp>
    </p:spTree>
    <p:extLst>
      <p:ext uri="{BB962C8B-B14F-4D97-AF65-F5344CB8AC3E}">
        <p14:creationId xmlns:p14="http://schemas.microsoft.com/office/powerpoint/2010/main" val="418870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5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from the IAB Metadata project</a:t>
            </a:r>
            <a:endParaRPr lang="en-US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91" b="-10891"/>
          <a:stretch/>
        </p:blipFill>
        <p:spPr bwMode="auto">
          <a:xfrm>
            <a:off x="946291" y="1463861"/>
            <a:ext cx="7430538" cy="5144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1994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6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DDI </a:t>
            </a:r>
            <a:r>
              <a:rPr lang="en-US" dirty="0" smtClean="0"/>
              <a:t>Profiles by </a:t>
            </a:r>
            <a:r>
              <a:rPr lang="en-US" dirty="0" smtClean="0"/>
              <a:t>“topic”</a:t>
            </a:r>
            <a:endParaRPr lang="en-US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Creating of DDI </a:t>
            </a:r>
            <a:r>
              <a:rPr lang="en-US" dirty="0" smtClean="0"/>
              <a:t>Profiles </a:t>
            </a:r>
            <a:r>
              <a:rPr lang="en-US" dirty="0" smtClean="0"/>
              <a:t>is described in an article from 2010</a:t>
            </a:r>
            <a:endParaRPr lang="en-US" dirty="0" smtClean="0"/>
          </a:p>
          <a:p>
            <a:r>
              <a:rPr lang="en-US" dirty="0" smtClean="0"/>
              <a:t>The idea is to not have individual profiles but standardized profiles by “topics”</a:t>
            </a:r>
          </a:p>
          <a:p>
            <a:r>
              <a:rPr lang="en-US" dirty="0" smtClean="0"/>
              <a:t>Examples of topics may include: “survey design”, “data collection” or more specific “administrative data”; what else?</a:t>
            </a:r>
          </a:p>
          <a:p>
            <a:r>
              <a:rPr lang="en-US" dirty="0" smtClean="0"/>
              <a:t>Institutions can than choose the needed profiles for their institution and be interoperable with others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57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7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profiles – GLBPM</a:t>
            </a:r>
            <a:endParaRPr lang="en-US" dirty="0"/>
          </a:p>
        </p:txBody>
      </p:sp>
      <p:pic>
        <p:nvPicPr>
          <p:cNvPr id="5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94" y="1458394"/>
            <a:ext cx="7513335" cy="4879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059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profiles – </a:t>
            </a:r>
            <a:r>
              <a:rPr lang="en-US" dirty="0" smtClean="0"/>
              <a:t>GSIM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1" y="1798638"/>
            <a:ext cx="3645638" cy="4394200"/>
          </a:xfrm>
        </p:spPr>
        <p:txBody>
          <a:bodyPr/>
          <a:lstStyle/>
          <a:p>
            <a:r>
              <a:rPr lang="en-US" dirty="0" smtClean="0"/>
              <a:t>Create profiles related to the business objects in GSIM (ABS)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DF95F4-CABB-4217-93FB-588F57CEDAEC}" type="slidenum">
              <a:rPr lang="de-DE" smtClean="0"/>
              <a:pPr/>
              <a:t>8</a:t>
            </a:fld>
            <a:endParaRPr lang="de-DE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5426" y="1982949"/>
            <a:ext cx="4324350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7396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9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Creating profiles </a:t>
            </a:r>
            <a:r>
              <a:rPr lang="en-US" dirty="0" smtClean="0"/>
              <a:t>– product view</a:t>
            </a:r>
            <a:endParaRPr lang="en-US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Requirement </a:t>
            </a:r>
            <a:r>
              <a:rPr lang="en-GB" dirty="0"/>
              <a:t>for "product-specific" exchange </a:t>
            </a:r>
            <a:r>
              <a:rPr lang="en-GB" dirty="0" smtClean="0"/>
              <a:t>formats</a:t>
            </a:r>
          </a:p>
          <a:p>
            <a:r>
              <a:rPr lang="en-GB" dirty="0" smtClean="0"/>
              <a:t>Dataset </a:t>
            </a:r>
            <a:r>
              <a:rPr lang="en-GB" dirty="0"/>
              <a:t>description standard (like DDI-C, but with DDI-L elements)</a:t>
            </a:r>
          </a:p>
          <a:p>
            <a:r>
              <a:rPr lang="en-GB" dirty="0"/>
              <a:t>Questionnaire description standard</a:t>
            </a:r>
          </a:p>
          <a:p>
            <a:r>
              <a:rPr lang="en-GB" dirty="0"/>
              <a:t>Concept vocabulary standard</a:t>
            </a:r>
          </a:p>
          <a:p>
            <a:pPr marL="0" indent="0">
              <a:buNone/>
            </a:pPr>
            <a:r>
              <a:rPr lang="en-GB" dirty="0"/>
              <a:t/>
            </a:r>
            <a:br>
              <a:rPr lang="en-GB" dirty="0"/>
            </a:br>
            <a:r>
              <a:rPr lang="en-GB" dirty="0"/>
              <a:t>→ Potential to create those product-specific standards as DDI </a:t>
            </a:r>
            <a:r>
              <a:rPr lang="en-GB" dirty="0" smtClean="0"/>
              <a:t>Profiles</a:t>
            </a:r>
            <a:r>
              <a:rPr lang="en-GB" dirty="0"/>
              <a:t/>
            </a:r>
            <a:br>
              <a:rPr lang="en-GB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619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10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 DDI profiles: M</a:t>
            </a:r>
            <a:r>
              <a:rPr lang="en-US" dirty="0" smtClean="0"/>
              <a:t>ain goals</a:t>
            </a:r>
            <a:endParaRPr lang="en-US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Standard DDI profiles should cover the most used DDI elements by topics</a:t>
            </a:r>
          </a:p>
          <a:p>
            <a:r>
              <a:rPr lang="en-US" dirty="0" smtClean="0"/>
              <a:t>Agencies can choose from those profiles</a:t>
            </a:r>
          </a:p>
          <a:p>
            <a:r>
              <a:rPr lang="en-US" dirty="0" smtClean="0"/>
              <a:t>This will lead to an harmonized use of DDI</a:t>
            </a:r>
          </a:p>
          <a:p>
            <a:r>
              <a:rPr lang="en-US" dirty="0" smtClean="0"/>
              <a:t>And to easier exchange between tools and agencies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279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11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Summary</a:t>
            </a:r>
            <a:endParaRPr lang="de-DE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Different approaches to create standard profiles</a:t>
            </a:r>
          </a:p>
          <a:p>
            <a:pPr lvl="1"/>
            <a:r>
              <a:rPr lang="en-US" dirty="0" smtClean="0"/>
              <a:t>Institutional view (e.g. IAB needs), conceptual view (GLBPM, GSIM), product view (questionnaire, etc.)</a:t>
            </a:r>
          </a:p>
          <a:p>
            <a:r>
              <a:rPr lang="en-US" dirty="0" smtClean="0"/>
              <a:t>Goal is:</a:t>
            </a:r>
          </a:p>
          <a:p>
            <a:pPr lvl="1"/>
            <a:r>
              <a:rPr lang="en-US" dirty="0" smtClean="0"/>
              <a:t>to make DDI-L manageable and</a:t>
            </a:r>
          </a:p>
          <a:p>
            <a:pPr lvl="1"/>
            <a:r>
              <a:rPr lang="en-US" dirty="0" smtClean="0"/>
              <a:t>to ensure exchange possibilities between different software (harmonization between agencies)</a:t>
            </a:r>
          </a:p>
          <a:p>
            <a:pPr lvl="1"/>
            <a:r>
              <a:rPr lang="en-US" dirty="0"/>
              <a:t>t</a:t>
            </a:r>
            <a:r>
              <a:rPr lang="en-US" dirty="0" smtClean="0"/>
              <a:t>o prepare shift to DDI-L 4.0</a:t>
            </a:r>
          </a:p>
          <a:p>
            <a:r>
              <a:rPr lang="en-US" dirty="0" smtClean="0"/>
              <a:t>Useful standard DDI-L profiles need to be discussed and agreed 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861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438275"/>
            <a:ext cx="8467725" cy="1439863"/>
          </a:xfrm>
          <a:ln/>
        </p:spPr>
        <p:txBody>
          <a:bodyPr/>
          <a:lstStyle/>
          <a:p>
            <a:r>
              <a:rPr lang="en-US" dirty="0" smtClean="0"/>
              <a:t>Thank you for your attention</a:t>
            </a: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66750" y="3514725"/>
            <a:ext cx="5329238" cy="2663825"/>
          </a:xfrm>
        </p:spPr>
        <p:txBody>
          <a:bodyPr/>
          <a:lstStyle/>
          <a:p>
            <a:r>
              <a:rPr lang="de-DE" sz="2400" dirty="0" smtClean="0"/>
              <a:t>david.schiller@iab.de</a:t>
            </a:r>
          </a:p>
          <a:p>
            <a:r>
              <a:rPr lang="de-DE" sz="2400" dirty="0" smtClean="0"/>
              <a:t>barkow@dipf.de</a:t>
            </a:r>
          </a:p>
          <a:p>
            <a:r>
              <a:rPr lang="de-DE" sz="2400" dirty="0" smtClean="0"/>
              <a:t>marcel@ddionrails.org</a:t>
            </a:r>
            <a:endParaRPr lang="de-DE" sz="2400" dirty="0"/>
          </a:p>
          <a:p>
            <a:r>
              <a:rPr lang="de-DE" sz="2400" dirty="0"/>
              <a:t>http://</a:t>
            </a:r>
            <a:r>
              <a:rPr lang="de-DE" sz="2400" dirty="0" smtClean="0"/>
              <a:t>fdz.iab.de</a:t>
            </a:r>
          </a:p>
          <a:p>
            <a:r>
              <a:rPr lang="de-DE" sz="2400" dirty="0" smtClean="0"/>
              <a:t>http://www.dipf.de</a:t>
            </a:r>
          </a:p>
          <a:p>
            <a:r>
              <a:rPr lang="de-DE" sz="2400" dirty="0" smtClean="0"/>
              <a:t>http://www.diw.de</a:t>
            </a:r>
            <a:endParaRPr lang="de-DE" sz="2400" dirty="0"/>
          </a:p>
        </p:txBody>
      </p:sp>
      <p:sp>
        <p:nvSpPr>
          <p:cNvPr id="64519" name="Text Box 7"/>
          <p:cNvSpPr txBox="1">
            <a:spLocks noChangeArrowheads="1"/>
          </p:cNvSpPr>
          <p:nvPr/>
        </p:nvSpPr>
        <p:spPr bwMode="auto">
          <a:xfrm>
            <a:off x="9561513" y="6513513"/>
            <a:ext cx="360362" cy="360362"/>
          </a:xfrm>
          <a:prstGeom prst="rect">
            <a:avLst/>
          </a:prstGeom>
          <a:solidFill>
            <a:srgbClr val="003F7D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</a:pPr>
            <a:endParaRPr lang="de-DE"/>
          </a:p>
        </p:txBody>
      </p:sp>
      <p:pic>
        <p:nvPicPr>
          <p:cNvPr id="64521" name="Picture 9" descr="farbkaestche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497638"/>
            <a:ext cx="3944938" cy="36036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/>
    </p:bldLst>
  </p:timing>
</p:sld>
</file>

<file path=ppt/theme/theme1.xml><?xml version="1.0" encoding="utf-8"?>
<a:theme xmlns:a="http://schemas.openxmlformats.org/drawingml/2006/main" name="Standarddesign">
  <a:themeElements>
    <a:clrScheme name="Standarddesign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8C35A"/>
      </a:accent1>
      <a:accent2>
        <a:srgbClr val="333399"/>
      </a:accent2>
      <a:accent3>
        <a:srgbClr val="FFFFFF"/>
      </a:accent3>
      <a:accent4>
        <a:srgbClr val="000000"/>
      </a:accent4>
      <a:accent5>
        <a:srgbClr val="FBDEB5"/>
      </a:accent5>
      <a:accent6>
        <a:srgbClr val="2D2D8A"/>
      </a:accent6>
      <a:hlink>
        <a:srgbClr val="CCCCFF"/>
      </a:hlink>
      <a:folHlink>
        <a:srgbClr val="9DC2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8C35A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BDEB5"/>
        </a:accent5>
        <a:accent6>
          <a:srgbClr val="2D2D8A"/>
        </a:accent6>
        <a:hlink>
          <a:srgbClr val="CCCCFF"/>
        </a:hlink>
        <a:folHlink>
          <a:srgbClr val="9DC2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442</Words>
  <Application>Microsoft Office PowerPoint</Application>
  <PresentationFormat>A4-Papier (210x297 mm)</PresentationFormat>
  <Paragraphs>74</Paragraphs>
  <Slides>12</Slides>
  <Notes>1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3" baseType="lpstr">
      <vt:lpstr>Standarddesign</vt:lpstr>
      <vt:lpstr>Harmonizing Between Different Agencies Using DDI Profiles</vt:lpstr>
      <vt:lpstr>Outline</vt:lpstr>
      <vt:lpstr>DDI-L - considerations</vt:lpstr>
      <vt:lpstr>Challenge when building tools</vt:lpstr>
      <vt:lpstr>Example from the IAB Metadata project</vt:lpstr>
      <vt:lpstr>Solution DDI Profiles by “topic”</vt:lpstr>
      <vt:lpstr>Creating profiles – GLBPM</vt:lpstr>
      <vt:lpstr>Creating profiles – GSIM</vt:lpstr>
      <vt:lpstr>Creating profiles – product view</vt:lpstr>
      <vt:lpstr>Standard DDI profiles: Main goals</vt:lpstr>
      <vt:lpstr>Summary</vt:lpstr>
      <vt:lpstr>Thank you for your attention</vt:lpstr>
    </vt:vector>
  </TitlesOfParts>
  <Company>Bundesagentur für Arbeit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KlotzP</dc:creator>
  <cp:lastModifiedBy>David H. Schiller</cp:lastModifiedBy>
  <cp:revision>179</cp:revision>
  <dcterms:created xsi:type="dcterms:W3CDTF">2007-10-24T11:24:10Z</dcterms:created>
  <dcterms:modified xsi:type="dcterms:W3CDTF">2013-12-04T08:12:07Z</dcterms:modified>
</cp:coreProperties>
</file>