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66" r:id="rId2"/>
    <p:sldId id="276" r:id="rId3"/>
    <p:sldId id="264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67" r:id="rId13"/>
  </p:sldIdLst>
  <p:sldSz cx="9906000" cy="6858000" type="A4"/>
  <p:notesSz cx="6669088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DF68"/>
    <a:srgbClr val="FDE1BB"/>
    <a:srgbClr val="B0B7D3"/>
    <a:srgbClr val="FBBA00"/>
    <a:srgbClr val="003F7D"/>
    <a:srgbClr val="CCCFE2"/>
    <a:srgbClr val="E2DEBD"/>
    <a:srgbClr val="B9B6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-306" y="24"/>
      </p:cViewPr>
      <p:guideLst>
        <p:guide orient="horz" pos="2268"/>
        <p:guide pos="533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9" tIns="45994" rIns="91989" bIns="45994" numCol="1" anchor="t" anchorCtr="0" compatLnSpc="1">
            <a:prstTxWarp prst="textNoShape">
              <a:avLst/>
            </a:prstTxWarp>
          </a:bodyPr>
          <a:lstStyle>
            <a:lvl1pPr defTabSz="919163">
              <a:defRPr sz="1200"/>
            </a:lvl1pPr>
          </a:lstStyle>
          <a:p>
            <a:endParaRPr lang="de-D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6663" y="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9" tIns="45994" rIns="91989" bIns="45994" numCol="1" anchor="t" anchorCtr="0" compatLnSpc="1">
            <a:prstTxWarp prst="textNoShape">
              <a:avLst/>
            </a:prstTxWarp>
          </a:bodyPr>
          <a:lstStyle>
            <a:lvl1pPr algn="r" defTabSz="919163">
              <a:defRPr sz="1200"/>
            </a:lvl1pPr>
          </a:lstStyle>
          <a:p>
            <a:endParaRPr lang="de-D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46113" y="744538"/>
            <a:ext cx="537845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9" tIns="45994" rIns="91989" bIns="459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9" tIns="45994" rIns="91989" bIns="45994" numCol="1" anchor="b" anchorCtr="0" compatLnSpc="1">
            <a:prstTxWarp prst="textNoShape">
              <a:avLst/>
            </a:prstTxWarp>
          </a:bodyPr>
          <a:lstStyle>
            <a:lvl1pPr defTabSz="919163">
              <a:defRPr sz="1200"/>
            </a:lvl1pPr>
          </a:lstStyle>
          <a:p>
            <a:endParaRPr lang="de-D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6663" y="9428163"/>
            <a:ext cx="2890837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89" tIns="45994" rIns="91989" bIns="45994" numCol="1" anchor="b" anchorCtr="0" compatLnSpc="1">
            <a:prstTxWarp prst="textNoShape">
              <a:avLst/>
            </a:prstTxWarp>
          </a:bodyPr>
          <a:lstStyle>
            <a:lvl1pPr algn="r" defTabSz="919163">
              <a:defRPr sz="1200"/>
            </a:lvl1pPr>
          </a:lstStyle>
          <a:p>
            <a:fld id="{E3E35852-AA75-4DA6-9856-4DF21D96EB15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71529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35852-AA75-4DA6-9856-4DF21D96EB15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9885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6" name="Picture 20" descr="LOGO-FDZ-englisch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0"/>
            <a:ext cx="3048000" cy="1438275"/>
          </a:xfrm>
          <a:prstGeom prst="rect">
            <a:avLst/>
          </a:prstGeom>
          <a:noFill/>
        </p:spPr>
      </p:pic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438275"/>
            <a:ext cx="9906000" cy="1439863"/>
          </a:xfrm>
          <a:solidFill>
            <a:srgbClr val="003F7D"/>
          </a:solidFill>
        </p:spPr>
        <p:txBody>
          <a:bodyPr/>
          <a:lstStyle>
            <a:lvl1pPr marL="628650">
              <a:defRPr sz="3500">
                <a:solidFill>
                  <a:srgbClr val="FFFFFF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28650" y="3471863"/>
            <a:ext cx="8416925" cy="2706687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321800" y="6318250"/>
            <a:ext cx="584200" cy="539750"/>
          </a:xfrm>
        </p:spPr>
        <p:txBody>
          <a:bodyPr/>
          <a:lstStyle>
            <a:lvl1pPr>
              <a:defRPr sz="1400"/>
            </a:lvl1pPr>
          </a:lstStyle>
          <a:p>
            <a:fld id="{1290EB8D-D4E8-42FC-9AA8-B8D10123E845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9230" name="Text Box 14"/>
          <p:cNvSpPr txBox="1">
            <a:spLocks noChangeArrowheads="1"/>
          </p:cNvSpPr>
          <p:nvPr userDrawn="1"/>
        </p:nvSpPr>
        <p:spPr bwMode="auto">
          <a:xfrm>
            <a:off x="0" y="2878138"/>
            <a:ext cx="719138" cy="719137"/>
          </a:xfrm>
          <a:prstGeom prst="rect">
            <a:avLst/>
          </a:prstGeom>
          <a:solidFill>
            <a:srgbClr val="B9B663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9232" name="Text Box 16"/>
          <p:cNvSpPr txBox="1">
            <a:spLocks noChangeArrowheads="1"/>
          </p:cNvSpPr>
          <p:nvPr userDrawn="1"/>
        </p:nvSpPr>
        <p:spPr bwMode="auto">
          <a:xfrm>
            <a:off x="8467725" y="1438275"/>
            <a:ext cx="1439863" cy="1439863"/>
          </a:xfrm>
          <a:prstGeom prst="rect">
            <a:avLst/>
          </a:prstGeom>
          <a:solidFill>
            <a:srgbClr val="647AA9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CDF95F4-CABB-4217-93FB-588F57CEDAEC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1969794-EF09-4BC5-9272-8E8095A53C41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28650" y="1798638"/>
            <a:ext cx="4259263" cy="4394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40313" y="1798638"/>
            <a:ext cx="4259262" cy="4394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C6C51BD-02B0-4D3E-AF16-A7197C66CF8E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16B2064-2357-495A-8971-6CF6582325CD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9B7DC4-FD6D-4374-A2A7-25203D982D58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6CFD96B-DA76-4986-9744-995212BA83D5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5434671-4D52-455B-BCD6-64CE4179F796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D2E87E0-ABEA-4D84-A353-21E6FDBF245D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DB08E46-04F6-4F4C-B63C-2650F8C14913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32638" y="692150"/>
            <a:ext cx="2166937" cy="550068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28650" y="692150"/>
            <a:ext cx="6351588" cy="5500688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A17F995-A386-4609-8B26-AED7E1CE9D47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Text Box 18"/>
          <p:cNvSpPr txBox="1">
            <a:spLocks noChangeArrowheads="1"/>
          </p:cNvSpPr>
          <p:nvPr/>
        </p:nvSpPr>
        <p:spPr bwMode="auto">
          <a:xfrm>
            <a:off x="0" y="0"/>
            <a:ext cx="8467725" cy="684213"/>
          </a:xfrm>
          <a:prstGeom prst="rect">
            <a:avLst/>
          </a:prstGeom>
          <a:solidFill>
            <a:srgbClr val="003F7D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1825" y="692150"/>
            <a:ext cx="7880350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Überschrift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798638"/>
            <a:ext cx="8670925" cy="439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45638" y="6497638"/>
            <a:ext cx="360362" cy="360362"/>
          </a:xfrm>
          <a:prstGeom prst="rect">
            <a:avLst/>
          </a:prstGeom>
          <a:solidFill>
            <a:srgbClr val="003F7D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2DBC399-0D2A-4769-8A10-9213F9C7716A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1044" name="Text Box 20"/>
          <p:cNvSpPr txBox="1">
            <a:spLocks noChangeArrowheads="1"/>
          </p:cNvSpPr>
          <p:nvPr/>
        </p:nvSpPr>
        <p:spPr bwMode="auto">
          <a:xfrm>
            <a:off x="0" y="6497638"/>
            <a:ext cx="8467725" cy="360362"/>
          </a:xfrm>
          <a:prstGeom prst="rect">
            <a:avLst/>
          </a:prstGeom>
          <a:solidFill>
            <a:srgbClr val="003F7D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1045" name="Text Box 21"/>
          <p:cNvSpPr txBox="1">
            <a:spLocks noChangeArrowheads="1"/>
          </p:cNvSpPr>
          <p:nvPr/>
        </p:nvSpPr>
        <p:spPr bwMode="auto">
          <a:xfrm>
            <a:off x="8467725" y="6497638"/>
            <a:ext cx="1085850" cy="360362"/>
          </a:xfrm>
          <a:prstGeom prst="rect">
            <a:avLst/>
          </a:prstGeom>
          <a:solidFill>
            <a:srgbClr val="B0B7D3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  <p:pic>
        <p:nvPicPr>
          <p:cNvPr id="1051" name="Picture 27" descr="LOGO-FDZ-englisch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455025" y="0"/>
            <a:ext cx="1450975" cy="68421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3F7D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3F7D"/>
        </a:buClr>
        <a:buSzPct val="110000"/>
        <a:buFont typeface="Wingdings" pitchFamily="2" charset="2"/>
        <a:buChar char="§"/>
        <a:defRPr sz="2800">
          <a:solidFill>
            <a:srgbClr val="003F7D"/>
          </a:solidFill>
          <a:latin typeface="+mn-lt"/>
          <a:ea typeface="+mn-ea"/>
          <a:cs typeface="+mn-cs"/>
        </a:defRPr>
      </a:lvl1pPr>
      <a:lvl2pPr marL="822325" indent="-300038" algn="l" rtl="0" fontAlgn="base">
        <a:spcBef>
          <a:spcPct val="20000"/>
        </a:spcBef>
        <a:spcAft>
          <a:spcPct val="0"/>
        </a:spcAft>
        <a:buClr>
          <a:srgbClr val="003F7D"/>
        </a:buClr>
        <a:buSzPct val="110000"/>
        <a:buFont typeface="Wingdings" pitchFamily="2" charset="2"/>
        <a:buChar char="§"/>
        <a:defRPr sz="2400">
          <a:solidFill>
            <a:srgbClr val="003F7D"/>
          </a:solidFill>
          <a:latin typeface="+mn-lt"/>
        </a:defRPr>
      </a:lvl2pPr>
      <a:lvl3pPr marL="1230313" indent="-228600" algn="l" rtl="0" fontAlgn="base">
        <a:spcBef>
          <a:spcPct val="20000"/>
        </a:spcBef>
        <a:spcAft>
          <a:spcPct val="0"/>
        </a:spcAft>
        <a:buClr>
          <a:srgbClr val="003F7D"/>
        </a:buClr>
        <a:buSzPct val="110000"/>
        <a:buFont typeface="Wingdings" pitchFamily="2" charset="2"/>
        <a:buChar char="§"/>
        <a:defRPr sz="2000">
          <a:solidFill>
            <a:srgbClr val="003F7D"/>
          </a:solidFill>
          <a:latin typeface="+mn-lt"/>
        </a:defRPr>
      </a:lvl3pPr>
      <a:lvl4pPr marL="1638300" indent="-228600" algn="l" rtl="0" fontAlgn="base">
        <a:spcBef>
          <a:spcPct val="20000"/>
        </a:spcBef>
        <a:spcAft>
          <a:spcPct val="0"/>
        </a:spcAft>
        <a:buClr>
          <a:srgbClr val="003F7D"/>
        </a:buClr>
        <a:buSzPct val="110000"/>
        <a:buFont typeface="Wingdings" pitchFamily="2" charset="2"/>
        <a:buChar char="§"/>
        <a:defRPr>
          <a:solidFill>
            <a:srgbClr val="003F7D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000080"/>
        </a:buClr>
        <a:buSzPct val="110000"/>
        <a:buFont typeface="Wingdings" pitchFamily="2" charset="2"/>
        <a:buChar char="§"/>
        <a:defRPr>
          <a:solidFill>
            <a:schemeClr val="tx1"/>
          </a:solidFill>
          <a:latin typeface="Agfa Rotis Semisans" pitchFamily="2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0080"/>
        </a:buClr>
        <a:buSzPct val="110000"/>
        <a:buFont typeface="Wingdings" pitchFamily="2" charset="2"/>
        <a:buChar char="§"/>
        <a:defRPr>
          <a:solidFill>
            <a:schemeClr val="tx1"/>
          </a:solidFill>
          <a:latin typeface="Agfa Rotis Semisans" pitchFamily="2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0080"/>
        </a:buClr>
        <a:buSzPct val="110000"/>
        <a:buFont typeface="Wingdings" pitchFamily="2" charset="2"/>
        <a:buChar char="§"/>
        <a:defRPr>
          <a:solidFill>
            <a:schemeClr val="tx1"/>
          </a:solidFill>
          <a:latin typeface="Agfa Rotis Semisans" pitchFamily="2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0080"/>
        </a:buClr>
        <a:buSzPct val="110000"/>
        <a:buFont typeface="Wingdings" pitchFamily="2" charset="2"/>
        <a:buChar char="§"/>
        <a:defRPr>
          <a:solidFill>
            <a:schemeClr val="tx1"/>
          </a:solidFill>
          <a:latin typeface="Agfa Rotis Semisans" pitchFamily="2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0080"/>
        </a:buClr>
        <a:buSzPct val="110000"/>
        <a:buFont typeface="Wingdings" pitchFamily="2" charset="2"/>
        <a:buChar char="§"/>
        <a:defRPr>
          <a:solidFill>
            <a:schemeClr val="tx1"/>
          </a:solidFill>
          <a:latin typeface="Agfa Rotis Semisans" pitchFamily="2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438275"/>
            <a:ext cx="8467725" cy="1439863"/>
          </a:xfrm>
          <a:ln/>
        </p:spPr>
        <p:txBody>
          <a:bodyPr/>
          <a:lstStyle/>
          <a:p>
            <a:r>
              <a:rPr lang="en-GB" sz="3200" dirty="0"/>
              <a:t>Proposing a Metadata Solution over </a:t>
            </a:r>
            <a:r>
              <a:rPr lang="en-GB" sz="3200" dirty="0" smtClean="0"/>
              <a:t>Multiple RDCs </a:t>
            </a:r>
            <a:r>
              <a:rPr lang="en-GB" sz="3200" dirty="0"/>
              <a:t>in the German Context</a:t>
            </a:r>
            <a:endParaRPr lang="de-DE" sz="3300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28650" y="3514725"/>
            <a:ext cx="5329238" cy="2663825"/>
          </a:xfrm>
          <a:noFill/>
          <a:ln/>
        </p:spPr>
        <p:txBody>
          <a:bodyPr/>
          <a:lstStyle/>
          <a:p>
            <a:r>
              <a:rPr lang="de-DE" sz="2400" dirty="0" smtClean="0"/>
              <a:t>EDDI 2013</a:t>
            </a:r>
            <a:endParaRPr lang="de-DE" sz="2400" dirty="0"/>
          </a:p>
          <a:p>
            <a:r>
              <a:rPr lang="de-DE" sz="2400" dirty="0" smtClean="0"/>
              <a:t>03.12.2013, Paris</a:t>
            </a:r>
            <a:endParaRPr lang="de-DE" sz="2400" dirty="0"/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7026275" y="3978275"/>
            <a:ext cx="2879725" cy="2879725"/>
          </a:xfrm>
          <a:prstGeom prst="rect">
            <a:avLst/>
          </a:prstGeom>
          <a:solidFill>
            <a:srgbClr val="E2DEBD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 dirty="0">
              <a:solidFill>
                <a:srgbClr val="003F7D"/>
              </a:solidFill>
            </a:endParaRPr>
          </a:p>
          <a:p>
            <a:pPr>
              <a:spcBef>
                <a:spcPct val="50000"/>
              </a:spcBef>
            </a:pPr>
            <a:endParaRPr lang="de-DE" dirty="0">
              <a:solidFill>
                <a:srgbClr val="003F7D"/>
              </a:solidFill>
            </a:endParaRPr>
          </a:p>
          <a:p>
            <a:pPr>
              <a:spcBef>
                <a:spcPct val="50000"/>
              </a:spcBef>
            </a:pPr>
            <a:r>
              <a:rPr lang="de-DE" dirty="0" smtClean="0">
                <a:solidFill>
                  <a:srgbClr val="003F7D"/>
                </a:solidFill>
              </a:rPr>
              <a:t>David Schiller, IAB</a:t>
            </a:r>
          </a:p>
          <a:p>
            <a:pPr>
              <a:spcBef>
                <a:spcPct val="50000"/>
              </a:spcBef>
            </a:pPr>
            <a:r>
              <a:rPr lang="de-DE" dirty="0" smtClean="0">
                <a:solidFill>
                  <a:srgbClr val="003F7D"/>
                </a:solidFill>
              </a:rPr>
              <a:t>Ingo Barkow, DIPF</a:t>
            </a:r>
            <a:endParaRPr lang="de-DE" dirty="0">
              <a:solidFill>
                <a:srgbClr val="003F7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2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wide range of data – the German context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0" t="7886" r="32946" b="3084"/>
          <a:stretch/>
        </p:blipFill>
        <p:spPr bwMode="auto">
          <a:xfrm>
            <a:off x="1155684" y="1659349"/>
            <a:ext cx="6588000" cy="46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084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3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Research Data Centre in Germany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Due to </a:t>
            </a:r>
            <a:r>
              <a:rPr lang="en-GB" dirty="0" smtClean="0"/>
              <a:t>legislation, </a:t>
            </a:r>
            <a:r>
              <a:rPr lang="en-GB" dirty="0" smtClean="0"/>
              <a:t>data has to be made available for scientific research</a:t>
            </a:r>
          </a:p>
          <a:p>
            <a:r>
              <a:rPr lang="en-GB" dirty="0" smtClean="0"/>
              <a:t>The German Data Forum (for social sciences) accredits Research Data Centre</a:t>
            </a:r>
          </a:p>
          <a:p>
            <a:r>
              <a:rPr lang="en-GB" dirty="0" smtClean="0"/>
              <a:t>Currently there are 26 Research Data Centre</a:t>
            </a:r>
          </a:p>
          <a:p>
            <a:r>
              <a:rPr lang="en-GB" dirty="0" smtClean="0"/>
              <a:t>They offer a wide range of data</a:t>
            </a:r>
          </a:p>
          <a:p>
            <a:pPr lvl="1"/>
            <a:r>
              <a:rPr lang="en-GB" dirty="0" smtClean="0"/>
              <a:t>Social, Education, Economy, Health, Psychology, etc.</a:t>
            </a:r>
          </a:p>
          <a:p>
            <a:pPr lvl="1"/>
            <a:r>
              <a:rPr lang="en-GB" dirty="0" smtClean="0"/>
              <a:t>Survey data and administrative data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4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good and the evil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is there:</a:t>
            </a:r>
          </a:p>
          <a:p>
            <a:pPr lvl="1"/>
            <a:r>
              <a:rPr lang="en-US" dirty="0" smtClean="0"/>
              <a:t>26 organizations offer data for scientific research</a:t>
            </a:r>
          </a:p>
          <a:p>
            <a:pPr lvl="1"/>
            <a:r>
              <a:rPr lang="en-US" dirty="0" smtClean="0"/>
              <a:t>They create or extract it and prepare it for research</a:t>
            </a:r>
          </a:p>
          <a:p>
            <a:pPr lvl="1"/>
            <a:r>
              <a:rPr lang="en-US" dirty="0" smtClean="0"/>
              <a:t>According to that they are the experts for their data</a:t>
            </a:r>
          </a:p>
          <a:p>
            <a:r>
              <a:rPr lang="en-US" dirty="0" smtClean="0"/>
              <a:t>But what data is exactly where and how can it be reached?</a:t>
            </a:r>
          </a:p>
          <a:p>
            <a:pPr lvl="1"/>
            <a:r>
              <a:rPr lang="en-US" dirty="0" smtClean="0"/>
              <a:t>26 website offer information to the researcher</a:t>
            </a:r>
          </a:p>
          <a:p>
            <a:pPr lvl="1"/>
            <a:r>
              <a:rPr lang="en-US" dirty="0" smtClean="0"/>
              <a:t>They have different structures and explain different things</a:t>
            </a:r>
          </a:p>
          <a:p>
            <a:pPr lvl="1"/>
            <a:r>
              <a:rPr lang="en-US" dirty="0" smtClean="0"/>
              <a:t>They are not connected in a structured way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70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5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Researcher needs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Researchers have to be supported in the way they work.</a:t>
            </a:r>
          </a:p>
          <a:p>
            <a:r>
              <a:rPr lang="en-US" dirty="0" smtClean="0"/>
              <a:t>First an idea for a research topic originates</a:t>
            </a:r>
          </a:p>
          <a:p>
            <a:r>
              <a:rPr lang="en-US" dirty="0" smtClean="0"/>
              <a:t>Then they look for appropriate data</a:t>
            </a:r>
          </a:p>
          <a:p>
            <a:pPr lvl="1"/>
            <a:r>
              <a:rPr lang="en-US" dirty="0" smtClean="0"/>
              <a:t>E.g. content, “power” of data; how to work with it</a:t>
            </a:r>
          </a:p>
          <a:p>
            <a:r>
              <a:rPr lang="en-US" dirty="0" smtClean="0"/>
              <a:t>If they cannot find the information easily, they will likely skip the planned project</a:t>
            </a:r>
          </a:p>
          <a:p>
            <a:r>
              <a:rPr lang="en-US" dirty="0" smtClean="0"/>
              <a:t>A waste of the 26 data 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57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6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Needs of data owners and funding bodies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owners are normally experts in creating or extracting their data</a:t>
            </a:r>
          </a:p>
          <a:p>
            <a:r>
              <a:rPr lang="en-US" dirty="0" smtClean="0"/>
              <a:t>They are not all experts in data documentation</a:t>
            </a:r>
          </a:p>
          <a:p>
            <a:r>
              <a:rPr lang="en-US" dirty="0" smtClean="0"/>
              <a:t>Therefore they at least need tools to guide them through the documentation process</a:t>
            </a:r>
          </a:p>
          <a:p>
            <a:r>
              <a:rPr lang="en-US" dirty="0" smtClean="0"/>
              <a:t>Funding bodies are not interested in sponsoring 26 more or less equivalent infrastructures</a:t>
            </a:r>
          </a:p>
          <a:p>
            <a:r>
              <a:rPr lang="en-US" dirty="0" smtClean="0"/>
              <a:t>They are interested in cheap and efficient approaches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99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7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 point for information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best thing would be one single point for all the needed information about research data</a:t>
            </a:r>
          </a:p>
          <a:p>
            <a:r>
              <a:rPr lang="en-US" dirty="0" smtClean="0"/>
              <a:t>Within this point the researcher can search in a structured way for:</a:t>
            </a:r>
          </a:p>
          <a:p>
            <a:pPr lvl="1"/>
            <a:r>
              <a:rPr lang="en-US" dirty="0" smtClean="0"/>
              <a:t>Available data by topics</a:t>
            </a:r>
          </a:p>
          <a:p>
            <a:pPr lvl="1"/>
            <a:r>
              <a:rPr lang="en-US" dirty="0" smtClean="0"/>
              <a:t>Detailed </a:t>
            </a:r>
            <a:r>
              <a:rPr lang="en-US" dirty="0" smtClean="0"/>
              <a:t>information about content and quality on variable level</a:t>
            </a:r>
          </a:p>
          <a:p>
            <a:pPr lvl="1"/>
            <a:r>
              <a:rPr lang="en-US" dirty="0" smtClean="0"/>
              <a:t>Possibilities to combine data sources</a:t>
            </a:r>
          </a:p>
          <a:p>
            <a:pPr lvl="1"/>
            <a:r>
              <a:rPr lang="en-US" dirty="0" smtClean="0"/>
              <a:t>Circumstances for accreditation and accessing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59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8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documentation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Such a single point can only be established by using a standardized way of data documentation</a:t>
            </a:r>
          </a:p>
          <a:p>
            <a:pPr lvl="1"/>
            <a:r>
              <a:rPr lang="en-US" dirty="0" smtClean="0"/>
              <a:t>First for the researchers to easily understand it</a:t>
            </a:r>
          </a:p>
          <a:p>
            <a:pPr lvl="1"/>
            <a:r>
              <a:rPr lang="en-US" dirty="0" smtClean="0"/>
              <a:t>Second for the data owner to easily create it</a:t>
            </a:r>
          </a:p>
          <a:p>
            <a:pPr lvl="1"/>
            <a:r>
              <a:rPr lang="en-US" dirty="0" smtClean="0"/>
              <a:t>Third for different tools to easily “work” with the documentation</a:t>
            </a:r>
          </a:p>
          <a:p>
            <a:r>
              <a:rPr lang="en-US" dirty="0" smtClean="0"/>
              <a:t>Thereby researchers and data owner shouldn’t have to learn the documentation structure in the background, the tools should help them in an enjoyable way.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619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9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Obstacles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 commonly used standard (DDI 20%); needs are</a:t>
            </a:r>
          </a:p>
          <a:p>
            <a:pPr lvl="1"/>
            <a:r>
              <a:rPr lang="en-US" dirty="0" smtClean="0"/>
              <a:t>Standard, i.e. not moving to upgrades to often</a:t>
            </a:r>
          </a:p>
          <a:p>
            <a:pPr lvl="1"/>
            <a:r>
              <a:rPr lang="en-US" dirty="0" smtClean="0"/>
              <a:t>Manageable coverage (profiles)</a:t>
            </a:r>
          </a:p>
          <a:p>
            <a:pPr lvl="1"/>
            <a:r>
              <a:rPr lang="en-US" dirty="0" smtClean="0"/>
              <a:t>Practical exchange and storage format</a:t>
            </a:r>
          </a:p>
          <a:p>
            <a:r>
              <a:rPr lang="en-US" dirty="0" smtClean="0"/>
              <a:t>No central platform or access point in place</a:t>
            </a:r>
          </a:p>
          <a:p>
            <a:r>
              <a:rPr lang="en-US" dirty="0" smtClean="0"/>
              <a:t>No mechanism to pool (harvesting etc.) the documentations</a:t>
            </a:r>
          </a:p>
          <a:p>
            <a:r>
              <a:rPr lang="en-US" dirty="0" smtClean="0"/>
              <a:t>No organizational structure to node the data owners to a central platform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279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10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Ways to go</a:t>
            </a:r>
            <a:endParaRPr lang="en-US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DDI must proof that it is a practical standard</a:t>
            </a:r>
          </a:p>
          <a:p>
            <a:pPr lvl="1"/>
            <a:r>
              <a:rPr lang="en-US" dirty="0" smtClean="0"/>
              <a:t>reliable standard, manageable, exchange and storage, connectable to other standards, supported by harmonized tools;</a:t>
            </a:r>
          </a:p>
          <a:p>
            <a:r>
              <a:rPr lang="en-US" dirty="0" smtClean="0"/>
              <a:t>Connectable tools have to be in place and easy to use</a:t>
            </a:r>
          </a:p>
          <a:p>
            <a:pPr lvl="1"/>
            <a:r>
              <a:rPr lang="en-US" dirty="0" smtClean="0"/>
              <a:t>For people that are not developers the tool creates the standard by offering a comfortable </a:t>
            </a:r>
            <a:r>
              <a:rPr lang="en-US" dirty="0" smtClean="0"/>
              <a:t>working interface; the </a:t>
            </a:r>
            <a:r>
              <a:rPr lang="en-US" smtClean="0"/>
              <a:t>standards work invisible </a:t>
            </a:r>
            <a:r>
              <a:rPr lang="en-US" dirty="0" smtClean="0"/>
              <a:t>for the </a:t>
            </a:r>
            <a:r>
              <a:rPr lang="en-US" smtClean="0"/>
              <a:t>user in </a:t>
            </a:r>
            <a:r>
              <a:rPr lang="en-US" dirty="0" smtClean="0"/>
              <a:t>the background.</a:t>
            </a:r>
          </a:p>
          <a:p>
            <a:r>
              <a:rPr lang="en-US" dirty="0" smtClean="0"/>
              <a:t>Strong will to work within an organizational structure</a:t>
            </a:r>
          </a:p>
          <a:p>
            <a:pPr lvl="1"/>
            <a:r>
              <a:rPr lang="en-US" dirty="0" smtClean="0"/>
              <a:t>Give services to others, by agreements and concentrate on the own area of expert knowledge (data creation)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606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70C2-DF05-4C98-8F8D-C59B00AC7ED9}" type="slidenum">
              <a:rPr lang="de-DE"/>
              <a:pPr/>
              <a:t>11</a:t>
            </a:fld>
            <a:endParaRPr lang="de-DE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Summary</a:t>
            </a:r>
            <a:endParaRPr lang="de-DE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German context</a:t>
            </a:r>
          </a:p>
          <a:p>
            <a:r>
              <a:rPr lang="en-US" dirty="0" smtClean="0"/>
              <a:t>Data is there</a:t>
            </a:r>
          </a:p>
          <a:p>
            <a:r>
              <a:rPr lang="en-US" dirty="0" smtClean="0"/>
              <a:t>A easy to use infrastructure to discover data is missing</a:t>
            </a:r>
          </a:p>
          <a:p>
            <a:r>
              <a:rPr lang="en-US" dirty="0" smtClean="0"/>
              <a:t>DDI has to position itself as the standard of choice by being practical</a:t>
            </a:r>
          </a:p>
          <a:p>
            <a:r>
              <a:rPr lang="en-US" dirty="0" smtClean="0"/>
              <a:t>Tools have to be harmonized</a:t>
            </a:r>
          </a:p>
          <a:p>
            <a:r>
              <a:rPr lang="en-US" dirty="0" smtClean="0"/>
              <a:t>I guess the discussed issue is not only a German 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86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438275"/>
            <a:ext cx="8467725" cy="1439863"/>
          </a:xfrm>
          <a:ln/>
        </p:spPr>
        <p:txBody>
          <a:bodyPr/>
          <a:lstStyle/>
          <a:p>
            <a:r>
              <a:rPr lang="en-US" dirty="0" smtClean="0"/>
              <a:t>Thank you for your attention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66750" y="3514725"/>
            <a:ext cx="5329238" cy="2663825"/>
          </a:xfrm>
        </p:spPr>
        <p:txBody>
          <a:bodyPr/>
          <a:lstStyle/>
          <a:p>
            <a:r>
              <a:rPr lang="de-DE" sz="2400" dirty="0" smtClean="0"/>
              <a:t>david.schiller@iab.de</a:t>
            </a:r>
          </a:p>
          <a:p>
            <a:r>
              <a:rPr lang="de-DE" sz="2400" dirty="0" smtClean="0"/>
              <a:t>barkow@dipf.de</a:t>
            </a:r>
            <a:endParaRPr lang="de-DE" sz="2400" dirty="0"/>
          </a:p>
          <a:p>
            <a:endParaRPr lang="de-DE" sz="2400" dirty="0"/>
          </a:p>
          <a:p>
            <a:endParaRPr lang="de-DE" sz="2400" dirty="0"/>
          </a:p>
          <a:p>
            <a:r>
              <a:rPr lang="de-DE" sz="2400" dirty="0"/>
              <a:t>http://</a:t>
            </a:r>
            <a:r>
              <a:rPr lang="de-DE" sz="2400" dirty="0" smtClean="0"/>
              <a:t>fdz.iab.de</a:t>
            </a:r>
          </a:p>
          <a:p>
            <a:r>
              <a:rPr lang="de-DE" sz="2400" dirty="0" smtClean="0"/>
              <a:t>http://www.dipf.de</a:t>
            </a:r>
          </a:p>
          <a:p>
            <a:endParaRPr lang="de-DE" sz="2400" dirty="0"/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9561513" y="6513513"/>
            <a:ext cx="360362" cy="360362"/>
          </a:xfrm>
          <a:prstGeom prst="rect">
            <a:avLst/>
          </a:prstGeom>
          <a:solidFill>
            <a:srgbClr val="003F7D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de-DE"/>
          </a:p>
        </p:txBody>
      </p:sp>
      <p:pic>
        <p:nvPicPr>
          <p:cNvPr id="64521" name="Picture 9" descr="farbkaestche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497638"/>
            <a:ext cx="3944938" cy="3603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8C35A"/>
      </a:accent1>
      <a:accent2>
        <a:srgbClr val="333399"/>
      </a:accent2>
      <a:accent3>
        <a:srgbClr val="FFFFFF"/>
      </a:accent3>
      <a:accent4>
        <a:srgbClr val="000000"/>
      </a:accent4>
      <a:accent5>
        <a:srgbClr val="FBDEB5"/>
      </a:accent5>
      <a:accent6>
        <a:srgbClr val="2D2D8A"/>
      </a:accent6>
      <a:hlink>
        <a:srgbClr val="CCCCFF"/>
      </a:hlink>
      <a:folHlink>
        <a:srgbClr val="9DC2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8C35A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BDEB5"/>
        </a:accent5>
        <a:accent6>
          <a:srgbClr val="2D2D8A"/>
        </a:accent6>
        <a:hlink>
          <a:srgbClr val="CCCCFF"/>
        </a:hlink>
        <a:folHlink>
          <a:srgbClr val="9DC2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651</Words>
  <Application>Microsoft Office PowerPoint</Application>
  <PresentationFormat>A4-Papier (210x297 mm)</PresentationFormat>
  <Paragraphs>90</Paragraphs>
  <Slides>12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3" baseType="lpstr">
      <vt:lpstr>Standarddesign</vt:lpstr>
      <vt:lpstr>Proposing a Metadata Solution over Multiple RDCs in the German Context</vt:lpstr>
      <vt:lpstr>A wide range of data – the German context</vt:lpstr>
      <vt:lpstr>Research Data Centre in Germany</vt:lpstr>
      <vt:lpstr>The good and the evil</vt:lpstr>
      <vt:lpstr>Researcher needs</vt:lpstr>
      <vt:lpstr>Needs of data owners and funding bodies</vt:lpstr>
      <vt:lpstr>Single point for information</vt:lpstr>
      <vt:lpstr>Standard documentation</vt:lpstr>
      <vt:lpstr>Obstacles</vt:lpstr>
      <vt:lpstr>Ways to go</vt:lpstr>
      <vt:lpstr>Summary</vt:lpstr>
      <vt:lpstr>Thank you for your attention</vt:lpstr>
    </vt:vector>
  </TitlesOfParts>
  <Company>Bundesagentur für Arbeit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KlotzP</dc:creator>
  <cp:lastModifiedBy>David H. Schiller</cp:lastModifiedBy>
  <cp:revision>160</cp:revision>
  <dcterms:created xsi:type="dcterms:W3CDTF">2007-10-24T11:24:10Z</dcterms:created>
  <dcterms:modified xsi:type="dcterms:W3CDTF">2013-12-03T06:08:19Z</dcterms:modified>
</cp:coreProperties>
</file>