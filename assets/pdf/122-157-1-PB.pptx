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7" r:id="rId2"/>
    <p:sldId id="263" r:id="rId3"/>
    <p:sldId id="259" r:id="rId4"/>
    <p:sldId id="264" r:id="rId5"/>
    <p:sldId id="265" r:id="rId6"/>
    <p:sldId id="278" r:id="rId7"/>
    <p:sldId id="267" r:id="rId8"/>
    <p:sldId id="266" r:id="rId9"/>
    <p:sldId id="281" r:id="rId10"/>
    <p:sldId id="275" r:id="rId11"/>
    <p:sldId id="280" r:id="rId12"/>
    <p:sldId id="268" r:id="rId13"/>
    <p:sldId id="279" r:id="rId14"/>
    <p:sldId id="273" r:id="rId15"/>
    <p:sldId id="282" r:id="rId16"/>
    <p:sldId id="274" r:id="rId17"/>
    <p:sldId id="272" r:id="rId18"/>
    <p:sldId id="260" r:id="rId19"/>
  </p:sldIdLst>
  <p:sldSz cx="9144000" cy="6858000" type="screen4x3"/>
  <p:notesSz cx="6858000" cy="9144000"/>
  <p:defaultTextStyle>
    <a:defPPr>
      <a:defRPr lang="sv-SE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ECFF"/>
    <a:srgbClr val="99CCFF"/>
    <a:srgbClr val="B2B2B2"/>
    <a:srgbClr val="1AC9F2"/>
    <a:srgbClr val="EF781F"/>
    <a:srgbClr val="6666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70870" autoAdjust="0"/>
  </p:normalViewPr>
  <p:slideViewPr>
    <p:cSldViewPr snapToGrid="0" snapToObjects="1">
      <p:cViewPr>
        <p:scale>
          <a:sx n="81" d="100"/>
          <a:sy n="81" d="100"/>
        </p:scale>
        <p:origin x="-1050" y="11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3A89B04-9022-42BA-A216-1BF101D7AF9E}" type="datetimeFigureOut">
              <a:rPr lang="nb-NO"/>
              <a:pPr>
                <a:defRPr/>
              </a:pPr>
              <a:t>04.12.2013</a:t>
            </a:fld>
            <a:endParaRPr lang="nb-NO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nb-NO"/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E193B0C-2035-4F42-9628-8B24E4D83C17}" type="slidenum">
              <a:rPr lang="nb-NO"/>
              <a:pPr>
                <a:defRPr/>
              </a:pPr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870078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10ADD55-324C-4F02-9A06-D39F77CC6AD8}" type="datetimeFigureOut">
              <a:rPr lang="en-US"/>
              <a:pPr>
                <a:defRPr/>
              </a:pPr>
              <a:t>12/4/2013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8BF0EDB-57B2-4192-A575-B848B376C6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693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b-NO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b-NO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b-NO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Underrubri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sv-SE" smtClean="0"/>
              <a:t>Klicka här för att ändra format på underrubrik i bakgrunden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727B4-CFA6-4089-8E79-1C5C6A0E7308}" type="datetime1">
              <a:rPr lang="sv-SE" smtClean="0"/>
              <a:t>2013-12-04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F081F-75F4-4B61-ACE2-C1BEDFCA254B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6F03A-FB5B-49C0-A62E-189E7CA7F278}" type="datetime1">
              <a:rPr lang="sv-SE" smtClean="0"/>
              <a:t>2013-12-04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BE0D8C-ACDF-4334-9D81-AFE8A9A656A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8D330A-A724-41F2-A6D6-B096457B3E33}" type="datetime1">
              <a:rPr lang="sv-SE" smtClean="0"/>
              <a:t>2013-12-04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06357B-EACF-4495-9EAE-E11A88958D1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innehålls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sz="half" idx="1"/>
          </p:nvPr>
        </p:nvSpPr>
        <p:spPr>
          <a:xfrm>
            <a:off x="457200" y="2379785"/>
            <a:ext cx="4038600" cy="374637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648200" y="2379785"/>
            <a:ext cx="4038600" cy="374637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D3EEA-8FC9-45F3-ACDB-A3CEF12756F3}" type="datetime1">
              <a:rPr lang="sv-SE" smtClean="0"/>
              <a:t>2013-12-04</a:t>
            </a:fld>
            <a:endParaRPr lang="sv-SE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73BFF4-E1CB-46A5-9233-AA0D357DE5E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4" name="Platshållare för innehåll 3"/>
          <p:cNvSpPr>
            <a:spLocks noGrp="1"/>
          </p:cNvSpPr>
          <p:nvPr>
            <p:ph sz="half" idx="2"/>
          </p:nvPr>
        </p:nvSpPr>
        <p:spPr>
          <a:xfrm>
            <a:off x="457200" y="2391507"/>
            <a:ext cx="4040188" cy="373465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5" name="Platshållare för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6" name="Platshållare för innehåll 5"/>
          <p:cNvSpPr>
            <a:spLocks noGrp="1"/>
          </p:cNvSpPr>
          <p:nvPr>
            <p:ph sz="quarter" idx="4"/>
          </p:nvPr>
        </p:nvSpPr>
        <p:spPr>
          <a:xfrm>
            <a:off x="4645025" y="2391507"/>
            <a:ext cx="4041775" cy="373465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sv-SE" dirty="0" smtClean="0"/>
              <a:t>Klicka här för att ändra format på bakgrundstexten</a:t>
            </a:r>
          </a:p>
          <a:p>
            <a:pPr lvl="1"/>
            <a:r>
              <a:rPr lang="sv-SE" dirty="0" smtClean="0"/>
              <a:t>Nivå två</a:t>
            </a:r>
          </a:p>
          <a:p>
            <a:pPr lvl="2"/>
            <a:r>
              <a:rPr lang="sv-SE" dirty="0" smtClean="0"/>
              <a:t>Nivå tre</a:t>
            </a:r>
          </a:p>
          <a:p>
            <a:pPr lvl="3"/>
            <a:r>
              <a:rPr lang="sv-SE" dirty="0" smtClean="0"/>
              <a:t>Nivå fyra</a:t>
            </a:r>
          </a:p>
          <a:p>
            <a:pPr lvl="4"/>
            <a:r>
              <a:rPr lang="sv-SE" dirty="0" smtClean="0"/>
              <a:t>Nivå fem</a:t>
            </a:r>
            <a:endParaRPr lang="sv-SE" dirty="0"/>
          </a:p>
        </p:txBody>
      </p:sp>
      <p:sp>
        <p:nvSpPr>
          <p:cNvPr id="7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BCFE4-43ED-4AA2-9231-561866CFEB7A}" type="datetime1">
              <a:rPr lang="sv-SE" smtClean="0"/>
              <a:t>2013-12-04</a:t>
            </a:fld>
            <a:endParaRPr lang="sv-SE"/>
          </a:p>
        </p:txBody>
      </p:sp>
      <p:sp>
        <p:nvSpPr>
          <p:cNvPr id="8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9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33CADF-02D9-476D-A025-187FA888EB34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4" descr="Logo.tif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35000" y="373063"/>
            <a:ext cx="7110413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8" name="Pladsholder til tekst 7"/>
          <p:cNvSpPr>
            <a:spLocks noGrp="1"/>
          </p:cNvSpPr>
          <p:nvPr>
            <p:ph type="body" sz="quarter" idx="13"/>
          </p:nvPr>
        </p:nvSpPr>
        <p:spPr>
          <a:xfrm>
            <a:off x="457200" y="2063750"/>
            <a:ext cx="8229600" cy="2192338"/>
          </a:xfrm>
        </p:spPr>
        <p:txBody>
          <a:bodyPr/>
          <a:lstStyle/>
          <a:p>
            <a:pPr lvl="0"/>
            <a:r>
              <a:rPr lang="da-DK" smtClean="0"/>
              <a:t>Klik for at redigere i master</a:t>
            </a:r>
          </a:p>
          <a:p>
            <a:pPr lvl="1"/>
            <a:r>
              <a:rPr lang="da-DK" smtClean="0"/>
              <a:t>Andet niveau</a:t>
            </a:r>
          </a:p>
          <a:p>
            <a:pPr lvl="2"/>
            <a:r>
              <a:rPr lang="da-DK" smtClean="0"/>
              <a:t>Tredje niveau</a:t>
            </a:r>
          </a:p>
          <a:p>
            <a:pPr lvl="3"/>
            <a:r>
              <a:rPr lang="da-DK" smtClean="0"/>
              <a:t>Fjerde niveau</a:t>
            </a:r>
          </a:p>
          <a:p>
            <a:pPr lvl="4"/>
            <a:r>
              <a:rPr lang="da-DK" smtClean="0"/>
              <a:t>Femte niveau</a:t>
            </a:r>
            <a:endParaRPr lang="da-DK"/>
          </a:p>
        </p:txBody>
      </p:sp>
      <p:sp>
        <p:nvSpPr>
          <p:cNvPr id="5" name="Platshållare för datum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857F3B-17C4-4ECF-AEAB-3C309B1577C6}" type="datetime1">
              <a:rPr lang="sv-SE" smtClean="0"/>
              <a:t>2013-12-04</a:t>
            </a:fld>
            <a:endParaRPr lang="sv-SE"/>
          </a:p>
        </p:txBody>
      </p:sp>
      <p:sp>
        <p:nvSpPr>
          <p:cNvPr id="6" name="Platshållare för sidfot 3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7" name="Platshållare för bildnumm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3CAF52-C962-4181-8521-8839CEEFE962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4" descr="Logo.tif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35000" y="373063"/>
            <a:ext cx="7110413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itel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Klik for at redigere i master</a:t>
            </a:r>
            <a:endParaRPr lang="da-DK"/>
          </a:p>
        </p:txBody>
      </p:sp>
      <p:sp>
        <p:nvSpPr>
          <p:cNvPr id="12" name="Pladsholder til indhold 11"/>
          <p:cNvSpPr>
            <a:spLocks noGrp="1"/>
          </p:cNvSpPr>
          <p:nvPr>
            <p:ph sz="quarter" idx="13"/>
          </p:nvPr>
        </p:nvSpPr>
        <p:spPr>
          <a:xfrm>
            <a:off x="457200" y="2403230"/>
            <a:ext cx="8229600" cy="3681657"/>
          </a:xfrm>
        </p:spPr>
        <p:txBody>
          <a:bodyPr/>
          <a:lstStyle/>
          <a:p>
            <a:pPr lvl="0"/>
            <a:r>
              <a:rPr lang="da-DK" dirty="0" smtClean="0"/>
              <a:t>Klik for at redigere i master</a:t>
            </a:r>
          </a:p>
          <a:p>
            <a:pPr lvl="1"/>
            <a:r>
              <a:rPr lang="da-DK" dirty="0" smtClean="0"/>
              <a:t>Andet niveau</a:t>
            </a:r>
          </a:p>
          <a:p>
            <a:pPr lvl="2"/>
            <a:r>
              <a:rPr lang="da-DK" dirty="0" smtClean="0"/>
              <a:t>Tredje niveau</a:t>
            </a:r>
          </a:p>
          <a:p>
            <a:pPr lvl="3"/>
            <a:r>
              <a:rPr lang="da-DK" dirty="0" smtClean="0"/>
              <a:t>Fjerde niveau</a:t>
            </a:r>
          </a:p>
          <a:p>
            <a:pPr lvl="4"/>
            <a:r>
              <a:rPr lang="da-DK" dirty="0" smtClean="0"/>
              <a:t>Femte niveau</a:t>
            </a:r>
            <a:endParaRPr lang="da-DK" dirty="0"/>
          </a:p>
        </p:txBody>
      </p:sp>
      <p:sp>
        <p:nvSpPr>
          <p:cNvPr id="5" name="Platshållare för datum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E98FDB-BD91-4A9D-BF09-A8A5437822BF}" type="datetime1">
              <a:rPr lang="sv-SE" smtClean="0"/>
              <a:t>2013-12-04</a:t>
            </a:fld>
            <a:endParaRPr lang="sv-SE"/>
          </a:p>
        </p:txBody>
      </p:sp>
      <p:sp>
        <p:nvSpPr>
          <p:cNvPr id="6" name="Platshållare för sidfot 2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7" name="Platshållare för bildnumm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7B5025-E47F-4CB2-B31F-368F8BC303D3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ehåll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457200" y="143510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>
          <a:xfrm>
            <a:off x="3575050" y="1435100"/>
            <a:ext cx="5111750" cy="46910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92E88-D07C-419B-8E52-A59955B580F2}" type="datetime1">
              <a:rPr lang="sv-SE" smtClean="0"/>
              <a:t>2013-12-04</a:t>
            </a:fld>
            <a:endParaRPr lang="sv-SE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AE4EB-DE13-441A-9B64-3EF310A3663D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bild 2"/>
          <p:cNvSpPr>
            <a:spLocks noGrp="1"/>
          </p:cNvSpPr>
          <p:nvPr>
            <p:ph type="pic" idx="1"/>
          </p:nvPr>
        </p:nvSpPr>
        <p:spPr>
          <a:xfrm>
            <a:off x="1792288" y="1219199"/>
            <a:ext cx="5486400" cy="350837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sv-SE" noProof="0"/>
          </a:p>
        </p:txBody>
      </p:sp>
      <p:sp>
        <p:nvSpPr>
          <p:cNvPr id="4" name="Platshållare för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v-SE" smtClean="0"/>
              <a:t>Klicka här för att ändra format på bakgrundstexten</a:t>
            </a:r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9733B-C6BD-4ADA-86A2-F06280034410}" type="datetime1">
              <a:rPr lang="sv-SE" smtClean="0"/>
              <a:t>2013-12-04</a:t>
            </a:fld>
            <a:endParaRPr lang="sv-SE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B8132-829F-493B-B26A-3DDA065B8A2C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ildobjekt 4" descr="Logo.tiff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635000" y="373063"/>
            <a:ext cx="7110413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smtClean="0"/>
              <a:t>Klicka här för att ändra format</a:t>
            </a:r>
            <a:endParaRPr lang="sv-SE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5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7F3E4-8AD3-402C-AA3E-AA0B868D6595}" type="datetime1">
              <a:rPr lang="sv-SE" smtClean="0"/>
              <a:t>2013-12-04</a:t>
            </a:fld>
            <a:endParaRPr lang="sv-SE"/>
          </a:p>
        </p:txBody>
      </p:sp>
      <p:sp>
        <p:nvSpPr>
          <p:cNvPr id="6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7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DBBBEF-F3B0-4945-97C6-50A9E0159984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/>
          <p:cNvSpPr>
            <a:spLocks noGrp="1"/>
          </p:cNvSpPr>
          <p:nvPr>
            <p:ph type="title" orient="vert"/>
          </p:nvPr>
        </p:nvSpPr>
        <p:spPr>
          <a:xfrm>
            <a:off x="6629400" y="1219200"/>
            <a:ext cx="2057400" cy="4906963"/>
          </a:xfrm>
        </p:spPr>
        <p:txBody>
          <a:bodyPr vert="eaVert"/>
          <a:lstStyle/>
          <a:p>
            <a:r>
              <a:rPr lang="sv-SE" dirty="0" smtClean="0"/>
              <a:t>Klicka här för att ändra format</a:t>
            </a:r>
            <a:endParaRPr lang="sv-SE" dirty="0"/>
          </a:p>
        </p:txBody>
      </p:sp>
      <p:sp>
        <p:nvSpPr>
          <p:cNvPr id="3" name="Platshållare för lodrät text 2"/>
          <p:cNvSpPr>
            <a:spLocks noGrp="1"/>
          </p:cNvSpPr>
          <p:nvPr>
            <p:ph type="body" orient="vert" idx="1"/>
          </p:nvPr>
        </p:nvSpPr>
        <p:spPr>
          <a:xfrm>
            <a:off x="457200" y="1219200"/>
            <a:ext cx="6019800" cy="4906963"/>
          </a:xfrm>
        </p:spPr>
        <p:txBody>
          <a:bodyPr vert="eaVert"/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  <a:endParaRPr lang="sv-SE"/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4D700-329D-4B5E-BD23-D538BC574FA6}" type="datetime1">
              <a:rPr lang="sv-SE" smtClean="0"/>
              <a:t>2013-12-04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36FA7-954B-426F-9ED0-51CBB814E261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B97582-0061-4313-B674-85CCCF7130E3}" type="datetime1">
              <a:rPr lang="sv-SE" smtClean="0"/>
              <a:t>2013-12-04</a:t>
            </a:fld>
            <a:endParaRPr lang="sv-SE"/>
          </a:p>
        </p:txBody>
      </p:sp>
      <p:sp>
        <p:nvSpPr>
          <p:cNvPr id="3" name="Platshållare för sidfot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4" name="Platshållare för bild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3DE57F-ACD6-46D6-A393-60BBC9BDDF77}" type="slidenum">
              <a:rPr lang="sv-SE"/>
              <a:pPr>
                <a:defRPr/>
              </a:pPr>
              <a:t>‹#›</a:t>
            </a:fld>
            <a:endParaRPr lang="sv-S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Platshållare för rubrik 1"/>
          <p:cNvSpPr>
            <a:spLocks noGrp="1"/>
          </p:cNvSpPr>
          <p:nvPr>
            <p:ph type="title"/>
          </p:nvPr>
        </p:nvSpPr>
        <p:spPr bwMode="auto">
          <a:xfrm>
            <a:off x="457200" y="11382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sv-SE" smtClean="0"/>
              <a:t>Klicka här för att ändra format</a:t>
            </a:r>
          </a:p>
        </p:txBody>
      </p:sp>
      <p:sp>
        <p:nvSpPr>
          <p:cNvPr id="1027" name="Platshållare för text 2"/>
          <p:cNvSpPr>
            <a:spLocks noGrp="1"/>
          </p:cNvSpPr>
          <p:nvPr>
            <p:ph type="body" idx="1"/>
          </p:nvPr>
        </p:nvSpPr>
        <p:spPr bwMode="auto">
          <a:xfrm>
            <a:off x="457200" y="2427288"/>
            <a:ext cx="8229600" cy="369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 smtClean="0"/>
              <a:t>Klicka här för att ändra format på bakgrundstexten</a:t>
            </a:r>
          </a:p>
          <a:p>
            <a:pPr lvl="1"/>
            <a:r>
              <a:rPr lang="sv-SE" smtClean="0"/>
              <a:t>Nivå två</a:t>
            </a:r>
          </a:p>
          <a:p>
            <a:pPr lvl="2"/>
            <a:r>
              <a:rPr lang="sv-SE" smtClean="0"/>
              <a:t>Nivå tre</a:t>
            </a:r>
          </a:p>
          <a:p>
            <a:pPr lvl="3"/>
            <a:r>
              <a:rPr lang="sv-SE" smtClean="0"/>
              <a:t>Nivå fyra</a:t>
            </a:r>
          </a:p>
          <a:p>
            <a:pPr lvl="4"/>
            <a:r>
              <a:rPr lang="sv-SE" smtClean="0"/>
              <a:t>Nivå fem</a:t>
            </a:r>
          </a:p>
        </p:txBody>
      </p:sp>
      <p:sp>
        <p:nvSpPr>
          <p:cNvPr id="4" name="Platshållare fö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892BAD6-49E9-478B-99ED-8A796EEE5F28}" type="datetime1">
              <a:rPr lang="sv-SE" smtClean="0"/>
              <a:t>2013-12-04</a:t>
            </a:fld>
            <a:endParaRPr lang="sv-SE"/>
          </a:p>
        </p:txBody>
      </p:sp>
      <p:sp>
        <p:nvSpPr>
          <p:cNvPr id="5" name="Platshållare för sidfo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GB" smtClean="0"/>
              <a:t>IASSIST May 28 - 31 May, Cologne</a:t>
            </a:r>
            <a:endParaRPr lang="sv-SE"/>
          </a:p>
        </p:txBody>
      </p:sp>
      <p:sp>
        <p:nvSpPr>
          <p:cNvPr id="6" name="Platshållare för bild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23723B4-7DD6-46AD-A28E-E9F3B5F4AC16}" type="slidenum">
              <a:rPr lang="sv-SE"/>
              <a:pPr>
                <a:defRPr/>
              </a:pPr>
              <a:t>‹#›</a:t>
            </a:fld>
            <a:endParaRPr lang="sv-SE"/>
          </a:p>
        </p:txBody>
      </p:sp>
      <p:pic>
        <p:nvPicPr>
          <p:cNvPr id="1031" name="Bildobjekt 4" descr="Logo.tiff"/>
          <p:cNvPicPr>
            <a:picLocks noChangeAspect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635000" y="373063"/>
            <a:ext cx="7110413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2"/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7747000" y="6002338"/>
            <a:ext cx="9810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61" r:id="rId6"/>
    <p:sldLayoutId id="2147483662" r:id="rId7"/>
    <p:sldLayoutId id="2147483655" r:id="rId8"/>
    <p:sldLayoutId id="2147483654" r:id="rId9"/>
    <p:sldLayoutId id="2147483663" r:id="rId10"/>
    <p:sldLayoutId id="2147483653" r:id="rId11"/>
    <p:sldLayoutId id="2147483652" r:id="rId1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havard.bakkmoen@nsd.uib.no" TargetMode="External"/><Relationship Id="rId2" Type="http://schemas.openxmlformats.org/officeDocument/2006/relationships/hyperlink" Target="mailto:hilde.orten@nsd.uib.no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mailto:Sally.Widdop.1@city.ac.uk" TargetMode="External"/><Relationship Id="rId4" Type="http://schemas.openxmlformats.org/officeDocument/2006/relationships/hyperlink" Target="mailto:Yvette.Prestage.1@city.ac.uk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Undertitel 2"/>
          <p:cNvSpPr>
            <a:spLocks noGrp="1"/>
          </p:cNvSpPr>
          <p:nvPr>
            <p:ph type="subTitle" idx="1"/>
          </p:nvPr>
        </p:nvSpPr>
        <p:spPr>
          <a:xfrm>
            <a:off x="469900" y="4238625"/>
            <a:ext cx="9144000" cy="175260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da-DK" sz="2200" smtClean="0">
                <a:solidFill>
                  <a:srgbClr val="898989"/>
                </a:solidFill>
              </a:rPr>
              <a:t>Hilde Orten, Håvard V. Bakkmoen</a:t>
            </a:r>
            <a:r>
              <a:rPr lang="da-DK" sz="2800" smtClean="0">
                <a:solidFill>
                  <a:srgbClr val="898989"/>
                </a:solidFill>
              </a:rPr>
              <a:t> </a:t>
            </a:r>
          </a:p>
          <a:p>
            <a:pPr algn="l" eaLnBrk="1" hangingPunct="1">
              <a:lnSpc>
                <a:spcPct val="90000"/>
              </a:lnSpc>
            </a:pPr>
            <a:r>
              <a:rPr lang="da-DK" sz="2400" i="1" smtClean="0">
                <a:solidFill>
                  <a:srgbClr val="898989"/>
                </a:solidFill>
              </a:rPr>
              <a:t>			</a:t>
            </a:r>
            <a:r>
              <a:rPr lang="da-DK" sz="2000" i="1" smtClean="0">
                <a:solidFill>
                  <a:srgbClr val="898989"/>
                </a:solidFill>
              </a:rPr>
              <a:t>NSD - Norwegian Social Science Data Services</a:t>
            </a:r>
          </a:p>
          <a:p>
            <a:pPr algn="l" eaLnBrk="1" hangingPunct="1">
              <a:lnSpc>
                <a:spcPct val="90000"/>
              </a:lnSpc>
            </a:pPr>
            <a:r>
              <a:rPr lang="da-DK" sz="2200" smtClean="0">
                <a:solidFill>
                  <a:srgbClr val="898989"/>
                </a:solidFill>
              </a:rPr>
              <a:t>Yvette Prestage, Sally Widdop</a:t>
            </a:r>
          </a:p>
          <a:p>
            <a:pPr algn="l" eaLnBrk="1" hangingPunct="1">
              <a:lnSpc>
                <a:spcPct val="90000"/>
              </a:lnSpc>
            </a:pPr>
            <a:r>
              <a:rPr lang="da-DK" sz="2400" i="1" smtClean="0">
                <a:solidFill>
                  <a:srgbClr val="898989"/>
                </a:solidFill>
              </a:rPr>
              <a:t>		       </a:t>
            </a:r>
            <a:r>
              <a:rPr lang="da-DK" sz="2000" i="1" smtClean="0">
                <a:solidFill>
                  <a:srgbClr val="898989"/>
                </a:solidFill>
              </a:rPr>
              <a:t>City University London</a:t>
            </a:r>
          </a:p>
        </p:txBody>
      </p:sp>
      <p:sp>
        <p:nvSpPr>
          <p:cNvPr id="16387" name="Rectangle 5"/>
          <p:cNvSpPr>
            <a:spLocks noChangeArrowheads="1"/>
          </p:cNvSpPr>
          <p:nvPr/>
        </p:nvSpPr>
        <p:spPr bwMode="auto">
          <a:xfrm>
            <a:off x="269875" y="1679575"/>
            <a:ext cx="9097963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sz="2800">
                <a:latin typeface="Calibri" pitchFamily="34" charset="0"/>
              </a:rPr>
              <a:t>New Tools for Complex Surveys: </a:t>
            </a:r>
          </a:p>
          <a:p>
            <a:endParaRPr lang="en-GB" sz="2800">
              <a:latin typeface="Calibri" pitchFamily="34" charset="0"/>
            </a:endParaRPr>
          </a:p>
          <a:p>
            <a:r>
              <a:rPr lang="en-GB" sz="2800">
                <a:latin typeface="Calibri" pitchFamily="34" charset="0"/>
              </a:rPr>
              <a:t>the DASISH Questionnaire Design and Development Tool </a:t>
            </a:r>
          </a:p>
          <a:p>
            <a:r>
              <a:rPr lang="en-GB" sz="2800">
                <a:latin typeface="Calibri" pitchFamily="34" charset="0"/>
              </a:rPr>
              <a:t>and the Question Variable Data Base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 idx="4294967295"/>
          </p:nvPr>
        </p:nvSpPr>
        <p:spPr>
          <a:xfrm>
            <a:off x="293688" y="768350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Outline</a:t>
            </a:r>
            <a:endParaRPr lang="en-US" smtClean="0"/>
          </a:p>
        </p:txBody>
      </p:sp>
      <p:sp>
        <p:nvSpPr>
          <p:cNvPr id="17410" name="Content Placeholder 2"/>
          <p:cNvSpPr>
            <a:spLocks noGrp="1"/>
          </p:cNvSpPr>
          <p:nvPr>
            <p:ph idx="4294967295"/>
          </p:nvPr>
        </p:nvSpPr>
        <p:spPr>
          <a:xfrm>
            <a:off x="457200" y="1758950"/>
            <a:ext cx="8229600" cy="3698875"/>
          </a:xfrm>
        </p:spPr>
        <p:txBody>
          <a:bodyPr/>
          <a:lstStyle/>
          <a:p>
            <a:r>
              <a:rPr lang="en-US" sz="2400" dirty="0" smtClean="0"/>
              <a:t>Introduction</a:t>
            </a:r>
          </a:p>
          <a:p>
            <a:pPr lvl="1"/>
            <a:r>
              <a:rPr lang="en-GB" sz="2000" dirty="0" smtClean="0"/>
              <a:t>the </a:t>
            </a:r>
            <a:r>
              <a:rPr lang="en-US" sz="2000" dirty="0" smtClean="0"/>
              <a:t>Data Service Infrastructure for the Social Sciences and Humanities (</a:t>
            </a:r>
            <a:r>
              <a:rPr lang="en-GB" sz="2000" dirty="0" smtClean="0"/>
              <a:t>DASISH) task 3.2 tools and interoperability</a:t>
            </a:r>
          </a:p>
          <a:p>
            <a:pPr lvl="1"/>
            <a:r>
              <a:rPr lang="en-GB" sz="2000" dirty="0" smtClean="0"/>
              <a:t>the Questionnaire Design and Development Tool (QDDT) </a:t>
            </a:r>
          </a:p>
          <a:p>
            <a:pPr lvl="1"/>
            <a:r>
              <a:rPr lang="en-GB" sz="2000" dirty="0" smtClean="0"/>
              <a:t>the Question Variable Data Base (QVDB)</a:t>
            </a:r>
          </a:p>
          <a:p>
            <a:r>
              <a:rPr lang="en-US" sz="2400" dirty="0" smtClean="0"/>
              <a:t>DDI usage </a:t>
            </a:r>
          </a:p>
          <a:p>
            <a:pPr lvl="1"/>
            <a:r>
              <a:rPr lang="en-US" sz="2000" dirty="0" smtClean="0"/>
              <a:t>Why DDI?</a:t>
            </a:r>
          </a:p>
          <a:p>
            <a:pPr lvl="1"/>
            <a:r>
              <a:rPr lang="en-US" sz="2000" dirty="0" smtClean="0"/>
              <a:t>What  DDI will be used?</a:t>
            </a:r>
          </a:p>
          <a:p>
            <a:pPr lvl="1"/>
            <a:r>
              <a:rPr lang="en-US" sz="2000" dirty="0" smtClean="0"/>
              <a:t>How we work with DDI in </a:t>
            </a:r>
            <a:r>
              <a:rPr lang="en-US" sz="2000" dirty="0"/>
              <a:t>p</a:t>
            </a:r>
            <a:r>
              <a:rPr lang="en-US" sz="2000" dirty="0" smtClean="0"/>
              <a:t>ractice</a:t>
            </a:r>
            <a:endParaRPr lang="en-US" sz="2000" dirty="0" smtClean="0"/>
          </a:p>
          <a:p>
            <a:r>
              <a:rPr lang="en-US" sz="2400" dirty="0" smtClean="0"/>
              <a:t>A common metadata understanding for the three tools</a:t>
            </a:r>
          </a:p>
          <a:p>
            <a:pPr lvl="1"/>
            <a:r>
              <a:rPr lang="en-US" sz="2000" dirty="0" smtClean="0"/>
              <a:t>Work towards a common metadata understanding for the task 3.2 tools</a:t>
            </a:r>
          </a:p>
          <a:p>
            <a:pPr lvl="1"/>
            <a:r>
              <a:rPr lang="en-US" sz="2000" dirty="0" smtClean="0"/>
              <a:t>Requirements for a common metadata model</a:t>
            </a:r>
          </a:p>
          <a:p>
            <a:pPr>
              <a:buFont typeface="Arial" charset="0"/>
              <a:buNone/>
            </a:pPr>
            <a:r>
              <a:rPr lang="en-US" sz="2400" dirty="0" smtClean="0"/>
              <a:t> 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/>
          <p:cNvSpPr>
            <a:spLocks noGrp="1"/>
          </p:cNvSpPr>
          <p:nvPr>
            <p:ph type="title"/>
          </p:nvPr>
        </p:nvSpPr>
        <p:spPr>
          <a:xfrm>
            <a:off x="457200" y="935038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DASISH task 3.2 tools</a:t>
            </a:r>
            <a:endParaRPr lang="en-US" smtClean="0"/>
          </a:p>
        </p:txBody>
      </p:sp>
      <p:sp>
        <p:nvSpPr>
          <p:cNvPr id="18434" name="Content Placeholder 2"/>
          <p:cNvSpPr>
            <a:spLocks noGrp="1"/>
          </p:cNvSpPr>
          <p:nvPr>
            <p:ph idx="1"/>
          </p:nvPr>
        </p:nvSpPr>
        <p:spPr>
          <a:xfrm>
            <a:off x="88900" y="855663"/>
            <a:ext cx="8229600" cy="3698875"/>
          </a:xfrm>
        </p:spPr>
        <p:txBody>
          <a:bodyPr/>
          <a:lstStyle/>
          <a:p>
            <a:pPr>
              <a:buFont typeface="Arial" charset="0"/>
              <a:buNone/>
            </a:pPr>
            <a:r>
              <a:rPr lang="en-US" sz="2400" smtClean="0"/>
              <a:t>    </a:t>
            </a:r>
          </a:p>
        </p:txBody>
      </p:sp>
      <p:sp>
        <p:nvSpPr>
          <p:cNvPr id="18435" name="Line 11"/>
          <p:cNvSpPr>
            <a:spLocks noChangeShapeType="1"/>
          </p:cNvSpPr>
          <p:nvPr/>
        </p:nvSpPr>
        <p:spPr bwMode="auto">
          <a:xfrm flipH="1">
            <a:off x="5119688" y="2967038"/>
            <a:ext cx="860425" cy="415925"/>
          </a:xfrm>
          <a:prstGeom prst="line">
            <a:avLst/>
          </a:prstGeom>
          <a:noFill/>
          <a:ln w="19050">
            <a:solidFill>
              <a:srgbClr val="666699"/>
            </a:solidFill>
            <a:round/>
            <a:headEnd type="triangle" w="med" len="med"/>
            <a:tailEnd/>
          </a:ln>
        </p:spPr>
        <p:txBody>
          <a:bodyPr/>
          <a:lstStyle/>
          <a:p>
            <a:endParaRPr lang="nb-NO"/>
          </a:p>
        </p:txBody>
      </p:sp>
      <p:grpSp>
        <p:nvGrpSpPr>
          <p:cNvPr id="18436" name="Group 18"/>
          <p:cNvGrpSpPr>
            <a:grpSpLocks/>
          </p:cNvGrpSpPr>
          <p:nvPr/>
        </p:nvGrpSpPr>
        <p:grpSpPr bwMode="auto">
          <a:xfrm>
            <a:off x="1384300" y="2058988"/>
            <a:ext cx="6224588" cy="3008312"/>
            <a:chOff x="608" y="1412"/>
            <a:chExt cx="4620" cy="2471"/>
          </a:xfrm>
        </p:grpSpPr>
        <p:sp>
          <p:nvSpPr>
            <p:cNvPr id="18438" name="Rectangle 4"/>
            <p:cNvSpPr>
              <a:spLocks noChangeArrowheads="1"/>
            </p:cNvSpPr>
            <p:nvPr/>
          </p:nvSpPr>
          <p:spPr bwMode="auto">
            <a:xfrm>
              <a:off x="3212" y="1412"/>
              <a:ext cx="2016" cy="57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14400"/>
              <a:r>
                <a:rPr lang="nb-NO" sz="1700">
                  <a:latin typeface="Calibri" pitchFamily="34" charset="0"/>
                </a:rPr>
                <a:t>Question Variable Database</a:t>
              </a:r>
            </a:p>
            <a:p>
              <a:pPr algn="ctr" defTabSz="914400"/>
              <a:r>
                <a:rPr lang="nb-NO" sz="1700">
                  <a:latin typeface="Calibri" pitchFamily="34" charset="0"/>
                </a:rPr>
                <a:t>QVDB</a:t>
              </a:r>
            </a:p>
          </p:txBody>
        </p:sp>
        <p:sp>
          <p:nvSpPr>
            <p:cNvPr id="18439" name="Rectangle 5"/>
            <p:cNvSpPr>
              <a:spLocks noChangeArrowheads="1"/>
            </p:cNvSpPr>
            <p:nvPr/>
          </p:nvSpPr>
          <p:spPr bwMode="auto">
            <a:xfrm>
              <a:off x="608" y="3307"/>
              <a:ext cx="2016" cy="576"/>
            </a:xfrm>
            <a:prstGeom prst="rect">
              <a:avLst/>
            </a:prstGeom>
            <a:solidFill>
              <a:srgbClr val="EF781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nb-NO" sz="1700">
                  <a:latin typeface="Calibri" pitchFamily="34" charset="0"/>
                </a:rPr>
                <a:t>Translation Management Tool</a:t>
              </a:r>
            </a:p>
            <a:p>
              <a:pPr algn="ctr"/>
              <a:r>
                <a:rPr lang="nb-NO" sz="1700">
                  <a:latin typeface="Calibri" pitchFamily="34" charset="0"/>
                </a:rPr>
                <a:t>TMT</a:t>
              </a:r>
            </a:p>
          </p:txBody>
        </p:sp>
        <p:sp>
          <p:nvSpPr>
            <p:cNvPr id="18440" name="Rectangle 6"/>
            <p:cNvSpPr>
              <a:spLocks noChangeArrowheads="1"/>
            </p:cNvSpPr>
            <p:nvPr/>
          </p:nvSpPr>
          <p:spPr bwMode="auto">
            <a:xfrm>
              <a:off x="608" y="1412"/>
              <a:ext cx="2016" cy="576"/>
            </a:xfrm>
            <a:prstGeom prst="rect">
              <a:avLst/>
            </a:prstGeom>
            <a:solidFill>
              <a:srgbClr val="1AC9F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nb-NO" sz="1700">
                  <a:latin typeface="Calibri" pitchFamily="34" charset="0"/>
                </a:rPr>
                <a:t>Questionnaire Design </a:t>
              </a:r>
            </a:p>
            <a:p>
              <a:pPr algn="ctr"/>
              <a:r>
                <a:rPr lang="nb-NO" sz="1700">
                  <a:latin typeface="Calibri" pitchFamily="34" charset="0"/>
                </a:rPr>
                <a:t>and Development Tool</a:t>
              </a:r>
            </a:p>
            <a:p>
              <a:pPr algn="ctr"/>
              <a:r>
                <a:rPr lang="nb-NO" sz="1700">
                  <a:latin typeface="Calibri" pitchFamily="34" charset="0"/>
                </a:rPr>
                <a:t>QDDT</a:t>
              </a:r>
            </a:p>
          </p:txBody>
        </p:sp>
        <p:sp>
          <p:nvSpPr>
            <p:cNvPr id="18441" name="Rectangle 7"/>
            <p:cNvSpPr>
              <a:spLocks noChangeArrowheads="1"/>
            </p:cNvSpPr>
            <p:nvPr/>
          </p:nvSpPr>
          <p:spPr bwMode="auto">
            <a:xfrm>
              <a:off x="3212" y="3307"/>
              <a:ext cx="2016" cy="57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nb-NO" sz="1700">
                  <a:latin typeface="Calibri" pitchFamily="34" charset="0"/>
                </a:rPr>
                <a:t>Survey Quality Predictor</a:t>
              </a:r>
            </a:p>
            <a:p>
              <a:pPr algn="ctr"/>
              <a:r>
                <a:rPr lang="nb-NO" sz="1700">
                  <a:latin typeface="Calibri" pitchFamily="34" charset="0"/>
                </a:rPr>
                <a:t>SQP</a:t>
              </a:r>
            </a:p>
          </p:txBody>
        </p:sp>
        <p:sp>
          <p:nvSpPr>
            <p:cNvPr id="18442" name="Line 8"/>
            <p:cNvSpPr>
              <a:spLocks noChangeShapeType="1"/>
            </p:cNvSpPr>
            <p:nvPr/>
          </p:nvSpPr>
          <p:spPr bwMode="auto">
            <a:xfrm>
              <a:off x="1573" y="2234"/>
              <a:ext cx="0" cy="833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43" name="Line 9"/>
            <p:cNvSpPr>
              <a:spLocks noChangeShapeType="1"/>
            </p:cNvSpPr>
            <p:nvPr/>
          </p:nvSpPr>
          <p:spPr bwMode="auto">
            <a:xfrm>
              <a:off x="3441" y="2933"/>
              <a:ext cx="562" cy="272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prstDash val="dash"/>
              <a:round/>
              <a:headEnd/>
              <a:tailEnd type="triangle" w="med" len="me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44" name="Line 10"/>
            <p:cNvSpPr>
              <a:spLocks noChangeShapeType="1"/>
            </p:cNvSpPr>
            <p:nvPr/>
          </p:nvSpPr>
          <p:spPr bwMode="auto">
            <a:xfrm>
              <a:off x="2701" y="1688"/>
              <a:ext cx="371" cy="0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45" name="Line 12"/>
            <p:cNvSpPr>
              <a:spLocks noChangeShapeType="1"/>
            </p:cNvSpPr>
            <p:nvPr/>
          </p:nvSpPr>
          <p:spPr bwMode="auto">
            <a:xfrm>
              <a:off x="4165" y="2203"/>
              <a:ext cx="0" cy="842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prstDash val="dash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46" name="Line 13"/>
            <p:cNvSpPr>
              <a:spLocks noChangeShapeType="1"/>
            </p:cNvSpPr>
            <p:nvPr/>
          </p:nvSpPr>
          <p:spPr bwMode="auto">
            <a:xfrm>
              <a:off x="2701" y="3610"/>
              <a:ext cx="371" cy="0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prstDash val="dash"/>
              <a:round/>
              <a:headEnd type="triangle" w="med" len="med"/>
              <a:tailEnd type="triangle" w="med" len="med"/>
            </a:ln>
          </p:spPr>
          <p:txBody>
            <a:bodyPr/>
            <a:lstStyle/>
            <a:p>
              <a:endParaRPr lang="nb-NO"/>
            </a:p>
          </p:txBody>
        </p:sp>
        <p:pic>
          <p:nvPicPr>
            <p:cNvPr id="18447" name="Picture 16" descr="logo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110" y="2269"/>
              <a:ext cx="1438" cy="6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8448" name="Line 17"/>
            <p:cNvSpPr>
              <a:spLocks noChangeShapeType="1"/>
            </p:cNvSpPr>
            <p:nvPr/>
          </p:nvSpPr>
          <p:spPr bwMode="auto">
            <a:xfrm>
              <a:off x="1735" y="2090"/>
              <a:ext cx="709" cy="363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prstDash val="dash"/>
              <a:round/>
              <a:headEnd type="triangle" w="med" len="med"/>
              <a:tailEnd/>
            </a:ln>
          </p:spPr>
          <p:txBody>
            <a:bodyPr/>
            <a:lstStyle/>
            <a:p>
              <a:endParaRPr lang="nb-NO"/>
            </a:p>
          </p:txBody>
        </p:sp>
        <p:sp>
          <p:nvSpPr>
            <p:cNvPr id="18449" name="Line 18"/>
            <p:cNvSpPr>
              <a:spLocks noChangeShapeType="1"/>
            </p:cNvSpPr>
            <p:nvPr/>
          </p:nvSpPr>
          <p:spPr bwMode="auto">
            <a:xfrm flipH="1">
              <a:off x="1735" y="2933"/>
              <a:ext cx="680" cy="272"/>
            </a:xfrm>
            <a:prstGeom prst="line">
              <a:avLst/>
            </a:prstGeom>
            <a:noFill/>
            <a:ln w="19050">
              <a:solidFill>
                <a:srgbClr val="6666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nb-NO"/>
            </a:p>
          </p:txBody>
        </p:sp>
      </p:grpSp>
      <p:sp>
        <p:nvSpPr>
          <p:cNvPr id="18437" name="Text Box 19"/>
          <p:cNvSpPr txBox="1">
            <a:spLocks noChangeArrowheads="1"/>
          </p:cNvSpPr>
          <p:nvPr/>
        </p:nvSpPr>
        <p:spPr bwMode="auto">
          <a:xfrm>
            <a:off x="1339850" y="5514975"/>
            <a:ext cx="800893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nb-NO">
                <a:latin typeface="Calibri" pitchFamily="34" charset="0"/>
              </a:rPr>
              <a:t> Interoperability between the three tools  QDDT, TMT and QVDB is the key</a:t>
            </a:r>
          </a:p>
          <a:p>
            <a:pPr>
              <a:buFontTx/>
              <a:buChar char="•"/>
            </a:pPr>
            <a:r>
              <a:rPr lang="nb-NO">
                <a:latin typeface="Calibri" pitchFamily="34" charset="0"/>
              </a:rPr>
              <a:t> Possibilities for interoperability with SQP should be explored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/>
          <p:cNvSpPr>
            <a:spLocks/>
          </p:cNvSpPr>
          <p:nvPr/>
        </p:nvSpPr>
        <p:spPr bwMode="auto">
          <a:xfrm>
            <a:off x="141288" y="731838"/>
            <a:ext cx="900271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2600">
                <a:latin typeface="Calibri" pitchFamily="34" charset="0"/>
              </a:rPr>
              <a:t>The Questionnaire Design and Development Tool (QDDT)</a:t>
            </a:r>
            <a:endParaRPr lang="en-US" sz="2600">
              <a:latin typeface="Calibri" pitchFamily="34" charset="0"/>
            </a:endParaRPr>
          </a:p>
        </p:txBody>
      </p:sp>
      <p:sp>
        <p:nvSpPr>
          <p:cNvPr id="20482" name="TextBox 2"/>
          <p:cNvSpPr txBox="1">
            <a:spLocks noChangeArrowheads="1"/>
          </p:cNvSpPr>
          <p:nvPr/>
        </p:nvSpPr>
        <p:spPr bwMode="auto">
          <a:xfrm>
            <a:off x="0" y="1517893"/>
            <a:ext cx="9144000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Tx/>
              <a:buChar char="•"/>
            </a:pPr>
            <a:r>
              <a:rPr lang="nb-NO" sz="2200" dirty="0">
                <a:latin typeface="Calibri" pitchFamily="34" charset="0"/>
              </a:rPr>
              <a:t>Purpose</a:t>
            </a:r>
            <a:r>
              <a:rPr lang="nb-NO" sz="2200" dirty="0"/>
              <a:t>:</a:t>
            </a:r>
          </a:p>
          <a:p>
            <a:r>
              <a:rPr lang="nb-NO" sz="2000" dirty="0"/>
              <a:t>	- </a:t>
            </a:r>
            <a:r>
              <a:rPr lang="nb-NO" sz="1900" dirty="0" err="1">
                <a:latin typeface="Calibri" pitchFamily="34" charset="0"/>
              </a:rPr>
              <a:t>Facilitate</a:t>
            </a:r>
            <a:r>
              <a:rPr lang="nb-NO" sz="1900" dirty="0">
                <a:latin typeface="Calibri" pitchFamily="34" charset="0"/>
              </a:rPr>
              <a:t> and </a:t>
            </a:r>
            <a:r>
              <a:rPr lang="nb-NO" sz="1900" dirty="0" err="1">
                <a:latin typeface="Calibri" pitchFamily="34" charset="0"/>
              </a:rPr>
              <a:t>document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questionnaire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development</a:t>
            </a:r>
            <a:r>
              <a:rPr lang="nb-NO" sz="1900" dirty="0">
                <a:latin typeface="Calibri" pitchFamily="34" charset="0"/>
              </a:rPr>
              <a:t> </a:t>
            </a:r>
            <a:endParaRPr lang="nb-NO" sz="1900" dirty="0" smtClean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	</a:t>
            </a:r>
            <a:r>
              <a:rPr lang="nb-NO" sz="1900" dirty="0" smtClean="0">
                <a:latin typeface="Calibri" pitchFamily="34" charset="0"/>
              </a:rPr>
              <a:t>	- </a:t>
            </a:r>
            <a:r>
              <a:rPr lang="nb-NO" sz="1900" dirty="0" err="1" smtClean="0">
                <a:latin typeface="Calibri" pitchFamily="34" charset="0"/>
              </a:rPr>
              <a:t>of</a:t>
            </a:r>
            <a:r>
              <a:rPr lang="nb-NO" sz="1900" dirty="0" smtClean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the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smtClean="0">
                <a:latin typeface="Calibri" pitchFamily="34" charset="0"/>
              </a:rPr>
              <a:t>European </a:t>
            </a:r>
            <a:r>
              <a:rPr lang="nb-NO" sz="1900" dirty="0" err="1">
                <a:latin typeface="Calibri" pitchFamily="34" charset="0"/>
              </a:rPr>
              <a:t>Social</a:t>
            </a:r>
            <a:r>
              <a:rPr lang="nb-NO" sz="1900" dirty="0">
                <a:latin typeface="Calibri" pitchFamily="34" charset="0"/>
              </a:rPr>
              <a:t> Survey (ESS) </a:t>
            </a:r>
            <a:r>
              <a:rPr lang="nb-NO" sz="1900" dirty="0" err="1">
                <a:latin typeface="Calibri" pitchFamily="34" charset="0"/>
              </a:rPr>
              <a:t>researchers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involved</a:t>
            </a:r>
            <a:r>
              <a:rPr lang="nb-NO" sz="1900" dirty="0">
                <a:latin typeface="Calibri" pitchFamily="34" charset="0"/>
              </a:rPr>
              <a:t> in </a:t>
            </a:r>
            <a:r>
              <a:rPr lang="nb-NO" sz="1900" dirty="0" err="1" smtClean="0">
                <a:latin typeface="Calibri" pitchFamily="34" charset="0"/>
              </a:rPr>
              <a:t>questionnaire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smtClean="0">
                <a:latin typeface="Calibri" pitchFamily="34" charset="0"/>
              </a:rPr>
              <a:t>design </a:t>
            </a:r>
          </a:p>
          <a:p>
            <a:r>
              <a:rPr lang="nb-NO" sz="1900" dirty="0">
                <a:latin typeface="Calibri" pitchFamily="34" charset="0"/>
              </a:rPr>
              <a:t>	</a:t>
            </a:r>
            <a:r>
              <a:rPr lang="nb-NO" sz="1900" dirty="0" smtClean="0">
                <a:latin typeface="Calibri" pitchFamily="34" charset="0"/>
              </a:rPr>
              <a:t>	- </a:t>
            </a:r>
            <a:r>
              <a:rPr lang="nb-NO" sz="1900" dirty="0" err="1" smtClean="0">
                <a:latin typeface="Calibri" pitchFamily="34" charset="0"/>
              </a:rPr>
              <a:t>of</a:t>
            </a:r>
            <a:r>
              <a:rPr lang="nb-NO" sz="1900" dirty="0" smtClean="0">
                <a:latin typeface="Calibri" pitchFamily="34" charset="0"/>
              </a:rPr>
              <a:t> </a:t>
            </a:r>
            <a:r>
              <a:rPr lang="nb-NO" sz="1900" dirty="0" err="1" smtClean="0">
                <a:latin typeface="Calibri" pitchFamily="34" charset="0"/>
              </a:rPr>
              <a:t>other</a:t>
            </a:r>
            <a:r>
              <a:rPr lang="nb-NO" sz="1900" dirty="0" smtClean="0">
                <a:latin typeface="Calibri" pitchFamily="34" charset="0"/>
              </a:rPr>
              <a:t> survey </a:t>
            </a:r>
            <a:r>
              <a:rPr lang="nb-NO" sz="1900" dirty="0" err="1" smtClean="0">
                <a:latin typeface="Calibri" pitchFamily="34" charset="0"/>
              </a:rPr>
              <a:t>projects</a:t>
            </a:r>
            <a:endParaRPr lang="nb-NO" sz="1900" dirty="0" smtClean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	- Reveal </a:t>
            </a:r>
            <a:r>
              <a:rPr lang="nb-NO" sz="1900" dirty="0" err="1">
                <a:latin typeface="Calibri" pitchFamily="34" charset="0"/>
              </a:rPr>
              <a:t>rationale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behind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the</a:t>
            </a:r>
            <a:r>
              <a:rPr lang="nb-NO" sz="1900" dirty="0">
                <a:latin typeface="Calibri" pitchFamily="34" charset="0"/>
              </a:rPr>
              <a:t> design </a:t>
            </a:r>
            <a:r>
              <a:rPr lang="nb-NO" sz="1900" dirty="0" err="1">
                <a:latin typeface="Calibri" pitchFamily="34" charset="0"/>
              </a:rPr>
              <a:t>of</a:t>
            </a:r>
            <a:r>
              <a:rPr lang="nb-NO" sz="1900" dirty="0">
                <a:latin typeface="Calibri" pitchFamily="34" charset="0"/>
              </a:rPr>
              <a:t> questions and </a:t>
            </a:r>
            <a:r>
              <a:rPr lang="nb-NO" sz="1900" dirty="0" err="1">
                <a:latin typeface="Calibri" pitchFamily="34" charset="0"/>
              </a:rPr>
              <a:t>entire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modules</a:t>
            </a:r>
            <a:endParaRPr lang="nb-NO" sz="1900" dirty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	- </a:t>
            </a:r>
            <a:r>
              <a:rPr lang="nb-NO" sz="1900" dirty="0" err="1">
                <a:latin typeface="Calibri" pitchFamily="34" charset="0"/>
              </a:rPr>
              <a:t>Document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results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of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pretesting</a:t>
            </a:r>
            <a:r>
              <a:rPr lang="nb-NO" sz="1900" dirty="0">
                <a:latin typeface="Calibri" pitchFamily="34" charset="0"/>
              </a:rPr>
              <a:t> </a:t>
            </a:r>
          </a:p>
          <a:p>
            <a:r>
              <a:rPr lang="nb-NO" sz="1900" dirty="0">
                <a:latin typeface="Calibri" pitchFamily="34" charset="0"/>
              </a:rPr>
              <a:t>	- </a:t>
            </a:r>
            <a:r>
              <a:rPr lang="nb-NO" sz="1900" dirty="0" err="1">
                <a:latin typeface="Calibri" pitchFamily="34" charset="0"/>
              </a:rPr>
              <a:t>Questionnaire</a:t>
            </a:r>
            <a:r>
              <a:rPr lang="nb-NO" sz="1900" dirty="0">
                <a:latin typeface="Calibri" pitchFamily="34" charset="0"/>
              </a:rPr>
              <a:t> output (CAPI, PAPI, Web survey)</a:t>
            </a:r>
          </a:p>
          <a:p>
            <a:endParaRPr lang="nb-NO" sz="1900" dirty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	- </a:t>
            </a:r>
            <a:r>
              <a:rPr lang="nb-NO" sz="1900" dirty="0" err="1">
                <a:latin typeface="Calibri" pitchFamily="34" charset="0"/>
              </a:rPr>
              <a:t>Browsing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possibilities</a:t>
            </a:r>
            <a:r>
              <a:rPr lang="nb-NO" sz="1900" dirty="0">
                <a:latin typeface="Calibri" pitchFamily="34" charset="0"/>
              </a:rPr>
              <a:t> for </a:t>
            </a:r>
            <a:r>
              <a:rPr lang="nb-NO" sz="1900" dirty="0" err="1">
                <a:latin typeface="Calibri" pitchFamily="34" charset="0"/>
              </a:rPr>
              <a:t>researchers</a:t>
            </a:r>
            <a:r>
              <a:rPr lang="nb-NO" sz="1900" dirty="0">
                <a:latin typeface="Calibri" pitchFamily="34" charset="0"/>
              </a:rPr>
              <a:t> and students</a:t>
            </a:r>
          </a:p>
          <a:p>
            <a:r>
              <a:rPr lang="nb-NO" sz="1900" dirty="0">
                <a:latin typeface="Calibri" pitchFamily="34" charset="0"/>
              </a:rPr>
              <a:t>       -  </a:t>
            </a:r>
            <a:r>
              <a:rPr lang="nb-NO" sz="1900" dirty="0" err="1">
                <a:latin typeface="Calibri" pitchFamily="34" charset="0"/>
              </a:rPr>
              <a:t>Interoperability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with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other</a:t>
            </a:r>
            <a:r>
              <a:rPr lang="nb-NO" sz="1900" dirty="0">
                <a:latin typeface="Calibri" pitchFamily="34" charset="0"/>
              </a:rPr>
              <a:t> systems and </a:t>
            </a:r>
            <a:r>
              <a:rPr lang="nb-NO" sz="1900" dirty="0" err="1">
                <a:latin typeface="Calibri" pitchFamily="34" charset="0"/>
              </a:rPr>
              <a:t>tools</a:t>
            </a:r>
            <a:endParaRPr lang="nb-NO" sz="1900" dirty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       -  </a:t>
            </a:r>
            <a:r>
              <a:rPr lang="nb-NO" sz="1900" dirty="0" err="1">
                <a:latin typeface="Calibri" pitchFamily="34" charset="0"/>
              </a:rPr>
              <a:t>Reusable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model</a:t>
            </a:r>
            <a:r>
              <a:rPr lang="nb-NO" sz="1900" dirty="0">
                <a:latin typeface="Calibri" pitchFamily="34" charset="0"/>
              </a:rPr>
              <a:t> and </a:t>
            </a:r>
            <a:r>
              <a:rPr lang="nb-NO" sz="1900" dirty="0" err="1">
                <a:latin typeface="Calibri" pitchFamily="34" charset="0"/>
              </a:rPr>
              <a:t>code</a:t>
            </a:r>
            <a:endParaRPr lang="nb-NO" sz="1900" dirty="0">
              <a:latin typeface="Calibri" pitchFamily="34" charset="0"/>
            </a:endParaRPr>
          </a:p>
          <a:p>
            <a:endParaRPr lang="nb-NO" sz="1900" dirty="0">
              <a:latin typeface="Calibri" pitchFamily="34" charset="0"/>
            </a:endParaRPr>
          </a:p>
          <a:p>
            <a:pPr>
              <a:buFontTx/>
              <a:buChar char="•"/>
            </a:pPr>
            <a:r>
              <a:rPr lang="nb-NO" sz="2200" dirty="0" err="1">
                <a:latin typeface="Calibri" pitchFamily="34" charset="0"/>
              </a:rPr>
              <a:t>Possible</a:t>
            </a:r>
            <a:r>
              <a:rPr lang="nb-NO" sz="2200" dirty="0">
                <a:latin typeface="Calibri" pitchFamily="34" charset="0"/>
              </a:rPr>
              <a:t> </a:t>
            </a:r>
            <a:r>
              <a:rPr lang="nb-NO" sz="2200" dirty="0" err="1">
                <a:latin typeface="Calibri" pitchFamily="34" charset="0"/>
              </a:rPr>
              <a:t>users</a:t>
            </a:r>
            <a:r>
              <a:rPr lang="nb-NO" sz="2200" dirty="0">
                <a:latin typeface="Calibri" pitchFamily="34" charset="0"/>
              </a:rPr>
              <a:t>:</a:t>
            </a:r>
            <a:r>
              <a:rPr lang="nb-NO" sz="2200" dirty="0"/>
              <a:t> </a:t>
            </a:r>
          </a:p>
          <a:p>
            <a:r>
              <a:rPr lang="nb-NO" sz="2000" dirty="0"/>
              <a:t>	 </a:t>
            </a:r>
            <a:r>
              <a:rPr lang="nb-NO" sz="1900" dirty="0">
                <a:latin typeface="Calibri" pitchFamily="34" charset="0"/>
              </a:rPr>
              <a:t>- ESS is </a:t>
            </a:r>
            <a:r>
              <a:rPr lang="nb-NO" sz="1900" dirty="0" err="1">
                <a:latin typeface="Calibri" pitchFamily="34" charset="0"/>
              </a:rPr>
              <a:t>the</a:t>
            </a:r>
            <a:r>
              <a:rPr lang="nb-NO" sz="1900" dirty="0">
                <a:latin typeface="Calibri" pitchFamily="34" charset="0"/>
              </a:rPr>
              <a:t> </a:t>
            </a:r>
            <a:r>
              <a:rPr lang="nb-NO" sz="1900" dirty="0" err="1">
                <a:latin typeface="Calibri" pitchFamily="34" charset="0"/>
              </a:rPr>
              <a:t>usecase</a:t>
            </a:r>
            <a:endParaRPr lang="nb-NO" sz="1900" dirty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	 - </a:t>
            </a:r>
            <a:r>
              <a:rPr lang="nb-NO" sz="1900" dirty="0" err="1">
                <a:latin typeface="Calibri" pitchFamily="34" charset="0"/>
              </a:rPr>
              <a:t>Other</a:t>
            </a:r>
            <a:r>
              <a:rPr lang="nb-NO" sz="1900" dirty="0">
                <a:latin typeface="Calibri" pitchFamily="34" charset="0"/>
              </a:rPr>
              <a:t> DASISH survey </a:t>
            </a:r>
            <a:r>
              <a:rPr lang="nb-NO" sz="1900" dirty="0" err="1">
                <a:latin typeface="Calibri" pitchFamily="34" charset="0"/>
              </a:rPr>
              <a:t>projects</a:t>
            </a:r>
            <a:endParaRPr lang="nb-NO" sz="1900" dirty="0">
              <a:latin typeface="Calibri" pitchFamily="34" charset="0"/>
            </a:endParaRPr>
          </a:p>
          <a:p>
            <a:r>
              <a:rPr lang="nb-NO" sz="1900" dirty="0">
                <a:latin typeface="Calibri" pitchFamily="34" charset="0"/>
              </a:rPr>
              <a:t>	 - Projects </a:t>
            </a:r>
            <a:r>
              <a:rPr lang="nb-NO" sz="1900" dirty="0" err="1">
                <a:latin typeface="Calibri" pitchFamily="34" charset="0"/>
              </a:rPr>
              <a:t>outside</a:t>
            </a:r>
            <a:r>
              <a:rPr lang="nb-NO" sz="1900" dirty="0">
                <a:latin typeface="Calibri" pitchFamily="34" charset="0"/>
              </a:rPr>
              <a:t> DASISH</a:t>
            </a:r>
          </a:p>
          <a:p>
            <a:r>
              <a:rPr lang="nb-NO" sz="1900" dirty="0">
                <a:latin typeface="Calibri" pitchFamily="34" charset="0"/>
              </a:rPr>
              <a:t>	 - </a:t>
            </a:r>
            <a:r>
              <a:rPr lang="nb-NO" sz="1900" dirty="0" err="1">
                <a:latin typeface="Calibri" pitchFamily="34" charset="0"/>
              </a:rPr>
              <a:t>Researchers</a:t>
            </a:r>
            <a:r>
              <a:rPr lang="nb-NO" sz="1900" dirty="0">
                <a:latin typeface="Calibri" pitchFamily="34" charset="0"/>
              </a:rPr>
              <a:t> and students</a:t>
            </a:r>
          </a:p>
          <a:p>
            <a:endParaRPr lang="nb-NO" sz="1900" dirty="0">
              <a:latin typeface="Calibri" pitchFamily="34" charset="0"/>
            </a:endParaRPr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/>
          <p:cNvSpPr>
            <a:spLocks/>
          </p:cNvSpPr>
          <p:nvPr/>
        </p:nvSpPr>
        <p:spPr bwMode="auto">
          <a:xfrm>
            <a:off x="288925" y="8493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3600">
                <a:latin typeface="Calibri" pitchFamily="34" charset="0"/>
              </a:rPr>
              <a:t>The Question Variable Data Base (QVDB)</a:t>
            </a:r>
            <a:endParaRPr lang="en-US" sz="3600">
              <a:latin typeface="Calibri" pitchFamily="34" charset="0"/>
            </a:endParaRPr>
          </a:p>
        </p:txBody>
      </p:sp>
      <p:sp>
        <p:nvSpPr>
          <p:cNvPr id="22530" name="TextBox 1"/>
          <p:cNvSpPr txBox="1">
            <a:spLocks noChangeArrowheads="1"/>
          </p:cNvSpPr>
          <p:nvPr/>
        </p:nvSpPr>
        <p:spPr bwMode="auto">
          <a:xfrm>
            <a:off x="427038" y="1828800"/>
            <a:ext cx="8091487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Purpose:</a:t>
            </a:r>
            <a:r>
              <a:rPr lang="nb-NO" sz="2000"/>
              <a:t> </a:t>
            </a:r>
          </a:p>
          <a:p>
            <a:pPr marL="285750" indent="-285750"/>
            <a:r>
              <a:rPr lang="nb-NO"/>
              <a:t>	</a:t>
            </a:r>
            <a:r>
              <a:rPr lang="nb-NO" sz="2000"/>
              <a:t>    - </a:t>
            </a:r>
            <a:r>
              <a:rPr lang="nb-NO" sz="2000">
                <a:latin typeface="Calibri" pitchFamily="34" charset="0"/>
              </a:rPr>
              <a:t>Searchable database with broad public profile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 - User access to survey questions in original languages, concepts, 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           variables etc.</a:t>
            </a:r>
          </a:p>
          <a:p>
            <a:pPr marL="285750" indent="-285750"/>
            <a:endParaRPr lang="nb-NO" sz="2000">
              <a:latin typeface="Calibri" pitchFamily="34" charset="0"/>
            </a:endParaRPr>
          </a:p>
          <a:p>
            <a:pPr marL="285750" indent="-285750"/>
            <a:r>
              <a:rPr lang="nb-NO" sz="2000">
                <a:latin typeface="Calibri" pitchFamily="34" charset="0"/>
              </a:rPr>
              <a:t>	    - Primary aim: To serve business processes of the ESS and other surveys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 - Browsing possibilities for researchers and students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 - Interoperability with other systems and tools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 - Reusable model and code</a:t>
            </a:r>
          </a:p>
          <a:p>
            <a:pPr marL="285750" indent="-285750"/>
            <a:endParaRPr lang="nb-NO" sz="2000">
              <a:latin typeface="Calibri" pitchFamily="34" charset="0"/>
            </a:endParaRPr>
          </a:p>
          <a:p>
            <a:pPr marL="285750" indent="-285750"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Possible users (same as for the QDDT):</a:t>
            </a:r>
            <a:r>
              <a:rPr lang="nb-NO" sz="2000"/>
              <a:t> </a:t>
            </a:r>
          </a:p>
          <a:p>
            <a:pPr marL="285750" indent="-285750"/>
            <a:r>
              <a:rPr lang="nb-NO"/>
              <a:t>	   </a:t>
            </a:r>
            <a:r>
              <a:rPr lang="nb-NO" sz="2000">
                <a:latin typeface="Calibri" pitchFamily="34" charset="0"/>
              </a:rPr>
              <a:t>- ESS is the usecase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- Other DASISH survey projects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- Projects outside DASISH</a:t>
            </a:r>
          </a:p>
          <a:p>
            <a:pPr marL="285750" indent="-285750"/>
            <a:r>
              <a:rPr lang="nb-NO" sz="2000">
                <a:latin typeface="Calibri" pitchFamily="34" charset="0"/>
              </a:rPr>
              <a:t>	   - Researchers and students</a:t>
            </a:r>
          </a:p>
          <a:p>
            <a:pPr marL="285750" indent="-285750"/>
            <a:endParaRPr lang="nb-NO" sz="20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/>
          <p:cNvSpPr>
            <a:spLocks noGrp="1"/>
          </p:cNvSpPr>
          <p:nvPr>
            <p:ph type="title"/>
          </p:nvPr>
        </p:nvSpPr>
        <p:spPr>
          <a:xfrm>
            <a:off x="363538" y="827088"/>
            <a:ext cx="9248775" cy="1143000"/>
          </a:xfrm>
        </p:spPr>
        <p:txBody>
          <a:bodyPr/>
          <a:lstStyle/>
          <a:p>
            <a:pPr algn="l"/>
            <a:r>
              <a:rPr lang="nb-NO" sz="3200" smtClean="0"/>
              <a:t>QVDB and QDDT, a selection of the requirements</a:t>
            </a:r>
            <a:endParaRPr lang="en-GB" sz="3200" smtClean="0"/>
          </a:p>
        </p:txBody>
      </p:sp>
      <p:sp>
        <p:nvSpPr>
          <p:cNvPr id="23554" name="Content Placeholder 2"/>
          <p:cNvSpPr>
            <a:spLocks noGrp="1"/>
          </p:cNvSpPr>
          <p:nvPr>
            <p:ph idx="1"/>
          </p:nvPr>
        </p:nvSpPr>
        <p:spPr>
          <a:xfrm>
            <a:off x="211138" y="1782763"/>
            <a:ext cx="8675687" cy="5075237"/>
          </a:xfrm>
        </p:spPr>
        <p:txBody>
          <a:bodyPr/>
          <a:lstStyle/>
          <a:p>
            <a:pPr lvl="1">
              <a:buFont typeface="Arial" charset="0"/>
              <a:buChar char="•"/>
            </a:pPr>
            <a:r>
              <a:rPr lang="nb-NO" sz="2000" smtClean="0"/>
              <a:t>DDI -  Lifecycle based storage structure for metadata elements of high level of granularity</a:t>
            </a:r>
          </a:p>
          <a:p>
            <a:pPr lvl="3"/>
            <a:r>
              <a:rPr lang="nb-NO" sz="1800" smtClean="0"/>
              <a:t>multilinguality</a:t>
            </a:r>
          </a:p>
          <a:p>
            <a:pPr lvl="3"/>
            <a:r>
              <a:rPr lang="nb-NO" sz="1800" smtClean="0"/>
              <a:t>study-independent components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DDI - Lifecycle and DDI-Codebook export and import possibilities </a:t>
            </a:r>
          </a:p>
          <a:p>
            <a:pPr marL="0" indent="0">
              <a:buFont typeface="Arial" charset="0"/>
              <a:buNone/>
            </a:pPr>
            <a:r>
              <a:rPr lang="nb-NO" sz="2000" smtClean="0"/>
              <a:t>             to/from  tools/web-services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Communication between the three tools should be possible; minimal human interaction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Support boolean field level search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Reusable database model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Core module based on DDI components; DDI profile; Resource Packages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Open source system</a:t>
            </a:r>
          </a:p>
          <a:p>
            <a:pPr lvl="1">
              <a:buFont typeface="Arial" charset="0"/>
              <a:buChar char="•"/>
            </a:pPr>
            <a:r>
              <a:rPr lang="nb-NO" sz="2000" smtClean="0"/>
              <a:t>User access rights</a:t>
            </a:r>
          </a:p>
          <a:p>
            <a:pPr marL="0" indent="0"/>
            <a:endParaRPr lang="en-GB" sz="2000" smtClean="0"/>
          </a:p>
          <a:p>
            <a:pPr marL="0" indent="0">
              <a:buFont typeface="Arial" charset="0"/>
              <a:buNone/>
            </a:pPr>
            <a:endParaRPr lang="en-GB" sz="20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3"/>
          <p:cNvSpPr>
            <a:spLocks noGrp="1"/>
          </p:cNvSpPr>
          <p:nvPr>
            <p:ph type="body" idx="1"/>
          </p:nvPr>
        </p:nvSpPr>
        <p:spPr>
          <a:xfrm>
            <a:off x="668338" y="2239963"/>
            <a:ext cx="3411537" cy="3886200"/>
          </a:xfrm>
          <a:solidFill>
            <a:srgbClr val="CCECFF"/>
          </a:solidFill>
        </p:spPr>
        <p:txBody>
          <a:bodyPr/>
          <a:lstStyle/>
          <a:p>
            <a:r>
              <a:rPr lang="nb-NO" smtClean="0"/>
              <a:t>The model</a:t>
            </a:r>
          </a:p>
          <a:p>
            <a:pPr>
              <a:buFont typeface="Arial" charset="0"/>
              <a:buNone/>
            </a:pPr>
            <a:r>
              <a:rPr lang="nb-NO" smtClean="0"/>
              <a:t>	</a:t>
            </a:r>
            <a:r>
              <a:rPr lang="nb-NO" sz="2800" smtClean="0"/>
              <a:t>DDI-Lifecycle (3.2) excellent metadata model for complex surveys</a:t>
            </a:r>
          </a:p>
          <a:p>
            <a:pPr>
              <a:buFont typeface="Arial" charset="0"/>
              <a:buNone/>
            </a:pPr>
            <a:endParaRPr lang="nb-NO" smtClean="0"/>
          </a:p>
        </p:txBody>
      </p:sp>
      <p:sp>
        <p:nvSpPr>
          <p:cNvPr id="24578" name="Title 1"/>
          <p:cNvSpPr>
            <a:spLocks/>
          </p:cNvSpPr>
          <p:nvPr/>
        </p:nvSpPr>
        <p:spPr bwMode="auto">
          <a:xfrm>
            <a:off x="457200" y="109696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400">
                <a:latin typeface="Calibri" pitchFamily="34" charset="0"/>
              </a:rPr>
              <a:t>DDI usage: Why?</a:t>
            </a:r>
            <a:endParaRPr lang="en-US" sz="4400">
              <a:latin typeface="Calibri" pitchFamily="34" charset="0"/>
            </a:endParaRPr>
          </a:p>
        </p:txBody>
      </p:sp>
      <p:sp>
        <p:nvSpPr>
          <p:cNvPr id="24579" name="Rectangle 5"/>
          <p:cNvSpPr>
            <a:spLocks/>
          </p:cNvSpPr>
          <p:nvPr/>
        </p:nvSpPr>
        <p:spPr bwMode="auto">
          <a:xfrm>
            <a:off x="4833938" y="2239963"/>
            <a:ext cx="3411537" cy="3886200"/>
          </a:xfrm>
          <a:prstGeom prst="rect">
            <a:avLst/>
          </a:prstGeom>
          <a:solidFill>
            <a:srgbClr val="FFCC99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</a:pPr>
            <a:r>
              <a:rPr lang="nb-NO" sz="3200">
                <a:latin typeface="Calibri" pitchFamily="34" charset="0"/>
              </a:rPr>
              <a:t>Communication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r>
              <a:rPr lang="nb-NO" sz="3200">
                <a:latin typeface="Calibri" pitchFamily="34" charset="0"/>
              </a:rPr>
              <a:t>	</a:t>
            </a:r>
            <a:r>
              <a:rPr lang="nb-NO" sz="2800">
                <a:latin typeface="Calibri" pitchFamily="34" charset="0"/>
              </a:rPr>
              <a:t>DDI makes  communication between the DASISH task 3.2 tools and other tools possible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</a:pPr>
            <a:endParaRPr lang="nb-NO" sz="32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3"/>
          <p:cNvSpPr>
            <a:spLocks noGrp="1"/>
          </p:cNvSpPr>
          <p:nvPr>
            <p:ph type="body" idx="1"/>
          </p:nvPr>
        </p:nvSpPr>
        <p:spPr>
          <a:xfrm>
            <a:off x="673100" y="2074863"/>
            <a:ext cx="8229600" cy="3698875"/>
          </a:xfrm>
        </p:spPr>
        <p:txBody>
          <a:bodyPr/>
          <a:lstStyle/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800" smtClean="0"/>
              <a:t>Which version of DDI?</a:t>
            </a:r>
          </a:p>
          <a:p>
            <a:pPr>
              <a:lnSpc>
                <a:spcPct val="80000"/>
              </a:lnSpc>
            </a:pPr>
            <a:r>
              <a:rPr lang="nb-NO" sz="2800" smtClean="0"/>
              <a:t>	 DDI-Lifecycle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800" smtClean="0"/>
              <a:t>			- 3.2 (public review version) new functionality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800" smtClean="0"/>
              <a:t>			- Look to DDI4 developments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800" smtClean="0"/>
              <a:t>		</a:t>
            </a:r>
            <a:r>
              <a:rPr lang="nb-NO" sz="2000" smtClean="0"/>
              <a:t>	</a:t>
            </a:r>
            <a:r>
              <a:rPr lang="nb-NO" sz="2800" smtClean="0"/>
              <a:t>- Loose DDI coupling to allow for compatibility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800" smtClean="0"/>
              <a:t>              with different versions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nb-NO" sz="2800" smtClean="0"/>
          </a:p>
          <a:p>
            <a:pPr>
              <a:lnSpc>
                <a:spcPct val="80000"/>
              </a:lnSpc>
            </a:pPr>
            <a:r>
              <a:rPr lang="nb-NO" sz="2800" smtClean="0"/>
              <a:t>	Compatibility with DDI-Codebook is an aim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nb-NO" sz="2800" smtClean="0"/>
          </a:p>
          <a:p>
            <a:pPr>
              <a:lnSpc>
                <a:spcPct val="80000"/>
              </a:lnSpc>
              <a:buFont typeface="Arial" charset="0"/>
              <a:buNone/>
            </a:pPr>
            <a:endParaRPr lang="nb-NO" sz="2800" smtClean="0"/>
          </a:p>
          <a:p>
            <a:pPr>
              <a:lnSpc>
                <a:spcPct val="80000"/>
              </a:lnSpc>
              <a:buFont typeface="Arial" charset="0"/>
              <a:buNone/>
            </a:pPr>
            <a:endParaRPr lang="nb-NO" sz="2000" smtClean="0"/>
          </a:p>
          <a:p>
            <a:pPr>
              <a:lnSpc>
                <a:spcPct val="80000"/>
              </a:lnSpc>
              <a:buFont typeface="Arial" charset="0"/>
              <a:buNone/>
            </a:pPr>
            <a:endParaRPr lang="nb-NO" sz="2000" smtClean="0"/>
          </a:p>
        </p:txBody>
      </p:sp>
      <p:sp>
        <p:nvSpPr>
          <p:cNvPr id="25602" name="Title 1"/>
          <p:cNvSpPr>
            <a:spLocks/>
          </p:cNvSpPr>
          <p:nvPr/>
        </p:nvSpPr>
        <p:spPr bwMode="auto">
          <a:xfrm>
            <a:off x="673100" y="112077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400">
                <a:latin typeface="Calibri" pitchFamily="34" charset="0"/>
              </a:rPr>
              <a:t>DDI usage: What?</a:t>
            </a:r>
            <a:endParaRPr lang="en-US" sz="44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/>
          <p:cNvSpPr>
            <a:spLocks/>
          </p:cNvSpPr>
          <p:nvPr/>
        </p:nvSpPr>
        <p:spPr bwMode="auto">
          <a:xfrm>
            <a:off x="673100" y="93186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400">
                <a:latin typeface="Calibri" pitchFamily="34" charset="0"/>
              </a:rPr>
              <a:t>DDI usage: What? (2)</a:t>
            </a:r>
            <a:endParaRPr lang="en-US" sz="4400">
              <a:latin typeface="Calibri" pitchFamily="34" charset="0"/>
            </a:endParaRPr>
          </a:p>
        </p:txBody>
      </p:sp>
      <p:sp>
        <p:nvSpPr>
          <p:cNvPr id="26626" name="Rectangle 3"/>
          <p:cNvSpPr>
            <a:spLocks/>
          </p:cNvSpPr>
          <p:nvPr/>
        </p:nvSpPr>
        <p:spPr bwMode="auto">
          <a:xfrm>
            <a:off x="457200" y="2263775"/>
            <a:ext cx="8686800" cy="369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800">
                <a:latin typeface="Calibri" pitchFamily="34" charset="0"/>
              </a:rPr>
              <a:t>Useful new things in DDI 3.2 </a:t>
            </a:r>
            <a:r>
              <a:rPr lang="nb-NO" sz="2400">
                <a:latin typeface="Calibri" pitchFamily="34" charset="0"/>
              </a:rPr>
              <a:t>(review version of October 2013):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4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Data element/represented variable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		- </a:t>
            </a:r>
            <a:r>
              <a:rPr lang="nb-NO" sz="2000">
                <a:latin typeface="Calibri" pitchFamily="34" charset="0"/>
              </a:rPr>
              <a:t>study independent components of variable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Data element concept/conceptual variable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		- </a:t>
            </a:r>
            <a:r>
              <a:rPr lang="nb-NO" sz="2000">
                <a:latin typeface="Calibri" pitchFamily="34" charset="0"/>
              </a:rPr>
              <a:t>links universe to concept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Separate system for missing values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endParaRPr lang="nb-NO" sz="22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Question grid 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		- </a:t>
            </a:r>
            <a:r>
              <a:rPr lang="nb-NO" sz="2000">
                <a:latin typeface="Calibri" pitchFamily="34" charset="0"/>
              </a:rPr>
              <a:t>allows for structuring complext questions/grids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		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/>
          </p:cNvSpPr>
          <p:nvPr/>
        </p:nvSpPr>
        <p:spPr bwMode="auto">
          <a:xfrm>
            <a:off x="673100" y="73342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400">
                <a:latin typeface="Calibri" pitchFamily="34" charset="0"/>
              </a:rPr>
              <a:t>DDI usage: What? (3)</a:t>
            </a:r>
            <a:endParaRPr lang="en-US" sz="4400">
              <a:latin typeface="Calibri" pitchFamily="34" charset="0"/>
            </a:endParaRPr>
          </a:p>
        </p:txBody>
      </p:sp>
      <p:sp>
        <p:nvSpPr>
          <p:cNvPr id="27650" name="Rectangle 3"/>
          <p:cNvSpPr>
            <a:spLocks/>
          </p:cNvSpPr>
          <p:nvPr/>
        </p:nvSpPr>
        <p:spPr bwMode="auto">
          <a:xfrm>
            <a:off x="457200" y="1677988"/>
            <a:ext cx="8686800" cy="369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800">
                <a:latin typeface="Calibri" pitchFamily="34" charset="0"/>
              </a:rPr>
              <a:t>Useful new things in DDI 3.2 </a:t>
            </a:r>
            <a:r>
              <a:rPr lang="nb-NO" sz="2400">
                <a:latin typeface="Calibri" pitchFamily="34" charset="0"/>
              </a:rPr>
              <a:t>ctd.: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8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Categories can have concepts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- </a:t>
            </a:r>
            <a:r>
              <a:rPr lang="nb-NO" sz="2000">
                <a:latin typeface="Calibri" pitchFamily="34" charset="0"/>
              </a:rPr>
              <a:t>useful for categories with complex meaning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 Scale domain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- </a:t>
            </a:r>
            <a:r>
              <a:rPr lang="nb-NO" sz="2000">
                <a:latin typeface="Calibri" pitchFamily="34" charset="0"/>
              </a:rPr>
              <a:t>interesting alternatives for display formats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Codelist scheme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endParaRPr lang="nb-NO" sz="22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Fragment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200">
                <a:latin typeface="Calibri" pitchFamily="34" charset="0"/>
              </a:rPr>
              <a:t>	- </a:t>
            </a:r>
            <a:r>
              <a:rPr lang="nb-NO" sz="2000">
                <a:latin typeface="Calibri" pitchFamily="34" charset="0"/>
              </a:rPr>
              <a:t>transport of maintainable/versionable objects in any order, e.g. questions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Char char="•"/>
            </a:pPr>
            <a:r>
              <a:rPr lang="nb-NO" sz="2200">
                <a:latin typeface="Calibri" pitchFamily="34" charset="0"/>
              </a:rPr>
              <a:t>New identification system</a:t>
            </a: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2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charset="0"/>
              <a:buNone/>
            </a:pPr>
            <a:endParaRPr lang="nb-NO" sz="20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3"/>
          <p:cNvSpPr>
            <a:spLocks noGrp="1"/>
          </p:cNvSpPr>
          <p:nvPr>
            <p:ph type="body" idx="1"/>
          </p:nvPr>
        </p:nvSpPr>
        <p:spPr>
          <a:xfrm>
            <a:off x="-6350" y="1570038"/>
            <a:ext cx="9150350" cy="5287962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nb-NO" sz="2400" smtClean="0"/>
              <a:t>QDDT: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400" smtClean="0"/>
              <a:t>      - </a:t>
            </a:r>
            <a:r>
              <a:rPr lang="nb-NO" sz="2200" smtClean="0"/>
              <a:t>Focus on ESS questionnaire development workflow, actors and outputs.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200" smtClean="0"/>
              <a:t>	 - Find metadata elements : 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200" smtClean="0"/>
              <a:t>			</a:t>
            </a:r>
            <a:r>
              <a:rPr lang="nb-NO" sz="2000" smtClean="0"/>
              <a:t>- Analyses of documents used in current questionnaire module development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000" smtClean="0"/>
              <a:t>				- ESS questionnaire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000" smtClean="0"/>
              <a:t>				- Questionnaire Design Template currently used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400" smtClean="0"/>
              <a:t>	</a:t>
            </a:r>
          </a:p>
          <a:p>
            <a:pPr>
              <a:lnSpc>
                <a:spcPct val="80000"/>
              </a:lnSpc>
            </a:pPr>
            <a:r>
              <a:rPr lang="nb-NO" sz="2400" smtClean="0"/>
              <a:t> QVDB: 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400" smtClean="0"/>
              <a:t>	- </a:t>
            </a:r>
            <a:r>
              <a:rPr lang="nb-NO" sz="2200" smtClean="0"/>
              <a:t>Focus on business processes of the ESS to detect possible usages of the 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200" smtClean="0"/>
              <a:t>		QVDB at different stages in the survey lifecycle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200" smtClean="0"/>
              <a:t>	- Find metadata elements: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200" smtClean="0"/>
              <a:t>			- </a:t>
            </a:r>
            <a:r>
              <a:rPr lang="nb-NO" sz="2000" smtClean="0"/>
              <a:t>Analyses of output from the different stages of the archive processes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000" smtClean="0"/>
              <a:t>				- documents, protocols, reports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r>
              <a:rPr lang="nb-NO" sz="2000" smtClean="0"/>
              <a:t>				- variable specifications</a:t>
            </a:r>
          </a:p>
          <a:p>
            <a:pPr>
              <a:lnSpc>
                <a:spcPct val="80000"/>
              </a:lnSpc>
              <a:buFont typeface="Arial" charset="0"/>
              <a:buNone/>
            </a:pPr>
            <a:endParaRPr lang="nb-NO" sz="2400" smtClean="0"/>
          </a:p>
        </p:txBody>
      </p:sp>
      <p:sp>
        <p:nvSpPr>
          <p:cNvPr id="28674" name="Title 1"/>
          <p:cNvSpPr>
            <a:spLocks/>
          </p:cNvSpPr>
          <p:nvPr/>
        </p:nvSpPr>
        <p:spPr bwMode="auto">
          <a:xfrm>
            <a:off x="673100" y="72072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400">
                <a:latin typeface="Calibri" pitchFamily="34" charset="0"/>
              </a:rPr>
              <a:t>DDI usage: How?</a:t>
            </a:r>
            <a:endParaRPr lang="en-US" sz="44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3"/>
          <p:cNvSpPr>
            <a:spLocks noGrp="1"/>
          </p:cNvSpPr>
          <p:nvPr>
            <p:ph type="body" idx="1"/>
          </p:nvPr>
        </p:nvSpPr>
        <p:spPr>
          <a:xfrm>
            <a:off x="363538" y="2460625"/>
            <a:ext cx="9144000" cy="3698875"/>
          </a:xfrm>
        </p:spPr>
        <p:txBody>
          <a:bodyPr/>
          <a:lstStyle/>
          <a:p>
            <a:pPr>
              <a:lnSpc>
                <a:spcPct val="80000"/>
              </a:lnSpc>
              <a:defRPr/>
            </a:pPr>
            <a:r>
              <a:rPr lang="nb-NO" sz="2400" dirty="0" err="1" smtClean="0"/>
              <a:t>Mapping</a:t>
            </a:r>
            <a:r>
              <a:rPr lang="nb-NO" sz="2400" dirty="0" smtClean="0"/>
              <a:t> </a:t>
            </a:r>
            <a:r>
              <a:rPr lang="nb-NO" sz="2400" dirty="0" err="1" smtClean="0"/>
              <a:t>of</a:t>
            </a:r>
            <a:r>
              <a:rPr lang="nb-NO" sz="2400" dirty="0" smtClean="0"/>
              <a:t> </a:t>
            </a:r>
            <a:r>
              <a:rPr lang="nb-NO" sz="2400" dirty="0" err="1" smtClean="0"/>
              <a:t>identified</a:t>
            </a:r>
            <a:r>
              <a:rPr lang="nb-NO" sz="2400" dirty="0" smtClean="0"/>
              <a:t> metadata elements to DDI – </a:t>
            </a:r>
            <a:r>
              <a:rPr lang="nb-NO" sz="2400" dirty="0" err="1" smtClean="0"/>
              <a:t>Lifecycle</a:t>
            </a:r>
            <a:endParaRPr lang="nb-NO" sz="2400" dirty="0" smtClean="0"/>
          </a:p>
          <a:p>
            <a:pPr marL="0" indent="0">
              <a:lnSpc>
                <a:spcPct val="80000"/>
              </a:lnSpc>
              <a:buFont typeface="Arial" charset="0"/>
              <a:buNone/>
              <a:defRPr/>
            </a:pPr>
            <a:r>
              <a:rPr lang="nb-NO" sz="2400" dirty="0"/>
              <a:t> </a:t>
            </a:r>
            <a:r>
              <a:rPr lang="nb-NO" sz="2400" dirty="0" smtClean="0"/>
              <a:t>    (DDI 3.2 </a:t>
            </a:r>
            <a:r>
              <a:rPr lang="nb-NO" sz="2400" dirty="0" err="1" smtClean="0"/>
              <a:t>public</a:t>
            </a:r>
            <a:r>
              <a:rPr lang="nb-NO" sz="2400" dirty="0" smtClean="0"/>
              <a:t> </a:t>
            </a:r>
            <a:r>
              <a:rPr lang="nb-NO" sz="2400" dirty="0" err="1" smtClean="0"/>
              <a:t>review</a:t>
            </a:r>
            <a:r>
              <a:rPr lang="nb-NO" sz="2400" dirty="0" smtClean="0"/>
              <a:t> </a:t>
            </a:r>
            <a:r>
              <a:rPr lang="nb-NO" sz="2400" dirty="0" err="1" smtClean="0"/>
              <a:t>version</a:t>
            </a:r>
            <a:r>
              <a:rPr lang="nb-NO" sz="2400" dirty="0" smtClean="0"/>
              <a:t>)</a:t>
            </a:r>
          </a:p>
          <a:p>
            <a:pPr>
              <a:lnSpc>
                <a:spcPct val="80000"/>
              </a:lnSpc>
              <a:defRPr/>
            </a:pPr>
            <a:endParaRPr lang="nb-NO" sz="2400" dirty="0" smtClean="0"/>
          </a:p>
          <a:p>
            <a:pPr>
              <a:lnSpc>
                <a:spcPct val="80000"/>
              </a:lnSpc>
              <a:defRPr/>
            </a:pPr>
            <a:r>
              <a:rPr lang="nb-NO" sz="2400" dirty="0" err="1" smtClean="0"/>
              <a:t>Explore</a:t>
            </a:r>
            <a:r>
              <a:rPr lang="nb-NO" sz="2400" dirty="0" smtClean="0"/>
              <a:t> </a:t>
            </a:r>
            <a:r>
              <a:rPr lang="nb-NO" sz="2400" dirty="0" err="1" smtClean="0"/>
              <a:t>other</a:t>
            </a:r>
            <a:r>
              <a:rPr lang="nb-NO" sz="2400" dirty="0" smtClean="0"/>
              <a:t> </a:t>
            </a:r>
            <a:r>
              <a:rPr lang="nb-NO" sz="2400" dirty="0" err="1" smtClean="0"/>
              <a:t>tools</a:t>
            </a:r>
            <a:r>
              <a:rPr lang="nb-NO" sz="2400" dirty="0" smtClean="0"/>
              <a:t> (</a:t>
            </a:r>
            <a:r>
              <a:rPr lang="nb-NO" sz="2400" dirty="0" err="1" smtClean="0"/>
              <a:t>Questacy</a:t>
            </a:r>
            <a:r>
              <a:rPr lang="nb-NO" sz="2400" dirty="0" smtClean="0"/>
              <a:t>, MISSY, </a:t>
            </a:r>
            <a:r>
              <a:rPr lang="nb-NO" sz="2400" dirty="0" err="1" smtClean="0"/>
              <a:t>Colectica</a:t>
            </a:r>
            <a:r>
              <a:rPr lang="nb-NO" sz="2400" dirty="0" smtClean="0"/>
              <a:t> etc.)</a:t>
            </a:r>
          </a:p>
          <a:p>
            <a:pPr marL="0" indent="0">
              <a:lnSpc>
                <a:spcPct val="80000"/>
              </a:lnSpc>
              <a:buFont typeface="Arial" charset="0"/>
              <a:buNone/>
              <a:defRPr/>
            </a:pPr>
            <a:endParaRPr lang="nb-NO" sz="2400" dirty="0" smtClean="0"/>
          </a:p>
          <a:p>
            <a:pPr>
              <a:lnSpc>
                <a:spcPct val="80000"/>
              </a:lnSpc>
              <a:defRPr/>
            </a:pPr>
            <a:r>
              <a:rPr lang="nb-NO" sz="2400" dirty="0" err="1" smtClean="0"/>
              <a:t>Look</a:t>
            </a:r>
            <a:r>
              <a:rPr lang="nb-NO" sz="2400" dirty="0" smtClean="0"/>
              <a:t> to DDI </a:t>
            </a:r>
            <a:r>
              <a:rPr lang="nb-NO" sz="2400" dirty="0" err="1" smtClean="0"/>
              <a:t>models</a:t>
            </a:r>
            <a:r>
              <a:rPr lang="nb-NO" sz="2400" dirty="0" smtClean="0"/>
              <a:t> for DDI </a:t>
            </a:r>
            <a:r>
              <a:rPr lang="nb-NO" sz="2400" dirty="0" err="1" smtClean="0"/>
              <a:t>based</a:t>
            </a:r>
            <a:r>
              <a:rPr lang="nb-NO" sz="2400" dirty="0" smtClean="0"/>
              <a:t> </a:t>
            </a:r>
            <a:r>
              <a:rPr lang="nb-NO" sz="2400" dirty="0" err="1" smtClean="0"/>
              <a:t>tools</a:t>
            </a:r>
            <a:r>
              <a:rPr lang="nb-NO" sz="2400" dirty="0" smtClean="0"/>
              <a:t> (MISSY)</a:t>
            </a:r>
          </a:p>
          <a:p>
            <a:pPr>
              <a:lnSpc>
                <a:spcPct val="80000"/>
              </a:lnSpc>
              <a:buFont typeface="Arial" charset="0"/>
              <a:buNone/>
              <a:defRPr/>
            </a:pPr>
            <a:r>
              <a:rPr lang="nb-NO" sz="2400" dirty="0" smtClean="0"/>
              <a:t>		</a:t>
            </a:r>
          </a:p>
          <a:p>
            <a:pPr>
              <a:lnSpc>
                <a:spcPct val="80000"/>
              </a:lnSpc>
              <a:buFont typeface="Arial" charset="0"/>
              <a:buNone/>
              <a:defRPr/>
            </a:pPr>
            <a:endParaRPr lang="nb-NO" sz="2400" dirty="0" smtClean="0"/>
          </a:p>
          <a:p>
            <a:pPr>
              <a:lnSpc>
                <a:spcPct val="80000"/>
              </a:lnSpc>
              <a:buFont typeface="Arial" charset="0"/>
              <a:buNone/>
              <a:defRPr/>
            </a:pPr>
            <a:endParaRPr lang="nb-NO" sz="2400" dirty="0" smtClean="0"/>
          </a:p>
        </p:txBody>
      </p:sp>
      <p:sp>
        <p:nvSpPr>
          <p:cNvPr id="29698" name="Title 1"/>
          <p:cNvSpPr>
            <a:spLocks/>
          </p:cNvSpPr>
          <p:nvPr/>
        </p:nvSpPr>
        <p:spPr bwMode="auto">
          <a:xfrm>
            <a:off x="673100" y="109537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400">
                <a:latin typeface="Calibri" pitchFamily="34" charset="0"/>
              </a:rPr>
              <a:t>DDI usage: How? (2)</a:t>
            </a:r>
            <a:endParaRPr lang="en-US" sz="44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/>
          <p:cNvSpPr>
            <a:spLocks noGrp="1"/>
          </p:cNvSpPr>
          <p:nvPr>
            <p:ph type="title"/>
          </p:nvPr>
        </p:nvSpPr>
        <p:spPr>
          <a:xfrm>
            <a:off x="93663" y="809625"/>
            <a:ext cx="8863012" cy="1143000"/>
          </a:xfrm>
        </p:spPr>
        <p:txBody>
          <a:bodyPr/>
          <a:lstStyle/>
          <a:p>
            <a:r>
              <a:rPr lang="nb-NO" sz="4000" smtClean="0"/>
              <a:t>Mapping of metadata elements to DDI</a:t>
            </a:r>
            <a:endParaRPr lang="en-GB" sz="4000" smtClean="0"/>
          </a:p>
        </p:txBody>
      </p:sp>
      <p:pic>
        <p:nvPicPr>
          <p:cNvPr id="30723" name="Picture 5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 l="9450" t="11971" r="46718" b="33862"/>
          <a:stretch>
            <a:fillRect/>
          </a:stretch>
        </p:blipFill>
        <p:spPr>
          <a:xfrm>
            <a:off x="1162050" y="1733550"/>
            <a:ext cx="6527800" cy="2879725"/>
          </a:xfrm>
          <a:ln>
            <a:solidFill>
              <a:schemeClr val="tx1"/>
            </a:solidFill>
          </a:ln>
        </p:spPr>
      </p:pic>
      <p:pic>
        <p:nvPicPr>
          <p:cNvPr id="29702" name="Picture 6"/>
          <p:cNvPicPr>
            <a:picLocks noChangeAspect="1" noChangeArrowheads="1"/>
          </p:cNvPicPr>
          <p:nvPr/>
        </p:nvPicPr>
        <p:blipFill>
          <a:blip r:embed="rId3"/>
          <a:srcRect l="24806" t="19543" r="55113" b="45821"/>
          <a:stretch>
            <a:fillRect/>
          </a:stretch>
        </p:blipFill>
        <p:spPr bwMode="auto">
          <a:xfrm>
            <a:off x="2836863" y="2898775"/>
            <a:ext cx="6119812" cy="39592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sp>
        <p:nvSpPr>
          <p:cNvPr id="29708" name="AutoShape 12"/>
          <p:cNvSpPr>
            <a:spLocks noChangeArrowheads="1"/>
          </p:cNvSpPr>
          <p:nvPr/>
        </p:nvSpPr>
        <p:spPr bwMode="auto">
          <a:xfrm rot="10800000" flipH="1">
            <a:off x="1212850" y="2457450"/>
            <a:ext cx="2514600" cy="29702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17694720 60000 65536"/>
              <a:gd name="T11" fmla="*/ 5898240 60000 65536"/>
              <a:gd name="T12" fmla="*/ 5898240 60000 65536"/>
              <a:gd name="T13" fmla="*/ 5898240 60000 65536"/>
              <a:gd name="T14" fmla="*/ 0 60000 65536"/>
              <a:gd name="T15" fmla="*/ 0 w 21600"/>
              <a:gd name="T16" fmla="*/ 8310 h 21600"/>
              <a:gd name="T17" fmla="*/ 6110 w 21600"/>
              <a:gd name="T18" fmla="*/ 21600 h 216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600" h="21600">
                <a:moveTo>
                  <a:pt x="15662" y="14285"/>
                </a:moveTo>
                <a:lnTo>
                  <a:pt x="21600" y="8310"/>
                </a:lnTo>
                <a:lnTo>
                  <a:pt x="18630" y="8310"/>
                </a:lnTo>
                <a:cubicBezTo>
                  <a:pt x="18630" y="3721"/>
                  <a:pt x="14430" y="0"/>
                  <a:pt x="9250" y="0"/>
                </a:cubicBezTo>
                <a:cubicBezTo>
                  <a:pt x="4141" y="0"/>
                  <a:pt x="0" y="3799"/>
                  <a:pt x="0" y="8485"/>
                </a:cubicBezTo>
                <a:lnTo>
                  <a:pt x="0" y="21600"/>
                </a:lnTo>
                <a:lnTo>
                  <a:pt x="6110" y="21600"/>
                </a:lnTo>
                <a:lnTo>
                  <a:pt x="6110" y="8310"/>
                </a:lnTo>
                <a:cubicBezTo>
                  <a:pt x="6110" y="6947"/>
                  <a:pt x="7362" y="5842"/>
                  <a:pt x="8907" y="5842"/>
                </a:cubicBezTo>
                <a:lnTo>
                  <a:pt x="9725" y="5842"/>
                </a:lnTo>
                <a:cubicBezTo>
                  <a:pt x="11269" y="5842"/>
                  <a:pt x="12520" y="6947"/>
                  <a:pt x="12520" y="8310"/>
                </a:cubicBezTo>
                <a:lnTo>
                  <a:pt x="9725" y="831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nb-NO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b-NO" sz="3200" smtClean="0"/>
              <a:t>Work towards a common metadata understanding for the three tools </a:t>
            </a:r>
          </a:p>
        </p:txBody>
      </p:sp>
      <p:sp>
        <p:nvSpPr>
          <p:cNvPr id="31746" name="Rectangle 3"/>
          <p:cNvSpPr txBox="1">
            <a:spLocks noChangeArrowheads="1"/>
          </p:cNvSpPr>
          <p:nvPr/>
        </p:nvSpPr>
        <p:spPr bwMode="auto">
          <a:xfrm>
            <a:off x="457200" y="1793875"/>
            <a:ext cx="7889875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endParaRPr lang="en-GB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endParaRPr lang="en-GB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>
                <a:latin typeface="Calibri" pitchFamily="34" charset="0"/>
              </a:rPr>
              <a:t>Requirements for a common, DDI-L based metadata model</a:t>
            </a:r>
            <a:r>
              <a:rPr lang="en-US" altLang="en-US" sz="2000">
                <a:latin typeface="Calibri" pitchFamily="34" charset="0"/>
              </a:rPr>
              <a:t>: </a:t>
            </a: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US" altLang="en-US" sz="2000">
                <a:latin typeface="Calibri" pitchFamily="34" charset="0"/>
              </a:rPr>
              <a:t>Issues</a:t>
            </a:r>
            <a:r>
              <a:rPr lang="en-GB" altLang="en-US" sz="2000">
                <a:latin typeface="Calibri" pitchFamily="34" charset="0"/>
              </a:rPr>
              <a:t> to be resolved:</a:t>
            </a: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endParaRPr lang="en-GB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altLang="en-US" sz="2000">
                <a:latin typeface="Calibri" pitchFamily="34" charset="0"/>
              </a:rPr>
              <a:t>Which metadata elements will be used in the transfer between the three tools?</a:t>
            </a:r>
            <a:endParaRPr lang="nb-NO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altLang="en-US" sz="2000">
                <a:latin typeface="Calibri" pitchFamily="34" charset="0"/>
              </a:rPr>
              <a:t>Mapping between the metadata elements and the DDI</a:t>
            </a:r>
            <a:endParaRPr lang="nb-NO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altLang="en-US" sz="2000">
                <a:latin typeface="Calibri" pitchFamily="34" charset="0"/>
              </a:rPr>
              <a:t>The direction for the flow of metadata elements between the three tools, as well as the steps in the work processes at which metadata components are exchanged</a:t>
            </a:r>
            <a:endParaRPr lang="nb-NO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altLang="en-US" sz="2000">
                <a:latin typeface="Calibri" pitchFamily="34" charset="0"/>
              </a:rPr>
              <a:t>Administrative ownership of metadata</a:t>
            </a:r>
            <a:endParaRPr lang="nb-NO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altLang="en-US" sz="2000">
                <a:latin typeface="Calibri" pitchFamily="34" charset="0"/>
              </a:rPr>
              <a:t>A common identification and versioning system, including a versioning policy</a:t>
            </a:r>
            <a:endParaRPr lang="nb-NO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Char char="•"/>
            </a:pPr>
            <a:r>
              <a:rPr lang="en-GB" altLang="en-US" sz="2000">
                <a:latin typeface="Calibri" pitchFamily="34" charset="0"/>
              </a:rPr>
              <a:t>How the exchange of DDI metadata takes place, which type of DDI instances or fragments that will be transported, and which type of web-service will be used</a:t>
            </a:r>
            <a:endParaRPr lang="nb-NO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  <a:buFontTx/>
              <a:buAutoNum type="arabicPeriod"/>
            </a:pPr>
            <a:endParaRPr lang="en-GB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endParaRPr lang="en-GB" altLang="en-US" sz="2000">
              <a:latin typeface="Calibri" pitchFamily="34" charset="0"/>
            </a:endParaRPr>
          </a:p>
          <a:p>
            <a:pPr marL="495300" indent="-495300" defTabSz="914400" eaLnBrk="0" hangingPunct="0">
              <a:lnSpc>
                <a:spcPct val="80000"/>
              </a:lnSpc>
              <a:spcBef>
                <a:spcPct val="20000"/>
              </a:spcBef>
            </a:pPr>
            <a:r>
              <a:rPr lang="en-GB" altLang="en-US" sz="2000">
                <a:latin typeface="Calibri" pitchFamily="34" charset="0"/>
              </a:rPr>
              <a:t> </a:t>
            </a:r>
          </a:p>
          <a:p>
            <a:pPr marL="495300" indent="-495300" defTabSz="914400">
              <a:lnSpc>
                <a:spcPct val="90000"/>
              </a:lnSpc>
              <a:spcBef>
                <a:spcPct val="20000"/>
              </a:spcBef>
            </a:pPr>
            <a:endParaRPr lang="en-US" altLang="en-US" sz="2000">
              <a:latin typeface="Calibri" pitchFamily="34" charset="0"/>
            </a:endParaRPr>
          </a:p>
          <a:p>
            <a:pPr marL="495300" indent="-495300" defTabSz="914400">
              <a:lnSpc>
                <a:spcPct val="90000"/>
              </a:lnSpc>
              <a:spcBef>
                <a:spcPct val="20000"/>
              </a:spcBef>
            </a:pPr>
            <a:endParaRPr lang="en-GB" altLang="en-US" sz="2000">
              <a:latin typeface="Calibri" pitchFamily="34" charset="0"/>
            </a:endParaRPr>
          </a:p>
          <a:p>
            <a:pPr marL="495300" indent="-495300" defTabSz="914400">
              <a:lnSpc>
                <a:spcPct val="90000"/>
              </a:lnSpc>
              <a:spcBef>
                <a:spcPct val="20000"/>
              </a:spcBef>
            </a:pPr>
            <a:endParaRPr lang="en-US" altLang="en-US" sz="200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 l="945" t="11340" r="67403" b="60953"/>
          <a:stretch>
            <a:fillRect/>
          </a:stretch>
        </p:blipFill>
        <p:spPr bwMode="auto">
          <a:xfrm>
            <a:off x="152400" y="1773238"/>
            <a:ext cx="8496300" cy="27876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58" name="Straight Arrow Connector 57"/>
          <p:cNvCxnSpPr>
            <a:cxnSpLocks noChangeShapeType="1"/>
          </p:cNvCxnSpPr>
          <p:nvPr/>
        </p:nvCxnSpPr>
        <p:spPr bwMode="auto">
          <a:xfrm flipH="1">
            <a:off x="2384425" y="2678113"/>
            <a:ext cx="19050" cy="89535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2744788" y="2493963"/>
            <a:ext cx="800100" cy="3533775"/>
            <a:chOff x="1054" y="345"/>
            <a:chExt cx="84" cy="371"/>
          </a:xfrm>
        </p:grpSpPr>
        <p:cxnSp>
          <p:nvCxnSpPr>
            <p:cNvPr id="24" name="Straight Arrow Connector 23"/>
            <p:cNvCxnSpPr>
              <a:cxnSpLocks noChangeShapeType="1"/>
            </p:cNvCxnSpPr>
            <p:nvPr/>
          </p:nvCxnSpPr>
          <p:spPr bwMode="auto">
            <a:xfrm flipH="1">
              <a:off x="1096" y="345"/>
              <a:ext cx="1" cy="302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27" name="TextBox 26"/>
            <p:cNvSpPr txBox="1">
              <a:spLocks noChangeArrowheads="1"/>
            </p:cNvSpPr>
            <p:nvPr/>
          </p:nvSpPr>
          <p:spPr bwMode="auto">
            <a:xfrm>
              <a:off x="1054" y="652"/>
              <a:ext cx="84" cy="64"/>
            </a:xfrm>
            <a:prstGeom prst="rect">
              <a:avLst/>
            </a:prstGeom>
            <a:noFill/>
            <a:ln w="0">
              <a:solidFill>
                <a:srgbClr val="000000">
                  <a:alpha val="50195"/>
                </a:srgbClr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nb-NO" sz="1100">
                  <a:latin typeface="Calibri" pitchFamily="34" charset="0"/>
                </a:rPr>
                <a:t>n-th draft template </a:t>
              </a:r>
            </a:p>
            <a:p>
              <a:r>
                <a:rPr lang="nb-NO" sz="1100">
                  <a:latin typeface="Calibri" pitchFamily="34" charset="0"/>
                </a:rPr>
                <a:t>elements</a:t>
              </a:r>
            </a:p>
          </p:txBody>
        </p:sp>
      </p:grpSp>
      <p:grpSp>
        <p:nvGrpSpPr>
          <p:cNvPr id="41991" name="Group 7"/>
          <p:cNvGrpSpPr>
            <a:grpSpLocks/>
          </p:cNvGrpSpPr>
          <p:nvPr/>
        </p:nvGrpSpPr>
        <p:grpSpPr bwMode="auto">
          <a:xfrm>
            <a:off x="4041775" y="2493963"/>
            <a:ext cx="723900" cy="3705225"/>
            <a:chOff x="1167" y="349"/>
            <a:chExt cx="76" cy="389"/>
          </a:xfrm>
        </p:grpSpPr>
        <p:cxnSp>
          <p:nvCxnSpPr>
            <p:cNvPr id="31" name="Straight Arrow Connector 30"/>
            <p:cNvCxnSpPr>
              <a:cxnSpLocks noChangeShapeType="1"/>
            </p:cNvCxnSpPr>
            <p:nvPr/>
          </p:nvCxnSpPr>
          <p:spPr bwMode="auto">
            <a:xfrm flipH="1">
              <a:off x="1203" y="349"/>
              <a:ext cx="1" cy="302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32" name="TextBox 31"/>
            <p:cNvSpPr txBox="1">
              <a:spLocks noChangeArrowheads="1"/>
            </p:cNvSpPr>
            <p:nvPr/>
          </p:nvSpPr>
          <p:spPr bwMode="auto">
            <a:xfrm>
              <a:off x="1167" y="656"/>
              <a:ext cx="76" cy="82"/>
            </a:xfrm>
            <a:prstGeom prst="rect">
              <a:avLst/>
            </a:prstGeom>
            <a:noFill/>
            <a:ln w="0">
              <a:solidFill>
                <a:srgbClr val="000000">
                  <a:alpha val="50195"/>
                </a:srgbClr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nb-NO" sz="1100">
                  <a:latin typeface="Calibri" pitchFamily="34" charset="0"/>
                </a:rPr>
                <a:t>n+1-th draft template </a:t>
              </a:r>
            </a:p>
            <a:p>
              <a:r>
                <a:rPr lang="nb-NO" sz="1100">
                  <a:latin typeface="Calibri" pitchFamily="34" charset="0"/>
                </a:rPr>
                <a:t>elements</a:t>
              </a:r>
            </a:p>
          </p:txBody>
        </p:sp>
      </p:grpSp>
      <p:grpSp>
        <p:nvGrpSpPr>
          <p:cNvPr id="41994" name="Group 10"/>
          <p:cNvGrpSpPr>
            <a:grpSpLocks/>
          </p:cNvGrpSpPr>
          <p:nvPr/>
        </p:nvGrpSpPr>
        <p:grpSpPr bwMode="auto">
          <a:xfrm>
            <a:off x="6057900" y="2493963"/>
            <a:ext cx="800100" cy="3744912"/>
            <a:chOff x="1258" y="18"/>
            <a:chExt cx="84" cy="392"/>
          </a:xfrm>
        </p:grpSpPr>
        <p:cxnSp>
          <p:nvCxnSpPr>
            <p:cNvPr id="52" name="Straight Arrow Connector 51"/>
            <p:cNvCxnSpPr>
              <a:cxnSpLocks noChangeShapeType="1"/>
            </p:cNvCxnSpPr>
            <p:nvPr/>
          </p:nvCxnSpPr>
          <p:spPr bwMode="auto">
            <a:xfrm flipH="1">
              <a:off x="1299" y="18"/>
              <a:ext cx="1" cy="302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53" name="TextBox 52"/>
            <p:cNvSpPr txBox="1">
              <a:spLocks noChangeArrowheads="1"/>
            </p:cNvSpPr>
            <p:nvPr/>
          </p:nvSpPr>
          <p:spPr bwMode="auto">
            <a:xfrm>
              <a:off x="1258" y="328"/>
              <a:ext cx="84" cy="82"/>
            </a:xfrm>
            <a:prstGeom prst="rect">
              <a:avLst/>
            </a:prstGeom>
            <a:noFill/>
            <a:ln w="0">
              <a:solidFill>
                <a:srgbClr val="000000">
                  <a:alpha val="50195"/>
                </a:srgbClr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nb-NO" sz="1100">
                  <a:latin typeface="Calibri" pitchFamily="34" charset="0"/>
                </a:rPr>
                <a:t>n+2-th draft template </a:t>
              </a:r>
            </a:p>
            <a:p>
              <a:r>
                <a:rPr lang="nb-NO" sz="1100">
                  <a:latin typeface="Calibri" pitchFamily="34" charset="0"/>
                </a:rPr>
                <a:t>elements</a:t>
              </a:r>
            </a:p>
          </p:txBody>
        </p:sp>
      </p:grpSp>
      <p:grpSp>
        <p:nvGrpSpPr>
          <p:cNvPr id="41997" name="Group 13"/>
          <p:cNvGrpSpPr>
            <a:grpSpLocks/>
          </p:cNvGrpSpPr>
          <p:nvPr/>
        </p:nvGrpSpPr>
        <p:grpSpPr bwMode="auto">
          <a:xfrm>
            <a:off x="4978400" y="2493963"/>
            <a:ext cx="1009650" cy="3371850"/>
            <a:chOff x="1317" y="375"/>
            <a:chExt cx="106" cy="354"/>
          </a:xfrm>
        </p:grpSpPr>
        <p:cxnSp>
          <p:nvCxnSpPr>
            <p:cNvPr id="50" name="Straight Arrow Connector 49"/>
            <p:cNvCxnSpPr>
              <a:cxnSpLocks noChangeShapeType="1"/>
            </p:cNvCxnSpPr>
            <p:nvPr/>
          </p:nvCxnSpPr>
          <p:spPr bwMode="auto">
            <a:xfrm flipH="1">
              <a:off x="1372" y="375"/>
              <a:ext cx="1" cy="302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51" name="TextBox 50"/>
            <p:cNvSpPr txBox="1">
              <a:spLocks noChangeArrowheads="1"/>
            </p:cNvSpPr>
            <p:nvPr/>
          </p:nvSpPr>
          <p:spPr bwMode="auto">
            <a:xfrm>
              <a:off x="1317" y="683"/>
              <a:ext cx="106" cy="46"/>
            </a:xfrm>
            <a:prstGeom prst="rect">
              <a:avLst/>
            </a:prstGeom>
            <a:noFill/>
            <a:ln w="0">
              <a:solidFill>
                <a:srgbClr val="000000">
                  <a:alpha val="50195"/>
                </a:srgbClr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nb-NO" sz="1100">
                  <a:latin typeface="Calibri" pitchFamily="34" charset="0"/>
                </a:rPr>
                <a:t>Pilot questionnaire</a:t>
              </a:r>
            </a:p>
          </p:txBody>
        </p:sp>
      </p:grpSp>
      <p:grpSp>
        <p:nvGrpSpPr>
          <p:cNvPr id="42000" name="Group 16"/>
          <p:cNvGrpSpPr>
            <a:grpSpLocks/>
          </p:cNvGrpSpPr>
          <p:nvPr/>
        </p:nvGrpSpPr>
        <p:grpSpPr bwMode="auto">
          <a:xfrm>
            <a:off x="7065963" y="2493963"/>
            <a:ext cx="1028700" cy="3552825"/>
            <a:chOff x="1463" y="0"/>
            <a:chExt cx="108" cy="373"/>
          </a:xfrm>
        </p:grpSpPr>
        <p:cxnSp>
          <p:nvCxnSpPr>
            <p:cNvPr id="54" name="Straight Arrow Connector 53"/>
            <p:cNvCxnSpPr>
              <a:cxnSpLocks noChangeShapeType="1"/>
            </p:cNvCxnSpPr>
            <p:nvPr/>
          </p:nvCxnSpPr>
          <p:spPr bwMode="auto">
            <a:xfrm flipH="1">
              <a:off x="1501" y="0"/>
              <a:ext cx="1" cy="302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55" name="TextBox 54"/>
            <p:cNvSpPr txBox="1">
              <a:spLocks noChangeArrowheads="1"/>
            </p:cNvSpPr>
            <p:nvPr/>
          </p:nvSpPr>
          <p:spPr bwMode="auto">
            <a:xfrm>
              <a:off x="1463" y="309"/>
              <a:ext cx="108" cy="64"/>
            </a:xfrm>
            <a:prstGeom prst="rect">
              <a:avLst/>
            </a:prstGeom>
            <a:noFill/>
            <a:ln w="0">
              <a:solidFill>
                <a:srgbClr val="000000">
                  <a:alpha val="50195"/>
                </a:srgbClr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nb-NO" sz="1100">
                  <a:latin typeface="Calibri" pitchFamily="34" charset="0"/>
                </a:rPr>
                <a:t>Final module/</a:t>
              </a:r>
            </a:p>
            <a:p>
              <a:r>
                <a:rPr lang="nb-NO" sz="1100">
                  <a:latin typeface="Calibri" pitchFamily="34" charset="0"/>
                </a:rPr>
                <a:t>Source questionnaire</a:t>
              </a:r>
            </a:p>
          </p:txBody>
        </p:sp>
      </p:grpSp>
      <p:grpSp>
        <p:nvGrpSpPr>
          <p:cNvPr id="42003" name="Group 19"/>
          <p:cNvGrpSpPr>
            <a:grpSpLocks/>
          </p:cNvGrpSpPr>
          <p:nvPr/>
        </p:nvGrpSpPr>
        <p:grpSpPr bwMode="auto">
          <a:xfrm>
            <a:off x="8145463" y="4533900"/>
            <a:ext cx="900112" cy="1416050"/>
            <a:chOff x="1573" y="198"/>
            <a:chExt cx="108" cy="126"/>
          </a:xfrm>
        </p:grpSpPr>
        <p:cxnSp>
          <p:nvCxnSpPr>
            <p:cNvPr id="56" name="Straight Arrow Connector 55"/>
            <p:cNvCxnSpPr>
              <a:cxnSpLocks noChangeShapeType="1"/>
            </p:cNvCxnSpPr>
            <p:nvPr/>
          </p:nvCxnSpPr>
          <p:spPr bwMode="auto">
            <a:xfrm>
              <a:off x="1618" y="198"/>
              <a:ext cx="1" cy="74"/>
            </a:xfrm>
            <a:prstGeom prst="straightConnector1">
              <a:avLst/>
            </a:prstGeom>
            <a:noFill/>
            <a:ln w="28575" algn="ctr">
              <a:solidFill>
                <a:srgbClr val="000000"/>
              </a:solidFill>
              <a:prstDash val="dash"/>
              <a:round/>
              <a:headEnd/>
              <a:tailEnd type="arrow" w="med" len="med"/>
            </a:ln>
          </p:spPr>
        </p:cxnSp>
        <p:sp>
          <p:nvSpPr>
            <p:cNvPr id="57" name="TextBox 56"/>
            <p:cNvSpPr txBox="1">
              <a:spLocks noChangeArrowheads="1"/>
            </p:cNvSpPr>
            <p:nvPr/>
          </p:nvSpPr>
          <p:spPr bwMode="auto">
            <a:xfrm>
              <a:off x="1573" y="278"/>
              <a:ext cx="108" cy="46"/>
            </a:xfrm>
            <a:prstGeom prst="rect">
              <a:avLst/>
            </a:prstGeom>
            <a:noFill/>
            <a:ln w="0">
              <a:solidFill>
                <a:srgbClr val="000000">
                  <a:alpha val="50195"/>
                </a:srgbClr>
              </a:solidFill>
              <a:miter lim="800000"/>
              <a:headEnd/>
              <a:tailEnd/>
            </a:ln>
          </p:spPr>
          <p:txBody>
            <a:bodyPr/>
            <a:lstStyle/>
            <a:p>
              <a:r>
                <a:rPr lang="nb-NO" sz="1100">
                  <a:latin typeface="Calibri" pitchFamily="34" charset="0"/>
                </a:rPr>
                <a:t>Final translations</a:t>
              </a:r>
            </a:p>
          </p:txBody>
        </p:sp>
      </p:grpSp>
      <p:cxnSp>
        <p:nvCxnSpPr>
          <p:cNvPr id="42006" name="AutoShape 72"/>
          <p:cNvCxnSpPr>
            <a:cxnSpLocks noChangeShapeType="1"/>
          </p:cNvCxnSpPr>
          <p:nvPr/>
        </p:nvCxnSpPr>
        <p:spPr bwMode="auto">
          <a:xfrm flipV="1">
            <a:off x="5337175" y="2709863"/>
            <a:ext cx="19050" cy="666750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arrow" w="med" len="med"/>
          </a:ln>
        </p:spPr>
      </p:cxnSp>
      <p:cxnSp>
        <p:nvCxnSpPr>
          <p:cNvPr id="21" name="Straight Arrow Connector 20"/>
          <p:cNvCxnSpPr>
            <a:cxnSpLocks noChangeShapeType="1"/>
          </p:cNvCxnSpPr>
          <p:nvPr/>
        </p:nvCxnSpPr>
        <p:spPr bwMode="auto">
          <a:xfrm flipH="1">
            <a:off x="5624513" y="3286125"/>
            <a:ext cx="0" cy="866775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arrow" w="med" len="med"/>
          </a:ln>
        </p:spPr>
      </p:cxnSp>
      <p:cxnSp>
        <p:nvCxnSpPr>
          <p:cNvPr id="42008" name="Straight Arrow Connector 37"/>
          <p:cNvCxnSpPr>
            <a:cxnSpLocks noChangeShapeType="1"/>
          </p:cNvCxnSpPr>
          <p:nvPr/>
        </p:nvCxnSpPr>
        <p:spPr bwMode="auto">
          <a:xfrm flipV="1">
            <a:off x="6056313" y="3482975"/>
            <a:ext cx="19050" cy="666750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arrow" w="med" len="med"/>
          </a:ln>
        </p:spPr>
      </p:cxnSp>
      <p:cxnSp>
        <p:nvCxnSpPr>
          <p:cNvPr id="42009" name="Straight Arrow Connector 43"/>
          <p:cNvCxnSpPr>
            <a:cxnSpLocks noChangeShapeType="1"/>
          </p:cNvCxnSpPr>
          <p:nvPr/>
        </p:nvCxnSpPr>
        <p:spPr bwMode="auto">
          <a:xfrm>
            <a:off x="7424738" y="3357563"/>
            <a:ext cx="9525" cy="8001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2010" name="Straight Arrow Connector 44"/>
          <p:cNvCxnSpPr>
            <a:cxnSpLocks noChangeShapeType="1"/>
          </p:cNvCxnSpPr>
          <p:nvPr/>
        </p:nvCxnSpPr>
        <p:spPr bwMode="auto">
          <a:xfrm flipV="1">
            <a:off x="8504238" y="2709863"/>
            <a:ext cx="28575" cy="1457325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2011" name="AutoShape 73"/>
          <p:cNvCxnSpPr>
            <a:cxnSpLocks noChangeShapeType="1"/>
          </p:cNvCxnSpPr>
          <p:nvPr/>
        </p:nvCxnSpPr>
        <p:spPr bwMode="auto">
          <a:xfrm>
            <a:off x="5840413" y="2709863"/>
            <a:ext cx="9525" cy="1447800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arrow" w="med" len="med"/>
          </a:ln>
        </p:spPr>
      </p:cxnSp>
      <p:cxnSp>
        <p:nvCxnSpPr>
          <p:cNvPr id="42012" name="AutoShape 74"/>
          <p:cNvCxnSpPr>
            <a:cxnSpLocks noChangeShapeType="1"/>
          </p:cNvCxnSpPr>
          <p:nvPr/>
        </p:nvCxnSpPr>
        <p:spPr bwMode="auto">
          <a:xfrm flipV="1">
            <a:off x="7280275" y="2709863"/>
            <a:ext cx="19050" cy="66675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</p:spPr>
      </p:cxnSp>
      <p:cxnSp>
        <p:nvCxnSpPr>
          <p:cNvPr id="42013" name="AutoShape 76"/>
          <p:cNvCxnSpPr>
            <a:cxnSpLocks noChangeShapeType="1"/>
          </p:cNvCxnSpPr>
          <p:nvPr/>
        </p:nvCxnSpPr>
        <p:spPr bwMode="auto">
          <a:xfrm flipV="1">
            <a:off x="6272213" y="2709863"/>
            <a:ext cx="28575" cy="1457325"/>
          </a:xfrm>
          <a:prstGeom prst="straightConnector1">
            <a:avLst/>
          </a:prstGeom>
          <a:noFill/>
          <a:ln w="28575" algn="ctr">
            <a:solidFill>
              <a:srgbClr val="00B0F0"/>
            </a:solidFill>
            <a:round/>
            <a:headEnd/>
            <a:tailEnd type="arrow" w="med" len="med"/>
          </a:ln>
        </p:spPr>
      </p:cxnSp>
      <p:sp>
        <p:nvSpPr>
          <p:cNvPr id="42015" name="Rectangle 2"/>
          <p:cNvSpPr>
            <a:spLocks/>
          </p:cNvSpPr>
          <p:nvPr/>
        </p:nvSpPr>
        <p:spPr bwMode="auto">
          <a:xfrm>
            <a:off x="352425" y="752475"/>
            <a:ext cx="85693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hangingPunct="0"/>
            <a:r>
              <a:rPr lang="nb-NO" sz="2800">
                <a:latin typeface="Calibri" pitchFamily="34" charset="0"/>
              </a:rPr>
              <a:t>Example: Metadata flow between the three tools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smtClean="0"/>
              <a:t>Example: Identification system</a:t>
            </a:r>
          </a:p>
        </p:txBody>
      </p:sp>
      <p:sp>
        <p:nvSpPr>
          <p:cNvPr id="35842" name="Rectangle 3"/>
          <p:cNvSpPr>
            <a:spLocks/>
          </p:cNvSpPr>
          <p:nvPr/>
        </p:nvSpPr>
        <p:spPr bwMode="auto">
          <a:xfrm>
            <a:off x="457200" y="2281238"/>
            <a:ext cx="9144000" cy="369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en-GB" sz="3200">
                <a:latin typeface="Calibri" pitchFamily="34" charset="0"/>
              </a:rPr>
              <a:t>Best practice for common identifiers/PID</a:t>
            </a:r>
            <a:r>
              <a:rPr lang="nb-NO" sz="3200">
                <a:latin typeface="Calibri" pitchFamily="34" charset="0"/>
              </a:rPr>
              <a:t>?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3200">
                <a:latin typeface="Calibri" pitchFamily="34" charset="0"/>
              </a:rPr>
              <a:t>	- </a:t>
            </a:r>
            <a:r>
              <a:rPr lang="nb-NO" sz="2800">
                <a:latin typeface="Calibri" pitchFamily="34" charset="0"/>
              </a:rPr>
              <a:t>DDI3.2 URN canonical vs. deprecated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800">
                <a:latin typeface="Calibri" pitchFamily="34" charset="0"/>
              </a:rPr>
              <a:t>	- Role of agency in identifier (DDI4 Sprint#1 discussions)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800">
                <a:latin typeface="Calibri" pitchFamily="34" charset="0"/>
              </a:rPr>
              <a:t>	- Usage of user id</a:t>
            </a:r>
          </a:p>
          <a:p>
            <a:pPr marL="342900" indent="-342900" eaLnBrk="0" hangingPunct="0">
              <a:lnSpc>
                <a:spcPct val="90000"/>
              </a:lnSpc>
              <a:spcBef>
                <a:spcPct val="20000"/>
              </a:spcBef>
              <a:buFont typeface="Arial" charset="0"/>
              <a:buNone/>
            </a:pPr>
            <a:r>
              <a:rPr lang="nb-NO" sz="2800">
                <a:latin typeface="Calibri" pitchFamily="34" charset="0"/>
              </a:rPr>
              <a:t>	- Other identification issues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3"/>
          <p:cNvSpPr>
            <a:spLocks noGrp="1"/>
          </p:cNvSpPr>
          <p:nvPr>
            <p:ph type="body" idx="4294967295"/>
          </p:nvPr>
        </p:nvSpPr>
        <p:spPr>
          <a:xfrm>
            <a:off x="222250" y="2581275"/>
            <a:ext cx="8921750" cy="3698875"/>
          </a:xfrm>
        </p:spPr>
        <p:txBody>
          <a:bodyPr/>
          <a:lstStyle/>
          <a:p>
            <a:r>
              <a:rPr lang="nb-NO" smtClean="0"/>
              <a:t>   Work continues</a:t>
            </a:r>
          </a:p>
          <a:p>
            <a:r>
              <a:rPr lang="nb-NO" smtClean="0"/>
              <a:t>   Fill requirements for common DDI-L based  </a:t>
            </a:r>
          </a:p>
          <a:p>
            <a:pPr>
              <a:buFont typeface="Arial" charset="0"/>
              <a:buNone/>
            </a:pPr>
            <a:r>
              <a:rPr lang="nb-NO" smtClean="0"/>
              <a:t>       metadata model with content</a:t>
            </a:r>
          </a:p>
          <a:p>
            <a:r>
              <a:rPr lang="nb-NO" smtClean="0"/>
              <a:t>   Ideas for best practices?</a:t>
            </a:r>
          </a:p>
        </p:txBody>
      </p:sp>
      <p:sp>
        <p:nvSpPr>
          <p:cNvPr id="36866" name="Rectangle 4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nb-NO" sz="4000" smtClean="0"/>
              <a:t>Work towards a common metadata understanding for the three tools (2)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 idx="4294967295"/>
          </p:nvPr>
        </p:nvSpPr>
        <p:spPr>
          <a:xfrm>
            <a:off x="457200" y="931863"/>
            <a:ext cx="8229600" cy="1143000"/>
          </a:xfrm>
        </p:spPr>
        <p:txBody>
          <a:bodyPr/>
          <a:lstStyle/>
          <a:p>
            <a:pPr eaLnBrk="1" hangingPunct="1"/>
            <a:r>
              <a:rPr lang="en-GB" smtClean="0"/>
              <a:t>Acknowledgements</a:t>
            </a:r>
            <a:endParaRPr lang="en-US" smtClean="0"/>
          </a:p>
        </p:txBody>
      </p:sp>
      <p:sp>
        <p:nvSpPr>
          <p:cNvPr id="37890" name="Content Placeholder 2"/>
          <p:cNvSpPr>
            <a:spLocks noGrp="1"/>
          </p:cNvSpPr>
          <p:nvPr>
            <p:ph idx="4294967295"/>
          </p:nvPr>
        </p:nvSpPr>
        <p:spPr>
          <a:xfrm>
            <a:off x="738554" y="2074863"/>
            <a:ext cx="8229600" cy="3698875"/>
          </a:xfrm>
        </p:spPr>
        <p:txBody>
          <a:bodyPr/>
          <a:lstStyle/>
          <a:p>
            <a:pPr eaLnBrk="1" hangingPunct="1">
              <a:buFont typeface="Arial" charset="0"/>
              <a:buNone/>
            </a:pPr>
            <a:r>
              <a:rPr lang="en-GB" sz="2400" i="1" dirty="0" smtClean="0">
                <a:solidFill>
                  <a:srgbClr val="666699"/>
                </a:solidFill>
              </a:rPr>
              <a:t>   				</a:t>
            </a:r>
            <a:r>
              <a:rPr lang="en-GB" sz="2000" i="1" dirty="0" smtClean="0">
                <a:solidFill>
                  <a:srgbClr val="666699"/>
                </a:solidFill>
              </a:rPr>
              <a:t>		        Special thanks to </a:t>
            </a:r>
          </a:p>
          <a:p>
            <a:pPr eaLnBrk="1" hangingPunct="1">
              <a:buFont typeface="Arial" charset="0"/>
              <a:buNone/>
            </a:pPr>
            <a:r>
              <a:rPr lang="en-GB" sz="2000" i="1" dirty="0" smtClean="0">
                <a:solidFill>
                  <a:srgbClr val="666699"/>
                </a:solidFill>
              </a:rPr>
              <a:t>   				         metadata expert Joachim </a:t>
            </a:r>
            <a:r>
              <a:rPr lang="en-GB" sz="2000" i="1" dirty="0" err="1" smtClean="0">
                <a:solidFill>
                  <a:srgbClr val="666699"/>
                </a:solidFill>
              </a:rPr>
              <a:t>Wackerow</a:t>
            </a:r>
            <a:r>
              <a:rPr lang="en-GB" sz="2000" i="1" dirty="0" smtClean="0">
                <a:solidFill>
                  <a:srgbClr val="666699"/>
                </a:solidFill>
              </a:rPr>
              <a:t> </a:t>
            </a:r>
          </a:p>
          <a:p>
            <a:pPr eaLnBrk="1" hangingPunct="1">
              <a:buFont typeface="Arial" charset="0"/>
              <a:buNone/>
            </a:pPr>
            <a:r>
              <a:rPr lang="en-GB" sz="2000" i="1" dirty="0" smtClean="0">
                <a:solidFill>
                  <a:srgbClr val="666699"/>
                </a:solidFill>
              </a:rPr>
              <a:t>                                                 for consultancy</a:t>
            </a:r>
            <a:endParaRPr lang="en-US" sz="2000" i="1" dirty="0" smtClean="0">
              <a:solidFill>
                <a:srgbClr val="666699"/>
              </a:solidFill>
            </a:endParaRPr>
          </a:p>
        </p:txBody>
      </p:sp>
      <p:sp>
        <p:nvSpPr>
          <p:cNvPr id="37891" name="Title 1"/>
          <p:cNvSpPr>
            <a:spLocks/>
          </p:cNvSpPr>
          <p:nvPr/>
        </p:nvSpPr>
        <p:spPr bwMode="auto">
          <a:xfrm>
            <a:off x="457200" y="4048125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GB" sz="4000">
                <a:latin typeface="Calibri" pitchFamily="34" charset="0"/>
              </a:rPr>
              <a:t>Thank you for your attention!</a:t>
            </a:r>
            <a:br>
              <a:rPr lang="en-GB" sz="4000">
                <a:latin typeface="Calibri" pitchFamily="34" charset="0"/>
              </a:rPr>
            </a:br>
            <a:endParaRPr lang="en-US" sz="4000">
              <a:latin typeface="Calibri" pitchFamily="34" charset="0"/>
            </a:endParaRPr>
          </a:p>
        </p:txBody>
      </p:sp>
      <p:sp>
        <p:nvSpPr>
          <p:cNvPr id="37892" name="Title 1"/>
          <p:cNvSpPr>
            <a:spLocks/>
          </p:cNvSpPr>
          <p:nvPr/>
        </p:nvSpPr>
        <p:spPr bwMode="auto">
          <a:xfrm>
            <a:off x="165100" y="52022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lvl="1" algn="ctr"/>
            <a:r>
              <a:rPr lang="en-GB" sz="2000" dirty="0" smtClean="0">
                <a:solidFill>
                  <a:srgbClr val="666699"/>
                </a:solidFill>
                <a:latin typeface="Calibri" pitchFamily="34" charset="0"/>
                <a:hlinkClick r:id="rId2"/>
              </a:rPr>
              <a:t>hilde.orten@nsd.uib.no</a:t>
            </a:r>
            <a:r>
              <a:rPr lang="en-GB" sz="2000" dirty="0">
                <a:solidFill>
                  <a:srgbClr val="666699"/>
                </a:solidFill>
                <a:latin typeface="Calibri" pitchFamily="34" charset="0"/>
              </a:rPr>
              <a:t/>
            </a:r>
            <a:br>
              <a:rPr lang="en-GB" sz="2000" dirty="0">
                <a:solidFill>
                  <a:srgbClr val="666699"/>
                </a:solidFill>
                <a:latin typeface="Calibri" pitchFamily="34" charset="0"/>
              </a:rPr>
            </a:br>
            <a:r>
              <a:rPr lang="en-GB" sz="2000" dirty="0">
                <a:solidFill>
                  <a:srgbClr val="666699"/>
                </a:solidFill>
                <a:latin typeface="Calibri" pitchFamily="34" charset="0"/>
                <a:hlinkClick r:id="rId3"/>
              </a:rPr>
              <a:t>havard.bakkmoen@nsd.uib.no</a:t>
            </a:r>
            <a:r>
              <a:rPr lang="en-GB" sz="2000" dirty="0">
                <a:solidFill>
                  <a:srgbClr val="666699"/>
                </a:solidFill>
                <a:latin typeface="Calibri" pitchFamily="34" charset="0"/>
              </a:rPr>
              <a:t/>
            </a:r>
            <a:br>
              <a:rPr lang="en-GB" sz="2000" dirty="0">
                <a:solidFill>
                  <a:srgbClr val="666699"/>
                </a:solidFill>
                <a:latin typeface="Calibri" pitchFamily="34" charset="0"/>
              </a:rPr>
            </a:br>
            <a:r>
              <a:rPr lang="en-GB" sz="2000" dirty="0">
                <a:solidFill>
                  <a:srgbClr val="666699"/>
                </a:solidFill>
                <a:latin typeface="Calibri" pitchFamily="34" charset="0"/>
                <a:hlinkClick r:id="rId4"/>
              </a:rPr>
              <a:t>Yvette.Prestage.1@city.ac.uk</a:t>
            </a:r>
            <a:r>
              <a:rPr lang="en-GB" sz="2000" dirty="0">
                <a:solidFill>
                  <a:srgbClr val="666699"/>
                </a:solidFill>
                <a:latin typeface="Calibri" pitchFamily="34" charset="0"/>
              </a:rPr>
              <a:t/>
            </a:r>
            <a:br>
              <a:rPr lang="en-GB" sz="2000" dirty="0">
                <a:solidFill>
                  <a:srgbClr val="666699"/>
                </a:solidFill>
                <a:latin typeface="Calibri" pitchFamily="34" charset="0"/>
              </a:rPr>
            </a:br>
            <a:r>
              <a:rPr lang="en-GB" sz="2000" dirty="0">
                <a:solidFill>
                  <a:srgbClr val="666699"/>
                </a:solidFill>
                <a:latin typeface="Calibri" pitchFamily="34" charset="0"/>
                <a:hlinkClick r:id="rId5"/>
              </a:rPr>
              <a:t>Sally.Widdop.1@city.ac.uk</a:t>
            </a:r>
            <a:r>
              <a:rPr lang="en-GB" sz="2000" dirty="0">
                <a:solidFill>
                  <a:srgbClr val="666699"/>
                </a:solidFill>
                <a:latin typeface="Calibri" pitchFamily="34" charset="0"/>
              </a:rPr>
              <a:t/>
            </a:r>
            <a:br>
              <a:rPr lang="en-GB" sz="2000" dirty="0">
                <a:solidFill>
                  <a:srgbClr val="666699"/>
                </a:solidFill>
                <a:latin typeface="Calibri" pitchFamily="34" charset="0"/>
              </a:rPr>
            </a:br>
            <a:r>
              <a:rPr lang="en-GB" sz="2000" dirty="0">
                <a:latin typeface="Calibri" pitchFamily="34" charset="0"/>
              </a:rPr>
              <a:t/>
            </a:r>
            <a:br>
              <a:rPr lang="en-GB" sz="2000" dirty="0">
                <a:latin typeface="Calibri" pitchFamily="34" charset="0"/>
              </a:rPr>
            </a:br>
            <a:endParaRPr lang="en-US" sz="20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2049</TotalTime>
  <Words>587</Words>
  <Application>Microsoft Office PowerPoint</Application>
  <PresentationFormat>On-screen Show (4:3)</PresentationFormat>
  <Paragraphs>195</Paragraphs>
  <Slides>18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Office-tema</vt:lpstr>
      <vt:lpstr>PowerPoint Presentation</vt:lpstr>
      <vt:lpstr>Outline</vt:lpstr>
      <vt:lpstr>DASISH task 3.2 tools</vt:lpstr>
      <vt:lpstr>PowerPoint Presentation</vt:lpstr>
      <vt:lpstr>PowerPoint Presentation</vt:lpstr>
      <vt:lpstr>QVDB and QDDT, a selection of the requirements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Mapping of metadata elements to DDI</vt:lpstr>
      <vt:lpstr>Work towards a common metadata understanding for the three tools </vt:lpstr>
      <vt:lpstr>PowerPoint Presentation</vt:lpstr>
      <vt:lpstr>Example: Identification system</vt:lpstr>
      <vt:lpstr>Work towards a common metadata understanding for the three tools (2)</vt:lpstr>
      <vt:lpstr>Acknowledgements</vt:lpstr>
    </vt:vector>
  </TitlesOfParts>
  <Company>Göteborgs universitet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Michelle Coldrey</dc:creator>
  <cp:lastModifiedBy>Hilde</cp:lastModifiedBy>
  <cp:revision>213</cp:revision>
  <dcterms:created xsi:type="dcterms:W3CDTF">2012-03-28T13:30:17Z</dcterms:created>
  <dcterms:modified xsi:type="dcterms:W3CDTF">2013-12-04T06:18:09Z</dcterms:modified>
</cp:coreProperties>
</file>