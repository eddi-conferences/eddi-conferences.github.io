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5"/>
  </p:sldMasterIdLst>
  <p:notesMasterIdLst>
    <p:notesMasterId r:id="rId21"/>
  </p:notesMasterIdLst>
  <p:sldIdLst>
    <p:sldId id="256" r:id="rId6"/>
    <p:sldId id="290" r:id="rId7"/>
    <p:sldId id="289" r:id="rId8"/>
    <p:sldId id="288" r:id="rId9"/>
    <p:sldId id="293" r:id="rId10"/>
    <p:sldId id="311" r:id="rId11"/>
    <p:sldId id="267" r:id="rId12"/>
    <p:sldId id="281" r:id="rId13"/>
    <p:sldId id="296" r:id="rId14"/>
    <p:sldId id="299" r:id="rId15"/>
    <p:sldId id="300" r:id="rId16"/>
    <p:sldId id="302" r:id="rId17"/>
    <p:sldId id="301" r:id="rId18"/>
    <p:sldId id="306" r:id="rId19"/>
    <p:sldId id="298" r:id="rId20"/>
  </p:sldIdLst>
  <p:sldSz cx="9144000" cy="6858000" type="screen4x3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8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525FE-56D0-4EB2-9910-A28E56285F6B}" type="datetimeFigureOut">
              <a:rPr lang="de-DE" smtClean="0"/>
              <a:t>27.11.2013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E5C0F-C51F-4AC5-BBEA-AEA01BC95A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23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CE5C0F-C51F-4AC5-BBEA-AEA01BC95AC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773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8719-CDB8-45E2-B905-DD706C21D5C9}" type="datetimeFigureOut">
              <a:rPr lang="de-DE" smtClean="0"/>
              <a:pPr/>
              <a:t>27.11.2013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20258719-CDB8-45E2-B905-DD706C21D5C9}" type="datetimeFigureOut">
              <a:rPr lang="de-DE" smtClean="0"/>
              <a:pPr/>
              <a:t>27.11.2013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07C1131-679B-4DD1-802F-23CB41FA8BD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Grafik 7" descr="GS_Kopf PPT.bmp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9144000" cy="1066800"/>
          </a:xfrm>
          <a:prstGeom prst="rect">
            <a:avLst/>
          </a:prstGeom>
        </p:spPr>
      </p:pic>
      <p:pic>
        <p:nvPicPr>
          <p:cNvPr id="7" name="Picture 2" descr="C:\Daten (E)\PR\CorporateDesign\Logos\Leibniz\Mitglieder\Mitglied_WGL_4c_DE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5860580"/>
            <a:ext cx="1298181" cy="87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oliver.hopt@gesis.org" TargetMode="External"/><Relationship Id="rId2" Type="http://schemas.openxmlformats.org/officeDocument/2006/relationships/hyperlink" Target="mailto:brigitte.mathiak@gesis.org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Model and Data Standard </a:t>
            </a:r>
            <a:br>
              <a:rPr lang="en-US" dirty="0"/>
            </a:br>
            <a:r>
              <a:rPr lang="en-US" dirty="0" smtClean="0"/>
              <a:t>- a </a:t>
            </a:r>
            <a:r>
              <a:rPr lang="en-US" dirty="0"/>
              <a:t>Happy Marriage?</a:t>
            </a:r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>
          <a:xfrm>
            <a:off x="323528" y="3886200"/>
            <a:ext cx="8424936" cy="1752600"/>
          </a:xfrm>
        </p:spPr>
        <p:txBody>
          <a:bodyPr>
            <a:normAutofit fontScale="92500"/>
          </a:bodyPr>
          <a:lstStyle/>
          <a:p>
            <a:r>
              <a:rPr lang="de-DE" dirty="0" smtClean="0"/>
              <a:t>Dr. Brigitte Mathiak</a:t>
            </a:r>
          </a:p>
          <a:p>
            <a:r>
              <a:rPr lang="de-DE" dirty="0" smtClean="0"/>
              <a:t>Oliver Hopt</a:t>
            </a:r>
          </a:p>
          <a:p>
            <a:r>
              <a:rPr lang="de-DE" dirty="0" smtClean="0"/>
              <a:t>GESIS </a:t>
            </a:r>
            <a:r>
              <a:rPr lang="en-US" dirty="0" smtClean="0"/>
              <a:t>- Leibniz </a:t>
            </a:r>
            <a:r>
              <a:rPr lang="en-US" dirty="0"/>
              <a:t>Institute for the Social Sciences</a:t>
            </a:r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talk is about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</a:p>
          <a:p>
            <a:r>
              <a:rPr lang="en-US" dirty="0" smtClean="0"/>
              <a:t>DDI decisions</a:t>
            </a:r>
          </a:p>
          <a:p>
            <a:r>
              <a:rPr lang="en-US" dirty="0" smtClean="0"/>
              <a:t>Technical exploration</a:t>
            </a:r>
          </a:p>
          <a:p>
            <a:r>
              <a:rPr lang="en-US" dirty="0" smtClean="0"/>
              <a:t>Open issue</a:t>
            </a:r>
          </a:p>
        </p:txBody>
      </p:sp>
    </p:spTree>
    <p:extLst>
      <p:ext uri="{BB962C8B-B14F-4D97-AF65-F5344CB8AC3E}">
        <p14:creationId xmlns:p14="http://schemas.microsoft.com/office/powerpoint/2010/main" val="222184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Data Model for?</a:t>
            </a:r>
            <a:endParaRPr lang="en-US" dirty="0"/>
          </a:p>
        </p:txBody>
      </p:sp>
      <p:sp>
        <p:nvSpPr>
          <p:cNvPr id="3" name="Smiley 2"/>
          <p:cNvSpPr/>
          <p:nvPr/>
        </p:nvSpPr>
        <p:spPr>
          <a:xfrm>
            <a:off x="971600" y="2780928"/>
            <a:ext cx="1224136" cy="1224136"/>
          </a:xfrm>
          <a:prstGeom prst="smileyFac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8" name="Picture 4" descr="http://image.spreadshirt.net/image-server/v1/designs/15213624,width=178,height=178/Presslufthamm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07719">
            <a:off x="875120" y="4252767"/>
            <a:ext cx="1288937" cy="12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feil nach rechts 3"/>
          <p:cNvSpPr/>
          <p:nvPr/>
        </p:nvSpPr>
        <p:spPr>
          <a:xfrm rot="10800000">
            <a:off x="3059832" y="3789040"/>
            <a:ext cx="2232248" cy="122413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820839" y="4039237"/>
            <a:ext cx="1183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 smtClean="0"/>
              <a:t>Data</a:t>
            </a:r>
            <a:endParaRPr lang="de-DE" sz="4000" b="1" dirty="0"/>
          </a:p>
        </p:txBody>
      </p:sp>
      <p:pic>
        <p:nvPicPr>
          <p:cNvPr id="1031" name="Picture 7" descr="http://www.whattofix.com/images/SQLDiagramsExamp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694" y="2672345"/>
            <a:ext cx="4312914" cy="287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ho\AppData\Local\Microsoft\Windows\Temporary Internet Files\Content.IE5\NFVC24A9\MC900434828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68" y="4041775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1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Data Standard for?</a:t>
            </a:r>
            <a:endParaRPr lang="en-US" dirty="0"/>
          </a:p>
        </p:txBody>
      </p:sp>
      <p:sp>
        <p:nvSpPr>
          <p:cNvPr id="3" name="Smiley 2"/>
          <p:cNvSpPr/>
          <p:nvPr/>
        </p:nvSpPr>
        <p:spPr>
          <a:xfrm>
            <a:off x="827584" y="2708920"/>
            <a:ext cx="1296144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4" descr="http://image.spreadshirt.net/image-server/v1/designs/15213624,width=178,height=178/Presslufthamm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07719">
            <a:off x="715247" y="4268623"/>
            <a:ext cx="1288937" cy="12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miley 4"/>
          <p:cNvSpPr/>
          <p:nvPr/>
        </p:nvSpPr>
        <p:spPr>
          <a:xfrm>
            <a:off x="6820105" y="2708920"/>
            <a:ext cx="1296144" cy="1296144"/>
          </a:xfrm>
          <a:prstGeom prst="smileyFac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4" descr="http://image.spreadshirt.net/image-server/v1/designs/15213624,width=178,height=178/Presslufthamm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07719">
            <a:off x="6707768" y="4268623"/>
            <a:ext cx="1288937" cy="12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C:\Users\ho\AppData\Local\Microsoft\Windows\Temporary Internet Files\Content.IE5\NFVC24A9\MC900434828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52" y="4077072"/>
            <a:ext cx="1828800" cy="18288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</p:pic>
      <p:pic>
        <p:nvPicPr>
          <p:cNvPr id="8" name="Picture 5" descr="C:\Users\ho\AppData\Local\Microsoft\Windows\Temporary Internet Files\Content.IE5\NFVC24A9\MC900434828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624" y="4077072"/>
            <a:ext cx="1828800" cy="1828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9" name="Pfeil nach links und rechts 8"/>
          <p:cNvSpPr/>
          <p:nvPr/>
        </p:nvSpPr>
        <p:spPr>
          <a:xfrm>
            <a:off x="2771800" y="4221088"/>
            <a:ext cx="3456384" cy="1080120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3908387" y="4407205"/>
            <a:ext cx="1183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 smtClean="0"/>
              <a:t>Data</a:t>
            </a:r>
            <a:endParaRPr lang="de-DE" sz="4000" b="1" dirty="0"/>
          </a:p>
        </p:txBody>
      </p:sp>
      <p:sp>
        <p:nvSpPr>
          <p:cNvPr id="11" name="Gefaltete Ecke 10"/>
          <p:cNvSpPr/>
          <p:nvPr/>
        </p:nvSpPr>
        <p:spPr>
          <a:xfrm>
            <a:off x="3652995" y="2708920"/>
            <a:ext cx="1872208" cy="144016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Some kind of structured text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35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172272" cy="3625857"/>
          </a:xfrm>
        </p:spPr>
        <p:txBody>
          <a:bodyPr/>
          <a:lstStyle/>
          <a:p>
            <a:r>
              <a:rPr lang="en-US" dirty="0" smtClean="0"/>
              <a:t>General</a:t>
            </a:r>
          </a:p>
          <a:p>
            <a:r>
              <a:rPr lang="en-US" dirty="0" smtClean="0"/>
              <a:t>Not object oriented</a:t>
            </a:r>
          </a:p>
          <a:p>
            <a:r>
              <a:rPr lang="en-US" dirty="0" smtClean="0"/>
              <a:t>Platform independent</a:t>
            </a:r>
          </a:p>
          <a:p>
            <a:r>
              <a:rPr lang="en-US" dirty="0" smtClean="0"/>
              <a:t>Modularity for content grouping</a:t>
            </a:r>
          </a:p>
          <a:p>
            <a:endParaRPr lang="en-US" dirty="0"/>
          </a:p>
          <a:p>
            <a:r>
              <a:rPr lang="en-US" dirty="0"/>
              <a:t>(Open)…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186808" cy="3625857"/>
          </a:xfrm>
        </p:spPr>
        <p:txBody>
          <a:bodyPr/>
          <a:lstStyle/>
          <a:p>
            <a:r>
              <a:rPr lang="en-US" dirty="0" smtClean="0"/>
              <a:t>Individual</a:t>
            </a:r>
          </a:p>
          <a:p>
            <a:r>
              <a:rPr lang="en-US" dirty="0" smtClean="0"/>
              <a:t>Object oriented</a:t>
            </a:r>
          </a:p>
          <a:p>
            <a:r>
              <a:rPr lang="en-US" dirty="0" smtClean="0"/>
              <a:t>Platform dependent</a:t>
            </a:r>
          </a:p>
          <a:p>
            <a:r>
              <a:rPr lang="en-US" dirty="0" smtClean="0"/>
              <a:t>Modularity for abstraction</a:t>
            </a:r>
          </a:p>
          <a:p>
            <a:endParaRPr lang="en-US" dirty="0"/>
          </a:p>
          <a:p>
            <a:r>
              <a:rPr lang="en-US" dirty="0"/>
              <a:t>(Proprietary)...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22920" y="1214422"/>
            <a:ext cx="8013576" cy="1143000"/>
          </a:xfrm>
        </p:spPr>
        <p:txBody>
          <a:bodyPr/>
          <a:lstStyle/>
          <a:p>
            <a:r>
              <a:rPr lang="de-DE" dirty="0" smtClean="0"/>
              <a:t>Data Model vs. Data Standard</a:t>
            </a:r>
            <a:endParaRPr lang="de-DE" dirty="0"/>
          </a:p>
        </p:txBody>
      </p:sp>
      <p:sp>
        <p:nvSpPr>
          <p:cNvPr id="7" name="Gewitterblitz 6"/>
          <p:cNvSpPr/>
          <p:nvPr/>
        </p:nvSpPr>
        <p:spPr>
          <a:xfrm>
            <a:off x="2195736" y="2514016"/>
            <a:ext cx="4030352" cy="2880320"/>
          </a:xfrm>
          <a:prstGeom prst="lightningBol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1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DDI development from the technical point of view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DDI 2 appears as plain data standard.</a:t>
            </a:r>
          </a:p>
          <a:p>
            <a:r>
              <a:rPr lang="en-US" dirty="0" smtClean="0"/>
              <a:t>DDI 3 seems to be a data model expressed in data standard language.</a:t>
            </a:r>
          </a:p>
          <a:p>
            <a:endParaRPr lang="en-US" dirty="0" smtClean="0"/>
          </a:p>
          <a:p>
            <a:r>
              <a:rPr lang="en-US" dirty="0" smtClean="0"/>
              <a:t>DDI future is planned as a data model with mapping towards a data standard.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→ Can this work?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3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Modularization</a:t>
            </a:r>
            <a:endParaRPr lang="en-US" dirty="0"/>
          </a:p>
        </p:txBody>
      </p:sp>
      <p:grpSp>
        <p:nvGrpSpPr>
          <p:cNvPr id="28" name="Gruppieren 27"/>
          <p:cNvGrpSpPr/>
          <p:nvPr/>
        </p:nvGrpSpPr>
        <p:grpSpPr>
          <a:xfrm>
            <a:off x="395536" y="2132856"/>
            <a:ext cx="8712968" cy="4392488"/>
            <a:chOff x="395536" y="2132856"/>
            <a:chExt cx="8712968" cy="4392488"/>
          </a:xfrm>
        </p:grpSpPr>
        <p:sp>
          <p:nvSpPr>
            <p:cNvPr id="4" name="Ellipse 3"/>
            <p:cNvSpPr/>
            <p:nvPr/>
          </p:nvSpPr>
          <p:spPr>
            <a:xfrm>
              <a:off x="395536" y="2204864"/>
              <a:ext cx="6840760" cy="432048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Ellipse 4"/>
            <p:cNvSpPr/>
            <p:nvPr/>
          </p:nvSpPr>
          <p:spPr>
            <a:xfrm>
              <a:off x="6732240" y="2132856"/>
              <a:ext cx="1296144" cy="1296144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err="1" smtClean="0"/>
                <a:t>Exotic</a:t>
              </a:r>
              <a:endParaRPr lang="de-DE" dirty="0" smtClean="0"/>
            </a:p>
            <a:p>
              <a:pPr algn="ctr"/>
              <a:r>
                <a:rPr lang="de-DE" dirty="0" smtClean="0"/>
                <a:t>Quest.</a:t>
              </a:r>
              <a:endParaRPr lang="de-DE" dirty="0"/>
            </a:p>
          </p:txBody>
        </p:sp>
        <p:sp>
          <p:nvSpPr>
            <p:cNvPr id="6" name="Ellipse 5"/>
            <p:cNvSpPr/>
            <p:nvPr/>
          </p:nvSpPr>
          <p:spPr>
            <a:xfrm>
              <a:off x="899592" y="2708920"/>
              <a:ext cx="4248472" cy="3456384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Ellipse 6"/>
            <p:cNvSpPr/>
            <p:nvPr/>
          </p:nvSpPr>
          <p:spPr>
            <a:xfrm>
              <a:off x="1763688" y="3879050"/>
              <a:ext cx="1584176" cy="972108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Core</a:t>
              </a:r>
              <a:endParaRPr lang="de-DE" dirty="0"/>
            </a:p>
          </p:txBody>
        </p:sp>
        <p:sp>
          <p:nvSpPr>
            <p:cNvPr id="8" name="Ellipse 7"/>
            <p:cNvSpPr/>
            <p:nvPr/>
          </p:nvSpPr>
          <p:spPr>
            <a:xfrm>
              <a:off x="3347864" y="3068960"/>
              <a:ext cx="1260140" cy="1296144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Simple</a:t>
              </a:r>
            </a:p>
            <a:p>
              <a:pPr algn="ctr"/>
              <a:r>
                <a:rPr lang="de-DE" dirty="0" smtClean="0"/>
                <a:t>Quest.</a:t>
              </a:r>
              <a:endParaRPr lang="de-DE" dirty="0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2545468" y="2276872"/>
              <a:ext cx="13607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f</a:t>
              </a:r>
              <a:r>
                <a:rPr lang="de-DE" dirty="0" err="1" smtClean="0"/>
                <a:t>ull</a:t>
              </a:r>
              <a:r>
                <a:rPr lang="de-DE" dirty="0" smtClean="0"/>
                <a:t> </a:t>
              </a:r>
              <a:r>
                <a:rPr lang="de-DE" dirty="0" err="1" smtClean="0"/>
                <a:t>standard</a:t>
              </a:r>
              <a:endParaRPr lang="de-DE" dirty="0"/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1835696" y="2915652"/>
              <a:ext cx="18187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abstract standard</a:t>
              </a:r>
            </a:p>
            <a:p>
              <a:r>
                <a:rPr lang="en-US" dirty="0" smtClean="0"/>
                <a:t>classes</a:t>
              </a:r>
              <a:endParaRPr lang="en-US" dirty="0"/>
            </a:p>
          </p:txBody>
        </p:sp>
        <p:sp>
          <p:nvSpPr>
            <p:cNvPr id="11" name="Ellipse 10"/>
            <p:cNvSpPr/>
            <p:nvPr/>
          </p:nvSpPr>
          <p:spPr>
            <a:xfrm>
              <a:off x="7308304" y="4365104"/>
              <a:ext cx="1296144" cy="1296144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err="1" smtClean="0"/>
                <a:t>Exotic</a:t>
              </a:r>
              <a:endParaRPr lang="de-DE" dirty="0" smtClean="0"/>
            </a:p>
            <a:p>
              <a:pPr algn="ctr"/>
              <a:r>
                <a:rPr lang="de-DE" dirty="0" err="1" smtClean="0"/>
                <a:t>DataSet</a:t>
              </a:r>
              <a:endParaRPr lang="de-DE" dirty="0"/>
            </a:p>
          </p:txBody>
        </p:sp>
        <p:sp>
          <p:nvSpPr>
            <p:cNvPr id="12" name="Ellipse 11"/>
            <p:cNvSpPr/>
            <p:nvPr/>
          </p:nvSpPr>
          <p:spPr>
            <a:xfrm>
              <a:off x="5004048" y="2750903"/>
              <a:ext cx="1260140" cy="1296144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Adv.</a:t>
              </a:r>
            </a:p>
            <a:p>
              <a:pPr algn="ctr"/>
              <a:r>
                <a:rPr lang="de-DE" dirty="0" smtClean="0"/>
                <a:t>Quest.</a:t>
              </a:r>
              <a:endParaRPr lang="de-DE" dirty="0"/>
            </a:p>
          </p:txBody>
        </p:sp>
        <p:sp>
          <p:nvSpPr>
            <p:cNvPr id="13" name="Ellipse 12"/>
            <p:cNvSpPr/>
            <p:nvPr/>
          </p:nvSpPr>
          <p:spPr>
            <a:xfrm>
              <a:off x="3347864" y="4437112"/>
              <a:ext cx="1296144" cy="1296144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Simple</a:t>
              </a:r>
            </a:p>
            <a:p>
              <a:pPr algn="ctr"/>
              <a:r>
                <a:rPr lang="de-DE" dirty="0" err="1" smtClean="0"/>
                <a:t>DataSet</a:t>
              </a:r>
              <a:endParaRPr lang="de-DE" dirty="0"/>
            </a:p>
          </p:txBody>
        </p:sp>
        <p:sp>
          <p:nvSpPr>
            <p:cNvPr id="14" name="Ellipse 13"/>
            <p:cNvSpPr/>
            <p:nvPr/>
          </p:nvSpPr>
          <p:spPr>
            <a:xfrm>
              <a:off x="5220072" y="4365104"/>
              <a:ext cx="1296144" cy="1296144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err="1" smtClean="0"/>
                <a:t>DataSet</a:t>
              </a:r>
              <a:endParaRPr lang="de-DE" dirty="0"/>
            </a:p>
          </p:txBody>
        </p:sp>
        <p:sp>
          <p:nvSpPr>
            <p:cNvPr id="15" name="Ellipse 14"/>
            <p:cNvSpPr/>
            <p:nvPr/>
          </p:nvSpPr>
          <p:spPr>
            <a:xfrm>
              <a:off x="2267744" y="5157192"/>
              <a:ext cx="756084" cy="504056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/>
            <p:cNvSpPr/>
            <p:nvPr/>
          </p:nvSpPr>
          <p:spPr>
            <a:xfrm>
              <a:off x="1547664" y="5085184"/>
              <a:ext cx="576064" cy="324036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Ellipse 16"/>
            <p:cNvSpPr/>
            <p:nvPr/>
          </p:nvSpPr>
          <p:spPr>
            <a:xfrm>
              <a:off x="1115616" y="4653136"/>
              <a:ext cx="576064" cy="28803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/>
            <p:cNvSpPr/>
            <p:nvPr/>
          </p:nvSpPr>
          <p:spPr>
            <a:xfrm>
              <a:off x="1115616" y="4149080"/>
              <a:ext cx="504056" cy="28803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/>
            <p:cNvSpPr/>
            <p:nvPr/>
          </p:nvSpPr>
          <p:spPr>
            <a:xfrm>
              <a:off x="1475656" y="3501008"/>
              <a:ext cx="792088" cy="432048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" name="Gerade Verbindung mit Pfeil 20"/>
            <p:cNvCxnSpPr/>
            <p:nvPr/>
          </p:nvCxnSpPr>
          <p:spPr>
            <a:xfrm flipV="1">
              <a:off x="2915816" y="3879050"/>
              <a:ext cx="648072" cy="27003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Gerade Verbindung mit Pfeil 22"/>
            <p:cNvCxnSpPr/>
            <p:nvPr/>
          </p:nvCxnSpPr>
          <p:spPr>
            <a:xfrm>
              <a:off x="3054678" y="4437112"/>
              <a:ext cx="58121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Gerade Verbindung mit Pfeil 24"/>
            <p:cNvCxnSpPr/>
            <p:nvPr/>
          </p:nvCxnSpPr>
          <p:spPr>
            <a:xfrm flipV="1">
              <a:off x="4427984" y="3398975"/>
              <a:ext cx="792088" cy="17404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Gerade Verbindung mit Pfeil 26"/>
            <p:cNvCxnSpPr/>
            <p:nvPr/>
          </p:nvCxnSpPr>
          <p:spPr>
            <a:xfrm>
              <a:off x="4427984" y="4941168"/>
              <a:ext cx="108012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Gerade Verbindung mit Pfeil 28"/>
            <p:cNvCxnSpPr/>
            <p:nvPr/>
          </p:nvCxnSpPr>
          <p:spPr>
            <a:xfrm flipV="1">
              <a:off x="6084168" y="2915652"/>
              <a:ext cx="864096" cy="3693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Gerade Verbindung mit Pfeil 30"/>
            <p:cNvCxnSpPr/>
            <p:nvPr/>
          </p:nvCxnSpPr>
          <p:spPr>
            <a:xfrm flipV="1">
              <a:off x="6264188" y="4851158"/>
              <a:ext cx="1332148" cy="900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/>
          </p:nvSpPr>
          <p:spPr>
            <a:xfrm>
              <a:off x="7844055" y="3429000"/>
              <a:ext cx="126444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c</a:t>
              </a:r>
              <a:r>
                <a:rPr lang="de-DE" dirty="0" err="1" smtClean="0"/>
                <a:t>orner</a:t>
              </a:r>
              <a:r>
                <a:rPr lang="de-DE" dirty="0" smtClean="0"/>
                <a:t> </a:t>
              </a:r>
              <a:r>
                <a:rPr lang="de-DE" dirty="0" err="1" smtClean="0"/>
                <a:t>case</a:t>
              </a:r>
              <a:endParaRPr lang="de-DE" dirty="0" smtClean="0"/>
            </a:p>
            <a:p>
              <a:r>
                <a:rPr lang="de-DE" dirty="0" err="1" smtClean="0"/>
                <a:t>extentions</a:t>
              </a:r>
              <a:endParaRPr lang="de-DE" dirty="0"/>
            </a:p>
          </p:txBody>
        </p:sp>
        <p:cxnSp>
          <p:nvCxnSpPr>
            <p:cNvPr id="20" name="Gerade Verbindung mit Pfeil 19"/>
            <p:cNvCxnSpPr/>
            <p:nvPr/>
          </p:nvCxnSpPr>
          <p:spPr>
            <a:xfrm flipH="1" flipV="1">
              <a:off x="8028384" y="3100318"/>
              <a:ext cx="360040" cy="29865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/>
            <p:cNvCxnSpPr/>
            <p:nvPr/>
          </p:nvCxnSpPr>
          <p:spPr>
            <a:xfrm flipH="1">
              <a:off x="8244408" y="4075331"/>
              <a:ext cx="144016" cy="28977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Ellipse 2"/>
          <p:cNvSpPr/>
          <p:nvPr/>
        </p:nvSpPr>
        <p:spPr>
          <a:xfrm rot="20722784">
            <a:off x="2957957" y="2158883"/>
            <a:ext cx="5731199" cy="216995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23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happy part of the marriage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Technology stack: POJOs, JAXB, JPA</a:t>
            </a:r>
          </a:p>
          <a:p>
            <a:r>
              <a:rPr lang="en-US" dirty="0"/>
              <a:t>Generating POJOs from </a:t>
            </a:r>
            <a:r>
              <a:rPr lang="en-US" dirty="0" smtClean="0"/>
              <a:t>UML</a:t>
            </a:r>
          </a:p>
          <a:p>
            <a:r>
              <a:rPr lang="en-US" dirty="0" smtClean="0"/>
              <a:t>Direct </a:t>
            </a:r>
            <a:r>
              <a:rPr lang="en-US" dirty="0"/>
              <a:t>mapping into relational database (JPA)</a:t>
            </a:r>
          </a:p>
          <a:p>
            <a:r>
              <a:rPr lang="en-US" dirty="0"/>
              <a:t>Identification handling (</a:t>
            </a:r>
            <a:r>
              <a:rPr lang="en-US" dirty="0" err="1"/>
              <a:t>db</a:t>
            </a:r>
            <a:r>
              <a:rPr lang="en-US" dirty="0"/>
              <a:t> versus </a:t>
            </a:r>
            <a:r>
              <a:rPr lang="en-US" dirty="0" err="1"/>
              <a:t>ddi</a:t>
            </a:r>
            <a:r>
              <a:rPr lang="en-US" dirty="0" smtClean="0"/>
              <a:t>)</a:t>
            </a:r>
          </a:p>
          <a:p>
            <a:r>
              <a:rPr lang="en-US" dirty="0" smtClean="0"/>
              <a:t>Out of the box (un-)marshalling works!!!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80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Trouble with modularity</a:t>
            </a:r>
            <a:endParaRPr lang="en-US" dirty="0"/>
          </a:p>
        </p:txBody>
      </p:sp>
      <p:sp>
        <p:nvSpPr>
          <p:cNvPr id="20" name="Inhaltsplatzhalter 19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76105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My system can only deal with </a:t>
            </a:r>
            <a:r>
              <a:rPr lang="en-US" dirty="0" err="1" smtClean="0"/>
              <a:t>BasicQuestionnaires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 get delivered a document with </a:t>
            </a:r>
            <a:r>
              <a:rPr lang="en-US" dirty="0" err="1" smtClean="0"/>
              <a:t>AdvancedQuestionnaires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latin typeface="Arial"/>
                <a:cs typeface="Arial"/>
              </a:rPr>
              <a:t>→ No library to determine the mapping on standard level.</a:t>
            </a: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smtClean="0">
                <a:latin typeface="Arial"/>
                <a:cs typeface="Arial"/>
              </a:rPr>
              <a:t>→ Handmade mapping for each and every interaction.</a:t>
            </a:r>
            <a:endParaRPr lang="en-US" dirty="0"/>
          </a:p>
        </p:txBody>
      </p:sp>
      <p:sp>
        <p:nvSpPr>
          <p:cNvPr id="4" name="Rechteck 3"/>
          <p:cNvSpPr/>
          <p:nvPr/>
        </p:nvSpPr>
        <p:spPr>
          <a:xfrm>
            <a:off x="4788024" y="2586334"/>
            <a:ext cx="2880320" cy="1440160"/>
          </a:xfrm>
          <a:prstGeom prst="rect">
            <a:avLst/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1475656" y="2564904"/>
            <a:ext cx="2880320" cy="1440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1475656" y="2204864"/>
            <a:ext cx="1368152" cy="360040"/>
          </a:xfrm>
          <a:prstGeom prst="round2Same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Basic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1780456" y="2717304"/>
            <a:ext cx="1567408" cy="2604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1780456" y="2977716"/>
            <a:ext cx="1567408" cy="9193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1780456" y="2717304"/>
            <a:ext cx="1567408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BasicQuestionnaire</a:t>
            </a:r>
            <a:endParaRPr lang="de-DE" sz="1200" dirty="0"/>
          </a:p>
        </p:txBody>
      </p:sp>
      <p:sp>
        <p:nvSpPr>
          <p:cNvPr id="10" name="Textfeld 9"/>
          <p:cNvSpPr txBox="1"/>
          <p:nvPr/>
        </p:nvSpPr>
        <p:spPr>
          <a:xfrm>
            <a:off x="1788611" y="3068960"/>
            <a:ext cx="1567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T</a:t>
            </a:r>
            <a:r>
              <a:rPr lang="de-DE" sz="1200" dirty="0" smtClean="0"/>
              <a:t>itle</a:t>
            </a:r>
          </a:p>
          <a:p>
            <a:r>
              <a:rPr lang="de-DE" sz="1200" dirty="0" err="1" smtClean="0"/>
              <a:t>Questions</a:t>
            </a:r>
            <a:endParaRPr lang="de-DE" sz="1200" dirty="0"/>
          </a:p>
        </p:txBody>
      </p:sp>
      <p:sp>
        <p:nvSpPr>
          <p:cNvPr id="11" name="Auf der gleichen Seite des Rechtecks liegende Ecken abrunden 10"/>
          <p:cNvSpPr/>
          <p:nvPr/>
        </p:nvSpPr>
        <p:spPr>
          <a:xfrm>
            <a:off x="4788024" y="2226294"/>
            <a:ext cx="1368152" cy="360040"/>
          </a:xfrm>
          <a:prstGeom prst="round2Same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Advanced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092824" y="2738734"/>
            <a:ext cx="1783432" cy="2604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5092824" y="2738734"/>
            <a:ext cx="2071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AdvancedQuestionnaire</a:t>
            </a:r>
            <a:endParaRPr lang="de-DE" sz="1200" dirty="0"/>
          </a:p>
        </p:txBody>
      </p:sp>
      <p:sp>
        <p:nvSpPr>
          <p:cNvPr id="13" name="Rechteck 12"/>
          <p:cNvSpPr/>
          <p:nvPr/>
        </p:nvSpPr>
        <p:spPr>
          <a:xfrm>
            <a:off x="5092824" y="2999146"/>
            <a:ext cx="1783432" cy="9193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5100979" y="3015733"/>
            <a:ext cx="141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Title</a:t>
            </a:r>
          </a:p>
          <a:p>
            <a:r>
              <a:rPr lang="de-DE" sz="1200" dirty="0" err="1" smtClean="0"/>
              <a:t>Questions</a:t>
            </a:r>
            <a:endParaRPr lang="de-DE" sz="1200" dirty="0" smtClean="0"/>
          </a:p>
          <a:p>
            <a:r>
              <a:rPr lang="de-DE" sz="1200" dirty="0" smtClean="0"/>
              <a:t>Flow</a:t>
            </a:r>
          </a:p>
          <a:p>
            <a:r>
              <a:rPr lang="de-DE" sz="1200" dirty="0" smtClean="0"/>
              <a:t>Source</a:t>
            </a:r>
            <a:endParaRPr lang="de-DE" sz="1200" dirty="0"/>
          </a:p>
        </p:txBody>
      </p:sp>
      <p:sp>
        <p:nvSpPr>
          <p:cNvPr id="16" name="Textfeld 15"/>
          <p:cNvSpPr txBox="1"/>
          <p:nvPr/>
        </p:nvSpPr>
        <p:spPr>
          <a:xfrm>
            <a:off x="3491880" y="32849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…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6948264" y="324656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…</a:t>
            </a:r>
            <a:endParaRPr lang="de-DE" dirty="0"/>
          </a:p>
        </p:txBody>
      </p:sp>
      <p:sp>
        <p:nvSpPr>
          <p:cNvPr id="18" name="Gleichschenkliges Dreieck 17"/>
          <p:cNvSpPr/>
          <p:nvPr/>
        </p:nvSpPr>
        <p:spPr>
          <a:xfrm>
            <a:off x="3365291" y="3108065"/>
            <a:ext cx="252028" cy="27699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18"/>
          <p:cNvCxnSpPr/>
          <p:nvPr/>
        </p:nvCxnSpPr>
        <p:spPr>
          <a:xfrm flipV="1">
            <a:off x="3617319" y="3225135"/>
            <a:ext cx="1483660" cy="214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28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Increasing the trouble</a:t>
            </a:r>
            <a:endParaRPr lang="en-US" dirty="0"/>
          </a:p>
        </p:txBody>
      </p:sp>
      <p:sp>
        <p:nvSpPr>
          <p:cNvPr id="4" name="Rechteck 3"/>
          <p:cNvSpPr/>
          <p:nvPr/>
        </p:nvSpPr>
        <p:spPr>
          <a:xfrm>
            <a:off x="1403648" y="3047530"/>
            <a:ext cx="2880320" cy="1440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03648" y="2687490"/>
            <a:ext cx="1368152" cy="360040"/>
          </a:xfrm>
          <a:prstGeom prst="round2Same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Basic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1708448" y="3199930"/>
            <a:ext cx="1567408" cy="2604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1708448" y="3460342"/>
            <a:ext cx="1567408" cy="9193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1708448" y="3199930"/>
            <a:ext cx="1567408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BasicQuestionnaire</a:t>
            </a:r>
            <a:endParaRPr lang="de-DE" sz="1200" dirty="0"/>
          </a:p>
        </p:txBody>
      </p:sp>
      <p:sp>
        <p:nvSpPr>
          <p:cNvPr id="9" name="Textfeld 8"/>
          <p:cNvSpPr txBox="1"/>
          <p:nvPr/>
        </p:nvSpPr>
        <p:spPr>
          <a:xfrm>
            <a:off x="1716603" y="3551586"/>
            <a:ext cx="1567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T</a:t>
            </a:r>
            <a:r>
              <a:rPr lang="de-DE" sz="1200" dirty="0" smtClean="0"/>
              <a:t>itle</a:t>
            </a:r>
          </a:p>
          <a:p>
            <a:r>
              <a:rPr lang="de-DE" sz="1200" dirty="0" err="1" smtClean="0"/>
              <a:t>Questions</a:t>
            </a:r>
            <a:endParaRPr lang="de-DE" sz="1200" dirty="0"/>
          </a:p>
        </p:txBody>
      </p:sp>
      <p:sp>
        <p:nvSpPr>
          <p:cNvPr id="15" name="Textfeld 14"/>
          <p:cNvSpPr txBox="1"/>
          <p:nvPr/>
        </p:nvSpPr>
        <p:spPr>
          <a:xfrm>
            <a:off x="3419872" y="376761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…</a:t>
            </a:r>
            <a:endParaRPr lang="de-DE" dirty="0"/>
          </a:p>
        </p:txBody>
      </p:sp>
      <p:sp>
        <p:nvSpPr>
          <p:cNvPr id="3" name="Rechteck 2"/>
          <p:cNvSpPr/>
          <p:nvPr/>
        </p:nvSpPr>
        <p:spPr>
          <a:xfrm>
            <a:off x="4716016" y="3068960"/>
            <a:ext cx="2880320" cy="1440160"/>
          </a:xfrm>
          <a:prstGeom prst="rect">
            <a:avLst/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f der gleichen Seite des Rechtecks liegende Ecken abrunden 9"/>
          <p:cNvSpPr/>
          <p:nvPr/>
        </p:nvSpPr>
        <p:spPr>
          <a:xfrm>
            <a:off x="4716016" y="2708920"/>
            <a:ext cx="1368152" cy="360040"/>
          </a:xfrm>
          <a:prstGeom prst="round2Same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Advanced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5020816" y="3221360"/>
            <a:ext cx="1567408" cy="2604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5020816" y="3481772"/>
            <a:ext cx="1567408" cy="9193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5020816" y="3221360"/>
            <a:ext cx="2071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AdvancedQuestionnaire</a:t>
            </a:r>
            <a:endParaRPr lang="de-DE" sz="1200" dirty="0"/>
          </a:p>
        </p:txBody>
      </p:sp>
      <p:sp>
        <p:nvSpPr>
          <p:cNvPr id="14" name="Textfeld 13"/>
          <p:cNvSpPr txBox="1"/>
          <p:nvPr/>
        </p:nvSpPr>
        <p:spPr>
          <a:xfrm>
            <a:off x="5028971" y="3498359"/>
            <a:ext cx="1567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Title</a:t>
            </a:r>
          </a:p>
          <a:p>
            <a:r>
              <a:rPr lang="de-DE" sz="1200" dirty="0" err="1" smtClean="0"/>
              <a:t>Questions</a:t>
            </a:r>
            <a:endParaRPr lang="de-DE" sz="1200" dirty="0" smtClean="0"/>
          </a:p>
          <a:p>
            <a:r>
              <a:rPr lang="de-DE" sz="1200" dirty="0" smtClean="0"/>
              <a:t>Flow</a:t>
            </a:r>
          </a:p>
          <a:p>
            <a:r>
              <a:rPr lang="de-DE" sz="1200" dirty="0" smtClean="0"/>
              <a:t>Source</a:t>
            </a:r>
            <a:endParaRPr lang="de-DE" sz="1200" dirty="0"/>
          </a:p>
        </p:txBody>
      </p:sp>
      <p:sp>
        <p:nvSpPr>
          <p:cNvPr id="16" name="Textfeld 15"/>
          <p:cNvSpPr txBox="1"/>
          <p:nvPr/>
        </p:nvSpPr>
        <p:spPr>
          <a:xfrm>
            <a:off x="6876256" y="372919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…</a:t>
            </a:r>
            <a:endParaRPr lang="de-DE" dirty="0"/>
          </a:p>
        </p:txBody>
      </p:sp>
      <p:sp>
        <p:nvSpPr>
          <p:cNvPr id="17" name="Gleichschenkliges Dreieck 16"/>
          <p:cNvSpPr/>
          <p:nvPr/>
        </p:nvSpPr>
        <p:spPr>
          <a:xfrm>
            <a:off x="3293283" y="3590691"/>
            <a:ext cx="252028" cy="27699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9" name="Gruppieren 48"/>
          <p:cNvGrpSpPr/>
          <p:nvPr/>
        </p:nvGrpSpPr>
        <p:grpSpPr>
          <a:xfrm>
            <a:off x="4860032" y="2204864"/>
            <a:ext cx="2880320" cy="2016224"/>
            <a:chOff x="7812360" y="2687490"/>
            <a:chExt cx="2880320" cy="2016224"/>
          </a:xfrm>
        </p:grpSpPr>
        <p:sp>
          <p:nvSpPr>
            <p:cNvPr id="19" name="Rechteck 18"/>
            <p:cNvSpPr/>
            <p:nvPr/>
          </p:nvSpPr>
          <p:spPr>
            <a:xfrm>
              <a:off x="7812360" y="3047530"/>
              <a:ext cx="2880320" cy="1656184"/>
            </a:xfrm>
            <a:prstGeom prst="rect">
              <a:avLst/>
            </a:prstGeom>
            <a:ln w="28575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Auf der gleichen Seite des Rechtecks liegende Ecken abrunden 19"/>
            <p:cNvSpPr/>
            <p:nvPr/>
          </p:nvSpPr>
          <p:spPr>
            <a:xfrm>
              <a:off x="7812360" y="2687490"/>
              <a:ext cx="1550500" cy="360040"/>
            </a:xfrm>
            <a:prstGeom prst="round2Same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Advanced V2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7973144" y="3199930"/>
              <a:ext cx="1711424" cy="2604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7973144" y="3460342"/>
              <a:ext cx="1711424" cy="10993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Textfeld 22"/>
            <p:cNvSpPr txBox="1"/>
            <p:nvPr/>
          </p:nvSpPr>
          <p:spPr>
            <a:xfrm>
              <a:off x="7973144" y="3199930"/>
              <a:ext cx="20714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err="1" smtClean="0"/>
                <a:t>AdvancedQuestionnaire</a:t>
              </a:r>
              <a:endParaRPr lang="de-DE" sz="1200" dirty="0"/>
            </a:p>
          </p:txBody>
        </p:sp>
        <p:sp>
          <p:nvSpPr>
            <p:cNvPr id="24" name="Textfeld 23"/>
            <p:cNvSpPr txBox="1"/>
            <p:nvPr/>
          </p:nvSpPr>
          <p:spPr>
            <a:xfrm>
              <a:off x="7981299" y="3476929"/>
              <a:ext cx="15674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smtClean="0"/>
                <a:t>Title</a:t>
              </a:r>
            </a:p>
            <a:p>
              <a:r>
                <a:rPr lang="de-DE" sz="1200" dirty="0" err="1" smtClean="0"/>
                <a:t>Questions</a:t>
              </a:r>
              <a:endParaRPr lang="de-DE" sz="1200" dirty="0" smtClean="0"/>
            </a:p>
            <a:p>
              <a:r>
                <a:rPr lang="de-DE" sz="1200" dirty="0" smtClean="0"/>
                <a:t>Flow</a:t>
              </a:r>
            </a:p>
            <a:p>
              <a:r>
                <a:rPr lang="de-DE" sz="1200" dirty="0" smtClean="0"/>
                <a:t>Source</a:t>
              </a:r>
            </a:p>
            <a:p>
              <a:r>
                <a:rPr lang="de-DE" sz="1200" dirty="0" err="1" smtClean="0"/>
                <a:t>SomeNewProperty</a:t>
              </a:r>
              <a:endParaRPr lang="de-DE" sz="1200" dirty="0"/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9972600" y="3707761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…</a:t>
              </a:r>
              <a:endParaRPr lang="de-DE" dirty="0"/>
            </a:p>
          </p:txBody>
        </p:sp>
      </p:grpSp>
      <p:grpSp>
        <p:nvGrpSpPr>
          <p:cNvPr id="36" name="Gruppieren 35"/>
          <p:cNvGrpSpPr/>
          <p:nvPr/>
        </p:nvGrpSpPr>
        <p:grpSpPr>
          <a:xfrm>
            <a:off x="3959932" y="4653136"/>
            <a:ext cx="2880320" cy="1800200"/>
            <a:chOff x="3635896" y="3212976"/>
            <a:chExt cx="2880320" cy="1800200"/>
          </a:xfrm>
        </p:grpSpPr>
        <p:sp>
          <p:nvSpPr>
            <p:cNvPr id="37" name="Rechteck 36"/>
            <p:cNvSpPr/>
            <p:nvPr/>
          </p:nvSpPr>
          <p:spPr>
            <a:xfrm>
              <a:off x="3635896" y="3573016"/>
              <a:ext cx="2880320" cy="1440160"/>
            </a:xfrm>
            <a:prstGeom prst="rect">
              <a:avLst/>
            </a:prstGeom>
            <a:ln w="28575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Auf der gleichen Seite des Rechtecks liegende Ecken abrunden 37"/>
            <p:cNvSpPr/>
            <p:nvPr/>
          </p:nvSpPr>
          <p:spPr>
            <a:xfrm>
              <a:off x="3635896" y="3212976"/>
              <a:ext cx="1368152" cy="360040"/>
            </a:xfrm>
            <a:prstGeom prst="round2Same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err="1" smtClean="0">
                  <a:solidFill>
                    <a:schemeClr val="tx1"/>
                  </a:solidFill>
                </a:rPr>
                <a:t>MyOwn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9" name="Rechteck 38"/>
            <p:cNvSpPr/>
            <p:nvPr/>
          </p:nvSpPr>
          <p:spPr>
            <a:xfrm>
              <a:off x="3940696" y="3725416"/>
              <a:ext cx="1567408" cy="2604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Rechteck 39"/>
            <p:cNvSpPr/>
            <p:nvPr/>
          </p:nvSpPr>
          <p:spPr>
            <a:xfrm>
              <a:off x="3940696" y="3985828"/>
              <a:ext cx="1567408" cy="9193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/>
            <p:cNvSpPr txBox="1"/>
            <p:nvPr/>
          </p:nvSpPr>
          <p:spPr>
            <a:xfrm>
              <a:off x="3940696" y="3725416"/>
              <a:ext cx="20714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err="1" smtClean="0"/>
                <a:t>MyOwnQuestionnaire</a:t>
              </a:r>
              <a:endParaRPr lang="de-DE" sz="1200" dirty="0"/>
            </a:p>
          </p:txBody>
        </p:sp>
        <p:sp>
          <p:nvSpPr>
            <p:cNvPr id="42" name="Textfeld 41"/>
            <p:cNvSpPr txBox="1"/>
            <p:nvPr/>
          </p:nvSpPr>
          <p:spPr>
            <a:xfrm>
              <a:off x="3948851" y="4002415"/>
              <a:ext cx="15674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smtClean="0"/>
                <a:t>Title</a:t>
              </a:r>
            </a:p>
            <a:p>
              <a:r>
                <a:rPr lang="de-DE" sz="1200" dirty="0" err="1" smtClean="0"/>
                <a:t>Questions</a:t>
              </a:r>
              <a:endParaRPr lang="de-DE" sz="1200" dirty="0" smtClean="0"/>
            </a:p>
            <a:p>
              <a:r>
                <a:rPr lang="de-DE" sz="1200" dirty="0" smtClean="0"/>
                <a:t>Flow</a:t>
              </a:r>
            </a:p>
            <a:p>
              <a:r>
                <a:rPr lang="de-DE" sz="1200" dirty="0" err="1" smtClean="0"/>
                <a:t>MyOwnProperty</a:t>
              </a:r>
              <a:endParaRPr lang="de-DE" sz="1200" dirty="0"/>
            </a:p>
          </p:txBody>
        </p:sp>
        <p:sp>
          <p:nvSpPr>
            <p:cNvPr id="43" name="Textfeld 42"/>
            <p:cNvSpPr txBox="1"/>
            <p:nvPr/>
          </p:nvSpPr>
          <p:spPr>
            <a:xfrm>
              <a:off x="5796136" y="4233247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…</a:t>
              </a:r>
              <a:endParaRPr lang="de-DE" dirty="0"/>
            </a:p>
          </p:txBody>
        </p:sp>
      </p:grpSp>
      <p:cxnSp>
        <p:nvCxnSpPr>
          <p:cNvPr id="44" name="Gerade Verbindung 43"/>
          <p:cNvCxnSpPr/>
          <p:nvPr/>
        </p:nvCxnSpPr>
        <p:spPr>
          <a:xfrm>
            <a:off x="3419872" y="4329356"/>
            <a:ext cx="844860" cy="13225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leichschenkliges Dreieck 46"/>
          <p:cNvSpPr/>
          <p:nvPr/>
        </p:nvSpPr>
        <p:spPr>
          <a:xfrm rot="3036260">
            <a:off x="3222710" y="4097340"/>
            <a:ext cx="252028" cy="27699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17"/>
          <p:cNvCxnSpPr/>
          <p:nvPr/>
        </p:nvCxnSpPr>
        <p:spPr>
          <a:xfrm flipV="1">
            <a:off x="3545311" y="3707761"/>
            <a:ext cx="1483660" cy="214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17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Solution I: Exchange layer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Provide XSL-snippets for up-casting and version change.</a:t>
            </a:r>
          </a:p>
          <a:p>
            <a:r>
              <a:rPr lang="en-US" dirty="0" smtClean="0"/>
              <a:t>Compile a style sheet from XSL-snippets based on the used namespaces in source an destination.</a:t>
            </a:r>
          </a:p>
          <a:p>
            <a:r>
              <a:rPr lang="en-US" dirty="0" smtClean="0"/>
              <a:t>Upstream transformation of each import</a:t>
            </a:r>
          </a:p>
          <a:p>
            <a:endParaRPr lang="en-US" dirty="0"/>
          </a:p>
          <a:p>
            <a:r>
              <a:rPr lang="en-US" dirty="0" smtClean="0">
                <a:solidFill>
                  <a:schemeClr val="accent2"/>
                </a:solidFill>
              </a:rPr>
              <a:t>Lot of work and issues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2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II: Application layer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Extend POJOs with methods for up-casting and version change.</a:t>
            </a:r>
          </a:p>
          <a:p>
            <a:r>
              <a:rPr lang="en-US" dirty="0" smtClean="0"/>
              <a:t>Provide an API with all modules in each version.</a:t>
            </a:r>
          </a:p>
          <a:p>
            <a:r>
              <a:rPr lang="en-US" dirty="0" smtClean="0"/>
              <a:t>Cast to fitting objects before storing.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Lot of work and </a:t>
            </a:r>
            <a:r>
              <a:rPr lang="en-US" dirty="0" smtClean="0">
                <a:solidFill>
                  <a:schemeClr val="accent2"/>
                </a:solidFill>
              </a:rPr>
              <a:t>issues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25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III: Cheating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293096"/>
            <a:ext cx="8229600" cy="183306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Parser are usually implemented to ignore anything they do not understand</a:t>
            </a:r>
          </a:p>
          <a:p>
            <a:r>
              <a:rPr lang="en-US" dirty="0"/>
              <a:t>So, an implementation of the </a:t>
            </a:r>
            <a:r>
              <a:rPr lang="en-US" dirty="0" smtClean="0"/>
              <a:t>Questionnaire </a:t>
            </a:r>
            <a:r>
              <a:rPr lang="en-US" dirty="0"/>
              <a:t>from Basic will typically be able to parse an Advanced </a:t>
            </a:r>
            <a:r>
              <a:rPr lang="en-US" dirty="0" smtClean="0"/>
              <a:t>Questionnaire </a:t>
            </a:r>
            <a:r>
              <a:rPr lang="en-US" dirty="0"/>
              <a:t>input, no </a:t>
            </a:r>
            <a:r>
              <a:rPr lang="en-US" dirty="0" smtClean="0"/>
              <a:t>casting/transformation needed</a:t>
            </a:r>
            <a:endParaRPr lang="en-US" dirty="0"/>
          </a:p>
          <a:p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4788024" y="2586334"/>
            <a:ext cx="2880320" cy="1440160"/>
          </a:xfrm>
          <a:prstGeom prst="rect">
            <a:avLst/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1475656" y="2564904"/>
            <a:ext cx="2880320" cy="1440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1475656" y="2204864"/>
            <a:ext cx="1368152" cy="360040"/>
          </a:xfrm>
          <a:prstGeom prst="round2Same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Basic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1780456" y="2717304"/>
            <a:ext cx="1567408" cy="2604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1780456" y="2977716"/>
            <a:ext cx="1567408" cy="9193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1780456" y="2717304"/>
            <a:ext cx="1567408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Questionnaire</a:t>
            </a:r>
            <a:endParaRPr lang="en-US" sz="1200" dirty="0"/>
          </a:p>
        </p:txBody>
      </p:sp>
      <p:sp>
        <p:nvSpPr>
          <p:cNvPr id="10" name="Textfeld 9"/>
          <p:cNvSpPr txBox="1"/>
          <p:nvPr/>
        </p:nvSpPr>
        <p:spPr>
          <a:xfrm>
            <a:off x="1788611" y="3068960"/>
            <a:ext cx="1567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Title</a:t>
            </a:r>
          </a:p>
          <a:p>
            <a:r>
              <a:rPr lang="en-US" sz="1200" dirty="0" smtClean="0"/>
              <a:t>Questions</a:t>
            </a:r>
            <a:endParaRPr lang="en-US" sz="1200" dirty="0"/>
          </a:p>
        </p:txBody>
      </p:sp>
      <p:sp>
        <p:nvSpPr>
          <p:cNvPr id="11" name="Auf der gleichen Seite des Rechtecks liegende Ecken abrunden 10"/>
          <p:cNvSpPr/>
          <p:nvPr/>
        </p:nvSpPr>
        <p:spPr>
          <a:xfrm>
            <a:off x="4788024" y="2226294"/>
            <a:ext cx="1368152" cy="360040"/>
          </a:xfrm>
          <a:prstGeom prst="round2Same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Advanced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092824" y="2738734"/>
            <a:ext cx="1567408" cy="2604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092824" y="2999146"/>
            <a:ext cx="1567408" cy="9193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5092824" y="2738734"/>
            <a:ext cx="2071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Questionnaire</a:t>
            </a:r>
            <a:endParaRPr lang="en-US" sz="1200" dirty="0"/>
          </a:p>
        </p:txBody>
      </p:sp>
      <p:sp>
        <p:nvSpPr>
          <p:cNvPr id="15" name="Textfeld 14"/>
          <p:cNvSpPr txBox="1"/>
          <p:nvPr/>
        </p:nvSpPr>
        <p:spPr>
          <a:xfrm>
            <a:off x="5100979" y="3015733"/>
            <a:ext cx="1567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Title</a:t>
            </a:r>
          </a:p>
          <a:p>
            <a:r>
              <a:rPr lang="en-US" sz="1200" dirty="0" smtClean="0"/>
              <a:t>Questions</a:t>
            </a:r>
          </a:p>
          <a:p>
            <a:r>
              <a:rPr lang="en-US" sz="1200" dirty="0" smtClean="0"/>
              <a:t>Flow</a:t>
            </a:r>
          </a:p>
          <a:p>
            <a:r>
              <a:rPr lang="en-US" sz="1200" dirty="0" smtClean="0"/>
              <a:t>Source</a:t>
            </a:r>
            <a:endParaRPr lang="en-US" sz="1200" dirty="0"/>
          </a:p>
        </p:txBody>
      </p:sp>
      <p:sp>
        <p:nvSpPr>
          <p:cNvPr id="16" name="Textfeld 15"/>
          <p:cNvSpPr txBox="1"/>
          <p:nvPr/>
        </p:nvSpPr>
        <p:spPr>
          <a:xfrm>
            <a:off x="3491880" y="32849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…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6948264" y="324656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…</a:t>
            </a:r>
            <a:endParaRPr lang="de-DE" dirty="0"/>
          </a:p>
        </p:txBody>
      </p:sp>
      <p:sp>
        <p:nvSpPr>
          <p:cNvPr id="18" name="Gleichschenkliges Dreieck 17"/>
          <p:cNvSpPr/>
          <p:nvPr/>
        </p:nvSpPr>
        <p:spPr>
          <a:xfrm>
            <a:off x="3365291" y="3108065"/>
            <a:ext cx="252028" cy="27699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18"/>
          <p:cNvCxnSpPr/>
          <p:nvPr/>
        </p:nvCxnSpPr>
        <p:spPr>
          <a:xfrm flipV="1">
            <a:off x="3617319" y="3225135"/>
            <a:ext cx="1483660" cy="214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12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 with solution III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Somewhat weird to have two objects with different properties, but the same name in the same standard</a:t>
            </a:r>
          </a:p>
          <a:p>
            <a:r>
              <a:rPr lang="en-US" dirty="0"/>
              <a:t>Requiring anything not in Basic is impossible</a:t>
            </a:r>
          </a:p>
          <a:p>
            <a:r>
              <a:rPr lang="en-US" dirty="0" err="1"/>
              <a:t>xs:any</a:t>
            </a:r>
            <a:r>
              <a:rPr lang="en-US" dirty="0"/>
              <a:t> needs to be added to everything</a:t>
            </a:r>
          </a:p>
          <a:p>
            <a:endParaRPr lang="en-US" dirty="0" smtClean="0"/>
          </a:p>
          <a:p>
            <a:r>
              <a:rPr lang="en-US" dirty="0" smtClean="0"/>
              <a:t>Different modeling philosophy is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44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Time for Discussion</a:t>
            </a:r>
            <a:endParaRPr lang="en-US" dirty="0"/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Contact:</a:t>
            </a:r>
          </a:p>
          <a:p>
            <a:r>
              <a:rPr lang="en-US" dirty="0" smtClean="0">
                <a:hlinkClick r:id="rId2"/>
              </a:rPr>
              <a:t>brigitte.mathiak@gesis.org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oliver.hopt@gesis.org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1ACB0F0E4D8D847898BCFF327EAA86F" ma:contentTypeVersion="14" ma:contentTypeDescription="Ein neues Dokument erstellen." ma:contentTypeScope="" ma:versionID="076608a465e9f4abe123e33d8ae2290f">
  <xsd:schema xmlns:xsd="http://www.w3.org/2001/XMLSchema" xmlns:xs="http://www.w3.org/2001/XMLSchema" xmlns:p="http://schemas.microsoft.com/office/2006/metadata/properties" xmlns:ns2="f90a23b0-552c-4f8d-b330-f53f4fcdfcf9" targetNamespace="http://schemas.microsoft.com/office/2006/metadata/properties" ma:root="true" ma:fieldsID="9f72fafb60184820a38988fa3fe2d22b" ns2:_="">
    <xsd:import namespace="f90a23b0-552c-4f8d-b330-f53f4fcdfc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a23b0-552c-4f8d-b330-f53f4fcdfcf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_dlc_DocId xmlns="f90a23b0-552c-4f8d-b330-f53f4fcdfcf9">GESISDOC-552-16</_dlc_DocId>
    <_dlc_DocIdUrl xmlns="f90a23b0-552c-4f8d-b330-f53f4fcdfcf9">
      <Url>http://intranet.gesis.org/pr/Vorlagen/_layouts/DocIdRedir.aspx?ID=GESISDOC-552-16</Url>
      <Description>GESISDOC-552-16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32FCB5C5-0DB5-44CF-A736-6B36A3DF6B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a23b0-552c-4f8d-b330-f53f4fcdfc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84D923-FC12-4022-B532-31E7F7F95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D3CE-EBB9-4E4C-862A-80C7FA773941}">
  <ds:schemaRefs>
    <ds:schemaRef ds:uri="http://purl.org/dc/elements/1.1/"/>
    <ds:schemaRef ds:uri="f90a23b0-552c-4f8d-b330-f53f4fcdfcf9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44881EF9-26EC-43E8-9B5D-C258C39EE5D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432</Words>
  <Application>Microsoft Office PowerPoint</Application>
  <PresentationFormat>Bildschirmpräsentation (4:3)</PresentationFormat>
  <Paragraphs>141</Paragraphs>
  <Slides>15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6" baseType="lpstr">
      <vt:lpstr>Benutzerdefiniertes Design</vt:lpstr>
      <vt:lpstr>Data Model and Data Standard  - a Happy Marriage?</vt:lpstr>
      <vt:lpstr>This talk is about</vt:lpstr>
      <vt:lpstr>What is a Data Model for?</vt:lpstr>
      <vt:lpstr>What is a Data Standard for?</vt:lpstr>
      <vt:lpstr>Data Model vs. Data Standard</vt:lpstr>
      <vt:lpstr>DDI development from the technical point of view</vt:lpstr>
      <vt:lpstr>Modularization</vt:lpstr>
      <vt:lpstr>The happy part of the marriage</vt:lpstr>
      <vt:lpstr>Trouble with modularity</vt:lpstr>
      <vt:lpstr>Increasing the trouble</vt:lpstr>
      <vt:lpstr>Solution I: Exchange layer</vt:lpstr>
      <vt:lpstr>Solution II: Application layer</vt:lpstr>
      <vt:lpstr>Solution III: Cheating</vt:lpstr>
      <vt:lpstr>Issues with solution III</vt:lpstr>
      <vt:lpstr>Time for Discussion</vt:lpstr>
    </vt:vector>
  </TitlesOfParts>
  <Company>IZ Sozialwissenschaften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Heuser</dc:creator>
  <cp:lastModifiedBy>Hopt, Oliver</cp:lastModifiedBy>
  <cp:revision>110</cp:revision>
  <cp:lastPrinted>2012-10-08T08:45:41Z</cp:lastPrinted>
  <dcterms:created xsi:type="dcterms:W3CDTF">2009-05-26T11:46:45Z</dcterms:created>
  <dcterms:modified xsi:type="dcterms:W3CDTF">2013-11-27T13:27:30Z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0x010100B1ACB0F0E4D8D847898BCFF327EAA86F</vt:lpwstr>
  </property>
  <property fmtid="{D5CDD505-2E9C-101B-9397-08002B2CF9AE}" pid="3" name="_dlc_DocIdItemGuid">
    <vt:lpwstr>4c4d6194-002d-4af3-9b20-15a0523503fd</vt:lpwstr>
  </property>
</Properties>
</file>