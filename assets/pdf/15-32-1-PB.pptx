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  <p:sldMasterId id="2147483668" r:id="rId5"/>
  </p:sldMasterIdLst>
  <p:notesMasterIdLst>
    <p:notesMasterId r:id="rId289"/>
  </p:notesMasterIdLst>
  <p:handoutMasterIdLst>
    <p:handoutMasterId r:id="rId290"/>
  </p:handoutMasterIdLst>
  <p:sldIdLst>
    <p:sldId id="758" r:id="rId6"/>
    <p:sldId id="759" r:id="rId7"/>
    <p:sldId id="760" r:id="rId8"/>
    <p:sldId id="761" r:id="rId9"/>
    <p:sldId id="762" r:id="rId10"/>
    <p:sldId id="763" r:id="rId11"/>
    <p:sldId id="764" r:id="rId12"/>
    <p:sldId id="908" r:id="rId13"/>
    <p:sldId id="765" r:id="rId14"/>
    <p:sldId id="766" r:id="rId15"/>
    <p:sldId id="553" r:id="rId16"/>
    <p:sldId id="554" r:id="rId17"/>
    <p:sldId id="555" r:id="rId18"/>
    <p:sldId id="767" r:id="rId19"/>
    <p:sldId id="909" r:id="rId20"/>
    <p:sldId id="910" r:id="rId21"/>
    <p:sldId id="559" r:id="rId22"/>
    <p:sldId id="712" r:id="rId23"/>
    <p:sldId id="561" r:id="rId24"/>
    <p:sldId id="562" r:id="rId25"/>
    <p:sldId id="563" r:id="rId26"/>
    <p:sldId id="564" r:id="rId27"/>
    <p:sldId id="565" r:id="rId28"/>
    <p:sldId id="566" r:id="rId29"/>
    <p:sldId id="567" r:id="rId30"/>
    <p:sldId id="568" r:id="rId31"/>
    <p:sldId id="569" r:id="rId32"/>
    <p:sldId id="570" r:id="rId33"/>
    <p:sldId id="911" r:id="rId34"/>
    <p:sldId id="912" r:id="rId35"/>
    <p:sldId id="913" r:id="rId36"/>
    <p:sldId id="574" r:id="rId37"/>
    <p:sldId id="575" r:id="rId38"/>
    <p:sldId id="576" r:id="rId39"/>
    <p:sldId id="577" r:id="rId40"/>
    <p:sldId id="916" r:id="rId41"/>
    <p:sldId id="917" r:id="rId42"/>
    <p:sldId id="580" r:id="rId43"/>
    <p:sldId id="581" r:id="rId44"/>
    <p:sldId id="918" r:id="rId45"/>
    <p:sldId id="914" r:id="rId46"/>
    <p:sldId id="915" r:id="rId47"/>
    <p:sldId id="582" r:id="rId48"/>
    <p:sldId id="768" r:id="rId49"/>
    <p:sldId id="769" r:id="rId50"/>
    <p:sldId id="770" r:id="rId51"/>
    <p:sldId id="771" r:id="rId52"/>
    <p:sldId id="926" r:id="rId53"/>
    <p:sldId id="772" r:id="rId54"/>
    <p:sldId id="773" r:id="rId55"/>
    <p:sldId id="774" r:id="rId56"/>
    <p:sldId id="775" r:id="rId57"/>
    <p:sldId id="776" r:id="rId58"/>
    <p:sldId id="777" r:id="rId59"/>
    <p:sldId id="778" r:id="rId60"/>
    <p:sldId id="779" r:id="rId61"/>
    <p:sldId id="780" r:id="rId62"/>
    <p:sldId id="781" r:id="rId63"/>
    <p:sldId id="782" r:id="rId64"/>
    <p:sldId id="713" r:id="rId65"/>
    <p:sldId id="585" r:id="rId66"/>
    <p:sldId id="586" r:id="rId67"/>
    <p:sldId id="924" r:id="rId68"/>
    <p:sldId id="587" r:id="rId69"/>
    <p:sldId id="714" r:id="rId70"/>
    <p:sldId id="922" r:id="rId71"/>
    <p:sldId id="592" r:id="rId72"/>
    <p:sldId id="593" r:id="rId73"/>
    <p:sldId id="594" r:id="rId74"/>
    <p:sldId id="919" r:id="rId75"/>
    <p:sldId id="920" r:id="rId76"/>
    <p:sldId id="921" r:id="rId77"/>
    <p:sldId id="738" r:id="rId78"/>
    <p:sldId id="739" r:id="rId79"/>
    <p:sldId id="923" r:id="rId80"/>
    <p:sldId id="595" r:id="rId81"/>
    <p:sldId id="784" r:id="rId82"/>
    <p:sldId id="597" r:id="rId83"/>
    <p:sldId id="598" r:id="rId84"/>
    <p:sldId id="599" r:id="rId85"/>
    <p:sldId id="721" r:id="rId86"/>
    <p:sldId id="603" r:id="rId87"/>
    <p:sldId id="606" r:id="rId88"/>
    <p:sldId id="604" r:id="rId89"/>
    <p:sldId id="605" r:id="rId90"/>
    <p:sldId id="723" r:id="rId91"/>
    <p:sldId id="927" r:id="rId92"/>
    <p:sldId id="724" r:id="rId93"/>
    <p:sldId id="725" r:id="rId94"/>
    <p:sldId id="607" r:id="rId95"/>
    <p:sldId id="726" r:id="rId96"/>
    <p:sldId id="608" r:id="rId97"/>
    <p:sldId id="727" r:id="rId98"/>
    <p:sldId id="609" r:id="rId99"/>
    <p:sldId id="785" r:id="rId100"/>
    <p:sldId id="786" r:id="rId101"/>
    <p:sldId id="787" r:id="rId102"/>
    <p:sldId id="788" r:id="rId103"/>
    <p:sldId id="789" r:id="rId104"/>
    <p:sldId id="790" r:id="rId105"/>
    <p:sldId id="791" r:id="rId106"/>
    <p:sldId id="792" r:id="rId107"/>
    <p:sldId id="793" r:id="rId108"/>
    <p:sldId id="794" r:id="rId109"/>
    <p:sldId id="795" r:id="rId110"/>
    <p:sldId id="796" r:id="rId111"/>
    <p:sldId id="797" r:id="rId112"/>
    <p:sldId id="798" r:id="rId113"/>
    <p:sldId id="799" r:id="rId114"/>
    <p:sldId id="800" r:id="rId115"/>
    <p:sldId id="731" r:id="rId116"/>
    <p:sldId id="730" r:id="rId117"/>
    <p:sldId id="732" r:id="rId118"/>
    <p:sldId id="733" r:id="rId119"/>
    <p:sldId id="610" r:id="rId120"/>
    <p:sldId id="734" r:id="rId121"/>
    <p:sldId id="611" r:id="rId122"/>
    <p:sldId id="735" r:id="rId123"/>
    <p:sldId id="612" r:id="rId124"/>
    <p:sldId id="801" r:id="rId125"/>
    <p:sldId id="615" r:id="rId126"/>
    <p:sldId id="740" r:id="rId127"/>
    <p:sldId id="925" r:id="rId128"/>
    <p:sldId id="617" r:id="rId129"/>
    <p:sldId id="618" r:id="rId130"/>
    <p:sldId id="745" r:id="rId131"/>
    <p:sldId id="744" r:id="rId132"/>
    <p:sldId id="619" r:id="rId133"/>
    <p:sldId id="620" r:id="rId134"/>
    <p:sldId id="746" r:id="rId135"/>
    <p:sldId id="747" r:id="rId136"/>
    <p:sldId id="621" r:id="rId137"/>
    <p:sldId id="622" r:id="rId138"/>
    <p:sldId id="748" r:id="rId139"/>
    <p:sldId id="624" r:id="rId140"/>
    <p:sldId id="749" r:id="rId141"/>
    <p:sldId id="626" r:id="rId142"/>
    <p:sldId id="627" r:id="rId143"/>
    <p:sldId id="628" r:id="rId144"/>
    <p:sldId id="629" r:id="rId145"/>
    <p:sldId id="630" r:id="rId146"/>
    <p:sldId id="631" r:id="rId147"/>
    <p:sldId id="632" r:id="rId148"/>
    <p:sldId id="633" r:id="rId149"/>
    <p:sldId id="634" r:id="rId150"/>
    <p:sldId id="802" r:id="rId151"/>
    <p:sldId id="636" r:id="rId152"/>
    <p:sldId id="883" r:id="rId153"/>
    <p:sldId id="637" r:id="rId154"/>
    <p:sldId id="884" r:id="rId155"/>
    <p:sldId id="638" r:id="rId156"/>
    <p:sldId id="885" r:id="rId157"/>
    <p:sldId id="639" r:id="rId158"/>
    <p:sldId id="886" r:id="rId159"/>
    <p:sldId id="640" r:id="rId160"/>
    <p:sldId id="887" r:id="rId161"/>
    <p:sldId id="641" r:id="rId162"/>
    <p:sldId id="888" r:id="rId163"/>
    <p:sldId id="642" r:id="rId164"/>
    <p:sldId id="889" r:id="rId165"/>
    <p:sldId id="643" r:id="rId166"/>
    <p:sldId id="890" r:id="rId167"/>
    <p:sldId id="644" r:id="rId168"/>
    <p:sldId id="645" r:id="rId169"/>
    <p:sldId id="891" r:id="rId170"/>
    <p:sldId id="646" r:id="rId171"/>
    <p:sldId id="647" r:id="rId172"/>
    <p:sldId id="648" r:id="rId173"/>
    <p:sldId id="892" r:id="rId174"/>
    <p:sldId id="649" r:id="rId175"/>
    <p:sldId id="650" r:id="rId176"/>
    <p:sldId id="651" r:id="rId177"/>
    <p:sldId id="893" r:id="rId178"/>
    <p:sldId id="652" r:id="rId179"/>
    <p:sldId id="653" r:id="rId180"/>
    <p:sldId id="654" r:id="rId181"/>
    <p:sldId id="894" r:id="rId182"/>
    <p:sldId id="655" r:id="rId183"/>
    <p:sldId id="656" r:id="rId184"/>
    <p:sldId id="657" r:id="rId185"/>
    <p:sldId id="895" r:id="rId186"/>
    <p:sldId id="658" r:id="rId187"/>
    <p:sldId id="659" r:id="rId188"/>
    <p:sldId id="660" r:id="rId189"/>
    <p:sldId id="896" r:id="rId190"/>
    <p:sldId id="661" r:id="rId191"/>
    <p:sldId id="662" r:id="rId192"/>
    <p:sldId id="663" r:id="rId193"/>
    <p:sldId id="897" r:id="rId194"/>
    <p:sldId id="664" r:id="rId195"/>
    <p:sldId id="665" r:id="rId196"/>
    <p:sldId id="666" r:id="rId197"/>
    <p:sldId id="803" r:id="rId198"/>
    <p:sldId id="881" r:id="rId199"/>
    <p:sldId id="882" r:id="rId200"/>
    <p:sldId id="804" r:id="rId201"/>
    <p:sldId id="805" r:id="rId202"/>
    <p:sldId id="806" r:id="rId203"/>
    <p:sldId id="807" r:id="rId204"/>
    <p:sldId id="808" r:id="rId205"/>
    <p:sldId id="809" r:id="rId206"/>
    <p:sldId id="810" r:id="rId207"/>
    <p:sldId id="811" r:id="rId208"/>
    <p:sldId id="812" r:id="rId209"/>
    <p:sldId id="813" r:id="rId210"/>
    <p:sldId id="814" r:id="rId211"/>
    <p:sldId id="815" r:id="rId212"/>
    <p:sldId id="816" r:id="rId213"/>
    <p:sldId id="817" r:id="rId214"/>
    <p:sldId id="818" r:id="rId215"/>
    <p:sldId id="819" r:id="rId216"/>
    <p:sldId id="820" r:id="rId217"/>
    <p:sldId id="821" r:id="rId218"/>
    <p:sldId id="822" r:id="rId219"/>
    <p:sldId id="823" r:id="rId220"/>
    <p:sldId id="824" r:id="rId221"/>
    <p:sldId id="825" r:id="rId222"/>
    <p:sldId id="826" r:id="rId223"/>
    <p:sldId id="827" r:id="rId224"/>
    <p:sldId id="828" r:id="rId225"/>
    <p:sldId id="829" r:id="rId226"/>
    <p:sldId id="830" r:id="rId227"/>
    <p:sldId id="831" r:id="rId228"/>
    <p:sldId id="864" r:id="rId229"/>
    <p:sldId id="865" r:id="rId230"/>
    <p:sldId id="866" r:id="rId231"/>
    <p:sldId id="867" r:id="rId232"/>
    <p:sldId id="833" r:id="rId233"/>
    <p:sldId id="667" r:id="rId234"/>
    <p:sldId id="757" r:id="rId235"/>
    <p:sldId id="669" r:id="rId236"/>
    <p:sldId id="834" r:id="rId237"/>
    <p:sldId id="670" r:id="rId238"/>
    <p:sldId id="671" r:id="rId239"/>
    <p:sldId id="672" r:id="rId240"/>
    <p:sldId id="901" r:id="rId241"/>
    <p:sldId id="673" r:id="rId242"/>
    <p:sldId id="756" r:id="rId243"/>
    <p:sldId id="674" r:id="rId244"/>
    <p:sldId id="836" r:id="rId245"/>
    <p:sldId id="675" r:id="rId246"/>
    <p:sldId id="754" r:id="rId247"/>
    <p:sldId id="755" r:id="rId248"/>
    <p:sldId id="838" r:id="rId249"/>
    <p:sldId id="839" r:id="rId250"/>
    <p:sldId id="840" r:id="rId251"/>
    <p:sldId id="841" r:id="rId252"/>
    <p:sldId id="842" r:id="rId253"/>
    <p:sldId id="843" r:id="rId254"/>
    <p:sldId id="844" r:id="rId255"/>
    <p:sldId id="845" r:id="rId256"/>
    <p:sldId id="846" r:id="rId257"/>
    <p:sldId id="847" r:id="rId258"/>
    <p:sldId id="848" r:id="rId259"/>
    <p:sldId id="849" r:id="rId260"/>
    <p:sldId id="850" r:id="rId261"/>
    <p:sldId id="851" r:id="rId262"/>
    <p:sldId id="852" r:id="rId263"/>
    <p:sldId id="853" r:id="rId264"/>
    <p:sldId id="854" r:id="rId265"/>
    <p:sldId id="855" r:id="rId266"/>
    <p:sldId id="900" r:id="rId267"/>
    <p:sldId id="898" r:id="rId268"/>
    <p:sldId id="861" r:id="rId269"/>
    <p:sldId id="876" r:id="rId270"/>
    <p:sldId id="862" r:id="rId271"/>
    <p:sldId id="877" r:id="rId272"/>
    <p:sldId id="863" r:id="rId273"/>
    <p:sldId id="878" r:id="rId274"/>
    <p:sldId id="879" r:id="rId275"/>
    <p:sldId id="899" r:id="rId276"/>
    <p:sldId id="869" r:id="rId277"/>
    <p:sldId id="870" r:id="rId278"/>
    <p:sldId id="871" r:id="rId279"/>
    <p:sldId id="872" r:id="rId280"/>
    <p:sldId id="873" r:id="rId281"/>
    <p:sldId id="874" r:id="rId282"/>
    <p:sldId id="906" r:id="rId283"/>
    <p:sldId id="902" r:id="rId284"/>
    <p:sldId id="903" r:id="rId285"/>
    <p:sldId id="904" r:id="rId286"/>
    <p:sldId id="905" r:id="rId287"/>
    <p:sldId id="907" r:id="rId288"/>
  </p:sldIdLst>
  <p:sldSz cx="9144000" cy="6858000" type="screen4x3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  <a:srgbClr val="993366"/>
    <a:srgbClr val="445A6F"/>
    <a:srgbClr val="929292"/>
    <a:srgbClr val="979797"/>
    <a:srgbClr val="294465"/>
    <a:srgbClr val="7F7F7F"/>
    <a:srgbClr val="9AAEC2"/>
    <a:srgbClr val="7590AB"/>
    <a:srgbClr val="869D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gitternetz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84" autoAdjust="0"/>
    <p:restoredTop sz="66574" autoAdjust="0"/>
  </p:normalViewPr>
  <p:slideViewPr>
    <p:cSldViewPr>
      <p:cViewPr>
        <p:scale>
          <a:sx n="70" d="100"/>
          <a:sy n="70" d="100"/>
        </p:scale>
        <p:origin x="-1164" y="-648"/>
      </p:cViewPr>
      <p:guideLst>
        <p:guide orient="horz" pos="2886"/>
        <p:guide pos="2880"/>
      </p:guideLst>
    </p:cSldViewPr>
  </p:slideViewPr>
  <p:outlineViewPr>
    <p:cViewPr>
      <p:scale>
        <a:sx n="33" d="100"/>
        <a:sy n="33" d="100"/>
      </p:scale>
      <p:origin x="0" y="2892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3540" y="-84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2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63" Type="http://schemas.openxmlformats.org/officeDocument/2006/relationships/slide" Target="slides/slide58.xml"/><Relationship Id="rId84" Type="http://schemas.openxmlformats.org/officeDocument/2006/relationships/slide" Target="slides/slide79.xml"/><Relationship Id="rId138" Type="http://schemas.openxmlformats.org/officeDocument/2006/relationships/slide" Target="slides/slide133.xml"/><Relationship Id="rId159" Type="http://schemas.openxmlformats.org/officeDocument/2006/relationships/slide" Target="slides/slide154.xml"/><Relationship Id="rId170" Type="http://schemas.openxmlformats.org/officeDocument/2006/relationships/slide" Target="slides/slide165.xml"/><Relationship Id="rId191" Type="http://schemas.openxmlformats.org/officeDocument/2006/relationships/slide" Target="slides/slide186.xml"/><Relationship Id="rId205" Type="http://schemas.openxmlformats.org/officeDocument/2006/relationships/slide" Target="slides/slide200.xml"/><Relationship Id="rId226" Type="http://schemas.openxmlformats.org/officeDocument/2006/relationships/slide" Target="slides/slide221.xml"/><Relationship Id="rId247" Type="http://schemas.openxmlformats.org/officeDocument/2006/relationships/slide" Target="slides/slide242.xml"/><Relationship Id="rId107" Type="http://schemas.openxmlformats.org/officeDocument/2006/relationships/slide" Target="slides/slide102.xml"/><Relationship Id="rId268" Type="http://schemas.openxmlformats.org/officeDocument/2006/relationships/slide" Target="slides/slide263.xml"/><Relationship Id="rId289" Type="http://schemas.openxmlformats.org/officeDocument/2006/relationships/notesMaster" Target="notesMasters/notesMaster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53" Type="http://schemas.openxmlformats.org/officeDocument/2006/relationships/slide" Target="slides/slide48.xml"/><Relationship Id="rId74" Type="http://schemas.openxmlformats.org/officeDocument/2006/relationships/slide" Target="slides/slide69.xml"/><Relationship Id="rId128" Type="http://schemas.openxmlformats.org/officeDocument/2006/relationships/slide" Target="slides/slide123.xml"/><Relationship Id="rId149" Type="http://schemas.openxmlformats.org/officeDocument/2006/relationships/slide" Target="slides/slide144.xml"/><Relationship Id="rId5" Type="http://schemas.openxmlformats.org/officeDocument/2006/relationships/slideMaster" Target="slideMasters/slideMaster2.xml"/><Relationship Id="rId95" Type="http://schemas.openxmlformats.org/officeDocument/2006/relationships/slide" Target="slides/slide90.xml"/><Relationship Id="rId160" Type="http://schemas.openxmlformats.org/officeDocument/2006/relationships/slide" Target="slides/slide155.xml"/><Relationship Id="rId181" Type="http://schemas.openxmlformats.org/officeDocument/2006/relationships/slide" Target="slides/slide176.xml"/><Relationship Id="rId216" Type="http://schemas.openxmlformats.org/officeDocument/2006/relationships/slide" Target="slides/slide211.xml"/><Relationship Id="rId237" Type="http://schemas.openxmlformats.org/officeDocument/2006/relationships/slide" Target="slides/slide232.xml"/><Relationship Id="rId258" Type="http://schemas.openxmlformats.org/officeDocument/2006/relationships/slide" Target="slides/slide253.xml"/><Relationship Id="rId279" Type="http://schemas.openxmlformats.org/officeDocument/2006/relationships/slide" Target="slides/slide274.xml"/><Relationship Id="rId22" Type="http://schemas.openxmlformats.org/officeDocument/2006/relationships/slide" Target="slides/slide17.xml"/><Relationship Id="rId43" Type="http://schemas.openxmlformats.org/officeDocument/2006/relationships/slide" Target="slides/slide38.xml"/><Relationship Id="rId64" Type="http://schemas.openxmlformats.org/officeDocument/2006/relationships/slide" Target="slides/slide59.xml"/><Relationship Id="rId118" Type="http://schemas.openxmlformats.org/officeDocument/2006/relationships/slide" Target="slides/slide113.xml"/><Relationship Id="rId139" Type="http://schemas.openxmlformats.org/officeDocument/2006/relationships/slide" Target="slides/slide134.xml"/><Relationship Id="rId290" Type="http://schemas.openxmlformats.org/officeDocument/2006/relationships/handoutMaster" Target="handoutMasters/handoutMaster1.xml"/><Relationship Id="rId85" Type="http://schemas.openxmlformats.org/officeDocument/2006/relationships/slide" Target="slides/slide80.xml"/><Relationship Id="rId150" Type="http://schemas.openxmlformats.org/officeDocument/2006/relationships/slide" Target="slides/slide145.xml"/><Relationship Id="rId171" Type="http://schemas.openxmlformats.org/officeDocument/2006/relationships/slide" Target="slides/slide166.xml"/><Relationship Id="rId192" Type="http://schemas.openxmlformats.org/officeDocument/2006/relationships/slide" Target="slides/slide187.xml"/><Relationship Id="rId206" Type="http://schemas.openxmlformats.org/officeDocument/2006/relationships/slide" Target="slides/slide201.xml"/><Relationship Id="rId227" Type="http://schemas.openxmlformats.org/officeDocument/2006/relationships/slide" Target="slides/slide222.xml"/><Relationship Id="rId248" Type="http://schemas.openxmlformats.org/officeDocument/2006/relationships/slide" Target="slides/slide243.xml"/><Relationship Id="rId269" Type="http://schemas.openxmlformats.org/officeDocument/2006/relationships/slide" Target="slides/slide264.xml"/><Relationship Id="rId12" Type="http://schemas.openxmlformats.org/officeDocument/2006/relationships/slide" Target="slides/slide7.xml"/><Relationship Id="rId33" Type="http://schemas.openxmlformats.org/officeDocument/2006/relationships/slide" Target="slides/slide28.xml"/><Relationship Id="rId108" Type="http://schemas.openxmlformats.org/officeDocument/2006/relationships/slide" Target="slides/slide103.xml"/><Relationship Id="rId129" Type="http://schemas.openxmlformats.org/officeDocument/2006/relationships/slide" Target="slides/slide124.xml"/><Relationship Id="rId280" Type="http://schemas.openxmlformats.org/officeDocument/2006/relationships/slide" Target="slides/slide275.xml"/><Relationship Id="rId54" Type="http://schemas.openxmlformats.org/officeDocument/2006/relationships/slide" Target="slides/slide49.xml"/><Relationship Id="rId75" Type="http://schemas.openxmlformats.org/officeDocument/2006/relationships/slide" Target="slides/slide70.xml"/><Relationship Id="rId96" Type="http://schemas.openxmlformats.org/officeDocument/2006/relationships/slide" Target="slides/slide91.xml"/><Relationship Id="rId140" Type="http://schemas.openxmlformats.org/officeDocument/2006/relationships/slide" Target="slides/slide135.xml"/><Relationship Id="rId161" Type="http://schemas.openxmlformats.org/officeDocument/2006/relationships/slide" Target="slides/slide156.xml"/><Relationship Id="rId182" Type="http://schemas.openxmlformats.org/officeDocument/2006/relationships/slide" Target="slides/slide177.xml"/><Relationship Id="rId217" Type="http://schemas.openxmlformats.org/officeDocument/2006/relationships/slide" Target="slides/slide212.xml"/><Relationship Id="rId6" Type="http://schemas.openxmlformats.org/officeDocument/2006/relationships/slide" Target="slides/slide1.xml"/><Relationship Id="rId238" Type="http://schemas.openxmlformats.org/officeDocument/2006/relationships/slide" Target="slides/slide233.xml"/><Relationship Id="rId259" Type="http://schemas.openxmlformats.org/officeDocument/2006/relationships/slide" Target="slides/slide254.xml"/><Relationship Id="rId23" Type="http://schemas.openxmlformats.org/officeDocument/2006/relationships/slide" Target="slides/slide18.xml"/><Relationship Id="rId119" Type="http://schemas.openxmlformats.org/officeDocument/2006/relationships/slide" Target="slides/slide114.xml"/><Relationship Id="rId270" Type="http://schemas.openxmlformats.org/officeDocument/2006/relationships/slide" Target="slides/slide265.xml"/><Relationship Id="rId291" Type="http://schemas.openxmlformats.org/officeDocument/2006/relationships/presProps" Target="presProps.xml"/><Relationship Id="rId44" Type="http://schemas.openxmlformats.org/officeDocument/2006/relationships/slide" Target="slides/slide39.xml"/><Relationship Id="rId65" Type="http://schemas.openxmlformats.org/officeDocument/2006/relationships/slide" Target="slides/slide60.xml"/><Relationship Id="rId86" Type="http://schemas.openxmlformats.org/officeDocument/2006/relationships/slide" Target="slides/slide81.xml"/><Relationship Id="rId130" Type="http://schemas.openxmlformats.org/officeDocument/2006/relationships/slide" Target="slides/slide125.xml"/><Relationship Id="rId151" Type="http://schemas.openxmlformats.org/officeDocument/2006/relationships/slide" Target="slides/slide146.xml"/><Relationship Id="rId172" Type="http://schemas.openxmlformats.org/officeDocument/2006/relationships/slide" Target="slides/slide167.xml"/><Relationship Id="rId193" Type="http://schemas.openxmlformats.org/officeDocument/2006/relationships/slide" Target="slides/slide188.xml"/><Relationship Id="rId207" Type="http://schemas.openxmlformats.org/officeDocument/2006/relationships/slide" Target="slides/slide202.xml"/><Relationship Id="rId228" Type="http://schemas.openxmlformats.org/officeDocument/2006/relationships/slide" Target="slides/slide223.xml"/><Relationship Id="rId249" Type="http://schemas.openxmlformats.org/officeDocument/2006/relationships/slide" Target="slides/slide244.xml"/><Relationship Id="rId13" Type="http://schemas.openxmlformats.org/officeDocument/2006/relationships/slide" Target="slides/slide8.xml"/><Relationship Id="rId109" Type="http://schemas.openxmlformats.org/officeDocument/2006/relationships/slide" Target="slides/slide104.xml"/><Relationship Id="rId260" Type="http://schemas.openxmlformats.org/officeDocument/2006/relationships/slide" Target="slides/slide255.xml"/><Relationship Id="rId281" Type="http://schemas.openxmlformats.org/officeDocument/2006/relationships/slide" Target="slides/slide276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slide" Target="slides/slide99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141" Type="http://schemas.openxmlformats.org/officeDocument/2006/relationships/slide" Target="slides/slide136.xml"/><Relationship Id="rId146" Type="http://schemas.openxmlformats.org/officeDocument/2006/relationships/slide" Target="slides/slide141.xml"/><Relationship Id="rId167" Type="http://schemas.openxmlformats.org/officeDocument/2006/relationships/slide" Target="slides/slide162.xml"/><Relationship Id="rId188" Type="http://schemas.openxmlformats.org/officeDocument/2006/relationships/slide" Target="slides/slide183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162" Type="http://schemas.openxmlformats.org/officeDocument/2006/relationships/slide" Target="slides/slide157.xml"/><Relationship Id="rId183" Type="http://schemas.openxmlformats.org/officeDocument/2006/relationships/slide" Target="slides/slide178.xml"/><Relationship Id="rId213" Type="http://schemas.openxmlformats.org/officeDocument/2006/relationships/slide" Target="slides/slide208.xml"/><Relationship Id="rId218" Type="http://schemas.openxmlformats.org/officeDocument/2006/relationships/slide" Target="slides/slide213.xml"/><Relationship Id="rId234" Type="http://schemas.openxmlformats.org/officeDocument/2006/relationships/slide" Target="slides/slide229.xml"/><Relationship Id="rId239" Type="http://schemas.openxmlformats.org/officeDocument/2006/relationships/slide" Target="slides/slide234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50" Type="http://schemas.openxmlformats.org/officeDocument/2006/relationships/slide" Target="slides/slide245.xml"/><Relationship Id="rId255" Type="http://schemas.openxmlformats.org/officeDocument/2006/relationships/slide" Target="slides/slide250.xml"/><Relationship Id="rId271" Type="http://schemas.openxmlformats.org/officeDocument/2006/relationships/slide" Target="slides/slide266.xml"/><Relationship Id="rId276" Type="http://schemas.openxmlformats.org/officeDocument/2006/relationships/slide" Target="slides/slide271.xml"/><Relationship Id="rId292" Type="http://schemas.openxmlformats.org/officeDocument/2006/relationships/viewProps" Target="viewProps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110" Type="http://schemas.openxmlformats.org/officeDocument/2006/relationships/slide" Target="slides/slide105.xml"/><Relationship Id="rId115" Type="http://schemas.openxmlformats.org/officeDocument/2006/relationships/slide" Target="slides/slide110.xml"/><Relationship Id="rId131" Type="http://schemas.openxmlformats.org/officeDocument/2006/relationships/slide" Target="slides/slide126.xml"/><Relationship Id="rId136" Type="http://schemas.openxmlformats.org/officeDocument/2006/relationships/slide" Target="slides/slide131.xml"/><Relationship Id="rId157" Type="http://schemas.openxmlformats.org/officeDocument/2006/relationships/slide" Target="slides/slide152.xml"/><Relationship Id="rId178" Type="http://schemas.openxmlformats.org/officeDocument/2006/relationships/slide" Target="slides/slide173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52" Type="http://schemas.openxmlformats.org/officeDocument/2006/relationships/slide" Target="slides/slide147.xml"/><Relationship Id="rId173" Type="http://schemas.openxmlformats.org/officeDocument/2006/relationships/slide" Target="slides/slide168.xml"/><Relationship Id="rId194" Type="http://schemas.openxmlformats.org/officeDocument/2006/relationships/slide" Target="slides/slide189.xml"/><Relationship Id="rId199" Type="http://schemas.openxmlformats.org/officeDocument/2006/relationships/slide" Target="slides/slide194.xml"/><Relationship Id="rId203" Type="http://schemas.openxmlformats.org/officeDocument/2006/relationships/slide" Target="slides/slide198.xml"/><Relationship Id="rId208" Type="http://schemas.openxmlformats.org/officeDocument/2006/relationships/slide" Target="slides/slide203.xml"/><Relationship Id="rId229" Type="http://schemas.openxmlformats.org/officeDocument/2006/relationships/slide" Target="slides/slide224.xml"/><Relationship Id="rId19" Type="http://schemas.openxmlformats.org/officeDocument/2006/relationships/slide" Target="slides/slide14.xml"/><Relationship Id="rId224" Type="http://schemas.openxmlformats.org/officeDocument/2006/relationships/slide" Target="slides/slide219.xml"/><Relationship Id="rId240" Type="http://schemas.openxmlformats.org/officeDocument/2006/relationships/slide" Target="slides/slide235.xml"/><Relationship Id="rId245" Type="http://schemas.openxmlformats.org/officeDocument/2006/relationships/slide" Target="slides/slide240.xml"/><Relationship Id="rId261" Type="http://schemas.openxmlformats.org/officeDocument/2006/relationships/slide" Target="slides/slide256.xml"/><Relationship Id="rId266" Type="http://schemas.openxmlformats.org/officeDocument/2006/relationships/slide" Target="slides/slide261.xml"/><Relationship Id="rId287" Type="http://schemas.openxmlformats.org/officeDocument/2006/relationships/slide" Target="slides/slide282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slide" Target="slides/slide100.xml"/><Relationship Id="rId126" Type="http://schemas.openxmlformats.org/officeDocument/2006/relationships/slide" Target="slides/slide121.xml"/><Relationship Id="rId147" Type="http://schemas.openxmlformats.org/officeDocument/2006/relationships/slide" Target="slides/slide142.xml"/><Relationship Id="rId168" Type="http://schemas.openxmlformats.org/officeDocument/2006/relationships/slide" Target="slides/slide163.xml"/><Relationship Id="rId282" Type="http://schemas.openxmlformats.org/officeDocument/2006/relationships/slide" Target="slides/slide277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121" Type="http://schemas.openxmlformats.org/officeDocument/2006/relationships/slide" Target="slides/slide116.xml"/><Relationship Id="rId142" Type="http://schemas.openxmlformats.org/officeDocument/2006/relationships/slide" Target="slides/slide137.xml"/><Relationship Id="rId163" Type="http://schemas.openxmlformats.org/officeDocument/2006/relationships/slide" Target="slides/slide158.xml"/><Relationship Id="rId184" Type="http://schemas.openxmlformats.org/officeDocument/2006/relationships/slide" Target="slides/slide179.xml"/><Relationship Id="rId189" Type="http://schemas.openxmlformats.org/officeDocument/2006/relationships/slide" Target="slides/slide184.xml"/><Relationship Id="rId219" Type="http://schemas.openxmlformats.org/officeDocument/2006/relationships/slide" Target="slides/slide214.xml"/><Relationship Id="rId3" Type="http://schemas.openxmlformats.org/officeDocument/2006/relationships/customXml" Target="../customXml/item3.xml"/><Relationship Id="rId214" Type="http://schemas.openxmlformats.org/officeDocument/2006/relationships/slide" Target="slides/slide209.xml"/><Relationship Id="rId230" Type="http://schemas.openxmlformats.org/officeDocument/2006/relationships/slide" Target="slides/slide225.xml"/><Relationship Id="rId235" Type="http://schemas.openxmlformats.org/officeDocument/2006/relationships/slide" Target="slides/slide230.xml"/><Relationship Id="rId251" Type="http://schemas.openxmlformats.org/officeDocument/2006/relationships/slide" Target="slides/slide246.xml"/><Relationship Id="rId256" Type="http://schemas.openxmlformats.org/officeDocument/2006/relationships/slide" Target="slides/slide251.xml"/><Relationship Id="rId277" Type="http://schemas.openxmlformats.org/officeDocument/2006/relationships/slide" Target="slides/slide272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116" Type="http://schemas.openxmlformats.org/officeDocument/2006/relationships/slide" Target="slides/slide111.xml"/><Relationship Id="rId137" Type="http://schemas.openxmlformats.org/officeDocument/2006/relationships/slide" Target="slides/slide132.xml"/><Relationship Id="rId158" Type="http://schemas.openxmlformats.org/officeDocument/2006/relationships/slide" Target="slides/slide153.xml"/><Relationship Id="rId272" Type="http://schemas.openxmlformats.org/officeDocument/2006/relationships/slide" Target="slides/slide267.xml"/><Relationship Id="rId293" Type="http://schemas.openxmlformats.org/officeDocument/2006/relationships/theme" Target="theme/theme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11" Type="http://schemas.openxmlformats.org/officeDocument/2006/relationships/slide" Target="slides/slide106.xml"/><Relationship Id="rId132" Type="http://schemas.openxmlformats.org/officeDocument/2006/relationships/slide" Target="slides/slide127.xml"/><Relationship Id="rId153" Type="http://schemas.openxmlformats.org/officeDocument/2006/relationships/slide" Target="slides/slide148.xml"/><Relationship Id="rId174" Type="http://schemas.openxmlformats.org/officeDocument/2006/relationships/slide" Target="slides/slide169.xml"/><Relationship Id="rId179" Type="http://schemas.openxmlformats.org/officeDocument/2006/relationships/slide" Target="slides/slide174.xml"/><Relationship Id="rId195" Type="http://schemas.openxmlformats.org/officeDocument/2006/relationships/slide" Target="slides/slide190.xml"/><Relationship Id="rId209" Type="http://schemas.openxmlformats.org/officeDocument/2006/relationships/slide" Target="slides/slide204.xml"/><Relationship Id="rId190" Type="http://schemas.openxmlformats.org/officeDocument/2006/relationships/slide" Target="slides/slide185.xml"/><Relationship Id="rId204" Type="http://schemas.openxmlformats.org/officeDocument/2006/relationships/slide" Target="slides/slide199.xml"/><Relationship Id="rId220" Type="http://schemas.openxmlformats.org/officeDocument/2006/relationships/slide" Target="slides/slide215.xml"/><Relationship Id="rId225" Type="http://schemas.openxmlformats.org/officeDocument/2006/relationships/slide" Target="slides/slide220.xml"/><Relationship Id="rId241" Type="http://schemas.openxmlformats.org/officeDocument/2006/relationships/slide" Target="slides/slide236.xml"/><Relationship Id="rId246" Type="http://schemas.openxmlformats.org/officeDocument/2006/relationships/slide" Target="slides/slide241.xml"/><Relationship Id="rId267" Type="http://schemas.openxmlformats.org/officeDocument/2006/relationships/slide" Target="slides/slide262.xml"/><Relationship Id="rId288" Type="http://schemas.openxmlformats.org/officeDocument/2006/relationships/slide" Target="slides/slide283.xml"/><Relationship Id="rId15" Type="http://schemas.openxmlformats.org/officeDocument/2006/relationships/slide" Target="slides/slide10.xml"/><Relationship Id="rId36" Type="http://schemas.openxmlformats.org/officeDocument/2006/relationships/slide" Target="slides/slide31.xml"/><Relationship Id="rId57" Type="http://schemas.openxmlformats.org/officeDocument/2006/relationships/slide" Target="slides/slide52.xml"/><Relationship Id="rId106" Type="http://schemas.openxmlformats.org/officeDocument/2006/relationships/slide" Target="slides/slide101.xml"/><Relationship Id="rId127" Type="http://schemas.openxmlformats.org/officeDocument/2006/relationships/slide" Target="slides/slide122.xml"/><Relationship Id="rId262" Type="http://schemas.openxmlformats.org/officeDocument/2006/relationships/slide" Target="slides/slide257.xml"/><Relationship Id="rId283" Type="http://schemas.openxmlformats.org/officeDocument/2006/relationships/slide" Target="slides/slide278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52" Type="http://schemas.openxmlformats.org/officeDocument/2006/relationships/slide" Target="slides/slide47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122" Type="http://schemas.openxmlformats.org/officeDocument/2006/relationships/slide" Target="slides/slide117.xml"/><Relationship Id="rId143" Type="http://schemas.openxmlformats.org/officeDocument/2006/relationships/slide" Target="slides/slide138.xml"/><Relationship Id="rId148" Type="http://schemas.openxmlformats.org/officeDocument/2006/relationships/slide" Target="slides/slide143.xml"/><Relationship Id="rId164" Type="http://schemas.openxmlformats.org/officeDocument/2006/relationships/slide" Target="slides/slide159.xml"/><Relationship Id="rId169" Type="http://schemas.openxmlformats.org/officeDocument/2006/relationships/slide" Target="slides/slide164.xml"/><Relationship Id="rId185" Type="http://schemas.openxmlformats.org/officeDocument/2006/relationships/slide" Target="slides/slide18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80" Type="http://schemas.openxmlformats.org/officeDocument/2006/relationships/slide" Target="slides/slide175.xml"/><Relationship Id="rId210" Type="http://schemas.openxmlformats.org/officeDocument/2006/relationships/slide" Target="slides/slide205.xml"/><Relationship Id="rId215" Type="http://schemas.openxmlformats.org/officeDocument/2006/relationships/slide" Target="slides/slide210.xml"/><Relationship Id="rId236" Type="http://schemas.openxmlformats.org/officeDocument/2006/relationships/slide" Target="slides/slide231.xml"/><Relationship Id="rId257" Type="http://schemas.openxmlformats.org/officeDocument/2006/relationships/slide" Target="slides/slide252.xml"/><Relationship Id="rId278" Type="http://schemas.openxmlformats.org/officeDocument/2006/relationships/slide" Target="slides/slide273.xml"/><Relationship Id="rId26" Type="http://schemas.openxmlformats.org/officeDocument/2006/relationships/slide" Target="slides/slide21.xml"/><Relationship Id="rId231" Type="http://schemas.openxmlformats.org/officeDocument/2006/relationships/slide" Target="slides/slide226.xml"/><Relationship Id="rId252" Type="http://schemas.openxmlformats.org/officeDocument/2006/relationships/slide" Target="slides/slide247.xml"/><Relationship Id="rId273" Type="http://schemas.openxmlformats.org/officeDocument/2006/relationships/slide" Target="slides/slide268.xml"/><Relationship Id="rId294" Type="http://schemas.openxmlformats.org/officeDocument/2006/relationships/tableStyles" Target="tableStyles.xml"/><Relationship Id="rId47" Type="http://schemas.openxmlformats.org/officeDocument/2006/relationships/slide" Target="slides/slide42.xml"/><Relationship Id="rId68" Type="http://schemas.openxmlformats.org/officeDocument/2006/relationships/slide" Target="slides/slide63.xml"/><Relationship Id="rId89" Type="http://schemas.openxmlformats.org/officeDocument/2006/relationships/slide" Target="slides/slide84.xml"/><Relationship Id="rId112" Type="http://schemas.openxmlformats.org/officeDocument/2006/relationships/slide" Target="slides/slide107.xml"/><Relationship Id="rId133" Type="http://schemas.openxmlformats.org/officeDocument/2006/relationships/slide" Target="slides/slide128.xml"/><Relationship Id="rId154" Type="http://schemas.openxmlformats.org/officeDocument/2006/relationships/slide" Target="slides/slide149.xml"/><Relationship Id="rId175" Type="http://schemas.openxmlformats.org/officeDocument/2006/relationships/slide" Target="slides/slide170.xml"/><Relationship Id="rId196" Type="http://schemas.openxmlformats.org/officeDocument/2006/relationships/slide" Target="slides/slide191.xml"/><Relationship Id="rId200" Type="http://schemas.openxmlformats.org/officeDocument/2006/relationships/slide" Target="slides/slide195.xml"/><Relationship Id="rId16" Type="http://schemas.openxmlformats.org/officeDocument/2006/relationships/slide" Target="slides/slide11.xml"/><Relationship Id="rId221" Type="http://schemas.openxmlformats.org/officeDocument/2006/relationships/slide" Target="slides/slide216.xml"/><Relationship Id="rId242" Type="http://schemas.openxmlformats.org/officeDocument/2006/relationships/slide" Target="slides/slide237.xml"/><Relationship Id="rId263" Type="http://schemas.openxmlformats.org/officeDocument/2006/relationships/slide" Target="slides/slide258.xml"/><Relationship Id="rId284" Type="http://schemas.openxmlformats.org/officeDocument/2006/relationships/slide" Target="slides/slide279.xml"/><Relationship Id="rId37" Type="http://schemas.openxmlformats.org/officeDocument/2006/relationships/slide" Target="slides/slide32.xml"/><Relationship Id="rId58" Type="http://schemas.openxmlformats.org/officeDocument/2006/relationships/slide" Target="slides/slide53.xml"/><Relationship Id="rId79" Type="http://schemas.openxmlformats.org/officeDocument/2006/relationships/slide" Target="slides/slide74.xml"/><Relationship Id="rId102" Type="http://schemas.openxmlformats.org/officeDocument/2006/relationships/slide" Target="slides/slide97.xml"/><Relationship Id="rId123" Type="http://schemas.openxmlformats.org/officeDocument/2006/relationships/slide" Target="slides/slide118.xml"/><Relationship Id="rId144" Type="http://schemas.openxmlformats.org/officeDocument/2006/relationships/slide" Target="slides/slide139.xml"/><Relationship Id="rId90" Type="http://schemas.openxmlformats.org/officeDocument/2006/relationships/slide" Target="slides/slide85.xml"/><Relationship Id="rId165" Type="http://schemas.openxmlformats.org/officeDocument/2006/relationships/slide" Target="slides/slide160.xml"/><Relationship Id="rId186" Type="http://schemas.openxmlformats.org/officeDocument/2006/relationships/slide" Target="slides/slide181.xml"/><Relationship Id="rId211" Type="http://schemas.openxmlformats.org/officeDocument/2006/relationships/slide" Target="slides/slide206.xml"/><Relationship Id="rId232" Type="http://schemas.openxmlformats.org/officeDocument/2006/relationships/slide" Target="slides/slide227.xml"/><Relationship Id="rId253" Type="http://schemas.openxmlformats.org/officeDocument/2006/relationships/slide" Target="slides/slide248.xml"/><Relationship Id="rId274" Type="http://schemas.openxmlformats.org/officeDocument/2006/relationships/slide" Target="slides/slide269.xml"/><Relationship Id="rId27" Type="http://schemas.openxmlformats.org/officeDocument/2006/relationships/slide" Target="slides/slide22.xml"/><Relationship Id="rId48" Type="http://schemas.openxmlformats.org/officeDocument/2006/relationships/slide" Target="slides/slide43.xml"/><Relationship Id="rId69" Type="http://schemas.openxmlformats.org/officeDocument/2006/relationships/slide" Target="slides/slide64.xml"/><Relationship Id="rId113" Type="http://schemas.openxmlformats.org/officeDocument/2006/relationships/slide" Target="slides/slide108.xml"/><Relationship Id="rId134" Type="http://schemas.openxmlformats.org/officeDocument/2006/relationships/slide" Target="slides/slide129.xml"/><Relationship Id="rId80" Type="http://schemas.openxmlformats.org/officeDocument/2006/relationships/slide" Target="slides/slide75.xml"/><Relationship Id="rId155" Type="http://schemas.openxmlformats.org/officeDocument/2006/relationships/slide" Target="slides/slide150.xml"/><Relationship Id="rId176" Type="http://schemas.openxmlformats.org/officeDocument/2006/relationships/slide" Target="slides/slide171.xml"/><Relationship Id="rId197" Type="http://schemas.openxmlformats.org/officeDocument/2006/relationships/slide" Target="slides/slide192.xml"/><Relationship Id="rId201" Type="http://schemas.openxmlformats.org/officeDocument/2006/relationships/slide" Target="slides/slide196.xml"/><Relationship Id="rId222" Type="http://schemas.openxmlformats.org/officeDocument/2006/relationships/slide" Target="slides/slide217.xml"/><Relationship Id="rId243" Type="http://schemas.openxmlformats.org/officeDocument/2006/relationships/slide" Target="slides/slide238.xml"/><Relationship Id="rId264" Type="http://schemas.openxmlformats.org/officeDocument/2006/relationships/slide" Target="slides/slide259.xml"/><Relationship Id="rId285" Type="http://schemas.openxmlformats.org/officeDocument/2006/relationships/slide" Target="slides/slide280.xml"/><Relationship Id="rId17" Type="http://schemas.openxmlformats.org/officeDocument/2006/relationships/slide" Target="slides/slide12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slide" Target="slides/slide98.xml"/><Relationship Id="rId124" Type="http://schemas.openxmlformats.org/officeDocument/2006/relationships/slide" Target="slides/slide119.xml"/><Relationship Id="rId70" Type="http://schemas.openxmlformats.org/officeDocument/2006/relationships/slide" Target="slides/slide65.xml"/><Relationship Id="rId91" Type="http://schemas.openxmlformats.org/officeDocument/2006/relationships/slide" Target="slides/slide86.xml"/><Relationship Id="rId145" Type="http://schemas.openxmlformats.org/officeDocument/2006/relationships/slide" Target="slides/slide140.xml"/><Relationship Id="rId166" Type="http://schemas.openxmlformats.org/officeDocument/2006/relationships/slide" Target="slides/slide161.xml"/><Relationship Id="rId187" Type="http://schemas.openxmlformats.org/officeDocument/2006/relationships/slide" Target="slides/slide182.xml"/><Relationship Id="rId1" Type="http://schemas.openxmlformats.org/officeDocument/2006/relationships/customXml" Target="../customXml/item1.xml"/><Relationship Id="rId212" Type="http://schemas.openxmlformats.org/officeDocument/2006/relationships/slide" Target="slides/slide207.xml"/><Relationship Id="rId233" Type="http://schemas.openxmlformats.org/officeDocument/2006/relationships/slide" Target="slides/slide228.xml"/><Relationship Id="rId254" Type="http://schemas.openxmlformats.org/officeDocument/2006/relationships/slide" Target="slides/slide249.xml"/><Relationship Id="rId28" Type="http://schemas.openxmlformats.org/officeDocument/2006/relationships/slide" Target="slides/slide23.xml"/><Relationship Id="rId49" Type="http://schemas.openxmlformats.org/officeDocument/2006/relationships/slide" Target="slides/slide44.xml"/><Relationship Id="rId114" Type="http://schemas.openxmlformats.org/officeDocument/2006/relationships/slide" Target="slides/slide109.xml"/><Relationship Id="rId275" Type="http://schemas.openxmlformats.org/officeDocument/2006/relationships/slide" Target="slides/slide270.xml"/><Relationship Id="rId60" Type="http://schemas.openxmlformats.org/officeDocument/2006/relationships/slide" Target="slides/slide55.xml"/><Relationship Id="rId81" Type="http://schemas.openxmlformats.org/officeDocument/2006/relationships/slide" Target="slides/slide76.xml"/><Relationship Id="rId135" Type="http://schemas.openxmlformats.org/officeDocument/2006/relationships/slide" Target="slides/slide130.xml"/><Relationship Id="rId156" Type="http://schemas.openxmlformats.org/officeDocument/2006/relationships/slide" Target="slides/slide151.xml"/><Relationship Id="rId177" Type="http://schemas.openxmlformats.org/officeDocument/2006/relationships/slide" Target="slides/slide172.xml"/><Relationship Id="rId198" Type="http://schemas.openxmlformats.org/officeDocument/2006/relationships/slide" Target="slides/slide193.xml"/><Relationship Id="rId202" Type="http://schemas.openxmlformats.org/officeDocument/2006/relationships/slide" Target="slides/slide197.xml"/><Relationship Id="rId223" Type="http://schemas.openxmlformats.org/officeDocument/2006/relationships/slide" Target="slides/slide218.xml"/><Relationship Id="rId244" Type="http://schemas.openxmlformats.org/officeDocument/2006/relationships/slide" Target="slides/slide239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265" Type="http://schemas.openxmlformats.org/officeDocument/2006/relationships/slide" Target="slides/slide260.xml"/><Relationship Id="rId286" Type="http://schemas.openxmlformats.org/officeDocument/2006/relationships/slide" Target="slides/slide28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917" cy="511731"/>
          </a:xfrm>
          <a:prstGeom prst="rect">
            <a:avLst/>
          </a:prstGeom>
        </p:spPr>
        <p:txBody>
          <a:bodyPr vert="horz" lIns="94906" tIns="47453" rIns="94906" bIns="47453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0725" y="0"/>
            <a:ext cx="3076917" cy="511731"/>
          </a:xfrm>
          <a:prstGeom prst="rect">
            <a:avLst/>
          </a:prstGeom>
        </p:spPr>
        <p:txBody>
          <a:bodyPr vert="horz" lIns="94906" tIns="47453" rIns="94906" bIns="47453" rtlCol="0"/>
          <a:lstStyle>
            <a:lvl1pPr algn="r">
              <a:defRPr sz="1200"/>
            </a:lvl1pPr>
          </a:lstStyle>
          <a:p>
            <a:fld id="{278A9578-9F5C-4F98-8A03-E646E98F018E}" type="datetimeFigureOut">
              <a:rPr lang="de-DE" smtClean="0"/>
              <a:t>02.12.2012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243"/>
            <a:ext cx="3076917" cy="511731"/>
          </a:xfrm>
          <a:prstGeom prst="rect">
            <a:avLst/>
          </a:prstGeom>
        </p:spPr>
        <p:txBody>
          <a:bodyPr vert="horz" lIns="94906" tIns="47453" rIns="94906" bIns="47453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0725" y="9721243"/>
            <a:ext cx="3076917" cy="511731"/>
          </a:xfrm>
          <a:prstGeom prst="rect">
            <a:avLst/>
          </a:prstGeom>
        </p:spPr>
        <p:txBody>
          <a:bodyPr vert="horz" lIns="94906" tIns="47453" rIns="94906" bIns="47453" rtlCol="0" anchor="b"/>
          <a:lstStyle>
            <a:lvl1pPr algn="r">
              <a:defRPr sz="1200"/>
            </a:lvl1pPr>
          </a:lstStyle>
          <a:p>
            <a:fld id="{01912A1E-96A6-48E9-9927-D98D0F95C0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2251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906" tIns="47453" rIns="94906" bIns="47453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906" tIns="47453" rIns="94906" bIns="47453" rtlCol="0"/>
          <a:lstStyle>
            <a:lvl1pPr algn="r">
              <a:defRPr sz="1200"/>
            </a:lvl1pPr>
          </a:lstStyle>
          <a:p>
            <a:fld id="{EF3A433C-71CC-48C2-BAA0-8A18FD7D1E90}" type="datetimeFigureOut">
              <a:rPr lang="de-DE" smtClean="0"/>
              <a:pPr/>
              <a:t>02.12.2012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906" tIns="47453" rIns="94906" bIns="47453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4906" tIns="47453" rIns="94906" bIns="47453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906" tIns="47453" rIns="94906" bIns="47453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906" tIns="47453" rIns="94906" bIns="47453" rtlCol="0" anchor="b"/>
          <a:lstStyle>
            <a:lvl1pPr algn="r">
              <a:defRPr sz="1200"/>
            </a:lvl1pPr>
          </a:lstStyle>
          <a:p>
            <a:fld id="{34871B19-C85A-4D7E-BA9B-B7E385602DC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6405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0.xml"/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_rels/notesSlide2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6.xml"/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_rels/notesSlide2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8.xml"/><Relationship Id="rId1" Type="http://schemas.openxmlformats.org/officeDocument/2006/relationships/notesMaster" Target="../notesMasters/notesMaster1.xml"/></Relationships>
</file>

<file path=ppt/notesSlides/_rels/notesSlide2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_rels/notesSlide2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0.xml"/><Relationship Id="rId1" Type="http://schemas.openxmlformats.org/officeDocument/2006/relationships/notesMaster" Target="../notesMasters/notesMaster1.xml"/></Relationships>
</file>

<file path=ppt/notesSlides/_rels/notesSlide2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1.xml"/><Relationship Id="rId1" Type="http://schemas.openxmlformats.org/officeDocument/2006/relationships/notesMaster" Target="../notesMasters/notesMaster1.xml"/></Relationships>
</file>

<file path=ppt/notesSlides/_rels/notesSlide2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2.xml"/><Relationship Id="rId1" Type="http://schemas.openxmlformats.org/officeDocument/2006/relationships/notesMaster" Target="../notesMasters/notesMaster1.xml"/></Relationships>
</file>

<file path=ppt/notesSlides/_rels/notesSlide2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3.xml"/><Relationship Id="rId1" Type="http://schemas.openxmlformats.org/officeDocument/2006/relationships/notesMaster" Target="../notesMasters/notesMaster1.xml"/></Relationships>
</file>

<file path=ppt/notesSlides/_rels/notesSlide2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4.xml"/><Relationship Id="rId1" Type="http://schemas.openxmlformats.org/officeDocument/2006/relationships/notesMaster" Target="../notesMasters/notesMaster1.xml"/></Relationships>
</file>

<file path=ppt/notesSlides/_rels/notesSlide2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5.xml"/><Relationship Id="rId1" Type="http://schemas.openxmlformats.org/officeDocument/2006/relationships/notesMaster" Target="../notesMasters/notesMaster1.xml"/></Relationships>
</file>

<file path=ppt/notesSlides/_rels/notesSlide2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6.xml"/><Relationship Id="rId1" Type="http://schemas.openxmlformats.org/officeDocument/2006/relationships/notesMaster" Target="../notesMasters/notesMaster1.xml"/></Relationships>
</file>

<file path=ppt/notesSlides/_rels/notesSlide2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7.xml"/><Relationship Id="rId1" Type="http://schemas.openxmlformats.org/officeDocument/2006/relationships/notesMaster" Target="../notesMasters/notesMaster1.xml"/></Relationships>
</file>

<file path=ppt/notesSlides/_rels/notesSlide2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8.xml"/><Relationship Id="rId1" Type="http://schemas.openxmlformats.org/officeDocument/2006/relationships/notesMaster" Target="../notesMasters/notesMaster1.xml"/></Relationships>
</file>

<file path=ppt/notesSlides/_rels/notesSlide2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9.xml"/><Relationship Id="rId1" Type="http://schemas.openxmlformats.org/officeDocument/2006/relationships/notesMaster" Target="../notesMasters/notesMaster1.xml"/></Relationships>
</file>

<file path=ppt/notesSlides/_rels/notesSlide2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0.xml"/><Relationship Id="rId1" Type="http://schemas.openxmlformats.org/officeDocument/2006/relationships/notesMaster" Target="../notesMasters/notesMaster1.xml"/></Relationships>
</file>

<file path=ppt/notesSlides/_rels/notesSlide2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1.xml"/><Relationship Id="rId1" Type="http://schemas.openxmlformats.org/officeDocument/2006/relationships/notesMaster" Target="../notesMasters/notesMaster1.xml"/></Relationships>
</file>

<file path=ppt/notesSlides/_rels/notesSlide2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2.xml"/><Relationship Id="rId1" Type="http://schemas.openxmlformats.org/officeDocument/2006/relationships/notesMaster" Target="../notesMasters/notesMaster1.xml"/></Relationships>
</file>

<file path=ppt/notesSlides/_rels/notesSlide2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3.xml"/><Relationship Id="rId1" Type="http://schemas.openxmlformats.org/officeDocument/2006/relationships/notesMaster" Target="../notesMasters/notesMaster1.xml"/></Relationships>
</file>

<file path=ppt/notesSlides/_rels/notesSlide2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4.xml"/><Relationship Id="rId1" Type="http://schemas.openxmlformats.org/officeDocument/2006/relationships/notesMaster" Target="../notesMasters/notesMaster1.xml"/></Relationships>
</file>

<file path=ppt/notesSlides/_rels/notesSlide2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5.xml"/><Relationship Id="rId1" Type="http://schemas.openxmlformats.org/officeDocument/2006/relationships/notesMaster" Target="../notesMasters/notesMaster1.xml"/></Relationships>
</file>

<file path=ppt/notesSlides/_rels/notesSlide2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6.xml"/><Relationship Id="rId1" Type="http://schemas.openxmlformats.org/officeDocument/2006/relationships/notesMaster" Target="../notesMasters/notesMaster1.xml"/></Relationships>
</file>

<file path=ppt/notesSlides/_rels/notesSlide2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7.xml"/><Relationship Id="rId1" Type="http://schemas.openxmlformats.org/officeDocument/2006/relationships/notesMaster" Target="../notesMasters/notesMaster1.xml"/></Relationships>
</file>

<file path=ppt/notesSlides/_rels/notesSlide2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8.xml"/><Relationship Id="rId1" Type="http://schemas.openxmlformats.org/officeDocument/2006/relationships/notesMaster" Target="../notesMasters/notesMaster1.xml"/></Relationships>
</file>

<file path=ppt/notesSlides/_rels/notesSlide2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9.xml"/><Relationship Id="rId1" Type="http://schemas.openxmlformats.org/officeDocument/2006/relationships/notesMaster" Target="../notesMasters/notesMaster1.xml"/></Relationships>
</file>

<file path=ppt/notesSlides/_rels/notesSlide2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0.xml"/><Relationship Id="rId1" Type="http://schemas.openxmlformats.org/officeDocument/2006/relationships/notesMaster" Target="../notesMasters/notesMaster1.xml"/></Relationships>
</file>

<file path=ppt/notesSlides/_rels/notesSlide2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1.xml"/><Relationship Id="rId1" Type="http://schemas.openxmlformats.org/officeDocument/2006/relationships/notesMaster" Target="../notesMasters/notesMaster1.xml"/></Relationships>
</file>

<file path=ppt/notesSlides/_rels/notesSlide2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2.xml"/><Relationship Id="rId1" Type="http://schemas.openxmlformats.org/officeDocument/2006/relationships/notesMaster" Target="../notesMasters/notesMaster1.xml"/></Relationships>
</file>

<file path=ppt/notesSlides/_rels/notesSlide2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3.xml"/><Relationship Id="rId1" Type="http://schemas.openxmlformats.org/officeDocument/2006/relationships/notesMaster" Target="../notesMasters/notesMaster1.xml"/></Relationships>
</file>

<file path=ppt/notesSlides/_rels/notesSlide2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4.xml"/><Relationship Id="rId1" Type="http://schemas.openxmlformats.org/officeDocument/2006/relationships/notesMaster" Target="../notesMasters/notesMaster1.xml"/></Relationships>
</file>

<file path=ppt/notesSlides/_rels/notesSlide2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5.xml"/><Relationship Id="rId1" Type="http://schemas.openxmlformats.org/officeDocument/2006/relationships/notesMaster" Target="../notesMasters/notesMaster1.xml"/></Relationships>
</file>

<file path=ppt/notesSlides/_rels/notesSlide2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6.xml"/><Relationship Id="rId1" Type="http://schemas.openxmlformats.org/officeDocument/2006/relationships/notesMaster" Target="../notesMasters/notesMaster1.xml"/></Relationships>
</file>

<file path=ppt/notesSlides/_rels/notesSlide2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7.xml"/><Relationship Id="rId1" Type="http://schemas.openxmlformats.org/officeDocument/2006/relationships/notesMaster" Target="../notesMasters/notesMaster1.xml"/></Relationships>
</file>

<file path=ppt/notesSlides/_rels/notesSlide2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8.xml"/><Relationship Id="rId1" Type="http://schemas.openxmlformats.org/officeDocument/2006/relationships/notesMaster" Target="../notesMasters/notesMaster1.xml"/></Relationships>
</file>

<file path=ppt/notesSlides/_rels/notesSlide2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9.xml"/><Relationship Id="rId1" Type="http://schemas.openxmlformats.org/officeDocument/2006/relationships/notesMaster" Target="../notesMasters/notesMaster1.xml"/></Relationships>
</file>

<file path=ppt/notesSlides/_rels/notesSlide2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0.xml"/><Relationship Id="rId1" Type="http://schemas.openxmlformats.org/officeDocument/2006/relationships/notesMaster" Target="../notesMasters/notesMaster1.xml"/></Relationships>
</file>

<file path=ppt/notesSlides/_rels/notesSlide2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1.xml"/><Relationship Id="rId1" Type="http://schemas.openxmlformats.org/officeDocument/2006/relationships/notesMaster" Target="../notesMasters/notesMaster1.xml"/></Relationships>
</file>

<file path=ppt/notesSlides/_rels/notesSlide2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2.xml"/><Relationship Id="rId1" Type="http://schemas.openxmlformats.org/officeDocument/2006/relationships/notesMaster" Target="../notesMasters/notesMaster1.xml"/></Relationships>
</file>

<file path=ppt/notesSlides/_rels/notesSlide2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3.xml"/><Relationship Id="rId1" Type="http://schemas.openxmlformats.org/officeDocument/2006/relationships/notesMaster" Target="../notesMasters/notesMaster1.xml"/></Relationships>
</file>

<file path=ppt/notesSlides/_rels/notesSlide2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4.xml"/><Relationship Id="rId1" Type="http://schemas.openxmlformats.org/officeDocument/2006/relationships/notesMaster" Target="../notesMasters/notesMaster1.xml"/></Relationships>
</file>

<file path=ppt/notesSlides/_rels/notesSlide2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5.xml"/><Relationship Id="rId1" Type="http://schemas.openxmlformats.org/officeDocument/2006/relationships/notesMaster" Target="../notesMasters/notesMaster1.xml"/></Relationships>
</file>

<file path=ppt/notesSlides/_rels/notesSlide2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6.xml"/><Relationship Id="rId1" Type="http://schemas.openxmlformats.org/officeDocument/2006/relationships/notesMaster" Target="../notesMasters/notesMaster1.xml"/></Relationships>
</file>

<file path=ppt/notesSlides/_rels/notesSlide2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7.xml"/><Relationship Id="rId1" Type="http://schemas.openxmlformats.org/officeDocument/2006/relationships/notesMaster" Target="../notesMasters/notesMaster1.xml"/></Relationships>
</file>

<file path=ppt/notesSlides/_rels/notesSlide2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8.xml"/><Relationship Id="rId1" Type="http://schemas.openxmlformats.org/officeDocument/2006/relationships/notesMaster" Target="../notesMasters/notesMaster1.xml"/></Relationships>
</file>

<file path=ppt/notesSlides/_rels/notesSlide2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9.xml"/><Relationship Id="rId1" Type="http://schemas.openxmlformats.org/officeDocument/2006/relationships/notesMaster" Target="../notesMasters/notesMaster1.xml"/></Relationships>
</file>

<file path=ppt/notesSlides/_rels/notesSlide2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0.xml"/><Relationship Id="rId1" Type="http://schemas.openxmlformats.org/officeDocument/2006/relationships/notesMaster" Target="../notesMasters/notesMaster1.xml"/></Relationships>
</file>

<file path=ppt/notesSlides/_rels/notesSlide2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1.xml"/><Relationship Id="rId1" Type="http://schemas.openxmlformats.org/officeDocument/2006/relationships/notesMaster" Target="../notesMasters/notesMaster1.xml"/></Relationships>
</file>

<file path=ppt/notesSlides/_rels/notesSlide2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2.xml"/><Relationship Id="rId1" Type="http://schemas.openxmlformats.org/officeDocument/2006/relationships/notesMaster" Target="../notesMasters/notesMaster1.xml"/></Relationships>
</file>

<file path=ppt/notesSlides/_rels/notesSlide2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buFontTx/>
              <a:buNone/>
            </a:pPr>
            <a:r>
              <a:rPr lang="en-US" sz="1800" dirty="0" smtClean="0"/>
              <a:t>Time:</a:t>
            </a:r>
          </a:p>
          <a:p>
            <a:pPr algn="l">
              <a:buFontTx/>
              <a:buNone/>
            </a:pPr>
            <a:r>
              <a:rPr lang="en-US" sz="1800" dirty="0" smtClean="0"/>
              <a:t>Welcome and Outline</a:t>
            </a:r>
          </a:p>
          <a:p>
            <a:pPr algn="l">
              <a:buFontTx/>
              <a:buNone/>
            </a:pPr>
            <a:r>
              <a:rPr lang="en-US" sz="1800" dirty="0" smtClean="0"/>
              <a:t>10-15 minutes</a:t>
            </a:r>
            <a:endParaRPr lang="en-US" sz="18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</a:t>
            </a:fld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8495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7407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2370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8718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7720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56341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9098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723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000" dirty="0" smtClean="0"/>
              <a:t>Time: 20-25 </a:t>
            </a:r>
            <a:r>
              <a:rPr lang="de-DE" sz="2000" dirty="0" err="1" smtClean="0"/>
              <a:t>minutes</a:t>
            </a:r>
            <a:endParaRPr lang="de-DE" sz="2000" dirty="0"/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03834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46960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15581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88168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08996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97940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92587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78864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33005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26326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68752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16996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6416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52285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32555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5642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96294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66545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57398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45542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44960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44960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65646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38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44446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099920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40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099920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41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099920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42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099920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43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350501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44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70076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Time: 10 minutes</a:t>
            </a:r>
            <a:endParaRPr lang="en-US" sz="18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45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851151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46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707288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47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010333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sz="2400" b="1" dirty="0" smtClean="0"/>
              <a:t>EU-SILC</a:t>
            </a:r>
            <a:r>
              <a:rPr lang="de-DE" sz="2400" dirty="0" smtClean="0"/>
              <a:t> – European Union </a:t>
            </a:r>
            <a:r>
              <a:rPr lang="de-DE" sz="2400" dirty="0" err="1" smtClean="0"/>
              <a:t>Statistics</a:t>
            </a:r>
            <a:r>
              <a:rPr lang="de-DE" sz="2400" dirty="0" smtClean="0"/>
              <a:t> </a:t>
            </a:r>
            <a:r>
              <a:rPr lang="de-DE" sz="2400" dirty="0" err="1" smtClean="0"/>
              <a:t>of</a:t>
            </a:r>
            <a:r>
              <a:rPr lang="de-DE" sz="2400" dirty="0" smtClean="0"/>
              <a:t> Income </a:t>
            </a:r>
            <a:r>
              <a:rPr lang="de-DE" sz="2400" dirty="0" err="1" smtClean="0"/>
              <a:t>and</a:t>
            </a:r>
            <a:r>
              <a:rPr lang="de-DE" sz="2400" dirty="0" smtClean="0"/>
              <a:t> Living </a:t>
            </a:r>
            <a:r>
              <a:rPr lang="de-DE" sz="2400" dirty="0" err="1" smtClean="0"/>
              <a:t>Conditions</a:t>
            </a:r>
            <a:endParaRPr lang="de-DE" sz="2400" dirty="0" smtClean="0"/>
          </a:p>
          <a:p>
            <a:endParaRPr lang="de-DE" sz="2400" dirty="0" smtClean="0"/>
          </a:p>
          <a:p>
            <a:r>
              <a:rPr lang="de-DE" sz="2400" b="1" dirty="0" smtClean="0"/>
              <a:t>EU-LFS</a:t>
            </a:r>
            <a:r>
              <a:rPr lang="de-DE" sz="2400" dirty="0" smtClean="0"/>
              <a:t> – European Union Labour Force Survey</a:t>
            </a:r>
            <a:endParaRPr lang="en-US" sz="2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48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823836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49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941136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50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061141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51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855730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52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464409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53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86864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54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448492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55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81282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56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172796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sz="2000" dirty="0" smtClean="0"/>
              <a:t>Flexible-Framework:</a:t>
            </a:r>
          </a:p>
          <a:p>
            <a:pPr marL="342900" indent="-342900">
              <a:buFontTx/>
              <a:buChar char="-"/>
            </a:pPr>
            <a:r>
              <a:rPr lang="de-DE" sz="2000" dirty="0" smtClean="0"/>
              <a:t>Integration </a:t>
            </a:r>
            <a:r>
              <a:rPr lang="de-DE" sz="2000" dirty="0" err="1" smtClean="0"/>
              <a:t>of</a:t>
            </a:r>
            <a:r>
              <a:rPr lang="de-DE" sz="2000" dirty="0" smtClean="0"/>
              <a:t> Missy2 </a:t>
            </a:r>
            <a:r>
              <a:rPr lang="de-DE" sz="2000" dirty="0" err="1" smtClean="0"/>
              <a:t>modules</a:t>
            </a:r>
            <a:endParaRPr lang="de-DE" sz="2000" dirty="0" smtClean="0"/>
          </a:p>
          <a:p>
            <a:pPr marL="342900" indent="-342900">
              <a:buFontTx/>
              <a:buChar char="-"/>
            </a:pPr>
            <a:r>
              <a:rPr lang="de-DE" sz="2000" dirty="0" err="1" smtClean="0"/>
              <a:t>Extensions</a:t>
            </a:r>
            <a:r>
              <a:rPr lang="de-DE" sz="2000" dirty="0" smtClean="0"/>
              <a:t> </a:t>
            </a:r>
            <a:r>
              <a:rPr lang="de-DE" sz="2000" dirty="0" err="1" smtClean="0"/>
              <a:t>written</a:t>
            </a:r>
            <a:r>
              <a:rPr lang="de-DE" sz="2000" dirty="0" smtClean="0"/>
              <a:t> </a:t>
            </a:r>
            <a:r>
              <a:rPr lang="de-DE" sz="2000" dirty="0" err="1" smtClean="0"/>
              <a:t>by</a:t>
            </a:r>
            <a:r>
              <a:rPr lang="de-DE" sz="2000" dirty="0" smtClean="0"/>
              <a:t> individual </a:t>
            </a:r>
            <a:r>
              <a:rPr lang="de-DE" sz="2000" dirty="0" err="1" smtClean="0"/>
              <a:t>projects</a:t>
            </a:r>
            <a:endParaRPr lang="en-US" sz="20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57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445951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58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302119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Time: 20 minutes</a:t>
            </a:r>
            <a:endParaRPr lang="en-US" sz="18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59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986195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60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143874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61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556555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62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451285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63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871722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64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235746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65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871722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67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283699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68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078041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69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188063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70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268916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71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574882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72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19553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73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165770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74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78344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76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648257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77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966499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78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684572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79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675164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80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036102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81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3392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82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646372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83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034647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84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24259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85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04583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86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397946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87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158730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88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94342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89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635485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90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3761305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91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492438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92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97994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93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6166674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94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963667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95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586108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Time: 15 minutes</a:t>
            </a:r>
            <a:endParaRPr lang="en-US" sz="18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96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6891197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97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5977186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98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575278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99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4945712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100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3901006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101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8561402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102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9572124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103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1835333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104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8506446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105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5393897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106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7987063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107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2814669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108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1967015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109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3681579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Time: 30-35 minutes</a:t>
            </a:r>
            <a:endParaRPr lang="en-US" sz="18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7702538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140050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4221934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6924400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8747533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756689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9701925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1629000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1993795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6365816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459888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0681317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7977598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4191455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085082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9164642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3954590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7684427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2160145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7037183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6843460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8835933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7123415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8483707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5938575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4309209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75948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2222170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138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1815945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4850026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140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7019919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141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0059672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142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62972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143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7801313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144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9027016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145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996471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146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704754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147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5551974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148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4566385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149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166816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150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3794825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151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9272912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152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2409858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153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6031714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154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8796205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155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9941919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156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3622856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157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9470634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158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1835119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159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398432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160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4345284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161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7407532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162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9572445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163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845114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164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5914592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165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889545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166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6549812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167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99577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168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0805106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169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4039730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170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5304224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171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568730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172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6295029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173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1932186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174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8698204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175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009074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176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8070948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177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4767209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178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0204238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179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0276790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180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7541963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181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9379452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182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0175443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183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4062775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184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7793458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185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9435529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186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7073949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187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3314780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188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3443498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189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5038693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190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215562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191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1600065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192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4296124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193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0252050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194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7475694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195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8745247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196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7738270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197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9361427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Time: 20-25 minutes</a:t>
            </a:r>
            <a:endParaRPr lang="en-US" sz="18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198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1685753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199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202154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200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006728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201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8062150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202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721810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203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0612695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204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4500229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205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8226715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206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8592864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207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7641056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208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5287415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209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7587345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921021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8264077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142984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18913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8044777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152669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9863156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9329647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9196706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3895200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813077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1979232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9301022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7812299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523237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085422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7688133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0282812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Time: 10 minutes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7954145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139084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811596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0758528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1069692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514569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5847526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6498390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698287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8892963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238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4387474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310683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240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58043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241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9624936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242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9035932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243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7338399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244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4994573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Time: 10-15 minutes</a:t>
            </a:r>
            <a:endParaRPr lang="en-US" sz="18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245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863194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246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5037123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247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9405933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248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7193196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249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7397687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250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6589372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251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6425265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252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5520325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253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1388413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254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750275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255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844290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256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8205251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257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0755693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258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700489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259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8922296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260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8552511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261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3868827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262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2659739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Time: 5-10 minutes</a:t>
            </a:r>
            <a:endParaRPr lang="en-US" sz="18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263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0169531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264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5821921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265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9464372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266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5419286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267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8348371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268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8678087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269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0587745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270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1985630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Time: 5 minutes</a:t>
            </a:r>
            <a:endParaRPr lang="en-US" sz="18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271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1398988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272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3870104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273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4737903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274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0945329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275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63713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276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6498432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277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3024381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278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1330739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Time: 5 minutes</a:t>
            </a:r>
            <a:endParaRPr lang="en-US" sz="18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279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3399856"/>
      </p:ext>
    </p:extLst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280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239012"/>
      </p:ext>
    </p:extLst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281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0525525"/>
      </p:ext>
    </p:extLst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282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4624850"/>
      </p:ext>
    </p:extLst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283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7136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700808"/>
            <a:ext cx="7772400" cy="1470025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C188D-CD4A-4025-B3B9-34145511EE3E}" type="datetime1">
              <a:rPr lang="de-DE" smtClean="0"/>
              <a:t>02.12.2012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>
            <a:noAutofit/>
          </a:bodyPr>
          <a:lstStyle>
            <a:lvl1pPr>
              <a:defRPr sz="4000">
                <a:solidFill>
                  <a:srgbClr val="445A6F"/>
                </a:solidFill>
                <a:latin typeface="+mj-lt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3625857"/>
          </a:xfrm>
        </p:spPr>
        <p:txBody>
          <a:bodyPr/>
          <a:lstStyle>
            <a:lvl1pPr>
              <a:defRPr sz="2400">
                <a:latin typeface="+mj-lt"/>
              </a:defRPr>
            </a:lvl1pPr>
            <a:lvl2pPr marL="742950" indent="-285750">
              <a:buFont typeface="Arial" pitchFamily="34" charset="0"/>
              <a:buChar char="•"/>
              <a:defRPr sz="2000">
                <a:latin typeface="+mj-lt"/>
              </a:defRPr>
            </a:lvl2pPr>
            <a:lvl3pPr>
              <a:defRPr sz="1600">
                <a:latin typeface="+mj-lt"/>
              </a:defRPr>
            </a:lvl3pPr>
            <a:lvl4pPr marL="1600200" indent="-228600">
              <a:buFont typeface="Arial" pitchFamily="34" charset="0"/>
              <a:buChar char="•"/>
              <a:defRPr sz="1600">
                <a:latin typeface="+mj-lt"/>
              </a:defRPr>
            </a:lvl4pPr>
            <a:lvl5pPr marL="2057400" indent="-228600">
              <a:buFont typeface="Arial" pitchFamily="34" charset="0"/>
              <a:buChar char="•"/>
              <a:defRPr sz="1600">
                <a:latin typeface="+mj-lt"/>
              </a:defRPr>
            </a:lvl5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F0236-DD03-412C-A2D6-703F8F349152}" type="datetime1">
              <a:rPr lang="de-DE" smtClean="0"/>
              <a:t>02.12.2012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902896" y="6448251"/>
            <a:ext cx="2133600" cy="365125"/>
          </a:xfrm>
        </p:spPr>
        <p:txBody>
          <a:bodyPr/>
          <a:lstStyle>
            <a:lvl1pPr>
              <a:defRPr sz="1400"/>
            </a:lvl1pPr>
          </a:lstStyle>
          <a:p>
            <a:fld id="{EA11F0A9-7B41-4B3D-A4E1-5AEA8E3E3D00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D219-9E76-4395-B54C-D92866FD0B10}" type="datetime1">
              <a:rPr lang="de-DE" smtClean="0"/>
              <a:t>02.12.2012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2500306"/>
            <a:ext cx="4038600" cy="36258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2500306"/>
            <a:ext cx="4038600" cy="36258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CF6DE-FB85-45EB-AE30-D6797A0164EB}" type="datetime1">
              <a:rPr lang="de-DE" smtClean="0"/>
              <a:t>02.12.2012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250030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3214687"/>
            <a:ext cx="4040188" cy="29114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250030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3214687"/>
            <a:ext cx="4041775" cy="29114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2D0B-F643-41CE-92BA-28EC06A07CC5}" type="datetime1">
              <a:rPr lang="de-DE" smtClean="0"/>
              <a:t>02.12.2012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A8231-6846-4CC5-AA90-14FCEFA76EA4}" type="datetime1">
              <a:rPr lang="de-DE" smtClean="0"/>
              <a:t>02.12.2012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6852B-A5DA-4A58-8F38-694A6CBE98C2}" type="datetime1">
              <a:rPr lang="de-DE" smtClean="0"/>
              <a:t>02.12.2012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1442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1214422"/>
            <a:ext cx="5111750" cy="491174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2500306"/>
            <a:ext cx="3008313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30AC2-DF67-4CAD-AD49-871C59C73CA9}" type="datetime1">
              <a:rPr lang="de-DE" smtClean="0"/>
              <a:t>02.12.2012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E452-B678-42E2-9633-A8A5A95B7329}" type="datetime1">
              <a:rPr lang="de-DE" smtClean="0"/>
              <a:t>02.12.2012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700808"/>
            <a:ext cx="7772400" cy="1470025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C188D-CD4A-4025-B3B9-34145511EE3E}" type="datetime1">
              <a:rPr lang="de-DE" smtClean="0"/>
              <a:t>02.12.2012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28249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4000">
                <a:solidFill>
                  <a:srgbClr val="445A6F"/>
                </a:solidFill>
                <a:latin typeface="+mj-lt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+mj-lt"/>
              </a:defRPr>
            </a:lvl1pPr>
            <a:lvl2pPr marL="742950" indent="-285750">
              <a:buFont typeface="Arial" pitchFamily="34" charset="0"/>
              <a:buChar char="•"/>
              <a:defRPr sz="2000">
                <a:latin typeface="+mj-lt"/>
              </a:defRPr>
            </a:lvl2pPr>
            <a:lvl3pPr>
              <a:defRPr sz="1600">
                <a:latin typeface="+mj-lt"/>
              </a:defRPr>
            </a:lvl3pPr>
            <a:lvl4pPr marL="1600200" indent="-228600">
              <a:buFont typeface="Arial" pitchFamily="34" charset="0"/>
              <a:buChar char="•"/>
              <a:defRPr sz="1600">
                <a:latin typeface="+mj-lt"/>
              </a:defRPr>
            </a:lvl4pPr>
            <a:lvl5pPr marL="2057400" indent="-228600">
              <a:buFont typeface="Arial" pitchFamily="34" charset="0"/>
              <a:buChar char="•"/>
              <a:defRPr sz="1600">
                <a:latin typeface="+mj-lt"/>
              </a:defRPr>
            </a:lvl5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F0236-DD03-412C-A2D6-703F8F349152}" type="datetime1">
              <a:rPr lang="de-DE" smtClean="0"/>
              <a:t>02.12.2012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902896" y="6448251"/>
            <a:ext cx="2133600" cy="365125"/>
          </a:xfrm>
        </p:spPr>
        <p:txBody>
          <a:bodyPr/>
          <a:lstStyle>
            <a:lvl1pPr>
              <a:defRPr sz="1400"/>
            </a:lvl1pPr>
          </a:lstStyle>
          <a:p>
            <a:fld id="{EA11F0A9-7B41-4B3D-A4E1-5AEA8E3E3D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73113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D219-9E76-4395-B54C-D92866FD0B10}" type="datetime1">
              <a:rPr lang="de-DE" smtClean="0"/>
              <a:t>02.12.2012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5686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2500306"/>
            <a:ext cx="4038600" cy="36258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2500306"/>
            <a:ext cx="4038600" cy="36258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CF6DE-FB85-45EB-AE30-D6797A0164EB}" type="datetime1">
              <a:rPr lang="de-DE" smtClean="0"/>
              <a:t>02.12.2012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4133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250030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3214687"/>
            <a:ext cx="4040188" cy="29114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250030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3214687"/>
            <a:ext cx="4041775" cy="29114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2D0B-F643-41CE-92BA-28EC06A07CC5}" type="datetime1">
              <a:rPr lang="de-DE" smtClean="0"/>
              <a:t>02.12.2012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6605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A8231-6846-4CC5-AA90-14FCEFA76EA4}" type="datetime1">
              <a:rPr lang="de-DE" smtClean="0"/>
              <a:t>02.12.2012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8318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6852B-A5DA-4A58-8F38-694A6CBE98C2}" type="datetime1">
              <a:rPr lang="de-DE" smtClean="0"/>
              <a:t>02.12.2012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3813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1442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1214422"/>
            <a:ext cx="5111750" cy="491174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2500306"/>
            <a:ext cx="3008313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30AC2-DF67-4CAD-AD49-871C59C73CA9}" type="datetime1">
              <a:rPr lang="de-DE" smtClean="0"/>
              <a:t>02.12.2012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0981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E452-B678-42E2-9633-A8A5A95B7329}" type="datetime1">
              <a:rPr lang="de-DE" smtClean="0"/>
              <a:t>02.12.2012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09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121442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2500306"/>
            <a:ext cx="8229600" cy="3625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fld id="{C247D7FE-B787-428B-8BBB-5DB253C9FE94}" type="datetime1">
              <a:rPr lang="de-DE" smtClean="0"/>
              <a:t>02.12.2012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fld id="{407C1131-679B-4DD1-802F-23CB41FA8BDC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6147" name="Picture 3" descr="C:\Daten\Dokumente\Dropbox\EDDI 2012\icons\GESIS_alternative2.pn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121442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2500306"/>
            <a:ext cx="8229600" cy="3625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fld id="{C247D7FE-B787-428B-8BBB-5DB253C9FE94}" type="datetime1">
              <a:rPr lang="de-DE" smtClean="0"/>
              <a:t>02.12.2012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fld id="{407C1131-679B-4DD1-802F-23CB41FA8BDC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6237312"/>
            <a:ext cx="2257425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960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5.png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1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1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1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1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1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1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1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1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jpeg"/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11.xml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4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7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7.xml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0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7.xml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1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7.xml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3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7.xml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5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7.xml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7.png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49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7.xml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7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217.xml"/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218.xml"/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9.xml"/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0.xml"/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1.xml"/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notesSlide" Target="../notesSlides/notesSlide222.xml"/><Relationship Id="rId1" Type="http://schemas.openxmlformats.org/officeDocument/2006/relationships/slideLayout" Target="../slideLayouts/slideLayout11.xml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notesSlide" Target="../notesSlides/notesSlide223.xml"/><Relationship Id="rId1" Type="http://schemas.openxmlformats.org/officeDocument/2006/relationships/slideLayout" Target="../slideLayouts/slideLayout11.xml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notesSlide" Target="../notesSlides/notesSlide224.xml"/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5.xml"/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notesSlide" Target="../notesSlides/notesSlide226.xml"/><Relationship Id="rId1" Type="http://schemas.openxmlformats.org/officeDocument/2006/relationships/slideLayout" Target="../slideLayouts/slideLayout11.xml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notesSlide" Target="../notesSlides/notesSlide227.xml"/><Relationship Id="rId1" Type="http://schemas.openxmlformats.org/officeDocument/2006/relationships/slideLayout" Target="../slideLayouts/slideLayout11.xml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228.xml"/><Relationship Id="rId1" Type="http://schemas.openxmlformats.org/officeDocument/2006/relationships/slideLayout" Target="../slideLayouts/slideLayout11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9.xml"/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notesSlide" Target="../notesSlides/notesSlide230.xml"/><Relationship Id="rId1" Type="http://schemas.openxmlformats.org/officeDocument/2006/relationships/slideLayout" Target="../slideLayouts/slideLayout11.xml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notesSlide" Target="../notesSlides/notesSlide231.xml"/><Relationship Id="rId1" Type="http://schemas.openxmlformats.org/officeDocument/2006/relationships/slideLayout" Target="../slideLayouts/slideLayout11.xml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232.xml"/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3.xml"/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234.xml"/><Relationship Id="rId1" Type="http://schemas.openxmlformats.org/officeDocument/2006/relationships/slideLayout" Target="../slideLayouts/slideLayout11.xml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notesSlide" Target="../notesSlides/notesSlide235.xml"/><Relationship Id="rId1" Type="http://schemas.openxmlformats.org/officeDocument/2006/relationships/slideLayout" Target="../slideLayouts/slideLayout11.xml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notesSlide" Target="../notesSlides/notesSlide236.xml"/><Relationship Id="rId1" Type="http://schemas.openxmlformats.org/officeDocument/2006/relationships/slideLayout" Target="../slideLayouts/slideLayout11.xml"/></Relationships>
</file>

<file path=ppt/slides/_rels/slide2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7.xml"/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8.xml"/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2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49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notesSlide" Target="../notesSlides/notesSlide240.xml"/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notesSlide" Target="../notesSlides/notesSlide241.xml"/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2.xml"/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3.xml"/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notesSlide" Target="../notesSlides/notesSlide244.xml"/><Relationship Id="rId1" Type="http://schemas.openxmlformats.org/officeDocument/2006/relationships/slideLayout" Target="../slideLayouts/slideLayout2.xml"/></Relationships>
</file>

<file path=ppt/slides/_rels/slide2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5.xml"/><Relationship Id="rId1" Type="http://schemas.openxmlformats.org/officeDocument/2006/relationships/slideLayout" Target="../slideLayouts/slideLayout2.xml"/></Relationships>
</file>

<file path=ppt/slides/_rels/slide2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6.xml"/><Relationship Id="rId1" Type="http://schemas.openxmlformats.org/officeDocument/2006/relationships/slideLayout" Target="../slideLayouts/slideLayout2.xml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notesSlide" Target="../notesSlides/notesSlide247.xml"/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8.xml"/><Relationship Id="rId1" Type="http://schemas.openxmlformats.org/officeDocument/2006/relationships/slideLayout" Target="../slideLayouts/slideLayout2.xml"/></Relationships>
</file>

<file path=ppt/slides/_rels/slide2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9.xml"/><Relationship Id="rId1" Type="http://schemas.openxmlformats.org/officeDocument/2006/relationships/slideLayout" Target="../slideLayouts/slideLayout2.xml"/></Relationships>
</file>

<file path=ppt/slides/_rels/slide2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0.xml"/><Relationship Id="rId1" Type="http://schemas.openxmlformats.org/officeDocument/2006/relationships/slideLayout" Target="../slideLayouts/slideLayout2.xml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251.xml"/><Relationship Id="rId1" Type="http://schemas.openxmlformats.org/officeDocument/2006/relationships/slideLayout" Target="../slideLayouts/slideLayout2.xml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notesSlide" Target="../notesSlides/notesSlide252.xml"/><Relationship Id="rId1" Type="http://schemas.openxmlformats.org/officeDocument/2006/relationships/slideLayout" Target="../slideLayouts/slideLayout2.xml"/></Relationships>
</file>

<file path=ppt/slides/_rels/slide2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3.xml"/><Relationship Id="rId1" Type="http://schemas.openxmlformats.org/officeDocument/2006/relationships/slideLayout" Target="../slideLayouts/slideLayout2.xml"/></Relationships>
</file>

<file path=ppt/slides/_rels/slide2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4.xml"/><Relationship Id="rId1" Type="http://schemas.openxmlformats.org/officeDocument/2006/relationships/slideLayout" Target="../slideLayouts/slideLayout2.xml"/></Relationships>
</file>

<file path=ppt/slides/_rels/slide2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5.xml"/><Relationship Id="rId1" Type="http://schemas.openxmlformats.org/officeDocument/2006/relationships/slideLayout" Target="../slideLayouts/slideLayout2.xml"/></Relationships>
</file>

<file path=ppt/slides/_rels/slide2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6.xml"/><Relationship Id="rId1" Type="http://schemas.openxmlformats.org/officeDocument/2006/relationships/slideLayout" Target="../slideLayouts/slideLayout2.xml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notesSlide" Target="../notesSlides/notesSlide257.xml"/><Relationship Id="rId1" Type="http://schemas.openxmlformats.org/officeDocument/2006/relationships/slideLayout" Target="../slideLayouts/slideLayout2.xml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jpeg"/><Relationship Id="rId2" Type="http://schemas.openxmlformats.org/officeDocument/2006/relationships/notesSlide" Target="../notesSlides/notesSlide258.xml"/><Relationship Id="rId1" Type="http://schemas.openxmlformats.org/officeDocument/2006/relationships/slideLayout" Target="../slideLayouts/slideLayout2.xml"/></Relationships>
</file>

<file path=ppt/slides/_rels/slide2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9.xml"/><Relationship Id="rId1" Type="http://schemas.openxmlformats.org/officeDocument/2006/relationships/slideLayout" Target="../slideLayouts/slideLayout2.xml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jpeg"/><Relationship Id="rId2" Type="http://schemas.openxmlformats.org/officeDocument/2006/relationships/notesSlide" Target="../notesSlides/notesSlide260.xml"/><Relationship Id="rId1" Type="http://schemas.openxmlformats.org/officeDocument/2006/relationships/slideLayout" Target="../slideLayouts/slideLayout2.xml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261.xml"/><Relationship Id="rId1" Type="http://schemas.openxmlformats.org/officeDocument/2006/relationships/slideLayout" Target="../slideLayouts/slideLayout2.xml"/></Relationships>
</file>

<file path=ppt/slides/_rels/slide2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2.xml"/><Relationship Id="rId1" Type="http://schemas.openxmlformats.org/officeDocument/2006/relationships/slideLayout" Target="../slideLayouts/slideLayout11.xml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jpeg"/><Relationship Id="rId2" Type="http://schemas.openxmlformats.org/officeDocument/2006/relationships/notesSlide" Target="../notesSlides/notesSlide263.xml"/><Relationship Id="rId1" Type="http://schemas.openxmlformats.org/officeDocument/2006/relationships/slideLayout" Target="../slideLayouts/slideLayout2.xml"/></Relationships>
</file>

<file path=ppt/slides/_rels/slide2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4.xml"/><Relationship Id="rId1" Type="http://schemas.openxmlformats.org/officeDocument/2006/relationships/slideLayout" Target="../slideLayouts/slideLayout2.xml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265.xml"/><Relationship Id="rId1" Type="http://schemas.openxmlformats.org/officeDocument/2006/relationships/slideLayout" Target="../slideLayouts/slideLayout2.xml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266.xml"/><Relationship Id="rId1" Type="http://schemas.openxmlformats.org/officeDocument/2006/relationships/slideLayout" Target="../slideLayouts/slideLayout2.xml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267.xml"/><Relationship Id="rId1" Type="http://schemas.openxmlformats.org/officeDocument/2006/relationships/slideLayout" Target="../slideLayouts/slideLayout2.xml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268.xml"/><Relationship Id="rId1" Type="http://schemas.openxmlformats.org/officeDocument/2006/relationships/slideLayout" Target="../slideLayouts/slideLayout2.xml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269.xml"/><Relationship Id="rId1" Type="http://schemas.openxmlformats.org/officeDocument/2006/relationships/slideLayout" Target="../slideLayouts/slideLayout2.xml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270.xml"/><Relationship Id="rId1" Type="http://schemas.openxmlformats.org/officeDocument/2006/relationships/slideLayout" Target="../slideLayouts/slideLayout2.xml"/></Relationships>
</file>

<file path=ppt/slides/_rels/slide2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1.xml"/><Relationship Id="rId1" Type="http://schemas.openxmlformats.org/officeDocument/2006/relationships/slideLayout" Target="../slideLayouts/slideLayout2.xml"/></Relationships>
</file>

<file path=ppt/slides/_rels/slide2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2.xml"/><Relationship Id="rId1" Type="http://schemas.openxmlformats.org/officeDocument/2006/relationships/slideLayout" Target="../slideLayouts/slideLayout2.xml"/></Relationships>
</file>

<file path=ppt/slides/_rels/slide2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3.xml"/><Relationship Id="rId1" Type="http://schemas.openxmlformats.org/officeDocument/2006/relationships/slideLayout" Target="../slideLayouts/slideLayout2.xml"/></Relationships>
</file>

<file path=ppt/slides/_rels/slide2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4.xml"/><Relationship Id="rId1" Type="http://schemas.openxmlformats.org/officeDocument/2006/relationships/slideLayout" Target="../slideLayouts/slideLayout2.xml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notesSlide" Target="../notesSlides/notesSlide275.xml"/><Relationship Id="rId1" Type="http://schemas.openxmlformats.org/officeDocument/2006/relationships/slideLayout" Target="../slideLayouts/slideLayout2.xml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ssy-project" TargetMode="External"/><Relationship Id="rId2" Type="http://schemas.openxmlformats.org/officeDocument/2006/relationships/notesSlide" Target="../notesSlides/notesSlide276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matthaeus.zloch@gesis.org" TargetMode="External"/><Relationship Id="rId5" Type="http://schemas.openxmlformats.org/officeDocument/2006/relationships/hyperlink" Target="http://boschthomas.blogspot.com/" TargetMode="External"/><Relationship Id="rId4" Type="http://schemas.openxmlformats.org/officeDocument/2006/relationships/hyperlink" Target="mailto:thomas.bosch@gesis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ctrTitle"/>
          </p:nvPr>
        </p:nvSpPr>
        <p:spPr>
          <a:xfrm>
            <a:off x="0" y="1310903"/>
            <a:ext cx="9144000" cy="1470025"/>
          </a:xfrm>
        </p:spPr>
        <p:txBody>
          <a:bodyPr>
            <a:noAutofit/>
          </a:bodyPr>
          <a:lstStyle/>
          <a:p>
            <a:r>
              <a:rPr lang="en-US" sz="3600" dirty="0" smtClean="0">
                <a:solidFill>
                  <a:srgbClr val="445A6F"/>
                </a:solidFill>
                <a:latin typeface="+mn-lt"/>
              </a:rPr>
              <a:t>Create Your Own Information Systems</a:t>
            </a:r>
            <a:br>
              <a:rPr lang="en-US" sz="3600" dirty="0" smtClean="0">
                <a:solidFill>
                  <a:srgbClr val="445A6F"/>
                </a:solidFill>
                <a:latin typeface="+mn-lt"/>
              </a:rPr>
            </a:br>
            <a:r>
              <a:rPr lang="en-US" sz="3600" dirty="0" smtClean="0">
                <a:solidFill>
                  <a:srgbClr val="445A6F"/>
                </a:solidFill>
                <a:latin typeface="+mn-lt"/>
              </a:rPr>
              <a:t>on the Basis of DDI-Lifecycle</a:t>
            </a:r>
            <a:endParaRPr lang="en-US" sz="4000" dirty="0">
              <a:latin typeface="+mn-lt"/>
            </a:endParaRPr>
          </a:p>
        </p:txBody>
      </p:sp>
      <p:sp>
        <p:nvSpPr>
          <p:cNvPr id="7" name="Untertitel 6"/>
          <p:cNvSpPr>
            <a:spLocks noGrp="1"/>
          </p:cNvSpPr>
          <p:nvPr>
            <p:ph type="subTitle" idx="1"/>
          </p:nvPr>
        </p:nvSpPr>
        <p:spPr>
          <a:xfrm>
            <a:off x="0" y="3068960"/>
            <a:ext cx="9144000" cy="3789040"/>
          </a:xfrm>
        </p:spPr>
        <p:txBody>
          <a:bodyPr>
            <a:normAutofit/>
          </a:bodyPr>
          <a:lstStyle/>
          <a:p>
            <a:r>
              <a:rPr lang="de-DE" sz="2400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4th Annual European DDI User Conference</a:t>
            </a:r>
            <a:endParaRPr lang="de-DE" sz="3000" dirty="0" smtClean="0">
              <a:solidFill>
                <a:schemeClr val="bg1">
                  <a:lumMod val="65000"/>
                </a:schemeClr>
              </a:solidFill>
              <a:latin typeface="+mn-lt"/>
            </a:endParaRPr>
          </a:p>
          <a:p>
            <a:r>
              <a:rPr lang="de-DE" sz="2000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(EDDI 2012)</a:t>
            </a:r>
          </a:p>
          <a:p>
            <a:endParaRPr lang="de-DE" sz="2200" dirty="0" smtClean="0">
              <a:solidFill>
                <a:schemeClr val="bg1">
                  <a:lumMod val="65000"/>
                </a:schemeClr>
              </a:solidFill>
              <a:latin typeface="+mn-lt"/>
            </a:endParaRPr>
          </a:p>
          <a:p>
            <a:r>
              <a:rPr lang="de-DE" sz="2000" dirty="0" smtClean="0">
                <a:solidFill>
                  <a:schemeClr val="bg1">
                    <a:lumMod val="65000"/>
                  </a:schemeClr>
                </a:solidFill>
              </a:rPr>
              <a:t>03.12.2012</a:t>
            </a:r>
            <a:endParaRPr lang="de-DE" sz="18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2" name="Textfeld 1"/>
          <p:cNvSpPr txBox="1"/>
          <p:nvPr/>
        </p:nvSpPr>
        <p:spPr>
          <a:xfrm>
            <a:off x="259660" y="5007367"/>
            <a:ext cx="4024307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Thomas Bosch</a:t>
            </a:r>
          </a:p>
          <a:p>
            <a:pPr algn="ctr"/>
            <a:endParaRPr lang="de-DE" sz="8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de-DE" sz="1600" dirty="0" err="1">
                <a:solidFill>
                  <a:schemeClr val="bg1">
                    <a:lumMod val="50000"/>
                  </a:schemeClr>
                </a:solidFill>
              </a:rPr>
              <a:t>M.Sc</a:t>
            </a:r>
            <a:r>
              <a:rPr lang="de-DE" sz="1600" dirty="0">
                <a:solidFill>
                  <a:schemeClr val="bg1">
                    <a:lumMod val="50000"/>
                  </a:schemeClr>
                </a:solidFill>
              </a:rPr>
              <a:t>. (TUM)</a:t>
            </a:r>
          </a:p>
          <a:p>
            <a:pPr algn="ctr"/>
            <a:r>
              <a:rPr lang="de-DE" sz="1600" dirty="0" err="1" smtClean="0">
                <a:solidFill>
                  <a:schemeClr val="bg1">
                    <a:lumMod val="50000"/>
                  </a:schemeClr>
                </a:solidFill>
              </a:rPr>
              <a:t>Ph.D</a:t>
            </a:r>
            <a:r>
              <a:rPr lang="de-DE" sz="1600" dirty="0" smtClean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de-DE" sz="1600" dirty="0" err="1" smtClean="0">
                <a:solidFill>
                  <a:schemeClr val="bg1">
                    <a:lumMod val="50000"/>
                  </a:schemeClr>
                </a:solidFill>
              </a:rPr>
              <a:t>student</a:t>
            </a:r>
            <a:endParaRPr lang="de-DE" sz="16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de-DE" sz="1600" dirty="0" smtClean="0">
                <a:solidFill>
                  <a:schemeClr val="bg1">
                    <a:lumMod val="50000"/>
                  </a:schemeClr>
                </a:solidFill>
              </a:rPr>
              <a:t>boschthomas.blogspot.com</a:t>
            </a:r>
            <a:endParaRPr lang="de-DE" sz="16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de-DE" sz="1600" dirty="0">
                <a:solidFill>
                  <a:schemeClr val="bg1">
                    <a:lumMod val="50000"/>
                  </a:schemeClr>
                </a:solidFill>
              </a:rPr>
              <a:t>GESIS - Leibniz Institute </a:t>
            </a:r>
            <a:r>
              <a:rPr lang="de-DE" sz="16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de-DE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1600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de-DE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1600" dirty="0" err="1">
                <a:solidFill>
                  <a:schemeClr val="bg1">
                    <a:lumMod val="50000"/>
                  </a:schemeClr>
                </a:solidFill>
              </a:rPr>
              <a:t>Social</a:t>
            </a:r>
            <a:r>
              <a:rPr lang="de-DE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1600" dirty="0" err="1">
                <a:solidFill>
                  <a:schemeClr val="bg1">
                    <a:lumMod val="50000"/>
                  </a:schemeClr>
                </a:solidFill>
              </a:rPr>
              <a:t>Sciences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4940181" y="5007367"/>
            <a:ext cx="4024307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Matthäus Zloch</a:t>
            </a:r>
            <a:endParaRPr lang="de-DE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de-DE" sz="8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de-DE" sz="1600" dirty="0" err="1" smtClean="0">
                <a:solidFill>
                  <a:schemeClr val="bg1">
                    <a:lumMod val="50000"/>
                  </a:schemeClr>
                </a:solidFill>
              </a:rPr>
              <a:t>M.Sc</a:t>
            </a:r>
            <a:r>
              <a:rPr lang="de-DE" sz="1600" dirty="0" smtClean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de-DE" sz="16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de-DE" sz="1600" dirty="0" err="1" smtClean="0">
                <a:solidFill>
                  <a:schemeClr val="bg1">
                    <a:lumMod val="50000"/>
                  </a:schemeClr>
                </a:solidFill>
              </a:rPr>
              <a:t>Ph.D</a:t>
            </a:r>
            <a:r>
              <a:rPr lang="de-DE" sz="1600" dirty="0" smtClean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de-DE" sz="1600" dirty="0" err="1" smtClean="0">
                <a:solidFill>
                  <a:schemeClr val="bg1">
                    <a:lumMod val="50000"/>
                  </a:schemeClr>
                </a:solidFill>
              </a:rPr>
              <a:t>student</a:t>
            </a:r>
            <a:endParaRPr lang="de-DE" sz="16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de-DE" sz="1600" dirty="0" smtClean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de-DE" sz="1600" dirty="0" smtClean="0">
                <a:solidFill>
                  <a:schemeClr val="bg1">
                    <a:lumMod val="50000"/>
                  </a:schemeClr>
                </a:solidFill>
              </a:rPr>
              <a:t>GESIS </a:t>
            </a:r>
            <a:r>
              <a:rPr lang="de-DE" sz="1600" dirty="0">
                <a:solidFill>
                  <a:schemeClr val="bg1">
                    <a:lumMod val="50000"/>
                  </a:schemeClr>
                </a:solidFill>
              </a:rPr>
              <a:t>- Leibniz Institute </a:t>
            </a:r>
            <a:r>
              <a:rPr lang="de-DE" sz="16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de-DE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1600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de-DE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1600" dirty="0" err="1">
                <a:solidFill>
                  <a:schemeClr val="bg1">
                    <a:lumMod val="50000"/>
                  </a:schemeClr>
                </a:solidFill>
              </a:rPr>
              <a:t>Social</a:t>
            </a:r>
            <a:r>
              <a:rPr lang="de-DE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1600" dirty="0" err="1">
                <a:solidFill>
                  <a:schemeClr val="bg1">
                    <a:lumMod val="50000"/>
                  </a:schemeClr>
                </a:solidFill>
              </a:rPr>
              <a:t>Sciences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851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of Attendees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4176464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What is your name? </a:t>
            </a:r>
          </a:p>
          <a:p>
            <a:r>
              <a:rPr lang="en-US" dirty="0" smtClean="0"/>
              <a:t>What’s your organization?</a:t>
            </a:r>
          </a:p>
          <a:p>
            <a:r>
              <a:rPr lang="en-US" dirty="0" smtClean="0"/>
              <a:t>Why are you here?</a:t>
            </a:r>
          </a:p>
          <a:p>
            <a:pPr lvl="1"/>
            <a:r>
              <a:rPr lang="en-US" dirty="0" smtClean="0"/>
              <a:t>What are you mostly interested in?</a:t>
            </a:r>
          </a:p>
          <a:p>
            <a:pPr lvl="1"/>
            <a:r>
              <a:rPr lang="en-US" dirty="0" smtClean="0"/>
              <a:t>What do you expect from this tutorial?</a:t>
            </a:r>
          </a:p>
          <a:p>
            <a:pPr lvl="1"/>
            <a:r>
              <a:rPr lang="de-DE" dirty="0" smtClean="0"/>
              <a:t>…</a:t>
            </a:r>
          </a:p>
          <a:p>
            <a:endParaRPr lang="de-DE" dirty="0"/>
          </a:p>
          <a:p>
            <a:pPr marL="0" indent="0">
              <a:buNone/>
            </a:pPr>
            <a:endParaRPr lang="de-DE" dirty="0" smtClean="0"/>
          </a:p>
          <a:p>
            <a:endParaRPr lang="de-DE" dirty="0"/>
          </a:p>
          <a:p>
            <a:pPr marL="0" indent="0" algn="ctr">
              <a:buNone/>
            </a:pPr>
            <a:r>
              <a:rPr lang="en-US" sz="3600" dirty="0" err="1" smtClean="0">
                <a:solidFill>
                  <a:srgbClr val="FF3399"/>
                </a:solidFill>
              </a:rPr>
              <a:t>Appr</a:t>
            </a:r>
            <a:r>
              <a:rPr lang="de-DE" sz="3600" dirty="0" smtClean="0">
                <a:solidFill>
                  <a:srgbClr val="FF3399"/>
                </a:solidFill>
              </a:rPr>
              <a:t>. 30 </a:t>
            </a:r>
            <a:r>
              <a:rPr lang="en-US" sz="3600" dirty="0" smtClean="0">
                <a:solidFill>
                  <a:srgbClr val="FF3399"/>
                </a:solidFill>
              </a:rPr>
              <a:t>seconds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907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Goals of This Presentation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4248472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Introduction to DDI-Lifecycle</a:t>
            </a:r>
          </a:p>
          <a:p>
            <a:pPr lvl="1"/>
            <a:r>
              <a:rPr lang="en-US" dirty="0" smtClean="0"/>
              <a:t>Give a DDI Lifecycle overview </a:t>
            </a:r>
          </a:p>
          <a:p>
            <a:pPr lvl="1"/>
            <a:r>
              <a:rPr lang="en-US" dirty="0" smtClean="0"/>
              <a:t>Show you (basic) elements of the DDI-Lifecycle and the main structure</a:t>
            </a:r>
          </a:p>
          <a:p>
            <a:pPr lvl="1"/>
            <a:r>
              <a:rPr lang="en-US" dirty="0" smtClean="0"/>
              <a:t>How does Identification, Versioning</a:t>
            </a:r>
            <a:r>
              <a:rPr lang="de-DE" dirty="0" smtClean="0"/>
              <a:t>, Maintenance </a:t>
            </a:r>
            <a:r>
              <a:rPr lang="en-US" dirty="0" smtClean="0"/>
              <a:t>work</a:t>
            </a:r>
            <a:r>
              <a:rPr lang="de-DE" dirty="0" smtClean="0"/>
              <a:t>?</a:t>
            </a:r>
            <a:endParaRPr lang="en-US" dirty="0" smtClean="0"/>
          </a:p>
          <a:p>
            <a:pPr lvl="1"/>
            <a:r>
              <a:rPr lang="en-US" dirty="0" smtClean="0"/>
              <a:t>DDI Discovery Vocabulary “disco”</a:t>
            </a:r>
          </a:p>
          <a:p>
            <a:pPr lvl="1"/>
            <a:r>
              <a:rPr lang="en-US" dirty="0" smtClean="0"/>
              <a:t>How to use the DDI Documentation</a:t>
            </a:r>
          </a:p>
          <a:p>
            <a:r>
              <a:rPr lang="en-US" dirty="0" smtClean="0"/>
              <a:t>Individual software project</a:t>
            </a:r>
          </a:p>
          <a:p>
            <a:pPr lvl="1"/>
            <a:r>
              <a:rPr lang="en-US" dirty="0" smtClean="0"/>
              <a:t>Introduce you to basics of software architecture design</a:t>
            </a:r>
          </a:p>
          <a:p>
            <a:pPr lvl="1"/>
            <a:r>
              <a:rPr lang="en-US" dirty="0"/>
              <a:t>Show you how the software architecture of your project may look like</a:t>
            </a:r>
          </a:p>
          <a:p>
            <a:pPr lvl="1"/>
            <a:r>
              <a:rPr lang="en-US" dirty="0" smtClean="0"/>
              <a:t>Show you how a software project leverages DDI and the disco model</a:t>
            </a:r>
          </a:p>
          <a:p>
            <a:pPr lvl="1"/>
            <a:r>
              <a:rPr lang="en-US" dirty="0" smtClean="0"/>
              <a:t>Introduce you to a project template for using the disco model in the back-end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8730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67544" y="2564904"/>
            <a:ext cx="3816424" cy="4032448"/>
          </a:xfrm>
        </p:spPr>
        <p:txBody>
          <a:bodyPr>
            <a:normAutofit/>
          </a:bodyPr>
          <a:lstStyle/>
          <a:p>
            <a:r>
              <a:rPr lang="en-US" sz="2000" dirty="0" smtClean="0"/>
              <a:t>Missy – General Information</a:t>
            </a:r>
          </a:p>
          <a:p>
            <a:pPr lvl="1"/>
            <a:r>
              <a:rPr lang="en-US" sz="1600" dirty="0"/>
              <a:t>Requirements</a:t>
            </a:r>
            <a:r>
              <a:rPr lang="de-DE" sz="1600" dirty="0"/>
              <a:t> </a:t>
            </a:r>
            <a:r>
              <a:rPr lang="de-DE" sz="1600" dirty="0" err="1"/>
              <a:t>to</a:t>
            </a:r>
            <a:r>
              <a:rPr lang="de-DE" sz="1600" dirty="0"/>
              <a:t> Developers</a:t>
            </a:r>
            <a:endParaRPr lang="en-US" sz="1600" dirty="0" smtClean="0"/>
          </a:p>
          <a:p>
            <a:pPr lvl="1"/>
            <a:r>
              <a:rPr lang="en-US" sz="1600" dirty="0"/>
              <a:t>Use-Cases in Missy</a:t>
            </a:r>
            <a:endParaRPr lang="en-US" sz="1600" dirty="0" smtClean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Software Architecture</a:t>
            </a:r>
          </a:p>
          <a:p>
            <a:pPr lvl="1"/>
            <a:r>
              <a:rPr lang="en-US" sz="1600" dirty="0" smtClean="0"/>
              <a:t>Multitier</a:t>
            </a:r>
          </a:p>
          <a:p>
            <a:pPr lvl="1"/>
            <a:r>
              <a:rPr lang="en-US" sz="1600" dirty="0" smtClean="0"/>
              <a:t>MVC</a:t>
            </a:r>
          </a:p>
          <a:p>
            <a:r>
              <a:rPr lang="en-US" sz="2000" dirty="0"/>
              <a:t>Missy Data Model</a:t>
            </a:r>
          </a:p>
          <a:p>
            <a:pPr lvl="1"/>
            <a:r>
              <a:rPr lang="en-US" sz="1600" dirty="0"/>
              <a:t>Extendable Data Model</a:t>
            </a:r>
            <a:endParaRPr lang="en-US" dirty="0" smtClean="0"/>
          </a:p>
          <a:p>
            <a:pPr lvl="1"/>
            <a:endParaRPr lang="en-US" sz="160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4</a:t>
            </a:fld>
            <a:endParaRPr lang="de-DE"/>
          </a:p>
        </p:txBody>
      </p:sp>
      <p:sp>
        <p:nvSpPr>
          <p:cNvPr id="5" name="Inhaltsplatzhalter 2"/>
          <p:cNvSpPr txBox="1">
            <a:spLocks/>
          </p:cNvSpPr>
          <p:nvPr/>
        </p:nvSpPr>
        <p:spPr>
          <a:xfrm>
            <a:off x="4572000" y="2575830"/>
            <a:ext cx="4283968" cy="4069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DDI-L Overview</a:t>
            </a:r>
          </a:p>
          <a:p>
            <a:r>
              <a:rPr lang="en-US" sz="1800" dirty="0" smtClean="0"/>
              <a:t>Identification, Versioning, Maintenance</a:t>
            </a:r>
          </a:p>
          <a:p>
            <a:r>
              <a:rPr lang="en-US" sz="1800" dirty="0" smtClean="0"/>
              <a:t>DDI-L Main Structures</a:t>
            </a:r>
          </a:p>
          <a:p>
            <a:r>
              <a:rPr lang="en-US" sz="1800" dirty="0" smtClean="0"/>
              <a:t>DDI Instance</a:t>
            </a:r>
          </a:p>
          <a:p>
            <a:r>
              <a:rPr lang="en-US" sz="1800" dirty="0" smtClean="0"/>
              <a:t>Study Unit</a:t>
            </a:r>
          </a:p>
          <a:p>
            <a:endParaRPr lang="en-US" sz="1800" dirty="0"/>
          </a:p>
          <a:p>
            <a:r>
              <a:rPr lang="en-US" sz="1800" dirty="0" smtClean="0"/>
              <a:t>Conceptual Component</a:t>
            </a:r>
          </a:p>
          <a:p>
            <a:r>
              <a:rPr lang="en-US" sz="1800" dirty="0" smtClean="0"/>
              <a:t>Logical Products</a:t>
            </a:r>
          </a:p>
          <a:p>
            <a:r>
              <a:rPr lang="en-US" sz="1800" dirty="0" smtClean="0"/>
              <a:t>Data Collection</a:t>
            </a:r>
          </a:p>
          <a:p>
            <a:r>
              <a:rPr lang="en-US" sz="1800" dirty="0" smtClean="0"/>
              <a:t>disco-model</a:t>
            </a:r>
          </a:p>
          <a:p>
            <a:endParaRPr lang="en-US" sz="1800" dirty="0" smtClean="0"/>
          </a:p>
        </p:txBody>
      </p:sp>
      <p:sp>
        <p:nvSpPr>
          <p:cNvPr id="6" name="Textfeld 5"/>
          <p:cNvSpPr txBox="1"/>
          <p:nvPr/>
        </p:nvSpPr>
        <p:spPr>
          <a:xfrm>
            <a:off x="323528" y="1988840"/>
            <a:ext cx="1084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err="1" smtClean="0"/>
              <a:t>Matth</a:t>
            </a:r>
            <a:r>
              <a:rPr lang="de-DE" u="sng" dirty="0" err="1" smtClean="0"/>
              <a:t>äus</a:t>
            </a:r>
            <a:endParaRPr lang="en-US" u="sng" dirty="0"/>
          </a:p>
        </p:txBody>
      </p:sp>
      <p:sp>
        <p:nvSpPr>
          <p:cNvPr id="7" name="Textfeld 6"/>
          <p:cNvSpPr txBox="1"/>
          <p:nvPr/>
        </p:nvSpPr>
        <p:spPr>
          <a:xfrm>
            <a:off x="4139952" y="1988840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smtClean="0"/>
              <a:t>Thomas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072706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67544" y="2564146"/>
            <a:ext cx="3816424" cy="1457877"/>
          </a:xfrm>
        </p:spPr>
        <p:txBody>
          <a:bodyPr>
            <a:normAutofit/>
          </a:bodyPr>
          <a:lstStyle/>
          <a:p>
            <a:r>
              <a:rPr lang="en-US" sz="2000" dirty="0" smtClean="0"/>
              <a:t>Persistence Layer</a:t>
            </a:r>
          </a:p>
          <a:p>
            <a:pPr lvl="1"/>
            <a:r>
              <a:rPr lang="en-US" sz="1600" dirty="0" smtClean="0"/>
              <a:t>Programming Interface</a:t>
            </a:r>
          </a:p>
          <a:p>
            <a:pPr lvl="1"/>
            <a:r>
              <a:rPr lang="en-US" sz="1600" dirty="0" smtClean="0"/>
              <a:t>Types of physical data storages</a:t>
            </a:r>
          </a:p>
          <a:p>
            <a:pPr lvl="1"/>
            <a:r>
              <a:rPr lang="en-US" sz="1600" dirty="0" smtClean="0"/>
              <a:t>Examples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5</a:t>
            </a:fld>
            <a:endParaRPr lang="de-DE"/>
          </a:p>
        </p:txBody>
      </p:sp>
      <p:sp>
        <p:nvSpPr>
          <p:cNvPr id="5" name="Inhaltsplatzhalter 2"/>
          <p:cNvSpPr txBox="1">
            <a:spLocks/>
          </p:cNvSpPr>
          <p:nvPr/>
        </p:nvSpPr>
        <p:spPr>
          <a:xfrm>
            <a:off x="4572000" y="2563196"/>
            <a:ext cx="4283968" cy="3890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Physical Data Product</a:t>
            </a:r>
          </a:p>
          <a:p>
            <a:r>
              <a:rPr lang="en-US" sz="2000" dirty="0" smtClean="0"/>
              <a:t>Physical Instance</a:t>
            </a:r>
          </a:p>
          <a:p>
            <a:r>
              <a:rPr lang="en-US" sz="2000" dirty="0" smtClean="0"/>
              <a:t>Archive</a:t>
            </a:r>
          </a:p>
          <a:p>
            <a:r>
              <a:rPr lang="en-US" sz="2000" dirty="0" smtClean="0"/>
              <a:t>DDIProfile</a:t>
            </a:r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dirty="0"/>
              <a:t>DDI Serialization Examples</a:t>
            </a:r>
          </a:p>
          <a:p>
            <a:pPr lvl="1"/>
            <a:r>
              <a:rPr lang="en-US" sz="1600" dirty="0"/>
              <a:t>DDI-XML</a:t>
            </a:r>
          </a:p>
          <a:p>
            <a:pPr lvl="1"/>
            <a:r>
              <a:rPr lang="en-US" sz="1600" dirty="0"/>
              <a:t>DDI-RDF / disco-spec</a:t>
            </a:r>
          </a:p>
          <a:p>
            <a:pPr lvl="1"/>
            <a:r>
              <a:rPr lang="en-US" sz="1600" dirty="0"/>
              <a:t>Relational-DB</a:t>
            </a:r>
          </a:p>
          <a:p>
            <a:endParaRPr lang="en-US" sz="2000" dirty="0" smtClean="0"/>
          </a:p>
          <a:p>
            <a:endParaRPr lang="en-US" sz="2000" dirty="0" smtClean="0"/>
          </a:p>
        </p:txBody>
      </p:sp>
      <p:sp>
        <p:nvSpPr>
          <p:cNvPr id="6" name="Inhaltsplatzhalter 2"/>
          <p:cNvSpPr txBox="1">
            <a:spLocks/>
          </p:cNvSpPr>
          <p:nvPr/>
        </p:nvSpPr>
        <p:spPr>
          <a:xfrm>
            <a:off x="467544" y="4395645"/>
            <a:ext cx="3816424" cy="1457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Outlook</a:t>
            </a: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500577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67544" y="2564904"/>
            <a:ext cx="3816424" cy="4032448"/>
          </a:xfrm>
        </p:spPr>
        <p:txBody>
          <a:bodyPr>
            <a:normAutofit/>
          </a:bodyPr>
          <a:lstStyle/>
          <a:p>
            <a:r>
              <a:rPr lang="en-US" sz="2000" dirty="0" smtClean="0"/>
              <a:t>Missy – General Information</a:t>
            </a:r>
          </a:p>
          <a:p>
            <a:pPr lvl="1"/>
            <a:r>
              <a:rPr lang="en-US" sz="1600" dirty="0" smtClean="0"/>
              <a:t>Requirements</a:t>
            </a:r>
            <a:r>
              <a:rPr lang="de-DE" sz="1600" dirty="0" smtClean="0"/>
              <a:t> </a:t>
            </a:r>
            <a:r>
              <a:rPr lang="de-DE" sz="1600" dirty="0" err="1" smtClean="0"/>
              <a:t>to</a:t>
            </a:r>
            <a:r>
              <a:rPr lang="de-DE" sz="1600" dirty="0" smtClean="0"/>
              <a:t> Developers</a:t>
            </a:r>
            <a:endParaRPr lang="en-US" sz="1600" dirty="0" smtClean="0"/>
          </a:p>
          <a:p>
            <a:pPr lvl="1"/>
            <a:r>
              <a:rPr lang="en-US" sz="1600" dirty="0"/>
              <a:t>Use-Cases in Missy</a:t>
            </a:r>
            <a:endParaRPr lang="en-US" sz="1600" dirty="0" smtClean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Software Architecture</a:t>
            </a:r>
          </a:p>
          <a:p>
            <a:pPr lvl="1"/>
            <a:r>
              <a:rPr lang="en-US" sz="1600" dirty="0" smtClean="0"/>
              <a:t>Multitier</a:t>
            </a:r>
          </a:p>
          <a:p>
            <a:pPr lvl="1"/>
            <a:r>
              <a:rPr lang="en-US" sz="1600" dirty="0" smtClean="0"/>
              <a:t>MVC</a:t>
            </a:r>
          </a:p>
          <a:p>
            <a:r>
              <a:rPr lang="en-US" sz="2000" dirty="0"/>
              <a:t>Missy Data Model</a:t>
            </a:r>
          </a:p>
          <a:p>
            <a:pPr lvl="1"/>
            <a:r>
              <a:rPr lang="en-US" sz="1600" dirty="0"/>
              <a:t>Extendable Data Model</a:t>
            </a:r>
            <a:endParaRPr lang="en-US" dirty="0" smtClean="0"/>
          </a:p>
          <a:p>
            <a:pPr lvl="1"/>
            <a:endParaRPr lang="en-US" sz="160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6</a:t>
            </a:fld>
            <a:endParaRPr lang="de-DE"/>
          </a:p>
        </p:txBody>
      </p:sp>
      <p:sp>
        <p:nvSpPr>
          <p:cNvPr id="5" name="Inhaltsplatzhalter 2"/>
          <p:cNvSpPr txBox="1">
            <a:spLocks/>
          </p:cNvSpPr>
          <p:nvPr/>
        </p:nvSpPr>
        <p:spPr>
          <a:xfrm>
            <a:off x="4572000" y="2575830"/>
            <a:ext cx="4283968" cy="4069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DDI-L Overview</a:t>
            </a:r>
          </a:p>
          <a:p>
            <a:r>
              <a:rPr lang="en-US" sz="1800" dirty="0" smtClean="0"/>
              <a:t>Identification, Versioning, Maintenance</a:t>
            </a:r>
          </a:p>
          <a:p>
            <a:r>
              <a:rPr lang="en-US" sz="1800" dirty="0" smtClean="0"/>
              <a:t>DDI-L Main Structures</a:t>
            </a:r>
          </a:p>
          <a:p>
            <a:r>
              <a:rPr lang="en-US" sz="1800" dirty="0" smtClean="0"/>
              <a:t>DDI Instance</a:t>
            </a:r>
          </a:p>
          <a:p>
            <a:r>
              <a:rPr lang="en-US" sz="1800" dirty="0" smtClean="0"/>
              <a:t>Study Unit</a:t>
            </a:r>
          </a:p>
          <a:p>
            <a:endParaRPr lang="en-US" sz="1800" dirty="0"/>
          </a:p>
          <a:p>
            <a:r>
              <a:rPr lang="en-US" sz="1800" dirty="0" smtClean="0"/>
              <a:t>Conceptual Component</a:t>
            </a:r>
          </a:p>
          <a:p>
            <a:r>
              <a:rPr lang="en-US" sz="1800" dirty="0" smtClean="0"/>
              <a:t>Logical Products</a:t>
            </a:r>
          </a:p>
          <a:p>
            <a:r>
              <a:rPr lang="en-US" sz="1800" dirty="0" smtClean="0"/>
              <a:t>Data Collection</a:t>
            </a:r>
          </a:p>
          <a:p>
            <a:r>
              <a:rPr lang="en-US" sz="1800" dirty="0" smtClean="0"/>
              <a:t>disco-model</a:t>
            </a:r>
          </a:p>
          <a:p>
            <a:endParaRPr lang="en-US" sz="1800" dirty="0" smtClean="0"/>
          </a:p>
        </p:txBody>
      </p:sp>
      <p:sp>
        <p:nvSpPr>
          <p:cNvPr id="6" name="Textfeld 5"/>
          <p:cNvSpPr txBox="1"/>
          <p:nvPr/>
        </p:nvSpPr>
        <p:spPr>
          <a:xfrm>
            <a:off x="323528" y="1988840"/>
            <a:ext cx="1084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err="1" smtClean="0"/>
              <a:t>Matth</a:t>
            </a:r>
            <a:r>
              <a:rPr lang="de-DE" u="sng" dirty="0" err="1" smtClean="0"/>
              <a:t>äus</a:t>
            </a:r>
            <a:endParaRPr lang="en-US" u="sng" dirty="0"/>
          </a:p>
        </p:txBody>
      </p:sp>
      <p:sp>
        <p:nvSpPr>
          <p:cNvPr id="7" name="Textfeld 6"/>
          <p:cNvSpPr txBox="1"/>
          <p:nvPr/>
        </p:nvSpPr>
        <p:spPr>
          <a:xfrm>
            <a:off x="4139952" y="1988840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smtClean="0"/>
              <a:t>Thomas</a:t>
            </a:r>
            <a:endParaRPr lang="en-US" u="sng" dirty="0"/>
          </a:p>
        </p:txBody>
      </p:sp>
      <p:sp>
        <p:nvSpPr>
          <p:cNvPr id="8" name="Abgerundetes Rechteck 7"/>
          <p:cNvSpPr/>
          <p:nvPr/>
        </p:nvSpPr>
        <p:spPr>
          <a:xfrm>
            <a:off x="195349" y="2457271"/>
            <a:ext cx="8716791" cy="1944216"/>
          </a:xfrm>
          <a:prstGeom prst="round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bgerundetes Rechteck 8"/>
          <p:cNvSpPr/>
          <p:nvPr/>
        </p:nvSpPr>
        <p:spPr>
          <a:xfrm>
            <a:off x="175689" y="4509120"/>
            <a:ext cx="8716791" cy="1813405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feld 9"/>
          <p:cNvSpPr txBox="1"/>
          <p:nvPr/>
        </p:nvSpPr>
        <p:spPr>
          <a:xfrm>
            <a:off x="323528" y="4026550"/>
            <a:ext cx="12697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tx2"/>
                </a:solidFill>
              </a:rPr>
              <a:t>Presentation</a:t>
            </a:r>
            <a:endParaRPr lang="en-US" sz="1600" b="1" dirty="0">
              <a:solidFill>
                <a:schemeClr val="tx2"/>
              </a:solidFill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80312" y="5898758"/>
            <a:ext cx="14209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FFC000"/>
                </a:solidFill>
              </a:rPr>
              <a:t>Business Layer</a:t>
            </a:r>
            <a:endParaRPr lang="en-US" sz="16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411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67544" y="2564146"/>
            <a:ext cx="3816424" cy="1476896"/>
          </a:xfrm>
        </p:spPr>
        <p:txBody>
          <a:bodyPr>
            <a:normAutofit/>
          </a:bodyPr>
          <a:lstStyle/>
          <a:p>
            <a:r>
              <a:rPr lang="en-US" sz="2000" dirty="0" smtClean="0"/>
              <a:t>Persistence Layer</a:t>
            </a:r>
          </a:p>
          <a:p>
            <a:pPr lvl="1"/>
            <a:r>
              <a:rPr lang="en-US" sz="1600" dirty="0" smtClean="0"/>
              <a:t>Programming Interface</a:t>
            </a:r>
          </a:p>
          <a:p>
            <a:pPr lvl="1"/>
            <a:r>
              <a:rPr lang="en-US" sz="1600" dirty="0" smtClean="0"/>
              <a:t>Types of physical data storages</a:t>
            </a:r>
          </a:p>
          <a:p>
            <a:pPr lvl="1"/>
            <a:r>
              <a:rPr lang="en-US" sz="1600" dirty="0" smtClean="0"/>
              <a:t>Examples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7</a:t>
            </a:fld>
            <a:endParaRPr lang="de-DE"/>
          </a:p>
        </p:txBody>
      </p:sp>
      <p:sp>
        <p:nvSpPr>
          <p:cNvPr id="5" name="Inhaltsplatzhalter 2"/>
          <p:cNvSpPr txBox="1">
            <a:spLocks/>
          </p:cNvSpPr>
          <p:nvPr/>
        </p:nvSpPr>
        <p:spPr>
          <a:xfrm>
            <a:off x="4572000" y="2563196"/>
            <a:ext cx="4283968" cy="3818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Physical Data Product</a:t>
            </a:r>
          </a:p>
          <a:p>
            <a:r>
              <a:rPr lang="en-US" sz="2000" dirty="0" smtClean="0"/>
              <a:t>Physical Instance</a:t>
            </a:r>
          </a:p>
          <a:p>
            <a:r>
              <a:rPr lang="en-US" sz="2000" dirty="0" smtClean="0"/>
              <a:t>Archive</a:t>
            </a:r>
          </a:p>
          <a:p>
            <a:r>
              <a:rPr lang="en-US" sz="2000" dirty="0" smtClean="0"/>
              <a:t>DDIProfile</a:t>
            </a:r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dirty="0"/>
              <a:t>DDI Serialization Examples</a:t>
            </a:r>
          </a:p>
          <a:p>
            <a:pPr lvl="1"/>
            <a:r>
              <a:rPr lang="en-US" sz="1600" dirty="0"/>
              <a:t>DDI-XML</a:t>
            </a:r>
          </a:p>
          <a:p>
            <a:pPr lvl="1"/>
            <a:r>
              <a:rPr lang="en-US" sz="1600" dirty="0"/>
              <a:t>DDI-RDF / disco-spec</a:t>
            </a:r>
          </a:p>
          <a:p>
            <a:pPr lvl="1"/>
            <a:r>
              <a:rPr lang="en-US" sz="1600" dirty="0"/>
              <a:t>Relational-DB</a:t>
            </a:r>
          </a:p>
          <a:p>
            <a:endParaRPr lang="en-US" sz="2000" dirty="0" smtClean="0"/>
          </a:p>
        </p:txBody>
      </p:sp>
      <p:sp>
        <p:nvSpPr>
          <p:cNvPr id="6" name="Abgerundetes Rechteck 5"/>
          <p:cNvSpPr/>
          <p:nvPr/>
        </p:nvSpPr>
        <p:spPr>
          <a:xfrm>
            <a:off x="195349" y="2457271"/>
            <a:ext cx="8716791" cy="1691809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feld 6"/>
          <p:cNvSpPr txBox="1"/>
          <p:nvPr/>
        </p:nvSpPr>
        <p:spPr>
          <a:xfrm>
            <a:off x="7020272" y="3702488"/>
            <a:ext cx="1885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00B050"/>
                </a:solidFill>
              </a:rPr>
              <a:t>Data Storage Access</a:t>
            </a:r>
            <a:endParaRPr lang="en-US" sz="1600" b="1" dirty="0">
              <a:solidFill>
                <a:srgbClr val="00B050"/>
              </a:solidFill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175689" y="4329479"/>
            <a:ext cx="8716791" cy="1691809"/>
          </a:xfrm>
          <a:prstGeom prst="roundRect">
            <a:avLst/>
          </a:prstGeom>
          <a:noFill/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feld 8"/>
          <p:cNvSpPr txBox="1"/>
          <p:nvPr/>
        </p:nvSpPr>
        <p:spPr>
          <a:xfrm>
            <a:off x="7569360" y="5574696"/>
            <a:ext cx="12749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accent2"/>
                </a:solidFill>
              </a:rPr>
              <a:t>Data Storage</a:t>
            </a:r>
            <a:endParaRPr lang="en-US" sz="1600" b="1" dirty="0">
              <a:solidFill>
                <a:schemeClr val="accent2"/>
              </a:solidFill>
            </a:endParaRPr>
          </a:p>
        </p:txBody>
      </p:sp>
      <p:sp>
        <p:nvSpPr>
          <p:cNvPr id="10" name="Inhaltsplatzhalter 2"/>
          <p:cNvSpPr txBox="1">
            <a:spLocks/>
          </p:cNvSpPr>
          <p:nvPr/>
        </p:nvSpPr>
        <p:spPr>
          <a:xfrm>
            <a:off x="467544" y="4395645"/>
            <a:ext cx="3816424" cy="1457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Outlook</a:t>
            </a: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2307919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Feel </a:t>
            </a:r>
            <a:r>
              <a:rPr lang="en-US" dirty="0"/>
              <a:t>free to ask questions at any </a:t>
            </a:r>
            <a:r>
              <a:rPr lang="en-US" dirty="0" smtClean="0"/>
              <a:t>time!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8</a:t>
            </a:fld>
            <a:endParaRPr lang="de-DE"/>
          </a:p>
        </p:txBody>
      </p:sp>
      <p:pic>
        <p:nvPicPr>
          <p:cNvPr id="1027" name="Picture 3" descr="C:\Dokumente und Einstellungen\Thomas\Desktop\questionmark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216" y="2587724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3088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comes next?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Before we start with the use-case Missy…</a:t>
            </a:r>
          </a:p>
          <a:p>
            <a:endParaRPr lang="de-DE" dirty="0"/>
          </a:p>
          <a:p>
            <a:r>
              <a:rPr lang="en-US" dirty="0" smtClean="0"/>
              <a:t>Thomas, can you give us a top-level overview of DDI?</a:t>
            </a:r>
          </a:p>
          <a:p>
            <a:pPr lvl="1"/>
            <a:r>
              <a:rPr lang="en-US" dirty="0" smtClean="0"/>
              <a:t>You might also include how DDI treats identification, versioning and maintenance…</a:t>
            </a:r>
            <a:endParaRPr lang="en-US" dirty="0"/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0477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comes next?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10</a:t>
            </a:fld>
            <a:endParaRPr lang="de-DE"/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>
          <a:xfrm>
            <a:off x="467544" y="2564904"/>
            <a:ext cx="3816424" cy="4032448"/>
          </a:xfrm>
        </p:spPr>
        <p:txBody>
          <a:bodyPr>
            <a:normAutofit/>
          </a:bodyPr>
          <a:lstStyle/>
          <a:p>
            <a:r>
              <a:rPr lang="en-US" sz="2000" dirty="0" smtClean="0"/>
              <a:t>Missy – General Information</a:t>
            </a:r>
          </a:p>
          <a:p>
            <a:pPr lvl="1"/>
            <a:r>
              <a:rPr lang="en-US" sz="1600" dirty="0" smtClean="0"/>
              <a:t>Requirements</a:t>
            </a:r>
            <a:r>
              <a:rPr lang="de-DE" sz="1600" dirty="0" smtClean="0"/>
              <a:t> </a:t>
            </a:r>
            <a:r>
              <a:rPr lang="de-DE" sz="1600" dirty="0" err="1" smtClean="0"/>
              <a:t>to</a:t>
            </a:r>
            <a:r>
              <a:rPr lang="de-DE" sz="1600" dirty="0" smtClean="0"/>
              <a:t> Developers</a:t>
            </a:r>
            <a:endParaRPr lang="en-US" sz="1600" dirty="0" smtClean="0"/>
          </a:p>
          <a:p>
            <a:pPr lvl="1"/>
            <a:r>
              <a:rPr lang="en-US" sz="1600" dirty="0"/>
              <a:t>Use-Cases in Missy</a:t>
            </a:r>
            <a:endParaRPr lang="en-US" sz="1600" dirty="0" smtClean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Software Architecture</a:t>
            </a:r>
          </a:p>
          <a:p>
            <a:pPr lvl="1"/>
            <a:r>
              <a:rPr lang="en-US" sz="1600" dirty="0" smtClean="0"/>
              <a:t>Multitier</a:t>
            </a:r>
          </a:p>
          <a:p>
            <a:pPr lvl="1"/>
            <a:r>
              <a:rPr lang="en-US" sz="1600" dirty="0" smtClean="0"/>
              <a:t>MVC</a:t>
            </a:r>
          </a:p>
          <a:p>
            <a:r>
              <a:rPr lang="en-US" sz="2000" dirty="0"/>
              <a:t>Missy Data Model</a:t>
            </a:r>
          </a:p>
          <a:p>
            <a:pPr lvl="1"/>
            <a:r>
              <a:rPr lang="en-US" sz="1600" dirty="0"/>
              <a:t>Extendable Data Model</a:t>
            </a:r>
            <a:endParaRPr lang="en-US" dirty="0" smtClean="0"/>
          </a:p>
          <a:p>
            <a:pPr lvl="1"/>
            <a:endParaRPr lang="en-US" sz="1600" dirty="0" smtClean="0"/>
          </a:p>
        </p:txBody>
      </p:sp>
      <p:sp>
        <p:nvSpPr>
          <p:cNvPr id="6" name="Inhaltsplatzhalter 2"/>
          <p:cNvSpPr txBox="1">
            <a:spLocks/>
          </p:cNvSpPr>
          <p:nvPr/>
        </p:nvSpPr>
        <p:spPr>
          <a:xfrm>
            <a:off x="4572000" y="2575830"/>
            <a:ext cx="4283968" cy="4069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 smtClean="0">
                <a:solidFill>
                  <a:srgbClr val="FF3399"/>
                </a:solidFill>
              </a:rPr>
              <a:t>DDI-L Overview</a:t>
            </a:r>
          </a:p>
          <a:p>
            <a:r>
              <a:rPr lang="en-US" sz="1800" dirty="0" smtClean="0"/>
              <a:t>Identification, Versioning, Maintenance</a:t>
            </a:r>
          </a:p>
          <a:p>
            <a:r>
              <a:rPr lang="en-US" sz="1800" dirty="0" smtClean="0"/>
              <a:t>DDI-L Main Structures</a:t>
            </a:r>
          </a:p>
          <a:p>
            <a:r>
              <a:rPr lang="en-US" sz="1800" dirty="0" smtClean="0"/>
              <a:t>DDI Instance</a:t>
            </a:r>
          </a:p>
          <a:p>
            <a:r>
              <a:rPr lang="en-US" sz="1800" dirty="0" smtClean="0"/>
              <a:t>Study Unit</a:t>
            </a:r>
          </a:p>
          <a:p>
            <a:endParaRPr lang="en-US" sz="1800" dirty="0"/>
          </a:p>
          <a:p>
            <a:r>
              <a:rPr lang="en-US" sz="1800" dirty="0" smtClean="0"/>
              <a:t>Conceptual Component</a:t>
            </a:r>
          </a:p>
          <a:p>
            <a:r>
              <a:rPr lang="en-US" sz="1800" dirty="0" smtClean="0"/>
              <a:t>Logical Products</a:t>
            </a:r>
          </a:p>
          <a:p>
            <a:r>
              <a:rPr lang="en-US" sz="1800" dirty="0" smtClean="0"/>
              <a:t>Data Collection</a:t>
            </a:r>
          </a:p>
          <a:p>
            <a:r>
              <a:rPr lang="en-US" sz="1800" dirty="0" smtClean="0"/>
              <a:t>disco-model</a:t>
            </a:r>
          </a:p>
          <a:p>
            <a:endParaRPr lang="en-US" sz="1800" dirty="0" smtClean="0"/>
          </a:p>
        </p:txBody>
      </p:sp>
      <p:sp>
        <p:nvSpPr>
          <p:cNvPr id="7" name="Abgerundetes Rechteck 6"/>
          <p:cNvSpPr/>
          <p:nvPr/>
        </p:nvSpPr>
        <p:spPr>
          <a:xfrm>
            <a:off x="195349" y="2457271"/>
            <a:ext cx="8716791" cy="1944216"/>
          </a:xfrm>
          <a:prstGeom prst="round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bgerundetes Rechteck 7"/>
          <p:cNvSpPr/>
          <p:nvPr/>
        </p:nvSpPr>
        <p:spPr>
          <a:xfrm>
            <a:off x="175689" y="4509120"/>
            <a:ext cx="8716791" cy="1813405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feld 8"/>
          <p:cNvSpPr txBox="1"/>
          <p:nvPr/>
        </p:nvSpPr>
        <p:spPr>
          <a:xfrm>
            <a:off x="323528" y="4026550"/>
            <a:ext cx="12697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tx2"/>
                </a:solidFill>
              </a:rPr>
              <a:t>Presentation</a:t>
            </a:r>
            <a:endParaRPr lang="en-US" sz="1600" b="1" dirty="0">
              <a:solidFill>
                <a:schemeClr val="tx2"/>
              </a:solidFill>
            </a:endParaRPr>
          </a:p>
        </p:txBody>
      </p:sp>
      <p:sp>
        <p:nvSpPr>
          <p:cNvPr id="10" name="Textfeld 9"/>
          <p:cNvSpPr txBox="1"/>
          <p:nvPr/>
        </p:nvSpPr>
        <p:spPr>
          <a:xfrm>
            <a:off x="7380312" y="5898758"/>
            <a:ext cx="1393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Business Layer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1" name="Rechteck 10"/>
          <p:cNvSpPr/>
          <p:nvPr/>
        </p:nvSpPr>
        <p:spPr>
          <a:xfrm>
            <a:off x="107505" y="4509120"/>
            <a:ext cx="8928992" cy="1988840"/>
          </a:xfrm>
          <a:prstGeom prst="rect">
            <a:avLst/>
          </a:prstGeom>
          <a:solidFill>
            <a:schemeClr val="bg1">
              <a:alpha val="53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0349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14422"/>
            <a:ext cx="8229600" cy="558394"/>
          </a:xfrm>
        </p:spPr>
        <p:txBody>
          <a:bodyPr/>
          <a:lstStyle/>
          <a:p>
            <a:r>
              <a:rPr lang="de-DE" smtClean="0"/>
              <a:t>DDI-L Stages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11</a:t>
            </a:fld>
            <a:endParaRPr lang="de-DE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5733256"/>
            <a:ext cx="4176464" cy="288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86" y="2273027"/>
            <a:ext cx="8574386" cy="2822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7446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4"/>
          <p:cNvSpPr>
            <a:spLocks noChangeArrowheads="1"/>
          </p:cNvSpPr>
          <p:nvPr/>
        </p:nvSpPr>
        <p:spPr bwMode="auto">
          <a:xfrm>
            <a:off x="2476500" y="1497360"/>
            <a:ext cx="1295400" cy="1447800"/>
          </a:xfrm>
          <a:prstGeom prst="foldedCorner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Study</a:t>
            </a:r>
          </a:p>
        </p:txBody>
      </p:sp>
      <p:sp>
        <p:nvSpPr>
          <p:cNvPr id="6150" name="Cloud"/>
          <p:cNvSpPr>
            <a:spLocks noChangeAspect="1" noEditPoints="1" noChangeArrowheads="1"/>
          </p:cNvSpPr>
          <p:nvPr/>
        </p:nvSpPr>
        <p:spPr bwMode="auto">
          <a:xfrm>
            <a:off x="571500" y="4469160"/>
            <a:ext cx="2133600" cy="1219200"/>
          </a:xfrm>
          <a:custGeom>
            <a:avLst/>
            <a:gdLst>
              <a:gd name="T0" fmla="*/ 653711 w 21600"/>
              <a:gd name="T1" fmla="*/ 34408533 h 21600"/>
              <a:gd name="T2" fmla="*/ 105376133 w 21600"/>
              <a:gd name="T3" fmla="*/ 68743802 h 21600"/>
              <a:gd name="T4" fmla="*/ 210576640 w 21600"/>
              <a:gd name="T5" fmla="*/ 34408533 h 21600"/>
              <a:gd name="T6" fmla="*/ 105376133 w 21600"/>
              <a:gd name="T7" fmla="*/ 3934686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r>
              <a:rPr lang="en-US"/>
              <a:t>      </a:t>
            </a:r>
          </a:p>
          <a:p>
            <a:r>
              <a:rPr lang="en-US"/>
              <a:t>    Concepts</a:t>
            </a:r>
          </a:p>
        </p:txBody>
      </p:sp>
      <p:sp>
        <p:nvSpPr>
          <p:cNvPr id="6152" name="Line 8"/>
          <p:cNvSpPr>
            <a:spLocks noChangeShapeType="1"/>
          </p:cNvSpPr>
          <p:nvPr/>
        </p:nvSpPr>
        <p:spPr bwMode="auto">
          <a:xfrm flipV="1">
            <a:off x="1790700" y="3021360"/>
            <a:ext cx="12192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3" name="AutoShape 9"/>
          <p:cNvSpPr>
            <a:spLocks noChangeArrowheads="1"/>
          </p:cNvSpPr>
          <p:nvPr/>
        </p:nvSpPr>
        <p:spPr bwMode="auto">
          <a:xfrm>
            <a:off x="952500" y="3021360"/>
            <a:ext cx="1371600" cy="457200"/>
          </a:xfrm>
          <a:prstGeom prst="wedgeRectCallout">
            <a:avLst>
              <a:gd name="adj1" fmla="val 45833"/>
              <a:gd name="adj2" fmla="val 11979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i="1"/>
              <a:t>measures</a:t>
            </a:r>
          </a:p>
        </p:txBody>
      </p:sp>
      <p:sp>
        <p:nvSpPr>
          <p:cNvPr id="6154" name="AutoShape 10"/>
          <p:cNvSpPr>
            <a:spLocks noChangeArrowheads="1"/>
          </p:cNvSpPr>
          <p:nvPr/>
        </p:nvSpPr>
        <p:spPr bwMode="auto">
          <a:xfrm>
            <a:off x="5600700" y="1497360"/>
            <a:ext cx="1295400" cy="1447800"/>
          </a:xfrm>
          <a:prstGeom prst="foldedCorner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Survey</a:t>
            </a:r>
          </a:p>
          <a:p>
            <a:pPr algn="ctr"/>
            <a:r>
              <a:rPr lang="en-US"/>
              <a:t>Instruments</a:t>
            </a:r>
          </a:p>
        </p:txBody>
      </p:sp>
      <p:sp>
        <p:nvSpPr>
          <p:cNvPr id="6156" name="Line 12"/>
          <p:cNvSpPr>
            <a:spLocks noChangeShapeType="1"/>
          </p:cNvSpPr>
          <p:nvPr/>
        </p:nvSpPr>
        <p:spPr bwMode="auto">
          <a:xfrm flipH="1">
            <a:off x="3848100" y="2106960"/>
            <a:ext cx="1676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7" name="AutoShape 13"/>
          <p:cNvSpPr>
            <a:spLocks noChangeArrowheads="1"/>
          </p:cNvSpPr>
          <p:nvPr/>
        </p:nvSpPr>
        <p:spPr bwMode="auto">
          <a:xfrm>
            <a:off x="4305300" y="1268760"/>
            <a:ext cx="990600" cy="457200"/>
          </a:xfrm>
          <a:prstGeom prst="wedgeRectCallout">
            <a:avLst>
              <a:gd name="adj1" fmla="val -44389"/>
              <a:gd name="adj2" fmla="val 11979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i="1"/>
              <a:t>using</a:t>
            </a:r>
          </a:p>
        </p:txBody>
      </p:sp>
      <p:sp>
        <p:nvSpPr>
          <p:cNvPr id="6158" name="Rectangle 14"/>
          <p:cNvSpPr>
            <a:spLocks noChangeArrowheads="1"/>
          </p:cNvSpPr>
          <p:nvPr/>
        </p:nvSpPr>
        <p:spPr bwMode="auto">
          <a:xfrm>
            <a:off x="6515100" y="393576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6159" name="Rectangle 15"/>
          <p:cNvSpPr>
            <a:spLocks noChangeArrowheads="1"/>
          </p:cNvSpPr>
          <p:nvPr/>
        </p:nvSpPr>
        <p:spPr bwMode="auto">
          <a:xfrm>
            <a:off x="6667500" y="408816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6160" name="Rectangle 16"/>
          <p:cNvSpPr>
            <a:spLocks noChangeArrowheads="1"/>
          </p:cNvSpPr>
          <p:nvPr/>
        </p:nvSpPr>
        <p:spPr bwMode="auto">
          <a:xfrm>
            <a:off x="6819900" y="424056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6161" name="Rectangle 17"/>
          <p:cNvSpPr>
            <a:spLocks noChangeArrowheads="1"/>
          </p:cNvSpPr>
          <p:nvPr/>
        </p:nvSpPr>
        <p:spPr bwMode="auto">
          <a:xfrm>
            <a:off x="6972300" y="439296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6162" name="Rectangle 18"/>
          <p:cNvSpPr>
            <a:spLocks noChangeArrowheads="1"/>
          </p:cNvSpPr>
          <p:nvPr/>
        </p:nvSpPr>
        <p:spPr bwMode="auto">
          <a:xfrm>
            <a:off x="7124700" y="454536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6163" name="Rectangle 19"/>
          <p:cNvSpPr>
            <a:spLocks noChangeArrowheads="1"/>
          </p:cNvSpPr>
          <p:nvPr/>
        </p:nvSpPr>
        <p:spPr bwMode="auto">
          <a:xfrm>
            <a:off x="7277100" y="469776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Questions</a:t>
            </a:r>
          </a:p>
        </p:txBody>
      </p:sp>
      <p:sp>
        <p:nvSpPr>
          <p:cNvPr id="6165" name="Line 21"/>
          <p:cNvSpPr>
            <a:spLocks noChangeShapeType="1"/>
          </p:cNvSpPr>
          <p:nvPr/>
        </p:nvSpPr>
        <p:spPr bwMode="auto">
          <a:xfrm flipH="1" flipV="1">
            <a:off x="6591300" y="3021360"/>
            <a:ext cx="7620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6" name="AutoShape 22"/>
          <p:cNvSpPr>
            <a:spLocks noChangeArrowheads="1"/>
          </p:cNvSpPr>
          <p:nvPr/>
        </p:nvSpPr>
        <p:spPr bwMode="auto">
          <a:xfrm>
            <a:off x="7124700" y="2945160"/>
            <a:ext cx="1600200" cy="381000"/>
          </a:xfrm>
          <a:prstGeom prst="wedgeRectCallout">
            <a:avLst>
              <a:gd name="adj1" fmla="val -52481"/>
              <a:gd name="adj2" fmla="val 10875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i="1"/>
              <a:t>made up of</a:t>
            </a:r>
          </a:p>
        </p:txBody>
      </p:sp>
      <p:sp>
        <p:nvSpPr>
          <p:cNvPr id="6167" name="AutoShape 23"/>
          <p:cNvSpPr>
            <a:spLocks noChangeArrowheads="1"/>
          </p:cNvSpPr>
          <p:nvPr/>
        </p:nvSpPr>
        <p:spPr bwMode="auto">
          <a:xfrm>
            <a:off x="4381500" y="4773960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6168" name="AutoShape 24"/>
          <p:cNvSpPr>
            <a:spLocks noChangeArrowheads="1"/>
          </p:cNvSpPr>
          <p:nvPr/>
        </p:nvSpPr>
        <p:spPr bwMode="auto">
          <a:xfrm>
            <a:off x="4533900" y="4926360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6169" name="AutoShape 25"/>
          <p:cNvSpPr>
            <a:spLocks noChangeArrowheads="1"/>
          </p:cNvSpPr>
          <p:nvPr/>
        </p:nvSpPr>
        <p:spPr bwMode="auto">
          <a:xfrm>
            <a:off x="4686300" y="5078760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6170" name="AutoShape 26"/>
          <p:cNvSpPr>
            <a:spLocks noChangeArrowheads="1"/>
          </p:cNvSpPr>
          <p:nvPr/>
        </p:nvSpPr>
        <p:spPr bwMode="auto">
          <a:xfrm>
            <a:off x="4838700" y="5231160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6171" name="AutoShape 27"/>
          <p:cNvSpPr>
            <a:spLocks noChangeArrowheads="1"/>
          </p:cNvSpPr>
          <p:nvPr/>
        </p:nvSpPr>
        <p:spPr bwMode="auto">
          <a:xfrm>
            <a:off x="4991100" y="5383560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6172" name="AutoShape 28"/>
          <p:cNvSpPr>
            <a:spLocks noChangeArrowheads="1"/>
          </p:cNvSpPr>
          <p:nvPr/>
        </p:nvSpPr>
        <p:spPr bwMode="auto">
          <a:xfrm>
            <a:off x="3924300" y="4773960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6173" name="AutoShape 29"/>
          <p:cNvSpPr>
            <a:spLocks noChangeArrowheads="1"/>
          </p:cNvSpPr>
          <p:nvPr/>
        </p:nvSpPr>
        <p:spPr bwMode="auto">
          <a:xfrm>
            <a:off x="4076700" y="4926360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6174" name="AutoShape 30"/>
          <p:cNvSpPr>
            <a:spLocks noChangeArrowheads="1"/>
          </p:cNvSpPr>
          <p:nvPr/>
        </p:nvSpPr>
        <p:spPr bwMode="auto">
          <a:xfrm>
            <a:off x="4229100" y="5078760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6175" name="AutoShape 31"/>
          <p:cNvSpPr>
            <a:spLocks noChangeArrowheads="1"/>
          </p:cNvSpPr>
          <p:nvPr/>
        </p:nvSpPr>
        <p:spPr bwMode="auto">
          <a:xfrm>
            <a:off x="4381500" y="5231160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6176" name="AutoShape 32"/>
          <p:cNvSpPr>
            <a:spLocks noChangeArrowheads="1"/>
          </p:cNvSpPr>
          <p:nvPr/>
        </p:nvSpPr>
        <p:spPr bwMode="auto">
          <a:xfrm>
            <a:off x="4533900" y="5383560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6177" name="Oval 33"/>
          <p:cNvSpPr>
            <a:spLocks noChangeArrowheads="1"/>
          </p:cNvSpPr>
          <p:nvPr/>
        </p:nvSpPr>
        <p:spPr bwMode="auto">
          <a:xfrm>
            <a:off x="3619500" y="4392960"/>
            <a:ext cx="2133600" cy="2057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6178" name="Text Box 34"/>
          <p:cNvSpPr txBox="1">
            <a:spLocks noChangeArrowheads="1"/>
          </p:cNvSpPr>
          <p:nvPr/>
        </p:nvSpPr>
        <p:spPr bwMode="auto">
          <a:xfrm>
            <a:off x="4076700" y="5764560"/>
            <a:ext cx="1200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Universes</a:t>
            </a:r>
          </a:p>
        </p:txBody>
      </p:sp>
      <p:sp>
        <p:nvSpPr>
          <p:cNvPr id="6179" name="Line 35"/>
          <p:cNvSpPr>
            <a:spLocks noChangeShapeType="1"/>
          </p:cNvSpPr>
          <p:nvPr/>
        </p:nvSpPr>
        <p:spPr bwMode="auto">
          <a:xfrm flipH="1" flipV="1">
            <a:off x="3695700" y="3021360"/>
            <a:ext cx="6096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0" name="AutoShape 36"/>
          <p:cNvSpPr>
            <a:spLocks noChangeArrowheads="1"/>
          </p:cNvSpPr>
          <p:nvPr/>
        </p:nvSpPr>
        <p:spPr bwMode="auto">
          <a:xfrm>
            <a:off x="4610100" y="3554760"/>
            <a:ext cx="914400" cy="304800"/>
          </a:xfrm>
          <a:prstGeom prst="wedgeRectCallout">
            <a:avLst>
              <a:gd name="adj1" fmla="val -103648"/>
              <a:gd name="adj2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i="1"/>
              <a:t>about</a:t>
            </a:r>
          </a:p>
        </p:txBody>
      </p:sp>
    </p:spTree>
    <p:extLst>
      <p:ext uri="{BB962C8B-B14F-4D97-AF65-F5344CB8AC3E}">
        <p14:creationId xmlns:p14="http://schemas.microsoft.com/office/powerpoint/2010/main" val="3495321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0" grpId="0" animBg="1"/>
      <p:bldP spid="6152" grpId="0" animBg="1"/>
      <p:bldP spid="6153" grpId="0" animBg="1"/>
      <p:bldP spid="6154" grpId="0" animBg="1"/>
      <p:bldP spid="6156" grpId="0" animBg="1"/>
      <p:bldP spid="6157" grpId="0" animBg="1"/>
      <p:bldP spid="6158" grpId="0" animBg="1"/>
      <p:bldP spid="6159" grpId="0" animBg="1"/>
      <p:bldP spid="6160" grpId="0" animBg="1"/>
      <p:bldP spid="6161" grpId="0" animBg="1"/>
      <p:bldP spid="6162" grpId="0" animBg="1"/>
      <p:bldP spid="6163" grpId="0" animBg="1"/>
      <p:bldP spid="6165" grpId="0" animBg="1"/>
      <p:bldP spid="6166" grpId="0" animBg="1"/>
      <p:bldP spid="6167" grpId="0" animBg="1"/>
      <p:bldP spid="6168" grpId="0" animBg="1"/>
      <p:bldP spid="6169" grpId="0" animBg="1"/>
      <p:bldP spid="6170" grpId="0" animBg="1"/>
      <p:bldP spid="6171" grpId="0" animBg="1"/>
      <p:bldP spid="6172" grpId="0" animBg="1"/>
      <p:bldP spid="6173" grpId="0" animBg="1"/>
      <p:bldP spid="6174" grpId="0" animBg="1"/>
      <p:bldP spid="6175" grpId="0" animBg="1"/>
      <p:bldP spid="6176" grpId="0" animBg="1"/>
      <p:bldP spid="6177" grpId="0" animBg="1"/>
      <p:bldP spid="6178" grpId="0"/>
      <p:bldP spid="6179" grpId="0" animBg="1"/>
      <p:bldP spid="618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ChangeArrowheads="1"/>
          </p:cNvSpPr>
          <p:nvPr/>
        </p:nvSpPr>
        <p:spPr bwMode="auto">
          <a:xfrm>
            <a:off x="838200" y="125916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2291" name="Rectangle 5"/>
          <p:cNvSpPr>
            <a:spLocks noChangeArrowheads="1"/>
          </p:cNvSpPr>
          <p:nvPr/>
        </p:nvSpPr>
        <p:spPr bwMode="auto">
          <a:xfrm>
            <a:off x="990600" y="141156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2292" name="Rectangle 6"/>
          <p:cNvSpPr>
            <a:spLocks noChangeArrowheads="1"/>
          </p:cNvSpPr>
          <p:nvPr/>
        </p:nvSpPr>
        <p:spPr bwMode="auto">
          <a:xfrm>
            <a:off x="1143000" y="156396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2293" name="Rectangle 7"/>
          <p:cNvSpPr>
            <a:spLocks noChangeArrowheads="1"/>
          </p:cNvSpPr>
          <p:nvPr/>
        </p:nvSpPr>
        <p:spPr bwMode="auto">
          <a:xfrm>
            <a:off x="1295400" y="171636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2294" name="Rectangle 8"/>
          <p:cNvSpPr>
            <a:spLocks noChangeArrowheads="1"/>
          </p:cNvSpPr>
          <p:nvPr/>
        </p:nvSpPr>
        <p:spPr bwMode="auto">
          <a:xfrm>
            <a:off x="1447800" y="186876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2295" name="Rectangle 9"/>
          <p:cNvSpPr>
            <a:spLocks noChangeArrowheads="1"/>
          </p:cNvSpPr>
          <p:nvPr/>
        </p:nvSpPr>
        <p:spPr bwMode="auto">
          <a:xfrm>
            <a:off x="1600200" y="202116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Questions</a:t>
            </a:r>
          </a:p>
        </p:txBody>
      </p:sp>
      <p:sp>
        <p:nvSpPr>
          <p:cNvPr id="7179" name="Rectangle 11"/>
          <p:cNvSpPr>
            <a:spLocks noChangeArrowheads="1"/>
          </p:cNvSpPr>
          <p:nvPr/>
        </p:nvSpPr>
        <p:spPr bwMode="auto">
          <a:xfrm>
            <a:off x="990600" y="461196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7180" name="Rectangle 12"/>
          <p:cNvSpPr>
            <a:spLocks noChangeArrowheads="1"/>
          </p:cNvSpPr>
          <p:nvPr/>
        </p:nvSpPr>
        <p:spPr bwMode="auto">
          <a:xfrm>
            <a:off x="1143000" y="476436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7181" name="Rectangle 13"/>
          <p:cNvSpPr>
            <a:spLocks noChangeArrowheads="1"/>
          </p:cNvSpPr>
          <p:nvPr/>
        </p:nvSpPr>
        <p:spPr bwMode="auto">
          <a:xfrm>
            <a:off x="1295400" y="491676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7182" name="Rectangle 14"/>
          <p:cNvSpPr>
            <a:spLocks noChangeArrowheads="1"/>
          </p:cNvSpPr>
          <p:nvPr/>
        </p:nvSpPr>
        <p:spPr bwMode="auto">
          <a:xfrm>
            <a:off x="1447800" y="506916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7183" name="Rectangle 15"/>
          <p:cNvSpPr>
            <a:spLocks noChangeArrowheads="1"/>
          </p:cNvSpPr>
          <p:nvPr/>
        </p:nvSpPr>
        <p:spPr bwMode="auto">
          <a:xfrm>
            <a:off x="1600200" y="522156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7184" name="Rectangle 16"/>
          <p:cNvSpPr>
            <a:spLocks noChangeArrowheads="1"/>
          </p:cNvSpPr>
          <p:nvPr/>
        </p:nvSpPr>
        <p:spPr bwMode="auto">
          <a:xfrm>
            <a:off x="1752600" y="537396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Responses</a:t>
            </a:r>
          </a:p>
        </p:txBody>
      </p:sp>
      <p:sp>
        <p:nvSpPr>
          <p:cNvPr id="7185" name="Line 17"/>
          <p:cNvSpPr>
            <a:spLocks noChangeShapeType="1"/>
          </p:cNvSpPr>
          <p:nvPr/>
        </p:nvSpPr>
        <p:spPr bwMode="auto">
          <a:xfrm flipV="1">
            <a:off x="1828800" y="2859360"/>
            <a:ext cx="0" cy="1676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6" name="AutoShape 18"/>
          <p:cNvSpPr>
            <a:spLocks noChangeArrowheads="1"/>
          </p:cNvSpPr>
          <p:nvPr/>
        </p:nvSpPr>
        <p:spPr bwMode="auto">
          <a:xfrm>
            <a:off x="2209800" y="3621360"/>
            <a:ext cx="1143000" cy="457200"/>
          </a:xfrm>
          <a:prstGeom prst="wedgeRectCallout">
            <a:avLst>
              <a:gd name="adj1" fmla="val -81667"/>
              <a:gd name="adj2" fmla="val 5659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i="1"/>
              <a:t>collect</a:t>
            </a:r>
          </a:p>
        </p:txBody>
      </p:sp>
      <p:sp>
        <p:nvSpPr>
          <p:cNvPr id="7187" name="AutoShape 19" descr="Large grid"/>
          <p:cNvSpPr>
            <a:spLocks noChangeArrowheads="1"/>
          </p:cNvSpPr>
          <p:nvPr/>
        </p:nvSpPr>
        <p:spPr bwMode="auto">
          <a:xfrm>
            <a:off x="4495800" y="4383360"/>
            <a:ext cx="2133600" cy="1447800"/>
          </a:xfrm>
          <a:prstGeom prst="cube">
            <a:avLst>
              <a:gd name="adj" fmla="val 25000"/>
            </a:avLst>
          </a:prstGeom>
          <a:pattFill prst="lgGrid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nl-NL"/>
          </a:p>
        </p:txBody>
      </p:sp>
      <p:sp>
        <p:nvSpPr>
          <p:cNvPr id="7188" name="Line 20"/>
          <p:cNvSpPr>
            <a:spLocks noChangeShapeType="1"/>
          </p:cNvSpPr>
          <p:nvPr/>
        </p:nvSpPr>
        <p:spPr bwMode="auto">
          <a:xfrm flipH="1">
            <a:off x="3276600" y="5602560"/>
            <a:ext cx="1143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9" name="AutoShape 21"/>
          <p:cNvSpPr>
            <a:spLocks noChangeArrowheads="1"/>
          </p:cNvSpPr>
          <p:nvPr/>
        </p:nvSpPr>
        <p:spPr bwMode="auto">
          <a:xfrm>
            <a:off x="3429000" y="6288360"/>
            <a:ext cx="1447800" cy="381000"/>
          </a:xfrm>
          <a:prstGeom prst="wedgeRectCallout">
            <a:avLst>
              <a:gd name="adj1" fmla="val -25111"/>
              <a:gd name="adj2" fmla="val -2258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i="1"/>
              <a:t>resulting in</a:t>
            </a:r>
          </a:p>
        </p:txBody>
      </p:sp>
      <p:sp>
        <p:nvSpPr>
          <p:cNvPr id="7191" name="Text Box 23"/>
          <p:cNvSpPr txBox="1">
            <a:spLocks noChangeArrowheads="1"/>
          </p:cNvSpPr>
          <p:nvPr/>
        </p:nvSpPr>
        <p:spPr bwMode="auto">
          <a:xfrm>
            <a:off x="4724400" y="5831160"/>
            <a:ext cx="1524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Data Files</a:t>
            </a:r>
          </a:p>
        </p:txBody>
      </p:sp>
      <p:sp>
        <p:nvSpPr>
          <p:cNvPr id="7192" name="Rectangle 24"/>
          <p:cNvSpPr>
            <a:spLocks noChangeArrowheads="1"/>
          </p:cNvSpPr>
          <p:nvPr/>
        </p:nvSpPr>
        <p:spPr bwMode="auto">
          <a:xfrm>
            <a:off x="4191000" y="2249760"/>
            <a:ext cx="16764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7193" name="Rectangle 25"/>
          <p:cNvSpPr>
            <a:spLocks noChangeArrowheads="1"/>
          </p:cNvSpPr>
          <p:nvPr/>
        </p:nvSpPr>
        <p:spPr bwMode="auto">
          <a:xfrm>
            <a:off x="4343400" y="2402160"/>
            <a:ext cx="16764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7194" name="Rectangle 26"/>
          <p:cNvSpPr>
            <a:spLocks noChangeArrowheads="1"/>
          </p:cNvSpPr>
          <p:nvPr/>
        </p:nvSpPr>
        <p:spPr bwMode="auto">
          <a:xfrm>
            <a:off x="4495800" y="2554560"/>
            <a:ext cx="16764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7195" name="Rectangle 27"/>
          <p:cNvSpPr>
            <a:spLocks noChangeArrowheads="1"/>
          </p:cNvSpPr>
          <p:nvPr/>
        </p:nvSpPr>
        <p:spPr bwMode="auto">
          <a:xfrm>
            <a:off x="4648200" y="2706960"/>
            <a:ext cx="16764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7196" name="Rectangle 28"/>
          <p:cNvSpPr>
            <a:spLocks noChangeArrowheads="1"/>
          </p:cNvSpPr>
          <p:nvPr/>
        </p:nvSpPr>
        <p:spPr bwMode="auto">
          <a:xfrm>
            <a:off x="4800600" y="2859360"/>
            <a:ext cx="16764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Variables</a:t>
            </a:r>
          </a:p>
        </p:txBody>
      </p:sp>
      <p:sp>
        <p:nvSpPr>
          <p:cNvPr id="7198" name="Line 30"/>
          <p:cNvSpPr>
            <a:spLocks noChangeShapeType="1"/>
          </p:cNvSpPr>
          <p:nvPr/>
        </p:nvSpPr>
        <p:spPr bwMode="auto">
          <a:xfrm>
            <a:off x="5486400" y="3621360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9" name="AutoShape 31"/>
          <p:cNvSpPr>
            <a:spLocks noChangeArrowheads="1"/>
          </p:cNvSpPr>
          <p:nvPr/>
        </p:nvSpPr>
        <p:spPr bwMode="auto">
          <a:xfrm>
            <a:off x="5791200" y="3697560"/>
            <a:ext cx="1371600" cy="381000"/>
          </a:xfrm>
          <a:prstGeom prst="wedgeRectCallout">
            <a:avLst>
              <a:gd name="adj1" fmla="val -70718"/>
              <a:gd name="adj2" fmla="val 5875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i="1"/>
              <a:t>made up of</a:t>
            </a:r>
          </a:p>
        </p:txBody>
      </p:sp>
      <p:sp>
        <p:nvSpPr>
          <p:cNvPr id="7200" name="AutoShape 32"/>
          <p:cNvSpPr>
            <a:spLocks noChangeArrowheads="1"/>
          </p:cNvSpPr>
          <p:nvPr/>
        </p:nvSpPr>
        <p:spPr bwMode="auto">
          <a:xfrm>
            <a:off x="7086600" y="878160"/>
            <a:ext cx="1600200" cy="1447800"/>
          </a:xfrm>
          <a:prstGeom prst="flowChartMultidocumen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Categories/</a:t>
            </a:r>
          </a:p>
          <a:p>
            <a:pPr algn="ctr"/>
            <a:r>
              <a:rPr lang="en-US"/>
              <a:t>Codes,</a:t>
            </a:r>
          </a:p>
          <a:p>
            <a:pPr algn="ctr"/>
            <a:r>
              <a:rPr lang="en-US"/>
              <a:t>Numbers</a:t>
            </a:r>
          </a:p>
        </p:txBody>
      </p:sp>
      <p:sp>
        <p:nvSpPr>
          <p:cNvPr id="7202" name="Line 34"/>
          <p:cNvSpPr>
            <a:spLocks noChangeShapeType="1"/>
          </p:cNvSpPr>
          <p:nvPr/>
        </p:nvSpPr>
        <p:spPr bwMode="auto">
          <a:xfrm flipH="1">
            <a:off x="5791200" y="1335360"/>
            <a:ext cx="12192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3" name="AutoShape 35"/>
          <p:cNvSpPr>
            <a:spLocks noChangeArrowheads="1"/>
          </p:cNvSpPr>
          <p:nvPr/>
        </p:nvSpPr>
        <p:spPr bwMode="auto">
          <a:xfrm>
            <a:off x="4648200" y="1106760"/>
            <a:ext cx="1676400" cy="381000"/>
          </a:xfrm>
          <a:prstGeom prst="wedgeRectCallout">
            <a:avLst>
              <a:gd name="adj1" fmla="val 41949"/>
              <a:gd name="adj2" fmla="val 131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i="1"/>
              <a:t>with values of</a:t>
            </a:r>
          </a:p>
        </p:txBody>
      </p:sp>
    </p:spTree>
    <p:extLst>
      <p:ext uri="{BB962C8B-B14F-4D97-AF65-F5344CB8AC3E}">
        <p14:creationId xmlns:p14="http://schemas.microsoft.com/office/powerpoint/2010/main" val="1052258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9" grpId="0" animBg="1"/>
      <p:bldP spid="7180" grpId="0" animBg="1"/>
      <p:bldP spid="7181" grpId="0" animBg="1"/>
      <p:bldP spid="7182" grpId="0" animBg="1"/>
      <p:bldP spid="7183" grpId="0" animBg="1"/>
      <p:bldP spid="7184" grpId="0" animBg="1"/>
      <p:bldP spid="7185" grpId="0" animBg="1"/>
      <p:bldP spid="7186" grpId="0" animBg="1"/>
      <p:bldP spid="7187" grpId="0" animBg="1"/>
      <p:bldP spid="7188" grpId="0" animBg="1"/>
      <p:bldP spid="7189" grpId="0" animBg="1"/>
      <p:bldP spid="7191" grpId="0"/>
      <p:bldP spid="7192" grpId="0" animBg="1"/>
      <p:bldP spid="7193" grpId="0" animBg="1"/>
      <p:bldP spid="7194" grpId="0" animBg="1"/>
      <p:bldP spid="7195" grpId="0" animBg="1"/>
      <p:bldP spid="7196" grpId="0" animBg="1"/>
      <p:bldP spid="7198" grpId="0" animBg="1"/>
      <p:bldP spid="7199" grpId="0" animBg="1"/>
      <p:bldP spid="7200" grpId="0" animBg="1"/>
      <p:bldP spid="7202" grpId="0" animBg="1"/>
      <p:bldP spid="720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14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en-US" dirty="0" smtClean="0"/>
              <a:t>What comes next?</a:t>
            </a:r>
            <a:endParaRPr lang="en-US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467544" y="2564904"/>
            <a:ext cx="3816424" cy="4032448"/>
          </a:xfrm>
        </p:spPr>
        <p:txBody>
          <a:bodyPr>
            <a:normAutofit/>
          </a:bodyPr>
          <a:lstStyle/>
          <a:p>
            <a:r>
              <a:rPr lang="en-US" sz="2000" dirty="0" smtClean="0"/>
              <a:t>Missy – General Information</a:t>
            </a:r>
          </a:p>
          <a:p>
            <a:pPr lvl="1"/>
            <a:r>
              <a:rPr lang="en-US" sz="1600" dirty="0" smtClean="0"/>
              <a:t>Requirements</a:t>
            </a:r>
            <a:r>
              <a:rPr lang="de-DE" sz="1600" dirty="0" smtClean="0"/>
              <a:t> </a:t>
            </a:r>
            <a:r>
              <a:rPr lang="de-DE" sz="1600" dirty="0" err="1" smtClean="0"/>
              <a:t>to</a:t>
            </a:r>
            <a:r>
              <a:rPr lang="de-DE" sz="1600" dirty="0" smtClean="0"/>
              <a:t> Developers</a:t>
            </a:r>
            <a:endParaRPr lang="en-US" sz="1600" dirty="0" smtClean="0"/>
          </a:p>
          <a:p>
            <a:pPr lvl="1"/>
            <a:r>
              <a:rPr lang="en-US" sz="1600" dirty="0"/>
              <a:t>Use-Cases in Missy</a:t>
            </a:r>
            <a:endParaRPr lang="en-US" sz="1600" dirty="0" smtClean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Software Architecture</a:t>
            </a:r>
          </a:p>
          <a:p>
            <a:pPr lvl="1"/>
            <a:r>
              <a:rPr lang="en-US" sz="1600" dirty="0" smtClean="0"/>
              <a:t>Multitier</a:t>
            </a:r>
          </a:p>
          <a:p>
            <a:pPr lvl="1"/>
            <a:r>
              <a:rPr lang="en-US" sz="1600" dirty="0" smtClean="0"/>
              <a:t>MVC</a:t>
            </a:r>
          </a:p>
          <a:p>
            <a:r>
              <a:rPr lang="en-US" sz="2000" dirty="0"/>
              <a:t>Missy Data Model</a:t>
            </a:r>
          </a:p>
          <a:p>
            <a:pPr lvl="1"/>
            <a:r>
              <a:rPr lang="en-US" sz="1600" dirty="0"/>
              <a:t>Extendable Data Model</a:t>
            </a:r>
            <a:endParaRPr lang="en-US" dirty="0" smtClean="0"/>
          </a:p>
          <a:p>
            <a:pPr lvl="1"/>
            <a:endParaRPr lang="en-US" sz="1600" dirty="0" smtClean="0"/>
          </a:p>
        </p:txBody>
      </p:sp>
      <p:sp>
        <p:nvSpPr>
          <p:cNvPr id="7" name="Inhaltsplatzhalter 2"/>
          <p:cNvSpPr txBox="1">
            <a:spLocks/>
          </p:cNvSpPr>
          <p:nvPr/>
        </p:nvSpPr>
        <p:spPr>
          <a:xfrm>
            <a:off x="4572000" y="2575830"/>
            <a:ext cx="4283968" cy="4069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DDI-L Overview</a:t>
            </a:r>
          </a:p>
          <a:p>
            <a:r>
              <a:rPr lang="en-US" sz="1800" b="1" dirty="0" smtClean="0">
                <a:solidFill>
                  <a:srgbClr val="FF3399"/>
                </a:solidFill>
              </a:rPr>
              <a:t>Identification, Versioning, Maintenance</a:t>
            </a:r>
          </a:p>
          <a:p>
            <a:r>
              <a:rPr lang="en-US" sz="1800" dirty="0" smtClean="0"/>
              <a:t>DDI-L Main Structures</a:t>
            </a:r>
          </a:p>
          <a:p>
            <a:r>
              <a:rPr lang="en-US" sz="1800" dirty="0" smtClean="0"/>
              <a:t>DDI Instance</a:t>
            </a:r>
          </a:p>
          <a:p>
            <a:r>
              <a:rPr lang="en-US" sz="1800" dirty="0" smtClean="0"/>
              <a:t>Study Unit</a:t>
            </a:r>
          </a:p>
          <a:p>
            <a:endParaRPr lang="en-US" sz="1800" dirty="0"/>
          </a:p>
          <a:p>
            <a:r>
              <a:rPr lang="en-US" sz="1800" dirty="0" smtClean="0"/>
              <a:t>Conceptual Component</a:t>
            </a:r>
          </a:p>
          <a:p>
            <a:r>
              <a:rPr lang="en-US" sz="1800" dirty="0" smtClean="0"/>
              <a:t>Logical Products</a:t>
            </a:r>
          </a:p>
          <a:p>
            <a:r>
              <a:rPr lang="en-US" sz="1800" dirty="0" smtClean="0"/>
              <a:t>Data Collection</a:t>
            </a:r>
          </a:p>
          <a:p>
            <a:r>
              <a:rPr lang="en-US" sz="1800" dirty="0" smtClean="0"/>
              <a:t>disco-model</a:t>
            </a:r>
          </a:p>
          <a:p>
            <a:endParaRPr lang="en-US" sz="1800" dirty="0" smtClean="0"/>
          </a:p>
        </p:txBody>
      </p:sp>
      <p:sp>
        <p:nvSpPr>
          <p:cNvPr id="8" name="Abgerundetes Rechteck 7"/>
          <p:cNvSpPr/>
          <p:nvPr/>
        </p:nvSpPr>
        <p:spPr>
          <a:xfrm>
            <a:off x="195349" y="2457271"/>
            <a:ext cx="8716791" cy="1944216"/>
          </a:xfrm>
          <a:prstGeom prst="round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bgerundetes Rechteck 8"/>
          <p:cNvSpPr/>
          <p:nvPr/>
        </p:nvSpPr>
        <p:spPr>
          <a:xfrm>
            <a:off x="175689" y="4509120"/>
            <a:ext cx="8716791" cy="1813405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feld 9"/>
          <p:cNvSpPr txBox="1"/>
          <p:nvPr/>
        </p:nvSpPr>
        <p:spPr>
          <a:xfrm>
            <a:off x="323528" y="4026550"/>
            <a:ext cx="12697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tx2"/>
                </a:solidFill>
              </a:rPr>
              <a:t>Presentation</a:t>
            </a:r>
            <a:endParaRPr lang="en-US" sz="1600" b="1" dirty="0">
              <a:solidFill>
                <a:schemeClr val="tx2"/>
              </a:solidFill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80312" y="5898758"/>
            <a:ext cx="1393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Business Layer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107505" y="4509120"/>
            <a:ext cx="8928992" cy="1988840"/>
          </a:xfrm>
          <a:prstGeom prst="rect">
            <a:avLst/>
          </a:prstGeom>
          <a:solidFill>
            <a:schemeClr val="bg1">
              <a:alpha val="53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548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15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Element Types</a:t>
            </a:r>
            <a:endParaRPr lang="en-US"/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0" y="5661248"/>
            <a:ext cx="9144000" cy="9361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mtClean="0"/>
              <a:t>IDs must be unique within maintainables</a:t>
            </a:r>
            <a:endParaRPr lang="de-DE"/>
          </a:p>
          <a:p>
            <a:pPr marL="0" indent="0" algn="ctr">
              <a:buNone/>
            </a:pPr>
            <a:r>
              <a:rPr lang="de-DE" smtClean="0"/>
              <a:t>Not identified elements are </a:t>
            </a:r>
            <a:r>
              <a:rPr lang="en-US" smtClean="0"/>
              <a:t>contained </a:t>
            </a:r>
            <a:r>
              <a:rPr lang="en-US"/>
              <a:t>by </a:t>
            </a:r>
            <a:r>
              <a:rPr lang="en-US" smtClean="0"/>
              <a:t>other element types</a:t>
            </a:r>
            <a:endParaRPr lang="en-US"/>
          </a:p>
          <a:p>
            <a:pPr algn="ctr"/>
            <a:endParaRPr lang="de-DE" smtClean="0"/>
          </a:p>
          <a:p>
            <a:pPr algn="ctr"/>
            <a:endParaRPr lang="en-US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38" y="2132856"/>
            <a:ext cx="7248525" cy="309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6367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Identification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852936"/>
            <a:ext cx="8229600" cy="280831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de-DE" sz="3200" smtClean="0">
                <a:solidFill>
                  <a:srgbClr val="FF3399"/>
                </a:solidFill>
              </a:rPr>
              <a:t>Agency, ID, Version</a:t>
            </a:r>
          </a:p>
          <a:p>
            <a:pPr marL="0" indent="0" algn="ctr">
              <a:buNone/>
            </a:pPr>
            <a:endParaRPr lang="de-DE" sz="3200">
              <a:solidFill>
                <a:srgbClr val="FF3399"/>
              </a:solidFill>
            </a:endParaRPr>
          </a:p>
          <a:p>
            <a:pPr marL="0" indent="0" algn="ctr">
              <a:buNone/>
            </a:pPr>
            <a:r>
              <a:rPr lang="de-DE" sz="3200"/>
              <a:t>o</a:t>
            </a:r>
            <a:r>
              <a:rPr lang="de-DE" sz="3200" smtClean="0"/>
              <a:t>r</a:t>
            </a:r>
            <a:r>
              <a:rPr lang="de-DE" sz="3200" smtClean="0">
                <a:solidFill>
                  <a:srgbClr val="FF3399"/>
                </a:solidFill>
              </a:rPr>
              <a:t> </a:t>
            </a:r>
          </a:p>
          <a:p>
            <a:pPr marL="0" indent="0" algn="ctr">
              <a:buNone/>
            </a:pPr>
            <a:endParaRPr lang="de-DE" sz="3200">
              <a:solidFill>
                <a:srgbClr val="FF3399"/>
              </a:solidFill>
            </a:endParaRPr>
          </a:p>
          <a:p>
            <a:pPr marL="0" indent="0" algn="ctr">
              <a:buNone/>
            </a:pPr>
            <a:r>
              <a:rPr lang="de-DE" sz="3200" smtClean="0">
                <a:solidFill>
                  <a:srgbClr val="FF3399"/>
                </a:solidFill>
              </a:rPr>
              <a:t>URN (= Agency + ID + Version)</a:t>
            </a:r>
            <a:endParaRPr lang="en-US" sz="3200">
              <a:solidFill>
                <a:srgbClr val="FF3399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5109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989856"/>
            <a:ext cx="9144000" cy="1143000"/>
          </a:xfrm>
        </p:spPr>
        <p:txBody>
          <a:bodyPr/>
          <a:lstStyle/>
          <a:p>
            <a:r>
              <a:rPr lang="de-DE" smtClean="0"/>
              <a:t>Referencing Maintainables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17</a:t>
            </a:fld>
            <a:endParaRPr lang="de-DE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2322537"/>
            <a:ext cx="6629400" cy="391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4466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Schemes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0" y="5445224"/>
            <a:ext cx="9144000" cy="1224136"/>
          </a:xfrm>
        </p:spPr>
        <p:txBody>
          <a:bodyPr/>
          <a:lstStyle/>
          <a:p>
            <a:pPr marL="0" lvl="1" indent="0" algn="ctr">
              <a:buNone/>
            </a:pPr>
            <a:r>
              <a:rPr lang="en-US"/>
              <a:t>Very often, </a:t>
            </a:r>
            <a:r>
              <a:rPr lang="en-US" smtClean="0"/>
              <a:t>identifiable and versionable </a:t>
            </a:r>
            <a:r>
              <a:rPr lang="en-US"/>
              <a:t>elements </a:t>
            </a:r>
            <a:r>
              <a:rPr lang="en-US" smtClean="0"/>
              <a:t>are </a:t>
            </a:r>
            <a:r>
              <a:rPr lang="en-US"/>
              <a:t>maintained in parent </a:t>
            </a:r>
            <a:r>
              <a:rPr lang="en-US" smtClean="0"/>
              <a:t>schemes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18</a:t>
            </a:fld>
            <a:endParaRPr lang="de-DE"/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358752"/>
            <a:ext cx="53340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6481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Maintenance Rules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19</a:t>
            </a:fld>
            <a:endParaRPr lang="de-DE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57200" y="2492896"/>
            <a:ext cx="8229600" cy="42672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b="1">
                <a:solidFill>
                  <a:srgbClr val="FF3399"/>
                </a:solidFill>
              </a:rPr>
              <a:t>M</a:t>
            </a:r>
            <a:r>
              <a:rPr lang="en-US" b="1" smtClean="0">
                <a:solidFill>
                  <a:srgbClr val="FF3399"/>
                </a:solidFill>
              </a:rPr>
              <a:t>aintenance Agency </a:t>
            </a:r>
          </a:p>
          <a:p>
            <a:pPr>
              <a:lnSpc>
                <a:spcPct val="90000"/>
              </a:lnSpc>
            </a:pPr>
            <a:r>
              <a:rPr lang="en-US" sz="2000"/>
              <a:t>identified by a reserved code (based on its domain name; similar to it’s website and e-mail)</a:t>
            </a:r>
          </a:p>
          <a:p>
            <a:pPr>
              <a:lnSpc>
                <a:spcPct val="90000"/>
              </a:lnSpc>
            </a:pPr>
            <a:r>
              <a:rPr lang="en-US" sz="2000" b="1" smtClean="0">
                <a:solidFill>
                  <a:srgbClr val="FF3399"/>
                </a:solidFill>
              </a:rPr>
              <a:t>Registration</a:t>
            </a:r>
            <a:r>
              <a:rPr lang="en-US" sz="2000" smtClean="0"/>
              <a:t> </a:t>
            </a:r>
            <a:r>
              <a:rPr lang="en-US" sz="2100"/>
              <a:t>of maintenance </a:t>
            </a:r>
            <a:r>
              <a:rPr lang="en-US" sz="2100" smtClean="0"/>
              <a:t>agency (</a:t>
            </a:r>
            <a:r>
              <a:rPr lang="de-DE" sz="2100" smtClean="0"/>
              <a:t>e.g. GESIS)</a:t>
            </a:r>
            <a:endParaRPr lang="en-US" sz="2100"/>
          </a:p>
          <a:p>
            <a:pPr>
              <a:lnSpc>
                <a:spcPct val="90000"/>
              </a:lnSpc>
            </a:pPr>
            <a:endParaRPr lang="en-US" sz="2000" smtClean="0">
              <a:solidFill>
                <a:srgbClr val="FFC00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de-DE" b="1" smtClean="0">
                <a:solidFill>
                  <a:srgbClr val="FF3399"/>
                </a:solidFill>
              </a:rPr>
              <a:t>Ownership</a:t>
            </a:r>
            <a:endParaRPr lang="en-US" b="1" smtClean="0">
              <a:solidFill>
                <a:srgbClr val="FF3399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000"/>
              <a:t>Maintenance agencies own the objects they maintain</a:t>
            </a:r>
          </a:p>
          <a:p>
            <a:pPr>
              <a:lnSpc>
                <a:spcPct val="90000"/>
              </a:lnSpc>
            </a:pPr>
            <a:r>
              <a:rPr lang="en-US" sz="2000"/>
              <a:t>Only they are allowed to change or version the </a:t>
            </a:r>
            <a:r>
              <a:rPr lang="en-US" sz="2000" smtClean="0"/>
              <a:t>objects</a:t>
            </a:r>
          </a:p>
          <a:p>
            <a:pPr>
              <a:lnSpc>
                <a:spcPct val="90000"/>
              </a:lnSpc>
            </a:pPr>
            <a:endParaRPr lang="en-US" sz="200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de-DE" b="1" smtClean="0">
                <a:solidFill>
                  <a:srgbClr val="FF3399"/>
                </a:solidFill>
              </a:rPr>
              <a:t>Reference</a:t>
            </a:r>
            <a:endParaRPr lang="en-US" b="1" smtClean="0">
              <a:solidFill>
                <a:srgbClr val="FF3399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200"/>
              <a:t>Other organizations may reference external items in their own schemes, but may not change those items</a:t>
            </a:r>
          </a:p>
          <a:p>
            <a:pPr>
              <a:lnSpc>
                <a:spcPct val="90000"/>
              </a:lnSpc>
            </a:pPr>
            <a:r>
              <a:rPr lang="en-US" sz="2200"/>
              <a:t>You can make a copy which you change and maintain, but once you do that, you own it!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418183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Versioning Rules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20</a:t>
            </a:fld>
            <a:endParaRPr lang="de-DE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9568" y="2490465"/>
            <a:ext cx="2282552" cy="3530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6543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Identifiable (DDI 3.1 XML)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mtClean="0"/>
              <a:t>&lt;DataItem </a:t>
            </a:r>
            <a:r>
              <a:rPr lang="en-US" b="1" smtClean="0">
                <a:solidFill>
                  <a:srgbClr val="FF3399"/>
                </a:solidFill>
              </a:rPr>
              <a:t>id</a:t>
            </a:r>
            <a:r>
              <a:rPr lang="en-US" smtClean="0"/>
              <a:t>=“AB347”&gt;</a:t>
            </a:r>
            <a:endParaRPr lang="en-US"/>
          </a:p>
          <a:p>
            <a:pPr marL="0" indent="0">
              <a:buNone/>
            </a:pPr>
            <a:r>
              <a:rPr lang="en-US"/>
              <a:t>   …</a:t>
            </a:r>
          </a:p>
          <a:p>
            <a:pPr marL="0" indent="0">
              <a:buNone/>
            </a:pPr>
            <a:r>
              <a:rPr lang="en-US" smtClean="0"/>
              <a:t>&lt;/DataItem</a:t>
            </a:r>
            <a:r>
              <a:rPr lang="en-US"/>
              <a:t>&gt;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7412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Versionable (DDI 3.1 XML)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500306"/>
            <a:ext cx="8229600" cy="42410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mtClean="0"/>
              <a:t>&lt;Variable </a:t>
            </a:r>
            <a:r>
              <a:rPr lang="en-US"/>
              <a:t>id=“V1” </a:t>
            </a:r>
            <a:r>
              <a:rPr lang="en-US" b="1">
                <a:solidFill>
                  <a:srgbClr val="FF3399"/>
                </a:solidFill>
              </a:rPr>
              <a:t>version</a:t>
            </a:r>
            <a:r>
              <a:rPr lang="en-US"/>
              <a:t>=“1.1.0” </a:t>
            </a:r>
            <a:r>
              <a:rPr lang="en-US" b="1">
                <a:solidFill>
                  <a:srgbClr val="FF3399"/>
                </a:solidFill>
              </a:rPr>
              <a:t>versionDate</a:t>
            </a:r>
            <a:r>
              <a:rPr lang="en-US"/>
              <a:t>=“</a:t>
            </a:r>
            <a:r>
              <a:rPr lang="en-US" smtClean="0"/>
              <a:t>20012-11-12”&gt;</a:t>
            </a:r>
            <a:endParaRPr lang="en-US"/>
          </a:p>
          <a:p>
            <a:pPr marL="0" indent="0">
              <a:buNone/>
            </a:pPr>
            <a:r>
              <a:rPr lang="en-US" smtClean="0"/>
              <a:t>    &lt;</a:t>
            </a:r>
            <a:r>
              <a:rPr lang="en-US" b="1" smtClean="0">
                <a:solidFill>
                  <a:srgbClr val="FF3399"/>
                </a:solidFill>
              </a:rPr>
              <a:t>VersionResponsibility</a:t>
            </a:r>
            <a:r>
              <a:rPr lang="en-US" smtClean="0"/>
              <a:t>&gt;</a:t>
            </a:r>
          </a:p>
          <a:p>
            <a:pPr marL="0" indent="0">
              <a:buNone/>
            </a:pPr>
            <a:r>
              <a:rPr lang="en-US"/>
              <a:t> </a:t>
            </a:r>
            <a:r>
              <a:rPr lang="en-US" smtClean="0"/>
              <a:t>       Thomas Bosch</a:t>
            </a:r>
          </a:p>
          <a:p>
            <a:pPr marL="0" indent="0">
              <a:buNone/>
            </a:pPr>
            <a:r>
              <a:rPr lang="en-US"/>
              <a:t> </a:t>
            </a:r>
            <a:r>
              <a:rPr lang="en-US" smtClean="0"/>
              <a:t>   &lt;/VersionResponsibility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/>
              <a:t>   </a:t>
            </a:r>
            <a:r>
              <a:rPr lang="en-US" smtClean="0"/>
              <a:t>&lt;</a:t>
            </a:r>
            <a:r>
              <a:rPr lang="en-US" b="1" smtClean="0">
                <a:solidFill>
                  <a:srgbClr val="FF3399"/>
                </a:solidFill>
              </a:rPr>
              <a:t>VersionRationale</a:t>
            </a:r>
            <a:r>
              <a:rPr lang="en-US" smtClean="0"/>
              <a:t>&gt;</a:t>
            </a:r>
          </a:p>
          <a:p>
            <a:pPr marL="0" indent="0">
              <a:buNone/>
            </a:pPr>
            <a:r>
              <a:rPr lang="en-US"/>
              <a:t> </a:t>
            </a:r>
            <a:r>
              <a:rPr lang="en-US" smtClean="0"/>
              <a:t>       Spelling Correction</a:t>
            </a:r>
          </a:p>
          <a:p>
            <a:pPr marL="0" indent="0">
              <a:buNone/>
            </a:pPr>
            <a:r>
              <a:rPr lang="en-US"/>
              <a:t> </a:t>
            </a:r>
            <a:r>
              <a:rPr lang="en-US" smtClean="0"/>
              <a:t>   &lt;/VersionRationale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/>
              <a:t>   …</a:t>
            </a:r>
          </a:p>
          <a:p>
            <a:pPr marL="0" indent="0">
              <a:buNone/>
            </a:pPr>
            <a:r>
              <a:rPr lang="en-US" smtClean="0"/>
              <a:t>&lt;/Variable </a:t>
            </a:r>
            <a:r>
              <a:rPr lang="en-US"/>
              <a:t>&gt;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2665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Maintainable (DDI 3.1 XML)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mtClean="0"/>
              <a:t>&lt;VariableScheme </a:t>
            </a:r>
          </a:p>
          <a:p>
            <a:pPr marL="0" indent="0">
              <a:buNone/>
            </a:pPr>
            <a:r>
              <a:rPr lang="en-US"/>
              <a:t> </a:t>
            </a:r>
            <a:r>
              <a:rPr lang="en-US" smtClean="0"/>
              <a:t>   </a:t>
            </a:r>
            <a:r>
              <a:rPr lang="en-US" b="1" smtClean="0">
                <a:solidFill>
                  <a:srgbClr val="FF3399"/>
                </a:solidFill>
              </a:rPr>
              <a:t>id</a:t>
            </a:r>
            <a:r>
              <a:rPr lang="en-US"/>
              <a:t>=“VarSch01” </a:t>
            </a:r>
            <a:endParaRPr lang="en-US" smtClean="0"/>
          </a:p>
          <a:p>
            <a:pPr marL="0" indent="0">
              <a:buNone/>
            </a:pPr>
            <a:r>
              <a:rPr lang="en-US"/>
              <a:t> </a:t>
            </a:r>
            <a:r>
              <a:rPr lang="en-US" smtClean="0"/>
              <a:t>   </a:t>
            </a:r>
            <a:r>
              <a:rPr lang="en-US" b="1" smtClean="0">
                <a:solidFill>
                  <a:srgbClr val="FF3399"/>
                </a:solidFill>
              </a:rPr>
              <a:t>agency</a:t>
            </a:r>
            <a:r>
              <a:rPr lang="en-US" smtClean="0"/>
              <a:t> </a:t>
            </a:r>
            <a:r>
              <a:rPr lang="en-US"/>
              <a:t>=“us.mpc” </a:t>
            </a:r>
            <a:endParaRPr lang="en-US" smtClean="0"/>
          </a:p>
          <a:p>
            <a:pPr marL="0" indent="0">
              <a:buNone/>
            </a:pPr>
            <a:r>
              <a:rPr lang="en-US"/>
              <a:t> </a:t>
            </a:r>
            <a:r>
              <a:rPr lang="en-US" smtClean="0"/>
              <a:t>   </a:t>
            </a:r>
            <a:r>
              <a:rPr lang="en-US" b="1" smtClean="0">
                <a:solidFill>
                  <a:srgbClr val="FF3399"/>
                </a:solidFill>
              </a:rPr>
              <a:t>version</a:t>
            </a:r>
            <a:r>
              <a:rPr lang="en-US"/>
              <a:t>=“1.4.0” </a:t>
            </a:r>
            <a:endParaRPr lang="en-US" smtClean="0"/>
          </a:p>
          <a:p>
            <a:pPr marL="0" indent="0">
              <a:buNone/>
            </a:pPr>
            <a:r>
              <a:rPr lang="en-US"/>
              <a:t> </a:t>
            </a:r>
            <a:r>
              <a:rPr lang="en-US" smtClean="0"/>
              <a:t>   versionDate</a:t>
            </a:r>
            <a:r>
              <a:rPr lang="en-US"/>
              <a:t>=“2009-02-12</a:t>
            </a:r>
            <a:r>
              <a:rPr lang="en-US" smtClean="0"/>
              <a:t>”&gt;</a:t>
            </a:r>
            <a:endParaRPr lang="en-US"/>
          </a:p>
          <a:p>
            <a:pPr marL="0" indent="0">
              <a:buNone/>
            </a:pPr>
            <a:r>
              <a:rPr lang="en-US"/>
              <a:t>   …</a:t>
            </a:r>
          </a:p>
          <a:p>
            <a:pPr marL="0" indent="0">
              <a:buNone/>
            </a:pPr>
            <a:r>
              <a:rPr lang="en-US" smtClean="0"/>
              <a:t>&lt;/VariableScheme&gt;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9200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URN (DDI 3.1)</a:t>
            </a:r>
            <a:endParaRPr lang="en-US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24</a:t>
            </a:fld>
            <a:endParaRPr lang="de-DE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0" y="2895600"/>
            <a:ext cx="9144000" cy="949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sz="2800" b="1" smtClean="0">
                <a:solidFill>
                  <a:srgbClr val="FF3399"/>
                </a:solidFill>
                <a:latin typeface="Courier New" pitchFamily="49" charset="0"/>
              </a:rPr>
              <a:t>urn</a:t>
            </a:r>
            <a:r>
              <a:rPr lang="en-US" sz="2800" b="1" smtClean="0">
                <a:latin typeface="Courier New" pitchFamily="49" charset="0"/>
              </a:rPr>
              <a:t>:ddi:us.mpc:VariableScheme. VarSch01.1.4.0:Variable.V1.1.1.0</a:t>
            </a:r>
            <a:endParaRPr lang="en-US" sz="2800" b="1" dirty="0" smtClean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05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URN (DDI 3.1)</a:t>
            </a:r>
            <a:endParaRPr lang="en-US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25</a:t>
            </a:fld>
            <a:endParaRPr lang="de-DE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0" y="2895600"/>
            <a:ext cx="9144000" cy="949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sz="2800" b="1" smtClean="0">
                <a:latin typeface="Courier New" pitchFamily="49" charset="0"/>
              </a:rPr>
              <a:t>urn:</a:t>
            </a:r>
            <a:r>
              <a:rPr lang="en-US" sz="2800" b="1" smtClean="0">
                <a:solidFill>
                  <a:srgbClr val="FF3399"/>
                </a:solidFill>
                <a:latin typeface="Courier New" pitchFamily="49" charset="0"/>
              </a:rPr>
              <a:t>ddi</a:t>
            </a:r>
            <a:r>
              <a:rPr lang="en-US" sz="2800" b="1" smtClean="0">
                <a:latin typeface="Courier New" pitchFamily="49" charset="0"/>
              </a:rPr>
              <a:t>:us.mpc:VariableScheme. VarSch01.1.4.0:Variable.V1.1.1.0</a:t>
            </a:r>
            <a:endParaRPr lang="en-US" sz="2800" b="1" dirty="0" smtClean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082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URN (DDI 3.1)</a:t>
            </a:r>
            <a:endParaRPr lang="en-US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26</a:t>
            </a:fld>
            <a:endParaRPr lang="de-DE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0" y="2895600"/>
            <a:ext cx="9144000" cy="949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sz="2800" b="1" smtClean="0">
                <a:latin typeface="Courier New" pitchFamily="49" charset="0"/>
              </a:rPr>
              <a:t>urn:ddi:</a:t>
            </a:r>
            <a:r>
              <a:rPr lang="en-US" sz="2800" b="1" smtClean="0">
                <a:solidFill>
                  <a:srgbClr val="FF3399"/>
                </a:solidFill>
                <a:latin typeface="Courier New" pitchFamily="49" charset="0"/>
              </a:rPr>
              <a:t>us.mpc</a:t>
            </a:r>
            <a:r>
              <a:rPr lang="en-US" sz="2800" b="1" smtClean="0">
                <a:latin typeface="Courier New" pitchFamily="49" charset="0"/>
              </a:rPr>
              <a:t>:VariableScheme. VarSch01.1.4.0:Variable.V1.1.1.0</a:t>
            </a:r>
            <a:endParaRPr lang="en-US" sz="2800" b="1" dirty="0" smtClean="0">
              <a:latin typeface="Courier New" pitchFamily="49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0" y="4437112"/>
            <a:ext cx="9144000" cy="2125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0000"/>
              </a:lnSpc>
              <a:buNone/>
            </a:pPr>
            <a:r>
              <a:rPr lang="de-DE" sz="2000" smtClean="0"/>
              <a:t>Maintaining agency</a:t>
            </a:r>
          </a:p>
        </p:txBody>
      </p:sp>
    </p:spTree>
    <p:extLst>
      <p:ext uri="{BB962C8B-B14F-4D97-AF65-F5344CB8AC3E}">
        <p14:creationId xmlns:p14="http://schemas.microsoft.com/office/powerpoint/2010/main" val="4104349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URN (DDI 3.1)</a:t>
            </a:r>
            <a:endParaRPr lang="en-US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27</a:t>
            </a:fld>
            <a:endParaRPr lang="de-DE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0" y="2895600"/>
            <a:ext cx="9144000" cy="949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sz="2800" b="1" smtClean="0">
                <a:latin typeface="Courier New" pitchFamily="49" charset="0"/>
              </a:rPr>
              <a:t>urn:ddi:us.mpc:</a:t>
            </a:r>
            <a:r>
              <a:rPr lang="en-US" sz="2800" b="1" smtClean="0">
                <a:solidFill>
                  <a:srgbClr val="FF3399"/>
                </a:solidFill>
                <a:latin typeface="Courier New" pitchFamily="49" charset="0"/>
              </a:rPr>
              <a:t>VariableScheme. VarSch01.1.4.0</a:t>
            </a:r>
            <a:r>
              <a:rPr lang="en-US" sz="2800" b="1" smtClean="0">
                <a:latin typeface="Courier New" pitchFamily="49" charset="0"/>
              </a:rPr>
              <a:t>:Variable.V1.1.1.0</a:t>
            </a:r>
            <a:endParaRPr lang="en-US" sz="2800" b="1" dirty="0" smtClean="0">
              <a:latin typeface="Courier New" pitchFamily="49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0" y="4437112"/>
            <a:ext cx="9144000" cy="2125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0000"/>
              </a:lnSpc>
              <a:buNone/>
            </a:pPr>
            <a:r>
              <a:rPr lang="de-DE" sz="2000" smtClean="0"/>
              <a:t>Maintainable (e</a:t>
            </a:r>
            <a:r>
              <a:rPr lang="en-US" sz="2000" smtClean="0"/>
              <a:t>lement type, ID, version)</a:t>
            </a:r>
            <a:endParaRPr lang="en-US" sz="2000"/>
          </a:p>
          <a:p>
            <a:pPr marL="0" indent="0" algn="ctr">
              <a:lnSpc>
                <a:spcPct val="80000"/>
              </a:lnSpc>
              <a:buNone/>
            </a:pP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2798966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URN (DDI 3.1)</a:t>
            </a:r>
            <a:endParaRPr lang="en-US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28</a:t>
            </a:fld>
            <a:endParaRPr lang="de-DE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0" y="2895600"/>
            <a:ext cx="9144000" cy="949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sz="2800" b="1" smtClean="0">
                <a:latin typeface="Courier New" pitchFamily="49" charset="0"/>
              </a:rPr>
              <a:t>urn:ddi:us.mpc:VariableScheme. VarSch01.1.4.0:</a:t>
            </a:r>
            <a:r>
              <a:rPr lang="en-US" sz="2800" b="1" smtClean="0">
                <a:solidFill>
                  <a:srgbClr val="FF3399"/>
                </a:solidFill>
                <a:latin typeface="Courier New" pitchFamily="49" charset="0"/>
              </a:rPr>
              <a:t>Variable.V1.1.1.0</a:t>
            </a:r>
            <a:endParaRPr lang="en-US" sz="2800" b="1" dirty="0" smtClean="0">
              <a:solidFill>
                <a:srgbClr val="FF3399"/>
              </a:solidFill>
              <a:latin typeface="Courier New" pitchFamily="49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0" y="4437112"/>
            <a:ext cx="9144000" cy="2125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0000"/>
              </a:lnSpc>
              <a:buNone/>
            </a:pPr>
            <a:r>
              <a:rPr lang="en-US" sz="2000" smtClean="0"/>
              <a:t>Identifiable (element type, ID, version number)</a:t>
            </a:r>
          </a:p>
          <a:p>
            <a:pPr marL="0" indent="0" algn="ctr">
              <a:lnSpc>
                <a:spcPct val="80000"/>
              </a:lnSpc>
              <a:buNone/>
            </a:pPr>
            <a:endParaRPr lang="en-US" sz="2000" smtClean="0"/>
          </a:p>
          <a:p>
            <a:pPr marL="0" indent="0" algn="ctr">
              <a:lnSpc>
                <a:spcPct val="80000"/>
              </a:lnSpc>
              <a:buNone/>
            </a:pPr>
            <a:r>
              <a:rPr lang="en-US" sz="2000" smtClean="0"/>
              <a:t>ID </a:t>
            </a:r>
            <a:r>
              <a:rPr lang="en-US" sz="2000"/>
              <a:t>must be unique within </a:t>
            </a:r>
            <a:r>
              <a:rPr lang="en-US" sz="2000" smtClean="0"/>
              <a:t>maintainable</a:t>
            </a:r>
            <a:endParaRPr lang="en-US" sz="2000"/>
          </a:p>
          <a:p>
            <a:pPr marL="0" indent="0" algn="ctr">
              <a:lnSpc>
                <a:spcPct val="80000"/>
              </a:lnSpc>
              <a:buNone/>
            </a:pPr>
            <a:endParaRPr lang="en-US" sz="2000"/>
          </a:p>
          <a:p>
            <a:pPr marL="0" indent="0" algn="ctr">
              <a:lnSpc>
                <a:spcPct val="80000"/>
              </a:lnSpc>
              <a:buNone/>
            </a:pP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3159619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URN Resolution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>
                <a:solidFill>
                  <a:srgbClr val="FF3399"/>
                </a:solidFill>
              </a:rPr>
              <a:t>DNS-based </a:t>
            </a:r>
            <a:r>
              <a:rPr lang="en-US">
                <a:solidFill>
                  <a:srgbClr val="FF3399"/>
                </a:solidFill>
              </a:rPr>
              <a:t>resolution for DDI </a:t>
            </a:r>
            <a:r>
              <a:rPr lang="en-US" smtClean="0">
                <a:solidFill>
                  <a:srgbClr val="FF3399"/>
                </a:solidFill>
              </a:rPr>
              <a:t>services</a:t>
            </a:r>
          </a:p>
          <a:p>
            <a:pPr lvl="1"/>
            <a:r>
              <a:rPr lang="en-US" smtClean="0"/>
              <a:t>URN </a:t>
            </a:r>
            <a:r>
              <a:rPr lang="en-US"/>
              <a:t>can be resolved by DNS </a:t>
            </a:r>
            <a:r>
              <a:rPr lang="en-US" smtClean="0"/>
              <a:t>means</a:t>
            </a:r>
          </a:p>
          <a:p>
            <a:pPr lvl="1"/>
            <a:r>
              <a:rPr lang="en-US" smtClean="0">
                <a:solidFill>
                  <a:srgbClr val="FF3399"/>
                </a:solidFill>
              </a:rPr>
              <a:t>http</a:t>
            </a:r>
            <a:r>
              <a:rPr lang="en-US">
                <a:solidFill>
                  <a:srgbClr val="FF3399"/>
                </a:solidFill>
              </a:rPr>
              <a:t>://registry.ddialliance.org</a:t>
            </a:r>
            <a:r>
              <a:rPr lang="en-US" smtClean="0">
                <a:solidFill>
                  <a:srgbClr val="FF3399"/>
                </a:solidFill>
              </a:rPr>
              <a:t>/</a:t>
            </a:r>
          </a:p>
          <a:p>
            <a:pPr lvl="2"/>
            <a:r>
              <a:rPr lang="en-US"/>
              <a:t>details and </a:t>
            </a:r>
            <a:r>
              <a:rPr lang="en-US" smtClean="0"/>
              <a:t>library </a:t>
            </a:r>
          </a:p>
          <a:p>
            <a:pPr lvl="2"/>
            <a:r>
              <a:rPr lang="en-US" smtClean="0"/>
              <a:t>list </a:t>
            </a:r>
            <a:r>
              <a:rPr lang="en-US"/>
              <a:t>of available DNS services for this DDI </a:t>
            </a:r>
            <a:r>
              <a:rPr lang="en-US" smtClean="0"/>
              <a:t>agency</a:t>
            </a:r>
            <a:endParaRPr lang="en-US"/>
          </a:p>
          <a:p>
            <a:r>
              <a:rPr lang="en-US"/>
              <a:t>URNs are mapped to local </a:t>
            </a:r>
            <a:r>
              <a:rPr lang="en-US" smtClean="0"/>
              <a:t>URLs</a:t>
            </a:r>
            <a:endParaRPr lang="en-US"/>
          </a:p>
          <a:p>
            <a:r>
              <a:rPr lang="en-US"/>
              <a:t>XML Catalog </a:t>
            </a:r>
            <a:r>
              <a:rPr lang="en-US" smtClean="0"/>
              <a:t>can be used as simple resolution mechanism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259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30</a:t>
            </a:fld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5419767"/>
            <a:ext cx="8229600" cy="88955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/>
              <a:t>(Agency, </a:t>
            </a:r>
            <a:r>
              <a:rPr lang="de-DE" smtClean="0"/>
              <a:t>ID, Version) </a:t>
            </a:r>
            <a:r>
              <a:rPr lang="de-DE"/>
              <a:t>vs. URN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mtClean="0"/>
              <a:t>Often</a:t>
            </a:r>
            <a:r>
              <a:rPr lang="en-US"/>
              <a:t>, these are </a:t>
            </a:r>
            <a:r>
              <a:rPr lang="en-US" b="1">
                <a:solidFill>
                  <a:srgbClr val="FF3399"/>
                </a:solidFill>
              </a:rPr>
              <a:t>inherited</a:t>
            </a:r>
            <a:r>
              <a:rPr lang="en-US" b="1"/>
              <a:t> </a:t>
            </a:r>
            <a:r>
              <a:rPr lang="en-US"/>
              <a:t>from a maintainable </a:t>
            </a:r>
            <a:r>
              <a:rPr lang="en-US" smtClean="0"/>
              <a:t>object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de-DE" smtClean="0"/>
              <a:t>Referencing (DDI 3.1)</a:t>
            </a:r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650" y="2415902"/>
            <a:ext cx="5600700" cy="238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7260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Referencing (DDI 3.1 + 3.2)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636912"/>
            <a:ext cx="8229600" cy="4221088"/>
          </a:xfrm>
        </p:spPr>
        <p:txBody>
          <a:bodyPr>
            <a:normAutofit/>
          </a:bodyPr>
          <a:lstStyle/>
          <a:p>
            <a:r>
              <a:rPr lang="de-DE" b="1" smtClean="0">
                <a:solidFill>
                  <a:srgbClr val="FF3399"/>
                </a:solidFill>
              </a:rPr>
              <a:t>Internal</a:t>
            </a:r>
          </a:p>
          <a:p>
            <a:pPr lvl="1"/>
            <a:r>
              <a:rPr lang="de-DE" smtClean="0"/>
              <a:t>In same DDI Instance</a:t>
            </a:r>
          </a:p>
          <a:p>
            <a:pPr lvl="1"/>
            <a:r>
              <a:rPr lang="de-DE" smtClean="0"/>
              <a:t>(agency, ID, version)</a:t>
            </a:r>
          </a:p>
          <a:p>
            <a:pPr lvl="2">
              <a:lnSpc>
                <a:spcPct val="90000"/>
              </a:lnSpc>
            </a:pPr>
            <a:r>
              <a:rPr lang="en-US">
                <a:solidFill>
                  <a:srgbClr val="FF3399"/>
                </a:solidFill>
              </a:rPr>
              <a:t>Maintainable</a:t>
            </a:r>
            <a:r>
              <a:rPr lang="en-US"/>
              <a:t> (</a:t>
            </a:r>
            <a:r>
              <a:rPr lang="en-US" sz="1400"/>
              <a:t>agency, </a:t>
            </a:r>
            <a:r>
              <a:rPr lang="en-US" sz="1400" smtClean="0"/>
              <a:t>ID, version)</a:t>
            </a:r>
            <a:endParaRPr lang="en-US" sz="1400"/>
          </a:p>
          <a:p>
            <a:pPr lvl="2">
              <a:lnSpc>
                <a:spcPct val="90000"/>
              </a:lnSpc>
            </a:pPr>
            <a:r>
              <a:rPr lang="en-US"/>
              <a:t>Identifiable (ID), versionable (</a:t>
            </a:r>
            <a:r>
              <a:rPr lang="en-US" sz="1400"/>
              <a:t>ID, version</a:t>
            </a:r>
            <a:r>
              <a:rPr lang="en-US" sz="1400" smtClean="0"/>
              <a:t>)</a:t>
            </a:r>
            <a:endParaRPr lang="de-DE" smtClean="0"/>
          </a:p>
          <a:p>
            <a:r>
              <a:rPr lang="de-DE" b="1" smtClean="0">
                <a:solidFill>
                  <a:srgbClr val="FF3399"/>
                </a:solidFill>
              </a:rPr>
              <a:t>External</a:t>
            </a:r>
          </a:p>
          <a:p>
            <a:pPr lvl="1"/>
            <a:r>
              <a:rPr lang="de-DE" smtClean="0"/>
              <a:t>To other DDI Instances</a:t>
            </a:r>
          </a:p>
          <a:p>
            <a:pPr lvl="1"/>
            <a:r>
              <a:rPr lang="de-DE" b="1" smtClean="0">
                <a:solidFill>
                  <a:srgbClr val="FF3399"/>
                </a:solidFill>
              </a:rPr>
              <a:t>URN &gt; (agency, ID, version)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2108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Internal </a:t>
            </a:r>
            <a:r>
              <a:rPr lang="de-DE" smtClean="0"/>
              <a:t>Reference </a:t>
            </a:r>
            <a:r>
              <a:rPr lang="de-DE"/>
              <a:t>(DDI 3.1)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420888"/>
            <a:ext cx="8229600" cy="4357694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/>
              <a:t>&lt;</a:t>
            </a:r>
            <a:r>
              <a:rPr lang="en-US" b="1">
                <a:solidFill>
                  <a:srgbClr val="FF3399"/>
                </a:solidFill>
              </a:rPr>
              <a:t>VariableReference</a:t>
            </a:r>
            <a:r>
              <a:rPr lang="en-US"/>
              <a:t> isReference=“true” isExternal=“false” lateBound=“false”&gt;</a:t>
            </a:r>
          </a:p>
          <a:p>
            <a:pPr>
              <a:lnSpc>
                <a:spcPct val="80000"/>
              </a:lnSpc>
              <a:buNone/>
            </a:pPr>
            <a:r>
              <a:rPr lang="en-US"/>
              <a:t> </a:t>
            </a:r>
            <a:r>
              <a:rPr lang="en-US" smtClean="0"/>
              <a:t> &lt;</a:t>
            </a:r>
            <a:r>
              <a:rPr lang="en-US" b="1">
                <a:solidFill>
                  <a:srgbClr val="FF3399"/>
                </a:solidFill>
              </a:rPr>
              <a:t>Scheme</a:t>
            </a:r>
            <a:r>
              <a:rPr lang="en-US"/>
              <a:t> isReference=“true” isExternal=“</a:t>
            </a:r>
            <a:r>
              <a:rPr lang="en-US" smtClean="0"/>
              <a:t>false” lateBound</a:t>
            </a:r>
            <a:r>
              <a:rPr lang="en-US"/>
              <a:t>=“false”&gt;</a:t>
            </a:r>
          </a:p>
          <a:p>
            <a:pPr>
              <a:lnSpc>
                <a:spcPct val="80000"/>
              </a:lnSpc>
              <a:buNone/>
            </a:pPr>
            <a:r>
              <a:rPr lang="en-US"/>
              <a:t>  </a:t>
            </a:r>
            <a:r>
              <a:rPr lang="en-US" smtClean="0"/>
              <a:t>  &lt;</a:t>
            </a:r>
            <a:r>
              <a:rPr lang="en-US"/>
              <a:t>ID&gt;VarSch01&lt;/ID&gt;</a:t>
            </a:r>
          </a:p>
          <a:p>
            <a:pPr>
              <a:lnSpc>
                <a:spcPct val="80000"/>
              </a:lnSpc>
              <a:buNone/>
            </a:pPr>
            <a:r>
              <a:rPr lang="en-US"/>
              <a:t>  </a:t>
            </a:r>
            <a:r>
              <a:rPr lang="en-US" smtClean="0"/>
              <a:t>  &lt;</a:t>
            </a:r>
            <a:r>
              <a:rPr lang="en-US"/>
              <a:t>IdenftifyingAgency&gt;us.mpc&lt;/IdentifyingAgency&gt;</a:t>
            </a:r>
          </a:p>
          <a:p>
            <a:pPr>
              <a:lnSpc>
                <a:spcPct val="80000"/>
              </a:lnSpc>
              <a:buNone/>
            </a:pPr>
            <a:r>
              <a:rPr lang="en-US"/>
              <a:t>  </a:t>
            </a:r>
            <a:r>
              <a:rPr lang="en-US" smtClean="0"/>
              <a:t>  &lt;</a:t>
            </a:r>
            <a:r>
              <a:rPr lang="en-US"/>
              <a:t>Version&gt;1.4.0&lt;/Version&gt;</a:t>
            </a:r>
          </a:p>
          <a:p>
            <a:pPr>
              <a:lnSpc>
                <a:spcPct val="80000"/>
              </a:lnSpc>
              <a:buNone/>
            </a:pPr>
            <a:r>
              <a:rPr lang="en-US" smtClean="0"/>
              <a:t>  </a:t>
            </a:r>
            <a:r>
              <a:rPr lang="en-US"/>
              <a:t>&lt;/Scheme&gt;</a:t>
            </a:r>
          </a:p>
          <a:p>
            <a:pPr>
              <a:lnSpc>
                <a:spcPct val="80000"/>
              </a:lnSpc>
              <a:buNone/>
            </a:pPr>
            <a:r>
              <a:rPr lang="en-US"/>
              <a:t>  &lt;</a:t>
            </a:r>
            <a:r>
              <a:rPr lang="en-US" b="1">
                <a:solidFill>
                  <a:srgbClr val="FF3399"/>
                </a:solidFill>
              </a:rPr>
              <a:t>ID</a:t>
            </a:r>
            <a:r>
              <a:rPr lang="en-US"/>
              <a:t>&gt;V1&lt;/ID&gt;</a:t>
            </a:r>
          </a:p>
          <a:p>
            <a:pPr>
              <a:lnSpc>
                <a:spcPct val="80000"/>
              </a:lnSpc>
              <a:buNone/>
            </a:pPr>
            <a:r>
              <a:rPr lang="en-US"/>
              <a:t>  &lt;IdenftifyingAgency&gt;us.mpc&lt;/IdentifyingAgency&gt;</a:t>
            </a:r>
          </a:p>
          <a:p>
            <a:pPr>
              <a:lnSpc>
                <a:spcPct val="80000"/>
              </a:lnSpc>
              <a:buNone/>
            </a:pPr>
            <a:r>
              <a:rPr lang="en-US"/>
              <a:t>  &lt;</a:t>
            </a:r>
            <a:r>
              <a:rPr lang="en-US" b="1">
                <a:solidFill>
                  <a:srgbClr val="FF3399"/>
                </a:solidFill>
              </a:rPr>
              <a:t>Version</a:t>
            </a:r>
            <a:r>
              <a:rPr lang="en-US"/>
              <a:t>&gt;1.1.0&lt;/Version&gt;</a:t>
            </a:r>
          </a:p>
          <a:p>
            <a:pPr>
              <a:lnSpc>
                <a:spcPct val="80000"/>
              </a:lnSpc>
              <a:buNone/>
            </a:pPr>
            <a:r>
              <a:rPr lang="en-US"/>
              <a:t>&lt;/VariableReference&gt;</a:t>
            </a:r>
          </a:p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2400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External Reference </a:t>
            </a:r>
            <a:r>
              <a:rPr lang="de-DE"/>
              <a:t>(DDI 3.1)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599698"/>
            <a:ext cx="8229600" cy="435769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/>
              <a:t>&lt;</a:t>
            </a:r>
            <a:r>
              <a:rPr lang="en-US" b="1">
                <a:solidFill>
                  <a:srgbClr val="FF3399"/>
                </a:solidFill>
              </a:rPr>
              <a:t>VariableReference</a:t>
            </a:r>
            <a:r>
              <a:rPr lang="en-US"/>
              <a:t> isReference=“true” isExternal=“true” lateBound=“false”&gt;</a:t>
            </a:r>
          </a:p>
          <a:p>
            <a:pPr>
              <a:buNone/>
            </a:pPr>
            <a:r>
              <a:rPr lang="en-US" smtClean="0"/>
              <a:t>    </a:t>
            </a:r>
          </a:p>
          <a:p>
            <a:pPr>
              <a:buNone/>
            </a:pPr>
            <a:r>
              <a:rPr lang="en-US"/>
              <a:t>	</a:t>
            </a:r>
            <a:r>
              <a:rPr lang="en-US" smtClean="0"/>
              <a:t>&lt;</a:t>
            </a:r>
            <a:r>
              <a:rPr lang="en-US" b="1" smtClean="0">
                <a:solidFill>
                  <a:srgbClr val="FF3399"/>
                </a:solidFill>
              </a:rPr>
              <a:t>urn</a:t>
            </a:r>
            <a:r>
              <a:rPr lang="en-US" smtClean="0"/>
              <a:t>&gt;</a:t>
            </a:r>
          </a:p>
          <a:p>
            <a:pPr>
              <a:buNone/>
            </a:pPr>
            <a:r>
              <a:rPr lang="en-US"/>
              <a:t>	</a:t>
            </a:r>
            <a:r>
              <a:rPr lang="en-US" smtClean="0"/>
              <a:t>	urn:ddi:us.mpc:VariableScheme.VarSch01.1.4.0:Variable.	V1.1.1.0</a:t>
            </a:r>
          </a:p>
          <a:p>
            <a:pPr>
              <a:buNone/>
            </a:pPr>
            <a:r>
              <a:rPr lang="en-US"/>
              <a:t>	</a:t>
            </a:r>
            <a:r>
              <a:rPr lang="en-US" smtClean="0"/>
              <a:t>&lt;/</a:t>
            </a:r>
            <a:r>
              <a:rPr lang="en-US"/>
              <a:t>urn</a:t>
            </a:r>
            <a:r>
              <a:rPr lang="en-US" smtClean="0"/>
              <a:t>&gt;</a:t>
            </a:r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/>
              <a:t>&lt;/VariableReference&gt;</a:t>
            </a:r>
          </a:p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45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Identifiers (DDI 3.2)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611455"/>
            <a:ext cx="8229600" cy="4057905"/>
          </a:xfrm>
        </p:spPr>
        <p:txBody>
          <a:bodyPr>
            <a:normAutofit fontScale="92500" lnSpcReduction="20000"/>
          </a:bodyPr>
          <a:lstStyle/>
          <a:p>
            <a:r>
              <a:rPr lang="de-DE" b="1" smtClean="0">
                <a:solidFill>
                  <a:srgbClr val="FF3399"/>
                </a:solidFill>
              </a:rPr>
              <a:t>Why new IDs? </a:t>
            </a:r>
            <a:endParaRPr lang="en-US" b="1" smtClean="0">
              <a:solidFill>
                <a:srgbClr val="FF3399"/>
              </a:solidFill>
            </a:endParaRPr>
          </a:p>
          <a:p>
            <a:pPr lvl="1"/>
            <a:r>
              <a:rPr lang="en-US" smtClean="0"/>
              <a:t>better </a:t>
            </a:r>
            <a:r>
              <a:rPr lang="en-US"/>
              <a:t>support </a:t>
            </a:r>
            <a:r>
              <a:rPr lang="en-US" smtClean="0"/>
              <a:t>of persistent identification (less semantics, context information)</a:t>
            </a:r>
          </a:p>
          <a:p>
            <a:r>
              <a:rPr lang="de-DE" b="1" smtClean="0">
                <a:solidFill>
                  <a:srgbClr val="FF3399"/>
                </a:solidFill>
              </a:rPr>
              <a:t>URN or (agency, ID, version)</a:t>
            </a:r>
          </a:p>
          <a:p>
            <a:r>
              <a:rPr lang="de-DE" b="1">
                <a:solidFill>
                  <a:srgbClr val="FF3399"/>
                </a:solidFill>
              </a:rPr>
              <a:t>Version changes?</a:t>
            </a:r>
          </a:p>
          <a:p>
            <a:pPr lvl="1"/>
            <a:r>
              <a:rPr lang="de-DE"/>
              <a:t>Administrative metadata </a:t>
            </a:r>
            <a:r>
              <a:rPr lang="de-DE">
                <a:sym typeface="Wingdings" pitchFamily="2" charset="2"/>
              </a:rPr>
              <a:t> No</a:t>
            </a:r>
          </a:p>
          <a:p>
            <a:pPr lvl="1"/>
            <a:r>
              <a:rPr lang="de-DE">
                <a:sym typeface="Wingdings" pitchFamily="2" charset="2"/>
              </a:rPr>
              <a:t>Payload metadata  yes</a:t>
            </a:r>
            <a:r>
              <a:rPr lang="de-DE"/>
              <a:t> </a:t>
            </a:r>
          </a:p>
          <a:p>
            <a:r>
              <a:rPr lang="de-DE" b="1">
                <a:solidFill>
                  <a:srgbClr val="FF3399"/>
                </a:solidFill>
              </a:rPr>
              <a:t>No </a:t>
            </a:r>
            <a:r>
              <a:rPr lang="de-DE" b="1" smtClean="0">
                <a:solidFill>
                  <a:srgbClr val="FF3399"/>
                </a:solidFill>
              </a:rPr>
              <a:t>inheritance</a:t>
            </a:r>
          </a:p>
          <a:p>
            <a:pPr lvl="1"/>
            <a:r>
              <a:rPr lang="de-DE" smtClean="0"/>
              <a:t>Why? (implementation problems, …)</a:t>
            </a:r>
          </a:p>
          <a:p>
            <a:r>
              <a:rPr lang="de-DE" b="1" smtClean="0">
                <a:solidFill>
                  <a:srgbClr val="FF3399"/>
                </a:solidFill>
              </a:rPr>
              <a:t>Deprecated vs. Canonical IDs</a:t>
            </a:r>
          </a:p>
          <a:p>
            <a:pPr lvl="1"/>
            <a:r>
              <a:rPr lang="de-DE" smtClean="0"/>
              <a:t>Deprecated (no version of maintainables)</a:t>
            </a:r>
          </a:p>
          <a:p>
            <a:pPr lvl="1"/>
            <a:r>
              <a:rPr lang="en-US"/>
              <a:t>Mechanism for roundtrip available between </a:t>
            </a:r>
            <a:r>
              <a:rPr lang="en-US" smtClean="0"/>
              <a:t>DDI 3.2 canonical ID, DDI 3.2 deprecated ID, DDI 3.1 ID</a:t>
            </a:r>
          </a:p>
          <a:p>
            <a:endParaRPr lang="de-DE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117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Canonical URN (DDI 3.2)</a:t>
            </a:r>
            <a:endParaRPr lang="en-US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35</a:t>
            </a:fld>
            <a:endParaRPr lang="de-DE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0" y="2895600"/>
            <a:ext cx="9144000" cy="949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sz="2800" b="1" smtClean="0">
                <a:latin typeface="Courier New" pitchFamily="49" charset="0"/>
              </a:rPr>
              <a:t>urn:ddi:us.mpc:</a:t>
            </a:r>
            <a:r>
              <a:rPr lang="en-US" sz="2800" b="1" smtClean="0">
                <a:solidFill>
                  <a:srgbClr val="FF0000"/>
                </a:solidFill>
                <a:latin typeface="Courier New" pitchFamily="49" charset="0"/>
              </a:rPr>
              <a:t>VariableScheme. VarSch01.1.4.0</a:t>
            </a:r>
            <a:r>
              <a:rPr lang="en-US" sz="2800" b="1" smtClean="0">
                <a:latin typeface="Courier New" pitchFamily="49" charset="0"/>
              </a:rPr>
              <a:t>:Variable.V1.1.1.0</a:t>
            </a:r>
            <a:endParaRPr lang="en-US" sz="2800" b="1" dirty="0" smtClean="0">
              <a:latin typeface="Courier New" pitchFamily="49" charset="0"/>
            </a:endParaRP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457200" y="4195631"/>
            <a:ext cx="8229600" cy="362585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mtClean="0">
                <a:solidFill>
                  <a:srgbClr val="FF0000"/>
                </a:solidFill>
              </a:rPr>
              <a:t>No maintainables</a:t>
            </a:r>
          </a:p>
        </p:txBody>
      </p:sp>
    </p:spTree>
    <p:extLst>
      <p:ext uri="{BB962C8B-B14F-4D97-AF65-F5344CB8AC3E}">
        <p14:creationId xmlns:p14="http://schemas.microsoft.com/office/powerpoint/2010/main" val="1205602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Canonical URN (DDI 3.2)</a:t>
            </a:r>
            <a:endParaRPr lang="en-US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36</a:t>
            </a:fld>
            <a:endParaRPr lang="de-DE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0" y="2895600"/>
            <a:ext cx="9144000" cy="949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sz="2800" b="1" smtClean="0">
                <a:latin typeface="Courier New" pitchFamily="49" charset="0"/>
              </a:rPr>
              <a:t>urn:ddi:us.mpc:Variable.V1.1.1.0</a:t>
            </a:r>
            <a:endParaRPr lang="en-US" sz="2800" b="1" dirty="0" smtClean="0">
              <a:latin typeface="Courier New" pitchFamily="49" charset="0"/>
            </a:endParaRP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457200" y="4195631"/>
            <a:ext cx="8229600" cy="362585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mtClean="0">
                <a:solidFill>
                  <a:srgbClr val="00B050"/>
                </a:solidFill>
              </a:rPr>
              <a:t>No maintainables</a:t>
            </a:r>
          </a:p>
        </p:txBody>
      </p:sp>
    </p:spTree>
    <p:extLst>
      <p:ext uri="{BB962C8B-B14F-4D97-AF65-F5344CB8AC3E}">
        <p14:creationId xmlns:p14="http://schemas.microsoft.com/office/powerpoint/2010/main" val="1425432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Canonical URN (DDI 3.2)</a:t>
            </a:r>
            <a:endParaRPr lang="en-US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37</a:t>
            </a:fld>
            <a:endParaRPr lang="de-DE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0" y="2895600"/>
            <a:ext cx="9144000" cy="949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sz="2800" b="1" smtClean="0">
                <a:latin typeface="Courier New" pitchFamily="49" charset="0"/>
              </a:rPr>
              <a:t>urn:ddi:</a:t>
            </a:r>
            <a:r>
              <a:rPr lang="en-US" sz="2800" b="1" smtClean="0">
                <a:solidFill>
                  <a:srgbClr val="00B050"/>
                </a:solidFill>
                <a:latin typeface="Courier New" pitchFamily="49" charset="0"/>
              </a:rPr>
              <a:t>us.mpc</a:t>
            </a:r>
            <a:r>
              <a:rPr lang="en-US" sz="2800" b="1" smtClean="0">
                <a:latin typeface="Courier New" pitchFamily="49" charset="0"/>
              </a:rPr>
              <a:t>:Variable.</a:t>
            </a:r>
            <a:r>
              <a:rPr lang="en-US" sz="2800" b="1" smtClean="0">
                <a:solidFill>
                  <a:srgbClr val="00B050"/>
                </a:solidFill>
                <a:latin typeface="Courier New" pitchFamily="49" charset="0"/>
              </a:rPr>
              <a:t>V1.1.1.0</a:t>
            </a:r>
            <a:endParaRPr lang="en-US" sz="2800" b="1" dirty="0" smtClean="0">
              <a:solidFill>
                <a:srgbClr val="00B050"/>
              </a:solidFill>
              <a:latin typeface="Courier New" pitchFamily="49" charset="0"/>
            </a:endParaRP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457200" y="4195631"/>
            <a:ext cx="8229600" cy="362585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de-DE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de-DE" smtClean="0">
                <a:solidFill>
                  <a:srgbClr val="00B050"/>
                </a:solidFill>
              </a:rPr>
              <a:t>Agency</a:t>
            </a:r>
            <a:r>
              <a:rPr lang="de-DE">
                <a:solidFill>
                  <a:srgbClr val="00B050"/>
                </a:solidFill>
              </a:rPr>
              <a:t>, </a:t>
            </a:r>
            <a:r>
              <a:rPr lang="de-DE" smtClean="0">
                <a:solidFill>
                  <a:srgbClr val="00B050"/>
                </a:solidFill>
              </a:rPr>
              <a:t>ID, version </a:t>
            </a:r>
            <a:r>
              <a:rPr lang="de-DE">
                <a:solidFill>
                  <a:srgbClr val="00B050"/>
                </a:solidFill>
              </a:rPr>
              <a:t>(</a:t>
            </a:r>
            <a:r>
              <a:rPr lang="de-DE" smtClean="0">
                <a:solidFill>
                  <a:srgbClr val="00B050"/>
                </a:solidFill>
              </a:rPr>
              <a:t>Identifiable, Versionable)</a:t>
            </a:r>
            <a:endParaRPr lang="de-DE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de-DE" smtClean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5077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Canonical URN (DDI 3.2)</a:t>
            </a:r>
            <a:endParaRPr lang="en-US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38</a:t>
            </a:fld>
            <a:endParaRPr lang="de-DE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0" y="2895600"/>
            <a:ext cx="9144000" cy="949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sz="2800" b="1" smtClean="0">
                <a:latin typeface="Courier New" pitchFamily="49" charset="0"/>
              </a:rPr>
              <a:t>urn:ddi:us.mpc:Variable.</a:t>
            </a:r>
            <a:r>
              <a:rPr lang="en-US" sz="2800" b="1" smtClean="0">
                <a:solidFill>
                  <a:srgbClr val="00B050"/>
                </a:solidFill>
                <a:latin typeface="Courier New" pitchFamily="49" charset="0"/>
              </a:rPr>
              <a:t>V1</a:t>
            </a:r>
            <a:r>
              <a:rPr lang="en-US" sz="2800" b="1" smtClean="0">
                <a:latin typeface="Courier New" pitchFamily="49" charset="0"/>
              </a:rPr>
              <a:t>.1.1.0</a:t>
            </a:r>
            <a:endParaRPr lang="en-US" sz="2800" b="1" dirty="0" smtClean="0">
              <a:latin typeface="Courier New" pitchFamily="49" charset="0"/>
            </a:endParaRP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457200" y="4195631"/>
            <a:ext cx="8229600" cy="362585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de-DE"/>
          </a:p>
          <a:p>
            <a:pPr marL="0" indent="0" algn="ctr">
              <a:buNone/>
            </a:pPr>
            <a:endParaRPr lang="de-DE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de-DE" smtClean="0">
                <a:solidFill>
                  <a:srgbClr val="00B050"/>
                </a:solidFill>
              </a:rPr>
              <a:t>ID </a:t>
            </a:r>
            <a:r>
              <a:rPr lang="de-DE">
                <a:solidFill>
                  <a:srgbClr val="00B050"/>
                </a:solidFill>
              </a:rPr>
              <a:t>unique in agency (not maintainable</a:t>
            </a:r>
            <a:r>
              <a:rPr lang="de-DE" smtClean="0">
                <a:solidFill>
                  <a:srgbClr val="00B05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2699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Canonical URN (DDI 3.2)</a:t>
            </a:r>
            <a:endParaRPr lang="en-US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39</a:t>
            </a:fld>
            <a:endParaRPr lang="de-DE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0" y="2895600"/>
            <a:ext cx="9144000" cy="949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sz="2800" b="1" smtClean="0">
                <a:latin typeface="Courier New" pitchFamily="49" charset="0"/>
              </a:rPr>
              <a:t>urn:ddi:us.mpc:</a:t>
            </a:r>
            <a:r>
              <a:rPr lang="en-US" sz="2800" b="1" smtClean="0">
                <a:solidFill>
                  <a:srgbClr val="00B050"/>
                </a:solidFill>
                <a:latin typeface="Courier New" pitchFamily="49" charset="0"/>
              </a:rPr>
              <a:t>Variable</a:t>
            </a:r>
            <a:r>
              <a:rPr lang="en-US" sz="2800" b="1" smtClean="0">
                <a:latin typeface="Courier New" pitchFamily="49" charset="0"/>
              </a:rPr>
              <a:t>.V1.1.1.0</a:t>
            </a:r>
            <a:endParaRPr lang="en-US" sz="2800" b="1" dirty="0" smtClean="0">
              <a:latin typeface="Courier New" pitchFamily="49" charset="0"/>
            </a:endParaRP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457200" y="4195631"/>
            <a:ext cx="8229600" cy="362585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de-DE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de-DE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de-DE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de-DE" smtClean="0">
                <a:solidFill>
                  <a:srgbClr val="00B050"/>
                </a:solidFill>
              </a:rPr>
              <a:t>No </a:t>
            </a:r>
            <a:r>
              <a:rPr lang="de-DE">
                <a:solidFill>
                  <a:srgbClr val="00B050"/>
                </a:solidFill>
              </a:rPr>
              <a:t>element </a:t>
            </a:r>
            <a:r>
              <a:rPr lang="de-DE" smtClean="0">
                <a:solidFill>
                  <a:srgbClr val="00B050"/>
                </a:solidFill>
              </a:rPr>
              <a:t>types</a:t>
            </a:r>
            <a:endParaRPr lang="de-DE">
              <a:solidFill>
                <a:srgbClr val="00B050"/>
              </a:solidFill>
            </a:endParaRPr>
          </a:p>
          <a:p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2722931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Canonical URN (DDI 3.2)</a:t>
            </a:r>
            <a:endParaRPr lang="en-US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40</a:t>
            </a:fld>
            <a:endParaRPr lang="de-DE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0" y="2895600"/>
            <a:ext cx="9144000" cy="949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sz="2800" b="1" smtClean="0">
                <a:latin typeface="Courier New" pitchFamily="49" charset="0"/>
              </a:rPr>
              <a:t>urn:ddi:us.mpc:V1.1.1.0</a:t>
            </a:r>
            <a:endParaRPr lang="en-US" sz="2800" b="1" dirty="0" smtClean="0">
              <a:latin typeface="Courier New" pitchFamily="49" charset="0"/>
            </a:endParaRP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457200" y="4195631"/>
            <a:ext cx="8229600" cy="362585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de-DE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de-DE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de-DE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de-DE" smtClean="0">
                <a:solidFill>
                  <a:srgbClr val="00B050"/>
                </a:solidFill>
              </a:rPr>
              <a:t>No </a:t>
            </a:r>
            <a:r>
              <a:rPr lang="de-DE">
                <a:solidFill>
                  <a:srgbClr val="00B050"/>
                </a:solidFill>
              </a:rPr>
              <a:t>element </a:t>
            </a:r>
            <a:r>
              <a:rPr lang="de-DE" smtClean="0">
                <a:solidFill>
                  <a:srgbClr val="00B050"/>
                </a:solidFill>
              </a:rPr>
              <a:t>types</a:t>
            </a:r>
            <a:endParaRPr lang="de-DE">
              <a:solidFill>
                <a:srgbClr val="00B050"/>
              </a:solidFill>
            </a:endParaRPr>
          </a:p>
          <a:p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774074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Canonical URN (DDI 3.2)</a:t>
            </a:r>
            <a:endParaRPr lang="en-US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41</a:t>
            </a:fld>
            <a:endParaRPr lang="de-DE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0" y="2895600"/>
            <a:ext cx="9144000" cy="949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sz="2800" b="1" smtClean="0">
                <a:latin typeface="Courier New" pitchFamily="49" charset="0"/>
              </a:rPr>
              <a:t>urn:ddi:us.mpc:Variable.V1</a:t>
            </a:r>
            <a:r>
              <a:rPr lang="en-US" sz="2800" b="1" smtClean="0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en-US" sz="2800" b="1" smtClean="0">
                <a:latin typeface="Courier New" pitchFamily="49" charset="0"/>
              </a:rPr>
              <a:t>1.1.0</a:t>
            </a:r>
            <a:endParaRPr lang="en-US" sz="2800" b="1" dirty="0" smtClean="0">
              <a:latin typeface="Courier New" pitchFamily="49" charset="0"/>
            </a:endParaRP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457200" y="4195631"/>
            <a:ext cx="8229600" cy="362585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de-DE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de-DE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de-DE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de-DE"/>
          </a:p>
          <a:p>
            <a:pPr marL="0" indent="0" algn="ctr">
              <a:buNone/>
            </a:pPr>
            <a:r>
              <a:rPr lang="de-DE" smtClean="0">
                <a:solidFill>
                  <a:srgbClr val="FF0000"/>
                </a:solidFill>
              </a:rPr>
              <a:t>Colon is separator</a:t>
            </a:r>
            <a:endParaRPr lang="de-DE">
              <a:solidFill>
                <a:srgbClr val="FF0000"/>
              </a:solidFill>
            </a:endParaRPr>
          </a:p>
          <a:p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1647173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Canonical URN (DDI 3.2)</a:t>
            </a:r>
            <a:endParaRPr lang="en-US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42</a:t>
            </a:fld>
            <a:endParaRPr lang="de-DE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0" y="2895600"/>
            <a:ext cx="9144000" cy="949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sz="2800" b="1" smtClean="0">
                <a:latin typeface="Courier New" pitchFamily="49" charset="0"/>
              </a:rPr>
              <a:t>urn:ddi:us.mpc:Variable.V1</a:t>
            </a:r>
            <a:r>
              <a:rPr lang="en-US" sz="2800" b="1" smtClean="0">
                <a:solidFill>
                  <a:srgbClr val="00B050"/>
                </a:solidFill>
                <a:latin typeface="Courier New" pitchFamily="49" charset="0"/>
              </a:rPr>
              <a:t>:</a:t>
            </a:r>
            <a:r>
              <a:rPr lang="en-US" sz="2800" b="1" smtClean="0">
                <a:latin typeface="Courier New" pitchFamily="49" charset="0"/>
              </a:rPr>
              <a:t>1.1.0</a:t>
            </a:r>
            <a:endParaRPr lang="en-US" sz="2800" b="1" dirty="0" smtClean="0">
              <a:latin typeface="Courier New" pitchFamily="49" charset="0"/>
            </a:endParaRP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457200" y="4195631"/>
            <a:ext cx="8229600" cy="362585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de-DE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de-DE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de-DE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de-DE"/>
          </a:p>
          <a:p>
            <a:pPr marL="0" indent="0" algn="ctr">
              <a:buNone/>
            </a:pPr>
            <a:r>
              <a:rPr lang="de-DE" smtClean="0">
                <a:solidFill>
                  <a:srgbClr val="00B050"/>
                </a:solidFill>
              </a:rPr>
              <a:t>Colon is separator</a:t>
            </a:r>
            <a:endParaRPr lang="de-DE">
              <a:solidFill>
                <a:srgbClr val="00B050"/>
              </a:solidFill>
            </a:endParaRPr>
          </a:p>
          <a:p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310164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Canonical URN (DDI 3.2)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43</a:t>
            </a:fld>
            <a:endParaRPr lang="de-DE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0" y="2895600"/>
            <a:ext cx="9144000" cy="949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sz="2800" b="1" smtClean="0">
                <a:latin typeface="Courier New" pitchFamily="49" charset="0"/>
              </a:rPr>
              <a:t>urn:ddi:us.mpc:V1:1.1.0</a:t>
            </a:r>
            <a:endParaRPr lang="en-US" sz="2800" b="1" dirty="0" smtClean="0">
              <a:latin typeface="Courier New" pitchFamily="49" charset="0"/>
            </a:endParaRPr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457200" y="4195631"/>
            <a:ext cx="8229600" cy="362585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mtClean="0"/>
              <a:t>No maintainables</a:t>
            </a:r>
          </a:p>
          <a:p>
            <a:pPr marL="0" indent="0" algn="ctr">
              <a:buNone/>
            </a:pPr>
            <a:r>
              <a:rPr lang="de-DE" smtClean="0"/>
              <a:t>Agency</a:t>
            </a:r>
            <a:r>
              <a:rPr lang="de-DE"/>
              <a:t>, </a:t>
            </a:r>
            <a:r>
              <a:rPr lang="de-DE" smtClean="0"/>
              <a:t>ID, version </a:t>
            </a:r>
            <a:r>
              <a:rPr lang="de-DE"/>
              <a:t>(</a:t>
            </a:r>
            <a:r>
              <a:rPr lang="de-DE" smtClean="0"/>
              <a:t>Identifiable, Versionable)</a:t>
            </a:r>
            <a:endParaRPr lang="de-DE"/>
          </a:p>
          <a:p>
            <a:pPr marL="0" indent="0" algn="ctr">
              <a:buNone/>
            </a:pPr>
            <a:r>
              <a:rPr lang="de-DE" smtClean="0"/>
              <a:t>ID </a:t>
            </a:r>
            <a:r>
              <a:rPr lang="de-DE"/>
              <a:t>unique in agency (not maintainable)</a:t>
            </a:r>
          </a:p>
          <a:p>
            <a:pPr marL="0" indent="0" algn="ctr">
              <a:buNone/>
            </a:pPr>
            <a:r>
              <a:rPr lang="de-DE" smtClean="0"/>
              <a:t>No </a:t>
            </a:r>
            <a:r>
              <a:rPr lang="de-DE"/>
              <a:t>element </a:t>
            </a:r>
            <a:r>
              <a:rPr lang="de-DE" smtClean="0"/>
              <a:t>types</a:t>
            </a:r>
          </a:p>
          <a:p>
            <a:pPr marL="0" indent="0" algn="ctr">
              <a:buNone/>
            </a:pPr>
            <a:r>
              <a:rPr lang="de-DE" smtClean="0"/>
              <a:t>Colon is separator</a:t>
            </a:r>
            <a:endParaRPr lang="de-DE"/>
          </a:p>
          <a:p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1101978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comes next?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was the DDI Overview with identification, versioning, and maintenance</a:t>
            </a:r>
          </a:p>
          <a:p>
            <a:endParaRPr lang="en-US" dirty="0"/>
          </a:p>
          <a:p>
            <a:r>
              <a:rPr lang="en-US" dirty="0" smtClean="0"/>
              <a:t>But, what is the use-case actually? </a:t>
            </a:r>
          </a:p>
          <a:p>
            <a:r>
              <a:rPr lang="en-US" dirty="0" smtClean="0"/>
              <a:t>What do you want to use DDI for?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44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5853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45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en-US" dirty="0" smtClean="0"/>
              <a:t>What comes next?</a:t>
            </a:r>
            <a:endParaRPr lang="en-US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467544" y="2564904"/>
            <a:ext cx="3816424" cy="4032448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solidFill>
                  <a:srgbClr val="FF3399"/>
                </a:solidFill>
              </a:rPr>
              <a:t>Missy – General Information</a:t>
            </a:r>
          </a:p>
          <a:p>
            <a:pPr lvl="1"/>
            <a:r>
              <a:rPr lang="en-US" sz="1600" dirty="0" smtClean="0"/>
              <a:t>Requirements</a:t>
            </a:r>
            <a:r>
              <a:rPr lang="de-DE" sz="1600" dirty="0" smtClean="0"/>
              <a:t> </a:t>
            </a:r>
            <a:r>
              <a:rPr lang="en-US" sz="1600" dirty="0" smtClean="0"/>
              <a:t>to</a:t>
            </a:r>
            <a:r>
              <a:rPr lang="de-DE" sz="1600" dirty="0" smtClean="0"/>
              <a:t> Developers</a:t>
            </a:r>
            <a:endParaRPr lang="en-US" sz="1600" dirty="0" smtClean="0"/>
          </a:p>
          <a:p>
            <a:pPr lvl="1"/>
            <a:r>
              <a:rPr lang="en-US" sz="1600" dirty="0" smtClean="0"/>
              <a:t>Use-Cases in Missy</a:t>
            </a:r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Software Architecture</a:t>
            </a:r>
          </a:p>
          <a:p>
            <a:pPr lvl="1"/>
            <a:r>
              <a:rPr lang="en-US" sz="1600" dirty="0" smtClean="0"/>
              <a:t>Multitier</a:t>
            </a:r>
          </a:p>
          <a:p>
            <a:pPr lvl="1"/>
            <a:r>
              <a:rPr lang="en-US" sz="1600" dirty="0" smtClean="0"/>
              <a:t>MVC</a:t>
            </a:r>
          </a:p>
          <a:p>
            <a:r>
              <a:rPr lang="en-US" sz="2000" dirty="0"/>
              <a:t>Missy Data Model</a:t>
            </a:r>
          </a:p>
          <a:p>
            <a:pPr lvl="1"/>
            <a:r>
              <a:rPr lang="en-US" sz="1600" dirty="0"/>
              <a:t>Extendable Data Model</a:t>
            </a:r>
            <a:endParaRPr lang="en-US" dirty="0" smtClean="0"/>
          </a:p>
          <a:p>
            <a:pPr lvl="1"/>
            <a:endParaRPr lang="en-US" sz="1600" dirty="0" smtClean="0"/>
          </a:p>
        </p:txBody>
      </p:sp>
      <p:sp>
        <p:nvSpPr>
          <p:cNvPr id="7" name="Inhaltsplatzhalter 2"/>
          <p:cNvSpPr txBox="1">
            <a:spLocks/>
          </p:cNvSpPr>
          <p:nvPr/>
        </p:nvSpPr>
        <p:spPr>
          <a:xfrm>
            <a:off x="4572000" y="2575830"/>
            <a:ext cx="4283968" cy="4069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DDI-L Overview</a:t>
            </a:r>
          </a:p>
          <a:p>
            <a:r>
              <a:rPr lang="en-US" sz="1800" dirty="0" smtClean="0"/>
              <a:t>Identification, Versioning, Maintenance</a:t>
            </a:r>
          </a:p>
          <a:p>
            <a:r>
              <a:rPr lang="en-US" sz="1800" dirty="0" smtClean="0"/>
              <a:t>DDI-L Main Structures</a:t>
            </a:r>
          </a:p>
          <a:p>
            <a:r>
              <a:rPr lang="en-US" sz="1800" dirty="0" smtClean="0"/>
              <a:t>DDI Instance</a:t>
            </a:r>
          </a:p>
          <a:p>
            <a:r>
              <a:rPr lang="en-US" sz="1800" dirty="0" smtClean="0"/>
              <a:t>Study Unit</a:t>
            </a:r>
          </a:p>
          <a:p>
            <a:endParaRPr lang="en-US" sz="1800" dirty="0"/>
          </a:p>
          <a:p>
            <a:r>
              <a:rPr lang="en-US" sz="1800" dirty="0" smtClean="0"/>
              <a:t>Conceptual Component</a:t>
            </a:r>
          </a:p>
          <a:p>
            <a:r>
              <a:rPr lang="en-US" sz="1800" dirty="0" smtClean="0"/>
              <a:t>Logical Products</a:t>
            </a:r>
          </a:p>
          <a:p>
            <a:r>
              <a:rPr lang="en-US" sz="1800" dirty="0" smtClean="0"/>
              <a:t>Data Collection</a:t>
            </a:r>
          </a:p>
          <a:p>
            <a:r>
              <a:rPr lang="en-US" sz="1800" dirty="0" smtClean="0"/>
              <a:t>disco-model</a:t>
            </a:r>
          </a:p>
          <a:p>
            <a:endParaRPr lang="en-US" sz="1800" dirty="0" smtClean="0"/>
          </a:p>
        </p:txBody>
      </p:sp>
      <p:sp>
        <p:nvSpPr>
          <p:cNvPr id="8" name="Abgerundetes Rechteck 7"/>
          <p:cNvSpPr/>
          <p:nvPr/>
        </p:nvSpPr>
        <p:spPr>
          <a:xfrm>
            <a:off x="195349" y="2457271"/>
            <a:ext cx="8716791" cy="1944216"/>
          </a:xfrm>
          <a:prstGeom prst="round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bgerundetes Rechteck 8"/>
          <p:cNvSpPr/>
          <p:nvPr/>
        </p:nvSpPr>
        <p:spPr>
          <a:xfrm>
            <a:off x="175689" y="4509120"/>
            <a:ext cx="8716791" cy="1813405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feld 9"/>
          <p:cNvSpPr txBox="1"/>
          <p:nvPr/>
        </p:nvSpPr>
        <p:spPr>
          <a:xfrm>
            <a:off x="323528" y="4026550"/>
            <a:ext cx="12697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tx2"/>
                </a:solidFill>
              </a:rPr>
              <a:t>Presentation</a:t>
            </a:r>
            <a:endParaRPr lang="en-US" sz="1600" b="1" dirty="0">
              <a:solidFill>
                <a:schemeClr val="tx2"/>
              </a:solidFill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80312" y="5898758"/>
            <a:ext cx="1393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Business Layer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107505" y="4509120"/>
            <a:ext cx="8928992" cy="1988840"/>
          </a:xfrm>
          <a:prstGeom prst="rect">
            <a:avLst/>
          </a:prstGeom>
          <a:solidFill>
            <a:schemeClr val="bg1">
              <a:alpha val="53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282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Information About Missy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4176464"/>
          </a:xfrm>
        </p:spPr>
        <p:txBody>
          <a:bodyPr>
            <a:normAutofit/>
          </a:bodyPr>
          <a:lstStyle/>
          <a:p>
            <a:r>
              <a:rPr lang="en-US" dirty="0"/>
              <a:t>Missy </a:t>
            </a:r>
            <a:r>
              <a:rPr lang="en-US" dirty="0" smtClean="0"/>
              <a:t>– Microdata </a:t>
            </a:r>
            <a:r>
              <a:rPr lang="en-US" dirty="0"/>
              <a:t>Information System</a:t>
            </a:r>
          </a:p>
          <a:p>
            <a:endParaRPr lang="en-US" dirty="0" smtClean="0"/>
          </a:p>
          <a:p>
            <a:r>
              <a:rPr lang="en-US" dirty="0" smtClean="0"/>
              <a:t>Largest </a:t>
            </a:r>
            <a:r>
              <a:rPr lang="en-US" dirty="0"/>
              <a:t>household survey in Europe</a:t>
            </a:r>
          </a:p>
          <a:p>
            <a:r>
              <a:rPr lang="en-US" dirty="0"/>
              <a:t>Provides detailed information about individual datasets</a:t>
            </a:r>
          </a:p>
          <a:p>
            <a:r>
              <a:rPr lang="en-US" dirty="0"/>
              <a:t>Currently consists of </a:t>
            </a:r>
            <a:r>
              <a:rPr lang="en-US" dirty="0" smtClean="0"/>
              <a:t>“</a:t>
            </a:r>
            <a:r>
              <a:rPr lang="en-US" dirty="0" err="1" smtClean="0"/>
              <a:t>microcensus</a:t>
            </a:r>
            <a:r>
              <a:rPr lang="en-US" dirty="0"/>
              <a:t>" survey, which is comprised of statistics about, e.g.</a:t>
            </a:r>
          </a:p>
          <a:p>
            <a:pPr lvl="1"/>
            <a:r>
              <a:rPr lang="en-US" dirty="0"/>
              <a:t>general population in Germany</a:t>
            </a:r>
          </a:p>
          <a:p>
            <a:pPr lvl="1"/>
            <a:r>
              <a:rPr lang="en-US" dirty="0"/>
              <a:t>situation about employment market</a:t>
            </a:r>
          </a:p>
          <a:p>
            <a:pPr lvl="2"/>
            <a:r>
              <a:rPr lang="en-US" dirty="0"/>
              <a:t>occupation, professional education, income, legal insurance, etc.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46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6329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Information About Missy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4032448"/>
          </a:xfrm>
        </p:spPr>
        <p:txBody>
          <a:bodyPr/>
          <a:lstStyle/>
          <a:p>
            <a:r>
              <a:rPr lang="en-US" dirty="0"/>
              <a:t>May be </a:t>
            </a:r>
            <a:r>
              <a:rPr lang="en-US" dirty="0" smtClean="0"/>
              <a:t>split </a:t>
            </a:r>
            <a:r>
              <a:rPr lang="en-US" dirty="0"/>
              <a:t>in two parts</a:t>
            </a:r>
          </a:p>
          <a:p>
            <a:pPr lvl="1"/>
            <a:r>
              <a:rPr lang="en-US" dirty="0"/>
              <a:t>Missy Web </a:t>
            </a:r>
            <a:r>
              <a:rPr lang="en-US" dirty="0" smtClean="0"/>
              <a:t>(end-user front-end part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Missy Editor for documentation </a:t>
            </a:r>
            <a:r>
              <a:rPr lang="en-US" dirty="0" smtClean="0"/>
              <a:t>(back-end part</a:t>
            </a:r>
            <a:r>
              <a:rPr lang="en-US" dirty="0"/>
              <a:t>)</a:t>
            </a:r>
          </a:p>
          <a:p>
            <a:endParaRPr lang="en-US" dirty="0" smtClean="0"/>
          </a:p>
          <a:p>
            <a:r>
              <a:rPr lang="en-US" dirty="0" smtClean="0"/>
              <a:t>Consists </a:t>
            </a:r>
            <a:r>
              <a:rPr lang="en-US" dirty="0"/>
              <a:t>of approx. 500 Variables &amp; Questions</a:t>
            </a:r>
          </a:p>
          <a:p>
            <a:r>
              <a:rPr lang="en-US" dirty="0"/>
              <a:t>Captures 25 years, since </a:t>
            </a:r>
            <a:r>
              <a:rPr lang="en-US" dirty="0" smtClean="0"/>
              <a:t>1973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47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4627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Missy 3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That’s what it’s all about! The “next generation Missy”</a:t>
            </a:r>
          </a:p>
          <a:p>
            <a:endParaRPr lang="de-DE" dirty="0"/>
          </a:p>
          <a:p>
            <a:r>
              <a:rPr lang="en-US" dirty="0" smtClean="0"/>
              <a:t>Integration </a:t>
            </a:r>
            <a:r>
              <a:rPr lang="en-US" dirty="0"/>
              <a:t>of further surveys, e.g. EU-SILC, </a:t>
            </a:r>
            <a:r>
              <a:rPr lang="en-US" dirty="0" smtClean="0"/>
              <a:t>EU-LFS, …</a:t>
            </a:r>
            <a:endParaRPr lang="en-US" dirty="0"/>
          </a:p>
          <a:p>
            <a:r>
              <a:rPr lang="en-US" dirty="0" smtClean="0"/>
              <a:t>Implementation </a:t>
            </a:r>
            <a:r>
              <a:rPr lang="en-US" dirty="0"/>
              <a:t>of Missy Editor as a </a:t>
            </a:r>
            <a:r>
              <a:rPr lang="en-US" dirty="0" smtClean="0"/>
              <a:t>Web-Application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48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07474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Use-Cases in Missy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4392488"/>
          </a:xfrm>
        </p:spPr>
        <p:txBody>
          <a:bodyPr>
            <a:normAutofit/>
          </a:bodyPr>
          <a:lstStyle/>
          <a:p>
            <a:r>
              <a:rPr lang="en-US" dirty="0" smtClean="0"/>
              <a:t>General Information about survey “</a:t>
            </a:r>
            <a:r>
              <a:rPr lang="en-US" dirty="0" err="1"/>
              <a:t>m</a:t>
            </a:r>
            <a:r>
              <a:rPr lang="en-US" dirty="0" err="1" smtClean="0"/>
              <a:t>icrocensus</a:t>
            </a:r>
            <a:r>
              <a:rPr lang="en-US" dirty="0" smtClean="0"/>
              <a:t>”</a:t>
            </a:r>
          </a:p>
          <a:p>
            <a:r>
              <a:rPr lang="en-US" dirty="0" smtClean="0"/>
              <a:t>Variables by thematic classification and year</a:t>
            </a:r>
          </a:p>
          <a:p>
            <a:r>
              <a:rPr lang="en-US" dirty="0" smtClean="0"/>
              <a:t>List of variables by year</a:t>
            </a:r>
          </a:p>
          <a:p>
            <a:r>
              <a:rPr lang="en-US" dirty="0" smtClean="0"/>
              <a:t>List of generated variables by year</a:t>
            </a:r>
          </a:p>
          <a:p>
            <a:r>
              <a:rPr lang="en-US" dirty="0"/>
              <a:t>Show details of a variable with statistics</a:t>
            </a:r>
            <a:endParaRPr lang="en-US" dirty="0" smtClean="0"/>
          </a:p>
          <a:p>
            <a:r>
              <a:rPr lang="en-US" dirty="0" smtClean="0"/>
              <a:t>Variable-Time Matrix</a:t>
            </a:r>
          </a:p>
          <a:p>
            <a:pPr lvl="1"/>
            <a:r>
              <a:rPr lang="en-US" dirty="0" smtClean="0"/>
              <a:t>List of variables by thematic classification and year (selectable)</a:t>
            </a:r>
          </a:p>
          <a:p>
            <a:endParaRPr lang="en-US" dirty="0" smtClean="0"/>
          </a:p>
          <a:p>
            <a:r>
              <a:rPr lang="en-US" dirty="0" smtClean="0"/>
              <a:t>Questionnaire Catalogue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49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598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Use-Cases in Missy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4392488"/>
          </a:xfrm>
        </p:spPr>
        <p:txBody>
          <a:bodyPr>
            <a:normAutofit/>
          </a:bodyPr>
          <a:lstStyle/>
          <a:p>
            <a:r>
              <a:rPr lang="en-US" dirty="0" smtClean="0"/>
              <a:t>General Information </a:t>
            </a:r>
            <a:r>
              <a:rPr lang="en-US" dirty="0"/>
              <a:t>about survey “</a:t>
            </a:r>
            <a:r>
              <a:rPr lang="en-US" dirty="0" err="1"/>
              <a:t>microcensus</a:t>
            </a:r>
            <a:r>
              <a:rPr lang="en-US" dirty="0" smtClean="0"/>
              <a:t>”</a:t>
            </a:r>
          </a:p>
          <a:p>
            <a:r>
              <a:rPr lang="en-US" dirty="0" smtClean="0"/>
              <a:t>Variables by thematic classification and year</a:t>
            </a:r>
          </a:p>
          <a:p>
            <a:r>
              <a:rPr lang="en-US" dirty="0" smtClean="0"/>
              <a:t>List of variables by year</a:t>
            </a:r>
          </a:p>
          <a:p>
            <a:r>
              <a:rPr lang="en-US" dirty="0" smtClean="0"/>
              <a:t>List of generated variables by year</a:t>
            </a:r>
          </a:p>
          <a:p>
            <a:r>
              <a:rPr lang="en-US" dirty="0" smtClean="0"/>
              <a:t>Show details of a variable with statistics</a:t>
            </a:r>
          </a:p>
          <a:p>
            <a:r>
              <a:rPr lang="en-US" dirty="0" smtClean="0"/>
              <a:t>Variable-Time Matrix</a:t>
            </a:r>
          </a:p>
          <a:p>
            <a:pPr lvl="1"/>
            <a:r>
              <a:rPr lang="en-US" dirty="0" smtClean="0"/>
              <a:t>List of variables by thematic classification and year (selectable)</a:t>
            </a:r>
          </a:p>
          <a:p>
            <a:endParaRPr lang="en-US" dirty="0" smtClean="0"/>
          </a:p>
          <a:p>
            <a:r>
              <a:rPr lang="en-US" dirty="0" smtClean="0"/>
              <a:t>Questionnaire Catalogue</a:t>
            </a:r>
          </a:p>
          <a:p>
            <a:r>
              <a:rPr lang="en-US" sz="2200" b="1" dirty="0" smtClean="0">
                <a:solidFill>
                  <a:srgbClr val="FF3399"/>
                </a:solidFill>
              </a:rPr>
              <a:t>In future: browse by survey </a:t>
            </a:r>
            <a:r>
              <a:rPr lang="en-US" sz="2200" b="1" dirty="0">
                <a:solidFill>
                  <a:srgbClr val="FF3399"/>
                </a:solidFill>
              </a:rPr>
              <a:t>and </a:t>
            </a:r>
            <a:r>
              <a:rPr lang="en-US" sz="2200" b="1" dirty="0" smtClean="0">
                <a:solidFill>
                  <a:srgbClr val="FF3399"/>
                </a:solidFill>
              </a:rPr>
              <a:t>country!</a:t>
            </a:r>
            <a:endParaRPr lang="en-US" sz="2200" b="1" dirty="0">
              <a:solidFill>
                <a:srgbClr val="FF3399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50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6140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Use-Cases in Missy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4392488"/>
          </a:xfrm>
        </p:spPr>
        <p:txBody>
          <a:bodyPr>
            <a:normAutofit/>
          </a:bodyPr>
          <a:lstStyle/>
          <a:p>
            <a:r>
              <a:rPr lang="en-US" dirty="0" smtClean="0"/>
              <a:t>General Information </a:t>
            </a:r>
            <a:r>
              <a:rPr lang="en-US" dirty="0"/>
              <a:t>about survey “</a:t>
            </a:r>
            <a:r>
              <a:rPr lang="en-US" dirty="0" err="1"/>
              <a:t>microcensus</a:t>
            </a:r>
            <a:r>
              <a:rPr lang="en-US" dirty="0" smtClean="0"/>
              <a:t>”</a:t>
            </a:r>
          </a:p>
          <a:p>
            <a:r>
              <a:rPr lang="en-US" dirty="0" smtClean="0"/>
              <a:t>Variables by thematic classification and year</a:t>
            </a:r>
          </a:p>
          <a:p>
            <a:r>
              <a:rPr lang="en-US" dirty="0" smtClean="0"/>
              <a:t>List of variables by year</a:t>
            </a:r>
          </a:p>
          <a:p>
            <a:r>
              <a:rPr lang="en-US" dirty="0" smtClean="0"/>
              <a:t>List of generated variables by year</a:t>
            </a:r>
          </a:p>
          <a:p>
            <a:r>
              <a:rPr lang="en-US" b="1" dirty="0" smtClean="0">
                <a:solidFill>
                  <a:srgbClr val="FF3399"/>
                </a:solidFill>
              </a:rPr>
              <a:t>Show details of a variable with statistics</a:t>
            </a:r>
          </a:p>
          <a:p>
            <a:r>
              <a:rPr lang="en-US" dirty="0" smtClean="0"/>
              <a:t>Variable-Time Matrix</a:t>
            </a:r>
          </a:p>
          <a:p>
            <a:pPr lvl="1"/>
            <a:r>
              <a:rPr lang="en-US" dirty="0" smtClean="0"/>
              <a:t>List of variables by thematic classification and year (selectable)</a:t>
            </a:r>
          </a:p>
          <a:p>
            <a:endParaRPr lang="en-US" dirty="0" smtClean="0"/>
          </a:p>
          <a:p>
            <a:r>
              <a:rPr lang="en-US" dirty="0" smtClean="0"/>
              <a:t>Questionnaire Catalogue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51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456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52</a:t>
            </a:fld>
            <a:endParaRPr lang="de-DE"/>
          </a:p>
        </p:txBody>
      </p:sp>
      <p:sp>
        <p:nvSpPr>
          <p:cNvPr id="5" name="Shape 100"/>
          <p:cNvSpPr>
            <a:spLocks noChangeAspect="1"/>
          </p:cNvSpPr>
          <p:nvPr/>
        </p:nvSpPr>
        <p:spPr>
          <a:xfrm>
            <a:off x="683568" y="1024941"/>
            <a:ext cx="7704856" cy="55724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083167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53</a:t>
            </a:fld>
            <a:endParaRPr lang="de-DE"/>
          </a:p>
        </p:txBody>
      </p:sp>
      <p:sp>
        <p:nvSpPr>
          <p:cNvPr id="3" name="Shape 118"/>
          <p:cNvSpPr>
            <a:spLocks noChangeAspect="1"/>
          </p:cNvSpPr>
          <p:nvPr/>
        </p:nvSpPr>
        <p:spPr>
          <a:xfrm>
            <a:off x="683568" y="1052736"/>
            <a:ext cx="7776864" cy="561317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42253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54</a:t>
            </a:fld>
            <a:endParaRPr lang="de-DE"/>
          </a:p>
        </p:txBody>
      </p:sp>
      <p:sp>
        <p:nvSpPr>
          <p:cNvPr id="6" name="Shape 106"/>
          <p:cNvSpPr>
            <a:spLocks noChangeAspect="1"/>
          </p:cNvSpPr>
          <p:nvPr/>
        </p:nvSpPr>
        <p:spPr>
          <a:xfrm>
            <a:off x="689248" y="1039365"/>
            <a:ext cx="7776864" cy="549400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15013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55</a:t>
            </a:fld>
            <a:endParaRPr lang="de-DE"/>
          </a:p>
        </p:txBody>
      </p:sp>
      <p:sp>
        <p:nvSpPr>
          <p:cNvPr id="5" name="Shape 112"/>
          <p:cNvSpPr/>
          <p:nvPr/>
        </p:nvSpPr>
        <p:spPr>
          <a:xfrm>
            <a:off x="683568" y="1052736"/>
            <a:ext cx="7776864" cy="547260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952062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56</a:t>
            </a:fld>
            <a:endParaRPr lang="de-DE"/>
          </a:p>
        </p:txBody>
      </p:sp>
      <p:pic>
        <p:nvPicPr>
          <p:cNvPr id="1026" name="Picture 2" descr="C:\Users\zlochms\Dropbox\EDDI 2012\screenshots\Screenshot from 2012-11-28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49" r="12535"/>
          <a:stretch/>
        </p:blipFill>
        <p:spPr bwMode="auto">
          <a:xfrm>
            <a:off x="683568" y="1052737"/>
            <a:ext cx="7488832" cy="5675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1891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Requirements to Software Developers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Complex data model to represent use-cases</a:t>
            </a:r>
          </a:p>
          <a:p>
            <a:r>
              <a:rPr lang="en-US" dirty="0" smtClean="0"/>
              <a:t>Focus lies on reusability</a:t>
            </a:r>
          </a:p>
          <a:p>
            <a:r>
              <a:rPr lang="en-US" dirty="0" smtClean="0"/>
              <a:t>Flexible Web Application Framework and modern architecture</a:t>
            </a:r>
          </a:p>
          <a:p>
            <a:pPr lvl="1"/>
            <a:r>
              <a:rPr lang="en-US" dirty="0" smtClean="0"/>
              <a:t>Service-oriented</a:t>
            </a:r>
          </a:p>
          <a:p>
            <a:pPr lvl="1"/>
            <a:r>
              <a:rPr lang="en-US" dirty="0" smtClean="0"/>
              <a:t>Semantic Web technologies</a:t>
            </a:r>
          </a:p>
          <a:p>
            <a:r>
              <a:rPr lang="en-US" dirty="0" smtClean="0"/>
              <a:t>Creation of an abstract framework and architecture</a:t>
            </a:r>
          </a:p>
          <a:p>
            <a:pPr lvl="1"/>
            <a:r>
              <a:rPr lang="en-US" dirty="0" smtClean="0"/>
              <a:t>should be well designed to be able to be extended and reusable</a:t>
            </a:r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57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3100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comes next?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have seen Missy as an use-case with several fields which holds values</a:t>
            </a:r>
          </a:p>
          <a:p>
            <a:endParaRPr lang="en-US" dirty="0"/>
          </a:p>
          <a:p>
            <a:r>
              <a:rPr lang="en-US" dirty="0" smtClean="0"/>
              <a:t>I would like to use DDI</a:t>
            </a:r>
            <a:endParaRPr lang="en-US" dirty="0"/>
          </a:p>
          <a:p>
            <a:r>
              <a:rPr lang="en-US" dirty="0" smtClean="0"/>
              <a:t>What are the main structures of DDI-L, Thomas?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58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2258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59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en-US" dirty="0" smtClean="0"/>
              <a:t>What comes next?</a:t>
            </a:r>
            <a:endParaRPr lang="en-US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467544" y="2564904"/>
            <a:ext cx="3816424" cy="4032448"/>
          </a:xfrm>
        </p:spPr>
        <p:txBody>
          <a:bodyPr>
            <a:normAutofit/>
          </a:bodyPr>
          <a:lstStyle/>
          <a:p>
            <a:r>
              <a:rPr lang="en-US" sz="2000" dirty="0" smtClean="0"/>
              <a:t>Missy – General Information</a:t>
            </a:r>
          </a:p>
          <a:p>
            <a:pPr lvl="1"/>
            <a:r>
              <a:rPr lang="en-US" sz="1600" dirty="0" smtClean="0"/>
              <a:t>Requirements</a:t>
            </a:r>
            <a:r>
              <a:rPr lang="de-DE" sz="1600" dirty="0" smtClean="0"/>
              <a:t> </a:t>
            </a:r>
            <a:r>
              <a:rPr lang="de-DE" sz="1600" dirty="0" err="1" smtClean="0"/>
              <a:t>to</a:t>
            </a:r>
            <a:r>
              <a:rPr lang="de-DE" sz="1600" dirty="0" smtClean="0"/>
              <a:t> Developers</a:t>
            </a:r>
            <a:endParaRPr lang="en-US" sz="1600" dirty="0" smtClean="0"/>
          </a:p>
          <a:p>
            <a:pPr lvl="1"/>
            <a:r>
              <a:rPr lang="en-US" sz="1600" dirty="0"/>
              <a:t>Use-Cases in Missy</a:t>
            </a:r>
            <a:endParaRPr lang="en-US" sz="1600" dirty="0" smtClean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Software Architecture</a:t>
            </a:r>
          </a:p>
          <a:p>
            <a:pPr lvl="1"/>
            <a:r>
              <a:rPr lang="en-US" sz="1600" dirty="0" smtClean="0"/>
              <a:t>Multitier</a:t>
            </a:r>
          </a:p>
          <a:p>
            <a:pPr lvl="1"/>
            <a:r>
              <a:rPr lang="en-US" sz="1600" dirty="0" smtClean="0"/>
              <a:t>MVC</a:t>
            </a:r>
          </a:p>
          <a:p>
            <a:r>
              <a:rPr lang="en-US" sz="2000" dirty="0"/>
              <a:t>Missy Data Model</a:t>
            </a:r>
          </a:p>
          <a:p>
            <a:pPr lvl="1"/>
            <a:r>
              <a:rPr lang="en-US" sz="1600" dirty="0"/>
              <a:t>Extendable Data Model</a:t>
            </a:r>
            <a:endParaRPr lang="en-US" dirty="0" smtClean="0"/>
          </a:p>
          <a:p>
            <a:pPr lvl="1"/>
            <a:endParaRPr lang="en-US" sz="1600" dirty="0" smtClean="0"/>
          </a:p>
        </p:txBody>
      </p:sp>
      <p:sp>
        <p:nvSpPr>
          <p:cNvPr id="7" name="Inhaltsplatzhalter 2"/>
          <p:cNvSpPr txBox="1">
            <a:spLocks/>
          </p:cNvSpPr>
          <p:nvPr/>
        </p:nvSpPr>
        <p:spPr>
          <a:xfrm>
            <a:off x="4572000" y="2575830"/>
            <a:ext cx="4283968" cy="4069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DDI-L Overview</a:t>
            </a:r>
          </a:p>
          <a:p>
            <a:r>
              <a:rPr lang="en-US" sz="1800" dirty="0" smtClean="0"/>
              <a:t>Identification, Versioning, Maintenance</a:t>
            </a:r>
          </a:p>
          <a:p>
            <a:r>
              <a:rPr lang="en-US" sz="1800" b="1" dirty="0" smtClean="0">
                <a:solidFill>
                  <a:srgbClr val="FF3399"/>
                </a:solidFill>
              </a:rPr>
              <a:t>DDI-L Main Structures</a:t>
            </a:r>
          </a:p>
          <a:p>
            <a:r>
              <a:rPr lang="en-US" sz="1800" dirty="0" smtClean="0"/>
              <a:t>DDI Instance</a:t>
            </a:r>
          </a:p>
          <a:p>
            <a:r>
              <a:rPr lang="en-US" sz="1800" dirty="0" smtClean="0"/>
              <a:t>Study Unit</a:t>
            </a:r>
          </a:p>
          <a:p>
            <a:endParaRPr lang="en-US" sz="1800" dirty="0"/>
          </a:p>
          <a:p>
            <a:r>
              <a:rPr lang="en-US" sz="1800" dirty="0" smtClean="0"/>
              <a:t>Conceptual Component</a:t>
            </a:r>
          </a:p>
          <a:p>
            <a:r>
              <a:rPr lang="en-US" sz="1800" dirty="0" smtClean="0"/>
              <a:t>Logical Products</a:t>
            </a:r>
          </a:p>
          <a:p>
            <a:r>
              <a:rPr lang="en-US" sz="1800" dirty="0" smtClean="0"/>
              <a:t>Data Collection</a:t>
            </a:r>
          </a:p>
          <a:p>
            <a:r>
              <a:rPr lang="en-US" sz="1800" dirty="0" smtClean="0"/>
              <a:t>disco-model</a:t>
            </a:r>
          </a:p>
          <a:p>
            <a:endParaRPr lang="en-US" sz="1800" dirty="0" smtClean="0"/>
          </a:p>
        </p:txBody>
      </p:sp>
      <p:sp>
        <p:nvSpPr>
          <p:cNvPr id="8" name="Abgerundetes Rechteck 7"/>
          <p:cNvSpPr/>
          <p:nvPr/>
        </p:nvSpPr>
        <p:spPr>
          <a:xfrm>
            <a:off x="195349" y="2457271"/>
            <a:ext cx="8716791" cy="1944216"/>
          </a:xfrm>
          <a:prstGeom prst="round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bgerundetes Rechteck 8"/>
          <p:cNvSpPr/>
          <p:nvPr/>
        </p:nvSpPr>
        <p:spPr>
          <a:xfrm>
            <a:off x="175689" y="4509120"/>
            <a:ext cx="8716791" cy="1813405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feld 9"/>
          <p:cNvSpPr txBox="1"/>
          <p:nvPr/>
        </p:nvSpPr>
        <p:spPr>
          <a:xfrm>
            <a:off x="323528" y="4026550"/>
            <a:ext cx="12697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tx2"/>
                </a:solidFill>
              </a:rPr>
              <a:t>Presentation</a:t>
            </a:r>
            <a:endParaRPr lang="en-US" sz="1600" b="1" dirty="0">
              <a:solidFill>
                <a:schemeClr val="tx2"/>
              </a:solidFill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80312" y="5898758"/>
            <a:ext cx="1393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Business Layer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107505" y="4509120"/>
            <a:ext cx="8928992" cy="1988840"/>
          </a:xfrm>
          <a:prstGeom prst="rect">
            <a:avLst/>
          </a:prstGeom>
          <a:solidFill>
            <a:schemeClr val="bg1">
              <a:alpha val="53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446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60</a:t>
            </a:fld>
            <a:endParaRPr lang="de-DE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25" y="2071688"/>
            <a:ext cx="6153150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407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61</a:t>
            </a:fld>
            <a:endParaRPr lang="de-DE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775" y="203026"/>
            <a:ext cx="6648450" cy="661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34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62</a:t>
            </a:fld>
            <a:endParaRPr lang="de-DE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1154385"/>
            <a:ext cx="8048625" cy="551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smtClean="0"/>
              <a:t>Modules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88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63</a:t>
            </a:fld>
            <a:endParaRPr lang="de-DE"/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467544" y="2564904"/>
            <a:ext cx="3816424" cy="4032448"/>
          </a:xfrm>
        </p:spPr>
        <p:txBody>
          <a:bodyPr>
            <a:normAutofit/>
          </a:bodyPr>
          <a:lstStyle/>
          <a:p>
            <a:r>
              <a:rPr lang="en-US" sz="2000" dirty="0" smtClean="0"/>
              <a:t>Missy – General Information</a:t>
            </a:r>
          </a:p>
          <a:p>
            <a:pPr lvl="1"/>
            <a:r>
              <a:rPr lang="en-US" sz="1600" dirty="0" smtClean="0"/>
              <a:t>Requirements</a:t>
            </a:r>
            <a:r>
              <a:rPr lang="de-DE" sz="1600" dirty="0" smtClean="0"/>
              <a:t> </a:t>
            </a:r>
            <a:r>
              <a:rPr lang="de-DE" sz="1600" dirty="0" err="1" smtClean="0"/>
              <a:t>to</a:t>
            </a:r>
            <a:r>
              <a:rPr lang="de-DE" sz="1600" dirty="0" smtClean="0"/>
              <a:t> Developers</a:t>
            </a:r>
            <a:endParaRPr lang="en-US" sz="1600" dirty="0" smtClean="0"/>
          </a:p>
          <a:p>
            <a:pPr lvl="1"/>
            <a:r>
              <a:rPr lang="en-US" sz="1600" dirty="0"/>
              <a:t>Use-Cases in Missy</a:t>
            </a:r>
            <a:endParaRPr lang="en-US" sz="1600" dirty="0" smtClean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Software Architecture</a:t>
            </a:r>
          </a:p>
          <a:p>
            <a:pPr lvl="1"/>
            <a:r>
              <a:rPr lang="en-US" sz="1600" dirty="0" smtClean="0"/>
              <a:t>Multitier</a:t>
            </a:r>
          </a:p>
          <a:p>
            <a:pPr lvl="1"/>
            <a:r>
              <a:rPr lang="en-US" sz="1600" dirty="0" smtClean="0"/>
              <a:t>MVC</a:t>
            </a:r>
          </a:p>
          <a:p>
            <a:r>
              <a:rPr lang="en-US" sz="2000" dirty="0"/>
              <a:t>Missy Data Model</a:t>
            </a:r>
          </a:p>
          <a:p>
            <a:pPr lvl="1"/>
            <a:r>
              <a:rPr lang="en-US" sz="1600" dirty="0"/>
              <a:t>Extendable Data Model</a:t>
            </a:r>
            <a:endParaRPr lang="en-US" dirty="0" smtClean="0"/>
          </a:p>
          <a:p>
            <a:pPr lvl="1"/>
            <a:endParaRPr lang="en-US" sz="1600" dirty="0" smtClean="0"/>
          </a:p>
        </p:txBody>
      </p:sp>
      <p:sp>
        <p:nvSpPr>
          <p:cNvPr id="8" name="Inhaltsplatzhalter 2"/>
          <p:cNvSpPr txBox="1">
            <a:spLocks/>
          </p:cNvSpPr>
          <p:nvPr/>
        </p:nvSpPr>
        <p:spPr>
          <a:xfrm>
            <a:off x="4572000" y="2575830"/>
            <a:ext cx="4283968" cy="4069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DDI-L Overview</a:t>
            </a:r>
          </a:p>
          <a:p>
            <a:r>
              <a:rPr lang="en-US" sz="1800" dirty="0" smtClean="0"/>
              <a:t>Identification, Versioning, Maintenance</a:t>
            </a:r>
          </a:p>
          <a:p>
            <a:r>
              <a:rPr lang="en-US" sz="1800" dirty="0" smtClean="0"/>
              <a:t>DDI-L Main Structures</a:t>
            </a:r>
          </a:p>
          <a:p>
            <a:r>
              <a:rPr lang="en-US" sz="1800" b="1" dirty="0" smtClean="0">
                <a:solidFill>
                  <a:srgbClr val="FF3399"/>
                </a:solidFill>
              </a:rPr>
              <a:t>DDI Instance</a:t>
            </a:r>
          </a:p>
          <a:p>
            <a:r>
              <a:rPr lang="en-US" sz="1800" dirty="0" smtClean="0"/>
              <a:t>Study Unit</a:t>
            </a:r>
          </a:p>
          <a:p>
            <a:endParaRPr lang="en-US" sz="1800" dirty="0"/>
          </a:p>
          <a:p>
            <a:r>
              <a:rPr lang="en-US" sz="1800" dirty="0" smtClean="0"/>
              <a:t>Conceptual Component</a:t>
            </a:r>
          </a:p>
          <a:p>
            <a:r>
              <a:rPr lang="en-US" sz="1800" dirty="0" smtClean="0"/>
              <a:t>Logical Products</a:t>
            </a:r>
          </a:p>
          <a:p>
            <a:r>
              <a:rPr lang="en-US" sz="1800" dirty="0" smtClean="0"/>
              <a:t>Data Collection</a:t>
            </a:r>
          </a:p>
          <a:p>
            <a:r>
              <a:rPr lang="en-US" sz="1800" dirty="0" smtClean="0"/>
              <a:t>disco-model</a:t>
            </a:r>
          </a:p>
          <a:p>
            <a:endParaRPr lang="en-US" sz="1800" dirty="0" smtClean="0"/>
          </a:p>
        </p:txBody>
      </p:sp>
      <p:sp>
        <p:nvSpPr>
          <p:cNvPr id="9" name="Abgerundetes Rechteck 8"/>
          <p:cNvSpPr/>
          <p:nvPr/>
        </p:nvSpPr>
        <p:spPr>
          <a:xfrm>
            <a:off x="195349" y="2457271"/>
            <a:ext cx="8716791" cy="1944216"/>
          </a:xfrm>
          <a:prstGeom prst="round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bgerundetes Rechteck 9"/>
          <p:cNvSpPr/>
          <p:nvPr/>
        </p:nvSpPr>
        <p:spPr>
          <a:xfrm>
            <a:off x="175689" y="4509120"/>
            <a:ext cx="8716791" cy="1813405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feld 10"/>
          <p:cNvSpPr txBox="1"/>
          <p:nvPr/>
        </p:nvSpPr>
        <p:spPr>
          <a:xfrm>
            <a:off x="323528" y="4026550"/>
            <a:ext cx="12697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tx2"/>
                </a:solidFill>
              </a:rPr>
              <a:t>Presentation</a:t>
            </a:r>
            <a:endParaRPr lang="en-US" sz="1600" b="1" dirty="0">
              <a:solidFill>
                <a:schemeClr val="tx2"/>
              </a:solidFill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7380312" y="5898758"/>
            <a:ext cx="1393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Business Layer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3" name="Rechteck 12"/>
          <p:cNvSpPr/>
          <p:nvPr/>
        </p:nvSpPr>
        <p:spPr>
          <a:xfrm>
            <a:off x="107505" y="4509120"/>
            <a:ext cx="8928992" cy="1988840"/>
          </a:xfrm>
          <a:prstGeom prst="rect">
            <a:avLst/>
          </a:prstGeom>
          <a:solidFill>
            <a:schemeClr val="bg1">
              <a:alpha val="53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  <p:sp>
        <p:nvSpPr>
          <p:cNvPr id="14" name="Titel 1"/>
          <p:cNvSpPr txBox="1">
            <a:spLocks/>
          </p:cNvSpPr>
          <p:nvPr/>
        </p:nvSpPr>
        <p:spPr>
          <a:xfrm>
            <a:off x="457200" y="98985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445A6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What comes next?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755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64</a:t>
            </a:fld>
            <a:endParaRPr lang="de-DE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135335"/>
            <a:ext cx="8077200" cy="553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de-DE" smtClean="0"/>
              <a:t>DDIInstance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231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DDIInstance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65</a:t>
            </a:fld>
            <a:endParaRPr lang="de-DE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300" y="2490788"/>
            <a:ext cx="5105400" cy="187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8913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66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de-DE" smtClean="0"/>
              <a:t>ResourcePackage</a:t>
            </a:r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113" y="2500313"/>
            <a:ext cx="5057775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9987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ResourcePackage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67</a:t>
            </a:fld>
            <a:endParaRPr lang="de-DE"/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>
          <a:xfrm>
            <a:off x="457200" y="5661248"/>
            <a:ext cx="8229600" cy="792088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/>
              <a:t>Allows packaging of any maintainable item as a resource </a:t>
            </a:r>
            <a:r>
              <a:rPr lang="en-US" smtClean="0"/>
              <a:t>item</a:t>
            </a:r>
          </a:p>
          <a:p>
            <a:pPr marL="0" indent="0" algn="ctr">
              <a:buNone/>
            </a:pPr>
            <a:r>
              <a:rPr lang="en-US"/>
              <a:t>Structure to publish </a:t>
            </a:r>
            <a:r>
              <a:rPr lang="en-US" b="1">
                <a:solidFill>
                  <a:srgbClr val="FF3399"/>
                </a:solidFill>
              </a:rPr>
              <a:t>non-study-specific</a:t>
            </a:r>
            <a:r>
              <a:rPr lang="en-US"/>
              <a:t> materials for </a:t>
            </a:r>
            <a:r>
              <a:rPr lang="en-US" smtClean="0"/>
              <a:t>reuse</a:t>
            </a:r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2204864"/>
            <a:ext cx="5524500" cy="30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6225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ResourcePackage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68</a:t>
            </a:fld>
            <a:endParaRPr lang="de-DE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713" y="2204864"/>
            <a:ext cx="5362575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Inhaltsplatzhalter 2"/>
          <p:cNvSpPr>
            <a:spLocks noGrp="1"/>
          </p:cNvSpPr>
          <p:nvPr>
            <p:ph idx="1"/>
          </p:nvPr>
        </p:nvSpPr>
        <p:spPr>
          <a:xfrm>
            <a:off x="457200" y="6093296"/>
            <a:ext cx="8229600" cy="792088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>
                <a:solidFill>
                  <a:srgbClr val="FF3399"/>
                </a:solidFill>
              </a:rPr>
              <a:t>Any module</a:t>
            </a:r>
            <a:r>
              <a:rPr lang="de-DE" smtClean="0"/>
              <a:t> (except: StudyUnit, Group, LocalHoldingPackage)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007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69</a:t>
            </a:fld>
            <a:endParaRPr lang="de-DE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738" y="1208881"/>
            <a:ext cx="6486525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Inhaltsplatzhalter 2"/>
          <p:cNvSpPr txBox="1">
            <a:spLocks/>
          </p:cNvSpPr>
          <p:nvPr/>
        </p:nvSpPr>
        <p:spPr>
          <a:xfrm>
            <a:off x="457200" y="5877272"/>
            <a:ext cx="8229600" cy="79208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de-DE" smtClean="0">
                <a:solidFill>
                  <a:srgbClr val="FF3399"/>
                </a:solidFill>
              </a:rPr>
              <a:t>Any Scheme</a:t>
            </a:r>
          </a:p>
          <a:p>
            <a:pPr marL="0" indent="0" algn="ctr">
              <a:buNone/>
            </a:pPr>
            <a:r>
              <a:rPr lang="en-US"/>
              <a:t>Internal or external references </a:t>
            </a:r>
            <a:r>
              <a:rPr lang="en-US" smtClean="0"/>
              <a:t>to schemes and elements </a:t>
            </a:r>
            <a:r>
              <a:rPr lang="en-US"/>
              <a:t>within schemes</a:t>
            </a:r>
          </a:p>
          <a:p>
            <a:pPr marL="0" indent="0" algn="ctr">
              <a:buFont typeface="Arial" pitchFamily="34" charset="0"/>
              <a:buNone/>
            </a:pPr>
            <a:endParaRPr lang="en-US">
              <a:solidFill>
                <a:srgbClr val="FF3399"/>
              </a:solidFill>
            </a:endParaRPr>
          </a:p>
        </p:txBody>
      </p:sp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de-DE" smtClean="0"/>
              <a:t>ResourcePackage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932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Group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70</a:t>
            </a:fld>
            <a:endParaRPr lang="de-DE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638" y="2533650"/>
            <a:ext cx="5038725" cy="179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5949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Group</a:t>
            </a:r>
            <a:endParaRPr lang="en-US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71</a:t>
            </a:fld>
            <a:endParaRPr lang="de-DE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925" y="2132856"/>
            <a:ext cx="5772150" cy="3762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457200" y="6165304"/>
            <a:ext cx="8229600" cy="576064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Groups allow </a:t>
            </a:r>
            <a:r>
              <a:rPr lang="de-DE" smtClean="0">
                <a:solidFill>
                  <a:srgbClr val="FF3399"/>
                </a:solidFill>
              </a:rPr>
              <a:t>inheritance</a:t>
            </a:r>
            <a:endParaRPr lang="en-US">
              <a:solidFill>
                <a:srgbClr val="FF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39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Group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72</a:t>
            </a:fld>
            <a:endParaRPr lang="de-DE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420888"/>
            <a:ext cx="5334000" cy="309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7257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Organization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73</a:t>
            </a:fld>
            <a:endParaRPr lang="de-DE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2154510"/>
            <a:ext cx="6477000" cy="451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4139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Organization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74</a:t>
            </a:fld>
            <a:endParaRPr lang="de-DE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338" y="2267669"/>
            <a:ext cx="6029325" cy="425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5131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75</a:t>
            </a:fld>
            <a:endParaRPr lang="de-DE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588" y="2500313"/>
            <a:ext cx="5076825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de-DE" smtClean="0"/>
              <a:t>LocalHoldingPackage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89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LocalHoldingPackage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76</a:t>
            </a:fld>
            <a:endParaRPr lang="de-DE"/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>
          <a:xfrm>
            <a:off x="467544" y="5772467"/>
            <a:ext cx="8229600" cy="968901"/>
          </a:xfrm>
        </p:spPr>
        <p:txBody>
          <a:bodyPr/>
          <a:lstStyle/>
          <a:p>
            <a:pPr algn="ctr"/>
            <a:r>
              <a:rPr lang="en-US" smtClean="0"/>
              <a:t>Add local content </a:t>
            </a:r>
            <a:r>
              <a:rPr lang="en-US"/>
              <a:t>to a deposited </a:t>
            </a:r>
            <a:r>
              <a:rPr lang="en-US" smtClean="0"/>
              <a:t>study unit or group </a:t>
            </a:r>
          </a:p>
          <a:p>
            <a:pPr algn="ctr"/>
            <a:r>
              <a:rPr lang="en-US" smtClean="0"/>
              <a:t>without </a:t>
            </a:r>
            <a:r>
              <a:rPr lang="en-US"/>
              <a:t>changing the version of the study </a:t>
            </a:r>
            <a:r>
              <a:rPr lang="en-US" smtClean="0"/>
              <a:t>unit, group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113" y="2433042"/>
            <a:ext cx="6581775" cy="272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9359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77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en-US" dirty="0" smtClean="0"/>
              <a:t>What comes next?</a:t>
            </a:r>
            <a:endParaRPr lang="en-US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467544" y="2564904"/>
            <a:ext cx="3816424" cy="4032448"/>
          </a:xfrm>
        </p:spPr>
        <p:txBody>
          <a:bodyPr>
            <a:normAutofit/>
          </a:bodyPr>
          <a:lstStyle/>
          <a:p>
            <a:r>
              <a:rPr lang="en-US" sz="2000" dirty="0" smtClean="0"/>
              <a:t>Missy – General Information</a:t>
            </a:r>
          </a:p>
          <a:p>
            <a:pPr lvl="1"/>
            <a:r>
              <a:rPr lang="en-US" sz="1600" dirty="0" smtClean="0"/>
              <a:t>Requirements</a:t>
            </a:r>
            <a:r>
              <a:rPr lang="de-DE" sz="1600" dirty="0" smtClean="0"/>
              <a:t> </a:t>
            </a:r>
            <a:r>
              <a:rPr lang="de-DE" sz="1600" dirty="0" err="1" smtClean="0"/>
              <a:t>to</a:t>
            </a:r>
            <a:r>
              <a:rPr lang="de-DE" sz="1600" dirty="0" smtClean="0"/>
              <a:t> Developers</a:t>
            </a:r>
            <a:endParaRPr lang="en-US" sz="1600" dirty="0" smtClean="0"/>
          </a:p>
          <a:p>
            <a:pPr lvl="1"/>
            <a:r>
              <a:rPr lang="en-US" sz="1600" dirty="0"/>
              <a:t>Use-Cases in Missy</a:t>
            </a:r>
            <a:endParaRPr lang="en-US" sz="1600" dirty="0" smtClean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Software Architecture</a:t>
            </a:r>
          </a:p>
          <a:p>
            <a:pPr lvl="1"/>
            <a:r>
              <a:rPr lang="en-US" sz="1600" dirty="0" smtClean="0"/>
              <a:t>Multitier</a:t>
            </a:r>
          </a:p>
          <a:p>
            <a:pPr lvl="1"/>
            <a:r>
              <a:rPr lang="en-US" sz="1600" dirty="0" smtClean="0"/>
              <a:t>MVC</a:t>
            </a:r>
          </a:p>
          <a:p>
            <a:r>
              <a:rPr lang="en-US" sz="2000" dirty="0"/>
              <a:t>Missy Data Model</a:t>
            </a:r>
          </a:p>
          <a:p>
            <a:pPr lvl="1"/>
            <a:r>
              <a:rPr lang="en-US" sz="1600" dirty="0"/>
              <a:t>Extendable Data Model</a:t>
            </a:r>
            <a:endParaRPr lang="en-US" dirty="0" smtClean="0"/>
          </a:p>
          <a:p>
            <a:pPr lvl="1"/>
            <a:endParaRPr lang="en-US" sz="1600" dirty="0" smtClean="0"/>
          </a:p>
        </p:txBody>
      </p:sp>
      <p:sp>
        <p:nvSpPr>
          <p:cNvPr id="7" name="Inhaltsplatzhalter 2"/>
          <p:cNvSpPr txBox="1">
            <a:spLocks/>
          </p:cNvSpPr>
          <p:nvPr/>
        </p:nvSpPr>
        <p:spPr>
          <a:xfrm>
            <a:off x="4572000" y="2575830"/>
            <a:ext cx="4283968" cy="4069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DDI-L Overview</a:t>
            </a:r>
          </a:p>
          <a:p>
            <a:r>
              <a:rPr lang="en-US" sz="1800" dirty="0" smtClean="0"/>
              <a:t>Identification, Versioning, Maintenance</a:t>
            </a:r>
          </a:p>
          <a:p>
            <a:r>
              <a:rPr lang="en-US" sz="1800" dirty="0" smtClean="0"/>
              <a:t>DDI-L Main Structures</a:t>
            </a:r>
          </a:p>
          <a:p>
            <a:r>
              <a:rPr lang="en-US" sz="1800" dirty="0" smtClean="0"/>
              <a:t>DDI Instance</a:t>
            </a:r>
          </a:p>
          <a:p>
            <a:r>
              <a:rPr lang="en-US" sz="1800" b="1" dirty="0" smtClean="0">
                <a:solidFill>
                  <a:srgbClr val="FF3399"/>
                </a:solidFill>
              </a:rPr>
              <a:t>Study Unit</a:t>
            </a:r>
          </a:p>
          <a:p>
            <a:endParaRPr lang="en-US" sz="1800" dirty="0"/>
          </a:p>
          <a:p>
            <a:r>
              <a:rPr lang="en-US" sz="1800" dirty="0" smtClean="0"/>
              <a:t>Conceptual Component</a:t>
            </a:r>
          </a:p>
          <a:p>
            <a:r>
              <a:rPr lang="en-US" sz="1800" dirty="0" smtClean="0"/>
              <a:t>Logical Products</a:t>
            </a:r>
          </a:p>
          <a:p>
            <a:r>
              <a:rPr lang="en-US" sz="1800" dirty="0" smtClean="0"/>
              <a:t>Data Collection</a:t>
            </a:r>
          </a:p>
          <a:p>
            <a:r>
              <a:rPr lang="en-US" sz="1800" dirty="0" smtClean="0"/>
              <a:t>disco-model</a:t>
            </a:r>
          </a:p>
          <a:p>
            <a:endParaRPr lang="en-US" sz="1800" dirty="0" smtClean="0"/>
          </a:p>
        </p:txBody>
      </p:sp>
      <p:sp>
        <p:nvSpPr>
          <p:cNvPr id="8" name="Abgerundetes Rechteck 7"/>
          <p:cNvSpPr/>
          <p:nvPr/>
        </p:nvSpPr>
        <p:spPr>
          <a:xfrm>
            <a:off x="195349" y="2457271"/>
            <a:ext cx="8716791" cy="1944216"/>
          </a:xfrm>
          <a:prstGeom prst="round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bgerundetes Rechteck 8"/>
          <p:cNvSpPr/>
          <p:nvPr/>
        </p:nvSpPr>
        <p:spPr>
          <a:xfrm>
            <a:off x="175689" y="4509120"/>
            <a:ext cx="8716791" cy="1813405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feld 9"/>
          <p:cNvSpPr txBox="1"/>
          <p:nvPr/>
        </p:nvSpPr>
        <p:spPr>
          <a:xfrm>
            <a:off x="323528" y="4026550"/>
            <a:ext cx="12697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tx2"/>
                </a:solidFill>
              </a:rPr>
              <a:t>Presentation</a:t>
            </a:r>
            <a:endParaRPr lang="en-US" sz="1600" b="1" dirty="0">
              <a:solidFill>
                <a:schemeClr val="tx2"/>
              </a:solidFill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80312" y="5898758"/>
            <a:ext cx="1393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Business Layer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107505" y="4509120"/>
            <a:ext cx="8928992" cy="1988840"/>
          </a:xfrm>
          <a:prstGeom prst="rect">
            <a:avLst/>
          </a:prstGeom>
          <a:solidFill>
            <a:schemeClr val="bg1">
              <a:alpha val="53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8028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78</a:t>
            </a:fld>
            <a:endParaRPr lang="de-DE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1163910"/>
            <a:ext cx="8020050" cy="550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el 4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de-DE" smtClean="0"/>
              <a:t>StudyUnit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43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79</a:t>
            </a:fld>
            <a:endParaRPr lang="de-DE"/>
          </a:p>
        </p:txBody>
      </p:sp>
      <p:sp>
        <p:nvSpPr>
          <p:cNvPr id="7" name="Titel 4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de-DE" smtClean="0"/>
              <a:t>StudyUnit</a:t>
            </a:r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1365845"/>
            <a:ext cx="6715125" cy="494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0461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80</a:t>
            </a:fld>
            <a:endParaRPr lang="de-DE"/>
          </a:p>
        </p:txBody>
      </p:sp>
      <p:sp>
        <p:nvSpPr>
          <p:cNvPr id="6" name="Titel 4"/>
          <p:cNvSpPr txBox="1">
            <a:spLocks/>
          </p:cNvSpPr>
          <p:nvPr/>
        </p:nvSpPr>
        <p:spPr>
          <a:xfrm>
            <a:off x="457200" y="4462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445A6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mtClean="0"/>
              <a:t>StudyUnit</a:t>
            </a:r>
            <a:endParaRPr 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88" y="936451"/>
            <a:ext cx="7667625" cy="587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527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81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de-DE" smtClean="0"/>
              <a:t>Coverage</a:t>
            </a:r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1340768"/>
            <a:ext cx="6667500" cy="490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116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Coverage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82</a:t>
            </a:fld>
            <a:endParaRPr lang="de-DE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" y="2337023"/>
            <a:ext cx="7277100" cy="332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2689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TemporalCoverage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83</a:t>
            </a:fld>
            <a:endParaRPr lang="de-DE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313" y="2356073"/>
            <a:ext cx="7191375" cy="330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5371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TopicalCoverage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84</a:t>
            </a:fld>
            <a:endParaRPr lang="de-DE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063" y="2692896"/>
            <a:ext cx="2809875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3053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SpatialCoverage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85</a:t>
            </a:fld>
            <a:endParaRPr lang="de-DE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788" y="2274540"/>
            <a:ext cx="7210425" cy="331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3997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SpatialCoverage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86</a:t>
            </a:fld>
            <a:endParaRPr lang="de-DE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538" y="2343125"/>
            <a:ext cx="6638925" cy="288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3702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TopicalCoverage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87</a:t>
            </a:fld>
            <a:endParaRPr lang="de-DE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175" y="2284065"/>
            <a:ext cx="7105650" cy="330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1652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TemporalCoverage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88</a:t>
            </a:fld>
            <a:endParaRPr lang="de-DE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525" y="2705100"/>
            <a:ext cx="531495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2279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89</a:t>
            </a:fld>
            <a:endParaRPr lang="de-DE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725" y="1514053"/>
            <a:ext cx="6686550" cy="486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el 4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de-DE" smtClean="0"/>
              <a:t>FundingInformation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87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FundingInformation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90</a:t>
            </a:fld>
            <a:endParaRPr lang="de-DE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13" y="2257772"/>
            <a:ext cx="5667375" cy="361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724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91</a:t>
            </a:fld>
            <a:endParaRPr lang="de-DE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1485478"/>
            <a:ext cx="6715125" cy="489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el 4"/>
          <p:cNvSpPr txBox="1">
            <a:spLocks/>
          </p:cNvSpPr>
          <p:nvPr/>
        </p:nvSpPr>
        <p:spPr>
          <a:xfrm>
            <a:off x="457200" y="4462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445A6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mtClean="0"/>
              <a:t>Citation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72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Citation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92</a:t>
            </a:fld>
            <a:endParaRPr lang="de-DE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900" y="2405063"/>
            <a:ext cx="4648200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0782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Citation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93</a:t>
            </a:fld>
            <a:endParaRPr lang="de-DE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2424113"/>
            <a:ext cx="4600575" cy="200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8483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Citation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94</a:t>
            </a:fld>
            <a:endParaRPr lang="de-DE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50" y="2397993"/>
            <a:ext cx="6057900" cy="254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7136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the presentation is continued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Ok, I have shown you </a:t>
            </a:r>
          </a:p>
          <a:p>
            <a:pPr lvl="1"/>
            <a:r>
              <a:rPr lang="en-US" dirty="0" smtClean="0"/>
              <a:t>the main structures as well as </a:t>
            </a:r>
          </a:p>
          <a:p>
            <a:pPr lvl="1"/>
            <a:r>
              <a:rPr lang="en-US" dirty="0" smtClean="0"/>
              <a:t>the main modules of DDI-Lifecycle</a:t>
            </a:r>
          </a:p>
          <a:p>
            <a:endParaRPr lang="en-US" dirty="0"/>
          </a:p>
          <a:p>
            <a:r>
              <a:rPr lang="en-US" dirty="0" smtClean="0"/>
              <a:t>If you want to use DDI you have to have a model or idea of your software architecture</a:t>
            </a:r>
          </a:p>
          <a:p>
            <a:r>
              <a:rPr lang="en-US" dirty="0" smtClean="0"/>
              <a:t>How would your software architecture look like?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95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277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96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en-US" dirty="0" smtClean="0"/>
              <a:t>What comes next?</a:t>
            </a:r>
            <a:endParaRPr lang="en-US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467544" y="2564904"/>
            <a:ext cx="3816424" cy="4032448"/>
          </a:xfrm>
        </p:spPr>
        <p:txBody>
          <a:bodyPr>
            <a:normAutofit/>
          </a:bodyPr>
          <a:lstStyle/>
          <a:p>
            <a:r>
              <a:rPr lang="en-US" sz="2000" dirty="0" smtClean="0"/>
              <a:t>Missy – General Information</a:t>
            </a:r>
          </a:p>
          <a:p>
            <a:pPr lvl="1"/>
            <a:r>
              <a:rPr lang="en-US" sz="1600" dirty="0" smtClean="0"/>
              <a:t>Requirements</a:t>
            </a:r>
            <a:r>
              <a:rPr lang="de-DE" sz="1600" dirty="0" smtClean="0"/>
              <a:t> </a:t>
            </a:r>
            <a:r>
              <a:rPr lang="de-DE" sz="1600" dirty="0" err="1" smtClean="0"/>
              <a:t>to</a:t>
            </a:r>
            <a:r>
              <a:rPr lang="de-DE" sz="1600" dirty="0" smtClean="0"/>
              <a:t> Developers</a:t>
            </a:r>
            <a:endParaRPr lang="en-US" sz="1600" dirty="0" smtClean="0"/>
          </a:p>
          <a:p>
            <a:pPr lvl="1"/>
            <a:r>
              <a:rPr lang="en-US" sz="1600" dirty="0"/>
              <a:t>Use-Cases in Missy</a:t>
            </a:r>
            <a:endParaRPr lang="en-US" sz="1600" dirty="0" smtClean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b="1" dirty="0" smtClean="0">
                <a:solidFill>
                  <a:srgbClr val="FF3399"/>
                </a:solidFill>
              </a:rPr>
              <a:t>Software Architecture</a:t>
            </a:r>
          </a:p>
          <a:p>
            <a:pPr lvl="1"/>
            <a:r>
              <a:rPr lang="en-US" sz="1600" dirty="0" smtClean="0"/>
              <a:t>Multitier</a:t>
            </a:r>
          </a:p>
          <a:p>
            <a:pPr lvl="1"/>
            <a:r>
              <a:rPr lang="en-US" sz="1600" dirty="0" smtClean="0"/>
              <a:t>MVC</a:t>
            </a:r>
          </a:p>
          <a:p>
            <a:r>
              <a:rPr lang="en-US" sz="2000" dirty="0"/>
              <a:t>Missy Data Model</a:t>
            </a:r>
          </a:p>
          <a:p>
            <a:pPr lvl="1"/>
            <a:r>
              <a:rPr lang="en-US" sz="1600" dirty="0"/>
              <a:t>Extendable Data Model</a:t>
            </a:r>
            <a:endParaRPr lang="en-US" dirty="0" smtClean="0"/>
          </a:p>
          <a:p>
            <a:pPr lvl="1"/>
            <a:endParaRPr lang="en-US" sz="1600" dirty="0" smtClean="0"/>
          </a:p>
        </p:txBody>
      </p:sp>
      <p:sp>
        <p:nvSpPr>
          <p:cNvPr id="7" name="Inhaltsplatzhalter 2"/>
          <p:cNvSpPr txBox="1">
            <a:spLocks/>
          </p:cNvSpPr>
          <p:nvPr/>
        </p:nvSpPr>
        <p:spPr>
          <a:xfrm>
            <a:off x="4572000" y="2575830"/>
            <a:ext cx="4283968" cy="4069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DDI-L Overview</a:t>
            </a:r>
          </a:p>
          <a:p>
            <a:r>
              <a:rPr lang="en-US" sz="1800" dirty="0" smtClean="0"/>
              <a:t>Identification, Versioning, Maintenance</a:t>
            </a:r>
          </a:p>
          <a:p>
            <a:r>
              <a:rPr lang="en-US" sz="1800" dirty="0" smtClean="0"/>
              <a:t>DDI-L Main Structures</a:t>
            </a:r>
          </a:p>
          <a:p>
            <a:r>
              <a:rPr lang="en-US" sz="1800" dirty="0" smtClean="0"/>
              <a:t>DDI Instance</a:t>
            </a:r>
          </a:p>
          <a:p>
            <a:r>
              <a:rPr lang="en-US" sz="1800" dirty="0" smtClean="0"/>
              <a:t>Study Unit</a:t>
            </a:r>
          </a:p>
          <a:p>
            <a:endParaRPr lang="en-US" sz="1800" dirty="0"/>
          </a:p>
          <a:p>
            <a:r>
              <a:rPr lang="en-US" sz="1800" dirty="0" smtClean="0"/>
              <a:t>Conceptual Component</a:t>
            </a:r>
          </a:p>
          <a:p>
            <a:r>
              <a:rPr lang="en-US" sz="1800" dirty="0" smtClean="0"/>
              <a:t>Logical Products</a:t>
            </a:r>
          </a:p>
          <a:p>
            <a:r>
              <a:rPr lang="en-US" sz="1800" dirty="0" smtClean="0"/>
              <a:t>Data Collection</a:t>
            </a:r>
          </a:p>
          <a:p>
            <a:r>
              <a:rPr lang="en-US" sz="1800" dirty="0" smtClean="0"/>
              <a:t>disco-model</a:t>
            </a:r>
          </a:p>
          <a:p>
            <a:endParaRPr lang="en-US" sz="1800" dirty="0" smtClean="0"/>
          </a:p>
        </p:txBody>
      </p:sp>
      <p:sp>
        <p:nvSpPr>
          <p:cNvPr id="8" name="Abgerundetes Rechteck 7"/>
          <p:cNvSpPr/>
          <p:nvPr/>
        </p:nvSpPr>
        <p:spPr>
          <a:xfrm>
            <a:off x="195349" y="2457271"/>
            <a:ext cx="8716791" cy="1944216"/>
          </a:xfrm>
          <a:prstGeom prst="round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bgerundetes Rechteck 8"/>
          <p:cNvSpPr/>
          <p:nvPr/>
        </p:nvSpPr>
        <p:spPr>
          <a:xfrm>
            <a:off x="175689" y="4509120"/>
            <a:ext cx="8716791" cy="1813405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feld 9"/>
          <p:cNvSpPr txBox="1"/>
          <p:nvPr/>
        </p:nvSpPr>
        <p:spPr>
          <a:xfrm>
            <a:off x="323528" y="4026550"/>
            <a:ext cx="1244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tx2"/>
                </a:solidFill>
              </a:rPr>
              <a:t>Presentation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80312" y="5898758"/>
            <a:ext cx="14209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accent6"/>
                </a:solidFill>
              </a:rPr>
              <a:t>Business Layer</a:t>
            </a:r>
            <a:endParaRPr lang="en-US" sz="1600" b="1" dirty="0">
              <a:solidFill>
                <a:schemeClr val="accent6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107505" y="2276872"/>
            <a:ext cx="8928992" cy="2187724"/>
          </a:xfrm>
          <a:prstGeom prst="rect">
            <a:avLst/>
          </a:prstGeom>
          <a:solidFill>
            <a:schemeClr val="bg1">
              <a:alpha val="53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664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makes Missy interesting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4176464"/>
          </a:xfrm>
        </p:spPr>
        <p:txBody>
          <a:bodyPr>
            <a:normAutofit/>
          </a:bodyPr>
          <a:lstStyle/>
          <a:p>
            <a:r>
              <a:rPr lang="en-US" dirty="0" smtClean="0"/>
              <a:t>Cross-linking </a:t>
            </a:r>
            <a:r>
              <a:rPr lang="en-US" dirty="0"/>
              <a:t>between different </a:t>
            </a:r>
            <a:r>
              <a:rPr lang="en-US" dirty="0" smtClean="0"/>
              <a:t>multilingual studies</a:t>
            </a:r>
            <a:endParaRPr lang="en-US" dirty="0"/>
          </a:p>
          <a:p>
            <a:pPr lvl="1"/>
            <a:r>
              <a:rPr lang="en-US" dirty="0"/>
              <a:t>enabled by the common data model</a:t>
            </a:r>
          </a:p>
          <a:p>
            <a:pPr lvl="1"/>
            <a:r>
              <a:rPr lang="en-US" dirty="0"/>
              <a:t>provides different use-cases</a:t>
            </a:r>
          </a:p>
          <a:p>
            <a:r>
              <a:rPr lang="en-US" dirty="0"/>
              <a:t>Missy leverages DDI as its back-end data model and exchange format</a:t>
            </a:r>
          </a:p>
          <a:p>
            <a:r>
              <a:rPr lang="en-US" dirty="0" smtClean="0"/>
              <a:t>Modern </a:t>
            </a:r>
            <a:r>
              <a:rPr lang="en-US" dirty="0"/>
              <a:t>web project </a:t>
            </a:r>
            <a:r>
              <a:rPr lang="en-US" dirty="0" smtClean="0"/>
              <a:t>architecture, e.g. Multitier, MVC, etc.</a:t>
            </a:r>
          </a:p>
          <a:p>
            <a:endParaRPr lang="en-US" dirty="0" smtClean="0"/>
          </a:p>
          <a:p>
            <a:r>
              <a:rPr lang="en-US" dirty="0" smtClean="0"/>
              <a:t>Is designed to be published as open-source project with an API to persist DDI data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97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3495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Architecture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4320480"/>
          </a:xfrm>
        </p:spPr>
        <p:txBody>
          <a:bodyPr/>
          <a:lstStyle/>
          <a:p>
            <a:r>
              <a:rPr lang="en-US" dirty="0"/>
              <a:t>Standard technologies to develop software </a:t>
            </a:r>
          </a:p>
          <a:p>
            <a:pPr lvl="1"/>
            <a:r>
              <a:rPr lang="en-US" dirty="0"/>
              <a:t>a multitier architecture</a:t>
            </a:r>
          </a:p>
          <a:p>
            <a:pPr lvl="1"/>
            <a:r>
              <a:rPr lang="en-US" dirty="0"/>
              <a:t>Model-View-Controller (MVC-Pattern)</a:t>
            </a:r>
          </a:p>
          <a:p>
            <a:pPr lvl="1"/>
            <a:r>
              <a:rPr lang="en-US" dirty="0"/>
              <a:t>Project management software, e.g. Maven</a:t>
            </a:r>
          </a:p>
          <a:p>
            <a:endParaRPr lang="en-US" dirty="0" smtClean="0"/>
          </a:p>
          <a:p>
            <a:r>
              <a:rPr lang="en-US" dirty="0" smtClean="0"/>
              <a:t>Multitier </a:t>
            </a:r>
            <a:r>
              <a:rPr lang="en-US" dirty="0"/>
              <a:t>architecture separates the project into logical parts</a:t>
            </a:r>
          </a:p>
          <a:p>
            <a:pPr lvl="1"/>
            <a:r>
              <a:rPr lang="en-US" dirty="0"/>
              <a:t>presentation</a:t>
            </a:r>
          </a:p>
          <a:p>
            <a:pPr lvl="1"/>
            <a:r>
              <a:rPr lang="en-US" dirty="0"/>
              <a:t>business logic or application processing</a:t>
            </a:r>
          </a:p>
          <a:p>
            <a:pPr lvl="1"/>
            <a:r>
              <a:rPr lang="en-US" dirty="0"/>
              <a:t>data </a:t>
            </a:r>
            <a:r>
              <a:rPr lang="en-US" dirty="0" smtClean="0"/>
              <a:t>management</a:t>
            </a:r>
          </a:p>
          <a:p>
            <a:pPr lvl="1"/>
            <a:r>
              <a:rPr lang="en-US" dirty="0" smtClean="0"/>
              <a:t>persistence</a:t>
            </a:r>
          </a:p>
          <a:p>
            <a:pPr lvl="1"/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98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3070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99</a:t>
            </a:fld>
            <a:endParaRPr lang="de-DE"/>
          </a:p>
        </p:txBody>
      </p:sp>
      <p:pic>
        <p:nvPicPr>
          <p:cNvPr id="5" name="Picture 2" descr="C:\Dokumente und Einstellungen\Thomas\Desktop\software architecture (abstract and concrete)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8020" y="980728"/>
            <a:ext cx="4110204" cy="5807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468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Model-View-Controller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separation of </a:t>
            </a:r>
          </a:p>
          <a:p>
            <a:pPr lvl="1"/>
            <a:r>
              <a:rPr lang="en-US" dirty="0"/>
              <a:t>representation of information</a:t>
            </a:r>
          </a:p>
          <a:p>
            <a:pPr lvl="1"/>
            <a:r>
              <a:rPr lang="en-US" dirty="0"/>
              <a:t>interactions with the data</a:t>
            </a:r>
          </a:p>
          <a:p>
            <a:pPr lvl="1"/>
            <a:r>
              <a:rPr lang="en-US" dirty="0" smtClean="0"/>
              <a:t>components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the key is to have logically separated </a:t>
            </a:r>
            <a:r>
              <a:rPr lang="en-US" dirty="0" smtClean="0"/>
              <a:t>parts, where people might work collaboratively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100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011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MVC – Interactions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101</a:t>
            </a:fld>
            <a:endParaRPr lang="de-DE"/>
          </a:p>
        </p:txBody>
      </p:sp>
      <p:sp>
        <p:nvSpPr>
          <p:cNvPr id="5" name="Shape 148"/>
          <p:cNvSpPr/>
          <p:nvPr/>
        </p:nvSpPr>
        <p:spPr>
          <a:xfrm>
            <a:off x="4237600" y="5131325"/>
            <a:ext cx="1884900" cy="540000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pPr lvl="0" rtl="0">
              <a:buNone/>
            </a:pPr>
            <a:r>
              <a:rPr lang="en"/>
              <a:t>Model</a:t>
            </a:r>
          </a:p>
        </p:txBody>
      </p:sp>
      <p:sp>
        <p:nvSpPr>
          <p:cNvPr id="6" name="Shape 149"/>
          <p:cNvSpPr/>
          <p:nvPr/>
        </p:nvSpPr>
        <p:spPr>
          <a:xfrm>
            <a:off x="4255825" y="2685675"/>
            <a:ext cx="1884900" cy="540000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pPr lvl="0" rtl="0">
              <a:buNone/>
            </a:pPr>
            <a:r>
              <a:rPr lang="en"/>
              <a:t>View</a:t>
            </a:r>
          </a:p>
        </p:txBody>
      </p:sp>
      <p:sp>
        <p:nvSpPr>
          <p:cNvPr id="7" name="Shape 150"/>
          <p:cNvSpPr/>
          <p:nvPr/>
        </p:nvSpPr>
        <p:spPr>
          <a:xfrm>
            <a:off x="1859950" y="3873150"/>
            <a:ext cx="1884900" cy="540000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pPr lvl="0" rtl="0">
              <a:buNone/>
            </a:pPr>
            <a:r>
              <a:rPr lang="en"/>
              <a:t>Controller</a:t>
            </a:r>
          </a:p>
        </p:txBody>
      </p:sp>
      <p:cxnSp>
        <p:nvCxnSpPr>
          <p:cNvPr id="8" name="Shape 151"/>
          <p:cNvCxnSpPr>
            <a:stCxn id="7" idx="0"/>
            <a:endCxn id="6" idx="1"/>
          </p:cNvCxnSpPr>
          <p:nvPr/>
        </p:nvCxnSpPr>
        <p:spPr>
          <a:xfrm rot="10800000" flipH="1">
            <a:off x="2802400" y="2955675"/>
            <a:ext cx="1453424" cy="917474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9" name="Shape 152"/>
          <p:cNvCxnSpPr>
            <a:stCxn id="7" idx="2"/>
            <a:endCxn id="5" idx="1"/>
          </p:cNvCxnSpPr>
          <p:nvPr/>
        </p:nvCxnSpPr>
        <p:spPr>
          <a:xfrm>
            <a:off x="2802400" y="4413150"/>
            <a:ext cx="1435199" cy="988174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0" name="Shape 153"/>
          <p:cNvSpPr txBox="1"/>
          <p:nvPr/>
        </p:nvSpPr>
        <p:spPr>
          <a:xfrm>
            <a:off x="2791697" y="4851493"/>
            <a:ext cx="844199" cy="3056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900"/>
              <a:t>manipulates</a:t>
            </a:r>
          </a:p>
        </p:txBody>
      </p:sp>
      <p:cxnSp>
        <p:nvCxnSpPr>
          <p:cNvPr id="11" name="Shape 154"/>
          <p:cNvCxnSpPr>
            <a:stCxn id="6" idx="2"/>
            <a:endCxn id="5" idx="0"/>
          </p:cNvCxnSpPr>
          <p:nvPr/>
        </p:nvCxnSpPr>
        <p:spPr>
          <a:xfrm flipH="1">
            <a:off x="5180050" y="3225675"/>
            <a:ext cx="18225" cy="190564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2" name="Shape 155"/>
          <p:cNvSpPr txBox="1"/>
          <p:nvPr/>
        </p:nvSpPr>
        <p:spPr>
          <a:xfrm>
            <a:off x="5214000" y="4005064"/>
            <a:ext cx="844199" cy="3056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900"/>
              <a:t>accesses</a:t>
            </a:r>
          </a:p>
        </p:txBody>
      </p:sp>
      <p:sp>
        <p:nvSpPr>
          <p:cNvPr id="13" name="Shape 156"/>
          <p:cNvSpPr txBox="1"/>
          <p:nvPr/>
        </p:nvSpPr>
        <p:spPr>
          <a:xfrm>
            <a:off x="2935713" y="3140968"/>
            <a:ext cx="844199" cy="3056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900"/>
              <a:t>controls</a:t>
            </a:r>
          </a:p>
        </p:txBody>
      </p:sp>
    </p:spTree>
    <p:extLst>
      <p:ext uri="{BB962C8B-B14F-4D97-AF65-F5344CB8AC3E}">
        <p14:creationId xmlns:p14="http://schemas.microsoft.com/office/powerpoint/2010/main" val="1931063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</a:t>
            </a:r>
            <a:endParaRPr lang="en-US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Represents the business objects, i.e. real life concepts, and their relations to each other</a:t>
            </a:r>
          </a:p>
          <a:p>
            <a:r>
              <a:rPr lang="en-US" dirty="0"/>
              <a:t>Sometimes </a:t>
            </a:r>
            <a:r>
              <a:rPr lang="en-US" dirty="0" smtClean="0"/>
              <a:t>also includes some </a:t>
            </a:r>
            <a:r>
              <a:rPr lang="en-US" dirty="0"/>
              <a:t>business logic</a:t>
            </a:r>
          </a:p>
          <a:p>
            <a:endParaRPr lang="en-US" dirty="0" smtClean="0"/>
          </a:p>
          <a:p>
            <a:r>
              <a:rPr lang="en-US" dirty="0" smtClean="0"/>
              <a:t>Independent of the </a:t>
            </a:r>
            <a:r>
              <a:rPr lang="en-US" dirty="0"/>
              <a:t>presentation and the controls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102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3018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Responsible for the presentation of information to the user</a:t>
            </a:r>
          </a:p>
          <a:p>
            <a:r>
              <a:rPr lang="en-US" dirty="0"/>
              <a:t>Provides actions, so that the user can interact with the </a:t>
            </a:r>
            <a:r>
              <a:rPr lang="en-US" dirty="0" smtClean="0"/>
              <a:t>application</a:t>
            </a:r>
          </a:p>
          <a:p>
            <a:endParaRPr lang="en-US" dirty="0"/>
          </a:p>
          <a:p>
            <a:r>
              <a:rPr lang="en-US" dirty="0"/>
              <a:t>"Knows" the model and can access </a:t>
            </a:r>
            <a:r>
              <a:rPr lang="en-US" dirty="0" smtClean="0"/>
              <a:t>it</a:t>
            </a:r>
          </a:p>
          <a:p>
            <a:endParaRPr lang="en-US" dirty="0"/>
          </a:p>
          <a:p>
            <a:r>
              <a:rPr lang="en-US" dirty="0"/>
              <a:t>Usually does not display the whole model, but rather special "views" or use-cases of it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103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6067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Controller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4176464"/>
          </a:xfrm>
        </p:spPr>
        <p:txBody>
          <a:bodyPr>
            <a:normAutofit/>
          </a:bodyPr>
          <a:lstStyle/>
          <a:p>
            <a:r>
              <a:rPr lang="en-US" dirty="0"/>
              <a:t>Controls the presentations, i.e. views</a:t>
            </a:r>
          </a:p>
          <a:p>
            <a:r>
              <a:rPr lang="en-US" dirty="0"/>
              <a:t>Receives actions from users</a:t>
            </a:r>
          </a:p>
          <a:p>
            <a:pPr lvl="1"/>
            <a:r>
              <a:rPr lang="en-US" dirty="0"/>
              <a:t>interprets/evaluates them</a:t>
            </a:r>
          </a:p>
          <a:p>
            <a:pPr lvl="1"/>
            <a:r>
              <a:rPr lang="en-US" dirty="0"/>
              <a:t>acts </a:t>
            </a:r>
            <a:r>
              <a:rPr lang="en-US" dirty="0" smtClean="0"/>
              <a:t>accordingly</a:t>
            </a:r>
          </a:p>
          <a:p>
            <a:pPr lvl="1"/>
            <a:endParaRPr lang="en-US" dirty="0"/>
          </a:p>
          <a:p>
            <a:r>
              <a:rPr lang="en-US" dirty="0"/>
              <a:t>Manipulates the data / model</a:t>
            </a:r>
          </a:p>
          <a:p>
            <a:r>
              <a:rPr lang="en-US" dirty="0"/>
              <a:t>Usually each view has its own controller</a:t>
            </a:r>
          </a:p>
          <a:p>
            <a:endParaRPr lang="en-US" dirty="0" smtClean="0"/>
          </a:p>
          <a:p>
            <a:r>
              <a:rPr lang="en-US" dirty="0" smtClean="0"/>
              <a:t>Be </a:t>
            </a:r>
            <a:r>
              <a:rPr lang="en-US" dirty="0"/>
              <a:t>warned of code reuse of controllers</a:t>
            </a:r>
          </a:p>
          <a:p>
            <a:pPr lvl="1"/>
            <a:r>
              <a:rPr lang="en-US" dirty="0"/>
              <a:t>controllers are most often the throwaway components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104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9463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 Technologies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105</a:t>
            </a:fld>
            <a:endParaRPr lang="de-DE"/>
          </a:p>
        </p:txBody>
      </p:sp>
      <p:sp>
        <p:nvSpPr>
          <p:cNvPr id="5" name="Shape 180"/>
          <p:cNvSpPr/>
          <p:nvPr/>
        </p:nvSpPr>
        <p:spPr>
          <a:xfrm>
            <a:off x="3853306" y="5481288"/>
            <a:ext cx="1884900" cy="540000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pPr>
              <a:buNone/>
            </a:pPr>
            <a:r>
              <a:rPr lang="en"/>
              <a:t>Model</a:t>
            </a:r>
          </a:p>
        </p:txBody>
      </p:sp>
      <p:sp>
        <p:nvSpPr>
          <p:cNvPr id="6" name="Shape 181"/>
          <p:cNvSpPr/>
          <p:nvPr/>
        </p:nvSpPr>
        <p:spPr>
          <a:xfrm>
            <a:off x="3871531" y="3035638"/>
            <a:ext cx="1884900" cy="540000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pPr lvl="0" rtl="0">
              <a:buNone/>
            </a:pPr>
            <a:r>
              <a:rPr lang="en"/>
              <a:t>View</a:t>
            </a:r>
          </a:p>
        </p:txBody>
      </p:sp>
      <p:sp>
        <p:nvSpPr>
          <p:cNvPr id="7" name="Shape 182"/>
          <p:cNvSpPr/>
          <p:nvPr/>
        </p:nvSpPr>
        <p:spPr>
          <a:xfrm>
            <a:off x="1475656" y="4223113"/>
            <a:ext cx="1884900" cy="540000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pPr lvl="0" rtl="0">
              <a:buNone/>
            </a:pPr>
            <a:r>
              <a:rPr lang="en"/>
              <a:t>Controller</a:t>
            </a:r>
          </a:p>
        </p:txBody>
      </p:sp>
      <p:cxnSp>
        <p:nvCxnSpPr>
          <p:cNvPr id="8" name="Shape 183"/>
          <p:cNvCxnSpPr>
            <a:stCxn id="7" idx="0"/>
            <a:endCxn id="6" idx="1"/>
          </p:cNvCxnSpPr>
          <p:nvPr/>
        </p:nvCxnSpPr>
        <p:spPr>
          <a:xfrm rot="10800000" flipH="1">
            <a:off x="2418106" y="3305638"/>
            <a:ext cx="1453424" cy="917474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9" name="Shape 184"/>
          <p:cNvCxnSpPr>
            <a:stCxn id="7" idx="2"/>
            <a:endCxn id="5" idx="1"/>
          </p:cNvCxnSpPr>
          <p:nvPr/>
        </p:nvCxnSpPr>
        <p:spPr>
          <a:xfrm>
            <a:off x="2418106" y="4763113"/>
            <a:ext cx="1435199" cy="988174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0" name="Shape 185"/>
          <p:cNvSpPr txBox="1"/>
          <p:nvPr/>
        </p:nvSpPr>
        <p:spPr>
          <a:xfrm>
            <a:off x="2305631" y="5180550"/>
            <a:ext cx="844199" cy="3056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>
              <a:buNone/>
            </a:pPr>
            <a:r>
              <a:rPr lang="en" sz="900"/>
              <a:t>manipulates</a:t>
            </a:r>
          </a:p>
        </p:txBody>
      </p:sp>
      <p:cxnSp>
        <p:nvCxnSpPr>
          <p:cNvPr id="11" name="Shape 186"/>
          <p:cNvCxnSpPr>
            <a:stCxn id="6" idx="2"/>
            <a:endCxn id="5" idx="0"/>
          </p:cNvCxnSpPr>
          <p:nvPr/>
        </p:nvCxnSpPr>
        <p:spPr>
          <a:xfrm flipH="1">
            <a:off x="4795756" y="3575638"/>
            <a:ext cx="18225" cy="190564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2" name="Shape 187"/>
          <p:cNvSpPr txBox="1"/>
          <p:nvPr/>
        </p:nvSpPr>
        <p:spPr>
          <a:xfrm>
            <a:off x="4829706" y="4450613"/>
            <a:ext cx="844199" cy="3056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900" dirty="0" smtClean="0"/>
              <a:t>accesses</a:t>
            </a:r>
            <a:endParaRPr lang="en" sz="900" dirty="0"/>
          </a:p>
        </p:txBody>
      </p:sp>
      <p:sp>
        <p:nvSpPr>
          <p:cNvPr id="13" name="Shape 188"/>
          <p:cNvSpPr txBox="1"/>
          <p:nvPr/>
        </p:nvSpPr>
        <p:spPr>
          <a:xfrm>
            <a:off x="2394256" y="3598113"/>
            <a:ext cx="844199" cy="3056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900"/>
              <a:t>controls</a:t>
            </a:r>
          </a:p>
        </p:txBody>
      </p:sp>
      <p:sp>
        <p:nvSpPr>
          <p:cNvPr id="14" name="Shape 189"/>
          <p:cNvSpPr/>
          <p:nvPr/>
        </p:nvSpPr>
        <p:spPr>
          <a:xfrm>
            <a:off x="7436245" y="2408270"/>
            <a:ext cx="1054334" cy="148993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5" name="Shape 190"/>
          <p:cNvSpPr/>
          <p:nvPr/>
        </p:nvSpPr>
        <p:spPr>
          <a:xfrm>
            <a:off x="5885770" y="3182581"/>
            <a:ext cx="1249985" cy="246113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17" name="Shape 192"/>
          <p:cNvSpPr/>
          <p:nvPr/>
        </p:nvSpPr>
        <p:spPr>
          <a:xfrm>
            <a:off x="7455045" y="3819299"/>
            <a:ext cx="1016734" cy="508162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18" name="Shape 231"/>
          <p:cNvSpPr/>
          <p:nvPr/>
        </p:nvSpPr>
        <p:spPr>
          <a:xfrm>
            <a:off x="4725814" y="2307994"/>
            <a:ext cx="2566851" cy="269144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sp>
      <p:sp>
        <p:nvSpPr>
          <p:cNvPr id="19" name="Shape 187"/>
          <p:cNvSpPr txBox="1"/>
          <p:nvPr/>
        </p:nvSpPr>
        <p:spPr>
          <a:xfrm>
            <a:off x="6752137" y="3718223"/>
            <a:ext cx="844199" cy="430857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1600" dirty="0" smtClean="0"/>
              <a:t>…</a:t>
            </a:r>
            <a:endParaRPr lang="en" sz="1600" dirty="0"/>
          </a:p>
        </p:txBody>
      </p:sp>
    </p:spTree>
    <p:extLst>
      <p:ext uri="{BB962C8B-B14F-4D97-AF65-F5344CB8AC3E}">
        <p14:creationId xmlns:p14="http://schemas.microsoft.com/office/powerpoint/2010/main" val="3962245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Model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106</a:t>
            </a:fld>
            <a:endParaRPr lang="de-DE"/>
          </a:p>
        </p:txBody>
      </p:sp>
      <p:sp>
        <p:nvSpPr>
          <p:cNvPr id="5" name="Shape 199"/>
          <p:cNvSpPr/>
          <p:nvPr/>
        </p:nvSpPr>
        <p:spPr>
          <a:xfrm>
            <a:off x="3853306" y="5481288"/>
            <a:ext cx="1884900" cy="540000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pPr lvl="0" rtl="0">
              <a:buNone/>
            </a:pPr>
            <a:r>
              <a:rPr lang="en"/>
              <a:t>Model</a:t>
            </a:r>
          </a:p>
        </p:txBody>
      </p:sp>
      <p:sp>
        <p:nvSpPr>
          <p:cNvPr id="6" name="Shape 200"/>
          <p:cNvSpPr/>
          <p:nvPr/>
        </p:nvSpPr>
        <p:spPr>
          <a:xfrm>
            <a:off x="3871531" y="3035638"/>
            <a:ext cx="1884900" cy="540000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pPr lvl="0" rtl="0">
              <a:buNone/>
            </a:pPr>
            <a:r>
              <a:rPr lang="en"/>
              <a:t>View</a:t>
            </a:r>
          </a:p>
        </p:txBody>
      </p:sp>
      <p:sp>
        <p:nvSpPr>
          <p:cNvPr id="7" name="Shape 201"/>
          <p:cNvSpPr/>
          <p:nvPr/>
        </p:nvSpPr>
        <p:spPr>
          <a:xfrm>
            <a:off x="1475656" y="4223113"/>
            <a:ext cx="1884900" cy="540000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pPr lvl="0" rtl="0">
              <a:buNone/>
            </a:pPr>
            <a:r>
              <a:rPr lang="en"/>
              <a:t>Controller</a:t>
            </a:r>
          </a:p>
        </p:txBody>
      </p:sp>
      <p:cxnSp>
        <p:nvCxnSpPr>
          <p:cNvPr id="8" name="Shape 202"/>
          <p:cNvCxnSpPr>
            <a:stCxn id="7" idx="0"/>
            <a:endCxn id="6" idx="1"/>
          </p:cNvCxnSpPr>
          <p:nvPr/>
        </p:nvCxnSpPr>
        <p:spPr>
          <a:xfrm rot="10800000" flipH="1">
            <a:off x="2418106" y="3305638"/>
            <a:ext cx="1453424" cy="917474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9" name="Shape 203"/>
          <p:cNvCxnSpPr>
            <a:stCxn id="7" idx="2"/>
            <a:endCxn id="5" idx="1"/>
          </p:cNvCxnSpPr>
          <p:nvPr/>
        </p:nvCxnSpPr>
        <p:spPr>
          <a:xfrm>
            <a:off x="2418106" y="4763113"/>
            <a:ext cx="1435199" cy="988174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0" name="Shape 204"/>
          <p:cNvSpPr txBox="1"/>
          <p:nvPr/>
        </p:nvSpPr>
        <p:spPr>
          <a:xfrm>
            <a:off x="2305631" y="5180550"/>
            <a:ext cx="844199" cy="3056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900"/>
              <a:t>manipulates</a:t>
            </a:r>
          </a:p>
        </p:txBody>
      </p:sp>
      <p:cxnSp>
        <p:nvCxnSpPr>
          <p:cNvPr id="11" name="Shape 205"/>
          <p:cNvCxnSpPr>
            <a:stCxn id="6" idx="2"/>
            <a:endCxn id="5" idx="0"/>
          </p:cNvCxnSpPr>
          <p:nvPr/>
        </p:nvCxnSpPr>
        <p:spPr>
          <a:xfrm flipH="1">
            <a:off x="4795756" y="3575638"/>
            <a:ext cx="18225" cy="190564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2" name="Shape 206"/>
          <p:cNvSpPr txBox="1"/>
          <p:nvPr/>
        </p:nvSpPr>
        <p:spPr>
          <a:xfrm>
            <a:off x="4829706" y="4450613"/>
            <a:ext cx="844199" cy="3056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900"/>
              <a:t>accesses</a:t>
            </a:r>
          </a:p>
        </p:txBody>
      </p:sp>
      <p:sp>
        <p:nvSpPr>
          <p:cNvPr id="13" name="Shape 207"/>
          <p:cNvSpPr txBox="1"/>
          <p:nvPr/>
        </p:nvSpPr>
        <p:spPr>
          <a:xfrm>
            <a:off x="2394256" y="3598113"/>
            <a:ext cx="844199" cy="3056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900"/>
              <a:t>controls</a:t>
            </a:r>
          </a:p>
        </p:txBody>
      </p:sp>
      <p:sp>
        <p:nvSpPr>
          <p:cNvPr id="14" name="Shape 208"/>
          <p:cNvSpPr/>
          <p:nvPr/>
        </p:nvSpPr>
        <p:spPr>
          <a:xfrm>
            <a:off x="7436245" y="2408270"/>
            <a:ext cx="1054334" cy="148993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5" name="Shape 209"/>
          <p:cNvSpPr/>
          <p:nvPr/>
        </p:nvSpPr>
        <p:spPr>
          <a:xfrm>
            <a:off x="5885770" y="3182581"/>
            <a:ext cx="1249985" cy="246113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17" name="Shape 211"/>
          <p:cNvSpPr/>
          <p:nvPr/>
        </p:nvSpPr>
        <p:spPr>
          <a:xfrm>
            <a:off x="7455045" y="3819299"/>
            <a:ext cx="1016734" cy="508162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18" name="Shape 213"/>
          <p:cNvSpPr/>
          <p:nvPr/>
        </p:nvSpPr>
        <p:spPr>
          <a:xfrm>
            <a:off x="5958994" y="5283797"/>
            <a:ext cx="1103536" cy="73749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</p:sp>
      <p:sp>
        <p:nvSpPr>
          <p:cNvPr id="19" name="Shape 231"/>
          <p:cNvSpPr/>
          <p:nvPr/>
        </p:nvSpPr>
        <p:spPr>
          <a:xfrm>
            <a:off x="4725814" y="2307994"/>
            <a:ext cx="2566851" cy="269144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</p:sp>
      <p:sp>
        <p:nvSpPr>
          <p:cNvPr id="20" name="Shape 187"/>
          <p:cNvSpPr txBox="1"/>
          <p:nvPr/>
        </p:nvSpPr>
        <p:spPr>
          <a:xfrm>
            <a:off x="6752137" y="3718223"/>
            <a:ext cx="844199" cy="430857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1600" dirty="0" smtClean="0"/>
              <a:t>…</a:t>
            </a:r>
            <a:endParaRPr lang="en" sz="1600" dirty="0"/>
          </a:p>
        </p:txBody>
      </p:sp>
    </p:spTree>
    <p:extLst>
      <p:ext uri="{BB962C8B-B14F-4D97-AF65-F5344CB8AC3E}">
        <p14:creationId xmlns:p14="http://schemas.microsoft.com/office/powerpoint/2010/main" val="1998708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208"/>
          <p:cNvSpPr/>
          <p:nvPr/>
        </p:nvSpPr>
        <p:spPr>
          <a:xfrm>
            <a:off x="7436245" y="2408270"/>
            <a:ext cx="1054334" cy="148993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8" name="Abgerundetes Rechteck 47"/>
          <p:cNvSpPr/>
          <p:nvPr/>
        </p:nvSpPr>
        <p:spPr>
          <a:xfrm>
            <a:off x="683568" y="2708920"/>
            <a:ext cx="6696744" cy="374441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Missy Technologies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758880" y="6448251"/>
            <a:ext cx="2133600" cy="365125"/>
          </a:xfrm>
        </p:spPr>
        <p:txBody>
          <a:bodyPr/>
          <a:lstStyle/>
          <a:p>
            <a:fld id="{EA11F0A9-7B41-4B3D-A4E1-5AEA8E3E3D00}" type="slidenum">
              <a:rPr lang="de-DE" smtClean="0"/>
              <a:t>107</a:t>
            </a:fld>
            <a:endParaRPr lang="de-DE"/>
          </a:p>
        </p:txBody>
      </p:sp>
      <p:sp>
        <p:nvSpPr>
          <p:cNvPr id="18" name="Shape 232"/>
          <p:cNvSpPr/>
          <p:nvPr/>
        </p:nvSpPr>
        <p:spPr>
          <a:xfrm>
            <a:off x="843186" y="5499695"/>
            <a:ext cx="1352550" cy="80962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21" name="Shape 199"/>
          <p:cNvSpPr/>
          <p:nvPr/>
        </p:nvSpPr>
        <p:spPr>
          <a:xfrm>
            <a:off x="3853306" y="5481288"/>
            <a:ext cx="1884900" cy="540000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pPr lvl="0" rtl="0">
              <a:buNone/>
            </a:pPr>
            <a:r>
              <a:rPr lang="en"/>
              <a:t>Model</a:t>
            </a:r>
          </a:p>
        </p:txBody>
      </p:sp>
      <p:sp>
        <p:nvSpPr>
          <p:cNvPr id="22" name="Shape 200"/>
          <p:cNvSpPr/>
          <p:nvPr/>
        </p:nvSpPr>
        <p:spPr>
          <a:xfrm>
            <a:off x="3871531" y="3035638"/>
            <a:ext cx="1884900" cy="540000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pPr lvl="0" rtl="0">
              <a:buNone/>
            </a:pPr>
            <a:r>
              <a:rPr lang="en"/>
              <a:t>View</a:t>
            </a:r>
          </a:p>
        </p:txBody>
      </p:sp>
      <p:sp>
        <p:nvSpPr>
          <p:cNvPr id="23" name="Shape 201"/>
          <p:cNvSpPr/>
          <p:nvPr/>
        </p:nvSpPr>
        <p:spPr>
          <a:xfrm>
            <a:off x="1475656" y="4223113"/>
            <a:ext cx="1884900" cy="540000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pPr lvl="0" rtl="0">
              <a:buNone/>
            </a:pPr>
            <a:r>
              <a:rPr lang="en"/>
              <a:t>Controller</a:t>
            </a:r>
          </a:p>
        </p:txBody>
      </p:sp>
      <p:cxnSp>
        <p:nvCxnSpPr>
          <p:cNvPr id="24" name="Shape 202"/>
          <p:cNvCxnSpPr>
            <a:stCxn id="23" idx="0"/>
            <a:endCxn id="22" idx="1"/>
          </p:cNvCxnSpPr>
          <p:nvPr/>
        </p:nvCxnSpPr>
        <p:spPr>
          <a:xfrm rot="10800000" flipH="1">
            <a:off x="2418106" y="3305638"/>
            <a:ext cx="1453424" cy="917474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5" name="Shape 203"/>
          <p:cNvCxnSpPr>
            <a:stCxn id="23" idx="2"/>
            <a:endCxn id="21" idx="1"/>
          </p:cNvCxnSpPr>
          <p:nvPr/>
        </p:nvCxnSpPr>
        <p:spPr>
          <a:xfrm>
            <a:off x="2418106" y="4763113"/>
            <a:ext cx="1435199" cy="988174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6" name="Shape 204"/>
          <p:cNvSpPr txBox="1"/>
          <p:nvPr/>
        </p:nvSpPr>
        <p:spPr>
          <a:xfrm>
            <a:off x="2305631" y="5180550"/>
            <a:ext cx="844199" cy="3056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900"/>
              <a:t>manipulates</a:t>
            </a:r>
          </a:p>
        </p:txBody>
      </p:sp>
      <p:cxnSp>
        <p:nvCxnSpPr>
          <p:cNvPr id="27" name="Shape 205"/>
          <p:cNvCxnSpPr>
            <a:stCxn id="22" idx="2"/>
            <a:endCxn id="21" idx="0"/>
          </p:cNvCxnSpPr>
          <p:nvPr/>
        </p:nvCxnSpPr>
        <p:spPr>
          <a:xfrm flipH="1">
            <a:off x="4795756" y="3575638"/>
            <a:ext cx="18225" cy="190564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8" name="Shape 206"/>
          <p:cNvSpPr txBox="1"/>
          <p:nvPr/>
        </p:nvSpPr>
        <p:spPr>
          <a:xfrm>
            <a:off x="4829706" y="4450613"/>
            <a:ext cx="844199" cy="3056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900"/>
              <a:t>accesses</a:t>
            </a:r>
          </a:p>
        </p:txBody>
      </p:sp>
      <p:sp>
        <p:nvSpPr>
          <p:cNvPr id="29" name="Shape 207"/>
          <p:cNvSpPr txBox="1"/>
          <p:nvPr/>
        </p:nvSpPr>
        <p:spPr>
          <a:xfrm>
            <a:off x="2394256" y="3598113"/>
            <a:ext cx="844199" cy="3056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900"/>
              <a:t>controls</a:t>
            </a:r>
          </a:p>
        </p:txBody>
      </p:sp>
      <p:sp>
        <p:nvSpPr>
          <p:cNvPr id="30" name="Shape 209"/>
          <p:cNvSpPr/>
          <p:nvPr/>
        </p:nvSpPr>
        <p:spPr>
          <a:xfrm>
            <a:off x="5885770" y="3182581"/>
            <a:ext cx="1249985" cy="246113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31" name="Shape 211"/>
          <p:cNvSpPr/>
          <p:nvPr/>
        </p:nvSpPr>
        <p:spPr>
          <a:xfrm>
            <a:off x="7455045" y="3819299"/>
            <a:ext cx="1016734" cy="508162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</p:sp>
      <p:sp>
        <p:nvSpPr>
          <p:cNvPr id="32" name="Shape 213"/>
          <p:cNvSpPr/>
          <p:nvPr/>
        </p:nvSpPr>
        <p:spPr>
          <a:xfrm>
            <a:off x="5958994" y="5283797"/>
            <a:ext cx="1103536" cy="73749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</p:sp>
      <p:sp>
        <p:nvSpPr>
          <p:cNvPr id="33" name="Shape 231"/>
          <p:cNvSpPr/>
          <p:nvPr/>
        </p:nvSpPr>
        <p:spPr>
          <a:xfrm>
            <a:off x="4725814" y="2307994"/>
            <a:ext cx="2566851" cy="269144"/>
          </a:xfrm>
          <a:prstGeom prst="rect">
            <a:avLst/>
          </a:prstGeom>
          <a:blipFill>
            <a:blip r:embed="rId8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188590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 have discussed so far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Brief introduction to Missy and the use-cases</a:t>
            </a:r>
          </a:p>
          <a:p>
            <a:r>
              <a:rPr lang="en-US" dirty="0" smtClean="0"/>
              <a:t>With which technologies a web application framework might be build up today</a:t>
            </a:r>
          </a:p>
          <a:p>
            <a:r>
              <a:rPr lang="en-US" dirty="0" smtClean="0"/>
              <a:t>How a modern software architecture looks like</a:t>
            </a: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108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2666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the presentation is continued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the DDI-L core modules are and how they are organized</a:t>
            </a:r>
          </a:p>
          <a:p>
            <a:endParaRPr lang="en-US" dirty="0" smtClean="0"/>
          </a:p>
          <a:p>
            <a:r>
              <a:rPr lang="en-US" dirty="0" smtClean="0"/>
              <a:t>Introduction the disco model and</a:t>
            </a:r>
          </a:p>
          <a:p>
            <a:r>
              <a:rPr lang="en-US" dirty="0" smtClean="0"/>
              <a:t>How to extend it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109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0448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110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en-US" dirty="0" smtClean="0"/>
              <a:t>What comes next?</a:t>
            </a:r>
            <a:endParaRPr lang="en-US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467544" y="2564904"/>
            <a:ext cx="3816424" cy="4032448"/>
          </a:xfrm>
        </p:spPr>
        <p:txBody>
          <a:bodyPr>
            <a:normAutofit/>
          </a:bodyPr>
          <a:lstStyle/>
          <a:p>
            <a:r>
              <a:rPr lang="en-US" sz="2000" dirty="0" smtClean="0"/>
              <a:t>Missy – General Information</a:t>
            </a:r>
          </a:p>
          <a:p>
            <a:pPr lvl="1"/>
            <a:r>
              <a:rPr lang="en-US" sz="1600" dirty="0" smtClean="0"/>
              <a:t>Requirements</a:t>
            </a:r>
            <a:r>
              <a:rPr lang="de-DE" sz="1600" dirty="0" smtClean="0"/>
              <a:t> </a:t>
            </a:r>
            <a:r>
              <a:rPr lang="de-DE" sz="1600" dirty="0" err="1" smtClean="0"/>
              <a:t>to</a:t>
            </a:r>
            <a:r>
              <a:rPr lang="de-DE" sz="1600" dirty="0" smtClean="0"/>
              <a:t> Developers</a:t>
            </a:r>
            <a:endParaRPr lang="en-US" sz="1600" dirty="0" smtClean="0"/>
          </a:p>
          <a:p>
            <a:pPr lvl="1"/>
            <a:r>
              <a:rPr lang="en-US" sz="1600" dirty="0"/>
              <a:t>Use-Cases in Missy</a:t>
            </a:r>
            <a:endParaRPr lang="en-US" sz="1600" dirty="0" smtClean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Software Architecture</a:t>
            </a:r>
          </a:p>
          <a:p>
            <a:pPr lvl="1"/>
            <a:r>
              <a:rPr lang="en-US" sz="1600" dirty="0" smtClean="0"/>
              <a:t>Multitier</a:t>
            </a:r>
          </a:p>
          <a:p>
            <a:pPr lvl="1"/>
            <a:r>
              <a:rPr lang="en-US" sz="1600" dirty="0" smtClean="0"/>
              <a:t>MVC</a:t>
            </a:r>
          </a:p>
          <a:p>
            <a:r>
              <a:rPr lang="en-US" sz="2000" dirty="0"/>
              <a:t>Missy Data Model</a:t>
            </a:r>
          </a:p>
          <a:p>
            <a:pPr lvl="1"/>
            <a:r>
              <a:rPr lang="en-US" sz="1600" dirty="0"/>
              <a:t>Extendable Data Model</a:t>
            </a:r>
            <a:endParaRPr lang="en-US" dirty="0" smtClean="0"/>
          </a:p>
          <a:p>
            <a:pPr lvl="1"/>
            <a:endParaRPr lang="en-US" sz="1600" dirty="0" smtClean="0"/>
          </a:p>
        </p:txBody>
      </p:sp>
      <p:sp>
        <p:nvSpPr>
          <p:cNvPr id="7" name="Inhaltsplatzhalter 2"/>
          <p:cNvSpPr txBox="1">
            <a:spLocks/>
          </p:cNvSpPr>
          <p:nvPr/>
        </p:nvSpPr>
        <p:spPr>
          <a:xfrm>
            <a:off x="4572000" y="2575830"/>
            <a:ext cx="4283968" cy="4069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DDI-L Overview</a:t>
            </a:r>
          </a:p>
          <a:p>
            <a:r>
              <a:rPr lang="en-US" sz="1800" dirty="0" smtClean="0"/>
              <a:t>Identification, Versioning, Maintenance</a:t>
            </a:r>
          </a:p>
          <a:p>
            <a:r>
              <a:rPr lang="en-US" sz="1800" dirty="0" smtClean="0"/>
              <a:t>DDI-L Main Structures</a:t>
            </a:r>
          </a:p>
          <a:p>
            <a:r>
              <a:rPr lang="en-US" sz="1800" dirty="0" smtClean="0"/>
              <a:t>DDI Instance</a:t>
            </a:r>
          </a:p>
          <a:p>
            <a:r>
              <a:rPr lang="en-US" sz="1800" dirty="0" smtClean="0"/>
              <a:t>Study Unit</a:t>
            </a:r>
          </a:p>
          <a:p>
            <a:endParaRPr lang="en-US" sz="1800" dirty="0"/>
          </a:p>
          <a:p>
            <a:r>
              <a:rPr lang="en-US" sz="1800" b="1" dirty="0" smtClean="0">
                <a:solidFill>
                  <a:srgbClr val="FF3399"/>
                </a:solidFill>
              </a:rPr>
              <a:t>Conceptual Component</a:t>
            </a:r>
          </a:p>
          <a:p>
            <a:r>
              <a:rPr lang="en-US" sz="1800" dirty="0" smtClean="0"/>
              <a:t>Logical Products</a:t>
            </a:r>
          </a:p>
          <a:p>
            <a:r>
              <a:rPr lang="en-US" sz="1800" dirty="0" smtClean="0"/>
              <a:t>Data Collection</a:t>
            </a:r>
          </a:p>
          <a:p>
            <a:r>
              <a:rPr lang="en-US" sz="1800" dirty="0" smtClean="0"/>
              <a:t>disco-model</a:t>
            </a:r>
          </a:p>
          <a:p>
            <a:endParaRPr lang="en-US" sz="1800" dirty="0" smtClean="0"/>
          </a:p>
        </p:txBody>
      </p:sp>
      <p:sp>
        <p:nvSpPr>
          <p:cNvPr id="8" name="Abgerundetes Rechteck 7"/>
          <p:cNvSpPr/>
          <p:nvPr/>
        </p:nvSpPr>
        <p:spPr>
          <a:xfrm>
            <a:off x="195349" y="2457271"/>
            <a:ext cx="8716791" cy="1944216"/>
          </a:xfrm>
          <a:prstGeom prst="round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bgerundetes Rechteck 8"/>
          <p:cNvSpPr/>
          <p:nvPr/>
        </p:nvSpPr>
        <p:spPr>
          <a:xfrm>
            <a:off x="175689" y="4509120"/>
            <a:ext cx="8716791" cy="1813405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feld 9"/>
          <p:cNvSpPr txBox="1"/>
          <p:nvPr/>
        </p:nvSpPr>
        <p:spPr>
          <a:xfrm>
            <a:off x="323528" y="4026550"/>
            <a:ext cx="1244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tx2"/>
                </a:solidFill>
              </a:rPr>
              <a:t>Presentation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80312" y="5898758"/>
            <a:ext cx="14209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accent6"/>
                </a:solidFill>
              </a:rPr>
              <a:t>Business Layer</a:t>
            </a:r>
            <a:endParaRPr lang="en-US" sz="1600" b="1" dirty="0">
              <a:solidFill>
                <a:schemeClr val="accent6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107505" y="2276822"/>
            <a:ext cx="8928992" cy="2187724"/>
          </a:xfrm>
          <a:prstGeom prst="rect">
            <a:avLst/>
          </a:prstGeom>
          <a:solidFill>
            <a:schemeClr val="bg1">
              <a:alpha val="53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30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ConceptualComponent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111</a:t>
            </a:fld>
            <a:endParaRPr lang="de-DE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1163910"/>
            <a:ext cx="7991475" cy="550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el 1"/>
          <p:cNvSpPr txBox="1">
            <a:spLocks/>
          </p:cNvSpPr>
          <p:nvPr/>
        </p:nvSpPr>
        <p:spPr>
          <a:xfrm>
            <a:off x="457200" y="-2738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445A6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mtClean="0"/>
              <a:t>ConceptualComponent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448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112</a:t>
            </a:fld>
            <a:endParaRPr lang="de-DE"/>
          </a:p>
        </p:txBody>
      </p:sp>
      <p:sp>
        <p:nvSpPr>
          <p:cNvPr id="7" name="Titel 1"/>
          <p:cNvSpPr txBox="1">
            <a:spLocks/>
          </p:cNvSpPr>
          <p:nvPr/>
        </p:nvSpPr>
        <p:spPr>
          <a:xfrm>
            <a:off x="457200" y="-2738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445A6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mtClean="0"/>
              <a:t>ConceptualComponent</a:t>
            </a:r>
            <a:endParaRPr lang="en-US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936451"/>
            <a:ext cx="7658100" cy="587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418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ConceptualComponent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113</a:t>
            </a:fld>
            <a:endParaRPr lang="de-DE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588" y="2234530"/>
            <a:ext cx="6600825" cy="3714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9872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ConceptScheme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114</a:t>
            </a:fld>
            <a:endParaRPr lang="de-DE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638" y="2291680"/>
            <a:ext cx="6562725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214636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ConceptScheme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115</a:t>
            </a:fld>
            <a:endParaRPr lang="de-DE"/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2738" y="2101552"/>
            <a:ext cx="3438525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3630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Concept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116</a:t>
            </a:fld>
            <a:endParaRPr lang="de-DE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204864"/>
            <a:ext cx="3505200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599634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Concept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117</a:t>
            </a:fld>
            <a:endParaRPr lang="de-DE"/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325" y="2276872"/>
            <a:ext cx="241935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0595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Universe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118</a:t>
            </a:fld>
            <a:endParaRPr lang="de-DE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638" y="2291680"/>
            <a:ext cx="6562725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709980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Universe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119</a:t>
            </a:fld>
            <a:endParaRPr lang="de-DE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216621"/>
            <a:ext cx="6048375" cy="387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1722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120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en-US" dirty="0" smtClean="0"/>
              <a:t>What comes next?</a:t>
            </a:r>
            <a:endParaRPr lang="en-US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467544" y="2564904"/>
            <a:ext cx="3816424" cy="4032448"/>
          </a:xfrm>
        </p:spPr>
        <p:txBody>
          <a:bodyPr>
            <a:normAutofit/>
          </a:bodyPr>
          <a:lstStyle/>
          <a:p>
            <a:r>
              <a:rPr lang="en-US" sz="2000" dirty="0" smtClean="0"/>
              <a:t>Missy – General Information</a:t>
            </a:r>
          </a:p>
          <a:p>
            <a:pPr lvl="1"/>
            <a:r>
              <a:rPr lang="en-US" sz="1600" dirty="0" smtClean="0"/>
              <a:t>Requirements</a:t>
            </a:r>
            <a:r>
              <a:rPr lang="de-DE" sz="1600" dirty="0" smtClean="0"/>
              <a:t> </a:t>
            </a:r>
            <a:r>
              <a:rPr lang="de-DE" sz="1600" dirty="0" err="1" smtClean="0"/>
              <a:t>to</a:t>
            </a:r>
            <a:r>
              <a:rPr lang="de-DE" sz="1600" dirty="0" smtClean="0"/>
              <a:t> Developers</a:t>
            </a:r>
            <a:endParaRPr lang="en-US" sz="1600" dirty="0" smtClean="0"/>
          </a:p>
          <a:p>
            <a:pPr lvl="1"/>
            <a:r>
              <a:rPr lang="en-US" sz="1600" dirty="0"/>
              <a:t>Use-Cases in Missy</a:t>
            </a:r>
            <a:endParaRPr lang="en-US" sz="1600" dirty="0" smtClean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Software Architecture</a:t>
            </a:r>
          </a:p>
          <a:p>
            <a:pPr lvl="1"/>
            <a:r>
              <a:rPr lang="en-US" sz="1600" dirty="0" smtClean="0"/>
              <a:t>Multitier</a:t>
            </a:r>
          </a:p>
          <a:p>
            <a:pPr lvl="1"/>
            <a:r>
              <a:rPr lang="en-US" sz="1600" dirty="0" smtClean="0"/>
              <a:t>MVC</a:t>
            </a:r>
          </a:p>
          <a:p>
            <a:r>
              <a:rPr lang="en-US" sz="2000" dirty="0"/>
              <a:t>Missy Data Model</a:t>
            </a:r>
          </a:p>
          <a:p>
            <a:pPr lvl="1"/>
            <a:r>
              <a:rPr lang="en-US" sz="1600" dirty="0"/>
              <a:t>Extendable Data Model</a:t>
            </a:r>
            <a:endParaRPr lang="en-US" dirty="0" smtClean="0"/>
          </a:p>
          <a:p>
            <a:pPr lvl="1"/>
            <a:endParaRPr lang="en-US" sz="1600" dirty="0" smtClean="0"/>
          </a:p>
        </p:txBody>
      </p:sp>
      <p:sp>
        <p:nvSpPr>
          <p:cNvPr id="7" name="Inhaltsplatzhalter 2"/>
          <p:cNvSpPr txBox="1">
            <a:spLocks/>
          </p:cNvSpPr>
          <p:nvPr/>
        </p:nvSpPr>
        <p:spPr>
          <a:xfrm>
            <a:off x="4572000" y="2575830"/>
            <a:ext cx="4283968" cy="4069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DDI-L Overview</a:t>
            </a:r>
          </a:p>
          <a:p>
            <a:r>
              <a:rPr lang="en-US" sz="1800" dirty="0" smtClean="0"/>
              <a:t>Identification, Versioning, Maintenance</a:t>
            </a:r>
          </a:p>
          <a:p>
            <a:r>
              <a:rPr lang="en-US" sz="1800" dirty="0" smtClean="0"/>
              <a:t>DDI-L Main Structures</a:t>
            </a:r>
          </a:p>
          <a:p>
            <a:r>
              <a:rPr lang="en-US" sz="1800" dirty="0" smtClean="0"/>
              <a:t>DDI Instance</a:t>
            </a:r>
          </a:p>
          <a:p>
            <a:r>
              <a:rPr lang="en-US" sz="1800" dirty="0" smtClean="0"/>
              <a:t>Study Unit</a:t>
            </a:r>
          </a:p>
          <a:p>
            <a:endParaRPr lang="en-US" sz="1800" dirty="0"/>
          </a:p>
          <a:p>
            <a:r>
              <a:rPr lang="en-US" sz="1800" dirty="0" smtClean="0"/>
              <a:t>Conceptual Component</a:t>
            </a:r>
          </a:p>
          <a:p>
            <a:r>
              <a:rPr lang="en-US" sz="1800" b="1" dirty="0" smtClean="0">
                <a:solidFill>
                  <a:srgbClr val="FF3399"/>
                </a:solidFill>
              </a:rPr>
              <a:t>Logical Products</a:t>
            </a:r>
          </a:p>
          <a:p>
            <a:r>
              <a:rPr lang="en-US" sz="1800" dirty="0" smtClean="0"/>
              <a:t>Data Collection</a:t>
            </a:r>
          </a:p>
          <a:p>
            <a:r>
              <a:rPr lang="en-US" sz="1800" dirty="0" smtClean="0"/>
              <a:t>disco-model</a:t>
            </a:r>
          </a:p>
          <a:p>
            <a:endParaRPr lang="en-US" sz="1800" dirty="0" smtClean="0"/>
          </a:p>
        </p:txBody>
      </p:sp>
      <p:sp>
        <p:nvSpPr>
          <p:cNvPr id="8" name="Abgerundetes Rechteck 7"/>
          <p:cNvSpPr/>
          <p:nvPr/>
        </p:nvSpPr>
        <p:spPr>
          <a:xfrm>
            <a:off x="195349" y="2457271"/>
            <a:ext cx="8716791" cy="1944216"/>
          </a:xfrm>
          <a:prstGeom prst="round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bgerundetes Rechteck 8"/>
          <p:cNvSpPr/>
          <p:nvPr/>
        </p:nvSpPr>
        <p:spPr>
          <a:xfrm>
            <a:off x="175689" y="4509120"/>
            <a:ext cx="8716791" cy="1813405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feld 9"/>
          <p:cNvSpPr txBox="1"/>
          <p:nvPr/>
        </p:nvSpPr>
        <p:spPr>
          <a:xfrm>
            <a:off x="323528" y="4026550"/>
            <a:ext cx="1244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tx2"/>
                </a:solidFill>
              </a:rPr>
              <a:t>Presentation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80312" y="5898758"/>
            <a:ext cx="14209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accent6"/>
                </a:solidFill>
              </a:rPr>
              <a:t>Business Layer</a:t>
            </a:r>
            <a:endParaRPr lang="en-US" sz="1600" b="1" dirty="0">
              <a:solidFill>
                <a:schemeClr val="accent6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107505" y="2276822"/>
            <a:ext cx="8928992" cy="2187724"/>
          </a:xfrm>
          <a:prstGeom prst="rect">
            <a:avLst/>
          </a:prstGeom>
          <a:solidFill>
            <a:schemeClr val="bg1">
              <a:alpha val="53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148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121</a:t>
            </a:fld>
            <a:endParaRPr lang="de-DE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3" y="1082377"/>
            <a:ext cx="8029575" cy="551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el 4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de-DE" smtClean="0"/>
              <a:t>LogicalProduct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39286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122</a:t>
            </a:fld>
            <a:endParaRPr lang="de-DE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3" y="945976"/>
            <a:ext cx="7686675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el 4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de-DE" smtClean="0"/>
              <a:t>LogicalProduct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52453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123</a:t>
            </a:fld>
            <a:endParaRPr lang="de-DE"/>
          </a:p>
        </p:txBody>
      </p:sp>
      <p:sp>
        <p:nvSpPr>
          <p:cNvPr id="6" name="Titel 4"/>
          <p:cNvSpPr txBox="1">
            <a:spLocks/>
          </p:cNvSpPr>
          <p:nvPr/>
        </p:nvSpPr>
        <p:spPr>
          <a:xfrm>
            <a:off x="457200" y="4462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445A6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mtClean="0"/>
              <a:t>LogicalProduct</a:t>
            </a:r>
            <a:endParaRPr lang="en-US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850" y="907876"/>
            <a:ext cx="6210300" cy="590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1896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124</a:t>
            </a:fld>
            <a:endParaRPr lang="de-DE"/>
          </a:p>
        </p:txBody>
      </p:sp>
      <p:sp>
        <p:nvSpPr>
          <p:cNvPr id="8" name="Titel 4"/>
          <p:cNvSpPr txBox="1">
            <a:spLocks/>
          </p:cNvSpPr>
          <p:nvPr/>
        </p:nvSpPr>
        <p:spPr>
          <a:xfrm>
            <a:off x="457200" y="4462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445A6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mtClean="0"/>
              <a:t>CodeScheme</a:t>
            </a:r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613" y="907876"/>
            <a:ext cx="6200775" cy="590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9440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CodeScheme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125</a:t>
            </a:fld>
            <a:endParaRPr lang="de-DE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763" y="2301602"/>
            <a:ext cx="6086475" cy="249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1696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Code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126</a:t>
            </a:fld>
            <a:endParaRPr lang="de-DE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950" y="2402185"/>
            <a:ext cx="6134100" cy="246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042983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Code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127</a:t>
            </a:fld>
            <a:endParaRPr lang="de-DE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8" y="2443336"/>
            <a:ext cx="5229225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977732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128</a:t>
            </a:fld>
            <a:endParaRPr lang="de-DE"/>
          </a:p>
        </p:txBody>
      </p:sp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457200" y="-99392"/>
            <a:ext cx="8229600" cy="1143000"/>
          </a:xfrm>
        </p:spPr>
        <p:txBody>
          <a:bodyPr/>
          <a:lstStyle/>
          <a:p>
            <a:r>
              <a:rPr lang="de-DE" smtClean="0"/>
              <a:t>CategoryScheme</a:t>
            </a:r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907876"/>
            <a:ext cx="6248400" cy="590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3831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CategoryScheme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129</a:t>
            </a:fld>
            <a:endParaRPr lang="de-DE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2442567"/>
            <a:ext cx="6019800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183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Category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130</a:t>
            </a:fld>
            <a:endParaRPr lang="de-DE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338" y="2384276"/>
            <a:ext cx="6029325" cy="262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963809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Category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131</a:t>
            </a:fld>
            <a:endParaRPr lang="de-DE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433638"/>
            <a:ext cx="4724400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700254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132</a:t>
            </a:fld>
            <a:endParaRPr lang="de-DE"/>
          </a:p>
        </p:txBody>
      </p:sp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457200" y="-99392"/>
            <a:ext cx="8229600" cy="1143000"/>
          </a:xfrm>
        </p:spPr>
        <p:txBody>
          <a:bodyPr/>
          <a:lstStyle/>
          <a:p>
            <a:r>
              <a:rPr lang="de-DE" smtClean="0"/>
              <a:t>VariableScheme</a:t>
            </a:r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088" y="835868"/>
            <a:ext cx="6219825" cy="590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8081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VariableScheme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133</a:t>
            </a:fld>
            <a:endParaRPr lang="de-DE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75" y="2388840"/>
            <a:ext cx="542925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1209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Variable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134</a:t>
            </a:fld>
            <a:endParaRPr lang="de-DE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2335882"/>
            <a:ext cx="5448300" cy="318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2905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Variable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135</a:t>
            </a:fld>
            <a:endParaRPr lang="de-DE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513" y="2312640"/>
            <a:ext cx="5514975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093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Representation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136</a:t>
            </a:fld>
            <a:endParaRPr lang="de-DE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8" y="2346548"/>
            <a:ext cx="5572125" cy="331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0262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Representation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137</a:t>
            </a:fld>
            <a:endParaRPr lang="de-DE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763" y="2420888"/>
            <a:ext cx="6086475" cy="340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9044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CodeRepresentation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138</a:t>
            </a:fld>
            <a:endParaRPr lang="de-DE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138" y="2266156"/>
            <a:ext cx="6181725" cy="346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4267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CodeRepresentation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139</a:t>
            </a:fld>
            <a:endParaRPr lang="de-DE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700" y="2938463"/>
            <a:ext cx="6324600" cy="98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3035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NumericRepresentation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140</a:t>
            </a:fld>
            <a:endParaRPr lang="de-DE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2285206"/>
            <a:ext cx="6076950" cy="344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5337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NumericRepresentation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141</a:t>
            </a:fld>
            <a:endParaRPr lang="de-DE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38" y="2709863"/>
            <a:ext cx="7399337" cy="143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3402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TextRepresentation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142</a:t>
            </a:fld>
            <a:endParaRPr lang="de-DE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2304256"/>
            <a:ext cx="6105525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0352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TextRepresentation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143</a:t>
            </a:fld>
            <a:endParaRPr lang="de-DE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713" y="2790825"/>
            <a:ext cx="3838575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6212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VariableGroup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144</a:t>
            </a:fld>
            <a:endParaRPr lang="de-DE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2350740"/>
            <a:ext cx="5448300" cy="323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6322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VariableGroup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145</a:t>
            </a:fld>
            <a:endParaRPr lang="de-DE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513" y="2389212"/>
            <a:ext cx="5514975" cy="384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5173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146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en-US" dirty="0" smtClean="0"/>
              <a:t>What comes next?</a:t>
            </a:r>
            <a:endParaRPr lang="en-US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467544" y="2564904"/>
            <a:ext cx="3816424" cy="4032448"/>
          </a:xfrm>
        </p:spPr>
        <p:txBody>
          <a:bodyPr>
            <a:normAutofit/>
          </a:bodyPr>
          <a:lstStyle/>
          <a:p>
            <a:r>
              <a:rPr lang="en-US" sz="2000" dirty="0" smtClean="0"/>
              <a:t>Missy – General Information</a:t>
            </a:r>
          </a:p>
          <a:p>
            <a:pPr lvl="1"/>
            <a:r>
              <a:rPr lang="en-US" sz="1600" dirty="0" smtClean="0"/>
              <a:t>Requirements</a:t>
            </a:r>
            <a:r>
              <a:rPr lang="de-DE" sz="1600" dirty="0" smtClean="0"/>
              <a:t> </a:t>
            </a:r>
            <a:r>
              <a:rPr lang="de-DE" sz="1600" dirty="0" err="1" smtClean="0"/>
              <a:t>to</a:t>
            </a:r>
            <a:r>
              <a:rPr lang="de-DE" sz="1600" dirty="0" smtClean="0"/>
              <a:t> Developers</a:t>
            </a:r>
            <a:endParaRPr lang="en-US" sz="1600" dirty="0" smtClean="0"/>
          </a:p>
          <a:p>
            <a:pPr lvl="1"/>
            <a:r>
              <a:rPr lang="en-US" sz="1600" dirty="0"/>
              <a:t>Use-Cases in Missy</a:t>
            </a:r>
            <a:endParaRPr lang="en-US" sz="1600" dirty="0" smtClean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Software Architecture</a:t>
            </a:r>
          </a:p>
          <a:p>
            <a:pPr lvl="1"/>
            <a:r>
              <a:rPr lang="en-US" sz="1600" dirty="0" smtClean="0"/>
              <a:t>Multitier</a:t>
            </a:r>
          </a:p>
          <a:p>
            <a:pPr lvl="1"/>
            <a:r>
              <a:rPr lang="en-US" sz="1600" dirty="0" smtClean="0"/>
              <a:t>MVC</a:t>
            </a:r>
          </a:p>
          <a:p>
            <a:r>
              <a:rPr lang="en-US" sz="2000" dirty="0"/>
              <a:t>Missy Data Model</a:t>
            </a:r>
          </a:p>
          <a:p>
            <a:pPr lvl="1"/>
            <a:r>
              <a:rPr lang="en-US" sz="1600" dirty="0"/>
              <a:t>Extendable Data Model</a:t>
            </a:r>
            <a:endParaRPr lang="en-US" dirty="0" smtClean="0"/>
          </a:p>
          <a:p>
            <a:pPr lvl="1"/>
            <a:endParaRPr lang="en-US" sz="1600" dirty="0" smtClean="0"/>
          </a:p>
        </p:txBody>
      </p:sp>
      <p:sp>
        <p:nvSpPr>
          <p:cNvPr id="7" name="Inhaltsplatzhalter 2"/>
          <p:cNvSpPr txBox="1">
            <a:spLocks/>
          </p:cNvSpPr>
          <p:nvPr/>
        </p:nvSpPr>
        <p:spPr>
          <a:xfrm>
            <a:off x="4572000" y="2575830"/>
            <a:ext cx="4283968" cy="4069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DDI-L Overview</a:t>
            </a:r>
          </a:p>
          <a:p>
            <a:r>
              <a:rPr lang="en-US" sz="1800" dirty="0" smtClean="0"/>
              <a:t>Identification, Versioning, Maintenance</a:t>
            </a:r>
          </a:p>
          <a:p>
            <a:r>
              <a:rPr lang="en-US" sz="1800" dirty="0" smtClean="0"/>
              <a:t>DDI-L Main Structures</a:t>
            </a:r>
          </a:p>
          <a:p>
            <a:r>
              <a:rPr lang="en-US" sz="1800" dirty="0" smtClean="0"/>
              <a:t>DDI Instance</a:t>
            </a:r>
          </a:p>
          <a:p>
            <a:r>
              <a:rPr lang="en-US" sz="1800" dirty="0" smtClean="0"/>
              <a:t>Study Unit</a:t>
            </a:r>
          </a:p>
          <a:p>
            <a:endParaRPr lang="en-US" sz="1800" dirty="0"/>
          </a:p>
          <a:p>
            <a:r>
              <a:rPr lang="en-US" sz="1800" dirty="0" smtClean="0"/>
              <a:t>Conceptual Component</a:t>
            </a:r>
          </a:p>
          <a:p>
            <a:r>
              <a:rPr lang="en-US" sz="1800" dirty="0" smtClean="0"/>
              <a:t>Logical Products</a:t>
            </a:r>
          </a:p>
          <a:p>
            <a:r>
              <a:rPr lang="en-US" sz="1800" b="1" dirty="0" smtClean="0">
                <a:solidFill>
                  <a:srgbClr val="FF3399"/>
                </a:solidFill>
              </a:rPr>
              <a:t>Data Collection</a:t>
            </a:r>
          </a:p>
          <a:p>
            <a:r>
              <a:rPr lang="en-US" sz="1800" dirty="0" smtClean="0"/>
              <a:t>disco-model</a:t>
            </a:r>
          </a:p>
          <a:p>
            <a:endParaRPr lang="en-US" sz="1800" dirty="0" smtClean="0"/>
          </a:p>
        </p:txBody>
      </p:sp>
      <p:sp>
        <p:nvSpPr>
          <p:cNvPr id="8" name="Abgerundetes Rechteck 7"/>
          <p:cNvSpPr/>
          <p:nvPr/>
        </p:nvSpPr>
        <p:spPr>
          <a:xfrm>
            <a:off x="195349" y="2457271"/>
            <a:ext cx="8716791" cy="1944216"/>
          </a:xfrm>
          <a:prstGeom prst="round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bgerundetes Rechteck 8"/>
          <p:cNvSpPr/>
          <p:nvPr/>
        </p:nvSpPr>
        <p:spPr>
          <a:xfrm>
            <a:off x="175689" y="4509120"/>
            <a:ext cx="8716791" cy="1813405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feld 9"/>
          <p:cNvSpPr txBox="1"/>
          <p:nvPr/>
        </p:nvSpPr>
        <p:spPr>
          <a:xfrm>
            <a:off x="323528" y="4026550"/>
            <a:ext cx="1244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tx2"/>
                </a:solidFill>
              </a:rPr>
              <a:t>Presentation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80312" y="5898758"/>
            <a:ext cx="14209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accent6"/>
                </a:solidFill>
              </a:rPr>
              <a:t>Business Layer</a:t>
            </a:r>
            <a:endParaRPr lang="en-US" sz="1600" b="1" dirty="0">
              <a:solidFill>
                <a:schemeClr val="accent6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107505" y="2276822"/>
            <a:ext cx="8928992" cy="2187724"/>
          </a:xfrm>
          <a:prstGeom prst="rect">
            <a:avLst/>
          </a:prstGeom>
          <a:solidFill>
            <a:schemeClr val="bg1">
              <a:alpha val="53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0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147</a:t>
            </a:fld>
            <a:endParaRPr lang="de-DE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120477"/>
            <a:ext cx="8001000" cy="547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el 4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de-DE" smtClean="0"/>
              <a:t>DataCollection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71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148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de-DE" smtClean="0"/>
              <a:t>DataCollection</a:t>
            </a:r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88" y="926926"/>
            <a:ext cx="7667625" cy="588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5659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DataCollection</a:t>
            </a:r>
            <a:endParaRPr lang="en-US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149</a:t>
            </a:fld>
            <a:endParaRPr lang="de-DE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775" y="2346176"/>
            <a:ext cx="588645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8000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150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de-DE" smtClean="0"/>
              <a:t>Methodology</a:t>
            </a:r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488" y="2355701"/>
            <a:ext cx="5915025" cy="265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8347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Methodology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151</a:t>
            </a:fld>
            <a:endParaRPr lang="de-DE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113" y="2402185"/>
            <a:ext cx="6581775" cy="246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0988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152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de-DE" smtClean="0"/>
              <a:t>CollectionEvent</a:t>
            </a:r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963" y="2408659"/>
            <a:ext cx="5934075" cy="267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075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CollectionEvent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153</a:t>
            </a:fld>
            <a:endParaRPr lang="de-DE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2295500"/>
            <a:ext cx="6743700" cy="293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1656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154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de-DE" smtClean="0"/>
              <a:t>QuestionScheme</a:t>
            </a:r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725" y="2317601"/>
            <a:ext cx="5924550" cy="269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8257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QuestionScheme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155</a:t>
            </a:fld>
            <a:endParaRPr lang="de-DE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775" y="2390750"/>
            <a:ext cx="4362450" cy="283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817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156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de-DE" smtClean="0"/>
              <a:t>QuestionItem</a:t>
            </a:r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013" y="2404467"/>
            <a:ext cx="4371975" cy="275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5977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QuestionItem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157</a:t>
            </a:fld>
            <a:endParaRPr lang="de-DE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338" y="2307307"/>
            <a:ext cx="6029325" cy="320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9725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158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de-DE" smtClean="0"/>
              <a:t>Response Domain</a:t>
            </a:r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388" y="2354932"/>
            <a:ext cx="5991225" cy="316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7969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2132856"/>
            <a:ext cx="8896350" cy="463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Response Domain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159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2096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160</a:t>
            </a:fld>
            <a:endParaRPr lang="de-DE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488" y="2255118"/>
            <a:ext cx="5915025" cy="268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de-DE" smtClean="0"/>
              <a:t>Instrument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325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Instrument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161</a:t>
            </a:fld>
            <a:endParaRPr lang="de-DE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2384276"/>
            <a:ext cx="5867400" cy="262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1980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162</a:t>
            </a:fld>
            <a:endParaRPr lang="de-DE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775" y="2321793"/>
            <a:ext cx="5886450" cy="261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de-DE" smtClean="0"/>
              <a:t>ControlConstruct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57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ControlConstructScheme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163</a:t>
            </a:fld>
            <a:endParaRPr lang="de-DE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2390750"/>
            <a:ext cx="4095750" cy="283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6834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ControlConstruct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164</a:t>
            </a:fld>
            <a:endParaRPr lang="de-DE"/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38" y="2441426"/>
            <a:ext cx="7172325" cy="257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5361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Sequence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165</a:t>
            </a:fld>
            <a:endParaRPr lang="de-DE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313" y="2359893"/>
            <a:ext cx="7191375" cy="258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3865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Sequence (bahavioral)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166</a:t>
            </a:fld>
            <a:endParaRPr lang="de-DE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3838" y="2451323"/>
            <a:ext cx="1076325" cy="320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9855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Sequence (XML)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0" y="2500306"/>
            <a:ext cx="9144000" cy="42410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mtClean="0"/>
              <a:t>&lt;Sequence&gt;</a:t>
            </a:r>
            <a:endParaRPr lang="en-US"/>
          </a:p>
          <a:p>
            <a:pPr marL="0" indent="0">
              <a:buNone/>
            </a:pPr>
            <a:r>
              <a:rPr lang="en-US" smtClean="0"/>
              <a:t>    &lt;ControlConstructReference&gt; </a:t>
            </a:r>
            <a:r>
              <a:rPr lang="en-US" b="1" smtClean="0">
                <a:solidFill>
                  <a:srgbClr val="FF3399"/>
                </a:solidFill>
              </a:rPr>
              <a:t>[Q1] </a:t>
            </a:r>
            <a:r>
              <a:rPr lang="en-US" smtClean="0"/>
              <a:t>&lt;/ControlConstructReference&gt;</a:t>
            </a:r>
          </a:p>
          <a:p>
            <a:pPr marL="0" indent="0">
              <a:buNone/>
            </a:pPr>
            <a:r>
              <a:rPr lang="en-US" smtClean="0"/>
              <a:t>    &lt;</a:t>
            </a:r>
            <a:r>
              <a:rPr lang="en-US"/>
              <a:t>ControlConstructReference&gt; </a:t>
            </a:r>
            <a:r>
              <a:rPr lang="en-US" b="1">
                <a:solidFill>
                  <a:srgbClr val="FF3399"/>
                </a:solidFill>
              </a:rPr>
              <a:t>[</a:t>
            </a:r>
            <a:r>
              <a:rPr lang="en-US" b="1" smtClean="0">
                <a:solidFill>
                  <a:srgbClr val="FF3399"/>
                </a:solidFill>
              </a:rPr>
              <a:t>Q2] </a:t>
            </a:r>
            <a:r>
              <a:rPr lang="en-US"/>
              <a:t>&lt;/ControlConstructReference&gt;</a:t>
            </a:r>
          </a:p>
          <a:p>
            <a:pPr marL="0" indent="0">
              <a:buNone/>
            </a:pPr>
            <a:r>
              <a:rPr lang="en-US" smtClean="0"/>
              <a:t>    &lt;</a:t>
            </a:r>
            <a:r>
              <a:rPr lang="en-US"/>
              <a:t>ControlConstructReference&gt; </a:t>
            </a:r>
            <a:r>
              <a:rPr lang="en-US" b="1">
                <a:solidFill>
                  <a:srgbClr val="FF3399"/>
                </a:solidFill>
              </a:rPr>
              <a:t>[</a:t>
            </a:r>
            <a:r>
              <a:rPr lang="en-US" b="1" smtClean="0">
                <a:solidFill>
                  <a:srgbClr val="FF3399"/>
                </a:solidFill>
              </a:rPr>
              <a:t>Q3] </a:t>
            </a:r>
            <a:r>
              <a:rPr lang="en-US"/>
              <a:t>&lt;/ControlConstructReference</a:t>
            </a:r>
            <a:r>
              <a:rPr lang="en-US" smtClean="0"/>
              <a:t>&gt;</a:t>
            </a:r>
          </a:p>
          <a:p>
            <a:pPr marL="0" indent="0">
              <a:buNone/>
            </a:pPr>
            <a:r>
              <a:rPr lang="en-US" smtClean="0"/>
              <a:t>&lt;/Sequence</a:t>
            </a:r>
            <a:r>
              <a:rPr lang="en-US"/>
              <a:t>&gt;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167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4605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Sequence (structural)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168</a:t>
            </a:fld>
            <a:endParaRPr lang="de-DE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025" y="2443163"/>
            <a:ext cx="1885950" cy="197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5518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169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de-DE" smtClean="0"/>
              <a:t>StatementItem</a:t>
            </a:r>
            <a:endParaRPr lang="en-US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75" y="2263502"/>
            <a:ext cx="7181850" cy="253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3583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StatementItem (behavioral)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170</a:t>
            </a:fld>
            <a:endParaRPr lang="de-DE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0" y="2509838"/>
            <a:ext cx="1143000" cy="183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8937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StatementItem (XML)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mtClean="0"/>
              <a:t>&lt;StatementItem&gt;</a:t>
            </a:r>
            <a:endParaRPr lang="en-US"/>
          </a:p>
          <a:p>
            <a:pPr marL="0" indent="0">
              <a:buNone/>
            </a:pPr>
            <a:r>
              <a:rPr lang="en-US" smtClean="0"/>
              <a:t>    &lt;DisplayText&gt;</a:t>
            </a:r>
          </a:p>
          <a:p>
            <a:pPr marL="0" indent="0">
              <a:buNone/>
            </a:pPr>
            <a:r>
              <a:rPr lang="en-US"/>
              <a:t> </a:t>
            </a:r>
            <a:r>
              <a:rPr lang="en-US" smtClean="0"/>
              <a:t>       </a:t>
            </a:r>
            <a:r>
              <a:rPr lang="en-US" b="1" smtClean="0">
                <a:solidFill>
                  <a:srgbClr val="FF3399"/>
                </a:solidFill>
              </a:rPr>
              <a:t>statement</a:t>
            </a:r>
            <a:r>
              <a:rPr lang="en-US" smtClean="0">
                <a:solidFill>
                  <a:srgbClr val="FF3399"/>
                </a:solidFill>
              </a:rPr>
              <a:t> </a:t>
            </a:r>
            <a:r>
              <a:rPr lang="en-US" smtClean="0"/>
              <a:t>   </a:t>
            </a:r>
          </a:p>
          <a:p>
            <a:pPr marL="0" indent="0">
              <a:buNone/>
            </a:pPr>
            <a:r>
              <a:rPr lang="en-US"/>
              <a:t> </a:t>
            </a:r>
            <a:r>
              <a:rPr lang="en-US" smtClean="0"/>
              <a:t>   &lt;/DisplayText&gt;</a:t>
            </a:r>
          </a:p>
          <a:p>
            <a:pPr marL="0" indent="0">
              <a:buNone/>
            </a:pPr>
            <a:r>
              <a:rPr lang="en-US" smtClean="0"/>
              <a:t>&lt;/StatementItem</a:t>
            </a:r>
            <a:r>
              <a:rPr lang="en-US"/>
              <a:t>&gt;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171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3057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StatementItem (structural)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172</a:t>
            </a:fld>
            <a:endParaRPr lang="de-DE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0013" y="2638425"/>
            <a:ext cx="1323975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3452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173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de-DE" smtClean="0"/>
              <a:t>QuestionConstruct</a:t>
            </a:r>
            <a:endParaRPr lang="en-US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8" y="2369418"/>
            <a:ext cx="7134225" cy="257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0107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QuestionConstruct (behavioral)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174</a:t>
            </a:fld>
            <a:endParaRPr lang="de-DE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25" y="2433638"/>
            <a:ext cx="1047750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6737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1143000"/>
          </a:xfrm>
        </p:spPr>
        <p:txBody>
          <a:bodyPr/>
          <a:lstStyle/>
          <a:p>
            <a:r>
              <a:rPr lang="de-DE" smtClean="0"/>
              <a:t>QuestionConstruct (XML)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204864"/>
            <a:ext cx="8229600" cy="36258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 </a:t>
            </a:r>
            <a:r>
              <a:rPr lang="en-US" smtClean="0"/>
              <a:t>&lt;QuestionConstruct&gt;</a:t>
            </a:r>
            <a:endParaRPr lang="en-US"/>
          </a:p>
          <a:p>
            <a:pPr marL="0" indent="0">
              <a:buNone/>
            </a:pPr>
            <a:r>
              <a:rPr lang="en-US" smtClean="0"/>
              <a:t>    &lt;QuestionReference&gt; </a:t>
            </a:r>
            <a:r>
              <a:rPr lang="en-US" b="1" smtClean="0">
                <a:solidFill>
                  <a:srgbClr val="FF3399"/>
                </a:solidFill>
              </a:rPr>
              <a:t>[Q1]</a:t>
            </a:r>
            <a:r>
              <a:rPr lang="en-US" smtClean="0">
                <a:solidFill>
                  <a:srgbClr val="FF3399"/>
                </a:solidFill>
              </a:rPr>
              <a:t> </a:t>
            </a:r>
            <a:r>
              <a:rPr lang="en-US" smtClean="0"/>
              <a:t>&lt;/QuestionReference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 smtClean="0"/>
              <a:t>&lt;/QuestionConstruct</a:t>
            </a:r>
            <a:r>
              <a:rPr lang="en-US"/>
              <a:t>&gt;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175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2936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QuestionConstruct (structural)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176</a:t>
            </a:fld>
            <a:endParaRPr lang="de-DE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9050" y="2476500"/>
            <a:ext cx="14859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0823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177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de-DE" smtClean="0"/>
              <a:t>IfThenElse</a:t>
            </a:r>
            <a:endParaRPr lang="en-US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313" y="2340843"/>
            <a:ext cx="7191375" cy="260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9517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IfThenElse (behavioral)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178</a:t>
            </a:fld>
            <a:endParaRPr lang="de-DE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438" y="2446362"/>
            <a:ext cx="2905125" cy="379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8462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IfThenElse (XML)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431307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mtClean="0"/>
              <a:t>&lt;IfThenElse&gt;</a:t>
            </a:r>
          </a:p>
          <a:p>
            <a:pPr marL="0" indent="0">
              <a:buNone/>
            </a:pPr>
            <a:r>
              <a:rPr lang="en-US"/>
              <a:t> </a:t>
            </a:r>
            <a:r>
              <a:rPr lang="en-US" smtClean="0"/>
              <a:t>   &lt;IfCondition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/>
              <a:t>        </a:t>
            </a:r>
            <a:r>
              <a:rPr lang="en-US" smtClean="0"/>
              <a:t>&lt;Code </a:t>
            </a:r>
            <a:r>
              <a:rPr lang="en-US"/>
              <a:t>programmingLanguage</a:t>
            </a:r>
            <a:r>
              <a:rPr lang="en-US" smtClean="0"/>
              <a:t>="…"&gt; </a:t>
            </a:r>
            <a:r>
              <a:rPr lang="en-US" b="1" smtClean="0">
                <a:solidFill>
                  <a:srgbClr val="FF3399"/>
                </a:solidFill>
              </a:rPr>
              <a:t>yes</a:t>
            </a:r>
            <a:r>
              <a:rPr lang="en-US" b="1" smtClean="0">
                <a:solidFill>
                  <a:srgbClr val="FFC000"/>
                </a:solidFill>
              </a:rPr>
              <a:t> </a:t>
            </a:r>
            <a:r>
              <a:rPr lang="en-US" smtClean="0"/>
              <a:t>&lt;/Code&gt;</a:t>
            </a:r>
          </a:p>
          <a:p>
            <a:pPr marL="0" indent="0">
              <a:buNone/>
            </a:pPr>
            <a:r>
              <a:rPr lang="de-DE"/>
              <a:t>        &lt;SourceQuestionReference</a:t>
            </a:r>
            <a:r>
              <a:rPr lang="de-DE" smtClean="0"/>
              <a:t>&gt; </a:t>
            </a:r>
            <a:r>
              <a:rPr lang="de-DE" b="1" smtClean="0">
                <a:solidFill>
                  <a:srgbClr val="FF3399"/>
                </a:solidFill>
              </a:rPr>
              <a:t>[Q1]</a:t>
            </a:r>
            <a:r>
              <a:rPr lang="de-DE" b="1" smtClean="0">
                <a:solidFill>
                  <a:srgbClr val="FFC000"/>
                </a:solidFill>
              </a:rPr>
              <a:t> </a:t>
            </a:r>
            <a:r>
              <a:rPr lang="de-DE" smtClean="0"/>
              <a:t>&lt;/SourceQuestionReference</a:t>
            </a:r>
            <a:r>
              <a:rPr lang="de-DE"/>
              <a:t>&gt;</a:t>
            </a:r>
            <a:endParaRPr lang="en-US"/>
          </a:p>
          <a:p>
            <a:pPr marL="0" indent="0">
              <a:buNone/>
            </a:pPr>
            <a:r>
              <a:rPr lang="en-US"/>
              <a:t>    </a:t>
            </a:r>
            <a:r>
              <a:rPr lang="en-US" smtClean="0"/>
              <a:t>&lt;/IfCondition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/>
              <a:t>    </a:t>
            </a:r>
            <a:r>
              <a:rPr lang="en-US" smtClean="0"/>
              <a:t>&lt;ThenConstructReference&gt; </a:t>
            </a:r>
            <a:r>
              <a:rPr lang="en-US" b="1" smtClean="0">
                <a:solidFill>
                  <a:srgbClr val="FF3399"/>
                </a:solidFill>
              </a:rPr>
              <a:t>[Q2] </a:t>
            </a:r>
            <a:r>
              <a:rPr lang="en-US" smtClean="0"/>
              <a:t>&lt;/ThenConstructReference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/>
              <a:t>    </a:t>
            </a:r>
            <a:r>
              <a:rPr lang="en-US" smtClean="0"/>
              <a:t>&lt;ElseIf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/>
              <a:t>        </a:t>
            </a:r>
            <a:r>
              <a:rPr lang="en-US" smtClean="0"/>
              <a:t>&lt;IfCondition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/>
              <a:t>          </a:t>
            </a:r>
            <a:r>
              <a:rPr lang="en-US" smtClean="0"/>
              <a:t>  &lt;Code </a:t>
            </a:r>
            <a:r>
              <a:rPr lang="en-US"/>
              <a:t>programmingLanguage</a:t>
            </a:r>
            <a:r>
              <a:rPr lang="en-US" smtClean="0"/>
              <a:t>="…"&gt; </a:t>
            </a:r>
            <a:r>
              <a:rPr lang="en-US" b="1" smtClean="0">
                <a:solidFill>
                  <a:srgbClr val="FF3399"/>
                </a:solidFill>
              </a:rPr>
              <a:t>no</a:t>
            </a:r>
            <a:r>
              <a:rPr lang="en-US" b="1" smtClean="0">
                <a:solidFill>
                  <a:srgbClr val="FFC000"/>
                </a:solidFill>
              </a:rPr>
              <a:t> </a:t>
            </a:r>
            <a:r>
              <a:rPr lang="en-US" smtClean="0"/>
              <a:t>&lt;/Code&gt;</a:t>
            </a:r>
          </a:p>
          <a:p>
            <a:pPr marL="0" indent="0">
              <a:buNone/>
            </a:pPr>
            <a:r>
              <a:rPr lang="de-DE"/>
              <a:t> </a:t>
            </a:r>
            <a:r>
              <a:rPr lang="de-DE" smtClean="0"/>
              <a:t>           &lt;SourceQuestionReference&gt;</a:t>
            </a:r>
            <a:r>
              <a:rPr lang="de-DE" b="1">
                <a:solidFill>
                  <a:srgbClr val="FFC000"/>
                </a:solidFill>
              </a:rPr>
              <a:t> </a:t>
            </a:r>
            <a:r>
              <a:rPr lang="de-DE" b="1">
                <a:solidFill>
                  <a:srgbClr val="FF3399"/>
                </a:solidFill>
              </a:rPr>
              <a:t>[Q1</a:t>
            </a:r>
            <a:r>
              <a:rPr lang="de-DE" b="1" smtClean="0">
                <a:solidFill>
                  <a:srgbClr val="FF3399"/>
                </a:solidFill>
              </a:rPr>
              <a:t>] </a:t>
            </a:r>
            <a:r>
              <a:rPr lang="de-DE" smtClean="0"/>
              <a:t>&lt;/</a:t>
            </a:r>
            <a:r>
              <a:rPr lang="de-DE"/>
              <a:t>SourceQuestionReference&gt;</a:t>
            </a:r>
            <a:endParaRPr lang="en-US"/>
          </a:p>
          <a:p>
            <a:pPr marL="0" indent="0">
              <a:buNone/>
            </a:pPr>
            <a:r>
              <a:rPr lang="en-US"/>
              <a:t>        </a:t>
            </a:r>
            <a:r>
              <a:rPr lang="en-US" smtClean="0"/>
              <a:t>&lt;/IfCondition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/>
              <a:t>        </a:t>
            </a:r>
            <a:r>
              <a:rPr lang="en-US" smtClean="0"/>
              <a:t>&lt;ThenConstructReference&gt; </a:t>
            </a:r>
            <a:r>
              <a:rPr lang="en-US" b="1" smtClean="0">
                <a:solidFill>
                  <a:srgbClr val="FF3399"/>
                </a:solidFill>
              </a:rPr>
              <a:t>[Q3] </a:t>
            </a:r>
            <a:r>
              <a:rPr lang="en-US" smtClean="0"/>
              <a:t>&lt;/</a:t>
            </a:r>
            <a:r>
              <a:rPr lang="en-US"/>
              <a:t>d:ThenConstructReference&gt;</a:t>
            </a:r>
          </a:p>
          <a:p>
            <a:pPr marL="0" indent="0">
              <a:buNone/>
            </a:pPr>
            <a:r>
              <a:rPr lang="en-US"/>
              <a:t>    </a:t>
            </a:r>
            <a:r>
              <a:rPr lang="en-US" smtClean="0"/>
              <a:t>&lt;/ElseIf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 smtClean="0"/>
              <a:t>&lt;/IfThenElse</a:t>
            </a:r>
            <a:r>
              <a:rPr lang="en-US"/>
              <a:t>&gt;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179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2442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IfThenElse (structural)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180</a:t>
            </a:fld>
            <a:endParaRPr lang="de-DE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2374354"/>
            <a:ext cx="7886700" cy="379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4959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181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de-DE" smtClean="0"/>
              <a:t>Loop</a:t>
            </a:r>
            <a:endParaRPr lang="en-US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3" y="2369418"/>
            <a:ext cx="7153275" cy="257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8602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Loop (behavioral)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182</a:t>
            </a:fld>
            <a:endParaRPr lang="de-DE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4263" y="1916832"/>
            <a:ext cx="1895475" cy="484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2123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Loop (XML)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mtClean="0"/>
              <a:t>&lt;Loop&gt;</a:t>
            </a:r>
          </a:p>
          <a:p>
            <a:pPr marL="0" indent="0">
              <a:buNone/>
            </a:pPr>
            <a:r>
              <a:rPr lang="en-US" smtClean="0"/>
              <a:t>    &lt;InitialValue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/>
              <a:t>        </a:t>
            </a:r>
            <a:r>
              <a:rPr lang="en-US" smtClean="0"/>
              <a:t>&lt;Code </a:t>
            </a:r>
            <a:r>
              <a:rPr lang="en-US"/>
              <a:t>programmingLanguage</a:t>
            </a:r>
            <a:r>
              <a:rPr lang="en-US" smtClean="0"/>
              <a:t>=“Java"&gt; </a:t>
            </a:r>
            <a:r>
              <a:rPr lang="en-US" b="1" smtClean="0">
                <a:solidFill>
                  <a:srgbClr val="FF3399"/>
                </a:solidFill>
              </a:rPr>
              <a:t>i </a:t>
            </a:r>
            <a:r>
              <a:rPr lang="en-US" b="1">
                <a:solidFill>
                  <a:srgbClr val="FF3399"/>
                </a:solidFill>
              </a:rPr>
              <a:t>= </a:t>
            </a:r>
            <a:r>
              <a:rPr lang="en-US" b="1" smtClean="0">
                <a:solidFill>
                  <a:srgbClr val="FF3399"/>
                </a:solidFill>
              </a:rPr>
              <a:t>0 </a:t>
            </a:r>
            <a:r>
              <a:rPr lang="en-US" smtClean="0"/>
              <a:t>&lt;/Code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/>
              <a:t>   </a:t>
            </a:r>
            <a:r>
              <a:rPr lang="en-US" smtClean="0"/>
              <a:t> &lt;/InitialValue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/>
              <a:t>    </a:t>
            </a:r>
            <a:r>
              <a:rPr lang="en-US" smtClean="0"/>
              <a:t>&lt;LoopWhile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/>
              <a:t>        </a:t>
            </a:r>
            <a:r>
              <a:rPr lang="en-US" smtClean="0"/>
              <a:t>&lt;Code </a:t>
            </a:r>
            <a:r>
              <a:rPr lang="en-US"/>
              <a:t>programmingLanguage</a:t>
            </a:r>
            <a:r>
              <a:rPr lang="en-US" smtClean="0"/>
              <a:t>=“Java"&gt; </a:t>
            </a:r>
            <a:r>
              <a:rPr lang="en-US" b="1" smtClean="0">
                <a:solidFill>
                  <a:srgbClr val="FF3399"/>
                </a:solidFill>
              </a:rPr>
              <a:t>i </a:t>
            </a:r>
            <a:r>
              <a:rPr lang="en-US" b="1">
                <a:solidFill>
                  <a:srgbClr val="FF3399"/>
                </a:solidFill>
              </a:rPr>
              <a:t>&lt;</a:t>
            </a:r>
            <a:r>
              <a:rPr lang="en-US" b="1" smtClean="0">
                <a:solidFill>
                  <a:srgbClr val="FF3399"/>
                </a:solidFill>
              </a:rPr>
              <a:t> 10</a:t>
            </a:r>
            <a:r>
              <a:rPr lang="en-US" smtClean="0"/>
              <a:t> &lt;/Code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/>
              <a:t>    </a:t>
            </a:r>
            <a:r>
              <a:rPr lang="en-US" smtClean="0"/>
              <a:t>&lt;/LoopWhile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/>
              <a:t>    </a:t>
            </a:r>
            <a:r>
              <a:rPr lang="en-US" smtClean="0"/>
              <a:t>&lt;StepValue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/>
              <a:t>        </a:t>
            </a:r>
            <a:r>
              <a:rPr lang="en-US" smtClean="0"/>
              <a:t>&lt;Code </a:t>
            </a:r>
            <a:r>
              <a:rPr lang="en-US"/>
              <a:t>programmingLanguage</a:t>
            </a:r>
            <a:r>
              <a:rPr lang="en-US" smtClean="0"/>
              <a:t>=“Java"&gt; </a:t>
            </a:r>
            <a:r>
              <a:rPr lang="en-US" b="1" smtClean="0">
                <a:solidFill>
                  <a:srgbClr val="FF3399"/>
                </a:solidFill>
              </a:rPr>
              <a:t>i = i + 1 </a:t>
            </a:r>
            <a:r>
              <a:rPr lang="en-US" smtClean="0"/>
              <a:t>&lt;/Code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/>
              <a:t>    </a:t>
            </a:r>
            <a:r>
              <a:rPr lang="en-US" smtClean="0"/>
              <a:t>&lt;/StepValue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/>
              <a:t>    </a:t>
            </a:r>
            <a:r>
              <a:rPr lang="en-US" smtClean="0"/>
              <a:t>&lt;ControlConstructReference&gt; </a:t>
            </a:r>
            <a:r>
              <a:rPr lang="en-US" b="1" smtClean="0">
                <a:solidFill>
                  <a:srgbClr val="FF3399"/>
                </a:solidFill>
              </a:rPr>
              <a:t>[Q1] </a:t>
            </a:r>
            <a:r>
              <a:rPr lang="en-US" smtClean="0"/>
              <a:t>&lt;/ControlConstructReference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 smtClean="0"/>
              <a:t>&lt;/Loop</a:t>
            </a:r>
            <a:r>
              <a:rPr lang="en-US"/>
              <a:t>&gt;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183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3635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Loop (structural)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184</a:t>
            </a:fld>
            <a:endParaRPr lang="de-DE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463" y="2341215"/>
            <a:ext cx="6315075" cy="324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333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185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de-DE" smtClean="0"/>
              <a:t>RepeatWhile</a:t>
            </a:r>
            <a:endParaRPr lang="en-US"/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75" y="2306935"/>
            <a:ext cx="7181850" cy="256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5372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RepeatWhile (behavioral)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186</a:t>
            </a:fld>
            <a:endParaRPr lang="de-DE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963" y="2351112"/>
            <a:ext cx="2124075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1320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RepeatWhile (XML)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0" y="2348880"/>
            <a:ext cx="9144000" cy="36258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mtClean="0"/>
              <a:t>&lt;RepeatWhile&gt;</a:t>
            </a:r>
            <a:endParaRPr lang="en-US"/>
          </a:p>
          <a:p>
            <a:pPr marL="0" indent="0">
              <a:buNone/>
            </a:pPr>
            <a:r>
              <a:rPr lang="en-US" smtClean="0"/>
              <a:t>    &lt;WhileCondition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/>
              <a:t>        </a:t>
            </a:r>
            <a:r>
              <a:rPr lang="en-US" smtClean="0"/>
              <a:t>&lt;Code </a:t>
            </a:r>
            <a:r>
              <a:rPr lang="en-US"/>
              <a:t>programmingLanguage</a:t>
            </a:r>
            <a:r>
              <a:rPr lang="en-US" smtClean="0"/>
              <a:t>=“Neutral"&gt; </a:t>
            </a:r>
            <a:r>
              <a:rPr lang="en-US" b="1" smtClean="0">
                <a:solidFill>
                  <a:srgbClr val="FF3399"/>
                </a:solidFill>
              </a:rPr>
              <a:t>no</a:t>
            </a:r>
            <a:r>
              <a:rPr lang="en-US" smtClean="0"/>
              <a:t> &lt;/Code&gt;</a:t>
            </a:r>
          </a:p>
          <a:p>
            <a:pPr marL="0" indent="0">
              <a:buNone/>
            </a:pPr>
            <a:r>
              <a:rPr lang="de-DE"/>
              <a:t>        </a:t>
            </a:r>
            <a:r>
              <a:rPr lang="de-DE" smtClean="0"/>
              <a:t>&lt;SourceQuestionReference&gt; </a:t>
            </a:r>
            <a:r>
              <a:rPr lang="de-DE" b="1" smtClean="0">
                <a:solidFill>
                  <a:srgbClr val="FF3399"/>
                </a:solidFill>
              </a:rPr>
              <a:t>[Q1] </a:t>
            </a:r>
            <a:r>
              <a:rPr lang="de-DE" smtClean="0"/>
              <a:t>&lt;/ </a:t>
            </a:r>
            <a:r>
              <a:rPr lang="de-DE"/>
              <a:t>SourceQuestionReference &gt;</a:t>
            </a:r>
            <a:endParaRPr lang="en-US"/>
          </a:p>
          <a:p>
            <a:pPr marL="0" indent="0">
              <a:buNone/>
            </a:pPr>
            <a:r>
              <a:rPr lang="en-US"/>
              <a:t>    </a:t>
            </a:r>
            <a:r>
              <a:rPr lang="en-US" smtClean="0"/>
              <a:t>&lt;/WhileCondition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/>
              <a:t>    </a:t>
            </a:r>
            <a:r>
              <a:rPr lang="en-US" smtClean="0"/>
              <a:t>&lt;WhileConstructReference&gt; </a:t>
            </a:r>
            <a:r>
              <a:rPr lang="en-US" b="1" smtClean="0">
                <a:solidFill>
                  <a:srgbClr val="FF3399"/>
                </a:solidFill>
              </a:rPr>
              <a:t>[Q1] </a:t>
            </a:r>
            <a:r>
              <a:rPr lang="en-US" smtClean="0"/>
              <a:t>&lt;/WhileConstructReference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 smtClean="0"/>
              <a:t>&lt;/RepeatWhile</a:t>
            </a:r>
            <a:r>
              <a:rPr lang="en-US"/>
              <a:t>&gt;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187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7218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RepeatWhile (structural)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188</a:t>
            </a:fld>
            <a:endParaRPr lang="de-DE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2402557"/>
            <a:ext cx="4943475" cy="311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3335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189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de-DE" smtClean="0"/>
              <a:t>RepeatUntil</a:t>
            </a:r>
            <a:endParaRPr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2287885"/>
            <a:ext cx="7143750" cy="258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7396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RepeatUntil (behavioral)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190</a:t>
            </a:fld>
            <a:endParaRPr lang="de-DE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4725" y="2375495"/>
            <a:ext cx="2114550" cy="393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0196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RepeatUntil (XML)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0" y="2348880"/>
            <a:ext cx="9144000" cy="36258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mtClean="0"/>
              <a:t>&lt;RepeatUntil&gt;</a:t>
            </a:r>
            <a:endParaRPr lang="en-US"/>
          </a:p>
          <a:p>
            <a:pPr marL="0" indent="0">
              <a:buNone/>
            </a:pPr>
            <a:r>
              <a:rPr lang="en-US" smtClean="0"/>
              <a:t>    &lt;UntilCondition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/>
              <a:t>        </a:t>
            </a:r>
            <a:r>
              <a:rPr lang="en-US" smtClean="0"/>
              <a:t>&lt;Code </a:t>
            </a:r>
            <a:r>
              <a:rPr lang="en-US"/>
              <a:t>programmingLanguage="Neutral</a:t>
            </a:r>
            <a:r>
              <a:rPr lang="en-US" smtClean="0"/>
              <a:t>"&gt; </a:t>
            </a:r>
            <a:r>
              <a:rPr lang="en-US" b="1" smtClean="0">
                <a:solidFill>
                  <a:srgbClr val="FF3399"/>
                </a:solidFill>
              </a:rPr>
              <a:t>yes</a:t>
            </a:r>
            <a:r>
              <a:rPr lang="en-US" smtClean="0"/>
              <a:t> &lt;/Code&gt;</a:t>
            </a:r>
          </a:p>
          <a:p>
            <a:pPr marL="0" indent="0">
              <a:buNone/>
            </a:pPr>
            <a:r>
              <a:rPr lang="de-DE"/>
              <a:t> </a:t>
            </a:r>
            <a:r>
              <a:rPr lang="de-DE" smtClean="0"/>
              <a:t>       </a:t>
            </a:r>
            <a:r>
              <a:rPr lang="de-DE"/>
              <a:t>&lt;SourceQuestionReference</a:t>
            </a:r>
            <a:r>
              <a:rPr lang="de-DE" smtClean="0"/>
              <a:t>&gt; </a:t>
            </a:r>
            <a:r>
              <a:rPr lang="de-DE" b="1" smtClean="0">
                <a:solidFill>
                  <a:srgbClr val="FF3399"/>
                </a:solidFill>
              </a:rPr>
              <a:t>[Q1] </a:t>
            </a:r>
            <a:r>
              <a:rPr lang="de-DE" smtClean="0"/>
              <a:t>&lt;/SourceQuestionReference&gt;</a:t>
            </a:r>
            <a:endParaRPr lang="en-US"/>
          </a:p>
          <a:p>
            <a:pPr marL="0" indent="0">
              <a:buNone/>
            </a:pPr>
            <a:r>
              <a:rPr lang="en-US"/>
              <a:t>    </a:t>
            </a:r>
            <a:r>
              <a:rPr lang="en-US" smtClean="0"/>
              <a:t>&lt;/UntilCondition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/>
              <a:t>    </a:t>
            </a:r>
            <a:r>
              <a:rPr lang="en-US" smtClean="0"/>
              <a:t>&lt;UntilConstructReference&gt; </a:t>
            </a:r>
            <a:r>
              <a:rPr lang="en-US" b="1" smtClean="0">
                <a:solidFill>
                  <a:srgbClr val="FF3399"/>
                </a:solidFill>
              </a:rPr>
              <a:t>[Q1] </a:t>
            </a:r>
            <a:r>
              <a:rPr lang="en-US" smtClean="0"/>
              <a:t>&lt;/UntilConstructReference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 smtClean="0"/>
              <a:t>&lt;/</a:t>
            </a:r>
            <a:r>
              <a:rPr lang="en-US"/>
              <a:t>d:RepeatUntil&gt;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191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9517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RepeatUntil (structural)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192</a:t>
            </a:fld>
            <a:endParaRPr lang="de-DE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275" y="2476847"/>
            <a:ext cx="4743450" cy="340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2300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193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en-US" dirty="0" smtClean="0"/>
              <a:t>What comes next?</a:t>
            </a:r>
            <a:endParaRPr lang="en-US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467544" y="2564904"/>
            <a:ext cx="3816424" cy="4032448"/>
          </a:xfrm>
        </p:spPr>
        <p:txBody>
          <a:bodyPr>
            <a:normAutofit/>
          </a:bodyPr>
          <a:lstStyle/>
          <a:p>
            <a:r>
              <a:rPr lang="en-US" sz="2000" dirty="0" smtClean="0"/>
              <a:t>Missy – General Information</a:t>
            </a:r>
          </a:p>
          <a:p>
            <a:pPr lvl="1"/>
            <a:r>
              <a:rPr lang="en-US" sz="1600" dirty="0" smtClean="0"/>
              <a:t>Requirements</a:t>
            </a:r>
            <a:r>
              <a:rPr lang="de-DE" sz="1600" dirty="0" smtClean="0"/>
              <a:t> </a:t>
            </a:r>
            <a:r>
              <a:rPr lang="de-DE" sz="1600" dirty="0" err="1" smtClean="0"/>
              <a:t>to</a:t>
            </a:r>
            <a:r>
              <a:rPr lang="de-DE" sz="1600" dirty="0" smtClean="0"/>
              <a:t> Developers</a:t>
            </a:r>
            <a:endParaRPr lang="en-US" sz="1600" dirty="0" smtClean="0"/>
          </a:p>
          <a:p>
            <a:pPr lvl="1"/>
            <a:r>
              <a:rPr lang="en-US" sz="1600" dirty="0"/>
              <a:t>Use-Cases in Missy</a:t>
            </a:r>
            <a:endParaRPr lang="en-US" sz="1600" dirty="0" smtClean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Software Architecture</a:t>
            </a:r>
          </a:p>
          <a:p>
            <a:pPr lvl="1"/>
            <a:r>
              <a:rPr lang="en-US" sz="1600" dirty="0" smtClean="0"/>
              <a:t>Multitier</a:t>
            </a:r>
          </a:p>
          <a:p>
            <a:pPr lvl="1"/>
            <a:r>
              <a:rPr lang="en-US" sz="1600" dirty="0" smtClean="0"/>
              <a:t>MVC</a:t>
            </a:r>
          </a:p>
          <a:p>
            <a:r>
              <a:rPr lang="en-US" sz="2000" dirty="0"/>
              <a:t>Missy Data Model</a:t>
            </a:r>
          </a:p>
          <a:p>
            <a:pPr lvl="1"/>
            <a:r>
              <a:rPr lang="en-US" sz="1600" dirty="0"/>
              <a:t>Extendable Data Model</a:t>
            </a:r>
            <a:endParaRPr lang="en-US" dirty="0" smtClean="0"/>
          </a:p>
          <a:p>
            <a:pPr lvl="1"/>
            <a:endParaRPr lang="en-US" sz="1600" dirty="0" smtClean="0"/>
          </a:p>
        </p:txBody>
      </p:sp>
      <p:sp>
        <p:nvSpPr>
          <p:cNvPr id="7" name="Inhaltsplatzhalter 2"/>
          <p:cNvSpPr txBox="1">
            <a:spLocks/>
          </p:cNvSpPr>
          <p:nvPr/>
        </p:nvSpPr>
        <p:spPr>
          <a:xfrm>
            <a:off x="4572000" y="2575830"/>
            <a:ext cx="4283968" cy="4069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DDI-L Overview</a:t>
            </a:r>
          </a:p>
          <a:p>
            <a:r>
              <a:rPr lang="en-US" sz="1800" dirty="0" smtClean="0"/>
              <a:t>Identification, Versioning, Maintenance</a:t>
            </a:r>
          </a:p>
          <a:p>
            <a:r>
              <a:rPr lang="en-US" sz="1800" dirty="0" smtClean="0"/>
              <a:t>DDI-L Main Structures</a:t>
            </a:r>
          </a:p>
          <a:p>
            <a:r>
              <a:rPr lang="en-US" sz="1800" dirty="0" smtClean="0"/>
              <a:t>DDI Instance</a:t>
            </a:r>
          </a:p>
          <a:p>
            <a:r>
              <a:rPr lang="en-US" sz="1800" dirty="0" smtClean="0"/>
              <a:t>Study Unit</a:t>
            </a:r>
          </a:p>
          <a:p>
            <a:endParaRPr lang="en-US" sz="1800" dirty="0"/>
          </a:p>
          <a:p>
            <a:r>
              <a:rPr lang="en-US" sz="1800" dirty="0" smtClean="0"/>
              <a:t>Conceptual Component</a:t>
            </a:r>
          </a:p>
          <a:p>
            <a:r>
              <a:rPr lang="en-US" sz="1800" dirty="0" smtClean="0"/>
              <a:t>Logical Products</a:t>
            </a:r>
          </a:p>
          <a:p>
            <a:r>
              <a:rPr lang="en-US" sz="1800" dirty="0" smtClean="0"/>
              <a:t>Data Collection</a:t>
            </a:r>
          </a:p>
          <a:p>
            <a:r>
              <a:rPr lang="en-US" sz="1800" b="1" dirty="0" smtClean="0">
                <a:solidFill>
                  <a:srgbClr val="FF3399"/>
                </a:solidFill>
              </a:rPr>
              <a:t>disco-model</a:t>
            </a:r>
          </a:p>
          <a:p>
            <a:endParaRPr lang="en-US" sz="1800" dirty="0" smtClean="0"/>
          </a:p>
        </p:txBody>
      </p:sp>
      <p:sp>
        <p:nvSpPr>
          <p:cNvPr id="8" name="Abgerundetes Rechteck 7"/>
          <p:cNvSpPr/>
          <p:nvPr/>
        </p:nvSpPr>
        <p:spPr>
          <a:xfrm>
            <a:off x="195349" y="2457271"/>
            <a:ext cx="8716791" cy="1944216"/>
          </a:xfrm>
          <a:prstGeom prst="round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bgerundetes Rechteck 8"/>
          <p:cNvSpPr/>
          <p:nvPr/>
        </p:nvSpPr>
        <p:spPr>
          <a:xfrm>
            <a:off x="175689" y="4509120"/>
            <a:ext cx="8716791" cy="1813405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feld 9"/>
          <p:cNvSpPr txBox="1"/>
          <p:nvPr/>
        </p:nvSpPr>
        <p:spPr>
          <a:xfrm>
            <a:off x="323528" y="4026550"/>
            <a:ext cx="1244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tx2"/>
                </a:solidFill>
              </a:rPr>
              <a:t>Presentation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80312" y="5898758"/>
            <a:ext cx="14209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accent6"/>
                </a:solidFill>
              </a:rPr>
              <a:t>Business Layer</a:t>
            </a:r>
            <a:endParaRPr lang="en-US" sz="1600" b="1" dirty="0">
              <a:solidFill>
                <a:schemeClr val="accent6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107505" y="2276822"/>
            <a:ext cx="8928992" cy="2187724"/>
          </a:xfrm>
          <a:prstGeom prst="rect">
            <a:avLst/>
          </a:prstGeom>
          <a:solidFill>
            <a:schemeClr val="bg1">
              <a:alpha val="53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197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194</a:t>
            </a:fld>
            <a:endParaRPr lang="de-DE"/>
          </a:p>
        </p:txBody>
      </p:sp>
      <p:pic>
        <p:nvPicPr>
          <p:cNvPr id="7" name="Picture 3" descr="C:\Daten\Studium\Promotion\dissertation\ontologies\DDIOntology\figures\DDI Ontology - object propertie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6632"/>
            <a:ext cx="8604448" cy="6867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760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How to extend the disco model?</a:t>
            </a:r>
            <a:endParaRPr lang="en-US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195</a:t>
            </a:fld>
            <a:endParaRPr lang="de-DE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188" y="2566392"/>
            <a:ext cx="4619625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8676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 have seen so far 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introduction to the core DDI modules</a:t>
            </a:r>
          </a:p>
          <a:p>
            <a:endParaRPr lang="en-US" dirty="0"/>
          </a:p>
          <a:p>
            <a:r>
              <a:rPr lang="en-US" dirty="0" smtClean="0"/>
              <a:t>A short introduction to the disco-model, which covers the most important parts of DDI-Lifecycle and DDI-Codebook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196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8552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the presentation is continued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Now that we know the data model…</a:t>
            </a:r>
          </a:p>
          <a:p>
            <a:endParaRPr lang="en-US" dirty="0"/>
          </a:p>
          <a:p>
            <a:r>
              <a:rPr lang="en-US" dirty="0" smtClean="0"/>
              <a:t>How can it be used for the Missy use-case, </a:t>
            </a:r>
            <a:r>
              <a:rPr lang="en-US" dirty="0" err="1" smtClean="0"/>
              <a:t>Matth</a:t>
            </a:r>
            <a:r>
              <a:rPr lang="de-DE" dirty="0" err="1" smtClean="0"/>
              <a:t>äus</a:t>
            </a:r>
            <a:r>
              <a:rPr lang="de-DE" dirty="0" smtClean="0"/>
              <a:t>?</a:t>
            </a:r>
          </a:p>
          <a:p>
            <a:endParaRPr lang="de-DE" dirty="0"/>
          </a:p>
          <a:p>
            <a:r>
              <a:rPr lang="en-US" dirty="0" smtClean="0"/>
              <a:t>Can we create a mapping of the fields in the disco-model and the fields in Missy?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197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185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198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en-US" dirty="0" smtClean="0"/>
              <a:t>What comes next?</a:t>
            </a:r>
            <a:endParaRPr lang="en-US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467544" y="2564904"/>
            <a:ext cx="3816424" cy="4032448"/>
          </a:xfrm>
        </p:spPr>
        <p:txBody>
          <a:bodyPr>
            <a:normAutofit/>
          </a:bodyPr>
          <a:lstStyle/>
          <a:p>
            <a:r>
              <a:rPr lang="en-US" sz="2000" dirty="0" smtClean="0"/>
              <a:t>Missy – General Information</a:t>
            </a:r>
          </a:p>
          <a:p>
            <a:pPr lvl="1"/>
            <a:r>
              <a:rPr lang="en-US" sz="1600" dirty="0" smtClean="0"/>
              <a:t>Requirements</a:t>
            </a:r>
            <a:r>
              <a:rPr lang="de-DE" sz="1600" dirty="0" smtClean="0"/>
              <a:t> </a:t>
            </a:r>
            <a:r>
              <a:rPr lang="de-DE" sz="1600" dirty="0" err="1" smtClean="0"/>
              <a:t>to</a:t>
            </a:r>
            <a:r>
              <a:rPr lang="de-DE" sz="1600" dirty="0" smtClean="0"/>
              <a:t> Developers</a:t>
            </a:r>
            <a:endParaRPr lang="en-US" sz="1600" dirty="0" smtClean="0"/>
          </a:p>
          <a:p>
            <a:pPr lvl="1"/>
            <a:r>
              <a:rPr lang="en-US" sz="1600" dirty="0"/>
              <a:t>Use-Cases in Missy</a:t>
            </a:r>
            <a:endParaRPr lang="en-US" sz="1600" dirty="0" smtClean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Software Architecture</a:t>
            </a:r>
          </a:p>
          <a:p>
            <a:pPr lvl="1"/>
            <a:r>
              <a:rPr lang="en-US" sz="1600" dirty="0" smtClean="0"/>
              <a:t>Multitier</a:t>
            </a:r>
          </a:p>
          <a:p>
            <a:pPr lvl="1"/>
            <a:r>
              <a:rPr lang="en-US" sz="1600" dirty="0" smtClean="0"/>
              <a:t>MVC</a:t>
            </a:r>
          </a:p>
          <a:p>
            <a:r>
              <a:rPr lang="en-US" sz="2000" b="1" dirty="0">
                <a:solidFill>
                  <a:srgbClr val="FF3399"/>
                </a:solidFill>
              </a:rPr>
              <a:t>Missy Data Model</a:t>
            </a:r>
          </a:p>
          <a:p>
            <a:pPr lvl="1"/>
            <a:r>
              <a:rPr lang="en-US" sz="1600" dirty="0"/>
              <a:t>Extendable Data Model</a:t>
            </a:r>
            <a:endParaRPr lang="en-US" dirty="0" smtClean="0"/>
          </a:p>
          <a:p>
            <a:pPr lvl="1"/>
            <a:endParaRPr lang="en-US" sz="1600" dirty="0" smtClean="0"/>
          </a:p>
        </p:txBody>
      </p:sp>
      <p:sp>
        <p:nvSpPr>
          <p:cNvPr id="7" name="Inhaltsplatzhalter 2"/>
          <p:cNvSpPr txBox="1">
            <a:spLocks/>
          </p:cNvSpPr>
          <p:nvPr/>
        </p:nvSpPr>
        <p:spPr>
          <a:xfrm>
            <a:off x="4572000" y="2575830"/>
            <a:ext cx="4283968" cy="4069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DDI-L Overview</a:t>
            </a:r>
          </a:p>
          <a:p>
            <a:r>
              <a:rPr lang="en-US" sz="1800" dirty="0" smtClean="0"/>
              <a:t>Identification, Versioning, Maintenance</a:t>
            </a:r>
          </a:p>
          <a:p>
            <a:r>
              <a:rPr lang="en-US" sz="1800" dirty="0" smtClean="0"/>
              <a:t>DDI-L Main Structures</a:t>
            </a:r>
          </a:p>
          <a:p>
            <a:r>
              <a:rPr lang="en-US" sz="1800" dirty="0" smtClean="0"/>
              <a:t>DDI Instance</a:t>
            </a:r>
          </a:p>
          <a:p>
            <a:r>
              <a:rPr lang="en-US" sz="1800" dirty="0" smtClean="0"/>
              <a:t>Study Unit</a:t>
            </a:r>
          </a:p>
          <a:p>
            <a:endParaRPr lang="en-US" sz="1800" dirty="0"/>
          </a:p>
          <a:p>
            <a:r>
              <a:rPr lang="en-US" sz="1800" dirty="0" smtClean="0"/>
              <a:t>Conceptual Component</a:t>
            </a:r>
          </a:p>
          <a:p>
            <a:r>
              <a:rPr lang="en-US" sz="1800" dirty="0" smtClean="0"/>
              <a:t>Logical Products</a:t>
            </a:r>
          </a:p>
          <a:p>
            <a:r>
              <a:rPr lang="en-US" sz="1800" dirty="0" smtClean="0"/>
              <a:t>Data Collection</a:t>
            </a:r>
          </a:p>
          <a:p>
            <a:r>
              <a:rPr lang="en-US" sz="1800" dirty="0" smtClean="0"/>
              <a:t>disco-model</a:t>
            </a:r>
          </a:p>
          <a:p>
            <a:endParaRPr lang="en-US" sz="1800" dirty="0" smtClean="0"/>
          </a:p>
        </p:txBody>
      </p:sp>
      <p:sp>
        <p:nvSpPr>
          <p:cNvPr id="8" name="Abgerundetes Rechteck 7"/>
          <p:cNvSpPr/>
          <p:nvPr/>
        </p:nvSpPr>
        <p:spPr>
          <a:xfrm>
            <a:off x="195349" y="2457271"/>
            <a:ext cx="8716791" cy="1944216"/>
          </a:xfrm>
          <a:prstGeom prst="round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bgerundetes Rechteck 8"/>
          <p:cNvSpPr/>
          <p:nvPr/>
        </p:nvSpPr>
        <p:spPr>
          <a:xfrm>
            <a:off x="175689" y="4509120"/>
            <a:ext cx="8716791" cy="1813405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feld 9"/>
          <p:cNvSpPr txBox="1"/>
          <p:nvPr/>
        </p:nvSpPr>
        <p:spPr>
          <a:xfrm>
            <a:off x="323528" y="4026550"/>
            <a:ext cx="1244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tx2"/>
                </a:solidFill>
              </a:rPr>
              <a:t>Presentation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80312" y="5898758"/>
            <a:ext cx="14209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accent6"/>
                </a:solidFill>
              </a:rPr>
              <a:t>Business Layer</a:t>
            </a:r>
            <a:endParaRPr lang="en-US" sz="1600" b="1" dirty="0">
              <a:solidFill>
                <a:schemeClr val="accent6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107505" y="2276822"/>
            <a:ext cx="8928992" cy="2187724"/>
          </a:xfrm>
          <a:prstGeom prst="rect">
            <a:avLst/>
          </a:prstGeom>
          <a:solidFill>
            <a:schemeClr val="bg1">
              <a:alpha val="53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513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1143000"/>
          </a:xfrm>
        </p:spPr>
        <p:txBody>
          <a:bodyPr/>
          <a:lstStyle/>
          <a:p>
            <a:r>
              <a:rPr lang="en-US" dirty="0" smtClean="0"/>
              <a:t>Use-case “variable details”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199</a:t>
            </a:fld>
            <a:endParaRPr lang="de-DE"/>
          </a:p>
        </p:txBody>
      </p:sp>
      <p:sp>
        <p:nvSpPr>
          <p:cNvPr id="5" name="Shape 309"/>
          <p:cNvSpPr/>
          <p:nvPr/>
        </p:nvSpPr>
        <p:spPr>
          <a:xfrm>
            <a:off x="2515749" y="1656169"/>
            <a:ext cx="4112501" cy="509325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00406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200</a:t>
            </a:fld>
            <a:endParaRPr lang="de-DE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128861"/>
            <a:ext cx="7343775" cy="532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9273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201</a:t>
            </a:fld>
            <a:endParaRPr lang="de-DE"/>
          </a:p>
        </p:txBody>
      </p:sp>
      <p:pic>
        <p:nvPicPr>
          <p:cNvPr id="1026" name="Picture 2" descr="C:\Users\zlochms\Dropbox\EDDI 2012\images\01_missy_variable_model_with_marker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547267"/>
            <a:ext cx="4488889" cy="4565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595982"/>
            <a:ext cx="4355976" cy="2244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Gerade Verbindung mit Pfeil 6"/>
          <p:cNvCxnSpPr/>
          <p:nvPr/>
        </p:nvCxnSpPr>
        <p:spPr>
          <a:xfrm flipV="1">
            <a:off x="2952199" y="3477665"/>
            <a:ext cx="4392488" cy="96561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/>
          <p:cNvCxnSpPr/>
          <p:nvPr/>
        </p:nvCxnSpPr>
        <p:spPr>
          <a:xfrm>
            <a:off x="2940499" y="3829807"/>
            <a:ext cx="3034344" cy="679313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/>
          <p:cNvCxnSpPr/>
          <p:nvPr/>
        </p:nvCxnSpPr>
        <p:spPr>
          <a:xfrm>
            <a:off x="2292574" y="2879301"/>
            <a:ext cx="2470621" cy="289787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/>
          <p:cNvCxnSpPr/>
          <p:nvPr/>
        </p:nvCxnSpPr>
        <p:spPr>
          <a:xfrm flipV="1">
            <a:off x="2220244" y="3296814"/>
            <a:ext cx="5124443" cy="96562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/>
          <p:cNvCxnSpPr/>
          <p:nvPr/>
        </p:nvCxnSpPr>
        <p:spPr>
          <a:xfrm flipV="1">
            <a:off x="1979712" y="3169088"/>
            <a:ext cx="5364975" cy="1492432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348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202</a:t>
            </a:fld>
            <a:endParaRPr lang="de-DE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150" y="1268760"/>
            <a:ext cx="5219700" cy="520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7208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203</a:t>
            </a:fld>
            <a:endParaRPr lang="de-DE"/>
          </a:p>
        </p:txBody>
      </p:sp>
      <p:pic>
        <p:nvPicPr>
          <p:cNvPr id="2050" name="Picture 2" descr="C:\Users\zlochms\Dropbox\EDDI 2012\images\02_missy_variable_model_with_marker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274093"/>
            <a:ext cx="4171429" cy="32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710" y="1844824"/>
            <a:ext cx="2114550" cy="3686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Gerade Verbindung mit Pfeil 5"/>
          <p:cNvCxnSpPr/>
          <p:nvPr/>
        </p:nvCxnSpPr>
        <p:spPr>
          <a:xfrm flipV="1">
            <a:off x="2051720" y="2313255"/>
            <a:ext cx="4032448" cy="216024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/>
          <p:cNvCxnSpPr/>
          <p:nvPr/>
        </p:nvCxnSpPr>
        <p:spPr>
          <a:xfrm>
            <a:off x="2027970" y="3212976"/>
            <a:ext cx="4032448" cy="2088232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350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204</a:t>
            </a:fld>
            <a:endParaRPr lang="de-DE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6863" y="1583779"/>
            <a:ext cx="6010275" cy="458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100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205</a:t>
            </a:fld>
            <a:endParaRPr lang="de-DE"/>
          </a:p>
        </p:txBody>
      </p:sp>
      <p:pic>
        <p:nvPicPr>
          <p:cNvPr id="3074" name="Picture 2" descr="C:\Users\zlochms\Dropbox\EDDI 2012\images\03_missy_variable_model_with_markers_alternativ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7" y="1677414"/>
            <a:ext cx="4144274" cy="4349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1988840"/>
            <a:ext cx="4347506" cy="2545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Gerade Verbindung mit Pfeil 5"/>
          <p:cNvCxnSpPr/>
          <p:nvPr/>
        </p:nvCxnSpPr>
        <p:spPr>
          <a:xfrm flipV="1">
            <a:off x="1859446" y="4386896"/>
            <a:ext cx="2880320" cy="9390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/>
          <p:cNvCxnSpPr/>
          <p:nvPr/>
        </p:nvCxnSpPr>
        <p:spPr>
          <a:xfrm>
            <a:off x="4139952" y="4255635"/>
            <a:ext cx="599814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/>
          <p:cNvCxnSpPr>
            <a:endCxn id="5" idx="1"/>
          </p:cNvCxnSpPr>
          <p:nvPr/>
        </p:nvCxnSpPr>
        <p:spPr>
          <a:xfrm>
            <a:off x="1835696" y="3068960"/>
            <a:ext cx="2880320" cy="192423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/>
          <p:cNvSpPr txBox="1"/>
          <p:nvPr/>
        </p:nvSpPr>
        <p:spPr>
          <a:xfrm>
            <a:off x="4860032" y="4797152"/>
            <a:ext cx="39604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Sub-Sample: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is-a Sub-Universe with the </a:t>
            </a:r>
            <a:r>
              <a:rPr lang="en-US" dirty="0" err="1" smtClean="0"/>
              <a:t>UniverseType</a:t>
            </a:r>
            <a:r>
              <a:rPr lang="en-US" dirty="0" smtClean="0"/>
              <a:t> „</a:t>
            </a:r>
            <a:r>
              <a:rPr lang="en-US" dirty="0" err="1" smtClean="0"/>
              <a:t>subSample</a:t>
            </a:r>
            <a:r>
              <a:rPr lang="en-US" dirty="0" smtClean="0"/>
              <a:t>“</a:t>
            </a:r>
          </a:p>
          <a:p>
            <a:r>
              <a:rPr lang="de-DE" dirty="0" smtClean="0"/>
              <a:t>Filter Statement</a:t>
            </a:r>
            <a:endParaRPr lang="en-U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is-a Sub-Universe with the </a:t>
            </a:r>
            <a:r>
              <a:rPr lang="en-US" dirty="0" err="1" smtClean="0"/>
              <a:t>UniverseType</a:t>
            </a:r>
            <a:r>
              <a:rPr lang="en-US" dirty="0" smtClean="0"/>
              <a:t> „</a:t>
            </a:r>
            <a:r>
              <a:rPr lang="en-US" dirty="0" err="1" smtClean="0"/>
              <a:t>filterStatement</a:t>
            </a:r>
            <a:r>
              <a:rPr lang="en-US" dirty="0" smtClean="0"/>
              <a:t>“</a:t>
            </a:r>
            <a:endParaRPr lang="en-US" dirty="0"/>
          </a:p>
        </p:txBody>
      </p:sp>
      <p:cxnSp>
        <p:nvCxnSpPr>
          <p:cNvPr id="19" name="Gerade Verbindung mit Pfeil 18"/>
          <p:cNvCxnSpPr/>
          <p:nvPr/>
        </p:nvCxnSpPr>
        <p:spPr>
          <a:xfrm flipV="1">
            <a:off x="3624021" y="3336567"/>
            <a:ext cx="1115745" cy="668497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614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206</a:t>
            </a:fld>
            <a:endParaRPr lang="de-DE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9220" y="2029941"/>
            <a:ext cx="5753100" cy="334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7999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207</a:t>
            </a:fld>
            <a:endParaRPr lang="de-DE"/>
          </a:p>
        </p:txBody>
      </p:sp>
      <p:pic>
        <p:nvPicPr>
          <p:cNvPr id="4098" name="Picture 2" descr="C:\Users\zlochms\Dropbox\EDDI 2012\images\04_missy_variable_model_with_marker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402516"/>
            <a:ext cx="4666667" cy="3384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052737"/>
            <a:ext cx="4528964" cy="2631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Gerade Verbindung mit Pfeil 5"/>
          <p:cNvCxnSpPr/>
          <p:nvPr/>
        </p:nvCxnSpPr>
        <p:spPr>
          <a:xfrm flipV="1">
            <a:off x="4355976" y="2368686"/>
            <a:ext cx="2592288" cy="3148548"/>
          </a:xfrm>
          <a:prstGeom prst="straightConnector1">
            <a:avLst/>
          </a:prstGeom>
          <a:ln w="19050" cap="flat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/>
          <p:cNvCxnSpPr/>
          <p:nvPr/>
        </p:nvCxnSpPr>
        <p:spPr>
          <a:xfrm flipV="1">
            <a:off x="4644008" y="2708920"/>
            <a:ext cx="2304256" cy="2808314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/>
          <p:cNvCxnSpPr/>
          <p:nvPr/>
        </p:nvCxnSpPr>
        <p:spPr>
          <a:xfrm flipV="1">
            <a:off x="4932040" y="2852936"/>
            <a:ext cx="2160240" cy="267910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2570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208</a:t>
            </a:fld>
            <a:endParaRPr lang="de-DE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008" y="2420888"/>
            <a:ext cx="3886200" cy="294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0682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209</a:t>
            </a:fld>
            <a:endParaRPr lang="de-DE"/>
          </a:p>
        </p:txBody>
      </p:sp>
      <p:pic>
        <p:nvPicPr>
          <p:cNvPr id="5122" name="Picture 2" descr="C:\Users\zlochms\Dropbox\EDDI 2012\images\05_missy_variable_model_with_marker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010868"/>
            <a:ext cx="4666667" cy="553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669" y="2060848"/>
            <a:ext cx="4027741" cy="3050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Gerade Verbindung mit Pfeil 4"/>
          <p:cNvCxnSpPr/>
          <p:nvPr/>
        </p:nvCxnSpPr>
        <p:spPr>
          <a:xfrm flipV="1">
            <a:off x="2490433" y="4797152"/>
            <a:ext cx="3875103" cy="72008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/>
          <p:cNvCxnSpPr/>
          <p:nvPr/>
        </p:nvCxnSpPr>
        <p:spPr>
          <a:xfrm flipV="1">
            <a:off x="3923928" y="3068960"/>
            <a:ext cx="2520280" cy="2448272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/>
          <p:cNvCxnSpPr/>
          <p:nvPr/>
        </p:nvCxnSpPr>
        <p:spPr>
          <a:xfrm>
            <a:off x="5004048" y="1737191"/>
            <a:ext cx="1359114" cy="302433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045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210</a:t>
            </a:fld>
            <a:endParaRPr lang="de-DE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477244"/>
            <a:ext cx="4162425" cy="224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8933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211</a:t>
            </a:fld>
            <a:endParaRPr lang="de-DE"/>
          </a:p>
        </p:txBody>
      </p:sp>
      <p:pic>
        <p:nvPicPr>
          <p:cNvPr id="7170" name="Picture 2" descr="C:\Users\zlochms\Dropbox\EDDI 2012\images\07_missy_variable_model_with_marker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347" y="3006477"/>
            <a:ext cx="4666667" cy="3073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340768"/>
            <a:ext cx="4162425" cy="224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Gerade Verbindung mit Pfeil 4"/>
          <p:cNvCxnSpPr/>
          <p:nvPr/>
        </p:nvCxnSpPr>
        <p:spPr>
          <a:xfrm flipV="1">
            <a:off x="4473356" y="3420068"/>
            <a:ext cx="2981851" cy="1314767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5155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212</a:t>
            </a:fld>
            <a:endParaRPr lang="de-DE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296022"/>
            <a:ext cx="487680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7058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213</a:t>
            </a:fld>
            <a:endParaRPr lang="de-DE"/>
          </a:p>
        </p:txBody>
      </p:sp>
      <p:pic>
        <p:nvPicPr>
          <p:cNvPr id="8194" name="Picture 2" descr="C:\Users\zlochms\Dropbox\EDDI 2012\images\08_missy_variable_model_with_marker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169586"/>
            <a:ext cx="4666667" cy="3536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4869160"/>
            <a:ext cx="487680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Gerade Verbindung mit Pfeil 4"/>
          <p:cNvCxnSpPr/>
          <p:nvPr/>
        </p:nvCxnSpPr>
        <p:spPr>
          <a:xfrm>
            <a:off x="2195736" y="2721553"/>
            <a:ext cx="4320480" cy="2723671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999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 have seen so far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disco-model</a:t>
            </a:r>
          </a:p>
          <a:p>
            <a:pPr lvl="1"/>
            <a:r>
              <a:rPr lang="en-US" dirty="0" smtClean="0"/>
              <a:t>designed for the discovery use-case</a:t>
            </a:r>
          </a:p>
          <a:p>
            <a:pPr lvl="1"/>
            <a:r>
              <a:rPr lang="en-US" dirty="0" smtClean="0"/>
              <a:t>provides </a:t>
            </a:r>
            <a:r>
              <a:rPr lang="en-US" dirty="0"/>
              <a:t>object types, properties and data type properties designed for discovery </a:t>
            </a:r>
            <a:r>
              <a:rPr lang="en-US" dirty="0" smtClean="0"/>
              <a:t>use-case</a:t>
            </a:r>
          </a:p>
          <a:p>
            <a:endParaRPr lang="en-US" dirty="0"/>
          </a:p>
          <a:p>
            <a:r>
              <a:rPr lang="en-US" dirty="0" smtClean="0"/>
              <a:t>One Missy use-case and all the data type and object properties that are covered</a:t>
            </a:r>
          </a:p>
          <a:p>
            <a:endParaRPr lang="en-US" dirty="0" smtClean="0"/>
          </a:p>
          <a:p>
            <a:r>
              <a:rPr lang="en-US" dirty="0" smtClean="0"/>
              <a:t>The idea of how theoretically the disco can be extended</a:t>
            </a:r>
            <a:endParaRPr lang="en-US" dirty="0"/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9588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the presentation is continued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But, what if a project has specific requirements to the model, that are not covered by the disco model?</a:t>
            </a:r>
          </a:p>
          <a:p>
            <a:endParaRPr lang="en-US" dirty="0" smtClean="0"/>
          </a:p>
          <a:p>
            <a:r>
              <a:rPr lang="en-US" dirty="0" smtClean="0"/>
              <a:t>How are we going to implement that?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964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216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en-US" dirty="0" smtClean="0"/>
              <a:t>What comes next?</a:t>
            </a:r>
            <a:endParaRPr lang="en-US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467544" y="2564904"/>
            <a:ext cx="3816424" cy="4032448"/>
          </a:xfrm>
        </p:spPr>
        <p:txBody>
          <a:bodyPr>
            <a:normAutofit/>
          </a:bodyPr>
          <a:lstStyle/>
          <a:p>
            <a:r>
              <a:rPr lang="en-US" sz="2000" dirty="0" smtClean="0"/>
              <a:t>Missy – General Information</a:t>
            </a:r>
          </a:p>
          <a:p>
            <a:pPr lvl="1"/>
            <a:r>
              <a:rPr lang="en-US" sz="1600" dirty="0" smtClean="0"/>
              <a:t>Requirements</a:t>
            </a:r>
            <a:r>
              <a:rPr lang="de-DE" sz="1600" dirty="0" smtClean="0"/>
              <a:t> </a:t>
            </a:r>
            <a:r>
              <a:rPr lang="de-DE" sz="1600" dirty="0" err="1" smtClean="0"/>
              <a:t>to</a:t>
            </a:r>
            <a:r>
              <a:rPr lang="de-DE" sz="1600" dirty="0" smtClean="0"/>
              <a:t> Developers</a:t>
            </a:r>
            <a:endParaRPr lang="en-US" sz="1600" dirty="0" smtClean="0"/>
          </a:p>
          <a:p>
            <a:pPr lvl="1"/>
            <a:r>
              <a:rPr lang="en-US" sz="1600" dirty="0"/>
              <a:t>Use-Cases in Missy</a:t>
            </a:r>
            <a:endParaRPr lang="en-US" sz="1600" dirty="0" smtClean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Software Architecture</a:t>
            </a:r>
          </a:p>
          <a:p>
            <a:pPr lvl="1"/>
            <a:r>
              <a:rPr lang="en-US" sz="1600" dirty="0" smtClean="0"/>
              <a:t>Multitier</a:t>
            </a:r>
          </a:p>
          <a:p>
            <a:pPr lvl="1"/>
            <a:r>
              <a:rPr lang="en-US" sz="1600" dirty="0" smtClean="0"/>
              <a:t>MVC</a:t>
            </a:r>
          </a:p>
          <a:p>
            <a:r>
              <a:rPr lang="en-US" sz="2000" dirty="0"/>
              <a:t>Missy Data Model</a:t>
            </a:r>
          </a:p>
          <a:p>
            <a:pPr lvl="1"/>
            <a:r>
              <a:rPr lang="en-US" sz="1600" b="1" dirty="0">
                <a:solidFill>
                  <a:srgbClr val="FF3399"/>
                </a:solidFill>
              </a:rPr>
              <a:t>Extendable Data Model</a:t>
            </a:r>
            <a:endParaRPr lang="en-US" b="1" dirty="0" smtClean="0">
              <a:solidFill>
                <a:srgbClr val="FF3399"/>
              </a:solidFill>
            </a:endParaRPr>
          </a:p>
          <a:p>
            <a:pPr lvl="1"/>
            <a:endParaRPr lang="en-US" sz="1600" dirty="0" smtClean="0"/>
          </a:p>
        </p:txBody>
      </p:sp>
      <p:sp>
        <p:nvSpPr>
          <p:cNvPr id="7" name="Inhaltsplatzhalter 2"/>
          <p:cNvSpPr txBox="1">
            <a:spLocks/>
          </p:cNvSpPr>
          <p:nvPr/>
        </p:nvSpPr>
        <p:spPr>
          <a:xfrm>
            <a:off x="4572000" y="2575830"/>
            <a:ext cx="4283968" cy="4069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DDI-L Overview</a:t>
            </a:r>
          </a:p>
          <a:p>
            <a:r>
              <a:rPr lang="en-US" sz="1800" dirty="0" smtClean="0"/>
              <a:t>Identification, Versioning, Maintenance</a:t>
            </a:r>
          </a:p>
          <a:p>
            <a:r>
              <a:rPr lang="en-US" sz="1800" dirty="0" smtClean="0"/>
              <a:t>DDI-L Main Structures</a:t>
            </a:r>
          </a:p>
          <a:p>
            <a:r>
              <a:rPr lang="en-US" sz="1800" dirty="0" smtClean="0"/>
              <a:t>DDI Instance</a:t>
            </a:r>
          </a:p>
          <a:p>
            <a:r>
              <a:rPr lang="en-US" sz="1800" dirty="0" smtClean="0"/>
              <a:t>Study Unit</a:t>
            </a:r>
          </a:p>
          <a:p>
            <a:endParaRPr lang="en-US" sz="1800" dirty="0"/>
          </a:p>
          <a:p>
            <a:r>
              <a:rPr lang="en-US" sz="1800" dirty="0" smtClean="0"/>
              <a:t>Conceptual Component</a:t>
            </a:r>
          </a:p>
          <a:p>
            <a:r>
              <a:rPr lang="en-US" sz="1800" dirty="0" smtClean="0"/>
              <a:t>Logical Products</a:t>
            </a:r>
          </a:p>
          <a:p>
            <a:r>
              <a:rPr lang="en-US" sz="1800" dirty="0" smtClean="0"/>
              <a:t>Data Collection</a:t>
            </a:r>
          </a:p>
          <a:p>
            <a:r>
              <a:rPr lang="en-US" sz="1800" dirty="0" smtClean="0"/>
              <a:t>disco-model</a:t>
            </a:r>
          </a:p>
          <a:p>
            <a:endParaRPr lang="en-US" sz="1800" dirty="0" smtClean="0"/>
          </a:p>
        </p:txBody>
      </p:sp>
      <p:sp>
        <p:nvSpPr>
          <p:cNvPr id="8" name="Abgerundetes Rechteck 7"/>
          <p:cNvSpPr/>
          <p:nvPr/>
        </p:nvSpPr>
        <p:spPr>
          <a:xfrm>
            <a:off x="195349" y="2457271"/>
            <a:ext cx="8716791" cy="1944216"/>
          </a:xfrm>
          <a:prstGeom prst="round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bgerundetes Rechteck 8"/>
          <p:cNvSpPr/>
          <p:nvPr/>
        </p:nvSpPr>
        <p:spPr>
          <a:xfrm>
            <a:off x="175689" y="4509120"/>
            <a:ext cx="8716791" cy="1813405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feld 9"/>
          <p:cNvSpPr txBox="1"/>
          <p:nvPr/>
        </p:nvSpPr>
        <p:spPr>
          <a:xfrm>
            <a:off x="323528" y="4026550"/>
            <a:ext cx="1244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tx2"/>
                </a:solidFill>
              </a:rPr>
              <a:t>Presentation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80312" y="5898758"/>
            <a:ext cx="1420966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accent6"/>
                </a:solidFill>
              </a:rPr>
              <a:t>Business Layer</a:t>
            </a:r>
            <a:endParaRPr lang="en-US" sz="1600" b="1" dirty="0">
              <a:solidFill>
                <a:schemeClr val="accent6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107505" y="2276822"/>
            <a:ext cx="8928992" cy="2187724"/>
          </a:xfrm>
          <a:prstGeom prst="rect">
            <a:avLst/>
          </a:prstGeom>
          <a:solidFill>
            <a:schemeClr val="bg1">
              <a:alpha val="53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454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217</a:t>
            </a:fld>
            <a:endParaRPr lang="de-DE"/>
          </a:p>
        </p:txBody>
      </p:sp>
      <p:pic>
        <p:nvPicPr>
          <p:cNvPr id="12" name="Picture 2" descr="C:\Dokumente und Einstellungen\Thomas\Desktop\software architecture (abstract and concrete)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972" y="-206"/>
            <a:ext cx="4829898" cy="6824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971" y="1050"/>
            <a:ext cx="4829899" cy="619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371" y="908721"/>
            <a:ext cx="365959" cy="5915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Abgerundetes Rechteck 16"/>
          <p:cNvSpPr/>
          <p:nvPr/>
        </p:nvSpPr>
        <p:spPr>
          <a:xfrm>
            <a:off x="1475656" y="2420194"/>
            <a:ext cx="5976664" cy="1645684"/>
          </a:xfrm>
          <a:prstGeom prst="round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  <p:sp>
        <p:nvSpPr>
          <p:cNvPr id="18" name="Rechteck 17"/>
          <p:cNvSpPr/>
          <p:nvPr/>
        </p:nvSpPr>
        <p:spPr>
          <a:xfrm>
            <a:off x="2045972" y="431354"/>
            <a:ext cx="4829898" cy="1988840"/>
          </a:xfrm>
          <a:prstGeom prst="rect">
            <a:avLst/>
          </a:prstGeom>
          <a:solidFill>
            <a:schemeClr val="bg1">
              <a:alpha val="53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  <p:sp>
        <p:nvSpPr>
          <p:cNvPr id="19" name="Rechteck 18"/>
          <p:cNvSpPr/>
          <p:nvPr/>
        </p:nvSpPr>
        <p:spPr>
          <a:xfrm>
            <a:off x="2045972" y="4091930"/>
            <a:ext cx="5118316" cy="2766070"/>
          </a:xfrm>
          <a:prstGeom prst="rect">
            <a:avLst/>
          </a:prstGeom>
          <a:solidFill>
            <a:schemeClr val="bg1">
              <a:alpha val="53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  <p:sp>
        <p:nvSpPr>
          <p:cNvPr id="20" name="Titel 1"/>
          <p:cNvSpPr txBox="1">
            <a:spLocks/>
          </p:cNvSpPr>
          <p:nvPr/>
        </p:nvSpPr>
        <p:spPr>
          <a:xfrm>
            <a:off x="457200" y="4678454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pitchFamily="34" charset="0"/>
                <a:ea typeface="+mj-ea"/>
                <a:cs typeface="+mj-cs"/>
              </a:defRPr>
            </a:lvl1pPr>
          </a:lstStyle>
          <a:p>
            <a:r>
              <a:rPr lang="de-DE" sz="6000" b="1" dirty="0" smtClean="0">
                <a:solidFill>
                  <a:schemeClr val="tx2"/>
                </a:solidFill>
              </a:rPr>
              <a:t>Business </a:t>
            </a:r>
            <a:r>
              <a:rPr lang="en-US" sz="6000" b="1" dirty="0" smtClean="0">
                <a:solidFill>
                  <a:schemeClr val="tx2"/>
                </a:solidFill>
              </a:rPr>
              <a:t>Logic</a:t>
            </a:r>
            <a:endParaRPr lang="en-US" sz="6000" b="1" dirty="0">
              <a:solidFill>
                <a:schemeClr val="tx2"/>
              </a:solidFill>
            </a:endParaRPr>
          </a:p>
        </p:txBody>
      </p:sp>
      <p:pic>
        <p:nvPicPr>
          <p:cNvPr id="9218" name="Picture 2" descr="C:\Users\zlochms\Dropbox\EDDI 2012\icons\GESIS_alternative2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-1488"/>
            <a:ext cx="9144000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117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218</a:t>
            </a:fld>
            <a:endParaRPr lang="de-DE"/>
          </a:p>
        </p:txBody>
      </p:sp>
      <p:sp>
        <p:nvSpPr>
          <p:cNvPr id="13" name="Shape 446"/>
          <p:cNvSpPr/>
          <p:nvPr/>
        </p:nvSpPr>
        <p:spPr>
          <a:xfrm>
            <a:off x="304800" y="1899504"/>
            <a:ext cx="8548082" cy="434889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14" name="Rechteck 13"/>
          <p:cNvSpPr/>
          <p:nvPr/>
        </p:nvSpPr>
        <p:spPr>
          <a:xfrm>
            <a:off x="304800" y="4327004"/>
            <a:ext cx="8548082" cy="19823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hteck 14"/>
          <p:cNvSpPr/>
          <p:nvPr/>
        </p:nvSpPr>
        <p:spPr>
          <a:xfrm>
            <a:off x="1259632" y="1873399"/>
            <a:ext cx="7344816" cy="3261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hteck 15"/>
          <p:cNvSpPr/>
          <p:nvPr/>
        </p:nvSpPr>
        <p:spPr>
          <a:xfrm>
            <a:off x="171128" y="1593007"/>
            <a:ext cx="1520552" cy="3261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99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219</a:t>
            </a:fld>
            <a:endParaRPr lang="de-DE"/>
          </a:p>
        </p:txBody>
      </p:sp>
      <p:sp>
        <p:nvSpPr>
          <p:cNvPr id="13" name="Shape 446"/>
          <p:cNvSpPr/>
          <p:nvPr/>
        </p:nvSpPr>
        <p:spPr>
          <a:xfrm>
            <a:off x="304800" y="1899504"/>
            <a:ext cx="8548082" cy="434889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14" name="Rechteck 13"/>
          <p:cNvSpPr/>
          <p:nvPr/>
        </p:nvSpPr>
        <p:spPr>
          <a:xfrm>
            <a:off x="304800" y="4327004"/>
            <a:ext cx="8548082" cy="19823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hteck 14"/>
          <p:cNvSpPr/>
          <p:nvPr/>
        </p:nvSpPr>
        <p:spPr>
          <a:xfrm>
            <a:off x="1259632" y="1873399"/>
            <a:ext cx="7344816" cy="3261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hteck 15"/>
          <p:cNvSpPr/>
          <p:nvPr/>
        </p:nvSpPr>
        <p:spPr>
          <a:xfrm>
            <a:off x="171128" y="1602532"/>
            <a:ext cx="1520552" cy="3261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lipse 2"/>
          <p:cNvSpPr/>
          <p:nvPr/>
        </p:nvSpPr>
        <p:spPr>
          <a:xfrm>
            <a:off x="3904878" y="2017415"/>
            <a:ext cx="3816424" cy="2472655"/>
          </a:xfrm>
          <a:prstGeom prst="ellipse">
            <a:avLst/>
          </a:prstGeom>
          <a:noFill/>
          <a:ln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623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disco-model API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disco-model implementation is designed to be extended</a:t>
            </a:r>
          </a:p>
          <a:p>
            <a:r>
              <a:rPr lang="en-US" dirty="0" smtClean="0"/>
              <a:t>For one project’s individual requirements</a:t>
            </a:r>
          </a:p>
          <a:p>
            <a:endParaRPr lang="en-US" dirty="0"/>
          </a:p>
          <a:p>
            <a:r>
              <a:rPr lang="en-US" dirty="0" smtClean="0"/>
              <a:t>Speaking in MVC-pattern language: the model is separated and independent from the views and the controllers</a:t>
            </a:r>
            <a:endParaRPr lang="en-US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220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763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disco-model API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4248472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+mn-lt"/>
              </a:rPr>
              <a:t>abstract classes</a:t>
            </a:r>
          </a:p>
          <a:p>
            <a:pPr lvl="1"/>
            <a:r>
              <a:rPr lang="en-US" dirty="0" smtClean="0">
                <a:latin typeface="+mn-lt"/>
              </a:rPr>
              <a:t>define the basic elements, i.e. data type and object properties, that are provided and covered by the disco-model</a:t>
            </a:r>
          </a:p>
          <a:p>
            <a:pPr lvl="1"/>
            <a:r>
              <a:rPr lang="en-US" dirty="0" smtClean="0">
                <a:latin typeface="+mn-lt"/>
              </a:rPr>
              <a:t>may be extended, but </a:t>
            </a:r>
            <a:r>
              <a:rPr lang="en-US" dirty="0" smtClean="0"/>
              <a:t>cannot</a:t>
            </a:r>
            <a:r>
              <a:rPr lang="en-US" dirty="0" smtClean="0">
                <a:latin typeface="+mn-lt"/>
              </a:rPr>
              <a:t> be instantiated</a:t>
            </a:r>
          </a:p>
          <a:p>
            <a:pPr lvl="1"/>
            <a:r>
              <a:rPr lang="en-US" dirty="0" smtClean="0">
                <a:latin typeface="+mn-lt"/>
              </a:rPr>
              <a:t>e.g. </a:t>
            </a:r>
            <a:r>
              <a:rPr lang="en-US" sz="1800" dirty="0" err="1" smtClean="0">
                <a:latin typeface="+mn-lt"/>
                <a:cs typeface="Times New Roman" pitchFamily="18" charset="0"/>
              </a:rPr>
              <a:t>AbstractVariable</a:t>
            </a:r>
            <a:endParaRPr lang="en-US" sz="1800" dirty="0" smtClean="0">
              <a:latin typeface="+mn-lt"/>
              <a:cs typeface="Times New Roman" pitchFamily="18" charset="0"/>
            </a:endParaRPr>
          </a:p>
          <a:p>
            <a:r>
              <a:rPr lang="en-US" dirty="0" smtClean="0">
                <a:latin typeface="+mn-lt"/>
              </a:rPr>
              <a:t>model classes</a:t>
            </a:r>
          </a:p>
          <a:p>
            <a:pPr lvl="1"/>
            <a:r>
              <a:rPr lang="en-US" dirty="0" smtClean="0">
                <a:latin typeface="+mn-lt"/>
              </a:rPr>
              <a:t>represent the actual entity types of disco-model</a:t>
            </a:r>
          </a:p>
          <a:p>
            <a:pPr lvl="1"/>
            <a:r>
              <a:rPr lang="en-US" dirty="0" smtClean="0">
                <a:latin typeface="+mn-lt"/>
              </a:rPr>
              <a:t>may be instantiated and reused</a:t>
            </a:r>
          </a:p>
          <a:p>
            <a:pPr lvl="1"/>
            <a:r>
              <a:rPr lang="en-US" dirty="0" smtClean="0">
                <a:latin typeface="+mn-lt"/>
              </a:rPr>
              <a:t>e.g. </a:t>
            </a:r>
            <a:r>
              <a:rPr lang="en-US" sz="1800" dirty="0" smtClean="0">
                <a:latin typeface="+mn-lt"/>
                <a:cs typeface="Times New Roman" pitchFamily="18" charset="0"/>
              </a:rPr>
              <a:t>Variable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1371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disco-model API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4248472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+mn-lt"/>
              </a:rPr>
              <a:t>abstract classes</a:t>
            </a:r>
          </a:p>
          <a:p>
            <a:pPr lvl="1"/>
            <a:r>
              <a:rPr lang="en-US" dirty="0" smtClean="0">
                <a:latin typeface="+mn-lt"/>
              </a:rPr>
              <a:t>define the basic elements, i.e. data type and object properties, that are provided and covered by the disco-model</a:t>
            </a:r>
          </a:p>
          <a:p>
            <a:pPr lvl="1"/>
            <a:r>
              <a:rPr lang="en-US" dirty="0" smtClean="0">
                <a:latin typeface="+mn-lt"/>
              </a:rPr>
              <a:t>may be extended, but </a:t>
            </a:r>
            <a:r>
              <a:rPr lang="en-US" dirty="0" smtClean="0"/>
              <a:t>cannot</a:t>
            </a:r>
            <a:r>
              <a:rPr lang="en-US" dirty="0" smtClean="0">
                <a:latin typeface="+mn-lt"/>
              </a:rPr>
              <a:t> be instantiated</a:t>
            </a:r>
          </a:p>
          <a:p>
            <a:pPr lvl="1"/>
            <a:r>
              <a:rPr lang="en-US" dirty="0" smtClean="0">
                <a:latin typeface="+mn-lt"/>
              </a:rPr>
              <a:t>e.g. </a:t>
            </a:r>
            <a:r>
              <a:rPr lang="en-US" sz="1800" dirty="0" err="1" smtClean="0">
                <a:latin typeface="+mn-lt"/>
                <a:cs typeface="Times New Roman" pitchFamily="18" charset="0"/>
              </a:rPr>
              <a:t>AbstractVariable</a:t>
            </a:r>
            <a:endParaRPr lang="en-US" sz="1800" dirty="0" smtClean="0">
              <a:latin typeface="+mn-lt"/>
              <a:cs typeface="Times New Roman" pitchFamily="18" charset="0"/>
            </a:endParaRPr>
          </a:p>
          <a:p>
            <a:r>
              <a:rPr lang="en-US" dirty="0" smtClean="0">
                <a:latin typeface="+mn-lt"/>
              </a:rPr>
              <a:t>model classes</a:t>
            </a:r>
          </a:p>
          <a:p>
            <a:pPr lvl="1"/>
            <a:r>
              <a:rPr lang="en-US" dirty="0" smtClean="0">
                <a:latin typeface="+mn-lt"/>
              </a:rPr>
              <a:t>represent the actual entity types of disco-model</a:t>
            </a:r>
          </a:p>
          <a:p>
            <a:pPr lvl="1"/>
            <a:r>
              <a:rPr lang="en-US" dirty="0" smtClean="0">
                <a:latin typeface="+mn-lt"/>
              </a:rPr>
              <a:t>may be instantiated and reused</a:t>
            </a:r>
          </a:p>
          <a:p>
            <a:pPr lvl="1"/>
            <a:r>
              <a:rPr lang="en-US" dirty="0" smtClean="0">
                <a:latin typeface="+mn-lt"/>
              </a:rPr>
              <a:t>e.g. </a:t>
            </a:r>
            <a:r>
              <a:rPr lang="en-US" sz="1800" dirty="0" smtClean="0">
                <a:latin typeface="+mn-lt"/>
                <a:cs typeface="Times New Roman" pitchFamily="18" charset="0"/>
              </a:rPr>
              <a:t>Variable</a:t>
            </a:r>
          </a:p>
          <a:p>
            <a:endParaRPr lang="en-US" sz="2200" dirty="0">
              <a:latin typeface="+mn-lt"/>
              <a:cs typeface="Times New Roman" pitchFamily="18" charset="0"/>
            </a:endParaRPr>
          </a:p>
          <a:p>
            <a:r>
              <a:rPr lang="en-US" sz="2200" dirty="0" smtClean="0">
                <a:latin typeface="+mn-lt"/>
                <a:cs typeface="Times New Roman" pitchFamily="18" charset="0"/>
              </a:rPr>
              <a:t>Implementation of the </a:t>
            </a:r>
            <a:r>
              <a:rPr lang="en-US" sz="2200" b="1" dirty="0" smtClean="0">
                <a:solidFill>
                  <a:srgbClr val="FF3399"/>
                </a:solidFill>
                <a:latin typeface="+mn-lt"/>
                <a:cs typeface="Times New Roman" pitchFamily="18" charset="0"/>
              </a:rPr>
              <a:t>Template Pattern</a:t>
            </a:r>
            <a:endParaRPr lang="en-US" sz="2200" b="1" dirty="0">
              <a:solidFill>
                <a:srgbClr val="FF3399"/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2142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223</a:t>
            </a:fld>
            <a:endParaRPr lang="de-DE"/>
          </a:p>
        </p:txBody>
      </p:sp>
      <p:sp>
        <p:nvSpPr>
          <p:cNvPr id="5" name="Shape 654"/>
          <p:cNvSpPr/>
          <p:nvPr/>
        </p:nvSpPr>
        <p:spPr>
          <a:xfrm>
            <a:off x="304800" y="861426"/>
            <a:ext cx="8449368" cy="472781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2" name="Rechteck 1"/>
          <p:cNvSpPr/>
          <p:nvPr/>
        </p:nvSpPr>
        <p:spPr>
          <a:xfrm>
            <a:off x="467544" y="980728"/>
            <a:ext cx="2880320" cy="10081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79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224</a:t>
            </a:fld>
            <a:endParaRPr lang="de-DE"/>
          </a:p>
        </p:txBody>
      </p:sp>
      <p:sp>
        <p:nvSpPr>
          <p:cNvPr id="5" name="Shape 654"/>
          <p:cNvSpPr/>
          <p:nvPr/>
        </p:nvSpPr>
        <p:spPr>
          <a:xfrm>
            <a:off x="304800" y="861426"/>
            <a:ext cx="8449368" cy="472781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2" name="Rechteck 1"/>
          <p:cNvSpPr/>
          <p:nvPr/>
        </p:nvSpPr>
        <p:spPr>
          <a:xfrm>
            <a:off x="467544" y="980728"/>
            <a:ext cx="2880320" cy="10081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bgerundetes Rechteck 5"/>
          <p:cNvSpPr/>
          <p:nvPr/>
        </p:nvSpPr>
        <p:spPr>
          <a:xfrm>
            <a:off x="195482" y="3626637"/>
            <a:ext cx="8707671" cy="1021334"/>
          </a:xfrm>
          <a:prstGeom prst="round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339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7433941" y="3251942"/>
            <a:ext cx="1635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2"/>
                </a:solidFill>
              </a:rPr>
              <a:t>Provided Types</a:t>
            </a:r>
            <a:endParaRPr 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3908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225</a:t>
            </a:fld>
            <a:endParaRPr lang="de-DE"/>
          </a:p>
        </p:txBody>
      </p:sp>
      <p:sp>
        <p:nvSpPr>
          <p:cNvPr id="5" name="Shape 654"/>
          <p:cNvSpPr/>
          <p:nvPr/>
        </p:nvSpPr>
        <p:spPr>
          <a:xfrm>
            <a:off x="304800" y="861426"/>
            <a:ext cx="8449368" cy="472781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2" name="Rechteck 1"/>
          <p:cNvSpPr/>
          <p:nvPr/>
        </p:nvSpPr>
        <p:spPr>
          <a:xfrm>
            <a:off x="467544" y="980728"/>
            <a:ext cx="2880320" cy="10081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bgerundetes Rechteck 5"/>
          <p:cNvSpPr/>
          <p:nvPr/>
        </p:nvSpPr>
        <p:spPr>
          <a:xfrm>
            <a:off x="195482" y="4639914"/>
            <a:ext cx="8707671" cy="1021334"/>
          </a:xfrm>
          <a:prstGeom prst="round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339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6300192" y="5676464"/>
            <a:ext cx="2695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2"/>
                </a:solidFill>
              </a:rPr>
              <a:t>Project specific extensions</a:t>
            </a:r>
            <a:endParaRPr 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074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Specific Extensions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Projects may just simply use</a:t>
            </a:r>
          </a:p>
          <a:p>
            <a:r>
              <a:rPr lang="en-US" dirty="0" smtClean="0"/>
              <a:t>and extend </a:t>
            </a:r>
            <a:r>
              <a:rPr lang="en-US" dirty="0"/>
              <a:t>the defined classes</a:t>
            </a:r>
          </a:p>
          <a:p>
            <a:pPr lvl="1"/>
            <a:r>
              <a:rPr lang="en-US" dirty="0"/>
              <a:t>Introduce new fields and methods, such as getter/setter</a:t>
            </a:r>
          </a:p>
          <a:p>
            <a:pPr lvl="1"/>
            <a:r>
              <a:rPr lang="en-US" dirty="0"/>
              <a:t>Change the type of existing fields when they overwrite the return type (in Java this is only possible in case of covariant returns)</a:t>
            </a: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6260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is the presentation continued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Now that I have the data model… and I can extend it</a:t>
            </a:r>
          </a:p>
          <a:p>
            <a:r>
              <a:rPr lang="en-US" dirty="0" smtClean="0"/>
              <a:t>I just need to store my data somewhere…</a:t>
            </a:r>
          </a:p>
          <a:p>
            <a:endParaRPr lang="en-US" dirty="0"/>
          </a:p>
          <a:p>
            <a:r>
              <a:rPr lang="en-US" dirty="0" smtClean="0"/>
              <a:t>Are there any persistence mechanisms that are offered by the DDI-Lifecycle model?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3989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228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467544" y="2564146"/>
            <a:ext cx="3816424" cy="1476896"/>
          </a:xfrm>
        </p:spPr>
        <p:txBody>
          <a:bodyPr>
            <a:normAutofit/>
          </a:bodyPr>
          <a:lstStyle/>
          <a:p>
            <a:r>
              <a:rPr lang="en-US" sz="2000" dirty="0" smtClean="0"/>
              <a:t>Persistence Layer</a:t>
            </a:r>
          </a:p>
          <a:p>
            <a:pPr lvl="1"/>
            <a:r>
              <a:rPr lang="en-US" sz="1600" dirty="0" smtClean="0"/>
              <a:t>Programming Interface</a:t>
            </a:r>
          </a:p>
          <a:p>
            <a:pPr lvl="1"/>
            <a:r>
              <a:rPr lang="en-US" sz="1600" dirty="0" smtClean="0"/>
              <a:t>Types of physical data storages</a:t>
            </a:r>
          </a:p>
          <a:p>
            <a:pPr lvl="1"/>
            <a:r>
              <a:rPr lang="en-US" sz="1600" dirty="0" smtClean="0"/>
              <a:t>Examples</a:t>
            </a:r>
          </a:p>
        </p:txBody>
      </p:sp>
      <p:sp>
        <p:nvSpPr>
          <p:cNvPr id="7" name="Inhaltsplatzhalter 2"/>
          <p:cNvSpPr txBox="1">
            <a:spLocks/>
          </p:cNvSpPr>
          <p:nvPr/>
        </p:nvSpPr>
        <p:spPr>
          <a:xfrm>
            <a:off x="4572000" y="2563196"/>
            <a:ext cx="4283968" cy="39176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 smtClean="0">
                <a:solidFill>
                  <a:srgbClr val="FF3399"/>
                </a:solidFill>
              </a:rPr>
              <a:t>Physical Data Product</a:t>
            </a:r>
          </a:p>
          <a:p>
            <a:r>
              <a:rPr lang="en-US" sz="2000" dirty="0" smtClean="0"/>
              <a:t>Physical Instance</a:t>
            </a:r>
          </a:p>
          <a:p>
            <a:r>
              <a:rPr lang="en-US" sz="2000" dirty="0" smtClean="0"/>
              <a:t>Archive</a:t>
            </a:r>
          </a:p>
          <a:p>
            <a:r>
              <a:rPr lang="en-US" sz="2000" dirty="0"/>
              <a:t>DDIProfile</a:t>
            </a: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dirty="0"/>
              <a:t>DDI Serialization Examples</a:t>
            </a:r>
          </a:p>
          <a:p>
            <a:pPr lvl="1"/>
            <a:r>
              <a:rPr lang="en-US" sz="1600" dirty="0"/>
              <a:t>DDI-XML</a:t>
            </a:r>
          </a:p>
          <a:p>
            <a:pPr lvl="1"/>
            <a:r>
              <a:rPr lang="en-US" sz="1600" dirty="0"/>
              <a:t>DDI-RDF / disco-spec</a:t>
            </a:r>
          </a:p>
          <a:p>
            <a:pPr lvl="1"/>
            <a:r>
              <a:rPr lang="en-US" sz="1600" dirty="0"/>
              <a:t>Relational-DB</a:t>
            </a:r>
          </a:p>
          <a:p>
            <a:endParaRPr lang="en-US" sz="2000" dirty="0" smtClean="0"/>
          </a:p>
        </p:txBody>
      </p:sp>
      <p:sp>
        <p:nvSpPr>
          <p:cNvPr id="8" name="Abgerundetes Rechteck 7"/>
          <p:cNvSpPr/>
          <p:nvPr/>
        </p:nvSpPr>
        <p:spPr>
          <a:xfrm>
            <a:off x="195349" y="2457271"/>
            <a:ext cx="8716791" cy="1691809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feld 8"/>
          <p:cNvSpPr txBox="1"/>
          <p:nvPr/>
        </p:nvSpPr>
        <p:spPr>
          <a:xfrm>
            <a:off x="6948264" y="3702488"/>
            <a:ext cx="1885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00B050"/>
                </a:solidFill>
              </a:rPr>
              <a:t>Data Storage Access</a:t>
            </a:r>
            <a:endParaRPr lang="en-US" sz="1600" b="1" dirty="0">
              <a:solidFill>
                <a:srgbClr val="00B050"/>
              </a:solidFill>
            </a:endParaRPr>
          </a:p>
        </p:txBody>
      </p:sp>
      <p:sp>
        <p:nvSpPr>
          <p:cNvPr id="10" name="Abgerundetes Rechteck 9"/>
          <p:cNvSpPr/>
          <p:nvPr/>
        </p:nvSpPr>
        <p:spPr>
          <a:xfrm>
            <a:off x="175689" y="4329479"/>
            <a:ext cx="8716791" cy="1691809"/>
          </a:xfrm>
          <a:prstGeom prst="roundRect">
            <a:avLst/>
          </a:prstGeom>
          <a:noFill/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feld 10"/>
          <p:cNvSpPr txBox="1"/>
          <p:nvPr/>
        </p:nvSpPr>
        <p:spPr>
          <a:xfrm>
            <a:off x="7569360" y="5574696"/>
            <a:ext cx="1251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accent2"/>
                </a:solidFill>
              </a:rPr>
              <a:t>Data Storage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12" name="Inhaltsplatzhalter 2"/>
          <p:cNvSpPr txBox="1">
            <a:spLocks/>
          </p:cNvSpPr>
          <p:nvPr/>
        </p:nvSpPr>
        <p:spPr>
          <a:xfrm>
            <a:off x="467544" y="4395645"/>
            <a:ext cx="3816424" cy="1457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Outlook</a:t>
            </a:r>
            <a:endParaRPr lang="en-US" sz="1600" dirty="0" smtClean="0"/>
          </a:p>
        </p:txBody>
      </p:sp>
      <p:sp>
        <p:nvSpPr>
          <p:cNvPr id="13" name="Rechteck 12"/>
          <p:cNvSpPr/>
          <p:nvPr/>
        </p:nvSpPr>
        <p:spPr>
          <a:xfrm>
            <a:off x="107505" y="4293096"/>
            <a:ext cx="8928992" cy="2187724"/>
          </a:xfrm>
          <a:prstGeom prst="rect">
            <a:avLst/>
          </a:prstGeom>
          <a:solidFill>
            <a:schemeClr val="bg1">
              <a:alpha val="53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436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229</a:t>
            </a:fld>
            <a:endParaRPr lang="de-DE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1163910"/>
            <a:ext cx="8058150" cy="550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el 4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de-DE" smtClean="0"/>
              <a:t>PhysicalDataProduct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683962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230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-99392"/>
            <a:ext cx="8229600" cy="1143000"/>
          </a:xfrm>
        </p:spPr>
        <p:txBody>
          <a:bodyPr/>
          <a:lstStyle/>
          <a:p>
            <a:r>
              <a:rPr lang="de-DE" smtClean="0"/>
              <a:t>PhysicalDataProduct</a:t>
            </a:r>
            <a:endParaRPr lang="en-US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13" y="936451"/>
            <a:ext cx="7648575" cy="587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531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PhysicalDataProduct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231</a:t>
            </a:fld>
            <a:endParaRPr lang="de-DE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443163"/>
            <a:ext cx="6400800" cy="197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200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232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467544" y="2564146"/>
            <a:ext cx="3816424" cy="1476896"/>
          </a:xfrm>
        </p:spPr>
        <p:txBody>
          <a:bodyPr>
            <a:normAutofit/>
          </a:bodyPr>
          <a:lstStyle/>
          <a:p>
            <a:r>
              <a:rPr lang="en-US" sz="2000" dirty="0" smtClean="0"/>
              <a:t>Persistence Layer</a:t>
            </a:r>
          </a:p>
          <a:p>
            <a:pPr lvl="1"/>
            <a:r>
              <a:rPr lang="en-US" sz="1600" dirty="0" smtClean="0"/>
              <a:t>Programming Interface</a:t>
            </a:r>
          </a:p>
          <a:p>
            <a:pPr lvl="1"/>
            <a:r>
              <a:rPr lang="en-US" sz="1600" dirty="0" smtClean="0"/>
              <a:t>Types of physical data storages</a:t>
            </a:r>
          </a:p>
          <a:p>
            <a:pPr lvl="1"/>
            <a:r>
              <a:rPr lang="en-US" sz="1600" dirty="0" smtClean="0"/>
              <a:t>Examples</a:t>
            </a:r>
          </a:p>
        </p:txBody>
      </p:sp>
      <p:sp>
        <p:nvSpPr>
          <p:cNvPr id="7" name="Inhaltsplatzhalter 2"/>
          <p:cNvSpPr txBox="1">
            <a:spLocks/>
          </p:cNvSpPr>
          <p:nvPr/>
        </p:nvSpPr>
        <p:spPr>
          <a:xfrm>
            <a:off x="4572000" y="2563196"/>
            <a:ext cx="4283968" cy="3746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Physical Data Product</a:t>
            </a:r>
          </a:p>
          <a:p>
            <a:r>
              <a:rPr lang="en-US" sz="2000" b="1" dirty="0" smtClean="0">
                <a:solidFill>
                  <a:srgbClr val="FF3399"/>
                </a:solidFill>
              </a:rPr>
              <a:t>Physical Instance</a:t>
            </a:r>
          </a:p>
          <a:p>
            <a:r>
              <a:rPr lang="en-US" sz="2000" dirty="0" smtClean="0"/>
              <a:t>Archive</a:t>
            </a:r>
          </a:p>
          <a:p>
            <a:r>
              <a:rPr lang="en-US" sz="2000" dirty="0"/>
              <a:t>DDIProfile</a:t>
            </a: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dirty="0"/>
              <a:t>DDI Serialization Examples</a:t>
            </a:r>
          </a:p>
          <a:p>
            <a:pPr lvl="1"/>
            <a:r>
              <a:rPr lang="en-US" sz="1600" dirty="0"/>
              <a:t>DDI-XML</a:t>
            </a:r>
          </a:p>
          <a:p>
            <a:pPr lvl="1"/>
            <a:r>
              <a:rPr lang="en-US" sz="1600" dirty="0"/>
              <a:t>DDI-RDF / disco-spec</a:t>
            </a:r>
          </a:p>
          <a:p>
            <a:pPr lvl="1"/>
            <a:r>
              <a:rPr lang="en-US" sz="1600" dirty="0"/>
              <a:t>Relational-DB</a:t>
            </a:r>
          </a:p>
          <a:p>
            <a:endParaRPr lang="en-US" sz="2000" dirty="0" smtClean="0"/>
          </a:p>
        </p:txBody>
      </p:sp>
      <p:sp>
        <p:nvSpPr>
          <p:cNvPr id="8" name="Abgerundetes Rechteck 7"/>
          <p:cNvSpPr/>
          <p:nvPr/>
        </p:nvSpPr>
        <p:spPr>
          <a:xfrm>
            <a:off x="195349" y="2457271"/>
            <a:ext cx="8716791" cy="1691809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feld 8"/>
          <p:cNvSpPr txBox="1"/>
          <p:nvPr/>
        </p:nvSpPr>
        <p:spPr>
          <a:xfrm>
            <a:off x="6948264" y="3702488"/>
            <a:ext cx="1885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00B050"/>
                </a:solidFill>
              </a:rPr>
              <a:t>Data Storage Access</a:t>
            </a:r>
            <a:endParaRPr lang="en-US" sz="1600" b="1" dirty="0">
              <a:solidFill>
                <a:srgbClr val="00B050"/>
              </a:solidFill>
            </a:endParaRPr>
          </a:p>
        </p:txBody>
      </p:sp>
      <p:sp>
        <p:nvSpPr>
          <p:cNvPr id="10" name="Abgerundetes Rechteck 9"/>
          <p:cNvSpPr/>
          <p:nvPr/>
        </p:nvSpPr>
        <p:spPr>
          <a:xfrm>
            <a:off x="175689" y="4329479"/>
            <a:ext cx="8716791" cy="1691809"/>
          </a:xfrm>
          <a:prstGeom prst="roundRect">
            <a:avLst/>
          </a:prstGeom>
          <a:noFill/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feld 10"/>
          <p:cNvSpPr txBox="1"/>
          <p:nvPr/>
        </p:nvSpPr>
        <p:spPr>
          <a:xfrm>
            <a:off x="7569360" y="5574696"/>
            <a:ext cx="1251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accent2"/>
                </a:solidFill>
              </a:rPr>
              <a:t>Data Storage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12" name="Inhaltsplatzhalter 2"/>
          <p:cNvSpPr txBox="1">
            <a:spLocks/>
          </p:cNvSpPr>
          <p:nvPr/>
        </p:nvSpPr>
        <p:spPr>
          <a:xfrm>
            <a:off x="467544" y="4395645"/>
            <a:ext cx="3816424" cy="1457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Outlook</a:t>
            </a:r>
            <a:endParaRPr lang="en-US" sz="1600" dirty="0" smtClean="0"/>
          </a:p>
        </p:txBody>
      </p:sp>
      <p:sp>
        <p:nvSpPr>
          <p:cNvPr id="13" name="Rechteck 12"/>
          <p:cNvSpPr/>
          <p:nvPr/>
        </p:nvSpPr>
        <p:spPr>
          <a:xfrm>
            <a:off x="107505" y="4293096"/>
            <a:ext cx="8928992" cy="2187724"/>
          </a:xfrm>
          <a:prstGeom prst="rect">
            <a:avLst/>
          </a:prstGeom>
          <a:solidFill>
            <a:schemeClr val="bg1">
              <a:alpha val="53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096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233</a:t>
            </a:fld>
            <a:endParaRPr lang="de-DE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1110952"/>
            <a:ext cx="805815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de-DE" smtClean="0"/>
              <a:t>PhysicalInstance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835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234</a:t>
            </a:fld>
            <a:endParaRPr lang="de-DE"/>
          </a:p>
        </p:txBody>
      </p:sp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de-DE" smtClean="0"/>
              <a:t>PhysicalInstance</a:t>
            </a:r>
            <a:endParaRPr lang="en-US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917401"/>
            <a:ext cx="7696200" cy="5895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5256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6863" y="717376"/>
            <a:ext cx="6010275" cy="60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235</a:t>
            </a:fld>
            <a:endParaRPr lang="de-DE"/>
          </a:p>
        </p:txBody>
      </p:sp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457200" y="-171400"/>
            <a:ext cx="8229600" cy="1143000"/>
          </a:xfrm>
        </p:spPr>
        <p:txBody>
          <a:bodyPr/>
          <a:lstStyle/>
          <a:p>
            <a:r>
              <a:rPr lang="de-DE" smtClean="0"/>
              <a:t>PhysicalInstance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06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236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467544" y="2564146"/>
            <a:ext cx="3816424" cy="1476896"/>
          </a:xfrm>
        </p:spPr>
        <p:txBody>
          <a:bodyPr>
            <a:normAutofit/>
          </a:bodyPr>
          <a:lstStyle/>
          <a:p>
            <a:r>
              <a:rPr lang="en-US" sz="2000" dirty="0" smtClean="0"/>
              <a:t>Persistence Layer</a:t>
            </a:r>
          </a:p>
          <a:p>
            <a:pPr lvl="1"/>
            <a:r>
              <a:rPr lang="en-US" sz="1600" dirty="0" smtClean="0"/>
              <a:t>Programming Interface</a:t>
            </a:r>
          </a:p>
          <a:p>
            <a:pPr lvl="1"/>
            <a:r>
              <a:rPr lang="en-US" sz="1600" dirty="0" smtClean="0"/>
              <a:t>Types of physical data storages</a:t>
            </a:r>
          </a:p>
          <a:p>
            <a:pPr lvl="1"/>
            <a:r>
              <a:rPr lang="en-US" sz="1600" dirty="0" smtClean="0"/>
              <a:t>Examples</a:t>
            </a:r>
          </a:p>
        </p:txBody>
      </p:sp>
      <p:sp>
        <p:nvSpPr>
          <p:cNvPr id="7" name="Inhaltsplatzhalter 2"/>
          <p:cNvSpPr txBox="1">
            <a:spLocks/>
          </p:cNvSpPr>
          <p:nvPr/>
        </p:nvSpPr>
        <p:spPr>
          <a:xfrm>
            <a:off x="4572000" y="2563196"/>
            <a:ext cx="4283968" cy="3818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Physical Data Product</a:t>
            </a:r>
          </a:p>
          <a:p>
            <a:r>
              <a:rPr lang="en-US" sz="2000" dirty="0" smtClean="0"/>
              <a:t>Physical Instance</a:t>
            </a:r>
          </a:p>
          <a:p>
            <a:r>
              <a:rPr lang="en-US" sz="2000" b="1" dirty="0">
                <a:solidFill>
                  <a:srgbClr val="FF3399"/>
                </a:solidFill>
              </a:rPr>
              <a:t>Archive</a:t>
            </a:r>
          </a:p>
          <a:p>
            <a:r>
              <a:rPr lang="en-US" sz="2000" dirty="0"/>
              <a:t>DDIProfile</a:t>
            </a:r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dirty="0"/>
              <a:t>DDI Serialization Examples</a:t>
            </a:r>
          </a:p>
          <a:p>
            <a:pPr lvl="1"/>
            <a:r>
              <a:rPr lang="en-US" sz="1600" dirty="0"/>
              <a:t>DDI-XML</a:t>
            </a:r>
          </a:p>
          <a:p>
            <a:pPr lvl="1"/>
            <a:r>
              <a:rPr lang="en-US" sz="1600" dirty="0"/>
              <a:t>DDI-RDF / disco-spec</a:t>
            </a:r>
          </a:p>
          <a:p>
            <a:pPr lvl="1"/>
            <a:r>
              <a:rPr lang="en-US" sz="1600" dirty="0"/>
              <a:t>Relational-DB</a:t>
            </a:r>
          </a:p>
          <a:p>
            <a:endParaRPr lang="en-US" sz="2000" dirty="0" smtClean="0"/>
          </a:p>
        </p:txBody>
      </p:sp>
      <p:sp>
        <p:nvSpPr>
          <p:cNvPr id="8" name="Abgerundetes Rechteck 7"/>
          <p:cNvSpPr/>
          <p:nvPr/>
        </p:nvSpPr>
        <p:spPr>
          <a:xfrm>
            <a:off x="195349" y="2457271"/>
            <a:ext cx="8716791" cy="1691809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feld 8"/>
          <p:cNvSpPr txBox="1"/>
          <p:nvPr/>
        </p:nvSpPr>
        <p:spPr>
          <a:xfrm>
            <a:off x="6948264" y="3702488"/>
            <a:ext cx="1885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00B050"/>
                </a:solidFill>
              </a:rPr>
              <a:t>Data Storage Access</a:t>
            </a:r>
            <a:endParaRPr lang="en-US" sz="1600" b="1" dirty="0">
              <a:solidFill>
                <a:srgbClr val="00B050"/>
              </a:solidFill>
            </a:endParaRPr>
          </a:p>
        </p:txBody>
      </p:sp>
      <p:sp>
        <p:nvSpPr>
          <p:cNvPr id="10" name="Abgerundetes Rechteck 9"/>
          <p:cNvSpPr/>
          <p:nvPr/>
        </p:nvSpPr>
        <p:spPr>
          <a:xfrm>
            <a:off x="175689" y="4329479"/>
            <a:ext cx="8716791" cy="1691809"/>
          </a:xfrm>
          <a:prstGeom prst="roundRect">
            <a:avLst/>
          </a:prstGeom>
          <a:noFill/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feld 10"/>
          <p:cNvSpPr txBox="1"/>
          <p:nvPr/>
        </p:nvSpPr>
        <p:spPr>
          <a:xfrm>
            <a:off x="7569360" y="5574696"/>
            <a:ext cx="1251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accent2"/>
                </a:solidFill>
              </a:rPr>
              <a:t>Data Storage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12" name="Inhaltsplatzhalter 2"/>
          <p:cNvSpPr txBox="1">
            <a:spLocks/>
          </p:cNvSpPr>
          <p:nvPr/>
        </p:nvSpPr>
        <p:spPr>
          <a:xfrm>
            <a:off x="467544" y="4395645"/>
            <a:ext cx="3816424" cy="1457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Outlook</a:t>
            </a:r>
            <a:endParaRPr lang="en-US" sz="1600" dirty="0" smtClean="0"/>
          </a:p>
        </p:txBody>
      </p:sp>
      <p:sp>
        <p:nvSpPr>
          <p:cNvPr id="13" name="Rechteck 12"/>
          <p:cNvSpPr/>
          <p:nvPr/>
        </p:nvSpPr>
        <p:spPr>
          <a:xfrm>
            <a:off x="107505" y="4293096"/>
            <a:ext cx="8928992" cy="2187724"/>
          </a:xfrm>
          <a:prstGeom prst="rect">
            <a:avLst/>
          </a:prstGeom>
          <a:solidFill>
            <a:schemeClr val="bg1">
              <a:alpha val="53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758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237</a:t>
            </a:fld>
            <a:endParaRPr lang="de-DE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1120477"/>
            <a:ext cx="8039100" cy="547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de-DE" smtClean="0"/>
              <a:t>Archive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77151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238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de-DE" smtClean="0"/>
              <a:t>Archive</a:t>
            </a:r>
            <a:endParaRPr lang="en-US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3" y="945976"/>
            <a:ext cx="7685087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8096385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Archive</a:t>
            </a:r>
            <a:endParaRPr lang="en-US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239</a:t>
            </a:fld>
            <a:endParaRPr lang="de-DE"/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>
          <a:xfrm>
            <a:off x="0" y="5661248"/>
            <a:ext cx="9144000" cy="1152128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de-DE" smtClean="0"/>
              <a:t>Contains persistent lifecycle events</a:t>
            </a:r>
          </a:p>
          <a:p>
            <a:pPr marL="0" indent="0" algn="ctr">
              <a:buNone/>
            </a:pPr>
            <a:r>
              <a:rPr lang="de-DE" smtClean="0"/>
              <a:t>Contains archive-specific information (archive reference, access, funding)</a:t>
            </a:r>
          </a:p>
          <a:p>
            <a:pPr algn="ctr"/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713" y="2253208"/>
            <a:ext cx="5362575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685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240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467544" y="2564146"/>
            <a:ext cx="3816424" cy="1476896"/>
          </a:xfrm>
        </p:spPr>
        <p:txBody>
          <a:bodyPr>
            <a:normAutofit/>
          </a:bodyPr>
          <a:lstStyle/>
          <a:p>
            <a:r>
              <a:rPr lang="en-US" sz="2000" dirty="0" smtClean="0"/>
              <a:t>Persistence Layer</a:t>
            </a:r>
          </a:p>
          <a:p>
            <a:pPr lvl="1"/>
            <a:r>
              <a:rPr lang="en-US" sz="1600" dirty="0" smtClean="0"/>
              <a:t>Programming Interface</a:t>
            </a:r>
          </a:p>
          <a:p>
            <a:pPr lvl="1"/>
            <a:r>
              <a:rPr lang="en-US" sz="1600" dirty="0" smtClean="0"/>
              <a:t>Types of physical data storages</a:t>
            </a:r>
          </a:p>
          <a:p>
            <a:pPr lvl="1"/>
            <a:r>
              <a:rPr lang="en-US" sz="1600" dirty="0" smtClean="0"/>
              <a:t>Examples</a:t>
            </a:r>
          </a:p>
        </p:txBody>
      </p:sp>
      <p:sp>
        <p:nvSpPr>
          <p:cNvPr id="7" name="Inhaltsplatzhalter 2"/>
          <p:cNvSpPr txBox="1">
            <a:spLocks/>
          </p:cNvSpPr>
          <p:nvPr/>
        </p:nvSpPr>
        <p:spPr>
          <a:xfrm>
            <a:off x="4572000" y="2563196"/>
            <a:ext cx="4283968" cy="3818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Physical Data Product</a:t>
            </a:r>
          </a:p>
          <a:p>
            <a:r>
              <a:rPr lang="en-US" sz="2000" dirty="0" smtClean="0"/>
              <a:t>Physical Instance</a:t>
            </a:r>
          </a:p>
          <a:p>
            <a:r>
              <a:rPr lang="en-US" sz="2000" dirty="0"/>
              <a:t>Archive</a:t>
            </a:r>
          </a:p>
          <a:p>
            <a:r>
              <a:rPr lang="en-US" sz="2000" b="1" dirty="0">
                <a:solidFill>
                  <a:srgbClr val="FF3399"/>
                </a:solidFill>
              </a:rPr>
              <a:t>DDIProfile</a:t>
            </a:r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dirty="0"/>
              <a:t>DDI Serialization Examples</a:t>
            </a:r>
          </a:p>
          <a:p>
            <a:pPr lvl="1"/>
            <a:r>
              <a:rPr lang="en-US" sz="1600" dirty="0"/>
              <a:t>DDI-XML</a:t>
            </a:r>
          </a:p>
          <a:p>
            <a:pPr lvl="1"/>
            <a:r>
              <a:rPr lang="en-US" sz="1600" dirty="0"/>
              <a:t>DDI-RDF / disco-spec</a:t>
            </a:r>
          </a:p>
          <a:p>
            <a:pPr lvl="1"/>
            <a:r>
              <a:rPr lang="en-US" sz="1600" dirty="0"/>
              <a:t>Relational-DB</a:t>
            </a:r>
          </a:p>
          <a:p>
            <a:endParaRPr lang="en-US" sz="2000" dirty="0" smtClean="0"/>
          </a:p>
        </p:txBody>
      </p:sp>
      <p:sp>
        <p:nvSpPr>
          <p:cNvPr id="8" name="Abgerundetes Rechteck 7"/>
          <p:cNvSpPr/>
          <p:nvPr/>
        </p:nvSpPr>
        <p:spPr>
          <a:xfrm>
            <a:off x="195349" y="2457271"/>
            <a:ext cx="8716791" cy="1691809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feld 8"/>
          <p:cNvSpPr txBox="1"/>
          <p:nvPr/>
        </p:nvSpPr>
        <p:spPr>
          <a:xfrm>
            <a:off x="6948264" y="3702488"/>
            <a:ext cx="1885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00B050"/>
                </a:solidFill>
              </a:rPr>
              <a:t>Data Storage Access</a:t>
            </a:r>
            <a:endParaRPr lang="en-US" sz="1600" b="1" dirty="0">
              <a:solidFill>
                <a:srgbClr val="00B050"/>
              </a:solidFill>
            </a:endParaRPr>
          </a:p>
        </p:txBody>
      </p:sp>
      <p:sp>
        <p:nvSpPr>
          <p:cNvPr id="10" name="Abgerundetes Rechteck 9"/>
          <p:cNvSpPr/>
          <p:nvPr/>
        </p:nvSpPr>
        <p:spPr>
          <a:xfrm>
            <a:off x="175689" y="4329479"/>
            <a:ext cx="8716791" cy="1691809"/>
          </a:xfrm>
          <a:prstGeom prst="roundRect">
            <a:avLst/>
          </a:prstGeom>
          <a:noFill/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feld 10"/>
          <p:cNvSpPr txBox="1"/>
          <p:nvPr/>
        </p:nvSpPr>
        <p:spPr>
          <a:xfrm>
            <a:off x="7569360" y="5574696"/>
            <a:ext cx="1251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accent2"/>
                </a:solidFill>
              </a:rPr>
              <a:t>Data Storage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12" name="Inhaltsplatzhalter 2"/>
          <p:cNvSpPr txBox="1">
            <a:spLocks/>
          </p:cNvSpPr>
          <p:nvPr/>
        </p:nvSpPr>
        <p:spPr>
          <a:xfrm>
            <a:off x="467544" y="4395645"/>
            <a:ext cx="3816424" cy="1457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Outlook</a:t>
            </a:r>
            <a:endParaRPr lang="en-US" sz="1600" dirty="0" smtClean="0"/>
          </a:p>
        </p:txBody>
      </p:sp>
      <p:sp>
        <p:nvSpPr>
          <p:cNvPr id="13" name="Rechteck 12"/>
          <p:cNvSpPr/>
          <p:nvPr/>
        </p:nvSpPr>
        <p:spPr>
          <a:xfrm>
            <a:off x="107505" y="4293096"/>
            <a:ext cx="8928992" cy="2187724"/>
          </a:xfrm>
          <a:prstGeom prst="rect">
            <a:avLst/>
          </a:prstGeom>
          <a:solidFill>
            <a:schemeClr val="bg1">
              <a:alpha val="53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6436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241</a:t>
            </a:fld>
            <a:endParaRPr lang="de-DE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144860"/>
            <a:ext cx="80010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de-DE" smtClean="0"/>
              <a:t>DDIProfile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532590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242</a:t>
            </a:fld>
            <a:endParaRPr lang="de-DE"/>
          </a:p>
        </p:txBody>
      </p:sp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457200" y="-99392"/>
            <a:ext cx="8229600" cy="1143000"/>
          </a:xfrm>
        </p:spPr>
        <p:txBody>
          <a:bodyPr/>
          <a:lstStyle/>
          <a:p>
            <a:r>
              <a:rPr lang="de-DE" smtClean="0"/>
              <a:t>DDIProfile</a:t>
            </a:r>
            <a:endParaRPr lang="en-US"/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860251"/>
            <a:ext cx="7723187" cy="595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4201499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243</a:t>
            </a:fld>
            <a:endParaRPr lang="de-DE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913" y="1196752"/>
            <a:ext cx="5210175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de-DE" smtClean="0"/>
              <a:t>DDIProfile</a:t>
            </a:r>
            <a:endParaRPr lang="en-US"/>
          </a:p>
        </p:txBody>
      </p:sp>
      <p:sp>
        <p:nvSpPr>
          <p:cNvPr id="9" name="Inhaltsplatzhalter 2"/>
          <p:cNvSpPr>
            <a:spLocks noGrp="1"/>
          </p:cNvSpPr>
          <p:nvPr>
            <p:ph idx="1"/>
          </p:nvPr>
        </p:nvSpPr>
        <p:spPr>
          <a:xfrm>
            <a:off x="457200" y="5916413"/>
            <a:ext cx="8229600" cy="680939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smtClean="0"/>
              <a:t>Describes </a:t>
            </a:r>
            <a:r>
              <a:rPr lang="en-US"/>
              <a:t>which </a:t>
            </a:r>
            <a:r>
              <a:rPr lang="en-US" smtClean="0"/>
              <a:t>DDI-L elements </a:t>
            </a:r>
            <a:r>
              <a:rPr lang="en-US"/>
              <a:t>you use in your institution’s </a:t>
            </a:r>
            <a:r>
              <a:rPr lang="en-US" smtClean="0"/>
              <a:t>DDI flavor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8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the presentation is continued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can the disco-model be persisted?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and</a:t>
            </a:r>
          </a:p>
          <a:p>
            <a:endParaRPr lang="en-US" dirty="0" smtClean="0"/>
          </a:p>
          <a:p>
            <a:r>
              <a:rPr lang="en-US" dirty="0" smtClean="0"/>
              <a:t>How can it be done in a project with individual data model elements? </a:t>
            </a:r>
          </a:p>
          <a:p>
            <a:r>
              <a:rPr lang="en-US" dirty="0" smtClean="0"/>
              <a:t>How do we do this in the Missy application?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244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916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245</a:t>
            </a:fld>
            <a:endParaRPr lang="de-DE"/>
          </a:p>
        </p:txBody>
      </p:sp>
      <p:sp>
        <p:nvSpPr>
          <p:cNvPr id="23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24" name="Inhaltsplatzhalter 2"/>
          <p:cNvSpPr>
            <a:spLocks noGrp="1"/>
          </p:cNvSpPr>
          <p:nvPr>
            <p:ph idx="1"/>
          </p:nvPr>
        </p:nvSpPr>
        <p:spPr>
          <a:xfrm>
            <a:off x="467544" y="2564146"/>
            <a:ext cx="3816424" cy="1476896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solidFill>
                  <a:srgbClr val="FF3399"/>
                </a:solidFill>
              </a:rPr>
              <a:t>Persistence Layer</a:t>
            </a:r>
          </a:p>
          <a:p>
            <a:pPr lvl="1"/>
            <a:r>
              <a:rPr lang="en-US" sz="1600" dirty="0" smtClean="0"/>
              <a:t>Programming Interface</a:t>
            </a:r>
          </a:p>
          <a:p>
            <a:pPr lvl="1"/>
            <a:r>
              <a:rPr lang="en-US" sz="1600" dirty="0" smtClean="0"/>
              <a:t>Types of physical data storages</a:t>
            </a:r>
          </a:p>
          <a:p>
            <a:pPr lvl="1"/>
            <a:r>
              <a:rPr lang="en-US" sz="1600" dirty="0" smtClean="0"/>
              <a:t>Examples</a:t>
            </a:r>
          </a:p>
        </p:txBody>
      </p:sp>
      <p:sp>
        <p:nvSpPr>
          <p:cNvPr id="25" name="Inhaltsplatzhalter 2"/>
          <p:cNvSpPr txBox="1">
            <a:spLocks/>
          </p:cNvSpPr>
          <p:nvPr/>
        </p:nvSpPr>
        <p:spPr>
          <a:xfrm>
            <a:off x="4572000" y="2563196"/>
            <a:ext cx="4283968" cy="3818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Physical Data Product</a:t>
            </a:r>
          </a:p>
          <a:p>
            <a:r>
              <a:rPr lang="en-US" sz="2000" dirty="0" smtClean="0"/>
              <a:t>Physical Instance</a:t>
            </a:r>
          </a:p>
          <a:p>
            <a:r>
              <a:rPr lang="en-US" sz="2000" dirty="0" smtClean="0"/>
              <a:t>Archive</a:t>
            </a:r>
          </a:p>
          <a:p>
            <a:r>
              <a:rPr lang="en-US" sz="2000" dirty="0"/>
              <a:t>DDIProfile</a:t>
            </a: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dirty="0"/>
              <a:t>DDI Serialization Examples</a:t>
            </a:r>
          </a:p>
          <a:p>
            <a:pPr lvl="1"/>
            <a:r>
              <a:rPr lang="en-US" sz="1600" dirty="0"/>
              <a:t>DDI-XML</a:t>
            </a:r>
          </a:p>
          <a:p>
            <a:pPr lvl="1"/>
            <a:r>
              <a:rPr lang="en-US" sz="1600" dirty="0"/>
              <a:t>DDI-RDF / disco-spec</a:t>
            </a:r>
          </a:p>
          <a:p>
            <a:pPr lvl="1"/>
            <a:r>
              <a:rPr lang="en-US" sz="1600" dirty="0"/>
              <a:t>Relational-DB</a:t>
            </a:r>
          </a:p>
          <a:p>
            <a:endParaRPr lang="en-US" sz="2000" dirty="0" smtClean="0"/>
          </a:p>
        </p:txBody>
      </p:sp>
      <p:sp>
        <p:nvSpPr>
          <p:cNvPr id="26" name="Abgerundetes Rechteck 25"/>
          <p:cNvSpPr/>
          <p:nvPr/>
        </p:nvSpPr>
        <p:spPr>
          <a:xfrm>
            <a:off x="195349" y="2457271"/>
            <a:ext cx="8716791" cy="1691809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feld 26"/>
          <p:cNvSpPr txBox="1"/>
          <p:nvPr/>
        </p:nvSpPr>
        <p:spPr>
          <a:xfrm>
            <a:off x="6948264" y="3702488"/>
            <a:ext cx="1885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00B050"/>
                </a:solidFill>
              </a:rPr>
              <a:t>Data Storage Access</a:t>
            </a:r>
            <a:endParaRPr lang="en-US" sz="1600" b="1" dirty="0">
              <a:solidFill>
                <a:srgbClr val="00B050"/>
              </a:solidFill>
            </a:endParaRPr>
          </a:p>
        </p:txBody>
      </p:sp>
      <p:sp>
        <p:nvSpPr>
          <p:cNvPr id="28" name="Abgerundetes Rechteck 27"/>
          <p:cNvSpPr/>
          <p:nvPr/>
        </p:nvSpPr>
        <p:spPr>
          <a:xfrm>
            <a:off x="175689" y="4329479"/>
            <a:ext cx="8716791" cy="1691809"/>
          </a:xfrm>
          <a:prstGeom prst="roundRect">
            <a:avLst/>
          </a:prstGeom>
          <a:noFill/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feld 28"/>
          <p:cNvSpPr txBox="1"/>
          <p:nvPr/>
        </p:nvSpPr>
        <p:spPr>
          <a:xfrm>
            <a:off x="7569360" y="5574696"/>
            <a:ext cx="1251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accent2"/>
                </a:solidFill>
              </a:rPr>
              <a:t>Data Storage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30" name="Inhaltsplatzhalter 2"/>
          <p:cNvSpPr txBox="1">
            <a:spLocks/>
          </p:cNvSpPr>
          <p:nvPr/>
        </p:nvSpPr>
        <p:spPr>
          <a:xfrm>
            <a:off x="467544" y="4395645"/>
            <a:ext cx="3816424" cy="1457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Outlook</a:t>
            </a:r>
            <a:endParaRPr lang="en-US" sz="1600" dirty="0" smtClean="0"/>
          </a:p>
        </p:txBody>
      </p:sp>
      <p:sp>
        <p:nvSpPr>
          <p:cNvPr id="31" name="Rechteck 30"/>
          <p:cNvSpPr/>
          <p:nvPr/>
        </p:nvSpPr>
        <p:spPr>
          <a:xfrm>
            <a:off x="107505" y="4293096"/>
            <a:ext cx="8928992" cy="2187724"/>
          </a:xfrm>
          <a:prstGeom prst="rect">
            <a:avLst/>
          </a:prstGeom>
          <a:solidFill>
            <a:schemeClr val="bg1">
              <a:alpha val="53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92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246</a:t>
            </a:fld>
            <a:endParaRPr lang="de-DE"/>
          </a:p>
        </p:txBody>
      </p:sp>
      <p:pic>
        <p:nvPicPr>
          <p:cNvPr id="14" name="Picture 2" descr="C:\Dokumente und Einstellungen\Thomas\Desktop\software architecture (abstract and concrete)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972" y="-206"/>
            <a:ext cx="4829898" cy="6824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971" y="1050"/>
            <a:ext cx="4829899" cy="619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371" y="908721"/>
            <a:ext cx="365959" cy="5915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Abgerundetes Rechteck 16"/>
          <p:cNvSpPr/>
          <p:nvPr/>
        </p:nvSpPr>
        <p:spPr>
          <a:xfrm>
            <a:off x="1475656" y="4087572"/>
            <a:ext cx="5976664" cy="2736792"/>
          </a:xfrm>
          <a:prstGeom prst="round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  <p:sp>
        <p:nvSpPr>
          <p:cNvPr id="18" name="Rechteck 17"/>
          <p:cNvSpPr/>
          <p:nvPr/>
        </p:nvSpPr>
        <p:spPr>
          <a:xfrm>
            <a:off x="2021087" y="620688"/>
            <a:ext cx="4829898" cy="3435189"/>
          </a:xfrm>
          <a:prstGeom prst="rect">
            <a:avLst/>
          </a:prstGeom>
          <a:solidFill>
            <a:schemeClr val="bg1">
              <a:alpha val="53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  <p:sp>
        <p:nvSpPr>
          <p:cNvPr id="20" name="Titel 1"/>
          <p:cNvSpPr txBox="1">
            <a:spLocks/>
          </p:cNvSpPr>
          <p:nvPr/>
        </p:nvSpPr>
        <p:spPr>
          <a:xfrm>
            <a:off x="346120" y="1988840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pitchFamily="34" charset="0"/>
                <a:ea typeface="+mj-ea"/>
                <a:cs typeface="+mj-cs"/>
              </a:defRPr>
            </a:lvl1pPr>
          </a:lstStyle>
          <a:p>
            <a:r>
              <a:rPr lang="de-DE" sz="6000" b="1" dirty="0" smtClean="0">
                <a:solidFill>
                  <a:schemeClr val="tx2"/>
                </a:solidFill>
              </a:rPr>
              <a:t>Data Storage Access</a:t>
            </a:r>
            <a:endParaRPr lang="en-US" sz="6000" b="1" dirty="0">
              <a:solidFill>
                <a:schemeClr val="tx2"/>
              </a:solidFill>
            </a:endParaRPr>
          </a:p>
        </p:txBody>
      </p:sp>
      <p:pic>
        <p:nvPicPr>
          <p:cNvPr id="21" name="Picture 2" descr="C:\Users\zlochms\Dropbox\EDDI 2012\icons\GESIS_alternative2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-1488"/>
            <a:ext cx="9144000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7509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247</a:t>
            </a:fld>
            <a:endParaRPr lang="de-DE"/>
          </a:p>
        </p:txBody>
      </p:sp>
      <p:sp>
        <p:nvSpPr>
          <p:cNvPr id="5" name="Shape 464"/>
          <p:cNvSpPr/>
          <p:nvPr/>
        </p:nvSpPr>
        <p:spPr>
          <a:xfrm>
            <a:off x="304800" y="1412776"/>
            <a:ext cx="8567368" cy="4872875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966505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248</a:t>
            </a:fld>
            <a:endParaRPr lang="de-DE"/>
          </a:p>
        </p:txBody>
      </p:sp>
      <p:sp>
        <p:nvSpPr>
          <p:cNvPr id="5" name="Shape 464"/>
          <p:cNvSpPr/>
          <p:nvPr/>
        </p:nvSpPr>
        <p:spPr>
          <a:xfrm>
            <a:off x="304800" y="1412776"/>
            <a:ext cx="8567368" cy="4872875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6" name="Ellipse 5"/>
          <p:cNvSpPr/>
          <p:nvPr/>
        </p:nvSpPr>
        <p:spPr>
          <a:xfrm>
            <a:off x="2915816" y="1556792"/>
            <a:ext cx="3888432" cy="5040560"/>
          </a:xfrm>
          <a:prstGeom prst="ellipse">
            <a:avLst/>
          </a:prstGeom>
          <a:noFill/>
          <a:ln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985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Persistence Layer – Motivation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a well-defined software architecture the application itself does not need to know </a:t>
            </a:r>
            <a:r>
              <a:rPr lang="en-US" i="1" dirty="0" smtClean="0"/>
              <a:t>how</a:t>
            </a:r>
            <a:r>
              <a:rPr lang="en-US" dirty="0" smtClean="0"/>
              <a:t> the data is stored</a:t>
            </a:r>
          </a:p>
          <a:p>
            <a:r>
              <a:rPr lang="en-US" dirty="0" smtClean="0"/>
              <a:t>It just needs to know the API</a:t>
            </a:r>
          </a:p>
          <a:p>
            <a:pPr lvl="1"/>
            <a:r>
              <a:rPr lang="en-US" dirty="0" smtClean="0"/>
              <a:t>Methods that are provided to access and store objects</a:t>
            </a:r>
          </a:p>
          <a:p>
            <a:pPr lvl="1"/>
            <a:r>
              <a:rPr lang="en-US" dirty="0" smtClean="0"/>
              <a:t>May be abstracted away from the actual implementation</a:t>
            </a:r>
          </a:p>
          <a:p>
            <a:endParaRPr lang="en-US" dirty="0"/>
          </a:p>
          <a:p>
            <a:r>
              <a:rPr lang="en-US" dirty="0" smtClean="0"/>
              <a:t>An actual implementation</a:t>
            </a:r>
            <a:r>
              <a:rPr lang="en-US" dirty="0"/>
              <a:t> </a:t>
            </a:r>
            <a:r>
              <a:rPr lang="en-US" dirty="0" smtClean="0"/>
              <a:t>or strategy can just be a matter of configuration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249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1860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Persistence Layer – Strategy Pattern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Implementation of the Strategy Pattern</a:t>
            </a:r>
            <a:endParaRPr lang="de-DE" dirty="0" smtClean="0"/>
          </a:p>
          <a:p>
            <a:pPr lvl="1"/>
            <a:r>
              <a:rPr lang="de-DE" dirty="0" smtClean="0"/>
              <a:t>simple </a:t>
            </a:r>
            <a:r>
              <a:rPr lang="en-US" dirty="0" smtClean="0"/>
              <a:t>interface</a:t>
            </a:r>
          </a:p>
          <a:p>
            <a:pPr lvl="1"/>
            <a:r>
              <a:rPr lang="en-US" dirty="0" smtClean="0"/>
              <a:t>actual</a:t>
            </a:r>
            <a:r>
              <a:rPr lang="de-DE" dirty="0" smtClean="0"/>
              <a:t> implementations </a:t>
            </a:r>
            <a:r>
              <a:rPr lang="en-US" dirty="0" smtClean="0"/>
              <a:t>are the different strategies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A strategy is an implementation of the actual type of persistence or physical storage, respectively</a:t>
            </a:r>
          </a:p>
          <a:p>
            <a:pPr lvl="1"/>
            <a:r>
              <a:rPr lang="en-US" dirty="0" smtClean="0"/>
              <a:t>e.g. </a:t>
            </a:r>
            <a:r>
              <a:rPr lang="en-US" dirty="0"/>
              <a:t>DDI-L-XML, </a:t>
            </a:r>
            <a:r>
              <a:rPr lang="en-US" dirty="0" smtClean="0"/>
              <a:t>DDI-RDF, </a:t>
            </a:r>
            <a:r>
              <a:rPr lang="en-US" dirty="0"/>
              <a:t>XML-DB, </a:t>
            </a:r>
            <a:r>
              <a:rPr lang="en-US" dirty="0" smtClean="0"/>
              <a:t>Relational-DB, etc.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250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729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251</a:t>
            </a:fld>
            <a:endParaRPr lang="de-DE"/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3625857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hape 464"/>
          <p:cNvSpPr/>
          <p:nvPr/>
        </p:nvSpPr>
        <p:spPr>
          <a:xfrm>
            <a:off x="304800" y="1412776"/>
            <a:ext cx="8567368" cy="4872875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7" name="Ellipse 6"/>
          <p:cNvSpPr/>
          <p:nvPr/>
        </p:nvSpPr>
        <p:spPr>
          <a:xfrm>
            <a:off x="2915816" y="1556792"/>
            <a:ext cx="3888432" cy="5040560"/>
          </a:xfrm>
          <a:prstGeom prst="ellipse">
            <a:avLst/>
          </a:prstGeom>
          <a:noFill/>
          <a:ln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43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US" dirty="0" smtClean="0"/>
              <a:t>odules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410445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disco-persistence-</a:t>
            </a:r>
            <a:r>
              <a:rPr lang="en-US" dirty="0" err="1" smtClean="0"/>
              <a:t>api</a:t>
            </a:r>
            <a:endParaRPr lang="en-US" dirty="0" smtClean="0"/>
          </a:p>
          <a:p>
            <a:pPr lvl="1"/>
            <a:r>
              <a:rPr lang="en" b="1" dirty="0">
                <a:solidFill>
                  <a:srgbClr val="FF3399"/>
                </a:solidFill>
              </a:rPr>
              <a:t>Defines</a:t>
            </a:r>
            <a:r>
              <a:rPr lang="en" dirty="0">
                <a:solidFill>
                  <a:srgbClr val="FF3399"/>
                </a:solidFill>
              </a:rPr>
              <a:t> </a:t>
            </a:r>
            <a:r>
              <a:rPr lang="en" dirty="0" smtClean="0"/>
              <a:t>persistence </a:t>
            </a:r>
            <a:r>
              <a:rPr lang="en" dirty="0"/>
              <a:t>functionality for model components regardless of the actual type of physical </a:t>
            </a:r>
            <a:r>
              <a:rPr lang="en" dirty="0" smtClean="0"/>
              <a:t>persistence</a:t>
            </a:r>
            <a:endParaRPr lang="en-US" dirty="0" smtClean="0"/>
          </a:p>
          <a:p>
            <a:r>
              <a:rPr lang="en-US" dirty="0" smtClean="0"/>
              <a:t>disco-persistence-relational</a:t>
            </a:r>
          </a:p>
          <a:p>
            <a:pPr lvl="1"/>
            <a:r>
              <a:rPr lang="en" b="1" dirty="0" smtClean="0">
                <a:solidFill>
                  <a:srgbClr val="FF3399"/>
                </a:solidFill>
              </a:rPr>
              <a:t>Implements</a:t>
            </a:r>
            <a:r>
              <a:rPr lang="en" dirty="0" smtClean="0">
                <a:solidFill>
                  <a:srgbClr val="FF3399"/>
                </a:solidFill>
              </a:rPr>
              <a:t> </a:t>
            </a:r>
            <a:r>
              <a:rPr lang="en" dirty="0"/>
              <a:t>the persistence functionality defined in </a:t>
            </a:r>
            <a:r>
              <a:rPr lang="en" dirty="0" smtClean="0"/>
              <a:t>disco-persistence-api </a:t>
            </a:r>
            <a:r>
              <a:rPr lang="en" dirty="0"/>
              <a:t>with respect to the usage of relational DBs</a:t>
            </a:r>
            <a:endParaRPr lang="en-US" dirty="0" smtClean="0"/>
          </a:p>
          <a:p>
            <a:r>
              <a:rPr lang="en-US" dirty="0" smtClean="0"/>
              <a:t>disco-persistence-xml</a:t>
            </a:r>
          </a:p>
          <a:p>
            <a:pPr lvl="1"/>
            <a:r>
              <a:rPr lang="en" b="1" dirty="0" smtClean="0">
                <a:solidFill>
                  <a:srgbClr val="FF3399"/>
                </a:solidFill>
              </a:rPr>
              <a:t>Implements</a:t>
            </a:r>
            <a:r>
              <a:rPr lang="en" dirty="0" smtClean="0">
                <a:solidFill>
                  <a:srgbClr val="FF3399"/>
                </a:solidFill>
              </a:rPr>
              <a:t> </a:t>
            </a:r>
            <a:r>
              <a:rPr lang="en" dirty="0"/>
              <a:t>the persistence functionality defined in </a:t>
            </a:r>
            <a:r>
              <a:rPr lang="en" dirty="0" smtClean="0"/>
              <a:t>disco-persistence-api </a:t>
            </a:r>
            <a:r>
              <a:rPr lang="en" dirty="0"/>
              <a:t>with respect to the usage of </a:t>
            </a:r>
            <a:r>
              <a:rPr lang="en" dirty="0" smtClean="0"/>
              <a:t>DDI-XML</a:t>
            </a:r>
            <a:endParaRPr lang="en-US" dirty="0" smtClean="0"/>
          </a:p>
          <a:p>
            <a:r>
              <a:rPr lang="en-US" dirty="0" smtClean="0"/>
              <a:t>disco-persistence-</a:t>
            </a:r>
            <a:r>
              <a:rPr lang="en-US" dirty="0" err="1" smtClean="0"/>
              <a:t>rdf</a:t>
            </a:r>
            <a:endParaRPr lang="en-US" dirty="0" smtClean="0"/>
          </a:p>
          <a:p>
            <a:pPr lvl="1"/>
            <a:r>
              <a:rPr lang="en" b="1" dirty="0">
                <a:solidFill>
                  <a:srgbClr val="FF3399"/>
                </a:solidFill>
              </a:rPr>
              <a:t>I</a:t>
            </a:r>
            <a:r>
              <a:rPr lang="en" b="1" dirty="0" smtClean="0">
                <a:solidFill>
                  <a:srgbClr val="FF3399"/>
                </a:solidFill>
              </a:rPr>
              <a:t>mplements</a:t>
            </a:r>
            <a:r>
              <a:rPr lang="en" dirty="0" smtClean="0">
                <a:solidFill>
                  <a:srgbClr val="FF3399"/>
                </a:solidFill>
              </a:rPr>
              <a:t> </a:t>
            </a:r>
            <a:r>
              <a:rPr lang="en" dirty="0"/>
              <a:t>the persistence functionality defined in </a:t>
            </a:r>
            <a:r>
              <a:rPr lang="en" dirty="0" smtClean="0"/>
              <a:t>disco-persistence-api </a:t>
            </a:r>
            <a:r>
              <a:rPr lang="en" dirty="0"/>
              <a:t>with respect to the usage of </a:t>
            </a:r>
            <a:r>
              <a:rPr lang="en" dirty="0" smtClean="0"/>
              <a:t>the disco-specification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252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7386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Access Object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dirty="0"/>
              <a:t>A DAO is an object that is responsible for providing methods for reading and storing of objects in our model</a:t>
            </a:r>
          </a:p>
          <a:p>
            <a:r>
              <a:rPr lang="en" dirty="0"/>
              <a:t>A DAO is again implemented against an interface</a:t>
            </a:r>
          </a:p>
          <a:p>
            <a:endParaRPr lang="en" dirty="0"/>
          </a:p>
          <a:p>
            <a:r>
              <a:rPr lang="en-US" dirty="0"/>
              <a:t>F</a:t>
            </a:r>
            <a:r>
              <a:rPr lang="en" dirty="0"/>
              <a:t>or each business object in the data model there exists a </a:t>
            </a:r>
            <a:r>
              <a:rPr lang="en" dirty="0" smtClean="0"/>
              <a:t>DAO</a:t>
            </a:r>
          </a:p>
          <a:p>
            <a:endParaRPr lang="en" dirty="0"/>
          </a:p>
          <a:p>
            <a:r>
              <a:rPr lang="en" dirty="0" smtClean="0"/>
              <a:t>Persistence </a:t>
            </a:r>
            <a:r>
              <a:rPr lang="en" dirty="0"/>
              <a:t>strategy interface defines </a:t>
            </a:r>
            <a:r>
              <a:rPr lang="en" dirty="0" smtClean="0"/>
              <a:t>methods for obtaining </a:t>
            </a:r>
            <a:r>
              <a:rPr lang="en" dirty="0"/>
              <a:t>specific DAOs (data access objects</a:t>
            </a:r>
            <a:r>
              <a:rPr lang="en" dirty="0" smtClean="0"/>
              <a:t>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253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5533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764704"/>
            <a:ext cx="8229600" cy="1143000"/>
          </a:xfrm>
        </p:spPr>
        <p:txBody>
          <a:bodyPr/>
          <a:lstStyle/>
          <a:p>
            <a:r>
              <a:rPr lang="en-US" dirty="0" smtClean="0"/>
              <a:t>DAO Pattern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254</a:t>
            </a:fld>
            <a:endParaRPr lang="de-DE"/>
          </a:p>
        </p:txBody>
      </p:sp>
      <p:pic>
        <p:nvPicPr>
          <p:cNvPr id="1026" name="Picture 2" descr="C:\Users\zlochms\Dropbox\EDDI 2012\Unbenannt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09"/>
          <a:stretch/>
        </p:blipFill>
        <p:spPr bwMode="auto">
          <a:xfrm>
            <a:off x="342269" y="1725284"/>
            <a:ext cx="8478203" cy="480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0027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disco-persistence-</a:t>
            </a:r>
            <a:r>
              <a:rPr lang="en-US" dirty="0" err="1" smtClean="0"/>
              <a:t>api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Provides an API and implementations for the disco-model</a:t>
            </a:r>
          </a:p>
          <a:p>
            <a:endParaRPr lang="en-US" dirty="0"/>
          </a:p>
          <a:p>
            <a:r>
              <a:rPr lang="en-US" dirty="0" err="1" smtClean="0"/>
              <a:t>PersistenceService</a:t>
            </a:r>
            <a:endParaRPr lang="en-US" dirty="0" smtClean="0"/>
          </a:p>
          <a:p>
            <a:pPr lvl="1"/>
            <a:r>
              <a:rPr lang="en-US" dirty="0" smtClean="0"/>
              <a:t>Available </a:t>
            </a:r>
            <a:r>
              <a:rPr lang="en-US" dirty="0"/>
              <a:t>in the disco-persistence-</a:t>
            </a:r>
            <a:r>
              <a:rPr lang="en-US" dirty="0" err="1"/>
              <a:t>api</a:t>
            </a:r>
            <a:endParaRPr lang="en-US" dirty="0"/>
          </a:p>
          <a:p>
            <a:pPr lvl="1"/>
            <a:r>
              <a:rPr lang="en-US" dirty="0"/>
              <a:t>Encapsulates the actual strategy</a:t>
            </a:r>
          </a:p>
          <a:p>
            <a:endParaRPr lang="en-US" dirty="0"/>
          </a:p>
          <a:p>
            <a:pPr lvl="1"/>
            <a:r>
              <a:rPr lang="en-US" dirty="0"/>
              <a:t>Strategy can be instantiated and injected into the </a:t>
            </a:r>
            <a:r>
              <a:rPr lang="en-US" dirty="0" err="1"/>
              <a:t>PersistenceService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255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1753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Extendable disco-persistence-</a:t>
            </a:r>
            <a:r>
              <a:rPr lang="en-US" dirty="0" err="1" smtClean="0"/>
              <a:t>api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But, projects have own requirements to the data model</a:t>
            </a:r>
          </a:p>
          <a:p>
            <a:pPr lvl="1"/>
            <a:r>
              <a:rPr lang="en-US" dirty="0"/>
              <a:t>=&gt; new business objects are included</a:t>
            </a:r>
          </a:p>
          <a:p>
            <a:pPr lvl="1"/>
            <a:r>
              <a:rPr lang="en-US" dirty="0"/>
              <a:t>=&gt; DAOs need to be written for reading and storing these objects</a:t>
            </a:r>
          </a:p>
          <a:p>
            <a:pPr lvl="1"/>
            <a:r>
              <a:rPr lang="en-US" dirty="0"/>
              <a:t>=&gt; these DAOs also have to implement the appropriate type of persistence used by that project</a:t>
            </a:r>
          </a:p>
          <a:p>
            <a:endParaRPr lang="en-US" dirty="0" smtClean="0"/>
          </a:p>
          <a:p>
            <a:r>
              <a:rPr lang="en-US" dirty="0" smtClean="0"/>
              <a:t>=&gt; this </a:t>
            </a:r>
            <a:r>
              <a:rPr lang="en-US" dirty="0"/>
              <a:t>API has to be extendable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256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2836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Extendable disco-persistence-</a:t>
            </a:r>
            <a:r>
              <a:rPr lang="en-US" dirty="0" err="1" smtClean="0"/>
              <a:t>api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4104456"/>
          </a:xfrm>
        </p:spPr>
        <p:txBody>
          <a:bodyPr>
            <a:normAutofit/>
          </a:bodyPr>
          <a:lstStyle/>
          <a:p>
            <a:r>
              <a:rPr lang="en-US" dirty="0" smtClean="0"/>
              <a:t>But, projects have own requirements to the data model</a:t>
            </a:r>
          </a:p>
          <a:p>
            <a:pPr lvl="1"/>
            <a:r>
              <a:rPr lang="en-US" dirty="0" smtClean="0"/>
              <a:t>=&gt; new </a:t>
            </a:r>
            <a:r>
              <a:rPr lang="en-US" dirty="0"/>
              <a:t>business objects are </a:t>
            </a:r>
            <a:r>
              <a:rPr lang="en-US" dirty="0" smtClean="0"/>
              <a:t>included</a:t>
            </a:r>
            <a:endParaRPr lang="en-US" dirty="0"/>
          </a:p>
          <a:p>
            <a:pPr lvl="1"/>
            <a:r>
              <a:rPr lang="en-US" dirty="0"/>
              <a:t>=&gt; </a:t>
            </a:r>
            <a:r>
              <a:rPr lang="en-US" dirty="0" smtClean="0"/>
              <a:t>DAOs need to be written for </a:t>
            </a:r>
            <a:r>
              <a:rPr lang="en-US" dirty="0"/>
              <a:t>reading and </a:t>
            </a:r>
            <a:r>
              <a:rPr lang="en-US" dirty="0" smtClean="0"/>
              <a:t>storing these objects</a:t>
            </a:r>
          </a:p>
          <a:p>
            <a:pPr lvl="1"/>
            <a:r>
              <a:rPr lang="en-US" dirty="0" smtClean="0"/>
              <a:t>=&gt; these DAOs also have to implement the appropriate type of persistence used by that project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=&gt; this </a:t>
            </a:r>
            <a:r>
              <a:rPr lang="en-US" dirty="0"/>
              <a:t>API has to be </a:t>
            </a:r>
            <a:r>
              <a:rPr lang="en-US" dirty="0" smtClean="0"/>
              <a:t>extendable</a:t>
            </a:r>
          </a:p>
          <a:p>
            <a:endParaRPr lang="en-US" dirty="0"/>
          </a:p>
          <a:p>
            <a:r>
              <a:rPr lang="en-US" dirty="0"/>
              <a:t>Luckily it is, because of the interface structure</a:t>
            </a:r>
            <a:r>
              <a:rPr lang="en-US" dirty="0" smtClean="0"/>
              <a:t>!</a:t>
            </a:r>
          </a:p>
          <a:p>
            <a:r>
              <a:rPr lang="en-US" dirty="0" smtClean="0"/>
              <a:t>Projects only need to implement the defined methods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257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5873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46"/>
          <p:cNvSpPr/>
          <p:nvPr/>
        </p:nvSpPr>
        <p:spPr>
          <a:xfrm>
            <a:off x="304800" y="1899504"/>
            <a:ext cx="8548082" cy="434889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258</a:t>
            </a:fld>
            <a:endParaRPr lang="de-DE"/>
          </a:p>
        </p:txBody>
      </p:sp>
      <p:sp>
        <p:nvSpPr>
          <p:cNvPr id="6" name="Ellipse 5"/>
          <p:cNvSpPr/>
          <p:nvPr/>
        </p:nvSpPr>
        <p:spPr>
          <a:xfrm>
            <a:off x="850576" y="4797152"/>
            <a:ext cx="7128792" cy="1728192"/>
          </a:xfrm>
          <a:prstGeom prst="ellipse">
            <a:avLst/>
          </a:prstGeom>
          <a:noFill/>
          <a:ln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150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259</a:t>
            </a:fld>
            <a:endParaRPr lang="de-DE"/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3625857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hape 464"/>
          <p:cNvSpPr/>
          <p:nvPr/>
        </p:nvSpPr>
        <p:spPr>
          <a:xfrm>
            <a:off x="304800" y="1412776"/>
            <a:ext cx="8567368" cy="4872875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560196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Missy Specific Modules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4248472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missy-persistence-</a:t>
            </a:r>
            <a:r>
              <a:rPr lang="en-US" dirty="0" err="1" smtClean="0"/>
              <a:t>api</a:t>
            </a:r>
            <a:endParaRPr lang="en-US" dirty="0" smtClean="0"/>
          </a:p>
          <a:p>
            <a:pPr lvl="1"/>
            <a:r>
              <a:rPr lang="en" b="1" dirty="0" smtClean="0">
                <a:solidFill>
                  <a:srgbClr val="FF3399"/>
                </a:solidFill>
              </a:rPr>
              <a:t>Defines additional </a:t>
            </a:r>
            <a:r>
              <a:rPr lang="en" dirty="0" smtClean="0"/>
              <a:t>persistence </a:t>
            </a:r>
            <a:r>
              <a:rPr lang="en" dirty="0"/>
              <a:t>functionality </a:t>
            </a:r>
            <a:r>
              <a:rPr lang="en" dirty="0" smtClean="0"/>
              <a:t>for model components regardless of the actual type of physical persistence</a:t>
            </a:r>
            <a:endParaRPr lang="en-US" dirty="0" smtClean="0"/>
          </a:p>
          <a:p>
            <a:r>
              <a:rPr lang="en-US" dirty="0" smtClean="0"/>
              <a:t>missy-persistence-relational</a:t>
            </a:r>
          </a:p>
          <a:p>
            <a:pPr lvl="1"/>
            <a:r>
              <a:rPr lang="en-US" b="1" dirty="0" smtClean="0">
                <a:solidFill>
                  <a:srgbClr val="FF3399"/>
                </a:solidFill>
              </a:rPr>
              <a:t>Implements additional </a:t>
            </a:r>
            <a:r>
              <a:rPr lang="en-US" dirty="0" smtClean="0"/>
              <a:t>persistence functionality for model components with respect to the usage of relational DBs</a:t>
            </a:r>
          </a:p>
          <a:p>
            <a:r>
              <a:rPr lang="en-US" dirty="0" smtClean="0"/>
              <a:t>missy-persistence-xml</a:t>
            </a:r>
          </a:p>
          <a:p>
            <a:pPr lvl="1"/>
            <a:r>
              <a:rPr lang="en-US" b="1" dirty="0">
                <a:solidFill>
                  <a:srgbClr val="FF3399"/>
                </a:solidFill>
              </a:rPr>
              <a:t>Implements additional </a:t>
            </a:r>
            <a:r>
              <a:rPr lang="en-US" dirty="0"/>
              <a:t>persistence functionality for model components with respect to the usage of </a:t>
            </a:r>
            <a:r>
              <a:rPr lang="en-US" dirty="0" smtClean="0"/>
              <a:t>DDI-XML</a:t>
            </a:r>
          </a:p>
          <a:p>
            <a:r>
              <a:rPr lang="en-US" dirty="0" smtClean="0"/>
              <a:t>missy-persistence-</a:t>
            </a:r>
            <a:r>
              <a:rPr lang="en-US" dirty="0" err="1" smtClean="0"/>
              <a:t>rdf</a:t>
            </a:r>
            <a:endParaRPr lang="en-US" dirty="0" smtClean="0"/>
          </a:p>
          <a:p>
            <a:pPr lvl="1"/>
            <a:r>
              <a:rPr lang="en-US" b="1" dirty="0">
                <a:solidFill>
                  <a:srgbClr val="FF3399"/>
                </a:solidFill>
              </a:rPr>
              <a:t>Implements additional </a:t>
            </a:r>
            <a:r>
              <a:rPr lang="en-US" dirty="0"/>
              <a:t>persistence functionality for model components with respect to the usage </a:t>
            </a:r>
            <a:r>
              <a:rPr lang="en-US" dirty="0" smtClean="0"/>
              <a:t>of the disco-specification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260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2522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 have seen so far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Implementation of a persistence API for the disco model</a:t>
            </a:r>
          </a:p>
          <a:p>
            <a:r>
              <a:rPr lang="en-US" dirty="0" smtClean="0"/>
              <a:t>How the persistence API can be extended in individual projects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261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677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the presentation is continued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does, on the persistence level, the serialization of data stored in DDI really look like?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262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9107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263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467544" y="2564146"/>
            <a:ext cx="3816424" cy="1476896"/>
          </a:xfrm>
        </p:spPr>
        <p:txBody>
          <a:bodyPr>
            <a:normAutofit/>
          </a:bodyPr>
          <a:lstStyle/>
          <a:p>
            <a:r>
              <a:rPr lang="en-US" sz="2000" dirty="0" smtClean="0"/>
              <a:t>Persistence Layer</a:t>
            </a:r>
          </a:p>
          <a:p>
            <a:pPr lvl="1"/>
            <a:r>
              <a:rPr lang="en-US" sz="1600" dirty="0" smtClean="0"/>
              <a:t>Programming Interface</a:t>
            </a:r>
          </a:p>
          <a:p>
            <a:pPr lvl="1"/>
            <a:r>
              <a:rPr lang="en-US" sz="1600" dirty="0" smtClean="0"/>
              <a:t>Types of physical data storages</a:t>
            </a:r>
          </a:p>
          <a:p>
            <a:pPr lvl="1"/>
            <a:r>
              <a:rPr lang="en-US" sz="1600" dirty="0" smtClean="0"/>
              <a:t>Examples</a:t>
            </a:r>
          </a:p>
        </p:txBody>
      </p:sp>
      <p:sp>
        <p:nvSpPr>
          <p:cNvPr id="7" name="Inhaltsplatzhalter 2"/>
          <p:cNvSpPr txBox="1">
            <a:spLocks/>
          </p:cNvSpPr>
          <p:nvPr/>
        </p:nvSpPr>
        <p:spPr>
          <a:xfrm>
            <a:off x="4572000" y="2563196"/>
            <a:ext cx="4283968" cy="3458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Physical Data Product</a:t>
            </a:r>
          </a:p>
          <a:p>
            <a:r>
              <a:rPr lang="en-US" sz="2000" dirty="0" smtClean="0"/>
              <a:t>Physical Instance</a:t>
            </a:r>
          </a:p>
          <a:p>
            <a:r>
              <a:rPr lang="en-US" sz="2000" dirty="0" smtClean="0"/>
              <a:t>Archive</a:t>
            </a:r>
          </a:p>
          <a:p>
            <a:r>
              <a:rPr lang="en-US" sz="2000" dirty="0"/>
              <a:t>DDIProfile</a:t>
            </a: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b="1" dirty="0" smtClean="0">
                <a:solidFill>
                  <a:srgbClr val="FF3399"/>
                </a:solidFill>
              </a:rPr>
              <a:t>DDI Serialization Examples</a:t>
            </a:r>
          </a:p>
          <a:p>
            <a:pPr lvl="1"/>
            <a:r>
              <a:rPr lang="en-US" sz="1600" b="1" dirty="0" smtClean="0">
                <a:solidFill>
                  <a:srgbClr val="FF3399"/>
                </a:solidFill>
              </a:rPr>
              <a:t>DDI-XML</a:t>
            </a:r>
          </a:p>
          <a:p>
            <a:pPr lvl="1"/>
            <a:r>
              <a:rPr lang="en-US" sz="1600" b="1" dirty="0" smtClean="0">
                <a:solidFill>
                  <a:srgbClr val="FF3399"/>
                </a:solidFill>
              </a:rPr>
              <a:t>DDI-RDF / disco-spec</a:t>
            </a:r>
          </a:p>
          <a:p>
            <a:pPr lvl="1"/>
            <a:r>
              <a:rPr lang="en-US" sz="1600" dirty="0" smtClean="0"/>
              <a:t>Relational-DB</a:t>
            </a:r>
          </a:p>
        </p:txBody>
      </p:sp>
      <p:sp>
        <p:nvSpPr>
          <p:cNvPr id="8" name="Abgerundetes Rechteck 7"/>
          <p:cNvSpPr/>
          <p:nvPr/>
        </p:nvSpPr>
        <p:spPr>
          <a:xfrm>
            <a:off x="195349" y="2457271"/>
            <a:ext cx="8716791" cy="1691809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feld 8"/>
          <p:cNvSpPr txBox="1"/>
          <p:nvPr/>
        </p:nvSpPr>
        <p:spPr>
          <a:xfrm>
            <a:off x="6948264" y="3702488"/>
            <a:ext cx="1885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00B050"/>
                </a:solidFill>
              </a:rPr>
              <a:t>Data Storage Access</a:t>
            </a:r>
            <a:endParaRPr lang="en-US" sz="1600" b="1" dirty="0">
              <a:solidFill>
                <a:srgbClr val="00B050"/>
              </a:solidFill>
            </a:endParaRPr>
          </a:p>
        </p:txBody>
      </p:sp>
      <p:sp>
        <p:nvSpPr>
          <p:cNvPr id="10" name="Abgerundetes Rechteck 9"/>
          <p:cNvSpPr/>
          <p:nvPr/>
        </p:nvSpPr>
        <p:spPr>
          <a:xfrm>
            <a:off x="175689" y="4329479"/>
            <a:ext cx="8716791" cy="1691809"/>
          </a:xfrm>
          <a:prstGeom prst="roundRect">
            <a:avLst/>
          </a:prstGeom>
          <a:noFill/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feld 10"/>
          <p:cNvSpPr txBox="1"/>
          <p:nvPr/>
        </p:nvSpPr>
        <p:spPr>
          <a:xfrm>
            <a:off x="7569360" y="5574696"/>
            <a:ext cx="12749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accent2"/>
                </a:solidFill>
              </a:rPr>
              <a:t>Data Storage</a:t>
            </a:r>
            <a:endParaRPr lang="en-US" sz="1600" b="1" dirty="0">
              <a:solidFill>
                <a:schemeClr val="accent2"/>
              </a:solidFill>
            </a:endParaRPr>
          </a:p>
        </p:txBody>
      </p:sp>
      <p:sp>
        <p:nvSpPr>
          <p:cNvPr id="12" name="Inhaltsplatzhalter 2"/>
          <p:cNvSpPr txBox="1">
            <a:spLocks/>
          </p:cNvSpPr>
          <p:nvPr/>
        </p:nvSpPr>
        <p:spPr>
          <a:xfrm>
            <a:off x="467544" y="4395645"/>
            <a:ext cx="3816424" cy="1457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Outlook</a:t>
            </a:r>
            <a:endParaRPr lang="en-US" sz="1600" dirty="0" smtClean="0"/>
          </a:p>
        </p:txBody>
      </p:sp>
      <p:sp>
        <p:nvSpPr>
          <p:cNvPr id="13" name="Rechteck 12"/>
          <p:cNvSpPr/>
          <p:nvPr/>
        </p:nvSpPr>
        <p:spPr>
          <a:xfrm>
            <a:off x="107505" y="2420888"/>
            <a:ext cx="8928992" cy="1808036"/>
          </a:xfrm>
          <a:prstGeom prst="rect">
            <a:avLst/>
          </a:prstGeom>
          <a:solidFill>
            <a:schemeClr val="bg1">
              <a:alpha val="53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47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Questionnaire - Question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264</a:t>
            </a:fld>
            <a:endParaRPr lang="de-DE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2683743"/>
            <a:ext cx="5867400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2626616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265</a:t>
            </a:fld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0" y="989856"/>
            <a:ext cx="9144000" cy="1143000"/>
          </a:xfrm>
        </p:spPr>
        <p:txBody>
          <a:bodyPr/>
          <a:lstStyle/>
          <a:p>
            <a:r>
              <a:rPr lang="de-DE" smtClean="0"/>
              <a:t>Questionnaire – Question (DDI 3.1 XML)</a:t>
            </a:r>
            <a:endParaRPr lang="en-US"/>
          </a:p>
        </p:txBody>
      </p:sp>
      <p:pic>
        <p:nvPicPr>
          <p:cNvPr id="2" name="Picture 2" descr="G:\Users\boschthomas\Documents\EDDI 2012\Instrument-Question_100dp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86905"/>
            <a:ext cx="9144000" cy="295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7222527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mtClean="0"/>
              <a:t>DataCollection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 </a:t>
            </a:r>
            <a:r>
              <a:rPr lang="en-US" smtClean="0"/>
              <a:t>  Instrument</a:t>
            </a:r>
            <a:endParaRPr lang="en-US"/>
          </a:p>
          <a:p>
            <a:pPr marL="0" indent="0">
              <a:buNone/>
            </a:pPr>
            <a:r>
              <a:rPr lang="en-US"/>
              <a:t>    </a:t>
            </a:r>
            <a:r>
              <a:rPr lang="en-US" smtClean="0"/>
              <a:t>      IntrumentName</a:t>
            </a:r>
            <a:endParaRPr lang="en-US"/>
          </a:p>
          <a:p>
            <a:pPr marL="0" indent="0">
              <a:buNone/>
            </a:pPr>
            <a:r>
              <a:rPr lang="en-US"/>
              <a:t>    </a:t>
            </a:r>
            <a:r>
              <a:rPr lang="en-US" smtClean="0"/>
              <a:t>      </a:t>
            </a:r>
            <a:r>
              <a:rPr lang="en-US" smtClean="0">
                <a:solidFill>
                  <a:srgbClr val="FF3399"/>
                </a:solidFill>
              </a:rPr>
              <a:t>ControlConstructReference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mtClean="0"/>
              <a:t>    ControlCostructScheme</a:t>
            </a:r>
            <a:endParaRPr lang="en-US"/>
          </a:p>
          <a:p>
            <a:pPr marL="0" indent="0">
              <a:buNone/>
            </a:pPr>
            <a:r>
              <a:rPr lang="en-US"/>
              <a:t>    </a:t>
            </a:r>
            <a:r>
              <a:rPr lang="en-US" smtClean="0"/>
              <a:t>      </a:t>
            </a:r>
            <a:r>
              <a:rPr lang="en-US" smtClean="0">
                <a:solidFill>
                  <a:srgbClr val="FF3399"/>
                </a:solidFill>
              </a:rPr>
              <a:t>QuestionConstruct</a:t>
            </a:r>
            <a:endParaRPr lang="en-US">
              <a:solidFill>
                <a:srgbClr val="FF3399"/>
              </a:solidFill>
            </a:endParaRPr>
          </a:p>
          <a:p>
            <a:pPr marL="0" indent="0">
              <a:buNone/>
            </a:pPr>
            <a:r>
              <a:rPr lang="en-US"/>
              <a:t>      </a:t>
            </a:r>
            <a:r>
              <a:rPr lang="en-US" smtClean="0"/>
              <a:t>          </a:t>
            </a:r>
            <a:r>
              <a:rPr lang="en-US" smtClean="0">
                <a:solidFill>
                  <a:srgbClr val="00B050"/>
                </a:solidFill>
              </a:rPr>
              <a:t>QuestionReference</a:t>
            </a:r>
          </a:p>
          <a:p>
            <a:pPr marL="0" indent="0">
              <a:buNone/>
            </a:pPr>
            <a:endParaRPr lang="en-US" smtClean="0"/>
          </a:p>
          <a:p>
            <a:pPr marL="0" indent="0">
              <a:buNone/>
            </a:pPr>
            <a:r>
              <a:rPr lang="en-US" smtClean="0"/>
              <a:t>    QuestionScheme</a:t>
            </a:r>
            <a:endParaRPr lang="en-US"/>
          </a:p>
          <a:p>
            <a:pPr marL="0" indent="0">
              <a:buNone/>
            </a:pPr>
            <a:r>
              <a:rPr lang="en-US"/>
              <a:t>        </a:t>
            </a:r>
            <a:r>
              <a:rPr lang="en-US" smtClean="0"/>
              <a:t>  </a:t>
            </a:r>
            <a:r>
              <a:rPr lang="en-US" smtClean="0">
                <a:solidFill>
                  <a:srgbClr val="00B050"/>
                </a:solidFill>
              </a:rPr>
              <a:t>QuestionItem</a:t>
            </a:r>
            <a:endParaRPr lang="en-US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/>
              <a:t>            </a:t>
            </a:r>
            <a:r>
              <a:rPr lang="en-US" smtClean="0"/>
              <a:t>    QuestionItemName</a:t>
            </a:r>
            <a:endParaRPr lang="en-US"/>
          </a:p>
          <a:p>
            <a:pPr marL="0" indent="0">
              <a:buNone/>
            </a:pPr>
            <a:r>
              <a:rPr lang="en-US"/>
              <a:t>            </a:t>
            </a:r>
            <a:r>
              <a:rPr lang="en-US" smtClean="0"/>
              <a:t>    QuestionText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266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931732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:\Users\boschthomas\Documents\EDDI 2012\Instrument-Question-RDF_100dp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95259"/>
            <a:ext cx="9136510" cy="4502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Questionnaire – Question (DDI-RDF)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267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9193505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Variable - SummaryStatistics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268</a:t>
            </a:fld>
            <a:endParaRPr lang="de-DE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5" y="2357438"/>
            <a:ext cx="7867650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5473965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269</a:t>
            </a:fld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0" y="44624"/>
            <a:ext cx="9144000" cy="1143000"/>
          </a:xfrm>
        </p:spPr>
        <p:txBody>
          <a:bodyPr/>
          <a:lstStyle/>
          <a:p>
            <a:r>
              <a:rPr lang="de-DE" smtClean="0"/>
              <a:t>Variable – SummaryStatistics (DDI 3.1 XML)</a:t>
            </a:r>
            <a:endParaRPr lang="en-US"/>
          </a:p>
        </p:txBody>
      </p:sp>
      <p:sp>
        <p:nvSpPr>
          <p:cNvPr id="9" name="Inhaltsplatzhalt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61662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/>
              <a:t>PhysicalInstance</a:t>
            </a:r>
          </a:p>
          <a:p>
            <a:pPr marL="0" indent="0">
              <a:buNone/>
            </a:pPr>
            <a:r>
              <a:rPr lang="en-US"/>
              <a:t>    Statistics</a:t>
            </a:r>
          </a:p>
          <a:p>
            <a:pPr marL="0" indent="0">
              <a:buNone/>
            </a:pPr>
            <a:r>
              <a:rPr lang="en-US"/>
              <a:t>        VariableStatistics</a:t>
            </a:r>
          </a:p>
          <a:p>
            <a:pPr marL="0" indent="0">
              <a:buNone/>
            </a:pPr>
            <a:r>
              <a:rPr lang="en-US"/>
              <a:t>            </a:t>
            </a:r>
            <a:r>
              <a:rPr lang="en-US">
                <a:solidFill>
                  <a:srgbClr val="FF3399"/>
                </a:solidFill>
              </a:rPr>
              <a:t>VariableReference</a:t>
            </a:r>
          </a:p>
          <a:p>
            <a:pPr marL="0" indent="0">
              <a:buNone/>
            </a:pPr>
            <a:r>
              <a:rPr lang="en-US"/>
              <a:t>            SummaryStatistic</a:t>
            </a:r>
          </a:p>
          <a:p>
            <a:pPr marL="0" indent="0">
              <a:buNone/>
            </a:pPr>
            <a:r>
              <a:rPr lang="en-US"/>
              <a:t>                SummaryStatisticType</a:t>
            </a:r>
          </a:p>
          <a:p>
            <a:pPr marL="0" indent="0">
              <a:buNone/>
            </a:pPr>
            <a:r>
              <a:rPr lang="en-US"/>
              <a:t>                    'Minimum'</a:t>
            </a:r>
          </a:p>
          <a:p>
            <a:pPr marL="0" indent="0">
              <a:buNone/>
            </a:pPr>
            <a:r>
              <a:rPr lang="en-US"/>
              <a:t>                Value</a:t>
            </a:r>
          </a:p>
          <a:p>
            <a:pPr marL="0" indent="0">
              <a:buNone/>
            </a:pPr>
            <a:r>
              <a:rPr lang="en-US"/>
              <a:t>                    10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solidFill>
                  <a:srgbClr val="FF3399"/>
                </a:solidFill>
              </a:rPr>
              <a:t>Variable</a:t>
            </a:r>
          </a:p>
          <a:p>
            <a:pPr marL="0" indent="0">
              <a:buNone/>
            </a:pPr>
            <a:r>
              <a:rPr lang="en-US"/>
              <a:t>    VariableName</a:t>
            </a:r>
          </a:p>
          <a:p>
            <a:pPr marL="0" indent="0">
              <a:buNone/>
            </a:pPr>
            <a:r>
              <a:rPr lang="en-US"/>
              <a:t>        'v1'</a:t>
            </a:r>
          </a:p>
          <a:p>
            <a:pPr marL="0" indent="0">
              <a:buNone/>
            </a:pPr>
            <a:r>
              <a:rPr lang="en-US"/>
              <a:t>    Label</a:t>
            </a:r>
          </a:p>
          <a:p>
            <a:pPr marL="0" indent="0">
              <a:buNone/>
            </a:pPr>
            <a:r>
              <a:rPr lang="en-US"/>
              <a:t>        'Age'</a:t>
            </a:r>
          </a:p>
        </p:txBody>
      </p:sp>
    </p:spTree>
    <p:extLst>
      <p:ext uri="{BB962C8B-B14F-4D97-AF65-F5344CB8AC3E}">
        <p14:creationId xmlns:p14="http://schemas.microsoft.com/office/powerpoint/2010/main" val="3479138549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270</a:t>
            </a:fld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0" y="989856"/>
            <a:ext cx="9144000" cy="1143000"/>
          </a:xfrm>
        </p:spPr>
        <p:txBody>
          <a:bodyPr/>
          <a:lstStyle/>
          <a:p>
            <a:r>
              <a:rPr lang="de-DE" smtClean="0"/>
              <a:t>Variable – SummaryStatistics (DDI-RDF)</a:t>
            </a:r>
            <a:endParaRPr lang="en-US"/>
          </a:p>
        </p:txBody>
      </p:sp>
      <p:pic>
        <p:nvPicPr>
          <p:cNvPr id="2" name="Picture 2" descr="G:\Users\boschthomas\Documents\EDDI 2012\Variable-SummaryStatistics-RDF_100dp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97" y="2450306"/>
            <a:ext cx="8248651" cy="328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2104773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271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467544" y="2564146"/>
            <a:ext cx="3816424" cy="1476896"/>
          </a:xfrm>
        </p:spPr>
        <p:txBody>
          <a:bodyPr>
            <a:normAutofit/>
          </a:bodyPr>
          <a:lstStyle/>
          <a:p>
            <a:r>
              <a:rPr lang="en-US" sz="2000" dirty="0" smtClean="0"/>
              <a:t>Persistence Layer</a:t>
            </a:r>
          </a:p>
          <a:p>
            <a:pPr lvl="1"/>
            <a:r>
              <a:rPr lang="en-US" sz="1600" dirty="0" smtClean="0"/>
              <a:t>Programming Interface</a:t>
            </a:r>
          </a:p>
          <a:p>
            <a:pPr lvl="1"/>
            <a:r>
              <a:rPr lang="en-US" sz="1600" dirty="0" smtClean="0"/>
              <a:t>Types of physical data storages</a:t>
            </a:r>
          </a:p>
          <a:p>
            <a:pPr lvl="1"/>
            <a:r>
              <a:rPr lang="en-US" sz="1600" dirty="0" smtClean="0"/>
              <a:t>Examples</a:t>
            </a:r>
          </a:p>
        </p:txBody>
      </p:sp>
      <p:sp>
        <p:nvSpPr>
          <p:cNvPr id="7" name="Inhaltsplatzhalter 2"/>
          <p:cNvSpPr txBox="1">
            <a:spLocks/>
          </p:cNvSpPr>
          <p:nvPr/>
        </p:nvSpPr>
        <p:spPr>
          <a:xfrm>
            <a:off x="4572000" y="2563196"/>
            <a:ext cx="4283968" cy="3458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Physical Data Product</a:t>
            </a:r>
          </a:p>
          <a:p>
            <a:r>
              <a:rPr lang="en-US" sz="2000" dirty="0" smtClean="0"/>
              <a:t>Physical Instance</a:t>
            </a:r>
          </a:p>
          <a:p>
            <a:r>
              <a:rPr lang="en-US" sz="2000" dirty="0" smtClean="0"/>
              <a:t>Archive</a:t>
            </a:r>
          </a:p>
          <a:p>
            <a:r>
              <a:rPr lang="en-US" sz="2000" dirty="0"/>
              <a:t>DDIProfile</a:t>
            </a: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b="1" dirty="0" smtClean="0">
                <a:solidFill>
                  <a:srgbClr val="FF3399"/>
                </a:solidFill>
              </a:rPr>
              <a:t>DDI Serialization Examples</a:t>
            </a:r>
          </a:p>
          <a:p>
            <a:pPr lvl="1"/>
            <a:r>
              <a:rPr lang="en-US" sz="1600" dirty="0" smtClean="0"/>
              <a:t>DDI-XML</a:t>
            </a:r>
          </a:p>
          <a:p>
            <a:pPr lvl="1"/>
            <a:r>
              <a:rPr lang="en-US" sz="1600" dirty="0" smtClean="0"/>
              <a:t>DDI-RDF / disco-spec</a:t>
            </a:r>
          </a:p>
          <a:p>
            <a:pPr lvl="1"/>
            <a:r>
              <a:rPr lang="en-US" sz="1600" b="1" dirty="0" smtClean="0">
                <a:solidFill>
                  <a:srgbClr val="FF3399"/>
                </a:solidFill>
              </a:rPr>
              <a:t>Relational-DB</a:t>
            </a:r>
          </a:p>
        </p:txBody>
      </p:sp>
      <p:sp>
        <p:nvSpPr>
          <p:cNvPr id="8" name="Abgerundetes Rechteck 7"/>
          <p:cNvSpPr/>
          <p:nvPr/>
        </p:nvSpPr>
        <p:spPr>
          <a:xfrm>
            <a:off x="195349" y="2457271"/>
            <a:ext cx="8716791" cy="1691809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feld 8"/>
          <p:cNvSpPr txBox="1"/>
          <p:nvPr/>
        </p:nvSpPr>
        <p:spPr>
          <a:xfrm>
            <a:off x="6948264" y="3702488"/>
            <a:ext cx="1885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00B050"/>
                </a:solidFill>
              </a:rPr>
              <a:t>Data Storage Access</a:t>
            </a:r>
            <a:endParaRPr lang="en-US" sz="1600" b="1" dirty="0">
              <a:solidFill>
                <a:srgbClr val="00B050"/>
              </a:solidFill>
            </a:endParaRPr>
          </a:p>
        </p:txBody>
      </p:sp>
      <p:sp>
        <p:nvSpPr>
          <p:cNvPr id="10" name="Abgerundetes Rechteck 9"/>
          <p:cNvSpPr/>
          <p:nvPr/>
        </p:nvSpPr>
        <p:spPr>
          <a:xfrm>
            <a:off x="175689" y="4329479"/>
            <a:ext cx="8716791" cy="1691809"/>
          </a:xfrm>
          <a:prstGeom prst="roundRect">
            <a:avLst/>
          </a:prstGeom>
          <a:noFill/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feld 10"/>
          <p:cNvSpPr txBox="1"/>
          <p:nvPr/>
        </p:nvSpPr>
        <p:spPr>
          <a:xfrm>
            <a:off x="7569360" y="5574696"/>
            <a:ext cx="12749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accent2"/>
                </a:solidFill>
              </a:rPr>
              <a:t>Data Storage</a:t>
            </a:r>
            <a:endParaRPr lang="en-US" sz="1600" b="1" dirty="0">
              <a:solidFill>
                <a:schemeClr val="accent2"/>
              </a:solidFill>
            </a:endParaRPr>
          </a:p>
        </p:txBody>
      </p:sp>
      <p:sp>
        <p:nvSpPr>
          <p:cNvPr id="12" name="Inhaltsplatzhalter 2"/>
          <p:cNvSpPr txBox="1">
            <a:spLocks/>
          </p:cNvSpPr>
          <p:nvPr/>
        </p:nvSpPr>
        <p:spPr>
          <a:xfrm>
            <a:off x="467544" y="4395645"/>
            <a:ext cx="3816424" cy="1457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Outlook</a:t>
            </a:r>
            <a:endParaRPr lang="en-US" sz="1600" dirty="0" smtClean="0"/>
          </a:p>
        </p:txBody>
      </p:sp>
      <p:sp>
        <p:nvSpPr>
          <p:cNvPr id="13" name="Rechteck 12"/>
          <p:cNvSpPr/>
          <p:nvPr/>
        </p:nvSpPr>
        <p:spPr>
          <a:xfrm>
            <a:off x="107505" y="2420888"/>
            <a:ext cx="8928992" cy="1808036"/>
          </a:xfrm>
          <a:prstGeom prst="rect">
            <a:avLst/>
          </a:prstGeom>
          <a:solidFill>
            <a:schemeClr val="bg1">
              <a:alpha val="53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172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Relational-DB Example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272</a:t>
            </a:fld>
            <a:endParaRPr lang="de-DE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526" y="1988775"/>
            <a:ext cx="4697730" cy="4680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9120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Relational-DB Example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273</a:t>
            </a:fld>
            <a:endParaRPr lang="de-DE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526" y="1988775"/>
            <a:ext cx="4697730" cy="4680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lipse 6"/>
          <p:cNvSpPr/>
          <p:nvPr/>
        </p:nvSpPr>
        <p:spPr>
          <a:xfrm>
            <a:off x="1907704" y="1700808"/>
            <a:ext cx="5688632" cy="3168352"/>
          </a:xfrm>
          <a:prstGeom prst="ellipse">
            <a:avLst/>
          </a:prstGeom>
          <a:noFill/>
          <a:ln>
            <a:solidFill>
              <a:srgbClr val="FF339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273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Relational-DB Example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274</a:t>
            </a:fld>
            <a:endParaRPr lang="de-DE"/>
          </a:p>
        </p:txBody>
      </p:sp>
      <p:pic>
        <p:nvPicPr>
          <p:cNvPr id="1026" name="Picture 2" descr="\\VBOXSVR\tmp\persistence_exampl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321396"/>
            <a:ext cx="7696200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056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Inheritance of Properties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275</a:t>
            </a:fld>
            <a:endParaRPr lang="de-DE"/>
          </a:p>
        </p:txBody>
      </p:sp>
      <p:pic>
        <p:nvPicPr>
          <p:cNvPr id="1026" name="Picture 2" descr="\\VBOXSVR\tmp\persistence_exampl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321396"/>
            <a:ext cx="7696200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bgerundetes Rechteck 4"/>
          <p:cNvSpPr/>
          <p:nvPr/>
        </p:nvSpPr>
        <p:spPr>
          <a:xfrm>
            <a:off x="471656" y="2589649"/>
            <a:ext cx="2487549" cy="767343"/>
          </a:xfrm>
          <a:prstGeom prst="round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339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  <p:sp>
        <p:nvSpPr>
          <p:cNvPr id="6" name="Abgerundetes Rechteck 5"/>
          <p:cNvSpPr/>
          <p:nvPr/>
        </p:nvSpPr>
        <p:spPr>
          <a:xfrm>
            <a:off x="3428095" y="2720795"/>
            <a:ext cx="2487549" cy="767343"/>
          </a:xfrm>
          <a:prstGeom prst="round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339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  <p:sp>
        <p:nvSpPr>
          <p:cNvPr id="16" name="Freihandform 15"/>
          <p:cNvSpPr/>
          <p:nvPr/>
        </p:nvSpPr>
        <p:spPr>
          <a:xfrm>
            <a:off x="2968831" y="2110175"/>
            <a:ext cx="4123449" cy="466770"/>
          </a:xfrm>
          <a:custGeom>
            <a:avLst/>
            <a:gdLst>
              <a:gd name="connsiteX0" fmla="*/ 4393870 w 4393870"/>
              <a:gd name="connsiteY0" fmla="*/ 288641 h 466770"/>
              <a:gd name="connsiteX1" fmla="*/ 938151 w 4393870"/>
              <a:gd name="connsiteY1" fmla="*/ 3633 h 466770"/>
              <a:gd name="connsiteX2" fmla="*/ 0 w 4393870"/>
              <a:gd name="connsiteY2" fmla="*/ 466770 h 466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93870" h="466770">
                <a:moveTo>
                  <a:pt x="4393870" y="288641"/>
                </a:moveTo>
                <a:cubicBezTo>
                  <a:pt x="3032166" y="131293"/>
                  <a:pt x="1670463" y="-26055"/>
                  <a:pt x="938151" y="3633"/>
                </a:cubicBezTo>
                <a:cubicBezTo>
                  <a:pt x="205839" y="33321"/>
                  <a:pt x="102919" y="250045"/>
                  <a:pt x="0" y="46677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ihandform 16"/>
          <p:cNvSpPr/>
          <p:nvPr/>
        </p:nvSpPr>
        <p:spPr>
          <a:xfrm>
            <a:off x="6032665" y="2600696"/>
            <a:ext cx="1626919" cy="605642"/>
          </a:xfrm>
          <a:custGeom>
            <a:avLst/>
            <a:gdLst>
              <a:gd name="connsiteX0" fmla="*/ 1626919 w 1626919"/>
              <a:gd name="connsiteY0" fmla="*/ 0 h 605642"/>
              <a:gd name="connsiteX1" fmla="*/ 1223158 w 1626919"/>
              <a:gd name="connsiteY1" fmla="*/ 534390 h 605642"/>
              <a:gd name="connsiteX2" fmla="*/ 0 w 1626919"/>
              <a:gd name="connsiteY2" fmla="*/ 605642 h 605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26919" h="605642">
                <a:moveTo>
                  <a:pt x="1626919" y="0"/>
                </a:moveTo>
                <a:cubicBezTo>
                  <a:pt x="1560615" y="216725"/>
                  <a:pt x="1494311" y="433450"/>
                  <a:pt x="1223158" y="534390"/>
                </a:cubicBezTo>
                <a:cubicBezTo>
                  <a:pt x="952005" y="635330"/>
                  <a:pt x="215735" y="585850"/>
                  <a:pt x="0" y="60564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feld 18"/>
          <p:cNvSpPr txBox="1"/>
          <p:nvPr/>
        </p:nvSpPr>
        <p:spPr>
          <a:xfrm>
            <a:off x="7092280" y="2195572"/>
            <a:ext cx="1829219" cy="369332"/>
          </a:xfrm>
          <a:prstGeom prst="rect">
            <a:avLst/>
          </a:prstGeom>
          <a:noFill/>
          <a:ln>
            <a:solidFill>
              <a:srgbClr val="FF3399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2"/>
                </a:solidFill>
              </a:rPr>
              <a:t>From Identifiable</a:t>
            </a:r>
            <a:endParaRPr 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1115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276</a:t>
            </a:fld>
            <a:endParaRPr lang="de-DE"/>
          </a:p>
        </p:txBody>
      </p:sp>
      <p:pic>
        <p:nvPicPr>
          <p:cNvPr id="1026" name="Picture 2" descr="\\VBOXSVR\tmp\persistence_exampl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321396"/>
            <a:ext cx="7696200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bgerundetes Rechteck 4"/>
          <p:cNvSpPr/>
          <p:nvPr/>
        </p:nvSpPr>
        <p:spPr>
          <a:xfrm>
            <a:off x="471656" y="2589649"/>
            <a:ext cx="2487549" cy="767343"/>
          </a:xfrm>
          <a:prstGeom prst="round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339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  <p:sp>
        <p:nvSpPr>
          <p:cNvPr id="6" name="Abgerundetes Rechteck 5"/>
          <p:cNvSpPr/>
          <p:nvPr/>
        </p:nvSpPr>
        <p:spPr>
          <a:xfrm>
            <a:off x="3428095" y="2720795"/>
            <a:ext cx="2487549" cy="767343"/>
          </a:xfrm>
          <a:prstGeom prst="round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339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  <p:sp>
        <p:nvSpPr>
          <p:cNvPr id="7" name="Abgerundetes Rechteck 6"/>
          <p:cNvSpPr/>
          <p:nvPr/>
        </p:nvSpPr>
        <p:spPr>
          <a:xfrm>
            <a:off x="467544" y="3489133"/>
            <a:ext cx="2487549" cy="1186521"/>
          </a:xfrm>
          <a:prstGeom prst="round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339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3423983" y="3649888"/>
            <a:ext cx="2487549" cy="711607"/>
          </a:xfrm>
          <a:prstGeom prst="round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339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en-US" dirty="0" smtClean="0"/>
              <a:t>Inheritance of Properties</a:t>
            </a:r>
            <a:endParaRPr lang="en-US" dirty="0"/>
          </a:p>
        </p:txBody>
      </p:sp>
      <p:sp>
        <p:nvSpPr>
          <p:cNvPr id="16" name="Textfeld 15"/>
          <p:cNvSpPr txBox="1"/>
          <p:nvPr/>
        </p:nvSpPr>
        <p:spPr>
          <a:xfrm>
            <a:off x="7092280" y="2195572"/>
            <a:ext cx="2006896" cy="369332"/>
          </a:xfrm>
          <a:prstGeom prst="rect">
            <a:avLst/>
          </a:prstGeom>
          <a:noFill/>
          <a:ln>
            <a:solidFill>
              <a:srgbClr val="FF3399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2"/>
                </a:solidFill>
              </a:rPr>
              <a:t>From abstract class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2" name="Freihandform 11"/>
          <p:cNvSpPr/>
          <p:nvPr/>
        </p:nvSpPr>
        <p:spPr>
          <a:xfrm>
            <a:off x="3028209" y="2124718"/>
            <a:ext cx="4064072" cy="1687261"/>
          </a:xfrm>
          <a:custGeom>
            <a:avLst/>
            <a:gdLst>
              <a:gd name="connsiteX0" fmla="*/ 4298867 w 4298867"/>
              <a:gd name="connsiteY0" fmla="*/ 262222 h 1687261"/>
              <a:gd name="connsiteX1" fmla="*/ 1864426 w 4298867"/>
              <a:gd name="connsiteY1" fmla="*/ 965 h 1687261"/>
              <a:gd name="connsiteX2" fmla="*/ 225631 w 4298867"/>
              <a:gd name="connsiteY2" fmla="*/ 345350 h 1687261"/>
              <a:gd name="connsiteX3" fmla="*/ 190005 w 4298867"/>
              <a:gd name="connsiteY3" fmla="*/ 1378503 h 1687261"/>
              <a:gd name="connsiteX4" fmla="*/ 0 w 4298867"/>
              <a:gd name="connsiteY4" fmla="*/ 1687261 h 168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98867" h="1687261">
                <a:moveTo>
                  <a:pt x="4298867" y="262222"/>
                </a:moveTo>
                <a:cubicBezTo>
                  <a:pt x="3421083" y="124666"/>
                  <a:pt x="2543299" y="-12890"/>
                  <a:pt x="1864426" y="965"/>
                </a:cubicBezTo>
                <a:cubicBezTo>
                  <a:pt x="1185553" y="14820"/>
                  <a:pt x="504701" y="115760"/>
                  <a:pt x="225631" y="345350"/>
                </a:cubicBezTo>
                <a:cubicBezTo>
                  <a:pt x="-53439" y="574940"/>
                  <a:pt x="227610" y="1154851"/>
                  <a:pt x="190005" y="1378503"/>
                </a:cubicBezTo>
                <a:cubicBezTo>
                  <a:pt x="152400" y="1602155"/>
                  <a:pt x="76200" y="1644708"/>
                  <a:pt x="0" y="168726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ihandform 17"/>
          <p:cNvSpPr/>
          <p:nvPr/>
        </p:nvSpPr>
        <p:spPr>
          <a:xfrm>
            <a:off x="6044540" y="2565070"/>
            <a:ext cx="1745673" cy="1425039"/>
          </a:xfrm>
          <a:custGeom>
            <a:avLst/>
            <a:gdLst>
              <a:gd name="connsiteX0" fmla="*/ 1745673 w 1745673"/>
              <a:gd name="connsiteY0" fmla="*/ 0 h 1425039"/>
              <a:gd name="connsiteX1" fmla="*/ 1270660 w 1745673"/>
              <a:gd name="connsiteY1" fmla="*/ 831273 h 1425039"/>
              <a:gd name="connsiteX2" fmla="*/ 522515 w 1745673"/>
              <a:gd name="connsiteY2" fmla="*/ 1306286 h 1425039"/>
              <a:gd name="connsiteX3" fmla="*/ 0 w 1745673"/>
              <a:gd name="connsiteY3" fmla="*/ 1425039 h 1425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5673" h="1425039">
                <a:moveTo>
                  <a:pt x="1745673" y="0"/>
                </a:moveTo>
                <a:cubicBezTo>
                  <a:pt x="1610096" y="306779"/>
                  <a:pt x="1474520" y="613559"/>
                  <a:pt x="1270660" y="831273"/>
                </a:cubicBezTo>
                <a:cubicBezTo>
                  <a:pt x="1066800" y="1048987"/>
                  <a:pt x="734292" y="1207325"/>
                  <a:pt x="522515" y="1306286"/>
                </a:cubicBezTo>
                <a:cubicBezTo>
                  <a:pt x="310738" y="1405247"/>
                  <a:pt x="155369" y="1415143"/>
                  <a:pt x="0" y="142503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410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Declaration of </a:t>
            </a:r>
            <a:r>
              <a:rPr lang="en-US" dirty="0"/>
              <a:t>o</a:t>
            </a:r>
            <a:r>
              <a:rPr lang="en-US" dirty="0" smtClean="0"/>
              <a:t>wn Properties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277</a:t>
            </a:fld>
            <a:endParaRPr lang="de-DE"/>
          </a:p>
        </p:txBody>
      </p:sp>
      <p:pic>
        <p:nvPicPr>
          <p:cNvPr id="1026" name="Picture 2" descr="\\VBOXSVR\tmp\persistence_exampl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321396"/>
            <a:ext cx="7696200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bgerundetes Rechteck 4"/>
          <p:cNvSpPr/>
          <p:nvPr/>
        </p:nvSpPr>
        <p:spPr>
          <a:xfrm>
            <a:off x="471656" y="2589649"/>
            <a:ext cx="2487549" cy="767343"/>
          </a:xfrm>
          <a:prstGeom prst="round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339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  <p:sp>
        <p:nvSpPr>
          <p:cNvPr id="6" name="Abgerundetes Rechteck 5"/>
          <p:cNvSpPr/>
          <p:nvPr/>
        </p:nvSpPr>
        <p:spPr>
          <a:xfrm>
            <a:off x="3428095" y="2720795"/>
            <a:ext cx="2487549" cy="767343"/>
          </a:xfrm>
          <a:prstGeom prst="round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339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  <p:sp>
        <p:nvSpPr>
          <p:cNvPr id="7" name="Abgerundetes Rechteck 6"/>
          <p:cNvSpPr/>
          <p:nvPr/>
        </p:nvSpPr>
        <p:spPr>
          <a:xfrm>
            <a:off x="467544" y="3489133"/>
            <a:ext cx="2487549" cy="1186521"/>
          </a:xfrm>
          <a:prstGeom prst="round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339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3423983" y="3649888"/>
            <a:ext cx="2487549" cy="711607"/>
          </a:xfrm>
          <a:prstGeom prst="round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339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  <p:sp>
        <p:nvSpPr>
          <p:cNvPr id="9" name="Abgerundetes Rechteck 8"/>
          <p:cNvSpPr/>
          <p:nvPr/>
        </p:nvSpPr>
        <p:spPr>
          <a:xfrm>
            <a:off x="467544" y="4821282"/>
            <a:ext cx="2487549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339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  <p:sp>
        <p:nvSpPr>
          <p:cNvPr id="10" name="Abgerundetes Rechteck 9"/>
          <p:cNvSpPr/>
          <p:nvPr/>
        </p:nvSpPr>
        <p:spPr>
          <a:xfrm>
            <a:off x="3431747" y="4503966"/>
            <a:ext cx="2487549" cy="277623"/>
          </a:xfrm>
          <a:prstGeom prst="round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339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  <p:sp>
        <p:nvSpPr>
          <p:cNvPr id="11" name="Abgerundetes Rechteck 10"/>
          <p:cNvSpPr/>
          <p:nvPr/>
        </p:nvSpPr>
        <p:spPr>
          <a:xfrm>
            <a:off x="6116899" y="5013176"/>
            <a:ext cx="2487549" cy="475249"/>
          </a:xfrm>
          <a:prstGeom prst="round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339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7092280" y="2195572"/>
            <a:ext cx="1677447" cy="369332"/>
          </a:xfrm>
          <a:prstGeom prst="rect">
            <a:avLst/>
          </a:prstGeom>
          <a:noFill/>
          <a:ln>
            <a:solidFill>
              <a:srgbClr val="FF3399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2"/>
                </a:solidFill>
              </a:rPr>
              <a:t>Own properties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3" name="Freihandform 2"/>
          <p:cNvSpPr/>
          <p:nvPr/>
        </p:nvSpPr>
        <p:spPr>
          <a:xfrm>
            <a:off x="3040082" y="2149555"/>
            <a:ext cx="4052197" cy="3016211"/>
          </a:xfrm>
          <a:custGeom>
            <a:avLst/>
            <a:gdLst>
              <a:gd name="connsiteX0" fmla="*/ 3942608 w 3942608"/>
              <a:gd name="connsiteY0" fmla="*/ 213635 h 3016211"/>
              <a:gd name="connsiteX1" fmla="*/ 1520042 w 3942608"/>
              <a:gd name="connsiteY1" fmla="*/ 11754 h 3016211"/>
              <a:gd name="connsiteX2" fmla="*/ 154379 w 3942608"/>
              <a:gd name="connsiteY2" fmla="*/ 522393 h 3016211"/>
              <a:gd name="connsiteX3" fmla="*/ 201881 w 3942608"/>
              <a:gd name="connsiteY3" fmla="*/ 2363068 h 3016211"/>
              <a:gd name="connsiteX4" fmla="*/ 0 w 3942608"/>
              <a:gd name="connsiteY4" fmla="*/ 3016211 h 3016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2608" h="3016211">
                <a:moveTo>
                  <a:pt x="3942608" y="213635"/>
                </a:moveTo>
                <a:cubicBezTo>
                  <a:pt x="3047011" y="86964"/>
                  <a:pt x="2151414" y="-39706"/>
                  <a:pt x="1520042" y="11754"/>
                </a:cubicBezTo>
                <a:cubicBezTo>
                  <a:pt x="888670" y="63214"/>
                  <a:pt x="374072" y="130507"/>
                  <a:pt x="154379" y="522393"/>
                </a:cubicBezTo>
                <a:cubicBezTo>
                  <a:pt x="-65315" y="914279"/>
                  <a:pt x="227611" y="1947432"/>
                  <a:pt x="201881" y="2363068"/>
                </a:cubicBezTo>
                <a:cubicBezTo>
                  <a:pt x="176151" y="2778704"/>
                  <a:pt x="19792" y="2935063"/>
                  <a:pt x="0" y="301621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ihandform 12"/>
          <p:cNvSpPr/>
          <p:nvPr/>
        </p:nvSpPr>
        <p:spPr>
          <a:xfrm>
            <a:off x="5997039" y="2564905"/>
            <a:ext cx="1710047" cy="2078347"/>
          </a:xfrm>
          <a:custGeom>
            <a:avLst/>
            <a:gdLst>
              <a:gd name="connsiteX0" fmla="*/ 1710047 w 1710047"/>
              <a:gd name="connsiteY0" fmla="*/ 0 h 2018805"/>
              <a:gd name="connsiteX1" fmla="*/ 558140 w 1710047"/>
              <a:gd name="connsiteY1" fmla="*/ 1579418 h 2018805"/>
              <a:gd name="connsiteX2" fmla="*/ 0 w 1710047"/>
              <a:gd name="connsiteY2" fmla="*/ 2018805 h 201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0047" h="2018805">
                <a:moveTo>
                  <a:pt x="1710047" y="0"/>
                </a:moveTo>
                <a:cubicBezTo>
                  <a:pt x="1276597" y="621475"/>
                  <a:pt x="843148" y="1242951"/>
                  <a:pt x="558140" y="1579418"/>
                </a:cubicBezTo>
                <a:cubicBezTo>
                  <a:pt x="273132" y="1915885"/>
                  <a:pt x="136566" y="1967345"/>
                  <a:pt x="0" y="201880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ihandform 13"/>
          <p:cNvSpPr/>
          <p:nvPr/>
        </p:nvSpPr>
        <p:spPr>
          <a:xfrm>
            <a:off x="8082471" y="2564905"/>
            <a:ext cx="618869" cy="2387106"/>
          </a:xfrm>
          <a:custGeom>
            <a:avLst/>
            <a:gdLst>
              <a:gd name="connsiteX0" fmla="*/ 87752 w 618869"/>
              <a:gd name="connsiteY0" fmla="*/ 0 h 2303813"/>
              <a:gd name="connsiteX1" fmla="*/ 40251 w 618869"/>
              <a:gd name="connsiteY1" fmla="*/ 831273 h 2303813"/>
              <a:gd name="connsiteX2" fmla="*/ 598391 w 618869"/>
              <a:gd name="connsiteY2" fmla="*/ 1603169 h 2303813"/>
              <a:gd name="connsiteX3" fmla="*/ 444012 w 618869"/>
              <a:gd name="connsiteY3" fmla="*/ 2303813 h 2303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869" h="2303813">
                <a:moveTo>
                  <a:pt x="87752" y="0"/>
                </a:moveTo>
                <a:cubicBezTo>
                  <a:pt x="21448" y="282039"/>
                  <a:pt x="-44856" y="564078"/>
                  <a:pt x="40251" y="831273"/>
                </a:cubicBezTo>
                <a:cubicBezTo>
                  <a:pt x="125358" y="1098468"/>
                  <a:pt x="531098" y="1357746"/>
                  <a:pt x="598391" y="1603169"/>
                </a:cubicBezTo>
                <a:cubicBezTo>
                  <a:pt x="665684" y="1848592"/>
                  <a:pt x="554848" y="2076202"/>
                  <a:pt x="444012" y="230381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898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comes next?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are you going to do with the MISSY project?</a:t>
            </a:r>
          </a:p>
          <a:p>
            <a:endParaRPr lang="en-US" dirty="0"/>
          </a:p>
          <a:p>
            <a:r>
              <a:rPr lang="en-US" dirty="0" smtClean="0"/>
              <a:t>Is there ongoing work?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278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9533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279</a:t>
            </a:fld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989856"/>
            <a:ext cx="8229600" cy="1143000"/>
          </a:xfrm>
        </p:spPr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467544" y="2564146"/>
            <a:ext cx="3816424" cy="1476896"/>
          </a:xfrm>
        </p:spPr>
        <p:txBody>
          <a:bodyPr>
            <a:normAutofit/>
          </a:bodyPr>
          <a:lstStyle/>
          <a:p>
            <a:r>
              <a:rPr lang="en-US" sz="2000" dirty="0" smtClean="0"/>
              <a:t>Persistence Layer</a:t>
            </a:r>
          </a:p>
          <a:p>
            <a:pPr lvl="1"/>
            <a:r>
              <a:rPr lang="en-US" sz="1600" dirty="0" smtClean="0"/>
              <a:t>Programming Interface</a:t>
            </a:r>
          </a:p>
          <a:p>
            <a:pPr lvl="1"/>
            <a:r>
              <a:rPr lang="en-US" sz="1600" dirty="0" smtClean="0"/>
              <a:t>Types of physical data storages</a:t>
            </a:r>
          </a:p>
          <a:p>
            <a:pPr lvl="1"/>
            <a:r>
              <a:rPr lang="en-US" sz="1600" dirty="0" smtClean="0"/>
              <a:t>Examples</a:t>
            </a:r>
          </a:p>
        </p:txBody>
      </p:sp>
      <p:sp>
        <p:nvSpPr>
          <p:cNvPr id="7" name="Inhaltsplatzhalter 2"/>
          <p:cNvSpPr txBox="1">
            <a:spLocks/>
          </p:cNvSpPr>
          <p:nvPr/>
        </p:nvSpPr>
        <p:spPr>
          <a:xfrm>
            <a:off x="4572000" y="2563196"/>
            <a:ext cx="4283968" cy="3458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Physical Data Product</a:t>
            </a:r>
          </a:p>
          <a:p>
            <a:r>
              <a:rPr lang="en-US" sz="2000" dirty="0" smtClean="0"/>
              <a:t>Physical Instance</a:t>
            </a:r>
          </a:p>
          <a:p>
            <a:r>
              <a:rPr lang="en-US" sz="2000" dirty="0" smtClean="0"/>
              <a:t>Archive</a:t>
            </a:r>
          </a:p>
          <a:p>
            <a:r>
              <a:rPr lang="en-US" sz="2000" dirty="0"/>
              <a:t>DDIProfile</a:t>
            </a: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dirty="0" smtClean="0"/>
              <a:t>DDI Serialization Examples</a:t>
            </a:r>
          </a:p>
          <a:p>
            <a:pPr lvl="1"/>
            <a:r>
              <a:rPr lang="en-US" sz="1600" dirty="0" smtClean="0"/>
              <a:t>DDI-XML</a:t>
            </a:r>
          </a:p>
          <a:p>
            <a:pPr lvl="1"/>
            <a:r>
              <a:rPr lang="en-US" sz="1600" dirty="0" smtClean="0"/>
              <a:t>DDI-RDF / disco-spec</a:t>
            </a:r>
          </a:p>
          <a:p>
            <a:pPr lvl="1"/>
            <a:r>
              <a:rPr lang="en-US" sz="1600" dirty="0" smtClean="0"/>
              <a:t>Relational-DB</a:t>
            </a:r>
          </a:p>
        </p:txBody>
      </p:sp>
      <p:sp>
        <p:nvSpPr>
          <p:cNvPr id="8" name="Abgerundetes Rechteck 7"/>
          <p:cNvSpPr/>
          <p:nvPr/>
        </p:nvSpPr>
        <p:spPr>
          <a:xfrm>
            <a:off x="195349" y="2457271"/>
            <a:ext cx="8716791" cy="1691809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feld 8"/>
          <p:cNvSpPr txBox="1"/>
          <p:nvPr/>
        </p:nvSpPr>
        <p:spPr>
          <a:xfrm>
            <a:off x="6948264" y="3702488"/>
            <a:ext cx="1885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00B050"/>
                </a:solidFill>
              </a:rPr>
              <a:t>Data Storage Access</a:t>
            </a:r>
            <a:endParaRPr lang="en-US" sz="1600" b="1" dirty="0">
              <a:solidFill>
                <a:srgbClr val="00B050"/>
              </a:solidFill>
            </a:endParaRPr>
          </a:p>
        </p:txBody>
      </p:sp>
      <p:sp>
        <p:nvSpPr>
          <p:cNvPr id="10" name="Abgerundetes Rechteck 9"/>
          <p:cNvSpPr/>
          <p:nvPr/>
        </p:nvSpPr>
        <p:spPr>
          <a:xfrm>
            <a:off x="175689" y="4329479"/>
            <a:ext cx="8716791" cy="1691809"/>
          </a:xfrm>
          <a:prstGeom prst="roundRect">
            <a:avLst/>
          </a:prstGeom>
          <a:noFill/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feld 10"/>
          <p:cNvSpPr txBox="1"/>
          <p:nvPr/>
        </p:nvSpPr>
        <p:spPr>
          <a:xfrm>
            <a:off x="7569360" y="5574696"/>
            <a:ext cx="12749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accent2"/>
                </a:solidFill>
              </a:rPr>
              <a:t>Data Storage</a:t>
            </a:r>
            <a:endParaRPr lang="en-US" sz="1600" b="1" dirty="0">
              <a:solidFill>
                <a:schemeClr val="accent2"/>
              </a:solidFill>
            </a:endParaRPr>
          </a:p>
        </p:txBody>
      </p:sp>
      <p:sp>
        <p:nvSpPr>
          <p:cNvPr id="12" name="Inhaltsplatzhalter 2"/>
          <p:cNvSpPr txBox="1">
            <a:spLocks/>
          </p:cNvSpPr>
          <p:nvPr/>
        </p:nvSpPr>
        <p:spPr>
          <a:xfrm>
            <a:off x="467544" y="4395645"/>
            <a:ext cx="3816424" cy="1457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 smtClean="0">
                <a:solidFill>
                  <a:srgbClr val="FF3399"/>
                </a:solidFill>
              </a:rPr>
              <a:t>Outlook</a:t>
            </a:r>
            <a:endParaRPr lang="en-US" sz="1600" b="1" dirty="0" smtClean="0">
              <a:solidFill>
                <a:srgbClr val="FF3399"/>
              </a:solidFill>
            </a:endParaRPr>
          </a:p>
        </p:txBody>
      </p:sp>
      <p:sp>
        <p:nvSpPr>
          <p:cNvPr id="13" name="Rechteck 12"/>
          <p:cNvSpPr/>
          <p:nvPr/>
        </p:nvSpPr>
        <p:spPr>
          <a:xfrm>
            <a:off x="107505" y="2420888"/>
            <a:ext cx="8928992" cy="1808036"/>
          </a:xfrm>
          <a:prstGeom prst="rect">
            <a:avLst/>
          </a:prstGeom>
          <a:solidFill>
            <a:schemeClr val="bg1">
              <a:alpha val="53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6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42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Outlook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YES! There is ongoing work!</a:t>
            </a:r>
          </a:p>
          <a:p>
            <a:endParaRPr lang="en-US" dirty="0"/>
          </a:p>
          <a:p>
            <a:r>
              <a:rPr lang="en-US" dirty="0" smtClean="0"/>
              <a:t>Use the API in other projects, e.g. GESIS internal projects like </a:t>
            </a:r>
            <a:r>
              <a:rPr lang="en-US" dirty="0" err="1" smtClean="0"/>
              <a:t>StarDat</a:t>
            </a:r>
            <a:endParaRPr lang="en-US" dirty="0" smtClean="0"/>
          </a:p>
          <a:p>
            <a:r>
              <a:rPr lang="en-US" dirty="0" smtClean="0"/>
              <a:t>Publish the persistence API as open-source on </a:t>
            </a:r>
            <a:r>
              <a:rPr lang="en-US" dirty="0" err="1" smtClean="0"/>
              <a:t>github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Two </a:t>
            </a:r>
            <a:r>
              <a:rPr lang="en-US" dirty="0"/>
              <a:t>presentations at IASSIST 2013</a:t>
            </a:r>
          </a:p>
          <a:p>
            <a:r>
              <a:rPr lang="en-US" dirty="0"/>
              <a:t>One poster at IASSIST 2013</a:t>
            </a:r>
          </a:p>
          <a:p>
            <a:endParaRPr lang="en-US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280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9851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Poster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Shows detailed information regarding Missy</a:t>
            </a:r>
          </a:p>
          <a:p>
            <a:pPr lvl="1"/>
            <a:r>
              <a:rPr lang="en-US" dirty="0" smtClean="0"/>
              <a:t>Multitier Architecture, MVC</a:t>
            </a:r>
          </a:p>
          <a:p>
            <a:pPr lvl="1"/>
            <a:r>
              <a:rPr lang="en-US" dirty="0" smtClean="0"/>
              <a:t>Employed Technologies</a:t>
            </a:r>
          </a:p>
          <a:p>
            <a:pPr lvl="1"/>
            <a:r>
              <a:rPr lang="en-US" dirty="0" smtClean="0"/>
              <a:t>Specific Maven Modules</a:t>
            </a:r>
          </a:p>
          <a:p>
            <a:pPr lvl="1"/>
            <a:r>
              <a:rPr lang="en-US" dirty="0" smtClean="0"/>
              <a:t>Project Home</a:t>
            </a:r>
          </a:p>
          <a:p>
            <a:r>
              <a:rPr lang="en-US" dirty="0" smtClean="0"/>
              <a:t>Excerpts from disco-model and the mapping of the fields</a:t>
            </a: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281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4824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282</a:t>
            </a:fld>
            <a:endParaRPr lang="de-DE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1" y="1"/>
            <a:ext cx="4839418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860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 for your attention…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4176464"/>
          </a:xfrm>
        </p:spPr>
        <p:txBody>
          <a:bodyPr/>
          <a:lstStyle/>
          <a:p>
            <a:r>
              <a:rPr lang="en-US" dirty="0" smtClean="0"/>
              <a:t>Feel free to download the sources from </a:t>
            </a:r>
            <a:r>
              <a:rPr lang="en-US" dirty="0" err="1" smtClean="0"/>
              <a:t>GitHub</a:t>
            </a:r>
            <a:r>
              <a:rPr lang="en-US" dirty="0" smtClean="0"/>
              <a:t>:</a:t>
            </a:r>
          </a:p>
          <a:p>
            <a:pPr marL="0" indent="0" algn="ctr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  <a:hlinkClick r:id="rId3"/>
              </a:rPr>
              <a:t>https://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  <a:hlinkClick r:id="rId3"/>
              </a:rPr>
              <a:t>github.com/missy-project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pPr marL="0" indent="0" algn="ctr">
              <a:buNone/>
            </a:pP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/>
              <a:t>Give us feedback!</a:t>
            </a:r>
          </a:p>
          <a:p>
            <a:r>
              <a:rPr lang="en-US" dirty="0" smtClean="0"/>
              <a:t>Feel free to criticize!</a:t>
            </a:r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283</a:t>
            </a:fld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259660" y="5007367"/>
            <a:ext cx="402430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Thomas Bosch</a:t>
            </a:r>
          </a:p>
          <a:p>
            <a:pPr algn="ctr"/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GESIS - Leibniz Institute for the Social Sciences</a:t>
            </a:r>
          </a:p>
          <a:p>
            <a:pPr algn="ctr"/>
            <a:endParaRPr lang="de-DE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de-DE" sz="1600" dirty="0" smtClean="0">
                <a:solidFill>
                  <a:schemeClr val="tx1">
                    <a:lumMod val="75000"/>
                    <a:lumOff val="25000"/>
                  </a:schemeClr>
                </a:solidFill>
                <a:hlinkClick r:id="rId4"/>
              </a:rPr>
              <a:t>thomas.bosch@gesis.org</a:t>
            </a:r>
            <a:endParaRPr lang="de-DE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de-DE" sz="1600" dirty="0" smtClean="0">
                <a:solidFill>
                  <a:schemeClr val="bg1">
                    <a:lumMod val="50000"/>
                  </a:schemeClr>
                </a:solidFill>
                <a:hlinkClick r:id="rId5"/>
              </a:rPr>
              <a:t>boschthomas.blogspot.com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de-DE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4940181" y="5007367"/>
            <a:ext cx="4024307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Matthäus Zloch</a:t>
            </a:r>
            <a:endParaRPr lang="de-DE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GESIS - Leibniz Institute for the Social Sciences</a:t>
            </a:r>
          </a:p>
          <a:p>
            <a:pPr algn="ctr"/>
            <a:endParaRPr lang="de-DE" sz="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de-DE" sz="1600" dirty="0" smtClean="0">
                <a:solidFill>
                  <a:schemeClr val="tx1">
                    <a:lumMod val="75000"/>
                    <a:lumOff val="25000"/>
                  </a:schemeClr>
                </a:solidFill>
                <a:hlinkClick r:id="rId6"/>
              </a:rPr>
              <a:t>matthaeus.zloch@gesis.org</a:t>
            </a:r>
            <a:endParaRPr lang="de-DE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5973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nutzerdefiniertes 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enutzerdefiniertes 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294465">
            <a:alpha val="53000"/>
          </a:srgbClr>
        </a:solidFill>
        <a:ln w="19050">
          <a:solidFill>
            <a:schemeClr val="tx1"/>
          </a:solidFill>
        </a:ln>
      </a:spPr>
      <a:bodyPr wrap="none" lIns="0" tIns="0" rIns="0" bIns="0" rtlCol="0" anchor="ctr"/>
      <a:lstStyle>
        <a:defPPr algn="ctr">
          <a:defRPr sz="16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1ACB0F0E4D8D847898BCFF327EAA86F" ma:contentTypeVersion="14" ma:contentTypeDescription="Ein neues Dokument erstellen." ma:contentTypeScope="" ma:versionID="c3906471eff8a0c11d583148b8fd5ea5">
  <xsd:schema xmlns:xsd="http://www.w3.org/2001/XMLSchema" xmlns:p="http://schemas.microsoft.com/office/2006/metadata/properties" targetNamespace="http://schemas.microsoft.com/office/2006/metadata/properties" ma:root="true" ma:fieldsID="85271c6f9fc6062c6ecdd2a74b471b5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 ma:readOnly="tru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4BF6130E-553D-4838-98BE-5679003509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D12E0BAE-FAF0-4E78-A2C3-2AAC064B5F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49D386-2FCB-4353-94CE-7C0896CF81B1}">
  <ds:schemaRefs>
    <ds:schemaRef ds:uri="http://purl.org/dc/elements/1.1/"/>
    <ds:schemaRef ds:uri="http://purl.org/dc/dcmitype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5243</Words>
  <Application>Microsoft Office PowerPoint</Application>
  <PresentationFormat>Bildschirmpräsentation (4:3)</PresentationFormat>
  <Paragraphs>1912</Paragraphs>
  <Slides>283</Slides>
  <Notes>276</Notes>
  <HiddenSlides>0</HiddenSlides>
  <MMClips>0</MMClips>
  <ScaleCrop>false</ScaleCrop>
  <HeadingPairs>
    <vt:vector size="4" baseType="variant">
      <vt:variant>
        <vt:lpstr>Design</vt:lpstr>
      </vt:variant>
      <vt:variant>
        <vt:i4>2</vt:i4>
      </vt:variant>
      <vt:variant>
        <vt:lpstr>Folientitel</vt:lpstr>
      </vt:variant>
      <vt:variant>
        <vt:i4>283</vt:i4>
      </vt:variant>
    </vt:vector>
  </HeadingPairs>
  <TitlesOfParts>
    <vt:vector size="285" baseType="lpstr">
      <vt:lpstr>Benutzerdefiniertes Design</vt:lpstr>
      <vt:lpstr>1_Benutzerdefiniertes Design</vt:lpstr>
      <vt:lpstr>Create Your Own Information Systems on the Basis of DDI-Lifecycle</vt:lpstr>
      <vt:lpstr>Introduction of Attendees</vt:lpstr>
      <vt:lpstr>Goals of This Presentation</vt:lpstr>
      <vt:lpstr>Outline</vt:lpstr>
      <vt:lpstr>Outline</vt:lpstr>
      <vt:lpstr>Outline</vt:lpstr>
      <vt:lpstr>Outline</vt:lpstr>
      <vt:lpstr>Feel free to ask questions at any time!</vt:lpstr>
      <vt:lpstr>What comes next?</vt:lpstr>
      <vt:lpstr>What comes next?</vt:lpstr>
      <vt:lpstr>DDI-L Stages</vt:lpstr>
      <vt:lpstr>PowerPoint-Präsentation</vt:lpstr>
      <vt:lpstr>PowerPoint-Präsentation</vt:lpstr>
      <vt:lpstr>What comes next?</vt:lpstr>
      <vt:lpstr>Element Types</vt:lpstr>
      <vt:lpstr>Identification</vt:lpstr>
      <vt:lpstr>Referencing Maintainables</vt:lpstr>
      <vt:lpstr>Schemes</vt:lpstr>
      <vt:lpstr>Maintenance Rules</vt:lpstr>
      <vt:lpstr>Versioning Rules</vt:lpstr>
      <vt:lpstr>Identifiable (DDI 3.1 XML)</vt:lpstr>
      <vt:lpstr>Versionable (DDI 3.1 XML)</vt:lpstr>
      <vt:lpstr>Maintainable (DDI 3.1 XML)</vt:lpstr>
      <vt:lpstr>URN (DDI 3.1)</vt:lpstr>
      <vt:lpstr>URN (DDI 3.1)</vt:lpstr>
      <vt:lpstr>URN (DDI 3.1)</vt:lpstr>
      <vt:lpstr>URN (DDI 3.1)</vt:lpstr>
      <vt:lpstr>URN (DDI 3.1)</vt:lpstr>
      <vt:lpstr>URN Resolution</vt:lpstr>
      <vt:lpstr>Referencing (DDI 3.1)</vt:lpstr>
      <vt:lpstr>Referencing (DDI 3.1 + 3.2)</vt:lpstr>
      <vt:lpstr>Internal Reference (DDI 3.1)</vt:lpstr>
      <vt:lpstr>External Reference (DDI 3.1)</vt:lpstr>
      <vt:lpstr>Identifiers (DDI 3.2)</vt:lpstr>
      <vt:lpstr>Canonical URN (DDI 3.2)</vt:lpstr>
      <vt:lpstr>Canonical URN (DDI 3.2)</vt:lpstr>
      <vt:lpstr>Canonical URN (DDI 3.2)</vt:lpstr>
      <vt:lpstr>Canonical URN (DDI 3.2)</vt:lpstr>
      <vt:lpstr>Canonical URN (DDI 3.2)</vt:lpstr>
      <vt:lpstr>Canonical URN (DDI 3.2)</vt:lpstr>
      <vt:lpstr>Canonical URN (DDI 3.2)</vt:lpstr>
      <vt:lpstr>Canonical URN (DDI 3.2)</vt:lpstr>
      <vt:lpstr>Canonical URN (DDI 3.2)</vt:lpstr>
      <vt:lpstr>What comes next?</vt:lpstr>
      <vt:lpstr>What comes next?</vt:lpstr>
      <vt:lpstr>General Information About Missy</vt:lpstr>
      <vt:lpstr>General Information About Missy</vt:lpstr>
      <vt:lpstr>Missy 3</vt:lpstr>
      <vt:lpstr>Use-Cases in Missy</vt:lpstr>
      <vt:lpstr>Use-Cases in Missy</vt:lpstr>
      <vt:lpstr>Use-Cases in Missy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Requirements to Software Developers</vt:lpstr>
      <vt:lpstr>What comes next?</vt:lpstr>
      <vt:lpstr>What comes next?</vt:lpstr>
      <vt:lpstr>PowerPoint-Präsentation</vt:lpstr>
      <vt:lpstr>PowerPoint-Präsentation</vt:lpstr>
      <vt:lpstr>Modules</vt:lpstr>
      <vt:lpstr>PowerPoint-Präsentation</vt:lpstr>
      <vt:lpstr>DDIInstance</vt:lpstr>
      <vt:lpstr>DDIInstance</vt:lpstr>
      <vt:lpstr>ResourcePackage</vt:lpstr>
      <vt:lpstr>ResourcePackage</vt:lpstr>
      <vt:lpstr>ResourcePackage</vt:lpstr>
      <vt:lpstr>ResourcePackage</vt:lpstr>
      <vt:lpstr>Group</vt:lpstr>
      <vt:lpstr>Group</vt:lpstr>
      <vt:lpstr>Group</vt:lpstr>
      <vt:lpstr>Organization</vt:lpstr>
      <vt:lpstr>Organization</vt:lpstr>
      <vt:lpstr>LocalHoldingPackage</vt:lpstr>
      <vt:lpstr>LocalHoldingPackage</vt:lpstr>
      <vt:lpstr>What comes next?</vt:lpstr>
      <vt:lpstr>StudyUnit</vt:lpstr>
      <vt:lpstr>StudyUnit</vt:lpstr>
      <vt:lpstr>PowerPoint-Präsentation</vt:lpstr>
      <vt:lpstr>Coverage</vt:lpstr>
      <vt:lpstr>Coverage</vt:lpstr>
      <vt:lpstr>TemporalCoverage</vt:lpstr>
      <vt:lpstr>TopicalCoverage</vt:lpstr>
      <vt:lpstr>SpatialCoverage</vt:lpstr>
      <vt:lpstr>SpatialCoverage</vt:lpstr>
      <vt:lpstr>TopicalCoverage</vt:lpstr>
      <vt:lpstr>TemporalCoverage</vt:lpstr>
      <vt:lpstr>FundingInformation</vt:lpstr>
      <vt:lpstr>FundingInformation</vt:lpstr>
      <vt:lpstr>PowerPoint-Präsentation</vt:lpstr>
      <vt:lpstr>Citation</vt:lpstr>
      <vt:lpstr>Citation</vt:lpstr>
      <vt:lpstr>Citation</vt:lpstr>
      <vt:lpstr>How the presentation is continued</vt:lpstr>
      <vt:lpstr>What comes next?</vt:lpstr>
      <vt:lpstr>What makes Missy interesting</vt:lpstr>
      <vt:lpstr>Software Architecture</vt:lpstr>
      <vt:lpstr>PowerPoint-Präsentation</vt:lpstr>
      <vt:lpstr>Model-View-Controller</vt:lpstr>
      <vt:lpstr>MVC – Interactions</vt:lpstr>
      <vt:lpstr>Model</vt:lpstr>
      <vt:lpstr>View</vt:lpstr>
      <vt:lpstr>Controller</vt:lpstr>
      <vt:lpstr>View Technologies</vt:lpstr>
      <vt:lpstr>Data Model</vt:lpstr>
      <vt:lpstr>Missy Technologies</vt:lpstr>
      <vt:lpstr>What we have discussed so far</vt:lpstr>
      <vt:lpstr>How the presentation is continued</vt:lpstr>
      <vt:lpstr>What comes next?</vt:lpstr>
      <vt:lpstr>ConceptualComponent</vt:lpstr>
      <vt:lpstr>PowerPoint-Präsentation</vt:lpstr>
      <vt:lpstr>ConceptualComponent</vt:lpstr>
      <vt:lpstr>ConceptScheme</vt:lpstr>
      <vt:lpstr>ConceptScheme</vt:lpstr>
      <vt:lpstr>Concept</vt:lpstr>
      <vt:lpstr>Concept</vt:lpstr>
      <vt:lpstr>Universe</vt:lpstr>
      <vt:lpstr>Universe</vt:lpstr>
      <vt:lpstr>What comes next?</vt:lpstr>
      <vt:lpstr>LogicalProduct</vt:lpstr>
      <vt:lpstr>LogicalProduct</vt:lpstr>
      <vt:lpstr>PowerPoint-Präsentation</vt:lpstr>
      <vt:lpstr>PowerPoint-Präsentation</vt:lpstr>
      <vt:lpstr>CodeScheme</vt:lpstr>
      <vt:lpstr>Code</vt:lpstr>
      <vt:lpstr>Code</vt:lpstr>
      <vt:lpstr>CategoryScheme</vt:lpstr>
      <vt:lpstr>CategoryScheme</vt:lpstr>
      <vt:lpstr>Category</vt:lpstr>
      <vt:lpstr>Category</vt:lpstr>
      <vt:lpstr>VariableScheme</vt:lpstr>
      <vt:lpstr>VariableScheme</vt:lpstr>
      <vt:lpstr>Variable</vt:lpstr>
      <vt:lpstr>Variable</vt:lpstr>
      <vt:lpstr>Representation</vt:lpstr>
      <vt:lpstr>Representation</vt:lpstr>
      <vt:lpstr>CodeRepresentation</vt:lpstr>
      <vt:lpstr>CodeRepresentation</vt:lpstr>
      <vt:lpstr>NumericRepresentation</vt:lpstr>
      <vt:lpstr>NumericRepresentation</vt:lpstr>
      <vt:lpstr>TextRepresentation</vt:lpstr>
      <vt:lpstr>TextRepresentation</vt:lpstr>
      <vt:lpstr>VariableGroup</vt:lpstr>
      <vt:lpstr>VariableGroup</vt:lpstr>
      <vt:lpstr>What comes next?</vt:lpstr>
      <vt:lpstr>DataCollection</vt:lpstr>
      <vt:lpstr>DataCollection</vt:lpstr>
      <vt:lpstr>DataCollection</vt:lpstr>
      <vt:lpstr>Methodology</vt:lpstr>
      <vt:lpstr>Methodology</vt:lpstr>
      <vt:lpstr>CollectionEvent</vt:lpstr>
      <vt:lpstr>CollectionEvent</vt:lpstr>
      <vt:lpstr>QuestionScheme</vt:lpstr>
      <vt:lpstr>QuestionScheme</vt:lpstr>
      <vt:lpstr>QuestionItem</vt:lpstr>
      <vt:lpstr>QuestionItem</vt:lpstr>
      <vt:lpstr>Response Domain</vt:lpstr>
      <vt:lpstr>Response Domain</vt:lpstr>
      <vt:lpstr>Instrument</vt:lpstr>
      <vt:lpstr>Instrument</vt:lpstr>
      <vt:lpstr>ControlConstruct</vt:lpstr>
      <vt:lpstr>ControlConstructScheme</vt:lpstr>
      <vt:lpstr>ControlConstruct</vt:lpstr>
      <vt:lpstr>Sequence</vt:lpstr>
      <vt:lpstr>Sequence (bahavioral)</vt:lpstr>
      <vt:lpstr>Sequence (XML)</vt:lpstr>
      <vt:lpstr>Sequence (structural)</vt:lpstr>
      <vt:lpstr>StatementItem</vt:lpstr>
      <vt:lpstr>StatementItem (behavioral)</vt:lpstr>
      <vt:lpstr>StatementItem (XML)</vt:lpstr>
      <vt:lpstr>StatementItem (structural)</vt:lpstr>
      <vt:lpstr>QuestionConstruct</vt:lpstr>
      <vt:lpstr>QuestionConstruct (behavioral)</vt:lpstr>
      <vt:lpstr>QuestionConstruct (XML)</vt:lpstr>
      <vt:lpstr>QuestionConstruct (structural)</vt:lpstr>
      <vt:lpstr>IfThenElse</vt:lpstr>
      <vt:lpstr>IfThenElse (behavioral)</vt:lpstr>
      <vt:lpstr>IfThenElse (XML)</vt:lpstr>
      <vt:lpstr>IfThenElse (structural)</vt:lpstr>
      <vt:lpstr>Loop</vt:lpstr>
      <vt:lpstr>Loop (behavioral)</vt:lpstr>
      <vt:lpstr>Loop (XML)</vt:lpstr>
      <vt:lpstr>Loop (structural)</vt:lpstr>
      <vt:lpstr>RepeatWhile</vt:lpstr>
      <vt:lpstr>RepeatWhile (behavioral)</vt:lpstr>
      <vt:lpstr>RepeatWhile (XML)</vt:lpstr>
      <vt:lpstr>RepeatWhile (structural)</vt:lpstr>
      <vt:lpstr>RepeatUntil</vt:lpstr>
      <vt:lpstr>RepeatUntil (behavioral)</vt:lpstr>
      <vt:lpstr>RepeatUntil (XML)</vt:lpstr>
      <vt:lpstr>RepeatUntil (structural)</vt:lpstr>
      <vt:lpstr>What comes next?</vt:lpstr>
      <vt:lpstr>PowerPoint-Präsentation</vt:lpstr>
      <vt:lpstr>How to extend the disco model?</vt:lpstr>
      <vt:lpstr>What we have seen so far </vt:lpstr>
      <vt:lpstr>How the presentation is continued</vt:lpstr>
      <vt:lpstr>What comes next?</vt:lpstr>
      <vt:lpstr>Use-case “variable details”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What we have seen so far</vt:lpstr>
      <vt:lpstr>How the presentation is continued</vt:lpstr>
      <vt:lpstr>What comes next?</vt:lpstr>
      <vt:lpstr>PowerPoint-Präsentation</vt:lpstr>
      <vt:lpstr>PowerPoint-Präsentation</vt:lpstr>
      <vt:lpstr>PowerPoint-Präsentation</vt:lpstr>
      <vt:lpstr>disco-model API</vt:lpstr>
      <vt:lpstr>disco-model API</vt:lpstr>
      <vt:lpstr>disco-model API</vt:lpstr>
      <vt:lpstr>PowerPoint-Präsentation</vt:lpstr>
      <vt:lpstr>PowerPoint-Präsentation</vt:lpstr>
      <vt:lpstr>PowerPoint-Präsentation</vt:lpstr>
      <vt:lpstr>Project Specific Extensions</vt:lpstr>
      <vt:lpstr>How is the presentation continued</vt:lpstr>
      <vt:lpstr>Outline</vt:lpstr>
      <vt:lpstr>PhysicalDataProduct</vt:lpstr>
      <vt:lpstr>PhysicalDataProduct</vt:lpstr>
      <vt:lpstr>PhysicalDataProduct</vt:lpstr>
      <vt:lpstr>Outline</vt:lpstr>
      <vt:lpstr>PhysicalInstance</vt:lpstr>
      <vt:lpstr>PhysicalInstance</vt:lpstr>
      <vt:lpstr>PhysicalInstance</vt:lpstr>
      <vt:lpstr>Outline</vt:lpstr>
      <vt:lpstr>Archive</vt:lpstr>
      <vt:lpstr>Archive</vt:lpstr>
      <vt:lpstr>Archive</vt:lpstr>
      <vt:lpstr>Outline</vt:lpstr>
      <vt:lpstr>DDIProfile</vt:lpstr>
      <vt:lpstr>DDIProfile</vt:lpstr>
      <vt:lpstr>DDIProfile</vt:lpstr>
      <vt:lpstr>How the presentation is continued</vt:lpstr>
      <vt:lpstr>Outline</vt:lpstr>
      <vt:lpstr>PowerPoint-Präsentation</vt:lpstr>
      <vt:lpstr>PowerPoint-Präsentation</vt:lpstr>
      <vt:lpstr>PowerPoint-Präsentation</vt:lpstr>
      <vt:lpstr>Persistence Layer – Motivation</vt:lpstr>
      <vt:lpstr>Persistence Layer – Strategy Pattern</vt:lpstr>
      <vt:lpstr>PowerPoint-Präsentation</vt:lpstr>
      <vt:lpstr>Modules</vt:lpstr>
      <vt:lpstr>Data Access Object</vt:lpstr>
      <vt:lpstr>DAO Pattern</vt:lpstr>
      <vt:lpstr>disco-persistence-api</vt:lpstr>
      <vt:lpstr>Extendable disco-persistence-api</vt:lpstr>
      <vt:lpstr>Extendable disco-persistence-api</vt:lpstr>
      <vt:lpstr>PowerPoint-Präsentation</vt:lpstr>
      <vt:lpstr>PowerPoint-Präsentation</vt:lpstr>
      <vt:lpstr>Missy Specific Modules</vt:lpstr>
      <vt:lpstr>What we have seen so far</vt:lpstr>
      <vt:lpstr>How the presentation is continued</vt:lpstr>
      <vt:lpstr>Outline</vt:lpstr>
      <vt:lpstr>Questionnaire - Question</vt:lpstr>
      <vt:lpstr>Questionnaire – Question (DDI 3.1 XML)</vt:lpstr>
      <vt:lpstr>PowerPoint-Präsentation</vt:lpstr>
      <vt:lpstr>Questionnaire – Question (DDI-RDF)</vt:lpstr>
      <vt:lpstr>Variable - SummaryStatistics</vt:lpstr>
      <vt:lpstr>Variable – SummaryStatistics (DDI 3.1 XML)</vt:lpstr>
      <vt:lpstr>Variable – SummaryStatistics (DDI-RDF)</vt:lpstr>
      <vt:lpstr>Outline</vt:lpstr>
      <vt:lpstr>Relational-DB Example</vt:lpstr>
      <vt:lpstr>Relational-DB Example</vt:lpstr>
      <vt:lpstr>Relational-DB Example</vt:lpstr>
      <vt:lpstr>Inheritance of Properties</vt:lpstr>
      <vt:lpstr>Inheritance of Properties</vt:lpstr>
      <vt:lpstr>Declaration of own Properties</vt:lpstr>
      <vt:lpstr>What comes next?</vt:lpstr>
      <vt:lpstr>Outline</vt:lpstr>
      <vt:lpstr>Outlook</vt:lpstr>
      <vt:lpstr>Poster</vt:lpstr>
      <vt:lpstr>PowerPoint-Präsentation</vt:lpstr>
      <vt:lpstr>Thank you for your attention…</vt:lpstr>
    </vt:vector>
  </TitlesOfParts>
  <Company>IZ Sozialwissenschaften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Heuser</dc:creator>
  <cp:lastModifiedBy>Thomas</cp:lastModifiedBy>
  <cp:revision>1333</cp:revision>
  <cp:lastPrinted>2011-05-27T11:02:03Z</cp:lastPrinted>
  <dcterms:created xsi:type="dcterms:W3CDTF">2009-05-26T11:46:45Z</dcterms:created>
  <dcterms:modified xsi:type="dcterms:W3CDTF">2012-12-02T17:13:48Z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0x010100B1ACB0F0E4D8D847898BCFF327EAA86F</vt:lpwstr>
  </property>
</Properties>
</file>