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61" r:id="rId2"/>
    <p:sldId id="383" r:id="rId3"/>
    <p:sldId id="413" r:id="rId4"/>
    <p:sldId id="384" r:id="rId5"/>
    <p:sldId id="386" r:id="rId6"/>
    <p:sldId id="393" r:id="rId7"/>
    <p:sldId id="410" r:id="rId8"/>
    <p:sldId id="412" r:id="rId9"/>
    <p:sldId id="414" r:id="rId10"/>
    <p:sldId id="404" r:id="rId11"/>
    <p:sldId id="411" r:id="rId12"/>
    <p:sldId id="260" r:id="rId1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7D4"/>
    <a:srgbClr val="DC2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14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1640" y="8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6" d="100"/>
          <a:sy n="86" d="100"/>
        </p:scale>
        <p:origin x="-312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2D76B6E-5CE4-164A-BE3B-57676BD9A07A}" type="datetimeFigureOut">
              <a:rPr lang="nl-NL"/>
              <a:pPr>
                <a:defRPr/>
              </a:pPr>
              <a:t>12/4/12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1A6A351-9C7E-3847-9899-0BA8D16DB10B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9928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6979FAE-DF18-2A41-A8AA-9ABF1E1277FB}" type="datetimeFigureOut">
              <a:rPr lang="nl-NL"/>
              <a:pPr>
                <a:defRPr/>
              </a:pPr>
              <a:t>12/4/12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nl-NL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nl-NL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505F575-FC29-1042-B739-38143C73CC98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653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>
              <a:latin typeface="Calibri" charset="0"/>
            </a:endParaRPr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C49C55B-269B-1E42-8944-B8B2BFB371F5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nl-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nl-NL">
              <a:latin typeface="Calibri" charset="0"/>
            </a:endParaRP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B5B0F85-5E8E-084C-8408-2158170ED748}" type="slidenum">
              <a:rPr lang="nl-NL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nl-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hyperlink" Target="mailto:info@dans.knaw.nl" TargetMode="Externa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Logo 2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615406" y="2564606"/>
            <a:ext cx="68738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/>
          <p:cNvSpPr txBox="1">
            <a:spLocks noChangeArrowheads="1"/>
          </p:cNvSpPr>
          <p:nvPr userDrawn="1"/>
        </p:nvSpPr>
        <p:spPr bwMode="auto">
          <a:xfrm>
            <a:off x="2049463" y="6345238"/>
            <a:ext cx="299417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en-US" sz="1100" dirty="0">
                <a:latin typeface="Verdana" charset="0"/>
                <a:cs typeface="Verdana" charset="0"/>
              </a:rPr>
              <a:t>DANS is </a:t>
            </a:r>
            <a:r>
              <a:rPr lang="en-US" sz="1100" dirty="0" smtClean="0">
                <a:latin typeface="Verdana" charset="0"/>
                <a:cs typeface="Verdana" charset="0"/>
              </a:rPr>
              <a:t>an institute of </a:t>
            </a:r>
            <a:r>
              <a:rPr lang="en-US" sz="1100" dirty="0">
                <a:latin typeface="Verdana" charset="0"/>
                <a:cs typeface="Verdana" charset="0"/>
              </a:rPr>
              <a:t>KNAW </a:t>
            </a:r>
            <a:r>
              <a:rPr lang="en-US" sz="1100" dirty="0" smtClean="0">
                <a:latin typeface="Verdana" charset="0"/>
                <a:cs typeface="Verdana" charset="0"/>
              </a:rPr>
              <a:t>and </a:t>
            </a:r>
            <a:r>
              <a:rPr lang="en-US" sz="1100" dirty="0">
                <a:latin typeface="Verdana" charset="0"/>
                <a:cs typeface="Verdana" charset="0"/>
              </a:rPr>
              <a:t>NWO</a:t>
            </a:r>
          </a:p>
        </p:txBody>
      </p:sp>
      <p:sp>
        <p:nvSpPr>
          <p:cNvPr id="5" name="TextBox 9"/>
          <p:cNvSpPr txBox="1">
            <a:spLocks noChangeArrowheads="1"/>
          </p:cNvSpPr>
          <p:nvPr userDrawn="1"/>
        </p:nvSpPr>
        <p:spPr bwMode="auto">
          <a:xfrm>
            <a:off x="6907213" y="6211888"/>
            <a:ext cx="2236787" cy="646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r>
              <a:rPr lang="nl-NL"/>
              <a:t> </a:t>
            </a:r>
          </a:p>
          <a:p>
            <a:r>
              <a:rPr lang="nl-NL"/>
              <a:t> </a:t>
            </a:r>
          </a:p>
        </p:txBody>
      </p:sp>
      <p:sp>
        <p:nvSpPr>
          <p:cNvPr id="6" name="TextBox 8"/>
          <p:cNvSpPr txBox="1">
            <a:spLocks noChangeArrowheads="1"/>
          </p:cNvSpPr>
          <p:nvPr userDrawn="1"/>
        </p:nvSpPr>
        <p:spPr bwMode="auto">
          <a:xfrm>
            <a:off x="1943100" y="-12700"/>
            <a:ext cx="720090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endParaRPr lang="en-US"/>
          </a:p>
          <a:p>
            <a:r>
              <a:rPr lang="en-US" sz="2400" i="1">
                <a:solidFill>
                  <a:srgbClr val="FF0000"/>
                </a:solidFill>
                <a:latin typeface="Verdana" charset="0"/>
                <a:cs typeface="Verdana" charset="0"/>
              </a:rPr>
              <a:t>Data Archiving and Networked Services</a:t>
            </a:r>
          </a:p>
          <a:p>
            <a:endParaRPr lang="en-US" sz="2000">
              <a:solidFill>
                <a:srgbClr val="FF0000"/>
              </a:solidFill>
              <a:latin typeface="Verdana" charset="0"/>
              <a:cs typeface="Verdana" charset="0"/>
            </a:endParaRPr>
          </a:p>
        </p:txBody>
      </p:sp>
      <p:pic>
        <p:nvPicPr>
          <p:cNvPr id="7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7638" y="6289675"/>
            <a:ext cx="237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el 1"/>
          <p:cNvSpPr>
            <a:spLocks noGrp="1"/>
          </p:cNvSpPr>
          <p:nvPr>
            <p:ph type="ctrTitle"/>
          </p:nvPr>
        </p:nvSpPr>
        <p:spPr>
          <a:xfrm>
            <a:off x="1981200" y="1504950"/>
            <a:ext cx="6781800" cy="3194050"/>
          </a:xfrm>
        </p:spPr>
        <p:txBody>
          <a:bodyPr>
            <a:normAutofit fontScale="90000"/>
          </a:bodyPr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nl-NL" dirty="0" smtClean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9B38AA-4C0E-4EC7-B17D-2D4B934F88ED}" type="datetime1">
              <a:rPr lang="en-US" smtClean="0"/>
              <a:pPr>
                <a:defRPr/>
              </a:pPr>
              <a:t>12/4/12</a:t>
            </a:fld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32FF-7FAC-C045-9D6C-1F4E85C68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8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77476"/>
            <a:ext cx="8229600" cy="92890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2579"/>
            <a:ext cx="8229600" cy="4013584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24931-CE27-472B-9730-1D1862F536F6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B7E43-AC2A-D147-BDA1-6920908EB5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0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aatste slide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 userDrawn="1"/>
        </p:nvSpPr>
        <p:spPr>
          <a:xfrm>
            <a:off x="0" y="6273800"/>
            <a:ext cx="9296400" cy="6238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nl-NL" sz="1000" b="1" dirty="0" smtClean="0">
                <a:solidFill>
                  <a:schemeClr val="tx1"/>
                </a:solidFill>
                <a:latin typeface="Verdana"/>
                <a:cs typeface="Verdana"/>
              </a:rPr>
              <a:t>Data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Archiving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and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err="1">
                <a:solidFill>
                  <a:schemeClr val="tx1"/>
                </a:solidFill>
                <a:latin typeface="Verdana"/>
                <a:cs typeface="Verdana"/>
              </a:rPr>
              <a:t>Networked</a:t>
            </a:r>
            <a:r>
              <a:rPr lang="nl-NL" sz="1000" b="1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nl-NL" sz="1000" b="1" dirty="0" smtClean="0">
                <a:solidFill>
                  <a:schemeClr val="tx1"/>
                </a:solidFill>
                <a:latin typeface="Verdana"/>
                <a:cs typeface="Verdana"/>
              </a:rPr>
              <a:t>Services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Anna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van Saksenlaan 10, 2593 HT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The</a:t>
            </a:r>
            <a:r>
              <a:rPr lang="nl-NL" sz="1000" baseline="0" dirty="0" smtClean="0">
                <a:solidFill>
                  <a:schemeClr val="tx1"/>
                </a:solidFill>
                <a:latin typeface="Verdana"/>
                <a:cs typeface="Verdana"/>
              </a:rPr>
              <a:t> Hague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. P.O. Box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93067, 2509 AB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The</a:t>
            </a:r>
            <a:r>
              <a:rPr lang="nl-NL" sz="1000" baseline="0" dirty="0" smtClean="0">
                <a:solidFill>
                  <a:schemeClr val="tx1"/>
                </a:solidFill>
                <a:latin typeface="Verdana"/>
                <a:cs typeface="Verdana"/>
              </a:rPr>
              <a:t> Hague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.</a:t>
            </a:r>
            <a:endParaRPr lang="en-US" sz="1000" dirty="0">
              <a:solidFill>
                <a:schemeClr val="tx1"/>
              </a:solidFill>
              <a:latin typeface="Verdana"/>
              <a:cs typeface="Verdana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T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+31 (0)70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3446 484, F 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</a:rPr>
              <a:t>+31 (0)70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</a:rPr>
              <a:t>3446 482, E </a:t>
            </a:r>
            <a:r>
              <a:rPr lang="nl-NL" sz="1000" dirty="0">
                <a:solidFill>
                  <a:schemeClr val="tx1"/>
                </a:solidFill>
                <a:latin typeface="Verdana"/>
                <a:cs typeface="Verdana"/>
                <a:hlinkClick r:id="rId3"/>
              </a:rPr>
              <a:t>info@</a:t>
            </a:r>
            <a:r>
              <a:rPr lang="nl-NL" sz="1000" dirty="0" smtClean="0">
                <a:solidFill>
                  <a:schemeClr val="tx1"/>
                </a:solidFill>
                <a:latin typeface="Verdana"/>
                <a:cs typeface="Verdana"/>
                <a:hlinkClick r:id="rId3"/>
              </a:rPr>
              <a:t>dans.knaw.nl</a:t>
            </a:r>
            <a:endParaRPr lang="en-US" sz="28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6383"/>
            <a:ext cx="8229600" cy="928907"/>
          </a:xfrm>
        </p:spPr>
        <p:txBody>
          <a:bodyPr>
            <a:no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483" y="3673365"/>
            <a:ext cx="8702565" cy="2452797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400"/>
            </a:lvl1pPr>
            <a:lvl2pPr marL="457200" indent="0" algn="ctr">
              <a:buFontTx/>
              <a:buNone/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72D98-9244-4CFB-8900-B50FA538A8AA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5C4D9-B747-FD4E-8D99-458C2DDD44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25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F6E844-8B38-469F-B9EC-8C31C61CDD6C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608AE-2E4D-8A44-9F60-FAEE5C0115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98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B5003-D584-489C-8411-62067F14F675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10E66-0658-1247-9915-32155D1E9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47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5128F-20FB-4E74-A322-537E290D8C62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66647-1CF8-8743-AEBB-3B236941D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5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E2A77-51EA-4345-BA9D-311D907227D3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C414D-8D35-F74B-AFF5-C3BA41C4F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6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1246188" y="2192338"/>
            <a:ext cx="72628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latin typeface="Verdana" charset="0"/>
                <a:cs typeface="Verdana" charset="0"/>
              </a:rPr>
              <a:t>Only use this slide to present a screenshot of an application. As no style is applied, the screenshot can take up the whole slide. For all other information please use the slide with preset style!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4E876-C0CD-4DB0-B051-BB24926F86CE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D6838-065E-BB41-BB13-0C8BC9739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0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19A41-9FF1-4CD0-949E-B2F1A8842495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C2E42-AC15-564A-979E-BE0F02AA39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2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1CCA5-EB55-4FA0-8AB6-242D6140686D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99415E-8004-2945-95CB-D3D10B7F8B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82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C74A2-C0D7-4F43-870C-00884330F410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689C31-EF1B-B749-BCA1-321E28BB7D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58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3EBAE6-FE16-4663-ACF3-85641BB62166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FDFB0-880F-A54A-AC4E-953B3A110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336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ige driehoek 9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Afbeelding 5" descr="titeldiarood_eng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el 8"/>
          <p:cNvSpPr>
            <a:spLocks noGrp="1"/>
          </p:cNvSpPr>
          <p:nvPr>
            <p:ph type="ctrTitle"/>
          </p:nvPr>
        </p:nvSpPr>
        <p:spPr>
          <a:xfrm>
            <a:off x="1835696" y="908721"/>
            <a:ext cx="6622504" cy="2673642"/>
          </a:xfrm>
        </p:spPr>
        <p:txBody>
          <a:bodyPr anchor="b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bg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nl-NL" dirty="0" smtClean="0"/>
              <a:t>Klik om de stijl te bewerken</a:t>
            </a:r>
            <a:endParaRPr lang="en-US" dirty="0"/>
          </a:p>
        </p:txBody>
      </p:sp>
      <p:sp>
        <p:nvSpPr>
          <p:cNvPr id="17" name="Ondertitel 16"/>
          <p:cNvSpPr>
            <a:spLocks noGrp="1"/>
          </p:cNvSpPr>
          <p:nvPr>
            <p:ph type="subTitle" idx="1"/>
          </p:nvPr>
        </p:nvSpPr>
        <p:spPr>
          <a:xfrm>
            <a:off x="1835696" y="3611606"/>
            <a:ext cx="6622504" cy="2049641"/>
          </a:xfrm>
          <a:ln>
            <a:noFill/>
          </a:ln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nl-NL" dirty="0" smtClean="0"/>
              <a:t>Klik om het opmaakprofiel van de modelondertitel te bewerken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614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B031C5E-07D5-4D33-9252-8029E25A2CED}" type="datetime1">
              <a:rPr lang="en-US" smtClean="0"/>
              <a:pPr>
                <a:defRPr/>
              </a:pPr>
              <a:t>12/4/12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4B637B53-C177-094B-90DA-0399484299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6" descr="logo 2.eps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288" y="6403975"/>
            <a:ext cx="1543050" cy="38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65" r:id="rId4"/>
    <p:sldLayoutId id="2147483666" r:id="rId5"/>
    <p:sldLayoutId id="2147483667" r:id="rId6"/>
    <p:sldLayoutId id="2147483668" r:id="rId7"/>
    <p:sldLayoutId id="2147483676" r:id="rId8"/>
    <p:sldLayoutId id="2147483669" r:id="rId9"/>
    <p:sldLayoutId id="2147483670" r:id="rId10"/>
    <p:sldLayoutId id="2147483671" r:id="rId11"/>
    <p:sldLayoutId id="2147483672" r:id="rId12"/>
    <p:sldLayoutId id="2147483678" r:id="rId13"/>
    <p:sldLayoutId id="2147483679" r:id="rId14"/>
  </p:sldLayoutIdLst>
  <p:hf sldNum="0" hd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Verdana"/>
          <a:ea typeface="ＭＳ Ｐゴシック" charset="0"/>
          <a:cs typeface="Verdan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Verdana" charset="0"/>
          <a:ea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Verdana"/>
          <a:ea typeface="ＭＳ Ｐゴシック" charset="0"/>
          <a:cs typeface="Verdana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Verdana"/>
          <a:ea typeface="ＭＳ Ｐゴシック" charset="0"/>
          <a:cs typeface="Verdan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cid:image001.gif@01CB9880.0FA7EB90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7" descr="Logo 2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00000">
            <a:off x="-2615406" y="2564606"/>
            <a:ext cx="6873875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8"/>
          <p:cNvSpPr txBox="1">
            <a:spLocks noChangeArrowheads="1"/>
          </p:cNvSpPr>
          <p:nvPr/>
        </p:nvSpPr>
        <p:spPr bwMode="auto">
          <a:xfrm>
            <a:off x="1943100" y="-12700"/>
            <a:ext cx="720090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endParaRPr lang="en-US" dirty="0"/>
          </a:p>
          <a:p>
            <a:r>
              <a:rPr lang="en-US" sz="2400" i="1" dirty="0">
                <a:solidFill>
                  <a:srgbClr val="FF0000"/>
                </a:solidFill>
                <a:latin typeface="Verdana" charset="0"/>
                <a:cs typeface="Verdana" charset="0"/>
              </a:rPr>
              <a:t>Data Archiving and Networked Services</a:t>
            </a:r>
          </a:p>
          <a:p>
            <a:endParaRPr lang="en-US" sz="2000" dirty="0">
              <a:solidFill>
                <a:srgbClr val="FF0000"/>
              </a:solidFill>
              <a:latin typeface="Verdana" charset="0"/>
              <a:cs typeface="Verdana" charset="0"/>
            </a:endParaRPr>
          </a:p>
        </p:txBody>
      </p:sp>
      <p:sp>
        <p:nvSpPr>
          <p:cNvPr id="13317" name="Titel 1"/>
          <p:cNvSpPr>
            <a:spLocks noGrp="1"/>
          </p:cNvSpPr>
          <p:nvPr>
            <p:ph type="ctrTitle"/>
          </p:nvPr>
        </p:nvSpPr>
        <p:spPr>
          <a:xfrm>
            <a:off x="1981200" y="1800224"/>
            <a:ext cx="6781800" cy="4267201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100" dirty="0" smtClean="0">
                <a:latin typeface="Verdana" charset="0"/>
                <a:ea typeface="Verdana" charset="0"/>
                <a:cs typeface="Verdana" charset="0"/>
              </a:rPr>
              <a:t>Cultural </a:t>
            </a:r>
            <a:r>
              <a:rPr lang="en-US" sz="3100" dirty="0">
                <a:latin typeface="Verdana" charset="0"/>
                <a:ea typeface="Verdana" charset="0"/>
                <a:cs typeface="Verdana" charset="0"/>
              </a:rPr>
              <a:t>Changes in the Netherlands, M</a:t>
            </a:r>
            <a:r>
              <a:rPr lang="en-US" sz="3100" dirty="0" smtClean="0">
                <a:latin typeface="Verdana" charset="0"/>
                <a:ea typeface="Verdana" charset="0"/>
                <a:cs typeface="Verdana" charset="0"/>
              </a:rPr>
              <a:t>oving </a:t>
            </a:r>
            <a:r>
              <a:rPr lang="en-US" sz="3100" dirty="0">
                <a:latin typeface="Verdana" charset="0"/>
                <a:ea typeface="Verdana" charset="0"/>
                <a:cs typeface="Verdana" charset="0"/>
              </a:rPr>
              <a:t>from DDI Codebook to DDI Lifecycle </a:t>
            </a:r>
            <a:br>
              <a:rPr lang="en-US" sz="31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3100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31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3100" dirty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31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667" dirty="0" smtClean="0">
                <a:latin typeface="Verdana" charset="0"/>
                <a:ea typeface="Verdana" charset="0"/>
                <a:cs typeface="Verdana" charset="0"/>
              </a:rPr>
              <a:t/>
            </a:r>
            <a:br>
              <a:rPr lang="en-US" sz="2667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Marion Wittenberg (DANS)</a:t>
            </a:r>
            <a:br>
              <a:rPr lang="en-US" sz="2200" dirty="0" smtClean="0">
                <a:latin typeface="Verdana" charset="0"/>
                <a:ea typeface="Verdana" charset="0"/>
                <a:cs typeface="Verdana" charset="0"/>
              </a:rPr>
            </a:b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Edwin de Vet</a:t>
            </a:r>
            <a:r>
              <a:rPr lang="en-US" sz="2200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(</a:t>
            </a:r>
            <a:r>
              <a:rPr lang="en-US" sz="2200" dirty="0" err="1" smtClean="0">
                <a:latin typeface="Verdana" charset="0"/>
                <a:ea typeface="Verdana" charset="0"/>
                <a:cs typeface="Verdana" charset="0"/>
              </a:rPr>
              <a:t>CentERdata</a:t>
            </a:r>
            <a:r>
              <a:rPr lang="en-US" sz="2200" dirty="0" smtClean="0">
                <a:latin typeface="Verdana" charset="0"/>
                <a:ea typeface="Verdana" charset="0"/>
                <a:cs typeface="Verdana" charset="0"/>
              </a:rPr>
              <a:t>)</a:t>
            </a:r>
            <a:r>
              <a:rPr lang="nl-NL" sz="2200" dirty="0" smtClean="0"/>
              <a:t/>
            </a:r>
            <a:br>
              <a:rPr lang="nl-NL" sz="2200" dirty="0" smtClean="0"/>
            </a:br>
            <a:endParaRPr lang="nl-NL" sz="1600" dirty="0" smtClean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5" name="Picture 3" descr="plaatj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44669" y="3759200"/>
            <a:ext cx="2110431" cy="1581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Background of the study Cultural Changes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The old question bank 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Moving form DDI codebook to DDI lifecycle</a:t>
            </a:r>
          </a:p>
          <a:p>
            <a:pPr>
              <a:buClr>
                <a:srgbClr val="FF0000"/>
              </a:buClr>
            </a:pPr>
            <a:r>
              <a:rPr lang="en-GB" sz="2800" dirty="0" smtClean="0">
                <a:ea typeface="ＭＳ Ｐゴシック" pitchFamily="34" charset="-128"/>
              </a:rPr>
              <a:t>DDI issues (Edwin)</a:t>
            </a: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Outline of the presentation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7172" name="Picture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06958" y="5181600"/>
            <a:ext cx="2237041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EDDI2012  3-4 December Bergen-Norway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dirty="0" smtClean="0">
                <a:ea typeface="ＭＳ Ｐゴシック" pitchFamily="34" charset="-128"/>
              </a:rPr>
              <a:t>SCP </a:t>
            </a:r>
            <a:r>
              <a:rPr lang="en-GB" sz="1600" dirty="0">
                <a:ea typeface="ＭＳ Ｐゴシック" pitchFamily="34" charset="-128"/>
              </a:rPr>
              <a:t>(</a:t>
            </a:r>
            <a:r>
              <a:rPr lang="en-GB" sz="1600" dirty="0" smtClean="0">
                <a:ea typeface="ＭＳ Ｐゴシック" pitchFamily="34" charset="-128"/>
              </a:rPr>
              <a:t>the Netherlands Institute of Social Research)</a:t>
            </a: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dirty="0" err="1" smtClean="0">
                <a:ea typeface="ＭＳ Ｐゴシック" pitchFamily="34" charset="-128"/>
              </a:rPr>
              <a:t>CentERdata</a:t>
            </a: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  <a:buFont typeface="Arial" pitchFamily="34" charset="0"/>
              <a:buChar char="•"/>
            </a:pPr>
            <a:r>
              <a:rPr lang="en-GB" dirty="0" smtClean="0">
                <a:ea typeface="ＭＳ Ｐゴシック" pitchFamily="34" charset="-128"/>
              </a:rPr>
              <a:t>DANS</a:t>
            </a:r>
          </a:p>
          <a:p>
            <a:pPr>
              <a:buFont typeface="Wingdings 3" pitchFamily="18" charset="2"/>
              <a:buNone/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Conversion of Question Databank Cultural Changes in an instance of </a:t>
            </a:r>
            <a:r>
              <a:rPr lang="en-GB" dirty="0" err="1" smtClean="0">
                <a:ea typeface="ＭＳ Ｐゴシック" pitchFamily="34" charset="-128"/>
              </a:rPr>
              <a:t>Questasy</a:t>
            </a:r>
            <a:r>
              <a:rPr lang="en-GB" dirty="0" smtClean="0">
                <a:ea typeface="ＭＳ Ｐゴシック" pitchFamily="34" charset="-128"/>
              </a:rPr>
              <a:t> (databank of </a:t>
            </a:r>
            <a:r>
              <a:rPr lang="en-GB" dirty="0" err="1" smtClean="0">
                <a:ea typeface="ＭＳ Ｐゴシック" pitchFamily="34" charset="-128"/>
              </a:rPr>
              <a:t>Centerdata</a:t>
            </a:r>
            <a:r>
              <a:rPr lang="en-GB" dirty="0" smtClean="0">
                <a:ea typeface="ＭＳ Ｐゴシック" pitchFamily="34" charset="-128"/>
              </a:rPr>
              <a:t>)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Project has started in November 2012</a:t>
            </a:r>
          </a:p>
          <a:p>
            <a:pPr lvl="1">
              <a:buFont typeface="Verdana" pitchFamily="34" charset="0"/>
              <a:buNone/>
            </a:pPr>
            <a:endParaRPr lang="en-GB" sz="2800" dirty="0" smtClean="0">
              <a:ea typeface="ＭＳ Ｐゴシック" pitchFamily="34" charset="-128"/>
            </a:endParaRPr>
          </a:p>
          <a:p>
            <a:pPr lvl="1">
              <a:buFont typeface="Verdana" pitchFamily="34" charset="0"/>
              <a:buNone/>
            </a:pPr>
            <a:endParaRPr lang="en-GB" sz="2800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Cooperation of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21508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5778" y="5286374"/>
            <a:ext cx="2098222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2" descr="CentERdata logo"/>
          <p:cNvPicPr>
            <a:picLocks noChangeAspect="1" noChangeArrowheads="1"/>
          </p:cNvPicPr>
          <p:nvPr/>
        </p:nvPicPr>
        <p:blipFill>
          <a:blip r:embed="rId3" r:link="rId4"/>
          <a:srcRect/>
          <a:stretch>
            <a:fillRect/>
          </a:stretch>
        </p:blipFill>
        <p:spPr bwMode="auto">
          <a:xfrm>
            <a:off x="6463506" y="2357438"/>
            <a:ext cx="7143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0" name="Picture 5" descr="dans.bmp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463506" y="3157537"/>
            <a:ext cx="14287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11" name="Picture 6" descr="logo scp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463506" y="1238250"/>
            <a:ext cx="3497263" cy="111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5726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The Survey Cultural Changes</a:t>
            </a:r>
            <a:endParaRPr lang="en-GB" dirty="0">
              <a:solidFill>
                <a:srgbClr val="00A7D4"/>
              </a:solidFill>
            </a:endParaRPr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The Netherlands Institute for Social Research (SCP)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Cross section </a:t>
            </a:r>
            <a:r>
              <a:rPr lang="en-GB" sz="2300" dirty="0" smtClean="0">
                <a:ea typeface="ＭＳ Ｐゴシック" pitchFamily="34" charset="-128"/>
              </a:rPr>
              <a:t>survey </a:t>
            </a:r>
            <a:r>
              <a:rPr lang="en-GB" sz="2300" dirty="0" smtClean="0">
                <a:ea typeface="ＭＳ Ｐゴシック" pitchFamily="34" charset="-128"/>
              </a:rPr>
              <a:t>since 1975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It measures changes in general opinions and attitudes of the Dutch population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Annual till 1999, biannual since then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Face to face and drop-off questionnaire</a:t>
            </a:r>
          </a:p>
          <a:p>
            <a:pPr>
              <a:buClr>
                <a:srgbClr val="FF0000"/>
              </a:buClr>
            </a:pPr>
            <a:r>
              <a:rPr lang="en-GB" sz="2300" dirty="0" smtClean="0">
                <a:ea typeface="ＭＳ Ｐゴシック" pitchFamily="34" charset="-128"/>
              </a:rPr>
              <a:t>Until 2002 International Social Survey Programme (ISSP) part of questionnaire</a:t>
            </a:r>
          </a:p>
          <a:p>
            <a:pPr>
              <a:buFont typeface="Wingdings 3" pitchFamily="18" charset="2"/>
              <a:buNone/>
            </a:pPr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  <a:p>
            <a:endParaRPr lang="en-GB" dirty="0" smtClean="0">
              <a:ea typeface="ＭＳ Ｐゴシック" pitchFamily="34" charset="-128"/>
            </a:endParaRPr>
          </a:p>
        </p:txBody>
      </p:sp>
      <p:pic>
        <p:nvPicPr>
          <p:cNvPr id="11269" name="Picture 6" descr="logo sc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56649" y="5921375"/>
            <a:ext cx="3456507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1"/>
          <p:cNvSpPr>
            <a:spLocks noGrp="1"/>
          </p:cNvSpPr>
          <p:nvPr>
            <p:ph idx="1"/>
          </p:nvPr>
        </p:nvSpPr>
        <p:spPr>
          <a:xfrm>
            <a:off x="428624" y="1730375"/>
            <a:ext cx="8229600" cy="4149725"/>
          </a:xfrm>
        </p:spPr>
        <p:txBody>
          <a:bodyPr/>
          <a:lstStyle/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Documentation of </a:t>
            </a:r>
            <a:r>
              <a:rPr lang="en-GB" sz="2400" dirty="0" smtClean="0">
                <a:ea typeface="ＭＳ Ｐゴシック" pitchFamily="34" charset="-128"/>
              </a:rPr>
              <a:t>every round</a:t>
            </a:r>
            <a:endParaRPr lang="en-GB" sz="2400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Variables keep their variable name over time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Variables can be part of blocks / sets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Emphasis on question wordings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Small changes in wordings can occur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Answer categories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Sample / routing information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Interview instructions</a:t>
            </a:r>
          </a:p>
          <a:p>
            <a:pPr>
              <a:buClr>
                <a:srgbClr val="FF0000"/>
              </a:buClr>
            </a:pPr>
            <a:r>
              <a:rPr lang="en-GB" sz="2400" dirty="0" smtClean="0">
                <a:ea typeface="ＭＳ Ｐゴシック" pitchFamily="34" charset="-128"/>
              </a:rPr>
              <a:t>Concepts, keywords and notes</a:t>
            </a:r>
          </a:p>
          <a:p>
            <a:pPr>
              <a:buClr>
                <a:srgbClr val="FF0000"/>
              </a:buClr>
            </a:pPr>
            <a:endParaRPr lang="en-GB" dirty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sz="2400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sz="2400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624" y="933450"/>
            <a:ext cx="8520113" cy="79692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200" dirty="0" smtClean="0">
                <a:solidFill>
                  <a:srgbClr val="00A7D4"/>
                </a:solidFill>
              </a:rPr>
              <a:t>Question databank Cultural </a:t>
            </a:r>
            <a:r>
              <a:rPr lang="en-GB" sz="3200" dirty="0" smtClean="0">
                <a:solidFill>
                  <a:srgbClr val="00A7D4"/>
                </a:solidFill>
              </a:rPr>
              <a:t>changes (1)</a:t>
            </a:r>
            <a:endParaRPr lang="en-GB" sz="3200" dirty="0">
              <a:solidFill>
                <a:srgbClr val="00A7D4"/>
              </a:solidFill>
            </a:endParaRPr>
          </a:p>
        </p:txBody>
      </p:sp>
      <p:pic>
        <p:nvPicPr>
          <p:cNvPr id="13316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80464" y="5162550"/>
            <a:ext cx="2263536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Back </a:t>
            </a:r>
            <a:r>
              <a:rPr lang="en-GB" dirty="0" smtClean="0">
                <a:ea typeface="ＭＳ Ｐゴシック" pitchFamily="34" charset="-128"/>
              </a:rPr>
              <a:t>office </a:t>
            </a:r>
            <a:r>
              <a:rPr lang="en-GB" dirty="0" smtClean="0">
                <a:ea typeface="ＭＳ Ｐゴシック" pitchFamily="34" charset="-128"/>
              </a:rPr>
              <a:t>system, not web based</a:t>
            </a: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Only available for researchers of the SCP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Study information in other system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Data in other system</a:t>
            </a: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Tool</a:t>
            </a:r>
            <a:r>
              <a:rPr lang="en-GB" dirty="0" smtClean="0">
                <a:ea typeface="ＭＳ Ｐゴシック" pitchFamily="34" charset="-128"/>
              </a:rPr>
              <a:t> </a:t>
            </a:r>
            <a:r>
              <a:rPr lang="en-GB" dirty="0" smtClean="0">
                <a:ea typeface="ＭＳ Ｐゴシック" pitchFamily="34" charset="-128"/>
              </a:rPr>
              <a:t>developed in 2001</a:t>
            </a: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endParaRPr lang="en-GB" dirty="0" smtClean="0">
              <a:ea typeface="ＭＳ Ｐゴシック" pitchFamily="34" charset="-128"/>
            </a:endParaRPr>
          </a:p>
          <a:p>
            <a:pPr>
              <a:buClr>
                <a:srgbClr val="FF0000"/>
              </a:buClr>
            </a:pPr>
            <a:r>
              <a:rPr lang="en-GB" dirty="0" smtClean="0">
                <a:ea typeface="ＭＳ Ｐゴシック" pitchFamily="34" charset="-128"/>
              </a:rPr>
              <a:t>An </a:t>
            </a:r>
            <a:r>
              <a:rPr lang="en-GB" dirty="0" smtClean="0">
                <a:ea typeface="ＭＳ Ｐゴシック" pitchFamily="34" charset="-128"/>
              </a:rPr>
              <a:t>advantage: DANS has used the content for their NESTAR DDI descriptions</a:t>
            </a:r>
          </a:p>
          <a:p>
            <a:endParaRPr lang="en-GB" dirty="0" smtClean="0">
              <a:ea typeface="ＭＳ Ｐゴシック" pitchFamily="34" charset="-128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" y="803275"/>
            <a:ext cx="8229600" cy="1101725"/>
          </a:xfrm>
        </p:spPr>
        <p:txBody>
          <a:bodyPr/>
          <a:lstStyle/>
          <a:p>
            <a:pPr>
              <a:defRPr/>
            </a:pPr>
            <a:r>
              <a:rPr lang="en-GB" dirty="0" smtClean="0">
                <a:solidFill>
                  <a:srgbClr val="00A7D4"/>
                </a:solidFill>
              </a:rPr>
              <a:t>Disadvantages of this system</a:t>
            </a:r>
            <a:endParaRPr lang="en-GB" dirty="0">
              <a:solidFill>
                <a:srgbClr val="00A7D4"/>
              </a:solidFill>
            </a:endParaRPr>
          </a:p>
        </p:txBody>
      </p:sp>
      <p:pic>
        <p:nvPicPr>
          <p:cNvPr id="20484" name="Content Placeholder 3" descr="plaatj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82196" y="2984500"/>
            <a:ext cx="2161804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400" dirty="0"/>
              <a:t>Question belonging to  variable var104 in old </a:t>
            </a:r>
            <a:r>
              <a:rPr lang="en-GB" sz="2400" dirty="0" err="1"/>
              <a:t>questionbank</a:t>
            </a:r>
            <a:endParaRPr lang="en-GB" sz="2400" dirty="0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00188"/>
            <a:ext cx="12192000" cy="76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64917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variable </a:t>
            </a:r>
            <a:r>
              <a:rPr lang="en-GB" dirty="0"/>
              <a:t>var104 </a:t>
            </a:r>
            <a:r>
              <a:rPr lang="en-GB" dirty="0" smtClean="0"/>
              <a:t>in NESSTAR</a:t>
            </a:r>
            <a:endParaRPr lang="en-GB" dirty="0"/>
          </a:p>
        </p:txBody>
      </p:sp>
      <p:pic>
        <p:nvPicPr>
          <p:cNvPr id="7" name="Picture 6" descr="Schermafbeelding 2012-12-03 om 11.59.0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0700" y="1703016"/>
            <a:ext cx="10934700" cy="526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48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>
                <a:solidFill>
                  <a:srgbClr val="00A7D4"/>
                </a:solidFill>
              </a:rPr>
              <a:t>Conversion of </a:t>
            </a:r>
            <a:r>
              <a:rPr lang="en-GB" sz="3200" dirty="0" smtClean="0">
                <a:solidFill>
                  <a:srgbClr val="00A7D4"/>
                </a:solidFill>
              </a:rPr>
              <a:t>metadata into </a:t>
            </a:r>
            <a:r>
              <a:rPr lang="en-GB" sz="3200" dirty="0" err="1" smtClean="0">
                <a:solidFill>
                  <a:srgbClr val="00A7D4"/>
                </a:solidFill>
              </a:rPr>
              <a:t>Questasy</a:t>
            </a:r>
            <a:endParaRPr lang="en-GB" sz="3200" dirty="0">
              <a:solidFill>
                <a:srgbClr val="00A7D4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pPr marL="914400" lvl="2" indent="0">
              <a:buNone/>
            </a:pPr>
            <a:endParaRPr lang="en-GB" dirty="0" smtClean="0"/>
          </a:p>
          <a:p>
            <a:pPr marL="914400" lvl="2" indent="0">
              <a:buNone/>
            </a:pPr>
            <a:r>
              <a:rPr lang="en-GB" dirty="0" smtClean="0"/>
              <a:t>answer categories							DDI-codebook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2540000"/>
            <a:ext cx="3035300" cy="830997"/>
          </a:xfrm>
          <a:prstGeom prst="rect">
            <a:avLst/>
          </a:prstGeom>
          <a:noFill/>
          <a:ln w="38100" cmpd="sng">
            <a:solidFill>
              <a:srgbClr val="00A7D4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Question database </a:t>
            </a:r>
            <a:endParaRPr lang="en-GB" sz="2400" dirty="0" smtClean="0"/>
          </a:p>
          <a:p>
            <a:r>
              <a:rPr lang="en-GB" sz="2400" dirty="0" smtClean="0"/>
              <a:t>Cultural Changes</a:t>
            </a:r>
            <a:endParaRPr lang="en-GB" sz="2400" dirty="0"/>
          </a:p>
        </p:txBody>
      </p:sp>
      <p:sp>
        <p:nvSpPr>
          <p:cNvPr id="8" name="Right Arrow 7"/>
          <p:cNvSpPr/>
          <p:nvPr/>
        </p:nvSpPr>
        <p:spPr>
          <a:xfrm>
            <a:off x="4013200" y="2725419"/>
            <a:ext cx="1879600" cy="29718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6019800" y="2667000"/>
            <a:ext cx="2286000" cy="738664"/>
          </a:xfrm>
          <a:prstGeom prst="rect">
            <a:avLst/>
          </a:prstGeom>
          <a:noFill/>
          <a:ln w="31750">
            <a:solidFill>
              <a:srgbClr val="00A7D4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NESSTAR DDI</a:t>
            </a:r>
          </a:p>
          <a:p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3492500" y="4461133"/>
            <a:ext cx="2997200" cy="830997"/>
          </a:xfrm>
          <a:prstGeom prst="rect">
            <a:avLst/>
          </a:prstGeom>
          <a:noFill/>
          <a:ln w="25400">
            <a:solidFill>
              <a:srgbClr val="00A7D4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Cultural Changes </a:t>
            </a:r>
          </a:p>
          <a:p>
            <a:r>
              <a:rPr lang="en-GB" sz="2400" dirty="0" smtClean="0"/>
              <a:t>Instance of </a:t>
            </a:r>
            <a:r>
              <a:rPr lang="en-GB" sz="2400" dirty="0" err="1" smtClean="0"/>
              <a:t>Questasy</a:t>
            </a:r>
            <a:r>
              <a:rPr lang="en-GB" sz="2400" dirty="0" smtClean="0"/>
              <a:t> </a:t>
            </a:r>
            <a:endParaRPr lang="en-GB" sz="2400" dirty="0"/>
          </a:p>
        </p:txBody>
      </p:sp>
      <p:sp>
        <p:nvSpPr>
          <p:cNvPr id="13" name="Down Arrow 12"/>
          <p:cNvSpPr/>
          <p:nvPr/>
        </p:nvSpPr>
        <p:spPr>
          <a:xfrm>
            <a:off x="3467100" y="3370997"/>
            <a:ext cx="292100" cy="109013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Down Arrow 13"/>
          <p:cNvSpPr/>
          <p:nvPr/>
        </p:nvSpPr>
        <p:spPr>
          <a:xfrm>
            <a:off x="6134100" y="3405664"/>
            <a:ext cx="292100" cy="105546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168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solidFill>
                  <a:srgbClr val="00A7D4"/>
                </a:solidFill>
              </a:rPr>
              <a:t>I</a:t>
            </a:r>
            <a:r>
              <a:rPr lang="nl-NL" dirty="0" smtClean="0">
                <a:solidFill>
                  <a:srgbClr val="00A7D4"/>
                </a:solidFill>
              </a:rPr>
              <a:t>ssues</a:t>
            </a:r>
            <a:endParaRPr lang="nl-NL" dirty="0">
              <a:solidFill>
                <a:srgbClr val="00A7D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DC241F"/>
              </a:buClr>
            </a:pPr>
            <a:r>
              <a:rPr lang="en-US" dirty="0" smtClean="0"/>
              <a:t>Variables in Cultural Changes keep their name over time &gt; need for versioning in </a:t>
            </a:r>
            <a:r>
              <a:rPr lang="en-US" dirty="0" err="1" smtClean="0"/>
              <a:t>Questasy</a:t>
            </a:r>
            <a:endParaRPr lang="en-US" dirty="0" smtClean="0"/>
          </a:p>
          <a:p>
            <a:pPr>
              <a:buClr>
                <a:srgbClr val="DC241F"/>
              </a:buClr>
            </a:pPr>
            <a:r>
              <a:rPr lang="en-US" dirty="0" smtClean="0"/>
              <a:t>But sometimes there are little changes in question wordings &gt; how to deal with that</a:t>
            </a:r>
          </a:p>
          <a:p>
            <a:pPr>
              <a:buClr>
                <a:srgbClr val="DC241F"/>
              </a:buClr>
            </a:pPr>
            <a:r>
              <a:rPr lang="en-US" dirty="0" smtClean="0"/>
              <a:t>Blocks of questions differ over time</a:t>
            </a:r>
          </a:p>
          <a:p>
            <a:pPr>
              <a:buClr>
                <a:srgbClr val="DC241F"/>
              </a:buClr>
            </a:pPr>
            <a:r>
              <a:rPr lang="en-US" dirty="0" err="1"/>
              <a:t>Questasy</a:t>
            </a:r>
            <a:r>
              <a:rPr lang="en-US" dirty="0"/>
              <a:t> is build for panels, Cultural Changes is a cross section </a:t>
            </a:r>
            <a:r>
              <a:rPr lang="en-US" dirty="0" smtClean="0"/>
              <a:t>survey &gt; consequences for shopping basket</a:t>
            </a:r>
            <a:endParaRPr lang="en-US" dirty="0"/>
          </a:p>
          <a:p>
            <a:pPr>
              <a:buClr>
                <a:srgbClr val="DC241F"/>
              </a:buClr>
            </a:pPr>
            <a:endParaRPr lang="en-US" dirty="0" smtClean="0"/>
          </a:p>
          <a:p>
            <a:pPr marL="457200" lvl="1" indent="0">
              <a:buNone/>
            </a:pPr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Question belonging to  variable var104 </a:t>
            </a:r>
            <a:r>
              <a:rPr lang="en-GB" sz="2400" dirty="0" smtClean="0"/>
              <a:t>in </a:t>
            </a:r>
            <a:r>
              <a:rPr lang="en-GB" sz="2400" dirty="0" err="1" smtClean="0"/>
              <a:t>Questasy</a:t>
            </a:r>
            <a:endParaRPr lang="en-GB" sz="2400" dirty="0"/>
          </a:p>
        </p:txBody>
      </p:sp>
      <p:pic>
        <p:nvPicPr>
          <p:cNvPr id="5" name="Picture 4" descr="Schermafbeelding 2012-12-03 om 11.32.0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0900"/>
            <a:ext cx="9144000" cy="496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5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1906588"/>
            <a:ext cx="8229600" cy="928687"/>
          </a:xfrm>
        </p:spPr>
        <p:txBody>
          <a:bodyPr/>
          <a:lstStyle/>
          <a:p>
            <a:r>
              <a:rPr lang="en-US">
                <a:latin typeface="Verdana" charset="0"/>
              </a:rPr>
              <a:t>Thank you for your attention</a:t>
            </a:r>
          </a:p>
        </p:txBody>
      </p:sp>
      <p:sp>
        <p:nvSpPr>
          <p:cNvPr id="9219" name="Subtitle 2"/>
          <p:cNvSpPr>
            <a:spLocks noGrp="1"/>
          </p:cNvSpPr>
          <p:nvPr>
            <p:ph idx="1"/>
          </p:nvPr>
        </p:nvSpPr>
        <p:spPr>
          <a:xfrm>
            <a:off x="236538" y="3673475"/>
            <a:ext cx="8702675" cy="2452688"/>
          </a:xfrm>
        </p:spPr>
        <p:txBody>
          <a:bodyPr/>
          <a:lstStyle/>
          <a:p>
            <a:r>
              <a:rPr lang="en-US" dirty="0">
                <a:latin typeface="Verdana" charset="0"/>
              </a:rPr>
              <a:t>For more information please contact </a:t>
            </a:r>
          </a:p>
          <a:p>
            <a:r>
              <a:rPr lang="en-US" dirty="0" smtClean="0">
                <a:latin typeface="Verdana" charset="0"/>
              </a:rPr>
              <a:t>marion.wittenberg@dans.knaw.nl</a:t>
            </a:r>
            <a:endParaRPr lang="en-US" dirty="0">
              <a:latin typeface="Verdana" charset="0"/>
            </a:endParaRPr>
          </a:p>
          <a:p>
            <a:endParaRPr lang="en-US" dirty="0">
              <a:latin typeface="Verdana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EDDI 5-6 December 2011Gothenborg</a:t>
            </a:r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emplate PPT UK DEF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PPT UK DEF</Template>
  <TotalTime>0</TotalTime>
  <Words>380</Words>
  <Application>Microsoft Macintosh PowerPoint</Application>
  <PresentationFormat>On-screen Show (4:3)</PresentationFormat>
  <Paragraphs>80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Template PPT UK DEF</vt:lpstr>
      <vt:lpstr>Cultural Changes in the Netherlands, Moving from DDI Codebook to DDI Lifecycle     Marion Wittenberg (DANS) Edwin de Vet (CentERdata) </vt:lpstr>
      <vt:lpstr>Outline of the presentation</vt:lpstr>
      <vt:lpstr>Cooperation of</vt:lpstr>
      <vt:lpstr>The Survey Cultural Changes</vt:lpstr>
      <vt:lpstr>Question databank Cultural changes (1)</vt:lpstr>
      <vt:lpstr>Disadvantages of this system</vt:lpstr>
      <vt:lpstr>Question belonging to  variable var104 in old questionbank</vt:lpstr>
      <vt:lpstr>variable var104 in NESSTAR</vt:lpstr>
      <vt:lpstr>Conversion of metadata into Questasy</vt:lpstr>
      <vt:lpstr>Issues</vt:lpstr>
      <vt:lpstr>Question belonging to  variable var104 in Questasy</vt:lpstr>
      <vt:lpstr>Thank you for your attention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Question Bank Cultural Changes in the Netherlands</dc:title>
  <dc:subject>question bank</dc:subject>
  <dc:creator/>
  <cp:keywords/>
  <cp:lastModifiedBy/>
  <cp:revision>1</cp:revision>
  <dcterms:created xsi:type="dcterms:W3CDTF">2011-05-12T14:52:43Z</dcterms:created>
  <dcterms:modified xsi:type="dcterms:W3CDTF">2012-12-04T10:06:08Z</dcterms:modified>
</cp:coreProperties>
</file>