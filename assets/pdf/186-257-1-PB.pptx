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7"/>
  </p:notesMasterIdLst>
  <p:handoutMasterIdLst>
    <p:handoutMasterId r:id="rId18"/>
  </p:handoutMasterIdLst>
  <p:sldIdLst>
    <p:sldId id="270" r:id="rId2"/>
    <p:sldId id="279" r:id="rId3"/>
    <p:sldId id="301" r:id="rId4"/>
    <p:sldId id="290" r:id="rId5"/>
    <p:sldId id="291" r:id="rId6"/>
    <p:sldId id="296" r:id="rId7"/>
    <p:sldId id="295" r:id="rId8"/>
    <p:sldId id="303" r:id="rId9"/>
    <p:sldId id="292" r:id="rId10"/>
    <p:sldId id="298" r:id="rId11"/>
    <p:sldId id="299" r:id="rId12"/>
    <p:sldId id="297" r:id="rId13"/>
    <p:sldId id="304" r:id="rId14"/>
    <p:sldId id="294" r:id="rId15"/>
    <p:sldId id="300" r:id="rId16"/>
  </p:sldIdLst>
  <p:sldSz cx="9144000" cy="6858000" type="screen4x3"/>
  <p:notesSz cx="6797675" cy="9874250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3110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99"/>
    <a:srgbClr val="99CCFF"/>
    <a:srgbClr val="FF0000"/>
    <a:srgbClr val="C0C0C0"/>
    <a:srgbClr val="003366"/>
    <a:srgbClr val="0066CC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93" autoAdjust="0"/>
    <p:restoredTop sz="94660"/>
  </p:normalViewPr>
  <p:slideViewPr>
    <p:cSldViewPr>
      <p:cViewPr>
        <p:scale>
          <a:sx n="110" d="100"/>
          <a:sy n="110" d="100"/>
        </p:scale>
        <p:origin x="-164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-2724" y="-84"/>
      </p:cViewPr>
      <p:guideLst>
        <p:guide orient="horz" pos="3110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fr-FR" altLang="fr-FR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fr-FR" altLang="fr-FR"/>
          </a:p>
        </p:txBody>
      </p:sp>
      <p:sp>
        <p:nvSpPr>
          <p:cNvPr id="378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8950"/>
            <a:ext cx="2946400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fr-FR" altLang="fr-FR"/>
          </a:p>
        </p:txBody>
      </p:sp>
      <p:sp>
        <p:nvSpPr>
          <p:cNvPr id="378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E16BD17-0920-4949-893C-D06EFB9C37E4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6405657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fr-FR" altLang="fr-FR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fr-FR" alt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1863" y="741363"/>
            <a:ext cx="4935537" cy="37020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15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les styles du texte du masque</a:t>
            </a:r>
          </a:p>
          <a:p>
            <a:pPr lvl="1"/>
            <a:r>
              <a:rPr lang="fr-FR" altLang="fr-FR" smtClean="0"/>
              <a:t>Deuxième niveau</a:t>
            </a:r>
          </a:p>
          <a:p>
            <a:pPr lvl="2"/>
            <a:r>
              <a:rPr lang="fr-FR" altLang="fr-FR" smtClean="0"/>
              <a:t>Troisième niveau</a:t>
            </a:r>
          </a:p>
          <a:p>
            <a:pPr lvl="3"/>
            <a:r>
              <a:rPr lang="fr-FR" altLang="fr-FR" smtClean="0"/>
              <a:t>Quatrième niveau</a:t>
            </a:r>
          </a:p>
          <a:p>
            <a:pPr lvl="4"/>
            <a:r>
              <a:rPr lang="fr-FR" altLang="fr-FR" smtClean="0"/>
              <a:t>Cinquième niveau</a:t>
            </a:r>
          </a:p>
        </p:txBody>
      </p:sp>
      <p:sp>
        <p:nvSpPr>
          <p:cNvPr id="215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8950"/>
            <a:ext cx="2946400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fr-FR" altLang="fr-FR"/>
          </a:p>
        </p:txBody>
      </p:sp>
      <p:sp>
        <p:nvSpPr>
          <p:cNvPr id="215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B855ABE-89E8-410C-8814-E1E9A56EEE20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60506799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855ABE-89E8-410C-8814-E1E9A56EEE20}" type="slidenum">
              <a:rPr lang="fr-FR" altLang="fr-FR" smtClean="0"/>
              <a:pPr/>
              <a:t>1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1700150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855ABE-89E8-410C-8814-E1E9A56EEE20}" type="slidenum">
              <a:rPr lang="fr-FR" altLang="fr-FR" smtClean="0"/>
              <a:pPr/>
              <a:t>2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3813012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855ABE-89E8-410C-8814-E1E9A56EEE20}" type="slidenum">
              <a:rPr lang="fr-FR" altLang="fr-FR" smtClean="0"/>
              <a:pPr/>
              <a:t>3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9209530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855ABE-89E8-410C-8814-E1E9A56EEE20}" type="slidenum">
              <a:rPr lang="fr-FR" altLang="fr-FR" smtClean="0"/>
              <a:pPr/>
              <a:t>4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40350870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855ABE-89E8-410C-8814-E1E9A56EEE20}" type="slidenum">
              <a:rPr lang="fr-FR" altLang="fr-FR" smtClean="0"/>
              <a:pPr/>
              <a:t>5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3929017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855ABE-89E8-410C-8814-E1E9A56EEE20}" type="slidenum">
              <a:rPr lang="fr-FR" altLang="fr-FR" smtClean="0"/>
              <a:pPr/>
              <a:t>6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433989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855ABE-89E8-410C-8814-E1E9A56EEE20}" type="slidenum">
              <a:rPr lang="fr-FR" altLang="fr-FR" smtClean="0"/>
              <a:pPr/>
              <a:t>7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6391702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855ABE-89E8-410C-8814-E1E9A56EEE20}" type="slidenum">
              <a:rPr lang="fr-FR" altLang="fr-FR" smtClean="0"/>
              <a:pPr/>
              <a:t>8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2569548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855ABE-89E8-410C-8814-E1E9A56EEE20}" type="slidenum">
              <a:rPr lang="fr-FR" altLang="fr-FR" smtClean="0"/>
              <a:pPr/>
              <a:t>9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8974127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855ABE-89E8-410C-8814-E1E9A56EEE20}" type="slidenum">
              <a:rPr lang="fr-FR" altLang="fr-FR" smtClean="0"/>
              <a:pPr/>
              <a:t>10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9287375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855ABE-89E8-410C-8814-E1E9A56EEE20}" type="slidenum">
              <a:rPr lang="fr-FR" altLang="fr-FR" smtClean="0"/>
              <a:pPr/>
              <a:t>11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5056158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855ABE-89E8-410C-8814-E1E9A56EEE20}" type="slidenum">
              <a:rPr lang="fr-FR" altLang="fr-FR" smtClean="0"/>
              <a:pPr/>
              <a:t>12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213660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855ABE-89E8-410C-8814-E1E9A56EEE20}" type="slidenum">
              <a:rPr lang="fr-FR" altLang="fr-FR" smtClean="0"/>
              <a:pPr/>
              <a:t>13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41645945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855ABE-89E8-410C-8814-E1E9A56EEE20}" type="slidenum">
              <a:rPr lang="fr-FR" altLang="fr-FR" smtClean="0"/>
              <a:pPr/>
              <a:t>14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5005918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855ABE-89E8-410C-8814-E1E9A56EEE20}" type="slidenum">
              <a:rPr lang="fr-FR" altLang="fr-FR" smtClean="0"/>
              <a:pPr/>
              <a:t>15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9796882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altLang="fr-FR" noProof="0" dirty="0" smtClean="0"/>
              <a:t>Modifiez le style du titre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altLang="fr-FR" noProof="0" dirty="0" smtClean="0"/>
              <a:t>Modifiez le style des sous-titres du masque</a:t>
            </a:r>
          </a:p>
        </p:txBody>
      </p:sp>
      <p:sp>
        <p:nvSpPr>
          <p:cNvPr id="19460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19461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274D0F4A-C7D5-4F89-BE77-4F39399868BC}" type="slidenum">
              <a:rPr lang="fr-FR" altLang="fr-FR"/>
              <a:pPr/>
              <a:t>‹N°›</a:t>
            </a:fld>
            <a:endParaRPr lang="fr-FR" altLang="fr-FR"/>
          </a:p>
        </p:txBody>
      </p:sp>
      <p:pic>
        <p:nvPicPr>
          <p:cNvPr id="19465" name="Picture 9" descr="logoCNR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8830" y="163860"/>
            <a:ext cx="1874902" cy="719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C:\Users\marie.darcimoles\00_CDSP_Mai 2015\COMMUNICATION_CDSP\LOGOS\CDSP\Pack-logo-CDSP\03_RGB\SciencesPO_Appellations_CDSP_RGB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078" y="-5480"/>
            <a:ext cx="3353580" cy="1043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Connecteur droit 2"/>
          <p:cNvCxnSpPr/>
          <p:nvPr userDrawn="1"/>
        </p:nvCxnSpPr>
        <p:spPr>
          <a:xfrm>
            <a:off x="0" y="908719"/>
            <a:ext cx="9144000" cy="0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11188" y="1048345"/>
            <a:ext cx="8137525" cy="652463"/>
          </a:xfrm>
        </p:spPr>
        <p:txBody>
          <a:bodyPr/>
          <a:lstStyle>
            <a:lvl1pPr algn="l">
              <a:defRPr sz="2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 smtClean="0"/>
              <a:t>Modifiez le style du titre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27584" y="1844824"/>
            <a:ext cx="7920880" cy="4536504"/>
          </a:xfrm>
        </p:spPr>
        <p:txBody>
          <a:bodyPr/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anose="05000000000000000000" pitchFamily="2" charset="2"/>
              <a:buChar char="ü"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 smtClean="0"/>
              <a:t>Modifiez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altLang="fr-FR" dirty="0" smtClean="0"/>
              <a:t>1</a:t>
            </a:r>
            <a:endParaRPr lang="fr-FR" altLang="fr-FR" dirty="0"/>
          </a:p>
        </p:txBody>
      </p:sp>
    </p:spTree>
    <p:extLst>
      <p:ext uri="{BB962C8B-B14F-4D97-AF65-F5344CB8AC3E}">
        <p14:creationId xmlns:p14="http://schemas.microsoft.com/office/powerpoint/2010/main" val="144649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8DB33C-D576-4568-AB4F-0CF7E7516698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206683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87450" y="1700213"/>
            <a:ext cx="3673475" cy="4608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013325" y="1700213"/>
            <a:ext cx="3673475" cy="4608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5FDE17-95A0-490B-8EDE-E33A1CB96252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937762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6E8EE2-022C-4CA3-9F4F-BF8C013830B3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786986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788575-9002-43A7-A4F0-940CD2BC76E8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4622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20D2A2-7EE0-4E30-B533-EA8D98A5AFA6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742575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65782F-2319-405C-B976-43261642FCEA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615709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6435F9-69A9-4C0B-9FD1-5C06F58E85AB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4185462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375248-8183-4553-AD2F-B219C76315F0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348880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715125" y="765175"/>
            <a:ext cx="2033588" cy="5543550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11188" y="765175"/>
            <a:ext cx="5951537" cy="5543550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2A58A3-94A3-4963-BD50-F369C491B3AC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673146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940539"/>
            <a:ext cx="8137525" cy="652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dirty="0" smtClean="0"/>
              <a:t>Cliquez pour modifier le style du titre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7450" y="1700213"/>
            <a:ext cx="7499350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dirty="0" smtClean="0"/>
              <a:t>Cliquez pour modifier les styles du texte du masque</a:t>
            </a:r>
          </a:p>
          <a:p>
            <a:pPr lvl="1"/>
            <a:r>
              <a:rPr lang="fr-FR" altLang="fr-FR" dirty="0" smtClean="0"/>
              <a:t>Deuxième niveau</a:t>
            </a:r>
          </a:p>
          <a:p>
            <a:pPr lvl="2"/>
            <a:r>
              <a:rPr lang="fr-FR" altLang="fr-FR" dirty="0" smtClean="0"/>
              <a:t>Troisième niveau</a:t>
            </a:r>
          </a:p>
        </p:txBody>
      </p:sp>
      <p:sp>
        <p:nvSpPr>
          <p:cNvPr id="1843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55650" y="6453188"/>
            <a:ext cx="1835150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fr-FR" altLang="fr-FR"/>
          </a:p>
        </p:txBody>
      </p:sp>
      <p:sp>
        <p:nvSpPr>
          <p:cNvPr id="1843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53188"/>
            <a:ext cx="2895600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fr-FR" altLang="fr-FR"/>
          </a:p>
        </p:txBody>
      </p:sp>
      <p:sp>
        <p:nvSpPr>
          <p:cNvPr id="1843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53188"/>
            <a:ext cx="2133600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EC86F57-C6D1-4B47-AB46-58080113BA1D}" type="slidenum">
              <a:rPr lang="fr-FR" altLang="fr-FR"/>
              <a:pPr/>
              <a:t>‹N°›</a:t>
            </a:fld>
            <a:endParaRPr lang="fr-FR" altLang="fr-FR"/>
          </a:p>
        </p:txBody>
      </p:sp>
      <p:pic>
        <p:nvPicPr>
          <p:cNvPr id="18441" name="Picture 9" descr="logoCNRS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2424" y="133623"/>
            <a:ext cx="1643795" cy="631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C:\Users\marie.darcimoles\00_CDSP_Mai 2015\COMMUNICATION_CDSP\LOGOS\CDSP\Pack-logo-CDSP\03_RGB\SciencesPO_Appellations_CDSP_RGB.png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5" y="7046"/>
            <a:ext cx="3024335" cy="941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Connecteur droit 11"/>
          <p:cNvCxnSpPr/>
          <p:nvPr userDrawn="1"/>
        </p:nvCxnSpPr>
        <p:spPr>
          <a:xfrm>
            <a:off x="0" y="908719"/>
            <a:ext cx="9144000" cy="0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336699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336699"/>
          </a:solidFill>
          <a:latin typeface="Lucida Sans Unicode" pitchFamily="34" charset="0"/>
          <a:cs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336699"/>
          </a:solidFill>
          <a:latin typeface="Lucida Sans Unicode" pitchFamily="34" charset="0"/>
          <a:cs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336699"/>
          </a:solidFill>
          <a:latin typeface="Lucida Sans Unicode" pitchFamily="34" charset="0"/>
          <a:cs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336699"/>
          </a:solidFill>
          <a:latin typeface="Lucida Sans Unicode" pitchFamily="34" charset="0"/>
          <a:cs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336699"/>
          </a:solidFill>
          <a:latin typeface="Lucida Sans Unicode" pitchFamily="34" charset="0"/>
          <a:cs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336699"/>
          </a:solidFill>
          <a:latin typeface="Lucida Sans Unicode" pitchFamily="34" charset="0"/>
          <a:cs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336699"/>
          </a:solidFill>
          <a:latin typeface="Lucida Sans Unicode" pitchFamily="34" charset="0"/>
          <a:cs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336699"/>
          </a:solidFill>
          <a:latin typeface="Lucida Sans Unicode" pitchFamily="34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99CCFF"/>
        </a:buClr>
        <a:buSzPct val="130000"/>
        <a:buFont typeface="Wingdings" pitchFamily="2" charset="2"/>
        <a:buChar char="§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−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A1_DANCIU_LECORGNE_MAIROT_Annexe_1_ddi_l_profile.pdf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A1_DANCIU_LECORGNE_MAIROT_Annexe_2_ddi_c_intpol.pdf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hyperlink" Target="A1_DANCIU_LECORGNE_MAIROT_Annexe_3_ddi_l_intpol.pdf" TargetMode="Externa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7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259632" y="4509120"/>
            <a:ext cx="6400800" cy="1201737"/>
          </a:xfrm>
        </p:spPr>
        <p:txBody>
          <a:bodyPr/>
          <a:lstStyle/>
          <a:p>
            <a:r>
              <a:rPr lang="en-US" altLang="fr-FR" sz="2000" dirty="0" smtClean="0">
                <a:solidFill>
                  <a:srgbClr val="336699"/>
                </a:solidFill>
              </a:rPr>
              <a:t>EDDI15 – 7</a:t>
            </a:r>
            <a:r>
              <a:rPr lang="en-US" altLang="fr-FR" sz="2000" baseline="30000" dirty="0" smtClean="0">
                <a:solidFill>
                  <a:srgbClr val="336699"/>
                </a:solidFill>
              </a:rPr>
              <a:t>th</a:t>
            </a:r>
            <a:r>
              <a:rPr lang="en-US" altLang="fr-FR" sz="2000" dirty="0" smtClean="0">
                <a:solidFill>
                  <a:srgbClr val="336699"/>
                </a:solidFill>
              </a:rPr>
              <a:t> Annual European DDI User Conference</a:t>
            </a:r>
          </a:p>
          <a:p>
            <a:r>
              <a:rPr lang="en-US" altLang="fr-FR" sz="2000" dirty="0" smtClean="0">
                <a:solidFill>
                  <a:srgbClr val="336699"/>
                </a:solidFill>
              </a:rPr>
              <a:t>December,2 2015, Copenhagen</a:t>
            </a:r>
          </a:p>
          <a:p>
            <a:endParaRPr lang="en-US" altLang="fr-FR" sz="2000" dirty="0" smtClean="0">
              <a:solidFill>
                <a:srgbClr val="336699"/>
              </a:solidFill>
            </a:endParaRPr>
          </a:p>
          <a:p>
            <a:r>
              <a:rPr lang="en-US" altLang="fr-FR" sz="2000" dirty="0" smtClean="0">
                <a:solidFill>
                  <a:srgbClr val="336699"/>
                </a:solidFill>
              </a:rPr>
              <a:t>Alina </a:t>
            </a:r>
            <a:r>
              <a:rPr lang="en-US" altLang="fr-FR" sz="2000" dirty="0" err="1" smtClean="0">
                <a:solidFill>
                  <a:srgbClr val="336699"/>
                </a:solidFill>
              </a:rPr>
              <a:t>Danciu</a:t>
            </a:r>
            <a:r>
              <a:rPr lang="en-US" altLang="fr-FR" sz="2000" dirty="0" smtClean="0">
                <a:solidFill>
                  <a:srgbClr val="336699"/>
                </a:solidFill>
              </a:rPr>
              <a:t>, Simon Le </a:t>
            </a:r>
            <a:r>
              <a:rPr lang="en-US" altLang="fr-FR" sz="2000" dirty="0" err="1" smtClean="0">
                <a:solidFill>
                  <a:srgbClr val="336699"/>
                </a:solidFill>
              </a:rPr>
              <a:t>Corgne</a:t>
            </a:r>
            <a:r>
              <a:rPr lang="en-US" altLang="fr-FR" sz="2000" dirty="0" smtClean="0">
                <a:solidFill>
                  <a:srgbClr val="336699"/>
                </a:solidFill>
              </a:rPr>
              <a:t>, Alexandre </a:t>
            </a:r>
            <a:r>
              <a:rPr lang="en-US" altLang="fr-FR" sz="2000" dirty="0" err="1" smtClean="0">
                <a:solidFill>
                  <a:srgbClr val="336699"/>
                </a:solidFill>
              </a:rPr>
              <a:t>Mairot</a:t>
            </a:r>
            <a:endParaRPr lang="en-US" altLang="fr-FR" sz="2000" dirty="0" smtClean="0">
              <a:solidFill>
                <a:srgbClr val="336699"/>
              </a:solidFill>
            </a:endParaRPr>
          </a:p>
        </p:txBody>
      </p:sp>
      <p:sp>
        <p:nvSpPr>
          <p:cNvPr id="28678" name="Rectangle 6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GB" altLang="fr-FR" b="1" dirty="0" smtClean="0"/>
              <a:t>Experimenting with DDI-L at the French </a:t>
            </a:r>
            <a:r>
              <a:rPr lang="en-GB" altLang="fr-FR" b="1" dirty="0" err="1" smtClean="0"/>
              <a:t>Center</a:t>
            </a:r>
            <a:r>
              <a:rPr lang="en-GB" altLang="fr-FR" b="1" dirty="0" smtClean="0"/>
              <a:t> of Socio-Political Data</a:t>
            </a:r>
            <a:endParaRPr lang="en-GB" altLang="fr-FR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fr-FR" dirty="0" smtClean="0"/>
              <a:t>Institution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Center of Socio-Political Data (CDSP)</a:t>
            </a:r>
          </a:p>
          <a:p>
            <a:pPr lvl="1"/>
            <a:r>
              <a:rPr lang="en-US" dirty="0"/>
              <a:t>T</a:t>
            </a:r>
            <a:r>
              <a:rPr lang="en-US" dirty="0" smtClean="0"/>
              <a:t>he </a:t>
            </a:r>
            <a:r>
              <a:rPr lang="en-US" dirty="0" err="1" smtClean="0"/>
              <a:t>Réseau</a:t>
            </a:r>
            <a:r>
              <a:rPr lang="en-US" dirty="0" smtClean="0"/>
              <a:t> </a:t>
            </a:r>
            <a:r>
              <a:rPr lang="en-US" dirty="0" err="1" smtClean="0"/>
              <a:t>Quetelet</a:t>
            </a:r>
            <a:r>
              <a:rPr lang="en-US" dirty="0" smtClean="0"/>
              <a:t> partner, the French portal for </a:t>
            </a:r>
            <a:r>
              <a:rPr lang="en-US" smtClean="0"/>
              <a:t>data in humanities </a:t>
            </a:r>
            <a:r>
              <a:rPr lang="en-US" dirty="0" smtClean="0"/>
              <a:t>and social sciences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The CDSP started disseminating surveys in 2005</a:t>
            </a:r>
          </a:p>
          <a:p>
            <a:pPr lvl="1"/>
            <a:r>
              <a:rPr lang="en-US" dirty="0" smtClean="0"/>
              <a:t>About 220 data files are documented and disseminated</a:t>
            </a:r>
          </a:p>
        </p:txBody>
      </p:sp>
    </p:spTree>
    <p:extLst>
      <p:ext uri="{BB962C8B-B14F-4D97-AF65-F5344CB8AC3E}">
        <p14:creationId xmlns:p14="http://schemas.microsoft.com/office/powerpoint/2010/main" val="4147116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 smtClean="0"/>
              <a:t>Summary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Definition of a DDI-L profile</a:t>
            </a:r>
          </a:p>
          <a:p>
            <a:pPr lvl="1"/>
            <a:r>
              <a:rPr lang="en-GB" dirty="0" smtClean="0"/>
              <a:t>Our DDI-C template</a:t>
            </a:r>
          </a:p>
          <a:p>
            <a:pPr lvl="1"/>
            <a:r>
              <a:rPr lang="en-GB" dirty="0" smtClean="0"/>
              <a:t>Mapping a DDI-C template into a DDI-L </a:t>
            </a:r>
            <a:r>
              <a:rPr lang="en-GB" dirty="0" smtClean="0">
                <a:sym typeface="Wingdings" panose="05000000000000000000" pitchFamily="2" charset="2"/>
              </a:rPr>
              <a:t>template</a:t>
            </a:r>
            <a:endParaRPr lang="en-GB" dirty="0" smtClean="0"/>
          </a:p>
          <a:p>
            <a:pPr lvl="1"/>
            <a:r>
              <a:rPr lang="en-GB" dirty="0" smtClean="0"/>
              <a:t>XSLT to create a DDI-L profile</a:t>
            </a:r>
          </a:p>
          <a:p>
            <a:pPr lvl="1"/>
            <a:endParaRPr lang="en-GB" dirty="0" smtClean="0"/>
          </a:p>
          <a:p>
            <a:r>
              <a:rPr lang="en-GB" dirty="0" smtClean="0">
                <a:solidFill>
                  <a:schemeClr val="bg1">
                    <a:lumMod val="50000"/>
                  </a:schemeClr>
                </a:solidFill>
              </a:rPr>
              <a:t>A first version of a metadata system</a:t>
            </a:r>
          </a:p>
          <a:p>
            <a:pPr lvl="1"/>
            <a:r>
              <a:rPr lang="en-GB" dirty="0" smtClean="0">
                <a:solidFill>
                  <a:schemeClr val="bg1">
                    <a:lumMod val="50000"/>
                  </a:schemeClr>
                </a:solidFill>
              </a:rPr>
              <a:t>Tools</a:t>
            </a:r>
          </a:p>
          <a:p>
            <a:pPr lvl="1"/>
            <a:r>
              <a:rPr lang="en-GB" dirty="0" smtClean="0">
                <a:solidFill>
                  <a:schemeClr val="bg1">
                    <a:lumMod val="50000"/>
                  </a:schemeClr>
                </a:solidFill>
              </a:rPr>
              <a:t>Logical data model</a:t>
            </a:r>
          </a:p>
          <a:p>
            <a:pPr lvl="1"/>
            <a:r>
              <a:rPr lang="en-GB" dirty="0" smtClean="0">
                <a:solidFill>
                  <a:schemeClr val="bg1">
                    <a:lumMod val="50000"/>
                  </a:schemeClr>
                </a:solidFill>
              </a:rPr>
              <a:t>Programs, interfaces and procedures</a:t>
            </a:r>
          </a:p>
          <a:p>
            <a:pPr lvl="1"/>
            <a:endParaRPr lang="en-GB" dirty="0" smtClean="0"/>
          </a:p>
          <a:p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3545651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600" dirty="0" smtClean="0"/>
              <a:t>Our first </a:t>
            </a:r>
            <a:r>
              <a:rPr lang="fr-FR" sz="2600" dirty="0" err="1" smtClean="0"/>
              <a:t>steps</a:t>
            </a:r>
            <a:r>
              <a:rPr lang="fr-FR" sz="2600" dirty="0" smtClean="0"/>
              <a:t> </a:t>
            </a:r>
            <a:r>
              <a:rPr lang="fr-FR" sz="2600" dirty="0" err="1" smtClean="0"/>
              <a:t>towards</a:t>
            </a:r>
            <a:r>
              <a:rPr lang="fr-FR" sz="2600" dirty="0" smtClean="0"/>
              <a:t> a new </a:t>
            </a:r>
            <a:r>
              <a:rPr lang="fr-FR" sz="2600" dirty="0" err="1" smtClean="0"/>
              <a:t>metadata</a:t>
            </a:r>
            <a:r>
              <a:rPr lang="fr-FR" sz="2600" dirty="0" smtClean="0"/>
              <a:t> system</a:t>
            </a:r>
            <a:endParaRPr lang="fr-FR" sz="26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fr-FR" dirty="0" smtClean="0">
                <a:solidFill>
                  <a:srgbClr val="000000"/>
                </a:solidFill>
                <a:ea typeface="ＭＳ Ｐゴシック" charset="-128"/>
              </a:rPr>
              <a:t>The datasets are disseminated in </a:t>
            </a:r>
            <a:r>
              <a:rPr lang="en-GB" altLang="fr-FR" b="1" dirty="0" smtClean="0">
                <a:solidFill>
                  <a:srgbClr val="000000"/>
                </a:solidFill>
                <a:ea typeface="ＭＳ Ｐゴシック" charset="-128"/>
              </a:rPr>
              <a:t>DDI-C </a:t>
            </a:r>
            <a:r>
              <a:rPr lang="en-GB" altLang="fr-FR" dirty="0" smtClean="0">
                <a:solidFill>
                  <a:srgbClr val="000000"/>
                </a:solidFill>
                <a:ea typeface="ＭＳ Ｐゴシック" charset="-128"/>
              </a:rPr>
              <a:t>on a </a:t>
            </a:r>
            <a:r>
              <a:rPr lang="en-GB" altLang="fr-FR" dirty="0" err="1" smtClean="0">
                <a:solidFill>
                  <a:srgbClr val="000000"/>
                </a:solidFill>
                <a:ea typeface="ＭＳ Ｐゴシック" charset="-128"/>
              </a:rPr>
              <a:t>Nesstar</a:t>
            </a:r>
            <a:r>
              <a:rPr lang="en-GB" altLang="fr-FR" dirty="0" smtClean="0">
                <a:solidFill>
                  <a:srgbClr val="000000"/>
                </a:solidFill>
                <a:ea typeface="ＭＳ Ｐゴシック" charset="-128"/>
              </a:rPr>
              <a:t> server;</a:t>
            </a:r>
          </a:p>
          <a:p>
            <a:endParaRPr lang="en-GB" altLang="fr-FR" dirty="0" smtClean="0">
              <a:solidFill>
                <a:srgbClr val="000000"/>
              </a:solidFill>
              <a:ea typeface="ＭＳ Ｐゴシック" charset="-128"/>
            </a:endParaRPr>
          </a:p>
          <a:p>
            <a:r>
              <a:rPr lang="en-GB" altLang="fr-FR" dirty="0" smtClean="0">
                <a:solidFill>
                  <a:srgbClr val="000000"/>
                </a:solidFill>
                <a:ea typeface="ＭＳ Ｐゴシック" charset="-128"/>
              </a:rPr>
              <a:t>Today, we are building </a:t>
            </a:r>
            <a:r>
              <a:rPr lang="en-GB" altLang="fr-FR" b="1" dirty="0" smtClean="0">
                <a:solidFill>
                  <a:srgbClr val="000000"/>
                </a:solidFill>
                <a:ea typeface="ＭＳ Ｐゴシック" charset="-128"/>
              </a:rPr>
              <a:t>a </a:t>
            </a:r>
            <a:r>
              <a:rPr lang="en-GB" altLang="fr-FR" b="1" dirty="0">
                <a:solidFill>
                  <a:srgbClr val="000000"/>
                </a:solidFill>
                <a:ea typeface="ＭＳ Ｐゴシック" charset="-128"/>
              </a:rPr>
              <a:t>DDI-L </a:t>
            </a:r>
            <a:r>
              <a:rPr lang="en-GB" altLang="fr-FR" b="1" dirty="0" smtClean="0">
                <a:solidFill>
                  <a:srgbClr val="000000"/>
                </a:solidFill>
                <a:ea typeface="ＭＳ Ｐゴシック" charset="-128"/>
              </a:rPr>
              <a:t>compliant metadata system</a:t>
            </a:r>
            <a:r>
              <a:rPr lang="en-GB" altLang="fr-FR" dirty="0" smtClean="0">
                <a:solidFill>
                  <a:srgbClr val="000000"/>
                </a:solidFill>
                <a:ea typeface="ＭＳ Ｐゴシック" charset="-128"/>
              </a:rPr>
              <a:t>:</a:t>
            </a:r>
          </a:p>
          <a:p>
            <a:pPr lvl="1"/>
            <a:r>
              <a:rPr lang="en-GB" altLang="fr-FR" dirty="0" smtClean="0">
                <a:solidFill>
                  <a:srgbClr val="000000"/>
                </a:solidFill>
                <a:ea typeface="ＭＳ Ｐゴシック" charset="-128"/>
              </a:rPr>
              <a:t>DDI-L profile defined</a:t>
            </a:r>
          </a:p>
          <a:p>
            <a:pPr lvl="1"/>
            <a:r>
              <a:rPr lang="en-GB" altLang="fr-FR" dirty="0" smtClean="0">
                <a:solidFill>
                  <a:srgbClr val="000000"/>
                </a:solidFill>
                <a:ea typeface="ＭＳ Ｐゴシック" charset="-128"/>
              </a:rPr>
              <a:t>First version of our metadata system built</a:t>
            </a:r>
          </a:p>
          <a:p>
            <a:pPr lvl="1"/>
            <a:r>
              <a:rPr lang="en-GB" altLang="fr-FR" dirty="0" smtClean="0">
                <a:solidFill>
                  <a:srgbClr val="000000"/>
                </a:solidFill>
                <a:ea typeface="ＭＳ Ｐゴシック" charset="-128"/>
              </a:rPr>
              <a:t>First programs and </a:t>
            </a:r>
            <a:r>
              <a:rPr lang="en-GB" altLang="fr-FR" dirty="0" smtClean="0">
                <a:solidFill>
                  <a:srgbClr val="000000"/>
                </a:solidFill>
                <a:ea typeface="ＭＳ Ｐゴシック" charset="-128"/>
              </a:rPr>
              <a:t>procedures </a:t>
            </a:r>
            <a:r>
              <a:rPr lang="en-GB" altLang="fr-FR" dirty="0" smtClean="0">
                <a:solidFill>
                  <a:srgbClr val="000000"/>
                </a:solidFill>
                <a:ea typeface="ＭＳ Ｐゴシック" charset="-128"/>
              </a:rPr>
              <a:t>written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44360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ln>
            <a:solidFill>
              <a:schemeClr val="accent1"/>
            </a:solidFill>
          </a:ln>
        </p:spPr>
        <p:txBody>
          <a:bodyPr/>
          <a:lstStyle/>
          <a:p>
            <a:r>
              <a:rPr lang="en-GB" dirty="0" smtClean="0"/>
              <a:t>DDI-L Profile: our DDI-C template</a:t>
            </a:r>
            <a:endParaRPr lang="en-GB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FR" dirty="0"/>
          </a:p>
          <a:p>
            <a:endParaRPr lang="fr-FR" dirty="0" smtClean="0"/>
          </a:p>
          <a:p>
            <a:endParaRPr lang="fr-FR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4857130"/>
              </p:ext>
            </p:extLst>
          </p:nvPr>
        </p:nvGraphicFramePr>
        <p:xfrm>
          <a:off x="2051720" y="2204864"/>
          <a:ext cx="1678815" cy="3644172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241398"/>
                <a:gridCol w="351125"/>
                <a:gridCol w="427933"/>
                <a:gridCol w="658359"/>
              </a:tblGrid>
              <a:tr h="0">
                <a:tc gridSpan="4">
                  <a:txBody>
                    <a:bodyPr/>
                    <a:lstStyle/>
                    <a:p>
                      <a:pPr algn="l" rtl="0" fontAlgn="ctr"/>
                      <a:r>
                        <a:rPr lang="fr-FR" sz="800" b="1" u="none" strike="noStrike" dirty="0" err="1">
                          <a:effectLst/>
                        </a:rPr>
                        <a:t>codebook</a:t>
                      </a:r>
                      <a:endParaRPr lang="fr-FR" sz="800" b="1" i="0" u="none" strike="noStrike" dirty="0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docDscr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citation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titlStmt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stdyDscr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citation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titlStmt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rspStmt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prodStmt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distStmt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serStmt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verStmt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biblCit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stdyInfo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subject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 dirty="0">
                          <a:effectLst/>
                        </a:rPr>
                        <a:t>+</a:t>
                      </a:r>
                      <a:endParaRPr lang="fr-FR" sz="800" b="0" i="0" u="none" strike="noStrike" dirty="0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abstract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sumDscr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method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dataColl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notes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dataAccs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setAvail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useStmt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othrStdyMat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relMat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relStdy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relPubl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 dirty="0" err="1">
                          <a:effectLst/>
                        </a:rPr>
                        <a:t>othRefs</a:t>
                      </a:r>
                      <a:endParaRPr lang="fr-FR" sz="800" b="0" i="0" u="none" strike="noStrike" dirty="0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8229" marR="8229" marT="8229" marB="0" anchor="ctr"/>
                </a:tc>
              </a:tr>
            </a:tbl>
          </a:graphicData>
        </a:graphic>
      </p:graphicFrame>
      <p:graphicFrame>
        <p:nvGraphicFramePr>
          <p:cNvPr id="8" name="Tableau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709200"/>
              </p:ext>
            </p:extLst>
          </p:nvPr>
        </p:nvGraphicFramePr>
        <p:xfrm>
          <a:off x="4788024" y="2132856"/>
          <a:ext cx="1468963" cy="4131872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211223"/>
                <a:gridCol w="307234"/>
                <a:gridCol w="374442"/>
                <a:gridCol w="576064"/>
              </a:tblGrid>
              <a:tr h="0"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 dirty="0">
                          <a:effectLst/>
                        </a:rPr>
                        <a:t>+</a:t>
                      </a:r>
                      <a:endParaRPr lang="fr-FR" sz="800" b="0" i="0" u="none" strike="noStrike" dirty="0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 dirty="0" err="1">
                          <a:effectLst/>
                        </a:rPr>
                        <a:t>fileDscr</a:t>
                      </a:r>
                      <a:endParaRPr lang="fr-FR" sz="800" b="0" i="0" u="none" strike="noStrike" dirty="0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fileTxt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fileName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fileCont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dimensns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fileType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filePlace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dataChck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ProcStat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dataMsng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verStmt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 dirty="0" err="1">
                          <a:effectLst/>
                        </a:rPr>
                        <a:t>dataDscr</a:t>
                      </a:r>
                      <a:endParaRPr lang="fr-FR" sz="800" b="0" i="0" u="none" strike="noStrike" dirty="0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varGrp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labl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txt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defntn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universe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notes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var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location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 dirty="0" err="1">
                          <a:effectLst/>
                        </a:rPr>
                        <a:t>labl</a:t>
                      </a:r>
                      <a:endParaRPr lang="fr-FR" sz="800" b="0" i="0" u="none" strike="noStrike" dirty="0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qustn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valrng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invalrng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universe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TotlResp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sumStat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txt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catgry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concept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varFormat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 dirty="0">
                          <a:effectLst/>
                        </a:rPr>
                        <a:t>notes</a:t>
                      </a:r>
                      <a:endParaRPr lang="fr-FR" sz="800" b="0" i="0" u="none" strike="noStrike" dirty="0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7201" marR="7201" marT="7201" marB="0" anchor="ctr"/>
                </a:tc>
              </a:tr>
            </a:tbl>
          </a:graphicData>
        </a:graphic>
      </p:graphicFrame>
      <p:sp>
        <p:nvSpPr>
          <p:cNvPr id="5" name="Ellipse 4"/>
          <p:cNvSpPr/>
          <p:nvPr/>
        </p:nvSpPr>
        <p:spPr>
          <a:xfrm>
            <a:off x="2987824" y="2564904"/>
            <a:ext cx="504056" cy="216024"/>
          </a:xfrm>
          <a:prstGeom prst="ellipse">
            <a:avLst/>
          </a:prstGeom>
          <a:solidFill>
            <a:srgbClr val="FF0000">
              <a:alpha val="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llipse 8"/>
          <p:cNvSpPr/>
          <p:nvPr/>
        </p:nvSpPr>
        <p:spPr>
          <a:xfrm>
            <a:off x="3033954" y="4509120"/>
            <a:ext cx="504056" cy="216024"/>
          </a:xfrm>
          <a:prstGeom prst="ellipse">
            <a:avLst/>
          </a:prstGeom>
          <a:solidFill>
            <a:srgbClr val="FF0000">
              <a:alpha val="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llipse 9"/>
          <p:cNvSpPr/>
          <p:nvPr/>
        </p:nvSpPr>
        <p:spPr>
          <a:xfrm>
            <a:off x="5604211" y="6101922"/>
            <a:ext cx="416575" cy="216024"/>
          </a:xfrm>
          <a:prstGeom prst="ellipse">
            <a:avLst/>
          </a:prstGeom>
          <a:solidFill>
            <a:srgbClr val="FF0000">
              <a:alpha val="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2534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9" grpId="0" animBg="1"/>
      <p:bldP spid="9" grpId="1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Mapping</a:t>
            </a:r>
            <a:r>
              <a:rPr lang="fr-FR" dirty="0" smtClean="0"/>
              <a:t> DDI-C </a:t>
            </a:r>
            <a:r>
              <a:rPr lang="fr-FR" dirty="0" err="1" smtClean="0"/>
              <a:t>into</a:t>
            </a:r>
            <a:r>
              <a:rPr lang="fr-FR" dirty="0" smtClean="0"/>
              <a:t> DDI-L: DDI-L </a:t>
            </a:r>
            <a:r>
              <a:rPr lang="fr-FR" dirty="0" err="1" smtClean="0"/>
              <a:t>template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Mapping of DDI-C elements into DDI-L using the documentation on the DDI Alliance</a:t>
            </a:r>
            <a:r>
              <a:rPr lang="en-GB" dirty="0"/>
              <a:t> </a:t>
            </a:r>
            <a:r>
              <a:rPr lang="en-GB" dirty="0" smtClean="0"/>
              <a:t>website</a:t>
            </a:r>
          </a:p>
          <a:p>
            <a:pPr lvl="1"/>
            <a:r>
              <a:rPr lang="en-GB" dirty="0" smtClean="0"/>
              <a:t>http://www.ddi-alliance.org/Specification/DDI-Lifecycle/3.0/#3.0convert</a:t>
            </a:r>
          </a:p>
          <a:p>
            <a:pPr lvl="1"/>
            <a:endParaRPr lang="en-GB" dirty="0" smtClean="0"/>
          </a:p>
          <a:p>
            <a:r>
              <a:rPr lang="en-GB" dirty="0" smtClean="0"/>
              <a:t>Definition of a DDI-L template</a:t>
            </a:r>
          </a:p>
          <a:p>
            <a:endParaRPr lang="en-GB" dirty="0" smtClean="0"/>
          </a:p>
          <a:p>
            <a:endParaRPr lang="en-GB" dirty="0" smtClean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0768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XSLT to </a:t>
            </a:r>
            <a:r>
              <a:rPr lang="fr-FR" dirty="0" err="1" smtClean="0"/>
              <a:t>create</a:t>
            </a:r>
            <a:r>
              <a:rPr lang="fr-FR" dirty="0" smtClean="0"/>
              <a:t> a DDI-L profile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 smtClean="0"/>
              <a:t>http</a:t>
            </a:r>
            <a:r>
              <a:rPr lang="fr-FR" dirty="0"/>
              <a:t>://</a:t>
            </a:r>
            <a:r>
              <a:rPr lang="fr-FR" dirty="0" smtClean="0"/>
              <a:t>www.ddialliance.org/tool/ddiprofilexslt</a:t>
            </a:r>
          </a:p>
          <a:p>
            <a:pPr marL="457200" lvl="1" indent="0">
              <a:buNone/>
            </a:pPr>
            <a:r>
              <a:rPr lang="fr-FR" dirty="0" smtClean="0"/>
              <a:t> </a:t>
            </a: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graphicFrame>
        <p:nvGraphicFramePr>
          <p:cNvPr id="12" name="Tableau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7684888"/>
              </p:ext>
            </p:extLst>
          </p:nvPr>
        </p:nvGraphicFramePr>
        <p:xfrm>
          <a:off x="683568" y="2492896"/>
          <a:ext cx="2448272" cy="315468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224870"/>
                <a:gridCol w="292331"/>
                <a:gridCol w="328872"/>
                <a:gridCol w="1602199"/>
              </a:tblGrid>
              <a:tr h="69008">
                <a:tc gridSpan="4">
                  <a:txBody>
                    <a:bodyPr/>
                    <a:lstStyle/>
                    <a:p>
                      <a:pPr algn="l" rtl="0" fontAlgn="ctr"/>
                      <a:r>
                        <a:rPr lang="fr-FR" sz="800" b="1" u="none" strike="noStrike" dirty="0" err="1">
                          <a:effectLst/>
                        </a:rPr>
                        <a:t>ddi:DDIInstance</a:t>
                      </a:r>
                      <a:endParaRPr lang="fr-FR" sz="800" b="1" i="0" u="none" strike="noStrike" dirty="0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69008"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r:URN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69008"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 dirty="0">
                          <a:effectLst/>
                        </a:rPr>
                        <a:t>r:Citation</a:t>
                      </a:r>
                      <a:endParaRPr lang="fr-FR" sz="800" b="0" i="0" u="none" strike="noStrike" dirty="0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69008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r:Title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69008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r:SubTitle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69008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r:AlternateTitle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69008"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s:StudyUnit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69008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r:URN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69008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r:VersionRationale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69008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r:Note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69008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r:Abstract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69008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r:UniverseReference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69008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r:SeriesStatement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69008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r:SeriesRepositoryLocation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</a:tr>
              <a:tr h="69008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r:SeriesName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</a:tr>
              <a:tr h="69008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r:SeriesDescription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</a:tr>
              <a:tr h="69008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r:FundingInformation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69008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r:AgencyOrganizationReference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</a:tr>
              <a:tr h="69008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r:GrantNumber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</a:tr>
              <a:tr h="69008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r:Description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</a:tr>
              <a:tr h="69008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r:Coverage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69008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r:TopicalCoverage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</a:tr>
              <a:tr h="69008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 dirty="0">
                          <a:effectLst/>
                        </a:rPr>
                        <a:t>r:SpatialCoverage</a:t>
                      </a:r>
                      <a:endParaRPr lang="fr-FR" sz="800" b="0" i="0" u="none" strike="noStrike" dirty="0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</a:tr>
              <a:tr h="69008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 dirty="0">
                          <a:effectLst/>
                        </a:rPr>
                        <a:t>r:TemporalCoverage</a:t>
                      </a:r>
                      <a:endParaRPr lang="fr-FR" sz="800" b="0" i="0" u="none" strike="noStrike" dirty="0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13" name="Tableau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7704954"/>
              </p:ext>
            </p:extLst>
          </p:nvPr>
        </p:nvGraphicFramePr>
        <p:xfrm>
          <a:off x="3131840" y="2492896"/>
          <a:ext cx="2664296" cy="3522258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244711"/>
                <a:gridCol w="318125"/>
                <a:gridCol w="229251"/>
                <a:gridCol w="1872209"/>
              </a:tblGrid>
              <a:tr h="98579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fr-FR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800" u="none" strike="noStrike" kern="1200">
                          <a:effectLst/>
                        </a:rPr>
                        <a:t>+</a:t>
                      </a:r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 gridSpan="2"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800" u="none" strike="noStrike" kern="1200" dirty="0">
                          <a:effectLst/>
                        </a:rPr>
                        <a:t>r:AnalysisUnit</a:t>
                      </a:r>
                      <a:endParaRPr lang="fr-FR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98579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800" u="none" strike="noStrike" kern="1200" dirty="0">
                          <a:effectLst/>
                        </a:rPr>
                        <a:t>+</a:t>
                      </a:r>
                      <a:endParaRPr lang="fr-FR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 gridSpan="2"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800" u="none" strike="noStrike" kern="1200" dirty="0">
                          <a:effectLst/>
                        </a:rPr>
                        <a:t>r:KindOfData</a:t>
                      </a:r>
                      <a:endParaRPr lang="fr-FR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98579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800" u="none" strike="noStrike" kern="1200">
                          <a:effectLst/>
                        </a:rPr>
                        <a:t>+</a:t>
                      </a:r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 gridSpan="2"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800" u="none" strike="noStrike" kern="1200" dirty="0">
                          <a:effectLst/>
                        </a:rPr>
                        <a:t>r:OtherMaterial</a:t>
                      </a:r>
                      <a:endParaRPr lang="fr-FR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98579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800" u="none" strike="noStrike" kern="1200">
                          <a:effectLst/>
                        </a:rPr>
                        <a:t>+</a:t>
                      </a:r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800" u="none" strike="noStrike" kern="1200" dirty="0">
                          <a:effectLst/>
                        </a:rPr>
                        <a:t>r:URN</a:t>
                      </a:r>
                      <a:endParaRPr lang="fr-FR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</a:tr>
              <a:tr h="98579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800" u="none" strike="noStrike" kern="1200">
                          <a:effectLst/>
                        </a:rPr>
                        <a:t>+</a:t>
                      </a:r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800" u="none" strike="noStrike" kern="1200" dirty="0">
                          <a:effectLst/>
                        </a:rPr>
                        <a:t>r:TypeOfMaterial</a:t>
                      </a:r>
                      <a:endParaRPr lang="fr-FR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</a:tr>
              <a:tr h="98579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800" u="none" strike="noStrike" kern="1200">
                          <a:effectLst/>
                        </a:rPr>
                        <a:t>+</a:t>
                      </a:r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800" u="none" strike="noStrike" kern="1200" dirty="0">
                          <a:effectLst/>
                        </a:rPr>
                        <a:t>r:Citation</a:t>
                      </a:r>
                      <a:endParaRPr lang="fr-FR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</a:tr>
              <a:tr h="98579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800" u="none" strike="noStrike" kern="1200">
                          <a:effectLst/>
                        </a:rPr>
                        <a:t>+</a:t>
                      </a:r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800" u="none" strike="noStrike" kern="1200" dirty="0">
                          <a:effectLst/>
                        </a:rPr>
                        <a:t>r:ExternalURLReference</a:t>
                      </a:r>
                      <a:endParaRPr lang="fr-FR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</a:tr>
              <a:tr h="98579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800" u="none" strike="noStrike" kern="1200">
                          <a:effectLst/>
                        </a:rPr>
                        <a:t>+</a:t>
                      </a:r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 gridSpan="2"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800" u="none" strike="noStrike" kern="1200" dirty="0">
                          <a:effectLst/>
                        </a:rPr>
                        <a:t>c:ConceptualComponent</a:t>
                      </a:r>
                      <a:endParaRPr lang="fr-FR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98579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800" u="none" strike="noStrike" kern="1200" dirty="0">
                          <a:effectLst/>
                        </a:rPr>
                        <a:t>+</a:t>
                      </a:r>
                      <a:endParaRPr lang="fr-FR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800" u="none" strike="noStrike" kern="1200" dirty="0">
                          <a:effectLst/>
                        </a:rPr>
                        <a:t>r:URN</a:t>
                      </a:r>
                      <a:endParaRPr lang="fr-FR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</a:tr>
              <a:tr h="98579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800" u="none" strike="noStrike" kern="1200">
                          <a:effectLst/>
                        </a:rPr>
                        <a:t>+</a:t>
                      </a:r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800" u="none" strike="noStrike" kern="1200" dirty="0">
                          <a:effectLst/>
                        </a:rPr>
                        <a:t>c:UniverseScheme</a:t>
                      </a:r>
                      <a:endParaRPr lang="fr-FR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</a:tr>
              <a:tr h="98579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800" u="none" strike="noStrike" kern="1200">
                          <a:effectLst/>
                        </a:rPr>
                        <a:t>+</a:t>
                      </a:r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800" u="none" strike="noStrike" kern="1200" dirty="0">
                          <a:effectLst/>
                        </a:rPr>
                        <a:t>c:Concept</a:t>
                      </a:r>
                      <a:endParaRPr lang="fr-FR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</a:tr>
              <a:tr h="98579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800" u="none" strike="noStrike" kern="1200">
                          <a:effectLst/>
                        </a:rPr>
                        <a:t>+</a:t>
                      </a:r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 gridSpan="2"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800" u="none" strike="noStrike" kern="1200">
                          <a:effectLst/>
                        </a:rPr>
                        <a:t>d:DataCollection</a:t>
                      </a:r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98579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800" u="none" strike="noStrike" kern="1200">
                          <a:effectLst/>
                        </a:rPr>
                        <a:t>+</a:t>
                      </a:r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800" u="none" strike="noStrike" kern="1200" dirty="0">
                          <a:effectLst/>
                        </a:rPr>
                        <a:t>r:URN</a:t>
                      </a:r>
                      <a:endParaRPr lang="fr-FR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</a:tr>
              <a:tr h="98579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800" u="none" strike="noStrike" kern="1200">
                          <a:effectLst/>
                        </a:rPr>
                        <a:t>+</a:t>
                      </a:r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800" u="none" strike="noStrike" kern="1200" dirty="0">
                          <a:effectLst/>
                        </a:rPr>
                        <a:t>d:Methodology</a:t>
                      </a:r>
                      <a:endParaRPr lang="fr-FR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</a:tr>
              <a:tr h="98579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800" u="none" strike="noStrike" kern="1200">
                          <a:effectLst/>
                        </a:rPr>
                        <a:t>+</a:t>
                      </a:r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800" u="none" strike="noStrike" kern="1200" dirty="0">
                          <a:effectLst/>
                        </a:rPr>
                        <a:t>d:CollectionEvent</a:t>
                      </a:r>
                      <a:endParaRPr lang="fr-FR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</a:tr>
              <a:tr h="98579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800" u="none" strike="noStrike" kern="1200">
                          <a:effectLst/>
                        </a:rPr>
                        <a:t>+</a:t>
                      </a:r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800" u="none" strike="noStrike" kern="1200" dirty="0">
                          <a:effectLst/>
                        </a:rPr>
                        <a:t>d:InstrumentScheme</a:t>
                      </a:r>
                      <a:endParaRPr lang="fr-FR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</a:tr>
              <a:tr h="98579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800" u="none" strike="noStrike" kern="1200">
                          <a:effectLst/>
                        </a:rPr>
                        <a:t>+</a:t>
                      </a:r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800" u="none" strike="noStrike" kern="1200">
                          <a:effectLst/>
                        </a:rPr>
                        <a:t>d:ProcessingEventScheme</a:t>
                      </a:r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</a:tr>
              <a:tr h="98579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800" u="none" strike="noStrike" kern="1200">
                          <a:effectLst/>
                        </a:rPr>
                        <a:t>+</a:t>
                      </a:r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800" u="none" strike="noStrike" kern="1200">
                          <a:effectLst/>
                        </a:rPr>
                        <a:t>d:QuestionScheme</a:t>
                      </a:r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</a:tr>
              <a:tr h="98579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800" u="none" strike="noStrike" kern="1200">
                          <a:effectLst/>
                        </a:rPr>
                        <a:t>+</a:t>
                      </a:r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800" u="none" strike="noStrike" kern="1200" dirty="0">
                          <a:effectLst/>
                        </a:rPr>
                        <a:t>d:ControlConstructScheme</a:t>
                      </a:r>
                      <a:endParaRPr lang="fr-FR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</a:tr>
              <a:tr h="98579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800" u="none" strike="noStrike" kern="1200">
                          <a:effectLst/>
                        </a:rPr>
                        <a:t>+</a:t>
                      </a:r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800" u="none" strike="noStrike" kern="1200">
                          <a:effectLst/>
                        </a:rPr>
                        <a:t>d:InterviewerInstructionScheme</a:t>
                      </a:r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</a:tr>
              <a:tr h="98579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800" u="none" strike="noStrike" kern="1200">
                          <a:effectLst/>
                        </a:rPr>
                        <a:t>+</a:t>
                      </a:r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 gridSpan="2"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800" u="none" strike="noStrike" kern="1200" dirty="0">
                          <a:effectLst/>
                        </a:rPr>
                        <a:t>l:LogicalProduct</a:t>
                      </a:r>
                      <a:endParaRPr lang="fr-FR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98579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800" u="none" strike="noStrike" kern="1200">
                          <a:effectLst/>
                        </a:rPr>
                        <a:t>+</a:t>
                      </a:r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800" u="none" strike="noStrike" kern="1200" dirty="0">
                          <a:effectLst/>
                        </a:rPr>
                        <a:t>r:URN</a:t>
                      </a:r>
                      <a:endParaRPr lang="fr-FR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</a:tr>
              <a:tr h="98579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800" u="none" strike="noStrike" kern="1200">
                          <a:effectLst/>
                        </a:rPr>
                        <a:t>+</a:t>
                      </a:r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800" u="none" strike="noStrike" kern="1200">
                          <a:effectLst/>
                        </a:rPr>
                        <a:t>l:DataRelationship</a:t>
                      </a:r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</a:tr>
              <a:tr h="98579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800" u="none" strike="noStrike" kern="1200">
                          <a:effectLst/>
                        </a:rPr>
                        <a:t>+</a:t>
                      </a:r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800" u="none" strike="noStrike" kern="1200" dirty="0">
                          <a:effectLst/>
                        </a:rPr>
                        <a:t>l:CategoryScheme</a:t>
                      </a:r>
                      <a:endParaRPr lang="fr-FR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</a:tr>
              <a:tr h="98579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800" u="none" strike="noStrike" kern="1200">
                          <a:effectLst/>
                        </a:rPr>
                        <a:t>+</a:t>
                      </a:r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800" u="none" strike="noStrike" kern="1200" dirty="0">
                          <a:effectLst/>
                        </a:rPr>
                        <a:t>l:CodeListScheme</a:t>
                      </a:r>
                      <a:endParaRPr lang="fr-FR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</a:tr>
              <a:tr h="101238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800" u="none" strike="noStrike" kern="1200">
                          <a:effectLst/>
                        </a:rPr>
                        <a:t>+</a:t>
                      </a:r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800" u="none" strike="noStrike" kern="1200" dirty="0">
                          <a:effectLst/>
                        </a:rPr>
                        <a:t>r:ManagedRepresentationScheme</a:t>
                      </a:r>
                      <a:endParaRPr lang="fr-FR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</a:tr>
              <a:tr h="98579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800" u="none" strike="noStrike" kern="1200">
                          <a:effectLst/>
                        </a:rPr>
                        <a:t>+</a:t>
                      </a:r>
                      <a:endParaRPr lang="fr-FR" sz="8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800" u="none" strike="noStrike" kern="1200" dirty="0">
                          <a:effectLst/>
                        </a:rPr>
                        <a:t>l:VariableScheme</a:t>
                      </a:r>
                      <a:endParaRPr lang="fr-FR" sz="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34" marR="8534" marT="8534" marB="0" anchor="ctr"/>
                </a:tc>
              </a:tr>
            </a:tbl>
          </a:graphicData>
        </a:graphic>
      </p:graphicFrame>
      <p:graphicFrame>
        <p:nvGraphicFramePr>
          <p:cNvPr id="14" name="Tableau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5428144"/>
              </p:ext>
            </p:extLst>
          </p:nvPr>
        </p:nvGraphicFramePr>
        <p:xfrm>
          <a:off x="5796135" y="2492896"/>
          <a:ext cx="2592288" cy="2234565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238099"/>
                <a:gridCol w="309528"/>
                <a:gridCol w="348216"/>
                <a:gridCol w="1696445"/>
              </a:tblGrid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 dirty="0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p:PhysicalDataProduct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r:URN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p:PhysicalStructureScheme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p:RecordLayoutScheme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pi:PhysicalInstance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r:URN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r:VersionRationale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r:Note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r:Citation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pi:DefaultMissingValuesReference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pi:GrossFileStructure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pi:StatisticalSummary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a:Archive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r:URN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a:ArchiveModuleName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>
                          <a:effectLst/>
                        </a:rPr>
                        <a:t>a:ArchiveSpecific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u="none" strike="noStrike">
                          <a:effectLst/>
                        </a:rPr>
                        <a:t>+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u="none" strike="noStrike" dirty="0">
                          <a:effectLst/>
                        </a:rPr>
                        <a:t>a:OrganizationScheme</a:t>
                      </a:r>
                      <a:endParaRPr lang="fr-FR" sz="800" b="0" i="0" u="none" strike="noStrike" dirty="0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pic>
        <p:nvPicPr>
          <p:cNvPr id="4" name="Image 3">
            <a:hlinkClick r:id="rId3" action="ppaction://hlinkfile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2876" y="5085184"/>
            <a:ext cx="953460" cy="874800"/>
          </a:xfrm>
          <a:prstGeom prst="rect">
            <a:avLst/>
          </a:prstGeom>
        </p:spPr>
      </p:pic>
      <p:sp>
        <p:nvSpPr>
          <p:cNvPr id="5" name="Ellipse 4"/>
          <p:cNvSpPr/>
          <p:nvPr/>
        </p:nvSpPr>
        <p:spPr>
          <a:xfrm>
            <a:off x="6575131" y="4526372"/>
            <a:ext cx="1309237" cy="288032"/>
          </a:xfrm>
          <a:prstGeom prst="ellipse">
            <a:avLst/>
          </a:prstGeom>
          <a:noFill/>
          <a:ln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" name="Connecteur droit avec flèche 6"/>
          <p:cNvCxnSpPr/>
          <p:nvPr/>
        </p:nvCxnSpPr>
        <p:spPr>
          <a:xfrm flipH="1">
            <a:off x="3131840" y="4670388"/>
            <a:ext cx="3443291" cy="144016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9553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 smtClean="0"/>
              <a:t>Summary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Definition of a DDI-L profile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Our DDI-C template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Mapping a DDI-C template into </a:t>
            </a:r>
            <a:r>
              <a:rPr lang="en-GB" dirty="0" smtClean="0">
                <a:solidFill>
                  <a:schemeClr val="bg1">
                    <a:lumMod val="50000"/>
                  </a:schemeClr>
                </a:solidFill>
              </a:rPr>
              <a:t>a DDI-L 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template</a:t>
            </a:r>
            <a:endParaRPr lang="en-GB" dirty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XSLT to </a:t>
            </a:r>
            <a:r>
              <a:rPr lang="en-GB" dirty="0" smtClean="0">
                <a:solidFill>
                  <a:schemeClr val="bg1">
                    <a:lumMod val="50000"/>
                  </a:schemeClr>
                </a:solidFill>
              </a:rPr>
              <a:t>create 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a DDI-L profile</a:t>
            </a:r>
          </a:p>
          <a:p>
            <a:pPr lvl="1"/>
            <a:endParaRPr lang="en-GB" dirty="0"/>
          </a:p>
          <a:p>
            <a:r>
              <a:rPr lang="en-GB" dirty="0"/>
              <a:t>A first version of a metadata system</a:t>
            </a:r>
          </a:p>
          <a:p>
            <a:pPr lvl="1"/>
            <a:r>
              <a:rPr lang="en-GB" dirty="0"/>
              <a:t>Tools</a:t>
            </a:r>
          </a:p>
          <a:p>
            <a:pPr lvl="1"/>
            <a:r>
              <a:rPr lang="en-GB" dirty="0"/>
              <a:t>Logical data model</a:t>
            </a:r>
          </a:p>
          <a:p>
            <a:pPr lvl="1"/>
            <a:r>
              <a:rPr lang="en-GB" dirty="0"/>
              <a:t>Programs, interfaces and </a:t>
            </a:r>
            <a:r>
              <a:rPr lang="en-GB" dirty="0" smtClean="0"/>
              <a:t>procedures</a:t>
            </a:r>
            <a:endParaRPr lang="en-GB" dirty="0"/>
          </a:p>
          <a:p>
            <a:pPr lvl="1"/>
            <a:endParaRPr lang="en-GB" dirty="0" smtClean="0"/>
          </a:p>
          <a:p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2016846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The first version of the </a:t>
            </a:r>
            <a:r>
              <a:rPr lang="fr-FR" dirty="0" err="1" smtClean="0"/>
              <a:t>metadata</a:t>
            </a:r>
            <a:r>
              <a:rPr lang="fr-FR" dirty="0" smtClean="0"/>
              <a:t> system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Data as starting point: a nine-wave political study</a:t>
            </a:r>
          </a:p>
          <a:p>
            <a:pPr lvl="1"/>
            <a:r>
              <a:rPr lang="en-GB" dirty="0" smtClean="0"/>
              <a:t>Each wave has specific variables and several common variables with the other waves</a:t>
            </a:r>
          </a:p>
          <a:p>
            <a:pPr lvl="1"/>
            <a:r>
              <a:rPr lang="en-GB" dirty="0" smtClean="0"/>
              <a:t>Background variables collected during an annual study</a:t>
            </a:r>
          </a:p>
          <a:p>
            <a:pPr lvl="1"/>
            <a:r>
              <a:rPr lang="en-GB" dirty="0" smtClean="0"/>
              <a:t>Some variables based on the French national population census of 2011</a:t>
            </a:r>
          </a:p>
          <a:p>
            <a:pPr lvl="1"/>
            <a:r>
              <a:rPr lang="en-GB" dirty="0" smtClean="0"/>
              <a:t>Weighting variables</a:t>
            </a:r>
          </a:p>
          <a:p>
            <a:pPr lvl="1"/>
            <a:endParaRPr lang="en-GB" dirty="0" smtClean="0"/>
          </a:p>
          <a:p>
            <a:r>
              <a:rPr lang="en-GB" dirty="0" smtClean="0"/>
              <a:t>Using the DDI-L profile to define the structure of the metadata system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61041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Tools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At the beginning, only 2 software:</a:t>
            </a:r>
          </a:p>
          <a:p>
            <a:pPr lvl="1"/>
            <a:r>
              <a:rPr lang="en-GB" dirty="0" smtClean="0"/>
              <a:t>MS Excel </a:t>
            </a:r>
            <a:r>
              <a:rPr lang="en-GB" smtClean="0"/>
              <a:t>used as a </a:t>
            </a:r>
            <a:r>
              <a:rPr lang="en-GB" dirty="0" smtClean="0"/>
              <a:t>documentation tool</a:t>
            </a:r>
          </a:p>
          <a:p>
            <a:pPr lvl="1"/>
            <a:r>
              <a:rPr lang="en-GB" dirty="0" smtClean="0"/>
              <a:t>Notepad++ as XML editor/validator</a:t>
            </a:r>
          </a:p>
          <a:p>
            <a:pPr marL="400050" lvl="1" indent="0">
              <a:buNone/>
            </a:pPr>
            <a:r>
              <a:rPr lang="en-GB" b="1" i="1" dirty="0" smtClean="0">
                <a:sym typeface="Wingdings" panose="05000000000000000000" pitchFamily="2" charset="2"/>
              </a:rPr>
              <a:t> only DDI-C XML files generated</a:t>
            </a:r>
          </a:p>
          <a:p>
            <a:pPr marL="400050" lvl="1" indent="0">
              <a:buNone/>
            </a:pPr>
            <a:endParaRPr lang="en-GB" b="1" i="1" dirty="0" smtClean="0"/>
          </a:p>
          <a:p>
            <a:r>
              <a:rPr lang="en-GB" dirty="0" smtClean="0"/>
              <a:t>Today, new tools have been added:</a:t>
            </a:r>
          </a:p>
          <a:p>
            <a:pPr lvl="1"/>
            <a:r>
              <a:rPr lang="en-GB" dirty="0" smtClean="0"/>
              <a:t>MS Access: database structure + user interfaces</a:t>
            </a:r>
          </a:p>
          <a:p>
            <a:pPr lvl="1"/>
            <a:r>
              <a:rPr lang="en-GB" dirty="0" smtClean="0"/>
              <a:t>R: data management + computing + XML generator</a:t>
            </a:r>
          </a:p>
          <a:p>
            <a:pPr marL="457200" lvl="1" indent="0">
              <a:buNone/>
            </a:pPr>
            <a:r>
              <a:rPr lang="en-GB" b="1" i="1" dirty="0" smtClean="0">
                <a:sym typeface="Wingdings" panose="05000000000000000000" pitchFamily="2" charset="2"/>
              </a:rPr>
              <a:t> DDI-C and DDI-L XML files generated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32521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Logical</a:t>
            </a:r>
            <a:r>
              <a:rPr lang="fr-FR" dirty="0" smtClean="0"/>
              <a:t> Data Model (a </a:t>
            </a:r>
            <a:r>
              <a:rPr lang="fr-FR" dirty="0" err="1" smtClean="0"/>
              <a:t>view</a:t>
            </a:r>
            <a:r>
              <a:rPr lang="fr-FR" dirty="0" smtClean="0"/>
              <a:t>)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088" y="2150810"/>
            <a:ext cx="7921625" cy="3924805"/>
          </a:xfrm>
        </p:spPr>
      </p:pic>
      <p:sp>
        <p:nvSpPr>
          <p:cNvPr id="3" name="Ellipse 2"/>
          <p:cNvSpPr/>
          <p:nvPr/>
        </p:nvSpPr>
        <p:spPr>
          <a:xfrm>
            <a:off x="4716016" y="4725144"/>
            <a:ext cx="648072" cy="14401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3028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Programs, interfaces and </a:t>
            </a:r>
            <a:r>
              <a:rPr lang="en-GB" dirty="0" smtClean="0"/>
              <a:t>procedures</a:t>
            </a:r>
            <a:endParaRPr lang="en-GB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Scripts/Programs:</a:t>
            </a:r>
          </a:p>
          <a:p>
            <a:pPr lvl="1"/>
            <a:r>
              <a:rPr lang="en-GB" sz="1800" dirty="0" smtClean="0"/>
              <a:t>Import Excel files into the metadata system (OK)</a:t>
            </a:r>
          </a:p>
          <a:p>
            <a:pPr lvl="1"/>
            <a:r>
              <a:rPr lang="en-GB" sz="1800" dirty="0" smtClean="0"/>
              <a:t>Import DDI-C files into the metadata system (in progress)</a:t>
            </a:r>
          </a:p>
          <a:p>
            <a:pPr lvl="1"/>
            <a:r>
              <a:rPr lang="en-GB" sz="1800" dirty="0" smtClean="0"/>
              <a:t>…</a:t>
            </a:r>
          </a:p>
          <a:p>
            <a:pPr lvl="1"/>
            <a:endParaRPr lang="en-GB" sz="1800" dirty="0" smtClean="0"/>
          </a:p>
          <a:p>
            <a:r>
              <a:rPr lang="en-GB" dirty="0" smtClean="0"/>
              <a:t>Interfaces</a:t>
            </a:r>
          </a:p>
          <a:p>
            <a:pPr lvl="1"/>
            <a:r>
              <a:rPr lang="en-GB" sz="1800" dirty="0" smtClean="0"/>
              <a:t>User interfaces for variables’ documentation (in progress)</a:t>
            </a:r>
          </a:p>
          <a:p>
            <a:pPr lvl="1"/>
            <a:r>
              <a:rPr lang="en-GB" sz="1800" dirty="0" smtClean="0"/>
              <a:t>…</a:t>
            </a:r>
          </a:p>
          <a:p>
            <a:pPr lvl="1"/>
            <a:endParaRPr lang="en-GB" sz="1800" dirty="0" smtClean="0"/>
          </a:p>
          <a:p>
            <a:r>
              <a:rPr lang="en-GB" smtClean="0"/>
              <a:t>Procedures</a:t>
            </a:r>
            <a:endParaRPr lang="en-GB" dirty="0" smtClean="0"/>
          </a:p>
          <a:p>
            <a:pPr lvl="1"/>
            <a:r>
              <a:rPr lang="en-GB" sz="1800" dirty="0" smtClean="0"/>
              <a:t>Handling metadata duplication (in progress)</a:t>
            </a:r>
          </a:p>
          <a:p>
            <a:pPr lvl="1"/>
            <a:r>
              <a:rPr lang="en-GB" sz="1800" dirty="0" smtClean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445158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An </a:t>
            </a:r>
            <a:r>
              <a:rPr lang="fr-FR" dirty="0" err="1" smtClean="0"/>
              <a:t>example</a:t>
            </a:r>
            <a:r>
              <a:rPr lang="fr-FR" dirty="0" smtClean="0"/>
              <a:t>: </a:t>
            </a:r>
            <a:r>
              <a:rPr lang="fr-FR" dirty="0"/>
              <a:t>How </a:t>
            </a:r>
            <a:r>
              <a:rPr lang="fr-FR" dirty="0" err="1"/>
              <a:t>interested</a:t>
            </a:r>
            <a:r>
              <a:rPr lang="fr-FR" dirty="0"/>
              <a:t> in </a:t>
            </a:r>
            <a:r>
              <a:rPr lang="fr-FR" dirty="0" err="1"/>
              <a:t>politics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 smtClean="0"/>
              <a:t>Variable name</a:t>
            </a:r>
            <a:r>
              <a:rPr lang="en-GB" dirty="0" smtClean="0"/>
              <a:t>: INTPOL</a:t>
            </a:r>
          </a:p>
          <a:p>
            <a:r>
              <a:rPr lang="en-GB" b="1" dirty="0" smtClean="0"/>
              <a:t>Variable label</a:t>
            </a:r>
            <a:r>
              <a:rPr lang="en-GB" dirty="0" smtClean="0"/>
              <a:t>: How interested in politics</a:t>
            </a:r>
          </a:p>
          <a:p>
            <a:r>
              <a:rPr lang="en-GB" b="1" dirty="0" smtClean="0"/>
              <a:t>Literal question</a:t>
            </a:r>
            <a:r>
              <a:rPr lang="en-GB" dirty="0" smtClean="0"/>
              <a:t>: How interested would you say you are in politics ? are you?</a:t>
            </a:r>
          </a:p>
          <a:p>
            <a:r>
              <a:rPr lang="en-GB" b="1" dirty="0" smtClean="0"/>
              <a:t>Variable categories</a:t>
            </a:r>
          </a:p>
          <a:p>
            <a:pPr lvl="1"/>
            <a:r>
              <a:rPr lang="en-GB" dirty="0" smtClean="0"/>
              <a:t>1- Very interested</a:t>
            </a:r>
          </a:p>
          <a:p>
            <a:pPr lvl="1"/>
            <a:r>
              <a:rPr lang="en-GB" dirty="0" smtClean="0"/>
              <a:t>2- Quite interested</a:t>
            </a:r>
          </a:p>
          <a:p>
            <a:pPr lvl="1"/>
            <a:r>
              <a:rPr lang="en-GB" dirty="0" smtClean="0"/>
              <a:t>3- Hardly interested</a:t>
            </a:r>
          </a:p>
          <a:p>
            <a:pPr lvl="1"/>
            <a:r>
              <a:rPr lang="en-GB" dirty="0" smtClean="0"/>
              <a:t>4- Not at all interested</a:t>
            </a:r>
          </a:p>
          <a:p>
            <a:pPr lvl="1"/>
            <a:r>
              <a:rPr lang="en-GB" dirty="0" smtClean="0"/>
              <a:t>7- Refusal (missing value)</a:t>
            </a:r>
          </a:p>
          <a:p>
            <a:pPr lvl="1"/>
            <a:r>
              <a:rPr lang="en-GB" dirty="0" smtClean="0"/>
              <a:t>8- Don’t know (missing value)</a:t>
            </a:r>
            <a:endParaRPr lang="en-GB" dirty="0"/>
          </a:p>
        </p:txBody>
      </p:sp>
      <p:pic>
        <p:nvPicPr>
          <p:cNvPr id="6" name="Image 5">
            <a:hlinkClick r:id="rId3" action="ppaction://hlinkfile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4168" y="5686093"/>
            <a:ext cx="1008114" cy="924944"/>
          </a:xfrm>
          <a:prstGeom prst="rect">
            <a:avLst/>
          </a:prstGeom>
        </p:spPr>
      </p:pic>
      <p:pic>
        <p:nvPicPr>
          <p:cNvPr id="7" name="Image 6">
            <a:hlinkClick r:id="rId5" action="ppaction://hlinkfile"/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8243" y="5710533"/>
            <a:ext cx="954838" cy="8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698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Road </a:t>
            </a:r>
            <a:r>
              <a:rPr lang="fr-FR" dirty="0" err="1" smtClean="0"/>
              <a:t>map</a:t>
            </a:r>
            <a:r>
              <a:rPr lang="fr-FR" dirty="0" smtClean="0"/>
              <a:t>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 smtClean="0"/>
              <a:t>In the near future</a:t>
            </a:r>
            <a:r>
              <a:rPr lang="en-GB" dirty="0" smtClean="0"/>
              <a:t>: Finalize the creation of the programs, the interfaces and the </a:t>
            </a:r>
            <a:r>
              <a:rPr lang="en-GB" dirty="0" smtClean="0"/>
              <a:t>procedures</a:t>
            </a:r>
            <a:endParaRPr lang="en-GB" dirty="0" smtClean="0"/>
          </a:p>
          <a:p>
            <a:endParaRPr lang="en-GB" dirty="0" smtClean="0"/>
          </a:p>
          <a:p>
            <a:r>
              <a:rPr lang="en-GB" b="1" dirty="0" smtClean="0"/>
              <a:t>In the middle future</a:t>
            </a:r>
            <a:r>
              <a:rPr lang="en-GB" dirty="0" smtClean="0"/>
              <a:t>: Migrate the database and the interfaces on a web solution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45072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fr-FR" dirty="0" smtClean="0"/>
              <a:t>http://cdsp.sciences-po.fr</a:t>
            </a:r>
          </a:p>
          <a:p>
            <a:pPr marL="0" indent="0" algn="ctr">
              <a:buNone/>
            </a:pPr>
            <a:endParaRPr lang="fr-FR" dirty="0" smtClean="0"/>
          </a:p>
          <a:p>
            <a:pPr marL="0" indent="0" algn="ctr">
              <a:buNone/>
            </a:pPr>
            <a:r>
              <a:rPr lang="fr-FR" altLang="fr-FR" dirty="0"/>
              <a:t>http://quanti.dime-shs.sciences-po.fr/</a:t>
            </a:r>
          </a:p>
          <a:p>
            <a:pPr marL="0" indent="0">
              <a:buNone/>
            </a:pPr>
            <a:endParaRPr lang="fr-FR" dirty="0" smtClean="0"/>
          </a:p>
          <a:p>
            <a:pPr marL="0" indent="0">
              <a:buNone/>
            </a:pPr>
            <a:endParaRPr lang="fr-FR" dirty="0" smtClean="0"/>
          </a:p>
          <a:p>
            <a:pPr marL="0" indent="0">
              <a:buNone/>
            </a:pPr>
            <a:endParaRPr lang="fr-FR" dirty="0"/>
          </a:p>
          <a:p>
            <a:pPr marL="0" indent="0" algn="ctr">
              <a:buNone/>
            </a:pPr>
            <a:r>
              <a:rPr lang="fr-FR" dirty="0" smtClean="0"/>
              <a:t>alina.danciu@sciencespo.fr</a:t>
            </a:r>
          </a:p>
          <a:p>
            <a:pPr marL="0" indent="0" algn="ctr">
              <a:buNone/>
            </a:pPr>
            <a:r>
              <a:rPr lang="fr-FR" dirty="0" smtClean="0"/>
              <a:t>simon.lecorgne@sciencespo.fr</a:t>
            </a:r>
          </a:p>
          <a:p>
            <a:pPr marL="0" indent="0" algn="ctr">
              <a:buNone/>
            </a:pPr>
            <a:r>
              <a:rPr lang="fr-FR" dirty="0" smtClean="0"/>
              <a:t>alexandre.mairot@sciencespo.fr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35726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DSP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FF9933"/>
      </a:hlink>
      <a:folHlink>
        <a:srgbClr val="FF9933"/>
      </a:folHlink>
    </a:clrScheme>
    <a:fontScheme name="ModeleCDSP">
      <a:majorFont>
        <a:latin typeface="Lucida Sans Unicode"/>
        <a:ea typeface=""/>
        <a:cs typeface="Arial"/>
      </a:majorFont>
      <a:minorFont>
        <a:latin typeface="Lucida Sans Unicode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odeleCDS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eleCDS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eleCDS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eleCDS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eleCDS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eleCDS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eleCDS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eleCDSP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eleCDSP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eleCDSP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eleCDSP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eleCDSP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eleCDSP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FF66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eleCDSP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FF9933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eleCDSP 1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FF9933"/>
        </a:hlink>
        <a:folHlink>
          <a:srgbClr val="33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eleCDSP 1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FF9933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CDSP</Template>
  <TotalTime>2617</TotalTime>
  <Words>793</Words>
  <Application>Microsoft Office PowerPoint</Application>
  <PresentationFormat>Affichage à l'écran (4:3)</PresentationFormat>
  <Paragraphs>374</Paragraphs>
  <Slides>15</Slides>
  <Notes>15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6" baseType="lpstr">
      <vt:lpstr>CDSP</vt:lpstr>
      <vt:lpstr>Experimenting with DDI-L at the French Center of Socio-Political Data</vt:lpstr>
      <vt:lpstr>Institution</vt:lpstr>
      <vt:lpstr>Summary</vt:lpstr>
      <vt:lpstr>Our first steps towards a new metadata system</vt:lpstr>
      <vt:lpstr>DDI-L Profile: our DDI-C template</vt:lpstr>
      <vt:lpstr>Mapping DDI-C into DDI-L: DDI-L template</vt:lpstr>
      <vt:lpstr>XSLT to create a DDI-L profile</vt:lpstr>
      <vt:lpstr>Summary</vt:lpstr>
      <vt:lpstr>The first version of the metadata system</vt:lpstr>
      <vt:lpstr>Tools</vt:lpstr>
      <vt:lpstr>Logical Data Model (a view)</vt:lpstr>
      <vt:lpstr>Programs, interfaces and procedures</vt:lpstr>
      <vt:lpstr>An example: How interested in politics</vt:lpstr>
      <vt:lpstr>Road map 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Landesk</dc:creator>
  <cp:lastModifiedBy>Landesk</cp:lastModifiedBy>
  <cp:revision>129</cp:revision>
  <dcterms:created xsi:type="dcterms:W3CDTF">2015-09-23T16:00:04Z</dcterms:created>
  <dcterms:modified xsi:type="dcterms:W3CDTF">2015-11-24T13:19:09Z</dcterms:modified>
</cp:coreProperties>
</file>