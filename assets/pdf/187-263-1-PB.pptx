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1" r:id="rId10"/>
    <p:sldId id="267" r:id="rId11"/>
    <p:sldId id="274" r:id="rId12"/>
    <p:sldId id="272" r:id="rId13"/>
  </p:sldIdLst>
  <p:sldSz cx="9144000" cy="6858000" type="screen4x3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9" autoAdjust="0"/>
    <p:restoredTop sz="94660"/>
  </p:normalViewPr>
  <p:slideViewPr>
    <p:cSldViewPr>
      <p:cViewPr>
        <p:scale>
          <a:sx n="70" d="100"/>
          <a:sy n="70" d="100"/>
        </p:scale>
        <p:origin x="-510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5728E8-636A-433A-9657-1956DEF286DC}" type="doc">
      <dgm:prSet loTypeId="urn:microsoft.com/office/officeart/2005/8/layout/funnel1" loCatId="process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2D7FF34E-AEC0-4E1E-867E-DE71418F02D5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IE" sz="1600" b="1" dirty="0" smtClean="0"/>
            <a:t>Variable</a:t>
          </a:r>
          <a:endParaRPr lang="en-IE" sz="1600" b="1" dirty="0"/>
        </a:p>
      </dgm:t>
    </dgm:pt>
    <dgm:pt modelId="{FB8310E6-48A2-4F4F-9665-1BCAEFCA895D}" type="parTrans" cxnId="{B3B2B7B3-8DF0-4842-819E-FE64B8021F05}">
      <dgm:prSet/>
      <dgm:spPr/>
      <dgm:t>
        <a:bodyPr/>
        <a:lstStyle/>
        <a:p>
          <a:endParaRPr lang="en-IE"/>
        </a:p>
      </dgm:t>
    </dgm:pt>
    <dgm:pt modelId="{94728240-0930-4945-8821-06A46F032801}" type="sibTrans" cxnId="{B3B2B7B3-8DF0-4842-819E-FE64B8021F05}">
      <dgm:prSet/>
      <dgm:spPr/>
      <dgm:t>
        <a:bodyPr/>
        <a:lstStyle/>
        <a:p>
          <a:endParaRPr lang="en-IE"/>
        </a:p>
      </dgm:t>
    </dgm:pt>
    <dgm:pt modelId="{F5804294-9969-482F-88A2-FEF8245CCAB7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IE" sz="1600" b="1" dirty="0" err="1" smtClean="0"/>
            <a:t>CodeList</a:t>
          </a:r>
          <a:endParaRPr lang="en-IE" sz="1600" b="1" dirty="0"/>
        </a:p>
      </dgm:t>
    </dgm:pt>
    <dgm:pt modelId="{DF2A9E78-B68D-40CF-B8FB-A67A82B04613}" type="parTrans" cxnId="{31EDA8E0-B8E7-420E-AE4E-F1175125A603}">
      <dgm:prSet/>
      <dgm:spPr/>
      <dgm:t>
        <a:bodyPr/>
        <a:lstStyle/>
        <a:p>
          <a:endParaRPr lang="en-IE"/>
        </a:p>
      </dgm:t>
    </dgm:pt>
    <dgm:pt modelId="{7128B6E0-AE87-4390-8732-F3607848E716}" type="sibTrans" cxnId="{31EDA8E0-B8E7-420E-AE4E-F1175125A603}">
      <dgm:prSet/>
      <dgm:spPr/>
      <dgm:t>
        <a:bodyPr/>
        <a:lstStyle/>
        <a:p>
          <a:endParaRPr lang="en-IE"/>
        </a:p>
      </dgm:t>
    </dgm:pt>
    <dgm:pt modelId="{664BAC74-1F79-47EE-916E-763484269764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IE" sz="1600" b="1" dirty="0" smtClean="0"/>
            <a:t>Question</a:t>
          </a:r>
          <a:endParaRPr lang="en-IE" sz="1600" b="1" dirty="0"/>
        </a:p>
      </dgm:t>
    </dgm:pt>
    <dgm:pt modelId="{3466553E-8C3D-485F-8019-33B83679E40F}" type="parTrans" cxnId="{50EA1DE8-0E53-41C1-B139-7D8D67534DEE}">
      <dgm:prSet/>
      <dgm:spPr/>
      <dgm:t>
        <a:bodyPr/>
        <a:lstStyle/>
        <a:p>
          <a:endParaRPr lang="en-IE"/>
        </a:p>
      </dgm:t>
    </dgm:pt>
    <dgm:pt modelId="{3D32F57F-8521-4A3B-B841-F441E1C4A93C}" type="sibTrans" cxnId="{50EA1DE8-0E53-41C1-B139-7D8D67534DEE}">
      <dgm:prSet/>
      <dgm:spPr/>
      <dgm:t>
        <a:bodyPr/>
        <a:lstStyle/>
        <a:p>
          <a:endParaRPr lang="en-IE"/>
        </a:p>
      </dgm:t>
    </dgm:pt>
    <dgm:pt modelId="{7457D343-7D7A-42CB-AEC9-D178BD7B426D}">
      <dgm:prSet phldrT="[Text]"/>
      <dgm:spPr/>
      <dgm:t>
        <a:bodyPr/>
        <a:lstStyle/>
        <a:p>
          <a:r>
            <a:rPr lang="en-IE" dirty="0" err="1" smtClean="0"/>
            <a:t>Colectica</a:t>
          </a:r>
          <a:r>
            <a:rPr lang="en-IE" dirty="0" smtClean="0"/>
            <a:t> API</a:t>
          </a:r>
        </a:p>
      </dgm:t>
    </dgm:pt>
    <dgm:pt modelId="{A0E7D24C-41E6-473D-AE6F-8DBEB9F58A0A}" type="parTrans" cxnId="{9EC0A7BF-8250-4263-8EC9-E954C63110E8}">
      <dgm:prSet/>
      <dgm:spPr/>
      <dgm:t>
        <a:bodyPr/>
        <a:lstStyle/>
        <a:p>
          <a:endParaRPr lang="en-IE"/>
        </a:p>
      </dgm:t>
    </dgm:pt>
    <dgm:pt modelId="{6221DAB6-FA1B-4111-B1F7-BFB04DC1A877}" type="sibTrans" cxnId="{9EC0A7BF-8250-4263-8EC9-E954C63110E8}">
      <dgm:prSet/>
      <dgm:spPr/>
      <dgm:t>
        <a:bodyPr/>
        <a:lstStyle/>
        <a:p>
          <a:endParaRPr lang="en-IE"/>
        </a:p>
      </dgm:t>
    </dgm:pt>
    <dgm:pt modelId="{5C9A735C-BA56-47CE-B486-C493FF5BC915}" type="pres">
      <dgm:prSet presAssocID="{905728E8-636A-433A-9657-1956DEF286D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IE"/>
        </a:p>
      </dgm:t>
    </dgm:pt>
    <dgm:pt modelId="{21DDF1DA-4F05-41F1-AFE1-8FFBCF048967}" type="pres">
      <dgm:prSet presAssocID="{905728E8-636A-433A-9657-1956DEF286DC}" presName="ellipse" presStyleLbl="trBgShp" presStyleIdx="0" presStyleCnt="1" custLinFactNeighborX="-63715" custLinFactNeighborY="-658"/>
      <dgm:spPr/>
    </dgm:pt>
    <dgm:pt modelId="{2349DDE3-CB55-4A40-9CE5-636DFC0EEE6A}" type="pres">
      <dgm:prSet presAssocID="{905728E8-636A-433A-9657-1956DEF286DC}" presName="arrow1" presStyleLbl="fgShp" presStyleIdx="0" presStyleCnt="1" custLinFactX="-128768" custLinFactNeighborX="-200000" custLinFactNeighborY="-1843"/>
      <dgm:spPr>
        <a:solidFill>
          <a:schemeClr val="accent4">
            <a:lumMod val="60000"/>
            <a:lumOff val="40000"/>
          </a:schemeClr>
        </a:solidFill>
      </dgm:spPr>
    </dgm:pt>
    <dgm:pt modelId="{E0730B5C-3534-4223-908F-78CBA7911AE3}" type="pres">
      <dgm:prSet presAssocID="{905728E8-636A-433A-9657-1956DEF286DC}" presName="rectangle" presStyleLbl="revTx" presStyleIdx="0" presStyleCnt="1" custLinFactNeighborX="-68493" custLinFactNeighborY="-98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728D0639-9AEF-4C15-8834-027CB800A7E0}" type="pres">
      <dgm:prSet presAssocID="{F5804294-9969-482F-88A2-FEF8245CCAB7}" presName="item1" presStyleLbl="node1" presStyleIdx="0" presStyleCnt="3" custLinFactX="-82649" custLinFactNeighborX="-100000" custLinFactNeighborY="-655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39F83B6E-C2BB-4A46-A702-E19FBBCF02E4}" type="pres">
      <dgm:prSet presAssocID="{664BAC74-1F79-47EE-916E-763484269764}" presName="item2" presStyleLbl="node1" presStyleIdx="1" presStyleCnt="3" custLinFactX="-82649" custLinFactNeighborX="-100000" custLinFactNeighborY="-655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92174101-5BBA-44C2-8B0A-74BCE7308D30}" type="pres">
      <dgm:prSet presAssocID="{7457D343-7D7A-42CB-AEC9-D178BD7B426D}" presName="item3" presStyleLbl="node1" presStyleIdx="2" presStyleCnt="3" custLinFactX="-82649" custLinFactNeighborX="-100000" custLinFactNeighborY="-655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8EB145EC-D0C9-4ED0-B99C-F867FE5DB03B}" type="pres">
      <dgm:prSet presAssocID="{905728E8-636A-433A-9657-1956DEF286DC}" presName="funnel" presStyleLbl="trAlignAcc1" presStyleIdx="0" presStyleCnt="1" custLinFactNeighborX="-55769" custLinFactNeighborY="1564"/>
      <dgm:spPr/>
    </dgm:pt>
  </dgm:ptLst>
  <dgm:cxnLst>
    <dgm:cxn modelId="{0F102F03-6B39-4C45-8E67-496415FAFA63}" type="presOf" srcId="{905728E8-636A-433A-9657-1956DEF286DC}" destId="{5C9A735C-BA56-47CE-B486-C493FF5BC915}" srcOrd="0" destOrd="0" presId="urn:microsoft.com/office/officeart/2005/8/layout/funnel1"/>
    <dgm:cxn modelId="{B9FE9CBF-0616-4296-B7AE-4C2CA4C46EF0}" type="presOf" srcId="{2D7FF34E-AEC0-4E1E-867E-DE71418F02D5}" destId="{92174101-5BBA-44C2-8B0A-74BCE7308D30}" srcOrd="0" destOrd="0" presId="urn:microsoft.com/office/officeart/2005/8/layout/funnel1"/>
    <dgm:cxn modelId="{9EC0A7BF-8250-4263-8EC9-E954C63110E8}" srcId="{905728E8-636A-433A-9657-1956DEF286DC}" destId="{7457D343-7D7A-42CB-AEC9-D178BD7B426D}" srcOrd="3" destOrd="0" parTransId="{A0E7D24C-41E6-473D-AE6F-8DBEB9F58A0A}" sibTransId="{6221DAB6-FA1B-4111-B1F7-BFB04DC1A877}"/>
    <dgm:cxn modelId="{315BC4E3-B426-4FC5-9C80-0DDB17B9CF55}" type="presOf" srcId="{F5804294-9969-482F-88A2-FEF8245CCAB7}" destId="{39F83B6E-C2BB-4A46-A702-E19FBBCF02E4}" srcOrd="0" destOrd="0" presId="urn:microsoft.com/office/officeart/2005/8/layout/funnel1"/>
    <dgm:cxn modelId="{C8CA65A3-C71C-4448-BF14-BA057AC8C077}" type="presOf" srcId="{664BAC74-1F79-47EE-916E-763484269764}" destId="{728D0639-9AEF-4C15-8834-027CB800A7E0}" srcOrd="0" destOrd="0" presId="urn:microsoft.com/office/officeart/2005/8/layout/funnel1"/>
    <dgm:cxn modelId="{0D9FFF24-840C-4E74-91C7-CC35854ED3EE}" type="presOf" srcId="{7457D343-7D7A-42CB-AEC9-D178BD7B426D}" destId="{E0730B5C-3534-4223-908F-78CBA7911AE3}" srcOrd="0" destOrd="0" presId="urn:microsoft.com/office/officeart/2005/8/layout/funnel1"/>
    <dgm:cxn modelId="{B3B2B7B3-8DF0-4842-819E-FE64B8021F05}" srcId="{905728E8-636A-433A-9657-1956DEF286DC}" destId="{2D7FF34E-AEC0-4E1E-867E-DE71418F02D5}" srcOrd="0" destOrd="0" parTransId="{FB8310E6-48A2-4F4F-9665-1BCAEFCA895D}" sibTransId="{94728240-0930-4945-8821-06A46F032801}"/>
    <dgm:cxn modelId="{31EDA8E0-B8E7-420E-AE4E-F1175125A603}" srcId="{905728E8-636A-433A-9657-1956DEF286DC}" destId="{F5804294-9969-482F-88A2-FEF8245CCAB7}" srcOrd="1" destOrd="0" parTransId="{DF2A9E78-B68D-40CF-B8FB-A67A82B04613}" sibTransId="{7128B6E0-AE87-4390-8732-F3607848E716}"/>
    <dgm:cxn modelId="{50EA1DE8-0E53-41C1-B139-7D8D67534DEE}" srcId="{905728E8-636A-433A-9657-1956DEF286DC}" destId="{664BAC74-1F79-47EE-916E-763484269764}" srcOrd="2" destOrd="0" parTransId="{3466553E-8C3D-485F-8019-33B83679E40F}" sibTransId="{3D32F57F-8521-4A3B-B841-F441E1C4A93C}"/>
    <dgm:cxn modelId="{0727C483-B40C-448F-83F7-3037A1D709A9}" type="presParOf" srcId="{5C9A735C-BA56-47CE-B486-C493FF5BC915}" destId="{21DDF1DA-4F05-41F1-AFE1-8FFBCF048967}" srcOrd="0" destOrd="0" presId="urn:microsoft.com/office/officeart/2005/8/layout/funnel1"/>
    <dgm:cxn modelId="{2564469F-AFA6-4222-A496-EC67446C4B5A}" type="presParOf" srcId="{5C9A735C-BA56-47CE-B486-C493FF5BC915}" destId="{2349DDE3-CB55-4A40-9CE5-636DFC0EEE6A}" srcOrd="1" destOrd="0" presId="urn:microsoft.com/office/officeart/2005/8/layout/funnel1"/>
    <dgm:cxn modelId="{AB638996-9F4D-4806-899B-72FA9E7AC0D4}" type="presParOf" srcId="{5C9A735C-BA56-47CE-B486-C493FF5BC915}" destId="{E0730B5C-3534-4223-908F-78CBA7911AE3}" srcOrd="2" destOrd="0" presId="urn:microsoft.com/office/officeart/2005/8/layout/funnel1"/>
    <dgm:cxn modelId="{41472D8D-E73B-46E1-80B2-C88536788CB4}" type="presParOf" srcId="{5C9A735C-BA56-47CE-B486-C493FF5BC915}" destId="{728D0639-9AEF-4C15-8834-027CB800A7E0}" srcOrd="3" destOrd="0" presId="urn:microsoft.com/office/officeart/2005/8/layout/funnel1"/>
    <dgm:cxn modelId="{1A06F736-245D-4B1D-A1BA-A67E9DB8E3B2}" type="presParOf" srcId="{5C9A735C-BA56-47CE-B486-C493FF5BC915}" destId="{39F83B6E-C2BB-4A46-A702-E19FBBCF02E4}" srcOrd="4" destOrd="0" presId="urn:microsoft.com/office/officeart/2005/8/layout/funnel1"/>
    <dgm:cxn modelId="{DD6B47F7-30D3-48F3-BE75-2930CC443A0D}" type="presParOf" srcId="{5C9A735C-BA56-47CE-B486-C493FF5BC915}" destId="{92174101-5BBA-44C2-8B0A-74BCE7308D30}" srcOrd="5" destOrd="0" presId="urn:microsoft.com/office/officeart/2005/8/layout/funnel1"/>
    <dgm:cxn modelId="{8589DC1D-EA00-4C1E-8BB2-0C6FAE933709}" type="presParOf" srcId="{5C9A735C-BA56-47CE-B486-C493FF5BC915}" destId="{8EB145EC-D0C9-4ED0-B99C-F867FE5DB03B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9B9337-42D8-4706-8D94-E7CB08A5D439}" type="doc">
      <dgm:prSet loTypeId="urn:microsoft.com/office/officeart/2005/8/layout/funnel1" loCatId="process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1CB30DDE-533B-4A1C-9E1F-74D8D596F5B1}">
      <dgm:prSet phldrT="[Text]" custT="1"/>
      <dgm:spPr/>
      <dgm:t>
        <a:bodyPr/>
        <a:lstStyle/>
        <a:p>
          <a:r>
            <a:rPr lang="en-IE" sz="1800" b="1" dirty="0" smtClean="0"/>
            <a:t>Datasets</a:t>
          </a:r>
          <a:endParaRPr lang="en-IE" sz="1800" b="1" dirty="0"/>
        </a:p>
      </dgm:t>
    </dgm:pt>
    <dgm:pt modelId="{BEB50C8A-F927-4013-A685-17CEF7ED3240}" type="parTrans" cxnId="{B9E80D85-B82A-459A-B9FC-D79A80982258}">
      <dgm:prSet/>
      <dgm:spPr/>
      <dgm:t>
        <a:bodyPr/>
        <a:lstStyle/>
        <a:p>
          <a:endParaRPr lang="en-IE"/>
        </a:p>
      </dgm:t>
    </dgm:pt>
    <dgm:pt modelId="{06C6DA0B-A37B-4712-9AD9-63C7DEA76ECA}" type="sibTrans" cxnId="{B9E80D85-B82A-459A-B9FC-D79A80982258}">
      <dgm:prSet/>
      <dgm:spPr/>
      <dgm:t>
        <a:bodyPr/>
        <a:lstStyle/>
        <a:p>
          <a:endParaRPr lang="en-IE"/>
        </a:p>
      </dgm:t>
    </dgm:pt>
    <dgm:pt modelId="{4E3F1609-B1BC-4140-B218-23E58B9299AD}">
      <dgm:prSet phldrT="[Text]" custT="1"/>
      <dgm:spPr/>
      <dgm:t>
        <a:bodyPr/>
        <a:lstStyle/>
        <a:p>
          <a:r>
            <a:rPr lang="en-IE" sz="1800" b="1" dirty="0" smtClean="0"/>
            <a:t>Concept</a:t>
          </a:r>
          <a:endParaRPr lang="en-IE" sz="1800" b="1" dirty="0"/>
        </a:p>
      </dgm:t>
    </dgm:pt>
    <dgm:pt modelId="{E90C47D8-321A-4A81-B129-04A45ABEE67C}" type="parTrans" cxnId="{8A72B90B-C7D9-4BE8-A12B-CDAF93A6FE81}">
      <dgm:prSet/>
      <dgm:spPr/>
      <dgm:t>
        <a:bodyPr/>
        <a:lstStyle/>
        <a:p>
          <a:endParaRPr lang="en-IE"/>
        </a:p>
      </dgm:t>
    </dgm:pt>
    <dgm:pt modelId="{F7A3CB76-6E30-4C4B-8339-6000CC791812}" type="sibTrans" cxnId="{8A72B90B-C7D9-4BE8-A12B-CDAF93A6FE81}">
      <dgm:prSet/>
      <dgm:spPr/>
      <dgm:t>
        <a:bodyPr/>
        <a:lstStyle/>
        <a:p>
          <a:endParaRPr lang="en-IE"/>
        </a:p>
      </dgm:t>
    </dgm:pt>
    <dgm:pt modelId="{9D73890A-2F3E-426B-A0E7-2757F0FCFBC8}">
      <dgm:prSet phldrT="[Text]" custT="1"/>
      <dgm:spPr/>
      <dgm:t>
        <a:bodyPr/>
        <a:lstStyle/>
        <a:p>
          <a:r>
            <a:rPr lang="en-IE" sz="1500" b="1" dirty="0" smtClean="0"/>
            <a:t>Classification</a:t>
          </a:r>
          <a:endParaRPr lang="en-IE" sz="1500" b="1" dirty="0"/>
        </a:p>
      </dgm:t>
    </dgm:pt>
    <dgm:pt modelId="{683CEC39-219E-4FCB-974E-59AE14E37B41}" type="parTrans" cxnId="{8BADA449-1D0A-4D04-B603-26DCCED2831F}">
      <dgm:prSet/>
      <dgm:spPr/>
      <dgm:t>
        <a:bodyPr/>
        <a:lstStyle/>
        <a:p>
          <a:endParaRPr lang="en-IE"/>
        </a:p>
      </dgm:t>
    </dgm:pt>
    <dgm:pt modelId="{206373CE-0738-442B-BF54-CFDD18A30E82}" type="sibTrans" cxnId="{8BADA449-1D0A-4D04-B603-26DCCED2831F}">
      <dgm:prSet/>
      <dgm:spPr/>
      <dgm:t>
        <a:bodyPr/>
        <a:lstStyle/>
        <a:p>
          <a:endParaRPr lang="en-IE"/>
        </a:p>
      </dgm:t>
    </dgm:pt>
    <dgm:pt modelId="{85FB03E2-9376-479F-9008-989A12328068}">
      <dgm:prSet phldrT="[Text]"/>
      <dgm:spPr/>
      <dgm:t>
        <a:bodyPr/>
        <a:lstStyle/>
        <a:p>
          <a:r>
            <a:rPr lang="en-IE" dirty="0" err="1" smtClean="0"/>
            <a:t>Datalift</a:t>
          </a:r>
          <a:r>
            <a:rPr lang="en-IE" dirty="0" smtClean="0"/>
            <a:t> API</a:t>
          </a:r>
          <a:endParaRPr lang="en-IE" dirty="0"/>
        </a:p>
      </dgm:t>
    </dgm:pt>
    <dgm:pt modelId="{EC17230A-5AE6-48DF-871C-BA554C4AE12E}" type="parTrans" cxnId="{120469EA-FFCC-4146-A6AC-3BA47DC0097C}">
      <dgm:prSet/>
      <dgm:spPr/>
      <dgm:t>
        <a:bodyPr/>
        <a:lstStyle/>
        <a:p>
          <a:endParaRPr lang="en-IE"/>
        </a:p>
      </dgm:t>
    </dgm:pt>
    <dgm:pt modelId="{992DAA1C-BD34-456E-9000-CA439B097C27}" type="sibTrans" cxnId="{120469EA-FFCC-4146-A6AC-3BA47DC0097C}">
      <dgm:prSet/>
      <dgm:spPr/>
      <dgm:t>
        <a:bodyPr/>
        <a:lstStyle/>
        <a:p>
          <a:endParaRPr lang="en-IE"/>
        </a:p>
      </dgm:t>
    </dgm:pt>
    <dgm:pt modelId="{1AE16541-29AB-493C-BF97-FDED67A2DAD8}" type="pres">
      <dgm:prSet presAssocID="{6D9B9337-42D8-4706-8D94-E7CB08A5D439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IE"/>
        </a:p>
      </dgm:t>
    </dgm:pt>
    <dgm:pt modelId="{315577B2-B9F2-4F10-8ED9-4286D6A03FDE}" type="pres">
      <dgm:prSet presAssocID="{6D9B9337-42D8-4706-8D94-E7CB08A5D439}" presName="ellipse" presStyleLbl="trBgShp" presStyleIdx="0" presStyleCnt="1"/>
      <dgm:spPr/>
    </dgm:pt>
    <dgm:pt modelId="{9A70A81D-1D88-472F-A595-B69742FB2187}" type="pres">
      <dgm:prSet presAssocID="{6D9B9337-42D8-4706-8D94-E7CB08A5D439}" presName="arrow1" presStyleLbl="fgShp" presStyleIdx="0" presStyleCnt="1"/>
      <dgm:spPr/>
    </dgm:pt>
    <dgm:pt modelId="{B7D2C4E9-1B3B-404D-AC02-5DB70E5B1160}" type="pres">
      <dgm:prSet presAssocID="{6D9B9337-42D8-4706-8D94-E7CB08A5D439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65953707-D35F-46A0-8795-295C7F051D02}" type="pres">
      <dgm:prSet presAssocID="{4E3F1609-B1BC-4140-B218-23E58B9299AD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781F5DEC-F12D-4E84-BC0F-AE03CA6DF9A8}" type="pres">
      <dgm:prSet presAssocID="{9D73890A-2F3E-426B-A0E7-2757F0FCFBC8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F16B96CD-1ECD-48E9-A9EE-4ADECB9A7722}" type="pres">
      <dgm:prSet presAssocID="{85FB03E2-9376-479F-9008-989A12328068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5D6E82B2-6748-4384-970B-DE0BB80073A6}" type="pres">
      <dgm:prSet presAssocID="{6D9B9337-42D8-4706-8D94-E7CB08A5D439}" presName="funnel" presStyleLbl="trAlignAcc1" presStyleIdx="0" presStyleCnt="1"/>
      <dgm:spPr/>
    </dgm:pt>
  </dgm:ptLst>
  <dgm:cxnLst>
    <dgm:cxn modelId="{7B823BB8-CBE8-4445-AB69-284D35104F77}" type="presOf" srcId="{9D73890A-2F3E-426B-A0E7-2757F0FCFBC8}" destId="{65953707-D35F-46A0-8795-295C7F051D02}" srcOrd="0" destOrd="0" presId="urn:microsoft.com/office/officeart/2005/8/layout/funnel1"/>
    <dgm:cxn modelId="{7048D274-FB24-43F6-8B70-A97C3E19510B}" type="presOf" srcId="{85FB03E2-9376-479F-9008-989A12328068}" destId="{B7D2C4E9-1B3B-404D-AC02-5DB70E5B1160}" srcOrd="0" destOrd="0" presId="urn:microsoft.com/office/officeart/2005/8/layout/funnel1"/>
    <dgm:cxn modelId="{8BADA449-1D0A-4D04-B603-26DCCED2831F}" srcId="{6D9B9337-42D8-4706-8D94-E7CB08A5D439}" destId="{9D73890A-2F3E-426B-A0E7-2757F0FCFBC8}" srcOrd="2" destOrd="0" parTransId="{683CEC39-219E-4FCB-974E-59AE14E37B41}" sibTransId="{206373CE-0738-442B-BF54-CFDD18A30E82}"/>
    <dgm:cxn modelId="{723A5859-3BA1-443A-B656-4607DA8E86C7}" type="presOf" srcId="{4E3F1609-B1BC-4140-B218-23E58B9299AD}" destId="{781F5DEC-F12D-4E84-BC0F-AE03CA6DF9A8}" srcOrd="0" destOrd="0" presId="urn:microsoft.com/office/officeart/2005/8/layout/funnel1"/>
    <dgm:cxn modelId="{35257408-4466-44EE-A65D-0C5157B62A28}" type="presOf" srcId="{6D9B9337-42D8-4706-8D94-E7CB08A5D439}" destId="{1AE16541-29AB-493C-BF97-FDED67A2DAD8}" srcOrd="0" destOrd="0" presId="urn:microsoft.com/office/officeart/2005/8/layout/funnel1"/>
    <dgm:cxn modelId="{120469EA-FFCC-4146-A6AC-3BA47DC0097C}" srcId="{6D9B9337-42D8-4706-8D94-E7CB08A5D439}" destId="{85FB03E2-9376-479F-9008-989A12328068}" srcOrd="3" destOrd="0" parTransId="{EC17230A-5AE6-48DF-871C-BA554C4AE12E}" sibTransId="{992DAA1C-BD34-456E-9000-CA439B097C27}"/>
    <dgm:cxn modelId="{629ACA61-4B92-491A-B777-2021807F1316}" type="presOf" srcId="{1CB30DDE-533B-4A1C-9E1F-74D8D596F5B1}" destId="{F16B96CD-1ECD-48E9-A9EE-4ADECB9A7722}" srcOrd="0" destOrd="0" presId="urn:microsoft.com/office/officeart/2005/8/layout/funnel1"/>
    <dgm:cxn modelId="{B9E80D85-B82A-459A-B9FC-D79A80982258}" srcId="{6D9B9337-42D8-4706-8D94-E7CB08A5D439}" destId="{1CB30DDE-533B-4A1C-9E1F-74D8D596F5B1}" srcOrd="0" destOrd="0" parTransId="{BEB50C8A-F927-4013-A685-17CEF7ED3240}" sibTransId="{06C6DA0B-A37B-4712-9AD9-63C7DEA76ECA}"/>
    <dgm:cxn modelId="{8A72B90B-C7D9-4BE8-A12B-CDAF93A6FE81}" srcId="{6D9B9337-42D8-4706-8D94-E7CB08A5D439}" destId="{4E3F1609-B1BC-4140-B218-23E58B9299AD}" srcOrd="1" destOrd="0" parTransId="{E90C47D8-321A-4A81-B129-04A45ABEE67C}" sibTransId="{F7A3CB76-6E30-4C4B-8339-6000CC791812}"/>
    <dgm:cxn modelId="{5C014A00-CD30-4A50-9938-F30F6092478B}" type="presParOf" srcId="{1AE16541-29AB-493C-BF97-FDED67A2DAD8}" destId="{315577B2-B9F2-4F10-8ED9-4286D6A03FDE}" srcOrd="0" destOrd="0" presId="urn:microsoft.com/office/officeart/2005/8/layout/funnel1"/>
    <dgm:cxn modelId="{7A610451-34E4-4A24-A774-83EA74661801}" type="presParOf" srcId="{1AE16541-29AB-493C-BF97-FDED67A2DAD8}" destId="{9A70A81D-1D88-472F-A595-B69742FB2187}" srcOrd="1" destOrd="0" presId="urn:microsoft.com/office/officeart/2005/8/layout/funnel1"/>
    <dgm:cxn modelId="{7CC1D977-CA3A-409C-88DA-7C9487D0FD84}" type="presParOf" srcId="{1AE16541-29AB-493C-BF97-FDED67A2DAD8}" destId="{B7D2C4E9-1B3B-404D-AC02-5DB70E5B1160}" srcOrd="2" destOrd="0" presId="urn:microsoft.com/office/officeart/2005/8/layout/funnel1"/>
    <dgm:cxn modelId="{DEADB25D-50D5-440F-ACC8-3EA532DEEB6E}" type="presParOf" srcId="{1AE16541-29AB-493C-BF97-FDED67A2DAD8}" destId="{65953707-D35F-46A0-8795-295C7F051D02}" srcOrd="3" destOrd="0" presId="urn:microsoft.com/office/officeart/2005/8/layout/funnel1"/>
    <dgm:cxn modelId="{2E13ED36-8203-4369-BEEE-B9DB6FE70BE3}" type="presParOf" srcId="{1AE16541-29AB-493C-BF97-FDED67A2DAD8}" destId="{781F5DEC-F12D-4E84-BC0F-AE03CA6DF9A8}" srcOrd="4" destOrd="0" presId="urn:microsoft.com/office/officeart/2005/8/layout/funnel1"/>
    <dgm:cxn modelId="{03BAF206-571F-4C36-A093-F10E48405749}" type="presParOf" srcId="{1AE16541-29AB-493C-BF97-FDED67A2DAD8}" destId="{F16B96CD-1ECD-48E9-A9EE-4ADECB9A7722}" srcOrd="5" destOrd="0" presId="urn:microsoft.com/office/officeart/2005/8/layout/funnel1"/>
    <dgm:cxn modelId="{87A697AA-A99A-49BB-99C0-A6A4B0AAA287}" type="presParOf" srcId="{1AE16541-29AB-493C-BF97-FDED67A2DAD8}" destId="{5D6E82B2-6748-4384-970B-DE0BB80073A6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DF1DA-4F05-41F1-AFE1-8FFBCF048967}">
      <dsp:nvSpPr>
        <dsp:cNvPr id="0" name=""/>
        <dsp:cNvSpPr/>
      </dsp:nvSpPr>
      <dsp:spPr>
        <a:xfrm>
          <a:off x="247034" y="162414"/>
          <a:ext cx="3376433" cy="117259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9DDE3-CB55-4A40-9CE5-636DFC0EEE6A}">
      <dsp:nvSpPr>
        <dsp:cNvPr id="0" name=""/>
        <dsp:cNvSpPr/>
      </dsp:nvSpPr>
      <dsp:spPr>
        <a:xfrm>
          <a:off x="1613321" y="3033689"/>
          <a:ext cx="654347" cy="418782"/>
        </a:xfrm>
        <a:prstGeom prst="downArrow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  <a:sp3d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30B5C-3534-4223-908F-78CBA7911AE3}">
      <dsp:nvSpPr>
        <dsp:cNvPr id="0" name=""/>
        <dsp:cNvSpPr/>
      </dsp:nvSpPr>
      <dsp:spPr>
        <a:xfrm>
          <a:off x="370071" y="3368715"/>
          <a:ext cx="3140868" cy="785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  <a:sp3d extrusionH="28000" prstMaterial="matte"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2700" kern="1200" dirty="0" err="1" smtClean="0"/>
            <a:t>Colectica</a:t>
          </a:r>
          <a:r>
            <a:rPr lang="en-IE" sz="2700" kern="1200" dirty="0" smtClean="0"/>
            <a:t> API</a:t>
          </a:r>
        </a:p>
      </dsp:txBody>
      <dsp:txXfrm>
        <a:off x="370071" y="3368715"/>
        <a:ext cx="3140868" cy="785217"/>
      </dsp:txXfrm>
    </dsp:sp>
    <dsp:sp modelId="{728D0639-9AEF-4C15-8834-027CB800A7E0}">
      <dsp:nvSpPr>
        <dsp:cNvPr id="0" name=""/>
        <dsp:cNvSpPr/>
      </dsp:nvSpPr>
      <dsp:spPr>
        <a:xfrm>
          <a:off x="1474598" y="1425568"/>
          <a:ext cx="1177825" cy="117782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600" b="1" kern="1200" dirty="0" smtClean="0"/>
            <a:t>Question</a:t>
          </a:r>
          <a:endParaRPr lang="en-IE" sz="1600" b="1" kern="1200" dirty="0"/>
        </a:p>
      </dsp:txBody>
      <dsp:txXfrm>
        <a:off x="1647086" y="1598056"/>
        <a:ext cx="832849" cy="832849"/>
      </dsp:txXfrm>
    </dsp:sp>
    <dsp:sp modelId="{39F83B6E-C2BB-4A46-A702-E19FBBCF02E4}">
      <dsp:nvSpPr>
        <dsp:cNvPr id="0" name=""/>
        <dsp:cNvSpPr/>
      </dsp:nvSpPr>
      <dsp:spPr>
        <a:xfrm>
          <a:off x="631798" y="541937"/>
          <a:ext cx="1177825" cy="117782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600" b="1" kern="1200" dirty="0" err="1" smtClean="0"/>
            <a:t>CodeList</a:t>
          </a:r>
          <a:endParaRPr lang="en-IE" sz="1600" b="1" kern="1200" dirty="0"/>
        </a:p>
      </dsp:txBody>
      <dsp:txXfrm>
        <a:off x="804286" y="714425"/>
        <a:ext cx="832849" cy="832849"/>
      </dsp:txXfrm>
    </dsp:sp>
    <dsp:sp modelId="{92174101-5BBA-44C2-8B0A-74BCE7308D30}">
      <dsp:nvSpPr>
        <dsp:cNvPr id="0" name=""/>
        <dsp:cNvSpPr/>
      </dsp:nvSpPr>
      <dsp:spPr>
        <a:xfrm>
          <a:off x="1835798" y="257165"/>
          <a:ext cx="1177825" cy="117782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600" b="1" kern="1200" dirty="0" smtClean="0"/>
            <a:t>Variable</a:t>
          </a:r>
          <a:endParaRPr lang="en-IE" sz="1600" b="1" kern="1200" dirty="0"/>
        </a:p>
      </dsp:txBody>
      <dsp:txXfrm>
        <a:off x="2008286" y="429653"/>
        <a:ext cx="832849" cy="832849"/>
      </dsp:txXfrm>
    </dsp:sp>
    <dsp:sp modelId="{8EB145EC-D0C9-4ED0-B99C-F867FE5DB03B}">
      <dsp:nvSpPr>
        <dsp:cNvPr id="0" name=""/>
        <dsp:cNvSpPr/>
      </dsp:nvSpPr>
      <dsp:spPr>
        <a:xfrm>
          <a:off x="216037" y="72022"/>
          <a:ext cx="3664346" cy="2931477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577B2-B9F2-4F10-8ED9-4286D6A03FDE}">
      <dsp:nvSpPr>
        <dsp:cNvPr id="0" name=""/>
        <dsp:cNvSpPr/>
      </dsp:nvSpPr>
      <dsp:spPr>
        <a:xfrm>
          <a:off x="1404620" y="165099"/>
          <a:ext cx="3276600" cy="113792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0A81D-1D88-472F-A595-B69742FB2187}">
      <dsp:nvSpPr>
        <dsp:cNvPr id="0" name=""/>
        <dsp:cNvSpPr/>
      </dsp:nvSpPr>
      <dsp:spPr>
        <a:xfrm>
          <a:off x="2730500" y="2951479"/>
          <a:ext cx="635000" cy="40640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2C4E9-1B3B-404D-AC02-5DB70E5B1160}">
      <dsp:nvSpPr>
        <dsp:cNvPr id="0" name=""/>
        <dsp:cNvSpPr/>
      </dsp:nvSpPr>
      <dsp:spPr>
        <a:xfrm>
          <a:off x="1524000" y="3276600"/>
          <a:ext cx="30480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  <a:sp3d extrusionH="28000" prstMaterial="matte"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2700" kern="1200" dirty="0" err="1" smtClean="0"/>
            <a:t>Datalift</a:t>
          </a:r>
          <a:r>
            <a:rPr lang="en-IE" sz="2700" kern="1200" dirty="0" smtClean="0"/>
            <a:t> API</a:t>
          </a:r>
          <a:endParaRPr lang="en-IE" sz="2700" kern="1200" dirty="0"/>
        </a:p>
      </dsp:txBody>
      <dsp:txXfrm>
        <a:off x="1524000" y="3276600"/>
        <a:ext cx="3048000" cy="762000"/>
      </dsp:txXfrm>
    </dsp:sp>
    <dsp:sp modelId="{65953707-D35F-46A0-8795-295C7F051D02}">
      <dsp:nvSpPr>
        <dsp:cNvPr id="0" name=""/>
        <dsp:cNvSpPr/>
      </dsp:nvSpPr>
      <dsp:spPr>
        <a:xfrm>
          <a:off x="2595880" y="1390904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  <a:sp3d extrusionH="28000" prstMaterial="matte"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500" b="1" kern="1200" dirty="0" smtClean="0"/>
            <a:t>Classification</a:t>
          </a:r>
          <a:endParaRPr lang="en-IE" sz="1500" b="1" kern="1200" dirty="0"/>
        </a:p>
      </dsp:txBody>
      <dsp:txXfrm>
        <a:off x="2763268" y="1558292"/>
        <a:ext cx="808224" cy="808224"/>
      </dsp:txXfrm>
    </dsp:sp>
    <dsp:sp modelId="{781F5DEC-F12D-4E84-BC0F-AE03CA6DF9A8}">
      <dsp:nvSpPr>
        <dsp:cNvPr id="0" name=""/>
        <dsp:cNvSpPr/>
      </dsp:nvSpPr>
      <dsp:spPr>
        <a:xfrm>
          <a:off x="1778000" y="533399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p3d extrusionH="28000" prstMaterial="matte"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800" b="1" kern="1200" dirty="0" smtClean="0"/>
            <a:t>Concept</a:t>
          </a:r>
          <a:endParaRPr lang="en-IE" sz="1800" b="1" kern="1200" dirty="0"/>
        </a:p>
      </dsp:txBody>
      <dsp:txXfrm>
        <a:off x="1945388" y="700787"/>
        <a:ext cx="808224" cy="808224"/>
      </dsp:txXfrm>
    </dsp:sp>
    <dsp:sp modelId="{F16B96CD-1ECD-48E9-A9EE-4ADECB9A7722}">
      <dsp:nvSpPr>
        <dsp:cNvPr id="0" name=""/>
        <dsp:cNvSpPr/>
      </dsp:nvSpPr>
      <dsp:spPr>
        <a:xfrm>
          <a:off x="2946400" y="257047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p3d extrusionH="28000" prstMaterial="matte"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E" sz="1800" b="1" kern="1200" dirty="0" smtClean="0"/>
            <a:t>Datasets</a:t>
          </a:r>
          <a:endParaRPr lang="en-IE" sz="1800" b="1" kern="1200" dirty="0"/>
        </a:p>
      </dsp:txBody>
      <dsp:txXfrm>
        <a:off x="3113788" y="424435"/>
        <a:ext cx="808224" cy="808224"/>
      </dsp:txXfrm>
    </dsp:sp>
    <dsp:sp modelId="{5D6E82B2-6748-4384-970B-DE0BB80073A6}">
      <dsp:nvSpPr>
        <dsp:cNvPr id="0" name=""/>
        <dsp:cNvSpPr/>
      </dsp:nvSpPr>
      <dsp:spPr>
        <a:xfrm>
          <a:off x="1270000" y="25399"/>
          <a:ext cx="3556000" cy="284480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34FBDFC-3326-4BDC-877F-A9E6FEC198FE}" type="datetimeFigureOut">
              <a:rPr lang="en-IE" smtClean="0"/>
              <a:t>01/12/2015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D5F7E24-26AE-47BC-A3CD-FEE07CD298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501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F7E24-26AE-47BC-A3CD-FEE07CD29803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090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938F31CD-FE66-4F0D-AD6D-69E5A6A1691D}" type="datetimeFigureOut">
              <a:rPr lang="fr-FR" smtClean="0"/>
              <a:t>01/12/2015</a:t>
            </a:fld>
            <a:endParaRPr lang="fr-FR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5885208-F603-4369-A3E8-91E25E0C5D17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rdf.insee.fr/common/naf/naf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 smtClean="0"/>
              <a:t>How </a:t>
            </a:r>
            <a:r>
              <a:rPr lang="fr-FR" sz="4800" dirty="0" err="1" smtClean="0"/>
              <a:t>can</a:t>
            </a:r>
            <a:r>
              <a:rPr lang="fr-FR" sz="4800" dirty="0" smtClean="0"/>
              <a:t> DDI </a:t>
            </a:r>
            <a:r>
              <a:rPr lang="fr-FR" sz="4800" dirty="0" err="1" smtClean="0"/>
              <a:t>make</a:t>
            </a:r>
            <a:r>
              <a:rPr lang="fr-FR" sz="4800" dirty="0" smtClean="0"/>
              <a:t> the </a:t>
            </a:r>
            <a:r>
              <a:rPr lang="fr-FR" sz="4800" dirty="0" err="1" smtClean="0"/>
              <a:t>most</a:t>
            </a:r>
            <a:r>
              <a:rPr lang="fr-FR" sz="4800" dirty="0" smtClean="0"/>
              <a:t> of RDF? </a:t>
            </a:r>
            <a:endParaRPr lang="fr-FR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1800" dirty="0" smtClean="0"/>
              <a:t>EDDI15 </a:t>
            </a:r>
            <a:r>
              <a:rPr lang="en-IE" sz="1800" dirty="0" smtClean="0"/>
              <a:t>Conference</a:t>
            </a:r>
            <a:r>
              <a:rPr lang="fr-FR" sz="1800" dirty="0" smtClean="0"/>
              <a:t> – Franck Cotton / Guillaume </a:t>
            </a:r>
            <a:r>
              <a:rPr lang="fr-FR" sz="1800" dirty="0" err="1" smtClean="0"/>
              <a:t>Duffes</a:t>
            </a:r>
            <a:r>
              <a:rPr lang="fr-FR" sz="1800" dirty="0" smtClean="0"/>
              <a:t> - Insee 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6830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Contents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 smtClean="0"/>
              <a:t>Brief overview of RDF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 smtClean="0"/>
              <a:t>DDI and RDF: the premises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 smtClean="0"/>
              <a:t>RDF </a:t>
            </a:r>
            <a:r>
              <a:rPr lang="en-IE" dirty="0" err="1" smtClean="0"/>
              <a:t>vs</a:t>
            </a:r>
            <a:r>
              <a:rPr lang="en-IE" dirty="0" smtClean="0"/>
              <a:t> XML: any value added for DDI?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DDI4 and RDF</a:t>
            </a:r>
            <a:endParaRPr lang="en-IE" dirty="0" smtClean="0"/>
          </a:p>
          <a:p>
            <a:pPr marL="514350" indent="-514350">
              <a:buFont typeface="+mj-lt"/>
              <a:buAutoNum type="arabicPeriod"/>
            </a:pPr>
            <a:r>
              <a:rPr lang="en-IE" dirty="0" smtClean="0"/>
              <a:t>RDF in the statistical community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 smtClean="0"/>
              <a:t>RDF and DDI at </a:t>
            </a:r>
            <a:r>
              <a:rPr lang="en-IE" dirty="0" err="1" smtClean="0"/>
              <a:t>Insee</a:t>
            </a:r>
            <a:endParaRPr lang="en-IE" dirty="0" smtClean="0"/>
          </a:p>
          <a:p>
            <a:pPr marL="514350" indent="-514350">
              <a:buFont typeface="+mj-lt"/>
              <a:buAutoNum type="arabicPeriod"/>
            </a:pPr>
            <a:r>
              <a:rPr lang="en-IE" dirty="0" smtClean="0"/>
              <a:t>Conclusion</a:t>
            </a:r>
          </a:p>
          <a:p>
            <a:pPr marL="0" indent="0">
              <a:buNone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65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Brief</a:t>
            </a:r>
            <a:r>
              <a:rPr lang="fr-FR" dirty="0" smtClean="0"/>
              <a:t> </a:t>
            </a:r>
            <a:r>
              <a:rPr lang="fr-FR" dirty="0" err="1" smtClean="0"/>
              <a:t>overview</a:t>
            </a:r>
            <a:r>
              <a:rPr lang="fr-FR" dirty="0" smtClean="0"/>
              <a:t> of RDF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 smtClean="0"/>
              <a:t>RDF is defined in the W3C specification as follows: “</a:t>
            </a:r>
            <a:r>
              <a:rPr lang="en-US" sz="2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Resource Description Framework (RDF) is a foundation for processing metadata; it provides interoperability between applications that exchange machine-understandable information on the Web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.[…] </a:t>
            </a:r>
            <a:r>
              <a:rPr lang="en-US" sz="2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broad goal of RDF is to define a mechanism for describing resources that makes no assumptions about a particular application domain, nor defines (a priori) the semantics of any application domain.</a:t>
            </a:r>
            <a:r>
              <a:rPr lang="en-IE" sz="2600" i="1" dirty="0" smtClean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3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Brief</a:t>
            </a:r>
            <a:r>
              <a:rPr lang="fr-FR" dirty="0" smtClean="0"/>
              <a:t> </a:t>
            </a:r>
            <a:r>
              <a:rPr lang="fr-FR" dirty="0" err="1" smtClean="0"/>
              <a:t>overview</a:t>
            </a:r>
            <a:r>
              <a:rPr lang="fr-FR" dirty="0" smtClean="0"/>
              <a:t> of RDF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1026440"/>
          </a:xfrm>
        </p:spPr>
        <p:txBody>
          <a:bodyPr/>
          <a:lstStyle/>
          <a:p>
            <a:r>
              <a:rPr lang="en-IE" dirty="0" smtClean="0"/>
              <a:t>The basic model consists of three </a:t>
            </a:r>
            <a:r>
              <a:rPr lang="en-IE" dirty="0" smtClean="0"/>
              <a:t>types of elements </a:t>
            </a:r>
            <a:r>
              <a:rPr lang="en-IE" dirty="0" smtClean="0"/>
              <a:t>represented below:</a:t>
            </a:r>
          </a:p>
        </p:txBody>
      </p:sp>
      <p:sp>
        <p:nvSpPr>
          <p:cNvPr id="4" name="Rounded Rectangle 3"/>
          <p:cNvSpPr/>
          <p:nvPr/>
        </p:nvSpPr>
        <p:spPr>
          <a:xfrm rot="21391525">
            <a:off x="537155" y="3099260"/>
            <a:ext cx="2519884" cy="1512168"/>
          </a:xfrm>
          <a:prstGeom prst="roundRect">
            <a:avLst/>
          </a:prstGeom>
          <a:scene3d>
            <a:camera prst="isometricOffAxis2Right">
              <a:rot lat="1311448" lon="396085" rev="21453782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 smtClean="0">
                <a:solidFill>
                  <a:srgbClr val="00B0F0"/>
                </a:solidFill>
              </a:rPr>
              <a:t>http://rdf.insee.fr/classification/naf</a:t>
            </a:r>
            <a:endParaRPr lang="en-IE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6012160" y="2708920"/>
            <a:ext cx="2592288" cy="2088232"/>
          </a:xfrm>
          <a:prstGeom prst="roundRect">
            <a:avLst/>
          </a:prstGeom>
          <a:solidFill>
            <a:srgbClr val="FFFF00"/>
          </a:solidFill>
          <a:scene3d>
            <a:camera prst="isometricOffAxis1Left"/>
            <a:lightRig rig="contrasting" dir="t">
              <a:rot lat="0" lon="0" rev="12000000"/>
            </a:lightRig>
          </a:scene3d>
          <a:sp3d prstMaterial="powder">
            <a:bevelT h="508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 err="1" smtClean="0">
                <a:solidFill>
                  <a:srgbClr val="00B0F0"/>
                </a:solidFill>
              </a:rPr>
              <a:t>Insee</a:t>
            </a:r>
            <a:endParaRPr lang="en-IE" sz="3200" dirty="0" smtClean="0">
              <a:solidFill>
                <a:srgbClr val="00B0F0"/>
              </a:solidFill>
            </a:endParaRPr>
          </a:p>
        </p:txBody>
      </p:sp>
      <p:sp>
        <p:nvSpPr>
          <p:cNvPr id="6" name="Right Arrow 5" title="Questionnaire generator"/>
          <p:cNvSpPr/>
          <p:nvPr/>
        </p:nvSpPr>
        <p:spPr>
          <a:xfrm>
            <a:off x="3100546" y="3813532"/>
            <a:ext cx="3365530" cy="484632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 err="1" smtClean="0"/>
              <a:t>dcterms:publisher</a:t>
            </a:r>
            <a:endParaRPr lang="en-IE" dirty="0"/>
          </a:p>
        </p:txBody>
      </p:sp>
      <p:sp>
        <p:nvSpPr>
          <p:cNvPr id="7" name="TextBox 6"/>
          <p:cNvSpPr txBox="1"/>
          <p:nvPr/>
        </p:nvSpPr>
        <p:spPr>
          <a:xfrm>
            <a:off x="1144613" y="2654958"/>
            <a:ext cx="1296144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smtClean="0"/>
              <a:t>subject</a:t>
            </a:r>
            <a:endParaRPr lang="en-IE" dirty="0"/>
          </a:p>
        </p:txBody>
      </p:sp>
      <p:sp>
        <p:nvSpPr>
          <p:cNvPr id="8" name="TextBox 7"/>
          <p:cNvSpPr txBox="1"/>
          <p:nvPr/>
        </p:nvSpPr>
        <p:spPr>
          <a:xfrm>
            <a:off x="3851920" y="3444200"/>
            <a:ext cx="1296144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smtClean="0"/>
              <a:t>predicate</a:t>
            </a:r>
            <a:endParaRPr lang="en-IE" dirty="0"/>
          </a:p>
        </p:txBody>
      </p:sp>
      <p:sp>
        <p:nvSpPr>
          <p:cNvPr id="9" name="TextBox 8"/>
          <p:cNvSpPr txBox="1"/>
          <p:nvPr/>
        </p:nvSpPr>
        <p:spPr>
          <a:xfrm>
            <a:off x="6588224" y="1988840"/>
            <a:ext cx="1130260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smtClean="0"/>
              <a:t>object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0116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DDI and RDF: the </a:t>
            </a:r>
            <a:r>
              <a:rPr lang="fr-FR" dirty="0" err="1" smtClean="0"/>
              <a:t>premises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 smtClean="0"/>
              <a:t>In its early versions, DDI already dealt </a:t>
            </a:r>
            <a:r>
              <a:rPr lang="en-IE" dirty="0" smtClean="0"/>
              <a:t>with vocabularies</a:t>
            </a:r>
            <a:r>
              <a:rPr lang="en-IE" dirty="0" smtClean="0"/>
              <a:t>, </a:t>
            </a:r>
            <a:r>
              <a:rPr lang="en-IE" dirty="0" err="1" smtClean="0"/>
              <a:t>e.g</a:t>
            </a:r>
            <a:r>
              <a:rPr lang="en-IE" dirty="0" smtClean="0"/>
              <a:t> the Dublin Core </a:t>
            </a:r>
            <a:r>
              <a:rPr lang="en-IE" dirty="0" smtClean="0"/>
              <a:t>elements which have RDF as main implementation today.</a:t>
            </a:r>
            <a:endParaRPr lang="en-IE" dirty="0" smtClean="0"/>
          </a:p>
          <a:p>
            <a:r>
              <a:rPr lang="en-IE" dirty="0" smtClean="0"/>
              <a:t>Imported </a:t>
            </a:r>
            <a:r>
              <a:rPr lang="en-IE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priori</a:t>
            </a:r>
            <a:r>
              <a:rPr lang="en-IE" dirty="0" smtClean="0"/>
              <a:t> as an external XML Schema (own namespace). Limits…</a:t>
            </a:r>
          </a:p>
          <a:p>
            <a:r>
              <a:rPr lang="en-IE" dirty="0" smtClean="0"/>
              <a:t>What if another framework allowed to reference </a:t>
            </a:r>
            <a:r>
              <a:rPr lang="en-IE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posteriori</a:t>
            </a:r>
            <a:r>
              <a:rPr lang="en-IE" dirty="0" smtClean="0"/>
              <a:t> as many vocabularies as needed </a:t>
            </a:r>
            <a:r>
              <a:rPr lang="en-IE" dirty="0" smtClean="0">
                <a:sym typeface="Wingdings" pitchFamily="2" charset="2"/>
              </a:rPr>
              <a:t> RDF</a:t>
            </a:r>
            <a:endParaRPr lang="en-IE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609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45224"/>
            <a:ext cx="8183880" cy="835536"/>
          </a:xfrm>
        </p:spPr>
        <p:txBody>
          <a:bodyPr>
            <a:normAutofit/>
          </a:bodyPr>
          <a:lstStyle/>
          <a:p>
            <a:pPr marL="514350" indent="-514350"/>
            <a:r>
              <a:rPr lang="en-IE" sz="2800" dirty="0"/>
              <a:t>RDF </a:t>
            </a:r>
            <a:r>
              <a:rPr lang="en-IE" sz="2800" dirty="0" err="1"/>
              <a:t>vs</a:t>
            </a:r>
            <a:r>
              <a:rPr lang="en-IE" sz="2800" dirty="0"/>
              <a:t> XML: any value added for DDI?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XML </a:t>
            </a:r>
            <a:r>
              <a:rPr lang="fr-FR" dirty="0" err="1" smtClean="0"/>
              <a:t>serialised</a:t>
            </a:r>
            <a:r>
              <a:rPr lang="fr-FR" dirty="0" smtClean="0"/>
              <a:t> as XML </a:t>
            </a:r>
            <a:r>
              <a:rPr lang="fr-FR" dirty="0" err="1" smtClean="0"/>
              <a:t>Schemas</a:t>
            </a:r>
            <a:r>
              <a:rPr lang="fr-FR" dirty="0" smtClean="0"/>
              <a:t> </a:t>
            </a:r>
            <a:r>
              <a:rPr lang="fr-FR" dirty="0" smtClean="0">
                <a:sym typeface="Wingdings" pitchFamily="2" charset="2"/>
              </a:rPr>
              <a:t> </a:t>
            </a:r>
            <a:r>
              <a:rPr lang="fr-FR" dirty="0" err="1" smtClean="0">
                <a:sym typeface="Wingdings" pitchFamily="2" charset="2"/>
              </a:rPr>
              <a:t>strongly</a:t>
            </a:r>
            <a:r>
              <a:rPr lang="fr-FR" dirty="0" smtClean="0">
                <a:sym typeface="Wingdings" pitchFamily="2" charset="2"/>
              </a:rPr>
              <a:t> </a:t>
            </a:r>
            <a:r>
              <a:rPr lang="fr-FR" dirty="0" err="1" smtClean="0">
                <a:sym typeface="Wingdings" pitchFamily="2" charset="2"/>
              </a:rPr>
              <a:t>typed</a:t>
            </a:r>
            <a:r>
              <a:rPr lang="fr-FR" dirty="0">
                <a:sym typeface="Wingdings" pitchFamily="2" charset="2"/>
              </a:rPr>
              <a:t> </a:t>
            </a:r>
            <a:r>
              <a:rPr lang="fr-FR" dirty="0" smtClean="0">
                <a:sym typeface="Wingdings" pitchFamily="2" charset="2"/>
              </a:rPr>
              <a:t>and </a:t>
            </a:r>
            <a:r>
              <a:rPr lang="fr-FR" dirty="0" err="1" smtClean="0">
                <a:sym typeface="Wingdings" pitchFamily="2" charset="2"/>
              </a:rPr>
              <a:t>binding</a:t>
            </a:r>
            <a:r>
              <a:rPr lang="fr-FR" dirty="0" smtClean="0">
                <a:sym typeface="Wingdings" pitchFamily="2" charset="2"/>
              </a:rPr>
              <a:t>..</a:t>
            </a:r>
            <a:r>
              <a:rPr lang="fr-FR" dirty="0" smtClean="0"/>
              <a:t>.</a:t>
            </a:r>
          </a:p>
          <a:p>
            <a:r>
              <a:rPr lang="fr-FR" dirty="0" smtClean="0"/>
              <a:t>But </a:t>
            </a:r>
            <a:r>
              <a:rPr lang="fr-FR" dirty="0" err="1" smtClean="0"/>
              <a:t>also</a:t>
            </a:r>
            <a:r>
              <a:rPr lang="fr-FR" dirty="0" smtClean="0"/>
              <a:t> a </a:t>
            </a:r>
            <a:r>
              <a:rPr lang="fr-FR" dirty="0" err="1" smtClean="0"/>
              <a:t>closed</a:t>
            </a:r>
            <a:r>
              <a:rPr lang="fr-FR" dirty="0" smtClean="0"/>
              <a:t> model: if one </a:t>
            </a:r>
            <a:r>
              <a:rPr lang="fr-FR" dirty="0" err="1" smtClean="0"/>
              <a:t>property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missing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cannot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added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another</a:t>
            </a:r>
            <a:r>
              <a:rPr lang="fr-FR" dirty="0" smtClean="0"/>
              <a:t> XSD </a:t>
            </a:r>
            <a:r>
              <a:rPr lang="fr-FR" dirty="0" err="1" smtClean="0"/>
              <a:t>schema</a:t>
            </a:r>
            <a:r>
              <a:rPr lang="fr-FR" dirty="0" smtClean="0"/>
              <a:t>.</a:t>
            </a:r>
          </a:p>
          <a:p>
            <a:r>
              <a:rPr lang="fr-FR" dirty="0" smtClean="0"/>
              <a:t>The </a:t>
            </a:r>
            <a:r>
              <a:rPr lang="fr-FR" dirty="0" err="1" smtClean="0"/>
              <a:t>only</a:t>
            </a:r>
            <a:r>
              <a:rPr lang="fr-FR" dirty="0" smtClean="0"/>
              <a:t> solution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: </a:t>
            </a:r>
            <a:r>
              <a:rPr lang="fr-FR" dirty="0" err="1" smtClean="0"/>
              <a:t>extend</a:t>
            </a:r>
            <a:r>
              <a:rPr lang="fr-FR" dirty="0" smtClean="0"/>
              <a:t> the </a:t>
            </a:r>
            <a:r>
              <a:rPr lang="fr-FR" dirty="0" err="1" smtClean="0"/>
              <a:t>schema</a:t>
            </a:r>
            <a:r>
              <a:rPr lang="fr-FR" dirty="0" smtClean="0"/>
              <a:t> </a:t>
            </a:r>
            <a:r>
              <a:rPr lang="fr-FR" dirty="0" smtClean="0">
                <a:sym typeface="Wingdings" pitchFamily="2" charset="2"/>
              </a:rPr>
              <a:t> </a:t>
            </a:r>
            <a:r>
              <a:rPr lang="fr-FR" dirty="0" err="1" smtClean="0">
                <a:sym typeface="Wingdings" pitchFamily="2" charset="2"/>
              </a:rPr>
              <a:t>backward</a:t>
            </a:r>
            <a:r>
              <a:rPr lang="fr-FR" dirty="0" smtClean="0">
                <a:sym typeface="Wingdings" pitchFamily="2" charset="2"/>
              </a:rPr>
              <a:t> compatibility impossible.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57838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517232"/>
            <a:ext cx="8183880" cy="835536"/>
          </a:xfrm>
        </p:spPr>
        <p:txBody>
          <a:bodyPr>
            <a:normAutofit/>
          </a:bodyPr>
          <a:lstStyle/>
          <a:p>
            <a:r>
              <a:rPr lang="en-IE" sz="2800" dirty="0"/>
              <a:t>RDF </a:t>
            </a:r>
            <a:r>
              <a:rPr lang="en-IE" sz="2800" dirty="0" err="1"/>
              <a:t>vs</a:t>
            </a:r>
            <a:r>
              <a:rPr lang="en-IE" sz="2800" dirty="0"/>
              <a:t> XML: any value added for DDI?</a:t>
            </a:r>
            <a:endParaRPr lang="fr-F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RDF on the contrary allows to combine different vocabularies</a:t>
            </a:r>
            <a:r>
              <a:rPr lang="fr-FR" dirty="0" smtClean="0"/>
              <a:t>.</a:t>
            </a:r>
            <a:endParaRPr lang="fr-FR" dirty="0"/>
          </a:p>
          <a:p>
            <a:r>
              <a:rPr lang="en-US" dirty="0"/>
              <a:t>If a property is missing, then certainly a more specific vocabulary exists and defines it, use it</a:t>
            </a:r>
            <a:r>
              <a:rPr lang="en-US" dirty="0" smtClean="0"/>
              <a:t>!</a:t>
            </a:r>
          </a:p>
          <a:p>
            <a:r>
              <a:rPr lang="fr-FR" dirty="0" err="1" smtClean="0"/>
              <a:t>Well</a:t>
            </a:r>
            <a:r>
              <a:rPr lang="fr-FR" dirty="0" smtClean="0"/>
              <a:t> </a:t>
            </a:r>
            <a:r>
              <a:rPr lang="fr-FR" dirty="0" err="1" smtClean="0"/>
              <a:t>known</a:t>
            </a:r>
            <a:r>
              <a:rPr lang="fr-FR" dirty="0" smtClean="0"/>
              <a:t> and </a:t>
            </a:r>
            <a:r>
              <a:rPr lang="fr-FR" dirty="0" err="1" smtClean="0"/>
              <a:t>defined</a:t>
            </a:r>
            <a:r>
              <a:rPr lang="fr-FR" dirty="0" smtClean="0"/>
              <a:t> RDF </a:t>
            </a:r>
            <a:r>
              <a:rPr lang="fr-FR" dirty="0" err="1" smtClean="0"/>
              <a:t>vocabularies</a:t>
            </a:r>
            <a:r>
              <a:rPr lang="fr-FR" dirty="0" smtClean="0"/>
              <a:t> are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legions</a:t>
            </a:r>
            <a:r>
              <a:rPr lang="fr-FR" dirty="0" smtClean="0"/>
              <a:t>: Dublin </a:t>
            </a:r>
            <a:r>
              <a:rPr lang="fr-FR" dirty="0" err="1" smtClean="0"/>
              <a:t>Core</a:t>
            </a:r>
            <a:r>
              <a:rPr lang="fr-FR" dirty="0" smtClean="0"/>
              <a:t>, FOAF, SKOS, PAV</a:t>
            </a:r>
            <a:r>
              <a:rPr lang="fr-FR" dirty="0" smtClean="0"/>
              <a:t>, PROV, </a:t>
            </a:r>
            <a:r>
              <a:rPr lang="fr-FR" dirty="0" smtClean="0"/>
              <a:t>etc.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659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DDI4 and RDF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 smtClean="0"/>
              <a:t>DDI4 is documented </a:t>
            </a:r>
            <a:r>
              <a:rPr lang="en-IE" dirty="0" smtClean="0"/>
              <a:t>according to </a:t>
            </a:r>
            <a:r>
              <a:rPr lang="en-IE" dirty="0" smtClean="0"/>
              <a:t>functional views.</a:t>
            </a:r>
          </a:p>
          <a:p>
            <a:r>
              <a:rPr lang="en-IE" dirty="0" smtClean="0"/>
              <a:t>DDI4 should make the most of existing vocabularies in functional views (</a:t>
            </a:r>
            <a:r>
              <a:rPr lang="en-IE" dirty="0" err="1" smtClean="0"/>
              <a:t>e.g</a:t>
            </a:r>
            <a:r>
              <a:rPr lang="en-IE" dirty="0" smtClean="0"/>
              <a:t> a concept in DDI should be a SKOS concept)</a:t>
            </a:r>
          </a:p>
          <a:p>
            <a:r>
              <a:rPr lang="en-US" dirty="0"/>
              <a:t>RDF comes along now with RDF databases called Triple Stores. Mature commercial or open-source solutions exist.</a:t>
            </a:r>
            <a:endParaRPr lang="en-IE" dirty="0" smtClean="0"/>
          </a:p>
          <a:p>
            <a:pPr marL="347472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945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157192"/>
            <a:ext cx="8183880" cy="877848"/>
          </a:xfrm>
        </p:spPr>
        <p:txBody>
          <a:bodyPr>
            <a:normAutofit fontScale="90000"/>
          </a:bodyPr>
          <a:lstStyle/>
          <a:p>
            <a:r>
              <a:rPr lang="en-IE" dirty="0" smtClean="0"/>
              <a:t>RDF in the statistical community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 smtClean="0"/>
              <a:t>Various initiatives in the statistical community are under progress:</a:t>
            </a:r>
          </a:p>
          <a:p>
            <a:pPr lvl="1"/>
            <a:r>
              <a:rPr lang="en-IE" dirty="0" smtClean="0"/>
              <a:t>HLG-MOS (UNECE): </a:t>
            </a:r>
            <a:r>
              <a:rPr lang="en-IE" dirty="0" smtClean="0"/>
              <a:t>Work on Linked </a:t>
            </a:r>
            <a:r>
              <a:rPr lang="en-IE" dirty="0" smtClean="0"/>
              <a:t>Open </a:t>
            </a:r>
            <a:r>
              <a:rPr lang="en-IE" dirty="0" smtClean="0"/>
              <a:t>Metadata</a:t>
            </a:r>
            <a:endParaRPr lang="en-IE" dirty="0" smtClean="0"/>
          </a:p>
          <a:p>
            <a:pPr lvl="1"/>
            <a:r>
              <a:rPr lang="en-IE" dirty="0" smtClean="0"/>
              <a:t>One Work Package in the DIGICOM project (European level)</a:t>
            </a:r>
          </a:p>
          <a:p>
            <a:pPr lvl="1"/>
            <a:r>
              <a:rPr lang="en-IE" dirty="0" smtClean="0"/>
              <a:t>Continuing development of the RDF Data Cube</a:t>
            </a:r>
          </a:p>
          <a:p>
            <a:pPr lvl="1"/>
            <a:r>
              <a:rPr lang="en-IE" smtClean="0"/>
              <a:t>SemStats</a:t>
            </a:r>
            <a:r>
              <a:rPr lang="en-IE" smtClean="0"/>
              <a:t>.</a:t>
            </a:r>
            <a:endParaRPr lang="en-IE" dirty="0" smtClean="0"/>
          </a:p>
        </p:txBody>
      </p:sp>
    </p:spTree>
    <p:extLst>
      <p:ext uri="{BB962C8B-B14F-4D97-AF65-F5344CB8AC3E}">
        <p14:creationId xmlns:p14="http://schemas.microsoft.com/office/powerpoint/2010/main" val="281812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 descr="C:\Users\Guillaume\Documents\DDI\EDDI 2015\rd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805" y="602528"/>
            <a:ext cx="3911646" cy="5224859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lowchart: Magnetic Disk 15"/>
          <p:cNvSpPr/>
          <p:nvPr/>
        </p:nvSpPr>
        <p:spPr>
          <a:xfrm>
            <a:off x="4716016" y="620688"/>
            <a:ext cx="3744416" cy="5112568"/>
          </a:xfrm>
          <a:prstGeom prst="flowChartMagneticDisk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467544" y="764704"/>
            <a:ext cx="3744416" cy="5112568"/>
          </a:xfrm>
          <a:prstGeom prst="flowChartMagneticDisk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733256"/>
            <a:ext cx="8183880" cy="661824"/>
          </a:xfrm>
        </p:spPr>
        <p:txBody>
          <a:bodyPr/>
          <a:lstStyle/>
          <a:p>
            <a:r>
              <a:rPr lang="en-US" dirty="0"/>
              <a:t>RDF and DDI at </a:t>
            </a:r>
            <a:r>
              <a:rPr lang="en-US" dirty="0" err="1"/>
              <a:t>Insee</a:t>
            </a:r>
            <a:endParaRPr lang="fr-FR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500948"/>
              </p:ext>
            </p:extLst>
          </p:nvPr>
        </p:nvGraphicFramePr>
        <p:xfrm>
          <a:off x="467544" y="1844824"/>
          <a:ext cx="8183562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652188734"/>
              </p:ext>
            </p:extLst>
          </p:nvPr>
        </p:nvGraphicFramePr>
        <p:xfrm>
          <a:off x="3779912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Left-Right Arrow 9"/>
          <p:cNvSpPr/>
          <p:nvPr/>
        </p:nvSpPr>
        <p:spPr>
          <a:xfrm>
            <a:off x="3305492" y="4077072"/>
            <a:ext cx="2448272" cy="592533"/>
          </a:xfrm>
          <a:prstGeom prst="leftRightArrow">
            <a:avLst/>
          </a:prstGeom>
          <a:solidFill>
            <a:schemeClr val="accent6">
              <a:lumMod val="75000"/>
              <a:alpha val="25000"/>
            </a:schemeClr>
          </a:solidFill>
          <a:ln>
            <a:solidFill>
              <a:schemeClr val="accent1">
                <a:shade val="50000"/>
                <a:alpha val="22000"/>
              </a:schemeClr>
            </a:solidFill>
          </a:ln>
          <a:effectLst/>
          <a:scene3d>
            <a:camera prst="orthographicFront"/>
            <a:lightRig rig="threePt" dir="t">
              <a:rot lat="0" lon="0" rev="3000000"/>
            </a:lightRig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Web Services</a:t>
            </a:r>
            <a:endParaRPr lang="en-IE" dirty="0"/>
          </a:p>
        </p:txBody>
      </p:sp>
      <p:sp>
        <p:nvSpPr>
          <p:cNvPr id="11" name="TextBox 10"/>
          <p:cNvSpPr txBox="1"/>
          <p:nvPr/>
        </p:nvSpPr>
        <p:spPr>
          <a:xfrm>
            <a:off x="1007604" y="1464673"/>
            <a:ext cx="2664296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err="1" smtClean="0"/>
              <a:t>Colectica</a:t>
            </a:r>
            <a:r>
              <a:rPr lang="en-IE" dirty="0" smtClean="0"/>
              <a:t> Repository and Designer</a:t>
            </a:r>
            <a:endParaRPr lang="en-IE" dirty="0"/>
          </a:p>
        </p:txBody>
      </p:sp>
      <p:sp>
        <p:nvSpPr>
          <p:cNvPr id="12" name="TextBox 11"/>
          <p:cNvSpPr txBox="1"/>
          <p:nvPr/>
        </p:nvSpPr>
        <p:spPr>
          <a:xfrm>
            <a:off x="5256076" y="1355638"/>
            <a:ext cx="2664296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err="1" smtClean="0"/>
              <a:t>Datalift</a:t>
            </a:r>
            <a:r>
              <a:rPr lang="en-IE" dirty="0" smtClean="0"/>
              <a:t> Framework + additional modules </a:t>
            </a:r>
            <a:endParaRPr lang="en-IE" dirty="0"/>
          </a:p>
        </p:txBody>
      </p:sp>
      <p:sp>
        <p:nvSpPr>
          <p:cNvPr id="15" name="TextBox 14"/>
          <p:cNvSpPr txBox="1"/>
          <p:nvPr/>
        </p:nvSpPr>
        <p:spPr>
          <a:xfrm>
            <a:off x="1598361" y="508396"/>
            <a:ext cx="1685820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smtClean="0"/>
              <a:t>DDI-XML</a:t>
            </a:r>
            <a:endParaRPr lang="en-IE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45314" y="508396"/>
            <a:ext cx="1685820" cy="43088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200" dirty="0" smtClean="0"/>
              <a:t>RDF-Turtle</a:t>
            </a:r>
            <a:endParaRPr lang="en-IE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1007604" y="1433895"/>
            <a:ext cx="2664296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 smtClean="0"/>
              <a:t>Triple-store based Repository </a:t>
            </a:r>
            <a:endParaRPr lang="en-IE" dirty="0"/>
          </a:p>
        </p:txBody>
      </p:sp>
      <p:sp>
        <p:nvSpPr>
          <p:cNvPr id="18" name="TextBox 17"/>
          <p:cNvSpPr txBox="1"/>
          <p:nvPr/>
        </p:nvSpPr>
        <p:spPr>
          <a:xfrm>
            <a:off x="1598361" y="477618"/>
            <a:ext cx="1685820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smtClean="0"/>
              <a:t>DDI-RDF</a:t>
            </a:r>
            <a:endParaRPr lang="en-IE" sz="2400" dirty="0"/>
          </a:p>
        </p:txBody>
      </p:sp>
      <p:sp>
        <p:nvSpPr>
          <p:cNvPr id="20" name="Left-Right Arrow 19"/>
          <p:cNvSpPr/>
          <p:nvPr/>
        </p:nvSpPr>
        <p:spPr>
          <a:xfrm>
            <a:off x="3312513" y="4077072"/>
            <a:ext cx="2448272" cy="592533"/>
          </a:xfrm>
          <a:prstGeom prst="leftRightArrow">
            <a:avLst/>
          </a:prstGeom>
          <a:solidFill>
            <a:schemeClr val="accent6">
              <a:lumMod val="75000"/>
              <a:alpha val="25000"/>
            </a:schemeClr>
          </a:solidFill>
          <a:ln>
            <a:solidFill>
              <a:schemeClr val="accent1">
                <a:shade val="50000"/>
                <a:alpha val="22000"/>
              </a:schemeClr>
            </a:solidFill>
          </a:ln>
          <a:effectLst/>
          <a:scene3d>
            <a:camera prst="orthographicFront"/>
            <a:lightRig rig="threePt" dir="t">
              <a:rot lat="0" lon="0" rev="3000000"/>
            </a:lightRig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SPARQL Queries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036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3" grpId="0" animBg="1"/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076" y="5733256"/>
            <a:ext cx="8183880" cy="805840"/>
          </a:xfrm>
        </p:spPr>
        <p:txBody>
          <a:bodyPr/>
          <a:lstStyle/>
          <a:p>
            <a:r>
              <a:rPr lang="en-IE" dirty="0" smtClean="0"/>
              <a:t>RDF and DDI at </a:t>
            </a:r>
            <a:r>
              <a:rPr lang="en-IE" dirty="0" err="1" smtClean="0"/>
              <a:t>Insee</a:t>
            </a:r>
            <a:endParaRPr lang="en-IE" dirty="0"/>
          </a:p>
        </p:txBody>
      </p:sp>
      <p:sp>
        <p:nvSpPr>
          <p:cNvPr id="4" name="Horizontal Scroll 3"/>
          <p:cNvSpPr/>
          <p:nvPr/>
        </p:nvSpPr>
        <p:spPr>
          <a:xfrm>
            <a:off x="971600" y="1988840"/>
            <a:ext cx="7488832" cy="3636404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@prefix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rdfs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&lt;http://www.w3.org/2000/01/rdf-schema#&gt;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@prefix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skos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&lt;http://www.w3.org/2004/02/skos/core#&gt;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@prefix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gsim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 &lt;http://rdf.unece.org/gsim/v2#&gt;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@prefix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ddi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&lt;http://rdf.ddialliance.org/ddi#&gt; .</a:t>
            </a:r>
          </a:p>
          <a:p>
            <a:pPr algn="ctr"/>
            <a:endParaRPr lang="en-IE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cncptvarlab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cnpt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WHERE 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cncptvar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gsim:takesMeaningFrom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cnpt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cnpt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skos:Concept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cnptvar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rdfs:label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cncptvarlab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?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cncptvar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I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ddi:ConceptualVariable</a:t>
            </a:r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</a:p>
          <a:p>
            <a:pPr algn="ctr"/>
            <a:r>
              <a:rPr lang="en-I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7" name="Action Button: Forward or Next 6">
            <a:hlinkClick r:id="rId2" highlightClick="1"/>
          </p:cNvPr>
          <p:cNvSpPr/>
          <p:nvPr/>
        </p:nvSpPr>
        <p:spPr>
          <a:xfrm>
            <a:off x="3923928" y="5301208"/>
            <a:ext cx="1440160" cy="648072"/>
          </a:xfrm>
          <a:prstGeom prst="actionButtonForwardNex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IE" dirty="0" smtClean="0"/>
              <a:t>Demo</a:t>
            </a:r>
            <a:endParaRPr lang="en-IE" dirty="0"/>
          </a:p>
        </p:txBody>
      </p:sp>
      <p:sp>
        <p:nvSpPr>
          <p:cNvPr id="6" name="Flowchart: Punched Tape 5"/>
          <p:cNvSpPr/>
          <p:nvPr/>
        </p:nvSpPr>
        <p:spPr>
          <a:xfrm>
            <a:off x="971600" y="627226"/>
            <a:ext cx="7344816" cy="1505629"/>
          </a:xfrm>
          <a:prstGeom prst="flowChartPunchedTap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IE" sz="2200" b="1" dirty="0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How to implement in RDF the following </a:t>
            </a:r>
            <a:r>
              <a:rPr lang="en-IE" sz="2200" b="1" dirty="0" err="1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ddi:ConceptualVariable</a:t>
            </a:r>
            <a:r>
              <a:rPr lang="en-IE" sz="2200" b="1" dirty="0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IE" sz="2200" b="1" dirty="0" err="1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takesMeaningFrom</a:t>
            </a:r>
            <a:r>
              <a:rPr lang="en-IE" sz="2200" b="1" dirty="0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IE" sz="2200" b="1" dirty="0" err="1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skos:Concept</a:t>
            </a:r>
            <a:r>
              <a:rPr lang="en-IE" sz="2200" b="1" dirty="0" smtClean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?</a:t>
            </a:r>
            <a:endParaRPr lang="en-IE" sz="2200" b="1" dirty="0"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475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301208"/>
            <a:ext cx="8183880" cy="733832"/>
          </a:xfrm>
        </p:spPr>
        <p:txBody>
          <a:bodyPr/>
          <a:lstStyle/>
          <a:p>
            <a:r>
              <a:rPr lang="en-IE" dirty="0" smtClean="0"/>
              <a:t>Conclusion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3834752"/>
          </a:xfrm>
        </p:spPr>
        <p:txBody>
          <a:bodyPr>
            <a:normAutofit lnSpcReduction="10000"/>
          </a:bodyPr>
          <a:lstStyle/>
          <a:p>
            <a:r>
              <a:rPr lang="en-IE" dirty="0" smtClean="0"/>
              <a:t>RDF </a:t>
            </a:r>
            <a:r>
              <a:rPr lang="en-US" dirty="0" smtClean="0"/>
              <a:t>enables  </a:t>
            </a:r>
            <a:r>
              <a:rPr lang="en-US" dirty="0"/>
              <a:t>interoperability between </a:t>
            </a:r>
            <a:r>
              <a:rPr lang="en-US" dirty="0" smtClean="0"/>
              <a:t>applications</a:t>
            </a:r>
            <a:r>
              <a:rPr lang="en-IE" dirty="0" smtClean="0"/>
              <a:t>:</a:t>
            </a:r>
          </a:p>
          <a:p>
            <a:pPr lvl="1"/>
            <a:r>
              <a:rPr lang="en-US" dirty="0" smtClean="0"/>
              <a:t>that deal with machine-actionable </a:t>
            </a:r>
            <a:r>
              <a:rPr lang="en-US" dirty="0"/>
              <a:t>information on the </a:t>
            </a:r>
            <a:r>
              <a:rPr lang="en-US" dirty="0" smtClean="0"/>
              <a:t>Web</a:t>
            </a:r>
          </a:p>
          <a:p>
            <a:pPr lvl="1"/>
            <a:r>
              <a:rPr lang="en-IE" dirty="0" smtClean="0"/>
              <a:t>or that manage linked information internally</a:t>
            </a:r>
          </a:p>
          <a:p>
            <a:r>
              <a:rPr lang="en-IE" dirty="0" smtClean="0"/>
              <a:t>RDF is then tailor-made for DDI.</a:t>
            </a:r>
          </a:p>
          <a:p>
            <a:r>
              <a:rPr lang="en-IE" dirty="0" smtClean="0"/>
              <a:t>How would both DDI serialisations evolve in parallel when one is much </a:t>
            </a:r>
            <a:r>
              <a:rPr lang="en-IE" smtClean="0"/>
              <a:t>more “pluggable” </a:t>
            </a:r>
            <a:r>
              <a:rPr lang="en-IE" dirty="0" smtClean="0"/>
              <a:t>than the other?</a:t>
            </a:r>
            <a:endParaRPr lang="en-IE" dirty="0"/>
          </a:p>
        </p:txBody>
      </p:sp>
      <p:pic>
        <p:nvPicPr>
          <p:cNvPr id="1026" name="Picture 2" descr="C:\Users\Guillaume\Documents\DDI\EDDI 2015\imag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005064"/>
            <a:ext cx="2476500" cy="1847850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900000">
              <a:rot lat="92291" lon="82343" rev="134231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44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1453</TotalTime>
  <Words>604</Words>
  <Application>Microsoft Office PowerPoint</Application>
  <PresentationFormat>On-screen Show (4:3)</PresentationFormat>
  <Paragraphs>81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Aspect</vt:lpstr>
      <vt:lpstr>How can DDI make the most of RDF? </vt:lpstr>
      <vt:lpstr>Contents</vt:lpstr>
      <vt:lpstr>Brief overview of RDF</vt:lpstr>
      <vt:lpstr>Brief overview of RDF</vt:lpstr>
      <vt:lpstr>DDI and RDF: the premises</vt:lpstr>
      <vt:lpstr>RDF vs XML: any value added for DDI?</vt:lpstr>
      <vt:lpstr>RDF vs XML: any value added for DDI?</vt:lpstr>
      <vt:lpstr>DDI4 and RDF</vt:lpstr>
      <vt:lpstr>RDF in the statistical community</vt:lpstr>
      <vt:lpstr>RDF and DDI at Insee</vt:lpstr>
      <vt:lpstr>RDF and DDI at Insee</vt:lpstr>
      <vt:lpstr>Conclusion</vt:lpstr>
    </vt:vector>
  </TitlesOfParts>
  <Company>DELLNBX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DDI at Insee</dc:title>
  <dc:creator>Guillaume</dc:creator>
  <cp:lastModifiedBy>Guillaume</cp:lastModifiedBy>
  <cp:revision>91</cp:revision>
  <cp:lastPrinted>2014-11-28T15:25:42Z</cp:lastPrinted>
  <dcterms:created xsi:type="dcterms:W3CDTF">2014-11-25T14:30:21Z</dcterms:created>
  <dcterms:modified xsi:type="dcterms:W3CDTF">2015-12-01T19:44:08Z</dcterms:modified>
</cp:coreProperties>
</file>