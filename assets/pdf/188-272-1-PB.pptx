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0" r:id="rId3"/>
    <p:sldId id="281" r:id="rId4"/>
    <p:sldId id="283" r:id="rId5"/>
    <p:sldId id="282" r:id="rId6"/>
    <p:sldId id="284" r:id="rId7"/>
    <p:sldId id="286" r:id="rId8"/>
    <p:sldId id="287" r:id="rId9"/>
    <p:sldId id="291" r:id="rId10"/>
    <p:sldId id="288" r:id="rId11"/>
    <p:sldId id="289" r:id="rId1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rschewski, Kerrin" initials="borschkn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12" autoAdjust="0"/>
  </p:normalViewPr>
  <p:slideViewPr>
    <p:cSldViewPr showGuides="1">
      <p:cViewPr>
        <p:scale>
          <a:sx n="120" d="100"/>
          <a:sy n="120" d="100"/>
        </p:scale>
        <p:origin x="-654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C98F7-4091-4F4E-AD5A-8B727AAE52FB}" type="datetimeFigureOut">
              <a:rPr lang="de-DE" smtClean="0"/>
              <a:t>02.12.2015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C5D88-6EB0-4A62-A1D1-1FD28241AF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591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1BF98616-8AB3-4077-AF4B-B763E04E56F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530720F8-EE74-4681-810C-DDECBF98082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0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720F8-EE74-4681-810C-DDECBF9808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37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60648"/>
            <a:ext cx="1548172" cy="323621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19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1A5AB-3AB6-4A8B-9906-DD4B1BEE5BDE}" type="datetime1">
              <a:rPr lang="en-US" smtClean="0"/>
              <a:t>12/2/2015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83569" y="980728"/>
            <a:ext cx="7776864" cy="436910"/>
          </a:xfrm>
          <a:prstGeom prst="rect">
            <a:avLst/>
          </a:prstGeom>
        </p:spPr>
        <p:txBody>
          <a:bodyPr lIns="0" rIns="0">
            <a:noAutofit/>
          </a:bodyPr>
          <a:lstStyle>
            <a:lvl1pPr algn="l">
              <a:defRPr sz="36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684213" y="1700808"/>
            <a:ext cx="7776219" cy="4425355"/>
          </a:xfrm>
          <a:prstGeom prst="rect">
            <a:avLst/>
          </a:prstGeom>
        </p:spPr>
        <p:txBody>
          <a:bodyPr lIns="0" rIns="0"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60648"/>
            <a:ext cx="1548172" cy="32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1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DEA4-FE63-49BD-A245-F61A42EF78A5}" type="datetime1">
              <a:rPr lang="en-US" smtClean="0"/>
              <a:t>12/2/2015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1127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507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F6D2-3492-42B0-B8F8-31D183664407}" type="datetime1">
              <a:rPr lang="en-US" smtClean="0"/>
              <a:t>12/2/2015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83569" y="980728"/>
            <a:ext cx="7776864" cy="436910"/>
          </a:xfrm>
          <a:prstGeom prst="rect">
            <a:avLst/>
          </a:prstGeom>
        </p:spPr>
        <p:txBody>
          <a:bodyPr lIns="0" rIns="0">
            <a:noAutofit/>
          </a:bodyPr>
          <a:lstStyle>
            <a:lvl1pPr algn="l">
              <a:defRPr sz="36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pic>
        <p:nvPicPr>
          <p:cNvPr id="9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1127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899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2902-F01E-43F0-B0B0-C968FE87BD66}" type="datetime1">
              <a:rPr lang="en-US" smtClean="0"/>
              <a:t>12/2/2015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1127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196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1D59B-887B-49D9-B87A-D6F522A21E42}" type="datetime1">
              <a:rPr lang="en-US" smtClean="0"/>
              <a:t>12/2/2015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683569" y="980728"/>
            <a:ext cx="7776864" cy="436910"/>
          </a:xfrm>
          <a:prstGeom prst="rect">
            <a:avLst/>
          </a:prstGeom>
        </p:spPr>
        <p:txBody>
          <a:bodyPr lIns="0" rIns="0">
            <a:noAutofit/>
          </a:bodyPr>
          <a:lstStyle>
            <a:lvl1pPr algn="l">
              <a:defRPr sz="36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pic>
        <p:nvPicPr>
          <p:cNvPr id="7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1127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E31B-48E2-40C6-90D2-D74C52A0FBF2}" type="datetime1">
              <a:rPr lang="en-US" smtClean="0"/>
              <a:t>12/2/2015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0648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463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E5C3E-7F94-40A9-880A-DC02A63083A5}" type="datetime1">
              <a:rPr lang="en-US" smtClean="0"/>
              <a:t>12/2/2015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57E1B-7D6A-4C7C-B424-0C70EB09269C}" type="datetime1">
              <a:rPr lang="en-US" smtClean="0"/>
              <a:t>12/2/2015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4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134F-727E-4A0A-B9B7-5EBCAB4BEC22}" type="datetime1">
              <a:rPr lang="en-US" smtClean="0"/>
              <a:t>12/2/2015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2" descr="I:\Publicity\OpenAccess\UKDataService\Logos\UK_Data_Service_Logos\Web_Screen\Primary_logo\UKDS_Logo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376" y="260648"/>
            <a:ext cx="977104" cy="589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29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AD80-7EAC-41D2-A49C-BAE2F7B4D002}" type="datetime1">
              <a:rPr lang="en-US" smtClean="0"/>
              <a:t>12/2/2015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5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6FF1A-FB2E-4816-B753-D67F7AD7E2AF}" type="datetime1">
              <a:rPr lang="en-US" smtClean="0"/>
              <a:t>12/2/2015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5FF29-BFAA-42C1-A630-D01767BA741E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9144000" cy="188640"/>
          </a:xfrm>
          <a:prstGeom prst="rect">
            <a:avLst/>
          </a:prstGeom>
          <a:solidFill>
            <a:srgbClr val="587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tis SemiSans Pro" pitchFamily="50" charset="0"/>
            </a:endParaRPr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84213" y="981074"/>
            <a:ext cx="7776220" cy="436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"/>
          </p:nvPr>
        </p:nvSpPr>
        <p:spPr>
          <a:xfrm>
            <a:off x="684213" y="1700808"/>
            <a:ext cx="7776220" cy="44253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009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forschungsdaten-bildung.de/datenmanagement?la=de" TargetMode="External"/><Relationship Id="rId13" Type="http://schemas.openxmlformats.org/officeDocument/2006/relationships/hyperlink" Target="http://www.allianzinitiative.de/en/core-activities/research-data.html" TargetMode="External"/><Relationship Id="rId3" Type="http://schemas.openxmlformats.org/officeDocument/2006/relationships/hyperlink" Target="http://www.dfg.de/en/research_funding/proposal_review_decision/applicants/submitting_proposal/research_data/index.html" TargetMode="External"/><Relationship Id="rId7" Type="http://schemas.openxmlformats.org/officeDocument/2006/relationships/hyperlink" Target="http://www.forschungsdaten-bildung.de/" TargetMode="External"/><Relationship Id="rId12" Type="http://schemas.openxmlformats.org/officeDocument/2006/relationships/hyperlink" Target="http://www.allianzinitiative.de/fileadmin/user_upload/redakteur/Principles_Research_Data_2010.pdf" TargetMode="External"/><Relationship Id="rId2" Type="http://schemas.openxmlformats.org/officeDocument/2006/relationships/hyperlink" Target="http://www.dfg.de/en/research_funding/principles_dfg_funding/good_scientific_practice/" TargetMode="External"/><Relationship Id="rId16" Type="http://schemas.openxmlformats.org/officeDocument/2006/relationships/hyperlink" Target="http://ec.europa.eu/research/participants/data/ref/h2020/grants_manual/hi/oa_pilot/h2020-hi-oa-data-mgt_en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dialliance.org/publication/data-management-planning-and-the-data-documentation-initiative-ddi" TargetMode="External"/><Relationship Id="rId11" Type="http://schemas.openxmlformats.org/officeDocument/2006/relationships/hyperlink" Target="http://www.allianzinitiative.de/en/core-activities/research-data/principles.html" TargetMode="External"/><Relationship Id="rId5" Type="http://schemas.openxmlformats.org/officeDocument/2006/relationships/hyperlink" Target="https://www.bmbf.de/foerderungen/bekanntmachung.php?B=774" TargetMode="External"/><Relationship Id="rId15" Type="http://schemas.openxmlformats.org/officeDocument/2006/relationships/hyperlink" Target="http://doi.org/10.2312/allianzfd.002" TargetMode="External"/><Relationship Id="rId10" Type="http://schemas.openxmlformats.org/officeDocument/2006/relationships/hyperlink" Target="http://www.forschungsdaten-bildung.de/daten-einstellen?la=de" TargetMode="External"/><Relationship Id="rId4" Type="http://schemas.openxmlformats.org/officeDocument/2006/relationships/hyperlink" Target="http://www.dfg.de/download/pdf/foerderung/antragstellung/forschungsdaten/guidelines_research_data.pdf" TargetMode="External"/><Relationship Id="rId9" Type="http://schemas.openxmlformats.org/officeDocument/2006/relationships/hyperlink" Target="http://www.forschungsdaten-bildung.de/dmp?la=de" TargetMode="External"/><Relationship Id="rId14" Type="http://schemas.openxmlformats.org/officeDocument/2006/relationships/hyperlink" Target="http://www.allianzinitiative.de/en/core-activities/research-data/working-group-documen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677961" y="126876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Exchanging Data Management Plans with DDI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35596" y="4401108"/>
            <a:ext cx="7236803" cy="684076"/>
          </a:xfrm>
        </p:spPr>
        <p:txBody>
          <a:bodyPr>
            <a:normAutofit fontScale="92500" lnSpcReduction="10000"/>
          </a:bodyPr>
          <a:lstStyle/>
          <a:p>
            <a:r>
              <a:rPr lang="en-GB" sz="1400" b="1" dirty="0" smtClean="0">
                <a:solidFill>
                  <a:prstClr val="black">
                    <a:tint val="75000"/>
                  </a:prstClr>
                </a:solidFill>
              </a:rPr>
              <a:t>Uwe Jensen, </a:t>
            </a:r>
            <a:br>
              <a:rPr lang="en-GB" sz="1400" b="1" dirty="0" smtClean="0">
                <a:solidFill>
                  <a:prstClr val="black">
                    <a:tint val="75000"/>
                  </a:prstClr>
                </a:solidFill>
              </a:rPr>
            </a:br>
            <a:r>
              <a:rPr lang="en-GB" sz="1400" b="1" dirty="0" smtClean="0">
                <a:solidFill>
                  <a:prstClr val="black">
                    <a:tint val="75000"/>
                  </a:prstClr>
                </a:solidFill>
              </a:rPr>
              <a:t>Sebastian Netscher, Kerrin Borschewski</a:t>
            </a:r>
            <a:endParaRPr lang="en-GB" sz="1400" b="1" dirty="0">
              <a:solidFill>
                <a:prstClr val="black">
                  <a:tint val="75000"/>
                </a:prstClr>
              </a:solidFill>
            </a:endParaRPr>
          </a:p>
          <a:p>
            <a:r>
              <a:rPr lang="en-GB" sz="1400" dirty="0" smtClean="0">
                <a:solidFill>
                  <a:prstClr val="black">
                    <a:tint val="75000"/>
                  </a:prstClr>
                </a:solidFill>
              </a:rPr>
              <a:t>GESIS </a:t>
            </a:r>
            <a:r>
              <a:rPr lang="en-GB" sz="1400" dirty="0">
                <a:solidFill>
                  <a:prstClr val="black">
                    <a:tint val="75000"/>
                  </a:prstClr>
                </a:solidFill>
              </a:rPr>
              <a:t>- Leibniz Institute for the Social </a:t>
            </a:r>
            <a:r>
              <a:rPr lang="en-GB" sz="1400" dirty="0" smtClean="0">
                <a:solidFill>
                  <a:prstClr val="black">
                    <a:tint val="75000"/>
                  </a:prstClr>
                </a:solidFill>
              </a:rPr>
              <a:t>Sciences</a:t>
            </a:r>
            <a:endParaRPr lang="en-GB" sz="14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el 5"/>
          <p:cNvSpPr txBox="1">
            <a:spLocks/>
          </p:cNvSpPr>
          <p:nvPr/>
        </p:nvSpPr>
        <p:spPr>
          <a:xfrm>
            <a:off x="830361" y="2816932"/>
            <a:ext cx="7772400" cy="14700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chemeClr val="accent1"/>
                </a:solidFill>
              </a:rPr>
              <a:t>Implementing Data Management in Social Science Funding</a:t>
            </a:r>
          </a:p>
          <a:p>
            <a:r>
              <a:rPr lang="en-US" sz="2400" dirty="0" smtClean="0">
                <a:solidFill>
                  <a:schemeClr val="accent1"/>
                </a:solidFill>
              </a:rPr>
              <a:t>The German Case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1691680" y="5409220"/>
            <a:ext cx="6444716" cy="365125"/>
          </a:xfrm>
        </p:spPr>
        <p:txBody>
          <a:bodyPr/>
          <a:lstStyle/>
          <a:p>
            <a:r>
              <a:rPr lang="en-US" b="1" dirty="0" smtClean="0"/>
              <a:t>EDDI15 </a:t>
            </a:r>
            <a:r>
              <a:rPr lang="en-US" b="1" dirty="0"/>
              <a:t>– </a:t>
            </a:r>
            <a:r>
              <a:rPr lang="en-US" b="1" dirty="0" smtClean="0"/>
              <a:t>7th </a:t>
            </a:r>
            <a:r>
              <a:rPr lang="en-US" b="1" dirty="0"/>
              <a:t>Annual European DDI User Conference December 2-3, </a:t>
            </a:r>
            <a:r>
              <a:rPr lang="en-US" b="1" dirty="0" smtClean="0"/>
              <a:t>2015 Copenhagen, DK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Outline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15963" indent="-715963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Part 1 DMP importance 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dirty="0" smtClean="0"/>
              <a:t>&gt; German case</a:t>
            </a:r>
            <a:br>
              <a:rPr lang="en-US" sz="2000" dirty="0" smtClean="0"/>
            </a:br>
            <a:r>
              <a:rPr lang="en-US" sz="2000" dirty="0" smtClean="0"/>
              <a:t>&gt; DMP in research projects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Part 2 Exchanging DMP with DDI </a:t>
            </a:r>
          </a:p>
          <a:p>
            <a:pPr marL="715963" indent="-715963">
              <a:buNone/>
            </a:pPr>
            <a:r>
              <a:rPr lang="en-US" sz="2000" b="1" dirty="0" smtClean="0"/>
              <a:t>	</a:t>
            </a:r>
            <a:r>
              <a:rPr lang="en-US" sz="2000" dirty="0" smtClean="0"/>
              <a:t>&gt; Challenges </a:t>
            </a:r>
            <a:r>
              <a:rPr lang="en-US" sz="2000" dirty="0"/>
              <a:t>&amp; </a:t>
            </a:r>
            <a:r>
              <a:rPr lang="en-US" sz="2000" dirty="0" smtClean="0"/>
              <a:t>findings</a:t>
            </a:r>
          </a:p>
          <a:p>
            <a:pPr marL="715963" indent="-715963">
              <a:buNone/>
            </a:pPr>
            <a:r>
              <a:rPr lang="en-US" sz="2000" dirty="0" smtClean="0"/>
              <a:t>	&gt; </a:t>
            </a:r>
            <a:r>
              <a:rPr lang="en-US" sz="2000" dirty="0"/>
              <a:t>DDI ADMP working group </a:t>
            </a:r>
          </a:p>
          <a:p>
            <a:pPr marL="715963" indent="-715963">
              <a:buNone/>
            </a:pPr>
            <a:r>
              <a:rPr lang="en-US" sz="2000" dirty="0" smtClean="0"/>
              <a:t>	&gt; </a:t>
            </a:r>
            <a:r>
              <a:rPr lang="en-US" sz="2000" dirty="0"/>
              <a:t>Outline </a:t>
            </a:r>
            <a:r>
              <a:rPr lang="en-US" sz="2000" dirty="0" smtClean="0"/>
              <a:t>of Use </a:t>
            </a:r>
            <a:r>
              <a:rPr lang="en-US" sz="2000" dirty="0"/>
              <a:t>cases  for different user groups</a:t>
            </a:r>
          </a:p>
          <a:p>
            <a:pPr marL="265113" indent="-265113">
              <a:buFont typeface="+mj-lt"/>
              <a:buAutoNum type="arabicPeriod"/>
            </a:pPr>
            <a:endParaRPr lang="en-US" sz="2000" b="1" dirty="0" smtClean="0">
              <a:solidFill>
                <a:schemeClr val="accent1"/>
              </a:solidFill>
            </a:endParaRPr>
          </a:p>
          <a:p>
            <a:pPr marL="265113" indent="-265113">
              <a:buFont typeface="+mj-lt"/>
              <a:buAutoNum type="arabicPeriod"/>
            </a:pP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5" name="Fußzeilenplatzhalter 3"/>
          <p:cNvSpPr txBox="1">
            <a:spLocks/>
          </p:cNvSpPr>
          <p:nvPr/>
        </p:nvSpPr>
        <p:spPr>
          <a:xfrm>
            <a:off x="8856475" y="6489340"/>
            <a:ext cx="284933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C468F7F-6650-4ACC-B1DF-A9F03F9BE6FA}" type="slidenum">
              <a:rPr lang="en-US" smtClean="0"/>
              <a:pPr algn="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0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dirty="0" smtClean="0">
                <a:solidFill>
                  <a:schemeClr val="tx2"/>
                </a:solidFill>
              </a:rPr>
              <a:t>P1: Active Data Management Planning is </a:t>
            </a:r>
            <a:r>
              <a:rPr lang="en-GB" sz="2000" b="1" dirty="0">
                <a:solidFill>
                  <a:schemeClr val="tx2"/>
                </a:solidFill>
              </a:rPr>
              <a:t>gaining </a:t>
            </a:r>
            <a:r>
              <a:rPr lang="en-GB" sz="2000" b="1" dirty="0" smtClean="0">
                <a:solidFill>
                  <a:schemeClr val="tx2"/>
                </a:solidFill>
              </a:rPr>
              <a:t>in importance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4213" y="1700808"/>
            <a:ext cx="7776219" cy="4860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Objectives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449263" lvl="1" indent="-227013">
              <a:buFont typeface="+mj-lt"/>
              <a:buAutoNum type="arabicPeriod"/>
            </a:pPr>
            <a:r>
              <a:rPr lang="en-US" sz="2000" dirty="0" smtClean="0"/>
              <a:t>Ensure quality </a:t>
            </a:r>
            <a:r>
              <a:rPr lang="en-US" sz="2000" dirty="0"/>
              <a:t>&amp; transparency of </a:t>
            </a:r>
            <a:r>
              <a:rPr lang="en-US" sz="2000" dirty="0" smtClean="0"/>
              <a:t>research</a:t>
            </a:r>
            <a:endParaRPr lang="en-US" sz="2000" dirty="0"/>
          </a:p>
          <a:p>
            <a:pPr marL="449263" lvl="1" indent="-227013">
              <a:buFont typeface="+mj-lt"/>
              <a:buAutoNum type="arabicPeriod"/>
            </a:pPr>
            <a:r>
              <a:rPr lang="en-US" sz="2000" dirty="0" smtClean="0"/>
              <a:t>Support </a:t>
            </a:r>
            <a:r>
              <a:rPr lang="en-US" sz="2000" dirty="0"/>
              <a:t>replication of research-data</a:t>
            </a:r>
          </a:p>
          <a:p>
            <a:pPr marL="449263" lvl="1" indent="-227013">
              <a:buFont typeface="+mj-lt"/>
              <a:buAutoNum type="arabicPeriod"/>
            </a:pPr>
            <a:r>
              <a:rPr lang="en-US" sz="2000" dirty="0" smtClean="0"/>
              <a:t>Enable </a:t>
            </a:r>
            <a:r>
              <a:rPr lang="en-US" sz="2000" dirty="0"/>
              <a:t>data sharing &amp; re-use of data 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e.g. Horizon 2020 - the Open Research Data Pilot</a:t>
            </a:r>
          </a:p>
          <a:p>
            <a:pPr lvl="1"/>
            <a:r>
              <a:rPr lang="en-US" sz="1600" dirty="0" smtClean="0"/>
              <a:t>Proposal stage: Policy on Data Management (DM) is evaluated under 'Impact'</a:t>
            </a:r>
          </a:p>
          <a:p>
            <a:pPr lvl="1"/>
            <a:r>
              <a:rPr lang="en-US" sz="1600" dirty="0" smtClean="0"/>
              <a:t>Project stage: DM-Plan (DMP) within first 6 Months; updates during project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e.g. ESRC Economic and Social Research Council</a:t>
            </a:r>
          </a:p>
          <a:p>
            <a:pPr lvl="1"/>
            <a:r>
              <a:rPr lang="en-US" sz="1600" dirty="0" smtClean="0"/>
              <a:t>For years manifold </a:t>
            </a:r>
            <a:r>
              <a:rPr lang="en-US" sz="1600" dirty="0"/>
              <a:t>guidance on RDM for applicants </a:t>
            </a:r>
            <a:endParaRPr lang="en-US" sz="1600" dirty="0" smtClean="0"/>
          </a:p>
          <a:p>
            <a:pPr lvl="1"/>
            <a:r>
              <a:rPr lang="en-US" sz="1600" dirty="0" smtClean="0"/>
              <a:t>Requirement of data sharing and archiving (UK Data Archive)</a:t>
            </a: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…. many others</a:t>
            </a:r>
            <a:endParaRPr lang="en-US" sz="16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856475" y="6489340"/>
            <a:ext cx="284933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DMP in German research funding &amp; institutions – Two examples</a:t>
            </a:r>
            <a:endParaRPr lang="de-DE" sz="2000" b="1" dirty="0">
              <a:solidFill>
                <a:schemeClr val="tx2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890" y="1700808"/>
            <a:ext cx="7776219" cy="44253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German Research Foundation (DFG)</a:t>
            </a:r>
          </a:p>
          <a:p>
            <a:pPr indent="-166688"/>
            <a:r>
              <a:rPr lang="en-US" sz="1600" dirty="0" smtClean="0"/>
              <a:t>1998 </a:t>
            </a:r>
            <a:r>
              <a:rPr lang="en-US" sz="1600" dirty="0"/>
              <a:t>Primary </a:t>
            </a:r>
            <a:r>
              <a:rPr lang="en-US" sz="1600" dirty="0" smtClean="0"/>
              <a:t>data … are to be preserved for ten years [1</a:t>
            </a:r>
            <a:r>
              <a:rPr lang="en-US" sz="1600" dirty="0"/>
              <a:t>] </a:t>
            </a:r>
            <a:r>
              <a:rPr lang="en-US" sz="1600" dirty="0" smtClean="0"/>
              <a:t> </a:t>
            </a:r>
            <a:r>
              <a:rPr lang="en-US" sz="1200" dirty="0" smtClean="0"/>
              <a:t>to ensure replication</a:t>
            </a:r>
          </a:p>
          <a:p>
            <a:pPr indent="-166688"/>
            <a:r>
              <a:rPr lang="en-US" sz="1600" dirty="0" smtClean="0"/>
              <a:t>2015</a:t>
            </a:r>
            <a:r>
              <a:rPr lang="en-US" sz="1600" b="1" dirty="0" smtClean="0"/>
              <a:t> </a:t>
            </a:r>
            <a:r>
              <a:rPr lang="en-US" sz="1600" dirty="0" smtClean="0"/>
              <a:t>Guidelines on Handling of Research Data [2] &gt; </a:t>
            </a:r>
            <a:r>
              <a:rPr lang="en-US" sz="1600" b="1" dirty="0" smtClean="0"/>
              <a:t>Guidelines for applicants </a:t>
            </a:r>
            <a:r>
              <a:rPr lang="en-US" sz="1600" dirty="0" smtClean="0"/>
              <a:t>[3]</a:t>
            </a:r>
          </a:p>
          <a:p>
            <a:pPr marL="168275" indent="0">
              <a:buNone/>
            </a:pPr>
            <a:r>
              <a:rPr lang="en-US" sz="1400" b="1" dirty="0" smtClean="0"/>
              <a:t>DM criteria</a:t>
            </a:r>
            <a:endParaRPr lang="en-US" sz="1400" dirty="0" smtClean="0"/>
          </a:p>
          <a:p>
            <a:pPr marL="361950" indent="-193675">
              <a:buFont typeface="Symbol" panose="05050102010706020507" pitchFamily="18" charset="2"/>
              <a:buChar char="-"/>
            </a:pPr>
            <a:r>
              <a:rPr lang="en-US" sz="1400" dirty="0" smtClean="0"/>
              <a:t>Re-use &amp; quality assurance &gt; data types, discipline standards &amp; repositories, ensure access …</a:t>
            </a:r>
          </a:p>
          <a:p>
            <a:pPr marL="168275" indent="0">
              <a:buNone/>
            </a:pPr>
            <a:r>
              <a:rPr lang="en-US" sz="1400" b="1" dirty="0" smtClean="0"/>
              <a:t>Funding DM costs </a:t>
            </a:r>
            <a:r>
              <a:rPr lang="en-US" sz="1400" dirty="0" smtClean="0"/>
              <a:t>(all </a:t>
            </a:r>
            <a:r>
              <a:rPr lang="en-US" sz="1400" dirty="0"/>
              <a:t>disciplines &gt; </a:t>
            </a:r>
            <a:r>
              <a:rPr lang="en-US" sz="1400" dirty="0" smtClean="0"/>
              <a:t>more specifications </a:t>
            </a:r>
            <a:r>
              <a:rPr lang="en-US" sz="1400" dirty="0"/>
              <a:t>for special funding lines): </a:t>
            </a:r>
            <a:endParaRPr lang="en-US" sz="1400" b="1" dirty="0" smtClean="0"/>
          </a:p>
          <a:p>
            <a:pPr marL="361950" indent="-193675">
              <a:buFont typeface="Symbol" panose="05050102010706020507" pitchFamily="18" charset="2"/>
              <a:buChar char="-"/>
            </a:pPr>
            <a:r>
              <a:rPr lang="en-US" sz="1400" dirty="0" smtClean="0"/>
              <a:t>data preparation &amp; use </a:t>
            </a:r>
            <a:r>
              <a:rPr lang="en-US" sz="1400" dirty="0"/>
              <a:t>of existing infrastructure </a:t>
            </a:r>
            <a:endParaRPr lang="en-US" sz="1400" dirty="0" smtClean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BMBF </a:t>
            </a:r>
            <a:r>
              <a:rPr lang="en-US" sz="2000" b="1" dirty="0">
                <a:solidFill>
                  <a:schemeClr val="accent1"/>
                </a:solidFill>
              </a:rPr>
              <a:t>- German Federal Ministry of Education and Research </a:t>
            </a:r>
            <a:r>
              <a:rPr lang="en-US" sz="2000" dirty="0" smtClean="0">
                <a:solidFill>
                  <a:schemeClr val="accent1"/>
                </a:solidFill>
              </a:rPr>
              <a:t>[4]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176212" indent="0">
              <a:buNone/>
            </a:pPr>
            <a:r>
              <a:rPr lang="en-US" sz="1400" b="1" dirty="0" smtClean="0"/>
              <a:t>DM criteria </a:t>
            </a:r>
            <a:r>
              <a:rPr lang="en-US" sz="1400" dirty="0" smtClean="0"/>
              <a:t>(~ empirical data </a:t>
            </a:r>
            <a:r>
              <a:rPr lang="en-US" sz="1400" dirty="0"/>
              <a:t>from research </a:t>
            </a:r>
            <a:r>
              <a:rPr lang="en-US" sz="1400" dirty="0" smtClean="0"/>
              <a:t>on education)</a:t>
            </a:r>
            <a:r>
              <a:rPr lang="en-US" sz="1400" b="1" dirty="0" smtClean="0"/>
              <a:t>:</a:t>
            </a:r>
            <a:r>
              <a:rPr lang="en-US" sz="1600" b="1" dirty="0" smtClean="0"/>
              <a:t> </a:t>
            </a:r>
            <a:endParaRPr lang="en-US" sz="1600" dirty="0"/>
          </a:p>
          <a:p>
            <a:pPr marL="508000" lvl="1">
              <a:buFont typeface="Symbol" panose="05050102010706020507" pitchFamily="18" charset="2"/>
              <a:buChar char="-"/>
            </a:pPr>
            <a:r>
              <a:rPr lang="en-US" sz="1400" dirty="0" smtClean="0"/>
              <a:t>Ensure </a:t>
            </a:r>
            <a:r>
              <a:rPr lang="en-US" sz="1400" dirty="0"/>
              <a:t>long-term preservation, secondary analysis &amp; re-use</a:t>
            </a:r>
            <a:endParaRPr lang="en-US" sz="1400" dirty="0" smtClean="0"/>
          </a:p>
          <a:p>
            <a:pPr marL="508000" lvl="1">
              <a:buFont typeface="Symbol" panose="05050102010706020507" pitchFamily="18" charset="2"/>
              <a:buChar char="-"/>
            </a:pPr>
            <a:r>
              <a:rPr lang="en-US" sz="1400" dirty="0" smtClean="0"/>
              <a:t>Submit created </a:t>
            </a:r>
            <a:r>
              <a:rPr lang="en-US" sz="1400" dirty="0"/>
              <a:t>data in </a:t>
            </a:r>
            <a:r>
              <a:rPr lang="en-US" sz="1400" dirty="0" smtClean="0"/>
              <a:t>re-usable form to appropriate </a:t>
            </a:r>
            <a:r>
              <a:rPr lang="en-US" sz="1400" dirty="0"/>
              <a:t>institution (e.g. GESIS Data </a:t>
            </a:r>
            <a:r>
              <a:rPr lang="en-US" sz="1400" dirty="0" smtClean="0"/>
              <a:t>Archive / RDC)</a:t>
            </a:r>
          </a:p>
          <a:p>
            <a:pPr marL="176213" indent="0">
              <a:buNone/>
            </a:pPr>
            <a:r>
              <a:rPr lang="en-US" sz="1400" b="1" dirty="0" smtClean="0"/>
              <a:t>Funding DM </a:t>
            </a:r>
            <a:r>
              <a:rPr lang="en-US" sz="1400" b="1" dirty="0"/>
              <a:t>costs </a:t>
            </a:r>
            <a:endParaRPr lang="en-US" sz="1400" b="1" dirty="0" smtClean="0"/>
          </a:p>
          <a:p>
            <a:pPr marL="461963" indent="-285750">
              <a:buFont typeface="Symbol" panose="05050102010706020507" pitchFamily="18" charset="2"/>
              <a:buChar char="-"/>
            </a:pPr>
            <a:r>
              <a:rPr lang="en-US" sz="1400" dirty="0" smtClean="0"/>
              <a:t>Management </a:t>
            </a:r>
            <a:r>
              <a:rPr lang="en-US" sz="1400" dirty="0"/>
              <a:t>of self-generated </a:t>
            </a:r>
            <a:r>
              <a:rPr lang="en-US" sz="1400" dirty="0" smtClean="0"/>
              <a:t>data, fees </a:t>
            </a:r>
            <a:r>
              <a:rPr lang="en-US" sz="1400" dirty="0"/>
              <a:t>for </a:t>
            </a:r>
            <a:r>
              <a:rPr lang="en-US" sz="1400" dirty="0" smtClean="0"/>
              <a:t>secondary data, investments </a:t>
            </a:r>
            <a:r>
              <a:rPr lang="en-US" sz="1400" dirty="0"/>
              <a:t>and other </a:t>
            </a:r>
            <a:r>
              <a:rPr lang="en-US" sz="1400" dirty="0" smtClean="0"/>
              <a:t>positions</a:t>
            </a:r>
            <a:endParaRPr lang="en-US" sz="1400" dirty="0"/>
          </a:p>
          <a:p>
            <a:pPr marL="449263" lvl="1" indent="-227013">
              <a:buFont typeface="+mj-lt"/>
              <a:buAutoNum type="arabicPeriod"/>
            </a:pPr>
            <a:endParaRPr lang="de-DE" sz="2000" dirty="0"/>
          </a:p>
        </p:txBody>
      </p:sp>
      <p:sp>
        <p:nvSpPr>
          <p:cNvPr id="5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856475" y="6489340"/>
            <a:ext cx="284933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5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DMP challenges &amp; aims for research projects</a:t>
            </a:r>
            <a:endParaRPr lang="de-DE" sz="2000" b="1" dirty="0">
              <a:solidFill>
                <a:schemeClr val="tx2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4213" y="1700808"/>
            <a:ext cx="8064251" cy="4425355"/>
          </a:xfrm>
        </p:spPr>
        <p:txBody>
          <a:bodyPr>
            <a:noAutofit/>
          </a:bodyPr>
          <a:lstStyle/>
          <a:p>
            <a:pPr marL="0" indent="-177800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Start </a:t>
            </a:r>
            <a:r>
              <a:rPr lang="en-US" sz="1800" b="1" dirty="0">
                <a:solidFill>
                  <a:schemeClr val="accent1"/>
                </a:solidFill>
              </a:rPr>
              <a:t>DM-Planning </a:t>
            </a:r>
            <a:r>
              <a:rPr lang="en-US" sz="1800" b="1" dirty="0" smtClean="0">
                <a:solidFill>
                  <a:schemeClr val="accent1"/>
                </a:solidFill>
              </a:rPr>
              <a:t>while preparing </a:t>
            </a:r>
            <a:r>
              <a:rPr lang="en-US" sz="1800" b="1" dirty="0">
                <a:solidFill>
                  <a:schemeClr val="accent1"/>
                </a:solidFill>
              </a:rPr>
              <a:t>a </a:t>
            </a:r>
            <a:r>
              <a:rPr lang="en-US" sz="1800" b="1" dirty="0" smtClean="0">
                <a:solidFill>
                  <a:schemeClr val="accent1"/>
                </a:solidFill>
              </a:rPr>
              <a:t>proposal with </a:t>
            </a:r>
            <a:r>
              <a:rPr lang="en-US" sz="1800" b="1" dirty="0">
                <a:solidFill>
                  <a:schemeClr val="accent1"/>
                </a:solidFill>
              </a:rPr>
              <a:t>partners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/>
              <a:t>Discuss How + Why to </a:t>
            </a:r>
            <a:r>
              <a:rPr lang="en-US" sz="1600" dirty="0"/>
              <a:t>do What, When, together with Whom </a:t>
            </a:r>
            <a:r>
              <a:rPr lang="en-US" sz="1600" dirty="0" smtClean="0"/>
              <a:t>&gt; </a:t>
            </a:r>
            <a:r>
              <a:rPr lang="en-US" sz="1600" b="1" dirty="0" smtClean="0"/>
              <a:t>Strategy …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/>
              <a:t>Specify data workflows, rules, </a:t>
            </a:r>
            <a:r>
              <a:rPr lang="en-US" sz="1600" dirty="0" smtClean="0"/>
              <a:t>responsibilities </a:t>
            </a:r>
            <a:r>
              <a:rPr lang="en-US" sz="1600" dirty="0"/>
              <a:t>&gt; </a:t>
            </a:r>
            <a:r>
              <a:rPr lang="en-US" sz="1600" b="1" dirty="0" smtClean="0"/>
              <a:t>Data lifecycle …</a:t>
            </a:r>
            <a:endParaRPr lang="en-US" sz="1600" b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/>
              <a:t>Set </a:t>
            </a:r>
            <a:r>
              <a:rPr lang="en-US" sz="1600" dirty="0"/>
              <a:t>up clear guidelines for dealing with </a:t>
            </a:r>
            <a:r>
              <a:rPr lang="en-US" sz="1600" dirty="0" smtClean="0"/>
              <a:t>(own </a:t>
            </a:r>
            <a:r>
              <a:rPr lang="en-US" sz="1600" strike="sngStrike" dirty="0"/>
              <a:t> </a:t>
            </a:r>
            <a:r>
              <a:rPr lang="en-US" sz="1600" dirty="0" smtClean="0"/>
              <a:t>and </a:t>
            </a:r>
            <a:r>
              <a:rPr lang="en-US" sz="1600" dirty="0"/>
              <a:t>/ or other) </a:t>
            </a:r>
            <a:r>
              <a:rPr lang="en-US" sz="1600" dirty="0" smtClean="0"/>
              <a:t>data &gt; </a:t>
            </a:r>
            <a:r>
              <a:rPr lang="en-US" sz="1600" b="1" dirty="0" smtClean="0"/>
              <a:t>How To …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/>
              <a:t>Review &amp; update &amp; adapt it frequently &gt; </a:t>
            </a:r>
            <a:r>
              <a:rPr lang="en-US" sz="1600" b="1" dirty="0" smtClean="0"/>
              <a:t>Project structure</a:t>
            </a:r>
          </a:p>
          <a:p>
            <a:pPr marL="222250" lvl="1" indent="0">
              <a:buNone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 smtClean="0">
                <a:solidFill>
                  <a:schemeClr val="accent1"/>
                </a:solidFill>
              </a:rPr>
              <a:t>Prospective DM-Planning aims </a:t>
            </a:r>
            <a:r>
              <a:rPr lang="en-US" sz="1800" dirty="0" smtClean="0"/>
              <a:t>(as integral </a:t>
            </a:r>
            <a:r>
              <a:rPr lang="en-US" sz="1800" dirty="0"/>
              <a:t>part of the research </a:t>
            </a:r>
            <a:r>
              <a:rPr lang="en-US" sz="1800" dirty="0" smtClean="0"/>
              <a:t>process) </a:t>
            </a:r>
            <a:endParaRPr lang="de-DE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 smtClean="0"/>
              <a:t>Increase </a:t>
            </a:r>
            <a:r>
              <a:rPr lang="en-US" sz="1600" dirty="0" smtClean="0"/>
              <a:t>quality &amp; transparency of research &lt;&gt;  data replication</a:t>
            </a:r>
            <a:r>
              <a:rPr lang="en-US" sz="1600" dirty="0"/>
              <a:t>, sharing &amp; </a:t>
            </a:r>
            <a:r>
              <a:rPr lang="en-US" sz="1600" dirty="0" smtClean="0"/>
              <a:t>re-use </a:t>
            </a:r>
            <a:endParaRPr lang="de-DE" sz="16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 smtClean="0"/>
              <a:t>Set up </a:t>
            </a:r>
            <a:r>
              <a:rPr lang="en-US" sz="1600" dirty="0" smtClean="0"/>
              <a:t>systematic documentation to achieve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/>
              <a:t>these aims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chemeClr val="accent1"/>
                </a:solidFill>
              </a:rPr>
              <a:t>DM-Plan:</a:t>
            </a:r>
            <a:r>
              <a:rPr lang="en-US" sz="1800" dirty="0" smtClean="0">
                <a:solidFill>
                  <a:schemeClr val="accent1"/>
                </a:solidFill>
              </a:rPr>
              <a:t> documentation</a:t>
            </a:r>
            <a:r>
              <a:rPr lang="de-DE" sz="1800" dirty="0" smtClean="0">
                <a:solidFill>
                  <a:schemeClr val="accent1"/>
                </a:solidFill>
              </a:rPr>
              <a:t> </a:t>
            </a:r>
            <a:r>
              <a:rPr lang="en-US" sz="1800" b="1" dirty="0" smtClean="0">
                <a:solidFill>
                  <a:schemeClr val="accent1"/>
                </a:solidFill>
              </a:rPr>
              <a:t>project DM strategies  &amp; measures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smtClean="0"/>
              <a:t>To meet needs of </a:t>
            </a:r>
            <a:r>
              <a:rPr lang="en-US" sz="1800" b="1" dirty="0" smtClean="0"/>
              <a:t>funders &gt; journal, </a:t>
            </a:r>
            <a:r>
              <a:rPr lang="en-US" sz="1800" dirty="0" smtClean="0"/>
              <a:t>host</a:t>
            </a:r>
            <a:r>
              <a:rPr lang="en-US" sz="1800" b="1" dirty="0" smtClean="0"/>
              <a:t> institute,  project leaders </a:t>
            </a:r>
            <a:r>
              <a:rPr lang="en-US" sz="1800" dirty="0" smtClean="0"/>
              <a:t>…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smtClean="0"/>
              <a:t>To implement</a:t>
            </a:r>
            <a:r>
              <a:rPr lang="en-US" sz="1800" b="1" dirty="0" smtClean="0"/>
              <a:t> DM strategies &amp; measures </a:t>
            </a:r>
            <a:r>
              <a:rPr lang="en-US" sz="1800" dirty="0" smtClean="0"/>
              <a:t>among partners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accent1"/>
                </a:solidFill>
              </a:rPr>
              <a:t>Form &amp; content of a DM-Plan vary &gt; requirements formalized as </a:t>
            </a:r>
            <a:r>
              <a:rPr lang="en-US" sz="1800" b="1" dirty="0" smtClean="0">
                <a:solidFill>
                  <a:schemeClr val="accent1"/>
                </a:solidFill>
              </a:rPr>
              <a:t>‘templates’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US" sz="1800" b="1" dirty="0" smtClean="0"/>
          </a:p>
          <a:p>
            <a:pPr lvl="0">
              <a:buFont typeface="Wingdings" panose="05000000000000000000" pitchFamily="2" charset="2"/>
              <a:buChar char="ü"/>
            </a:pPr>
            <a:endParaRPr lang="en-US" sz="1800" b="1" dirty="0" smtClean="0"/>
          </a:p>
          <a:p>
            <a:pPr lvl="0">
              <a:buFont typeface="Wingdings" panose="05000000000000000000" pitchFamily="2" charset="2"/>
              <a:buChar char="ü"/>
            </a:pPr>
            <a:endParaRPr lang="en-US" sz="1800" b="1" dirty="0" smtClean="0"/>
          </a:p>
          <a:p>
            <a:pPr lvl="0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0">
              <a:buFont typeface="Wingdings" panose="05000000000000000000" pitchFamily="2" charset="2"/>
              <a:buChar char="ü"/>
            </a:pPr>
            <a:endParaRPr lang="de-DE" sz="1800" dirty="0"/>
          </a:p>
        </p:txBody>
      </p:sp>
      <p:sp>
        <p:nvSpPr>
          <p:cNvPr id="5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856475" y="6489340"/>
            <a:ext cx="284933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2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P2: Challenges </a:t>
            </a:r>
            <a:r>
              <a:rPr lang="en-US" sz="2000" b="1" dirty="0">
                <a:solidFill>
                  <a:schemeClr val="tx2"/>
                </a:solidFill>
              </a:rPr>
              <a:t>to implement </a:t>
            </a:r>
            <a:r>
              <a:rPr lang="en-US" sz="2000" b="1" dirty="0" smtClean="0">
                <a:solidFill>
                  <a:schemeClr val="tx2"/>
                </a:solidFill>
              </a:rPr>
              <a:t>DMP </a:t>
            </a:r>
            <a:r>
              <a:rPr lang="en-US" sz="2000" b="1" dirty="0">
                <a:solidFill>
                  <a:schemeClr val="tx2"/>
                </a:solidFill>
              </a:rPr>
              <a:t>in </a:t>
            </a:r>
            <a:r>
              <a:rPr lang="en-US" sz="2000" b="1" dirty="0" smtClean="0">
                <a:solidFill>
                  <a:schemeClr val="tx2"/>
                </a:solidFill>
              </a:rPr>
              <a:t>DDI – Plan &amp; Planning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4213" y="1556792"/>
            <a:ext cx="7776219" cy="4569371"/>
          </a:xfrm>
        </p:spPr>
        <p:txBody>
          <a:bodyPr>
            <a:noAutofit/>
          </a:bodyPr>
          <a:lstStyle/>
          <a:p>
            <a:pPr marL="90488" lvl="1" indent="0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1. DDI </a:t>
            </a:r>
            <a:r>
              <a:rPr lang="en-US" sz="1800" b="1" dirty="0">
                <a:solidFill>
                  <a:schemeClr val="accent1"/>
                </a:solidFill>
              </a:rPr>
              <a:t>option to </a:t>
            </a:r>
            <a:r>
              <a:rPr lang="en-US" sz="1800" b="1" dirty="0" smtClean="0">
                <a:solidFill>
                  <a:schemeClr val="accent1"/>
                </a:solidFill>
              </a:rPr>
              <a:t>describe DMP </a:t>
            </a:r>
            <a:r>
              <a:rPr lang="en-US" sz="1800" dirty="0" smtClean="0">
                <a:solidFill>
                  <a:schemeClr val="accent1"/>
                </a:solidFill>
              </a:rPr>
              <a:t>(Ref. Arofan </a:t>
            </a:r>
            <a:r>
              <a:rPr lang="en-US" sz="1800" dirty="0">
                <a:solidFill>
                  <a:schemeClr val="accent1"/>
                </a:solidFill>
              </a:rPr>
              <a:t>Gregory. </a:t>
            </a:r>
            <a:r>
              <a:rPr lang="en-US" sz="1800" dirty="0" smtClean="0">
                <a:solidFill>
                  <a:schemeClr val="accent1"/>
                </a:solidFill>
              </a:rPr>
              <a:t>2013 [5])</a:t>
            </a:r>
            <a:endParaRPr lang="en-US" sz="1800" dirty="0">
              <a:solidFill>
                <a:schemeClr val="accent1"/>
              </a:solidFill>
            </a:endParaRP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 smtClean="0"/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 smtClean="0"/>
          </a:p>
          <a:p>
            <a:pPr marL="715963" lvl="1" indent="0">
              <a:buNone/>
            </a:pPr>
            <a:endParaRPr lang="en-US" sz="1200" dirty="0" smtClean="0"/>
          </a:p>
          <a:p>
            <a:pPr marL="715963" lvl="1" indent="0">
              <a:buNone/>
            </a:pPr>
            <a:endParaRPr lang="en-US" sz="1200" dirty="0" smtClean="0"/>
          </a:p>
          <a:p>
            <a:pPr marL="449263" lvl="1" indent="0">
              <a:buNone/>
            </a:pPr>
            <a:r>
              <a:rPr lang="en-US" sz="1200" b="1" dirty="0" smtClean="0"/>
              <a:t>Other DDI Options ?!</a:t>
            </a:r>
          </a:p>
          <a:p>
            <a:pPr marL="449263" lvl="1" indent="0">
              <a:buFont typeface="Wingdings" panose="05000000000000000000" pitchFamily="2" charset="2"/>
              <a:buChar char="v"/>
            </a:pPr>
            <a:r>
              <a:rPr lang="en-US" sz="1200" dirty="0" smtClean="0"/>
              <a:t> Apply </a:t>
            </a:r>
            <a:r>
              <a:rPr lang="en-US" sz="1200" b="1" dirty="0" smtClean="0"/>
              <a:t>XML </a:t>
            </a:r>
            <a:r>
              <a:rPr lang="en-US" sz="1200" b="1" dirty="0"/>
              <a:t>schema extensions </a:t>
            </a:r>
            <a:r>
              <a:rPr lang="en-US" sz="1200" dirty="0"/>
              <a:t>to incorporate DMP </a:t>
            </a:r>
            <a:r>
              <a:rPr lang="en-US" sz="1200" dirty="0" smtClean="0"/>
              <a:t>metadata &gt; may </a:t>
            </a:r>
            <a:r>
              <a:rPr lang="en-US" sz="1200" dirty="0"/>
              <a:t>not be </a:t>
            </a:r>
            <a:r>
              <a:rPr lang="en-US" sz="1200" dirty="0" smtClean="0"/>
              <a:t>accessible by existing DDI tools</a:t>
            </a:r>
            <a:endParaRPr lang="de-DE" sz="1200" dirty="0"/>
          </a:p>
          <a:p>
            <a:pPr marL="449263" lvl="2" indent="0">
              <a:buFont typeface="Wingdings" panose="05000000000000000000" pitchFamily="2" charset="2"/>
              <a:buChar char="v"/>
            </a:pPr>
            <a:r>
              <a:rPr lang="en-US" sz="1200" dirty="0" smtClean="0"/>
              <a:t> </a:t>
            </a:r>
            <a:r>
              <a:rPr lang="en-US" sz="1200" b="1" dirty="0" smtClean="0"/>
              <a:t>Reference DM-Plan </a:t>
            </a:r>
            <a:r>
              <a:rPr lang="en-US" sz="1200" dirty="0" smtClean="0"/>
              <a:t>as external document &gt; but no re-use of information </a:t>
            </a:r>
          </a:p>
          <a:p>
            <a:pPr marL="715963" lvl="2" indent="0">
              <a:buNone/>
            </a:pPr>
            <a:endParaRPr lang="de-DE" sz="1200" dirty="0"/>
          </a:p>
          <a:p>
            <a:pPr marL="90488" lvl="1" indent="0">
              <a:buNone/>
            </a:pPr>
            <a:r>
              <a:rPr lang="en-GB" sz="1800" b="1" dirty="0" smtClean="0">
                <a:solidFill>
                  <a:schemeClr val="accent1"/>
                </a:solidFill>
              </a:rPr>
              <a:t>2. Challenges </a:t>
            </a:r>
            <a:r>
              <a:rPr lang="en-GB" sz="1800" b="1" dirty="0">
                <a:solidFill>
                  <a:schemeClr val="accent1"/>
                </a:solidFill>
              </a:rPr>
              <a:t>to integrate DMP information into </a:t>
            </a:r>
            <a:r>
              <a:rPr lang="en-GB" sz="1800" b="1" dirty="0" smtClean="0">
                <a:solidFill>
                  <a:schemeClr val="accent1"/>
                </a:solidFill>
              </a:rPr>
              <a:t>DDI</a:t>
            </a:r>
            <a:endParaRPr lang="de-DE" sz="1800" b="1" dirty="0">
              <a:solidFill>
                <a:schemeClr val="accent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1800" dirty="0" smtClean="0"/>
              <a:t>How </a:t>
            </a:r>
            <a:r>
              <a:rPr lang="en-GB" sz="1800" dirty="0"/>
              <a:t>can DDI </a:t>
            </a:r>
            <a:r>
              <a:rPr lang="en-GB" sz="1800" b="1" dirty="0"/>
              <a:t>address the wide variety of </a:t>
            </a:r>
            <a:r>
              <a:rPr lang="en-GB" sz="1800" b="1" dirty="0" smtClean="0"/>
              <a:t>DM-Plans?</a:t>
            </a:r>
            <a:r>
              <a:rPr lang="en-GB" sz="1800" dirty="0"/>
              <a:t> </a:t>
            </a:r>
            <a:endParaRPr lang="en-GB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1800" dirty="0" smtClean="0"/>
              <a:t>How </a:t>
            </a:r>
            <a:r>
              <a:rPr lang="en-GB" sz="1800" dirty="0"/>
              <a:t>might </a:t>
            </a:r>
            <a:r>
              <a:rPr lang="en-GB" sz="1800" b="1" dirty="0"/>
              <a:t>DM-Planning </a:t>
            </a:r>
            <a:r>
              <a:rPr lang="en-GB" sz="1800" dirty="0"/>
              <a:t>fit into the </a:t>
            </a:r>
            <a:r>
              <a:rPr lang="en-GB" sz="1800" b="1" dirty="0"/>
              <a:t>data lifecycle?</a:t>
            </a:r>
            <a:endParaRPr lang="de-DE" sz="1800" b="1" dirty="0"/>
          </a:p>
          <a:p>
            <a:pPr marL="0" indent="0">
              <a:buNone/>
            </a:pPr>
            <a:endParaRPr lang="en-US" sz="1000" dirty="0" smtClean="0"/>
          </a:p>
          <a:p>
            <a:pPr marL="0" indent="0">
              <a:buNone/>
            </a:pPr>
            <a:r>
              <a:rPr lang="en-US" sz="1200" dirty="0" smtClean="0"/>
              <a:t>[5] A</a:t>
            </a:r>
            <a:r>
              <a:rPr lang="en-US" sz="1200" dirty="0"/>
              <a:t>. Gregory</a:t>
            </a:r>
            <a:r>
              <a:rPr lang="en-US" sz="1200" dirty="0" smtClean="0"/>
              <a:t>. </a:t>
            </a:r>
            <a:r>
              <a:rPr lang="en-US" sz="1200" dirty="0"/>
              <a:t>2013. </a:t>
            </a:r>
            <a:r>
              <a:rPr lang="en-US" sz="1200" dirty="0" smtClean="0"/>
              <a:t>Data </a:t>
            </a:r>
            <a:r>
              <a:rPr lang="en-US" sz="1200" dirty="0"/>
              <a:t>Management Planning and the Data Documentation </a:t>
            </a:r>
            <a:r>
              <a:rPr lang="en-US" sz="1200" dirty="0" smtClean="0"/>
              <a:t>Initiative</a:t>
            </a:r>
            <a:endParaRPr lang="de-DE" sz="2000" dirty="0"/>
          </a:p>
        </p:txBody>
      </p:sp>
      <p:sp>
        <p:nvSpPr>
          <p:cNvPr id="5" name="Fußzeilenplatzhalter 3"/>
          <p:cNvSpPr txBox="1">
            <a:spLocks/>
          </p:cNvSpPr>
          <p:nvPr/>
        </p:nvSpPr>
        <p:spPr>
          <a:xfrm>
            <a:off x="8856475" y="6489340"/>
            <a:ext cx="284933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C468F7F-6650-4ACC-B1DF-A9F03F9BE6FA}" type="slidenum">
              <a:rPr lang="en-US" smtClean="0"/>
              <a:pPr algn="r"/>
              <a:t>6</a:t>
            </a:fld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70530"/>
              </p:ext>
            </p:extLst>
          </p:nvPr>
        </p:nvGraphicFramePr>
        <p:xfrm>
          <a:off x="971600" y="2024844"/>
          <a:ext cx="7200799" cy="16244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3432"/>
                <a:gridCol w="2471104"/>
                <a:gridCol w="2200634"/>
                <a:gridCol w="175629"/>
              </a:tblGrid>
              <a:tr h="828092">
                <a:tc rowSpan="2">
                  <a:txBody>
                    <a:bodyPr/>
                    <a:lstStyle/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chemeClr val="tx1"/>
                          </a:solidFill>
                          <a:effectLst/>
                        </a:rPr>
                        <a:t>Structure of DM-Plan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1. General project information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2. Data collection 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3. Documentation and metadata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4. Storage, organization and security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5. Ethics, legal compliance &amp; and IPR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6. Preservation and sharing </a:t>
                      </a: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tx1"/>
                          </a:solidFill>
                          <a:effectLst/>
                        </a:rPr>
                        <a:t>7. Responsibilities and resources</a:t>
                      </a:r>
                      <a:endParaRPr lang="en-GB" sz="11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</a:rPr>
                        <a:t/>
                      </a:r>
                      <a:br>
                        <a:rPr lang="en-GB" sz="1100" dirty="0" smtClean="0">
                          <a:effectLst/>
                        </a:rPr>
                      </a:br>
                      <a:r>
                        <a:rPr lang="en-GB" sz="1100" dirty="0" smtClean="0">
                          <a:effectLst/>
                        </a:rPr>
                        <a:t>DDI-C &gt; </a:t>
                      </a:r>
                      <a:r>
                        <a:rPr lang="en-GB" sz="1100" dirty="0">
                          <a:effectLst/>
                        </a:rPr>
                        <a:t>Study </a:t>
                      </a:r>
                      <a:r>
                        <a:rPr lang="en-GB" sz="1100" dirty="0" smtClean="0">
                          <a:effectLst/>
                        </a:rPr>
                        <a:t>description &gt; </a:t>
                      </a:r>
                      <a:r>
                        <a:rPr lang="en-GB" sz="1100" b="0" dirty="0" smtClean="0">
                          <a:solidFill>
                            <a:schemeClr val="bg1"/>
                          </a:solidFill>
                          <a:effectLst/>
                        </a:rPr>
                        <a:t>Administrative items</a:t>
                      </a:r>
                      <a:br>
                        <a:rPr lang="en-GB" sz="1100" b="0" dirty="0" smtClean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GB" sz="1100" dirty="0" smtClean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b="0" dirty="0" smtClean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en-GB" sz="1100" b="0" dirty="0" smtClean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GB" sz="1100" b="0" dirty="0" smtClean="0">
                          <a:solidFill>
                            <a:schemeClr val="tx1"/>
                          </a:solidFill>
                          <a:effectLst/>
                        </a:rPr>
                        <a:t>e.g. Organization</a:t>
                      </a:r>
                      <a:r>
                        <a:rPr lang="en-GB" sz="1100" b="0" dirty="0">
                          <a:solidFill>
                            <a:schemeClr val="tx1"/>
                          </a:solidFill>
                          <a:effectLst/>
                        </a:rPr>
                        <a:t>, funding, project title, </a:t>
                      </a:r>
                      <a:r>
                        <a:rPr lang="en-GB" sz="1100" b="0" dirty="0" smtClean="0">
                          <a:solidFill>
                            <a:schemeClr val="tx1"/>
                          </a:solidFill>
                          <a:effectLst/>
                        </a:rPr>
                        <a:t>purpose …</a:t>
                      </a:r>
                      <a:endParaRPr lang="de-DE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 smtClean="0">
                          <a:solidFill>
                            <a:schemeClr val="tx1"/>
                          </a:solidFill>
                          <a:effectLst/>
                        </a:rPr>
                        <a:t>But many uncovered items…</a:t>
                      </a:r>
                      <a:r>
                        <a:rPr lang="en-GB" sz="1100" b="0" dirty="0" smtClean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endParaRPr lang="en-GB" sz="11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890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796327">
                <a:tc vMerge="1">
                  <a:txBody>
                    <a:bodyPr/>
                    <a:lstStyle/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1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8900" inden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 dirty="0" smtClean="0">
                          <a:solidFill>
                            <a:schemeClr val="bg1"/>
                          </a:solidFill>
                          <a:effectLst/>
                        </a:rPr>
                        <a:t>DDI-L </a:t>
                      </a:r>
                      <a:r>
                        <a:rPr lang="en-GB" sz="1100" b="1" dirty="0">
                          <a:solidFill>
                            <a:schemeClr val="bg1"/>
                          </a:solidFill>
                          <a:effectLst/>
                        </a:rPr>
                        <a:t>- &gt; modules</a:t>
                      </a:r>
                      <a:endParaRPr lang="de-DE" sz="11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b="0" dirty="0">
                          <a:solidFill>
                            <a:schemeClr val="bg1"/>
                          </a:solidFill>
                          <a:effectLst/>
                        </a:rPr>
                        <a:t>study concept, data collection, processing, dissemination, archiving</a:t>
                      </a:r>
                      <a:endParaRPr lang="de-DE" sz="1100" b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</a:rPr>
                        <a:t/>
                      </a:r>
                      <a:br>
                        <a:rPr lang="en-GB" sz="1100" dirty="0" smtClean="0">
                          <a:effectLst/>
                        </a:rPr>
                      </a:br>
                      <a:r>
                        <a:rPr lang="en-GB" sz="1100" dirty="0" smtClean="0">
                          <a:effectLst/>
                        </a:rPr>
                        <a:t>Similar </a:t>
                      </a:r>
                      <a:r>
                        <a:rPr lang="en-GB" sz="1100" dirty="0">
                          <a:effectLst/>
                        </a:rPr>
                        <a:t>to DDI-C</a:t>
                      </a:r>
                      <a:endParaRPr lang="de-DE" sz="1100" dirty="0">
                        <a:effectLst/>
                      </a:endParaRPr>
                    </a:p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b="1" dirty="0" smtClean="0">
                          <a:effectLst/>
                        </a:rPr>
                        <a:t>No specific DMP </a:t>
                      </a:r>
                      <a:r>
                        <a:rPr lang="en-GB" sz="1100" b="1" dirty="0">
                          <a:effectLst/>
                        </a:rPr>
                        <a:t>information </a:t>
                      </a:r>
                      <a:r>
                        <a:rPr lang="en-GB" sz="1100" b="1" dirty="0" smtClean="0">
                          <a:effectLst/>
                        </a:rPr>
                        <a:t>set</a:t>
                      </a:r>
                      <a:endParaRPr lang="de-DE" sz="11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8890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1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56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DDI work group </a:t>
            </a:r>
            <a:r>
              <a:rPr lang="en-US" sz="2000" b="1" dirty="0">
                <a:solidFill>
                  <a:schemeClr val="tx2"/>
                </a:solidFill>
              </a:rPr>
              <a:t>“Active Data Management Planning” – </a:t>
            </a:r>
            <a:r>
              <a:rPr lang="en-US" sz="2000" b="1" dirty="0" smtClean="0">
                <a:solidFill>
                  <a:schemeClr val="tx2"/>
                </a:solidFill>
              </a:rPr>
              <a:t>ADMP </a:t>
            </a:r>
            <a:endParaRPr lang="de-DE" sz="2000" b="1" dirty="0">
              <a:solidFill>
                <a:schemeClr val="tx2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>
                <a:solidFill>
                  <a:schemeClr val="accent1"/>
                </a:solidFill>
              </a:rPr>
              <a:t>Working group </a:t>
            </a:r>
            <a:r>
              <a:rPr lang="en-GB" sz="1800" dirty="0" smtClean="0">
                <a:solidFill>
                  <a:schemeClr val="accent1"/>
                </a:solidFill>
              </a:rPr>
              <a:t>initiated 2015 to </a:t>
            </a:r>
            <a:r>
              <a:rPr lang="en-GB" sz="1800" b="1" dirty="0" smtClean="0">
                <a:solidFill>
                  <a:schemeClr val="accent1"/>
                </a:solidFill>
              </a:rPr>
              <a:t>respond to growing importance of DMP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/>
              <a:t>Formation </a:t>
            </a:r>
            <a:r>
              <a:rPr lang="en-US" sz="1800" dirty="0"/>
              <a:t>of group </a:t>
            </a:r>
            <a:r>
              <a:rPr lang="en-US" sz="1800" dirty="0" smtClean="0"/>
              <a:t>in progress &gt; 7 defined goals </a:t>
            </a:r>
            <a:r>
              <a:rPr lang="en-US" sz="1800" dirty="0"/>
              <a:t>&gt; </a:t>
            </a:r>
            <a:r>
              <a:rPr lang="en-US" sz="1800" dirty="0" smtClean="0"/>
              <a:t>1</a:t>
            </a:r>
            <a:r>
              <a:rPr lang="en-US" sz="1800" baseline="30000" dirty="0" smtClean="0"/>
              <a:t>st</a:t>
            </a:r>
            <a:r>
              <a:rPr lang="en-US" sz="1800" dirty="0" smtClean="0"/>
              <a:t>. actions outlined</a:t>
            </a:r>
          </a:p>
          <a:p>
            <a:pPr marL="57150" indent="0">
              <a:buNone/>
            </a:pPr>
            <a:endParaRPr lang="en-US" sz="1600" dirty="0" smtClean="0"/>
          </a:p>
          <a:p>
            <a:pPr marL="57150" indent="0">
              <a:buNone/>
            </a:pPr>
            <a:r>
              <a:rPr lang="en-US" sz="1600" b="1" dirty="0" smtClean="0">
                <a:solidFill>
                  <a:schemeClr val="accent1"/>
                </a:solidFill>
              </a:rPr>
              <a:t>Goals</a:t>
            </a:r>
          </a:p>
          <a:p>
            <a:pPr marL="57150" indent="0">
              <a:buNone/>
            </a:pPr>
            <a:r>
              <a:rPr lang="en-US" sz="1600" dirty="0" smtClean="0"/>
              <a:t>1. </a:t>
            </a:r>
            <a:r>
              <a:rPr lang="en-US" sz="1600" b="1" dirty="0" smtClean="0"/>
              <a:t>Identify DDI elements </a:t>
            </a:r>
            <a:r>
              <a:rPr lang="en-US" sz="1600" dirty="0" smtClean="0"/>
              <a:t>relevant </a:t>
            </a:r>
            <a:r>
              <a:rPr lang="en-US" sz="1600" dirty="0"/>
              <a:t>to </a:t>
            </a:r>
            <a:r>
              <a:rPr lang="en-US" sz="1600" dirty="0" smtClean="0"/>
              <a:t>DM Plans; </a:t>
            </a:r>
          </a:p>
          <a:p>
            <a:pPr marL="57150" indent="0">
              <a:buNone/>
            </a:pPr>
            <a:r>
              <a:rPr lang="en-US" sz="1600" dirty="0" smtClean="0"/>
              <a:t>2. </a:t>
            </a:r>
            <a:r>
              <a:rPr lang="en-US" sz="1600" b="1" dirty="0" smtClean="0"/>
              <a:t>Develop use cases / user stories </a:t>
            </a:r>
            <a:r>
              <a:rPr lang="en-US" sz="1600" dirty="0" smtClean="0"/>
              <a:t>about DDI elements &gt; crosswalk </a:t>
            </a:r>
            <a:r>
              <a:rPr lang="en-US" sz="1600" dirty="0"/>
              <a:t>to other </a:t>
            </a:r>
            <a:r>
              <a:rPr lang="en-US" sz="1600" dirty="0" smtClean="0"/>
              <a:t>standards</a:t>
            </a:r>
          </a:p>
          <a:p>
            <a:pPr marL="57150" indent="0">
              <a:buNone/>
            </a:pPr>
            <a:r>
              <a:rPr lang="en-US" sz="1600" dirty="0"/>
              <a:t>3. </a:t>
            </a:r>
            <a:r>
              <a:rPr lang="en-US" sz="1600" b="1" dirty="0" smtClean="0"/>
              <a:t>Provide </a:t>
            </a:r>
            <a:r>
              <a:rPr lang="en-US" sz="1600" b="1" dirty="0"/>
              <a:t>guidance </a:t>
            </a:r>
            <a:r>
              <a:rPr lang="en-US" sz="1600" dirty="0"/>
              <a:t>to </a:t>
            </a:r>
            <a:r>
              <a:rPr lang="en-US" sz="1600" b="1" dirty="0"/>
              <a:t>integrate ADMP </a:t>
            </a:r>
            <a:r>
              <a:rPr lang="en-US" sz="1600" dirty="0" smtClean="0"/>
              <a:t>into DDI </a:t>
            </a:r>
            <a:r>
              <a:rPr lang="en-US" sz="1600" b="1" dirty="0" smtClean="0"/>
              <a:t>specification </a:t>
            </a:r>
            <a:r>
              <a:rPr lang="en-US" sz="1600" b="1" dirty="0"/>
              <a:t>development </a:t>
            </a:r>
            <a:r>
              <a:rPr lang="en-US" sz="1600" b="1" dirty="0" smtClean="0"/>
              <a:t> </a:t>
            </a:r>
            <a:r>
              <a:rPr lang="en-US" sz="1600" dirty="0" smtClean="0"/>
              <a:t>&gt; </a:t>
            </a:r>
            <a:r>
              <a:rPr lang="en-US" sz="1600" b="1" dirty="0" smtClean="0"/>
              <a:t>DDI VIEW</a:t>
            </a:r>
          </a:p>
          <a:p>
            <a:pPr marL="57150" indent="0">
              <a:buNone/>
            </a:pPr>
            <a:r>
              <a:rPr lang="en-US" sz="1600" dirty="0" smtClean="0"/>
              <a:t>4. </a:t>
            </a:r>
            <a:r>
              <a:rPr lang="de-DE" sz="1600" dirty="0" smtClean="0"/>
              <a:t>Promote </a:t>
            </a:r>
            <a:r>
              <a:rPr lang="en-US" sz="1600" b="1" dirty="0" smtClean="0"/>
              <a:t>development </a:t>
            </a:r>
            <a:r>
              <a:rPr lang="en-US" sz="1600" b="1" dirty="0"/>
              <a:t>of </a:t>
            </a:r>
            <a:r>
              <a:rPr lang="en-US" sz="1600" b="1" dirty="0" smtClean="0"/>
              <a:t>ADMP </a:t>
            </a:r>
            <a:r>
              <a:rPr lang="en-US" sz="1600" b="1" dirty="0"/>
              <a:t>data model </a:t>
            </a:r>
            <a:r>
              <a:rPr lang="en-US" sz="1600" dirty="0"/>
              <a:t>based on </a:t>
            </a:r>
            <a:r>
              <a:rPr lang="en-US" sz="1600" dirty="0" smtClean="0"/>
              <a:t>appropriate </a:t>
            </a:r>
            <a:r>
              <a:rPr lang="en-US" sz="1600" dirty="0"/>
              <a:t>metadata standards; </a:t>
            </a:r>
            <a:endParaRPr lang="en-US" sz="1600" dirty="0" smtClean="0"/>
          </a:p>
          <a:p>
            <a:pPr marL="57150" indent="0">
              <a:buNone/>
            </a:pPr>
            <a:r>
              <a:rPr lang="en-US" sz="1600" dirty="0" smtClean="0"/>
              <a:t>5-7 DDI Role as collaborator &amp; player in the DMP area &gt; Communicate with other originations</a:t>
            </a:r>
          </a:p>
          <a:p>
            <a:pPr marL="457200" lvl="1" indent="0">
              <a:buNone/>
            </a:pPr>
            <a:endParaRPr lang="en-US" sz="1600" dirty="0" smtClean="0"/>
          </a:p>
          <a:p>
            <a:pPr marL="1588" lvl="1" indent="0">
              <a:buNone/>
            </a:pPr>
            <a:r>
              <a:rPr lang="en-GB" sz="1800" b="1" dirty="0" smtClean="0">
                <a:solidFill>
                  <a:schemeClr val="accent1"/>
                </a:solidFill>
              </a:rPr>
              <a:t>Our interest &amp; contribution to ADMP group (so </a:t>
            </a:r>
            <a:r>
              <a:rPr lang="en-GB" sz="1800" b="1" dirty="0">
                <a:solidFill>
                  <a:schemeClr val="accent1"/>
                </a:solidFill>
              </a:rPr>
              <a:t>far</a:t>
            </a:r>
            <a:r>
              <a:rPr lang="en-GB" sz="1800" b="1" dirty="0" smtClean="0">
                <a:solidFill>
                  <a:schemeClr val="accent1"/>
                </a:solidFill>
              </a:rPr>
              <a:t>)</a:t>
            </a:r>
            <a:endParaRPr lang="de-DE" sz="1800" b="1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GB" sz="1800" b="1" dirty="0" smtClean="0"/>
              <a:t>Develop use </a:t>
            </a:r>
            <a:r>
              <a:rPr lang="en-GB" sz="1800" b="1" dirty="0"/>
              <a:t>cases </a:t>
            </a:r>
            <a:r>
              <a:rPr lang="en-GB" sz="1800" dirty="0"/>
              <a:t>or user stories in the DDI-DMP </a:t>
            </a:r>
            <a:r>
              <a:rPr lang="en-GB" sz="1800" dirty="0" smtClean="0"/>
              <a:t>context</a:t>
            </a:r>
            <a:endParaRPr lang="en-GB" sz="1400" dirty="0" smtClean="0"/>
          </a:p>
          <a:p>
            <a:pPr>
              <a:buFont typeface="Wingdings" panose="05000000000000000000" pitchFamily="2" charset="2"/>
              <a:buChar char="v"/>
            </a:pPr>
            <a:endParaRPr lang="en-GB" sz="1800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de-DE" sz="1400" dirty="0"/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5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856475" y="6489340"/>
            <a:ext cx="284933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79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  <a:ea typeface="Calibri"/>
                <a:cs typeface="Times New Roman"/>
              </a:rPr>
              <a:t>DMP Aims &amp; R</a:t>
            </a:r>
            <a:r>
              <a:rPr lang="en-US" sz="2000" b="1" dirty="0" smtClean="0">
                <a:solidFill>
                  <a:schemeClr val="tx2"/>
                </a:solidFill>
              </a:rPr>
              <a:t>equirements of d</a:t>
            </a:r>
            <a:r>
              <a:rPr lang="en-US" sz="2000" b="1" dirty="0" smtClean="0">
                <a:solidFill>
                  <a:schemeClr val="tx2"/>
                </a:solidFill>
                <a:ea typeface="Calibri"/>
                <a:cs typeface="Times New Roman"/>
              </a:rPr>
              <a:t>ifferent </a:t>
            </a:r>
            <a:r>
              <a:rPr lang="en-US" sz="2000" b="1" dirty="0">
                <a:solidFill>
                  <a:schemeClr val="tx2"/>
                </a:solidFill>
                <a:ea typeface="Calibri"/>
                <a:cs typeface="Times New Roman"/>
              </a:rPr>
              <a:t>User </a:t>
            </a:r>
            <a:r>
              <a:rPr lang="en-US" sz="2000" b="1" dirty="0" smtClean="0">
                <a:solidFill>
                  <a:schemeClr val="tx2"/>
                </a:solidFill>
                <a:ea typeface="Calibri"/>
                <a:cs typeface="Times New Roman"/>
              </a:rPr>
              <a:t>Groups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The idea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chemeClr val="accent1"/>
                </a:solidFill>
              </a:rPr>
              <a:t>Integrate DMP views </a:t>
            </a:r>
            <a:r>
              <a:rPr lang="en-US" sz="1600" dirty="0" smtClean="0"/>
              <a:t>of projects &amp; funders &amp; archives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chemeClr val="accent1"/>
                </a:solidFill>
              </a:rPr>
              <a:t>Specify DMP Metadata sets &amp; Workflows </a:t>
            </a:r>
            <a:r>
              <a:rPr lang="en-US" sz="1600" dirty="0" smtClean="0"/>
              <a:t>&gt; integration into Data Lifecycle</a:t>
            </a:r>
            <a:endParaRPr lang="de-DE" sz="1600" dirty="0"/>
          </a:p>
          <a:p>
            <a:pPr marL="0" indent="0">
              <a:buNone/>
            </a:pPr>
            <a:endParaRPr lang="de-DE" sz="2000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DMP </a:t>
            </a:r>
            <a:r>
              <a:rPr lang="en-US" sz="2000" b="1" dirty="0">
                <a:solidFill>
                  <a:schemeClr val="accent1"/>
                </a:solidFill>
              </a:rPr>
              <a:t>aims </a:t>
            </a:r>
            <a:r>
              <a:rPr lang="en-US" sz="2000" b="1" dirty="0" smtClean="0">
                <a:solidFill>
                  <a:schemeClr val="accent1"/>
                </a:solidFill>
              </a:rPr>
              <a:t>&amp; requirements</a:t>
            </a:r>
            <a:endParaRPr lang="de-DE" sz="2000" b="1" dirty="0">
              <a:solidFill>
                <a:schemeClr val="accent1"/>
              </a:solidFill>
            </a:endParaRPr>
          </a:p>
          <a:p>
            <a:pPr marL="374650" lvl="0" indent="-285750">
              <a:buFont typeface="Wingdings" panose="05000000000000000000" pitchFamily="2" charset="2"/>
              <a:buChar char="§"/>
            </a:pPr>
            <a:r>
              <a:rPr lang="en-US" sz="1800" dirty="0" smtClean="0"/>
              <a:t>Ensure quality </a:t>
            </a:r>
            <a:r>
              <a:rPr lang="en-US" sz="1800" dirty="0"/>
              <a:t>of </a:t>
            </a:r>
            <a:r>
              <a:rPr lang="en-US" sz="1800" dirty="0" smtClean="0"/>
              <a:t>data &amp; guide research </a:t>
            </a:r>
            <a:r>
              <a:rPr lang="en-US" sz="1800" dirty="0"/>
              <a:t>process</a:t>
            </a:r>
            <a:endParaRPr lang="de-DE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</a:rPr>
              <a:t>Use case Research Projects</a:t>
            </a:r>
            <a:r>
              <a:rPr lang="en-US" sz="2000" dirty="0" smtClean="0">
                <a:solidFill>
                  <a:schemeClr val="accent1"/>
                </a:solidFill>
              </a:rPr>
              <a:t/>
            </a:r>
            <a:br>
              <a:rPr lang="en-US" sz="2000" dirty="0" smtClean="0">
                <a:solidFill>
                  <a:schemeClr val="accent1"/>
                </a:solidFill>
              </a:rPr>
            </a:br>
            <a:endParaRPr lang="de-DE" sz="2000" dirty="0">
              <a:solidFill>
                <a:schemeClr val="accent1"/>
              </a:solidFill>
            </a:endParaRPr>
          </a:p>
          <a:p>
            <a:pPr marL="374650" indent="-285750">
              <a:buFont typeface="Wingdings" panose="05000000000000000000" pitchFamily="2" charset="2"/>
              <a:buChar char="§"/>
            </a:pPr>
            <a:r>
              <a:rPr lang="en-US" sz="1800" dirty="0" smtClean="0"/>
              <a:t>Allow data replication &gt; transparency </a:t>
            </a:r>
            <a:r>
              <a:rPr lang="en-US" sz="1800" dirty="0"/>
              <a:t>of </a:t>
            </a:r>
            <a:r>
              <a:rPr lang="en-US" sz="1800" dirty="0" smtClean="0"/>
              <a:t>findings &gt; preservation &gt; re-use </a:t>
            </a:r>
            <a:endParaRPr lang="de-DE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</a:rPr>
              <a:t>Use case Research Funders</a:t>
            </a:r>
            <a:r>
              <a:rPr lang="en-US" sz="1800" dirty="0" smtClean="0">
                <a:solidFill>
                  <a:schemeClr val="accent1"/>
                </a:solidFill>
              </a:rPr>
              <a:t/>
            </a:r>
            <a:br>
              <a:rPr lang="en-US" sz="1800" dirty="0" smtClean="0">
                <a:solidFill>
                  <a:schemeClr val="accent1"/>
                </a:solidFill>
              </a:rPr>
            </a:br>
            <a:endParaRPr lang="de-DE" sz="1800" dirty="0" smtClean="0">
              <a:solidFill>
                <a:schemeClr val="accent1"/>
              </a:solidFill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 smtClean="0"/>
              <a:t>Enable Preservation &gt; sharing &amp; re-use of data </a:t>
            </a:r>
            <a:endParaRPr lang="de-DE" sz="1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</a:rPr>
              <a:t>Use case Archives &amp; Repositories</a:t>
            </a:r>
            <a:endParaRPr lang="de-DE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856475" y="6489340"/>
            <a:ext cx="284933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4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436" y="980728"/>
            <a:ext cx="7885008" cy="436910"/>
          </a:xfrm>
          <a:ln>
            <a:noFill/>
          </a:ln>
        </p:spPr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Use Case Outline: </a:t>
            </a:r>
            <a:r>
              <a:rPr lang="en-US" sz="2000" b="1" dirty="0" smtClean="0">
                <a:solidFill>
                  <a:schemeClr val="tx2"/>
                </a:solidFill>
                <a:ea typeface="Calibri"/>
                <a:cs typeface="Times New Roman"/>
              </a:rPr>
              <a:t>User Groups &lt;&gt;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/>
                <a:cs typeface="Times New Roman"/>
              </a:rPr>
              <a:t>DMP information space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676457" y="6489340"/>
            <a:ext cx="464952" cy="221109"/>
          </a:xfrm>
        </p:spPr>
        <p:txBody>
          <a:bodyPr/>
          <a:lstStyle/>
          <a:p>
            <a:pPr algn="r"/>
            <a:fld id="{8C468F7F-6650-4ACC-B1DF-A9F03F9BE6FA}" type="slidenum">
              <a:rPr lang="en-US" smtClean="0"/>
              <a:pPr algn="r"/>
              <a:t>9</a:t>
            </a:fld>
            <a:endParaRPr lang="en-US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42634"/>
              </p:ext>
            </p:extLst>
          </p:nvPr>
        </p:nvGraphicFramePr>
        <p:xfrm>
          <a:off x="935596" y="1916832"/>
          <a:ext cx="7200801" cy="348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/>
                <a:gridCol w="2400267"/>
                <a:gridCol w="2400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noProof="0" dirty="0" smtClean="0"/>
                        <a:t>Project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noProof="0" dirty="0" smtClean="0"/>
                        <a:t>Funder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noProof="0" dirty="0" smtClean="0"/>
                        <a:t>Archive</a:t>
                      </a:r>
                      <a:endParaRPr lang="en-US" noProof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Data production &amp;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Funding obligations &amp;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User &amp; Data Services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DMP aims</a:t>
                      </a:r>
                    </a:p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Guidance,  Quality, Transparency 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DMP aims</a:t>
                      </a:r>
                    </a:p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Replicability &gt; Preserve</a:t>
                      </a:r>
                      <a:r>
                        <a:rPr lang="en-US" sz="1200" baseline="0" noProof="0" dirty="0" smtClean="0">
                          <a:solidFill>
                            <a:schemeClr val="tx1"/>
                          </a:solidFill>
                        </a:rPr>
                        <a:t> &gt; Re-use &gt;</a:t>
                      </a:r>
                      <a:endParaRPr lang="en-US" sz="1200" noProof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DMP aims</a:t>
                      </a:r>
                    </a:p>
                    <a:p>
                      <a:r>
                        <a:rPr lang="en-US" sz="1200" noProof="0" dirty="0" smtClean="0">
                          <a:solidFill>
                            <a:schemeClr val="tx1"/>
                          </a:solidFill>
                        </a:rPr>
                        <a:t>&gt; Preserve &gt; Disseminate &gt; Re-use</a:t>
                      </a:r>
                      <a:endParaRPr lang="en-US" sz="1200" noProof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DM-Planning</a:t>
                      </a:r>
                      <a:r>
                        <a:rPr lang="en-US" sz="1200" b="1" noProof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Cooperate: Standards, Service &gt; re-use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 dirty="0" smtClean="0">
                          <a:solidFill>
                            <a:schemeClr val="tx1"/>
                          </a:solidFill>
                        </a:rPr>
                        <a:t>Detailed project guidelines …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DM-Planning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/>
                        <a:t>(</a:t>
                      </a:r>
                      <a:r>
                        <a:rPr lang="en-US" sz="1000" baseline="0" noProof="0" dirty="0" smtClean="0"/>
                        <a:t>foster cooperation …)</a:t>
                      </a:r>
                      <a:endParaRPr lang="en-US" sz="1000" noProof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 dirty="0" smtClean="0"/>
                        <a:t>No details about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DM-Planning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Cooperate: Standards, Service &gt; re-use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 dirty="0" smtClean="0"/>
                        <a:t>No details about …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&gt; DM-Plan:</a:t>
                      </a:r>
                      <a:endParaRPr lang="en-US" sz="1200" b="0" noProof="0" dirty="0" smtClean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Funder regulation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noProof="0" dirty="0" smtClean="0">
                          <a:solidFill>
                            <a:schemeClr val="tx1"/>
                          </a:solidFill>
                        </a:rPr>
                        <a:t>Project management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noProof="0" dirty="0" smtClean="0">
                          <a:solidFill>
                            <a:schemeClr val="tx1"/>
                          </a:solidFill>
                        </a:rPr>
                        <a:t>Journal regulation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noProof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Archive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&gt; DM-Plan: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 strategy &amp; measure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General project information</a:t>
                      </a:r>
                      <a:endParaRPr kumimoji="0" lang="en-US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collection</a:t>
                      </a:r>
                      <a:endParaRPr kumimoji="0" lang="en-US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Documentation and metadata          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Storage, organization and security</a:t>
                      </a:r>
                      <a:endParaRPr kumimoji="0" lang="en-US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Ethics, legal compliance &amp; IPR</a:t>
                      </a:r>
                      <a:endParaRPr kumimoji="0" lang="en-US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Preservation and sharing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Responsibilities and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&gt; DM-Plan: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Majorly project ‘products’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Administrative information</a:t>
                      </a:r>
                      <a:endParaRPr kumimoji="0" 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Reports … Questionnaire 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Final documentation &gt; Standard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Final Data set … File formats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 &gt; </a:t>
                      </a:r>
                      <a:r>
                        <a:rPr kumimoji="0" 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IPR, informed consent, privacy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Agreed services …  (&lt; 5.)</a:t>
                      </a:r>
                    </a:p>
                    <a:p>
                      <a:pPr marL="889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 &lt;&gt; archive cooperation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6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</a:rPr>
              <a:t>Summary: Establishing DDI-based DMP &gt; Use case specification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Challenges</a:t>
            </a:r>
            <a:r>
              <a:rPr lang="en-US" sz="2000" dirty="0" smtClean="0">
                <a:solidFill>
                  <a:schemeClr val="accent1"/>
                </a:solidFill>
              </a:rPr>
              <a:t>: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 smtClean="0"/>
              <a:t>Tackle diversity of (national) DMP items with DDI means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 smtClean="0"/>
              <a:t>Integrate DMP into Data Lifecycle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Tec options: XML schema extension &lt;&gt; Model </a:t>
            </a:r>
            <a:r>
              <a:rPr lang="en-US" sz="1800" dirty="0"/>
              <a:t>driven approach </a:t>
            </a:r>
            <a:r>
              <a:rPr lang="en-US" sz="1800" dirty="0" smtClean="0"/>
              <a:t>&gt; DMP View</a:t>
            </a:r>
            <a:endParaRPr lang="de-DE" sz="1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/>
              <a:t>User perspective &gt; consider specific </a:t>
            </a:r>
            <a:r>
              <a:rPr lang="en-US" sz="1600" dirty="0"/>
              <a:t>DMP user &amp; usage </a:t>
            </a:r>
            <a:r>
              <a:rPr lang="en-US" sz="1600" dirty="0" smtClean="0"/>
              <a:t>context </a:t>
            </a:r>
            <a:endParaRPr lang="de-DE" sz="1600" dirty="0"/>
          </a:p>
          <a:p>
            <a:pPr marL="0" indent="0">
              <a:buNone/>
            </a:pPr>
            <a:r>
              <a:rPr lang="en-US" sz="2000" dirty="0"/>
              <a:t> </a:t>
            </a:r>
            <a:endParaRPr lang="de-DE" sz="2000" dirty="0"/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Next steps to specify the 3 Use Cases - considerations </a:t>
            </a:r>
            <a:endParaRPr lang="de-DE" sz="2000" b="1" dirty="0">
              <a:solidFill>
                <a:schemeClr val="accent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accent1"/>
                </a:solidFill>
              </a:rPr>
              <a:t>Investigate common &amp; different DMP information </a:t>
            </a:r>
            <a:r>
              <a:rPr lang="en-US" sz="1800" b="1" dirty="0" smtClean="0">
                <a:solidFill>
                  <a:schemeClr val="accent1"/>
                </a:solidFill>
              </a:rPr>
              <a:t>sets </a:t>
            </a:r>
            <a:r>
              <a:rPr lang="en-US" sz="1800" dirty="0" smtClean="0"/>
              <a:t>to be exchanged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smtClean="0"/>
              <a:t>Compare German DMP with other countries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accent1"/>
                </a:solidFill>
              </a:rPr>
              <a:t>Investigate </a:t>
            </a:r>
            <a:r>
              <a:rPr lang="en-US" sz="1800" b="1" dirty="0" smtClean="0">
                <a:solidFill>
                  <a:schemeClr val="accent1"/>
                </a:solidFill>
              </a:rPr>
              <a:t>re-usable </a:t>
            </a:r>
            <a:r>
              <a:rPr lang="en-US" sz="1800" b="1" dirty="0">
                <a:solidFill>
                  <a:schemeClr val="accent1"/>
                </a:solidFill>
              </a:rPr>
              <a:t>information </a:t>
            </a:r>
            <a:r>
              <a:rPr lang="en-US" sz="1800" dirty="0"/>
              <a:t>sets or items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b="1" dirty="0" smtClean="0">
                <a:solidFill>
                  <a:schemeClr val="accent1"/>
                </a:solidFill>
              </a:rPr>
              <a:t>Specify workflows: </a:t>
            </a:r>
            <a:r>
              <a:rPr lang="en-US" sz="1800" dirty="0" smtClean="0"/>
              <a:t>project &lt;&gt; funders / project &lt;&gt; archive</a:t>
            </a:r>
            <a:endParaRPr lang="de-DE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b="1" dirty="0" smtClean="0">
                <a:solidFill>
                  <a:schemeClr val="accent1"/>
                </a:solidFill>
              </a:rPr>
              <a:t>Explore usage of &amp; mapping with (other) standards</a:t>
            </a:r>
            <a:endParaRPr lang="de-DE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7" name="Fußzeilenplatzhalter 3"/>
          <p:cNvSpPr txBox="1">
            <a:spLocks/>
          </p:cNvSpPr>
          <p:nvPr/>
        </p:nvSpPr>
        <p:spPr>
          <a:xfrm>
            <a:off x="8784469" y="6489340"/>
            <a:ext cx="35694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C468F7F-6650-4ACC-B1DF-A9F03F9BE6FA}" type="slidenum">
              <a:rPr lang="en-US" smtClean="0"/>
              <a:pPr algn="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83568" y="548680"/>
            <a:ext cx="7776864" cy="576064"/>
          </a:xfrm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Thank you </a:t>
            </a:r>
            <a:r>
              <a:rPr lang="en-US" sz="2800" b="1" dirty="0" smtClean="0">
                <a:solidFill>
                  <a:schemeClr val="tx2"/>
                </a:solidFill>
              </a:rPr>
              <a:t>for your attention!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684213" y="1880828"/>
            <a:ext cx="7776219" cy="4245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000" b="1" dirty="0" smtClean="0">
                <a:solidFill>
                  <a:schemeClr val="accent1"/>
                </a:solidFill>
              </a:rPr>
              <a:t>References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[1] </a:t>
            </a:r>
            <a:r>
              <a:rPr lang="en-US" sz="1000" dirty="0" smtClean="0"/>
              <a:t>DFG. 1998.  </a:t>
            </a:r>
            <a:r>
              <a:rPr lang="en-US" sz="1000" dirty="0" smtClean="0">
                <a:hlinkClick r:id="rId2"/>
              </a:rPr>
              <a:t>Safeguarding </a:t>
            </a:r>
            <a:r>
              <a:rPr lang="en-US" sz="1000" dirty="0">
                <a:hlinkClick r:id="rId2"/>
              </a:rPr>
              <a:t>Good Scientific </a:t>
            </a:r>
            <a:r>
              <a:rPr lang="en-US" sz="1000" dirty="0" smtClean="0">
                <a:hlinkClick r:id="rId2"/>
              </a:rPr>
              <a:t>Practice</a:t>
            </a:r>
            <a:r>
              <a:rPr lang="en-US" sz="1000" dirty="0" smtClean="0"/>
              <a:t> (web page)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[2] DFG. 2015. </a:t>
            </a:r>
            <a:r>
              <a:rPr lang="en-US" sz="1000" dirty="0" smtClean="0">
                <a:hlinkClick r:id="rId3"/>
              </a:rPr>
              <a:t>Guidelines </a:t>
            </a:r>
            <a:r>
              <a:rPr lang="en-US" sz="1000" dirty="0">
                <a:hlinkClick r:id="rId3"/>
              </a:rPr>
              <a:t>on Handling of Research </a:t>
            </a:r>
            <a:r>
              <a:rPr lang="en-US" sz="1000" dirty="0" smtClean="0">
                <a:hlinkClick r:id="rId3"/>
              </a:rPr>
              <a:t>Data</a:t>
            </a:r>
            <a:r>
              <a:rPr lang="en-US" sz="1000" dirty="0" smtClean="0"/>
              <a:t> (web page)</a:t>
            </a:r>
            <a:endParaRPr lang="de-DE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[3] </a:t>
            </a:r>
            <a:r>
              <a:rPr lang="de-DE" sz="1000" dirty="0"/>
              <a:t>DFG. 2015. </a:t>
            </a:r>
            <a:r>
              <a:rPr lang="en-US" sz="1000" dirty="0" smtClean="0">
                <a:hlinkClick r:id="rId4"/>
              </a:rPr>
              <a:t>General guidelines for applicants</a:t>
            </a:r>
            <a:r>
              <a:rPr lang="en-US" sz="1000" dirty="0" smtClean="0"/>
              <a:t> (pdf) </a:t>
            </a:r>
          </a:p>
          <a:p>
            <a:pPr marL="987425" indent="-987425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[4] BMBF. </a:t>
            </a:r>
            <a:r>
              <a:rPr lang="de-DE" sz="1000" dirty="0"/>
              <a:t>2012. </a:t>
            </a:r>
            <a:r>
              <a:rPr lang="de-DE" sz="1000" dirty="0" smtClean="0"/>
              <a:t> … </a:t>
            </a:r>
            <a:r>
              <a:rPr lang="de-DE" sz="1000" dirty="0" smtClean="0">
                <a:hlinkClick r:id="rId5"/>
              </a:rPr>
              <a:t>Richtlinien </a:t>
            </a:r>
            <a:r>
              <a:rPr lang="de-DE" sz="1000" dirty="0"/>
              <a:t>zur Förderung </a:t>
            </a:r>
            <a:r>
              <a:rPr lang="de-DE" sz="1000" dirty="0" smtClean="0"/>
              <a:t>von Forschung </a:t>
            </a:r>
            <a:r>
              <a:rPr lang="de-DE" sz="1000" dirty="0"/>
              <a:t>im Bereich </a:t>
            </a:r>
            <a:r>
              <a:rPr lang="de-DE" sz="1000" dirty="0" smtClean="0"/>
              <a:t>… (</a:t>
            </a:r>
            <a:r>
              <a:rPr lang="en-US" sz="1000" dirty="0" smtClean="0"/>
              <a:t>web page in German only &gt; Section 4 &amp; 5)</a:t>
            </a:r>
            <a:r>
              <a:rPr lang="de-DE" sz="1000" dirty="0" smtClean="0"/>
              <a:t> </a:t>
            </a:r>
            <a:endParaRPr lang="de-DE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[5] </a:t>
            </a:r>
            <a:r>
              <a:rPr lang="en-US" sz="1000" dirty="0"/>
              <a:t>Arofan Gregory. 2013. </a:t>
            </a:r>
            <a:r>
              <a:rPr lang="en-US" sz="1000" dirty="0">
                <a:hlinkClick r:id="rId6"/>
              </a:rPr>
              <a:t>Data Management Planning and the Data Documentation Initiative (DDI</a:t>
            </a:r>
            <a:r>
              <a:rPr lang="en-US" sz="1000" dirty="0" smtClean="0">
                <a:hlinkClick r:id="rId6"/>
              </a:rPr>
              <a:t>)</a:t>
            </a:r>
            <a:r>
              <a:rPr lang="en-US" sz="1000" dirty="0" smtClean="0"/>
              <a:t> (pdf)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b="1" dirty="0" smtClean="0">
                <a:solidFill>
                  <a:schemeClr val="accent1"/>
                </a:solidFill>
              </a:rPr>
              <a:t>Further </a:t>
            </a:r>
            <a:r>
              <a:rPr lang="en-US" sz="1000" b="1" dirty="0" smtClean="0">
                <a:solidFill>
                  <a:schemeClr val="accent1"/>
                </a:solidFill>
              </a:rPr>
              <a:t>Sources</a:t>
            </a:r>
            <a:endParaRPr lang="de-DE" sz="1000" b="1" dirty="0" smtClean="0">
              <a:solidFill>
                <a:schemeClr val="accent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 smtClean="0">
                <a:hlinkClick r:id="rId7"/>
              </a:rPr>
              <a:t>forschungsdaten-bildung.de</a:t>
            </a:r>
            <a:r>
              <a:rPr lang="en-US" sz="1000" dirty="0" smtClean="0"/>
              <a:t>  (Empirical Research on Education / project website / in German only)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sz="1000" dirty="0" smtClean="0"/>
              <a:t>e.g. </a:t>
            </a:r>
            <a:r>
              <a:rPr lang="de-DE" sz="1000" dirty="0" smtClean="0">
                <a:hlinkClick r:id="rId8"/>
              </a:rPr>
              <a:t>Forschungsdatenmanagement</a:t>
            </a:r>
            <a:r>
              <a:rPr lang="en-US" sz="1000" dirty="0" smtClean="0">
                <a:hlinkClick r:id="rId8"/>
              </a:rPr>
              <a:t> </a:t>
            </a:r>
            <a:r>
              <a:rPr lang="en-US" sz="1000" dirty="0" smtClean="0"/>
              <a:t>  / </a:t>
            </a:r>
            <a:r>
              <a:rPr lang="de-DE" sz="1000" dirty="0" smtClean="0">
                <a:hlinkClick r:id="rId9"/>
              </a:rPr>
              <a:t>Checkliste Datenmanagement </a:t>
            </a:r>
            <a:r>
              <a:rPr lang="en-US" sz="1000" dirty="0" smtClean="0">
                <a:hlinkClick r:id="rId9"/>
              </a:rPr>
              <a:t>Plan</a:t>
            </a:r>
            <a:r>
              <a:rPr lang="en-US" sz="1000" dirty="0" smtClean="0"/>
              <a:t> / </a:t>
            </a:r>
            <a:r>
              <a:rPr lang="de-DE" sz="1000" dirty="0" smtClean="0">
                <a:hlinkClick r:id="rId10"/>
              </a:rPr>
              <a:t>Daten Sichern</a:t>
            </a:r>
            <a:r>
              <a:rPr lang="en-US" sz="1000" dirty="0" smtClean="0"/>
              <a:t> </a:t>
            </a:r>
            <a:r>
              <a:rPr lang="de-DE" sz="1000" dirty="0" smtClean="0"/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 smtClean="0"/>
              <a:t>Alliance of German Science Organisations. </a:t>
            </a:r>
          </a:p>
          <a:p>
            <a:pPr lvl="1">
              <a:spcBef>
                <a:spcPts val="0"/>
              </a:spcBef>
            </a:pPr>
            <a:r>
              <a:rPr lang="en-US" sz="1000" dirty="0" smtClean="0"/>
              <a:t>2010.  </a:t>
            </a:r>
            <a:r>
              <a:rPr lang="en-US" sz="1000" dirty="0" smtClean="0">
                <a:hlinkClick r:id="rId11"/>
              </a:rPr>
              <a:t>Principles </a:t>
            </a:r>
            <a:r>
              <a:rPr lang="en-US" sz="1000" dirty="0">
                <a:hlinkClick r:id="rId11"/>
              </a:rPr>
              <a:t>for the Handling of Research </a:t>
            </a:r>
            <a:r>
              <a:rPr lang="en-US" sz="1000" dirty="0" smtClean="0">
                <a:hlinkClick r:id="rId11"/>
              </a:rPr>
              <a:t>Data</a:t>
            </a:r>
            <a:r>
              <a:rPr lang="en-US" sz="1000" dirty="0" smtClean="0"/>
              <a:t>. (webpage) / </a:t>
            </a:r>
            <a:r>
              <a:rPr lang="de-DE" sz="1000" dirty="0">
                <a:hlinkClick r:id="rId12" tooltip="Initiates file download"/>
              </a:rPr>
              <a:t>PDF </a:t>
            </a:r>
            <a:r>
              <a:rPr lang="de-DE" sz="1000" dirty="0" smtClean="0">
                <a:hlinkClick r:id="rId12" tooltip="Initiates file download"/>
              </a:rPr>
              <a:t>Version</a:t>
            </a:r>
            <a:endParaRPr lang="de-DE" sz="1000" dirty="0" smtClean="0"/>
          </a:p>
          <a:p>
            <a:pPr lvl="1">
              <a:spcBef>
                <a:spcPts val="0"/>
              </a:spcBef>
            </a:pPr>
            <a:r>
              <a:rPr lang="de-DE" sz="1000" dirty="0" smtClean="0"/>
              <a:t>2014.  </a:t>
            </a:r>
            <a:r>
              <a:rPr lang="en-US" sz="1000" dirty="0" smtClean="0">
                <a:hlinkClick r:id="rId13"/>
              </a:rPr>
              <a:t>Research Data - Outlook </a:t>
            </a:r>
            <a:r>
              <a:rPr lang="en-US" sz="1000" dirty="0">
                <a:hlinkClick r:id="rId13"/>
              </a:rPr>
              <a:t>and Objectives 2013 </a:t>
            </a:r>
            <a:r>
              <a:rPr lang="en-US" sz="1000" dirty="0" smtClean="0">
                <a:hlinkClick r:id="rId13"/>
              </a:rPr>
              <a:t>– 2017</a:t>
            </a:r>
            <a:r>
              <a:rPr lang="en-US" sz="1000" dirty="0" smtClean="0"/>
              <a:t>.  (web page)</a:t>
            </a:r>
          </a:p>
          <a:p>
            <a:pPr lvl="1">
              <a:spcBef>
                <a:spcPts val="0"/>
              </a:spcBef>
            </a:pPr>
            <a:r>
              <a:rPr lang="en-US" sz="1000" dirty="0"/>
              <a:t>2015. </a:t>
            </a:r>
            <a:r>
              <a:rPr lang="en-US" sz="1000" dirty="0" smtClean="0"/>
              <a:t> </a:t>
            </a:r>
            <a:r>
              <a:rPr lang="en-US" sz="1000" dirty="0" smtClean="0">
                <a:hlinkClick r:id="rId14"/>
              </a:rPr>
              <a:t>Working </a:t>
            </a:r>
            <a:r>
              <a:rPr lang="en-US" sz="1000" dirty="0">
                <a:hlinkClick r:id="rId14"/>
              </a:rPr>
              <a:t>group Research </a:t>
            </a:r>
            <a:r>
              <a:rPr lang="en-US" sz="1000" dirty="0" smtClean="0">
                <a:hlinkClick r:id="rId14"/>
              </a:rPr>
              <a:t>Data</a:t>
            </a:r>
            <a:r>
              <a:rPr lang="en-US" sz="1000" dirty="0" smtClean="0"/>
              <a:t>. (web </a:t>
            </a:r>
            <a:r>
              <a:rPr lang="en-US" sz="1000" dirty="0"/>
              <a:t>page) &gt; Position </a:t>
            </a:r>
            <a:r>
              <a:rPr lang="en-US" sz="1000" dirty="0" smtClean="0"/>
              <a:t>Paper </a:t>
            </a:r>
            <a:r>
              <a:rPr lang="en-US" sz="1000" dirty="0" smtClean="0">
                <a:hlinkClick r:id="rId15"/>
              </a:rPr>
              <a:t>Research </a:t>
            </a:r>
            <a:r>
              <a:rPr lang="en-US" sz="1000" dirty="0">
                <a:hlinkClick r:id="rId15"/>
              </a:rPr>
              <a:t>Data at Your </a:t>
            </a:r>
            <a:r>
              <a:rPr lang="en-US" sz="1000" dirty="0" smtClean="0">
                <a:hlinkClick r:id="rId15"/>
              </a:rPr>
              <a:t>Fingertips</a:t>
            </a:r>
            <a:r>
              <a:rPr lang="en-US" sz="1000" dirty="0" smtClean="0"/>
              <a:t> (</a:t>
            </a:r>
            <a:r>
              <a:rPr lang="en-US" sz="1000" dirty="0" err="1" smtClean="0"/>
              <a:t>doi</a:t>
            </a:r>
            <a:r>
              <a:rPr lang="en-US" sz="1000" dirty="0" smtClean="0"/>
              <a:t>)</a:t>
            </a:r>
            <a:endParaRPr lang="de-DE" sz="1000" dirty="0" smtClean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/>
              <a:t>EC. Horizon 2020. 2015. </a:t>
            </a:r>
            <a:r>
              <a:rPr lang="en-US" sz="1000" dirty="0">
                <a:hlinkClick r:id="rId16"/>
              </a:rPr>
              <a:t>Guidelines on Data Management – version 2.0</a:t>
            </a:r>
            <a:r>
              <a:rPr lang="en-US" sz="1000" dirty="0"/>
              <a:t> (pdf)</a:t>
            </a:r>
            <a:endParaRPr lang="de-DE" sz="1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1000" dirty="0" smtClean="0"/>
              <a:t>All links </a:t>
            </a:r>
            <a:r>
              <a:rPr lang="en-US" sz="1000" dirty="0" smtClean="0"/>
              <a:t>accessed: 27.11.2015</a:t>
            </a:r>
          </a:p>
          <a:p>
            <a:pPr marL="0" indent="0">
              <a:buNone/>
            </a:pPr>
            <a:endParaRPr lang="de-DE" sz="1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de-DE" sz="1800" dirty="0">
              <a:solidFill>
                <a:schemeClr val="accent1"/>
              </a:solidFill>
            </a:endParaRP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1583668" y="1340768"/>
            <a:ext cx="6408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200" dirty="0" err="1">
                <a:solidFill>
                  <a:schemeClr val="accent1"/>
                </a:solidFill>
              </a:rPr>
              <a:t>uwe.jensen</a:t>
            </a:r>
            <a:r>
              <a:rPr lang="en-US" sz="1200" dirty="0">
                <a:solidFill>
                  <a:schemeClr val="accent1"/>
                </a:solidFill>
              </a:rPr>
              <a:t>[at]gesis.org / </a:t>
            </a:r>
            <a:r>
              <a:rPr lang="en-US" sz="1200" dirty="0" err="1">
                <a:solidFill>
                  <a:schemeClr val="accent1"/>
                </a:solidFill>
              </a:rPr>
              <a:t>sebastian.netscher</a:t>
            </a:r>
            <a:r>
              <a:rPr lang="en-US" sz="1200" dirty="0">
                <a:solidFill>
                  <a:schemeClr val="accent1"/>
                </a:solidFill>
              </a:rPr>
              <a:t>[at] gesis.org / </a:t>
            </a:r>
            <a:r>
              <a:rPr lang="en-US" sz="1200" dirty="0" err="1" smtClean="0">
                <a:solidFill>
                  <a:schemeClr val="accent1"/>
                </a:solidFill>
              </a:rPr>
              <a:t>kerrin.borschewski</a:t>
            </a:r>
            <a:r>
              <a:rPr lang="en-US" sz="1200" smtClean="0">
                <a:solidFill>
                  <a:schemeClr val="accent1"/>
                </a:solidFill>
              </a:rPr>
              <a:t>[at]gesis.org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6" name="Fußzeilenplatzhalter 3"/>
          <p:cNvSpPr txBox="1">
            <a:spLocks/>
          </p:cNvSpPr>
          <p:nvPr/>
        </p:nvSpPr>
        <p:spPr>
          <a:xfrm>
            <a:off x="8712461" y="6489340"/>
            <a:ext cx="428948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C468F7F-6650-4ACC-B1DF-A9F03F9BE6FA}" type="slidenum">
              <a:rPr lang="en-US" smtClean="0"/>
              <a:pPr algn="r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Benutzerdefiniert 2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97D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Bildschirmpräsentation (4:3)</PresentationFormat>
  <Paragraphs>219</Paragraphs>
  <Slides>11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Larissa</vt:lpstr>
      <vt:lpstr>Exchanging Data Management Plans with DDI</vt:lpstr>
      <vt:lpstr>Outline</vt:lpstr>
      <vt:lpstr>P1: Active Data Management Planning is gaining in importance</vt:lpstr>
      <vt:lpstr>DMP in German research funding &amp; institutions – Two examples</vt:lpstr>
      <vt:lpstr>DMP challenges &amp; aims for research projects</vt:lpstr>
      <vt:lpstr>P2: Challenges to implement DMP in DDI – Plan &amp; Planning</vt:lpstr>
      <vt:lpstr>DDI work group “Active Data Management Planning” – ADMP </vt:lpstr>
      <vt:lpstr>DMP Aims &amp; Requirements of different User Groups</vt:lpstr>
      <vt:lpstr>Use Case Outline: User Groups &lt;&gt; DMP information space</vt:lpstr>
      <vt:lpstr>Summary: Establishing DDI-based DMP &gt; Use case specification</vt:lpstr>
      <vt:lpstr>Thank you for your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Recker, Astrid</dc:creator>
  <cp:lastModifiedBy>Jensen, Uwe</cp:lastModifiedBy>
  <cp:revision>214</cp:revision>
  <cp:lastPrinted>2015-11-02T09:19:51Z</cp:lastPrinted>
  <dcterms:created xsi:type="dcterms:W3CDTF">2015-10-28T10:29:44Z</dcterms:created>
  <dcterms:modified xsi:type="dcterms:W3CDTF">2015-12-02T12:26:27Z</dcterms:modified>
</cp:coreProperties>
</file>