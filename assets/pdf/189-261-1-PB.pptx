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555" r:id="rId3"/>
    <p:sldId id="573" r:id="rId4"/>
    <p:sldId id="552" r:id="rId5"/>
    <p:sldId id="558" r:id="rId6"/>
    <p:sldId id="559" r:id="rId7"/>
    <p:sldId id="560" r:id="rId8"/>
    <p:sldId id="561" r:id="rId9"/>
    <p:sldId id="563" r:id="rId10"/>
    <p:sldId id="567" r:id="rId11"/>
    <p:sldId id="564" r:id="rId12"/>
    <p:sldId id="566" r:id="rId13"/>
    <p:sldId id="565" r:id="rId14"/>
    <p:sldId id="571" r:id="rId15"/>
    <p:sldId id="578" r:id="rId16"/>
    <p:sldId id="569" r:id="rId17"/>
    <p:sldId id="572" r:id="rId18"/>
    <p:sldId id="575" r:id="rId19"/>
    <p:sldId id="570" r:id="rId20"/>
    <p:sldId id="574" r:id="rId21"/>
    <p:sldId id="539" r:id="rId22"/>
    <p:sldId id="577" r:id="rId23"/>
    <p:sldId id="576" r:id="rId24"/>
    <p:sldId id="562" r:id="rId25"/>
    <p:sldId id="553" r:id="rId2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5613" indent="1588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2pPr>
    <a:lvl3pPr marL="912813" indent="1588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3pPr>
    <a:lvl4pPr marL="1370013" indent="1588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4pPr>
    <a:lvl5pPr marL="1827213" indent="1588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96" autoAdjust="0"/>
    <p:restoredTop sz="95298" autoAdjust="0"/>
  </p:normalViewPr>
  <p:slideViewPr>
    <p:cSldViewPr snapToGrid="0">
      <p:cViewPr>
        <p:scale>
          <a:sx n="100" d="100"/>
          <a:sy n="100" d="100"/>
        </p:scale>
        <p:origin x="-384" y="-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9104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-2176" y="-1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327DE11E-4123-9848-970F-0355AB7F846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85367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8C216AB3-C9B1-1744-94E0-EFDC3815C72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17410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5763" algn="l" defTabSz="4571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15" algn="l" defTabSz="4571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68" algn="l" defTabSz="4571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20" algn="l" defTabSz="4571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216AB3-C9B1-1744-94E0-EFDC3815C72C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0142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[ TODO ADD these? NHGIS and Social Explorer]</a:t>
            </a:r>
            <a:endParaRPr lang="en-GB" dirty="0" smtClean="0"/>
          </a:p>
          <a:p>
            <a:r>
              <a:rPr lang="en-GB" dirty="0" smtClean="0"/>
              <a:t>M</a:t>
            </a:r>
            <a:r>
              <a:rPr lang="en-US" dirty="0" err="1" smtClean="0"/>
              <a:t>aybe</a:t>
            </a:r>
            <a:r>
              <a:rPr lang="en-US" dirty="0" smtClean="0"/>
              <a:t> also </a:t>
            </a:r>
            <a:r>
              <a:rPr lang="en-GB" dirty="0" smtClean="0"/>
              <a:t>[TODO Expand/example]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216AB3-C9B1-1744-94E0-EFDC3815C72C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264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216AB3-C9B1-1744-94E0-EFDC3815C72C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795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216AB3-C9B1-1744-94E0-EFDC3815C72C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54012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Data in single</a:t>
            </a:r>
            <a:r>
              <a:rPr lang="en-US" baseline="0" dirty="0" smtClean="0"/>
              <a:t> table.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216AB3-C9B1-1744-94E0-EFDC3815C72C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90216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Our Implementation </a:t>
            </a:r>
            <a:r>
              <a:rPr lang="en-US" dirty="0" err="1" smtClean="0"/>
              <a:t>nCube</a:t>
            </a:r>
            <a:r>
              <a:rPr lang="en-US" baseline="0" dirty="0" smtClean="0"/>
              <a:t> format DDI adding time &amp; </a:t>
            </a:r>
            <a:r>
              <a:rPr lang="en-US" baseline="0" dirty="0" err="1" smtClean="0"/>
              <a:t>geog</a:t>
            </a:r>
            <a:r>
              <a:rPr lang="en-US" baseline="0" dirty="0" smtClean="0"/>
              <a:t> </a:t>
            </a:r>
          </a:p>
          <a:p>
            <a:endParaRPr lang="en-US" baseline="0" dirty="0" smtClean="0"/>
          </a:p>
          <a:p>
            <a:r>
              <a:rPr lang="en-US" baseline="0" dirty="0" err="1" smtClean="0"/>
              <a:t>nCube</a:t>
            </a:r>
            <a:r>
              <a:rPr lang="en-US" baseline="0" dirty="0" smtClean="0"/>
              <a:t> -&gt; relationship model XML </a:t>
            </a:r>
          </a:p>
          <a:p>
            <a:endParaRPr lang="en-US" dirty="0" smtClean="0"/>
          </a:p>
          <a:p>
            <a:r>
              <a:rPr lang="en-US" dirty="0" smtClean="0"/>
              <a:t>Our</a:t>
            </a:r>
            <a:r>
              <a:rPr lang="en-US" baseline="0" dirty="0" smtClean="0"/>
              <a:t> data is in </a:t>
            </a:r>
            <a:r>
              <a:rPr lang="en-US" dirty="0" smtClean="0"/>
              <a:t>DDI which</a:t>
            </a:r>
            <a:r>
              <a:rPr lang="en-US" baseline="0" dirty="0" smtClean="0"/>
              <a:t> </a:t>
            </a:r>
            <a:r>
              <a:rPr lang="en-US" dirty="0" smtClean="0"/>
              <a:t>meant that it was easier to then also</a:t>
            </a:r>
            <a:r>
              <a:rPr lang="en-US" baseline="0" dirty="0" smtClean="0"/>
              <a:t> </a:t>
            </a:r>
            <a:r>
              <a:rPr lang="en-US" dirty="0" smtClean="0"/>
              <a:t>present the data in RDF</a:t>
            </a:r>
          </a:p>
          <a:p>
            <a:endParaRPr lang="en-US" baseline="0" dirty="0" smtClean="0"/>
          </a:p>
          <a:p>
            <a:r>
              <a:rPr lang="en-US" baseline="0" dirty="0" smtClean="0"/>
              <a:t>DDI </a:t>
            </a:r>
            <a:r>
              <a:rPr lang="en-US" baseline="0" dirty="0" err="1" smtClean="0"/>
              <a:t>eveything</a:t>
            </a:r>
            <a:r>
              <a:rPr lang="en-US" baseline="0" dirty="0" smtClean="0"/>
              <a:t> -&gt; cell ref -&gt; a number -&gt; current total pop, 100,000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216AB3-C9B1-1744-94E0-EFDC3815C72C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80922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216AB3-C9B1-1744-94E0-EFDC3815C72C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99064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SKIP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216AB3-C9B1-1744-94E0-EFDC3815C72C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2470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216AB3-C9B1-1744-94E0-EFDC3815C72C}" type="slidenum">
              <a:rPr lang="en-GB" smtClean="0"/>
              <a:pPr>
                <a:defRPr/>
              </a:pPr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5121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Expand the API page</a:t>
            </a:r>
            <a:r>
              <a:rPr lang="en-US" baseline="0" dirty="0" smtClean="0"/>
              <a:t> for details on these esp. </a:t>
            </a:r>
            <a:r>
              <a:rPr lang="en-US" dirty="0" smtClean="0"/>
              <a:t>unit types </a:t>
            </a:r>
          </a:p>
          <a:p>
            <a:endParaRPr lang="en-US" dirty="0" smtClean="0"/>
          </a:p>
          <a:p>
            <a:r>
              <a:rPr lang="en-US" dirty="0" smtClean="0"/>
              <a:t>Add call</a:t>
            </a:r>
            <a:r>
              <a:rPr lang="en-US" baseline="0" dirty="0" smtClean="0"/>
              <a:t> URI for each</a:t>
            </a:r>
          </a:p>
          <a:p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216AB3-C9B1-1744-94E0-EFDC3815C72C}" type="slidenum">
              <a:rPr lang="en-GB" smtClean="0"/>
              <a:pPr>
                <a:defRPr/>
              </a:pPr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008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by moving down a topic hierarchy or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216AB3-C9B1-1744-94E0-EFDC3815C72C}" type="slidenum">
              <a:rPr lang="en-GB" smtClean="0"/>
              <a:pPr>
                <a:defRPr/>
              </a:pPr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8747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by moving down a topic hierarchy or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216AB3-C9B1-1744-94E0-EFDC3815C72C}" type="slidenum">
              <a:rPr lang="en-GB" smtClean="0"/>
              <a:pPr>
                <a:defRPr/>
              </a:pPr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874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Screen</a:t>
            </a:r>
            <a:r>
              <a:rPr lang="en-US" baseline="0" dirty="0" smtClean="0"/>
              <a:t> shot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216AB3-C9B1-1744-94E0-EFDC3815C72C}" type="slidenum">
              <a:rPr lang="en-GB" smtClean="0"/>
              <a:pPr>
                <a:defRPr/>
              </a:pPr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76311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More detail on</a:t>
            </a:r>
            <a:r>
              <a:rPr lang="en-US" baseline="0" dirty="0" smtClean="0"/>
              <a:t> terms: Page 13 </a:t>
            </a:r>
            <a:r>
              <a:rPr lang="en-US" dirty="0" smtClean="0"/>
              <a:t>http://</a:t>
            </a:r>
            <a:r>
              <a:rPr lang="en-US" dirty="0" err="1" smtClean="0"/>
              <a:t>www.iassistdata.org</a:t>
            </a:r>
            <a:r>
              <a:rPr lang="en-US" dirty="0" smtClean="0"/>
              <a:t>/downloads/2013/2013_f1_bell.pdf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216AB3-C9B1-1744-94E0-EFDC3815C72C}" type="slidenum">
              <a:rPr lang="en-GB" smtClean="0"/>
              <a:pPr>
                <a:defRPr/>
              </a:pPr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58959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History, time series of data, complex sets of </a:t>
            </a:r>
            <a:r>
              <a:rPr lang="en-US" dirty="0" err="1" smtClean="0"/>
              <a:t>geog</a:t>
            </a:r>
            <a:r>
              <a:rPr lang="en-US" dirty="0" smtClean="0"/>
              <a:t> 1 </a:t>
            </a:r>
            <a:r>
              <a:rPr lang="en-US" dirty="0" err="1" smtClean="0"/>
              <a:t>st</a:t>
            </a:r>
            <a:r>
              <a:rPr lang="en-US" dirty="0" smtClean="0"/>
              <a:t> year only – what we have done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216AB3-C9B1-1744-94E0-EFDC3815C72C}" type="slidenum">
              <a:rPr lang="en-GB" smtClean="0"/>
              <a:pPr>
                <a:defRPr/>
              </a:pPr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86813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END ONLY NOTES FOLLOWS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216AB3-C9B1-1744-94E0-EFDC3815C72C}" type="slidenum">
              <a:rPr lang="en-GB" smtClean="0"/>
              <a:pPr>
                <a:defRPr/>
              </a:pPr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8950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END ONLY NOTES FOLLOWS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216AB3-C9B1-1744-94E0-EFDC3815C72C}" type="slidenum">
              <a:rPr lang="en-GB" smtClean="0"/>
              <a:pPr>
                <a:defRPr/>
              </a:pPr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40420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THE END ONLY NOTES FOLLOWS</a:t>
            </a:r>
          </a:p>
          <a:p>
            <a:endParaRPr lang="en-US" dirty="0" smtClean="0"/>
          </a:p>
          <a:p>
            <a:r>
              <a:rPr lang="en-US" dirty="0" smtClean="0"/>
              <a:t>Review these</a:t>
            </a:r>
            <a:r>
              <a:rPr lang="en-US" baseline="0" dirty="0" smtClean="0"/>
              <a:t> and write up for a paper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216AB3-C9B1-1744-94E0-EFDC3815C72C}" type="slidenum">
              <a:rPr lang="en-GB" smtClean="0"/>
              <a:pPr>
                <a:defRPr/>
              </a:pPr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7632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7"/>
          <p:cNvSpPr>
            <a:spLocks noChangeShapeType="1"/>
          </p:cNvSpPr>
          <p:nvPr userDrawn="1"/>
        </p:nvSpPr>
        <p:spPr bwMode="auto">
          <a:xfrm flipH="1">
            <a:off x="152400" y="685800"/>
            <a:ext cx="8763000" cy="0"/>
          </a:xfrm>
          <a:prstGeom prst="line">
            <a:avLst/>
          </a:prstGeom>
          <a:noFill/>
          <a:ln w="57150">
            <a:solidFill>
              <a:srgbClr val="68397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lIns="91430" tIns="45715" rIns="91430" bIns="45715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Line 8"/>
          <p:cNvSpPr>
            <a:spLocks noChangeShapeType="1"/>
          </p:cNvSpPr>
          <p:nvPr userDrawn="1"/>
        </p:nvSpPr>
        <p:spPr bwMode="auto">
          <a:xfrm flipH="1">
            <a:off x="152400" y="6400800"/>
            <a:ext cx="8763000" cy="0"/>
          </a:xfrm>
          <a:prstGeom prst="line">
            <a:avLst/>
          </a:prstGeom>
          <a:noFill/>
          <a:ln w="28575">
            <a:solidFill>
              <a:srgbClr val="68397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lIns="91430" tIns="45715" rIns="91430" bIns="45715" anchor="ctr"/>
          <a:lstStyle/>
          <a:p>
            <a:pPr>
              <a:defRPr/>
            </a:pPr>
            <a:endParaRPr lang="en-US"/>
          </a:p>
        </p:txBody>
      </p:sp>
      <p:pic>
        <p:nvPicPr>
          <p:cNvPr id="6" name="Picture 9" descr="C:\WINDOWS\DESKTOP\UoPlandscapePUR300dpi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52400"/>
            <a:ext cx="2273300" cy="403225"/>
          </a:xfrm>
          <a:prstGeom prst="rect">
            <a:avLst/>
          </a:prstGeom>
          <a:solidFill>
            <a:srgbClr val="B7AC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3"/>
          <p:cNvSpPr txBox="1">
            <a:spLocks noChangeArrowheads="1"/>
          </p:cNvSpPr>
          <p:nvPr userDrawn="1"/>
        </p:nvSpPr>
        <p:spPr bwMode="auto">
          <a:xfrm>
            <a:off x="228600" y="152400"/>
            <a:ext cx="3429000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1430" tIns="45715" rIns="91430" bIns="45715"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en-GB" sz="1300" b="1" kern="1200" dirty="0" err="1" smtClean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Spatio</a:t>
            </a:r>
            <a:r>
              <a:rPr lang="en-GB" sz="1300" b="1" kern="1200" dirty="0" smtClean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-temporal Data Feed</a:t>
            </a:r>
            <a:endParaRPr lang="en-GB" sz="1300" b="1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143000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GB" noProof="0" smtClean="0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657601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sz="1800"/>
            </a:lvl1pPr>
          </a:lstStyle>
          <a:p>
            <a:pPr lvl="0"/>
            <a:r>
              <a:rPr lang="en-GB" noProof="0" smtClean="0"/>
              <a:t>Click to edit Master subtitle style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3250" y="6477000"/>
            <a:ext cx="2095500" cy="228600"/>
          </a:xfrm>
        </p:spPr>
        <p:txBody>
          <a:bodyPr/>
          <a:lstStyle>
            <a:lvl1pPr>
              <a:defRPr smtClean="0">
                <a:latin typeface="Times New Roman" charset="0"/>
              </a:defRPr>
            </a:lvl1pPr>
          </a:lstStyle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77000"/>
            <a:ext cx="2895600" cy="228600"/>
          </a:xfrm>
        </p:spPr>
        <p:txBody>
          <a:bodyPr/>
          <a:lstStyle>
            <a:lvl1pPr>
              <a:defRPr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77000"/>
            <a:ext cx="1905000" cy="228600"/>
          </a:xfrm>
        </p:spPr>
        <p:txBody>
          <a:bodyPr/>
          <a:lstStyle>
            <a:lvl1pPr>
              <a:defRPr smtClean="0">
                <a:latin typeface="Times New Roman" charset="0"/>
              </a:defRPr>
            </a:lvl1pPr>
          </a:lstStyle>
          <a:p>
            <a:pPr>
              <a:defRPr/>
            </a:pPr>
            <a:fld id="{EEFB7AC5-D274-4947-A84D-299033C23E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591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A69797-332A-4E47-998C-848234DBEE37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0998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53" indent="0">
              <a:buNone/>
              <a:defRPr sz="1800"/>
            </a:lvl2pPr>
            <a:lvl3pPr marL="914305" indent="0">
              <a:buNone/>
              <a:defRPr sz="1600"/>
            </a:lvl3pPr>
            <a:lvl4pPr marL="1371458" indent="0">
              <a:buNone/>
              <a:defRPr sz="1400"/>
            </a:lvl4pPr>
            <a:lvl5pPr marL="1828610" indent="0">
              <a:buNone/>
              <a:defRPr sz="1400"/>
            </a:lvl5pPr>
            <a:lvl6pPr marL="2285763" indent="0">
              <a:buNone/>
              <a:defRPr sz="1400"/>
            </a:lvl6pPr>
            <a:lvl7pPr marL="2742915" indent="0">
              <a:buNone/>
              <a:defRPr sz="1400"/>
            </a:lvl7pPr>
            <a:lvl8pPr marL="3200068" indent="0">
              <a:buNone/>
              <a:defRPr sz="1400"/>
            </a:lvl8pPr>
            <a:lvl9pPr marL="365722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E10FFB-CC0C-C948-A33F-054DCC7CF8A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0946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24001"/>
            <a:ext cx="38100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524001"/>
            <a:ext cx="38100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B97ECA-CD20-5245-83A3-0136ED7C0F3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3319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3" indent="0">
              <a:buNone/>
              <a:defRPr sz="2000" b="1"/>
            </a:lvl2pPr>
            <a:lvl3pPr marL="914305" indent="0">
              <a:buNone/>
              <a:defRPr sz="1800" b="1"/>
            </a:lvl3pPr>
            <a:lvl4pPr marL="1371458" indent="0">
              <a:buNone/>
              <a:defRPr sz="1600" b="1"/>
            </a:lvl4pPr>
            <a:lvl5pPr marL="1828610" indent="0">
              <a:buNone/>
              <a:defRPr sz="1600" b="1"/>
            </a:lvl5pPr>
            <a:lvl6pPr marL="2285763" indent="0">
              <a:buNone/>
              <a:defRPr sz="1600" b="1"/>
            </a:lvl6pPr>
            <a:lvl7pPr marL="2742915" indent="0">
              <a:buNone/>
              <a:defRPr sz="1600" b="1"/>
            </a:lvl7pPr>
            <a:lvl8pPr marL="3200068" indent="0">
              <a:buNone/>
              <a:defRPr sz="1600" b="1"/>
            </a:lvl8pPr>
            <a:lvl9pPr marL="365722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3" indent="0">
              <a:buNone/>
              <a:defRPr sz="2000" b="1"/>
            </a:lvl2pPr>
            <a:lvl3pPr marL="914305" indent="0">
              <a:buNone/>
              <a:defRPr sz="1800" b="1"/>
            </a:lvl3pPr>
            <a:lvl4pPr marL="1371458" indent="0">
              <a:buNone/>
              <a:defRPr sz="1600" b="1"/>
            </a:lvl4pPr>
            <a:lvl5pPr marL="1828610" indent="0">
              <a:buNone/>
              <a:defRPr sz="1600" b="1"/>
            </a:lvl5pPr>
            <a:lvl6pPr marL="2285763" indent="0">
              <a:buNone/>
              <a:defRPr sz="1600" b="1"/>
            </a:lvl6pPr>
            <a:lvl7pPr marL="2742915" indent="0">
              <a:buNone/>
              <a:defRPr sz="1600" b="1"/>
            </a:lvl7pPr>
            <a:lvl8pPr marL="3200068" indent="0">
              <a:buNone/>
              <a:defRPr sz="1600" b="1"/>
            </a:lvl8pPr>
            <a:lvl9pPr marL="365722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869EC-7F93-5C4D-BAB2-DDA7705582A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2927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ACF423-AB6B-2943-8C6B-B55F9D1D8BC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6989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0C85F-96A9-2C43-92C4-D869F75DC08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21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53" indent="0">
              <a:buNone/>
              <a:defRPr sz="1200"/>
            </a:lvl2pPr>
            <a:lvl3pPr marL="914305" indent="0">
              <a:buNone/>
              <a:defRPr sz="1000"/>
            </a:lvl3pPr>
            <a:lvl4pPr marL="1371458" indent="0">
              <a:buNone/>
              <a:defRPr sz="900"/>
            </a:lvl4pPr>
            <a:lvl5pPr marL="1828610" indent="0">
              <a:buNone/>
              <a:defRPr sz="900"/>
            </a:lvl5pPr>
            <a:lvl6pPr marL="2285763" indent="0">
              <a:buNone/>
              <a:defRPr sz="900"/>
            </a:lvl6pPr>
            <a:lvl7pPr marL="2742915" indent="0">
              <a:buNone/>
              <a:defRPr sz="900"/>
            </a:lvl7pPr>
            <a:lvl8pPr marL="3200068" indent="0">
              <a:buNone/>
              <a:defRPr sz="900"/>
            </a:lvl8pPr>
            <a:lvl9pPr marL="365722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6C6ECE-EAD1-4245-8136-DECC8D320424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3160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53" indent="0">
              <a:buNone/>
              <a:defRPr sz="2800"/>
            </a:lvl2pPr>
            <a:lvl3pPr marL="914305" indent="0">
              <a:buNone/>
              <a:defRPr sz="2400"/>
            </a:lvl3pPr>
            <a:lvl4pPr marL="1371458" indent="0">
              <a:buNone/>
              <a:defRPr sz="2000"/>
            </a:lvl4pPr>
            <a:lvl5pPr marL="1828610" indent="0">
              <a:buNone/>
              <a:defRPr sz="2000"/>
            </a:lvl5pPr>
            <a:lvl6pPr marL="2285763" indent="0">
              <a:buNone/>
              <a:defRPr sz="2000"/>
            </a:lvl6pPr>
            <a:lvl7pPr marL="2742915" indent="0">
              <a:buNone/>
              <a:defRPr sz="2000"/>
            </a:lvl7pPr>
            <a:lvl8pPr marL="3200068" indent="0">
              <a:buNone/>
              <a:defRPr sz="2000"/>
            </a:lvl8pPr>
            <a:lvl9pPr marL="365722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53" indent="0">
              <a:buNone/>
              <a:defRPr sz="1200"/>
            </a:lvl2pPr>
            <a:lvl3pPr marL="914305" indent="0">
              <a:buNone/>
              <a:defRPr sz="1000"/>
            </a:lvl3pPr>
            <a:lvl4pPr marL="1371458" indent="0">
              <a:buNone/>
              <a:defRPr sz="900"/>
            </a:lvl4pPr>
            <a:lvl5pPr marL="1828610" indent="0">
              <a:buNone/>
              <a:defRPr sz="900"/>
            </a:lvl5pPr>
            <a:lvl6pPr marL="2285763" indent="0">
              <a:buNone/>
              <a:defRPr sz="900"/>
            </a:lvl6pPr>
            <a:lvl7pPr marL="2742915" indent="0">
              <a:buNone/>
              <a:defRPr sz="900"/>
            </a:lvl7pPr>
            <a:lvl8pPr marL="3200068" indent="0">
              <a:buNone/>
              <a:defRPr sz="900"/>
            </a:lvl8pPr>
            <a:lvl9pPr marL="365722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67B1B8-022B-ED45-B98E-9602C12281A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2808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92F529-8EE7-F349-9D15-472339F81F7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8890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00" y="8382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8382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EDEF67-AC93-6C46-8C0A-8E3CDE1F5DD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9966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838200"/>
            <a:ext cx="7772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30" tIns="45715" rIns="91430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524000"/>
            <a:ext cx="77724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style`s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" y="65532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+mn-lt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532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latin typeface="Arial" charset="0"/>
              </a:defRPr>
            </a:lvl1pPr>
          </a:lstStyle>
          <a:p>
            <a:pPr>
              <a:defRPr/>
            </a:pPr>
            <a:fld id="{E917733F-14E2-2B44-82AE-83C5183B264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1031" name="Line 7"/>
          <p:cNvSpPr>
            <a:spLocks noChangeShapeType="1"/>
          </p:cNvSpPr>
          <p:nvPr userDrawn="1"/>
        </p:nvSpPr>
        <p:spPr bwMode="auto">
          <a:xfrm flipH="1">
            <a:off x="152400" y="685800"/>
            <a:ext cx="8763000" cy="0"/>
          </a:xfrm>
          <a:prstGeom prst="line">
            <a:avLst/>
          </a:prstGeom>
          <a:noFill/>
          <a:ln w="57150">
            <a:solidFill>
              <a:srgbClr val="68397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lIns="91430" tIns="45715" rIns="91430" bIns="45715" anchor="ctr"/>
          <a:lstStyle/>
          <a:p>
            <a:pPr>
              <a:defRPr/>
            </a:pPr>
            <a:endParaRPr lang="en-US"/>
          </a:p>
        </p:txBody>
      </p:sp>
      <p:sp>
        <p:nvSpPr>
          <p:cNvPr id="1032" name="Line 8"/>
          <p:cNvSpPr>
            <a:spLocks noChangeShapeType="1"/>
          </p:cNvSpPr>
          <p:nvPr userDrawn="1"/>
        </p:nvSpPr>
        <p:spPr bwMode="auto">
          <a:xfrm flipH="1">
            <a:off x="152400" y="6553200"/>
            <a:ext cx="8763000" cy="0"/>
          </a:xfrm>
          <a:prstGeom prst="line">
            <a:avLst/>
          </a:prstGeom>
          <a:noFill/>
          <a:ln w="28575">
            <a:solidFill>
              <a:srgbClr val="68397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lIns="91430" tIns="45715" rIns="91430" bIns="45715" anchor="ctr"/>
          <a:lstStyle/>
          <a:p>
            <a:pPr>
              <a:defRPr/>
            </a:pPr>
            <a:endParaRPr lang="en-US"/>
          </a:p>
        </p:txBody>
      </p:sp>
      <p:pic>
        <p:nvPicPr>
          <p:cNvPr id="1033" name="Picture 9" descr="C:\WINDOWS\DESKTOP\UoPlandscapePUR300dpi.jp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52400"/>
            <a:ext cx="2273300" cy="403225"/>
          </a:xfrm>
          <a:prstGeom prst="rect">
            <a:avLst/>
          </a:prstGeom>
          <a:solidFill>
            <a:srgbClr val="B7AC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Oval 10"/>
          <p:cNvSpPr>
            <a:spLocks noChangeArrowheads="1"/>
          </p:cNvSpPr>
          <p:nvPr userDrawn="1"/>
        </p:nvSpPr>
        <p:spPr bwMode="auto">
          <a:xfrm>
            <a:off x="-1219200" y="-609600"/>
            <a:ext cx="6096000" cy="5856288"/>
          </a:xfrm>
          <a:prstGeom prst="ellipse">
            <a:avLst/>
          </a:prstGeom>
          <a:solidFill>
            <a:srgbClr val="D7D1FD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lIns="91430" tIns="45715" rIns="91430" bIns="45715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35" name="Oval 11"/>
          <p:cNvSpPr>
            <a:spLocks noChangeArrowheads="1"/>
          </p:cNvSpPr>
          <p:nvPr userDrawn="1"/>
        </p:nvSpPr>
        <p:spPr bwMode="auto">
          <a:xfrm>
            <a:off x="7391400" y="3581400"/>
            <a:ext cx="2286000" cy="2195513"/>
          </a:xfrm>
          <a:prstGeom prst="ellipse">
            <a:avLst/>
          </a:prstGeom>
          <a:solidFill>
            <a:srgbClr val="D7D1FD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lIns="91430" tIns="45715" rIns="91430" bIns="45715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36" name="Text Box 12"/>
          <p:cNvSpPr txBox="1">
            <a:spLocks noChangeArrowheads="1"/>
          </p:cNvSpPr>
          <p:nvPr userDrawn="1"/>
        </p:nvSpPr>
        <p:spPr bwMode="auto">
          <a:xfrm>
            <a:off x="228600" y="152400"/>
            <a:ext cx="4165600" cy="292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91430" tIns="45715" rIns="91430" bIns="45715"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en-GB" sz="1300" b="1" dirty="0" smtClean="0">
                <a:latin typeface="Arial" charset="0"/>
                <a:cs typeface="+mn-cs"/>
              </a:rPr>
              <a:t>DDI Metadata</a:t>
            </a:r>
            <a:r>
              <a:rPr lang="en-GB" sz="1300" b="1" baseline="0" dirty="0" smtClean="0">
                <a:latin typeface="Arial" charset="0"/>
                <a:cs typeface="+mn-cs"/>
              </a:rPr>
              <a:t> within a </a:t>
            </a:r>
            <a:r>
              <a:rPr lang="en-GB" sz="1300" b="1" dirty="0" err="1" smtClean="0">
                <a:latin typeface="Arial" charset="0"/>
                <a:cs typeface="+mn-cs"/>
              </a:rPr>
              <a:t>Spatio</a:t>
            </a:r>
            <a:r>
              <a:rPr lang="en-GB" sz="1300" b="1" dirty="0" smtClean="0">
                <a:latin typeface="Arial" charset="0"/>
                <a:cs typeface="+mn-cs"/>
              </a:rPr>
              <a:t>-temporal Data Feed</a:t>
            </a:r>
            <a:endParaRPr lang="en-GB" sz="1300" b="1" dirty="0">
              <a:latin typeface="Arial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153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ea typeface="ＭＳ Ｐゴシック" charset="0"/>
        </a:defRPr>
      </a:lvl6pPr>
      <a:lvl7pPr marL="914305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ea typeface="ＭＳ Ｐゴシック" charset="0"/>
        </a:defRPr>
      </a:lvl7pPr>
      <a:lvl8pPr marL="1371458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ea typeface="ＭＳ Ｐゴシック" charset="0"/>
        </a:defRPr>
      </a:lvl8pPr>
      <a:lvl9pPr marL="182861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5pPr>
      <a:lvl6pPr marL="2514340" indent="-22857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6pPr>
      <a:lvl7pPr marL="2971492" indent="-22857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7pPr>
      <a:lvl8pPr marL="3428645" indent="-22857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8pPr>
      <a:lvl9pPr marL="3885797" indent="-22857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1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3" algn="l" defTabSz="4571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5" algn="l" defTabSz="4571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58" algn="l" defTabSz="4571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0" algn="l" defTabSz="4571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63" algn="l" defTabSz="4571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15" algn="l" defTabSz="4571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68" algn="l" defTabSz="4571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20" algn="l" defTabSz="4571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Humphrey.Southall@port.ac.uk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ons.gov.uk/ons/apiservice/web/apiservic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visionofbritain.org.uk/unit/10168181/cube/AGESEX_85UP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www.w3.org/TR/vocab-data-cube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ata.cso.ie/index.html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data.pastplce.org/search?q=50.8193761,-0.3765256&amp;theme=T_POP&amp;format=json" TargetMode="External"/><Relationship Id="rId4" Type="http://schemas.openxmlformats.org/officeDocument/2006/relationships/hyperlink" Target="http://data.pastplace.org/datacube?ncubes=N_AGESEX_85UP&amp;units=10056524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ata.pastplce.org/search?metadata=SHEEP&amp;format=json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ata.pastplace.org/search?q=portsmouth&amp;format=n3" TargetMode="External"/><Relationship Id="rId3" Type="http://schemas.openxmlformats.org/officeDocument/2006/relationships/hyperlink" Target="http://www.wikidata.org/entity/Q72259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ata.pastplace.org/search?q=portsmouth&amp;format=n3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ata.pastplace.org/datacube?q=portsmouth&amp;unittypes=ADM_CNTY" TargetMode="External"/><Relationship Id="rId3" Type="http://schemas.openxmlformats.org/officeDocument/2006/relationships/hyperlink" Target="http://data.pastplace.org/datacube?units=10168181&amp;cellref=AGESEX_85UP:male/70_74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data.pastplace.org/datacube" TargetMode="External"/><Relationship Id="rId4" Type="http://schemas.openxmlformats.org/officeDocument/2006/relationships/hyperlink" Target="http://data.pastplace.org/seach" TargetMode="External"/><Relationship Id="rId5" Type="http://schemas.openxmlformats.org/officeDocument/2006/relationships/hyperlink" Target="http://www.pastplace.org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www.data-archive.ac.uk/find/hasset-thesaurus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ort.ac.uk/research/gbhgis/" TargetMode="External"/><Relationship Id="rId4" Type="http://schemas.openxmlformats.org/officeDocument/2006/relationships/hyperlink" Target="http://www.visionofbritain.org.uk" TargetMode="External"/><Relationship Id="rId5" Type="http://schemas.openxmlformats.org/officeDocument/2006/relationships/hyperlink" Target="http://www.pastplace.org" TargetMode="External"/><Relationship Id="rId6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data.pastplace.org/datacube?q=portsmouth&amp;unittypes=ADM_CNTY" TargetMode="External"/><Relationship Id="rId4" Type="http://schemas.openxmlformats.org/officeDocument/2006/relationships/hyperlink" Target="http://data.pastplace.org/datacube?units=10168181&amp;cellref=AGESEX_85UP:male/70_74" TargetMode="External"/><Relationship Id="rId5" Type="http://schemas.openxmlformats.org/officeDocument/2006/relationships/hyperlink" Target="http://data.pastplace.org/datacube?units=10168181&amp;cellref=AGESEX_85UP:male/70_74&amp;yearfrom=1881&amp;yearto=1881" TargetMode="External"/><Relationship Id="rId6" Type="http://schemas.openxmlformats.org/officeDocument/2006/relationships/hyperlink" Target="http://data.pastplce.org/search?metadata=SHEEP&amp;format=json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ata.pastplace.org/datacube?units=10168181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TR/vocab-data-cube/" TargetMode="External"/><Relationship Id="rId4" Type="http://schemas.openxmlformats.org/officeDocument/2006/relationships/hyperlink" Target="http://data.cso.ie/index.html" TargetMode="External"/><Relationship Id="rId5" Type="http://schemas.openxmlformats.org/officeDocument/2006/relationships/hyperlink" Target="http://lod.cedar-project.nl/" TargetMode="External"/><Relationship Id="rId6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8013" y="1323975"/>
            <a:ext cx="8001000" cy="2409825"/>
          </a:xfrm>
        </p:spPr>
        <p:txBody>
          <a:bodyPr/>
          <a:lstStyle/>
          <a:p>
            <a:pPr algn="ctr">
              <a:defRPr/>
            </a:pPr>
            <a:r>
              <a:rPr lang="en-US" sz="3600" dirty="0"/>
              <a:t>Encapsulating DDI Metadata within a </a:t>
            </a:r>
            <a:r>
              <a:rPr lang="en-US" sz="3600" dirty="0" err="1"/>
              <a:t>Spatio</a:t>
            </a:r>
            <a:r>
              <a:rPr lang="en-US" sz="3600" dirty="0"/>
              <a:t>-Temporal Data Feed for British  Historical Statistics</a:t>
            </a:r>
            <a:endParaRPr lang="en-GB" sz="3600" dirty="0">
              <a:latin typeface="Arial" charset="0"/>
              <a:ea typeface="ＭＳ Ｐゴシック" charset="0"/>
              <a:cs typeface="Times New Roman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04913" y="4305300"/>
            <a:ext cx="6743700" cy="1905000"/>
          </a:xfrm>
        </p:spPr>
        <p:txBody>
          <a:bodyPr/>
          <a:lstStyle/>
          <a:p>
            <a:pPr eaLnBrk="1" hangingPunct="1">
              <a:defRPr/>
            </a:pPr>
            <a:r>
              <a:rPr lang="en-GB" sz="2000" dirty="0"/>
              <a:t>Humphrey </a:t>
            </a:r>
            <a:r>
              <a:rPr lang="en-GB" sz="2000" dirty="0" smtClean="0"/>
              <a:t>Southall &amp; </a:t>
            </a:r>
            <a:r>
              <a:rPr lang="en-GB" sz="2000" dirty="0" smtClean="0">
                <a:cs typeface="+mn-cs"/>
              </a:rPr>
              <a:t>Michael</a:t>
            </a:r>
            <a:r>
              <a:rPr lang="en-GB" sz="2000" baseline="0" dirty="0" smtClean="0">
                <a:cs typeface="+mn-cs"/>
              </a:rPr>
              <a:t> Stoner</a:t>
            </a:r>
            <a:endParaRPr lang="en-GB" sz="2000" dirty="0" smtClean="0">
              <a:cs typeface="+mn-cs"/>
            </a:endParaRPr>
          </a:p>
          <a:p>
            <a:pPr eaLnBrk="1" hangingPunct="1">
              <a:defRPr/>
            </a:pPr>
            <a:r>
              <a:rPr lang="en-GB" sz="2000" dirty="0" smtClean="0">
                <a:cs typeface="+mn-cs"/>
              </a:rPr>
              <a:t>(Great Britain Historical GIS/</a:t>
            </a:r>
            <a:br>
              <a:rPr lang="en-GB" sz="2000" dirty="0" smtClean="0">
                <a:cs typeface="+mn-cs"/>
              </a:rPr>
            </a:br>
            <a:r>
              <a:rPr lang="en-GB" sz="2000" dirty="0" smtClean="0">
                <a:cs typeface="+mn-cs"/>
              </a:rPr>
              <a:t>University of Portsmouth)</a:t>
            </a:r>
            <a:r>
              <a:rPr lang="en-GB" sz="2000" dirty="0">
                <a:cs typeface="+mn-cs"/>
              </a:rPr>
              <a:t/>
            </a:r>
            <a:br>
              <a:rPr lang="en-GB" sz="2000" dirty="0">
                <a:cs typeface="+mn-cs"/>
              </a:rPr>
            </a:br>
            <a:endParaRPr lang="en-GB" sz="2000" dirty="0">
              <a:cs typeface="+mn-cs"/>
            </a:endParaRPr>
          </a:p>
          <a:p>
            <a:pPr eaLnBrk="1" hangingPunct="1">
              <a:defRPr/>
            </a:pPr>
            <a:r>
              <a:rPr lang="en-GB" sz="2000" dirty="0" smtClean="0">
                <a:cs typeface="+mn-cs"/>
              </a:rPr>
              <a:t>(</a:t>
            </a:r>
            <a:r>
              <a:rPr lang="en-GB" sz="2000" dirty="0" smtClean="0">
                <a:cs typeface="+mn-cs"/>
                <a:hlinkClick r:id="rId3"/>
              </a:rPr>
              <a:t>gbhgis@</a:t>
            </a:r>
            <a:r>
              <a:rPr lang="en-GB" sz="2000" dirty="0">
                <a:cs typeface="+mn-cs"/>
                <a:hlinkClick r:id="rId3"/>
              </a:rPr>
              <a:t>port.ac.uk</a:t>
            </a:r>
            <a:r>
              <a:rPr lang="en-GB" sz="2000" dirty="0">
                <a:cs typeface="+mn-cs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8000" y="317500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87"/>
    </mc:Choice>
    <mc:Fallback xmlns="">
      <p:transition xmlns:p14="http://schemas.microsoft.com/office/powerpoint/2010/main" spd="slow" advTm="2487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609600" y="838200"/>
            <a:ext cx="7772400" cy="609600"/>
          </a:xfrm>
        </p:spPr>
        <p:txBody>
          <a:bodyPr/>
          <a:lstStyle/>
          <a:p>
            <a:r>
              <a:rPr lang="en-US" dirty="0" smtClean="0"/>
              <a:t>Statistical </a:t>
            </a:r>
            <a:r>
              <a:rPr lang="en-GB" dirty="0" smtClean="0"/>
              <a:t>data </a:t>
            </a:r>
            <a:r>
              <a:rPr lang="en-GB" dirty="0" smtClean="0"/>
              <a:t>feeds: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584200" y="1485900"/>
            <a:ext cx="7772400" cy="4800600"/>
          </a:xfrm>
        </p:spPr>
        <p:txBody>
          <a:bodyPr/>
          <a:lstStyle/>
          <a:p>
            <a:r>
              <a:rPr lang="en-US" dirty="0"/>
              <a:t>ONS experimental </a:t>
            </a:r>
            <a:r>
              <a:rPr lang="en-US" b="1" dirty="0" err="1"/>
              <a:t>OpenAPI</a:t>
            </a:r>
            <a:endParaRPr lang="en-US" b="1" dirty="0"/>
          </a:p>
          <a:p>
            <a:pPr lvl="1"/>
            <a:r>
              <a:rPr lang="en-US" dirty="0"/>
              <a:t>Launched November 2014</a:t>
            </a:r>
          </a:p>
          <a:p>
            <a:pPr lvl="1"/>
            <a:r>
              <a:rPr lang="en-US" dirty="0">
                <a:hlinkClick r:id="rId3"/>
              </a:rPr>
              <a:t>https://www.ons.gov.uk/ons/apiservice/web/apiservice</a:t>
            </a:r>
            <a:endParaRPr lang="en-US" dirty="0"/>
          </a:p>
          <a:p>
            <a:pPr lvl="1"/>
            <a:r>
              <a:rPr lang="en-GB" dirty="0" smtClean="0"/>
              <a:t>Access data values within each census table</a:t>
            </a:r>
          </a:p>
          <a:p>
            <a:pPr lvl="1"/>
            <a:r>
              <a:rPr lang="en-GB" dirty="0" smtClean="0"/>
              <a:t>ONS also have easy to use tools for selecting and visualisation</a:t>
            </a:r>
          </a:p>
          <a:p>
            <a:pPr lvl="1"/>
            <a:r>
              <a:rPr lang="en-GB" dirty="0" smtClean="0"/>
              <a:t>ONS no longer reports aggregated data totals from the previous census with current census reporting areas.</a:t>
            </a:r>
            <a:endParaRPr lang="en-GB" dirty="0" smtClean="0"/>
          </a:p>
          <a:p>
            <a:r>
              <a:rPr lang="en-US" b="1" dirty="0" err="1" smtClean="0"/>
              <a:t>InFuse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New MIMAS/UK Data Service interface, which sits on top of a currently private API</a:t>
            </a:r>
          </a:p>
          <a:p>
            <a:pPr lvl="1"/>
            <a:r>
              <a:rPr lang="en-GB" dirty="0" smtClean="0"/>
              <a:t>Combine, and link data, across </a:t>
            </a:r>
            <a:r>
              <a:rPr lang="en-GB" dirty="0" smtClean="0"/>
              <a:t>a complete </a:t>
            </a:r>
            <a:r>
              <a:rPr lang="en-GB" dirty="0" smtClean="0"/>
              <a:t>census.</a:t>
            </a:r>
          </a:p>
          <a:p>
            <a:pPr lvl="1"/>
            <a:r>
              <a:rPr lang="en-GB" dirty="0" smtClean="0"/>
              <a:t>Programmatic discloser rules</a:t>
            </a:r>
            <a:endParaRPr lang="en-US" dirty="0"/>
          </a:p>
        </p:txBody>
      </p:sp>
      <p:sp>
        <p:nvSpPr>
          <p:cNvPr id="2048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GB" dirty="0" smtClean="0"/>
              <a:t>2nd December 2015</a:t>
            </a:r>
            <a:endParaRPr lang="en-GB" dirty="0"/>
          </a:p>
        </p:txBody>
      </p:sp>
      <p:sp>
        <p:nvSpPr>
          <p:cNvPr id="2048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34250AA-5A88-40DF-AD5B-7F7DEC9D51E9}" type="slidenum">
              <a:rPr lang="en-GB" smtClean="0"/>
              <a:pPr/>
              <a:t>2</a:t>
            </a:fld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308881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3"/>
    </mc:Choice>
    <mc:Fallback xmlns="">
      <p:transition xmlns:p14="http://schemas.microsoft.com/office/powerpoint/2010/main" spd="slow" advTm="363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GBH GIS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Integrated data structure </a:t>
            </a:r>
            <a:r>
              <a:rPr lang="en-US" dirty="0" smtClean="0"/>
              <a:t>for 14 million data values</a:t>
            </a:r>
            <a:endParaRPr lang="en-US" dirty="0"/>
          </a:p>
          <a:p>
            <a:pPr lvl="1"/>
            <a:r>
              <a:rPr lang="en-US" dirty="0" smtClean="0"/>
              <a:t>Allows redistricted data to be presented as a time series, e.g</a:t>
            </a:r>
            <a:r>
              <a:rPr lang="en-US" dirty="0"/>
              <a:t>. </a:t>
            </a:r>
            <a:r>
              <a:rPr lang="en-US" dirty="0" smtClean="0"/>
              <a:t>Portsmouth Pop. Pyramid: </a:t>
            </a:r>
            <a:r>
              <a:rPr lang="en-US" dirty="0" smtClean="0">
                <a:hlinkClick r:id="rId3"/>
              </a:rPr>
              <a:t>http</a:t>
            </a:r>
            <a:r>
              <a:rPr lang="en-US" dirty="0">
                <a:hlinkClick r:id="rId3"/>
              </a:rPr>
              <a:t>://visionofbritain.org.uk/unit/10168181/cube/</a:t>
            </a:r>
            <a:r>
              <a:rPr lang="en-US" dirty="0" smtClean="0">
                <a:hlinkClick r:id="rId3"/>
              </a:rPr>
              <a:t>AGESEX_85UP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69797-332A-4E47-998C-848234DBEE37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  <p:pic>
        <p:nvPicPr>
          <p:cNvPr id="6" name="Picture 5" descr="Screen Shot 2015-11-30 at 18.21.03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3283716"/>
            <a:ext cx="3924300" cy="3199353"/>
          </a:xfrm>
          <a:prstGeom prst="rect">
            <a:avLst/>
          </a:prstGeom>
        </p:spPr>
      </p:pic>
      <p:pic>
        <p:nvPicPr>
          <p:cNvPr id="7" name="Picture 6" descr="Screen Shot 2015-11-30 at 18.21.22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400" y="3251200"/>
            <a:ext cx="3942320" cy="330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539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33"/>
    </mc:Choice>
    <mc:Fallback xmlns="">
      <p:transition xmlns:p14="http://schemas.microsoft.com/office/powerpoint/2010/main" spd="slow" advTm="13033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812800"/>
            <a:ext cx="7772400" cy="469900"/>
          </a:xfrm>
        </p:spPr>
        <p:txBody>
          <a:bodyPr/>
          <a:lstStyle/>
          <a:p>
            <a:r>
              <a:rPr lang="en-US" sz="2400" dirty="0" smtClean="0"/>
              <a:t>GBH GIS Statistical Content 14 million data values: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900" y="1384300"/>
            <a:ext cx="7772400" cy="4762500"/>
          </a:xfrm>
        </p:spPr>
        <p:txBody>
          <a:bodyPr/>
          <a:lstStyle/>
          <a:p>
            <a:r>
              <a:rPr lang="en-US" dirty="0" smtClean="0"/>
              <a:t>Data from every Census of Population 1801-2001</a:t>
            </a:r>
          </a:p>
          <a:p>
            <a:pPr lvl="1"/>
            <a:r>
              <a:rPr lang="en-US" dirty="0" smtClean="0"/>
              <a:t>Parish-level population counts</a:t>
            </a:r>
          </a:p>
          <a:p>
            <a:pPr lvl="1"/>
            <a:r>
              <a:rPr lang="en-US" dirty="0" smtClean="0"/>
              <a:t>Age by sex by district</a:t>
            </a:r>
          </a:p>
          <a:p>
            <a:pPr lvl="1"/>
            <a:r>
              <a:rPr lang="en-US" dirty="0" smtClean="0"/>
              <a:t>Occupations, industries, housing conditions, </a:t>
            </a:r>
            <a:r>
              <a:rPr lang="en-US" dirty="0" err="1" smtClean="0"/>
              <a:t>etc</a:t>
            </a:r>
            <a:r>
              <a:rPr lang="en-US" dirty="0" smtClean="0"/>
              <a:t> …</a:t>
            </a:r>
          </a:p>
          <a:p>
            <a:pPr lvl="1"/>
            <a:r>
              <a:rPr lang="en-US" dirty="0" smtClean="0"/>
              <a:t>Working now on adding 2011 data</a:t>
            </a:r>
          </a:p>
          <a:p>
            <a:r>
              <a:rPr lang="en-US" dirty="0" smtClean="0"/>
              <a:t>Vital statistics</a:t>
            </a:r>
          </a:p>
          <a:p>
            <a:pPr lvl="1"/>
            <a:r>
              <a:rPr lang="en-US" dirty="0" smtClean="0"/>
              <a:t>Decennial data: </a:t>
            </a:r>
            <a:r>
              <a:rPr lang="en-US" dirty="0"/>
              <a:t>cause </a:t>
            </a:r>
            <a:r>
              <a:rPr lang="en-US" dirty="0" smtClean="0"/>
              <a:t>of death by age by sex by district</a:t>
            </a:r>
          </a:p>
          <a:p>
            <a:r>
              <a:rPr lang="en-US" dirty="0" smtClean="0"/>
              <a:t>Votes for each candidate in each constituency in each election 1832-2005</a:t>
            </a:r>
          </a:p>
          <a:p>
            <a:r>
              <a:rPr lang="en-US" dirty="0" smtClean="0"/>
              <a:t>Farm census: crop acreages and numbers of animals, by county, at least decennial since 1869</a:t>
            </a:r>
          </a:p>
          <a:p>
            <a:r>
              <a:rPr lang="en-US" dirty="0" smtClean="0"/>
              <a:t>Unemployment and poor law data, by town/district</a:t>
            </a:r>
          </a:p>
          <a:p>
            <a:pPr lvl="1"/>
            <a:r>
              <a:rPr lang="en-US" dirty="0" smtClean="0"/>
              <a:t>… a diverse but very </a:t>
            </a:r>
            <a:r>
              <a:rPr lang="en-US" i="1" dirty="0" smtClean="0"/>
              <a:t>ordinary</a:t>
            </a:r>
            <a:r>
              <a:rPr lang="en-US" dirty="0" smtClean="0"/>
              <a:t> set of social statistics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69797-332A-4E47-998C-848234DBEE37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9699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447"/>
    </mc:Choice>
    <mc:Fallback xmlns="">
      <p:transition xmlns:p14="http://schemas.microsoft.com/office/powerpoint/2010/main" spd="slow" advTm="19447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GB" smtClean="0"/>
              <a:t>2nd December 2015</a:t>
            </a:r>
            <a:endParaRPr lang="en-GB"/>
          </a:p>
        </p:txBody>
      </p:sp>
      <p:sp>
        <p:nvSpPr>
          <p:cNvPr id="235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8DBDF57-83CA-434D-B99A-EB1696FC0A0A}" type="slidenum">
              <a:rPr lang="en-GB" smtClean="0"/>
              <a:pPr/>
              <a:t>5</a:t>
            </a:fld>
            <a:endParaRPr lang="en-GB" smtClean="0"/>
          </a:p>
        </p:txBody>
      </p:sp>
      <p:sp>
        <p:nvSpPr>
          <p:cNvPr id="23556" name="Rectangle 6"/>
          <p:cNvSpPr>
            <a:spLocks noGrp="1" noChangeArrowheads="1"/>
          </p:cNvSpPr>
          <p:nvPr>
            <p:ph type="title"/>
          </p:nvPr>
        </p:nvSpPr>
        <p:spPr>
          <a:xfrm>
            <a:off x="344488" y="785813"/>
            <a:ext cx="3808412" cy="1214437"/>
          </a:xfrm>
        </p:spPr>
        <p:txBody>
          <a:bodyPr/>
          <a:lstStyle/>
          <a:p>
            <a:r>
              <a:rPr lang="en-GB" dirty="0" smtClean="0"/>
              <a:t>GBH GIS Data Architecture</a:t>
            </a:r>
            <a:br>
              <a:rPr lang="en-GB" dirty="0" smtClean="0"/>
            </a:br>
            <a:r>
              <a:rPr lang="en-GB" dirty="0" smtClean="0"/>
              <a:t>Overview</a:t>
            </a:r>
          </a:p>
        </p:txBody>
      </p:sp>
      <p:grpSp>
        <p:nvGrpSpPr>
          <p:cNvPr id="23557" name="Group 33"/>
          <p:cNvGrpSpPr>
            <a:grpSpLocks/>
          </p:cNvGrpSpPr>
          <p:nvPr/>
        </p:nvGrpSpPr>
        <p:grpSpPr bwMode="auto">
          <a:xfrm>
            <a:off x="247650" y="1028700"/>
            <a:ext cx="8432800" cy="5829300"/>
            <a:chOff x="1299360" y="2025650"/>
            <a:chExt cx="7292190" cy="4832350"/>
          </a:xfrm>
        </p:grpSpPr>
        <p:sp>
          <p:nvSpPr>
            <p:cNvPr id="23558" name="Line 28"/>
            <p:cNvSpPr>
              <a:spLocks noChangeShapeType="1"/>
            </p:cNvSpPr>
            <p:nvPr/>
          </p:nvSpPr>
          <p:spPr bwMode="auto">
            <a:xfrm rot="16200000" flipH="1">
              <a:off x="5487194" y="5982494"/>
              <a:ext cx="5857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559" name="Line 2"/>
            <p:cNvSpPr>
              <a:spLocks noChangeShapeType="1"/>
            </p:cNvSpPr>
            <p:nvPr/>
          </p:nvSpPr>
          <p:spPr bwMode="auto">
            <a:xfrm flipH="1">
              <a:off x="4362450" y="4540250"/>
              <a:ext cx="3475038" cy="158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560" name="Oval 3"/>
            <p:cNvSpPr>
              <a:spLocks noChangeArrowheads="1"/>
            </p:cNvSpPr>
            <p:nvPr/>
          </p:nvSpPr>
          <p:spPr bwMode="auto">
            <a:xfrm>
              <a:off x="2990850" y="3778250"/>
              <a:ext cx="1676400" cy="1676400"/>
            </a:xfrm>
            <a:prstGeom prst="ellipse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1" name="Line 4"/>
            <p:cNvSpPr>
              <a:spLocks noChangeShapeType="1"/>
            </p:cNvSpPr>
            <p:nvPr/>
          </p:nvSpPr>
          <p:spPr bwMode="auto">
            <a:xfrm>
              <a:off x="5734050" y="3244850"/>
              <a:ext cx="1588" cy="99377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562" name="Oval 5"/>
            <p:cNvSpPr>
              <a:spLocks noChangeArrowheads="1"/>
            </p:cNvSpPr>
            <p:nvPr/>
          </p:nvSpPr>
          <p:spPr bwMode="auto">
            <a:xfrm>
              <a:off x="4932363" y="4154488"/>
              <a:ext cx="1646237" cy="1646237"/>
            </a:xfrm>
            <a:prstGeom prst="ellipse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3" name="Oval 8"/>
            <p:cNvSpPr>
              <a:spLocks noChangeArrowheads="1"/>
            </p:cNvSpPr>
            <p:nvPr/>
          </p:nvSpPr>
          <p:spPr bwMode="auto">
            <a:xfrm>
              <a:off x="4819650" y="3625850"/>
              <a:ext cx="1828800" cy="18288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4" name="Text Box 9"/>
            <p:cNvSpPr txBox="1">
              <a:spLocks noChangeArrowheads="1"/>
            </p:cNvSpPr>
            <p:nvPr/>
          </p:nvSpPr>
          <p:spPr bwMode="auto">
            <a:xfrm>
              <a:off x="5276850" y="4311650"/>
              <a:ext cx="1279525" cy="519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GB" sz="2800">
                  <a:solidFill>
                    <a:schemeClr val="bg1"/>
                  </a:solidFill>
                </a:rPr>
                <a:t>Data</a:t>
              </a:r>
            </a:p>
          </p:txBody>
        </p:sp>
        <p:sp>
          <p:nvSpPr>
            <p:cNvPr id="23565" name="Text Box 10"/>
            <p:cNvSpPr txBox="1">
              <a:spLocks noChangeArrowheads="1"/>
            </p:cNvSpPr>
            <p:nvPr/>
          </p:nvSpPr>
          <p:spPr bwMode="auto">
            <a:xfrm>
              <a:off x="7181850" y="4235450"/>
              <a:ext cx="10969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GB">
                  <a:solidFill>
                    <a:schemeClr val="bg1"/>
                  </a:solidFill>
                </a:rPr>
                <a:t>DDS</a:t>
              </a:r>
            </a:p>
          </p:txBody>
        </p:sp>
        <p:sp>
          <p:nvSpPr>
            <p:cNvPr id="23566" name="Text Box 11"/>
            <p:cNvSpPr txBox="1">
              <a:spLocks noChangeArrowheads="1"/>
            </p:cNvSpPr>
            <p:nvPr/>
          </p:nvSpPr>
          <p:spPr bwMode="auto">
            <a:xfrm>
              <a:off x="5067300" y="5448300"/>
              <a:ext cx="137160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GB" sz="1200" b="1">
                  <a:solidFill>
                    <a:schemeClr val="bg1"/>
                  </a:solidFill>
                </a:rPr>
                <a:t>Date Object</a:t>
              </a:r>
            </a:p>
          </p:txBody>
        </p:sp>
        <p:sp>
          <p:nvSpPr>
            <p:cNvPr id="23567" name="Text Box 12"/>
            <p:cNvSpPr txBox="1">
              <a:spLocks noChangeArrowheads="1"/>
            </p:cNvSpPr>
            <p:nvPr/>
          </p:nvSpPr>
          <p:spPr bwMode="auto">
            <a:xfrm>
              <a:off x="2933554" y="4225165"/>
              <a:ext cx="1752600" cy="7654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GB" sz="1800" b="1">
                  <a:solidFill>
                    <a:schemeClr val="bg1"/>
                  </a:solidFill>
                </a:rPr>
                <a:t>Data Documentation</a:t>
              </a:r>
              <a:br>
                <a:rPr lang="en-GB" sz="1800" b="1">
                  <a:solidFill>
                    <a:schemeClr val="bg1"/>
                  </a:solidFill>
                </a:rPr>
              </a:br>
              <a:r>
                <a:rPr lang="en-GB" sz="1800" b="1">
                  <a:solidFill>
                    <a:schemeClr val="bg1"/>
                  </a:solidFill>
                </a:rPr>
                <a:t>System</a:t>
              </a:r>
            </a:p>
          </p:txBody>
        </p:sp>
        <p:sp>
          <p:nvSpPr>
            <p:cNvPr id="23568" name="Oval 13"/>
            <p:cNvSpPr>
              <a:spLocks noChangeArrowheads="1"/>
            </p:cNvSpPr>
            <p:nvPr/>
          </p:nvSpPr>
          <p:spPr bwMode="auto">
            <a:xfrm>
              <a:off x="4972050" y="2025650"/>
              <a:ext cx="1447800" cy="1447800"/>
            </a:xfrm>
            <a:prstGeom prst="ellipse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9" name="Text Box 14"/>
            <p:cNvSpPr txBox="1">
              <a:spLocks noChangeArrowheads="1"/>
            </p:cNvSpPr>
            <p:nvPr/>
          </p:nvSpPr>
          <p:spPr bwMode="auto">
            <a:xfrm>
              <a:off x="5013873" y="2405249"/>
              <a:ext cx="1325563" cy="7654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GB" sz="1800" b="1">
                  <a:solidFill>
                    <a:schemeClr val="bg1"/>
                  </a:solidFill>
                </a:rPr>
                <a:t>Gazetteer/</a:t>
              </a:r>
              <a:br>
                <a:rPr lang="en-GB" sz="1800" b="1">
                  <a:solidFill>
                    <a:schemeClr val="bg1"/>
                  </a:solidFill>
                </a:rPr>
              </a:br>
              <a:r>
                <a:rPr lang="en-GB" sz="1800" b="1">
                  <a:solidFill>
                    <a:schemeClr val="bg1"/>
                  </a:solidFill>
                </a:rPr>
                <a:t>Admin Unit</a:t>
              </a:r>
              <a:br>
                <a:rPr lang="en-GB" sz="1800" b="1">
                  <a:solidFill>
                    <a:schemeClr val="bg1"/>
                  </a:solidFill>
                </a:rPr>
              </a:br>
              <a:r>
                <a:rPr lang="en-GB" sz="1800" b="1">
                  <a:solidFill>
                    <a:schemeClr val="bg1"/>
                  </a:solidFill>
                </a:rPr>
                <a:t>Ontology</a:t>
              </a:r>
            </a:p>
          </p:txBody>
        </p:sp>
        <p:sp>
          <p:nvSpPr>
            <p:cNvPr id="23570" name="Text Box 15"/>
            <p:cNvSpPr txBox="1">
              <a:spLocks noChangeArrowheads="1"/>
            </p:cNvSpPr>
            <p:nvPr/>
          </p:nvSpPr>
          <p:spPr bwMode="auto">
            <a:xfrm>
              <a:off x="6904207" y="2388098"/>
              <a:ext cx="1479266" cy="4847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GB" sz="3200"/>
                <a:t>Source?</a:t>
              </a:r>
            </a:p>
          </p:txBody>
        </p:sp>
        <p:sp>
          <p:nvSpPr>
            <p:cNvPr id="23571" name="Text Box 16"/>
            <p:cNvSpPr txBox="1">
              <a:spLocks noChangeArrowheads="1"/>
            </p:cNvSpPr>
            <p:nvPr/>
          </p:nvSpPr>
          <p:spPr bwMode="auto">
            <a:xfrm>
              <a:off x="2907275" y="3106904"/>
              <a:ext cx="1400258" cy="4847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GB" sz="3200"/>
                <a:t>Where?</a:t>
              </a:r>
            </a:p>
          </p:txBody>
        </p:sp>
        <p:sp>
          <p:nvSpPr>
            <p:cNvPr id="23572" name="Text Box 17"/>
            <p:cNvSpPr txBox="1">
              <a:spLocks noChangeArrowheads="1"/>
            </p:cNvSpPr>
            <p:nvPr/>
          </p:nvSpPr>
          <p:spPr bwMode="auto">
            <a:xfrm>
              <a:off x="1299360" y="4346658"/>
              <a:ext cx="1184024" cy="4847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GB" sz="3200"/>
                <a:t>What?</a:t>
              </a:r>
            </a:p>
          </p:txBody>
        </p:sp>
        <p:sp>
          <p:nvSpPr>
            <p:cNvPr id="23573" name="Text Box 18"/>
            <p:cNvSpPr txBox="1">
              <a:spLocks noChangeArrowheads="1"/>
            </p:cNvSpPr>
            <p:nvPr/>
          </p:nvSpPr>
          <p:spPr bwMode="auto">
            <a:xfrm>
              <a:off x="3053119" y="5555835"/>
              <a:ext cx="1282437" cy="4847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GB" sz="3200"/>
                <a:t>When?</a:t>
              </a:r>
            </a:p>
          </p:txBody>
        </p:sp>
        <p:sp>
          <p:nvSpPr>
            <p:cNvPr id="23574" name="Oval 19"/>
            <p:cNvSpPr>
              <a:spLocks noChangeArrowheads="1"/>
            </p:cNvSpPr>
            <p:nvPr/>
          </p:nvSpPr>
          <p:spPr bwMode="auto">
            <a:xfrm>
              <a:off x="6877050" y="3778250"/>
              <a:ext cx="1714500" cy="1638300"/>
            </a:xfrm>
            <a:prstGeom prst="ellipse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5" name="Text Box 20"/>
            <p:cNvSpPr txBox="1">
              <a:spLocks noChangeArrowheads="1"/>
            </p:cNvSpPr>
            <p:nvPr/>
          </p:nvSpPr>
          <p:spPr bwMode="auto">
            <a:xfrm>
              <a:off x="6808295" y="4159250"/>
              <a:ext cx="1752600" cy="7654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GB" sz="1800" b="1">
                  <a:solidFill>
                    <a:schemeClr val="bg1"/>
                  </a:solidFill>
                </a:rPr>
                <a:t>Source Documentation</a:t>
              </a:r>
              <a:br>
                <a:rPr lang="en-GB" sz="1800" b="1">
                  <a:solidFill>
                    <a:schemeClr val="bg1"/>
                  </a:solidFill>
                </a:rPr>
              </a:br>
              <a:r>
                <a:rPr lang="en-GB" sz="1800" b="1">
                  <a:solidFill>
                    <a:schemeClr val="bg1"/>
                  </a:solidFill>
                </a:rPr>
                <a:t>System</a:t>
              </a:r>
            </a:p>
          </p:txBody>
        </p:sp>
        <p:sp>
          <p:nvSpPr>
            <p:cNvPr id="23576" name="Line 21"/>
            <p:cNvSpPr>
              <a:spLocks noChangeShapeType="1"/>
            </p:cNvSpPr>
            <p:nvPr/>
          </p:nvSpPr>
          <p:spPr bwMode="auto">
            <a:xfrm flipV="1">
              <a:off x="4412674" y="5645150"/>
              <a:ext cx="813376" cy="2179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577" name="Line 22"/>
            <p:cNvSpPr>
              <a:spLocks noChangeShapeType="1"/>
            </p:cNvSpPr>
            <p:nvPr/>
          </p:nvSpPr>
          <p:spPr bwMode="auto">
            <a:xfrm flipV="1">
              <a:off x="4341813" y="2947988"/>
              <a:ext cx="623887" cy="3921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578" name="Line 23"/>
            <p:cNvSpPr>
              <a:spLocks noChangeShapeType="1"/>
            </p:cNvSpPr>
            <p:nvPr/>
          </p:nvSpPr>
          <p:spPr bwMode="auto">
            <a:xfrm rot="5400000">
              <a:off x="7245350" y="3371850"/>
              <a:ext cx="812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579" name="Line 24"/>
            <p:cNvSpPr>
              <a:spLocks noChangeShapeType="1"/>
            </p:cNvSpPr>
            <p:nvPr/>
          </p:nvSpPr>
          <p:spPr bwMode="auto">
            <a:xfrm>
              <a:off x="2482850" y="4603750"/>
              <a:ext cx="558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23580" name="Group 27"/>
            <p:cNvGrpSpPr>
              <a:grpSpLocks/>
            </p:cNvGrpSpPr>
            <p:nvPr/>
          </p:nvGrpSpPr>
          <p:grpSpPr bwMode="auto">
            <a:xfrm>
              <a:off x="5237163" y="5975350"/>
              <a:ext cx="1092200" cy="882650"/>
              <a:chOff x="4336" y="3471"/>
              <a:chExt cx="688" cy="556"/>
            </a:xfrm>
          </p:grpSpPr>
          <p:sp>
            <p:nvSpPr>
              <p:cNvPr id="23583" name="Oval 25"/>
              <p:cNvSpPr>
                <a:spLocks noChangeArrowheads="1"/>
              </p:cNvSpPr>
              <p:nvPr/>
            </p:nvSpPr>
            <p:spPr bwMode="auto">
              <a:xfrm>
                <a:off x="4378" y="3471"/>
                <a:ext cx="610" cy="556"/>
              </a:xfrm>
              <a:prstGeom prst="ellipse">
                <a:avLst/>
              </a:prstGeom>
              <a:solidFill>
                <a:srgbClr val="CC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4" name="Text Box 26"/>
              <p:cNvSpPr txBox="1">
                <a:spLocks noChangeArrowheads="1"/>
              </p:cNvSpPr>
              <p:nvPr/>
            </p:nvSpPr>
            <p:spPr bwMode="auto">
              <a:xfrm>
                <a:off x="4336" y="3597"/>
                <a:ext cx="688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GB">
                    <a:solidFill>
                      <a:schemeClr val="bg1"/>
                    </a:solidFill>
                  </a:rPr>
                  <a:t>Ack.</a:t>
                </a:r>
              </a:p>
            </p:txBody>
          </p:sp>
        </p:grpSp>
        <p:sp>
          <p:nvSpPr>
            <p:cNvPr id="23581" name="Line 29"/>
            <p:cNvSpPr>
              <a:spLocks noChangeShapeType="1"/>
            </p:cNvSpPr>
            <p:nvPr/>
          </p:nvSpPr>
          <p:spPr bwMode="auto">
            <a:xfrm flipH="1">
              <a:off x="6311900" y="6297613"/>
              <a:ext cx="812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582" name="Text Box 30"/>
            <p:cNvSpPr txBox="1">
              <a:spLocks noChangeArrowheads="1"/>
            </p:cNvSpPr>
            <p:nvPr/>
          </p:nvSpPr>
          <p:spPr bwMode="auto">
            <a:xfrm>
              <a:off x="7197931" y="5997907"/>
              <a:ext cx="1321248" cy="4847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GB" sz="3200"/>
                <a:t>Thanks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7771795"/>
      </p:ext>
    </p:extLst>
  </p:cSld>
  <p:clrMapOvr>
    <a:masterClrMapping/>
  </p:clrMapOvr>
  <p:transition xmlns:p14="http://schemas.microsoft.com/office/powerpoint/2010/main" advTm="14508"/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GB" smtClean="0"/>
              <a:t>2nd December 2015</a:t>
            </a:r>
            <a:endParaRPr lang="en-GB"/>
          </a:p>
        </p:txBody>
      </p:sp>
      <p:sp>
        <p:nvSpPr>
          <p:cNvPr id="235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8DBDF57-83CA-434D-B99A-EB1696FC0A0A}" type="slidenum">
              <a:rPr lang="en-GB" smtClean="0"/>
              <a:pPr/>
              <a:t>6</a:t>
            </a:fld>
            <a:endParaRPr lang="en-GB" smtClean="0"/>
          </a:p>
        </p:txBody>
      </p:sp>
      <p:sp>
        <p:nvSpPr>
          <p:cNvPr id="23556" name="Rectangle 6"/>
          <p:cNvSpPr>
            <a:spLocks noGrp="1" noChangeArrowheads="1"/>
          </p:cNvSpPr>
          <p:nvPr>
            <p:ph type="title"/>
          </p:nvPr>
        </p:nvSpPr>
        <p:spPr>
          <a:xfrm>
            <a:off x="344488" y="785813"/>
            <a:ext cx="3808412" cy="1214437"/>
          </a:xfrm>
        </p:spPr>
        <p:txBody>
          <a:bodyPr/>
          <a:lstStyle/>
          <a:p>
            <a:r>
              <a:rPr lang="en-GB" dirty="0" smtClean="0"/>
              <a:t>GBH GIS Data Architecture</a:t>
            </a:r>
            <a:br>
              <a:rPr lang="en-GB" dirty="0" smtClean="0"/>
            </a:br>
            <a:r>
              <a:rPr lang="en-GB" dirty="0" smtClean="0"/>
              <a:t>Overview</a:t>
            </a:r>
          </a:p>
        </p:txBody>
      </p:sp>
      <p:grpSp>
        <p:nvGrpSpPr>
          <p:cNvPr id="23557" name="Group 33"/>
          <p:cNvGrpSpPr>
            <a:grpSpLocks/>
          </p:cNvGrpSpPr>
          <p:nvPr/>
        </p:nvGrpSpPr>
        <p:grpSpPr bwMode="auto">
          <a:xfrm>
            <a:off x="247650" y="1028700"/>
            <a:ext cx="8432800" cy="5829300"/>
            <a:chOff x="1299360" y="2025650"/>
            <a:chExt cx="7292190" cy="4832350"/>
          </a:xfrm>
        </p:grpSpPr>
        <p:sp>
          <p:nvSpPr>
            <p:cNvPr id="23558" name="Line 28"/>
            <p:cNvSpPr>
              <a:spLocks noChangeShapeType="1"/>
            </p:cNvSpPr>
            <p:nvPr/>
          </p:nvSpPr>
          <p:spPr bwMode="auto">
            <a:xfrm rot="16200000" flipH="1">
              <a:off x="5487194" y="5982494"/>
              <a:ext cx="5857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559" name="Line 2"/>
            <p:cNvSpPr>
              <a:spLocks noChangeShapeType="1"/>
            </p:cNvSpPr>
            <p:nvPr/>
          </p:nvSpPr>
          <p:spPr bwMode="auto">
            <a:xfrm flipH="1">
              <a:off x="4362450" y="4540250"/>
              <a:ext cx="3475038" cy="158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560" name="Oval 3"/>
            <p:cNvSpPr>
              <a:spLocks noChangeArrowheads="1"/>
            </p:cNvSpPr>
            <p:nvPr/>
          </p:nvSpPr>
          <p:spPr bwMode="auto">
            <a:xfrm>
              <a:off x="2990850" y="3778250"/>
              <a:ext cx="1676400" cy="1676400"/>
            </a:xfrm>
            <a:prstGeom prst="ellipse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1" name="Line 4"/>
            <p:cNvSpPr>
              <a:spLocks noChangeShapeType="1"/>
            </p:cNvSpPr>
            <p:nvPr/>
          </p:nvSpPr>
          <p:spPr bwMode="auto">
            <a:xfrm>
              <a:off x="5734050" y="3244850"/>
              <a:ext cx="1588" cy="99377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562" name="Oval 5"/>
            <p:cNvSpPr>
              <a:spLocks noChangeArrowheads="1"/>
            </p:cNvSpPr>
            <p:nvPr/>
          </p:nvSpPr>
          <p:spPr bwMode="auto">
            <a:xfrm>
              <a:off x="4932363" y="4154488"/>
              <a:ext cx="1646237" cy="1646237"/>
            </a:xfrm>
            <a:prstGeom prst="ellipse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3" name="Oval 8"/>
            <p:cNvSpPr>
              <a:spLocks noChangeArrowheads="1"/>
            </p:cNvSpPr>
            <p:nvPr/>
          </p:nvSpPr>
          <p:spPr bwMode="auto">
            <a:xfrm>
              <a:off x="4819650" y="3625850"/>
              <a:ext cx="1828800" cy="1828800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4" name="Text Box 9"/>
            <p:cNvSpPr txBox="1">
              <a:spLocks noChangeArrowheads="1"/>
            </p:cNvSpPr>
            <p:nvPr/>
          </p:nvSpPr>
          <p:spPr bwMode="auto">
            <a:xfrm>
              <a:off x="5276850" y="4311650"/>
              <a:ext cx="1279525" cy="519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GB" sz="2800">
                  <a:solidFill>
                    <a:schemeClr val="bg1"/>
                  </a:solidFill>
                </a:rPr>
                <a:t>Data</a:t>
              </a:r>
            </a:p>
          </p:txBody>
        </p:sp>
        <p:sp>
          <p:nvSpPr>
            <p:cNvPr id="23565" name="Text Box 10"/>
            <p:cNvSpPr txBox="1">
              <a:spLocks noChangeArrowheads="1"/>
            </p:cNvSpPr>
            <p:nvPr/>
          </p:nvSpPr>
          <p:spPr bwMode="auto">
            <a:xfrm>
              <a:off x="7181850" y="4235450"/>
              <a:ext cx="10969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GB">
                  <a:solidFill>
                    <a:schemeClr val="bg1"/>
                  </a:solidFill>
                </a:rPr>
                <a:t>DDS</a:t>
              </a:r>
            </a:p>
          </p:txBody>
        </p:sp>
        <p:sp>
          <p:nvSpPr>
            <p:cNvPr id="23566" name="Text Box 11"/>
            <p:cNvSpPr txBox="1">
              <a:spLocks noChangeArrowheads="1"/>
            </p:cNvSpPr>
            <p:nvPr/>
          </p:nvSpPr>
          <p:spPr bwMode="auto">
            <a:xfrm>
              <a:off x="5067300" y="5448300"/>
              <a:ext cx="137160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GB" sz="1200" b="1">
                  <a:solidFill>
                    <a:schemeClr val="bg1"/>
                  </a:solidFill>
                </a:rPr>
                <a:t>Date Object</a:t>
              </a:r>
            </a:p>
          </p:txBody>
        </p:sp>
        <p:sp>
          <p:nvSpPr>
            <p:cNvPr id="23567" name="Text Box 12"/>
            <p:cNvSpPr txBox="1">
              <a:spLocks noChangeArrowheads="1"/>
            </p:cNvSpPr>
            <p:nvPr/>
          </p:nvSpPr>
          <p:spPr bwMode="auto">
            <a:xfrm>
              <a:off x="2933554" y="4225165"/>
              <a:ext cx="1752600" cy="7654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GB" sz="1800" b="1">
                  <a:solidFill>
                    <a:schemeClr val="bg1"/>
                  </a:solidFill>
                </a:rPr>
                <a:t>Data Documentation</a:t>
              </a:r>
              <a:br>
                <a:rPr lang="en-GB" sz="1800" b="1">
                  <a:solidFill>
                    <a:schemeClr val="bg1"/>
                  </a:solidFill>
                </a:rPr>
              </a:br>
              <a:r>
                <a:rPr lang="en-GB" sz="1800" b="1">
                  <a:solidFill>
                    <a:schemeClr val="bg1"/>
                  </a:solidFill>
                </a:rPr>
                <a:t>System</a:t>
              </a:r>
            </a:p>
          </p:txBody>
        </p:sp>
        <p:sp>
          <p:nvSpPr>
            <p:cNvPr id="23568" name="Oval 13"/>
            <p:cNvSpPr>
              <a:spLocks noChangeArrowheads="1"/>
            </p:cNvSpPr>
            <p:nvPr/>
          </p:nvSpPr>
          <p:spPr bwMode="auto">
            <a:xfrm>
              <a:off x="4972050" y="2025650"/>
              <a:ext cx="1447800" cy="1447800"/>
            </a:xfrm>
            <a:prstGeom prst="ellipse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9" name="Text Box 14"/>
            <p:cNvSpPr txBox="1">
              <a:spLocks noChangeArrowheads="1"/>
            </p:cNvSpPr>
            <p:nvPr/>
          </p:nvSpPr>
          <p:spPr bwMode="auto">
            <a:xfrm>
              <a:off x="5013873" y="2405249"/>
              <a:ext cx="1325563" cy="7654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GB" sz="1800" b="1">
                  <a:solidFill>
                    <a:schemeClr val="bg1"/>
                  </a:solidFill>
                </a:rPr>
                <a:t>Gazetteer/</a:t>
              </a:r>
              <a:br>
                <a:rPr lang="en-GB" sz="1800" b="1">
                  <a:solidFill>
                    <a:schemeClr val="bg1"/>
                  </a:solidFill>
                </a:rPr>
              </a:br>
              <a:r>
                <a:rPr lang="en-GB" sz="1800" b="1">
                  <a:solidFill>
                    <a:schemeClr val="bg1"/>
                  </a:solidFill>
                </a:rPr>
                <a:t>Admin Unit</a:t>
              </a:r>
              <a:br>
                <a:rPr lang="en-GB" sz="1800" b="1">
                  <a:solidFill>
                    <a:schemeClr val="bg1"/>
                  </a:solidFill>
                </a:rPr>
              </a:br>
              <a:r>
                <a:rPr lang="en-GB" sz="1800" b="1">
                  <a:solidFill>
                    <a:schemeClr val="bg1"/>
                  </a:solidFill>
                </a:rPr>
                <a:t>Ontology</a:t>
              </a:r>
            </a:p>
          </p:txBody>
        </p:sp>
        <p:sp>
          <p:nvSpPr>
            <p:cNvPr id="23570" name="Text Box 15"/>
            <p:cNvSpPr txBox="1">
              <a:spLocks noChangeArrowheads="1"/>
            </p:cNvSpPr>
            <p:nvPr/>
          </p:nvSpPr>
          <p:spPr bwMode="auto">
            <a:xfrm>
              <a:off x="6904207" y="2388098"/>
              <a:ext cx="1479266" cy="4847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GB" sz="3200"/>
                <a:t>Source?</a:t>
              </a:r>
            </a:p>
          </p:txBody>
        </p:sp>
        <p:sp>
          <p:nvSpPr>
            <p:cNvPr id="23571" name="Text Box 16"/>
            <p:cNvSpPr txBox="1">
              <a:spLocks noChangeArrowheads="1"/>
            </p:cNvSpPr>
            <p:nvPr/>
          </p:nvSpPr>
          <p:spPr bwMode="auto">
            <a:xfrm>
              <a:off x="2907275" y="3106904"/>
              <a:ext cx="1400258" cy="4847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GB" sz="3200"/>
                <a:t>Where?</a:t>
              </a:r>
            </a:p>
          </p:txBody>
        </p:sp>
        <p:sp>
          <p:nvSpPr>
            <p:cNvPr id="23572" name="Text Box 17"/>
            <p:cNvSpPr txBox="1">
              <a:spLocks noChangeArrowheads="1"/>
            </p:cNvSpPr>
            <p:nvPr/>
          </p:nvSpPr>
          <p:spPr bwMode="auto">
            <a:xfrm>
              <a:off x="1299360" y="4346658"/>
              <a:ext cx="1184024" cy="4847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GB" sz="3200"/>
                <a:t>What?</a:t>
              </a:r>
            </a:p>
          </p:txBody>
        </p:sp>
        <p:sp>
          <p:nvSpPr>
            <p:cNvPr id="23573" name="Text Box 18"/>
            <p:cNvSpPr txBox="1">
              <a:spLocks noChangeArrowheads="1"/>
            </p:cNvSpPr>
            <p:nvPr/>
          </p:nvSpPr>
          <p:spPr bwMode="auto">
            <a:xfrm>
              <a:off x="3053119" y="5555835"/>
              <a:ext cx="1282437" cy="4847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GB" sz="3200"/>
                <a:t>When?</a:t>
              </a:r>
            </a:p>
          </p:txBody>
        </p:sp>
        <p:sp>
          <p:nvSpPr>
            <p:cNvPr id="23574" name="Oval 19"/>
            <p:cNvSpPr>
              <a:spLocks noChangeArrowheads="1"/>
            </p:cNvSpPr>
            <p:nvPr/>
          </p:nvSpPr>
          <p:spPr bwMode="auto">
            <a:xfrm>
              <a:off x="6877050" y="3778250"/>
              <a:ext cx="1714500" cy="1638300"/>
            </a:xfrm>
            <a:prstGeom prst="ellipse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5" name="Text Box 20"/>
            <p:cNvSpPr txBox="1">
              <a:spLocks noChangeArrowheads="1"/>
            </p:cNvSpPr>
            <p:nvPr/>
          </p:nvSpPr>
          <p:spPr bwMode="auto">
            <a:xfrm>
              <a:off x="6808295" y="4159250"/>
              <a:ext cx="1752600" cy="7654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GB" sz="1800" b="1">
                  <a:solidFill>
                    <a:schemeClr val="bg1"/>
                  </a:solidFill>
                </a:rPr>
                <a:t>Source Documentation</a:t>
              </a:r>
              <a:br>
                <a:rPr lang="en-GB" sz="1800" b="1">
                  <a:solidFill>
                    <a:schemeClr val="bg1"/>
                  </a:solidFill>
                </a:rPr>
              </a:br>
              <a:r>
                <a:rPr lang="en-GB" sz="1800" b="1">
                  <a:solidFill>
                    <a:schemeClr val="bg1"/>
                  </a:solidFill>
                </a:rPr>
                <a:t>System</a:t>
              </a:r>
            </a:p>
          </p:txBody>
        </p:sp>
        <p:sp>
          <p:nvSpPr>
            <p:cNvPr id="23576" name="Line 21"/>
            <p:cNvSpPr>
              <a:spLocks noChangeShapeType="1"/>
            </p:cNvSpPr>
            <p:nvPr/>
          </p:nvSpPr>
          <p:spPr bwMode="auto">
            <a:xfrm flipV="1">
              <a:off x="4412674" y="5645150"/>
              <a:ext cx="813376" cy="2179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577" name="Line 22"/>
            <p:cNvSpPr>
              <a:spLocks noChangeShapeType="1"/>
            </p:cNvSpPr>
            <p:nvPr/>
          </p:nvSpPr>
          <p:spPr bwMode="auto">
            <a:xfrm flipV="1">
              <a:off x="4341813" y="2947988"/>
              <a:ext cx="623887" cy="3921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578" name="Line 23"/>
            <p:cNvSpPr>
              <a:spLocks noChangeShapeType="1"/>
            </p:cNvSpPr>
            <p:nvPr/>
          </p:nvSpPr>
          <p:spPr bwMode="auto">
            <a:xfrm rot="5400000">
              <a:off x="7245350" y="3371850"/>
              <a:ext cx="812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579" name="Line 24"/>
            <p:cNvSpPr>
              <a:spLocks noChangeShapeType="1"/>
            </p:cNvSpPr>
            <p:nvPr/>
          </p:nvSpPr>
          <p:spPr bwMode="auto">
            <a:xfrm>
              <a:off x="2482850" y="4603750"/>
              <a:ext cx="558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23580" name="Group 27"/>
            <p:cNvGrpSpPr>
              <a:grpSpLocks/>
            </p:cNvGrpSpPr>
            <p:nvPr/>
          </p:nvGrpSpPr>
          <p:grpSpPr bwMode="auto">
            <a:xfrm>
              <a:off x="5237163" y="5975350"/>
              <a:ext cx="1092200" cy="882650"/>
              <a:chOff x="4336" y="3471"/>
              <a:chExt cx="688" cy="556"/>
            </a:xfrm>
          </p:grpSpPr>
          <p:sp>
            <p:nvSpPr>
              <p:cNvPr id="23583" name="Oval 25"/>
              <p:cNvSpPr>
                <a:spLocks noChangeArrowheads="1"/>
              </p:cNvSpPr>
              <p:nvPr/>
            </p:nvSpPr>
            <p:spPr bwMode="auto">
              <a:xfrm>
                <a:off x="4378" y="3471"/>
                <a:ext cx="610" cy="556"/>
              </a:xfrm>
              <a:prstGeom prst="ellipse">
                <a:avLst/>
              </a:prstGeom>
              <a:solidFill>
                <a:srgbClr val="CC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4" name="Text Box 26"/>
              <p:cNvSpPr txBox="1">
                <a:spLocks noChangeArrowheads="1"/>
              </p:cNvSpPr>
              <p:nvPr/>
            </p:nvSpPr>
            <p:spPr bwMode="auto">
              <a:xfrm>
                <a:off x="4336" y="3597"/>
                <a:ext cx="688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GB">
                    <a:solidFill>
                      <a:schemeClr val="bg1"/>
                    </a:solidFill>
                  </a:rPr>
                  <a:t>Ack.</a:t>
                </a:r>
              </a:p>
            </p:txBody>
          </p:sp>
        </p:grpSp>
        <p:sp>
          <p:nvSpPr>
            <p:cNvPr id="23581" name="Line 29"/>
            <p:cNvSpPr>
              <a:spLocks noChangeShapeType="1"/>
            </p:cNvSpPr>
            <p:nvPr/>
          </p:nvSpPr>
          <p:spPr bwMode="auto">
            <a:xfrm flipH="1">
              <a:off x="6311900" y="6297613"/>
              <a:ext cx="812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582" name="Text Box 30"/>
            <p:cNvSpPr txBox="1">
              <a:spLocks noChangeArrowheads="1"/>
            </p:cNvSpPr>
            <p:nvPr/>
          </p:nvSpPr>
          <p:spPr bwMode="auto">
            <a:xfrm>
              <a:off x="7197931" y="5997907"/>
              <a:ext cx="1321248" cy="4847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GB" sz="3200"/>
                <a:t>Thanks</a:t>
              </a:r>
            </a:p>
          </p:txBody>
        </p:sp>
      </p:grpSp>
      <p:sp>
        <p:nvSpPr>
          <p:cNvPr id="2" name="Rectangle 1"/>
          <p:cNvSpPr/>
          <p:nvPr/>
        </p:nvSpPr>
        <p:spPr bwMode="auto">
          <a:xfrm>
            <a:off x="2785534" y="1422399"/>
            <a:ext cx="4961466" cy="4233333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2700000" algn="tl" rotWithShape="0">
              <a:srgbClr val="000000">
                <a:alpha val="43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" name="Straight Arrow Connector 3"/>
          <p:cNvCxnSpPr/>
          <p:nvPr/>
        </p:nvCxnSpPr>
        <p:spPr bwMode="auto">
          <a:xfrm flipV="1">
            <a:off x="3395134" y="4174067"/>
            <a:ext cx="1600199" cy="846672"/>
          </a:xfrm>
          <a:prstGeom prst="straightConnector1">
            <a:avLst/>
          </a:prstGeom>
          <a:noFill/>
          <a:ln w="5715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2" name="Right Arrow 11"/>
          <p:cNvSpPr/>
          <p:nvPr/>
        </p:nvSpPr>
        <p:spPr bwMode="auto">
          <a:xfrm>
            <a:off x="5367867" y="4064000"/>
            <a:ext cx="491066" cy="203200"/>
          </a:xfrm>
          <a:prstGeom prst="rightArrow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3386666" y="2870200"/>
            <a:ext cx="2133600" cy="2150534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4961466" y="2065867"/>
            <a:ext cx="2133600" cy="2150534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6" name="Straight Connector 15"/>
          <p:cNvCxnSpPr/>
          <p:nvPr/>
        </p:nvCxnSpPr>
        <p:spPr bwMode="auto">
          <a:xfrm flipV="1">
            <a:off x="3386667" y="2065867"/>
            <a:ext cx="1557866" cy="795866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/>
          <p:cNvCxnSpPr/>
          <p:nvPr/>
        </p:nvCxnSpPr>
        <p:spPr bwMode="auto">
          <a:xfrm flipV="1">
            <a:off x="5520267" y="2074333"/>
            <a:ext cx="1557866" cy="795866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Straight Connector 50"/>
          <p:cNvCxnSpPr/>
          <p:nvPr/>
        </p:nvCxnSpPr>
        <p:spPr bwMode="auto">
          <a:xfrm flipV="1">
            <a:off x="5528734" y="4216401"/>
            <a:ext cx="1557866" cy="795866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5" name="Straight Arrow Connector 54"/>
          <p:cNvCxnSpPr/>
          <p:nvPr/>
        </p:nvCxnSpPr>
        <p:spPr bwMode="auto">
          <a:xfrm flipV="1">
            <a:off x="3378201" y="2853267"/>
            <a:ext cx="16932" cy="2159005"/>
          </a:xfrm>
          <a:prstGeom prst="straightConnector1">
            <a:avLst/>
          </a:prstGeom>
          <a:noFill/>
          <a:ln w="5715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7" name="Straight Arrow Connector 56"/>
          <p:cNvCxnSpPr/>
          <p:nvPr/>
        </p:nvCxnSpPr>
        <p:spPr bwMode="auto">
          <a:xfrm flipV="1">
            <a:off x="3395134" y="4995333"/>
            <a:ext cx="2192866" cy="16939"/>
          </a:xfrm>
          <a:prstGeom prst="straightConnector1">
            <a:avLst/>
          </a:prstGeom>
          <a:noFill/>
          <a:ln w="5715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TextBox 19"/>
          <p:cNvSpPr txBox="1"/>
          <p:nvPr/>
        </p:nvSpPr>
        <p:spPr>
          <a:xfrm rot="16200000">
            <a:off x="2633135" y="3702747"/>
            <a:ext cx="11091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dirty="0" smtClean="0"/>
              <a:t>Time</a:t>
            </a:r>
            <a:endParaRPr lang="en-US" sz="2400" dirty="0"/>
          </a:p>
        </p:txBody>
      </p:sp>
      <p:sp>
        <p:nvSpPr>
          <p:cNvPr id="61" name="TextBox 60"/>
          <p:cNvSpPr txBox="1"/>
          <p:nvPr/>
        </p:nvSpPr>
        <p:spPr>
          <a:xfrm>
            <a:off x="4182535" y="4588933"/>
            <a:ext cx="12530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dirty="0" smtClean="0"/>
              <a:t>Space</a:t>
            </a:r>
            <a:endParaRPr lang="en-US" sz="2400" dirty="0"/>
          </a:p>
        </p:txBody>
      </p:sp>
      <p:sp>
        <p:nvSpPr>
          <p:cNvPr id="62" name="TextBox 61"/>
          <p:cNvSpPr txBox="1"/>
          <p:nvPr/>
        </p:nvSpPr>
        <p:spPr>
          <a:xfrm rot="19910922">
            <a:off x="3369733" y="4092213"/>
            <a:ext cx="16086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dirty="0" smtClean="0"/>
              <a:t>Meaning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73102754"/>
      </p:ext>
    </p:extLst>
  </p:cSld>
  <p:clrMapOvr>
    <a:masterClrMapping/>
  </p:clrMapOvr>
  <p:transition xmlns:p14="http://schemas.microsoft.com/office/powerpoint/2010/main" advTm="4593"/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463550" y="865188"/>
            <a:ext cx="2836863" cy="1466850"/>
          </a:xfrm>
        </p:spPr>
        <p:txBody>
          <a:bodyPr/>
          <a:lstStyle/>
          <a:p>
            <a:pPr algn="ctr"/>
            <a:r>
              <a:rPr lang="en-GB" dirty="0" smtClean="0"/>
              <a:t>Detailed structure of </a:t>
            </a:r>
            <a:r>
              <a:rPr lang="en-GB" dirty="0" err="1" smtClean="0"/>
              <a:t>g_data</a:t>
            </a:r>
            <a:r>
              <a:rPr lang="en-GB" dirty="0" smtClean="0"/>
              <a:t> table:</a:t>
            </a:r>
          </a:p>
        </p:txBody>
      </p:sp>
      <p:sp>
        <p:nvSpPr>
          <p:cNvPr id="2457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GB" smtClean="0"/>
              <a:t>2nd December 2015</a:t>
            </a:r>
            <a:endParaRPr lang="en-GB"/>
          </a:p>
        </p:txBody>
      </p:sp>
      <p:sp>
        <p:nvSpPr>
          <p:cNvPr id="2458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005F7BC-3CEE-4C0D-82EA-8DE3D26B2AB3}" type="slidenum">
              <a:rPr lang="en-GB" smtClean="0"/>
              <a:pPr/>
              <a:t>7</a:t>
            </a:fld>
            <a:endParaRPr lang="en-GB" smtClean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95700" y="0"/>
          <a:ext cx="5448300" cy="685986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16100"/>
                <a:gridCol w="1816100"/>
                <a:gridCol w="1816100"/>
              </a:tblGrid>
              <a:tr h="3030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/>
                        <a:t>Topic</a:t>
                      </a:r>
                      <a:endParaRPr lang="en-GB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/>
                        <a:t>Column Name</a:t>
                      </a:r>
                      <a:endParaRPr lang="en-GB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/>
                        <a:t>Data type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030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dirty="0"/>
                        <a:t>Row ID</a:t>
                      </a:r>
                      <a:endParaRPr lang="en-GB" sz="16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g_seq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integer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030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dirty="0"/>
                        <a:t>Data value</a:t>
                      </a:r>
                      <a:endParaRPr lang="en-GB" sz="16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g_data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numeric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03049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dirty="0"/>
                        <a:t>Behaviour</a:t>
                      </a:r>
                      <a:endParaRPr lang="en-GB" sz="16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g_data_precision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character varying(3)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030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g_data_status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character varying(1)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030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dominant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character varying(1)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03049"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dirty="0"/>
                        <a:t>Where?</a:t>
                      </a:r>
                      <a:endParaRPr lang="en-GB" sz="16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g_unit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integer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030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g_unit_type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character varying(16)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030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 err="1"/>
                        <a:t>g_rel_to</a:t>
                      </a:r>
                      <a:endParaRPr lang="en-GB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integer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030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g_type_period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character varying(1)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030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dirty="0"/>
                        <a:t>What?</a:t>
                      </a:r>
                      <a:endParaRPr lang="en-GB" sz="16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cellref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/>
                        <a:t>character varying(48)</a:t>
                      </a:r>
                      <a:endParaRPr lang="en-GB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03049">
                <a:tc rowSpan="5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dirty="0"/>
                        <a:t>When?</a:t>
                      </a:r>
                      <a:endParaRPr lang="en-GB" sz="16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start_year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integer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030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start_date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date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19092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end_year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integer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030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end_date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date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030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end_date_decimal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numeric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03049">
                <a:tc rowSpan="6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dirty="0"/>
                        <a:t>Source?</a:t>
                      </a:r>
                      <a:endParaRPr lang="en-GB" sz="16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g_authority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character varying(20)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030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g_auth_note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character varying(400)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030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src_tab_panel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integer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030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src_tab_seq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integer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030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src_tab_col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integer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030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src_tab_row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/>
                        <a:t>integer</a:t>
                      </a:r>
                      <a:endParaRPr lang="en-GB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030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dirty="0"/>
                        <a:t>Thanks</a:t>
                      </a:r>
                      <a:endParaRPr lang="en-GB" sz="16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 err="1"/>
                        <a:t>g_data_credit</a:t>
                      </a:r>
                      <a:endParaRPr lang="en-GB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/>
                        <a:t>character varying(24)</a:t>
                      </a:r>
                      <a:endParaRPr lang="en-GB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24665" name="Content Placeholder 11"/>
          <p:cNvSpPr>
            <a:spLocks noGrp="1"/>
          </p:cNvSpPr>
          <p:nvPr>
            <p:ph idx="1"/>
          </p:nvPr>
        </p:nvSpPr>
        <p:spPr>
          <a:xfrm>
            <a:off x="450850" y="2478088"/>
            <a:ext cx="2901950" cy="3630612"/>
          </a:xfrm>
        </p:spPr>
        <p:txBody>
          <a:bodyPr/>
          <a:lstStyle/>
          <a:p>
            <a:r>
              <a:rPr lang="en-GB" sz="1800" dirty="0" smtClean="0"/>
              <a:t>Includes all columns except some very implementation-specific housekeeping columns</a:t>
            </a:r>
          </a:p>
          <a:p>
            <a:r>
              <a:rPr lang="en-GB" sz="1800" dirty="0" smtClean="0"/>
              <a:t>Taken from current </a:t>
            </a:r>
            <a:r>
              <a:rPr lang="en-GB" sz="1800" dirty="0" err="1" smtClean="0"/>
              <a:t>PostGIS</a:t>
            </a:r>
            <a:r>
              <a:rPr lang="en-GB" sz="1800" dirty="0" smtClean="0"/>
              <a:t> implementation</a:t>
            </a:r>
          </a:p>
          <a:p>
            <a:pPr lvl="1"/>
            <a:r>
              <a:rPr lang="en-GB" sz="1400" dirty="0" smtClean="0"/>
              <a:t>\d </a:t>
            </a:r>
            <a:r>
              <a:rPr lang="en-GB" sz="1400" dirty="0" err="1" smtClean="0"/>
              <a:t>g_data</a:t>
            </a:r>
            <a:endParaRPr lang="en-GB" sz="1400" dirty="0" smtClean="0"/>
          </a:p>
          <a:p>
            <a:r>
              <a:rPr lang="en-GB" sz="1800" dirty="0" smtClean="0"/>
              <a:t>In previous Oracle version dates implemented as objects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359043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8"/>
    </mc:Choice>
    <mc:Fallback xmlns="">
      <p:transition xmlns:p14="http://schemas.microsoft.com/office/powerpoint/2010/main" spd="slow" advTm="608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 </a:t>
            </a:r>
            <a:r>
              <a:rPr lang="en-US" dirty="0" err="1" smtClean="0"/>
              <a:t>VoB</a:t>
            </a:r>
            <a:r>
              <a:rPr lang="en-US" dirty="0" smtClean="0"/>
              <a:t> data value page</a:t>
            </a:r>
          </a:p>
          <a:p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dirty="0" smtClean="0"/>
              <a:t>2nd December 2015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E95944-D51C-48A9-8487-C14F2C222513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43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30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66"/>
    </mc:Choice>
    <mc:Fallback xmlns="">
      <p:transition xmlns:p14="http://schemas.microsoft.com/office/powerpoint/2010/main" spd="slow" advTm="2466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1"/>
            <a:r>
              <a:rPr lang="en-US" dirty="0" smtClean="0"/>
              <a:t>What kind of Data Feed? </a:t>
            </a:r>
            <a:r>
              <a:rPr lang="en-US" dirty="0" smtClean="0">
                <a:hlinkClick r:id="rId3"/>
              </a:rPr>
              <a:t>http</a:t>
            </a:r>
            <a:r>
              <a:rPr lang="en-US" dirty="0">
                <a:hlinkClick r:id="rId3"/>
              </a:rPr>
              <a:t>://www.w3.org/TR/vocab-data-cube/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267" y="431799"/>
            <a:ext cx="2269067" cy="1498600"/>
          </a:xfrm>
        </p:spPr>
        <p:txBody>
          <a:bodyPr/>
          <a:lstStyle/>
          <a:p>
            <a:r>
              <a:rPr lang="en-US" dirty="0" smtClean="0"/>
              <a:t>Sample Data Cube RDF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867" y="2048933"/>
            <a:ext cx="2506133" cy="4216401"/>
          </a:xfrm>
        </p:spPr>
        <p:txBody>
          <a:bodyPr/>
          <a:lstStyle/>
          <a:p>
            <a:r>
              <a:rPr lang="en-US" sz="2200" dirty="0" smtClean="0"/>
              <a:t>NB links to external ontologies esp. admin units</a:t>
            </a:r>
          </a:p>
          <a:p>
            <a:endParaRPr lang="en-US" sz="22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E95944-D51C-48A9-8487-C14F2C222513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3086100" y="469900"/>
            <a:ext cx="6057900" cy="7232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dirty="0" smtClean="0"/>
              <a:t>eg:dataset-le1 a </a:t>
            </a:r>
            <a:r>
              <a:rPr lang="en-GB" sz="1600" dirty="0" err="1" smtClean="0"/>
              <a:t>qb:DataSet</a:t>
            </a:r>
            <a:r>
              <a:rPr lang="en-GB" sz="1600" dirty="0" smtClean="0"/>
              <a:t>;</a:t>
            </a:r>
            <a:br>
              <a:rPr lang="en-GB" sz="1600" dirty="0" smtClean="0"/>
            </a:br>
            <a:r>
              <a:rPr lang="en-US" sz="1600" dirty="0" smtClean="0"/>
              <a:t>	</a:t>
            </a:r>
            <a:r>
              <a:rPr lang="en-GB" sz="1600" dirty="0" err="1" smtClean="0"/>
              <a:t>rdfs:label</a:t>
            </a:r>
            <a:r>
              <a:rPr lang="en-US" sz="1600" dirty="0" smtClean="0"/>
              <a:t>	</a:t>
            </a:r>
            <a:r>
              <a:rPr lang="en-GB" sz="1600" dirty="0" smtClean="0"/>
              <a:t>"Life </a:t>
            </a:r>
            <a:r>
              <a:rPr lang="en-GB" sz="1600" dirty="0" err="1" smtClean="0"/>
              <a:t>expectancy"@en</a:t>
            </a:r>
            <a:r>
              <a:rPr lang="en-GB" sz="1600" dirty="0" smtClean="0"/>
              <a:t>;</a:t>
            </a:r>
            <a:br>
              <a:rPr lang="en-GB" sz="1600" dirty="0" smtClean="0"/>
            </a:br>
            <a:r>
              <a:rPr lang="en-US" sz="1600" dirty="0" smtClean="0"/>
              <a:t>	</a:t>
            </a:r>
            <a:r>
              <a:rPr lang="en-GB" sz="1600" dirty="0" err="1" smtClean="0"/>
              <a:t>rdfs:comment</a:t>
            </a:r>
            <a:r>
              <a:rPr lang="en-US" sz="1600" dirty="0" smtClean="0"/>
              <a:t>	</a:t>
            </a:r>
            <a:r>
              <a:rPr lang="en-GB" sz="1600" dirty="0" smtClean="0"/>
              <a:t>"Life expectancy within Welsh </a:t>
            </a:r>
            <a:br>
              <a:rPr lang="en-GB" sz="1600" dirty="0" smtClean="0"/>
            </a:br>
            <a:r>
              <a:rPr lang="en-US" sz="1600" dirty="0" smtClean="0"/>
              <a:t>		</a:t>
            </a:r>
            <a:r>
              <a:rPr lang="en-GB" sz="1600" dirty="0" smtClean="0"/>
              <a:t>Unitary authorities - extracted from </a:t>
            </a:r>
            <a:br>
              <a:rPr lang="en-GB" sz="1600" dirty="0" smtClean="0"/>
            </a:br>
            <a:r>
              <a:rPr lang="en-US" sz="1600" dirty="0" smtClean="0"/>
              <a:t>		</a:t>
            </a:r>
            <a:r>
              <a:rPr lang="en-GB" sz="1600" dirty="0" smtClean="0"/>
              <a:t>Stats </a:t>
            </a:r>
            <a:r>
              <a:rPr lang="en-GB" sz="1600" dirty="0" err="1" smtClean="0"/>
              <a:t>Wales"@en</a:t>
            </a:r>
            <a:r>
              <a:rPr lang="en-GB" sz="1600" dirty="0" smtClean="0"/>
              <a:t>;</a:t>
            </a:r>
            <a:br>
              <a:rPr lang="en-GB" sz="1600" dirty="0" smtClean="0"/>
            </a:br>
            <a:r>
              <a:rPr lang="en-US" sz="1600" dirty="0" smtClean="0"/>
              <a:t>	</a:t>
            </a:r>
            <a:r>
              <a:rPr lang="en-GB" sz="1600" dirty="0" err="1" smtClean="0"/>
              <a:t>qb:structure</a:t>
            </a:r>
            <a:r>
              <a:rPr lang="en-GB" sz="1600" dirty="0" smtClean="0"/>
              <a:t> </a:t>
            </a:r>
            <a:r>
              <a:rPr lang="en-GB" sz="1600" dirty="0" err="1" smtClean="0"/>
              <a:t>eg:dsd-le</a:t>
            </a:r>
            <a:r>
              <a:rPr lang="en-GB" sz="1600" dirty="0" smtClean="0"/>
              <a:t> ;</a:t>
            </a:r>
            <a:br>
              <a:rPr lang="en-GB" sz="1600" dirty="0" smtClean="0"/>
            </a:br>
            <a:r>
              <a:rPr lang="en-US" sz="1600" dirty="0" smtClean="0"/>
              <a:t>	</a:t>
            </a:r>
            <a:r>
              <a:rPr lang="en-GB" sz="1600" dirty="0" smtClean="0"/>
              <a:t>.</a:t>
            </a:r>
            <a:br>
              <a:rPr lang="en-GB" sz="1600" dirty="0" smtClean="0"/>
            </a:br>
            <a:r>
              <a:rPr lang="en-GB" sz="1600" dirty="0" smtClean="0"/>
              <a:t>eg:o1 a </a:t>
            </a:r>
            <a:r>
              <a:rPr lang="en-GB" sz="1600" dirty="0" err="1" smtClean="0"/>
              <a:t>qb:Observation</a:t>
            </a:r>
            <a:r>
              <a:rPr lang="en-GB" sz="1600" dirty="0" smtClean="0"/>
              <a:t>;</a:t>
            </a:r>
            <a:br>
              <a:rPr lang="en-GB" sz="1600" dirty="0" smtClean="0"/>
            </a:br>
            <a:r>
              <a:rPr lang="en-US" sz="1600" dirty="0" smtClean="0"/>
              <a:t>	</a:t>
            </a:r>
            <a:r>
              <a:rPr lang="en-GB" sz="1600" dirty="0" err="1" smtClean="0"/>
              <a:t>qb:dataSet</a:t>
            </a:r>
            <a:r>
              <a:rPr lang="en-US" sz="1600" dirty="0" smtClean="0"/>
              <a:t>	</a:t>
            </a:r>
            <a:r>
              <a:rPr lang="en-GB" sz="1600" dirty="0" smtClean="0"/>
              <a:t>eg:dataset-le1 ;</a:t>
            </a:r>
            <a:br>
              <a:rPr lang="en-GB" sz="1600" dirty="0" smtClean="0"/>
            </a:br>
            <a:r>
              <a:rPr lang="en-US" sz="1600" dirty="0" smtClean="0"/>
              <a:t>	</a:t>
            </a:r>
            <a:r>
              <a:rPr lang="en-GB" sz="1600" dirty="0" err="1" smtClean="0"/>
              <a:t>eg:refArea</a:t>
            </a:r>
            <a:r>
              <a:rPr lang="en-US" sz="1600" dirty="0" smtClean="0"/>
              <a:t>	</a:t>
            </a:r>
            <a:r>
              <a:rPr lang="en-GB" sz="1600" dirty="0" smtClean="0"/>
              <a:t>ex-geo:newport_00pr ;</a:t>
            </a:r>
            <a:br>
              <a:rPr lang="en-GB" sz="1600" dirty="0" smtClean="0"/>
            </a:br>
            <a:r>
              <a:rPr lang="en-US" sz="1600" dirty="0" smtClean="0"/>
              <a:t>	</a:t>
            </a:r>
            <a:r>
              <a:rPr lang="en-GB" sz="1600" dirty="0" err="1" smtClean="0"/>
              <a:t>eg:refPeriod</a:t>
            </a:r>
            <a:r>
              <a:rPr lang="en-US" sz="1600" dirty="0" smtClean="0"/>
              <a:t>	</a:t>
            </a:r>
            <a:r>
              <a:rPr lang="en-GB" sz="1600" dirty="0" smtClean="0"/>
              <a:t>&lt;http://</a:t>
            </a:r>
            <a:r>
              <a:rPr lang="en-GB" sz="1600" dirty="0" err="1" smtClean="0"/>
              <a:t>reference.data.gov.uk</a:t>
            </a:r>
            <a:r>
              <a:rPr lang="en-GB" sz="1600" dirty="0" smtClean="0"/>
              <a:t>/</a:t>
            </a:r>
            <a:br>
              <a:rPr lang="en-GB" sz="1600" dirty="0" smtClean="0"/>
            </a:br>
            <a:r>
              <a:rPr lang="en-US" sz="1600" dirty="0" smtClean="0"/>
              <a:t>		</a:t>
            </a:r>
            <a:r>
              <a:rPr lang="en-GB" sz="1600" dirty="0" smtClean="0"/>
              <a:t>id/</a:t>
            </a:r>
            <a:r>
              <a:rPr lang="en-GB" sz="1600" dirty="0" err="1" smtClean="0"/>
              <a:t>gregorian</a:t>
            </a:r>
            <a:r>
              <a:rPr lang="en-GB" sz="1600" dirty="0" smtClean="0"/>
              <a:t>-interval/</a:t>
            </a:r>
            <a:br>
              <a:rPr lang="en-GB" sz="1600" dirty="0" smtClean="0"/>
            </a:br>
            <a:r>
              <a:rPr lang="en-US" sz="1600" dirty="0" smtClean="0"/>
              <a:t>		</a:t>
            </a:r>
            <a:r>
              <a:rPr lang="en-GB" sz="1600" dirty="0" smtClean="0"/>
              <a:t>2004-01-01T00:00:00/P3Y&gt; ;</a:t>
            </a:r>
            <a:br>
              <a:rPr lang="en-GB" sz="1600" dirty="0" smtClean="0"/>
            </a:br>
            <a:r>
              <a:rPr lang="en-US" sz="1600" dirty="0" smtClean="0"/>
              <a:t>	</a:t>
            </a:r>
            <a:r>
              <a:rPr lang="en-GB" sz="1600" dirty="0" err="1" smtClean="0"/>
              <a:t>sdmx-dimension:sex</a:t>
            </a:r>
            <a:r>
              <a:rPr lang="en-GB" sz="1600" dirty="0" smtClean="0"/>
              <a:t> </a:t>
            </a:r>
            <a:r>
              <a:rPr lang="en-US" sz="1600" dirty="0" smtClean="0"/>
              <a:t>  </a:t>
            </a:r>
            <a:r>
              <a:rPr lang="en-GB" sz="1600" dirty="0" err="1" smtClean="0"/>
              <a:t>sdmx-code:sex-M</a:t>
            </a:r>
            <a:r>
              <a:rPr lang="en-GB" sz="1600" dirty="0" smtClean="0"/>
              <a:t> ;</a:t>
            </a:r>
            <a:br>
              <a:rPr lang="en-GB" sz="1600" dirty="0" smtClean="0"/>
            </a:br>
            <a:r>
              <a:rPr lang="en-US" sz="1600" dirty="0" smtClean="0"/>
              <a:t>	</a:t>
            </a:r>
            <a:r>
              <a:rPr lang="en-GB" sz="1600" dirty="0" err="1" smtClean="0"/>
              <a:t>sdmx-attribute:unitMeasure</a:t>
            </a:r>
            <a:r>
              <a:rPr lang="en-GB" sz="1600" dirty="0" smtClean="0"/>
              <a:t> </a:t>
            </a:r>
            <a:br>
              <a:rPr lang="en-GB" sz="1600" dirty="0" smtClean="0"/>
            </a:br>
            <a:r>
              <a:rPr lang="en-US" sz="1600" dirty="0" smtClean="0"/>
              <a:t>		</a:t>
            </a:r>
            <a:r>
              <a:rPr lang="en-GB" sz="1600" dirty="0" smtClean="0"/>
              <a:t>&lt;http://</a:t>
            </a:r>
            <a:r>
              <a:rPr lang="en-GB" sz="1600" dirty="0" err="1" smtClean="0"/>
              <a:t>dbpedia.org</a:t>
            </a:r>
            <a:r>
              <a:rPr lang="en-GB" sz="1600" dirty="0" smtClean="0"/>
              <a:t>/resource/Year&gt; ;</a:t>
            </a:r>
            <a:br>
              <a:rPr lang="en-GB" sz="1600" dirty="0" smtClean="0"/>
            </a:br>
            <a:r>
              <a:rPr lang="en-US" sz="1600" dirty="0" smtClean="0"/>
              <a:t>	</a:t>
            </a:r>
            <a:r>
              <a:rPr lang="en-GB" sz="1600" dirty="0" err="1" smtClean="0"/>
              <a:t>eg:lifeExpectancy</a:t>
            </a:r>
            <a:r>
              <a:rPr lang="en-GB" sz="1600" dirty="0" smtClean="0"/>
              <a:t> 76.7 ;</a:t>
            </a:r>
            <a:br>
              <a:rPr lang="en-GB" sz="1600" dirty="0" smtClean="0"/>
            </a:br>
            <a:r>
              <a:rPr lang="en-US" sz="1600" dirty="0" smtClean="0"/>
              <a:t>	</a:t>
            </a:r>
            <a:r>
              <a:rPr lang="en-GB" sz="1600" dirty="0" smtClean="0"/>
              <a:t>.</a:t>
            </a:r>
            <a:br>
              <a:rPr lang="en-GB" sz="1600" dirty="0" smtClean="0"/>
            </a:br>
            <a:r>
              <a:rPr lang="en-GB" sz="1600" dirty="0" smtClean="0"/>
              <a:t>eg:o2 a </a:t>
            </a:r>
            <a:r>
              <a:rPr lang="en-GB" sz="1600" dirty="0" err="1" smtClean="0"/>
              <a:t>qb:Observation</a:t>
            </a:r>
            <a:r>
              <a:rPr lang="en-GB" sz="1600" dirty="0" smtClean="0"/>
              <a:t>; </a:t>
            </a:r>
            <a:br>
              <a:rPr lang="en-GB" sz="1600" dirty="0" smtClean="0"/>
            </a:br>
            <a:r>
              <a:rPr lang="en-US" sz="1600" dirty="0" smtClean="0"/>
              <a:t>	</a:t>
            </a:r>
            <a:r>
              <a:rPr lang="en-GB" sz="1600" dirty="0" err="1" smtClean="0"/>
              <a:t>qb:dataSet</a:t>
            </a:r>
            <a:r>
              <a:rPr lang="en-US" sz="1600" dirty="0" smtClean="0"/>
              <a:t>	</a:t>
            </a:r>
            <a:r>
              <a:rPr lang="en-GB" sz="1600" dirty="0" smtClean="0"/>
              <a:t>eg:dataset-le1 ;</a:t>
            </a:r>
            <a:br>
              <a:rPr lang="en-GB" sz="1600" dirty="0" smtClean="0"/>
            </a:br>
            <a:r>
              <a:rPr lang="en-US" sz="1600" dirty="0" smtClean="0"/>
              <a:t>	</a:t>
            </a:r>
            <a:r>
              <a:rPr lang="en-GB" sz="1600" dirty="0" err="1" smtClean="0"/>
              <a:t>eg:refArea</a:t>
            </a:r>
            <a:r>
              <a:rPr lang="en-US" sz="1600" dirty="0" smtClean="0"/>
              <a:t>	</a:t>
            </a:r>
            <a:r>
              <a:rPr lang="en-GB" sz="1600" dirty="0" smtClean="0"/>
              <a:t>ex-geo:cardiff_00pt ;</a:t>
            </a:r>
            <a:br>
              <a:rPr lang="en-GB" sz="1600" dirty="0" smtClean="0"/>
            </a:br>
            <a:r>
              <a:rPr lang="en-US" sz="1600" dirty="0" smtClean="0"/>
              <a:t>	</a:t>
            </a:r>
            <a:r>
              <a:rPr lang="en-GB" sz="1600" dirty="0" err="1" smtClean="0"/>
              <a:t>eg:refPeriod</a:t>
            </a:r>
            <a:r>
              <a:rPr lang="en-US" sz="1600" dirty="0" smtClean="0"/>
              <a:t>	</a:t>
            </a:r>
            <a:r>
              <a:rPr lang="en-GB" sz="1600" dirty="0" smtClean="0"/>
              <a:t>&lt;http://</a:t>
            </a:r>
            <a:r>
              <a:rPr lang="en-GB" sz="1600" dirty="0" err="1" smtClean="0"/>
              <a:t>reference.data.gov.uk</a:t>
            </a:r>
            <a:r>
              <a:rPr lang="en-GB" sz="1600" dirty="0" smtClean="0"/>
              <a:t>/</a:t>
            </a:r>
            <a:br>
              <a:rPr lang="en-GB" sz="1600" dirty="0" smtClean="0"/>
            </a:br>
            <a:r>
              <a:rPr lang="en-US" sz="1600" dirty="0" smtClean="0"/>
              <a:t>		</a:t>
            </a:r>
            <a:r>
              <a:rPr lang="en-GB" sz="1600" dirty="0" smtClean="0"/>
              <a:t>id/</a:t>
            </a:r>
            <a:r>
              <a:rPr lang="en-GB" sz="1600" dirty="0" err="1" smtClean="0"/>
              <a:t>gregorian</a:t>
            </a:r>
            <a:r>
              <a:rPr lang="en-GB" sz="1600" dirty="0" smtClean="0"/>
              <a:t>-interval/</a:t>
            </a:r>
            <a:br>
              <a:rPr lang="en-GB" sz="1600" dirty="0" smtClean="0"/>
            </a:br>
            <a:r>
              <a:rPr lang="en-US" sz="1600" dirty="0" smtClean="0"/>
              <a:t>		</a:t>
            </a:r>
            <a:r>
              <a:rPr lang="en-GB" sz="1600" dirty="0" smtClean="0"/>
              <a:t>2004-01-01T00:00:00/P3Y&gt; ;</a:t>
            </a:r>
            <a:br>
              <a:rPr lang="en-GB" sz="1600" dirty="0" smtClean="0"/>
            </a:br>
            <a:r>
              <a:rPr lang="en-US" sz="1600" dirty="0" smtClean="0"/>
              <a:t>	</a:t>
            </a:r>
            <a:r>
              <a:rPr lang="en-GB" sz="1600" dirty="0" err="1" smtClean="0"/>
              <a:t>sdmx-dimension:sex</a:t>
            </a:r>
            <a:r>
              <a:rPr lang="en-US" sz="1600" dirty="0" smtClean="0"/>
              <a:t>  </a:t>
            </a:r>
            <a:r>
              <a:rPr lang="en-GB" sz="1600" dirty="0" err="1" smtClean="0"/>
              <a:t>sdmx-code:sex-M</a:t>
            </a:r>
            <a:r>
              <a:rPr lang="en-GB" sz="1600" dirty="0" smtClean="0"/>
              <a:t> ;</a:t>
            </a:r>
            <a:br>
              <a:rPr lang="en-GB" sz="1600" dirty="0" smtClean="0"/>
            </a:br>
            <a:r>
              <a:rPr lang="en-US" sz="1600" dirty="0" smtClean="0"/>
              <a:t>	</a:t>
            </a:r>
            <a:r>
              <a:rPr lang="en-GB" sz="1600" dirty="0" err="1" smtClean="0"/>
              <a:t>sdmx-attribute:unitMeasure</a:t>
            </a:r>
            <a:r>
              <a:rPr lang="en-GB" sz="1600" dirty="0" smtClean="0"/>
              <a:t> &lt;http://</a:t>
            </a:r>
            <a:r>
              <a:rPr lang="en-GB" sz="1600" dirty="0" err="1" smtClean="0"/>
              <a:t>dbpedia.org</a:t>
            </a:r>
            <a:r>
              <a:rPr lang="en-GB" sz="1600" dirty="0" smtClean="0"/>
              <a:t>/resource/Year&gt; ;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	</a:t>
            </a:r>
            <a:r>
              <a:rPr lang="en-GB" sz="1600" dirty="0" err="1" smtClean="0"/>
              <a:t>eg:lifeExpectancy</a:t>
            </a:r>
            <a:r>
              <a:rPr lang="en-US" sz="1600" dirty="0" smtClean="0"/>
              <a:t>  </a:t>
            </a:r>
            <a:r>
              <a:rPr lang="en-GB" sz="1600" dirty="0" smtClean="0"/>
              <a:t>78.7 ;</a:t>
            </a:r>
            <a:br>
              <a:rPr lang="en-GB" sz="1600" dirty="0" smtClean="0"/>
            </a:br>
            <a:r>
              <a:rPr lang="en-US" sz="1600" dirty="0" smtClean="0"/>
              <a:t>	.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702295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61"/>
    </mc:Choice>
    <mc:Fallback xmlns="">
      <p:transition xmlns:p14="http://schemas.microsoft.com/office/powerpoint/2010/main" spd="slow" advTm="8861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Phase 1: Dumping</a:t>
            </a:r>
            <a:r>
              <a:rPr lang="en-US" baseline="0" dirty="0" smtClean="0"/>
              <a:t> </a:t>
            </a:r>
            <a:r>
              <a:rPr lang="en-US" u="sng" baseline="0" dirty="0" smtClean="0"/>
              <a:t>all</a:t>
            </a:r>
            <a:r>
              <a:rPr lang="en-US" baseline="0" dirty="0" smtClean="0"/>
              <a:t> the data as RDF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Completed autumn 2014</a:t>
            </a:r>
          </a:p>
          <a:p>
            <a:r>
              <a:rPr lang="en-US" dirty="0" smtClean="0"/>
              <a:t>Defining basic format</a:t>
            </a:r>
          </a:p>
          <a:p>
            <a:pPr lvl="1"/>
            <a:r>
              <a:rPr lang="en-US" dirty="0" smtClean="0"/>
              <a:t>Broadly based on W3C</a:t>
            </a:r>
            <a:r>
              <a:rPr lang="en-US" baseline="0" dirty="0" smtClean="0"/>
              <a:t> Data Cube Vocabulary</a:t>
            </a:r>
          </a:p>
          <a:p>
            <a:pPr lvl="1"/>
            <a:r>
              <a:rPr lang="en-US" dirty="0" smtClean="0"/>
              <a:t>Additional details follow Irish census gateway </a:t>
            </a:r>
            <a:r>
              <a:rPr lang="en-US" dirty="0">
                <a:hlinkClick r:id="rId2"/>
              </a:rPr>
              <a:t>http://data.cso.ie/</a:t>
            </a:r>
            <a:r>
              <a:rPr lang="en-US" dirty="0" smtClean="0">
                <a:hlinkClick r:id="rId2"/>
              </a:rPr>
              <a:t>index.html</a:t>
            </a:r>
            <a:endParaRPr lang="en-US" dirty="0" smtClean="0"/>
          </a:p>
          <a:p>
            <a:r>
              <a:rPr lang="en-US" dirty="0" smtClean="0"/>
              <a:t>Main issue is choosing vocabularies to link to:</a:t>
            </a:r>
          </a:p>
          <a:p>
            <a:pPr lvl="1"/>
            <a:r>
              <a:rPr lang="en-US" dirty="0" smtClean="0"/>
              <a:t>RDFS Schema (W3C)</a:t>
            </a:r>
          </a:p>
          <a:p>
            <a:pPr lvl="1"/>
            <a:r>
              <a:rPr lang="en-US" dirty="0" smtClean="0"/>
              <a:t>SDMX (Statistical Data Metadata </a:t>
            </a:r>
            <a:r>
              <a:rPr lang="en-US" dirty="0" err="1" smtClean="0"/>
              <a:t>eXchange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GB Historical GIS (we need</a:t>
            </a:r>
            <a:r>
              <a:rPr lang="en-US" baseline="0" dirty="0" smtClean="0"/>
              <a:t> to implement this!)</a:t>
            </a:r>
            <a:endParaRPr lang="en-US" dirty="0" smtClean="0"/>
          </a:p>
          <a:p>
            <a:r>
              <a:rPr lang="en-US" dirty="0" smtClean="0"/>
              <a:t>NB this stage is of limited usefulness by itself, as result is a single file of &gt; 100 Gb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69797-332A-4E47-998C-848234DBEE37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7418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69"/>
    </mc:Choice>
    <mc:Fallback xmlns="">
      <p:transition xmlns:p14="http://schemas.microsoft.com/office/powerpoint/2010/main" spd="slow" advTm="6869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69797-332A-4E47-998C-848234DBEE37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0" y="0"/>
            <a:ext cx="9144000" cy="65556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"/>
                <a:cs typeface="Courier"/>
              </a:rPr>
              <a:t>@prefix </a:t>
            </a:r>
            <a:r>
              <a:rPr lang="en-US" sz="1200" dirty="0" err="1">
                <a:latin typeface="Courier"/>
                <a:cs typeface="Courier"/>
              </a:rPr>
              <a:t>sdmx</a:t>
            </a:r>
            <a:r>
              <a:rPr lang="en-US" sz="1200" dirty="0">
                <a:latin typeface="Courier"/>
                <a:cs typeface="Courier"/>
              </a:rPr>
              <a:t>-subject: &lt;http://</a:t>
            </a:r>
            <a:r>
              <a:rPr lang="en-US" sz="1200" dirty="0" err="1">
                <a:latin typeface="Courier"/>
                <a:cs typeface="Courier"/>
              </a:rPr>
              <a:t>purl.org</a:t>
            </a:r>
            <a:r>
              <a:rPr lang="en-US" sz="1200" dirty="0">
                <a:latin typeface="Courier"/>
                <a:cs typeface="Courier"/>
              </a:rPr>
              <a:t>/linked-data/</a:t>
            </a:r>
            <a:r>
              <a:rPr lang="en-US" sz="1200" dirty="0" err="1">
                <a:latin typeface="Courier"/>
                <a:cs typeface="Courier"/>
              </a:rPr>
              <a:t>sdmx</a:t>
            </a:r>
            <a:r>
              <a:rPr lang="en-US" sz="1200" dirty="0">
                <a:latin typeface="Courier"/>
                <a:cs typeface="Courier"/>
              </a:rPr>
              <a:t>/2009/subject#&gt; .</a:t>
            </a:r>
          </a:p>
          <a:p>
            <a:r>
              <a:rPr lang="en-US" sz="1200" dirty="0">
                <a:latin typeface="Courier"/>
                <a:cs typeface="Courier"/>
              </a:rPr>
              <a:t>@prefix </a:t>
            </a:r>
            <a:r>
              <a:rPr lang="en-US" sz="1200" dirty="0" err="1">
                <a:latin typeface="Courier"/>
                <a:cs typeface="Courier"/>
              </a:rPr>
              <a:t>qb</a:t>
            </a:r>
            <a:r>
              <a:rPr lang="en-US" sz="1200" dirty="0">
                <a:latin typeface="Courier"/>
                <a:cs typeface="Courier"/>
              </a:rPr>
              <a:t>:    &lt;http://</a:t>
            </a:r>
            <a:r>
              <a:rPr lang="en-US" sz="1200" dirty="0" err="1">
                <a:latin typeface="Courier"/>
                <a:cs typeface="Courier"/>
              </a:rPr>
              <a:t>purl.org</a:t>
            </a:r>
            <a:r>
              <a:rPr lang="en-US" sz="1200" dirty="0">
                <a:latin typeface="Courier"/>
                <a:cs typeface="Courier"/>
              </a:rPr>
              <a:t>/linked-data/cube#&gt; .</a:t>
            </a:r>
          </a:p>
          <a:p>
            <a:r>
              <a:rPr lang="en-US" sz="1200" dirty="0">
                <a:latin typeface="Courier"/>
                <a:cs typeface="Courier"/>
              </a:rPr>
              <a:t>@prefix </a:t>
            </a:r>
            <a:r>
              <a:rPr lang="en-US" sz="1200" dirty="0" err="1">
                <a:latin typeface="Courier"/>
                <a:cs typeface="Courier"/>
              </a:rPr>
              <a:t>sdmx</a:t>
            </a:r>
            <a:r>
              <a:rPr lang="en-US" sz="1200" dirty="0">
                <a:latin typeface="Courier"/>
                <a:cs typeface="Courier"/>
              </a:rPr>
              <a:t>-measure: &lt;http://</a:t>
            </a:r>
            <a:r>
              <a:rPr lang="en-US" sz="1200" dirty="0" err="1">
                <a:latin typeface="Courier"/>
                <a:cs typeface="Courier"/>
              </a:rPr>
              <a:t>purl.org</a:t>
            </a:r>
            <a:r>
              <a:rPr lang="en-US" sz="1200" dirty="0">
                <a:latin typeface="Courier"/>
                <a:cs typeface="Courier"/>
              </a:rPr>
              <a:t>/linked-data/</a:t>
            </a:r>
            <a:r>
              <a:rPr lang="en-US" sz="1200" dirty="0" err="1">
                <a:latin typeface="Courier"/>
                <a:cs typeface="Courier"/>
              </a:rPr>
              <a:t>sdmx</a:t>
            </a:r>
            <a:r>
              <a:rPr lang="en-US" sz="1200" dirty="0">
                <a:latin typeface="Courier"/>
                <a:cs typeface="Courier"/>
              </a:rPr>
              <a:t>/2009/measure#&gt; .</a:t>
            </a:r>
          </a:p>
          <a:p>
            <a:r>
              <a:rPr lang="en-US" sz="1200" dirty="0">
                <a:latin typeface="Courier"/>
                <a:cs typeface="Courier"/>
              </a:rPr>
              <a:t>@prefix </a:t>
            </a:r>
            <a:r>
              <a:rPr lang="en-US" sz="1200" dirty="0" err="1">
                <a:latin typeface="Courier"/>
                <a:cs typeface="Courier"/>
              </a:rPr>
              <a:t>gbhgis-ontogly</a:t>
            </a:r>
            <a:r>
              <a:rPr lang="en-US" sz="1200" dirty="0">
                <a:latin typeface="Courier"/>
                <a:cs typeface="Courier"/>
              </a:rPr>
              <a:t>: &lt;http://</a:t>
            </a:r>
            <a:r>
              <a:rPr lang="en-US" sz="1200" dirty="0" err="1">
                <a:latin typeface="Courier"/>
                <a:cs typeface="Courier"/>
              </a:rPr>
              <a:t>data.pastplace.org</a:t>
            </a:r>
            <a:r>
              <a:rPr lang="en-US" sz="1200" dirty="0">
                <a:latin typeface="Courier"/>
                <a:cs typeface="Courier"/>
              </a:rPr>
              <a:t>/</a:t>
            </a:r>
            <a:r>
              <a:rPr lang="en-US" sz="1200" dirty="0" err="1">
                <a:latin typeface="Courier"/>
                <a:cs typeface="Courier"/>
              </a:rPr>
              <a:t>ontogly</a:t>
            </a:r>
            <a:r>
              <a:rPr lang="en-US" sz="1200" dirty="0">
                <a:latin typeface="Courier"/>
                <a:cs typeface="Courier"/>
              </a:rPr>
              <a:t>#&gt; .</a:t>
            </a:r>
          </a:p>
          <a:p>
            <a:r>
              <a:rPr lang="en-US" sz="1200" dirty="0">
                <a:latin typeface="Courier"/>
                <a:cs typeface="Courier"/>
              </a:rPr>
              <a:t>@prefix </a:t>
            </a:r>
            <a:r>
              <a:rPr lang="en-US" sz="1200" dirty="0" err="1">
                <a:latin typeface="Courier"/>
                <a:cs typeface="Courier"/>
              </a:rPr>
              <a:t>rdf</a:t>
            </a:r>
            <a:r>
              <a:rPr lang="en-US" sz="1200" dirty="0">
                <a:latin typeface="Courier"/>
                <a:cs typeface="Courier"/>
              </a:rPr>
              <a:t>:   &lt;http://www.w3.org/1999/02/22-rdf-syntax-ns#&gt; .</a:t>
            </a:r>
          </a:p>
          <a:p>
            <a:r>
              <a:rPr lang="en-US" sz="1200" dirty="0">
                <a:latin typeface="Courier"/>
                <a:cs typeface="Courier"/>
              </a:rPr>
              <a:t>@prefix </a:t>
            </a:r>
            <a:r>
              <a:rPr lang="en-US" sz="1200" dirty="0" err="1">
                <a:latin typeface="Courier"/>
                <a:cs typeface="Courier"/>
              </a:rPr>
              <a:t>marcrel</a:t>
            </a:r>
            <a:r>
              <a:rPr lang="en-US" sz="1200" dirty="0">
                <a:latin typeface="Courier"/>
                <a:cs typeface="Courier"/>
              </a:rPr>
              <a:t>: &lt;http://</a:t>
            </a:r>
            <a:r>
              <a:rPr lang="en-US" sz="1200" dirty="0" err="1">
                <a:latin typeface="Courier"/>
                <a:cs typeface="Courier"/>
              </a:rPr>
              <a:t>id.loc.gov</a:t>
            </a:r>
            <a:r>
              <a:rPr lang="en-US" sz="1200" dirty="0">
                <a:latin typeface="Courier"/>
                <a:cs typeface="Courier"/>
              </a:rPr>
              <a:t>/vocabulary/relators/&gt; .</a:t>
            </a:r>
          </a:p>
          <a:p>
            <a:r>
              <a:rPr lang="en-US" sz="1200" dirty="0">
                <a:latin typeface="Courier"/>
                <a:cs typeface="Courier"/>
              </a:rPr>
              <a:t>@prefix </a:t>
            </a:r>
            <a:r>
              <a:rPr lang="en-US" sz="1200" dirty="0" err="1">
                <a:latin typeface="Courier"/>
                <a:cs typeface="Courier"/>
              </a:rPr>
              <a:t>rdfs</a:t>
            </a:r>
            <a:r>
              <a:rPr lang="en-US" sz="1200" dirty="0">
                <a:latin typeface="Courier"/>
                <a:cs typeface="Courier"/>
              </a:rPr>
              <a:t>:  &lt;http://www.w3.org/2000/01/</a:t>
            </a:r>
            <a:r>
              <a:rPr lang="en-US" sz="1200" dirty="0" err="1">
                <a:latin typeface="Courier"/>
                <a:cs typeface="Courier"/>
              </a:rPr>
              <a:t>rdf</a:t>
            </a:r>
            <a:r>
              <a:rPr lang="en-US" sz="1200" dirty="0">
                <a:latin typeface="Courier"/>
                <a:cs typeface="Courier"/>
              </a:rPr>
              <a:t>-schema#&gt; .</a:t>
            </a:r>
          </a:p>
          <a:p>
            <a:r>
              <a:rPr lang="en-US" sz="1200" dirty="0">
                <a:latin typeface="Courier"/>
                <a:cs typeface="Courier"/>
              </a:rPr>
              <a:t>@prefix </a:t>
            </a:r>
            <a:r>
              <a:rPr lang="en-US" sz="1200" dirty="0" err="1">
                <a:latin typeface="Courier"/>
                <a:cs typeface="Courier"/>
              </a:rPr>
              <a:t>gbhgis</a:t>
            </a:r>
            <a:r>
              <a:rPr lang="en-US" sz="1200" dirty="0">
                <a:latin typeface="Courier"/>
                <a:cs typeface="Courier"/>
              </a:rPr>
              <a:t>: &lt;http://</a:t>
            </a:r>
            <a:r>
              <a:rPr lang="en-US" sz="1200" dirty="0" err="1">
                <a:latin typeface="Courier"/>
                <a:cs typeface="Courier"/>
              </a:rPr>
              <a:t>data.pastplace.org</a:t>
            </a:r>
            <a:r>
              <a:rPr lang="en-US" sz="1200" dirty="0">
                <a:latin typeface="Courier"/>
                <a:cs typeface="Courier"/>
              </a:rPr>
              <a:t>/&gt; .</a:t>
            </a:r>
          </a:p>
          <a:p>
            <a:r>
              <a:rPr lang="en-US" sz="1200" dirty="0">
                <a:latin typeface="Courier"/>
                <a:cs typeface="Courier"/>
              </a:rPr>
              <a:t>@prefix </a:t>
            </a:r>
            <a:r>
              <a:rPr lang="en-US" sz="1200" dirty="0" err="1">
                <a:latin typeface="Courier"/>
                <a:cs typeface="Courier"/>
              </a:rPr>
              <a:t>admingeo</a:t>
            </a:r>
            <a:r>
              <a:rPr lang="en-US" sz="1200" dirty="0">
                <a:latin typeface="Courier"/>
                <a:cs typeface="Courier"/>
              </a:rPr>
              <a:t>: &lt;http://</a:t>
            </a:r>
            <a:r>
              <a:rPr lang="en-US" sz="1200" dirty="0" err="1">
                <a:latin typeface="Courier"/>
                <a:cs typeface="Courier"/>
              </a:rPr>
              <a:t>data.ordnancesurvey.co.uk</a:t>
            </a:r>
            <a:r>
              <a:rPr lang="en-US" sz="1200" dirty="0">
                <a:latin typeface="Courier"/>
                <a:cs typeface="Courier"/>
              </a:rPr>
              <a:t>/ontology/</a:t>
            </a:r>
            <a:r>
              <a:rPr lang="en-US" sz="1200" dirty="0" err="1">
                <a:latin typeface="Courier"/>
                <a:cs typeface="Courier"/>
              </a:rPr>
              <a:t>admingeo</a:t>
            </a:r>
            <a:r>
              <a:rPr lang="en-US" sz="1200" dirty="0">
                <a:latin typeface="Courier"/>
                <a:cs typeface="Courier"/>
              </a:rPr>
              <a:t>/&gt; .</a:t>
            </a:r>
          </a:p>
          <a:p>
            <a:r>
              <a:rPr lang="en-US" sz="1200" dirty="0">
                <a:latin typeface="Courier"/>
                <a:cs typeface="Courier"/>
              </a:rPr>
              <a:t>@prefix </a:t>
            </a:r>
            <a:r>
              <a:rPr lang="en-US" sz="1200" dirty="0" err="1">
                <a:latin typeface="Courier"/>
                <a:cs typeface="Courier"/>
              </a:rPr>
              <a:t>sdmx</a:t>
            </a:r>
            <a:r>
              <a:rPr lang="en-US" sz="1200" dirty="0">
                <a:latin typeface="Courier"/>
                <a:cs typeface="Courier"/>
              </a:rPr>
              <a:t>-dimension: &lt;http://</a:t>
            </a:r>
            <a:r>
              <a:rPr lang="en-US" sz="1200" dirty="0" err="1">
                <a:latin typeface="Courier"/>
                <a:cs typeface="Courier"/>
              </a:rPr>
              <a:t>purl.org</a:t>
            </a:r>
            <a:r>
              <a:rPr lang="en-US" sz="1200" dirty="0">
                <a:latin typeface="Courier"/>
                <a:cs typeface="Courier"/>
              </a:rPr>
              <a:t>/linked-data/</a:t>
            </a:r>
            <a:r>
              <a:rPr lang="en-US" sz="1200" dirty="0" err="1">
                <a:latin typeface="Courier"/>
                <a:cs typeface="Courier"/>
              </a:rPr>
              <a:t>sdmx</a:t>
            </a:r>
            <a:r>
              <a:rPr lang="en-US" sz="1200" dirty="0">
                <a:latin typeface="Courier"/>
                <a:cs typeface="Courier"/>
              </a:rPr>
              <a:t>/2009/dimension#&gt; .</a:t>
            </a:r>
          </a:p>
          <a:p>
            <a:r>
              <a:rPr lang="en-US" sz="1200" dirty="0">
                <a:latin typeface="Courier"/>
                <a:cs typeface="Courier"/>
              </a:rPr>
              <a:t>@prefix </a:t>
            </a:r>
            <a:r>
              <a:rPr lang="en-US" sz="1200" dirty="0" err="1">
                <a:latin typeface="Courier"/>
                <a:cs typeface="Courier"/>
              </a:rPr>
              <a:t>foaf</a:t>
            </a:r>
            <a:r>
              <a:rPr lang="en-US" sz="1200" dirty="0">
                <a:latin typeface="Courier"/>
                <a:cs typeface="Courier"/>
              </a:rPr>
              <a:t>:  &lt;http://</a:t>
            </a:r>
            <a:r>
              <a:rPr lang="en-US" sz="1200" dirty="0" err="1">
                <a:latin typeface="Courier"/>
                <a:cs typeface="Courier"/>
              </a:rPr>
              <a:t>xmlns.com</a:t>
            </a:r>
            <a:r>
              <a:rPr lang="en-US" sz="1200" dirty="0">
                <a:latin typeface="Courier"/>
                <a:cs typeface="Courier"/>
              </a:rPr>
              <a:t>/</a:t>
            </a:r>
            <a:r>
              <a:rPr lang="en-US" sz="1200" dirty="0" err="1">
                <a:latin typeface="Courier"/>
                <a:cs typeface="Courier"/>
              </a:rPr>
              <a:t>foaf</a:t>
            </a:r>
            <a:r>
              <a:rPr lang="en-US" sz="1200" dirty="0">
                <a:latin typeface="Courier"/>
                <a:cs typeface="Courier"/>
              </a:rPr>
              <a:t>/0.1/&gt; .</a:t>
            </a:r>
          </a:p>
          <a:p>
            <a:r>
              <a:rPr lang="en-US" sz="1200" dirty="0">
                <a:latin typeface="Courier"/>
                <a:cs typeface="Courier"/>
              </a:rPr>
              <a:t>@prefix dc:    &lt;http://</a:t>
            </a:r>
            <a:r>
              <a:rPr lang="en-US" sz="1200" dirty="0" err="1">
                <a:latin typeface="Courier"/>
                <a:cs typeface="Courier"/>
              </a:rPr>
              <a:t>purl.org</a:t>
            </a:r>
            <a:r>
              <a:rPr lang="en-US" sz="1200" dirty="0">
                <a:latin typeface="Courier"/>
                <a:cs typeface="Courier"/>
              </a:rPr>
              <a:t>/dc/elements/1.1/&gt; .</a:t>
            </a:r>
          </a:p>
          <a:p>
            <a:endParaRPr lang="en-U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&lt;Observation-1110279&gt;</a:t>
            </a:r>
          </a:p>
          <a:p>
            <a:r>
              <a:rPr lang="en-US" sz="1200" dirty="0">
                <a:latin typeface="Courier"/>
                <a:cs typeface="Courier"/>
              </a:rPr>
              <a:t>        a                           </a:t>
            </a:r>
            <a:r>
              <a:rPr lang="en-US" sz="1200" dirty="0" err="1">
                <a:latin typeface="Courier"/>
                <a:cs typeface="Courier"/>
              </a:rPr>
              <a:t>qb:Observation</a:t>
            </a:r>
            <a:r>
              <a:rPr lang="en-US" sz="1200" dirty="0">
                <a:latin typeface="Courier"/>
                <a:cs typeface="Courier"/>
              </a:rPr>
              <a:t> ;</a:t>
            </a:r>
          </a:p>
          <a:p>
            <a:r>
              <a:rPr lang="en-US" sz="1200" dirty="0">
                <a:latin typeface="Courier"/>
                <a:cs typeface="Courier"/>
              </a:rPr>
              <a:t>        </a:t>
            </a:r>
            <a:r>
              <a:rPr lang="en-US" sz="1200" dirty="0" err="1">
                <a:latin typeface="Courier"/>
                <a:cs typeface="Courier"/>
              </a:rPr>
              <a:t>gbhgis-ontogly:PastP_Unit</a:t>
            </a:r>
            <a:r>
              <a:rPr lang="en-US" sz="1200" dirty="0">
                <a:latin typeface="Courier"/>
                <a:cs typeface="Courier"/>
              </a:rPr>
              <a:t>   "http://</a:t>
            </a:r>
            <a:r>
              <a:rPr lang="en-US" sz="1200" dirty="0" err="1">
                <a:latin typeface="Courier"/>
                <a:cs typeface="Courier"/>
              </a:rPr>
              <a:t>data.pastplace.org</a:t>
            </a:r>
            <a:r>
              <a:rPr lang="en-US" sz="1200" dirty="0">
                <a:latin typeface="Courier"/>
                <a:cs typeface="Courier"/>
              </a:rPr>
              <a:t>/unit/10076810" ;</a:t>
            </a:r>
          </a:p>
          <a:p>
            <a:r>
              <a:rPr lang="en-US" sz="1200" dirty="0">
                <a:latin typeface="Courier"/>
                <a:cs typeface="Courier"/>
              </a:rPr>
              <a:t>        </a:t>
            </a:r>
            <a:r>
              <a:rPr lang="en-US" sz="1200" dirty="0" err="1">
                <a:latin typeface="Courier"/>
                <a:cs typeface="Courier"/>
              </a:rPr>
              <a:t>gbhgis-ontogly:hasUnitType</a:t>
            </a:r>
            <a:r>
              <a:rPr lang="en-US" sz="1200" dirty="0">
                <a:latin typeface="Courier"/>
                <a:cs typeface="Courier"/>
              </a:rPr>
              <a:t>  "MOD_DIST" ;</a:t>
            </a:r>
          </a:p>
          <a:p>
            <a:r>
              <a:rPr lang="en-US" sz="1200" dirty="0">
                <a:latin typeface="Courier"/>
                <a:cs typeface="Courier"/>
              </a:rPr>
              <a:t>        </a:t>
            </a:r>
            <a:r>
              <a:rPr lang="en-US" sz="1200" dirty="0" err="1">
                <a:latin typeface="Courier"/>
                <a:cs typeface="Courier"/>
              </a:rPr>
              <a:t>gbhgis-ontogly:ref-period</a:t>
            </a:r>
            <a:r>
              <a:rPr lang="en-US" sz="1200" dirty="0">
                <a:latin typeface="Courier"/>
                <a:cs typeface="Courier"/>
              </a:rPr>
              <a:t>   "1951" ;</a:t>
            </a:r>
          </a:p>
          <a:p>
            <a:r>
              <a:rPr lang="en-US" sz="1200" dirty="0">
                <a:latin typeface="Courier"/>
                <a:cs typeface="Courier"/>
              </a:rPr>
              <a:t>        </a:t>
            </a:r>
            <a:r>
              <a:rPr lang="en-US" sz="1200" dirty="0" err="1">
                <a:latin typeface="Courier"/>
                <a:cs typeface="Courier"/>
              </a:rPr>
              <a:t>qb:dataset</a:t>
            </a:r>
            <a:r>
              <a:rPr lang="en-US" sz="1200" dirty="0">
                <a:latin typeface="Courier"/>
                <a:cs typeface="Courier"/>
              </a:rPr>
              <a:t>                  "</a:t>
            </a:r>
            <a:r>
              <a:rPr lang="en-US" sz="1200" dirty="0" err="1">
                <a:latin typeface="Courier"/>
                <a:cs typeface="Courier"/>
              </a:rPr>
              <a:t>WORKING_AGE:male</a:t>
            </a:r>
            <a:r>
              <a:rPr lang="en-US" sz="1200" dirty="0">
                <a:latin typeface="Courier"/>
                <a:cs typeface="Courier"/>
              </a:rPr>
              <a:t>/total" ;</a:t>
            </a:r>
          </a:p>
          <a:p>
            <a:r>
              <a:rPr lang="en-US" sz="1200" dirty="0">
                <a:latin typeface="Courier"/>
                <a:cs typeface="Courier"/>
              </a:rPr>
              <a:t>        </a:t>
            </a:r>
            <a:r>
              <a:rPr lang="en-US" sz="1200" dirty="0" err="1">
                <a:latin typeface="Courier"/>
                <a:cs typeface="Courier"/>
              </a:rPr>
              <a:t>sdmx-measure:obsValue</a:t>
            </a:r>
            <a:r>
              <a:rPr lang="en-US" sz="1200" dirty="0">
                <a:latin typeface="Courier"/>
                <a:cs typeface="Courier"/>
              </a:rPr>
              <a:t>       "37949"^^&lt;http://www.w3.org/2001/</a:t>
            </a:r>
            <a:r>
              <a:rPr lang="en-US" sz="1200" dirty="0" err="1">
                <a:latin typeface="Courier"/>
                <a:cs typeface="Courier"/>
              </a:rPr>
              <a:t>XMLSchema#decimal</a:t>
            </a:r>
            <a:r>
              <a:rPr lang="en-US" sz="1200" dirty="0">
                <a:latin typeface="Courier"/>
                <a:cs typeface="Courier"/>
              </a:rPr>
              <a:t>&gt; .</a:t>
            </a:r>
          </a:p>
          <a:p>
            <a:endParaRPr lang="en-U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&lt;Observation-990403&gt;  a             </a:t>
            </a:r>
            <a:r>
              <a:rPr lang="en-US" sz="1200" dirty="0" err="1">
                <a:latin typeface="Courier"/>
                <a:cs typeface="Courier"/>
              </a:rPr>
              <a:t>qb:Observation</a:t>
            </a:r>
            <a:r>
              <a:rPr lang="en-US" sz="1200" dirty="0">
                <a:latin typeface="Courier"/>
                <a:cs typeface="Courier"/>
              </a:rPr>
              <a:t> ;</a:t>
            </a:r>
          </a:p>
          <a:p>
            <a:r>
              <a:rPr lang="en-US" sz="1200" dirty="0">
                <a:latin typeface="Courier"/>
                <a:cs typeface="Courier"/>
              </a:rPr>
              <a:t>        </a:t>
            </a:r>
            <a:r>
              <a:rPr lang="en-US" sz="1200" dirty="0" err="1">
                <a:latin typeface="Courier"/>
                <a:cs typeface="Courier"/>
              </a:rPr>
              <a:t>gbhgis-ontogly:PastP_Unit</a:t>
            </a:r>
            <a:r>
              <a:rPr lang="en-US" sz="1200" dirty="0">
                <a:latin typeface="Courier"/>
                <a:cs typeface="Courier"/>
              </a:rPr>
              <a:t>   "http://</a:t>
            </a:r>
            <a:r>
              <a:rPr lang="en-US" sz="1200" dirty="0" err="1">
                <a:latin typeface="Courier"/>
                <a:cs typeface="Courier"/>
              </a:rPr>
              <a:t>data.pastplace.org</a:t>
            </a:r>
            <a:r>
              <a:rPr lang="en-US" sz="1200" dirty="0">
                <a:latin typeface="Courier"/>
                <a:cs typeface="Courier"/>
              </a:rPr>
              <a:t>/unit/10076810" ;</a:t>
            </a:r>
          </a:p>
          <a:p>
            <a:r>
              <a:rPr lang="en-US" sz="1200" dirty="0">
                <a:latin typeface="Courier"/>
                <a:cs typeface="Courier"/>
              </a:rPr>
              <a:t>        </a:t>
            </a:r>
            <a:r>
              <a:rPr lang="en-US" sz="1200" dirty="0" err="1">
                <a:latin typeface="Courier"/>
                <a:cs typeface="Courier"/>
              </a:rPr>
              <a:t>gbhgis-ontogly:hasUnitType</a:t>
            </a:r>
            <a:r>
              <a:rPr lang="en-US" sz="1200" dirty="0">
                <a:latin typeface="Courier"/>
                <a:cs typeface="Courier"/>
              </a:rPr>
              <a:t>  "MOD_DIST" ;</a:t>
            </a:r>
          </a:p>
          <a:p>
            <a:r>
              <a:rPr lang="en-US" sz="1200" dirty="0">
                <a:latin typeface="Courier"/>
                <a:cs typeface="Courier"/>
              </a:rPr>
              <a:t>        </a:t>
            </a:r>
            <a:r>
              <a:rPr lang="en-US" sz="1200" dirty="0" err="1">
                <a:latin typeface="Courier"/>
                <a:cs typeface="Courier"/>
              </a:rPr>
              <a:t>gbhgis-ontogly:ref-period</a:t>
            </a:r>
            <a:r>
              <a:rPr lang="en-US" sz="1200" dirty="0">
                <a:latin typeface="Courier"/>
                <a:cs typeface="Courier"/>
              </a:rPr>
              <a:t>   "1881" ;</a:t>
            </a:r>
          </a:p>
          <a:p>
            <a:r>
              <a:rPr lang="en-US" sz="1200" dirty="0">
                <a:latin typeface="Courier"/>
                <a:cs typeface="Courier"/>
              </a:rPr>
              <a:t>        </a:t>
            </a:r>
            <a:r>
              <a:rPr lang="en-US" sz="1200" dirty="0" err="1">
                <a:latin typeface="Courier"/>
                <a:cs typeface="Courier"/>
              </a:rPr>
              <a:t>qb:dataset</a:t>
            </a:r>
            <a:r>
              <a:rPr lang="en-US" sz="1200" dirty="0">
                <a:latin typeface="Courier"/>
                <a:cs typeface="Courier"/>
              </a:rPr>
              <a:t>                  "</a:t>
            </a:r>
            <a:r>
              <a:rPr lang="en-US" sz="1200" dirty="0" err="1">
                <a:latin typeface="Courier"/>
                <a:cs typeface="Courier"/>
              </a:rPr>
              <a:t>INDUSTRY_GEN:ag</a:t>
            </a:r>
            <a:r>
              <a:rPr lang="en-US" sz="1200" dirty="0">
                <a:latin typeface="Courier"/>
                <a:cs typeface="Courier"/>
              </a:rPr>
              <a:t>" ;</a:t>
            </a:r>
          </a:p>
          <a:p>
            <a:r>
              <a:rPr lang="en-US" sz="1200" dirty="0">
                <a:latin typeface="Courier"/>
                <a:cs typeface="Courier"/>
              </a:rPr>
              <a:t>        </a:t>
            </a:r>
            <a:r>
              <a:rPr lang="en-US" sz="1200" dirty="0" err="1">
                <a:latin typeface="Courier"/>
                <a:cs typeface="Courier"/>
              </a:rPr>
              <a:t>sdmx-measure:obsValue</a:t>
            </a:r>
            <a:r>
              <a:rPr lang="en-US" sz="1200" dirty="0">
                <a:latin typeface="Courier"/>
                <a:cs typeface="Courier"/>
              </a:rPr>
              <a:t>       "1832"^^&lt;http://www.w3.org/2001/</a:t>
            </a:r>
            <a:r>
              <a:rPr lang="en-US" sz="1200" dirty="0" err="1">
                <a:latin typeface="Courier"/>
                <a:cs typeface="Courier"/>
              </a:rPr>
              <a:t>XMLSchema#decimal</a:t>
            </a:r>
            <a:r>
              <a:rPr lang="en-US" sz="1200" dirty="0">
                <a:latin typeface="Courier"/>
                <a:cs typeface="Courier"/>
              </a:rPr>
              <a:t>&gt; .</a:t>
            </a:r>
          </a:p>
          <a:p>
            <a:endParaRPr lang="en-US" sz="1200" dirty="0">
              <a:latin typeface="Courier"/>
              <a:cs typeface="Courier"/>
            </a:endParaRPr>
          </a:p>
          <a:p>
            <a:r>
              <a:rPr lang="en-US" sz="1200" dirty="0">
                <a:latin typeface="Courier"/>
                <a:cs typeface="Courier"/>
              </a:rPr>
              <a:t>&lt;Observation-853267&gt;  a             </a:t>
            </a:r>
            <a:r>
              <a:rPr lang="en-US" sz="1200" dirty="0" err="1">
                <a:latin typeface="Courier"/>
                <a:cs typeface="Courier"/>
              </a:rPr>
              <a:t>qb:Observation</a:t>
            </a:r>
            <a:r>
              <a:rPr lang="en-US" sz="1200" dirty="0">
                <a:latin typeface="Courier"/>
                <a:cs typeface="Courier"/>
              </a:rPr>
              <a:t> ;</a:t>
            </a:r>
          </a:p>
          <a:p>
            <a:r>
              <a:rPr lang="en-US" sz="1200" dirty="0">
                <a:latin typeface="Courier"/>
                <a:cs typeface="Courier"/>
              </a:rPr>
              <a:t>        </a:t>
            </a:r>
            <a:r>
              <a:rPr lang="en-US" sz="1200" dirty="0" err="1">
                <a:latin typeface="Courier"/>
                <a:cs typeface="Courier"/>
              </a:rPr>
              <a:t>gbhgis-ontogly:PastP_Unit</a:t>
            </a:r>
            <a:r>
              <a:rPr lang="en-US" sz="1200" dirty="0">
                <a:latin typeface="Courier"/>
                <a:cs typeface="Courier"/>
              </a:rPr>
              <a:t>   "http://</a:t>
            </a:r>
            <a:r>
              <a:rPr lang="en-US" sz="1200" dirty="0" err="1">
                <a:latin typeface="Courier"/>
                <a:cs typeface="Courier"/>
              </a:rPr>
              <a:t>data.pastplace.org</a:t>
            </a:r>
            <a:r>
              <a:rPr lang="en-US" sz="1200" dirty="0">
                <a:latin typeface="Courier"/>
                <a:cs typeface="Courier"/>
              </a:rPr>
              <a:t>/unit/10188982" ;</a:t>
            </a:r>
          </a:p>
          <a:p>
            <a:r>
              <a:rPr lang="en-US" sz="1200" dirty="0">
                <a:latin typeface="Courier"/>
                <a:cs typeface="Courier"/>
              </a:rPr>
              <a:t>        </a:t>
            </a:r>
            <a:r>
              <a:rPr lang="en-US" sz="1200" dirty="0" err="1">
                <a:latin typeface="Courier"/>
                <a:cs typeface="Courier"/>
              </a:rPr>
              <a:t>gbhgis-ontogly:hasUnitType</a:t>
            </a:r>
            <a:r>
              <a:rPr lang="en-US" sz="1200" dirty="0">
                <a:latin typeface="Courier"/>
                <a:cs typeface="Courier"/>
              </a:rPr>
              <a:t>  "MOD_DIST" ;</a:t>
            </a:r>
          </a:p>
          <a:p>
            <a:r>
              <a:rPr lang="en-US" sz="1200" dirty="0">
                <a:latin typeface="Courier"/>
                <a:cs typeface="Courier"/>
              </a:rPr>
              <a:t>        </a:t>
            </a:r>
            <a:r>
              <a:rPr lang="en-US" sz="1200" dirty="0" err="1">
                <a:latin typeface="Courier"/>
                <a:cs typeface="Courier"/>
              </a:rPr>
              <a:t>gbhgis-ontogly:ref-period</a:t>
            </a:r>
            <a:r>
              <a:rPr lang="en-US" sz="1200" dirty="0">
                <a:latin typeface="Courier"/>
                <a:cs typeface="Courier"/>
              </a:rPr>
              <a:t>   "1881" ;</a:t>
            </a:r>
          </a:p>
          <a:p>
            <a:r>
              <a:rPr lang="en-US" sz="1200" dirty="0">
                <a:latin typeface="Courier"/>
                <a:cs typeface="Courier"/>
              </a:rPr>
              <a:t>        </a:t>
            </a:r>
            <a:r>
              <a:rPr lang="en-US" sz="1200" dirty="0" err="1">
                <a:latin typeface="Courier"/>
                <a:cs typeface="Courier"/>
              </a:rPr>
              <a:t>qb:dataset</a:t>
            </a:r>
            <a:r>
              <a:rPr lang="en-US" sz="1200" dirty="0">
                <a:latin typeface="Courier"/>
                <a:cs typeface="Courier"/>
              </a:rPr>
              <a:t>                  "AGESEX_85UP:male/75_79" ;</a:t>
            </a:r>
          </a:p>
          <a:p>
            <a:r>
              <a:rPr lang="en-US" sz="1200" dirty="0">
                <a:latin typeface="Courier"/>
                <a:cs typeface="Courier"/>
              </a:rPr>
              <a:t>        </a:t>
            </a:r>
            <a:r>
              <a:rPr lang="en-US" sz="1200" dirty="0" err="1">
                <a:latin typeface="Courier"/>
                <a:cs typeface="Courier"/>
              </a:rPr>
              <a:t>sdmx-measure:obsValue</a:t>
            </a:r>
            <a:r>
              <a:rPr lang="en-US" sz="1200" dirty="0">
                <a:latin typeface="Courier"/>
                <a:cs typeface="Courier"/>
              </a:rPr>
              <a:t>       "161"^^&lt;http://www.w3.org/2001/</a:t>
            </a:r>
            <a:r>
              <a:rPr lang="en-US" sz="1200" dirty="0" err="1">
                <a:latin typeface="Courier"/>
                <a:cs typeface="Courier"/>
              </a:rPr>
              <a:t>XMLSchema#decimal</a:t>
            </a:r>
            <a:r>
              <a:rPr lang="en-US" sz="1200" dirty="0">
                <a:latin typeface="Courier"/>
                <a:cs typeface="Courier"/>
              </a:rPr>
              <a:t>&gt; </a:t>
            </a:r>
            <a:r>
              <a:rPr lang="en-US" sz="1200" dirty="0" smtClean="0">
                <a:latin typeface="Courier"/>
                <a:cs typeface="Courier"/>
              </a:rPr>
              <a:t>.</a:t>
            </a:r>
            <a:endParaRPr lang="en-US" sz="1200" dirty="0">
              <a:latin typeface="Courier"/>
              <a:cs typeface="Courier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7700" y="317500"/>
            <a:ext cx="1841500" cy="1511300"/>
          </a:xfr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114300" dir="2700000" algn="tl" rotWithShape="0">
              <a:srgbClr val="000000">
                <a:alpha val="43000"/>
              </a:srgbClr>
            </a:outerShdw>
          </a:effectLst>
        </p:spPr>
        <p:txBody>
          <a:bodyPr/>
          <a:lstStyle/>
          <a:p>
            <a:r>
              <a:rPr lang="en-US" dirty="0" smtClean="0"/>
              <a:t>Sample GBHGIS RDF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31800" y="614680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http:/</a:t>
            </a:r>
            <a:r>
              <a:rPr lang="en-US" dirty="0" smtClean="0"/>
              <a:t>/</a:t>
            </a:r>
            <a:r>
              <a:rPr lang="en-US" dirty="0" err="1" smtClean="0"/>
              <a:t>data.pastplace.org</a:t>
            </a:r>
            <a:r>
              <a:rPr lang="en-US" dirty="0"/>
              <a:t>/</a:t>
            </a:r>
            <a:r>
              <a:rPr lang="en-US" dirty="0" err="1"/>
              <a:t>datacube?units</a:t>
            </a:r>
            <a:r>
              <a:rPr lang="en-US" dirty="0"/>
              <a:t>=10188982,10076810</a:t>
            </a:r>
          </a:p>
        </p:txBody>
      </p:sp>
    </p:spTree>
    <p:extLst>
      <p:ext uri="{BB962C8B-B14F-4D97-AF65-F5344CB8AC3E}">
        <p14:creationId xmlns:p14="http://schemas.microsoft.com/office/powerpoint/2010/main" val="1614011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96"/>
    </mc:Choice>
    <mc:Fallback xmlns="">
      <p:transition xmlns:p14="http://schemas.microsoft.com/office/powerpoint/2010/main" spd="slow" advTm="7096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Phase</a:t>
            </a:r>
            <a:r>
              <a:rPr lang="en-US" baseline="0" dirty="0" smtClean="0"/>
              <a:t> 2: Adding a sub-setting mechanism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Currently implemented:</a:t>
            </a:r>
          </a:p>
          <a:p>
            <a:pPr lvl="1"/>
            <a:r>
              <a:rPr lang="en-US" dirty="0" smtClean="0"/>
              <a:t>Geography:</a:t>
            </a:r>
          </a:p>
          <a:p>
            <a:pPr lvl="2"/>
            <a:r>
              <a:rPr lang="en-US" dirty="0" smtClean="0"/>
              <a:t>One or more specific unit IDs (reporting areas)</a:t>
            </a:r>
          </a:p>
          <a:p>
            <a:pPr lvl="2"/>
            <a:r>
              <a:rPr lang="en-US" dirty="0" smtClean="0"/>
              <a:t>One or more unit types (broadly, GIS </a:t>
            </a:r>
            <a:r>
              <a:rPr lang="en-US" dirty="0" err="1" smtClean="0"/>
              <a:t>coverages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/>
              <a:t>nCubes</a:t>
            </a:r>
            <a:r>
              <a:rPr lang="en-US" dirty="0"/>
              <a:t> references</a:t>
            </a:r>
          </a:p>
          <a:p>
            <a:pPr lvl="2"/>
            <a:r>
              <a:rPr lang="en-US" dirty="0"/>
              <a:t>All components of a classification or cross-classification</a:t>
            </a:r>
          </a:p>
          <a:p>
            <a:pPr lvl="1"/>
            <a:r>
              <a:rPr lang="en-US" dirty="0" smtClean="0"/>
              <a:t>Cell </a:t>
            </a:r>
            <a:r>
              <a:rPr lang="en-US" dirty="0" smtClean="0"/>
              <a:t>references</a:t>
            </a:r>
          </a:p>
          <a:p>
            <a:pPr lvl="2"/>
            <a:r>
              <a:rPr lang="en-US" dirty="0" smtClean="0"/>
              <a:t>Specific measures, e.g. </a:t>
            </a:r>
            <a:r>
              <a:rPr lang="en-US" dirty="0" err="1" smtClean="0"/>
              <a:t>TOT_POP:now</a:t>
            </a:r>
            <a:r>
              <a:rPr lang="en-US" dirty="0" smtClean="0"/>
              <a:t> or </a:t>
            </a:r>
            <a:r>
              <a:rPr lang="en-US" sz="1800" dirty="0" smtClean="0">
                <a:solidFill>
                  <a:schemeClr val="tx1"/>
                </a:solidFill>
                <a:effectLst/>
                <a:latin typeface="+mn-lt"/>
                <a:ea typeface="+mn-ea"/>
              </a:rPr>
              <a:t>AGESEX_85UP:male/70_74</a:t>
            </a:r>
            <a:r>
              <a:rPr lang="en-US" dirty="0" smtClean="0"/>
              <a:t>, Or ‘Sheep</a:t>
            </a:r>
            <a:r>
              <a:rPr lang="en-US" dirty="0" smtClean="0"/>
              <a:t>’</a:t>
            </a:r>
            <a:endParaRPr lang="en-US" dirty="0" smtClean="0"/>
          </a:p>
          <a:p>
            <a:pPr lvl="1"/>
            <a:r>
              <a:rPr lang="en-US" dirty="0" smtClean="0"/>
              <a:t>Date </a:t>
            </a:r>
            <a:r>
              <a:rPr lang="en-US" dirty="0" smtClean="0"/>
              <a:t>range</a:t>
            </a:r>
          </a:p>
          <a:p>
            <a:pPr marL="0" indent="0">
              <a:buNone/>
            </a:pPr>
            <a:r>
              <a:rPr lang="en-US" dirty="0" smtClean="0"/>
              <a:t>To be added:</a:t>
            </a:r>
          </a:p>
          <a:p>
            <a:pPr lvl="1"/>
            <a:r>
              <a:rPr lang="en-US" dirty="0" smtClean="0"/>
              <a:t>Rates</a:t>
            </a:r>
          </a:p>
          <a:p>
            <a:pPr lvl="2"/>
            <a:r>
              <a:rPr lang="en-US" dirty="0" smtClean="0"/>
              <a:t>I.E. extracting pairs of data values which we have associated in a rate definition, e.g. </a:t>
            </a:r>
            <a:r>
              <a:rPr lang="en-US" dirty="0" err="1" smtClean="0"/>
              <a:t>TOT_POP:now</a:t>
            </a:r>
            <a:r>
              <a:rPr lang="en-US" dirty="0" smtClean="0"/>
              <a:t> / </a:t>
            </a:r>
            <a:r>
              <a:rPr lang="en-US" sz="1800" dirty="0" err="1" smtClean="0">
                <a:solidFill>
                  <a:schemeClr val="tx1"/>
                </a:solidFill>
                <a:effectLst/>
                <a:latin typeface="+mn-lt"/>
                <a:ea typeface="+mn-ea"/>
              </a:rPr>
              <a:t>AREA_HECTARES:total</a:t>
            </a:r>
            <a:r>
              <a:rPr lang="en-US" dirty="0" smtClean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69797-332A-4E47-998C-848234DBEE37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2274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841"/>
    </mc:Choice>
    <mc:Fallback xmlns="">
      <p:transition xmlns:p14="http://schemas.microsoft.com/office/powerpoint/2010/main" spd="slow" advTm="22841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Phase 3: Adding a discovery</a:t>
            </a:r>
            <a:r>
              <a:rPr lang="en-US" baseline="0" dirty="0" smtClean="0"/>
              <a:t> mechanism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 you can find out relevant </a:t>
            </a:r>
            <a:r>
              <a:rPr lang="en-US" dirty="0" err="1" smtClean="0"/>
              <a:t>nCubes</a:t>
            </a:r>
            <a:r>
              <a:rPr lang="en-US" dirty="0" smtClean="0"/>
              <a:t>, cells, unit types and units!</a:t>
            </a:r>
          </a:p>
          <a:p>
            <a:r>
              <a:rPr lang="en-US" dirty="0" smtClean="0"/>
              <a:t>Broader queries based on date ranges, statistical keywords and “geography”</a:t>
            </a:r>
          </a:p>
          <a:p>
            <a:r>
              <a:rPr lang="en-US" dirty="0" smtClean="0"/>
              <a:t>Geography can be queried by:</a:t>
            </a:r>
          </a:p>
          <a:p>
            <a:pPr lvl="1"/>
            <a:r>
              <a:rPr lang="en-US" dirty="0" smtClean="0"/>
              <a:t>Bounding box: specific units which overlap</a:t>
            </a:r>
          </a:p>
          <a:p>
            <a:pPr lvl="1"/>
            <a:r>
              <a:rPr lang="en-US" dirty="0" smtClean="0"/>
              <a:t>Point: specific units containing</a:t>
            </a:r>
          </a:p>
          <a:p>
            <a:pPr lvl="1"/>
            <a:r>
              <a:rPr lang="en-US" dirty="0" smtClean="0"/>
              <a:t>Name: units named after place</a:t>
            </a:r>
          </a:p>
          <a:p>
            <a:r>
              <a:rPr lang="en-US" dirty="0" smtClean="0"/>
              <a:t>Geography problems:</a:t>
            </a:r>
          </a:p>
          <a:p>
            <a:pPr lvl="1"/>
            <a:r>
              <a:rPr lang="en-US" dirty="0" smtClean="0"/>
              <a:t>We have nearly 200 “kinds” of unit in system!</a:t>
            </a:r>
          </a:p>
          <a:p>
            <a:pPr lvl="1"/>
            <a:r>
              <a:rPr lang="en-US" dirty="0" smtClean="0"/>
              <a:t>22% of our units with statistics have point but no polygon</a:t>
            </a:r>
          </a:p>
          <a:p>
            <a:pPr lvl="1"/>
            <a:r>
              <a:rPr lang="en-US" dirty="0" smtClean="0"/>
              <a:t>Units named after place don</a:t>
            </a:r>
            <a:r>
              <a:rPr lang="fr-FR" dirty="0" smtClean="0"/>
              <a:t>’</a:t>
            </a:r>
            <a:r>
              <a:rPr lang="en-US" dirty="0" smtClean="0"/>
              <a:t>t always contain it!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69797-332A-4E47-998C-848234DBEE37}" type="slidenum">
              <a:rPr lang="en-GB" smtClean="0"/>
              <a:pPr>
                <a:defRPr/>
              </a:pPr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7027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80"/>
    </mc:Choice>
    <mc:Fallback xmlns="">
      <p:transition xmlns:p14="http://schemas.microsoft.com/office/powerpoint/2010/main" spd="slow" advTm="138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Phase 3:</a:t>
            </a:r>
            <a:r>
              <a:rPr lang="en-US" baseline="0" dirty="0" smtClean="0"/>
              <a:t> D</a:t>
            </a:r>
            <a:r>
              <a:rPr lang="en-US" sz="2800" b="1" dirty="0" smtClean="0">
                <a:solidFill>
                  <a:schemeClr val="tx2"/>
                </a:solidFill>
                <a:effectLst/>
                <a:latin typeface="+mj-lt"/>
                <a:ea typeface="+mj-ea"/>
                <a:cs typeface="ＭＳ Ｐゴシック" charset="0"/>
              </a:rPr>
              <a:t>iscovery</a:t>
            </a:r>
            <a:r>
              <a:rPr lang="en-US" sz="2800" b="1" baseline="0" dirty="0" smtClean="0">
                <a:solidFill>
                  <a:schemeClr val="tx2"/>
                </a:solidFill>
                <a:effectLst/>
                <a:latin typeface="+mj-lt"/>
                <a:ea typeface="+mj-ea"/>
                <a:cs typeface="ＭＳ Ｐゴシック" charset="0"/>
              </a:rPr>
              <a:t> mechanism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smtClean="0"/>
              <a:t>Spatial </a:t>
            </a:r>
            <a:r>
              <a:rPr lang="en-US" dirty="0"/>
              <a:t>strategy </a:t>
            </a:r>
            <a:endParaRPr lang="en-US" dirty="0" smtClean="0"/>
          </a:p>
          <a:p>
            <a:pPr lvl="2"/>
            <a:r>
              <a:rPr lang="en-US" dirty="0" smtClean="0"/>
              <a:t>The API takes a </a:t>
            </a:r>
            <a:r>
              <a:rPr lang="en-US" dirty="0"/>
              <a:t>point coordinate and a broad statistical theme, the system returning the set of reporting units whose boundary polygons cover the point, with thematically relevant </a:t>
            </a:r>
            <a:r>
              <a:rPr lang="en-US" dirty="0" err="1" smtClean="0"/>
              <a:t>nCubes</a:t>
            </a:r>
            <a:r>
              <a:rPr lang="en-US" dirty="0" smtClean="0"/>
              <a:t>.</a:t>
            </a:r>
          </a:p>
          <a:p>
            <a:pPr lvl="3"/>
            <a:r>
              <a:rPr lang="en-US" dirty="0" smtClean="0"/>
              <a:t>Themes are: Population</a:t>
            </a:r>
            <a:r>
              <a:rPr lang="en-US" dirty="0"/>
              <a:t>, Industry, Social Structure, Learning &amp; Language, Agriculture &amp; Land Use, Life &amp; Death, Work &amp; Poverty, Housing, Roots &amp; Religion, Political Life</a:t>
            </a:r>
          </a:p>
          <a:p>
            <a:pPr lvl="3"/>
            <a:r>
              <a:rPr lang="en-US" dirty="0" smtClean="0">
                <a:hlinkClick r:id="rId3"/>
              </a:rPr>
              <a:t>http</a:t>
            </a:r>
            <a:r>
              <a:rPr lang="en-US" dirty="0">
                <a:hlinkClick r:id="rId3"/>
              </a:rPr>
              <a:t>:/</a:t>
            </a:r>
            <a:r>
              <a:rPr lang="en-US" dirty="0" smtClean="0">
                <a:hlinkClick r:id="rId3"/>
              </a:rPr>
              <a:t>/data.pastplce.org/</a:t>
            </a:r>
            <a:r>
              <a:rPr lang="en-US" dirty="0">
                <a:hlinkClick r:id="rId3"/>
              </a:rPr>
              <a:t>search?q=50.8193761,-0.3765256</a:t>
            </a:r>
            <a:r>
              <a:rPr lang="en-US" dirty="0" smtClean="0">
                <a:hlinkClick r:id="rId3"/>
              </a:rPr>
              <a:t>&amp;theme=T_POP&amp;</a:t>
            </a:r>
            <a:r>
              <a:rPr lang="en-US" dirty="0">
                <a:hlinkClick r:id="rId3"/>
              </a:rPr>
              <a:t>format=</a:t>
            </a:r>
            <a:r>
              <a:rPr lang="en-US" dirty="0" smtClean="0">
                <a:hlinkClick r:id="rId3"/>
              </a:rPr>
              <a:t>json</a:t>
            </a:r>
            <a:endParaRPr lang="en-US" dirty="0" smtClean="0"/>
          </a:p>
          <a:p>
            <a:pPr marL="1371600" lvl="3" indent="0">
              <a:buNone/>
            </a:pPr>
            <a:r>
              <a:rPr lang="en-US" sz="1400" dirty="0">
                <a:latin typeface="Courier New"/>
                <a:cs typeface="Courier New"/>
              </a:rPr>
              <a:t>{"</a:t>
            </a:r>
            <a:r>
              <a:rPr lang="en-US" sz="1400" dirty="0" smtClean="0">
                <a:latin typeface="Courier New"/>
                <a:cs typeface="Courier New"/>
              </a:rPr>
              <a:t>gUnit”:10056524, "</a:t>
            </a:r>
            <a:r>
              <a:rPr lang="en-US" sz="1400" dirty="0">
                <a:latin typeface="Courier New"/>
                <a:cs typeface="Courier New"/>
              </a:rPr>
              <a:t>uName":"WORTHING"</a:t>
            </a:r>
            <a:r>
              <a:rPr lang="en-US" sz="1400" dirty="0" smtClean="0">
                <a:latin typeface="Courier New"/>
                <a:cs typeface="Courier New"/>
              </a:rPr>
              <a:t>, "</a:t>
            </a:r>
            <a:r>
              <a:rPr lang="en-US" sz="1400" dirty="0">
                <a:latin typeface="Courier New"/>
                <a:cs typeface="Courier New"/>
              </a:rPr>
              <a:t>uType":"District"</a:t>
            </a:r>
            <a:r>
              <a:rPr lang="en-US" sz="1400" dirty="0" smtClean="0">
                <a:latin typeface="Courier New"/>
                <a:cs typeface="Courier New"/>
              </a:rPr>
              <a:t>, "</a:t>
            </a:r>
            <a:r>
              <a:rPr lang="en-US" sz="1400" dirty="0">
                <a:latin typeface="Courier New"/>
                <a:cs typeface="Courier New"/>
              </a:rPr>
              <a:t>nCubeId":"N_AGESEX_85UP"</a:t>
            </a:r>
            <a:r>
              <a:rPr lang="en-US" sz="1400" dirty="0" smtClean="0">
                <a:latin typeface="Courier New"/>
                <a:cs typeface="Courier New"/>
              </a:rPr>
              <a:t>, "</a:t>
            </a:r>
            <a:r>
              <a:rPr lang="en-US" sz="1400" dirty="0">
                <a:latin typeface="Courier New"/>
                <a:cs typeface="Courier New"/>
              </a:rPr>
              <a:t>nCubeTitle":"Redistricted Age </a:t>
            </a:r>
            <a:r>
              <a:rPr lang="en-US" sz="1400" dirty="0" smtClean="0">
                <a:latin typeface="Courier New"/>
                <a:cs typeface="Courier New"/>
              </a:rPr>
              <a:t>&amp; </a:t>
            </a:r>
            <a:r>
              <a:rPr lang="en-US" sz="1400" dirty="0">
                <a:latin typeface="Courier New"/>
                <a:cs typeface="Courier New"/>
              </a:rPr>
              <a:t>Sex Structure"</a:t>
            </a:r>
            <a:r>
              <a:rPr lang="en-US" sz="1400" dirty="0" smtClean="0">
                <a:latin typeface="Courier New"/>
                <a:cs typeface="Courier New"/>
              </a:rPr>
              <a:t>, "</a:t>
            </a:r>
            <a:r>
              <a:rPr lang="en-US" sz="1400" dirty="0">
                <a:latin typeface="Courier New"/>
                <a:cs typeface="Courier New"/>
              </a:rPr>
              <a:t>startYear":"2001"</a:t>
            </a:r>
            <a:r>
              <a:rPr lang="en-US" sz="1400" dirty="0" smtClean="0">
                <a:latin typeface="Courier New"/>
                <a:cs typeface="Courier New"/>
              </a:rPr>
              <a:t>, "</a:t>
            </a:r>
            <a:r>
              <a:rPr lang="en-US" sz="1400" dirty="0">
                <a:latin typeface="Courier New"/>
                <a:cs typeface="Courier New"/>
              </a:rPr>
              <a:t>endYear":"</a:t>
            </a:r>
            <a:r>
              <a:rPr lang="en-US" sz="1400" dirty="0" smtClean="0">
                <a:latin typeface="Courier New"/>
                <a:cs typeface="Courier New"/>
              </a:rPr>
              <a:t>2001”</a:t>
            </a:r>
            <a:r>
              <a:rPr lang="is-IS" sz="1400" dirty="0" smtClean="0">
                <a:latin typeface="Courier New"/>
                <a:cs typeface="Courier New"/>
              </a:rPr>
              <a:t>…</a:t>
            </a:r>
            <a:endParaRPr lang="en-US" sz="1400" dirty="0" smtClean="0">
              <a:latin typeface="Courier New"/>
              <a:cs typeface="Courier New"/>
            </a:endParaRPr>
          </a:p>
          <a:p>
            <a:pPr lvl="2"/>
            <a:r>
              <a:rPr lang="en-US" dirty="0" smtClean="0"/>
              <a:t>Data values selected via themes or </a:t>
            </a:r>
            <a:r>
              <a:rPr lang="en-US" dirty="0" err="1" smtClean="0"/>
              <a:t>nCubes</a:t>
            </a:r>
            <a:r>
              <a:rPr lang="en-US" dirty="0" smtClean="0"/>
              <a:t> and units:</a:t>
            </a:r>
          </a:p>
          <a:p>
            <a:pPr lvl="3"/>
            <a:r>
              <a:rPr lang="en-US" dirty="0">
                <a:hlinkClick r:id="rId4"/>
              </a:rPr>
              <a:t>http://data.pastplace.org/datacube?theme=</a:t>
            </a:r>
            <a:r>
              <a:rPr lang="en-US" dirty="0" smtClean="0">
                <a:hlinkClick r:id="rId4"/>
              </a:rPr>
              <a:t>T_POP&amp;</a:t>
            </a:r>
            <a:r>
              <a:rPr lang="en-US" dirty="0">
                <a:hlinkClick r:id="rId4"/>
              </a:rPr>
              <a:t>units=</a:t>
            </a:r>
            <a:r>
              <a:rPr lang="en-US" dirty="0" smtClean="0">
                <a:hlinkClick r:id="rId4"/>
              </a:rPr>
              <a:t>10056524</a:t>
            </a:r>
          </a:p>
          <a:p>
            <a:pPr lvl="3"/>
            <a:r>
              <a:rPr lang="en-US" dirty="0" smtClean="0">
                <a:hlinkClick r:id="rId4"/>
              </a:rPr>
              <a:t>http</a:t>
            </a:r>
            <a:r>
              <a:rPr lang="en-US" dirty="0">
                <a:hlinkClick r:id="rId4"/>
              </a:rPr>
              <a:t>://data.pastplace.org/datacube</a:t>
            </a:r>
            <a:r>
              <a:rPr lang="en-US" dirty="0" smtClean="0">
                <a:hlinkClick r:id="rId4"/>
              </a:rPr>
              <a:t>?ncubes</a:t>
            </a:r>
            <a:r>
              <a:rPr lang="en-US" dirty="0">
                <a:hlinkClick r:id="rId4"/>
              </a:rPr>
              <a:t>=N_AGESEX_85UP&amp;units=</a:t>
            </a:r>
            <a:r>
              <a:rPr lang="en-US" dirty="0" smtClean="0">
                <a:hlinkClick r:id="rId4"/>
              </a:rPr>
              <a:t>10056524</a:t>
            </a:r>
            <a:endParaRPr lang="en-US" dirty="0" smtClean="0"/>
          </a:p>
          <a:p>
            <a:pPr lvl="3"/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69797-332A-4E47-998C-848234DBEE37}" type="slidenum">
              <a:rPr lang="en-GB" smtClean="0"/>
              <a:pPr>
                <a:defRPr/>
              </a:pPr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2631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9"/>
    </mc:Choice>
    <mc:Fallback xmlns="">
      <p:transition xmlns:p14="http://schemas.microsoft.com/office/powerpoint/2010/main" spd="slow" advTm="1269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Phase 3:</a:t>
            </a:r>
            <a:r>
              <a:rPr lang="en-US" baseline="0" dirty="0" smtClean="0"/>
              <a:t> D</a:t>
            </a:r>
            <a:r>
              <a:rPr lang="en-US" sz="2800" b="1" dirty="0" smtClean="0">
                <a:solidFill>
                  <a:schemeClr val="tx2"/>
                </a:solidFill>
                <a:effectLst/>
                <a:latin typeface="+mj-lt"/>
                <a:ea typeface="+mj-ea"/>
                <a:cs typeface="ＭＳ Ｐゴシック" charset="0"/>
              </a:rPr>
              <a:t>iscovery</a:t>
            </a:r>
            <a:r>
              <a:rPr lang="en-US" sz="2800" b="1" baseline="0" dirty="0" smtClean="0">
                <a:solidFill>
                  <a:schemeClr val="tx2"/>
                </a:solidFill>
                <a:effectLst/>
                <a:latin typeface="+mj-lt"/>
                <a:ea typeface="+mj-ea"/>
                <a:cs typeface="ＭＳ Ｐゴシック" charset="0"/>
              </a:rPr>
              <a:t> mechanism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smtClean="0"/>
              <a:t>	Thematic strategy </a:t>
            </a:r>
          </a:p>
          <a:p>
            <a:pPr lvl="2"/>
            <a:r>
              <a:rPr lang="en-US" dirty="0" smtClean="0"/>
              <a:t>allows </a:t>
            </a:r>
            <a:r>
              <a:rPr lang="en-US" dirty="0"/>
              <a:t>the user to reach </a:t>
            </a:r>
            <a:r>
              <a:rPr lang="en-US" dirty="0" err="1"/>
              <a:t>nCubes</a:t>
            </a:r>
            <a:r>
              <a:rPr lang="en-US" dirty="0"/>
              <a:t> </a:t>
            </a:r>
            <a:r>
              <a:rPr lang="en-US" dirty="0" smtClean="0"/>
              <a:t>through </a:t>
            </a:r>
            <a:r>
              <a:rPr lang="en-US" dirty="0"/>
              <a:t>free-text searching of labels and descriptions within the metadata</a:t>
            </a:r>
            <a:r>
              <a:rPr lang="en-US" dirty="0" smtClean="0"/>
              <a:t>. </a:t>
            </a:r>
          </a:p>
          <a:p>
            <a:pPr lvl="3"/>
            <a:r>
              <a:rPr lang="en-US" dirty="0">
                <a:hlinkClick r:id="rId3"/>
              </a:rPr>
              <a:t>http://data.pastplce.org</a:t>
            </a:r>
            <a:r>
              <a:rPr lang="en-US" dirty="0" smtClean="0">
                <a:hlinkClick r:id="rId3"/>
              </a:rPr>
              <a:t>/search</a:t>
            </a:r>
            <a:r>
              <a:rPr lang="en-US" dirty="0">
                <a:hlinkClick r:id="rId3"/>
              </a:rPr>
              <a:t>?metadata=SHEEP&amp;format=</a:t>
            </a:r>
            <a:r>
              <a:rPr lang="en-US" dirty="0" smtClean="0">
                <a:hlinkClick r:id="rId3"/>
              </a:rPr>
              <a:t>json</a:t>
            </a:r>
            <a:endParaRPr lang="en-US" dirty="0" smtClean="0"/>
          </a:p>
          <a:p>
            <a:pPr lvl="2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69797-332A-4E47-998C-848234DBEE37}" type="slidenum">
              <a:rPr lang="en-GB" smtClean="0"/>
              <a:pPr>
                <a:defRPr/>
              </a:pPr>
              <a:t>15</a:t>
            </a:fld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330200" y="2921000"/>
            <a:ext cx="8034246" cy="37856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latin typeface="Courier New"/>
                <a:cs typeface="Courier New"/>
              </a:rPr>
              <a:t> </a:t>
            </a:r>
            <a:r>
              <a:rPr lang="en-US" sz="1200" dirty="0" smtClean="0">
                <a:latin typeface="Courier New"/>
                <a:cs typeface="Courier New"/>
              </a:rPr>
              <a:t> {</a:t>
            </a:r>
          </a:p>
          <a:p>
            <a:r>
              <a:rPr lang="en-US" sz="1200" dirty="0" smtClean="0">
                <a:latin typeface="Courier New"/>
                <a:cs typeface="Courier New"/>
              </a:rPr>
              <a:t>    "</a:t>
            </a:r>
            <a:r>
              <a:rPr lang="en-US" sz="1200" dirty="0" err="1" smtClean="0">
                <a:latin typeface="Courier New"/>
                <a:cs typeface="Courier New"/>
              </a:rPr>
              <a:t>nCube</a:t>
            </a:r>
            <a:r>
              <a:rPr lang="en-US" sz="1200" dirty="0" smtClean="0">
                <a:latin typeface="Courier New"/>
                <a:cs typeface="Courier New"/>
              </a:rPr>
              <a:t>": "N_AGCEN_SHEEP_GEN",</a:t>
            </a:r>
          </a:p>
          <a:p>
            <a:r>
              <a:rPr lang="en-US" sz="1200" dirty="0" smtClean="0">
                <a:latin typeface="Courier New"/>
                <a:cs typeface="Courier New"/>
              </a:rPr>
              <a:t>    </a:t>
            </a:r>
            <a:r>
              <a:rPr lang="en-US" sz="1200" dirty="0">
                <a:latin typeface="Courier New"/>
                <a:cs typeface="Courier New"/>
              </a:rPr>
              <a:t>"</a:t>
            </a:r>
            <a:r>
              <a:rPr lang="en-US" sz="1200" dirty="0" err="1">
                <a:latin typeface="Courier New"/>
                <a:cs typeface="Courier New"/>
              </a:rPr>
              <a:t>nLabel</a:t>
            </a:r>
            <a:r>
              <a:rPr lang="en-US" sz="1200" dirty="0">
                <a:latin typeface="Courier New"/>
                <a:cs typeface="Courier New"/>
              </a:rPr>
              <a:t>": "</a:t>
            </a:r>
            <a:r>
              <a:rPr lang="en-US" sz="1200" dirty="0" err="1">
                <a:latin typeface="Courier New"/>
                <a:cs typeface="Courier New"/>
              </a:rPr>
              <a:t>Generalised</a:t>
            </a:r>
            <a:r>
              <a:rPr lang="en-US" sz="1200" dirty="0">
                <a:latin typeface="Courier New"/>
                <a:cs typeface="Courier New"/>
              </a:rPr>
              <a:t> Sheep Categories as reported by the Agricultural Census.",</a:t>
            </a:r>
          </a:p>
          <a:p>
            <a:r>
              <a:rPr lang="en-US" sz="1200" dirty="0">
                <a:latin typeface="Courier New"/>
                <a:cs typeface="Courier New"/>
              </a:rPr>
              <a:t>    "score": 36</a:t>
            </a:r>
          </a:p>
          <a:p>
            <a:r>
              <a:rPr lang="en-US" sz="1200" dirty="0">
                <a:latin typeface="Courier New"/>
                <a:cs typeface="Courier New"/>
              </a:rPr>
              <a:t>  </a:t>
            </a:r>
            <a:r>
              <a:rPr lang="en-US" sz="1200" dirty="0" smtClean="0">
                <a:latin typeface="Courier New"/>
                <a:cs typeface="Courier New"/>
              </a:rPr>
              <a:t>}</a:t>
            </a:r>
            <a:r>
              <a:rPr lang="en-US" sz="1200" dirty="0">
                <a:latin typeface="Courier New"/>
                <a:cs typeface="Courier New"/>
              </a:rPr>
              <a:t> </a:t>
            </a:r>
            <a:r>
              <a:rPr lang="en-US" sz="1200" dirty="0" smtClean="0">
                <a:latin typeface="Courier New"/>
                <a:cs typeface="Courier New"/>
              </a:rPr>
              <a:t>...</a:t>
            </a:r>
          </a:p>
          <a:p>
            <a:r>
              <a:rPr lang="en-US" sz="1200" dirty="0" smtClean="0">
                <a:latin typeface="Courier New"/>
                <a:cs typeface="Courier New"/>
              </a:rPr>
              <a:t>  {</a:t>
            </a:r>
          </a:p>
          <a:p>
            <a:r>
              <a:rPr lang="en-US" sz="1200" dirty="0" smtClean="0">
                <a:latin typeface="Courier New"/>
                <a:cs typeface="Courier New"/>
              </a:rPr>
              <a:t>    "</a:t>
            </a:r>
            <a:r>
              <a:rPr lang="en-US" sz="1200" dirty="0" err="1" smtClean="0">
                <a:latin typeface="Courier New"/>
                <a:cs typeface="Courier New"/>
              </a:rPr>
              <a:t>nCube</a:t>
            </a:r>
            <a:r>
              <a:rPr lang="en-US" sz="1200" dirty="0" smtClean="0">
                <a:latin typeface="Courier New"/>
                <a:cs typeface="Courier New"/>
              </a:rPr>
              <a:t>": "N_OCC_RAW1881",</a:t>
            </a:r>
          </a:p>
          <a:p>
            <a:r>
              <a:rPr lang="en-US" sz="1200" dirty="0" smtClean="0">
                <a:latin typeface="Courier New"/>
                <a:cs typeface="Courier New"/>
              </a:rPr>
              <a:t>    "</a:t>
            </a:r>
            <a:r>
              <a:rPr lang="en-US" sz="1200" dirty="0" err="1" smtClean="0">
                <a:latin typeface="Courier New"/>
                <a:cs typeface="Courier New"/>
              </a:rPr>
              <a:t>nLabel</a:t>
            </a:r>
            <a:r>
              <a:rPr lang="en-US" sz="1200" dirty="0" smtClean="0">
                <a:latin typeface="Courier New"/>
                <a:cs typeface="Courier New"/>
              </a:rPr>
              <a:t>": "Detailed 1881 occupational statistics, by gender",</a:t>
            </a:r>
          </a:p>
          <a:p>
            <a:r>
              <a:rPr lang="en-US" sz="1200" dirty="0" smtClean="0">
                <a:latin typeface="Courier New"/>
                <a:cs typeface="Courier New"/>
              </a:rPr>
              <a:t>    "score": 6</a:t>
            </a:r>
          </a:p>
          <a:p>
            <a:r>
              <a:rPr lang="en-US" sz="1200" dirty="0" smtClean="0">
                <a:latin typeface="Courier New"/>
                <a:cs typeface="Courier New"/>
              </a:rPr>
              <a:t>  },</a:t>
            </a:r>
          </a:p>
          <a:p>
            <a:r>
              <a:rPr lang="en-US" sz="1200" dirty="0" smtClean="0">
                <a:latin typeface="Courier New"/>
                <a:cs typeface="Courier New"/>
              </a:rPr>
              <a:t>  {</a:t>
            </a:r>
          </a:p>
          <a:p>
            <a:r>
              <a:rPr lang="en-US" sz="1200" dirty="0" smtClean="0">
                <a:latin typeface="Courier New"/>
                <a:cs typeface="Courier New"/>
              </a:rPr>
              <a:t>    "</a:t>
            </a:r>
            <a:r>
              <a:rPr lang="en-US" sz="1200" dirty="0" err="1" smtClean="0">
                <a:latin typeface="Courier New"/>
                <a:cs typeface="Courier New"/>
              </a:rPr>
              <a:t>nCube</a:t>
            </a:r>
            <a:r>
              <a:rPr lang="en-US" sz="1200" dirty="0" smtClean="0">
                <a:latin typeface="Courier New"/>
                <a:cs typeface="Courier New"/>
              </a:rPr>
              <a:t>": "N_OCC_RAW1841",</a:t>
            </a:r>
          </a:p>
          <a:p>
            <a:r>
              <a:rPr lang="en-US" sz="1200" dirty="0" smtClean="0">
                <a:latin typeface="Courier New"/>
                <a:cs typeface="Courier New"/>
              </a:rPr>
              <a:t>    "</a:t>
            </a:r>
            <a:r>
              <a:rPr lang="en-US" sz="1200" dirty="0" err="1" smtClean="0">
                <a:latin typeface="Courier New"/>
                <a:cs typeface="Courier New"/>
              </a:rPr>
              <a:t>nLabel</a:t>
            </a:r>
            <a:r>
              <a:rPr lang="en-US" sz="1200" dirty="0" smtClean="0">
                <a:latin typeface="Courier New"/>
                <a:cs typeface="Courier New"/>
              </a:rPr>
              <a:t>": "Unclassified occupations, </a:t>
            </a:r>
            <a:r>
              <a:rPr lang="en-US" sz="1200" dirty="0" err="1" smtClean="0">
                <a:latin typeface="Courier New"/>
                <a:cs typeface="Courier New"/>
              </a:rPr>
              <a:t>categorised</a:t>
            </a:r>
            <a:r>
              <a:rPr lang="en-US" sz="1200" dirty="0" smtClean="0">
                <a:latin typeface="Courier New"/>
                <a:cs typeface="Courier New"/>
              </a:rPr>
              <a:t> by sex &amp; age",</a:t>
            </a:r>
          </a:p>
          <a:p>
            <a:r>
              <a:rPr lang="en-US" sz="1200" dirty="0" smtClean="0">
                <a:latin typeface="Courier New"/>
                <a:cs typeface="Courier New"/>
              </a:rPr>
              <a:t>    "score": 6</a:t>
            </a:r>
          </a:p>
          <a:p>
            <a:r>
              <a:rPr lang="en-US" sz="1200" dirty="0" smtClean="0">
                <a:latin typeface="Courier New"/>
                <a:cs typeface="Courier New"/>
              </a:rPr>
              <a:t>  },</a:t>
            </a:r>
          </a:p>
          <a:p>
            <a:r>
              <a:rPr lang="en-US" sz="1200" dirty="0" smtClean="0">
                <a:latin typeface="Courier New"/>
                <a:cs typeface="Courier New"/>
              </a:rPr>
              <a:t>  {</a:t>
            </a:r>
          </a:p>
          <a:p>
            <a:r>
              <a:rPr lang="en-US" sz="1200" dirty="0" smtClean="0">
                <a:latin typeface="Courier New"/>
                <a:cs typeface="Courier New"/>
              </a:rPr>
              <a:t>    "</a:t>
            </a:r>
            <a:r>
              <a:rPr lang="en-US" sz="1200" dirty="0" err="1" smtClean="0">
                <a:latin typeface="Courier New"/>
                <a:cs typeface="Courier New"/>
              </a:rPr>
              <a:t>nCube</a:t>
            </a:r>
            <a:r>
              <a:rPr lang="en-US" sz="1200" dirty="0" smtClean="0">
                <a:latin typeface="Courier New"/>
                <a:cs typeface="Courier New"/>
              </a:rPr>
              <a:t>": "N_AGCEN_ANIMALS",</a:t>
            </a:r>
          </a:p>
          <a:p>
            <a:r>
              <a:rPr lang="en-US" sz="1200" dirty="0" smtClean="0">
                <a:latin typeface="Courier New"/>
                <a:cs typeface="Courier New"/>
              </a:rPr>
              <a:t>    "</a:t>
            </a:r>
            <a:r>
              <a:rPr lang="en-US" sz="1200" dirty="0" err="1" smtClean="0">
                <a:latin typeface="Courier New"/>
                <a:cs typeface="Courier New"/>
              </a:rPr>
              <a:t>nLabel</a:t>
            </a:r>
            <a:r>
              <a:rPr lang="en-US" sz="1200" dirty="0" smtClean="0">
                <a:latin typeface="Courier New"/>
                <a:cs typeface="Courier New"/>
              </a:rPr>
              <a:t>": "Types of Animal reported by the Agricultural Census",</a:t>
            </a:r>
          </a:p>
          <a:p>
            <a:r>
              <a:rPr lang="en-US" sz="1200" dirty="0" smtClean="0">
                <a:latin typeface="Courier New"/>
                <a:cs typeface="Courier New"/>
              </a:rPr>
              <a:t>    "score": 6</a:t>
            </a:r>
          </a:p>
          <a:p>
            <a:r>
              <a:rPr lang="en-US" sz="1200" dirty="0" smtClean="0">
                <a:latin typeface="Courier New"/>
                <a:cs typeface="Courier New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5118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4"/>
    </mc:Choice>
    <mc:Fallback xmlns="">
      <p:transition xmlns:p14="http://schemas.microsoft.com/office/powerpoint/2010/main" spd="slow" advTm="224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</a:t>
            </a:r>
            <a:r>
              <a:rPr lang="en-US" sz="2800" b="1" dirty="0" smtClean="0">
                <a:solidFill>
                  <a:schemeClr val="tx2"/>
                </a:solidFill>
                <a:effectLst/>
                <a:latin typeface="+mj-lt"/>
                <a:ea typeface="+mj-ea"/>
                <a:cs typeface="ＭＳ Ｐゴシック" charset="0"/>
              </a:rPr>
              <a:t>eospatial Ontology of Places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Search API for places matching “Portsmouth” reveals places which are associated with units</a:t>
            </a:r>
          </a:p>
          <a:p>
            <a:pPr lvl="1"/>
            <a:r>
              <a:rPr lang="en-US" dirty="0" smtClean="0">
                <a:hlinkClick r:id="rId2"/>
              </a:rPr>
              <a:t>http</a:t>
            </a:r>
            <a:r>
              <a:rPr lang="en-US" dirty="0">
                <a:hlinkClick r:id="rId2"/>
              </a:rPr>
              <a:t>://data.pastplace.org/search?q=portsmouth&amp;format=n3</a:t>
            </a:r>
            <a:endParaRPr lang="en-US" dirty="0"/>
          </a:p>
          <a:p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69797-332A-4E47-998C-848234DBEE37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876300" y="2832100"/>
            <a:ext cx="75565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/>
              </a:rPr>
              <a:t>@prefix place: &lt;http://</a:t>
            </a:r>
            <a:r>
              <a:rPr lang="en-US" sz="1400" dirty="0" err="1">
                <a:latin typeface="Courier New"/>
              </a:rPr>
              <a:t>data.pastplace.org</a:t>
            </a:r>
            <a:r>
              <a:rPr lang="en-US" sz="1400" dirty="0">
                <a:latin typeface="Courier New"/>
              </a:rPr>
              <a:t>/place/&gt; </a:t>
            </a:r>
            <a:r>
              <a:rPr lang="en-US" sz="1400" dirty="0" smtClean="0">
                <a:latin typeface="Courier New"/>
              </a:rPr>
              <a:t>.</a:t>
            </a:r>
          </a:p>
          <a:p>
            <a:endParaRPr lang="en-US" sz="1400" dirty="0" smtClean="0">
              <a:latin typeface="Courier New"/>
            </a:endParaRPr>
          </a:p>
          <a:p>
            <a:r>
              <a:rPr lang="de-DE" sz="1400" dirty="0">
                <a:latin typeface="Courier New"/>
              </a:rPr>
              <a:t>place:72259  a            </a:t>
            </a:r>
            <a:r>
              <a:rPr lang="de-DE" sz="1400" dirty="0" err="1" smtClean="0">
                <a:latin typeface="Courier New"/>
              </a:rPr>
              <a:t>gbhgis</a:t>
            </a:r>
            <a:r>
              <a:rPr lang="de-DE" sz="1400" dirty="0" err="1">
                <a:latin typeface="Courier New"/>
              </a:rPr>
              <a:t>-ontogly:PastP_Place</a:t>
            </a:r>
            <a:r>
              <a:rPr lang="de-DE" sz="1400" dirty="0">
                <a:latin typeface="Courier New"/>
              </a:rPr>
              <a:t> ;</a:t>
            </a:r>
          </a:p>
          <a:p>
            <a:r>
              <a:rPr lang="de-DE" sz="1400" dirty="0">
                <a:latin typeface="Courier New"/>
              </a:rPr>
              <a:t>    </a:t>
            </a:r>
            <a:r>
              <a:rPr lang="de-DE" sz="1400" dirty="0" err="1" smtClean="0">
                <a:latin typeface="Courier New"/>
              </a:rPr>
              <a:t>rdfs:comment</a:t>
            </a:r>
            <a:r>
              <a:rPr lang="de-DE" sz="1400" dirty="0" smtClean="0">
                <a:latin typeface="Courier New"/>
              </a:rPr>
              <a:t>          "</a:t>
            </a:r>
            <a:r>
              <a:rPr lang="de-DE" sz="1400" dirty="0">
                <a:latin typeface="Courier New"/>
              </a:rPr>
              <a:t>Portsmouth.-- parl. </a:t>
            </a:r>
            <a:r>
              <a:rPr lang="de-DE" sz="1400" dirty="0" err="1">
                <a:latin typeface="Courier New"/>
              </a:rPr>
              <a:t>and</a:t>
            </a:r>
            <a:r>
              <a:rPr lang="de-DE" sz="1400" dirty="0">
                <a:latin typeface="Courier New"/>
              </a:rPr>
              <a:t> </a:t>
            </a:r>
            <a:r>
              <a:rPr lang="de-DE" sz="1400" dirty="0" err="1">
                <a:latin typeface="Courier New"/>
              </a:rPr>
              <a:t>mun</a:t>
            </a:r>
            <a:r>
              <a:rPr lang="de-DE" sz="1400" dirty="0">
                <a:latin typeface="Courier New"/>
              </a:rPr>
              <a:t>. </a:t>
            </a:r>
            <a:r>
              <a:rPr lang="de-DE" sz="1400" dirty="0" err="1">
                <a:latin typeface="Courier New"/>
              </a:rPr>
              <a:t>bor</a:t>
            </a:r>
            <a:r>
              <a:rPr lang="de-DE" sz="1400" dirty="0">
                <a:latin typeface="Courier New"/>
              </a:rPr>
              <a:t>., </a:t>
            </a:r>
            <a:r>
              <a:rPr lang="de-DE" sz="1400" dirty="0" err="1">
                <a:latin typeface="Courier New"/>
              </a:rPr>
              <a:t>naval</a:t>
            </a:r>
            <a:r>
              <a:rPr lang="de-DE" sz="1400" dirty="0">
                <a:latin typeface="Courier New"/>
              </a:rPr>
              <a:t> </a:t>
            </a:r>
            <a:r>
              <a:rPr lang="de-DE" sz="1400" dirty="0" err="1">
                <a:latin typeface="Courier New"/>
              </a:rPr>
              <a:t>station</a:t>
            </a:r>
            <a:r>
              <a:rPr lang="de-DE" sz="1400" dirty="0">
                <a:latin typeface="Courier New"/>
              </a:rPr>
              <a:t>, </a:t>
            </a:r>
            <a:r>
              <a:rPr lang="de-DE" sz="1400" dirty="0" err="1" smtClean="0">
                <a:latin typeface="Courier New"/>
              </a:rPr>
              <a:t>seaport</a:t>
            </a:r>
            <a:r>
              <a:rPr lang="de-DE" sz="1400" dirty="0" smtClean="0">
                <a:latin typeface="Courier New"/>
              </a:rPr>
              <a:t>...</a:t>
            </a:r>
            <a:r>
              <a:rPr lang="de-DE" sz="1400" dirty="0">
                <a:latin typeface="Courier New"/>
              </a:rPr>
              <a:t>"^^</a:t>
            </a:r>
            <a:r>
              <a:rPr lang="de-DE" sz="1400" dirty="0" err="1">
                <a:latin typeface="Courier New"/>
              </a:rPr>
              <a:t>xsd:string</a:t>
            </a:r>
            <a:r>
              <a:rPr lang="de-DE" sz="1400" dirty="0">
                <a:latin typeface="Courier New"/>
              </a:rPr>
              <a:t> ;</a:t>
            </a:r>
          </a:p>
          <a:p>
            <a:r>
              <a:rPr lang="de-DE" sz="1400" dirty="0">
                <a:latin typeface="Courier New"/>
              </a:rPr>
              <a:t>    </a:t>
            </a:r>
            <a:r>
              <a:rPr lang="de-DE" sz="1400" dirty="0" err="1" smtClean="0">
                <a:latin typeface="Courier New"/>
              </a:rPr>
              <a:t>rdfs:label</a:t>
            </a:r>
            <a:r>
              <a:rPr lang="de-DE" sz="1400" dirty="0" smtClean="0">
                <a:latin typeface="Courier New"/>
              </a:rPr>
              <a:t>            "</a:t>
            </a:r>
            <a:r>
              <a:rPr lang="de-DE" sz="1400" dirty="0">
                <a:latin typeface="Courier New"/>
              </a:rPr>
              <a:t>PORTSMOUTH"^^</a:t>
            </a:r>
            <a:r>
              <a:rPr lang="de-DE" sz="1400" dirty="0" err="1">
                <a:latin typeface="Courier New"/>
              </a:rPr>
              <a:t>xsd:string</a:t>
            </a:r>
            <a:r>
              <a:rPr lang="de-DE" sz="1400" dirty="0">
                <a:latin typeface="Courier New"/>
              </a:rPr>
              <a:t> ;</a:t>
            </a:r>
          </a:p>
          <a:p>
            <a:r>
              <a:rPr lang="de-DE" sz="1400" dirty="0">
                <a:latin typeface="Courier New"/>
              </a:rPr>
              <a:t>  </a:t>
            </a:r>
            <a:r>
              <a:rPr lang="de-DE" sz="1400" dirty="0" smtClean="0">
                <a:latin typeface="Courier New"/>
              </a:rPr>
              <a:t>  </a:t>
            </a:r>
            <a:r>
              <a:rPr lang="de-DE" sz="1400" dirty="0" err="1" smtClean="0">
                <a:latin typeface="Courier New"/>
              </a:rPr>
              <a:t>rdfs:seeAlso</a:t>
            </a:r>
            <a:r>
              <a:rPr lang="de-DE" sz="1400" dirty="0" smtClean="0">
                <a:latin typeface="Courier New"/>
              </a:rPr>
              <a:t> 		</a:t>
            </a:r>
            <a:r>
              <a:rPr lang="de-DE" sz="1400" dirty="0" smtClean="0">
                <a:latin typeface="Courier New"/>
                <a:hlinkClick r:id="rId3"/>
              </a:rPr>
              <a:t>http</a:t>
            </a:r>
            <a:r>
              <a:rPr lang="de-DE" sz="1400" dirty="0">
                <a:latin typeface="Courier New"/>
                <a:hlinkClick r:id="rId3"/>
              </a:rPr>
              <a:t>://www.wikidata.org/entity/</a:t>
            </a:r>
            <a:r>
              <a:rPr lang="de-DE" sz="1400" dirty="0" smtClean="0">
                <a:latin typeface="Courier New"/>
                <a:hlinkClick r:id="rId3"/>
              </a:rPr>
              <a:t>Q72259</a:t>
            </a:r>
            <a:r>
              <a:rPr lang="de-DE" sz="1400" dirty="0" smtClean="0">
                <a:latin typeface="Courier New"/>
              </a:rPr>
              <a:t> ... </a:t>
            </a:r>
          </a:p>
          <a:p>
            <a:r>
              <a:rPr lang="en-US" sz="1400" dirty="0" err="1" smtClean="0">
                <a:latin typeface="Courier New"/>
              </a:rPr>
              <a:t>gbhgis</a:t>
            </a:r>
            <a:r>
              <a:rPr lang="en-US" sz="1400" dirty="0" err="1">
                <a:latin typeface="Courier New"/>
              </a:rPr>
              <a:t>-ontogly:hasNearbyPlace</a:t>
            </a:r>
            <a:r>
              <a:rPr lang="en-US" sz="1400" dirty="0">
                <a:latin typeface="Courier New"/>
              </a:rPr>
              <a:t>  place:776556 , place:</a:t>
            </a:r>
            <a:r>
              <a:rPr lang="en-US" sz="1400" dirty="0" smtClean="0">
                <a:latin typeface="Courier New"/>
              </a:rPr>
              <a:t>985594, </a:t>
            </a:r>
            <a:r>
              <a:rPr lang="is-IS" sz="1400" dirty="0" smtClean="0">
                <a:latin typeface="Courier New"/>
              </a:rPr>
              <a:t>…</a:t>
            </a:r>
            <a:r>
              <a:rPr lang="en-US" sz="1400" dirty="0" smtClean="0">
                <a:latin typeface="Courier New"/>
              </a:rPr>
              <a:t>, ;</a:t>
            </a:r>
            <a:endParaRPr lang="en-US" sz="1400" dirty="0">
              <a:latin typeface="Courier New"/>
            </a:endParaRPr>
          </a:p>
          <a:p>
            <a:r>
              <a:rPr lang="it-IT" sz="1400" dirty="0" err="1" smtClean="0">
                <a:latin typeface="Courier New"/>
              </a:rPr>
              <a:t>gbhgis</a:t>
            </a:r>
            <a:r>
              <a:rPr lang="it-IT" sz="1400" dirty="0" err="1">
                <a:latin typeface="Courier New"/>
              </a:rPr>
              <a:t>-ontogly:hasUnit</a:t>
            </a:r>
            <a:r>
              <a:rPr lang="it-IT" sz="1400" dirty="0">
                <a:latin typeface="Courier New"/>
              </a:rPr>
              <a:t>    </a:t>
            </a:r>
            <a:r>
              <a:rPr lang="it-IT" sz="1400" dirty="0" smtClean="0">
                <a:latin typeface="Courier New"/>
              </a:rPr>
              <a:t>unit</a:t>
            </a:r>
            <a:r>
              <a:rPr lang="it-IT" sz="1400" dirty="0">
                <a:latin typeface="Courier New"/>
              </a:rPr>
              <a:t>:12833027 , unit:10214877 , unit:10187084 </a:t>
            </a:r>
            <a:r>
              <a:rPr lang="is-IS" sz="1400" dirty="0" smtClean="0">
                <a:latin typeface="Courier New"/>
              </a:rPr>
              <a:t>…</a:t>
            </a:r>
            <a:r>
              <a:rPr lang="it-IT" sz="1400" dirty="0" smtClean="0">
                <a:latin typeface="Courier New"/>
              </a:rPr>
              <a:t>&gt; ;  </a:t>
            </a:r>
          </a:p>
          <a:p>
            <a:r>
              <a:rPr lang="it-IT" sz="1400" dirty="0">
                <a:latin typeface="Courier New"/>
              </a:rPr>
              <a:t> </a:t>
            </a:r>
            <a:r>
              <a:rPr lang="it-IT" sz="1400" dirty="0" smtClean="0">
                <a:latin typeface="Courier New"/>
              </a:rPr>
              <a:t>   </a:t>
            </a:r>
            <a:r>
              <a:rPr lang="de-DE" sz="1400" dirty="0" err="1" smtClean="0">
                <a:latin typeface="Courier New"/>
              </a:rPr>
              <a:t>geo:lat</a:t>
            </a:r>
            <a:r>
              <a:rPr lang="de-DE" sz="1400" dirty="0" smtClean="0">
                <a:latin typeface="Courier New"/>
              </a:rPr>
              <a:t>             	"</a:t>
            </a:r>
            <a:r>
              <a:rPr lang="de-DE" sz="1400" dirty="0">
                <a:latin typeface="Courier New"/>
              </a:rPr>
              <a:t>50.795277777778"^^</a:t>
            </a:r>
            <a:r>
              <a:rPr lang="de-DE" sz="1400" dirty="0" err="1">
                <a:latin typeface="Courier New"/>
              </a:rPr>
              <a:t>xsd:double</a:t>
            </a:r>
            <a:r>
              <a:rPr lang="de-DE" sz="1400" dirty="0">
                <a:latin typeface="Courier New"/>
              </a:rPr>
              <a:t> ;</a:t>
            </a:r>
          </a:p>
          <a:p>
            <a:r>
              <a:rPr lang="de-DE" sz="1400" dirty="0" smtClean="0">
                <a:latin typeface="Courier New"/>
              </a:rPr>
              <a:t>    </a:t>
            </a:r>
            <a:r>
              <a:rPr lang="de-DE" sz="1400" dirty="0" err="1" smtClean="0">
                <a:latin typeface="Courier New"/>
              </a:rPr>
              <a:t>geo:lon</a:t>
            </a:r>
            <a:r>
              <a:rPr lang="de-DE" sz="1400" dirty="0" smtClean="0">
                <a:latin typeface="Courier New"/>
              </a:rPr>
              <a:t>             	"</a:t>
            </a:r>
            <a:r>
              <a:rPr lang="de-DE" sz="1400" dirty="0">
                <a:latin typeface="Courier New"/>
              </a:rPr>
              <a:t>-1.0888888888889"^^</a:t>
            </a:r>
            <a:r>
              <a:rPr lang="de-DE" sz="1400" dirty="0" err="1">
                <a:latin typeface="Courier New"/>
              </a:rPr>
              <a:t>xsd:double</a:t>
            </a:r>
            <a:r>
              <a:rPr lang="de-DE" sz="1400" dirty="0">
                <a:latin typeface="Courier New"/>
              </a:rPr>
              <a:t> ;</a:t>
            </a:r>
          </a:p>
          <a:p>
            <a:r>
              <a:rPr lang="de-DE" sz="1400" dirty="0">
                <a:latin typeface="Courier New"/>
              </a:rPr>
              <a:t> </a:t>
            </a:r>
            <a:r>
              <a:rPr lang="de-DE" sz="1400" dirty="0" smtClean="0">
                <a:latin typeface="Courier New"/>
              </a:rPr>
              <a:t>   </a:t>
            </a:r>
            <a:r>
              <a:rPr lang="de-DE" sz="1400" dirty="0" err="1" smtClean="0">
                <a:latin typeface="Courier New"/>
              </a:rPr>
              <a:t>owl:sameAs</a:t>
            </a:r>
            <a:r>
              <a:rPr lang="de-DE" sz="1400" dirty="0" smtClean="0">
                <a:latin typeface="Courier New"/>
              </a:rPr>
              <a:t>            &lt;</a:t>
            </a:r>
            <a:r>
              <a:rPr lang="de-DE" sz="1400" dirty="0">
                <a:latin typeface="Courier New"/>
              </a:rPr>
              <a:t>http://</a:t>
            </a:r>
            <a:r>
              <a:rPr lang="de-DE" sz="1400" dirty="0" err="1">
                <a:latin typeface="Courier New"/>
              </a:rPr>
              <a:t>dbpedia.org</a:t>
            </a:r>
            <a:r>
              <a:rPr lang="de-DE" sz="1400" dirty="0">
                <a:latin typeface="Courier New"/>
              </a:rPr>
              <a:t>/</a:t>
            </a:r>
            <a:r>
              <a:rPr lang="de-DE" sz="1400" dirty="0" err="1">
                <a:latin typeface="Courier New"/>
              </a:rPr>
              <a:t>resource</a:t>
            </a:r>
            <a:r>
              <a:rPr lang="de-DE" sz="1400" dirty="0">
                <a:latin typeface="Courier New"/>
              </a:rPr>
              <a:t>/Portsmouth&gt; , &lt;http://</a:t>
            </a:r>
            <a:r>
              <a:rPr lang="de-DE" sz="1400" dirty="0" err="1">
                <a:latin typeface="Courier New"/>
              </a:rPr>
              <a:t>sws.geonames.org</a:t>
            </a:r>
            <a:r>
              <a:rPr lang="de-DE" sz="1400" dirty="0">
                <a:latin typeface="Courier New"/>
              </a:rPr>
              <a:t>//</a:t>
            </a:r>
            <a:r>
              <a:rPr lang="de-DE" sz="1400" dirty="0" err="1">
                <a:latin typeface="Courier New"/>
              </a:rPr>
              <a:t>about.rdf</a:t>
            </a:r>
            <a:r>
              <a:rPr lang="de-DE" sz="1400" dirty="0">
                <a:latin typeface="Courier New"/>
              </a:rPr>
              <a:t>&gt; .</a:t>
            </a:r>
          </a:p>
          <a:p>
            <a:r>
              <a:rPr lang="de-DE" sz="1600" dirty="0" smtClean="0"/>
              <a:t>Update </a:t>
            </a:r>
            <a:r>
              <a:rPr lang="de-DE" sz="1600" dirty="0" err="1" smtClean="0"/>
              <a:t>to</a:t>
            </a:r>
            <a:r>
              <a:rPr lang="de-DE" sz="1600" dirty="0" smtClean="0"/>
              <a:t> </a:t>
            </a:r>
            <a:r>
              <a:rPr lang="de-DE" sz="1600" dirty="0" err="1" smtClean="0"/>
              <a:t>latest</a:t>
            </a:r>
            <a:r>
              <a:rPr lang="de-DE" sz="1600" dirty="0" smtClean="0"/>
              <a:t> </a:t>
            </a:r>
            <a:r>
              <a:rPr lang="de-DE" sz="1600" dirty="0" err="1" smtClean="0"/>
              <a:t>Pelagios</a:t>
            </a:r>
            <a:r>
              <a:rPr lang="de-DE" sz="1600" dirty="0" smtClean="0"/>
              <a:t> https</a:t>
            </a:r>
            <a:r>
              <a:rPr lang="de-DE" sz="1600" dirty="0"/>
              <a:t>://</a:t>
            </a:r>
            <a:r>
              <a:rPr lang="de-DE" sz="1600" dirty="0" err="1"/>
              <a:t>github.com</a:t>
            </a:r>
            <a:r>
              <a:rPr lang="de-DE" sz="1600" dirty="0"/>
              <a:t>/</a:t>
            </a:r>
            <a:r>
              <a:rPr lang="de-DE" sz="1600" dirty="0" err="1"/>
              <a:t>pelagios</a:t>
            </a:r>
            <a:r>
              <a:rPr lang="de-DE" sz="1600" dirty="0"/>
              <a:t>/</a:t>
            </a:r>
            <a:r>
              <a:rPr lang="de-DE" sz="1600" dirty="0" err="1"/>
              <a:t>pelagios-cookbook</a:t>
            </a:r>
            <a:r>
              <a:rPr lang="de-DE" sz="1600" dirty="0"/>
              <a:t>/</a:t>
            </a:r>
            <a:r>
              <a:rPr lang="de-DE" sz="1600" dirty="0" err="1"/>
              <a:t>wiki</a:t>
            </a:r>
            <a:r>
              <a:rPr lang="de-DE" sz="1600" dirty="0"/>
              <a:t>/</a:t>
            </a:r>
            <a:r>
              <a:rPr lang="de-DE" sz="1600" dirty="0" err="1"/>
              <a:t>Pelagios</a:t>
            </a:r>
            <a:r>
              <a:rPr lang="de-DE" sz="1600" dirty="0"/>
              <a:t>-</a:t>
            </a:r>
            <a:r>
              <a:rPr lang="de-DE" sz="1600" dirty="0" err="1"/>
              <a:t>Gazetteer</a:t>
            </a:r>
            <a:r>
              <a:rPr lang="de-DE" sz="1600" dirty="0"/>
              <a:t>-Interconnection-Format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275506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7"/>
    </mc:Choice>
    <mc:Fallback xmlns="">
      <p:transition xmlns:p14="http://schemas.microsoft.com/office/powerpoint/2010/main" spd="slow" advTm="1167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</a:t>
            </a:r>
            <a:r>
              <a:rPr lang="en-US" sz="2800" b="1" dirty="0" smtClean="0">
                <a:solidFill>
                  <a:schemeClr val="tx2"/>
                </a:solidFill>
                <a:effectLst/>
                <a:latin typeface="+mj-lt"/>
                <a:ea typeface="+mj-ea"/>
                <a:cs typeface="ＭＳ Ｐゴシック" charset="0"/>
              </a:rPr>
              <a:t>eospatial Ontology of reporting units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Or you can search for units directly by name</a:t>
            </a:r>
          </a:p>
          <a:p>
            <a:pPr marL="741363" lvl="2" indent="-341313"/>
            <a:r>
              <a:rPr lang="en-US" dirty="0">
                <a:hlinkClick r:id="rId2"/>
              </a:rPr>
              <a:t>http://data.pastplace.org/search?q=portsmouth&amp;format=</a:t>
            </a:r>
            <a:r>
              <a:rPr lang="en-US" dirty="0" smtClean="0">
                <a:hlinkClick r:id="rId2"/>
              </a:rPr>
              <a:t>n3</a:t>
            </a:r>
            <a:r>
              <a:rPr lang="en-US" dirty="0" smtClean="0"/>
              <a:t>&amp;type=unit</a:t>
            </a:r>
            <a:endParaRPr lang="en-US" dirty="0"/>
          </a:p>
          <a:p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69797-332A-4E47-998C-848234DBEE37}" type="slidenum">
              <a:rPr lang="en-GB" smtClean="0"/>
              <a:pPr>
                <a:defRPr/>
              </a:pPr>
              <a:t>17</a:t>
            </a:fld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698500" y="2514600"/>
            <a:ext cx="75565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Courier New"/>
              </a:rPr>
              <a:t>@prefix unit:  &lt;http://</a:t>
            </a:r>
            <a:r>
              <a:rPr lang="en-US" sz="1400" dirty="0" err="1" smtClean="0">
                <a:latin typeface="Courier New"/>
              </a:rPr>
              <a:t>data.pastplace.org</a:t>
            </a:r>
            <a:r>
              <a:rPr lang="en-US" sz="1400" dirty="0" smtClean="0">
                <a:latin typeface="Courier New"/>
              </a:rPr>
              <a:t>/unit/&gt; .</a:t>
            </a:r>
            <a:endParaRPr lang="de-DE" sz="1400" dirty="0" smtClean="0">
              <a:latin typeface="Courier New"/>
            </a:endParaRPr>
          </a:p>
          <a:p>
            <a:endParaRPr lang="de-DE" sz="1400" dirty="0" smtClean="0">
              <a:latin typeface="Courier New"/>
            </a:endParaRPr>
          </a:p>
          <a:p>
            <a:r>
              <a:rPr lang="de-DE" sz="1400" dirty="0" smtClean="0">
                <a:latin typeface="Courier New"/>
              </a:rPr>
              <a:t>unit:10200246  a			</a:t>
            </a:r>
            <a:r>
              <a:rPr lang="de-DE" sz="1400" dirty="0" err="1" smtClean="0">
                <a:latin typeface="Courier New"/>
              </a:rPr>
              <a:t>gbhgis-ontogly:unit</a:t>
            </a:r>
            <a:r>
              <a:rPr lang="de-DE" sz="1400" dirty="0" smtClean="0">
                <a:latin typeface="Courier New"/>
              </a:rPr>
              <a:t> ;</a:t>
            </a:r>
          </a:p>
          <a:p>
            <a:r>
              <a:rPr lang="de-DE" sz="1400" dirty="0" smtClean="0">
                <a:latin typeface="Courier New"/>
              </a:rPr>
              <a:t>    </a:t>
            </a:r>
            <a:r>
              <a:rPr lang="de-DE" sz="1400" dirty="0" err="1" smtClean="0">
                <a:latin typeface="Courier New"/>
              </a:rPr>
              <a:t>rdfs:label</a:t>
            </a:r>
            <a:r>
              <a:rPr lang="de-DE" sz="1400" dirty="0" smtClean="0">
                <a:latin typeface="Courier New"/>
              </a:rPr>
              <a:t>      		"PORTSMOUTH"^^</a:t>
            </a:r>
            <a:r>
              <a:rPr lang="de-DE" sz="1400" dirty="0" err="1" smtClean="0">
                <a:latin typeface="Courier New"/>
              </a:rPr>
              <a:t>xsd:string</a:t>
            </a:r>
            <a:r>
              <a:rPr lang="de-DE" sz="1400" dirty="0" smtClean="0">
                <a:latin typeface="Courier New"/>
              </a:rPr>
              <a:t> ;</a:t>
            </a:r>
          </a:p>
          <a:p>
            <a:r>
              <a:rPr lang="de-DE" sz="1400" dirty="0" smtClean="0">
                <a:latin typeface="Courier New"/>
              </a:rPr>
              <a:t>    </a:t>
            </a:r>
            <a:r>
              <a:rPr lang="de-DE" sz="1400" dirty="0" err="1" smtClean="0">
                <a:latin typeface="Courier New"/>
              </a:rPr>
              <a:t>gbhgis-ontogly:hasUnitStatus</a:t>
            </a:r>
            <a:r>
              <a:rPr lang="de-DE" sz="1400" dirty="0" smtClean="0">
                <a:latin typeface="Courier New"/>
              </a:rPr>
              <a:t>  	"AP/CP"^^</a:t>
            </a:r>
            <a:r>
              <a:rPr lang="de-DE" sz="1400" dirty="0" err="1" smtClean="0">
                <a:latin typeface="Courier New"/>
              </a:rPr>
              <a:t>xsd:string</a:t>
            </a:r>
            <a:r>
              <a:rPr lang="de-DE" sz="1400" dirty="0" smtClean="0">
                <a:latin typeface="Courier New"/>
              </a:rPr>
              <a:t> ;</a:t>
            </a:r>
          </a:p>
          <a:p>
            <a:r>
              <a:rPr lang="de-DE" sz="1400" dirty="0" smtClean="0">
                <a:latin typeface="Courier New"/>
              </a:rPr>
              <a:t>    </a:t>
            </a:r>
            <a:r>
              <a:rPr lang="de-DE" sz="1400" dirty="0" err="1" smtClean="0">
                <a:latin typeface="Courier New"/>
              </a:rPr>
              <a:t>gbhgis-ontogly:isPartOf</a:t>
            </a:r>
            <a:r>
              <a:rPr lang="de-DE" sz="1400" dirty="0" smtClean="0">
                <a:latin typeface="Courier New"/>
              </a:rPr>
              <a:t>       	unit:10543411 , unit:10187084 , </a:t>
            </a:r>
            <a:r>
              <a:rPr lang="de-DE" sz="1400" dirty="0" err="1" smtClean="0">
                <a:latin typeface="Courier New"/>
              </a:rPr>
              <a:t>unit</a:t>
            </a:r>
            <a:r>
              <a:rPr lang="de-DE" sz="1400" dirty="0" smtClean="0">
                <a:latin typeface="Courier New"/>
              </a:rPr>
              <a:t>: ... .</a:t>
            </a:r>
          </a:p>
          <a:p>
            <a:r>
              <a:rPr lang="de-DE" sz="1400" dirty="0" err="1" smtClean="0">
                <a:latin typeface="Courier New"/>
              </a:rPr>
              <a:t>gbhgis-ontogly:hasName</a:t>
            </a:r>
            <a:r>
              <a:rPr lang="de-DE" sz="1400" dirty="0" smtClean="0">
                <a:latin typeface="Courier New"/>
              </a:rPr>
              <a:t> </a:t>
            </a:r>
          </a:p>
          <a:p>
            <a:r>
              <a:rPr lang="de-DE" sz="1400" dirty="0" smtClean="0">
                <a:latin typeface="Courier New"/>
              </a:rPr>
              <a:t>    a             		</a:t>
            </a:r>
            <a:r>
              <a:rPr lang="de-DE" sz="1400" dirty="0" err="1" smtClean="0">
                <a:latin typeface="Courier New"/>
              </a:rPr>
              <a:t>owl:ObjectProperty</a:t>
            </a:r>
            <a:r>
              <a:rPr lang="de-DE" sz="1400" dirty="0" smtClean="0">
                <a:latin typeface="Courier New"/>
              </a:rPr>
              <a:t> ;</a:t>
            </a:r>
          </a:p>
          <a:p>
            <a:r>
              <a:rPr lang="de-DE" sz="1400" dirty="0" smtClean="0">
                <a:latin typeface="Courier New"/>
              </a:rPr>
              <a:t>    </a:t>
            </a:r>
            <a:r>
              <a:rPr lang="de-DE" sz="1400" dirty="0" err="1" smtClean="0">
                <a:latin typeface="Courier New"/>
              </a:rPr>
              <a:t>rdfs:comment</a:t>
            </a:r>
            <a:r>
              <a:rPr lang="de-DE" sz="1400" dirty="0" smtClean="0">
                <a:latin typeface="Courier New"/>
              </a:rPr>
              <a:t>  "A </a:t>
            </a:r>
            <a:r>
              <a:rPr lang="de-DE" sz="1400" dirty="0" err="1" smtClean="0">
                <a:latin typeface="Courier New"/>
              </a:rPr>
              <a:t>name</a:t>
            </a:r>
            <a:r>
              <a:rPr lang="de-DE" sz="1400" dirty="0" smtClean="0">
                <a:latin typeface="Courier New"/>
              </a:rPr>
              <a:t> </a:t>
            </a:r>
            <a:r>
              <a:rPr lang="de-DE" sz="1400" dirty="0" err="1" smtClean="0">
                <a:latin typeface="Courier New"/>
              </a:rPr>
              <a:t>for</a:t>
            </a:r>
            <a:r>
              <a:rPr lang="de-DE" sz="1400" dirty="0" smtClean="0">
                <a:latin typeface="Courier New"/>
              </a:rPr>
              <a:t> </a:t>
            </a:r>
            <a:r>
              <a:rPr lang="de-DE" sz="1400" dirty="0" err="1" smtClean="0">
                <a:latin typeface="Courier New"/>
              </a:rPr>
              <a:t>the</a:t>
            </a:r>
            <a:r>
              <a:rPr lang="de-DE" sz="1400" dirty="0" smtClean="0">
                <a:latin typeface="Courier New"/>
              </a:rPr>
              <a:t> </a:t>
            </a:r>
            <a:r>
              <a:rPr lang="de-DE" sz="1400" dirty="0" err="1" smtClean="0">
                <a:latin typeface="Courier New"/>
              </a:rPr>
              <a:t>queried</a:t>
            </a:r>
            <a:r>
              <a:rPr lang="de-DE" sz="1400" dirty="0" smtClean="0">
                <a:latin typeface="Courier New"/>
              </a:rPr>
              <a:t> </a:t>
            </a:r>
            <a:r>
              <a:rPr lang="de-DE" sz="1400" dirty="0" err="1" smtClean="0">
                <a:latin typeface="Courier New"/>
              </a:rPr>
              <a:t>place</a:t>
            </a:r>
            <a:r>
              <a:rPr lang="de-DE" sz="1400" dirty="0" smtClean="0">
                <a:latin typeface="Courier New"/>
              </a:rPr>
              <a:t>."^^</a:t>
            </a:r>
            <a:r>
              <a:rPr lang="de-DE" sz="1400" dirty="0" err="1" smtClean="0">
                <a:latin typeface="Courier New"/>
              </a:rPr>
              <a:t>xsd:string</a:t>
            </a:r>
            <a:r>
              <a:rPr lang="de-DE" sz="1400" dirty="0" smtClean="0">
                <a:latin typeface="Courier New"/>
              </a:rPr>
              <a:t> ;</a:t>
            </a:r>
          </a:p>
          <a:p>
            <a:r>
              <a:rPr lang="de-DE" sz="1400" dirty="0" smtClean="0">
                <a:latin typeface="Courier New"/>
              </a:rPr>
              <a:t>    </a:t>
            </a:r>
            <a:r>
              <a:rPr lang="de-DE" sz="1400" dirty="0" err="1" smtClean="0">
                <a:latin typeface="Courier New"/>
              </a:rPr>
              <a:t>rdfs:domain</a:t>
            </a:r>
            <a:r>
              <a:rPr lang="de-DE" sz="1400" dirty="0" smtClean="0">
                <a:latin typeface="Courier New"/>
              </a:rPr>
              <a:t>   		</a:t>
            </a:r>
            <a:r>
              <a:rPr lang="de-DE" sz="1400" dirty="0" err="1" smtClean="0">
                <a:latin typeface="Courier New"/>
              </a:rPr>
              <a:t>gbhgis-ontogly:PastP_Place</a:t>
            </a:r>
            <a:r>
              <a:rPr lang="de-DE" sz="1400" dirty="0" smtClean="0">
                <a:latin typeface="Courier New"/>
              </a:rPr>
              <a:t> ;</a:t>
            </a:r>
          </a:p>
          <a:p>
            <a:r>
              <a:rPr lang="de-DE" sz="1400" dirty="0" smtClean="0">
                <a:latin typeface="Courier New"/>
              </a:rPr>
              <a:t>    </a:t>
            </a:r>
            <a:r>
              <a:rPr lang="de-DE" sz="1400" dirty="0" err="1" smtClean="0">
                <a:latin typeface="Courier New"/>
              </a:rPr>
              <a:t>rdfs:label</a:t>
            </a:r>
            <a:r>
              <a:rPr lang="de-DE" sz="1400" dirty="0" smtClean="0">
                <a:latin typeface="Courier New"/>
              </a:rPr>
              <a:t>    		"</a:t>
            </a:r>
            <a:r>
              <a:rPr lang="de-DE" sz="1400" dirty="0" err="1" smtClean="0">
                <a:latin typeface="Courier New"/>
              </a:rPr>
              <a:t>has</a:t>
            </a:r>
            <a:r>
              <a:rPr lang="de-DE" sz="1400" dirty="0" smtClean="0">
                <a:latin typeface="Courier New"/>
              </a:rPr>
              <a:t> </a:t>
            </a:r>
            <a:r>
              <a:rPr lang="de-DE" sz="1400" dirty="0" err="1" smtClean="0">
                <a:latin typeface="Courier New"/>
              </a:rPr>
              <a:t>name</a:t>
            </a:r>
            <a:r>
              <a:rPr lang="de-DE" sz="1400" dirty="0" smtClean="0">
                <a:latin typeface="Courier New"/>
              </a:rPr>
              <a:t>"^^</a:t>
            </a:r>
            <a:r>
              <a:rPr lang="de-DE" sz="1400" dirty="0" err="1" smtClean="0">
                <a:latin typeface="Courier New"/>
              </a:rPr>
              <a:t>xsd:string</a:t>
            </a:r>
            <a:r>
              <a:rPr lang="de-DE" sz="1400" dirty="0" smtClean="0">
                <a:latin typeface="Courier New"/>
              </a:rPr>
              <a:t> ;</a:t>
            </a:r>
          </a:p>
          <a:p>
            <a:endParaRPr lang="de-DE" sz="1400" dirty="0" smtClean="0">
              <a:latin typeface="Courier New"/>
            </a:endParaRPr>
          </a:p>
          <a:p>
            <a:r>
              <a:rPr lang="de-DE" sz="1400" dirty="0" err="1" smtClean="0">
                <a:latin typeface="Courier New"/>
              </a:rPr>
              <a:t>gbhgis-ontogly:hasUnitStatus</a:t>
            </a:r>
            <a:endParaRPr lang="de-DE" sz="1400" dirty="0" smtClean="0">
              <a:latin typeface="Courier New"/>
            </a:endParaRPr>
          </a:p>
          <a:p>
            <a:r>
              <a:rPr lang="de-DE" sz="1400" dirty="0" smtClean="0">
                <a:latin typeface="Courier New"/>
              </a:rPr>
              <a:t>        a             		</a:t>
            </a:r>
            <a:r>
              <a:rPr lang="de-DE" sz="1400" dirty="0" err="1" smtClean="0">
                <a:latin typeface="Courier New"/>
              </a:rPr>
              <a:t>owl:ObjectProperty</a:t>
            </a:r>
            <a:r>
              <a:rPr lang="de-DE" sz="1400" dirty="0" smtClean="0">
                <a:latin typeface="Courier New"/>
              </a:rPr>
              <a:t> ;</a:t>
            </a:r>
          </a:p>
          <a:p>
            <a:r>
              <a:rPr lang="de-DE" sz="1400" dirty="0" smtClean="0">
                <a:latin typeface="Courier New"/>
              </a:rPr>
              <a:t>        </a:t>
            </a:r>
            <a:r>
              <a:rPr lang="de-DE" sz="1400" dirty="0" err="1" smtClean="0">
                <a:latin typeface="Courier New"/>
              </a:rPr>
              <a:t>rdfs:comment</a:t>
            </a:r>
            <a:r>
              <a:rPr lang="de-DE" sz="1400" dirty="0" smtClean="0">
                <a:latin typeface="Courier New"/>
              </a:rPr>
              <a:t>  "The </a:t>
            </a:r>
            <a:r>
              <a:rPr lang="de-DE" sz="1400" dirty="0" err="1" smtClean="0">
                <a:latin typeface="Courier New"/>
              </a:rPr>
              <a:t>status</a:t>
            </a:r>
            <a:r>
              <a:rPr lang="de-DE" sz="1400" dirty="0" smtClean="0">
                <a:latin typeface="Courier New"/>
              </a:rPr>
              <a:t> </a:t>
            </a:r>
            <a:r>
              <a:rPr lang="de-DE" sz="1400" dirty="0" err="1" smtClean="0">
                <a:latin typeface="Courier New"/>
              </a:rPr>
              <a:t>the</a:t>
            </a:r>
            <a:r>
              <a:rPr lang="de-DE" sz="1400" dirty="0" smtClean="0">
                <a:latin typeface="Courier New"/>
              </a:rPr>
              <a:t> </a:t>
            </a:r>
            <a:r>
              <a:rPr lang="de-DE" sz="1400" dirty="0" err="1" smtClean="0">
                <a:latin typeface="Courier New"/>
              </a:rPr>
              <a:t>assc</a:t>
            </a:r>
            <a:r>
              <a:rPr lang="de-DE" sz="1400" dirty="0" smtClean="0">
                <a:latin typeface="Courier New"/>
              </a:rPr>
              <a:t>. </a:t>
            </a:r>
            <a:r>
              <a:rPr lang="de-DE" sz="1400" dirty="0" err="1" smtClean="0">
                <a:latin typeface="Courier New"/>
              </a:rPr>
              <a:t>unit</a:t>
            </a:r>
            <a:r>
              <a:rPr lang="de-DE" sz="1400" dirty="0" smtClean="0">
                <a:latin typeface="Courier New"/>
              </a:rPr>
              <a:t> </a:t>
            </a:r>
            <a:r>
              <a:rPr lang="de-DE" sz="1400" dirty="0" err="1" smtClean="0">
                <a:latin typeface="Courier New"/>
              </a:rPr>
              <a:t>has</a:t>
            </a:r>
            <a:r>
              <a:rPr lang="de-DE" sz="1400" dirty="0" smtClean="0">
                <a:latin typeface="Courier New"/>
              </a:rPr>
              <a:t> in </a:t>
            </a:r>
            <a:r>
              <a:rPr lang="de-DE" sz="1400" dirty="0" err="1" smtClean="0">
                <a:latin typeface="Courier New"/>
              </a:rPr>
              <a:t>the</a:t>
            </a:r>
            <a:r>
              <a:rPr lang="de-DE" sz="1400" dirty="0" smtClean="0">
                <a:latin typeface="Courier New"/>
              </a:rPr>
              <a:t> </a:t>
            </a:r>
            <a:r>
              <a:rPr lang="de-DE" sz="1400" dirty="0" err="1" smtClean="0">
                <a:latin typeface="Courier New"/>
              </a:rPr>
              <a:t>Past</a:t>
            </a:r>
            <a:r>
              <a:rPr lang="de-DE" sz="1400" dirty="0" smtClean="0">
                <a:latin typeface="Courier New"/>
              </a:rPr>
              <a:t> Place </a:t>
            </a:r>
            <a:r>
              <a:rPr lang="de-DE" sz="1400" dirty="0" err="1" smtClean="0">
                <a:latin typeface="Courier New"/>
              </a:rPr>
              <a:t>gazetteer</a:t>
            </a:r>
            <a:r>
              <a:rPr lang="de-DE" sz="1400" dirty="0" smtClean="0">
                <a:latin typeface="Courier New"/>
              </a:rPr>
              <a:t>."^^</a:t>
            </a:r>
            <a:r>
              <a:rPr lang="de-DE" sz="1400" dirty="0" err="1" smtClean="0">
                <a:latin typeface="Courier New"/>
              </a:rPr>
              <a:t>xsd:string</a:t>
            </a:r>
            <a:r>
              <a:rPr lang="de-DE" sz="1400" dirty="0" smtClean="0">
                <a:latin typeface="Courier New"/>
              </a:rPr>
              <a:t> ;</a:t>
            </a:r>
          </a:p>
          <a:p>
            <a:r>
              <a:rPr lang="de-DE" sz="1400" dirty="0" smtClean="0">
                <a:latin typeface="Courier New"/>
              </a:rPr>
              <a:t>       </a:t>
            </a:r>
            <a:endParaRPr lang="de-DE" sz="1400" dirty="0"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0873001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API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Everything </a:t>
            </a:r>
            <a:r>
              <a:rPr lang="en-US" dirty="0"/>
              <a:t>about the modern Portsmouth </a:t>
            </a:r>
            <a:r>
              <a:rPr lang="en-US" dirty="0" smtClean="0"/>
              <a:t>unit</a:t>
            </a:r>
          </a:p>
          <a:p>
            <a:pPr lvl="1"/>
            <a:r>
              <a:rPr lang="en-US" dirty="0" smtClean="0"/>
              <a:t>http</a:t>
            </a:r>
            <a:r>
              <a:rPr lang="en-US" dirty="0"/>
              <a:t>://</a:t>
            </a:r>
            <a:r>
              <a:rPr lang="en-US" dirty="0" err="1"/>
              <a:t>data.pastplace.org</a:t>
            </a:r>
            <a:r>
              <a:rPr lang="en-US" dirty="0"/>
              <a:t>/</a:t>
            </a:r>
            <a:r>
              <a:rPr lang="en-US" dirty="0" err="1"/>
              <a:t>datacube?units</a:t>
            </a:r>
            <a:r>
              <a:rPr lang="en-US" dirty="0"/>
              <a:t>=</a:t>
            </a:r>
            <a:r>
              <a:rPr lang="en-US" dirty="0" smtClean="0"/>
              <a:t>10168181</a:t>
            </a:r>
          </a:p>
          <a:p>
            <a:r>
              <a:rPr lang="en-US" dirty="0" smtClean="0"/>
              <a:t>Combine Search and Data:</a:t>
            </a:r>
          </a:p>
          <a:p>
            <a:pPr lvl="1"/>
            <a:r>
              <a:rPr lang="en-US" dirty="0" smtClean="0"/>
              <a:t>Units named after a place(including narrowing to a specific unit type)</a:t>
            </a:r>
            <a:r>
              <a:rPr lang="en-US" dirty="0" smtClean="0">
                <a:hlinkClick r:id="rId2"/>
              </a:rPr>
              <a:t>http</a:t>
            </a:r>
            <a:r>
              <a:rPr lang="en-US" dirty="0">
                <a:hlinkClick r:id="rId2"/>
              </a:rPr>
              <a:t>://data.pastplace.org/datacube?q=portsmouth&amp;unittypes=</a:t>
            </a:r>
            <a:r>
              <a:rPr lang="en-US" dirty="0" smtClean="0">
                <a:hlinkClick r:id="rId2"/>
              </a:rPr>
              <a:t>ADM_CNTY</a:t>
            </a:r>
            <a:endParaRPr lang="en-US" dirty="0" smtClean="0"/>
          </a:p>
          <a:p>
            <a:r>
              <a:rPr lang="en-US" dirty="0"/>
              <a:t>Population of Portsmouth aged 70-74</a:t>
            </a:r>
          </a:p>
          <a:p>
            <a:pPr lvl="1"/>
            <a:r>
              <a:rPr lang="en-US" dirty="0">
                <a:hlinkClick r:id="rId3"/>
              </a:rPr>
              <a:t>http://data.pastplace.org/datacube?units=10168181&amp;cellref=AGESEX_85UP:male/</a:t>
            </a:r>
            <a:r>
              <a:rPr lang="en-US" dirty="0" smtClean="0">
                <a:hlinkClick r:id="rId3"/>
              </a:rPr>
              <a:t>70_74</a:t>
            </a:r>
            <a:endParaRPr lang="en-US" dirty="0" smtClean="0"/>
          </a:p>
          <a:p>
            <a:r>
              <a:rPr lang="en-US" dirty="0" smtClean="0"/>
              <a:t>Single data value 1881 </a:t>
            </a:r>
            <a:r>
              <a:rPr lang="en-US" dirty="0" err="1" smtClean="0"/>
              <a:t>cenus</a:t>
            </a:r>
            <a:r>
              <a:rPr lang="en-US" dirty="0" smtClean="0"/>
              <a:t>:</a:t>
            </a:r>
          </a:p>
          <a:p>
            <a:pPr marL="857250" lvl="2" indent="0">
              <a:buNone/>
            </a:pPr>
            <a:r>
              <a:rPr lang="en-US" dirty="0" smtClean="0"/>
              <a:t>http</a:t>
            </a:r>
            <a:r>
              <a:rPr lang="en-US" dirty="0"/>
              <a:t>://</a:t>
            </a:r>
            <a:r>
              <a:rPr lang="en-US" dirty="0" err="1"/>
              <a:t>data.pastplace.org</a:t>
            </a:r>
            <a:r>
              <a:rPr lang="en-US" dirty="0"/>
              <a:t>/</a:t>
            </a:r>
            <a:r>
              <a:rPr lang="en-US" dirty="0" err="1"/>
              <a:t>datacube?units</a:t>
            </a:r>
            <a:r>
              <a:rPr lang="en-US" dirty="0"/>
              <a:t>=10168181&amp;cellref=AGESEX_85UP:male/70_74&amp;yearfrom=1881&amp;yearto=1881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69797-332A-4E47-998C-848234DBEE37}" type="slidenum">
              <a:rPr lang="en-GB" smtClean="0"/>
              <a:pPr>
                <a:defRPr/>
              </a:pPr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83797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3"/>
              </a:rPr>
              <a:t>http://data.pastplace.org/datacube</a:t>
            </a:r>
            <a:r>
              <a:rPr lang="en-US" dirty="0" smtClean="0"/>
              <a:t> &amp; </a:t>
            </a:r>
            <a:r>
              <a:rPr lang="en-US" dirty="0" smtClean="0">
                <a:hlinkClick r:id="rId4"/>
              </a:rPr>
              <a:t>http://data.pastplace.org/seach</a:t>
            </a:r>
            <a:endParaRPr lang="en-US" dirty="0" smtClean="0"/>
          </a:p>
          <a:p>
            <a:pPr lvl="1"/>
            <a:r>
              <a:rPr lang="en-US" dirty="0" smtClean="0"/>
              <a:t>Java accessing </a:t>
            </a:r>
            <a:r>
              <a:rPr lang="en-US" dirty="0" err="1" smtClean="0"/>
              <a:t>PostgreSQL</a:t>
            </a:r>
            <a:r>
              <a:rPr lang="en-US" dirty="0" smtClean="0"/>
              <a:t>/</a:t>
            </a:r>
            <a:r>
              <a:rPr lang="en-US" dirty="0" err="1" smtClean="0"/>
              <a:t>PostGIS</a:t>
            </a:r>
            <a:r>
              <a:rPr lang="en-US" dirty="0" smtClean="0"/>
              <a:t> DB via </a:t>
            </a:r>
            <a:r>
              <a:rPr lang="en-US" dirty="0" err="1" smtClean="0"/>
              <a:t>Mybatis</a:t>
            </a:r>
            <a:r>
              <a:rPr lang="en-US" dirty="0" smtClean="0"/>
              <a:t> for creating Java Objects</a:t>
            </a:r>
          </a:p>
          <a:p>
            <a:pPr lvl="1"/>
            <a:r>
              <a:rPr lang="en-US" dirty="0" smtClean="0"/>
              <a:t>Jena for RDF representation and serialization</a:t>
            </a:r>
          </a:p>
          <a:p>
            <a:r>
              <a:rPr lang="en-US" dirty="0" smtClean="0">
                <a:hlinkClick r:id="rId5"/>
              </a:rPr>
              <a:t>www.pastplace.org</a:t>
            </a:r>
            <a:endParaRPr lang="en-US" dirty="0" smtClean="0"/>
          </a:p>
          <a:p>
            <a:pPr lvl="1"/>
            <a:r>
              <a:rPr lang="en-US" dirty="0" smtClean="0"/>
              <a:t>Mobile first responsive Web App built on</a:t>
            </a:r>
          </a:p>
          <a:p>
            <a:pPr lvl="2"/>
            <a:r>
              <a:rPr lang="en-US" dirty="0" err="1" smtClean="0"/>
              <a:t>Nginx</a:t>
            </a:r>
            <a:endParaRPr lang="en-US" dirty="0" smtClean="0"/>
          </a:p>
          <a:p>
            <a:pPr lvl="2"/>
            <a:r>
              <a:rPr lang="en-US" dirty="0" err="1" smtClean="0"/>
              <a:t>NodeJS</a:t>
            </a:r>
            <a:r>
              <a:rPr lang="en-US" dirty="0" smtClean="0"/>
              <a:t>, </a:t>
            </a:r>
          </a:p>
          <a:p>
            <a:pPr lvl="2"/>
            <a:r>
              <a:rPr lang="en-US" dirty="0" err="1" smtClean="0"/>
              <a:t>Webpack</a:t>
            </a:r>
            <a:endParaRPr lang="en-US" dirty="0" smtClean="0"/>
          </a:p>
          <a:p>
            <a:pPr lvl="2"/>
            <a:r>
              <a:rPr lang="en-US" dirty="0" err="1" smtClean="0"/>
              <a:t>Babal</a:t>
            </a:r>
            <a:r>
              <a:rPr lang="en-US" dirty="0" smtClean="0"/>
              <a:t> for ES6</a:t>
            </a:r>
          </a:p>
          <a:p>
            <a:pPr lvl="2"/>
            <a:r>
              <a:rPr lang="en-US" dirty="0" err="1" smtClean="0"/>
              <a:t>ReactJS</a:t>
            </a:r>
            <a:endParaRPr lang="en-US" dirty="0" smtClean="0"/>
          </a:p>
          <a:p>
            <a:pPr lvl="2"/>
            <a:r>
              <a:rPr lang="en-US" dirty="0" smtClean="0"/>
              <a:t>Not currently using LD formats from API, need to investigate Jena’s 30% overhead compared to </a:t>
            </a:r>
            <a:r>
              <a:rPr lang="en-US" dirty="0" err="1" smtClean="0"/>
              <a:t>gson</a:t>
            </a:r>
            <a:r>
              <a:rPr lang="en-US" dirty="0" smtClean="0"/>
              <a:t> serialization.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69797-332A-4E47-998C-848234DBEE37}" type="slidenum">
              <a:rPr lang="en-GB" smtClean="0"/>
              <a:pPr>
                <a:defRPr/>
              </a:pPr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2689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Next?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Improve the unpacking of the data into more detailed </a:t>
            </a:r>
            <a:r>
              <a:rPr lang="en-US" dirty="0" err="1" smtClean="0"/>
              <a:t>DataCube</a:t>
            </a:r>
            <a:r>
              <a:rPr lang="en-US" dirty="0" smtClean="0"/>
              <a:t> Vocabulary.  We would like to use the HASSET thesaurus (ELSST) but </a:t>
            </a:r>
            <a:r>
              <a:rPr lang="en-US" dirty="0" smtClean="0"/>
              <a:t>we have currently a sticking point on specific license </a:t>
            </a:r>
            <a:r>
              <a:rPr lang="en-US" dirty="0" smtClean="0"/>
              <a:t>terms</a:t>
            </a:r>
          </a:p>
          <a:p>
            <a:pPr lvl="1"/>
            <a:r>
              <a:rPr lang="en-US" dirty="0" smtClean="0">
                <a:hlinkClick r:id="rId3"/>
              </a:rPr>
              <a:t>http://www.data-archive.ac.uk/find/hasset-thesaurus</a:t>
            </a:r>
            <a:endParaRPr lang="en-US" dirty="0" smtClean="0"/>
          </a:p>
          <a:p>
            <a:r>
              <a:rPr lang="en-US" dirty="0" smtClean="0"/>
              <a:t>Enhance the ontology, </a:t>
            </a:r>
          </a:p>
          <a:p>
            <a:pPr lvl="1"/>
            <a:r>
              <a:rPr lang="en-US" dirty="0" smtClean="0"/>
              <a:t>Link countries </a:t>
            </a:r>
            <a:r>
              <a:rPr lang="en-US" dirty="0"/>
              <a:t>to </a:t>
            </a:r>
            <a:r>
              <a:rPr lang="en-US" dirty="0" smtClean="0"/>
              <a:t>FAO </a:t>
            </a:r>
            <a:r>
              <a:rPr lang="en-US" dirty="0" err="1" smtClean="0"/>
              <a:t>Ontolgy</a:t>
            </a:r>
            <a:r>
              <a:rPr lang="en-US" dirty="0"/>
              <a:t> http://</a:t>
            </a:r>
            <a:r>
              <a:rPr lang="en-US" dirty="0" err="1"/>
              <a:t>www.fao.org</a:t>
            </a:r>
            <a:r>
              <a:rPr lang="en-US" dirty="0" smtClean="0"/>
              <a:t>/</a:t>
            </a:r>
            <a:endParaRPr lang="en-US" dirty="0" smtClean="0"/>
          </a:p>
          <a:p>
            <a:pPr lvl="1"/>
            <a:r>
              <a:rPr lang="en-US" dirty="0" smtClean="0"/>
              <a:t>The 200 Unit types and status value. Scope for linking unit types to </a:t>
            </a:r>
            <a:r>
              <a:rPr lang="en-US" dirty="0" err="1" smtClean="0"/>
              <a:t>wikidata</a:t>
            </a:r>
            <a:r>
              <a:rPr lang="en-US" dirty="0" smtClean="0"/>
              <a:t> entry.</a:t>
            </a:r>
          </a:p>
          <a:p>
            <a:r>
              <a:rPr lang="en-US" dirty="0"/>
              <a:t>Experiment </a:t>
            </a:r>
            <a:r>
              <a:rPr lang="en-US" dirty="0" smtClean="0"/>
              <a:t>with the Linked Data API in the </a:t>
            </a:r>
            <a:r>
              <a:rPr lang="en-US" dirty="0" err="1" smtClean="0"/>
              <a:t>PastPlace</a:t>
            </a:r>
            <a:r>
              <a:rPr lang="en-US" dirty="0" smtClean="0"/>
              <a:t> Web App</a:t>
            </a:r>
          </a:p>
          <a:p>
            <a:r>
              <a:rPr lang="en-US" dirty="0" smtClean="0"/>
              <a:t>Experiment with the API to create Client JS visualizations for the </a:t>
            </a:r>
            <a:r>
              <a:rPr lang="en-US" dirty="0" err="1" smtClean="0"/>
              <a:t>nCube</a:t>
            </a:r>
            <a:r>
              <a:rPr lang="en-US" dirty="0" smtClean="0"/>
              <a:t> statistics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69797-332A-4E47-998C-848234DBEE37}" type="slidenum">
              <a:rPr lang="en-GB" smtClean="0"/>
              <a:pPr>
                <a:defRPr/>
              </a:pPr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91240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2nd December 2015</a:t>
            </a:r>
            <a:endParaRPr lang="en-GB"/>
          </a:p>
        </p:txBody>
      </p:sp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 smtClean="0">
                <a:cs typeface="+mj-cs"/>
              </a:rPr>
              <a:t>Web sites, </a:t>
            </a:r>
            <a:r>
              <a:rPr lang="en-GB" dirty="0" err="1" smtClean="0">
                <a:cs typeface="+mj-cs"/>
              </a:rPr>
              <a:t>etc</a:t>
            </a:r>
            <a:endParaRPr lang="en-GB" dirty="0" smtClean="0">
              <a:cs typeface="+mj-cs"/>
            </a:endParaRPr>
          </a:p>
        </p:txBody>
      </p:sp>
      <p:sp>
        <p:nvSpPr>
          <p:cNvPr id="391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Great Britain Historical GIS Project</a:t>
            </a:r>
            <a:br>
              <a:rPr lang="en-GB" dirty="0" smtClean="0"/>
            </a:br>
            <a:r>
              <a:rPr lang="en-GB" dirty="0" smtClean="0"/>
              <a:t>Geography Department,</a:t>
            </a:r>
            <a:br>
              <a:rPr lang="en-GB" dirty="0" smtClean="0"/>
            </a:br>
            <a:r>
              <a:rPr lang="en-GB" dirty="0" smtClean="0"/>
              <a:t>University of Portsmouth, UK</a:t>
            </a:r>
            <a:endParaRPr lang="en-US" dirty="0" smtClean="0"/>
          </a:p>
          <a:p>
            <a:r>
              <a:rPr lang="en-GB" dirty="0" smtClean="0"/>
              <a:t>GBHGIS </a:t>
            </a:r>
            <a:r>
              <a:rPr lang="en-GB" dirty="0"/>
              <a:t>Project website: </a:t>
            </a:r>
            <a:r>
              <a:rPr lang="en-GB" u="sng" dirty="0">
                <a:hlinkClick r:id="rId3"/>
              </a:rPr>
              <a:t>http://www.port.ac.uk/research/gbhgis</a:t>
            </a:r>
            <a:r>
              <a:rPr lang="en-GB" u="sng" dirty="0" smtClean="0">
                <a:hlinkClick r:id="rId3"/>
              </a:rPr>
              <a:t>/</a:t>
            </a:r>
            <a:endParaRPr lang="en-GB" dirty="0"/>
          </a:p>
          <a:p>
            <a:r>
              <a:rPr lang="en-GB" dirty="0"/>
              <a:t>Vision of Britain website: </a:t>
            </a:r>
            <a:r>
              <a:rPr lang="en-GB" u="sng" dirty="0">
                <a:hlinkClick r:id="rId4"/>
              </a:rPr>
              <a:t>http://</a:t>
            </a:r>
            <a:r>
              <a:rPr lang="en-GB" u="sng" dirty="0" smtClean="0">
                <a:hlinkClick r:id="rId4"/>
              </a:rPr>
              <a:t>www.visionofbritain.org.uk</a:t>
            </a:r>
            <a:endParaRPr lang="en-GB" u="sng" dirty="0" smtClean="0"/>
          </a:p>
          <a:p>
            <a:r>
              <a:rPr lang="en-US" dirty="0" err="1" smtClean="0"/>
              <a:t>PastPlace</a:t>
            </a:r>
            <a:r>
              <a:rPr lang="en-US" dirty="0" smtClean="0"/>
              <a:t> </a:t>
            </a:r>
            <a:r>
              <a:rPr lang="en-US" dirty="0" smtClean="0">
                <a:hlinkClick r:id="rId5"/>
              </a:rPr>
              <a:t>www.pastplace.org</a:t>
            </a:r>
            <a:r>
              <a:rPr lang="en-US" dirty="0" smtClean="0"/>
              <a:t> ( not launched) </a:t>
            </a:r>
            <a:endParaRPr lang="en-GB" u="sng" dirty="0" smtClean="0"/>
          </a:p>
          <a:p>
            <a:r>
              <a:rPr lang="en-US" dirty="0"/>
              <a:t>Research funded by the:</a:t>
            </a:r>
          </a:p>
          <a:p>
            <a:pPr lvl="1"/>
            <a:r>
              <a:rPr lang="en-US" dirty="0"/>
              <a:t>Arts and Humanities Research Council: “Frameworks and tools for statistical big data in the humanities</a:t>
            </a:r>
            <a:r>
              <a:rPr lang="en-US" dirty="0" smtClean="0"/>
              <a:t>”</a:t>
            </a:r>
          </a:p>
          <a:p>
            <a:r>
              <a:rPr lang="en-GB" dirty="0" smtClean="0">
                <a:cs typeface="+mn-cs"/>
              </a:rPr>
              <a:t>Contact us: </a:t>
            </a:r>
            <a:r>
              <a:rPr lang="en-GB" sz="2400" b="1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ＭＳ Ｐゴシック" charset="0"/>
              </a:rPr>
              <a:t>gbhgis@port.ac.uk</a:t>
            </a:r>
            <a:endParaRPr lang="en-GB" dirty="0" smtClean="0">
              <a:effectLst/>
            </a:endParaRPr>
          </a:p>
          <a:p>
            <a:pPr eaLnBrk="1" hangingPunct="1">
              <a:defRPr/>
            </a:pPr>
            <a:endParaRPr lang="en-GB" dirty="0" smtClean="0">
              <a:cs typeface="+mn-cs"/>
            </a:endParaRPr>
          </a:p>
        </p:txBody>
      </p:sp>
      <p:pic>
        <p:nvPicPr>
          <p:cNvPr id="5" name="Picture 4" descr="new weblogo map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184900" y="951135"/>
            <a:ext cx="2591437" cy="2067791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69797-332A-4E47-998C-848234DBEE37}" type="slidenum">
              <a:rPr lang="en-GB" smtClean="0"/>
              <a:pPr>
                <a:defRPr/>
              </a:pPr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52341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38200"/>
            <a:ext cx="7772400" cy="952500"/>
          </a:xfrm>
        </p:spPr>
        <p:txBody>
          <a:bodyPr/>
          <a:lstStyle/>
          <a:p>
            <a:r>
              <a:rPr lang="en-US" sz="2400" dirty="0" smtClean="0"/>
              <a:t>Revisiting the earlier API examples &amp; </a:t>
            </a:r>
            <a:r>
              <a:rPr lang="en-US" sz="2400" dirty="0"/>
              <a:t>a</a:t>
            </a:r>
            <a:r>
              <a:rPr lang="en-US" sz="2400" dirty="0" smtClean="0"/>
              <a:t>ny question? 		     </a:t>
            </a:r>
            <a:r>
              <a:rPr lang="en-GB" sz="2400" dirty="0" err="1" smtClean="0">
                <a:solidFill>
                  <a:schemeClr val="tx1"/>
                </a:solidFill>
              </a:rPr>
              <a:t>gbhgis</a:t>
            </a:r>
            <a:r>
              <a:rPr lang="en-GB" sz="2400" dirty="0" err="1">
                <a:solidFill>
                  <a:schemeClr val="tx1"/>
                </a:solidFill>
              </a:rPr>
              <a:t>@port.ac.uk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300" y="1701800"/>
            <a:ext cx="7772400" cy="4800600"/>
          </a:xfrm>
        </p:spPr>
        <p:txBody>
          <a:bodyPr/>
          <a:lstStyle/>
          <a:p>
            <a:pPr marL="457200" lvl="1" indent="0">
              <a:buNone/>
            </a:pPr>
            <a:r>
              <a:rPr lang="en-US" sz="1400" dirty="0">
                <a:latin typeface="Andale Mono"/>
                <a:cs typeface="Andale Mono"/>
              </a:rPr>
              <a:t>Discover </a:t>
            </a:r>
            <a:r>
              <a:rPr lang="en-US" sz="1400" dirty="0" smtClean="0">
                <a:latin typeface="Andale Mono"/>
                <a:cs typeface="Andale Mono"/>
              </a:rPr>
              <a:t>themes </a:t>
            </a:r>
            <a:r>
              <a:rPr lang="en-US" sz="1400" dirty="0" err="1" smtClean="0">
                <a:latin typeface="Andale Mono"/>
                <a:cs typeface="Andale Mono"/>
              </a:rPr>
              <a:t>data.pastplce.org</a:t>
            </a:r>
            <a:r>
              <a:rPr lang="en-US" sz="1400" dirty="0">
                <a:latin typeface="Andale Mono"/>
                <a:cs typeface="Andale Mono"/>
              </a:rPr>
              <a:t>/</a:t>
            </a:r>
            <a:r>
              <a:rPr lang="en-US" sz="1400" dirty="0" err="1">
                <a:latin typeface="Andale Mono"/>
                <a:cs typeface="Andale Mono"/>
              </a:rPr>
              <a:t>search?q</a:t>
            </a:r>
            <a:r>
              <a:rPr lang="en-US" sz="1400" dirty="0">
                <a:latin typeface="Andale Mono"/>
                <a:cs typeface="Andale Mono"/>
              </a:rPr>
              <a:t>=50.8193761,-0.3765256</a:t>
            </a:r>
            <a:r>
              <a:rPr lang="en-US" sz="1400" dirty="0" smtClean="0">
                <a:latin typeface="Andale Mono"/>
                <a:cs typeface="Andale Mono"/>
              </a:rPr>
              <a:t>&amp;theme</a:t>
            </a:r>
            <a:r>
              <a:rPr lang="en-US" sz="1400" dirty="0">
                <a:latin typeface="Andale Mono"/>
                <a:cs typeface="Andale Mono"/>
              </a:rPr>
              <a:t>=</a:t>
            </a:r>
            <a:r>
              <a:rPr lang="en-US" sz="1400" dirty="0" err="1" smtClean="0">
                <a:latin typeface="Andale Mono"/>
                <a:cs typeface="Andale Mono"/>
              </a:rPr>
              <a:t>T_POP&amp;</a:t>
            </a:r>
            <a:r>
              <a:rPr lang="en-US" sz="1400" dirty="0" err="1">
                <a:latin typeface="Andale Mono"/>
                <a:cs typeface="Andale Mono"/>
              </a:rPr>
              <a:t>format</a:t>
            </a:r>
            <a:r>
              <a:rPr lang="en-US" sz="1400" dirty="0">
                <a:latin typeface="Andale Mono"/>
                <a:cs typeface="Andale Mono"/>
              </a:rPr>
              <a:t>=</a:t>
            </a:r>
            <a:r>
              <a:rPr lang="en-US" sz="1400" dirty="0" err="1" smtClean="0">
                <a:latin typeface="Andale Mono"/>
                <a:cs typeface="Andale Mono"/>
              </a:rPr>
              <a:t>json</a:t>
            </a:r>
            <a:endParaRPr lang="en-US" sz="1400" dirty="0" smtClean="0">
              <a:latin typeface="Andale Mono"/>
              <a:cs typeface="Andale Mono"/>
            </a:endParaRPr>
          </a:p>
          <a:p>
            <a:pPr marL="457200" lvl="1" indent="0">
              <a:buNone/>
            </a:pPr>
            <a:r>
              <a:rPr lang="en-US" sz="1400" dirty="0" smtClean="0">
                <a:latin typeface="Andale Mono"/>
                <a:cs typeface="Andale Mono"/>
              </a:rPr>
              <a:t>Portsmouth </a:t>
            </a:r>
            <a:r>
              <a:rPr lang="en-US" sz="1400" dirty="0" smtClean="0">
                <a:latin typeface="Andale Mono"/>
                <a:cs typeface="Andale Mono"/>
                <a:hlinkClick r:id="rId2"/>
              </a:rPr>
              <a:t>data.pastplace.org/</a:t>
            </a:r>
          </a:p>
          <a:p>
            <a:pPr marL="457200" lvl="1" indent="0">
              <a:buNone/>
            </a:pPr>
            <a:r>
              <a:rPr lang="en-US" sz="1400" dirty="0" smtClean="0">
                <a:latin typeface="Andale Mono"/>
                <a:cs typeface="Andale Mono"/>
                <a:hlinkClick r:id="rId2"/>
              </a:rPr>
              <a:t>datacube?units=10168181</a:t>
            </a:r>
            <a:endParaRPr lang="en-US" sz="1400" dirty="0" smtClean="0">
              <a:latin typeface="Andale Mono"/>
              <a:cs typeface="Andale Mono"/>
            </a:endParaRPr>
          </a:p>
          <a:p>
            <a:pPr marL="457200" lvl="1" indent="0">
              <a:buNone/>
            </a:pPr>
            <a:r>
              <a:rPr lang="en-US" sz="1400" dirty="0">
                <a:latin typeface="Andale Mono"/>
                <a:cs typeface="Andale Mono"/>
              </a:rPr>
              <a:t>Search </a:t>
            </a:r>
            <a:r>
              <a:rPr lang="en-US" sz="1400">
                <a:latin typeface="Andale Mono"/>
                <a:cs typeface="Andale Mono"/>
              </a:rPr>
              <a:t>and </a:t>
            </a:r>
            <a:r>
              <a:rPr lang="en-US" sz="1400" smtClean="0">
                <a:latin typeface="Andale Mono"/>
                <a:cs typeface="Andale Mono"/>
              </a:rPr>
              <a:t>access Data</a:t>
            </a:r>
            <a:r>
              <a:rPr lang="en-US" sz="1400" smtClean="0">
                <a:latin typeface="Andale Mono"/>
                <a:cs typeface="Andale Mono"/>
                <a:hlinkClick r:id="rId3"/>
              </a:rPr>
              <a:t>data.pastplace.org</a:t>
            </a:r>
            <a:r>
              <a:rPr lang="en-US" sz="1400" dirty="0" smtClean="0">
                <a:latin typeface="Andale Mono"/>
                <a:cs typeface="Andale Mono"/>
                <a:hlinkClick r:id="rId3"/>
              </a:rPr>
              <a:t>/datacube?q=portsmouth&amp;unittypes=ADM_CNTY</a:t>
            </a:r>
            <a:endParaRPr lang="en-US" sz="1400" dirty="0" smtClean="0">
              <a:latin typeface="Andale Mono"/>
              <a:cs typeface="Andale Mono"/>
            </a:endParaRPr>
          </a:p>
          <a:p>
            <a:pPr marL="457200" lvl="1" indent="0">
              <a:buNone/>
            </a:pPr>
            <a:r>
              <a:rPr lang="en-US" sz="1400" dirty="0" err="1">
                <a:latin typeface="Andale Mono"/>
                <a:cs typeface="Andale Mono"/>
              </a:rPr>
              <a:t>Celref</a:t>
            </a:r>
            <a:r>
              <a:rPr lang="en-US" sz="1400" dirty="0">
                <a:latin typeface="Andale Mono"/>
                <a:cs typeface="Andale Mono"/>
              </a:rPr>
              <a:t> </a:t>
            </a:r>
            <a:r>
              <a:rPr lang="en-US" sz="1400" dirty="0" smtClean="0">
                <a:latin typeface="Andale Mono"/>
                <a:cs typeface="Andale Mono"/>
                <a:hlinkClick r:id="rId4"/>
              </a:rPr>
              <a:t>data.pastplace.org</a:t>
            </a:r>
            <a:r>
              <a:rPr lang="en-US" sz="1400" dirty="0">
                <a:latin typeface="Andale Mono"/>
                <a:cs typeface="Andale Mono"/>
                <a:hlinkClick r:id="rId4"/>
              </a:rPr>
              <a:t>/datacube</a:t>
            </a:r>
            <a:r>
              <a:rPr lang="en-US" sz="1400" dirty="0" smtClean="0">
                <a:latin typeface="Andale Mono"/>
                <a:cs typeface="Andale Mono"/>
                <a:hlinkClick r:id="rId4"/>
              </a:rPr>
              <a:t>?units</a:t>
            </a:r>
            <a:r>
              <a:rPr lang="en-US" sz="1400" dirty="0">
                <a:latin typeface="Andale Mono"/>
                <a:cs typeface="Andale Mono"/>
                <a:hlinkClick r:id="rId4"/>
              </a:rPr>
              <a:t>=10168181&amp;cellref=AGESEX_85UP:male/</a:t>
            </a:r>
            <a:r>
              <a:rPr lang="en-US" sz="1400" dirty="0" smtClean="0">
                <a:latin typeface="Andale Mono"/>
                <a:cs typeface="Andale Mono"/>
                <a:hlinkClick r:id="rId4"/>
              </a:rPr>
              <a:t>70_74</a:t>
            </a:r>
            <a:endParaRPr lang="en-US" sz="1400" dirty="0">
              <a:latin typeface="Andale Mono"/>
              <a:cs typeface="Andale Mono"/>
            </a:endParaRPr>
          </a:p>
          <a:p>
            <a:pPr marL="457200" lvl="1" indent="0">
              <a:buNone/>
            </a:pPr>
            <a:r>
              <a:rPr lang="en-US" sz="1400" dirty="0">
                <a:latin typeface="Andale Mono"/>
                <a:cs typeface="Andale Mono"/>
              </a:rPr>
              <a:t>Single data value </a:t>
            </a:r>
            <a:r>
              <a:rPr lang="en-US" sz="1400" dirty="0" smtClean="0">
                <a:latin typeface="Andale Mono"/>
                <a:cs typeface="Andale Mono"/>
                <a:hlinkClick r:id="rId5"/>
              </a:rPr>
              <a:t>data.pastplace.org</a:t>
            </a:r>
            <a:r>
              <a:rPr lang="en-US" sz="1400" dirty="0">
                <a:latin typeface="Andale Mono"/>
                <a:cs typeface="Andale Mono"/>
                <a:hlinkClick r:id="rId5"/>
              </a:rPr>
              <a:t>/datacube?units=10168181&amp;cellref=AGESEX_85UP:male/70_74&amp;yearfrom=1881&amp;yearto=</a:t>
            </a:r>
            <a:r>
              <a:rPr lang="en-US" sz="1400" dirty="0" smtClean="0">
                <a:latin typeface="Andale Mono"/>
                <a:cs typeface="Andale Mono"/>
                <a:hlinkClick r:id="rId5"/>
              </a:rPr>
              <a:t>1881</a:t>
            </a:r>
            <a:endParaRPr lang="en-US" sz="1400" dirty="0" smtClean="0">
              <a:latin typeface="Andale Mono"/>
              <a:cs typeface="Andale Mono"/>
            </a:endParaRPr>
          </a:p>
          <a:p>
            <a:pPr marL="457200" lvl="1" indent="0">
              <a:buNone/>
            </a:pPr>
            <a:r>
              <a:rPr lang="en-US" sz="1400" dirty="0" smtClean="0">
                <a:latin typeface="Andale Mono"/>
                <a:cs typeface="Andale Mono"/>
              </a:rPr>
              <a:t>Discovering </a:t>
            </a:r>
            <a:r>
              <a:rPr lang="en-US" sz="1400" dirty="0">
                <a:latin typeface="Andale Mono"/>
                <a:cs typeface="Andale Mono"/>
              </a:rPr>
              <a:t>ranked </a:t>
            </a:r>
            <a:r>
              <a:rPr lang="en-US" sz="1400" dirty="0" err="1" smtClean="0">
                <a:latin typeface="Andale Mono"/>
                <a:cs typeface="Andale Mono"/>
              </a:rPr>
              <a:t>nCubes</a:t>
            </a:r>
            <a:r>
              <a:rPr lang="en-US" sz="1400" dirty="0" smtClean="0">
                <a:latin typeface="Andale Mono"/>
                <a:cs typeface="Andale Mono"/>
              </a:rPr>
              <a:t> from metadata search:</a:t>
            </a:r>
            <a:endParaRPr lang="en-US" sz="1400" dirty="0">
              <a:latin typeface="Andale Mono"/>
              <a:cs typeface="Andale Mono"/>
            </a:endParaRPr>
          </a:p>
          <a:p>
            <a:pPr marL="457200" lvl="1" indent="0">
              <a:buNone/>
            </a:pPr>
            <a:r>
              <a:rPr lang="en-US" sz="1400" dirty="0" smtClean="0">
                <a:latin typeface="Andale Mono"/>
                <a:cs typeface="Andale Mono"/>
                <a:hlinkClick r:id="rId6"/>
              </a:rPr>
              <a:t>data.pastplce.org</a:t>
            </a:r>
            <a:r>
              <a:rPr lang="en-US" sz="1400" dirty="0">
                <a:latin typeface="Andale Mono"/>
                <a:cs typeface="Andale Mono"/>
                <a:hlinkClick r:id="rId6"/>
              </a:rPr>
              <a:t>/search?metadata=SHEEP&amp;format=json</a:t>
            </a:r>
            <a:endParaRPr lang="en-US" sz="1400" dirty="0">
              <a:latin typeface="Andale Mono"/>
              <a:cs typeface="Andale Mono"/>
            </a:endParaRPr>
          </a:p>
          <a:p>
            <a:pPr marL="457200" lvl="1" indent="0">
              <a:buNone/>
            </a:pPr>
            <a:r>
              <a:rPr lang="en-US" sz="1400" dirty="0">
                <a:latin typeface="Andale Mono"/>
                <a:cs typeface="Andale Mono"/>
              </a:rPr>
              <a:t>Discovering </a:t>
            </a:r>
            <a:r>
              <a:rPr lang="en-US" sz="1400" dirty="0" err="1" smtClean="0">
                <a:latin typeface="Andale Mono"/>
                <a:cs typeface="Andale Mono"/>
              </a:rPr>
              <a:t>nCube</a:t>
            </a:r>
            <a:r>
              <a:rPr lang="en-US" sz="1400" dirty="0" err="1">
                <a:latin typeface="Andale Mono"/>
                <a:cs typeface="Andale Mono"/>
              </a:rPr>
              <a:t>s</a:t>
            </a:r>
            <a:r>
              <a:rPr lang="en-US" sz="1400" dirty="0" smtClean="0">
                <a:latin typeface="Andale Mono"/>
                <a:cs typeface="Andale Mono"/>
              </a:rPr>
              <a:t> </a:t>
            </a:r>
            <a:r>
              <a:rPr lang="en-US" sz="1400" dirty="0">
                <a:latin typeface="Andale Mono"/>
                <a:cs typeface="Andale Mono"/>
              </a:rPr>
              <a:t>from </a:t>
            </a:r>
            <a:r>
              <a:rPr lang="en-US" sz="1400" dirty="0" smtClean="0">
                <a:latin typeface="Andale Mono"/>
                <a:cs typeface="Andale Mono"/>
              </a:rPr>
              <a:t>location and thematic search:</a:t>
            </a:r>
            <a:endParaRPr lang="en-US" sz="1400" dirty="0">
              <a:latin typeface="Andale Mono"/>
              <a:cs typeface="Andale Mono"/>
            </a:endParaRPr>
          </a:p>
          <a:p>
            <a:pPr marL="457200" lvl="1" indent="0">
              <a:buNone/>
            </a:pPr>
            <a:r>
              <a:rPr lang="en-US" sz="1400" u="sng" dirty="0" err="1" smtClean="0">
                <a:latin typeface="Andale Mono"/>
                <a:cs typeface="Andale Mono"/>
              </a:rPr>
              <a:t>data.pastplce.org</a:t>
            </a:r>
            <a:r>
              <a:rPr lang="en-US" sz="1400" u="sng" dirty="0">
                <a:latin typeface="Andale Mono"/>
                <a:cs typeface="Andale Mono"/>
              </a:rPr>
              <a:t>/</a:t>
            </a:r>
            <a:r>
              <a:rPr lang="en-US" sz="1400" u="sng" dirty="0" err="1">
                <a:latin typeface="Andale Mono"/>
                <a:cs typeface="Andale Mono"/>
              </a:rPr>
              <a:t>search?q</a:t>
            </a:r>
            <a:r>
              <a:rPr lang="en-US" sz="1400" u="sng" dirty="0">
                <a:latin typeface="Andale Mono"/>
                <a:cs typeface="Andale Mono"/>
              </a:rPr>
              <a:t>=50.8193761,-0.3765256&amp;theme=</a:t>
            </a:r>
            <a:r>
              <a:rPr lang="en-US" sz="1400" u="sng" dirty="0" err="1">
                <a:latin typeface="Andale Mono"/>
                <a:cs typeface="Andale Mono"/>
              </a:rPr>
              <a:t>T_POP&amp;format</a:t>
            </a:r>
            <a:r>
              <a:rPr lang="en-US" sz="1400" u="sng" dirty="0">
                <a:latin typeface="Andale Mono"/>
                <a:cs typeface="Andale Mono"/>
              </a:rPr>
              <a:t>=</a:t>
            </a:r>
            <a:r>
              <a:rPr lang="en-US" sz="1400" u="sng" dirty="0" err="1" smtClean="0">
                <a:latin typeface="Andale Mono"/>
                <a:cs typeface="Andale Mono"/>
              </a:rPr>
              <a:t>json</a:t>
            </a:r>
            <a:endParaRPr lang="en-US" sz="1800" dirty="0" smtClean="0">
              <a:latin typeface="Courier New"/>
              <a:cs typeface="Courier New"/>
            </a:endParaRPr>
          </a:p>
          <a:p>
            <a:pPr marL="457200" lvl="1" indent="0">
              <a:buNone/>
            </a:pPr>
            <a:endParaRPr lang="en-US" sz="1800" dirty="0">
              <a:latin typeface="Courier New"/>
              <a:cs typeface="Courier New"/>
            </a:endParaRP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69797-332A-4E47-998C-848234DBEE37}" type="slidenum">
              <a:rPr lang="en-GB" smtClean="0"/>
              <a:pPr>
                <a:defRPr/>
              </a:pPr>
              <a:t>22</a:t>
            </a:fld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3073400" y="1181100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634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69797-332A-4E47-998C-848234DBEE37}" type="slidenum">
              <a:rPr lang="en-GB" smtClean="0"/>
              <a:pPr>
                <a:defRPr/>
              </a:pPr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17766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cube vocab spec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E95944-D51C-48A9-8487-C14F2C222513}" type="slidenum">
              <a:rPr lang="en-GB" smtClean="0"/>
              <a:pPr>
                <a:defRPr/>
              </a:pPr>
              <a:t>24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" y="12700"/>
            <a:ext cx="90247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5170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63600"/>
            <a:ext cx="7772400" cy="609600"/>
          </a:xfrm>
        </p:spPr>
        <p:txBody>
          <a:bodyPr/>
          <a:lstStyle/>
          <a:p>
            <a:r>
              <a:rPr lang="en-US" dirty="0" smtClean="0"/>
              <a:t>Other work on statistical</a:t>
            </a:r>
            <a:r>
              <a:rPr lang="en-US" baseline="0" dirty="0" smtClean="0"/>
              <a:t> APIs: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World Wide Web Consortium (W3C)’s RDF Data Cube Vocabulary</a:t>
            </a:r>
          </a:p>
          <a:p>
            <a:pPr lvl="1"/>
            <a:r>
              <a:rPr lang="en-US" dirty="0">
                <a:hlinkClick r:id="rId3"/>
              </a:rPr>
              <a:t>http://www.w3.org/TR/vocab-data-cube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pPr lvl="1"/>
            <a:r>
              <a:rPr lang="en-US" dirty="0" smtClean="0"/>
              <a:t>Provides framework rather than full specification</a:t>
            </a:r>
          </a:p>
          <a:p>
            <a:r>
              <a:rPr lang="en-US" dirty="0" smtClean="0"/>
              <a:t>Irish government </a:t>
            </a:r>
            <a:r>
              <a:rPr lang="en-US" dirty="0"/>
              <a:t>census </a:t>
            </a:r>
            <a:r>
              <a:rPr lang="en-US" dirty="0" smtClean="0"/>
              <a:t>gateway</a:t>
            </a:r>
          </a:p>
          <a:p>
            <a:pPr lvl="1"/>
            <a:r>
              <a:rPr lang="en-US" dirty="0" smtClean="0">
                <a:hlinkClick r:id="rId4"/>
              </a:rPr>
              <a:t>http</a:t>
            </a:r>
            <a:r>
              <a:rPr lang="en-US" dirty="0">
                <a:hlinkClick r:id="rId4"/>
              </a:rPr>
              <a:t>://data.cso.ie/</a:t>
            </a:r>
            <a:r>
              <a:rPr lang="en-US" dirty="0" smtClean="0">
                <a:hlinkClick r:id="rId4"/>
              </a:rPr>
              <a:t>index.html</a:t>
            </a:r>
            <a:endParaRPr lang="en-US" dirty="0" smtClean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r>
              <a:rPr lang="en-US" dirty="0" smtClean="0"/>
              <a:t>Dutch </a:t>
            </a:r>
            <a:r>
              <a:rPr lang="en-US" dirty="0"/>
              <a:t>CEDAR </a:t>
            </a:r>
            <a:r>
              <a:rPr lang="en-US" dirty="0" smtClean="0"/>
              <a:t>project</a:t>
            </a:r>
          </a:p>
          <a:p>
            <a:pPr lvl="1"/>
            <a:r>
              <a:rPr lang="en-US" dirty="0">
                <a:hlinkClick r:id="rId5"/>
              </a:rPr>
              <a:t>http://www.cedar-project.nl</a:t>
            </a:r>
            <a:r>
              <a:rPr lang="en-US" dirty="0" smtClean="0">
                <a:hlinkClick r:id="rId5"/>
              </a:rPr>
              <a:t>/</a:t>
            </a:r>
          </a:p>
          <a:p>
            <a:pPr lvl="1"/>
            <a:r>
              <a:rPr lang="en-US" dirty="0"/>
              <a:t>Live server at: </a:t>
            </a:r>
            <a:r>
              <a:rPr lang="en-US" dirty="0" smtClean="0">
                <a:hlinkClick r:id="rId5"/>
              </a:rPr>
              <a:t>http</a:t>
            </a:r>
            <a:r>
              <a:rPr lang="en-US" dirty="0">
                <a:hlinkClick r:id="rId5"/>
              </a:rPr>
              <a:t>://lod.cedar-project.nl</a:t>
            </a:r>
            <a:r>
              <a:rPr lang="en-US" dirty="0" smtClean="0">
                <a:hlinkClick r:id="rId5"/>
              </a:rPr>
              <a:t>/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2nd December 2015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69797-332A-4E47-998C-848234DBEE37}" type="slidenum">
              <a:rPr lang="en-GB" smtClean="0"/>
              <a:pPr>
                <a:defRPr/>
              </a:pPr>
              <a:t>25</a:t>
            </a:fld>
            <a:endParaRPr lang="en-GB" dirty="0"/>
          </a:p>
        </p:txBody>
      </p:sp>
      <p:pic>
        <p:nvPicPr>
          <p:cNvPr id="6" name="Picture 5" descr="Screen Shot 2015-04-15 at 07.57.25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886" y="3505200"/>
            <a:ext cx="3475314" cy="175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215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110367"/>
      </a:hlink>
      <a:folHlink>
        <a:srgbClr val="B2B2B2"/>
      </a:folHlink>
    </a:clrScheme>
    <a:fontScheme name="Default Desig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11477</TotalTime>
  <Words>2530</Words>
  <Application>Microsoft Macintosh PowerPoint</Application>
  <PresentationFormat>On-screen Show (4:3)</PresentationFormat>
  <Paragraphs>411</Paragraphs>
  <Slides>25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Default Design</vt:lpstr>
      <vt:lpstr>Encapsulating DDI Metadata within a Spatio-Temporal Data Feed for British  Historical Statistics</vt:lpstr>
      <vt:lpstr>Statistical data feeds:</vt:lpstr>
      <vt:lpstr>GBH GIS Data</vt:lpstr>
      <vt:lpstr>GBH GIS Statistical Content 14 million data values:</vt:lpstr>
      <vt:lpstr>GBH GIS Data Architecture Overview</vt:lpstr>
      <vt:lpstr>GBH GIS Data Architecture Overview</vt:lpstr>
      <vt:lpstr>Detailed structure of g_data table:</vt:lpstr>
      <vt:lpstr>Sample VoB data value page </vt:lpstr>
      <vt:lpstr>Sample Data Cube RDF</vt:lpstr>
      <vt:lpstr>Phase 1: Dumping all the data as RDF</vt:lpstr>
      <vt:lpstr>Sample GBHGIS RDF</vt:lpstr>
      <vt:lpstr>Phase 2: Adding a sub-setting mechanism</vt:lpstr>
      <vt:lpstr>Phase 3: Adding a discovery mechanism</vt:lpstr>
      <vt:lpstr>Phase 3: Discovery mechanism </vt:lpstr>
      <vt:lpstr>Phase 3: Discovery mechanism </vt:lpstr>
      <vt:lpstr>Geospatial Ontology of Places</vt:lpstr>
      <vt:lpstr>Geospatial Ontology of reporting units </vt:lpstr>
      <vt:lpstr>API examples</vt:lpstr>
      <vt:lpstr>Software</vt:lpstr>
      <vt:lpstr>What’s Next?</vt:lpstr>
      <vt:lpstr>Web sites, etc</vt:lpstr>
      <vt:lpstr>Revisiting the earlier API examples &amp; any question?        gbhgis@port.ac.uk</vt:lpstr>
      <vt:lpstr>PowerPoint Presentation</vt:lpstr>
      <vt:lpstr>Data cube vocab spec</vt:lpstr>
      <vt:lpstr>Other work on statistical APIs:</vt:lpstr>
    </vt:vector>
  </TitlesOfParts>
  <Manager/>
  <Company>University of Portsmouth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Humphrey Southall, Michael Stoner</dc:creator>
  <cp:keywords/>
  <dc:description/>
  <cp:lastModifiedBy>Michael Stoner</cp:lastModifiedBy>
  <cp:revision>197</cp:revision>
  <dcterms:created xsi:type="dcterms:W3CDTF">2002-06-16T12:10:23Z</dcterms:created>
  <dcterms:modified xsi:type="dcterms:W3CDTF">2015-12-02T10:45:53Z</dcterms:modified>
  <cp:category/>
</cp:coreProperties>
</file>