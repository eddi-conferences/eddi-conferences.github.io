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9" r:id="rId3"/>
    <p:sldId id="280" r:id="rId4"/>
    <p:sldId id="291" r:id="rId5"/>
    <p:sldId id="279" r:id="rId6"/>
    <p:sldId id="292" r:id="rId7"/>
    <p:sldId id="282" r:id="rId8"/>
    <p:sldId id="289" r:id="rId9"/>
    <p:sldId id="294" r:id="rId10"/>
    <p:sldId id="288" r:id="rId11"/>
    <p:sldId id="287" r:id="rId12"/>
    <p:sldId id="295" r:id="rId13"/>
    <p:sldId id="290" r:id="rId14"/>
    <p:sldId id="286" r:id="rId15"/>
    <p:sldId id="278" r:id="rId16"/>
    <p:sldId id="284" r:id="rId17"/>
    <p:sldId id="285" r:id="rId18"/>
    <p:sldId id="277" r:id="rId19"/>
  </p:sldIdLst>
  <p:sldSz cx="13004800" cy="9753600"/>
  <p:notesSz cx="6858000" cy="9144000"/>
  <p:defaultTextStyle>
    <a:lvl1pPr algn="ctr" defTabSz="584200">
      <a:defRPr b="1">
        <a:solidFill>
          <a:srgbClr val="FFFFFF"/>
        </a:solidFill>
        <a:latin typeface="Lato-Heavy"/>
        <a:ea typeface="Lato-Heavy"/>
        <a:cs typeface="Lato-Heavy"/>
        <a:sym typeface="Lato-Heavy"/>
      </a:defRPr>
    </a:lvl1pPr>
    <a:lvl2pPr indent="228600" algn="ctr" defTabSz="584200">
      <a:defRPr b="1">
        <a:solidFill>
          <a:srgbClr val="FFFFFF"/>
        </a:solidFill>
        <a:latin typeface="Lato-Heavy"/>
        <a:ea typeface="Lato-Heavy"/>
        <a:cs typeface="Lato-Heavy"/>
        <a:sym typeface="Lato-Heavy"/>
      </a:defRPr>
    </a:lvl2pPr>
    <a:lvl3pPr indent="457200" algn="ctr" defTabSz="584200">
      <a:defRPr b="1">
        <a:solidFill>
          <a:srgbClr val="FFFFFF"/>
        </a:solidFill>
        <a:latin typeface="Lato-Heavy"/>
        <a:ea typeface="Lato-Heavy"/>
        <a:cs typeface="Lato-Heavy"/>
        <a:sym typeface="Lato-Heavy"/>
      </a:defRPr>
    </a:lvl3pPr>
    <a:lvl4pPr indent="685800" algn="ctr" defTabSz="584200">
      <a:defRPr b="1">
        <a:solidFill>
          <a:srgbClr val="FFFFFF"/>
        </a:solidFill>
        <a:latin typeface="Lato-Heavy"/>
        <a:ea typeface="Lato-Heavy"/>
        <a:cs typeface="Lato-Heavy"/>
        <a:sym typeface="Lato-Heavy"/>
      </a:defRPr>
    </a:lvl4pPr>
    <a:lvl5pPr indent="914400" algn="ctr" defTabSz="584200">
      <a:defRPr b="1">
        <a:solidFill>
          <a:srgbClr val="FFFFFF"/>
        </a:solidFill>
        <a:latin typeface="Lato-Heavy"/>
        <a:ea typeface="Lato-Heavy"/>
        <a:cs typeface="Lato-Heavy"/>
        <a:sym typeface="Lato-Heavy"/>
      </a:defRPr>
    </a:lvl5pPr>
    <a:lvl6pPr indent="1143000" algn="ctr" defTabSz="584200">
      <a:defRPr b="1">
        <a:solidFill>
          <a:srgbClr val="FFFFFF"/>
        </a:solidFill>
        <a:latin typeface="Lato-Heavy"/>
        <a:ea typeface="Lato-Heavy"/>
        <a:cs typeface="Lato-Heavy"/>
        <a:sym typeface="Lato-Heavy"/>
      </a:defRPr>
    </a:lvl6pPr>
    <a:lvl7pPr indent="1371600" algn="ctr" defTabSz="584200">
      <a:defRPr b="1">
        <a:solidFill>
          <a:srgbClr val="FFFFFF"/>
        </a:solidFill>
        <a:latin typeface="Lato-Heavy"/>
        <a:ea typeface="Lato-Heavy"/>
        <a:cs typeface="Lato-Heavy"/>
        <a:sym typeface="Lato-Heavy"/>
      </a:defRPr>
    </a:lvl7pPr>
    <a:lvl8pPr indent="1600200" algn="ctr" defTabSz="584200">
      <a:defRPr b="1">
        <a:solidFill>
          <a:srgbClr val="FFFFFF"/>
        </a:solidFill>
        <a:latin typeface="Lato-Heavy"/>
        <a:ea typeface="Lato-Heavy"/>
        <a:cs typeface="Lato-Heavy"/>
        <a:sym typeface="Lato-Heavy"/>
      </a:defRPr>
    </a:lvl8pPr>
    <a:lvl9pPr indent="1828800" algn="ctr" defTabSz="584200">
      <a:defRPr b="1">
        <a:solidFill>
          <a:srgbClr val="FFFFFF"/>
        </a:solidFill>
        <a:latin typeface="Lato-Heavy"/>
        <a:ea typeface="Lato-Heavy"/>
        <a:cs typeface="Lato-Heavy"/>
        <a:sym typeface="Lato-Heavy"/>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 styleId="{C7B018BB-80A7-4F77-B60F-C8B233D01FF8}" styleName="">
    <a:tblBg/>
    <a:wholeTbl>
      <a:tcTxStyle b="off" i="off">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b="off" i="off">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6" autoAdjust="0"/>
    <p:restoredTop sz="94660"/>
  </p:normalViewPr>
  <p:slideViewPr>
    <p:cSldViewPr snapToGrid="0" snapToObjects="1">
      <p:cViewPr>
        <p:scale>
          <a:sx n="66" d="100"/>
          <a:sy n="66" d="100"/>
        </p:scale>
        <p:origin x="-1458" y="18"/>
      </p:cViewPr>
      <p:guideLst>
        <p:guide orient="horz" pos="3072"/>
        <p:guide pos="4096"/>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315572452"/>
      </p:ext>
    </p:extLst>
  </p:cSld>
  <p:clrMap bg1="lt1" tx1="dk1" bg2="lt2" tx2="dk2" accent1="accent1" accent2="accent2" accent3="accent3" accent4="accent4" accent5="accent5" accent6="accent6" hlink="hlink" folHlink="folHlink"/>
  <p:notesStyle>
    <a:lvl1pPr defTabSz="457200">
      <a:lnSpc>
        <a:spcPct val="125000"/>
      </a:lnSpc>
      <a:defRPr sz="2400">
        <a:latin typeface="Avenir Book"/>
        <a:ea typeface="Avenir Book"/>
        <a:cs typeface="Avenir Book"/>
        <a:sym typeface="Avenir Book"/>
      </a:defRPr>
    </a:lvl1pPr>
    <a:lvl2pPr indent="228600" defTabSz="457200">
      <a:lnSpc>
        <a:spcPct val="125000"/>
      </a:lnSpc>
      <a:defRPr sz="2400">
        <a:latin typeface="Avenir Book"/>
        <a:ea typeface="Avenir Book"/>
        <a:cs typeface="Avenir Book"/>
        <a:sym typeface="Avenir Book"/>
      </a:defRPr>
    </a:lvl2pPr>
    <a:lvl3pPr indent="457200" defTabSz="457200">
      <a:lnSpc>
        <a:spcPct val="125000"/>
      </a:lnSpc>
      <a:defRPr sz="2400">
        <a:latin typeface="Avenir Book"/>
        <a:ea typeface="Avenir Book"/>
        <a:cs typeface="Avenir Book"/>
        <a:sym typeface="Avenir Book"/>
      </a:defRPr>
    </a:lvl3pPr>
    <a:lvl4pPr indent="685800" defTabSz="457200">
      <a:lnSpc>
        <a:spcPct val="125000"/>
      </a:lnSpc>
      <a:defRPr sz="2400">
        <a:latin typeface="Avenir Book"/>
        <a:ea typeface="Avenir Book"/>
        <a:cs typeface="Avenir Book"/>
        <a:sym typeface="Avenir Book"/>
      </a:defRPr>
    </a:lvl4pPr>
    <a:lvl5pPr indent="914400" defTabSz="457200">
      <a:lnSpc>
        <a:spcPct val="125000"/>
      </a:lnSpc>
      <a:defRPr sz="2400">
        <a:latin typeface="Avenir Book"/>
        <a:ea typeface="Avenir Book"/>
        <a:cs typeface="Avenir Book"/>
        <a:sym typeface="Avenir Book"/>
      </a:defRPr>
    </a:lvl5pPr>
    <a:lvl6pPr indent="1143000" defTabSz="457200">
      <a:lnSpc>
        <a:spcPct val="125000"/>
      </a:lnSpc>
      <a:defRPr sz="2400">
        <a:latin typeface="Avenir Book"/>
        <a:ea typeface="Avenir Book"/>
        <a:cs typeface="Avenir Book"/>
        <a:sym typeface="Avenir Book"/>
      </a:defRPr>
    </a:lvl6pPr>
    <a:lvl7pPr indent="1371600" defTabSz="457200">
      <a:lnSpc>
        <a:spcPct val="125000"/>
      </a:lnSpc>
      <a:defRPr sz="2400">
        <a:latin typeface="Avenir Book"/>
        <a:ea typeface="Avenir Book"/>
        <a:cs typeface="Avenir Book"/>
        <a:sym typeface="Avenir Book"/>
      </a:defRPr>
    </a:lvl7pPr>
    <a:lvl8pPr indent="1600200" defTabSz="457200">
      <a:lnSpc>
        <a:spcPct val="125000"/>
      </a:lnSpc>
      <a:defRPr sz="2400">
        <a:latin typeface="Avenir Book"/>
        <a:ea typeface="Avenir Book"/>
        <a:cs typeface="Avenir Book"/>
        <a:sym typeface="Avenir Book"/>
      </a:defRPr>
    </a:lvl8pPr>
    <a:lvl9pPr indent="1828800" defTabSz="457200">
      <a:lnSpc>
        <a:spcPct val="125000"/>
      </a:lnSpc>
      <a:defRPr sz="2400">
        <a:latin typeface="Avenir Book"/>
        <a:ea typeface="Avenir Book"/>
        <a:cs typeface="Avenir Book"/>
        <a:sym typeface="Avenir Book"/>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cessda 1st page v2">
    <p:spTree>
      <p:nvGrpSpPr>
        <p:cNvPr id="1" name=""/>
        <p:cNvGrpSpPr/>
        <p:nvPr/>
      </p:nvGrpSpPr>
      <p:grpSpPr>
        <a:xfrm>
          <a:off x="0" y="0"/>
          <a:ext cx="0" cy="0"/>
          <a:chOff x="0" y="0"/>
          <a:chExt cx="0" cy="0"/>
        </a:xfrm>
      </p:grpSpPr>
      <p:pic>
        <p:nvPicPr>
          <p:cNvPr id="7" name="pasted-image.png"/>
          <p:cNvPicPr/>
          <p:nvPr/>
        </p:nvPicPr>
        <p:blipFill>
          <a:blip r:embed="rId2">
            <a:extLst/>
          </a:blip>
          <a:stretch>
            <a:fillRect/>
          </a:stretch>
        </p:blipFill>
        <p:spPr>
          <a:xfrm>
            <a:off x="0" y="9136121"/>
            <a:ext cx="13004800" cy="625359"/>
          </a:xfrm>
          <a:prstGeom prst="rect">
            <a:avLst/>
          </a:prstGeom>
          <a:ln w="12700">
            <a:miter lim="400000"/>
          </a:ln>
        </p:spPr>
      </p:pic>
      <p:sp>
        <p:nvSpPr>
          <p:cNvPr id="8" name="Shape 8"/>
          <p:cNvSpPr>
            <a:spLocks noGrp="1"/>
          </p:cNvSpPr>
          <p:nvPr>
            <p:ph type="title"/>
          </p:nvPr>
        </p:nvSpPr>
        <p:spPr>
          <a:xfrm>
            <a:off x="3574600" y="1607300"/>
            <a:ext cx="7652892" cy="1939529"/>
          </a:xfrm>
          <a:prstGeom prst="rect">
            <a:avLst/>
          </a:prstGeom>
        </p:spPr>
        <p:txBody>
          <a:bodyPr/>
          <a:lstStyle>
            <a:lvl1pPr>
              <a:lnSpc>
                <a:spcPts val="8600"/>
              </a:lnSpc>
              <a:defRPr sz="7200"/>
            </a:lvl1pPr>
          </a:lstStyle>
          <a:p>
            <a:pPr lvl="0">
              <a:defRPr sz="1800">
                <a:solidFill>
                  <a:srgbClr val="000000"/>
                </a:solidFill>
              </a:defRPr>
            </a:pPr>
            <a:r>
              <a:rPr sz="7200">
                <a:solidFill>
                  <a:srgbClr val="FFFFFF"/>
                </a:solidFill>
              </a:rP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text cessda">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a:lstStyle/>
          <a:p>
            <a:pPr lvl="0">
              <a:defRPr sz="1800">
                <a:solidFill>
                  <a:srgbClr val="000000"/>
                </a:solidFill>
              </a:defRPr>
            </a:pPr>
            <a:r>
              <a:rPr sz="4800">
                <a:solidFill>
                  <a:srgbClr val="FFFFFF"/>
                </a:solidFill>
              </a:rPr>
              <a:t>Title Text</a:t>
            </a:r>
          </a:p>
        </p:txBody>
      </p:sp>
      <p:sp>
        <p:nvSpPr>
          <p:cNvPr id="11" name="Shape 11"/>
          <p:cNvSpPr>
            <a:spLocks noGrp="1"/>
          </p:cNvSpPr>
          <p:nvPr>
            <p:ph type="body" idx="1"/>
          </p:nvPr>
        </p:nvSpPr>
        <p:spPr>
          <a:prstGeom prst="rect">
            <a:avLst/>
          </a:prstGeom>
        </p:spPr>
        <p:txBody>
          <a:bodyPr/>
          <a:lstStyle/>
          <a:p>
            <a:pPr lvl="0">
              <a:defRPr sz="1800">
                <a:solidFill>
                  <a:srgbClr val="000000"/>
                </a:solidFill>
              </a:defRPr>
            </a:pPr>
            <a:r>
              <a:rPr sz="3600">
                <a:solidFill>
                  <a:srgbClr val="FFFFFF"/>
                </a:solidFill>
              </a:rPr>
              <a:t>Body Level One</a:t>
            </a:r>
          </a:p>
          <a:p>
            <a:pPr lvl="1">
              <a:defRPr sz="1800">
                <a:solidFill>
                  <a:srgbClr val="000000"/>
                </a:solidFill>
              </a:defRPr>
            </a:pPr>
            <a:r>
              <a:rPr sz="3600">
                <a:solidFill>
                  <a:srgbClr val="FFFFFF"/>
                </a:solidFill>
              </a:rPr>
              <a:t>Body Level Two</a:t>
            </a:r>
          </a:p>
          <a:p>
            <a:pPr lvl="2">
              <a:defRPr sz="1800">
                <a:solidFill>
                  <a:srgbClr val="000000"/>
                </a:solidFill>
              </a:defRPr>
            </a:pPr>
            <a:r>
              <a:rPr sz="3600">
                <a:solidFill>
                  <a:srgbClr val="FFFFFF"/>
                </a:solidFill>
              </a:rPr>
              <a:t>Body Level Three</a:t>
            </a:r>
          </a:p>
          <a:p>
            <a:pPr lvl="3">
              <a:defRPr sz="1800">
                <a:solidFill>
                  <a:srgbClr val="000000"/>
                </a:solidFill>
              </a:defRPr>
            </a:pPr>
            <a:r>
              <a:rPr sz="3600">
                <a:solidFill>
                  <a:srgbClr val="FFFFFF"/>
                </a:solidFill>
              </a:rPr>
              <a:t>Body Level Four</a:t>
            </a:r>
          </a:p>
          <a:p>
            <a:pPr lvl="4">
              <a:defRPr sz="1800">
                <a:solidFill>
                  <a:srgbClr val="000000"/>
                </a:solidFill>
              </a:defRPr>
            </a:pPr>
            <a:r>
              <a:rPr sz="3600">
                <a:solidFill>
                  <a:srgbClr val="FFFFFF"/>
                </a:solidFill>
              </a:rPr>
              <a:t>Body Level Five</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cessda Last page">
    <p:spTree>
      <p:nvGrpSpPr>
        <p:cNvPr id="1" name=""/>
        <p:cNvGrpSpPr/>
        <p:nvPr/>
      </p:nvGrpSpPr>
      <p:grpSpPr>
        <a:xfrm>
          <a:off x="0" y="0"/>
          <a:ext cx="0" cy="0"/>
          <a:chOff x="0" y="0"/>
          <a:chExt cx="0" cy="0"/>
        </a:xfrm>
      </p:grpSpPr>
      <p:pic>
        <p:nvPicPr>
          <p:cNvPr id="13" name="pasted-image.png"/>
          <p:cNvPicPr/>
          <p:nvPr/>
        </p:nvPicPr>
        <p:blipFill>
          <a:blip r:embed="rId2">
            <a:extLst/>
          </a:blip>
          <a:stretch>
            <a:fillRect/>
          </a:stretch>
        </p:blipFill>
        <p:spPr>
          <a:xfrm>
            <a:off x="0" y="9136121"/>
            <a:ext cx="13004800" cy="625359"/>
          </a:xfrm>
          <a:prstGeom prst="rect">
            <a:avLst/>
          </a:prstGeom>
          <a:ln w="12700">
            <a:miter lim="400000"/>
          </a:ln>
        </p:spPr>
      </p:pic>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lank page for full page image">
    <p:bg>
      <p:bgPr>
        <a:solidFill>
          <a:srgbClr val="FFFFFF"/>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6"/>
          <a:srcRect/>
          <a:tile tx="0" ty="0" sx="100000" sy="100000" flip="none" algn="tl"/>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621778" y="719999"/>
            <a:ext cx="11761243" cy="193953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defRPr>
            </a:pPr>
            <a:r>
              <a:rPr sz="4800">
                <a:solidFill>
                  <a:srgbClr val="FFFFFF"/>
                </a:solidFill>
              </a:rPr>
              <a:t>Title Text</a:t>
            </a:r>
          </a:p>
        </p:txBody>
      </p:sp>
      <p:sp>
        <p:nvSpPr>
          <p:cNvPr id="3" name="Shape 3"/>
          <p:cNvSpPr>
            <a:spLocks noGrp="1"/>
          </p:cNvSpPr>
          <p:nvPr>
            <p:ph type="body" idx="1"/>
          </p:nvPr>
        </p:nvSpPr>
        <p:spPr>
          <a:xfrm>
            <a:off x="707299" y="2867299"/>
            <a:ext cx="10464801" cy="3311394"/>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defRPr>
            </a:pPr>
            <a:r>
              <a:rPr sz="3600">
                <a:solidFill>
                  <a:srgbClr val="FFFFFF"/>
                </a:solidFill>
              </a:rPr>
              <a:t>Body Level One</a:t>
            </a:r>
          </a:p>
          <a:p>
            <a:pPr lvl="1">
              <a:defRPr sz="1800">
                <a:solidFill>
                  <a:srgbClr val="000000"/>
                </a:solidFill>
              </a:defRPr>
            </a:pPr>
            <a:r>
              <a:rPr sz="3600">
                <a:solidFill>
                  <a:srgbClr val="FFFFFF"/>
                </a:solidFill>
              </a:rPr>
              <a:t>Body Level Two</a:t>
            </a:r>
          </a:p>
          <a:p>
            <a:pPr lvl="2">
              <a:defRPr sz="1800">
                <a:solidFill>
                  <a:srgbClr val="000000"/>
                </a:solidFill>
              </a:defRPr>
            </a:pPr>
            <a:r>
              <a:rPr sz="3600">
                <a:solidFill>
                  <a:srgbClr val="FFFFFF"/>
                </a:solidFill>
              </a:rPr>
              <a:t>Body Level Three</a:t>
            </a:r>
          </a:p>
          <a:p>
            <a:pPr lvl="3">
              <a:defRPr sz="1800">
                <a:solidFill>
                  <a:srgbClr val="000000"/>
                </a:solidFill>
              </a:defRPr>
            </a:pPr>
            <a:r>
              <a:rPr sz="3600">
                <a:solidFill>
                  <a:srgbClr val="FFFFFF"/>
                </a:solidFill>
              </a:rPr>
              <a:t>Body Level Four</a:t>
            </a:r>
          </a:p>
          <a:p>
            <a:pPr lvl="4">
              <a:defRPr sz="1800">
                <a:solidFill>
                  <a:srgbClr val="000000"/>
                </a:solidFill>
              </a:defRPr>
            </a:pPr>
            <a:r>
              <a:rPr sz="3600">
                <a:solidFill>
                  <a:srgbClr val="FFFFFF"/>
                </a:solidFill>
              </a:rPr>
              <a:t>Body Level Five</a:t>
            </a:r>
          </a:p>
        </p:txBody>
      </p:sp>
      <p:pic>
        <p:nvPicPr>
          <p:cNvPr id="4" name="pasted-image.png"/>
          <p:cNvPicPr/>
          <p:nvPr/>
        </p:nvPicPr>
        <p:blipFill>
          <a:blip r:embed="rId7">
            <a:extLst/>
          </a:blip>
          <a:stretch>
            <a:fillRect/>
          </a:stretch>
        </p:blipFill>
        <p:spPr>
          <a:xfrm>
            <a:off x="0" y="9542521"/>
            <a:ext cx="13004800" cy="625359"/>
          </a:xfrm>
          <a:prstGeom prst="rect">
            <a:avLst/>
          </a:prstGeom>
          <a:ln w="12700">
            <a:miter lim="400000"/>
          </a:ln>
        </p:spPr>
      </p:pic>
      <p:pic>
        <p:nvPicPr>
          <p:cNvPr id="5" name="cessda logo solid neg.pdf"/>
          <p:cNvPicPr/>
          <p:nvPr/>
        </p:nvPicPr>
        <p:blipFill>
          <a:blip r:embed="rId8">
            <a:extLst/>
          </a:blip>
          <a:srcRect t="30"/>
          <a:stretch>
            <a:fillRect/>
          </a:stretch>
        </p:blipFill>
        <p:spPr>
          <a:xfrm>
            <a:off x="11506851" y="9002565"/>
            <a:ext cx="1173391" cy="370260"/>
          </a:xfrm>
          <a:prstGeom prst="rect">
            <a:avLst/>
          </a:prstGeom>
          <a:ln w="12700">
            <a:miter lim="400000"/>
          </a:ln>
        </p:spPr>
      </p:pic>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transition spd="med"/>
  <p:txStyles>
    <p:titleStyle>
      <a:lvl1pPr defTabSz="584200">
        <a:lnSpc>
          <a:spcPts val="5800"/>
        </a:lnSpc>
        <a:defRPr sz="4800">
          <a:solidFill>
            <a:srgbClr val="FFFFFF"/>
          </a:solidFill>
          <a:latin typeface="+mn-lt"/>
          <a:ea typeface="+mn-ea"/>
          <a:cs typeface="+mn-cs"/>
          <a:sym typeface="Lato Regular"/>
        </a:defRPr>
      </a:lvl1pPr>
      <a:lvl2pPr indent="228600" defTabSz="584200">
        <a:lnSpc>
          <a:spcPts val="5800"/>
        </a:lnSpc>
        <a:defRPr sz="4800">
          <a:solidFill>
            <a:srgbClr val="FFFFFF"/>
          </a:solidFill>
          <a:latin typeface="+mn-lt"/>
          <a:ea typeface="+mn-ea"/>
          <a:cs typeface="+mn-cs"/>
          <a:sym typeface="Lato Regular"/>
        </a:defRPr>
      </a:lvl2pPr>
      <a:lvl3pPr indent="457200" defTabSz="584200">
        <a:lnSpc>
          <a:spcPts val="5800"/>
        </a:lnSpc>
        <a:defRPr sz="4800">
          <a:solidFill>
            <a:srgbClr val="FFFFFF"/>
          </a:solidFill>
          <a:latin typeface="+mn-lt"/>
          <a:ea typeface="+mn-ea"/>
          <a:cs typeface="+mn-cs"/>
          <a:sym typeface="Lato Regular"/>
        </a:defRPr>
      </a:lvl3pPr>
      <a:lvl4pPr indent="685800" defTabSz="584200">
        <a:lnSpc>
          <a:spcPts val="5800"/>
        </a:lnSpc>
        <a:defRPr sz="4800">
          <a:solidFill>
            <a:srgbClr val="FFFFFF"/>
          </a:solidFill>
          <a:latin typeface="+mn-lt"/>
          <a:ea typeface="+mn-ea"/>
          <a:cs typeface="+mn-cs"/>
          <a:sym typeface="Lato Regular"/>
        </a:defRPr>
      </a:lvl4pPr>
      <a:lvl5pPr indent="914400" defTabSz="584200">
        <a:lnSpc>
          <a:spcPts val="5800"/>
        </a:lnSpc>
        <a:defRPr sz="4800">
          <a:solidFill>
            <a:srgbClr val="FFFFFF"/>
          </a:solidFill>
          <a:latin typeface="+mn-lt"/>
          <a:ea typeface="+mn-ea"/>
          <a:cs typeface="+mn-cs"/>
          <a:sym typeface="Lato Regular"/>
        </a:defRPr>
      </a:lvl5pPr>
      <a:lvl6pPr indent="1143000" defTabSz="584200">
        <a:lnSpc>
          <a:spcPts val="5800"/>
        </a:lnSpc>
        <a:defRPr sz="4800">
          <a:solidFill>
            <a:srgbClr val="FFFFFF"/>
          </a:solidFill>
          <a:latin typeface="+mn-lt"/>
          <a:ea typeface="+mn-ea"/>
          <a:cs typeface="+mn-cs"/>
          <a:sym typeface="Lato Regular"/>
        </a:defRPr>
      </a:lvl6pPr>
      <a:lvl7pPr indent="1371600" defTabSz="584200">
        <a:lnSpc>
          <a:spcPts val="5800"/>
        </a:lnSpc>
        <a:defRPr sz="4800">
          <a:solidFill>
            <a:srgbClr val="FFFFFF"/>
          </a:solidFill>
          <a:latin typeface="+mn-lt"/>
          <a:ea typeface="+mn-ea"/>
          <a:cs typeface="+mn-cs"/>
          <a:sym typeface="Lato Regular"/>
        </a:defRPr>
      </a:lvl7pPr>
      <a:lvl8pPr indent="1600200" defTabSz="584200">
        <a:lnSpc>
          <a:spcPts val="5800"/>
        </a:lnSpc>
        <a:defRPr sz="4800">
          <a:solidFill>
            <a:srgbClr val="FFFFFF"/>
          </a:solidFill>
          <a:latin typeface="+mn-lt"/>
          <a:ea typeface="+mn-ea"/>
          <a:cs typeface="+mn-cs"/>
          <a:sym typeface="Lato Regular"/>
        </a:defRPr>
      </a:lvl8pPr>
      <a:lvl9pPr indent="1828800" defTabSz="584200">
        <a:lnSpc>
          <a:spcPts val="5800"/>
        </a:lnSpc>
        <a:defRPr sz="4800">
          <a:solidFill>
            <a:srgbClr val="FFFFFF"/>
          </a:solidFill>
          <a:latin typeface="+mn-lt"/>
          <a:ea typeface="+mn-ea"/>
          <a:cs typeface="+mn-cs"/>
          <a:sym typeface="Lato Regular"/>
        </a:defRPr>
      </a:lvl9pPr>
    </p:titleStyle>
    <p:bodyStyle>
      <a:lvl1pPr marL="444500" indent="-444500" defTabSz="584200">
        <a:lnSpc>
          <a:spcPts val="4300"/>
        </a:lnSpc>
        <a:buSzPct val="75000"/>
        <a:buChar char="•"/>
        <a:defRPr sz="3600">
          <a:solidFill>
            <a:srgbClr val="FFFFFF"/>
          </a:solidFill>
          <a:latin typeface="+mn-lt"/>
          <a:ea typeface="+mn-ea"/>
          <a:cs typeface="+mn-cs"/>
          <a:sym typeface="Lato Regular"/>
        </a:defRPr>
      </a:lvl1pPr>
      <a:lvl2pPr marL="889000" indent="-444500" defTabSz="584200">
        <a:lnSpc>
          <a:spcPts val="4300"/>
        </a:lnSpc>
        <a:buSzPct val="75000"/>
        <a:buChar char="•"/>
        <a:defRPr sz="3600">
          <a:solidFill>
            <a:srgbClr val="FFFFFF"/>
          </a:solidFill>
          <a:latin typeface="+mn-lt"/>
          <a:ea typeface="+mn-ea"/>
          <a:cs typeface="+mn-cs"/>
          <a:sym typeface="Lato Regular"/>
        </a:defRPr>
      </a:lvl2pPr>
      <a:lvl3pPr marL="1333500" indent="-444500" defTabSz="584200">
        <a:lnSpc>
          <a:spcPts val="4300"/>
        </a:lnSpc>
        <a:buSzPct val="75000"/>
        <a:buChar char="•"/>
        <a:defRPr sz="3600">
          <a:solidFill>
            <a:srgbClr val="FFFFFF"/>
          </a:solidFill>
          <a:latin typeface="+mn-lt"/>
          <a:ea typeface="+mn-ea"/>
          <a:cs typeface="+mn-cs"/>
          <a:sym typeface="Lato Regular"/>
        </a:defRPr>
      </a:lvl3pPr>
      <a:lvl4pPr marL="1778000" indent="-444500" defTabSz="584200">
        <a:lnSpc>
          <a:spcPts val="4300"/>
        </a:lnSpc>
        <a:buSzPct val="75000"/>
        <a:buChar char="•"/>
        <a:defRPr sz="3600">
          <a:solidFill>
            <a:srgbClr val="FFFFFF"/>
          </a:solidFill>
          <a:latin typeface="+mn-lt"/>
          <a:ea typeface="+mn-ea"/>
          <a:cs typeface="+mn-cs"/>
          <a:sym typeface="Lato Regular"/>
        </a:defRPr>
      </a:lvl4pPr>
      <a:lvl5pPr marL="2222500" indent="-444500" defTabSz="584200">
        <a:lnSpc>
          <a:spcPts val="4300"/>
        </a:lnSpc>
        <a:buSzPct val="75000"/>
        <a:buChar char="•"/>
        <a:defRPr sz="3600">
          <a:solidFill>
            <a:srgbClr val="FFFFFF"/>
          </a:solidFill>
          <a:latin typeface="+mn-lt"/>
          <a:ea typeface="+mn-ea"/>
          <a:cs typeface="+mn-cs"/>
          <a:sym typeface="Lato Regular"/>
        </a:defRPr>
      </a:lvl5pPr>
      <a:lvl6pPr marL="2667000" indent="-444500" defTabSz="584200">
        <a:lnSpc>
          <a:spcPts val="4300"/>
        </a:lnSpc>
        <a:buSzPct val="75000"/>
        <a:buChar char="•"/>
        <a:defRPr sz="3600">
          <a:solidFill>
            <a:srgbClr val="FFFFFF"/>
          </a:solidFill>
          <a:latin typeface="+mn-lt"/>
          <a:ea typeface="+mn-ea"/>
          <a:cs typeface="+mn-cs"/>
          <a:sym typeface="Lato Regular"/>
        </a:defRPr>
      </a:lvl6pPr>
      <a:lvl7pPr marL="3111500" indent="-444500" defTabSz="584200">
        <a:lnSpc>
          <a:spcPts val="4300"/>
        </a:lnSpc>
        <a:buSzPct val="75000"/>
        <a:buChar char="•"/>
        <a:defRPr sz="3600">
          <a:solidFill>
            <a:srgbClr val="FFFFFF"/>
          </a:solidFill>
          <a:latin typeface="+mn-lt"/>
          <a:ea typeface="+mn-ea"/>
          <a:cs typeface="+mn-cs"/>
          <a:sym typeface="Lato Regular"/>
        </a:defRPr>
      </a:lvl7pPr>
      <a:lvl8pPr marL="3556000" indent="-444500" defTabSz="584200">
        <a:lnSpc>
          <a:spcPts val="4300"/>
        </a:lnSpc>
        <a:buSzPct val="75000"/>
        <a:buChar char="•"/>
        <a:defRPr sz="3600">
          <a:solidFill>
            <a:srgbClr val="FFFFFF"/>
          </a:solidFill>
          <a:latin typeface="+mn-lt"/>
          <a:ea typeface="+mn-ea"/>
          <a:cs typeface="+mn-cs"/>
          <a:sym typeface="Lato Regular"/>
        </a:defRPr>
      </a:lvl8pPr>
      <a:lvl9pPr marL="4000500" indent="-444500" defTabSz="584200">
        <a:lnSpc>
          <a:spcPts val="4300"/>
        </a:lnSpc>
        <a:buSzPct val="75000"/>
        <a:buChar char="•"/>
        <a:defRPr sz="3600">
          <a:solidFill>
            <a:srgbClr val="FFFFFF"/>
          </a:solidFill>
          <a:latin typeface="+mn-lt"/>
          <a:ea typeface="+mn-ea"/>
          <a:cs typeface="+mn-cs"/>
          <a:sym typeface="Lato Regular"/>
        </a:defRPr>
      </a:lvl9pPr>
    </p:bodyStyle>
    <p:otherStyle>
      <a:lvl1pPr algn="ctr" defTabSz="584200">
        <a:defRPr>
          <a:solidFill>
            <a:schemeClr val="tx1"/>
          </a:solidFill>
          <a:latin typeface="+mn-lt"/>
          <a:ea typeface="+mn-ea"/>
          <a:cs typeface="+mn-cs"/>
          <a:sym typeface="Helvetica Light"/>
        </a:defRPr>
      </a:lvl1pPr>
      <a:lvl2pPr indent="228600" algn="ctr" defTabSz="584200">
        <a:defRPr>
          <a:solidFill>
            <a:schemeClr val="tx1"/>
          </a:solidFill>
          <a:latin typeface="+mn-lt"/>
          <a:ea typeface="+mn-ea"/>
          <a:cs typeface="+mn-cs"/>
          <a:sym typeface="Helvetica Light"/>
        </a:defRPr>
      </a:lvl2pPr>
      <a:lvl3pPr indent="457200" algn="ctr" defTabSz="584200">
        <a:defRPr>
          <a:solidFill>
            <a:schemeClr val="tx1"/>
          </a:solidFill>
          <a:latin typeface="+mn-lt"/>
          <a:ea typeface="+mn-ea"/>
          <a:cs typeface="+mn-cs"/>
          <a:sym typeface="Helvetica Light"/>
        </a:defRPr>
      </a:lvl3pPr>
      <a:lvl4pPr indent="685800" algn="ctr" defTabSz="584200">
        <a:defRPr>
          <a:solidFill>
            <a:schemeClr val="tx1"/>
          </a:solidFill>
          <a:latin typeface="+mn-lt"/>
          <a:ea typeface="+mn-ea"/>
          <a:cs typeface="+mn-cs"/>
          <a:sym typeface="Helvetica Light"/>
        </a:defRPr>
      </a:lvl4pPr>
      <a:lvl5pPr indent="914400" algn="ctr" defTabSz="584200">
        <a:defRPr>
          <a:solidFill>
            <a:schemeClr val="tx1"/>
          </a:solidFill>
          <a:latin typeface="+mn-lt"/>
          <a:ea typeface="+mn-ea"/>
          <a:cs typeface="+mn-cs"/>
          <a:sym typeface="Helvetica Light"/>
        </a:defRPr>
      </a:lvl5pPr>
      <a:lvl6pPr indent="1143000" algn="ctr" defTabSz="584200">
        <a:defRPr>
          <a:solidFill>
            <a:schemeClr val="tx1"/>
          </a:solidFill>
          <a:latin typeface="+mn-lt"/>
          <a:ea typeface="+mn-ea"/>
          <a:cs typeface="+mn-cs"/>
          <a:sym typeface="Helvetica Light"/>
        </a:defRPr>
      </a:lvl6pPr>
      <a:lvl7pPr indent="1371600" algn="ctr" defTabSz="584200">
        <a:defRPr>
          <a:solidFill>
            <a:schemeClr val="tx1"/>
          </a:solidFill>
          <a:latin typeface="+mn-lt"/>
          <a:ea typeface="+mn-ea"/>
          <a:cs typeface="+mn-cs"/>
          <a:sym typeface="Helvetica Light"/>
        </a:defRPr>
      </a:lvl7pPr>
      <a:lvl8pPr indent="1600200" algn="ctr" defTabSz="584200">
        <a:defRPr>
          <a:solidFill>
            <a:schemeClr val="tx1"/>
          </a:solidFill>
          <a:latin typeface="+mn-lt"/>
          <a:ea typeface="+mn-ea"/>
          <a:cs typeface="+mn-cs"/>
          <a:sym typeface="Helvetica Light"/>
        </a:defRPr>
      </a:lvl8pPr>
      <a:lvl9pPr indent="1828800" algn="ctr" defTabSz="584200">
        <a:defRPr>
          <a:solidFill>
            <a:schemeClr val="tx1"/>
          </a:solidFill>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cessda.ne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mailto:mari.kleemola@uta.fi"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20"/>
          <p:cNvSpPr>
            <a:spLocks noGrp="1"/>
          </p:cNvSpPr>
          <p:nvPr>
            <p:ph type="title"/>
          </p:nvPr>
        </p:nvSpPr>
        <p:spPr>
          <a:xfrm>
            <a:off x="3511100" y="1607300"/>
            <a:ext cx="9280674" cy="1939529"/>
          </a:xfrm>
          <a:prstGeom prst="rect">
            <a:avLst/>
          </a:prstGeom>
        </p:spPr>
        <p:txBody>
          <a:bodyPr>
            <a:normAutofit fontScale="90000"/>
          </a:bodyPr>
          <a:lstStyle>
            <a:lvl1pPr defTabSz="508254">
              <a:lnSpc>
                <a:spcPts val="7400"/>
              </a:lnSpc>
              <a:defRPr sz="6264"/>
            </a:lvl1pPr>
          </a:lstStyle>
          <a:p>
            <a:pPr lvl="0">
              <a:defRPr sz="1800">
                <a:solidFill>
                  <a:srgbClr val="000000"/>
                </a:solidFill>
              </a:defRPr>
            </a:pPr>
            <a:r>
              <a:rPr lang="en-US" sz="6500" dirty="0">
                <a:solidFill>
                  <a:schemeClr val="bg1"/>
                </a:solidFill>
              </a:rPr>
              <a:t>Introducing the CESSDA Metadata Management </a:t>
            </a:r>
            <a:r>
              <a:rPr lang="en-US" sz="6500" dirty="0" smtClean="0">
                <a:solidFill>
                  <a:schemeClr val="bg1"/>
                </a:solidFill>
              </a:rPr>
              <a:t>Project</a:t>
            </a:r>
            <a:r>
              <a:rPr sz="6264" dirty="0" smtClean="0">
                <a:solidFill>
                  <a:schemeClr val="bg1"/>
                </a:solidFill>
              </a:rPr>
              <a:t> </a:t>
            </a:r>
            <a:endParaRPr sz="6264" dirty="0">
              <a:solidFill>
                <a:schemeClr val="bg1"/>
              </a:solidFill>
            </a:endParaRPr>
          </a:p>
        </p:txBody>
      </p:sp>
      <p:sp>
        <p:nvSpPr>
          <p:cNvPr id="21" name="Shape 21"/>
          <p:cNvSpPr/>
          <p:nvPr/>
        </p:nvSpPr>
        <p:spPr>
          <a:xfrm>
            <a:off x="127090" y="8730133"/>
            <a:ext cx="12664683" cy="366767"/>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pPr lvl="0">
              <a:lnSpc>
                <a:spcPts val="2200"/>
              </a:lnSpc>
              <a:defRPr b="0">
                <a:solidFill>
                  <a:srgbClr val="000000"/>
                </a:solidFill>
              </a:defRPr>
            </a:pPr>
            <a:r>
              <a:rPr lang="en-US" dirty="0">
                <a:solidFill>
                  <a:schemeClr val="bg1"/>
                </a:solidFill>
              </a:rPr>
              <a:t>EDDI15 – 7th Annual European DDI User </a:t>
            </a:r>
            <a:r>
              <a:rPr lang="en-US" dirty="0" smtClean="0">
                <a:solidFill>
                  <a:schemeClr val="bg1"/>
                </a:solidFill>
              </a:rPr>
              <a:t>Conference, Copenhagen (Denmark), Dec 2-3, 2015</a:t>
            </a:r>
            <a:endParaRPr b="1" dirty="0">
              <a:solidFill>
                <a:schemeClr val="bg1"/>
              </a:solidFill>
            </a:endParaRPr>
          </a:p>
        </p:txBody>
      </p:sp>
      <p:sp>
        <p:nvSpPr>
          <p:cNvPr id="22" name="Shape 22"/>
          <p:cNvSpPr/>
          <p:nvPr/>
        </p:nvSpPr>
        <p:spPr>
          <a:xfrm>
            <a:off x="199929" y="5278996"/>
            <a:ext cx="12599603" cy="2257990"/>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a:lnSpc>
                <a:spcPts val="4300"/>
              </a:lnSpc>
              <a:defRPr sz="3600" b="0">
                <a:latin typeface="+mn-lt"/>
                <a:ea typeface="+mn-ea"/>
                <a:cs typeface="+mn-cs"/>
                <a:sym typeface="Lato Regular"/>
              </a:defRPr>
            </a:lvl1pPr>
          </a:lstStyle>
          <a:p>
            <a:r>
              <a:rPr lang="en-US" sz="3000" dirty="0"/>
              <a:t>Wolfgang Zenk-Möltgen, GESIS - Leibniz Institute for the Social Sciences</a:t>
            </a:r>
            <a:endParaRPr lang="en-US" sz="3000" dirty="0" smtClean="0"/>
          </a:p>
          <a:p>
            <a:r>
              <a:rPr lang="en-US" sz="3000" dirty="0" smtClean="0"/>
              <a:t>Mari </a:t>
            </a:r>
            <a:r>
              <a:rPr lang="en-US" sz="3000" dirty="0" err="1"/>
              <a:t>Kleemola</a:t>
            </a:r>
            <a:r>
              <a:rPr lang="en-US" sz="3000" dirty="0"/>
              <a:t>, Finnish Social Science Data Archive</a:t>
            </a:r>
            <a:endParaRPr lang="en-US" sz="3000" dirty="0" smtClean="0"/>
          </a:p>
          <a:p>
            <a:r>
              <a:rPr lang="en-US" sz="3000" dirty="0" smtClean="0"/>
              <a:t>Anne </a:t>
            </a:r>
            <a:r>
              <a:rPr lang="en-US" sz="3000" dirty="0"/>
              <a:t>Etheridge</a:t>
            </a:r>
            <a:r>
              <a:rPr lang="en-US" sz="3000" dirty="0" smtClean="0"/>
              <a:t>, </a:t>
            </a:r>
            <a:r>
              <a:rPr lang="en-US" sz="3000" dirty="0"/>
              <a:t>UK Data Archive</a:t>
            </a:r>
            <a:endParaRPr lang="en-US" sz="3000" dirty="0" smtClean="0"/>
          </a:p>
          <a:p>
            <a:r>
              <a:rPr lang="en-US" sz="3000" dirty="0" smtClean="0"/>
              <a:t>Anne </a:t>
            </a:r>
            <a:r>
              <a:rPr lang="en-US" sz="3000" dirty="0"/>
              <a:t>Sofie Fink </a:t>
            </a:r>
            <a:r>
              <a:rPr lang="en-US" sz="3000" dirty="0" err="1" smtClean="0"/>
              <a:t>Kjeldgaard</a:t>
            </a:r>
            <a:r>
              <a:rPr lang="en-US" sz="3000" dirty="0" smtClean="0"/>
              <a:t>,</a:t>
            </a:r>
            <a:r>
              <a:rPr lang="en-US" sz="3000" dirty="0"/>
              <a:t> Dansk Data </a:t>
            </a:r>
            <a:r>
              <a:rPr lang="en-US" sz="3000" dirty="0" err="1"/>
              <a:t>Arkiv</a:t>
            </a:r>
            <a:endParaRPr sz="3000" dirty="0">
              <a:solidFill>
                <a:srgbClr val="FFFFFF"/>
              </a:solidFill>
            </a:endParaRPr>
          </a:p>
        </p:txBody>
      </p:sp>
      <p:pic>
        <p:nvPicPr>
          <p:cNvPr id="24" name="pasted-image.pdf"/>
          <p:cNvPicPr/>
          <p:nvPr/>
        </p:nvPicPr>
        <p:blipFill>
          <a:blip r:embed="rId2">
            <a:extLst/>
          </a:blip>
          <a:stretch>
            <a:fillRect/>
          </a:stretch>
        </p:blipFill>
        <p:spPr>
          <a:xfrm>
            <a:off x="9636053" y="7687733"/>
            <a:ext cx="3022601" cy="96520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smtClean="0">
                <a:solidFill>
                  <a:srgbClr val="FFFFFF"/>
                </a:solidFill>
              </a:rPr>
              <a:t>Outline</a:t>
            </a:r>
            <a:endParaRPr sz="4800" dirty="0">
              <a:solidFill>
                <a:srgbClr val="FFFFFF"/>
              </a:solidFill>
            </a:endParaRPr>
          </a:p>
        </p:txBody>
      </p:sp>
      <p:sp>
        <p:nvSpPr>
          <p:cNvPr id="46" name="Shape 46"/>
          <p:cNvSpPr>
            <a:spLocks noGrp="1"/>
          </p:cNvSpPr>
          <p:nvPr>
            <p:ph type="body" idx="1"/>
          </p:nvPr>
        </p:nvSpPr>
        <p:spPr>
          <a:xfrm>
            <a:off x="723900" y="1729567"/>
            <a:ext cx="10464800" cy="7393168"/>
          </a:xfrm>
          <a:prstGeom prst="rect">
            <a:avLst/>
          </a:prstGeom>
        </p:spPr>
        <p:txBody>
          <a:bodyPr>
            <a:noAutofit/>
          </a:bodyPr>
          <a:lstStyle>
            <a:lvl1pPr>
              <a:lnSpc>
                <a:spcPct val="100000"/>
              </a:lnSpc>
            </a:lvl1pPr>
          </a:lstStyle>
          <a:p>
            <a:pPr lvl="0">
              <a:defRPr sz="1800">
                <a:solidFill>
                  <a:srgbClr val="000000"/>
                </a:solidFill>
              </a:defRPr>
            </a:pPr>
            <a:r>
              <a:rPr lang="de-DE" sz="3600" dirty="0" err="1" smtClean="0">
                <a:solidFill>
                  <a:srgbClr val="FFFFFF"/>
                </a:solidFill>
              </a:rPr>
              <a:t>About</a:t>
            </a:r>
            <a:r>
              <a:rPr lang="de-DE" sz="3600" dirty="0" smtClean="0">
                <a:solidFill>
                  <a:srgbClr val="FFFFFF"/>
                </a:solidFill>
              </a:rPr>
              <a:t> CESSDA</a:t>
            </a:r>
          </a:p>
          <a:p>
            <a:pPr lvl="1">
              <a:defRPr sz="1800">
                <a:solidFill>
                  <a:srgbClr val="000000"/>
                </a:solidFill>
              </a:defRPr>
            </a:pPr>
            <a:r>
              <a:rPr lang="de-DE" sz="2400" dirty="0" err="1" smtClean="0">
                <a:solidFill>
                  <a:srgbClr val="FFFFFF"/>
                </a:solidFill>
              </a:rPr>
              <a:t>Objectives</a:t>
            </a:r>
            <a:endParaRPr lang="de-DE" sz="2400" dirty="0" smtClean="0">
              <a:solidFill>
                <a:srgbClr val="FFFFFF"/>
              </a:solidFill>
            </a:endParaRPr>
          </a:p>
          <a:p>
            <a:pPr lvl="1">
              <a:defRPr sz="1800">
                <a:solidFill>
                  <a:srgbClr val="000000"/>
                </a:solidFill>
              </a:defRPr>
            </a:pPr>
            <a:r>
              <a:rPr lang="de-DE" sz="2400" dirty="0">
                <a:solidFill>
                  <a:schemeClr val="bg1"/>
                </a:solidFill>
              </a:rPr>
              <a:t>Members</a:t>
            </a:r>
            <a:endParaRPr lang="de-DE" sz="2400" dirty="0" smtClean="0">
              <a:solidFill>
                <a:schemeClr val="bg1"/>
              </a:solidFill>
            </a:endParaRPr>
          </a:p>
          <a:p>
            <a:pPr lvl="1">
              <a:defRPr sz="1800">
                <a:solidFill>
                  <a:srgbClr val="000000"/>
                </a:solidFill>
              </a:defRPr>
            </a:pPr>
            <a:r>
              <a:rPr lang="de-DE" sz="2400" dirty="0" err="1" smtClean="0">
                <a:solidFill>
                  <a:srgbClr val="FFFFFF"/>
                </a:solidFill>
              </a:rPr>
              <a:t>Current</a:t>
            </a:r>
            <a:r>
              <a:rPr lang="de-DE" sz="2400" dirty="0" smtClean="0">
                <a:solidFill>
                  <a:srgbClr val="FFFFFF"/>
                </a:solidFill>
              </a:rPr>
              <a:t> </a:t>
            </a:r>
            <a:r>
              <a:rPr lang="de-DE" sz="2400" dirty="0" err="1" smtClean="0">
                <a:solidFill>
                  <a:srgbClr val="FFFFFF"/>
                </a:solidFill>
              </a:rPr>
              <a:t>projects</a:t>
            </a:r>
            <a:endParaRPr lang="de-DE" sz="2400" dirty="0" smtClean="0">
              <a:solidFill>
                <a:srgbClr val="FFFFFF"/>
              </a:solidFill>
            </a:endParaRPr>
          </a:p>
          <a:p>
            <a:pPr lvl="0">
              <a:defRPr sz="1800">
                <a:solidFill>
                  <a:srgbClr val="000000"/>
                </a:solidFill>
              </a:defRPr>
            </a:pPr>
            <a:r>
              <a:rPr lang="de-DE" sz="3600" dirty="0" smtClean="0">
                <a:solidFill>
                  <a:srgbClr val="FFFFFF"/>
                </a:solidFill>
              </a:rPr>
              <a:t>The CMM </a:t>
            </a:r>
            <a:r>
              <a:rPr lang="de-DE" sz="3600" dirty="0" err="1" smtClean="0">
                <a:solidFill>
                  <a:srgbClr val="FFFFFF"/>
                </a:solidFill>
              </a:rPr>
              <a:t>project</a:t>
            </a:r>
            <a:endParaRPr lang="de-DE" sz="3600" dirty="0" smtClean="0">
              <a:solidFill>
                <a:srgbClr val="FFFFFF"/>
              </a:solidFill>
            </a:endParaRPr>
          </a:p>
          <a:p>
            <a:pPr lvl="1">
              <a:defRPr sz="1800">
                <a:solidFill>
                  <a:srgbClr val="000000"/>
                </a:solidFill>
              </a:defRPr>
            </a:pPr>
            <a:r>
              <a:rPr lang="de-DE" sz="2400" dirty="0" err="1" smtClean="0">
                <a:solidFill>
                  <a:schemeClr val="bg1"/>
                </a:solidFill>
              </a:rPr>
              <a:t>Objective</a:t>
            </a:r>
            <a:r>
              <a:rPr lang="de-DE" sz="2400" dirty="0" smtClean="0">
                <a:solidFill>
                  <a:schemeClr val="bg1"/>
                </a:solidFill>
              </a:rPr>
              <a:t> </a:t>
            </a:r>
            <a:r>
              <a:rPr lang="de-DE" sz="2400" dirty="0" err="1" smtClean="0">
                <a:solidFill>
                  <a:schemeClr val="bg1"/>
                </a:solidFill>
              </a:rPr>
              <a:t>and</a:t>
            </a:r>
            <a:r>
              <a:rPr lang="de-DE" sz="2400" dirty="0" smtClean="0">
                <a:solidFill>
                  <a:schemeClr val="bg1"/>
                </a:solidFill>
              </a:rPr>
              <a:t> </a:t>
            </a:r>
            <a:r>
              <a:rPr lang="de-DE" sz="2400" dirty="0" err="1" smtClean="0">
                <a:solidFill>
                  <a:schemeClr val="bg1"/>
                </a:solidFill>
              </a:rPr>
              <a:t>output</a:t>
            </a:r>
            <a:endParaRPr lang="de-DE" sz="2400" dirty="0" smtClean="0">
              <a:solidFill>
                <a:schemeClr val="bg1"/>
              </a:solidFill>
            </a:endParaRPr>
          </a:p>
          <a:p>
            <a:pPr lvl="1">
              <a:defRPr sz="1800">
                <a:solidFill>
                  <a:srgbClr val="000000"/>
                </a:solidFill>
              </a:defRPr>
            </a:pPr>
            <a:r>
              <a:rPr lang="de-DE" sz="2400" dirty="0" smtClean="0">
                <a:solidFill>
                  <a:schemeClr val="bg1"/>
                </a:solidFill>
              </a:rPr>
              <a:t>Tasks </a:t>
            </a:r>
            <a:r>
              <a:rPr lang="de-DE" sz="2400" dirty="0" err="1" smtClean="0">
                <a:solidFill>
                  <a:schemeClr val="bg1"/>
                </a:solidFill>
              </a:rPr>
              <a:t>and</a:t>
            </a:r>
            <a:r>
              <a:rPr lang="de-DE" sz="2400" dirty="0" smtClean="0">
                <a:solidFill>
                  <a:schemeClr val="bg1"/>
                </a:solidFill>
              </a:rPr>
              <a:t> </a:t>
            </a:r>
            <a:r>
              <a:rPr lang="de-DE" sz="2400" dirty="0" err="1" smtClean="0">
                <a:solidFill>
                  <a:schemeClr val="bg1"/>
                </a:solidFill>
              </a:rPr>
              <a:t>partners</a:t>
            </a:r>
            <a:endParaRPr lang="de-DE" sz="2400" dirty="0" smtClean="0">
              <a:solidFill>
                <a:schemeClr val="bg1"/>
              </a:solidFill>
            </a:endParaRPr>
          </a:p>
          <a:p>
            <a:pPr lvl="1">
              <a:defRPr sz="1800">
                <a:solidFill>
                  <a:srgbClr val="000000"/>
                </a:solidFill>
              </a:defRPr>
            </a:pPr>
            <a:r>
              <a:rPr lang="de-DE" sz="2400" dirty="0" err="1" smtClean="0">
                <a:solidFill>
                  <a:schemeClr val="bg1"/>
                </a:solidFill>
              </a:rPr>
              <a:t>Deliverables</a:t>
            </a:r>
            <a:endParaRPr lang="de-DE" sz="2400" dirty="0" smtClean="0">
              <a:solidFill>
                <a:schemeClr val="bg1"/>
              </a:solidFill>
            </a:endParaRPr>
          </a:p>
          <a:p>
            <a:pPr lvl="1">
              <a:defRPr sz="1800">
                <a:solidFill>
                  <a:srgbClr val="000000"/>
                </a:solidFill>
              </a:defRPr>
            </a:pPr>
            <a:r>
              <a:rPr lang="de-DE" sz="2400" dirty="0" smtClean="0">
                <a:solidFill>
                  <a:schemeClr val="bg1"/>
                </a:solidFill>
              </a:rPr>
              <a:t>Timeline</a:t>
            </a:r>
          </a:p>
          <a:p>
            <a:pPr lvl="0">
              <a:defRPr sz="1800">
                <a:solidFill>
                  <a:srgbClr val="000000"/>
                </a:solidFill>
              </a:defRPr>
            </a:pPr>
            <a:r>
              <a:rPr lang="de-DE" sz="3600" dirty="0" smtClean="0">
                <a:solidFill>
                  <a:srgbClr val="FFFFFF"/>
                </a:solidFill>
              </a:rPr>
              <a:t>Working on </a:t>
            </a:r>
            <a:r>
              <a:rPr lang="de-DE" sz="3600" dirty="0" err="1" smtClean="0">
                <a:solidFill>
                  <a:srgbClr val="FFFFFF"/>
                </a:solidFill>
              </a:rPr>
              <a:t>Metadata</a:t>
            </a:r>
            <a:r>
              <a:rPr lang="de-DE" sz="3600" dirty="0" smtClean="0">
                <a:solidFill>
                  <a:srgbClr val="FFFFFF"/>
                </a:solidFill>
              </a:rPr>
              <a:t> Management</a:t>
            </a:r>
          </a:p>
          <a:p>
            <a:pPr lvl="1">
              <a:defRPr sz="1800">
                <a:solidFill>
                  <a:srgbClr val="000000"/>
                </a:solidFill>
              </a:defRPr>
            </a:pPr>
            <a:r>
              <a:rPr lang="de-DE" sz="2400" dirty="0" err="1" smtClean="0">
                <a:solidFill>
                  <a:schemeClr val="bg1"/>
                </a:solidFill>
              </a:rPr>
              <a:t>What</a:t>
            </a:r>
            <a:r>
              <a:rPr lang="de-DE" sz="2400" dirty="0" smtClean="0">
                <a:solidFill>
                  <a:schemeClr val="bg1"/>
                </a:solidFill>
              </a:rPr>
              <a:t> will </a:t>
            </a:r>
            <a:r>
              <a:rPr lang="de-DE" sz="2400" dirty="0" err="1" smtClean="0">
                <a:solidFill>
                  <a:schemeClr val="bg1"/>
                </a:solidFill>
              </a:rPr>
              <a:t>the</a:t>
            </a:r>
            <a:r>
              <a:rPr lang="de-DE" sz="2400" dirty="0" smtClean="0">
                <a:solidFill>
                  <a:schemeClr val="bg1"/>
                </a:solidFill>
              </a:rPr>
              <a:t> Portfolio do?</a:t>
            </a:r>
            <a:endParaRPr lang="de-DE" sz="2400" dirty="0" smtClean="0">
              <a:solidFill>
                <a:schemeClr val="bg1"/>
              </a:solidFill>
            </a:endParaRPr>
          </a:p>
          <a:p>
            <a:pPr lvl="1">
              <a:defRPr sz="1800">
                <a:solidFill>
                  <a:srgbClr val="000000"/>
                </a:solidFill>
              </a:defRPr>
            </a:pPr>
            <a:r>
              <a:rPr lang="de-DE" sz="2400" dirty="0" err="1" smtClean="0">
                <a:solidFill>
                  <a:schemeClr val="bg1"/>
                </a:solidFill>
              </a:rPr>
              <a:t>What</a:t>
            </a:r>
            <a:r>
              <a:rPr lang="de-DE" sz="2400" dirty="0" smtClean="0">
                <a:solidFill>
                  <a:schemeClr val="bg1"/>
                </a:solidFill>
              </a:rPr>
              <a:t> </a:t>
            </a:r>
            <a:r>
              <a:rPr lang="de-DE" sz="2400" dirty="0" err="1" smtClean="0">
                <a:solidFill>
                  <a:schemeClr val="bg1"/>
                </a:solidFill>
              </a:rPr>
              <a:t>advantages</a:t>
            </a:r>
            <a:r>
              <a:rPr lang="de-DE" sz="2400" dirty="0" smtClean="0">
                <a:solidFill>
                  <a:schemeClr val="bg1"/>
                </a:solidFill>
              </a:rPr>
              <a:t> </a:t>
            </a:r>
            <a:r>
              <a:rPr lang="de-DE" sz="2400" dirty="0" err="1" smtClean="0">
                <a:solidFill>
                  <a:schemeClr val="bg1"/>
                </a:solidFill>
              </a:rPr>
              <a:t>does</a:t>
            </a:r>
            <a:r>
              <a:rPr lang="de-DE" sz="2400" dirty="0" smtClean="0">
                <a:solidFill>
                  <a:schemeClr val="bg1"/>
                </a:solidFill>
              </a:rPr>
              <a:t> </a:t>
            </a:r>
            <a:r>
              <a:rPr lang="de-DE" sz="2400" dirty="0" err="1" smtClean="0">
                <a:solidFill>
                  <a:schemeClr val="bg1"/>
                </a:solidFill>
              </a:rPr>
              <a:t>the</a:t>
            </a:r>
            <a:r>
              <a:rPr lang="de-DE" sz="2400" dirty="0" smtClean="0">
                <a:solidFill>
                  <a:schemeClr val="bg1"/>
                </a:solidFill>
              </a:rPr>
              <a:t> Portfolio </a:t>
            </a:r>
            <a:r>
              <a:rPr lang="de-DE" sz="2400" dirty="0" err="1" smtClean="0">
                <a:solidFill>
                  <a:schemeClr val="bg1"/>
                </a:solidFill>
              </a:rPr>
              <a:t>give</a:t>
            </a:r>
            <a:r>
              <a:rPr lang="de-DE" sz="2400" dirty="0" smtClean="0">
                <a:solidFill>
                  <a:schemeClr val="bg1"/>
                </a:solidFill>
              </a:rPr>
              <a:t>?</a:t>
            </a:r>
            <a:endParaRPr lang="de-DE" sz="2400" dirty="0" smtClean="0">
              <a:solidFill>
                <a:schemeClr val="bg1"/>
              </a:solidFill>
            </a:endParaRPr>
          </a:p>
          <a:p>
            <a:pPr lvl="1">
              <a:defRPr sz="1800">
                <a:solidFill>
                  <a:srgbClr val="000000"/>
                </a:solidFill>
              </a:defRPr>
            </a:pPr>
            <a:r>
              <a:rPr lang="de-DE" sz="2400" dirty="0" err="1" smtClean="0">
                <a:solidFill>
                  <a:schemeClr val="bg1"/>
                </a:solidFill>
              </a:rPr>
              <a:t>How</a:t>
            </a:r>
            <a:r>
              <a:rPr lang="de-DE" sz="2400" dirty="0" smtClean="0">
                <a:solidFill>
                  <a:schemeClr val="bg1"/>
                </a:solidFill>
              </a:rPr>
              <a:t> </a:t>
            </a:r>
            <a:r>
              <a:rPr lang="de-DE" sz="2400" dirty="0" err="1" smtClean="0">
                <a:solidFill>
                  <a:schemeClr val="bg1"/>
                </a:solidFill>
              </a:rPr>
              <a:t>are</a:t>
            </a:r>
            <a:r>
              <a:rPr lang="de-DE" sz="2400" dirty="0" smtClean="0">
                <a:solidFill>
                  <a:schemeClr val="bg1"/>
                </a:solidFill>
              </a:rPr>
              <a:t> </a:t>
            </a:r>
            <a:r>
              <a:rPr lang="de-DE" sz="2400" dirty="0" err="1" smtClean="0">
                <a:solidFill>
                  <a:schemeClr val="bg1"/>
                </a:solidFill>
              </a:rPr>
              <a:t>we</a:t>
            </a:r>
            <a:r>
              <a:rPr lang="de-DE" sz="2400" dirty="0" smtClean="0">
                <a:solidFill>
                  <a:schemeClr val="bg1"/>
                </a:solidFill>
              </a:rPr>
              <a:t> </a:t>
            </a:r>
            <a:r>
              <a:rPr lang="de-DE" sz="2400" dirty="0" err="1" smtClean="0">
                <a:solidFill>
                  <a:schemeClr val="bg1"/>
                </a:solidFill>
              </a:rPr>
              <a:t>using</a:t>
            </a:r>
            <a:r>
              <a:rPr lang="de-DE" sz="2400" dirty="0" smtClean="0">
                <a:solidFill>
                  <a:schemeClr val="bg1"/>
                </a:solidFill>
              </a:rPr>
              <a:t> DDI?</a:t>
            </a:r>
          </a:p>
          <a:p>
            <a:pPr lvl="0">
              <a:defRPr sz="1800">
                <a:solidFill>
                  <a:srgbClr val="000000"/>
                </a:solidFill>
              </a:defRPr>
            </a:pPr>
            <a:endParaRPr sz="3600" dirty="0">
              <a:solidFill>
                <a:srgbClr val="FFFFFF"/>
              </a:solidFill>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err="1" smtClean="0">
                <a:solidFill>
                  <a:srgbClr val="FFFFFF"/>
                </a:solidFill>
              </a:rPr>
              <a:t>About</a:t>
            </a:r>
            <a:r>
              <a:rPr lang="de-DE" sz="4800" dirty="0" smtClean="0">
                <a:solidFill>
                  <a:srgbClr val="FFFFFF"/>
                </a:solidFill>
              </a:rPr>
              <a:t> CESSDA</a:t>
            </a:r>
            <a:endParaRPr sz="4800" dirty="0">
              <a:solidFill>
                <a:srgbClr val="FFFFFF"/>
              </a:solidFill>
            </a:endParaRPr>
          </a:p>
        </p:txBody>
      </p:sp>
      <p:sp>
        <p:nvSpPr>
          <p:cNvPr id="46" name="Shape 46"/>
          <p:cNvSpPr>
            <a:spLocks noGrp="1"/>
          </p:cNvSpPr>
          <p:nvPr>
            <p:ph type="body" idx="1"/>
          </p:nvPr>
        </p:nvSpPr>
        <p:spPr>
          <a:xfrm>
            <a:off x="723900" y="2867298"/>
            <a:ext cx="10464800" cy="4139557"/>
          </a:xfrm>
          <a:prstGeom prst="rect">
            <a:avLst/>
          </a:prstGeom>
        </p:spPr>
        <p:txBody>
          <a:bodyPr>
            <a:noAutofit/>
          </a:bodyPr>
          <a:lstStyle>
            <a:lvl1pPr>
              <a:lnSpc>
                <a:spcPct val="100000"/>
              </a:lnSpc>
            </a:lvl1pPr>
          </a:lstStyle>
          <a:p>
            <a:pPr lvl="0">
              <a:defRPr sz="1800">
                <a:solidFill>
                  <a:srgbClr val="000000"/>
                </a:solidFill>
              </a:defRPr>
            </a:pPr>
            <a:r>
              <a:rPr lang="de-DE" sz="3600" dirty="0" err="1" smtClean="0">
                <a:solidFill>
                  <a:srgbClr val="FFFFFF"/>
                </a:solidFill>
              </a:rPr>
              <a:t>Objectives</a:t>
            </a:r>
            <a:endParaRPr lang="de-DE" sz="3600" dirty="0" smtClean="0">
              <a:solidFill>
                <a:srgbClr val="FFFFFF"/>
              </a:solidFill>
            </a:endParaRPr>
          </a:p>
          <a:p>
            <a:pPr lvl="0">
              <a:defRPr sz="1800">
                <a:solidFill>
                  <a:srgbClr val="000000"/>
                </a:solidFill>
              </a:defRPr>
            </a:pPr>
            <a:r>
              <a:rPr lang="de-DE" sz="3600" dirty="0" smtClean="0">
                <a:solidFill>
                  <a:srgbClr val="FFFFFF"/>
                </a:solidFill>
              </a:rPr>
              <a:t>Members</a:t>
            </a:r>
          </a:p>
          <a:p>
            <a:pPr lvl="0">
              <a:defRPr sz="1800">
                <a:solidFill>
                  <a:srgbClr val="000000"/>
                </a:solidFill>
              </a:defRPr>
            </a:pPr>
            <a:r>
              <a:rPr lang="de-DE" sz="3600" dirty="0" err="1" smtClean="0">
                <a:solidFill>
                  <a:srgbClr val="FFFFFF"/>
                </a:solidFill>
              </a:rPr>
              <a:t>Current</a:t>
            </a:r>
            <a:r>
              <a:rPr lang="de-DE" sz="3600" dirty="0" smtClean="0">
                <a:solidFill>
                  <a:srgbClr val="FFFFFF"/>
                </a:solidFill>
              </a:rPr>
              <a:t> </a:t>
            </a:r>
            <a:r>
              <a:rPr lang="de-DE" sz="3600" dirty="0" err="1" smtClean="0">
                <a:solidFill>
                  <a:srgbClr val="FFFFFF"/>
                </a:solidFill>
              </a:rPr>
              <a:t>projects</a:t>
            </a:r>
            <a:endParaRPr sz="3600" dirty="0">
              <a:solidFill>
                <a:srgbClr val="FFFFFF"/>
              </a:solidFill>
            </a:endParaRPr>
          </a:p>
        </p:txBody>
      </p:sp>
    </p:spTree>
    <p:extLst>
      <p:ext uri="{BB962C8B-B14F-4D97-AF65-F5344CB8AC3E}">
        <p14:creationId xmlns:p14="http://schemas.microsoft.com/office/powerpoint/2010/main" val="3508656927"/>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smtClean="0">
                <a:solidFill>
                  <a:srgbClr val="FFFFFF"/>
                </a:solidFill>
              </a:rPr>
              <a:t>CESSDA </a:t>
            </a:r>
            <a:r>
              <a:rPr lang="de-DE" sz="4800" dirty="0" err="1" smtClean="0">
                <a:solidFill>
                  <a:srgbClr val="FFFFFF"/>
                </a:solidFill>
              </a:rPr>
              <a:t>Objectives</a:t>
            </a:r>
            <a:endParaRPr sz="4800" dirty="0">
              <a:solidFill>
                <a:srgbClr val="FFFFFF"/>
              </a:solidFill>
            </a:endParaRPr>
          </a:p>
        </p:txBody>
      </p:sp>
      <p:sp>
        <p:nvSpPr>
          <p:cNvPr id="2" name="Textplatzhalter 1"/>
          <p:cNvSpPr>
            <a:spLocks noGrp="1"/>
          </p:cNvSpPr>
          <p:nvPr>
            <p:ph type="body" idx="1"/>
          </p:nvPr>
        </p:nvSpPr>
        <p:spPr/>
        <p:txBody>
          <a:bodyPr>
            <a:normAutofit fontScale="77500" lnSpcReduction="20000"/>
          </a:bodyPr>
          <a:lstStyle/>
          <a:p>
            <a:r>
              <a:rPr lang="en-US" dirty="0"/>
              <a:t>CESSDA provides large scale, integrated and sustainable data services to the social sciences. It brings together social science data archives across Europe, with the aim of promoting the results of social science research and supporting national and international research and cooperation</a:t>
            </a:r>
            <a:r>
              <a:rPr lang="en-US" dirty="0" smtClean="0"/>
              <a:t>.</a:t>
            </a:r>
          </a:p>
          <a:p>
            <a:r>
              <a:rPr lang="de-DE" dirty="0" smtClean="0">
                <a:hlinkClick r:id="rId2"/>
              </a:rPr>
              <a:t>http://cessda.net</a:t>
            </a:r>
            <a:endParaRPr lang="de-DE" dirty="0" smtClean="0"/>
          </a:p>
          <a:p>
            <a:endParaRPr lang="en-US" dirty="0"/>
          </a:p>
        </p:txBody>
      </p:sp>
    </p:spTree>
    <p:extLst>
      <p:ext uri="{BB962C8B-B14F-4D97-AF65-F5344CB8AC3E}">
        <p14:creationId xmlns:p14="http://schemas.microsoft.com/office/powerpoint/2010/main" val="3444090816"/>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hape 80"/>
          <p:cNvSpPr>
            <a:spLocks noGrp="1"/>
          </p:cNvSpPr>
          <p:nvPr>
            <p:ph type="body" idx="1"/>
          </p:nvPr>
        </p:nvSpPr>
        <p:spPr>
          <a:xfrm>
            <a:off x="719999" y="2879999"/>
            <a:ext cx="3549935" cy="6883401"/>
          </a:xfrm>
          <a:prstGeom prst="rect">
            <a:avLst/>
          </a:prstGeom>
        </p:spPr>
        <p:txBody>
          <a:bodyPr>
            <a:noAutofit/>
          </a:bodyPr>
          <a:lstStyle/>
          <a:p>
            <a:pPr marL="0" lvl="0" indent="0">
              <a:lnSpc>
                <a:spcPts val="2600"/>
              </a:lnSpc>
              <a:buNone/>
              <a:defRPr sz="1800">
                <a:solidFill>
                  <a:srgbClr val="000000"/>
                </a:solidFill>
              </a:defRPr>
            </a:pPr>
            <a:r>
              <a:rPr sz="2200" b="1" dirty="0" smtClean="0">
                <a:solidFill>
                  <a:srgbClr val="FFFFFF"/>
                </a:solidFill>
                <a:latin typeface="Lato-Heavy"/>
                <a:ea typeface="Lato-Heavy"/>
                <a:cs typeface="Lato-Heavy"/>
                <a:sym typeface="Lato-Heavy"/>
              </a:rPr>
              <a:t>1</a:t>
            </a:r>
            <a:r>
              <a:rPr lang="de-DE" sz="2200" b="1" dirty="0" smtClean="0">
                <a:solidFill>
                  <a:srgbClr val="FFFFFF"/>
                </a:solidFill>
                <a:latin typeface="Lato-Heavy"/>
                <a:ea typeface="Lato-Heavy"/>
                <a:cs typeface="Lato-Heavy"/>
                <a:sym typeface="Lato-Heavy"/>
              </a:rPr>
              <a:t>4</a:t>
            </a:r>
            <a:r>
              <a:rPr sz="2200" b="1" dirty="0" smtClean="0">
                <a:solidFill>
                  <a:srgbClr val="FFFFFF"/>
                </a:solidFill>
                <a:latin typeface="Lato-Heavy"/>
                <a:ea typeface="Lato-Heavy"/>
                <a:cs typeface="Lato-Heavy"/>
                <a:sym typeface="Lato-Heavy"/>
              </a:rPr>
              <a:t> </a:t>
            </a:r>
            <a:r>
              <a:rPr sz="2200" b="1" dirty="0">
                <a:solidFill>
                  <a:srgbClr val="FFFFFF"/>
                </a:solidFill>
                <a:latin typeface="Lato-Heavy"/>
                <a:ea typeface="Lato-Heavy"/>
                <a:cs typeface="Lato-Heavy"/>
                <a:sym typeface="Lato-Heavy"/>
              </a:rPr>
              <a:t>CESSDA members </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Austria - </a:t>
            </a:r>
            <a:r>
              <a:rPr b="1" dirty="0" smtClean="0">
                <a:solidFill>
                  <a:srgbClr val="FFFFFF"/>
                </a:solidFill>
                <a:latin typeface="Lato-Heavy"/>
                <a:ea typeface="Lato-Heavy"/>
                <a:cs typeface="Lato-Heavy"/>
                <a:sym typeface="Lato-Heavy"/>
              </a:rPr>
              <a:t>WISDO</a:t>
            </a:r>
            <a:r>
              <a:rPr lang="nb-NO" b="1" dirty="0" smtClean="0">
                <a:solidFill>
                  <a:srgbClr val="FFFFFF"/>
                </a:solidFill>
                <a:latin typeface="Lato-Heavy"/>
                <a:ea typeface="Lato-Heavy"/>
                <a:cs typeface="Lato-Heavy"/>
                <a:sym typeface="Lato-Heavy"/>
              </a:rPr>
              <a:t>M</a:t>
            </a:r>
            <a:endParaRPr b="1" dirty="0">
              <a:solidFill>
                <a:srgbClr val="FFFFFF"/>
              </a:solidFill>
              <a:latin typeface="Lato-Heavy"/>
              <a:ea typeface="Lato-Heavy"/>
              <a:cs typeface="Lato-Heavy"/>
              <a:sym typeface="Lato-Heavy"/>
            </a:endParaRP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Czech Republic - CSDA</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Denmark - DDA</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Finland - FSD</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France </a:t>
            </a:r>
            <a:r>
              <a:rPr lang="en-US" b="1" dirty="0" smtClean="0">
                <a:solidFill>
                  <a:srgbClr val="FFFFFF"/>
                </a:solidFill>
                <a:latin typeface="Lato-Heavy"/>
                <a:ea typeface="Lato-Heavy"/>
                <a:cs typeface="Lato-Heavy"/>
                <a:sym typeface="Lato-Heavy"/>
              </a:rPr>
              <a:t>–</a:t>
            </a:r>
            <a:r>
              <a:rPr b="1" dirty="0" smtClean="0">
                <a:solidFill>
                  <a:srgbClr val="FFFFFF"/>
                </a:solidFill>
                <a:latin typeface="Lato-Heavy"/>
                <a:ea typeface="Lato-Heavy"/>
                <a:cs typeface="Lato-Heavy"/>
                <a:sym typeface="Lato-Heavy"/>
              </a:rPr>
              <a:t> </a:t>
            </a:r>
            <a:r>
              <a:rPr lang="nb-NO" b="1" dirty="0" smtClean="0">
                <a:solidFill>
                  <a:srgbClr val="FFFFFF"/>
                </a:solidFill>
                <a:latin typeface="Lato-Heavy"/>
                <a:ea typeface="Lato-Heavy"/>
                <a:cs typeface="Lato-Heavy"/>
                <a:sym typeface="Lato-Heavy"/>
              </a:rPr>
              <a:t>PROGEDO/</a:t>
            </a:r>
            <a:r>
              <a:rPr b="1" dirty="0" smtClean="0">
                <a:solidFill>
                  <a:srgbClr val="FFFFFF"/>
                </a:solidFill>
                <a:latin typeface="Lato-Heavy"/>
                <a:ea typeface="Lato-Heavy"/>
                <a:cs typeface="Lato-Heavy"/>
                <a:sym typeface="Lato-Heavy"/>
              </a:rPr>
              <a:t> </a:t>
            </a:r>
            <a:r>
              <a:rPr b="1" dirty="0">
                <a:solidFill>
                  <a:srgbClr val="FFFFFF"/>
                </a:solidFill>
                <a:latin typeface="Lato-Heavy"/>
                <a:ea typeface="Lato-Heavy"/>
                <a:cs typeface="Lato-Heavy"/>
                <a:sym typeface="Lato-Heavy"/>
              </a:rPr>
              <a:t>Quetelet</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Germany </a:t>
            </a:r>
            <a:r>
              <a:rPr lang="en-US" b="1" dirty="0" smtClean="0">
                <a:solidFill>
                  <a:srgbClr val="FFFFFF"/>
                </a:solidFill>
                <a:latin typeface="Lato-Heavy"/>
                <a:ea typeface="Lato-Heavy"/>
                <a:cs typeface="Lato-Heavy"/>
                <a:sym typeface="Lato-Heavy"/>
              </a:rPr>
              <a:t>–</a:t>
            </a:r>
            <a:r>
              <a:rPr b="1" dirty="0" smtClean="0">
                <a:solidFill>
                  <a:srgbClr val="FFFFFF"/>
                </a:solidFill>
                <a:latin typeface="Lato-Heavy"/>
                <a:ea typeface="Lato-Heavy"/>
                <a:cs typeface="Lato-Heavy"/>
                <a:sym typeface="Lato-Heavy"/>
              </a:rPr>
              <a:t> GESIS</a:t>
            </a:r>
            <a:endParaRPr lang="de-DE" b="1" dirty="0" smtClean="0">
              <a:solidFill>
                <a:srgbClr val="FFFFFF"/>
              </a:solidFill>
              <a:latin typeface="Lato-Heavy"/>
              <a:ea typeface="Lato-Heavy"/>
              <a:cs typeface="Lato-Heavy"/>
              <a:sym typeface="Lato-Heavy"/>
            </a:endParaRPr>
          </a:p>
          <a:p>
            <a:pPr marL="222250" lvl="0" indent="-222250">
              <a:lnSpc>
                <a:spcPct val="100000"/>
              </a:lnSpc>
              <a:defRPr sz="1800">
                <a:solidFill>
                  <a:srgbClr val="000000"/>
                </a:solidFill>
              </a:defRPr>
            </a:pPr>
            <a:r>
              <a:rPr lang="de-DE" b="1" dirty="0" err="1" smtClean="0">
                <a:solidFill>
                  <a:schemeClr val="bg1"/>
                </a:solidFill>
                <a:latin typeface="Lato-Heavy"/>
                <a:ea typeface="Lato-Heavy"/>
                <a:cs typeface="Lato-Heavy"/>
                <a:sym typeface="Lato-Heavy"/>
              </a:rPr>
              <a:t>Greece</a:t>
            </a:r>
            <a:r>
              <a:rPr lang="de-DE" b="1" dirty="0" smtClean="0">
                <a:solidFill>
                  <a:schemeClr val="bg1"/>
                </a:solidFill>
                <a:latin typeface="Lato-Heavy"/>
                <a:ea typeface="Lato-Heavy"/>
                <a:cs typeface="Lato-Heavy"/>
                <a:sym typeface="Lato-Heavy"/>
              </a:rPr>
              <a:t> – </a:t>
            </a:r>
            <a:r>
              <a:rPr lang="de-DE" b="1" dirty="0" err="1" smtClean="0">
                <a:solidFill>
                  <a:schemeClr val="bg1"/>
                </a:solidFill>
                <a:latin typeface="Lato-Heavy"/>
                <a:ea typeface="Lato-Heavy"/>
                <a:cs typeface="Lato-Heavy"/>
                <a:sym typeface="Lato-Heavy"/>
              </a:rPr>
              <a:t>So.Da.Net</a:t>
            </a:r>
            <a:endParaRPr b="1" dirty="0">
              <a:solidFill>
                <a:schemeClr val="bg1"/>
              </a:solidFill>
              <a:latin typeface="Lato-Heavy"/>
              <a:ea typeface="Lato-Heavy"/>
              <a:cs typeface="Lato-Heavy"/>
              <a:sym typeface="Lato-Heavy"/>
            </a:endParaRP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Lithuania - LiDA</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Netherlands - DANS</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Norway - NSD</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Slovenia - ADP</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Sweden - SND</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Switzerland - FORS</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UK - UKDA</a:t>
            </a:r>
          </a:p>
          <a:p>
            <a:pPr marL="222250" lvl="0" indent="-222250">
              <a:defRPr sz="1800">
                <a:solidFill>
                  <a:srgbClr val="000000"/>
                </a:solidFill>
              </a:defRPr>
            </a:pPr>
            <a:endParaRPr dirty="0">
              <a:solidFill>
                <a:srgbClr val="FFFFFF"/>
              </a:solidFill>
            </a:endParaRPr>
          </a:p>
          <a:p>
            <a:pPr marL="0" lvl="0" indent="0">
              <a:lnSpc>
                <a:spcPts val="2600"/>
              </a:lnSpc>
              <a:buNone/>
              <a:defRPr sz="1800">
                <a:solidFill>
                  <a:srgbClr val="000000"/>
                </a:solidFill>
              </a:defRPr>
            </a:pPr>
            <a:r>
              <a:rPr sz="2200" b="1" dirty="0">
                <a:solidFill>
                  <a:srgbClr val="FFFFFF"/>
                </a:solidFill>
                <a:latin typeface="Lato-Heavy"/>
                <a:ea typeface="Lato-Heavy"/>
                <a:cs typeface="Lato-Heavy"/>
                <a:sym typeface="Lato-Heavy"/>
              </a:rPr>
              <a:t>1 observer</a:t>
            </a:r>
          </a:p>
          <a:p>
            <a:pPr marL="222250" lvl="0" indent="-222250">
              <a:lnSpc>
                <a:spcPct val="100000"/>
              </a:lnSpc>
              <a:defRPr sz="1800">
                <a:solidFill>
                  <a:srgbClr val="000000"/>
                </a:solidFill>
              </a:defRPr>
            </a:pPr>
            <a:r>
              <a:rPr b="1" dirty="0">
                <a:solidFill>
                  <a:srgbClr val="FFFFFF"/>
                </a:solidFill>
                <a:latin typeface="Lato-Heavy"/>
                <a:ea typeface="Lato-Heavy"/>
                <a:cs typeface="Lato-Heavy"/>
                <a:sym typeface="Lato-Heavy"/>
              </a:rPr>
              <a:t>Slovakia - SASD </a:t>
            </a:r>
          </a:p>
        </p:txBody>
      </p:sp>
      <p:sp>
        <p:nvSpPr>
          <p:cNvPr id="4"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smtClean="0">
                <a:solidFill>
                  <a:srgbClr val="FFFFFF"/>
                </a:solidFill>
              </a:rPr>
              <a:t>CESSDA Members</a:t>
            </a:r>
            <a:endParaRPr sz="4800" dirty="0">
              <a:solidFill>
                <a:srgbClr val="FFFFFF"/>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931" y="2149733"/>
            <a:ext cx="6729999" cy="640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7587365"/>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smtClean="0">
                <a:solidFill>
                  <a:srgbClr val="FFFFFF"/>
                </a:solidFill>
              </a:rPr>
              <a:t>CESSDA </a:t>
            </a:r>
            <a:r>
              <a:rPr lang="de-DE" sz="4800" dirty="0" err="1" smtClean="0">
                <a:solidFill>
                  <a:srgbClr val="FFFFFF"/>
                </a:solidFill>
              </a:rPr>
              <a:t>Current</a:t>
            </a:r>
            <a:r>
              <a:rPr lang="de-DE" sz="4800" dirty="0" smtClean="0">
                <a:solidFill>
                  <a:srgbClr val="FFFFFF"/>
                </a:solidFill>
              </a:rPr>
              <a:t> </a:t>
            </a:r>
            <a:r>
              <a:rPr lang="de-DE" sz="4800" dirty="0" err="1" smtClean="0">
                <a:solidFill>
                  <a:srgbClr val="FFFFFF"/>
                </a:solidFill>
              </a:rPr>
              <a:t>projects</a:t>
            </a:r>
            <a:endParaRPr sz="4800" dirty="0">
              <a:solidFill>
                <a:srgbClr val="FFFFFF"/>
              </a:solidFill>
            </a:endParaRPr>
          </a:p>
        </p:txBody>
      </p:sp>
      <p:sp>
        <p:nvSpPr>
          <p:cNvPr id="6" name="Text Placeholder 2"/>
          <p:cNvSpPr>
            <a:spLocks noGrp="1"/>
          </p:cNvSpPr>
          <p:nvPr>
            <p:ph type="body" idx="1"/>
          </p:nvPr>
        </p:nvSpPr>
        <p:spPr>
          <a:xfrm>
            <a:off x="707299" y="1974127"/>
            <a:ext cx="10464801" cy="3311394"/>
          </a:xfrm>
        </p:spPr>
        <p:txBody>
          <a:bodyPr/>
          <a:lstStyle/>
          <a:p>
            <a:r>
              <a:rPr lang="fi-FI" dirty="0" smtClean="0"/>
              <a:t>Metadata are essential for all SPs’ operations and for CESSDA’s key services so there are several interdependencies with other Work Plan Tasks and also with projects beyond CESSDA</a:t>
            </a:r>
          </a:p>
          <a:p>
            <a:r>
              <a:rPr lang="fi-FI" dirty="0" smtClean="0"/>
              <a:t>Examples:</a:t>
            </a:r>
            <a:endParaRPr lang="fi-FI" dirty="0"/>
          </a:p>
        </p:txBody>
      </p:sp>
      <p:sp>
        <p:nvSpPr>
          <p:cNvPr id="7" name="Text Placeholder 2"/>
          <p:cNvSpPr txBox="1">
            <a:spLocks/>
          </p:cNvSpPr>
          <p:nvPr/>
        </p:nvSpPr>
        <p:spPr>
          <a:xfrm>
            <a:off x="859699" y="5267586"/>
            <a:ext cx="10464801" cy="3667705"/>
          </a:xfrm>
          <a:prstGeom prst="rect">
            <a:avLst/>
          </a:prstGeom>
          <a:ln w="12700">
            <a:miter lim="400000"/>
          </a:ln>
          <a:extLst>
            <a:ext uri="{C572A759-6A51-4108-AA02-DFA0A04FC94B}">
              <ma14:wrappingTextBoxFlag xmlns="" xmlns:ma14="http://schemas.microsoft.com/office/mac/drawingml/2011/main" val="1"/>
            </a:ext>
          </a:extLst>
        </p:spPr>
        <p:txBody>
          <a:bodyPr lIns="0" tIns="0" rIns="0" bIns="0" numCol="2">
            <a:normAutofit fontScale="55000" lnSpcReduction="20000"/>
          </a:bodyPr>
          <a:lstStyle>
            <a:lvl1pPr marL="444500" indent="-444500" defTabSz="584200">
              <a:lnSpc>
                <a:spcPts val="4300"/>
              </a:lnSpc>
              <a:buSzPct val="75000"/>
              <a:buChar char="•"/>
              <a:defRPr sz="3600">
                <a:solidFill>
                  <a:srgbClr val="FFFFFF"/>
                </a:solidFill>
                <a:latin typeface="+mn-lt"/>
                <a:ea typeface="+mn-ea"/>
                <a:cs typeface="+mn-cs"/>
                <a:sym typeface="Lato Regular"/>
              </a:defRPr>
            </a:lvl1pPr>
            <a:lvl2pPr marL="889000" indent="-444500" defTabSz="584200">
              <a:lnSpc>
                <a:spcPts val="4300"/>
              </a:lnSpc>
              <a:buSzPct val="75000"/>
              <a:buChar char="•"/>
              <a:defRPr sz="3600">
                <a:solidFill>
                  <a:srgbClr val="FFFFFF"/>
                </a:solidFill>
                <a:latin typeface="+mn-lt"/>
                <a:ea typeface="+mn-ea"/>
                <a:cs typeface="+mn-cs"/>
                <a:sym typeface="Lato Regular"/>
              </a:defRPr>
            </a:lvl2pPr>
            <a:lvl3pPr marL="1333500" indent="-444500" defTabSz="584200">
              <a:lnSpc>
                <a:spcPts val="4300"/>
              </a:lnSpc>
              <a:buSzPct val="75000"/>
              <a:buChar char="•"/>
              <a:defRPr sz="3600">
                <a:solidFill>
                  <a:srgbClr val="FFFFFF"/>
                </a:solidFill>
                <a:latin typeface="+mn-lt"/>
                <a:ea typeface="+mn-ea"/>
                <a:cs typeface="+mn-cs"/>
                <a:sym typeface="Lato Regular"/>
              </a:defRPr>
            </a:lvl3pPr>
            <a:lvl4pPr marL="1778000" indent="-444500" defTabSz="584200">
              <a:lnSpc>
                <a:spcPts val="4300"/>
              </a:lnSpc>
              <a:buSzPct val="75000"/>
              <a:buChar char="•"/>
              <a:defRPr sz="3600">
                <a:solidFill>
                  <a:srgbClr val="FFFFFF"/>
                </a:solidFill>
                <a:latin typeface="+mn-lt"/>
                <a:ea typeface="+mn-ea"/>
                <a:cs typeface="+mn-cs"/>
                <a:sym typeface="Lato Regular"/>
              </a:defRPr>
            </a:lvl4pPr>
            <a:lvl5pPr marL="2222500" indent="-444500" defTabSz="584200">
              <a:lnSpc>
                <a:spcPts val="4300"/>
              </a:lnSpc>
              <a:buSzPct val="75000"/>
              <a:buChar char="•"/>
              <a:defRPr sz="3600">
                <a:solidFill>
                  <a:srgbClr val="FFFFFF"/>
                </a:solidFill>
                <a:latin typeface="+mn-lt"/>
                <a:ea typeface="+mn-ea"/>
                <a:cs typeface="+mn-cs"/>
                <a:sym typeface="Lato Regular"/>
              </a:defRPr>
            </a:lvl5pPr>
            <a:lvl6pPr marL="2667000" indent="-444500" defTabSz="584200">
              <a:lnSpc>
                <a:spcPts val="4300"/>
              </a:lnSpc>
              <a:buSzPct val="75000"/>
              <a:buChar char="•"/>
              <a:defRPr sz="3600">
                <a:solidFill>
                  <a:srgbClr val="FFFFFF"/>
                </a:solidFill>
                <a:latin typeface="+mn-lt"/>
                <a:ea typeface="+mn-ea"/>
                <a:cs typeface="+mn-cs"/>
                <a:sym typeface="Lato Regular"/>
              </a:defRPr>
            </a:lvl6pPr>
            <a:lvl7pPr marL="3111500" indent="-444500" defTabSz="584200">
              <a:lnSpc>
                <a:spcPts val="4300"/>
              </a:lnSpc>
              <a:buSzPct val="75000"/>
              <a:buChar char="•"/>
              <a:defRPr sz="3600">
                <a:solidFill>
                  <a:srgbClr val="FFFFFF"/>
                </a:solidFill>
                <a:latin typeface="+mn-lt"/>
                <a:ea typeface="+mn-ea"/>
                <a:cs typeface="+mn-cs"/>
                <a:sym typeface="Lato Regular"/>
              </a:defRPr>
            </a:lvl7pPr>
            <a:lvl8pPr marL="3556000" indent="-444500" defTabSz="584200">
              <a:lnSpc>
                <a:spcPts val="4300"/>
              </a:lnSpc>
              <a:buSzPct val="75000"/>
              <a:buChar char="•"/>
              <a:defRPr sz="3600">
                <a:solidFill>
                  <a:srgbClr val="FFFFFF"/>
                </a:solidFill>
                <a:latin typeface="+mn-lt"/>
                <a:ea typeface="+mn-ea"/>
                <a:cs typeface="+mn-cs"/>
                <a:sym typeface="Lato Regular"/>
              </a:defRPr>
            </a:lvl8pPr>
            <a:lvl9pPr marL="4000500" indent="-444500" defTabSz="584200">
              <a:lnSpc>
                <a:spcPts val="4300"/>
              </a:lnSpc>
              <a:buSzPct val="75000"/>
              <a:buChar char="•"/>
              <a:defRPr sz="3600">
                <a:solidFill>
                  <a:srgbClr val="FFFFFF"/>
                </a:solidFill>
                <a:latin typeface="+mn-lt"/>
                <a:ea typeface="+mn-ea"/>
                <a:cs typeface="+mn-cs"/>
                <a:sym typeface="Lato Regular"/>
              </a:defRPr>
            </a:lvl9pPr>
          </a:lstStyle>
          <a:p>
            <a:pPr lvl="0" algn="l">
              <a:lnSpc>
                <a:spcPct val="120000"/>
              </a:lnSpc>
            </a:pPr>
            <a:r>
              <a:rPr lang="fi-FI" dirty="0" smtClean="0"/>
              <a:t>CESSDA </a:t>
            </a:r>
            <a:r>
              <a:rPr lang="fi-FI" dirty="0"/>
              <a:t>Product and Service Catalogue</a:t>
            </a:r>
          </a:p>
          <a:p>
            <a:pPr lvl="0" algn="l">
              <a:lnSpc>
                <a:spcPct val="120000"/>
              </a:lnSpc>
            </a:pPr>
            <a:r>
              <a:rPr lang="fi-FI" dirty="0"/>
              <a:t>CESSDA Metadata Harvesting Tool</a:t>
            </a:r>
          </a:p>
          <a:p>
            <a:pPr lvl="0" algn="l">
              <a:lnSpc>
                <a:spcPct val="120000"/>
              </a:lnSpc>
            </a:pPr>
            <a:r>
              <a:rPr lang="fi-FI" dirty="0"/>
              <a:t>Multi-lingual thesaurus</a:t>
            </a:r>
          </a:p>
          <a:p>
            <a:pPr lvl="0" algn="l">
              <a:lnSpc>
                <a:spcPct val="120000"/>
              </a:lnSpc>
            </a:pPr>
            <a:r>
              <a:rPr lang="fi-FI" dirty="0"/>
              <a:t>Secure Direct Access Portal</a:t>
            </a:r>
          </a:p>
          <a:p>
            <a:pPr lvl="0" algn="l">
              <a:lnSpc>
                <a:spcPct val="120000"/>
              </a:lnSpc>
            </a:pPr>
            <a:r>
              <a:rPr lang="fi-FI" dirty="0"/>
              <a:t>DDI Alignment and Versioning</a:t>
            </a:r>
          </a:p>
          <a:p>
            <a:pPr lvl="0" algn="l">
              <a:lnSpc>
                <a:spcPct val="120000"/>
              </a:lnSpc>
            </a:pPr>
            <a:r>
              <a:rPr lang="fi-FI" dirty="0"/>
              <a:t>Authentication and authorization</a:t>
            </a:r>
          </a:p>
          <a:p>
            <a:pPr lvl="0" algn="l">
              <a:lnSpc>
                <a:spcPct val="120000"/>
              </a:lnSpc>
            </a:pPr>
            <a:r>
              <a:rPr lang="fi-FI" dirty="0"/>
              <a:t>Euro Question Bank</a:t>
            </a:r>
          </a:p>
          <a:p>
            <a:pPr lvl="0" algn="l">
              <a:lnSpc>
                <a:spcPct val="120000"/>
              </a:lnSpc>
            </a:pPr>
            <a:r>
              <a:rPr lang="fi-FI" dirty="0"/>
              <a:t>Harmonisation</a:t>
            </a:r>
          </a:p>
          <a:p>
            <a:pPr lvl="0" algn="l">
              <a:lnSpc>
                <a:spcPct val="120000"/>
              </a:lnSpc>
            </a:pPr>
            <a:r>
              <a:rPr lang="fi-FI" dirty="0"/>
              <a:t>Persistent Identifier Services</a:t>
            </a:r>
          </a:p>
          <a:p>
            <a:pPr algn="l">
              <a:lnSpc>
                <a:spcPct val="120000"/>
              </a:lnSpc>
            </a:pPr>
            <a:r>
              <a:rPr lang="fi-FI" dirty="0"/>
              <a:t>Data Access and Dissemination Policy </a:t>
            </a:r>
            <a:r>
              <a:rPr lang="fi-FI" dirty="0" smtClean="0"/>
              <a:t>activity</a:t>
            </a:r>
          </a:p>
          <a:p>
            <a:pPr lvl="0" algn="l">
              <a:lnSpc>
                <a:spcPct val="120000"/>
              </a:lnSpc>
            </a:pPr>
            <a:r>
              <a:rPr lang="fi-FI" dirty="0"/>
              <a:t>DDI CVG group</a:t>
            </a:r>
          </a:p>
          <a:p>
            <a:pPr lvl="0" algn="l">
              <a:lnSpc>
                <a:spcPct val="120000"/>
              </a:lnSpc>
            </a:pPr>
            <a:r>
              <a:rPr lang="fi-FI" dirty="0"/>
              <a:t>Making Nordic Health Data Visible</a:t>
            </a:r>
          </a:p>
          <a:p>
            <a:pPr lvl="0" algn="l">
              <a:lnSpc>
                <a:spcPct val="120000"/>
              </a:lnSpc>
            </a:pPr>
            <a:r>
              <a:rPr lang="fi-FI" dirty="0"/>
              <a:t>DDI Alliance / Moving Forward project</a:t>
            </a:r>
          </a:p>
          <a:p>
            <a:pPr lvl="0" algn="l">
              <a:lnSpc>
                <a:spcPct val="120000"/>
              </a:lnSpc>
            </a:pPr>
            <a:r>
              <a:rPr lang="fi-FI" dirty="0"/>
              <a:t>DataCite</a:t>
            </a:r>
          </a:p>
          <a:p>
            <a:pPr algn="l">
              <a:lnSpc>
                <a:spcPct val="120000"/>
              </a:lnSpc>
            </a:pPr>
            <a:r>
              <a:rPr lang="fi-FI" dirty="0"/>
              <a:t>CESSDA SaW and SERISS </a:t>
            </a:r>
            <a:r>
              <a:rPr lang="fi-FI" dirty="0" smtClean="0"/>
              <a:t>projects</a:t>
            </a:r>
          </a:p>
          <a:p>
            <a:pPr algn="l">
              <a:lnSpc>
                <a:spcPct val="120000"/>
              </a:lnSpc>
            </a:pPr>
            <a:endParaRPr lang="fi-FI" b="0" dirty="0"/>
          </a:p>
        </p:txBody>
      </p:sp>
    </p:spTree>
    <p:extLst>
      <p:ext uri="{BB962C8B-B14F-4D97-AF65-F5344CB8AC3E}">
        <p14:creationId xmlns:p14="http://schemas.microsoft.com/office/powerpoint/2010/main" val="82652034"/>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smtClean="0">
                <a:solidFill>
                  <a:srgbClr val="FFFFFF"/>
                </a:solidFill>
              </a:rPr>
              <a:t>The CMM Project</a:t>
            </a:r>
            <a:endParaRPr sz="4800" dirty="0">
              <a:solidFill>
                <a:srgbClr val="FFFFFF"/>
              </a:solidFill>
            </a:endParaRPr>
          </a:p>
        </p:txBody>
      </p:sp>
      <p:sp>
        <p:nvSpPr>
          <p:cNvPr id="46" name="Shape 46"/>
          <p:cNvSpPr>
            <a:spLocks noGrp="1"/>
          </p:cNvSpPr>
          <p:nvPr>
            <p:ph type="body" idx="1"/>
          </p:nvPr>
        </p:nvSpPr>
        <p:spPr>
          <a:xfrm>
            <a:off x="723900" y="2867298"/>
            <a:ext cx="10464800" cy="4139557"/>
          </a:xfrm>
          <a:prstGeom prst="rect">
            <a:avLst/>
          </a:prstGeom>
        </p:spPr>
        <p:txBody>
          <a:bodyPr>
            <a:noAutofit/>
          </a:bodyPr>
          <a:lstStyle>
            <a:lvl1pPr>
              <a:lnSpc>
                <a:spcPct val="100000"/>
              </a:lnSpc>
            </a:lvl1pPr>
          </a:lstStyle>
          <a:p>
            <a:pPr lvl="0">
              <a:defRPr sz="1800">
                <a:solidFill>
                  <a:srgbClr val="000000"/>
                </a:solidFill>
              </a:defRPr>
            </a:pPr>
            <a:r>
              <a:rPr lang="de-DE" sz="3600" dirty="0" err="1" smtClean="0">
                <a:solidFill>
                  <a:srgbClr val="FFFFFF"/>
                </a:solidFill>
              </a:rPr>
              <a:t>Objective</a:t>
            </a:r>
            <a:r>
              <a:rPr lang="de-DE" sz="3600" dirty="0" smtClean="0">
                <a:solidFill>
                  <a:srgbClr val="FFFFFF"/>
                </a:solidFill>
              </a:rPr>
              <a:t> </a:t>
            </a:r>
            <a:r>
              <a:rPr lang="de-DE" sz="3600" dirty="0" err="1" smtClean="0">
                <a:solidFill>
                  <a:srgbClr val="FFFFFF"/>
                </a:solidFill>
              </a:rPr>
              <a:t>and</a:t>
            </a:r>
            <a:r>
              <a:rPr lang="de-DE" sz="3600" dirty="0" smtClean="0">
                <a:solidFill>
                  <a:srgbClr val="FFFFFF"/>
                </a:solidFill>
              </a:rPr>
              <a:t> Output</a:t>
            </a:r>
          </a:p>
          <a:p>
            <a:pPr lvl="0">
              <a:defRPr sz="1800">
                <a:solidFill>
                  <a:srgbClr val="000000"/>
                </a:solidFill>
              </a:defRPr>
            </a:pPr>
            <a:r>
              <a:rPr lang="de-DE" sz="3600" dirty="0" smtClean="0">
                <a:solidFill>
                  <a:srgbClr val="FFFFFF"/>
                </a:solidFill>
              </a:rPr>
              <a:t>Tasks </a:t>
            </a:r>
            <a:r>
              <a:rPr lang="de-DE" sz="3600" dirty="0" err="1" smtClean="0">
                <a:solidFill>
                  <a:srgbClr val="FFFFFF"/>
                </a:solidFill>
              </a:rPr>
              <a:t>and</a:t>
            </a:r>
            <a:r>
              <a:rPr lang="de-DE" sz="3600" dirty="0" smtClean="0">
                <a:solidFill>
                  <a:srgbClr val="FFFFFF"/>
                </a:solidFill>
              </a:rPr>
              <a:t> Partners</a:t>
            </a:r>
          </a:p>
          <a:p>
            <a:pPr lvl="0">
              <a:defRPr sz="1800">
                <a:solidFill>
                  <a:srgbClr val="000000"/>
                </a:solidFill>
              </a:defRPr>
            </a:pPr>
            <a:r>
              <a:rPr lang="de-DE" sz="3600" dirty="0" err="1" smtClean="0">
                <a:solidFill>
                  <a:srgbClr val="FFFFFF"/>
                </a:solidFill>
              </a:rPr>
              <a:t>Deliverables</a:t>
            </a:r>
            <a:endParaRPr lang="de-DE" sz="3600" dirty="0" smtClean="0">
              <a:solidFill>
                <a:srgbClr val="FFFFFF"/>
              </a:solidFill>
            </a:endParaRPr>
          </a:p>
          <a:p>
            <a:pPr lvl="0">
              <a:defRPr sz="1800">
                <a:solidFill>
                  <a:srgbClr val="000000"/>
                </a:solidFill>
              </a:defRPr>
            </a:pPr>
            <a:r>
              <a:rPr lang="de-DE" sz="3600" dirty="0" smtClean="0">
                <a:solidFill>
                  <a:srgbClr val="FFFFFF"/>
                </a:solidFill>
              </a:rPr>
              <a:t>Timeline</a:t>
            </a:r>
          </a:p>
          <a:p>
            <a:pPr lvl="0">
              <a:defRPr sz="1800">
                <a:solidFill>
                  <a:srgbClr val="000000"/>
                </a:solidFill>
              </a:defRPr>
            </a:pPr>
            <a:endParaRPr sz="3600" dirty="0">
              <a:solidFill>
                <a:srgbClr val="FFFFFF"/>
              </a:solidFill>
            </a:endParaRPr>
          </a:p>
        </p:txBody>
      </p:sp>
    </p:spTree>
    <p:extLst>
      <p:ext uri="{BB962C8B-B14F-4D97-AF65-F5344CB8AC3E}">
        <p14:creationId xmlns:p14="http://schemas.microsoft.com/office/powerpoint/2010/main" val="2162836810"/>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4"/>
          <p:cNvSpPr>
            <a:spLocks noGrp="1"/>
          </p:cNvSpPr>
          <p:nvPr>
            <p:ph type="title"/>
          </p:nvPr>
        </p:nvSpPr>
        <p:spPr>
          <a:xfrm>
            <a:off x="719999" y="719999"/>
            <a:ext cx="11761243" cy="1939530"/>
          </a:xfrm>
          <a:prstGeom prst="rect">
            <a:avLst/>
          </a:prstGeom>
        </p:spPr>
        <p:txBody>
          <a:bodyPr/>
          <a:lstStyle/>
          <a:p>
            <a:pPr lvl="0">
              <a:defRPr sz="1800">
                <a:solidFill>
                  <a:srgbClr val="000000"/>
                </a:solidFill>
              </a:defRPr>
            </a:pPr>
            <a:r>
              <a:rPr lang="fi-FI" sz="4800" dirty="0" smtClean="0">
                <a:solidFill>
                  <a:srgbClr val="FFFFFF"/>
                </a:solidFill>
              </a:rPr>
              <a:t>CMM Objective and output</a:t>
            </a:r>
            <a:endParaRPr sz="4800" dirty="0">
              <a:solidFill>
                <a:srgbClr val="FFFFFF"/>
              </a:solidFill>
            </a:endParaRPr>
          </a:p>
        </p:txBody>
      </p:sp>
      <p:sp>
        <p:nvSpPr>
          <p:cNvPr id="55" name="Shape 55"/>
          <p:cNvSpPr>
            <a:spLocks noGrp="1"/>
          </p:cNvSpPr>
          <p:nvPr>
            <p:ph type="body" idx="1"/>
          </p:nvPr>
        </p:nvSpPr>
        <p:spPr>
          <a:xfrm>
            <a:off x="719999" y="2879999"/>
            <a:ext cx="11453804" cy="5982446"/>
          </a:xfrm>
          <a:prstGeom prst="rect">
            <a:avLst/>
          </a:prstGeom>
        </p:spPr>
        <p:txBody>
          <a:bodyPr>
            <a:normAutofit fontScale="85000" lnSpcReduction="10000"/>
          </a:bodyPr>
          <a:lstStyle/>
          <a:p>
            <a:r>
              <a:rPr lang="fi-FI" dirty="0" smtClean="0"/>
              <a:t>Objective: to </a:t>
            </a:r>
            <a:r>
              <a:rPr lang="fi-FI" dirty="0"/>
              <a:t>develop, promote and implement a standardised metadata design, content and practice for all CESSDA data </a:t>
            </a:r>
            <a:r>
              <a:rPr lang="fi-FI" dirty="0" smtClean="0"/>
              <a:t>assets</a:t>
            </a:r>
          </a:p>
          <a:p>
            <a:endParaRPr lang="fi-FI" dirty="0" smtClean="0"/>
          </a:p>
          <a:p>
            <a:r>
              <a:rPr lang="fi-FI" dirty="0" smtClean="0"/>
              <a:t>Output: </a:t>
            </a:r>
            <a:r>
              <a:rPr lang="fi-FI" b="1" dirty="0" smtClean="0"/>
              <a:t>CESSDA </a:t>
            </a:r>
            <a:r>
              <a:rPr lang="fi-FI" b="1" dirty="0"/>
              <a:t>Metadata Standards Portfolio Version 1 </a:t>
            </a:r>
            <a:endParaRPr lang="fi-FI" b="1" dirty="0" smtClean="0"/>
          </a:p>
          <a:p>
            <a:pPr lvl="1"/>
            <a:r>
              <a:rPr lang="fi-FI" dirty="0" smtClean="0"/>
              <a:t>will </a:t>
            </a:r>
            <a:r>
              <a:rPr lang="fi-FI" dirty="0"/>
              <a:t>become the standard for all </a:t>
            </a:r>
            <a:r>
              <a:rPr lang="fi-FI" dirty="0" smtClean="0"/>
              <a:t>SPs</a:t>
            </a:r>
          </a:p>
          <a:p>
            <a:pPr lvl="1"/>
            <a:r>
              <a:rPr lang="fi-FI" dirty="0" smtClean="0"/>
              <a:t>will </a:t>
            </a:r>
            <a:r>
              <a:rPr lang="fi-FI" dirty="0"/>
              <a:t>encompass support for resource discovery, question banks, preservation and data access (subject to prioritising) and help all </a:t>
            </a:r>
            <a:r>
              <a:rPr lang="fi-FI" dirty="0" smtClean="0"/>
              <a:t>SPs </a:t>
            </a:r>
            <a:r>
              <a:rPr lang="fi-FI" dirty="0"/>
              <a:t>achieve the DSA certification requirements related to metadata issues.</a:t>
            </a:r>
          </a:p>
        </p:txBody>
      </p:sp>
    </p:spTree>
    <p:extLst>
      <p:ext uri="{BB962C8B-B14F-4D97-AF65-F5344CB8AC3E}">
        <p14:creationId xmlns:p14="http://schemas.microsoft.com/office/powerpoint/2010/main" val="2455774349"/>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hape 51"/>
          <p:cNvSpPr>
            <a:spLocks noGrp="1"/>
          </p:cNvSpPr>
          <p:nvPr>
            <p:ph type="title"/>
          </p:nvPr>
        </p:nvSpPr>
        <p:spPr>
          <a:xfrm>
            <a:off x="719999" y="719999"/>
            <a:ext cx="11761243" cy="1939530"/>
          </a:xfrm>
          <a:prstGeom prst="rect">
            <a:avLst/>
          </a:prstGeom>
        </p:spPr>
        <p:txBody>
          <a:bodyPr/>
          <a:lstStyle/>
          <a:p>
            <a:pPr lvl="0">
              <a:defRPr sz="1800">
                <a:solidFill>
                  <a:srgbClr val="000000"/>
                </a:solidFill>
              </a:defRPr>
            </a:pPr>
            <a:r>
              <a:rPr lang="fi-FI" sz="4800" dirty="0" smtClean="0">
                <a:solidFill>
                  <a:srgbClr val="FFFFFF"/>
                </a:solidFill>
              </a:rPr>
              <a:t>Why ”only” version 1 of Portfolio?</a:t>
            </a:r>
            <a:endParaRPr sz="4800" dirty="0">
              <a:solidFill>
                <a:srgbClr val="FFFFFF"/>
              </a:solidFill>
            </a:endParaRPr>
          </a:p>
        </p:txBody>
      </p:sp>
      <p:sp>
        <p:nvSpPr>
          <p:cNvPr id="52" name="Shape 52"/>
          <p:cNvSpPr>
            <a:spLocks noGrp="1"/>
          </p:cNvSpPr>
          <p:nvPr>
            <p:ph type="body" idx="1"/>
          </p:nvPr>
        </p:nvSpPr>
        <p:spPr>
          <a:xfrm>
            <a:off x="719998" y="2879998"/>
            <a:ext cx="11508395" cy="6496013"/>
          </a:xfrm>
          <a:prstGeom prst="rect">
            <a:avLst/>
          </a:prstGeom>
        </p:spPr>
        <p:txBody>
          <a:bodyPr>
            <a:normAutofit/>
          </a:bodyPr>
          <a:lstStyle/>
          <a:p>
            <a:pPr lvl="0">
              <a:defRPr sz="1800">
                <a:solidFill>
                  <a:srgbClr val="000000"/>
                </a:solidFill>
              </a:defRPr>
            </a:pPr>
            <a:r>
              <a:rPr lang="fi-FI" sz="3600" dirty="0" smtClean="0">
                <a:solidFill>
                  <a:schemeClr val="bg1"/>
                </a:solidFill>
              </a:rPr>
              <a:t>The ambitions and demands outlined in the Work Plan Task description are extremely high</a:t>
            </a:r>
          </a:p>
          <a:p>
            <a:pPr lvl="0">
              <a:defRPr sz="1800">
                <a:solidFill>
                  <a:srgbClr val="000000"/>
                </a:solidFill>
              </a:defRPr>
            </a:pPr>
            <a:r>
              <a:rPr lang="fi-FI" sz="3600" dirty="0" smtClean="0">
                <a:solidFill>
                  <a:schemeClr val="bg1"/>
                </a:solidFill>
              </a:rPr>
              <a:t>When preparing the bid, we felt that the ambition level was right but that the available funding did not reflect it</a:t>
            </a:r>
          </a:p>
          <a:p>
            <a:pPr lvl="0">
              <a:lnSpc>
                <a:spcPct val="150000"/>
              </a:lnSpc>
              <a:defRPr sz="1800">
                <a:solidFill>
                  <a:srgbClr val="000000"/>
                </a:solidFill>
              </a:defRPr>
            </a:pPr>
            <a:r>
              <a:rPr lang="fi-FI" sz="3600" dirty="0" smtClean="0">
                <a:solidFill>
                  <a:schemeClr val="bg1"/>
                </a:solidFill>
              </a:rPr>
              <a:t>CMM proposes moving forward in two phases: </a:t>
            </a:r>
            <a:endParaRPr lang="fi-FI" sz="1000" dirty="0" smtClean="0">
              <a:solidFill>
                <a:schemeClr val="bg1"/>
              </a:solidFill>
            </a:endParaRPr>
          </a:p>
          <a:p>
            <a:pPr lvl="0">
              <a:defRPr sz="1800">
                <a:solidFill>
                  <a:srgbClr val="000000"/>
                </a:solidFill>
              </a:defRPr>
            </a:pPr>
            <a:r>
              <a:rPr lang="fi-FI" sz="3600" b="1" dirty="0" smtClean="0">
                <a:solidFill>
                  <a:schemeClr val="bg1"/>
                </a:solidFill>
              </a:rPr>
              <a:t>Phase 1 = CMM = solid but basic solution </a:t>
            </a:r>
          </a:p>
          <a:p>
            <a:pPr lvl="0">
              <a:defRPr sz="1800">
                <a:solidFill>
                  <a:srgbClr val="000000"/>
                </a:solidFill>
              </a:defRPr>
            </a:pPr>
            <a:r>
              <a:rPr lang="fi-FI" sz="3600" dirty="0" smtClean="0">
                <a:solidFill>
                  <a:schemeClr val="bg1"/>
                </a:solidFill>
              </a:rPr>
              <a:t>Phase 2 = building Portfolio version 2 that will meet the majority of needs and enable the implementation of innovative functionality</a:t>
            </a:r>
          </a:p>
          <a:p>
            <a:pPr marL="0" lvl="0" indent="0">
              <a:buNone/>
              <a:defRPr sz="1800">
                <a:solidFill>
                  <a:srgbClr val="000000"/>
                </a:solidFill>
              </a:defRPr>
            </a:pPr>
            <a:endParaRPr lang="fi-FI" sz="3600" dirty="0" smtClean="0">
              <a:solidFill>
                <a:schemeClr val="bg1"/>
              </a:solidFill>
            </a:endParaRPr>
          </a:p>
          <a:p>
            <a:pPr lvl="0">
              <a:defRPr sz="1800">
                <a:solidFill>
                  <a:srgbClr val="000000"/>
                </a:solidFill>
              </a:defRPr>
            </a:pPr>
            <a:endParaRPr lang="fi-FI" sz="3600" dirty="0" smtClean="0">
              <a:solidFill>
                <a:schemeClr val="bg1"/>
              </a:solidFill>
            </a:endParaRPr>
          </a:p>
        </p:txBody>
      </p:sp>
    </p:spTree>
    <p:extLst>
      <p:ext uri="{BB962C8B-B14F-4D97-AF65-F5344CB8AC3E}">
        <p14:creationId xmlns:p14="http://schemas.microsoft.com/office/powerpoint/2010/main" val="667620120"/>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CMM Tasks and task leaders</a:t>
            </a:r>
            <a:endParaRPr lang="fi-FI" dirty="0"/>
          </a:p>
        </p:txBody>
      </p:sp>
      <p:sp>
        <p:nvSpPr>
          <p:cNvPr id="3" name="Text Placeholder 2"/>
          <p:cNvSpPr>
            <a:spLocks noGrp="1"/>
          </p:cNvSpPr>
          <p:nvPr>
            <p:ph type="body" idx="1"/>
          </p:nvPr>
        </p:nvSpPr>
        <p:spPr>
          <a:xfrm>
            <a:off x="707299" y="2867298"/>
            <a:ext cx="10464801" cy="4843687"/>
          </a:xfrm>
        </p:spPr>
        <p:txBody>
          <a:bodyPr>
            <a:normAutofit fontScale="92500"/>
          </a:bodyPr>
          <a:lstStyle/>
          <a:p>
            <a:pPr lvl="0">
              <a:lnSpc>
                <a:spcPct val="150000"/>
              </a:lnSpc>
            </a:pPr>
            <a:r>
              <a:rPr lang="fi-FI" dirty="0"/>
              <a:t>Task 1. Management and </a:t>
            </a:r>
            <a:r>
              <a:rPr lang="fi-FI" dirty="0" smtClean="0"/>
              <a:t>Promotion (FSD)</a:t>
            </a:r>
            <a:endParaRPr lang="fi-FI" dirty="0"/>
          </a:p>
          <a:p>
            <a:pPr lvl="0">
              <a:lnSpc>
                <a:spcPct val="150000"/>
              </a:lnSpc>
            </a:pPr>
            <a:r>
              <a:rPr lang="fi-FI" dirty="0"/>
              <a:t>Task 2. Service Providers’ current metadata </a:t>
            </a:r>
            <a:r>
              <a:rPr lang="fi-FI" dirty="0" smtClean="0"/>
              <a:t>practices</a:t>
            </a:r>
            <a:br>
              <a:rPr lang="fi-FI" dirty="0" smtClean="0"/>
            </a:br>
            <a:r>
              <a:rPr lang="fi-FI" dirty="0" smtClean="0"/>
              <a:t>             and </a:t>
            </a:r>
            <a:r>
              <a:rPr lang="fi-FI" dirty="0"/>
              <a:t>metadata </a:t>
            </a:r>
            <a:r>
              <a:rPr lang="fi-FI" dirty="0" smtClean="0"/>
              <a:t>needs (FSD)</a:t>
            </a:r>
            <a:endParaRPr lang="fi-FI" dirty="0"/>
          </a:p>
          <a:p>
            <a:pPr lvl="0">
              <a:lnSpc>
                <a:spcPct val="150000"/>
              </a:lnSpc>
            </a:pPr>
            <a:r>
              <a:rPr lang="fi-FI" dirty="0"/>
              <a:t>Task 3. Core metadata </a:t>
            </a:r>
            <a:r>
              <a:rPr lang="fi-FI" dirty="0" smtClean="0"/>
              <a:t>portfolio (GESIS)</a:t>
            </a:r>
            <a:endParaRPr lang="fi-FI" dirty="0"/>
          </a:p>
          <a:p>
            <a:pPr lvl="0">
              <a:lnSpc>
                <a:spcPct val="150000"/>
              </a:lnSpc>
            </a:pPr>
            <a:r>
              <a:rPr lang="fi-FI" dirty="0"/>
              <a:t>Task 4. Controlled vocabularies </a:t>
            </a:r>
            <a:r>
              <a:rPr lang="fi-FI" dirty="0" smtClean="0"/>
              <a:t>portfolio (UKDS)</a:t>
            </a:r>
            <a:endParaRPr lang="fi-FI" dirty="0"/>
          </a:p>
          <a:p>
            <a:pPr>
              <a:lnSpc>
                <a:spcPct val="150000"/>
              </a:lnSpc>
            </a:pPr>
            <a:r>
              <a:rPr lang="fi-FI" dirty="0"/>
              <a:t>Task 5. Impact analysis and user </a:t>
            </a:r>
            <a:r>
              <a:rPr lang="fi-FI" dirty="0" smtClean="0"/>
              <a:t>experience (ADP)</a:t>
            </a:r>
            <a:endParaRPr lang="fi-FI" dirty="0"/>
          </a:p>
        </p:txBody>
      </p:sp>
    </p:spTree>
    <p:extLst>
      <p:ext uri="{BB962C8B-B14F-4D97-AF65-F5344CB8AC3E}">
        <p14:creationId xmlns:p14="http://schemas.microsoft.com/office/powerpoint/2010/main" val="2837850042"/>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CMM Partners</a:t>
            </a:r>
            <a:endParaRPr lang="fi-FI" dirty="0"/>
          </a:p>
        </p:txBody>
      </p:sp>
      <p:sp>
        <p:nvSpPr>
          <p:cNvPr id="3" name="Text Placeholder 2"/>
          <p:cNvSpPr>
            <a:spLocks noGrp="1"/>
          </p:cNvSpPr>
          <p:nvPr>
            <p:ph type="body" idx="1"/>
          </p:nvPr>
        </p:nvSpPr>
        <p:spPr>
          <a:xfrm>
            <a:off x="707299" y="1813647"/>
            <a:ext cx="10464801" cy="3311394"/>
          </a:xfrm>
        </p:spPr>
        <p:txBody>
          <a:bodyPr>
            <a:normAutofit/>
          </a:bodyPr>
          <a:lstStyle/>
          <a:p>
            <a:pPr marL="0" indent="0">
              <a:buNone/>
            </a:pPr>
            <a:r>
              <a:rPr lang="fi-FI" sz="2800" dirty="0" smtClean="0"/>
              <a:t>Project Leader: </a:t>
            </a:r>
          </a:p>
          <a:p>
            <a:pPr marL="0" indent="0">
              <a:buNone/>
            </a:pPr>
            <a:r>
              <a:rPr lang="fi-FI" sz="2800" dirty="0" smtClean="0"/>
              <a:t>Mari Kleemola, FSD</a:t>
            </a:r>
          </a:p>
          <a:p>
            <a:pPr marL="0" indent="0">
              <a:buNone/>
            </a:pPr>
            <a:r>
              <a:rPr lang="fi-FI" sz="2800" dirty="0" smtClean="0">
                <a:hlinkClick r:id="rId2"/>
              </a:rPr>
              <a:t>mari.kleemola@uta.fi</a:t>
            </a:r>
            <a:endParaRPr lang="fi-FI" sz="2800" dirty="0" smtClean="0"/>
          </a:p>
          <a:p>
            <a:endParaRPr lang="fi-FI" sz="2800" dirty="0"/>
          </a:p>
          <a:p>
            <a:pPr marL="0" indent="0">
              <a:buNone/>
            </a:pPr>
            <a:r>
              <a:rPr lang="fi-FI" sz="2800" dirty="0" smtClean="0"/>
              <a:t>...and other contact persons:</a:t>
            </a:r>
          </a:p>
          <a:p>
            <a:endParaRPr lang="fi-FI" sz="2800" dirty="0" smtClean="0"/>
          </a:p>
          <a:p>
            <a:endParaRPr lang="fi-FI" sz="2800" dirty="0"/>
          </a:p>
        </p:txBody>
      </p:sp>
      <p:graphicFrame>
        <p:nvGraphicFramePr>
          <p:cNvPr id="5" name="Table 4"/>
          <p:cNvGraphicFramePr>
            <a:graphicFrameLocks noGrp="1"/>
          </p:cNvGraphicFramePr>
          <p:nvPr>
            <p:extLst>
              <p:ext uri="{D42A27DB-BD31-4B8C-83A1-F6EECF244321}">
                <p14:modId xmlns:p14="http://schemas.microsoft.com/office/powerpoint/2010/main" val="325705047"/>
              </p:ext>
            </p:extLst>
          </p:nvPr>
        </p:nvGraphicFramePr>
        <p:xfrm>
          <a:off x="6788601" y="719999"/>
          <a:ext cx="5594420" cy="8052178"/>
        </p:xfrm>
        <a:graphic>
          <a:graphicData uri="http://schemas.openxmlformats.org/drawingml/2006/table">
            <a:tbl>
              <a:tblPr>
                <a:tableStyleId>{5940675A-B579-460E-94D1-54222C63F5DA}</a:tableStyleId>
              </a:tblPr>
              <a:tblGrid>
                <a:gridCol w="1378424"/>
                <a:gridCol w="4215996"/>
              </a:tblGrid>
              <a:tr h="421558">
                <a:tc>
                  <a:txBody>
                    <a:bodyPr/>
                    <a:lstStyle/>
                    <a:p>
                      <a:pPr algn="l" fontAlgn="b"/>
                      <a:r>
                        <a:rPr lang="fi-FI" sz="2400" b="1" u="none" strike="noStrike" dirty="0" smtClean="0">
                          <a:effectLst/>
                        </a:rPr>
                        <a:t>Partner</a:t>
                      </a:r>
                      <a:endParaRPr lang="fi-FI" sz="2400" b="1" i="0" u="none" strike="noStrike" dirty="0">
                        <a:solidFill>
                          <a:srgbClr val="FFFFFF"/>
                        </a:solidFill>
                        <a:effectLst/>
                        <a:latin typeface="Calibri" panose="020F0502020204030204" pitchFamily="34" charset="0"/>
                      </a:endParaRPr>
                    </a:p>
                  </a:txBody>
                  <a:tcPr marL="9199" marR="9199" marT="9199" marB="0" anchor="b"/>
                </a:tc>
                <a:tc>
                  <a:txBody>
                    <a:bodyPr/>
                    <a:lstStyle/>
                    <a:p>
                      <a:pPr algn="l" fontAlgn="b"/>
                      <a:r>
                        <a:rPr lang="fi-FI" sz="2400" b="1" u="none" strike="noStrike">
                          <a:effectLst/>
                        </a:rPr>
                        <a:t>Contact </a:t>
                      </a:r>
                      <a:r>
                        <a:rPr lang="fi-FI" sz="2400" b="1" u="none" strike="noStrike" smtClean="0">
                          <a:effectLst/>
                        </a:rPr>
                        <a:t>Person(s)</a:t>
                      </a:r>
                      <a:endParaRPr lang="fi-FI" sz="2400" b="1" i="0" u="none" strike="noStrike">
                        <a:solidFill>
                          <a:srgbClr val="FFFFFF"/>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ADP</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Irena Vipavc Brvar</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ADP</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Janez Štebe</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CASD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Kamel Gadouche</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CASD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Anita Mazur</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DDA</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Anne Sofie Fink</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FSD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Mari Kleemola</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FSD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Outi Törnblom</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FSD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Katja Moilanen</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FSD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Taina Jääskeläinen</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GESIS</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dirty="0">
                          <a:effectLst/>
                        </a:rPr>
                        <a:t>Wolfgang Zenk-Möltgen</a:t>
                      </a:r>
                      <a:endParaRPr lang="fi-FI" sz="2400" b="0" i="0" u="none" strike="noStrike" dirty="0">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GESIS</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Kerrin Borschewski</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NSD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Dag Kiberg</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SND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Iris Alfredsson</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SND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Malin Lundgren</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dirty="0">
                          <a:effectLst/>
                        </a:rPr>
                        <a:t>SND</a:t>
                      </a:r>
                      <a:endParaRPr lang="fi-FI" sz="2400" b="0" i="0" u="none" strike="noStrike" dirty="0">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Daniel Knezevic</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a:effectLst/>
                        </a:rPr>
                        <a:t>SND</a:t>
                      </a:r>
                      <a:endParaRPr lang="fi-FI" sz="2400" b="0" i="0" u="none" strike="noStrike">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a:effectLst/>
                        </a:rPr>
                        <a:t>Sara Svensson</a:t>
                      </a:r>
                      <a:endParaRPr lang="fi-FI" sz="2400" b="0" i="0" u="none" strike="noStrike">
                        <a:solidFill>
                          <a:srgbClr val="000000"/>
                        </a:solidFill>
                        <a:effectLst/>
                        <a:latin typeface="Calibri" panose="020F0502020204030204" pitchFamily="34" charset="0"/>
                      </a:endParaRPr>
                    </a:p>
                  </a:txBody>
                  <a:tcPr marL="9199" marR="9199" marT="9199" marB="0" anchor="b"/>
                </a:tc>
              </a:tr>
              <a:tr h="448860">
                <a:tc>
                  <a:txBody>
                    <a:bodyPr/>
                    <a:lstStyle/>
                    <a:p>
                      <a:pPr algn="l" fontAlgn="b"/>
                      <a:r>
                        <a:rPr lang="fi-FI" sz="2400" u="none" strike="noStrike" dirty="0">
                          <a:effectLst/>
                        </a:rPr>
                        <a:t>UKDS</a:t>
                      </a:r>
                      <a:endParaRPr lang="fi-FI" sz="2400" b="0" i="0" u="none" strike="noStrike" dirty="0">
                        <a:solidFill>
                          <a:srgbClr val="000000"/>
                        </a:solidFill>
                        <a:effectLst/>
                        <a:latin typeface="Calibri" panose="020F0502020204030204" pitchFamily="34" charset="0"/>
                      </a:endParaRPr>
                    </a:p>
                  </a:txBody>
                  <a:tcPr marL="9199" marR="9199" marT="9199" marB="0" anchor="b"/>
                </a:tc>
                <a:tc>
                  <a:txBody>
                    <a:bodyPr/>
                    <a:lstStyle/>
                    <a:p>
                      <a:pPr algn="l" fontAlgn="b"/>
                      <a:r>
                        <a:rPr lang="fi-FI" sz="2400" u="none" strike="noStrike" dirty="0">
                          <a:effectLst/>
                        </a:rPr>
                        <a:t>Anne Etheridge</a:t>
                      </a:r>
                      <a:endParaRPr lang="fi-FI" sz="2400" b="0" i="0" u="none" strike="noStrike" dirty="0">
                        <a:solidFill>
                          <a:srgbClr val="000000"/>
                        </a:solidFill>
                        <a:effectLst/>
                        <a:latin typeface="Calibri" panose="020F0502020204030204" pitchFamily="34" charset="0"/>
                      </a:endParaRPr>
                    </a:p>
                  </a:txBody>
                  <a:tcPr marL="9199" marR="9199" marT="9199" marB="0" anchor="b"/>
                </a:tc>
              </a:tr>
            </a:tbl>
          </a:graphicData>
        </a:graphic>
      </p:graphicFrame>
      <p:sp>
        <p:nvSpPr>
          <p:cNvPr id="4" name="Textfeld 3"/>
          <p:cNvSpPr txBox="1"/>
          <p:nvPr/>
        </p:nvSpPr>
        <p:spPr>
          <a:xfrm>
            <a:off x="664649" y="5206492"/>
            <a:ext cx="2854949" cy="398057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l" fontAlgn="b"/>
            <a:r>
              <a:rPr lang="fi-FI" sz="2800" b="0" dirty="0" smtClean="0">
                <a:latin typeface="Lato Regular"/>
              </a:rPr>
              <a:t>Partner 1 FSD</a:t>
            </a:r>
          </a:p>
          <a:p>
            <a:pPr algn="l" fontAlgn="b"/>
            <a:r>
              <a:rPr lang="fi-FI" sz="2800" b="0" dirty="0" smtClean="0">
                <a:latin typeface="Lato Regular"/>
              </a:rPr>
              <a:t>Partner </a:t>
            </a:r>
            <a:r>
              <a:rPr lang="fi-FI" sz="2800" b="0" dirty="0">
                <a:latin typeface="Lato Regular"/>
              </a:rPr>
              <a:t>2 ADP</a:t>
            </a:r>
            <a:endParaRPr lang="en-US" sz="2800" b="0" dirty="0">
              <a:latin typeface="Lato Regular"/>
            </a:endParaRPr>
          </a:p>
          <a:p>
            <a:pPr algn="l" fontAlgn="b"/>
            <a:r>
              <a:rPr lang="fi-FI" sz="2800" b="0" dirty="0">
                <a:latin typeface="Lato Regular"/>
              </a:rPr>
              <a:t>Partner 3 CASD</a:t>
            </a:r>
            <a:endParaRPr lang="en-US" sz="2800" b="0" dirty="0">
              <a:latin typeface="Lato Regular"/>
            </a:endParaRPr>
          </a:p>
          <a:p>
            <a:pPr algn="l" fontAlgn="b"/>
            <a:r>
              <a:rPr lang="fi-FI" sz="2800" b="0" dirty="0">
                <a:latin typeface="Lato Regular"/>
              </a:rPr>
              <a:t>Partner 4 DDA</a:t>
            </a:r>
            <a:endParaRPr lang="en-US" sz="2800" b="0" dirty="0">
              <a:latin typeface="Lato Regular"/>
            </a:endParaRPr>
          </a:p>
          <a:p>
            <a:pPr algn="l" fontAlgn="b"/>
            <a:r>
              <a:rPr lang="fi-FI" sz="2800" b="0" dirty="0">
                <a:latin typeface="Lato Regular"/>
              </a:rPr>
              <a:t>Partner 5 GESIS</a:t>
            </a:r>
            <a:endParaRPr lang="en-US" sz="2800" b="0" dirty="0">
              <a:latin typeface="Lato Regular"/>
            </a:endParaRPr>
          </a:p>
          <a:p>
            <a:pPr algn="l" fontAlgn="b"/>
            <a:r>
              <a:rPr lang="fi-FI" sz="2800" b="0" dirty="0">
                <a:latin typeface="Lato Regular"/>
              </a:rPr>
              <a:t>Partner 6 NSD</a:t>
            </a:r>
            <a:endParaRPr lang="en-US" sz="2800" b="0" dirty="0">
              <a:latin typeface="Lato Regular"/>
            </a:endParaRPr>
          </a:p>
          <a:p>
            <a:pPr algn="l" fontAlgn="b"/>
            <a:r>
              <a:rPr lang="fi-FI" sz="2800" b="0" dirty="0">
                <a:latin typeface="Lato Regular"/>
              </a:rPr>
              <a:t>Partner 7 SND</a:t>
            </a:r>
            <a:endParaRPr lang="en-US" sz="2800" b="0" dirty="0">
              <a:latin typeface="Lato Regular"/>
            </a:endParaRPr>
          </a:p>
          <a:p>
            <a:pPr algn="l" fontAlgn="b"/>
            <a:r>
              <a:rPr lang="fi-FI" sz="2800" b="0" dirty="0">
                <a:latin typeface="Lato Regular"/>
              </a:rPr>
              <a:t>Partner 8 UKDS</a:t>
            </a:r>
            <a:endParaRPr lang="en-US" sz="2800" b="0" dirty="0">
              <a:latin typeface="Lato Regular"/>
            </a:endParaRPr>
          </a:p>
          <a:p>
            <a:pPr marL="0" marR="0" indent="0" algn="l" defTabSz="584200" rtl="0" fontAlgn="auto" latinLnBrk="1"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uFillTx/>
              <a:latin typeface="Lato Regular"/>
              <a:sym typeface="Lato-Heavy"/>
            </a:endParaRPr>
          </a:p>
        </p:txBody>
      </p:sp>
    </p:spTree>
    <p:extLst>
      <p:ext uri="{BB962C8B-B14F-4D97-AF65-F5344CB8AC3E}">
        <p14:creationId xmlns:p14="http://schemas.microsoft.com/office/powerpoint/2010/main" val="1541391648"/>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CMM Deliverables</a:t>
            </a:r>
            <a:endParaRPr lang="fi-FI" dirty="0"/>
          </a:p>
        </p:txBody>
      </p:sp>
      <p:sp>
        <p:nvSpPr>
          <p:cNvPr id="3" name="Text Placeholder 2"/>
          <p:cNvSpPr>
            <a:spLocks noGrp="1"/>
          </p:cNvSpPr>
          <p:nvPr>
            <p:ph type="body" idx="1"/>
          </p:nvPr>
        </p:nvSpPr>
        <p:spPr>
          <a:xfrm>
            <a:off x="707299" y="2867299"/>
            <a:ext cx="11675722" cy="5676200"/>
          </a:xfrm>
        </p:spPr>
        <p:txBody>
          <a:bodyPr>
            <a:normAutofit fontScale="92500" lnSpcReduction="10000"/>
          </a:bodyPr>
          <a:lstStyle/>
          <a:p>
            <a:pPr>
              <a:lnSpc>
                <a:spcPct val="150000"/>
              </a:lnSpc>
            </a:pPr>
            <a:r>
              <a:rPr lang="fi-FI" smtClean="0"/>
              <a:t>Report on current metadata practices/needs</a:t>
            </a:r>
          </a:p>
          <a:p>
            <a:pPr>
              <a:lnSpc>
                <a:spcPct val="150000"/>
              </a:lnSpc>
            </a:pPr>
            <a:r>
              <a:rPr lang="fi-FI" smtClean="0"/>
              <a:t>Report on controlled vocabularies and their use/needs</a:t>
            </a:r>
          </a:p>
          <a:p>
            <a:pPr>
              <a:lnSpc>
                <a:spcPct val="150000"/>
              </a:lnSpc>
            </a:pPr>
            <a:r>
              <a:rPr lang="fi-FI" smtClean="0"/>
              <a:t>CESSDA Metadata Standards Portfolio Part A (Core metadata)</a:t>
            </a:r>
          </a:p>
          <a:p>
            <a:pPr>
              <a:lnSpc>
                <a:spcPct val="150000"/>
              </a:lnSpc>
            </a:pPr>
            <a:r>
              <a:rPr lang="fi-FI"/>
              <a:t>CESSDA Metadata Standards Portfolio Part </a:t>
            </a:r>
            <a:r>
              <a:rPr lang="fi-FI" smtClean="0"/>
              <a:t>B (Controlled vocabularies)</a:t>
            </a:r>
          </a:p>
          <a:p>
            <a:pPr>
              <a:lnSpc>
                <a:spcPct val="150000"/>
              </a:lnSpc>
            </a:pPr>
            <a:r>
              <a:rPr lang="fi-FI" smtClean="0"/>
              <a:t>Impact Analysis</a:t>
            </a:r>
          </a:p>
          <a:p>
            <a:pPr>
              <a:lnSpc>
                <a:spcPct val="150000"/>
              </a:lnSpc>
            </a:pPr>
            <a:r>
              <a:rPr lang="fi-FI" smtClean="0"/>
              <a:t>Final Project Report</a:t>
            </a:r>
            <a:endParaRPr lang="fi-FI"/>
          </a:p>
          <a:p>
            <a:endParaRPr lang="fi-FI"/>
          </a:p>
        </p:txBody>
      </p:sp>
    </p:spTree>
    <p:extLst>
      <p:ext uri="{BB962C8B-B14F-4D97-AF65-F5344CB8AC3E}">
        <p14:creationId xmlns:p14="http://schemas.microsoft.com/office/powerpoint/2010/main" val="4224427935"/>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CMM Project timeline</a:t>
            </a:r>
            <a:endParaRPr lang="fi-FI" dirty="0"/>
          </a:p>
        </p:txBody>
      </p:sp>
      <p:sp>
        <p:nvSpPr>
          <p:cNvPr id="3" name="Text Placeholder 2"/>
          <p:cNvSpPr>
            <a:spLocks noGrp="1"/>
          </p:cNvSpPr>
          <p:nvPr>
            <p:ph type="body" idx="1"/>
          </p:nvPr>
        </p:nvSpPr>
        <p:spPr>
          <a:xfrm>
            <a:off x="898367" y="7847463"/>
            <a:ext cx="11589333" cy="1514901"/>
          </a:xfrm>
        </p:spPr>
        <p:txBody>
          <a:bodyPr>
            <a:noAutofit/>
          </a:bodyPr>
          <a:lstStyle/>
          <a:p>
            <a:pPr>
              <a:lnSpc>
                <a:spcPct val="170000"/>
              </a:lnSpc>
            </a:pPr>
            <a:r>
              <a:rPr lang="fi-FI" sz="2800" smtClean="0"/>
              <a:t>to be adjusted since the start of the project was delayed by one month</a:t>
            </a:r>
          </a:p>
          <a:p>
            <a:pPr>
              <a:lnSpc>
                <a:spcPct val="170000"/>
              </a:lnSpc>
            </a:pPr>
            <a:r>
              <a:rPr lang="fi-FI" sz="2800" smtClean="0"/>
              <a:t>Duration 18 months, November 1 2015 – April 30, 2017</a:t>
            </a:r>
            <a:endParaRPr lang="fi-FI" sz="2800"/>
          </a:p>
        </p:txBody>
      </p:sp>
      <p:pic>
        <p:nvPicPr>
          <p:cNvPr id="4" name="image03.jpg" descr="timeline_phase1.JPG"/>
          <p:cNvPicPr/>
          <p:nvPr/>
        </p:nvPicPr>
        <p:blipFill>
          <a:blip r:embed="rId2"/>
          <a:srcRect/>
          <a:stretch>
            <a:fillRect/>
          </a:stretch>
        </p:blipFill>
        <p:spPr>
          <a:xfrm>
            <a:off x="898368" y="1826847"/>
            <a:ext cx="11484653" cy="5679422"/>
          </a:xfrm>
          <a:prstGeom prst="rect">
            <a:avLst/>
          </a:prstGeom>
          <a:ln/>
        </p:spPr>
      </p:pic>
    </p:spTree>
    <p:extLst>
      <p:ext uri="{BB962C8B-B14F-4D97-AF65-F5344CB8AC3E}">
        <p14:creationId xmlns:p14="http://schemas.microsoft.com/office/powerpoint/2010/main" val="3095544648"/>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smtClean="0">
                <a:solidFill>
                  <a:srgbClr val="FFFFFF"/>
                </a:solidFill>
              </a:rPr>
              <a:t>Working on </a:t>
            </a:r>
            <a:r>
              <a:rPr lang="de-DE" sz="4800" dirty="0" err="1" smtClean="0">
                <a:solidFill>
                  <a:srgbClr val="FFFFFF"/>
                </a:solidFill>
              </a:rPr>
              <a:t>Metadata</a:t>
            </a:r>
            <a:r>
              <a:rPr lang="de-DE" sz="4800" dirty="0" smtClean="0">
                <a:solidFill>
                  <a:srgbClr val="FFFFFF"/>
                </a:solidFill>
              </a:rPr>
              <a:t> Management</a:t>
            </a:r>
            <a:endParaRPr sz="4800" dirty="0">
              <a:solidFill>
                <a:srgbClr val="FFFFFF"/>
              </a:solidFill>
            </a:endParaRPr>
          </a:p>
        </p:txBody>
      </p:sp>
      <p:sp>
        <p:nvSpPr>
          <p:cNvPr id="46" name="Shape 46"/>
          <p:cNvSpPr>
            <a:spLocks noGrp="1"/>
          </p:cNvSpPr>
          <p:nvPr>
            <p:ph type="body" idx="1"/>
          </p:nvPr>
        </p:nvSpPr>
        <p:spPr>
          <a:xfrm>
            <a:off x="723900" y="2867298"/>
            <a:ext cx="10464800" cy="4139557"/>
          </a:xfrm>
          <a:prstGeom prst="rect">
            <a:avLst/>
          </a:prstGeom>
        </p:spPr>
        <p:txBody>
          <a:bodyPr>
            <a:noAutofit/>
          </a:bodyPr>
          <a:lstStyle>
            <a:lvl1pPr>
              <a:lnSpc>
                <a:spcPct val="100000"/>
              </a:lnSpc>
            </a:lvl1pPr>
          </a:lstStyle>
          <a:p>
            <a:pPr lvl="0">
              <a:defRPr sz="1800">
                <a:solidFill>
                  <a:srgbClr val="000000"/>
                </a:solidFill>
              </a:defRPr>
            </a:pPr>
            <a:r>
              <a:rPr lang="de-DE" sz="3600" dirty="0" err="1" smtClean="0">
                <a:solidFill>
                  <a:srgbClr val="FFFFFF"/>
                </a:solidFill>
              </a:rPr>
              <a:t>What</a:t>
            </a:r>
            <a:r>
              <a:rPr lang="de-DE" sz="3600" dirty="0" smtClean="0">
                <a:solidFill>
                  <a:srgbClr val="FFFFFF"/>
                </a:solidFill>
              </a:rPr>
              <a:t> will </a:t>
            </a:r>
            <a:r>
              <a:rPr lang="de-DE" sz="3600" dirty="0" err="1" smtClean="0">
                <a:solidFill>
                  <a:srgbClr val="FFFFFF"/>
                </a:solidFill>
              </a:rPr>
              <a:t>the</a:t>
            </a:r>
            <a:r>
              <a:rPr lang="de-DE" sz="3600" dirty="0" smtClean="0">
                <a:solidFill>
                  <a:srgbClr val="FFFFFF"/>
                </a:solidFill>
              </a:rPr>
              <a:t> Portfolio do?</a:t>
            </a:r>
            <a:endParaRPr lang="de-DE" sz="3600" dirty="0" smtClean="0">
              <a:solidFill>
                <a:srgbClr val="FFFFFF"/>
              </a:solidFill>
            </a:endParaRPr>
          </a:p>
          <a:p>
            <a:pPr lvl="0">
              <a:defRPr sz="1800">
                <a:solidFill>
                  <a:srgbClr val="000000"/>
                </a:solidFill>
              </a:defRPr>
            </a:pPr>
            <a:r>
              <a:rPr lang="de-DE" sz="3600" dirty="0" err="1" smtClean="0">
                <a:solidFill>
                  <a:srgbClr val="FFFFFF"/>
                </a:solidFill>
              </a:rPr>
              <a:t>What</a:t>
            </a:r>
            <a:r>
              <a:rPr lang="de-DE" sz="3600" dirty="0" smtClean="0">
                <a:solidFill>
                  <a:srgbClr val="FFFFFF"/>
                </a:solidFill>
              </a:rPr>
              <a:t> </a:t>
            </a:r>
            <a:r>
              <a:rPr lang="de-DE" sz="3600" dirty="0" err="1" smtClean="0">
                <a:solidFill>
                  <a:srgbClr val="FFFFFF"/>
                </a:solidFill>
              </a:rPr>
              <a:t>advantages</a:t>
            </a:r>
            <a:r>
              <a:rPr lang="de-DE" sz="3600" dirty="0" smtClean="0">
                <a:solidFill>
                  <a:srgbClr val="FFFFFF"/>
                </a:solidFill>
              </a:rPr>
              <a:t> </a:t>
            </a:r>
            <a:r>
              <a:rPr lang="de-DE" sz="3600" dirty="0" err="1" smtClean="0">
                <a:solidFill>
                  <a:srgbClr val="FFFFFF"/>
                </a:solidFill>
              </a:rPr>
              <a:t>does</a:t>
            </a:r>
            <a:r>
              <a:rPr lang="de-DE" sz="3600" dirty="0" smtClean="0">
                <a:solidFill>
                  <a:srgbClr val="FFFFFF"/>
                </a:solidFill>
              </a:rPr>
              <a:t> </a:t>
            </a:r>
            <a:r>
              <a:rPr lang="de-DE" sz="3600" dirty="0" err="1" smtClean="0">
                <a:solidFill>
                  <a:srgbClr val="FFFFFF"/>
                </a:solidFill>
              </a:rPr>
              <a:t>the</a:t>
            </a:r>
            <a:r>
              <a:rPr lang="de-DE" sz="3600" dirty="0" smtClean="0">
                <a:solidFill>
                  <a:srgbClr val="FFFFFF"/>
                </a:solidFill>
              </a:rPr>
              <a:t> Portfolio </a:t>
            </a:r>
            <a:r>
              <a:rPr lang="de-DE" sz="3600" dirty="0" err="1" smtClean="0">
                <a:solidFill>
                  <a:srgbClr val="FFFFFF"/>
                </a:solidFill>
              </a:rPr>
              <a:t>give</a:t>
            </a:r>
            <a:r>
              <a:rPr lang="de-DE" sz="3600" dirty="0" smtClean="0">
                <a:solidFill>
                  <a:srgbClr val="FFFFFF"/>
                </a:solidFill>
              </a:rPr>
              <a:t>?</a:t>
            </a:r>
            <a:endParaRPr lang="de-DE" sz="3600" dirty="0" smtClean="0">
              <a:solidFill>
                <a:srgbClr val="FFFFFF"/>
              </a:solidFill>
            </a:endParaRPr>
          </a:p>
          <a:p>
            <a:pPr lvl="0">
              <a:defRPr sz="1800">
                <a:solidFill>
                  <a:srgbClr val="000000"/>
                </a:solidFill>
              </a:defRPr>
            </a:pPr>
            <a:r>
              <a:rPr lang="de-DE" sz="3600" dirty="0" err="1" smtClean="0">
                <a:solidFill>
                  <a:srgbClr val="FFFFFF"/>
                </a:solidFill>
              </a:rPr>
              <a:t>How</a:t>
            </a:r>
            <a:r>
              <a:rPr lang="de-DE" sz="3600" dirty="0" smtClean="0">
                <a:solidFill>
                  <a:srgbClr val="FFFFFF"/>
                </a:solidFill>
              </a:rPr>
              <a:t> </a:t>
            </a:r>
            <a:r>
              <a:rPr lang="de-DE" sz="3600" dirty="0" err="1" smtClean="0">
                <a:solidFill>
                  <a:srgbClr val="FFFFFF"/>
                </a:solidFill>
              </a:rPr>
              <a:t>are</a:t>
            </a:r>
            <a:r>
              <a:rPr lang="de-DE" sz="3600" dirty="0" smtClean="0">
                <a:solidFill>
                  <a:srgbClr val="FFFFFF"/>
                </a:solidFill>
              </a:rPr>
              <a:t> </a:t>
            </a:r>
            <a:r>
              <a:rPr lang="de-DE" sz="3600" dirty="0" err="1" smtClean="0">
                <a:solidFill>
                  <a:srgbClr val="FFFFFF"/>
                </a:solidFill>
              </a:rPr>
              <a:t>we</a:t>
            </a:r>
            <a:r>
              <a:rPr lang="de-DE" sz="3600" dirty="0" smtClean="0">
                <a:solidFill>
                  <a:srgbClr val="FFFFFF"/>
                </a:solidFill>
              </a:rPr>
              <a:t> </a:t>
            </a:r>
            <a:r>
              <a:rPr lang="de-DE" sz="3600" dirty="0" err="1" smtClean="0">
                <a:solidFill>
                  <a:srgbClr val="FFFFFF"/>
                </a:solidFill>
              </a:rPr>
              <a:t>using</a:t>
            </a:r>
            <a:r>
              <a:rPr lang="de-DE" sz="3600" dirty="0" smtClean="0">
                <a:solidFill>
                  <a:srgbClr val="FFFFFF"/>
                </a:solidFill>
              </a:rPr>
              <a:t> DDI?</a:t>
            </a:r>
          </a:p>
          <a:p>
            <a:pPr lvl="0">
              <a:defRPr sz="1800">
                <a:solidFill>
                  <a:srgbClr val="000000"/>
                </a:solidFill>
              </a:defRPr>
            </a:pPr>
            <a:endParaRPr sz="3600" dirty="0">
              <a:solidFill>
                <a:srgbClr val="FFFFFF"/>
              </a:solidFill>
            </a:endParaRPr>
          </a:p>
        </p:txBody>
      </p:sp>
    </p:spTree>
    <p:extLst>
      <p:ext uri="{BB962C8B-B14F-4D97-AF65-F5344CB8AC3E}">
        <p14:creationId xmlns:p14="http://schemas.microsoft.com/office/powerpoint/2010/main" val="1667400203"/>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err="1" smtClean="0">
                <a:solidFill>
                  <a:srgbClr val="FFFFFF"/>
                </a:solidFill>
              </a:rPr>
              <a:t>What</a:t>
            </a:r>
            <a:r>
              <a:rPr lang="de-DE" sz="4800" dirty="0" smtClean="0">
                <a:solidFill>
                  <a:srgbClr val="FFFFFF"/>
                </a:solidFill>
              </a:rPr>
              <a:t> will </a:t>
            </a:r>
            <a:r>
              <a:rPr lang="de-DE" sz="4800" dirty="0" err="1" smtClean="0">
                <a:solidFill>
                  <a:srgbClr val="FFFFFF"/>
                </a:solidFill>
              </a:rPr>
              <a:t>the</a:t>
            </a:r>
            <a:r>
              <a:rPr lang="de-DE" sz="4800" dirty="0" smtClean="0">
                <a:solidFill>
                  <a:srgbClr val="FFFFFF"/>
                </a:solidFill>
              </a:rPr>
              <a:t> Portfolio do?</a:t>
            </a:r>
            <a:endParaRPr sz="4800" dirty="0">
              <a:solidFill>
                <a:srgbClr val="FFFFFF"/>
              </a:solidFill>
            </a:endParaRPr>
          </a:p>
        </p:txBody>
      </p:sp>
      <p:sp>
        <p:nvSpPr>
          <p:cNvPr id="46" name="Shape 46"/>
          <p:cNvSpPr>
            <a:spLocks noGrp="1"/>
          </p:cNvSpPr>
          <p:nvPr>
            <p:ph type="body" idx="1"/>
          </p:nvPr>
        </p:nvSpPr>
        <p:spPr>
          <a:xfrm>
            <a:off x="723900" y="1981945"/>
            <a:ext cx="10464800" cy="5766338"/>
          </a:xfrm>
          <a:prstGeom prst="rect">
            <a:avLst/>
          </a:prstGeom>
        </p:spPr>
        <p:txBody>
          <a:bodyPr>
            <a:noAutofit/>
          </a:bodyPr>
          <a:lstStyle>
            <a:lvl1pPr>
              <a:lnSpc>
                <a:spcPct val="100000"/>
              </a:lnSpc>
            </a:lvl1pPr>
          </a:lstStyle>
          <a:p>
            <a:pPr lvl="0">
              <a:defRPr sz="1800">
                <a:solidFill>
                  <a:srgbClr val="000000"/>
                </a:solidFill>
              </a:defRPr>
            </a:pPr>
            <a:r>
              <a:rPr lang="en-US" sz="3200" dirty="0" smtClean="0">
                <a:solidFill>
                  <a:schemeClr val="bg1"/>
                </a:solidFill>
              </a:rPr>
              <a:t>Support </a:t>
            </a:r>
            <a:r>
              <a:rPr lang="en-US" sz="3200" dirty="0">
                <a:solidFill>
                  <a:schemeClr val="bg1"/>
                </a:solidFill>
              </a:rPr>
              <a:t>the description of data from </a:t>
            </a:r>
            <a:r>
              <a:rPr lang="en-US" sz="3200" dirty="0" smtClean="0">
                <a:solidFill>
                  <a:schemeClr val="bg1"/>
                </a:solidFill>
              </a:rPr>
              <a:t>social sciences, but also from other </a:t>
            </a:r>
            <a:r>
              <a:rPr lang="en-US" sz="3200" dirty="0">
                <a:solidFill>
                  <a:schemeClr val="bg1"/>
                </a:solidFill>
              </a:rPr>
              <a:t>disciplines, </a:t>
            </a:r>
            <a:r>
              <a:rPr lang="en-US" sz="3200" dirty="0" smtClean="0">
                <a:solidFill>
                  <a:schemeClr val="bg1"/>
                </a:solidFill>
              </a:rPr>
              <a:t>e.g. </a:t>
            </a:r>
            <a:r>
              <a:rPr lang="en-US" sz="3200" dirty="0">
                <a:solidFill>
                  <a:schemeClr val="bg1"/>
                </a:solidFill>
              </a:rPr>
              <a:t>humanities and health </a:t>
            </a:r>
            <a:r>
              <a:rPr lang="en-US" sz="3200" dirty="0" smtClean="0">
                <a:solidFill>
                  <a:schemeClr val="bg1"/>
                </a:solidFill>
              </a:rPr>
              <a:t>sciences</a:t>
            </a:r>
          </a:p>
          <a:p>
            <a:pPr lvl="0">
              <a:defRPr sz="1800">
                <a:solidFill>
                  <a:srgbClr val="000000"/>
                </a:solidFill>
              </a:defRPr>
            </a:pPr>
            <a:r>
              <a:rPr lang="en-US" sz="3200" dirty="0" smtClean="0">
                <a:solidFill>
                  <a:schemeClr val="bg1"/>
                </a:solidFill>
              </a:rPr>
              <a:t>Incorporate work from previous projects like PPP, </a:t>
            </a:r>
            <a:r>
              <a:rPr lang="en-US" sz="3200" dirty="0" err="1" smtClean="0">
                <a:solidFill>
                  <a:schemeClr val="bg1"/>
                </a:solidFill>
              </a:rPr>
              <a:t>DwB</a:t>
            </a:r>
            <a:r>
              <a:rPr lang="en-US" sz="3200" dirty="0" smtClean="0">
                <a:solidFill>
                  <a:schemeClr val="bg1"/>
                </a:solidFill>
              </a:rPr>
              <a:t>, DASISH etc.</a:t>
            </a:r>
            <a:endParaRPr lang="en-US" sz="3200" dirty="0" smtClean="0">
              <a:solidFill>
                <a:schemeClr val="bg1"/>
              </a:solidFill>
            </a:endParaRPr>
          </a:p>
          <a:p>
            <a:pPr>
              <a:defRPr sz="1800">
                <a:solidFill>
                  <a:srgbClr val="000000"/>
                </a:solidFill>
              </a:defRPr>
            </a:pPr>
            <a:r>
              <a:rPr lang="en-US" sz="3200" dirty="0">
                <a:solidFill>
                  <a:schemeClr val="bg1"/>
                </a:solidFill>
              </a:rPr>
              <a:t>Cover study-level metadata and variable/question-level metadata</a:t>
            </a:r>
          </a:p>
          <a:p>
            <a:pPr>
              <a:defRPr sz="1800">
                <a:solidFill>
                  <a:srgbClr val="000000"/>
                </a:solidFill>
              </a:defRPr>
            </a:pPr>
            <a:r>
              <a:rPr lang="en-US" sz="3200" dirty="0" smtClean="0">
                <a:solidFill>
                  <a:schemeClr val="bg1"/>
                </a:solidFill>
              </a:rPr>
              <a:t>Enable </a:t>
            </a:r>
            <a:r>
              <a:rPr lang="en-US" sz="3200" dirty="0">
                <a:solidFill>
                  <a:schemeClr val="bg1"/>
                </a:solidFill>
              </a:rPr>
              <a:t>Service Providers to retain independence yet interact </a:t>
            </a:r>
            <a:r>
              <a:rPr lang="en-US" sz="3200" dirty="0" smtClean="0">
                <a:solidFill>
                  <a:schemeClr val="bg1"/>
                </a:solidFill>
              </a:rPr>
              <a:t>with </a:t>
            </a:r>
            <a:r>
              <a:rPr lang="en-US" sz="3200" dirty="0">
                <a:solidFill>
                  <a:schemeClr val="bg1"/>
                </a:solidFill>
              </a:rPr>
              <a:t>an integrated </a:t>
            </a:r>
            <a:r>
              <a:rPr lang="en-US" sz="3200" dirty="0" smtClean="0">
                <a:solidFill>
                  <a:schemeClr val="bg1"/>
                </a:solidFill>
              </a:rPr>
              <a:t>CESSDA service</a:t>
            </a:r>
          </a:p>
          <a:p>
            <a:pPr>
              <a:defRPr sz="1800">
                <a:solidFill>
                  <a:srgbClr val="000000"/>
                </a:solidFill>
              </a:defRPr>
            </a:pPr>
            <a:r>
              <a:rPr lang="en-US" sz="3200" dirty="0" smtClean="0">
                <a:solidFill>
                  <a:schemeClr val="bg1"/>
                </a:solidFill>
              </a:rPr>
              <a:t>Be </a:t>
            </a:r>
            <a:r>
              <a:rPr lang="en-US" sz="3200" dirty="0">
                <a:solidFill>
                  <a:schemeClr val="bg1"/>
                </a:solidFill>
              </a:rPr>
              <a:t>extensible so that it can be adapted to changing functional requirements over </a:t>
            </a:r>
            <a:r>
              <a:rPr lang="en-US" sz="3200" dirty="0" smtClean="0">
                <a:solidFill>
                  <a:schemeClr val="bg1"/>
                </a:solidFill>
              </a:rPr>
              <a:t>time</a:t>
            </a:r>
          </a:p>
          <a:p>
            <a:pPr>
              <a:defRPr sz="1800">
                <a:solidFill>
                  <a:srgbClr val="000000"/>
                </a:solidFill>
              </a:defRPr>
            </a:pPr>
            <a:r>
              <a:rPr lang="en-US" sz="3200" dirty="0" smtClean="0">
                <a:solidFill>
                  <a:schemeClr val="bg1"/>
                </a:solidFill>
              </a:rPr>
              <a:t>Use qualified </a:t>
            </a:r>
            <a:r>
              <a:rPr lang="en-US" sz="3200" dirty="0">
                <a:solidFill>
                  <a:schemeClr val="bg1"/>
                </a:solidFill>
              </a:rPr>
              <a:t>controlled vocabularies </a:t>
            </a:r>
            <a:endParaRPr lang="en-US" sz="3200" dirty="0" smtClean="0">
              <a:solidFill>
                <a:schemeClr val="bg1"/>
              </a:solidFill>
            </a:endParaRPr>
          </a:p>
          <a:p>
            <a:pPr>
              <a:defRPr sz="1800">
                <a:solidFill>
                  <a:srgbClr val="000000"/>
                </a:solidFill>
              </a:defRPr>
            </a:pPr>
            <a:r>
              <a:rPr lang="en-US" sz="3200" dirty="0" smtClean="0">
                <a:solidFill>
                  <a:schemeClr val="bg1"/>
                </a:solidFill>
              </a:rPr>
              <a:t>Include </a:t>
            </a:r>
            <a:r>
              <a:rPr lang="en-US" sz="3200" dirty="0" smtClean="0">
                <a:solidFill>
                  <a:schemeClr val="bg1"/>
                </a:solidFill>
              </a:rPr>
              <a:t>a </a:t>
            </a:r>
            <a:r>
              <a:rPr lang="en-US" sz="3200" dirty="0">
                <a:solidFill>
                  <a:schemeClr val="bg1"/>
                </a:solidFill>
              </a:rPr>
              <a:t>proposal for updating and </a:t>
            </a:r>
            <a:r>
              <a:rPr lang="en-US" sz="3200" dirty="0" smtClean="0">
                <a:solidFill>
                  <a:schemeClr val="bg1"/>
                </a:solidFill>
              </a:rPr>
              <a:t>extending procedures</a:t>
            </a:r>
            <a:endParaRPr lang="en-US" sz="3200" dirty="0">
              <a:solidFill>
                <a:schemeClr val="bg1"/>
              </a:solidFill>
            </a:endParaRPr>
          </a:p>
          <a:p>
            <a:pPr lvl="0">
              <a:defRPr sz="1800">
                <a:solidFill>
                  <a:srgbClr val="000000"/>
                </a:solidFill>
              </a:defRPr>
            </a:pPr>
            <a:endParaRPr lang="de-DE" sz="3200" dirty="0">
              <a:solidFill>
                <a:schemeClr val="bg1"/>
              </a:solidFill>
            </a:endParaRPr>
          </a:p>
          <a:p>
            <a:pPr lvl="0">
              <a:defRPr sz="1800">
                <a:solidFill>
                  <a:srgbClr val="000000"/>
                </a:solidFill>
              </a:defRPr>
            </a:pPr>
            <a:endParaRPr lang="en-US" sz="3200" dirty="0" smtClean="0">
              <a:solidFill>
                <a:schemeClr val="bg1"/>
              </a:solidFill>
            </a:endParaRPr>
          </a:p>
          <a:p>
            <a:pPr lvl="0">
              <a:defRPr sz="1800">
                <a:solidFill>
                  <a:srgbClr val="000000"/>
                </a:solidFill>
              </a:defRPr>
            </a:pPr>
            <a:endParaRPr lang="en-US" sz="3200" dirty="0">
              <a:solidFill>
                <a:schemeClr val="bg1"/>
              </a:solidFill>
            </a:endParaRPr>
          </a:p>
          <a:p>
            <a:pPr lvl="0">
              <a:defRPr sz="1800">
                <a:solidFill>
                  <a:srgbClr val="000000"/>
                </a:solidFill>
              </a:defRPr>
            </a:pPr>
            <a:endParaRPr sz="3200" dirty="0">
              <a:solidFill>
                <a:schemeClr val="bg1"/>
              </a:solidFill>
            </a:endParaRPr>
          </a:p>
        </p:txBody>
      </p:sp>
    </p:spTree>
    <p:extLst>
      <p:ext uri="{BB962C8B-B14F-4D97-AF65-F5344CB8AC3E}">
        <p14:creationId xmlns:p14="http://schemas.microsoft.com/office/powerpoint/2010/main" val="3222084179"/>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err="1" smtClean="0">
                <a:solidFill>
                  <a:srgbClr val="FFFFFF"/>
                </a:solidFill>
              </a:rPr>
              <a:t>What</a:t>
            </a:r>
            <a:r>
              <a:rPr lang="de-DE" sz="4800" dirty="0" smtClean="0">
                <a:solidFill>
                  <a:srgbClr val="FFFFFF"/>
                </a:solidFill>
              </a:rPr>
              <a:t> </a:t>
            </a:r>
            <a:r>
              <a:rPr lang="de-DE" sz="4800" dirty="0" err="1" smtClean="0">
                <a:solidFill>
                  <a:srgbClr val="FFFFFF"/>
                </a:solidFill>
              </a:rPr>
              <a:t>advantages</a:t>
            </a:r>
            <a:r>
              <a:rPr lang="de-DE" sz="4800" dirty="0" smtClean="0">
                <a:solidFill>
                  <a:srgbClr val="FFFFFF"/>
                </a:solidFill>
              </a:rPr>
              <a:t> </a:t>
            </a:r>
            <a:r>
              <a:rPr lang="de-DE" sz="4800" dirty="0" err="1" smtClean="0">
                <a:solidFill>
                  <a:srgbClr val="FFFFFF"/>
                </a:solidFill>
              </a:rPr>
              <a:t>does</a:t>
            </a:r>
            <a:r>
              <a:rPr lang="de-DE" sz="4800" dirty="0" smtClean="0">
                <a:solidFill>
                  <a:srgbClr val="FFFFFF"/>
                </a:solidFill>
              </a:rPr>
              <a:t> </a:t>
            </a:r>
            <a:r>
              <a:rPr lang="de-DE" sz="4800" dirty="0" err="1" smtClean="0">
                <a:solidFill>
                  <a:srgbClr val="FFFFFF"/>
                </a:solidFill>
              </a:rPr>
              <a:t>the</a:t>
            </a:r>
            <a:r>
              <a:rPr lang="de-DE" sz="4800" dirty="0" smtClean="0">
                <a:solidFill>
                  <a:srgbClr val="FFFFFF"/>
                </a:solidFill>
              </a:rPr>
              <a:t> Portfolio </a:t>
            </a:r>
            <a:r>
              <a:rPr lang="de-DE" sz="4800" dirty="0" err="1" smtClean="0">
                <a:solidFill>
                  <a:srgbClr val="FFFFFF"/>
                </a:solidFill>
              </a:rPr>
              <a:t>give</a:t>
            </a:r>
            <a:r>
              <a:rPr lang="de-DE" sz="4800" dirty="0" smtClean="0">
                <a:solidFill>
                  <a:srgbClr val="FFFFFF"/>
                </a:solidFill>
              </a:rPr>
              <a:t>?</a:t>
            </a:r>
            <a:endParaRPr sz="4800" dirty="0">
              <a:solidFill>
                <a:srgbClr val="FFFFFF"/>
              </a:solidFill>
            </a:endParaRPr>
          </a:p>
        </p:txBody>
      </p:sp>
      <p:sp>
        <p:nvSpPr>
          <p:cNvPr id="46" name="Shape 46"/>
          <p:cNvSpPr>
            <a:spLocks noGrp="1"/>
          </p:cNvSpPr>
          <p:nvPr>
            <p:ph type="body" idx="1"/>
          </p:nvPr>
        </p:nvSpPr>
        <p:spPr>
          <a:xfrm>
            <a:off x="723900" y="2867299"/>
            <a:ext cx="10464800" cy="3311394"/>
          </a:xfrm>
          <a:prstGeom prst="rect">
            <a:avLst/>
          </a:prstGeom>
        </p:spPr>
        <p:txBody>
          <a:bodyPr>
            <a:noAutofit/>
          </a:bodyPr>
          <a:lstStyle>
            <a:lvl1pPr>
              <a:lnSpc>
                <a:spcPct val="100000"/>
              </a:lnSpc>
            </a:lvl1pPr>
          </a:lstStyle>
          <a:p>
            <a:pPr lvl="0">
              <a:defRPr sz="1800">
                <a:solidFill>
                  <a:srgbClr val="000000"/>
                </a:solidFill>
              </a:defRPr>
            </a:pPr>
            <a:r>
              <a:rPr lang="en-US" sz="3200" dirty="0" smtClean="0">
                <a:solidFill>
                  <a:schemeClr val="bg1"/>
                </a:solidFill>
              </a:rPr>
              <a:t>Enable </a:t>
            </a:r>
            <a:r>
              <a:rPr lang="en-US" sz="3200" dirty="0">
                <a:solidFill>
                  <a:schemeClr val="bg1"/>
                </a:solidFill>
              </a:rPr>
              <a:t>the harvesting of SPs’ resource discovery </a:t>
            </a:r>
            <a:r>
              <a:rPr lang="en-US" sz="3200" dirty="0" smtClean="0">
                <a:solidFill>
                  <a:schemeClr val="bg1"/>
                </a:solidFill>
              </a:rPr>
              <a:t>metadata </a:t>
            </a:r>
            <a:r>
              <a:rPr lang="en-US" sz="3200" dirty="0">
                <a:solidFill>
                  <a:schemeClr val="bg1"/>
                </a:solidFill>
              </a:rPr>
              <a:t>and other relevant metadata for inclusion in the CESSDA data </a:t>
            </a:r>
            <a:r>
              <a:rPr lang="en-US" sz="3200" dirty="0" smtClean="0">
                <a:solidFill>
                  <a:schemeClr val="bg1"/>
                </a:solidFill>
              </a:rPr>
              <a:t>portal</a:t>
            </a:r>
          </a:p>
          <a:p>
            <a:pPr lvl="0">
              <a:defRPr sz="1800">
                <a:solidFill>
                  <a:srgbClr val="000000"/>
                </a:solidFill>
              </a:defRPr>
            </a:pPr>
            <a:r>
              <a:rPr lang="en-US" sz="3200" dirty="0" smtClean="0">
                <a:solidFill>
                  <a:schemeClr val="bg1"/>
                </a:solidFill>
              </a:rPr>
              <a:t>Support </a:t>
            </a:r>
            <a:r>
              <a:rPr lang="en-US" sz="3200" dirty="0">
                <a:solidFill>
                  <a:schemeClr val="bg1"/>
                </a:solidFill>
              </a:rPr>
              <a:t>multilingual searches and data discovery, reflecting the needs of both Service Providers and </a:t>
            </a:r>
            <a:r>
              <a:rPr lang="en-US" sz="3200" dirty="0" smtClean="0">
                <a:solidFill>
                  <a:schemeClr val="bg1"/>
                </a:solidFill>
              </a:rPr>
              <a:t>researchers</a:t>
            </a:r>
          </a:p>
          <a:p>
            <a:pPr>
              <a:defRPr sz="1800">
                <a:solidFill>
                  <a:srgbClr val="000000"/>
                </a:solidFill>
              </a:defRPr>
            </a:pPr>
            <a:r>
              <a:rPr lang="en-US" sz="3200" dirty="0">
                <a:solidFill>
                  <a:schemeClr val="bg1"/>
                </a:solidFill>
              </a:rPr>
              <a:t>Using the same metadata portfolio makes the metadata more commensurable to build a well-functioning data discovery </a:t>
            </a:r>
            <a:r>
              <a:rPr lang="en-US" sz="3200" dirty="0" smtClean="0">
                <a:solidFill>
                  <a:schemeClr val="bg1"/>
                </a:solidFill>
              </a:rPr>
              <a:t>system</a:t>
            </a:r>
            <a:endParaRPr lang="en-US" sz="3200" dirty="0">
              <a:solidFill>
                <a:schemeClr val="bg1"/>
              </a:solidFill>
            </a:endParaRPr>
          </a:p>
          <a:p>
            <a:pPr>
              <a:defRPr sz="1800">
                <a:solidFill>
                  <a:srgbClr val="000000"/>
                </a:solidFill>
              </a:defRPr>
            </a:pPr>
            <a:r>
              <a:rPr lang="en-US" sz="3200" dirty="0">
                <a:solidFill>
                  <a:schemeClr val="bg1"/>
                </a:solidFill>
              </a:rPr>
              <a:t>CVs enable the implementation of cross-language information retrieval </a:t>
            </a:r>
            <a:r>
              <a:rPr lang="en-US" sz="3200" dirty="0" smtClean="0">
                <a:solidFill>
                  <a:schemeClr val="bg1"/>
                </a:solidFill>
              </a:rPr>
              <a:t>systems</a:t>
            </a:r>
            <a:endParaRPr sz="3200" dirty="0">
              <a:solidFill>
                <a:schemeClr val="bg1"/>
              </a:solidFill>
            </a:endParaRPr>
          </a:p>
        </p:txBody>
      </p:sp>
    </p:spTree>
    <p:extLst>
      <p:ext uri="{BB962C8B-B14F-4D97-AF65-F5344CB8AC3E}">
        <p14:creationId xmlns:p14="http://schemas.microsoft.com/office/powerpoint/2010/main" val="24858242"/>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45"/>
          <p:cNvSpPr>
            <a:spLocks noGrp="1"/>
          </p:cNvSpPr>
          <p:nvPr>
            <p:ph type="title"/>
          </p:nvPr>
        </p:nvSpPr>
        <p:spPr>
          <a:xfrm>
            <a:off x="723900" y="719999"/>
            <a:ext cx="11761242" cy="1939530"/>
          </a:xfrm>
          <a:prstGeom prst="rect">
            <a:avLst/>
          </a:prstGeom>
        </p:spPr>
        <p:txBody>
          <a:bodyPr>
            <a:normAutofit/>
          </a:bodyPr>
          <a:lstStyle>
            <a:lvl1pPr>
              <a:lnSpc>
                <a:spcPts val="4300"/>
              </a:lnSpc>
              <a:defRPr sz="3600"/>
            </a:lvl1pPr>
          </a:lstStyle>
          <a:p>
            <a:pPr lvl="0">
              <a:defRPr sz="1800">
                <a:solidFill>
                  <a:srgbClr val="000000"/>
                </a:solidFill>
              </a:defRPr>
            </a:pPr>
            <a:r>
              <a:rPr lang="de-DE" sz="4800" dirty="0" err="1" smtClean="0">
                <a:solidFill>
                  <a:srgbClr val="FFFFFF"/>
                </a:solidFill>
              </a:rPr>
              <a:t>How</a:t>
            </a:r>
            <a:r>
              <a:rPr lang="de-DE" sz="4800" dirty="0" smtClean="0">
                <a:solidFill>
                  <a:srgbClr val="FFFFFF"/>
                </a:solidFill>
              </a:rPr>
              <a:t> </a:t>
            </a:r>
            <a:r>
              <a:rPr lang="de-DE" sz="4800" dirty="0" err="1" smtClean="0">
                <a:solidFill>
                  <a:srgbClr val="FFFFFF"/>
                </a:solidFill>
              </a:rPr>
              <a:t>are</a:t>
            </a:r>
            <a:r>
              <a:rPr lang="de-DE" sz="4800" dirty="0" smtClean="0">
                <a:solidFill>
                  <a:srgbClr val="FFFFFF"/>
                </a:solidFill>
              </a:rPr>
              <a:t> </a:t>
            </a:r>
            <a:r>
              <a:rPr lang="de-DE" sz="4800" dirty="0" err="1" smtClean="0">
                <a:solidFill>
                  <a:srgbClr val="FFFFFF"/>
                </a:solidFill>
              </a:rPr>
              <a:t>we</a:t>
            </a:r>
            <a:r>
              <a:rPr lang="de-DE" sz="4800" dirty="0" smtClean="0">
                <a:solidFill>
                  <a:srgbClr val="FFFFFF"/>
                </a:solidFill>
              </a:rPr>
              <a:t> </a:t>
            </a:r>
            <a:r>
              <a:rPr lang="de-DE" sz="4800" dirty="0" err="1" smtClean="0">
                <a:solidFill>
                  <a:srgbClr val="FFFFFF"/>
                </a:solidFill>
              </a:rPr>
              <a:t>using</a:t>
            </a:r>
            <a:r>
              <a:rPr lang="de-DE" sz="4800" dirty="0" smtClean="0">
                <a:solidFill>
                  <a:srgbClr val="FFFFFF"/>
                </a:solidFill>
              </a:rPr>
              <a:t> DDI?</a:t>
            </a:r>
            <a:endParaRPr sz="4800" dirty="0">
              <a:solidFill>
                <a:srgbClr val="FFFFFF"/>
              </a:solidFill>
            </a:endParaRPr>
          </a:p>
        </p:txBody>
      </p:sp>
      <p:sp>
        <p:nvSpPr>
          <p:cNvPr id="46" name="Shape 46"/>
          <p:cNvSpPr>
            <a:spLocks noGrp="1"/>
          </p:cNvSpPr>
          <p:nvPr>
            <p:ph type="body" idx="1"/>
          </p:nvPr>
        </p:nvSpPr>
        <p:spPr>
          <a:xfrm>
            <a:off x="723900" y="2867299"/>
            <a:ext cx="10464800" cy="3311394"/>
          </a:xfrm>
          <a:prstGeom prst="rect">
            <a:avLst/>
          </a:prstGeom>
        </p:spPr>
        <p:txBody>
          <a:bodyPr>
            <a:noAutofit/>
          </a:bodyPr>
          <a:lstStyle>
            <a:lvl1pPr>
              <a:lnSpc>
                <a:spcPct val="100000"/>
              </a:lnSpc>
            </a:lvl1pPr>
          </a:lstStyle>
          <a:p>
            <a:pPr lvl="0">
              <a:defRPr sz="1800">
                <a:solidFill>
                  <a:srgbClr val="000000"/>
                </a:solidFill>
              </a:defRPr>
            </a:pPr>
            <a:r>
              <a:rPr lang="en-US" sz="3200" dirty="0" smtClean="0">
                <a:solidFill>
                  <a:schemeClr val="bg1"/>
                </a:solidFill>
              </a:rPr>
              <a:t>The CESSDA </a:t>
            </a:r>
            <a:r>
              <a:rPr lang="en-US" sz="3200" dirty="0">
                <a:solidFill>
                  <a:schemeClr val="bg1"/>
                </a:solidFill>
              </a:rPr>
              <a:t>Metadata Standards Portfolio </a:t>
            </a:r>
            <a:r>
              <a:rPr lang="en-US" sz="3200" dirty="0" smtClean="0">
                <a:solidFill>
                  <a:schemeClr val="bg1"/>
                </a:solidFill>
              </a:rPr>
              <a:t>will </a:t>
            </a:r>
            <a:r>
              <a:rPr lang="en-US" sz="3200" dirty="0">
                <a:solidFill>
                  <a:schemeClr val="bg1"/>
                </a:solidFill>
              </a:rPr>
              <a:t>be standards </a:t>
            </a:r>
            <a:r>
              <a:rPr lang="en-US" sz="3200" dirty="0" smtClean="0">
                <a:solidFill>
                  <a:schemeClr val="bg1"/>
                </a:solidFill>
              </a:rPr>
              <a:t>based</a:t>
            </a:r>
          </a:p>
          <a:p>
            <a:pPr lvl="0">
              <a:defRPr sz="1800">
                <a:solidFill>
                  <a:srgbClr val="000000"/>
                </a:solidFill>
              </a:defRPr>
            </a:pPr>
            <a:r>
              <a:rPr lang="en-US" sz="3200" dirty="0" smtClean="0">
                <a:solidFill>
                  <a:schemeClr val="bg1"/>
                </a:solidFill>
              </a:rPr>
              <a:t>The </a:t>
            </a:r>
            <a:r>
              <a:rPr lang="en-US" sz="3200" dirty="0">
                <a:solidFill>
                  <a:schemeClr val="bg1"/>
                </a:solidFill>
              </a:rPr>
              <a:t>Portfolio will be compliant with DDI</a:t>
            </a:r>
            <a:r>
              <a:rPr lang="en-US" sz="3200" dirty="0" smtClean="0">
                <a:solidFill>
                  <a:schemeClr val="bg1"/>
                </a:solidFill>
              </a:rPr>
              <a:t>.</a:t>
            </a:r>
          </a:p>
          <a:p>
            <a:pPr>
              <a:defRPr sz="1800">
                <a:solidFill>
                  <a:srgbClr val="000000"/>
                </a:solidFill>
              </a:defRPr>
            </a:pPr>
            <a:r>
              <a:rPr lang="en-US" sz="3200" dirty="0">
                <a:solidFill>
                  <a:schemeClr val="bg1"/>
                </a:solidFill>
              </a:rPr>
              <a:t>Portfolio will include controlled vocabularies. </a:t>
            </a:r>
            <a:endParaRPr lang="en-US" sz="3200" dirty="0" smtClean="0">
              <a:solidFill>
                <a:schemeClr val="bg1"/>
              </a:solidFill>
            </a:endParaRPr>
          </a:p>
          <a:p>
            <a:pPr>
              <a:defRPr sz="1800">
                <a:solidFill>
                  <a:srgbClr val="000000"/>
                </a:solidFill>
              </a:defRPr>
            </a:pPr>
            <a:r>
              <a:rPr lang="en-US" sz="3200" dirty="0" smtClean="0">
                <a:solidFill>
                  <a:schemeClr val="bg1"/>
                </a:solidFill>
              </a:rPr>
              <a:t>Whenever </a:t>
            </a:r>
            <a:r>
              <a:rPr lang="en-US" sz="3200" dirty="0">
                <a:solidFill>
                  <a:schemeClr val="bg1"/>
                </a:solidFill>
              </a:rPr>
              <a:t>possible, existing CVs will be used. </a:t>
            </a:r>
            <a:endParaRPr lang="en-US" sz="3200" dirty="0" smtClean="0">
              <a:solidFill>
                <a:schemeClr val="bg1"/>
              </a:solidFill>
            </a:endParaRPr>
          </a:p>
          <a:p>
            <a:pPr>
              <a:defRPr sz="1800">
                <a:solidFill>
                  <a:srgbClr val="000000"/>
                </a:solidFill>
              </a:defRPr>
            </a:pPr>
            <a:r>
              <a:rPr lang="en-US" sz="3200" dirty="0" smtClean="0">
                <a:solidFill>
                  <a:schemeClr val="bg1"/>
                </a:solidFill>
              </a:rPr>
              <a:t>If </a:t>
            </a:r>
            <a:r>
              <a:rPr lang="en-US" sz="3200" dirty="0">
                <a:solidFill>
                  <a:schemeClr val="bg1"/>
                </a:solidFill>
              </a:rPr>
              <a:t>needed, new multilingual CVs will be developed in collaboration with relevant external initiatives (for example, the DDI CVG).</a:t>
            </a:r>
          </a:p>
          <a:p>
            <a:pPr lvl="0">
              <a:defRPr sz="1800">
                <a:solidFill>
                  <a:srgbClr val="000000"/>
                </a:solidFill>
              </a:defRPr>
            </a:pPr>
            <a:endParaRPr lang="en-US" sz="3200" dirty="0" smtClean="0">
              <a:solidFill>
                <a:schemeClr val="bg1"/>
              </a:solidFill>
            </a:endParaRPr>
          </a:p>
          <a:p>
            <a:pPr lvl="0">
              <a:defRPr sz="1800">
                <a:solidFill>
                  <a:srgbClr val="000000"/>
                </a:solidFill>
              </a:defRPr>
            </a:pPr>
            <a:endParaRPr sz="3200" dirty="0">
              <a:solidFill>
                <a:schemeClr val="bg1"/>
              </a:solidFill>
            </a:endParaRPr>
          </a:p>
        </p:txBody>
      </p:sp>
    </p:spTree>
    <p:extLst>
      <p:ext uri="{BB962C8B-B14F-4D97-AF65-F5344CB8AC3E}">
        <p14:creationId xmlns:p14="http://schemas.microsoft.com/office/powerpoint/2010/main" val="2608478601"/>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 name="cessda logo solid neg.pdf"/>
          <p:cNvPicPr/>
          <p:nvPr/>
        </p:nvPicPr>
        <p:blipFill>
          <a:blip r:embed="rId2">
            <a:extLst/>
          </a:blip>
          <a:stretch>
            <a:fillRect/>
          </a:stretch>
        </p:blipFill>
        <p:spPr>
          <a:xfrm>
            <a:off x="4504626" y="7763072"/>
            <a:ext cx="3580952" cy="1130301"/>
          </a:xfrm>
          <a:prstGeom prst="rect">
            <a:avLst/>
          </a:prstGeom>
          <a:ln w="12700">
            <a:miter lim="400000"/>
          </a:ln>
        </p:spPr>
      </p:pic>
      <p:sp>
        <p:nvSpPr>
          <p:cNvPr id="194" name="Shape 194"/>
          <p:cNvSpPr/>
          <p:nvPr/>
        </p:nvSpPr>
        <p:spPr>
          <a:xfrm>
            <a:off x="5102468" y="4698834"/>
            <a:ext cx="2385268" cy="654025"/>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a:lnSpc>
                <a:spcPts val="4300"/>
              </a:lnSpc>
              <a:defRPr sz="3600" b="0">
                <a:latin typeface="+mn-lt"/>
                <a:ea typeface="+mn-ea"/>
                <a:cs typeface="+mn-cs"/>
                <a:sym typeface="Lato Regular"/>
              </a:defRPr>
            </a:lvl1pPr>
          </a:lstStyle>
          <a:p>
            <a:pPr lvl="0" algn="ctr">
              <a:defRPr sz="1800">
                <a:solidFill>
                  <a:srgbClr val="000000"/>
                </a:solidFill>
              </a:defRPr>
            </a:pPr>
            <a:r>
              <a:rPr lang="de-DE" sz="3600" dirty="0" err="1" smtClean="0">
                <a:solidFill>
                  <a:srgbClr val="FFFFFF"/>
                </a:solidFill>
              </a:rPr>
              <a:t>Thank</a:t>
            </a:r>
            <a:r>
              <a:rPr lang="de-DE" sz="3600" dirty="0" smtClean="0">
                <a:solidFill>
                  <a:srgbClr val="FFFFFF"/>
                </a:solidFill>
              </a:rPr>
              <a:t> </a:t>
            </a:r>
            <a:r>
              <a:rPr lang="de-DE" sz="3600" dirty="0" err="1" smtClean="0">
                <a:solidFill>
                  <a:srgbClr val="FFFFFF"/>
                </a:solidFill>
              </a:rPr>
              <a:t>you</a:t>
            </a:r>
            <a:r>
              <a:rPr lang="de-DE" sz="3600" dirty="0" smtClean="0">
                <a:solidFill>
                  <a:srgbClr val="FFFFFF"/>
                </a:solidFill>
              </a:rPr>
              <a:t>!</a:t>
            </a:r>
            <a:endParaRPr sz="3600" dirty="0">
              <a:solidFill>
                <a:srgbClr val="FFFFFF"/>
              </a:solidFill>
            </a:endParaRPr>
          </a:p>
        </p:txBody>
      </p:sp>
    </p:spTree>
  </p:cSld>
  <p:clrMapOvr>
    <a:masterClrMapping/>
  </p:clrMapOvr>
  <p:transition spd="slow">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FFFFFF"/>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Lato Regular"/>
        <a:ea typeface="Lato Regular"/>
        <a:cs typeface="Lato Regular"/>
      </a:majorFont>
      <a:minorFont>
        <a:latin typeface="Lato Regular"/>
        <a:ea typeface="Lato Regular"/>
        <a:cs typeface="Lato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1" hangingPunct="0">
          <a:lnSpc>
            <a:spcPct val="100000"/>
          </a:lnSpc>
          <a:spcBef>
            <a:spcPts val="420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Lato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1800" b="1" i="0" u="none" strike="noStrike" cap="none" spc="0" normalizeH="0" baseline="0">
            <a:ln>
              <a:noFill/>
            </a:ln>
            <a:solidFill>
              <a:srgbClr val="FFFFFF"/>
            </a:solidFill>
            <a:effectLst/>
            <a:uFillTx/>
            <a:latin typeface="Lato-Heavy"/>
            <a:ea typeface="Lato-Heavy"/>
            <a:cs typeface="Lato-Heavy"/>
            <a:sym typeface="Lato-Heav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Lato Regular"/>
        <a:ea typeface="Lato Regular"/>
        <a:cs typeface="Lato Regular"/>
      </a:majorFont>
      <a:minorFont>
        <a:latin typeface="Lato Regular"/>
        <a:ea typeface="Lato Regular"/>
        <a:cs typeface="Lato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1" hangingPunct="0">
          <a:lnSpc>
            <a:spcPct val="100000"/>
          </a:lnSpc>
          <a:spcBef>
            <a:spcPts val="420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Lato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1800" b="1" i="0" u="none" strike="noStrike" cap="none" spc="0" normalizeH="0" baseline="0">
            <a:ln>
              <a:noFill/>
            </a:ln>
            <a:solidFill>
              <a:srgbClr val="FFFFFF"/>
            </a:solidFill>
            <a:effectLst/>
            <a:uFillTx/>
            <a:latin typeface="Lato-Heavy"/>
            <a:ea typeface="Lato-Heavy"/>
            <a:cs typeface="Lato-Heavy"/>
            <a:sym typeface="Lato-Heav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895</Words>
  <Application>Microsoft Office PowerPoint</Application>
  <PresentationFormat>Benutzerdefiniert</PresentationFormat>
  <Paragraphs>173</Paragraphs>
  <Slides>18</Slides>
  <Notes>0</Notes>
  <HiddenSlides>0</HiddenSlides>
  <MMClips>0</MMClips>
  <ScaleCrop>false</ScaleCrop>
  <HeadingPairs>
    <vt:vector size="4" baseType="variant">
      <vt:variant>
        <vt:lpstr>Design</vt:lpstr>
      </vt:variant>
      <vt:variant>
        <vt:i4>1</vt:i4>
      </vt:variant>
      <vt:variant>
        <vt:lpstr>Folientitel</vt:lpstr>
      </vt:variant>
      <vt:variant>
        <vt:i4>18</vt:i4>
      </vt:variant>
    </vt:vector>
  </HeadingPairs>
  <TitlesOfParts>
    <vt:vector size="19" baseType="lpstr">
      <vt:lpstr>White</vt:lpstr>
      <vt:lpstr>Introducing the CESSDA Metadata Management Project </vt:lpstr>
      <vt:lpstr>Outline</vt:lpstr>
      <vt:lpstr>About CESSDA</vt:lpstr>
      <vt:lpstr>CESSDA Objectives</vt:lpstr>
      <vt:lpstr>CESSDA Members</vt:lpstr>
      <vt:lpstr>CESSDA Current projects</vt:lpstr>
      <vt:lpstr>The CMM Project</vt:lpstr>
      <vt:lpstr>CMM Objective and output</vt:lpstr>
      <vt:lpstr>Why ”only” version 1 of Portfolio?</vt:lpstr>
      <vt:lpstr>CMM Tasks and task leaders</vt:lpstr>
      <vt:lpstr>CMM Partners</vt:lpstr>
      <vt:lpstr>CMM Deliverables</vt:lpstr>
      <vt:lpstr>CMM Project timeline</vt:lpstr>
      <vt:lpstr>Working on Metadata Management</vt:lpstr>
      <vt:lpstr>What will the Portfolio do?</vt:lpstr>
      <vt:lpstr>What advantages does the Portfolio give?</vt:lpstr>
      <vt:lpstr>How are we using DDI?</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CESSDA (Lato Regular 65)</dc:title>
  <dc:creator>Netscher, Sebastian</dc:creator>
  <cp:lastModifiedBy>Zenk-Möltgen, Wolfgang</cp:lastModifiedBy>
  <cp:revision>28</cp:revision>
  <dcterms:modified xsi:type="dcterms:W3CDTF">2015-11-29T18:16:09Z</dcterms:modified>
</cp:coreProperties>
</file>