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3" r:id="rId1"/>
  </p:sldMasterIdLst>
  <p:notesMasterIdLst>
    <p:notesMasterId r:id="rId24"/>
  </p:notesMasterIdLst>
  <p:handoutMasterIdLst>
    <p:handoutMasterId r:id="rId25"/>
  </p:handoutMasterIdLst>
  <p:sldIdLst>
    <p:sldId id="287" r:id="rId2"/>
    <p:sldId id="281" r:id="rId3"/>
    <p:sldId id="283" r:id="rId4"/>
    <p:sldId id="282" r:id="rId5"/>
    <p:sldId id="261" r:id="rId6"/>
    <p:sldId id="284" r:id="rId7"/>
    <p:sldId id="266" r:id="rId8"/>
    <p:sldId id="267" r:id="rId9"/>
    <p:sldId id="268" r:id="rId10"/>
    <p:sldId id="277" r:id="rId11"/>
    <p:sldId id="285" r:id="rId12"/>
    <p:sldId id="286" r:id="rId13"/>
    <p:sldId id="279" r:id="rId14"/>
    <p:sldId id="270" r:id="rId15"/>
    <p:sldId id="262" r:id="rId16"/>
    <p:sldId id="264" r:id="rId17"/>
    <p:sldId id="263" r:id="rId18"/>
    <p:sldId id="272" r:id="rId19"/>
    <p:sldId id="271" r:id="rId20"/>
    <p:sldId id="276" r:id="rId21"/>
    <p:sldId id="265" r:id="rId22"/>
    <p:sldId id="27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670" autoAdjust="0"/>
    <p:restoredTop sz="94660"/>
  </p:normalViewPr>
  <p:slideViewPr>
    <p:cSldViewPr snapToGrid="0">
      <p:cViewPr varScale="1">
        <p:scale>
          <a:sx n="61" d="100"/>
          <a:sy n="61" d="100"/>
        </p:scale>
        <p:origin x="-78" y="-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E105AD-36D5-4F6E-8F6D-F2A67CD5E23F}" type="doc">
      <dgm:prSet loTypeId="urn:microsoft.com/office/officeart/2005/8/layout/cycle1" loCatId="cycle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2EED77D-AF6F-4AF3-9A91-E3FD23F79814}">
      <dgm:prSet phldrT="[Text]"/>
      <dgm:spPr/>
      <dgm:t>
        <a:bodyPr/>
        <a:lstStyle/>
        <a:p>
          <a:r>
            <a:rPr lang="en-US" dirty="0" smtClean="0"/>
            <a:t>Data Security</a:t>
          </a:r>
          <a:endParaRPr lang="en-US" dirty="0"/>
        </a:p>
      </dgm:t>
    </dgm:pt>
    <dgm:pt modelId="{1044945D-31B6-4BC2-A0B6-73A71953B7D5}" type="parTrans" cxnId="{A401AA85-B6DA-41DF-A6C8-98FB25F160D1}">
      <dgm:prSet/>
      <dgm:spPr/>
      <dgm:t>
        <a:bodyPr/>
        <a:lstStyle/>
        <a:p>
          <a:endParaRPr lang="en-US"/>
        </a:p>
      </dgm:t>
    </dgm:pt>
    <dgm:pt modelId="{251A2977-7BAA-4DA3-BA0B-1CB23DC93028}" type="sibTrans" cxnId="{A401AA85-B6DA-41DF-A6C8-98FB25F160D1}">
      <dgm:prSet/>
      <dgm:spPr/>
      <dgm:t>
        <a:bodyPr/>
        <a:lstStyle/>
        <a:p>
          <a:endParaRPr lang="en-US"/>
        </a:p>
      </dgm:t>
    </dgm:pt>
    <dgm:pt modelId="{F014B465-EC21-491E-A195-415B5AC9028F}">
      <dgm:prSet phldrT="[Text]"/>
      <dgm:spPr/>
      <dgm:t>
        <a:bodyPr/>
        <a:lstStyle/>
        <a:p>
          <a:r>
            <a:rPr lang="en-US" dirty="0" smtClean="0"/>
            <a:t>Researcher Access</a:t>
          </a:r>
          <a:endParaRPr lang="en-US" dirty="0"/>
        </a:p>
      </dgm:t>
    </dgm:pt>
    <dgm:pt modelId="{57ABD30F-20A0-4627-974B-072F3F159D32}" type="parTrans" cxnId="{0C33A813-088F-4E16-BAFD-14ECFB3A15C2}">
      <dgm:prSet/>
      <dgm:spPr/>
      <dgm:t>
        <a:bodyPr/>
        <a:lstStyle/>
        <a:p>
          <a:endParaRPr lang="en-US"/>
        </a:p>
      </dgm:t>
    </dgm:pt>
    <dgm:pt modelId="{0B3627C9-8FCA-4391-B3D4-FE850134C7B3}" type="sibTrans" cxnId="{0C33A813-088F-4E16-BAFD-14ECFB3A15C2}">
      <dgm:prSet/>
      <dgm:spPr/>
      <dgm:t>
        <a:bodyPr/>
        <a:lstStyle/>
        <a:p>
          <a:endParaRPr lang="en-US"/>
        </a:p>
      </dgm:t>
    </dgm:pt>
    <dgm:pt modelId="{16E7B73A-5565-441B-8A0B-39CDAC213131}">
      <dgm:prSet phldrT="[Text]"/>
      <dgm:spPr/>
      <dgm:t>
        <a:bodyPr/>
        <a:lstStyle/>
        <a:p>
          <a:r>
            <a:rPr lang="en-US" dirty="0" smtClean="0"/>
            <a:t>Promoting Data through Discoverability</a:t>
          </a:r>
          <a:endParaRPr lang="en-US" dirty="0"/>
        </a:p>
      </dgm:t>
    </dgm:pt>
    <dgm:pt modelId="{0B60E2CE-2ABF-46D2-BCD3-97FFF9CBC6FB}" type="parTrans" cxnId="{EEDD3626-3E04-4C2E-ACE3-A0108C74BCAC}">
      <dgm:prSet/>
      <dgm:spPr/>
      <dgm:t>
        <a:bodyPr/>
        <a:lstStyle/>
        <a:p>
          <a:endParaRPr lang="en-US"/>
        </a:p>
      </dgm:t>
    </dgm:pt>
    <dgm:pt modelId="{4B71DC4B-7AC4-4134-9F3F-0F46B9428B7D}" type="sibTrans" cxnId="{EEDD3626-3E04-4C2E-ACE3-A0108C74BCAC}">
      <dgm:prSet/>
      <dgm:spPr/>
      <dgm:t>
        <a:bodyPr/>
        <a:lstStyle/>
        <a:p>
          <a:endParaRPr lang="en-US"/>
        </a:p>
      </dgm:t>
    </dgm:pt>
    <dgm:pt modelId="{E2422944-BA5E-482C-AB15-66A1A0274DEE}" type="pres">
      <dgm:prSet presAssocID="{03E105AD-36D5-4F6E-8F6D-F2A67CD5E23F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DFD39EF-67A7-4EBE-9779-FA4324BC9291}" type="pres">
      <dgm:prSet presAssocID="{72EED77D-AF6F-4AF3-9A91-E3FD23F79814}" presName="dummy" presStyleCnt="0"/>
      <dgm:spPr/>
    </dgm:pt>
    <dgm:pt modelId="{A272964D-C243-4751-87AE-37465A3C4ABA}" type="pres">
      <dgm:prSet presAssocID="{72EED77D-AF6F-4AF3-9A91-E3FD23F79814}" presName="node" presStyleLbl="revTx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B5AE8BB-685B-4291-802D-4BD0797247EC}" type="pres">
      <dgm:prSet presAssocID="{251A2977-7BAA-4DA3-BA0B-1CB23DC93028}" presName="sibTrans" presStyleLbl="node1" presStyleIdx="0" presStyleCnt="3"/>
      <dgm:spPr/>
      <dgm:t>
        <a:bodyPr/>
        <a:lstStyle/>
        <a:p>
          <a:endParaRPr lang="en-US"/>
        </a:p>
      </dgm:t>
    </dgm:pt>
    <dgm:pt modelId="{141D0BA9-6707-40F7-BCEC-1DA0EDEB33B1}" type="pres">
      <dgm:prSet presAssocID="{F014B465-EC21-491E-A195-415B5AC9028F}" presName="dummy" presStyleCnt="0"/>
      <dgm:spPr/>
    </dgm:pt>
    <dgm:pt modelId="{161DE6A9-9060-4AAC-A28D-C6463731484C}" type="pres">
      <dgm:prSet presAssocID="{F014B465-EC21-491E-A195-415B5AC9028F}" presName="node" presStyleLbl="revTx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C54F8D-4E86-4C13-B531-7FC04096AC01}" type="pres">
      <dgm:prSet presAssocID="{0B3627C9-8FCA-4391-B3D4-FE850134C7B3}" presName="sibTrans" presStyleLbl="node1" presStyleIdx="1" presStyleCnt="3"/>
      <dgm:spPr/>
      <dgm:t>
        <a:bodyPr/>
        <a:lstStyle/>
        <a:p>
          <a:endParaRPr lang="en-US"/>
        </a:p>
      </dgm:t>
    </dgm:pt>
    <dgm:pt modelId="{624C826B-3536-4E58-B42B-95826F776B91}" type="pres">
      <dgm:prSet presAssocID="{16E7B73A-5565-441B-8A0B-39CDAC213131}" presName="dummy" presStyleCnt="0"/>
      <dgm:spPr/>
    </dgm:pt>
    <dgm:pt modelId="{4105465A-9BB3-4775-9C34-31384C6F2672}" type="pres">
      <dgm:prSet presAssocID="{16E7B73A-5565-441B-8A0B-39CDAC213131}" presName="node" presStyleLbl="revTx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859FFD7-5177-4CBE-AC9A-60E8C3B1F566}" type="pres">
      <dgm:prSet presAssocID="{4B71DC4B-7AC4-4134-9F3F-0F46B9428B7D}" presName="sibTrans" presStyleLbl="node1" presStyleIdx="2" presStyleCnt="3"/>
      <dgm:spPr/>
      <dgm:t>
        <a:bodyPr/>
        <a:lstStyle/>
        <a:p>
          <a:endParaRPr lang="en-US"/>
        </a:p>
      </dgm:t>
    </dgm:pt>
  </dgm:ptLst>
  <dgm:cxnLst>
    <dgm:cxn modelId="{9F2B4EE3-99DA-44AD-81CB-BCDBCC8A092A}" type="presOf" srcId="{03E105AD-36D5-4F6E-8F6D-F2A67CD5E23F}" destId="{E2422944-BA5E-482C-AB15-66A1A0274DEE}" srcOrd="0" destOrd="0" presId="urn:microsoft.com/office/officeart/2005/8/layout/cycle1"/>
    <dgm:cxn modelId="{0C33A813-088F-4E16-BAFD-14ECFB3A15C2}" srcId="{03E105AD-36D5-4F6E-8F6D-F2A67CD5E23F}" destId="{F014B465-EC21-491E-A195-415B5AC9028F}" srcOrd="1" destOrd="0" parTransId="{57ABD30F-20A0-4627-974B-072F3F159D32}" sibTransId="{0B3627C9-8FCA-4391-B3D4-FE850134C7B3}"/>
    <dgm:cxn modelId="{926843A2-B5AB-4CE6-9B76-C0E009C20B9F}" type="presOf" srcId="{F014B465-EC21-491E-A195-415B5AC9028F}" destId="{161DE6A9-9060-4AAC-A28D-C6463731484C}" srcOrd="0" destOrd="0" presId="urn:microsoft.com/office/officeart/2005/8/layout/cycle1"/>
    <dgm:cxn modelId="{EE503CD0-F92E-4D66-8E14-8C9DAABA23B1}" type="presOf" srcId="{0B3627C9-8FCA-4391-B3D4-FE850134C7B3}" destId="{17C54F8D-4E86-4C13-B531-7FC04096AC01}" srcOrd="0" destOrd="0" presId="urn:microsoft.com/office/officeart/2005/8/layout/cycle1"/>
    <dgm:cxn modelId="{CA54565D-6576-43D6-BC1A-DC130439CB84}" type="presOf" srcId="{4B71DC4B-7AC4-4134-9F3F-0F46B9428B7D}" destId="{D859FFD7-5177-4CBE-AC9A-60E8C3B1F566}" srcOrd="0" destOrd="0" presId="urn:microsoft.com/office/officeart/2005/8/layout/cycle1"/>
    <dgm:cxn modelId="{EEDD3626-3E04-4C2E-ACE3-A0108C74BCAC}" srcId="{03E105AD-36D5-4F6E-8F6D-F2A67CD5E23F}" destId="{16E7B73A-5565-441B-8A0B-39CDAC213131}" srcOrd="2" destOrd="0" parTransId="{0B60E2CE-2ABF-46D2-BCD3-97FFF9CBC6FB}" sibTransId="{4B71DC4B-7AC4-4134-9F3F-0F46B9428B7D}"/>
    <dgm:cxn modelId="{AE410B15-50E2-4E6A-8765-2510A4AE519F}" type="presOf" srcId="{16E7B73A-5565-441B-8A0B-39CDAC213131}" destId="{4105465A-9BB3-4775-9C34-31384C6F2672}" srcOrd="0" destOrd="0" presId="urn:microsoft.com/office/officeart/2005/8/layout/cycle1"/>
    <dgm:cxn modelId="{C57FCFB2-7DF5-48C4-AFC8-32F8A8F4DD81}" type="presOf" srcId="{72EED77D-AF6F-4AF3-9A91-E3FD23F79814}" destId="{A272964D-C243-4751-87AE-37465A3C4ABA}" srcOrd="0" destOrd="0" presId="urn:microsoft.com/office/officeart/2005/8/layout/cycle1"/>
    <dgm:cxn modelId="{2ADA6429-B2BC-4466-AF72-F134960AF189}" type="presOf" srcId="{251A2977-7BAA-4DA3-BA0B-1CB23DC93028}" destId="{AB5AE8BB-685B-4291-802D-4BD0797247EC}" srcOrd="0" destOrd="0" presId="urn:microsoft.com/office/officeart/2005/8/layout/cycle1"/>
    <dgm:cxn modelId="{A401AA85-B6DA-41DF-A6C8-98FB25F160D1}" srcId="{03E105AD-36D5-4F6E-8F6D-F2A67CD5E23F}" destId="{72EED77D-AF6F-4AF3-9A91-E3FD23F79814}" srcOrd="0" destOrd="0" parTransId="{1044945D-31B6-4BC2-A0B6-73A71953B7D5}" sibTransId="{251A2977-7BAA-4DA3-BA0B-1CB23DC93028}"/>
    <dgm:cxn modelId="{DDAB937C-411F-4587-AD30-11D7F3348E7B}" type="presParOf" srcId="{E2422944-BA5E-482C-AB15-66A1A0274DEE}" destId="{5DFD39EF-67A7-4EBE-9779-FA4324BC9291}" srcOrd="0" destOrd="0" presId="urn:microsoft.com/office/officeart/2005/8/layout/cycle1"/>
    <dgm:cxn modelId="{8CF9F80E-3501-4B86-86A4-64067DE06B78}" type="presParOf" srcId="{E2422944-BA5E-482C-AB15-66A1A0274DEE}" destId="{A272964D-C243-4751-87AE-37465A3C4ABA}" srcOrd="1" destOrd="0" presId="urn:microsoft.com/office/officeart/2005/8/layout/cycle1"/>
    <dgm:cxn modelId="{AFF84CAC-7AF8-4A4E-8C95-0EF2D268C1C1}" type="presParOf" srcId="{E2422944-BA5E-482C-AB15-66A1A0274DEE}" destId="{AB5AE8BB-685B-4291-802D-4BD0797247EC}" srcOrd="2" destOrd="0" presId="urn:microsoft.com/office/officeart/2005/8/layout/cycle1"/>
    <dgm:cxn modelId="{ED85E79A-C99B-4F3F-BD8F-CB05A33578C6}" type="presParOf" srcId="{E2422944-BA5E-482C-AB15-66A1A0274DEE}" destId="{141D0BA9-6707-40F7-BCEC-1DA0EDEB33B1}" srcOrd="3" destOrd="0" presId="urn:microsoft.com/office/officeart/2005/8/layout/cycle1"/>
    <dgm:cxn modelId="{C4255811-69DF-442A-93CE-65A5C39DACC3}" type="presParOf" srcId="{E2422944-BA5E-482C-AB15-66A1A0274DEE}" destId="{161DE6A9-9060-4AAC-A28D-C6463731484C}" srcOrd="4" destOrd="0" presId="urn:microsoft.com/office/officeart/2005/8/layout/cycle1"/>
    <dgm:cxn modelId="{38202612-756A-4FAC-84E6-706E9AD659EB}" type="presParOf" srcId="{E2422944-BA5E-482C-AB15-66A1A0274DEE}" destId="{17C54F8D-4E86-4C13-B531-7FC04096AC01}" srcOrd="5" destOrd="0" presId="urn:microsoft.com/office/officeart/2005/8/layout/cycle1"/>
    <dgm:cxn modelId="{4D9D93C4-B021-40D4-8FDC-DE5E2BD9CD3E}" type="presParOf" srcId="{E2422944-BA5E-482C-AB15-66A1A0274DEE}" destId="{624C826B-3536-4E58-B42B-95826F776B91}" srcOrd="6" destOrd="0" presId="urn:microsoft.com/office/officeart/2005/8/layout/cycle1"/>
    <dgm:cxn modelId="{4C4F1D24-76AF-404F-9119-36AD633C3B5B}" type="presParOf" srcId="{E2422944-BA5E-482C-AB15-66A1A0274DEE}" destId="{4105465A-9BB3-4775-9C34-31384C6F2672}" srcOrd="7" destOrd="0" presId="urn:microsoft.com/office/officeart/2005/8/layout/cycle1"/>
    <dgm:cxn modelId="{F3B197F2-4BC4-463E-ABD6-AF23D8DF8ACD}" type="presParOf" srcId="{E2422944-BA5E-482C-AB15-66A1A0274DEE}" destId="{D859FFD7-5177-4CBE-AC9A-60E8C3B1F566}" srcOrd="8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72964D-C243-4751-87AE-37465A3C4ABA}">
      <dsp:nvSpPr>
        <dsp:cNvPr id="0" name=""/>
        <dsp:cNvSpPr/>
      </dsp:nvSpPr>
      <dsp:spPr>
        <a:xfrm>
          <a:off x="6003460" y="430761"/>
          <a:ext cx="2189894" cy="2189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Data Security</a:t>
          </a:r>
          <a:endParaRPr lang="en-US" sz="2500" kern="1200" dirty="0"/>
        </a:p>
      </dsp:txBody>
      <dsp:txXfrm>
        <a:off x="6003460" y="430761"/>
        <a:ext cx="2189894" cy="2189894"/>
      </dsp:txXfrm>
    </dsp:sp>
    <dsp:sp modelId="{AB5AE8BB-685B-4291-802D-4BD0797247EC}">
      <dsp:nvSpPr>
        <dsp:cNvPr id="0" name=""/>
        <dsp:cNvSpPr/>
      </dsp:nvSpPr>
      <dsp:spPr>
        <a:xfrm>
          <a:off x="2669834" y="418"/>
          <a:ext cx="5175931" cy="5175931"/>
        </a:xfrm>
        <a:prstGeom prst="circularArrow">
          <a:avLst>
            <a:gd name="adj1" fmla="val 8250"/>
            <a:gd name="adj2" fmla="val 576273"/>
            <a:gd name="adj3" fmla="val 2963140"/>
            <a:gd name="adj4" fmla="val 52202"/>
            <a:gd name="adj5" fmla="val 9625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1DE6A9-9060-4AAC-A28D-C6463731484C}">
      <dsp:nvSpPr>
        <dsp:cNvPr id="0" name=""/>
        <dsp:cNvSpPr/>
      </dsp:nvSpPr>
      <dsp:spPr>
        <a:xfrm>
          <a:off x="4162852" y="3618787"/>
          <a:ext cx="2189894" cy="2189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Researcher Access</a:t>
          </a:r>
          <a:endParaRPr lang="en-US" sz="2500" kern="1200" dirty="0"/>
        </a:p>
      </dsp:txBody>
      <dsp:txXfrm>
        <a:off x="4162852" y="3618787"/>
        <a:ext cx="2189894" cy="2189894"/>
      </dsp:txXfrm>
    </dsp:sp>
    <dsp:sp modelId="{17C54F8D-4E86-4C13-B531-7FC04096AC01}">
      <dsp:nvSpPr>
        <dsp:cNvPr id="0" name=""/>
        <dsp:cNvSpPr/>
      </dsp:nvSpPr>
      <dsp:spPr>
        <a:xfrm>
          <a:off x="2669834" y="418"/>
          <a:ext cx="5175931" cy="5175931"/>
        </a:xfrm>
        <a:prstGeom prst="circularArrow">
          <a:avLst>
            <a:gd name="adj1" fmla="val 8250"/>
            <a:gd name="adj2" fmla="val 576273"/>
            <a:gd name="adj3" fmla="val 10171525"/>
            <a:gd name="adj4" fmla="val 7260586"/>
            <a:gd name="adj5" fmla="val 9625"/>
          </a:avLst>
        </a:prstGeom>
        <a:solidFill>
          <a:schemeClr val="accent5">
            <a:hueOff val="-918568"/>
            <a:satOff val="135"/>
            <a:lumOff val="-3236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05465A-9BB3-4775-9C34-31384C6F2672}">
      <dsp:nvSpPr>
        <dsp:cNvPr id="0" name=""/>
        <dsp:cNvSpPr/>
      </dsp:nvSpPr>
      <dsp:spPr>
        <a:xfrm>
          <a:off x="2322245" y="430761"/>
          <a:ext cx="2189894" cy="2189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Promoting Data through Discoverability</a:t>
          </a:r>
          <a:endParaRPr lang="en-US" sz="2500" kern="1200" dirty="0"/>
        </a:p>
      </dsp:txBody>
      <dsp:txXfrm>
        <a:off x="2322245" y="430761"/>
        <a:ext cx="2189894" cy="2189894"/>
      </dsp:txXfrm>
    </dsp:sp>
    <dsp:sp modelId="{D859FFD7-5177-4CBE-AC9A-60E8C3B1F566}">
      <dsp:nvSpPr>
        <dsp:cNvPr id="0" name=""/>
        <dsp:cNvSpPr/>
      </dsp:nvSpPr>
      <dsp:spPr>
        <a:xfrm>
          <a:off x="2669834" y="418"/>
          <a:ext cx="5175931" cy="5175931"/>
        </a:xfrm>
        <a:prstGeom prst="circularArrow">
          <a:avLst>
            <a:gd name="adj1" fmla="val 8250"/>
            <a:gd name="adj2" fmla="val 576273"/>
            <a:gd name="adj3" fmla="val 16856053"/>
            <a:gd name="adj4" fmla="val 14967674"/>
            <a:gd name="adj5" fmla="val 9625"/>
          </a:avLst>
        </a:prstGeom>
        <a:solidFill>
          <a:schemeClr val="accent5">
            <a:hueOff val="-1837137"/>
            <a:satOff val="270"/>
            <a:lumOff val="-647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B5045C-6C78-495B-8459-84BF25ED0CA6}" type="datetimeFigureOut">
              <a:rPr lang="en-US" smtClean="0"/>
              <a:t>12/2/2015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AE099F-E050-4C66-92A1-AE726E1FD9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5824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886958-3428-4F00-9FEE-5ECD7B969A20}" type="datetimeFigureOut">
              <a:rPr lang="en-US" smtClean="0"/>
              <a:t>12/2/2015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D57529-F4D6-4DCD-AF75-7D76E32D0D3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539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D57529-F4D6-4DCD-AF75-7D76E32D0D3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994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ECAFF-8C17-4726-816A-589D20F7380F}" type="datetimeFigureOut">
              <a:rPr lang="en-US" smtClean="0"/>
              <a:t>12/2/2015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C25CC-E0EB-4D55-9B37-9B9DFD1A9BA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203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ECAFF-8C17-4726-816A-589D20F7380F}" type="datetimeFigureOut">
              <a:rPr lang="en-US" smtClean="0"/>
              <a:t>12/2/2015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C25CC-E0EB-4D55-9B37-9B9DFD1A9BA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737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ECAFF-8C17-4726-816A-589D20F7380F}" type="datetimeFigureOut">
              <a:rPr lang="en-US" smtClean="0"/>
              <a:t>12/2/2015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C25CC-E0EB-4D55-9B37-9B9DFD1A9BA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134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ECAFF-8C17-4726-816A-589D20F7380F}" type="datetimeFigureOut">
              <a:rPr lang="en-US" smtClean="0"/>
              <a:t>12/2/2015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C25CC-E0EB-4D55-9B37-9B9DFD1A9BA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384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ECAFF-8C17-4726-816A-589D20F7380F}" type="datetimeFigureOut">
              <a:rPr lang="en-US" smtClean="0"/>
              <a:t>12/2/2015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C25CC-E0EB-4D55-9B37-9B9DFD1A9BA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358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ECAFF-8C17-4726-816A-589D20F7380F}" type="datetimeFigureOut">
              <a:rPr lang="en-US" smtClean="0"/>
              <a:t>12/2/2015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C25CC-E0EB-4D55-9B37-9B9DFD1A9BA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026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ECAFF-8C17-4726-816A-589D20F7380F}" type="datetimeFigureOut">
              <a:rPr lang="en-US" smtClean="0"/>
              <a:t>12/2/2015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C25CC-E0EB-4D55-9B37-9B9DFD1A9BA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748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ECAFF-8C17-4726-816A-589D20F7380F}" type="datetimeFigureOut">
              <a:rPr lang="en-US" smtClean="0"/>
              <a:t>12/2/2015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C25CC-E0EB-4D55-9B37-9B9DFD1A9BA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988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ECAFF-8C17-4726-816A-589D20F7380F}" type="datetimeFigureOut">
              <a:rPr lang="en-US" smtClean="0"/>
              <a:t>12/2/2015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C25CC-E0EB-4D55-9B37-9B9DFD1A9BA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528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ECAFF-8C17-4726-816A-589D20F7380F}" type="datetimeFigureOut">
              <a:rPr lang="en-US" smtClean="0"/>
              <a:t>12/2/2015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C25CC-E0EB-4D55-9B37-9B9DFD1A9BA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572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ECAFF-8C17-4726-816A-589D20F7380F}" type="datetimeFigureOut">
              <a:rPr lang="en-US" smtClean="0"/>
              <a:t>12/2/2015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C25CC-E0EB-4D55-9B37-9B9DFD1A9BA8}" type="slidenum">
              <a:rPr lang="en-US" smtClean="0"/>
              <a:t>‹nr.›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543499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ECAFF-8C17-4726-816A-589D20F7380F}" type="datetimeFigureOut">
              <a:rPr lang="en-US" smtClean="0"/>
              <a:t>12/2/2015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C25CC-E0EB-4D55-9B37-9B9DFD1A9BA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7902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ECAFF-8C17-4726-816A-589D20F7380F}" type="datetimeFigureOut">
              <a:rPr lang="en-US" smtClean="0"/>
              <a:t>12/2/2015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C25CC-E0EB-4D55-9B37-9B9DFD1A9BA8}" type="slidenum">
              <a:rPr lang="en-US" smtClean="0"/>
              <a:t>‹nr.›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476505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ECAFF-8C17-4726-816A-589D20F7380F}" type="datetimeFigureOut">
              <a:rPr lang="en-US" smtClean="0"/>
              <a:t>12/2/2015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C25CC-E0EB-4D55-9B37-9B9DFD1A9BA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7628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ECAFF-8C17-4726-816A-589D20F7380F}" type="datetimeFigureOut">
              <a:rPr lang="en-US" smtClean="0"/>
              <a:t>12/2/2015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C25CC-E0EB-4D55-9B37-9B9DFD1A9BA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641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ECAFF-8C17-4726-816A-589D20F7380F}" type="datetimeFigureOut">
              <a:rPr lang="en-US" smtClean="0"/>
              <a:t>12/2/2015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C25CC-E0EB-4D55-9B37-9B9DFD1A9BA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093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ECAFF-8C17-4726-816A-589D20F7380F}" type="datetimeFigureOut">
              <a:rPr lang="en-US" smtClean="0"/>
              <a:t>12/2/2015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38C25CC-E0EB-4D55-9B37-9B9DFD1A9BA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535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4" r:id="rId1"/>
    <p:sldLayoutId id="2147484025" r:id="rId2"/>
    <p:sldLayoutId id="2147484026" r:id="rId3"/>
    <p:sldLayoutId id="2147484027" r:id="rId4"/>
    <p:sldLayoutId id="2147484028" r:id="rId5"/>
    <p:sldLayoutId id="2147484029" r:id="rId6"/>
    <p:sldLayoutId id="2147484030" r:id="rId7"/>
    <p:sldLayoutId id="2147484031" r:id="rId8"/>
    <p:sldLayoutId id="2147484032" r:id="rId9"/>
    <p:sldLayoutId id="2147484033" r:id="rId10"/>
    <p:sldLayoutId id="2147484034" r:id="rId11"/>
    <p:sldLayoutId id="2147484035" r:id="rId12"/>
    <p:sldLayoutId id="2147484036" r:id="rId13"/>
    <p:sldLayoutId id="2147484037" r:id="rId14"/>
    <p:sldLayoutId id="2147484038" r:id="rId15"/>
    <p:sldLayoutId id="214748403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2215983"/>
            <a:ext cx="9232785" cy="13208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Connecting Researchers with </a:t>
            </a:r>
            <a:r>
              <a:rPr lang="en-US" b="1" dirty="0" smtClean="0"/>
              <a:t>Data:</a:t>
            </a:r>
            <a:br>
              <a:rPr lang="en-US" b="1" dirty="0" smtClean="0"/>
            </a:br>
            <a:r>
              <a:rPr lang="en-US" b="1" dirty="0" smtClean="0"/>
              <a:t>Discovery, Documentation, Access and Security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3966518"/>
            <a:ext cx="9072147" cy="20748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Cornell Institute for Social and Economic Research (CISER);</a:t>
            </a:r>
          </a:p>
          <a:p>
            <a:pPr marL="0" indent="0">
              <a:buNone/>
            </a:pPr>
            <a:r>
              <a:rPr lang="en-US" sz="2400" b="1" dirty="0" smtClean="0"/>
              <a:t>German Institute for Employment Research (IAB); </a:t>
            </a:r>
          </a:p>
          <a:p>
            <a:pPr marL="0" indent="0">
              <a:buNone/>
            </a:pPr>
            <a:r>
              <a:rPr lang="en-US" sz="2400" b="1" dirty="0" smtClean="0"/>
              <a:t>and the Cornell Labor Dynamics Institute (</a:t>
            </a:r>
            <a:r>
              <a:rPr lang="en-US" sz="2400" b="1" dirty="0" smtClean="0"/>
              <a:t>LDI)</a:t>
            </a:r>
            <a:endParaRPr lang="en-US" sz="24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15328" cy="189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265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US" sz="4000" b="1" dirty="0" smtClean="0"/>
              <a:t>Researchers Searching for Data</a:t>
            </a:r>
            <a:endParaRPr lang="en-US" sz="4000" b="1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275" y="3067501"/>
            <a:ext cx="3895725" cy="2855662"/>
          </a:xfrm>
        </p:spPr>
      </p:pic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6530" y="3114911"/>
            <a:ext cx="2706128" cy="2706128"/>
          </a:xfr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8323" y="2123292"/>
            <a:ext cx="880224" cy="88022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9187" y="2135643"/>
            <a:ext cx="869092" cy="869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844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pPr algn="ctr"/>
            <a:r>
              <a:rPr lang="en-US" sz="4000" b="1" dirty="0" smtClean="0"/>
              <a:t>Connecting Researchers with Data</a:t>
            </a:r>
            <a:endParaRPr lang="en-US" sz="4000" b="1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937" y="3463644"/>
            <a:ext cx="2900154" cy="2125884"/>
          </a:xfrm>
        </p:spPr>
      </p:pic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9848" y="3463640"/>
            <a:ext cx="2023760" cy="2023760"/>
          </a:xfrm>
        </p:spPr>
      </p:pic>
      <p:sp>
        <p:nvSpPr>
          <p:cNvPr id="5" name="TextBox 4"/>
          <p:cNvSpPr txBox="1"/>
          <p:nvPr/>
        </p:nvSpPr>
        <p:spPr>
          <a:xfrm>
            <a:off x="2446637" y="2496065"/>
            <a:ext cx="12768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CED</a:t>
            </a:r>
            <a:r>
              <a:rPr lang="en-US" sz="2400" b="1" baseline="30000" dirty="0" smtClean="0"/>
              <a:t>2</a:t>
            </a:r>
            <a:r>
              <a:rPr lang="en-US" sz="2400" b="1" dirty="0" smtClean="0"/>
              <a:t>AR</a:t>
            </a:r>
            <a:endParaRPr lang="en-US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3929449" y="3335613"/>
            <a:ext cx="15940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FDZ, IAB</a:t>
            </a:r>
            <a:endParaRPr lang="en-US" sz="24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5770605" y="2541377"/>
            <a:ext cx="11697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CRADC</a:t>
            </a:r>
            <a:endParaRPr lang="en-US" sz="24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19329" y="4446374"/>
            <a:ext cx="1016016" cy="60961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4322" y="4499926"/>
            <a:ext cx="1016016" cy="609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757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pPr algn="ctr"/>
            <a:r>
              <a:rPr lang="en-US" sz="4000" b="1" dirty="0" smtClean="0"/>
              <a:t>Connecting Researchers with Data</a:t>
            </a:r>
            <a:endParaRPr lang="en-US" sz="4000" b="1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937" y="3463644"/>
            <a:ext cx="2900154" cy="2125884"/>
          </a:xfrm>
        </p:spPr>
      </p:pic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9848" y="3463640"/>
            <a:ext cx="2023760" cy="2023760"/>
          </a:xfrm>
        </p:spPr>
      </p:pic>
      <p:cxnSp>
        <p:nvCxnSpPr>
          <p:cNvPr id="10" name="Straight Arrow Connector 9"/>
          <p:cNvCxnSpPr/>
          <p:nvPr/>
        </p:nvCxnSpPr>
        <p:spPr>
          <a:xfrm>
            <a:off x="3249827" y="4321471"/>
            <a:ext cx="4263081" cy="1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446637" y="2496065"/>
            <a:ext cx="12768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CED</a:t>
            </a:r>
            <a:r>
              <a:rPr lang="en-US" sz="2400" b="1" baseline="30000" dirty="0" smtClean="0"/>
              <a:t>2</a:t>
            </a:r>
            <a:r>
              <a:rPr lang="en-US" sz="2400" b="1" dirty="0" smtClean="0"/>
              <a:t>AR</a:t>
            </a:r>
            <a:endParaRPr lang="en-US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386655" y="3335613"/>
            <a:ext cx="15940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FDZ, IAB</a:t>
            </a:r>
            <a:endParaRPr lang="en-US" sz="24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5770605" y="2541377"/>
            <a:ext cx="11697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CRADC</a:t>
            </a:r>
            <a:endParaRPr lang="en-US" sz="24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4600826" y="5115707"/>
            <a:ext cx="1169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DDI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545692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946168" cy="132080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Discovering Data File – Do Data Exist??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930401"/>
            <a:ext cx="8596668" cy="41109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/>
              <a:t>First barrier to research:</a:t>
            </a:r>
          </a:p>
          <a:p>
            <a:pPr lvl="1"/>
            <a:r>
              <a:rPr lang="en-US" sz="2000" dirty="0" smtClean="0"/>
              <a:t>A research question is formulated, but are their existing data files to address the question?</a:t>
            </a:r>
          </a:p>
          <a:p>
            <a:pPr lvl="1"/>
            <a:r>
              <a:rPr lang="en-US" sz="2000" dirty="0" smtClean="0"/>
              <a:t>Discovering data files by searching descriptions of studies, files, and variables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 algn="ctr">
              <a:buNone/>
            </a:pPr>
            <a:r>
              <a:rPr lang="en-US" sz="2800" i="1" dirty="0" smtClean="0"/>
              <a:t>The first barrier is discovery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854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946168" cy="132080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Restricted Data – What’s in that Dataset??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930401"/>
            <a:ext cx="8596668" cy="411096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 smtClean="0"/>
              <a:t>Second barrier to research with restricted data:</a:t>
            </a:r>
          </a:p>
          <a:p>
            <a:pPr lvl="1"/>
            <a:r>
              <a:rPr lang="en-US" sz="2000" dirty="0" smtClean="0"/>
              <a:t>Researchers need to examine the metadata of a dataset in order to prepare a research plan for the data application</a:t>
            </a:r>
          </a:p>
          <a:p>
            <a:pPr lvl="1"/>
            <a:r>
              <a:rPr lang="en-US" sz="2000" dirty="0" smtClean="0"/>
              <a:t>Data Providers want research plans to specify why restricted data files are necessary, and how the variables will be analyzed</a:t>
            </a:r>
          </a:p>
          <a:p>
            <a:pPr lvl="1"/>
            <a:r>
              <a:rPr lang="en-US" sz="2000" dirty="0" smtClean="0"/>
              <a:t>Enclaves and libraries want to assist researchers to search and discover what relevant data files exist in greater detail than abstracts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 algn="ctr">
              <a:buNone/>
            </a:pPr>
            <a:r>
              <a:rPr lang="en-US" sz="2800" i="1" dirty="0" smtClean="0"/>
              <a:t>The second barrier of restricted data research is to discover what’s in the file!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327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Searching Restricted Labor Market Data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72683"/>
            <a:ext cx="9105022" cy="4624600"/>
          </a:xfrm>
        </p:spPr>
        <p:txBody>
          <a:bodyPr>
            <a:normAutofit fontScale="62500" lnSpcReduction="20000"/>
          </a:bodyPr>
          <a:lstStyle/>
          <a:p>
            <a:r>
              <a:rPr lang="en-US" sz="3200" dirty="0" smtClean="0"/>
              <a:t>Labor market datasets for longitudinal employment data</a:t>
            </a:r>
          </a:p>
          <a:p>
            <a:pPr lvl="1"/>
            <a:r>
              <a:rPr lang="en-US" sz="3200" dirty="0" smtClean="0"/>
              <a:t>National Longitudinal Surveys (NLSY)</a:t>
            </a:r>
          </a:p>
          <a:p>
            <a:pPr lvl="1"/>
            <a:r>
              <a:rPr lang="en-US" sz="3200" dirty="0" smtClean="0"/>
              <a:t>Longitudinal Employer-Household Dynamics (LEHD)</a:t>
            </a:r>
          </a:p>
          <a:p>
            <a:pPr lvl="1"/>
            <a:r>
              <a:rPr lang="en-US" sz="3200" dirty="0" smtClean="0"/>
              <a:t>Sample of Integrated Labor Market Biographies (SIAB)</a:t>
            </a:r>
          </a:p>
          <a:p>
            <a:r>
              <a:rPr lang="en-US" sz="3200" dirty="0" smtClean="0"/>
              <a:t>That was the study level, but how do we compare the variables?</a:t>
            </a:r>
          </a:p>
          <a:p>
            <a:pPr lvl="1"/>
            <a:r>
              <a:rPr lang="en-US" sz="3200" dirty="0" smtClean="0"/>
              <a:t>Searching across variables of restricted data is painful</a:t>
            </a:r>
          </a:p>
          <a:p>
            <a:pPr lvl="2"/>
            <a:r>
              <a:rPr lang="en-US" sz="3200" dirty="0" smtClean="0"/>
              <a:t>Codebooks</a:t>
            </a:r>
          </a:p>
          <a:p>
            <a:pPr lvl="2"/>
            <a:r>
              <a:rPr lang="en-US" sz="3200" dirty="0" smtClean="0"/>
              <a:t>Abstracts</a:t>
            </a:r>
          </a:p>
          <a:p>
            <a:pPr lvl="2"/>
            <a:r>
              <a:rPr lang="en-US" sz="3200" dirty="0" smtClean="0"/>
              <a:t>Having seen the dataset during a prior project</a:t>
            </a:r>
          </a:p>
          <a:p>
            <a:pPr lvl="1"/>
            <a:r>
              <a:rPr lang="en-US" sz="3200" dirty="0" smtClean="0"/>
              <a:t>The majority of these resources are not machine readable</a:t>
            </a:r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0" algn="ctr">
              <a:buNone/>
            </a:pPr>
            <a:r>
              <a:rPr lang="en-US" sz="4500" i="1" dirty="0" smtClean="0"/>
              <a:t>There needs to be an accessible discovery tool</a:t>
            </a:r>
          </a:p>
        </p:txBody>
      </p:sp>
    </p:spTree>
    <p:extLst>
      <p:ext uri="{BB962C8B-B14F-4D97-AF65-F5344CB8AC3E}">
        <p14:creationId xmlns:p14="http://schemas.microsoft.com/office/powerpoint/2010/main" val="1176406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CED2AR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15845"/>
            <a:ext cx="8596668" cy="4725518"/>
          </a:xfrm>
        </p:spPr>
        <p:txBody>
          <a:bodyPr>
            <a:noAutofit/>
          </a:bodyPr>
          <a:lstStyle/>
          <a:p>
            <a:r>
              <a:rPr lang="en-US" dirty="0" smtClean="0"/>
              <a:t>Comprehensive Extensible Data Documentation and Access Repository</a:t>
            </a:r>
          </a:p>
          <a:p>
            <a:r>
              <a:rPr lang="en-US" dirty="0" smtClean="0"/>
              <a:t>Developed by the Cornell Node of the NSF Census Research Network (NCRN)</a:t>
            </a:r>
          </a:p>
          <a:p>
            <a:r>
              <a:rPr lang="en-US" dirty="0" smtClean="0"/>
              <a:t>Enables search and browsing across codebooks</a:t>
            </a:r>
          </a:p>
          <a:p>
            <a:r>
              <a:rPr lang="en-US" dirty="0" smtClean="0"/>
              <a:t>Designed to improve the discoverability of both public and restricted data</a:t>
            </a:r>
          </a:p>
          <a:p>
            <a:r>
              <a:rPr lang="en-US" dirty="0" smtClean="0"/>
              <a:t>Lightweight, DDI driven web application</a:t>
            </a:r>
          </a:p>
          <a:p>
            <a:pPr lvl="1"/>
            <a:r>
              <a:rPr lang="en-US" sz="1800" dirty="0" smtClean="0"/>
              <a:t>Based upon leading metadata standards</a:t>
            </a:r>
          </a:p>
          <a:p>
            <a:pPr lvl="1"/>
            <a:r>
              <a:rPr lang="en-US" sz="1800" dirty="0" smtClean="0"/>
              <a:t>Ingests data from a variety of sources</a:t>
            </a:r>
          </a:p>
          <a:p>
            <a:r>
              <a:rPr lang="en-US" dirty="0" smtClean="0"/>
              <a:t>Study levels include the</a:t>
            </a:r>
          </a:p>
          <a:p>
            <a:pPr lvl="1"/>
            <a:r>
              <a:rPr lang="en-US" sz="1800" dirty="0" smtClean="0"/>
              <a:t>Abstract</a:t>
            </a:r>
          </a:p>
          <a:p>
            <a:pPr lvl="1"/>
            <a:r>
              <a:rPr lang="en-US" sz="1800" dirty="0" smtClean="0"/>
              <a:t>Variables</a:t>
            </a:r>
          </a:p>
          <a:p>
            <a:pPr lvl="1"/>
            <a:r>
              <a:rPr lang="en-US" sz="1800" dirty="0" smtClean="0"/>
              <a:t>Values</a:t>
            </a:r>
          </a:p>
          <a:p>
            <a:pPr lvl="1"/>
            <a:r>
              <a:rPr lang="en-US" sz="1800" dirty="0" smtClean="0"/>
              <a:t>Citation</a:t>
            </a:r>
          </a:p>
          <a:p>
            <a:pPr lvl="1"/>
            <a:r>
              <a:rPr lang="en-US" sz="1800" dirty="0" smtClean="0"/>
              <a:t>Terms of Use, as applicable</a:t>
            </a:r>
          </a:p>
        </p:txBody>
      </p:sp>
    </p:spTree>
    <p:extLst>
      <p:ext uri="{BB962C8B-B14F-4D97-AF65-F5344CB8AC3E}">
        <p14:creationId xmlns:p14="http://schemas.microsoft.com/office/powerpoint/2010/main" val="1042915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979622" cy="132080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Utilizing CED2AR to Locate SIAB Variables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18731"/>
            <a:ext cx="8596668" cy="3922631"/>
          </a:xfrm>
        </p:spPr>
        <p:txBody>
          <a:bodyPr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3300" i="1" dirty="0" smtClean="0"/>
              <a:t>The addition of IAB SUF SIAB metadata to CED2AR</a:t>
            </a:r>
          </a:p>
          <a:p>
            <a:pPr marL="0" indent="0" algn="ctr">
              <a:buNone/>
            </a:pPr>
            <a:r>
              <a:rPr lang="en-US" sz="3300" i="1" dirty="0" smtClean="0"/>
              <a:t> will enable researchers to search across</a:t>
            </a:r>
          </a:p>
          <a:p>
            <a:pPr marL="0" indent="0" algn="ctr">
              <a:buNone/>
            </a:pPr>
            <a:r>
              <a:rPr lang="en-US" sz="3300" i="1" dirty="0" smtClean="0"/>
              <a:t> multiple labor market data series</a:t>
            </a:r>
            <a:r>
              <a:rPr lang="en-US" sz="2800" i="1" dirty="0" smtClean="0"/>
              <a:t>*</a:t>
            </a:r>
          </a:p>
          <a:p>
            <a:pPr marL="0" indent="0" algn="ctr">
              <a:buNone/>
            </a:pPr>
            <a:endParaRPr lang="en-US" sz="3200" dirty="0"/>
          </a:p>
          <a:p>
            <a:r>
              <a:rPr lang="en-US" sz="2400" dirty="0" smtClean="0"/>
              <a:t>CISER is currently collaborating with IAB to develop the DDI necessary to add the SIAB metadata to CED2AR</a:t>
            </a:r>
          </a:p>
          <a:p>
            <a:pPr lvl="1"/>
            <a:r>
              <a:rPr lang="en-US" sz="2400" dirty="0" smtClean="0"/>
              <a:t>Promote use of the SIAB data through discoverable documentation</a:t>
            </a:r>
          </a:p>
          <a:p>
            <a:pPr lvl="1"/>
            <a:r>
              <a:rPr lang="en-US" sz="2400" dirty="0" smtClean="0"/>
              <a:t>Facilitate ease in research plan creation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 smtClean="0"/>
              <a:t>						</a:t>
            </a:r>
            <a:r>
              <a:rPr lang="en-US" sz="1200" dirty="0" smtClean="0"/>
              <a:t>*https://www2.ncrn.cornell.edu/ced2ar-web/about</a:t>
            </a:r>
          </a:p>
        </p:txBody>
      </p:sp>
    </p:spTree>
    <p:extLst>
      <p:ext uri="{BB962C8B-B14F-4D97-AF65-F5344CB8AC3E}">
        <p14:creationId xmlns:p14="http://schemas.microsoft.com/office/powerpoint/2010/main" val="975447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016" t="18810" r="13673" b="7170"/>
          <a:stretch/>
        </p:blipFill>
        <p:spPr>
          <a:xfrm>
            <a:off x="24711" y="135924"/>
            <a:ext cx="10466175" cy="699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13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8574"/>
            <a:ext cx="10738022" cy="6976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954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12491"/>
          <a:stretch/>
        </p:blipFill>
        <p:spPr>
          <a:xfrm>
            <a:off x="405150" y="0"/>
            <a:ext cx="107818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375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187" y="-14288"/>
            <a:ext cx="9937750" cy="6872288"/>
          </a:xfrm>
        </p:spPr>
      </p:pic>
    </p:spTree>
    <p:extLst>
      <p:ext uri="{BB962C8B-B14F-4D97-AF65-F5344CB8AC3E}">
        <p14:creationId xmlns:p14="http://schemas.microsoft.com/office/powerpoint/2010/main" val="1543516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Restricted Data Access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930401"/>
            <a:ext cx="8596668" cy="4110962"/>
          </a:xfrm>
        </p:spPr>
        <p:txBody>
          <a:bodyPr/>
          <a:lstStyle/>
          <a:p>
            <a:pPr marL="0" indent="0" algn="ctr">
              <a:buNone/>
            </a:pPr>
            <a:r>
              <a:rPr lang="en-US" sz="2800" i="1" dirty="0" smtClean="0"/>
              <a:t>The big barrier to restricted data access</a:t>
            </a:r>
          </a:p>
          <a:p>
            <a:pPr marL="0" indent="0" algn="ctr">
              <a:buNone/>
            </a:pPr>
            <a:r>
              <a:rPr lang="en-US" sz="2800" i="1" dirty="0" smtClean="0"/>
              <a:t>is balancing researcher access</a:t>
            </a:r>
          </a:p>
          <a:p>
            <a:pPr marL="0" indent="0" algn="ctr">
              <a:buNone/>
            </a:pPr>
            <a:r>
              <a:rPr lang="en-US" sz="2800" i="1" dirty="0" smtClean="0"/>
              <a:t> with data security</a:t>
            </a:r>
          </a:p>
          <a:p>
            <a:pPr marL="0" indent="0" algn="ctr">
              <a:buNone/>
            </a:pPr>
            <a:endParaRPr lang="en-US" i="1" dirty="0"/>
          </a:p>
          <a:p>
            <a:r>
              <a:rPr lang="en-US" sz="2000" dirty="0" smtClean="0"/>
              <a:t>It’s ideal when data is housed within a controlled environment</a:t>
            </a:r>
          </a:p>
          <a:p>
            <a:r>
              <a:rPr lang="en-US" sz="2000" dirty="0" smtClean="0"/>
              <a:t>It’s also </a:t>
            </a:r>
            <a:r>
              <a:rPr lang="en-US" sz="2000" dirty="0"/>
              <a:t>i</a:t>
            </a:r>
            <a:r>
              <a:rPr lang="en-US" sz="2000" dirty="0" smtClean="0"/>
              <a:t>deal when researchers have the most flexible, secure access to the data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742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</a:t>
            </a:r>
            <a:r>
              <a:rPr lang="en-US" sz="3200" dirty="0" smtClean="0"/>
              <a:t>AB SUF Access and Data Security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16204"/>
            <a:ext cx="8596668" cy="4895385"/>
          </a:xfrm>
        </p:spPr>
        <p:txBody>
          <a:bodyPr>
            <a:noAutofit/>
          </a:bodyPr>
          <a:lstStyle/>
          <a:p>
            <a:r>
              <a:rPr lang="en-US" dirty="0" smtClean="0"/>
              <a:t>IAB Highly Restricted Data</a:t>
            </a:r>
          </a:p>
          <a:p>
            <a:pPr lvl="1"/>
            <a:r>
              <a:rPr lang="en-US" sz="1800" dirty="0" smtClean="0"/>
              <a:t>Originally only accessible at Nuremberg, Germany</a:t>
            </a:r>
          </a:p>
          <a:p>
            <a:pPr lvl="1"/>
            <a:r>
              <a:rPr lang="en-US" sz="1800" dirty="0" smtClean="0"/>
              <a:t>Implemented a Research Data Center – in – Research Data Center (RDC-in-RDC) approach</a:t>
            </a:r>
          </a:p>
          <a:p>
            <a:pPr lvl="2"/>
            <a:r>
              <a:rPr lang="en-US" sz="1800" dirty="0"/>
              <a:t>A</a:t>
            </a:r>
            <a:r>
              <a:rPr lang="en-US" sz="1800" dirty="0" smtClean="0"/>
              <a:t>llowed for a controlled remote access environment from the established Nuremberg research data center to comparably secure research data centers using Citrix-thin client technology </a:t>
            </a:r>
          </a:p>
          <a:p>
            <a:r>
              <a:rPr lang="en-US" dirty="0" smtClean="0"/>
              <a:t>IAB SUF Data</a:t>
            </a:r>
          </a:p>
          <a:p>
            <a:pPr lvl="1"/>
            <a:r>
              <a:rPr lang="en-US" sz="1800" dirty="0" smtClean="0"/>
              <a:t>Designed specifically by IAB for off-site access</a:t>
            </a:r>
          </a:p>
          <a:p>
            <a:pPr lvl="1"/>
            <a:r>
              <a:rPr lang="en-US" sz="1800" dirty="0" smtClean="0"/>
              <a:t>Originally sent to authorized researchers in CD format, later by transmission, to be destroyed at the end of the project</a:t>
            </a:r>
          </a:p>
          <a:p>
            <a:pPr lvl="2"/>
            <a:r>
              <a:rPr lang="en-US" sz="1800" dirty="0" smtClean="0"/>
              <a:t>These methods provided access, but posed a security threat via individual accountability and system back-ups</a:t>
            </a:r>
          </a:p>
          <a:p>
            <a:pPr lvl="1"/>
            <a:r>
              <a:rPr lang="en-US" sz="1800" dirty="0" smtClean="0"/>
              <a:t>Needed a new, more secure off-site access mode - </a:t>
            </a:r>
            <a:r>
              <a:rPr lang="en-US" sz="1800" i="1" dirty="0" smtClean="0"/>
              <a:t>CRADC</a:t>
            </a:r>
          </a:p>
        </p:txBody>
      </p:sp>
    </p:spTree>
    <p:extLst>
      <p:ext uri="{BB962C8B-B14F-4D97-AF65-F5344CB8AC3E}">
        <p14:creationId xmlns:p14="http://schemas.microsoft.com/office/powerpoint/2010/main" val="1513416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9804812" cy="132080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Cornell Restricted Access Data Center (CRADC)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05054"/>
            <a:ext cx="8596668" cy="5051501"/>
          </a:xfrm>
        </p:spPr>
        <p:txBody>
          <a:bodyPr>
            <a:normAutofit fontScale="85000" lnSpcReduction="10000"/>
          </a:bodyPr>
          <a:lstStyle/>
          <a:p>
            <a:r>
              <a:rPr lang="en-US" sz="1900" dirty="0" smtClean="0"/>
              <a:t>Cornell Institute for Social and Economic Research (CISER)’s remote </a:t>
            </a:r>
            <a:r>
              <a:rPr lang="en-US" sz="1900" dirty="0"/>
              <a:t>access virtual data </a:t>
            </a:r>
            <a:r>
              <a:rPr lang="en-US" sz="1900" dirty="0" smtClean="0"/>
              <a:t>enclave</a:t>
            </a:r>
            <a:endParaRPr lang="en-US" sz="1900" b="1" dirty="0" smtClean="0"/>
          </a:p>
          <a:p>
            <a:pPr lvl="1"/>
            <a:r>
              <a:rPr lang="en-US" sz="1900" dirty="0"/>
              <a:t>C</a:t>
            </a:r>
            <a:r>
              <a:rPr lang="en-US" sz="1900" dirty="0" smtClean="0"/>
              <a:t>ontrolled remote access environment accessible worldwide</a:t>
            </a:r>
          </a:p>
          <a:p>
            <a:pPr lvl="1"/>
            <a:r>
              <a:rPr lang="en-US" sz="1900" dirty="0" smtClean="0"/>
              <a:t>As a secure computing environment with remote access, CRADC exists to:</a:t>
            </a:r>
          </a:p>
          <a:p>
            <a:pPr lvl="2"/>
            <a:r>
              <a:rPr lang="en-US" sz="1900" dirty="0" smtClean="0"/>
              <a:t>House and protect restricted research data</a:t>
            </a:r>
          </a:p>
          <a:p>
            <a:pPr lvl="2"/>
            <a:r>
              <a:rPr lang="en-US" sz="1900" dirty="0" smtClean="0"/>
              <a:t>Help PIs comply with requirements of Data Providers</a:t>
            </a:r>
          </a:p>
          <a:p>
            <a:pPr lvl="2"/>
            <a:r>
              <a:rPr lang="en-US" sz="1900" dirty="0" smtClean="0"/>
              <a:t>Provide a computing platform as flexible as data use agreements permit</a:t>
            </a:r>
          </a:p>
          <a:p>
            <a:pPr lvl="1"/>
            <a:r>
              <a:rPr lang="en-US" sz="1900" dirty="0" smtClean="0"/>
              <a:t>Any approved researcher can securely access restricted project files</a:t>
            </a:r>
          </a:p>
          <a:p>
            <a:pPr lvl="1"/>
            <a:r>
              <a:rPr lang="en-US" sz="1900" dirty="0" smtClean="0"/>
              <a:t>Restricted data is available to the researcher on the CRADC server </a:t>
            </a:r>
          </a:p>
          <a:p>
            <a:pPr lvl="2"/>
            <a:r>
              <a:rPr lang="en-US" sz="1900" dirty="0" smtClean="0"/>
              <a:t>Restricted data is held on a drive with only read and execute permissions</a:t>
            </a:r>
          </a:p>
          <a:p>
            <a:pPr lvl="2"/>
            <a:r>
              <a:rPr lang="en-US" sz="1900" dirty="0" smtClean="0"/>
              <a:t>A project work space is provided on a separate drive, with access to analysis applications</a:t>
            </a:r>
          </a:p>
          <a:p>
            <a:pPr lvl="2"/>
            <a:r>
              <a:rPr lang="en-US" sz="1900" dirty="0" smtClean="0"/>
              <a:t>No access is given to email, internet, clipboard, printer sharing, or disk mapping, and analysis can only be saved within the project work space</a:t>
            </a:r>
          </a:p>
          <a:p>
            <a:pPr marL="914400" lvl="2" indent="0">
              <a:buNone/>
            </a:pPr>
            <a:endParaRPr lang="en-US" dirty="0" smtClean="0"/>
          </a:p>
          <a:p>
            <a:pPr lvl="2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072896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Institute for Employment Research (IAB) Scientific Use Files (SUF)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806498"/>
            <a:ext cx="8596668" cy="4873082"/>
          </a:xfrm>
        </p:spPr>
        <p:txBody>
          <a:bodyPr>
            <a:noAutofit/>
          </a:bodyPr>
          <a:lstStyle/>
          <a:p>
            <a:r>
              <a:rPr lang="en-US" sz="1600" dirty="0"/>
              <a:t>C</a:t>
            </a:r>
            <a:r>
              <a:rPr lang="en-US" sz="1600" dirty="0" smtClean="0"/>
              <a:t>ontain confidential </a:t>
            </a:r>
            <a:r>
              <a:rPr lang="en-US" sz="1600" dirty="0"/>
              <a:t>administrative </a:t>
            </a:r>
            <a:r>
              <a:rPr lang="en-US" sz="1600" dirty="0" err="1"/>
              <a:t>microdata</a:t>
            </a:r>
            <a:r>
              <a:rPr lang="en-US" sz="1600" dirty="0"/>
              <a:t> on labor </a:t>
            </a:r>
            <a:r>
              <a:rPr lang="en-US" sz="1600" dirty="0" smtClean="0"/>
              <a:t>markets:</a:t>
            </a:r>
          </a:p>
          <a:p>
            <a:pPr lvl="1"/>
            <a:r>
              <a:rPr lang="en-US" dirty="0" smtClean="0"/>
              <a:t>Employment</a:t>
            </a:r>
          </a:p>
          <a:p>
            <a:pPr lvl="1"/>
            <a:r>
              <a:rPr lang="en-US" dirty="0" smtClean="0"/>
              <a:t>Unemployment </a:t>
            </a:r>
            <a:r>
              <a:rPr lang="en-US" dirty="0"/>
              <a:t>benefit </a:t>
            </a:r>
            <a:r>
              <a:rPr lang="en-US" dirty="0" smtClean="0"/>
              <a:t>receipts</a:t>
            </a:r>
          </a:p>
          <a:p>
            <a:pPr lvl="1"/>
            <a:r>
              <a:rPr lang="en-US" dirty="0" smtClean="0"/>
              <a:t>Participation </a:t>
            </a:r>
            <a:r>
              <a:rPr lang="en-US" dirty="0"/>
              <a:t>in labor market programs and registered job </a:t>
            </a:r>
            <a:r>
              <a:rPr lang="en-US" dirty="0" smtClean="0"/>
              <a:t>search</a:t>
            </a:r>
          </a:p>
          <a:p>
            <a:pPr lvl="1"/>
            <a:r>
              <a:rPr lang="en-US" dirty="0" smtClean="0"/>
              <a:t>A large </a:t>
            </a:r>
            <a:r>
              <a:rPr lang="en-US" dirty="0"/>
              <a:t>number of socio-economic </a:t>
            </a:r>
            <a:r>
              <a:rPr lang="en-US" dirty="0" smtClean="0"/>
              <a:t>characteristics</a:t>
            </a:r>
          </a:p>
          <a:p>
            <a:r>
              <a:rPr lang="en-US" sz="1600" dirty="0" smtClean="0"/>
              <a:t>Similar </a:t>
            </a:r>
            <a:r>
              <a:rPr lang="en-US" sz="1600" dirty="0"/>
              <a:t>in origin to the highly restrictive files but have been factually </a:t>
            </a:r>
            <a:r>
              <a:rPr lang="en-US" sz="1600" dirty="0" smtClean="0"/>
              <a:t>anonymized, enabling wider access</a:t>
            </a:r>
          </a:p>
          <a:p>
            <a:pPr lvl="1"/>
            <a:r>
              <a:rPr lang="en-US" dirty="0"/>
              <a:t>T</a:t>
            </a:r>
            <a:r>
              <a:rPr lang="en-US" dirty="0" smtClean="0"/>
              <a:t>he highly restrictive files can only be accessed through </a:t>
            </a:r>
            <a:r>
              <a:rPr lang="en-US" dirty="0"/>
              <a:t>a thin client connection directly to the IAB servers in </a:t>
            </a:r>
            <a:r>
              <a:rPr lang="en-US" dirty="0" smtClean="0"/>
              <a:t>Nuremberg, Germany</a:t>
            </a:r>
          </a:p>
          <a:p>
            <a:pPr lvl="1"/>
            <a:r>
              <a:rPr lang="en-US" dirty="0" smtClean="0"/>
              <a:t>SUF file access through CISER’s </a:t>
            </a:r>
            <a:r>
              <a:rPr lang="en-US" dirty="0"/>
              <a:t>remote access virtual data </a:t>
            </a:r>
            <a:r>
              <a:rPr lang="en-US" dirty="0" smtClean="0"/>
              <a:t>enclave (CRADC) through </a:t>
            </a:r>
            <a:r>
              <a:rPr lang="en-US" dirty="0"/>
              <a:t>secure computing accounts using </a:t>
            </a:r>
            <a:r>
              <a:rPr lang="en-US" dirty="0" smtClean="0"/>
              <a:t>Remote Desktop Connection or Terminal Service Client</a:t>
            </a:r>
          </a:p>
          <a:p>
            <a:r>
              <a:rPr lang="en-US" sz="1600" dirty="0" smtClean="0"/>
              <a:t>SUF access is </a:t>
            </a:r>
            <a:r>
              <a:rPr lang="en-US" sz="1600" dirty="0"/>
              <a:t>available to any </a:t>
            </a:r>
            <a:r>
              <a:rPr lang="en-US" sz="1600" dirty="0" smtClean="0"/>
              <a:t>researcher approved </a:t>
            </a:r>
            <a:r>
              <a:rPr lang="en-US" sz="1600" dirty="0"/>
              <a:t>by </a:t>
            </a:r>
            <a:r>
              <a:rPr lang="en-US" sz="1600" dirty="0" smtClean="0"/>
              <a:t>IAB worldwide</a:t>
            </a:r>
          </a:p>
          <a:p>
            <a:pPr lvl="1"/>
            <a:r>
              <a:rPr lang="en-US" b="1" i="1" dirty="0" smtClean="0"/>
              <a:t>No </a:t>
            </a:r>
            <a:r>
              <a:rPr lang="en-US" b="1" i="1" dirty="0"/>
              <a:t>affiliation with Cornell is </a:t>
            </a:r>
            <a:r>
              <a:rPr lang="en-US" b="1" i="1" dirty="0" smtClean="0"/>
              <a:t>required</a:t>
            </a:r>
            <a:r>
              <a:rPr lang="en-US" i="1" dirty="0" smtClean="0"/>
              <a:t> </a:t>
            </a:r>
            <a:r>
              <a:rPr lang="en-US" dirty="0" smtClean="0"/>
              <a:t>– any researcher approved by IAB can remotely access the files</a:t>
            </a:r>
            <a:endParaRPr lang="en-US" i="1" dirty="0" smtClean="0"/>
          </a:p>
        </p:txBody>
      </p:sp>
    </p:spTree>
    <p:extLst>
      <p:ext uri="{BB962C8B-B14F-4D97-AF65-F5344CB8AC3E}">
        <p14:creationId xmlns:p14="http://schemas.microsoft.com/office/powerpoint/2010/main" val="1215986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CRADC – SIAB Data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49659"/>
            <a:ext cx="8596668" cy="4951141"/>
          </a:xfrm>
        </p:spPr>
        <p:txBody>
          <a:bodyPr>
            <a:normAutofit fontScale="92500" lnSpcReduction="10000"/>
          </a:bodyPr>
          <a:lstStyle/>
          <a:p>
            <a:r>
              <a:rPr lang="en-US" sz="1900" dirty="0" smtClean="0"/>
              <a:t>Access the IAB SUF data worldwide</a:t>
            </a:r>
          </a:p>
          <a:p>
            <a:pPr lvl="1"/>
            <a:r>
              <a:rPr lang="en-US" sz="1900" dirty="0" smtClean="0"/>
              <a:t>CRADC currently supports SIAB researchers in </a:t>
            </a:r>
          </a:p>
          <a:p>
            <a:pPr lvl="2"/>
            <a:r>
              <a:rPr lang="en-US" sz="1900" dirty="0" smtClean="0"/>
              <a:t>Canada</a:t>
            </a:r>
          </a:p>
          <a:p>
            <a:pPr lvl="2"/>
            <a:r>
              <a:rPr lang="en-US" sz="1900" dirty="0" smtClean="0"/>
              <a:t>Germany</a:t>
            </a:r>
          </a:p>
          <a:p>
            <a:pPr lvl="2"/>
            <a:r>
              <a:rPr lang="en-US" sz="1900" dirty="0" smtClean="0"/>
              <a:t>Spain</a:t>
            </a:r>
          </a:p>
          <a:p>
            <a:pPr lvl="2"/>
            <a:r>
              <a:rPr lang="en-US" sz="1900" dirty="0" smtClean="0"/>
              <a:t>United Kingdom</a:t>
            </a:r>
          </a:p>
          <a:p>
            <a:pPr lvl="2"/>
            <a:r>
              <a:rPr lang="en-US" sz="1900" dirty="0" smtClean="0"/>
              <a:t>United States</a:t>
            </a:r>
          </a:p>
          <a:p>
            <a:r>
              <a:rPr lang="en-US" sz="1900" dirty="0" smtClean="0"/>
              <a:t>CRADC provides the controlled environment for each researcher and project based on IAB’s terms</a:t>
            </a:r>
          </a:p>
          <a:p>
            <a:pPr lvl="1"/>
            <a:r>
              <a:rPr lang="en-US" sz="1900" dirty="0" smtClean="0"/>
              <a:t>IAB no longer needs to send restricted data CDs or transmissions</a:t>
            </a:r>
          </a:p>
          <a:p>
            <a:pPr lvl="1"/>
            <a:r>
              <a:rPr lang="en-US" sz="1900" dirty="0" smtClean="0"/>
              <a:t>Researchers are permitted SFTP access from their project work space to their campus office via static IP address</a:t>
            </a:r>
          </a:p>
          <a:p>
            <a:pPr lvl="1"/>
            <a:r>
              <a:rPr lang="en-US" sz="1900" dirty="0" smtClean="0"/>
              <a:t>CRADC can confirm that all project data and analysis files are securely destroyed at the end of any IAB data use agreement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218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Discovering SIAB through CED2AR,</a:t>
            </a:r>
            <a:br>
              <a:rPr lang="en-US" sz="3200" dirty="0" smtClean="0"/>
            </a:br>
            <a:r>
              <a:rPr lang="en-US" sz="3200" dirty="0" smtClean="0"/>
              <a:t>Accessing on CRADC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806498"/>
            <a:ext cx="8596668" cy="4739267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Labor Market Datasets for longitudinal employment data</a:t>
            </a:r>
          </a:p>
          <a:p>
            <a:pPr lvl="1"/>
            <a:r>
              <a:rPr lang="en-US" sz="1800" dirty="0" smtClean="0"/>
              <a:t>Discover the study and variables using CED2AR</a:t>
            </a:r>
          </a:p>
          <a:p>
            <a:pPr lvl="2"/>
            <a:r>
              <a:rPr lang="en-US" sz="1800" dirty="0" smtClean="0"/>
              <a:t>Search and browse across codebooks</a:t>
            </a:r>
          </a:p>
          <a:p>
            <a:pPr lvl="2"/>
            <a:r>
              <a:rPr lang="en-US" sz="1800" dirty="0" smtClean="0"/>
              <a:t>Compare public and restricted dataset versions</a:t>
            </a:r>
          </a:p>
          <a:p>
            <a:pPr lvl="1"/>
            <a:r>
              <a:rPr lang="en-US" sz="1800" dirty="0" smtClean="0"/>
              <a:t>Select SIAB</a:t>
            </a:r>
          </a:p>
          <a:p>
            <a:pPr lvl="1"/>
            <a:r>
              <a:rPr lang="en-US" sz="1800" dirty="0" smtClean="0"/>
              <a:t>Create a SIAB research plan using CED2AR variables and values</a:t>
            </a:r>
          </a:p>
          <a:p>
            <a:pPr lvl="2"/>
            <a:r>
              <a:rPr lang="en-US" sz="1800" dirty="0" smtClean="0"/>
              <a:t> Review the terms of use to confirm that the planned analysis will be accepted (the data security plan is already covered)</a:t>
            </a:r>
          </a:p>
          <a:p>
            <a:pPr lvl="1"/>
            <a:r>
              <a:rPr lang="en-US" sz="1800" dirty="0" smtClean="0"/>
              <a:t>IAB approves the longitudinal employment data project</a:t>
            </a:r>
          </a:p>
          <a:p>
            <a:pPr lvl="1"/>
            <a:r>
              <a:rPr lang="en-US" sz="1800" dirty="0" smtClean="0"/>
              <a:t>Gain access to the SIAB data through CRADC</a:t>
            </a:r>
          </a:p>
          <a:p>
            <a:pPr lvl="1"/>
            <a:r>
              <a:rPr lang="en-US" sz="1800" dirty="0" smtClean="0"/>
              <a:t>Complete SIAB analysis, notify IAB of project completion</a:t>
            </a:r>
          </a:p>
          <a:p>
            <a:pPr lvl="2"/>
            <a:r>
              <a:rPr lang="en-US" sz="1800" dirty="0" smtClean="0"/>
              <a:t>CRADC will close the restricted project</a:t>
            </a:r>
          </a:p>
          <a:p>
            <a:r>
              <a:rPr lang="en-US" dirty="0" smtClean="0"/>
              <a:t>Browse or search CED2AR for new project variables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035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Our Team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35495"/>
            <a:ext cx="8596668" cy="4305868"/>
          </a:xfrm>
        </p:spPr>
        <p:txBody>
          <a:bodyPr>
            <a:normAutofit/>
          </a:bodyPr>
          <a:lstStyle/>
          <a:p>
            <a:r>
              <a:rPr lang="en-US" sz="2000" dirty="0" smtClean="0"/>
              <a:t>IAB</a:t>
            </a:r>
          </a:p>
          <a:p>
            <a:pPr lvl="1"/>
            <a:r>
              <a:rPr lang="en-US" sz="2000" smtClean="0"/>
              <a:t>Dana Muller</a:t>
            </a:r>
            <a:endParaRPr lang="en-US" sz="2000" dirty="0" smtClean="0"/>
          </a:p>
          <a:p>
            <a:pPr lvl="1"/>
            <a:r>
              <a:rPr lang="en-US" sz="2000" dirty="0"/>
              <a:t>David Schiller</a:t>
            </a:r>
          </a:p>
          <a:p>
            <a:pPr lvl="1"/>
            <a:r>
              <a:rPr lang="en-US" sz="2000" dirty="0" err="1"/>
              <a:t>Joerg</a:t>
            </a:r>
            <a:r>
              <a:rPr lang="en-US" sz="2000" dirty="0"/>
              <a:t> </a:t>
            </a:r>
            <a:r>
              <a:rPr lang="en-US" sz="2000" dirty="0" err="1" smtClean="0"/>
              <a:t>Heining</a:t>
            </a:r>
            <a:endParaRPr lang="en-US" sz="2000" dirty="0" smtClean="0"/>
          </a:p>
          <a:p>
            <a:r>
              <a:rPr lang="en-US" sz="2000" dirty="0" smtClean="0"/>
              <a:t>CISER</a:t>
            </a:r>
          </a:p>
          <a:p>
            <a:pPr lvl="1"/>
            <a:r>
              <a:rPr lang="en-US" sz="2000" dirty="0" smtClean="0"/>
              <a:t>Ben </a:t>
            </a:r>
            <a:r>
              <a:rPr lang="en-US" sz="2000" dirty="0"/>
              <a:t>Perry</a:t>
            </a:r>
            <a:endParaRPr lang="en-US" sz="2000" dirty="0" smtClean="0"/>
          </a:p>
          <a:p>
            <a:pPr lvl="1"/>
            <a:r>
              <a:rPr lang="en-US" sz="2000" dirty="0" smtClean="0"/>
              <a:t>Michelle Edwards</a:t>
            </a:r>
          </a:p>
          <a:p>
            <a:pPr lvl="1"/>
            <a:r>
              <a:rPr lang="en-US" sz="2000" dirty="0"/>
              <a:t>Stephanie </a:t>
            </a:r>
            <a:r>
              <a:rPr lang="en-US" sz="2000" dirty="0" smtClean="0"/>
              <a:t>Jacobs</a:t>
            </a:r>
          </a:p>
          <a:p>
            <a:pPr lvl="1"/>
            <a:r>
              <a:rPr lang="en-US" sz="2000" dirty="0"/>
              <a:t>Warren </a:t>
            </a:r>
            <a:r>
              <a:rPr lang="en-US" sz="2000" dirty="0" smtClean="0"/>
              <a:t>Brown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30919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8295460"/>
              </p:ext>
            </p:extLst>
          </p:nvPr>
        </p:nvGraphicFramePr>
        <p:xfrm>
          <a:off x="838200" y="365125"/>
          <a:ext cx="10515600" cy="5811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05276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 descr="CISER_PP_1 10x7.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333"/>
            <a:ext cx="12192000" cy="68603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3284" y="2658461"/>
            <a:ext cx="62691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  <a:latin typeface="Frutiger LT Std 57 Cn"/>
              </a:rPr>
              <a:t>Thank you for your time and attention!</a:t>
            </a:r>
            <a:endParaRPr lang="en-US" sz="4000" dirty="0">
              <a:solidFill>
                <a:schemeClr val="bg1"/>
              </a:solidFill>
              <a:latin typeface="Frutiger LT Std 57 C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779941" y="4666389"/>
            <a:ext cx="548116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Frutiger LT Std 57 Cn"/>
              </a:rPr>
              <a:t>Warren Brown</a:t>
            </a:r>
          </a:p>
          <a:p>
            <a:r>
              <a:rPr lang="en-US" sz="2400" dirty="0">
                <a:solidFill>
                  <a:schemeClr val="bg1"/>
                </a:solidFill>
                <a:latin typeface="Frutiger LT Std 57 Cn"/>
              </a:rPr>
              <a:t>Stephanie Jacobs</a:t>
            </a:r>
          </a:p>
          <a:p>
            <a:endParaRPr lang="en-US" sz="2400" dirty="0" smtClean="0">
              <a:solidFill>
                <a:schemeClr val="bg1"/>
              </a:solidFill>
              <a:latin typeface="Frutiger LT Std 57 Cn"/>
            </a:endParaRPr>
          </a:p>
          <a:p>
            <a:r>
              <a:rPr lang="en-US" sz="2400" dirty="0" smtClean="0">
                <a:solidFill>
                  <a:schemeClr val="bg1"/>
                </a:solidFill>
                <a:latin typeface="Frutiger LT Std 57 Cn"/>
              </a:rPr>
              <a:t>cradc@cornell.edu</a:t>
            </a:r>
          </a:p>
          <a:p>
            <a:r>
              <a:rPr lang="en-US" sz="2400" dirty="0" smtClean="0">
                <a:solidFill>
                  <a:schemeClr val="bg1"/>
                </a:solidFill>
                <a:latin typeface="Frutiger LT Std 57 Cn"/>
              </a:rPr>
              <a:t>ciser.cornell.edu</a:t>
            </a:r>
            <a:endParaRPr lang="en-US" sz="2400" dirty="0">
              <a:solidFill>
                <a:schemeClr val="bg1"/>
              </a:solidFill>
              <a:latin typeface="Frutiger LT Std 57 Cn"/>
            </a:endParaRPr>
          </a:p>
        </p:txBody>
      </p:sp>
    </p:spTree>
    <p:extLst>
      <p:ext uri="{BB962C8B-B14F-4D97-AF65-F5344CB8AC3E}">
        <p14:creationId xmlns:p14="http://schemas.microsoft.com/office/powerpoint/2010/main" val="1835315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1901</TotalTime>
  <Words>1080</Words>
  <Application>Microsoft Office PowerPoint</Application>
  <PresentationFormat>Brugerdefineret</PresentationFormat>
  <Paragraphs>148</Paragraphs>
  <Slides>22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Diastitler</vt:lpstr>
      </vt:variant>
      <vt:variant>
        <vt:i4>22</vt:i4>
      </vt:variant>
    </vt:vector>
  </HeadingPairs>
  <TitlesOfParts>
    <vt:vector size="23" baseType="lpstr">
      <vt:lpstr>Facet</vt:lpstr>
      <vt:lpstr>Connecting Researchers with Data: Discovery, Documentation, Access and Security</vt:lpstr>
      <vt:lpstr>Researchers Searching for Data</vt:lpstr>
      <vt:lpstr>Connecting Researchers with Data</vt:lpstr>
      <vt:lpstr>Connecting Researchers with Data</vt:lpstr>
      <vt:lpstr>Discovering Data File – Do Data Exist??</vt:lpstr>
      <vt:lpstr>Restricted Data – What’s in that Dataset??</vt:lpstr>
      <vt:lpstr>Searching Restricted Labor Market Data</vt:lpstr>
      <vt:lpstr>CED2AR</vt:lpstr>
      <vt:lpstr>Utilizing CED2AR to Locate SIAB Variables</vt:lpstr>
      <vt:lpstr>PowerPoint-præsentation</vt:lpstr>
      <vt:lpstr>PowerPoint-præsentation</vt:lpstr>
      <vt:lpstr>PowerPoint-præsentation</vt:lpstr>
      <vt:lpstr>PowerPoint-præsentation</vt:lpstr>
      <vt:lpstr>Restricted Data Access</vt:lpstr>
      <vt:lpstr>IAB SUF Access and Data Security</vt:lpstr>
      <vt:lpstr>Cornell Restricted Access Data Center (CRADC)</vt:lpstr>
      <vt:lpstr>Institute for Employment Research (IAB) Scientific Use Files (SUF)</vt:lpstr>
      <vt:lpstr>CRADC – SIAB Data</vt:lpstr>
      <vt:lpstr>Discovering SIAB through CED2AR, Accessing on CRADC</vt:lpstr>
      <vt:lpstr>Our Team</vt:lpstr>
      <vt:lpstr>PowerPoint-præsentation</vt:lpstr>
      <vt:lpstr>PowerPoint-præsentation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Stephanie Jacobs</dc:creator>
  <cp:lastModifiedBy>Auditoriet</cp:lastModifiedBy>
  <cp:revision>85</cp:revision>
  <dcterms:created xsi:type="dcterms:W3CDTF">2015-05-26T20:15:37Z</dcterms:created>
  <dcterms:modified xsi:type="dcterms:W3CDTF">2015-12-02T09:35:33Z</dcterms:modified>
</cp:coreProperties>
</file>