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4" r:id="rId3"/>
    <p:sldId id="265" r:id="rId4"/>
    <p:sldId id="266" r:id="rId5"/>
    <p:sldId id="287" r:id="rId6"/>
    <p:sldId id="257" r:id="rId7"/>
    <p:sldId id="260" r:id="rId8"/>
    <p:sldId id="278" r:id="rId9"/>
    <p:sldId id="262" r:id="rId10"/>
    <p:sldId id="261" r:id="rId11"/>
    <p:sldId id="267" r:id="rId12"/>
    <p:sldId id="268" r:id="rId13"/>
    <p:sldId id="279" r:id="rId14"/>
    <p:sldId id="269" r:id="rId15"/>
    <p:sldId id="271" r:id="rId16"/>
    <p:sldId id="270" r:id="rId17"/>
    <p:sldId id="272" r:id="rId18"/>
    <p:sldId id="273" r:id="rId19"/>
    <p:sldId id="280" r:id="rId20"/>
    <p:sldId id="274" r:id="rId21"/>
    <p:sldId id="275" r:id="rId22"/>
    <p:sldId id="276" r:id="rId23"/>
    <p:sldId id="277" r:id="rId24"/>
    <p:sldId id="282" r:id="rId25"/>
    <p:sldId id="281" r:id="rId26"/>
    <p:sldId id="283" r:id="rId27"/>
    <p:sldId id="284" r:id="rId28"/>
    <p:sldId id="285" r:id="rId29"/>
    <p:sldId id="286" r:id="rId30"/>
    <p:sldId id="288" r:id="rId31"/>
    <p:sldId id="291" r:id="rId32"/>
    <p:sldId id="292" r:id="rId33"/>
    <p:sldId id="293" r:id="rId34"/>
    <p:sldId id="298" r:id="rId35"/>
    <p:sldId id="294" r:id="rId36"/>
    <p:sldId id="299" r:id="rId37"/>
    <p:sldId id="295" r:id="rId38"/>
    <p:sldId id="296" r:id="rId39"/>
    <p:sldId id="297" r:id="rId40"/>
    <p:sldId id="289" r:id="rId41"/>
    <p:sldId id="302" r:id="rId42"/>
    <p:sldId id="300" r:id="rId43"/>
    <p:sldId id="308" r:id="rId44"/>
    <p:sldId id="310" r:id="rId45"/>
    <p:sldId id="309" r:id="rId46"/>
    <p:sldId id="305" r:id="rId47"/>
    <p:sldId id="303" r:id="rId48"/>
    <p:sldId id="304" r:id="rId49"/>
    <p:sldId id="290" r:id="rId50"/>
    <p:sldId id="306" r:id="rId51"/>
    <p:sldId id="307" r:id="rId52"/>
    <p:sldId id="301" r:id="rId5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702" autoAdjust="0"/>
    <p:restoredTop sz="94660"/>
  </p:normalViewPr>
  <p:slideViewPr>
    <p:cSldViewPr>
      <p:cViewPr varScale="1">
        <p:scale>
          <a:sx n="68" d="100"/>
          <a:sy n="68" d="100"/>
        </p:scale>
        <p:origin x="-1440" y="-96"/>
      </p:cViewPr>
      <p:guideLst>
        <p:guide orient="horz" pos="2160"/>
        <p:guide pos="2880"/>
      </p:guideLst>
    </p:cSldViewPr>
  </p:slideViewPr>
  <p:notesTextViewPr>
    <p:cViewPr>
      <p:scale>
        <a:sx n="100" d="100"/>
        <a:sy n="100" d="100"/>
      </p:scale>
      <p:origin x="0" y="0"/>
    </p:cViewPr>
  </p:notesTextViewPr>
  <p:sorterViewPr>
    <p:cViewPr>
      <p:scale>
        <a:sx n="66" d="100"/>
        <a:sy n="66" d="100"/>
      </p:scale>
      <p:origin x="0" y="1554"/>
    </p:cViewPr>
  </p:sorterViewPr>
  <p:gridSpacing cx="78028800" cy="780288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8" name="Freeform 7"/>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8"/>
          <p:cNvSpPr>
            <a:spLocks noGrp="1"/>
          </p:cNvSpPr>
          <p:nvPr>
            <p:ph type="ctrTitle"/>
          </p:nvPr>
        </p:nvSpPr>
        <p:spPr>
          <a:xfrm>
            <a:off x="429064" y="3337560"/>
            <a:ext cx="6480048" cy="2301240"/>
          </a:xfrm>
        </p:spPr>
        <p:txBody>
          <a:bodyPr rIns="45720" anchor="t"/>
          <a:lstStyle>
            <a:lvl1pPr algn="r">
              <a:defRPr lang="en-US" b="1" cap="all" baseline="0" dirty="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433050" y="1544812"/>
            <a:ext cx="6480048" cy="1752600"/>
          </a:xfrm>
        </p:spPr>
        <p:txBody>
          <a:bodyPr tIns="0" rIns="45720" bIns="0" anchor="b">
            <a:normAutofit/>
          </a:bodyPr>
          <a:lstStyle>
            <a:lvl1pPr marL="0" indent="0" algn="r">
              <a:buNone/>
              <a:defRPr sz="2000">
                <a:solidFill>
                  <a:schemeClr val="tx1"/>
                </a:solidFill>
                <a:effectLst/>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72FFFCBC-9C6E-487B-BD84-6DC10622B5A0}" type="datetimeFigureOut">
              <a:rPr lang="en-US" smtClean="0"/>
              <a:t>11/30/2015</a:t>
            </a:fld>
            <a:endParaRPr lang="en-US"/>
          </a:p>
        </p:txBody>
      </p:sp>
      <p:sp>
        <p:nvSpPr>
          <p:cNvPr id="19" name="Footer Placeholder 18"/>
          <p:cNvSpPr>
            <a:spLocks noGrp="1"/>
          </p:cNvSpPr>
          <p:nvPr>
            <p:ph type="ftr" sz="quarter" idx="11"/>
          </p:nvPr>
        </p:nvSpPr>
        <p:spPr/>
        <p:txBody>
          <a:bodyPr/>
          <a:lstStyle/>
          <a:p>
            <a:endParaRPr lang="en-US"/>
          </a:p>
        </p:txBody>
      </p:sp>
      <p:sp>
        <p:nvSpPr>
          <p:cNvPr id="27" name="Slide Number Placeholder 26"/>
          <p:cNvSpPr>
            <a:spLocks noGrp="1"/>
          </p:cNvSpPr>
          <p:nvPr>
            <p:ph type="sldNum" sz="quarter" idx="12"/>
          </p:nvPr>
        </p:nvSpPr>
        <p:spPr/>
        <p:txBody>
          <a:bodyPr/>
          <a:lstStyle/>
          <a:p>
            <a:fld id="{818393E6-300E-4380-8211-517C82BD9BE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FFFCBC-9C6E-487B-BD84-6DC10622B5A0}" type="datetimeFigureOut">
              <a:rPr lang="en-US" smtClean="0"/>
              <a:t>11/30/2015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2">
        <a:schemeClr val="bg2"/>
      </p:bgRef>
    </p:bg>
    <p:spTree>
      <p:nvGrpSpPr>
        <p:cNvPr id="1" name=""/>
        <p:cNvGrpSpPr/>
        <p:nvPr/>
      </p:nvGrpSpPr>
      <p:grpSpPr>
        <a:xfrm>
          <a:off x="0" y="0"/>
          <a:ext cx="0" cy="0"/>
          <a:chOff x="0" y="0"/>
          <a:chExt cx="0" cy="0"/>
        </a:xfrm>
      </p:grpSpPr>
      <p:sp>
        <p:nvSpPr>
          <p:cNvPr id="7" name="Freeform 6"/>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9" name="Freeform 8"/>
          <p:cNvSpPr>
            <a:spLocks/>
          </p:cNvSpPr>
          <p:nvPr/>
        </p:nvSpPr>
        <p:spPr bwMode="auto">
          <a:xfrm>
            <a:off x="6105525" y="0"/>
            <a:ext cx="3038475"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1608" y="1590"/>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2" name="Title 1"/>
          <p:cNvSpPr>
            <a:spLocks noGrp="1"/>
          </p:cNvSpPr>
          <p:nvPr>
            <p:ph type="title"/>
          </p:nvPr>
        </p:nvSpPr>
        <p:spPr>
          <a:xfrm>
            <a:off x="685800" y="3583837"/>
            <a:ext cx="6629400" cy="1826363"/>
          </a:xfrm>
        </p:spPr>
        <p:txBody>
          <a:bodyPr tIns="0" bIns="0" anchor="t"/>
          <a:lstStyle>
            <a:lvl1pPr algn="l">
              <a:buNone/>
              <a:defRPr sz="4200" b="1" cap="none" baseline="0">
                <a:ln w="5000" cmpd="sng">
                  <a:solidFill>
                    <a:schemeClr val="accent1">
                      <a:tint val="80000"/>
                      <a:shade val="99000"/>
                      <a:satMod val="500000"/>
                    </a:schemeClr>
                  </a:solidFill>
                  <a:prstDash val="solid"/>
                </a:ln>
                <a:gradFill>
                  <a:gsLst>
                    <a:gs pos="0">
                      <a:schemeClr val="accent1">
                        <a:tint val="63000"/>
                        <a:satMod val="255000"/>
                      </a:schemeClr>
                    </a:gs>
                    <a:gs pos="9000">
                      <a:schemeClr val="accent1">
                        <a:tint val="63000"/>
                        <a:satMod val="255000"/>
                      </a:schemeClr>
                    </a:gs>
                    <a:gs pos="53000">
                      <a:schemeClr val="accent1">
                        <a:shade val="60000"/>
                        <a:satMod val="100000"/>
                      </a:schemeClr>
                    </a:gs>
                    <a:gs pos="90000">
                      <a:schemeClr val="accent1">
                        <a:tint val="63000"/>
                        <a:satMod val="255000"/>
                      </a:schemeClr>
                    </a:gs>
                    <a:gs pos="100000">
                      <a:schemeClr val="accent1">
                        <a:tint val="63000"/>
                        <a:satMod val="255000"/>
                      </a:schemeClr>
                    </a:gs>
                  </a:gsLst>
                  <a:lin ang="5400000"/>
                </a:gradFill>
                <a:effectLst>
                  <a:outerShdw blurRad="50800" dist="38100" dir="5400000" algn="t" rotWithShape="0">
                    <a:prstClr val="black">
                      <a:alpha val="50000"/>
                    </a:prstClr>
                  </a:outerShdw>
                </a:effectLst>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685800" y="2485800"/>
            <a:ext cx="6629400" cy="1066688"/>
          </a:xfrm>
        </p:spPr>
        <p:txBody>
          <a:bodyPr lIns="45720" tIns="0" rIns="45720" bIns="0" anchor="b"/>
          <a:lstStyle>
            <a:lvl1pPr marL="0" indent="0" algn="l">
              <a:buNone/>
              <a:defRPr sz="2000">
                <a:solidFill>
                  <a:schemeClr val="tx1"/>
                </a:solidFill>
                <a:effectLst/>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72FFFCBC-9C6E-487B-BD84-6DC10622B5A0}" type="datetimeFigureOut">
              <a:rPr lang="en-US" smtClean="0"/>
              <a:t>11/30/2015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8393E6-300E-4380-8211-517C82BD9BE5}"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7467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267200" y="1600200"/>
            <a:ext cx="3657600" cy="4525963"/>
          </a:xfrm>
        </p:spPr>
        <p:txBody>
          <a:bodyPr/>
          <a:lstStyle>
            <a:lvl1pPr>
              <a:defRPr sz="2600"/>
            </a:lvl1pPr>
            <a:lvl2pPr>
              <a:defRPr sz="22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FFFCBC-9C6E-487B-BD84-6DC10622B5A0}" type="datetimeFigureOut">
              <a:rPr lang="en-US" smtClean="0"/>
              <a:t>11/30/2015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5486400"/>
            <a:ext cx="4040188"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5486400"/>
            <a:ext cx="4041775" cy="838200"/>
          </a:xfrm>
        </p:spPr>
        <p:txBody>
          <a:bodyPr anchor="t"/>
          <a:lstStyle>
            <a:lvl1pPr marL="0" indent="0">
              <a:buNone/>
              <a:defRPr sz="2400" b="1">
                <a:solidFill>
                  <a:schemeClr val="accent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1516912"/>
            <a:ext cx="4040188"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1516912"/>
            <a:ext cx="4041775" cy="39417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72FFFCBC-9C6E-487B-BD84-6DC10622B5A0}" type="datetimeFigureOut">
              <a:rPr lang="en-US" smtClean="0"/>
              <a:t>11/30/2015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274320"/>
            <a:ext cx="7470648" cy="1143000"/>
          </a:xfrm>
        </p:spPr>
        <p:txBody>
          <a:bodyPr anchor="ctr"/>
          <a:lstStyle>
            <a:lvl1pPr algn="l">
              <a:defRPr sz="4600"/>
            </a:lvl1pPr>
          </a:lstStyle>
          <a:p>
            <a:r>
              <a:rPr kumimoji="0" lang="en-US" smtClean="0"/>
              <a:t>Click to edit Master title style</a:t>
            </a:r>
            <a:endParaRPr kumimoji="0" lang="en-US"/>
          </a:p>
        </p:txBody>
      </p:sp>
      <p:sp>
        <p:nvSpPr>
          <p:cNvPr id="7" name="Date Placeholder 6"/>
          <p:cNvSpPr>
            <a:spLocks noGrp="1"/>
          </p:cNvSpPr>
          <p:nvPr>
            <p:ph type="dt" sz="half" idx="10"/>
          </p:nvPr>
        </p:nvSpPr>
        <p:spPr/>
        <p:txBody>
          <a:bodyPr/>
          <a:lstStyle/>
          <a:p>
            <a:fld id="{72FFFCBC-9C6E-487B-BD84-6DC10622B5A0}" type="datetimeFigureOut">
              <a:rPr lang="en-US" smtClean="0"/>
              <a:t>11/30/2015</a:t>
            </a:fld>
            <a:endParaRPr lang="en-US"/>
          </a:p>
        </p:txBody>
      </p:sp>
      <p:sp>
        <p:nvSpPr>
          <p:cNvPr id="8" name="Slide Number Placeholder 7"/>
          <p:cNvSpPr>
            <a:spLocks noGrp="1"/>
          </p:cNvSpPr>
          <p:nvPr>
            <p:ph type="sldNum" sz="quarter" idx="11"/>
          </p:nvPr>
        </p:nvSpPr>
        <p:spPr/>
        <p:txBody>
          <a:bodyPr/>
          <a:lstStyle/>
          <a:p>
            <a:fld id="{818393E6-300E-4380-8211-517C82BD9BE5}"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FFFCBC-9C6E-487B-BD84-6DC10622B5A0}" type="datetimeFigureOut">
              <a:rPr lang="en-US" smtClean="0"/>
              <a:t>11/30/2015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85528"/>
            <a:ext cx="3200400" cy="730250"/>
          </a:xfrm>
        </p:spPr>
        <p:txBody>
          <a:bodyPr tIns="0" bIns="0" anchor="t"/>
          <a:lstStyle>
            <a:lvl1pPr algn="l">
              <a:buNone/>
              <a:defRPr sz="1800" b="1">
                <a:solidFill>
                  <a:schemeClr val="accent1"/>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214424"/>
            <a:ext cx="2743200" cy="914400"/>
          </a:xfrm>
        </p:spPr>
        <p:txBody>
          <a:bodyPr lIns="45720" tIns="0" rIns="45720" bIns="0" anchor="b"/>
          <a:lstStyle>
            <a:lvl1pPr marL="0" indent="0" algn="l">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457200" y="1981200"/>
            <a:ext cx="7086600" cy="3810000"/>
          </a:xfrm>
        </p:spPr>
        <p:txBody>
          <a:bodyPr/>
          <a:lstStyle>
            <a:lvl1pPr>
              <a:defRPr sz="2800"/>
            </a:lvl1pPr>
            <a:lvl2pPr>
              <a:defRPr sz="2400"/>
            </a:lvl2pPr>
            <a:lvl3pPr>
              <a:defRPr sz="2200"/>
            </a:lvl3pPr>
            <a:lvl4pPr>
              <a:defRPr sz="2000"/>
            </a:lvl4pPr>
            <a:lvl5pPr>
              <a:defRPr sz="20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72FFFCBC-9C6E-487B-BD84-6DC10622B5A0}" type="datetimeFigureOut">
              <a:rPr lang="en-US" smtClean="0"/>
              <a:t>11/30/2015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8156448" y="6422064"/>
            <a:ext cx="762000" cy="365125"/>
          </a:xfrm>
        </p:spPr>
        <p:txBody>
          <a:bodyPr/>
          <a:lstStyle/>
          <a:p>
            <a:fld id="{818393E6-300E-4380-8211-517C82BD9BE5}"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556732" y="1705709"/>
            <a:ext cx="3053868" cy="1253808"/>
          </a:xfrm>
        </p:spPr>
        <p:txBody>
          <a:bodyPr anchor="b"/>
          <a:lstStyle>
            <a:lvl1pPr algn="l">
              <a:buNone/>
              <a:defRPr sz="2200" b="1">
                <a:solidFill>
                  <a:schemeClr val="accent1"/>
                </a:solidFill>
              </a:defRPr>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065628" y="1019907"/>
            <a:ext cx="4114800" cy="4114800"/>
          </a:xfrm>
          <a:prstGeom prst="ellipse">
            <a:avLst/>
          </a:prstGeom>
          <a:solidFill>
            <a:schemeClr val="bg2">
              <a:shade val="50000"/>
            </a:schemeClr>
          </a:solidFill>
          <a:ln w="50800" cap="flat">
            <a:solidFill>
              <a:schemeClr val="bg2"/>
            </a:solidFill>
            <a:miter lim="800000"/>
          </a:ln>
          <a:effectLst>
            <a:outerShdw blurRad="152000" dist="345000" dir="5400000" sx="-80000" sy="-18000" rotWithShape="0">
              <a:srgbClr val="000000">
                <a:alpha val="25000"/>
              </a:srgbClr>
            </a:outerShdw>
          </a:effectLst>
          <a:scene3d>
            <a:camera prst="orthographicFront"/>
            <a:lightRig rig="contrasting" dir="t">
              <a:rot lat="0" lon="0" rev="2400000"/>
            </a:lightRig>
          </a:scene3d>
          <a:sp3d contourW="7620">
            <a:bevelT w="63500" h="63500"/>
            <a:contourClr>
              <a:schemeClr val="bg2">
                <a:shade val="50000"/>
              </a:schemeClr>
            </a:contourClr>
          </a:sp3d>
        </p:spPr>
        <p:txBody>
          <a:bodyPr/>
          <a:lstStyle>
            <a:lvl1pPr marL="0" indent="0">
              <a:buNone/>
              <a:defRPr sz="3200"/>
            </a:lvl1pPr>
          </a:lstStyle>
          <a:p>
            <a:r>
              <a:rPr kumimoji="0" lang="en-US" smtClean="0"/>
              <a:t>Click icon to add picture</a:t>
            </a:r>
            <a:endParaRPr kumimoji="0" lang="en-US" dirty="0"/>
          </a:p>
        </p:txBody>
      </p:sp>
      <p:sp>
        <p:nvSpPr>
          <p:cNvPr id="4" name="Text Placeholder 3"/>
          <p:cNvSpPr>
            <a:spLocks noGrp="1"/>
          </p:cNvSpPr>
          <p:nvPr>
            <p:ph type="body" sz="half" idx="2"/>
          </p:nvPr>
        </p:nvSpPr>
        <p:spPr>
          <a:xfrm>
            <a:off x="5556734" y="2998765"/>
            <a:ext cx="3053866" cy="2663482"/>
          </a:xfrm>
        </p:spPr>
        <p:txBody>
          <a:bodyPr lIns="45720" rIns="45720"/>
          <a:lstStyle>
            <a:lvl1pPr marL="0" indent="0">
              <a:buFontTx/>
              <a:buNone/>
              <a:defRPr sz="1200"/>
            </a:lvl1pPr>
            <a:lvl2pPr>
              <a:buFontTx/>
              <a:buNone/>
              <a:defRPr sz="1200"/>
            </a:lvl2pPr>
            <a:lvl3pPr>
              <a:buFontTx/>
              <a:buNone/>
              <a:defRPr sz="1000"/>
            </a:lvl3pPr>
            <a:lvl4pPr>
              <a:buFontTx/>
              <a:buNone/>
              <a:defRPr sz="900"/>
            </a:lvl4pPr>
            <a:lvl5pPr>
              <a:buFontTx/>
              <a:buNone/>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a:xfrm>
            <a:off x="457200" y="6422064"/>
            <a:ext cx="2133600" cy="365125"/>
          </a:xfrm>
        </p:spPr>
        <p:txBody>
          <a:bodyPr/>
          <a:lstStyle/>
          <a:p>
            <a:fld id="{72FFFCBC-9C6E-487B-BD84-6DC10622B5A0}" type="datetimeFigureOut">
              <a:rPr lang="en-US" smtClean="0"/>
              <a:t>11/30/2015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FFFCBC-9C6E-487B-BD84-6DC10622B5A0}" type="datetimeFigureOut">
              <a:rPr lang="en-US" smtClean="0"/>
              <a:t>11/30/2015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72FFFCBC-9C6E-487B-BD84-6DC10622B5A0}" type="datetimeFigureOut">
              <a:rPr lang="en-US" smtClean="0"/>
              <a:t>11/30/2015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8393E6-300E-4380-8211-517C82BD9BE5}"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12" name="Freeform 11"/>
          <p:cNvSpPr>
            <a:spLocks/>
          </p:cNvSpPr>
          <p:nvPr/>
        </p:nvSpPr>
        <p:spPr bwMode="auto">
          <a:xfrm>
            <a:off x="0" y="4752126"/>
            <a:ext cx="9144000" cy="2112962"/>
          </a:xfrm>
          <a:custGeom>
            <a:avLst>
              <a:gd name="A1" fmla="val 0"/>
              <a:gd name="A2" fmla="val 0"/>
              <a:gd name="A3" fmla="val 0"/>
              <a:gd name="A4" fmla="val 0"/>
              <a:gd name="A5" fmla="val 0"/>
              <a:gd name="A6" fmla="val 0"/>
              <a:gd name="A7" fmla="val 0"/>
              <a:gd name="A8" fmla="val 0"/>
            </a:avLst>
            <a:gdLst/>
            <a:ahLst/>
            <a:cxnLst>
              <a:cxn ang="0">
                <a:pos x="0" y="1066"/>
              </a:cxn>
              <a:cxn ang="0">
                <a:pos x="0" y="1331"/>
              </a:cxn>
              <a:cxn ang="0">
                <a:pos x="5760" y="1331"/>
              </a:cxn>
              <a:cxn ang="0">
                <a:pos x="5760" y="0"/>
              </a:cxn>
              <a:cxn ang="0">
                <a:pos x="0" y="1066"/>
              </a:cxn>
            </a:cxnLst>
            <a:rect l="0" t="0" r="0" b="0"/>
            <a:pathLst>
              <a:path w="5760" h="1331">
                <a:moveTo>
                  <a:pt x="0" y="1066"/>
                </a:moveTo>
                <a:lnTo>
                  <a:pt x="0" y="1331"/>
                </a:lnTo>
                <a:lnTo>
                  <a:pt x="5760" y="1331"/>
                </a:lnTo>
                <a:lnTo>
                  <a:pt x="5760" y="0"/>
                </a:lnTo>
                <a:cubicBezTo>
                  <a:pt x="3220" y="1206"/>
                  <a:pt x="2250" y="1146"/>
                  <a:pt x="0" y="1066"/>
                </a:cubicBezTo>
                <a:close/>
              </a:path>
            </a:pathLst>
          </a:custGeom>
          <a:solidFill>
            <a:schemeClr val="bg1">
              <a:tint val="80000"/>
              <a:satMod val="200000"/>
              <a:alpha val="45000"/>
            </a:schemeClr>
          </a:solidFill>
          <a:ln w="9525" cap="flat" cmpd="sng" algn="ctr">
            <a:noFill/>
            <a:prstDash val="solid"/>
            <a:round/>
            <a:headEnd type="none" w="med" len="med"/>
            <a:tailEnd type="none" w="med" len="med"/>
          </a:ln>
          <a:effectLst>
            <a:outerShdw blurRad="50800" dist="44450" dir="16200000" algn="ctr" rotWithShape="0">
              <a:prstClr val="black">
                <a:alpha val="35000"/>
              </a:prstClr>
            </a:outerShdw>
          </a:effectLst>
        </p:spPr>
        <p:txBody>
          <a:bodyPr vert="horz" wrap="square" lIns="91440" tIns="45720" rIns="91440" bIns="45720" anchor="t" compatLnSpc="1"/>
          <a:lstStyle/>
          <a:p>
            <a:endParaRPr kumimoji="0" lang="en-US"/>
          </a:p>
        </p:txBody>
      </p:sp>
      <p:sp>
        <p:nvSpPr>
          <p:cNvPr id="16" name="Freeform 15"/>
          <p:cNvSpPr>
            <a:spLocks/>
          </p:cNvSpPr>
          <p:nvPr/>
        </p:nvSpPr>
        <p:spPr bwMode="auto">
          <a:xfrm>
            <a:off x="7315200" y="0"/>
            <a:ext cx="1828800" cy="6858000"/>
          </a:xfrm>
          <a:custGeom>
            <a:avLst/>
            <a:gdLst>
              <a:gd name="connsiteX0" fmla="*/ 1914 w 1914"/>
              <a:gd name="connsiteY0" fmla="*/ 9 h 4329"/>
              <a:gd name="connsiteX1" fmla="*/ 1914 w 1914"/>
              <a:gd name="connsiteY1" fmla="*/ 4329 h 4329"/>
              <a:gd name="connsiteX2" fmla="*/ 204 w 1914"/>
              <a:gd name="connsiteY2" fmla="*/ 4327 h 4329"/>
              <a:gd name="connsiteX3" fmla="*/ 0 w 1914"/>
              <a:gd name="connsiteY3" fmla="*/ 0 h 4329"/>
              <a:gd name="connsiteX4" fmla="*/ 1914 w 1914"/>
              <a:gd name="connsiteY4" fmla="*/ 9 h 43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14" h="4329">
                <a:moveTo>
                  <a:pt x="1914" y="9"/>
                </a:moveTo>
                <a:lnTo>
                  <a:pt x="1914" y="4329"/>
                </a:lnTo>
                <a:lnTo>
                  <a:pt x="204" y="4327"/>
                </a:lnTo>
                <a:cubicBezTo>
                  <a:pt x="1288" y="3574"/>
                  <a:pt x="2082" y="1734"/>
                  <a:pt x="0" y="0"/>
                </a:cubicBezTo>
                <a:lnTo>
                  <a:pt x="1914" y="9"/>
                </a:lnTo>
                <a:close/>
              </a:path>
            </a:pathLst>
          </a:custGeom>
          <a:solidFill>
            <a:schemeClr val="bg1">
              <a:tint val="90000"/>
              <a:satMod val="350000"/>
              <a:alpha val="40000"/>
            </a:schemeClr>
          </a:solidFill>
          <a:ln w="9525" cap="flat" cmpd="sng" algn="ctr">
            <a:noFill/>
            <a:prstDash val="solid"/>
            <a:round/>
            <a:headEnd type="none" w="med" len="med"/>
            <a:tailEnd type="none" w="med" len="med"/>
          </a:ln>
          <a:effectLst>
            <a:outerShdw blurRad="50800" dist="50800" dir="10800000" algn="ctr" rotWithShape="0">
              <a:prstClr val="black">
                <a:alpha val="45000"/>
              </a:prstClr>
            </a:outerShdw>
          </a:effectLst>
        </p:spPr>
        <p:txBody>
          <a:bodyPr vert="horz" wrap="square" lIns="91440" tIns="45720" rIns="91440" bIns="45720" anchor="t" compatLnSpc="1"/>
          <a:lstStyle/>
          <a:p>
            <a:endParaRPr kumimoji="0" lang="en-US"/>
          </a:p>
        </p:txBody>
      </p:sp>
      <p:sp>
        <p:nvSpPr>
          <p:cNvPr id="9" name="Title Placeholder 8"/>
          <p:cNvSpPr>
            <a:spLocks noGrp="1"/>
          </p:cNvSpPr>
          <p:nvPr>
            <p:ph type="title"/>
          </p:nvPr>
        </p:nvSpPr>
        <p:spPr>
          <a:xfrm>
            <a:off x="457200" y="274638"/>
            <a:ext cx="7467600" cy="1143000"/>
          </a:xfrm>
          <a:prstGeom prst="rect">
            <a:avLst/>
          </a:prstGeom>
        </p:spPr>
        <p:txBody>
          <a:bodyPr vert="horz" lIns="45720" rIns="45720" anchor="ctr">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600200"/>
            <a:ext cx="7467600" cy="4525963"/>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422064"/>
            <a:ext cx="2133600" cy="365125"/>
          </a:xfrm>
          <a:prstGeom prst="rect">
            <a:avLst/>
          </a:prstGeom>
        </p:spPr>
        <p:txBody>
          <a:bodyPr vert="horz" bIns="0" anchor="b"/>
          <a:lstStyle>
            <a:lvl1pPr algn="l" eaLnBrk="1" latinLnBrk="0" hangingPunct="1">
              <a:defRPr kumimoji="0" sz="1000">
                <a:solidFill>
                  <a:schemeClr val="tx2">
                    <a:shade val="50000"/>
                  </a:schemeClr>
                </a:solidFill>
              </a:defRPr>
            </a:lvl1pPr>
          </a:lstStyle>
          <a:p>
            <a:fld id="{72FFFCBC-9C6E-487B-BD84-6DC10622B5A0}" type="datetimeFigureOut">
              <a:rPr lang="en-US" smtClean="0"/>
              <a:t>11/30/2015</a:t>
            </a:fld>
            <a:endParaRPr lang="en-US"/>
          </a:p>
        </p:txBody>
      </p:sp>
      <p:sp>
        <p:nvSpPr>
          <p:cNvPr id="22" name="Footer Placeholder 21"/>
          <p:cNvSpPr>
            <a:spLocks noGrp="1"/>
          </p:cNvSpPr>
          <p:nvPr>
            <p:ph type="ftr" sz="quarter" idx="3"/>
          </p:nvPr>
        </p:nvSpPr>
        <p:spPr>
          <a:xfrm>
            <a:off x="3124200" y="6422064"/>
            <a:ext cx="2895600" cy="365125"/>
          </a:xfrm>
          <a:prstGeom prst="rect">
            <a:avLst/>
          </a:prstGeom>
        </p:spPr>
        <p:txBody>
          <a:bodyPr vert="horz" lIns="0" rIns="0" bIns="0" anchor="b"/>
          <a:lstStyle>
            <a:lvl1pPr algn="ctr" eaLnBrk="1" latinLnBrk="0" hangingPunct="1">
              <a:defRPr kumimoji="0" sz="1000">
                <a:solidFill>
                  <a:schemeClr val="tx2">
                    <a:shade val="50000"/>
                  </a:schemeClr>
                </a:solidFill>
              </a:defRPr>
            </a:lvl1pPr>
          </a:lstStyle>
          <a:p>
            <a:endParaRPr lang="en-US"/>
          </a:p>
        </p:txBody>
      </p:sp>
      <p:sp>
        <p:nvSpPr>
          <p:cNvPr id="18" name="Slide Number Placeholder 17"/>
          <p:cNvSpPr>
            <a:spLocks noGrp="1"/>
          </p:cNvSpPr>
          <p:nvPr>
            <p:ph type="sldNum" sz="quarter" idx="4"/>
          </p:nvPr>
        </p:nvSpPr>
        <p:spPr>
          <a:xfrm>
            <a:off x="8153400" y="6422064"/>
            <a:ext cx="762000" cy="365125"/>
          </a:xfrm>
          <a:prstGeom prst="rect">
            <a:avLst/>
          </a:prstGeom>
        </p:spPr>
        <p:txBody>
          <a:bodyPr vert="horz" lIns="0" tIns="0" rIns="0" bIns="0" anchor="b"/>
          <a:lstStyle>
            <a:lvl1pPr algn="r" eaLnBrk="1" latinLnBrk="0" hangingPunct="1">
              <a:defRPr kumimoji="0" sz="1000">
                <a:solidFill>
                  <a:schemeClr val="tx2">
                    <a:shade val="50000"/>
                  </a:schemeClr>
                </a:solidFill>
              </a:defRPr>
            </a:lvl1pPr>
          </a:lstStyle>
          <a:p>
            <a:fld id="{818393E6-300E-4380-8211-517C82BD9BE5}"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1" latinLnBrk="0" hangingPunct="1">
        <a:spcBef>
          <a:spcPct val="0"/>
        </a:spcBef>
        <a:buNone/>
        <a:defRPr kumimoji="0" sz="4600" kern="1200">
          <a:solidFill>
            <a:schemeClr val="tx1"/>
          </a:solidFill>
          <a:latin typeface="+mj-lt"/>
          <a:ea typeface="+mj-ea"/>
          <a:cs typeface="+mj-cs"/>
        </a:defRPr>
      </a:lvl1pPr>
    </p:titleStyle>
    <p:bodyStyle>
      <a:lvl1pPr marL="420624" indent="-384048" algn="l" rtl="0" eaLnBrk="1" latinLnBrk="0" hangingPunct="1">
        <a:spcBef>
          <a:spcPct val="20000"/>
        </a:spcBef>
        <a:buClr>
          <a:schemeClr val="accent1"/>
        </a:buClr>
        <a:buSzPct val="80000"/>
        <a:buFont typeface="Wingdings 2"/>
        <a:buChar char=""/>
        <a:defRPr kumimoji="0" sz="3000" kern="1200">
          <a:solidFill>
            <a:schemeClr val="tx1"/>
          </a:solidFill>
          <a:latin typeface="+mn-lt"/>
          <a:ea typeface="+mn-ea"/>
          <a:cs typeface="+mn-cs"/>
        </a:defRPr>
      </a:lvl1pPr>
      <a:lvl2pPr marL="722376" indent="-274320" algn="l" rtl="0" eaLnBrk="1" latinLnBrk="0" hangingPunct="1">
        <a:spcBef>
          <a:spcPct val="20000"/>
        </a:spcBef>
        <a:buClr>
          <a:schemeClr val="accent1"/>
        </a:buClr>
        <a:buSzPct val="90000"/>
        <a:buFont typeface="Wingdings 2"/>
        <a:buChar char=""/>
        <a:defRPr kumimoji="0" sz="2600" kern="1200">
          <a:solidFill>
            <a:schemeClr val="tx1"/>
          </a:solidFill>
          <a:latin typeface="+mn-lt"/>
          <a:ea typeface="+mn-ea"/>
          <a:cs typeface="+mn-cs"/>
        </a:defRPr>
      </a:lvl2pPr>
      <a:lvl3pPr marL="1005840" indent="-256032" algn="l" rtl="0" eaLnBrk="1" latinLnBrk="0" hangingPunct="1">
        <a:spcBef>
          <a:spcPct val="20000"/>
        </a:spcBef>
        <a:buClr>
          <a:schemeClr val="accent2"/>
        </a:buClr>
        <a:buSzPct val="85000"/>
        <a:buFont typeface="Arial"/>
        <a:buChar char="○"/>
        <a:defRPr kumimoji="0" sz="2400" kern="1200">
          <a:solidFill>
            <a:schemeClr val="tx1"/>
          </a:solidFill>
          <a:latin typeface="+mn-lt"/>
          <a:ea typeface="+mn-ea"/>
          <a:cs typeface="+mn-cs"/>
        </a:defRPr>
      </a:lvl3pPr>
      <a:lvl4pPr marL="1280160" indent="-237744" algn="l" rtl="0" eaLnBrk="1" latinLnBrk="0" hangingPunct="1">
        <a:spcBef>
          <a:spcPct val="20000"/>
        </a:spcBef>
        <a:buClr>
          <a:schemeClr val="accent3"/>
        </a:buClr>
        <a:buSzPct val="90000"/>
        <a:buFont typeface="Wingdings 2"/>
        <a:buChar char=""/>
        <a:defRPr kumimoji="0" sz="2000" kern="1200">
          <a:solidFill>
            <a:schemeClr val="tx1"/>
          </a:solidFill>
          <a:latin typeface="+mn-lt"/>
          <a:ea typeface="+mn-ea"/>
          <a:cs typeface="+mn-cs"/>
        </a:defRPr>
      </a:lvl4pPr>
      <a:lvl5pPr marL="1490472" indent="-182880" algn="l" rtl="0" eaLnBrk="1" latinLnBrk="0" hangingPunct="1">
        <a:spcBef>
          <a:spcPct val="20000"/>
        </a:spcBef>
        <a:buClr>
          <a:schemeClr val="accent4"/>
        </a:buClr>
        <a:buSzPct val="100000"/>
        <a:buFont typeface="Arial"/>
        <a:buChar char="-"/>
        <a:defRPr kumimoji="0" sz="2000" kern="1200">
          <a:solidFill>
            <a:schemeClr val="tx1"/>
          </a:solidFill>
          <a:latin typeface="+mn-lt"/>
          <a:ea typeface="+mn-ea"/>
          <a:cs typeface="+mn-cs"/>
        </a:defRPr>
      </a:lvl5pPr>
      <a:lvl6pPr marL="1700784" indent="-182880" algn="l" rtl="0" eaLnBrk="1" latinLnBrk="0" hangingPunct="1">
        <a:spcBef>
          <a:spcPct val="20000"/>
        </a:spcBef>
        <a:buClr>
          <a:schemeClr val="accent5"/>
        </a:buClr>
        <a:buFont typeface="Arial"/>
        <a:buChar char="-"/>
        <a:defRPr kumimoji="0" sz="2000" kern="1200" baseline="0">
          <a:solidFill>
            <a:schemeClr val="tx1"/>
          </a:solidFill>
          <a:latin typeface="+mn-lt"/>
          <a:ea typeface="+mn-ea"/>
          <a:cs typeface="+mn-cs"/>
        </a:defRPr>
      </a:lvl6pPr>
      <a:lvl7pPr marL="1920240" indent="-182880" algn="l" rtl="0" eaLnBrk="1" latinLnBrk="0" hangingPunct="1">
        <a:spcBef>
          <a:spcPct val="20000"/>
        </a:spcBef>
        <a:buClr>
          <a:schemeClr val="accent6"/>
        </a:buClr>
        <a:buSzPct val="100000"/>
        <a:buFont typeface="Arial"/>
        <a:buChar char="•"/>
        <a:defRPr kumimoji="0" sz="1800" kern="1200" baseline="0">
          <a:solidFill>
            <a:schemeClr val="tx1"/>
          </a:solidFill>
          <a:latin typeface="+mn-lt"/>
          <a:ea typeface="+mn-ea"/>
          <a:cs typeface="+mn-cs"/>
        </a:defRPr>
      </a:lvl7pPr>
      <a:lvl8pPr marL="2139696"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8pPr>
      <a:lvl9pPr marL="2331720" indent="-182880" algn="l" rtl="0" eaLnBrk="1" latinLnBrk="0" hangingPunct="1">
        <a:spcBef>
          <a:spcPct val="20000"/>
        </a:spcBef>
        <a:buClr>
          <a:schemeClr val="accent6"/>
        </a:buClr>
        <a:buFont typeface="Arial"/>
        <a:buChar char="•"/>
        <a:defRPr kumimoji="0" sz="16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hyperlink" Target="http://researchguides.library.yorku.ca/content.php?pid=245987&amp;sid=2176375"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gis.stackexchange.com/users/15443/don-meltz" TargetMode="External"/><Relationship Id="rId2" Type="http://schemas.openxmlformats.org/officeDocument/2006/relationships/hyperlink" Target="http://gis.stackexchange.com/questions/735/define-geospatial-data-for-a-non-gis-professional"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gis.stackexchange.com/users/15443/don-meltz" TargetMode="External"/><Relationship Id="rId2" Type="http://schemas.openxmlformats.org/officeDocument/2006/relationships/hyperlink" Target="http://gis.stackexchange.com/questions/735/define-geospatial-data-for-a-non-gis-professional"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stats.oecd.org/glossary/search.asp" TargetMode="Externa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en.wikipedia.org/wiki/Statistics"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hyperlink" Target="http://sdmx.org/" TargetMode="Externa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www.iso.org/iso/home/store/catalogue_tc/catalogue_detail.htm?csnumber=53798" TargetMode="External"/><Relationship Id="rId2" Type="http://schemas.openxmlformats.org/officeDocument/2006/relationships/hyperlink" Target="http://www.opengeospatial.org/standards/wms" TargetMode="External"/><Relationship Id="rId1" Type="http://schemas.openxmlformats.org/officeDocument/2006/relationships/slideLayout" Target="../slideLayouts/slideLayout2.xml"/><Relationship Id="rId5" Type="http://schemas.openxmlformats.org/officeDocument/2006/relationships/hyperlink" Target="http://www.iso.org/iso/iso_catalogue/catalogue_tc/catalogue_detail.htm?csnumber=32554" TargetMode="External"/><Relationship Id="rId4" Type="http://schemas.openxmlformats.org/officeDocument/2006/relationships/hyperlink" Target="https://www.iso.org/obp/ui/"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interface between spatial and statistical data</a:t>
            </a:r>
          </a:p>
        </p:txBody>
      </p:sp>
      <p:sp>
        <p:nvSpPr>
          <p:cNvPr id="3" name="Subtitle 2"/>
          <p:cNvSpPr>
            <a:spLocks noGrp="1"/>
          </p:cNvSpPr>
          <p:nvPr>
            <p:ph type="subTitle" idx="1"/>
          </p:nvPr>
        </p:nvSpPr>
        <p:spPr/>
        <p:txBody>
          <a:bodyPr/>
          <a:lstStyle/>
          <a:p>
            <a:r>
              <a:rPr lang="en-US" dirty="0" smtClean="0"/>
              <a:t>Wendy Thomas</a:t>
            </a:r>
          </a:p>
          <a:p>
            <a:r>
              <a:rPr lang="en-US" dirty="0" smtClean="0"/>
              <a:t>EDDI2015 – Copenhagen</a:t>
            </a:r>
          </a:p>
          <a:p>
            <a:r>
              <a:rPr lang="en-US" dirty="0" smtClean="0"/>
              <a:t>1 December 2015</a:t>
            </a:r>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Abstract</a:t>
            </a:r>
            <a:endParaRPr lang="en-US" dirty="0"/>
          </a:p>
        </p:txBody>
      </p:sp>
      <p:sp>
        <p:nvSpPr>
          <p:cNvPr id="3" name="Content Placeholder 2"/>
          <p:cNvSpPr>
            <a:spLocks noGrp="1"/>
          </p:cNvSpPr>
          <p:nvPr>
            <p:ph idx="1"/>
          </p:nvPr>
        </p:nvSpPr>
        <p:spPr/>
        <p:txBody>
          <a:bodyPr>
            <a:normAutofit fontScale="92500"/>
          </a:bodyPr>
          <a:lstStyle/>
          <a:p>
            <a:r>
              <a:rPr lang="en-US" dirty="0" smtClean="0"/>
              <a:t>Information used to create accurate links between data sets at the spatial level</a:t>
            </a:r>
          </a:p>
          <a:p>
            <a:r>
              <a:rPr lang="en-US" dirty="0" smtClean="0"/>
              <a:t>Structures in commonly used standards to capture this information</a:t>
            </a:r>
          </a:p>
          <a:p>
            <a:r>
              <a:rPr lang="en-US" dirty="0" smtClean="0"/>
              <a:t>Content that should be provided by data producers in order to support the search for related data in an open-data environment</a:t>
            </a:r>
          </a:p>
          <a:p>
            <a:r>
              <a:rPr lang="en-US" dirty="0" smtClean="0"/>
              <a:t>Special issues involved in linking historical data and non-standard spatial types</a:t>
            </a:r>
          </a:p>
          <a:p>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Organization of Workshop</a:t>
            </a:r>
            <a:endParaRPr lang="en-US" dirty="0"/>
          </a:p>
        </p:txBody>
      </p:sp>
      <p:sp>
        <p:nvSpPr>
          <p:cNvPr id="3" name="Content Placeholder 2"/>
          <p:cNvSpPr>
            <a:spLocks noGrp="1"/>
          </p:cNvSpPr>
          <p:nvPr>
            <p:ph idx="1"/>
          </p:nvPr>
        </p:nvSpPr>
        <p:spPr>
          <a:xfrm>
            <a:off x="457200" y="1447800"/>
            <a:ext cx="8229600" cy="5105400"/>
          </a:xfrm>
        </p:spPr>
        <p:txBody>
          <a:bodyPr>
            <a:normAutofit/>
          </a:bodyPr>
          <a:lstStyle/>
          <a:p>
            <a:r>
              <a:rPr lang="en-US" dirty="0" smtClean="0"/>
              <a:t>Who are you and what do you want out of the workshop?</a:t>
            </a:r>
          </a:p>
          <a:p>
            <a:r>
              <a:rPr lang="en-US" dirty="0" smtClean="0"/>
              <a:t>Differentiating geospatial and statistical data</a:t>
            </a:r>
          </a:p>
          <a:p>
            <a:r>
              <a:rPr lang="en-US" dirty="0" smtClean="0"/>
              <a:t>Information used to link geography between data sources</a:t>
            </a:r>
          </a:p>
          <a:p>
            <a:pPr lvl="1"/>
            <a:r>
              <a:rPr lang="en-US" dirty="0" smtClean="0"/>
              <a:t>Statistical to geospatial</a:t>
            </a:r>
          </a:p>
          <a:p>
            <a:pPr lvl="1"/>
            <a:r>
              <a:rPr lang="en-US" dirty="0" smtClean="0"/>
              <a:t>Statistical to statistical</a:t>
            </a:r>
          </a:p>
          <a:p>
            <a:r>
              <a:rPr lang="en-US" dirty="0" smtClean="0"/>
              <a:t>How is this linking information captured?</a:t>
            </a:r>
          </a:p>
          <a:p>
            <a:r>
              <a:rPr lang="en-US" dirty="0" smtClean="0"/>
              <a:t>Special issues of historical data and non-standard spatial areas</a:t>
            </a:r>
          </a:p>
          <a:p>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Who are you?</a:t>
            </a:r>
            <a:endParaRPr lang="en-US" dirty="0"/>
          </a:p>
        </p:txBody>
      </p:sp>
      <p:sp>
        <p:nvSpPr>
          <p:cNvPr id="3" name="Content Placeholder 2"/>
          <p:cNvSpPr>
            <a:spLocks noGrp="1"/>
          </p:cNvSpPr>
          <p:nvPr>
            <p:ph idx="1"/>
          </p:nvPr>
        </p:nvSpPr>
        <p:spPr/>
        <p:txBody>
          <a:bodyPr/>
          <a:lstStyle/>
          <a:p>
            <a:r>
              <a:rPr lang="en-US" dirty="0" smtClean="0"/>
              <a:t>Name and organization</a:t>
            </a:r>
          </a:p>
          <a:p>
            <a:r>
              <a:rPr lang="en-US" dirty="0" smtClean="0"/>
              <a:t>What do you do with data?</a:t>
            </a:r>
          </a:p>
          <a:p>
            <a:pPr lvl="1"/>
            <a:r>
              <a:rPr lang="en-US" dirty="0" smtClean="0"/>
              <a:t>Capture/collect?</a:t>
            </a:r>
          </a:p>
          <a:p>
            <a:pPr lvl="1"/>
            <a:r>
              <a:rPr lang="en-US" dirty="0" smtClean="0"/>
              <a:t>Describe – create metadata?</a:t>
            </a:r>
          </a:p>
          <a:p>
            <a:pPr lvl="1"/>
            <a:r>
              <a:rPr lang="en-US" dirty="0" smtClean="0"/>
              <a:t>Distribute?</a:t>
            </a:r>
          </a:p>
          <a:p>
            <a:pPr lvl="1"/>
            <a:r>
              <a:rPr lang="en-US" dirty="0" smtClean="0"/>
              <a:t>Analyze?</a:t>
            </a:r>
          </a:p>
          <a:p>
            <a:r>
              <a:rPr lang="en-US" dirty="0" smtClean="0"/>
              <a:t>What do you want out of this workshop?</a:t>
            </a:r>
          </a:p>
          <a:p>
            <a:pPr lvl="1"/>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Information used to create accurate links between data sets at the spatial level</a:t>
            </a:r>
            <a:br>
              <a:rPr lang="en-US" dirty="0" smtClean="0"/>
            </a:br>
            <a:endParaRPr lang="en-US" dirty="0"/>
          </a:p>
        </p:txBody>
      </p:sp>
      <p:sp>
        <p:nvSpPr>
          <p:cNvPr id="5" name="Text Placeholder 4"/>
          <p:cNvSpPr>
            <a:spLocks noGrp="1"/>
          </p:cNvSpPr>
          <p:nvPr>
            <p:ph type="body" idx="1"/>
          </p:nvPr>
        </p:nvSpPr>
        <p:spPr/>
        <p:txBody>
          <a:bodyPr/>
          <a:lstStyle/>
          <a:p>
            <a:endParaRPr lang="en-US"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geospatial data?</a:t>
            </a:r>
            <a:endParaRPr lang="en-US" dirty="0"/>
          </a:p>
        </p:txBody>
      </p:sp>
      <p:sp>
        <p:nvSpPr>
          <p:cNvPr id="3" name="Content Placeholder 2"/>
          <p:cNvSpPr>
            <a:spLocks noGrp="1"/>
          </p:cNvSpPr>
          <p:nvPr>
            <p:ph idx="1"/>
          </p:nvPr>
        </p:nvSpPr>
        <p:spPr>
          <a:xfrm>
            <a:off x="457200" y="1600201"/>
            <a:ext cx="8229600" cy="3962400"/>
          </a:xfrm>
        </p:spPr>
        <p:txBody>
          <a:bodyPr>
            <a:normAutofit/>
          </a:bodyPr>
          <a:lstStyle/>
          <a:p>
            <a:r>
              <a:rPr lang="en-US" dirty="0"/>
              <a:t>Definition of </a:t>
            </a:r>
            <a:r>
              <a:rPr lang="en-US" b="1" dirty="0"/>
              <a:t>Geospatial Data</a:t>
            </a:r>
            <a:r>
              <a:rPr lang="en-US" dirty="0"/>
              <a:t>. </a:t>
            </a:r>
            <a:r>
              <a:rPr lang="en-US" b="1" dirty="0"/>
              <a:t>Geospatial data</a:t>
            </a:r>
            <a:r>
              <a:rPr lang="en-US" dirty="0"/>
              <a:t>, GIS </a:t>
            </a:r>
            <a:r>
              <a:rPr lang="en-US" b="1" dirty="0"/>
              <a:t>data</a:t>
            </a:r>
            <a:r>
              <a:rPr lang="en-US" dirty="0"/>
              <a:t> or </a:t>
            </a:r>
            <a:r>
              <a:rPr lang="en-US" dirty="0" err="1"/>
              <a:t>geodata</a:t>
            </a:r>
            <a:r>
              <a:rPr lang="en-US" dirty="0"/>
              <a:t> has explicit geographic positioning information included within it, such as a road network from a GIS, or a geo-referenced satellite image</a:t>
            </a:r>
            <a:r>
              <a:rPr lang="en-US" dirty="0" smtClean="0"/>
              <a:t>. </a:t>
            </a:r>
            <a:r>
              <a:rPr lang="en-US" b="1" dirty="0" smtClean="0"/>
              <a:t>Geospatial </a:t>
            </a:r>
            <a:r>
              <a:rPr lang="en-US" b="1" dirty="0"/>
              <a:t>data</a:t>
            </a:r>
            <a:r>
              <a:rPr lang="en-US" dirty="0"/>
              <a:t> may include attribute </a:t>
            </a:r>
            <a:r>
              <a:rPr lang="en-US" b="1" dirty="0"/>
              <a:t>data</a:t>
            </a:r>
            <a:r>
              <a:rPr lang="en-US" dirty="0"/>
              <a:t> that describes the features found in the dataset</a:t>
            </a:r>
            <a:r>
              <a:rPr lang="en-US" dirty="0" smtClean="0"/>
              <a:t>. </a:t>
            </a:r>
            <a:endParaRPr lang="en-US" dirty="0"/>
          </a:p>
        </p:txBody>
      </p:sp>
      <p:sp>
        <p:nvSpPr>
          <p:cNvPr id="4" name="TextBox 3"/>
          <p:cNvSpPr txBox="1"/>
          <p:nvPr/>
        </p:nvSpPr>
        <p:spPr>
          <a:xfrm>
            <a:off x="228600" y="5867400"/>
            <a:ext cx="8644487" cy="523220"/>
          </a:xfrm>
          <a:prstGeom prst="rect">
            <a:avLst/>
          </a:prstGeom>
          <a:noFill/>
        </p:spPr>
        <p:txBody>
          <a:bodyPr wrap="square" rtlCol="0">
            <a:spAutoFit/>
          </a:bodyPr>
          <a:lstStyle/>
          <a:p>
            <a:r>
              <a:rPr lang="en-US" sz="1400" dirty="0" smtClean="0">
                <a:hlinkClick r:id="rId2"/>
              </a:rPr>
              <a:t>What is Geospatial Data? - Research Guides - York University</a:t>
            </a:r>
            <a:r>
              <a:rPr lang="en-US" sz="1400" dirty="0" smtClean="0"/>
              <a:t> (Sep 14, 2015)</a:t>
            </a:r>
          </a:p>
          <a:p>
            <a:r>
              <a:rPr lang="en-US" sz="1400" dirty="0" smtClean="0"/>
              <a:t>researchguides.library.yorku.ca/</a:t>
            </a:r>
            <a:r>
              <a:rPr lang="en-US" sz="1400" dirty="0" err="1" smtClean="0"/>
              <a:t>content.php?pid</a:t>
            </a:r>
            <a:r>
              <a:rPr lang="en-US" sz="1400" dirty="0" smtClean="0"/>
              <a:t>=245987&amp;sid=2176375</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t-IT" dirty="0" smtClean="0">
                <a:hlinkClick r:id="rId2"/>
              </a:rPr>
              <a:t>Define “geospatial data” for a non-GIS professional</a:t>
            </a:r>
            <a:endParaRPr lang="en-US" dirty="0"/>
          </a:p>
        </p:txBody>
      </p:sp>
      <p:sp>
        <p:nvSpPr>
          <p:cNvPr id="3" name="Content Placeholder 2"/>
          <p:cNvSpPr>
            <a:spLocks noGrp="1"/>
          </p:cNvSpPr>
          <p:nvPr>
            <p:ph idx="1"/>
          </p:nvPr>
        </p:nvSpPr>
        <p:spPr/>
        <p:txBody>
          <a:bodyPr>
            <a:normAutofit fontScale="85000" lnSpcReduction="20000"/>
          </a:bodyPr>
          <a:lstStyle/>
          <a:p>
            <a:pPr fontAlgn="t"/>
            <a:r>
              <a:rPr lang="en-US" dirty="0" smtClean="0"/>
              <a:t>Geospatial data is data that includes location as one of its attributes.</a:t>
            </a:r>
          </a:p>
          <a:p>
            <a:pPr fontAlgn="t"/>
            <a:r>
              <a:rPr lang="en-US" dirty="0" smtClean="0"/>
              <a:t>Not necessarily on the surface of the earth (could be above, as in weather, or below, as in ground water)</a:t>
            </a:r>
          </a:p>
          <a:p>
            <a:pPr fontAlgn="t"/>
            <a:r>
              <a:rPr lang="en-US" dirty="0" smtClean="0"/>
              <a:t>a simple list of counties and their estimated populations is NOT geospatial data, unless it includes the location of each county. E. g., if it includes the state and country the county is in, then it would be geospatial.</a:t>
            </a:r>
          </a:p>
          <a:p>
            <a:pPr fontAlgn="t"/>
            <a:r>
              <a:rPr lang="en-US" dirty="0" smtClean="0"/>
              <a:t>CAD data isn't always, but can be geospatial, if it includes the proper coordinate system/projection.</a:t>
            </a:r>
          </a:p>
          <a:p>
            <a:endParaRPr lang="en-US" dirty="0"/>
          </a:p>
        </p:txBody>
      </p:sp>
      <p:sp>
        <p:nvSpPr>
          <p:cNvPr id="4" name="TextBox 3"/>
          <p:cNvSpPr txBox="1"/>
          <p:nvPr/>
        </p:nvSpPr>
        <p:spPr>
          <a:xfrm>
            <a:off x="85238" y="6172200"/>
            <a:ext cx="9058762" cy="523220"/>
          </a:xfrm>
          <a:prstGeom prst="rect">
            <a:avLst/>
          </a:prstGeom>
          <a:noFill/>
        </p:spPr>
        <p:txBody>
          <a:bodyPr wrap="square" rtlCol="0">
            <a:spAutoFit/>
          </a:bodyPr>
          <a:lstStyle/>
          <a:p>
            <a:r>
              <a:rPr lang="it-IT" sz="1400" b="1" dirty="0" smtClean="0"/>
              <a:t>Geographic Information Systems</a:t>
            </a:r>
            <a:br>
              <a:rPr lang="it-IT" sz="1400" b="1" dirty="0" smtClean="0"/>
            </a:br>
            <a:r>
              <a:rPr lang="en-US" sz="1400" dirty="0" smtClean="0"/>
              <a:t>http://gis.stackexchange.com/questions/735/define-geospatial-data-for-a-non-gis-professional</a:t>
            </a:r>
            <a:endParaRPr lang="en-US" sz="1400" dirty="0"/>
          </a:p>
        </p:txBody>
      </p:sp>
      <p:sp>
        <p:nvSpPr>
          <p:cNvPr id="5" name="Rectangle 4"/>
          <p:cNvSpPr/>
          <p:nvPr/>
        </p:nvSpPr>
        <p:spPr>
          <a:xfrm>
            <a:off x="5486400" y="914400"/>
            <a:ext cx="3429000" cy="646331"/>
          </a:xfrm>
          <a:prstGeom prst="rect">
            <a:avLst/>
          </a:prstGeom>
        </p:spPr>
        <p:txBody>
          <a:bodyPr wrap="square">
            <a:spAutoFit/>
          </a:bodyPr>
          <a:lstStyle/>
          <a:p>
            <a:pPr fontAlgn="t"/>
            <a:r>
              <a:rPr lang="en-US" dirty="0" smtClean="0"/>
              <a:t>answered </a:t>
            </a:r>
            <a:r>
              <a:rPr lang="en-US" u="none" strike="noStrike" dirty="0" smtClean="0"/>
              <a:t>Aug 5 '10 at 0:36</a:t>
            </a:r>
            <a:endParaRPr lang="en-US" dirty="0" smtClean="0"/>
          </a:p>
          <a:p>
            <a:pPr fontAlgn="t"/>
            <a:r>
              <a:rPr lang="en-US" dirty="0" smtClean="0">
                <a:hlinkClick r:id="rId3"/>
              </a:rPr>
              <a:t>Don </a:t>
            </a:r>
            <a:r>
              <a:rPr lang="en-US" dirty="0" err="1" smtClean="0">
                <a:hlinkClick r:id="rId3"/>
              </a:rPr>
              <a:t>Meltz</a:t>
            </a:r>
            <a:endParaRPr lang="en-US"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it-IT" dirty="0" smtClean="0">
                <a:hlinkClick r:id="rId2"/>
              </a:rPr>
              <a:t>Define “geospatial data” for a non-GIS professional</a:t>
            </a:r>
            <a:endParaRPr lang="en-US" dirty="0"/>
          </a:p>
        </p:txBody>
      </p:sp>
      <p:sp>
        <p:nvSpPr>
          <p:cNvPr id="3" name="Content Placeholder 2"/>
          <p:cNvSpPr>
            <a:spLocks noGrp="1"/>
          </p:cNvSpPr>
          <p:nvPr>
            <p:ph idx="1"/>
          </p:nvPr>
        </p:nvSpPr>
        <p:spPr/>
        <p:txBody>
          <a:bodyPr>
            <a:normAutofit fontScale="85000" lnSpcReduction="20000"/>
          </a:bodyPr>
          <a:lstStyle/>
          <a:p>
            <a:pPr fontAlgn="t"/>
            <a:r>
              <a:rPr lang="en-US" dirty="0" smtClean="0">
                <a:solidFill>
                  <a:schemeClr val="bg1">
                    <a:lumMod val="85000"/>
                  </a:schemeClr>
                </a:solidFill>
              </a:rPr>
              <a:t>Geospatial data is data that includes location as one of its attributes.</a:t>
            </a:r>
          </a:p>
          <a:p>
            <a:pPr fontAlgn="t"/>
            <a:r>
              <a:rPr lang="en-US" dirty="0" smtClean="0">
                <a:solidFill>
                  <a:schemeClr val="bg1">
                    <a:lumMod val="85000"/>
                  </a:schemeClr>
                </a:solidFill>
              </a:rPr>
              <a:t>Not necessarily on the surface of the earth (could be above, as in weather, or below, as in ground water)</a:t>
            </a:r>
          </a:p>
          <a:p>
            <a:pPr fontAlgn="t"/>
            <a:r>
              <a:rPr lang="en-US" dirty="0" smtClean="0">
                <a:solidFill>
                  <a:schemeClr val="bg1">
                    <a:lumMod val="85000"/>
                  </a:schemeClr>
                </a:solidFill>
              </a:rPr>
              <a:t>a simple list of counties and their estimated populations is NOT geospatial data, unless it includes the location of each county. E. g., if it includes the state and country the county is in, then it would be geospatial.</a:t>
            </a:r>
          </a:p>
          <a:p>
            <a:pPr fontAlgn="t"/>
            <a:r>
              <a:rPr lang="en-US" dirty="0" smtClean="0">
                <a:solidFill>
                  <a:schemeClr val="bg1">
                    <a:lumMod val="85000"/>
                  </a:schemeClr>
                </a:solidFill>
              </a:rPr>
              <a:t>CAD data isn't always, but can be geospatial, if it includes the proper coordinate system/projection.</a:t>
            </a:r>
          </a:p>
          <a:p>
            <a:endParaRPr lang="en-US" dirty="0"/>
          </a:p>
        </p:txBody>
      </p:sp>
      <p:sp>
        <p:nvSpPr>
          <p:cNvPr id="4" name="TextBox 3"/>
          <p:cNvSpPr txBox="1"/>
          <p:nvPr/>
        </p:nvSpPr>
        <p:spPr>
          <a:xfrm>
            <a:off x="85238" y="6334780"/>
            <a:ext cx="9058762" cy="523220"/>
          </a:xfrm>
          <a:prstGeom prst="rect">
            <a:avLst/>
          </a:prstGeom>
          <a:noFill/>
        </p:spPr>
        <p:txBody>
          <a:bodyPr wrap="square" rtlCol="0">
            <a:spAutoFit/>
          </a:bodyPr>
          <a:lstStyle/>
          <a:p>
            <a:r>
              <a:rPr lang="it-IT" sz="1400" b="1" dirty="0" smtClean="0"/>
              <a:t>Geographic Information Systems</a:t>
            </a:r>
            <a:br>
              <a:rPr lang="it-IT" sz="1400" b="1" dirty="0" smtClean="0"/>
            </a:br>
            <a:r>
              <a:rPr lang="en-US" sz="1400" dirty="0" smtClean="0"/>
              <a:t>http://gis.stackexchange.com/questions/735/define-geospatial-data-for-a-non-gis-professional</a:t>
            </a:r>
            <a:endParaRPr lang="en-US" sz="1400" dirty="0"/>
          </a:p>
        </p:txBody>
      </p:sp>
      <p:sp>
        <p:nvSpPr>
          <p:cNvPr id="5" name="Rectangle 4"/>
          <p:cNvSpPr/>
          <p:nvPr/>
        </p:nvSpPr>
        <p:spPr>
          <a:xfrm>
            <a:off x="6019800" y="914400"/>
            <a:ext cx="2895600" cy="646331"/>
          </a:xfrm>
          <a:prstGeom prst="rect">
            <a:avLst/>
          </a:prstGeom>
        </p:spPr>
        <p:txBody>
          <a:bodyPr wrap="square">
            <a:spAutoFit/>
          </a:bodyPr>
          <a:lstStyle/>
          <a:p>
            <a:pPr fontAlgn="t"/>
            <a:r>
              <a:rPr lang="en-US" dirty="0" smtClean="0"/>
              <a:t>answered </a:t>
            </a:r>
            <a:r>
              <a:rPr lang="en-US" u="none" strike="noStrike" dirty="0" smtClean="0"/>
              <a:t>Aug 5 '10 at 0:36</a:t>
            </a:r>
            <a:endParaRPr lang="en-US" dirty="0" smtClean="0"/>
          </a:p>
          <a:p>
            <a:pPr fontAlgn="t"/>
            <a:r>
              <a:rPr lang="en-US" dirty="0" smtClean="0">
                <a:hlinkClick r:id="rId3"/>
              </a:rPr>
              <a:t>Don </a:t>
            </a:r>
            <a:r>
              <a:rPr lang="en-US" dirty="0" err="1" smtClean="0">
                <a:hlinkClick r:id="rId3"/>
              </a:rPr>
              <a:t>Meltz</a:t>
            </a:r>
            <a:endParaRPr lang="en-US" dirty="0"/>
          </a:p>
        </p:txBody>
      </p:sp>
      <p:sp>
        <p:nvSpPr>
          <p:cNvPr id="6" name="TextBox 5"/>
          <p:cNvSpPr txBox="1"/>
          <p:nvPr/>
        </p:nvSpPr>
        <p:spPr>
          <a:xfrm>
            <a:off x="457200" y="2362200"/>
            <a:ext cx="8382000" cy="2954655"/>
          </a:xfrm>
          <a:prstGeom prst="rect">
            <a:avLst/>
          </a:prstGeom>
          <a:noFill/>
        </p:spPr>
        <p:txBody>
          <a:bodyPr wrap="square" rtlCol="0">
            <a:spAutoFit/>
          </a:bodyPr>
          <a:lstStyle/>
          <a:p>
            <a:pPr fontAlgn="t"/>
            <a:r>
              <a:rPr lang="en-US" dirty="0" smtClean="0"/>
              <a:t> </a:t>
            </a:r>
            <a:r>
              <a:rPr lang="en-US" sz="2800" dirty="0" smtClean="0"/>
              <a:t>What I would say is, if it includes enough information for someone to find its location in 3 dimensional space, then it's geospatial data. Specific coordinates (as in GIS data) are not necessarily required. Some might disagree with that, but that's my view. – </a:t>
            </a:r>
            <a:r>
              <a:rPr lang="en-US" sz="2800" dirty="0" smtClean="0">
                <a:hlinkClick r:id="rId3" tooltip="2502 reputation"/>
              </a:rPr>
              <a:t>Don </a:t>
            </a:r>
            <a:r>
              <a:rPr lang="en-US" sz="2800" dirty="0" err="1" smtClean="0">
                <a:hlinkClick r:id="rId3" tooltip="2502 reputation"/>
              </a:rPr>
              <a:t>Meltz</a:t>
            </a:r>
            <a:r>
              <a:rPr lang="en-US" sz="2800" dirty="0" smtClean="0"/>
              <a:t> </a:t>
            </a:r>
            <a:r>
              <a:rPr lang="en-US" sz="2800" dirty="0" smtClean="0">
                <a:hlinkClick r:id="rId2"/>
              </a:rPr>
              <a:t>Aug 5 '10 at 2:09</a:t>
            </a:r>
            <a:endParaRPr lang="en-US" sz="2800" dirty="0" smtClean="0"/>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is statistical data?</a:t>
            </a:r>
            <a:endParaRPr lang="en-US" dirty="0"/>
          </a:p>
        </p:txBody>
      </p:sp>
      <p:sp>
        <p:nvSpPr>
          <p:cNvPr id="3" name="Content Placeholder 2"/>
          <p:cNvSpPr>
            <a:spLocks noGrp="1"/>
          </p:cNvSpPr>
          <p:nvPr>
            <p:ph idx="1"/>
          </p:nvPr>
        </p:nvSpPr>
        <p:spPr/>
        <p:txBody>
          <a:bodyPr>
            <a:normAutofit/>
          </a:bodyPr>
          <a:lstStyle/>
          <a:p>
            <a:r>
              <a:rPr lang="en-US" b="1" dirty="0" smtClean="0"/>
              <a:t>Definition: </a:t>
            </a:r>
            <a:r>
              <a:rPr lang="en-US" dirty="0" smtClean="0"/>
              <a:t>Statistical data refers to data from a survey or administrative source used to produce statistics.</a:t>
            </a:r>
          </a:p>
          <a:p>
            <a:pPr>
              <a:buNone/>
            </a:pPr>
            <a:r>
              <a:rPr lang="en-US" dirty="0" smtClean="0"/>
              <a:t/>
            </a:r>
            <a:br>
              <a:rPr lang="en-US" dirty="0" smtClean="0"/>
            </a:br>
            <a:r>
              <a:rPr lang="en-US" sz="1400" b="1" dirty="0" smtClean="0"/>
              <a:t>Source Publication: </a:t>
            </a:r>
            <a:r>
              <a:rPr lang="en-US" sz="1400" dirty="0" smtClean="0"/>
              <a:t>Measuring the Non-Observed Economy: A Handbook, OECD, IMF, ILO, Interstate Statistical Committee of the Commonwealth of Independent States, 2002, Annex 2, Glossary.</a:t>
            </a:r>
            <a:endParaRPr lang="en-US" sz="1400" dirty="0"/>
          </a:p>
        </p:txBody>
      </p:sp>
      <p:sp>
        <p:nvSpPr>
          <p:cNvPr id="4" name="TextBox 3"/>
          <p:cNvSpPr txBox="1"/>
          <p:nvPr/>
        </p:nvSpPr>
        <p:spPr>
          <a:xfrm>
            <a:off x="4495800" y="5943600"/>
            <a:ext cx="4150495" cy="646331"/>
          </a:xfrm>
          <a:prstGeom prst="rect">
            <a:avLst/>
          </a:prstGeom>
          <a:noFill/>
        </p:spPr>
        <p:txBody>
          <a:bodyPr wrap="none" rtlCol="0">
            <a:spAutoFit/>
          </a:bodyPr>
          <a:lstStyle/>
          <a:p>
            <a:r>
              <a:rPr lang="en-US" dirty="0" smtClean="0">
                <a:hlinkClick r:id="rId2"/>
              </a:rPr>
              <a:t>https://stats.oecd.org/glossary/search.asp</a:t>
            </a:r>
            <a:r>
              <a:rPr lang="en-US" dirty="0" smtClean="0"/>
              <a:t/>
            </a:r>
            <a:br>
              <a:rPr lang="en-US" dirty="0" smtClean="0"/>
            </a:br>
            <a:r>
              <a:rPr lang="en-US" dirty="0" smtClean="0"/>
              <a:t>OECD Glossary</a:t>
            </a:r>
            <a:endParaRPr lang="en-US" dirty="0"/>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is statistics?</a:t>
            </a:r>
            <a:endParaRPr lang="en-US" dirty="0"/>
          </a:p>
        </p:txBody>
      </p:sp>
      <p:sp>
        <p:nvSpPr>
          <p:cNvPr id="3" name="Content Placeholder 2"/>
          <p:cNvSpPr>
            <a:spLocks noGrp="1"/>
          </p:cNvSpPr>
          <p:nvPr>
            <p:ph idx="1"/>
          </p:nvPr>
        </p:nvSpPr>
        <p:spPr/>
        <p:txBody>
          <a:bodyPr>
            <a:normAutofit/>
          </a:bodyPr>
          <a:lstStyle/>
          <a:p>
            <a:r>
              <a:rPr lang="en-US" b="1" dirty="0"/>
              <a:t>Statistics</a:t>
            </a:r>
            <a:r>
              <a:rPr lang="en-US" dirty="0"/>
              <a:t> is the study of the collection, analysis, interpretation, presentation, and organization </a:t>
            </a:r>
            <a:r>
              <a:rPr lang="en-US" dirty="0" smtClean="0"/>
              <a:t>of </a:t>
            </a:r>
            <a:r>
              <a:rPr lang="en-US" b="1" dirty="0" smtClean="0"/>
              <a:t>data</a:t>
            </a:r>
            <a:r>
              <a:rPr lang="en-US" dirty="0"/>
              <a:t>. In applying </a:t>
            </a:r>
            <a:r>
              <a:rPr lang="en-US" b="1" dirty="0"/>
              <a:t>statistics</a:t>
            </a:r>
            <a:r>
              <a:rPr lang="en-US" dirty="0"/>
              <a:t> to, e.g., a scientific, industrial, or societal problem, it is conventional to begin with a </a:t>
            </a:r>
            <a:r>
              <a:rPr lang="en-US" b="1" dirty="0"/>
              <a:t>statistical</a:t>
            </a:r>
            <a:r>
              <a:rPr lang="en-US" dirty="0"/>
              <a:t> population or a </a:t>
            </a:r>
            <a:r>
              <a:rPr lang="en-US" b="1" dirty="0" smtClean="0"/>
              <a:t>statistical </a:t>
            </a:r>
            <a:r>
              <a:rPr lang="en-US" dirty="0" smtClean="0"/>
              <a:t>model </a:t>
            </a:r>
            <a:r>
              <a:rPr lang="en-US" dirty="0"/>
              <a:t>process to be studied.</a:t>
            </a:r>
          </a:p>
          <a:p>
            <a:pPr>
              <a:buNone/>
            </a:pPr>
            <a:endParaRPr lang="en-US" dirty="0"/>
          </a:p>
        </p:txBody>
      </p:sp>
      <p:sp>
        <p:nvSpPr>
          <p:cNvPr id="4" name="TextBox 3"/>
          <p:cNvSpPr txBox="1"/>
          <p:nvPr/>
        </p:nvSpPr>
        <p:spPr>
          <a:xfrm>
            <a:off x="4648200" y="5638800"/>
            <a:ext cx="4262064" cy="923330"/>
          </a:xfrm>
          <a:prstGeom prst="rect">
            <a:avLst/>
          </a:prstGeom>
          <a:noFill/>
        </p:spPr>
        <p:txBody>
          <a:bodyPr wrap="none" rtlCol="0">
            <a:spAutoFit/>
          </a:bodyPr>
          <a:lstStyle/>
          <a:p>
            <a:r>
              <a:rPr lang="en-US" dirty="0" smtClean="0">
                <a:hlinkClick r:id="rId2"/>
              </a:rPr>
              <a:t>Statistics - Wikipedia, the free encyclopedia</a:t>
            </a:r>
            <a:endParaRPr lang="en-US" dirty="0" smtClean="0"/>
          </a:p>
          <a:p>
            <a:r>
              <a:rPr lang="en-US" dirty="0" smtClean="0"/>
              <a:t>https://en.wikipedia.org/wiki/</a:t>
            </a:r>
            <a:r>
              <a:rPr lang="en-US" b="1" dirty="0" smtClean="0"/>
              <a:t>Statistics</a:t>
            </a:r>
            <a:endParaRPr lang="en-US" dirty="0" smtClean="0"/>
          </a:p>
          <a:p>
            <a:endParaRPr lang="en-US" dirty="0"/>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Because statistical data has a geographic dimension most geographers would think of it as “geospatial data” (where the geographic dimension has statistical attributes associated to it)</a:t>
            </a:r>
          </a:p>
          <a:p>
            <a:r>
              <a:rPr lang="en-US" dirty="0" smtClean="0"/>
              <a:t>However, statisticians need to have deep and very explicit descriptive information about how and why their data comes into existence (hence DDI) and the ability to transfer data that exhibits known characteristics and definitions (hence SDMX)</a:t>
            </a:r>
            <a:endParaRPr lang="en-US" dirty="0"/>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So what’s the problem?</a:t>
            </a:r>
            <a:endParaRPr lang="en-US" dirty="0"/>
          </a:p>
        </p:txBody>
      </p:sp>
      <p:sp>
        <p:nvSpPr>
          <p:cNvPr id="3" name="Content Placeholder 2"/>
          <p:cNvSpPr>
            <a:spLocks noGrp="1"/>
          </p:cNvSpPr>
          <p:nvPr>
            <p:ph idx="1"/>
          </p:nvPr>
        </p:nvSpPr>
        <p:spPr/>
        <p:txBody>
          <a:bodyPr>
            <a:normAutofit fontScale="92500"/>
          </a:bodyPr>
          <a:lstStyle/>
          <a:p>
            <a:r>
              <a:rPr lang="en-US" dirty="0" smtClean="0"/>
              <a:t>Geographers have been very good at describing their “space” and have provided a clear “plug in” point for attaching descriptive data about that space.</a:t>
            </a:r>
          </a:p>
          <a:p>
            <a:r>
              <a:rPr lang="en-US" dirty="0" smtClean="0"/>
              <a:t>Statisticians assume there is a geographic or spatial dimension to their data but minimize the description of it based on assumptions, lack of understanding, and the use of the spatial dimension as a means of controlling confidentiality.</a:t>
            </a:r>
            <a:endParaRPr lang="en-US"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What’s needed</a:t>
            </a:r>
            <a:endParaRPr lang="en-US" dirty="0"/>
          </a:p>
        </p:txBody>
      </p:sp>
      <p:sp>
        <p:nvSpPr>
          <p:cNvPr id="3" name="Content Placeholder 2"/>
          <p:cNvSpPr>
            <a:spLocks noGrp="1"/>
          </p:cNvSpPr>
          <p:nvPr>
            <p:ph idx="1"/>
          </p:nvPr>
        </p:nvSpPr>
        <p:spPr/>
        <p:txBody>
          <a:bodyPr/>
          <a:lstStyle/>
          <a:p>
            <a:r>
              <a:rPr lang="en-US" dirty="0" smtClean="0"/>
              <a:t>First a better understanding of what geospatial data is and what it does</a:t>
            </a:r>
          </a:p>
          <a:p>
            <a:r>
              <a:rPr lang="en-US" dirty="0" smtClean="0"/>
              <a:t>How geospatial data is used to associate “attribute” data to a geospatial location and how different types of geospatial information can be layered to support analysis of interactions between those layers.</a:t>
            </a:r>
          </a:p>
          <a:p>
            <a:endParaRPr lang="en-US"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start with spatial data</a:t>
            </a:r>
            <a:endParaRPr lang="en-US" dirty="0"/>
          </a:p>
        </p:txBody>
      </p:sp>
      <p:sp>
        <p:nvSpPr>
          <p:cNvPr id="5" name="Text Placeholder 4"/>
          <p:cNvSpPr>
            <a:spLocks noGrp="1"/>
          </p:cNvSpPr>
          <p:nvPr>
            <p:ph type="body" idx="1"/>
          </p:nvPr>
        </p:nvSpPr>
        <p:spPr>
          <a:xfrm>
            <a:off x="533400" y="1371600"/>
            <a:ext cx="4040188" cy="838200"/>
          </a:xfrm>
        </p:spPr>
        <p:txBody>
          <a:bodyPr/>
          <a:lstStyle/>
          <a:p>
            <a:r>
              <a:rPr lang="en-US" dirty="0" smtClean="0"/>
              <a:t>Raster</a:t>
            </a:r>
            <a:endParaRPr lang="en-US" dirty="0"/>
          </a:p>
        </p:txBody>
      </p:sp>
      <p:sp>
        <p:nvSpPr>
          <p:cNvPr id="7" name="Text Placeholder 6"/>
          <p:cNvSpPr>
            <a:spLocks noGrp="1"/>
          </p:cNvSpPr>
          <p:nvPr>
            <p:ph type="body" sz="half" idx="3"/>
          </p:nvPr>
        </p:nvSpPr>
        <p:spPr>
          <a:xfrm>
            <a:off x="4724400" y="1371600"/>
            <a:ext cx="4041775" cy="838200"/>
          </a:xfrm>
        </p:spPr>
        <p:txBody>
          <a:bodyPr/>
          <a:lstStyle/>
          <a:p>
            <a:r>
              <a:rPr lang="en-US" dirty="0" smtClean="0"/>
              <a:t>Vector</a:t>
            </a:r>
            <a:endParaRPr lang="en-US" dirty="0"/>
          </a:p>
        </p:txBody>
      </p:sp>
      <p:sp>
        <p:nvSpPr>
          <p:cNvPr id="6" name="Content Placeholder 5"/>
          <p:cNvSpPr>
            <a:spLocks noGrp="1"/>
          </p:cNvSpPr>
          <p:nvPr>
            <p:ph sz="quarter" idx="2"/>
          </p:nvPr>
        </p:nvSpPr>
        <p:spPr>
          <a:xfrm>
            <a:off x="457200" y="2133600"/>
            <a:ext cx="4040188" cy="3941763"/>
          </a:xfrm>
        </p:spPr>
        <p:txBody>
          <a:bodyPr/>
          <a:lstStyle/>
          <a:p>
            <a:r>
              <a:rPr lang="en-US" dirty="0"/>
              <a:t>In the raster data model, land cover is represented as:</a:t>
            </a:r>
          </a:p>
          <a:p>
            <a:pPr lvl="1"/>
            <a:r>
              <a:rPr lang="en-US" dirty="0"/>
              <a:t>single square </a:t>
            </a:r>
            <a:r>
              <a:rPr lang="en-US" dirty="0" smtClean="0"/>
              <a:t>cells</a:t>
            </a:r>
            <a:r>
              <a:rPr lang="en-US" dirty="0"/>
              <a:t> </a:t>
            </a:r>
          </a:p>
          <a:p>
            <a:r>
              <a:rPr lang="en-US" dirty="0"/>
              <a:t>Each cell will have a value corresponding to its land cover type.</a:t>
            </a:r>
          </a:p>
          <a:p>
            <a:endParaRPr lang="en-US" dirty="0"/>
          </a:p>
        </p:txBody>
      </p:sp>
      <p:sp>
        <p:nvSpPr>
          <p:cNvPr id="8" name="Content Placeholder 7"/>
          <p:cNvSpPr>
            <a:spLocks noGrp="1"/>
          </p:cNvSpPr>
          <p:nvPr>
            <p:ph sz="quarter" idx="4"/>
          </p:nvPr>
        </p:nvSpPr>
        <p:spPr>
          <a:xfrm>
            <a:off x="4648200" y="2286000"/>
            <a:ext cx="4041775" cy="3941763"/>
          </a:xfrm>
        </p:spPr>
        <p:txBody>
          <a:bodyPr/>
          <a:lstStyle/>
          <a:p>
            <a:r>
              <a:rPr lang="en-US" dirty="0"/>
              <a:t>In the vector data model, features on the earth are represented as</a:t>
            </a:r>
          </a:p>
          <a:p>
            <a:pPr lvl="1"/>
            <a:r>
              <a:rPr lang="en-US" dirty="0"/>
              <a:t>points</a:t>
            </a:r>
          </a:p>
          <a:p>
            <a:pPr lvl="1"/>
            <a:r>
              <a:rPr lang="en-US" dirty="0"/>
              <a:t>lines / routes</a:t>
            </a:r>
          </a:p>
          <a:p>
            <a:pPr lvl="1"/>
            <a:r>
              <a:rPr lang="en-US" dirty="0"/>
              <a:t>polygons / regions</a:t>
            </a:r>
          </a:p>
          <a:p>
            <a:pPr lvl="1"/>
            <a:r>
              <a:rPr lang="en-US" dirty="0"/>
              <a:t>TINs (triangulated irregular networks)</a:t>
            </a:r>
          </a:p>
          <a:p>
            <a:endParaRPr lang="en-US" dirty="0"/>
          </a:p>
        </p:txBody>
      </p:sp>
      <p:sp>
        <p:nvSpPr>
          <p:cNvPr id="4" name="TextBox 3"/>
          <p:cNvSpPr txBox="1"/>
          <p:nvPr/>
        </p:nvSpPr>
        <p:spPr>
          <a:xfrm>
            <a:off x="2209800" y="6248400"/>
            <a:ext cx="6481070" cy="369332"/>
          </a:xfrm>
          <a:prstGeom prst="rect">
            <a:avLst/>
          </a:prstGeom>
          <a:noFill/>
        </p:spPr>
        <p:txBody>
          <a:bodyPr wrap="none" rtlCol="0">
            <a:spAutoFit/>
          </a:bodyPr>
          <a:lstStyle/>
          <a:p>
            <a:r>
              <a:rPr lang="en-US" dirty="0" smtClean="0"/>
              <a:t>http://gis.washington.edu/phurvitz/professional/SSI/datatype.html</a:t>
            </a: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start with spatial data</a:t>
            </a:r>
            <a:endParaRPr lang="en-US" dirty="0"/>
          </a:p>
        </p:txBody>
      </p:sp>
      <p:sp>
        <p:nvSpPr>
          <p:cNvPr id="5" name="Text Placeholder 4"/>
          <p:cNvSpPr>
            <a:spLocks noGrp="1"/>
          </p:cNvSpPr>
          <p:nvPr>
            <p:ph type="body" idx="1"/>
          </p:nvPr>
        </p:nvSpPr>
        <p:spPr>
          <a:xfrm>
            <a:off x="457200" y="1524000"/>
            <a:ext cx="4040188" cy="838200"/>
          </a:xfrm>
        </p:spPr>
        <p:txBody>
          <a:bodyPr/>
          <a:lstStyle/>
          <a:p>
            <a:r>
              <a:rPr lang="en-US" dirty="0" smtClean="0"/>
              <a:t>Raster</a:t>
            </a:r>
            <a:endParaRPr lang="en-US" dirty="0"/>
          </a:p>
        </p:txBody>
      </p:sp>
      <p:sp>
        <p:nvSpPr>
          <p:cNvPr id="7" name="Text Placeholder 6"/>
          <p:cNvSpPr>
            <a:spLocks noGrp="1"/>
          </p:cNvSpPr>
          <p:nvPr>
            <p:ph type="body" sz="half" idx="3"/>
          </p:nvPr>
        </p:nvSpPr>
        <p:spPr>
          <a:xfrm>
            <a:off x="4572000" y="1524000"/>
            <a:ext cx="4041775" cy="838200"/>
          </a:xfrm>
        </p:spPr>
        <p:txBody>
          <a:bodyPr/>
          <a:lstStyle/>
          <a:p>
            <a:r>
              <a:rPr lang="en-US" dirty="0" smtClean="0"/>
              <a:t>Vector</a:t>
            </a:r>
            <a:endParaRPr lang="en-US" dirty="0"/>
          </a:p>
        </p:txBody>
      </p:sp>
      <p:pic>
        <p:nvPicPr>
          <p:cNvPr id="10" name="Content Placeholder 9" descr="Rastor.png"/>
          <p:cNvPicPr>
            <a:picLocks noGrp="1" noChangeAspect="1"/>
          </p:cNvPicPr>
          <p:nvPr>
            <p:ph sz="quarter" idx="2"/>
          </p:nvPr>
        </p:nvPicPr>
        <p:blipFill>
          <a:blip r:embed="rId2" cstate="print"/>
          <a:stretch>
            <a:fillRect/>
          </a:stretch>
        </p:blipFill>
        <p:spPr>
          <a:xfrm>
            <a:off x="381000" y="3200400"/>
            <a:ext cx="3733800" cy="1489173"/>
          </a:xfrm>
        </p:spPr>
      </p:pic>
      <p:pic>
        <p:nvPicPr>
          <p:cNvPr id="9" name="Content Placeholder 8" descr="Vector.png"/>
          <p:cNvPicPr>
            <a:picLocks noGrp="1" noChangeAspect="1"/>
          </p:cNvPicPr>
          <p:nvPr>
            <p:ph sz="quarter" idx="4"/>
          </p:nvPr>
        </p:nvPicPr>
        <p:blipFill>
          <a:blip r:embed="rId3" cstate="print"/>
          <a:stretch>
            <a:fillRect/>
          </a:stretch>
        </p:blipFill>
        <p:spPr>
          <a:xfrm>
            <a:off x="4800600" y="3200400"/>
            <a:ext cx="4038600" cy="1447800"/>
          </a:xfrm>
        </p:spPr>
      </p:pic>
      <p:sp>
        <p:nvSpPr>
          <p:cNvPr id="4" name="TextBox 3"/>
          <p:cNvSpPr txBox="1"/>
          <p:nvPr/>
        </p:nvSpPr>
        <p:spPr>
          <a:xfrm>
            <a:off x="2209800" y="6248400"/>
            <a:ext cx="6481070" cy="369332"/>
          </a:xfrm>
          <a:prstGeom prst="rect">
            <a:avLst/>
          </a:prstGeom>
          <a:noFill/>
        </p:spPr>
        <p:txBody>
          <a:bodyPr wrap="none" rtlCol="0">
            <a:spAutoFit/>
          </a:bodyPr>
          <a:lstStyle/>
          <a:p>
            <a:r>
              <a:rPr lang="en-US" dirty="0" smtClean="0"/>
              <a:t>http://gis.washington.edu/phurvitz/professional/SSI/datatype.html</a:t>
            </a:r>
            <a:endParaRPr lang="en-US" dirty="0"/>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Let’s start with spatial data</a:t>
            </a:r>
            <a:endParaRPr lang="en-US" dirty="0"/>
          </a:p>
        </p:txBody>
      </p:sp>
      <p:sp>
        <p:nvSpPr>
          <p:cNvPr id="5" name="Text Placeholder 4"/>
          <p:cNvSpPr>
            <a:spLocks noGrp="1"/>
          </p:cNvSpPr>
          <p:nvPr>
            <p:ph type="body" idx="1"/>
          </p:nvPr>
        </p:nvSpPr>
        <p:spPr>
          <a:xfrm>
            <a:off x="533400" y="1219200"/>
            <a:ext cx="4040188" cy="838200"/>
          </a:xfrm>
        </p:spPr>
        <p:txBody>
          <a:bodyPr/>
          <a:lstStyle/>
          <a:p>
            <a:r>
              <a:rPr lang="en-US" dirty="0" err="1" smtClean="0"/>
              <a:t>Rasters</a:t>
            </a:r>
            <a:r>
              <a:rPr lang="en-US" dirty="0" smtClean="0"/>
              <a:t> are good at:</a:t>
            </a:r>
            <a:endParaRPr lang="en-US" dirty="0"/>
          </a:p>
        </p:txBody>
      </p:sp>
      <p:sp>
        <p:nvSpPr>
          <p:cNvPr id="7" name="Text Placeholder 6"/>
          <p:cNvSpPr>
            <a:spLocks noGrp="1"/>
          </p:cNvSpPr>
          <p:nvPr>
            <p:ph type="body" sz="half" idx="3"/>
          </p:nvPr>
        </p:nvSpPr>
        <p:spPr>
          <a:xfrm>
            <a:off x="4572000" y="1219200"/>
            <a:ext cx="4041775" cy="838200"/>
          </a:xfrm>
        </p:spPr>
        <p:txBody>
          <a:bodyPr/>
          <a:lstStyle/>
          <a:p>
            <a:r>
              <a:rPr lang="en-US" dirty="0" smtClean="0"/>
              <a:t>Vectors are good at:</a:t>
            </a:r>
            <a:endParaRPr lang="en-US" dirty="0"/>
          </a:p>
        </p:txBody>
      </p:sp>
      <p:sp>
        <p:nvSpPr>
          <p:cNvPr id="6" name="Content Placeholder 5"/>
          <p:cNvSpPr>
            <a:spLocks noGrp="1"/>
          </p:cNvSpPr>
          <p:nvPr>
            <p:ph sz="quarter" idx="2"/>
          </p:nvPr>
        </p:nvSpPr>
        <p:spPr>
          <a:xfrm>
            <a:off x="533400" y="1752600"/>
            <a:ext cx="4040188" cy="4302125"/>
          </a:xfrm>
        </p:spPr>
        <p:txBody>
          <a:bodyPr>
            <a:normAutofit fontScale="77500" lnSpcReduction="20000"/>
          </a:bodyPr>
          <a:lstStyle/>
          <a:p>
            <a:r>
              <a:rPr lang="en-US" sz="2600" dirty="0" smtClean="0"/>
              <a:t>representing </a:t>
            </a:r>
            <a:r>
              <a:rPr lang="en-US" sz="2600" dirty="0"/>
              <a:t>continuous data (e.g., slope, elevation, chemical concentrations)</a:t>
            </a:r>
          </a:p>
          <a:p>
            <a:r>
              <a:rPr lang="en-US" sz="2600" dirty="0"/>
              <a:t>representing multiple feature types (e.g., points, lines, and polygons) as single feature types (cells)</a:t>
            </a:r>
          </a:p>
          <a:p>
            <a:r>
              <a:rPr lang="en-US" sz="2600" dirty="0"/>
              <a:t>rapid computations ("map algebra") in which raster layers are treated as elements in mathematical expressions</a:t>
            </a:r>
          </a:p>
          <a:p>
            <a:r>
              <a:rPr lang="en-US" sz="2600" dirty="0"/>
              <a:t>analysis of multi-layer or multivariate data (e.g., satellite image processing and analysis)</a:t>
            </a:r>
          </a:p>
          <a:p>
            <a:r>
              <a:rPr lang="en-US" sz="2600" dirty="0"/>
              <a:t>hogging disk space</a:t>
            </a:r>
          </a:p>
          <a:p>
            <a:endParaRPr lang="en-US" dirty="0"/>
          </a:p>
        </p:txBody>
      </p:sp>
      <p:sp>
        <p:nvSpPr>
          <p:cNvPr id="8" name="Content Placeholder 7"/>
          <p:cNvSpPr>
            <a:spLocks noGrp="1"/>
          </p:cNvSpPr>
          <p:nvPr>
            <p:ph sz="quarter" idx="4"/>
          </p:nvPr>
        </p:nvSpPr>
        <p:spPr>
          <a:xfrm>
            <a:off x="4572000" y="1752600"/>
            <a:ext cx="4041775" cy="2473325"/>
          </a:xfrm>
        </p:spPr>
        <p:txBody>
          <a:bodyPr>
            <a:normAutofit fontScale="85000" lnSpcReduction="20000"/>
          </a:bodyPr>
          <a:lstStyle/>
          <a:p>
            <a:r>
              <a:rPr lang="en-US" dirty="0"/>
              <a:t>accurately representing true shape and size</a:t>
            </a:r>
          </a:p>
          <a:p>
            <a:r>
              <a:rPr lang="en-US" dirty="0"/>
              <a:t>representing non-continuous data (e.g., rivers, political boundaries, road lines, mountain peaks)</a:t>
            </a:r>
          </a:p>
          <a:p>
            <a:r>
              <a:rPr lang="en-US" dirty="0"/>
              <a:t>creating aesthetically pleasing maps</a:t>
            </a:r>
          </a:p>
          <a:p>
            <a:r>
              <a:rPr lang="en-US" dirty="0"/>
              <a:t>conserving disk </a:t>
            </a:r>
            <a:r>
              <a:rPr lang="en-US" dirty="0" smtClean="0"/>
              <a:t>space</a:t>
            </a:r>
            <a:endParaRPr lang="en-US" dirty="0"/>
          </a:p>
        </p:txBody>
      </p:sp>
      <p:sp>
        <p:nvSpPr>
          <p:cNvPr id="4" name="TextBox 3"/>
          <p:cNvSpPr txBox="1"/>
          <p:nvPr/>
        </p:nvSpPr>
        <p:spPr>
          <a:xfrm>
            <a:off x="2209800" y="6248400"/>
            <a:ext cx="6481070" cy="369332"/>
          </a:xfrm>
          <a:prstGeom prst="rect">
            <a:avLst/>
          </a:prstGeom>
          <a:noFill/>
        </p:spPr>
        <p:txBody>
          <a:bodyPr wrap="none" rtlCol="0">
            <a:spAutoFit/>
          </a:bodyPr>
          <a:lstStyle/>
          <a:p>
            <a:r>
              <a:rPr lang="en-US" dirty="0" smtClean="0"/>
              <a:t>http://gis.washington.edu/phurvitz/professional/SSI/datatype.html</a:t>
            </a:r>
            <a:endParaRPr lang="en-US" dirty="0"/>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lstStyle/>
          <a:p>
            <a:r>
              <a:rPr lang="en-US" dirty="0" smtClean="0"/>
              <a:t>Storage layers</a:t>
            </a:r>
            <a:endParaRPr lang="en-US" dirty="0"/>
          </a:p>
        </p:txBody>
      </p:sp>
      <p:pic>
        <p:nvPicPr>
          <p:cNvPr id="9" name="Content Placeholder 8" descr="layers.png"/>
          <p:cNvPicPr>
            <a:picLocks noGrp="1" noChangeAspect="1"/>
          </p:cNvPicPr>
          <p:nvPr>
            <p:ph idx="1"/>
          </p:nvPr>
        </p:nvPicPr>
        <p:blipFill>
          <a:blip r:embed="rId2" cstate="print"/>
          <a:stretch>
            <a:fillRect/>
          </a:stretch>
        </p:blipFill>
        <p:spPr>
          <a:xfrm>
            <a:off x="1295400" y="1266632"/>
            <a:ext cx="6400800" cy="5072332"/>
          </a:xfrm>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Associating Attributes</a:t>
            </a:r>
            <a:endParaRPr lang="en-US" dirty="0"/>
          </a:p>
        </p:txBody>
      </p:sp>
      <p:sp>
        <p:nvSpPr>
          <p:cNvPr id="3" name="Content Placeholder 2"/>
          <p:cNvSpPr>
            <a:spLocks noGrp="1"/>
          </p:cNvSpPr>
          <p:nvPr>
            <p:ph idx="1"/>
          </p:nvPr>
        </p:nvSpPr>
        <p:spPr>
          <a:xfrm>
            <a:off x="457200" y="1600200"/>
            <a:ext cx="8229600" cy="4876800"/>
          </a:xfrm>
        </p:spPr>
        <p:txBody>
          <a:bodyPr>
            <a:normAutofit fontScale="92500" lnSpcReduction="20000"/>
          </a:bodyPr>
          <a:lstStyle/>
          <a:p>
            <a:r>
              <a:rPr lang="en-US" dirty="0" smtClean="0"/>
              <a:t>Attributes are attached to spatial objects i.e.</a:t>
            </a:r>
          </a:p>
          <a:p>
            <a:pPr lvl="1"/>
            <a:r>
              <a:rPr lang="en-US" dirty="0" err="1" smtClean="0"/>
              <a:t>Rastor</a:t>
            </a:r>
            <a:r>
              <a:rPr lang="en-US" dirty="0" smtClean="0"/>
              <a:t> grid squares</a:t>
            </a:r>
          </a:p>
          <a:p>
            <a:pPr lvl="1"/>
            <a:r>
              <a:rPr lang="en-US" dirty="0" smtClean="0"/>
              <a:t>Vector</a:t>
            </a:r>
          </a:p>
          <a:p>
            <a:pPr lvl="2"/>
            <a:r>
              <a:rPr lang="en-US" dirty="0" smtClean="0"/>
              <a:t>Points (single coordinate point)</a:t>
            </a:r>
          </a:p>
          <a:p>
            <a:pPr lvl="2"/>
            <a:r>
              <a:rPr lang="en-US" dirty="0" smtClean="0"/>
              <a:t>Polygons (a minimum of 4 points where first and last point are the same)</a:t>
            </a:r>
          </a:p>
          <a:p>
            <a:pPr lvl="2"/>
            <a:r>
              <a:rPr lang="en-US" dirty="0" smtClean="0"/>
              <a:t>Lines (end points linked by a “straight” line)</a:t>
            </a:r>
          </a:p>
          <a:p>
            <a:pPr lvl="2"/>
            <a:r>
              <a:rPr lang="en-US" dirty="0" smtClean="0"/>
              <a:t>Tins (Triangulated irregular networks)</a:t>
            </a:r>
          </a:p>
          <a:p>
            <a:pPr lvl="2"/>
            <a:r>
              <a:rPr lang="en-US" dirty="0" smtClean="0"/>
              <a:t>Linear rings (point and radius)</a:t>
            </a:r>
          </a:p>
          <a:p>
            <a:r>
              <a:rPr lang="en-US" dirty="0" smtClean="0"/>
              <a:t>In order to attach statistical data to a specific spatial object, the data must contain sufficient information to unambiguously identify the associated spatial object.</a:t>
            </a:r>
            <a:endParaRPr lang="en-US" dirty="0"/>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What does that mean?</a:t>
            </a:r>
            <a:endParaRPr lang="en-US" dirty="0"/>
          </a:p>
        </p:txBody>
      </p:sp>
      <p:sp>
        <p:nvSpPr>
          <p:cNvPr id="3" name="Content Placeholder 2"/>
          <p:cNvSpPr>
            <a:spLocks noGrp="1"/>
          </p:cNvSpPr>
          <p:nvPr>
            <p:ph idx="1"/>
          </p:nvPr>
        </p:nvSpPr>
        <p:spPr/>
        <p:txBody>
          <a:bodyPr>
            <a:normAutofit lnSpcReduction="10000"/>
          </a:bodyPr>
          <a:lstStyle/>
          <a:p>
            <a:r>
              <a:rPr lang="en-US" dirty="0" smtClean="0"/>
              <a:t>Statistical data sets must either include the specific geographic coordinates needed to fix a location in space, or</a:t>
            </a:r>
          </a:p>
          <a:p>
            <a:r>
              <a:rPr lang="en-US" dirty="0" smtClean="0"/>
              <a:t>Provide sufficient naming information to associate statistical data to a described location found in a geospatial file by some form of standard naming structure</a:t>
            </a:r>
          </a:p>
          <a:p>
            <a:pPr lvl="1"/>
            <a:r>
              <a:rPr lang="en-US" dirty="0" smtClean="0"/>
              <a:t>Identify spatial type</a:t>
            </a:r>
          </a:p>
          <a:p>
            <a:pPr lvl="1"/>
            <a:r>
              <a:rPr lang="en-US" dirty="0" smtClean="0"/>
              <a:t>Naming structure</a:t>
            </a:r>
          </a:p>
          <a:p>
            <a:pPr lvl="1"/>
            <a:r>
              <a:rPr lang="en-US" dirty="0" smtClean="0"/>
              <a:t>Specific location name</a:t>
            </a:r>
            <a:endParaRPr lang="en-US" dirty="0"/>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153400" cy="1143000"/>
          </a:xfrm>
        </p:spPr>
        <p:txBody>
          <a:bodyPr>
            <a:normAutofit fontScale="90000"/>
          </a:bodyPr>
          <a:lstStyle/>
          <a:p>
            <a:r>
              <a:rPr lang="en-US" dirty="0" smtClean="0"/>
              <a:t>The basics of geospatial description</a:t>
            </a:r>
            <a:endParaRPr lang="en-US" dirty="0"/>
          </a:p>
        </p:txBody>
      </p:sp>
      <p:sp>
        <p:nvSpPr>
          <p:cNvPr id="3" name="Content Placeholder 2"/>
          <p:cNvSpPr>
            <a:spLocks noGrp="1"/>
          </p:cNvSpPr>
          <p:nvPr>
            <p:ph idx="1"/>
          </p:nvPr>
        </p:nvSpPr>
        <p:spPr/>
        <p:txBody>
          <a:bodyPr/>
          <a:lstStyle/>
          <a:p>
            <a:r>
              <a:rPr lang="en-US" dirty="0" smtClean="0"/>
              <a:t>Everything is made up of 3 pieces of information:</a:t>
            </a:r>
          </a:p>
          <a:p>
            <a:pPr lvl="1"/>
            <a:r>
              <a:rPr lang="en-US" dirty="0" smtClean="0"/>
              <a:t>Height (Longitude) </a:t>
            </a:r>
          </a:p>
          <a:p>
            <a:pPr lvl="1"/>
            <a:r>
              <a:rPr lang="en-US" dirty="0" smtClean="0"/>
              <a:t>Width (Latitude) </a:t>
            </a:r>
          </a:p>
          <a:p>
            <a:pPr lvl="1"/>
            <a:r>
              <a:rPr lang="en-US" dirty="0" smtClean="0"/>
              <a:t>Depth (Elevation) </a:t>
            </a:r>
          </a:p>
          <a:p>
            <a:r>
              <a:rPr lang="en-US" dirty="0" smtClean="0"/>
              <a:t>Social science data tends to assume elevation as the surface of the earth unless otherwise specified</a:t>
            </a:r>
            <a:endParaRPr lang="en-US" dirty="0"/>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Focus on common spatial types in statistical data</a:t>
            </a:r>
            <a:endParaRPr lang="en-US" dirty="0"/>
          </a:p>
        </p:txBody>
      </p:sp>
      <p:sp>
        <p:nvSpPr>
          <p:cNvPr id="3" name="Content Placeholder 2"/>
          <p:cNvSpPr>
            <a:spLocks noGrp="1"/>
          </p:cNvSpPr>
          <p:nvPr>
            <p:ph idx="1"/>
          </p:nvPr>
        </p:nvSpPr>
        <p:spPr/>
        <p:txBody>
          <a:bodyPr>
            <a:normAutofit fontScale="77500" lnSpcReduction="20000"/>
          </a:bodyPr>
          <a:lstStyle/>
          <a:p>
            <a:r>
              <a:rPr lang="en-US" sz="4100" b="1" dirty="0" smtClean="0"/>
              <a:t>Point </a:t>
            </a:r>
          </a:p>
          <a:p>
            <a:pPr lvl="1"/>
            <a:r>
              <a:rPr lang="en-US" dirty="0" smtClean="0"/>
              <a:t>Defined by 2 (or 3) part number</a:t>
            </a:r>
          </a:p>
          <a:p>
            <a:pPr lvl="1"/>
            <a:r>
              <a:rPr lang="en-US" dirty="0" smtClean="0"/>
              <a:t>Common case on the surface of the earth: longitude and latitude express as a decimal</a:t>
            </a:r>
          </a:p>
          <a:p>
            <a:pPr lvl="1"/>
            <a:r>
              <a:rPr lang="en-US" dirty="0" smtClean="0"/>
              <a:t>Common case on an image: Horizontal and vertical offset from a specified location on an image (center, upper left corner, etc.)</a:t>
            </a:r>
          </a:p>
          <a:p>
            <a:pPr lvl="1"/>
            <a:r>
              <a:rPr lang="en-US" dirty="0" smtClean="0"/>
              <a:t>A point doesn’t move, but what it represents might</a:t>
            </a:r>
          </a:p>
          <a:p>
            <a:pPr>
              <a:buNone/>
            </a:pPr>
            <a:r>
              <a:rPr lang="en-US" dirty="0" smtClean="0"/>
              <a:t>Examples in statistical data:</a:t>
            </a:r>
          </a:p>
          <a:p>
            <a:r>
              <a:rPr lang="en-US" dirty="0" smtClean="0"/>
              <a:t>Address</a:t>
            </a:r>
          </a:p>
          <a:p>
            <a:r>
              <a:rPr lang="en-US" dirty="0" err="1" smtClean="0"/>
              <a:t>Centroid</a:t>
            </a:r>
            <a:r>
              <a:rPr lang="en-US" dirty="0" smtClean="0"/>
              <a:t> of a polygon (i.e. a City, Country, etc.)</a:t>
            </a:r>
          </a:p>
          <a:p>
            <a:r>
              <a:rPr lang="en-US" dirty="0" smtClean="0"/>
              <a:t>Event location</a:t>
            </a:r>
          </a:p>
          <a:p>
            <a:r>
              <a:rPr lang="en-US" dirty="0" smtClean="0"/>
              <a:t>Position of an object within a polygon</a:t>
            </a:r>
            <a:endParaRPr lang="en-US" dirty="0"/>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Focus on common spatial types in statistical data</a:t>
            </a:r>
            <a:endParaRPr lang="en-US" dirty="0"/>
          </a:p>
        </p:txBody>
      </p:sp>
      <p:sp>
        <p:nvSpPr>
          <p:cNvPr id="3" name="Content Placeholder 2"/>
          <p:cNvSpPr>
            <a:spLocks noGrp="1"/>
          </p:cNvSpPr>
          <p:nvPr>
            <p:ph idx="1"/>
          </p:nvPr>
        </p:nvSpPr>
        <p:spPr>
          <a:xfrm>
            <a:off x="457200" y="1371600"/>
            <a:ext cx="8229600" cy="5486400"/>
          </a:xfrm>
        </p:spPr>
        <p:txBody>
          <a:bodyPr>
            <a:normAutofit fontScale="70000" lnSpcReduction="20000"/>
          </a:bodyPr>
          <a:lstStyle/>
          <a:p>
            <a:r>
              <a:rPr lang="en-US" sz="4600" b="1" dirty="0" smtClean="0"/>
              <a:t>Line</a:t>
            </a:r>
          </a:p>
          <a:p>
            <a:pPr lvl="1"/>
            <a:r>
              <a:rPr lang="en-US" sz="3100" dirty="0" smtClean="0"/>
              <a:t>Defined by 2 points and the shortest distance between them </a:t>
            </a:r>
          </a:p>
          <a:p>
            <a:pPr lvl="1"/>
            <a:r>
              <a:rPr lang="en-US" sz="3100" dirty="0" smtClean="0"/>
              <a:t>Common case on the surface of the earth: River, segment of a polygon boundary</a:t>
            </a:r>
          </a:p>
          <a:p>
            <a:pPr lvl="1"/>
            <a:r>
              <a:rPr lang="en-US" sz="3100" dirty="0" smtClean="0"/>
              <a:t>Common case on an image: Vein in an MRI</a:t>
            </a:r>
          </a:p>
          <a:p>
            <a:pPr lvl="1"/>
            <a:r>
              <a:rPr lang="en-US" sz="3100" dirty="0" smtClean="0"/>
              <a:t>A line can change length or direction, the type of shape it represents, and the specific name of the shape</a:t>
            </a:r>
          </a:p>
          <a:p>
            <a:pPr>
              <a:buNone/>
            </a:pPr>
            <a:r>
              <a:rPr lang="en-US" sz="3600" dirty="0" smtClean="0"/>
              <a:t>Examples in statistical data:</a:t>
            </a:r>
          </a:p>
          <a:p>
            <a:r>
              <a:rPr lang="en-US" sz="3600" dirty="0" smtClean="0"/>
              <a:t>Street</a:t>
            </a:r>
          </a:p>
          <a:p>
            <a:r>
              <a:rPr lang="en-US" sz="3600" dirty="0" smtClean="0"/>
              <a:t>Segment of a polygon (i.e. a City boarder, Country boarder, etc.)</a:t>
            </a:r>
          </a:p>
          <a:p>
            <a:r>
              <a:rPr lang="en-US" sz="3600" dirty="0" smtClean="0"/>
              <a:t>River</a:t>
            </a:r>
          </a:p>
          <a:p>
            <a:r>
              <a:rPr lang="en-US" sz="3600" dirty="0" smtClean="0"/>
              <a:t>Route (flight path, transport route)</a:t>
            </a:r>
          </a:p>
          <a:p>
            <a:r>
              <a:rPr lang="en-US" sz="3600" dirty="0" smtClean="0"/>
              <a:t>Railway line</a:t>
            </a:r>
            <a:endParaRPr lang="en-US" sz="3600" dirty="0"/>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Focus on common spatial types in statistical data</a:t>
            </a:r>
            <a:endParaRPr lang="en-US" dirty="0"/>
          </a:p>
        </p:txBody>
      </p:sp>
      <p:sp>
        <p:nvSpPr>
          <p:cNvPr id="3" name="Content Placeholder 2"/>
          <p:cNvSpPr>
            <a:spLocks noGrp="1"/>
          </p:cNvSpPr>
          <p:nvPr>
            <p:ph idx="1"/>
          </p:nvPr>
        </p:nvSpPr>
        <p:spPr>
          <a:xfrm>
            <a:off x="457200" y="1600200"/>
            <a:ext cx="8229600" cy="5105400"/>
          </a:xfrm>
        </p:spPr>
        <p:txBody>
          <a:bodyPr>
            <a:normAutofit fontScale="70000" lnSpcReduction="20000"/>
          </a:bodyPr>
          <a:lstStyle/>
          <a:p>
            <a:r>
              <a:rPr lang="en-US" sz="4600" b="1" dirty="0" smtClean="0"/>
              <a:t>Polygon</a:t>
            </a:r>
          </a:p>
          <a:p>
            <a:pPr lvl="1"/>
            <a:r>
              <a:rPr lang="en-US" sz="3100" dirty="0" smtClean="0"/>
              <a:t>Defined by at least 4 ordered points with first and last being the same point (each point pair in the order represents a line)</a:t>
            </a:r>
          </a:p>
          <a:p>
            <a:pPr lvl="1"/>
            <a:r>
              <a:rPr lang="en-US" sz="3100" dirty="0" smtClean="0"/>
              <a:t>Common case on the surface of the earth: Country boundaries expressed as a series of line segments</a:t>
            </a:r>
          </a:p>
          <a:p>
            <a:pPr lvl="1"/>
            <a:r>
              <a:rPr lang="en-US" sz="3100" dirty="0" smtClean="0"/>
              <a:t>Common case on an image: Region of a tumor on an MRI</a:t>
            </a:r>
          </a:p>
          <a:p>
            <a:pPr lvl="1"/>
            <a:r>
              <a:rPr lang="en-US" sz="3100" dirty="0" smtClean="0"/>
              <a:t>A polygon can change shape, the type of shape it represents, and the specific name of the shape</a:t>
            </a:r>
          </a:p>
          <a:p>
            <a:pPr>
              <a:buNone/>
            </a:pPr>
            <a:r>
              <a:rPr lang="en-US" sz="3600" dirty="0" smtClean="0"/>
              <a:t>Examples in statistical data:</a:t>
            </a:r>
          </a:p>
          <a:p>
            <a:r>
              <a:rPr lang="en-US" sz="3600" dirty="0" smtClean="0"/>
              <a:t>Country boundary</a:t>
            </a:r>
          </a:p>
          <a:p>
            <a:r>
              <a:rPr lang="en-US" sz="3600" dirty="0" smtClean="0"/>
              <a:t>Lake boundary</a:t>
            </a:r>
          </a:p>
          <a:p>
            <a:r>
              <a:rPr lang="en-US" sz="3600" dirty="0" smtClean="0"/>
              <a:t>Region boundary (geographic or non-geographic)</a:t>
            </a:r>
          </a:p>
          <a:p>
            <a:r>
              <a:rPr lang="en-US" sz="3600" dirty="0" smtClean="0"/>
              <a:t>Aggregations of smaller polygons (U.S. Metropolitan Areas)</a:t>
            </a:r>
          </a:p>
          <a:p>
            <a:endParaRPr lang="en-US" dirty="0" smtClean="0"/>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Linking statistical data at the spatial layer</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What type of space is it?</a:t>
            </a:r>
          </a:p>
          <a:p>
            <a:pPr lvl="1"/>
            <a:r>
              <a:rPr lang="en-US" dirty="0" smtClean="0"/>
              <a:t>Is it a country, region, tract, etc.</a:t>
            </a:r>
          </a:p>
          <a:p>
            <a:pPr lvl="1"/>
            <a:r>
              <a:rPr lang="en-US" dirty="0" smtClean="0"/>
              <a:t>Is it described in an organized way</a:t>
            </a:r>
          </a:p>
          <a:p>
            <a:pPr lvl="2"/>
            <a:r>
              <a:rPr lang="en-US" dirty="0" smtClean="0"/>
              <a:t>NUTS system</a:t>
            </a:r>
          </a:p>
          <a:p>
            <a:pPr lvl="2"/>
            <a:r>
              <a:rPr lang="en-US" dirty="0" smtClean="0"/>
              <a:t>FIPS system (U.S)</a:t>
            </a:r>
          </a:p>
          <a:p>
            <a:r>
              <a:rPr lang="en-US" dirty="0" smtClean="0"/>
              <a:t>Which space of that type?</a:t>
            </a:r>
          </a:p>
          <a:p>
            <a:pPr lvl="1"/>
            <a:r>
              <a:rPr lang="en-US" dirty="0" smtClean="0"/>
              <a:t>Unique name</a:t>
            </a:r>
          </a:p>
          <a:p>
            <a:pPr lvl="1"/>
            <a:r>
              <a:rPr lang="en-US" dirty="0" smtClean="0"/>
              <a:t>Coding system (single string or component parts)</a:t>
            </a:r>
          </a:p>
          <a:p>
            <a:r>
              <a:rPr lang="en-US" dirty="0" smtClean="0"/>
              <a:t>Do the time frames match?</a:t>
            </a:r>
          </a:p>
          <a:p>
            <a:pPr lvl="1"/>
            <a:r>
              <a:rPr lang="en-US" dirty="0" smtClean="0"/>
              <a:t>That’s the geographic time frame…remember polygons change shape</a:t>
            </a:r>
            <a:endParaRPr lang="en-US" dirty="0"/>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What type of space is it?</a:t>
            </a:r>
            <a:endParaRPr lang="en-US" dirty="0" smtClean="0"/>
          </a:p>
        </p:txBody>
      </p:sp>
      <p:sp>
        <p:nvSpPr>
          <p:cNvPr id="3" name="Content Placeholder 2"/>
          <p:cNvSpPr>
            <a:spLocks noGrp="1"/>
          </p:cNvSpPr>
          <p:nvPr>
            <p:ph idx="1"/>
          </p:nvPr>
        </p:nvSpPr>
        <p:spPr/>
        <p:txBody>
          <a:bodyPr>
            <a:normAutofit fontScale="92500" lnSpcReduction="20000"/>
          </a:bodyPr>
          <a:lstStyle/>
          <a:p>
            <a:r>
              <a:rPr lang="en-US" dirty="0" smtClean="0"/>
              <a:t>What type of space is it?</a:t>
            </a:r>
          </a:p>
          <a:p>
            <a:pPr lvl="1"/>
            <a:r>
              <a:rPr lang="en-US" dirty="0" smtClean="0"/>
              <a:t>Much of our published statistical data is expressed in polygons (Country, State, etc.) either as a level of aggregation or a means of protecting confidentiality</a:t>
            </a:r>
          </a:p>
          <a:p>
            <a:pPr lvl="1"/>
            <a:r>
              <a:rPr lang="en-US" dirty="0" smtClean="0"/>
              <a:t>For political geography, our spatial types are well organized into structures (hierarchies, etc)</a:t>
            </a:r>
          </a:p>
          <a:p>
            <a:r>
              <a:rPr lang="en-US" dirty="0" smtClean="0"/>
              <a:t>To link between data sets we need:</a:t>
            </a:r>
          </a:p>
          <a:p>
            <a:pPr lvl="1"/>
            <a:r>
              <a:rPr lang="en-US" dirty="0" smtClean="0"/>
              <a:t>What structure is being used?</a:t>
            </a:r>
          </a:p>
          <a:p>
            <a:pPr lvl="1"/>
            <a:r>
              <a:rPr lang="en-US" dirty="0" smtClean="0"/>
              <a:t>What type within that structure is this object?</a:t>
            </a:r>
          </a:p>
          <a:p>
            <a:pPr lvl="1"/>
            <a:r>
              <a:rPr lang="en-US" dirty="0" smtClean="0"/>
              <a:t>Do I have a means of cross-walking between different structures</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Which space of that type</a:t>
            </a:r>
            <a:r>
              <a:rPr lang="en-US" dirty="0" smtClean="0"/>
              <a:t>?</a:t>
            </a:r>
            <a:endParaRPr lang="en-US" dirty="0"/>
          </a:p>
        </p:txBody>
      </p:sp>
      <p:sp>
        <p:nvSpPr>
          <p:cNvPr id="3" name="Content Placeholder 2"/>
          <p:cNvSpPr>
            <a:spLocks noGrp="1"/>
          </p:cNvSpPr>
          <p:nvPr>
            <p:ph idx="1"/>
          </p:nvPr>
        </p:nvSpPr>
        <p:spPr>
          <a:xfrm>
            <a:off x="457200" y="1600200"/>
            <a:ext cx="7467600" cy="5257800"/>
          </a:xfrm>
        </p:spPr>
        <p:txBody>
          <a:bodyPr>
            <a:normAutofit fontScale="92500" lnSpcReduction="20000"/>
          </a:bodyPr>
          <a:lstStyle/>
          <a:p>
            <a:r>
              <a:rPr lang="en-US" dirty="0" smtClean="0"/>
              <a:t>Does it have a unique name?</a:t>
            </a:r>
          </a:p>
          <a:p>
            <a:pPr lvl="1"/>
            <a:r>
              <a:rPr lang="en-US" dirty="0" smtClean="0"/>
              <a:t>Linguistic names are common for higher level geographies</a:t>
            </a:r>
            <a:endParaRPr lang="en-US" dirty="0" smtClean="0"/>
          </a:p>
          <a:p>
            <a:pPr lvl="1"/>
            <a:r>
              <a:rPr lang="en-US" dirty="0" smtClean="0"/>
              <a:t>For political geography, our </a:t>
            </a:r>
            <a:r>
              <a:rPr lang="en-US" dirty="0" smtClean="0"/>
              <a:t>location names </a:t>
            </a:r>
            <a:r>
              <a:rPr lang="en-US" dirty="0" smtClean="0"/>
              <a:t>are well organized into structures </a:t>
            </a:r>
            <a:r>
              <a:rPr lang="en-US" dirty="0" smtClean="0"/>
              <a:t>that can provide uniqueness. </a:t>
            </a:r>
            <a:endParaRPr lang="en-US" dirty="0" smtClean="0"/>
          </a:p>
          <a:p>
            <a:pPr lvl="2"/>
            <a:r>
              <a:rPr lang="en-US" dirty="0" smtClean="0"/>
              <a:t>Kansas City, KS is not Kansas City, MO</a:t>
            </a:r>
          </a:p>
          <a:p>
            <a:pPr lvl="2"/>
            <a:r>
              <a:rPr lang="en-US" dirty="0" smtClean="0"/>
              <a:t>Coding schemes that chain for uniqueness</a:t>
            </a:r>
          </a:p>
          <a:p>
            <a:pPr lvl="3"/>
            <a:r>
              <a:rPr lang="en-US" dirty="0" smtClean="0"/>
              <a:t>Many states have a county code 053 but 27053 is Hennepin County (053) in Minnesota (27)</a:t>
            </a:r>
            <a:endParaRPr lang="en-US" dirty="0" smtClean="0"/>
          </a:p>
          <a:p>
            <a:r>
              <a:rPr lang="en-US" dirty="0" smtClean="0"/>
              <a:t>To link between data sets we need:</a:t>
            </a:r>
          </a:p>
          <a:p>
            <a:pPr lvl="1"/>
            <a:r>
              <a:rPr lang="en-US" dirty="0" smtClean="0"/>
              <a:t>What structure is being used?</a:t>
            </a:r>
          </a:p>
          <a:p>
            <a:pPr lvl="1"/>
            <a:r>
              <a:rPr lang="en-US" dirty="0" smtClean="0"/>
              <a:t>What </a:t>
            </a:r>
            <a:r>
              <a:rPr lang="en-US" dirty="0" smtClean="0"/>
              <a:t>name </a:t>
            </a:r>
            <a:r>
              <a:rPr lang="en-US" dirty="0" smtClean="0"/>
              <a:t>within that structure is this </a:t>
            </a:r>
            <a:r>
              <a:rPr lang="en-US" dirty="0" smtClean="0"/>
              <a:t>location?</a:t>
            </a:r>
            <a:endParaRPr lang="en-US" dirty="0" smtClean="0"/>
          </a:p>
          <a:p>
            <a:pPr lvl="1"/>
            <a:r>
              <a:rPr lang="en-US" dirty="0" smtClean="0"/>
              <a:t>Do I have a means of cross-walking between different structures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the time frames match?</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Polygons, particularly political boundaries, change shape over time</a:t>
            </a:r>
          </a:p>
          <a:p>
            <a:r>
              <a:rPr lang="en-US" dirty="0" smtClean="0"/>
              <a:t>Social sciences assumes that the date of the data will match the date of the geography</a:t>
            </a:r>
          </a:p>
          <a:p>
            <a:r>
              <a:rPr lang="en-US" dirty="0" smtClean="0"/>
              <a:t>So what happens in a time series?</a:t>
            </a:r>
          </a:p>
          <a:p>
            <a:pPr lvl="1"/>
            <a:r>
              <a:rPr lang="en-US" dirty="0" smtClean="0"/>
              <a:t>The geography changes so that DE is no longer the same shape</a:t>
            </a:r>
          </a:p>
          <a:p>
            <a:pPr lvl="1"/>
            <a:r>
              <a:rPr lang="en-US" dirty="0" smtClean="0"/>
              <a:t>The data is interpolated to create equivalent shapes over time</a:t>
            </a:r>
          </a:p>
          <a:p>
            <a:r>
              <a:rPr lang="en-US" dirty="0" smtClean="0"/>
              <a:t>To link between data files</a:t>
            </a:r>
          </a:p>
          <a:p>
            <a:pPr lvl="1"/>
            <a:r>
              <a:rPr lang="en-US" dirty="0" smtClean="0"/>
              <a:t>Do I explicitly know the GEOGRAPHIC DATE</a:t>
            </a:r>
            <a:endParaRPr lang="en-US" dirty="0"/>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Summary of linking between statistical data sets</a:t>
            </a:r>
            <a:endParaRPr lang="en-US" dirty="0"/>
          </a:p>
        </p:txBody>
      </p:sp>
      <p:sp>
        <p:nvSpPr>
          <p:cNvPr id="3" name="Content Placeholder 2"/>
          <p:cNvSpPr>
            <a:spLocks noGrp="1"/>
          </p:cNvSpPr>
          <p:nvPr>
            <p:ph idx="1"/>
          </p:nvPr>
        </p:nvSpPr>
        <p:spPr/>
        <p:txBody>
          <a:bodyPr>
            <a:normAutofit fontScale="92500" lnSpcReduction="20000"/>
          </a:bodyPr>
          <a:lstStyle/>
          <a:p>
            <a:r>
              <a:rPr lang="en-US" dirty="0" smtClean="0"/>
              <a:t>Spatial type</a:t>
            </a:r>
          </a:p>
          <a:p>
            <a:pPr lvl="1"/>
            <a:r>
              <a:rPr lang="en-US" dirty="0" smtClean="0"/>
              <a:t>What structure is being used?</a:t>
            </a:r>
          </a:p>
          <a:p>
            <a:pPr lvl="1"/>
            <a:r>
              <a:rPr lang="en-US" dirty="0" smtClean="0"/>
              <a:t>What type within that structure is this object?</a:t>
            </a:r>
          </a:p>
          <a:p>
            <a:pPr lvl="1"/>
            <a:r>
              <a:rPr lang="en-US" dirty="0" smtClean="0"/>
              <a:t>Do I have a means of cross-walking between different structures</a:t>
            </a:r>
          </a:p>
          <a:p>
            <a:r>
              <a:rPr lang="en-US" dirty="0" smtClean="0"/>
              <a:t>Location</a:t>
            </a:r>
          </a:p>
          <a:p>
            <a:pPr lvl="1"/>
            <a:r>
              <a:rPr lang="en-US" dirty="0" smtClean="0"/>
              <a:t>What structure is being used?</a:t>
            </a:r>
          </a:p>
          <a:p>
            <a:pPr lvl="1"/>
            <a:r>
              <a:rPr lang="en-US" dirty="0" smtClean="0"/>
              <a:t>What name within that structure is this location?</a:t>
            </a:r>
          </a:p>
          <a:p>
            <a:pPr lvl="1"/>
            <a:r>
              <a:rPr lang="en-US" dirty="0" smtClean="0"/>
              <a:t>Do I have a means of cross-walking between different structures</a:t>
            </a:r>
          </a:p>
          <a:p>
            <a:r>
              <a:rPr lang="en-US" dirty="0" smtClean="0"/>
              <a:t>Time</a:t>
            </a:r>
          </a:p>
          <a:p>
            <a:pPr lvl="1"/>
            <a:r>
              <a:rPr lang="en-US" dirty="0" smtClean="0"/>
              <a:t>Explicit geographic date</a:t>
            </a:r>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Linking statistical data to geospatial data</a:t>
            </a:r>
            <a:endParaRPr lang="en-US" dirty="0"/>
          </a:p>
        </p:txBody>
      </p:sp>
      <p:sp>
        <p:nvSpPr>
          <p:cNvPr id="3" name="Content Placeholder 2"/>
          <p:cNvSpPr>
            <a:spLocks noGrp="1"/>
          </p:cNvSpPr>
          <p:nvPr>
            <p:ph idx="1"/>
          </p:nvPr>
        </p:nvSpPr>
        <p:spPr>
          <a:xfrm>
            <a:off x="457200" y="1600200"/>
            <a:ext cx="7467600" cy="5257800"/>
          </a:xfrm>
        </p:spPr>
        <p:txBody>
          <a:bodyPr>
            <a:normAutofit fontScale="85000" lnSpcReduction="20000"/>
          </a:bodyPr>
          <a:lstStyle/>
          <a:p>
            <a:r>
              <a:rPr lang="en-US" dirty="0" smtClean="0"/>
              <a:t>What is the spatial object type of the data?</a:t>
            </a:r>
          </a:p>
          <a:p>
            <a:pPr lvl="1"/>
            <a:r>
              <a:rPr lang="en-US" dirty="0" smtClean="0"/>
              <a:t>Point, Polygon, Line, Linear Ring, TIN</a:t>
            </a:r>
          </a:p>
          <a:p>
            <a:pPr lvl="1"/>
            <a:r>
              <a:rPr lang="en-US" dirty="0" smtClean="0"/>
              <a:t>You can build up from points but can’t deconstruct more complex objects</a:t>
            </a:r>
          </a:p>
          <a:p>
            <a:r>
              <a:rPr lang="en-US" dirty="0" smtClean="0"/>
              <a:t>For Points:</a:t>
            </a:r>
          </a:p>
          <a:p>
            <a:pPr lvl="1"/>
            <a:r>
              <a:rPr lang="en-US" dirty="0" smtClean="0"/>
              <a:t>Coordinate points </a:t>
            </a:r>
          </a:p>
          <a:p>
            <a:pPr lvl="2"/>
            <a:r>
              <a:rPr lang="en-US" dirty="0" smtClean="0"/>
              <a:t>Including measurement system and accuracy</a:t>
            </a:r>
          </a:p>
          <a:p>
            <a:r>
              <a:rPr lang="en-US" dirty="0" smtClean="0"/>
              <a:t>For other objects or points without coordinate information:</a:t>
            </a:r>
          </a:p>
          <a:p>
            <a:pPr lvl="1"/>
            <a:r>
              <a:rPr lang="en-US" dirty="0" smtClean="0"/>
              <a:t>What type of shape is it?</a:t>
            </a:r>
          </a:p>
          <a:p>
            <a:pPr lvl="2"/>
            <a:r>
              <a:rPr lang="en-US" dirty="0" smtClean="0"/>
              <a:t>Same as between statistical files</a:t>
            </a:r>
          </a:p>
          <a:p>
            <a:pPr lvl="1"/>
            <a:r>
              <a:rPr lang="en-US" dirty="0" smtClean="0"/>
              <a:t>Which specific space is it?</a:t>
            </a:r>
          </a:p>
          <a:p>
            <a:pPr lvl="2"/>
            <a:r>
              <a:rPr lang="en-US" dirty="0" smtClean="0"/>
              <a:t>Same as between statistical files</a:t>
            </a:r>
          </a:p>
          <a:p>
            <a:pPr lvl="1"/>
            <a:r>
              <a:rPr lang="en-US" dirty="0" smtClean="0"/>
              <a:t>Do the time frames match?</a:t>
            </a:r>
          </a:p>
          <a:p>
            <a:pPr lvl="2"/>
            <a:r>
              <a:rPr lang="en-US" dirty="0" smtClean="0"/>
              <a:t>Same as between statistical files</a:t>
            </a:r>
            <a:endParaRPr lang="en-US" dirty="0"/>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Structures in commonly used standards to capture this information</a:t>
            </a:r>
            <a:br>
              <a:rPr lang="en-US" dirty="0" smtClean="0"/>
            </a:b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DDI Codebook</a:t>
            </a:r>
            <a:endParaRPr lang="en-US" dirty="0"/>
          </a:p>
        </p:txBody>
      </p:sp>
      <p:sp>
        <p:nvSpPr>
          <p:cNvPr id="7" name="Content Placeholder 6"/>
          <p:cNvSpPr>
            <a:spLocks noGrp="1"/>
          </p:cNvSpPr>
          <p:nvPr>
            <p:ph idx="1"/>
          </p:nvPr>
        </p:nvSpPr>
        <p:spPr/>
        <p:txBody>
          <a:bodyPr>
            <a:normAutofit fontScale="92500"/>
          </a:bodyPr>
          <a:lstStyle/>
          <a:p>
            <a:r>
              <a:rPr lang="en-US" dirty="0" smtClean="0"/>
              <a:t>DDI-C </a:t>
            </a:r>
            <a:r>
              <a:rPr lang="en-US" dirty="0" err="1" smtClean="0"/>
              <a:t>standCtgry</a:t>
            </a:r>
            <a:endParaRPr lang="en-US" dirty="0" smtClean="0"/>
          </a:p>
          <a:p>
            <a:pPr lvl="1"/>
            <a:r>
              <a:rPr lang="en-US" dirty="0" smtClean="0"/>
              <a:t>Standard category codes used in the variable, like industry codes, employment codes, or social class codes. The attribute "date" is provided to indicate the version of the code in place at the time of the study. The attribute "URI" is provided to indicate a URN or URL that can be used to obtain an electronic list of the category codes</a:t>
            </a:r>
            <a:r>
              <a:rPr lang="en-US" dirty="0" smtClean="0"/>
              <a:t>.</a:t>
            </a:r>
          </a:p>
          <a:p>
            <a:pPr lvl="1"/>
            <a:r>
              <a:rPr lang="en-US" dirty="0" smtClean="0"/>
              <a:t>Can be used to reference a geographic structure or location coding system as well as provide the geographic date </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DDI-Codebook (cont.)</a:t>
            </a:r>
            <a:endParaRPr lang="en-US" dirty="0"/>
          </a:p>
        </p:txBody>
      </p:sp>
      <p:sp>
        <p:nvSpPr>
          <p:cNvPr id="3" name="Content Placeholder 2"/>
          <p:cNvSpPr>
            <a:spLocks noGrp="1"/>
          </p:cNvSpPr>
          <p:nvPr>
            <p:ph idx="1"/>
          </p:nvPr>
        </p:nvSpPr>
        <p:spPr/>
        <p:txBody>
          <a:bodyPr>
            <a:normAutofit fontScale="85000" lnSpcReduction="10000"/>
          </a:bodyPr>
          <a:lstStyle/>
          <a:p>
            <a:r>
              <a:rPr lang="en-US" dirty="0" smtClean="0"/>
              <a:t>Categories or text</a:t>
            </a:r>
          </a:p>
          <a:p>
            <a:pPr lvl="1"/>
            <a:r>
              <a:rPr lang="en-US" dirty="0" smtClean="0"/>
              <a:t>Geographic structure codes are often entered in the documentation with reference to the standard code</a:t>
            </a:r>
          </a:p>
          <a:p>
            <a:pPr lvl="1"/>
            <a:r>
              <a:rPr lang="en-US" dirty="0" smtClean="0"/>
              <a:t>Longer lists are often listed as text strings as they only have meaning as part of a concatenated code (State-County-Tract)</a:t>
            </a:r>
          </a:p>
          <a:p>
            <a:r>
              <a:rPr lang="en-US" dirty="0" smtClean="0"/>
              <a:t>The attribute "</a:t>
            </a:r>
            <a:r>
              <a:rPr lang="en-US" dirty="0" err="1" smtClean="0"/>
              <a:t>geoVocab</a:t>
            </a:r>
            <a:r>
              <a:rPr lang="en-US" dirty="0" smtClean="0"/>
              <a:t>" records the coding scheme used in the variable</a:t>
            </a:r>
            <a:r>
              <a:rPr lang="en-US" dirty="0" smtClean="0"/>
              <a:t>.</a:t>
            </a:r>
          </a:p>
          <a:p>
            <a:r>
              <a:rPr lang="en-US" dirty="0" smtClean="0">
                <a:solidFill>
                  <a:srgbClr val="FF0000"/>
                </a:solidFill>
              </a:rPr>
              <a:t>Note: Nothing prevents you from using both text representation and standard categories representations which includes the ability to specify a geographic date</a:t>
            </a:r>
            <a:endParaRPr lang="en-US" dirty="0" smtClean="0">
              <a:solidFill>
                <a:srgbClr val="FF0000"/>
              </a:solidFill>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DDI-Codebook (cont.)</a:t>
            </a:r>
            <a:endParaRPr lang="en-US" dirty="0"/>
          </a:p>
        </p:txBody>
      </p:sp>
      <p:sp>
        <p:nvSpPr>
          <p:cNvPr id="3" name="Content Placeholder 2"/>
          <p:cNvSpPr>
            <a:spLocks noGrp="1"/>
          </p:cNvSpPr>
          <p:nvPr>
            <p:ph idx="1"/>
          </p:nvPr>
        </p:nvSpPr>
        <p:spPr/>
        <p:txBody>
          <a:bodyPr>
            <a:normAutofit lnSpcReduction="10000"/>
          </a:bodyPr>
          <a:lstStyle/>
          <a:p>
            <a:r>
              <a:rPr lang="en-US" dirty="0" err="1" smtClean="0"/>
              <a:t>geoMap</a:t>
            </a:r>
            <a:endParaRPr lang="en-US" dirty="0" smtClean="0"/>
          </a:p>
          <a:p>
            <a:pPr lvl="1"/>
            <a:r>
              <a:rPr lang="en-US" dirty="0" smtClean="0"/>
              <a:t>This element is used to point, using a "URI" attribute, to an external map that displays the geography in question. The "</a:t>
            </a:r>
            <a:r>
              <a:rPr lang="en-US" dirty="0" err="1" smtClean="0"/>
              <a:t>levelno</a:t>
            </a:r>
            <a:r>
              <a:rPr lang="en-US" dirty="0" smtClean="0"/>
              <a:t>" attribute indicates the level of the geographic hierarchy relayed in the map. The "</a:t>
            </a:r>
            <a:r>
              <a:rPr lang="en-US" dirty="0" err="1" smtClean="0"/>
              <a:t>mapformat</a:t>
            </a:r>
            <a:r>
              <a:rPr lang="en-US" dirty="0" smtClean="0"/>
              <a:t>" attribute indicates the format of the map</a:t>
            </a:r>
            <a:r>
              <a:rPr lang="en-US" dirty="0" smtClean="0"/>
              <a:t>.</a:t>
            </a:r>
          </a:p>
          <a:p>
            <a:r>
              <a:rPr lang="en-US" dirty="0" smtClean="0"/>
              <a:t>The "geog" attribute indicates whether the variable relays geographic information.</a:t>
            </a:r>
          </a:p>
          <a:p>
            <a:pPr>
              <a:buNone/>
            </a:pPr>
            <a:endParaRPr lang="en-US" dirty="0" smtClean="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DDI-C: Outstanding Issues</a:t>
            </a:r>
            <a:endParaRPr lang="en-US" dirty="0"/>
          </a:p>
        </p:txBody>
      </p:sp>
      <p:sp>
        <p:nvSpPr>
          <p:cNvPr id="3" name="Content Placeholder 2"/>
          <p:cNvSpPr>
            <a:spLocks noGrp="1"/>
          </p:cNvSpPr>
          <p:nvPr>
            <p:ph idx="1"/>
          </p:nvPr>
        </p:nvSpPr>
        <p:spPr/>
        <p:txBody>
          <a:bodyPr/>
          <a:lstStyle/>
          <a:p>
            <a:r>
              <a:rPr lang="en-US" dirty="0" smtClean="0"/>
              <a:t>The only means of exposing location names (linguistic or code) outside of the data is through Standard Category</a:t>
            </a:r>
          </a:p>
          <a:p>
            <a:pPr lvl="1"/>
            <a:r>
              <a:rPr lang="en-US" dirty="0" smtClean="0"/>
              <a:t>No means of limiting the extent of the list used</a:t>
            </a:r>
          </a:p>
          <a:p>
            <a:pPr lvl="1"/>
            <a:r>
              <a:rPr lang="en-US" dirty="0" smtClean="0"/>
              <a:t>No means of describing how to construct a unique code for a specified geographic structure</a:t>
            </a:r>
            <a:endParaRPr lang="en-US" dirty="0"/>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DDI-Lifecycle</a:t>
            </a:r>
            <a:endParaRPr lang="en-US" dirty="0"/>
          </a:p>
        </p:txBody>
      </p:sp>
      <p:sp>
        <p:nvSpPr>
          <p:cNvPr id="3" name="Content Placeholder 2"/>
          <p:cNvSpPr>
            <a:spLocks noGrp="1"/>
          </p:cNvSpPr>
          <p:nvPr>
            <p:ph idx="1"/>
          </p:nvPr>
        </p:nvSpPr>
        <p:spPr/>
        <p:txBody>
          <a:bodyPr>
            <a:normAutofit lnSpcReduction="10000"/>
          </a:bodyPr>
          <a:lstStyle/>
          <a:p>
            <a:r>
              <a:rPr lang="en-US" dirty="0" smtClean="0"/>
              <a:t>Spatial coverage provides complete high level information to specify both general information and expose detail found in the data file including:</a:t>
            </a:r>
          </a:p>
          <a:p>
            <a:pPr lvl="1"/>
            <a:r>
              <a:rPr lang="en-US" dirty="0" smtClean="0"/>
              <a:t>Spatial object</a:t>
            </a:r>
          </a:p>
          <a:p>
            <a:pPr lvl="1"/>
            <a:r>
              <a:rPr lang="en-US" dirty="0" smtClean="0"/>
              <a:t>Geography Structure Variable reference</a:t>
            </a:r>
          </a:p>
          <a:p>
            <a:pPr lvl="1"/>
            <a:r>
              <a:rPr lang="en-US" dirty="0" smtClean="0"/>
              <a:t>Geographic Structure reference</a:t>
            </a:r>
          </a:p>
          <a:p>
            <a:pPr lvl="1"/>
            <a:r>
              <a:rPr lang="en-US" dirty="0" smtClean="0"/>
              <a:t>Geographic Location reference</a:t>
            </a:r>
          </a:p>
          <a:p>
            <a:pPr lvl="1"/>
            <a:r>
              <a:rPr lang="en-US" dirty="0" smtClean="0"/>
              <a:t>Top Level reference</a:t>
            </a:r>
          </a:p>
          <a:p>
            <a:pPr lvl="1"/>
            <a:r>
              <a:rPr lang="en-US" dirty="0" smtClean="0"/>
              <a:t>Lowest Level reference</a:t>
            </a:r>
          </a:p>
        </p:txBody>
      </p:sp>
      <p:sp>
        <p:nvSpPr>
          <p:cNvPr id="4" name="TextBox 3"/>
          <p:cNvSpPr txBox="1"/>
          <p:nvPr/>
        </p:nvSpPr>
        <p:spPr>
          <a:xfrm>
            <a:off x="5410200" y="6324600"/>
            <a:ext cx="1954381" cy="369332"/>
          </a:xfrm>
          <a:prstGeom prst="rect">
            <a:avLst/>
          </a:prstGeom>
          <a:noFill/>
        </p:spPr>
        <p:txBody>
          <a:bodyPr wrap="none" rtlCol="0">
            <a:spAutoFit/>
          </a:bodyPr>
          <a:lstStyle/>
          <a:p>
            <a:r>
              <a:rPr lang="en-US" dirty="0" smtClean="0"/>
              <a:t>GeoSample2.xml</a:t>
            </a:r>
            <a:endParaRPr lang="en-US" dirty="0"/>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DDI-Lifecycle (cont.)</a:t>
            </a:r>
            <a:endParaRPr lang="en-US" dirty="0"/>
          </a:p>
        </p:txBody>
      </p:sp>
      <p:sp>
        <p:nvSpPr>
          <p:cNvPr id="3" name="Content Placeholder 2"/>
          <p:cNvSpPr>
            <a:spLocks noGrp="1"/>
          </p:cNvSpPr>
          <p:nvPr>
            <p:ph idx="1"/>
          </p:nvPr>
        </p:nvSpPr>
        <p:spPr/>
        <p:txBody>
          <a:bodyPr>
            <a:normAutofit/>
          </a:bodyPr>
          <a:lstStyle/>
          <a:p>
            <a:r>
              <a:rPr lang="en-US" dirty="0" smtClean="0"/>
              <a:t>Geographic Structure allows complete profiling of very complex structures</a:t>
            </a:r>
          </a:p>
          <a:p>
            <a:r>
              <a:rPr lang="en-US" dirty="0" smtClean="0"/>
              <a:t>Geographic Location allows complete profiling of locations (including valid dates), linked to the geographic structure and to external shape files</a:t>
            </a:r>
          </a:p>
          <a:p>
            <a:r>
              <a:rPr lang="en-US" dirty="0" smtClean="0"/>
              <a:t>Both Geographic Structure and Geographic Location can be used as a representation (in whole or part)</a:t>
            </a:r>
            <a:endParaRPr lang="en-US" dirty="0"/>
          </a:p>
        </p:txBody>
      </p:sp>
      <p:sp>
        <p:nvSpPr>
          <p:cNvPr id="4" name="TextBox 3"/>
          <p:cNvSpPr txBox="1"/>
          <p:nvPr/>
        </p:nvSpPr>
        <p:spPr>
          <a:xfrm>
            <a:off x="5638800" y="6324600"/>
            <a:ext cx="1505540" cy="369332"/>
          </a:xfrm>
          <a:prstGeom prst="rect">
            <a:avLst/>
          </a:prstGeom>
          <a:noFill/>
        </p:spPr>
        <p:txBody>
          <a:bodyPr wrap="none" rtlCol="0">
            <a:spAutoFit/>
          </a:bodyPr>
          <a:lstStyle/>
          <a:p>
            <a:r>
              <a:rPr lang="en-US" dirty="0" smtClean="0"/>
              <a:t>MPCgeo.xml</a:t>
            </a:r>
            <a:endParaRPr lang="en-US" dirty="0"/>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DDI-Lifecycle (cont.)</a:t>
            </a:r>
            <a:endParaRPr lang="en-US" dirty="0"/>
          </a:p>
        </p:txBody>
      </p:sp>
      <p:sp>
        <p:nvSpPr>
          <p:cNvPr id="3" name="Content Placeholder 2"/>
          <p:cNvSpPr>
            <a:spLocks noGrp="1"/>
          </p:cNvSpPr>
          <p:nvPr>
            <p:ph idx="1"/>
          </p:nvPr>
        </p:nvSpPr>
        <p:spPr/>
        <p:txBody>
          <a:bodyPr>
            <a:normAutofit lnSpcReduction="10000"/>
          </a:bodyPr>
          <a:lstStyle/>
          <a:p>
            <a:r>
              <a:rPr lang="en-US" dirty="0" smtClean="0"/>
              <a:t>Both Geographic Structure and Geographic Location can be used as a representation (in whole or part)</a:t>
            </a:r>
          </a:p>
          <a:p>
            <a:pPr lvl="1"/>
            <a:r>
              <a:rPr lang="en-US" dirty="0" smtClean="0"/>
              <a:t>It can specify how to parse the full identifier (i.e. if the Variable contains the County code the Representation can specify that the County code is 3 characters beginning at character 3 of the unique code)</a:t>
            </a:r>
          </a:p>
          <a:p>
            <a:r>
              <a:rPr lang="en-US" dirty="0" smtClean="0"/>
              <a:t>A Variable can represent a constructed string composed of multiple individual variables (State, County)</a:t>
            </a:r>
            <a:endParaRPr lang="en-US" dirty="0"/>
          </a:p>
        </p:txBody>
      </p:sp>
      <p:sp>
        <p:nvSpPr>
          <p:cNvPr id="4" name="TextBox 3"/>
          <p:cNvSpPr txBox="1"/>
          <p:nvPr/>
        </p:nvSpPr>
        <p:spPr>
          <a:xfrm>
            <a:off x="5715000" y="6324600"/>
            <a:ext cx="3185487" cy="369332"/>
          </a:xfrm>
          <a:prstGeom prst="rect">
            <a:avLst/>
          </a:prstGeom>
          <a:noFill/>
        </p:spPr>
        <p:txBody>
          <a:bodyPr wrap="none" rtlCol="0">
            <a:spAutoFit/>
          </a:bodyPr>
          <a:lstStyle/>
          <a:p>
            <a:r>
              <a:rPr lang="en-US" dirty="0" smtClean="0"/>
              <a:t>RepresentationExamples.xml</a:t>
            </a:r>
            <a:endParaRPr lang="en-US" dirty="0"/>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SDMX</a:t>
            </a:r>
            <a:endParaRPr lang="en-US" dirty="0"/>
          </a:p>
        </p:txBody>
      </p:sp>
      <p:sp>
        <p:nvSpPr>
          <p:cNvPr id="3" name="Content Placeholder 2"/>
          <p:cNvSpPr>
            <a:spLocks noGrp="1"/>
          </p:cNvSpPr>
          <p:nvPr>
            <p:ph idx="1"/>
          </p:nvPr>
        </p:nvSpPr>
        <p:spPr/>
        <p:txBody>
          <a:bodyPr>
            <a:normAutofit fontScale="62500" lnSpcReduction="20000"/>
          </a:bodyPr>
          <a:lstStyle/>
          <a:p>
            <a:r>
              <a:rPr lang="en-GB" dirty="0" smtClean="0"/>
              <a:t>SDMX assigns “roles” to Concepts used to define the Data Structure Definitions (DSD)</a:t>
            </a:r>
          </a:p>
          <a:p>
            <a:r>
              <a:rPr lang="en-GB" dirty="0" smtClean="0"/>
              <a:t>REF_AREA or COUNTERPART_AREA are two DSD’s that reflect geography</a:t>
            </a:r>
          </a:p>
          <a:p>
            <a:pPr lvl="1"/>
            <a:r>
              <a:rPr lang="en-GB" dirty="0" smtClean="0"/>
              <a:t>These classifications </a:t>
            </a:r>
            <a:r>
              <a:rPr lang="en-GB" dirty="0" smtClean="0"/>
              <a:t>currently focus on higher level geography resulting in ambiguity for smaller geographic areas within and between countries. In addition the classifications do not all carry clear valid date ranges for the related “geographic footprint”, the actual boundaries of the location at a given point in time. </a:t>
            </a:r>
            <a:endParaRPr lang="en-GB" dirty="0" smtClean="0"/>
          </a:p>
          <a:p>
            <a:r>
              <a:rPr lang="en-GB" dirty="0" smtClean="0"/>
              <a:t>The FDI_IO-Data_Request_Codification_v1.0.xlsx contains the </a:t>
            </a:r>
            <a:r>
              <a:rPr lang="en-GB" dirty="0" err="1" smtClean="0"/>
              <a:t>Eurostat</a:t>
            </a:r>
            <a:r>
              <a:rPr lang="en-GB" dirty="0" smtClean="0"/>
              <a:t> FDI Geographical classification (</a:t>
            </a:r>
            <a:r>
              <a:rPr lang="en-GB" dirty="0" err="1" smtClean="0"/>
              <a:t>Eurostat</a:t>
            </a:r>
            <a:r>
              <a:rPr lang="en-GB" dirty="0" smtClean="0"/>
              <a:t> FDI Geo classification) and the OECD FDI geographical classification (OECD FDI GEO classification</a:t>
            </a:r>
            <a:r>
              <a:rPr lang="en-GB" dirty="0" smtClean="0"/>
              <a:t>)</a:t>
            </a:r>
          </a:p>
          <a:p>
            <a:pPr lvl="1"/>
            <a:r>
              <a:rPr lang="en-GB" dirty="0" smtClean="0"/>
              <a:t>These </a:t>
            </a:r>
            <a:r>
              <a:rPr lang="en-GB" dirty="0" smtClean="0"/>
              <a:t>provide the 2-character ISO code and name for countries and regions (or sets of countries) but provide no linkage to spatial </a:t>
            </a:r>
            <a:r>
              <a:rPr lang="en-GB" dirty="0" smtClean="0"/>
              <a:t>representations</a:t>
            </a:r>
          </a:p>
          <a:p>
            <a:r>
              <a:rPr lang="en-US" u="sng" dirty="0" smtClean="0">
                <a:hlinkClick r:id="rId2"/>
              </a:rPr>
              <a:t>http://sdmx.org</a:t>
            </a:r>
            <a:r>
              <a:rPr lang="en-US" dirty="0" smtClean="0"/>
              <a:t> (search </a:t>
            </a:r>
            <a:r>
              <a:rPr lang="en-US" dirty="0" err="1" smtClean="0"/>
              <a:t>fdi_io_data_request_codification</a:t>
            </a:r>
            <a:r>
              <a:rPr lang="en-US" dirty="0" smtClean="0"/>
              <a:t>)</a:t>
            </a:r>
          </a:p>
          <a:p>
            <a:endParaRPr lang="en-US" dirty="0" smtClean="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GSBPM/GSIM/CSPA</a:t>
            </a:r>
            <a:endParaRPr lang="en-US" dirty="0"/>
          </a:p>
        </p:txBody>
      </p:sp>
      <p:sp>
        <p:nvSpPr>
          <p:cNvPr id="3" name="Content Placeholder 2"/>
          <p:cNvSpPr>
            <a:spLocks noGrp="1"/>
          </p:cNvSpPr>
          <p:nvPr>
            <p:ph idx="1"/>
          </p:nvPr>
        </p:nvSpPr>
        <p:spPr/>
        <p:txBody>
          <a:bodyPr>
            <a:normAutofit fontScale="85000" lnSpcReduction="20000"/>
          </a:bodyPr>
          <a:lstStyle/>
          <a:p>
            <a:r>
              <a:rPr lang="en-GB" dirty="0" smtClean="0"/>
              <a:t>T</a:t>
            </a:r>
            <a:r>
              <a:rPr lang="en-GB" dirty="0" smtClean="0"/>
              <a:t>here </a:t>
            </a:r>
            <a:r>
              <a:rPr lang="en-GB" dirty="0" smtClean="0"/>
              <a:t>is a link between the Data Set in GSIM and the Population that contains information on “geographic boundaries”. </a:t>
            </a:r>
            <a:endParaRPr lang="en-GB" dirty="0" smtClean="0"/>
          </a:p>
          <a:p>
            <a:r>
              <a:rPr lang="en-GB" dirty="0" smtClean="0"/>
              <a:t>The </a:t>
            </a:r>
            <a:r>
              <a:rPr lang="en-GB" dirty="0" smtClean="0"/>
              <a:t>Population can be associated with any Dimension or Attribute reported in a Data Set. </a:t>
            </a:r>
            <a:endParaRPr lang="en-GB" dirty="0" smtClean="0"/>
          </a:p>
          <a:p>
            <a:r>
              <a:rPr lang="en-GB" dirty="0" smtClean="0"/>
              <a:t>Therefore</a:t>
            </a:r>
            <a:r>
              <a:rPr lang="en-GB" dirty="0" smtClean="0"/>
              <a:t>, “geography” is supported conceptually in GSIM but GSIM does not elaborate on how this information can be used</a:t>
            </a:r>
            <a:r>
              <a:rPr lang="en-GB" dirty="0" smtClean="0"/>
              <a:t>.</a:t>
            </a:r>
          </a:p>
          <a:p>
            <a:r>
              <a:rPr lang="en-GB" dirty="0" smtClean="0"/>
              <a:t>Geography can also be described as a statistical classification with specification of the locations and description of the levels providing the geographic structure</a:t>
            </a:r>
            <a:endParaRPr lang="en-US" dirty="0"/>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24200"/>
            <a:ext cx="6629400" cy="2819400"/>
          </a:xfrm>
        </p:spPr>
        <p:txBody>
          <a:bodyPr>
            <a:normAutofit fontScale="90000"/>
          </a:bodyPr>
          <a:lstStyle/>
          <a:p>
            <a:r>
              <a:rPr lang="en-US" dirty="0" smtClean="0"/>
              <a:t>Content that should be provided by data producers in order to support the search for related data in an open-data environment</a:t>
            </a:r>
            <a:br>
              <a:rPr lang="en-US" dirty="0" smtClean="0"/>
            </a:b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Study level information</a:t>
            </a:r>
            <a:endParaRPr lang="en-US" dirty="0"/>
          </a:p>
        </p:txBody>
      </p:sp>
      <p:sp>
        <p:nvSpPr>
          <p:cNvPr id="3" name="Content Placeholder 2"/>
          <p:cNvSpPr>
            <a:spLocks noGrp="1"/>
          </p:cNvSpPr>
          <p:nvPr>
            <p:ph idx="1"/>
          </p:nvPr>
        </p:nvSpPr>
        <p:spPr/>
        <p:txBody>
          <a:bodyPr>
            <a:normAutofit lnSpcReduction="10000"/>
          </a:bodyPr>
          <a:lstStyle/>
          <a:p>
            <a:r>
              <a:rPr lang="en-US" dirty="0" smtClean="0"/>
              <a:t>Bounding Box</a:t>
            </a:r>
          </a:p>
          <a:p>
            <a:r>
              <a:rPr lang="en-US" dirty="0" smtClean="0"/>
              <a:t>Location names/codes </a:t>
            </a:r>
            <a:r>
              <a:rPr lang="en-US" dirty="0" smtClean="0"/>
              <a:t>(specified vocabulary)</a:t>
            </a:r>
            <a:endParaRPr lang="en-US" dirty="0" smtClean="0"/>
          </a:p>
          <a:p>
            <a:r>
              <a:rPr lang="en-US" dirty="0" smtClean="0"/>
              <a:t>Geographic date</a:t>
            </a:r>
          </a:p>
          <a:p>
            <a:r>
              <a:rPr lang="en-US" dirty="0" smtClean="0"/>
              <a:t>Spatial object</a:t>
            </a:r>
          </a:p>
          <a:p>
            <a:r>
              <a:rPr lang="en-US" dirty="0" smtClean="0"/>
              <a:t>Geographic structures identified (specified vocabulary)</a:t>
            </a:r>
          </a:p>
          <a:p>
            <a:r>
              <a:rPr lang="en-US" dirty="0" smtClean="0"/>
              <a:t>Top level and lowest level structures</a:t>
            </a:r>
          </a:p>
          <a:p>
            <a:r>
              <a:rPr lang="en-US" dirty="0" smtClean="0"/>
              <a:t>General statement of spatial coverage</a:t>
            </a:r>
            <a:endParaRPr lang="en-US" dirty="0"/>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How do geographers search?</a:t>
            </a:r>
            <a:endParaRPr lang="en-US" dirty="0"/>
          </a:p>
        </p:txBody>
      </p:sp>
      <p:sp>
        <p:nvSpPr>
          <p:cNvPr id="5" name="Content Placeholder 4"/>
          <p:cNvSpPr>
            <a:spLocks noGrp="1"/>
          </p:cNvSpPr>
          <p:nvPr>
            <p:ph idx="1"/>
          </p:nvPr>
        </p:nvSpPr>
        <p:spPr/>
        <p:txBody>
          <a:bodyPr/>
          <a:lstStyle/>
          <a:p>
            <a:r>
              <a:rPr lang="en-US" dirty="0" smtClean="0"/>
              <a:t>Bounding Box</a:t>
            </a:r>
          </a:p>
          <a:p>
            <a:r>
              <a:rPr lang="en-US" dirty="0" smtClean="0"/>
              <a:t>Spatial objects</a:t>
            </a:r>
          </a:p>
          <a:p>
            <a:r>
              <a:rPr lang="en-US" dirty="0" smtClean="0"/>
              <a:t>Using standard names</a:t>
            </a:r>
          </a:p>
          <a:p>
            <a:pPr lvl="1"/>
            <a:r>
              <a:rPr lang="en-US" dirty="0" smtClean="0"/>
              <a:t>ISO codes (country and regional geography)</a:t>
            </a:r>
          </a:p>
          <a:p>
            <a:pPr lvl="1"/>
            <a:r>
              <a:rPr lang="en-US" dirty="0" smtClean="0"/>
              <a:t>Country specific codes (internal geography)</a:t>
            </a:r>
          </a:p>
          <a:p>
            <a:pPr lvl="1"/>
            <a:r>
              <a:rPr lang="en-US" dirty="0" smtClean="0"/>
              <a:t>Using non-linguistic codes</a:t>
            </a:r>
          </a:p>
          <a:p>
            <a:r>
              <a:rPr lang="en-US" dirty="0" smtClean="0"/>
              <a:t>Top level and lowest level objects</a:t>
            </a:r>
            <a:endParaRPr 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dataone.jpg"/>
          <p:cNvPicPr>
            <a:picLocks noChangeAspect="1"/>
          </p:cNvPicPr>
          <p:nvPr/>
        </p:nvPicPr>
        <p:blipFill>
          <a:blip r:embed="rId2" cstate="print"/>
          <a:stretch>
            <a:fillRect/>
          </a:stretch>
        </p:blipFill>
        <p:spPr>
          <a:xfrm>
            <a:off x="0" y="858505"/>
            <a:ext cx="9144000" cy="5140990"/>
          </a:xfrm>
          <a:prstGeom prst="rect">
            <a:avLst/>
          </a:prstGeom>
        </p:spPr>
      </p:pic>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Following links</a:t>
            </a:r>
            <a:endParaRPr lang="en-US" dirty="0"/>
          </a:p>
        </p:txBody>
      </p:sp>
      <p:sp>
        <p:nvSpPr>
          <p:cNvPr id="3" name="Content Placeholder 2"/>
          <p:cNvSpPr>
            <a:spLocks noGrp="1"/>
          </p:cNvSpPr>
          <p:nvPr>
            <p:ph idx="1"/>
          </p:nvPr>
        </p:nvSpPr>
        <p:spPr/>
        <p:txBody>
          <a:bodyPr/>
          <a:lstStyle/>
          <a:p>
            <a:r>
              <a:rPr lang="en-US" dirty="0" smtClean="0"/>
              <a:t>Clear cross-walks between different vocabularies </a:t>
            </a:r>
          </a:p>
          <a:p>
            <a:r>
              <a:rPr lang="en-US" dirty="0" smtClean="0"/>
              <a:t>Structured geographic information (as opposed to descriptive narratives) that can provide clear links from statistical data to its associated geography and from that geography to other available data </a:t>
            </a:r>
            <a:endParaRPr lang="en-US"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Outstanding Issues</a:t>
            </a: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for Geospatial data </a:t>
            </a:r>
            <a:endParaRPr lang="en-US" dirty="0"/>
          </a:p>
        </p:txBody>
      </p:sp>
      <p:sp>
        <p:nvSpPr>
          <p:cNvPr id="3" name="Content Placeholder 2"/>
          <p:cNvSpPr>
            <a:spLocks noGrp="1"/>
          </p:cNvSpPr>
          <p:nvPr>
            <p:ph idx="1"/>
          </p:nvPr>
        </p:nvSpPr>
        <p:spPr/>
        <p:txBody>
          <a:bodyPr/>
          <a:lstStyle/>
          <a:p>
            <a:r>
              <a:rPr lang="en-GB" dirty="0" smtClean="0"/>
              <a:t>In general there is great consistency within the geospatial community in terms of structures for describing geospatial data. The inconsistencies lay in the options for geospatial referencing systems and lack of clearly specified cross-walks between these referencing systems whether name or code based.</a:t>
            </a:r>
            <a:endParaRPr lang="en-US" dirty="0"/>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Issues for Statistical Data</a:t>
            </a:r>
            <a:endParaRPr lang="en-US" dirty="0"/>
          </a:p>
        </p:txBody>
      </p:sp>
      <p:sp>
        <p:nvSpPr>
          <p:cNvPr id="3" name="Content Placeholder 2"/>
          <p:cNvSpPr>
            <a:spLocks noGrp="1"/>
          </p:cNvSpPr>
          <p:nvPr>
            <p:ph idx="1"/>
          </p:nvPr>
        </p:nvSpPr>
        <p:spPr/>
        <p:txBody>
          <a:bodyPr/>
          <a:lstStyle/>
          <a:p>
            <a:r>
              <a:rPr lang="en-GB" dirty="0" smtClean="0"/>
              <a:t>The primary issues in creating clear linkages between geospatial areas as referenced by statistical data include: </a:t>
            </a:r>
            <a:endParaRPr lang="en-US" dirty="0" smtClean="0"/>
          </a:p>
          <a:p>
            <a:pPr lvl="1"/>
            <a:r>
              <a:rPr lang="en-GB" dirty="0" smtClean="0"/>
              <a:t>Lack of specificity in the statistical data of the geographic referencing system being used</a:t>
            </a:r>
            <a:endParaRPr lang="en-US" dirty="0" smtClean="0"/>
          </a:p>
          <a:p>
            <a:pPr lvl="1"/>
            <a:r>
              <a:rPr lang="en-GB" dirty="0" smtClean="0"/>
              <a:t>Lack of the referential geographic time (often not the same as that of the data)</a:t>
            </a:r>
            <a:endParaRPr lang="en-US" dirty="0" smtClean="0"/>
          </a:p>
          <a:p>
            <a:endParaRPr lang="en-US" dirty="0"/>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Community level approach</a:t>
            </a:r>
            <a:endParaRPr lang="en-US" dirty="0"/>
          </a:p>
        </p:txBody>
      </p:sp>
      <p:sp>
        <p:nvSpPr>
          <p:cNvPr id="3" name="Content Placeholder 2"/>
          <p:cNvSpPr>
            <a:spLocks noGrp="1"/>
          </p:cNvSpPr>
          <p:nvPr>
            <p:ph idx="1"/>
          </p:nvPr>
        </p:nvSpPr>
        <p:spPr/>
        <p:txBody>
          <a:bodyPr>
            <a:normAutofit fontScale="77500" lnSpcReduction="20000"/>
          </a:bodyPr>
          <a:lstStyle/>
          <a:p>
            <a:r>
              <a:rPr lang="en-GB" dirty="0" smtClean="0"/>
              <a:t>Community supported resources providing complete geospatial references (name, code, reference system, layer, and geographic time</a:t>
            </a:r>
            <a:r>
              <a:rPr lang="en-GB" dirty="0" smtClean="0"/>
              <a:t>)</a:t>
            </a:r>
          </a:p>
          <a:p>
            <a:r>
              <a:rPr lang="en-GB" dirty="0" smtClean="0"/>
              <a:t>Expansion of SDMX DSDs to include a full set of information </a:t>
            </a:r>
            <a:endParaRPr lang="en-GB" dirty="0" smtClean="0"/>
          </a:p>
          <a:p>
            <a:r>
              <a:rPr lang="en-GB" dirty="0" smtClean="0"/>
              <a:t>Tools </a:t>
            </a:r>
            <a:r>
              <a:rPr lang="en-GB" dirty="0" smtClean="0"/>
              <a:t>to facilitate their use by reference in statistical </a:t>
            </a:r>
            <a:r>
              <a:rPr lang="en-GB" dirty="0" smtClean="0"/>
              <a:t>data</a:t>
            </a:r>
          </a:p>
          <a:p>
            <a:pPr lvl="1"/>
            <a:r>
              <a:rPr lang="en-GB" dirty="0" smtClean="0"/>
              <a:t>Published Geographic Structures and Geographic Locations with selection tools (to provide reference URN</a:t>
            </a:r>
          </a:p>
          <a:p>
            <a:pPr lvl="1"/>
            <a:r>
              <a:rPr lang="en-GB" dirty="0" smtClean="0"/>
              <a:t>Crosswalks between structure and location vocabularies</a:t>
            </a:r>
          </a:p>
          <a:p>
            <a:pPr lvl="1"/>
            <a:r>
              <a:rPr lang="en-GB" dirty="0" smtClean="0"/>
              <a:t>Listing of bounding boxes for common geographies to auto-generate this set of information in a DDI instance</a:t>
            </a:r>
            <a:endParaRPr lang="en-US" dirty="0"/>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Special issues involved in linking historical data and non-standard spatial types</a:t>
            </a:r>
            <a:br>
              <a:rPr lang="en-US" dirty="0" smtClean="0"/>
            </a:br>
            <a:endParaRPr lang="en-US" dirty="0"/>
          </a:p>
        </p:txBody>
      </p:sp>
      <p:sp>
        <p:nvSpPr>
          <p:cNvPr id="3" name="Text Placeholder 2"/>
          <p:cNvSpPr>
            <a:spLocks noGrp="1"/>
          </p:cNvSpPr>
          <p:nvPr>
            <p:ph type="body" idx="1"/>
          </p:nvPr>
        </p:nvSpPr>
        <p:spPr/>
        <p:txBody>
          <a:bodyPr/>
          <a:lstStyle/>
          <a:p>
            <a:endParaRPr lang="en-US"/>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Historical data</a:t>
            </a:r>
            <a:endParaRPr lang="en-US" dirty="0"/>
          </a:p>
        </p:txBody>
      </p:sp>
      <p:sp>
        <p:nvSpPr>
          <p:cNvPr id="5" name="Content Placeholder 4"/>
          <p:cNvSpPr>
            <a:spLocks noGrp="1"/>
          </p:cNvSpPr>
          <p:nvPr>
            <p:ph idx="1"/>
          </p:nvPr>
        </p:nvSpPr>
        <p:spPr/>
        <p:txBody>
          <a:bodyPr/>
          <a:lstStyle/>
          <a:p>
            <a:r>
              <a:rPr lang="en-US" dirty="0" smtClean="0"/>
              <a:t>Lack of shape files</a:t>
            </a:r>
          </a:p>
          <a:p>
            <a:r>
              <a:rPr lang="en-US" dirty="0" smtClean="0"/>
              <a:t>Inaccuracy and ambiguity in boarders</a:t>
            </a:r>
          </a:p>
          <a:p>
            <a:r>
              <a:rPr lang="en-US" dirty="0" smtClean="0"/>
              <a:t>Unclear dating</a:t>
            </a:r>
          </a:p>
          <a:p>
            <a:r>
              <a:rPr lang="en-US" dirty="0" smtClean="0"/>
              <a:t>Uncertainty of the geographic coverage of the data</a:t>
            </a:r>
            <a:endParaRPr lang="en-US" dirty="0"/>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Non-standard geography</a:t>
            </a:r>
            <a:endParaRPr lang="en-US" dirty="0"/>
          </a:p>
        </p:txBody>
      </p:sp>
      <p:sp>
        <p:nvSpPr>
          <p:cNvPr id="3" name="Content Placeholder 2"/>
          <p:cNvSpPr>
            <a:spLocks noGrp="1"/>
          </p:cNvSpPr>
          <p:nvPr>
            <p:ph idx="1"/>
          </p:nvPr>
        </p:nvSpPr>
        <p:spPr>
          <a:xfrm>
            <a:off x="457200" y="1600200"/>
            <a:ext cx="8077200" cy="4525963"/>
          </a:xfrm>
        </p:spPr>
        <p:txBody>
          <a:bodyPr>
            <a:normAutofit fontScale="92500" lnSpcReduction="20000"/>
          </a:bodyPr>
          <a:lstStyle/>
          <a:p>
            <a:r>
              <a:rPr lang="en-US" dirty="0" smtClean="0"/>
              <a:t>Lack of shape files</a:t>
            </a:r>
          </a:p>
          <a:p>
            <a:r>
              <a:rPr lang="en-US" dirty="0" smtClean="0"/>
              <a:t>Ambiguous boarders</a:t>
            </a:r>
          </a:p>
          <a:p>
            <a:r>
              <a:rPr lang="en-US" dirty="0" smtClean="0"/>
              <a:t>Lack of geographic structure specification</a:t>
            </a:r>
          </a:p>
          <a:p>
            <a:r>
              <a:rPr lang="en-US" dirty="0" smtClean="0"/>
              <a:t>Unique naming conventions</a:t>
            </a:r>
          </a:p>
          <a:p>
            <a:r>
              <a:rPr lang="en-US" dirty="0" smtClean="0"/>
              <a:t>Minimum requirements:</a:t>
            </a:r>
          </a:p>
          <a:p>
            <a:pPr lvl="1"/>
            <a:r>
              <a:rPr lang="en-US" dirty="0" smtClean="0"/>
              <a:t>Define areas by conventional coordinate system in order to place it correctly on the earth’s surface</a:t>
            </a:r>
          </a:p>
          <a:p>
            <a:pPr lvl="1"/>
            <a:r>
              <a:rPr lang="en-US" dirty="0" smtClean="0"/>
              <a:t>Develop and codify the geographic structures and any underlying hierarchies and layers</a:t>
            </a:r>
          </a:p>
          <a:p>
            <a:pPr lvl="1"/>
            <a:r>
              <a:rPr lang="en-US" dirty="0" smtClean="0"/>
              <a:t>Uniquely identify each area by geographic structure type, name, and geographic date</a:t>
            </a:r>
            <a:endParaRPr lang="en-US" dirty="0"/>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274638"/>
            <a:ext cx="8229600" cy="1143000"/>
          </a:xfrm>
        </p:spPr>
        <p:txBody>
          <a:bodyPr>
            <a:normAutofit fontScale="90000"/>
          </a:bodyPr>
          <a:lstStyle/>
          <a:p>
            <a:r>
              <a:rPr lang="en-US" dirty="0" smtClean="0"/>
              <a:t>Links to geospatial metadata information</a:t>
            </a:r>
            <a:endParaRPr lang="en-US" dirty="0"/>
          </a:p>
        </p:txBody>
      </p:sp>
      <p:sp>
        <p:nvSpPr>
          <p:cNvPr id="5" name="Content Placeholder 4"/>
          <p:cNvSpPr>
            <a:spLocks noGrp="1"/>
          </p:cNvSpPr>
          <p:nvPr>
            <p:ph idx="1"/>
          </p:nvPr>
        </p:nvSpPr>
        <p:spPr>
          <a:xfrm>
            <a:off x="457200" y="1600200"/>
            <a:ext cx="8458200" cy="4525963"/>
          </a:xfrm>
        </p:spPr>
        <p:txBody>
          <a:bodyPr>
            <a:normAutofit fontScale="85000" lnSpcReduction="20000"/>
          </a:bodyPr>
          <a:lstStyle/>
          <a:p>
            <a:r>
              <a:rPr lang="en-US" dirty="0" smtClean="0"/>
              <a:t>Open </a:t>
            </a:r>
            <a:r>
              <a:rPr lang="en-US" dirty="0" err="1" smtClean="0"/>
              <a:t>Geopspatial</a:t>
            </a:r>
            <a:r>
              <a:rPr lang="en-US" dirty="0" smtClean="0"/>
              <a:t> </a:t>
            </a:r>
          </a:p>
          <a:p>
            <a:pPr lvl="1"/>
            <a:r>
              <a:rPr lang="en-GB" u="sng" dirty="0" smtClean="0">
                <a:hlinkClick r:id="rId2"/>
              </a:rPr>
              <a:t>http://</a:t>
            </a:r>
            <a:r>
              <a:rPr lang="en-GB" u="sng" dirty="0" smtClean="0">
                <a:hlinkClick r:id="rId2"/>
              </a:rPr>
              <a:t>www.opengeospatial.org/standards/wms</a:t>
            </a:r>
            <a:endParaRPr lang="en-GB" u="sng" dirty="0" smtClean="0"/>
          </a:p>
          <a:p>
            <a:r>
              <a:rPr lang="en-GB" dirty="0" smtClean="0"/>
              <a:t>ISO 19115-1:2014 Geographic information - Metadata</a:t>
            </a:r>
          </a:p>
          <a:p>
            <a:pPr lvl="1"/>
            <a:r>
              <a:rPr lang="en-GB" u="sng" dirty="0" smtClean="0">
                <a:hlinkClick r:id="rId3"/>
              </a:rPr>
              <a:t>http://</a:t>
            </a:r>
            <a:r>
              <a:rPr lang="en-GB" u="sng" dirty="0" smtClean="0">
                <a:hlinkClick r:id="rId3"/>
              </a:rPr>
              <a:t>www.iso.org/iso/home/store/catalogue_tc/catalogue_detail.htm?csnumber=53798</a:t>
            </a:r>
            <a:endParaRPr lang="en-GB" u="sng" dirty="0" smtClean="0"/>
          </a:p>
          <a:p>
            <a:r>
              <a:rPr lang="en-GB" u="sng" dirty="0" smtClean="0"/>
              <a:t>ISO 19119:2005(en) Geographic information – Services</a:t>
            </a:r>
          </a:p>
          <a:p>
            <a:pPr lvl="1"/>
            <a:r>
              <a:rPr lang="en-GB" u="sng" dirty="0" smtClean="0">
                <a:hlinkClick r:id="rId4"/>
              </a:rPr>
              <a:t>https://www.iso.org/obp/ui/#</a:t>
            </a:r>
            <a:r>
              <a:rPr lang="en-GB" u="sng" dirty="0" smtClean="0">
                <a:hlinkClick r:id="rId4"/>
              </a:rPr>
              <a:t>iso:std:iso:19119:ed-1:v1:en</a:t>
            </a:r>
            <a:endParaRPr lang="en-GB" u="sng" dirty="0" smtClean="0"/>
          </a:p>
          <a:p>
            <a:r>
              <a:rPr lang="en-US" dirty="0" smtClean="0"/>
              <a:t>ISO 19136:2007 Geographic Markup Language (GML)</a:t>
            </a:r>
          </a:p>
          <a:p>
            <a:pPr lvl="1"/>
            <a:r>
              <a:rPr lang="en-GB" u="sng" dirty="0" smtClean="0">
                <a:hlinkClick r:id="rId5"/>
              </a:rPr>
              <a:t>http://www.iso.org/iso/iso_catalogue/catalogue_tc/catalogue_detail.htm?csnumber=32554</a:t>
            </a: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Technic">
  <a:themeElements>
    <a:clrScheme name="Technic">
      <a:dk1>
        <a:sysClr val="windowText" lastClr="000000"/>
      </a:dk1>
      <a:lt1>
        <a:sysClr val="window" lastClr="FFFFFF"/>
      </a:lt1>
      <a:dk2>
        <a:srgbClr val="3B3B3B"/>
      </a:dk2>
      <a:lt2>
        <a:srgbClr val="D4D2D0"/>
      </a:lt2>
      <a:accent1>
        <a:srgbClr val="6EA0B0"/>
      </a:accent1>
      <a:accent2>
        <a:srgbClr val="CCAF0A"/>
      </a:accent2>
      <a:accent3>
        <a:srgbClr val="8D89A4"/>
      </a:accent3>
      <a:accent4>
        <a:srgbClr val="748560"/>
      </a:accent4>
      <a:accent5>
        <a:srgbClr val="9E9273"/>
      </a:accent5>
      <a:accent6>
        <a:srgbClr val="7E848D"/>
      </a:accent6>
      <a:hlink>
        <a:srgbClr val="00C8C3"/>
      </a:hlink>
      <a:folHlink>
        <a:srgbClr val="A116E0"/>
      </a:folHlink>
    </a:clrScheme>
    <a:fontScheme name="Technic">
      <a:majorFont>
        <a:latin typeface="Franklin Gothic Book"/>
        <a:ea typeface=""/>
        <a:cs typeface=""/>
        <a:font script="Jpan" typeface="ＭＳ Ｐゴシック"/>
        <a:font script="Hang" typeface="HY견고딕"/>
        <a:font script="Hans" typeface="宋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HGｺﾞｼｯｸM"/>
        <a:font script="Hang" typeface="HY중고딕"/>
        <a:font script="Hans" typeface="黑体"/>
        <a:font script="Hant" typeface="微軟正黑體"/>
        <a:font script="Arab" typeface="Tahoma"/>
        <a:font script="Hebr" typeface="Levenim MT"/>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Technic">
      <a:fillStyleLst>
        <a:solidFill>
          <a:schemeClr val="phClr"/>
        </a:solidFill>
        <a:gradFill rotWithShape="1">
          <a:gsLst>
            <a:gs pos="0">
              <a:schemeClr val="phClr">
                <a:tint val="1000"/>
              </a:schemeClr>
            </a:gs>
            <a:gs pos="68000">
              <a:schemeClr val="phClr">
                <a:tint val="77000"/>
              </a:schemeClr>
            </a:gs>
            <a:gs pos="81000">
              <a:schemeClr val="phClr">
                <a:tint val="79000"/>
              </a:schemeClr>
            </a:gs>
            <a:gs pos="86000">
              <a:schemeClr val="phClr">
                <a:tint val="73000"/>
              </a:schemeClr>
            </a:gs>
            <a:gs pos="100000">
              <a:schemeClr val="phClr">
                <a:tint val="35000"/>
              </a:schemeClr>
            </a:gs>
          </a:gsLst>
          <a:lin ang="5400000" scaled="1"/>
        </a:gradFill>
        <a:gradFill rotWithShape="1">
          <a:gsLst>
            <a:gs pos="0">
              <a:schemeClr val="phClr">
                <a:tint val="73000"/>
                <a:satMod val="150000"/>
              </a:schemeClr>
            </a:gs>
            <a:gs pos="25000">
              <a:schemeClr val="phClr">
                <a:tint val="96000"/>
                <a:shade val="80000"/>
                <a:satMod val="105000"/>
              </a:schemeClr>
            </a:gs>
            <a:gs pos="38000">
              <a:schemeClr val="phClr">
                <a:tint val="96000"/>
                <a:shade val="59000"/>
                <a:satMod val="120000"/>
              </a:schemeClr>
            </a:gs>
            <a:gs pos="55000">
              <a:schemeClr val="phClr">
                <a:shade val="57000"/>
                <a:satMod val="120000"/>
              </a:schemeClr>
            </a:gs>
            <a:gs pos="80000">
              <a:schemeClr val="phClr">
                <a:shade val="56000"/>
                <a:satMod val="145000"/>
              </a:schemeClr>
            </a:gs>
            <a:gs pos="88000">
              <a:schemeClr val="phClr">
                <a:shade val="63000"/>
                <a:satMod val="160000"/>
              </a:schemeClr>
            </a:gs>
            <a:gs pos="100000">
              <a:schemeClr val="phClr">
                <a:tint val="99555"/>
                <a:satMod val="155000"/>
              </a:schemeClr>
            </a:gs>
          </a:gsLst>
          <a:lin ang="5400000" scaled="1"/>
        </a:gradFill>
      </a:fillStyleLst>
      <a:lnStyleLst>
        <a:ln w="9525" cap="flat" cmpd="sng" algn="ctr">
          <a:solidFill>
            <a:schemeClr val="phClr">
              <a:shade val="60000"/>
              <a:satMod val="300000"/>
            </a:schemeClr>
          </a:solidFill>
          <a:prstDash val="solid"/>
        </a:ln>
        <a:ln w="19050" cap="flat" cmpd="sng" algn="ctr">
          <a:solidFill>
            <a:schemeClr val="phClr"/>
          </a:solidFill>
          <a:prstDash val="solid"/>
        </a:ln>
        <a:ln w="19050" cap="flat" cmpd="sng" algn="ctr">
          <a:solidFill>
            <a:schemeClr val="phClr"/>
          </a:solidFill>
          <a:prstDash val="solid"/>
        </a:ln>
      </a:lnStyleLst>
      <a:effectStyleLst>
        <a:effectStyle>
          <a:effectLst>
            <a:glow rad="63500">
              <a:schemeClr val="phClr">
                <a:tint val="30000"/>
                <a:shade val="95000"/>
                <a:satMod val="300000"/>
                <a:alpha val="50000"/>
              </a:schemeClr>
            </a:glow>
          </a:effectLst>
        </a:effectStyle>
        <a:effectStyle>
          <a:effectLst>
            <a:glow rad="70000">
              <a:schemeClr val="phClr">
                <a:tint val="30000"/>
                <a:shade val="95000"/>
                <a:satMod val="300000"/>
                <a:alpha val="50000"/>
              </a:schemeClr>
            </a:glow>
          </a:effectLst>
        </a:effectStyle>
        <a:effectStyle>
          <a:effectLst>
            <a:glow rad="76200">
              <a:schemeClr val="phClr">
                <a:tint val="30000"/>
                <a:shade val="95000"/>
                <a:satMod val="300000"/>
                <a:alpha val="50000"/>
              </a:schemeClr>
            </a:glow>
          </a:effectLst>
          <a:scene3d>
            <a:camera prst="orthographicFront" fov="0">
              <a:rot lat="0" lon="0" rev="0"/>
            </a:camera>
            <a:lightRig rig="harsh" dir="t">
              <a:rot lat="6000000" lon="6000000" rev="0"/>
            </a:lightRig>
          </a:scene3d>
          <a:sp3d contourW="10000" prstMaterial="metal">
            <a:bevelT w="20000" h="9000" prst="softRound"/>
            <a:contourClr>
              <a:schemeClr val="phClr">
                <a:shade val="30000"/>
                <a:satMod val="200000"/>
              </a:schemeClr>
            </a:contourClr>
          </a:sp3d>
        </a:effectStyle>
      </a:effectStyleLst>
      <a:bgFillStyleLst>
        <a:solidFill>
          <a:schemeClr val="phClr"/>
        </a:solidFill>
        <a:gradFill rotWithShape="1">
          <a:gsLst>
            <a:gs pos="0">
              <a:schemeClr val="phClr">
                <a:shade val="40000"/>
                <a:satMod val="150000"/>
              </a:schemeClr>
            </a:gs>
            <a:gs pos="30000">
              <a:schemeClr val="phClr">
                <a:shade val="60000"/>
                <a:satMod val="150000"/>
              </a:schemeClr>
            </a:gs>
            <a:gs pos="100000">
              <a:schemeClr val="phClr">
                <a:tint val="83000"/>
                <a:satMod val="200000"/>
              </a:schemeClr>
            </a:gs>
          </a:gsLst>
          <a:lin ang="13000000" scaled="0"/>
        </a:gradFill>
        <a:gradFill rotWithShape="1">
          <a:gsLst>
            <a:gs pos="0">
              <a:schemeClr val="phClr">
                <a:tint val="78000"/>
                <a:satMod val="220000"/>
              </a:schemeClr>
            </a:gs>
            <a:gs pos="100000">
              <a:schemeClr val="phClr">
                <a:shade val="35000"/>
                <a:satMod val="155000"/>
              </a:schemeClr>
            </a:gs>
          </a:gsLst>
          <a:path path="circle">
            <a:fillToRect l="60000" t="50000" r="4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Technic</Template>
  <TotalTime>1549</TotalTime>
  <Words>2980</Words>
  <Application>Microsoft Office PowerPoint</Application>
  <PresentationFormat>On-screen Show (4:3)</PresentationFormat>
  <Paragraphs>321</Paragraphs>
  <Slides>52</Slides>
  <Notes>0</Notes>
  <HiddenSlides>0</HiddenSlides>
  <MMClips>0</MMClips>
  <ScaleCrop>false</ScaleCrop>
  <HeadingPairs>
    <vt:vector size="4" baseType="variant">
      <vt:variant>
        <vt:lpstr>Theme</vt:lpstr>
      </vt:variant>
      <vt:variant>
        <vt:i4>1</vt:i4>
      </vt:variant>
      <vt:variant>
        <vt:lpstr>Slide Titles</vt:lpstr>
      </vt:variant>
      <vt:variant>
        <vt:i4>52</vt:i4>
      </vt:variant>
    </vt:vector>
  </HeadingPairs>
  <TitlesOfParts>
    <vt:vector size="53" baseType="lpstr">
      <vt:lpstr>Technic</vt:lpstr>
      <vt:lpstr>The interface between spatial and statistical data</vt:lpstr>
      <vt:lpstr>Abstract</vt:lpstr>
      <vt:lpstr>Organization of Workshop</vt:lpstr>
      <vt:lpstr>Who are you?</vt:lpstr>
      <vt:lpstr>Information used to create accurate links between data sets at the spatial level </vt:lpstr>
      <vt:lpstr>What is geospatial data?</vt:lpstr>
      <vt:lpstr>Define “geospatial data” for a non-GIS professional</vt:lpstr>
      <vt:lpstr>Define “geospatial data” for a non-GIS professional</vt:lpstr>
      <vt:lpstr>What is statistical data?</vt:lpstr>
      <vt:lpstr>What is statistics?</vt:lpstr>
      <vt:lpstr>Summary</vt:lpstr>
      <vt:lpstr>So what’s the problem?</vt:lpstr>
      <vt:lpstr>What’s needed</vt:lpstr>
      <vt:lpstr>Let’s start with spatial data</vt:lpstr>
      <vt:lpstr>Let’s start with spatial data</vt:lpstr>
      <vt:lpstr>Let’s start with spatial data</vt:lpstr>
      <vt:lpstr>Storage layers</vt:lpstr>
      <vt:lpstr>Associating Attributes</vt:lpstr>
      <vt:lpstr>What does that mean?</vt:lpstr>
      <vt:lpstr>The basics of geospatial description</vt:lpstr>
      <vt:lpstr>Focus on common spatial types in statistical data</vt:lpstr>
      <vt:lpstr>Focus on common spatial types in statistical data</vt:lpstr>
      <vt:lpstr>Focus on common spatial types in statistical data</vt:lpstr>
      <vt:lpstr>Linking statistical data at the spatial layer</vt:lpstr>
      <vt:lpstr>What type of space is it?</vt:lpstr>
      <vt:lpstr>Which space of that type?</vt:lpstr>
      <vt:lpstr>Do the time frames match?</vt:lpstr>
      <vt:lpstr>Summary of linking between statistical data sets</vt:lpstr>
      <vt:lpstr>Linking statistical data to geospatial data</vt:lpstr>
      <vt:lpstr>Structures in commonly used standards to capture this information </vt:lpstr>
      <vt:lpstr>DDI Codebook</vt:lpstr>
      <vt:lpstr>DDI-Codebook (cont.)</vt:lpstr>
      <vt:lpstr>DDI-Codebook (cont.)</vt:lpstr>
      <vt:lpstr>DDI-C: Outstanding Issues</vt:lpstr>
      <vt:lpstr>DDI-Lifecycle</vt:lpstr>
      <vt:lpstr>DDI-Lifecycle (cont.)</vt:lpstr>
      <vt:lpstr>DDI-Lifecycle (cont.)</vt:lpstr>
      <vt:lpstr>SDMX</vt:lpstr>
      <vt:lpstr>GSBPM/GSIM/CSPA</vt:lpstr>
      <vt:lpstr>Content that should be provided by data producers in order to support the search for related data in an open-data environment </vt:lpstr>
      <vt:lpstr>Study level information</vt:lpstr>
      <vt:lpstr>How do geographers search?</vt:lpstr>
      <vt:lpstr>Slide 43</vt:lpstr>
      <vt:lpstr>Following links</vt:lpstr>
      <vt:lpstr>Outstanding Issues</vt:lpstr>
      <vt:lpstr>Issues for Geospatial data </vt:lpstr>
      <vt:lpstr>Issues for Statistical Data</vt:lpstr>
      <vt:lpstr>Community level approach</vt:lpstr>
      <vt:lpstr>Special issues involved in linking historical data and non-standard spatial types </vt:lpstr>
      <vt:lpstr>Historical data</vt:lpstr>
      <vt:lpstr>Non-standard geography</vt:lpstr>
      <vt:lpstr>Links to geospatial metadata information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interface between spatial and statistical data</dc:title>
  <dc:creator>wendy</dc:creator>
  <cp:lastModifiedBy>wendy</cp:lastModifiedBy>
  <cp:revision>4</cp:revision>
  <dcterms:created xsi:type="dcterms:W3CDTF">2015-11-30T09:18:33Z</dcterms:created>
  <dcterms:modified xsi:type="dcterms:W3CDTF">2015-12-01T11:08:02Z</dcterms:modified>
</cp:coreProperties>
</file>