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sldIdLst>
    <p:sldId id="257" r:id="rId2"/>
    <p:sldId id="271" r:id="rId3"/>
    <p:sldId id="258" r:id="rId4"/>
    <p:sldId id="259" r:id="rId5"/>
    <p:sldId id="272" r:id="rId6"/>
    <p:sldId id="262" r:id="rId7"/>
    <p:sldId id="261" r:id="rId8"/>
    <p:sldId id="263" r:id="rId9"/>
    <p:sldId id="264" r:id="rId10"/>
    <p:sldId id="265" r:id="rId11"/>
    <p:sldId id="266" r:id="rId12"/>
    <p:sldId id="274" r:id="rId13"/>
    <p:sldId id="267" r:id="rId14"/>
    <p:sldId id="268" r:id="rId15"/>
    <p:sldId id="270" r:id="rId16"/>
    <p:sldId id="273" r:id="rId17"/>
    <p:sldId id="275" r:id="rId18"/>
    <p:sldId id="277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82335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5580112" y="5516389"/>
            <a:ext cx="1296144" cy="1080963"/>
          </a:xfrm>
        </p:spPr>
        <p:txBody>
          <a:bodyPr>
            <a:normAutofit/>
          </a:bodyPr>
          <a:lstStyle>
            <a:lvl1pPr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sz="1200" dirty="0" smtClean="0">
                <a:latin typeface="Arial" pitchFamily="34" charset="0"/>
                <a:cs typeface="Arial" pitchFamily="34" charset="0"/>
              </a:rPr>
              <a:t>Insert your logo</a:t>
            </a:r>
            <a:endParaRPr lang="en-GB" dirty="0"/>
          </a:p>
        </p:txBody>
      </p:sp>
      <p:pic>
        <p:nvPicPr>
          <p:cNvPr id="8" name="Picture 7" descr="Closer_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020272" y="5536061"/>
            <a:ext cx="1719131" cy="91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1757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5580112" y="5516389"/>
            <a:ext cx="1296144" cy="1080963"/>
          </a:xfrm>
        </p:spPr>
        <p:txBody>
          <a:bodyPr>
            <a:normAutofit/>
          </a:bodyPr>
          <a:lstStyle>
            <a:lvl1pPr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sz="1200" dirty="0" smtClean="0">
                <a:latin typeface="Arial" pitchFamily="34" charset="0"/>
                <a:cs typeface="Arial" pitchFamily="34" charset="0"/>
              </a:rPr>
              <a:t>Insert your logo</a:t>
            </a:r>
            <a:endParaRPr lang="en-GB" dirty="0"/>
          </a:p>
        </p:txBody>
      </p:sp>
      <p:pic>
        <p:nvPicPr>
          <p:cNvPr id="8" name="Picture 7" descr="Closer_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020272" y="5536061"/>
            <a:ext cx="1719131" cy="91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4586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8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5580112" y="5516389"/>
            <a:ext cx="1296144" cy="1080963"/>
          </a:xfrm>
        </p:spPr>
        <p:txBody>
          <a:bodyPr>
            <a:normAutofit/>
          </a:bodyPr>
          <a:lstStyle>
            <a:lvl1pPr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sz="1200" dirty="0" smtClean="0">
                <a:latin typeface="Arial" pitchFamily="34" charset="0"/>
                <a:cs typeface="Arial" pitchFamily="34" charset="0"/>
              </a:rPr>
              <a:t>Insert your logo</a:t>
            </a:r>
            <a:endParaRPr lang="en-GB" dirty="0"/>
          </a:p>
        </p:txBody>
      </p:sp>
      <p:pic>
        <p:nvPicPr>
          <p:cNvPr id="9" name="Picture 8" descr="Closer_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020272" y="5536061"/>
            <a:ext cx="1719131" cy="91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6349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5580112" y="5516389"/>
            <a:ext cx="1296144" cy="1080963"/>
          </a:xfrm>
        </p:spPr>
        <p:txBody>
          <a:bodyPr>
            <a:normAutofit/>
          </a:bodyPr>
          <a:lstStyle>
            <a:lvl1pPr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sz="1200" dirty="0" smtClean="0">
                <a:latin typeface="Arial" pitchFamily="34" charset="0"/>
                <a:cs typeface="Arial" pitchFamily="34" charset="0"/>
              </a:rPr>
              <a:t>Insert your logo</a:t>
            </a:r>
            <a:endParaRPr lang="en-GB" dirty="0"/>
          </a:p>
        </p:txBody>
      </p:sp>
      <p:pic>
        <p:nvPicPr>
          <p:cNvPr id="11" name="Picture 10" descr="Closer_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020272" y="5536061"/>
            <a:ext cx="1719131" cy="91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2107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5580112" y="5516389"/>
            <a:ext cx="1296144" cy="1080963"/>
          </a:xfrm>
        </p:spPr>
        <p:txBody>
          <a:bodyPr>
            <a:normAutofit/>
          </a:bodyPr>
          <a:lstStyle>
            <a:lvl1pPr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sz="1200" dirty="0" smtClean="0">
                <a:latin typeface="Arial" pitchFamily="34" charset="0"/>
                <a:cs typeface="Arial" pitchFamily="34" charset="0"/>
              </a:rPr>
              <a:t>Insert your logo</a:t>
            </a:r>
            <a:endParaRPr lang="en-GB" dirty="0"/>
          </a:p>
        </p:txBody>
      </p:sp>
      <p:pic>
        <p:nvPicPr>
          <p:cNvPr id="7" name="Picture 6" descr="Closer_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020272" y="5536061"/>
            <a:ext cx="1719131" cy="91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2285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5580112" y="5516389"/>
            <a:ext cx="1296144" cy="1080963"/>
          </a:xfrm>
        </p:spPr>
        <p:txBody>
          <a:bodyPr>
            <a:normAutofit/>
          </a:bodyPr>
          <a:lstStyle>
            <a:lvl1pPr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sz="1200" dirty="0" smtClean="0">
                <a:latin typeface="Arial" pitchFamily="34" charset="0"/>
                <a:cs typeface="Arial" pitchFamily="34" charset="0"/>
              </a:rPr>
              <a:t>Insert your logo</a:t>
            </a:r>
            <a:endParaRPr lang="en-GB" dirty="0"/>
          </a:p>
        </p:txBody>
      </p:sp>
      <p:pic>
        <p:nvPicPr>
          <p:cNvPr id="6" name="Picture 5" descr="Closer_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020272" y="5536061"/>
            <a:ext cx="1719131" cy="91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6219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5580112" y="5516389"/>
            <a:ext cx="1296144" cy="1080963"/>
          </a:xfrm>
        </p:spPr>
        <p:txBody>
          <a:bodyPr>
            <a:normAutofit/>
          </a:bodyPr>
          <a:lstStyle>
            <a:lvl1pPr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sz="1200" dirty="0" smtClean="0">
                <a:latin typeface="Arial" pitchFamily="34" charset="0"/>
                <a:cs typeface="Arial" pitchFamily="34" charset="0"/>
              </a:rPr>
              <a:t>Insert your logo</a:t>
            </a:r>
            <a:endParaRPr lang="en-GB" dirty="0"/>
          </a:p>
        </p:txBody>
      </p:sp>
      <p:pic>
        <p:nvPicPr>
          <p:cNvPr id="9" name="Picture 8" descr="Closer_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020272" y="5536061"/>
            <a:ext cx="1719131" cy="91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5270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5580112" y="5516389"/>
            <a:ext cx="1296144" cy="1080963"/>
          </a:xfrm>
        </p:spPr>
        <p:txBody>
          <a:bodyPr>
            <a:normAutofit/>
          </a:bodyPr>
          <a:lstStyle>
            <a:lvl1pPr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sz="1200" dirty="0" smtClean="0">
                <a:latin typeface="Arial" pitchFamily="34" charset="0"/>
                <a:cs typeface="Arial" pitchFamily="34" charset="0"/>
              </a:rPr>
              <a:t>Insert your logo</a:t>
            </a:r>
            <a:endParaRPr lang="en-GB" dirty="0"/>
          </a:p>
        </p:txBody>
      </p:sp>
      <p:pic>
        <p:nvPicPr>
          <p:cNvPr id="9" name="Picture 8" descr="Closer_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020272" y="5536061"/>
            <a:ext cx="1719131" cy="91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4213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5580112" y="5516389"/>
            <a:ext cx="1296144" cy="1080963"/>
          </a:xfrm>
        </p:spPr>
        <p:txBody>
          <a:bodyPr>
            <a:normAutofit/>
          </a:bodyPr>
          <a:lstStyle>
            <a:lvl1pPr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sz="1200" dirty="0" smtClean="0">
                <a:latin typeface="Arial" pitchFamily="34" charset="0"/>
                <a:cs typeface="Arial" pitchFamily="34" charset="0"/>
              </a:rPr>
              <a:t>Insert your logo</a:t>
            </a:r>
            <a:endParaRPr lang="en-GB" dirty="0"/>
          </a:p>
        </p:txBody>
      </p:sp>
      <p:pic>
        <p:nvPicPr>
          <p:cNvPr id="10" name="Picture 9" descr="Closer_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020272" y="5536061"/>
            <a:ext cx="1719131" cy="91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475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5580112" y="5516389"/>
            <a:ext cx="1296144" cy="1080963"/>
          </a:xfrm>
        </p:spPr>
        <p:txBody>
          <a:bodyPr>
            <a:normAutofit/>
          </a:bodyPr>
          <a:lstStyle>
            <a:lvl1pPr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sz="1200" dirty="0" smtClean="0">
                <a:latin typeface="Arial" pitchFamily="34" charset="0"/>
                <a:cs typeface="Arial" pitchFamily="34" charset="0"/>
              </a:rPr>
              <a:t>Insert your logo</a:t>
            </a:r>
            <a:endParaRPr lang="en-GB" dirty="0"/>
          </a:p>
        </p:txBody>
      </p:sp>
      <p:pic>
        <p:nvPicPr>
          <p:cNvPr id="8" name="Picture 7" descr="Closer_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020272" y="5536061"/>
            <a:ext cx="1719131" cy="91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7064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Q:\FPS\QSS\CLOSER\Communications\Logos\JPEG\Closer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27763" y="431378"/>
            <a:ext cx="2514600" cy="134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0" descr="MRC Logo  - 100h.jp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27278" y="5661248"/>
            <a:ext cx="1797050" cy="865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ESRC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60456" y="5661248"/>
            <a:ext cx="1016000" cy="849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343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GB" dirty="0"/>
          </a:p>
        </p:txBody>
      </p:sp>
      <p:sp>
        <p:nvSpPr>
          <p:cNvPr id="8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467544" y="5444381"/>
            <a:ext cx="1296144" cy="1080963"/>
          </a:xfrm>
        </p:spPr>
        <p:txBody>
          <a:bodyPr>
            <a:normAutofit/>
          </a:bodyPr>
          <a:lstStyle>
            <a:lvl1pPr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sz="1200" dirty="0" smtClean="0">
                <a:latin typeface="Arial" pitchFamily="34" charset="0"/>
                <a:cs typeface="Arial" pitchFamily="34" charset="0"/>
              </a:rPr>
              <a:t>Insert your logo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57320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3568" y="404664"/>
            <a:ext cx="7772400" cy="1470025"/>
          </a:xfrm>
        </p:spPr>
        <p:txBody>
          <a:bodyPr/>
          <a:lstStyle>
            <a:lvl1pPr>
              <a:defRPr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Heading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95536" y="1988840"/>
            <a:ext cx="8352928" cy="316835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enter text</a:t>
            </a:r>
            <a:endParaRPr lang="en-GB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5580112" y="5516389"/>
            <a:ext cx="1296144" cy="1080963"/>
          </a:xfrm>
        </p:spPr>
        <p:txBody>
          <a:bodyPr>
            <a:normAutofit/>
          </a:bodyPr>
          <a:lstStyle>
            <a:lvl1pPr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sz="1200" dirty="0" smtClean="0">
                <a:latin typeface="Arial" pitchFamily="34" charset="0"/>
                <a:cs typeface="Arial" pitchFamily="34" charset="0"/>
              </a:rPr>
              <a:t>Insert your logo</a:t>
            </a:r>
            <a:endParaRPr lang="en-GB" dirty="0"/>
          </a:p>
        </p:txBody>
      </p:sp>
      <p:pic>
        <p:nvPicPr>
          <p:cNvPr id="11" name="Picture 10" descr="Closer_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020272" y="5536061"/>
            <a:ext cx="1719131" cy="91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2026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3568" y="404664"/>
            <a:ext cx="7772400" cy="1470025"/>
          </a:xfrm>
        </p:spPr>
        <p:txBody>
          <a:bodyPr/>
          <a:lstStyle>
            <a:lvl1pPr>
              <a:defRPr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Heading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95536" y="1988840"/>
            <a:ext cx="8352928" cy="316835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enter text</a:t>
            </a:r>
            <a:endParaRPr lang="en-GB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5580112" y="5516389"/>
            <a:ext cx="1296144" cy="1080963"/>
          </a:xfrm>
        </p:spPr>
        <p:txBody>
          <a:bodyPr>
            <a:normAutofit/>
          </a:bodyPr>
          <a:lstStyle>
            <a:lvl1pPr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sz="1200" dirty="0" smtClean="0">
                <a:latin typeface="Arial" pitchFamily="34" charset="0"/>
                <a:cs typeface="Arial" pitchFamily="34" charset="0"/>
              </a:rPr>
              <a:t>Insert your logo</a:t>
            </a:r>
            <a:endParaRPr lang="en-GB" dirty="0"/>
          </a:p>
        </p:txBody>
      </p:sp>
      <p:pic>
        <p:nvPicPr>
          <p:cNvPr id="11" name="Picture 10" descr="Closer_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020272" y="5536061"/>
            <a:ext cx="1719131" cy="91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163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5580112" y="5516389"/>
            <a:ext cx="1296144" cy="1080963"/>
          </a:xfrm>
        </p:spPr>
        <p:txBody>
          <a:bodyPr>
            <a:normAutofit/>
          </a:bodyPr>
          <a:lstStyle>
            <a:lvl1pPr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sz="1200" dirty="0" smtClean="0">
                <a:latin typeface="Arial" pitchFamily="34" charset="0"/>
                <a:cs typeface="Arial" pitchFamily="34" charset="0"/>
              </a:rPr>
              <a:t>Insert your logo</a:t>
            </a:r>
            <a:endParaRPr lang="en-GB" dirty="0"/>
          </a:p>
        </p:txBody>
      </p:sp>
      <p:pic>
        <p:nvPicPr>
          <p:cNvPr id="7" name="Picture 6" descr="Closer_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020272" y="5536061"/>
            <a:ext cx="1719131" cy="91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4170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2721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discovery.closer.ac.uk/" TargetMode="External"/><Relationship Id="rId2" Type="http://schemas.openxmlformats.org/officeDocument/2006/relationships/hyperlink" Target="http://www.closer.ac.uk/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discovery.closer.ac.uk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/>
              <a:t>Metadata in a Thousand Files: Bringing it all Together</a:t>
            </a:r>
            <a:endParaRPr lang="en-GB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41500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Claude Gierl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 smtClean="0">
                <a:solidFill>
                  <a:schemeClr val="tx1"/>
                </a:solidFill>
              </a:rPr>
              <a:t>Jon Johnson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Metadata in a Thousand Files: Bringing it all Together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 smtClean="0">
              <a:solidFill>
                <a:schemeClr val="tx1"/>
              </a:solidFill>
            </a:endParaRPr>
          </a:p>
          <a:p>
            <a:r>
              <a:rPr lang="en-GB" dirty="0" smtClean="0">
                <a:solidFill>
                  <a:schemeClr val="tx1"/>
                </a:solidFill>
              </a:rPr>
              <a:t>Where we are at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The repository loader 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The input </a:t>
            </a:r>
            <a:r>
              <a:rPr lang="en-GB" dirty="0">
                <a:solidFill>
                  <a:schemeClr val="tx1"/>
                </a:solidFill>
              </a:rPr>
              <a:t>files and </a:t>
            </a:r>
            <a:r>
              <a:rPr lang="en-GB" dirty="0" smtClean="0">
                <a:solidFill>
                  <a:schemeClr val="tx1"/>
                </a:solidFill>
              </a:rPr>
              <a:t>the </a:t>
            </a:r>
            <a:r>
              <a:rPr lang="en-GB" dirty="0">
                <a:solidFill>
                  <a:schemeClr val="tx1"/>
                </a:solidFill>
              </a:rPr>
              <a:t>benefits of working with </a:t>
            </a:r>
            <a:r>
              <a:rPr lang="en-GB" dirty="0" smtClean="0">
                <a:solidFill>
                  <a:schemeClr val="tx1"/>
                </a:solidFill>
              </a:rPr>
              <a:t>DDI-L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 smtClean="0">
                <a:solidFill>
                  <a:schemeClr val="tx1"/>
                </a:solidFill>
              </a:rPr>
              <a:t>Some other </a:t>
            </a:r>
            <a:r>
              <a:rPr lang="en-GB" dirty="0">
                <a:solidFill>
                  <a:schemeClr val="tx1"/>
                </a:solidFill>
              </a:rPr>
              <a:t>lessons </a:t>
            </a:r>
            <a:r>
              <a:rPr lang="en-GB" dirty="0" smtClean="0">
                <a:solidFill>
                  <a:schemeClr val="tx1"/>
                </a:solidFill>
              </a:rPr>
              <a:t>learned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7794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The CLOSER Project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hlinkClick r:id="rId2"/>
              </a:rPr>
              <a:t>www.closer.ac.uk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 smtClean="0">
                <a:solidFill>
                  <a:schemeClr val="tx1"/>
                </a:solidFill>
              </a:rPr>
              <a:t>Aims </a:t>
            </a:r>
            <a:r>
              <a:rPr lang="en-GB" dirty="0" smtClean="0">
                <a:solidFill>
                  <a:schemeClr val="tx1"/>
                </a:solidFill>
              </a:rPr>
              <a:t>to maximise use of the UK longitudinal studies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Eight participating studies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100 000s variables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CLOSER Search </a:t>
            </a:r>
            <a:r>
              <a:rPr lang="en-GB" dirty="0" smtClean="0">
                <a:solidFill>
                  <a:schemeClr val="tx1"/>
                </a:solidFill>
              </a:rPr>
              <a:t>Platform: </a:t>
            </a:r>
            <a:r>
              <a:rPr lang="en-GB" dirty="0" smtClean="0">
                <a:solidFill>
                  <a:schemeClr val="tx1"/>
                </a:solidFill>
                <a:hlinkClick r:id="rId3"/>
              </a:rPr>
              <a:t>discovery.closer.ac.u</a:t>
            </a:r>
            <a:r>
              <a:rPr lang="en-GB" dirty="0" smtClean="0">
                <a:solidFill>
                  <a:schemeClr val="tx1"/>
                </a:solidFill>
                <a:hlinkClick r:id="rId3"/>
              </a:rPr>
              <a:t>k</a:t>
            </a:r>
            <a:endParaRPr lang="en-GB" dirty="0" smtClean="0">
              <a:solidFill>
                <a:schemeClr val="tx1"/>
              </a:solidFill>
            </a:endParaRPr>
          </a:p>
          <a:p>
            <a:endParaRPr lang="en-GB" dirty="0" smtClean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/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6262839" y="1988840"/>
            <a:ext cx="2489308" cy="314664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6249394" y="1988840"/>
            <a:ext cx="2502754" cy="3160965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/>
            <a:r>
              <a:rPr lang="en-GB" sz="3200" dirty="0" smtClean="0"/>
              <a:t>Develop </a:t>
            </a:r>
          </a:p>
          <a:p>
            <a:pPr algn="ctr"/>
            <a:r>
              <a:rPr lang="en-GB" sz="3200" dirty="0" smtClean="0"/>
              <a:t>Web Portal</a:t>
            </a:r>
            <a:endParaRPr lang="en-GB" sz="3200" dirty="0"/>
          </a:p>
        </p:txBody>
      </p:sp>
      <p:sp>
        <p:nvSpPr>
          <p:cNvPr id="15" name="Rounded Rectangle 14"/>
          <p:cNvSpPr/>
          <p:nvPr/>
        </p:nvSpPr>
        <p:spPr>
          <a:xfrm>
            <a:off x="3334069" y="1973515"/>
            <a:ext cx="2510517" cy="316197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3320624" y="1988840"/>
            <a:ext cx="2523962" cy="316096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GB" sz="3200" dirty="0" smtClean="0"/>
              <a:t>Load Repository</a:t>
            </a:r>
            <a:endParaRPr lang="en-GB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6141" y="1981455"/>
            <a:ext cx="2509675" cy="3168352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The CLOSER Search Platform Development</a:t>
            </a:r>
            <a:endParaRPr lang="en-GB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6" name="Rounded Rectangle 5"/>
          <p:cNvSpPr/>
          <p:nvPr/>
        </p:nvSpPr>
        <p:spPr>
          <a:xfrm>
            <a:off x="395536" y="1988840"/>
            <a:ext cx="2520280" cy="31683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dirty="0" smtClean="0"/>
              <a:t>Capture Metadata</a:t>
            </a:r>
            <a:endParaRPr lang="en-GB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The Repository Loader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tx1"/>
                </a:solidFill>
              </a:rPr>
              <a:t>Loads DDI-L(3.2) input files and integrates the components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Creates links from the mapping files</a:t>
            </a:r>
          </a:p>
          <a:p>
            <a:endParaRPr lang="en-GB" dirty="0" smtClean="0">
              <a:solidFill>
                <a:schemeClr val="tx1"/>
              </a:solidFill>
            </a:endParaRPr>
          </a:p>
          <a:p>
            <a:r>
              <a:rPr lang="en-GB" dirty="0" smtClean="0">
                <a:solidFill>
                  <a:schemeClr val="tx1"/>
                </a:solidFill>
              </a:rPr>
              <a:t>Written in C#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Colectica SDK library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Microsoft SQL Server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In development phase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370146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3" name="Picture 2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11576" cy="689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112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Loader Input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Concepts</a:t>
            </a:r>
          </a:p>
          <a:p>
            <a:r>
              <a:rPr lang="en-GB" dirty="0">
                <a:solidFill>
                  <a:schemeClr val="tx1"/>
                </a:solidFill>
              </a:rPr>
              <a:t>Questionnaire </a:t>
            </a:r>
            <a:r>
              <a:rPr lang="en-GB" dirty="0" smtClean="0">
                <a:solidFill>
                  <a:schemeClr val="tx1"/>
                </a:solidFill>
              </a:rPr>
              <a:t>Metadata</a:t>
            </a:r>
          </a:p>
          <a:p>
            <a:r>
              <a:rPr lang="en-GB" dirty="0">
                <a:solidFill>
                  <a:schemeClr val="tx1"/>
                </a:solidFill>
              </a:rPr>
              <a:t>Variables Metadata</a:t>
            </a:r>
            <a:endParaRPr lang="en-GB" dirty="0" smtClean="0">
              <a:solidFill>
                <a:schemeClr val="tx1"/>
              </a:solidFill>
            </a:endParaRPr>
          </a:p>
          <a:p>
            <a:r>
              <a:rPr lang="en-GB" dirty="0" smtClean="0">
                <a:solidFill>
                  <a:schemeClr val="tx1"/>
                </a:solidFill>
              </a:rPr>
              <a:t>Top Level (</a:t>
            </a:r>
            <a:r>
              <a:rPr lang="en-GB" dirty="0" smtClean="0">
                <a:solidFill>
                  <a:schemeClr val="tx1"/>
                </a:solidFill>
              </a:rPr>
              <a:t>Study</a:t>
            </a:r>
            <a:r>
              <a:rPr lang="en-GB" dirty="0" smtClean="0">
                <a:solidFill>
                  <a:schemeClr val="tx1"/>
                </a:solidFill>
              </a:rPr>
              <a:t>) Metadata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Mapping and Linking Files</a:t>
            </a:r>
          </a:p>
          <a:p>
            <a:pPr marL="342900" indent="-342900">
              <a:buFontTx/>
              <a:buChar char="-"/>
            </a:pPr>
            <a:endParaRPr lang="en-GB" dirty="0" smtClean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114672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Concepts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1988839"/>
            <a:ext cx="8352928" cy="3527549"/>
          </a:xfrm>
        </p:spPr>
        <p:txBody>
          <a:bodyPr/>
          <a:lstStyle/>
          <a:p>
            <a:r>
              <a:rPr lang="en-GB" dirty="0" smtClean="0">
                <a:solidFill>
                  <a:schemeClr val="tx1"/>
                </a:solidFill>
              </a:rPr>
              <a:t>Used in the portal to provide one of the routes to variable discovery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Concepts as broad topics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Concept hierarchy</a:t>
            </a:r>
          </a:p>
          <a:p>
            <a:r>
              <a:rPr lang="en-GB" dirty="0">
                <a:solidFill>
                  <a:schemeClr val="tx1"/>
                </a:solidFill>
              </a:rPr>
              <a:t>	</a:t>
            </a:r>
            <a:r>
              <a:rPr lang="en-GB" dirty="0" smtClean="0">
                <a:solidFill>
                  <a:schemeClr val="tx1"/>
                </a:solidFill>
              </a:rPr>
              <a:t>Level 1: e.g. </a:t>
            </a:r>
            <a:r>
              <a:rPr lang="en-GB" i="1" dirty="0" smtClean="0">
                <a:solidFill>
                  <a:schemeClr val="tx1"/>
                </a:solidFill>
              </a:rPr>
              <a:t>Education</a:t>
            </a:r>
          </a:p>
          <a:p>
            <a:r>
              <a:rPr lang="en-GB" dirty="0">
                <a:solidFill>
                  <a:schemeClr val="tx1"/>
                </a:solidFill>
              </a:rPr>
              <a:t>	</a:t>
            </a:r>
            <a:r>
              <a:rPr lang="en-GB" dirty="0" smtClean="0">
                <a:solidFill>
                  <a:schemeClr val="tx1"/>
                </a:solidFill>
              </a:rPr>
              <a:t>Level 2: e.g. </a:t>
            </a:r>
            <a:r>
              <a:rPr lang="en-GB" i="1" dirty="0" smtClean="0">
                <a:solidFill>
                  <a:schemeClr val="tx1"/>
                </a:solidFill>
              </a:rPr>
              <a:t>Schooling</a:t>
            </a:r>
            <a:r>
              <a:rPr lang="en-GB" dirty="0" smtClean="0">
                <a:solidFill>
                  <a:schemeClr val="tx1"/>
                </a:solidFill>
              </a:rPr>
              <a:t>, </a:t>
            </a:r>
            <a:r>
              <a:rPr lang="en-GB" i="1" dirty="0" smtClean="0">
                <a:solidFill>
                  <a:schemeClr val="tx1"/>
                </a:solidFill>
              </a:rPr>
              <a:t>Qualifications</a:t>
            </a: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5" name="Rounded Rectangle 4"/>
          <p:cNvSpPr/>
          <p:nvPr/>
        </p:nvSpPr>
        <p:spPr>
          <a:xfrm>
            <a:off x="395536" y="4509120"/>
            <a:ext cx="1512168" cy="79208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Concepts.txt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59445" y="4509120"/>
            <a:ext cx="1576772" cy="7807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Concepts.xml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19852" y="4520484"/>
            <a:ext cx="1836116" cy="7807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err="1" smtClean="0">
                <a:solidFill>
                  <a:schemeClr val="tx1"/>
                </a:solidFill>
              </a:rPr>
              <a:t>ConceptScheme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2119777" y="4520484"/>
            <a:ext cx="1130336" cy="79208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To ddi32</a:t>
            </a:r>
          </a:p>
        </p:txBody>
      </p:sp>
      <p:sp>
        <p:nvSpPr>
          <p:cNvPr id="11" name="Oval 10"/>
          <p:cNvSpPr/>
          <p:nvPr/>
        </p:nvSpPr>
        <p:spPr>
          <a:xfrm>
            <a:off x="5244650" y="4520484"/>
            <a:ext cx="1199558" cy="79208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Loader</a:t>
            </a:r>
            <a:endParaRPr lang="en-GB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5" idx="3"/>
            <a:endCxn id="10" idx="2"/>
          </p:cNvCxnSpPr>
          <p:nvPr/>
        </p:nvCxnSpPr>
        <p:spPr>
          <a:xfrm>
            <a:off x="1907704" y="4905164"/>
            <a:ext cx="212073" cy="113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242135" y="4910846"/>
            <a:ext cx="212073" cy="113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7" idx="3"/>
            <a:endCxn id="11" idx="2"/>
          </p:cNvCxnSpPr>
          <p:nvPr/>
        </p:nvCxnSpPr>
        <p:spPr>
          <a:xfrm>
            <a:off x="5036217" y="4899482"/>
            <a:ext cx="208433" cy="170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1" idx="6"/>
            <a:endCxn id="9" idx="1"/>
          </p:cNvCxnSpPr>
          <p:nvPr/>
        </p:nvCxnSpPr>
        <p:spPr>
          <a:xfrm flipV="1">
            <a:off x="6444208" y="4910846"/>
            <a:ext cx="175644" cy="56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781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Questionnaires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tx1"/>
                </a:solidFill>
              </a:rPr>
              <a:t>Metadata team enters questionnaire into CADDIES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A few hundred questionnaires or instruments</a:t>
            </a:r>
          </a:p>
          <a:p>
            <a:r>
              <a:rPr lang="en-GB" dirty="0">
                <a:solidFill>
                  <a:schemeClr val="tx1"/>
                </a:solidFill>
              </a:rPr>
              <a:t>Output is DDI-L(3.2) </a:t>
            </a:r>
            <a:r>
              <a:rPr lang="en-GB" dirty="0" smtClean="0">
                <a:solidFill>
                  <a:schemeClr val="tx1"/>
                </a:solidFill>
              </a:rPr>
              <a:t>files, one per questionnaire</a:t>
            </a:r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6" name="Rounded Rectangle 5"/>
          <p:cNvSpPr/>
          <p:nvPr/>
        </p:nvSpPr>
        <p:spPr>
          <a:xfrm>
            <a:off x="971600" y="3861048"/>
            <a:ext cx="1576772" cy="7807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CADDIES xml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24000" y="4013448"/>
            <a:ext cx="1576772" cy="7807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CADDIES xml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276400" y="4165848"/>
            <a:ext cx="1576772" cy="7807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CADDIES xml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3553688" y="4160166"/>
            <a:ext cx="1234336" cy="79208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Loader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20904" y="3861048"/>
            <a:ext cx="1836116" cy="7807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Instrument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573304" y="4013448"/>
            <a:ext cx="1836116" cy="7807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Instrument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725704" y="4165848"/>
            <a:ext cx="1836116" cy="7807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Instrument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endCxn id="9" idx="2"/>
          </p:cNvCxnSpPr>
          <p:nvPr/>
        </p:nvCxnSpPr>
        <p:spPr>
          <a:xfrm>
            <a:off x="2853172" y="4544846"/>
            <a:ext cx="700516" cy="113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9" idx="6"/>
          </p:cNvCxnSpPr>
          <p:nvPr/>
        </p:nvCxnSpPr>
        <p:spPr>
          <a:xfrm>
            <a:off x="4788024" y="4556210"/>
            <a:ext cx="79208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5180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Variables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tx1"/>
                </a:solidFill>
              </a:rPr>
              <a:t>Parsed from the SPSS </a:t>
            </a:r>
            <a:r>
              <a:rPr lang="en-GB" dirty="0" err="1" smtClean="0">
                <a:solidFill>
                  <a:schemeClr val="tx1"/>
                </a:solidFill>
              </a:rPr>
              <a:t>datafiles</a:t>
            </a:r>
            <a:endParaRPr lang="en-GB" dirty="0" smtClean="0">
              <a:solidFill>
                <a:schemeClr val="tx1"/>
              </a:solidFill>
            </a:endParaRPr>
          </a:p>
          <a:p>
            <a:r>
              <a:rPr lang="en-GB" dirty="0" smtClean="0">
                <a:solidFill>
                  <a:schemeClr val="tx1"/>
                </a:solidFill>
              </a:rPr>
              <a:t>SledgeHammer and Python scripts</a:t>
            </a:r>
          </a:p>
          <a:p>
            <a:r>
              <a:rPr lang="en-GB" dirty="0">
                <a:solidFill>
                  <a:schemeClr val="tx1"/>
                </a:solidFill>
              </a:rPr>
              <a:t>Output is DDI-L(3.2) files, one per </a:t>
            </a:r>
            <a:r>
              <a:rPr lang="en-GB" dirty="0" err="1" smtClean="0">
                <a:solidFill>
                  <a:schemeClr val="tx1"/>
                </a:solidFill>
              </a:rPr>
              <a:t>datafile</a:t>
            </a:r>
            <a:endParaRPr lang="en-GB" dirty="0">
              <a:solidFill>
                <a:schemeClr val="tx1"/>
              </a:solidFill>
            </a:endParaRPr>
          </a:p>
          <a:p>
            <a:endParaRPr lang="en-GB" dirty="0" smtClean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5" name="Rounded Rectangle 4"/>
          <p:cNvSpPr/>
          <p:nvPr/>
        </p:nvSpPr>
        <p:spPr>
          <a:xfrm>
            <a:off x="971600" y="3861048"/>
            <a:ext cx="1576772" cy="7807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CADDIES xml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24000" y="4013448"/>
            <a:ext cx="1576772" cy="7807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CADDIES xml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276400" y="4165848"/>
            <a:ext cx="1576772" cy="7807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Variables xml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3553688" y="4160166"/>
            <a:ext cx="1234336" cy="79208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Loader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20904" y="3861048"/>
            <a:ext cx="1836116" cy="7807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Instrument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573304" y="4013448"/>
            <a:ext cx="1836116" cy="7807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Instrument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endCxn id="8" idx="2"/>
          </p:cNvCxnSpPr>
          <p:nvPr/>
        </p:nvCxnSpPr>
        <p:spPr>
          <a:xfrm>
            <a:off x="2853172" y="4544846"/>
            <a:ext cx="700516" cy="113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6"/>
          </p:cNvCxnSpPr>
          <p:nvPr/>
        </p:nvCxnSpPr>
        <p:spPr>
          <a:xfrm>
            <a:off x="4788024" y="4556210"/>
            <a:ext cx="79208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725704" y="4165848"/>
            <a:ext cx="1836116" cy="7807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err="1" smtClean="0">
                <a:solidFill>
                  <a:schemeClr val="tx1"/>
                </a:solidFill>
              </a:rPr>
              <a:t>VariableScheme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918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 smtClean="0"/>
              <a:t>Toplevel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1556792"/>
            <a:ext cx="8352928" cy="5040560"/>
          </a:xfrm>
        </p:spPr>
        <p:txBody>
          <a:bodyPr/>
          <a:lstStyle/>
          <a:p>
            <a:r>
              <a:rPr lang="en-GB" dirty="0" smtClean="0">
                <a:solidFill>
                  <a:schemeClr val="tx1"/>
                </a:solidFill>
              </a:rPr>
              <a:t>Metadata entered into Colectica Designer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Output </a:t>
            </a:r>
            <a:r>
              <a:rPr lang="en-GB" dirty="0">
                <a:solidFill>
                  <a:schemeClr val="tx1"/>
                </a:solidFill>
              </a:rPr>
              <a:t>is DDI-L(3.2) files, one per </a:t>
            </a:r>
            <a:r>
              <a:rPr lang="en-GB" dirty="0" smtClean="0">
                <a:solidFill>
                  <a:schemeClr val="tx1"/>
                </a:solidFill>
              </a:rPr>
              <a:t>study</a:t>
            </a:r>
          </a:p>
          <a:p>
            <a:r>
              <a:rPr lang="en-GB" dirty="0">
                <a:solidFill>
                  <a:schemeClr val="tx1"/>
                </a:solidFill>
              </a:rPr>
              <a:t>One study corresponds to multiple questionnaires and variable sets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 smtClean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6" name="Rounded Rectangle 5"/>
          <p:cNvSpPr/>
          <p:nvPr/>
        </p:nvSpPr>
        <p:spPr>
          <a:xfrm>
            <a:off x="1276400" y="4165848"/>
            <a:ext cx="1576772" cy="7807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err="1" smtClean="0">
                <a:solidFill>
                  <a:schemeClr val="tx1"/>
                </a:solidFill>
              </a:rPr>
              <a:t>Toplevel</a:t>
            </a:r>
            <a:r>
              <a:rPr lang="en-GB" b="1" dirty="0" smtClean="0">
                <a:solidFill>
                  <a:schemeClr val="tx1"/>
                </a:solidFill>
              </a:rPr>
              <a:t> xml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3275856" y="4145493"/>
            <a:ext cx="1245661" cy="79208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Loader</a:t>
            </a:r>
            <a:endParaRPr lang="en-GB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6" idx="3"/>
            <a:endCxn id="7" idx="2"/>
          </p:cNvCxnSpPr>
          <p:nvPr/>
        </p:nvCxnSpPr>
        <p:spPr>
          <a:xfrm flipV="1">
            <a:off x="2853172" y="4541537"/>
            <a:ext cx="422684" cy="1467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11" idx="1"/>
          </p:cNvCxnSpPr>
          <p:nvPr/>
        </p:nvCxnSpPr>
        <p:spPr>
          <a:xfrm>
            <a:off x="4541461" y="4556210"/>
            <a:ext cx="118424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725704" y="4165848"/>
            <a:ext cx="1836116" cy="7807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Group + </a:t>
            </a:r>
            <a:r>
              <a:rPr lang="en-GB" b="1" dirty="0" err="1" smtClean="0">
                <a:solidFill>
                  <a:schemeClr val="tx1"/>
                </a:solidFill>
              </a:rPr>
              <a:t>StudyUnits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89061" y="2795416"/>
            <a:ext cx="1836116" cy="57806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Instrument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41461" y="2947816"/>
            <a:ext cx="1836116" cy="6283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Instrument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93861" y="3100216"/>
            <a:ext cx="1836116" cy="5918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Instrument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89061" y="5140238"/>
            <a:ext cx="2140916" cy="95846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Instrument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541460" y="5348297"/>
            <a:ext cx="2190779" cy="98980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Instrument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693860" y="5530599"/>
            <a:ext cx="2182395" cy="103573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Variables (</a:t>
            </a:r>
            <a:r>
              <a:rPr lang="en-GB" b="1" dirty="0" err="1" smtClean="0">
                <a:solidFill>
                  <a:schemeClr val="tx1"/>
                </a:solidFill>
              </a:rPr>
              <a:t>LogProd</a:t>
            </a:r>
            <a:r>
              <a:rPr lang="en-GB" b="1" dirty="0" smtClean="0">
                <a:solidFill>
                  <a:schemeClr val="tx1"/>
                </a:solidFill>
              </a:rPr>
              <a:t>, </a:t>
            </a:r>
            <a:r>
              <a:rPr lang="en-GB" b="1" dirty="0" err="1" smtClean="0">
                <a:solidFill>
                  <a:schemeClr val="tx1"/>
                </a:solidFill>
              </a:rPr>
              <a:t>PhysDP</a:t>
            </a:r>
            <a:r>
              <a:rPr lang="en-GB" b="1" dirty="0" smtClean="0">
                <a:solidFill>
                  <a:schemeClr val="tx1"/>
                </a:solidFill>
              </a:rPr>
              <a:t>, </a:t>
            </a:r>
            <a:r>
              <a:rPr lang="en-GB" b="1" dirty="0" err="1" smtClean="0">
                <a:solidFill>
                  <a:schemeClr val="tx1"/>
                </a:solidFill>
              </a:rPr>
              <a:t>PhysInst</a:t>
            </a:r>
            <a:r>
              <a:rPr lang="en-GB" b="1" dirty="0" smtClean="0">
                <a:solidFill>
                  <a:schemeClr val="tx1"/>
                </a:solidFill>
              </a:rPr>
              <a:t>)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26" name="Straight Arrow Connector 25"/>
          <p:cNvCxnSpPr>
            <a:endCxn id="7" idx="7"/>
          </p:cNvCxnSpPr>
          <p:nvPr/>
        </p:nvCxnSpPr>
        <p:spPr>
          <a:xfrm flipH="1">
            <a:off x="4339094" y="3677440"/>
            <a:ext cx="308296" cy="584052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4186799" y="4937581"/>
            <a:ext cx="232650" cy="222733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095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Mapping Files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 smtClean="0">
                <a:solidFill>
                  <a:schemeClr val="tx1"/>
                </a:solidFill>
              </a:rPr>
              <a:t>IDs, Names or Labels?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	alspac_00_ays-qc-000003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	qc_A2_b_i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	A2 </a:t>
            </a:r>
            <a:r>
              <a:rPr lang="en-GB" dirty="0">
                <a:solidFill>
                  <a:schemeClr val="tx1"/>
                </a:solidFill>
              </a:rPr>
              <a:t>b(</a:t>
            </a: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495782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Variable Source Map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 smtClean="0">
                <a:solidFill>
                  <a:schemeClr val="tx1"/>
                </a:solidFill>
              </a:rPr>
              <a:t>QuestionConstruct</a:t>
            </a:r>
            <a:r>
              <a:rPr lang="en-GB" dirty="0" smtClean="0">
                <a:solidFill>
                  <a:schemeClr val="tx1"/>
                </a:solidFill>
              </a:rPr>
              <a:t> to Variable mapping file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Collected via in-house Mapper software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Loader sets Variable Source to </a:t>
            </a:r>
            <a:r>
              <a:rPr lang="en-GB" dirty="0" err="1" smtClean="0">
                <a:solidFill>
                  <a:schemeClr val="tx1"/>
                </a:solidFill>
              </a:rPr>
              <a:t>QuestionItem</a:t>
            </a:r>
            <a:r>
              <a:rPr lang="en-GB" dirty="0" smtClean="0">
                <a:solidFill>
                  <a:schemeClr val="tx1"/>
                </a:solidFill>
              </a:rPr>
              <a:t> or </a:t>
            </a:r>
            <a:r>
              <a:rPr lang="en-GB" dirty="0" err="1" smtClean="0">
                <a:solidFill>
                  <a:schemeClr val="tx1"/>
                </a:solidFill>
              </a:rPr>
              <a:t>QuestionGrid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5" name="Rounded Rectangle 4"/>
          <p:cNvSpPr/>
          <p:nvPr/>
        </p:nvSpPr>
        <p:spPr>
          <a:xfrm>
            <a:off x="512396" y="4634423"/>
            <a:ext cx="1728192" cy="79208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QC - Variable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3366539" y="4631257"/>
            <a:ext cx="1245661" cy="79208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Loader</a:t>
            </a:r>
            <a:endParaRPr lang="en-GB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5" idx="3"/>
            <a:endCxn id="12" idx="2"/>
          </p:cNvCxnSpPr>
          <p:nvPr/>
        </p:nvCxnSpPr>
        <p:spPr>
          <a:xfrm flipV="1">
            <a:off x="2240588" y="5027301"/>
            <a:ext cx="1125951" cy="31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885026" y="3992029"/>
            <a:ext cx="2163825" cy="5918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err="1" smtClean="0">
                <a:solidFill>
                  <a:schemeClr val="tx1"/>
                </a:solidFill>
              </a:rPr>
              <a:t>QuestionItem</a:t>
            </a:r>
            <a:r>
              <a:rPr lang="en-GB" b="1" dirty="0" smtClean="0">
                <a:solidFill>
                  <a:schemeClr val="tx1"/>
                </a:solidFill>
              </a:rPr>
              <a:t>/Grid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>
            <a:stCxn id="14" idx="1"/>
            <a:endCxn id="12" idx="7"/>
          </p:cNvCxnSpPr>
          <p:nvPr/>
        </p:nvCxnSpPr>
        <p:spPr>
          <a:xfrm flipH="1">
            <a:off x="4429777" y="4287978"/>
            <a:ext cx="1455249" cy="459278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303826" y="3680327"/>
            <a:ext cx="2163825" cy="5918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err="1" smtClean="0">
                <a:solidFill>
                  <a:schemeClr val="tx1"/>
                </a:solidFill>
              </a:rPr>
              <a:t>QuestionConstruct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85026" y="4861407"/>
            <a:ext cx="2163825" cy="5918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Variable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/>
          <p:cNvCxnSpPr>
            <a:stCxn id="19" idx="2"/>
          </p:cNvCxnSpPr>
          <p:nvPr/>
        </p:nvCxnSpPr>
        <p:spPr>
          <a:xfrm flipH="1">
            <a:off x="4210452" y="4272224"/>
            <a:ext cx="175287" cy="358326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4597189" y="5072175"/>
            <a:ext cx="1272826" cy="2563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21" idx="1"/>
          </p:cNvCxnSpPr>
          <p:nvPr/>
        </p:nvCxnSpPr>
        <p:spPr>
          <a:xfrm>
            <a:off x="4582178" y="5130532"/>
            <a:ext cx="1302848" cy="26824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319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Variable/Question to Concept maps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tx1"/>
                </a:solidFill>
              </a:rPr>
              <a:t>Variable to Concept map and</a:t>
            </a:r>
          </a:p>
          <a:p>
            <a:r>
              <a:rPr lang="en-GB" dirty="0" err="1" smtClean="0">
                <a:solidFill>
                  <a:schemeClr val="tx1"/>
                </a:solidFill>
              </a:rPr>
              <a:t>QuestionConstruct</a:t>
            </a:r>
            <a:r>
              <a:rPr lang="en-GB" dirty="0" smtClean="0">
                <a:solidFill>
                  <a:schemeClr val="tx1"/>
                </a:solidFill>
              </a:rPr>
              <a:t> to Concept map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Collected </a:t>
            </a:r>
            <a:r>
              <a:rPr lang="en-GB" dirty="0">
                <a:solidFill>
                  <a:schemeClr val="tx1"/>
                </a:solidFill>
              </a:rPr>
              <a:t>via in-house Mapper </a:t>
            </a:r>
            <a:r>
              <a:rPr lang="en-GB" dirty="0" smtClean="0">
                <a:solidFill>
                  <a:schemeClr val="tx1"/>
                </a:solidFill>
              </a:rPr>
              <a:t>software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Loader builds </a:t>
            </a:r>
            <a:r>
              <a:rPr lang="en-GB" dirty="0" err="1" smtClean="0">
                <a:solidFill>
                  <a:schemeClr val="tx1"/>
                </a:solidFill>
              </a:rPr>
              <a:t>VariableGroups</a:t>
            </a:r>
            <a:r>
              <a:rPr lang="en-GB" dirty="0" smtClean="0">
                <a:solidFill>
                  <a:schemeClr val="tx1"/>
                </a:solidFill>
              </a:rPr>
              <a:t> and </a:t>
            </a:r>
            <a:r>
              <a:rPr lang="en-GB" dirty="0" err="1" smtClean="0">
                <a:solidFill>
                  <a:schemeClr val="tx1"/>
                </a:solidFill>
              </a:rPr>
              <a:t>QuestionConstructGroups</a:t>
            </a:r>
            <a:endParaRPr lang="en-GB" dirty="0">
              <a:solidFill>
                <a:schemeClr val="tx1"/>
              </a:solidFill>
            </a:endParaRPr>
          </a:p>
          <a:p>
            <a:endParaRPr lang="en-GB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5" name="Rounded Rectangle 4"/>
          <p:cNvSpPr/>
          <p:nvPr/>
        </p:nvSpPr>
        <p:spPr>
          <a:xfrm>
            <a:off x="512396" y="4634423"/>
            <a:ext cx="2043380" cy="79208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Variable - Concept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3366539" y="4631257"/>
            <a:ext cx="1245661" cy="79208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Loader</a:t>
            </a:r>
            <a:endParaRPr lang="en-GB" b="1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stCxn id="5" idx="3"/>
            <a:endCxn id="6" idx="2"/>
          </p:cNvCxnSpPr>
          <p:nvPr/>
        </p:nvCxnSpPr>
        <p:spPr>
          <a:xfrm flipV="1">
            <a:off x="2555776" y="5027301"/>
            <a:ext cx="810763" cy="31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endCxn id="10" idx="1"/>
          </p:cNvCxnSpPr>
          <p:nvPr/>
        </p:nvCxnSpPr>
        <p:spPr>
          <a:xfrm>
            <a:off x="4578031" y="5032983"/>
            <a:ext cx="118424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762274" y="4642621"/>
            <a:ext cx="1836116" cy="7807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err="1" smtClean="0">
                <a:solidFill>
                  <a:schemeClr val="tx1"/>
                </a:solidFill>
              </a:rPr>
              <a:t>VariableGroups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844216" y="3662768"/>
            <a:ext cx="1836116" cy="7807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err="1" smtClean="0">
                <a:solidFill>
                  <a:schemeClr val="tx1"/>
                </a:solidFill>
              </a:rPr>
              <a:t>ConceptScheme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>
            <a:stCxn id="11" idx="1"/>
          </p:cNvCxnSpPr>
          <p:nvPr/>
        </p:nvCxnSpPr>
        <p:spPr>
          <a:xfrm flipH="1">
            <a:off x="4429778" y="4053130"/>
            <a:ext cx="414438" cy="694126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1855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Derived Variable-Source Variable Map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 smtClean="0">
                <a:solidFill>
                  <a:schemeClr val="tx1"/>
                </a:solidFill>
              </a:rPr>
              <a:t>DerivedVariable</a:t>
            </a:r>
            <a:r>
              <a:rPr lang="en-GB" dirty="0" smtClean="0">
                <a:solidFill>
                  <a:schemeClr val="tx1"/>
                </a:solidFill>
              </a:rPr>
              <a:t> </a:t>
            </a:r>
            <a:r>
              <a:rPr lang="en-GB" dirty="0">
                <a:solidFill>
                  <a:schemeClr val="tx1"/>
                </a:solidFill>
              </a:rPr>
              <a:t>to Variable mapping file</a:t>
            </a:r>
          </a:p>
          <a:p>
            <a:r>
              <a:rPr lang="en-GB" dirty="0">
                <a:solidFill>
                  <a:schemeClr val="tx1"/>
                </a:solidFill>
              </a:rPr>
              <a:t>Collected via in-house Mapper software</a:t>
            </a:r>
          </a:p>
          <a:p>
            <a:r>
              <a:rPr lang="en-GB" dirty="0">
                <a:solidFill>
                  <a:schemeClr val="tx1"/>
                </a:solidFill>
              </a:rPr>
              <a:t>Loader sets </a:t>
            </a:r>
            <a:r>
              <a:rPr lang="en-GB" dirty="0" err="1" smtClean="0">
                <a:solidFill>
                  <a:schemeClr val="tx1"/>
                </a:solidFill>
              </a:rPr>
              <a:t>SourceVariableReference</a:t>
            </a:r>
            <a:endParaRPr lang="en-GB" dirty="0">
              <a:solidFill>
                <a:schemeClr val="tx1"/>
              </a:solidFill>
            </a:endParaRPr>
          </a:p>
          <a:p>
            <a:endParaRPr lang="en-GB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5" name="Rounded Rectangle 4"/>
          <p:cNvSpPr/>
          <p:nvPr/>
        </p:nvSpPr>
        <p:spPr>
          <a:xfrm>
            <a:off x="546258" y="4150242"/>
            <a:ext cx="2043380" cy="79208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DV - Variable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3400401" y="4147076"/>
            <a:ext cx="1245661" cy="79208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Loader</a:t>
            </a:r>
            <a:endParaRPr lang="en-GB" b="1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stCxn id="5" idx="3"/>
            <a:endCxn id="6" idx="2"/>
          </p:cNvCxnSpPr>
          <p:nvPr/>
        </p:nvCxnSpPr>
        <p:spPr>
          <a:xfrm flipV="1">
            <a:off x="2589638" y="4543120"/>
            <a:ext cx="810763" cy="31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796136" y="4158440"/>
            <a:ext cx="1836116" cy="7807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Variables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4611389" y="4504599"/>
            <a:ext cx="1184747" cy="10706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646062" y="4596508"/>
            <a:ext cx="1150074" cy="5682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45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1556791"/>
            <a:ext cx="8352928" cy="3959597"/>
          </a:xfrm>
          <a:ln w="28575">
            <a:solidFill>
              <a:schemeClr val="bg1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Conclusion: They all talk DDI-L(3.2)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399" y="1558954"/>
            <a:ext cx="1646063" cy="926672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5" name="Rounded Rectangle 4"/>
          <p:cNvSpPr/>
          <p:nvPr/>
        </p:nvSpPr>
        <p:spPr>
          <a:xfrm>
            <a:off x="393681" y="2485626"/>
            <a:ext cx="2088232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Colectica Designer</a:t>
            </a:r>
          </a:p>
          <a:p>
            <a:pPr algn="ctr"/>
            <a:r>
              <a:rPr lang="en-GB" b="1" dirty="0" smtClean="0">
                <a:solidFill>
                  <a:schemeClr val="tx1"/>
                </a:solidFill>
              </a:rPr>
              <a:t>(Top Level)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4350" y="3568725"/>
            <a:ext cx="1872208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CADDIES (Questionnaires)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200226" y="4601988"/>
            <a:ext cx="1728192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SledgeHammer (Variables)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860032" y="3079389"/>
            <a:ext cx="1800200" cy="9144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Loader</a:t>
            </a:r>
          </a:p>
          <a:p>
            <a:pPr algn="ctr"/>
            <a:r>
              <a:rPr lang="en-GB" b="1" dirty="0" smtClean="0">
                <a:solidFill>
                  <a:schemeClr val="tx1"/>
                </a:solidFill>
              </a:rPr>
              <a:t>[Colectica SDK]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52923" y="3079389"/>
            <a:ext cx="1368152" cy="9144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Repository</a:t>
            </a:r>
            <a:endParaRPr lang="en-GB" b="1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4391462" y="2485626"/>
            <a:ext cx="506429" cy="6020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2519772" y="2924944"/>
            <a:ext cx="2340260" cy="3797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2266558" y="3695920"/>
            <a:ext cx="2593474" cy="44527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3928418" y="3918555"/>
            <a:ext cx="930687" cy="6834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14" idx="1"/>
          </p:cNvCxnSpPr>
          <p:nvPr/>
        </p:nvCxnSpPr>
        <p:spPr>
          <a:xfrm>
            <a:off x="6660232" y="3535881"/>
            <a:ext cx="692691" cy="70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481237" y="4587552"/>
            <a:ext cx="1799164" cy="914400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Mapper (Mapping files)</a:t>
            </a:r>
            <a:endParaRPr lang="en-GB" b="1" dirty="0">
              <a:solidFill>
                <a:schemeClr val="tx1"/>
              </a:solidFill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 flipV="1">
            <a:off x="5407290" y="3993789"/>
            <a:ext cx="172822" cy="5793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618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More Conclusions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tx1"/>
                </a:solidFill>
              </a:rPr>
              <a:t>Consistent Inputs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Pragmatic </a:t>
            </a:r>
            <a:r>
              <a:rPr lang="en-GB" dirty="0" smtClean="0">
                <a:solidFill>
                  <a:schemeClr val="tx1"/>
                </a:solidFill>
              </a:rPr>
              <a:t>Incremental Design</a:t>
            </a:r>
            <a:endParaRPr lang="en-GB" dirty="0" smtClean="0">
              <a:solidFill>
                <a:schemeClr val="tx1"/>
              </a:solidFill>
            </a:endParaRPr>
          </a:p>
          <a:p>
            <a:r>
              <a:rPr lang="en-GB" dirty="0" smtClean="0">
                <a:solidFill>
                  <a:schemeClr val="tx1"/>
                </a:solidFill>
              </a:rPr>
              <a:t>Knowing when to stop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76145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87610"/>
          </a:xfrm>
        </p:spPr>
        <p:txBody>
          <a:bodyPr/>
          <a:lstStyle/>
          <a:p>
            <a:r>
              <a:rPr lang="en-GB" b="1" dirty="0">
                <a:hlinkClick r:id="rId2"/>
              </a:rPr>
              <a:t>discovery.closer.ac.uk</a:t>
            </a:r>
            <a:endParaRPr lang="en-GB" b="1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268760"/>
            <a:ext cx="8352928" cy="5256584"/>
          </a:xfrm>
        </p:spPr>
      </p:pic>
    </p:spTree>
    <p:extLst>
      <p:ext uri="{BB962C8B-B14F-4D97-AF65-F5344CB8AC3E}">
        <p14:creationId xmlns:p14="http://schemas.microsoft.com/office/powerpoint/2010/main" val="159368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AF3F"/>
      </a:accent1>
      <a:accent2>
        <a:srgbClr val="38B449"/>
      </a:accent2>
      <a:accent3>
        <a:srgbClr val="00ADEF"/>
      </a:accent3>
      <a:accent4>
        <a:srgbClr val="65296F"/>
      </a:accent4>
      <a:accent5>
        <a:srgbClr val="EC008B"/>
      </a:accent5>
      <a:accent6>
        <a:srgbClr val="000000"/>
      </a:accent6>
      <a:hlink>
        <a:srgbClr val="00B0F0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1111</TotalTime>
  <Words>390</Words>
  <Application>Microsoft Office PowerPoint</Application>
  <PresentationFormat>On-screen Show (4:3)</PresentationFormat>
  <Paragraphs>125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Metadata in a Thousand Files: Bringing it all Together</vt:lpstr>
      <vt:lpstr>Metadata in a Thousand Files: Bringing it all Together</vt:lpstr>
      <vt:lpstr>The CLOSER Project</vt:lpstr>
      <vt:lpstr>The CLOSER Search Platform Development</vt:lpstr>
      <vt:lpstr>The Repository Loader</vt:lpstr>
      <vt:lpstr>PowerPoint Presentation</vt:lpstr>
      <vt:lpstr>Loader Input</vt:lpstr>
      <vt:lpstr>Concepts</vt:lpstr>
      <vt:lpstr>Questionnaires</vt:lpstr>
      <vt:lpstr>Variables</vt:lpstr>
      <vt:lpstr>Toplevel</vt:lpstr>
      <vt:lpstr>Mapping Files</vt:lpstr>
      <vt:lpstr>Variable Source Map</vt:lpstr>
      <vt:lpstr>Variable/Question to Concept maps</vt:lpstr>
      <vt:lpstr>Derived Variable-Source Variable Map</vt:lpstr>
      <vt:lpstr>Conclusion: They all talk DDI-L(3.2)</vt:lpstr>
      <vt:lpstr>More Conclusions</vt:lpstr>
      <vt:lpstr>discovery.closer.ac.uk</vt:lpstr>
    </vt:vector>
  </TitlesOfParts>
  <Company>Institute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Claire Battye</dc:creator>
  <cp:lastModifiedBy>Claude Gierl</cp:lastModifiedBy>
  <cp:revision>77</cp:revision>
  <dcterms:created xsi:type="dcterms:W3CDTF">2013-01-31T15:46:47Z</dcterms:created>
  <dcterms:modified xsi:type="dcterms:W3CDTF">2015-11-30T14:45:35Z</dcterms:modified>
</cp:coreProperties>
</file>