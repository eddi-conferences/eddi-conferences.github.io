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5"/>
  </p:sldMasterIdLst>
  <p:notesMasterIdLst>
    <p:notesMasterId r:id="rId19"/>
  </p:notesMasterIdLst>
  <p:sldIdLst>
    <p:sldId id="256" r:id="rId6"/>
    <p:sldId id="262" r:id="rId7"/>
    <p:sldId id="264" r:id="rId8"/>
    <p:sldId id="263" r:id="rId9"/>
    <p:sldId id="271" r:id="rId10"/>
    <p:sldId id="265" r:id="rId11"/>
    <p:sldId id="267" r:id="rId12"/>
    <p:sldId id="266" r:id="rId13"/>
    <p:sldId id="272" r:id="rId14"/>
    <p:sldId id="268" r:id="rId15"/>
    <p:sldId id="273" r:id="rId16"/>
    <p:sldId id="270" r:id="rId17"/>
    <p:sldId id="274" r:id="rId18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808000"/>
    <a:srgbClr val="00CC00"/>
    <a:srgbClr val="DD634F"/>
    <a:srgbClr val="FF3300"/>
    <a:srgbClr val="FF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516" y="10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8" d="100"/>
          <a:sy n="98" d="100"/>
        </p:scale>
        <p:origin x="-356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A7C3C-5108-4C45-BA58-DDEFC9EB2741}" type="datetimeFigureOut">
              <a:rPr lang="de-DE" smtClean="0"/>
              <a:t>01.12.2015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8DFAB-5E93-49E7-B734-67F5C72812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7479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to harmonize the preliminary work done in different projects at DAS so far.</a:t>
            </a:r>
            <a:br>
              <a:rPr lang="en-GB" dirty="0" smtClean="0"/>
            </a:br>
            <a:r>
              <a:rPr lang="en-GB" dirty="0" smtClean="0"/>
              <a:t>to facilitate a consistent and coordinated future DDI management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 smtClean="0"/>
              <a:t>Durch die Umstellung auf DDI-L werden auch neue Metadatenelemente notwendig, welche in das gemeinsame Schema aufgenommen werden. Für die Projekte im Datenarchiv (DBK, STARDAT und </a:t>
            </a:r>
            <a:r>
              <a:rPr lang="de-DE" dirty="0" err="1" smtClean="0"/>
              <a:t>CharmStats</a:t>
            </a:r>
            <a:r>
              <a:rPr lang="de-DE" dirty="0" smtClean="0"/>
              <a:t>) ist die Entwicklung und Einführung von Arbeitsprozessen und Workflows vorgesehen, die die spezifischen Erfordernisse von DDI-L in Hinblick auf </a:t>
            </a:r>
            <a:r>
              <a:rPr lang="de-DE" dirty="0" err="1" smtClean="0"/>
              <a:t>Versionierung</a:t>
            </a:r>
            <a:r>
              <a:rPr lang="de-DE" dirty="0" smtClean="0"/>
              <a:t>/Historisierung und von neuen Datenstrukturen/-elementen erfüllen.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B8DFAB-5E93-49E7-B734-67F5C728124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0980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 smtClean="0"/>
              <a:t>From</a:t>
            </a:r>
            <a:r>
              <a:rPr lang="de-DE" dirty="0" smtClean="0"/>
              <a:t> </a:t>
            </a:r>
            <a:r>
              <a:rPr lang="de-DE" dirty="0" err="1" smtClean="0"/>
              <a:t>chaos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to</a:t>
            </a:r>
            <a:r>
              <a:rPr lang="de-DE" baseline="0" dirty="0" smtClean="0"/>
              <a:t> </a:t>
            </a:r>
            <a:r>
              <a:rPr lang="de-DE" baseline="0" dirty="0" err="1" smtClean="0"/>
              <a:t>order</a:t>
            </a:r>
            <a:r>
              <a:rPr lang="de-DE" baseline="0" dirty="0" smtClean="0"/>
              <a:t>/</a:t>
            </a:r>
            <a:r>
              <a:rPr lang="de-DE" baseline="0" dirty="0" err="1" smtClean="0"/>
              <a:t>organisation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B8DFAB-5E93-49E7-B734-67F5C728124B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9906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>
          <a:xfrm>
            <a:off x="1475656" y="6356350"/>
            <a:ext cx="1115144" cy="365125"/>
          </a:xfrm>
        </p:spPr>
        <p:txBody>
          <a:bodyPr/>
          <a:lstStyle/>
          <a:p>
            <a:fld id="{20258719-CDB8-45E2-B905-DD706C21D5C9}" type="datetimeFigureOut">
              <a:rPr lang="de-DE" smtClean="0"/>
              <a:pPr/>
              <a:t>01.12.2015</a:t>
            </a:fld>
            <a:endParaRPr lang="de-DE" dirty="0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026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87" y="6021288"/>
            <a:ext cx="1085369" cy="71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>
          <a:xfrm>
            <a:off x="1115616" y="6356350"/>
            <a:ext cx="1475184" cy="365125"/>
          </a:xfrm>
        </p:spPr>
        <p:txBody>
          <a:bodyPr/>
          <a:lstStyle/>
          <a:p>
            <a:fld id="{20258719-CDB8-45E2-B905-DD706C21D5C9}" type="datetimeFigureOut">
              <a:rPr lang="de-DE" smtClean="0"/>
              <a:pPr/>
              <a:t>01.12.2015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de-DE"/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407C1131-679B-4DD1-802F-23CB41FA8BD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1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08" y="6385956"/>
            <a:ext cx="542685" cy="35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>
          <a:xfrm>
            <a:off x="1115616" y="6356350"/>
            <a:ext cx="1475184" cy="365125"/>
          </a:xfrm>
        </p:spPr>
        <p:txBody>
          <a:bodyPr/>
          <a:lstStyle/>
          <a:p>
            <a:fld id="{20258719-CDB8-45E2-B905-DD706C21D5C9}" type="datetimeFigureOut">
              <a:rPr lang="de-DE" smtClean="0"/>
              <a:pPr/>
              <a:t>01.12.2015</a:t>
            </a:fld>
            <a:endParaRPr lang="de-DE"/>
          </a:p>
        </p:txBody>
      </p:sp>
      <p:pic>
        <p:nvPicPr>
          <p:cNvPr id="8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08" y="6385956"/>
            <a:ext cx="542685" cy="35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2500306"/>
            <a:ext cx="4038600" cy="36258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1115616" y="6356350"/>
            <a:ext cx="1475184" cy="365125"/>
          </a:xfrm>
        </p:spPr>
        <p:txBody>
          <a:bodyPr/>
          <a:lstStyle/>
          <a:p>
            <a:fld id="{20258719-CDB8-45E2-B905-DD706C21D5C9}" type="datetimeFigureOut">
              <a:rPr lang="de-DE" smtClean="0"/>
              <a:pPr/>
              <a:t>01.12.2015</a:t>
            </a:fld>
            <a:endParaRPr lang="de-DE"/>
          </a:p>
        </p:txBody>
      </p:sp>
      <p:pic>
        <p:nvPicPr>
          <p:cNvPr id="9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08" y="6385956"/>
            <a:ext cx="542685" cy="35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214687"/>
            <a:ext cx="4040188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250030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3214687"/>
            <a:ext cx="4041775" cy="291147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0"/>
          </p:nvPr>
        </p:nvSpPr>
        <p:spPr>
          <a:xfrm>
            <a:off x="1115616" y="6356350"/>
            <a:ext cx="1475184" cy="365125"/>
          </a:xfrm>
        </p:spPr>
        <p:txBody>
          <a:bodyPr/>
          <a:lstStyle/>
          <a:p>
            <a:fld id="{20258719-CDB8-45E2-B905-DD706C21D5C9}" type="datetimeFigureOut">
              <a:rPr lang="de-DE" smtClean="0"/>
              <a:pPr/>
              <a:t>01.12.2015</a:t>
            </a:fld>
            <a:endParaRPr lang="de-DE"/>
          </a:p>
        </p:txBody>
      </p:sp>
      <p:pic>
        <p:nvPicPr>
          <p:cNvPr id="11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08" y="6385956"/>
            <a:ext cx="542685" cy="35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0"/>
          </p:nvPr>
        </p:nvSpPr>
        <p:spPr>
          <a:xfrm>
            <a:off x="1115616" y="6356350"/>
            <a:ext cx="1475184" cy="365125"/>
          </a:xfrm>
        </p:spPr>
        <p:txBody>
          <a:bodyPr/>
          <a:lstStyle/>
          <a:p>
            <a:fld id="{20258719-CDB8-45E2-B905-DD706C21D5C9}" type="datetimeFigureOut">
              <a:rPr lang="de-DE" smtClean="0"/>
              <a:pPr/>
              <a:t>01.12.2015</a:t>
            </a:fld>
            <a:endParaRPr lang="de-DE"/>
          </a:p>
        </p:txBody>
      </p:sp>
      <p:pic>
        <p:nvPicPr>
          <p:cNvPr id="7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08" y="6385956"/>
            <a:ext cx="542685" cy="35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>
          <a:xfrm>
            <a:off x="1115616" y="6356350"/>
            <a:ext cx="1475184" cy="365125"/>
          </a:xfrm>
        </p:spPr>
        <p:txBody>
          <a:bodyPr/>
          <a:lstStyle/>
          <a:p>
            <a:fld id="{20258719-CDB8-45E2-B905-DD706C21D5C9}" type="datetimeFigureOut">
              <a:rPr lang="de-DE" smtClean="0"/>
              <a:pPr/>
              <a:t>01.12.2015</a:t>
            </a:fld>
            <a:endParaRPr lang="de-DE"/>
          </a:p>
        </p:txBody>
      </p:sp>
      <p:pic>
        <p:nvPicPr>
          <p:cNvPr id="8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08" y="6385956"/>
            <a:ext cx="542685" cy="35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1214422"/>
            <a:ext cx="5111750" cy="491174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2500306"/>
            <a:ext cx="3008313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1115616" y="6356350"/>
            <a:ext cx="1475184" cy="365125"/>
          </a:xfrm>
        </p:spPr>
        <p:txBody>
          <a:bodyPr/>
          <a:lstStyle/>
          <a:p>
            <a:fld id="{20258719-CDB8-45E2-B905-DD706C21D5C9}" type="datetimeFigureOut">
              <a:rPr lang="de-DE" smtClean="0"/>
              <a:pPr/>
              <a:t>01.12.2015</a:t>
            </a:fld>
            <a:endParaRPr lang="de-DE"/>
          </a:p>
        </p:txBody>
      </p:sp>
      <p:pic>
        <p:nvPicPr>
          <p:cNvPr id="9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08" y="6385956"/>
            <a:ext cx="542685" cy="35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1196751"/>
            <a:ext cx="5486400" cy="3530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7C1131-679B-4DD1-802F-23CB41FA8BDC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Datumsplatzhalter 3"/>
          <p:cNvSpPr>
            <a:spLocks noGrp="1"/>
          </p:cNvSpPr>
          <p:nvPr>
            <p:ph type="dt" sz="half" idx="10"/>
          </p:nvPr>
        </p:nvSpPr>
        <p:spPr>
          <a:xfrm>
            <a:off x="1115616" y="6356350"/>
            <a:ext cx="1475184" cy="365125"/>
          </a:xfrm>
        </p:spPr>
        <p:txBody>
          <a:bodyPr/>
          <a:lstStyle/>
          <a:p>
            <a:fld id="{20258719-CDB8-45E2-B905-DD706C21D5C9}" type="datetimeFigureOut">
              <a:rPr lang="de-DE" smtClean="0"/>
              <a:pPr/>
              <a:t>01.12.2015</a:t>
            </a:fld>
            <a:endParaRPr lang="de-DE"/>
          </a:p>
        </p:txBody>
      </p:sp>
      <p:pic>
        <p:nvPicPr>
          <p:cNvPr id="9" name="Picture 2" descr="J:\NEU\Corporate Design\Leibniz BMBF etc\Leibniz\Logos\Mitglieder Logos DE-EN\Member_WGL_4c_EN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408" y="6385956"/>
            <a:ext cx="542685" cy="355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121442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2500306"/>
            <a:ext cx="8229600" cy="3625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pic>
        <p:nvPicPr>
          <p:cNvPr id="7" name="Grafik 6" descr="GS_Kopf PPT_en.bmp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0" y="0"/>
            <a:ext cx="9144000" cy="1066800"/>
          </a:xfrm>
          <a:prstGeom prst="rect">
            <a:avLst/>
          </a:prstGeom>
        </p:spPr>
      </p:pic>
      <p:sp>
        <p:nvSpPr>
          <p:cNvPr id="6" name="Datumsplatzhalter 3"/>
          <p:cNvSpPr>
            <a:spLocks noGrp="1"/>
          </p:cNvSpPr>
          <p:nvPr>
            <p:ph type="dt" sz="half" idx="2"/>
          </p:nvPr>
        </p:nvSpPr>
        <p:spPr>
          <a:xfrm>
            <a:off x="1115616" y="6356350"/>
            <a:ext cx="14751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20258719-CDB8-45E2-B905-DD706C21D5C9}" type="datetimeFigureOut">
              <a:rPr lang="de-DE" smtClean="0"/>
              <a:pPr/>
              <a:t>01.12.2015</a:t>
            </a:fld>
            <a:endParaRPr lang="de-DE" dirty="0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407C1131-679B-4DD1-802F-23CB41FA8BDC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Use of DDI-Lifecycle at the GESIS Data Archive</a:t>
            </a:r>
            <a:endParaRPr lang="de-DE" dirty="0"/>
          </a:p>
        </p:txBody>
      </p:sp>
      <p:sp>
        <p:nvSpPr>
          <p:cNvPr id="7" name="Untertitel 6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pPr algn="r"/>
            <a:r>
              <a:rPr lang="en-GB" dirty="0"/>
              <a:t/>
            </a:r>
            <a:br>
              <a:rPr lang="en-GB" dirty="0"/>
            </a:br>
            <a:r>
              <a:rPr lang="en-US" dirty="0" smtClean="0"/>
              <a:t>Catharina </a:t>
            </a:r>
            <a:r>
              <a:rPr lang="en-US" dirty="0"/>
              <a:t>Wasner</a:t>
            </a:r>
          </a:p>
          <a:p>
            <a:pPr algn="r"/>
            <a:r>
              <a:rPr lang="en-US" dirty="0"/>
              <a:t>GESIS – Leibniz Institute for the Social Sciences</a:t>
            </a:r>
          </a:p>
          <a:p>
            <a:pPr algn="r"/>
            <a:endParaRPr lang="en-US" sz="3600" dirty="0"/>
          </a:p>
          <a:p>
            <a:pPr algn="r"/>
            <a:endParaRPr lang="en-US" dirty="0"/>
          </a:p>
          <a:p>
            <a:pPr algn="r"/>
            <a:r>
              <a:rPr lang="en-US" dirty="0"/>
              <a:t>EDDI </a:t>
            </a:r>
            <a:r>
              <a:rPr lang="en-US" dirty="0" smtClean="0"/>
              <a:t>2015, </a:t>
            </a:r>
            <a:r>
              <a:rPr lang="en-US" dirty="0"/>
              <a:t>December 2, </a:t>
            </a:r>
            <a:r>
              <a:rPr lang="en-US" dirty="0" smtClean="0"/>
              <a:t>Copenhagen</a:t>
            </a:r>
            <a:endParaRPr lang="en-US" dirty="0"/>
          </a:p>
          <a:p>
            <a:endParaRPr lang="en-GB" dirty="0"/>
          </a:p>
          <a:p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“DDI-</a:t>
            </a:r>
            <a:r>
              <a:rPr lang="en-GB" dirty="0" err="1" smtClean="0"/>
              <a:t>LimDAS</a:t>
            </a:r>
            <a:r>
              <a:rPr lang="en-GB" dirty="0" smtClean="0"/>
              <a:t>”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 smtClean="0"/>
              <a:t>means: “Use </a:t>
            </a:r>
            <a:r>
              <a:rPr lang="en-GB" dirty="0"/>
              <a:t>of DDI-Lifecycle at the GESIS Data </a:t>
            </a:r>
            <a:r>
              <a:rPr lang="en-GB" dirty="0" smtClean="0"/>
              <a:t>Archive”</a:t>
            </a:r>
          </a:p>
          <a:p>
            <a:r>
              <a:rPr lang="en-GB" dirty="0" smtClean="0"/>
              <a:t>is: an internal project at the GESIS Data Archive</a:t>
            </a:r>
          </a:p>
          <a:p>
            <a:r>
              <a:rPr lang="en-GB" dirty="0" smtClean="0"/>
              <a:t>consists of: Catharina Wasner, Wolfgang </a:t>
            </a:r>
            <a:r>
              <a:rPr lang="en-GB" dirty="0" err="1" smtClean="0"/>
              <a:t>Zenk-Möltgen</a:t>
            </a:r>
            <a:endParaRPr lang="en-GB" dirty="0" smtClean="0"/>
          </a:p>
          <a:p>
            <a:r>
              <a:rPr lang="en-GB" dirty="0"/>
              <a:t>i</a:t>
            </a:r>
            <a:r>
              <a:rPr lang="en-GB" dirty="0" smtClean="0"/>
              <a:t>s supported by: Alexander Mühlbauer, Martin </a:t>
            </a:r>
            <a:r>
              <a:rPr lang="en-GB" dirty="0" err="1" smtClean="0"/>
              <a:t>Friedrichs</a:t>
            </a:r>
            <a:endParaRPr lang="en-GB" dirty="0"/>
          </a:p>
          <a:p>
            <a:r>
              <a:rPr lang="en-GB" dirty="0"/>
              <a:t>l</a:t>
            </a:r>
            <a:r>
              <a:rPr lang="en-GB" dirty="0" smtClean="0"/>
              <a:t>asts: two years (01/2015-12/2016)</a:t>
            </a:r>
          </a:p>
          <a:p>
            <a:endParaRPr lang="en-GB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209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The </a:t>
            </a:r>
            <a:r>
              <a:rPr lang="en-GB" dirty="0"/>
              <a:t>GESIS Data </a:t>
            </a:r>
            <a:r>
              <a:rPr lang="en-GB" dirty="0" smtClean="0"/>
              <a:t>Archive (DAS)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7150" indent="0">
              <a:buNone/>
            </a:pPr>
            <a:r>
              <a:rPr lang="en-GB" dirty="0" smtClean="0"/>
              <a:t>What we do:</a:t>
            </a:r>
          </a:p>
          <a:p>
            <a:pPr marL="57150" indent="0">
              <a:buNone/>
            </a:pPr>
            <a:r>
              <a:rPr lang="en-GB" dirty="0" smtClean="0"/>
              <a:t>Providing </a:t>
            </a:r>
            <a:r>
              <a:rPr lang="en-GB" dirty="0"/>
              <a:t>quantitative data of Social Sciences for reuse and replication. </a:t>
            </a:r>
            <a:r>
              <a:rPr lang="en-GB" dirty="0" smtClean="0"/>
              <a:t>That </a:t>
            </a:r>
            <a:r>
              <a:rPr lang="en-GB" dirty="0"/>
              <a:t>includes</a:t>
            </a:r>
          </a:p>
          <a:p>
            <a:r>
              <a:rPr lang="en-GB" dirty="0" smtClean="0"/>
              <a:t>data acquisition</a:t>
            </a:r>
            <a:r>
              <a:rPr lang="en-GB" dirty="0"/>
              <a:t>,</a:t>
            </a:r>
          </a:p>
          <a:p>
            <a:r>
              <a:rPr lang="en-GB" dirty="0"/>
              <a:t>data </a:t>
            </a:r>
            <a:r>
              <a:rPr lang="en-GB" dirty="0" smtClean="0"/>
              <a:t>processing</a:t>
            </a:r>
            <a:r>
              <a:rPr lang="en-GB" dirty="0"/>
              <a:t>,</a:t>
            </a:r>
          </a:p>
          <a:p>
            <a:r>
              <a:rPr lang="en-GB" dirty="0"/>
              <a:t>data </a:t>
            </a:r>
            <a:r>
              <a:rPr lang="en-GB" dirty="0" smtClean="0"/>
              <a:t>documentation</a:t>
            </a:r>
            <a:r>
              <a:rPr lang="en-GB" dirty="0"/>
              <a:t>,</a:t>
            </a:r>
          </a:p>
          <a:p>
            <a:r>
              <a:rPr lang="en-GB" dirty="0" err="1"/>
              <a:t>longterm</a:t>
            </a:r>
            <a:r>
              <a:rPr lang="en-GB" dirty="0"/>
              <a:t> </a:t>
            </a:r>
            <a:r>
              <a:rPr lang="en-GB" dirty="0" smtClean="0"/>
              <a:t>archiving,</a:t>
            </a:r>
            <a:endParaRPr lang="en-GB" dirty="0"/>
          </a:p>
          <a:p>
            <a:r>
              <a:rPr lang="en-GB" dirty="0"/>
              <a:t>consultancy,</a:t>
            </a:r>
          </a:p>
          <a:p>
            <a:r>
              <a:rPr lang="en-GB" dirty="0"/>
              <a:t>software design and development.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1449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Goals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C</a:t>
            </a:r>
            <a:r>
              <a:rPr lang="en-GB" dirty="0" smtClean="0"/>
              <a:t>hange </a:t>
            </a:r>
            <a:r>
              <a:rPr lang="en-GB" dirty="0"/>
              <a:t>products, projects and processes </a:t>
            </a:r>
            <a:r>
              <a:rPr lang="en-GB" dirty="0" smtClean="0"/>
              <a:t>at DAS </a:t>
            </a:r>
            <a:r>
              <a:rPr lang="en-GB" dirty="0"/>
              <a:t>from DDI-C </a:t>
            </a:r>
            <a:r>
              <a:rPr lang="en-GB" dirty="0" smtClean="0"/>
              <a:t>as </a:t>
            </a:r>
            <a:r>
              <a:rPr lang="en-GB" dirty="0" smtClean="0"/>
              <a:t>documentation </a:t>
            </a:r>
            <a:r>
              <a:rPr lang="en-GB" dirty="0" smtClean="0"/>
              <a:t>and archiving format to DDI-L:</a:t>
            </a:r>
          </a:p>
          <a:p>
            <a:r>
              <a:rPr lang="en-GB" dirty="0" smtClean="0"/>
              <a:t>develop a metadata schema </a:t>
            </a:r>
            <a:r>
              <a:rPr lang="en-GB" dirty="0"/>
              <a:t>for all use cases in the data archive </a:t>
            </a:r>
            <a:r>
              <a:rPr lang="en-GB" dirty="0" smtClean="0"/>
              <a:t>in the DDI-L format</a:t>
            </a:r>
          </a:p>
          <a:p>
            <a:r>
              <a:rPr lang="de-DE" dirty="0" err="1"/>
              <a:t>develop</a:t>
            </a:r>
            <a:r>
              <a:rPr lang="de-DE" dirty="0"/>
              <a:t> </a:t>
            </a:r>
            <a:r>
              <a:rPr lang="de-DE" dirty="0" err="1"/>
              <a:t>recommendations</a:t>
            </a:r>
            <a:r>
              <a:rPr lang="de-DE" dirty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modification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metadata</a:t>
            </a:r>
            <a:r>
              <a:rPr lang="de-DE" dirty="0" smtClean="0"/>
              <a:t> </a:t>
            </a:r>
            <a:r>
              <a:rPr lang="de-DE" dirty="0" err="1" smtClean="0"/>
              <a:t>editing</a:t>
            </a:r>
            <a:r>
              <a:rPr lang="de-DE" dirty="0" smtClean="0"/>
              <a:t> </a:t>
            </a:r>
            <a:r>
              <a:rPr lang="de-DE" dirty="0" err="1" smtClean="0"/>
              <a:t>workflows</a:t>
            </a:r>
            <a:r>
              <a:rPr lang="de-DE" dirty="0" smtClean="0"/>
              <a:t> in DAS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meet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demands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DDI-L</a:t>
            </a:r>
          </a:p>
          <a:p>
            <a:r>
              <a:rPr lang="de-DE" dirty="0" err="1" smtClean="0"/>
              <a:t>start</a:t>
            </a:r>
            <a:r>
              <a:rPr lang="de-DE" dirty="0" smtClean="0"/>
              <a:t> </a:t>
            </a:r>
            <a:r>
              <a:rPr lang="de-DE" dirty="0" err="1" smtClean="0"/>
              <a:t>coordinating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metadata</a:t>
            </a:r>
            <a:r>
              <a:rPr lang="de-DE" dirty="0"/>
              <a:t> </a:t>
            </a:r>
            <a:r>
              <a:rPr lang="de-DE" dirty="0" err="1" smtClean="0"/>
              <a:t>management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existing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future</a:t>
            </a:r>
            <a:r>
              <a:rPr lang="de-DE" dirty="0" smtClean="0"/>
              <a:t> </a:t>
            </a:r>
            <a:r>
              <a:rPr lang="de-DE" dirty="0" err="1" smtClean="0"/>
              <a:t>projects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DAS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whole</a:t>
            </a:r>
            <a:r>
              <a:rPr lang="de-DE" dirty="0" smtClean="0"/>
              <a:t> GESIS </a:t>
            </a:r>
          </a:p>
        </p:txBody>
      </p:sp>
    </p:spTree>
    <p:extLst>
      <p:ext uri="{BB962C8B-B14F-4D97-AF65-F5344CB8AC3E}">
        <p14:creationId xmlns:p14="http://schemas.microsoft.com/office/powerpoint/2010/main" val="290134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Basic Principles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/>
              <a:t>consider </a:t>
            </a:r>
            <a:r>
              <a:rPr lang="en-GB" dirty="0"/>
              <a:t>preliminary work done so far in different DAS/GESIS projects </a:t>
            </a:r>
          </a:p>
          <a:p>
            <a:r>
              <a:rPr lang="en-GB" dirty="0"/>
              <a:t>consider prospective DAS/GESIS developments and future </a:t>
            </a:r>
            <a:r>
              <a:rPr lang="en-GB" dirty="0" smtClean="0"/>
              <a:t>plans</a:t>
            </a:r>
          </a:p>
          <a:p>
            <a:r>
              <a:rPr lang="en-GB" dirty="0" smtClean="0"/>
              <a:t>focus on reusability in GESIS</a:t>
            </a:r>
          </a:p>
          <a:p>
            <a:r>
              <a:rPr lang="de-DE" dirty="0" err="1"/>
              <a:t>get</a:t>
            </a:r>
            <a:r>
              <a:rPr lang="de-DE" dirty="0"/>
              <a:t> in </a:t>
            </a:r>
            <a:r>
              <a:rPr lang="de-DE" dirty="0" err="1"/>
              <a:t>touch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DDI-L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partners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CESSDA </a:t>
            </a:r>
            <a:r>
              <a:rPr lang="de-DE" dirty="0" err="1"/>
              <a:t>and</a:t>
            </a:r>
            <a:r>
              <a:rPr lang="de-DE" dirty="0"/>
              <a:t> DDI-Alliance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benefit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existing</a:t>
            </a:r>
            <a:r>
              <a:rPr lang="de-DE" dirty="0"/>
              <a:t> </a:t>
            </a:r>
            <a:r>
              <a:rPr lang="de-DE" dirty="0" err="1"/>
              <a:t>experiences</a:t>
            </a:r>
            <a:endParaRPr lang="en-GB" dirty="0"/>
          </a:p>
          <a:p>
            <a:r>
              <a:rPr lang="de-DE" dirty="0" err="1"/>
              <a:t>include</a:t>
            </a:r>
            <a:r>
              <a:rPr lang="de-DE" dirty="0"/>
              <a:t>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practices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external</a:t>
            </a:r>
            <a:r>
              <a:rPr lang="de-DE" dirty="0"/>
              <a:t> </a:t>
            </a:r>
            <a:r>
              <a:rPr lang="de-DE" dirty="0" err="1"/>
              <a:t>partners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facilitate</a:t>
            </a:r>
            <a:r>
              <a:rPr lang="de-DE" dirty="0"/>
              <a:t> </a:t>
            </a:r>
            <a:r>
              <a:rPr lang="de-DE" dirty="0" err="1"/>
              <a:t>interoperability</a:t>
            </a:r>
            <a:r>
              <a:rPr lang="de-DE" dirty="0"/>
              <a:t>,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possible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891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sz="4900" dirty="0" smtClean="0"/>
              <a:t>Approach</a:t>
            </a:r>
            <a:r>
              <a:rPr lang="de-DE" dirty="0" smtClean="0"/>
              <a:t/>
            </a:r>
            <a:br>
              <a:rPr lang="de-DE" dirty="0" smtClean="0"/>
            </a:b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500306"/>
            <a:ext cx="8229600" cy="3881022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 err="1" smtClean="0"/>
              <a:t>Which</a:t>
            </a:r>
            <a:r>
              <a:rPr lang="de-DE" dirty="0" smtClean="0"/>
              <a:t> </a:t>
            </a:r>
            <a:r>
              <a:rPr lang="de-DE" dirty="0" err="1" smtClean="0"/>
              <a:t>projects</a:t>
            </a:r>
            <a:r>
              <a:rPr lang="de-DE" dirty="0" smtClean="0"/>
              <a:t>/</a:t>
            </a:r>
            <a:r>
              <a:rPr lang="de-DE" dirty="0" err="1" smtClean="0"/>
              <a:t>tools</a:t>
            </a:r>
            <a:r>
              <a:rPr lang="de-DE" dirty="0" smtClean="0"/>
              <a:t> </a:t>
            </a:r>
            <a:r>
              <a:rPr lang="de-DE" dirty="0" err="1" smtClean="0"/>
              <a:t>are</a:t>
            </a:r>
            <a:r>
              <a:rPr lang="de-DE" dirty="0" smtClean="0"/>
              <a:t> </a:t>
            </a:r>
            <a:r>
              <a:rPr lang="de-DE" dirty="0" err="1"/>
              <a:t>using</a:t>
            </a:r>
            <a:r>
              <a:rPr lang="de-DE" dirty="0"/>
              <a:t> DDI at DAS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 smtClean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smtClean="0"/>
              <a:t>Who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using</a:t>
            </a:r>
            <a:r>
              <a:rPr lang="de-DE" dirty="0" smtClean="0"/>
              <a:t> </a:t>
            </a:r>
            <a:r>
              <a:rPr lang="de-DE" dirty="0" err="1" smtClean="0"/>
              <a:t>which</a:t>
            </a:r>
            <a:r>
              <a:rPr lang="de-DE" dirty="0" smtClean="0"/>
              <a:t> DDI </a:t>
            </a:r>
            <a:r>
              <a:rPr lang="de-DE" dirty="0" err="1" smtClean="0"/>
              <a:t>version</a:t>
            </a:r>
            <a:r>
              <a:rPr lang="de-DE" dirty="0" smtClean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projects</a:t>
            </a:r>
            <a:r>
              <a:rPr lang="de-DE" dirty="0"/>
              <a:t>/</a:t>
            </a:r>
            <a:r>
              <a:rPr lang="de-DE" dirty="0" err="1"/>
              <a:t>tools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participate</a:t>
            </a:r>
            <a:r>
              <a:rPr lang="de-DE" dirty="0"/>
              <a:t> in </a:t>
            </a:r>
            <a:r>
              <a:rPr lang="de-DE" dirty="0" err="1"/>
              <a:t>defining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metadata</a:t>
            </a:r>
            <a:r>
              <a:rPr lang="de-DE" dirty="0"/>
              <a:t> </a:t>
            </a:r>
            <a:r>
              <a:rPr lang="de-DE" dirty="0" err="1"/>
              <a:t>schema</a:t>
            </a:r>
            <a:r>
              <a:rPr lang="de-DE" dirty="0" smtClean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smtClean="0"/>
              <a:t>Development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pretest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 </a:t>
            </a:r>
            <a:r>
              <a:rPr lang="de-DE" dirty="0" err="1"/>
              <a:t>survey</a:t>
            </a:r>
            <a:r>
              <a:rPr lang="de-DE" dirty="0"/>
              <a:t> </a:t>
            </a:r>
            <a:r>
              <a:rPr lang="de-DE" dirty="0" err="1" smtClean="0"/>
              <a:t>instrument</a:t>
            </a:r>
            <a:r>
              <a:rPr lang="de-DE" dirty="0" smtClean="0"/>
              <a:t>:</a:t>
            </a:r>
          </a:p>
          <a:p>
            <a:pPr marL="914400" lvl="1" indent="-514350"/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which</a:t>
            </a:r>
            <a:r>
              <a:rPr lang="de-DE" dirty="0" smtClean="0"/>
              <a:t> </a:t>
            </a:r>
            <a:r>
              <a:rPr lang="de-DE" dirty="0" err="1" smtClean="0"/>
              <a:t>purposes</a:t>
            </a:r>
            <a:r>
              <a:rPr lang="de-DE" dirty="0" smtClean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smtClean="0"/>
              <a:t>DDI </a:t>
            </a:r>
            <a:r>
              <a:rPr lang="de-DE" dirty="0" err="1" smtClean="0"/>
              <a:t>used</a:t>
            </a:r>
            <a:r>
              <a:rPr lang="de-DE" dirty="0" smtClean="0"/>
              <a:t> in </a:t>
            </a:r>
            <a:r>
              <a:rPr lang="de-DE" dirty="0" err="1" smtClean="0"/>
              <a:t>these</a:t>
            </a:r>
            <a:r>
              <a:rPr lang="de-DE" dirty="0" smtClean="0"/>
              <a:t> </a:t>
            </a:r>
            <a:r>
              <a:rPr lang="de-DE" dirty="0" err="1" smtClean="0"/>
              <a:t>selected</a:t>
            </a:r>
            <a:r>
              <a:rPr lang="de-DE" dirty="0" smtClean="0"/>
              <a:t> </a:t>
            </a:r>
            <a:r>
              <a:rPr lang="de-DE" dirty="0" err="1" smtClean="0"/>
              <a:t>projects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what</a:t>
            </a:r>
            <a:r>
              <a:rPr lang="de-DE" dirty="0" smtClean="0"/>
              <a:t> </a:t>
            </a:r>
            <a:r>
              <a:rPr lang="de-DE" dirty="0" err="1" smtClean="0"/>
              <a:t>are</a:t>
            </a:r>
            <a:r>
              <a:rPr lang="de-DE" dirty="0" smtClean="0"/>
              <a:t> </a:t>
            </a:r>
            <a:r>
              <a:rPr lang="de-DE" dirty="0" err="1" smtClean="0"/>
              <a:t>their</a:t>
            </a:r>
            <a:r>
              <a:rPr lang="de-DE" dirty="0" smtClean="0"/>
              <a:t> </a:t>
            </a:r>
            <a:r>
              <a:rPr lang="de-DE" dirty="0" err="1" smtClean="0"/>
              <a:t>requirements</a:t>
            </a:r>
            <a:r>
              <a:rPr lang="de-DE" dirty="0" smtClean="0"/>
              <a:t> </a:t>
            </a:r>
            <a:r>
              <a:rPr lang="de-DE" dirty="0" err="1" smtClean="0"/>
              <a:t>regarding</a:t>
            </a:r>
            <a:r>
              <a:rPr lang="de-DE" dirty="0" smtClean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 smtClean="0"/>
              <a:t>metadata</a:t>
            </a:r>
            <a:r>
              <a:rPr lang="de-DE" dirty="0" smtClean="0"/>
              <a:t>?</a:t>
            </a:r>
          </a:p>
          <a:p>
            <a:pPr marL="914400" lvl="1" indent="-514350"/>
            <a:r>
              <a:rPr lang="de-DE" dirty="0" err="1" smtClean="0"/>
              <a:t>Where</a:t>
            </a:r>
            <a:r>
              <a:rPr lang="de-DE" dirty="0" smtClean="0"/>
              <a:t> </a:t>
            </a:r>
            <a:r>
              <a:rPr lang="de-DE" dirty="0" err="1" smtClean="0"/>
              <a:t>can</a:t>
            </a:r>
            <a:r>
              <a:rPr lang="de-DE" dirty="0" smtClean="0"/>
              <a:t> </a:t>
            </a:r>
            <a:r>
              <a:rPr lang="de-DE" dirty="0" err="1" smtClean="0"/>
              <a:t>documentation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preliminary</a:t>
            </a:r>
            <a:r>
              <a:rPr lang="de-DE" dirty="0" smtClean="0"/>
              <a:t> </a:t>
            </a:r>
            <a:r>
              <a:rPr lang="de-DE" dirty="0" err="1" smtClean="0"/>
              <a:t>work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these</a:t>
            </a:r>
            <a:r>
              <a:rPr lang="de-DE" dirty="0" smtClean="0"/>
              <a:t> </a:t>
            </a:r>
            <a:r>
              <a:rPr lang="de-DE" dirty="0" err="1" smtClean="0"/>
              <a:t>projects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found</a:t>
            </a:r>
            <a:r>
              <a:rPr lang="de-DE" dirty="0" smtClean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9079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Approach </a:t>
            </a:r>
            <a:r>
              <a:rPr lang="de-DE" dirty="0" err="1" smtClean="0"/>
              <a:t>cont</a:t>
            </a:r>
            <a:r>
              <a:rPr lang="de-DE" dirty="0" smtClean="0"/>
              <a:t>.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500307"/>
            <a:ext cx="8229600" cy="3376966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 smtClean="0"/>
              <a:t>Synopsis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survey</a:t>
            </a:r>
            <a:r>
              <a:rPr lang="de-DE" dirty="0" smtClean="0"/>
              <a:t> </a:t>
            </a:r>
            <a:r>
              <a:rPr lang="de-DE" dirty="0" err="1" smtClean="0"/>
              <a:t>results</a:t>
            </a:r>
            <a:r>
              <a:rPr lang="de-DE" dirty="0" smtClean="0"/>
              <a:t> </a:t>
            </a:r>
          </a:p>
          <a:p>
            <a:pPr marL="514350" lvl="0" indent="-514350">
              <a:buFont typeface="+mj-lt"/>
              <a:buAutoNum type="arabicPeriod" startAt="5"/>
            </a:pPr>
            <a:r>
              <a:rPr lang="de-DE" dirty="0" smtClean="0"/>
              <a:t>Analysis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results</a:t>
            </a:r>
            <a:r>
              <a:rPr lang="de-DE" dirty="0" smtClean="0"/>
              <a:t> in </a:t>
            </a:r>
            <a:r>
              <a:rPr lang="de-DE" dirty="0" err="1" smtClean="0"/>
              <a:t>consideration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following</a:t>
            </a:r>
            <a:r>
              <a:rPr lang="de-DE" dirty="0" smtClean="0"/>
              <a:t> </a:t>
            </a:r>
            <a:r>
              <a:rPr lang="de-DE" dirty="0" err="1" smtClean="0"/>
              <a:t>questions</a:t>
            </a:r>
            <a:r>
              <a:rPr lang="de-DE" dirty="0" smtClean="0"/>
              <a:t>:</a:t>
            </a:r>
          </a:p>
          <a:p>
            <a:pPr lvl="1"/>
            <a:r>
              <a:rPr lang="de-DE" dirty="0" smtClean="0"/>
              <a:t>Are </a:t>
            </a:r>
            <a:r>
              <a:rPr lang="de-DE" dirty="0" err="1" smtClean="0"/>
              <a:t>there</a:t>
            </a:r>
            <a:r>
              <a:rPr lang="de-DE" dirty="0" smtClean="0"/>
              <a:t> </a:t>
            </a:r>
            <a:r>
              <a:rPr lang="de-DE" dirty="0" err="1" smtClean="0"/>
              <a:t>overlaps</a:t>
            </a:r>
            <a:r>
              <a:rPr lang="de-DE" dirty="0" smtClean="0"/>
              <a:t> </a:t>
            </a:r>
            <a:r>
              <a:rPr lang="de-DE" dirty="0" err="1" smtClean="0"/>
              <a:t>between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requirements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projects</a:t>
            </a:r>
            <a:r>
              <a:rPr lang="de-DE" dirty="0" smtClean="0"/>
              <a:t>?</a:t>
            </a:r>
          </a:p>
          <a:p>
            <a:pPr lvl="1"/>
            <a:r>
              <a:rPr lang="de-DE" dirty="0" err="1" smtClean="0"/>
              <a:t>How</a:t>
            </a:r>
            <a:r>
              <a:rPr lang="de-DE" dirty="0" smtClean="0"/>
              <a:t> </a:t>
            </a:r>
            <a:r>
              <a:rPr lang="de-DE" dirty="0" err="1" smtClean="0"/>
              <a:t>can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requirements</a:t>
            </a:r>
            <a:r>
              <a:rPr lang="de-DE" dirty="0" smtClean="0"/>
              <a:t> „</a:t>
            </a:r>
            <a:r>
              <a:rPr lang="de-DE" dirty="0" err="1" smtClean="0"/>
              <a:t>translated</a:t>
            </a:r>
            <a:r>
              <a:rPr lang="de-DE" dirty="0" smtClean="0"/>
              <a:t>“ </a:t>
            </a:r>
            <a:r>
              <a:rPr lang="de-DE" dirty="0" err="1" smtClean="0"/>
              <a:t>into</a:t>
            </a:r>
            <a:r>
              <a:rPr lang="de-DE" dirty="0" smtClean="0"/>
              <a:t> DDI-L?</a:t>
            </a:r>
          </a:p>
          <a:p>
            <a:pPr lvl="1"/>
            <a:r>
              <a:rPr lang="de-DE" dirty="0" err="1" smtClean="0"/>
              <a:t>Which</a:t>
            </a:r>
            <a:r>
              <a:rPr lang="de-DE" dirty="0" smtClean="0"/>
              <a:t> </a:t>
            </a:r>
            <a:r>
              <a:rPr lang="de-DE" dirty="0" err="1" smtClean="0"/>
              <a:t>version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DDI-L </a:t>
            </a:r>
            <a:r>
              <a:rPr lang="de-DE" dirty="0" err="1" smtClean="0"/>
              <a:t>should</a:t>
            </a:r>
            <a:r>
              <a:rPr lang="de-DE" dirty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schema</a:t>
            </a:r>
            <a:r>
              <a:rPr lang="de-DE" dirty="0" smtClean="0"/>
              <a:t> </a:t>
            </a:r>
            <a:r>
              <a:rPr lang="de-DE" dirty="0" err="1" smtClean="0"/>
              <a:t>use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long</a:t>
            </a:r>
            <a:r>
              <a:rPr lang="de-DE" dirty="0" smtClean="0"/>
              <a:t> </a:t>
            </a:r>
            <a:r>
              <a:rPr lang="de-DE" dirty="0" err="1" smtClean="0"/>
              <a:t>run</a:t>
            </a:r>
            <a:r>
              <a:rPr lang="de-DE" dirty="0" smtClean="0"/>
              <a:t>?</a:t>
            </a:r>
          </a:p>
          <a:p>
            <a:pPr marL="514350" lvl="0" indent="-514350">
              <a:buFont typeface="+mj-lt"/>
              <a:buAutoNum type="arabicPeriod" startAt="5"/>
            </a:pPr>
            <a:r>
              <a:rPr lang="de-DE" dirty="0" smtClean="0"/>
              <a:t>Search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evaluation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DDI-L </a:t>
            </a:r>
            <a:r>
              <a:rPr lang="de-DE" dirty="0" err="1" smtClean="0"/>
              <a:t>best</a:t>
            </a:r>
            <a:r>
              <a:rPr lang="de-DE" dirty="0" smtClean="0"/>
              <a:t> </a:t>
            </a:r>
            <a:r>
              <a:rPr lang="de-DE" dirty="0" err="1" smtClean="0"/>
              <a:t>practices</a:t>
            </a:r>
            <a:r>
              <a:rPr lang="de-DE" dirty="0" smtClean="0"/>
              <a:t> outside DAS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060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514350" indent="-514350"/>
            <a:r>
              <a:rPr lang="de-DE" sz="3200" dirty="0" err="1" smtClean="0"/>
              <a:t>Which</a:t>
            </a:r>
            <a:r>
              <a:rPr lang="de-DE" sz="3200" dirty="0" smtClean="0"/>
              <a:t> </a:t>
            </a:r>
            <a:r>
              <a:rPr lang="de-DE" sz="3200" dirty="0" err="1" smtClean="0"/>
              <a:t>projects</a:t>
            </a:r>
            <a:r>
              <a:rPr lang="de-DE" sz="3200" dirty="0" smtClean="0"/>
              <a:t>/</a:t>
            </a:r>
            <a:r>
              <a:rPr lang="de-DE" sz="3200" dirty="0" err="1" smtClean="0"/>
              <a:t>tools</a:t>
            </a:r>
            <a:r>
              <a:rPr lang="de-DE" sz="3200" dirty="0" smtClean="0"/>
              <a:t> </a:t>
            </a:r>
            <a:r>
              <a:rPr lang="de-DE" sz="3200" dirty="0" err="1"/>
              <a:t>are</a:t>
            </a:r>
            <a:r>
              <a:rPr lang="de-DE" sz="3200" dirty="0"/>
              <a:t> </a:t>
            </a:r>
            <a:r>
              <a:rPr lang="de-DE" sz="3200" dirty="0" err="1"/>
              <a:t>using</a:t>
            </a:r>
            <a:r>
              <a:rPr lang="de-DE" sz="3200" dirty="0"/>
              <a:t> DDI at </a:t>
            </a:r>
            <a:r>
              <a:rPr lang="de-DE" sz="3200" dirty="0" smtClean="0"/>
              <a:t>DAS </a:t>
            </a:r>
            <a:r>
              <a:rPr lang="de-DE" sz="3200" dirty="0" err="1"/>
              <a:t>or</a:t>
            </a:r>
            <a:r>
              <a:rPr lang="de-DE" sz="3200" dirty="0"/>
              <a:t> </a:t>
            </a:r>
            <a:r>
              <a:rPr lang="de-DE" sz="3200" dirty="0" err="1"/>
              <a:t>should</a:t>
            </a:r>
            <a:r>
              <a:rPr lang="de-DE" sz="3200" dirty="0"/>
              <a:t> </a:t>
            </a:r>
            <a:r>
              <a:rPr lang="de-DE" sz="3200" dirty="0" err="1"/>
              <a:t>use</a:t>
            </a:r>
            <a:r>
              <a:rPr lang="de-DE" sz="3200" dirty="0"/>
              <a:t> </a:t>
            </a:r>
            <a:r>
              <a:rPr lang="de-DE" sz="3200" dirty="0" err="1"/>
              <a:t>it</a:t>
            </a:r>
            <a:r>
              <a:rPr lang="de-DE" sz="3200" dirty="0"/>
              <a:t>?</a:t>
            </a:r>
          </a:p>
        </p:txBody>
      </p:sp>
      <p:sp>
        <p:nvSpPr>
          <p:cNvPr id="4" name="Rechteck 3"/>
          <p:cNvSpPr/>
          <p:nvPr/>
        </p:nvSpPr>
        <p:spPr>
          <a:xfrm rot="21123907">
            <a:off x="1749662" y="2960387"/>
            <a:ext cx="289027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smtClean="0">
                <a:ln w="11430"/>
                <a:solidFill>
                  <a:srgbClr val="00CC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Data </a:t>
            </a:r>
            <a:r>
              <a:rPr lang="de-DE" sz="4000" b="1" cap="none" spc="0" dirty="0" err="1" smtClean="0">
                <a:ln w="11430"/>
                <a:solidFill>
                  <a:srgbClr val="00CC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Catalog</a:t>
            </a:r>
            <a:endParaRPr lang="de-DE" sz="4000" b="1" cap="none" spc="0" dirty="0">
              <a:ln w="11430"/>
              <a:solidFill>
                <a:srgbClr val="00CC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Rechteck 5"/>
          <p:cNvSpPr/>
          <p:nvPr/>
        </p:nvSpPr>
        <p:spPr>
          <a:xfrm rot="609053">
            <a:off x="4690847" y="3918512"/>
            <a:ext cx="423609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err="1" smtClean="0">
                <a:ln w="11430"/>
                <a:solidFill>
                  <a:srgbClr val="00B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Codebook</a:t>
            </a:r>
            <a:r>
              <a:rPr lang="de-DE" sz="4000" b="1" cap="none" spc="0" dirty="0" smtClean="0">
                <a:ln w="11430"/>
                <a:solidFill>
                  <a:srgbClr val="00B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Explorer</a:t>
            </a:r>
            <a:endParaRPr lang="de-DE" sz="4000" b="1" cap="none" spc="0" dirty="0">
              <a:ln w="11430"/>
              <a:solidFill>
                <a:srgbClr val="00B05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Rechteck 6"/>
          <p:cNvSpPr/>
          <p:nvPr/>
        </p:nvSpPr>
        <p:spPr>
          <a:xfrm rot="21063716">
            <a:off x="589606" y="4692919"/>
            <a:ext cx="52852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smtClean="0">
                <a:ln w="11430"/>
                <a:solidFill>
                  <a:srgbClr val="00B0F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STARDAT Reporting Tool</a:t>
            </a:r>
            <a:endParaRPr lang="de-DE" sz="4000" b="1" cap="none" spc="0" dirty="0">
              <a:ln w="11430"/>
              <a:solidFill>
                <a:srgbClr val="00B0F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0" name="Rechteck 9"/>
          <p:cNvSpPr/>
          <p:nvPr/>
        </p:nvSpPr>
        <p:spPr>
          <a:xfrm>
            <a:off x="2929264" y="5301208"/>
            <a:ext cx="3661387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smtClean="0">
                <a:ln w="11430"/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STARDAT GLES </a:t>
            </a:r>
          </a:p>
          <a:p>
            <a:pPr algn="ctr"/>
            <a:r>
              <a:rPr lang="de-DE" sz="4000" b="1" cap="none" spc="0" dirty="0" err="1" smtClean="0">
                <a:ln w="11430"/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Question</a:t>
            </a:r>
            <a:r>
              <a:rPr lang="de-DE" sz="4000" b="1" cap="none" spc="0" dirty="0" smtClean="0">
                <a:ln w="11430"/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Search</a:t>
            </a:r>
            <a:endParaRPr lang="de-DE" sz="4000" b="1" cap="none" spc="0" dirty="0">
              <a:ln w="11430"/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1" name="Rechteck 10"/>
          <p:cNvSpPr/>
          <p:nvPr/>
        </p:nvSpPr>
        <p:spPr>
          <a:xfrm rot="1002094">
            <a:off x="939855" y="3932698"/>
            <a:ext cx="263072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err="1" smtClean="0">
                <a:ln w="11430"/>
                <a:solidFill>
                  <a:srgbClr val="7030A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CharmStats</a:t>
            </a:r>
            <a:endParaRPr lang="de-DE" sz="4000" b="1" cap="none" spc="0" dirty="0">
              <a:ln w="11430"/>
              <a:solidFill>
                <a:srgbClr val="7030A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2" name="Rechteck 11"/>
          <p:cNvSpPr/>
          <p:nvPr/>
        </p:nvSpPr>
        <p:spPr>
          <a:xfrm rot="19526891">
            <a:off x="2296594" y="4644369"/>
            <a:ext cx="29788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err="1" smtClean="0">
                <a:ln w="11430"/>
                <a:solidFill>
                  <a:schemeClr val="accent2">
                    <a:lumMod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SowiDataNet</a:t>
            </a:r>
            <a:endParaRPr lang="de-DE" sz="4000" b="1" cap="none" spc="0" dirty="0">
              <a:ln w="11430"/>
              <a:solidFill>
                <a:schemeClr val="accent2">
                  <a:lumMod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Rechteck 4"/>
          <p:cNvSpPr/>
          <p:nvPr/>
        </p:nvSpPr>
        <p:spPr>
          <a:xfrm rot="3152704">
            <a:off x="4732409" y="3841304"/>
            <a:ext cx="5175503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Dataset </a:t>
            </a:r>
            <a:r>
              <a:rPr lang="de-DE" sz="4000" b="1" cap="none" spc="0" dirty="0" err="1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Documentation</a:t>
            </a:r>
            <a:r>
              <a:rPr lang="de-DE" sz="4000" b="1" cap="none" spc="0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Manager</a:t>
            </a:r>
            <a:endParaRPr lang="de-DE" sz="4000" b="1" cap="none" spc="0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3" name="Rechteck 12"/>
          <p:cNvSpPr/>
          <p:nvPr/>
        </p:nvSpPr>
        <p:spPr>
          <a:xfrm rot="1141682">
            <a:off x="5348480" y="3508133"/>
            <a:ext cx="215943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err="1" smtClean="0">
                <a:ln w="11430"/>
                <a:solidFill>
                  <a:srgbClr val="00206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datorium</a:t>
            </a:r>
            <a:endParaRPr lang="de-DE" sz="4000" b="1" cap="none" spc="0" dirty="0">
              <a:ln w="11430"/>
              <a:solidFill>
                <a:srgbClr val="00206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2174370" y="3879675"/>
            <a:ext cx="138204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err="1" smtClean="0">
                <a:ln w="11430"/>
                <a:solidFill>
                  <a:srgbClr val="92D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da|ra</a:t>
            </a:r>
            <a:endParaRPr lang="de-DE" sz="4000" b="1" cap="none" spc="0" dirty="0">
              <a:ln w="11430"/>
              <a:solidFill>
                <a:srgbClr val="92D05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25" name="Rechteck 24"/>
          <p:cNvSpPr/>
          <p:nvPr/>
        </p:nvSpPr>
        <p:spPr>
          <a:xfrm>
            <a:off x="6814753" y="5099196"/>
            <a:ext cx="149912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smtClean="0">
                <a:ln w="11430"/>
                <a:solidFill>
                  <a:srgbClr val="808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X-Hub</a:t>
            </a:r>
            <a:endParaRPr lang="de-DE" sz="4000" b="1" cap="none" spc="0" dirty="0">
              <a:ln w="11430"/>
              <a:solidFill>
                <a:srgbClr val="808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6" name="Rechteck 15"/>
          <p:cNvSpPr/>
          <p:nvPr/>
        </p:nvSpPr>
        <p:spPr>
          <a:xfrm rot="1564360">
            <a:off x="4088084" y="3637995"/>
            <a:ext cx="13858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err="1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histat</a:t>
            </a:r>
            <a:endParaRPr lang="de-DE" sz="4000" b="1" cap="none" spc="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9" name="Rechteck 18"/>
          <p:cNvSpPr/>
          <p:nvPr/>
        </p:nvSpPr>
        <p:spPr>
          <a:xfrm>
            <a:off x="5061132" y="2821508"/>
            <a:ext cx="151022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40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MISSY</a:t>
            </a:r>
            <a:endParaRPr lang="de-DE" sz="40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0" name="Rechteck 19"/>
          <p:cNvSpPr/>
          <p:nvPr/>
        </p:nvSpPr>
        <p:spPr>
          <a:xfrm rot="2506106">
            <a:off x="5336010" y="4702055"/>
            <a:ext cx="808235" cy="707886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40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bg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ZIS</a:t>
            </a:r>
            <a:endParaRPr lang="de-DE" sz="40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bg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1" name="Rechteck 20"/>
          <p:cNvSpPr/>
          <p:nvPr/>
        </p:nvSpPr>
        <p:spPr>
          <a:xfrm rot="939770">
            <a:off x="1183221" y="2807084"/>
            <a:ext cx="266874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40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GESIS Panel</a:t>
            </a:r>
            <a:endParaRPr lang="de-DE" sz="40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2" name="Rechteck 21"/>
          <p:cNvSpPr/>
          <p:nvPr/>
        </p:nvSpPr>
        <p:spPr>
          <a:xfrm>
            <a:off x="6328164" y="3284052"/>
            <a:ext cx="23904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err="1" smtClean="0">
                <a:ln w="1143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GeorefUm</a:t>
            </a:r>
            <a:endParaRPr lang="de-DE" sz="4000" b="1" cap="none" spc="0" dirty="0">
              <a:ln w="11430"/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23" name="AutoShape 2" descr="Bildergebnis für woll haufe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4" name="Rechteck 23"/>
          <p:cNvSpPr/>
          <p:nvPr/>
        </p:nvSpPr>
        <p:spPr>
          <a:xfrm rot="2342347">
            <a:off x="274872" y="4989537"/>
            <a:ext cx="315990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40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Documenting</a:t>
            </a:r>
            <a:r>
              <a:rPr lang="de-DE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br>
              <a:rPr lang="de-DE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</a:br>
            <a:r>
              <a:rPr lang="de-DE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GLES in DDI</a:t>
            </a:r>
            <a:endParaRPr lang="de-DE" sz="40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6" name="Rechteck 25"/>
          <p:cNvSpPr/>
          <p:nvPr/>
        </p:nvSpPr>
        <p:spPr>
          <a:xfrm rot="2582059">
            <a:off x="3756532" y="4874201"/>
            <a:ext cx="240418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err="1" smtClean="0">
                <a:ln w="11430"/>
                <a:solidFill>
                  <a:srgbClr val="CC00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WebComp</a:t>
            </a:r>
            <a:endParaRPr lang="de-DE" sz="4000" b="1" cap="none" spc="0" dirty="0">
              <a:ln w="11430"/>
              <a:solidFill>
                <a:srgbClr val="CC00FF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63810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10" grpId="0"/>
      <p:bldP spid="11" grpId="0"/>
      <p:bldP spid="12" grpId="0"/>
      <p:bldP spid="5" grpId="0"/>
      <p:bldP spid="13" grpId="0"/>
      <p:bldP spid="14" grpId="0"/>
      <p:bldP spid="25" grpId="0"/>
      <p:bldP spid="16" grpId="0"/>
      <p:bldP spid="19" grpId="0"/>
      <p:bldP spid="20" grpId="0" animBg="1"/>
      <p:bldP spid="21" grpId="0"/>
      <p:bldP spid="22" grpId="0"/>
      <p:bldP spid="24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68760"/>
            <a:ext cx="8229600" cy="1088662"/>
          </a:xfrm>
        </p:spPr>
        <p:txBody>
          <a:bodyPr>
            <a:normAutofit/>
          </a:bodyPr>
          <a:lstStyle/>
          <a:p>
            <a:r>
              <a:rPr lang="de-DE" sz="3200" dirty="0" err="1"/>
              <a:t>Which</a:t>
            </a:r>
            <a:r>
              <a:rPr lang="de-DE" sz="3200" dirty="0"/>
              <a:t> </a:t>
            </a:r>
            <a:r>
              <a:rPr lang="de-DE" sz="3200" dirty="0" err="1"/>
              <a:t>projects</a:t>
            </a:r>
            <a:r>
              <a:rPr lang="de-DE" sz="3200" dirty="0"/>
              <a:t>/</a:t>
            </a:r>
            <a:r>
              <a:rPr lang="de-DE" sz="3200" dirty="0" err="1"/>
              <a:t>tools</a:t>
            </a:r>
            <a:r>
              <a:rPr lang="de-DE" sz="3200" dirty="0"/>
              <a:t> </a:t>
            </a:r>
            <a:r>
              <a:rPr lang="de-DE" sz="3200" dirty="0" err="1"/>
              <a:t>should</a:t>
            </a:r>
            <a:r>
              <a:rPr lang="de-DE" sz="3200" dirty="0"/>
              <a:t> </a:t>
            </a:r>
            <a:r>
              <a:rPr lang="de-DE" sz="3200" dirty="0" err="1"/>
              <a:t>participate</a:t>
            </a:r>
            <a:r>
              <a:rPr lang="de-DE" sz="3200" dirty="0"/>
              <a:t> in </a:t>
            </a:r>
            <a:r>
              <a:rPr lang="de-DE" sz="3200" dirty="0" err="1"/>
              <a:t>defining</a:t>
            </a:r>
            <a:r>
              <a:rPr lang="de-DE" sz="3200" dirty="0"/>
              <a:t> </a:t>
            </a:r>
            <a:r>
              <a:rPr lang="de-DE" sz="3200" dirty="0" err="1"/>
              <a:t>the</a:t>
            </a:r>
            <a:r>
              <a:rPr lang="de-DE" sz="3200" dirty="0"/>
              <a:t> </a:t>
            </a:r>
            <a:r>
              <a:rPr lang="de-DE" sz="3200" dirty="0" err="1"/>
              <a:t>metadata</a:t>
            </a:r>
            <a:r>
              <a:rPr lang="de-DE" sz="3200" dirty="0"/>
              <a:t> </a:t>
            </a:r>
            <a:r>
              <a:rPr lang="de-DE" sz="3200" dirty="0" err="1"/>
              <a:t>schema</a:t>
            </a:r>
            <a:r>
              <a:rPr lang="de-DE" sz="3200" dirty="0"/>
              <a:t>?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2500307"/>
            <a:ext cx="8229600" cy="1792789"/>
          </a:xfrm>
        </p:spPr>
        <p:txBody>
          <a:bodyPr>
            <a:normAutofit fontScale="85000" lnSpcReduction="10000"/>
          </a:bodyPr>
          <a:lstStyle/>
          <a:p>
            <a:r>
              <a:rPr lang="de-DE" dirty="0" err="1" smtClean="0"/>
              <a:t>pragmatic</a:t>
            </a:r>
            <a:r>
              <a:rPr lang="de-DE" dirty="0" smtClean="0"/>
              <a:t> </a:t>
            </a:r>
            <a:r>
              <a:rPr lang="de-DE" dirty="0" err="1" smtClean="0"/>
              <a:t>decisions</a:t>
            </a:r>
            <a:r>
              <a:rPr lang="de-DE" dirty="0" smtClean="0"/>
              <a:t>: </a:t>
            </a:r>
            <a:r>
              <a:rPr lang="de-DE" dirty="0" err="1" smtClean="0"/>
              <a:t>which</a:t>
            </a:r>
            <a:r>
              <a:rPr lang="de-DE" dirty="0" smtClean="0"/>
              <a:t> </a:t>
            </a:r>
            <a:r>
              <a:rPr lang="de-DE" dirty="0" err="1" smtClean="0"/>
              <a:t>projects</a:t>
            </a:r>
            <a:r>
              <a:rPr lang="de-DE" dirty="0" smtClean="0"/>
              <a:t>/</a:t>
            </a:r>
            <a:r>
              <a:rPr lang="de-DE" dirty="0" err="1" smtClean="0"/>
              <a:t>tools</a:t>
            </a:r>
            <a:r>
              <a:rPr lang="de-DE" dirty="0" smtClean="0"/>
              <a:t> </a:t>
            </a:r>
            <a:r>
              <a:rPr lang="de-DE" dirty="0" err="1" smtClean="0"/>
              <a:t>have</a:t>
            </a:r>
            <a:r>
              <a:rPr lang="de-DE" dirty="0" smtClean="0"/>
              <a:t> </a:t>
            </a:r>
            <a:r>
              <a:rPr lang="de-DE" dirty="0" err="1" smtClean="0"/>
              <a:t>done</a:t>
            </a:r>
            <a:r>
              <a:rPr lang="de-DE" dirty="0" smtClean="0"/>
              <a:t> </a:t>
            </a:r>
            <a:r>
              <a:rPr lang="de-DE" dirty="0" err="1" smtClean="0"/>
              <a:t>most</a:t>
            </a:r>
            <a:r>
              <a:rPr lang="de-DE" dirty="0" smtClean="0"/>
              <a:t> </a:t>
            </a:r>
            <a:r>
              <a:rPr lang="de-DE" dirty="0" err="1" smtClean="0"/>
              <a:t>preliminary</a:t>
            </a:r>
            <a:r>
              <a:rPr lang="de-DE" dirty="0" smtClean="0"/>
              <a:t> </a:t>
            </a:r>
            <a:r>
              <a:rPr lang="de-DE" dirty="0" err="1" smtClean="0"/>
              <a:t>work</a:t>
            </a:r>
            <a:r>
              <a:rPr lang="de-DE" dirty="0" smtClean="0"/>
              <a:t> on DDI so </a:t>
            </a:r>
            <a:r>
              <a:rPr lang="de-DE" dirty="0" err="1" smtClean="0"/>
              <a:t>far</a:t>
            </a:r>
            <a:r>
              <a:rPr lang="de-DE" dirty="0" smtClean="0"/>
              <a:t>?</a:t>
            </a:r>
          </a:p>
          <a:p>
            <a:r>
              <a:rPr lang="de-DE" dirty="0" err="1" smtClean="0"/>
              <a:t>political</a:t>
            </a:r>
            <a:r>
              <a:rPr lang="de-DE" dirty="0" smtClean="0"/>
              <a:t> </a:t>
            </a:r>
            <a:r>
              <a:rPr lang="de-DE" dirty="0" err="1" smtClean="0"/>
              <a:t>decisions</a:t>
            </a:r>
            <a:r>
              <a:rPr lang="de-DE" dirty="0" smtClean="0"/>
              <a:t>: </a:t>
            </a:r>
            <a:r>
              <a:rPr lang="de-DE" dirty="0" err="1" smtClean="0"/>
              <a:t>which</a:t>
            </a:r>
            <a:r>
              <a:rPr lang="de-DE" dirty="0" smtClean="0"/>
              <a:t> </a:t>
            </a:r>
            <a:r>
              <a:rPr lang="de-DE" dirty="0" err="1" smtClean="0"/>
              <a:t>projects</a:t>
            </a:r>
            <a:r>
              <a:rPr lang="de-DE" dirty="0" smtClean="0"/>
              <a:t>/</a:t>
            </a:r>
            <a:r>
              <a:rPr lang="de-DE" dirty="0" err="1" smtClean="0"/>
              <a:t>tools</a:t>
            </a:r>
            <a:r>
              <a:rPr lang="de-DE" dirty="0" smtClean="0"/>
              <a:t> in DAS do </a:t>
            </a:r>
            <a:r>
              <a:rPr lang="de-DE" dirty="0" err="1" smtClean="0"/>
              <a:t>we</a:t>
            </a:r>
            <a:r>
              <a:rPr lang="de-DE" dirty="0" smtClean="0"/>
              <a:t> like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support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DDI-L </a:t>
            </a:r>
            <a:r>
              <a:rPr lang="de-DE" dirty="0" err="1" smtClean="0"/>
              <a:t>first</a:t>
            </a:r>
            <a:r>
              <a:rPr lang="de-DE" dirty="0" smtClean="0"/>
              <a:t>?</a:t>
            </a:r>
          </a:p>
          <a:p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5638656" y="4892838"/>
            <a:ext cx="289027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smtClean="0">
                <a:ln w="11430"/>
                <a:solidFill>
                  <a:srgbClr val="00CC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Data </a:t>
            </a:r>
            <a:r>
              <a:rPr lang="de-DE" sz="4000" b="1" cap="none" spc="0" dirty="0" err="1" smtClean="0">
                <a:ln w="11430"/>
                <a:solidFill>
                  <a:srgbClr val="00CC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Catalog</a:t>
            </a:r>
            <a:endParaRPr lang="de-DE" sz="4000" b="1" cap="none" spc="0" dirty="0">
              <a:ln w="11430"/>
              <a:solidFill>
                <a:srgbClr val="00CC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Rechteck 6"/>
          <p:cNvSpPr/>
          <p:nvPr/>
        </p:nvSpPr>
        <p:spPr>
          <a:xfrm rot="202635">
            <a:off x="1542636" y="4206030"/>
            <a:ext cx="263072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err="1" smtClean="0">
                <a:ln w="11430"/>
                <a:solidFill>
                  <a:srgbClr val="7030A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CharmStats</a:t>
            </a:r>
            <a:endParaRPr lang="de-DE" sz="4000" b="1" cap="none" spc="0" dirty="0">
              <a:ln w="11430"/>
              <a:solidFill>
                <a:srgbClr val="7030A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8" name="Rechteck 7"/>
          <p:cNvSpPr/>
          <p:nvPr/>
        </p:nvSpPr>
        <p:spPr>
          <a:xfrm rot="21419243">
            <a:off x="338477" y="4754442"/>
            <a:ext cx="528522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smtClean="0">
                <a:ln w="11430"/>
                <a:solidFill>
                  <a:srgbClr val="00B0F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STARDAT Reporting Tool</a:t>
            </a:r>
            <a:endParaRPr lang="de-DE" sz="4000" b="1" cap="none" spc="0" dirty="0">
              <a:ln w="11430"/>
              <a:solidFill>
                <a:srgbClr val="00B0F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9" name="Rechteck 8"/>
          <p:cNvSpPr/>
          <p:nvPr/>
        </p:nvSpPr>
        <p:spPr>
          <a:xfrm rot="21424610">
            <a:off x="4188910" y="4187553"/>
            <a:ext cx="423609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err="1" smtClean="0">
                <a:ln w="11430"/>
                <a:solidFill>
                  <a:srgbClr val="00B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Codebook</a:t>
            </a:r>
            <a:r>
              <a:rPr lang="de-DE" sz="4000" b="1" cap="none" spc="0" dirty="0" smtClean="0">
                <a:ln w="11430"/>
                <a:solidFill>
                  <a:srgbClr val="00B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Explorer</a:t>
            </a:r>
            <a:endParaRPr lang="de-DE" sz="4000" b="1" cap="none" spc="0" dirty="0">
              <a:ln w="11430"/>
              <a:solidFill>
                <a:srgbClr val="00B05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1059729" y="5841695"/>
            <a:ext cx="736395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Dataset </a:t>
            </a:r>
            <a:r>
              <a:rPr lang="de-DE" sz="4000" b="1" cap="none" spc="0" dirty="0" err="1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Documentation</a:t>
            </a:r>
            <a:r>
              <a:rPr lang="de-DE" sz="4000" b="1" cap="none" spc="0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Manager</a:t>
            </a:r>
            <a:endParaRPr lang="de-DE" sz="4000" b="1" cap="none" spc="0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2" name="Rechteck 11"/>
          <p:cNvSpPr/>
          <p:nvPr/>
        </p:nvSpPr>
        <p:spPr>
          <a:xfrm rot="223351">
            <a:off x="1451164" y="5414542"/>
            <a:ext cx="712167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de-DE" sz="4000" b="1" cap="none" spc="0" dirty="0" smtClean="0">
                <a:ln w="11430"/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STARDAT GLES </a:t>
            </a:r>
            <a:r>
              <a:rPr lang="de-DE" sz="4000" b="1" cap="none" spc="0" dirty="0" err="1" smtClean="0">
                <a:ln w="11430"/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Question</a:t>
            </a:r>
            <a:r>
              <a:rPr lang="de-DE" sz="4000" b="1" cap="none" spc="0" dirty="0" smtClean="0">
                <a:ln w="11430"/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Search</a:t>
            </a:r>
            <a:endParaRPr lang="de-DE" sz="4000" b="1" cap="none" spc="0" dirty="0">
              <a:ln w="11430"/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225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Survey Instrument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 err="1" smtClean="0"/>
              <a:t>What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piece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information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be</a:t>
            </a:r>
            <a:r>
              <a:rPr lang="de-DE" dirty="0" smtClean="0"/>
              <a:t> </a:t>
            </a:r>
            <a:r>
              <a:rPr lang="de-DE" dirty="0" err="1" smtClean="0"/>
              <a:t>documented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project</a:t>
            </a:r>
            <a:r>
              <a:rPr lang="de-DE" dirty="0" smtClean="0"/>
              <a:t>/</a:t>
            </a:r>
            <a:r>
              <a:rPr lang="de-DE" dirty="0" err="1" smtClean="0"/>
              <a:t>tool</a:t>
            </a:r>
            <a:r>
              <a:rPr lang="de-DE" dirty="0" smtClean="0"/>
              <a:t>?</a:t>
            </a:r>
          </a:p>
          <a:p>
            <a:r>
              <a:rPr lang="de-DE" dirty="0" err="1" smtClean="0"/>
              <a:t>Which</a:t>
            </a:r>
            <a:r>
              <a:rPr lang="de-DE" dirty="0" smtClean="0"/>
              <a:t> </a:t>
            </a:r>
            <a:r>
              <a:rPr lang="de-DE" dirty="0" err="1" smtClean="0"/>
              <a:t>metadata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produced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means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project</a:t>
            </a:r>
            <a:r>
              <a:rPr lang="de-DE" dirty="0" smtClean="0"/>
              <a:t>/</a:t>
            </a:r>
            <a:r>
              <a:rPr lang="de-DE" dirty="0" err="1" smtClean="0"/>
              <a:t>tool</a:t>
            </a:r>
            <a:r>
              <a:rPr lang="de-DE" dirty="0" smtClean="0"/>
              <a:t>?</a:t>
            </a:r>
          </a:p>
          <a:p>
            <a:r>
              <a:rPr lang="de-DE" dirty="0" err="1" smtClean="0"/>
              <a:t>What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semantic</a:t>
            </a:r>
            <a:r>
              <a:rPr lang="de-DE" dirty="0" smtClean="0"/>
              <a:t> </a:t>
            </a:r>
            <a:r>
              <a:rPr lang="de-DE" dirty="0" err="1" smtClean="0"/>
              <a:t>definition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these</a:t>
            </a:r>
            <a:r>
              <a:rPr lang="de-DE" dirty="0" smtClean="0"/>
              <a:t> </a:t>
            </a:r>
            <a:r>
              <a:rPr lang="de-DE" dirty="0" err="1" smtClean="0"/>
              <a:t>metadata</a:t>
            </a:r>
            <a:r>
              <a:rPr lang="de-DE" dirty="0" smtClean="0"/>
              <a:t> (</a:t>
            </a:r>
            <a:r>
              <a:rPr lang="de-DE" dirty="0" err="1" smtClean="0"/>
              <a:t>fields</a:t>
            </a:r>
            <a:r>
              <a:rPr lang="de-DE" dirty="0" smtClean="0"/>
              <a:t>)?</a:t>
            </a:r>
          </a:p>
          <a:p>
            <a:r>
              <a:rPr lang="de-DE" dirty="0" err="1" smtClean="0"/>
              <a:t>Is</a:t>
            </a:r>
            <a:r>
              <a:rPr lang="de-DE" dirty="0" smtClean="0"/>
              <a:t> DDI </a:t>
            </a:r>
            <a:r>
              <a:rPr lang="de-DE" dirty="0" err="1" smtClean="0"/>
              <a:t>used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if</a:t>
            </a:r>
            <a:r>
              <a:rPr lang="de-DE" dirty="0" smtClean="0"/>
              <a:t> </a:t>
            </a:r>
            <a:r>
              <a:rPr lang="de-DE" dirty="0" err="1" smtClean="0"/>
              <a:t>yes</a:t>
            </a:r>
            <a:r>
              <a:rPr lang="de-DE" dirty="0" smtClean="0"/>
              <a:t> </a:t>
            </a:r>
            <a:r>
              <a:rPr lang="de-DE" dirty="0" err="1" smtClean="0"/>
              <a:t>which</a:t>
            </a:r>
            <a:r>
              <a:rPr lang="de-DE" dirty="0" smtClean="0"/>
              <a:t> </a:t>
            </a:r>
            <a:r>
              <a:rPr lang="de-DE" dirty="0" err="1" smtClean="0"/>
              <a:t>version</a:t>
            </a:r>
            <a:r>
              <a:rPr lang="de-DE" dirty="0" smtClean="0"/>
              <a:t>?</a:t>
            </a:r>
          </a:p>
          <a:p>
            <a:r>
              <a:rPr lang="de-DE" dirty="0" err="1" smtClean="0"/>
              <a:t>Where</a:t>
            </a:r>
            <a:r>
              <a:rPr lang="de-DE" dirty="0" smtClean="0"/>
              <a:t> </a:t>
            </a:r>
            <a:r>
              <a:rPr lang="de-DE" dirty="0" err="1" smtClean="0"/>
              <a:t>can</a:t>
            </a:r>
            <a:r>
              <a:rPr lang="de-DE" dirty="0" smtClean="0"/>
              <a:t> I find </a:t>
            </a:r>
            <a:r>
              <a:rPr lang="de-DE" dirty="0" err="1" smtClean="0"/>
              <a:t>documentation</a:t>
            </a:r>
            <a:r>
              <a:rPr lang="de-DE" dirty="0" smtClean="0"/>
              <a:t> on </a:t>
            </a:r>
            <a:r>
              <a:rPr lang="de-DE" dirty="0" err="1" smtClean="0"/>
              <a:t>these</a:t>
            </a:r>
            <a:r>
              <a:rPr lang="de-DE" dirty="0" smtClean="0"/>
              <a:t> </a:t>
            </a:r>
            <a:r>
              <a:rPr lang="de-DE" dirty="0" err="1" smtClean="0"/>
              <a:t>questions</a:t>
            </a:r>
            <a:r>
              <a:rPr lang="de-DE" dirty="0" smtClean="0"/>
              <a:t>?</a:t>
            </a:r>
            <a:endParaRPr lang="de-DE" dirty="0"/>
          </a:p>
        </p:txBody>
      </p:sp>
      <p:sp>
        <p:nvSpPr>
          <p:cNvPr id="4" name="AutoShape 2" descr="Bildergebnis für woll haufe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302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Analysis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/>
              <a:t>R</a:t>
            </a:r>
            <a:r>
              <a:rPr lang="de-DE" dirty="0" err="1" smtClean="0"/>
              <a:t>esults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 err="1" smtClean="0"/>
              <a:t>Pieces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information</a:t>
            </a:r>
            <a:r>
              <a:rPr lang="de-DE" dirty="0" smtClean="0"/>
              <a:t>: </a:t>
            </a:r>
            <a:r>
              <a:rPr lang="de-DE" dirty="0" err="1" smtClean="0"/>
              <a:t>studies</a:t>
            </a:r>
            <a:r>
              <a:rPr lang="de-DE" dirty="0" smtClean="0"/>
              <a:t>, variables, </a:t>
            </a:r>
            <a:r>
              <a:rPr lang="de-DE" dirty="0" err="1" smtClean="0"/>
              <a:t>questions</a:t>
            </a:r>
            <a:r>
              <a:rPr lang="de-DE" dirty="0" smtClean="0"/>
              <a:t>, </a:t>
            </a:r>
            <a:r>
              <a:rPr lang="de-DE" dirty="0" err="1" smtClean="0"/>
              <a:t>answers</a:t>
            </a:r>
            <a:r>
              <a:rPr lang="de-DE" dirty="0" smtClean="0"/>
              <a:t>, </a:t>
            </a:r>
            <a:r>
              <a:rPr lang="de-DE" dirty="0" err="1" smtClean="0"/>
              <a:t>interviewer</a:t>
            </a:r>
            <a:r>
              <a:rPr lang="de-DE" dirty="0" smtClean="0"/>
              <a:t> </a:t>
            </a:r>
            <a:r>
              <a:rPr lang="de-DE" dirty="0" err="1" smtClean="0"/>
              <a:t>instructions</a:t>
            </a:r>
            <a:r>
              <a:rPr lang="de-DE" dirty="0" smtClean="0"/>
              <a:t>, </a:t>
            </a:r>
            <a:r>
              <a:rPr lang="de-DE" dirty="0" err="1" smtClean="0"/>
              <a:t>concepts</a:t>
            </a:r>
            <a:r>
              <a:rPr lang="de-DE" dirty="0" smtClean="0"/>
              <a:t>, </a:t>
            </a:r>
            <a:r>
              <a:rPr lang="de-DE" dirty="0" err="1" smtClean="0"/>
              <a:t>tables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</a:t>
            </a:r>
            <a:r>
              <a:rPr lang="de-DE" dirty="0" err="1" smtClean="0"/>
              <a:t>frequency</a:t>
            </a:r>
            <a:r>
              <a:rPr lang="de-DE" dirty="0" smtClean="0"/>
              <a:t>/</a:t>
            </a:r>
            <a:r>
              <a:rPr lang="de-DE" dirty="0" err="1" smtClean="0"/>
              <a:t>descriptives</a:t>
            </a:r>
            <a:r>
              <a:rPr lang="de-DE" dirty="0" smtClean="0"/>
              <a:t> </a:t>
            </a:r>
            <a:endParaRPr lang="de-DE" dirty="0" smtClean="0"/>
          </a:p>
          <a:p>
            <a:r>
              <a:rPr lang="de-DE" dirty="0" err="1"/>
              <a:t>C</a:t>
            </a:r>
            <a:r>
              <a:rPr lang="de-DE" dirty="0" err="1" smtClean="0"/>
              <a:t>hanges</a:t>
            </a:r>
            <a:r>
              <a:rPr lang="de-DE" dirty="0" smtClean="0"/>
              <a:t>/</a:t>
            </a:r>
            <a:r>
              <a:rPr lang="de-DE" dirty="0" err="1" smtClean="0"/>
              <a:t>differences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questions</a:t>
            </a:r>
            <a:r>
              <a:rPr lang="de-DE" dirty="0" smtClean="0"/>
              <a:t> </a:t>
            </a:r>
            <a:r>
              <a:rPr lang="de-DE" dirty="0" err="1" smtClean="0"/>
              <a:t>regarding</a:t>
            </a:r>
            <a:r>
              <a:rPr lang="de-DE" dirty="0" smtClean="0"/>
              <a:t> time/</a:t>
            </a:r>
            <a:r>
              <a:rPr lang="de-DE" dirty="0" err="1" smtClean="0"/>
              <a:t>space</a:t>
            </a:r>
            <a:endParaRPr lang="de-DE" dirty="0"/>
          </a:p>
          <a:p>
            <a:r>
              <a:rPr lang="de-DE" dirty="0" smtClean="0"/>
              <a:t>Groups </a:t>
            </a:r>
            <a:r>
              <a:rPr lang="de-DE" dirty="0" err="1" smtClean="0"/>
              <a:t>of</a:t>
            </a:r>
            <a:r>
              <a:rPr lang="de-DE" dirty="0" smtClean="0"/>
              <a:t> variables </a:t>
            </a:r>
            <a:r>
              <a:rPr lang="de-DE" dirty="0" err="1" smtClean="0"/>
              <a:t>relating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concepts</a:t>
            </a:r>
            <a:r>
              <a:rPr lang="de-DE" dirty="0" smtClean="0"/>
              <a:t>, time, </a:t>
            </a:r>
            <a:r>
              <a:rPr lang="de-DE" dirty="0" err="1" smtClean="0"/>
              <a:t>space</a:t>
            </a:r>
            <a:endParaRPr lang="de-DE" dirty="0" smtClean="0"/>
          </a:p>
          <a:p>
            <a:r>
              <a:rPr lang="de-DE" dirty="0" smtClean="0"/>
              <a:t>The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draft</a:t>
            </a:r>
            <a:r>
              <a:rPr lang="de-DE" dirty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planned</a:t>
            </a:r>
            <a:r>
              <a:rPr lang="de-DE" dirty="0" smtClean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January</a:t>
            </a:r>
            <a:r>
              <a:rPr lang="de-DE" dirty="0"/>
              <a:t>/</a:t>
            </a:r>
            <a:r>
              <a:rPr lang="de-DE" dirty="0" err="1"/>
              <a:t>February</a:t>
            </a:r>
            <a:r>
              <a:rPr lang="de-DE" dirty="0"/>
              <a:t> 2016</a:t>
            </a:r>
            <a:endParaRPr lang="de-DE" dirty="0" smtClean="0"/>
          </a:p>
          <a:p>
            <a:endParaRPr lang="de-DE" dirty="0" smtClean="0"/>
          </a:p>
          <a:p>
            <a:endParaRPr lang="de-DE" dirty="0" smtClean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75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Further </a:t>
            </a:r>
            <a:r>
              <a:rPr lang="de-DE" dirty="0" smtClean="0"/>
              <a:t>Plans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7544" y="2420888"/>
            <a:ext cx="8229600" cy="380901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have</a:t>
            </a:r>
            <a:r>
              <a:rPr lang="de-DE" dirty="0" smtClean="0"/>
              <a:t> in </a:t>
            </a:r>
            <a:r>
              <a:rPr lang="de-DE" dirty="0" err="1" smtClean="0"/>
              <a:t>the</a:t>
            </a:r>
            <a:r>
              <a:rPr lang="de-DE" dirty="0" smtClean="0"/>
              <a:t> end:</a:t>
            </a:r>
          </a:p>
          <a:p>
            <a:r>
              <a:rPr lang="de-DE" dirty="0" smtClean="0"/>
              <a:t>a </a:t>
            </a:r>
            <a:r>
              <a:rPr lang="de-DE" dirty="0" err="1" smtClean="0"/>
              <a:t>good</a:t>
            </a:r>
            <a:r>
              <a:rPr lang="de-DE" dirty="0" smtClean="0"/>
              <a:t> </a:t>
            </a:r>
            <a:r>
              <a:rPr lang="de-DE" dirty="0" err="1" smtClean="0"/>
              <a:t>metadata</a:t>
            </a:r>
            <a:r>
              <a:rPr lang="de-DE" dirty="0" smtClean="0"/>
              <a:t> </a:t>
            </a:r>
            <a:r>
              <a:rPr lang="de-DE" dirty="0" err="1" smtClean="0"/>
              <a:t>schema</a:t>
            </a:r>
            <a:endParaRPr lang="de-DE" dirty="0" smtClean="0"/>
          </a:p>
          <a:p>
            <a:r>
              <a:rPr lang="de-DE" dirty="0" smtClean="0"/>
              <a:t>a </a:t>
            </a:r>
            <a:r>
              <a:rPr lang="de-DE" dirty="0" err="1" smtClean="0"/>
              <a:t>good</a:t>
            </a:r>
            <a:r>
              <a:rPr lang="de-DE" dirty="0" smtClean="0"/>
              <a:t> DDI 3.2 </a:t>
            </a:r>
            <a:r>
              <a:rPr lang="de-DE" dirty="0" err="1" smtClean="0"/>
              <a:t>mapping</a:t>
            </a:r>
            <a:endParaRPr lang="de-DE" dirty="0" smtClean="0"/>
          </a:p>
          <a:p>
            <a:r>
              <a:rPr lang="de-DE" dirty="0" err="1" smtClean="0"/>
              <a:t>proposals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metadata</a:t>
            </a:r>
            <a:r>
              <a:rPr lang="de-DE" dirty="0" smtClean="0"/>
              <a:t> </a:t>
            </a:r>
            <a:r>
              <a:rPr lang="de-DE" dirty="0" err="1" smtClean="0"/>
              <a:t>schemas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mappings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all </a:t>
            </a:r>
            <a:r>
              <a:rPr lang="de-DE" dirty="0" err="1" smtClean="0"/>
              <a:t>selected</a:t>
            </a:r>
            <a:r>
              <a:rPr lang="de-DE" dirty="0" smtClean="0"/>
              <a:t> </a:t>
            </a:r>
            <a:r>
              <a:rPr lang="de-DE" dirty="0" err="1" smtClean="0"/>
              <a:t>projects</a:t>
            </a:r>
            <a:r>
              <a:rPr lang="de-DE" dirty="0" smtClean="0"/>
              <a:t> </a:t>
            </a:r>
          </a:p>
          <a:p>
            <a:r>
              <a:rPr lang="de-DE" dirty="0" smtClean="0"/>
              <a:t>in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best</a:t>
            </a:r>
            <a:r>
              <a:rPr lang="de-DE" dirty="0" smtClean="0"/>
              <a:t> </a:t>
            </a:r>
            <a:r>
              <a:rPr lang="de-DE" dirty="0" err="1" smtClean="0"/>
              <a:t>case</a:t>
            </a:r>
            <a:r>
              <a:rPr lang="de-DE" dirty="0" smtClean="0"/>
              <a:t> DDI </a:t>
            </a:r>
            <a:r>
              <a:rPr lang="de-DE" dirty="0" err="1"/>
              <a:t>profiles</a:t>
            </a:r>
            <a:endParaRPr lang="de-DE" dirty="0"/>
          </a:p>
          <a:p>
            <a:r>
              <a:rPr lang="de-DE" dirty="0" err="1" smtClean="0"/>
              <a:t>recommendations</a:t>
            </a:r>
            <a:r>
              <a:rPr lang="de-DE" dirty="0" smtClean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modification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metadata</a:t>
            </a:r>
            <a:r>
              <a:rPr lang="de-DE" dirty="0"/>
              <a:t> </a:t>
            </a:r>
            <a:r>
              <a:rPr lang="de-DE" dirty="0" err="1"/>
              <a:t>editing</a:t>
            </a:r>
            <a:r>
              <a:rPr lang="de-DE" dirty="0"/>
              <a:t> </a:t>
            </a:r>
            <a:r>
              <a:rPr lang="de-DE" dirty="0" err="1" smtClean="0"/>
              <a:t>workflows</a:t>
            </a:r>
            <a:endParaRPr lang="de-DE" dirty="0" smtClean="0"/>
          </a:p>
          <a:p>
            <a:r>
              <a:rPr lang="de-DE" dirty="0" smtClean="0"/>
              <a:t>a </a:t>
            </a:r>
            <a:r>
              <a:rPr lang="de-DE" dirty="0" err="1"/>
              <a:t>starting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GESIS internal DDI </a:t>
            </a:r>
            <a:r>
              <a:rPr lang="de-DE" dirty="0" err="1" smtClean="0"/>
              <a:t>management</a:t>
            </a:r>
            <a:r>
              <a:rPr lang="de-DE" dirty="0" smtClean="0"/>
              <a:t>: </a:t>
            </a:r>
            <a:r>
              <a:rPr lang="de-DE" dirty="0" err="1" smtClean="0"/>
              <a:t>this</a:t>
            </a:r>
            <a:r>
              <a:rPr lang="de-DE" dirty="0" smtClean="0"/>
              <a:t> </a:t>
            </a:r>
            <a:r>
              <a:rPr lang="de-DE" dirty="0" err="1" smtClean="0"/>
              <a:t>would</a:t>
            </a:r>
            <a:r>
              <a:rPr lang="de-DE" dirty="0" smtClean="0"/>
              <a:t> </a:t>
            </a:r>
            <a:r>
              <a:rPr lang="de-DE" dirty="0" err="1" smtClean="0"/>
              <a:t>include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whole</a:t>
            </a:r>
            <a:r>
              <a:rPr lang="de-DE" dirty="0" smtClean="0"/>
              <a:t> </a:t>
            </a:r>
            <a:r>
              <a:rPr lang="de-DE" dirty="0" err="1" smtClean="0"/>
              <a:t>Lifecycle</a:t>
            </a:r>
            <a:r>
              <a:rPr lang="de-DE" dirty="0" smtClean="0"/>
              <a:t> (</a:t>
            </a:r>
            <a:r>
              <a:rPr lang="de-DE" dirty="0" err="1" smtClean="0"/>
              <a:t>study</a:t>
            </a:r>
            <a:r>
              <a:rPr lang="de-DE" dirty="0" smtClean="0"/>
              <a:t> </a:t>
            </a:r>
            <a:r>
              <a:rPr lang="de-DE" dirty="0" err="1" smtClean="0"/>
              <a:t>planning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collection</a:t>
            </a:r>
            <a:r>
              <a:rPr lang="de-DE" dirty="0" smtClean="0"/>
              <a:t> </a:t>
            </a:r>
            <a:r>
              <a:rPr lang="de-DE" dirty="0" err="1" smtClean="0"/>
              <a:t>as</a:t>
            </a:r>
            <a:r>
              <a:rPr lang="de-DE" dirty="0" smtClean="0"/>
              <a:t> </a:t>
            </a:r>
            <a:r>
              <a:rPr lang="de-DE" dirty="0" err="1" smtClean="0"/>
              <a:t>well</a:t>
            </a:r>
            <a:r>
              <a:rPr lang="de-DE" dirty="0" smtClean="0"/>
              <a:t>)</a:t>
            </a:r>
            <a:endParaRPr lang="de-DE" dirty="0"/>
          </a:p>
          <a:p>
            <a:r>
              <a:rPr lang="de-DE" dirty="0" err="1" smtClean="0"/>
              <a:t>good</a:t>
            </a:r>
            <a:r>
              <a:rPr lang="de-DE" dirty="0" smtClean="0"/>
              <a:t> </a:t>
            </a:r>
            <a:r>
              <a:rPr lang="de-DE" dirty="0" err="1" smtClean="0"/>
              <a:t>documentation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all </a:t>
            </a:r>
            <a:r>
              <a:rPr lang="de-DE" dirty="0" err="1" smtClean="0"/>
              <a:t>results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47100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smtClean="0"/>
              <a:t>The End </a:t>
            </a:r>
            <a:br>
              <a:rPr lang="de-DE" dirty="0" smtClean="0"/>
            </a:br>
            <a:r>
              <a:rPr lang="de-DE" dirty="0" smtClean="0"/>
              <a:t>(</a:t>
            </a:r>
            <a:r>
              <a:rPr lang="de-DE" dirty="0" err="1" smtClean="0"/>
              <a:t>hopefully</a:t>
            </a:r>
            <a:r>
              <a:rPr lang="de-DE" dirty="0" smtClean="0"/>
              <a:t> </a:t>
            </a:r>
            <a:r>
              <a:rPr lang="de-DE" dirty="0" smtClean="0">
                <a:sym typeface="Wingdings" panose="05000000000000000000" pitchFamily="2" charset="2"/>
              </a:rPr>
              <a:t>)</a:t>
            </a:r>
            <a:endParaRPr lang="en-US" dirty="0"/>
          </a:p>
        </p:txBody>
      </p:sp>
      <p:pic>
        <p:nvPicPr>
          <p:cNvPr id="4" name="Inhaltsplatzhalter 3" descr="http://schoolofpermaculture.com/wp-content/uploads/2014/06/chaos-and-order1.jpg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564" y="2500313"/>
            <a:ext cx="5094871" cy="3625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2412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nutzerdefiniertes 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>
  <documentManagement>
    <_dlc_DocIdUrl xmlns="f90a23b0-552c-4f8d-b330-f53f4fcdfcf9">
      <Url>http://intranet.gesis.intra/pr/Vorlagen/_layouts/DocIdRedir.aspx?ID=GESISDOC-552-18</Url>
      <Description>GESISDOC-552-18</Description>
    </_dlc_DocIdUrl>
    <_dlc_DocId xmlns="f90a23b0-552c-4f8d-b330-f53f4fcdfcf9">GESISDOC-552-18</_dlc_DocId>
    <Gremium_x0020_intern xmlns="f90a23b0-552c-4f8d-b330-f53f4fcdfcf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1ACB0F0E4D8D847898BCFF327EAA86F" ma:contentTypeVersion="14" ma:contentTypeDescription="Ein neues Dokument erstellen." ma:contentTypeScope="" ma:versionID="76c2ecf54bc48df689f7fd88d9137d51">
  <xsd:schema xmlns:xsd="http://www.w3.org/2001/XMLSchema" xmlns:xs="http://www.w3.org/2001/XMLSchema" xmlns:p="http://schemas.microsoft.com/office/2006/metadata/properties" xmlns:ns2="f90a23b0-552c-4f8d-b330-f53f4fcdfcf9" targetNamespace="http://schemas.microsoft.com/office/2006/metadata/properties" ma:root="true" ma:fieldsID="8cdd3350cfa562b8407acbb6ac326664" ns2:_="">
    <xsd:import namespace="f90a23b0-552c-4f8d-b330-f53f4fcdfcf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Gremium_x0020_inter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a23b0-552c-4f8d-b330-f53f4fcdfcf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  <xsd:element name="Gremium_x0020_intern" ma:index="11" nillable="true" ma:displayName="Gremium intern" ma:format="Dropdown" ma:internalName="Gremium_x0020_intern">
      <xsd:simpleType>
        <xsd:restriction base="dms:Choice">
          <xsd:enumeration value="KWA"/>
          <xsd:enumeration value="Institutsrat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2FFA55-C622-4F3D-AABF-4236B175EAD1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4449D386-2FCB-4353-94CE-7C0896CF81B1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elements/1.1/"/>
    <ds:schemaRef ds:uri="http://www.w3.org/XML/1998/namespace"/>
    <ds:schemaRef ds:uri="http://schemas.openxmlformats.org/package/2006/metadata/core-properties"/>
    <ds:schemaRef ds:uri="f90a23b0-552c-4f8d-b330-f53f4fcdfcf9"/>
  </ds:schemaRefs>
</ds:datastoreItem>
</file>

<file path=customXml/itemProps3.xml><?xml version="1.0" encoding="utf-8"?>
<ds:datastoreItem xmlns:ds="http://schemas.openxmlformats.org/officeDocument/2006/customXml" ds:itemID="{D12E0BAE-FAF0-4E78-A2C3-2AAC064B5FD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4C6A0AD-9779-44C8-8F68-AE936549AF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0a23b0-552c-4f8d-b330-f53f4fcdfc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638</Words>
  <Application>Microsoft Office PowerPoint</Application>
  <PresentationFormat>Bildschirmpräsentation (4:3)</PresentationFormat>
  <Paragraphs>101</Paragraphs>
  <Slides>13</Slides>
  <Notes>2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4" baseType="lpstr">
      <vt:lpstr>Benutzerdefiniertes Design</vt:lpstr>
      <vt:lpstr>Use of DDI-Lifecycle at the GESIS Data Archive</vt:lpstr>
      <vt:lpstr>“DDI-LimDAS”</vt:lpstr>
      <vt:lpstr>The GESIS Data Archive (DAS)</vt:lpstr>
      <vt:lpstr>Goals</vt:lpstr>
      <vt:lpstr>Basic Principles</vt:lpstr>
      <vt:lpstr>Approach </vt:lpstr>
      <vt:lpstr>Approach cont.</vt:lpstr>
      <vt:lpstr>Which projects/tools are using DDI at DAS or should use it?</vt:lpstr>
      <vt:lpstr>Which projects/tools should participate in defining the metadata schema?</vt:lpstr>
      <vt:lpstr>Survey Instrument</vt:lpstr>
      <vt:lpstr>Analysis of the Results</vt:lpstr>
      <vt:lpstr>Further Plans</vt:lpstr>
      <vt:lpstr>The End  (hopefully )</vt:lpstr>
    </vt:vector>
  </TitlesOfParts>
  <Company>IZ Sozialwissenschaften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Heuser</dc:creator>
  <cp:lastModifiedBy>Wasner, Catharina</cp:lastModifiedBy>
  <cp:revision>226</cp:revision>
  <dcterms:created xsi:type="dcterms:W3CDTF">2009-05-26T11:46:45Z</dcterms:created>
  <dcterms:modified xsi:type="dcterms:W3CDTF">2015-12-01T20:57:46Z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0x010100B1ACB0F0E4D8D847898BCFF327EAA86F</vt:lpwstr>
  </property>
  <property fmtid="{D5CDD505-2E9C-101B-9397-08002B2CF9AE}" pid="3" name="_dlc_DocIdItemGuid">
    <vt:lpwstr>ae7fdbd2-8fd7-45a0-880e-d54d7bab26b5</vt:lpwstr>
  </property>
</Properties>
</file>