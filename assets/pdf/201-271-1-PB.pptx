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82" r:id="rId2"/>
  </p:sldMasterIdLst>
  <p:notesMasterIdLst>
    <p:notesMasterId r:id="rId41"/>
  </p:notesMasterIdLst>
  <p:handoutMasterIdLst>
    <p:handoutMasterId r:id="rId42"/>
  </p:handoutMasterIdLst>
  <p:sldIdLst>
    <p:sldId id="256" r:id="rId3"/>
    <p:sldId id="337" r:id="rId4"/>
    <p:sldId id="336" r:id="rId5"/>
    <p:sldId id="350" r:id="rId6"/>
    <p:sldId id="259" r:id="rId7"/>
    <p:sldId id="339" r:id="rId8"/>
    <p:sldId id="347" r:id="rId9"/>
    <p:sldId id="340" r:id="rId10"/>
    <p:sldId id="348" r:id="rId11"/>
    <p:sldId id="338" r:id="rId12"/>
    <p:sldId id="264" r:id="rId13"/>
    <p:sldId id="273" r:id="rId14"/>
    <p:sldId id="274" r:id="rId15"/>
    <p:sldId id="309" r:id="rId16"/>
    <p:sldId id="310" r:id="rId17"/>
    <p:sldId id="311" r:id="rId18"/>
    <p:sldId id="314" r:id="rId19"/>
    <p:sldId id="315" r:id="rId20"/>
    <p:sldId id="316" r:id="rId21"/>
    <p:sldId id="317" r:id="rId22"/>
    <p:sldId id="319" r:id="rId23"/>
    <p:sldId id="343" r:id="rId24"/>
    <p:sldId id="320" r:id="rId25"/>
    <p:sldId id="342" r:id="rId26"/>
    <p:sldId id="341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</p:sldIdLst>
  <p:sldSz cx="9144000" cy="6858000" type="screen4x3"/>
  <p:notesSz cx="6794500" cy="99314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8693"/>
    <a:srgbClr val="9AB23B"/>
    <a:srgbClr val="0493AC"/>
    <a:srgbClr val="FAA50F"/>
    <a:srgbClr val="F0F0F0"/>
    <a:srgbClr val="9A9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3609" autoAdjust="0"/>
  </p:normalViewPr>
  <p:slideViewPr>
    <p:cSldViewPr>
      <p:cViewPr>
        <p:scale>
          <a:sx n="100" d="100"/>
          <a:sy n="100" d="100"/>
        </p:scale>
        <p:origin x="-198" y="-72"/>
      </p:cViewPr>
      <p:guideLst>
        <p:guide orient="horz" pos="4202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scb\folders\Nrprod\5.%20Bearbeta\Sektor&#246;vergripande_PR\Arbetsinsats\Kvartal\Beskrvining%20av%20k&#228;llorna\Testber&#228;kningar%20N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'Z:\5. Bearbeta\Sektorövergripande_PR\Arbetsinsats\Kvartal\Beskrvining av källorna\[Kopia av syss aku.xlsx]Sysselsatta nivå'!$E$3</c:f>
              <c:strCache>
                <c:ptCount val="1"/>
                <c:pt idx="0">
                  <c:v>NR</c:v>
                </c:pt>
              </c:strCache>
            </c:strRef>
          </c:tx>
          <c:marker>
            <c:symbol val="none"/>
          </c:marker>
          <c:cat>
            <c:numRef>
              <c:f>'Z:\5. Bearbeta\Sektorövergripande_PR\Arbetsinsats\Kvartal\Beskrvining av källorna\[Kopia av syss aku.xlsx]Sysselsatta nivå'!$B$4:$B$16</c:f>
              <c:numCache>
                <c:formatCode>General</c:formatCode>
                <c:ptCount val="13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</c:numCache>
            </c:numRef>
          </c:cat>
          <c:val>
            <c:numRef>
              <c:f>'Z:\5. Bearbeta\Sektorövergripande_PR\Arbetsinsats\Kvartal\Beskrvining av källorna\[Kopia av syss aku.xlsx]Sysselsatta nivå'!$E$4:$E$16</c:f>
              <c:numCache>
                <c:formatCode>General</c:formatCode>
                <c:ptCount val="13"/>
                <c:pt idx="0">
                  <c:v>239</c:v>
                </c:pt>
                <c:pt idx="1">
                  <c:v>238.3</c:v>
                </c:pt>
                <c:pt idx="2">
                  <c:v>243</c:v>
                </c:pt>
                <c:pt idx="3">
                  <c:v>249.1</c:v>
                </c:pt>
                <c:pt idx="4">
                  <c:v>247.1</c:v>
                </c:pt>
                <c:pt idx="5">
                  <c:v>243.5</c:v>
                </c:pt>
                <c:pt idx="6">
                  <c:v>244.7</c:v>
                </c:pt>
                <c:pt idx="7">
                  <c:v>240.7</c:v>
                </c:pt>
                <c:pt idx="8">
                  <c:v>233</c:v>
                </c:pt>
                <c:pt idx="9">
                  <c:v>228.8</c:v>
                </c:pt>
                <c:pt idx="10">
                  <c:v>233.4</c:v>
                </c:pt>
                <c:pt idx="11">
                  <c:v>234</c:v>
                </c:pt>
                <c:pt idx="12">
                  <c:v>238.2</c:v>
                </c:pt>
              </c:numCache>
            </c:numRef>
          </c:val>
          <c:smooth val="0"/>
        </c:ser>
        <c:ser>
          <c:idx val="2"/>
          <c:order val="1"/>
          <c:tx>
            <c:strRef>
              <c:f>'Z:\5. Bearbeta\Sektorövergripande_PR\Arbetsinsats\Kvartal\Beskrvining av källorna\[Kopia av syss aku.xlsx]Sysselsatta nivå'!$G$3</c:f>
              <c:strCache>
                <c:ptCount val="1"/>
                <c:pt idx="0">
                  <c:v>AKU NR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cat>
            <c:numRef>
              <c:f>'Z:\5. Bearbeta\Sektorövergripande_PR\Arbetsinsats\Kvartal\Beskrvining av källorna\[Kopia av syss aku.xlsx]Sysselsatta nivå'!$B$4:$B$16</c:f>
              <c:numCache>
                <c:formatCode>General</c:formatCode>
                <c:ptCount val="13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</c:numCache>
            </c:numRef>
          </c:cat>
          <c:val>
            <c:numRef>
              <c:f>'Z:\5. Bearbeta\Sektorövergripande_PR\Arbetsinsats\Kvartal\Beskrvining av källorna\[Kopia av syss aku.xlsx]Sysselsatta nivå'!$G$4:$G$16</c:f>
              <c:numCache>
                <c:formatCode>General</c:formatCode>
                <c:ptCount val="13"/>
                <c:pt idx="1">
                  <c:v>239.91666666666669</c:v>
                </c:pt>
                <c:pt idx="2">
                  <c:v>244.49999999999997</c:v>
                </c:pt>
                <c:pt idx="3">
                  <c:v>250.03333333333333</c:v>
                </c:pt>
                <c:pt idx="4">
                  <c:v>251.14166666666665</c:v>
                </c:pt>
                <c:pt idx="5">
                  <c:v>249.64999999999998</c:v>
                </c:pt>
                <c:pt idx="6">
                  <c:v>255.48333333333335</c:v>
                </c:pt>
                <c:pt idx="7">
                  <c:v>252.17500000000004</c:v>
                </c:pt>
                <c:pt idx="8">
                  <c:v>238.5</c:v>
                </c:pt>
                <c:pt idx="9">
                  <c:v>240.7</c:v>
                </c:pt>
                <c:pt idx="10">
                  <c:v>247</c:v>
                </c:pt>
                <c:pt idx="11">
                  <c:v>246</c:v>
                </c:pt>
                <c:pt idx="12">
                  <c:v>254.6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'Z:\5. Bearbeta\Sektorövergripande_PR\Arbetsinsats\Kvartal\Beskrvining av källorna\[Kopia av syss aku.xlsx]Sysselsatta nivå'!$H$3</c:f>
              <c:strCache>
                <c:ptCount val="1"/>
                <c:pt idx="0">
                  <c:v>KLS</c:v>
                </c:pt>
              </c:strCache>
            </c:strRef>
          </c:tx>
          <c:marker>
            <c:symbol val="none"/>
          </c:marker>
          <c:cat>
            <c:numRef>
              <c:f>'Z:\5. Bearbeta\Sektorövergripande_PR\Arbetsinsats\Kvartal\Beskrvining av källorna\[Kopia av syss aku.xlsx]Sysselsatta nivå'!$B$4:$B$16</c:f>
              <c:numCache>
                <c:formatCode>General</c:formatCode>
                <c:ptCount val="13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</c:numCache>
            </c:numRef>
          </c:cat>
          <c:val>
            <c:numRef>
              <c:f>'Z:\5. Bearbeta\Sektorövergripande_PR\Arbetsinsats\Kvartal\Beskrvining av källorna\[Kopia av syss aku.xlsx]Sysselsatta nivå'!$H$4:$H$16</c:f>
              <c:numCache>
                <c:formatCode>General</c:formatCode>
                <c:ptCount val="13"/>
                <c:pt idx="7">
                  <c:v>223.37458333333333</c:v>
                </c:pt>
                <c:pt idx="8">
                  <c:v>221.14933333333335</c:v>
                </c:pt>
                <c:pt idx="9">
                  <c:v>224.10325</c:v>
                </c:pt>
                <c:pt idx="10">
                  <c:v>228.44425000000001</c:v>
                </c:pt>
                <c:pt idx="11">
                  <c:v>233.19258333333335</c:v>
                </c:pt>
                <c:pt idx="12">
                  <c:v>237.57300000000001</c:v>
                </c:pt>
              </c:numCache>
            </c:numRef>
          </c:val>
          <c:smooth val="0"/>
        </c:ser>
        <c:ser>
          <c:idx val="4"/>
          <c:order val="3"/>
          <c:tx>
            <c:strRef>
              <c:f>'Z:\5. Bearbeta\Sektorövergripande_PR\Arbetsinsats\Kvartal\Beskrvining av källorna\[Kopia av syss aku.xlsx]Sysselsatta nivå'!$I$3</c:f>
              <c:strCache>
                <c:ptCount val="1"/>
                <c:pt idx="0">
                  <c:v>SL</c:v>
                </c:pt>
              </c:strCache>
            </c:strRef>
          </c:tx>
          <c:marker>
            <c:symbol val="none"/>
          </c:marker>
          <c:cat>
            <c:numRef>
              <c:f>'Z:\5. Bearbeta\Sektorövergripande_PR\Arbetsinsats\Kvartal\Beskrvining av källorna\[Kopia av syss aku.xlsx]Sysselsatta nivå'!$B$4:$B$16</c:f>
              <c:numCache>
                <c:formatCode>General</c:formatCode>
                <c:ptCount val="13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</c:numCache>
            </c:numRef>
          </c:cat>
          <c:val>
            <c:numRef>
              <c:f>'Z:\5. Bearbeta\Sektorövergripande_PR\Arbetsinsats\Kvartal\Beskrvining av källorna\[Kopia av syss aku.xlsx]Sysselsatta nivå'!$I$4:$I$16</c:f>
              <c:numCache>
                <c:formatCode>General</c:formatCode>
                <c:ptCount val="13"/>
                <c:pt idx="0">
                  <c:v>218.4</c:v>
                </c:pt>
                <c:pt idx="1">
                  <c:v>202.1</c:v>
                </c:pt>
                <c:pt idx="2">
                  <c:v>202.39999999999998</c:v>
                </c:pt>
                <c:pt idx="3">
                  <c:v>213.10000000000002</c:v>
                </c:pt>
                <c:pt idx="4">
                  <c:v>213.5</c:v>
                </c:pt>
                <c:pt idx="5">
                  <c:v>226.60000000000002</c:v>
                </c:pt>
                <c:pt idx="6">
                  <c:v>229.1</c:v>
                </c:pt>
                <c:pt idx="7">
                  <c:v>227</c:v>
                </c:pt>
                <c:pt idx="8">
                  <c:v>223.2</c:v>
                </c:pt>
                <c:pt idx="9">
                  <c:v>222.1</c:v>
                </c:pt>
                <c:pt idx="10">
                  <c:v>224.7</c:v>
                </c:pt>
                <c:pt idx="11">
                  <c:v>229.3</c:v>
                </c:pt>
                <c:pt idx="12">
                  <c:v>233.6</c:v>
                </c:pt>
              </c:numCache>
            </c:numRef>
          </c:val>
          <c:smooth val="0"/>
        </c:ser>
        <c:ser>
          <c:idx val="6"/>
          <c:order val="4"/>
          <c:tx>
            <c:strRef>
              <c:f>'Z:\5. Bearbeta\Sektorövergripande_PR\Arbetsinsats\Kvartal\Beskrvining av källorna\[Kopia av syss aku.xlsx]Sysselsatta nivå'!$K$3</c:f>
              <c:strCache>
                <c:ptCount val="1"/>
                <c:pt idx="0">
                  <c:v>RAMS</c:v>
                </c:pt>
              </c:strCache>
            </c:strRef>
          </c:tx>
          <c:marker>
            <c:symbol val="none"/>
          </c:marker>
          <c:cat>
            <c:numRef>
              <c:f>'Z:\5. Bearbeta\Sektorövergripande_PR\Arbetsinsats\Kvartal\Beskrvining av källorna\[Kopia av syss aku.xlsx]Sysselsatta nivå'!$B$4:$B$16</c:f>
              <c:numCache>
                <c:formatCode>General</c:formatCode>
                <c:ptCount val="13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</c:numCache>
            </c:numRef>
          </c:cat>
          <c:val>
            <c:numRef>
              <c:f>'Z:\5. Bearbeta\Sektorövergripande_PR\Arbetsinsats\Kvartal\Beskrvining av källorna\[Kopia av syss aku.xlsx]Sysselsatta nivå'!$K$4:$K$16</c:f>
              <c:numCache>
                <c:formatCode>General</c:formatCode>
                <c:ptCount val="13"/>
                <c:pt idx="4">
                  <c:v>222.75700000000001</c:v>
                </c:pt>
                <c:pt idx="5">
                  <c:v>235.346</c:v>
                </c:pt>
                <c:pt idx="6">
                  <c:v>238.42699999999999</c:v>
                </c:pt>
                <c:pt idx="7">
                  <c:v>235.92</c:v>
                </c:pt>
                <c:pt idx="8">
                  <c:v>230.58799999999999</c:v>
                </c:pt>
                <c:pt idx="9">
                  <c:v>230.30699999999999</c:v>
                </c:pt>
                <c:pt idx="10">
                  <c:v>230.964</c:v>
                </c:pt>
                <c:pt idx="11">
                  <c:v>233.81700000000001</c:v>
                </c:pt>
                <c:pt idx="12">
                  <c:v>240.291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4112512"/>
        <c:axId val="64155648"/>
      </c:lineChart>
      <c:catAx>
        <c:axId val="64112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64155648"/>
        <c:crosses val="autoZero"/>
        <c:auto val="1"/>
        <c:lblAlgn val="ctr"/>
        <c:lblOffset val="100"/>
        <c:noMultiLvlLbl val="0"/>
      </c:catAx>
      <c:valAx>
        <c:axId val="64155648"/>
        <c:scaling>
          <c:orientation val="minMax"/>
          <c:min val="2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41125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DAA91-3C9B-41BE-B040-882E5E8CDE68}" type="datetimeFigureOut">
              <a:rPr lang="sv-SE" smtClean="0"/>
              <a:t>2015-12-03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FB327-E84A-42FF-B739-5F956C07F0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4202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3EBC0-3809-4C5B-9704-596D53F85E82}" type="datetimeFigureOut">
              <a:rPr lang="sv-SE" smtClean="0"/>
              <a:t>2015-12-03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DA1E65-D83B-4FAD-A608-B3D2366A6EA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57097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DA1E65-D83B-4FAD-A608-B3D2366A6EA4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14308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Statistics Sweden has launched a new program for creating a production environment for “enterprise wide, process based”-statistical services. </a:t>
            </a:r>
          </a:p>
          <a:p>
            <a:r>
              <a:rPr lang="en-US" dirty="0" smtClean="0"/>
              <a:t>One of necessary the preconditions for this initiative to provide metadata that can be used “actively” through the production process from design to dissemination. These metadata have to be well-structured and of good quality in order to be used for building services in a new platform for processing and analyzing. </a:t>
            </a:r>
          </a:p>
          <a:p>
            <a:r>
              <a:rPr lang="en-US" dirty="0" smtClean="0"/>
              <a:t>Statistics Sweden is therefore creating and implementing a method for concept harmonization and also making use of the recently developed GSIM based model for a central metadata repository (presented at EDDI 2014) for handling Statistical programs, information management and data structure as well as for defining concepts and variables. </a:t>
            </a:r>
            <a:endParaRPr lang="sv-SE" dirty="0" smtClean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DA1E65-D83B-4FAD-A608-B3D2366A6EA4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70483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LG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4AD31-639A-4DE0-A1F4-041070FA636B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7670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36236-64A4-4F98-BBD2-A50569C5AD50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62652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AU" dirty="0"/>
              <a:t>Achieving (</a:t>
            </a:r>
            <a:r>
              <a:rPr lang="en-AU" dirty="0" err="1"/>
              <a:t>i</a:t>
            </a:r>
            <a:r>
              <a:rPr lang="en-AU" dirty="0"/>
              <a:t>) &amp; (ii) also requires a consistent approach to information flowing in and out of functions</a:t>
            </a:r>
            <a:br>
              <a:rPr lang="en-AU" dirty="0"/>
            </a:br>
            <a:endParaRPr lang="en-AU" dirty="0"/>
          </a:p>
          <a:p>
            <a:pPr>
              <a:lnSpc>
                <a:spcPct val="80000"/>
              </a:lnSpc>
            </a:pPr>
            <a:r>
              <a:rPr lang="en-AU" dirty="0"/>
              <a:t>DDI and SDMX can provide a standard way of representing and “carrying” (at least some of) the required information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590A94-C066-43E2-A9E6-97679CD65CB8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714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Johnson Metall 062-0196</a:t>
            </a:r>
          </a:p>
          <a:p>
            <a:r>
              <a:rPr lang="sv-SE" dirty="0" smtClean="0"/>
              <a:t>159</a:t>
            </a:r>
            <a:r>
              <a:rPr lang="sv-SE" baseline="0" dirty="0" smtClean="0"/>
              <a:t> anställda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EB2DDC-1952-4F0C-86FD-EE4F71BF0FB0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9096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smtClean="0"/>
              <a:t>Eva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4AD31-639A-4DE0-A1F4-041070FA636B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8529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36236-64A4-4F98-BBD2-A50569C5AD50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6569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 smtClean="0"/>
              <a:t>Ogden's</a:t>
            </a:r>
            <a:r>
              <a:rPr lang="sv-SE" dirty="0" smtClean="0"/>
              <a:t> </a:t>
            </a:r>
            <a:r>
              <a:rPr lang="sv-SE" dirty="0" err="1" smtClean="0"/>
              <a:t>Triangle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70170B-0E0C-41D6-AC40-FA40649B0169}" type="slidenum">
              <a:rPr lang="sv-SE" smtClean="0"/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52876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7" name="Bildobjekt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448" y="3539143"/>
            <a:ext cx="548595" cy="2986793"/>
          </a:xfrm>
          <a:prstGeom prst="rect">
            <a:avLst/>
          </a:prstGeom>
        </p:spPr>
      </p:pic>
      <p:pic>
        <p:nvPicPr>
          <p:cNvPr id="8" name="Bildobjekt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" y="1066097"/>
            <a:ext cx="554385" cy="4543888"/>
          </a:xfrm>
          <a:prstGeom prst="rect">
            <a:avLst/>
          </a:prstGeom>
        </p:spPr>
      </p:pic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062" y="6371540"/>
            <a:ext cx="283341" cy="280436"/>
          </a:xfrm>
          <a:prstGeom prst="rect">
            <a:avLst/>
          </a:prstGeom>
        </p:spPr>
      </p:pic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279" y="6359673"/>
            <a:ext cx="359968" cy="292303"/>
          </a:xfrm>
          <a:prstGeom prst="rect">
            <a:avLst/>
          </a:prstGeom>
        </p:spPr>
      </p:pic>
      <p:sp>
        <p:nvSpPr>
          <p:cNvPr id="11" name="textruta 10"/>
          <p:cNvSpPr txBox="1"/>
          <p:nvPr userDrawn="1"/>
        </p:nvSpPr>
        <p:spPr>
          <a:xfrm>
            <a:off x="1510341" y="6451921"/>
            <a:ext cx="223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facebook.com/</a:t>
            </a:r>
            <a:r>
              <a:rPr lang="sv-SE" sz="1200" b="0" i="0" u="none" strike="noStrike" kern="1200" baseline="300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statisticssweden</a:t>
            </a:r>
            <a:endParaRPr lang="sv-SE" sz="1200" b="0" i="0" u="none" strike="noStrike" kern="1200" baseline="300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sv-SE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ruta 11"/>
          <p:cNvSpPr txBox="1"/>
          <p:nvPr userDrawn="1"/>
        </p:nvSpPr>
        <p:spPr>
          <a:xfrm>
            <a:off x="3489311" y="6446320"/>
            <a:ext cx="1368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</a:t>
            </a:r>
            <a:r>
              <a:rPr lang="sv-SE" sz="1200" b="0" i="0" u="none" strike="noStrike" kern="1200" baseline="300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SCB_nyheter</a:t>
            </a:r>
            <a:endParaRPr lang="sv-SE" sz="1200" b="0" i="0" u="none" strike="noStrike" kern="1200" baseline="300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3" name="Bildobjekt 12" descr="INSTAicon-BLUE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6381328"/>
            <a:ext cx="288032" cy="288032"/>
          </a:xfrm>
          <a:prstGeom prst="rect">
            <a:avLst/>
          </a:prstGeom>
        </p:spPr>
      </p:pic>
      <p:sp>
        <p:nvSpPr>
          <p:cNvPr id="14" name="textruta 13"/>
          <p:cNvSpPr txBox="1"/>
          <p:nvPr userDrawn="1"/>
        </p:nvSpPr>
        <p:spPr>
          <a:xfrm>
            <a:off x="4788024" y="6446320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statistiska_centralbyran_scb</a:t>
            </a:r>
            <a:endParaRPr lang="sv-SE" sz="1200" b="0" i="0" u="none" strike="noStrike" kern="1200" baseline="300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 utan punktli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Rubrik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448" y="3539143"/>
            <a:ext cx="548595" cy="2986793"/>
          </a:xfrm>
          <a:prstGeom prst="rect">
            <a:avLst/>
          </a:prstGeom>
        </p:spPr>
      </p:pic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" y="1066097"/>
            <a:ext cx="554385" cy="4543888"/>
          </a:xfrm>
          <a:prstGeom prst="rect">
            <a:avLst/>
          </a:prstGeom>
        </p:spPr>
      </p:pic>
      <p:pic>
        <p:nvPicPr>
          <p:cNvPr id="11" name="Bildobjekt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062" y="6371540"/>
            <a:ext cx="283341" cy="280436"/>
          </a:xfrm>
          <a:prstGeom prst="rect">
            <a:avLst/>
          </a:prstGeom>
        </p:spPr>
      </p:pic>
      <p:pic>
        <p:nvPicPr>
          <p:cNvPr id="12" name="Bildobjekt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279" y="6359673"/>
            <a:ext cx="359968" cy="292303"/>
          </a:xfrm>
          <a:prstGeom prst="rect">
            <a:avLst/>
          </a:prstGeom>
        </p:spPr>
      </p:pic>
      <p:sp>
        <p:nvSpPr>
          <p:cNvPr id="13" name="textruta 12"/>
          <p:cNvSpPr txBox="1"/>
          <p:nvPr userDrawn="1"/>
        </p:nvSpPr>
        <p:spPr>
          <a:xfrm>
            <a:off x="1510341" y="6451921"/>
            <a:ext cx="223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facebook.com/</a:t>
            </a:r>
            <a:r>
              <a:rPr lang="sv-SE" sz="1200" b="0" i="0" u="none" strike="noStrike" kern="1200" baseline="300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statisticssweden</a:t>
            </a:r>
            <a:endParaRPr lang="sv-SE" sz="1200" b="0" i="0" u="none" strike="noStrike" kern="1200" baseline="300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sv-SE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ruta 13"/>
          <p:cNvSpPr txBox="1"/>
          <p:nvPr userDrawn="1"/>
        </p:nvSpPr>
        <p:spPr>
          <a:xfrm>
            <a:off x="3489311" y="6446320"/>
            <a:ext cx="1368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</a:t>
            </a:r>
            <a:r>
              <a:rPr lang="sv-SE" sz="1200" b="0" i="0" u="none" strike="noStrike" kern="1200" baseline="300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SCB_nyheter</a:t>
            </a:r>
            <a:endParaRPr lang="sv-SE" sz="1200" b="0" i="0" u="none" strike="noStrike" kern="1200" baseline="300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Rubrikbild">
    <p:bg>
      <p:bgPr>
        <a:solidFill>
          <a:srgbClr val="0786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448" y="3539143"/>
            <a:ext cx="548595" cy="2986793"/>
          </a:xfrm>
          <a:prstGeom prst="rect">
            <a:avLst/>
          </a:prstGeom>
        </p:spPr>
      </p:pic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6" y="1066097"/>
            <a:ext cx="546515" cy="4543888"/>
          </a:xfrm>
          <a:prstGeom prst="rect">
            <a:avLst/>
          </a:prstGeom>
        </p:spPr>
      </p:pic>
      <p:pic>
        <p:nvPicPr>
          <p:cNvPr id="11" name="Bildobjekt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062" y="6371540"/>
            <a:ext cx="283341" cy="280436"/>
          </a:xfrm>
          <a:prstGeom prst="rect">
            <a:avLst/>
          </a:prstGeom>
        </p:spPr>
      </p:pic>
      <p:pic>
        <p:nvPicPr>
          <p:cNvPr id="12" name="Bildobjekt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279" y="6359673"/>
            <a:ext cx="359968" cy="292303"/>
          </a:xfrm>
          <a:prstGeom prst="rect">
            <a:avLst/>
          </a:prstGeom>
        </p:spPr>
      </p:pic>
      <p:sp>
        <p:nvSpPr>
          <p:cNvPr id="13" name="textruta 12"/>
          <p:cNvSpPr txBox="1"/>
          <p:nvPr userDrawn="1"/>
        </p:nvSpPr>
        <p:spPr>
          <a:xfrm>
            <a:off x="1510341" y="6451921"/>
            <a:ext cx="223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facebook.com/</a:t>
            </a:r>
            <a:r>
              <a:rPr lang="sv-SE" sz="1200" b="0" i="0" u="none" strike="noStrike" kern="1200" baseline="30000" dirty="0" err="1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statisticssweden</a:t>
            </a:r>
            <a:endParaRPr lang="sv-SE" sz="1200" b="0" i="0" u="none" strike="noStrike" kern="1200" baseline="30000" dirty="0" smtClean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sv-SE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ruta 13"/>
          <p:cNvSpPr txBox="1"/>
          <p:nvPr userDrawn="1"/>
        </p:nvSpPr>
        <p:spPr>
          <a:xfrm>
            <a:off x="3489311" y="6446320"/>
            <a:ext cx="1368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</a:t>
            </a:r>
            <a:r>
              <a:rPr lang="sv-SE" sz="1200" b="0" i="0" u="none" strike="noStrike" kern="1200" baseline="30000" dirty="0" err="1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SCB_nyheter</a:t>
            </a:r>
            <a:endParaRPr lang="sv-SE" sz="1200" b="0" i="0" u="none" strike="noStrike" kern="1200" baseline="30000" dirty="0" smtClean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Rubrikbil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17" name="Bildobjekt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448" y="3539143"/>
            <a:ext cx="548595" cy="2986793"/>
          </a:xfrm>
          <a:prstGeom prst="rect">
            <a:avLst/>
          </a:prstGeom>
        </p:spPr>
      </p:pic>
      <p:pic>
        <p:nvPicPr>
          <p:cNvPr id="18" name="Bildobjekt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" y="1066097"/>
            <a:ext cx="554385" cy="4543888"/>
          </a:xfrm>
          <a:prstGeom prst="rect">
            <a:avLst/>
          </a:prstGeom>
        </p:spPr>
      </p:pic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062" y="6371540"/>
            <a:ext cx="283341" cy="280436"/>
          </a:xfrm>
          <a:prstGeom prst="rect">
            <a:avLst/>
          </a:prstGeom>
        </p:spPr>
      </p:pic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279" y="6359673"/>
            <a:ext cx="359968" cy="292303"/>
          </a:xfrm>
          <a:prstGeom prst="rect">
            <a:avLst/>
          </a:prstGeom>
        </p:spPr>
      </p:pic>
      <p:sp>
        <p:nvSpPr>
          <p:cNvPr id="11" name="textruta 10"/>
          <p:cNvSpPr txBox="1"/>
          <p:nvPr userDrawn="1"/>
        </p:nvSpPr>
        <p:spPr>
          <a:xfrm>
            <a:off x="1510341" y="6451921"/>
            <a:ext cx="223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facebook.com/</a:t>
            </a:r>
            <a:r>
              <a:rPr lang="sv-SE" sz="1200" b="0" i="0" u="none" strike="noStrike" kern="1200" baseline="300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statisticssweden</a:t>
            </a:r>
            <a:endParaRPr lang="sv-SE" sz="1200" b="0" i="0" u="none" strike="noStrike" kern="1200" baseline="300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sv-SE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ruta 11"/>
          <p:cNvSpPr txBox="1"/>
          <p:nvPr userDrawn="1"/>
        </p:nvSpPr>
        <p:spPr>
          <a:xfrm>
            <a:off x="3489311" y="6446320"/>
            <a:ext cx="1368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</a:t>
            </a:r>
            <a:r>
              <a:rPr lang="sv-SE" sz="1200" b="0" i="0" u="none" strike="noStrike" kern="1200" baseline="30000" dirty="0" err="1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SCB_nyheter</a:t>
            </a:r>
            <a:endParaRPr lang="sv-SE" sz="1200" b="0" i="0" u="none" strike="noStrike" kern="1200" baseline="30000" dirty="0" smtClean="0">
              <a:solidFill>
                <a:schemeClr val="tx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_Rubrikbil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448" y="3539143"/>
            <a:ext cx="548595" cy="2986793"/>
          </a:xfrm>
          <a:prstGeom prst="rect">
            <a:avLst/>
          </a:prstGeom>
        </p:spPr>
      </p:pic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6" y="1066097"/>
            <a:ext cx="546515" cy="4543888"/>
          </a:xfrm>
          <a:prstGeom prst="rect">
            <a:avLst/>
          </a:prstGeom>
        </p:spPr>
      </p:pic>
      <p:pic>
        <p:nvPicPr>
          <p:cNvPr id="11" name="Bildobjekt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062" y="6371540"/>
            <a:ext cx="283341" cy="280436"/>
          </a:xfrm>
          <a:prstGeom prst="rect">
            <a:avLst/>
          </a:prstGeom>
        </p:spPr>
      </p:pic>
      <p:pic>
        <p:nvPicPr>
          <p:cNvPr id="12" name="Bildobjekt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279" y="6359673"/>
            <a:ext cx="359968" cy="292303"/>
          </a:xfrm>
          <a:prstGeom prst="rect">
            <a:avLst/>
          </a:prstGeom>
        </p:spPr>
      </p:pic>
      <p:sp>
        <p:nvSpPr>
          <p:cNvPr id="13" name="textruta 12"/>
          <p:cNvSpPr txBox="1"/>
          <p:nvPr userDrawn="1"/>
        </p:nvSpPr>
        <p:spPr>
          <a:xfrm>
            <a:off x="1510341" y="6451921"/>
            <a:ext cx="2232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facebook.com/</a:t>
            </a:r>
            <a:r>
              <a:rPr lang="sv-SE" sz="1200" b="0" i="0" u="none" strike="noStrike" kern="1200" baseline="30000" dirty="0" err="1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statisticssweden</a:t>
            </a:r>
            <a:endParaRPr lang="sv-SE" sz="1200" b="0" i="0" u="none" strike="noStrike" kern="1200" baseline="30000" dirty="0" smtClean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sv-SE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ruta 13"/>
          <p:cNvSpPr txBox="1"/>
          <p:nvPr userDrawn="1"/>
        </p:nvSpPr>
        <p:spPr>
          <a:xfrm>
            <a:off x="3489311" y="6446320"/>
            <a:ext cx="1368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1200" b="0" i="0" u="none" strike="noStrike" kern="1200" baseline="300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</a:t>
            </a:r>
            <a:r>
              <a:rPr lang="sv-SE" sz="1200" b="0" i="0" u="none" strike="noStrike" kern="1200" baseline="30000" dirty="0" err="1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SCB_nyheter</a:t>
            </a:r>
            <a:endParaRPr lang="sv-SE" sz="1200" b="0" i="0" u="none" strike="noStrike" kern="1200" baseline="30000" dirty="0" smtClean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58887" y="4406900"/>
            <a:ext cx="72358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58887" y="2906713"/>
            <a:ext cx="72358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56370" y="274638"/>
            <a:ext cx="6628743" cy="1143000"/>
          </a:xfrm>
        </p:spPr>
        <p:txBody>
          <a:bodyPr/>
          <a:lstStyle/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1258888" y="1600200"/>
            <a:ext cx="3236912" cy="4525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247571" cy="4525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56371" y="274638"/>
            <a:ext cx="6639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58888" y="1535113"/>
            <a:ext cx="3238500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1258888" y="2174875"/>
            <a:ext cx="32385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3236231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32362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48907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4572000" y="273050"/>
            <a:ext cx="4114800" cy="58531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250699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 smtClean="0"/>
              <a:t>Klicka på ikonen för att lägga till en bild</a:t>
            </a:r>
            <a:endParaRPr lang="sv-SE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passa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1F4D1-35E4-46BA-AF81-4FD86FB65BBB}" type="datetimeFigureOut">
              <a:rPr lang="sv-SE" smtClean="0"/>
              <a:pPr/>
              <a:t>2015-12-03</a:t>
            </a:fld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83390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2" name="Grupp 12"/>
          <p:cNvGrpSpPr/>
          <p:nvPr/>
        </p:nvGrpSpPr>
        <p:grpSpPr>
          <a:xfrm>
            <a:off x="8604504" y="3342694"/>
            <a:ext cx="539496" cy="3158140"/>
            <a:chOff x="1643042" y="428604"/>
            <a:chExt cx="539496" cy="3158140"/>
          </a:xfrm>
        </p:grpSpPr>
        <p:pic>
          <p:nvPicPr>
            <p:cNvPr id="7" name="Bildobjekt 6" descr="BA10756.jpg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1643042" y="428604"/>
              <a:ext cx="539496" cy="539496"/>
            </a:xfrm>
            <a:prstGeom prst="rect">
              <a:avLst/>
            </a:prstGeom>
          </p:spPr>
        </p:pic>
        <p:pic>
          <p:nvPicPr>
            <p:cNvPr id="8" name="Bildobjekt 7" descr="iStock_000002716975XSmall.jp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643042" y="2382004"/>
              <a:ext cx="539496" cy="539496"/>
            </a:xfrm>
            <a:prstGeom prst="rect">
              <a:avLst/>
            </a:prstGeom>
          </p:spPr>
        </p:pic>
        <p:pic>
          <p:nvPicPr>
            <p:cNvPr id="9" name="Bildobjekt 8" descr="iStock_000006202820XSmall.jp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1643042" y="1721922"/>
              <a:ext cx="539496" cy="539496"/>
            </a:xfrm>
            <a:prstGeom prst="rect">
              <a:avLst/>
            </a:prstGeom>
          </p:spPr>
        </p:pic>
        <p:pic>
          <p:nvPicPr>
            <p:cNvPr id="10" name="Bildobjekt 9" descr="MK10676.jp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1643042" y="1071546"/>
              <a:ext cx="539496" cy="539496"/>
            </a:xfrm>
            <a:prstGeom prst="rect">
              <a:avLst/>
            </a:prstGeom>
          </p:spPr>
        </p:pic>
        <p:pic>
          <p:nvPicPr>
            <p:cNvPr id="11" name="Bildobjekt 10" descr="iStock_000000753328XSmall.jpg"/>
            <p:cNvPicPr>
              <a:picLocks noChangeAspect="1"/>
            </p:cNvPicPr>
            <p:nvPr userDrawn="1"/>
          </p:nvPicPr>
          <p:blipFill>
            <a:blip r:embed="rId6" cstate="print"/>
            <a:stretch>
              <a:fillRect/>
            </a:stretch>
          </p:blipFill>
          <p:spPr>
            <a:xfrm>
              <a:off x="1643042" y="3047248"/>
              <a:ext cx="539496" cy="539496"/>
            </a:xfrm>
            <a:prstGeom prst="rect">
              <a:avLst/>
            </a:prstGeom>
          </p:spPr>
        </p:pic>
      </p:grpSp>
      <p:pic>
        <p:nvPicPr>
          <p:cNvPr id="15" name="Bildobjekt 14" descr="SCB-logga_grey.png"/>
          <p:cNvPicPr>
            <a:picLocks noChangeAspect="1"/>
          </p:cNvPicPr>
          <p:nvPr/>
        </p:nvPicPr>
        <p:blipFill>
          <a:blip r:embed="rId7" cstate="print"/>
          <a:srcRect t="5209" r="15358" b="2083"/>
          <a:stretch>
            <a:fillRect/>
          </a:stretch>
        </p:blipFill>
        <p:spPr>
          <a:xfrm>
            <a:off x="0" y="0"/>
            <a:ext cx="1142976" cy="6357958"/>
          </a:xfrm>
          <a:prstGeom prst="rect">
            <a:avLst/>
          </a:prstGeom>
        </p:spPr>
      </p:pic>
      <p:pic>
        <p:nvPicPr>
          <p:cNvPr id="21" name="Bildobjekt 20" descr="SCB-logga_grey.png"/>
          <p:cNvPicPr>
            <a:picLocks noChangeAspect="1"/>
          </p:cNvPicPr>
          <p:nvPr/>
        </p:nvPicPr>
        <p:blipFill>
          <a:blip r:embed="rId7" cstate="print"/>
          <a:srcRect t="5209" r="15358" b="2083"/>
          <a:stretch>
            <a:fillRect/>
          </a:stretch>
        </p:blipFill>
        <p:spPr>
          <a:xfrm>
            <a:off x="0" y="0"/>
            <a:ext cx="1142976" cy="635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80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657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 utan punktli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256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Rubrikbi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2" name="Grupp 12"/>
          <p:cNvGrpSpPr/>
          <p:nvPr/>
        </p:nvGrpSpPr>
        <p:grpSpPr>
          <a:xfrm>
            <a:off x="8604504" y="3342694"/>
            <a:ext cx="539496" cy="3158140"/>
            <a:chOff x="1643042" y="428604"/>
            <a:chExt cx="539496" cy="3158140"/>
          </a:xfrm>
        </p:grpSpPr>
        <p:pic>
          <p:nvPicPr>
            <p:cNvPr id="7" name="Bildobjekt 6" descr="BA10756.jpg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1643042" y="428604"/>
              <a:ext cx="539496" cy="539496"/>
            </a:xfrm>
            <a:prstGeom prst="rect">
              <a:avLst/>
            </a:prstGeom>
          </p:spPr>
        </p:pic>
        <p:pic>
          <p:nvPicPr>
            <p:cNvPr id="8" name="Bildobjekt 7" descr="iStock_000002716975XSmall.jp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643042" y="2382004"/>
              <a:ext cx="539496" cy="539496"/>
            </a:xfrm>
            <a:prstGeom prst="rect">
              <a:avLst/>
            </a:prstGeom>
          </p:spPr>
        </p:pic>
        <p:pic>
          <p:nvPicPr>
            <p:cNvPr id="9" name="Bildobjekt 8" descr="iStock_000006202820XSmall.jp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1643042" y="1721922"/>
              <a:ext cx="539496" cy="539496"/>
            </a:xfrm>
            <a:prstGeom prst="rect">
              <a:avLst/>
            </a:prstGeom>
          </p:spPr>
        </p:pic>
        <p:pic>
          <p:nvPicPr>
            <p:cNvPr id="10" name="Bildobjekt 9" descr="MK10676.jp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1643042" y="1071546"/>
              <a:ext cx="539496" cy="539496"/>
            </a:xfrm>
            <a:prstGeom prst="rect">
              <a:avLst/>
            </a:prstGeom>
          </p:spPr>
        </p:pic>
        <p:pic>
          <p:nvPicPr>
            <p:cNvPr id="11" name="Bildobjekt 10" descr="iStock_000000753328XSmall.jpg"/>
            <p:cNvPicPr>
              <a:picLocks noChangeAspect="1"/>
            </p:cNvPicPr>
            <p:nvPr userDrawn="1"/>
          </p:nvPicPr>
          <p:blipFill>
            <a:blip r:embed="rId6" cstate="print"/>
            <a:stretch>
              <a:fillRect/>
            </a:stretch>
          </p:blipFill>
          <p:spPr>
            <a:xfrm>
              <a:off x="1643042" y="3047248"/>
              <a:ext cx="539496" cy="539496"/>
            </a:xfrm>
            <a:prstGeom prst="rect">
              <a:avLst/>
            </a:prstGeom>
          </p:spPr>
        </p:pic>
      </p:grpSp>
      <p:pic>
        <p:nvPicPr>
          <p:cNvPr id="16" name="Bildobjekt 15" descr="logga_orange.png"/>
          <p:cNvPicPr>
            <a:picLocks noChangeAspect="1"/>
          </p:cNvPicPr>
          <p:nvPr/>
        </p:nvPicPr>
        <p:blipFill>
          <a:blip r:embed="rId7" cstate="print"/>
          <a:srcRect r="6048"/>
          <a:stretch>
            <a:fillRect/>
          </a:stretch>
        </p:blipFill>
        <p:spPr>
          <a:xfrm>
            <a:off x="-11854" y="4082"/>
            <a:ext cx="11097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42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Rubrikbild">
    <p:bg>
      <p:bgPr>
        <a:solidFill>
          <a:srgbClr val="0786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2" name="Grupp 12"/>
          <p:cNvGrpSpPr/>
          <p:nvPr/>
        </p:nvGrpSpPr>
        <p:grpSpPr>
          <a:xfrm>
            <a:off x="8604504" y="3342694"/>
            <a:ext cx="539496" cy="3158140"/>
            <a:chOff x="1643042" y="428604"/>
            <a:chExt cx="539496" cy="3158140"/>
          </a:xfrm>
        </p:grpSpPr>
        <p:pic>
          <p:nvPicPr>
            <p:cNvPr id="7" name="Bildobjekt 6" descr="BA10756.jpg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1643042" y="428604"/>
              <a:ext cx="539496" cy="539496"/>
            </a:xfrm>
            <a:prstGeom prst="rect">
              <a:avLst/>
            </a:prstGeom>
          </p:spPr>
        </p:pic>
        <p:pic>
          <p:nvPicPr>
            <p:cNvPr id="8" name="Bildobjekt 7" descr="iStock_000002716975XSmall.jp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643042" y="2382004"/>
              <a:ext cx="539496" cy="539496"/>
            </a:xfrm>
            <a:prstGeom prst="rect">
              <a:avLst/>
            </a:prstGeom>
          </p:spPr>
        </p:pic>
        <p:pic>
          <p:nvPicPr>
            <p:cNvPr id="9" name="Bildobjekt 8" descr="iStock_000006202820XSmall.jp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1643042" y="1721922"/>
              <a:ext cx="539496" cy="539496"/>
            </a:xfrm>
            <a:prstGeom prst="rect">
              <a:avLst/>
            </a:prstGeom>
          </p:spPr>
        </p:pic>
        <p:pic>
          <p:nvPicPr>
            <p:cNvPr id="10" name="Bildobjekt 9" descr="MK10676.jp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1643042" y="1071546"/>
              <a:ext cx="539496" cy="539496"/>
            </a:xfrm>
            <a:prstGeom prst="rect">
              <a:avLst/>
            </a:prstGeom>
          </p:spPr>
        </p:pic>
        <p:pic>
          <p:nvPicPr>
            <p:cNvPr id="11" name="Bildobjekt 10" descr="iStock_000000753328XSmall.jpg"/>
            <p:cNvPicPr>
              <a:picLocks noChangeAspect="1"/>
            </p:cNvPicPr>
            <p:nvPr userDrawn="1"/>
          </p:nvPicPr>
          <p:blipFill>
            <a:blip r:embed="rId6" cstate="print"/>
            <a:stretch>
              <a:fillRect/>
            </a:stretch>
          </p:blipFill>
          <p:spPr>
            <a:xfrm>
              <a:off x="1643042" y="3047248"/>
              <a:ext cx="539496" cy="539496"/>
            </a:xfrm>
            <a:prstGeom prst="rect">
              <a:avLst/>
            </a:prstGeom>
          </p:spPr>
        </p:pic>
      </p:grpSp>
      <p:pic>
        <p:nvPicPr>
          <p:cNvPr id="16" name="Bildobjekt 15" descr="logga_blue.png"/>
          <p:cNvPicPr>
            <a:picLocks noChangeAspect="1"/>
          </p:cNvPicPr>
          <p:nvPr/>
        </p:nvPicPr>
        <p:blipFill>
          <a:blip r:embed="rId7" cstate="print"/>
          <a:srcRect r="6102"/>
          <a:stretch>
            <a:fillRect/>
          </a:stretch>
        </p:blipFill>
        <p:spPr>
          <a:xfrm>
            <a:off x="-11221" y="0"/>
            <a:ext cx="11091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20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Rubrikbil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2" name="Grupp 12"/>
          <p:cNvGrpSpPr/>
          <p:nvPr/>
        </p:nvGrpSpPr>
        <p:grpSpPr>
          <a:xfrm>
            <a:off x="8604504" y="3342694"/>
            <a:ext cx="539496" cy="3158140"/>
            <a:chOff x="1643042" y="428604"/>
            <a:chExt cx="539496" cy="3158140"/>
          </a:xfrm>
        </p:grpSpPr>
        <p:pic>
          <p:nvPicPr>
            <p:cNvPr id="7" name="Bildobjekt 6" descr="BA10756.jpg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1643042" y="428604"/>
              <a:ext cx="539496" cy="539496"/>
            </a:xfrm>
            <a:prstGeom prst="rect">
              <a:avLst/>
            </a:prstGeom>
          </p:spPr>
        </p:pic>
        <p:pic>
          <p:nvPicPr>
            <p:cNvPr id="8" name="Bildobjekt 7" descr="iStock_000002716975XSmall.jp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643042" y="2382004"/>
              <a:ext cx="539496" cy="539496"/>
            </a:xfrm>
            <a:prstGeom prst="rect">
              <a:avLst/>
            </a:prstGeom>
          </p:spPr>
        </p:pic>
        <p:pic>
          <p:nvPicPr>
            <p:cNvPr id="9" name="Bildobjekt 8" descr="iStock_000006202820XSmall.jp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1643042" y="1721922"/>
              <a:ext cx="539496" cy="539496"/>
            </a:xfrm>
            <a:prstGeom prst="rect">
              <a:avLst/>
            </a:prstGeom>
          </p:spPr>
        </p:pic>
        <p:pic>
          <p:nvPicPr>
            <p:cNvPr id="10" name="Bildobjekt 9" descr="MK10676.jp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1643042" y="1071546"/>
              <a:ext cx="539496" cy="539496"/>
            </a:xfrm>
            <a:prstGeom prst="rect">
              <a:avLst/>
            </a:prstGeom>
          </p:spPr>
        </p:pic>
        <p:pic>
          <p:nvPicPr>
            <p:cNvPr id="11" name="Bildobjekt 10" descr="iStock_000000753328XSmall.jpg"/>
            <p:cNvPicPr>
              <a:picLocks noChangeAspect="1"/>
            </p:cNvPicPr>
            <p:nvPr userDrawn="1"/>
          </p:nvPicPr>
          <p:blipFill>
            <a:blip r:embed="rId6" cstate="print"/>
            <a:stretch>
              <a:fillRect/>
            </a:stretch>
          </p:blipFill>
          <p:spPr>
            <a:xfrm>
              <a:off x="1643042" y="3047248"/>
              <a:ext cx="539496" cy="539496"/>
            </a:xfrm>
            <a:prstGeom prst="rect">
              <a:avLst/>
            </a:prstGeom>
          </p:spPr>
        </p:pic>
      </p:grpSp>
      <p:pic>
        <p:nvPicPr>
          <p:cNvPr id="16" name="Bildobjekt 15" descr="logga_green.png"/>
          <p:cNvPicPr>
            <a:picLocks noChangeAspect="1"/>
          </p:cNvPicPr>
          <p:nvPr/>
        </p:nvPicPr>
        <p:blipFill>
          <a:blip r:embed="rId7" cstate="print"/>
          <a:srcRect r="6716"/>
          <a:stretch>
            <a:fillRect/>
          </a:stretch>
        </p:blipFill>
        <p:spPr>
          <a:xfrm>
            <a:off x="-9407" y="0"/>
            <a:ext cx="11018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920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4_Rubrikbil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258888" y="2130425"/>
            <a:ext cx="6626225" cy="14700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2" name="Grupp 12"/>
          <p:cNvGrpSpPr/>
          <p:nvPr/>
        </p:nvGrpSpPr>
        <p:grpSpPr>
          <a:xfrm>
            <a:off x="8604504" y="3342694"/>
            <a:ext cx="539496" cy="3158140"/>
            <a:chOff x="1643042" y="428604"/>
            <a:chExt cx="539496" cy="3158140"/>
          </a:xfrm>
        </p:grpSpPr>
        <p:pic>
          <p:nvPicPr>
            <p:cNvPr id="7" name="Bildobjekt 6" descr="BA10756.jpg"/>
            <p:cNvPicPr>
              <a:picLocks noChangeAspect="1"/>
            </p:cNvPicPr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1643042" y="428604"/>
              <a:ext cx="539496" cy="539496"/>
            </a:xfrm>
            <a:prstGeom prst="rect">
              <a:avLst/>
            </a:prstGeom>
          </p:spPr>
        </p:pic>
        <p:pic>
          <p:nvPicPr>
            <p:cNvPr id="8" name="Bildobjekt 7" descr="iStock_000002716975XSmall.jp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1643042" y="2382004"/>
              <a:ext cx="539496" cy="539496"/>
            </a:xfrm>
            <a:prstGeom prst="rect">
              <a:avLst/>
            </a:prstGeom>
          </p:spPr>
        </p:pic>
        <p:pic>
          <p:nvPicPr>
            <p:cNvPr id="9" name="Bildobjekt 8" descr="iStock_000006202820XSmall.jp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1643042" y="1721922"/>
              <a:ext cx="539496" cy="539496"/>
            </a:xfrm>
            <a:prstGeom prst="rect">
              <a:avLst/>
            </a:prstGeom>
          </p:spPr>
        </p:pic>
        <p:pic>
          <p:nvPicPr>
            <p:cNvPr id="10" name="Bildobjekt 9" descr="MK10676.jp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1643042" y="1071546"/>
              <a:ext cx="539496" cy="539496"/>
            </a:xfrm>
            <a:prstGeom prst="rect">
              <a:avLst/>
            </a:prstGeom>
          </p:spPr>
        </p:pic>
        <p:pic>
          <p:nvPicPr>
            <p:cNvPr id="11" name="Bildobjekt 10" descr="iStock_000000753328XSmall.jpg"/>
            <p:cNvPicPr>
              <a:picLocks noChangeAspect="1"/>
            </p:cNvPicPr>
            <p:nvPr userDrawn="1"/>
          </p:nvPicPr>
          <p:blipFill>
            <a:blip r:embed="rId6" cstate="print"/>
            <a:stretch>
              <a:fillRect/>
            </a:stretch>
          </p:blipFill>
          <p:spPr>
            <a:xfrm>
              <a:off x="1643042" y="3047248"/>
              <a:ext cx="539496" cy="539496"/>
            </a:xfrm>
            <a:prstGeom prst="rect">
              <a:avLst/>
            </a:prstGeom>
          </p:spPr>
        </p:pic>
      </p:grpSp>
      <p:pic>
        <p:nvPicPr>
          <p:cNvPr id="14" name="Bildobjekt 13" descr="SCB-logga_lila.png"/>
          <p:cNvPicPr>
            <a:picLocks noChangeAspect="1"/>
          </p:cNvPicPr>
          <p:nvPr/>
        </p:nvPicPr>
        <p:blipFill>
          <a:blip r:embed="rId7" cstate="print"/>
          <a:srcRect t="3335" r="5552"/>
          <a:stretch>
            <a:fillRect/>
          </a:stretch>
        </p:blipFill>
        <p:spPr>
          <a:xfrm>
            <a:off x="-13639" y="220720"/>
            <a:ext cx="1115648" cy="662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182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58887" y="4406900"/>
            <a:ext cx="72358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58887" y="2906713"/>
            <a:ext cx="72358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234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56370" y="274638"/>
            <a:ext cx="6628743" cy="1143000"/>
          </a:xfrm>
        </p:spPr>
        <p:txBody>
          <a:bodyPr/>
          <a:lstStyle/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1258888" y="1600200"/>
            <a:ext cx="3236912" cy="4525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247571" cy="4525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1785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56371" y="274638"/>
            <a:ext cx="6639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58888" y="1535113"/>
            <a:ext cx="3238500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1258888" y="2174875"/>
            <a:ext cx="32385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3236231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32362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69089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333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4859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48907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4572000" y="273050"/>
            <a:ext cx="4114800" cy="58531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250699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6464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 smtClean="0"/>
              <a:t>Klicka på ikonen för att lägga till en bild</a:t>
            </a:r>
            <a:endParaRPr lang="sv-SE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9381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2189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588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8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1256370" y="378212"/>
            <a:ext cx="743042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56370" y="1600200"/>
            <a:ext cx="743042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1263804" y="6492899"/>
            <a:ext cx="1326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E2F1F4D1-35E4-46BA-AF81-4FD86FB65BBB}" type="datetimeFigureOut">
              <a:rPr lang="sv-SE" smtClean="0"/>
              <a:pPr/>
              <a:t>2015-12-03</a:t>
            </a:fld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7010432" y="64928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6C39467F-BE74-4AAD-857B-908E9ECDE9FD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10" name="Bildobjekt 9" descr="kvadrater_100_rgb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856757" y="4357553"/>
            <a:ext cx="286488" cy="1785980"/>
          </a:xfrm>
          <a:prstGeom prst="rect">
            <a:avLst/>
          </a:prstGeom>
        </p:spPr>
      </p:pic>
      <p:pic>
        <p:nvPicPr>
          <p:cNvPr id="11" name="Bildobjekt 1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1" y="1066097"/>
            <a:ext cx="554385" cy="45438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0" r:id="rId2"/>
    <p:sldLayoutId id="2147483680" r:id="rId3"/>
    <p:sldLayoutId id="2147483666" r:id="rId4"/>
    <p:sldLayoutId id="2147483667" r:id="rId5"/>
    <p:sldLayoutId id="2147483668" r:id="rId6"/>
    <p:sldLayoutId id="2147483669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1" r:id="rId1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4200" kern="1200">
          <a:solidFill>
            <a:schemeClr val="accent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71277A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71277A"/>
        </a:buClr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71277A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71277A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71277A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1256370" y="378212"/>
            <a:ext cx="743042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1256370" y="1600200"/>
            <a:ext cx="743042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1263804" y="6492899"/>
            <a:ext cx="13269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788AB76-2FF1-4BD9-A9A8-BFF25301022F}" type="datetimeFigureOut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2015-12-03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7010432" y="6492899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2BCB6B9-9F8C-423E-9EA7-F73252A0F367}" type="slidenum">
              <a:rPr lang="sv-SE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sv-SE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Bildobjekt 6" descr="logga.png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-32" y="757556"/>
            <a:ext cx="652218" cy="5345750"/>
          </a:xfrm>
          <a:prstGeom prst="rect">
            <a:avLst/>
          </a:prstGeom>
        </p:spPr>
      </p:pic>
      <p:pic>
        <p:nvPicPr>
          <p:cNvPr id="10" name="Bildobjekt 9" descr="kvadrater_100_rgb.png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856757" y="4357553"/>
            <a:ext cx="286488" cy="178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03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</p:sldLayoutIdLst>
  <p:txStyles>
    <p:titleStyle>
      <a:lvl1pPr algn="l" defTabSz="914400" rtl="0" eaLnBrk="1" latinLnBrk="0" hangingPunct="1">
        <a:spcBef>
          <a:spcPct val="0"/>
        </a:spcBef>
        <a:buNone/>
        <a:defRPr sz="4200" kern="1200">
          <a:solidFill>
            <a:schemeClr val="accent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71277A"/>
        </a:buClr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71277A"/>
        </a:buClr>
        <a:buFont typeface="Arial" pitchFamily="34" charset="0"/>
        <a:buChar char="•"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71277A"/>
        </a:buClr>
        <a:buFont typeface="Arial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71277A"/>
        </a:buClr>
        <a:buFont typeface="Arial" pitchFamily="34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71277A"/>
        </a:buClr>
        <a:buFont typeface="Arial" pitchFamily="34" charset="0"/>
        <a:buChar char="•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www1.unece.org/stat/platform/display/gsi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hyperlink" Target="http://www1.unece.org/stat/platform/display/CSPA/Implementing+CSPA+Projects+2014+and+2015" TargetMode="External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www1.unece.org/stat/platform/display/gsim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www1.unece.org/stat/platform/display/gsim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www1.unece.org/stat/platform/display/gsim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ubrik 3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generic production environment - use of GSIM in Statistics </a:t>
            </a:r>
            <a:r>
              <a:rPr lang="en-US" b="1" dirty="0" smtClean="0"/>
              <a:t>Sweden</a:t>
            </a:r>
            <a:endParaRPr lang="sv-SE" dirty="0"/>
          </a:p>
        </p:txBody>
      </p:sp>
      <p:sp>
        <p:nvSpPr>
          <p:cNvPr id="36" name="Underrubrik 3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sv-SE" dirty="0" smtClean="0"/>
          </a:p>
          <a:p>
            <a:r>
              <a:rPr lang="sv-SE" dirty="0" smtClean="0"/>
              <a:t>Klas Blomqvist</a:t>
            </a:r>
            <a:endParaRPr lang="sv-S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smtClean="0"/>
              <a:t>Vision</a:t>
            </a:r>
          </a:p>
          <a:p>
            <a:r>
              <a:rPr lang="sv-SE" dirty="0" smtClean="0"/>
              <a:t>GPM-</a:t>
            </a:r>
            <a:r>
              <a:rPr lang="sv-SE" dirty="0" err="1" smtClean="0"/>
              <a:t>project</a:t>
            </a:r>
            <a:endParaRPr lang="sv-SE" dirty="0" smtClean="0"/>
          </a:p>
          <a:p>
            <a:r>
              <a:rPr lang="sv-SE" dirty="0" smtClean="0"/>
              <a:t>The central metadata </a:t>
            </a:r>
            <a:r>
              <a:rPr lang="sv-SE" dirty="0" err="1" smtClean="0"/>
              <a:t>repository</a:t>
            </a:r>
            <a:endParaRPr lang="sv-SE" dirty="0" smtClean="0"/>
          </a:p>
          <a:p>
            <a:r>
              <a:rPr lang="sv-SE" dirty="0" err="1" smtClean="0"/>
              <a:t>Harmonization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9114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Vision 2020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err="1"/>
              <a:t>Reduce</a:t>
            </a:r>
            <a:r>
              <a:rPr lang="sv-SE" dirty="0"/>
              <a:t> </a:t>
            </a:r>
            <a:r>
              <a:rPr lang="sv-SE" dirty="0" err="1" smtClean="0"/>
              <a:t>respondant</a:t>
            </a:r>
            <a:r>
              <a:rPr lang="sv-SE" dirty="0" smtClean="0"/>
              <a:t> </a:t>
            </a:r>
            <a:r>
              <a:rPr lang="sv-SE" dirty="0" err="1"/>
              <a:t>burden</a:t>
            </a:r>
            <a:endParaRPr lang="sv-SE" dirty="0"/>
          </a:p>
          <a:p>
            <a:r>
              <a:rPr lang="sv-SE" dirty="0" err="1"/>
              <a:t>Meet</a:t>
            </a:r>
            <a:r>
              <a:rPr lang="sv-SE" dirty="0"/>
              <a:t> new </a:t>
            </a:r>
            <a:r>
              <a:rPr lang="sv-SE" dirty="0" err="1"/>
              <a:t>demands</a:t>
            </a:r>
            <a:endParaRPr lang="sv-SE" dirty="0"/>
          </a:p>
          <a:p>
            <a:r>
              <a:rPr lang="sv-SE" dirty="0" err="1" smtClean="0"/>
              <a:t>Harmonized</a:t>
            </a:r>
            <a:r>
              <a:rPr lang="sv-SE" dirty="0" smtClean="0"/>
              <a:t> statstics</a:t>
            </a:r>
          </a:p>
          <a:p>
            <a:pPr lvl="1"/>
            <a:r>
              <a:rPr lang="sv-SE" dirty="0" smtClean="0"/>
              <a:t>A </a:t>
            </a:r>
            <a:r>
              <a:rPr lang="sv-SE" dirty="0" err="1" smtClean="0"/>
              <a:t>coordinated</a:t>
            </a:r>
            <a:r>
              <a:rPr lang="sv-SE" dirty="0" smtClean="0"/>
              <a:t> </a:t>
            </a:r>
            <a:r>
              <a:rPr lang="sv-SE" dirty="0" err="1" smtClean="0"/>
              <a:t>efficient</a:t>
            </a:r>
            <a:r>
              <a:rPr lang="sv-SE" dirty="0" smtClean="0"/>
              <a:t> statistical system </a:t>
            </a:r>
            <a:r>
              <a:rPr lang="sv-SE" dirty="0" err="1" smtClean="0"/>
              <a:t>that</a:t>
            </a:r>
            <a:r>
              <a:rPr lang="sv-SE" dirty="0" smtClean="0"/>
              <a:t> </a:t>
            </a:r>
            <a:r>
              <a:rPr lang="sv-SE" dirty="0" err="1" smtClean="0"/>
              <a:t>meets</a:t>
            </a:r>
            <a:r>
              <a:rPr lang="sv-SE" dirty="0" smtClean="0"/>
              <a:t> the </a:t>
            </a:r>
            <a:r>
              <a:rPr lang="sv-SE" dirty="0" err="1" smtClean="0"/>
              <a:t>needs</a:t>
            </a:r>
            <a:r>
              <a:rPr lang="sv-SE" dirty="0" smtClean="0"/>
              <a:t> and </a:t>
            </a:r>
            <a:r>
              <a:rPr lang="sv-SE" dirty="0" err="1" smtClean="0"/>
              <a:t>demands</a:t>
            </a:r>
            <a:r>
              <a:rPr lang="sv-SE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the </a:t>
            </a:r>
            <a:r>
              <a:rPr lang="sv-SE" u="sng" dirty="0" err="1" smtClean="0"/>
              <a:t>customers</a:t>
            </a:r>
            <a:r>
              <a:rPr lang="sv-SE" u="sng" dirty="0" smtClean="0"/>
              <a:t> </a:t>
            </a:r>
          </a:p>
          <a:p>
            <a:pPr lvl="1"/>
            <a:r>
              <a:rPr lang="sv-SE" dirty="0" smtClean="0"/>
              <a:t>The statistical information is </a:t>
            </a:r>
            <a:r>
              <a:rPr lang="sv-SE" dirty="0" err="1" smtClean="0"/>
              <a:t>well</a:t>
            </a:r>
            <a:r>
              <a:rPr lang="sv-SE" dirty="0" smtClean="0"/>
              <a:t> </a:t>
            </a:r>
            <a:r>
              <a:rPr lang="sv-SE" dirty="0" err="1" smtClean="0"/>
              <a:t>structured</a:t>
            </a:r>
            <a:r>
              <a:rPr lang="sv-SE" dirty="0" smtClean="0"/>
              <a:t> in order </a:t>
            </a:r>
            <a:r>
              <a:rPr lang="sv-SE" dirty="0" err="1" smtClean="0"/>
              <a:t>to</a:t>
            </a:r>
            <a:r>
              <a:rPr lang="sv-SE" dirty="0" smtClean="0"/>
              <a:t> </a:t>
            </a:r>
            <a:r>
              <a:rPr lang="sv-SE" dirty="0" err="1" smtClean="0"/>
              <a:t>promote</a:t>
            </a:r>
            <a:r>
              <a:rPr lang="sv-SE" dirty="0" smtClean="0"/>
              <a:t> </a:t>
            </a:r>
            <a:r>
              <a:rPr lang="sv-SE" u="sng" dirty="0" smtClean="0"/>
              <a:t>new outputs</a:t>
            </a:r>
          </a:p>
          <a:p>
            <a:pPr lvl="1"/>
            <a:r>
              <a:rPr lang="sv-SE" dirty="0" smtClean="0"/>
              <a:t>By analysing the </a:t>
            </a:r>
            <a:r>
              <a:rPr lang="sv-SE" dirty="0" err="1" smtClean="0"/>
              <a:t>statistcal</a:t>
            </a:r>
            <a:r>
              <a:rPr lang="sv-SE" dirty="0" smtClean="0"/>
              <a:t> material the </a:t>
            </a:r>
            <a:r>
              <a:rPr lang="sv-SE" u="sng" dirty="0" err="1" smtClean="0"/>
              <a:t>quality</a:t>
            </a:r>
            <a:r>
              <a:rPr lang="sv-SE" dirty="0" smtClean="0"/>
              <a:t> and </a:t>
            </a:r>
            <a:r>
              <a:rPr lang="sv-SE" dirty="0" err="1" smtClean="0"/>
              <a:t>usability</a:t>
            </a:r>
            <a:r>
              <a:rPr lang="sv-SE" dirty="0" smtClean="0"/>
              <a:t> </a:t>
            </a:r>
            <a:r>
              <a:rPr lang="sv-SE" dirty="0" err="1" smtClean="0"/>
              <a:t>can</a:t>
            </a:r>
            <a:r>
              <a:rPr lang="sv-SE" dirty="0" smtClean="0"/>
              <a:t> be </a:t>
            </a:r>
            <a:r>
              <a:rPr lang="sv-SE" dirty="0" err="1" smtClean="0"/>
              <a:t>improved</a:t>
            </a:r>
            <a:endParaRPr lang="sv-SE" dirty="0" smtClean="0"/>
          </a:p>
        </p:txBody>
      </p:sp>
    </p:spTree>
    <p:extLst>
      <p:ext uri="{BB962C8B-B14F-4D97-AF65-F5344CB8AC3E}">
        <p14:creationId xmlns:p14="http://schemas.microsoft.com/office/powerpoint/2010/main" val="229078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ktangel 87"/>
          <p:cNvSpPr/>
          <p:nvPr/>
        </p:nvSpPr>
        <p:spPr>
          <a:xfrm>
            <a:off x="1547664" y="3573016"/>
            <a:ext cx="5976664" cy="2736304"/>
          </a:xfrm>
          <a:prstGeom prst="rect">
            <a:avLst/>
          </a:prstGeom>
          <a:gradFill flip="none" rotWithShape="1">
            <a:gsLst>
              <a:gs pos="0">
                <a:srgbClr val="FFC000">
                  <a:alpha val="0"/>
                </a:srgbClr>
              </a:gs>
              <a:gs pos="39999">
                <a:schemeClr val="accent1">
                  <a:lumMod val="20000"/>
                  <a:lumOff val="80000"/>
                </a:schemeClr>
              </a:gs>
              <a:gs pos="70000">
                <a:srgbClr val="FFC000">
                  <a:alpha val="92000"/>
                </a:srgbClr>
              </a:gs>
            </a:gsLst>
            <a:lin ang="6000000" scaled="0"/>
            <a:tileRect/>
          </a:gradFill>
          <a:ln w="12700" cap="rnd">
            <a:solidFill>
              <a:schemeClr val="accent5">
                <a:lumMod val="40000"/>
                <a:lumOff val="60000"/>
                <a:alpha val="44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sv-SE" sz="1100" b="1" dirty="0" smtClean="0">
              <a:solidFill>
                <a:schemeClr val="tx1"/>
              </a:solidFill>
            </a:endParaRPr>
          </a:p>
          <a:p>
            <a:pPr algn="ctr"/>
            <a:endParaRPr lang="sv-SE" sz="1100" b="1" dirty="0" smtClean="0">
              <a:solidFill>
                <a:schemeClr val="tx1"/>
              </a:solidFill>
            </a:endParaRPr>
          </a:p>
          <a:p>
            <a:pPr algn="ctr"/>
            <a:endParaRPr lang="sv-SE" sz="1100" b="1" dirty="0" smtClean="0">
              <a:solidFill>
                <a:schemeClr val="tx1"/>
              </a:solidFill>
            </a:endParaRPr>
          </a:p>
          <a:p>
            <a:pPr algn="ctr"/>
            <a:endParaRPr lang="sv-SE" sz="800" b="1" dirty="0" smtClean="0">
              <a:solidFill>
                <a:schemeClr val="tx1"/>
              </a:solidFill>
            </a:endParaRPr>
          </a:p>
          <a:p>
            <a:pPr algn="ctr"/>
            <a:endParaRPr lang="sv-SE" sz="800" b="1" dirty="0" smtClean="0">
              <a:solidFill>
                <a:schemeClr val="tx1"/>
              </a:solidFill>
            </a:endParaRPr>
          </a:p>
          <a:p>
            <a:pPr algn="ctr"/>
            <a:r>
              <a:rPr lang="sv-SE" sz="1100" b="1" dirty="0" smtClean="0">
                <a:solidFill>
                  <a:schemeClr val="tx1"/>
                </a:solidFill>
              </a:rPr>
              <a:t>Data</a:t>
            </a:r>
            <a:endParaRPr lang="sv-SE" sz="1100" b="1" dirty="0">
              <a:solidFill>
                <a:schemeClr val="tx1"/>
              </a:solidFill>
            </a:endParaRPr>
          </a:p>
        </p:txBody>
      </p:sp>
      <p:sp>
        <p:nvSpPr>
          <p:cNvPr id="87" name="Rektangel 86"/>
          <p:cNvSpPr/>
          <p:nvPr/>
        </p:nvSpPr>
        <p:spPr>
          <a:xfrm>
            <a:off x="827584" y="2636912"/>
            <a:ext cx="7056784" cy="165503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38000">
                <a:schemeClr val="accent5">
                  <a:lumMod val="20000"/>
                  <a:lumOff val="80000"/>
                  <a:alpha val="69000"/>
                </a:schemeClr>
              </a:gs>
              <a:gs pos="70000">
                <a:schemeClr val="accent5">
                  <a:lumMod val="40000"/>
                  <a:lumOff val="60000"/>
                  <a:alpha val="4000"/>
                </a:schemeClr>
              </a:gs>
            </a:gsLst>
            <a:lin ang="5400000" scaled="0"/>
            <a:tileRect/>
          </a:gradFill>
          <a:ln w="12700" cap="rnd">
            <a:solidFill>
              <a:schemeClr val="accent5">
                <a:lumMod val="40000"/>
                <a:lumOff val="60000"/>
                <a:alpha val="44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smtClean="0">
                <a:solidFill>
                  <a:schemeClr val="tx2"/>
                </a:solidFill>
              </a:rPr>
              <a:t>Support and infrastructure</a:t>
            </a:r>
            <a:endParaRPr lang="en-GB" sz="1100" b="1">
              <a:solidFill>
                <a:schemeClr val="tx2"/>
              </a:solidFill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SCB’s strategy on coordinated statistics production</a:t>
            </a:r>
            <a:endParaRPr lang="en-GB" dirty="0"/>
          </a:p>
        </p:txBody>
      </p:sp>
      <p:grpSp>
        <p:nvGrpSpPr>
          <p:cNvPr id="3" name="Grupp 92"/>
          <p:cNvGrpSpPr/>
          <p:nvPr/>
        </p:nvGrpSpPr>
        <p:grpSpPr>
          <a:xfrm>
            <a:off x="827584" y="1700808"/>
            <a:ext cx="7107382" cy="848292"/>
            <a:chOff x="1049078" y="1733274"/>
            <a:chExt cx="7107382" cy="848292"/>
          </a:xfrm>
        </p:grpSpPr>
        <p:sp>
          <p:nvSpPr>
            <p:cNvPr id="94" name="Rektangel 93"/>
            <p:cNvSpPr/>
            <p:nvPr/>
          </p:nvSpPr>
          <p:spPr>
            <a:xfrm>
              <a:off x="1049078" y="1733274"/>
              <a:ext cx="7056784" cy="243307"/>
            </a:xfrm>
            <a:prstGeom prst="rect">
              <a:avLst/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b="1" dirty="0" smtClean="0">
                  <a:solidFill>
                    <a:schemeClr val="tx2"/>
                  </a:solidFill>
                </a:rPr>
                <a:t>Evaluate and feed back</a:t>
              </a:r>
              <a:endParaRPr lang="en-US" sz="1100" b="1" dirty="0">
                <a:solidFill>
                  <a:schemeClr val="tx2"/>
                </a:solidFill>
              </a:endParaRPr>
            </a:p>
          </p:txBody>
        </p:sp>
        <p:sp>
          <p:nvSpPr>
            <p:cNvPr id="95" name="Femhörning 94"/>
            <p:cNvSpPr/>
            <p:nvPr/>
          </p:nvSpPr>
          <p:spPr>
            <a:xfrm>
              <a:off x="1049078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100" b="1" dirty="0" smtClean="0">
                  <a:solidFill>
                    <a:schemeClr val="tx2"/>
                  </a:solidFill>
                </a:rPr>
                <a:t>Specify</a:t>
              </a:r>
            </a:p>
            <a:p>
              <a:pPr algn="ctr"/>
              <a:r>
                <a:rPr lang="en-US" sz="1100" b="1" dirty="0" smtClean="0">
                  <a:solidFill>
                    <a:schemeClr val="tx2"/>
                  </a:solidFill>
                </a:rPr>
                <a:t>needs</a:t>
              </a:r>
            </a:p>
          </p:txBody>
        </p:sp>
        <p:sp>
          <p:nvSpPr>
            <p:cNvPr id="113" name="Femhörning 112"/>
            <p:cNvSpPr/>
            <p:nvPr/>
          </p:nvSpPr>
          <p:spPr>
            <a:xfrm>
              <a:off x="2079702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100" b="1" smtClean="0">
                  <a:solidFill>
                    <a:schemeClr val="tx2"/>
                  </a:solidFill>
                </a:rPr>
                <a:t>Design</a:t>
              </a:r>
            </a:p>
            <a:p>
              <a:pPr algn="ctr"/>
              <a:r>
                <a:rPr lang="en-US" sz="1100" b="1" smtClean="0">
                  <a:solidFill>
                    <a:schemeClr val="tx2"/>
                  </a:solidFill>
                </a:rPr>
                <a:t>and plan</a:t>
              </a:r>
            </a:p>
          </p:txBody>
        </p:sp>
        <p:sp>
          <p:nvSpPr>
            <p:cNvPr id="114" name="Femhörning 113"/>
            <p:cNvSpPr/>
            <p:nvPr/>
          </p:nvSpPr>
          <p:spPr>
            <a:xfrm>
              <a:off x="3110326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100" b="1" dirty="0" smtClean="0">
                  <a:solidFill>
                    <a:schemeClr val="tx2"/>
                  </a:solidFill>
                </a:rPr>
                <a:t>Build</a:t>
              </a:r>
            </a:p>
            <a:p>
              <a:pPr algn="ctr"/>
              <a:r>
                <a:rPr lang="en-US" sz="1100" b="1" dirty="0" smtClean="0">
                  <a:solidFill>
                    <a:schemeClr val="tx2"/>
                  </a:solidFill>
                </a:rPr>
                <a:t>and test</a:t>
              </a:r>
            </a:p>
          </p:txBody>
        </p:sp>
        <p:sp>
          <p:nvSpPr>
            <p:cNvPr id="115" name="Femhörning 114"/>
            <p:cNvSpPr/>
            <p:nvPr/>
          </p:nvSpPr>
          <p:spPr>
            <a:xfrm>
              <a:off x="4140950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100" b="1" smtClean="0">
                  <a:solidFill>
                    <a:schemeClr val="tx2"/>
                  </a:solidFill>
                </a:rPr>
                <a:t>Collect</a:t>
              </a:r>
            </a:p>
          </p:txBody>
        </p:sp>
        <p:sp>
          <p:nvSpPr>
            <p:cNvPr id="116" name="Femhörning 115"/>
            <p:cNvSpPr/>
            <p:nvPr/>
          </p:nvSpPr>
          <p:spPr>
            <a:xfrm>
              <a:off x="5171574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100" b="1" smtClean="0">
                  <a:solidFill>
                    <a:schemeClr val="tx2"/>
                  </a:solidFill>
                </a:rPr>
                <a:t>Process</a:t>
              </a:r>
            </a:p>
          </p:txBody>
        </p:sp>
        <p:sp>
          <p:nvSpPr>
            <p:cNvPr id="117" name="Femhörning 116"/>
            <p:cNvSpPr/>
            <p:nvPr/>
          </p:nvSpPr>
          <p:spPr>
            <a:xfrm>
              <a:off x="6202198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100" b="1" smtClean="0">
                  <a:solidFill>
                    <a:schemeClr val="tx2"/>
                  </a:solidFill>
                </a:rPr>
                <a:t>Analyse</a:t>
              </a:r>
            </a:p>
          </p:txBody>
        </p:sp>
        <p:sp>
          <p:nvSpPr>
            <p:cNvPr id="118" name="Femhörning 117"/>
            <p:cNvSpPr/>
            <p:nvPr/>
          </p:nvSpPr>
          <p:spPr>
            <a:xfrm>
              <a:off x="7232824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36000" rtlCol="0" anchor="t" anchorCtr="1"/>
            <a:lstStyle/>
            <a:p>
              <a:pPr algn="ctr"/>
              <a:r>
                <a:rPr lang="en-US" sz="1000" b="1" dirty="0" smtClean="0">
                  <a:solidFill>
                    <a:schemeClr val="tx2"/>
                  </a:solidFill>
                </a:rPr>
                <a:t>Disseminate and</a:t>
              </a:r>
            </a:p>
            <a:p>
              <a:pPr algn="ctr"/>
              <a:r>
                <a:rPr lang="en-US" sz="1000" b="1" dirty="0" smtClean="0">
                  <a:solidFill>
                    <a:schemeClr val="tx2"/>
                  </a:solidFill>
                </a:rPr>
                <a:t>communicate</a:t>
              </a:r>
            </a:p>
          </p:txBody>
        </p:sp>
      </p:grpSp>
      <p:sp>
        <p:nvSpPr>
          <p:cNvPr id="129" name="AutoShape 44"/>
          <p:cNvSpPr>
            <a:spLocks noChangeArrowheads="1"/>
          </p:cNvSpPr>
          <p:nvPr/>
        </p:nvSpPr>
        <p:spPr bwMode="auto">
          <a:xfrm>
            <a:off x="539552" y="4546019"/>
            <a:ext cx="805885" cy="302432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18900000" scaled="1"/>
          </a:gradFill>
          <a:ln w="0">
            <a:solidFill>
              <a:srgbClr val="8080FF"/>
            </a:solidFill>
            <a:round/>
            <a:headEnd/>
            <a:tailEnd/>
          </a:ln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30" name="AutoShape 46"/>
          <p:cNvSpPr>
            <a:spLocks noChangeArrowheads="1"/>
          </p:cNvSpPr>
          <p:nvPr/>
        </p:nvSpPr>
        <p:spPr bwMode="auto">
          <a:xfrm>
            <a:off x="539552" y="5189937"/>
            <a:ext cx="805885" cy="302431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18900000" scaled="1"/>
          </a:gradFill>
          <a:ln w="0">
            <a:solidFill>
              <a:srgbClr val="8080FF"/>
            </a:solidFill>
            <a:round/>
            <a:headEnd/>
            <a:tailEnd/>
          </a:ln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31" name="Rectangle 47"/>
          <p:cNvSpPr>
            <a:spLocks noChangeArrowheads="1"/>
          </p:cNvSpPr>
          <p:nvPr/>
        </p:nvSpPr>
        <p:spPr bwMode="auto">
          <a:xfrm>
            <a:off x="611560" y="5198343"/>
            <a:ext cx="71493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 dirty="0" smtClean="0">
                <a:solidFill>
                  <a:srgbClr val="000000"/>
                </a:solidFill>
                <a:latin typeface="+mn-lt"/>
              </a:rPr>
              <a:t>Administrative</a:t>
            </a:r>
          </a:p>
          <a:p>
            <a:r>
              <a:rPr lang="en-US" sz="900" b="1" dirty="0" smtClean="0">
                <a:solidFill>
                  <a:srgbClr val="000000"/>
                </a:solidFill>
                <a:latin typeface="+mn-lt"/>
              </a:rPr>
              <a:t> data</a:t>
            </a:r>
            <a:endParaRPr lang="en-US" sz="900" b="1" dirty="0">
              <a:latin typeface="+mn-lt"/>
            </a:endParaRPr>
          </a:p>
        </p:txBody>
      </p:sp>
      <p:sp>
        <p:nvSpPr>
          <p:cNvPr id="132" name="Line 67"/>
          <p:cNvSpPr>
            <a:spLocks noChangeShapeType="1"/>
          </p:cNvSpPr>
          <p:nvPr/>
        </p:nvSpPr>
        <p:spPr bwMode="auto">
          <a:xfrm>
            <a:off x="3851920" y="4941168"/>
            <a:ext cx="342577" cy="0"/>
          </a:xfrm>
          <a:prstGeom prst="line">
            <a:avLst/>
          </a:prstGeom>
          <a:noFill/>
          <a:ln w="9525">
            <a:solidFill>
              <a:srgbClr val="3366FF"/>
            </a:solidFill>
            <a:prstDash val="dash"/>
            <a:round/>
            <a:headEnd type="none" w="lg" len="lg"/>
            <a:tailEnd type="arrow" w="lg" len="lg"/>
          </a:ln>
          <a:effectLst/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33" name="Line 68"/>
          <p:cNvSpPr>
            <a:spLocks noChangeShapeType="1"/>
          </p:cNvSpPr>
          <p:nvPr/>
        </p:nvSpPr>
        <p:spPr bwMode="auto">
          <a:xfrm>
            <a:off x="5004048" y="4941168"/>
            <a:ext cx="411997" cy="0"/>
          </a:xfrm>
          <a:prstGeom prst="line">
            <a:avLst/>
          </a:prstGeom>
          <a:noFill/>
          <a:ln w="9525">
            <a:solidFill>
              <a:srgbClr val="3366FF"/>
            </a:solidFill>
            <a:prstDash val="dash"/>
            <a:round/>
            <a:headEnd type="none" w="lg" len="lg"/>
            <a:tailEnd type="arrow" w="lg" len="lg"/>
          </a:ln>
          <a:effectLst/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34" name="Line 69"/>
          <p:cNvSpPr>
            <a:spLocks noChangeShapeType="1"/>
          </p:cNvSpPr>
          <p:nvPr/>
        </p:nvSpPr>
        <p:spPr bwMode="auto">
          <a:xfrm>
            <a:off x="6228184" y="4941168"/>
            <a:ext cx="342577" cy="0"/>
          </a:xfrm>
          <a:prstGeom prst="line">
            <a:avLst/>
          </a:prstGeom>
          <a:noFill/>
          <a:ln w="9525">
            <a:solidFill>
              <a:srgbClr val="3366FF"/>
            </a:solidFill>
            <a:prstDash val="dash"/>
            <a:round/>
            <a:headEnd type="none" w="lg" len="lg"/>
            <a:tailEnd type="arrow" w="lg" len="lg"/>
          </a:ln>
          <a:effectLst/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39" name="Line 63"/>
          <p:cNvSpPr>
            <a:spLocks noChangeShapeType="1"/>
          </p:cNvSpPr>
          <p:nvPr/>
        </p:nvSpPr>
        <p:spPr bwMode="auto">
          <a:xfrm>
            <a:off x="1323975" y="4677899"/>
            <a:ext cx="439713" cy="119253"/>
          </a:xfrm>
          <a:prstGeom prst="line">
            <a:avLst/>
          </a:prstGeom>
          <a:noFill/>
          <a:ln w="9525">
            <a:solidFill>
              <a:srgbClr val="3366FF"/>
            </a:solidFill>
            <a:prstDash val="dash"/>
            <a:round/>
            <a:headEnd type="none" w="lg" len="lg"/>
            <a:tailEnd type="arrow" w="lg" len="lg"/>
          </a:ln>
          <a:effectLst/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41" name="Line 131"/>
          <p:cNvSpPr>
            <a:spLocks noChangeShapeType="1"/>
          </p:cNvSpPr>
          <p:nvPr/>
        </p:nvSpPr>
        <p:spPr bwMode="auto">
          <a:xfrm>
            <a:off x="2627784" y="4941169"/>
            <a:ext cx="432048" cy="0"/>
          </a:xfrm>
          <a:prstGeom prst="line">
            <a:avLst/>
          </a:prstGeom>
          <a:noFill/>
          <a:ln w="9525">
            <a:solidFill>
              <a:srgbClr val="3366FF"/>
            </a:solidFill>
            <a:prstDash val="dash"/>
            <a:round/>
            <a:headEnd type="none" w="lg" len="lg"/>
            <a:tailEnd type="arrow" w="lg" len="lg"/>
          </a:ln>
          <a:effectLst/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42" name="Line 5460"/>
          <p:cNvSpPr>
            <a:spLocks noChangeShapeType="1"/>
          </p:cNvSpPr>
          <p:nvPr/>
        </p:nvSpPr>
        <p:spPr bwMode="auto">
          <a:xfrm flipV="1">
            <a:off x="7448431" y="4579172"/>
            <a:ext cx="413505" cy="258797"/>
          </a:xfrm>
          <a:prstGeom prst="line">
            <a:avLst/>
          </a:prstGeom>
          <a:noFill/>
          <a:ln w="9525">
            <a:solidFill>
              <a:srgbClr val="3366FF"/>
            </a:solidFill>
            <a:prstDash val="dash"/>
            <a:round/>
            <a:headEnd type="none" w="lg" len="lg"/>
            <a:tailEnd type="arrow" w="lg" len="lg"/>
          </a:ln>
          <a:effectLst/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43" name="AutoShape 5429"/>
          <p:cNvSpPr>
            <a:spLocks noChangeArrowheads="1"/>
          </p:cNvSpPr>
          <p:nvPr/>
        </p:nvSpPr>
        <p:spPr bwMode="auto">
          <a:xfrm>
            <a:off x="7861936" y="4413043"/>
            <a:ext cx="760610" cy="302431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18900000" scaled="1"/>
          </a:gradFill>
          <a:ln w="0" algn="ctr">
            <a:solidFill>
              <a:srgbClr val="8080FF"/>
            </a:solidFill>
            <a:round/>
            <a:headEnd/>
            <a:tailEnd/>
          </a:ln>
          <a:effectLst/>
        </p:spPr>
        <p:txBody>
          <a:bodyPr anchor="ctr" anchorCtr="0"/>
          <a:lstStyle/>
          <a:p>
            <a:pPr algn="ctr"/>
            <a:r>
              <a:rPr lang="en-US" sz="900" b="1" dirty="0" smtClean="0">
                <a:latin typeface="+mn-lt"/>
              </a:rPr>
              <a:t>Publishing</a:t>
            </a:r>
            <a:endParaRPr lang="en-US" sz="900" b="1" dirty="0">
              <a:latin typeface="+mn-lt"/>
            </a:endParaRPr>
          </a:p>
        </p:txBody>
      </p:sp>
      <p:sp>
        <p:nvSpPr>
          <p:cNvPr id="144" name="AutoShape 5429"/>
          <p:cNvSpPr>
            <a:spLocks noChangeArrowheads="1"/>
          </p:cNvSpPr>
          <p:nvPr/>
        </p:nvSpPr>
        <p:spPr bwMode="auto">
          <a:xfrm>
            <a:off x="7708004" y="4941169"/>
            <a:ext cx="914542" cy="302431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chemeClr val="bg1"/>
              </a:gs>
              <a:gs pos="100000">
                <a:srgbClr val="CCFFCC"/>
              </a:gs>
            </a:gsLst>
            <a:lin ang="18900000" scaled="1"/>
          </a:gradFill>
          <a:ln w="0" algn="ctr">
            <a:solidFill>
              <a:srgbClr val="8080FF"/>
            </a:solidFill>
            <a:round/>
            <a:headEnd/>
            <a:tailEnd/>
          </a:ln>
          <a:effectLst/>
        </p:spPr>
        <p:txBody>
          <a:bodyPr anchor="ctr" anchorCtr="0"/>
          <a:lstStyle/>
          <a:p>
            <a:pPr algn="ctr"/>
            <a:r>
              <a:rPr lang="en-US" sz="900" b="1" dirty="0" smtClean="0">
                <a:latin typeface="+mn-lt"/>
              </a:rPr>
              <a:t>Dissemination</a:t>
            </a:r>
            <a:endParaRPr lang="en-US" sz="900" b="1" dirty="0">
              <a:latin typeface="+mn-lt"/>
            </a:endParaRPr>
          </a:p>
        </p:txBody>
      </p:sp>
      <p:sp>
        <p:nvSpPr>
          <p:cNvPr id="145" name="Line 5460"/>
          <p:cNvSpPr>
            <a:spLocks noChangeShapeType="1"/>
          </p:cNvSpPr>
          <p:nvPr/>
        </p:nvSpPr>
        <p:spPr bwMode="auto">
          <a:xfrm>
            <a:off x="7454467" y="4922228"/>
            <a:ext cx="265009" cy="170156"/>
          </a:xfrm>
          <a:prstGeom prst="line">
            <a:avLst/>
          </a:prstGeom>
          <a:noFill/>
          <a:ln w="9525">
            <a:solidFill>
              <a:srgbClr val="3366FF"/>
            </a:solidFill>
            <a:prstDash val="dash"/>
            <a:round/>
            <a:headEnd type="none" w="lg" len="lg"/>
            <a:tailEnd type="arrow" w="lg" len="lg"/>
          </a:ln>
          <a:effectLst/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47" name="Rektangel med rundade hörn 146"/>
          <p:cNvSpPr/>
          <p:nvPr/>
        </p:nvSpPr>
        <p:spPr bwMode="auto">
          <a:xfrm>
            <a:off x="1767544" y="4653136"/>
            <a:ext cx="814945" cy="608400"/>
          </a:xfrm>
          <a:prstGeom prst="roundRect">
            <a:avLst/>
          </a:prstGeom>
          <a:gradFill rotWithShape="1">
            <a:gsLst>
              <a:gs pos="0">
                <a:srgbClr val="FFCC00"/>
              </a:gs>
              <a:gs pos="50000">
                <a:schemeClr val="bg1"/>
              </a:gs>
              <a:gs pos="100000">
                <a:srgbClr val="FFCC00"/>
              </a:gs>
            </a:gsLst>
            <a:lin ang="0" scaled="1"/>
          </a:gradFill>
          <a:ln w="9525">
            <a:solidFill>
              <a:srgbClr val="808000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anchor="ctr"/>
          <a:lstStyle/>
          <a:p>
            <a:r>
              <a:rPr lang="en-US" sz="1000" b="1" dirty="0" smtClean="0">
                <a:latin typeface="+mn-lt"/>
              </a:rPr>
              <a:t>Input </a:t>
            </a:r>
            <a:r>
              <a:rPr lang="en-US" sz="1000" b="1" dirty="0" smtClean="0"/>
              <a:t>data</a:t>
            </a:r>
            <a:endParaRPr lang="en-US" sz="1000" b="1" dirty="0" smtClean="0">
              <a:latin typeface="+mn-lt"/>
            </a:endParaRPr>
          </a:p>
        </p:txBody>
      </p:sp>
      <p:sp>
        <p:nvSpPr>
          <p:cNvPr id="153" name="Rektangel med rundade hörn 152"/>
          <p:cNvSpPr/>
          <p:nvPr/>
        </p:nvSpPr>
        <p:spPr bwMode="auto">
          <a:xfrm>
            <a:off x="3779912" y="5589240"/>
            <a:ext cx="814945" cy="609381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  <a:tileRect/>
          </a:gradFill>
          <a:ln w="9525">
            <a:solidFill>
              <a:srgbClr val="808000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anchor="ctr"/>
          <a:lstStyle/>
          <a:p>
            <a:pPr marL="0" marR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sz="1000" b="1" smtClean="0">
                <a:latin typeface="+mn-lt"/>
              </a:rPr>
              <a:t>Base</a:t>
            </a:r>
          </a:p>
          <a:p>
            <a:pPr marL="0" marR="0" indent="0" defTabSz="914400" latinLnBrk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sz="1000" b="1" smtClean="0">
                <a:latin typeface="+mn-lt"/>
              </a:rPr>
              <a:t>register</a:t>
            </a:r>
          </a:p>
        </p:txBody>
      </p:sp>
      <p:sp>
        <p:nvSpPr>
          <p:cNvPr id="155" name="Rectangle 45"/>
          <p:cNvSpPr>
            <a:spLocks noChangeArrowheads="1"/>
          </p:cNvSpPr>
          <p:nvPr/>
        </p:nvSpPr>
        <p:spPr bwMode="auto">
          <a:xfrm>
            <a:off x="683568" y="4551412"/>
            <a:ext cx="53219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900" b="1" dirty="0" smtClean="0">
                <a:solidFill>
                  <a:srgbClr val="000000"/>
                </a:solidFill>
                <a:latin typeface="+mn-lt"/>
              </a:rPr>
              <a:t>Direct data</a:t>
            </a:r>
          </a:p>
          <a:p>
            <a:r>
              <a:rPr lang="en-US" sz="900" b="1" dirty="0" smtClean="0">
                <a:solidFill>
                  <a:srgbClr val="000000"/>
                </a:solidFill>
                <a:latin typeface="+mn-lt"/>
              </a:rPr>
              <a:t>collection</a:t>
            </a:r>
            <a:endParaRPr lang="en-US" sz="900" b="1" dirty="0">
              <a:latin typeface="+mn-lt"/>
            </a:endParaRPr>
          </a:p>
        </p:txBody>
      </p:sp>
      <p:sp>
        <p:nvSpPr>
          <p:cNvPr id="156" name="Line 63"/>
          <p:cNvSpPr>
            <a:spLocks noChangeShapeType="1"/>
          </p:cNvSpPr>
          <p:nvPr/>
        </p:nvSpPr>
        <p:spPr bwMode="auto">
          <a:xfrm flipV="1">
            <a:off x="1352551" y="5013176"/>
            <a:ext cx="411138" cy="293373"/>
          </a:xfrm>
          <a:prstGeom prst="line">
            <a:avLst/>
          </a:prstGeom>
          <a:noFill/>
          <a:ln w="9525">
            <a:solidFill>
              <a:srgbClr val="3366FF"/>
            </a:solidFill>
            <a:prstDash val="dash"/>
            <a:round/>
            <a:headEnd type="none" w="lg" len="lg"/>
            <a:tailEnd type="arrow" w="lg" len="lg"/>
          </a:ln>
          <a:effectLst/>
        </p:spPr>
        <p:txBody>
          <a:bodyPr/>
          <a:lstStyle/>
          <a:p>
            <a:endParaRPr lang="en-US" sz="900">
              <a:latin typeface="+mn-lt"/>
            </a:endParaRPr>
          </a:p>
        </p:txBody>
      </p:sp>
      <p:sp>
        <p:nvSpPr>
          <p:cNvPr id="160" name="Rektangel med rundade hörn 159"/>
          <p:cNvSpPr/>
          <p:nvPr/>
        </p:nvSpPr>
        <p:spPr bwMode="auto">
          <a:xfrm>
            <a:off x="1727684" y="3789040"/>
            <a:ext cx="5796644" cy="432047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  <a:tileRect/>
          </a:gradFill>
          <a:ln w="9525">
            <a:solidFill>
              <a:srgbClr val="808000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anchor="ctr"/>
          <a:lstStyle/>
          <a:p>
            <a:pPr marL="0" marR="0" indent="0" algn="ctr" defTabSz="914400" latinLnBrk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sz="1100" b="1" dirty="0" smtClean="0">
                <a:latin typeface="+mn-lt"/>
              </a:rPr>
              <a:t>Metadata</a:t>
            </a:r>
          </a:p>
        </p:txBody>
      </p:sp>
      <p:sp>
        <p:nvSpPr>
          <p:cNvPr id="161" name="AutoShape 73"/>
          <p:cNvSpPr>
            <a:spLocks noChangeArrowheads="1"/>
          </p:cNvSpPr>
          <p:nvPr/>
        </p:nvSpPr>
        <p:spPr bwMode="auto">
          <a:xfrm>
            <a:off x="1403648" y="3068960"/>
            <a:ext cx="6315828" cy="382610"/>
          </a:xfrm>
          <a:prstGeom prst="roundRect">
            <a:avLst>
              <a:gd name="adj" fmla="val 2060"/>
            </a:avLst>
          </a:prstGeom>
          <a:gradFill rotWithShape="1">
            <a:gsLst>
              <a:gs pos="0">
                <a:srgbClr val="FF7C80"/>
              </a:gs>
              <a:gs pos="50000">
                <a:srgbClr val="EAEAEA"/>
              </a:gs>
              <a:gs pos="100000">
                <a:srgbClr val="FF7C80"/>
              </a:gs>
            </a:gsLst>
            <a:lin ang="18900000" scaled="1"/>
          </a:gradFill>
          <a:ln w="9525">
            <a:solidFill>
              <a:schemeClr val="bg2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anchor="ctr"/>
          <a:lstStyle/>
          <a:p>
            <a:pPr algn="ctr"/>
            <a:r>
              <a:rPr lang="en-US" sz="1100" b="1" dirty="0" smtClean="0">
                <a:latin typeface="+mn-lt"/>
              </a:rPr>
              <a:t>Platform / service layer</a:t>
            </a:r>
            <a:endParaRPr lang="en-US" sz="1100" b="1" dirty="0">
              <a:latin typeface="+mn-lt"/>
            </a:endParaRPr>
          </a:p>
        </p:txBody>
      </p:sp>
      <p:sp>
        <p:nvSpPr>
          <p:cNvPr id="174" name="Rektangel med rundade hörn 173"/>
          <p:cNvSpPr/>
          <p:nvPr/>
        </p:nvSpPr>
        <p:spPr bwMode="auto">
          <a:xfrm>
            <a:off x="6228184" y="5733256"/>
            <a:ext cx="990870" cy="262238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  <a:tileRect/>
          </a:gradFill>
          <a:ln w="9525">
            <a:solidFill>
              <a:srgbClr val="808000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anchor="ctr"/>
          <a:lstStyle/>
          <a:p>
            <a:r>
              <a:rPr lang="en-US" sz="1000" b="1" dirty="0"/>
              <a:t>Process </a:t>
            </a:r>
            <a:r>
              <a:rPr lang="en-US" sz="1000" b="1" dirty="0" smtClean="0"/>
              <a:t>Data</a:t>
            </a:r>
            <a:endParaRPr lang="en-US" sz="1000" b="1" dirty="0"/>
          </a:p>
        </p:txBody>
      </p:sp>
      <p:grpSp>
        <p:nvGrpSpPr>
          <p:cNvPr id="4" name="Grupp 186"/>
          <p:cNvGrpSpPr/>
          <p:nvPr/>
        </p:nvGrpSpPr>
        <p:grpSpPr>
          <a:xfrm>
            <a:off x="7214776" y="2208861"/>
            <a:ext cx="1461680" cy="3679964"/>
            <a:chOff x="7435078" y="1809614"/>
            <a:chExt cx="1206168" cy="2196244"/>
          </a:xfrm>
        </p:grpSpPr>
        <p:cxnSp>
          <p:nvCxnSpPr>
            <p:cNvPr id="188" name="Rak 187"/>
            <p:cNvCxnSpPr/>
            <p:nvPr/>
          </p:nvCxnSpPr>
          <p:spPr>
            <a:xfrm>
              <a:off x="7435078" y="3992167"/>
              <a:ext cx="1205374" cy="12897"/>
            </a:xfrm>
            <a:prstGeom prst="line">
              <a:avLst/>
            </a:prstGeom>
            <a:noFill/>
            <a:ln w="12700">
              <a:solidFill>
                <a:schemeClr val="bg2">
                  <a:lumMod val="50000"/>
                </a:schemeClr>
              </a:solidFill>
              <a:round/>
              <a:headEnd/>
              <a:tailEnd type="none" w="med" len="med"/>
            </a:ln>
            <a:effectLst/>
          </p:spPr>
        </p:cxnSp>
        <p:cxnSp>
          <p:nvCxnSpPr>
            <p:cNvPr id="189" name="Rak 188"/>
            <p:cNvCxnSpPr/>
            <p:nvPr/>
          </p:nvCxnSpPr>
          <p:spPr>
            <a:xfrm rot="5400000" flipH="1" flipV="1">
              <a:off x="7542330" y="2906942"/>
              <a:ext cx="2196244" cy="1588"/>
            </a:xfrm>
            <a:prstGeom prst="line">
              <a:avLst/>
            </a:prstGeom>
            <a:noFill/>
            <a:ln w="12700">
              <a:solidFill>
                <a:schemeClr val="bg2">
                  <a:lumMod val="50000"/>
                </a:schemeClr>
              </a:solidFill>
              <a:round/>
              <a:headEnd/>
              <a:tailEnd type="none" w="med" len="med"/>
            </a:ln>
            <a:effectLst/>
          </p:spPr>
        </p:cxnSp>
        <p:cxnSp>
          <p:nvCxnSpPr>
            <p:cNvPr id="190" name="Rak pil 189"/>
            <p:cNvCxnSpPr/>
            <p:nvPr/>
          </p:nvCxnSpPr>
          <p:spPr>
            <a:xfrm flipH="1" flipV="1">
              <a:off x="8106462" y="1809614"/>
              <a:ext cx="533991" cy="795"/>
            </a:xfrm>
            <a:prstGeom prst="straightConnector1">
              <a:avLst/>
            </a:prstGeom>
            <a:noFill/>
            <a:ln w="12700">
              <a:solidFill>
                <a:schemeClr val="bg2">
                  <a:lumMod val="50000"/>
                </a:schemeClr>
              </a:solidFill>
              <a:round/>
              <a:headEnd/>
              <a:tailEnd type="triangle" w="med" len="med"/>
            </a:ln>
            <a:effectLst/>
          </p:spPr>
        </p:cxnSp>
      </p:grpSp>
      <p:sp>
        <p:nvSpPr>
          <p:cNvPr id="89" name="Ned 88"/>
          <p:cNvSpPr/>
          <p:nvPr/>
        </p:nvSpPr>
        <p:spPr>
          <a:xfrm>
            <a:off x="3131840" y="2780928"/>
            <a:ext cx="360040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0" name="Ned 89"/>
          <p:cNvSpPr/>
          <p:nvPr/>
        </p:nvSpPr>
        <p:spPr>
          <a:xfrm>
            <a:off x="3419872" y="3501008"/>
            <a:ext cx="360040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1" name="Ned 90"/>
          <p:cNvSpPr/>
          <p:nvPr/>
        </p:nvSpPr>
        <p:spPr>
          <a:xfrm>
            <a:off x="3631704" y="4293096"/>
            <a:ext cx="360040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2" name="Ned 91"/>
          <p:cNvSpPr/>
          <p:nvPr/>
        </p:nvSpPr>
        <p:spPr>
          <a:xfrm>
            <a:off x="3779912" y="5301208"/>
            <a:ext cx="360040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3" name="Ned 92"/>
          <p:cNvSpPr/>
          <p:nvPr/>
        </p:nvSpPr>
        <p:spPr>
          <a:xfrm flipV="1">
            <a:off x="4211960" y="5301208"/>
            <a:ext cx="360040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6" name="Ned 95"/>
          <p:cNvSpPr/>
          <p:nvPr/>
        </p:nvSpPr>
        <p:spPr>
          <a:xfrm flipV="1">
            <a:off x="4788024" y="4293096"/>
            <a:ext cx="360040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7" name="Ned 96"/>
          <p:cNvSpPr/>
          <p:nvPr/>
        </p:nvSpPr>
        <p:spPr>
          <a:xfrm flipV="1">
            <a:off x="5004048" y="3501008"/>
            <a:ext cx="360040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8" name="Ned 97"/>
          <p:cNvSpPr/>
          <p:nvPr/>
        </p:nvSpPr>
        <p:spPr>
          <a:xfrm flipV="1">
            <a:off x="5292080" y="2780928"/>
            <a:ext cx="360040" cy="2160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5" name="Rektangel med rundade hörn 54"/>
          <p:cNvSpPr/>
          <p:nvPr/>
        </p:nvSpPr>
        <p:spPr bwMode="auto">
          <a:xfrm>
            <a:off x="5432240" y="4612296"/>
            <a:ext cx="1954678" cy="609381"/>
          </a:xfrm>
          <a:prstGeom prst="roundRect">
            <a:avLst/>
          </a:prstGeom>
          <a:gradFill rotWithShape="1">
            <a:gsLst>
              <a:gs pos="0">
                <a:schemeClr val="accent5"/>
              </a:gs>
              <a:gs pos="50000">
                <a:schemeClr val="bg1"/>
              </a:gs>
              <a:gs pos="100000">
                <a:schemeClr val="accent5"/>
              </a:gs>
            </a:gsLst>
            <a:lin ang="0" scaled="1"/>
          </a:gradFill>
          <a:ln w="9525">
            <a:solidFill>
              <a:srgbClr val="808000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tIns="0" anchor="t"/>
          <a:lstStyle/>
          <a:p>
            <a:pPr marL="0" marR="0" indent="0" algn="ctr" defTabSz="914400" latinLnBrk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GB" sz="1000" b="1" dirty="0" smtClean="0">
                <a:latin typeface="+mn-lt"/>
              </a:rPr>
              <a:t>Macro Data</a:t>
            </a:r>
          </a:p>
        </p:txBody>
      </p:sp>
      <p:sp>
        <p:nvSpPr>
          <p:cNvPr id="56" name="Rektangel med rundade hörn 55"/>
          <p:cNvSpPr/>
          <p:nvPr/>
        </p:nvSpPr>
        <p:spPr bwMode="auto">
          <a:xfrm>
            <a:off x="3100039" y="4612296"/>
            <a:ext cx="1931391" cy="609381"/>
          </a:xfrm>
          <a:prstGeom prst="roundRect">
            <a:avLst/>
          </a:prstGeom>
          <a:gradFill rotWithShape="1">
            <a:gsLst>
              <a:gs pos="0">
                <a:srgbClr val="FFFF00"/>
              </a:gs>
              <a:gs pos="50000">
                <a:schemeClr val="bg1"/>
              </a:gs>
              <a:gs pos="100000">
                <a:srgbClr val="FFFF00"/>
              </a:gs>
            </a:gsLst>
            <a:lin ang="0" scaled="1"/>
          </a:gradFill>
          <a:ln w="9525">
            <a:solidFill>
              <a:srgbClr val="808000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lIns="0" tIns="0" rIns="0" anchor="t" anchorCtr="0"/>
          <a:lstStyle/>
          <a:p>
            <a:pPr marL="0" marR="0" indent="0" algn="ctr" defTabSz="914400" latinLnBrk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GB" sz="1000" b="1" dirty="0" smtClean="0">
                <a:latin typeface="+mn-lt"/>
              </a:rPr>
              <a:t>  Micro Data</a:t>
            </a:r>
          </a:p>
        </p:txBody>
      </p:sp>
      <p:sp>
        <p:nvSpPr>
          <p:cNvPr id="57" name="Rektangel med rundade hörn 56"/>
          <p:cNvSpPr/>
          <p:nvPr/>
        </p:nvSpPr>
        <p:spPr bwMode="auto">
          <a:xfrm>
            <a:off x="3211890" y="4869221"/>
            <a:ext cx="789167" cy="262238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1"/>
              </a:gs>
              <a:gs pos="100000">
                <a:schemeClr val="bg2">
                  <a:lumMod val="75000"/>
                </a:schemeClr>
              </a:gs>
            </a:gsLst>
            <a:lin ang="13500000" scaled="1"/>
            <a:tileRect/>
          </a:gradFill>
          <a:ln w="9525">
            <a:solidFill>
              <a:srgbClr val="808000"/>
            </a:solidFill>
            <a:prstDash val="dash"/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lIns="0" rIns="0" anchor="ctr"/>
          <a:lstStyle/>
          <a:p>
            <a:pPr algn="ctr"/>
            <a:r>
              <a:rPr lang="sv-SE" sz="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Observation data</a:t>
            </a:r>
          </a:p>
        </p:txBody>
      </p:sp>
      <p:sp>
        <p:nvSpPr>
          <p:cNvPr id="58" name="Rektangel med rundade hörn 57"/>
          <p:cNvSpPr/>
          <p:nvPr/>
        </p:nvSpPr>
        <p:spPr bwMode="auto">
          <a:xfrm>
            <a:off x="4144875" y="4865504"/>
            <a:ext cx="789167" cy="262238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1"/>
              </a:gs>
              <a:gs pos="100000">
                <a:schemeClr val="bg2">
                  <a:lumMod val="75000"/>
                </a:schemeClr>
              </a:gs>
            </a:gsLst>
            <a:lin ang="13500000" scaled="1"/>
            <a:tileRect/>
          </a:gradFill>
          <a:ln w="9525">
            <a:solidFill>
              <a:srgbClr val="808000"/>
            </a:solidFill>
            <a:prstDash val="dash"/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lIns="0" rIns="0" anchor="ctr"/>
          <a:lstStyle/>
          <a:p>
            <a:pPr marL="0" marR="0" indent="0" algn="ctr" defTabSz="914400" latinLnBrk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sv-SE" sz="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Target data</a:t>
            </a:r>
            <a:endParaRPr lang="sv-SE" sz="800" b="1" dirty="0" smtClean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  <p:sp>
        <p:nvSpPr>
          <p:cNvPr id="59" name="Rektangel med rundade hörn 58"/>
          <p:cNvSpPr/>
          <p:nvPr/>
        </p:nvSpPr>
        <p:spPr bwMode="auto">
          <a:xfrm>
            <a:off x="6444208" y="4860257"/>
            <a:ext cx="864825" cy="262238"/>
          </a:xfrm>
          <a:prstGeom prst="round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1"/>
              </a:gs>
              <a:gs pos="100000">
                <a:schemeClr val="bg2">
                  <a:lumMod val="75000"/>
                </a:schemeClr>
              </a:gs>
            </a:gsLst>
            <a:lin ang="13500000" scaled="1"/>
            <a:tileRect/>
          </a:gradFill>
          <a:ln w="9525">
            <a:solidFill>
              <a:srgbClr val="808000"/>
            </a:solidFill>
            <a:prstDash val="dash"/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lIns="0" rIns="0" anchor="ctr"/>
          <a:lstStyle/>
          <a:p>
            <a:pPr algn="ctr"/>
            <a:r>
              <a:rPr lang="sv-SE" sz="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 data</a:t>
            </a:r>
          </a:p>
        </p:txBody>
      </p:sp>
      <p:sp>
        <p:nvSpPr>
          <p:cNvPr id="60" name="Line 69"/>
          <p:cNvSpPr>
            <a:spLocks noChangeShapeType="1"/>
          </p:cNvSpPr>
          <p:nvPr/>
        </p:nvSpPr>
        <p:spPr bwMode="auto">
          <a:xfrm flipV="1">
            <a:off x="3973830" y="4982460"/>
            <a:ext cx="177168" cy="4830"/>
          </a:xfrm>
          <a:prstGeom prst="line">
            <a:avLst/>
          </a:prstGeom>
          <a:noFill/>
          <a:ln w="9525">
            <a:solidFill>
              <a:srgbClr val="3366FF"/>
            </a:solidFill>
            <a:prstDash val="dash"/>
            <a:round/>
            <a:headEnd type="none" w="lg" len="lg"/>
            <a:tailEnd type="arrow" w="sm" len="lg"/>
          </a:ln>
          <a:effectLst/>
        </p:spPr>
        <p:txBody>
          <a:bodyPr/>
          <a:lstStyle/>
          <a:p>
            <a:endParaRPr lang="sv-SE" sz="9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8866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smtClean="0"/>
              <a:t>Common </a:t>
            </a:r>
            <a:r>
              <a:rPr lang="sv-SE" dirty="0" err="1"/>
              <a:t>Production</a:t>
            </a:r>
            <a:r>
              <a:rPr lang="sv-SE" dirty="0"/>
              <a:t> </a:t>
            </a:r>
            <a:r>
              <a:rPr lang="sv-SE" dirty="0" smtClean="0"/>
              <a:t>Environment (GPM-</a:t>
            </a:r>
            <a:r>
              <a:rPr lang="sv-SE" dirty="0" err="1" smtClean="0"/>
              <a:t>project</a:t>
            </a:r>
            <a:r>
              <a:rPr lang="sv-SE" dirty="0" smtClean="0"/>
              <a:t>)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Active metadata – Design driven </a:t>
            </a:r>
            <a:r>
              <a:rPr lang="sv-SE" dirty="0" err="1" smtClean="0"/>
              <a:t>production</a:t>
            </a:r>
            <a:endParaRPr lang="en-GB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Existing:</a:t>
            </a:r>
          </a:p>
          <a:p>
            <a:r>
              <a:rPr lang="en-US" dirty="0" smtClean="0"/>
              <a:t>Production environment for data collection</a:t>
            </a:r>
          </a:p>
          <a:p>
            <a:r>
              <a:rPr lang="en-US" dirty="0"/>
              <a:t>Production environment </a:t>
            </a:r>
            <a:r>
              <a:rPr lang="en-US" dirty="0" smtClean="0"/>
              <a:t>for dissemination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Developing:</a:t>
            </a:r>
          </a:p>
          <a:p>
            <a:r>
              <a:rPr lang="en-US" dirty="0" smtClean="0"/>
              <a:t>Production environment for process and </a:t>
            </a:r>
            <a:r>
              <a:rPr lang="en-US" dirty="0" err="1" smtClean="0"/>
              <a:t>analyse</a:t>
            </a:r>
            <a:endParaRPr lang="en-US" dirty="0" smtClean="0"/>
          </a:p>
          <a:p>
            <a:endParaRPr lang="en-US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259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Ongoing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Incorporating in/with the </a:t>
            </a:r>
            <a:r>
              <a:rPr lang="sv-SE" dirty="0"/>
              <a:t>Common </a:t>
            </a:r>
            <a:r>
              <a:rPr lang="sv-SE" dirty="0" err="1"/>
              <a:t>Production</a:t>
            </a:r>
            <a:r>
              <a:rPr lang="sv-SE" dirty="0"/>
              <a:t> Environment</a:t>
            </a:r>
          </a:p>
          <a:p>
            <a:r>
              <a:rPr lang="sv-SE" dirty="0" err="1" smtClean="0"/>
              <a:t>Prototype</a:t>
            </a:r>
            <a:r>
              <a:rPr lang="sv-SE" dirty="0" smtClean="0"/>
              <a:t> – statistical program </a:t>
            </a:r>
            <a:r>
              <a:rPr lang="sv-SE" dirty="0" err="1" smtClean="0"/>
              <a:t>database</a:t>
            </a:r>
            <a:endParaRPr lang="sv-SE" dirty="0" smtClean="0"/>
          </a:p>
          <a:p>
            <a:r>
              <a:rPr lang="sv-SE" dirty="0" smtClean="0"/>
              <a:t>National </a:t>
            </a:r>
            <a:r>
              <a:rPr lang="sv-SE" dirty="0" err="1" smtClean="0"/>
              <a:t>accounts</a:t>
            </a:r>
            <a:endParaRPr lang="sv-SE" dirty="0"/>
          </a:p>
          <a:p>
            <a:r>
              <a:rPr lang="sv-SE" dirty="0" smtClean="0"/>
              <a:t>Short term statistics (5 </a:t>
            </a:r>
            <a:r>
              <a:rPr lang="sv-SE" dirty="0" err="1" smtClean="0"/>
              <a:t>products</a:t>
            </a:r>
            <a:r>
              <a:rPr lang="sv-SE" dirty="0" smtClean="0"/>
              <a:t>) - KLON</a:t>
            </a:r>
          </a:p>
          <a:p>
            <a:endParaRPr lang="sv-SE" dirty="0" smtClean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8044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Active metadata – </a:t>
            </a:r>
            <a:r>
              <a:rPr lang="sv-SE" dirty="0" err="1" smtClean="0"/>
              <a:t>how</a:t>
            </a:r>
            <a:r>
              <a:rPr lang="sv-SE" dirty="0" smtClean="0"/>
              <a:t>?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 dirty="0" smtClean="0"/>
          </a:p>
          <a:p>
            <a:r>
              <a:rPr lang="sv-SE" dirty="0" smtClean="0"/>
              <a:t>GSBPM</a:t>
            </a:r>
          </a:p>
          <a:p>
            <a:endParaRPr lang="sv-SE" dirty="0" smtClean="0"/>
          </a:p>
          <a:p>
            <a:r>
              <a:rPr lang="sv-SE" dirty="0" smtClean="0"/>
              <a:t>GSIM</a:t>
            </a:r>
          </a:p>
          <a:p>
            <a:endParaRPr lang="sv-SE" dirty="0" smtClean="0"/>
          </a:p>
        </p:txBody>
      </p:sp>
      <p:pic>
        <p:nvPicPr>
          <p:cNvPr id="4" name="Picture 2" descr="http://www1.unece.org/stat/platform/download/thumbnails/58492100/gsim.png?version=1&amp;modificationDate=1407249911210&amp;api=v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01223"/>
            <a:ext cx="2609818" cy="1792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/>
          <p:cNvPicPr/>
          <p:nvPr/>
        </p:nvPicPr>
        <p:blipFill>
          <a:blip r:embed="rId4"/>
          <a:stretch>
            <a:fillRect/>
          </a:stretch>
        </p:blipFill>
        <p:spPr>
          <a:xfrm>
            <a:off x="1531393" y="4369699"/>
            <a:ext cx="2104503" cy="1507573"/>
          </a:xfrm>
          <a:prstGeom prst="rect">
            <a:avLst/>
          </a:prstGeom>
        </p:spPr>
      </p:pic>
      <p:pic>
        <p:nvPicPr>
          <p:cNvPr id="1026" name="Picture 2" descr="http://www1.unece.org/stat/platform/download/thumbnails/58492100/pandp.jpg?version=1&amp;modificationDate=1407249694140&amp;api=v2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649913" y="-411163"/>
            <a:ext cx="952500" cy="86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82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 smtClean="0"/>
              <a:t>Statistical program DB</a:t>
            </a:r>
            <a:endParaRPr lang="sv-SE" dirty="0"/>
          </a:p>
        </p:txBody>
      </p:sp>
      <p:sp>
        <p:nvSpPr>
          <p:cNvPr id="7" name="Rektangel med rundade hörn 6"/>
          <p:cNvSpPr/>
          <p:nvPr/>
        </p:nvSpPr>
        <p:spPr>
          <a:xfrm>
            <a:off x="3818874" y="4529402"/>
            <a:ext cx="1368152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100" dirty="0" smtClean="0"/>
              <a:t>Statistical program </a:t>
            </a:r>
            <a:r>
              <a:rPr lang="sv-SE" sz="1100" dirty="0" err="1" smtClean="0"/>
              <a:t>cycle</a:t>
            </a:r>
            <a:endParaRPr lang="sv-SE" sz="1100" dirty="0"/>
          </a:p>
        </p:txBody>
      </p:sp>
      <p:sp>
        <p:nvSpPr>
          <p:cNvPr id="8" name="Rektangel med rundade hörn 7"/>
          <p:cNvSpPr/>
          <p:nvPr/>
        </p:nvSpPr>
        <p:spPr>
          <a:xfrm>
            <a:off x="1370357" y="5941209"/>
            <a:ext cx="1085546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100" dirty="0" smtClean="0"/>
              <a:t>Statistical Support Program</a:t>
            </a:r>
            <a:endParaRPr lang="sv-SE" sz="1100" dirty="0"/>
          </a:p>
        </p:txBody>
      </p:sp>
      <p:sp>
        <p:nvSpPr>
          <p:cNvPr id="9" name="Rektangel med rundade hörn 8"/>
          <p:cNvSpPr/>
          <p:nvPr/>
        </p:nvSpPr>
        <p:spPr>
          <a:xfrm>
            <a:off x="2633210" y="5949280"/>
            <a:ext cx="1041648" cy="64232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100" dirty="0" smtClean="0"/>
              <a:t>Business Process (</a:t>
            </a:r>
            <a:r>
              <a:rPr lang="sv-SE" sz="1100" dirty="0" err="1" smtClean="0"/>
              <a:t>Collect</a:t>
            </a:r>
            <a:r>
              <a:rPr lang="sv-SE" sz="1100" dirty="0" smtClean="0"/>
              <a:t>)</a:t>
            </a:r>
            <a:endParaRPr lang="sv-SE" sz="1100" dirty="0"/>
          </a:p>
        </p:txBody>
      </p:sp>
      <p:sp>
        <p:nvSpPr>
          <p:cNvPr id="10" name="Rektangel med rundade hörn 9"/>
          <p:cNvSpPr/>
          <p:nvPr/>
        </p:nvSpPr>
        <p:spPr>
          <a:xfrm>
            <a:off x="3893349" y="5943532"/>
            <a:ext cx="1293677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100" dirty="0" smtClean="0"/>
              <a:t>Business Process</a:t>
            </a:r>
          </a:p>
          <a:p>
            <a:pPr algn="ctr"/>
            <a:r>
              <a:rPr lang="sv-SE" sz="1100" dirty="0" smtClean="0"/>
              <a:t>(Process/</a:t>
            </a:r>
            <a:r>
              <a:rPr lang="sv-SE" sz="1100" dirty="0" err="1" smtClean="0"/>
              <a:t>Analyse</a:t>
            </a:r>
            <a:r>
              <a:rPr lang="sv-SE" sz="1100" dirty="0" smtClean="0"/>
              <a:t>)</a:t>
            </a:r>
            <a:endParaRPr lang="sv-SE" sz="1100" dirty="0"/>
          </a:p>
        </p:txBody>
      </p:sp>
      <p:sp>
        <p:nvSpPr>
          <p:cNvPr id="11" name="Rektangel med rundade hörn 10"/>
          <p:cNvSpPr/>
          <p:nvPr/>
        </p:nvSpPr>
        <p:spPr>
          <a:xfrm>
            <a:off x="5286840" y="5943532"/>
            <a:ext cx="1141276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100" dirty="0" smtClean="0"/>
              <a:t>Business Process</a:t>
            </a:r>
          </a:p>
          <a:p>
            <a:pPr algn="ctr"/>
            <a:r>
              <a:rPr lang="sv-SE" sz="1100" dirty="0" smtClean="0"/>
              <a:t>(Dissemination)</a:t>
            </a:r>
            <a:endParaRPr lang="sv-SE" sz="1100" dirty="0"/>
          </a:p>
        </p:txBody>
      </p:sp>
      <p:sp>
        <p:nvSpPr>
          <p:cNvPr id="12" name="Rektangel med rundade hörn 11"/>
          <p:cNvSpPr/>
          <p:nvPr/>
        </p:nvSpPr>
        <p:spPr>
          <a:xfrm>
            <a:off x="6521642" y="5949280"/>
            <a:ext cx="1152128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100" dirty="0" smtClean="0"/>
              <a:t>Business Process (</a:t>
            </a:r>
            <a:r>
              <a:rPr lang="sv-SE" sz="1100" dirty="0" err="1" smtClean="0"/>
              <a:t>Evaluate</a:t>
            </a:r>
            <a:r>
              <a:rPr lang="sv-SE" sz="1100" dirty="0" smtClean="0"/>
              <a:t>)</a:t>
            </a:r>
            <a:endParaRPr lang="sv-SE" sz="1100" dirty="0"/>
          </a:p>
        </p:txBody>
      </p:sp>
      <p:cxnSp>
        <p:nvCxnSpPr>
          <p:cNvPr id="14" name="Rak 13"/>
          <p:cNvCxnSpPr>
            <a:stCxn id="4" idx="2"/>
            <a:endCxn id="7" idx="0"/>
          </p:cNvCxnSpPr>
          <p:nvPr/>
        </p:nvCxnSpPr>
        <p:spPr>
          <a:xfrm>
            <a:off x="4502950" y="4108463"/>
            <a:ext cx="0" cy="420939"/>
          </a:xfrm>
          <a:prstGeom prst="line">
            <a:avLst/>
          </a:prstGeom>
          <a:ln w="254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16" name="Rak 15"/>
          <p:cNvCxnSpPr>
            <a:stCxn id="7" idx="2"/>
            <a:endCxn id="8" idx="0"/>
          </p:cNvCxnSpPr>
          <p:nvPr/>
        </p:nvCxnSpPr>
        <p:spPr>
          <a:xfrm flipH="1">
            <a:off x="1913130" y="5177474"/>
            <a:ext cx="2589820" cy="763735"/>
          </a:xfrm>
          <a:prstGeom prst="line">
            <a:avLst/>
          </a:prstGeom>
          <a:ln w="254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19" name="Rak 18"/>
          <p:cNvCxnSpPr>
            <a:stCxn id="7" idx="2"/>
            <a:endCxn id="9" idx="0"/>
          </p:cNvCxnSpPr>
          <p:nvPr/>
        </p:nvCxnSpPr>
        <p:spPr>
          <a:xfrm flipH="1">
            <a:off x="3154034" y="5177474"/>
            <a:ext cx="1348916" cy="771806"/>
          </a:xfrm>
          <a:prstGeom prst="line">
            <a:avLst/>
          </a:prstGeom>
          <a:ln w="254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22" name="Rak 21"/>
          <p:cNvCxnSpPr>
            <a:stCxn id="7" idx="2"/>
            <a:endCxn id="10" idx="0"/>
          </p:cNvCxnSpPr>
          <p:nvPr/>
        </p:nvCxnSpPr>
        <p:spPr>
          <a:xfrm>
            <a:off x="4502950" y="5177474"/>
            <a:ext cx="37238" cy="766058"/>
          </a:xfrm>
          <a:prstGeom prst="line">
            <a:avLst/>
          </a:prstGeom>
          <a:ln w="254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25" name="Rak 24"/>
          <p:cNvCxnSpPr>
            <a:stCxn id="7" idx="2"/>
            <a:endCxn id="11" idx="0"/>
          </p:cNvCxnSpPr>
          <p:nvPr/>
        </p:nvCxnSpPr>
        <p:spPr>
          <a:xfrm>
            <a:off x="4502950" y="5177474"/>
            <a:ext cx="1354528" cy="766058"/>
          </a:xfrm>
          <a:prstGeom prst="line">
            <a:avLst/>
          </a:prstGeom>
          <a:ln w="254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28" name="Rak 27"/>
          <p:cNvCxnSpPr>
            <a:stCxn id="7" idx="2"/>
          </p:cNvCxnSpPr>
          <p:nvPr/>
        </p:nvCxnSpPr>
        <p:spPr>
          <a:xfrm>
            <a:off x="4502950" y="5177474"/>
            <a:ext cx="2594756" cy="763735"/>
          </a:xfrm>
          <a:prstGeom prst="line">
            <a:avLst/>
          </a:prstGeom>
          <a:ln w="25400"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sp>
        <p:nvSpPr>
          <p:cNvPr id="18" name="Magnetskiva 17"/>
          <p:cNvSpPr/>
          <p:nvPr/>
        </p:nvSpPr>
        <p:spPr>
          <a:xfrm>
            <a:off x="2492554" y="3208363"/>
            <a:ext cx="1440160" cy="1321039"/>
          </a:xfrm>
          <a:prstGeom prst="flowChartMagneticDisk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 smtClean="0"/>
              <a:t>Statistical program</a:t>
            </a:r>
            <a:endParaRPr lang="sv-SE" dirty="0"/>
          </a:p>
        </p:txBody>
      </p:sp>
      <p:pic>
        <p:nvPicPr>
          <p:cNvPr id="26" name="Picture 2" descr="\\FS12\SCBMATB$\Mina dokument\Mina bilder\stod-och-infrastruktur_eng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624187"/>
            <a:ext cx="7431087" cy="1542301"/>
          </a:xfrm>
          <a:prstGeom prst="rect">
            <a:avLst/>
          </a:prstGeom>
          <a:noFill/>
        </p:spPr>
      </p:pic>
      <p:sp>
        <p:nvSpPr>
          <p:cNvPr id="4" name="Rektangel med rundade hörn 3"/>
          <p:cNvSpPr/>
          <p:nvPr/>
        </p:nvSpPr>
        <p:spPr>
          <a:xfrm>
            <a:off x="3818874" y="3460391"/>
            <a:ext cx="1368152" cy="64807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sz="1100" dirty="0" smtClean="0"/>
              <a:t>Statistical program</a:t>
            </a:r>
            <a:endParaRPr lang="sv-SE" sz="1100" dirty="0"/>
          </a:p>
        </p:txBody>
      </p:sp>
    </p:spTree>
    <p:extLst>
      <p:ext uri="{BB962C8B-B14F-4D97-AF65-F5344CB8AC3E}">
        <p14:creationId xmlns:p14="http://schemas.microsoft.com/office/powerpoint/2010/main" val="265406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GSIM </a:t>
            </a:r>
            <a:r>
              <a:rPr lang="en-US" dirty="0" smtClean="0"/>
              <a:t>complements GSBPM</a:t>
            </a:r>
            <a:endParaRPr lang="en-GB" dirty="0"/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wrap="square"/>
          <a:lstStyle/>
          <a:p>
            <a:pPr marL="0" indent="0" algn="ctr">
              <a:buNone/>
            </a:pP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</a:rPr>
              <a:t>Describes </a:t>
            </a:r>
            <a:r>
              <a:rPr lang="en-US" sz="2800" dirty="0" smtClean="0">
                <a:solidFill>
                  <a:schemeClr val="tx2">
                    <a:lumMod val="75000"/>
                  </a:schemeClr>
                </a:solidFill>
              </a:rPr>
              <a:t>information objects and flows within the statistical business process</a:t>
            </a:r>
          </a:p>
          <a:p>
            <a:endParaRPr lang="en-US" dirty="0" smtClean="0">
              <a:solidFill>
                <a:srgbClr val="002060"/>
              </a:solidFill>
            </a:endParaRPr>
          </a:p>
        </p:txBody>
      </p:sp>
      <p:pic>
        <p:nvPicPr>
          <p:cNvPr id="4" name="Picture 3" descr="GSIM and GSBPM"/>
          <p:cNvPicPr/>
          <p:nvPr/>
        </p:nvPicPr>
        <p:blipFill>
          <a:blip r:embed="rId3"/>
          <a:srcRect t="40625"/>
          <a:stretch>
            <a:fillRect/>
          </a:stretch>
        </p:blipFill>
        <p:spPr bwMode="auto">
          <a:xfrm>
            <a:off x="539552" y="3438395"/>
            <a:ext cx="8136904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88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 smtClean="0"/>
              <a:t>GSIM in </a:t>
            </a:r>
            <a:r>
              <a:rPr lang="sv-SE" dirty="0" err="1" smtClean="0"/>
              <a:t>Statistics</a:t>
            </a:r>
            <a:r>
              <a:rPr lang="sv-SE" dirty="0" smtClean="0"/>
              <a:t> Sweden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sv-SE" dirty="0" smtClean="0"/>
          </a:p>
          <a:p>
            <a:pPr marL="57150" indent="0">
              <a:buNone/>
            </a:pPr>
            <a:r>
              <a:rPr lang="sv-SE" dirty="0" smtClean="0"/>
              <a:t>SCB GSIM</a:t>
            </a:r>
          </a:p>
          <a:p>
            <a:pPr marL="57150" indent="0">
              <a:buNone/>
            </a:pPr>
            <a:r>
              <a:rPr lang="sv-SE" dirty="0"/>
              <a:t>	</a:t>
            </a:r>
            <a:endParaRPr lang="sv-SE" dirty="0" smtClean="0"/>
          </a:p>
          <a:p>
            <a:pPr marL="457200" lvl="1" indent="0">
              <a:buNone/>
            </a:pPr>
            <a:endParaRPr lang="sv-SE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125814"/>
            <a:ext cx="4011249" cy="31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1152" y="3206204"/>
            <a:ext cx="3913336" cy="306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108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Content</a:t>
            </a:r>
            <a:r>
              <a:rPr lang="sv-SE" dirty="0" smtClean="0"/>
              <a:t> </a:t>
            </a:r>
            <a:r>
              <a:rPr lang="sv-SE" dirty="0" err="1" smtClean="0"/>
              <a:t>harmonization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of the goals of the new production environment is to enable content </a:t>
            </a:r>
            <a:r>
              <a:rPr lang="en-US" dirty="0" smtClean="0"/>
              <a:t>harmonization </a:t>
            </a:r>
          </a:p>
          <a:p>
            <a:endParaRPr lang="en-US" dirty="0" smtClean="0"/>
          </a:p>
          <a:p>
            <a:r>
              <a:rPr lang="en-US" dirty="0" smtClean="0"/>
              <a:t>Metadata </a:t>
            </a:r>
            <a:r>
              <a:rPr lang="en-US" dirty="0"/>
              <a:t>to provide reusability in order to increase efficiency and </a:t>
            </a:r>
            <a:r>
              <a:rPr lang="en-US" dirty="0" smtClean="0"/>
              <a:t>quality</a:t>
            </a:r>
          </a:p>
          <a:p>
            <a:pPr lvl="1"/>
            <a:r>
              <a:rPr lang="en-US" dirty="0" smtClean="0"/>
              <a:t>Enable fusion of sources</a:t>
            </a:r>
          </a:p>
          <a:p>
            <a:pPr lvl="1"/>
            <a:r>
              <a:rPr lang="en-US" dirty="0" smtClean="0"/>
              <a:t>Reduce respondent burden</a:t>
            </a:r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06209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Number</a:t>
            </a:r>
            <a:r>
              <a:rPr lang="sv-SE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</a:t>
            </a:r>
            <a:r>
              <a:rPr lang="sv-SE" dirty="0" err="1" smtClean="0"/>
              <a:t>emplyees</a:t>
            </a:r>
            <a:endParaRPr lang="sv-SE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36166272"/>
              </p:ext>
            </p:extLst>
          </p:nvPr>
        </p:nvGraphicFramePr>
        <p:xfrm>
          <a:off x="1403648" y="1628800"/>
          <a:ext cx="6840760" cy="4608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0227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Industrial </a:t>
            </a:r>
            <a:r>
              <a:rPr lang="sv-SE" dirty="0" smtClean="0"/>
              <a:t>Company A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sv-SE" dirty="0" err="1"/>
              <a:t>Number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employees</a:t>
            </a:r>
            <a:r>
              <a:rPr lang="sv-SE" dirty="0"/>
              <a:t>: </a:t>
            </a:r>
            <a:r>
              <a:rPr lang="sv-SE" dirty="0" smtClean="0"/>
              <a:t>159</a:t>
            </a:r>
          </a:p>
          <a:p>
            <a:pPr marL="0" indent="0">
              <a:buNone/>
            </a:pPr>
            <a:r>
              <a:rPr lang="sv-SE" dirty="0" smtClean="0"/>
              <a:t> </a:t>
            </a:r>
          </a:p>
          <a:p>
            <a:pPr marL="0" indent="0">
              <a:buNone/>
            </a:pPr>
            <a:endParaRPr lang="sv-SE" sz="1300" dirty="0" smtClean="0"/>
          </a:p>
          <a:p>
            <a:r>
              <a:rPr lang="sv-SE" sz="2500" dirty="0" err="1"/>
              <a:t>Monthly</a:t>
            </a:r>
            <a:r>
              <a:rPr lang="sv-SE" sz="2500" dirty="0"/>
              <a:t> </a:t>
            </a:r>
            <a:r>
              <a:rPr lang="sv-SE" sz="2500" dirty="0" err="1" smtClean="0"/>
              <a:t>surveys</a:t>
            </a:r>
            <a:endParaRPr lang="sv-SE" sz="2500" dirty="0"/>
          </a:p>
          <a:p>
            <a:pPr lvl="1"/>
            <a:r>
              <a:rPr lang="sv-SE" sz="2500" dirty="0" smtClean="0"/>
              <a:t>Kortperiodisk sysselsättningsstatistik - Marie</a:t>
            </a:r>
          </a:p>
          <a:p>
            <a:pPr lvl="1"/>
            <a:r>
              <a:rPr lang="sv-SE" sz="2500" dirty="0" smtClean="0"/>
              <a:t>Intrastat - Marianne</a:t>
            </a:r>
          </a:p>
          <a:p>
            <a:pPr lvl="1"/>
            <a:r>
              <a:rPr lang="sv-SE" sz="2500" dirty="0" err="1" smtClean="0"/>
              <a:t>KonjInd</a:t>
            </a:r>
            <a:r>
              <a:rPr lang="sv-SE" sz="2500" dirty="0" smtClean="0"/>
              <a:t> – Stefan och Ylva</a:t>
            </a:r>
          </a:p>
          <a:p>
            <a:pPr lvl="1"/>
            <a:r>
              <a:rPr lang="sv-SE" sz="2500" dirty="0" err="1" smtClean="0"/>
              <a:t>Ksju</a:t>
            </a:r>
            <a:r>
              <a:rPr lang="sv-SE" sz="2500" dirty="0" smtClean="0"/>
              <a:t> - Marie</a:t>
            </a:r>
          </a:p>
          <a:p>
            <a:pPr lvl="1"/>
            <a:r>
              <a:rPr lang="sv-SE" sz="2500" dirty="0" smtClean="0"/>
              <a:t>Konjunkturstatistik över vakanser - Jonas</a:t>
            </a:r>
          </a:p>
          <a:p>
            <a:pPr lvl="1"/>
            <a:r>
              <a:rPr lang="sv-SE" sz="2500" dirty="0" smtClean="0"/>
              <a:t>KLP - Marie</a:t>
            </a:r>
          </a:p>
          <a:p>
            <a:pPr lvl="1"/>
            <a:r>
              <a:rPr lang="sv-SE" sz="2500" dirty="0" smtClean="0"/>
              <a:t>PPI</a:t>
            </a:r>
          </a:p>
          <a:p>
            <a:pPr lvl="1"/>
            <a:endParaRPr lang="sv-SE" sz="1300" dirty="0" smtClean="0"/>
          </a:p>
          <a:p>
            <a:r>
              <a:rPr lang="sv-SE" sz="2500" dirty="0" err="1" smtClean="0"/>
              <a:t>Quarterly</a:t>
            </a:r>
            <a:r>
              <a:rPr lang="sv-SE" sz="2500" dirty="0" smtClean="0"/>
              <a:t>  </a:t>
            </a:r>
            <a:r>
              <a:rPr lang="sv-SE" sz="2500" dirty="0" err="1" smtClean="0"/>
              <a:t>surveys</a:t>
            </a:r>
            <a:endParaRPr lang="sv-SE" sz="2500" dirty="0" smtClean="0"/>
          </a:p>
          <a:p>
            <a:pPr lvl="1"/>
            <a:r>
              <a:rPr lang="sv-SE" sz="2500" dirty="0" smtClean="0"/>
              <a:t>Kvartalsvis bränslestatistik - Claes</a:t>
            </a:r>
          </a:p>
          <a:p>
            <a:pPr lvl="1"/>
            <a:r>
              <a:rPr lang="sv-SE" sz="2500" dirty="0" smtClean="0"/>
              <a:t>Investeringsenkäten - Stefan</a:t>
            </a:r>
          </a:p>
          <a:p>
            <a:pPr lvl="1"/>
            <a:r>
              <a:rPr lang="sv-SE" sz="2500" dirty="0" smtClean="0"/>
              <a:t>Industrins lager - Stefan</a:t>
            </a:r>
          </a:p>
          <a:p>
            <a:pPr lvl="1"/>
            <a:r>
              <a:rPr lang="sv-SE" sz="2500" dirty="0" smtClean="0"/>
              <a:t>UHT - Stefan</a:t>
            </a:r>
          </a:p>
          <a:p>
            <a:pPr marL="457200" lvl="1" indent="0">
              <a:buNone/>
            </a:pPr>
            <a:endParaRPr lang="sv-SE" sz="1300" dirty="0" smtClean="0"/>
          </a:p>
          <a:p>
            <a:r>
              <a:rPr lang="sv-SE" sz="2500" dirty="0" err="1" smtClean="0"/>
              <a:t>Yearly</a:t>
            </a:r>
            <a:r>
              <a:rPr lang="sv-SE" sz="2500" dirty="0" smtClean="0"/>
              <a:t> </a:t>
            </a:r>
            <a:r>
              <a:rPr lang="sv-SE" sz="2500" dirty="0" err="1" smtClean="0"/>
              <a:t>surveys</a:t>
            </a:r>
            <a:endParaRPr lang="sv-SE" sz="2500" dirty="0" smtClean="0"/>
          </a:p>
          <a:p>
            <a:pPr lvl="1"/>
            <a:r>
              <a:rPr lang="sv-SE" sz="2500" dirty="0" smtClean="0"/>
              <a:t>SLP</a:t>
            </a:r>
          </a:p>
          <a:p>
            <a:pPr lvl="1"/>
            <a:r>
              <a:rPr lang="sv-SE" sz="2500" dirty="0" smtClean="0"/>
              <a:t>BONUS</a:t>
            </a:r>
            <a:r>
              <a:rPr lang="sv-SE" sz="2500" dirty="0"/>
              <a:t> </a:t>
            </a:r>
            <a:r>
              <a:rPr lang="sv-SE" sz="2500" dirty="0" smtClean="0"/>
              <a:t>- Jonas</a:t>
            </a:r>
          </a:p>
          <a:p>
            <a:pPr lvl="1"/>
            <a:r>
              <a:rPr lang="sv-SE" sz="2500" dirty="0" smtClean="0"/>
              <a:t>FEK - Ylva</a:t>
            </a:r>
          </a:p>
          <a:p>
            <a:pPr lvl="1"/>
            <a:r>
              <a:rPr lang="sv-SE" sz="2500" dirty="0" smtClean="0"/>
              <a:t>Företagens utgifter för IT - Ylva</a:t>
            </a:r>
          </a:p>
          <a:p>
            <a:pPr lvl="1"/>
            <a:r>
              <a:rPr lang="sv-SE" sz="2500" dirty="0" smtClean="0"/>
              <a:t>ISEN - Ylva</a:t>
            </a:r>
          </a:p>
          <a:p>
            <a:pPr lvl="1"/>
            <a:r>
              <a:rPr lang="sv-SE" sz="2500" dirty="0" smtClean="0"/>
              <a:t>IVP - Stefan</a:t>
            </a:r>
          </a:p>
          <a:p>
            <a:pPr lvl="1"/>
            <a:r>
              <a:rPr lang="sv-SE" sz="2500" dirty="0" smtClean="0"/>
              <a:t>Utlandsägda företag - Stefan</a:t>
            </a:r>
          </a:p>
        </p:txBody>
      </p:sp>
    </p:spTree>
    <p:extLst>
      <p:ext uri="{BB962C8B-B14F-4D97-AF65-F5344CB8AC3E}">
        <p14:creationId xmlns:p14="http://schemas.microsoft.com/office/powerpoint/2010/main" val="106909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Common and specific metadata</a:t>
            </a:r>
            <a:endParaRPr lang="en-GB" dirty="0"/>
          </a:p>
        </p:txBody>
      </p:sp>
      <p:grpSp>
        <p:nvGrpSpPr>
          <p:cNvPr id="5" name="Grupp 92"/>
          <p:cNvGrpSpPr/>
          <p:nvPr/>
        </p:nvGrpSpPr>
        <p:grpSpPr>
          <a:xfrm>
            <a:off x="1187525" y="1289704"/>
            <a:ext cx="7351625" cy="848292"/>
            <a:chOff x="1049078" y="1733274"/>
            <a:chExt cx="7107382" cy="848292"/>
          </a:xfrm>
        </p:grpSpPr>
        <p:sp>
          <p:nvSpPr>
            <p:cNvPr id="6" name="Rektangel 5"/>
            <p:cNvSpPr/>
            <p:nvPr/>
          </p:nvSpPr>
          <p:spPr>
            <a:xfrm>
              <a:off x="1049078" y="1733274"/>
              <a:ext cx="7056784" cy="243307"/>
            </a:xfrm>
            <a:prstGeom prst="rect">
              <a:avLst/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b="1" dirty="0" smtClean="0">
                  <a:solidFill>
                    <a:schemeClr val="tx2"/>
                  </a:solidFill>
                </a:rPr>
                <a:t>Evaluate and feed back</a:t>
              </a:r>
              <a:endParaRPr lang="en-US" sz="1050" b="1" dirty="0">
                <a:solidFill>
                  <a:schemeClr val="tx2"/>
                </a:solidFill>
              </a:endParaRPr>
            </a:p>
          </p:txBody>
        </p:sp>
        <p:sp>
          <p:nvSpPr>
            <p:cNvPr id="7" name="Femhörning 6"/>
            <p:cNvSpPr/>
            <p:nvPr/>
          </p:nvSpPr>
          <p:spPr>
            <a:xfrm>
              <a:off x="1049078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050" b="1" dirty="0" smtClean="0">
                  <a:solidFill>
                    <a:schemeClr val="tx2"/>
                  </a:solidFill>
                </a:rPr>
                <a:t>Specify</a:t>
              </a:r>
            </a:p>
            <a:p>
              <a:pPr algn="ctr"/>
              <a:r>
                <a:rPr lang="en-US" sz="1050" b="1" dirty="0" smtClean="0">
                  <a:solidFill>
                    <a:schemeClr val="tx2"/>
                  </a:solidFill>
                </a:rPr>
                <a:t>needs</a:t>
              </a:r>
            </a:p>
          </p:txBody>
        </p:sp>
        <p:sp>
          <p:nvSpPr>
            <p:cNvPr id="8" name="Femhörning 7"/>
            <p:cNvSpPr/>
            <p:nvPr/>
          </p:nvSpPr>
          <p:spPr>
            <a:xfrm>
              <a:off x="2079702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050" b="1" smtClean="0">
                  <a:solidFill>
                    <a:schemeClr val="tx2"/>
                  </a:solidFill>
                </a:rPr>
                <a:t>Design</a:t>
              </a:r>
            </a:p>
            <a:p>
              <a:pPr algn="ctr"/>
              <a:r>
                <a:rPr lang="en-US" sz="1050" b="1" smtClean="0">
                  <a:solidFill>
                    <a:schemeClr val="tx2"/>
                  </a:solidFill>
                </a:rPr>
                <a:t>and plan</a:t>
              </a:r>
            </a:p>
          </p:txBody>
        </p:sp>
        <p:sp>
          <p:nvSpPr>
            <p:cNvPr id="9" name="Femhörning 8"/>
            <p:cNvSpPr/>
            <p:nvPr/>
          </p:nvSpPr>
          <p:spPr>
            <a:xfrm>
              <a:off x="3110326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050" b="1" dirty="0" smtClean="0">
                  <a:solidFill>
                    <a:schemeClr val="tx2"/>
                  </a:solidFill>
                </a:rPr>
                <a:t>Build</a:t>
              </a:r>
            </a:p>
            <a:p>
              <a:pPr algn="ctr"/>
              <a:r>
                <a:rPr lang="en-US" sz="1050" b="1" dirty="0" smtClean="0">
                  <a:solidFill>
                    <a:schemeClr val="tx2"/>
                  </a:solidFill>
                </a:rPr>
                <a:t>and test</a:t>
              </a:r>
            </a:p>
          </p:txBody>
        </p:sp>
        <p:sp>
          <p:nvSpPr>
            <p:cNvPr id="10" name="Femhörning 9"/>
            <p:cNvSpPr/>
            <p:nvPr/>
          </p:nvSpPr>
          <p:spPr>
            <a:xfrm>
              <a:off x="4140950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050" b="1" smtClean="0">
                  <a:solidFill>
                    <a:schemeClr val="tx2"/>
                  </a:solidFill>
                </a:rPr>
                <a:t>Collect</a:t>
              </a:r>
            </a:p>
          </p:txBody>
        </p:sp>
        <p:sp>
          <p:nvSpPr>
            <p:cNvPr id="11" name="Femhörning 10"/>
            <p:cNvSpPr/>
            <p:nvPr/>
          </p:nvSpPr>
          <p:spPr>
            <a:xfrm>
              <a:off x="5171574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050" b="1" smtClean="0">
                  <a:solidFill>
                    <a:schemeClr val="tx2"/>
                  </a:solidFill>
                </a:rPr>
                <a:t>Process</a:t>
              </a:r>
            </a:p>
          </p:txBody>
        </p:sp>
        <p:sp>
          <p:nvSpPr>
            <p:cNvPr id="12" name="Femhörning 11"/>
            <p:cNvSpPr/>
            <p:nvPr/>
          </p:nvSpPr>
          <p:spPr>
            <a:xfrm>
              <a:off x="6202198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1"/>
            <a:lstStyle/>
            <a:p>
              <a:pPr algn="ctr"/>
              <a:r>
                <a:rPr lang="en-US" sz="1050" b="1" smtClean="0">
                  <a:solidFill>
                    <a:schemeClr val="tx2"/>
                  </a:solidFill>
                </a:rPr>
                <a:t>Analyse</a:t>
              </a:r>
            </a:p>
          </p:txBody>
        </p:sp>
        <p:sp>
          <p:nvSpPr>
            <p:cNvPr id="13" name="Femhörning 12"/>
            <p:cNvSpPr/>
            <p:nvPr/>
          </p:nvSpPr>
          <p:spPr>
            <a:xfrm>
              <a:off x="7232824" y="2064330"/>
              <a:ext cx="923636" cy="517236"/>
            </a:xfrm>
            <a:prstGeom prst="homePlate">
              <a:avLst>
                <a:gd name="adj" fmla="val 17857"/>
              </a:avLst>
            </a:prstGeom>
            <a:gradFill flip="none" rotWithShape="1">
              <a:gsLst>
                <a:gs pos="0">
                  <a:srgbClr val="A0BEE6"/>
                </a:gs>
                <a:gs pos="39999">
                  <a:srgbClr val="D9ECFF"/>
                </a:gs>
                <a:gs pos="70000">
                  <a:srgbClr val="A0BEE6"/>
                </a:gs>
              </a:gsLst>
              <a:lin ang="8100000" scaled="1"/>
              <a:tileRect/>
            </a:gradFill>
            <a:ln w="12700" cap="rnd">
              <a:solidFill>
                <a:schemeClr val="tx2">
                  <a:lumMod val="40000"/>
                  <a:lumOff val="60000"/>
                  <a:alpha val="44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36000" rtlCol="0" anchor="t" anchorCtr="1"/>
            <a:lstStyle/>
            <a:p>
              <a:pPr algn="ctr"/>
              <a:r>
                <a:rPr lang="en-US" sz="900" b="1" dirty="0" smtClean="0">
                  <a:solidFill>
                    <a:schemeClr val="tx2"/>
                  </a:solidFill>
                </a:rPr>
                <a:t>Disseminate and</a:t>
              </a:r>
            </a:p>
            <a:p>
              <a:pPr algn="ctr"/>
              <a:r>
                <a:rPr lang="en-US" sz="900" b="1" dirty="0" smtClean="0">
                  <a:solidFill>
                    <a:schemeClr val="tx2"/>
                  </a:solidFill>
                </a:rPr>
                <a:t>communicate</a:t>
              </a:r>
            </a:p>
          </p:txBody>
        </p:sp>
      </p:grpSp>
      <p:sp>
        <p:nvSpPr>
          <p:cNvPr id="14" name="Rektangel 13"/>
          <p:cNvSpPr/>
          <p:nvPr/>
        </p:nvSpPr>
        <p:spPr>
          <a:xfrm>
            <a:off x="1187525" y="2232549"/>
            <a:ext cx="7299288" cy="34072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38000">
                <a:schemeClr val="accent5">
                  <a:lumMod val="20000"/>
                  <a:lumOff val="80000"/>
                  <a:alpha val="69000"/>
                </a:schemeClr>
              </a:gs>
              <a:gs pos="70000">
                <a:schemeClr val="accent5">
                  <a:lumMod val="40000"/>
                  <a:lumOff val="60000"/>
                  <a:alpha val="4000"/>
                </a:schemeClr>
              </a:gs>
            </a:gsLst>
            <a:lin ang="5400000" scaled="0"/>
            <a:tileRect/>
          </a:gradFill>
          <a:ln w="12700" cap="rnd">
            <a:solidFill>
              <a:schemeClr val="accent5">
                <a:lumMod val="40000"/>
                <a:lumOff val="60000"/>
                <a:alpha val="44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050" b="1" smtClean="0">
                <a:solidFill>
                  <a:schemeClr val="tx2"/>
                </a:solidFill>
              </a:rPr>
              <a:t>Support and infrastructure</a:t>
            </a:r>
            <a:endParaRPr lang="en-GB" sz="1050" b="1">
              <a:solidFill>
                <a:schemeClr val="tx2"/>
              </a:solidFill>
            </a:endParaRPr>
          </a:p>
        </p:txBody>
      </p:sp>
      <p:sp>
        <p:nvSpPr>
          <p:cNvPr id="18" name="Rektangel med rundade hörn 17"/>
          <p:cNvSpPr/>
          <p:nvPr/>
        </p:nvSpPr>
        <p:spPr bwMode="auto">
          <a:xfrm>
            <a:off x="1164401" y="2667000"/>
            <a:ext cx="7345535" cy="141922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9525">
            <a:solidFill>
              <a:srgbClr val="808000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tIns="0" anchor="t" anchorCtr="1"/>
          <a:lstStyle/>
          <a:p>
            <a:r>
              <a:rPr lang="en-GB" sz="1600" b="1" dirty="0" smtClean="0">
                <a:solidFill>
                  <a:prstClr val="black"/>
                </a:solidFill>
              </a:rPr>
              <a:t>Common to the entire statistics production process</a:t>
            </a:r>
          </a:p>
          <a:p>
            <a:pPr algn="ctr"/>
            <a:endParaRPr lang="en-GB" sz="1600" b="1" dirty="0">
              <a:solidFill>
                <a:prstClr val="black"/>
              </a:solidFill>
            </a:endParaRPr>
          </a:p>
        </p:txBody>
      </p:sp>
      <p:sp>
        <p:nvSpPr>
          <p:cNvPr id="19" name="Rektangel med rundade hörn 18"/>
          <p:cNvSpPr/>
          <p:nvPr/>
        </p:nvSpPr>
        <p:spPr bwMode="auto">
          <a:xfrm>
            <a:off x="1189602" y="5744352"/>
            <a:ext cx="7345536" cy="997015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5400000" scaled="1"/>
            <a:tileRect/>
          </a:gradFill>
          <a:ln w="9525">
            <a:solidFill>
              <a:srgbClr val="808000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tIns="0" anchor="b" anchorCtr="1"/>
          <a:lstStyle/>
          <a:p>
            <a:pPr algn="ctr"/>
            <a:r>
              <a:rPr lang="en-GB" sz="1600" b="1" dirty="0" smtClean="0">
                <a:solidFill>
                  <a:prstClr val="black"/>
                </a:solidFill>
              </a:rPr>
              <a:t>Data Store</a:t>
            </a:r>
            <a:endParaRPr lang="en-GB" sz="1600" b="1" dirty="0">
              <a:solidFill>
                <a:prstClr val="black"/>
              </a:solidFill>
            </a:endParaRPr>
          </a:p>
        </p:txBody>
      </p:sp>
      <p:sp>
        <p:nvSpPr>
          <p:cNvPr id="20" name="Rektangel med rundade hörn 19"/>
          <p:cNvSpPr/>
          <p:nvPr/>
        </p:nvSpPr>
        <p:spPr bwMode="auto">
          <a:xfrm>
            <a:off x="1177082" y="4165890"/>
            <a:ext cx="7394272" cy="144745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 w="9525">
            <a:solidFill>
              <a:srgbClr val="808000"/>
            </a:solidFill>
            <a:round/>
            <a:headEnd/>
            <a:tailEnd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none" tIns="0" anchor="t" anchorCtr="1"/>
          <a:lstStyle/>
          <a:p>
            <a:pPr algn="ctr"/>
            <a:r>
              <a:rPr lang="en-GB" sz="1600" b="1" dirty="0" smtClean="0">
                <a:solidFill>
                  <a:prstClr val="black"/>
                </a:solidFill>
              </a:rPr>
              <a:t>Individual product implementation</a:t>
            </a:r>
            <a:endParaRPr lang="en-GB" sz="1600" b="1" dirty="0">
              <a:solidFill>
                <a:prstClr val="black"/>
              </a:solidFill>
            </a:endParaRPr>
          </a:p>
        </p:txBody>
      </p:sp>
      <p:sp>
        <p:nvSpPr>
          <p:cNvPr id="21" name="textruta 20"/>
          <p:cNvSpPr txBox="1"/>
          <p:nvPr/>
        </p:nvSpPr>
        <p:spPr>
          <a:xfrm>
            <a:off x="1351149" y="3009007"/>
            <a:ext cx="16968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Process step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Service catalogue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Variable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Classification</a:t>
            </a:r>
            <a:endParaRPr lang="en-GB" sz="1600" dirty="0">
              <a:solidFill>
                <a:prstClr val="black"/>
              </a:solidFill>
            </a:endParaRPr>
          </a:p>
        </p:txBody>
      </p:sp>
      <p:sp>
        <p:nvSpPr>
          <p:cNvPr id="22" name="textruta 21"/>
          <p:cNvSpPr txBox="1"/>
          <p:nvPr/>
        </p:nvSpPr>
        <p:spPr>
          <a:xfrm>
            <a:off x="1351149" y="5704250"/>
            <a:ext cx="22135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Frame unit data 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Sample unit data  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Report unit data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Observation unit data</a:t>
            </a:r>
            <a:endParaRPr lang="en-GB" sz="1600" dirty="0">
              <a:solidFill>
                <a:prstClr val="black"/>
              </a:solidFill>
            </a:endParaRPr>
          </a:p>
        </p:txBody>
      </p:sp>
      <p:sp>
        <p:nvSpPr>
          <p:cNvPr id="23" name="textruta 22"/>
          <p:cNvSpPr txBox="1"/>
          <p:nvPr/>
        </p:nvSpPr>
        <p:spPr>
          <a:xfrm>
            <a:off x="1351148" y="4496103"/>
            <a:ext cx="26207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Process step within a round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Service within a round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Value domain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Instance variable</a:t>
            </a:r>
            <a:endParaRPr lang="en-GB" sz="1600" dirty="0">
              <a:solidFill>
                <a:prstClr val="black"/>
              </a:solidFill>
            </a:endParaRPr>
          </a:p>
        </p:txBody>
      </p:sp>
      <p:sp>
        <p:nvSpPr>
          <p:cNvPr id="24" name="textruta 23"/>
          <p:cNvSpPr txBox="1"/>
          <p:nvPr/>
        </p:nvSpPr>
        <p:spPr>
          <a:xfrm>
            <a:off x="3564674" y="5704250"/>
            <a:ext cx="2364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prstClr val="black"/>
                </a:solidFill>
              </a:rPr>
              <a:t>Statistical data collection </a:t>
            </a:r>
          </a:p>
          <a:p>
            <a:r>
              <a:rPr lang="en-GB" sz="1600" dirty="0" smtClean="0">
                <a:solidFill>
                  <a:prstClr val="black"/>
                </a:solidFill>
              </a:rPr>
              <a:t>Process data</a:t>
            </a:r>
            <a:endParaRPr lang="en-GB" sz="1600" dirty="0">
              <a:solidFill>
                <a:prstClr val="black"/>
              </a:solidFill>
            </a:endParaRPr>
          </a:p>
        </p:txBody>
      </p:sp>
      <p:sp>
        <p:nvSpPr>
          <p:cNvPr id="25" name="Rundad rektangulär 24"/>
          <p:cNvSpPr/>
          <p:nvPr/>
        </p:nvSpPr>
        <p:spPr>
          <a:xfrm>
            <a:off x="7501334" y="1984256"/>
            <a:ext cx="1410711" cy="1024751"/>
          </a:xfrm>
          <a:prstGeom prst="wedgeRoundRectCallout">
            <a:avLst>
              <a:gd name="adj1" fmla="val -87725"/>
              <a:gd name="adj2" fmla="val 25925"/>
              <a:gd name="adj3" fmla="val 16667"/>
            </a:avLst>
          </a:prstGeom>
          <a:solidFill>
            <a:srgbClr val="FFFC8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dirty="0" smtClean="0">
                <a:solidFill>
                  <a:prstClr val="black"/>
                </a:solidFill>
              </a:rPr>
              <a:t>Common metadata definitions</a:t>
            </a:r>
            <a:endParaRPr lang="en-GB" sz="2000" dirty="0">
              <a:solidFill>
                <a:prstClr val="black"/>
              </a:solidFill>
            </a:endParaRPr>
          </a:p>
        </p:txBody>
      </p:sp>
      <p:sp>
        <p:nvSpPr>
          <p:cNvPr id="26" name="Rundad rektangulär 25"/>
          <p:cNvSpPr/>
          <p:nvPr/>
        </p:nvSpPr>
        <p:spPr>
          <a:xfrm>
            <a:off x="6813627" y="3582899"/>
            <a:ext cx="2244648" cy="1451813"/>
          </a:xfrm>
          <a:prstGeom prst="wedgeRoundRectCallout">
            <a:avLst>
              <a:gd name="adj1" fmla="val -77020"/>
              <a:gd name="adj2" fmla="val 19202"/>
              <a:gd name="adj3" fmla="val 16667"/>
            </a:avLst>
          </a:prstGeom>
          <a:solidFill>
            <a:srgbClr val="FFFC8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dirty="0" smtClean="0">
                <a:solidFill>
                  <a:prstClr val="black"/>
                </a:solidFill>
              </a:rPr>
              <a:t>Definitions of occurrences specific to a production round</a:t>
            </a:r>
            <a:endParaRPr lang="en-GB" sz="2000" dirty="0">
              <a:solidFill>
                <a:prstClr val="black"/>
              </a:solidFill>
            </a:endParaRPr>
          </a:p>
        </p:txBody>
      </p:sp>
      <p:sp>
        <p:nvSpPr>
          <p:cNvPr id="27" name="Rundad rektangulär 26"/>
          <p:cNvSpPr/>
          <p:nvPr/>
        </p:nvSpPr>
        <p:spPr>
          <a:xfrm>
            <a:off x="7344567" y="5836893"/>
            <a:ext cx="1596949" cy="811931"/>
          </a:xfrm>
          <a:prstGeom prst="wedgeRoundRectCallout">
            <a:avLst>
              <a:gd name="adj1" fmla="val -100792"/>
              <a:gd name="adj2" fmla="val -3697"/>
              <a:gd name="adj3" fmla="val 16667"/>
            </a:avLst>
          </a:prstGeom>
          <a:solidFill>
            <a:srgbClr val="FFFC8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000" dirty="0" smtClean="0">
                <a:solidFill>
                  <a:prstClr val="black"/>
                </a:solidFill>
              </a:rPr>
              <a:t>Actual occurrences</a:t>
            </a:r>
            <a:endParaRPr lang="en-GB" sz="2000" dirty="0">
              <a:solidFill>
                <a:prstClr val="black"/>
              </a:solidFill>
            </a:endParaRPr>
          </a:p>
        </p:txBody>
      </p:sp>
      <p:sp>
        <p:nvSpPr>
          <p:cNvPr id="28" name="Ned 27"/>
          <p:cNvSpPr/>
          <p:nvPr/>
        </p:nvSpPr>
        <p:spPr>
          <a:xfrm flipH="1">
            <a:off x="7786014" y="3009007"/>
            <a:ext cx="260315" cy="7151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54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2" y="332656"/>
            <a:ext cx="8280920" cy="6477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530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 smtClean="0"/>
              <a:t>GSIM - </a:t>
            </a:r>
            <a:r>
              <a:rPr lang="sv-SE" dirty="0" err="1" smtClean="0"/>
              <a:t>variables</a:t>
            </a:r>
            <a:endParaRPr lang="sv-SE" dirty="0"/>
          </a:p>
        </p:txBody>
      </p:sp>
      <p:sp>
        <p:nvSpPr>
          <p:cNvPr id="4" name="Rektangel 3"/>
          <p:cNvSpPr/>
          <p:nvPr/>
        </p:nvSpPr>
        <p:spPr>
          <a:xfrm>
            <a:off x="4139952" y="141277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</a:t>
            </a:r>
            <a:r>
              <a:rPr lang="sv-SE" dirty="0">
                <a:solidFill>
                  <a:schemeClr val="tx1"/>
                </a:solidFill>
              </a:rPr>
              <a:t> systems</a:t>
            </a:r>
          </a:p>
        </p:txBody>
      </p:sp>
      <p:sp>
        <p:nvSpPr>
          <p:cNvPr id="5" name="Rektangel 4"/>
          <p:cNvSpPr/>
          <p:nvPr/>
        </p:nvSpPr>
        <p:spPr>
          <a:xfrm>
            <a:off x="4139952" y="234888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6" name="Rektangel 5"/>
          <p:cNvSpPr/>
          <p:nvPr/>
        </p:nvSpPr>
        <p:spPr>
          <a:xfrm>
            <a:off x="5076056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Represented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7" name="Rektangel 6"/>
          <p:cNvSpPr/>
          <p:nvPr/>
        </p:nvSpPr>
        <p:spPr>
          <a:xfrm>
            <a:off x="5076056" y="522920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Instance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/>
        </p:nvSpPr>
        <p:spPr>
          <a:xfrm>
            <a:off x="3203848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Unit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7020272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Value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domain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11" name="Rak 10"/>
          <p:cNvCxnSpPr>
            <a:stCxn id="6" idx="3"/>
            <a:endCxn id="10" idx="1"/>
          </p:cNvCxnSpPr>
          <p:nvPr/>
        </p:nvCxnSpPr>
        <p:spPr>
          <a:xfrm>
            <a:off x="6444208" y="4617132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11"/>
          <p:cNvCxnSpPr>
            <a:stCxn id="6" idx="0"/>
            <a:endCxn id="29" idx="2"/>
          </p:cNvCxnSpPr>
          <p:nvPr/>
        </p:nvCxnSpPr>
        <p:spPr>
          <a:xfrm flipV="1">
            <a:off x="5760132" y="4034681"/>
            <a:ext cx="0" cy="2584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>
            <a:endCxn id="6" idx="2"/>
          </p:cNvCxnSpPr>
          <p:nvPr/>
        </p:nvCxnSpPr>
        <p:spPr>
          <a:xfrm flipV="1">
            <a:off x="5760132" y="494116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>
            <a:stCxn id="5" idx="0"/>
            <a:endCxn id="4" idx="2"/>
          </p:cNvCxnSpPr>
          <p:nvPr/>
        </p:nvCxnSpPr>
        <p:spPr>
          <a:xfrm flipV="1">
            <a:off x="4824028" y="206084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>
            <a:stCxn id="8" idx="2"/>
            <a:endCxn id="6" idx="1"/>
          </p:cNvCxnSpPr>
          <p:nvPr/>
        </p:nvCxnSpPr>
        <p:spPr>
          <a:xfrm rot="16200000" flipH="1">
            <a:off x="4188669" y="3729744"/>
            <a:ext cx="586643" cy="1188132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k 16"/>
          <p:cNvCxnSpPr>
            <a:stCxn id="8" idx="0"/>
            <a:endCxn id="5" idx="2"/>
          </p:cNvCxnSpPr>
          <p:nvPr/>
        </p:nvCxnSpPr>
        <p:spPr>
          <a:xfrm rot="5400000" flipH="1" flipV="1">
            <a:off x="4163244" y="2721633"/>
            <a:ext cx="385465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åge 25"/>
          <p:cNvSpPr/>
          <p:nvPr/>
        </p:nvSpPr>
        <p:spPr>
          <a:xfrm rot="5400000">
            <a:off x="5309837" y="2108566"/>
            <a:ext cx="396534" cy="428346"/>
          </a:xfrm>
          <a:prstGeom prst="arc">
            <a:avLst>
              <a:gd name="adj1" fmla="val 5159243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ktangel 28"/>
          <p:cNvSpPr/>
          <p:nvPr/>
        </p:nvSpPr>
        <p:spPr>
          <a:xfrm>
            <a:off x="5076056" y="3386609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40" name="Rak 16"/>
          <p:cNvCxnSpPr>
            <a:stCxn id="29" idx="0"/>
            <a:endCxn id="5" idx="2"/>
          </p:cNvCxnSpPr>
          <p:nvPr/>
        </p:nvCxnSpPr>
        <p:spPr>
          <a:xfrm rot="16200000" flipV="1">
            <a:off x="5097252" y="2723729"/>
            <a:ext cx="389657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15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smtClean="0"/>
              <a:t>Swedish version </a:t>
            </a:r>
            <a:r>
              <a:rPr lang="sv-SE" dirty="0" err="1" smtClean="0"/>
              <a:t>of</a:t>
            </a:r>
            <a:r>
              <a:rPr lang="sv-SE" dirty="0" smtClean="0"/>
              <a:t> </a:t>
            </a:r>
            <a:r>
              <a:rPr lang="sv-SE" dirty="0"/>
              <a:t>GSIM - </a:t>
            </a:r>
            <a:r>
              <a:rPr lang="sv-SE" dirty="0" err="1"/>
              <a:t>variables</a:t>
            </a:r>
            <a:endParaRPr lang="sv-SE" dirty="0"/>
          </a:p>
        </p:txBody>
      </p:sp>
      <p:sp>
        <p:nvSpPr>
          <p:cNvPr id="4" name="Rektangel 3"/>
          <p:cNvSpPr/>
          <p:nvPr/>
        </p:nvSpPr>
        <p:spPr>
          <a:xfrm>
            <a:off x="4139952" y="141277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</a:t>
            </a:r>
            <a:r>
              <a:rPr lang="sv-SE" dirty="0">
                <a:solidFill>
                  <a:schemeClr val="tx1"/>
                </a:solidFill>
              </a:rPr>
              <a:t> systems</a:t>
            </a:r>
          </a:p>
        </p:txBody>
      </p:sp>
      <p:sp>
        <p:nvSpPr>
          <p:cNvPr id="5" name="Rektangel 4"/>
          <p:cNvSpPr/>
          <p:nvPr/>
        </p:nvSpPr>
        <p:spPr>
          <a:xfrm>
            <a:off x="4139952" y="234888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6" name="Rektangel 5"/>
          <p:cNvSpPr/>
          <p:nvPr/>
        </p:nvSpPr>
        <p:spPr>
          <a:xfrm>
            <a:off x="5076056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Represented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7" name="Rektangel 6"/>
          <p:cNvSpPr/>
          <p:nvPr/>
        </p:nvSpPr>
        <p:spPr>
          <a:xfrm>
            <a:off x="5076056" y="6165304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Instance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/>
        </p:nvSpPr>
        <p:spPr>
          <a:xfrm>
            <a:off x="3203848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Unit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" name="Rektangel 8"/>
          <p:cNvSpPr/>
          <p:nvPr/>
        </p:nvSpPr>
        <p:spPr>
          <a:xfrm>
            <a:off x="1259632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Relation </a:t>
            </a:r>
            <a:r>
              <a:rPr lang="sv-SE" dirty="0" err="1">
                <a:solidFill>
                  <a:schemeClr val="tx1"/>
                </a:solidFill>
              </a:rPr>
              <a:t>to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Unit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7020272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Value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domain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11" name="Rak 10"/>
          <p:cNvCxnSpPr>
            <a:stCxn id="6" idx="3"/>
            <a:endCxn id="10" idx="1"/>
          </p:cNvCxnSpPr>
          <p:nvPr/>
        </p:nvCxnSpPr>
        <p:spPr>
          <a:xfrm>
            <a:off x="6444208" y="4617132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11"/>
          <p:cNvCxnSpPr>
            <a:stCxn id="6" idx="0"/>
            <a:endCxn id="29" idx="2"/>
          </p:cNvCxnSpPr>
          <p:nvPr/>
        </p:nvCxnSpPr>
        <p:spPr>
          <a:xfrm flipV="1">
            <a:off x="5760132" y="4034681"/>
            <a:ext cx="0" cy="2584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>
            <a:stCxn id="32" idx="0"/>
            <a:endCxn id="6" idx="2"/>
          </p:cNvCxnSpPr>
          <p:nvPr/>
        </p:nvCxnSpPr>
        <p:spPr>
          <a:xfrm flipV="1">
            <a:off x="5760132" y="494116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>
            <a:stCxn id="5" idx="0"/>
            <a:endCxn id="4" idx="2"/>
          </p:cNvCxnSpPr>
          <p:nvPr/>
        </p:nvCxnSpPr>
        <p:spPr>
          <a:xfrm flipV="1">
            <a:off x="4824028" y="206084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>
            <a:stCxn id="8" idx="2"/>
            <a:endCxn id="6" idx="1"/>
          </p:cNvCxnSpPr>
          <p:nvPr/>
        </p:nvCxnSpPr>
        <p:spPr>
          <a:xfrm rot="16200000" flipH="1">
            <a:off x="4188669" y="3729744"/>
            <a:ext cx="586643" cy="1188132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k 27"/>
          <p:cNvCxnSpPr>
            <a:stCxn id="9" idx="3"/>
            <a:endCxn id="8" idx="1"/>
          </p:cNvCxnSpPr>
          <p:nvPr/>
        </p:nvCxnSpPr>
        <p:spPr>
          <a:xfrm>
            <a:off x="2627784" y="3706453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ktangel 31"/>
          <p:cNvSpPr/>
          <p:nvPr/>
        </p:nvSpPr>
        <p:spPr>
          <a:xfrm>
            <a:off x="5076056" y="522920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Context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34" name="textruta 33"/>
          <p:cNvSpPr txBox="1"/>
          <p:nvPr/>
        </p:nvSpPr>
        <p:spPr>
          <a:xfrm>
            <a:off x="7092280" y="5517232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 smtClean="0">
                <a:latin typeface="Arial" pitchFamily="34" charset="0"/>
                <a:cs typeface="Arial" pitchFamily="34" charset="0"/>
              </a:rPr>
              <a:t>Source</a:t>
            </a:r>
          </a:p>
          <a:p>
            <a:r>
              <a:rPr lang="sv-SE" sz="1200" dirty="0" err="1" smtClean="0">
                <a:latin typeface="Arial" pitchFamily="34" charset="0"/>
                <a:cs typeface="Arial" pitchFamily="34" charset="0"/>
              </a:rPr>
              <a:t>Time</a:t>
            </a:r>
            <a:endParaRPr lang="sv-SE" sz="12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6" name="Rak 35"/>
          <p:cNvCxnSpPr>
            <a:stCxn id="32" idx="3"/>
            <a:endCxn id="34" idx="1"/>
          </p:cNvCxnSpPr>
          <p:nvPr/>
        </p:nvCxnSpPr>
        <p:spPr>
          <a:xfrm>
            <a:off x="6444208" y="5553236"/>
            <a:ext cx="648072" cy="1948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ak 38"/>
          <p:cNvCxnSpPr>
            <a:stCxn id="7" idx="0"/>
            <a:endCxn id="32" idx="2"/>
          </p:cNvCxnSpPr>
          <p:nvPr/>
        </p:nvCxnSpPr>
        <p:spPr>
          <a:xfrm flipV="1">
            <a:off x="5760132" y="5877272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llips 42"/>
          <p:cNvSpPr/>
          <p:nvPr/>
        </p:nvSpPr>
        <p:spPr>
          <a:xfrm>
            <a:off x="4824028" y="5055567"/>
            <a:ext cx="1908212" cy="9657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4" name="Ellips 43"/>
          <p:cNvSpPr/>
          <p:nvPr/>
        </p:nvSpPr>
        <p:spPr>
          <a:xfrm>
            <a:off x="989602" y="3212976"/>
            <a:ext cx="1908212" cy="9657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5" name="textruta 44"/>
          <p:cNvSpPr txBox="1"/>
          <p:nvPr/>
        </p:nvSpPr>
        <p:spPr>
          <a:xfrm>
            <a:off x="1259632" y="4869160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200" dirty="0" smtClean="0">
                <a:latin typeface="Arial" pitchFamily="34" charset="0"/>
                <a:cs typeface="Arial" pitchFamily="34" charset="0"/>
              </a:rPr>
              <a:t>”</a:t>
            </a:r>
            <a:r>
              <a:rPr lang="sv-SE" sz="1200" dirty="0" err="1" smtClean="0">
                <a:latin typeface="Arial" pitchFamily="34" charset="0"/>
                <a:cs typeface="Arial" pitchFamily="34" charset="0"/>
              </a:rPr>
              <a:t>variable</a:t>
            </a:r>
            <a:r>
              <a:rPr lang="sv-SE" sz="1200" dirty="0" smtClean="0">
                <a:latin typeface="Arial" pitchFamily="34" charset="0"/>
                <a:cs typeface="Arial" pitchFamily="34" charset="0"/>
              </a:rPr>
              <a:t>” </a:t>
            </a:r>
            <a:r>
              <a:rPr lang="sv-SE" sz="1200" dirty="0" err="1" smtClean="0">
                <a:latin typeface="Arial" pitchFamily="34" charset="0"/>
                <a:cs typeface="Arial" pitchFamily="34" charset="0"/>
              </a:rPr>
              <a:t>unit</a:t>
            </a:r>
            <a:endParaRPr lang="sv-SE" sz="12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6" name="Rak 45"/>
          <p:cNvCxnSpPr>
            <a:stCxn id="9" idx="2"/>
            <a:endCxn id="45" idx="0"/>
          </p:cNvCxnSpPr>
          <p:nvPr/>
        </p:nvCxnSpPr>
        <p:spPr>
          <a:xfrm>
            <a:off x="1943708" y="4030489"/>
            <a:ext cx="0" cy="8386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k 16"/>
          <p:cNvCxnSpPr>
            <a:stCxn id="8" idx="0"/>
            <a:endCxn id="5" idx="2"/>
          </p:cNvCxnSpPr>
          <p:nvPr/>
        </p:nvCxnSpPr>
        <p:spPr>
          <a:xfrm rot="5400000" flipH="1" flipV="1">
            <a:off x="4163244" y="2721633"/>
            <a:ext cx="385465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åge 25"/>
          <p:cNvSpPr/>
          <p:nvPr/>
        </p:nvSpPr>
        <p:spPr>
          <a:xfrm rot="5400000">
            <a:off x="5309837" y="2108566"/>
            <a:ext cx="396534" cy="428346"/>
          </a:xfrm>
          <a:prstGeom prst="arc">
            <a:avLst>
              <a:gd name="adj1" fmla="val 5159243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ktangel 28"/>
          <p:cNvSpPr/>
          <p:nvPr/>
        </p:nvSpPr>
        <p:spPr>
          <a:xfrm>
            <a:off x="5076056" y="3386609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</a:rPr>
              <a:t>Conceptual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33" name="Ellips 32"/>
          <p:cNvSpPr/>
          <p:nvPr/>
        </p:nvSpPr>
        <p:spPr>
          <a:xfrm>
            <a:off x="4824028" y="3255367"/>
            <a:ext cx="1908212" cy="9657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40" name="Rak 16"/>
          <p:cNvCxnSpPr>
            <a:stCxn id="29" idx="0"/>
            <a:endCxn id="5" idx="2"/>
          </p:cNvCxnSpPr>
          <p:nvPr/>
        </p:nvCxnSpPr>
        <p:spPr>
          <a:xfrm rot="16200000" flipV="1">
            <a:off x="5097252" y="2723729"/>
            <a:ext cx="389657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02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3" grpId="0" animBg="1"/>
      <p:bldP spid="44" grpId="0" animBg="1"/>
      <p:bldP spid="45" grpId="0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Concept</a:t>
            </a:r>
            <a:r>
              <a:rPr lang="sv-SE" dirty="0" smtClean="0"/>
              <a:t> systems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 err="1"/>
              <a:t>Conceptual</a:t>
            </a:r>
            <a:r>
              <a:rPr lang="sv-SE" dirty="0"/>
              <a:t> </a:t>
            </a:r>
            <a:r>
              <a:rPr lang="sv-SE" dirty="0" err="1"/>
              <a:t>models</a:t>
            </a:r>
            <a:endParaRPr lang="sv-SE" dirty="0"/>
          </a:p>
          <a:p>
            <a:r>
              <a:rPr lang="sv-SE" dirty="0" err="1" smtClean="0"/>
              <a:t>Variables</a:t>
            </a:r>
            <a:endParaRPr lang="sv-SE" dirty="0" smtClean="0"/>
          </a:p>
          <a:p>
            <a:r>
              <a:rPr lang="sv-SE" dirty="0" err="1" smtClean="0"/>
              <a:t>Unit</a:t>
            </a:r>
            <a:r>
              <a:rPr lang="sv-SE" dirty="0" smtClean="0"/>
              <a:t> </a:t>
            </a:r>
            <a:r>
              <a:rPr lang="sv-SE" dirty="0" err="1" smtClean="0"/>
              <a:t>types</a:t>
            </a:r>
            <a:endParaRPr lang="sv-SE" dirty="0" smtClean="0"/>
          </a:p>
          <a:p>
            <a:r>
              <a:rPr lang="sv-SE" dirty="0" err="1" smtClean="0"/>
              <a:t>Value</a:t>
            </a:r>
            <a:r>
              <a:rPr lang="sv-SE" dirty="0" smtClean="0"/>
              <a:t> </a:t>
            </a:r>
            <a:r>
              <a:rPr lang="sv-SE" dirty="0" err="1" smtClean="0"/>
              <a:t>domains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652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 smtClean="0"/>
              <a:t>Concept</a:t>
            </a:r>
            <a:r>
              <a:rPr lang="sv-SE" dirty="0" smtClean="0"/>
              <a:t>, Term, Definition, </a:t>
            </a:r>
            <a:r>
              <a:rPr lang="sv-SE" dirty="0" err="1"/>
              <a:t>Characteristics</a:t>
            </a:r>
            <a:r>
              <a:rPr lang="sv-SE" dirty="0"/>
              <a:t> </a:t>
            </a:r>
          </a:p>
        </p:txBody>
      </p:sp>
      <p:pic>
        <p:nvPicPr>
          <p:cNvPr id="8194" name="Picture 2" descr="http://fodina.se/wp-content/uploads/2012/04/terminologi_tetraedermodell_leupps_1111x679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99" y="1600200"/>
            <a:ext cx="7405515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ruta 3"/>
          <p:cNvSpPr txBox="1"/>
          <p:nvPr/>
        </p:nvSpPr>
        <p:spPr>
          <a:xfrm>
            <a:off x="4644008" y="2708920"/>
            <a:ext cx="10081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sv-SE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endParaRPr lang="sv-SE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ruta 5"/>
          <p:cNvSpPr txBox="1"/>
          <p:nvPr/>
        </p:nvSpPr>
        <p:spPr>
          <a:xfrm>
            <a:off x="2771800" y="4149080"/>
            <a:ext cx="72008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sv-SE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</a:t>
            </a:r>
            <a:endParaRPr lang="sv-SE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ruta 6"/>
          <p:cNvSpPr txBox="1"/>
          <p:nvPr/>
        </p:nvSpPr>
        <p:spPr>
          <a:xfrm>
            <a:off x="3851920" y="4869160"/>
            <a:ext cx="115212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sv-SE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lang="sv-SE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ruta 7"/>
          <p:cNvSpPr txBox="1"/>
          <p:nvPr/>
        </p:nvSpPr>
        <p:spPr>
          <a:xfrm>
            <a:off x="6444208" y="4148554"/>
            <a:ext cx="10081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sv-SE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Referent</a:t>
            </a:r>
            <a:endParaRPr lang="sv-SE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ktangel 4"/>
          <p:cNvSpPr/>
          <p:nvPr/>
        </p:nvSpPr>
        <p:spPr>
          <a:xfrm>
            <a:off x="6876256" y="4725144"/>
            <a:ext cx="1512168" cy="16561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6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endParaRPr lang="sv-SE" sz="1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v-SE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a trunk</a:t>
            </a:r>
          </a:p>
          <a:p>
            <a:r>
              <a:rPr lang="sv-SE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tall</a:t>
            </a:r>
          </a:p>
          <a:p>
            <a:r>
              <a:rPr lang="sv-SE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non </a:t>
            </a:r>
            <a:r>
              <a:rPr lang="sv-SE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climbing</a:t>
            </a:r>
            <a:endParaRPr lang="sv-SE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sv-SE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sv-SE" sz="1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wood</a:t>
            </a:r>
            <a:r>
              <a:rPr lang="sv-SE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plant</a:t>
            </a:r>
          </a:p>
        </p:txBody>
      </p:sp>
      <p:sp>
        <p:nvSpPr>
          <p:cNvPr id="11" name="textruta 10"/>
          <p:cNvSpPr txBox="1"/>
          <p:nvPr/>
        </p:nvSpPr>
        <p:spPr>
          <a:xfrm>
            <a:off x="3707904" y="5589240"/>
            <a:ext cx="288032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Wood plant which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tall and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non-climbing, and which has a continuous main trunk</a:t>
            </a:r>
            <a:endParaRPr lang="sv-SE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Rak pil 11"/>
          <p:cNvCxnSpPr>
            <a:endCxn id="11" idx="0"/>
          </p:cNvCxnSpPr>
          <p:nvPr/>
        </p:nvCxnSpPr>
        <p:spPr>
          <a:xfrm flipH="1">
            <a:off x="5148064" y="5207714"/>
            <a:ext cx="1584176" cy="3815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14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 err="1" smtClean="0"/>
              <a:t>Concepts</a:t>
            </a:r>
            <a:r>
              <a:rPr lang="sv-SE" dirty="0"/>
              <a:t> - Population </a:t>
            </a:r>
            <a:r>
              <a:rPr lang="sv-SE" dirty="0" smtClean="0"/>
              <a:t>register</a:t>
            </a:r>
            <a:endParaRPr lang="sv-SE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96752"/>
            <a:ext cx="8256629" cy="566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323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/>
              <a:t>Concepts</a:t>
            </a:r>
            <a:r>
              <a:rPr lang="sv-SE" dirty="0"/>
              <a:t> – </a:t>
            </a:r>
            <a:r>
              <a:rPr lang="sv-SE" dirty="0" err="1"/>
              <a:t>Unit</a:t>
            </a:r>
            <a:r>
              <a:rPr lang="sv-SE" dirty="0"/>
              <a:t> </a:t>
            </a:r>
            <a:r>
              <a:rPr lang="sv-SE" dirty="0" err="1"/>
              <a:t>types</a:t>
            </a:r>
            <a:r>
              <a:rPr lang="sv-SE" dirty="0"/>
              <a:t> and </a:t>
            </a:r>
            <a:r>
              <a:rPr lang="sv-SE" dirty="0" err="1"/>
              <a:t>varialbles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smtClean="0"/>
              <a:t>Population register</a:t>
            </a:r>
            <a:endParaRPr lang="sv-SE" dirty="0"/>
          </a:p>
        </p:txBody>
      </p:sp>
      <p:graphicFrame>
        <p:nvGraphicFramePr>
          <p:cNvPr id="4" name="Tabel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241665"/>
              </p:ext>
            </p:extLst>
          </p:nvPr>
        </p:nvGraphicFramePr>
        <p:xfrm>
          <a:off x="2123728" y="2745192"/>
          <a:ext cx="5176510" cy="33481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6090"/>
                <a:gridCol w="2340420"/>
              </a:tblGrid>
              <a:tr h="209257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Unit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type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Variables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>
                          <a:effectLst/>
                        </a:rPr>
                        <a:t>Person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Gender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Birth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Person ID-</a:t>
                      </a:r>
                      <a:r>
                        <a:rPr lang="sv-SE" sz="1400" dirty="0" err="1" smtClean="0">
                          <a:effectLst/>
                        </a:rPr>
                        <a:t>number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sv-SE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Live </a:t>
                      </a: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birth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Number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of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18512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Immigration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Non Swedish/Swedish </a:t>
                      </a:r>
                      <a:r>
                        <a:rPr lang="sv-SE" sz="1400" dirty="0" err="1" smtClean="0">
                          <a:effectLst/>
                        </a:rPr>
                        <a:t>background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Degree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Age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National </a:t>
                      </a: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registration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Counry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Education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County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Citizenship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Congregation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Emigration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Municipality</a:t>
                      </a:r>
                      <a:endParaRPr lang="sv-SE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Father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Year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sv-SE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Adoptive </a:t>
                      </a: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father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Civil status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Mother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Property ID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 marL="742950" lvl="1" indent="-28575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Courier New"/>
                        <a:buChar char="o"/>
                      </a:pPr>
                      <a:r>
                        <a:rPr lang="sv-SE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Adoptive </a:t>
                      </a:r>
                      <a:r>
                        <a:rPr lang="sv-SE" sz="1400" b="1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mother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9257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Property</a:t>
                      </a:r>
                      <a:endParaRPr lang="sv-SE" sz="1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>
                          <a:effectLst/>
                        </a:rPr>
                        <a:t> 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56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 smtClean="0"/>
              <a:t>Concepts</a:t>
            </a:r>
            <a:r>
              <a:rPr lang="sv-SE" dirty="0"/>
              <a:t> </a:t>
            </a:r>
            <a:r>
              <a:rPr lang="sv-SE" dirty="0" smtClean="0"/>
              <a:t>- Short </a:t>
            </a:r>
            <a:r>
              <a:rPr lang="sv-SE" dirty="0"/>
              <a:t>term statistics</a:t>
            </a: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" t="32930" r="970" b="1541"/>
          <a:stretch/>
        </p:blipFill>
        <p:spPr bwMode="auto">
          <a:xfrm>
            <a:off x="609600" y="2847975"/>
            <a:ext cx="8362950" cy="327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633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 smtClean="0"/>
              <a:t>Concepts</a:t>
            </a:r>
            <a:r>
              <a:rPr lang="sv-SE" dirty="0"/>
              <a:t> </a:t>
            </a:r>
            <a:r>
              <a:rPr lang="sv-SE" dirty="0" smtClean="0"/>
              <a:t>– </a:t>
            </a:r>
            <a:r>
              <a:rPr lang="sv-SE" dirty="0" err="1" smtClean="0"/>
              <a:t>Unit</a:t>
            </a:r>
            <a:r>
              <a:rPr lang="sv-SE" dirty="0" smtClean="0"/>
              <a:t> </a:t>
            </a:r>
            <a:r>
              <a:rPr lang="sv-SE" dirty="0" err="1" smtClean="0"/>
              <a:t>types</a:t>
            </a:r>
            <a:r>
              <a:rPr lang="sv-SE" dirty="0" smtClean="0"/>
              <a:t> and </a:t>
            </a:r>
            <a:r>
              <a:rPr lang="sv-SE" dirty="0" err="1" smtClean="0"/>
              <a:t>varialbles</a:t>
            </a:r>
            <a:endParaRPr lang="sv-SE" dirty="0"/>
          </a:p>
        </p:txBody>
      </p:sp>
      <p:graphicFrame>
        <p:nvGraphicFramePr>
          <p:cNvPr id="4" name="Platshållare för innehåll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387925"/>
              </p:ext>
            </p:extLst>
          </p:nvPr>
        </p:nvGraphicFramePr>
        <p:xfrm>
          <a:off x="1680628" y="2377291"/>
          <a:ext cx="5699684" cy="39320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9842"/>
                <a:gridCol w="2849842"/>
              </a:tblGrid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Unit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type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Variables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Business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smtClean="0">
                          <a:effectLst/>
                        </a:rPr>
                        <a:t>Number of employees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dirty="0" smtClean="0">
                          <a:effectLst/>
                        </a:rPr>
                        <a:t>Industry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Number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of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worked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hours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>
                          <a:effectLst/>
                        </a:rPr>
                        <a:t> 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Value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added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>
                          <a:effectLst/>
                        </a:rPr>
                        <a:t> </a:t>
                      </a:r>
                      <a:endParaRPr lang="sv-SE" sz="140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capacity</a:t>
                      </a:r>
                      <a:r>
                        <a:rPr lang="sv-SE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sv-SE" sz="14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utilization</a:t>
                      </a:r>
                      <a:endParaRPr lang="sv-SE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>
                          <a:effectLst/>
                        </a:rPr>
                        <a:t> </a:t>
                      </a:r>
                      <a:endParaRPr lang="sv-SE" sz="140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Stock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>
                          <a:effectLst/>
                        </a:rPr>
                        <a:t> 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Salary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>
                          <a:effectLst/>
                        </a:rPr>
                        <a:t> </a:t>
                      </a:r>
                      <a:endParaRPr lang="sv-SE" sz="140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dirty="0" err="1" smtClean="0">
                          <a:effectLst/>
                        </a:rPr>
                        <a:t>Monthly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salary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>
                          <a:effectLst/>
                        </a:rPr>
                        <a:t> </a:t>
                      </a:r>
                      <a:endParaRPr lang="sv-SE" sz="140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Hourly</a:t>
                      </a:r>
                      <a:r>
                        <a:rPr lang="sv-SE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sv-SE" sz="14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salary</a:t>
                      </a:r>
                      <a:endParaRPr lang="sv-SE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>
                          <a:effectLst/>
                        </a:rPr>
                        <a:t> </a:t>
                      </a:r>
                      <a:endParaRPr lang="sv-SE" sz="140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Industrial </a:t>
                      </a:r>
                      <a:r>
                        <a:rPr lang="sv-SE" sz="1400" dirty="0" err="1" smtClean="0">
                          <a:effectLst/>
                        </a:rPr>
                        <a:t>activity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>
                          <a:effectLst/>
                        </a:rPr>
                        <a:t> </a:t>
                      </a:r>
                      <a:endParaRPr lang="sv-SE" sz="140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Turnover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>
                          <a:effectLst/>
                        </a:rPr>
                        <a:t> 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Order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>
                          <a:effectLst/>
                        </a:rPr>
                        <a:t> 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smtClean="0">
                          <a:effectLst/>
                        </a:rPr>
                        <a:t>Price </a:t>
                      </a:r>
                      <a:r>
                        <a:rPr lang="sv-SE" sz="1400" dirty="0" err="1" smtClean="0">
                          <a:effectLst/>
                        </a:rPr>
                        <a:t>indices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>
                          <a:effectLst/>
                        </a:rPr>
                        <a:t> </a:t>
                      </a:r>
                      <a:endParaRPr lang="sv-SE" sz="140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 err="1" smtClean="0">
                          <a:effectLst/>
                        </a:rPr>
                        <a:t>Identity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>
                          <a:effectLst/>
                        </a:rPr>
                        <a:t> </a:t>
                      </a:r>
                      <a:endParaRPr lang="sv-SE" sz="140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dirty="0" smtClean="0">
                          <a:effectLst/>
                        </a:rPr>
                        <a:t>ID-</a:t>
                      </a:r>
                      <a:r>
                        <a:rPr lang="sv-SE" sz="1400" dirty="0" err="1" smtClean="0">
                          <a:effectLst/>
                        </a:rPr>
                        <a:t>number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>
                          <a:effectLst/>
                        </a:rPr>
                        <a:t> </a:t>
                      </a:r>
                      <a:endParaRPr lang="sv-SE" sz="140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dirty="0" err="1" smtClean="0">
                          <a:effectLst/>
                        </a:rPr>
                        <a:t>Category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number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>
                          <a:effectLst/>
                        </a:rPr>
                        <a:t> 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dirty="0" err="1" smtClean="0">
                          <a:effectLst/>
                        </a:rPr>
                        <a:t>Name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18446">
                <a:tc>
                  <a:txBody>
                    <a:bodyPr/>
                    <a:lstStyle/>
                    <a:p>
                      <a:pPr>
                        <a:lnSpc>
                          <a:spcPts val="1300"/>
                        </a:lnSpc>
                        <a:spcAft>
                          <a:spcPts val="0"/>
                        </a:spcAft>
                      </a:pPr>
                      <a:r>
                        <a:rPr lang="sv-SE" sz="1400" dirty="0">
                          <a:effectLst/>
                        </a:rPr>
                        <a:t> 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ts val="13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sv-SE" sz="1400" dirty="0" err="1" smtClean="0">
                          <a:effectLst/>
                        </a:rPr>
                        <a:t>Organization</a:t>
                      </a:r>
                      <a:r>
                        <a:rPr lang="sv-SE" sz="1400" dirty="0" smtClean="0">
                          <a:effectLst/>
                        </a:rPr>
                        <a:t> </a:t>
                      </a:r>
                      <a:r>
                        <a:rPr lang="sv-SE" sz="1400" dirty="0" err="1" smtClean="0">
                          <a:effectLst/>
                        </a:rPr>
                        <a:t>number</a:t>
                      </a:r>
                      <a:endParaRPr lang="sv-SE" sz="1400" dirty="0">
                        <a:effectLst/>
                        <a:latin typeface="Palatino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5" name="Platshållare för innehåll 2"/>
          <p:cNvSpPr txBox="1">
            <a:spLocks/>
          </p:cNvSpPr>
          <p:nvPr/>
        </p:nvSpPr>
        <p:spPr>
          <a:xfrm>
            <a:off x="1256370" y="1600200"/>
            <a:ext cx="743042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71277A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71277A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71277A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71277A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71277A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dirty="0" smtClean="0"/>
              <a:t>KLON – Short term statistics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1014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Conclusions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smtClean="0"/>
              <a:t>Standards </a:t>
            </a:r>
            <a:r>
              <a:rPr lang="sv-SE" dirty="0" err="1" smtClean="0"/>
              <a:t>help</a:t>
            </a:r>
            <a:endParaRPr lang="sv-SE" dirty="0" smtClean="0"/>
          </a:p>
          <a:p>
            <a:r>
              <a:rPr lang="sv-SE" dirty="0" err="1" smtClean="0"/>
              <a:t>Can</a:t>
            </a:r>
            <a:r>
              <a:rPr lang="sv-SE" dirty="0" smtClean="0"/>
              <a:t> be interpreted in different </a:t>
            </a:r>
            <a:r>
              <a:rPr lang="sv-SE" dirty="0" err="1" smtClean="0"/>
              <a:t>ways</a:t>
            </a:r>
            <a:endParaRPr lang="sv-SE" dirty="0" smtClean="0"/>
          </a:p>
          <a:p>
            <a:r>
              <a:rPr lang="sv-SE" dirty="0" smtClean="0"/>
              <a:t>Foundation for </a:t>
            </a:r>
            <a:r>
              <a:rPr lang="sv-SE" dirty="0" err="1" smtClean="0"/>
              <a:t>harmonization</a:t>
            </a:r>
            <a:endParaRPr lang="sv-SE" dirty="0" smtClean="0"/>
          </a:p>
          <a:p>
            <a:endParaRPr lang="sv-SE" dirty="0" smtClean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3100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259633" y="2780928"/>
            <a:ext cx="6840760" cy="1143000"/>
          </a:xfrm>
        </p:spPr>
        <p:txBody>
          <a:bodyPr/>
          <a:lstStyle/>
          <a:p>
            <a:pPr algn="ctr"/>
            <a:r>
              <a:rPr lang="sv-SE" dirty="0" smtClean="0"/>
              <a:t>Examples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02438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GSIM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Rektangel 3"/>
          <p:cNvSpPr/>
          <p:nvPr/>
        </p:nvSpPr>
        <p:spPr>
          <a:xfrm>
            <a:off x="4211960" y="162880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</a:rPr>
              <a:t>Concept</a:t>
            </a:r>
            <a:r>
              <a:rPr lang="sv-SE" dirty="0" smtClean="0">
                <a:solidFill>
                  <a:schemeClr val="tx1"/>
                </a:solidFill>
              </a:rPr>
              <a:t> systems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5" name="Rektangel 4"/>
          <p:cNvSpPr/>
          <p:nvPr/>
        </p:nvSpPr>
        <p:spPr>
          <a:xfrm>
            <a:off x="4211960" y="2573288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/>
        </p:nvSpPr>
        <p:spPr>
          <a:xfrm>
            <a:off x="4211960" y="3717032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Represented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" name="Rektangel 8"/>
          <p:cNvSpPr/>
          <p:nvPr/>
        </p:nvSpPr>
        <p:spPr>
          <a:xfrm>
            <a:off x="4210050" y="465313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Instance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2339752" y="3717032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Unit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3" name="Rektangel 12"/>
          <p:cNvSpPr/>
          <p:nvPr/>
        </p:nvSpPr>
        <p:spPr>
          <a:xfrm>
            <a:off x="6156176" y="3717032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Value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domain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15" name="Rak 14"/>
          <p:cNvCxnSpPr>
            <a:stCxn id="8" idx="3"/>
            <a:endCxn id="13" idx="1"/>
          </p:cNvCxnSpPr>
          <p:nvPr/>
        </p:nvCxnSpPr>
        <p:spPr>
          <a:xfrm>
            <a:off x="5580112" y="4041068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ak 15"/>
          <p:cNvCxnSpPr>
            <a:stCxn id="8" idx="0"/>
            <a:endCxn id="5" idx="2"/>
          </p:cNvCxnSpPr>
          <p:nvPr/>
        </p:nvCxnSpPr>
        <p:spPr>
          <a:xfrm flipV="1">
            <a:off x="4896036" y="3221360"/>
            <a:ext cx="0" cy="49567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ak 18"/>
          <p:cNvCxnSpPr>
            <a:stCxn id="9" idx="0"/>
            <a:endCxn id="8" idx="2"/>
          </p:cNvCxnSpPr>
          <p:nvPr/>
        </p:nvCxnSpPr>
        <p:spPr>
          <a:xfrm flipV="1">
            <a:off x="4894126" y="4365104"/>
            <a:ext cx="191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ak 21"/>
          <p:cNvCxnSpPr>
            <a:stCxn id="5" idx="0"/>
            <a:endCxn id="4" idx="2"/>
          </p:cNvCxnSpPr>
          <p:nvPr/>
        </p:nvCxnSpPr>
        <p:spPr>
          <a:xfrm flipV="1">
            <a:off x="4896036" y="2276872"/>
            <a:ext cx="0" cy="29641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k 24"/>
          <p:cNvCxnSpPr>
            <a:stCxn id="10" idx="3"/>
            <a:endCxn id="8" idx="1"/>
          </p:cNvCxnSpPr>
          <p:nvPr/>
        </p:nvCxnSpPr>
        <p:spPr>
          <a:xfrm>
            <a:off x="3707904" y="4041068"/>
            <a:ext cx="50405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ak 16"/>
          <p:cNvCxnSpPr>
            <a:stCxn id="10" idx="0"/>
          </p:cNvCxnSpPr>
          <p:nvPr/>
        </p:nvCxnSpPr>
        <p:spPr>
          <a:xfrm rot="5400000" flipH="1" flipV="1">
            <a:off x="3820108" y="2641104"/>
            <a:ext cx="279648" cy="1872208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Båge 10"/>
          <p:cNvSpPr/>
          <p:nvPr/>
        </p:nvSpPr>
        <p:spPr>
          <a:xfrm rot="5400000">
            <a:off x="5381845" y="2332974"/>
            <a:ext cx="396534" cy="428346"/>
          </a:xfrm>
          <a:prstGeom prst="arc">
            <a:avLst>
              <a:gd name="adj1" fmla="val 5159243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18" name="Picture 2" descr="http://www1.unece.org/stat/platform/download/thumbnails/58492100/gsim.png?version=1&amp;modificationDate=1407249911210&amp;api=v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112" y="4779218"/>
            <a:ext cx="2647768" cy="181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72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Concepts</a:t>
            </a:r>
            <a:r>
              <a:rPr lang="sv-SE" dirty="0" smtClean="0"/>
              <a:t> and </a:t>
            </a:r>
            <a:r>
              <a:rPr lang="sv-SE" dirty="0" err="1" smtClean="0"/>
              <a:t>Variables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 smtClean="0"/>
              <a:t>Concept</a:t>
            </a:r>
            <a:endParaRPr lang="sv-SE" dirty="0" smtClean="0"/>
          </a:p>
          <a:p>
            <a:r>
              <a:rPr lang="sv-SE" dirty="0" err="1" smtClean="0"/>
              <a:t>Variable</a:t>
            </a:r>
            <a:endParaRPr lang="sv-SE" dirty="0" smtClean="0"/>
          </a:p>
          <a:p>
            <a:r>
              <a:rPr lang="sv-SE" dirty="0" err="1" smtClean="0"/>
              <a:t>Represented</a:t>
            </a:r>
            <a:r>
              <a:rPr lang="sv-SE" dirty="0" smtClean="0"/>
              <a:t> </a:t>
            </a:r>
            <a:r>
              <a:rPr lang="sv-SE" dirty="0" err="1" smtClean="0"/>
              <a:t>variable</a:t>
            </a:r>
            <a:endParaRPr lang="sv-SE" dirty="0" smtClean="0"/>
          </a:p>
          <a:p>
            <a:r>
              <a:rPr lang="sv-SE" dirty="0" err="1" smtClean="0"/>
              <a:t>Instance</a:t>
            </a:r>
            <a:r>
              <a:rPr lang="sv-SE" dirty="0" smtClean="0"/>
              <a:t> </a:t>
            </a:r>
            <a:r>
              <a:rPr lang="sv-SE" dirty="0" err="1" smtClean="0"/>
              <a:t>variable</a:t>
            </a:r>
            <a:endParaRPr lang="sv-SE" dirty="0"/>
          </a:p>
        </p:txBody>
      </p:sp>
      <p:pic>
        <p:nvPicPr>
          <p:cNvPr id="4" name="Picture 2" descr="http://www1.unece.org/stat/platform/download/thumbnails/58492100/gsim.png?version=1&amp;modificationDate=1407249911210&amp;api=v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112" y="4779218"/>
            <a:ext cx="2647768" cy="181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68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Represented</a:t>
            </a:r>
            <a:r>
              <a:rPr lang="sv-SE" dirty="0" smtClean="0"/>
              <a:t> </a:t>
            </a:r>
            <a:r>
              <a:rPr lang="sv-SE" dirty="0" err="1" smtClean="0"/>
              <a:t>variable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 err="1" smtClean="0"/>
              <a:t>Conbining</a:t>
            </a:r>
            <a:r>
              <a:rPr lang="sv-SE" dirty="0" smtClean="0"/>
              <a:t> </a:t>
            </a:r>
            <a:r>
              <a:rPr lang="sv-SE" dirty="0" err="1" smtClean="0"/>
              <a:t>concepts</a:t>
            </a:r>
            <a:r>
              <a:rPr lang="sv-SE" dirty="0" smtClean="0"/>
              <a:t> for </a:t>
            </a:r>
          </a:p>
          <a:p>
            <a:pPr lvl="1"/>
            <a:r>
              <a:rPr lang="sv-SE" dirty="0" err="1" smtClean="0"/>
              <a:t>Unit</a:t>
            </a:r>
            <a:r>
              <a:rPr lang="sv-SE" dirty="0" smtClean="0"/>
              <a:t> </a:t>
            </a:r>
            <a:r>
              <a:rPr lang="sv-SE" dirty="0" err="1" smtClean="0"/>
              <a:t>type</a:t>
            </a:r>
            <a:endParaRPr lang="sv-SE" dirty="0" smtClean="0"/>
          </a:p>
          <a:p>
            <a:pPr lvl="1"/>
            <a:r>
              <a:rPr lang="sv-SE" dirty="0" err="1" smtClean="0"/>
              <a:t>Variable</a:t>
            </a:r>
            <a:endParaRPr lang="sv-SE" dirty="0" smtClean="0"/>
          </a:p>
          <a:p>
            <a:pPr lvl="1"/>
            <a:r>
              <a:rPr lang="sv-SE" dirty="0" err="1" smtClean="0"/>
              <a:t>Value</a:t>
            </a:r>
            <a:r>
              <a:rPr lang="sv-SE" dirty="0" smtClean="0"/>
              <a:t> </a:t>
            </a:r>
            <a:r>
              <a:rPr lang="sv-SE" dirty="0" err="1" smtClean="0"/>
              <a:t>domain</a:t>
            </a:r>
            <a:endParaRPr lang="sv-SE" dirty="0"/>
          </a:p>
        </p:txBody>
      </p:sp>
      <p:pic>
        <p:nvPicPr>
          <p:cNvPr id="4" name="Picture 2" descr="http://www1.unece.org/stat/platform/download/thumbnails/58492100/gsim.png?version=1&amp;modificationDate=1407249911210&amp;api=v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8112" y="4779218"/>
            <a:ext cx="2647768" cy="181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16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Concepts</a:t>
            </a:r>
            <a:r>
              <a:rPr lang="sv-SE" dirty="0" smtClean="0"/>
              <a:t> and </a:t>
            </a:r>
            <a:r>
              <a:rPr lang="sv-SE" dirty="0" err="1" smtClean="0"/>
              <a:t>Variables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 smtClean="0"/>
              <a:t>Concept</a:t>
            </a:r>
            <a:endParaRPr lang="sv-SE" dirty="0" smtClean="0"/>
          </a:p>
          <a:p>
            <a:r>
              <a:rPr lang="sv-SE" dirty="0" err="1" smtClean="0"/>
              <a:t>Variable</a:t>
            </a:r>
            <a:endParaRPr lang="sv-SE" dirty="0" smtClean="0"/>
          </a:p>
          <a:p>
            <a:r>
              <a:rPr lang="sv-SE" dirty="0" err="1" smtClean="0"/>
              <a:t>Conceptual</a:t>
            </a:r>
            <a:r>
              <a:rPr lang="sv-SE" dirty="0" smtClean="0"/>
              <a:t> </a:t>
            </a:r>
            <a:r>
              <a:rPr lang="sv-SE" dirty="0" err="1" smtClean="0"/>
              <a:t>variable</a:t>
            </a:r>
            <a:endParaRPr lang="sv-SE" dirty="0" smtClean="0"/>
          </a:p>
          <a:p>
            <a:r>
              <a:rPr lang="sv-SE" dirty="0" err="1" smtClean="0"/>
              <a:t>Represented</a:t>
            </a:r>
            <a:r>
              <a:rPr lang="sv-SE" dirty="0" smtClean="0"/>
              <a:t> </a:t>
            </a:r>
            <a:r>
              <a:rPr lang="sv-SE" dirty="0" err="1" smtClean="0"/>
              <a:t>variable</a:t>
            </a:r>
            <a:endParaRPr lang="sv-SE" dirty="0" smtClean="0"/>
          </a:p>
          <a:p>
            <a:r>
              <a:rPr lang="sv-SE" dirty="0" err="1" smtClean="0"/>
              <a:t>Conceptual</a:t>
            </a:r>
            <a:r>
              <a:rPr lang="sv-SE" dirty="0" smtClean="0"/>
              <a:t> </a:t>
            </a:r>
            <a:r>
              <a:rPr lang="sv-SE" dirty="0" err="1" smtClean="0"/>
              <a:t>variable</a:t>
            </a:r>
            <a:endParaRPr lang="sv-SE" dirty="0" smtClean="0"/>
          </a:p>
          <a:p>
            <a:r>
              <a:rPr lang="sv-SE" dirty="0" err="1" smtClean="0"/>
              <a:t>Instance</a:t>
            </a:r>
            <a:r>
              <a:rPr lang="sv-SE" dirty="0" smtClean="0"/>
              <a:t> </a:t>
            </a:r>
            <a:r>
              <a:rPr lang="sv-SE" dirty="0" err="1" smtClean="0"/>
              <a:t>variable</a:t>
            </a:r>
            <a:endParaRPr lang="sv-SE" dirty="0"/>
          </a:p>
        </p:txBody>
      </p:sp>
      <p:pic>
        <p:nvPicPr>
          <p:cNvPr id="5" name="Bildobjekt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20"/>
          <a:stretch/>
        </p:blipFill>
        <p:spPr>
          <a:xfrm>
            <a:off x="7715102" y="4509120"/>
            <a:ext cx="1033362" cy="148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0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Examples</a:t>
            </a:r>
          </a:p>
        </p:txBody>
      </p:sp>
      <p:sp>
        <p:nvSpPr>
          <p:cNvPr id="4" name="Rektangel 3"/>
          <p:cNvSpPr/>
          <p:nvPr/>
        </p:nvSpPr>
        <p:spPr>
          <a:xfrm>
            <a:off x="4139952" y="141277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</a:t>
            </a:r>
            <a:r>
              <a:rPr lang="sv-SE" dirty="0">
                <a:solidFill>
                  <a:schemeClr val="tx1"/>
                </a:solidFill>
              </a:rPr>
              <a:t> systems</a:t>
            </a:r>
          </a:p>
        </p:txBody>
      </p:sp>
      <p:sp>
        <p:nvSpPr>
          <p:cNvPr id="5" name="Rektangel 4"/>
          <p:cNvSpPr/>
          <p:nvPr/>
        </p:nvSpPr>
        <p:spPr>
          <a:xfrm>
            <a:off x="4139952" y="234888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6" name="Rektangel 5"/>
          <p:cNvSpPr/>
          <p:nvPr/>
        </p:nvSpPr>
        <p:spPr>
          <a:xfrm>
            <a:off x="5076056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Represented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7" name="Rektangel 6"/>
          <p:cNvSpPr/>
          <p:nvPr/>
        </p:nvSpPr>
        <p:spPr>
          <a:xfrm>
            <a:off x="5076056" y="6165304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Instance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/>
        </p:nvSpPr>
        <p:spPr>
          <a:xfrm>
            <a:off x="3203848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Unit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" name="Rektangel 8"/>
          <p:cNvSpPr/>
          <p:nvPr/>
        </p:nvSpPr>
        <p:spPr>
          <a:xfrm>
            <a:off x="1259632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Relation </a:t>
            </a:r>
            <a:r>
              <a:rPr lang="sv-SE" dirty="0" err="1">
                <a:solidFill>
                  <a:schemeClr val="tx1"/>
                </a:solidFill>
              </a:rPr>
              <a:t>to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Unit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7020272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Value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domain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11" name="Rak 10"/>
          <p:cNvCxnSpPr>
            <a:stCxn id="6" idx="3"/>
            <a:endCxn id="10" idx="1"/>
          </p:cNvCxnSpPr>
          <p:nvPr/>
        </p:nvCxnSpPr>
        <p:spPr>
          <a:xfrm>
            <a:off x="6444208" y="4617132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11"/>
          <p:cNvCxnSpPr>
            <a:stCxn id="6" idx="0"/>
            <a:endCxn id="29" idx="2"/>
          </p:cNvCxnSpPr>
          <p:nvPr/>
        </p:nvCxnSpPr>
        <p:spPr>
          <a:xfrm flipV="1">
            <a:off x="5760132" y="4034681"/>
            <a:ext cx="0" cy="2584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>
            <a:stCxn id="32" idx="0"/>
            <a:endCxn id="6" idx="2"/>
          </p:cNvCxnSpPr>
          <p:nvPr/>
        </p:nvCxnSpPr>
        <p:spPr>
          <a:xfrm flipV="1">
            <a:off x="5760132" y="494116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>
            <a:stCxn id="5" idx="0"/>
            <a:endCxn id="4" idx="2"/>
          </p:cNvCxnSpPr>
          <p:nvPr/>
        </p:nvCxnSpPr>
        <p:spPr>
          <a:xfrm flipV="1">
            <a:off x="4824028" y="206084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>
            <a:stCxn id="8" idx="2"/>
            <a:endCxn id="6" idx="1"/>
          </p:cNvCxnSpPr>
          <p:nvPr/>
        </p:nvCxnSpPr>
        <p:spPr>
          <a:xfrm rot="16200000" flipH="1">
            <a:off x="4188669" y="3729744"/>
            <a:ext cx="586643" cy="1188132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k 27"/>
          <p:cNvCxnSpPr>
            <a:stCxn id="9" idx="3"/>
            <a:endCxn id="8" idx="1"/>
          </p:cNvCxnSpPr>
          <p:nvPr/>
        </p:nvCxnSpPr>
        <p:spPr>
          <a:xfrm>
            <a:off x="2627784" y="3706453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ktangel 31"/>
          <p:cNvSpPr/>
          <p:nvPr/>
        </p:nvSpPr>
        <p:spPr>
          <a:xfrm>
            <a:off x="5076056" y="522920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Context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39" name="Rak 38"/>
          <p:cNvCxnSpPr>
            <a:stCxn id="7" idx="0"/>
            <a:endCxn id="32" idx="2"/>
          </p:cNvCxnSpPr>
          <p:nvPr/>
        </p:nvCxnSpPr>
        <p:spPr>
          <a:xfrm flipV="1">
            <a:off x="5760132" y="5877272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k 16"/>
          <p:cNvCxnSpPr>
            <a:stCxn id="8" idx="0"/>
            <a:endCxn id="5" idx="2"/>
          </p:cNvCxnSpPr>
          <p:nvPr/>
        </p:nvCxnSpPr>
        <p:spPr>
          <a:xfrm rot="5400000" flipH="1" flipV="1">
            <a:off x="4163244" y="2721633"/>
            <a:ext cx="385465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åge 25"/>
          <p:cNvSpPr/>
          <p:nvPr/>
        </p:nvSpPr>
        <p:spPr>
          <a:xfrm rot="5400000">
            <a:off x="5309837" y="2108566"/>
            <a:ext cx="396534" cy="428346"/>
          </a:xfrm>
          <a:prstGeom prst="arc">
            <a:avLst>
              <a:gd name="adj1" fmla="val 5159243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ktangel 28"/>
          <p:cNvSpPr/>
          <p:nvPr/>
        </p:nvSpPr>
        <p:spPr>
          <a:xfrm>
            <a:off x="5076056" y="3386609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</a:rPr>
              <a:t>Conceptual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40" name="Rak 16"/>
          <p:cNvCxnSpPr>
            <a:stCxn id="29" idx="0"/>
            <a:endCxn id="5" idx="2"/>
          </p:cNvCxnSpPr>
          <p:nvPr/>
        </p:nvCxnSpPr>
        <p:spPr>
          <a:xfrm rot="16200000" flipV="1">
            <a:off x="5097252" y="2723729"/>
            <a:ext cx="389657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1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Examples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smtClean="0"/>
              <a:t>Swedish population register</a:t>
            </a:r>
          </a:p>
          <a:p>
            <a:pPr lvl="1"/>
            <a:r>
              <a:rPr lang="sv-SE" dirty="0" smtClean="0"/>
              <a:t>Population register 2014: </a:t>
            </a:r>
            <a:r>
              <a:rPr lang="sv-SE" dirty="0"/>
              <a:t>Age</a:t>
            </a:r>
          </a:p>
          <a:p>
            <a:pPr lvl="2"/>
            <a:r>
              <a:rPr lang="sv-SE" dirty="0" smtClean="0"/>
              <a:t>Statistical </a:t>
            </a:r>
            <a:r>
              <a:rPr lang="sv-SE" dirty="0" err="1" smtClean="0"/>
              <a:t>unit</a:t>
            </a:r>
            <a:r>
              <a:rPr lang="sv-SE" dirty="0" smtClean="0"/>
              <a:t>: Person</a:t>
            </a:r>
          </a:p>
          <a:p>
            <a:pPr lvl="2"/>
            <a:r>
              <a:rPr lang="sv-SE" dirty="0" err="1" smtClean="0"/>
              <a:t>Variable</a:t>
            </a:r>
            <a:r>
              <a:rPr lang="sv-SE" dirty="0" smtClean="0"/>
              <a:t>: Age</a:t>
            </a:r>
          </a:p>
          <a:p>
            <a:pPr lvl="2"/>
            <a:r>
              <a:rPr lang="sv-SE" dirty="0" err="1" smtClean="0"/>
              <a:t>Value</a:t>
            </a:r>
            <a:r>
              <a:rPr lang="sv-SE" dirty="0" smtClean="0"/>
              <a:t> </a:t>
            </a:r>
            <a:r>
              <a:rPr lang="sv-SE" dirty="0" err="1" smtClean="0"/>
              <a:t>domain</a:t>
            </a:r>
            <a:r>
              <a:rPr lang="sv-SE" dirty="0" smtClean="0"/>
              <a:t>: </a:t>
            </a:r>
            <a:r>
              <a:rPr lang="sv-SE" dirty="0" err="1" smtClean="0"/>
              <a:t>One</a:t>
            </a:r>
            <a:r>
              <a:rPr lang="sv-SE" dirty="0" smtClean="0"/>
              <a:t> </a:t>
            </a:r>
            <a:r>
              <a:rPr lang="sv-SE" dirty="0" err="1" smtClean="0"/>
              <a:t>year</a:t>
            </a:r>
            <a:r>
              <a:rPr lang="sv-SE" dirty="0" smtClean="0"/>
              <a:t> </a:t>
            </a:r>
            <a:r>
              <a:rPr lang="sv-SE" dirty="0" err="1" smtClean="0"/>
              <a:t>classes</a:t>
            </a:r>
            <a:endParaRPr lang="sv-SE" dirty="0" smtClean="0"/>
          </a:p>
          <a:p>
            <a:pPr marL="914400" lvl="2" indent="0">
              <a:buNone/>
            </a:pPr>
            <a:r>
              <a:rPr lang="sv-SE" u="sng" dirty="0" err="1" smtClean="0"/>
              <a:t>Represented</a:t>
            </a:r>
            <a:r>
              <a:rPr lang="sv-SE" u="sng" dirty="0" smtClean="0"/>
              <a:t> </a:t>
            </a:r>
            <a:r>
              <a:rPr lang="sv-SE" u="sng" dirty="0" err="1" smtClean="0"/>
              <a:t>variable</a:t>
            </a:r>
            <a:r>
              <a:rPr lang="sv-SE" u="sng" dirty="0" smtClean="0"/>
              <a:t>: Person Age 2014 in </a:t>
            </a:r>
            <a:r>
              <a:rPr lang="sv-SE" u="sng" dirty="0" err="1" smtClean="0"/>
              <a:t>one</a:t>
            </a:r>
            <a:r>
              <a:rPr lang="sv-SE" u="sng" dirty="0" smtClean="0"/>
              <a:t> </a:t>
            </a:r>
            <a:r>
              <a:rPr lang="sv-SE" u="sng" dirty="0" err="1" smtClean="0"/>
              <a:t>year</a:t>
            </a:r>
            <a:r>
              <a:rPr lang="sv-SE" u="sng" dirty="0" smtClean="0"/>
              <a:t> </a:t>
            </a:r>
            <a:r>
              <a:rPr lang="sv-SE" u="sng" dirty="0" err="1" smtClean="0"/>
              <a:t>classes</a:t>
            </a:r>
            <a:endParaRPr lang="sv-SE" u="sng" dirty="0" smtClean="0"/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7221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/>
              <a:t>A</a:t>
            </a:r>
            <a:r>
              <a:rPr lang="sv-SE" dirty="0" smtClean="0"/>
              <a:t>ge, population register 2014</a:t>
            </a:r>
            <a:endParaRPr lang="sv-SE" dirty="0"/>
          </a:p>
        </p:txBody>
      </p:sp>
      <p:sp>
        <p:nvSpPr>
          <p:cNvPr id="4" name="Rektangel 3"/>
          <p:cNvSpPr/>
          <p:nvPr/>
        </p:nvSpPr>
        <p:spPr>
          <a:xfrm>
            <a:off x="4139952" y="141277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</a:t>
            </a:r>
            <a:r>
              <a:rPr lang="sv-SE" dirty="0">
                <a:solidFill>
                  <a:schemeClr val="tx1"/>
                </a:solidFill>
              </a:rPr>
              <a:t> systems</a:t>
            </a:r>
          </a:p>
        </p:txBody>
      </p:sp>
      <p:sp>
        <p:nvSpPr>
          <p:cNvPr id="5" name="Rektangel 4"/>
          <p:cNvSpPr/>
          <p:nvPr/>
        </p:nvSpPr>
        <p:spPr>
          <a:xfrm>
            <a:off x="4139952" y="234888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6" name="Rektangel 5"/>
          <p:cNvSpPr/>
          <p:nvPr/>
        </p:nvSpPr>
        <p:spPr>
          <a:xfrm>
            <a:off x="5076056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Represented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7" name="Rektangel 6"/>
          <p:cNvSpPr/>
          <p:nvPr/>
        </p:nvSpPr>
        <p:spPr>
          <a:xfrm>
            <a:off x="5076056" y="6165304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Instance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/>
        </p:nvSpPr>
        <p:spPr>
          <a:xfrm>
            <a:off x="3203848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Unit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" name="Rektangel 8"/>
          <p:cNvSpPr/>
          <p:nvPr/>
        </p:nvSpPr>
        <p:spPr>
          <a:xfrm>
            <a:off x="1259632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Relation </a:t>
            </a:r>
            <a:r>
              <a:rPr lang="sv-SE" dirty="0" err="1">
                <a:solidFill>
                  <a:schemeClr val="tx1"/>
                </a:solidFill>
              </a:rPr>
              <a:t>to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Unit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7020272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Value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domain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11" name="Rak 10"/>
          <p:cNvCxnSpPr>
            <a:stCxn id="6" idx="3"/>
            <a:endCxn id="10" idx="1"/>
          </p:cNvCxnSpPr>
          <p:nvPr/>
        </p:nvCxnSpPr>
        <p:spPr>
          <a:xfrm>
            <a:off x="6444208" y="4617132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11"/>
          <p:cNvCxnSpPr>
            <a:stCxn id="6" idx="0"/>
            <a:endCxn id="29" idx="2"/>
          </p:cNvCxnSpPr>
          <p:nvPr/>
        </p:nvCxnSpPr>
        <p:spPr>
          <a:xfrm flipV="1">
            <a:off x="5760132" y="4034681"/>
            <a:ext cx="0" cy="2584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>
            <a:stCxn id="32" idx="0"/>
            <a:endCxn id="6" idx="2"/>
          </p:cNvCxnSpPr>
          <p:nvPr/>
        </p:nvCxnSpPr>
        <p:spPr>
          <a:xfrm flipV="1">
            <a:off x="5760132" y="494116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>
            <a:stCxn id="5" idx="0"/>
            <a:endCxn id="4" idx="2"/>
          </p:cNvCxnSpPr>
          <p:nvPr/>
        </p:nvCxnSpPr>
        <p:spPr>
          <a:xfrm flipV="1">
            <a:off x="4824028" y="206084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>
            <a:stCxn id="8" idx="2"/>
            <a:endCxn id="6" idx="1"/>
          </p:cNvCxnSpPr>
          <p:nvPr/>
        </p:nvCxnSpPr>
        <p:spPr>
          <a:xfrm rot="16200000" flipH="1">
            <a:off x="4188669" y="3729744"/>
            <a:ext cx="586643" cy="1188132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k 27"/>
          <p:cNvCxnSpPr>
            <a:stCxn id="9" idx="3"/>
            <a:endCxn id="8" idx="1"/>
          </p:cNvCxnSpPr>
          <p:nvPr/>
        </p:nvCxnSpPr>
        <p:spPr>
          <a:xfrm>
            <a:off x="2627784" y="3706453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ktangel 31"/>
          <p:cNvSpPr/>
          <p:nvPr/>
        </p:nvSpPr>
        <p:spPr>
          <a:xfrm>
            <a:off x="5076056" y="522920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Context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39" name="Rak 38"/>
          <p:cNvCxnSpPr>
            <a:stCxn id="7" idx="0"/>
            <a:endCxn id="32" idx="2"/>
          </p:cNvCxnSpPr>
          <p:nvPr/>
        </p:nvCxnSpPr>
        <p:spPr>
          <a:xfrm flipV="1">
            <a:off x="5760132" y="5877272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k 16"/>
          <p:cNvCxnSpPr>
            <a:stCxn id="8" idx="0"/>
            <a:endCxn id="5" idx="2"/>
          </p:cNvCxnSpPr>
          <p:nvPr/>
        </p:nvCxnSpPr>
        <p:spPr>
          <a:xfrm rot="5400000" flipH="1" flipV="1">
            <a:off x="4163244" y="2721633"/>
            <a:ext cx="385465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åge 25"/>
          <p:cNvSpPr/>
          <p:nvPr/>
        </p:nvSpPr>
        <p:spPr>
          <a:xfrm rot="5400000">
            <a:off x="5309837" y="2108566"/>
            <a:ext cx="396534" cy="428346"/>
          </a:xfrm>
          <a:prstGeom prst="arc">
            <a:avLst>
              <a:gd name="adj1" fmla="val 5159243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ktangel 28"/>
          <p:cNvSpPr/>
          <p:nvPr/>
        </p:nvSpPr>
        <p:spPr>
          <a:xfrm>
            <a:off x="5076056" y="3386609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</a:rPr>
              <a:t>Conceptual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40" name="Rak 16"/>
          <p:cNvCxnSpPr>
            <a:stCxn id="29" idx="0"/>
            <a:endCxn id="5" idx="2"/>
          </p:cNvCxnSpPr>
          <p:nvPr/>
        </p:nvCxnSpPr>
        <p:spPr>
          <a:xfrm rot="16200000" flipV="1">
            <a:off x="5097252" y="2723729"/>
            <a:ext cx="389657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ktangel 21"/>
          <p:cNvSpPr/>
          <p:nvPr/>
        </p:nvSpPr>
        <p:spPr>
          <a:xfrm>
            <a:off x="3316265" y="2555612"/>
            <a:ext cx="823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Person</a:t>
            </a:r>
          </a:p>
        </p:txBody>
      </p:sp>
      <p:sp>
        <p:nvSpPr>
          <p:cNvPr id="23" name="Rektangel 22"/>
          <p:cNvSpPr/>
          <p:nvPr/>
        </p:nvSpPr>
        <p:spPr>
          <a:xfrm>
            <a:off x="5508104" y="2564904"/>
            <a:ext cx="54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Age</a:t>
            </a:r>
          </a:p>
        </p:txBody>
      </p:sp>
      <p:sp>
        <p:nvSpPr>
          <p:cNvPr id="24" name="Rektangel 23"/>
          <p:cNvSpPr/>
          <p:nvPr/>
        </p:nvSpPr>
        <p:spPr>
          <a:xfrm>
            <a:off x="6942905" y="4931876"/>
            <a:ext cx="17335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>
                <a:solidFill>
                  <a:srgbClr val="FF0000"/>
                </a:solidFill>
              </a:rPr>
              <a:t>One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>
                <a:solidFill>
                  <a:srgbClr val="FF0000"/>
                </a:solidFill>
              </a:rPr>
              <a:t>year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>
                <a:solidFill>
                  <a:srgbClr val="FF0000"/>
                </a:solidFill>
              </a:rPr>
              <a:t>classes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27" name="Rektangel 26"/>
          <p:cNvSpPr/>
          <p:nvPr/>
        </p:nvSpPr>
        <p:spPr>
          <a:xfrm>
            <a:off x="3100241" y="4005064"/>
            <a:ext cx="823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Person</a:t>
            </a:r>
          </a:p>
        </p:txBody>
      </p:sp>
      <p:sp>
        <p:nvSpPr>
          <p:cNvPr id="3" name="Rektangel 2"/>
          <p:cNvSpPr/>
          <p:nvPr/>
        </p:nvSpPr>
        <p:spPr>
          <a:xfrm>
            <a:off x="1691680" y="5147900"/>
            <a:ext cx="283391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sv-SE" dirty="0" smtClean="0">
                <a:solidFill>
                  <a:srgbClr val="FF0000"/>
                </a:solidFill>
              </a:rPr>
              <a:t>Person Age </a:t>
            </a:r>
            <a:r>
              <a:rPr lang="sv-SE" dirty="0" err="1">
                <a:solidFill>
                  <a:srgbClr val="FF0000"/>
                </a:solidFill>
              </a:rPr>
              <a:t>One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>
                <a:solidFill>
                  <a:srgbClr val="FF0000"/>
                </a:solidFill>
              </a:rPr>
              <a:t>year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 smtClean="0">
                <a:solidFill>
                  <a:srgbClr val="FF0000"/>
                </a:solidFill>
              </a:rPr>
              <a:t>classes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17" name="Rak 16"/>
          <p:cNvCxnSpPr/>
          <p:nvPr/>
        </p:nvCxnSpPr>
        <p:spPr>
          <a:xfrm flipV="1">
            <a:off x="4572000" y="4797152"/>
            <a:ext cx="432048" cy="4320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ktangel 29"/>
          <p:cNvSpPr/>
          <p:nvPr/>
        </p:nvSpPr>
        <p:spPr>
          <a:xfrm>
            <a:off x="6588224" y="3521787"/>
            <a:ext cx="54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115758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3" grpId="0" animBg="1"/>
      <p:bldP spid="3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Examples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smtClean="0"/>
              <a:t>Swedish population register</a:t>
            </a:r>
          </a:p>
          <a:p>
            <a:pPr lvl="1"/>
            <a:r>
              <a:rPr lang="sv-SE" dirty="0" smtClean="0"/>
              <a:t>Deaths 2014: Age at the event</a:t>
            </a:r>
            <a:endParaRPr lang="sv-SE" dirty="0"/>
          </a:p>
          <a:p>
            <a:pPr lvl="2"/>
            <a:r>
              <a:rPr lang="sv-SE" dirty="0"/>
              <a:t>Statistical </a:t>
            </a:r>
            <a:r>
              <a:rPr lang="sv-SE" dirty="0" err="1"/>
              <a:t>unit</a:t>
            </a:r>
            <a:r>
              <a:rPr lang="sv-SE" dirty="0"/>
              <a:t>: </a:t>
            </a:r>
            <a:r>
              <a:rPr lang="sv-SE" dirty="0" smtClean="0"/>
              <a:t>Death (Person </a:t>
            </a:r>
            <a:r>
              <a:rPr lang="sv-SE" dirty="0" err="1" smtClean="0"/>
              <a:t>related</a:t>
            </a:r>
            <a:r>
              <a:rPr lang="sv-SE" dirty="0" smtClean="0"/>
              <a:t> event)</a:t>
            </a:r>
            <a:endParaRPr lang="sv-SE" dirty="0"/>
          </a:p>
          <a:p>
            <a:pPr lvl="2"/>
            <a:r>
              <a:rPr lang="sv-SE" dirty="0" err="1"/>
              <a:t>Variable</a:t>
            </a:r>
            <a:r>
              <a:rPr lang="sv-SE" dirty="0"/>
              <a:t>: Age</a:t>
            </a:r>
          </a:p>
          <a:p>
            <a:pPr lvl="2"/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domain</a:t>
            </a:r>
            <a:r>
              <a:rPr lang="sv-SE" dirty="0"/>
              <a:t>: </a:t>
            </a:r>
            <a:r>
              <a:rPr lang="sv-SE" dirty="0" err="1"/>
              <a:t>One</a:t>
            </a:r>
            <a:r>
              <a:rPr lang="sv-SE" dirty="0"/>
              <a:t>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classes</a:t>
            </a:r>
            <a:endParaRPr lang="sv-SE" dirty="0"/>
          </a:p>
          <a:p>
            <a:pPr marL="914400" lvl="2" indent="0">
              <a:buNone/>
            </a:pPr>
            <a:r>
              <a:rPr lang="sv-SE" u="sng" dirty="0" err="1"/>
              <a:t>Represented</a:t>
            </a:r>
            <a:r>
              <a:rPr lang="sv-SE" u="sng" dirty="0"/>
              <a:t> </a:t>
            </a:r>
            <a:r>
              <a:rPr lang="sv-SE" u="sng" dirty="0" err="1"/>
              <a:t>variable</a:t>
            </a:r>
            <a:r>
              <a:rPr lang="sv-SE" u="sng" dirty="0"/>
              <a:t>: Person Age </a:t>
            </a:r>
            <a:r>
              <a:rPr lang="sv-SE" u="sng" dirty="0" smtClean="0"/>
              <a:t>at Death 2014 </a:t>
            </a:r>
            <a:r>
              <a:rPr lang="sv-SE" u="sng" dirty="0"/>
              <a:t>in </a:t>
            </a:r>
            <a:r>
              <a:rPr lang="sv-SE" u="sng" dirty="0" err="1"/>
              <a:t>one</a:t>
            </a:r>
            <a:r>
              <a:rPr lang="sv-SE" u="sng" dirty="0"/>
              <a:t> </a:t>
            </a:r>
            <a:r>
              <a:rPr lang="sv-SE" u="sng" dirty="0" err="1"/>
              <a:t>year</a:t>
            </a:r>
            <a:r>
              <a:rPr lang="sv-SE" u="sng" dirty="0"/>
              <a:t> </a:t>
            </a:r>
            <a:r>
              <a:rPr lang="sv-SE" u="sng" dirty="0" err="1"/>
              <a:t>classes</a:t>
            </a:r>
            <a:endParaRPr lang="sv-SE" u="sng" dirty="0"/>
          </a:p>
          <a:p>
            <a:pPr lvl="1"/>
            <a:endParaRPr lang="sv-SE" dirty="0" smtClean="0"/>
          </a:p>
        </p:txBody>
      </p:sp>
    </p:spTree>
    <p:extLst>
      <p:ext uri="{BB962C8B-B14F-4D97-AF65-F5344CB8AC3E}">
        <p14:creationId xmlns:p14="http://schemas.microsoft.com/office/powerpoint/2010/main" val="956252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 smtClean="0"/>
              <a:t>Mothers</a:t>
            </a:r>
            <a:r>
              <a:rPr lang="sv-SE" dirty="0" smtClean="0"/>
              <a:t> age </a:t>
            </a:r>
            <a:r>
              <a:rPr lang="sv-SE" dirty="0"/>
              <a:t>population register 2014</a:t>
            </a:r>
          </a:p>
        </p:txBody>
      </p:sp>
      <p:sp>
        <p:nvSpPr>
          <p:cNvPr id="4" name="Rektangel 3"/>
          <p:cNvSpPr/>
          <p:nvPr/>
        </p:nvSpPr>
        <p:spPr>
          <a:xfrm>
            <a:off x="4139952" y="141277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</a:t>
            </a:r>
            <a:r>
              <a:rPr lang="sv-SE" dirty="0">
                <a:solidFill>
                  <a:schemeClr val="tx1"/>
                </a:solidFill>
              </a:rPr>
              <a:t> systems</a:t>
            </a:r>
          </a:p>
        </p:txBody>
      </p:sp>
      <p:sp>
        <p:nvSpPr>
          <p:cNvPr id="5" name="Rektangel 4"/>
          <p:cNvSpPr/>
          <p:nvPr/>
        </p:nvSpPr>
        <p:spPr>
          <a:xfrm>
            <a:off x="4139952" y="234888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6" name="Rektangel 5"/>
          <p:cNvSpPr/>
          <p:nvPr/>
        </p:nvSpPr>
        <p:spPr>
          <a:xfrm>
            <a:off x="5076056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Represented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7" name="Rektangel 6"/>
          <p:cNvSpPr/>
          <p:nvPr/>
        </p:nvSpPr>
        <p:spPr>
          <a:xfrm>
            <a:off x="5076056" y="6165304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Instance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/>
        </p:nvSpPr>
        <p:spPr>
          <a:xfrm>
            <a:off x="3203848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Unit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" name="Rektangel 8"/>
          <p:cNvSpPr/>
          <p:nvPr/>
        </p:nvSpPr>
        <p:spPr>
          <a:xfrm>
            <a:off x="1259632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Relation </a:t>
            </a:r>
            <a:r>
              <a:rPr lang="sv-SE" dirty="0" err="1">
                <a:solidFill>
                  <a:schemeClr val="tx1"/>
                </a:solidFill>
              </a:rPr>
              <a:t>to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Unit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7020272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Value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domain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11" name="Rak 10"/>
          <p:cNvCxnSpPr>
            <a:stCxn id="6" idx="3"/>
            <a:endCxn id="10" idx="1"/>
          </p:cNvCxnSpPr>
          <p:nvPr/>
        </p:nvCxnSpPr>
        <p:spPr>
          <a:xfrm>
            <a:off x="6444208" y="4617132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11"/>
          <p:cNvCxnSpPr>
            <a:stCxn id="6" idx="0"/>
            <a:endCxn id="29" idx="2"/>
          </p:cNvCxnSpPr>
          <p:nvPr/>
        </p:nvCxnSpPr>
        <p:spPr>
          <a:xfrm flipV="1">
            <a:off x="5760132" y="4034681"/>
            <a:ext cx="0" cy="2584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>
            <a:stCxn id="32" idx="0"/>
            <a:endCxn id="6" idx="2"/>
          </p:cNvCxnSpPr>
          <p:nvPr/>
        </p:nvCxnSpPr>
        <p:spPr>
          <a:xfrm flipV="1">
            <a:off x="5760132" y="494116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>
            <a:stCxn id="5" idx="0"/>
            <a:endCxn id="4" idx="2"/>
          </p:cNvCxnSpPr>
          <p:nvPr/>
        </p:nvCxnSpPr>
        <p:spPr>
          <a:xfrm flipV="1">
            <a:off x="4824028" y="206084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>
            <a:stCxn id="8" idx="2"/>
            <a:endCxn id="6" idx="1"/>
          </p:cNvCxnSpPr>
          <p:nvPr/>
        </p:nvCxnSpPr>
        <p:spPr>
          <a:xfrm rot="16200000" flipH="1">
            <a:off x="4188669" y="3729744"/>
            <a:ext cx="586643" cy="1188132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k 27"/>
          <p:cNvCxnSpPr>
            <a:stCxn id="9" idx="3"/>
            <a:endCxn id="8" idx="1"/>
          </p:cNvCxnSpPr>
          <p:nvPr/>
        </p:nvCxnSpPr>
        <p:spPr>
          <a:xfrm>
            <a:off x="2627784" y="3706453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ktangel 31"/>
          <p:cNvSpPr/>
          <p:nvPr/>
        </p:nvSpPr>
        <p:spPr>
          <a:xfrm>
            <a:off x="5076056" y="522920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Context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39" name="Rak 38"/>
          <p:cNvCxnSpPr>
            <a:stCxn id="7" idx="0"/>
            <a:endCxn id="32" idx="2"/>
          </p:cNvCxnSpPr>
          <p:nvPr/>
        </p:nvCxnSpPr>
        <p:spPr>
          <a:xfrm flipV="1">
            <a:off x="5760132" y="5877272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k 16"/>
          <p:cNvCxnSpPr>
            <a:stCxn id="8" idx="0"/>
            <a:endCxn id="5" idx="2"/>
          </p:cNvCxnSpPr>
          <p:nvPr/>
        </p:nvCxnSpPr>
        <p:spPr>
          <a:xfrm rot="5400000" flipH="1" flipV="1">
            <a:off x="4163244" y="2721633"/>
            <a:ext cx="385465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åge 25"/>
          <p:cNvSpPr/>
          <p:nvPr/>
        </p:nvSpPr>
        <p:spPr>
          <a:xfrm rot="5400000">
            <a:off x="5309837" y="2108566"/>
            <a:ext cx="396534" cy="428346"/>
          </a:xfrm>
          <a:prstGeom prst="arc">
            <a:avLst>
              <a:gd name="adj1" fmla="val 5159243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ktangel 28"/>
          <p:cNvSpPr/>
          <p:nvPr/>
        </p:nvSpPr>
        <p:spPr>
          <a:xfrm>
            <a:off x="5076056" y="3386609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</a:rPr>
              <a:t>Conceptual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40" name="Rak 16"/>
          <p:cNvCxnSpPr>
            <a:stCxn id="29" idx="0"/>
            <a:endCxn id="5" idx="2"/>
          </p:cNvCxnSpPr>
          <p:nvPr/>
        </p:nvCxnSpPr>
        <p:spPr>
          <a:xfrm rot="16200000" flipV="1">
            <a:off x="5097252" y="2723729"/>
            <a:ext cx="389657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ktangel 21"/>
          <p:cNvSpPr/>
          <p:nvPr/>
        </p:nvSpPr>
        <p:spPr>
          <a:xfrm>
            <a:off x="3316265" y="2555612"/>
            <a:ext cx="823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Person</a:t>
            </a:r>
          </a:p>
        </p:txBody>
      </p:sp>
      <p:sp>
        <p:nvSpPr>
          <p:cNvPr id="23" name="Rektangel 22"/>
          <p:cNvSpPr/>
          <p:nvPr/>
        </p:nvSpPr>
        <p:spPr>
          <a:xfrm>
            <a:off x="5508104" y="2564904"/>
            <a:ext cx="54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Age</a:t>
            </a:r>
          </a:p>
        </p:txBody>
      </p:sp>
      <p:sp>
        <p:nvSpPr>
          <p:cNvPr id="24" name="Rektangel 23"/>
          <p:cNvSpPr/>
          <p:nvPr/>
        </p:nvSpPr>
        <p:spPr>
          <a:xfrm>
            <a:off x="6942905" y="4931876"/>
            <a:ext cx="17335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>
                <a:solidFill>
                  <a:srgbClr val="FF0000"/>
                </a:solidFill>
              </a:rPr>
              <a:t>One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>
                <a:solidFill>
                  <a:srgbClr val="FF0000"/>
                </a:solidFill>
              </a:rPr>
              <a:t>year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>
                <a:solidFill>
                  <a:srgbClr val="FF0000"/>
                </a:solidFill>
              </a:rPr>
              <a:t>classes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27" name="Rektangel 26"/>
          <p:cNvSpPr/>
          <p:nvPr/>
        </p:nvSpPr>
        <p:spPr>
          <a:xfrm>
            <a:off x="1531864" y="4108430"/>
            <a:ext cx="7500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>
                <a:solidFill>
                  <a:srgbClr val="FF0000"/>
                </a:solidFill>
              </a:rPr>
              <a:t>Death</a:t>
            </a:r>
            <a:endParaRPr lang="sv-SE" dirty="0">
              <a:solidFill>
                <a:srgbClr val="FF0000"/>
              </a:solidFill>
            </a:endParaRPr>
          </a:p>
        </p:txBody>
      </p:sp>
      <p:cxnSp>
        <p:nvCxnSpPr>
          <p:cNvPr id="17" name="Rak 16"/>
          <p:cNvCxnSpPr/>
          <p:nvPr/>
        </p:nvCxnSpPr>
        <p:spPr>
          <a:xfrm flipV="1">
            <a:off x="4572000" y="4797152"/>
            <a:ext cx="432048" cy="4320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ktangel 29"/>
          <p:cNvSpPr/>
          <p:nvPr/>
        </p:nvSpPr>
        <p:spPr>
          <a:xfrm>
            <a:off x="6588224" y="3521787"/>
            <a:ext cx="540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Age</a:t>
            </a:r>
          </a:p>
        </p:txBody>
      </p:sp>
      <p:sp>
        <p:nvSpPr>
          <p:cNvPr id="3" name="Rektangel 2"/>
          <p:cNvSpPr/>
          <p:nvPr/>
        </p:nvSpPr>
        <p:spPr>
          <a:xfrm>
            <a:off x="1691680" y="5147900"/>
            <a:ext cx="294728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sv-SE" dirty="0" smtClean="0">
                <a:solidFill>
                  <a:srgbClr val="FF0000"/>
                </a:solidFill>
              </a:rPr>
              <a:t>Age at </a:t>
            </a:r>
            <a:r>
              <a:rPr lang="sv-SE" dirty="0" err="1" smtClean="0">
                <a:solidFill>
                  <a:srgbClr val="FF0000"/>
                </a:solidFill>
              </a:rPr>
              <a:t>death</a:t>
            </a:r>
            <a:r>
              <a:rPr lang="sv-SE" dirty="0" smtClean="0">
                <a:solidFill>
                  <a:srgbClr val="FF0000"/>
                </a:solidFill>
              </a:rPr>
              <a:t> </a:t>
            </a:r>
            <a:r>
              <a:rPr lang="sv-SE" dirty="0" err="1" smtClean="0">
                <a:solidFill>
                  <a:srgbClr val="FF0000"/>
                </a:solidFill>
              </a:rPr>
              <a:t>one</a:t>
            </a:r>
            <a:r>
              <a:rPr lang="sv-SE" dirty="0" smtClean="0">
                <a:solidFill>
                  <a:srgbClr val="FF0000"/>
                </a:solidFill>
              </a:rPr>
              <a:t> </a:t>
            </a:r>
            <a:r>
              <a:rPr lang="sv-SE" dirty="0" err="1">
                <a:solidFill>
                  <a:srgbClr val="FF0000"/>
                </a:solidFill>
              </a:rPr>
              <a:t>year</a:t>
            </a:r>
            <a:r>
              <a:rPr lang="sv-SE" dirty="0">
                <a:solidFill>
                  <a:srgbClr val="FF0000"/>
                </a:solidFill>
              </a:rPr>
              <a:t> </a:t>
            </a:r>
            <a:r>
              <a:rPr lang="sv-SE" dirty="0" err="1" smtClean="0">
                <a:solidFill>
                  <a:srgbClr val="FF0000"/>
                </a:solidFill>
              </a:rPr>
              <a:t>classes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98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30" grpId="0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Examples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smtClean="0"/>
              <a:t>Short </a:t>
            </a:r>
            <a:r>
              <a:rPr lang="sv-SE" dirty="0"/>
              <a:t>term business statistics </a:t>
            </a:r>
            <a:r>
              <a:rPr lang="sv-SE" dirty="0" smtClean="0"/>
              <a:t>2014</a:t>
            </a:r>
          </a:p>
          <a:p>
            <a:pPr lvl="2"/>
            <a:r>
              <a:rPr lang="sv-SE" dirty="0"/>
              <a:t>Statistical </a:t>
            </a:r>
            <a:r>
              <a:rPr lang="sv-SE" dirty="0" err="1"/>
              <a:t>unit</a:t>
            </a:r>
            <a:r>
              <a:rPr lang="sv-SE" dirty="0"/>
              <a:t>: </a:t>
            </a:r>
            <a:r>
              <a:rPr lang="sv-SE" dirty="0" smtClean="0"/>
              <a:t>Enterprise</a:t>
            </a:r>
            <a:endParaRPr lang="sv-SE" dirty="0"/>
          </a:p>
          <a:p>
            <a:pPr lvl="2"/>
            <a:r>
              <a:rPr lang="sv-SE" dirty="0" err="1"/>
              <a:t>Variable</a:t>
            </a:r>
            <a:r>
              <a:rPr lang="sv-SE" dirty="0"/>
              <a:t>: </a:t>
            </a:r>
            <a:r>
              <a:rPr lang="sv-SE" dirty="0" err="1" smtClean="0"/>
              <a:t>Turnover</a:t>
            </a:r>
            <a:endParaRPr lang="sv-SE" dirty="0"/>
          </a:p>
          <a:p>
            <a:pPr lvl="2"/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domain</a:t>
            </a:r>
            <a:r>
              <a:rPr lang="sv-SE" dirty="0"/>
              <a:t>: </a:t>
            </a:r>
            <a:r>
              <a:rPr lang="sv-SE" dirty="0" err="1" smtClean="0"/>
              <a:t>Thousands</a:t>
            </a:r>
            <a:r>
              <a:rPr lang="sv-SE" dirty="0" smtClean="0"/>
              <a:t> SEK</a:t>
            </a:r>
            <a:endParaRPr lang="sv-SE" dirty="0"/>
          </a:p>
          <a:p>
            <a:pPr marL="914400" lvl="2" indent="0">
              <a:buNone/>
            </a:pPr>
            <a:r>
              <a:rPr lang="sv-SE" u="sng" dirty="0" err="1"/>
              <a:t>Represented</a:t>
            </a:r>
            <a:r>
              <a:rPr lang="sv-SE" u="sng" dirty="0"/>
              <a:t> </a:t>
            </a:r>
            <a:r>
              <a:rPr lang="sv-SE" u="sng" dirty="0" err="1"/>
              <a:t>variable</a:t>
            </a:r>
            <a:r>
              <a:rPr lang="sv-SE" u="sng" dirty="0"/>
              <a:t>: Enterprise 2014 in </a:t>
            </a:r>
            <a:r>
              <a:rPr lang="sv-SE" u="sng" dirty="0" err="1"/>
              <a:t>Thousands</a:t>
            </a:r>
            <a:r>
              <a:rPr lang="sv-SE" u="sng" dirty="0"/>
              <a:t> SEK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484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err="1" smtClean="0"/>
              <a:t>Turnover</a:t>
            </a:r>
            <a:r>
              <a:rPr lang="sv-SE" dirty="0" smtClean="0"/>
              <a:t> short term business statistics 2014</a:t>
            </a:r>
            <a:endParaRPr lang="sv-SE" dirty="0"/>
          </a:p>
        </p:txBody>
      </p:sp>
      <p:sp>
        <p:nvSpPr>
          <p:cNvPr id="4" name="Rektangel 3"/>
          <p:cNvSpPr/>
          <p:nvPr/>
        </p:nvSpPr>
        <p:spPr>
          <a:xfrm>
            <a:off x="4139952" y="141277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</a:t>
            </a:r>
            <a:r>
              <a:rPr lang="sv-SE" dirty="0">
                <a:solidFill>
                  <a:schemeClr val="tx1"/>
                </a:solidFill>
              </a:rPr>
              <a:t> systems</a:t>
            </a:r>
          </a:p>
        </p:txBody>
      </p:sp>
      <p:sp>
        <p:nvSpPr>
          <p:cNvPr id="5" name="Rektangel 4"/>
          <p:cNvSpPr/>
          <p:nvPr/>
        </p:nvSpPr>
        <p:spPr>
          <a:xfrm>
            <a:off x="4139952" y="234888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6" name="Rektangel 5"/>
          <p:cNvSpPr/>
          <p:nvPr/>
        </p:nvSpPr>
        <p:spPr>
          <a:xfrm>
            <a:off x="5076056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Represented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7" name="Rektangel 6"/>
          <p:cNvSpPr/>
          <p:nvPr/>
        </p:nvSpPr>
        <p:spPr>
          <a:xfrm>
            <a:off x="5076056" y="6165304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Instance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/>
        </p:nvSpPr>
        <p:spPr>
          <a:xfrm>
            <a:off x="3203848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Unit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" name="Rektangel 8"/>
          <p:cNvSpPr/>
          <p:nvPr/>
        </p:nvSpPr>
        <p:spPr>
          <a:xfrm>
            <a:off x="1259632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Relation </a:t>
            </a:r>
            <a:r>
              <a:rPr lang="sv-SE" dirty="0" err="1">
                <a:solidFill>
                  <a:schemeClr val="tx1"/>
                </a:solidFill>
              </a:rPr>
              <a:t>to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Unit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7020272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Value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domain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11" name="Rak 10"/>
          <p:cNvCxnSpPr>
            <a:stCxn id="6" idx="3"/>
            <a:endCxn id="10" idx="1"/>
          </p:cNvCxnSpPr>
          <p:nvPr/>
        </p:nvCxnSpPr>
        <p:spPr>
          <a:xfrm>
            <a:off x="6444208" y="4617132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11"/>
          <p:cNvCxnSpPr>
            <a:stCxn id="6" idx="0"/>
            <a:endCxn id="29" idx="2"/>
          </p:cNvCxnSpPr>
          <p:nvPr/>
        </p:nvCxnSpPr>
        <p:spPr>
          <a:xfrm flipV="1">
            <a:off x="5760132" y="4034681"/>
            <a:ext cx="0" cy="2584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>
            <a:stCxn id="32" idx="0"/>
            <a:endCxn id="6" idx="2"/>
          </p:cNvCxnSpPr>
          <p:nvPr/>
        </p:nvCxnSpPr>
        <p:spPr>
          <a:xfrm flipV="1">
            <a:off x="5760132" y="494116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>
            <a:stCxn id="5" idx="0"/>
            <a:endCxn id="4" idx="2"/>
          </p:cNvCxnSpPr>
          <p:nvPr/>
        </p:nvCxnSpPr>
        <p:spPr>
          <a:xfrm flipV="1">
            <a:off x="4824028" y="206084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>
            <a:stCxn id="8" idx="2"/>
            <a:endCxn id="6" idx="1"/>
          </p:cNvCxnSpPr>
          <p:nvPr/>
        </p:nvCxnSpPr>
        <p:spPr>
          <a:xfrm rot="16200000" flipH="1">
            <a:off x="4188669" y="3729744"/>
            <a:ext cx="586643" cy="1188132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k 27"/>
          <p:cNvCxnSpPr>
            <a:stCxn id="9" idx="3"/>
            <a:endCxn id="8" idx="1"/>
          </p:cNvCxnSpPr>
          <p:nvPr/>
        </p:nvCxnSpPr>
        <p:spPr>
          <a:xfrm>
            <a:off x="2627784" y="3706453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ktangel 31"/>
          <p:cNvSpPr/>
          <p:nvPr/>
        </p:nvSpPr>
        <p:spPr>
          <a:xfrm>
            <a:off x="5076056" y="522920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Context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39" name="Rak 38"/>
          <p:cNvCxnSpPr>
            <a:stCxn id="7" idx="0"/>
            <a:endCxn id="32" idx="2"/>
          </p:cNvCxnSpPr>
          <p:nvPr/>
        </p:nvCxnSpPr>
        <p:spPr>
          <a:xfrm flipV="1">
            <a:off x="5760132" y="5877272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k 16"/>
          <p:cNvCxnSpPr>
            <a:stCxn id="8" idx="0"/>
            <a:endCxn id="5" idx="2"/>
          </p:cNvCxnSpPr>
          <p:nvPr/>
        </p:nvCxnSpPr>
        <p:spPr>
          <a:xfrm rot="5400000" flipH="1" flipV="1">
            <a:off x="4163244" y="2721633"/>
            <a:ext cx="385465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åge 25"/>
          <p:cNvSpPr/>
          <p:nvPr/>
        </p:nvSpPr>
        <p:spPr>
          <a:xfrm rot="5400000">
            <a:off x="5309837" y="2108566"/>
            <a:ext cx="396534" cy="428346"/>
          </a:xfrm>
          <a:prstGeom prst="arc">
            <a:avLst>
              <a:gd name="adj1" fmla="val 5159243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ktangel 28"/>
          <p:cNvSpPr/>
          <p:nvPr/>
        </p:nvSpPr>
        <p:spPr>
          <a:xfrm>
            <a:off x="5076056" y="3386609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</a:rPr>
              <a:t>Conceptual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40" name="Rak 16"/>
          <p:cNvCxnSpPr>
            <a:stCxn id="29" idx="0"/>
            <a:endCxn id="5" idx="2"/>
          </p:cNvCxnSpPr>
          <p:nvPr/>
        </p:nvCxnSpPr>
        <p:spPr>
          <a:xfrm rot="16200000" flipV="1">
            <a:off x="5097252" y="2723729"/>
            <a:ext cx="389657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ktangel 21"/>
          <p:cNvSpPr/>
          <p:nvPr/>
        </p:nvSpPr>
        <p:spPr>
          <a:xfrm>
            <a:off x="2987824" y="2555612"/>
            <a:ext cx="1146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>
                <a:solidFill>
                  <a:srgbClr val="FF0000"/>
                </a:solidFill>
              </a:rPr>
              <a:t>Enterprise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23" name="Rektangel 22"/>
          <p:cNvSpPr/>
          <p:nvPr/>
        </p:nvSpPr>
        <p:spPr>
          <a:xfrm>
            <a:off x="5508104" y="2564904"/>
            <a:ext cx="1024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 smtClean="0">
                <a:solidFill>
                  <a:srgbClr val="FF0000"/>
                </a:solidFill>
              </a:rPr>
              <a:t>Turnover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24" name="Rektangel 23"/>
          <p:cNvSpPr/>
          <p:nvPr/>
        </p:nvSpPr>
        <p:spPr>
          <a:xfrm>
            <a:off x="6942905" y="4931876"/>
            <a:ext cx="1497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 smtClean="0">
                <a:solidFill>
                  <a:srgbClr val="FF0000"/>
                </a:solidFill>
              </a:rPr>
              <a:t>Thousand</a:t>
            </a:r>
            <a:r>
              <a:rPr lang="sv-SE" dirty="0" smtClean="0">
                <a:solidFill>
                  <a:srgbClr val="FF0000"/>
                </a:solidFill>
              </a:rPr>
              <a:t> SEK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27" name="Rektangel 26"/>
          <p:cNvSpPr/>
          <p:nvPr/>
        </p:nvSpPr>
        <p:spPr>
          <a:xfrm>
            <a:off x="2777267" y="4005064"/>
            <a:ext cx="1146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Enterprise</a:t>
            </a:r>
          </a:p>
        </p:txBody>
      </p:sp>
      <p:cxnSp>
        <p:nvCxnSpPr>
          <p:cNvPr id="17" name="Rak 16"/>
          <p:cNvCxnSpPr/>
          <p:nvPr/>
        </p:nvCxnSpPr>
        <p:spPr>
          <a:xfrm flipV="1">
            <a:off x="4572000" y="4797152"/>
            <a:ext cx="432048" cy="4320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ktangel 29"/>
          <p:cNvSpPr/>
          <p:nvPr/>
        </p:nvSpPr>
        <p:spPr>
          <a:xfrm>
            <a:off x="6588224" y="3521787"/>
            <a:ext cx="1024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err="1" smtClean="0">
                <a:solidFill>
                  <a:srgbClr val="FF0000"/>
                </a:solidFill>
              </a:rPr>
              <a:t>Turnover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3" name="Rektangel 2"/>
          <p:cNvSpPr/>
          <p:nvPr/>
        </p:nvSpPr>
        <p:spPr>
          <a:xfrm>
            <a:off x="1979712" y="5147900"/>
            <a:ext cx="258282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sv-SE" dirty="0" err="1" smtClean="0">
                <a:solidFill>
                  <a:srgbClr val="FF0000"/>
                </a:solidFill>
              </a:rPr>
              <a:t>Turnover</a:t>
            </a:r>
            <a:r>
              <a:rPr lang="sv-SE" dirty="0" smtClean="0">
                <a:solidFill>
                  <a:srgbClr val="FF0000"/>
                </a:solidFill>
              </a:rPr>
              <a:t> in </a:t>
            </a:r>
            <a:r>
              <a:rPr lang="sv-SE" dirty="0" err="1" smtClean="0">
                <a:solidFill>
                  <a:srgbClr val="FF0000"/>
                </a:solidFill>
              </a:rPr>
              <a:t>thousand</a:t>
            </a:r>
            <a:r>
              <a:rPr lang="sv-SE" dirty="0" smtClean="0">
                <a:solidFill>
                  <a:srgbClr val="FF0000"/>
                </a:solidFill>
              </a:rPr>
              <a:t> SEK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88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30" grpId="0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Examples</a:t>
            </a:r>
            <a:endParaRPr lang="sv-SE" dirty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v-SE" dirty="0" smtClean="0"/>
              <a:t>Business register 2014</a:t>
            </a:r>
          </a:p>
          <a:p>
            <a:pPr lvl="2"/>
            <a:r>
              <a:rPr lang="sv-SE" dirty="0"/>
              <a:t>Statistical </a:t>
            </a:r>
            <a:r>
              <a:rPr lang="sv-SE" dirty="0" err="1"/>
              <a:t>unit</a:t>
            </a:r>
            <a:r>
              <a:rPr lang="sv-SE" dirty="0" smtClean="0"/>
              <a:t>: Enterprise</a:t>
            </a:r>
            <a:endParaRPr lang="sv-SE" dirty="0"/>
          </a:p>
          <a:p>
            <a:pPr lvl="2"/>
            <a:r>
              <a:rPr lang="sv-SE" dirty="0" err="1"/>
              <a:t>Variable</a:t>
            </a:r>
            <a:r>
              <a:rPr lang="sv-SE" dirty="0"/>
              <a:t>: </a:t>
            </a:r>
            <a:r>
              <a:rPr lang="sv-SE" dirty="0" smtClean="0"/>
              <a:t>Industrial </a:t>
            </a:r>
            <a:r>
              <a:rPr lang="sv-SE" dirty="0" err="1" smtClean="0"/>
              <a:t>activity</a:t>
            </a:r>
            <a:endParaRPr lang="sv-SE" dirty="0"/>
          </a:p>
          <a:p>
            <a:pPr lvl="2"/>
            <a:r>
              <a:rPr lang="sv-SE" dirty="0" err="1"/>
              <a:t>Value</a:t>
            </a:r>
            <a:r>
              <a:rPr lang="sv-SE" dirty="0"/>
              <a:t> </a:t>
            </a:r>
            <a:r>
              <a:rPr lang="sv-SE" dirty="0" err="1"/>
              <a:t>domain</a:t>
            </a:r>
            <a:r>
              <a:rPr lang="sv-SE" dirty="0"/>
              <a:t>: SNI 2007 5-digit</a:t>
            </a:r>
          </a:p>
          <a:p>
            <a:pPr marL="914400" lvl="2" indent="0">
              <a:buNone/>
            </a:pPr>
            <a:r>
              <a:rPr lang="sv-SE" u="sng" dirty="0" err="1"/>
              <a:t>Represented</a:t>
            </a:r>
            <a:r>
              <a:rPr lang="sv-SE" u="sng" dirty="0"/>
              <a:t> </a:t>
            </a:r>
            <a:r>
              <a:rPr lang="sv-SE" u="sng" dirty="0" err="1"/>
              <a:t>variable</a:t>
            </a:r>
            <a:r>
              <a:rPr lang="sv-SE" u="sng" dirty="0"/>
              <a:t>: Enterprise </a:t>
            </a:r>
            <a:r>
              <a:rPr lang="sv-SE" u="sng" dirty="0" smtClean="0"/>
              <a:t>Industrial </a:t>
            </a:r>
            <a:r>
              <a:rPr lang="sv-SE" u="sng" dirty="0" err="1"/>
              <a:t>activity</a:t>
            </a:r>
            <a:r>
              <a:rPr lang="sv-SE" u="sng" dirty="0"/>
              <a:t> </a:t>
            </a:r>
            <a:r>
              <a:rPr lang="sv-SE" u="sng" dirty="0" smtClean="0"/>
              <a:t>2014 by SNI </a:t>
            </a:r>
            <a:r>
              <a:rPr lang="sv-SE" u="sng" dirty="0"/>
              <a:t>2007 5-digit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948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v-SE" dirty="0" smtClean="0"/>
              <a:t>Industrial </a:t>
            </a:r>
            <a:r>
              <a:rPr lang="sv-SE" dirty="0" err="1" smtClean="0"/>
              <a:t>activity</a:t>
            </a:r>
            <a:r>
              <a:rPr lang="sv-SE" dirty="0" smtClean="0"/>
              <a:t>, business register 2014</a:t>
            </a:r>
            <a:endParaRPr lang="sv-SE" dirty="0"/>
          </a:p>
        </p:txBody>
      </p:sp>
      <p:sp>
        <p:nvSpPr>
          <p:cNvPr id="4" name="Rektangel 3"/>
          <p:cNvSpPr/>
          <p:nvPr/>
        </p:nvSpPr>
        <p:spPr>
          <a:xfrm>
            <a:off x="4139952" y="141277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</a:t>
            </a:r>
            <a:r>
              <a:rPr lang="sv-SE" dirty="0">
                <a:solidFill>
                  <a:schemeClr val="tx1"/>
                </a:solidFill>
              </a:rPr>
              <a:t> systems</a:t>
            </a:r>
          </a:p>
        </p:txBody>
      </p:sp>
      <p:sp>
        <p:nvSpPr>
          <p:cNvPr id="5" name="Rektangel 4"/>
          <p:cNvSpPr/>
          <p:nvPr/>
        </p:nvSpPr>
        <p:spPr>
          <a:xfrm>
            <a:off x="4139952" y="234888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Concepts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6" name="Rektangel 5"/>
          <p:cNvSpPr/>
          <p:nvPr/>
        </p:nvSpPr>
        <p:spPr>
          <a:xfrm>
            <a:off x="5076056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Represented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7" name="Rektangel 6"/>
          <p:cNvSpPr/>
          <p:nvPr/>
        </p:nvSpPr>
        <p:spPr>
          <a:xfrm>
            <a:off x="5076056" y="6165304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Instance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8" name="Rektangel 7"/>
          <p:cNvSpPr/>
          <p:nvPr/>
        </p:nvSpPr>
        <p:spPr>
          <a:xfrm>
            <a:off x="3203848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Unit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9" name="Rektangel 8"/>
          <p:cNvSpPr/>
          <p:nvPr/>
        </p:nvSpPr>
        <p:spPr>
          <a:xfrm>
            <a:off x="1259632" y="3382417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>
                <a:solidFill>
                  <a:schemeClr val="tx1"/>
                </a:solidFill>
              </a:rPr>
              <a:t>Relation </a:t>
            </a:r>
            <a:r>
              <a:rPr lang="sv-SE" dirty="0" err="1">
                <a:solidFill>
                  <a:schemeClr val="tx1"/>
                </a:solidFill>
              </a:rPr>
              <a:t>to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Unit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type</a:t>
            </a:r>
            <a:endParaRPr lang="sv-SE" dirty="0">
              <a:solidFill>
                <a:schemeClr val="tx1"/>
              </a:solidFill>
            </a:endParaRPr>
          </a:p>
        </p:txBody>
      </p:sp>
      <p:sp>
        <p:nvSpPr>
          <p:cNvPr id="10" name="Rektangel 9"/>
          <p:cNvSpPr/>
          <p:nvPr/>
        </p:nvSpPr>
        <p:spPr>
          <a:xfrm>
            <a:off x="7020272" y="4293096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Value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domain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11" name="Rak 10"/>
          <p:cNvCxnSpPr>
            <a:stCxn id="6" idx="3"/>
            <a:endCxn id="10" idx="1"/>
          </p:cNvCxnSpPr>
          <p:nvPr/>
        </p:nvCxnSpPr>
        <p:spPr>
          <a:xfrm>
            <a:off x="6444208" y="4617132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11"/>
          <p:cNvCxnSpPr>
            <a:stCxn id="6" idx="0"/>
            <a:endCxn id="29" idx="2"/>
          </p:cNvCxnSpPr>
          <p:nvPr/>
        </p:nvCxnSpPr>
        <p:spPr>
          <a:xfrm flipV="1">
            <a:off x="5760132" y="4034681"/>
            <a:ext cx="0" cy="25841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ak 12"/>
          <p:cNvCxnSpPr>
            <a:stCxn id="32" idx="0"/>
            <a:endCxn id="6" idx="2"/>
          </p:cNvCxnSpPr>
          <p:nvPr/>
        </p:nvCxnSpPr>
        <p:spPr>
          <a:xfrm flipV="1">
            <a:off x="5760132" y="494116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13"/>
          <p:cNvCxnSpPr>
            <a:stCxn id="5" idx="0"/>
            <a:endCxn id="4" idx="2"/>
          </p:cNvCxnSpPr>
          <p:nvPr/>
        </p:nvCxnSpPr>
        <p:spPr>
          <a:xfrm flipV="1">
            <a:off x="4824028" y="2060848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k 14"/>
          <p:cNvCxnSpPr>
            <a:stCxn id="8" idx="2"/>
            <a:endCxn id="6" idx="1"/>
          </p:cNvCxnSpPr>
          <p:nvPr/>
        </p:nvCxnSpPr>
        <p:spPr>
          <a:xfrm rot="16200000" flipH="1">
            <a:off x="4188669" y="3729744"/>
            <a:ext cx="586643" cy="1188132"/>
          </a:xfrm>
          <a:prstGeom prst="bentConnector2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k 27"/>
          <p:cNvCxnSpPr>
            <a:stCxn id="9" idx="3"/>
            <a:endCxn id="8" idx="1"/>
          </p:cNvCxnSpPr>
          <p:nvPr/>
        </p:nvCxnSpPr>
        <p:spPr>
          <a:xfrm>
            <a:off x="2627784" y="3706453"/>
            <a:ext cx="57606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ktangel 31"/>
          <p:cNvSpPr/>
          <p:nvPr/>
        </p:nvSpPr>
        <p:spPr>
          <a:xfrm>
            <a:off x="5076056" y="5229200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>
                <a:solidFill>
                  <a:schemeClr val="tx1"/>
                </a:solidFill>
              </a:rPr>
              <a:t>Context</a:t>
            </a:r>
            <a:r>
              <a:rPr lang="sv-SE" dirty="0">
                <a:solidFill>
                  <a:schemeClr val="tx1"/>
                </a:solidFill>
              </a:rPr>
              <a:t> </a:t>
            </a:r>
            <a:r>
              <a:rPr lang="sv-SE" dirty="0" err="1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39" name="Rak 38"/>
          <p:cNvCxnSpPr>
            <a:stCxn id="7" idx="0"/>
            <a:endCxn id="32" idx="2"/>
          </p:cNvCxnSpPr>
          <p:nvPr/>
        </p:nvCxnSpPr>
        <p:spPr>
          <a:xfrm flipV="1">
            <a:off x="5760132" y="5877272"/>
            <a:ext cx="0" cy="28803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k 16"/>
          <p:cNvCxnSpPr>
            <a:stCxn id="8" idx="0"/>
            <a:endCxn id="5" idx="2"/>
          </p:cNvCxnSpPr>
          <p:nvPr/>
        </p:nvCxnSpPr>
        <p:spPr>
          <a:xfrm rot="5400000" flipH="1" flipV="1">
            <a:off x="4163244" y="2721633"/>
            <a:ext cx="385465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Båge 25"/>
          <p:cNvSpPr/>
          <p:nvPr/>
        </p:nvSpPr>
        <p:spPr>
          <a:xfrm rot="5400000">
            <a:off x="5309837" y="2108566"/>
            <a:ext cx="396534" cy="428346"/>
          </a:xfrm>
          <a:prstGeom prst="arc">
            <a:avLst>
              <a:gd name="adj1" fmla="val 5159243"/>
              <a:gd name="adj2" fmla="val 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Rektangel 28"/>
          <p:cNvSpPr/>
          <p:nvPr/>
        </p:nvSpPr>
        <p:spPr>
          <a:xfrm>
            <a:off x="5076056" y="3386609"/>
            <a:ext cx="1368152" cy="6480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 smtClean="0">
                <a:solidFill>
                  <a:schemeClr val="tx1"/>
                </a:solidFill>
              </a:rPr>
              <a:t>Conceptual</a:t>
            </a:r>
            <a:r>
              <a:rPr lang="sv-SE" dirty="0" smtClean="0">
                <a:solidFill>
                  <a:schemeClr val="tx1"/>
                </a:solidFill>
              </a:rPr>
              <a:t> </a:t>
            </a:r>
            <a:r>
              <a:rPr lang="sv-SE" dirty="0" err="1" smtClean="0">
                <a:solidFill>
                  <a:schemeClr val="tx1"/>
                </a:solidFill>
              </a:rPr>
              <a:t>variable</a:t>
            </a:r>
            <a:endParaRPr lang="sv-SE" dirty="0">
              <a:solidFill>
                <a:schemeClr val="tx1"/>
              </a:solidFill>
            </a:endParaRPr>
          </a:p>
        </p:txBody>
      </p:sp>
      <p:cxnSp>
        <p:nvCxnSpPr>
          <p:cNvPr id="40" name="Rak 16"/>
          <p:cNvCxnSpPr>
            <a:stCxn id="29" idx="0"/>
            <a:endCxn id="5" idx="2"/>
          </p:cNvCxnSpPr>
          <p:nvPr/>
        </p:nvCxnSpPr>
        <p:spPr>
          <a:xfrm rot="16200000" flipV="1">
            <a:off x="5097252" y="2723729"/>
            <a:ext cx="389657" cy="93610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ktangel 21"/>
          <p:cNvSpPr/>
          <p:nvPr/>
        </p:nvSpPr>
        <p:spPr>
          <a:xfrm>
            <a:off x="2987824" y="2555612"/>
            <a:ext cx="1146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>
                <a:solidFill>
                  <a:srgbClr val="FF0000"/>
                </a:solidFill>
              </a:rPr>
              <a:t>Enterprise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23" name="Rektangel 22"/>
          <p:cNvSpPr/>
          <p:nvPr/>
        </p:nvSpPr>
        <p:spPr>
          <a:xfrm>
            <a:off x="5508104" y="2564904"/>
            <a:ext cx="1797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>
                <a:solidFill>
                  <a:srgbClr val="FF0000"/>
                </a:solidFill>
              </a:rPr>
              <a:t>Industrial </a:t>
            </a:r>
            <a:r>
              <a:rPr lang="sv-SE" dirty="0" err="1" smtClean="0">
                <a:solidFill>
                  <a:srgbClr val="FF0000"/>
                </a:solidFill>
              </a:rPr>
              <a:t>activity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24" name="Rektangel 23"/>
          <p:cNvSpPr/>
          <p:nvPr/>
        </p:nvSpPr>
        <p:spPr>
          <a:xfrm>
            <a:off x="6942905" y="4931876"/>
            <a:ext cx="1191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>
                <a:solidFill>
                  <a:srgbClr val="FF0000"/>
                </a:solidFill>
              </a:rPr>
              <a:t>SNI, 5 </a:t>
            </a:r>
            <a:r>
              <a:rPr lang="sv-SE" dirty="0" err="1" smtClean="0">
                <a:solidFill>
                  <a:srgbClr val="FF0000"/>
                </a:solidFill>
              </a:rPr>
              <a:t>digit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27" name="Rektangel 26"/>
          <p:cNvSpPr/>
          <p:nvPr/>
        </p:nvSpPr>
        <p:spPr>
          <a:xfrm>
            <a:off x="2777267" y="4005064"/>
            <a:ext cx="1146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Enterprise</a:t>
            </a:r>
          </a:p>
        </p:txBody>
      </p:sp>
      <p:cxnSp>
        <p:nvCxnSpPr>
          <p:cNvPr id="17" name="Rak 16"/>
          <p:cNvCxnSpPr/>
          <p:nvPr/>
        </p:nvCxnSpPr>
        <p:spPr>
          <a:xfrm flipV="1">
            <a:off x="4572000" y="4797152"/>
            <a:ext cx="432048" cy="4320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ktangel 29"/>
          <p:cNvSpPr/>
          <p:nvPr/>
        </p:nvSpPr>
        <p:spPr>
          <a:xfrm>
            <a:off x="6588224" y="3521787"/>
            <a:ext cx="17979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>
                <a:solidFill>
                  <a:srgbClr val="FF0000"/>
                </a:solidFill>
              </a:rPr>
              <a:t>Industrial </a:t>
            </a:r>
            <a:r>
              <a:rPr lang="sv-SE" dirty="0" err="1" smtClean="0">
                <a:solidFill>
                  <a:srgbClr val="FF0000"/>
                </a:solidFill>
              </a:rPr>
              <a:t>activity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3" name="Rektangel 2"/>
          <p:cNvSpPr/>
          <p:nvPr/>
        </p:nvSpPr>
        <p:spPr>
          <a:xfrm>
            <a:off x="1691680" y="5147900"/>
            <a:ext cx="313868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sv-SE" dirty="0" smtClean="0">
                <a:solidFill>
                  <a:srgbClr val="FF0000"/>
                </a:solidFill>
              </a:rPr>
              <a:t>Enterprise </a:t>
            </a:r>
            <a:r>
              <a:rPr lang="sv-SE" dirty="0" err="1" smtClean="0">
                <a:solidFill>
                  <a:srgbClr val="FF0000"/>
                </a:solidFill>
              </a:rPr>
              <a:t>industrial</a:t>
            </a:r>
            <a:r>
              <a:rPr lang="sv-SE" dirty="0" smtClean="0">
                <a:solidFill>
                  <a:srgbClr val="FF0000"/>
                </a:solidFill>
              </a:rPr>
              <a:t> </a:t>
            </a:r>
            <a:r>
              <a:rPr lang="sv-SE" dirty="0" err="1" smtClean="0">
                <a:solidFill>
                  <a:srgbClr val="FF0000"/>
                </a:solidFill>
              </a:rPr>
              <a:t>activity</a:t>
            </a:r>
            <a:r>
              <a:rPr lang="sv-SE" dirty="0" smtClean="0">
                <a:solidFill>
                  <a:srgbClr val="FF0000"/>
                </a:solidFill>
              </a:rPr>
              <a:t> by </a:t>
            </a:r>
          </a:p>
          <a:p>
            <a:r>
              <a:rPr lang="sv-SE" dirty="0" smtClean="0">
                <a:solidFill>
                  <a:srgbClr val="FF0000"/>
                </a:solidFill>
              </a:rPr>
              <a:t>SNI 5-digit</a:t>
            </a:r>
            <a:endParaRPr lang="sv-S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61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7" grpId="0"/>
      <p:bldP spid="30" grpId="0"/>
      <p:bldP spid="3" grpId="0" animBg="1"/>
    </p:bldLst>
  </p:timing>
</p:sld>
</file>

<file path=ppt/theme/theme1.xml><?xml version="1.0" encoding="utf-8"?>
<a:theme xmlns:a="http://schemas.openxmlformats.org/drawingml/2006/main" name="SCB-Mall 2015">
  <a:themeElements>
    <a:clrScheme name="SCB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C9210"/>
      </a:accent1>
      <a:accent2>
        <a:srgbClr val="828282"/>
      </a:accent2>
      <a:accent3>
        <a:srgbClr val="F0F0F0"/>
      </a:accent3>
      <a:accent4>
        <a:srgbClr val="078693"/>
      </a:accent4>
      <a:accent5>
        <a:srgbClr val="7F942C"/>
      </a:accent5>
      <a:accent6>
        <a:srgbClr val="71277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SCB">
  <a:themeElements>
    <a:clrScheme name="SCB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C9210"/>
      </a:accent1>
      <a:accent2>
        <a:srgbClr val="828282"/>
      </a:accent2>
      <a:accent3>
        <a:srgbClr val="F0F0F0"/>
      </a:accent3>
      <a:accent4>
        <a:srgbClr val="078693"/>
      </a:accent4>
      <a:accent5>
        <a:srgbClr val="7F942C"/>
      </a:accent5>
      <a:accent6>
        <a:srgbClr val="71277A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200" dirty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SCB-Mall 2015</Template>
  <TotalTime>1509</TotalTime>
  <Words>1157</Words>
  <Application>Microsoft Office PowerPoint</Application>
  <PresentationFormat>Bildspel på skärmen (4:3)</PresentationFormat>
  <Paragraphs>412</Paragraphs>
  <Slides>38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Bildrubriker</vt:lpstr>
      </vt:variant>
      <vt:variant>
        <vt:i4>38</vt:i4>
      </vt:variant>
    </vt:vector>
  </HeadingPairs>
  <TitlesOfParts>
    <vt:vector size="40" baseType="lpstr">
      <vt:lpstr>SCB-Mall 2015</vt:lpstr>
      <vt:lpstr>SCB</vt:lpstr>
      <vt:lpstr>A generic production environment - use of GSIM in Statistics Sweden</vt:lpstr>
      <vt:lpstr>PowerPoint-presentation</vt:lpstr>
      <vt:lpstr>Vision 2020</vt:lpstr>
      <vt:lpstr>SCB’s strategy on coordinated statistics production</vt:lpstr>
      <vt:lpstr>Common Production Environment (GPM-project)</vt:lpstr>
      <vt:lpstr>Ongoing</vt:lpstr>
      <vt:lpstr>Active metadata – how?</vt:lpstr>
      <vt:lpstr>Statistical program DB</vt:lpstr>
      <vt:lpstr>GSIM complements GSBPM</vt:lpstr>
      <vt:lpstr>GSIM in Statistics Sweden</vt:lpstr>
      <vt:lpstr>Content harmonization</vt:lpstr>
      <vt:lpstr>Number of emplyees</vt:lpstr>
      <vt:lpstr>Industrial Company A</vt:lpstr>
      <vt:lpstr>Common and specific metadata</vt:lpstr>
      <vt:lpstr>PowerPoint-presentation</vt:lpstr>
      <vt:lpstr>GSIM - variables</vt:lpstr>
      <vt:lpstr>Swedish version of GSIM - variables</vt:lpstr>
      <vt:lpstr>Concept systems</vt:lpstr>
      <vt:lpstr>Concept, Term, Definition, Characteristics </vt:lpstr>
      <vt:lpstr>Concepts - Population register</vt:lpstr>
      <vt:lpstr>Concepts – Unit types and varialbles</vt:lpstr>
      <vt:lpstr>Concepts - Short term statistics</vt:lpstr>
      <vt:lpstr>Concepts – Unit types and varialbles</vt:lpstr>
      <vt:lpstr>Conclusions</vt:lpstr>
      <vt:lpstr>Examples</vt:lpstr>
      <vt:lpstr>GSIM</vt:lpstr>
      <vt:lpstr>Concepts and Variables</vt:lpstr>
      <vt:lpstr>Represented variable</vt:lpstr>
      <vt:lpstr>Concepts and Variables</vt:lpstr>
      <vt:lpstr>Examples</vt:lpstr>
      <vt:lpstr>Examples</vt:lpstr>
      <vt:lpstr>Age, population register 2014</vt:lpstr>
      <vt:lpstr>Examples</vt:lpstr>
      <vt:lpstr>Mothers age population register 2014</vt:lpstr>
      <vt:lpstr>Examples</vt:lpstr>
      <vt:lpstr>Turnover short term business statistics 2014</vt:lpstr>
      <vt:lpstr>Examples</vt:lpstr>
      <vt:lpstr>Industrial activity, business register 2014</vt:lpstr>
    </vt:vector>
  </TitlesOfParts>
  <Company>SCB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generic production environment - use of GSIM in Statistics Sweden</dc:title>
  <dc:creator>Blomqvist Klas PCA/LEDN-S</dc:creator>
  <cp:lastModifiedBy>Blomqvist Klas PCA/LEDN-S</cp:lastModifiedBy>
  <cp:revision>40</cp:revision>
  <cp:lastPrinted>2015-11-30T18:00:30Z</cp:lastPrinted>
  <dcterms:created xsi:type="dcterms:W3CDTF">2015-11-19T14:47:00Z</dcterms:created>
  <dcterms:modified xsi:type="dcterms:W3CDTF">2015-12-03T07:06:45Z</dcterms:modified>
</cp:coreProperties>
</file>