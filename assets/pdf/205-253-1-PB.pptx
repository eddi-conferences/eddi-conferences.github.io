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34"/>
  </p:notesMasterIdLst>
  <p:sldIdLst>
    <p:sldId id="256" r:id="rId2"/>
    <p:sldId id="282" r:id="rId3"/>
    <p:sldId id="286" r:id="rId4"/>
    <p:sldId id="285" r:id="rId5"/>
    <p:sldId id="284" r:id="rId6"/>
    <p:sldId id="313" r:id="rId7"/>
    <p:sldId id="289" r:id="rId8"/>
    <p:sldId id="288" r:id="rId9"/>
    <p:sldId id="314" r:id="rId10"/>
    <p:sldId id="315" r:id="rId11"/>
    <p:sldId id="316" r:id="rId12"/>
    <p:sldId id="317" r:id="rId13"/>
    <p:sldId id="291" r:id="rId14"/>
    <p:sldId id="333" r:id="rId15"/>
    <p:sldId id="292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1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75" autoAdjust="0"/>
  </p:normalViewPr>
  <p:slideViewPr>
    <p:cSldViewPr>
      <p:cViewPr varScale="1">
        <p:scale>
          <a:sx n="97" d="100"/>
          <a:sy n="97" d="100"/>
        </p:scale>
        <p:origin x="14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1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A9217-AC5D-4611-8D5D-762E705E32A8}" type="datetimeFigureOut">
              <a:rPr lang="en-US" smtClean="0"/>
              <a:pPr/>
              <a:t>12/2/2015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3265-14E3-499D-A250-3990DD3FB2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1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35342C-9DE7-4576-84B4-66DBAA25DBA3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371600" cy="365125"/>
          </a:xfrm>
        </p:spPr>
        <p:txBody>
          <a:bodyPr/>
          <a:lstStyle/>
          <a:p>
            <a:fld id="{BD821A40-E5F1-42C9-B5AC-56200B498016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34200" y="6248400"/>
            <a:ext cx="1839683" cy="365125"/>
          </a:xfrm>
        </p:spPr>
        <p:txBody>
          <a:bodyPr/>
          <a:lstStyle/>
          <a:p>
            <a:r>
              <a:rPr lang="en-US" dirty="0" smtClean="0"/>
              <a:t>Algenta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pic>
        <p:nvPicPr>
          <p:cNvPr id="3074" name="Picture 2" descr="C:\Users\jeremy\svn\admin\PR\Assets\colectica\custom\colectica43x2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6314016"/>
            <a:ext cx="433387" cy="2222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E58D6-12C4-40DE-9A9E-9AD82EBF105B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FCA2AEB-BE29-41D7-8DD4-2824D5AAA15F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2CF48B9-8E54-4ECC-8D6F-35F471D3CFE8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D7708-62B9-48C7-A148-8A601CF8A00E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CEAF-66CB-469F-84AC-3F1C8182DB42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FED5-581D-4E74-BD00-6014CC3587D4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BBA60A9-1E57-4270-9B08-37645341F174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8BAE-CDFA-4DEE-BD5A-2D153E55F028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6EA884-5F18-44A8-95F2-4CB935A25D55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821A40-E5F1-42C9-B5AC-56200B498016}" type="datetime1">
              <a:rPr lang="en-US" smtClean="0"/>
              <a:pPr/>
              <a:t>12/2/2015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09800"/>
            <a:ext cx="8763000" cy="2209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Management </a:t>
            </a:r>
            <a:r>
              <a:rPr lang="en-US" sz="6000"/>
              <a:t>of </a:t>
            </a:r>
            <a:r>
              <a:rPr lang="en-US" sz="6000" smtClean="0"/>
              <a:t>GSIM Statistical </a:t>
            </a:r>
            <a:r>
              <a:rPr lang="en-US" sz="6000" dirty="0" smtClean="0"/>
              <a:t>Classifications</a:t>
            </a:r>
            <a:br>
              <a:rPr lang="en-US" sz="6000" dirty="0" smtClean="0"/>
            </a:br>
            <a:r>
              <a:rPr lang="en-US" sz="6000" dirty="0" smtClean="0"/>
              <a:t>with </a:t>
            </a:r>
            <a:r>
              <a:rPr lang="en-US" sz="6000" dirty="0"/>
              <a:t>DDI </a:t>
            </a:r>
            <a:r>
              <a:rPr lang="en-US" sz="6000" dirty="0" smtClean="0"/>
              <a:t>3.2</a:t>
            </a:r>
            <a:endParaRPr lang="en-US" sz="2700" cap="none" dirty="0"/>
          </a:p>
        </p:txBody>
      </p:sp>
      <p:pic>
        <p:nvPicPr>
          <p:cNvPr id="1028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609600"/>
            <a:ext cx="3211512" cy="76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Talk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19600"/>
          </a:xfrm>
        </p:spPr>
        <p:txBody>
          <a:bodyPr/>
          <a:lstStyle/>
          <a:p>
            <a:r>
              <a:rPr lang="en-US" dirty="0" smtClean="0"/>
              <a:t>Brief overview of </a:t>
            </a:r>
            <a:r>
              <a:rPr lang="en-US" dirty="0" smtClean="0"/>
              <a:t>Statistical Classifications</a:t>
            </a:r>
            <a:endParaRPr lang="en-US" dirty="0" smtClean="0"/>
          </a:p>
          <a:p>
            <a:r>
              <a:rPr lang="en-US" dirty="0" smtClean="0"/>
              <a:t>Brief overview of current </a:t>
            </a:r>
            <a:r>
              <a:rPr lang="en-US" dirty="0" smtClean="0"/>
              <a:t>Copenhagen Mapping</a:t>
            </a:r>
            <a:endParaRPr lang="en-US" dirty="0" smtClean="0"/>
          </a:p>
          <a:p>
            <a:pPr lvl="1"/>
            <a:r>
              <a:rPr lang="en-US" dirty="0" smtClean="0"/>
              <a:t>DDI 3.2 and GSIM</a:t>
            </a:r>
          </a:p>
          <a:p>
            <a:r>
              <a:rPr lang="en-US" dirty="0" smtClean="0"/>
              <a:t>Colectica 5.2 demo</a:t>
            </a:r>
            <a:endParaRPr lang="en-US" dirty="0" smtClean="0"/>
          </a:p>
          <a:p>
            <a:pPr lvl="1"/>
            <a:r>
              <a:rPr lang="en-US" dirty="0" smtClean="0"/>
              <a:t>Statistical Classification Management</a:t>
            </a:r>
          </a:p>
          <a:p>
            <a:r>
              <a:rPr lang="en-US" dirty="0" smtClean="0"/>
              <a:t>Classifications in future DDI versions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31" y="228600"/>
            <a:ext cx="2997017" cy="7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Tell me about </a:t>
            </a:r>
            <a:r>
              <a:rPr lang="en-US" dirty="0" smtClean="0"/>
              <a:t>Classifications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5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Neuchâtel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1999, Neuchâtel group meets to discuss standardization of Statistics Classifications</a:t>
            </a:r>
          </a:p>
          <a:p>
            <a:r>
              <a:rPr lang="en-US" dirty="0" smtClean="0"/>
              <a:t>In 2002, The </a:t>
            </a:r>
            <a:r>
              <a:rPr lang="en-US" dirty="0"/>
              <a:t>Neuchâtel</a:t>
            </a:r>
            <a:r>
              <a:rPr lang="en-US" dirty="0"/>
              <a:t> </a:t>
            </a:r>
            <a:r>
              <a:rPr lang="en-US" dirty="0"/>
              <a:t>terminology</a:t>
            </a:r>
            <a:r>
              <a:rPr lang="en-US" dirty="0"/>
              <a:t> </a:t>
            </a:r>
            <a:r>
              <a:rPr lang="en-US" dirty="0" smtClean="0"/>
              <a:t>model 2.0 was released (2.0)</a:t>
            </a:r>
          </a:p>
          <a:p>
            <a:pPr lvl="1"/>
            <a:r>
              <a:rPr lang="en-US" dirty="0" smtClean="0"/>
              <a:t>Updated to </a:t>
            </a:r>
            <a:r>
              <a:rPr lang="en-US" dirty="0"/>
              <a:t>version</a:t>
            </a:r>
            <a:r>
              <a:rPr lang="en-US" dirty="0"/>
              <a:t> </a:t>
            </a:r>
            <a:r>
              <a:rPr lang="en-US" dirty="0" smtClean="0"/>
              <a:t>2.1 in 2004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- GSIM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GSIM Classification model was drawn from the terminology </a:t>
            </a:r>
            <a:r>
              <a:rPr lang="en-US" dirty="0"/>
              <a:t>in the Neuchâtel </a:t>
            </a:r>
            <a:r>
              <a:rPr lang="en-US" dirty="0" smtClean="0"/>
              <a:t>model</a:t>
            </a:r>
            <a:endParaRPr lang="en-US" dirty="0" smtClean="0"/>
          </a:p>
          <a:p>
            <a:r>
              <a:rPr lang="en-US" dirty="0" smtClean="0"/>
              <a:t>In 2012, the first GSIM model including classifications was released. Version 1.0.</a:t>
            </a:r>
          </a:p>
          <a:p>
            <a:r>
              <a:rPr lang="en-US" dirty="0" smtClean="0"/>
              <a:t>In December 2013, a version 1.1 update to GSIM was released</a:t>
            </a:r>
          </a:p>
          <a:p>
            <a:r>
              <a:rPr lang="en-US" dirty="0" smtClean="0"/>
              <a:t>The Neuchâtel model is now an annex to the GSIM model, and released with it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0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Background – Copenhagen Mapping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December 2013, a workshop was held in Copenhagen</a:t>
            </a:r>
            <a:endParaRPr lang="en-US" dirty="0" smtClean="0"/>
          </a:p>
          <a:p>
            <a:pPr lvl="1"/>
            <a:r>
              <a:rPr lang="en-US" dirty="0" smtClean="0"/>
              <a:t>A mapping was created between the newly released DDI 3.2 and GSIM 1.1 standards</a:t>
            </a:r>
          </a:p>
          <a:p>
            <a:pPr lvl="1"/>
            <a:r>
              <a:rPr lang="en-US" dirty="0" smtClean="0"/>
              <a:t>Created Controlled Vocabulary for DDI 3.2</a:t>
            </a:r>
          </a:p>
          <a:p>
            <a:r>
              <a:rPr lang="en-US" dirty="0" smtClean="0"/>
              <a:t>In 2014, a second workshop was held to expand the mapping</a:t>
            </a:r>
          </a:p>
          <a:p>
            <a:r>
              <a:rPr lang="en-US" dirty="0" smtClean="0"/>
              <a:t>In December 2015, software to manage Classifications using DDI 3.2 and the mapping was made available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50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Classifications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Family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581400" y="1600200"/>
            <a:ext cx="5184648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A topical grouping mechanism for similar Classification Series</a:t>
            </a:r>
            <a:endParaRPr lang="en-US" dirty="0" smtClean="0"/>
          </a:p>
          <a:p>
            <a:r>
              <a:rPr lang="en-US" dirty="0" smtClean="0"/>
              <a:t>Pairs a list of Classification Series with a common concept, such as economic activity</a:t>
            </a:r>
            <a:endParaRPr lang="en-US" dirty="0" smtClean="0"/>
          </a:p>
          <a:p>
            <a:r>
              <a:rPr lang="en-US" dirty="0" smtClean="0"/>
              <a:t>Specialized </a:t>
            </a:r>
            <a:r>
              <a:rPr lang="en-US" dirty="0" err="1" smtClean="0"/>
              <a:t>CodeListGroup</a:t>
            </a:r>
            <a:r>
              <a:rPr lang="en-US" dirty="0" smtClean="0"/>
              <a:t> in DDI 3.2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17526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 Family (</a:t>
            </a:r>
            <a:r>
              <a:rPr lang="en-US" dirty="0" err="1" smtClean="0"/>
              <a:t>CodeListGroup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2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Series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581400" y="1600200"/>
            <a:ext cx="5184648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A group of Classifications that are published in </a:t>
            </a:r>
            <a:r>
              <a:rPr lang="en-US" dirty="0" smtClean="0"/>
              <a:t>an interval</a:t>
            </a:r>
            <a:endParaRPr lang="en-US" dirty="0" smtClean="0"/>
          </a:p>
          <a:p>
            <a:r>
              <a:rPr lang="en-US" dirty="0" smtClean="0"/>
              <a:t>ISCO, ISIC, NAICS</a:t>
            </a:r>
            <a:endParaRPr lang="en-US" dirty="0" smtClean="0"/>
          </a:p>
          <a:p>
            <a:r>
              <a:rPr lang="en-US" dirty="0" smtClean="0"/>
              <a:t>Specialized </a:t>
            </a:r>
            <a:r>
              <a:rPr lang="en-US" dirty="0" err="1" smtClean="0"/>
              <a:t>CodeListGroup</a:t>
            </a:r>
            <a:r>
              <a:rPr lang="en-US" dirty="0" smtClean="0"/>
              <a:t> in DDI 3.2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17526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 Family (</a:t>
            </a:r>
            <a:r>
              <a:rPr lang="en-US" dirty="0" err="1" smtClean="0"/>
              <a:t>CodeListGroup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04800" y="29718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 Series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CodeListGroup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828800" y="257175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288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7145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828800" y="280035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01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Classification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581400" y="1600200"/>
            <a:ext cx="5184648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Composed of Classification Items</a:t>
            </a:r>
          </a:p>
          <a:p>
            <a:pPr lvl="1"/>
            <a:r>
              <a:rPr lang="en-US" dirty="0" smtClean="0"/>
              <a:t>Categories and Codes</a:t>
            </a:r>
            <a:endParaRPr lang="en-US" dirty="0" smtClean="0"/>
          </a:p>
          <a:p>
            <a:r>
              <a:rPr lang="en-US" dirty="0" smtClean="0"/>
              <a:t>Has Levels</a:t>
            </a:r>
          </a:p>
          <a:p>
            <a:r>
              <a:rPr lang="en-US" dirty="0" smtClean="0"/>
              <a:t>Can be hierarchical</a:t>
            </a:r>
            <a:endParaRPr lang="en-US" dirty="0" smtClean="0"/>
          </a:p>
          <a:p>
            <a:r>
              <a:rPr lang="en-US" dirty="0" smtClean="0"/>
              <a:t>Is a </a:t>
            </a:r>
            <a:r>
              <a:rPr lang="en-US" dirty="0" err="1" smtClean="0"/>
              <a:t>CodeList</a:t>
            </a:r>
            <a:r>
              <a:rPr lang="en-US" dirty="0" smtClean="0"/>
              <a:t> in DDI 3.2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17526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 Family (</a:t>
            </a:r>
            <a:r>
              <a:rPr lang="en-US" dirty="0" err="1" smtClean="0"/>
              <a:t>CodeListGroup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04800" y="29718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 Series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CodeListGroup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828800" y="257175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288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7145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828800" y="280035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4800" y="4220641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Statistical Classification (</a:t>
            </a:r>
            <a:r>
              <a:rPr lang="en-US" dirty="0" err="1" smtClean="0"/>
              <a:t>CodeList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1828800" y="3820591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828800" y="4049191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714500" y="4049191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828800" y="4049191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2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581400" y="1600200"/>
            <a:ext cx="5184648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Document comparisons between Statistical Classifications</a:t>
            </a:r>
            <a:endParaRPr lang="en-US" dirty="0" smtClean="0"/>
          </a:p>
          <a:p>
            <a:r>
              <a:rPr lang="en-US" dirty="0" smtClean="0"/>
              <a:t>Lists of Maps</a:t>
            </a:r>
            <a:endParaRPr lang="en-US" dirty="0" smtClean="0"/>
          </a:p>
          <a:p>
            <a:r>
              <a:rPr lang="en-US" dirty="0" smtClean="0"/>
              <a:t>Specialized </a:t>
            </a:r>
            <a:r>
              <a:rPr lang="en-US" dirty="0" err="1" smtClean="0"/>
              <a:t>CategoryGroup</a:t>
            </a:r>
            <a:r>
              <a:rPr lang="en-US" dirty="0" smtClean="0"/>
              <a:t> in DDI 3.2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17526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Correspondence </a:t>
            </a:r>
            <a:r>
              <a:rPr lang="en-US" dirty="0" smtClean="0"/>
              <a:t>Table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CategoryGroup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85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581400" y="1600200"/>
            <a:ext cx="5184648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Comparison of a Classification item with another</a:t>
            </a:r>
            <a:endParaRPr lang="en-US" dirty="0" smtClean="0"/>
          </a:p>
          <a:p>
            <a:r>
              <a:rPr lang="en-US" dirty="0" smtClean="0"/>
              <a:t>Can be 1..1 or 1..many</a:t>
            </a:r>
            <a:endParaRPr lang="en-US" dirty="0" smtClean="0"/>
          </a:p>
          <a:p>
            <a:r>
              <a:rPr lang="en-US" dirty="0" smtClean="0"/>
              <a:t>Specialized </a:t>
            </a:r>
            <a:r>
              <a:rPr lang="en-US" dirty="0" err="1" smtClean="0"/>
              <a:t>CateogoryGroup</a:t>
            </a:r>
            <a:r>
              <a:rPr lang="en-US" dirty="0" smtClean="0"/>
              <a:t> in DDI 3.2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17526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Correspondence Table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CategoryGroup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04800" y="2971800"/>
            <a:ext cx="29718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CategoryGroup</a:t>
            </a:r>
            <a:r>
              <a:rPr lang="en-US" dirty="0"/>
              <a:t>)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828800" y="257175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288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714500" y="2800350"/>
            <a:ext cx="1143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828800" y="280035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53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Correspondence Table and Map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438400" y="1637553"/>
            <a:ext cx="4231609" cy="447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2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of Interest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GSIM Classification model specifies many text fields</a:t>
            </a:r>
          </a:p>
          <a:p>
            <a:pPr lvl="1"/>
            <a:r>
              <a:rPr lang="en-US" dirty="0" smtClean="0"/>
              <a:t>Some are computable</a:t>
            </a:r>
          </a:p>
          <a:p>
            <a:pPr lvl="1"/>
            <a:r>
              <a:rPr lang="en-US" dirty="0" smtClean="0"/>
              <a:t>Some are enhanced using a relationship</a:t>
            </a:r>
          </a:p>
          <a:p>
            <a:r>
              <a:rPr lang="en-US" dirty="0" smtClean="0"/>
              <a:t>Added relationships and more specific type information</a:t>
            </a:r>
          </a:p>
          <a:p>
            <a:pPr lvl="1"/>
            <a:r>
              <a:rPr lang="en-US" dirty="0" smtClean="0"/>
              <a:t>Example: Predecessor, Successor, Derived From</a:t>
            </a:r>
          </a:p>
          <a:p>
            <a:r>
              <a:rPr lang="en-US" dirty="0" smtClean="0"/>
              <a:t>Allows automatic computation of many fields</a:t>
            </a:r>
          </a:p>
          <a:p>
            <a:r>
              <a:rPr lang="en-US" dirty="0" smtClean="0"/>
              <a:t>This approach was followed in DDI4 as 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128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Demonstration!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12/2/2015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Classification Family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a </a:t>
            </a:r>
            <a:r>
              <a:rPr lang="en-US" dirty="0" err="1" smtClean="0"/>
              <a:t>CodeListGroup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2050" name="Picture 2" descr="../../_images/click-classification-family-code-list-grou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60624"/>
            <a:ext cx="6248400" cy="479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84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Classification Family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Mark it as a Classification Family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3074" name="Picture 2" descr="../../_images/set-code-list-as-classification-famil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35" y="2057400"/>
            <a:ext cx="6931025" cy="434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62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Classification Series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a </a:t>
            </a:r>
            <a:r>
              <a:rPr lang="en-US" dirty="0" err="1" smtClean="0"/>
              <a:t>CodeListGroup</a:t>
            </a:r>
            <a:r>
              <a:rPr lang="en-US" dirty="0" smtClean="0"/>
              <a:t> for Classification Series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4098" name="Picture 2" descr="../../_images/add-code-list-group-for-classification-seri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23" y="2241801"/>
            <a:ext cx="7921625" cy="461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12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Classification Series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Mark it as a Classification Series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5122" name="Picture 2" descr="../../_images/set-code-list-as-classification-seri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35742"/>
            <a:ext cx="7540625" cy="46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63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Statistical Classifications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</a:t>
            </a:r>
            <a:r>
              <a:rPr lang="en-US" dirty="0" err="1" smtClean="0"/>
              <a:t>CodeLists</a:t>
            </a:r>
            <a:r>
              <a:rPr lang="en-US" dirty="0" smtClean="0"/>
              <a:t> for Statistical Classifications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6146" name="Picture 2" descr="../../_images/add-code-list-for-classif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86085"/>
            <a:ext cx="6934200" cy="487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27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Statistical Classifications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Mark the </a:t>
            </a:r>
            <a:r>
              <a:rPr lang="en-US" dirty="0" err="1" smtClean="0"/>
              <a:t>CodeList</a:t>
            </a:r>
            <a:r>
              <a:rPr lang="en-US" dirty="0" smtClean="0"/>
              <a:t> as a Statistical Classifications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7170" name="Picture 2" descr="../../_images/mark-as-classif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7921625" cy="277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50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Statistical Classifications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attributes are revealed in the editor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62200"/>
            <a:ext cx="7272414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a </a:t>
            </a:r>
            <a:r>
              <a:rPr lang="en-US" dirty="0" err="1" smtClean="0"/>
              <a:t>CategoryGroup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8194" name="Picture 2" descr="../../_images/category-scheme-with-grou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81200"/>
            <a:ext cx="6477000" cy="499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2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Mark it as a Correspondence Table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0242" name="Picture 2" descr="../../_images/category-group-map-typ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5869115" cy="492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07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 source Statistical Classification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1266" name="Picture 2" descr="../../_images/select-source-classif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05000"/>
            <a:ext cx="5407025" cy="502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71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 target Statistical Classification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2290" name="Picture 2" descr="../../_images/select-target-classif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81200"/>
            <a:ext cx="682795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24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Choose source Classification Item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3316" name="Picture 4" descr="../../_images/select-source-catego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5" y="2438400"/>
            <a:ext cx="92297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3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Click Create Mapping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4338" name="Picture 2" descr="../../_images/create-mapping-butt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5512"/>
            <a:ext cx="92297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81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Choose target Classification Item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5362" name="Picture 2" descr="../../_images/select-target-catego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09800"/>
            <a:ext cx="6962775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35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– Correspondence Table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mapping is recorded in the Correspondence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6386" name="Picture 2" descr="../../_images/categories-mapp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973" y="2209800"/>
            <a:ext cx="600075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1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Takeaway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DDI Lifecycle </a:t>
            </a:r>
            <a:r>
              <a:rPr lang="en-US" dirty="0" smtClean="0"/>
              <a:t>3.2 is well suited for implementing GSIM Classifications</a:t>
            </a:r>
            <a:endParaRPr lang="en-US" dirty="0" smtClean="0"/>
          </a:p>
          <a:p>
            <a:pPr lvl="1"/>
            <a:r>
              <a:rPr lang="en-US" dirty="0" smtClean="0"/>
              <a:t>Use DDI for the Physical Specification</a:t>
            </a:r>
            <a:endParaRPr lang="en-US" dirty="0" smtClean="0"/>
          </a:p>
          <a:p>
            <a:r>
              <a:rPr lang="en-US" dirty="0" smtClean="0"/>
              <a:t>Colectica now provides support for managing Statistical Classifications in DDI</a:t>
            </a:r>
            <a:endParaRPr lang="en-US" dirty="0" smtClean="0"/>
          </a:p>
          <a:p>
            <a:pPr marL="365760" lvl="1" indent="0">
              <a:buNone/>
            </a:pPr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3481"/>
            <a:ext cx="9144000" cy="186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0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4098" name="Picture 2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1000"/>
            <a:ext cx="3211513" cy="7620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371600" y="3124200"/>
          <a:ext cx="7010401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1828800"/>
                <a:gridCol w="4572001"/>
              </a:tblGrid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Web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blogs.colectica.com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Twitter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@Colectica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youtube.com/</a:t>
                      </a:r>
                      <a:r>
                        <a:rPr lang="en-US" sz="3600" dirty="0" err="1" smtClean="0"/>
                        <a:t>colectica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2" descr="D:\Downloads\twit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4521200"/>
            <a:ext cx="4318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D:\Downloads\youtub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51562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37" y="3886200"/>
            <a:ext cx="411013" cy="4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2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1044</TotalTime>
  <Words>601</Words>
  <Application>Microsoft Office PowerPoint</Application>
  <PresentationFormat>On-screen Show (4:3)</PresentationFormat>
  <Paragraphs>147</Paragraphs>
  <Slides>32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Tw Cen MT</vt:lpstr>
      <vt:lpstr>Wingdings</vt:lpstr>
      <vt:lpstr>Wingdings 2</vt:lpstr>
      <vt:lpstr>Median</vt:lpstr>
      <vt:lpstr>Microsoft Visio Drawing</vt:lpstr>
      <vt:lpstr>Management of GSIM Statistical Classifications with DDI 3.2</vt:lpstr>
      <vt:lpstr>In This Talk</vt:lpstr>
      <vt:lpstr>Tell me about Classifications</vt:lpstr>
      <vt:lpstr>Background - Neuchâtel</vt:lpstr>
      <vt:lpstr>Background - GSIM</vt:lpstr>
      <vt:lpstr>Background – Copenhagen Mapping</vt:lpstr>
      <vt:lpstr>What are Classifications</vt:lpstr>
      <vt:lpstr>Classification Family</vt:lpstr>
      <vt:lpstr>Classification Series</vt:lpstr>
      <vt:lpstr>Statistical Classification</vt:lpstr>
      <vt:lpstr>Correspondence Table</vt:lpstr>
      <vt:lpstr>Map</vt:lpstr>
      <vt:lpstr>Correspondence Table and Map</vt:lpstr>
      <vt:lpstr>Points of Interest</vt:lpstr>
      <vt:lpstr>Demonstration!</vt:lpstr>
      <vt:lpstr>Demo – Classification Family</vt:lpstr>
      <vt:lpstr>Demo – Classification Family</vt:lpstr>
      <vt:lpstr>Demo – Classification Series</vt:lpstr>
      <vt:lpstr>Demo – Classification Series</vt:lpstr>
      <vt:lpstr>Demo – Statistical Classifications</vt:lpstr>
      <vt:lpstr>Demo – Statistical Classifications</vt:lpstr>
      <vt:lpstr>Demo – Statistical Classifications</vt:lpstr>
      <vt:lpstr>Demo – Correspondence Table</vt:lpstr>
      <vt:lpstr>Demo – Correspondence Table</vt:lpstr>
      <vt:lpstr>Demo – Correspondence Table</vt:lpstr>
      <vt:lpstr>Demo – Correspondence Table</vt:lpstr>
      <vt:lpstr>Demo – Correspondence Table</vt:lpstr>
      <vt:lpstr>Demo – Correspondence Table</vt:lpstr>
      <vt:lpstr>Demo – Correspondence Table</vt:lpstr>
      <vt:lpstr>Demo – Correspondence Table</vt:lpstr>
      <vt:lpstr>Takeaway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 Evaluation Information</dc:title>
  <dc:creator>jeremy</dc:creator>
  <cp:lastModifiedBy>Dan</cp:lastModifiedBy>
  <cp:revision>140</cp:revision>
  <dcterms:created xsi:type="dcterms:W3CDTF">2010-01-14T16:46:22Z</dcterms:created>
  <dcterms:modified xsi:type="dcterms:W3CDTF">2015-12-02T06:13:41Z</dcterms:modified>
</cp:coreProperties>
</file>