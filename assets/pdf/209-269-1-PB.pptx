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3"/>
  </p:notesMasterIdLst>
  <p:handoutMasterIdLst>
    <p:handoutMasterId r:id="rId34"/>
  </p:handoutMasterIdLst>
  <p:sldIdLst>
    <p:sldId id="256" r:id="rId2"/>
    <p:sldId id="289" r:id="rId3"/>
    <p:sldId id="264" r:id="rId4"/>
    <p:sldId id="309" r:id="rId5"/>
    <p:sldId id="288" r:id="rId6"/>
    <p:sldId id="308" r:id="rId7"/>
    <p:sldId id="291" r:id="rId8"/>
    <p:sldId id="292" r:id="rId9"/>
    <p:sldId id="312" r:id="rId10"/>
    <p:sldId id="293" r:id="rId11"/>
    <p:sldId id="294" r:id="rId12"/>
    <p:sldId id="319" r:id="rId13"/>
    <p:sldId id="311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13" r:id="rId27"/>
    <p:sldId id="314" r:id="rId28"/>
    <p:sldId id="315" r:id="rId29"/>
    <p:sldId id="317" r:id="rId30"/>
    <p:sldId id="316" r:id="rId31"/>
    <p:sldId id="318" r:id="rId32"/>
  </p:sldIdLst>
  <p:sldSz cx="9144000" cy="6858000" type="overhead"/>
  <p:notesSz cx="6735763" cy="98663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nb-NO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333399"/>
    <a:srgbClr val="0066CC"/>
    <a:srgbClr val="EAEAEA"/>
    <a:srgbClr val="F8F8F8"/>
    <a:srgbClr val="EEEEEE"/>
    <a:srgbClr val="F4F4F4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32" autoAdjust="0"/>
    <p:restoredTop sz="75311" autoAdjust="0"/>
  </p:normalViewPr>
  <p:slideViewPr>
    <p:cSldViewPr>
      <p:cViewPr>
        <p:scale>
          <a:sx n="60" d="100"/>
          <a:sy n="60" d="100"/>
        </p:scale>
        <p:origin x="-62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4104" y="-66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6281507" y="9462414"/>
            <a:ext cx="391408" cy="30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624" tIns="44517" rIns="90624" bIns="44517" anchor="ctr">
            <a:spAutoFit/>
          </a:bodyPr>
          <a:lstStyle/>
          <a:p>
            <a:pPr algn="r" defTabSz="915702"/>
            <a:fld id="{D823D58A-7891-4C01-B7E7-1294BAA0794E}" type="slidenum">
              <a:rPr lang="nb-NO" sz="1400">
                <a:solidFill>
                  <a:schemeClr val="tx1"/>
                </a:solidFill>
                <a:latin typeface="Times New Roman" pitchFamily="18" charset="0"/>
              </a:rPr>
              <a:pPr algn="r" defTabSz="915702"/>
              <a:t>‹#›</a:t>
            </a:fld>
            <a:endParaRPr lang="nb-NO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447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863600"/>
            <a:ext cx="4603750" cy="345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1027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7160" y="4690595"/>
            <a:ext cx="4941444" cy="4150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624" tIns="44517" rIns="90624" bIns="445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 smtClean="0"/>
              <a:t>Klikk for å redigere notatmalstiler i delmalen</a:t>
            </a:r>
          </a:p>
          <a:p>
            <a:pPr lvl="1"/>
            <a:r>
              <a:rPr lang="nb-NO" noProof="0" smtClean="0"/>
              <a:t>Andre nivå</a:t>
            </a:r>
          </a:p>
          <a:p>
            <a:pPr lvl="2"/>
            <a:r>
              <a:rPr lang="nb-NO" noProof="0" smtClean="0"/>
              <a:t>Tredje nivå</a:t>
            </a:r>
          </a:p>
          <a:p>
            <a:pPr lvl="3"/>
            <a:r>
              <a:rPr lang="nb-NO" noProof="0" smtClean="0"/>
              <a:t>Fjerde nivå</a:t>
            </a:r>
          </a:p>
          <a:p>
            <a:pPr lvl="4"/>
            <a:r>
              <a:rPr lang="nb-NO" noProof="0" smtClean="0"/>
              <a:t>Femte nivå</a:t>
            </a:r>
          </a:p>
        </p:txBody>
      </p:sp>
      <p:sp>
        <p:nvSpPr>
          <p:cNvPr id="15364" name="Rectangle 1028"/>
          <p:cNvSpPr>
            <a:spLocks noChangeArrowheads="1"/>
          </p:cNvSpPr>
          <p:nvPr/>
        </p:nvSpPr>
        <p:spPr bwMode="auto">
          <a:xfrm>
            <a:off x="6281507" y="9461628"/>
            <a:ext cx="391408" cy="30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624" tIns="44517" rIns="90624" bIns="44517" anchor="ctr">
            <a:spAutoFit/>
          </a:bodyPr>
          <a:lstStyle/>
          <a:p>
            <a:pPr algn="r" defTabSz="915702"/>
            <a:fld id="{374FAA1B-0FC9-47E4-9A65-E23895D4B409}" type="slidenum">
              <a:rPr lang="nb-NO" sz="1400">
                <a:solidFill>
                  <a:schemeClr val="tx1"/>
                </a:solidFill>
                <a:latin typeface="Times New Roman" pitchFamily="18" charset="0"/>
              </a:rPr>
              <a:pPr algn="r" defTabSz="915702"/>
              <a:t>‹#›</a:t>
            </a:fld>
            <a:endParaRPr lang="nb-NO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nb-NO" dirty="0" smtClean="0"/>
              <a:t>RAIRD </a:t>
            </a:r>
            <a:r>
              <a:rPr lang="nb-NO" dirty="0" err="1" smtClean="0"/>
              <a:t>attempts</a:t>
            </a:r>
            <a:r>
              <a:rPr lang="nb-NO" dirty="0" smtClean="0"/>
              <a:t> to </a:t>
            </a:r>
            <a:r>
              <a:rPr lang="nb-NO" dirty="0" err="1" smtClean="0"/>
              <a:t>solve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similar</a:t>
            </a:r>
            <a:r>
              <a:rPr lang="nb-NO" baseline="0" dirty="0" smtClean="0"/>
              <a:t> problems as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previous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project</a:t>
            </a:r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err="1" smtClean="0"/>
              <a:t>But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takes</a:t>
            </a:r>
            <a:r>
              <a:rPr lang="nb-NO" baseline="0" dirty="0" smtClean="0"/>
              <a:t> a different and </a:t>
            </a:r>
            <a:r>
              <a:rPr lang="nb-NO" baseline="0" dirty="0" err="1" smtClean="0"/>
              <a:t>complementary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approach</a:t>
            </a:r>
            <a:r>
              <a:rPr lang="nb-NO" baseline="0" dirty="0" smtClean="0"/>
              <a:t>.</a:t>
            </a:r>
          </a:p>
          <a:p>
            <a:endParaRPr lang="nb-NO" baseline="0" dirty="0" smtClean="0"/>
          </a:p>
          <a:p>
            <a:r>
              <a:rPr lang="nb-NO" baseline="0" dirty="0" err="1" smtClean="0"/>
              <a:t>Before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we</a:t>
            </a:r>
            <a:r>
              <a:rPr lang="nb-NO" baseline="0" dirty="0" smtClean="0"/>
              <a:t> start, I </a:t>
            </a:r>
            <a:r>
              <a:rPr lang="nb-NO" baseline="0" dirty="0" err="1" smtClean="0"/>
              <a:t>should</a:t>
            </a:r>
            <a:r>
              <a:rPr lang="nb-NO" baseline="0" dirty="0" smtClean="0"/>
              <a:t> </a:t>
            </a:r>
            <a:r>
              <a:rPr lang="nb-NO" baseline="0" dirty="0" err="1" smtClean="0"/>
              <a:t>give</a:t>
            </a:r>
            <a:r>
              <a:rPr lang="nb-NO" baseline="0" dirty="0" smtClean="0"/>
              <a:t> a </a:t>
            </a:r>
            <a:r>
              <a:rPr lang="nb-NO" baseline="0" dirty="0" err="1" smtClean="0"/>
              <a:t>short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introduction</a:t>
            </a:r>
            <a:r>
              <a:rPr lang="nb-NO" baseline="0" dirty="0" smtClean="0"/>
              <a:t> to RAIRD </a:t>
            </a:r>
          </a:p>
          <a:p>
            <a:r>
              <a:rPr lang="nb-NO" baseline="0" dirty="0" smtClean="0"/>
              <a:t>and </a:t>
            </a:r>
            <a:r>
              <a:rPr lang="nb-NO" baseline="0" dirty="0" err="1" smtClean="0"/>
              <a:t>its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context</a:t>
            </a:r>
            <a:r>
              <a:rPr lang="nb-NO" baseline="0" dirty="0" smtClean="0"/>
              <a:t> in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Norwegian </a:t>
            </a:r>
            <a:r>
              <a:rPr lang="nb-NO" baseline="0" dirty="0" err="1" smtClean="0"/>
              <a:t>research</a:t>
            </a:r>
            <a:r>
              <a:rPr lang="nb-NO" baseline="0" dirty="0" smtClean="0"/>
              <a:t> landscape</a:t>
            </a:r>
            <a:endParaRPr lang="nb-NO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The</a:t>
            </a:r>
            <a:r>
              <a:rPr lang="nb-NO" baseline="0" dirty="0" smtClean="0"/>
              <a:t> Norwegian Statistical </a:t>
            </a:r>
            <a:r>
              <a:rPr lang="nb-NO" baseline="0" dirty="0" err="1" smtClean="0"/>
              <a:t>act</a:t>
            </a:r>
            <a:r>
              <a:rPr lang="nb-NO" baseline="0" dirty="0" smtClean="0"/>
              <a:t> </a:t>
            </a:r>
            <a:r>
              <a:rPr lang="nb-NO" baseline="0" dirty="0" err="1" smtClean="0"/>
              <a:t>gives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Statisctics</a:t>
            </a:r>
            <a:r>
              <a:rPr lang="nb-NO" baseline="0" dirty="0" smtClean="0"/>
              <a:t> Norway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right to </a:t>
            </a:r>
            <a:r>
              <a:rPr lang="nb-NO" baseline="0" dirty="0" err="1" smtClean="0"/>
              <a:t>acquire</a:t>
            </a:r>
            <a:endParaRPr lang="nb-NO" baseline="0" dirty="0" smtClean="0"/>
          </a:p>
          <a:p>
            <a:r>
              <a:rPr lang="nb-NO" baseline="0" dirty="0" smtClean="0"/>
              <a:t>Data from administrative registers</a:t>
            </a:r>
          </a:p>
          <a:p>
            <a:r>
              <a:rPr lang="nb-NO" baseline="0" dirty="0" smtClean="0"/>
              <a:t>In order to </a:t>
            </a:r>
            <a:r>
              <a:rPr lang="nb-NO" baseline="0" dirty="0" err="1" smtClean="0"/>
              <a:t>produce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official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statistics</a:t>
            </a:r>
            <a:endParaRPr lang="nb-NO" baseline="0" dirty="0" smtClean="0"/>
          </a:p>
          <a:p>
            <a:r>
              <a:rPr lang="nb-NO" dirty="0" smtClean="0"/>
              <a:t>The data </a:t>
            </a:r>
            <a:r>
              <a:rPr lang="nb-NO" dirty="0" err="1" smtClean="0"/>
              <a:t>that</a:t>
            </a:r>
            <a:r>
              <a:rPr lang="nb-NO" baseline="0" dirty="0" smtClean="0"/>
              <a:t> Stats Norway </a:t>
            </a:r>
            <a:r>
              <a:rPr lang="nb-NO" baseline="0" dirty="0" err="1" smtClean="0"/>
              <a:t>use</a:t>
            </a:r>
            <a:r>
              <a:rPr lang="nb-NO" baseline="0" dirty="0" smtClean="0"/>
              <a:t>, </a:t>
            </a:r>
            <a:r>
              <a:rPr lang="nb-NO" baseline="0" dirty="0" err="1" smtClean="0"/>
              <a:t>can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also</a:t>
            </a:r>
            <a:r>
              <a:rPr lang="nb-NO" baseline="0" dirty="0" smtClean="0"/>
              <a:t> be used for </a:t>
            </a:r>
            <a:r>
              <a:rPr lang="nb-NO" baseline="0" dirty="0" err="1" smtClean="0"/>
              <a:t>research</a:t>
            </a:r>
            <a:r>
              <a:rPr lang="nb-NO" baseline="0" dirty="0" smtClean="0"/>
              <a:t> purposes</a:t>
            </a:r>
          </a:p>
          <a:p>
            <a:endParaRPr lang="nb-NO" baseline="0" dirty="0" smtClean="0"/>
          </a:p>
          <a:p>
            <a:r>
              <a:rPr lang="nb-NO" baseline="0" dirty="0" smtClean="0"/>
              <a:t>Here </a:t>
            </a:r>
            <a:r>
              <a:rPr lang="nb-NO" baseline="0" dirty="0" err="1" smtClean="0"/>
              <a:t>you</a:t>
            </a:r>
            <a:r>
              <a:rPr lang="nb-NO" baseline="0" dirty="0" smtClean="0"/>
              <a:t> </a:t>
            </a:r>
            <a:r>
              <a:rPr lang="nb-NO" baseline="0" dirty="0" err="1" smtClean="0"/>
              <a:t>can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see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some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of</a:t>
            </a:r>
            <a:r>
              <a:rPr lang="nb-NO" baseline="0" dirty="0" smtClean="0"/>
              <a:t> </a:t>
            </a:r>
            <a:r>
              <a:rPr lang="nb-NO" baseline="0" dirty="0" err="1" smtClean="0"/>
              <a:t>the</a:t>
            </a:r>
            <a:r>
              <a:rPr lang="nb-NO" baseline="0" dirty="0" smtClean="0"/>
              <a:t> registers relevant for RAIRD.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74513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09" cy="4439841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7"/>
          <p:cNvSpPr>
            <a:spLocks noChangeArrowheads="1"/>
          </p:cNvSpPr>
          <p:nvPr/>
        </p:nvSpPr>
        <p:spPr bwMode="auto">
          <a:xfrm>
            <a:off x="8305800" y="762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/>
            <a:fld id="{20B0FEFF-A5DA-490C-8E73-CFB2809D177E}" type="slidenum">
              <a:rPr lang="nb-NO" sz="1400" b="1">
                <a:solidFill>
                  <a:schemeClr val="bg1"/>
                </a:solidFill>
              </a:rPr>
              <a:pPr algn="r"/>
              <a:t>‹#›</a:t>
            </a:fld>
            <a:endParaRPr lang="nb-NO" sz="1400" b="1">
              <a:solidFill>
                <a:schemeClr val="bg1"/>
              </a:solidFill>
            </a:endParaRPr>
          </a:p>
        </p:txBody>
      </p:sp>
      <p:pic>
        <p:nvPicPr>
          <p:cNvPr id="4" name="Picture 3" descr="C:\Users\bo\Desktop\raird-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6453188"/>
            <a:ext cx="1208088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kstSylinder 4"/>
          <p:cNvSpPr txBox="1">
            <a:spLocks noChangeArrowheads="1"/>
          </p:cNvSpPr>
          <p:nvPr userDrawn="1"/>
        </p:nvSpPr>
        <p:spPr bwMode="auto">
          <a:xfrm>
            <a:off x="323850" y="6453188"/>
            <a:ext cx="67691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nb-NO" sz="1100" dirty="0" smtClean="0"/>
              <a:t>REMOTE ACCESS INFRASTRUCTURE FOR REGISTER DATA </a:t>
            </a:r>
            <a:r>
              <a:rPr lang="nb-NO" sz="1100" dirty="0" smtClean="0">
                <a:solidFill>
                  <a:srgbClr val="0B5395"/>
                </a:solidFill>
              </a:rPr>
              <a:t>/ www.raird.no</a:t>
            </a:r>
          </a:p>
        </p:txBody>
      </p:sp>
      <p:sp>
        <p:nvSpPr>
          <p:cNvPr id="440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27584" y="1988840"/>
            <a:ext cx="7704856" cy="403244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b-NO" noProof="0" dirty="0" smtClean="0"/>
              <a:t>Klikk for å redigere undertittelstil i malen</a:t>
            </a:r>
          </a:p>
        </p:txBody>
      </p:sp>
    </p:spTree>
    <p:extLst>
      <p:ext uri="{BB962C8B-B14F-4D97-AF65-F5344CB8AC3E}">
        <p14:creationId xmlns:p14="http://schemas.microsoft.com/office/powerpoint/2010/main" val="56816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6542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6919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533400" y="17526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02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972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97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311701" y="593367"/>
            <a:ext cx="8520599" cy="763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311701" y="1536633"/>
            <a:ext cx="8520599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90251" y="6241345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307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557338"/>
            <a:ext cx="8382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Klikk for å redigere tekststilene i delmalen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</p:txBody>
      </p:sp>
      <p:pic>
        <p:nvPicPr>
          <p:cNvPr id="1027" name="Picture 3" descr="C:\Users\bo\Desktop\raird-logo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60350"/>
            <a:ext cx="21748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ekstSylinder 9"/>
          <p:cNvSpPr txBox="1">
            <a:spLocks noChangeArrowheads="1"/>
          </p:cNvSpPr>
          <p:nvPr userDrawn="1"/>
        </p:nvSpPr>
        <p:spPr bwMode="auto">
          <a:xfrm>
            <a:off x="468313" y="6524625"/>
            <a:ext cx="67675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nb-NO" sz="1100" dirty="0" smtClean="0"/>
              <a:t>Remote Access Infrastructure for Register Data </a:t>
            </a:r>
            <a:r>
              <a:rPr lang="nb-NO" sz="1100" dirty="0" smtClean="0">
                <a:solidFill>
                  <a:srgbClr val="0B5395"/>
                </a:solidFill>
              </a:rPr>
              <a:t>/ www.raird.no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charset="0"/>
        </a:defRPr>
      </a:lvl9pPr>
    </p:titleStyle>
    <p:bodyStyle>
      <a:lvl1pPr marL="246063" indent="-246063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SzPct val="13000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663575" indent="-227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1049338" indent="-195263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>
          <a:solidFill>
            <a:srgbClr val="000000"/>
          </a:solidFill>
          <a:latin typeface="+mn-lt"/>
        </a:defRPr>
      </a:lvl3pPr>
      <a:lvl4pPr marL="1616075" indent="-282575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21129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701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0273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845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9417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34400" y="6477000"/>
            <a:ext cx="3937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</a:defRPr>
            </a:lvl9pPr>
          </a:lstStyle>
          <a:p>
            <a:fld id="{3D495653-ABD1-4B8A-9E0D-890DD863A430}" type="slidenum">
              <a:rPr lang="nb-NO" sz="1200"/>
              <a:pPr/>
              <a:t>1</a:t>
            </a:fld>
            <a:endParaRPr lang="nb-NO" sz="12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755576" y="548680"/>
            <a:ext cx="71628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nb-NO" sz="4400" dirty="0" smtClean="0"/>
              <a:t>RAIRD </a:t>
            </a:r>
            <a:br>
              <a:rPr lang="nb-NO" sz="4400" dirty="0" smtClean="0"/>
            </a:br>
            <a:r>
              <a:rPr lang="nb-NO" sz="4400" dirty="0" smtClean="0"/>
              <a:t>Remote Access Infrastructure for Register </a:t>
            </a:r>
            <a:r>
              <a:rPr lang="nb-NO" sz="4400" dirty="0" smtClean="0"/>
              <a:t>Data</a:t>
            </a:r>
            <a:br>
              <a:rPr lang="nb-NO" sz="4400" dirty="0" smtClean="0"/>
            </a:br>
            <a:r>
              <a:rPr lang="nb-NO" sz="4400" dirty="0" smtClean="0"/>
              <a:t/>
            </a:r>
            <a:br>
              <a:rPr lang="nb-NO" sz="4400" dirty="0" smtClean="0"/>
            </a:br>
            <a:r>
              <a:rPr lang="nb-NO" sz="2800" dirty="0" err="1" smtClean="0"/>
              <a:t>Documenting</a:t>
            </a:r>
            <a:r>
              <a:rPr lang="nb-NO" sz="2800" dirty="0" smtClean="0"/>
              <a:t> </a:t>
            </a:r>
            <a:r>
              <a:rPr lang="nb-NO" sz="2800" dirty="0" err="1" smtClean="0"/>
              <a:t>the</a:t>
            </a:r>
            <a:r>
              <a:rPr lang="nb-NO" sz="2800" dirty="0" smtClean="0"/>
              <a:t> life-</a:t>
            </a:r>
            <a:r>
              <a:rPr lang="nb-NO" sz="2800" dirty="0" err="1" smtClean="0"/>
              <a:t>cycle</a:t>
            </a:r>
            <a:r>
              <a:rPr lang="nb-NO" sz="2800" dirty="0" smtClean="0"/>
              <a:t> </a:t>
            </a:r>
            <a:r>
              <a:rPr lang="nb-NO" sz="2800" dirty="0" err="1" smtClean="0"/>
              <a:t>of</a:t>
            </a:r>
            <a:r>
              <a:rPr lang="nb-NO" sz="2800" dirty="0" smtClean="0"/>
              <a:t> </a:t>
            </a:r>
            <a:r>
              <a:rPr lang="nb-NO" sz="2800" dirty="0" err="1" smtClean="0"/>
              <a:t>every</a:t>
            </a:r>
            <a:r>
              <a:rPr lang="nb-NO" sz="2800" dirty="0" smtClean="0"/>
              <a:t> data </a:t>
            </a:r>
            <a:r>
              <a:rPr lang="nb-NO" sz="2800" dirty="0" err="1" smtClean="0"/>
              <a:t>point</a:t>
            </a:r>
            <a:r>
              <a:rPr lang="nb-NO" sz="4400" dirty="0" smtClean="0"/>
              <a:t/>
            </a:r>
            <a:br>
              <a:rPr lang="nb-NO" sz="4400" dirty="0" smtClean="0"/>
            </a:br>
            <a:r>
              <a:rPr lang="nb-NO" sz="1800" dirty="0" smtClean="0"/>
              <a:t/>
            </a:r>
            <a:br>
              <a:rPr lang="nb-NO" sz="1800" dirty="0" smtClean="0"/>
            </a:br>
            <a:r>
              <a:rPr lang="nb-NO" sz="1400" dirty="0"/>
              <a:t/>
            </a:r>
            <a:br>
              <a:rPr lang="nb-NO" sz="1400" dirty="0"/>
            </a:br>
            <a:r>
              <a:rPr lang="nb-NO" sz="1400" dirty="0" smtClean="0"/>
              <a:t>Ørnulf Risnes, </a:t>
            </a:r>
            <a:br>
              <a:rPr lang="nb-NO" sz="1400" dirty="0" smtClean="0"/>
            </a:br>
            <a:r>
              <a:rPr lang="nb-NO" sz="1400" dirty="0" smtClean="0"/>
              <a:t>Norwegian </a:t>
            </a:r>
            <a:r>
              <a:rPr lang="nb-NO" sz="1400" dirty="0" err="1" smtClean="0"/>
              <a:t>Social</a:t>
            </a:r>
            <a:r>
              <a:rPr lang="nb-NO" sz="1400" dirty="0" smtClean="0"/>
              <a:t> </a:t>
            </a:r>
            <a:r>
              <a:rPr lang="nb-NO" sz="1400" dirty="0" err="1" smtClean="0"/>
              <a:t>Science</a:t>
            </a:r>
            <a:r>
              <a:rPr lang="nb-NO" sz="1400" dirty="0" smtClean="0"/>
              <a:t> Data Services (NSD)</a:t>
            </a:r>
            <a:br>
              <a:rPr lang="nb-NO" sz="1400" dirty="0" smtClean="0"/>
            </a:br>
            <a:r>
              <a:rPr lang="nb-NO" sz="1400" dirty="0" smtClean="0"/>
              <a:t>&lt;ornulf.risnes@nsd.uib.no&gt;</a:t>
            </a:r>
            <a:br>
              <a:rPr lang="nb-NO" sz="1400" dirty="0" smtClean="0"/>
            </a:br>
            <a:r>
              <a:rPr lang="nb-NO" sz="1400" dirty="0" smtClean="0"/>
              <a:t/>
            </a:r>
            <a:br>
              <a:rPr lang="nb-NO" sz="1400" dirty="0" smtClean="0"/>
            </a:br>
            <a:r>
              <a:rPr lang="nb-NO" sz="1400" dirty="0" smtClean="0"/>
              <a:t>EDDI 2015</a:t>
            </a:r>
            <a:r>
              <a:rPr lang="nb-NO" sz="1400" dirty="0" smtClean="0"/>
              <a:t/>
            </a:r>
            <a:br>
              <a:rPr lang="nb-NO" sz="1400" dirty="0" smtClean="0"/>
            </a:br>
            <a:r>
              <a:rPr lang="nb-NO" sz="1400" dirty="0" smtClean="0"/>
              <a:t>Copenhagen 3 </a:t>
            </a:r>
            <a:r>
              <a:rPr lang="nb-NO" sz="1400" dirty="0" err="1" smtClean="0"/>
              <a:t>December</a:t>
            </a:r>
            <a:r>
              <a:rPr lang="nb-NO" sz="1400" dirty="0" smtClean="0"/>
              <a:t> </a:t>
            </a:r>
            <a:r>
              <a:rPr lang="nb-NO" sz="1400" dirty="0" smtClean="0"/>
              <a:t>2015</a:t>
            </a:r>
            <a:r>
              <a:rPr lang="nb-NO" sz="2800" dirty="0"/>
              <a:t/>
            </a:r>
            <a:br>
              <a:rPr lang="nb-NO" sz="2800" dirty="0"/>
            </a:br>
            <a:r>
              <a:rPr lang="nb-NO" sz="3600" dirty="0" smtClean="0"/>
              <a:t/>
            </a:r>
            <a:br>
              <a:rPr lang="nb-NO" sz="3600" dirty="0" smtClean="0"/>
            </a:br>
            <a:r>
              <a:rPr lang="nb-NO" sz="4400" dirty="0"/>
              <a:t/>
            </a:r>
            <a:br>
              <a:rPr lang="nb-NO" sz="4400" dirty="0"/>
            </a:br>
            <a:endParaRPr lang="nb-NO" sz="2000" dirty="0" smtClean="0"/>
          </a:p>
        </p:txBody>
      </p:sp>
      <p:pic>
        <p:nvPicPr>
          <p:cNvPr id="1026" name="Picture 2" descr="https://pbs.twimg.com/profile_images/562974788772048896/H8o0lpcd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642618"/>
            <a:ext cx="886991" cy="88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SB logo (Gå til forsiden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760883"/>
            <a:ext cx="3226296" cy="65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or.NSD\AppData\Local\Temp\FRlogoEngrgb-farger,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515" y="5951531"/>
            <a:ext cx="1440160" cy="26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"/>
    </mc:Choice>
    <mc:Fallback>
      <p:transition spd="slow" advTm="56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1619671" y="1052736"/>
            <a:ext cx="5544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RAIRD</a:t>
            </a:r>
          </a:p>
          <a:p>
            <a:pPr algn="ctr"/>
            <a:r>
              <a:rPr lang="nb-NO" sz="4000" dirty="0" smtClean="0"/>
              <a:t>(See http://raird.no) </a:t>
            </a:r>
            <a:endParaRPr lang="nb-NO" sz="4000" dirty="0"/>
          </a:p>
        </p:txBody>
      </p:sp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Context</a:t>
            </a:r>
            <a:r>
              <a:rPr lang="nb-NO" dirty="0" smtClean="0"/>
              <a:t> </a:t>
            </a:r>
            <a:r>
              <a:rPr lang="nb-NO" dirty="0" err="1" smtClean="0"/>
              <a:t>of</a:t>
            </a:r>
            <a:r>
              <a:rPr lang="nb-NO" dirty="0" smtClean="0"/>
              <a:t> talk</a:t>
            </a:r>
            <a:endParaRPr lang="nb-NO" dirty="0"/>
          </a:p>
        </p:txBody>
      </p:sp>
      <p:sp>
        <p:nvSpPr>
          <p:cNvPr id="6" name="TekstSylinder 5"/>
          <p:cNvSpPr txBox="1"/>
          <p:nvPr/>
        </p:nvSpPr>
        <p:spPr>
          <a:xfrm>
            <a:off x="971599" y="2636912"/>
            <a:ext cx="68407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err="1" smtClean="0"/>
              <a:t>NORD-i</a:t>
            </a:r>
            <a:endParaRPr lang="nb-NO" sz="4000" dirty="0" smtClean="0"/>
          </a:p>
          <a:p>
            <a:pPr algn="ctr"/>
            <a:r>
              <a:rPr lang="nb-NO" sz="4000" dirty="0" smtClean="0"/>
              <a:t>(Data </a:t>
            </a:r>
            <a:r>
              <a:rPr lang="nb-NO" sz="4000" dirty="0" err="1" smtClean="0"/>
              <a:t>Curation</a:t>
            </a:r>
            <a:r>
              <a:rPr lang="nb-NO" sz="4000" dirty="0" smtClean="0"/>
              <a:t> Platform)</a:t>
            </a:r>
            <a:endParaRPr lang="nb-NO" sz="4000" dirty="0"/>
          </a:p>
        </p:txBody>
      </p:sp>
      <p:sp>
        <p:nvSpPr>
          <p:cNvPr id="7" name="TekstSylinder 6"/>
          <p:cNvSpPr txBox="1"/>
          <p:nvPr/>
        </p:nvSpPr>
        <p:spPr>
          <a:xfrm>
            <a:off x="1619672" y="4437112"/>
            <a:ext cx="5544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DDI </a:t>
            </a:r>
            <a:r>
              <a:rPr lang="nb-NO" sz="4000" dirty="0" err="1" smtClean="0"/>
              <a:t>Moving</a:t>
            </a:r>
            <a:r>
              <a:rPr lang="nb-NO" sz="4000" dirty="0" smtClean="0"/>
              <a:t> Forward</a:t>
            </a:r>
          </a:p>
          <a:p>
            <a:pPr algn="ctr"/>
            <a:r>
              <a:rPr lang="nb-NO" sz="4000" dirty="0" smtClean="0"/>
              <a:t>(Data </a:t>
            </a:r>
            <a:r>
              <a:rPr lang="nb-NO" sz="4000" dirty="0" err="1" smtClean="0"/>
              <a:t>Description</a:t>
            </a:r>
            <a:r>
              <a:rPr lang="nb-NO" sz="4000" dirty="0" smtClean="0"/>
              <a:t>)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25648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4"/>
          <p:cNvSpPr>
            <a:spLocks noGrp="1"/>
          </p:cNvSpPr>
          <p:nvPr>
            <p:ph idx="1"/>
          </p:nvPr>
        </p:nvSpPr>
        <p:spPr>
          <a:xfrm>
            <a:off x="488950" y="1052736"/>
            <a:ext cx="8382000" cy="5152802"/>
          </a:xfrm>
        </p:spPr>
        <p:txBody>
          <a:bodyPr/>
          <a:lstStyle/>
          <a:p>
            <a:pPr marL="0" indent="0">
              <a:buNone/>
            </a:pPr>
            <a:r>
              <a:rPr lang="nb-NO" sz="2800" dirty="0" smtClean="0">
                <a:latin typeface="+mj-lt"/>
              </a:rPr>
              <a:t>Goal </a:t>
            </a:r>
            <a:r>
              <a:rPr lang="nb-NO" sz="2800" dirty="0" err="1" smtClean="0">
                <a:latin typeface="+mj-lt"/>
              </a:rPr>
              <a:t>of</a:t>
            </a:r>
            <a:r>
              <a:rPr lang="nb-NO" sz="2800" dirty="0" smtClean="0">
                <a:latin typeface="+mj-lt"/>
              </a:rPr>
              <a:t> RAIRD:</a:t>
            </a:r>
            <a:br>
              <a:rPr lang="nb-NO" sz="2800" dirty="0" smtClean="0">
                <a:latin typeface="+mj-lt"/>
              </a:rPr>
            </a:br>
            <a:r>
              <a:rPr lang="nb-NO" sz="2800" dirty="0" err="1" smtClean="0">
                <a:latin typeface="+mj-lt"/>
              </a:rPr>
              <a:t>Increase</a:t>
            </a:r>
            <a:r>
              <a:rPr lang="nb-NO" sz="2800" dirty="0" smtClean="0">
                <a:latin typeface="+mj-lt"/>
              </a:rPr>
              <a:t> research </a:t>
            </a:r>
            <a:r>
              <a:rPr lang="nb-NO" sz="2800" dirty="0" err="1" smtClean="0">
                <a:latin typeface="+mj-lt"/>
              </a:rPr>
              <a:t>on</a:t>
            </a:r>
            <a:r>
              <a:rPr lang="nb-NO" sz="2800" dirty="0" smtClean="0">
                <a:latin typeface="+mj-lt"/>
              </a:rPr>
              <a:t> data from administrative registers</a:t>
            </a:r>
            <a:endParaRPr lang="nb-NO" sz="2800" dirty="0">
              <a:latin typeface="+mj-lt"/>
            </a:endParaRPr>
          </a:p>
        </p:txBody>
      </p:sp>
      <p:grpSp>
        <p:nvGrpSpPr>
          <p:cNvPr id="11" name="Gruppe 10"/>
          <p:cNvGrpSpPr/>
          <p:nvPr/>
        </p:nvGrpSpPr>
        <p:grpSpPr>
          <a:xfrm>
            <a:off x="827584" y="2636912"/>
            <a:ext cx="7632848" cy="2239178"/>
            <a:chOff x="467544" y="4301550"/>
            <a:chExt cx="7632848" cy="2239178"/>
          </a:xfrm>
        </p:grpSpPr>
        <p:sp>
          <p:nvSpPr>
            <p:cNvPr id="6" name="Sylinder 5"/>
            <p:cNvSpPr/>
            <p:nvPr/>
          </p:nvSpPr>
          <p:spPr bwMode="auto">
            <a:xfrm>
              <a:off x="5220072" y="5219491"/>
              <a:ext cx="1440160" cy="1321237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Tax</a:t>
              </a:r>
              <a:r>
                <a:rPr lang="nb-NO" dirty="0">
                  <a:solidFill>
                    <a:srgbClr val="336699"/>
                  </a:solidFill>
                </a:rPr>
                <a:t>/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Income</a:t>
              </a:r>
            </a:p>
          </p:txBody>
        </p:sp>
        <p:sp>
          <p:nvSpPr>
            <p:cNvPr id="7" name="Sylinder 6"/>
            <p:cNvSpPr/>
            <p:nvPr/>
          </p:nvSpPr>
          <p:spPr bwMode="auto">
            <a:xfrm>
              <a:off x="467544" y="5157192"/>
              <a:ext cx="1440160" cy="1321237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Civil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smtClean="0">
                  <a:solidFill>
                    <a:srgbClr val="336699"/>
                  </a:solidFill>
                </a:rPr>
                <a:t>Regist</a:t>
              </a:r>
              <a:endParaRPr lang="nb-NO" dirty="0" smtClean="0">
                <a:solidFill>
                  <a:srgbClr val="336699"/>
                </a:solidFill>
              </a:endParaRPr>
            </a:p>
          </p:txBody>
        </p:sp>
        <p:sp>
          <p:nvSpPr>
            <p:cNvPr id="8" name="Sylinder 7"/>
            <p:cNvSpPr/>
            <p:nvPr/>
          </p:nvSpPr>
          <p:spPr bwMode="auto">
            <a:xfrm>
              <a:off x="1907704" y="4301550"/>
              <a:ext cx="1656184" cy="2176879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Statistics </a:t>
              </a:r>
              <a:r>
                <a:rPr lang="nb-NO" dirty="0" err="1" smtClean="0">
                  <a:solidFill>
                    <a:srgbClr val="336699"/>
                  </a:solidFill>
                </a:rPr>
                <a:t>Norway’s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err="1" smtClean="0">
                  <a:solidFill>
                    <a:srgbClr val="336699"/>
                  </a:solidFill>
                </a:rPr>
                <a:t>Events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DB</a:t>
              </a:r>
            </a:p>
          </p:txBody>
        </p:sp>
        <p:sp>
          <p:nvSpPr>
            <p:cNvPr id="9" name="Sylinder 8"/>
            <p:cNvSpPr/>
            <p:nvPr/>
          </p:nvSpPr>
          <p:spPr bwMode="auto">
            <a:xfrm>
              <a:off x="3563888" y="4725144"/>
              <a:ext cx="1656184" cy="1815584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National </a:t>
              </a:r>
              <a:r>
                <a:rPr lang="nb-NO" dirty="0" err="1" smtClean="0">
                  <a:solidFill>
                    <a:srgbClr val="336699"/>
                  </a:solidFill>
                </a:rPr>
                <a:t>Education</a:t>
              </a:r>
              <a:endParaRPr lang="nb-NO" dirty="0" smtClean="0">
                <a:solidFill>
                  <a:srgbClr val="336699"/>
                </a:solidFill>
              </a:endParaRPr>
            </a:p>
            <a:p>
              <a:pPr algn="ctr"/>
              <a:r>
                <a:rPr lang="nb-NO" dirty="0" smtClean="0">
                  <a:solidFill>
                    <a:srgbClr val="336699"/>
                  </a:solidFill>
                </a:rPr>
                <a:t>DB</a:t>
              </a:r>
            </a:p>
          </p:txBody>
        </p:sp>
        <p:sp>
          <p:nvSpPr>
            <p:cNvPr id="10" name="Sylinder 9"/>
            <p:cNvSpPr/>
            <p:nvPr/>
          </p:nvSpPr>
          <p:spPr bwMode="auto">
            <a:xfrm>
              <a:off x="6660232" y="5744409"/>
              <a:ext cx="1440160" cy="734020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rgbClr val="3366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nb-NO" dirty="0" smtClean="0">
                <a:solidFill>
                  <a:srgbClr val="336699"/>
                </a:solidFill>
              </a:endParaRPr>
            </a:p>
          </p:txBody>
        </p:sp>
      </p:grpSp>
      <p:pic>
        <p:nvPicPr>
          <p:cNvPr id="12" name="Picture 4" descr="SSB logo (Gå til forsiden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876" y="5121877"/>
            <a:ext cx="3226296" cy="65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5258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0"/>
    </mc:Choice>
    <mc:Fallback>
      <p:transition spd="slow" advTm="121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1619672" y="1844824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50-60 SAS-files</a:t>
            </a:r>
            <a:endParaRPr lang="nb-NO" sz="4000" dirty="0"/>
          </a:p>
        </p:txBody>
      </p:sp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Initial </a:t>
            </a:r>
            <a:r>
              <a:rPr lang="nb-NO" dirty="0" err="1" smtClean="0"/>
              <a:t>exposure</a:t>
            </a:r>
            <a:r>
              <a:rPr lang="nb-NO" dirty="0" smtClean="0"/>
              <a:t> to </a:t>
            </a:r>
            <a:r>
              <a:rPr lang="nb-NO" dirty="0" err="1" smtClean="0"/>
              <a:t>the</a:t>
            </a:r>
            <a:r>
              <a:rPr lang="nb-NO" dirty="0" smtClean="0"/>
              <a:t> problem</a:t>
            </a:r>
            <a:endParaRPr lang="nb-NO" dirty="0"/>
          </a:p>
        </p:txBody>
      </p:sp>
      <p:sp>
        <p:nvSpPr>
          <p:cNvPr id="6" name="TekstSylinder 5"/>
          <p:cNvSpPr txBox="1"/>
          <p:nvPr/>
        </p:nvSpPr>
        <p:spPr>
          <a:xfrm>
            <a:off x="1619672" y="3429000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/>
              <a:t>a</a:t>
            </a:r>
            <a:r>
              <a:rPr lang="nb-NO" sz="4000" dirty="0" smtClean="0"/>
              <a:t>nd a PDF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163885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1.bp.blogspot.com/-YOO3HuA0_PY/UWgkRRmId5I/AAAAAAAADFs/Wp6wcXzqh68/s1600/jim_carrey_in_dumb_and_dumb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76672"/>
            <a:ext cx="4079630" cy="554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27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1619672" y="1844824"/>
            <a:ext cx="55446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More </a:t>
            </a:r>
            <a:r>
              <a:rPr lang="nb-NO" sz="4000" dirty="0" err="1" smtClean="0"/>
              <a:t>abstractions</a:t>
            </a:r>
            <a:endParaRPr lang="nb-NO" sz="4000" dirty="0" smtClean="0"/>
          </a:p>
          <a:p>
            <a:pPr algn="ctr"/>
            <a:endParaRPr lang="nb-NO" sz="4000" dirty="0"/>
          </a:p>
          <a:p>
            <a:pPr algn="ctr"/>
            <a:r>
              <a:rPr lang="nb-NO" sz="4000" dirty="0" smtClean="0"/>
              <a:t>or</a:t>
            </a:r>
          </a:p>
          <a:p>
            <a:pPr algn="ctr"/>
            <a:endParaRPr lang="nb-NO" sz="4000" dirty="0"/>
          </a:p>
          <a:p>
            <a:pPr algn="ctr"/>
            <a:r>
              <a:rPr lang="nb-NO" sz="4000" dirty="0" err="1" smtClean="0"/>
              <a:t>Deeper</a:t>
            </a:r>
            <a:r>
              <a:rPr lang="nb-NO" sz="4000" dirty="0" smtClean="0"/>
              <a:t> </a:t>
            </a:r>
            <a:r>
              <a:rPr lang="nb-NO" sz="4000" dirty="0" err="1" smtClean="0"/>
              <a:t>understanding</a:t>
            </a:r>
            <a:r>
              <a:rPr lang="nb-NO" sz="4000" dirty="0" smtClean="0"/>
              <a:t>?</a:t>
            </a:r>
            <a:endParaRPr lang="nb-NO" sz="4000" dirty="0"/>
          </a:p>
        </p:txBody>
      </p:sp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A </a:t>
            </a:r>
            <a:r>
              <a:rPr lang="nb-NO" dirty="0" err="1" smtClean="0"/>
              <a:t>better</a:t>
            </a:r>
            <a:r>
              <a:rPr lang="nb-NO" dirty="0" smtClean="0"/>
              <a:t> </a:t>
            </a:r>
            <a:r>
              <a:rPr lang="nb-NO" dirty="0" err="1" smtClean="0"/>
              <a:t>understanding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8586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File-</a:t>
            </a:r>
            <a:r>
              <a:rPr lang="nb-NO" dirty="0" err="1" smtClean="0"/>
              <a:t>based</a:t>
            </a:r>
            <a:r>
              <a:rPr lang="nb-NO" dirty="0" smtClean="0"/>
              <a:t> </a:t>
            </a:r>
            <a:r>
              <a:rPr lang="nb-NO" dirty="0" err="1" smtClean="0"/>
              <a:t>vocabulary</a:t>
            </a:r>
            <a:endParaRPr lang="nb-NO" dirty="0"/>
          </a:p>
        </p:txBody>
      </p:sp>
      <p:sp>
        <p:nvSpPr>
          <p:cNvPr id="2" name="Bildeforklaring formet som et avrundet rektangel 1"/>
          <p:cNvSpPr/>
          <p:nvPr/>
        </p:nvSpPr>
        <p:spPr bwMode="auto">
          <a:xfrm>
            <a:off x="1331640" y="1052736"/>
            <a:ext cx="6192688" cy="3600400"/>
          </a:xfrm>
          <a:prstGeom prst="wedgeRoundRectCallout">
            <a:avLst>
              <a:gd name="adj1" fmla="val -34835"/>
              <a:gd name="adj2" fmla="val 75199"/>
              <a:gd name="adj3" fmla="val 16667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5" name="Indre lager 4"/>
          <p:cNvSpPr/>
          <p:nvPr/>
        </p:nvSpPr>
        <p:spPr bwMode="auto">
          <a:xfrm>
            <a:off x="1835696" y="1484784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6" name="Indre lager 5"/>
          <p:cNvSpPr/>
          <p:nvPr/>
        </p:nvSpPr>
        <p:spPr bwMode="auto">
          <a:xfrm>
            <a:off x="5652120" y="1637184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7" name="Indre lager 6"/>
          <p:cNvSpPr/>
          <p:nvPr/>
        </p:nvSpPr>
        <p:spPr bwMode="auto">
          <a:xfrm>
            <a:off x="3386048" y="2591180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8" name="Indre lager 7"/>
          <p:cNvSpPr/>
          <p:nvPr/>
        </p:nvSpPr>
        <p:spPr bwMode="auto">
          <a:xfrm>
            <a:off x="5112060" y="2952283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9" name="Indre lager 8"/>
          <p:cNvSpPr/>
          <p:nvPr/>
        </p:nvSpPr>
        <p:spPr bwMode="auto">
          <a:xfrm>
            <a:off x="3367275" y="1484784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10" name="Indre lager 9"/>
          <p:cNvSpPr/>
          <p:nvPr/>
        </p:nvSpPr>
        <p:spPr bwMode="auto">
          <a:xfrm>
            <a:off x="1835696" y="3384331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11" name="Indre lager 10"/>
          <p:cNvSpPr/>
          <p:nvPr/>
        </p:nvSpPr>
        <p:spPr bwMode="auto">
          <a:xfrm>
            <a:off x="3707904" y="3645024"/>
            <a:ext cx="1080120" cy="864096"/>
          </a:xfrm>
          <a:prstGeom prst="flowChartInternalStorag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12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GSIM </a:t>
            </a:r>
            <a:r>
              <a:rPr lang="nb-NO" dirty="0" err="1" smtClean="0"/>
              <a:t>had</a:t>
            </a:r>
            <a:r>
              <a:rPr lang="nb-NO" dirty="0" smtClean="0"/>
              <a:t> «Datum»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1412776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kstSylinder 12"/>
          <p:cNvSpPr txBox="1"/>
          <p:nvPr/>
        </p:nvSpPr>
        <p:spPr>
          <a:xfrm>
            <a:off x="1907703" y="3861048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Datum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315056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GSIM </a:t>
            </a:r>
            <a:r>
              <a:rPr lang="nb-NO" dirty="0" err="1" smtClean="0"/>
              <a:t>had</a:t>
            </a:r>
            <a:r>
              <a:rPr lang="nb-NO" dirty="0" smtClean="0"/>
              <a:t> «Datum»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1412776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kstSylinder 12"/>
          <p:cNvSpPr txBox="1"/>
          <p:nvPr/>
        </p:nvSpPr>
        <p:spPr>
          <a:xfrm>
            <a:off x="1907703" y="3861048"/>
            <a:ext cx="53285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Datum</a:t>
            </a:r>
          </a:p>
          <a:p>
            <a:pPr algn="ctr"/>
            <a:r>
              <a:rPr lang="nb-NO" sz="4000" dirty="0" smtClean="0"/>
              <a:t>- </a:t>
            </a:r>
            <a:r>
              <a:rPr lang="nb-NO" sz="4000" dirty="0" err="1" smtClean="0"/>
              <a:t>the</a:t>
            </a:r>
            <a:r>
              <a:rPr lang="nb-NO" sz="4000" dirty="0" smtClean="0"/>
              <a:t> </a:t>
            </a:r>
            <a:r>
              <a:rPr lang="nb-NO" sz="4000" dirty="0" err="1" smtClean="0"/>
              <a:t>key</a:t>
            </a:r>
            <a:r>
              <a:rPr lang="nb-NO" sz="4000" dirty="0" smtClean="0"/>
              <a:t> to </a:t>
            </a:r>
            <a:r>
              <a:rPr lang="nb-NO" sz="4000" dirty="0" err="1" smtClean="0"/>
              <a:t>understanding</a:t>
            </a:r>
            <a:r>
              <a:rPr lang="nb-NO" sz="4000" dirty="0" smtClean="0"/>
              <a:t> (all?) data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249699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Datums </a:t>
            </a:r>
            <a:r>
              <a:rPr lang="nb-NO" dirty="0" err="1" smtClean="0"/>
              <a:t>are</a:t>
            </a:r>
            <a:r>
              <a:rPr lang="nb-NO" dirty="0" smtClean="0"/>
              <a:t> </a:t>
            </a:r>
            <a:r>
              <a:rPr lang="nb-NO" dirty="0" err="1" smtClean="0"/>
              <a:t>everywhere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13" name="TekstSylinder 12"/>
          <p:cNvSpPr txBox="1"/>
          <p:nvPr/>
        </p:nvSpPr>
        <p:spPr>
          <a:xfrm>
            <a:off x="467544" y="980728"/>
            <a:ext cx="67687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dirty="0" err="1" smtClean="0"/>
              <a:t>Multi-level</a:t>
            </a:r>
            <a:r>
              <a:rPr lang="nb-NO" sz="4000" dirty="0" smtClean="0"/>
              <a:t> </a:t>
            </a:r>
            <a:r>
              <a:rPr lang="nb-NO" sz="4000" dirty="0" err="1" smtClean="0"/>
              <a:t>event-history</a:t>
            </a:r>
            <a:r>
              <a:rPr lang="nb-NO" sz="4000" dirty="0" smtClean="0"/>
              <a:t> data</a:t>
            </a:r>
          </a:p>
          <a:p>
            <a:endParaRPr lang="nb-NO" sz="4000" dirty="0" smtClean="0"/>
          </a:p>
          <a:p>
            <a:r>
              <a:rPr lang="nb-NO" sz="4000" dirty="0" smtClean="0"/>
              <a:t>Longitudinal</a:t>
            </a:r>
          </a:p>
          <a:p>
            <a:endParaRPr lang="nb-NO" sz="4000" dirty="0"/>
          </a:p>
          <a:p>
            <a:r>
              <a:rPr lang="nb-NO" sz="4000" dirty="0" smtClean="0"/>
              <a:t>Cross-</a:t>
            </a:r>
            <a:r>
              <a:rPr lang="nb-NO" sz="4000" dirty="0" err="1" smtClean="0"/>
              <a:t>sectional</a:t>
            </a:r>
            <a:endParaRPr lang="nb-NO" sz="4000" dirty="0" smtClean="0"/>
          </a:p>
          <a:p>
            <a:endParaRPr lang="nb-NO" sz="4000" dirty="0"/>
          </a:p>
          <a:p>
            <a:r>
              <a:rPr lang="nb-NO" sz="4000" dirty="0" err="1" smtClean="0"/>
              <a:t>Aggregate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289133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DDI Data </a:t>
            </a:r>
            <a:r>
              <a:rPr lang="nb-NO" dirty="0" err="1" smtClean="0"/>
              <a:t>Description</a:t>
            </a:r>
            <a:r>
              <a:rPr lang="nb-NO" dirty="0" smtClean="0"/>
              <a:t> to </a:t>
            </a:r>
            <a:r>
              <a:rPr lang="nb-NO" dirty="0" err="1" smtClean="0"/>
              <a:t>the</a:t>
            </a:r>
            <a:r>
              <a:rPr lang="nb-NO" dirty="0" smtClean="0"/>
              <a:t> Datum-</a:t>
            </a:r>
            <a:r>
              <a:rPr lang="nb-NO" dirty="0" err="1" smtClean="0"/>
              <a:t>level</a:t>
            </a:r>
            <a:r>
              <a:rPr lang="nb-NO" dirty="0" smtClean="0"/>
              <a:t>?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9175"/>
            <a:ext cx="9156124" cy="449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524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1412776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kstSylinder 12"/>
          <p:cNvSpPr txBox="1"/>
          <p:nvPr/>
        </p:nvSpPr>
        <p:spPr>
          <a:xfrm>
            <a:off x="1907703" y="3861048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err="1" smtClean="0"/>
              <a:t>Bottom</a:t>
            </a:r>
            <a:r>
              <a:rPr lang="nb-NO" sz="4000" dirty="0" smtClean="0"/>
              <a:t>-up </a:t>
            </a:r>
            <a:r>
              <a:rPr lang="nb-NO" sz="4000" dirty="0" err="1" smtClean="0"/>
              <a:t>approach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292560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1412776"/>
            <a:ext cx="2009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kstSylinder 12"/>
          <p:cNvSpPr txBox="1"/>
          <p:nvPr/>
        </p:nvSpPr>
        <p:spPr>
          <a:xfrm>
            <a:off x="1907703" y="3861048"/>
            <a:ext cx="5328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How Datums </a:t>
            </a:r>
            <a:r>
              <a:rPr lang="nb-NO" sz="4000" dirty="0" err="1" smtClean="0"/>
              <a:t>are</a:t>
            </a:r>
            <a:r>
              <a:rPr lang="nb-NO" sz="4000" dirty="0" smtClean="0"/>
              <a:t> </a:t>
            </a:r>
            <a:r>
              <a:rPr lang="nb-NO" sz="4000" dirty="0" err="1" smtClean="0"/>
              <a:t>related</a:t>
            </a:r>
            <a:endParaRPr lang="nb-NO" sz="4000" dirty="0"/>
          </a:p>
        </p:txBody>
      </p:sp>
    </p:spTree>
    <p:extLst>
      <p:ext uri="{BB962C8B-B14F-4D97-AF65-F5344CB8AC3E}">
        <p14:creationId xmlns:p14="http://schemas.microsoft.com/office/powerpoint/2010/main" val="330101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40193562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82" name="Shape 82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83" name="Shape 83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</p:spTree>
    <p:extLst>
      <p:ext uri="{BB962C8B-B14F-4D97-AF65-F5344CB8AC3E}">
        <p14:creationId xmlns:p14="http://schemas.microsoft.com/office/powerpoint/2010/main" val="267967623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89" name="Shape 89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90" name="Shape 90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91" name="Shape 91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92" name="Shape 92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54967553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98" name="Shape 98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99" name="Shape 99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100" name="Shape 100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01" name="Shape 101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02" name="Shape 102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03" name="Shape 103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</p:spTree>
    <p:extLst>
      <p:ext uri="{BB962C8B-B14F-4D97-AF65-F5344CB8AC3E}">
        <p14:creationId xmlns:p14="http://schemas.microsoft.com/office/powerpoint/2010/main" val="422407523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109" name="Shape 109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110" name="Shape 110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111" name="Shape 111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12" name="Shape 112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13" name="Shape 113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14" name="Shape 114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15" name="Shape 115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116" name="Shape 116"/>
          <p:cNvSpPr/>
          <p:nvPr/>
        </p:nvSpPr>
        <p:spPr>
          <a:xfrm>
            <a:off x="392112" y="333250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X25</a:t>
            </a:r>
          </a:p>
        </p:txBody>
      </p:sp>
    </p:spTree>
    <p:extLst>
      <p:ext uri="{BB962C8B-B14F-4D97-AF65-F5344CB8AC3E}">
        <p14:creationId xmlns:p14="http://schemas.microsoft.com/office/powerpoint/2010/main" val="89548984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122" name="Shape 122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123" name="Shape 123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124" name="Shape 124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25" name="Shape 125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26" name="Shape 126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27" name="Shape 127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28" name="Shape 128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129" name="Shape 129"/>
          <p:cNvSpPr/>
          <p:nvPr/>
        </p:nvSpPr>
        <p:spPr>
          <a:xfrm>
            <a:off x="392112" y="333250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X25</a:t>
            </a:r>
          </a:p>
        </p:txBody>
      </p:sp>
      <p:sp>
        <p:nvSpPr>
          <p:cNvPr id="130" name="Shape 130"/>
          <p:cNvSpPr/>
          <p:nvPr/>
        </p:nvSpPr>
        <p:spPr>
          <a:xfrm rot="-1481371">
            <a:off x="2587878" y="4644397"/>
            <a:ext cx="1233897" cy="73382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WHY</a:t>
            </a:r>
          </a:p>
        </p:txBody>
      </p:sp>
      <p:sp>
        <p:nvSpPr>
          <p:cNvPr id="13" name="Shape 146"/>
          <p:cNvSpPr/>
          <p:nvPr/>
        </p:nvSpPr>
        <p:spPr>
          <a:xfrm>
            <a:off x="104400" y="4978167"/>
            <a:ext cx="2685636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Health survey</a:t>
            </a:r>
            <a:endParaRPr lang="en" sz="1800" dirty="0"/>
          </a:p>
        </p:txBody>
      </p:sp>
    </p:spTree>
    <p:extLst>
      <p:ext uri="{BB962C8B-B14F-4D97-AF65-F5344CB8AC3E}">
        <p14:creationId xmlns:p14="http://schemas.microsoft.com/office/powerpoint/2010/main" val="1551831315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137" name="Shape 137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138" name="Shape 138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139" name="Shape 139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40" name="Shape 140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41" name="Shape 141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42" name="Shape 142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43" name="Shape 143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144" name="Shape 144"/>
          <p:cNvSpPr/>
          <p:nvPr/>
        </p:nvSpPr>
        <p:spPr>
          <a:xfrm>
            <a:off x="392112" y="333250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X25</a:t>
            </a:r>
          </a:p>
        </p:txBody>
      </p:sp>
      <p:sp>
        <p:nvSpPr>
          <p:cNvPr id="145" name="Shape 145"/>
          <p:cNvSpPr/>
          <p:nvPr/>
        </p:nvSpPr>
        <p:spPr>
          <a:xfrm rot="-1481371">
            <a:off x="2587878" y="4644397"/>
            <a:ext cx="1233897" cy="73382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WHY</a:t>
            </a:r>
          </a:p>
        </p:txBody>
      </p:sp>
      <p:sp>
        <p:nvSpPr>
          <p:cNvPr id="146" name="Shape 146"/>
          <p:cNvSpPr/>
          <p:nvPr/>
        </p:nvSpPr>
        <p:spPr>
          <a:xfrm>
            <a:off x="104400" y="4978167"/>
            <a:ext cx="2685636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Health survey</a:t>
            </a:r>
            <a:endParaRPr lang="en" sz="1800" dirty="0"/>
          </a:p>
        </p:txBody>
      </p:sp>
      <p:sp>
        <p:nvSpPr>
          <p:cNvPr id="147" name="Shape 147"/>
          <p:cNvSpPr/>
          <p:nvPr/>
        </p:nvSpPr>
        <p:spPr>
          <a:xfrm rot="1563074">
            <a:off x="5393441" y="4077592"/>
            <a:ext cx="1361417" cy="9440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WHAT</a:t>
            </a:r>
          </a:p>
        </p:txBody>
      </p:sp>
      <p:sp>
        <p:nvSpPr>
          <p:cNvPr id="148" name="Shape 148"/>
          <p:cNvSpPr/>
          <p:nvPr/>
        </p:nvSpPr>
        <p:spPr>
          <a:xfrm>
            <a:off x="6567525" y="3910101"/>
            <a:ext cx="2352941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41735535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/>
        </p:nvSpPr>
        <p:spPr>
          <a:xfrm>
            <a:off x="3657600" y="2580001"/>
            <a:ext cx="1899612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/>
              <a:t>42</a:t>
            </a:r>
          </a:p>
        </p:txBody>
      </p:sp>
      <p:sp>
        <p:nvSpPr>
          <p:cNvPr id="154" name="Shape 154"/>
          <p:cNvSpPr/>
          <p:nvPr/>
        </p:nvSpPr>
        <p:spPr>
          <a:xfrm rot="-1326771">
            <a:off x="5486084" y="2038950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155" name="Shape 155"/>
          <p:cNvSpPr/>
          <p:nvPr/>
        </p:nvSpPr>
        <p:spPr>
          <a:xfrm>
            <a:off x="6424619" y="366467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Ørnulf</a:t>
            </a:r>
          </a:p>
        </p:txBody>
      </p:sp>
      <p:sp>
        <p:nvSpPr>
          <p:cNvPr id="156" name="Shape 156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57" name="Shape 157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58" name="Shape 158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59" name="Shape 159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60" name="Shape 160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161" name="Shape 161"/>
          <p:cNvSpPr/>
          <p:nvPr/>
        </p:nvSpPr>
        <p:spPr>
          <a:xfrm>
            <a:off x="392112" y="333250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X25</a:t>
            </a:r>
          </a:p>
        </p:txBody>
      </p:sp>
      <p:sp>
        <p:nvSpPr>
          <p:cNvPr id="162" name="Shape 162"/>
          <p:cNvSpPr/>
          <p:nvPr/>
        </p:nvSpPr>
        <p:spPr>
          <a:xfrm rot="-1481371">
            <a:off x="2587878" y="4644397"/>
            <a:ext cx="1233897" cy="73382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WHY</a:t>
            </a:r>
          </a:p>
        </p:txBody>
      </p:sp>
      <p:sp>
        <p:nvSpPr>
          <p:cNvPr id="164" name="Shape 164"/>
          <p:cNvSpPr/>
          <p:nvPr/>
        </p:nvSpPr>
        <p:spPr>
          <a:xfrm rot="1563074">
            <a:off x="5393441" y="4077592"/>
            <a:ext cx="1361417" cy="9440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WHAT</a:t>
            </a:r>
          </a:p>
        </p:txBody>
      </p:sp>
      <p:sp>
        <p:nvSpPr>
          <p:cNvPr id="165" name="Shape 165"/>
          <p:cNvSpPr/>
          <p:nvPr/>
        </p:nvSpPr>
        <p:spPr>
          <a:xfrm>
            <a:off x="6567525" y="3910101"/>
            <a:ext cx="2352941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Age</a:t>
            </a:r>
          </a:p>
        </p:txBody>
      </p:sp>
      <p:sp>
        <p:nvSpPr>
          <p:cNvPr id="15" name="Shape 146"/>
          <p:cNvSpPr/>
          <p:nvPr/>
        </p:nvSpPr>
        <p:spPr>
          <a:xfrm>
            <a:off x="104400" y="4978167"/>
            <a:ext cx="2685636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Health survey</a:t>
            </a:r>
            <a:endParaRPr lang="en" sz="1800" dirty="0"/>
          </a:p>
        </p:txBody>
      </p:sp>
    </p:spTree>
    <p:extLst>
      <p:ext uri="{BB962C8B-B14F-4D97-AF65-F5344CB8AC3E}">
        <p14:creationId xmlns:p14="http://schemas.microsoft.com/office/powerpoint/2010/main" val="184529442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/>
        </p:nvSpPr>
        <p:spPr>
          <a:xfrm>
            <a:off x="6197394" y="594967"/>
            <a:ext cx="2777220" cy="2060855"/>
          </a:xfrm>
          <a:prstGeom prst="irregularSeal2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71" name="Shape 171"/>
          <p:cNvSpPr/>
          <p:nvPr/>
        </p:nvSpPr>
        <p:spPr>
          <a:xfrm rot="1889238">
            <a:off x="8417219" y="21200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72" name="Shape 172"/>
          <p:cNvSpPr/>
          <p:nvPr/>
        </p:nvSpPr>
        <p:spPr>
          <a:xfrm>
            <a:off x="3568175" y="2580001"/>
            <a:ext cx="1989035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16%</a:t>
            </a:r>
            <a:endParaRPr lang="en" sz="2400" dirty="0"/>
          </a:p>
        </p:txBody>
      </p:sp>
    </p:spTree>
    <p:extLst>
      <p:ext uri="{BB962C8B-B14F-4D97-AF65-F5344CB8AC3E}">
        <p14:creationId xmlns:p14="http://schemas.microsoft.com/office/powerpoint/2010/main" val="29407508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6197394" y="594967"/>
            <a:ext cx="2777220" cy="2060855"/>
          </a:xfrm>
          <a:prstGeom prst="irregularSeal2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78" name="Shape 178"/>
          <p:cNvSpPr/>
          <p:nvPr/>
        </p:nvSpPr>
        <p:spPr>
          <a:xfrm rot="1889238">
            <a:off x="8417219" y="21200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79" name="Shape 179"/>
          <p:cNvSpPr/>
          <p:nvPr/>
        </p:nvSpPr>
        <p:spPr>
          <a:xfrm>
            <a:off x="3568175" y="2580001"/>
            <a:ext cx="1989035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16%</a:t>
            </a:r>
            <a:endParaRPr lang="en" sz="2400" dirty="0"/>
          </a:p>
        </p:txBody>
      </p:sp>
      <p:sp>
        <p:nvSpPr>
          <p:cNvPr id="180" name="Shape 180"/>
          <p:cNvSpPr/>
          <p:nvPr/>
        </p:nvSpPr>
        <p:spPr>
          <a:xfrm rot="-1326771">
            <a:off x="5343734" y="2147617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27304146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6197394" y="594967"/>
            <a:ext cx="2777220" cy="2060855"/>
          </a:xfrm>
          <a:prstGeom prst="irregularSeal2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186" name="Shape 186"/>
          <p:cNvSpPr/>
          <p:nvPr/>
        </p:nvSpPr>
        <p:spPr>
          <a:xfrm rot="1889238">
            <a:off x="8417219" y="21200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87" name="Shape 187"/>
          <p:cNvSpPr/>
          <p:nvPr/>
        </p:nvSpPr>
        <p:spPr>
          <a:xfrm>
            <a:off x="3568175" y="2580001"/>
            <a:ext cx="1989035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16%</a:t>
            </a:r>
            <a:endParaRPr lang="en" sz="2400" dirty="0"/>
          </a:p>
        </p:txBody>
      </p:sp>
      <p:sp>
        <p:nvSpPr>
          <p:cNvPr id="188" name="Shape 188"/>
          <p:cNvSpPr/>
          <p:nvPr/>
        </p:nvSpPr>
        <p:spPr>
          <a:xfrm rot="-1326771">
            <a:off x="5343734" y="2147617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189" name="Shape 189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190" name="Shape 190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191" name="Shape 191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192" name="Shape 192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12</a:t>
            </a:r>
            <a:endParaRPr lang="en" sz="2400" dirty="0"/>
          </a:p>
        </p:txBody>
      </p:sp>
      <p:sp>
        <p:nvSpPr>
          <p:cNvPr id="193" name="Shape 193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194" name="Shape 194"/>
          <p:cNvSpPr/>
          <p:nvPr/>
        </p:nvSpPr>
        <p:spPr>
          <a:xfrm>
            <a:off x="256226" y="3332501"/>
            <a:ext cx="1801547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Pub-Rep</a:t>
            </a:r>
            <a:endParaRPr lang="en" sz="1800" dirty="0"/>
          </a:p>
        </p:txBody>
      </p:sp>
      <p:sp>
        <p:nvSpPr>
          <p:cNvPr id="195" name="Shape 195"/>
          <p:cNvSpPr/>
          <p:nvPr/>
        </p:nvSpPr>
        <p:spPr>
          <a:xfrm rot="-1481371">
            <a:off x="2587878" y="4644397"/>
            <a:ext cx="1233897" cy="73382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WHY</a:t>
            </a:r>
          </a:p>
        </p:txBody>
      </p:sp>
      <p:sp>
        <p:nvSpPr>
          <p:cNvPr id="14" name="Shape 212"/>
          <p:cNvSpPr/>
          <p:nvPr/>
        </p:nvSpPr>
        <p:spPr>
          <a:xfrm>
            <a:off x="0" y="4793307"/>
            <a:ext cx="2790036" cy="1798119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Regu-lation 124</a:t>
            </a:r>
            <a:endParaRPr lang="en" sz="1800" dirty="0"/>
          </a:p>
        </p:txBody>
      </p:sp>
    </p:spTree>
    <p:extLst>
      <p:ext uri="{BB962C8B-B14F-4D97-AF65-F5344CB8AC3E}">
        <p14:creationId xmlns:p14="http://schemas.microsoft.com/office/powerpoint/2010/main" val="45924331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/>
        </p:nvSpPr>
        <p:spPr>
          <a:xfrm>
            <a:off x="6197394" y="594967"/>
            <a:ext cx="2777220" cy="2060855"/>
          </a:xfrm>
          <a:prstGeom prst="irregularSeal2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1201</a:t>
            </a:r>
          </a:p>
        </p:txBody>
      </p:sp>
      <p:sp>
        <p:nvSpPr>
          <p:cNvPr id="202" name="Shape 202"/>
          <p:cNvSpPr/>
          <p:nvPr/>
        </p:nvSpPr>
        <p:spPr>
          <a:xfrm rot="1889238">
            <a:off x="8417219" y="21200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203" name="Shape 203"/>
          <p:cNvSpPr/>
          <p:nvPr/>
        </p:nvSpPr>
        <p:spPr>
          <a:xfrm>
            <a:off x="3568174" y="2580001"/>
            <a:ext cx="2155954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16%</a:t>
            </a:r>
            <a:endParaRPr lang="en" sz="2400" dirty="0"/>
          </a:p>
        </p:txBody>
      </p:sp>
      <p:sp>
        <p:nvSpPr>
          <p:cNvPr id="204" name="Shape 204"/>
          <p:cNvSpPr/>
          <p:nvPr/>
        </p:nvSpPr>
        <p:spPr>
          <a:xfrm rot="-1326771">
            <a:off x="5343734" y="2147617"/>
            <a:ext cx="1168338" cy="94379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WHO</a:t>
            </a:r>
          </a:p>
        </p:txBody>
      </p:sp>
      <p:sp>
        <p:nvSpPr>
          <p:cNvPr id="205" name="Shape 205"/>
          <p:cNvSpPr/>
          <p:nvPr/>
        </p:nvSpPr>
        <p:spPr>
          <a:xfrm>
            <a:off x="4118625" y="1278800"/>
            <a:ext cx="721500" cy="1301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WHEN</a:t>
            </a:r>
          </a:p>
        </p:txBody>
      </p:sp>
      <p:sp>
        <p:nvSpPr>
          <p:cNvPr id="206" name="Shape 206"/>
          <p:cNvSpPr/>
          <p:nvPr/>
        </p:nvSpPr>
        <p:spPr>
          <a:xfrm>
            <a:off x="3646562" y="1"/>
            <a:ext cx="1665630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2015</a:t>
            </a:r>
          </a:p>
        </p:txBody>
      </p:sp>
      <p:sp>
        <p:nvSpPr>
          <p:cNvPr id="207" name="Shape 207"/>
          <p:cNvSpPr/>
          <p:nvPr/>
        </p:nvSpPr>
        <p:spPr>
          <a:xfrm rot="1889238">
            <a:off x="2647395" y="2018808"/>
            <a:ext cx="1114855" cy="99898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WHERE</a:t>
            </a:r>
          </a:p>
        </p:txBody>
      </p:sp>
      <p:sp>
        <p:nvSpPr>
          <p:cNvPr id="208" name="Shape 208"/>
          <p:cNvSpPr/>
          <p:nvPr/>
        </p:nvSpPr>
        <p:spPr>
          <a:xfrm>
            <a:off x="294719" y="455801"/>
            <a:ext cx="2777220" cy="2060855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12</a:t>
            </a:r>
            <a:endParaRPr lang="en" sz="2400" dirty="0"/>
          </a:p>
        </p:txBody>
      </p:sp>
      <p:sp>
        <p:nvSpPr>
          <p:cNvPr id="209" name="Shape 209"/>
          <p:cNvSpPr/>
          <p:nvPr/>
        </p:nvSpPr>
        <p:spPr>
          <a:xfrm>
            <a:off x="2192150" y="3517567"/>
            <a:ext cx="1233900" cy="7340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HOW</a:t>
            </a:r>
          </a:p>
        </p:txBody>
      </p:sp>
      <p:sp>
        <p:nvSpPr>
          <p:cNvPr id="210" name="Shape 210"/>
          <p:cNvSpPr/>
          <p:nvPr/>
        </p:nvSpPr>
        <p:spPr>
          <a:xfrm>
            <a:off x="256226" y="3332501"/>
            <a:ext cx="1801547" cy="1460807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Pub-Rep</a:t>
            </a:r>
            <a:endParaRPr lang="en" sz="1800" dirty="0"/>
          </a:p>
        </p:txBody>
      </p:sp>
      <p:sp>
        <p:nvSpPr>
          <p:cNvPr id="211" name="Shape 211"/>
          <p:cNvSpPr/>
          <p:nvPr/>
        </p:nvSpPr>
        <p:spPr>
          <a:xfrm rot="-1481371">
            <a:off x="2587878" y="4644397"/>
            <a:ext cx="1233897" cy="73382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WHY</a:t>
            </a:r>
          </a:p>
        </p:txBody>
      </p:sp>
      <p:sp>
        <p:nvSpPr>
          <p:cNvPr id="212" name="Shape 212"/>
          <p:cNvSpPr/>
          <p:nvPr/>
        </p:nvSpPr>
        <p:spPr>
          <a:xfrm>
            <a:off x="0" y="4793307"/>
            <a:ext cx="2790036" cy="1798119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 smtClean="0"/>
              <a:t>Regu-lation 124</a:t>
            </a:r>
            <a:endParaRPr lang="en" sz="1800" dirty="0"/>
          </a:p>
        </p:txBody>
      </p:sp>
      <p:sp>
        <p:nvSpPr>
          <p:cNvPr id="213" name="Shape 213"/>
          <p:cNvSpPr/>
          <p:nvPr/>
        </p:nvSpPr>
        <p:spPr>
          <a:xfrm rot="1563074">
            <a:off x="5393441" y="4077592"/>
            <a:ext cx="1361417" cy="9440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WHAT</a:t>
            </a:r>
          </a:p>
        </p:txBody>
      </p:sp>
      <p:sp>
        <p:nvSpPr>
          <p:cNvPr id="214" name="Shape 214"/>
          <p:cNvSpPr/>
          <p:nvPr/>
        </p:nvSpPr>
        <p:spPr>
          <a:xfrm>
            <a:off x="6567524" y="3610428"/>
            <a:ext cx="2468972" cy="2360528"/>
          </a:xfrm>
          <a:prstGeom prst="irregularSeal2">
            <a:avLst/>
          </a:prstGeom>
          <a:solidFill>
            <a:srgbClr val="E6913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 smtClean="0"/>
              <a:t>Tax rate</a:t>
            </a:r>
            <a:endParaRPr lang="en" sz="2400" dirty="0"/>
          </a:p>
        </p:txBody>
      </p:sp>
    </p:spTree>
    <p:extLst>
      <p:ext uri="{BB962C8B-B14F-4D97-AF65-F5344CB8AC3E}">
        <p14:creationId xmlns:p14="http://schemas.microsoft.com/office/powerpoint/2010/main" val="191770351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Datums and </a:t>
            </a:r>
            <a:r>
              <a:rPr lang="nb-NO" dirty="0" err="1" smtClean="0"/>
              <a:t>metadatums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13" name="TekstSylinder 12"/>
          <p:cNvSpPr txBox="1"/>
          <p:nvPr/>
        </p:nvSpPr>
        <p:spPr>
          <a:xfrm>
            <a:off x="1043608" y="1484784"/>
            <a:ext cx="6768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err="1" smtClean="0"/>
              <a:t>Every</a:t>
            </a:r>
            <a:r>
              <a:rPr lang="nb-NO" sz="4000" dirty="0" smtClean="0"/>
              <a:t> Datum </a:t>
            </a:r>
            <a:r>
              <a:rPr lang="nb-NO" sz="4000" dirty="0" err="1" smtClean="0"/>
              <a:t>needs</a:t>
            </a:r>
            <a:r>
              <a:rPr lang="nb-NO" sz="4000" dirty="0" smtClean="0"/>
              <a:t> </a:t>
            </a:r>
            <a:r>
              <a:rPr lang="nb-NO" sz="4000" dirty="0" err="1" smtClean="0"/>
              <a:t>context</a:t>
            </a:r>
            <a:endParaRPr lang="nb-NO" sz="4000" dirty="0"/>
          </a:p>
        </p:txBody>
      </p:sp>
      <p:sp>
        <p:nvSpPr>
          <p:cNvPr id="5" name="TekstSylinder 4"/>
          <p:cNvSpPr txBox="1"/>
          <p:nvPr/>
        </p:nvSpPr>
        <p:spPr>
          <a:xfrm>
            <a:off x="1043607" y="2898745"/>
            <a:ext cx="6768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err="1" smtClean="0"/>
              <a:t>Every</a:t>
            </a:r>
            <a:r>
              <a:rPr lang="nb-NO" sz="4000" dirty="0" smtClean="0"/>
              <a:t> Datum is a </a:t>
            </a:r>
            <a:r>
              <a:rPr lang="nb-NO" sz="4000" dirty="0" err="1" smtClean="0"/>
              <a:t>potential</a:t>
            </a:r>
            <a:r>
              <a:rPr lang="nb-NO" sz="4000" dirty="0" smtClean="0"/>
              <a:t> </a:t>
            </a:r>
            <a:r>
              <a:rPr lang="nb-NO" sz="4000" b="1" dirty="0" err="1" smtClean="0"/>
              <a:t>Metadatum</a:t>
            </a:r>
            <a:endParaRPr lang="nb-NO" sz="4000" b="1" dirty="0"/>
          </a:p>
        </p:txBody>
      </p:sp>
    </p:spTree>
    <p:extLst>
      <p:ext uri="{BB962C8B-B14F-4D97-AF65-F5344CB8AC3E}">
        <p14:creationId xmlns:p14="http://schemas.microsoft.com/office/powerpoint/2010/main" val="40918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Datums and </a:t>
            </a:r>
            <a:r>
              <a:rPr lang="nb-NO" dirty="0" err="1" smtClean="0"/>
              <a:t>metadatums</a:t>
            </a:r>
            <a:endParaRPr lang="nb-NO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720811"/>
            <a:ext cx="932878" cy="105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vrundet rektangel 4"/>
          <p:cNvSpPr/>
          <p:nvPr/>
        </p:nvSpPr>
        <p:spPr bwMode="auto">
          <a:xfrm>
            <a:off x="3346251" y="3568074"/>
            <a:ext cx="2232248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Instance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6" name="Avrundet rektangel 5"/>
          <p:cNvSpPr/>
          <p:nvPr/>
        </p:nvSpPr>
        <p:spPr bwMode="auto">
          <a:xfrm>
            <a:off x="3346251" y="2348880"/>
            <a:ext cx="2232248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Represented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7" name="Avrundet rektangel 6"/>
          <p:cNvSpPr/>
          <p:nvPr/>
        </p:nvSpPr>
        <p:spPr bwMode="auto">
          <a:xfrm>
            <a:off x="3346251" y="1124744"/>
            <a:ext cx="2232248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Conceptual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5940152" y="2348880"/>
            <a:ext cx="2304256" cy="99542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sz="2000" dirty="0" smtClean="0">
                <a:solidFill>
                  <a:srgbClr val="336699"/>
                </a:solidFill>
              </a:rPr>
              <a:t>Value </a:t>
            </a:r>
            <a:r>
              <a:rPr lang="nb-NO" sz="2000" dirty="0" err="1" smtClean="0">
                <a:solidFill>
                  <a:srgbClr val="336699"/>
                </a:solidFill>
              </a:rPr>
              <a:t>domain</a:t>
            </a:r>
            <a:endParaRPr lang="nb-NO" sz="2000" dirty="0" smtClean="0">
              <a:solidFill>
                <a:srgbClr val="336699"/>
              </a:solidFill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5940152" y="1086733"/>
            <a:ext cx="2304256" cy="99542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sz="2000" dirty="0" err="1" smtClean="0">
                <a:solidFill>
                  <a:srgbClr val="336699"/>
                </a:solidFill>
              </a:rPr>
              <a:t>Conceptual</a:t>
            </a:r>
            <a:r>
              <a:rPr lang="nb-NO" sz="2000" dirty="0" smtClean="0">
                <a:solidFill>
                  <a:srgbClr val="336699"/>
                </a:solidFill>
              </a:rPr>
              <a:t> </a:t>
            </a:r>
            <a:r>
              <a:rPr lang="nb-NO" sz="2000" dirty="0" err="1" smtClean="0">
                <a:solidFill>
                  <a:srgbClr val="336699"/>
                </a:solidFill>
              </a:rPr>
              <a:t>domain</a:t>
            </a:r>
            <a:endParaRPr lang="nb-NO" sz="2000" dirty="0" smtClean="0">
              <a:solidFill>
                <a:srgbClr val="336699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82" y="4720810"/>
            <a:ext cx="932878" cy="105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vrundet rektangel 10"/>
          <p:cNvSpPr/>
          <p:nvPr/>
        </p:nvSpPr>
        <p:spPr bwMode="auto">
          <a:xfrm>
            <a:off x="479497" y="3568073"/>
            <a:ext cx="2232248" cy="919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Instance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12" name="Avrundet rektangel 11"/>
          <p:cNvSpPr/>
          <p:nvPr/>
        </p:nvSpPr>
        <p:spPr bwMode="auto">
          <a:xfrm>
            <a:off x="479497" y="2348879"/>
            <a:ext cx="2232248" cy="919401"/>
          </a:xfrm>
          <a:prstGeom prst="roundRect">
            <a:avLst/>
          </a:prstGeom>
          <a:solidFill>
            <a:schemeClr val="bg2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Represented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13" name="Avrundet rektangel 12"/>
          <p:cNvSpPr/>
          <p:nvPr/>
        </p:nvSpPr>
        <p:spPr bwMode="auto">
          <a:xfrm>
            <a:off x="479497" y="1124743"/>
            <a:ext cx="2232248" cy="919401"/>
          </a:xfrm>
          <a:prstGeom prst="roundRect">
            <a:avLst/>
          </a:prstGeom>
          <a:solidFill>
            <a:schemeClr val="bg2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 err="1" smtClean="0">
                <a:solidFill>
                  <a:srgbClr val="336699"/>
                </a:solidFill>
              </a:rPr>
              <a:t>Conceptual</a:t>
            </a:r>
            <a:r>
              <a:rPr lang="nb-NO" dirty="0" smtClean="0">
                <a:solidFill>
                  <a:srgbClr val="336699"/>
                </a:solidFill>
              </a:rPr>
              <a:t> Variable</a:t>
            </a:r>
            <a:endParaRPr lang="nb-NO" dirty="0" smtClean="0">
              <a:solidFill>
                <a:srgbClr val="336699"/>
              </a:solidFill>
            </a:endParaRPr>
          </a:p>
        </p:txBody>
      </p:sp>
      <p:sp>
        <p:nvSpPr>
          <p:cNvPr id="14" name="Pil mot venstre og høyre 13"/>
          <p:cNvSpPr/>
          <p:nvPr/>
        </p:nvSpPr>
        <p:spPr bwMode="auto">
          <a:xfrm>
            <a:off x="2411760" y="5013176"/>
            <a:ext cx="1224136" cy="504056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nb-NO" dirty="0" smtClean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30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 smtClean="0"/>
              <a:t>Conclusion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13" name="TekstSylinder 12"/>
          <p:cNvSpPr txBox="1"/>
          <p:nvPr/>
        </p:nvSpPr>
        <p:spPr>
          <a:xfrm>
            <a:off x="1043608" y="1484784"/>
            <a:ext cx="6768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dirty="0" smtClean="0"/>
              <a:t>DDI Data </a:t>
            </a:r>
            <a:r>
              <a:rPr lang="nb-NO" sz="4000" dirty="0" err="1" smtClean="0"/>
              <a:t>Description</a:t>
            </a:r>
            <a:endParaRPr lang="nb-NO" sz="4000" dirty="0" smtClean="0"/>
          </a:p>
          <a:p>
            <a:pPr algn="ctr"/>
            <a:r>
              <a:rPr lang="nb-NO" sz="4000" dirty="0" err="1"/>
              <a:t>can</a:t>
            </a:r>
            <a:r>
              <a:rPr lang="nb-NO" sz="4000" dirty="0"/>
              <a:t> bridge </a:t>
            </a:r>
            <a:r>
              <a:rPr lang="nb-NO" sz="4000" dirty="0" err="1"/>
              <a:t>the</a:t>
            </a:r>
            <a:r>
              <a:rPr lang="nb-NO" sz="4000" dirty="0"/>
              <a:t> metadata </a:t>
            </a:r>
            <a:r>
              <a:rPr lang="nb-NO" sz="4000" dirty="0" smtClean="0"/>
              <a:t>gap</a:t>
            </a:r>
            <a:endParaRPr lang="nb-NO" sz="4000" b="1" dirty="0"/>
          </a:p>
        </p:txBody>
      </p:sp>
      <p:sp>
        <p:nvSpPr>
          <p:cNvPr id="5" name="TekstSylinder 4"/>
          <p:cNvSpPr txBox="1"/>
          <p:nvPr/>
        </p:nvSpPr>
        <p:spPr>
          <a:xfrm>
            <a:off x="1043606" y="3252688"/>
            <a:ext cx="6768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000" b="1" dirty="0" smtClean="0"/>
              <a:t>A </a:t>
            </a:r>
            <a:r>
              <a:rPr lang="nb-NO" sz="4000" b="1" u="sng" dirty="0" err="1" smtClean="0"/>
              <a:t>consistent</a:t>
            </a:r>
            <a:r>
              <a:rPr lang="nb-NO" sz="4000" b="1" dirty="0" smtClean="0"/>
              <a:t>, </a:t>
            </a:r>
            <a:r>
              <a:rPr lang="nb-NO" sz="4000" b="1" dirty="0" err="1" smtClean="0"/>
              <a:t>logical</a:t>
            </a:r>
            <a:r>
              <a:rPr lang="nb-NO" sz="4000" b="1" dirty="0" smtClean="0"/>
              <a:t> </a:t>
            </a:r>
            <a:r>
              <a:rPr lang="nb-NO" sz="4000" b="1" dirty="0" err="1" smtClean="0"/>
              <a:t>model</a:t>
            </a:r>
            <a:r>
              <a:rPr lang="nb-NO" sz="4000" b="1" dirty="0" smtClean="0"/>
              <a:t> for data AND metadata</a:t>
            </a:r>
            <a:endParaRPr lang="nb-NO" sz="4000" b="1" u="sng" dirty="0"/>
          </a:p>
        </p:txBody>
      </p:sp>
    </p:spTree>
    <p:extLst>
      <p:ext uri="{BB962C8B-B14F-4D97-AF65-F5344CB8AC3E}">
        <p14:creationId xmlns:p14="http://schemas.microsoft.com/office/powerpoint/2010/main" val="154989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Sylinder 3"/>
          <p:cNvSpPr txBox="1"/>
          <p:nvPr/>
        </p:nvSpPr>
        <p:spPr>
          <a:xfrm>
            <a:off x="467544" y="24926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Power to data </a:t>
            </a:r>
            <a:r>
              <a:rPr lang="nb-NO" dirty="0" err="1" smtClean="0"/>
              <a:t>curators</a:t>
            </a:r>
            <a:r>
              <a:rPr lang="nb-NO" dirty="0" smtClean="0"/>
              <a:t> and </a:t>
            </a:r>
            <a:r>
              <a:rPr lang="nb-NO" dirty="0" err="1" smtClean="0"/>
              <a:t>users</a:t>
            </a:r>
            <a:endParaRPr lang="nb-NO" dirty="0"/>
          </a:p>
        </p:txBody>
      </p:sp>
      <p:sp>
        <p:nvSpPr>
          <p:cNvPr id="3" name="AutoShape 2" descr="Bilderesultat for at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13" name="TekstSylinder 12"/>
          <p:cNvSpPr txBox="1"/>
          <p:nvPr/>
        </p:nvSpPr>
        <p:spPr>
          <a:xfrm>
            <a:off x="971599" y="836712"/>
            <a:ext cx="73448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sz="4000" dirty="0" smtClean="0"/>
              <a:t>Datum-</a:t>
            </a:r>
            <a:r>
              <a:rPr lang="nb-NO" sz="4000" dirty="0" err="1" smtClean="0"/>
              <a:t>level</a:t>
            </a:r>
            <a:r>
              <a:rPr lang="nb-NO" sz="4000" dirty="0" smtClean="0"/>
              <a:t> </a:t>
            </a:r>
            <a:r>
              <a:rPr lang="nb-NO" sz="4000" dirty="0" err="1" smtClean="0"/>
              <a:t>revision</a:t>
            </a:r>
            <a:r>
              <a:rPr lang="nb-NO" sz="4000" dirty="0" smtClean="0"/>
              <a:t> </a:t>
            </a:r>
            <a:r>
              <a:rPr lang="nb-NO" sz="4000" dirty="0" err="1" smtClean="0"/>
              <a:t>control</a:t>
            </a:r>
            <a:endParaRPr lang="nb-NO" sz="4000" dirty="0" smtClean="0"/>
          </a:p>
          <a:p>
            <a:pPr>
              <a:lnSpc>
                <a:spcPct val="150000"/>
              </a:lnSpc>
            </a:pPr>
            <a:r>
              <a:rPr lang="nb-NO" sz="4000" dirty="0" err="1" smtClean="0"/>
              <a:t>Git</a:t>
            </a:r>
            <a:r>
              <a:rPr lang="nb-NO" sz="4000" dirty="0" smtClean="0"/>
              <a:t>-like </a:t>
            </a:r>
            <a:r>
              <a:rPr lang="nb-NO" sz="4000" dirty="0" err="1" smtClean="0"/>
              <a:t>collaborative</a:t>
            </a:r>
            <a:r>
              <a:rPr lang="nb-NO" sz="4000" dirty="0" smtClean="0"/>
              <a:t> </a:t>
            </a:r>
            <a:r>
              <a:rPr lang="nb-NO" sz="4000" dirty="0" err="1" smtClean="0"/>
              <a:t>workflows</a:t>
            </a:r>
            <a:endParaRPr lang="nb-NO" sz="4000" dirty="0" smtClean="0"/>
          </a:p>
          <a:p>
            <a:pPr>
              <a:lnSpc>
                <a:spcPct val="150000"/>
              </a:lnSpc>
            </a:pPr>
            <a:r>
              <a:rPr lang="nb-NO" sz="4000" dirty="0" err="1" smtClean="0"/>
              <a:t>Automated</a:t>
            </a:r>
            <a:r>
              <a:rPr lang="nb-NO" sz="4000" dirty="0" smtClean="0"/>
              <a:t> testing</a:t>
            </a:r>
          </a:p>
          <a:p>
            <a:pPr>
              <a:lnSpc>
                <a:spcPct val="150000"/>
              </a:lnSpc>
            </a:pPr>
            <a:r>
              <a:rPr lang="nb-NO" sz="4000" dirty="0" err="1" smtClean="0"/>
              <a:t>Continuous</a:t>
            </a:r>
            <a:r>
              <a:rPr lang="nb-NO" sz="4000" dirty="0" smtClean="0"/>
              <a:t> </a:t>
            </a:r>
            <a:r>
              <a:rPr lang="nb-NO" sz="4000" dirty="0" err="1" smtClean="0"/>
              <a:t>delivery</a:t>
            </a:r>
            <a:endParaRPr lang="nb-NO" sz="4000" dirty="0" smtClean="0"/>
          </a:p>
          <a:p>
            <a:pPr>
              <a:lnSpc>
                <a:spcPct val="150000"/>
              </a:lnSpc>
            </a:pPr>
            <a:r>
              <a:rPr lang="nb-NO" sz="4000" dirty="0" err="1" smtClean="0"/>
              <a:t>Audit</a:t>
            </a:r>
            <a:r>
              <a:rPr lang="nb-NO" sz="4000" dirty="0" smtClean="0"/>
              <a:t> </a:t>
            </a:r>
            <a:r>
              <a:rPr lang="nb-NO" sz="4000" dirty="0" err="1" smtClean="0"/>
              <a:t>trails</a:t>
            </a:r>
            <a:r>
              <a:rPr lang="nb-NO" sz="4000" dirty="0" smtClean="0"/>
              <a:t> and </a:t>
            </a:r>
            <a:r>
              <a:rPr lang="nb-NO" sz="4000" dirty="0" err="1" smtClean="0"/>
              <a:t>activity</a:t>
            </a:r>
            <a:r>
              <a:rPr lang="nb-NO" sz="4000" dirty="0" smtClean="0"/>
              <a:t> reports</a:t>
            </a:r>
          </a:p>
          <a:p>
            <a:pPr>
              <a:lnSpc>
                <a:spcPct val="150000"/>
              </a:lnSpc>
            </a:pPr>
            <a:r>
              <a:rPr lang="nb-NO" sz="4000" dirty="0" err="1" smtClean="0"/>
              <a:t>Flexible</a:t>
            </a:r>
            <a:r>
              <a:rPr lang="nb-NO" sz="4000" dirty="0" smtClean="0"/>
              <a:t> </a:t>
            </a:r>
            <a:r>
              <a:rPr lang="nb-NO" sz="4000" dirty="0" err="1" smtClean="0"/>
              <a:t>query</a:t>
            </a:r>
            <a:r>
              <a:rPr lang="nb-NO" sz="4000" dirty="0" smtClean="0"/>
              <a:t> </a:t>
            </a:r>
            <a:r>
              <a:rPr lang="nb-NO" sz="4000" dirty="0" err="1" smtClean="0"/>
              <a:t>capabilities</a:t>
            </a:r>
            <a:r>
              <a:rPr lang="nb-NO" sz="40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3315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80728"/>
            <a:ext cx="8234363" cy="183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0" y="3140968"/>
            <a:ext cx="8234363" cy="25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21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/>
          <p:cNvSpPr txBox="1"/>
          <p:nvPr/>
        </p:nvSpPr>
        <p:spPr>
          <a:xfrm>
            <a:off x="467544" y="836712"/>
            <a:ext cx="8208911" cy="916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sz="4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nb-NO" sz="40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mar_stat</a:t>
            </a:r>
            <a:r>
              <a:rPr lang="nb-NO" sz="4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2011-01-01</a:t>
            </a:r>
          </a:p>
        </p:txBody>
      </p:sp>
      <p:sp>
        <p:nvSpPr>
          <p:cNvPr id="4" name="TekstSylinder 3"/>
          <p:cNvSpPr txBox="1"/>
          <p:nvPr/>
        </p:nvSpPr>
        <p:spPr>
          <a:xfrm>
            <a:off x="501718" y="2636912"/>
            <a:ext cx="82089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sz="4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nb-NO" sz="40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mar_stat</a:t>
            </a:r>
            <a:r>
              <a:rPr lang="nb-NO" sz="4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nb-NO" sz="4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2016-01-01 to 2009-04-01</a:t>
            </a:r>
          </a:p>
        </p:txBody>
      </p:sp>
    </p:spTree>
    <p:extLst>
      <p:ext uri="{BB962C8B-B14F-4D97-AF65-F5344CB8AC3E}">
        <p14:creationId xmlns:p14="http://schemas.microsoft.com/office/powerpoint/2010/main" val="377940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theme1.xml><?xml version="1.0" encoding="utf-8"?>
<a:theme xmlns:a="http://schemas.openxmlformats.org/drawingml/2006/main" name="SSB-norsk">
  <a:themeElements>
    <a:clrScheme name="Fly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nneskelig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25400" cap="flat" cmpd="sng" algn="ctr">
          <a:solidFill>
            <a:srgbClr val="C00000"/>
          </a:solidFill>
          <a:prstDash val="solid"/>
          <a:round/>
          <a:headEnd type="none" w="med" len="med"/>
          <a:tailEnd type="none" w="med" len="med"/>
        </a:ln>
        <a:effectLst/>
        <a:ex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>
          <a:defRPr dirty="0" smtClean="0">
            <a:solidFill>
              <a:srgbClr val="336699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nb-NO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SB-nors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SB-nors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8">
        <a:dk1>
          <a:srgbClr val="000099"/>
        </a:dk1>
        <a:lt1>
          <a:srgbClr val="FFFFFF"/>
        </a:lt1>
        <a:dk2>
          <a:srgbClr val="000000"/>
        </a:dk2>
        <a:lt2>
          <a:srgbClr val="B2B2B2"/>
        </a:lt2>
        <a:accent1>
          <a:srgbClr val="FF9900"/>
        </a:accent1>
        <a:accent2>
          <a:srgbClr val="008080"/>
        </a:accent2>
        <a:accent3>
          <a:srgbClr val="FFFFFF"/>
        </a:accent3>
        <a:accent4>
          <a:srgbClr val="000082"/>
        </a:accent4>
        <a:accent5>
          <a:srgbClr val="FFCAAA"/>
        </a:accent5>
        <a:accent6>
          <a:srgbClr val="007373"/>
        </a:accent6>
        <a:hlink>
          <a:srgbClr val="FF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SB-norsk 9">
        <a:dk1>
          <a:srgbClr val="003399"/>
        </a:dk1>
        <a:lt1>
          <a:srgbClr val="FFFFFF"/>
        </a:lt1>
        <a:dk2>
          <a:srgbClr val="000000"/>
        </a:dk2>
        <a:lt2>
          <a:srgbClr val="B2B2B2"/>
        </a:lt2>
        <a:accent1>
          <a:srgbClr val="003399"/>
        </a:accent1>
        <a:accent2>
          <a:srgbClr val="008080"/>
        </a:accent2>
        <a:accent3>
          <a:srgbClr val="FFFFFF"/>
        </a:accent3>
        <a:accent4>
          <a:srgbClr val="002A82"/>
        </a:accent4>
        <a:accent5>
          <a:srgbClr val="AAADCA"/>
        </a:accent5>
        <a:accent6>
          <a:srgbClr val="007373"/>
        </a:accent6>
        <a:hlink>
          <a:srgbClr val="CC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SSB-norsk</Template>
  <TotalTime>15719</TotalTime>
  <Pages>1</Pages>
  <Words>378</Words>
  <Application>Microsoft Office PowerPoint</Application>
  <PresentationFormat>Transparent</PresentationFormat>
  <Paragraphs>178</Paragraphs>
  <Slides>31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31</vt:i4>
      </vt:variant>
    </vt:vector>
  </HeadingPairs>
  <TitlesOfParts>
    <vt:vector size="32" baseType="lpstr">
      <vt:lpstr>SSB-norsk</vt:lpstr>
      <vt:lpstr>RAIRD  Remote Access Infrastructure for Register Data  Documenting the life-cycle of every data point   Ørnulf Risnes,  Norwegian Social Science Data Services (NSD) &lt;ornulf.risnes@nsd.uib.no&gt;  EDDI 2015 Copenhagen 3 December 2015   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Statistisk sentralbyrå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Enklere og bedre tilgang til registerdata</dc:title>
  <dc:creator>Anders Grøndahl</dc:creator>
  <cp:lastModifiedBy>Ørnulf Risnes</cp:lastModifiedBy>
  <cp:revision>458</cp:revision>
  <cp:lastPrinted>2015-05-21T10:00:07Z</cp:lastPrinted>
  <dcterms:created xsi:type="dcterms:W3CDTF">2012-10-04T08:44:36Z</dcterms:created>
  <dcterms:modified xsi:type="dcterms:W3CDTF">2015-12-03T07:43:03Z</dcterms:modified>
</cp:coreProperties>
</file>