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3" r:id="rId4"/>
    <p:sldId id="265" r:id="rId5"/>
    <p:sldId id="267" r:id="rId6"/>
    <p:sldId id="293" r:id="rId7"/>
    <p:sldId id="257" r:id="rId8"/>
    <p:sldId id="270" r:id="rId9"/>
    <p:sldId id="282" r:id="rId10"/>
    <p:sldId id="271" r:id="rId11"/>
    <p:sldId id="272" r:id="rId12"/>
    <p:sldId id="283" r:id="rId13"/>
    <p:sldId id="287" r:id="rId14"/>
    <p:sldId id="288" r:id="rId15"/>
    <p:sldId id="274" r:id="rId16"/>
    <p:sldId id="292" r:id="rId17"/>
    <p:sldId id="279" r:id="rId18"/>
    <p:sldId id="284" r:id="rId19"/>
    <p:sldId id="277" r:id="rId20"/>
    <p:sldId id="28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186F9-754E-45C4-8055-53AA76AB3F42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263DA-A522-439B-8BC8-9548A148CB3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A354D2-B711-4489-B7B2-BDFC583BAC34}" type="slidenum">
              <a:rPr lang="en-GB" smtClean="0">
                <a:latin typeface="Arial" pitchFamily="34" charset="0"/>
              </a:rPr>
              <a:pPr/>
              <a:t>2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B65D51-7C2E-4A87-AE6B-3F5C883C33E6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b="1" dirty="0" smtClean="0">
                <a:cs typeface="Times New Roman" pitchFamily="18" charset="0"/>
              </a:rPr>
              <a:t>Add some notes to these</a:t>
            </a: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GB" b="1" dirty="0" smtClean="0">
              <a:cs typeface="Times New Roman" pitchFamily="18" charset="0"/>
            </a:endParaRP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b="1" dirty="0" smtClean="0">
                <a:cs typeface="Times New Roman" pitchFamily="18" charset="0"/>
              </a:rPr>
              <a:t>PB – petabytes of storage, </a:t>
            </a:r>
            <a:r>
              <a:rPr lang="en-GB" dirty="0" smtClean="0">
                <a:cs typeface="Times New Roman" pitchFamily="18" charset="0"/>
              </a:rPr>
              <a:t>1 PB is enough for </a:t>
            </a:r>
            <a:r>
              <a:rPr lang="en-GB" dirty="0" smtClean="0"/>
              <a:t>13 years of continuous high definition digital television, or 10 billion pictures on Facebook</a:t>
            </a:r>
            <a:endParaRPr lang="en-GB" b="1" dirty="0" smtClean="0">
              <a:cs typeface="Times New Roman" pitchFamily="18" charset="0"/>
            </a:endParaRP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GB" b="1" dirty="0" smtClean="0">
              <a:cs typeface="Times New Roman" pitchFamily="18" charset="0"/>
            </a:endParaRP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 smtClean="0">
                <a:cs typeface="Times New Roman" pitchFamily="18" charset="0"/>
              </a:rPr>
              <a:t>Facility Archives</a:t>
            </a:r>
          </a:p>
          <a:p>
            <a:pPr algn="just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GB" dirty="0" smtClean="0">
                <a:cs typeface="Times New Roman" pitchFamily="18" charset="0"/>
              </a:rPr>
              <a:t>	All ISIS data (~25 years)   &gt; 3,000,000 files </a:t>
            </a:r>
            <a:r>
              <a:rPr lang="en-GB" b="1" dirty="0" smtClean="0">
                <a:cs typeface="Times New Roman" pitchFamily="18" charset="0"/>
              </a:rPr>
              <a:t>CHECK</a:t>
            </a:r>
          </a:p>
          <a:p>
            <a:pPr algn="just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GB" dirty="0" smtClean="0">
                <a:cs typeface="Times New Roman" pitchFamily="18" charset="0"/>
              </a:rPr>
              <a:t>	All Diamond Data (~5 years)  &gt; </a:t>
            </a:r>
            <a:r>
              <a:rPr lang="en-GB" dirty="0" smtClean="0">
                <a:latin typeface="+mn-lt"/>
                <a:ea typeface="+mn-ea"/>
              </a:rPr>
              <a:t>~270TB in 115 million files</a:t>
            </a:r>
            <a:endParaRPr lang="en-GB" b="1" dirty="0" smtClean="0">
              <a:cs typeface="Times New Roman" pitchFamily="18" charset="0"/>
            </a:endParaRP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 smtClean="0">
                <a:cs typeface="Times New Roman" pitchFamily="18" charset="0"/>
              </a:rPr>
              <a:t>LHC Tier 1</a:t>
            </a: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UK hub for LHC data (11PB) (5PB on disc, the rest in tape robot)</a:t>
            </a:r>
            <a:endParaRPr lang="en-GB" b="1" dirty="0" smtClean="0">
              <a:cs typeface="Times New Roman" pitchFamily="18" charset="0"/>
            </a:endParaRP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 smtClean="0">
                <a:cs typeface="Times New Roman" pitchFamily="18" charset="0"/>
              </a:rPr>
              <a:t>Other Research Councils</a:t>
            </a: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NERC    JASMIN+CEMS super data cluster (£4.5M)</a:t>
            </a: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BBSRC    Institutes data archive since 2006 </a:t>
            </a:r>
            <a:r>
              <a:rPr lang="en-GB" b="1" dirty="0" smtClean="0">
                <a:cs typeface="Times New Roman" pitchFamily="18" charset="0"/>
              </a:rPr>
              <a:t>TEN YEAR SLA</a:t>
            </a: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MRC    Data Support service, access to long term human population studies, </a:t>
            </a:r>
            <a:r>
              <a:rPr lang="en-GB" b="1" dirty="0" smtClean="0">
                <a:cs typeface="Times New Roman" pitchFamily="18" charset="0"/>
              </a:rPr>
              <a:t>NEW SERVICE DEVELOPED BY </a:t>
            </a:r>
            <a:r>
              <a:rPr lang="en-GB" b="1" dirty="0" err="1" smtClean="0">
                <a:cs typeface="Times New Roman" pitchFamily="18" charset="0"/>
              </a:rPr>
              <a:t>eSCIENCE</a:t>
            </a:r>
            <a:endParaRPr lang="en-GB" b="1" dirty="0" smtClean="0"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b="1" dirty="0" smtClean="0">
                <a:cs typeface="Times New Roman" pitchFamily="18" charset="0"/>
              </a:rPr>
              <a:t>	</a:t>
            </a:r>
            <a:r>
              <a:rPr lang="en-GB" dirty="0" smtClean="0">
                <a:cs typeface="Times New Roman" pitchFamily="18" charset="0"/>
              </a:rPr>
              <a:t>MRC Psycholinguistic Database </a:t>
            </a:r>
            <a:r>
              <a:rPr lang="en-GB" b="1" dirty="0" smtClean="0">
                <a:cs typeface="Times New Roman" pitchFamily="18" charset="0"/>
              </a:rPr>
              <a:t>– </a:t>
            </a:r>
            <a:r>
              <a:rPr lang="en-GB" dirty="0" smtClean="0">
                <a:cs typeface="Times New Roman" pitchFamily="18" charset="0"/>
              </a:rPr>
              <a:t>very small, unfunded, zero cost, </a:t>
            </a:r>
            <a:r>
              <a:rPr lang="en-GB" b="1" dirty="0" smtClean="0">
                <a:cs typeface="Times New Roman" pitchFamily="18" charset="0"/>
              </a:rPr>
              <a:t>100 publications per year from users</a:t>
            </a:r>
          </a:p>
          <a:p>
            <a:pPr algn="just"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GB" dirty="0" smtClean="0">
                <a:cs typeface="Times New Roman" pitchFamily="18" charset="0"/>
              </a:rPr>
              <a:t>JISC</a:t>
            </a: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</a:t>
            </a:r>
            <a:r>
              <a:rPr lang="en-GB" dirty="0" err="1" smtClean="0">
                <a:cs typeface="Times New Roman" pitchFamily="18" charset="0"/>
              </a:rPr>
              <a:t>JISCmail</a:t>
            </a:r>
            <a:r>
              <a:rPr lang="en-GB" dirty="0" smtClean="0">
                <a:cs typeface="Times New Roman" pitchFamily="18" charset="0"/>
              </a:rPr>
              <a:t> (1Million users)</a:t>
            </a:r>
          </a:p>
          <a:p>
            <a:pPr algn="just">
              <a:spcBef>
                <a:spcPts val="0"/>
              </a:spcBef>
              <a:defRPr/>
            </a:pPr>
            <a:r>
              <a:rPr lang="en-GB" dirty="0" smtClean="0">
                <a:cs typeface="Times New Roman" pitchFamily="18" charset="0"/>
              </a:rPr>
              <a:t>	National Grid Service - enables access to national and international compute and data resources - </a:t>
            </a:r>
            <a:r>
              <a:rPr lang="en-GB" b="1" dirty="0" smtClean="0">
                <a:cs typeface="Times New Roman" pitchFamily="18" charset="0"/>
              </a:rPr>
              <a:t>COMPUTE GRID NOT ELECTRICITY GRID !! </a:t>
            </a:r>
            <a:r>
              <a:rPr lang="en-GB" dirty="0" smtClean="0">
                <a:cs typeface="Times New Roman" pitchFamily="18" charset="0"/>
              </a:rPr>
              <a:t> </a:t>
            </a:r>
            <a:endParaRPr lang="en-GB" b="1" dirty="0" smtClean="0"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dirty="0" err="1" smtClean="0">
                <a:cs typeface="Times New Roman" pitchFamily="18" charset="0"/>
              </a:rPr>
              <a:t>Univeristies</a:t>
            </a:r>
            <a:endParaRPr lang="en-GB" dirty="0" smtClean="0"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Imperial College - National Service for Computational Chemistry Software - EPSRC funded, </a:t>
            </a:r>
            <a:r>
              <a:rPr lang="en-GB" b="1" dirty="0" smtClean="0">
                <a:cs typeface="Times New Roman" pitchFamily="18" charset="0"/>
              </a:rPr>
              <a:t>100 publications per year from users</a:t>
            </a:r>
            <a:endParaRPr lang="en-GB" dirty="0" smtClean="0"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	 Oxford, UCL, Southampton Bristol, Emerald GPU cluster (£1M) (EPSRC)</a:t>
            </a:r>
          </a:p>
          <a:p>
            <a:pPr algn="just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GB" dirty="0" smtClean="0">
                <a:cs typeface="Times New Roman" pitchFamily="18" charset="0"/>
              </a:rPr>
              <a:t>Others:</a:t>
            </a:r>
          </a:p>
          <a:p>
            <a:pPr lvl="1" algn="just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>
                <a:cs typeface="Times New Roman" pitchFamily="18" charset="0"/>
              </a:rPr>
              <a:t>The SCARF compute cluster for RAL facilities</a:t>
            </a:r>
          </a:p>
          <a:p>
            <a:pPr lvl="1" algn="just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GB" dirty="0" smtClean="0">
                <a:cs typeface="Times New Roman" pitchFamily="18" charset="0"/>
              </a:rPr>
              <a:t>The STFC Publications Archive  </a:t>
            </a:r>
          </a:p>
          <a:p>
            <a:pPr lvl="1"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The CCPs (Collaborative Computational Projects)   </a:t>
            </a:r>
          </a:p>
          <a:p>
            <a:pPr lvl="1"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The Chemical Database Service  </a:t>
            </a:r>
          </a:p>
          <a:p>
            <a:pPr lvl="1" algn="just">
              <a:lnSpc>
                <a:spcPct val="110000"/>
              </a:lnSpc>
              <a:defRPr/>
            </a:pPr>
            <a:r>
              <a:rPr lang="en-GB" dirty="0" smtClean="0">
                <a:cs typeface="Times New Roman" pitchFamily="18" charset="0"/>
              </a:rPr>
              <a:t>The IBM Blue Gene/Q ICE-CSE    </a:t>
            </a:r>
            <a:r>
              <a:rPr lang="en-GB" b="1" dirty="0" smtClean="0">
                <a:cs typeface="Times New Roman" pitchFamily="18" charset="0"/>
              </a:rPr>
              <a:t>DESERVES A SEPERATE SLIDE!!</a:t>
            </a:r>
          </a:p>
          <a:p>
            <a:pPr algn="just">
              <a:lnSpc>
                <a:spcPct val="110000"/>
              </a:lnSpc>
              <a:defRPr/>
            </a:pPr>
            <a:endParaRPr lang="en-GB" b="1" dirty="0" smtClean="0"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b="1" dirty="0" smtClean="0">
                <a:cs typeface="Times New Roman" pitchFamily="18" charset="0"/>
              </a:rPr>
              <a:t>Reasons for Data Storage:</a:t>
            </a:r>
          </a:p>
          <a:p>
            <a:pPr algn="just">
              <a:lnSpc>
                <a:spcPct val="110000"/>
              </a:lnSpc>
              <a:defRPr/>
            </a:pPr>
            <a:endParaRPr lang="en-GB" dirty="0" smtClean="0">
              <a:cs typeface="Times New Roman" pitchFamily="18" charset="0"/>
            </a:endParaRP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r>
              <a:rPr lang="en-GB" dirty="0" smtClean="0">
                <a:cs typeface="Times New Roman" pitchFamily="18" charset="0"/>
              </a:rPr>
              <a:t>Researchers access their own data (1-3 years after experiment)</a:t>
            </a: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r>
              <a:rPr lang="en-GB" dirty="0" smtClean="0">
                <a:cs typeface="Times New Roman" pitchFamily="18" charset="0"/>
              </a:rPr>
              <a:t>Other researchers validate published results (3-5 years after experiment)</a:t>
            </a: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r>
              <a:rPr lang="en-GB" dirty="0" smtClean="0">
                <a:cs typeface="Times New Roman" pitchFamily="18" charset="0"/>
              </a:rPr>
              <a:t>Set experimental parameters and test new computational models ( 5-50 years after experiment)</a:t>
            </a: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r>
              <a:rPr lang="en-GB" dirty="0" smtClean="0">
                <a:cs typeface="Times New Roman" pitchFamily="18" charset="0"/>
              </a:rPr>
              <a:t>Used for new science not yet considered (5 years – forever, e.g. Historical data now used for climate change prediction)</a:t>
            </a: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r>
              <a:rPr lang="en-GB" dirty="0" smtClean="0">
                <a:cs typeface="Times New Roman" pitchFamily="18" charset="0"/>
              </a:rPr>
              <a:t>Defend patents on innovations derived from science (5-75 years after experiment)</a:t>
            </a: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r>
              <a:rPr lang="en-GB" dirty="0" smtClean="0">
                <a:cs typeface="Times New Roman" pitchFamily="18" charset="0"/>
              </a:rPr>
              <a:t>Evidence based policy making (5 years to forever)</a:t>
            </a:r>
          </a:p>
          <a:p>
            <a:pPr marL="228600" indent="-228600" algn="just">
              <a:lnSpc>
                <a:spcPct val="110000"/>
              </a:lnSpc>
              <a:buFontTx/>
              <a:buAutoNum type="arabicParenR"/>
              <a:defRPr/>
            </a:pPr>
            <a:endParaRPr lang="en-GB" b="1" dirty="0" smtClean="0">
              <a:cs typeface="Times New Roman" pitchFamily="18" charset="0"/>
            </a:endParaRPr>
          </a:p>
          <a:p>
            <a:pPr marL="228600" indent="-228600" algn="just">
              <a:lnSpc>
                <a:spcPct val="110000"/>
              </a:lnSpc>
              <a:defRPr/>
            </a:pPr>
            <a:endParaRPr lang="en-GB" b="1" dirty="0" smtClean="0">
              <a:latin typeface="+mn-lt"/>
              <a:ea typeface="+mn-ea"/>
            </a:endParaRPr>
          </a:p>
          <a:p>
            <a:pPr marL="228600" indent="-228600" algn="just">
              <a:lnSpc>
                <a:spcPct val="110000"/>
              </a:lnSpc>
              <a:defRPr/>
            </a:pPr>
            <a:endParaRPr lang="en-GB" b="1" dirty="0" smtClean="0">
              <a:cs typeface="Times New Roman" pitchFamily="18" charset="0"/>
            </a:endParaRPr>
          </a:p>
          <a:p>
            <a:pPr marL="228600" indent="-228600" algn="just">
              <a:lnSpc>
                <a:spcPct val="110000"/>
              </a:lnSpc>
              <a:defRPr/>
            </a:pPr>
            <a:endParaRPr lang="en-GB" b="1" dirty="0" smtClean="0"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defRPr/>
            </a:pPr>
            <a:endParaRPr lang="en-GB" b="1" dirty="0" smtClean="0">
              <a:cs typeface="Times New Roman" pitchFamily="18" charset="0"/>
            </a:endParaRPr>
          </a:p>
          <a:p>
            <a:pPr>
              <a:spcBef>
                <a:spcPct val="0"/>
              </a:spcBef>
              <a:defRPr/>
            </a:pPr>
            <a:endParaRPr lang="en-GB" b="1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C0FC-1558-4E98-9E8C-0E6565FCFF67}" type="datetimeFigureOut">
              <a:rPr lang="en-GB" smtClean="0"/>
              <a:pPr/>
              <a:t>03/12/2012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6E48B-F8DE-4BC9-B3F2-38FE2C566D1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tfc.ac.uk/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tfc.ac.uk/scd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gage-project.eu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ws.geonames.org/6690170" TargetMode="External"/><Relationship Id="rId2" Type="http://schemas.openxmlformats.org/officeDocument/2006/relationships/hyperlink" Target="http://dbpedia.org/resource/Eurobaromet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ga1aSJXCFe0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tfc.ac.uk/" TargetMode="External"/><Relationship Id="rId4" Type="http://schemas.openxmlformats.org/officeDocument/2006/relationships/hyperlink" Target="http://www.engage-project.eu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032" y="1700808"/>
            <a:ext cx="7628384" cy="1470025"/>
          </a:xfrm>
        </p:spPr>
        <p:txBody>
          <a:bodyPr/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Semantic categorization of DDI metadata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356992"/>
            <a:ext cx="7560840" cy="2495128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EDDI12 – 4</a:t>
            </a:r>
            <a:r>
              <a:rPr lang="en-GB" baseline="30000" dirty="0" smtClean="0"/>
              <a:t>th</a:t>
            </a:r>
            <a:r>
              <a:rPr lang="en-GB" dirty="0" smtClean="0"/>
              <a:t> Annual European DDI User Conference </a:t>
            </a:r>
          </a:p>
          <a:p>
            <a:r>
              <a:rPr lang="en-GB" dirty="0" smtClean="0"/>
              <a:t>Bergen  3-4 December 2012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sz="2600" dirty="0" smtClean="0"/>
              <a:t>Vasily Bunakov, STFC, United Kingdom</a:t>
            </a:r>
          </a:p>
          <a:p>
            <a:r>
              <a:rPr lang="en-GB" sz="2600" dirty="0"/>
              <a:t>v</a:t>
            </a:r>
            <a:r>
              <a:rPr lang="en-GB" sz="2600" dirty="0" smtClean="0"/>
              <a:t>asily.bunakov@stfc.ac.uk</a:t>
            </a:r>
            <a:endParaRPr lang="en-GB" sz="2600" dirty="0"/>
          </a:p>
        </p:txBody>
      </p:sp>
      <p:pic>
        <p:nvPicPr>
          <p:cNvPr id="1026" name="Picture 2" descr="http://www.iza.org/eddi/ddi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5348" y="4248894"/>
            <a:ext cx="1028700" cy="476250"/>
          </a:xfrm>
          <a:prstGeom prst="rect">
            <a:avLst/>
          </a:prstGeom>
          <a:noFill/>
        </p:spPr>
      </p:pic>
      <p:pic>
        <p:nvPicPr>
          <p:cNvPr id="6" name="Picture 5" descr="stfc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5949280"/>
            <a:ext cx="2682240" cy="685800"/>
          </a:xfrm>
          <a:prstGeom prst="rect">
            <a:avLst/>
          </a:prstGeom>
        </p:spPr>
      </p:pic>
      <p:pic>
        <p:nvPicPr>
          <p:cNvPr id="7" name="Picture 6" descr="ENGAG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1520" y="5805264"/>
            <a:ext cx="1296144" cy="9055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2962275" cy="6858000"/>
            <a:chOff x="0" y="527"/>
            <a:chExt cx="1674" cy="3728"/>
          </a:xfrm>
        </p:grpSpPr>
        <p:pic>
          <p:nvPicPr>
            <p:cNvPr id="28677" name="Picture 4" descr="sstd"/>
            <p:cNvPicPr>
              <a:picLocks noChangeAspect="1" noChangeArrowheads="1"/>
            </p:cNvPicPr>
            <p:nvPr/>
          </p:nvPicPr>
          <p:blipFill>
            <a:blip r:embed="rId3" cstate="print"/>
            <a:srcRect t="6702"/>
            <a:stretch>
              <a:fillRect/>
            </a:stretch>
          </p:blipFill>
          <p:spPr bwMode="auto">
            <a:xfrm flipH="1">
              <a:off x="0" y="527"/>
              <a:ext cx="1598" cy="1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78" name="Picture 5" descr="winstone and vulcan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0" y="2713"/>
              <a:ext cx="1674" cy="1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79" name="Picture 6" descr="ppd bgnd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0" y="1563"/>
              <a:ext cx="1570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3779912" y="5229200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See also: </a:t>
            </a:r>
            <a:r>
              <a:rPr lang="en-GB" sz="2000" dirty="0" smtClean="0">
                <a:hlinkClick r:id="rId6"/>
              </a:rPr>
              <a:t>www.stfc.ac.uk</a:t>
            </a:r>
            <a:endParaRPr lang="en-GB" sz="2000" dirty="0"/>
          </a:p>
        </p:txBody>
      </p:sp>
      <p:pic>
        <p:nvPicPr>
          <p:cNvPr id="10" name="Picture 9" descr="stfc-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300192" y="6021288"/>
            <a:ext cx="2682240" cy="685800"/>
          </a:xfrm>
          <a:prstGeom prst="rect">
            <a:avLst/>
          </a:prstGeom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83768" y="274638"/>
            <a:ext cx="6203032" cy="1143000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Science and Technology Facilities Council 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2411760" y="1700808"/>
            <a:ext cx="6480720" cy="3340967"/>
          </a:xfrm>
        </p:spPr>
        <p:txBody>
          <a:bodyPr>
            <a:normAutofit/>
          </a:bodyPr>
          <a:lstStyle/>
          <a:p>
            <a:r>
              <a:rPr lang="en-GB" sz="2800" dirty="0" smtClean="0"/>
              <a:t>One of Europe's largest multidisciplinary research organisations</a:t>
            </a:r>
          </a:p>
          <a:p>
            <a:r>
              <a:rPr lang="en-GB" sz="2800" dirty="0" smtClean="0"/>
              <a:t>Operates large-scale research facilities in the United Kingdom and gives access to similar facilities world-wide</a:t>
            </a:r>
          </a:p>
          <a:p>
            <a:r>
              <a:rPr lang="en-GB" sz="2800" dirty="0" smtClean="0"/>
              <a:t>Funds university research in physics, astronomy and space</a:t>
            </a:r>
            <a:endParaRPr lang="en-GB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8425557" cy="108012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STFC Scientific Computing Department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4340" name="Picture 4" descr="2006_petabyte_data_store_insid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12776"/>
            <a:ext cx="2195736" cy="435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 bwMode="auto">
          <a:xfrm>
            <a:off x="179512" y="5805264"/>
            <a:ext cx="1844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The  </a:t>
            </a:r>
            <a:r>
              <a:rPr lang="en-GB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StorageTek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tape robot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100PB C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apacity</a:t>
            </a:r>
          </a:p>
        </p:txBody>
      </p:sp>
      <p:pic>
        <p:nvPicPr>
          <p:cNvPr id="8" name="Picture 7" descr="stfc-logo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28184" y="5949280"/>
            <a:ext cx="2682240" cy="685800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339752" y="1340768"/>
            <a:ext cx="6660232" cy="4464496"/>
          </a:xfrm>
        </p:spPr>
        <p:txBody>
          <a:bodyPr>
            <a:normAutofit fontScale="92500"/>
          </a:bodyPr>
          <a:lstStyle/>
          <a:p>
            <a:r>
              <a:rPr lang="en-GB" sz="2800" dirty="0" smtClean="0"/>
              <a:t>High performance computing including the UK’s most powerful computer</a:t>
            </a:r>
          </a:p>
          <a:p>
            <a:r>
              <a:rPr lang="en-GB" sz="2800" dirty="0" smtClean="0"/>
              <a:t>The UK hub for CERN LHC data</a:t>
            </a:r>
          </a:p>
          <a:p>
            <a:r>
              <a:rPr lang="en-GB" sz="2800" dirty="0" smtClean="0"/>
              <a:t>Data archives:</a:t>
            </a:r>
            <a:br>
              <a:rPr lang="en-GB" sz="2800" dirty="0" smtClean="0"/>
            </a:br>
            <a:r>
              <a:rPr lang="en-GB" sz="2800" dirty="0" smtClean="0"/>
              <a:t> - ISIS: ~ 25 years, 3 </a:t>
            </a:r>
            <a:r>
              <a:rPr lang="en-GB" sz="2800" dirty="0" err="1" smtClean="0"/>
              <a:t>mln</a:t>
            </a:r>
            <a:r>
              <a:rPr lang="en-GB" sz="2800" dirty="0" smtClean="0"/>
              <a:t> files</a:t>
            </a:r>
            <a:br>
              <a:rPr lang="en-GB" sz="2800" dirty="0" smtClean="0"/>
            </a:br>
            <a:r>
              <a:rPr lang="en-GB" sz="2800" dirty="0" smtClean="0"/>
              <a:t> - Diamond: ~ 5 years, 100 </a:t>
            </a:r>
            <a:r>
              <a:rPr lang="en-GB" sz="2800" dirty="0" err="1" smtClean="0"/>
              <a:t>mln</a:t>
            </a:r>
            <a:r>
              <a:rPr lang="en-GB" sz="2800" dirty="0" smtClean="0"/>
              <a:t> files</a:t>
            </a:r>
          </a:p>
          <a:p>
            <a:r>
              <a:rPr lang="en-GB" sz="2800" dirty="0" smtClean="0"/>
              <a:t>Data </a:t>
            </a:r>
            <a:r>
              <a:rPr lang="en-GB" sz="2800" dirty="0" err="1" smtClean="0"/>
              <a:t>modeling</a:t>
            </a:r>
            <a:r>
              <a:rPr lang="en-GB" sz="2800" dirty="0" smtClean="0"/>
              <a:t>, including mature metadata framework for facilities research lifecycle</a:t>
            </a:r>
          </a:p>
          <a:p>
            <a:r>
              <a:rPr lang="en-GB" sz="2800" dirty="0" smtClean="0"/>
              <a:t>DOIs for data via </a:t>
            </a:r>
            <a:r>
              <a:rPr lang="en-GB" sz="2800" dirty="0" err="1" smtClean="0"/>
              <a:t>DataCite</a:t>
            </a:r>
            <a:r>
              <a:rPr lang="en-GB" sz="2800" dirty="0" smtClean="0"/>
              <a:t> / British Library</a:t>
            </a:r>
          </a:p>
          <a:p>
            <a:r>
              <a:rPr lang="en-GB" sz="2800" dirty="0" smtClean="0"/>
              <a:t>Data access policy: promoting open access</a:t>
            </a:r>
          </a:p>
          <a:p>
            <a:endParaRPr lang="en-GB" sz="2800" dirty="0" smtClean="0"/>
          </a:p>
          <a:p>
            <a:pPr>
              <a:buNone/>
            </a:pPr>
            <a:endParaRPr lang="en-GB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843808" y="6021288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See also: </a:t>
            </a:r>
            <a:r>
              <a:rPr lang="en-GB" sz="2000" dirty="0" smtClean="0">
                <a:hlinkClick r:id="rId5"/>
              </a:rPr>
              <a:t>www.stfc.ac.uk/scd</a:t>
            </a:r>
            <a:r>
              <a:rPr lang="en-GB" sz="2000" dirty="0" smtClean="0"/>
              <a:t>  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ENGAGE business case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3412976"/>
          </a:xfrm>
        </p:spPr>
        <p:txBody>
          <a:bodyPr>
            <a:normAutofit/>
          </a:bodyPr>
          <a:lstStyle/>
          <a:p>
            <a:r>
              <a:rPr lang="en-GB" sz="2800" dirty="0" smtClean="0"/>
              <a:t>National and local governments, as well as other public bodies are publishing lots of data on the Web</a:t>
            </a:r>
          </a:p>
          <a:p>
            <a:r>
              <a:rPr lang="en-GB" sz="2800" dirty="0" smtClean="0"/>
              <a:t>European infrastructure is needed</a:t>
            </a:r>
          </a:p>
          <a:p>
            <a:r>
              <a:rPr lang="en-GB" sz="2800" dirty="0" smtClean="0"/>
              <a:t>To provide Public Source Information (PSI) to research communities and citizens</a:t>
            </a:r>
          </a:p>
          <a:p>
            <a:r>
              <a:rPr lang="en-GB" sz="2800" dirty="0" smtClean="0"/>
              <a:t>Data linking with Social Science archives is important and very welcome</a:t>
            </a:r>
          </a:p>
        </p:txBody>
      </p:sp>
      <p:pic>
        <p:nvPicPr>
          <p:cNvPr id="3" name="Picture 2" descr="ENG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5157192"/>
            <a:ext cx="6840760" cy="11201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347864" y="5805264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hlinkClick r:id="rId3"/>
              </a:rPr>
              <a:t>www.engage-project.eu</a:t>
            </a:r>
            <a:r>
              <a:rPr lang="en-GB" sz="2400" dirty="0" smtClean="0"/>
              <a:t>  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ENGAGE vision </a:t>
            </a:r>
            <a:br>
              <a:rPr lang="en-GB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of linked data across different domains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00808"/>
            <a:ext cx="7335857" cy="499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57018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To make research data linkable, </a:t>
            </a:r>
            <a:br>
              <a:rPr lang="en-GB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we need to </a:t>
            </a:r>
            <a:r>
              <a:rPr lang="en-GB" u="sng" dirty="0" smtClean="0">
                <a:solidFill>
                  <a:schemeClr val="tx2">
                    <a:lumMod val="75000"/>
                  </a:schemeClr>
                </a:solidFill>
              </a:rPr>
              <a:t>reasonably</a:t>
            </a: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 model research activity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561259"/>
          </a:xfrm>
        </p:spPr>
        <p:txBody>
          <a:bodyPr>
            <a:normAutofit fontScale="92500"/>
          </a:bodyPr>
          <a:lstStyle/>
          <a:p>
            <a:r>
              <a:rPr lang="en-GB" sz="3600" dirty="0" smtClean="0"/>
              <a:t>Keep the model generic enough</a:t>
            </a:r>
          </a:p>
          <a:p>
            <a:r>
              <a:rPr lang="en-GB" sz="3600" dirty="0" smtClean="0"/>
              <a:t>Keep it simple for better adoption and “opportunistic” application</a:t>
            </a:r>
          </a:p>
          <a:p>
            <a:r>
              <a:rPr lang="en-GB" sz="3600" dirty="0" smtClean="0"/>
              <a:t>Aim it not at humans only but at machines / software agents, too, e.g. care about automated semantic inference</a:t>
            </a:r>
            <a:endParaRPr lang="en-GB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2771800" y="1124744"/>
            <a:ext cx="2943200" cy="5428456"/>
          </a:xfrm>
          <a:prstGeom prst="ellipse">
            <a:avLst/>
          </a:prstGeom>
          <a:solidFill>
            <a:srgbClr val="00B050">
              <a:alpha val="10000"/>
            </a:srgbClr>
          </a:solidFill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251520" y="2780928"/>
            <a:ext cx="8496944" cy="1944216"/>
          </a:xfrm>
          <a:prstGeom prst="ellipse">
            <a:avLst/>
          </a:prstGeom>
          <a:solidFill>
            <a:schemeClr val="accent6">
              <a:lumMod val="50000"/>
              <a:alpha val="10000"/>
            </a:schemeClr>
          </a:solidFill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8328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On models: our view of a research “cell” activity</a:t>
            </a:r>
            <a:endParaRPr lang="en-GB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76600" y="3276600"/>
            <a:ext cx="1905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Research Activity</a:t>
            </a:r>
            <a:endParaRPr lang="en-GB" b="1" dirty="0"/>
          </a:p>
        </p:txBody>
      </p:sp>
      <p:sp>
        <p:nvSpPr>
          <p:cNvPr id="5" name="Right Arrow 4"/>
          <p:cNvSpPr/>
          <p:nvPr/>
        </p:nvSpPr>
        <p:spPr>
          <a:xfrm>
            <a:off x="5334000" y="3657600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084168" y="3284984"/>
            <a:ext cx="1944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tx2"/>
                </a:solidFill>
              </a:rPr>
              <a:t>Research outputs </a:t>
            </a:r>
          </a:p>
          <a:p>
            <a:r>
              <a:rPr lang="en-GB" b="1" dirty="0" smtClean="0">
                <a:solidFill>
                  <a:schemeClr val="tx2"/>
                </a:solidFill>
              </a:rPr>
              <a:t>(publications, datasets, ...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514600" y="3657600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 rot="16200000">
            <a:off x="4000500" y="45339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 rot="16200000">
            <a:off x="4006788" y="2775012"/>
            <a:ext cx="533400" cy="1649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9552" y="3284984"/>
            <a:ext cx="2114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tx2"/>
                </a:solidFill>
              </a:rPr>
              <a:t>Research inputs</a:t>
            </a:r>
          </a:p>
          <a:p>
            <a:r>
              <a:rPr lang="en-GB" b="1" dirty="0" smtClean="0">
                <a:solidFill>
                  <a:schemeClr val="tx2"/>
                </a:solidFill>
              </a:rPr>
              <a:t>(previous research, funding, ...)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87824" y="5013176"/>
            <a:ext cx="249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chemeClr val="tx2"/>
                </a:solidFill>
              </a:rPr>
              <a:t>Research environment (infrastructure, regulation, ...)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5856" y="1556792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chemeClr val="tx2"/>
                </a:solidFill>
              </a:rPr>
              <a:t>Research effects </a:t>
            </a:r>
            <a:br>
              <a:rPr lang="en-GB" b="1" dirty="0" smtClean="0">
                <a:solidFill>
                  <a:schemeClr val="tx2"/>
                </a:solidFill>
              </a:rPr>
            </a:br>
            <a:r>
              <a:rPr lang="en-GB" b="1" dirty="0" smtClean="0">
                <a:solidFill>
                  <a:schemeClr val="tx2"/>
                </a:solidFill>
              </a:rPr>
              <a:t>(positive, negative, neutral, ...)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2564904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chemeClr val="accent6">
                    <a:lumMod val="50000"/>
                  </a:schemeClr>
                </a:solidFill>
              </a:rPr>
              <a:t>Short-term perspective</a:t>
            </a:r>
            <a:endParaRPr lang="en-GB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9752" y="5949280"/>
            <a:ext cx="1210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00B050"/>
                </a:solidFill>
              </a:rPr>
              <a:t>Long-term perspective</a:t>
            </a:r>
            <a:endParaRPr lang="en-GB" sz="16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5796136" y="1988840"/>
            <a:ext cx="3168352" cy="3096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987824" y="1988840"/>
            <a:ext cx="3240360" cy="316835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More than one research activity </a:t>
            </a:r>
            <a:b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in one DDI record</a:t>
            </a:r>
            <a:endParaRPr lang="en-GB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5896" y="2996952"/>
            <a:ext cx="2232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Study title</a:t>
            </a:r>
          </a:p>
          <a:p>
            <a:r>
              <a:rPr lang="en-GB" dirty="0" smtClean="0"/>
              <a:t>Study description</a:t>
            </a:r>
          </a:p>
          <a:p>
            <a:r>
              <a:rPr lang="en-GB" dirty="0" smtClean="0"/>
              <a:t>Contributor (author)</a:t>
            </a:r>
          </a:p>
          <a:p>
            <a:r>
              <a:rPr lang="en-GB" dirty="0" smtClean="0"/>
              <a:t>Temporal coverage</a:t>
            </a:r>
          </a:p>
          <a:p>
            <a:r>
              <a:rPr lang="en-GB" dirty="0" smtClean="0"/>
              <a:t>Spatial coverage</a:t>
            </a:r>
          </a:p>
          <a:p>
            <a:r>
              <a:rPr lang="en-GB" dirty="0" smtClean="0"/>
              <a:t>Subject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176" y="3031792"/>
            <a:ext cx="2448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Contributor (distributor)</a:t>
            </a:r>
          </a:p>
          <a:p>
            <a:r>
              <a:rPr lang="en-GB" dirty="0" smtClean="0"/>
              <a:t>Copyright</a:t>
            </a:r>
          </a:p>
          <a:p>
            <a:r>
              <a:rPr lang="en-GB" dirty="0" smtClean="0"/>
              <a:t>Access type</a:t>
            </a:r>
          </a:p>
          <a:p>
            <a:r>
              <a:rPr lang="en-GB" dirty="0" smtClean="0"/>
              <a:t>Access description</a:t>
            </a:r>
          </a:p>
          <a:p>
            <a:r>
              <a:rPr lang="en-GB" dirty="0" smtClean="0"/>
              <a:t>Access contact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3563888" y="249289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Research per se</a:t>
            </a: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84168" y="249289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Research distribution</a:t>
            </a: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79512" y="1988840"/>
            <a:ext cx="3240360" cy="316835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27584" y="249289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Research funding</a:t>
            </a: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9592" y="3286725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Funding agency</a:t>
            </a:r>
          </a:p>
          <a:p>
            <a:r>
              <a:rPr lang="en-GB" dirty="0" smtClean="0"/>
              <a:t>Grant ID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108520" y="5589240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C00000"/>
                </a:solidFill>
              </a:rPr>
              <a:t>(A newer) DDI has been designed to cover the entire research lifecycle in specific branches of science but when we speak of a </a:t>
            </a:r>
            <a:r>
              <a:rPr lang="en-GB" sz="2000" u="sng" dirty="0" smtClean="0">
                <a:solidFill>
                  <a:srgbClr val="C00000"/>
                </a:solidFill>
              </a:rPr>
              <a:t>common</a:t>
            </a:r>
            <a:r>
              <a:rPr lang="en-GB" sz="2000" dirty="0" smtClean="0">
                <a:solidFill>
                  <a:srgbClr val="C00000"/>
                </a:solidFill>
              </a:rPr>
              <a:t> infrastructure, we have to consider different information needs, and different modes of information re-use</a:t>
            </a:r>
            <a:endParaRPr lang="en-GB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Research decomposed in cells, with </a:t>
            </a:r>
            <a:r>
              <a:rPr lang="en-GB" sz="3600" u="sng" dirty="0" smtClean="0">
                <a:solidFill>
                  <a:schemeClr val="tx2">
                    <a:lumMod val="75000"/>
                  </a:schemeClr>
                </a:solidFill>
              </a:rPr>
              <a:t>examples</a:t>
            </a:r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 of entities for each</a:t>
            </a:r>
            <a:endParaRPr lang="en-GB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403648" y="2132856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2771800" y="2060848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Arrow 10"/>
          <p:cNvSpPr/>
          <p:nvPr/>
        </p:nvSpPr>
        <p:spPr>
          <a:xfrm>
            <a:off x="4139952" y="2060848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Arrow 11"/>
          <p:cNvSpPr/>
          <p:nvPr/>
        </p:nvSpPr>
        <p:spPr>
          <a:xfrm>
            <a:off x="5580112" y="2060848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ight Arrow 12"/>
          <p:cNvSpPr/>
          <p:nvPr/>
        </p:nvSpPr>
        <p:spPr>
          <a:xfrm>
            <a:off x="7092280" y="2060848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Arrow 13"/>
          <p:cNvSpPr/>
          <p:nvPr/>
        </p:nvSpPr>
        <p:spPr>
          <a:xfrm>
            <a:off x="8604448" y="2060848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7504" y="2924944"/>
          <a:ext cx="8892482" cy="381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14"/>
                <a:gridCol w="1507768"/>
                <a:gridCol w="1497775"/>
                <a:gridCol w="1497775"/>
                <a:gridCol w="1497775"/>
                <a:gridCol w="149777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Ontology class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Funding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Research </a:t>
                      </a:r>
                    </a:p>
                    <a:p>
                      <a:r>
                        <a:rPr lang="en-GB" sz="1600" dirty="0" smtClean="0"/>
                        <a:t>per se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Results processing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Results dissemination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Results consumption</a:t>
                      </a:r>
                      <a:endParaRPr lang="en-GB" sz="1600" dirty="0"/>
                    </a:p>
                  </a:txBody>
                  <a:tcPr/>
                </a:tc>
              </a:tr>
              <a:tr h="421248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Input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Research proposal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Award (grant)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Dataset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DDI record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DDI record or its manifestation</a:t>
                      </a:r>
                      <a:endParaRPr lang="en-GB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Output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Award (grant)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Dataset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DDI</a:t>
                      </a:r>
                      <a:r>
                        <a:rPr lang="en-GB" sz="1400" baseline="0" dirty="0" smtClean="0"/>
                        <a:t> record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Web service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Feedback</a:t>
                      </a:r>
                      <a:endParaRPr lang="en-GB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Actor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Researcher candidate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Contributor (author)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Data archive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Dissemination</a:t>
                      </a:r>
                      <a:r>
                        <a:rPr lang="en-GB" sz="1400" baseline="0" dirty="0" smtClean="0"/>
                        <a:t> s</a:t>
                      </a:r>
                      <a:r>
                        <a:rPr lang="en-GB" sz="1400" dirty="0" smtClean="0"/>
                        <a:t>ervice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Web service user</a:t>
                      </a:r>
                      <a:endParaRPr lang="en-GB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Effect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Researcher’s department</a:t>
                      </a:r>
                      <a:r>
                        <a:rPr lang="en-GB" sz="1400" baseline="0" dirty="0" smtClean="0"/>
                        <a:t> budget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Whatever is claimed in proposal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Economical effect of processing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Economical effect of distribution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Impact on further research</a:t>
                      </a:r>
                      <a:endParaRPr lang="en-GB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Condition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Funding body rules &amp; </a:t>
                      </a:r>
                      <a:r>
                        <a:rPr lang="en-GB" sz="1400" dirty="0" err="1" smtClean="0"/>
                        <a:t>regs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Microdata</a:t>
                      </a:r>
                      <a:r>
                        <a:rPr lang="en-GB" sz="1400" dirty="0" smtClean="0"/>
                        <a:t> regulation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Data</a:t>
                      </a:r>
                      <a:r>
                        <a:rPr lang="en-GB" sz="1400" baseline="0" dirty="0" smtClean="0"/>
                        <a:t> processing guidelines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Data</a:t>
                      </a:r>
                      <a:r>
                        <a:rPr lang="en-GB" sz="1400" baseline="0" dirty="0" smtClean="0"/>
                        <a:t> a</a:t>
                      </a:r>
                      <a:r>
                        <a:rPr lang="en-GB" sz="1400" dirty="0" smtClean="0"/>
                        <a:t>ccess regulation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aseline="0" dirty="0" smtClean="0"/>
                        <a:t>Research purpose statement</a:t>
                      </a:r>
                      <a:endParaRPr lang="en-GB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Scope</a:t>
                      </a:r>
                      <a:endParaRPr lang="en-GB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Certain branch of science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Certain </a:t>
                      </a:r>
                      <a:r>
                        <a:rPr lang="en-GB" sz="1400" dirty="0" err="1" smtClean="0"/>
                        <a:t>geolocations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National</a:t>
                      </a:r>
                      <a:r>
                        <a:rPr lang="en-GB" sz="1400" baseline="0" dirty="0" smtClean="0"/>
                        <a:t> research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International research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Certain</a:t>
                      </a:r>
                      <a:r>
                        <a:rPr lang="en-GB" sz="1400" baseline="0" dirty="0" smtClean="0"/>
                        <a:t> HASSET keywords</a:t>
                      </a:r>
                      <a:endParaRPr lang="en-GB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Cube 15"/>
          <p:cNvSpPr/>
          <p:nvPr/>
        </p:nvSpPr>
        <p:spPr>
          <a:xfrm>
            <a:off x="1691680" y="1556792"/>
            <a:ext cx="1152128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Funding</a:t>
            </a:r>
            <a:endParaRPr lang="en-GB" sz="1400" dirty="0"/>
          </a:p>
        </p:txBody>
      </p:sp>
      <p:sp>
        <p:nvSpPr>
          <p:cNvPr id="17" name="Cube 16"/>
          <p:cNvSpPr/>
          <p:nvPr/>
        </p:nvSpPr>
        <p:spPr>
          <a:xfrm>
            <a:off x="3059832" y="1556792"/>
            <a:ext cx="1152128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Research per se</a:t>
            </a:r>
            <a:endParaRPr lang="en-GB" sz="1400" dirty="0"/>
          </a:p>
        </p:txBody>
      </p:sp>
      <p:sp>
        <p:nvSpPr>
          <p:cNvPr id="18" name="Cube 17"/>
          <p:cNvSpPr/>
          <p:nvPr/>
        </p:nvSpPr>
        <p:spPr>
          <a:xfrm>
            <a:off x="4427984" y="1556792"/>
            <a:ext cx="1224136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Results processing</a:t>
            </a:r>
            <a:endParaRPr lang="en-GB" sz="1400" dirty="0"/>
          </a:p>
        </p:txBody>
      </p:sp>
      <p:sp>
        <p:nvSpPr>
          <p:cNvPr id="19" name="Cube 18"/>
          <p:cNvSpPr/>
          <p:nvPr/>
        </p:nvSpPr>
        <p:spPr>
          <a:xfrm>
            <a:off x="5940152" y="1556792"/>
            <a:ext cx="1224136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Results dissemination</a:t>
            </a:r>
            <a:endParaRPr lang="en-GB" sz="1400" dirty="0"/>
          </a:p>
        </p:txBody>
      </p:sp>
      <p:sp>
        <p:nvSpPr>
          <p:cNvPr id="20" name="Cube 19"/>
          <p:cNvSpPr/>
          <p:nvPr/>
        </p:nvSpPr>
        <p:spPr>
          <a:xfrm>
            <a:off x="7524328" y="1556792"/>
            <a:ext cx="1152128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Results consumption</a:t>
            </a:r>
            <a:endParaRPr lang="en-GB" sz="1400" dirty="0"/>
          </a:p>
        </p:txBody>
      </p:sp>
      <p:sp>
        <p:nvSpPr>
          <p:cNvPr id="21" name="Cube 20"/>
          <p:cNvSpPr/>
          <p:nvPr/>
        </p:nvSpPr>
        <p:spPr>
          <a:xfrm>
            <a:off x="323528" y="1556792"/>
            <a:ext cx="1152128" cy="1080120"/>
          </a:xfrm>
          <a:prstGeom prst="cube">
            <a:avLst/>
          </a:prstGeom>
          <a:solidFill>
            <a:schemeClr val="accent1">
              <a:alpha val="67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Research proposal</a:t>
            </a:r>
            <a:endParaRPr lang="en-GB" sz="14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411760" y="3861048"/>
            <a:ext cx="288032" cy="36004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843808" y="3861048"/>
            <a:ext cx="720080" cy="36842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4067944" y="3933056"/>
            <a:ext cx="720080" cy="28803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635896" y="3933056"/>
            <a:ext cx="288032" cy="28803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292080" y="3933056"/>
            <a:ext cx="216024" cy="28803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876256" y="3933056"/>
            <a:ext cx="216024" cy="28803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388424" y="4005064"/>
            <a:ext cx="216024" cy="28803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748464" y="4293096"/>
            <a:ext cx="36004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5724128" y="3933056"/>
            <a:ext cx="720080" cy="28803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7236296" y="4005064"/>
            <a:ext cx="576064" cy="21602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GB" sz="3600" dirty="0" err="1" smtClean="0">
                <a:solidFill>
                  <a:schemeClr val="tx2">
                    <a:lumMod val="75000"/>
                  </a:schemeClr>
                </a:solidFill>
              </a:rPr>
              <a:t>Ontologies</a:t>
            </a:r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 in the context of ENGAGE </a:t>
            </a:r>
            <a:b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sz="3600" dirty="0" smtClean="0">
                <a:solidFill>
                  <a:schemeClr val="tx2">
                    <a:lumMod val="75000"/>
                  </a:schemeClr>
                </a:solidFill>
              </a:rPr>
              <a:t>data processing</a:t>
            </a:r>
            <a:endParaRPr lang="en-GB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1412776"/>
            <a:ext cx="6637596" cy="5342083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403648" y="2492896"/>
            <a:ext cx="1368152" cy="864096"/>
          </a:xfrm>
          <a:prstGeom prst="ellipse">
            <a:avLst/>
          </a:prstGeom>
          <a:solidFill>
            <a:schemeClr val="tx2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1403648" y="3356992"/>
            <a:ext cx="1368152" cy="936104"/>
          </a:xfrm>
          <a:prstGeom prst="ellipse">
            <a:avLst/>
          </a:prstGeom>
          <a:solidFill>
            <a:schemeClr val="tx2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1403648" y="5013176"/>
            <a:ext cx="1368152" cy="936104"/>
          </a:xfrm>
          <a:prstGeom prst="ellipse">
            <a:avLst/>
          </a:prstGeom>
          <a:solidFill>
            <a:schemeClr val="tx2">
              <a:alpha val="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Technology stack for experiments with DDI metadata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84177"/>
            <a:ext cx="8229600" cy="1396751"/>
          </a:xfrm>
        </p:spPr>
        <p:txBody>
          <a:bodyPr>
            <a:normAutofit/>
          </a:bodyPr>
          <a:lstStyle/>
          <a:p>
            <a:r>
              <a:rPr lang="en-GB" sz="2400" dirty="0" smtClean="0"/>
              <a:t>OAI protocol and harvesters</a:t>
            </a:r>
          </a:p>
          <a:p>
            <a:r>
              <a:rPr lang="en-GB" sz="2400" dirty="0" smtClean="0"/>
              <a:t>Tomcat, Sesame, OWLIM, ARQ</a:t>
            </a:r>
          </a:p>
          <a:p>
            <a:r>
              <a:rPr lang="en-GB" sz="2400" dirty="0" smtClean="0"/>
              <a:t>XSLT, SPARQL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9792" y="3695328"/>
            <a:ext cx="38862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Tomcat</a:t>
            </a:r>
          </a:p>
          <a:p>
            <a:pPr algn="ctr"/>
            <a:r>
              <a:rPr lang="en-GB" dirty="0" smtClean="0"/>
              <a:t>container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2928392" y="3771528"/>
            <a:ext cx="1143000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Sesame triple store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5214392" y="3771528"/>
            <a:ext cx="1143000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OWLIM inference engine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699792" y="5447928"/>
            <a:ext cx="3886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OAI store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2699792" y="2780928"/>
            <a:ext cx="1295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Web workbench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2699792" y="4914528"/>
            <a:ext cx="1905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Harvester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4680992" y="4914528"/>
            <a:ext cx="1905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XSLT engine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4071392" y="2780928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Command line  tool (ARQ)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5366792" y="2780928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SPARQL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971600" y="6237312"/>
            <a:ext cx="72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/>
              <a:t>Just enough to support “RDFS Plus” data </a:t>
            </a:r>
            <a:r>
              <a:rPr lang="en-GB" sz="2000" dirty="0" err="1" smtClean="0"/>
              <a:t>modeling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Data sources and models tried out </a:t>
            </a:r>
            <a:b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and planned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9552" y="1700808"/>
            <a:ext cx="1656184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UK Data Archive</a:t>
            </a: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491880" y="1700808"/>
            <a:ext cx="1656184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GESIS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467544" y="5229200"/>
            <a:ext cx="1656184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Geonames</a:t>
            </a:r>
            <a:endParaRPr lang="en-GB" dirty="0"/>
          </a:p>
        </p:txBody>
      </p:sp>
      <p:sp>
        <p:nvSpPr>
          <p:cNvPr id="7" name="Rounded Rectangle 6"/>
          <p:cNvSpPr/>
          <p:nvPr/>
        </p:nvSpPr>
        <p:spPr>
          <a:xfrm>
            <a:off x="3491880" y="5229200"/>
            <a:ext cx="1656184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DBPedia</a:t>
            </a:r>
            <a:endParaRPr lang="en-GB" dirty="0"/>
          </a:p>
        </p:txBody>
      </p:sp>
      <p:sp>
        <p:nvSpPr>
          <p:cNvPr id="9" name="Rounded Rectangle 8"/>
          <p:cNvSpPr/>
          <p:nvPr/>
        </p:nvSpPr>
        <p:spPr>
          <a:xfrm>
            <a:off x="6012160" y="2852936"/>
            <a:ext cx="1656184" cy="1080120"/>
          </a:xfrm>
          <a:prstGeom prst="roundRect">
            <a:avLst/>
          </a:prstGeom>
          <a:solidFill>
            <a:schemeClr val="accent1">
              <a:alpha val="67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UK ESPRC Research Catalogue</a:t>
            </a:r>
            <a:endParaRPr lang="en-GB" dirty="0"/>
          </a:p>
        </p:txBody>
      </p:sp>
      <p:sp>
        <p:nvSpPr>
          <p:cNvPr id="10" name="Rounded Rectangle 9"/>
          <p:cNvSpPr/>
          <p:nvPr/>
        </p:nvSpPr>
        <p:spPr>
          <a:xfrm>
            <a:off x="6012160" y="4149080"/>
            <a:ext cx="1656184" cy="1080120"/>
          </a:xfrm>
          <a:prstGeom prst="roundRect">
            <a:avLst/>
          </a:prstGeom>
          <a:solidFill>
            <a:schemeClr val="accent1">
              <a:alpha val="67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SKOS-HASSET thesaurus</a:t>
            </a:r>
            <a:endParaRPr lang="en-GB" dirty="0"/>
          </a:p>
        </p:txBody>
      </p:sp>
      <p:sp>
        <p:nvSpPr>
          <p:cNvPr id="11" name="Oval 10"/>
          <p:cNvSpPr/>
          <p:nvPr/>
        </p:nvSpPr>
        <p:spPr>
          <a:xfrm>
            <a:off x="1763688" y="3573016"/>
            <a:ext cx="2016224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Categorization ontology</a:t>
            </a:r>
            <a:endParaRPr lang="en-GB" sz="1600" dirty="0"/>
          </a:p>
        </p:txBody>
      </p:sp>
      <p:sp>
        <p:nvSpPr>
          <p:cNvPr id="13" name="Oval 12"/>
          <p:cNvSpPr/>
          <p:nvPr/>
        </p:nvSpPr>
        <p:spPr>
          <a:xfrm>
            <a:off x="6012160" y="5445224"/>
            <a:ext cx="1656184" cy="1008112"/>
          </a:xfrm>
          <a:prstGeom prst="ellipse">
            <a:avLst/>
          </a:prstGeom>
          <a:solidFill>
            <a:schemeClr val="accent1">
              <a:alpha val="67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CERIF ontology</a:t>
            </a:r>
            <a:endParaRPr lang="en-GB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195736" y="1844824"/>
            <a:ext cx="1008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RELU</a:t>
            </a:r>
          </a:p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and</a:t>
            </a:r>
          </a:p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CENSUS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48064" y="1772816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European Values Study</a:t>
            </a:r>
          </a:p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and</a:t>
            </a:r>
          </a:p>
          <a:p>
            <a:r>
              <a:rPr lang="en-GB" dirty="0" err="1" smtClean="0">
                <a:solidFill>
                  <a:schemeClr val="tx2">
                    <a:lumMod val="75000"/>
                  </a:schemeClr>
                </a:solidFill>
              </a:rPr>
              <a:t>Eurobarometer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23728" y="5517232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Locations, maps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48064" y="5589240"/>
            <a:ext cx="64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Web links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68344" y="2852936"/>
            <a:ext cx="1475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Can give links to well-structured research outputs descriptions</a:t>
            </a:r>
            <a:endParaRPr lang="en-GB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7668344" y="4077072"/>
            <a:ext cx="12961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Can give links to controlled vocabulary and inference based on it</a:t>
            </a:r>
            <a:endParaRPr lang="en-GB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7668344" y="5445224"/>
            <a:ext cx="12961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Can be a gateway to CRIS data</a:t>
            </a:r>
            <a:endParaRPr lang="en-GB" sz="14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475656" y="2996952"/>
            <a:ext cx="504056" cy="504056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635896" y="4581128"/>
            <a:ext cx="504056" cy="504056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635896" y="2996952"/>
            <a:ext cx="576064" cy="504056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1259632" y="4581128"/>
            <a:ext cx="576064" cy="504056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“Shallow” categorizations possible </a:t>
            </a:r>
            <a:br>
              <a:rPr lang="en-GB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against DDI metadata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33056"/>
          </a:xfrm>
        </p:spPr>
        <p:txBody>
          <a:bodyPr>
            <a:normAutofit lnSpcReduction="10000"/>
          </a:bodyPr>
          <a:lstStyle/>
          <a:p>
            <a:r>
              <a:rPr lang="en-GB" sz="3000" b="1" dirty="0" smtClean="0">
                <a:solidFill>
                  <a:schemeClr val="tx2">
                    <a:lumMod val="75000"/>
                  </a:schemeClr>
                </a:solidFill>
              </a:rPr>
              <a:t>Inputs and Outputs </a:t>
            </a:r>
            <a:r>
              <a:rPr lang="en-GB" sz="3000" dirty="0" smtClean="0"/>
              <a:t/>
            </a:r>
            <a:br>
              <a:rPr lang="en-GB" sz="3000" dirty="0" smtClean="0"/>
            </a:br>
            <a:r>
              <a:rPr lang="en-GB" sz="3000" dirty="0" smtClean="0"/>
              <a:t>Defined via Categorization Ontology to facilitate data discovery and data provenance tracking</a:t>
            </a:r>
          </a:p>
          <a:p>
            <a:r>
              <a:rPr lang="en-GB" sz="3000" b="1" dirty="0" err="1" smtClean="0">
                <a:solidFill>
                  <a:schemeClr val="tx2">
                    <a:lumMod val="75000"/>
                  </a:schemeClr>
                </a:solidFill>
              </a:rPr>
              <a:t>Geolocations</a:t>
            </a:r>
            <a:r>
              <a:rPr lang="en-GB" sz="3000" dirty="0" smtClean="0"/>
              <a:t/>
            </a:r>
            <a:br>
              <a:rPr lang="en-GB" sz="3000" dirty="0" smtClean="0"/>
            </a:br>
            <a:r>
              <a:rPr lang="en-GB" sz="3000" dirty="0" smtClean="0"/>
              <a:t>For research scope, for actors, ...</a:t>
            </a:r>
          </a:p>
          <a:p>
            <a:r>
              <a:rPr lang="en-GB" sz="3000" b="1" dirty="0" smtClean="0">
                <a:solidFill>
                  <a:schemeClr val="tx2">
                    <a:lumMod val="75000"/>
                  </a:schemeClr>
                </a:solidFill>
              </a:rPr>
              <a:t>Subjects</a:t>
            </a:r>
            <a:r>
              <a:rPr lang="en-GB" sz="3000" dirty="0" smtClean="0"/>
              <a:t/>
            </a:r>
            <a:br>
              <a:rPr lang="en-GB" sz="3000" dirty="0" smtClean="0"/>
            </a:br>
            <a:r>
              <a:rPr lang="en-GB" sz="3000" dirty="0" smtClean="0"/>
              <a:t>At least, their types: HASSET, ZA-Categories, ...</a:t>
            </a:r>
          </a:p>
          <a:p>
            <a:r>
              <a:rPr lang="en-GB" sz="3000" b="1" dirty="0" smtClean="0">
                <a:solidFill>
                  <a:schemeClr val="tx2">
                    <a:lumMod val="75000"/>
                  </a:schemeClr>
                </a:solidFill>
              </a:rPr>
              <a:t>Actors</a:t>
            </a:r>
            <a:r>
              <a:rPr lang="en-GB" sz="3000" dirty="0" smtClean="0"/>
              <a:t/>
            </a:r>
            <a:br>
              <a:rPr lang="en-GB" sz="3000" dirty="0" smtClean="0"/>
            </a:br>
            <a:r>
              <a:rPr lang="en-GB" sz="3000" dirty="0" smtClean="0"/>
              <a:t>At least, their types: investigators, distributors...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5877272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C00000"/>
                </a:solidFill>
              </a:rPr>
              <a:t>Any deeper categorizations will require Subject Matter Experts powered by data refinement &amp; linking tools (Google Refine, LOD2 Silk, ...)</a:t>
            </a:r>
            <a:endParaRPr lang="en-GB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98376"/>
            <a:ext cx="8229600" cy="95436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Why we need semantics?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7544" y="1128974"/>
          <a:ext cx="8280921" cy="4964322"/>
        </p:xfrm>
        <a:graphic>
          <a:graphicData uri="http://schemas.openxmlformats.org/drawingml/2006/table">
            <a:tbl>
              <a:tblPr/>
              <a:tblGrid>
                <a:gridCol w="2592288"/>
                <a:gridCol w="1450226"/>
                <a:gridCol w="2030161"/>
                <a:gridCol w="2208246"/>
              </a:tblGrid>
              <a:tr h="576064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1" i="0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 </a:t>
                      </a:r>
                      <a:r>
                        <a:rPr lang="en-GB" sz="1400" b="1" i="0" u="none" strike="noStrike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  </a:t>
                      </a:r>
                      <a:r>
                        <a:rPr lang="en-GB" sz="1400" b="1" i="0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Location</a:t>
                      </a:r>
                      <a:endParaRPr lang="en-GB" sz="14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1" i="0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 No</a:t>
                      </a:r>
                      <a:r>
                        <a:rPr lang="en-GB" sz="1400" b="1" i="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. of references </a:t>
                      </a:r>
                      <a:endParaRPr lang="en-GB" sz="1400" b="1" i="0" u="none" strike="noStrike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libri"/>
                      </a:endParaRPr>
                    </a:p>
                    <a:p>
                      <a:pPr algn="l" fontAlgn="ctr"/>
                      <a:r>
                        <a:rPr lang="en-GB" sz="1400" b="1" i="0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 to </a:t>
                      </a:r>
                      <a:r>
                        <a:rPr lang="en-GB" sz="1400" b="1" i="0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1" i="0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  Part Of (parent)</a:t>
                      </a:r>
                      <a:endParaRPr lang="en-GB" sz="14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1" i="0" u="none" strike="noStrike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</a:rPr>
                        <a:t>  Same As</a:t>
                      </a:r>
                      <a:endParaRPr lang="en-GB" sz="14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"UNITED KINGDOM"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16   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"GB United Kingdom"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"ENGLAND"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"SCOTLAND"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"GREAT BRITAIN"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"WALES"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"ENGLAND AND WALES"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"UNITED KINGDOM"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"GB-GBN 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"ENGLAND AND WALES"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"GB-GBN 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"GB-NIR Northern Ireland"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"NORTHERN IRELAND"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"NORTHERN IRELAND"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"GREAT BRITAIN"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"GB-NIR Northern Ireland"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"PEAK DISTRICT"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"ENGLAND"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"GB United Kingdom"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"UNITED KINGDOM"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"SOUTH WEST ENGLAND (REGION)"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"ENGLAND"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"EAST MIDLANDS (REGION)"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"MIDLANDS"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  <a:tr h="313447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"MIDLANDS"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"ENGLAND"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52320" y="6309320"/>
          <a:ext cx="1152128" cy="410870"/>
        </p:xfrm>
        <a:graphic>
          <a:graphicData uri="http://schemas.openxmlformats.org/drawingml/2006/table">
            <a:tbl>
              <a:tblPr/>
              <a:tblGrid>
                <a:gridCol w="1152128"/>
              </a:tblGrid>
              <a:tr h="20543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UK</a:t>
                      </a:r>
                      <a:r>
                        <a:rPr lang="en-GB" sz="12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Data Archive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>
                        <a:alpha val="15000"/>
                      </a:srgbClr>
                    </a:solidFill>
                  </a:tcPr>
                </a:tc>
              </a:tr>
              <a:tr h="20543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GESIS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>
                        <a:alpha val="1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Good news about Linked Data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4016" y="1124744"/>
          <a:ext cx="889248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632"/>
                <a:gridCol w="7632848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b="0" dirty="0" smtClean="0">
                          <a:solidFill>
                            <a:schemeClr val="tx1"/>
                          </a:solidFill>
                        </a:rPr>
                        <a:t>Easy</a:t>
                      </a:r>
                      <a:r>
                        <a:rPr lang="en-GB" sz="1600" b="0" baseline="0" dirty="0" smtClean="0">
                          <a:solidFill>
                            <a:schemeClr val="tx1"/>
                          </a:solidFill>
                        </a:rPr>
                        <a:t> to</a:t>
                      </a:r>
                      <a:r>
                        <a:rPr lang="en-GB" sz="1600" b="0" dirty="0" smtClean="0">
                          <a:solidFill>
                            <a:schemeClr val="tx1"/>
                          </a:solidFill>
                        </a:rPr>
                        <a:t> create new entities...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CONSTRUCT {?study </a:t>
                      </a:r>
                      <a:r>
                        <a:rPr lang="en-GB" sz="1400" b="0" dirty="0" err="1" smtClean="0">
                          <a:solidFill>
                            <a:schemeClr val="tx1"/>
                          </a:solidFill>
                        </a:rPr>
                        <a:t>engage:hasScope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?location .</a:t>
                      </a:r>
                    </a:p>
                    <a:p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	?location a </a:t>
                      </a:r>
                      <a:r>
                        <a:rPr lang="en-GB" sz="1400" b="0" dirty="0" err="1" smtClean="0">
                          <a:solidFill>
                            <a:schemeClr val="tx1"/>
                          </a:solidFill>
                        </a:rPr>
                        <a:t>ukda:Location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.</a:t>
                      </a:r>
                    </a:p>
                    <a:p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	?location </a:t>
                      </a:r>
                      <a:r>
                        <a:rPr lang="en-GB" sz="1400" b="0" dirty="0" err="1" smtClean="0">
                          <a:solidFill>
                            <a:schemeClr val="tx1"/>
                          </a:solidFill>
                        </a:rPr>
                        <a:t>engage:name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?name .	}</a:t>
                      </a:r>
                    </a:p>
                    <a:p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WHERE {?study a </a:t>
                      </a:r>
                      <a:r>
                        <a:rPr lang="en-GB" sz="1400" b="0" dirty="0" err="1" smtClean="0">
                          <a:solidFill>
                            <a:schemeClr val="tx1"/>
                          </a:solidFill>
                        </a:rPr>
                        <a:t>ukda:Study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.</a:t>
                      </a:r>
                    </a:p>
                    <a:p>
                      <a:r>
                        <a:rPr lang="en-GB" sz="1400" b="0" baseline="0" dirty="0" smtClean="0">
                          <a:solidFill>
                            <a:schemeClr val="tx1"/>
                          </a:solidFill>
                        </a:rPr>
                        <a:t>                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?study </a:t>
                      </a:r>
                      <a:r>
                        <a:rPr lang="en-GB" sz="1400" b="0" dirty="0" err="1" smtClean="0">
                          <a:solidFill>
                            <a:schemeClr val="tx1"/>
                          </a:solidFill>
                        </a:rPr>
                        <a:t>ukda:locationKeyword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?name .</a:t>
                      </a:r>
                    </a:p>
                    <a:p>
                      <a:r>
                        <a:rPr lang="en-GB" sz="1400" b="0" baseline="0" dirty="0" smtClean="0">
                          <a:solidFill>
                            <a:schemeClr val="tx1"/>
                          </a:solidFill>
                        </a:rPr>
                        <a:t>                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BIND (URI(CONCAT("http://example.org/stuff/engage#",str(?study),ENCODE_FOR_URI(?name) )) AS ?location)</a:t>
                      </a:r>
                      <a:r>
                        <a:rPr lang="en-GB" sz="1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GB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...and generalize</a:t>
                      </a:r>
                      <a:r>
                        <a:rPr lang="en-GB" sz="1600" baseline="0" dirty="0" smtClean="0"/>
                        <a:t> them...</a:t>
                      </a:r>
                      <a:endParaRPr lang="en-GB" sz="1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ukda:Location</a:t>
                      </a:r>
                      <a:r>
                        <a:rPr lang="en-GB" sz="1400" dirty="0" smtClean="0"/>
                        <a:t>  </a:t>
                      </a:r>
                      <a:r>
                        <a:rPr lang="en-GB" sz="1400" dirty="0" err="1" smtClean="0"/>
                        <a:t>rdfs:subClassOf</a:t>
                      </a:r>
                      <a:r>
                        <a:rPr lang="en-GB" sz="1400" dirty="0" smtClean="0"/>
                        <a:t>  </a:t>
                      </a:r>
                      <a:r>
                        <a:rPr lang="en-GB" sz="1400" dirty="0" err="1" smtClean="0"/>
                        <a:t>engage:Location</a:t>
                      </a:r>
                      <a:r>
                        <a:rPr lang="en-GB" sz="1400" dirty="0" smtClean="0"/>
                        <a:t> .</a:t>
                      </a:r>
                    </a:p>
                    <a:p>
                      <a:r>
                        <a:rPr lang="en-GB" sz="1400" dirty="0" err="1" smtClean="0"/>
                        <a:t>gesis:Location</a:t>
                      </a:r>
                      <a:r>
                        <a:rPr lang="en-GB" sz="1400" dirty="0" smtClean="0"/>
                        <a:t>  </a:t>
                      </a:r>
                      <a:r>
                        <a:rPr lang="en-GB" sz="1400" dirty="0" err="1" smtClean="0"/>
                        <a:t>rdfs:subClassOf</a:t>
                      </a:r>
                      <a:r>
                        <a:rPr lang="en-GB" sz="1400" dirty="0" smtClean="0"/>
                        <a:t>  </a:t>
                      </a:r>
                      <a:r>
                        <a:rPr lang="en-GB" sz="1400" dirty="0" err="1" smtClean="0"/>
                        <a:t>engage:Location</a:t>
                      </a:r>
                      <a:r>
                        <a:rPr lang="en-GB" sz="1400" dirty="0" smtClean="0"/>
                        <a:t> .</a:t>
                      </a:r>
                    </a:p>
                    <a:p>
                      <a:r>
                        <a:rPr lang="en-GB" sz="1400" dirty="0" smtClean="0"/>
                        <a:t>select  ?study  where {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?study  </a:t>
                      </a:r>
                      <a:r>
                        <a:rPr lang="en-GB" sz="1400" b="0" dirty="0" err="1" smtClean="0">
                          <a:solidFill>
                            <a:schemeClr val="tx1"/>
                          </a:solidFill>
                        </a:rPr>
                        <a:t>engage:hasScope</a:t>
                      </a:r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 ?location .</a:t>
                      </a:r>
                    </a:p>
                    <a:p>
                      <a:r>
                        <a:rPr lang="en-GB" sz="1400" b="0" dirty="0" smtClean="0">
                          <a:solidFill>
                            <a:schemeClr val="tx1"/>
                          </a:solidFill>
                        </a:rPr>
                        <a:t>                                      </a:t>
                      </a:r>
                      <a:r>
                        <a:rPr lang="en-GB" sz="1400" dirty="0" smtClean="0"/>
                        <a:t>?location  a  </a:t>
                      </a:r>
                      <a:r>
                        <a:rPr lang="en-GB" sz="1400" dirty="0" err="1" smtClean="0"/>
                        <a:t>engage:Location</a:t>
                      </a:r>
                      <a:r>
                        <a:rPr lang="en-GB" sz="1400" dirty="0" smtClean="0"/>
                        <a:t> . }</a:t>
                      </a:r>
                      <a:endParaRPr lang="en-GB" sz="14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...as</a:t>
                      </a:r>
                      <a:r>
                        <a:rPr lang="en-GB" sz="1600" baseline="0" dirty="0" smtClean="0"/>
                        <a:t> well as</a:t>
                      </a:r>
                      <a:r>
                        <a:rPr lang="en-GB" sz="1600" dirty="0" smtClean="0"/>
                        <a:t> properties...</a:t>
                      </a:r>
                      <a:endParaRPr lang="en-GB" sz="1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ukda:locationKeyword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err="1" smtClean="0"/>
                        <a:t>rdfs:subPropertyOf</a:t>
                      </a:r>
                      <a:r>
                        <a:rPr lang="en-GB" sz="1400" dirty="0" smtClean="0"/>
                        <a:t> </a:t>
                      </a:r>
                      <a:r>
                        <a:rPr lang="en-GB" sz="1400" dirty="0" err="1" smtClean="0"/>
                        <a:t>engage:locationKeyword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smtClean="0"/>
                        <a:t>.</a:t>
                      </a:r>
                    </a:p>
                    <a:p>
                      <a:r>
                        <a:rPr lang="en-GB" sz="1400" dirty="0" err="1" smtClean="0"/>
                        <a:t>gesis:locationKeyword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err="1" smtClean="0"/>
                        <a:t>rdfs:subPropertyOf</a:t>
                      </a:r>
                      <a:r>
                        <a:rPr lang="en-GB" sz="1400" dirty="0" smtClean="0"/>
                        <a:t> </a:t>
                      </a:r>
                      <a:r>
                        <a:rPr lang="en-GB" sz="1400" dirty="0" err="1" smtClean="0"/>
                        <a:t>engage:locationKeyword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smtClean="0"/>
                        <a:t>.</a:t>
                      </a:r>
                    </a:p>
                    <a:p>
                      <a:r>
                        <a:rPr lang="en-GB" sz="1400" dirty="0" smtClean="0"/>
                        <a:t>select ?study where {?study </a:t>
                      </a:r>
                      <a:r>
                        <a:rPr lang="en-GB" sz="1400" dirty="0" err="1" smtClean="0"/>
                        <a:t>engage:locationKeyword</a:t>
                      </a:r>
                      <a:r>
                        <a:rPr lang="en-GB" sz="1400" dirty="0" smtClean="0"/>
                        <a:t> “</a:t>
                      </a:r>
                      <a:r>
                        <a:rPr lang="en-GB" sz="1400" dirty="0" err="1" smtClean="0"/>
                        <a:t>Nothern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smtClean="0"/>
                        <a:t>Europe" . }</a:t>
                      </a:r>
                      <a:endParaRPr lang="en-GB" sz="14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...also make “sameness” claims</a:t>
                      </a:r>
                      <a:endParaRPr lang="en-GB" sz="1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b="0" i="0" u="none" strike="noStrike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gesis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:</a:t>
                      </a:r>
                      <a:r>
                        <a:rPr lang="en-GB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G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B-</a:t>
                      </a:r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NIR_Northern_Ireland</a:t>
                      </a:r>
                      <a:r>
                        <a:rPr lang="en-GB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en-GB" sz="1400" b="0" i="0" u="none" strike="noStrike" baseline="0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owl:sameAs</a:t>
                      </a:r>
                      <a:r>
                        <a:rPr lang="en-GB" sz="1400" b="0" i="0" u="none" strike="noStrike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ukda:NOTHERN_IRELAND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 .</a:t>
                      </a:r>
                      <a:endParaRPr lang="en-GB" sz="1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Then it is fairly easy to link data to the “cloud”</a:t>
                      </a:r>
                      <a:endParaRPr lang="en-GB" sz="1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b="0" i="0" u="none" strike="noStrike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err="1" smtClean="0">
                          <a:solidFill>
                            <a:schemeClr val="tx1"/>
                          </a:solidFill>
                        </a:rPr>
                        <a:t>gesis:EurobarometerSeries</a:t>
                      </a:r>
                      <a:r>
                        <a:rPr lang="en-GB" sz="14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owl:sameAs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dbpedia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:&lt;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  <a:hlinkClick r:id="rId2"/>
                        </a:rPr>
                        <a:t>http://dbpedia.org/resource/Eurobarometer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&gt; .</a:t>
                      </a:r>
                      <a:endParaRPr lang="en-GB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ukda:University_of_Essex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rdfs:seeAlso</a:t>
                      </a:r>
                      <a:r>
                        <a:rPr lang="en-GB" sz="1400" b="0" i="0" u="none" strike="noStrike" smtClean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en-GB" sz="1400" b="0" i="0" u="none" strike="noStrike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geonames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:&lt;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  <a:hlinkClick r:id="rId3"/>
                        </a:rPr>
                        <a:t>http://sws.geonames.org/6690170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&gt; .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Not so good news (challenges)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3845024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Someone has to </a:t>
            </a:r>
            <a:r>
              <a:rPr lang="en-GB" u="sng" dirty="0" smtClean="0"/>
              <a:t>contribute</a:t>
            </a:r>
            <a:r>
              <a:rPr lang="en-GB" dirty="0" smtClean="0"/>
              <a:t> to Linked Data cloud before you link to it, or re-use parts of it</a:t>
            </a:r>
          </a:p>
          <a:p>
            <a:r>
              <a:rPr lang="en-GB" dirty="0" smtClean="0"/>
              <a:t>That someone may not have enough incentives for contribution</a:t>
            </a:r>
          </a:p>
          <a:p>
            <a:r>
              <a:rPr lang="en-GB" dirty="0" smtClean="0"/>
              <a:t>Intellectual property, copyright and regulation can be “natural” limitations</a:t>
            </a:r>
          </a:p>
          <a:p>
            <a:r>
              <a:rPr lang="en-GB" dirty="0" smtClean="0">
                <a:solidFill>
                  <a:srgbClr val="C00000"/>
                </a:solidFill>
              </a:rPr>
              <a:t>Data practitioners need a proper discussion on the above, as well as their best practices shared</a:t>
            </a:r>
          </a:p>
          <a:p>
            <a:pPr>
              <a:buNone/>
            </a:pPr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Research data as “cloud of clouds”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475656" y="5301208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6"/>
          <p:cNvSpPr/>
          <p:nvPr/>
        </p:nvSpPr>
        <p:spPr>
          <a:xfrm>
            <a:off x="2843808" y="5229200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>
            <a:off x="4211960" y="5229200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5652120" y="5229200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7164288" y="5229200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Arrow 10"/>
          <p:cNvSpPr/>
          <p:nvPr/>
        </p:nvSpPr>
        <p:spPr>
          <a:xfrm>
            <a:off x="8676456" y="5229200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ube 11"/>
          <p:cNvSpPr/>
          <p:nvPr/>
        </p:nvSpPr>
        <p:spPr>
          <a:xfrm>
            <a:off x="1763688" y="4725144"/>
            <a:ext cx="1152128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Funding</a:t>
            </a:r>
            <a:endParaRPr lang="en-GB" sz="1400" dirty="0"/>
          </a:p>
        </p:txBody>
      </p:sp>
      <p:sp>
        <p:nvSpPr>
          <p:cNvPr id="13" name="Cube 12"/>
          <p:cNvSpPr/>
          <p:nvPr/>
        </p:nvSpPr>
        <p:spPr>
          <a:xfrm>
            <a:off x="3131840" y="4725144"/>
            <a:ext cx="1152128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Research per se</a:t>
            </a:r>
            <a:endParaRPr lang="en-GB" sz="1400" dirty="0"/>
          </a:p>
        </p:txBody>
      </p:sp>
      <p:sp>
        <p:nvSpPr>
          <p:cNvPr id="14" name="Cube 13"/>
          <p:cNvSpPr/>
          <p:nvPr/>
        </p:nvSpPr>
        <p:spPr>
          <a:xfrm>
            <a:off x="4499992" y="4725144"/>
            <a:ext cx="1224136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Results processing</a:t>
            </a:r>
            <a:endParaRPr lang="en-GB" sz="1400" dirty="0"/>
          </a:p>
        </p:txBody>
      </p:sp>
      <p:sp>
        <p:nvSpPr>
          <p:cNvPr id="15" name="Cube 14"/>
          <p:cNvSpPr/>
          <p:nvPr/>
        </p:nvSpPr>
        <p:spPr>
          <a:xfrm>
            <a:off x="6012160" y="4725144"/>
            <a:ext cx="1224136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Results dissemination</a:t>
            </a:r>
            <a:endParaRPr lang="en-GB" sz="1400" dirty="0"/>
          </a:p>
        </p:txBody>
      </p:sp>
      <p:sp>
        <p:nvSpPr>
          <p:cNvPr id="16" name="Cube 15"/>
          <p:cNvSpPr/>
          <p:nvPr/>
        </p:nvSpPr>
        <p:spPr>
          <a:xfrm>
            <a:off x="7596336" y="4725144"/>
            <a:ext cx="1152128" cy="108012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Results consumption</a:t>
            </a:r>
            <a:endParaRPr lang="en-GB" sz="1400" dirty="0"/>
          </a:p>
        </p:txBody>
      </p:sp>
      <p:sp>
        <p:nvSpPr>
          <p:cNvPr id="17" name="Cube 16"/>
          <p:cNvSpPr/>
          <p:nvPr/>
        </p:nvSpPr>
        <p:spPr>
          <a:xfrm>
            <a:off x="395536" y="4725144"/>
            <a:ext cx="1152128" cy="1080120"/>
          </a:xfrm>
          <a:prstGeom prst="cube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Research proposal</a:t>
            </a:r>
            <a:endParaRPr lang="en-GB" sz="1400" dirty="0"/>
          </a:p>
        </p:txBody>
      </p:sp>
      <p:sp>
        <p:nvSpPr>
          <p:cNvPr id="18" name="Cloud 17"/>
          <p:cNvSpPr/>
          <p:nvPr/>
        </p:nvSpPr>
        <p:spPr>
          <a:xfrm>
            <a:off x="179512" y="1700808"/>
            <a:ext cx="8784976" cy="216024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Research data  cloud</a:t>
            </a:r>
            <a:endParaRPr lang="en-GB" sz="2800" dirty="0"/>
          </a:p>
        </p:txBody>
      </p:sp>
      <p:sp>
        <p:nvSpPr>
          <p:cNvPr id="19" name="Cloud 18"/>
          <p:cNvSpPr/>
          <p:nvPr/>
        </p:nvSpPr>
        <p:spPr>
          <a:xfrm>
            <a:off x="323528" y="2708920"/>
            <a:ext cx="1368152" cy="108012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Research proposals data cloud</a:t>
            </a:r>
            <a:endParaRPr lang="en-GB" sz="1400" dirty="0"/>
          </a:p>
        </p:txBody>
      </p:sp>
      <p:sp>
        <p:nvSpPr>
          <p:cNvPr id="20" name="Cloud 19"/>
          <p:cNvSpPr/>
          <p:nvPr/>
        </p:nvSpPr>
        <p:spPr>
          <a:xfrm>
            <a:off x="1691680" y="2924944"/>
            <a:ext cx="1296144" cy="108012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Funding data cloud</a:t>
            </a:r>
            <a:endParaRPr lang="en-GB" sz="1400" dirty="0"/>
          </a:p>
        </p:txBody>
      </p:sp>
      <p:sp>
        <p:nvSpPr>
          <p:cNvPr id="21" name="Cloud 20"/>
          <p:cNvSpPr/>
          <p:nvPr/>
        </p:nvSpPr>
        <p:spPr>
          <a:xfrm>
            <a:off x="2987824" y="2924944"/>
            <a:ext cx="1296144" cy="115212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Raw and derived data cloud</a:t>
            </a:r>
            <a:endParaRPr lang="en-GB" sz="1400" dirty="0"/>
          </a:p>
        </p:txBody>
      </p:sp>
      <p:sp>
        <p:nvSpPr>
          <p:cNvPr id="22" name="Cloud 21"/>
          <p:cNvSpPr/>
          <p:nvPr/>
        </p:nvSpPr>
        <p:spPr>
          <a:xfrm>
            <a:off x="4283968" y="2924944"/>
            <a:ext cx="1728192" cy="129614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Metadata, vocabularies and </a:t>
            </a:r>
            <a:r>
              <a:rPr lang="en-GB" sz="1400" dirty="0" err="1" smtClean="0">
                <a:solidFill>
                  <a:srgbClr val="FFC000"/>
                </a:solidFill>
              </a:rPr>
              <a:t>ontologies</a:t>
            </a:r>
            <a:r>
              <a:rPr lang="en-GB" sz="1400" dirty="0" smtClean="0">
                <a:solidFill>
                  <a:srgbClr val="FFC000"/>
                </a:solidFill>
              </a:rPr>
              <a:t> data cloud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23" name="Cloud 22"/>
          <p:cNvSpPr/>
          <p:nvPr/>
        </p:nvSpPr>
        <p:spPr>
          <a:xfrm>
            <a:off x="6012160" y="2708920"/>
            <a:ext cx="1512168" cy="144016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rgbClr val="FFC000"/>
                </a:solidFill>
              </a:rPr>
              <a:t>Data access policies and interfaces cloud</a:t>
            </a:r>
            <a:endParaRPr lang="en-GB" sz="1400" dirty="0">
              <a:solidFill>
                <a:srgbClr val="FFC000"/>
              </a:solidFill>
            </a:endParaRPr>
          </a:p>
        </p:txBody>
      </p:sp>
      <p:sp>
        <p:nvSpPr>
          <p:cNvPr id="24" name="Cloud 23"/>
          <p:cNvSpPr/>
          <p:nvPr/>
        </p:nvSpPr>
        <p:spPr>
          <a:xfrm>
            <a:off x="7524328" y="2708920"/>
            <a:ext cx="1368152" cy="122413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re-use data cloud</a:t>
            </a:r>
            <a:endParaRPr lang="en-GB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91880" y="1916832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solidFill>
                  <a:srgbClr val="FFC000"/>
                </a:solidFill>
              </a:rPr>
              <a:t>Something for DDI professionals?</a:t>
            </a:r>
            <a:endParaRPr lang="en-GB" sz="1600" b="1" dirty="0">
              <a:solidFill>
                <a:srgbClr val="FFC00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788024" y="2276872"/>
            <a:ext cx="72008" cy="720080"/>
          </a:xfrm>
          <a:prstGeom prst="straightConnector1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796136" y="2276872"/>
            <a:ext cx="432048" cy="576064"/>
          </a:xfrm>
          <a:prstGeom prst="straightConnector1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Up-Down Arrow 36"/>
          <p:cNvSpPr/>
          <p:nvPr/>
        </p:nvSpPr>
        <p:spPr>
          <a:xfrm>
            <a:off x="2267744" y="4077072"/>
            <a:ext cx="144016" cy="5040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Up-Down Arrow 37"/>
          <p:cNvSpPr/>
          <p:nvPr/>
        </p:nvSpPr>
        <p:spPr>
          <a:xfrm>
            <a:off x="3635896" y="4149080"/>
            <a:ext cx="144016" cy="5040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Up-Down Arrow 38"/>
          <p:cNvSpPr/>
          <p:nvPr/>
        </p:nvSpPr>
        <p:spPr>
          <a:xfrm>
            <a:off x="5076056" y="4293096"/>
            <a:ext cx="144016" cy="36004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Up-Down Arrow 39"/>
          <p:cNvSpPr/>
          <p:nvPr/>
        </p:nvSpPr>
        <p:spPr>
          <a:xfrm>
            <a:off x="6660232" y="4221088"/>
            <a:ext cx="144016" cy="43204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Up-Down Arrow 40"/>
          <p:cNvSpPr/>
          <p:nvPr/>
        </p:nvSpPr>
        <p:spPr>
          <a:xfrm>
            <a:off x="8172400" y="4077072"/>
            <a:ext cx="144016" cy="57606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Up-Down Arrow 41"/>
          <p:cNvSpPr/>
          <p:nvPr/>
        </p:nvSpPr>
        <p:spPr>
          <a:xfrm>
            <a:off x="899592" y="3933056"/>
            <a:ext cx="144016" cy="72008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6300192" y="2204864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ENGAGE “ecological niche”</a:t>
            </a:r>
            <a:endParaRPr lang="en-GB" sz="16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164288" y="2492896"/>
            <a:ext cx="504056" cy="360040"/>
          </a:xfrm>
          <a:prstGeom prst="straightConnector1">
            <a:avLst/>
          </a:prstGeom>
          <a:ln w="25400">
            <a:solidFill>
              <a:schemeClr val="accent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187624" y="6165304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See also:  </a:t>
            </a:r>
            <a:r>
              <a:rPr lang="en-GB" dirty="0" smtClean="0">
                <a:hlinkClick r:id="rId2"/>
              </a:rPr>
              <a:t>Tim Berners-Lee on “bag of chips”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A challenge of Linked Data processing on a granular level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Picture 3" descr="challen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7464" y="1916833"/>
            <a:ext cx="7263319" cy="2808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5085184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A) One European Values Study dataset may result in hundreds of thousands RDF triples</a:t>
            </a:r>
          </a:p>
          <a:p>
            <a:r>
              <a:rPr lang="en-GB" dirty="0" smtClean="0"/>
              <a:t>B) “A rule of thumb” is that an average triple store instance can handle 1,000,000,000 triples</a:t>
            </a:r>
          </a:p>
          <a:p>
            <a:r>
              <a:rPr lang="en-GB" b="1" dirty="0" smtClean="0"/>
              <a:t>A + B =&gt; granular Linked Data processing of just a dozen European Values Study datasets </a:t>
            </a:r>
            <a:br>
              <a:rPr lang="en-GB" b="1" dirty="0" smtClean="0"/>
            </a:br>
            <a:r>
              <a:rPr lang="en-GB" b="1" dirty="0" smtClean="0"/>
              <a:t>               may require a dedicated triple store 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2">
                    <a:lumMod val="75000"/>
                  </a:schemeClr>
                </a:solidFill>
              </a:rPr>
              <a:t>Open questions and suggestions</a:t>
            </a:r>
            <a:endParaRPr lang="en-GB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2"/>
            <a:ext cx="8892480" cy="3312368"/>
          </a:xfrm>
        </p:spPr>
        <p:txBody>
          <a:bodyPr>
            <a:noAutofit/>
          </a:bodyPr>
          <a:lstStyle/>
          <a:p>
            <a:r>
              <a:rPr lang="en-GB" sz="3000" dirty="0" smtClean="0"/>
              <a:t>Use cases for linking DDI (meta)data with .</a:t>
            </a:r>
            <a:r>
              <a:rPr lang="en-GB" sz="3000" dirty="0" err="1" smtClean="0"/>
              <a:t>gov</a:t>
            </a:r>
            <a:r>
              <a:rPr lang="en-GB" sz="3000" dirty="0" smtClean="0"/>
              <a:t> and other PSI (meta)data are very welcome</a:t>
            </a:r>
          </a:p>
          <a:p>
            <a:r>
              <a:rPr lang="en-GB" sz="3000" dirty="0" smtClean="0"/>
              <a:t>Insufficient openness of DDI data sources may hinder Linked Data developments for them</a:t>
            </a:r>
            <a:endParaRPr lang="en-GB" sz="3000" u="sng" dirty="0" smtClean="0"/>
          </a:p>
          <a:p>
            <a:r>
              <a:rPr lang="en-GB" sz="3000" dirty="0" smtClean="0"/>
              <a:t>Linked Data on granular level is Big Data so we in natural sciences are out there with a computer power</a:t>
            </a:r>
            <a:endParaRPr lang="en-GB" sz="3000" dirty="0"/>
          </a:p>
        </p:txBody>
      </p:sp>
      <p:pic>
        <p:nvPicPr>
          <p:cNvPr id="5" name="Picture 4" descr="ENG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5616" y="5343599"/>
            <a:ext cx="1296144" cy="978222"/>
          </a:xfrm>
          <a:prstGeom prst="rect">
            <a:avLst/>
          </a:prstGeom>
        </p:spPr>
      </p:pic>
      <p:pic>
        <p:nvPicPr>
          <p:cNvPr id="6" name="Picture 5" descr="stfc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12160" y="5487615"/>
            <a:ext cx="268224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0" y="6279703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hlinkClick r:id="rId4"/>
              </a:rPr>
              <a:t>www.engage-project.eu</a:t>
            </a:r>
            <a:r>
              <a:rPr lang="en-GB" sz="2400" dirty="0" smtClean="0"/>
              <a:t>  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300192" y="6279703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hlinkClick r:id="rId5"/>
              </a:rPr>
              <a:t>www.stfc.ac.uk</a:t>
            </a:r>
            <a:r>
              <a:rPr lang="en-GB" sz="2400" dirty="0" smtClean="0"/>
              <a:t>   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Thank you!</a:t>
            </a:r>
          </a:p>
        </p:txBody>
      </p:sp>
      <p:pic>
        <p:nvPicPr>
          <p:cNvPr id="25603" name="Content Placeholder 3" descr="WordCloud_esc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03648" y="1484784"/>
            <a:ext cx="6301398" cy="403244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3840</TotalTime>
  <Words>1177</Words>
  <Application>Microsoft Office PowerPoint</Application>
  <PresentationFormat>On-screen Show (4:3)</PresentationFormat>
  <Paragraphs>303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Semantic categorization of DDI metadata</vt:lpstr>
      <vt:lpstr>Science and Technology Facilities Council </vt:lpstr>
      <vt:lpstr>STFC Scientific Computing Department</vt:lpstr>
      <vt:lpstr>ENGAGE business case</vt:lpstr>
      <vt:lpstr>ENGAGE vision  of linked data across different domains</vt:lpstr>
      <vt:lpstr>To make research data linkable,  we need to reasonably model research activity</vt:lpstr>
      <vt:lpstr>On models: our view of a research “cell” activity</vt:lpstr>
      <vt:lpstr>More than one research activity  in one DDI record</vt:lpstr>
      <vt:lpstr>Research decomposed in cells, with examples of entities for each</vt:lpstr>
      <vt:lpstr>Ontologies in the context of ENGAGE  data processing</vt:lpstr>
      <vt:lpstr>Technology stack for experiments with DDI metadata</vt:lpstr>
      <vt:lpstr>Data sources and models tried out  and planned</vt:lpstr>
      <vt:lpstr>“Shallow” categorizations possible  against DDI metadata</vt:lpstr>
      <vt:lpstr>Why we need semantics?</vt:lpstr>
      <vt:lpstr>Good news about Linked Data</vt:lpstr>
      <vt:lpstr>Not so good news (challenges)</vt:lpstr>
      <vt:lpstr>Research data as “cloud of clouds”</vt:lpstr>
      <vt:lpstr>A challenge of Linked Data processing on a granular level</vt:lpstr>
      <vt:lpstr>Open questions and suggestions</vt:lpstr>
      <vt:lpstr>Thank you!</vt:lpstr>
    </vt:vector>
  </TitlesOfParts>
  <Company>STFC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categorization of DDI metadata</dc:title>
  <dc:creator>Vasily</dc:creator>
  <cp:lastModifiedBy>Vasily</cp:lastModifiedBy>
  <cp:revision>79</cp:revision>
  <dcterms:created xsi:type="dcterms:W3CDTF">2012-11-22T10:14:24Z</dcterms:created>
  <dcterms:modified xsi:type="dcterms:W3CDTF">2012-12-03T11:03:04Z</dcterms:modified>
</cp:coreProperties>
</file>