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4" r:id="rId3"/>
    <p:sldId id="271" r:id="rId4"/>
    <p:sldId id="272" r:id="rId5"/>
    <p:sldId id="268" r:id="rId6"/>
    <p:sldId id="263" r:id="rId7"/>
    <p:sldId id="274" r:id="rId8"/>
    <p:sldId id="275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76" r:id="rId18"/>
    <p:sldId id="285" r:id="rId19"/>
    <p:sldId id="286" r:id="rId20"/>
    <p:sldId id="287" r:id="rId21"/>
  </p:sldIdLst>
  <p:sldSz cx="9144000" cy="6858000" type="overhead"/>
  <p:notesSz cx="6735763" cy="986631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nb-NO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2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2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2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2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99"/>
    <a:srgbClr val="333399"/>
    <a:srgbClr val="0066CC"/>
    <a:srgbClr val="EAEAEA"/>
    <a:srgbClr val="F8F8F8"/>
    <a:srgbClr val="EEEEEE"/>
    <a:srgbClr val="F4F4F4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32" autoAdjust="0"/>
    <p:restoredTop sz="75311" autoAdjust="0"/>
  </p:normalViewPr>
  <p:slideViewPr>
    <p:cSldViewPr>
      <p:cViewPr>
        <p:scale>
          <a:sx n="40" d="100"/>
          <a:sy n="40" d="100"/>
        </p:scale>
        <p:origin x="-2010" y="-4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75" d="100"/>
          <a:sy n="75" d="100"/>
        </p:scale>
        <p:origin x="-4104" y="-660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B72CDB-618A-4407-BCB8-9CD2179FDD9C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b-NO"/>
        </a:p>
      </dgm:t>
    </dgm:pt>
    <dgm:pt modelId="{3EA6F78B-241E-4631-85BA-DD7A5D3ABDF5}">
      <dgm:prSet phldrT="[Tekst]"/>
      <dgm:spPr/>
      <dgm:t>
        <a:bodyPr/>
        <a:lstStyle/>
        <a:p>
          <a:r>
            <a:rPr lang="nb-NO" dirty="0" err="1" smtClean="0">
              <a:latin typeface="+mj-lt"/>
            </a:rPr>
            <a:t>Explore</a:t>
          </a:r>
          <a:endParaRPr lang="nb-NO" dirty="0">
            <a:latin typeface="+mj-lt"/>
          </a:endParaRPr>
        </a:p>
      </dgm:t>
    </dgm:pt>
    <dgm:pt modelId="{1C663754-4ABC-4169-BED4-1C86590FCB4E}" type="parTrans" cxnId="{F778CE31-A737-4966-A78A-96D99FF0618E}">
      <dgm:prSet/>
      <dgm:spPr/>
      <dgm:t>
        <a:bodyPr/>
        <a:lstStyle/>
        <a:p>
          <a:endParaRPr lang="nb-NO">
            <a:latin typeface="+mj-lt"/>
          </a:endParaRPr>
        </a:p>
      </dgm:t>
    </dgm:pt>
    <dgm:pt modelId="{187494B5-C630-4602-92BE-37A865971F96}" type="sibTrans" cxnId="{F778CE31-A737-4966-A78A-96D99FF0618E}">
      <dgm:prSet/>
      <dgm:spPr/>
      <dgm:t>
        <a:bodyPr/>
        <a:lstStyle/>
        <a:p>
          <a:endParaRPr lang="nb-NO">
            <a:latin typeface="+mj-lt"/>
          </a:endParaRPr>
        </a:p>
      </dgm:t>
    </dgm:pt>
    <dgm:pt modelId="{E86357B5-B02F-49D3-B9E6-BA4115646A4E}">
      <dgm:prSet phldrT="[Tekst]"/>
      <dgm:spPr/>
      <dgm:t>
        <a:bodyPr/>
        <a:lstStyle/>
        <a:p>
          <a:r>
            <a:rPr lang="nb-NO" dirty="0" err="1" smtClean="0">
              <a:latin typeface="+mj-lt"/>
            </a:rPr>
            <a:t>Process</a:t>
          </a:r>
          <a:endParaRPr lang="nb-NO" dirty="0">
            <a:latin typeface="+mj-lt"/>
          </a:endParaRPr>
        </a:p>
      </dgm:t>
    </dgm:pt>
    <dgm:pt modelId="{18892E40-5CE0-44A6-8F52-5CA0BE930794}" type="parTrans" cxnId="{624DFDA1-E8B7-433F-ABCC-1D3947B86E1D}">
      <dgm:prSet/>
      <dgm:spPr/>
      <dgm:t>
        <a:bodyPr/>
        <a:lstStyle/>
        <a:p>
          <a:endParaRPr lang="nb-NO">
            <a:latin typeface="+mj-lt"/>
          </a:endParaRPr>
        </a:p>
      </dgm:t>
    </dgm:pt>
    <dgm:pt modelId="{3EECF0AE-4919-4B2E-9206-477FB2FD7F94}" type="sibTrans" cxnId="{624DFDA1-E8B7-433F-ABCC-1D3947B86E1D}">
      <dgm:prSet/>
      <dgm:spPr/>
      <dgm:t>
        <a:bodyPr/>
        <a:lstStyle/>
        <a:p>
          <a:endParaRPr lang="nb-NO">
            <a:latin typeface="+mj-lt"/>
          </a:endParaRPr>
        </a:p>
      </dgm:t>
    </dgm:pt>
    <dgm:pt modelId="{DCCBDC57-6F91-402B-B33A-30F2538C6152}">
      <dgm:prSet phldrT="[Tekst]"/>
      <dgm:spPr/>
      <dgm:t>
        <a:bodyPr/>
        <a:lstStyle/>
        <a:p>
          <a:r>
            <a:rPr lang="nb-NO" dirty="0" err="1" smtClean="0">
              <a:latin typeface="+mj-lt"/>
            </a:rPr>
            <a:t>Visualize</a:t>
          </a:r>
          <a:endParaRPr lang="nb-NO" dirty="0">
            <a:latin typeface="+mj-lt"/>
          </a:endParaRPr>
        </a:p>
      </dgm:t>
    </dgm:pt>
    <dgm:pt modelId="{79C4E68C-6896-4324-B75A-7676349B135D}" type="parTrans" cxnId="{13165A59-11E7-4142-B4D7-5C1F45E93824}">
      <dgm:prSet/>
      <dgm:spPr/>
      <dgm:t>
        <a:bodyPr/>
        <a:lstStyle/>
        <a:p>
          <a:endParaRPr lang="nb-NO">
            <a:latin typeface="+mj-lt"/>
          </a:endParaRPr>
        </a:p>
      </dgm:t>
    </dgm:pt>
    <dgm:pt modelId="{AB75E3F7-A329-453C-8D67-63FA5701AF64}" type="sibTrans" cxnId="{13165A59-11E7-4142-B4D7-5C1F45E93824}">
      <dgm:prSet/>
      <dgm:spPr/>
      <dgm:t>
        <a:bodyPr/>
        <a:lstStyle/>
        <a:p>
          <a:endParaRPr lang="nb-NO">
            <a:latin typeface="+mj-lt"/>
          </a:endParaRPr>
        </a:p>
      </dgm:t>
    </dgm:pt>
    <dgm:pt modelId="{7608C221-9336-42A9-9259-236C108391F5}">
      <dgm:prSet phldrT="[Tekst]"/>
      <dgm:spPr/>
      <dgm:t>
        <a:bodyPr/>
        <a:lstStyle/>
        <a:p>
          <a:r>
            <a:rPr lang="nb-NO" dirty="0" err="1" smtClean="0">
              <a:latin typeface="+mj-lt"/>
            </a:rPr>
            <a:t>Analyze</a:t>
          </a:r>
          <a:endParaRPr lang="nb-NO" dirty="0">
            <a:latin typeface="+mj-lt"/>
          </a:endParaRPr>
        </a:p>
      </dgm:t>
    </dgm:pt>
    <dgm:pt modelId="{30A3BF20-6C96-4796-9281-2D473B622F49}" type="parTrans" cxnId="{83FD86AE-04A1-4F79-92EC-8798C58AA8D8}">
      <dgm:prSet/>
      <dgm:spPr/>
      <dgm:t>
        <a:bodyPr/>
        <a:lstStyle/>
        <a:p>
          <a:endParaRPr lang="nb-NO">
            <a:latin typeface="+mj-lt"/>
          </a:endParaRPr>
        </a:p>
      </dgm:t>
    </dgm:pt>
    <dgm:pt modelId="{39F1835E-4816-4F2C-AB9F-20D3BF83E607}" type="sibTrans" cxnId="{83FD86AE-04A1-4F79-92EC-8798C58AA8D8}">
      <dgm:prSet/>
      <dgm:spPr/>
      <dgm:t>
        <a:bodyPr/>
        <a:lstStyle/>
        <a:p>
          <a:endParaRPr lang="nb-NO">
            <a:latin typeface="+mj-lt"/>
          </a:endParaRPr>
        </a:p>
      </dgm:t>
    </dgm:pt>
    <dgm:pt modelId="{25FF5F7D-EB44-499E-B392-95EE212038B1}">
      <dgm:prSet phldrT="[Tekst]"/>
      <dgm:spPr/>
      <dgm:t>
        <a:bodyPr/>
        <a:lstStyle/>
        <a:p>
          <a:r>
            <a:rPr lang="nb-NO" dirty="0" err="1" smtClean="0">
              <a:latin typeface="+mj-lt"/>
            </a:rPr>
            <a:t>Merge</a:t>
          </a:r>
          <a:endParaRPr lang="nb-NO" dirty="0">
            <a:latin typeface="+mj-lt"/>
          </a:endParaRPr>
        </a:p>
      </dgm:t>
    </dgm:pt>
    <dgm:pt modelId="{1F87309B-29E9-4D82-ABAD-E4635CE59395}" type="parTrans" cxnId="{F73BD1A8-C7CA-454C-A687-FC9B6898B587}">
      <dgm:prSet/>
      <dgm:spPr/>
    </dgm:pt>
    <dgm:pt modelId="{416D55D7-1162-44EC-9571-51AE5F4250C9}" type="sibTrans" cxnId="{F73BD1A8-C7CA-454C-A687-FC9B6898B587}">
      <dgm:prSet/>
      <dgm:spPr/>
    </dgm:pt>
    <dgm:pt modelId="{2AE59ADD-7CBF-4585-9FD5-2DAEA97D56D1}" type="pres">
      <dgm:prSet presAssocID="{76B72CDB-618A-4407-BCB8-9CD2179FDD9C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nb-NO"/>
        </a:p>
      </dgm:t>
    </dgm:pt>
    <dgm:pt modelId="{61E2108D-4C1D-4FE7-9765-9FC685890BF6}" type="pres">
      <dgm:prSet presAssocID="{3EA6F78B-241E-4631-85BA-DD7A5D3ABDF5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580DDC29-F83A-435D-B2E9-D11495214E82}" type="pres">
      <dgm:prSet presAssocID="{3EA6F78B-241E-4631-85BA-DD7A5D3ABDF5}" presName="spNode" presStyleCnt="0"/>
      <dgm:spPr/>
    </dgm:pt>
    <dgm:pt modelId="{6878ABB9-23A7-4810-8A9F-EAF1FE72C6BF}" type="pres">
      <dgm:prSet presAssocID="{187494B5-C630-4602-92BE-37A865971F96}" presName="sibTrans" presStyleLbl="sibTrans1D1" presStyleIdx="0" presStyleCnt="5"/>
      <dgm:spPr/>
      <dgm:t>
        <a:bodyPr/>
        <a:lstStyle/>
        <a:p>
          <a:endParaRPr lang="nb-NO"/>
        </a:p>
      </dgm:t>
    </dgm:pt>
    <dgm:pt modelId="{BD661860-64D4-467E-926D-4ACC0EFB9323}" type="pres">
      <dgm:prSet presAssocID="{25FF5F7D-EB44-499E-B392-95EE212038B1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1F1D0AAC-F96E-40CF-8F36-320B3C126EC1}" type="pres">
      <dgm:prSet presAssocID="{25FF5F7D-EB44-499E-B392-95EE212038B1}" presName="spNode" presStyleCnt="0"/>
      <dgm:spPr/>
    </dgm:pt>
    <dgm:pt modelId="{8CAC6419-B7E6-49C1-978D-813CCB78D7E8}" type="pres">
      <dgm:prSet presAssocID="{416D55D7-1162-44EC-9571-51AE5F4250C9}" presName="sibTrans" presStyleLbl="sibTrans1D1" presStyleIdx="1" presStyleCnt="5"/>
      <dgm:spPr/>
    </dgm:pt>
    <dgm:pt modelId="{19E85704-A4D1-4236-A47E-FBA14D79A6EC}" type="pres">
      <dgm:prSet presAssocID="{E86357B5-B02F-49D3-B9E6-BA4115646A4E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C82CE990-9E92-446A-903E-82F09A9E3387}" type="pres">
      <dgm:prSet presAssocID="{E86357B5-B02F-49D3-B9E6-BA4115646A4E}" presName="spNode" presStyleCnt="0"/>
      <dgm:spPr/>
    </dgm:pt>
    <dgm:pt modelId="{A2E3D7FC-C34F-4C0C-8944-CF1DC4C5DBBD}" type="pres">
      <dgm:prSet presAssocID="{3EECF0AE-4919-4B2E-9206-477FB2FD7F94}" presName="sibTrans" presStyleLbl="sibTrans1D1" presStyleIdx="2" presStyleCnt="5"/>
      <dgm:spPr/>
      <dgm:t>
        <a:bodyPr/>
        <a:lstStyle/>
        <a:p>
          <a:endParaRPr lang="nb-NO"/>
        </a:p>
      </dgm:t>
    </dgm:pt>
    <dgm:pt modelId="{145F928D-4B14-48A6-95CF-8ED37680674B}" type="pres">
      <dgm:prSet presAssocID="{DCCBDC57-6F91-402B-B33A-30F2538C6152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58B7F2BA-9707-43F9-8D6A-637E01D75207}" type="pres">
      <dgm:prSet presAssocID="{DCCBDC57-6F91-402B-B33A-30F2538C6152}" presName="spNode" presStyleCnt="0"/>
      <dgm:spPr/>
    </dgm:pt>
    <dgm:pt modelId="{9A9FF1D8-B79B-4E8D-B9C6-DDF9C7144A0D}" type="pres">
      <dgm:prSet presAssocID="{AB75E3F7-A329-453C-8D67-63FA5701AF64}" presName="sibTrans" presStyleLbl="sibTrans1D1" presStyleIdx="3" presStyleCnt="5"/>
      <dgm:spPr/>
      <dgm:t>
        <a:bodyPr/>
        <a:lstStyle/>
        <a:p>
          <a:endParaRPr lang="nb-NO"/>
        </a:p>
      </dgm:t>
    </dgm:pt>
    <dgm:pt modelId="{DAEFBEF7-784E-4250-95A1-7FE51E16A349}" type="pres">
      <dgm:prSet presAssocID="{7608C221-9336-42A9-9259-236C108391F5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B6ED1F91-905B-44F2-978E-1CFEF3BD710A}" type="pres">
      <dgm:prSet presAssocID="{7608C221-9336-42A9-9259-236C108391F5}" presName="spNode" presStyleCnt="0"/>
      <dgm:spPr/>
    </dgm:pt>
    <dgm:pt modelId="{E3B259C9-3BEC-48D4-AD07-2DD5A9E5F387}" type="pres">
      <dgm:prSet presAssocID="{39F1835E-4816-4F2C-AB9F-20D3BF83E607}" presName="sibTrans" presStyleLbl="sibTrans1D1" presStyleIdx="4" presStyleCnt="5"/>
      <dgm:spPr/>
      <dgm:t>
        <a:bodyPr/>
        <a:lstStyle/>
        <a:p>
          <a:endParaRPr lang="nb-NO"/>
        </a:p>
      </dgm:t>
    </dgm:pt>
  </dgm:ptLst>
  <dgm:cxnLst>
    <dgm:cxn modelId="{E6FD568F-1178-490C-97B3-0F5C808BECF6}" type="presOf" srcId="{76B72CDB-618A-4407-BCB8-9CD2179FDD9C}" destId="{2AE59ADD-7CBF-4585-9FD5-2DAEA97D56D1}" srcOrd="0" destOrd="0" presId="urn:microsoft.com/office/officeart/2005/8/layout/cycle5"/>
    <dgm:cxn modelId="{11C18B78-A26F-49D1-9808-8FB4CFAC3BE6}" type="presOf" srcId="{187494B5-C630-4602-92BE-37A865971F96}" destId="{6878ABB9-23A7-4810-8A9F-EAF1FE72C6BF}" srcOrd="0" destOrd="0" presId="urn:microsoft.com/office/officeart/2005/8/layout/cycle5"/>
    <dgm:cxn modelId="{1A86E661-AD17-4BCF-A7B3-76A41D8B39E0}" type="presOf" srcId="{7608C221-9336-42A9-9259-236C108391F5}" destId="{DAEFBEF7-784E-4250-95A1-7FE51E16A349}" srcOrd="0" destOrd="0" presId="urn:microsoft.com/office/officeart/2005/8/layout/cycle5"/>
    <dgm:cxn modelId="{602882E7-FE5F-40D5-B5FE-F58D14F53D4D}" type="presOf" srcId="{39F1835E-4816-4F2C-AB9F-20D3BF83E607}" destId="{E3B259C9-3BEC-48D4-AD07-2DD5A9E5F387}" srcOrd="0" destOrd="0" presId="urn:microsoft.com/office/officeart/2005/8/layout/cycle5"/>
    <dgm:cxn modelId="{85DEFDDB-8AD8-46FF-9452-C77A0649DF0B}" type="presOf" srcId="{AB75E3F7-A329-453C-8D67-63FA5701AF64}" destId="{9A9FF1D8-B79B-4E8D-B9C6-DDF9C7144A0D}" srcOrd="0" destOrd="0" presId="urn:microsoft.com/office/officeart/2005/8/layout/cycle5"/>
    <dgm:cxn modelId="{B0F04429-8552-423A-A732-6D0B0D448E77}" type="presOf" srcId="{416D55D7-1162-44EC-9571-51AE5F4250C9}" destId="{8CAC6419-B7E6-49C1-978D-813CCB78D7E8}" srcOrd="0" destOrd="0" presId="urn:microsoft.com/office/officeart/2005/8/layout/cycle5"/>
    <dgm:cxn modelId="{13165A59-11E7-4142-B4D7-5C1F45E93824}" srcId="{76B72CDB-618A-4407-BCB8-9CD2179FDD9C}" destId="{DCCBDC57-6F91-402B-B33A-30F2538C6152}" srcOrd="3" destOrd="0" parTransId="{79C4E68C-6896-4324-B75A-7676349B135D}" sibTransId="{AB75E3F7-A329-453C-8D67-63FA5701AF64}"/>
    <dgm:cxn modelId="{005A925A-301F-40E1-89BB-0923BF2DB178}" type="presOf" srcId="{25FF5F7D-EB44-499E-B392-95EE212038B1}" destId="{BD661860-64D4-467E-926D-4ACC0EFB9323}" srcOrd="0" destOrd="0" presId="urn:microsoft.com/office/officeart/2005/8/layout/cycle5"/>
    <dgm:cxn modelId="{F73BD1A8-C7CA-454C-A687-FC9B6898B587}" srcId="{76B72CDB-618A-4407-BCB8-9CD2179FDD9C}" destId="{25FF5F7D-EB44-499E-B392-95EE212038B1}" srcOrd="1" destOrd="0" parTransId="{1F87309B-29E9-4D82-ABAD-E4635CE59395}" sibTransId="{416D55D7-1162-44EC-9571-51AE5F4250C9}"/>
    <dgm:cxn modelId="{F778CE31-A737-4966-A78A-96D99FF0618E}" srcId="{76B72CDB-618A-4407-BCB8-9CD2179FDD9C}" destId="{3EA6F78B-241E-4631-85BA-DD7A5D3ABDF5}" srcOrd="0" destOrd="0" parTransId="{1C663754-4ABC-4169-BED4-1C86590FCB4E}" sibTransId="{187494B5-C630-4602-92BE-37A865971F96}"/>
    <dgm:cxn modelId="{DBFA5FF4-7EDC-40E3-8E10-DE4C4992AEA6}" type="presOf" srcId="{3EECF0AE-4919-4B2E-9206-477FB2FD7F94}" destId="{A2E3D7FC-C34F-4C0C-8944-CF1DC4C5DBBD}" srcOrd="0" destOrd="0" presId="urn:microsoft.com/office/officeart/2005/8/layout/cycle5"/>
    <dgm:cxn modelId="{83947FB8-7A40-433F-BB2D-A4512D7F3905}" type="presOf" srcId="{DCCBDC57-6F91-402B-B33A-30F2538C6152}" destId="{145F928D-4B14-48A6-95CF-8ED37680674B}" srcOrd="0" destOrd="0" presId="urn:microsoft.com/office/officeart/2005/8/layout/cycle5"/>
    <dgm:cxn modelId="{2520BA92-49B3-4014-8F2D-D1D83CC10548}" type="presOf" srcId="{E86357B5-B02F-49D3-B9E6-BA4115646A4E}" destId="{19E85704-A4D1-4236-A47E-FBA14D79A6EC}" srcOrd="0" destOrd="0" presId="urn:microsoft.com/office/officeart/2005/8/layout/cycle5"/>
    <dgm:cxn modelId="{427559BE-2BB4-4088-8137-BC7065137E6B}" type="presOf" srcId="{3EA6F78B-241E-4631-85BA-DD7A5D3ABDF5}" destId="{61E2108D-4C1D-4FE7-9765-9FC685890BF6}" srcOrd="0" destOrd="0" presId="urn:microsoft.com/office/officeart/2005/8/layout/cycle5"/>
    <dgm:cxn modelId="{624DFDA1-E8B7-433F-ABCC-1D3947B86E1D}" srcId="{76B72CDB-618A-4407-BCB8-9CD2179FDD9C}" destId="{E86357B5-B02F-49D3-B9E6-BA4115646A4E}" srcOrd="2" destOrd="0" parTransId="{18892E40-5CE0-44A6-8F52-5CA0BE930794}" sibTransId="{3EECF0AE-4919-4B2E-9206-477FB2FD7F94}"/>
    <dgm:cxn modelId="{83FD86AE-04A1-4F79-92EC-8798C58AA8D8}" srcId="{76B72CDB-618A-4407-BCB8-9CD2179FDD9C}" destId="{7608C221-9336-42A9-9259-236C108391F5}" srcOrd="4" destOrd="0" parTransId="{30A3BF20-6C96-4796-9281-2D473B622F49}" sibTransId="{39F1835E-4816-4F2C-AB9F-20D3BF83E607}"/>
    <dgm:cxn modelId="{CA80C801-098B-4B7F-82E2-516483528A46}" type="presParOf" srcId="{2AE59ADD-7CBF-4585-9FD5-2DAEA97D56D1}" destId="{61E2108D-4C1D-4FE7-9765-9FC685890BF6}" srcOrd="0" destOrd="0" presId="urn:microsoft.com/office/officeart/2005/8/layout/cycle5"/>
    <dgm:cxn modelId="{272B2C74-BA99-4B35-938A-842BCF521C98}" type="presParOf" srcId="{2AE59ADD-7CBF-4585-9FD5-2DAEA97D56D1}" destId="{580DDC29-F83A-435D-B2E9-D11495214E82}" srcOrd="1" destOrd="0" presId="urn:microsoft.com/office/officeart/2005/8/layout/cycle5"/>
    <dgm:cxn modelId="{438835ED-4451-47C2-BA0B-72162FE7B70D}" type="presParOf" srcId="{2AE59ADD-7CBF-4585-9FD5-2DAEA97D56D1}" destId="{6878ABB9-23A7-4810-8A9F-EAF1FE72C6BF}" srcOrd="2" destOrd="0" presId="urn:microsoft.com/office/officeart/2005/8/layout/cycle5"/>
    <dgm:cxn modelId="{6FE4C147-8B0C-48C1-BA11-2A85144A90B2}" type="presParOf" srcId="{2AE59ADD-7CBF-4585-9FD5-2DAEA97D56D1}" destId="{BD661860-64D4-467E-926D-4ACC0EFB9323}" srcOrd="3" destOrd="0" presId="urn:microsoft.com/office/officeart/2005/8/layout/cycle5"/>
    <dgm:cxn modelId="{C5BF80A8-E9E1-400D-A7E0-08F8E40B4B61}" type="presParOf" srcId="{2AE59ADD-7CBF-4585-9FD5-2DAEA97D56D1}" destId="{1F1D0AAC-F96E-40CF-8F36-320B3C126EC1}" srcOrd="4" destOrd="0" presId="urn:microsoft.com/office/officeart/2005/8/layout/cycle5"/>
    <dgm:cxn modelId="{15AFA256-5873-4F8C-B3B2-B3BEAD414BE6}" type="presParOf" srcId="{2AE59ADD-7CBF-4585-9FD5-2DAEA97D56D1}" destId="{8CAC6419-B7E6-49C1-978D-813CCB78D7E8}" srcOrd="5" destOrd="0" presId="urn:microsoft.com/office/officeart/2005/8/layout/cycle5"/>
    <dgm:cxn modelId="{B81D7A52-F6CE-4A95-BDFD-D9F7F105BBF9}" type="presParOf" srcId="{2AE59ADD-7CBF-4585-9FD5-2DAEA97D56D1}" destId="{19E85704-A4D1-4236-A47E-FBA14D79A6EC}" srcOrd="6" destOrd="0" presId="urn:microsoft.com/office/officeart/2005/8/layout/cycle5"/>
    <dgm:cxn modelId="{2036F5F6-7FF0-4A8B-BEC2-11699AC94D6F}" type="presParOf" srcId="{2AE59ADD-7CBF-4585-9FD5-2DAEA97D56D1}" destId="{C82CE990-9E92-446A-903E-82F09A9E3387}" srcOrd="7" destOrd="0" presId="urn:microsoft.com/office/officeart/2005/8/layout/cycle5"/>
    <dgm:cxn modelId="{DA9267C3-1D90-4A1C-BB2D-479C250DC8F3}" type="presParOf" srcId="{2AE59ADD-7CBF-4585-9FD5-2DAEA97D56D1}" destId="{A2E3D7FC-C34F-4C0C-8944-CF1DC4C5DBBD}" srcOrd="8" destOrd="0" presId="urn:microsoft.com/office/officeart/2005/8/layout/cycle5"/>
    <dgm:cxn modelId="{1788DB3A-5A13-4D12-B4AE-90754454E3D7}" type="presParOf" srcId="{2AE59ADD-7CBF-4585-9FD5-2DAEA97D56D1}" destId="{145F928D-4B14-48A6-95CF-8ED37680674B}" srcOrd="9" destOrd="0" presId="urn:microsoft.com/office/officeart/2005/8/layout/cycle5"/>
    <dgm:cxn modelId="{C3E0D8D2-5A63-41D5-800B-7455D04B0EE8}" type="presParOf" srcId="{2AE59ADD-7CBF-4585-9FD5-2DAEA97D56D1}" destId="{58B7F2BA-9707-43F9-8D6A-637E01D75207}" srcOrd="10" destOrd="0" presId="urn:microsoft.com/office/officeart/2005/8/layout/cycle5"/>
    <dgm:cxn modelId="{32244AB0-7326-44EC-AA8D-0BCDCC5A4AD6}" type="presParOf" srcId="{2AE59ADD-7CBF-4585-9FD5-2DAEA97D56D1}" destId="{9A9FF1D8-B79B-4E8D-B9C6-DDF9C7144A0D}" srcOrd="11" destOrd="0" presId="urn:microsoft.com/office/officeart/2005/8/layout/cycle5"/>
    <dgm:cxn modelId="{7D123954-7B28-4A81-A4F7-B71C34D261A9}" type="presParOf" srcId="{2AE59ADD-7CBF-4585-9FD5-2DAEA97D56D1}" destId="{DAEFBEF7-784E-4250-95A1-7FE51E16A349}" srcOrd="12" destOrd="0" presId="urn:microsoft.com/office/officeart/2005/8/layout/cycle5"/>
    <dgm:cxn modelId="{E7CC4711-BF2D-470B-80B9-6C5DEF2A0573}" type="presParOf" srcId="{2AE59ADD-7CBF-4585-9FD5-2DAEA97D56D1}" destId="{B6ED1F91-905B-44F2-978E-1CFEF3BD710A}" srcOrd="13" destOrd="0" presId="urn:microsoft.com/office/officeart/2005/8/layout/cycle5"/>
    <dgm:cxn modelId="{80A86E39-AA8A-4D1A-8BF5-77837A1343B5}" type="presParOf" srcId="{2AE59ADD-7CBF-4585-9FD5-2DAEA97D56D1}" destId="{E3B259C9-3BEC-48D4-AD07-2DD5A9E5F387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E2108D-4C1D-4FE7-9765-9FC685890BF6}">
      <dsp:nvSpPr>
        <dsp:cNvPr id="0" name=""/>
        <dsp:cNvSpPr/>
      </dsp:nvSpPr>
      <dsp:spPr>
        <a:xfrm>
          <a:off x="2380505" y="2370"/>
          <a:ext cx="1334988" cy="8677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2300" kern="1200" dirty="0" err="1" smtClean="0">
              <a:latin typeface="+mj-lt"/>
            </a:rPr>
            <a:t>Explore</a:t>
          </a:r>
          <a:endParaRPr lang="nb-NO" sz="2300" kern="1200" dirty="0">
            <a:latin typeface="+mj-lt"/>
          </a:endParaRPr>
        </a:p>
      </dsp:txBody>
      <dsp:txXfrm>
        <a:off x="2422865" y="44730"/>
        <a:ext cx="1250268" cy="783022"/>
      </dsp:txXfrm>
    </dsp:sp>
    <dsp:sp modelId="{6878ABB9-23A7-4810-8A9F-EAF1FE72C6BF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2578672" y="220630"/>
              </a:moveTo>
              <a:arcTo wR="1732594" hR="1732594" stAng="17953853" swAng="1210876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661860-64D4-467E-926D-4ACC0EFB9323}">
      <dsp:nvSpPr>
        <dsp:cNvPr id="0" name=""/>
        <dsp:cNvSpPr/>
      </dsp:nvSpPr>
      <dsp:spPr>
        <a:xfrm>
          <a:off x="4028301" y="1199563"/>
          <a:ext cx="1334988" cy="8677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2300" kern="1200" dirty="0" err="1" smtClean="0">
              <a:latin typeface="+mj-lt"/>
            </a:rPr>
            <a:t>Merge</a:t>
          </a:r>
          <a:endParaRPr lang="nb-NO" sz="2300" kern="1200" dirty="0">
            <a:latin typeface="+mj-lt"/>
          </a:endParaRPr>
        </a:p>
      </dsp:txBody>
      <dsp:txXfrm>
        <a:off x="4070661" y="1241923"/>
        <a:ext cx="1250268" cy="783022"/>
      </dsp:txXfrm>
    </dsp:sp>
    <dsp:sp modelId="{8CAC6419-B7E6-49C1-978D-813CCB78D7E8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3461025" y="1852639"/>
              </a:moveTo>
              <a:arcTo wR="1732594" hR="1732594" stAng="21838381" swAng="1359213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E85704-A4D1-4236-A47E-FBA14D79A6EC}">
      <dsp:nvSpPr>
        <dsp:cNvPr id="0" name=""/>
        <dsp:cNvSpPr/>
      </dsp:nvSpPr>
      <dsp:spPr>
        <a:xfrm>
          <a:off x="3398899" y="3136663"/>
          <a:ext cx="1334988" cy="8677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2300" kern="1200" dirty="0" err="1" smtClean="0">
              <a:latin typeface="+mj-lt"/>
            </a:rPr>
            <a:t>Process</a:t>
          </a:r>
          <a:endParaRPr lang="nb-NO" sz="2300" kern="1200" dirty="0">
            <a:latin typeface="+mj-lt"/>
          </a:endParaRPr>
        </a:p>
      </dsp:txBody>
      <dsp:txXfrm>
        <a:off x="3441259" y="3179023"/>
        <a:ext cx="1250268" cy="783022"/>
      </dsp:txXfrm>
    </dsp:sp>
    <dsp:sp modelId="{A2E3D7FC-C34F-4C0C-8944-CF1DC4C5DBBD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1945042" y="3452114"/>
              </a:moveTo>
              <a:arcTo wR="1732594" hR="1732594" stAng="4977406" swAng="84518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5F928D-4B14-48A6-95CF-8ED37680674B}">
      <dsp:nvSpPr>
        <dsp:cNvPr id="0" name=""/>
        <dsp:cNvSpPr/>
      </dsp:nvSpPr>
      <dsp:spPr>
        <a:xfrm>
          <a:off x="1362112" y="3136663"/>
          <a:ext cx="1334988" cy="8677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2300" kern="1200" dirty="0" err="1" smtClean="0">
              <a:latin typeface="+mj-lt"/>
            </a:rPr>
            <a:t>Visualize</a:t>
          </a:r>
          <a:endParaRPr lang="nb-NO" sz="2300" kern="1200" dirty="0">
            <a:latin typeface="+mj-lt"/>
          </a:endParaRPr>
        </a:p>
      </dsp:txBody>
      <dsp:txXfrm>
        <a:off x="1404472" y="3179023"/>
        <a:ext cx="1250268" cy="783022"/>
      </dsp:txXfrm>
    </dsp:sp>
    <dsp:sp modelId="{9A9FF1D8-B79B-4E8D-B9C6-DDF9C7144A0D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183747" y="2509097"/>
              </a:moveTo>
              <a:arcTo wR="1732594" hR="1732594" stAng="9202406" swAng="1359213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EFBEF7-784E-4250-95A1-7FE51E16A349}">
      <dsp:nvSpPr>
        <dsp:cNvPr id="0" name=""/>
        <dsp:cNvSpPr/>
      </dsp:nvSpPr>
      <dsp:spPr>
        <a:xfrm>
          <a:off x="732710" y="1199563"/>
          <a:ext cx="1334988" cy="8677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2300" kern="1200" dirty="0" err="1" smtClean="0">
              <a:latin typeface="+mj-lt"/>
            </a:rPr>
            <a:t>Analyze</a:t>
          </a:r>
          <a:endParaRPr lang="nb-NO" sz="2300" kern="1200" dirty="0">
            <a:latin typeface="+mj-lt"/>
          </a:endParaRPr>
        </a:p>
      </dsp:txBody>
      <dsp:txXfrm>
        <a:off x="775070" y="1241923"/>
        <a:ext cx="1250268" cy="783022"/>
      </dsp:txXfrm>
    </dsp:sp>
    <dsp:sp modelId="{E3B259C9-3BEC-48D4-AD07-2DD5A9E5F387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416846" y="605345"/>
              </a:moveTo>
              <a:arcTo wR="1732594" hR="1732594" stAng="13235271" swAng="1210876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6281507" y="9462414"/>
            <a:ext cx="391408" cy="305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624" tIns="44517" rIns="90624" bIns="44517" anchor="ctr">
            <a:spAutoFit/>
          </a:bodyPr>
          <a:lstStyle/>
          <a:p>
            <a:pPr algn="r" defTabSz="915702"/>
            <a:fld id="{D823D58A-7891-4C01-B7E7-1294BAA0794E}" type="slidenum">
              <a:rPr lang="nb-NO" sz="1400">
                <a:solidFill>
                  <a:schemeClr val="tx1"/>
                </a:solidFill>
                <a:latin typeface="Times New Roman" pitchFamily="18" charset="0"/>
              </a:rPr>
              <a:pPr algn="r" defTabSz="915702"/>
              <a:t>‹#›</a:t>
            </a:fld>
            <a:endParaRPr lang="nb-NO" sz="140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4477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863600"/>
            <a:ext cx="4603750" cy="345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1027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7160" y="4690595"/>
            <a:ext cx="4941444" cy="4150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624" tIns="44517" rIns="90624" bIns="445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noProof="0" smtClean="0"/>
              <a:t>Klikk for å redigere notatmalstiler i delmalen</a:t>
            </a:r>
          </a:p>
          <a:p>
            <a:pPr lvl="1"/>
            <a:r>
              <a:rPr lang="nb-NO" noProof="0" smtClean="0"/>
              <a:t>Andre nivå</a:t>
            </a:r>
          </a:p>
          <a:p>
            <a:pPr lvl="2"/>
            <a:r>
              <a:rPr lang="nb-NO" noProof="0" smtClean="0"/>
              <a:t>Tredje nivå</a:t>
            </a:r>
          </a:p>
          <a:p>
            <a:pPr lvl="3"/>
            <a:r>
              <a:rPr lang="nb-NO" noProof="0" smtClean="0"/>
              <a:t>Fjerde nivå</a:t>
            </a:r>
          </a:p>
          <a:p>
            <a:pPr lvl="4"/>
            <a:r>
              <a:rPr lang="nb-NO" noProof="0" smtClean="0"/>
              <a:t>Femte nivå</a:t>
            </a:r>
          </a:p>
        </p:txBody>
      </p:sp>
      <p:sp>
        <p:nvSpPr>
          <p:cNvPr id="15364" name="Rectangle 1028"/>
          <p:cNvSpPr>
            <a:spLocks noChangeArrowheads="1"/>
          </p:cNvSpPr>
          <p:nvPr/>
        </p:nvSpPr>
        <p:spPr bwMode="auto">
          <a:xfrm>
            <a:off x="6281507" y="9461628"/>
            <a:ext cx="391408" cy="305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624" tIns="44517" rIns="90624" bIns="44517" anchor="ctr">
            <a:spAutoFit/>
          </a:bodyPr>
          <a:lstStyle/>
          <a:p>
            <a:pPr algn="r" defTabSz="915702"/>
            <a:fld id="{374FAA1B-0FC9-47E4-9A65-E23895D4B409}" type="slidenum">
              <a:rPr lang="nb-NO" sz="1400">
                <a:solidFill>
                  <a:schemeClr val="tx1"/>
                </a:solidFill>
                <a:latin typeface="Times New Roman" pitchFamily="18" charset="0"/>
              </a:rPr>
              <a:pPr algn="r" defTabSz="915702"/>
              <a:t>‹#›</a:t>
            </a:fld>
            <a:endParaRPr lang="nb-NO" sz="140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7315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nb-NO" dirty="0" smtClean="0"/>
              <a:t>RAIRD </a:t>
            </a:r>
            <a:r>
              <a:rPr lang="nb-NO" dirty="0" err="1" smtClean="0"/>
              <a:t>attempts</a:t>
            </a:r>
            <a:r>
              <a:rPr lang="nb-NO" dirty="0" smtClean="0"/>
              <a:t> to </a:t>
            </a:r>
            <a:r>
              <a:rPr lang="nb-NO" dirty="0" err="1" smtClean="0"/>
              <a:t>solve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similar</a:t>
            </a:r>
            <a:r>
              <a:rPr lang="nb-NO" baseline="0" dirty="0" smtClean="0"/>
              <a:t> problems as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previous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project</a:t>
            </a:r>
            <a:endParaRPr lang="nb-NO" baseline="0" dirty="0" smtClean="0"/>
          </a:p>
          <a:p>
            <a:endParaRPr lang="nb-NO" baseline="0" dirty="0" smtClean="0"/>
          </a:p>
          <a:p>
            <a:r>
              <a:rPr lang="nb-NO" baseline="0" dirty="0" err="1" smtClean="0"/>
              <a:t>But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takes</a:t>
            </a:r>
            <a:r>
              <a:rPr lang="nb-NO" baseline="0" dirty="0" smtClean="0"/>
              <a:t> a different and </a:t>
            </a:r>
            <a:r>
              <a:rPr lang="nb-NO" baseline="0" dirty="0" err="1" smtClean="0"/>
              <a:t>complementary</a:t>
            </a:r>
            <a:r>
              <a:rPr lang="nb-NO" baseline="0" dirty="0" smtClean="0"/>
              <a:t> </a:t>
            </a:r>
            <a:r>
              <a:rPr lang="nb-NO" baseline="0" dirty="0" err="1" smtClean="0"/>
              <a:t>approach</a:t>
            </a:r>
            <a:r>
              <a:rPr lang="nb-NO" baseline="0" dirty="0" smtClean="0"/>
              <a:t>.</a:t>
            </a:r>
          </a:p>
          <a:p>
            <a:endParaRPr lang="nb-NO" baseline="0" dirty="0" smtClean="0"/>
          </a:p>
          <a:p>
            <a:r>
              <a:rPr lang="nb-NO" baseline="0" dirty="0" err="1" smtClean="0"/>
              <a:t>Before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we</a:t>
            </a:r>
            <a:r>
              <a:rPr lang="nb-NO" baseline="0" dirty="0" smtClean="0"/>
              <a:t> start, I </a:t>
            </a:r>
            <a:r>
              <a:rPr lang="nb-NO" baseline="0" dirty="0" err="1" smtClean="0"/>
              <a:t>should</a:t>
            </a:r>
            <a:r>
              <a:rPr lang="nb-NO" baseline="0" dirty="0" smtClean="0"/>
              <a:t> </a:t>
            </a:r>
            <a:r>
              <a:rPr lang="nb-NO" baseline="0" dirty="0" err="1" smtClean="0"/>
              <a:t>give</a:t>
            </a:r>
            <a:r>
              <a:rPr lang="nb-NO" baseline="0" dirty="0" smtClean="0"/>
              <a:t> a </a:t>
            </a:r>
            <a:r>
              <a:rPr lang="nb-NO" baseline="0" dirty="0" err="1" smtClean="0"/>
              <a:t>short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introduction</a:t>
            </a:r>
            <a:r>
              <a:rPr lang="nb-NO" baseline="0" dirty="0" smtClean="0"/>
              <a:t> to RAIRD </a:t>
            </a:r>
          </a:p>
          <a:p>
            <a:r>
              <a:rPr lang="nb-NO" baseline="0" dirty="0" smtClean="0"/>
              <a:t>and </a:t>
            </a:r>
            <a:r>
              <a:rPr lang="nb-NO" baseline="0" dirty="0" err="1" smtClean="0"/>
              <a:t>its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context</a:t>
            </a:r>
            <a:r>
              <a:rPr lang="nb-NO" baseline="0" dirty="0" smtClean="0"/>
              <a:t> in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Norwegian </a:t>
            </a:r>
            <a:r>
              <a:rPr lang="nb-NO" baseline="0" dirty="0" err="1" smtClean="0"/>
              <a:t>research</a:t>
            </a:r>
            <a:r>
              <a:rPr lang="nb-NO" baseline="0" dirty="0" smtClean="0"/>
              <a:t> landscape</a:t>
            </a:r>
            <a:endParaRPr lang="nb-NO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The</a:t>
            </a:r>
            <a:r>
              <a:rPr lang="nb-NO" baseline="0" dirty="0" smtClean="0"/>
              <a:t> Norwegian Statistical </a:t>
            </a:r>
            <a:r>
              <a:rPr lang="nb-NO" baseline="0" dirty="0" err="1" smtClean="0"/>
              <a:t>act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gives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Statisctics</a:t>
            </a:r>
            <a:r>
              <a:rPr lang="nb-NO" baseline="0" dirty="0" smtClean="0"/>
              <a:t> Norway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right to </a:t>
            </a:r>
            <a:r>
              <a:rPr lang="nb-NO" baseline="0" dirty="0" err="1" smtClean="0"/>
              <a:t>acquire</a:t>
            </a:r>
            <a:endParaRPr lang="nb-NO" baseline="0" dirty="0" smtClean="0"/>
          </a:p>
          <a:p>
            <a:r>
              <a:rPr lang="nb-NO" baseline="0" dirty="0" smtClean="0"/>
              <a:t>Data from administrative registers</a:t>
            </a:r>
          </a:p>
          <a:p>
            <a:r>
              <a:rPr lang="nb-NO" baseline="0" dirty="0" smtClean="0"/>
              <a:t>In order to </a:t>
            </a:r>
            <a:r>
              <a:rPr lang="nb-NO" baseline="0" dirty="0" err="1" smtClean="0"/>
              <a:t>produce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official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statistics</a:t>
            </a:r>
            <a:endParaRPr lang="nb-NO" baseline="0" dirty="0" smtClean="0"/>
          </a:p>
          <a:p>
            <a:r>
              <a:rPr lang="nb-NO" dirty="0" smtClean="0"/>
              <a:t>The data </a:t>
            </a:r>
            <a:r>
              <a:rPr lang="nb-NO" dirty="0" err="1" smtClean="0"/>
              <a:t>that</a:t>
            </a:r>
            <a:r>
              <a:rPr lang="nb-NO" baseline="0" dirty="0" smtClean="0"/>
              <a:t> Stats Norway </a:t>
            </a:r>
            <a:r>
              <a:rPr lang="nb-NO" baseline="0" dirty="0" err="1" smtClean="0"/>
              <a:t>use</a:t>
            </a:r>
            <a:r>
              <a:rPr lang="nb-NO" baseline="0" dirty="0" smtClean="0"/>
              <a:t>, </a:t>
            </a:r>
            <a:r>
              <a:rPr lang="nb-NO" baseline="0" dirty="0" err="1" smtClean="0"/>
              <a:t>can</a:t>
            </a:r>
            <a:r>
              <a:rPr lang="nb-NO" baseline="0" dirty="0" smtClean="0"/>
              <a:t> </a:t>
            </a:r>
            <a:r>
              <a:rPr lang="nb-NO" baseline="0" dirty="0" err="1" smtClean="0"/>
              <a:t>also</a:t>
            </a:r>
            <a:r>
              <a:rPr lang="nb-NO" baseline="0" dirty="0" smtClean="0"/>
              <a:t> be used for </a:t>
            </a:r>
            <a:r>
              <a:rPr lang="nb-NO" baseline="0" dirty="0" err="1" smtClean="0"/>
              <a:t>research</a:t>
            </a:r>
            <a:r>
              <a:rPr lang="nb-NO" baseline="0" dirty="0" smtClean="0"/>
              <a:t> purposes</a:t>
            </a:r>
          </a:p>
          <a:p>
            <a:endParaRPr lang="nb-NO" baseline="0" dirty="0" smtClean="0"/>
          </a:p>
          <a:p>
            <a:r>
              <a:rPr lang="nb-NO" baseline="0" dirty="0" smtClean="0"/>
              <a:t>Here </a:t>
            </a:r>
            <a:r>
              <a:rPr lang="nb-NO" baseline="0" dirty="0" err="1" smtClean="0"/>
              <a:t>you</a:t>
            </a:r>
            <a:r>
              <a:rPr lang="nb-NO" baseline="0" dirty="0" smtClean="0"/>
              <a:t> </a:t>
            </a:r>
            <a:r>
              <a:rPr lang="nb-NO" baseline="0" dirty="0" err="1" smtClean="0"/>
              <a:t>can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see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some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of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registers relevant for RAIRD.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74513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The «Norwegian </a:t>
            </a:r>
            <a:r>
              <a:rPr lang="nb-NO" dirty="0" err="1" smtClean="0"/>
              <a:t>Situation</a:t>
            </a:r>
            <a:r>
              <a:rPr lang="nb-NO" dirty="0" smtClean="0"/>
              <a:t>» is </a:t>
            </a:r>
            <a:r>
              <a:rPr lang="nb-NO" dirty="0" err="1" smtClean="0"/>
              <a:t>special</a:t>
            </a:r>
            <a:r>
              <a:rPr lang="nb-NO" baseline="0" dirty="0" smtClean="0"/>
              <a:t> in </a:t>
            </a:r>
            <a:r>
              <a:rPr lang="nb-NO" baseline="0" dirty="0" err="1" smtClean="0"/>
              <a:t>several</a:t>
            </a:r>
            <a:r>
              <a:rPr lang="nb-NO" baseline="0" dirty="0" smtClean="0"/>
              <a:t> </a:t>
            </a:r>
            <a:r>
              <a:rPr lang="nb-NO" baseline="0" dirty="0" err="1" smtClean="0"/>
              <a:t>ways</a:t>
            </a:r>
            <a:endParaRPr lang="nb-NO" baseline="0" dirty="0" smtClean="0"/>
          </a:p>
          <a:p>
            <a:endParaRPr lang="nb-NO" baseline="0" dirty="0" smtClean="0"/>
          </a:p>
          <a:p>
            <a:r>
              <a:rPr lang="nb-NO" baseline="0" dirty="0" smtClean="0"/>
              <a:t>It has </a:t>
            </a:r>
            <a:r>
              <a:rPr lang="nb-NO" baseline="0" dirty="0" err="1" smtClean="0"/>
              <a:t>some</a:t>
            </a:r>
            <a:r>
              <a:rPr lang="nb-NO" baseline="0" dirty="0" smtClean="0"/>
              <a:t> notable </a:t>
            </a:r>
            <a:r>
              <a:rPr lang="nb-NO" baseline="0" dirty="0" err="1" smtClean="0"/>
              <a:t>strengths</a:t>
            </a:r>
            <a:r>
              <a:rPr lang="nb-NO" baseline="0" dirty="0" smtClean="0"/>
              <a:t> in </a:t>
            </a:r>
            <a:r>
              <a:rPr lang="nb-NO" baseline="0" dirty="0" err="1" smtClean="0"/>
              <a:t>that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it’s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quite</a:t>
            </a:r>
            <a:r>
              <a:rPr lang="nb-NO" baseline="0" dirty="0" smtClean="0"/>
              <a:t> liberal</a:t>
            </a:r>
          </a:p>
          <a:p>
            <a:endParaRPr lang="nb-NO" baseline="0" dirty="0" smtClean="0"/>
          </a:p>
          <a:p>
            <a:r>
              <a:rPr lang="nb-NO" baseline="0" dirty="0" err="1" smtClean="0"/>
              <a:t>But</a:t>
            </a:r>
            <a:r>
              <a:rPr lang="nb-NO" baseline="0" dirty="0" smtClean="0"/>
              <a:t> it </a:t>
            </a:r>
            <a:r>
              <a:rPr lang="nb-NO" baseline="0" dirty="0" err="1" smtClean="0"/>
              <a:t>also</a:t>
            </a:r>
            <a:r>
              <a:rPr lang="nb-NO" baseline="0" dirty="0" smtClean="0"/>
              <a:t> has </a:t>
            </a:r>
            <a:r>
              <a:rPr lang="nb-NO" baseline="0" dirty="0" err="1" smtClean="0"/>
              <a:t>quite</a:t>
            </a:r>
            <a:r>
              <a:rPr lang="nb-NO" baseline="0" dirty="0" smtClean="0"/>
              <a:t> a </a:t>
            </a:r>
            <a:r>
              <a:rPr lang="nb-NO" baseline="0" dirty="0" err="1" smtClean="0"/>
              <a:t>few</a:t>
            </a:r>
            <a:r>
              <a:rPr lang="nb-NO" baseline="0" dirty="0" smtClean="0"/>
              <a:t> </a:t>
            </a:r>
            <a:r>
              <a:rPr lang="nb-NO" baseline="0" dirty="0" err="1" smtClean="0"/>
              <a:t>weaknesses</a:t>
            </a:r>
            <a:r>
              <a:rPr lang="nb-NO" baseline="0" dirty="0" smtClean="0"/>
              <a:t>.</a:t>
            </a:r>
          </a:p>
          <a:p>
            <a:endParaRPr lang="nb-NO" baseline="0" dirty="0" smtClean="0"/>
          </a:p>
          <a:p>
            <a:r>
              <a:rPr lang="nb-NO" baseline="0" dirty="0" smtClean="0"/>
              <a:t>The </a:t>
            </a:r>
            <a:r>
              <a:rPr lang="nb-NO" baseline="0" dirty="0" err="1" smtClean="0"/>
              <a:t>weaknesses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are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primarily</a:t>
            </a:r>
            <a:r>
              <a:rPr lang="nb-NO" baseline="0" dirty="0" smtClean="0"/>
              <a:t> </a:t>
            </a:r>
            <a:r>
              <a:rPr lang="nb-NO" baseline="0" dirty="0" err="1" smtClean="0"/>
              <a:t>related</a:t>
            </a:r>
            <a:r>
              <a:rPr lang="nb-NO" baseline="0" dirty="0" smtClean="0"/>
              <a:t> to time and </a:t>
            </a:r>
            <a:r>
              <a:rPr lang="nb-NO" baseline="0" dirty="0" err="1" smtClean="0"/>
              <a:t>cost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of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application</a:t>
            </a:r>
            <a:r>
              <a:rPr lang="nb-NO" baseline="0" dirty="0" smtClean="0"/>
              <a:t> </a:t>
            </a:r>
            <a:r>
              <a:rPr lang="nb-NO" baseline="0" dirty="0" err="1" smtClean="0"/>
              <a:t>process</a:t>
            </a:r>
            <a:endParaRPr lang="nb-NO" baseline="0" dirty="0" smtClean="0"/>
          </a:p>
          <a:p>
            <a:endParaRPr lang="nb-NO" baseline="0" dirty="0" smtClean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06380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To </a:t>
            </a:r>
            <a:r>
              <a:rPr lang="nb-NO" dirty="0" err="1" smtClean="0"/>
              <a:t>address</a:t>
            </a:r>
            <a:r>
              <a:rPr lang="nb-NO" dirty="0" smtClean="0"/>
              <a:t> </a:t>
            </a:r>
            <a:r>
              <a:rPr lang="nb-NO" dirty="0" err="1" smtClean="0"/>
              <a:t>the</a:t>
            </a:r>
            <a:r>
              <a:rPr lang="nb-NO" dirty="0" smtClean="0"/>
              <a:t> </a:t>
            </a:r>
            <a:r>
              <a:rPr lang="nb-NO" dirty="0" err="1" smtClean="0"/>
              <a:t>weaknesses</a:t>
            </a:r>
            <a:r>
              <a:rPr lang="nb-NO" dirty="0" smtClean="0"/>
              <a:t> and to </a:t>
            </a:r>
            <a:r>
              <a:rPr lang="nb-NO" dirty="0" err="1" smtClean="0"/>
              <a:t>meet</a:t>
            </a:r>
            <a:r>
              <a:rPr lang="nb-NO" dirty="0" smtClean="0"/>
              <a:t> </a:t>
            </a:r>
            <a:r>
              <a:rPr lang="nb-NO" dirty="0" err="1" smtClean="0"/>
              <a:t>the</a:t>
            </a:r>
            <a:r>
              <a:rPr lang="nb-NO" dirty="0" smtClean="0"/>
              <a:t> goal </a:t>
            </a:r>
          </a:p>
          <a:p>
            <a:r>
              <a:rPr lang="nb-NO" dirty="0" smtClean="0"/>
              <a:t>To </a:t>
            </a:r>
            <a:r>
              <a:rPr lang="nb-NO" dirty="0" err="1" smtClean="0"/>
              <a:t>increase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research</a:t>
            </a:r>
            <a:r>
              <a:rPr lang="nb-NO" baseline="0" dirty="0" smtClean="0"/>
              <a:t>, </a:t>
            </a:r>
            <a:r>
              <a:rPr lang="nb-NO" baseline="0" dirty="0" err="1" smtClean="0"/>
              <a:t>we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had</a:t>
            </a:r>
            <a:r>
              <a:rPr lang="nb-NO" baseline="0" dirty="0" smtClean="0"/>
              <a:t> </a:t>
            </a:r>
            <a:r>
              <a:rPr lang="nb-NO" baseline="0" dirty="0" err="1" smtClean="0"/>
              <a:t>basically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two</a:t>
            </a:r>
            <a:r>
              <a:rPr lang="nb-NO" baseline="0" dirty="0" smtClean="0"/>
              <a:t> major </a:t>
            </a:r>
            <a:r>
              <a:rPr lang="nb-NO" baseline="0" dirty="0" err="1" smtClean="0"/>
              <a:t>options</a:t>
            </a:r>
            <a:r>
              <a:rPr lang="nb-NO" baseline="0" dirty="0" smtClean="0"/>
              <a:t> – </a:t>
            </a:r>
          </a:p>
          <a:p>
            <a:endParaRPr lang="nb-NO" baseline="0" dirty="0" smtClean="0"/>
          </a:p>
          <a:p>
            <a:r>
              <a:rPr lang="nb-NO" baseline="0" dirty="0" err="1" smtClean="0"/>
              <a:t>adding</a:t>
            </a:r>
            <a:r>
              <a:rPr lang="nb-NO" baseline="0" dirty="0" smtClean="0"/>
              <a:t> </a:t>
            </a:r>
            <a:r>
              <a:rPr lang="nb-NO" baseline="0" dirty="0" err="1" smtClean="0"/>
              <a:t>people</a:t>
            </a:r>
            <a:r>
              <a:rPr lang="nb-NO" baseline="0" dirty="0" smtClean="0"/>
              <a:t> or </a:t>
            </a:r>
            <a:r>
              <a:rPr lang="nb-NO" baseline="0" dirty="0" err="1" smtClean="0"/>
              <a:t>adding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technology</a:t>
            </a:r>
            <a:endParaRPr lang="nb-NO" baseline="0" dirty="0" smtClean="0"/>
          </a:p>
          <a:p>
            <a:endParaRPr lang="nb-NO" baseline="0" dirty="0" smtClean="0"/>
          </a:p>
          <a:p>
            <a:r>
              <a:rPr lang="nb-NO" baseline="0" dirty="0" smtClean="0"/>
              <a:t>Option 1: </a:t>
            </a:r>
            <a:r>
              <a:rPr lang="nb-NO" baseline="0" dirty="0" err="1" smtClean="0"/>
              <a:t>Further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strengthening</a:t>
            </a:r>
            <a:r>
              <a:rPr lang="nb-NO" baseline="0" dirty="0" smtClean="0"/>
              <a:t> and </a:t>
            </a:r>
            <a:r>
              <a:rPr lang="nb-NO" baseline="0" dirty="0" err="1" smtClean="0"/>
              <a:t>streamlining</a:t>
            </a:r>
            <a:r>
              <a:rPr lang="nb-NO" baseline="0" dirty="0" smtClean="0"/>
              <a:t> </a:t>
            </a:r>
            <a:r>
              <a:rPr lang="nb-NO" baseline="0" dirty="0" err="1" smtClean="0"/>
              <a:t>of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today’s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approach</a:t>
            </a:r>
            <a:endParaRPr lang="nb-NO" baseline="0" dirty="0" smtClean="0"/>
          </a:p>
          <a:p>
            <a:r>
              <a:rPr lang="nb-NO" baseline="0" dirty="0" smtClean="0"/>
              <a:t>This </a:t>
            </a:r>
            <a:r>
              <a:rPr lang="nb-NO" baseline="0" dirty="0" err="1" smtClean="0"/>
              <a:t>would</a:t>
            </a:r>
            <a:r>
              <a:rPr lang="nb-NO" baseline="0" dirty="0" smtClean="0"/>
              <a:t> </a:t>
            </a:r>
            <a:r>
              <a:rPr lang="nb-NO" baseline="0" dirty="0" err="1" smtClean="0"/>
              <a:t>involve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adding</a:t>
            </a:r>
            <a:r>
              <a:rPr lang="nb-NO" baseline="0" dirty="0" smtClean="0"/>
              <a:t> more </a:t>
            </a:r>
            <a:r>
              <a:rPr lang="nb-NO" baseline="0" dirty="0" err="1" smtClean="0"/>
              <a:t>people</a:t>
            </a:r>
            <a:r>
              <a:rPr lang="nb-NO" baseline="0" dirty="0" smtClean="0"/>
              <a:t> to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problem, and </a:t>
            </a:r>
            <a:r>
              <a:rPr lang="nb-NO" baseline="0" dirty="0" err="1" smtClean="0"/>
              <a:t>would</a:t>
            </a:r>
            <a:r>
              <a:rPr lang="nb-NO" baseline="0" dirty="0" smtClean="0"/>
              <a:t> still </a:t>
            </a:r>
            <a:r>
              <a:rPr lang="nb-NO" baseline="0" dirty="0" err="1" smtClean="0"/>
              <a:t>involve</a:t>
            </a:r>
            <a:endParaRPr lang="nb-NO" baseline="0" dirty="0" smtClean="0"/>
          </a:p>
          <a:p>
            <a:r>
              <a:rPr lang="nb-NO" baseline="0" dirty="0" err="1" smtClean="0"/>
              <a:t>Handing</a:t>
            </a:r>
            <a:r>
              <a:rPr lang="nb-NO" baseline="0" dirty="0" smtClean="0"/>
              <a:t> </a:t>
            </a:r>
            <a:r>
              <a:rPr lang="nb-NO" baseline="0" dirty="0" err="1" smtClean="0"/>
              <a:t>out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copies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of</a:t>
            </a:r>
            <a:r>
              <a:rPr lang="nb-NO" baseline="0" dirty="0" smtClean="0"/>
              <a:t> data – or a Remote Access </a:t>
            </a:r>
            <a:r>
              <a:rPr lang="nb-NO" baseline="0" dirty="0" err="1" smtClean="0"/>
              <a:t>solution</a:t>
            </a:r>
            <a:r>
              <a:rPr lang="nb-NO" baseline="0" dirty="0" smtClean="0"/>
              <a:t>.</a:t>
            </a:r>
          </a:p>
          <a:p>
            <a:endParaRPr lang="nb-NO" baseline="0" dirty="0" smtClean="0"/>
          </a:p>
          <a:p>
            <a:r>
              <a:rPr lang="nb-NO" baseline="0" dirty="0" smtClean="0"/>
              <a:t>Option 2: </a:t>
            </a:r>
            <a:r>
              <a:rPr lang="nb-NO" baseline="0" dirty="0" err="1" smtClean="0"/>
              <a:t>Take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advantage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of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technological</a:t>
            </a:r>
            <a:r>
              <a:rPr lang="nb-NO" baseline="0" dirty="0" smtClean="0"/>
              <a:t> </a:t>
            </a:r>
            <a:r>
              <a:rPr lang="nb-NO" baseline="0" dirty="0" err="1" smtClean="0"/>
              <a:t>possibilities</a:t>
            </a:r>
            <a:r>
              <a:rPr lang="nb-NO" baseline="0" dirty="0" smtClean="0"/>
              <a:t> and </a:t>
            </a:r>
          </a:p>
          <a:p>
            <a:r>
              <a:rPr lang="nb-NO" baseline="0" dirty="0" err="1" smtClean="0"/>
              <a:t>give</a:t>
            </a:r>
            <a:r>
              <a:rPr lang="nb-NO" baseline="0" dirty="0" smtClean="0"/>
              <a:t> data </a:t>
            </a:r>
            <a:r>
              <a:rPr lang="nb-NO" baseline="0" dirty="0" err="1" smtClean="0"/>
              <a:t>access</a:t>
            </a:r>
            <a:r>
              <a:rPr lang="nb-NO" baseline="0" dirty="0" smtClean="0"/>
              <a:t> from </a:t>
            </a:r>
            <a:r>
              <a:rPr lang="nb-NO" baseline="0" dirty="0" err="1" smtClean="0"/>
              <a:t>day</a:t>
            </a:r>
            <a:r>
              <a:rPr lang="nb-NO" baseline="0" dirty="0" smtClean="0"/>
              <a:t> 1</a:t>
            </a:r>
          </a:p>
          <a:p>
            <a:endParaRPr lang="nb-NO" baseline="0" dirty="0" smtClean="0"/>
          </a:p>
          <a:p>
            <a:r>
              <a:rPr lang="nb-NO" baseline="0" dirty="0" smtClean="0"/>
              <a:t>This </a:t>
            </a:r>
            <a:r>
              <a:rPr lang="nb-NO" baseline="0" dirty="0" err="1" smtClean="0"/>
              <a:t>could</a:t>
            </a:r>
            <a:r>
              <a:rPr lang="nb-NO" baseline="0" dirty="0" smtClean="0"/>
              <a:t> </a:t>
            </a:r>
            <a:r>
              <a:rPr lang="nb-NO" baseline="0" dirty="0" err="1" smtClean="0"/>
              <a:t>only</a:t>
            </a:r>
            <a:r>
              <a:rPr lang="nb-NO" baseline="0" dirty="0" smtClean="0"/>
              <a:t> be </a:t>
            </a:r>
            <a:r>
              <a:rPr lang="nb-NO" baseline="0" dirty="0" err="1" smtClean="0"/>
              <a:t>made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possible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if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following</a:t>
            </a:r>
            <a:r>
              <a:rPr lang="nb-NO" baseline="0" dirty="0" smtClean="0"/>
              <a:t> </a:t>
            </a:r>
            <a:r>
              <a:rPr lang="nb-NO" baseline="0" dirty="0" err="1" smtClean="0"/>
              <a:t>constraints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were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upheld</a:t>
            </a:r>
            <a:r>
              <a:rPr lang="nb-NO" baseline="0" dirty="0" smtClean="0"/>
              <a:t>: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94167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err="1" smtClean="0"/>
              <a:t>We</a:t>
            </a:r>
            <a:r>
              <a:rPr lang="nb-NO" dirty="0" smtClean="0"/>
              <a:t> </a:t>
            </a:r>
            <a:r>
              <a:rPr lang="nb-NO" dirty="0" err="1" smtClean="0"/>
              <a:t>decided</a:t>
            </a:r>
            <a:r>
              <a:rPr lang="nb-NO" dirty="0" smtClean="0"/>
              <a:t> to </a:t>
            </a:r>
            <a:r>
              <a:rPr lang="nb-NO" dirty="0" err="1" smtClean="0"/>
              <a:t>try</a:t>
            </a:r>
            <a:r>
              <a:rPr lang="nb-NO" dirty="0" smtClean="0"/>
              <a:t> and make an Interactive Solution</a:t>
            </a:r>
          </a:p>
          <a:p>
            <a:endParaRPr lang="nb-NO" dirty="0" smtClean="0"/>
          </a:p>
          <a:p>
            <a:r>
              <a:rPr lang="nb-NO" dirty="0" smtClean="0"/>
              <a:t>«Interactive» </a:t>
            </a:r>
            <a:r>
              <a:rPr lang="nb-NO" dirty="0" err="1" smtClean="0"/>
              <a:t>doesn’t</a:t>
            </a:r>
            <a:r>
              <a:rPr lang="nb-NO" dirty="0" smtClean="0"/>
              <a:t> sound </a:t>
            </a:r>
            <a:r>
              <a:rPr lang="nb-NO" dirty="0" err="1" smtClean="0"/>
              <a:t>particularly</a:t>
            </a:r>
            <a:r>
              <a:rPr lang="nb-NO" dirty="0" smtClean="0"/>
              <a:t> impressive </a:t>
            </a:r>
            <a:r>
              <a:rPr lang="nb-NO" dirty="0" err="1" smtClean="0"/>
              <a:t>these</a:t>
            </a:r>
            <a:r>
              <a:rPr lang="nb-NO" dirty="0" smtClean="0"/>
              <a:t> </a:t>
            </a:r>
            <a:r>
              <a:rPr lang="nb-NO" dirty="0" err="1" smtClean="0"/>
              <a:t>days</a:t>
            </a:r>
            <a:r>
              <a:rPr lang="nb-NO" dirty="0" smtClean="0"/>
              <a:t>.</a:t>
            </a:r>
          </a:p>
          <a:p>
            <a:endParaRPr lang="nb-NO" dirty="0" smtClean="0"/>
          </a:p>
          <a:p>
            <a:r>
              <a:rPr lang="nb-NO" dirty="0" err="1" smtClean="0"/>
              <a:t>But</a:t>
            </a:r>
            <a:r>
              <a:rPr lang="nb-NO" dirty="0" smtClean="0"/>
              <a:t> </a:t>
            </a:r>
            <a:r>
              <a:rPr lang="nb-NO" dirty="0" err="1" smtClean="0"/>
              <a:t>we</a:t>
            </a:r>
            <a:r>
              <a:rPr lang="nb-NO" dirty="0" smtClean="0"/>
              <a:t> </a:t>
            </a:r>
            <a:r>
              <a:rPr lang="nb-NO" dirty="0" err="1" smtClean="0"/>
              <a:t>are</a:t>
            </a:r>
            <a:r>
              <a:rPr lang="nb-NO" dirty="0" smtClean="0"/>
              <a:t> </a:t>
            </a:r>
            <a:r>
              <a:rPr lang="nb-NO" dirty="0" err="1" smtClean="0"/>
              <a:t>here</a:t>
            </a:r>
            <a:r>
              <a:rPr lang="nb-NO" dirty="0" smtClean="0"/>
              <a:t> </a:t>
            </a:r>
            <a:r>
              <a:rPr lang="nb-NO" dirty="0" err="1" smtClean="0"/>
              <a:t>talking</a:t>
            </a:r>
            <a:r>
              <a:rPr lang="nb-NO" baseline="0" dirty="0" smtClean="0"/>
              <a:t> </a:t>
            </a:r>
            <a:r>
              <a:rPr lang="nb-NO" baseline="0" dirty="0" err="1" smtClean="0"/>
              <a:t>about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allowing</a:t>
            </a:r>
            <a:r>
              <a:rPr lang="nb-NO" baseline="0" dirty="0" smtClean="0"/>
              <a:t> </a:t>
            </a:r>
            <a:r>
              <a:rPr lang="nb-NO" baseline="0" dirty="0" err="1" smtClean="0"/>
              <a:t>researchers</a:t>
            </a:r>
            <a:r>
              <a:rPr lang="nb-NO" baseline="0" dirty="0" smtClean="0"/>
              <a:t> to </a:t>
            </a:r>
            <a:r>
              <a:rPr lang="nb-NO" baseline="0" dirty="0" err="1" smtClean="0"/>
              <a:t>interacting</a:t>
            </a:r>
            <a:r>
              <a:rPr lang="nb-NO" baseline="0" dirty="0" smtClean="0"/>
              <a:t> </a:t>
            </a:r>
            <a:r>
              <a:rPr lang="nb-NO" baseline="0" dirty="0" err="1" smtClean="0"/>
              <a:t>with</a:t>
            </a:r>
            <a:r>
              <a:rPr lang="nb-NO" baseline="0" dirty="0" smtClean="0"/>
              <a:t> DATA</a:t>
            </a:r>
          </a:p>
          <a:p>
            <a:r>
              <a:rPr lang="nb-NO" baseline="0" dirty="0" smtClean="0"/>
              <a:t>From </a:t>
            </a:r>
            <a:r>
              <a:rPr lang="nb-NO" baseline="0" dirty="0" err="1" smtClean="0"/>
              <a:t>day</a:t>
            </a:r>
            <a:r>
              <a:rPr lang="nb-NO" baseline="0" dirty="0" smtClean="0"/>
              <a:t> 1</a:t>
            </a:r>
            <a:endParaRPr lang="nb-NO" dirty="0" smtClean="0"/>
          </a:p>
          <a:p>
            <a:endParaRPr lang="nb-NO" dirty="0" smtClean="0"/>
          </a:p>
          <a:p>
            <a:r>
              <a:rPr lang="nb-NO" dirty="0" smtClean="0"/>
              <a:t>(New </a:t>
            </a:r>
            <a:r>
              <a:rPr lang="nb-NO" dirty="0" err="1" smtClean="0"/>
              <a:t>workflow</a:t>
            </a:r>
            <a:r>
              <a:rPr lang="nb-NO" dirty="0" smtClean="0"/>
              <a:t> – </a:t>
            </a:r>
            <a:r>
              <a:rPr lang="nb-NO" dirty="0" err="1" smtClean="0"/>
              <a:t>extremely</a:t>
            </a:r>
            <a:r>
              <a:rPr lang="nb-NO" dirty="0" smtClean="0"/>
              <a:t> </a:t>
            </a:r>
            <a:r>
              <a:rPr lang="nb-NO" dirty="0" err="1" smtClean="0"/>
              <a:t>high</a:t>
            </a:r>
            <a:r>
              <a:rPr lang="nb-NO" baseline="0" dirty="0" smtClean="0"/>
              <a:t> </a:t>
            </a:r>
            <a:r>
              <a:rPr lang="nb-NO" baseline="0" dirty="0" err="1" smtClean="0"/>
              <a:t>demands</a:t>
            </a:r>
            <a:r>
              <a:rPr lang="nb-NO" baseline="0" dirty="0" smtClean="0"/>
              <a:t> for </a:t>
            </a:r>
            <a:r>
              <a:rPr lang="nb-NO" baseline="0" dirty="0" err="1" smtClean="0"/>
              <a:t>functionality</a:t>
            </a:r>
            <a:endParaRPr lang="nb-NO" baseline="0" dirty="0" smtClean="0"/>
          </a:p>
          <a:p>
            <a:r>
              <a:rPr lang="nb-NO" baseline="0" dirty="0" smtClean="0"/>
              <a:t>Handling </a:t>
            </a:r>
            <a:r>
              <a:rPr lang="nb-NO" baseline="0" dirty="0" err="1" smtClean="0"/>
              <a:t>event</a:t>
            </a:r>
            <a:r>
              <a:rPr lang="nb-NO" baseline="0" dirty="0" smtClean="0"/>
              <a:t>-histories</a:t>
            </a:r>
          </a:p>
          <a:p>
            <a:r>
              <a:rPr lang="nb-NO" baseline="0" dirty="0" smtClean="0"/>
              <a:t>Data </a:t>
            </a:r>
            <a:r>
              <a:rPr lang="nb-NO" baseline="0" dirty="0" err="1" smtClean="0"/>
              <a:t>processing</a:t>
            </a:r>
            <a:r>
              <a:rPr lang="nb-NO" baseline="0" dirty="0" smtClean="0"/>
              <a:t> and analysis must be </a:t>
            </a:r>
            <a:r>
              <a:rPr lang="nb-NO" baseline="0" dirty="0" err="1" smtClean="0"/>
              <a:t>on</a:t>
            </a:r>
            <a:r>
              <a:rPr lang="nb-NO" baseline="0" dirty="0" smtClean="0"/>
              <a:t> par </a:t>
            </a:r>
            <a:r>
              <a:rPr lang="nb-NO" baseline="0" dirty="0" err="1" smtClean="0"/>
              <a:t>with</a:t>
            </a:r>
            <a:r>
              <a:rPr lang="nb-NO" baseline="0" dirty="0" smtClean="0"/>
              <a:t> </a:t>
            </a:r>
            <a:r>
              <a:rPr lang="nb-NO" baseline="0" dirty="0" err="1" smtClean="0"/>
              <a:t>existing</a:t>
            </a:r>
            <a:r>
              <a:rPr lang="nb-NO" baseline="0" dirty="0" smtClean="0"/>
              <a:t> </a:t>
            </a:r>
            <a:r>
              <a:rPr lang="nb-NO" baseline="0" dirty="0" err="1" smtClean="0"/>
              <a:t>packages</a:t>
            </a:r>
            <a:endParaRPr lang="nb-NO" baseline="0" dirty="0" smtClean="0"/>
          </a:p>
          <a:p>
            <a:r>
              <a:rPr lang="nb-NO" baseline="0" dirty="0" smtClean="0"/>
              <a:t>Metadata must be </a:t>
            </a:r>
            <a:r>
              <a:rPr lang="nb-NO" baseline="0" dirty="0" err="1" smtClean="0"/>
              <a:t>integrated</a:t>
            </a:r>
            <a:r>
              <a:rPr lang="nb-NO" baseline="0" dirty="0" smtClean="0"/>
              <a:t> and </a:t>
            </a:r>
            <a:r>
              <a:rPr lang="nb-NO" baseline="0" dirty="0" err="1" smtClean="0"/>
              <a:t>much</a:t>
            </a:r>
            <a:r>
              <a:rPr lang="nb-NO" baseline="0" dirty="0" smtClean="0"/>
              <a:t> more </a:t>
            </a:r>
            <a:r>
              <a:rPr lang="nb-NO" baseline="0" dirty="0" err="1" smtClean="0"/>
              <a:t>accessible</a:t>
            </a:r>
            <a:r>
              <a:rPr lang="nb-NO" baseline="0" dirty="0" smtClean="0"/>
              <a:t>)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80198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err="1" smtClean="0"/>
              <a:t>We</a:t>
            </a:r>
            <a:r>
              <a:rPr lang="nb-NO" dirty="0" smtClean="0"/>
              <a:t> </a:t>
            </a:r>
            <a:r>
              <a:rPr lang="nb-NO" dirty="0" err="1" smtClean="0"/>
              <a:t>wanted</a:t>
            </a:r>
            <a:r>
              <a:rPr lang="nb-NO" dirty="0" smtClean="0"/>
              <a:t> to </a:t>
            </a:r>
            <a:r>
              <a:rPr lang="nb-NO" dirty="0" err="1" smtClean="0"/>
              <a:t>create</a:t>
            </a:r>
            <a:r>
              <a:rPr lang="nb-NO" dirty="0" smtClean="0"/>
              <a:t> a system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that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was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almost</a:t>
            </a:r>
            <a:r>
              <a:rPr lang="nb-NO" baseline="0" dirty="0" smtClean="0"/>
              <a:t> as </a:t>
            </a:r>
            <a:r>
              <a:rPr lang="nb-NO" baseline="0" dirty="0" err="1" smtClean="0"/>
              <a:t>powerful</a:t>
            </a:r>
            <a:r>
              <a:rPr lang="nb-NO" baseline="0" dirty="0" smtClean="0"/>
              <a:t> </a:t>
            </a:r>
          </a:p>
          <a:p>
            <a:r>
              <a:rPr lang="nb-NO" baseline="0" dirty="0" smtClean="0"/>
              <a:t>as </a:t>
            </a:r>
            <a:r>
              <a:rPr lang="nb-NO" baseline="0" dirty="0" err="1" smtClean="0"/>
              <a:t>if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researcher</a:t>
            </a:r>
            <a:r>
              <a:rPr lang="nb-NO" baseline="0" dirty="0" smtClean="0"/>
              <a:t> </a:t>
            </a:r>
            <a:r>
              <a:rPr lang="nb-NO" baseline="0" dirty="0" err="1" smtClean="0"/>
              <a:t>had</a:t>
            </a:r>
            <a:r>
              <a:rPr lang="nb-NO" baseline="0" dirty="0" smtClean="0"/>
              <a:t> ALL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data </a:t>
            </a:r>
            <a:r>
              <a:rPr lang="nb-NO" baseline="0" dirty="0" err="1" smtClean="0"/>
              <a:t>locally</a:t>
            </a:r>
            <a:r>
              <a:rPr lang="nb-NO" baseline="0" dirty="0" smtClean="0"/>
              <a:t> in </a:t>
            </a:r>
            <a:r>
              <a:rPr lang="nb-NO" baseline="0" dirty="0" err="1" smtClean="0"/>
              <a:t>their</a:t>
            </a:r>
            <a:r>
              <a:rPr lang="nb-NO" baseline="0" dirty="0" smtClean="0"/>
              <a:t> </a:t>
            </a:r>
            <a:r>
              <a:rPr lang="nb-NO" baseline="0" dirty="0" err="1" smtClean="0"/>
              <a:t>own</a:t>
            </a:r>
            <a:r>
              <a:rPr lang="nb-NO" baseline="0" dirty="0" smtClean="0"/>
              <a:t> </a:t>
            </a:r>
            <a:r>
              <a:rPr lang="nb-NO" baseline="0" dirty="0" err="1" smtClean="0"/>
              <a:t>network</a:t>
            </a:r>
            <a:endParaRPr lang="nb-NO" baseline="0" dirty="0" smtClean="0"/>
          </a:p>
          <a:p>
            <a:endParaRPr lang="nb-NO" baseline="0" dirty="0" smtClean="0"/>
          </a:p>
          <a:p>
            <a:r>
              <a:rPr lang="nb-NO" baseline="0" dirty="0" smtClean="0"/>
              <a:t>…</a:t>
            </a:r>
            <a:r>
              <a:rPr lang="nb-NO" baseline="0" dirty="0" err="1" smtClean="0"/>
              <a:t>but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that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was</a:t>
            </a:r>
            <a:r>
              <a:rPr lang="nb-NO" baseline="0" dirty="0" smtClean="0"/>
              <a:t> safe to </a:t>
            </a:r>
            <a:r>
              <a:rPr lang="nb-NO" baseline="0" dirty="0" err="1" smtClean="0"/>
              <a:t>use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897692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In order to </a:t>
            </a:r>
            <a:r>
              <a:rPr lang="nb-NO" dirty="0" err="1" smtClean="0"/>
              <a:t>create</a:t>
            </a:r>
            <a:r>
              <a:rPr lang="nb-NO" dirty="0" smtClean="0"/>
              <a:t> </a:t>
            </a:r>
            <a:r>
              <a:rPr lang="nb-NO" dirty="0" err="1" smtClean="0"/>
              <a:t>the</a:t>
            </a:r>
            <a:r>
              <a:rPr lang="nb-NO" dirty="0" smtClean="0"/>
              <a:t> </a:t>
            </a:r>
            <a:r>
              <a:rPr lang="nb-NO" dirty="0" err="1" smtClean="0"/>
              <a:t>interactive</a:t>
            </a:r>
            <a:r>
              <a:rPr lang="nb-NO" dirty="0" smtClean="0"/>
              <a:t> </a:t>
            </a:r>
            <a:r>
              <a:rPr lang="nb-NO" dirty="0" err="1" smtClean="0"/>
              <a:t>solution</a:t>
            </a:r>
            <a:r>
              <a:rPr lang="nb-NO" dirty="0" smtClean="0"/>
              <a:t>,</a:t>
            </a:r>
          </a:p>
          <a:p>
            <a:endParaRPr lang="nb-NO" dirty="0" smtClean="0"/>
          </a:p>
          <a:p>
            <a:r>
              <a:rPr lang="nb-NO" dirty="0" smtClean="0"/>
              <a:t>…</a:t>
            </a:r>
            <a:r>
              <a:rPr lang="nb-NO" dirty="0" err="1" smtClean="0"/>
              <a:t>we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had</a:t>
            </a:r>
            <a:r>
              <a:rPr lang="nb-NO" baseline="0" dirty="0" smtClean="0"/>
              <a:t> to </a:t>
            </a:r>
            <a:r>
              <a:rPr lang="nb-NO" baseline="0" dirty="0" err="1" smtClean="0"/>
              <a:t>develop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sophisticated</a:t>
            </a:r>
            <a:r>
              <a:rPr lang="nb-NO" baseline="0" dirty="0" smtClean="0"/>
              <a:t> </a:t>
            </a:r>
            <a:r>
              <a:rPr lang="nb-NO" baseline="0" dirty="0" err="1" smtClean="0"/>
              <a:t>models</a:t>
            </a:r>
            <a:r>
              <a:rPr lang="nb-NO" baseline="0" dirty="0" smtClean="0"/>
              <a:t> (</a:t>
            </a:r>
            <a:r>
              <a:rPr lang="nb-NO" baseline="0" dirty="0" err="1" smtClean="0"/>
              <a:t>those</a:t>
            </a:r>
            <a:r>
              <a:rPr lang="nb-NO" baseline="0" dirty="0" smtClean="0"/>
              <a:t> I </a:t>
            </a:r>
            <a:r>
              <a:rPr lang="nb-NO" baseline="0" dirty="0" err="1" smtClean="0"/>
              <a:t>will</a:t>
            </a:r>
            <a:r>
              <a:rPr lang="nb-NO" baseline="0" dirty="0" smtClean="0"/>
              <a:t> talk </a:t>
            </a:r>
            <a:r>
              <a:rPr lang="nb-NO" baseline="0" dirty="0" err="1" smtClean="0"/>
              <a:t>about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tomorrow</a:t>
            </a:r>
            <a:r>
              <a:rPr lang="nb-NO" baseline="0" dirty="0" smtClean="0"/>
              <a:t>)</a:t>
            </a:r>
          </a:p>
          <a:p>
            <a:endParaRPr lang="nb-NO" baseline="0" dirty="0" smtClean="0"/>
          </a:p>
          <a:p>
            <a:r>
              <a:rPr lang="nb-NO" baseline="0" dirty="0" err="1" smtClean="0"/>
              <a:t>We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also</a:t>
            </a:r>
            <a:r>
              <a:rPr lang="nb-NO" baseline="0" dirty="0" smtClean="0"/>
              <a:t> </a:t>
            </a:r>
            <a:r>
              <a:rPr lang="nb-NO" baseline="0" dirty="0" err="1" smtClean="0"/>
              <a:t>needed</a:t>
            </a:r>
            <a:r>
              <a:rPr lang="nb-NO" baseline="0" dirty="0" smtClean="0"/>
              <a:t> to </a:t>
            </a:r>
            <a:r>
              <a:rPr lang="nb-NO" baseline="0" dirty="0" err="1" smtClean="0"/>
              <a:t>develop</a:t>
            </a:r>
            <a:r>
              <a:rPr lang="nb-NO" baseline="0" dirty="0" smtClean="0"/>
              <a:t> a </a:t>
            </a:r>
            <a:r>
              <a:rPr lang="nb-NO" baseline="0" dirty="0" err="1" smtClean="0"/>
              <a:t>set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of</a:t>
            </a:r>
            <a:r>
              <a:rPr lang="nb-NO" baseline="0" dirty="0" smtClean="0"/>
              <a:t> </a:t>
            </a:r>
            <a:r>
              <a:rPr lang="nb-NO" baseline="0" dirty="0" err="1" smtClean="0"/>
              <a:t>components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that</a:t>
            </a:r>
            <a:r>
              <a:rPr lang="nb-NO" baseline="0" dirty="0" smtClean="0"/>
              <a:t> I </a:t>
            </a:r>
            <a:r>
              <a:rPr lang="nb-NO" baseline="0" dirty="0" err="1" smtClean="0"/>
              <a:t>will</a:t>
            </a:r>
            <a:r>
              <a:rPr lang="nb-NO" baseline="0" dirty="0" smtClean="0"/>
              <a:t> talk </a:t>
            </a:r>
            <a:r>
              <a:rPr lang="nb-NO" baseline="0" dirty="0" err="1" smtClean="0"/>
              <a:t>about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today</a:t>
            </a:r>
            <a:endParaRPr lang="nb-NO" baseline="0" dirty="0" smtClean="0"/>
          </a:p>
          <a:p>
            <a:endParaRPr lang="nb-NO" baseline="0" dirty="0" smtClean="0"/>
          </a:p>
          <a:p>
            <a:r>
              <a:rPr lang="nb-NO" baseline="0" dirty="0" smtClean="0"/>
              <a:t>On </a:t>
            </a:r>
            <a:r>
              <a:rPr lang="nb-NO" baseline="0" dirty="0" err="1" smtClean="0"/>
              <a:t>this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illustration</a:t>
            </a:r>
            <a:r>
              <a:rPr lang="nb-NO" baseline="0" dirty="0" smtClean="0"/>
              <a:t> </a:t>
            </a:r>
            <a:r>
              <a:rPr lang="nb-NO" baseline="0" dirty="0" err="1" smtClean="0"/>
              <a:t>which</a:t>
            </a:r>
            <a:r>
              <a:rPr lang="nb-NO" baseline="0" dirty="0" smtClean="0"/>
              <a:t> </a:t>
            </a:r>
            <a:r>
              <a:rPr lang="nb-NO" baseline="0" dirty="0" err="1" smtClean="0"/>
              <a:t>you</a:t>
            </a:r>
            <a:r>
              <a:rPr lang="nb-NO" baseline="0" dirty="0" smtClean="0"/>
              <a:t> </a:t>
            </a:r>
            <a:r>
              <a:rPr lang="nb-NO" baseline="0" dirty="0" err="1" smtClean="0"/>
              <a:t>probably</a:t>
            </a:r>
            <a:r>
              <a:rPr lang="nb-NO" baseline="0" dirty="0" smtClean="0"/>
              <a:t> </a:t>
            </a:r>
            <a:r>
              <a:rPr lang="nb-NO" baseline="0" dirty="0" err="1" smtClean="0"/>
              <a:t>cannot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see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very</a:t>
            </a:r>
            <a:r>
              <a:rPr lang="nb-NO" baseline="0" dirty="0" smtClean="0"/>
              <a:t> </a:t>
            </a:r>
            <a:r>
              <a:rPr lang="nb-NO" baseline="0" dirty="0" err="1" smtClean="0"/>
              <a:t>well</a:t>
            </a:r>
            <a:r>
              <a:rPr lang="nb-NO" baseline="0" dirty="0" smtClean="0"/>
              <a:t>, </a:t>
            </a:r>
          </a:p>
          <a:p>
            <a:endParaRPr lang="nb-NO" baseline="0" dirty="0" smtClean="0"/>
          </a:p>
          <a:p>
            <a:r>
              <a:rPr lang="nb-NO" baseline="0" dirty="0" smtClean="0"/>
              <a:t>…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RAIRD </a:t>
            </a:r>
            <a:r>
              <a:rPr lang="nb-NO" baseline="0" dirty="0" err="1" smtClean="0"/>
              <a:t>project</a:t>
            </a:r>
            <a:r>
              <a:rPr lang="nb-NO" baseline="0" dirty="0" smtClean="0"/>
              <a:t> is </a:t>
            </a:r>
            <a:r>
              <a:rPr lang="nb-NO" baseline="0" dirty="0" err="1" smtClean="0"/>
              <a:t>concentrated</a:t>
            </a:r>
            <a:r>
              <a:rPr lang="nb-NO" baseline="0" dirty="0" smtClean="0"/>
              <a:t> </a:t>
            </a:r>
            <a:r>
              <a:rPr lang="nb-NO" baseline="0" dirty="0" err="1" smtClean="0"/>
              <a:t>within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big</a:t>
            </a:r>
            <a:r>
              <a:rPr lang="nb-NO" baseline="0" dirty="0" smtClean="0"/>
              <a:t> </a:t>
            </a:r>
            <a:r>
              <a:rPr lang="nb-NO" baseline="0" dirty="0" err="1" smtClean="0"/>
              <a:t>box</a:t>
            </a:r>
            <a:r>
              <a:rPr lang="nb-NO" baseline="0" dirty="0" smtClean="0"/>
              <a:t> to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right</a:t>
            </a:r>
          </a:p>
          <a:p>
            <a:endParaRPr lang="nb-NO" baseline="0" dirty="0" smtClean="0"/>
          </a:p>
          <a:p>
            <a:r>
              <a:rPr lang="nb-NO" baseline="0" dirty="0" smtClean="0"/>
              <a:t>The RAIRD </a:t>
            </a:r>
            <a:r>
              <a:rPr lang="nb-NO" baseline="0" dirty="0" err="1" smtClean="0"/>
              <a:t>technology</a:t>
            </a:r>
            <a:r>
              <a:rPr lang="nb-NO" baseline="0" dirty="0" smtClean="0"/>
              <a:t> </a:t>
            </a:r>
            <a:r>
              <a:rPr lang="nb-NO" baseline="0" dirty="0" err="1" smtClean="0"/>
              <a:t>interfaces</a:t>
            </a:r>
            <a:r>
              <a:rPr lang="nb-NO" baseline="0" dirty="0" smtClean="0"/>
              <a:t> and </a:t>
            </a:r>
            <a:r>
              <a:rPr lang="nb-NO" baseline="0" dirty="0" err="1" smtClean="0"/>
              <a:t>strengthens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existing</a:t>
            </a:r>
            <a:r>
              <a:rPr lang="nb-NO" baseline="0" dirty="0" smtClean="0"/>
              <a:t> </a:t>
            </a:r>
            <a:r>
              <a:rPr lang="nb-NO" baseline="0" dirty="0" err="1" smtClean="0"/>
              <a:t>upstream</a:t>
            </a:r>
            <a:r>
              <a:rPr lang="nb-NO" baseline="0" dirty="0" smtClean="0"/>
              <a:t> </a:t>
            </a:r>
            <a:r>
              <a:rPr lang="nb-NO" baseline="0" dirty="0" err="1" smtClean="0"/>
              <a:t>processes</a:t>
            </a:r>
            <a:endParaRPr lang="nb-NO" baseline="0" dirty="0" smtClean="0"/>
          </a:p>
          <a:p>
            <a:endParaRPr lang="nb-NO" baseline="0" dirty="0" smtClean="0"/>
          </a:p>
          <a:p>
            <a:r>
              <a:rPr lang="nb-NO" baseline="0" dirty="0" smtClean="0"/>
              <a:t>…and </a:t>
            </a:r>
            <a:r>
              <a:rPr lang="nb-NO" baseline="0" dirty="0" err="1" smtClean="0"/>
              <a:t>may</a:t>
            </a:r>
            <a:r>
              <a:rPr lang="nb-NO" baseline="0" dirty="0" smtClean="0"/>
              <a:t> </a:t>
            </a:r>
            <a:r>
              <a:rPr lang="nb-NO" baseline="0" dirty="0" err="1" smtClean="0"/>
              <a:t>potentially</a:t>
            </a:r>
            <a:r>
              <a:rPr lang="nb-NO" baseline="0" dirty="0" smtClean="0"/>
              <a:t> have </a:t>
            </a:r>
            <a:r>
              <a:rPr lang="nb-NO" baseline="0" dirty="0" err="1" smtClean="0"/>
              <a:t>several</a:t>
            </a:r>
            <a:r>
              <a:rPr lang="nb-NO" baseline="0" dirty="0" smtClean="0"/>
              <a:t> </a:t>
            </a:r>
            <a:r>
              <a:rPr lang="nb-NO" baseline="0" dirty="0" err="1" smtClean="0"/>
              <a:t>downstream</a:t>
            </a:r>
            <a:r>
              <a:rPr lang="nb-NO" baseline="0" dirty="0" smtClean="0"/>
              <a:t> </a:t>
            </a:r>
            <a:r>
              <a:rPr lang="nb-NO" baseline="0" dirty="0" err="1" smtClean="0"/>
              <a:t>applications</a:t>
            </a:r>
            <a:r>
              <a:rPr lang="nb-NO" baseline="0" dirty="0" smtClean="0"/>
              <a:t>, </a:t>
            </a:r>
            <a:r>
              <a:rPr lang="nb-NO" baseline="0" dirty="0" err="1" smtClean="0"/>
              <a:t>including</a:t>
            </a:r>
            <a:endParaRPr lang="nb-NO" baseline="0" dirty="0" smtClean="0"/>
          </a:p>
          <a:p>
            <a:r>
              <a:rPr lang="nb-NO" baseline="0" dirty="0" smtClean="0"/>
              <a:t>transfer </a:t>
            </a:r>
            <a:r>
              <a:rPr lang="nb-NO" baseline="0" dirty="0" err="1" smtClean="0"/>
              <a:t>of</a:t>
            </a:r>
            <a:r>
              <a:rPr lang="nb-NO" baseline="0" dirty="0" smtClean="0"/>
              <a:t> </a:t>
            </a:r>
            <a:r>
              <a:rPr lang="nb-NO" baseline="0" dirty="0" err="1" smtClean="0"/>
              <a:t>bespoke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researcher</a:t>
            </a:r>
            <a:r>
              <a:rPr lang="nb-NO" baseline="0" dirty="0" smtClean="0"/>
              <a:t> data to a more </a:t>
            </a:r>
            <a:r>
              <a:rPr lang="nb-NO" baseline="0" dirty="0" err="1" smtClean="0"/>
              <a:t>traditional</a:t>
            </a:r>
            <a:r>
              <a:rPr lang="nb-NO" baseline="0" dirty="0" smtClean="0"/>
              <a:t> Remote Access Platform 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06210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err="1" smtClean="0"/>
              <a:t>Today</a:t>
            </a:r>
            <a:r>
              <a:rPr lang="nb-NO" dirty="0" smtClean="0"/>
              <a:t> I </a:t>
            </a:r>
            <a:r>
              <a:rPr lang="nb-NO" dirty="0" err="1" smtClean="0"/>
              <a:t>will</a:t>
            </a:r>
            <a:r>
              <a:rPr lang="nb-NO" dirty="0" smtClean="0"/>
              <a:t> </a:t>
            </a:r>
            <a:r>
              <a:rPr lang="nb-NO" dirty="0" err="1" smtClean="0"/>
              <a:t>focus</a:t>
            </a:r>
            <a:r>
              <a:rPr lang="nb-NO" dirty="0" smtClean="0"/>
              <a:t> </a:t>
            </a:r>
            <a:r>
              <a:rPr lang="nb-NO" dirty="0" err="1" smtClean="0"/>
              <a:t>on</a:t>
            </a:r>
            <a:r>
              <a:rPr lang="nb-NO" dirty="0" smtClean="0"/>
              <a:t> </a:t>
            </a:r>
            <a:r>
              <a:rPr lang="nb-NO" dirty="0" err="1" smtClean="0"/>
              <a:t>three</a:t>
            </a:r>
            <a:r>
              <a:rPr lang="nb-NO" dirty="0" smtClean="0"/>
              <a:t> </a:t>
            </a:r>
            <a:r>
              <a:rPr lang="nb-NO" dirty="0" err="1" smtClean="0"/>
              <a:t>of</a:t>
            </a:r>
            <a:r>
              <a:rPr lang="nb-NO" dirty="0" smtClean="0"/>
              <a:t> </a:t>
            </a:r>
            <a:r>
              <a:rPr lang="nb-NO" dirty="0" err="1" smtClean="0"/>
              <a:t>the</a:t>
            </a:r>
            <a:r>
              <a:rPr lang="nb-NO" dirty="0" smtClean="0"/>
              <a:t> </a:t>
            </a:r>
            <a:r>
              <a:rPr lang="nb-NO" dirty="0" err="1" smtClean="0"/>
              <a:t>components</a:t>
            </a:r>
            <a:endParaRPr lang="nb-NO" dirty="0" smtClean="0"/>
          </a:p>
          <a:p>
            <a:endParaRPr lang="nb-NO" dirty="0" smtClean="0"/>
          </a:p>
          <a:p>
            <a:r>
              <a:rPr lang="nb-NO" dirty="0" smtClean="0"/>
              <a:t>The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DataStore</a:t>
            </a:r>
            <a:endParaRPr lang="nb-NO" baseline="0" dirty="0" smtClean="0"/>
          </a:p>
          <a:p>
            <a:endParaRPr lang="nb-NO" baseline="0" dirty="0" smtClean="0"/>
          </a:p>
          <a:p>
            <a:r>
              <a:rPr lang="nb-NO" baseline="0" dirty="0" smtClean="0"/>
              <a:t>The Statistical </a:t>
            </a:r>
            <a:r>
              <a:rPr lang="nb-NO" baseline="0" dirty="0" err="1" smtClean="0"/>
              <a:t>Execution</a:t>
            </a:r>
            <a:r>
              <a:rPr lang="nb-NO" baseline="0" dirty="0" smtClean="0"/>
              <a:t> Platform</a:t>
            </a:r>
          </a:p>
          <a:p>
            <a:endParaRPr lang="nb-NO" baseline="0" dirty="0" smtClean="0"/>
          </a:p>
          <a:p>
            <a:r>
              <a:rPr lang="nb-NO" baseline="0" dirty="0" smtClean="0"/>
              <a:t>The Online Statistical Environment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98814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First – The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DataStore</a:t>
            </a:r>
            <a:endParaRPr lang="nb-NO" baseline="0" dirty="0" smtClean="0"/>
          </a:p>
          <a:p>
            <a:endParaRPr lang="nb-NO" baseline="0" dirty="0" smtClean="0"/>
          </a:p>
          <a:p>
            <a:r>
              <a:rPr lang="nb-NO" baseline="0" dirty="0" smtClean="0"/>
              <a:t>The RAIRD </a:t>
            </a:r>
            <a:r>
              <a:rPr lang="nb-NO" baseline="0" dirty="0" err="1" smtClean="0"/>
              <a:t>DataStore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integrates</a:t>
            </a:r>
            <a:r>
              <a:rPr lang="nb-NO" baseline="0" dirty="0" smtClean="0"/>
              <a:t> data and metadata, and </a:t>
            </a:r>
            <a:r>
              <a:rPr lang="nb-NO" baseline="0" dirty="0" err="1" smtClean="0"/>
              <a:t>can</a:t>
            </a:r>
            <a:r>
              <a:rPr lang="nb-NO" baseline="0" dirty="0" smtClean="0"/>
              <a:t> be </a:t>
            </a:r>
            <a:r>
              <a:rPr lang="nb-NO" baseline="0" dirty="0" err="1" smtClean="0"/>
              <a:t>seen</a:t>
            </a:r>
            <a:r>
              <a:rPr lang="nb-NO" baseline="0" dirty="0" smtClean="0"/>
              <a:t> as a mix </a:t>
            </a:r>
            <a:r>
              <a:rPr lang="nb-NO" baseline="0" dirty="0" err="1" smtClean="0"/>
              <a:t>of</a:t>
            </a:r>
            <a:endParaRPr lang="nb-NO" baseline="0" dirty="0" smtClean="0"/>
          </a:p>
          <a:p>
            <a:endParaRPr lang="nb-NO" baseline="0" dirty="0" smtClean="0"/>
          </a:p>
          <a:p>
            <a:pPr marL="171450" indent="-171450">
              <a:buFont typeface="Arial" charset="0"/>
              <a:buChar char="•"/>
            </a:pPr>
            <a:r>
              <a:rPr lang="nb-NO" baseline="0" dirty="0" smtClean="0"/>
              <a:t>A </a:t>
            </a:r>
            <a:r>
              <a:rPr lang="nb-NO" baseline="0" dirty="0" err="1" smtClean="0"/>
              <a:t>query</a:t>
            </a:r>
            <a:r>
              <a:rPr lang="nb-NO" baseline="0" dirty="0" smtClean="0"/>
              <a:t> </a:t>
            </a:r>
            <a:r>
              <a:rPr lang="nb-NO" baseline="0" dirty="0" err="1" smtClean="0"/>
              <a:t>endpoint</a:t>
            </a:r>
            <a:r>
              <a:rPr lang="nb-NO" baseline="0" dirty="0" smtClean="0"/>
              <a:t> (</a:t>
            </a:r>
            <a:r>
              <a:rPr lang="nb-NO" baseline="0" dirty="0" err="1" smtClean="0"/>
              <a:t>with</a:t>
            </a:r>
            <a:r>
              <a:rPr lang="nb-NO" baseline="0" dirty="0" smtClean="0"/>
              <a:t> in-band metadata)</a:t>
            </a:r>
          </a:p>
          <a:p>
            <a:pPr marL="171450" indent="-171450">
              <a:buFont typeface="Arial" charset="0"/>
              <a:buChar char="•"/>
            </a:pPr>
            <a:r>
              <a:rPr lang="nb-NO" baseline="0" dirty="0" err="1" smtClean="0"/>
              <a:t>Git</a:t>
            </a:r>
            <a:endParaRPr lang="nb-NO" baseline="0" dirty="0" smtClean="0"/>
          </a:p>
          <a:p>
            <a:pPr marL="171450" indent="-171450">
              <a:buFont typeface="Arial" charset="0"/>
              <a:buChar char="•"/>
            </a:pPr>
            <a:r>
              <a:rPr lang="nb-NO" baseline="0" dirty="0" smtClean="0"/>
              <a:t>A temporal database</a:t>
            </a:r>
          </a:p>
        </p:txBody>
      </p:sp>
    </p:spTree>
    <p:extLst>
      <p:ext uri="{BB962C8B-B14F-4D97-AF65-F5344CB8AC3E}">
        <p14:creationId xmlns:p14="http://schemas.microsoft.com/office/powerpoint/2010/main" val="209977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The </a:t>
            </a:r>
            <a:r>
              <a:rPr lang="nb-NO" dirty="0" err="1" smtClean="0"/>
              <a:t>DataStore</a:t>
            </a:r>
            <a:r>
              <a:rPr lang="nb-NO" baseline="0" dirty="0" smtClean="0"/>
              <a:t> is </a:t>
            </a:r>
            <a:r>
              <a:rPr lang="nb-NO" baseline="0" dirty="0" err="1" smtClean="0"/>
              <a:t>implemented</a:t>
            </a:r>
            <a:endParaRPr lang="nb-NO" baseline="0" dirty="0" smtClean="0"/>
          </a:p>
          <a:p>
            <a:r>
              <a:rPr lang="nb-NO" baseline="0" dirty="0" err="1" smtClean="0"/>
              <a:t>using</a:t>
            </a:r>
            <a:r>
              <a:rPr lang="nb-NO" baseline="0" dirty="0" smtClean="0"/>
              <a:t> an immutable database system</a:t>
            </a:r>
          </a:p>
          <a:p>
            <a:r>
              <a:rPr lang="nb-NO" baseline="0" dirty="0" err="1" smtClean="0"/>
              <a:t>called</a:t>
            </a:r>
            <a:r>
              <a:rPr lang="nb-NO" baseline="0" dirty="0" smtClean="0"/>
              <a:t> «</a:t>
            </a:r>
            <a:r>
              <a:rPr lang="nb-NO" baseline="0" dirty="0" err="1" smtClean="0"/>
              <a:t>Datomic</a:t>
            </a:r>
            <a:r>
              <a:rPr lang="nb-NO" baseline="0" dirty="0" smtClean="0"/>
              <a:t>» and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current</a:t>
            </a:r>
            <a:endParaRPr lang="nb-NO" baseline="0" dirty="0" smtClean="0"/>
          </a:p>
          <a:p>
            <a:r>
              <a:rPr lang="nb-NO" baseline="0" dirty="0" smtClean="0"/>
              <a:t>Data </a:t>
            </a:r>
            <a:r>
              <a:rPr lang="nb-NO" baseline="0" dirty="0" err="1" smtClean="0"/>
              <a:t>Description</a:t>
            </a:r>
            <a:r>
              <a:rPr lang="nb-NO" baseline="0" dirty="0" smtClean="0"/>
              <a:t> </a:t>
            </a:r>
            <a:r>
              <a:rPr lang="nb-NO" baseline="0" dirty="0" err="1" smtClean="0"/>
              <a:t>model</a:t>
            </a:r>
            <a:r>
              <a:rPr lang="nb-NO" baseline="0" dirty="0" smtClean="0"/>
              <a:t> in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«DDI </a:t>
            </a:r>
            <a:r>
              <a:rPr lang="nb-NO" baseline="0" dirty="0" err="1" smtClean="0"/>
              <a:t>Moving</a:t>
            </a:r>
            <a:r>
              <a:rPr lang="nb-NO" baseline="0" dirty="0" smtClean="0"/>
              <a:t> Forward» </a:t>
            </a:r>
            <a:r>
              <a:rPr lang="nb-NO" baseline="0" dirty="0" err="1" smtClean="0"/>
              <a:t>project</a:t>
            </a:r>
            <a:r>
              <a:rPr lang="nb-NO" baseline="0" dirty="0" smtClean="0"/>
              <a:t> 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938761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The immutable </a:t>
            </a:r>
            <a:r>
              <a:rPr lang="nb-NO" dirty="0" err="1" smtClean="0"/>
              <a:t>characteristics</a:t>
            </a:r>
            <a:r>
              <a:rPr lang="nb-NO" dirty="0" smtClean="0"/>
              <a:t> </a:t>
            </a:r>
            <a:r>
              <a:rPr lang="nb-NO" dirty="0" err="1" smtClean="0"/>
              <a:t>of</a:t>
            </a:r>
            <a:r>
              <a:rPr lang="nb-NO" dirty="0" smtClean="0"/>
              <a:t> </a:t>
            </a:r>
            <a:r>
              <a:rPr lang="nb-NO" dirty="0" err="1" smtClean="0"/>
              <a:t>Datomic</a:t>
            </a:r>
            <a:endParaRPr lang="nb-NO" dirty="0" smtClean="0"/>
          </a:p>
          <a:p>
            <a:endParaRPr lang="nb-NO" dirty="0" smtClean="0"/>
          </a:p>
          <a:p>
            <a:r>
              <a:rPr lang="nb-NO" dirty="0" smtClean="0"/>
              <a:t>…makes it </a:t>
            </a:r>
            <a:r>
              <a:rPr lang="nb-NO" dirty="0" err="1" smtClean="0"/>
              <a:t>possible</a:t>
            </a:r>
            <a:r>
              <a:rPr lang="nb-NO" dirty="0" smtClean="0"/>
              <a:t> to</a:t>
            </a:r>
            <a:r>
              <a:rPr lang="nb-NO" baseline="0" dirty="0" smtClean="0"/>
              <a:t> </a:t>
            </a:r>
            <a:r>
              <a:rPr lang="nb-NO" baseline="0" dirty="0" err="1" smtClean="0"/>
              <a:t>issue</a:t>
            </a:r>
            <a:r>
              <a:rPr lang="nb-NO" baseline="0" dirty="0" smtClean="0"/>
              <a:t> so-</a:t>
            </a:r>
            <a:r>
              <a:rPr lang="nb-NO" baseline="0" dirty="0" err="1" smtClean="0"/>
              <a:t>called</a:t>
            </a:r>
            <a:r>
              <a:rPr lang="nb-NO" baseline="0" dirty="0" smtClean="0"/>
              <a:t> «</a:t>
            </a:r>
            <a:r>
              <a:rPr lang="nb-NO" baseline="0" dirty="0" err="1" smtClean="0"/>
              <a:t>AsOf</a:t>
            </a:r>
            <a:r>
              <a:rPr lang="nb-NO" baseline="0" dirty="0" smtClean="0"/>
              <a:t>» </a:t>
            </a:r>
            <a:r>
              <a:rPr lang="nb-NO" baseline="0" dirty="0" err="1" smtClean="0"/>
              <a:t>queries</a:t>
            </a:r>
            <a:endParaRPr lang="nb-NO" baseline="0" dirty="0" smtClean="0"/>
          </a:p>
          <a:p>
            <a:endParaRPr lang="nb-NO" baseline="0" dirty="0" smtClean="0"/>
          </a:p>
          <a:p>
            <a:r>
              <a:rPr lang="nb-NO" baseline="0" dirty="0" smtClean="0"/>
              <a:t>…</a:t>
            </a:r>
            <a:r>
              <a:rPr lang="nb-NO" baseline="0" dirty="0" err="1" smtClean="0"/>
              <a:t>where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you</a:t>
            </a:r>
            <a:r>
              <a:rPr lang="nb-NO" baseline="0" dirty="0" smtClean="0"/>
              <a:t> </a:t>
            </a:r>
            <a:r>
              <a:rPr lang="nb-NO" baseline="0" dirty="0" err="1" smtClean="0"/>
              <a:t>query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database in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state</a:t>
            </a:r>
            <a:r>
              <a:rPr lang="nb-NO" baseline="0" dirty="0" smtClean="0"/>
              <a:t> it HAD </a:t>
            </a:r>
            <a:r>
              <a:rPr lang="nb-NO" baseline="0" dirty="0" err="1" smtClean="0"/>
              <a:t>on</a:t>
            </a:r>
            <a:r>
              <a:rPr lang="nb-NO" baseline="0" dirty="0" smtClean="0"/>
              <a:t> a given </a:t>
            </a:r>
            <a:r>
              <a:rPr lang="nb-NO" baseline="0" dirty="0" err="1" smtClean="0"/>
              <a:t>point</a:t>
            </a:r>
            <a:r>
              <a:rPr lang="nb-NO" baseline="0" dirty="0" smtClean="0"/>
              <a:t> in time 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8733665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In RAIRD, data </a:t>
            </a:r>
            <a:r>
              <a:rPr lang="nb-NO" dirty="0" err="1" smtClean="0"/>
              <a:t>get</a:t>
            </a:r>
            <a:r>
              <a:rPr lang="nb-NO" dirty="0" smtClean="0"/>
              <a:t> </a:t>
            </a:r>
            <a:r>
              <a:rPr lang="nb-NO" dirty="0" err="1" smtClean="0"/>
              <a:t>copied</a:t>
            </a:r>
            <a:r>
              <a:rPr lang="nb-NO" dirty="0" smtClean="0"/>
              <a:t> from </a:t>
            </a:r>
            <a:r>
              <a:rPr lang="nb-NO" dirty="0" err="1" smtClean="0"/>
              <a:t>the</a:t>
            </a:r>
            <a:r>
              <a:rPr lang="nb-NO" dirty="0" smtClean="0"/>
              <a:t> </a:t>
            </a:r>
            <a:r>
              <a:rPr lang="nb-NO" dirty="0" err="1" smtClean="0"/>
              <a:t>DataStore</a:t>
            </a:r>
            <a:endParaRPr lang="nb-NO" dirty="0" smtClean="0"/>
          </a:p>
          <a:p>
            <a:endParaRPr lang="nb-NO" dirty="0" smtClean="0"/>
          </a:p>
          <a:p>
            <a:r>
              <a:rPr lang="nb-NO" dirty="0" smtClean="0"/>
              <a:t>…</a:t>
            </a:r>
            <a:r>
              <a:rPr lang="nb-NO" dirty="0" err="1" smtClean="0"/>
              <a:t>into</a:t>
            </a:r>
            <a:r>
              <a:rPr lang="nb-NO" dirty="0" smtClean="0"/>
              <a:t> </a:t>
            </a:r>
            <a:r>
              <a:rPr lang="nb-NO" dirty="0" err="1" smtClean="0"/>
              <a:t>the</a:t>
            </a:r>
            <a:r>
              <a:rPr lang="nb-NO" dirty="0" smtClean="0"/>
              <a:t> </a:t>
            </a:r>
            <a:r>
              <a:rPr lang="nb-NO" dirty="0" err="1" smtClean="0"/>
              <a:t>user’s</a:t>
            </a:r>
            <a:r>
              <a:rPr lang="nb-NO" dirty="0" smtClean="0"/>
              <a:t> </a:t>
            </a:r>
            <a:r>
              <a:rPr lang="nb-NO" dirty="0" err="1" smtClean="0"/>
              <a:t>workspace</a:t>
            </a:r>
            <a:r>
              <a:rPr lang="nb-NO" dirty="0" smtClean="0"/>
              <a:t> as a </a:t>
            </a:r>
            <a:r>
              <a:rPr lang="nb-NO" dirty="0" err="1" smtClean="0"/>
              <a:t>result</a:t>
            </a:r>
            <a:r>
              <a:rPr lang="nb-NO" dirty="0" smtClean="0"/>
              <a:t> </a:t>
            </a:r>
            <a:r>
              <a:rPr lang="nb-NO" dirty="0" err="1" smtClean="0"/>
              <a:t>of</a:t>
            </a:r>
            <a:r>
              <a:rPr lang="nb-NO" dirty="0" smtClean="0"/>
              <a:t> </a:t>
            </a:r>
          </a:p>
          <a:p>
            <a:r>
              <a:rPr lang="nb-NO" dirty="0" smtClean="0"/>
              <a:t>…</a:t>
            </a:r>
            <a:r>
              <a:rPr lang="nb-NO" dirty="0" err="1" smtClean="0"/>
              <a:t>commands</a:t>
            </a:r>
            <a:r>
              <a:rPr lang="nb-NO" dirty="0" smtClean="0"/>
              <a:t> </a:t>
            </a:r>
            <a:r>
              <a:rPr lang="nb-NO" dirty="0" err="1" smtClean="0"/>
              <a:t>issued</a:t>
            </a:r>
            <a:r>
              <a:rPr lang="nb-NO" dirty="0" smtClean="0"/>
              <a:t> by </a:t>
            </a:r>
            <a:r>
              <a:rPr lang="nb-NO" dirty="0" err="1" smtClean="0"/>
              <a:t>the</a:t>
            </a:r>
            <a:r>
              <a:rPr lang="nb-NO" dirty="0" smtClean="0"/>
              <a:t> </a:t>
            </a:r>
            <a:r>
              <a:rPr lang="nb-NO" dirty="0" err="1" smtClean="0"/>
              <a:t>user</a:t>
            </a:r>
            <a:r>
              <a:rPr lang="nb-NO" baseline="0" dirty="0" smtClean="0"/>
              <a:t> in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web </a:t>
            </a:r>
            <a:r>
              <a:rPr lang="nb-NO" baseline="0" dirty="0" err="1" smtClean="0"/>
              <a:t>environment</a:t>
            </a:r>
            <a:endParaRPr lang="nb-NO" baseline="0" dirty="0" smtClean="0"/>
          </a:p>
          <a:p>
            <a:endParaRPr lang="nb-NO" baseline="0" dirty="0" smtClean="0"/>
          </a:p>
          <a:p>
            <a:r>
              <a:rPr lang="nb-NO" baseline="0" dirty="0" smtClean="0"/>
              <a:t>The </a:t>
            </a:r>
            <a:r>
              <a:rPr lang="nb-NO" baseline="0" dirty="0" err="1" smtClean="0"/>
              <a:t>interface</a:t>
            </a:r>
            <a:r>
              <a:rPr lang="nb-NO" baseline="0" dirty="0" smtClean="0"/>
              <a:t> to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user’s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bespoke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workspace</a:t>
            </a:r>
            <a:r>
              <a:rPr lang="nb-NO" baseline="0" dirty="0" smtClean="0"/>
              <a:t> data </a:t>
            </a:r>
            <a:r>
              <a:rPr lang="nb-NO" baseline="0" dirty="0" err="1" smtClean="0"/>
              <a:t>sets</a:t>
            </a:r>
            <a:r>
              <a:rPr lang="nb-NO" baseline="0" dirty="0" smtClean="0"/>
              <a:t> is </a:t>
            </a:r>
            <a:r>
              <a:rPr lang="nb-NO" baseline="0" dirty="0" err="1" smtClean="0"/>
              <a:t>StatServer</a:t>
            </a:r>
            <a:r>
              <a:rPr lang="nb-NO" baseline="0" dirty="0" smtClean="0"/>
              <a:t>,</a:t>
            </a:r>
          </a:p>
          <a:p>
            <a:endParaRPr lang="nb-NO" baseline="0" dirty="0" smtClean="0"/>
          </a:p>
          <a:p>
            <a:r>
              <a:rPr lang="nb-NO" baseline="0" dirty="0" err="1" smtClean="0"/>
              <a:t>the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number-crunching</a:t>
            </a:r>
            <a:r>
              <a:rPr lang="nb-NO" baseline="0" dirty="0" smtClean="0"/>
              <a:t> microservice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8205092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The </a:t>
            </a:r>
            <a:r>
              <a:rPr lang="nb-NO" dirty="0" err="1" smtClean="0"/>
              <a:t>StatServer</a:t>
            </a:r>
            <a:r>
              <a:rPr lang="nb-NO" dirty="0" smtClean="0"/>
              <a:t> supports imports from </a:t>
            </a:r>
            <a:r>
              <a:rPr lang="nb-NO" dirty="0" err="1" smtClean="0"/>
              <a:t>the</a:t>
            </a:r>
            <a:r>
              <a:rPr lang="nb-NO" dirty="0" smtClean="0"/>
              <a:t> </a:t>
            </a:r>
            <a:r>
              <a:rPr lang="nb-NO" dirty="0" err="1" smtClean="0"/>
              <a:t>DataStore</a:t>
            </a:r>
            <a:r>
              <a:rPr lang="nb-NO" dirty="0" smtClean="0"/>
              <a:t>, </a:t>
            </a:r>
            <a:r>
              <a:rPr lang="nb-NO" dirty="0" err="1" smtClean="0"/>
              <a:t>of</a:t>
            </a:r>
            <a:r>
              <a:rPr lang="nb-NO" dirty="0" smtClean="0"/>
              <a:t> </a:t>
            </a:r>
            <a:r>
              <a:rPr lang="nb-NO" dirty="0" err="1" smtClean="0"/>
              <a:t>course</a:t>
            </a:r>
            <a:r>
              <a:rPr lang="nb-NO" dirty="0" smtClean="0"/>
              <a:t>,</a:t>
            </a:r>
          </a:p>
          <a:p>
            <a:endParaRPr lang="nb-NO" dirty="0" smtClean="0"/>
          </a:p>
          <a:p>
            <a:r>
              <a:rPr lang="nb-NO" dirty="0" err="1" smtClean="0"/>
              <a:t>But</a:t>
            </a:r>
            <a:r>
              <a:rPr lang="nb-NO" dirty="0" smtClean="0"/>
              <a:t> </a:t>
            </a:r>
            <a:r>
              <a:rPr lang="nb-NO" dirty="0" err="1" smtClean="0"/>
              <a:t>its</a:t>
            </a:r>
            <a:r>
              <a:rPr lang="nb-NO" dirty="0" smtClean="0"/>
              <a:t> </a:t>
            </a:r>
            <a:r>
              <a:rPr lang="nb-NO" dirty="0" err="1" smtClean="0"/>
              <a:t>main</a:t>
            </a:r>
            <a:r>
              <a:rPr lang="nb-NO" dirty="0" smtClean="0"/>
              <a:t> </a:t>
            </a:r>
            <a:r>
              <a:rPr lang="nb-NO" dirty="0" err="1" smtClean="0"/>
              <a:t>job</a:t>
            </a:r>
            <a:r>
              <a:rPr lang="nb-NO" dirty="0" smtClean="0"/>
              <a:t> is to </a:t>
            </a:r>
            <a:r>
              <a:rPr lang="nb-NO" dirty="0" err="1" smtClean="0"/>
              <a:t>transform</a:t>
            </a:r>
            <a:r>
              <a:rPr lang="nb-NO" dirty="0" smtClean="0"/>
              <a:t>, </a:t>
            </a:r>
            <a:r>
              <a:rPr lang="nb-NO" dirty="0" err="1" smtClean="0"/>
              <a:t>merge</a:t>
            </a:r>
            <a:r>
              <a:rPr lang="nb-NO" dirty="0" smtClean="0"/>
              <a:t> and </a:t>
            </a:r>
            <a:r>
              <a:rPr lang="nb-NO" dirty="0" err="1" smtClean="0"/>
              <a:t>analyze</a:t>
            </a:r>
            <a:r>
              <a:rPr lang="nb-NO" dirty="0" smtClean="0"/>
              <a:t> data</a:t>
            </a:r>
          </a:p>
          <a:p>
            <a:endParaRPr lang="nb-NO" dirty="0" smtClean="0"/>
          </a:p>
          <a:p>
            <a:r>
              <a:rPr lang="nb-NO" dirty="0" smtClean="0"/>
              <a:t>… </a:t>
            </a:r>
            <a:r>
              <a:rPr lang="nb-NO" dirty="0" err="1" smtClean="0"/>
              <a:t>on</a:t>
            </a:r>
            <a:r>
              <a:rPr lang="nb-NO" dirty="0" smtClean="0"/>
              <a:t> </a:t>
            </a:r>
            <a:r>
              <a:rPr lang="nb-NO" dirty="0" err="1" smtClean="0"/>
              <a:t>behalf</a:t>
            </a:r>
            <a:r>
              <a:rPr lang="nb-NO" dirty="0" smtClean="0"/>
              <a:t> </a:t>
            </a:r>
            <a:r>
              <a:rPr lang="nb-NO" dirty="0" err="1" smtClean="0"/>
              <a:t>of</a:t>
            </a:r>
            <a:r>
              <a:rPr lang="nb-NO" dirty="0" smtClean="0"/>
              <a:t> </a:t>
            </a:r>
            <a:r>
              <a:rPr lang="nb-NO" dirty="0" err="1" smtClean="0"/>
              <a:t>the</a:t>
            </a:r>
            <a:r>
              <a:rPr lang="nb-NO" dirty="0" smtClean="0"/>
              <a:t> </a:t>
            </a:r>
            <a:r>
              <a:rPr lang="nb-NO" dirty="0" err="1" smtClean="0"/>
              <a:t>user</a:t>
            </a:r>
            <a:endParaRPr lang="nb-NO" dirty="0" smtClean="0"/>
          </a:p>
          <a:p>
            <a:endParaRPr lang="nb-NO" dirty="0" smtClean="0"/>
          </a:p>
          <a:p>
            <a:r>
              <a:rPr lang="nb-NO" dirty="0" smtClean="0"/>
              <a:t>….and </a:t>
            </a:r>
            <a:r>
              <a:rPr lang="nb-NO" dirty="0" err="1" smtClean="0"/>
              <a:t>return</a:t>
            </a:r>
            <a:r>
              <a:rPr lang="nb-NO" dirty="0" smtClean="0"/>
              <a:t> </a:t>
            </a:r>
            <a:r>
              <a:rPr lang="nb-NO" dirty="0" err="1" smtClean="0"/>
              <a:t>results</a:t>
            </a:r>
            <a:r>
              <a:rPr lang="nb-NO" baseline="0" dirty="0" smtClean="0"/>
              <a:t> and reports to </a:t>
            </a:r>
            <a:r>
              <a:rPr lang="nb-NO" baseline="0" dirty="0" err="1" smtClean="0"/>
              <a:t>downstream</a:t>
            </a:r>
            <a:r>
              <a:rPr lang="nb-NO" baseline="0" dirty="0" smtClean="0"/>
              <a:t> </a:t>
            </a:r>
            <a:r>
              <a:rPr lang="nb-NO" baseline="0" dirty="0" err="1" smtClean="0"/>
              <a:t>processing</a:t>
            </a:r>
            <a:r>
              <a:rPr lang="nb-NO" baseline="0" dirty="0" smtClean="0"/>
              <a:t> and rendering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729920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In</a:t>
            </a:r>
            <a:r>
              <a:rPr lang="nb-NO" baseline="0" dirty="0" smtClean="0"/>
              <a:t> order to </a:t>
            </a:r>
            <a:r>
              <a:rPr lang="nb-NO" baseline="0" dirty="0" err="1" smtClean="0"/>
              <a:t>find</a:t>
            </a:r>
            <a:r>
              <a:rPr lang="nb-NO" baseline="0" dirty="0" smtClean="0"/>
              <a:t> an optimal </a:t>
            </a:r>
            <a:r>
              <a:rPr lang="nb-NO" baseline="0" dirty="0" err="1" smtClean="0"/>
              <a:t>platform</a:t>
            </a:r>
            <a:r>
              <a:rPr lang="nb-NO" baseline="0" dirty="0" smtClean="0"/>
              <a:t> for </a:t>
            </a:r>
            <a:r>
              <a:rPr lang="nb-NO" baseline="0" dirty="0" err="1" smtClean="0"/>
              <a:t>StatServer</a:t>
            </a:r>
            <a:endParaRPr lang="nb-NO" baseline="0" dirty="0" smtClean="0"/>
          </a:p>
          <a:p>
            <a:endParaRPr lang="nb-NO" baseline="0" dirty="0" smtClean="0"/>
          </a:p>
          <a:p>
            <a:r>
              <a:rPr lang="nb-NO" baseline="0" dirty="0" smtClean="0"/>
              <a:t>…</a:t>
            </a:r>
            <a:r>
              <a:rPr lang="nb-NO" baseline="0" dirty="0" err="1" smtClean="0"/>
              <a:t>we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evaluated</a:t>
            </a:r>
            <a:r>
              <a:rPr lang="nb-NO" baseline="0" dirty="0" smtClean="0"/>
              <a:t> </a:t>
            </a:r>
            <a:r>
              <a:rPr lang="nb-NO" baseline="0" dirty="0" err="1" smtClean="0"/>
              <a:t>many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things</a:t>
            </a:r>
            <a:r>
              <a:rPr lang="nb-NO" baseline="0" dirty="0" smtClean="0"/>
              <a:t>, </a:t>
            </a:r>
            <a:r>
              <a:rPr lang="nb-NO" baseline="0" dirty="0" err="1" smtClean="0"/>
              <a:t>including</a:t>
            </a:r>
            <a:r>
              <a:rPr lang="nb-NO" baseline="0" dirty="0" smtClean="0"/>
              <a:t> Java and R.</a:t>
            </a:r>
          </a:p>
          <a:p>
            <a:endParaRPr lang="nb-NO" baseline="0" dirty="0" smtClean="0"/>
          </a:p>
          <a:p>
            <a:r>
              <a:rPr lang="nb-NO" baseline="0" dirty="0" err="1" smtClean="0"/>
              <a:t>We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ended</a:t>
            </a:r>
            <a:r>
              <a:rPr lang="nb-NO" baseline="0" dirty="0" smtClean="0"/>
              <a:t> up </a:t>
            </a:r>
            <a:r>
              <a:rPr lang="nb-NO" baseline="0" dirty="0" err="1" smtClean="0"/>
              <a:t>with</a:t>
            </a:r>
            <a:r>
              <a:rPr lang="nb-NO" baseline="0" dirty="0" smtClean="0"/>
              <a:t> Python </a:t>
            </a:r>
            <a:r>
              <a:rPr lang="nb-NO" baseline="0" dirty="0" err="1" smtClean="0"/>
              <a:t>which</a:t>
            </a:r>
            <a:r>
              <a:rPr lang="nb-NO" baseline="0" dirty="0" smtClean="0"/>
              <a:t> has a </a:t>
            </a:r>
            <a:r>
              <a:rPr lang="nb-NO" baseline="0" dirty="0" err="1" smtClean="0"/>
              <a:t>rich</a:t>
            </a:r>
            <a:r>
              <a:rPr lang="nb-NO" baseline="0" dirty="0" smtClean="0"/>
              <a:t> and </a:t>
            </a:r>
            <a:r>
              <a:rPr lang="nb-NO" baseline="0" dirty="0" err="1" smtClean="0"/>
              <a:t>growing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set</a:t>
            </a:r>
            <a:r>
              <a:rPr lang="nb-NO" baseline="0" dirty="0" smtClean="0"/>
              <a:t> </a:t>
            </a:r>
          </a:p>
          <a:p>
            <a:endParaRPr lang="nb-NO" baseline="0" dirty="0" smtClean="0"/>
          </a:p>
          <a:p>
            <a:r>
              <a:rPr lang="nb-NO" baseline="0" dirty="0" smtClean="0"/>
              <a:t>…</a:t>
            </a:r>
            <a:r>
              <a:rPr lang="nb-NO" baseline="0" dirty="0" err="1" smtClean="0"/>
              <a:t>of</a:t>
            </a:r>
            <a:r>
              <a:rPr lang="nb-NO" baseline="0" dirty="0" smtClean="0"/>
              <a:t> </a:t>
            </a:r>
            <a:r>
              <a:rPr lang="nb-NO" baseline="0" dirty="0" err="1" smtClean="0"/>
              <a:t>libraries</a:t>
            </a:r>
            <a:r>
              <a:rPr lang="nb-NO" baseline="0" dirty="0" smtClean="0"/>
              <a:t> for data </a:t>
            </a:r>
            <a:r>
              <a:rPr lang="nb-NO" baseline="0" dirty="0" err="1" smtClean="0"/>
              <a:t>transformations</a:t>
            </a:r>
            <a:r>
              <a:rPr lang="nb-NO" baseline="0" dirty="0" smtClean="0"/>
              <a:t> and analyses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729920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err="1" smtClean="0"/>
              <a:t>StatServer</a:t>
            </a:r>
            <a:r>
              <a:rPr lang="nb-NO" dirty="0" smtClean="0"/>
              <a:t> is </a:t>
            </a:r>
            <a:r>
              <a:rPr lang="nb-NO" dirty="0" err="1" smtClean="0"/>
              <a:t>completely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stateless</a:t>
            </a:r>
            <a:endParaRPr lang="nb-NO" baseline="0" dirty="0" smtClean="0"/>
          </a:p>
          <a:p>
            <a:endParaRPr lang="nb-NO" baseline="0" dirty="0" smtClean="0"/>
          </a:p>
          <a:p>
            <a:r>
              <a:rPr lang="nb-NO" baseline="0" dirty="0" smtClean="0"/>
              <a:t>…and </a:t>
            </a:r>
            <a:r>
              <a:rPr lang="nb-NO" baseline="0" dirty="0" err="1" smtClean="0"/>
              <a:t>operates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on</a:t>
            </a:r>
            <a:r>
              <a:rPr lang="nb-NO" baseline="0" dirty="0" smtClean="0"/>
              <a:t> files </a:t>
            </a:r>
            <a:r>
              <a:rPr lang="nb-NO" baseline="0" dirty="0" err="1" smtClean="0"/>
              <a:t>on</a:t>
            </a:r>
            <a:r>
              <a:rPr lang="nb-NO" baseline="0" dirty="0" smtClean="0"/>
              <a:t> a Storage Area Network (SAN)</a:t>
            </a:r>
          </a:p>
          <a:p>
            <a:endParaRPr lang="nb-NO" baseline="0" dirty="0" smtClean="0"/>
          </a:p>
          <a:p>
            <a:r>
              <a:rPr lang="nb-NO" baseline="0" dirty="0" smtClean="0"/>
              <a:t>It has </a:t>
            </a:r>
            <a:r>
              <a:rPr lang="nb-NO" baseline="0" dirty="0" err="1" smtClean="0"/>
              <a:t>absolutely</a:t>
            </a:r>
            <a:r>
              <a:rPr lang="nb-NO" baseline="0" dirty="0" smtClean="0"/>
              <a:t> </a:t>
            </a:r>
            <a:r>
              <a:rPr lang="nb-NO" baseline="0" dirty="0" err="1" smtClean="0"/>
              <a:t>no</a:t>
            </a:r>
            <a:r>
              <a:rPr lang="nb-NO" baseline="0" dirty="0" smtClean="0"/>
              <a:t> </a:t>
            </a:r>
            <a:r>
              <a:rPr lang="nb-NO" baseline="0" dirty="0" err="1" smtClean="0"/>
              <a:t>idea</a:t>
            </a:r>
            <a:r>
              <a:rPr lang="nb-NO" baseline="0" dirty="0" smtClean="0"/>
              <a:t> </a:t>
            </a:r>
            <a:r>
              <a:rPr lang="nb-NO" baseline="0" dirty="0" err="1" smtClean="0"/>
              <a:t>what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it’s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doing</a:t>
            </a:r>
            <a:r>
              <a:rPr lang="nb-NO" baseline="0" dirty="0" smtClean="0"/>
              <a:t>, and for </a:t>
            </a:r>
            <a:r>
              <a:rPr lang="nb-NO" baseline="0" dirty="0" err="1" smtClean="0"/>
              <a:t>whom</a:t>
            </a:r>
            <a:endParaRPr lang="nb-NO" baseline="0" dirty="0" smtClean="0"/>
          </a:p>
          <a:p>
            <a:endParaRPr lang="nb-NO" baseline="0" dirty="0" smtClean="0"/>
          </a:p>
          <a:p>
            <a:pPr marL="171450" indent="-171450">
              <a:buFontTx/>
              <a:buChar char="-"/>
            </a:pPr>
            <a:r>
              <a:rPr lang="nb-NO" baseline="0" dirty="0" smtClean="0"/>
              <a:t>And all </a:t>
            </a:r>
            <a:r>
              <a:rPr lang="nb-NO" baseline="0" dirty="0" err="1" smtClean="0"/>
              <a:t>modifying</a:t>
            </a:r>
            <a:r>
              <a:rPr lang="nb-NO" baseline="0" dirty="0" smtClean="0"/>
              <a:t> </a:t>
            </a:r>
            <a:r>
              <a:rPr lang="nb-NO" baseline="0" dirty="0" err="1" smtClean="0"/>
              <a:t>operations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result</a:t>
            </a:r>
            <a:r>
              <a:rPr lang="nb-NO" baseline="0" dirty="0" smtClean="0"/>
              <a:t> in a NEW data file </a:t>
            </a:r>
            <a:r>
              <a:rPr lang="nb-NO" baseline="0" dirty="0" err="1" smtClean="0"/>
              <a:t>on</a:t>
            </a:r>
            <a:r>
              <a:rPr lang="nb-NO" baseline="0" dirty="0" smtClean="0"/>
              <a:t> disk</a:t>
            </a:r>
          </a:p>
          <a:p>
            <a:pPr marL="171450" indent="-171450">
              <a:buFontTx/>
              <a:buChar char="-"/>
            </a:pPr>
            <a:endParaRPr lang="nb-NO" baseline="0" dirty="0" smtClean="0"/>
          </a:p>
          <a:p>
            <a:pPr marL="171450" indent="-171450">
              <a:buFontTx/>
              <a:buChar char="-"/>
            </a:pPr>
            <a:r>
              <a:rPr lang="nb-NO" baseline="0" dirty="0" smtClean="0"/>
              <a:t>This has </a:t>
            </a:r>
            <a:r>
              <a:rPr lang="nb-NO" baseline="0" dirty="0" err="1" smtClean="0"/>
              <a:t>many</a:t>
            </a:r>
            <a:r>
              <a:rPr lang="nb-NO" baseline="0" dirty="0" smtClean="0"/>
              <a:t> </a:t>
            </a:r>
            <a:r>
              <a:rPr lang="nb-NO" baseline="0" dirty="0" err="1" smtClean="0"/>
              <a:t>advantages</a:t>
            </a:r>
            <a:r>
              <a:rPr lang="nb-NO" baseline="0" dirty="0" smtClean="0"/>
              <a:t>, </a:t>
            </a:r>
          </a:p>
          <a:p>
            <a:pPr marL="628650" lvl="1" indent="-171450">
              <a:buFontTx/>
              <a:buChar char="-"/>
            </a:pPr>
            <a:r>
              <a:rPr lang="nb-NO" baseline="0" dirty="0" smtClean="0"/>
              <a:t>It </a:t>
            </a:r>
            <a:r>
              <a:rPr lang="nb-NO" baseline="0" dirty="0" err="1" smtClean="0"/>
              <a:t>becomes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very</a:t>
            </a:r>
            <a:r>
              <a:rPr lang="nb-NO" baseline="0" dirty="0" smtClean="0"/>
              <a:t> </a:t>
            </a:r>
            <a:r>
              <a:rPr lang="nb-NO" baseline="0" dirty="0" err="1" smtClean="0"/>
              <a:t>very</a:t>
            </a:r>
            <a:r>
              <a:rPr lang="nb-NO" baseline="0" dirty="0" smtClean="0"/>
              <a:t> simple and </a:t>
            </a:r>
            <a:r>
              <a:rPr lang="nb-NO" baseline="0" dirty="0" err="1" smtClean="0"/>
              <a:t>performant</a:t>
            </a:r>
            <a:endParaRPr lang="nb-NO" baseline="0" dirty="0" smtClean="0"/>
          </a:p>
          <a:p>
            <a:pPr marL="628650" lvl="1" indent="-171450">
              <a:buFontTx/>
              <a:buChar char="-"/>
            </a:pPr>
            <a:r>
              <a:rPr lang="nb-NO" baseline="0" dirty="0" smtClean="0"/>
              <a:t>It </a:t>
            </a:r>
            <a:r>
              <a:rPr lang="nb-NO" baseline="0" dirty="0" err="1" smtClean="0"/>
              <a:t>becomes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possible</a:t>
            </a:r>
            <a:r>
              <a:rPr lang="nb-NO" baseline="0" dirty="0" smtClean="0"/>
              <a:t> to </a:t>
            </a:r>
            <a:r>
              <a:rPr lang="nb-NO" baseline="0" dirty="0" err="1" smtClean="0"/>
              <a:t>set</a:t>
            </a:r>
            <a:r>
              <a:rPr lang="nb-NO" baseline="0" dirty="0" smtClean="0"/>
              <a:t> up </a:t>
            </a:r>
            <a:r>
              <a:rPr lang="nb-NO" baseline="0" dirty="0" err="1" smtClean="0"/>
              <a:t>many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StatServer</a:t>
            </a:r>
            <a:r>
              <a:rPr lang="nb-NO" baseline="0" dirty="0" smtClean="0"/>
              <a:t> nodes for </a:t>
            </a:r>
            <a:r>
              <a:rPr lang="nb-NO" baseline="0" dirty="0" err="1" smtClean="0"/>
              <a:t>horizontal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scalability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729920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The most </a:t>
            </a:r>
            <a:r>
              <a:rPr lang="nb-NO" dirty="0" err="1" smtClean="0"/>
              <a:t>important</a:t>
            </a:r>
            <a:r>
              <a:rPr lang="nb-NO" dirty="0" smtClean="0"/>
              <a:t> </a:t>
            </a:r>
            <a:r>
              <a:rPr lang="nb-NO" dirty="0" err="1" smtClean="0"/>
              <a:t>component</a:t>
            </a:r>
            <a:r>
              <a:rPr lang="nb-NO" dirty="0" smtClean="0"/>
              <a:t> is </a:t>
            </a:r>
            <a:r>
              <a:rPr lang="nb-NO" dirty="0" err="1" smtClean="0"/>
              <a:t>of</a:t>
            </a:r>
            <a:r>
              <a:rPr lang="nb-NO" baseline="0" dirty="0" smtClean="0"/>
              <a:t> </a:t>
            </a:r>
            <a:r>
              <a:rPr lang="nb-NO" baseline="0" dirty="0" err="1" smtClean="0"/>
              <a:t>course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user-facing</a:t>
            </a:r>
            <a:r>
              <a:rPr lang="nb-NO" baseline="0" dirty="0" smtClean="0"/>
              <a:t> </a:t>
            </a:r>
            <a:r>
              <a:rPr lang="nb-NO" baseline="0" dirty="0" err="1" smtClean="0"/>
              <a:t>one</a:t>
            </a:r>
            <a:endParaRPr lang="nb-NO" baseline="0" dirty="0" smtClean="0"/>
          </a:p>
          <a:p>
            <a:endParaRPr lang="nb-NO" baseline="0" dirty="0" smtClean="0"/>
          </a:p>
          <a:p>
            <a:r>
              <a:rPr lang="nb-NO" baseline="0" dirty="0" smtClean="0"/>
              <a:t>The Online Statistical Environment</a:t>
            </a:r>
          </a:p>
          <a:p>
            <a:endParaRPr lang="nb-NO" baseline="0" dirty="0" smtClean="0"/>
          </a:p>
          <a:p>
            <a:r>
              <a:rPr lang="nb-NO" baseline="0" dirty="0" smtClean="0"/>
              <a:t>, </a:t>
            </a:r>
            <a:r>
              <a:rPr lang="nb-NO" baseline="0" dirty="0" err="1" smtClean="0"/>
              <a:t>which</a:t>
            </a:r>
            <a:r>
              <a:rPr lang="nb-NO" baseline="0" dirty="0" smtClean="0"/>
              <a:t> is </a:t>
            </a:r>
            <a:r>
              <a:rPr lang="nb-NO" baseline="0" dirty="0" err="1" smtClean="0"/>
              <a:t>where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user</a:t>
            </a:r>
            <a:r>
              <a:rPr lang="nb-NO" baseline="0" dirty="0" smtClean="0"/>
              <a:t> INTERACTS </a:t>
            </a:r>
            <a:r>
              <a:rPr lang="nb-NO" baseline="0" dirty="0" err="1" smtClean="0"/>
              <a:t>with</a:t>
            </a:r>
            <a:r>
              <a:rPr lang="nb-NO" baseline="0" dirty="0" smtClean="0"/>
              <a:t> data</a:t>
            </a:r>
          </a:p>
          <a:p>
            <a:endParaRPr lang="nb-NO" baseline="0" dirty="0" smtClean="0"/>
          </a:p>
          <a:p>
            <a:r>
              <a:rPr lang="nb-NO" baseline="0" dirty="0" smtClean="0"/>
              <a:t>By </a:t>
            </a:r>
            <a:r>
              <a:rPr lang="nb-NO" baseline="0" dirty="0" err="1" smtClean="0"/>
              <a:t>issuing</a:t>
            </a:r>
            <a:r>
              <a:rPr lang="nb-NO" baseline="0" dirty="0" smtClean="0"/>
              <a:t> </a:t>
            </a:r>
            <a:r>
              <a:rPr lang="nb-NO" baseline="0" dirty="0" err="1" smtClean="0"/>
              <a:t>commands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that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result</a:t>
            </a:r>
            <a:r>
              <a:rPr lang="nb-NO" baseline="0" dirty="0" smtClean="0"/>
              <a:t> in </a:t>
            </a:r>
            <a:r>
              <a:rPr lang="nb-NO" baseline="0" dirty="0" err="1" smtClean="0"/>
              <a:t>queries</a:t>
            </a:r>
            <a:r>
              <a:rPr lang="nb-NO" baseline="0" dirty="0" smtClean="0"/>
              <a:t>, data </a:t>
            </a:r>
            <a:r>
              <a:rPr lang="nb-NO" baseline="0" dirty="0" err="1" smtClean="0"/>
              <a:t>transformations</a:t>
            </a:r>
            <a:r>
              <a:rPr lang="nb-NO" baseline="0" dirty="0" smtClean="0"/>
              <a:t> and analyses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909247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7"/>
          <p:cNvSpPr>
            <a:spLocks noChangeArrowheads="1"/>
          </p:cNvSpPr>
          <p:nvPr/>
        </p:nvSpPr>
        <p:spPr bwMode="auto">
          <a:xfrm>
            <a:off x="8305800" y="762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/>
            <a:fld id="{20B0FEFF-A5DA-490C-8E73-CFB2809D177E}" type="slidenum">
              <a:rPr lang="nb-NO" sz="1400" b="1">
                <a:solidFill>
                  <a:schemeClr val="bg1"/>
                </a:solidFill>
              </a:rPr>
              <a:pPr algn="r"/>
              <a:t>‹#›</a:t>
            </a:fld>
            <a:endParaRPr lang="nb-NO" sz="1400" b="1">
              <a:solidFill>
                <a:schemeClr val="bg1"/>
              </a:solidFill>
            </a:endParaRPr>
          </a:p>
        </p:txBody>
      </p:sp>
      <p:pic>
        <p:nvPicPr>
          <p:cNvPr id="4" name="Picture 3" descr="C:\Users\bo\Desktop\raird-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6453188"/>
            <a:ext cx="1208088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kstSylinder 4"/>
          <p:cNvSpPr txBox="1">
            <a:spLocks noChangeArrowheads="1"/>
          </p:cNvSpPr>
          <p:nvPr userDrawn="1"/>
        </p:nvSpPr>
        <p:spPr bwMode="auto">
          <a:xfrm>
            <a:off x="323850" y="6453188"/>
            <a:ext cx="67691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2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2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2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2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nb-NO" sz="1100" dirty="0" smtClean="0"/>
              <a:t>REMOTE ACCESS INFRASTRUCTURE FOR REGISTER DATA </a:t>
            </a:r>
            <a:r>
              <a:rPr lang="nb-NO" sz="1100" dirty="0" smtClean="0">
                <a:solidFill>
                  <a:srgbClr val="0B5395"/>
                </a:solidFill>
              </a:rPr>
              <a:t>/ www.raird.no</a:t>
            </a:r>
          </a:p>
        </p:txBody>
      </p:sp>
      <p:sp>
        <p:nvSpPr>
          <p:cNvPr id="440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827584" y="1988840"/>
            <a:ext cx="7704856" cy="403244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nb-NO" noProof="0" dirty="0" smtClean="0"/>
              <a:t>Klikk for å redigere undertittelstil i malen</a:t>
            </a:r>
          </a:p>
        </p:txBody>
      </p:sp>
    </p:spTree>
    <p:extLst>
      <p:ext uri="{BB962C8B-B14F-4D97-AF65-F5344CB8AC3E}">
        <p14:creationId xmlns:p14="http://schemas.microsoft.com/office/powerpoint/2010/main" val="568166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65426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369196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533400" y="1752600"/>
            <a:ext cx="4114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800600" y="1752600"/>
            <a:ext cx="4114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4021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2972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97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557338"/>
            <a:ext cx="8382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Klikk for å redigere tekststilene i delmalen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</p:txBody>
      </p:sp>
      <p:pic>
        <p:nvPicPr>
          <p:cNvPr id="1027" name="Picture 3" descr="C:\Users\bo\Desktop\raird-logo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260350"/>
            <a:ext cx="21748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TekstSylinder 9"/>
          <p:cNvSpPr txBox="1">
            <a:spLocks noChangeArrowheads="1"/>
          </p:cNvSpPr>
          <p:nvPr userDrawn="1"/>
        </p:nvSpPr>
        <p:spPr bwMode="auto">
          <a:xfrm>
            <a:off x="468313" y="6524625"/>
            <a:ext cx="676751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2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2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2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2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nb-NO" sz="1100" dirty="0" smtClean="0"/>
              <a:t>Remote Access Infrastructure for Register Data </a:t>
            </a:r>
            <a:r>
              <a:rPr lang="nb-NO" sz="1100" dirty="0" smtClean="0">
                <a:solidFill>
                  <a:srgbClr val="0B5395"/>
                </a:solidFill>
              </a:rPr>
              <a:t>/ www.raird.no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Calibri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charset="0"/>
        </a:defRPr>
      </a:lvl9pPr>
    </p:titleStyle>
    <p:bodyStyle>
      <a:lvl1pPr marL="246063" indent="-246063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SzPct val="13000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663575" indent="-2270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rgbClr val="000000"/>
          </a:solidFill>
          <a:latin typeface="+mn-lt"/>
        </a:defRPr>
      </a:lvl2pPr>
      <a:lvl3pPr marL="1049338" indent="-195263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Font typeface="Wingdings" pitchFamily="2" charset="2"/>
        <a:buChar char="w"/>
        <a:defRPr>
          <a:solidFill>
            <a:srgbClr val="000000"/>
          </a:solidFill>
          <a:latin typeface="+mn-lt"/>
        </a:defRPr>
      </a:lvl3pPr>
      <a:lvl4pPr marL="1616075" indent="-282575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Char char="–"/>
        <a:defRPr sz="1600">
          <a:solidFill>
            <a:srgbClr val="000000"/>
          </a:solidFill>
          <a:latin typeface="+mn-lt"/>
        </a:defRPr>
      </a:lvl4pPr>
      <a:lvl5pPr marL="21129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701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30273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845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9417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gi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ornulf.risnes@nsd.no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34400" y="6477000"/>
            <a:ext cx="3937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2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2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2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9pPr>
          </a:lstStyle>
          <a:p>
            <a:fld id="{3D495653-ABD1-4B8A-9E0D-890DD863A430}" type="slidenum">
              <a:rPr lang="nb-NO" sz="1200"/>
              <a:pPr/>
              <a:t>1</a:t>
            </a:fld>
            <a:endParaRPr lang="nb-NO" sz="120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755576" y="548680"/>
            <a:ext cx="71628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nb-NO" sz="4400" dirty="0" smtClean="0"/>
              <a:t>RAIRD </a:t>
            </a:r>
            <a:br>
              <a:rPr lang="nb-NO" sz="4400" dirty="0" smtClean="0"/>
            </a:br>
            <a:r>
              <a:rPr lang="nb-NO" sz="4400" dirty="0" smtClean="0"/>
              <a:t>Remote Access Infrastructure for Register </a:t>
            </a:r>
            <a:r>
              <a:rPr lang="nb-NO" sz="4400" dirty="0" smtClean="0"/>
              <a:t>Data</a:t>
            </a:r>
            <a:br>
              <a:rPr lang="nb-NO" sz="4400" dirty="0" smtClean="0"/>
            </a:br>
            <a:r>
              <a:rPr lang="nb-NO" sz="4400" dirty="0" smtClean="0"/>
              <a:t/>
            </a:r>
            <a:br>
              <a:rPr lang="nb-NO" sz="4400" dirty="0" smtClean="0"/>
            </a:br>
            <a:r>
              <a:rPr lang="nb-NO" sz="2800" dirty="0" smtClean="0"/>
              <a:t>Beyond </a:t>
            </a:r>
            <a:r>
              <a:rPr lang="nb-NO" sz="2800" dirty="0" err="1" smtClean="0"/>
              <a:t>Discovery</a:t>
            </a:r>
            <a:r>
              <a:rPr lang="nb-NO" sz="2800" dirty="0" smtClean="0"/>
              <a:t> – </a:t>
            </a:r>
            <a:r>
              <a:rPr lang="nb-NO" sz="2800" smtClean="0"/>
              <a:t>Technical Solutions</a:t>
            </a:r>
            <a:r>
              <a:rPr lang="nb-NO" sz="4400" dirty="0" smtClean="0"/>
              <a:t/>
            </a:r>
            <a:br>
              <a:rPr lang="nb-NO" sz="4400" dirty="0" smtClean="0"/>
            </a:br>
            <a:r>
              <a:rPr lang="nb-NO" sz="1800" dirty="0" smtClean="0"/>
              <a:t/>
            </a:r>
            <a:br>
              <a:rPr lang="nb-NO" sz="1800" dirty="0" smtClean="0"/>
            </a:br>
            <a:r>
              <a:rPr lang="nb-NO" sz="1400" dirty="0"/>
              <a:t/>
            </a:r>
            <a:br>
              <a:rPr lang="nb-NO" sz="1400" dirty="0"/>
            </a:br>
            <a:r>
              <a:rPr lang="nb-NO" sz="1400" dirty="0" smtClean="0"/>
              <a:t>Ørnulf Risnes, </a:t>
            </a:r>
            <a:br>
              <a:rPr lang="nb-NO" sz="1400" dirty="0" smtClean="0"/>
            </a:br>
            <a:r>
              <a:rPr lang="nb-NO" sz="1400" dirty="0" smtClean="0"/>
              <a:t>Norwegian </a:t>
            </a:r>
            <a:r>
              <a:rPr lang="nb-NO" sz="1400" dirty="0" err="1" smtClean="0"/>
              <a:t>Social</a:t>
            </a:r>
            <a:r>
              <a:rPr lang="nb-NO" sz="1400" dirty="0" smtClean="0"/>
              <a:t> </a:t>
            </a:r>
            <a:r>
              <a:rPr lang="nb-NO" sz="1400" dirty="0" err="1" smtClean="0"/>
              <a:t>Science</a:t>
            </a:r>
            <a:r>
              <a:rPr lang="nb-NO" sz="1400" dirty="0" smtClean="0"/>
              <a:t> Data Services (NSD)</a:t>
            </a:r>
            <a:br>
              <a:rPr lang="nb-NO" sz="1400" dirty="0" smtClean="0"/>
            </a:br>
            <a:r>
              <a:rPr lang="nb-NO" sz="1400" dirty="0" smtClean="0"/>
              <a:t>&lt;ornulf.risnes@nsd.uib.no&gt;</a:t>
            </a:r>
            <a:br>
              <a:rPr lang="nb-NO" sz="1400" dirty="0" smtClean="0"/>
            </a:br>
            <a:r>
              <a:rPr lang="nb-NO" sz="1400" dirty="0" smtClean="0"/>
              <a:t/>
            </a:r>
            <a:br>
              <a:rPr lang="nb-NO" sz="1400" dirty="0" smtClean="0"/>
            </a:br>
            <a:r>
              <a:rPr lang="nb-NO" sz="1400" dirty="0" smtClean="0"/>
              <a:t>EDDI 2015</a:t>
            </a:r>
            <a:r>
              <a:rPr lang="nb-NO" sz="1400" dirty="0" smtClean="0"/>
              <a:t/>
            </a:r>
            <a:br>
              <a:rPr lang="nb-NO" sz="1400" dirty="0" smtClean="0"/>
            </a:br>
            <a:r>
              <a:rPr lang="nb-NO" sz="1400" dirty="0" smtClean="0"/>
              <a:t>Copenhagen </a:t>
            </a:r>
            <a:r>
              <a:rPr lang="nb-NO" sz="1400" dirty="0"/>
              <a:t>2</a:t>
            </a:r>
            <a:r>
              <a:rPr lang="nb-NO" sz="1400" dirty="0" smtClean="0"/>
              <a:t> </a:t>
            </a:r>
            <a:r>
              <a:rPr lang="nb-NO" sz="1400" dirty="0" err="1" smtClean="0"/>
              <a:t>December</a:t>
            </a:r>
            <a:r>
              <a:rPr lang="nb-NO" sz="1400" dirty="0" smtClean="0"/>
              <a:t> </a:t>
            </a:r>
            <a:r>
              <a:rPr lang="nb-NO" sz="1400" dirty="0" smtClean="0"/>
              <a:t>2015</a:t>
            </a:r>
            <a:r>
              <a:rPr lang="nb-NO" sz="2800" dirty="0"/>
              <a:t/>
            </a:r>
            <a:br>
              <a:rPr lang="nb-NO" sz="2800" dirty="0"/>
            </a:br>
            <a:r>
              <a:rPr lang="nb-NO" sz="3600" dirty="0" smtClean="0"/>
              <a:t/>
            </a:r>
            <a:br>
              <a:rPr lang="nb-NO" sz="3600" dirty="0" smtClean="0"/>
            </a:br>
            <a:r>
              <a:rPr lang="nb-NO" sz="4400" dirty="0"/>
              <a:t/>
            </a:r>
            <a:br>
              <a:rPr lang="nb-NO" sz="4400" dirty="0"/>
            </a:br>
            <a:endParaRPr lang="nb-NO" sz="2000" dirty="0" smtClean="0"/>
          </a:p>
        </p:txBody>
      </p:sp>
      <p:pic>
        <p:nvPicPr>
          <p:cNvPr id="1026" name="Picture 2" descr="https://pbs.twimg.com/profile_images/562974788772048896/H8o0lpcd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642618"/>
            <a:ext cx="886991" cy="886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SB logo (Gå til forsiden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760883"/>
            <a:ext cx="3226296" cy="65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or.NSD\AppData\Local\Temp\FRlogoEngrgb-farger,0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2515" y="5951531"/>
            <a:ext cx="1440160" cy="265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3"/>
    </mc:Choice>
    <mc:Fallback>
      <p:transition spd="slow" advTm="563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innhold 4"/>
          <p:cNvSpPr>
            <a:spLocks noGrp="1"/>
          </p:cNvSpPr>
          <p:nvPr>
            <p:ph idx="1"/>
          </p:nvPr>
        </p:nvSpPr>
        <p:spPr>
          <a:xfrm>
            <a:off x="488950" y="1052736"/>
            <a:ext cx="8382000" cy="5152802"/>
          </a:xfrm>
        </p:spPr>
        <p:txBody>
          <a:bodyPr/>
          <a:lstStyle/>
          <a:p>
            <a:pPr marL="0" indent="0">
              <a:buNone/>
            </a:pPr>
            <a:r>
              <a:rPr lang="nb-NO" sz="2800" dirty="0" smtClean="0">
                <a:latin typeface="+mj-lt"/>
              </a:rPr>
              <a:t>Goal </a:t>
            </a:r>
            <a:r>
              <a:rPr lang="nb-NO" sz="2800" dirty="0" err="1" smtClean="0">
                <a:latin typeface="+mj-lt"/>
              </a:rPr>
              <a:t>of</a:t>
            </a:r>
            <a:r>
              <a:rPr lang="nb-NO" sz="2800" dirty="0" smtClean="0">
                <a:latin typeface="+mj-lt"/>
              </a:rPr>
              <a:t> RAIRD:</a:t>
            </a:r>
            <a:br>
              <a:rPr lang="nb-NO" sz="2800" dirty="0" smtClean="0">
                <a:latin typeface="+mj-lt"/>
              </a:rPr>
            </a:br>
            <a:r>
              <a:rPr lang="nb-NO" sz="2800" dirty="0" err="1" smtClean="0">
                <a:latin typeface="+mj-lt"/>
              </a:rPr>
              <a:t>Increase</a:t>
            </a:r>
            <a:r>
              <a:rPr lang="nb-NO" sz="2800" dirty="0" smtClean="0">
                <a:latin typeface="+mj-lt"/>
              </a:rPr>
              <a:t> research </a:t>
            </a:r>
            <a:r>
              <a:rPr lang="nb-NO" sz="2800" dirty="0" err="1" smtClean="0">
                <a:latin typeface="+mj-lt"/>
              </a:rPr>
              <a:t>on</a:t>
            </a:r>
            <a:r>
              <a:rPr lang="nb-NO" sz="2800" dirty="0" smtClean="0">
                <a:latin typeface="+mj-lt"/>
              </a:rPr>
              <a:t> data from administrative registers</a:t>
            </a:r>
            <a:endParaRPr lang="nb-NO" sz="2800" dirty="0">
              <a:latin typeface="+mj-lt"/>
            </a:endParaRPr>
          </a:p>
        </p:txBody>
      </p:sp>
      <p:grpSp>
        <p:nvGrpSpPr>
          <p:cNvPr id="11" name="Gruppe 10"/>
          <p:cNvGrpSpPr/>
          <p:nvPr/>
        </p:nvGrpSpPr>
        <p:grpSpPr>
          <a:xfrm>
            <a:off x="827584" y="2636912"/>
            <a:ext cx="7632848" cy="2239178"/>
            <a:chOff x="467544" y="4301550"/>
            <a:chExt cx="7632848" cy="2239178"/>
          </a:xfrm>
        </p:grpSpPr>
        <p:sp>
          <p:nvSpPr>
            <p:cNvPr id="6" name="Sylinder 5"/>
            <p:cNvSpPr/>
            <p:nvPr/>
          </p:nvSpPr>
          <p:spPr bwMode="auto">
            <a:xfrm>
              <a:off x="5220072" y="5219491"/>
              <a:ext cx="1440160" cy="1321237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rgbClr val="3366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nb-NO" dirty="0" err="1" smtClean="0">
                  <a:solidFill>
                    <a:srgbClr val="336699"/>
                  </a:solidFill>
                </a:rPr>
                <a:t>Tax</a:t>
              </a:r>
              <a:r>
                <a:rPr lang="nb-NO" dirty="0">
                  <a:solidFill>
                    <a:srgbClr val="336699"/>
                  </a:solidFill>
                </a:rPr>
                <a:t>/</a:t>
              </a:r>
              <a:endParaRPr lang="nb-NO" dirty="0" smtClean="0">
                <a:solidFill>
                  <a:srgbClr val="336699"/>
                </a:solidFill>
              </a:endParaRPr>
            </a:p>
            <a:p>
              <a:pPr algn="ctr"/>
              <a:r>
                <a:rPr lang="nb-NO" dirty="0" smtClean="0">
                  <a:solidFill>
                    <a:srgbClr val="336699"/>
                  </a:solidFill>
                </a:rPr>
                <a:t>Income</a:t>
              </a:r>
            </a:p>
          </p:txBody>
        </p:sp>
        <p:sp>
          <p:nvSpPr>
            <p:cNvPr id="7" name="Sylinder 6"/>
            <p:cNvSpPr/>
            <p:nvPr/>
          </p:nvSpPr>
          <p:spPr bwMode="auto">
            <a:xfrm>
              <a:off x="467544" y="5157192"/>
              <a:ext cx="1440160" cy="1321237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rgbClr val="3366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nb-NO" dirty="0" err="1" smtClean="0">
                  <a:solidFill>
                    <a:srgbClr val="336699"/>
                  </a:solidFill>
                </a:rPr>
                <a:t>Civil</a:t>
              </a:r>
              <a:endParaRPr lang="nb-NO" dirty="0" smtClean="0">
                <a:solidFill>
                  <a:srgbClr val="336699"/>
                </a:solidFill>
              </a:endParaRPr>
            </a:p>
            <a:p>
              <a:pPr algn="ctr"/>
              <a:r>
                <a:rPr lang="nb-NO" smtClean="0">
                  <a:solidFill>
                    <a:srgbClr val="336699"/>
                  </a:solidFill>
                </a:rPr>
                <a:t>Regist</a:t>
              </a:r>
              <a:endParaRPr lang="nb-NO" dirty="0" smtClean="0">
                <a:solidFill>
                  <a:srgbClr val="336699"/>
                </a:solidFill>
              </a:endParaRPr>
            </a:p>
          </p:txBody>
        </p:sp>
        <p:sp>
          <p:nvSpPr>
            <p:cNvPr id="8" name="Sylinder 7"/>
            <p:cNvSpPr/>
            <p:nvPr/>
          </p:nvSpPr>
          <p:spPr bwMode="auto">
            <a:xfrm>
              <a:off x="1907704" y="4301550"/>
              <a:ext cx="1656184" cy="2176879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rgbClr val="3366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nb-NO" dirty="0" smtClean="0">
                  <a:solidFill>
                    <a:srgbClr val="336699"/>
                  </a:solidFill>
                </a:rPr>
                <a:t>Statistics </a:t>
              </a:r>
              <a:r>
                <a:rPr lang="nb-NO" dirty="0" err="1" smtClean="0">
                  <a:solidFill>
                    <a:srgbClr val="336699"/>
                  </a:solidFill>
                </a:rPr>
                <a:t>Norway’s</a:t>
              </a:r>
              <a:endParaRPr lang="nb-NO" dirty="0" smtClean="0">
                <a:solidFill>
                  <a:srgbClr val="336699"/>
                </a:solidFill>
              </a:endParaRPr>
            </a:p>
            <a:p>
              <a:pPr algn="ctr"/>
              <a:r>
                <a:rPr lang="nb-NO" dirty="0" err="1" smtClean="0">
                  <a:solidFill>
                    <a:srgbClr val="336699"/>
                  </a:solidFill>
                </a:rPr>
                <a:t>Events</a:t>
              </a:r>
              <a:endParaRPr lang="nb-NO" dirty="0" smtClean="0">
                <a:solidFill>
                  <a:srgbClr val="336699"/>
                </a:solidFill>
              </a:endParaRPr>
            </a:p>
            <a:p>
              <a:pPr algn="ctr"/>
              <a:r>
                <a:rPr lang="nb-NO" dirty="0" smtClean="0">
                  <a:solidFill>
                    <a:srgbClr val="336699"/>
                  </a:solidFill>
                </a:rPr>
                <a:t>DB</a:t>
              </a:r>
            </a:p>
          </p:txBody>
        </p:sp>
        <p:sp>
          <p:nvSpPr>
            <p:cNvPr id="9" name="Sylinder 8"/>
            <p:cNvSpPr/>
            <p:nvPr/>
          </p:nvSpPr>
          <p:spPr bwMode="auto">
            <a:xfrm>
              <a:off x="3563888" y="4725144"/>
              <a:ext cx="1656184" cy="1815584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rgbClr val="3366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nb-NO" dirty="0" smtClean="0">
                  <a:solidFill>
                    <a:srgbClr val="336699"/>
                  </a:solidFill>
                </a:rPr>
                <a:t>National </a:t>
              </a:r>
              <a:r>
                <a:rPr lang="nb-NO" dirty="0" err="1" smtClean="0">
                  <a:solidFill>
                    <a:srgbClr val="336699"/>
                  </a:solidFill>
                </a:rPr>
                <a:t>Education</a:t>
              </a:r>
              <a:endParaRPr lang="nb-NO" dirty="0" smtClean="0">
                <a:solidFill>
                  <a:srgbClr val="336699"/>
                </a:solidFill>
              </a:endParaRPr>
            </a:p>
            <a:p>
              <a:pPr algn="ctr"/>
              <a:r>
                <a:rPr lang="nb-NO" dirty="0" smtClean="0">
                  <a:solidFill>
                    <a:srgbClr val="336699"/>
                  </a:solidFill>
                </a:rPr>
                <a:t>DB</a:t>
              </a:r>
            </a:p>
          </p:txBody>
        </p:sp>
        <p:sp>
          <p:nvSpPr>
            <p:cNvPr id="10" name="Sylinder 9"/>
            <p:cNvSpPr/>
            <p:nvPr/>
          </p:nvSpPr>
          <p:spPr bwMode="auto">
            <a:xfrm>
              <a:off x="6660232" y="5744409"/>
              <a:ext cx="1440160" cy="734020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rgbClr val="3366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nb-NO" dirty="0" smtClean="0">
                <a:solidFill>
                  <a:srgbClr val="336699"/>
                </a:solidFill>
              </a:endParaRPr>
            </a:p>
          </p:txBody>
        </p:sp>
      </p:grpSp>
      <p:pic>
        <p:nvPicPr>
          <p:cNvPr id="12" name="Picture 4" descr="SSB logo (Gå til forsiden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876" y="5121877"/>
            <a:ext cx="3226296" cy="65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5258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10"/>
    </mc:Choice>
    <mc:Fallback>
      <p:transition spd="slow" advTm="121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innhold 4"/>
          <p:cNvSpPr>
            <a:spLocks noGrp="1"/>
          </p:cNvSpPr>
          <p:nvPr>
            <p:ph idx="1"/>
          </p:nvPr>
        </p:nvSpPr>
        <p:spPr>
          <a:xfrm>
            <a:off x="488950" y="1052736"/>
            <a:ext cx="8382000" cy="5152802"/>
          </a:xfrm>
        </p:spPr>
        <p:txBody>
          <a:bodyPr/>
          <a:lstStyle/>
          <a:p>
            <a:pPr marL="0" indent="0">
              <a:buNone/>
            </a:pPr>
            <a:r>
              <a:rPr lang="nb-NO" sz="4000" b="1" dirty="0" err="1" smtClean="0">
                <a:solidFill>
                  <a:schemeClr val="accent6">
                    <a:lumMod val="50000"/>
                  </a:schemeClr>
                </a:solidFill>
                <a:latin typeface="+mj-lt"/>
              </a:rPr>
              <a:t>Strengths</a:t>
            </a:r>
            <a:r>
              <a:rPr lang="nb-NO" sz="4000" b="1" dirty="0" smtClean="0">
                <a:solidFill>
                  <a:schemeClr val="accent6">
                    <a:lumMod val="50000"/>
                  </a:schemeClr>
                </a:solidFill>
                <a:latin typeface="+mj-lt"/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nb-NO" sz="2400" b="1" dirty="0" smtClean="0">
                <a:latin typeface="+mj-lt"/>
              </a:rPr>
              <a:t>Full </a:t>
            </a:r>
            <a:r>
              <a:rPr lang="nb-NO" sz="2400" b="1" dirty="0" err="1" smtClean="0">
                <a:latin typeface="+mj-lt"/>
              </a:rPr>
              <a:t>population</a:t>
            </a:r>
            <a:r>
              <a:rPr lang="nb-NO" sz="2400" b="1" dirty="0" smtClean="0">
                <a:latin typeface="+mj-lt"/>
              </a:rPr>
              <a:t> registers </a:t>
            </a:r>
            <a:r>
              <a:rPr lang="nb-NO" sz="2400" dirty="0" err="1" smtClean="0">
                <a:latin typeface="+mj-lt"/>
              </a:rPr>
              <a:t>may</a:t>
            </a:r>
            <a:r>
              <a:rPr lang="nb-NO" sz="2400" dirty="0" smtClean="0">
                <a:latin typeface="+mj-lt"/>
              </a:rPr>
              <a:t> be used for research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nb-NO" sz="2400" dirty="0" err="1" smtClean="0">
                <a:latin typeface="+mj-lt"/>
              </a:rPr>
              <a:t>Approved</a:t>
            </a:r>
            <a:r>
              <a:rPr lang="nb-NO" sz="2400" dirty="0" smtClean="0">
                <a:latin typeface="+mj-lt"/>
              </a:rPr>
              <a:t> </a:t>
            </a:r>
            <a:r>
              <a:rPr lang="nb-NO" sz="2400" dirty="0" err="1" smtClean="0">
                <a:latin typeface="+mj-lt"/>
              </a:rPr>
              <a:t>researchers</a:t>
            </a:r>
            <a:r>
              <a:rPr lang="nb-NO" sz="2400" dirty="0" smtClean="0">
                <a:latin typeface="+mj-lt"/>
              </a:rPr>
              <a:t> </a:t>
            </a:r>
            <a:r>
              <a:rPr lang="nb-NO" sz="2400" dirty="0" err="1" smtClean="0">
                <a:latin typeface="+mj-lt"/>
              </a:rPr>
              <a:t>get</a:t>
            </a:r>
            <a:r>
              <a:rPr lang="nb-NO" sz="2400" dirty="0" smtClean="0">
                <a:latin typeface="+mj-lt"/>
              </a:rPr>
              <a:t> </a:t>
            </a:r>
            <a:r>
              <a:rPr lang="nb-NO" sz="2400" dirty="0" err="1" smtClean="0">
                <a:latin typeface="+mj-lt"/>
              </a:rPr>
              <a:t>copies</a:t>
            </a:r>
            <a:r>
              <a:rPr lang="nb-NO" sz="2400" dirty="0" smtClean="0">
                <a:latin typeface="+mj-lt"/>
              </a:rPr>
              <a:t> </a:t>
            </a:r>
            <a:r>
              <a:rPr lang="nb-NO" sz="2400" dirty="0" err="1" smtClean="0">
                <a:latin typeface="+mj-lt"/>
              </a:rPr>
              <a:t>of</a:t>
            </a:r>
            <a:r>
              <a:rPr lang="nb-NO" sz="2400" dirty="0" smtClean="0">
                <a:latin typeface="+mj-lt"/>
              </a:rPr>
              <a:t> data </a:t>
            </a:r>
            <a:r>
              <a:rPr lang="nb-NO" sz="2400" dirty="0" err="1" smtClean="0">
                <a:latin typeface="+mj-lt"/>
              </a:rPr>
              <a:t>sets</a:t>
            </a:r>
            <a:endParaRPr lang="nb-NO" sz="2400" dirty="0" smtClean="0">
              <a:latin typeface="+mj-lt"/>
            </a:endParaRPr>
          </a:p>
          <a:p>
            <a:pPr marL="0" indent="0">
              <a:buNone/>
            </a:pPr>
            <a:r>
              <a:rPr lang="nb-NO" sz="4400" b="1" dirty="0" err="1" smtClean="0">
                <a:solidFill>
                  <a:srgbClr val="C00000"/>
                </a:solidFill>
                <a:latin typeface="+mj-lt"/>
              </a:rPr>
              <a:t>Weaknesses</a:t>
            </a:r>
            <a:r>
              <a:rPr lang="nb-NO" sz="4400" b="1" dirty="0" smtClean="0">
                <a:solidFill>
                  <a:srgbClr val="C00000"/>
                </a:solidFill>
                <a:latin typeface="+mj-lt"/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nb-NO" sz="2400" dirty="0" err="1" smtClean="0">
                <a:latin typeface="+mj-lt"/>
              </a:rPr>
              <a:t>Approval</a:t>
            </a:r>
            <a:r>
              <a:rPr lang="nb-NO" sz="2400" dirty="0" smtClean="0">
                <a:latin typeface="+mj-lt"/>
              </a:rPr>
              <a:t> </a:t>
            </a:r>
            <a:r>
              <a:rPr lang="nb-NO" sz="2400" dirty="0" err="1" smtClean="0">
                <a:latin typeface="+mj-lt"/>
              </a:rPr>
              <a:t>process</a:t>
            </a:r>
            <a:r>
              <a:rPr lang="nb-NO" sz="2400" dirty="0" smtClean="0">
                <a:latin typeface="+mj-lt"/>
              </a:rPr>
              <a:t> is </a:t>
            </a:r>
            <a:r>
              <a:rPr lang="nb-NO" sz="2400" dirty="0" err="1" smtClean="0">
                <a:latin typeface="+mj-lt"/>
              </a:rPr>
              <a:t>complicated</a:t>
            </a:r>
            <a:endParaRPr lang="nb-NO" sz="2400" dirty="0" smtClean="0">
              <a:latin typeface="+mj-lt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nb-NO" sz="2000" dirty="0" err="1" smtClean="0">
                <a:latin typeface="+mj-lt"/>
              </a:rPr>
              <a:t>Involves</a:t>
            </a:r>
            <a:r>
              <a:rPr lang="nb-NO" sz="2000" dirty="0" smtClean="0">
                <a:latin typeface="+mj-lt"/>
              </a:rPr>
              <a:t> data </a:t>
            </a:r>
            <a:r>
              <a:rPr lang="nb-NO" sz="2000" dirty="0" err="1" smtClean="0">
                <a:latin typeface="+mj-lt"/>
              </a:rPr>
              <a:t>inspectorate</a:t>
            </a:r>
            <a:r>
              <a:rPr lang="nb-NO" sz="2000" dirty="0" smtClean="0">
                <a:latin typeface="+mj-lt"/>
              </a:rPr>
              <a:t>, register </a:t>
            </a:r>
            <a:r>
              <a:rPr lang="nb-NO" sz="2000" dirty="0" err="1" smtClean="0">
                <a:latin typeface="+mj-lt"/>
              </a:rPr>
              <a:t>owners</a:t>
            </a:r>
            <a:endParaRPr lang="nb-NO" sz="2000" dirty="0" smtClean="0">
              <a:latin typeface="+mj-lt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nb-NO" sz="2000" dirty="0">
                <a:latin typeface="+mj-lt"/>
              </a:rPr>
              <a:t>The «</a:t>
            </a:r>
            <a:r>
              <a:rPr lang="nb-NO" sz="2000" dirty="0" err="1">
                <a:latin typeface="+mj-lt"/>
              </a:rPr>
              <a:t>Need</a:t>
            </a:r>
            <a:r>
              <a:rPr lang="nb-NO" sz="2000" dirty="0">
                <a:latin typeface="+mj-lt"/>
              </a:rPr>
              <a:t> to </a:t>
            </a:r>
            <a:r>
              <a:rPr lang="nb-NO" sz="2000" dirty="0" err="1">
                <a:latin typeface="+mj-lt"/>
              </a:rPr>
              <a:t>know</a:t>
            </a:r>
            <a:r>
              <a:rPr lang="nb-NO" sz="2000" dirty="0">
                <a:latin typeface="+mj-lt"/>
              </a:rPr>
              <a:t>»-</a:t>
            </a:r>
            <a:r>
              <a:rPr lang="nb-NO" sz="2000" dirty="0" err="1">
                <a:latin typeface="+mj-lt"/>
              </a:rPr>
              <a:t>principle</a:t>
            </a:r>
            <a:r>
              <a:rPr lang="nb-NO" sz="2000" dirty="0">
                <a:latin typeface="+mj-lt"/>
              </a:rPr>
              <a:t> </a:t>
            </a:r>
            <a:r>
              <a:rPr lang="nb-NO" sz="2000" b="1" dirty="0" err="1" smtClean="0">
                <a:latin typeface="+mj-lt"/>
              </a:rPr>
              <a:t>prevents</a:t>
            </a:r>
            <a:r>
              <a:rPr lang="nb-NO" sz="2000" b="1" dirty="0" smtClean="0">
                <a:latin typeface="+mj-lt"/>
              </a:rPr>
              <a:t> data </a:t>
            </a:r>
            <a:r>
              <a:rPr lang="nb-NO" sz="2000" b="1" dirty="0" err="1" smtClean="0">
                <a:latin typeface="+mj-lt"/>
              </a:rPr>
              <a:t>exploration</a:t>
            </a:r>
            <a:endParaRPr lang="nb-NO" sz="2000" dirty="0">
              <a:latin typeface="+mj-lt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nb-NO" sz="2000" b="1" dirty="0" err="1" smtClean="0">
                <a:latin typeface="+mj-lt"/>
              </a:rPr>
              <a:t>Can</a:t>
            </a:r>
            <a:r>
              <a:rPr lang="nb-NO" sz="2000" b="1" dirty="0" smtClean="0">
                <a:latin typeface="+mj-lt"/>
              </a:rPr>
              <a:t> </a:t>
            </a:r>
            <a:r>
              <a:rPr lang="nb-NO" sz="2000" b="1" dirty="0" err="1" smtClean="0">
                <a:latin typeface="+mj-lt"/>
              </a:rPr>
              <a:t>take</a:t>
            </a:r>
            <a:r>
              <a:rPr lang="nb-NO" sz="2000" b="1" dirty="0" smtClean="0">
                <a:latin typeface="+mj-lt"/>
              </a:rPr>
              <a:t> 6-12 </a:t>
            </a:r>
            <a:r>
              <a:rPr lang="nb-NO" sz="2000" b="1" dirty="0" err="1" smtClean="0">
                <a:latin typeface="+mj-lt"/>
              </a:rPr>
              <a:t>months</a:t>
            </a:r>
            <a:endParaRPr lang="nb-NO" sz="2000" b="1" dirty="0" smtClean="0">
              <a:latin typeface="+mj-lt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nb-NO" sz="2400" dirty="0" smtClean="0">
                <a:latin typeface="+mj-lt"/>
              </a:rPr>
              <a:t>Data preparation (by </a:t>
            </a:r>
            <a:r>
              <a:rPr lang="nb-NO" sz="2400" dirty="0" smtClean="0">
                <a:latin typeface="+mj-lt"/>
              </a:rPr>
              <a:t>SSB</a:t>
            </a:r>
            <a:r>
              <a:rPr lang="nb-NO" sz="2400" dirty="0" smtClean="0">
                <a:latin typeface="+mj-lt"/>
              </a:rPr>
              <a:t>) is </a:t>
            </a:r>
            <a:r>
              <a:rPr lang="nb-NO" sz="2400" dirty="0" err="1" smtClean="0">
                <a:latin typeface="+mj-lt"/>
              </a:rPr>
              <a:t>resource</a:t>
            </a:r>
            <a:r>
              <a:rPr lang="nb-NO" sz="2400" dirty="0" smtClean="0">
                <a:latin typeface="+mj-lt"/>
              </a:rPr>
              <a:t> intensive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nb-NO" sz="2000" dirty="0" smtClean="0">
                <a:latin typeface="+mj-lt"/>
              </a:rPr>
              <a:t>SSB not </a:t>
            </a:r>
            <a:r>
              <a:rPr lang="nb-NO" sz="2000" dirty="0" err="1" smtClean="0">
                <a:latin typeface="+mj-lt"/>
              </a:rPr>
              <a:t>funded</a:t>
            </a:r>
            <a:r>
              <a:rPr lang="nb-NO" sz="2000" dirty="0" smtClean="0">
                <a:latin typeface="+mj-lt"/>
              </a:rPr>
              <a:t> for </a:t>
            </a:r>
            <a:r>
              <a:rPr lang="nb-NO" sz="2000" dirty="0" err="1" smtClean="0">
                <a:latin typeface="+mj-lt"/>
              </a:rPr>
              <a:t>this</a:t>
            </a:r>
            <a:r>
              <a:rPr lang="nb-NO" sz="2000" dirty="0" smtClean="0">
                <a:latin typeface="+mj-lt"/>
              </a:rPr>
              <a:t> - </a:t>
            </a:r>
            <a:r>
              <a:rPr lang="nb-NO" sz="2000" b="1" dirty="0" err="1" smtClean="0">
                <a:latin typeface="+mj-lt"/>
              </a:rPr>
              <a:t>researchers</a:t>
            </a:r>
            <a:r>
              <a:rPr lang="nb-NO" sz="2000" b="1" dirty="0" smtClean="0">
                <a:latin typeface="+mj-lt"/>
              </a:rPr>
              <a:t> </a:t>
            </a:r>
            <a:r>
              <a:rPr lang="nb-NO" sz="2000" b="1" dirty="0" err="1" smtClean="0">
                <a:latin typeface="+mj-lt"/>
              </a:rPr>
              <a:t>foot</a:t>
            </a:r>
            <a:r>
              <a:rPr lang="nb-NO" sz="2000" b="1" dirty="0" smtClean="0">
                <a:latin typeface="+mj-lt"/>
              </a:rPr>
              <a:t> </a:t>
            </a:r>
            <a:r>
              <a:rPr lang="nb-NO" sz="2000" b="1" dirty="0" err="1" smtClean="0">
                <a:latin typeface="+mj-lt"/>
              </a:rPr>
              <a:t>the</a:t>
            </a:r>
            <a:r>
              <a:rPr lang="nb-NO" sz="2000" b="1" dirty="0" smtClean="0">
                <a:latin typeface="+mj-lt"/>
              </a:rPr>
              <a:t> </a:t>
            </a:r>
            <a:r>
              <a:rPr lang="nb-NO" sz="2000" b="1" dirty="0" err="1" smtClean="0">
                <a:latin typeface="+mj-lt"/>
              </a:rPr>
              <a:t>bill</a:t>
            </a:r>
            <a:endParaRPr lang="nb-NO" sz="2000" b="1" dirty="0" smtClean="0">
              <a:latin typeface="+mj-lt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nb-NO" sz="2400" dirty="0" err="1" smtClean="0">
                <a:latin typeface="+mj-lt"/>
              </a:rPr>
              <a:t>Approved</a:t>
            </a:r>
            <a:r>
              <a:rPr lang="nb-NO" sz="2400" dirty="0" smtClean="0">
                <a:latin typeface="+mj-lt"/>
              </a:rPr>
              <a:t> </a:t>
            </a:r>
            <a:r>
              <a:rPr lang="nb-NO" sz="2400" dirty="0" err="1">
                <a:latin typeface="+mj-lt"/>
              </a:rPr>
              <a:t>r</a:t>
            </a:r>
            <a:r>
              <a:rPr lang="nb-NO" sz="2400" dirty="0" err="1" smtClean="0">
                <a:latin typeface="+mj-lt"/>
              </a:rPr>
              <a:t>esearchers</a:t>
            </a:r>
            <a:r>
              <a:rPr lang="nb-NO" sz="2400" dirty="0" smtClean="0">
                <a:latin typeface="+mj-lt"/>
              </a:rPr>
              <a:t> </a:t>
            </a:r>
            <a:r>
              <a:rPr lang="nb-NO" sz="2400" dirty="0" err="1" smtClean="0">
                <a:latin typeface="+mj-lt"/>
              </a:rPr>
              <a:t>get</a:t>
            </a:r>
            <a:r>
              <a:rPr lang="nb-NO" sz="2400" dirty="0" smtClean="0">
                <a:latin typeface="+mj-lt"/>
              </a:rPr>
              <a:t> </a:t>
            </a:r>
            <a:r>
              <a:rPr lang="nb-NO" sz="2400" dirty="0" err="1" smtClean="0">
                <a:latin typeface="+mj-lt"/>
              </a:rPr>
              <a:t>copies</a:t>
            </a:r>
            <a:r>
              <a:rPr lang="nb-NO" sz="2400" dirty="0" smtClean="0">
                <a:latin typeface="+mj-lt"/>
              </a:rPr>
              <a:t> </a:t>
            </a:r>
            <a:r>
              <a:rPr lang="nb-NO" sz="2400" dirty="0" err="1" smtClean="0">
                <a:latin typeface="+mj-lt"/>
              </a:rPr>
              <a:t>of</a:t>
            </a:r>
            <a:r>
              <a:rPr lang="nb-NO" sz="2400" dirty="0" smtClean="0">
                <a:latin typeface="+mj-lt"/>
              </a:rPr>
              <a:t> data </a:t>
            </a:r>
            <a:r>
              <a:rPr lang="nb-NO" sz="2400" dirty="0" err="1" smtClean="0">
                <a:latin typeface="+mj-lt"/>
              </a:rPr>
              <a:t>sets</a:t>
            </a:r>
            <a:endParaRPr lang="nb-NO" sz="2400" dirty="0">
              <a:latin typeface="+mj-lt"/>
            </a:endParaRPr>
          </a:p>
        </p:txBody>
      </p:sp>
      <p:sp>
        <p:nvSpPr>
          <p:cNvPr id="13" name="TekstSylinder 12"/>
          <p:cNvSpPr txBox="1"/>
          <p:nvPr/>
        </p:nvSpPr>
        <p:spPr>
          <a:xfrm>
            <a:off x="467544" y="249268"/>
            <a:ext cx="8352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 smtClean="0"/>
              <a:t>Background</a:t>
            </a:r>
            <a:r>
              <a:rPr lang="nb-NO" dirty="0" smtClean="0"/>
              <a:t>:</a:t>
            </a:r>
            <a:br>
              <a:rPr lang="nb-NO" dirty="0" smtClean="0"/>
            </a:br>
            <a:r>
              <a:rPr lang="nb-NO" dirty="0" smtClean="0"/>
              <a:t>The «Norwegian </a:t>
            </a:r>
            <a:r>
              <a:rPr lang="nb-NO" dirty="0" err="1" smtClean="0"/>
              <a:t>situation</a:t>
            </a:r>
            <a:r>
              <a:rPr lang="nb-NO" dirty="0" smtClean="0"/>
              <a:t>»</a:t>
            </a:r>
            <a:endParaRPr lang="nb-NO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6709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68"/>
    </mc:Choice>
    <mc:Fallback>
      <p:transition spd="slow" advTm="16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innhold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sz="2800" dirty="0" smtClean="0">
                <a:latin typeface="+mj-lt"/>
              </a:rPr>
              <a:t>Option 1</a:t>
            </a:r>
            <a:r>
              <a:rPr lang="nb-NO" sz="2800" dirty="0" smtClean="0">
                <a:latin typeface="+mj-lt"/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nb-NO" dirty="0" err="1" smtClean="0">
                <a:latin typeface="+mj-lt"/>
              </a:rPr>
              <a:t>Scale</a:t>
            </a:r>
            <a:r>
              <a:rPr lang="nb-NO" dirty="0" smtClean="0">
                <a:latin typeface="+mj-lt"/>
              </a:rPr>
              <a:t> up </a:t>
            </a:r>
            <a:r>
              <a:rPr lang="nb-NO" dirty="0" err="1" smtClean="0">
                <a:latin typeface="+mj-lt"/>
              </a:rPr>
              <a:t>resources</a:t>
            </a:r>
            <a:r>
              <a:rPr lang="nb-NO" dirty="0" smtClean="0">
                <a:latin typeface="+mj-lt"/>
              </a:rPr>
              <a:t> in </a:t>
            </a:r>
            <a:r>
              <a:rPr lang="nb-NO" dirty="0" err="1" smtClean="0">
                <a:latin typeface="+mj-lt"/>
              </a:rPr>
              <a:t>approval</a:t>
            </a:r>
            <a:r>
              <a:rPr lang="nb-NO" dirty="0" smtClean="0">
                <a:latin typeface="+mj-lt"/>
              </a:rPr>
              <a:t> </a:t>
            </a:r>
            <a:r>
              <a:rPr lang="nb-NO" dirty="0" err="1" smtClean="0">
                <a:latin typeface="+mj-lt"/>
              </a:rPr>
              <a:t>process</a:t>
            </a:r>
            <a:endParaRPr lang="nb-NO" dirty="0" smtClean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nb-NO" dirty="0" err="1" smtClean="0">
                <a:latin typeface="+mj-lt"/>
              </a:rPr>
              <a:t>Scale</a:t>
            </a:r>
            <a:r>
              <a:rPr lang="nb-NO" dirty="0" smtClean="0">
                <a:latin typeface="+mj-lt"/>
              </a:rPr>
              <a:t> up </a:t>
            </a:r>
            <a:r>
              <a:rPr lang="nb-NO" dirty="0" err="1" smtClean="0">
                <a:latin typeface="+mj-lt"/>
              </a:rPr>
              <a:t>resources</a:t>
            </a:r>
            <a:r>
              <a:rPr lang="nb-NO" dirty="0" smtClean="0">
                <a:latin typeface="+mj-lt"/>
              </a:rPr>
              <a:t> in data preparation</a:t>
            </a:r>
          </a:p>
          <a:p>
            <a:pPr>
              <a:buFont typeface="Wingdings" panose="05000000000000000000" pitchFamily="2" charset="2"/>
              <a:buChar char="§"/>
            </a:pPr>
            <a:endParaRPr lang="nb-NO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nb-NO" dirty="0" smtClean="0">
                <a:latin typeface="+mj-lt"/>
              </a:rPr>
              <a:t>Register </a:t>
            </a:r>
            <a:r>
              <a:rPr lang="nb-NO" dirty="0" err="1" smtClean="0">
                <a:latin typeface="+mj-lt"/>
              </a:rPr>
              <a:t>owner</a:t>
            </a:r>
            <a:r>
              <a:rPr lang="nb-NO" dirty="0" smtClean="0">
                <a:latin typeface="+mj-lt"/>
              </a:rPr>
              <a:t> </a:t>
            </a:r>
            <a:r>
              <a:rPr lang="nb-NO" dirty="0" err="1" smtClean="0">
                <a:latin typeface="+mj-lt"/>
              </a:rPr>
              <a:t>resources</a:t>
            </a:r>
            <a:r>
              <a:rPr lang="nb-NO" dirty="0" smtClean="0">
                <a:latin typeface="+mj-lt"/>
              </a:rPr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nb-NO" dirty="0" smtClean="0">
                <a:latin typeface="+mj-lt"/>
              </a:rPr>
              <a:t>Data </a:t>
            </a:r>
            <a:r>
              <a:rPr lang="nb-NO" dirty="0" err="1" smtClean="0">
                <a:latin typeface="+mj-lt"/>
              </a:rPr>
              <a:t>inspectorate</a:t>
            </a:r>
            <a:r>
              <a:rPr lang="nb-NO" dirty="0" smtClean="0">
                <a:latin typeface="+mj-lt"/>
              </a:rPr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nb-NO" dirty="0" smtClean="0">
                <a:latin typeface="+mj-lt"/>
              </a:rPr>
              <a:t>Data still </a:t>
            </a:r>
            <a:r>
              <a:rPr lang="nb-NO" dirty="0" err="1" smtClean="0">
                <a:latin typeface="+mj-lt"/>
              </a:rPr>
              <a:t>copied</a:t>
            </a:r>
            <a:r>
              <a:rPr lang="nb-NO" dirty="0" smtClean="0">
                <a:latin typeface="+mj-lt"/>
              </a:rPr>
              <a:t>?</a:t>
            </a:r>
          </a:p>
        </p:txBody>
      </p:sp>
      <p:sp>
        <p:nvSpPr>
          <p:cNvPr id="2" name="Plassholder for innhold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 smtClean="0">
                <a:latin typeface="+mj-lt"/>
              </a:rPr>
              <a:t>Option 2</a:t>
            </a:r>
            <a:r>
              <a:rPr lang="nb-NO" dirty="0" smtClean="0">
                <a:latin typeface="+mj-lt"/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nb-NO" dirty="0" err="1" smtClean="0">
                <a:latin typeface="+mj-lt"/>
              </a:rPr>
              <a:t>Simplify</a:t>
            </a:r>
            <a:r>
              <a:rPr lang="nb-NO" dirty="0" smtClean="0">
                <a:latin typeface="+mj-lt"/>
              </a:rPr>
              <a:t> </a:t>
            </a:r>
            <a:r>
              <a:rPr lang="nb-NO" dirty="0" err="1" smtClean="0">
                <a:latin typeface="+mj-lt"/>
              </a:rPr>
              <a:t>approval</a:t>
            </a:r>
            <a:r>
              <a:rPr lang="nb-NO" dirty="0" smtClean="0">
                <a:latin typeface="+mj-lt"/>
              </a:rPr>
              <a:t> </a:t>
            </a:r>
            <a:r>
              <a:rPr lang="nb-NO" dirty="0" err="1" smtClean="0">
                <a:latin typeface="+mj-lt"/>
              </a:rPr>
              <a:t>process</a:t>
            </a:r>
            <a:endParaRPr lang="nb-NO" dirty="0" smtClean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endParaRPr lang="nb-NO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nb-NO" dirty="0" err="1" smtClean="0">
                <a:latin typeface="+mj-lt"/>
              </a:rPr>
              <a:t>Only</a:t>
            </a:r>
            <a:r>
              <a:rPr lang="nb-NO" dirty="0" smtClean="0">
                <a:latin typeface="+mj-lt"/>
              </a:rPr>
              <a:t> </a:t>
            </a:r>
            <a:r>
              <a:rPr lang="nb-NO" dirty="0" err="1" smtClean="0">
                <a:latin typeface="+mj-lt"/>
              </a:rPr>
              <a:t>possible</a:t>
            </a:r>
            <a:r>
              <a:rPr lang="nb-NO" dirty="0" smtClean="0">
                <a:latin typeface="+mj-lt"/>
              </a:rPr>
              <a:t> </a:t>
            </a:r>
            <a:r>
              <a:rPr lang="nb-NO" dirty="0" err="1" smtClean="0">
                <a:latin typeface="+mj-lt"/>
              </a:rPr>
              <a:t>if</a:t>
            </a:r>
            <a:endParaRPr lang="nb-NO" dirty="0" smtClean="0">
              <a:latin typeface="+mj-lt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nb-NO" dirty="0" smtClean="0">
                <a:latin typeface="+mj-lt"/>
              </a:rPr>
              <a:t>Output </a:t>
            </a:r>
            <a:r>
              <a:rPr lang="nb-NO" dirty="0" err="1" smtClean="0">
                <a:latin typeface="+mj-lt"/>
              </a:rPr>
              <a:t>remains</a:t>
            </a:r>
            <a:r>
              <a:rPr lang="nb-NO" dirty="0" smtClean="0">
                <a:latin typeface="+mj-lt"/>
              </a:rPr>
              <a:t> </a:t>
            </a:r>
            <a:r>
              <a:rPr lang="nb-NO" dirty="0" err="1" smtClean="0">
                <a:latin typeface="+mj-lt"/>
              </a:rPr>
              <a:t>anonymous</a:t>
            </a:r>
            <a:endParaRPr lang="nb-NO" dirty="0" smtClean="0">
              <a:latin typeface="+mj-lt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nb-NO" dirty="0" smtClean="0">
                <a:latin typeface="+mj-lt"/>
              </a:rPr>
              <a:t>No </a:t>
            </a:r>
            <a:r>
              <a:rPr lang="nb-NO" dirty="0" err="1" smtClean="0">
                <a:latin typeface="+mj-lt"/>
              </a:rPr>
              <a:t>download</a:t>
            </a:r>
            <a:r>
              <a:rPr lang="nb-NO" dirty="0" smtClean="0">
                <a:latin typeface="+mj-lt"/>
              </a:rPr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nb-NO" dirty="0" smtClean="0">
                <a:latin typeface="+mj-lt"/>
              </a:rPr>
              <a:t>No LIST DATA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nb-NO" dirty="0" smtClean="0">
                <a:latin typeface="+mj-lt"/>
              </a:rPr>
              <a:t>No </a:t>
            </a:r>
            <a:r>
              <a:rPr lang="nb-NO" dirty="0" err="1" smtClean="0">
                <a:latin typeface="+mj-lt"/>
              </a:rPr>
              <a:t>indirect</a:t>
            </a:r>
            <a:r>
              <a:rPr lang="nb-NO" dirty="0" smtClean="0">
                <a:latin typeface="+mj-lt"/>
              </a:rPr>
              <a:t> </a:t>
            </a:r>
            <a:r>
              <a:rPr lang="nb-NO" dirty="0" err="1" smtClean="0">
                <a:latin typeface="+mj-lt"/>
              </a:rPr>
              <a:t>identification</a:t>
            </a:r>
            <a:endParaRPr lang="nb-NO" dirty="0" smtClean="0">
              <a:latin typeface="+mj-lt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nb-NO" dirty="0">
              <a:latin typeface="+mj-lt"/>
            </a:endParaRPr>
          </a:p>
        </p:txBody>
      </p:sp>
      <p:sp>
        <p:nvSpPr>
          <p:cNvPr id="13" name="TekstSylinder 12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Solution – </a:t>
            </a:r>
            <a:r>
              <a:rPr lang="nb-NO" dirty="0" err="1" smtClean="0"/>
              <a:t>reduce</a:t>
            </a:r>
            <a:r>
              <a:rPr lang="nb-NO" dirty="0" smtClean="0"/>
              <a:t> </a:t>
            </a:r>
            <a:r>
              <a:rPr lang="nb-NO" dirty="0" err="1" smtClean="0"/>
              <a:t>cost</a:t>
            </a:r>
            <a:r>
              <a:rPr lang="nb-NO" dirty="0" smtClean="0"/>
              <a:t> and lead-time</a:t>
            </a:r>
            <a:endParaRPr lang="nb-NO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2302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93"/>
    </mc:Choice>
    <mc:Fallback>
      <p:transition spd="slow" advTm="48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2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innhold 4"/>
          <p:cNvSpPr>
            <a:spLocks noGrp="1"/>
          </p:cNvSpPr>
          <p:nvPr>
            <p:ph idx="1"/>
          </p:nvPr>
        </p:nvSpPr>
        <p:spPr>
          <a:xfrm>
            <a:off x="488950" y="1052736"/>
            <a:ext cx="8382000" cy="5152802"/>
          </a:xfrm>
        </p:spPr>
        <p:txBody>
          <a:bodyPr/>
          <a:lstStyle/>
          <a:p>
            <a:pPr marL="0" indent="0">
              <a:buNone/>
            </a:pPr>
            <a:r>
              <a:rPr lang="nb-NO" sz="2800" dirty="0" err="1" smtClean="0">
                <a:latin typeface="+mj-lt"/>
              </a:rPr>
              <a:t>Researcher</a:t>
            </a:r>
            <a:r>
              <a:rPr lang="nb-NO" sz="2800" dirty="0" smtClean="0">
                <a:latin typeface="+mj-lt"/>
              </a:rPr>
              <a:t> </a:t>
            </a:r>
            <a:r>
              <a:rPr lang="nb-NO" sz="2800" dirty="0" err="1" smtClean="0">
                <a:latin typeface="+mj-lt"/>
              </a:rPr>
              <a:t>cannot</a:t>
            </a:r>
            <a:r>
              <a:rPr lang="nb-NO" sz="2800" dirty="0" smtClean="0">
                <a:latin typeface="+mj-lt"/>
              </a:rPr>
              <a:t> </a:t>
            </a:r>
            <a:r>
              <a:rPr lang="nb-NO" sz="2800" dirty="0" err="1" smtClean="0">
                <a:latin typeface="+mj-lt"/>
              </a:rPr>
              <a:t>see</a:t>
            </a:r>
            <a:r>
              <a:rPr lang="nb-NO" sz="2800" dirty="0" smtClean="0">
                <a:latin typeface="+mj-lt"/>
              </a:rPr>
              <a:t> data</a:t>
            </a:r>
          </a:p>
          <a:p>
            <a:pPr marL="0" indent="0">
              <a:buNone/>
            </a:pPr>
            <a:r>
              <a:rPr lang="nb-NO" sz="2800" dirty="0" smtClean="0">
                <a:latin typeface="+mj-lt"/>
              </a:rPr>
              <a:t>Metadata*) is </a:t>
            </a:r>
            <a:r>
              <a:rPr lang="nb-NO" sz="2800" dirty="0" err="1" smtClean="0">
                <a:latin typeface="+mj-lt"/>
              </a:rPr>
              <a:t>the</a:t>
            </a:r>
            <a:r>
              <a:rPr lang="nb-NO" sz="2800" dirty="0" smtClean="0">
                <a:latin typeface="+mj-lt"/>
              </a:rPr>
              <a:t> </a:t>
            </a:r>
            <a:r>
              <a:rPr lang="nb-NO" sz="2800" dirty="0" err="1" smtClean="0">
                <a:latin typeface="+mj-lt"/>
              </a:rPr>
              <a:t>interface</a:t>
            </a:r>
            <a:r>
              <a:rPr lang="nb-NO" sz="2800" dirty="0" smtClean="0">
                <a:latin typeface="+mj-lt"/>
              </a:rPr>
              <a:t> to data</a:t>
            </a:r>
          </a:p>
          <a:p>
            <a:pPr marL="0" indent="0">
              <a:buNone/>
            </a:pPr>
            <a:endParaRPr lang="nb-NO" sz="2800" dirty="0">
              <a:latin typeface="+mj-lt"/>
            </a:endParaRPr>
          </a:p>
          <a:p>
            <a:pPr marL="0" indent="0">
              <a:buNone/>
            </a:pPr>
            <a:endParaRPr lang="nb-NO" sz="2800" dirty="0" smtClean="0">
              <a:latin typeface="+mj-lt"/>
            </a:endParaRPr>
          </a:p>
          <a:p>
            <a:pPr marL="0" indent="0">
              <a:buNone/>
            </a:pPr>
            <a:endParaRPr lang="nb-NO" sz="2800" dirty="0">
              <a:latin typeface="+mj-lt"/>
            </a:endParaRPr>
          </a:p>
          <a:p>
            <a:pPr marL="0" indent="0">
              <a:buNone/>
            </a:pPr>
            <a:endParaRPr lang="nb-NO" sz="2800" dirty="0" smtClean="0">
              <a:latin typeface="+mj-lt"/>
            </a:endParaRPr>
          </a:p>
          <a:p>
            <a:pPr marL="0" indent="0">
              <a:buNone/>
            </a:pPr>
            <a:endParaRPr lang="nb-NO" sz="2800" dirty="0">
              <a:latin typeface="+mj-lt"/>
            </a:endParaRPr>
          </a:p>
          <a:p>
            <a:pPr marL="0" indent="0">
              <a:buNone/>
            </a:pPr>
            <a:endParaRPr lang="nb-NO" sz="2800" dirty="0" smtClean="0">
              <a:latin typeface="+mj-lt"/>
            </a:endParaRPr>
          </a:p>
          <a:p>
            <a:pPr marL="0" indent="0">
              <a:buNone/>
            </a:pPr>
            <a:r>
              <a:rPr lang="nb-NO" sz="2800" dirty="0" smtClean="0">
                <a:latin typeface="+mj-lt"/>
              </a:rPr>
              <a:t>*) Metadata </a:t>
            </a:r>
            <a:r>
              <a:rPr lang="nb-NO" sz="2800" dirty="0" err="1" smtClean="0">
                <a:latin typeface="+mj-lt"/>
              </a:rPr>
              <a:t>includes</a:t>
            </a:r>
            <a:r>
              <a:rPr lang="nb-NO" sz="2800" dirty="0" smtClean="0">
                <a:latin typeface="+mj-lt"/>
              </a:rPr>
              <a:t> </a:t>
            </a:r>
            <a:r>
              <a:rPr lang="nb-NO" sz="2800" dirty="0" err="1" smtClean="0">
                <a:latin typeface="+mj-lt"/>
              </a:rPr>
              <a:t>analytical</a:t>
            </a:r>
            <a:r>
              <a:rPr lang="nb-NO" sz="2800" dirty="0" smtClean="0">
                <a:latin typeface="+mj-lt"/>
              </a:rPr>
              <a:t> output</a:t>
            </a:r>
            <a:endParaRPr lang="nb-NO" sz="2800" dirty="0">
              <a:latin typeface="+mj-lt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560804"/>
            <a:ext cx="1944216" cy="216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arallellogram 1"/>
          <p:cNvSpPr/>
          <p:nvPr/>
        </p:nvSpPr>
        <p:spPr bwMode="auto">
          <a:xfrm>
            <a:off x="3203848" y="2928384"/>
            <a:ext cx="2232248" cy="591145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336699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nb-NO" dirty="0" smtClean="0">
                <a:solidFill>
                  <a:srgbClr val="336699"/>
                </a:solidFill>
              </a:rPr>
              <a:t>Metadata</a:t>
            </a:r>
          </a:p>
        </p:txBody>
      </p:sp>
      <p:pic>
        <p:nvPicPr>
          <p:cNvPr id="4100" name="Picture 4" descr="http://dqbasmyouzti2.cloudfront.net/assets/content/cache/made/content/images/articles/Data_Lake_310_24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610322"/>
            <a:ext cx="2679414" cy="2117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kstSylinder 5"/>
          <p:cNvSpPr txBox="1"/>
          <p:nvPr/>
        </p:nvSpPr>
        <p:spPr>
          <a:xfrm>
            <a:off x="323528" y="24926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Solution – fundamental </a:t>
            </a:r>
            <a:r>
              <a:rPr lang="nb-NO" dirty="0" err="1" smtClean="0"/>
              <a:t>principle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96218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Sylinder 3"/>
          <p:cNvSpPr txBox="1"/>
          <p:nvPr/>
        </p:nvSpPr>
        <p:spPr>
          <a:xfrm>
            <a:off x="611560" y="24705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RAIRD as a research platform</a:t>
            </a:r>
            <a:endParaRPr lang="nb-NO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662218908"/>
              </p:ext>
            </p:extLst>
          </p:nvPr>
        </p:nvGraphicFramePr>
        <p:xfrm>
          <a:off x="1475656" y="220486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kstSylinder 4"/>
          <p:cNvSpPr txBox="1"/>
          <p:nvPr/>
        </p:nvSpPr>
        <p:spPr>
          <a:xfrm>
            <a:off x="1835696" y="1412776"/>
            <a:ext cx="5481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Remote data preparation and analysis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89431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inn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1026" name="Picture 2" descr="http://raird.no/export/sites/raird/img/raird-overview-1.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7" y="1700808"/>
            <a:ext cx="8988425" cy="4307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306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inn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1026" name="Picture 2" descr="http://raird.no/export/sites/raird/img/raird-overview-1.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72" t="-323"/>
          <a:stretch/>
        </p:blipFill>
        <p:spPr bwMode="auto">
          <a:xfrm>
            <a:off x="251520" y="-13665"/>
            <a:ext cx="8639427" cy="6675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45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innhold 1"/>
          <p:cNvSpPr>
            <a:spLocks noGrp="1"/>
          </p:cNvSpPr>
          <p:nvPr>
            <p:ph idx="1"/>
          </p:nvPr>
        </p:nvSpPr>
        <p:spPr>
          <a:xfrm>
            <a:off x="488950" y="188640"/>
            <a:ext cx="8475538" cy="6016898"/>
          </a:xfrm>
          <a:solidFill>
            <a:schemeClr val="bg1"/>
          </a:solidFill>
        </p:spPr>
        <p:txBody>
          <a:bodyPr/>
          <a:lstStyle/>
          <a:p>
            <a:endParaRPr lang="nb-NO" dirty="0"/>
          </a:p>
        </p:txBody>
      </p:sp>
      <p:pic>
        <p:nvPicPr>
          <p:cNvPr id="1026" name="Picture 2" descr="http://raird.no/export/sites/raird/img/raird-overview-1.1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46" t="6391" r="6150" b="6818"/>
          <a:stretch/>
        </p:blipFill>
        <p:spPr bwMode="auto">
          <a:xfrm>
            <a:off x="1619672" y="-13665"/>
            <a:ext cx="5841359" cy="680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ktangel 3"/>
          <p:cNvSpPr/>
          <p:nvPr/>
        </p:nvSpPr>
        <p:spPr bwMode="auto">
          <a:xfrm>
            <a:off x="1619672" y="764704"/>
            <a:ext cx="2520280" cy="1296144"/>
          </a:xfrm>
          <a:prstGeom prst="rect">
            <a:avLst/>
          </a:prstGeom>
          <a:noFill/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nb-NO" dirty="0" smtClean="0">
              <a:solidFill>
                <a:srgbClr val="336699"/>
              </a:solidFill>
            </a:endParaRPr>
          </a:p>
        </p:txBody>
      </p:sp>
      <p:sp>
        <p:nvSpPr>
          <p:cNvPr id="6" name="Rektangel 5"/>
          <p:cNvSpPr/>
          <p:nvPr/>
        </p:nvSpPr>
        <p:spPr bwMode="auto">
          <a:xfrm>
            <a:off x="3707903" y="0"/>
            <a:ext cx="3753127" cy="2060848"/>
          </a:xfrm>
          <a:prstGeom prst="rect">
            <a:avLst/>
          </a:prstGeom>
          <a:noFill/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nb-NO" dirty="0" smtClean="0">
              <a:solidFill>
                <a:srgbClr val="336699"/>
              </a:solidFill>
            </a:endParaRPr>
          </a:p>
        </p:txBody>
      </p:sp>
      <p:sp>
        <p:nvSpPr>
          <p:cNvPr id="7" name="Rektangel 6"/>
          <p:cNvSpPr/>
          <p:nvPr/>
        </p:nvSpPr>
        <p:spPr bwMode="auto">
          <a:xfrm>
            <a:off x="1983739" y="2708919"/>
            <a:ext cx="5477292" cy="4082881"/>
          </a:xfrm>
          <a:prstGeom prst="rect">
            <a:avLst/>
          </a:prstGeom>
          <a:noFill/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nb-NO" dirty="0" smtClean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84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9175"/>
            <a:ext cx="9156124" cy="449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173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e 4"/>
          <p:cNvGrpSpPr/>
          <p:nvPr/>
        </p:nvGrpSpPr>
        <p:grpSpPr>
          <a:xfrm>
            <a:off x="1475656" y="2945615"/>
            <a:ext cx="6264696" cy="2207520"/>
            <a:chOff x="1187624" y="2140616"/>
            <a:chExt cx="6264696" cy="2207520"/>
          </a:xfrm>
        </p:grpSpPr>
        <p:sp>
          <p:nvSpPr>
            <p:cNvPr id="3" name="TekstSylinder 2"/>
            <p:cNvSpPr txBox="1"/>
            <p:nvPr/>
          </p:nvSpPr>
          <p:spPr>
            <a:xfrm>
              <a:off x="2422447" y="2413266"/>
              <a:ext cx="50298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b-NO" sz="3600" b="1" dirty="0" err="1" smtClean="0"/>
                <a:t>Clojure</a:t>
              </a:r>
              <a:r>
                <a:rPr lang="nb-NO" sz="3600" b="1" dirty="0" smtClean="0"/>
                <a:t> and Datalog</a:t>
              </a:r>
              <a:endParaRPr lang="nb-NO" sz="3600" b="1" dirty="0"/>
            </a:p>
          </p:txBody>
        </p:sp>
        <p:pic>
          <p:nvPicPr>
            <p:cNvPr id="8" name="Picture 4" descr="https://pbs.twimg.com/profile_images/1894111535/datomic-logo-500x500-no-word_normal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0302" y="3460993"/>
              <a:ext cx="887143" cy="8871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kstSylinder 8"/>
            <p:cNvSpPr txBox="1"/>
            <p:nvPr/>
          </p:nvSpPr>
          <p:spPr>
            <a:xfrm>
              <a:off x="2463922" y="3587823"/>
              <a:ext cx="24972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b-NO" sz="3600" b="1" dirty="0" err="1" smtClean="0"/>
                <a:t>Datomic</a:t>
              </a:r>
              <a:endParaRPr lang="nb-NO" b="1" dirty="0"/>
            </a:p>
          </p:txBody>
        </p:sp>
        <p:pic>
          <p:nvPicPr>
            <p:cNvPr id="4102" name="Picture 6" descr="Clojur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2140616"/>
              <a:ext cx="952500" cy="952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104" name="Picture 8" descr="Hom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334" y="1628800"/>
            <a:ext cx="3810000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kstSylinder 12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 smtClean="0"/>
              <a:t>DataStore</a:t>
            </a:r>
            <a:r>
              <a:rPr lang="nb-NO" dirty="0" smtClean="0"/>
              <a:t> </a:t>
            </a:r>
            <a:r>
              <a:rPr lang="nb-NO" dirty="0" err="1" smtClean="0"/>
              <a:t>implementation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171147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Sylinder 2"/>
          <p:cNvSpPr txBox="1"/>
          <p:nvPr/>
        </p:nvSpPr>
        <p:spPr>
          <a:xfrm>
            <a:off x="1619672" y="1844824"/>
            <a:ext cx="55446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000" dirty="0" err="1" smtClean="0"/>
              <a:t>AsOf-queries</a:t>
            </a:r>
            <a:endParaRPr lang="nb-NO" sz="4000" dirty="0"/>
          </a:p>
        </p:txBody>
      </p:sp>
    </p:spTree>
    <p:extLst>
      <p:ext uri="{BB962C8B-B14F-4D97-AF65-F5344CB8AC3E}">
        <p14:creationId xmlns:p14="http://schemas.microsoft.com/office/powerpoint/2010/main" val="368117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10" y="548680"/>
            <a:ext cx="8641362" cy="5665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962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Sylinder 2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 smtClean="0"/>
              <a:t>StatServer</a:t>
            </a:r>
            <a:r>
              <a:rPr lang="nb-NO" dirty="0" smtClean="0"/>
              <a:t> </a:t>
            </a:r>
            <a:r>
              <a:rPr lang="nb-NO" dirty="0" err="1" smtClean="0"/>
              <a:t>implementation</a:t>
            </a:r>
            <a:endParaRPr lang="nb-NO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98" y="1124744"/>
            <a:ext cx="8057869" cy="446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240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Sylinder 2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 smtClean="0"/>
              <a:t>StatServer</a:t>
            </a:r>
            <a:r>
              <a:rPr lang="nb-NO" dirty="0" smtClean="0"/>
              <a:t> </a:t>
            </a:r>
            <a:r>
              <a:rPr lang="nb-NO" dirty="0" err="1" smtClean="0"/>
              <a:t>implementation</a:t>
            </a:r>
            <a:endParaRPr lang="nb-NO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825" y="2250658"/>
            <a:ext cx="28003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 descr="http://pandas.pydata.org/_static/pandas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356992"/>
            <a:ext cx="5857875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7" descr="data:image/png;base64,iVBORw0KGgoAAAANSUhEUgAAAIwAAAAwCAMAAAD0FmICAAAAwFBMVEX8/vwEZsz///3///4AY8sAYcsAX8oAZMsAWckAXsrP5/jj6/Vnod8UftcAXMn3/Pzm8Ph1q+SHseXu9flPhNQLdtQAVMitzvAAV8j0+fvs9PkAaM29zuvV5fSlxurE2e4Abs1Tkdkzidqzz+yNtuVlnt49gtRSktg8fdKlxOtwqt/J3PB5peGLsuObu+domNwSeNG62O5EjdiVv+V+s+FhouHc7vwFetZxnt1Zm+BKidWRvei00+wsgdUAddSgwOqSN9CyAAAHiUlEQVRYhcVZbVuyTBOGfQWzBSQyQBRFQ9OUrMc78zL//7+6Z3ld1O7rw3NU86FiXZeTmXPOmSFNOzOELNe+yc0OfITQ+YYfM0CyHDrb2DTAHuJJdzFy8S/BQe7w3aOMcD03TiiLNwsb/wYU1M/CCkhlhOrZ4RdiZacP51AK/xjHkfXDcBYZvURSGI2nwU+iwW8hUZxBKFG9xPX054iD0IzxBko8T/fpPFbgcJb+GBb/Ta9vTLJex8Jgnee4cZZOU/uHInVqYkTGI1A6wAI/knlDI0571k9AQVHjAnLcAZbkyXFeAM5SRcP7wBvVOxJyaV8nv9zU3vvf+7UGC6cBQAgFo1RkEcZLr4kUERZCtlvfxVpOZ5NbaXsn+UoZ0bDbfcIa2s26ij0tgy+g4IOobyhOWBuVAIgRITw0G9qwd6w9DqtnulkxE3JOGmVGtvzi8Jlh/gNgOvdUMfaQ/bmKHtnzJkhZgHYf1SWZ7BCeiSpKhMadKK7kzx8zzikT0hjRSfznqudxl5JbCcaAHKiN6zQbXduP17zOJDpz8YA1GbTykf2Y04aQeLKdzB/ZrDgE9YXOw/20L+1pQnT67l/3jGD/FGBo1yltBr5n1/YrntB1c635qwYMZyeEoww+Z3tJO9ebdlbPeVLhLeXMl0yUuReMCZlH112TE1iCMeyav9Y74dnycj8axY22iYE8t2EJDxOkJTFjZCpDbDlDXHYUOOZkW4cdPxPuXTm8uYsEc1NvwEPQksHlfmvaeEI3T5o/U66BCj6yor0zkrUJd7JZ5Vts6Kxbg0EHQsMyfqidvCiHfwYG/Yk5PLiS4sU2V/UEW1naSckfWNna0HHJrguhTky9SobxfQtMko73RZjcfi/dbrfd111OddTv9Q7oOpiO0+uVBRgNe72hr9mq5pPsBuUcaYx+LH2M7Mi5ka59qIiBTTVMuablnyShwfKEMcVe3hxSW3j4AkwnI2Jg35v3/WLNmouHKXQxonXrA9YWegsN81br57FOb6X8iKQCc0s4twv+NrFHCVRXQbxPz6S6kGBxl1WpfRmmIykfKCcucChpgSGgI9bQENBAkCrjQdNkJ5pfsl7pDewInTxO/3TAdrj0Cwo2lHhJ3s3vTd3ooC/AAIE5H+CF0EWRmyc4DJzeb1FEZymQw5qmd5kX67TlotxzFU+Q/UlBBgEnmEmOT27+gCGIX+Gu4EjM6RkYqzQ/Aik4Rsj2uHiVCP13muvUGRidpFFetXed5LTxztEopB19cGAH+A9cxonwRgBmwMjcLZLKHQtjhlUwdNUrbQZNJV1ZyHcYGeNC6/gaX4Lh5O61FDPsj1L2JRhtN3Jm4+2n55kPghRuXpvkrtzgQ370UbscsNLycgCyhJKQeBBLoExRTs7BgG/CedobdnwJyH8SX4KBcPquGwSBbY8mnLOFZvVYDUaT8WgRGMhXm/B28oTokXCQUzQwyVwm+dI4ByNbYGYaD2SytBDetiJlHnANBaHqN8IdjzPHaoEpqaqEqa5NznRZCAEoN90EyN1TOpPfs2lTDQhTKctpvPbRLlPHF6OqtShJElX/7whN3f8Go9SmakpFLxCfJbIzLnLBAdZXUGg6dY5CuTcJE2z1TBVflZ5YxPytuS++I2TcBlNUyOupXZv1QdgCRUK/z1McXFTG5vZFXh9CtQufBK1CSiZBXQ64yp9LMNZzHI/x38BAY0cm/tTkcf41vGCFE1bQcPqg64tQ8Y24kSRr+OvUhfJep3slIhAm2QsJclc9c0/Qu7+CQa7B2c2EsKdCiZefXPZOQyBrsnr2kf+uuOahBYbrdXuGQaJBrUvDCcj7ArKCc6/c4s8o+btnoC8izAm5UfLP3VAushEG3Q1NcD3aNW3oGZhcS8pDUqqzWb+T2+gwJ7K2oA783uTVAb/E3Hz6OxjUN3jM+WfZDUjlcSBEUSpTyXiFI+vpkhxt3HCG5ypZHiKrPakNZGYG0ovXskbEk8nEgz9M96vapICxP0HBIcTlZbA5yRB5BXdAGfHa5CWpp5a2qEcnMleHypfHajiQ4wFLpdOQvQphtegh5kOk9MD35P4aGMkt4OKiBneDkVv3DUSOsU6OBgZsG7lNiyxeWxoSDbrbWw/s85jC4FSWpGSVZvnSOsoXDtvx/+Tc9DH+uDofQ//EedyMCjCabeohn5NnGBtPRDBBn30NTxvHxO3DoHa5dm6B69ddJioWA7ccPqFiyBBYgfvF3AYVm3zsmqPdjaG+cDjI/HgZvkDvpI3uGyzuxZNV2XRltbmqFq9jQdEHgQquLhzVlzHmumzhsL+um1Ie96+f9n8a5A8Phy2kfVXpOPk4dSA7d6+bsIne9BteQkDf5EPhztpsQn1Trc5Ej4GYsV4ziZhv3/CWEQVOCsok3s7mbvxypKpzCmv40v+O12goGEO3TScXZ6Po/dq7zhwZ3Y6+AQqY68Tednol5ZHfN01+iYeYovdt7zrtKLK1q/KD/J6n0xYeDqNH1/2+l9KXutB8hO3XzTyEMQmKDQTTJN54uvutfx4AUnc5WHfHj553HM+eB8vg16CUeEDCAynorvXD/+H5F4WFnxtaNNgh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sp>
        <p:nvSpPr>
          <p:cNvPr id="4" name="AutoShape 9" descr="data:image/png;base64,iVBORw0KGgoAAAANSUhEUgAAAIwAAAAwCAMAAAD0FmICAAAAwFBMVEX8/vwEZsz///3///4AY8sAYcsAX8oAZMsAWckAXsrP5/jj6/Vnod8UftcAXMn3/Pzm8Ph1q+SHseXu9flPhNQLdtQAVMitzvAAV8j0+fvs9PkAaM29zuvV5fSlxurE2e4Abs1Tkdkzidqzz+yNtuVlnt49gtRSktg8fdKlxOtwqt/J3PB5peGLsuObu+domNwSeNG62O5EjdiVv+V+s+FhouHc7vwFetZxnt1Zm+BKidWRvei00+wsgdUAddSgwOqSN9CyAAAHiUlEQVRYhcVZbVuyTBOGfQWzBSQyQBRFQ9OUrMc78zL//7+6Z3ld1O7rw3NU86FiXZeTmXPOmSFNOzOELNe+yc0OfITQ+YYfM0CyHDrb2DTAHuJJdzFy8S/BQe7w3aOMcD03TiiLNwsb/wYU1M/CCkhlhOrZ4RdiZacP51AK/xjHkfXDcBYZvURSGI2nwU+iwW8hUZxBKFG9xPX054iD0IzxBko8T/fpPFbgcJb+GBb/Ta9vTLJex8Jgnee4cZZOU/uHInVqYkTGI1A6wAI/knlDI0571k9AQVHjAnLcAZbkyXFeAM5SRcP7wBvVOxJyaV8nv9zU3vvf+7UGC6cBQAgFo1RkEcZLr4kUERZCtlvfxVpOZ5NbaXsn+UoZ0bDbfcIa2s26ij0tgy+g4IOobyhOWBuVAIgRITw0G9qwd6w9DqtnulkxE3JOGmVGtvzi8Jlh/gNgOvdUMfaQ/bmKHtnzJkhZgHYf1SWZ7BCeiSpKhMadKK7kzx8zzikT0hjRSfznqudxl5JbCcaAHKiN6zQbXduP17zOJDpz8YA1GbTykf2Y04aQeLKdzB/ZrDgE9YXOw/20L+1pQnT67l/3jGD/FGBo1yltBr5n1/YrntB1c635qwYMZyeEoww+Z3tJO9ebdlbPeVLhLeXMl0yUuReMCZlH112TE1iCMeyav9Y74dnycj8axY22iYE8t2EJDxOkJTFjZCpDbDlDXHYUOOZkW4cdPxPuXTm8uYsEc1NvwEPQksHlfmvaeEI3T5o/U66BCj6yor0zkrUJd7JZ5Vts6Kxbg0EHQsMyfqidvCiHfwYG/Yk5PLiS4sU2V/UEW1naSckfWNna0HHJrguhTky9SobxfQtMko73RZjcfi/dbrfd111OddTv9Q7oOpiO0+uVBRgNe72hr9mq5pPsBuUcaYx+LH2M7Mi5ka59qIiBTTVMuablnyShwfKEMcVe3hxSW3j4AkwnI2Jg35v3/WLNmouHKXQxonXrA9YWegsN81br57FOb6X8iKQCc0s4twv+NrFHCVRXQbxPz6S6kGBxl1WpfRmmIykfKCcucChpgSGgI9bQENBAkCrjQdNkJ5pfsl7pDewInTxO/3TAdrj0Cwo2lHhJ3s3vTd3ooC/AAIE5H+CF0EWRmyc4DJzeb1FEZymQw5qmd5kX67TlotxzFU+Q/UlBBgEnmEmOT27+gCGIX+Gu4EjM6RkYqzQ/Aik4Rsj2uHiVCP13muvUGRidpFFetXed5LTxztEopB19cGAH+A9cxonwRgBmwMjcLZLKHQtjhlUwdNUrbQZNJV1ZyHcYGeNC6/gaX4Lh5O61FDPsj1L2JRhtN3Jm4+2n55kPghRuXpvkrtzgQ370UbscsNLycgCyhJKQeBBLoExRTs7BgG/CedobdnwJyH8SX4KBcPquGwSBbY8mnLOFZvVYDUaT8WgRGMhXm/B28oTokXCQUzQwyVwm+dI4ByNbYGYaD2SytBDetiJlHnANBaHqN8IdjzPHaoEpqaqEqa5NznRZCAEoN90EyN1TOpPfs2lTDQhTKctpvPbRLlPHF6OqtShJElX/7whN3f8Go9SmakpFLxCfJbIzLnLBAdZXUGg6dY5CuTcJE2z1TBVflZ5YxPytuS++I2TcBlNUyOupXZv1QdgCRUK/z1McXFTG5vZFXh9CtQufBK1CSiZBXQ64yp9LMNZzHI/x38BAY0cm/tTkcf41vGCFE1bQcPqg64tQ8Y24kSRr+OvUhfJep3slIhAm2QsJclc9c0/Qu7+CQa7B2c2EsKdCiZefXPZOQyBrsnr2kf+uuOahBYbrdXuGQaJBrUvDCcj7ArKCc6/c4s8o+btnoC8izAm5UfLP3VAushEG3Q1NcD3aNW3oGZhcS8pDUqqzWb+T2+gwJ7K2oA783uTVAb/E3Hz6OxjUN3jM+WfZDUjlcSBEUSpTyXiFI+vpkhxt3HCG5ypZHiKrPakNZGYG0ovXskbEk8nEgz9M96vapICxP0HBIcTlZbA5yRB5BXdAGfHa5CWpp5a2qEcnMleHypfHajiQ4wFLpdOQvQphtegh5kOk9MD35P4aGMkt4OKiBneDkVv3DUSOsU6OBgZsG7lNiyxeWxoSDbrbWw/s85jC4FSWpGSVZvnSOsoXDtvx/+Tc9DH+uDofQ//EedyMCjCabeohn5NnGBtPRDBBn30NTxvHxO3DoHa5dm6B69ddJioWA7ccPqFiyBBYgfvF3AYVm3zsmqPdjaG+cDjI/HgZvkDvpI3uGyzuxZNV2XRltbmqFq9jQdEHgQquLhzVlzHmumzhsL+um1Ie96+f9n8a5A8Phy2kfVXpOPk4dSA7d6+bsIne9BteQkDf5EPhztpsQn1Trc5Ej4GYsV4ziZhv3/CWEQVOCsok3s7mbvxypKpzCmv40v+O12goGEO3TScXZ6Po/dq7zhwZ3Y6+AQqY68Tednol5ZHfN01+iYeYovdt7zrtKLK1q/KD/J6n0xYeDqNH1/2+l9KXutB8hO3XzTyEMQmKDQTTJN54uvutfx4AUnc5WHfHj553HM+eB8vg16CUeEDCAynorvXD/+H5F4WFnxtaNNgh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pic>
        <p:nvPicPr>
          <p:cNvPr id="10250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451" y="3723704"/>
            <a:ext cx="1333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12" descr="Bilderesultat for statsmodel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pic>
        <p:nvPicPr>
          <p:cNvPr id="10253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784948"/>
            <a:ext cx="501015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585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Sylinder 2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 smtClean="0"/>
              <a:t>StatServer</a:t>
            </a:r>
            <a:r>
              <a:rPr lang="nb-NO" dirty="0" smtClean="0"/>
              <a:t> is 100% </a:t>
            </a:r>
            <a:r>
              <a:rPr lang="nb-NO" dirty="0" err="1" smtClean="0"/>
              <a:t>stateless</a:t>
            </a:r>
            <a:endParaRPr lang="nb-NO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0768"/>
            <a:ext cx="8416830" cy="472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8216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649075" cy="710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2291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Sylinder 3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Online Statistical Environment (ROSE)</a:t>
            </a:r>
            <a:endParaRPr lang="nb-NO" dirty="0"/>
          </a:p>
        </p:txBody>
      </p:sp>
      <p:sp>
        <p:nvSpPr>
          <p:cNvPr id="5" name="Plassholder for innhold 4"/>
          <p:cNvSpPr>
            <a:spLocks noGrp="1"/>
          </p:cNvSpPr>
          <p:nvPr>
            <p:ph idx="1"/>
          </p:nvPr>
        </p:nvSpPr>
        <p:spPr>
          <a:xfrm>
            <a:off x="488950" y="1052736"/>
            <a:ext cx="8382000" cy="5152802"/>
          </a:xfrm>
        </p:spPr>
        <p:txBody>
          <a:bodyPr/>
          <a:lstStyle/>
          <a:p>
            <a:pPr marL="0" indent="0">
              <a:buClr>
                <a:schemeClr val="tx2"/>
              </a:buClr>
              <a:buNone/>
            </a:pPr>
            <a:r>
              <a:rPr lang="nb-NO" sz="4000" b="1" dirty="0" err="1" smtClean="0">
                <a:solidFill>
                  <a:schemeClr val="tx2"/>
                </a:solidFill>
                <a:latin typeface="+mj-lt"/>
              </a:rPr>
              <a:t>Inspired</a:t>
            </a:r>
            <a:r>
              <a:rPr lang="nb-NO" sz="4000" b="1" dirty="0" smtClean="0">
                <a:solidFill>
                  <a:schemeClr val="tx2"/>
                </a:solidFill>
                <a:latin typeface="+mj-lt"/>
              </a:rPr>
              <a:t> by </a:t>
            </a:r>
          </a:p>
          <a:p>
            <a:pPr>
              <a:buClr>
                <a:schemeClr val="tx2"/>
              </a:buClr>
            </a:pPr>
            <a:r>
              <a:rPr lang="nb-NO" sz="4000" b="1" dirty="0" err="1" smtClean="0">
                <a:solidFill>
                  <a:schemeClr val="tx2"/>
                </a:solidFill>
                <a:latin typeface="+mj-lt"/>
              </a:rPr>
              <a:t>Stata</a:t>
            </a:r>
            <a:endParaRPr lang="nb-NO" sz="4000" b="1" dirty="0" smtClean="0">
              <a:solidFill>
                <a:schemeClr val="tx2"/>
              </a:solidFill>
              <a:latin typeface="+mj-lt"/>
            </a:endParaRPr>
          </a:p>
          <a:p>
            <a:pPr lvl="1">
              <a:buClr>
                <a:schemeClr val="tx2"/>
              </a:buClr>
            </a:pPr>
            <a:r>
              <a:rPr lang="nb-NO" sz="3600" b="1" dirty="0" err="1" smtClean="0">
                <a:solidFill>
                  <a:schemeClr val="tx2"/>
                </a:solidFill>
                <a:latin typeface="+mj-lt"/>
              </a:rPr>
              <a:t>Workflow</a:t>
            </a:r>
            <a:r>
              <a:rPr lang="nb-NO" sz="3600" b="1" dirty="0" smtClean="0">
                <a:solidFill>
                  <a:schemeClr val="tx2"/>
                </a:solidFill>
                <a:latin typeface="+mj-lt"/>
              </a:rPr>
              <a:t>, </a:t>
            </a:r>
            <a:r>
              <a:rPr lang="nb-NO" sz="3600" b="1" dirty="0" err="1" smtClean="0">
                <a:solidFill>
                  <a:schemeClr val="tx2"/>
                </a:solidFill>
                <a:latin typeface="+mj-lt"/>
              </a:rPr>
              <a:t>power</a:t>
            </a:r>
            <a:endParaRPr lang="nb-NO" sz="3600" b="1" dirty="0" smtClean="0">
              <a:solidFill>
                <a:schemeClr val="tx2"/>
              </a:solidFill>
              <a:latin typeface="+mj-lt"/>
            </a:endParaRPr>
          </a:p>
          <a:p>
            <a:pPr>
              <a:buClr>
                <a:schemeClr val="tx2"/>
              </a:buClr>
            </a:pPr>
            <a:r>
              <a:rPr lang="nb-NO" sz="4000" b="1" dirty="0" smtClean="0">
                <a:solidFill>
                  <a:schemeClr val="tx2"/>
                </a:solidFill>
                <a:latin typeface="+mj-lt"/>
              </a:rPr>
              <a:t>IDEs (</a:t>
            </a:r>
            <a:r>
              <a:rPr lang="nb-NO" sz="4000" b="1" dirty="0" err="1" smtClean="0">
                <a:solidFill>
                  <a:schemeClr val="tx2"/>
                </a:solidFill>
                <a:latin typeface="+mj-lt"/>
              </a:rPr>
              <a:t>Eclipse</a:t>
            </a:r>
            <a:r>
              <a:rPr lang="nb-NO" sz="4000" b="1" dirty="0" smtClean="0">
                <a:solidFill>
                  <a:schemeClr val="tx2"/>
                </a:solidFill>
                <a:latin typeface="+mj-lt"/>
              </a:rPr>
              <a:t>, </a:t>
            </a:r>
            <a:r>
              <a:rPr lang="nb-NO" sz="4000" b="1" dirty="0" err="1" smtClean="0">
                <a:solidFill>
                  <a:schemeClr val="tx2"/>
                </a:solidFill>
                <a:latin typeface="+mj-lt"/>
              </a:rPr>
              <a:t>etc</a:t>
            </a:r>
            <a:r>
              <a:rPr lang="nb-NO" sz="4000" b="1" dirty="0" smtClean="0">
                <a:solidFill>
                  <a:schemeClr val="tx2"/>
                </a:solidFill>
                <a:latin typeface="+mj-lt"/>
              </a:rPr>
              <a:t>)</a:t>
            </a:r>
          </a:p>
          <a:p>
            <a:pPr lvl="1">
              <a:buClr>
                <a:schemeClr val="tx2"/>
              </a:buClr>
            </a:pPr>
            <a:r>
              <a:rPr lang="nb-NO" sz="3600" b="1" dirty="0" err="1" smtClean="0">
                <a:solidFill>
                  <a:schemeClr val="tx2"/>
                </a:solidFill>
                <a:latin typeface="+mj-lt"/>
              </a:rPr>
              <a:t>Intellisense</a:t>
            </a:r>
            <a:endParaRPr lang="nb-NO" sz="3600" b="1" dirty="0" smtClean="0">
              <a:solidFill>
                <a:schemeClr val="tx2"/>
              </a:solidFill>
              <a:latin typeface="+mj-lt"/>
            </a:endParaRPr>
          </a:p>
          <a:p>
            <a:pPr>
              <a:buClr>
                <a:schemeClr val="tx2"/>
              </a:buClr>
            </a:pPr>
            <a:r>
              <a:rPr lang="nb-NO" sz="4000" b="1" dirty="0" smtClean="0">
                <a:solidFill>
                  <a:schemeClr val="tx2"/>
                </a:solidFill>
                <a:latin typeface="+mj-lt"/>
              </a:rPr>
              <a:t>Google Docs</a:t>
            </a:r>
          </a:p>
          <a:p>
            <a:pPr lvl="1">
              <a:buClr>
                <a:schemeClr val="tx2"/>
              </a:buClr>
            </a:pPr>
            <a:r>
              <a:rPr lang="nb-NO" sz="3600" b="1" dirty="0" err="1" smtClean="0">
                <a:solidFill>
                  <a:schemeClr val="tx2"/>
                </a:solidFill>
                <a:latin typeface="+mj-lt"/>
              </a:rPr>
              <a:t>Forgiving</a:t>
            </a:r>
            <a:r>
              <a:rPr lang="nb-NO" sz="3600" b="1" dirty="0" smtClean="0">
                <a:solidFill>
                  <a:schemeClr val="tx2"/>
                </a:solidFill>
                <a:latin typeface="+mj-lt"/>
              </a:rPr>
              <a:t> </a:t>
            </a:r>
            <a:r>
              <a:rPr lang="nb-NO" sz="3600" b="1" dirty="0" err="1" smtClean="0">
                <a:solidFill>
                  <a:schemeClr val="tx2"/>
                </a:solidFill>
                <a:latin typeface="+mj-lt"/>
              </a:rPr>
              <a:t>interface</a:t>
            </a:r>
            <a:endParaRPr lang="nb-NO" sz="20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317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Sylinder 3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ROSE </a:t>
            </a:r>
            <a:r>
              <a:rPr lang="nb-NO" dirty="0" err="1" smtClean="0"/>
              <a:t>Implementation</a:t>
            </a:r>
            <a:endParaRPr lang="nb-NO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772816"/>
            <a:ext cx="1368152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kstSylinder 5"/>
          <p:cNvSpPr txBox="1"/>
          <p:nvPr/>
        </p:nvSpPr>
        <p:spPr>
          <a:xfrm>
            <a:off x="2710479" y="2204864"/>
            <a:ext cx="5029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600" b="1" dirty="0" err="1" smtClean="0"/>
              <a:t>ClojureScript</a:t>
            </a:r>
            <a:r>
              <a:rPr lang="nb-NO" sz="3600" b="1" dirty="0" smtClean="0"/>
              <a:t> + Om</a:t>
            </a:r>
            <a:endParaRPr lang="nb-NO" sz="3600" b="1" dirty="0"/>
          </a:p>
        </p:txBody>
      </p:sp>
      <p:sp>
        <p:nvSpPr>
          <p:cNvPr id="2" name="AutoShape 4" descr="Bilderesultat for react j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095272"/>
            <a:ext cx="2905522" cy="804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479" y="3127422"/>
            <a:ext cx="2841675" cy="966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121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Sylinder 3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Questions</a:t>
            </a:r>
            <a:endParaRPr lang="nb-NO" dirty="0"/>
          </a:p>
        </p:txBody>
      </p:sp>
      <p:sp>
        <p:nvSpPr>
          <p:cNvPr id="5" name="TekstSylinder 4"/>
          <p:cNvSpPr txBox="1"/>
          <p:nvPr/>
        </p:nvSpPr>
        <p:spPr>
          <a:xfrm>
            <a:off x="1043608" y="2185993"/>
            <a:ext cx="653447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400" b="1" dirty="0" smtClean="0">
                <a:hlinkClick r:id="rId2"/>
              </a:rPr>
              <a:t>http://raird.no</a:t>
            </a:r>
          </a:p>
          <a:p>
            <a:pPr algn="ctr"/>
            <a:endParaRPr lang="nb-NO" sz="4400" b="1" dirty="0">
              <a:hlinkClick r:id="rId2"/>
            </a:endParaRPr>
          </a:p>
          <a:p>
            <a:pPr algn="ctr"/>
            <a:r>
              <a:rPr lang="nb-NO" sz="4400" b="1" dirty="0" smtClean="0">
                <a:hlinkClick r:id="rId2"/>
              </a:rPr>
              <a:t>ornulf.risnes@nsd.no</a:t>
            </a:r>
            <a:endParaRPr lang="nb-NO" sz="4400" b="1" dirty="0" smtClean="0"/>
          </a:p>
          <a:p>
            <a:pPr algn="ctr"/>
            <a:endParaRPr lang="nb-NO" sz="4400" b="1" dirty="0"/>
          </a:p>
        </p:txBody>
      </p:sp>
    </p:spTree>
    <p:extLst>
      <p:ext uri="{BB962C8B-B14F-4D97-AF65-F5344CB8AC3E}">
        <p14:creationId xmlns:p14="http://schemas.microsoft.com/office/powerpoint/2010/main" val="2846736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4|0.1|0.2|0.1|0.1|0.2|0.2|0.1"/>
</p:tagLst>
</file>

<file path=ppt/theme/theme1.xml><?xml version="1.0" encoding="utf-8"?>
<a:theme xmlns:a="http://schemas.openxmlformats.org/drawingml/2006/main" name="SSB-norsk">
  <a:themeElements>
    <a:clrScheme name="Fly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nneskelig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25400" cap="flat" cmpd="sng" algn="ctr">
          <a:solidFill>
            <a:srgbClr val="C00000"/>
          </a:solidFill>
          <a:prstDash val="solid"/>
          <a:round/>
          <a:headEnd type="none" w="med" len="med"/>
          <a:tailEnd type="none" w="med" len="med"/>
        </a:ln>
        <a:effectLst/>
        <a:ex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>
          <a:defRPr dirty="0" smtClean="0">
            <a:solidFill>
              <a:srgbClr val="336699"/>
            </a:solidFill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nb-NO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SB-nors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SB-nors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SB-nors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SB-nors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SB-nors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SB-nors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SB-nors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SB-norsk 8">
        <a:dk1>
          <a:srgbClr val="000099"/>
        </a:dk1>
        <a:lt1>
          <a:srgbClr val="FFFFFF"/>
        </a:lt1>
        <a:dk2>
          <a:srgbClr val="000000"/>
        </a:dk2>
        <a:lt2>
          <a:srgbClr val="B2B2B2"/>
        </a:lt2>
        <a:accent1>
          <a:srgbClr val="FF9900"/>
        </a:accent1>
        <a:accent2>
          <a:srgbClr val="008080"/>
        </a:accent2>
        <a:accent3>
          <a:srgbClr val="FFFFFF"/>
        </a:accent3>
        <a:accent4>
          <a:srgbClr val="000082"/>
        </a:accent4>
        <a:accent5>
          <a:srgbClr val="FFCAAA"/>
        </a:accent5>
        <a:accent6>
          <a:srgbClr val="007373"/>
        </a:accent6>
        <a:hlink>
          <a:srgbClr val="FF00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SB-norsk 9">
        <a:dk1>
          <a:srgbClr val="003399"/>
        </a:dk1>
        <a:lt1>
          <a:srgbClr val="FFFFFF"/>
        </a:lt1>
        <a:dk2>
          <a:srgbClr val="000000"/>
        </a:dk2>
        <a:lt2>
          <a:srgbClr val="B2B2B2"/>
        </a:lt2>
        <a:accent1>
          <a:srgbClr val="003399"/>
        </a:accent1>
        <a:accent2>
          <a:srgbClr val="008080"/>
        </a:accent2>
        <a:accent3>
          <a:srgbClr val="FFFFFF"/>
        </a:accent3>
        <a:accent4>
          <a:srgbClr val="002A82"/>
        </a:accent4>
        <a:accent5>
          <a:srgbClr val="AAADCA"/>
        </a:accent5>
        <a:accent6>
          <a:srgbClr val="007373"/>
        </a:accent6>
        <a:hlink>
          <a:srgbClr val="CC00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SSB-norsk</Template>
  <TotalTime>14321</TotalTime>
  <Pages>1</Pages>
  <Words>965</Words>
  <Application>Microsoft Office PowerPoint</Application>
  <PresentationFormat>Transparent</PresentationFormat>
  <Paragraphs>203</Paragraphs>
  <Slides>20</Slides>
  <Notes>16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Lysbildetitler</vt:lpstr>
      </vt:variant>
      <vt:variant>
        <vt:i4>20</vt:i4>
      </vt:variant>
    </vt:vector>
  </HeadingPairs>
  <TitlesOfParts>
    <vt:vector size="21" baseType="lpstr">
      <vt:lpstr>SSB-norsk</vt:lpstr>
      <vt:lpstr>RAIRD  Remote Access Infrastructure for Register Data  Beyond Discovery – Technical Solutions   Ørnulf Risnes,  Norwegian Social Science Data Services (NSD) &lt;ornulf.risnes@nsd.uib.no&gt;  EDDI 2015 Copenhagen 2 December 2015   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Statistisk sentralbyrå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Enklere og bedre tilgang til registerdata</dc:title>
  <dc:creator>Anders Grøndahl</dc:creator>
  <cp:lastModifiedBy>Ørnulf Risnes</cp:lastModifiedBy>
  <cp:revision>408</cp:revision>
  <cp:lastPrinted>2015-05-21T10:00:07Z</cp:lastPrinted>
  <dcterms:created xsi:type="dcterms:W3CDTF">2012-10-04T08:44:36Z</dcterms:created>
  <dcterms:modified xsi:type="dcterms:W3CDTF">2015-12-02T08:25:25Z</dcterms:modified>
</cp:coreProperties>
</file>