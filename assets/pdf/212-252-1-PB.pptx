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366" r:id="rId3"/>
    <p:sldId id="538" r:id="rId4"/>
    <p:sldId id="537" r:id="rId5"/>
    <p:sldId id="545" r:id="rId6"/>
    <p:sldId id="539" r:id="rId7"/>
    <p:sldId id="567" r:id="rId8"/>
    <p:sldId id="543" r:id="rId9"/>
    <p:sldId id="540" r:id="rId10"/>
    <p:sldId id="541" r:id="rId11"/>
    <p:sldId id="544" r:id="rId12"/>
    <p:sldId id="555" r:id="rId13"/>
    <p:sldId id="556" r:id="rId14"/>
    <p:sldId id="520" r:id="rId15"/>
    <p:sldId id="549" r:id="rId16"/>
    <p:sldId id="550" r:id="rId17"/>
    <p:sldId id="551" r:id="rId18"/>
    <p:sldId id="558" r:id="rId19"/>
    <p:sldId id="559" r:id="rId20"/>
    <p:sldId id="561" r:id="rId21"/>
    <p:sldId id="563" r:id="rId22"/>
    <p:sldId id="565" r:id="rId23"/>
    <p:sldId id="566" r:id="rId24"/>
    <p:sldId id="568" r:id="rId25"/>
    <p:sldId id="564" r:id="rId26"/>
    <p:sldId id="570" r:id="rId27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4060">
          <p15:clr>
            <a:srgbClr val="A4A3A4"/>
          </p15:clr>
        </p15:guide>
        <p15:guide id="2" pos="302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5193">
          <p15:clr>
            <a:srgbClr val="A4A3A4"/>
          </p15:clr>
        </p15:guide>
        <p15:guide id="2" pos="238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D4"/>
    <a:srgbClr val="75B6E5"/>
    <a:srgbClr val="26A3DD"/>
    <a:srgbClr val="A3CCEE"/>
    <a:srgbClr val="102D69"/>
    <a:srgbClr val="CFE2F6"/>
    <a:srgbClr val="0F78C8"/>
    <a:srgbClr val="2585B8"/>
    <a:srgbClr val="4BA6DD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49" autoAdjust="0"/>
    <p:restoredTop sz="94660" autoAdjust="0"/>
  </p:normalViewPr>
  <p:slideViewPr>
    <p:cSldViewPr>
      <p:cViewPr>
        <p:scale>
          <a:sx n="60" d="100"/>
          <a:sy n="60" d="100"/>
        </p:scale>
        <p:origin x="-1494" y="-384"/>
      </p:cViewPr>
      <p:guideLst>
        <p:guide orient="horz" pos="4060"/>
        <p:guide pos="3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822" y="-120"/>
      </p:cViewPr>
      <p:guideLst>
        <p:guide orient="horz" pos="5193"/>
        <p:guide pos="238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8C2D16-2144-41C6-BD17-B2BC929DCC99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da-DK"/>
        </a:p>
      </dgm:t>
    </dgm:pt>
    <dgm:pt modelId="{F1D29AD0-850F-4782-8DE9-4426770444C8}">
      <dgm:prSet/>
      <dgm:spPr/>
      <dgm:t>
        <a:bodyPr/>
        <a:lstStyle/>
        <a:p>
          <a:pPr rtl="0"/>
          <a:r>
            <a:rPr lang="en-GB" b="1" dirty="0" err="1" smtClean="0"/>
            <a:t>Fulfill</a:t>
          </a:r>
          <a:r>
            <a:rPr lang="en-GB" b="1" dirty="0" smtClean="0"/>
            <a:t> user-needs, comply with quality requirements and increased efficiency</a:t>
          </a:r>
          <a:endParaRPr lang="da-DK" b="1" dirty="0"/>
        </a:p>
      </dgm:t>
    </dgm:pt>
    <dgm:pt modelId="{54FB088A-14E0-4300-BD02-096781CB7596}" type="parTrans" cxnId="{850E1411-5C5F-442A-A013-B829BF75FB33}">
      <dgm:prSet/>
      <dgm:spPr/>
      <dgm:t>
        <a:bodyPr/>
        <a:lstStyle/>
        <a:p>
          <a:endParaRPr lang="da-DK"/>
        </a:p>
      </dgm:t>
    </dgm:pt>
    <dgm:pt modelId="{2A98C225-6D4B-40D7-A761-A7A5B2A12190}" type="sibTrans" cxnId="{850E1411-5C5F-442A-A013-B829BF75FB33}">
      <dgm:prSet/>
      <dgm:spPr/>
      <dgm:t>
        <a:bodyPr/>
        <a:lstStyle/>
        <a:p>
          <a:endParaRPr lang="da-DK"/>
        </a:p>
      </dgm:t>
    </dgm:pt>
    <dgm:pt modelId="{BAA7344D-9EBA-49AA-A7E6-84B8AFEBC8B6}">
      <dgm:prSet/>
      <dgm:spPr/>
      <dgm:t>
        <a:bodyPr/>
        <a:lstStyle/>
        <a:p>
          <a:pPr rtl="0"/>
          <a:r>
            <a:rPr lang="da-DK" b="1" dirty="0" smtClean="0"/>
            <a:t>Standards: GSBPM, GSIM, DDI, SDMX </a:t>
          </a:r>
          <a:endParaRPr lang="da-DK" b="1" dirty="0"/>
        </a:p>
      </dgm:t>
    </dgm:pt>
    <dgm:pt modelId="{8D41DC6E-444D-41BE-BD90-DAA316C5E3C4}" type="parTrans" cxnId="{A8F6DF8B-252F-4ECC-81BD-68FDCE09FB20}">
      <dgm:prSet/>
      <dgm:spPr/>
      <dgm:t>
        <a:bodyPr/>
        <a:lstStyle/>
        <a:p>
          <a:endParaRPr lang="da-DK"/>
        </a:p>
      </dgm:t>
    </dgm:pt>
    <dgm:pt modelId="{179AF175-9501-4E0A-B6B3-5FA0B1256E46}" type="sibTrans" cxnId="{A8F6DF8B-252F-4ECC-81BD-68FDCE09FB20}">
      <dgm:prSet/>
      <dgm:spPr/>
      <dgm:t>
        <a:bodyPr/>
        <a:lstStyle/>
        <a:p>
          <a:endParaRPr lang="da-DK"/>
        </a:p>
      </dgm:t>
    </dgm:pt>
    <dgm:pt modelId="{B0CF3C57-F646-4D4A-9F25-3CA177D98EDF}">
      <dgm:prSet/>
      <dgm:spPr/>
      <dgm:t>
        <a:bodyPr/>
        <a:lstStyle/>
        <a:p>
          <a:pPr rtl="0"/>
          <a:r>
            <a:rPr lang="da-DK" b="1" dirty="0" smtClean="0"/>
            <a:t>Principles a) Metadata </a:t>
          </a:r>
          <a:r>
            <a:rPr lang="da-DK" b="1" dirty="0" err="1" smtClean="0"/>
            <a:t>integrated</a:t>
          </a:r>
          <a:r>
            <a:rPr lang="da-DK" b="1" dirty="0" smtClean="0"/>
            <a:t> </a:t>
          </a:r>
          <a:r>
            <a:rPr lang="da-DK" b="1" dirty="0" err="1" smtClean="0"/>
            <a:t>into</a:t>
          </a:r>
          <a:r>
            <a:rPr lang="da-DK" b="1" dirty="0" smtClean="0"/>
            <a:t> GSBPM), b) </a:t>
          </a:r>
          <a:r>
            <a:rPr lang="da-DK" b="1" dirty="0" err="1" smtClean="0"/>
            <a:t>reuse</a:t>
          </a:r>
          <a:r>
            <a:rPr lang="da-DK" b="1" dirty="0" smtClean="0"/>
            <a:t> of metadata c) metadata </a:t>
          </a:r>
          <a:r>
            <a:rPr lang="da-DK" b="1" dirty="0" err="1" smtClean="0"/>
            <a:t>used</a:t>
          </a:r>
          <a:r>
            <a:rPr lang="da-DK" b="1" dirty="0" smtClean="0"/>
            <a:t> </a:t>
          </a:r>
          <a:r>
            <a:rPr lang="da-DK" b="1" dirty="0" err="1" smtClean="0"/>
            <a:t>actively</a:t>
          </a:r>
          <a:endParaRPr lang="da-DK" b="1" dirty="0"/>
        </a:p>
      </dgm:t>
    </dgm:pt>
    <dgm:pt modelId="{E152FDB5-EB56-4309-94A8-F14FCAE5BBD0}" type="parTrans" cxnId="{F4003A46-8EFD-49A6-AA3E-1513418AF124}">
      <dgm:prSet/>
      <dgm:spPr/>
      <dgm:t>
        <a:bodyPr/>
        <a:lstStyle/>
        <a:p>
          <a:endParaRPr lang="da-DK"/>
        </a:p>
      </dgm:t>
    </dgm:pt>
    <dgm:pt modelId="{D8DD3E30-50DC-434C-9CD5-3EDCAE7549F9}" type="sibTrans" cxnId="{F4003A46-8EFD-49A6-AA3E-1513418AF124}">
      <dgm:prSet/>
      <dgm:spPr/>
      <dgm:t>
        <a:bodyPr/>
        <a:lstStyle/>
        <a:p>
          <a:endParaRPr lang="da-DK"/>
        </a:p>
      </dgm:t>
    </dgm:pt>
    <dgm:pt modelId="{A2B3759C-016B-4037-93D5-3BA4FD401CBB}" type="pres">
      <dgm:prSet presAssocID="{9C8C2D16-2144-41C6-BD17-B2BC929DCC9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da-DK"/>
        </a:p>
      </dgm:t>
    </dgm:pt>
    <dgm:pt modelId="{0406A33A-4A08-4EA1-9144-421EBE7B1F52}" type="pres">
      <dgm:prSet presAssocID="{F1D29AD0-850F-4782-8DE9-4426770444C8}" presName="parentText" presStyleLbl="node1" presStyleIdx="0" presStyleCnt="3" custScaleY="125332" custLinFactY="-1113" custLinFactNeighborX="-876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da-DK"/>
        </a:p>
      </dgm:t>
    </dgm:pt>
    <dgm:pt modelId="{13C7483A-EFB1-4C20-A00F-F37A921AD64A}" type="pres">
      <dgm:prSet presAssocID="{2A98C225-6D4B-40D7-A761-A7A5B2A12190}" presName="spacer" presStyleCnt="0"/>
      <dgm:spPr/>
    </dgm:pt>
    <dgm:pt modelId="{59988099-1C58-4EDE-BE0F-3B13BCE01F09}" type="pres">
      <dgm:prSet presAssocID="{B0CF3C57-F646-4D4A-9F25-3CA177D98EDF}" presName="parentText" presStyleLbl="node1" presStyleIdx="1" presStyleCnt="3" custScaleY="134439" custLinFactY="129149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da-DK"/>
        </a:p>
      </dgm:t>
    </dgm:pt>
    <dgm:pt modelId="{F19443A3-D5DD-4B6E-98D1-0DFF0B0E05D8}" type="pres">
      <dgm:prSet presAssocID="{D8DD3E30-50DC-434C-9CD5-3EDCAE7549F9}" presName="spacer" presStyleCnt="0"/>
      <dgm:spPr/>
    </dgm:pt>
    <dgm:pt modelId="{B39674ED-DB9E-48D4-951F-534903BDEAB8}" type="pres">
      <dgm:prSet presAssocID="{BAA7344D-9EBA-49AA-A7E6-84B8AFEBC8B6}" presName="parentText" presStyleLbl="node1" presStyleIdx="2" presStyleCnt="3" custScaleY="143136" custLinFactY="-132138" custLinFactNeighborY="-200000">
        <dgm:presLayoutVars>
          <dgm:chMax val="0"/>
          <dgm:bulletEnabled val="1"/>
        </dgm:presLayoutVars>
      </dgm:prSet>
      <dgm:spPr/>
      <dgm:t>
        <a:bodyPr/>
        <a:lstStyle/>
        <a:p>
          <a:endParaRPr lang="da-DK"/>
        </a:p>
      </dgm:t>
    </dgm:pt>
  </dgm:ptLst>
  <dgm:cxnLst>
    <dgm:cxn modelId="{4877B65D-C4B3-B249-9949-220CE13663C0}" type="presOf" srcId="{B0CF3C57-F646-4D4A-9F25-3CA177D98EDF}" destId="{59988099-1C58-4EDE-BE0F-3B13BCE01F09}" srcOrd="0" destOrd="0" presId="urn:microsoft.com/office/officeart/2005/8/layout/vList2"/>
    <dgm:cxn modelId="{9A1D0019-B3F6-9443-91CC-8D53CD39ED46}" type="presOf" srcId="{BAA7344D-9EBA-49AA-A7E6-84B8AFEBC8B6}" destId="{B39674ED-DB9E-48D4-951F-534903BDEAB8}" srcOrd="0" destOrd="0" presId="urn:microsoft.com/office/officeart/2005/8/layout/vList2"/>
    <dgm:cxn modelId="{61F91509-C1E4-4144-AB7F-C456D5FFF944}" type="presOf" srcId="{9C8C2D16-2144-41C6-BD17-B2BC929DCC99}" destId="{A2B3759C-016B-4037-93D5-3BA4FD401CBB}" srcOrd="0" destOrd="0" presId="urn:microsoft.com/office/officeart/2005/8/layout/vList2"/>
    <dgm:cxn modelId="{A8F6DF8B-252F-4ECC-81BD-68FDCE09FB20}" srcId="{9C8C2D16-2144-41C6-BD17-B2BC929DCC99}" destId="{BAA7344D-9EBA-49AA-A7E6-84B8AFEBC8B6}" srcOrd="2" destOrd="0" parTransId="{8D41DC6E-444D-41BE-BD90-DAA316C5E3C4}" sibTransId="{179AF175-9501-4E0A-B6B3-5FA0B1256E46}"/>
    <dgm:cxn modelId="{CBB5E695-E1EF-1B48-81DE-58E141040226}" type="presOf" srcId="{F1D29AD0-850F-4782-8DE9-4426770444C8}" destId="{0406A33A-4A08-4EA1-9144-421EBE7B1F52}" srcOrd="0" destOrd="0" presId="urn:microsoft.com/office/officeart/2005/8/layout/vList2"/>
    <dgm:cxn modelId="{F4003A46-8EFD-49A6-AA3E-1513418AF124}" srcId="{9C8C2D16-2144-41C6-BD17-B2BC929DCC99}" destId="{B0CF3C57-F646-4D4A-9F25-3CA177D98EDF}" srcOrd="1" destOrd="0" parTransId="{E152FDB5-EB56-4309-94A8-F14FCAE5BBD0}" sibTransId="{D8DD3E30-50DC-434C-9CD5-3EDCAE7549F9}"/>
    <dgm:cxn modelId="{850E1411-5C5F-442A-A013-B829BF75FB33}" srcId="{9C8C2D16-2144-41C6-BD17-B2BC929DCC99}" destId="{F1D29AD0-850F-4782-8DE9-4426770444C8}" srcOrd="0" destOrd="0" parTransId="{54FB088A-14E0-4300-BD02-096781CB7596}" sibTransId="{2A98C225-6D4B-40D7-A761-A7A5B2A12190}"/>
    <dgm:cxn modelId="{9FF0CD05-3615-974D-89C5-FB8AE0037803}" type="presParOf" srcId="{A2B3759C-016B-4037-93D5-3BA4FD401CBB}" destId="{0406A33A-4A08-4EA1-9144-421EBE7B1F52}" srcOrd="0" destOrd="0" presId="urn:microsoft.com/office/officeart/2005/8/layout/vList2"/>
    <dgm:cxn modelId="{57C2B42E-7716-8041-A2C3-01F135255CC2}" type="presParOf" srcId="{A2B3759C-016B-4037-93D5-3BA4FD401CBB}" destId="{13C7483A-EFB1-4C20-A00F-F37A921AD64A}" srcOrd="1" destOrd="0" presId="urn:microsoft.com/office/officeart/2005/8/layout/vList2"/>
    <dgm:cxn modelId="{66C349B1-1AA0-3E41-B664-6DD78BC0462A}" type="presParOf" srcId="{A2B3759C-016B-4037-93D5-3BA4FD401CBB}" destId="{59988099-1C58-4EDE-BE0F-3B13BCE01F09}" srcOrd="2" destOrd="0" presId="urn:microsoft.com/office/officeart/2005/8/layout/vList2"/>
    <dgm:cxn modelId="{4967C9C6-3D02-E647-8C3C-A72D57A83D16}" type="presParOf" srcId="{A2B3759C-016B-4037-93D5-3BA4FD401CBB}" destId="{F19443A3-D5DD-4B6E-98D1-0DFF0B0E05D8}" srcOrd="3" destOrd="0" presId="urn:microsoft.com/office/officeart/2005/8/layout/vList2"/>
    <dgm:cxn modelId="{0739CF7B-35F9-0645-8798-30A302DDEFDE}" type="presParOf" srcId="{A2B3759C-016B-4037-93D5-3BA4FD401CBB}" destId="{B39674ED-DB9E-48D4-951F-534903BDEAB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6A33A-4A08-4EA1-9144-421EBE7B1F52}">
      <dsp:nvSpPr>
        <dsp:cNvPr id="0" name=""/>
        <dsp:cNvSpPr/>
      </dsp:nvSpPr>
      <dsp:spPr>
        <a:xfrm>
          <a:off x="0" y="0"/>
          <a:ext cx="8219256" cy="1382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b="1" kern="1200" dirty="0" err="1" smtClean="0"/>
            <a:t>Fulfill</a:t>
          </a:r>
          <a:r>
            <a:rPr lang="en-GB" sz="2300" b="1" kern="1200" dirty="0" smtClean="0"/>
            <a:t> user-needs, comply with quality requirements and increased efficiency</a:t>
          </a:r>
          <a:endParaRPr lang="da-DK" sz="2300" b="1" kern="1200" dirty="0"/>
        </a:p>
      </dsp:txBody>
      <dsp:txXfrm>
        <a:off x="67503" y="67503"/>
        <a:ext cx="8084250" cy="1247794"/>
      </dsp:txXfrm>
    </dsp:sp>
    <dsp:sp modelId="{59988099-1C58-4EDE-BE0F-3B13BCE01F09}">
      <dsp:nvSpPr>
        <dsp:cNvPr id="0" name=""/>
        <dsp:cNvSpPr/>
      </dsp:nvSpPr>
      <dsp:spPr>
        <a:xfrm>
          <a:off x="0" y="3021793"/>
          <a:ext cx="8219256" cy="1483278"/>
        </a:xfrm>
        <a:prstGeom prst="roundRect">
          <a:avLst/>
        </a:prstGeom>
        <a:solidFill>
          <a:schemeClr val="accent4">
            <a:hueOff val="7328650"/>
            <a:satOff val="13698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a-DK" sz="2300" b="1" kern="1200" dirty="0" smtClean="0"/>
            <a:t>Principles a) Metadata </a:t>
          </a:r>
          <a:r>
            <a:rPr lang="da-DK" sz="2300" b="1" kern="1200" dirty="0" err="1" smtClean="0"/>
            <a:t>integrated</a:t>
          </a:r>
          <a:r>
            <a:rPr lang="da-DK" sz="2300" b="1" kern="1200" dirty="0" smtClean="0"/>
            <a:t> </a:t>
          </a:r>
          <a:r>
            <a:rPr lang="da-DK" sz="2300" b="1" kern="1200" dirty="0" err="1" smtClean="0"/>
            <a:t>into</a:t>
          </a:r>
          <a:r>
            <a:rPr lang="da-DK" sz="2300" b="1" kern="1200" dirty="0" smtClean="0"/>
            <a:t> GSBPM), b) </a:t>
          </a:r>
          <a:r>
            <a:rPr lang="da-DK" sz="2300" b="1" kern="1200" dirty="0" err="1" smtClean="0"/>
            <a:t>reuse</a:t>
          </a:r>
          <a:r>
            <a:rPr lang="da-DK" sz="2300" b="1" kern="1200" dirty="0" smtClean="0"/>
            <a:t> of metadata c) metadata </a:t>
          </a:r>
          <a:r>
            <a:rPr lang="da-DK" sz="2300" b="1" kern="1200" dirty="0" err="1" smtClean="0"/>
            <a:t>used</a:t>
          </a:r>
          <a:r>
            <a:rPr lang="da-DK" sz="2300" b="1" kern="1200" dirty="0" smtClean="0"/>
            <a:t> </a:t>
          </a:r>
          <a:r>
            <a:rPr lang="da-DK" sz="2300" b="1" kern="1200" dirty="0" err="1" smtClean="0"/>
            <a:t>actively</a:t>
          </a:r>
          <a:endParaRPr lang="da-DK" sz="2300" b="1" kern="1200" dirty="0"/>
        </a:p>
      </dsp:txBody>
      <dsp:txXfrm>
        <a:off x="72408" y="3094201"/>
        <a:ext cx="8074440" cy="1338462"/>
      </dsp:txXfrm>
    </dsp:sp>
    <dsp:sp modelId="{B39674ED-DB9E-48D4-951F-534903BDEAB8}">
      <dsp:nvSpPr>
        <dsp:cNvPr id="0" name=""/>
        <dsp:cNvSpPr/>
      </dsp:nvSpPr>
      <dsp:spPr>
        <a:xfrm>
          <a:off x="0" y="1423546"/>
          <a:ext cx="8219256" cy="1579233"/>
        </a:xfrm>
        <a:prstGeom prst="roundRect">
          <a:avLst/>
        </a:prstGeom>
        <a:solidFill>
          <a:schemeClr val="accent4">
            <a:hueOff val="14657300"/>
            <a:satOff val="27397"/>
            <a:lumOff val="27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a-DK" sz="2300" b="1" kern="1200" dirty="0" smtClean="0"/>
            <a:t>Standards: GSBPM, GSIM, DDI, SDMX </a:t>
          </a:r>
          <a:endParaRPr lang="da-DK" sz="2300" b="1" kern="1200" dirty="0"/>
        </a:p>
      </dsp:txBody>
      <dsp:txXfrm>
        <a:off x="77092" y="1500638"/>
        <a:ext cx="8065072" cy="14250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nummer 1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77E02-92A6-4B9C-BBA2-74867274E378}" type="slidenum">
              <a:rPr lang="da-DK" smtClean="0"/>
              <a:t>‹nr.›</a:t>
            </a:fld>
            <a:endParaRPr lang="da-DK"/>
          </a:p>
        </p:txBody>
      </p:sp>
      <p:pic>
        <p:nvPicPr>
          <p:cNvPr id="4098" name="Picture 2" descr="Q:\PPT\SAMLING\JV\Logo2013\LogoUkPri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00" y="8532000"/>
            <a:ext cx="914400" cy="48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481013" y="222250"/>
            <a:ext cx="3946525" cy="251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4" tIns="48287" rIns="96574" bIns="48287">
            <a:spAutoFit/>
          </a:bodyPr>
          <a:lstStyle>
            <a:lvl1pPr algn="l" defTabSz="923925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461963" algn="l" defTabSz="923925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923925" algn="l" defTabSz="923925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384300" algn="l" defTabSz="923925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1846263" algn="l" defTabSz="923925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303463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760663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217863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675063" defTabSz="923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defRPr/>
            </a:pPr>
            <a:r>
              <a:rPr lang="da-DK" sz="1000" b="1" dirty="0" err="1" smtClean="0"/>
              <a:t>Study</a:t>
            </a:r>
            <a:r>
              <a:rPr lang="da-DK" sz="1000" b="1" dirty="0" smtClean="0"/>
              <a:t> visit from Israel to Copenhagen,  21-23 </a:t>
            </a:r>
            <a:r>
              <a:rPr lang="da-DK" sz="1000" b="1" dirty="0" err="1" smtClean="0"/>
              <a:t>October</a:t>
            </a:r>
            <a:r>
              <a:rPr lang="da-DK" sz="1000" b="1" dirty="0" smtClean="0"/>
              <a:t> 2013</a:t>
            </a:r>
            <a:endParaRPr lang="da-DK" sz="1000" b="1" dirty="0"/>
          </a:p>
        </p:txBody>
      </p:sp>
    </p:spTree>
    <p:extLst>
      <p:ext uri="{BB962C8B-B14F-4D97-AF65-F5344CB8AC3E}">
        <p14:creationId xmlns:p14="http://schemas.microsoft.com/office/powerpoint/2010/main" val="3513402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20EA3-EEEC-4EE3-8111-65C8C600CA44}" type="slidenum">
              <a:rPr lang="da-DK" smtClean="0"/>
              <a:t>‹nr.›</a:t>
            </a:fld>
            <a:endParaRPr lang="da-DK"/>
          </a:p>
        </p:txBody>
      </p:sp>
      <p:pic>
        <p:nvPicPr>
          <p:cNvPr id="8" name="Picture 2" descr="Q:\PPT\SAMLING\JV\Logo2013\LogoUkPri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00" y="8532000"/>
            <a:ext cx="914400" cy="48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26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>
          <a:xfrm>
            <a:off x="684213" y="323850"/>
            <a:ext cx="5470525" cy="4103688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>
          <a:xfrm>
            <a:off x="684000" y="4680000"/>
            <a:ext cx="5472000" cy="3600000"/>
          </a:xfrm>
        </p:spPr>
        <p:txBody>
          <a:bodyPr/>
          <a:lstStyle/>
          <a:p>
            <a:endParaRPr lang="da-DK" dirty="0">
              <a:latin typeface="Lucida Sans"/>
            </a:endParaRP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>
          <a:xfrm>
            <a:off x="3227461" y="8676456"/>
            <a:ext cx="403077" cy="321941"/>
          </a:xfrm>
        </p:spPr>
        <p:txBody>
          <a:bodyPr/>
          <a:lstStyle/>
          <a:p>
            <a:pPr algn="ctr"/>
            <a:fld id="{DC720EA3-EEEC-4EE3-8111-65C8C600CA44}" type="slidenum">
              <a:rPr lang="da-DK" smtClean="0">
                <a:latin typeface="Lucida Sans"/>
              </a:rPr>
              <a:pPr algn="ctr"/>
              <a:t>1</a:t>
            </a:fld>
            <a:endParaRPr lang="da-DK">
              <a:latin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747049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BE0A49-D51E-5D4B-8DB3-E2FF86CB0917}" type="slidenum">
              <a:rPr lang="da-DK" smtClean="0">
                <a:solidFill>
                  <a:prstClr val="black"/>
                </a:solidFill>
              </a:rPr>
              <a:pPr/>
              <a:t>7</a:t>
            </a:fld>
            <a:endParaRPr lang="da-DK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295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0CAB3FB8-EDD8-4349-B744-6FD1844FD027}" type="slidenum">
              <a:rPr lang="da-DK" altLang="da-DK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12</a:t>
            </a:fld>
            <a:endParaRPr lang="da-DK" altLang="da-DK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96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280" y="4342816"/>
            <a:ext cx="5488639" cy="411655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49" tIns="45725" rIns="91449" bIns="45725" anchor="ctr"/>
          <a:lstStyle/>
          <a:p>
            <a:endParaRPr lang="en-US" altLang="da-DK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411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fld id="{0CAB3FB8-EDD8-4349-B744-6FD1844FD027}" type="slidenum">
              <a:rPr lang="da-DK" altLang="da-DK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13</a:t>
            </a:fld>
            <a:endParaRPr lang="da-DK" altLang="da-DK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96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280" y="4342816"/>
            <a:ext cx="5488639" cy="411655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49" tIns="45725" rIns="91449" bIns="45725" anchor="ctr"/>
          <a:lstStyle/>
          <a:p>
            <a:endParaRPr lang="en-US" altLang="da-DK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244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20EA3-EEEC-4EE3-8111-65C8C600CA44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7648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323528" y="332656"/>
            <a:ext cx="8352928" cy="3456384"/>
          </a:xfrm>
          <a:prstGeom prst="rect">
            <a:avLst/>
          </a:prstGeom>
          <a:solidFill>
            <a:srgbClr val="26A3D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67544" y="476672"/>
            <a:ext cx="6264696" cy="1467594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467544" y="2060848"/>
            <a:ext cx="6264696" cy="1554857"/>
          </a:xfrm>
        </p:spPr>
        <p:txBody>
          <a:bodyPr>
            <a:norm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pic>
        <p:nvPicPr>
          <p:cNvPr id="5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0" y="5947200"/>
            <a:ext cx="931500" cy="496800"/>
          </a:xfrm>
          <a:prstGeom prst="rect">
            <a:avLst/>
          </a:prstGeom>
          <a:noFill/>
          <a:effectLst>
            <a:outerShdw blurRad="12700" dist="12700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535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67544" y="1600200"/>
            <a:ext cx="8219256" cy="4525963"/>
          </a:xfrm>
        </p:spPr>
        <p:txBody>
          <a:bodyPr/>
          <a:lstStyle>
            <a:lvl1pPr marL="268288" indent="-268288">
              <a:buClr>
                <a:srgbClr val="0091D4"/>
              </a:buClr>
              <a:buSzPct val="100000"/>
              <a:buFont typeface="Wingdings" pitchFamily="2" charset="2"/>
              <a:buChar char=""/>
              <a:defRPr sz="2600" b="0">
                <a:latin typeface="Arial" pitchFamily="34" charset="0"/>
                <a:cs typeface="Arial" pitchFamily="34" charset="0"/>
              </a:defRPr>
            </a:lvl1pPr>
            <a:lvl2pPr marL="531813" indent="-263525">
              <a:buClr>
                <a:srgbClr val="0091D4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2pPr>
            <a:lvl3pPr marL="809625" indent="-266700">
              <a:buClr>
                <a:srgbClr val="0091D4"/>
              </a:buClr>
              <a:buSzPct val="100000"/>
              <a:buFontTx/>
              <a:buChar char="-"/>
              <a:defRPr sz="1800" baseline="0">
                <a:latin typeface="Arial" pitchFamily="34" charset="0"/>
              </a:defRPr>
            </a:lvl3pPr>
            <a:lvl4pPr marL="648000" indent="-180000">
              <a:buClr>
                <a:srgbClr val="2585B8"/>
              </a:buClr>
              <a:buSzPct val="60000"/>
              <a:buFont typeface="Wingdings" pitchFamily="2" charset="2"/>
              <a:buChar char="n"/>
              <a:defRPr sz="1400">
                <a:latin typeface="Lucida Sans" pitchFamily="34" charset="0"/>
              </a:defRPr>
            </a:lvl4pPr>
            <a:lvl5pPr marL="756000" indent="-180000">
              <a:buClr>
                <a:srgbClr val="2585B8"/>
              </a:buClr>
              <a:buSzPct val="50000"/>
              <a:buFont typeface="Wingdings" pitchFamily="2" charset="2"/>
              <a:buChar char="n"/>
              <a:defRPr sz="1200">
                <a:latin typeface="Lucida Sans" pitchFamily="34" charset="0"/>
              </a:defRPr>
            </a:lvl5pPr>
          </a:lstStyle>
          <a:p>
            <a:pPr lvl="0"/>
            <a:r>
              <a:rPr lang="da-DK" noProof="0" dirty="0" smtClean="0"/>
              <a:t>Klik for at redigere i master</a:t>
            </a:r>
          </a:p>
          <a:p>
            <a:pPr lvl="1"/>
            <a:r>
              <a:rPr lang="da-DK" noProof="0" dirty="0" smtClean="0"/>
              <a:t>Andet niveau</a:t>
            </a:r>
          </a:p>
          <a:p>
            <a:pPr lvl="2"/>
            <a:r>
              <a:rPr lang="da-DK" noProof="0" dirty="0" smtClean="0"/>
              <a:t>Tredje niveau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8" name="Rektangel 7"/>
          <p:cNvSpPr/>
          <p:nvPr userDrawn="1"/>
        </p:nvSpPr>
        <p:spPr>
          <a:xfrm>
            <a:off x="-7169" y="6165304"/>
            <a:ext cx="9151169" cy="692696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400" baseline="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4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272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ktangel 20"/>
          <p:cNvSpPr/>
          <p:nvPr userDrawn="1"/>
        </p:nvSpPr>
        <p:spPr>
          <a:xfrm>
            <a:off x="-7169" y="6165304"/>
            <a:ext cx="9151169" cy="692696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indhold 2"/>
          <p:cNvSpPr>
            <a:spLocks noGrp="1"/>
          </p:cNvSpPr>
          <p:nvPr>
            <p:ph idx="1"/>
          </p:nvPr>
        </p:nvSpPr>
        <p:spPr>
          <a:xfrm>
            <a:off x="467544" y="1600200"/>
            <a:ext cx="5472608" cy="4525963"/>
          </a:xfrm>
        </p:spPr>
        <p:txBody>
          <a:bodyPr/>
          <a:lstStyle>
            <a:lvl1pPr marL="268288" indent="-268288">
              <a:buClr>
                <a:srgbClr val="0091D4"/>
              </a:buClr>
              <a:buSzPct val="100000"/>
              <a:buFont typeface="Wingdings" pitchFamily="2" charset="2"/>
              <a:buChar char=""/>
              <a:defRPr sz="2600" b="0">
                <a:latin typeface="Arial" pitchFamily="34" charset="0"/>
                <a:cs typeface="Arial" pitchFamily="34" charset="0"/>
              </a:defRPr>
            </a:lvl1pPr>
            <a:lvl2pPr marL="531813" indent="-263525">
              <a:buClr>
                <a:srgbClr val="0091D4"/>
              </a:buClr>
              <a:buSzPct val="80000"/>
              <a:buFont typeface="Wingdings" pitchFamily="2" charset="2"/>
              <a:buChar char="§"/>
              <a:defRPr sz="2200">
                <a:latin typeface="Arial" pitchFamily="34" charset="0"/>
                <a:cs typeface="Arial" pitchFamily="34" charset="0"/>
              </a:defRPr>
            </a:lvl2pPr>
            <a:lvl3pPr marL="809625" indent="-266700">
              <a:buClr>
                <a:srgbClr val="0091D4"/>
              </a:buClr>
              <a:buSzPct val="100000"/>
              <a:buFontTx/>
              <a:buChar char="-"/>
              <a:defRPr sz="1800" baseline="0">
                <a:latin typeface="Arial" pitchFamily="34" charset="0"/>
              </a:defRPr>
            </a:lvl3pPr>
            <a:lvl4pPr marL="648000" indent="-180000">
              <a:buClr>
                <a:srgbClr val="2585B8"/>
              </a:buClr>
              <a:buSzPct val="60000"/>
              <a:buFont typeface="Wingdings" pitchFamily="2" charset="2"/>
              <a:buChar char="n"/>
              <a:defRPr sz="1400">
                <a:latin typeface="Lucida Sans" pitchFamily="34" charset="0"/>
              </a:defRPr>
            </a:lvl4pPr>
            <a:lvl5pPr marL="756000" indent="-180000">
              <a:buClr>
                <a:srgbClr val="2585B8"/>
              </a:buClr>
              <a:buSzPct val="50000"/>
              <a:buFont typeface="Wingdings" pitchFamily="2" charset="2"/>
              <a:buChar char="n"/>
              <a:defRPr sz="1200">
                <a:latin typeface="Lucida Sans" pitchFamily="34" charset="0"/>
              </a:defRPr>
            </a:lvl5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  <a:p>
            <a:pPr lvl="2"/>
            <a:r>
              <a:rPr lang="da-DK" noProof="0" smtClean="0"/>
              <a:t>Tredje niveau</a:t>
            </a:r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56176" y="1628800"/>
            <a:ext cx="2530624" cy="4536504"/>
          </a:xfrm>
          <a:solidFill>
            <a:srgbClr val="0091D4">
              <a:alpha val="80000"/>
            </a:srgbClr>
          </a:solidFill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6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144000" indent="0">
              <a:buFontTx/>
              <a:buNone/>
              <a:defRPr sz="2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288000" indent="0">
              <a:buFontTx/>
              <a:buNone/>
              <a:defRPr sz="1800">
                <a:solidFill>
                  <a:schemeClr val="bg1"/>
                </a:solidFill>
                <a:latin typeface="Lucida Sans" pitchFamily="34" charset="0"/>
              </a:defRPr>
            </a:lvl3pPr>
            <a:lvl4pPr marL="432000" indent="0">
              <a:buFontTx/>
              <a:buNone/>
              <a:defRPr sz="1600">
                <a:solidFill>
                  <a:schemeClr val="bg1"/>
                </a:solidFill>
                <a:latin typeface="Lucida Sans" pitchFamily="34" charset="0"/>
              </a:defRPr>
            </a:lvl4pPr>
            <a:lvl5pPr marL="576000" indent="0">
              <a:buFontTx/>
              <a:buNone/>
              <a:defRPr sz="16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</p:txBody>
      </p:sp>
      <p:sp>
        <p:nvSpPr>
          <p:cNvPr id="12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400" baseline="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22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2581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ktangel 25"/>
          <p:cNvSpPr/>
          <p:nvPr userDrawn="1"/>
        </p:nvSpPr>
        <p:spPr>
          <a:xfrm>
            <a:off x="0" y="6165304"/>
            <a:ext cx="9144001" cy="695743"/>
          </a:xfrm>
          <a:prstGeom prst="rect">
            <a:avLst/>
          </a:prstGeom>
          <a:solidFill>
            <a:srgbClr val="0091D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8691562" y="6514165"/>
            <a:ext cx="416942" cy="270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400" baseline="0">
                <a:solidFill>
                  <a:schemeClr val="bg1"/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8" name="Pladsholder til indhold 3"/>
          <p:cNvSpPr>
            <a:spLocks noGrp="1"/>
          </p:cNvSpPr>
          <p:nvPr>
            <p:ph sz="half" idx="2"/>
          </p:nvPr>
        </p:nvSpPr>
        <p:spPr>
          <a:xfrm>
            <a:off x="6156176" y="1628800"/>
            <a:ext cx="2530624" cy="4536504"/>
          </a:xfrm>
          <a:solidFill>
            <a:srgbClr val="0091D4">
              <a:alpha val="80000"/>
            </a:srgbClr>
          </a:solidFill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6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144000" indent="0">
              <a:buFontTx/>
              <a:buNone/>
              <a:defRPr sz="22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288000" indent="0">
              <a:buFontTx/>
              <a:buNone/>
              <a:defRPr sz="1800">
                <a:solidFill>
                  <a:schemeClr val="bg1"/>
                </a:solidFill>
                <a:latin typeface="Lucida Sans" pitchFamily="34" charset="0"/>
              </a:defRPr>
            </a:lvl3pPr>
            <a:lvl4pPr marL="432000" indent="0">
              <a:buFontTx/>
              <a:buNone/>
              <a:defRPr sz="1600">
                <a:solidFill>
                  <a:schemeClr val="bg1"/>
                </a:solidFill>
                <a:latin typeface="Lucida Sans" pitchFamily="34" charset="0"/>
              </a:defRPr>
            </a:lvl4pPr>
            <a:lvl5pPr marL="576000" indent="0">
              <a:buFontTx/>
              <a:buNone/>
              <a:defRPr sz="16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noProof="0" smtClean="0"/>
              <a:t>Klik for at redigere i master</a:t>
            </a:r>
          </a:p>
          <a:p>
            <a:pPr lvl="1"/>
            <a:r>
              <a:rPr lang="da-DK" noProof="0" smtClean="0"/>
              <a:t>Andet niveau</a:t>
            </a:r>
          </a:p>
        </p:txBody>
      </p:sp>
      <p:sp>
        <p:nvSpPr>
          <p:cNvPr id="38" name="Titel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08912" cy="11430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0091D4"/>
                </a:solidFill>
                <a:latin typeface="Georgia" pitchFamily="18" charset="0"/>
              </a:defRPr>
            </a:lvl1pPr>
          </a:lstStyle>
          <a:p>
            <a:r>
              <a:rPr lang="da-DK" noProof="0" smtClean="0"/>
              <a:t>Klik for at redigere i master</a:t>
            </a:r>
            <a:endParaRPr lang="en-GB" noProof="0" dirty="0"/>
          </a:p>
        </p:txBody>
      </p:sp>
      <p:pic>
        <p:nvPicPr>
          <p:cNvPr id="20" name="Picture 2" descr="H:\JV\DIV\logoer\Logo2013\UKhvid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0" y="6343200"/>
            <a:ext cx="648000" cy="34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2653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754537-0FB4-447B-82B9-A988A45AF6DE}" type="datetimeFigureOut">
              <a:rPr lang="en-US"/>
              <a:pPr>
                <a:defRPr/>
              </a:pPr>
              <a:t>12/2/2015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47D0C-DECB-44CF-8015-146678959D02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smtClean="0"/>
              <a:t>Klik for at redigere i master</a:t>
            </a:r>
            <a:endParaRPr lang="en-GB" noProof="0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smtClean="0"/>
              <a:t>Klik for at redigere i master</a:t>
            </a:r>
          </a:p>
          <a:p>
            <a:pPr lvl="1"/>
            <a:r>
              <a:rPr lang="en-GB" noProof="0" smtClean="0"/>
              <a:t>Andet niveau</a:t>
            </a:r>
          </a:p>
          <a:p>
            <a:pPr lvl="2"/>
            <a:r>
              <a:rPr lang="en-GB" noProof="0" smtClean="0"/>
              <a:t>Tredje niveau</a:t>
            </a:r>
          </a:p>
          <a:p>
            <a:pPr lvl="3"/>
            <a:r>
              <a:rPr lang="en-GB" noProof="0" smtClean="0"/>
              <a:t>Fjerde niveau</a:t>
            </a:r>
          </a:p>
          <a:p>
            <a:pPr lvl="4"/>
            <a:r>
              <a:rPr lang="en-GB" noProof="0" smtClean="0"/>
              <a:t>Femte niveau</a:t>
            </a:r>
            <a:endParaRPr lang="en-GB" noProof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ucida Sans"/>
              </a:defRPr>
            </a:lvl1pPr>
          </a:lstStyle>
          <a:p>
            <a:fld id="{BE0DDEB0-2A7A-4824-9558-A361FF9FC87C}" type="datetime4">
              <a:rPr lang="en-US" smtClean="0"/>
              <a:t>December 2, 2015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ucida Sans"/>
              </a:defRPr>
            </a:lvl1pPr>
          </a:lstStyle>
          <a:p>
            <a:fld id="{04C73271-F603-4B8B-BC48-CACE9C399C01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496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62" r:id="rId5"/>
  </p:sldLayoutIdLst>
  <p:timing>
    <p:tnLst>
      <p:par>
        <p:cTn id="1" dur="indefinite" restart="never" nodeType="tmRoot"/>
      </p:par>
    </p:tnLst>
  </p:timing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mgn@dst.d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>
          <a:xfrm>
            <a:off x="611560" y="908720"/>
            <a:ext cx="7128792" cy="1467594"/>
          </a:xfrm>
        </p:spPr>
        <p:txBody>
          <a:bodyPr>
            <a:normAutofit fontScale="90000"/>
          </a:bodyPr>
          <a:lstStyle/>
          <a:p>
            <a:pPr marL="457200" indent="-457200" algn="ctr">
              <a:defRPr/>
            </a:pPr>
            <a:r>
              <a:rPr lang="en-US" sz="3100" dirty="0" smtClean="0"/>
              <a:t/>
            </a:r>
            <a:br>
              <a:rPr lang="en-US" sz="3100" dirty="0" smtClean="0"/>
            </a:br>
            <a:r>
              <a:rPr lang="en-GB" sz="4400" dirty="0"/>
              <a:t>Towards common metadata using GSIM and DDI 3.2 </a:t>
            </a:r>
            <a:r>
              <a:rPr lang="en-GB" sz="4400" dirty="0" smtClean="0"/>
              <a:t/>
            </a:r>
            <a:br>
              <a:rPr lang="en-GB" sz="4400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US" sz="2400" dirty="0" smtClean="0"/>
              <a:t>EDDI conference, Copenhagen</a:t>
            </a:r>
            <a:br>
              <a:rPr lang="en-US" sz="2400" dirty="0" smtClean="0"/>
            </a:br>
            <a:r>
              <a:rPr lang="en-US" sz="2400" dirty="0" smtClean="0"/>
              <a:t>2-3 December 2015</a:t>
            </a:r>
            <a:endParaRPr lang="en-GB" sz="1600" dirty="0"/>
          </a:p>
        </p:txBody>
      </p:sp>
      <p:sp>
        <p:nvSpPr>
          <p:cNvPr id="7" name="Undertitel 6"/>
          <p:cNvSpPr>
            <a:spLocks noGrp="1"/>
          </p:cNvSpPr>
          <p:nvPr>
            <p:ph type="subTitle" idx="1"/>
          </p:nvPr>
        </p:nvSpPr>
        <p:spPr>
          <a:xfrm>
            <a:off x="2411760" y="2636912"/>
            <a:ext cx="6264696" cy="1554857"/>
          </a:xfrm>
        </p:spPr>
        <p:txBody>
          <a:bodyPr>
            <a:normAutofit/>
          </a:bodyPr>
          <a:lstStyle/>
          <a:p>
            <a:pPr algn="r"/>
            <a:r>
              <a:rPr lang="en-GB" sz="1200" dirty="0" smtClean="0"/>
              <a:t>Mogens Grosen Nielsen</a:t>
            </a:r>
          </a:p>
          <a:p>
            <a:pPr algn="r"/>
            <a:r>
              <a:rPr lang="en-GB" sz="1200" dirty="0" smtClean="0"/>
              <a:t> </a:t>
            </a:r>
            <a:r>
              <a:rPr lang="en-GB" sz="1200" dirty="0" smtClean="0">
                <a:hlinkClick r:id="rId4"/>
              </a:rPr>
              <a:t>mgn@dst.dk</a:t>
            </a:r>
            <a:endParaRPr lang="en-GB" sz="1200" dirty="0" smtClean="0"/>
          </a:p>
          <a:p>
            <a:pPr algn="r"/>
            <a:r>
              <a:rPr lang="da-DK" sz="1200" dirty="0" smtClean="0"/>
              <a:t>Flemming </a:t>
            </a:r>
            <a:r>
              <a:rPr lang="da-DK" sz="1200" dirty="0" err="1" smtClean="0"/>
              <a:t>Dannnevang</a:t>
            </a:r>
            <a:endParaRPr lang="da-DK" sz="1200" dirty="0" smtClean="0"/>
          </a:p>
          <a:p>
            <a:pPr algn="r"/>
            <a:r>
              <a:rPr lang="da-DK" sz="1200" dirty="0" smtClean="0"/>
              <a:t>fda@dst.dk</a:t>
            </a:r>
            <a:endParaRPr lang="en-GB" sz="1200" dirty="0"/>
          </a:p>
          <a:p>
            <a:pPr algn="r"/>
            <a:r>
              <a:rPr lang="en-GB" sz="1200" dirty="0" smtClean="0"/>
              <a:t> Statistics Denmark</a:t>
            </a:r>
          </a:p>
          <a:p>
            <a:pPr algn="r"/>
            <a:r>
              <a:rPr lang="en-GB" sz="1200" dirty="0"/>
              <a:t/>
            </a:r>
            <a:br>
              <a:rPr lang="en-GB" sz="1200" dirty="0"/>
            </a:br>
            <a:endParaRPr lang="en-GB" sz="1200" dirty="0" smtClean="0"/>
          </a:p>
        </p:txBody>
      </p:sp>
    </p:spTree>
    <p:extLst>
      <p:ext uri="{BB962C8B-B14F-4D97-AF65-F5344CB8AC3E}">
        <p14:creationId xmlns:p14="http://schemas.microsoft.com/office/powerpoint/2010/main" val="341948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Agenda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da-DK" sz="3600" dirty="0" smtClean="0"/>
              <a:t>Vision, </a:t>
            </a:r>
            <a:r>
              <a:rPr lang="da-DK" sz="3600" dirty="0" err="1" smtClean="0"/>
              <a:t>strategy</a:t>
            </a:r>
            <a:r>
              <a:rPr lang="da-DK" sz="3600" dirty="0"/>
              <a:t> </a:t>
            </a:r>
            <a:r>
              <a:rPr lang="da-DK" sz="3600" dirty="0" smtClean="0"/>
              <a:t>and </a:t>
            </a:r>
            <a:r>
              <a:rPr lang="da-DK" sz="3600" dirty="0" err="1" smtClean="0"/>
              <a:t>challenges</a:t>
            </a:r>
            <a:endParaRPr lang="da-DK" sz="3600" dirty="0" smtClean="0"/>
          </a:p>
          <a:p>
            <a:pPr marL="514350" lvl="0" indent="-514350">
              <a:buFontTx/>
              <a:buAutoNum type="arabicPeriod"/>
            </a:pPr>
            <a:r>
              <a:rPr lang="da-DK" sz="3600" dirty="0" err="1" smtClean="0"/>
              <a:t>Claims</a:t>
            </a:r>
            <a:r>
              <a:rPr lang="da-DK" sz="3600" dirty="0"/>
              <a:t> </a:t>
            </a:r>
            <a:r>
              <a:rPr lang="da-DK" sz="3600" dirty="0" smtClean="0"/>
              <a:t>in the </a:t>
            </a:r>
            <a:r>
              <a:rPr lang="da-DK" sz="3600" dirty="0" err="1" smtClean="0"/>
              <a:t>paper</a:t>
            </a:r>
            <a:endParaRPr lang="da-DK" sz="3600" dirty="0" smtClean="0"/>
          </a:p>
          <a:p>
            <a:pPr marL="514350" lvl="0" indent="-514350">
              <a:buFontTx/>
              <a:buAutoNum type="arabicPeriod"/>
            </a:pPr>
            <a:r>
              <a:rPr lang="da-DK" sz="3600" dirty="0" smtClean="0"/>
              <a:t>Metadata </a:t>
            </a:r>
            <a:r>
              <a:rPr lang="da-DK" sz="3600" dirty="0" err="1" smtClean="0"/>
              <a:t>users</a:t>
            </a:r>
            <a:r>
              <a:rPr lang="da-DK" sz="3600" dirty="0" smtClean="0"/>
              <a:t> and business </a:t>
            </a:r>
            <a:r>
              <a:rPr lang="da-DK" sz="3600" dirty="0" smtClean="0"/>
              <a:t>processes</a:t>
            </a:r>
          </a:p>
          <a:p>
            <a:pPr marL="514350" lvl="0" indent="-514350">
              <a:buFontTx/>
              <a:buAutoNum type="arabicPeriod"/>
            </a:pPr>
            <a:r>
              <a:rPr lang="da-DK" sz="3600" dirty="0" smtClean="0"/>
              <a:t>Metadata </a:t>
            </a:r>
            <a:r>
              <a:rPr lang="da-DK" sz="3600" dirty="0" err="1" smtClean="0"/>
              <a:t>terminology</a:t>
            </a:r>
            <a:r>
              <a:rPr lang="da-DK" sz="3600" dirty="0" smtClean="0"/>
              <a:t> and models</a:t>
            </a:r>
          </a:p>
          <a:p>
            <a:pPr marL="514350" lvl="0" indent="-514350">
              <a:buFontTx/>
              <a:buAutoNum type="arabicPeriod"/>
            </a:pPr>
            <a:r>
              <a:rPr lang="da-DK" sz="3600" dirty="0" smtClean="0"/>
              <a:t>Metadata portal </a:t>
            </a:r>
          </a:p>
          <a:p>
            <a:pPr marL="514350" lvl="0" indent="-514350">
              <a:buFontTx/>
              <a:buAutoNum type="arabicPeriod"/>
            </a:pPr>
            <a:r>
              <a:rPr lang="da-DK" sz="3600" dirty="0" err="1" smtClean="0"/>
              <a:t>Conclusion</a:t>
            </a:r>
            <a:endParaRPr lang="da-DK" sz="3600" dirty="0"/>
          </a:p>
          <a:p>
            <a:pPr marL="514350" lvl="0" indent="-514350">
              <a:buFontTx/>
              <a:buAutoNum type="arabicPeriod"/>
            </a:pPr>
            <a:endParaRPr lang="en-GB" sz="2800" dirty="0"/>
          </a:p>
          <a:p>
            <a:endParaRPr lang="da-DK" sz="2800" dirty="0">
              <a:latin typeface="Lucida Fax"/>
            </a:endParaRP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9502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Vision: Integrated and </a:t>
            </a:r>
            <a:r>
              <a:rPr lang="da-DK" dirty="0" err="1" smtClean="0"/>
              <a:t>reusable</a:t>
            </a:r>
            <a:r>
              <a:rPr lang="da-DK" dirty="0" smtClean="0"/>
              <a:t> metadata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6" name="Pladsholder til diasnummer 3"/>
          <p:cNvSpPr txBox="1">
            <a:spLocks/>
          </p:cNvSpPr>
          <p:nvPr/>
        </p:nvSpPr>
        <p:spPr bwMode="auto">
          <a:xfrm>
            <a:off x="8691563" y="6513513"/>
            <a:ext cx="417512" cy="271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spcBef>
                <a:spcPts val="800"/>
              </a:spcBef>
              <a:buClr>
                <a:srgbClr val="000000"/>
              </a:buClr>
              <a:buSzPct val="100000"/>
              <a:buFont typeface="Times New Roman" pitchFamily="18" charset="0"/>
              <a:defRPr sz="32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1pPr>
            <a:lvl2pPr marL="457200" algn="l" defTabSz="914400" rtl="0" eaLnBrk="1" latinLnBrk="0" hangingPunct="1">
              <a:spcBef>
                <a:spcPts val="700"/>
              </a:spcBef>
              <a:buClr>
                <a:srgbClr val="000000"/>
              </a:buClr>
              <a:buSzPct val="100000"/>
              <a:buFont typeface="Times New Roman" pitchFamily="18" charset="0"/>
              <a:defRPr sz="28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2pPr>
            <a:lvl3pPr marL="914400" algn="l" defTabSz="914400" rtl="0" eaLnBrk="1" latinLnBrk="0" hangingPunct="1"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defRPr sz="24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3pPr>
            <a:lvl4pPr marL="1371600" algn="l" defTabSz="914400" rtl="0" eaLnBrk="1" latinLnBrk="0" hangingPunct="1"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4pPr>
            <a:lvl5pPr marL="1828800" algn="l" defTabSz="914400" rtl="0" eaLnBrk="1" latinLnBrk="0" hangingPunct="1"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5pPr>
            <a:lvl6pPr marL="2514600" indent="-228600" algn="l" defTabSz="457200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6pPr>
            <a:lvl7pPr marL="2971800" indent="-228600" algn="l" defTabSz="457200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7pPr>
            <a:lvl8pPr marL="3429000" indent="-228600" algn="l" defTabSz="457200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8pPr>
            <a:lvl9pPr marL="3886200" indent="-228600" algn="l" defTabSz="457200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 kern="1200">
                <a:solidFill>
                  <a:srgbClr val="000000"/>
                </a:solidFill>
                <a:latin typeface="Calibri" pitchFamily="34" charset="0"/>
                <a:ea typeface="MS PGothic" pitchFamily="34" charset="-128"/>
                <a:cs typeface="Droid Sans Fallback" charset="0"/>
              </a:defRPr>
            </a:lvl9pPr>
          </a:lstStyle>
          <a:p>
            <a:pPr>
              <a:spcBef>
                <a:spcPct val="0"/>
              </a:spcBef>
            </a:pPr>
            <a:endParaRPr lang="da-DK" altLang="da-DK" sz="1800" dirty="0">
              <a:solidFill>
                <a:srgbClr val="898989"/>
              </a:solidFill>
              <a:cs typeface="Arial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946150" y="3675063"/>
            <a:ext cx="2114550" cy="446087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Hvad betyder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132138" y="2149475"/>
            <a:ext cx="3109912" cy="446088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 dirty="0" err="1" smtClean="0">
                <a:solidFill>
                  <a:schemeClr val="tx1"/>
                </a:solidFill>
                <a:latin typeface="AvantGarde" charset="0"/>
              </a:rPr>
              <a:t>Documentation</a:t>
            </a:r>
            <a:r>
              <a:rPr lang="da-DK" altLang="da-DK" dirty="0" smtClean="0">
                <a:solidFill>
                  <a:schemeClr val="tx1"/>
                </a:solidFill>
                <a:latin typeface="AvantGarde" charset="0"/>
              </a:rPr>
              <a:t>/</a:t>
            </a:r>
            <a:r>
              <a:rPr lang="da-DK" altLang="da-DK" dirty="0" err="1" smtClean="0">
                <a:solidFill>
                  <a:schemeClr val="tx1"/>
                </a:solidFill>
                <a:latin typeface="AvantGarde" charset="0"/>
              </a:rPr>
              <a:t>qaulity</a:t>
            </a:r>
            <a:endParaRPr lang="da-DK" altLang="da-DK" dirty="0">
              <a:solidFill>
                <a:schemeClr val="tx1"/>
              </a:solidFill>
              <a:latin typeface="AvantGarde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6316663" y="3224213"/>
            <a:ext cx="2359025" cy="446087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Variable/dataset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39750" y="3225800"/>
            <a:ext cx="2522538" cy="449263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Concept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316663" y="3670300"/>
            <a:ext cx="2359025" cy="446088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 dirty="0">
                <a:solidFill>
                  <a:schemeClr val="tx1"/>
                </a:solidFill>
                <a:latin typeface="AvantGarde" charset="0"/>
              </a:rPr>
              <a:t>Variabeldatabase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3306763" y="5286375"/>
            <a:ext cx="2765425" cy="446088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Klassifikationsdatabase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306763" y="4838700"/>
            <a:ext cx="2765425" cy="446088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Classifications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3132138" y="1700213"/>
            <a:ext cx="3109912" cy="44767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>
                <a:solidFill>
                  <a:schemeClr val="tx1"/>
                </a:solidFill>
                <a:latin typeface="AvantGarde" charset="0"/>
              </a:rPr>
              <a:t>Methods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4687888" y="2720975"/>
            <a:ext cx="0" cy="19827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 flipV="1">
            <a:off x="1976016" y="2393157"/>
            <a:ext cx="1076325" cy="69532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6295231" y="2393157"/>
            <a:ext cx="863600" cy="69532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2268538" y="4221163"/>
            <a:ext cx="863600" cy="84137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 flipV="1">
            <a:off x="6242050" y="4257675"/>
            <a:ext cx="969963" cy="7683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3306763" y="3670300"/>
            <a:ext cx="2765425" cy="476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a-DK"/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592138" y="1700213"/>
            <a:ext cx="2114550" cy="447675"/>
          </a:xfrm>
          <a:prstGeom prst="rect">
            <a:avLst/>
          </a:prstGeom>
          <a:solidFill>
            <a:srgbClr val="F6F4AA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da-DK" dirty="0" err="1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rPr>
              <a:t>Statbank</a:t>
            </a:r>
            <a:endParaRPr lang="da-DK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6516688" y="1700213"/>
            <a:ext cx="2359025" cy="447675"/>
          </a:xfrm>
          <a:prstGeom prst="rect">
            <a:avLst/>
          </a:prstGeom>
          <a:solidFill>
            <a:srgbClr val="F6F4AA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 dirty="0">
                <a:solidFill>
                  <a:srgbClr val="A6A6A6"/>
                </a:solidFill>
                <a:latin typeface="Calibri" pitchFamily="34" charset="0"/>
              </a:rPr>
              <a:t>´Papers on </a:t>
            </a:r>
            <a:r>
              <a:rPr lang="da-DK" altLang="da-DK" dirty="0" err="1" smtClean="0">
                <a:solidFill>
                  <a:srgbClr val="A6A6A6"/>
                </a:solidFill>
                <a:latin typeface="Calibri" pitchFamily="34" charset="0"/>
              </a:rPr>
              <a:t>methods</a:t>
            </a:r>
            <a:r>
              <a:rPr lang="da-DK" altLang="da-DK" dirty="0" smtClean="0">
                <a:solidFill>
                  <a:srgbClr val="A6A6A6"/>
                </a:solidFill>
                <a:latin typeface="Calibri" pitchFamily="34" charset="0"/>
              </a:rPr>
              <a:t>’</a:t>
            </a:r>
            <a:endParaRPr lang="da-DK" altLang="da-DK" dirty="0">
              <a:solidFill>
                <a:srgbClr val="A6A6A6"/>
              </a:solidFill>
              <a:latin typeface="Calibri" pitchFamily="34" charset="0"/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 flipV="1">
            <a:off x="1801813" y="2373313"/>
            <a:ext cx="0" cy="550862"/>
          </a:xfrm>
          <a:prstGeom prst="line">
            <a:avLst/>
          </a:prstGeom>
          <a:noFill/>
          <a:ln w="38100">
            <a:solidFill>
              <a:schemeClr val="bg1">
                <a:lumMod val="65000"/>
              </a:schemeClr>
            </a:solidFill>
            <a:round/>
            <a:headEnd type="triangle" w="med" len="med"/>
            <a:tailEnd type="triangle" w="med" len="med"/>
          </a:ln>
          <a:effectLst/>
          <a:ex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da-DK">
              <a:solidFill>
                <a:schemeClr val="tx1"/>
              </a:solidFill>
              <a:ea typeface="+mn-ea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2813050" y="1984375"/>
            <a:ext cx="531813" cy="6350"/>
          </a:xfrm>
          <a:prstGeom prst="line">
            <a:avLst/>
          </a:prstGeom>
          <a:noFill/>
          <a:ln w="38100">
            <a:solidFill>
              <a:schemeClr val="bg1">
                <a:lumMod val="65000"/>
              </a:schemeClr>
            </a:solidFill>
            <a:round/>
            <a:headEnd type="triangle" w="med" len="med"/>
            <a:tailEnd type="triangle" w="med" len="med"/>
          </a:ln>
          <a:effectLst/>
          <a:ex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da-DK">
              <a:ea typeface="+mn-ea"/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 flipV="1">
            <a:off x="5940425" y="1927225"/>
            <a:ext cx="488950" cy="0"/>
          </a:xfrm>
          <a:prstGeom prst="line">
            <a:avLst/>
          </a:prstGeom>
          <a:noFill/>
          <a:ln w="38100">
            <a:solidFill>
              <a:schemeClr val="bg1">
                <a:lumMod val="65000"/>
              </a:schemeClr>
            </a:solidFill>
            <a:round/>
            <a:headEnd type="triangle" w="med" len="med"/>
            <a:tailEnd type="triangle" w="med" len="med"/>
          </a:ln>
          <a:effectLst/>
          <a:ex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da-DK">
              <a:ea typeface="+mn-ea"/>
            </a:endParaRP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3319463" y="5286375"/>
            <a:ext cx="2765425" cy="446088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 dirty="0" err="1" smtClean="0">
                <a:solidFill>
                  <a:schemeClr val="tx1"/>
                </a:solidFill>
                <a:latin typeface="AvantGarde" charset="0"/>
              </a:rPr>
              <a:t>Classification</a:t>
            </a:r>
            <a:r>
              <a:rPr lang="da-DK" altLang="da-DK" dirty="0" smtClean="0">
                <a:solidFill>
                  <a:schemeClr val="tx1"/>
                </a:solidFill>
                <a:latin typeface="AvantGarde" charset="0"/>
              </a:rPr>
              <a:t> database</a:t>
            </a:r>
            <a:endParaRPr lang="da-DK" altLang="da-DK" dirty="0">
              <a:solidFill>
                <a:schemeClr val="tx1"/>
              </a:solidFill>
              <a:latin typeface="AvantGarde" charset="0"/>
            </a:endParaRP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539750" y="3671888"/>
            <a:ext cx="2522538" cy="447675"/>
          </a:xfrm>
          <a:prstGeom prst="rect">
            <a:avLst/>
          </a:prstGeom>
          <a:solidFill>
            <a:srgbClr val="F6F4A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da-DK" altLang="da-DK" dirty="0" err="1" smtClean="0">
                <a:solidFill>
                  <a:schemeClr val="tx1"/>
                </a:solidFill>
                <a:latin typeface="AvantGarde" charset="0"/>
              </a:rPr>
              <a:t>Concept</a:t>
            </a:r>
            <a:r>
              <a:rPr lang="da-DK" altLang="da-DK" dirty="0" smtClean="0">
                <a:solidFill>
                  <a:schemeClr val="tx1"/>
                </a:solidFill>
                <a:latin typeface="AvantGarde" charset="0"/>
              </a:rPr>
              <a:t> database</a:t>
            </a:r>
            <a:endParaRPr lang="da-DK" altLang="da-DK" dirty="0">
              <a:solidFill>
                <a:schemeClr val="tx1"/>
              </a:solidFill>
              <a:latin typeface="AvantGar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04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Pladsholder til indhold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836794"/>
              </p:ext>
            </p:extLst>
          </p:nvPr>
        </p:nvGraphicFramePr>
        <p:xfrm>
          <a:off x="467544" y="1196752"/>
          <a:ext cx="8219256" cy="4608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 smtClean="0"/>
              <a:t>Strategy</a:t>
            </a:r>
            <a:r>
              <a:rPr lang="da-DK" dirty="0" smtClean="0"/>
              <a:t> on </a:t>
            </a:r>
            <a:r>
              <a:rPr lang="da-DK" dirty="0" err="1" smtClean="0"/>
              <a:t>quality</a:t>
            </a:r>
            <a:r>
              <a:rPr lang="da-DK" dirty="0" smtClean="0"/>
              <a:t> and metadata</a:t>
            </a:r>
            <a:endParaRPr lang="en-GB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61798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Documentation attached </a:t>
            </a:r>
            <a:r>
              <a:rPr lang="en-GB" sz="3200" dirty="0" smtClean="0"/>
              <a:t>to statistical </a:t>
            </a:r>
            <a:r>
              <a:rPr lang="en-GB" sz="3200" dirty="0" smtClean="0"/>
              <a:t>product </a:t>
            </a:r>
            <a:r>
              <a:rPr lang="en-GB" sz="3200" dirty="0"/>
              <a:t>after it is has been </a:t>
            </a:r>
            <a:r>
              <a:rPr lang="en-GB" sz="3200" dirty="0" smtClean="0"/>
              <a:t>published</a:t>
            </a:r>
            <a:endParaRPr lang="da-DK" sz="3200" dirty="0"/>
          </a:p>
          <a:p>
            <a:r>
              <a:rPr lang="da-DK" sz="3200" dirty="0" smtClean="0"/>
              <a:t>User </a:t>
            </a:r>
            <a:r>
              <a:rPr lang="da-DK" sz="3200" dirty="0" err="1" smtClean="0"/>
              <a:t>needs</a:t>
            </a:r>
            <a:r>
              <a:rPr lang="da-DK" sz="3200" dirty="0" smtClean="0"/>
              <a:t> </a:t>
            </a:r>
            <a:r>
              <a:rPr lang="da-DK" sz="3200" dirty="0" err="1" smtClean="0"/>
              <a:t>introduced</a:t>
            </a:r>
            <a:r>
              <a:rPr lang="da-DK" sz="3200" dirty="0" smtClean="0"/>
              <a:t> </a:t>
            </a:r>
            <a:r>
              <a:rPr lang="da-DK" sz="3200" dirty="0" err="1" smtClean="0"/>
              <a:t>too</a:t>
            </a:r>
            <a:r>
              <a:rPr lang="da-DK" sz="3200" dirty="0" smtClean="0"/>
              <a:t> </a:t>
            </a:r>
            <a:r>
              <a:rPr lang="da-DK" sz="3200" dirty="0" err="1" smtClean="0"/>
              <a:t>late</a:t>
            </a:r>
            <a:endParaRPr lang="da-DK" sz="3200" dirty="0" smtClean="0"/>
          </a:p>
          <a:p>
            <a:r>
              <a:rPr lang="da-DK" sz="3200" dirty="0" err="1" smtClean="0"/>
              <a:t>Lack</a:t>
            </a:r>
            <a:r>
              <a:rPr lang="da-DK" sz="3200" dirty="0" smtClean="0"/>
              <a:t> of </a:t>
            </a:r>
            <a:r>
              <a:rPr lang="da-DK" sz="3200" dirty="0" err="1" smtClean="0"/>
              <a:t>awareness</a:t>
            </a:r>
            <a:r>
              <a:rPr lang="da-DK" sz="3200" dirty="0" smtClean="0"/>
              <a:t> on </a:t>
            </a:r>
            <a:r>
              <a:rPr lang="da-DK" sz="3200" dirty="0" err="1" smtClean="0"/>
              <a:t>common</a:t>
            </a:r>
            <a:r>
              <a:rPr lang="da-DK" sz="3200" dirty="0" smtClean="0"/>
              <a:t> models and standards</a:t>
            </a:r>
          </a:p>
          <a:p>
            <a:r>
              <a:rPr lang="da-DK" sz="3200" dirty="0" smtClean="0"/>
              <a:t>GSIM </a:t>
            </a:r>
            <a:r>
              <a:rPr lang="da-DK" sz="3200" dirty="0" err="1" smtClean="0"/>
              <a:t>seems</a:t>
            </a:r>
            <a:r>
              <a:rPr lang="da-DK" sz="3200" dirty="0" smtClean="0"/>
              <a:t> to </a:t>
            </a:r>
            <a:r>
              <a:rPr lang="da-DK" sz="3200" dirty="0" err="1" smtClean="0"/>
              <a:t>complicated</a:t>
            </a:r>
            <a:endParaRPr lang="da-DK" sz="3200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Challenges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4737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>
          <a:xfrm>
            <a:off x="467544" y="1268760"/>
            <a:ext cx="8219256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3600" dirty="0" err="1"/>
              <a:t>R</a:t>
            </a:r>
            <a:r>
              <a:rPr lang="da-DK" sz="3600" dirty="0" err="1" smtClean="0"/>
              <a:t>eusable</a:t>
            </a:r>
            <a:r>
              <a:rPr lang="da-DK" sz="3600" dirty="0" smtClean="0"/>
              <a:t> metadata </a:t>
            </a:r>
            <a:r>
              <a:rPr lang="da-DK" sz="3600" dirty="0" err="1" smtClean="0"/>
              <a:t>require</a:t>
            </a:r>
            <a:r>
              <a:rPr lang="da-DK" sz="3600" dirty="0" smtClean="0"/>
              <a:t> </a:t>
            </a:r>
            <a:r>
              <a:rPr lang="en-GB" sz="3600" dirty="0" smtClean="0"/>
              <a:t>improved understanding of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 smtClean="0"/>
              <a:t>the </a:t>
            </a:r>
            <a:r>
              <a:rPr lang="en-GB" sz="3600" dirty="0"/>
              <a:t>role of metadata in relation to </a:t>
            </a:r>
            <a:r>
              <a:rPr lang="en-GB" sz="3600" dirty="0" smtClean="0"/>
              <a:t>users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 smtClean="0"/>
              <a:t>metadata </a:t>
            </a:r>
            <a:r>
              <a:rPr lang="en-GB" sz="3600" dirty="0"/>
              <a:t>in relation to production </a:t>
            </a:r>
            <a:r>
              <a:rPr lang="en-GB" sz="3600" dirty="0" smtClean="0"/>
              <a:t>processes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600" dirty="0" smtClean="0"/>
              <a:t>metadata-terminology</a:t>
            </a:r>
            <a:endParaRPr lang="da-DK" sz="360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</a:t>
            </a:r>
            <a:r>
              <a:rPr lang="da-DK" dirty="0" err="1" smtClean="0"/>
              <a:t>laims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146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1" name="Text Box 21"/>
          <p:cNvSpPr txBox="1">
            <a:spLocks noChangeArrowheads="1"/>
          </p:cNvSpPr>
          <p:nvPr/>
        </p:nvSpPr>
        <p:spPr bwMode="auto">
          <a:xfrm>
            <a:off x="2573336" y="2443080"/>
            <a:ext cx="4967287" cy="286232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a-DK" altLang="da-DK" b="1" dirty="0" smtClean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da-DK" altLang="da-DK" b="1" dirty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da-DK" altLang="da-DK" b="1" dirty="0" smtClean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da-DK" altLang="da-DK" b="1" dirty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da-DK" altLang="da-DK" b="1" dirty="0" smtClean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da-DK" altLang="da-DK" b="1" dirty="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</a:pPr>
            <a:endParaRPr lang="en-US" altLang="da-DK" b="1" dirty="0">
              <a:solidFill>
                <a:prstClr val="black"/>
              </a:solidFill>
            </a:endParaRPr>
          </a:p>
        </p:txBody>
      </p:sp>
      <p:sp>
        <p:nvSpPr>
          <p:cNvPr id="81942" name="Text Box 22"/>
          <p:cNvSpPr txBox="1">
            <a:spLocks noChangeArrowheads="1"/>
          </p:cNvSpPr>
          <p:nvPr/>
        </p:nvSpPr>
        <p:spPr bwMode="auto">
          <a:xfrm>
            <a:off x="2949349" y="1196975"/>
            <a:ext cx="3960812" cy="584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da-DK" altLang="da-DK" sz="1600" dirty="0">
                <a:solidFill>
                  <a:prstClr val="black"/>
                </a:solidFill>
              </a:rPr>
              <a:t>General Environment: </a:t>
            </a:r>
            <a:r>
              <a:rPr lang="da-DK" altLang="da-DK" sz="1600" dirty="0" err="1" smtClean="0">
                <a:solidFill>
                  <a:prstClr val="black"/>
                </a:solidFill>
              </a:rPr>
              <a:t>Political</a:t>
            </a:r>
            <a:r>
              <a:rPr lang="da-DK" altLang="da-DK" sz="1600" dirty="0">
                <a:solidFill>
                  <a:prstClr val="black"/>
                </a:solidFill>
              </a:rPr>
              <a:t>/</a:t>
            </a:r>
            <a:r>
              <a:rPr lang="da-DK" altLang="da-DK" sz="1600" dirty="0" smtClean="0">
                <a:solidFill>
                  <a:prstClr val="black"/>
                </a:solidFill>
              </a:rPr>
              <a:t>legal </a:t>
            </a:r>
            <a:r>
              <a:rPr lang="da-DK" altLang="da-DK" sz="1600" dirty="0" err="1" smtClean="0">
                <a:solidFill>
                  <a:prstClr val="black"/>
                </a:solidFill>
              </a:rPr>
              <a:t>context</a:t>
            </a:r>
            <a:r>
              <a:rPr lang="da-DK" altLang="da-DK" sz="1600" dirty="0" smtClean="0">
                <a:solidFill>
                  <a:prstClr val="black"/>
                </a:solidFill>
              </a:rPr>
              <a:t>, Technology/standards </a:t>
            </a:r>
            <a:endParaRPr lang="en-US" altLang="da-DK" sz="1600" dirty="0">
              <a:solidFill>
                <a:prstClr val="black"/>
              </a:solidFill>
            </a:endParaRPr>
          </a:p>
        </p:txBody>
      </p:sp>
      <p:sp>
        <p:nvSpPr>
          <p:cNvPr id="81943" name="Text Box 23"/>
          <p:cNvSpPr txBox="1">
            <a:spLocks noChangeArrowheads="1"/>
          </p:cNvSpPr>
          <p:nvPr/>
        </p:nvSpPr>
        <p:spPr bwMode="auto">
          <a:xfrm>
            <a:off x="65084" y="3279487"/>
            <a:ext cx="1835150" cy="584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a-DK" altLang="da-DK" sz="1600" dirty="0">
                <a:solidFill>
                  <a:prstClr val="black"/>
                </a:solidFill>
              </a:rPr>
              <a:t>Respondents/ </a:t>
            </a:r>
            <a:r>
              <a:rPr lang="da-DK" altLang="da-DK" sz="1600" dirty="0" smtClean="0">
                <a:solidFill>
                  <a:prstClr val="black"/>
                </a:solidFill>
              </a:rPr>
              <a:t>registers etc.</a:t>
            </a:r>
            <a:endParaRPr lang="en-US" altLang="da-DK" dirty="0">
              <a:solidFill>
                <a:prstClr val="black"/>
              </a:solidFill>
            </a:endParaRPr>
          </a:p>
        </p:txBody>
      </p:sp>
      <p:cxnSp>
        <p:nvCxnSpPr>
          <p:cNvPr id="81944" name="AutoShape 24"/>
          <p:cNvCxnSpPr>
            <a:cxnSpLocks noChangeShapeType="1"/>
          </p:cNvCxnSpPr>
          <p:nvPr/>
        </p:nvCxnSpPr>
        <p:spPr bwMode="auto">
          <a:xfrm flipH="1">
            <a:off x="1979613" y="3573463"/>
            <a:ext cx="35877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946" name="AutoShape 26"/>
          <p:cNvCxnSpPr>
            <a:cxnSpLocks noChangeShapeType="1"/>
          </p:cNvCxnSpPr>
          <p:nvPr/>
        </p:nvCxnSpPr>
        <p:spPr bwMode="auto">
          <a:xfrm flipV="1">
            <a:off x="5023436" y="1932234"/>
            <a:ext cx="1588" cy="36036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947" name="Text Box 27"/>
          <p:cNvSpPr txBox="1">
            <a:spLocks noChangeArrowheads="1"/>
          </p:cNvSpPr>
          <p:nvPr/>
        </p:nvSpPr>
        <p:spPr bwMode="auto">
          <a:xfrm>
            <a:off x="65084" y="2415887"/>
            <a:ext cx="1835150" cy="83099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a-DK" altLang="da-DK" sz="1600" dirty="0">
                <a:solidFill>
                  <a:prstClr val="black"/>
                </a:solidFill>
              </a:rPr>
              <a:t>Ressources</a:t>
            </a:r>
            <a:r>
              <a:rPr lang="da-DK" altLang="da-DK" sz="1600" dirty="0" smtClean="0">
                <a:solidFill>
                  <a:prstClr val="black"/>
                </a:solidFill>
              </a:rPr>
              <a:t>: </a:t>
            </a:r>
            <a:r>
              <a:rPr lang="da-DK" altLang="da-DK" sz="1600" dirty="0" err="1" smtClean="0">
                <a:solidFill>
                  <a:prstClr val="black"/>
                </a:solidFill>
              </a:rPr>
              <a:t>staff</a:t>
            </a:r>
            <a:r>
              <a:rPr lang="da-DK" altLang="da-DK" sz="1600" dirty="0">
                <a:solidFill>
                  <a:prstClr val="black"/>
                </a:solidFill>
              </a:rPr>
              <a:t>, </a:t>
            </a:r>
            <a:r>
              <a:rPr lang="da-DK" altLang="da-DK" sz="1600" dirty="0" smtClean="0">
                <a:solidFill>
                  <a:prstClr val="black"/>
                </a:solidFill>
              </a:rPr>
              <a:t>IT-systems etc.</a:t>
            </a:r>
            <a:endParaRPr lang="en-US" altLang="da-DK" dirty="0">
              <a:solidFill>
                <a:prstClr val="black"/>
              </a:solidFill>
            </a:endParaRPr>
          </a:p>
        </p:txBody>
      </p:sp>
      <p:cxnSp>
        <p:nvCxnSpPr>
          <p:cNvPr id="81948" name="AutoShape 28"/>
          <p:cNvCxnSpPr>
            <a:cxnSpLocks noChangeShapeType="1"/>
          </p:cNvCxnSpPr>
          <p:nvPr/>
        </p:nvCxnSpPr>
        <p:spPr bwMode="auto">
          <a:xfrm flipH="1">
            <a:off x="1979613" y="2708275"/>
            <a:ext cx="35877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Titel 1"/>
          <p:cNvSpPr>
            <a:spLocks noGrp="1"/>
          </p:cNvSpPr>
          <p:nvPr>
            <p:ph type="title" idx="4294967295"/>
          </p:nvPr>
        </p:nvSpPr>
        <p:spPr>
          <a:xfrm>
            <a:off x="251521" y="27856"/>
            <a:ext cx="8342490" cy="1143000"/>
          </a:xfrm>
        </p:spPr>
        <p:txBody>
          <a:bodyPr>
            <a:noAutofit/>
          </a:bodyPr>
          <a:lstStyle/>
          <a:p>
            <a:r>
              <a:rPr lang="da-DK" altLang="da-DK" sz="3200" b="1" dirty="0" smtClean="0">
                <a:solidFill>
                  <a:srgbClr val="0091D4"/>
                </a:solidFill>
              </a:rPr>
              <a:t>Metadata, </a:t>
            </a:r>
            <a:r>
              <a:rPr lang="da-DK" altLang="da-DK" sz="3200" b="1" dirty="0" err="1" smtClean="0">
                <a:solidFill>
                  <a:srgbClr val="0091D4"/>
                </a:solidFill>
              </a:rPr>
              <a:t>users</a:t>
            </a:r>
            <a:r>
              <a:rPr lang="da-DK" altLang="da-DK" sz="3200" b="1" dirty="0" smtClean="0">
                <a:solidFill>
                  <a:srgbClr val="0091D4"/>
                </a:solidFill>
              </a:rPr>
              <a:t> and business processes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761" y="3346968"/>
            <a:ext cx="4721419" cy="662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3840559" y="2626310"/>
            <a:ext cx="2398413" cy="338554"/>
          </a:xfrm>
          <a:prstGeom prst="rect">
            <a:avLst/>
          </a:prstGeom>
          <a:noFill/>
          <a:ln w="25400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a-DK" altLang="en-US" sz="1600" b="1" dirty="0">
                <a:solidFill>
                  <a:prstClr val="black"/>
                </a:solidFill>
              </a:rPr>
              <a:t>Management </a:t>
            </a:r>
            <a:r>
              <a:rPr lang="da-DK" altLang="en-US" sz="1400" b="1" dirty="0">
                <a:solidFill>
                  <a:prstClr val="black"/>
                </a:solidFill>
              </a:rPr>
              <a:t>processes</a:t>
            </a:r>
            <a:endParaRPr lang="en-US" altLang="en-US" sz="1400" b="1" dirty="0">
              <a:solidFill>
                <a:prstClr val="black"/>
              </a:solidFill>
            </a:endParaRP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2704713" y="4241602"/>
            <a:ext cx="4704531" cy="615553"/>
          </a:xfrm>
          <a:prstGeom prst="rect">
            <a:avLst/>
          </a:prstGeom>
          <a:noFill/>
          <a:ln w="25400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da-DK" altLang="en-US" sz="1400" b="1" dirty="0">
                <a:solidFill>
                  <a:prstClr val="black"/>
                </a:solidFill>
              </a:rPr>
              <a:t>S</a:t>
            </a:r>
            <a:r>
              <a:rPr lang="da-DK" altLang="en-US" sz="1400" b="1" dirty="0" smtClean="0">
                <a:solidFill>
                  <a:prstClr val="black"/>
                </a:solidFill>
              </a:rPr>
              <a:t>upport processes: </a:t>
            </a:r>
            <a:r>
              <a:rPr lang="da-DK" altLang="en-US" sz="1400" b="1" dirty="0" err="1" smtClean="0">
                <a:solidFill>
                  <a:prstClr val="black"/>
                </a:solidFill>
              </a:rPr>
              <a:t>Quality</a:t>
            </a:r>
            <a:r>
              <a:rPr lang="da-DK" altLang="en-US" sz="1400" b="1" dirty="0" smtClean="0">
                <a:solidFill>
                  <a:prstClr val="black"/>
                </a:solidFill>
              </a:rPr>
              <a:t>, </a:t>
            </a:r>
            <a:r>
              <a:rPr lang="da-DK" altLang="en-US" sz="2000" b="1" dirty="0" smtClean="0">
                <a:solidFill>
                  <a:srgbClr val="FF0000"/>
                </a:solidFill>
              </a:rPr>
              <a:t>metadata</a:t>
            </a:r>
            <a:r>
              <a:rPr lang="da-DK" altLang="en-US" sz="1400" b="1" dirty="0" smtClean="0">
                <a:solidFill>
                  <a:prstClr val="black"/>
                </a:solidFill>
              </a:rPr>
              <a:t>, </a:t>
            </a:r>
            <a:r>
              <a:rPr lang="da-DK" altLang="en-US" sz="1400" b="1" dirty="0" err="1" smtClean="0">
                <a:solidFill>
                  <a:prstClr val="black"/>
                </a:solidFill>
              </a:rPr>
              <a:t>methods</a:t>
            </a:r>
            <a:r>
              <a:rPr lang="da-DK" altLang="en-US" sz="1400" b="1" dirty="0" smtClean="0">
                <a:solidFill>
                  <a:prstClr val="black"/>
                </a:solidFill>
              </a:rPr>
              <a:t> &amp; IT</a:t>
            </a:r>
            <a:endParaRPr lang="en-US" altLang="en-US" sz="1400" b="1" dirty="0">
              <a:solidFill>
                <a:prstClr val="black"/>
              </a:solidFill>
            </a:endParaRP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8007531" y="3421886"/>
            <a:ext cx="991333" cy="40011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a-DK" altLang="da-DK" sz="2000" b="1" dirty="0" smtClean="0">
                <a:solidFill>
                  <a:srgbClr val="FF0000"/>
                </a:solidFill>
              </a:rPr>
              <a:t>Users</a:t>
            </a:r>
            <a:endParaRPr lang="en-US" altLang="da-DK" sz="2000" b="1" dirty="0">
              <a:solidFill>
                <a:srgbClr val="FF0000"/>
              </a:solidFill>
            </a:endParaRPr>
          </a:p>
        </p:txBody>
      </p:sp>
      <p:cxnSp>
        <p:nvCxnSpPr>
          <p:cNvPr id="23" name="AutoShape 30"/>
          <p:cNvCxnSpPr>
            <a:cxnSpLocks noChangeShapeType="1"/>
          </p:cNvCxnSpPr>
          <p:nvPr/>
        </p:nvCxnSpPr>
        <p:spPr bwMode="auto">
          <a:xfrm flipH="1">
            <a:off x="7540624" y="3700711"/>
            <a:ext cx="411342" cy="663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3764801" y="5589588"/>
            <a:ext cx="25843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a-DK" altLang="da-DK" sz="2000" dirty="0">
                <a:solidFill>
                  <a:prstClr val="black"/>
                </a:solidFill>
              </a:rPr>
              <a:t>User </a:t>
            </a:r>
            <a:r>
              <a:rPr lang="da-DK" altLang="da-DK" dirty="0" err="1">
                <a:solidFill>
                  <a:prstClr val="black"/>
                </a:solidFill>
              </a:rPr>
              <a:t>needs</a:t>
            </a:r>
            <a:r>
              <a:rPr lang="da-DK" altLang="da-DK" sz="2000" dirty="0">
                <a:solidFill>
                  <a:prstClr val="black"/>
                </a:solidFill>
              </a:rPr>
              <a:t> /</a:t>
            </a:r>
            <a:r>
              <a:rPr lang="da-DK" altLang="da-DK" sz="2000" dirty="0" err="1">
                <a:solidFill>
                  <a:prstClr val="black"/>
                </a:solidFill>
              </a:rPr>
              <a:t>orders</a:t>
            </a:r>
            <a:r>
              <a:rPr lang="da-DK" altLang="da-DK" sz="2000" b="1" dirty="0">
                <a:solidFill>
                  <a:prstClr val="black"/>
                </a:solidFill>
              </a:rPr>
              <a:t> </a:t>
            </a:r>
          </a:p>
        </p:txBody>
      </p:sp>
      <p:cxnSp>
        <p:nvCxnSpPr>
          <p:cNvPr id="32" name="AutoShape 33"/>
          <p:cNvCxnSpPr>
            <a:cxnSpLocks noChangeShapeType="1"/>
            <a:stCxn id="30" idx="3"/>
          </p:cNvCxnSpPr>
          <p:nvPr/>
        </p:nvCxnSpPr>
        <p:spPr bwMode="auto">
          <a:xfrm>
            <a:off x="6349163" y="5789643"/>
            <a:ext cx="2255087" cy="1743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AutoShape 34"/>
          <p:cNvCxnSpPr>
            <a:cxnSpLocks noChangeShapeType="1"/>
          </p:cNvCxnSpPr>
          <p:nvPr/>
        </p:nvCxnSpPr>
        <p:spPr bwMode="auto">
          <a:xfrm flipV="1">
            <a:off x="8604250" y="3933825"/>
            <a:ext cx="0" cy="187166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AutoShape 35"/>
          <p:cNvCxnSpPr>
            <a:cxnSpLocks noChangeShapeType="1"/>
          </p:cNvCxnSpPr>
          <p:nvPr/>
        </p:nvCxnSpPr>
        <p:spPr bwMode="auto">
          <a:xfrm flipH="1">
            <a:off x="1619250" y="4221163"/>
            <a:ext cx="720725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AutoShape 36"/>
          <p:cNvCxnSpPr>
            <a:cxnSpLocks noChangeShapeType="1"/>
          </p:cNvCxnSpPr>
          <p:nvPr/>
        </p:nvCxnSpPr>
        <p:spPr bwMode="auto">
          <a:xfrm flipV="1">
            <a:off x="1619250" y="4221163"/>
            <a:ext cx="1588" cy="15843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AutoShape 37"/>
          <p:cNvCxnSpPr>
            <a:cxnSpLocks noChangeShapeType="1"/>
            <a:endCxn id="30" idx="1"/>
          </p:cNvCxnSpPr>
          <p:nvPr/>
        </p:nvCxnSpPr>
        <p:spPr bwMode="auto">
          <a:xfrm flipV="1">
            <a:off x="1619250" y="5789643"/>
            <a:ext cx="2145551" cy="15846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Pladsholder til diasnummer 3"/>
          <p:cNvSpPr>
            <a:spLocks noGrp="1"/>
          </p:cNvSpPr>
          <p:nvPr>
            <p:ph type="sldNum" sz="quarter" idx="4294967295"/>
          </p:nvPr>
        </p:nvSpPr>
        <p:spPr>
          <a:xfrm>
            <a:off x="8532440" y="6514165"/>
            <a:ext cx="514400" cy="270537"/>
          </a:xfrm>
          <a:prstGeom prst="rect">
            <a:avLst/>
          </a:prstGeom>
        </p:spPr>
        <p:txBody>
          <a:bodyPr/>
          <a:lstStyle/>
          <a:p>
            <a:fld id="{04C73271-F603-4B8B-BC48-CACE9C399C01}" type="slidenum">
              <a:rPr lang="da-DK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da-DK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1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Metadata and business processes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8</a:t>
            </a:fld>
            <a:endParaRPr lang="da-DK" dirty="0"/>
          </a:p>
        </p:txBody>
      </p:sp>
      <p:pic>
        <p:nvPicPr>
          <p:cNvPr id="5" name="Pladsholder til indhold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1412776"/>
            <a:ext cx="7230963" cy="516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3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Metadata </a:t>
            </a:r>
            <a:r>
              <a:rPr lang="da-DK" dirty="0" err="1" smtClean="0"/>
              <a:t>terminology</a:t>
            </a:r>
            <a:r>
              <a:rPr lang="da-DK" dirty="0" smtClean="0"/>
              <a:t>:  Reality, data and information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9</a:t>
            </a:fld>
            <a:endParaRPr lang="da-DK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59" y="2636912"/>
            <a:ext cx="6548759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kyformet billedforklaring 1"/>
          <p:cNvSpPr/>
          <p:nvPr/>
        </p:nvSpPr>
        <p:spPr>
          <a:xfrm>
            <a:off x="6652167" y="836712"/>
            <a:ext cx="2520280" cy="2052228"/>
          </a:xfrm>
          <a:prstGeom prst="cloudCallou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smtClean="0">
                <a:solidFill>
                  <a:schemeClr val="tx1"/>
                </a:solidFill>
              </a:rPr>
              <a:t>Compatible frames of reference </a:t>
            </a:r>
            <a:r>
              <a:rPr lang="da-DK" dirty="0" err="1" smtClean="0">
                <a:solidFill>
                  <a:schemeClr val="tx1"/>
                </a:solidFill>
              </a:rPr>
              <a:t>needed</a:t>
            </a:r>
            <a:r>
              <a:rPr lang="da-DK" dirty="0" smtClean="0">
                <a:solidFill>
                  <a:schemeClr val="tx1"/>
                </a:solidFill>
              </a:rPr>
              <a:t>!</a:t>
            </a:r>
            <a:endParaRPr lang="da-D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15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i="1" dirty="0" smtClean="0"/>
              <a:t>Sharing </a:t>
            </a:r>
            <a:r>
              <a:rPr lang="en-GB" sz="3600" i="1" dirty="0"/>
              <a:t>of </a:t>
            </a:r>
            <a:r>
              <a:rPr lang="en-GB" sz="3600" i="1" dirty="0" smtClean="0"/>
              <a:t>data requires compatible </a:t>
            </a:r>
            <a:r>
              <a:rPr lang="en-GB" sz="3600" i="1" dirty="0"/>
              <a:t>frames of </a:t>
            </a:r>
            <a:r>
              <a:rPr lang="en-GB" sz="3600" i="1" dirty="0" smtClean="0"/>
              <a:t>reference</a:t>
            </a:r>
          </a:p>
          <a:p>
            <a:r>
              <a:rPr lang="en-GB" sz="3600" i="1" dirty="0" smtClean="0"/>
              <a:t>Compatible frames of references can be ensured via  metadata</a:t>
            </a:r>
          </a:p>
          <a:p>
            <a:r>
              <a:rPr lang="en-GB" sz="3600" i="1" dirty="0" smtClean="0"/>
              <a:t>Need for </a:t>
            </a:r>
            <a:r>
              <a:rPr lang="en-GB" sz="3600" i="1" dirty="0" smtClean="0"/>
              <a:t>both metadata-terminology </a:t>
            </a:r>
            <a:r>
              <a:rPr lang="en-GB" sz="3600" i="1" dirty="0" smtClean="0"/>
              <a:t>and domain-specific metadata </a:t>
            </a:r>
          </a:p>
          <a:p>
            <a:endParaRPr lang="en-GB" sz="2000" i="1" dirty="0" smtClean="0"/>
          </a:p>
          <a:p>
            <a:endParaRPr lang="da-DK" sz="200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Sharing</a:t>
            </a:r>
            <a:r>
              <a:rPr lang="da-DK" dirty="0" smtClean="0"/>
              <a:t> and </a:t>
            </a:r>
            <a:r>
              <a:rPr lang="da-DK" dirty="0" err="1" smtClean="0"/>
              <a:t>reusing</a:t>
            </a:r>
            <a:r>
              <a:rPr lang="da-DK" dirty="0" smtClean="0"/>
              <a:t> data and metadata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10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4824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Pladsholder til indhold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573090"/>
              </p:ext>
            </p:extLst>
          </p:nvPr>
        </p:nvGraphicFramePr>
        <p:xfrm>
          <a:off x="395536" y="1196752"/>
          <a:ext cx="8496943" cy="52390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4216"/>
                <a:gridCol w="2795380"/>
                <a:gridCol w="3757347"/>
              </a:tblGrid>
              <a:tr h="11294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da-DK" sz="2400" dirty="0">
                        <a:effectLst/>
                        <a:latin typeface="Times New Roman"/>
                        <a:ea typeface="MS ??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Frames of reference inside NSI’s</a:t>
                      </a:r>
                      <a:endParaRPr lang="da-DK" sz="2400" dirty="0">
                        <a:effectLst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da-DK" sz="2400" dirty="0">
                        <a:effectLst/>
                        <a:latin typeface="Times New Roman"/>
                        <a:ea typeface="MS ??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Frames of reference of </a:t>
                      </a:r>
                      <a:r>
                        <a:rPr lang="en-US" sz="2000" dirty="0" smtClean="0">
                          <a:effectLst/>
                        </a:rPr>
                        <a:t>external </a:t>
                      </a:r>
                      <a:r>
                        <a:rPr lang="en-US" sz="2000" dirty="0">
                          <a:effectLst/>
                        </a:rPr>
                        <a:t>users </a:t>
                      </a:r>
                      <a:endParaRPr lang="da-DK" sz="2400" dirty="0">
                        <a:effectLst/>
                        <a:latin typeface="Times New Roman"/>
                        <a:ea typeface="MS ??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8976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Terminology for statistical metadata </a:t>
                      </a:r>
                      <a:endParaRPr lang="da-DK" sz="2400" dirty="0">
                        <a:effectLst/>
                        <a:latin typeface="Times New Roman"/>
                        <a:ea typeface="MS ??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Complex and simplified metadata </a:t>
                      </a:r>
                      <a:r>
                        <a:rPr lang="en-US" sz="2000" dirty="0" smtClean="0">
                          <a:effectLst/>
                        </a:rPr>
                        <a:t>terminology (e.g.</a:t>
                      </a:r>
                      <a:r>
                        <a:rPr lang="en-US" sz="2000" baseline="0" dirty="0" smtClean="0">
                          <a:effectLst/>
                        </a:rPr>
                        <a:t>  selected terms from GSIM)</a:t>
                      </a:r>
                      <a:endParaRPr lang="da-DK" sz="2400" dirty="0">
                        <a:effectLst/>
                        <a:latin typeface="Times New Roman"/>
                        <a:ea typeface="MS ??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Simplified metadata terminology </a:t>
                      </a:r>
                      <a:r>
                        <a:rPr lang="en-US" sz="2000" dirty="0" smtClean="0">
                          <a:effectLst/>
                        </a:rPr>
                        <a:t>(e.g. classification,</a:t>
                      </a:r>
                      <a:r>
                        <a:rPr lang="en-US" sz="2000" baseline="0" dirty="0" smtClean="0">
                          <a:effectLst/>
                        </a:rPr>
                        <a:t> variable, code-list)</a:t>
                      </a:r>
                      <a:endParaRPr lang="da-DK" sz="2400" dirty="0">
                        <a:effectLst/>
                        <a:latin typeface="Times New Roman"/>
                        <a:ea typeface="MS ??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5814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Statistical metadata  </a:t>
                      </a:r>
                      <a:endParaRPr lang="da-DK" sz="2400">
                        <a:effectLst/>
                        <a:latin typeface="Times New Roman"/>
                        <a:ea typeface="MS ??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Domain specific metadata (complex and simplified</a:t>
                      </a:r>
                      <a:r>
                        <a:rPr lang="en-US" sz="2000" dirty="0" smtClean="0">
                          <a:effectLst/>
                        </a:rPr>
                        <a:t>). </a:t>
                      </a:r>
                      <a:endParaRPr lang="da-DK" sz="2400" dirty="0">
                        <a:effectLst/>
                        <a:latin typeface="Times New Roman"/>
                        <a:ea typeface="MS ??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Domain specific metadata </a:t>
                      </a:r>
                      <a:r>
                        <a:rPr lang="en-US" sz="2000" dirty="0" smtClean="0">
                          <a:effectLst/>
                        </a:rPr>
                        <a:t>simplified</a:t>
                      </a:r>
                      <a:endParaRPr lang="da-DK" sz="2400" dirty="0">
                        <a:effectLst/>
                        <a:latin typeface="Times New Roman"/>
                        <a:ea typeface="MS ??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539552" y="8400"/>
            <a:ext cx="8208912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F</a:t>
            </a:r>
            <a:r>
              <a:rPr lang="en-GB" dirty="0" smtClean="0"/>
              <a:t>rames </a:t>
            </a:r>
            <a:r>
              <a:rPr lang="en-GB" dirty="0"/>
              <a:t>of </a:t>
            </a:r>
            <a:r>
              <a:rPr lang="en-GB" dirty="0" smtClean="0"/>
              <a:t>references related metadata </a:t>
            </a:r>
            <a:r>
              <a:rPr lang="en-GB" dirty="0"/>
              <a:t>terminology and statistical metadata. 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11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69143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457200" y="130175"/>
            <a:ext cx="82296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da-DK" sz="2900" b="1" dirty="0">
                <a:solidFill>
                  <a:srgbClr val="0091D4"/>
                </a:solidFill>
                <a:latin typeface="Georgia" pitchFamily="18" charset="0"/>
                <a:ea typeface="+mj-ea"/>
                <a:cs typeface="+mj-cs"/>
              </a:rPr>
              <a:t>Terminology: simplified definition of statistical metadata (from </a:t>
            </a:r>
            <a:r>
              <a:rPr lang="en-US" altLang="da-DK" sz="2900" b="1" dirty="0" smtClean="0">
                <a:solidFill>
                  <a:srgbClr val="0091D4"/>
                </a:solidFill>
                <a:latin typeface="Georgia" pitchFamily="18" charset="0"/>
                <a:ea typeface="+mj-ea"/>
                <a:cs typeface="+mj-cs"/>
              </a:rPr>
              <a:t>SDMX)</a:t>
            </a:r>
            <a:endParaRPr lang="en-US" altLang="da-DK" sz="36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4131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solidFill>
                  <a:schemeClr val="tx1"/>
                </a:solidFill>
              </a:rPr>
              <a:t>Reference </a:t>
            </a:r>
            <a:r>
              <a:rPr lang="en-US" sz="3200" b="1" dirty="0">
                <a:solidFill>
                  <a:schemeClr val="tx1"/>
                </a:solidFill>
              </a:rPr>
              <a:t>metadata</a:t>
            </a:r>
            <a:r>
              <a:rPr lang="en-US" sz="3200" dirty="0">
                <a:solidFill>
                  <a:schemeClr val="tx1"/>
                </a:solidFill>
              </a:rPr>
              <a:t>: </a:t>
            </a:r>
            <a:endParaRPr lang="en-US" sz="3200" dirty="0" smtClean="0">
              <a:solidFill>
                <a:schemeClr val="tx1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tx1"/>
                </a:solidFill>
              </a:rPr>
              <a:t>Conceptual metadata</a:t>
            </a:r>
            <a:r>
              <a:rPr lang="da-DK" sz="3200" dirty="0" smtClean="0">
                <a:solidFill>
                  <a:schemeClr val="tx1"/>
                </a:solidFill>
              </a:rPr>
              <a:t> (</a:t>
            </a:r>
            <a:r>
              <a:rPr lang="da-DK" sz="3200" dirty="0" err="1" smtClean="0">
                <a:solidFill>
                  <a:schemeClr val="tx1"/>
                </a:solidFill>
              </a:rPr>
              <a:t>e.g</a:t>
            </a:r>
            <a:r>
              <a:rPr lang="da-DK" sz="3200" dirty="0" smtClean="0">
                <a:solidFill>
                  <a:schemeClr val="tx1"/>
                </a:solidFill>
              </a:rPr>
              <a:t>. definition of </a:t>
            </a:r>
            <a:r>
              <a:rPr lang="da-DK" sz="3200" dirty="0" err="1" smtClean="0">
                <a:solidFill>
                  <a:schemeClr val="tx1"/>
                </a:solidFill>
              </a:rPr>
              <a:t>income</a:t>
            </a:r>
            <a:r>
              <a:rPr lang="da-DK" sz="3200" dirty="0" smtClean="0">
                <a:solidFill>
                  <a:schemeClr val="tx1"/>
                </a:solidFill>
              </a:rPr>
              <a:t>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da-DK" sz="3200" dirty="0">
                <a:solidFill>
                  <a:schemeClr val="tx1"/>
                </a:solidFill>
              </a:rPr>
              <a:t>M</a:t>
            </a:r>
            <a:r>
              <a:rPr lang="da-DK" sz="3200" dirty="0" smtClean="0">
                <a:solidFill>
                  <a:schemeClr val="tx1"/>
                </a:solidFill>
              </a:rPr>
              <a:t>et</a:t>
            </a:r>
            <a:r>
              <a:rPr lang="en-US" sz="3200" dirty="0" err="1" smtClean="0">
                <a:solidFill>
                  <a:schemeClr val="tx1"/>
                </a:solidFill>
              </a:rPr>
              <a:t>hodological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and processing </a:t>
            </a:r>
            <a:r>
              <a:rPr lang="en-US" sz="3200" dirty="0" smtClean="0">
                <a:solidFill>
                  <a:schemeClr val="tx1"/>
                </a:solidFill>
              </a:rPr>
              <a:t>metadata (e.g. description of data processing)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da-DK" sz="3200" dirty="0" smtClean="0">
                <a:solidFill>
                  <a:schemeClr val="tx1"/>
                </a:solidFill>
              </a:rPr>
              <a:t>Q</a:t>
            </a:r>
            <a:r>
              <a:rPr lang="en-US" sz="3200" dirty="0" err="1" smtClean="0">
                <a:solidFill>
                  <a:schemeClr val="tx1"/>
                </a:solidFill>
              </a:rPr>
              <a:t>uality</a:t>
            </a:r>
            <a:r>
              <a:rPr lang="en-US" sz="3200" dirty="0" smtClean="0">
                <a:solidFill>
                  <a:schemeClr val="tx1"/>
                </a:solidFill>
              </a:rPr>
              <a:t> metadata  (e.g. Availability)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Structural </a:t>
            </a:r>
            <a:r>
              <a:rPr lang="en-US" sz="3200" b="1" dirty="0" smtClean="0">
                <a:solidFill>
                  <a:schemeClr val="tx1"/>
                </a:solidFill>
              </a:rPr>
              <a:t>metadata: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M</a:t>
            </a:r>
            <a:r>
              <a:rPr lang="en-US" sz="3200" dirty="0" smtClean="0">
                <a:solidFill>
                  <a:schemeClr val="tx1"/>
                </a:solidFill>
              </a:rPr>
              <a:t>etadata act </a:t>
            </a:r>
            <a:r>
              <a:rPr lang="en-US" sz="3200" dirty="0">
                <a:solidFill>
                  <a:schemeClr val="tx1"/>
                </a:solidFill>
              </a:rPr>
              <a:t>as identifiers and descriptors of the </a:t>
            </a:r>
            <a:r>
              <a:rPr lang="en-US" sz="3200" dirty="0" smtClean="0">
                <a:solidFill>
                  <a:schemeClr val="tx1"/>
                </a:solidFill>
              </a:rPr>
              <a:t>data (e.g. </a:t>
            </a:r>
            <a:r>
              <a:rPr lang="en-US" sz="3200" dirty="0" smtClean="0">
                <a:solidFill>
                  <a:schemeClr val="tx1"/>
                </a:solidFill>
              </a:rPr>
              <a:t>variables, code-lists, dataset)</a:t>
            </a:r>
            <a:endParaRPr lang="en-US" sz="32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da-DK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da-DK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ts val="400"/>
              </a:spcBef>
              <a:buFont typeface="Arial" pitchFamily="34" charset="0"/>
              <a:buNone/>
            </a:pPr>
            <a:endParaRPr lang="en-US" altLang="da-DK" sz="260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496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323528" y="404664"/>
            <a:ext cx="8363272" cy="1404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da-DK" sz="3200" b="1" dirty="0" smtClean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US" altLang="da-DK" sz="3600" b="1" dirty="0">
                <a:solidFill>
                  <a:srgbClr val="0091D4"/>
                </a:solidFill>
                <a:latin typeface="Georgia" pitchFamily="18" charset="0"/>
                <a:ea typeface="+mj-ea"/>
                <a:cs typeface="+mj-cs"/>
              </a:rPr>
              <a:t>Terminology: </a:t>
            </a:r>
            <a:r>
              <a:rPr lang="en-US" altLang="da-DK" sz="3600" b="1" dirty="0" smtClean="0">
                <a:solidFill>
                  <a:srgbClr val="0091D4"/>
                </a:solidFill>
                <a:latin typeface="Georgia" pitchFamily="18" charset="0"/>
                <a:ea typeface="+mj-ea"/>
                <a:cs typeface="+mj-cs"/>
              </a:rPr>
              <a:t>complex definition of statistical metadata </a:t>
            </a:r>
            <a:r>
              <a:rPr lang="en-US" altLang="da-DK" sz="3600" b="1" dirty="0">
                <a:solidFill>
                  <a:srgbClr val="0091D4"/>
                </a:solidFill>
                <a:latin typeface="Georgia" pitchFamily="18" charset="0"/>
                <a:ea typeface="+mj-ea"/>
                <a:cs typeface="+mj-cs"/>
              </a:rPr>
              <a:t>(from GSIM)</a:t>
            </a:r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342900" indent="-341313"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400"/>
              </a:spcBef>
              <a:buFont typeface="Arial" pitchFamily="34" charset="0"/>
              <a:buNone/>
            </a:pPr>
            <a:endParaRPr lang="en-US" altLang="da-DK" sz="2600" dirty="0">
              <a:solidFill>
                <a:schemeClr val="tx1"/>
              </a:solidFill>
              <a:latin typeface="Calibri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547" y="1808820"/>
            <a:ext cx="4977243" cy="484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13710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/>
          </p:cNvSpPr>
          <p:nvPr>
            <p:ph type="body" idx="4294967295"/>
          </p:nvPr>
        </p:nvSpPr>
        <p:spPr>
          <a:xfrm>
            <a:off x="468313" y="1268413"/>
            <a:ext cx="8229600" cy="452596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>
            <a:normAutofit/>
          </a:bodyPr>
          <a:lstStyle/>
          <a:p>
            <a:endParaRPr lang="en-GB" dirty="0"/>
          </a:p>
          <a:p>
            <a:pPr marL="0" indent="0">
              <a:buNone/>
            </a:pPr>
            <a:endParaRPr lang="en-US" altLang="da-DK" sz="2400" dirty="0" smtClean="0"/>
          </a:p>
        </p:txBody>
      </p:sp>
      <p:sp>
        <p:nvSpPr>
          <p:cNvPr id="4" name="Titel 2"/>
          <p:cNvSpPr txBox="1">
            <a:spLocks/>
          </p:cNvSpPr>
          <p:nvPr/>
        </p:nvSpPr>
        <p:spPr>
          <a:xfrm>
            <a:off x="-180528" y="184076"/>
            <a:ext cx="9649072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 pitchFamily="18" charset="0"/>
                <a:ea typeface="+mj-ea"/>
                <a:cs typeface="+mj-cs"/>
              </a:defRPr>
            </a:lvl1pPr>
          </a:lstStyle>
          <a:p>
            <a:pPr lvl="0"/>
            <a:r>
              <a:rPr lang="da-DK" sz="3600" b="1" dirty="0">
                <a:solidFill>
                  <a:srgbClr val="0091D4"/>
                </a:solidFill>
              </a:rPr>
              <a:t>Frame of reference for </a:t>
            </a:r>
            <a:r>
              <a:rPr lang="da-DK" sz="3600" b="1" dirty="0" err="1">
                <a:solidFill>
                  <a:srgbClr val="0091D4"/>
                </a:solidFill>
              </a:rPr>
              <a:t>complex</a:t>
            </a:r>
            <a:r>
              <a:rPr lang="da-DK" sz="3600" b="1" dirty="0">
                <a:solidFill>
                  <a:srgbClr val="0091D4"/>
                </a:solidFill>
              </a:rPr>
              <a:t> metadata </a:t>
            </a:r>
            <a:r>
              <a:rPr lang="da-DK" sz="3600" b="1" dirty="0" err="1">
                <a:solidFill>
                  <a:srgbClr val="0091D4"/>
                </a:solidFill>
              </a:rPr>
              <a:t>terminology</a:t>
            </a:r>
            <a:endParaRPr lang="da-DK" sz="3600" b="1" dirty="0">
              <a:solidFill>
                <a:srgbClr val="0091D4"/>
              </a:solidFill>
            </a:endParaRPr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618364"/>
              </p:ext>
            </p:extLst>
          </p:nvPr>
        </p:nvGraphicFramePr>
        <p:xfrm>
          <a:off x="899592" y="1700808"/>
          <a:ext cx="7992888" cy="4028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1436"/>
                <a:gridCol w="5861452"/>
              </a:tblGrid>
              <a:tr h="444905">
                <a:tc>
                  <a:txBody>
                    <a:bodyPr/>
                    <a:lstStyle/>
                    <a:p>
                      <a:r>
                        <a:rPr lang="da-DK" sz="2000" dirty="0" smtClean="0"/>
                        <a:t>Model / </a:t>
                      </a:r>
                      <a:r>
                        <a:rPr lang="da-DK" sz="2000" dirty="0" err="1" smtClean="0"/>
                        <a:t>level</a:t>
                      </a:r>
                      <a:endParaRPr lang="da-D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2000" dirty="0" err="1" smtClean="0"/>
                        <a:t>Use</a:t>
                      </a:r>
                      <a:r>
                        <a:rPr lang="da-DK" sz="2000" baseline="0" dirty="0" smtClean="0"/>
                        <a:t> in Stat DK</a:t>
                      </a:r>
                      <a:endParaRPr lang="da-DK" sz="2000" dirty="0"/>
                    </a:p>
                  </a:txBody>
                  <a:tcPr/>
                </a:tc>
              </a:tr>
              <a:tr h="779231">
                <a:tc>
                  <a:txBody>
                    <a:bodyPr/>
                    <a:lstStyle/>
                    <a:p>
                      <a:r>
                        <a:rPr lang="da-DK" sz="2800" dirty="0" err="1" smtClean="0"/>
                        <a:t>Concep-tual</a:t>
                      </a:r>
                      <a:endParaRPr lang="da-DK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2800" dirty="0" err="1" smtClean="0"/>
                        <a:t>Selection</a:t>
                      </a:r>
                      <a:r>
                        <a:rPr lang="da-DK" sz="2800" baseline="0" dirty="0" smtClean="0"/>
                        <a:t> of variable, </a:t>
                      </a:r>
                      <a:r>
                        <a:rPr lang="da-DK" sz="2800" baseline="0" dirty="0" err="1" smtClean="0"/>
                        <a:t>concept</a:t>
                      </a:r>
                      <a:r>
                        <a:rPr lang="da-DK" sz="2800" baseline="0" dirty="0" smtClean="0"/>
                        <a:t> </a:t>
                      </a:r>
                      <a:r>
                        <a:rPr lang="da-DK" sz="2800" baseline="0" dirty="0" err="1" smtClean="0"/>
                        <a:t>etc</a:t>
                      </a:r>
                      <a:r>
                        <a:rPr lang="da-DK" sz="2800" baseline="0" dirty="0" smtClean="0"/>
                        <a:t> from GSIM</a:t>
                      </a:r>
                      <a:endParaRPr lang="da-DK" sz="2800" dirty="0"/>
                    </a:p>
                  </a:txBody>
                  <a:tcPr/>
                </a:tc>
              </a:tr>
              <a:tr h="526630">
                <a:tc>
                  <a:txBody>
                    <a:bodyPr/>
                    <a:lstStyle/>
                    <a:p>
                      <a:r>
                        <a:rPr lang="da-DK" sz="2800" dirty="0" err="1" smtClean="0"/>
                        <a:t>Concep-tual</a:t>
                      </a:r>
                      <a:endParaRPr lang="da-DK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2800" dirty="0" smtClean="0"/>
                        <a:t>GSIM </a:t>
                      </a:r>
                      <a:r>
                        <a:rPr lang="da-DK" sz="2800" dirty="0" err="1" smtClean="0"/>
                        <a:t>compliant</a:t>
                      </a:r>
                      <a:r>
                        <a:rPr lang="da-DK" sz="2800" dirty="0" smtClean="0"/>
                        <a:t> DDI model (3.2)</a:t>
                      </a:r>
                    </a:p>
                    <a:p>
                      <a:endParaRPr lang="da-DK" sz="2800" dirty="0"/>
                    </a:p>
                  </a:txBody>
                  <a:tcPr/>
                </a:tc>
              </a:tr>
              <a:tr h="649217">
                <a:tc>
                  <a:txBody>
                    <a:bodyPr/>
                    <a:lstStyle/>
                    <a:p>
                      <a:r>
                        <a:rPr lang="da-DK" sz="2800" dirty="0" err="1" smtClean="0"/>
                        <a:t>Logical</a:t>
                      </a:r>
                      <a:r>
                        <a:rPr lang="da-DK" sz="2800" baseline="0" dirty="0" smtClean="0"/>
                        <a:t> </a:t>
                      </a:r>
                      <a:endParaRPr lang="da-DK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2800" dirty="0" smtClean="0"/>
                        <a:t>DDI model (3.2)</a:t>
                      </a:r>
                    </a:p>
                  </a:txBody>
                  <a:tcPr/>
                </a:tc>
              </a:tr>
              <a:tr h="1044689">
                <a:tc>
                  <a:txBody>
                    <a:bodyPr/>
                    <a:lstStyle/>
                    <a:p>
                      <a:r>
                        <a:rPr lang="da-DK" sz="2800" dirty="0" err="1" smtClean="0"/>
                        <a:t>Physical</a:t>
                      </a:r>
                      <a:endParaRPr lang="da-DK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2800" dirty="0" smtClean="0"/>
                        <a:t>GSIM</a:t>
                      </a:r>
                      <a:r>
                        <a:rPr lang="da-DK" sz="2800" baseline="0" dirty="0" smtClean="0"/>
                        <a:t> </a:t>
                      </a:r>
                      <a:r>
                        <a:rPr lang="da-DK" sz="2800" baseline="0" dirty="0" err="1" smtClean="0"/>
                        <a:t>compliant</a:t>
                      </a:r>
                      <a:r>
                        <a:rPr lang="da-DK" sz="2800" baseline="0" dirty="0" smtClean="0"/>
                        <a:t> DDI model </a:t>
                      </a:r>
                      <a:r>
                        <a:rPr lang="da-DK" sz="2800" baseline="0" dirty="0" err="1" smtClean="0"/>
                        <a:t>implemented</a:t>
                      </a:r>
                      <a:r>
                        <a:rPr lang="da-DK" sz="2800" baseline="0" dirty="0" smtClean="0"/>
                        <a:t> in </a:t>
                      </a:r>
                      <a:r>
                        <a:rPr lang="da-DK" sz="2800" baseline="0" dirty="0" err="1" smtClean="0"/>
                        <a:t>Colectica</a:t>
                      </a:r>
                      <a:r>
                        <a:rPr lang="da-DK" sz="2800" baseline="0" dirty="0" smtClean="0"/>
                        <a:t> 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95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da-DK" dirty="0" smtClean="0"/>
              <a:t>Metadata for dimensional data </a:t>
            </a:r>
            <a:r>
              <a:rPr lang="da-DK" dirty="0" err="1" smtClean="0"/>
              <a:t>using</a:t>
            </a:r>
            <a:r>
              <a:rPr lang="da-DK" dirty="0" smtClean="0"/>
              <a:t> GSIM </a:t>
            </a:r>
            <a:r>
              <a:rPr lang="da-DK" dirty="0" err="1" smtClean="0"/>
              <a:t>terminology</a:t>
            </a:r>
            <a:r>
              <a:rPr lang="da-DK" dirty="0" smtClean="0"/>
              <a:t> </a:t>
            </a:r>
            <a:r>
              <a:rPr lang="da-DK" dirty="0" smtClean="0"/>
              <a:t>– </a:t>
            </a:r>
            <a:r>
              <a:rPr lang="da-DK" dirty="0"/>
              <a:t>a</a:t>
            </a:r>
            <a:r>
              <a:rPr lang="da-DK" dirty="0" smtClean="0"/>
              <a:t>n </a:t>
            </a:r>
            <a:r>
              <a:rPr lang="da-DK" dirty="0" err="1"/>
              <a:t>example</a:t>
            </a:r>
            <a:r>
              <a:rPr lang="da-DK" dirty="0"/>
              <a:t/>
            </a:r>
            <a:br>
              <a:rPr lang="da-DK" dirty="0"/>
            </a:b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15</a:t>
            </a:fld>
            <a:endParaRPr lang="da-DK" dirty="0"/>
          </a:p>
        </p:txBody>
      </p:sp>
      <p:pic>
        <p:nvPicPr>
          <p:cNvPr id="5" name="Pladsholder til indhold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797166"/>
            <a:ext cx="8861718" cy="271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4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kstboks 54"/>
          <p:cNvSpPr txBox="1"/>
          <p:nvPr/>
        </p:nvSpPr>
        <p:spPr>
          <a:xfrm>
            <a:off x="7282482" y="2420162"/>
            <a:ext cx="1676548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INSTANCE </a:t>
            </a:r>
          </a:p>
          <a:p>
            <a:pPr algn="ctr"/>
            <a:r>
              <a:rPr lang="da-DK" sz="800" b="1" dirty="0" smtClean="0"/>
              <a:t>VARIABLE</a:t>
            </a:r>
          </a:p>
          <a:p>
            <a:pPr algn="ctr"/>
            <a:r>
              <a:rPr lang="da-DK" sz="800" b="1" dirty="0" smtClean="0">
                <a:solidFill>
                  <a:srgbClr val="FF0000"/>
                </a:solidFill>
              </a:rPr>
              <a:t>CivilstatusPersonsInCPH2014</a:t>
            </a:r>
            <a:endParaRPr lang="da-DK" sz="800" b="1" dirty="0" smtClean="0"/>
          </a:p>
        </p:txBody>
      </p:sp>
      <p:sp>
        <p:nvSpPr>
          <p:cNvPr id="59" name="Tekstboks 58"/>
          <p:cNvSpPr txBox="1"/>
          <p:nvPr/>
        </p:nvSpPr>
        <p:spPr>
          <a:xfrm>
            <a:off x="1430426" y="4653136"/>
            <a:ext cx="1084943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a-DK" sz="800" b="1" dirty="0" err="1" smtClean="0"/>
              <a:t>Identifier</a:t>
            </a:r>
            <a:r>
              <a:rPr lang="da-DK" sz="800" b="1" dirty="0" smtClean="0"/>
              <a:t> Component</a:t>
            </a:r>
          </a:p>
          <a:p>
            <a:r>
              <a:rPr lang="da-DK" sz="800" b="1" dirty="0" smtClean="0">
                <a:solidFill>
                  <a:srgbClr val="FF0000"/>
                </a:solidFill>
              </a:rPr>
              <a:t>Civil status</a:t>
            </a:r>
            <a:endParaRPr lang="da-DK" sz="800" b="1" dirty="0">
              <a:solidFill>
                <a:srgbClr val="FF0000"/>
              </a:solidFill>
            </a:endParaRPr>
          </a:p>
        </p:txBody>
      </p:sp>
      <p:sp>
        <p:nvSpPr>
          <p:cNvPr id="5" name="Tekstboks 4"/>
          <p:cNvSpPr txBox="1"/>
          <p:nvPr/>
        </p:nvSpPr>
        <p:spPr>
          <a:xfrm>
            <a:off x="986905" y="614011"/>
            <a:ext cx="1457902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VARIABLE </a:t>
            </a:r>
          </a:p>
          <a:p>
            <a:pPr algn="ctr"/>
            <a:endParaRPr lang="da-DK" sz="800" b="1" dirty="0" smtClean="0"/>
          </a:p>
          <a:p>
            <a:pPr algn="ctr"/>
            <a:r>
              <a:rPr lang="da-DK" sz="800" b="1" dirty="0" err="1" smtClean="0">
                <a:solidFill>
                  <a:srgbClr val="FF0000"/>
                </a:solidFill>
              </a:rPr>
              <a:t>NoOf</a:t>
            </a:r>
            <a:endParaRPr lang="da-DK" sz="800" b="1" dirty="0">
              <a:solidFill>
                <a:srgbClr val="FF0000"/>
              </a:solidFill>
            </a:endParaRPr>
          </a:p>
        </p:txBody>
      </p:sp>
      <p:sp>
        <p:nvSpPr>
          <p:cNvPr id="6" name="Tekstboks 5"/>
          <p:cNvSpPr txBox="1"/>
          <p:nvPr/>
        </p:nvSpPr>
        <p:spPr>
          <a:xfrm>
            <a:off x="1835696" y="1558242"/>
            <a:ext cx="1494730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REPRESENTED</a:t>
            </a:r>
          </a:p>
          <a:p>
            <a:pPr algn="ctr"/>
            <a:r>
              <a:rPr lang="da-DK" sz="800" b="1" dirty="0" smtClean="0"/>
              <a:t>VARIABLE</a:t>
            </a:r>
          </a:p>
          <a:p>
            <a:pPr algn="ctr"/>
            <a:r>
              <a:rPr lang="da-DK" sz="800" b="1" dirty="0" err="1" smtClean="0">
                <a:solidFill>
                  <a:srgbClr val="FF0000"/>
                </a:solidFill>
              </a:rPr>
              <a:t>NoOf</a:t>
            </a:r>
            <a:endParaRPr lang="da-DK" sz="800" b="1" dirty="0">
              <a:solidFill>
                <a:srgbClr val="FF0000"/>
              </a:solidFill>
            </a:endParaRPr>
          </a:p>
        </p:txBody>
      </p:sp>
      <p:sp>
        <p:nvSpPr>
          <p:cNvPr id="7" name="Tekstboks 6"/>
          <p:cNvSpPr txBox="1"/>
          <p:nvPr/>
        </p:nvSpPr>
        <p:spPr>
          <a:xfrm>
            <a:off x="3458773" y="2420161"/>
            <a:ext cx="1676548" cy="584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INSTANCE </a:t>
            </a:r>
          </a:p>
          <a:p>
            <a:pPr algn="ctr"/>
            <a:r>
              <a:rPr lang="da-DK" sz="800" b="1" dirty="0" smtClean="0"/>
              <a:t>VARIABLE</a:t>
            </a:r>
          </a:p>
          <a:p>
            <a:pPr algn="ctr"/>
            <a:r>
              <a:rPr lang="da-DK" sz="800" b="1" dirty="0" smtClean="0">
                <a:solidFill>
                  <a:srgbClr val="FF0000"/>
                </a:solidFill>
              </a:rPr>
              <a:t>LivingPersonsInCPH2014_NoOf</a:t>
            </a:r>
            <a:endParaRPr lang="da-DK" sz="800" b="1" dirty="0" smtClean="0"/>
          </a:p>
        </p:txBody>
      </p:sp>
      <p:cxnSp>
        <p:nvCxnSpPr>
          <p:cNvPr id="8" name="Vinklet forbindelse 7"/>
          <p:cNvCxnSpPr>
            <a:stCxn id="6" idx="1"/>
            <a:endCxn id="5" idx="2"/>
          </p:cNvCxnSpPr>
          <p:nvPr/>
        </p:nvCxnSpPr>
        <p:spPr>
          <a:xfrm rot="10800000">
            <a:off x="1715856" y="1075677"/>
            <a:ext cx="119840" cy="713399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Vinklet forbindelse 8"/>
          <p:cNvCxnSpPr>
            <a:stCxn id="7" idx="1"/>
            <a:endCxn id="6" idx="2"/>
          </p:cNvCxnSpPr>
          <p:nvPr/>
        </p:nvCxnSpPr>
        <p:spPr>
          <a:xfrm rot="10800000">
            <a:off x="2583061" y="2019907"/>
            <a:ext cx="875712" cy="692642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boks 9"/>
          <p:cNvSpPr txBox="1"/>
          <p:nvPr/>
        </p:nvSpPr>
        <p:spPr>
          <a:xfrm>
            <a:off x="4964553" y="1496688"/>
            <a:ext cx="1555096" cy="3385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POPULATION</a:t>
            </a:r>
          </a:p>
          <a:p>
            <a:r>
              <a:rPr lang="da-DK" sz="800" b="1" dirty="0" smtClean="0">
                <a:solidFill>
                  <a:srgbClr val="FF0000"/>
                </a:solidFill>
              </a:rPr>
              <a:t>LivingPersonsInCPH2014</a:t>
            </a:r>
            <a:endParaRPr lang="da-DK" sz="800" b="1" dirty="0" smtClean="0"/>
          </a:p>
        </p:txBody>
      </p:sp>
      <p:sp>
        <p:nvSpPr>
          <p:cNvPr id="11" name="Tekstboks 10"/>
          <p:cNvSpPr txBox="1"/>
          <p:nvPr/>
        </p:nvSpPr>
        <p:spPr>
          <a:xfrm>
            <a:off x="5300367" y="50665"/>
            <a:ext cx="1312112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VALUE DOMAIN</a:t>
            </a:r>
            <a:endParaRPr lang="da-DK" sz="800" b="1" dirty="0" smtClean="0">
              <a:solidFill>
                <a:srgbClr val="FF0000"/>
              </a:solidFill>
            </a:endParaRP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r>
              <a:rPr lang="da-DK" sz="800" b="1" dirty="0" err="1" smtClean="0">
                <a:solidFill>
                  <a:srgbClr val="FF0000"/>
                </a:solidFill>
              </a:rPr>
              <a:t>PositiveInteger</a:t>
            </a:r>
            <a:endParaRPr lang="da-DK" sz="800" b="1" dirty="0" smtClean="0">
              <a:solidFill>
                <a:srgbClr val="FF0000"/>
              </a:solidFill>
            </a:endParaRPr>
          </a:p>
        </p:txBody>
      </p:sp>
      <p:sp>
        <p:nvSpPr>
          <p:cNvPr id="12" name="Tekstboks 11"/>
          <p:cNvSpPr txBox="1"/>
          <p:nvPr/>
        </p:nvSpPr>
        <p:spPr>
          <a:xfrm>
            <a:off x="3841477" y="44624"/>
            <a:ext cx="1262525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UNIT TYPE</a:t>
            </a: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r>
              <a:rPr lang="da-DK" sz="800" b="1" dirty="0" smtClean="0">
                <a:solidFill>
                  <a:srgbClr val="FF0000"/>
                </a:solidFill>
              </a:rPr>
              <a:t>Person</a:t>
            </a:r>
          </a:p>
        </p:txBody>
      </p:sp>
      <p:cxnSp>
        <p:nvCxnSpPr>
          <p:cNvPr id="13" name="Vinklet forbindelse 12"/>
          <p:cNvCxnSpPr>
            <a:stCxn id="7" idx="3"/>
            <a:endCxn id="10" idx="2"/>
          </p:cNvCxnSpPr>
          <p:nvPr/>
        </p:nvCxnSpPr>
        <p:spPr>
          <a:xfrm flipV="1">
            <a:off x="5135321" y="1835242"/>
            <a:ext cx="606780" cy="877307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inklet forbindelse 13"/>
          <p:cNvCxnSpPr>
            <a:stCxn id="11" idx="2"/>
            <a:endCxn id="6" idx="0"/>
          </p:cNvCxnSpPr>
          <p:nvPr/>
        </p:nvCxnSpPr>
        <p:spPr>
          <a:xfrm rot="5400000">
            <a:off x="3746786" y="-651395"/>
            <a:ext cx="1045912" cy="3373362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inklet forbindelse 14"/>
          <p:cNvCxnSpPr>
            <a:stCxn id="5" idx="3"/>
            <a:endCxn id="12" idx="2"/>
          </p:cNvCxnSpPr>
          <p:nvPr/>
        </p:nvCxnSpPr>
        <p:spPr>
          <a:xfrm flipV="1">
            <a:off x="2444807" y="506289"/>
            <a:ext cx="2027933" cy="338555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boks 15"/>
          <p:cNvSpPr txBox="1"/>
          <p:nvPr/>
        </p:nvSpPr>
        <p:spPr>
          <a:xfrm>
            <a:off x="1907704" y="2492896"/>
            <a:ext cx="1895273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a-DK" sz="800" dirty="0" err="1" smtClean="0"/>
              <a:t>Takes</a:t>
            </a:r>
            <a:r>
              <a:rPr lang="da-DK" sz="800" dirty="0" smtClean="0"/>
              <a:t> </a:t>
            </a:r>
            <a:r>
              <a:rPr lang="da-DK" sz="800" dirty="0" err="1" smtClean="0"/>
              <a:t>meaning</a:t>
            </a:r>
            <a:r>
              <a:rPr lang="da-DK" sz="800" dirty="0" smtClean="0"/>
              <a:t> from</a:t>
            </a:r>
            <a:endParaRPr lang="da-DK" sz="800" dirty="0"/>
          </a:p>
        </p:txBody>
      </p:sp>
      <p:sp>
        <p:nvSpPr>
          <p:cNvPr id="17" name="Tekstboks 16"/>
          <p:cNvSpPr txBox="1"/>
          <p:nvPr/>
        </p:nvSpPr>
        <p:spPr>
          <a:xfrm>
            <a:off x="635121" y="1281244"/>
            <a:ext cx="1608417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a-DK" sz="800" dirty="0" err="1" smtClean="0"/>
              <a:t>Takes</a:t>
            </a:r>
            <a:r>
              <a:rPr lang="da-DK" sz="800" dirty="0"/>
              <a:t> </a:t>
            </a:r>
            <a:r>
              <a:rPr lang="da-DK" sz="800" dirty="0" err="1" smtClean="0"/>
              <a:t>meaning</a:t>
            </a:r>
            <a:r>
              <a:rPr lang="da-DK" sz="800" dirty="0" smtClean="0"/>
              <a:t> from</a:t>
            </a:r>
            <a:endParaRPr lang="da-DK" sz="800" dirty="0"/>
          </a:p>
        </p:txBody>
      </p:sp>
      <p:sp>
        <p:nvSpPr>
          <p:cNvPr id="18" name="Tekstboks 17"/>
          <p:cNvSpPr txBox="1"/>
          <p:nvPr/>
        </p:nvSpPr>
        <p:spPr>
          <a:xfrm>
            <a:off x="5740141" y="2204718"/>
            <a:ext cx="850443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smtClean="0"/>
              <a:t>measures</a:t>
            </a:r>
            <a:endParaRPr lang="da-DK" sz="800" dirty="0"/>
          </a:p>
        </p:txBody>
      </p:sp>
      <p:sp>
        <p:nvSpPr>
          <p:cNvPr id="19" name="Tekstboks 18"/>
          <p:cNvSpPr txBox="1"/>
          <p:nvPr/>
        </p:nvSpPr>
        <p:spPr>
          <a:xfrm>
            <a:off x="4770166" y="839975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smtClean="0"/>
              <a:t>measures</a:t>
            </a:r>
            <a:endParaRPr lang="da-DK" sz="800" dirty="0"/>
          </a:p>
        </p:txBody>
      </p:sp>
      <p:sp>
        <p:nvSpPr>
          <p:cNvPr id="20" name="Tekstboks 19"/>
          <p:cNvSpPr txBox="1"/>
          <p:nvPr/>
        </p:nvSpPr>
        <p:spPr>
          <a:xfrm>
            <a:off x="2972805" y="675566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smtClean="0"/>
              <a:t>measures</a:t>
            </a:r>
            <a:endParaRPr lang="da-DK" sz="800" dirty="0"/>
          </a:p>
        </p:txBody>
      </p:sp>
      <p:sp>
        <p:nvSpPr>
          <p:cNvPr id="21" name="Tekstboks 20"/>
          <p:cNvSpPr txBox="1"/>
          <p:nvPr/>
        </p:nvSpPr>
        <p:spPr>
          <a:xfrm>
            <a:off x="93403" y="50665"/>
            <a:ext cx="1345927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CONCECPT</a:t>
            </a:r>
          </a:p>
          <a:p>
            <a:pPr algn="ctr"/>
            <a:endParaRPr lang="da-DK" sz="800" b="1" dirty="0" smtClean="0"/>
          </a:p>
          <a:p>
            <a:r>
              <a:rPr lang="da-DK" sz="800" b="1" dirty="0" err="1" smtClean="0">
                <a:solidFill>
                  <a:srgbClr val="FF0000"/>
                </a:solidFill>
              </a:rPr>
              <a:t>NoOf</a:t>
            </a:r>
            <a:endParaRPr lang="da-DK" sz="800" b="1" dirty="0" smtClean="0">
              <a:solidFill>
                <a:srgbClr val="FF0000"/>
              </a:solidFill>
            </a:endParaRPr>
          </a:p>
        </p:txBody>
      </p:sp>
      <p:cxnSp>
        <p:nvCxnSpPr>
          <p:cNvPr id="22" name="Vinklet forbindelse 21"/>
          <p:cNvCxnSpPr>
            <a:stCxn id="5" idx="1"/>
          </p:cNvCxnSpPr>
          <p:nvPr/>
        </p:nvCxnSpPr>
        <p:spPr>
          <a:xfrm rot="10800000">
            <a:off x="766367" y="512330"/>
            <a:ext cx="220538" cy="33251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kstboks 22"/>
          <p:cNvSpPr txBox="1"/>
          <p:nvPr/>
        </p:nvSpPr>
        <p:spPr>
          <a:xfrm>
            <a:off x="79047" y="739367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smtClean="0"/>
              <a:t>measures</a:t>
            </a:r>
            <a:endParaRPr lang="da-DK" sz="800" dirty="0"/>
          </a:p>
        </p:txBody>
      </p:sp>
      <p:sp>
        <p:nvSpPr>
          <p:cNvPr id="24" name="Tekstboks 23"/>
          <p:cNvSpPr txBox="1"/>
          <p:nvPr/>
        </p:nvSpPr>
        <p:spPr>
          <a:xfrm>
            <a:off x="6431069" y="3364520"/>
            <a:ext cx="1676548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DATAPOINT</a:t>
            </a:r>
          </a:p>
          <a:p>
            <a:pPr algn="ctr"/>
            <a:endParaRPr lang="da-DK" sz="800" b="1" dirty="0" smtClean="0"/>
          </a:p>
          <a:p>
            <a:pPr algn="ctr"/>
            <a:r>
              <a:rPr lang="da-DK" sz="800" b="1" dirty="0" smtClean="0">
                <a:solidFill>
                  <a:srgbClr val="FF0000"/>
                </a:solidFill>
              </a:rPr>
              <a:t>Cell(2,2)</a:t>
            </a:r>
            <a:endParaRPr lang="da-DK" sz="800" b="1" dirty="0" smtClean="0"/>
          </a:p>
        </p:txBody>
      </p:sp>
      <p:cxnSp>
        <p:nvCxnSpPr>
          <p:cNvPr id="25" name="Vinklet forbindelse 24"/>
          <p:cNvCxnSpPr>
            <a:stCxn id="24" idx="0"/>
            <a:endCxn id="7" idx="2"/>
          </p:cNvCxnSpPr>
          <p:nvPr/>
        </p:nvCxnSpPr>
        <p:spPr>
          <a:xfrm rot="16200000" flipV="1">
            <a:off x="5603403" y="1698580"/>
            <a:ext cx="359584" cy="2972296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kstboks 30"/>
          <p:cNvSpPr txBox="1"/>
          <p:nvPr/>
        </p:nvSpPr>
        <p:spPr>
          <a:xfrm>
            <a:off x="6444208" y="4215657"/>
            <a:ext cx="1676548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DATUM</a:t>
            </a:r>
          </a:p>
          <a:p>
            <a:pPr algn="ctr"/>
            <a:endParaRPr lang="da-DK" sz="800" b="1" dirty="0" smtClean="0"/>
          </a:p>
          <a:p>
            <a:pPr algn="ctr"/>
            <a:r>
              <a:rPr lang="da-DK" sz="800" b="1" dirty="0" smtClean="0">
                <a:solidFill>
                  <a:srgbClr val="FF0000"/>
                </a:solidFill>
              </a:rPr>
              <a:t>”145000”</a:t>
            </a:r>
            <a:endParaRPr lang="da-DK" sz="800" b="1" dirty="0" smtClean="0"/>
          </a:p>
        </p:txBody>
      </p:sp>
      <p:sp>
        <p:nvSpPr>
          <p:cNvPr id="32" name="Tekstboks 31"/>
          <p:cNvSpPr txBox="1"/>
          <p:nvPr/>
        </p:nvSpPr>
        <p:spPr>
          <a:xfrm>
            <a:off x="4021122" y="3363399"/>
            <a:ext cx="1676548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DATA SET</a:t>
            </a:r>
          </a:p>
          <a:p>
            <a:pPr algn="ctr"/>
            <a:endParaRPr lang="da-DK" sz="800" b="1" dirty="0" smtClean="0"/>
          </a:p>
          <a:p>
            <a:pPr algn="ctr"/>
            <a:r>
              <a:rPr lang="da-DK" sz="800" b="1" dirty="0" smtClean="0">
                <a:solidFill>
                  <a:srgbClr val="FF0000"/>
                </a:solidFill>
              </a:rPr>
              <a:t>”SC</a:t>
            </a:r>
            <a:r>
              <a:rPr lang="en-US" sz="800" b="1" dirty="0" smtClean="0">
                <a:solidFill>
                  <a:srgbClr val="FF0000"/>
                </a:solidFill>
              </a:rPr>
              <a:t>_2014.XLSX</a:t>
            </a:r>
            <a:r>
              <a:rPr lang="da-DK" sz="800" b="1" dirty="0" smtClean="0">
                <a:solidFill>
                  <a:srgbClr val="FF0000"/>
                </a:solidFill>
              </a:rPr>
              <a:t>”</a:t>
            </a:r>
          </a:p>
        </p:txBody>
      </p:sp>
      <p:cxnSp>
        <p:nvCxnSpPr>
          <p:cNvPr id="35" name="Vinklet forbindelse 34"/>
          <p:cNvCxnSpPr>
            <a:stCxn id="32" idx="3"/>
            <a:endCxn id="24" idx="1"/>
          </p:cNvCxnSpPr>
          <p:nvPr/>
        </p:nvCxnSpPr>
        <p:spPr>
          <a:xfrm>
            <a:off x="5697670" y="3594232"/>
            <a:ext cx="733399" cy="112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Vinklet forbindelse 42"/>
          <p:cNvCxnSpPr>
            <a:stCxn id="24" idx="2"/>
            <a:endCxn id="31" idx="0"/>
          </p:cNvCxnSpPr>
          <p:nvPr/>
        </p:nvCxnSpPr>
        <p:spPr>
          <a:xfrm>
            <a:off x="7269343" y="3826185"/>
            <a:ext cx="13139" cy="3894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kstboks 47"/>
          <p:cNvSpPr txBox="1"/>
          <p:nvPr/>
        </p:nvSpPr>
        <p:spPr>
          <a:xfrm>
            <a:off x="6104616" y="2897359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smtClean="0"/>
              <a:t>measures</a:t>
            </a:r>
            <a:endParaRPr lang="da-DK" sz="800" dirty="0"/>
          </a:p>
        </p:txBody>
      </p:sp>
      <p:sp>
        <p:nvSpPr>
          <p:cNvPr id="33" name="Tekstboks 32"/>
          <p:cNvSpPr txBox="1"/>
          <p:nvPr/>
        </p:nvSpPr>
        <p:spPr>
          <a:xfrm>
            <a:off x="5508104" y="3403168"/>
            <a:ext cx="786174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a-DK" sz="800" dirty="0" smtClean="0"/>
              <a:t>has</a:t>
            </a:r>
          </a:p>
        </p:txBody>
      </p:sp>
      <p:sp>
        <p:nvSpPr>
          <p:cNvPr id="34" name="Tekstboks 33"/>
          <p:cNvSpPr txBox="1"/>
          <p:nvPr/>
        </p:nvSpPr>
        <p:spPr>
          <a:xfrm>
            <a:off x="6876256" y="3899852"/>
            <a:ext cx="786174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a-DK" sz="800" dirty="0" smtClean="0"/>
              <a:t>has</a:t>
            </a:r>
          </a:p>
        </p:txBody>
      </p:sp>
      <p:sp>
        <p:nvSpPr>
          <p:cNvPr id="36" name="Tekstboks 35"/>
          <p:cNvSpPr txBox="1"/>
          <p:nvPr/>
        </p:nvSpPr>
        <p:spPr>
          <a:xfrm>
            <a:off x="4055161" y="5328790"/>
            <a:ext cx="1676548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DATA STRUCTURE</a:t>
            </a:r>
          </a:p>
          <a:p>
            <a:pPr algn="ctr"/>
            <a:endParaRPr lang="da-DK" sz="800" b="1" dirty="0" smtClean="0"/>
          </a:p>
          <a:p>
            <a:pPr algn="ctr"/>
            <a:r>
              <a:rPr lang="da-DK" sz="800" b="1" dirty="0" smtClean="0">
                <a:solidFill>
                  <a:srgbClr val="FF0000"/>
                </a:solidFill>
              </a:rPr>
              <a:t>SC_LAYOUT</a:t>
            </a:r>
            <a:endParaRPr lang="da-DK" sz="800" b="1" dirty="0" smtClean="0"/>
          </a:p>
        </p:txBody>
      </p:sp>
      <p:sp>
        <p:nvSpPr>
          <p:cNvPr id="37" name="Tekstboks 36"/>
          <p:cNvSpPr txBox="1"/>
          <p:nvPr/>
        </p:nvSpPr>
        <p:spPr>
          <a:xfrm>
            <a:off x="4741037" y="4005644"/>
            <a:ext cx="1055099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a-DK" sz="800" dirty="0"/>
              <a:t>i</a:t>
            </a:r>
            <a:r>
              <a:rPr lang="da-DK" sz="800" dirty="0" smtClean="0"/>
              <a:t>s </a:t>
            </a:r>
            <a:r>
              <a:rPr lang="da-DK" sz="800" dirty="0" err="1" smtClean="0"/>
              <a:t>structured</a:t>
            </a:r>
            <a:r>
              <a:rPr lang="da-DK" sz="800" dirty="0" smtClean="0"/>
              <a:t> by</a:t>
            </a:r>
          </a:p>
        </p:txBody>
      </p:sp>
      <p:cxnSp>
        <p:nvCxnSpPr>
          <p:cNvPr id="56" name="Vinklet forbindelse 34"/>
          <p:cNvCxnSpPr>
            <a:stCxn id="32" idx="2"/>
            <a:endCxn id="36" idx="0"/>
          </p:cNvCxnSpPr>
          <p:nvPr/>
        </p:nvCxnSpPr>
        <p:spPr>
          <a:xfrm>
            <a:off x="4859396" y="3825064"/>
            <a:ext cx="34039" cy="150372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kstboks 78"/>
          <p:cNvSpPr txBox="1"/>
          <p:nvPr/>
        </p:nvSpPr>
        <p:spPr>
          <a:xfrm>
            <a:off x="2344587" y="3361614"/>
            <a:ext cx="1473306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DIMENSIONAL DATA STRUCTURE</a:t>
            </a:r>
          </a:p>
          <a:p>
            <a:pPr algn="ctr"/>
            <a:r>
              <a:rPr lang="da-DK" sz="800" b="1" dirty="0" smtClean="0">
                <a:solidFill>
                  <a:srgbClr val="FF0000"/>
                </a:solidFill>
              </a:rPr>
              <a:t>SC_LAYOUT</a:t>
            </a:r>
            <a:endParaRPr lang="da-DK" sz="800" b="1" dirty="0" smtClean="0"/>
          </a:p>
        </p:txBody>
      </p:sp>
      <p:cxnSp>
        <p:nvCxnSpPr>
          <p:cNvPr id="80" name="Vinklet forbindelse 34"/>
          <p:cNvCxnSpPr>
            <a:stCxn id="79" idx="2"/>
            <a:endCxn id="36" idx="0"/>
          </p:cNvCxnSpPr>
          <p:nvPr/>
        </p:nvCxnSpPr>
        <p:spPr>
          <a:xfrm rot="16200000" flipH="1">
            <a:off x="3234582" y="3669936"/>
            <a:ext cx="1505511" cy="1812195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kstboks 84"/>
          <p:cNvSpPr txBox="1"/>
          <p:nvPr/>
        </p:nvSpPr>
        <p:spPr>
          <a:xfrm>
            <a:off x="3491880" y="4365104"/>
            <a:ext cx="844533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a-DK" sz="800" dirty="0"/>
              <a:t>i</a:t>
            </a:r>
            <a:r>
              <a:rPr lang="da-DK" sz="800" dirty="0" smtClean="0"/>
              <a:t>s subtype of</a:t>
            </a:r>
          </a:p>
        </p:txBody>
      </p:sp>
      <p:sp>
        <p:nvSpPr>
          <p:cNvPr id="86" name="Tekstboks 85"/>
          <p:cNvSpPr txBox="1"/>
          <p:nvPr/>
        </p:nvSpPr>
        <p:spPr>
          <a:xfrm>
            <a:off x="1225330" y="5847655"/>
            <a:ext cx="1084943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a-DK" sz="800" b="1" dirty="0" err="1" smtClean="0"/>
              <a:t>Attribute</a:t>
            </a:r>
            <a:r>
              <a:rPr lang="da-DK" sz="800" b="1" dirty="0" smtClean="0"/>
              <a:t> Component</a:t>
            </a:r>
          </a:p>
          <a:p>
            <a:r>
              <a:rPr lang="da-DK" sz="800" b="1" dirty="0" smtClean="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da-DK" sz="800" b="1" dirty="0" err="1" smtClean="0">
                <a:solidFill>
                  <a:srgbClr val="FF0000"/>
                </a:solidFill>
              </a:rPr>
              <a:t>Other</a:t>
            </a:r>
            <a:r>
              <a:rPr lang="da-DK" sz="800" b="1" dirty="0" smtClean="0">
                <a:solidFill>
                  <a:srgbClr val="FF0000"/>
                </a:solidFill>
              </a:rPr>
              <a:t>  att. info</a:t>
            </a:r>
            <a:r>
              <a:rPr lang="da-DK" sz="800" b="1" dirty="0" smtClean="0">
                <a:solidFill>
                  <a:schemeClr val="bg1">
                    <a:lumMod val="50000"/>
                  </a:schemeClr>
                </a:solidFill>
              </a:rPr>
              <a:t>”</a:t>
            </a:r>
            <a:endParaRPr lang="da-DK" sz="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7" name="Tekstboks 86"/>
          <p:cNvSpPr txBox="1"/>
          <p:nvPr/>
        </p:nvSpPr>
        <p:spPr>
          <a:xfrm>
            <a:off x="228563" y="3342182"/>
            <a:ext cx="1296144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a-DK" sz="800" b="1" dirty="0" smtClean="0"/>
              <a:t>Data </a:t>
            </a:r>
            <a:r>
              <a:rPr lang="da-DK" sz="800" b="1" dirty="0" err="1" smtClean="0"/>
              <a:t>Structure</a:t>
            </a:r>
            <a:r>
              <a:rPr lang="da-DK" sz="800" b="1" dirty="0" smtClean="0"/>
              <a:t> Component</a:t>
            </a:r>
            <a:endParaRPr lang="da-DK" sz="800" b="1" dirty="0"/>
          </a:p>
          <a:p>
            <a:endParaRPr lang="da-DK" sz="800" b="1" dirty="0" smtClean="0"/>
          </a:p>
        </p:txBody>
      </p:sp>
      <p:cxnSp>
        <p:nvCxnSpPr>
          <p:cNvPr id="88" name="Vinklet forbindelse 87"/>
          <p:cNvCxnSpPr>
            <a:stCxn id="87" idx="2"/>
            <a:endCxn id="86" idx="1"/>
          </p:cNvCxnSpPr>
          <p:nvPr/>
        </p:nvCxnSpPr>
        <p:spPr>
          <a:xfrm rot="16200000" flipH="1">
            <a:off x="-86338" y="4766819"/>
            <a:ext cx="2274641" cy="348695"/>
          </a:xfrm>
          <a:prstGeom prst="bentConnector2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kstboks 88"/>
          <p:cNvSpPr txBox="1"/>
          <p:nvPr/>
        </p:nvSpPr>
        <p:spPr>
          <a:xfrm>
            <a:off x="1240464" y="5199583"/>
            <a:ext cx="1104123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a-DK" sz="800" b="1" dirty="0" smtClean="0"/>
              <a:t>Measure Component</a:t>
            </a:r>
          </a:p>
          <a:p>
            <a:r>
              <a:rPr lang="da-DK" sz="800" b="1" dirty="0" err="1" smtClean="0">
                <a:solidFill>
                  <a:srgbClr val="FF0000"/>
                </a:solidFill>
              </a:rPr>
              <a:t>CountOfPersons</a:t>
            </a:r>
            <a:endParaRPr lang="da-DK" sz="800" b="1" dirty="0" smtClean="0">
              <a:solidFill>
                <a:srgbClr val="FF0000"/>
              </a:solidFill>
            </a:endParaRPr>
          </a:p>
        </p:txBody>
      </p:sp>
      <p:cxnSp>
        <p:nvCxnSpPr>
          <p:cNvPr id="90" name="Vinklet forbindelse 89"/>
          <p:cNvCxnSpPr>
            <a:stCxn id="87" idx="2"/>
            <a:endCxn id="89" idx="1"/>
          </p:cNvCxnSpPr>
          <p:nvPr/>
        </p:nvCxnSpPr>
        <p:spPr>
          <a:xfrm rot="16200000" flipH="1">
            <a:off x="245265" y="4435216"/>
            <a:ext cx="1626569" cy="363829"/>
          </a:xfrm>
          <a:prstGeom prst="bentConnector2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kstboks 18"/>
          <p:cNvSpPr txBox="1"/>
          <p:nvPr/>
        </p:nvSpPr>
        <p:spPr>
          <a:xfrm>
            <a:off x="146577" y="4022420"/>
            <a:ext cx="824722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/>
              <a:t>s</a:t>
            </a:r>
            <a:r>
              <a:rPr lang="da-DK" sz="800" dirty="0" smtClean="0"/>
              <a:t>ubtype of</a:t>
            </a:r>
            <a:endParaRPr lang="da-DK" sz="800" dirty="0"/>
          </a:p>
        </p:txBody>
      </p:sp>
      <p:sp>
        <p:nvSpPr>
          <p:cNvPr id="92" name="Tekstboks 91"/>
          <p:cNvSpPr txBox="1"/>
          <p:nvPr/>
        </p:nvSpPr>
        <p:spPr>
          <a:xfrm>
            <a:off x="1278026" y="4437112"/>
            <a:ext cx="1084943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a-DK" sz="800" b="1" dirty="0" err="1" smtClean="0"/>
              <a:t>Identifier</a:t>
            </a:r>
            <a:r>
              <a:rPr lang="da-DK" sz="800" b="1" dirty="0" smtClean="0"/>
              <a:t> Component</a:t>
            </a:r>
          </a:p>
          <a:p>
            <a:r>
              <a:rPr lang="da-DK" sz="800" b="1" dirty="0" err="1" smtClean="0">
                <a:solidFill>
                  <a:srgbClr val="FF0000"/>
                </a:solidFill>
              </a:rPr>
              <a:t>Gender</a:t>
            </a:r>
            <a:endParaRPr lang="da-DK" sz="800" b="1" dirty="0">
              <a:solidFill>
                <a:srgbClr val="FF0000"/>
              </a:solidFill>
            </a:endParaRPr>
          </a:p>
        </p:txBody>
      </p:sp>
      <p:cxnSp>
        <p:nvCxnSpPr>
          <p:cNvPr id="93" name="Vinklet forbindelse 92"/>
          <p:cNvCxnSpPr>
            <a:stCxn id="87" idx="2"/>
            <a:endCxn id="92" idx="1"/>
          </p:cNvCxnSpPr>
          <p:nvPr/>
        </p:nvCxnSpPr>
        <p:spPr>
          <a:xfrm rot="16200000" flipH="1">
            <a:off x="645281" y="4035200"/>
            <a:ext cx="864098" cy="401391"/>
          </a:xfrm>
          <a:prstGeom prst="bentConnector2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Vinklet forbindelse 93"/>
          <p:cNvCxnSpPr>
            <a:stCxn id="92" idx="3"/>
            <a:endCxn id="36" idx="1"/>
          </p:cNvCxnSpPr>
          <p:nvPr/>
        </p:nvCxnSpPr>
        <p:spPr>
          <a:xfrm>
            <a:off x="2362969" y="4667945"/>
            <a:ext cx="1692192" cy="891678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Vinklet forbindelse 94"/>
          <p:cNvCxnSpPr>
            <a:stCxn id="89" idx="3"/>
            <a:endCxn id="36" idx="1"/>
          </p:cNvCxnSpPr>
          <p:nvPr/>
        </p:nvCxnSpPr>
        <p:spPr>
          <a:xfrm>
            <a:off x="2344587" y="5430416"/>
            <a:ext cx="1710574" cy="129207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Vinklet forbindelse 95"/>
          <p:cNvCxnSpPr>
            <a:stCxn id="86" idx="3"/>
            <a:endCxn id="36" idx="1"/>
          </p:cNvCxnSpPr>
          <p:nvPr/>
        </p:nvCxnSpPr>
        <p:spPr>
          <a:xfrm flipV="1">
            <a:off x="2310273" y="5559623"/>
            <a:ext cx="1744888" cy="518865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kstboks 18"/>
          <p:cNvSpPr txBox="1"/>
          <p:nvPr/>
        </p:nvSpPr>
        <p:spPr>
          <a:xfrm>
            <a:off x="3387238" y="5589820"/>
            <a:ext cx="824722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smtClean="0"/>
              <a:t>has</a:t>
            </a:r>
            <a:endParaRPr lang="da-DK" sz="800" dirty="0"/>
          </a:p>
        </p:txBody>
      </p:sp>
      <p:cxnSp>
        <p:nvCxnSpPr>
          <p:cNvPr id="99" name="Lige pilforbindelse 98"/>
          <p:cNvCxnSpPr>
            <a:stCxn id="87" idx="0"/>
            <a:endCxn id="6" idx="2"/>
          </p:cNvCxnSpPr>
          <p:nvPr/>
        </p:nvCxnSpPr>
        <p:spPr>
          <a:xfrm rot="5400000" flipH="1" flipV="1">
            <a:off x="1068711" y="1827832"/>
            <a:ext cx="1322275" cy="1706426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kstboks 18"/>
          <p:cNvSpPr txBox="1"/>
          <p:nvPr/>
        </p:nvSpPr>
        <p:spPr>
          <a:xfrm>
            <a:off x="899592" y="2492896"/>
            <a:ext cx="1002521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smtClean="0"/>
              <a:t>is </a:t>
            </a:r>
            <a:r>
              <a:rPr lang="da-DK" sz="800" dirty="0" err="1" smtClean="0"/>
              <a:t>defined</a:t>
            </a:r>
            <a:r>
              <a:rPr lang="da-DK" sz="800" dirty="0" smtClean="0"/>
              <a:t> by</a:t>
            </a:r>
            <a:endParaRPr lang="da-DK" sz="800" dirty="0"/>
          </a:p>
        </p:txBody>
      </p:sp>
      <p:sp>
        <p:nvSpPr>
          <p:cNvPr id="54" name="Tekstboks 53"/>
          <p:cNvSpPr txBox="1"/>
          <p:nvPr/>
        </p:nvSpPr>
        <p:spPr>
          <a:xfrm>
            <a:off x="6824156" y="2204718"/>
            <a:ext cx="1676548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INSTANCE </a:t>
            </a:r>
          </a:p>
          <a:p>
            <a:pPr algn="ctr"/>
            <a:r>
              <a:rPr lang="da-DK" sz="800" b="1" dirty="0" smtClean="0"/>
              <a:t>VARIABLE</a:t>
            </a:r>
          </a:p>
          <a:p>
            <a:pPr algn="ctr"/>
            <a:r>
              <a:rPr lang="da-DK" sz="800" b="1" dirty="0" smtClean="0">
                <a:solidFill>
                  <a:srgbClr val="FF0000"/>
                </a:solidFill>
              </a:rPr>
              <a:t>GenderPersonsInCPH2014</a:t>
            </a:r>
            <a:endParaRPr lang="da-DK" sz="800" b="1" dirty="0"/>
          </a:p>
        </p:txBody>
      </p:sp>
      <p:cxnSp>
        <p:nvCxnSpPr>
          <p:cNvPr id="57" name="Vinklet forbindelse 56"/>
          <p:cNvCxnSpPr>
            <a:stCxn id="24" idx="0"/>
            <a:endCxn id="55" idx="2"/>
          </p:cNvCxnSpPr>
          <p:nvPr/>
        </p:nvCxnSpPr>
        <p:spPr>
          <a:xfrm rot="5400000" flipH="1" flipV="1">
            <a:off x="7453703" y="2697468"/>
            <a:ext cx="482693" cy="851413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kstboks 59"/>
          <p:cNvSpPr txBox="1"/>
          <p:nvPr/>
        </p:nvSpPr>
        <p:spPr>
          <a:xfrm>
            <a:off x="7308304" y="2887764"/>
            <a:ext cx="1440160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err="1" smtClean="0"/>
              <a:t>Identified</a:t>
            </a:r>
            <a:r>
              <a:rPr lang="da-DK" sz="800" dirty="0" smtClean="0"/>
              <a:t> by</a:t>
            </a:r>
            <a:endParaRPr lang="da-DK" sz="800" dirty="0"/>
          </a:p>
        </p:txBody>
      </p:sp>
    </p:spTree>
    <p:extLst>
      <p:ext uri="{BB962C8B-B14F-4D97-AF65-F5344CB8AC3E}">
        <p14:creationId xmlns:p14="http://schemas.microsoft.com/office/powerpoint/2010/main" val="36200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9" grpId="0" animBg="1"/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16" grpId="0"/>
      <p:bldP spid="17" grpId="0"/>
      <p:bldP spid="18" grpId="0"/>
      <p:bldP spid="19" grpId="0"/>
      <p:bldP spid="20" grpId="0"/>
      <p:bldP spid="21" grpId="0" animBg="1"/>
      <p:bldP spid="23" grpId="0"/>
      <p:bldP spid="24" grpId="0" animBg="1"/>
      <p:bldP spid="31" grpId="0" animBg="1"/>
      <p:bldP spid="32" grpId="0" animBg="1"/>
      <p:bldP spid="48" grpId="0"/>
      <p:bldP spid="33" grpId="0"/>
      <p:bldP spid="34" grpId="0"/>
      <p:bldP spid="36" grpId="0" animBg="1"/>
      <p:bldP spid="37" grpId="0"/>
      <p:bldP spid="79" grpId="0" animBg="1"/>
      <p:bldP spid="85" grpId="0"/>
      <p:bldP spid="86" grpId="0" animBg="1"/>
      <p:bldP spid="87" grpId="0" animBg="1"/>
      <p:bldP spid="89" grpId="0" animBg="1"/>
      <p:bldP spid="91" grpId="0"/>
      <p:bldP spid="92" grpId="0" animBg="1"/>
      <p:bldP spid="97" grpId="0"/>
      <p:bldP spid="100" grpId="0"/>
      <p:bldP spid="54" grpId="0" animBg="1"/>
      <p:bldP spid="6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kstboks 103"/>
          <p:cNvSpPr txBox="1"/>
          <p:nvPr/>
        </p:nvSpPr>
        <p:spPr>
          <a:xfrm>
            <a:off x="6045779" y="2924944"/>
            <a:ext cx="1262525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err="1" smtClean="0"/>
              <a:t>Category</a:t>
            </a:r>
            <a:r>
              <a:rPr lang="da-DK" sz="800" b="1" dirty="0" smtClean="0"/>
              <a:t> Item</a:t>
            </a:r>
            <a:endParaRPr lang="da-DK" sz="800" b="1" dirty="0">
              <a:solidFill>
                <a:srgbClr val="FF0000"/>
              </a:solidFill>
            </a:endParaRP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pPr algn="ctr"/>
            <a:r>
              <a:rPr lang="da-DK" sz="800" b="1" dirty="0" err="1" smtClean="0">
                <a:solidFill>
                  <a:srgbClr val="FF0000"/>
                </a:solidFill>
              </a:rPr>
              <a:t>Other</a:t>
            </a:r>
            <a:endParaRPr lang="da-DK" sz="800" b="1" dirty="0" smtClean="0"/>
          </a:p>
        </p:txBody>
      </p:sp>
      <p:sp>
        <p:nvSpPr>
          <p:cNvPr id="134" name="Tekstboks 103"/>
          <p:cNvSpPr txBox="1"/>
          <p:nvPr/>
        </p:nvSpPr>
        <p:spPr>
          <a:xfrm>
            <a:off x="5893379" y="2636912"/>
            <a:ext cx="1262525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err="1" smtClean="0"/>
              <a:t>Category</a:t>
            </a:r>
            <a:r>
              <a:rPr lang="da-DK" sz="800" b="1" dirty="0" smtClean="0"/>
              <a:t> Item</a:t>
            </a:r>
            <a:endParaRPr lang="da-DK" sz="800" b="1" dirty="0">
              <a:solidFill>
                <a:srgbClr val="FF0000"/>
              </a:solidFill>
            </a:endParaRP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pPr algn="ctr"/>
            <a:r>
              <a:rPr lang="da-DK" sz="800" b="1" dirty="0" err="1" smtClean="0">
                <a:solidFill>
                  <a:srgbClr val="FF0000"/>
                </a:solidFill>
              </a:rPr>
              <a:t>Unmarried</a:t>
            </a:r>
            <a:endParaRPr lang="da-DK" sz="800" b="1" dirty="0" smtClean="0"/>
          </a:p>
        </p:txBody>
      </p:sp>
      <p:sp>
        <p:nvSpPr>
          <p:cNvPr id="82" name="Tekstboks 81"/>
          <p:cNvSpPr txBox="1"/>
          <p:nvPr/>
        </p:nvSpPr>
        <p:spPr>
          <a:xfrm>
            <a:off x="83048" y="842589"/>
            <a:ext cx="1345927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VARIABLE </a:t>
            </a:r>
          </a:p>
          <a:p>
            <a:pPr algn="ctr"/>
            <a:endParaRPr lang="da-DK" sz="800" b="1" dirty="0" smtClean="0"/>
          </a:p>
          <a:p>
            <a:pPr algn="ctr"/>
            <a:r>
              <a:rPr lang="da-DK" sz="800" b="1" dirty="0" err="1" smtClean="0">
                <a:solidFill>
                  <a:srgbClr val="FF0000"/>
                </a:solidFill>
              </a:rPr>
              <a:t>PersonCivilstatus</a:t>
            </a:r>
            <a:endParaRPr lang="da-DK" sz="800" b="1" dirty="0">
              <a:solidFill>
                <a:srgbClr val="FF0000"/>
              </a:solidFill>
            </a:endParaRPr>
          </a:p>
        </p:txBody>
      </p:sp>
      <p:sp>
        <p:nvSpPr>
          <p:cNvPr id="83" name="Tekstboks 82"/>
          <p:cNvSpPr txBox="1"/>
          <p:nvPr/>
        </p:nvSpPr>
        <p:spPr>
          <a:xfrm>
            <a:off x="86470" y="1893101"/>
            <a:ext cx="1882564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REPRESENTED</a:t>
            </a:r>
          </a:p>
          <a:p>
            <a:pPr algn="ctr"/>
            <a:r>
              <a:rPr lang="da-DK" sz="800" b="1" dirty="0" smtClean="0"/>
              <a:t>VARIABLE</a:t>
            </a:r>
            <a:endParaRPr lang="da-DK" sz="800" b="1" dirty="0"/>
          </a:p>
          <a:p>
            <a:pPr algn="ctr"/>
            <a:r>
              <a:rPr lang="da-DK" sz="800" b="1" dirty="0" err="1" smtClean="0">
                <a:solidFill>
                  <a:srgbClr val="FF0000"/>
                </a:solidFill>
              </a:rPr>
              <a:t>PersonCivilstatusRepresentation</a:t>
            </a:r>
            <a:endParaRPr lang="da-DK" sz="800" b="1" dirty="0">
              <a:solidFill>
                <a:srgbClr val="FF0000"/>
              </a:solidFill>
            </a:endParaRPr>
          </a:p>
        </p:txBody>
      </p:sp>
      <p:sp>
        <p:nvSpPr>
          <p:cNvPr id="84" name="Tekstboks 83"/>
          <p:cNvSpPr txBox="1"/>
          <p:nvPr/>
        </p:nvSpPr>
        <p:spPr>
          <a:xfrm>
            <a:off x="83047" y="2953107"/>
            <a:ext cx="1883011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INSTANCE </a:t>
            </a:r>
          </a:p>
          <a:p>
            <a:pPr algn="ctr"/>
            <a:r>
              <a:rPr lang="da-DK" sz="800" b="1" dirty="0" smtClean="0"/>
              <a:t>VARIABLE</a:t>
            </a:r>
          </a:p>
          <a:p>
            <a:pPr algn="ctr"/>
            <a:r>
              <a:rPr lang="da-DK" sz="800" b="1" dirty="0" smtClean="0">
                <a:solidFill>
                  <a:srgbClr val="FF0000"/>
                </a:solidFill>
              </a:rPr>
              <a:t>CvilstatusPersonInCPH2014</a:t>
            </a:r>
            <a:endParaRPr lang="da-DK" sz="800" b="1" dirty="0" smtClean="0"/>
          </a:p>
        </p:txBody>
      </p:sp>
      <p:cxnSp>
        <p:nvCxnSpPr>
          <p:cNvPr id="98" name="Vinklet forbindelse 97"/>
          <p:cNvCxnSpPr>
            <a:stCxn id="83" idx="0"/>
            <a:endCxn id="82" idx="2"/>
          </p:cNvCxnSpPr>
          <p:nvPr/>
        </p:nvCxnSpPr>
        <p:spPr>
          <a:xfrm rot="16200000" flipV="1">
            <a:off x="597459" y="1462808"/>
            <a:ext cx="588847" cy="271740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Vinklet forbindelse 100"/>
          <p:cNvCxnSpPr>
            <a:stCxn id="84" idx="0"/>
            <a:endCxn id="83" idx="2"/>
          </p:cNvCxnSpPr>
          <p:nvPr/>
        </p:nvCxnSpPr>
        <p:spPr>
          <a:xfrm rot="5400000" flipH="1" flipV="1">
            <a:off x="726982" y="2652338"/>
            <a:ext cx="598341" cy="3199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kstboks 101"/>
          <p:cNvSpPr txBox="1"/>
          <p:nvPr/>
        </p:nvSpPr>
        <p:spPr>
          <a:xfrm>
            <a:off x="83047" y="4087483"/>
            <a:ext cx="1871482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POPULATION</a:t>
            </a:r>
          </a:p>
          <a:p>
            <a:pPr algn="ctr"/>
            <a:endParaRPr lang="da-DK" sz="800" b="1" dirty="0" smtClean="0"/>
          </a:p>
          <a:p>
            <a:r>
              <a:rPr lang="da-DK" sz="800" b="1" dirty="0" smtClean="0">
                <a:solidFill>
                  <a:srgbClr val="FF0000"/>
                </a:solidFill>
              </a:rPr>
              <a:t>LivingPersonsInCPH2014</a:t>
            </a:r>
            <a:endParaRPr lang="da-DK" sz="800" b="1" dirty="0" smtClean="0"/>
          </a:p>
        </p:txBody>
      </p:sp>
      <p:sp>
        <p:nvSpPr>
          <p:cNvPr id="103" name="Tekstboks 102"/>
          <p:cNvSpPr txBox="1"/>
          <p:nvPr/>
        </p:nvSpPr>
        <p:spPr>
          <a:xfrm>
            <a:off x="2367022" y="4318316"/>
            <a:ext cx="1428264" cy="584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VALUE DOMAIN</a:t>
            </a:r>
          </a:p>
          <a:p>
            <a:pPr algn="ctr"/>
            <a:r>
              <a:rPr lang="da-DK" sz="800" b="1" dirty="0" smtClean="0"/>
              <a:t>ENUMERATED</a:t>
            </a: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r>
              <a:rPr lang="da-DK" sz="800" b="1" dirty="0" err="1" smtClean="0">
                <a:solidFill>
                  <a:srgbClr val="FF0000"/>
                </a:solidFill>
              </a:rPr>
              <a:t>CivilStatusEnumeration</a:t>
            </a:r>
            <a:endParaRPr lang="da-DK" sz="800" b="1" dirty="0" smtClean="0">
              <a:solidFill>
                <a:srgbClr val="FF0000"/>
              </a:solidFill>
            </a:endParaRPr>
          </a:p>
        </p:txBody>
      </p:sp>
      <p:sp>
        <p:nvSpPr>
          <p:cNvPr id="104" name="Tekstboks 103"/>
          <p:cNvSpPr txBox="1"/>
          <p:nvPr/>
        </p:nvSpPr>
        <p:spPr>
          <a:xfrm>
            <a:off x="1876705" y="44479"/>
            <a:ext cx="1262525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UNIT TYPE</a:t>
            </a: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r>
              <a:rPr lang="da-DK" sz="800" b="1" dirty="0" smtClean="0">
                <a:solidFill>
                  <a:srgbClr val="FF0000"/>
                </a:solidFill>
              </a:rPr>
              <a:t>Person</a:t>
            </a:r>
          </a:p>
        </p:txBody>
      </p:sp>
      <p:cxnSp>
        <p:nvCxnSpPr>
          <p:cNvPr id="105" name="Vinklet forbindelse 104"/>
          <p:cNvCxnSpPr>
            <a:stCxn id="84" idx="2"/>
            <a:endCxn id="102" idx="0"/>
          </p:cNvCxnSpPr>
          <p:nvPr/>
        </p:nvCxnSpPr>
        <p:spPr>
          <a:xfrm rot="5400000">
            <a:off x="685316" y="3748245"/>
            <a:ext cx="672711" cy="5765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Vinklet forbindelse 105"/>
          <p:cNvCxnSpPr>
            <a:stCxn id="103" idx="0"/>
            <a:endCxn id="83" idx="3"/>
          </p:cNvCxnSpPr>
          <p:nvPr/>
        </p:nvCxnSpPr>
        <p:spPr>
          <a:xfrm rot="16200000" flipV="1">
            <a:off x="1427903" y="2665065"/>
            <a:ext cx="2194382" cy="1112120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Vinklet forbindelse 106"/>
          <p:cNvCxnSpPr>
            <a:stCxn id="82" idx="3"/>
            <a:endCxn id="104" idx="2"/>
          </p:cNvCxnSpPr>
          <p:nvPr/>
        </p:nvCxnSpPr>
        <p:spPr>
          <a:xfrm flipV="1">
            <a:off x="1428975" y="506144"/>
            <a:ext cx="1078993" cy="56727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kstboks 107"/>
          <p:cNvSpPr txBox="1"/>
          <p:nvPr/>
        </p:nvSpPr>
        <p:spPr>
          <a:xfrm>
            <a:off x="323528" y="2637492"/>
            <a:ext cx="1895273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a-DK" sz="800" dirty="0" err="1" smtClean="0"/>
              <a:t>Takes</a:t>
            </a:r>
            <a:r>
              <a:rPr lang="da-DK" sz="800" dirty="0" smtClean="0"/>
              <a:t> </a:t>
            </a:r>
            <a:r>
              <a:rPr lang="da-DK" sz="800" dirty="0" err="1" smtClean="0"/>
              <a:t>meaning</a:t>
            </a:r>
            <a:r>
              <a:rPr lang="da-DK" sz="800" dirty="0" smtClean="0"/>
              <a:t> from</a:t>
            </a:r>
            <a:endParaRPr lang="da-DK" sz="800" dirty="0"/>
          </a:p>
        </p:txBody>
      </p:sp>
      <p:sp>
        <p:nvSpPr>
          <p:cNvPr id="109" name="Tekstboks 108"/>
          <p:cNvSpPr txBox="1"/>
          <p:nvPr/>
        </p:nvSpPr>
        <p:spPr>
          <a:xfrm>
            <a:off x="443303" y="1413356"/>
            <a:ext cx="1608417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a-DK" sz="800" dirty="0" err="1" smtClean="0"/>
              <a:t>Takes</a:t>
            </a:r>
            <a:r>
              <a:rPr lang="da-DK" sz="800" dirty="0"/>
              <a:t> </a:t>
            </a:r>
            <a:r>
              <a:rPr lang="da-DK" sz="800" dirty="0" err="1" smtClean="0"/>
              <a:t>meaning</a:t>
            </a:r>
            <a:r>
              <a:rPr lang="da-DK" sz="800" dirty="0" smtClean="0"/>
              <a:t> from</a:t>
            </a:r>
            <a:endParaRPr lang="da-DK" sz="800" dirty="0"/>
          </a:p>
        </p:txBody>
      </p:sp>
      <p:sp>
        <p:nvSpPr>
          <p:cNvPr id="110" name="Tekstboks 109"/>
          <p:cNvSpPr txBox="1"/>
          <p:nvPr/>
        </p:nvSpPr>
        <p:spPr>
          <a:xfrm>
            <a:off x="1115616" y="3717612"/>
            <a:ext cx="850443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smtClean="0"/>
              <a:t>measures</a:t>
            </a:r>
            <a:endParaRPr lang="da-DK" sz="800" dirty="0"/>
          </a:p>
        </p:txBody>
      </p:sp>
      <p:sp>
        <p:nvSpPr>
          <p:cNvPr id="111" name="Tekstboks 110"/>
          <p:cNvSpPr txBox="1"/>
          <p:nvPr/>
        </p:nvSpPr>
        <p:spPr>
          <a:xfrm>
            <a:off x="2483768" y="3068960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smtClean="0"/>
              <a:t>measures</a:t>
            </a:r>
            <a:endParaRPr lang="da-DK" sz="800" dirty="0"/>
          </a:p>
        </p:txBody>
      </p:sp>
      <p:sp>
        <p:nvSpPr>
          <p:cNvPr id="112" name="Tekstboks 111"/>
          <p:cNvSpPr txBox="1"/>
          <p:nvPr/>
        </p:nvSpPr>
        <p:spPr>
          <a:xfrm>
            <a:off x="1832924" y="503244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smtClean="0"/>
              <a:t>measures</a:t>
            </a:r>
            <a:endParaRPr lang="da-DK" sz="800" dirty="0"/>
          </a:p>
        </p:txBody>
      </p:sp>
      <p:sp>
        <p:nvSpPr>
          <p:cNvPr id="113" name="Tekstboks 112"/>
          <p:cNvSpPr txBox="1"/>
          <p:nvPr/>
        </p:nvSpPr>
        <p:spPr>
          <a:xfrm>
            <a:off x="83048" y="50665"/>
            <a:ext cx="1345927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CONCECPT</a:t>
            </a:r>
          </a:p>
          <a:p>
            <a:endParaRPr lang="da-DK" sz="800" b="1" dirty="0" smtClean="0">
              <a:solidFill>
                <a:srgbClr val="FF0000"/>
              </a:solidFill>
            </a:endParaRPr>
          </a:p>
          <a:p>
            <a:r>
              <a:rPr lang="da-DK" sz="800" b="1" dirty="0" err="1" smtClean="0">
                <a:solidFill>
                  <a:srgbClr val="FF0000"/>
                </a:solidFill>
              </a:rPr>
              <a:t>Civill</a:t>
            </a:r>
            <a:r>
              <a:rPr lang="da-DK" sz="800" b="1" dirty="0" smtClean="0">
                <a:solidFill>
                  <a:srgbClr val="FF0000"/>
                </a:solidFill>
              </a:rPr>
              <a:t> status</a:t>
            </a:r>
          </a:p>
        </p:txBody>
      </p:sp>
      <p:cxnSp>
        <p:nvCxnSpPr>
          <p:cNvPr id="114" name="Vinklet forbindelse 113"/>
          <p:cNvCxnSpPr>
            <a:stCxn id="82" idx="0"/>
            <a:endCxn id="113" idx="2"/>
          </p:cNvCxnSpPr>
          <p:nvPr/>
        </p:nvCxnSpPr>
        <p:spPr>
          <a:xfrm rot="5400000" flipH="1" flipV="1">
            <a:off x="590883" y="677460"/>
            <a:ext cx="330259" cy="12700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kstboks 114"/>
          <p:cNvSpPr txBox="1"/>
          <p:nvPr/>
        </p:nvSpPr>
        <p:spPr>
          <a:xfrm>
            <a:off x="-36512" y="506289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smtClean="0"/>
              <a:t>measures</a:t>
            </a:r>
            <a:endParaRPr lang="da-DK" sz="800" dirty="0"/>
          </a:p>
        </p:txBody>
      </p:sp>
      <p:sp>
        <p:nvSpPr>
          <p:cNvPr id="90" name="Tekstboks 103"/>
          <p:cNvSpPr txBox="1"/>
          <p:nvPr/>
        </p:nvSpPr>
        <p:spPr>
          <a:xfrm>
            <a:off x="3139064" y="1124744"/>
            <a:ext cx="1432936" cy="584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CONCEPTUAL DOMAIL ENUMERATED</a:t>
            </a:r>
          </a:p>
          <a:p>
            <a:pPr algn="ctr"/>
            <a:endParaRPr lang="da-DK" sz="800" b="1" dirty="0" smtClean="0"/>
          </a:p>
          <a:p>
            <a:r>
              <a:rPr lang="da-DK" sz="800" b="1" dirty="0" err="1" smtClean="0">
                <a:solidFill>
                  <a:srgbClr val="FF0000"/>
                </a:solidFill>
              </a:rPr>
              <a:t>PersonCivilstatusDomain</a:t>
            </a:r>
            <a:endParaRPr lang="da-DK" sz="800" b="1" dirty="0" smtClean="0">
              <a:solidFill>
                <a:srgbClr val="FF0000"/>
              </a:solidFill>
            </a:endParaRPr>
          </a:p>
        </p:txBody>
      </p:sp>
      <p:sp>
        <p:nvSpPr>
          <p:cNvPr id="92" name="Tekstboks 103"/>
          <p:cNvSpPr txBox="1"/>
          <p:nvPr/>
        </p:nvSpPr>
        <p:spPr>
          <a:xfrm>
            <a:off x="5407831" y="1167135"/>
            <a:ext cx="1684449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CATEGORY SET</a:t>
            </a: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r>
              <a:rPr lang="da-DK" sz="800" b="1" dirty="0" err="1" smtClean="0">
                <a:solidFill>
                  <a:srgbClr val="FF0000"/>
                </a:solidFill>
              </a:rPr>
              <a:t>PersonVivilStatusCategories</a:t>
            </a:r>
            <a:endParaRPr lang="da-DK" sz="800" b="1" dirty="0" smtClean="0">
              <a:solidFill>
                <a:srgbClr val="FF0000"/>
              </a:solidFill>
            </a:endParaRPr>
          </a:p>
        </p:txBody>
      </p:sp>
      <p:sp>
        <p:nvSpPr>
          <p:cNvPr id="94" name="Tekstboks 103"/>
          <p:cNvSpPr txBox="1"/>
          <p:nvPr/>
        </p:nvSpPr>
        <p:spPr>
          <a:xfrm>
            <a:off x="5607087" y="2304915"/>
            <a:ext cx="1262525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CATEGORY ITEM</a:t>
            </a:r>
            <a:endParaRPr lang="da-DK" sz="800" b="1" dirty="0">
              <a:solidFill>
                <a:srgbClr val="FF0000"/>
              </a:solidFill>
            </a:endParaRP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pPr algn="ctr"/>
            <a:r>
              <a:rPr lang="da-DK" sz="800" b="1" dirty="0" err="1" smtClean="0">
                <a:solidFill>
                  <a:srgbClr val="FF0000"/>
                </a:solidFill>
              </a:rPr>
              <a:t>Marrried</a:t>
            </a:r>
            <a:endParaRPr lang="da-DK" sz="800" b="1" dirty="0" smtClean="0"/>
          </a:p>
        </p:txBody>
      </p:sp>
      <p:cxnSp>
        <p:nvCxnSpPr>
          <p:cNvPr id="95" name="Vinklet forbindelse 94"/>
          <p:cNvCxnSpPr>
            <a:stCxn id="82" idx="3"/>
            <a:endCxn id="90" idx="1"/>
          </p:cNvCxnSpPr>
          <p:nvPr/>
        </p:nvCxnSpPr>
        <p:spPr>
          <a:xfrm>
            <a:off x="1428975" y="1073422"/>
            <a:ext cx="1710089" cy="343710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kstboks 111"/>
          <p:cNvSpPr txBox="1"/>
          <p:nvPr/>
        </p:nvSpPr>
        <p:spPr>
          <a:xfrm>
            <a:off x="2447937" y="1196752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err="1" smtClean="0"/>
              <a:t>Uses</a:t>
            </a:r>
            <a:endParaRPr lang="da-DK" sz="800" dirty="0"/>
          </a:p>
        </p:txBody>
      </p:sp>
      <p:cxnSp>
        <p:nvCxnSpPr>
          <p:cNvPr id="116" name="Vinklet forbindelse 115"/>
          <p:cNvCxnSpPr>
            <a:stCxn id="103" idx="3"/>
            <a:endCxn id="90" idx="2"/>
          </p:cNvCxnSpPr>
          <p:nvPr/>
        </p:nvCxnSpPr>
        <p:spPr>
          <a:xfrm flipV="1">
            <a:off x="3795286" y="1709519"/>
            <a:ext cx="60246" cy="2901185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kstboks 110"/>
          <p:cNvSpPr txBox="1"/>
          <p:nvPr/>
        </p:nvSpPr>
        <p:spPr>
          <a:xfrm>
            <a:off x="3795286" y="2773566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err="1" smtClean="0"/>
              <a:t>Corresponds</a:t>
            </a:r>
            <a:r>
              <a:rPr lang="da-DK" sz="800" dirty="0" smtClean="0"/>
              <a:t> to</a:t>
            </a:r>
            <a:endParaRPr lang="da-DK" sz="800" dirty="0"/>
          </a:p>
        </p:txBody>
      </p:sp>
      <p:cxnSp>
        <p:nvCxnSpPr>
          <p:cNvPr id="123" name="Vinklet forbindelse 122"/>
          <p:cNvCxnSpPr>
            <a:stCxn id="90" idx="3"/>
            <a:endCxn id="92" idx="1"/>
          </p:cNvCxnSpPr>
          <p:nvPr/>
        </p:nvCxnSpPr>
        <p:spPr>
          <a:xfrm flipV="1">
            <a:off x="4572000" y="1397968"/>
            <a:ext cx="835831" cy="191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kstboks 110"/>
          <p:cNvSpPr txBox="1"/>
          <p:nvPr/>
        </p:nvSpPr>
        <p:spPr>
          <a:xfrm>
            <a:off x="4610586" y="1197332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err="1" smtClean="0"/>
              <a:t>contains</a:t>
            </a:r>
            <a:endParaRPr lang="da-DK" sz="800" dirty="0"/>
          </a:p>
        </p:txBody>
      </p:sp>
      <p:cxnSp>
        <p:nvCxnSpPr>
          <p:cNvPr id="136" name="Vinklet forbindelse 135"/>
          <p:cNvCxnSpPr>
            <a:stCxn id="92" idx="2"/>
            <a:endCxn id="94" idx="0"/>
          </p:cNvCxnSpPr>
          <p:nvPr/>
        </p:nvCxnSpPr>
        <p:spPr>
          <a:xfrm rot="5400000">
            <a:off x="5906146" y="1961004"/>
            <a:ext cx="676115" cy="11706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kstboks 102"/>
          <p:cNvSpPr txBox="1"/>
          <p:nvPr/>
        </p:nvSpPr>
        <p:spPr>
          <a:xfrm>
            <a:off x="4844064" y="4379870"/>
            <a:ext cx="1312112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CODELIST</a:t>
            </a:r>
            <a:endParaRPr lang="da-DK" sz="800" b="1" dirty="0" smtClean="0">
              <a:solidFill>
                <a:srgbClr val="FF0000"/>
              </a:solidFill>
            </a:endParaRP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r>
              <a:rPr lang="da-DK" sz="800" b="1" dirty="0" err="1" smtClean="0">
                <a:solidFill>
                  <a:srgbClr val="FF0000"/>
                </a:solidFill>
              </a:rPr>
              <a:t>CivilStatusCdelList</a:t>
            </a:r>
            <a:endParaRPr lang="da-DK" sz="800" b="1" dirty="0" smtClean="0">
              <a:solidFill>
                <a:srgbClr val="FF0000"/>
              </a:solidFill>
            </a:endParaRPr>
          </a:p>
        </p:txBody>
      </p:sp>
      <p:cxnSp>
        <p:nvCxnSpPr>
          <p:cNvPr id="145" name="Vinklet forbindelse 144"/>
          <p:cNvCxnSpPr>
            <a:stCxn id="103" idx="3"/>
            <a:endCxn id="142" idx="1"/>
          </p:cNvCxnSpPr>
          <p:nvPr/>
        </p:nvCxnSpPr>
        <p:spPr>
          <a:xfrm flipV="1">
            <a:off x="3795286" y="4610703"/>
            <a:ext cx="1048778" cy="1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kstboks 110"/>
          <p:cNvSpPr txBox="1"/>
          <p:nvPr/>
        </p:nvSpPr>
        <p:spPr>
          <a:xfrm>
            <a:off x="3779912" y="4379870"/>
            <a:ext cx="1064152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err="1" smtClean="0"/>
              <a:t>Takes</a:t>
            </a:r>
            <a:r>
              <a:rPr lang="da-DK" sz="800" dirty="0" smtClean="0"/>
              <a:t> </a:t>
            </a:r>
            <a:r>
              <a:rPr lang="da-DK" sz="800" dirty="0" err="1" smtClean="0"/>
              <a:t>value</a:t>
            </a:r>
            <a:r>
              <a:rPr lang="da-DK" sz="800" dirty="0" smtClean="0"/>
              <a:t> from</a:t>
            </a:r>
            <a:endParaRPr lang="da-DK" sz="800" dirty="0"/>
          </a:p>
        </p:txBody>
      </p:sp>
      <p:sp>
        <p:nvSpPr>
          <p:cNvPr id="149" name="Tekstboks 110"/>
          <p:cNvSpPr txBox="1"/>
          <p:nvPr/>
        </p:nvSpPr>
        <p:spPr>
          <a:xfrm>
            <a:off x="6336369" y="1844251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err="1" smtClean="0"/>
              <a:t>contains</a:t>
            </a:r>
            <a:endParaRPr lang="da-DK" sz="800" dirty="0"/>
          </a:p>
        </p:txBody>
      </p:sp>
      <p:sp>
        <p:nvSpPr>
          <p:cNvPr id="150" name="Tekstboks 103"/>
          <p:cNvSpPr txBox="1"/>
          <p:nvPr/>
        </p:nvSpPr>
        <p:spPr>
          <a:xfrm>
            <a:off x="5325699" y="6279703"/>
            <a:ext cx="1262525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err="1" smtClean="0"/>
              <a:t>Category</a:t>
            </a:r>
            <a:r>
              <a:rPr lang="da-DK" sz="800" b="1" dirty="0" smtClean="0"/>
              <a:t> Item</a:t>
            </a:r>
            <a:endParaRPr lang="da-DK" sz="800" b="1" dirty="0">
              <a:solidFill>
                <a:srgbClr val="FF0000"/>
              </a:solidFill>
            </a:endParaRP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pPr algn="ctr"/>
            <a:r>
              <a:rPr lang="da-DK" sz="800" b="1" dirty="0" err="1" smtClean="0">
                <a:solidFill>
                  <a:srgbClr val="FF0000"/>
                </a:solidFill>
              </a:rPr>
              <a:t>Other</a:t>
            </a:r>
            <a:endParaRPr lang="da-DK" sz="800" b="1" dirty="0" smtClean="0"/>
          </a:p>
        </p:txBody>
      </p:sp>
      <p:sp>
        <p:nvSpPr>
          <p:cNvPr id="151" name="Tekstboks 103"/>
          <p:cNvSpPr txBox="1"/>
          <p:nvPr/>
        </p:nvSpPr>
        <p:spPr>
          <a:xfrm>
            <a:off x="5173299" y="5991671"/>
            <a:ext cx="1262525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err="1" smtClean="0"/>
              <a:t>Category</a:t>
            </a:r>
            <a:r>
              <a:rPr lang="da-DK" sz="800" b="1" dirty="0" smtClean="0"/>
              <a:t> Item</a:t>
            </a:r>
            <a:endParaRPr lang="da-DK" sz="800" b="1" dirty="0">
              <a:solidFill>
                <a:srgbClr val="FF0000"/>
              </a:solidFill>
            </a:endParaRP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pPr algn="ctr"/>
            <a:r>
              <a:rPr lang="da-DK" sz="800" b="1" dirty="0" err="1" smtClean="0">
                <a:solidFill>
                  <a:srgbClr val="FF0000"/>
                </a:solidFill>
              </a:rPr>
              <a:t>Unmarried</a:t>
            </a:r>
            <a:endParaRPr lang="da-DK" sz="800" b="1" dirty="0" smtClean="0"/>
          </a:p>
        </p:txBody>
      </p:sp>
      <p:sp>
        <p:nvSpPr>
          <p:cNvPr id="152" name="Tekstboks 103"/>
          <p:cNvSpPr txBox="1"/>
          <p:nvPr/>
        </p:nvSpPr>
        <p:spPr>
          <a:xfrm>
            <a:off x="4887007" y="5659674"/>
            <a:ext cx="1262525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800" b="1" dirty="0" smtClean="0"/>
              <a:t>CODE ITEM</a:t>
            </a:r>
            <a:endParaRPr lang="da-DK" sz="800" b="1" dirty="0">
              <a:solidFill>
                <a:srgbClr val="FF0000"/>
              </a:solidFill>
            </a:endParaRPr>
          </a:p>
          <a:p>
            <a:pPr algn="ctr"/>
            <a:endParaRPr lang="da-DK" sz="800" b="1" dirty="0" smtClean="0">
              <a:solidFill>
                <a:srgbClr val="FF0000"/>
              </a:solidFill>
            </a:endParaRPr>
          </a:p>
          <a:p>
            <a:pPr algn="ctr"/>
            <a:r>
              <a:rPr lang="da-DK" sz="800" b="1" dirty="0" err="1" smtClean="0">
                <a:solidFill>
                  <a:srgbClr val="FF0000"/>
                </a:solidFill>
              </a:rPr>
              <a:t>Marrried</a:t>
            </a:r>
            <a:endParaRPr lang="da-DK" sz="800" b="1" dirty="0" smtClean="0"/>
          </a:p>
        </p:txBody>
      </p:sp>
      <p:cxnSp>
        <p:nvCxnSpPr>
          <p:cNvPr id="153" name="Vinklet forbindelse 152"/>
          <p:cNvCxnSpPr>
            <a:stCxn id="142" idx="2"/>
            <a:endCxn id="152" idx="0"/>
          </p:cNvCxnSpPr>
          <p:nvPr/>
        </p:nvCxnSpPr>
        <p:spPr>
          <a:xfrm>
            <a:off x="5500120" y="4841535"/>
            <a:ext cx="18150" cy="81813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kstboks 110"/>
          <p:cNvSpPr txBox="1"/>
          <p:nvPr/>
        </p:nvSpPr>
        <p:spPr>
          <a:xfrm>
            <a:off x="5436096" y="5199010"/>
            <a:ext cx="971935" cy="215444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 err="1" smtClean="0"/>
              <a:t>contains</a:t>
            </a:r>
            <a:endParaRPr lang="da-DK" sz="800" dirty="0"/>
          </a:p>
        </p:txBody>
      </p:sp>
    </p:spTree>
    <p:extLst>
      <p:ext uri="{BB962C8B-B14F-4D97-AF65-F5344CB8AC3E}">
        <p14:creationId xmlns:p14="http://schemas.microsoft.com/office/powerpoint/2010/main" val="361255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34" grpId="0" animBg="1"/>
      <p:bldP spid="82" grpId="0" animBg="1"/>
      <p:bldP spid="83" grpId="0" animBg="1"/>
      <p:bldP spid="84" grpId="0" animBg="1"/>
      <p:bldP spid="102" grpId="0" animBg="1"/>
      <p:bldP spid="103" grpId="0" animBg="1"/>
      <p:bldP spid="104" grpId="0" animBg="1"/>
      <p:bldP spid="108" grpId="0"/>
      <p:bldP spid="109" grpId="0"/>
      <p:bldP spid="110" grpId="0"/>
      <p:bldP spid="111" grpId="0"/>
      <p:bldP spid="112" grpId="0"/>
      <p:bldP spid="113" grpId="0" animBg="1"/>
      <p:bldP spid="115" grpId="0"/>
      <p:bldP spid="90" grpId="0" animBg="1"/>
      <p:bldP spid="92" grpId="0" animBg="1"/>
      <p:bldP spid="94" grpId="0" animBg="1"/>
      <p:bldP spid="100" grpId="0"/>
      <p:bldP spid="122" grpId="0"/>
      <p:bldP spid="127" grpId="0"/>
      <p:bldP spid="142" grpId="0" animBg="1"/>
      <p:bldP spid="148" grpId="0"/>
      <p:bldP spid="149" grpId="0"/>
      <p:bldP spid="150" grpId="0" animBg="1"/>
      <p:bldP spid="151" grpId="0" animBg="1"/>
      <p:bldP spid="152" grpId="0" animBg="1"/>
      <p:bldP spid="15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 smtClean="0"/>
              <a:t>To DDI 3.2</a:t>
            </a:r>
          </a:p>
          <a:p>
            <a:r>
              <a:rPr lang="da-DK" sz="2800" dirty="0" smtClean="0"/>
              <a:t>High/Low level </a:t>
            </a:r>
            <a:r>
              <a:rPr lang="da-DK" sz="2800" dirty="0" err="1" smtClean="0"/>
              <a:t>mapping</a:t>
            </a:r>
            <a:endParaRPr lang="en-GB" sz="2800" dirty="0" smtClean="0"/>
          </a:p>
          <a:p>
            <a:r>
              <a:rPr lang="en-GB" sz="2800" dirty="0" smtClean="0"/>
              <a:t>D</a:t>
            </a:r>
            <a:r>
              <a:rPr lang="da-DK" sz="2800" dirty="0" err="1" smtClean="0"/>
              <a:t>ata</a:t>
            </a:r>
            <a:r>
              <a:rPr lang="da-DK" sz="2800" dirty="0" smtClean="0"/>
              <a:t> </a:t>
            </a:r>
            <a:r>
              <a:rPr lang="da-DK" sz="2800" dirty="0" err="1" smtClean="0"/>
              <a:t>structure</a:t>
            </a:r>
            <a:r>
              <a:rPr lang="da-DK" sz="2800" dirty="0" smtClean="0"/>
              <a:t> </a:t>
            </a:r>
            <a:r>
              <a:rPr lang="da-DK" sz="2800" dirty="0" err="1" smtClean="0"/>
              <a:t>conceptually</a:t>
            </a:r>
            <a:r>
              <a:rPr lang="da-DK" sz="2800" dirty="0" smtClean="0"/>
              <a:t> very </a:t>
            </a:r>
            <a:r>
              <a:rPr lang="da-DK" sz="2800" dirty="0" err="1" smtClean="0"/>
              <a:t>different</a:t>
            </a:r>
            <a:endParaRPr lang="da-DK" sz="2800" dirty="0" smtClean="0"/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 smtClean="0"/>
              <a:t>To </a:t>
            </a:r>
            <a:r>
              <a:rPr lang="en-GB" sz="2800" dirty="0" err="1" smtClean="0"/>
              <a:t>Colectica</a:t>
            </a:r>
            <a:endParaRPr lang="en-GB" sz="2800" dirty="0" smtClean="0"/>
          </a:p>
          <a:p>
            <a:r>
              <a:rPr lang="da-DK" sz="2800" dirty="0" smtClean="0"/>
              <a:t>Import, organising and linking elements</a:t>
            </a:r>
            <a:endParaRPr lang="en-GB" sz="2800" dirty="0" smtClean="0"/>
          </a:p>
          <a:p>
            <a:r>
              <a:rPr lang="da-DK" sz="2800" dirty="0" smtClean="0"/>
              <a:t>Organising data so </a:t>
            </a:r>
            <a:r>
              <a:rPr lang="da-DK" sz="2800" dirty="0" err="1" smtClean="0"/>
              <a:t>common</a:t>
            </a:r>
            <a:r>
              <a:rPr lang="da-DK" sz="2800" dirty="0" smtClean="0"/>
              <a:t> metadata can be </a:t>
            </a:r>
            <a:r>
              <a:rPr lang="da-DK" sz="2800" dirty="0" err="1" smtClean="0"/>
              <a:t>easily</a:t>
            </a:r>
            <a:r>
              <a:rPr lang="da-DK" sz="2800" dirty="0" smtClean="0"/>
              <a:t> </a:t>
            </a:r>
            <a:r>
              <a:rPr lang="da-DK" sz="2800" dirty="0" err="1" smtClean="0"/>
              <a:t>administrated</a:t>
            </a:r>
            <a:r>
              <a:rPr lang="da-DK" sz="2800" dirty="0"/>
              <a:t> </a:t>
            </a:r>
            <a:r>
              <a:rPr lang="da-DK" sz="2800" dirty="0" smtClean="0"/>
              <a:t>and </a:t>
            </a:r>
            <a:r>
              <a:rPr lang="da-DK" sz="2800" dirty="0" err="1" smtClean="0"/>
              <a:t>reused</a:t>
            </a:r>
            <a:endParaRPr lang="da-DK" sz="280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</a:t>
            </a:r>
            <a:r>
              <a:rPr lang="da-DK" dirty="0" smtClean="0"/>
              <a:t>rom GSIM to DDI 3.2 to </a:t>
            </a:r>
            <a:r>
              <a:rPr lang="da-DK" dirty="0" err="1" smtClean="0"/>
              <a:t>Colectica</a:t>
            </a:r>
            <a:r>
              <a:rPr lang="da-DK" dirty="0" smtClean="0"/>
              <a:t> – </a:t>
            </a:r>
            <a:r>
              <a:rPr lang="da-DK" dirty="0" err="1" smtClean="0"/>
              <a:t>main</a:t>
            </a:r>
            <a:r>
              <a:rPr lang="da-DK" dirty="0" smtClean="0"/>
              <a:t> </a:t>
            </a:r>
            <a:r>
              <a:rPr lang="da-DK" dirty="0" err="1" smtClean="0"/>
              <a:t>activities</a:t>
            </a:r>
            <a:r>
              <a:rPr lang="da-DK" dirty="0" smtClean="0"/>
              <a:t> and </a:t>
            </a:r>
            <a:r>
              <a:rPr lang="da-DK" dirty="0" err="1" smtClean="0"/>
              <a:t>issues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18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0928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i="1" dirty="0" smtClean="0"/>
              <a:t>  </a:t>
            </a:r>
          </a:p>
          <a:p>
            <a:pPr marL="0" indent="0">
              <a:buNone/>
            </a:pPr>
            <a:endParaRPr lang="en-GB" sz="2000" i="1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Models </a:t>
            </a:r>
            <a:r>
              <a:rPr lang="da-DK" dirty="0" err="1" smtClean="0"/>
              <a:t>implemented</a:t>
            </a:r>
            <a:r>
              <a:rPr lang="da-DK" dirty="0" smtClean="0"/>
              <a:t> and </a:t>
            </a:r>
            <a:r>
              <a:rPr lang="da-DK" dirty="0" err="1" smtClean="0"/>
              <a:t>used</a:t>
            </a:r>
            <a:r>
              <a:rPr lang="da-DK" dirty="0" smtClean="0"/>
              <a:t> in </a:t>
            </a:r>
            <a:r>
              <a:rPr lang="da-DK" dirty="0"/>
              <a:t>m</a:t>
            </a:r>
            <a:r>
              <a:rPr lang="da-DK" dirty="0" smtClean="0"/>
              <a:t>etadata portal- </a:t>
            </a:r>
            <a:r>
              <a:rPr lang="da-DK" dirty="0" err="1" smtClean="0"/>
              <a:t>simplified</a:t>
            </a:r>
            <a:r>
              <a:rPr lang="da-DK" dirty="0" smtClean="0"/>
              <a:t> model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19</a:t>
            </a:fld>
            <a:endParaRPr lang="da-DK" dirty="0"/>
          </a:p>
        </p:txBody>
      </p:sp>
      <p:grpSp>
        <p:nvGrpSpPr>
          <p:cNvPr id="76" name="Lærred 5"/>
          <p:cNvGrpSpPr/>
          <p:nvPr/>
        </p:nvGrpSpPr>
        <p:grpSpPr>
          <a:xfrm>
            <a:off x="277637" y="693466"/>
            <a:ext cx="8877635" cy="6164534"/>
            <a:chOff x="0" y="0"/>
            <a:chExt cx="6718852" cy="4408170"/>
          </a:xfrm>
        </p:grpSpPr>
        <p:sp>
          <p:nvSpPr>
            <p:cNvPr id="77" name="Rektangel 76"/>
            <p:cNvSpPr/>
            <p:nvPr/>
          </p:nvSpPr>
          <p:spPr>
            <a:xfrm>
              <a:off x="0" y="0"/>
              <a:ext cx="6718300" cy="4408170"/>
            </a:xfrm>
            <a:prstGeom prst="rect">
              <a:avLst/>
            </a:prstGeom>
          </p:spPr>
        </p:sp>
        <p:pic>
          <p:nvPicPr>
            <p:cNvPr id="78" name="Billede 7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283055" y="962525"/>
              <a:ext cx="3693160" cy="1929528"/>
            </a:xfrm>
            <a:prstGeom prst="rect">
              <a:avLst/>
            </a:prstGeom>
          </p:spPr>
        </p:pic>
        <p:sp>
          <p:nvSpPr>
            <p:cNvPr id="79" name="Tekstboks 9"/>
            <p:cNvSpPr txBox="1"/>
            <p:nvPr/>
          </p:nvSpPr>
          <p:spPr>
            <a:xfrm>
              <a:off x="9625" y="1391835"/>
              <a:ext cx="1100688" cy="168980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US" sz="1400" b="1">
                  <a:effectLst/>
                  <a:latin typeface="Charter"/>
                  <a:ea typeface="Times New Roman"/>
                  <a:cs typeface="Times New Roman"/>
                </a:rPr>
                <a:t>Lists of concepts (unittypes and pro-perties) </a:t>
              </a:r>
              <a:endParaRPr lang="da-DK" sz="1100">
                <a:effectLst/>
                <a:latin typeface="Charter"/>
                <a:ea typeface="Times New Roman"/>
                <a:cs typeface="Times New Roman"/>
              </a:endParaRPr>
            </a:p>
          </p:txBody>
        </p:sp>
        <p:sp>
          <p:nvSpPr>
            <p:cNvPr id="80" name="Tekstboks 25"/>
            <p:cNvSpPr txBox="1"/>
            <p:nvPr/>
          </p:nvSpPr>
          <p:spPr>
            <a:xfrm>
              <a:off x="2474228" y="3038960"/>
              <a:ext cx="1683844" cy="822178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US" sz="1400" b="1">
                  <a:effectLst/>
                  <a:latin typeface="Charter"/>
                  <a:ea typeface="Times New Roman"/>
                  <a:cs typeface="Times New Roman"/>
                </a:rPr>
                <a:t>Lists of classifications and code lists.</a:t>
              </a:r>
              <a:endParaRPr lang="da-DK" sz="1100">
                <a:effectLst/>
                <a:latin typeface="Charter"/>
                <a:ea typeface="Times New Roman"/>
                <a:cs typeface="Times New Roman"/>
              </a:endParaRPr>
            </a:p>
          </p:txBody>
        </p:sp>
        <p:sp>
          <p:nvSpPr>
            <p:cNvPr id="81" name="Tekstboks 25"/>
            <p:cNvSpPr txBox="1"/>
            <p:nvPr/>
          </p:nvSpPr>
          <p:spPr>
            <a:xfrm>
              <a:off x="5246407" y="1415493"/>
              <a:ext cx="1472445" cy="1793858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US" sz="1400" b="1">
                  <a:effectLst/>
                  <a:latin typeface="Charter"/>
                  <a:ea typeface="Times New Roman"/>
                  <a:cs typeface="Times New Roman"/>
                </a:rPr>
                <a:t>Lists of registers, data-set and variables </a:t>
              </a:r>
              <a:endParaRPr lang="da-DK" sz="1100">
                <a:effectLst/>
                <a:latin typeface="Charter"/>
                <a:ea typeface="Times New Roman"/>
                <a:cs typeface="Times New Roman"/>
              </a:endParaRPr>
            </a:p>
            <a:p>
              <a:pPr algn="just">
                <a:spcAft>
                  <a:spcPts val="0"/>
                </a:spcAft>
              </a:pPr>
              <a:r>
                <a:rPr lang="en-US" sz="1200">
                  <a:effectLst/>
                  <a:latin typeface="Times New Roman"/>
                  <a:ea typeface="Times New Roman"/>
                </a:rPr>
                <a:t> </a:t>
              </a:r>
              <a:endParaRPr lang="da-DK" sz="120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82" name="Tekstboks 25"/>
            <p:cNvSpPr txBox="1"/>
            <p:nvPr/>
          </p:nvSpPr>
          <p:spPr>
            <a:xfrm>
              <a:off x="2190939" y="504949"/>
              <a:ext cx="2049521" cy="343647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en-US" sz="1400" b="1">
                  <a:effectLst/>
                  <a:latin typeface="Charter"/>
                  <a:ea typeface="Times New Roman"/>
                </a:rPr>
                <a:t>Lists of statistics</a:t>
              </a:r>
              <a:endParaRPr lang="da-DK" sz="1200"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83" name="Nedadgående pil 82"/>
            <p:cNvSpPr/>
            <p:nvPr/>
          </p:nvSpPr>
          <p:spPr>
            <a:xfrm>
              <a:off x="2967510" y="856609"/>
              <a:ext cx="385010" cy="17329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a-DK"/>
            </a:p>
          </p:txBody>
        </p:sp>
        <p:sp>
          <p:nvSpPr>
            <p:cNvPr id="84" name="Nedadgående pil 83"/>
            <p:cNvSpPr/>
            <p:nvPr/>
          </p:nvSpPr>
          <p:spPr>
            <a:xfrm rot="16200000">
              <a:off x="1004288" y="1845262"/>
              <a:ext cx="384810" cy="1727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a-DK"/>
            </a:p>
          </p:txBody>
        </p:sp>
        <p:sp>
          <p:nvSpPr>
            <p:cNvPr id="85" name="Nedadgående pil 84"/>
            <p:cNvSpPr/>
            <p:nvPr/>
          </p:nvSpPr>
          <p:spPr>
            <a:xfrm rot="5400000">
              <a:off x="4903402" y="1845267"/>
              <a:ext cx="384810" cy="1727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a-DK"/>
            </a:p>
          </p:txBody>
        </p:sp>
        <p:sp>
          <p:nvSpPr>
            <p:cNvPr id="86" name="Nedadgående pil 85"/>
            <p:cNvSpPr/>
            <p:nvPr/>
          </p:nvSpPr>
          <p:spPr>
            <a:xfrm rot="10800000">
              <a:off x="2967705" y="2837764"/>
              <a:ext cx="384810" cy="17272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a-DK"/>
            </a:p>
          </p:txBody>
        </p:sp>
      </p:grpSp>
    </p:spTree>
    <p:extLst>
      <p:ext uri="{BB962C8B-B14F-4D97-AF65-F5344CB8AC3E}">
        <p14:creationId xmlns:p14="http://schemas.microsoft.com/office/powerpoint/2010/main" val="132743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i="1" dirty="0" smtClean="0"/>
              <a:t>  </a:t>
            </a:r>
          </a:p>
          <a:p>
            <a:pPr marL="0" indent="0">
              <a:buNone/>
            </a:pPr>
            <a:endParaRPr lang="en-GB" sz="2000" i="1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 smtClean="0"/>
              <a:t>Statistics</a:t>
            </a:r>
            <a:r>
              <a:rPr lang="da-DK" dirty="0" smtClean="0"/>
              <a:t> - list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20</a:t>
            </a:fld>
            <a:endParaRPr lang="da-DK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7" y="1482036"/>
            <a:ext cx="9230909" cy="3675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264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Statistics</a:t>
            </a:r>
            <a:r>
              <a:rPr lang="da-DK" dirty="0" smtClean="0"/>
              <a:t> – ”public </a:t>
            </a:r>
            <a:r>
              <a:rPr lang="da-DK" dirty="0" err="1" smtClean="0"/>
              <a:t>expenditure</a:t>
            </a:r>
            <a:r>
              <a:rPr lang="da-DK" dirty="0" smtClean="0"/>
              <a:t>”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21</a:t>
            </a:fld>
            <a:endParaRPr lang="da-DK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24744"/>
            <a:ext cx="6435485" cy="4984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ladsholder til indhold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smtClean="0"/>
              <a:t>   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58863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Classifications</a:t>
            </a:r>
            <a:r>
              <a:rPr lang="da-DK" dirty="0" smtClean="0"/>
              <a:t> - list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22</a:t>
            </a:fld>
            <a:endParaRPr lang="da-DK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0768"/>
            <a:ext cx="8136904" cy="4813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8167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smtClean="0"/>
              <a:t>  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Classifications</a:t>
            </a:r>
            <a:r>
              <a:rPr lang="da-DK" dirty="0" smtClean="0"/>
              <a:t>: ”Activity </a:t>
            </a:r>
            <a:r>
              <a:rPr lang="da-DK" dirty="0" err="1" smtClean="0"/>
              <a:t>codes</a:t>
            </a:r>
            <a:r>
              <a:rPr lang="da-DK" dirty="0" smtClean="0"/>
              <a:t> – NACE”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23</a:t>
            </a:fld>
            <a:endParaRPr lang="da-DK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186" y="1772816"/>
            <a:ext cx="630555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0347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smtClean="0"/>
              <a:t>   </a:t>
            </a:r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Registers and variables - list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24</a:t>
            </a:fld>
            <a:endParaRPr lang="da-DK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268760"/>
            <a:ext cx="6899732" cy="4627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5051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Registers and variables – ”Person </a:t>
            </a:r>
            <a:r>
              <a:rPr lang="da-DK" dirty="0" err="1" smtClean="0"/>
              <a:t>gender</a:t>
            </a:r>
            <a:r>
              <a:rPr lang="da-DK" dirty="0" smtClean="0"/>
              <a:t>”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25</a:t>
            </a:fld>
            <a:endParaRPr lang="da-DK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28800"/>
            <a:ext cx="7813700" cy="4328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120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800" i="1" dirty="0" smtClean="0"/>
              <a:t>Common </a:t>
            </a:r>
            <a:r>
              <a:rPr lang="en-GB" sz="2800" i="1" dirty="0" smtClean="0"/>
              <a:t>and reusable </a:t>
            </a:r>
            <a:r>
              <a:rPr lang="en-GB" sz="2800" i="1" dirty="0"/>
              <a:t>metadata require</a:t>
            </a:r>
          </a:p>
          <a:p>
            <a:r>
              <a:rPr lang="da-DK" sz="2800" dirty="0" err="1" smtClean="0"/>
              <a:t>Coordinated</a:t>
            </a:r>
            <a:r>
              <a:rPr lang="da-DK" sz="2800" dirty="0" smtClean="0"/>
              <a:t> </a:t>
            </a:r>
            <a:r>
              <a:rPr lang="da-DK" sz="2800" dirty="0" err="1" smtClean="0"/>
              <a:t>work</a:t>
            </a:r>
            <a:r>
              <a:rPr lang="da-DK" sz="2800" dirty="0" smtClean="0"/>
              <a:t> on handling metadata in relation to </a:t>
            </a:r>
            <a:r>
              <a:rPr lang="da-DK" sz="2800" dirty="0" err="1" smtClean="0"/>
              <a:t>user</a:t>
            </a:r>
            <a:r>
              <a:rPr lang="da-DK" sz="2800" dirty="0" smtClean="0"/>
              <a:t> </a:t>
            </a:r>
            <a:r>
              <a:rPr lang="da-DK" sz="2800" dirty="0" err="1" smtClean="0"/>
              <a:t>needs</a:t>
            </a:r>
            <a:r>
              <a:rPr lang="da-DK" sz="2800" dirty="0" smtClean="0"/>
              <a:t> and business processes and </a:t>
            </a:r>
            <a:r>
              <a:rPr lang="da-DK" sz="2800" dirty="0" err="1" smtClean="0"/>
              <a:t>efforts</a:t>
            </a:r>
            <a:r>
              <a:rPr lang="da-DK" sz="2800" dirty="0" smtClean="0"/>
              <a:t> in </a:t>
            </a:r>
            <a:r>
              <a:rPr lang="da-DK" sz="2800" dirty="0" err="1" smtClean="0"/>
              <a:t>developing</a:t>
            </a:r>
            <a:r>
              <a:rPr lang="da-DK" sz="2800" dirty="0" smtClean="0"/>
              <a:t> </a:t>
            </a:r>
            <a:r>
              <a:rPr lang="da-DK" sz="2800" dirty="0" err="1" smtClean="0"/>
              <a:t>precise</a:t>
            </a:r>
            <a:r>
              <a:rPr lang="da-DK" sz="2800" dirty="0"/>
              <a:t> </a:t>
            </a:r>
            <a:r>
              <a:rPr lang="da-DK" sz="2800" dirty="0" smtClean="0"/>
              <a:t>metadata </a:t>
            </a:r>
            <a:r>
              <a:rPr lang="da-DK" sz="2800" dirty="0" err="1" smtClean="0"/>
              <a:t>terminology</a:t>
            </a:r>
            <a:endParaRPr lang="en-GB" sz="2800" dirty="0" smtClean="0"/>
          </a:p>
          <a:p>
            <a:r>
              <a:rPr lang="en-GB" sz="2800" dirty="0" smtClean="0"/>
              <a:t>Development of metadata </a:t>
            </a:r>
            <a:r>
              <a:rPr lang="en-GB" sz="2800" dirty="0" smtClean="0"/>
              <a:t>terminology and </a:t>
            </a:r>
            <a:r>
              <a:rPr lang="en-GB" sz="2800" dirty="0" smtClean="0"/>
              <a:t>applications </a:t>
            </a:r>
            <a:r>
              <a:rPr lang="en-GB" sz="2800" dirty="0" smtClean="0"/>
              <a:t>require </a:t>
            </a:r>
            <a:r>
              <a:rPr lang="en-GB" sz="2800" dirty="0" smtClean="0"/>
              <a:t>careful modelling going </a:t>
            </a:r>
            <a:r>
              <a:rPr lang="en-GB" sz="2800" dirty="0" smtClean="0"/>
              <a:t>from conceptual level to physical </a:t>
            </a:r>
            <a:r>
              <a:rPr lang="en-GB" sz="2800" dirty="0" smtClean="0"/>
              <a:t>level.</a:t>
            </a:r>
          </a:p>
          <a:p>
            <a:r>
              <a:rPr lang="en-GB" sz="2800" dirty="0" smtClean="0"/>
              <a:t>Compatible fram</a:t>
            </a:r>
            <a:r>
              <a:rPr lang="en-GB" sz="2800" dirty="0" smtClean="0"/>
              <a:t>es of reference is needed to ensure common understanding</a:t>
            </a:r>
            <a:endParaRPr lang="da-DK" sz="2800" dirty="0" smtClean="0"/>
          </a:p>
          <a:p>
            <a:endParaRPr lang="da-DK" sz="2800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 smtClean="0"/>
              <a:t>Conclusions</a:t>
            </a:r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4C73271-F603-4B8B-BC48-CACE9C399C01}" type="slidenum">
              <a:rPr lang="da-DK" smtClean="0"/>
              <a:pPr/>
              <a:t>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1871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stBlue">
  <a:themeElements>
    <a:clrScheme name="Ds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BA6DD"/>
      </a:accent1>
      <a:accent2>
        <a:srgbClr val="2585B8"/>
      </a:accent2>
      <a:accent3>
        <a:srgbClr val="A0B24F"/>
      </a:accent3>
      <a:accent4>
        <a:srgbClr val="6AB24F"/>
      </a:accent4>
      <a:accent5>
        <a:srgbClr val="D73858"/>
      </a:accent5>
      <a:accent6>
        <a:srgbClr val="F79646"/>
      </a:accent6>
      <a:hlink>
        <a:srgbClr val="0000FF"/>
      </a:hlink>
      <a:folHlink>
        <a:srgbClr val="800080"/>
      </a:folHlink>
    </a:clrScheme>
    <a:fontScheme name="DST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90000"/>
          </a:schemeClr>
        </a:solidFill>
        <a:ln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st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BA6DD"/>
    </a:accent1>
    <a:accent2>
      <a:srgbClr val="2585B8"/>
    </a:accent2>
    <a:accent3>
      <a:srgbClr val="A0B24F"/>
    </a:accent3>
    <a:accent4>
      <a:srgbClr val="6AB24F"/>
    </a:accent4>
    <a:accent5>
      <a:srgbClr val="D73858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Dst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BA6DD"/>
    </a:accent1>
    <a:accent2>
      <a:srgbClr val="2585B8"/>
    </a:accent2>
    <a:accent3>
      <a:srgbClr val="A0B24F"/>
    </a:accent3>
    <a:accent4>
      <a:srgbClr val="6AB24F"/>
    </a:accent4>
    <a:accent5>
      <a:srgbClr val="D73858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Dst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BA6DD"/>
    </a:accent1>
    <a:accent2>
      <a:srgbClr val="2585B8"/>
    </a:accent2>
    <a:accent3>
      <a:srgbClr val="A0B24F"/>
    </a:accent3>
    <a:accent4>
      <a:srgbClr val="6AB24F"/>
    </a:accent4>
    <a:accent5>
      <a:srgbClr val="D73858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3855</TotalTime>
  <Words>787</Words>
  <Application>Microsoft Office PowerPoint</Application>
  <PresentationFormat>Skærmshow (4:3)</PresentationFormat>
  <Paragraphs>274</Paragraphs>
  <Slides>26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Diastitler</vt:lpstr>
      </vt:variant>
      <vt:variant>
        <vt:i4>26</vt:i4>
      </vt:variant>
    </vt:vector>
  </HeadingPairs>
  <TitlesOfParts>
    <vt:vector size="27" baseType="lpstr">
      <vt:lpstr>DstBlue</vt:lpstr>
      <vt:lpstr> Towards common metadata using GSIM and DDI 3.2   EDDI conference, Copenhagen 2-3 December 2015</vt:lpstr>
      <vt:lpstr>Agenda</vt:lpstr>
      <vt:lpstr>Vision: Integrated and reusable metadata</vt:lpstr>
      <vt:lpstr>Strategy on quality and metadata</vt:lpstr>
      <vt:lpstr>Challenges</vt:lpstr>
      <vt:lpstr>Claims</vt:lpstr>
      <vt:lpstr>Metadata, users and business processes</vt:lpstr>
      <vt:lpstr>Metadata and business processes</vt:lpstr>
      <vt:lpstr>Metadata terminology:  Reality, data and information</vt:lpstr>
      <vt:lpstr>Sharing and reusing data and metadata</vt:lpstr>
      <vt:lpstr>Frames of references related metadata terminology and statistical metadata. </vt:lpstr>
      <vt:lpstr>PowerPoint-præsentation</vt:lpstr>
      <vt:lpstr>PowerPoint-præsentation</vt:lpstr>
      <vt:lpstr>PowerPoint-præsentation</vt:lpstr>
      <vt:lpstr>Metadata for dimensional data using GSIM terminology – an example </vt:lpstr>
      <vt:lpstr>PowerPoint-præsentation</vt:lpstr>
      <vt:lpstr>PowerPoint-præsentation</vt:lpstr>
      <vt:lpstr>From GSIM to DDI 3.2 to Colectica – main activities and issues</vt:lpstr>
      <vt:lpstr>Models implemented and used in metadata portal- simplified model</vt:lpstr>
      <vt:lpstr>Statistics - list</vt:lpstr>
      <vt:lpstr>Statistics – ”public expenditure”</vt:lpstr>
      <vt:lpstr>Classifications - list</vt:lpstr>
      <vt:lpstr>Classifications: ”Activity codes – NACE”</vt:lpstr>
      <vt:lpstr>Registers and variables - list</vt:lpstr>
      <vt:lpstr>Registers and variables – ”Person gender”</vt:lpstr>
      <vt:lpstr>Conclusions</vt:lpstr>
    </vt:vector>
  </TitlesOfParts>
  <Company>Danmarks Statistik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 Statistics Denmark</dc:title>
  <dc:creator>Lars Thygesen</dc:creator>
  <cp:lastModifiedBy>Movebar</cp:lastModifiedBy>
  <cp:revision>150</cp:revision>
  <dcterms:created xsi:type="dcterms:W3CDTF">2013-10-15T07:10:57Z</dcterms:created>
  <dcterms:modified xsi:type="dcterms:W3CDTF">2015-12-02T06:21:28Z</dcterms:modified>
</cp:coreProperties>
</file>