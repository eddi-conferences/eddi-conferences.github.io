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cb004220af0346c9" Type="http://schemas.microsoft.com/office/2006/relationships/ui/extensibility" Target="customUI/customUI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9" r:id="rId4"/>
    <p:sldId id="264" r:id="rId5"/>
    <p:sldId id="306" r:id="rId6"/>
    <p:sldId id="302" r:id="rId7"/>
    <p:sldId id="303" r:id="rId8"/>
    <p:sldId id="313" r:id="rId9"/>
    <p:sldId id="307" r:id="rId10"/>
    <p:sldId id="310" r:id="rId11"/>
    <p:sldId id="283" r:id="rId12"/>
    <p:sldId id="309" r:id="rId13"/>
    <p:sldId id="285" r:id="rId14"/>
  </p:sldIdLst>
  <p:sldSz cx="9144000" cy="6858000" type="screen4x3"/>
  <p:notesSz cx="6805613" cy="99441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D69"/>
    <a:srgbClr val="0091D4"/>
    <a:srgbClr val="75B6E5"/>
    <a:srgbClr val="26A3DD"/>
    <a:srgbClr val="A3CCEE"/>
    <a:srgbClr val="CFE2F6"/>
    <a:srgbClr val="0F78C8"/>
    <a:srgbClr val="2585B8"/>
    <a:srgbClr val="4BA6DD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>
      <p:cViewPr>
        <p:scale>
          <a:sx n="100" d="100"/>
          <a:sy n="100" d="100"/>
        </p:scale>
        <p:origin x="-558" y="528"/>
      </p:cViewPr>
      <p:guideLst>
        <p:guide orient="horz" pos="4060"/>
        <p:guide pos="3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-3732" y="-120"/>
      </p:cViewPr>
      <p:guideLst>
        <p:guide orient="horz" pos="5647"/>
        <p:guide pos="23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nummer 1"/>
          <p:cNvSpPr>
            <a:spLocks noGrp="1"/>
          </p:cNvSpPr>
          <p:nvPr>
            <p:ph type="sldNum" sz="quarter" idx="3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77E02-92A6-4B9C-BBA2-74867274E378}" type="slidenum">
              <a:rPr lang="da-DK" smtClean="0"/>
              <a:t>‹nr.›</a:t>
            </a:fld>
            <a:endParaRPr lang="da-DK"/>
          </a:p>
        </p:txBody>
      </p:sp>
      <p:pic>
        <p:nvPicPr>
          <p:cNvPr id="4098" name="Picture 2" descr="Q:\PPT\SAMLING\JV\Logo2013\LogoUkPri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20" y="9278550"/>
            <a:ext cx="907415" cy="52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402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20EA3-EEEC-4EE3-8111-65C8C600CA44}" type="slidenum">
              <a:rPr lang="da-DK" smtClean="0"/>
              <a:t>‹nr.›</a:t>
            </a:fld>
            <a:endParaRPr lang="da-DK"/>
          </a:p>
        </p:txBody>
      </p:sp>
      <p:pic>
        <p:nvPicPr>
          <p:cNvPr id="8" name="Picture 2" descr="Q:\PPT\SAMLING\JV\Logo2013\LogoUkPri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20" y="9278550"/>
            <a:ext cx="907415" cy="52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26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>
          <a:xfrm>
            <a:off x="419100" y="352425"/>
            <a:ext cx="5948363" cy="4462463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>
          <a:xfrm>
            <a:off x="678775" y="5089500"/>
            <a:ext cx="5430200" cy="3915000"/>
          </a:xfrm>
        </p:spPr>
        <p:txBody>
          <a:bodyPr/>
          <a:lstStyle/>
          <a:p>
            <a:endParaRPr lang="da-DK" dirty="0">
              <a:latin typeface="Lucida Sans"/>
            </a:endParaRP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>
          <a:xfrm>
            <a:off x="3202808" y="9435646"/>
            <a:ext cx="399998" cy="350111"/>
          </a:xfrm>
        </p:spPr>
        <p:txBody>
          <a:bodyPr/>
          <a:lstStyle/>
          <a:p>
            <a:pPr algn="ctr"/>
            <a:fld id="{DC720EA3-EEEC-4EE3-8111-65C8C600CA44}" type="slidenum">
              <a:rPr lang="da-DK" smtClean="0">
                <a:latin typeface="Lucida Sans"/>
              </a:rPr>
              <a:pPr algn="ctr"/>
              <a:t>1</a:t>
            </a:fld>
            <a:endParaRPr lang="da-DK" dirty="0">
              <a:latin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747049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323528" y="332656"/>
            <a:ext cx="8352928" cy="3456384"/>
          </a:xfrm>
          <a:prstGeom prst="rect">
            <a:avLst/>
          </a:prstGeom>
          <a:solidFill>
            <a:srgbClr val="26A3D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67544" y="476672"/>
            <a:ext cx="6264696" cy="1467594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467544" y="2060848"/>
            <a:ext cx="6264696" cy="1554857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4" name="Rektangel 3"/>
          <p:cNvSpPr/>
          <p:nvPr userDrawn="1"/>
        </p:nvSpPr>
        <p:spPr>
          <a:xfrm rot="16200000" flipH="1">
            <a:off x="7997456" y="6575711"/>
            <a:ext cx="461401" cy="108450"/>
          </a:xfrm>
          <a:prstGeom prst="rect">
            <a:avLst/>
          </a:prstGeom>
          <a:solidFill>
            <a:srgbClr val="75B6E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 rot="16200000" flipH="1">
            <a:off x="7928875" y="6375773"/>
            <a:ext cx="861282" cy="108450"/>
          </a:xfrm>
          <a:prstGeom prst="rect">
            <a:avLst/>
          </a:prstGeom>
          <a:solidFill>
            <a:srgbClr val="26A3D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 userDrawn="1"/>
        </p:nvSpPr>
        <p:spPr>
          <a:xfrm rot="16200000" flipH="1">
            <a:off x="8106372" y="6421910"/>
            <a:ext cx="769002" cy="108450"/>
          </a:xfrm>
          <a:prstGeom prst="rect">
            <a:avLst/>
          </a:prstGeom>
          <a:solidFill>
            <a:srgbClr val="A3CCE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ktangel 10"/>
          <p:cNvSpPr/>
          <p:nvPr userDrawn="1"/>
        </p:nvSpPr>
        <p:spPr>
          <a:xfrm rot="16200000" flipH="1">
            <a:off x="8322321" y="6506501"/>
            <a:ext cx="599821" cy="108450"/>
          </a:xfrm>
          <a:prstGeom prst="rect">
            <a:avLst/>
          </a:prstGeom>
          <a:solidFill>
            <a:srgbClr val="0091D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0" y="5947200"/>
            <a:ext cx="931500" cy="496800"/>
          </a:xfrm>
          <a:prstGeom prst="rect">
            <a:avLst/>
          </a:prstGeom>
          <a:noFill/>
          <a:effectLst>
            <a:outerShdw blurRad="12700"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535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67544" y="1600200"/>
            <a:ext cx="8219256" cy="4525963"/>
          </a:xfrm>
        </p:spPr>
        <p:txBody>
          <a:bodyPr/>
          <a:lstStyle>
            <a:lvl1pPr marL="268288" indent="-268288">
              <a:buClr>
                <a:srgbClr val="0091D4"/>
              </a:buClr>
              <a:buSzPct val="100000"/>
              <a:buFont typeface="Wingdings" pitchFamily="2" charset="2"/>
              <a:buChar char=""/>
              <a:defRPr sz="2600" b="0">
                <a:latin typeface="Arial" pitchFamily="34" charset="0"/>
                <a:cs typeface="Arial" pitchFamily="34" charset="0"/>
              </a:defRPr>
            </a:lvl1pPr>
            <a:lvl2pPr marL="531813" indent="-263525">
              <a:buClr>
                <a:srgbClr val="0091D4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2pPr>
            <a:lvl3pPr marL="809625" indent="-266700">
              <a:buClr>
                <a:srgbClr val="0091D4"/>
              </a:buClr>
              <a:buSzPct val="100000"/>
              <a:buFontTx/>
              <a:buChar char="-"/>
              <a:defRPr sz="1800" baseline="0">
                <a:latin typeface="Arial" pitchFamily="34" charset="0"/>
              </a:defRPr>
            </a:lvl3pPr>
            <a:lvl4pPr marL="648000" indent="-180000">
              <a:buClr>
                <a:srgbClr val="2585B8"/>
              </a:buClr>
              <a:buSzPct val="60000"/>
              <a:buFont typeface="Wingdings" pitchFamily="2" charset="2"/>
              <a:buChar char="n"/>
              <a:defRPr sz="1400">
                <a:latin typeface="Lucida Sans" pitchFamily="34" charset="0"/>
              </a:defRPr>
            </a:lvl4pPr>
            <a:lvl5pPr marL="756000" indent="-180000">
              <a:buClr>
                <a:srgbClr val="2585B8"/>
              </a:buClr>
              <a:buSzPct val="50000"/>
              <a:buFont typeface="Wingdings" pitchFamily="2" charset="2"/>
              <a:buChar char="n"/>
              <a:defRPr sz="1200">
                <a:latin typeface="Lucida Sans" pitchFamily="34" charset="0"/>
              </a:defRPr>
            </a:lvl5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  <a:p>
            <a:pPr lvl="2"/>
            <a:r>
              <a:rPr lang="da-DK" noProof="0" smtClean="0"/>
              <a:t>Tredje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8" name="Rektangel 7"/>
          <p:cNvSpPr/>
          <p:nvPr userDrawn="1"/>
        </p:nvSpPr>
        <p:spPr>
          <a:xfrm>
            <a:off x="-7169" y="6165304"/>
            <a:ext cx="9151169" cy="692696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‹nr.›</a:t>
            </a:fld>
            <a:endParaRPr lang="da-DK" dirty="0"/>
          </a:p>
        </p:txBody>
      </p:sp>
      <p:grpSp>
        <p:nvGrpSpPr>
          <p:cNvPr id="14" name="Gruppe 13"/>
          <p:cNvGrpSpPr/>
          <p:nvPr userDrawn="1"/>
        </p:nvGrpSpPr>
        <p:grpSpPr>
          <a:xfrm rot="16200000" flipH="1">
            <a:off x="8156697" y="6392697"/>
            <a:ext cx="514221" cy="422476"/>
            <a:chOff x="4355976" y="4293096"/>
            <a:chExt cx="4032448" cy="2335646"/>
          </a:xfrm>
        </p:grpSpPr>
        <p:sp>
          <p:nvSpPr>
            <p:cNvPr id="15" name="Rektangel 14"/>
            <p:cNvSpPr/>
            <p:nvPr userDrawn="1"/>
          </p:nvSpPr>
          <p:spPr>
            <a:xfrm>
              <a:off x="6228184" y="4293096"/>
              <a:ext cx="216024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6" name="Rektangel 15"/>
            <p:cNvSpPr/>
            <p:nvPr userDrawn="1"/>
          </p:nvSpPr>
          <p:spPr>
            <a:xfrm>
              <a:off x="4355976" y="4903626"/>
              <a:ext cx="403244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7" name="Rektangel 16"/>
            <p:cNvSpPr/>
            <p:nvPr userDrawn="1"/>
          </p:nvSpPr>
          <p:spPr>
            <a:xfrm>
              <a:off x="4788022" y="5514155"/>
              <a:ext cx="360040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8" name="Rektangel 17"/>
            <p:cNvSpPr/>
            <p:nvPr userDrawn="1"/>
          </p:nvSpPr>
          <p:spPr>
            <a:xfrm>
              <a:off x="5580112" y="6124686"/>
              <a:ext cx="2808312" cy="504056"/>
            </a:xfrm>
            <a:prstGeom prst="rect">
              <a:avLst/>
            </a:prstGeom>
            <a:solidFill>
              <a:srgbClr val="CFE2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272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/>
          <p:cNvSpPr/>
          <p:nvPr userDrawn="1"/>
        </p:nvSpPr>
        <p:spPr>
          <a:xfrm>
            <a:off x="-7169" y="6165304"/>
            <a:ext cx="9151169" cy="692696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indhold 2"/>
          <p:cNvSpPr>
            <a:spLocks noGrp="1"/>
          </p:cNvSpPr>
          <p:nvPr>
            <p:ph idx="1"/>
          </p:nvPr>
        </p:nvSpPr>
        <p:spPr>
          <a:xfrm>
            <a:off x="467544" y="1600200"/>
            <a:ext cx="5472608" cy="4525963"/>
          </a:xfrm>
        </p:spPr>
        <p:txBody>
          <a:bodyPr/>
          <a:lstStyle>
            <a:lvl1pPr marL="268288" indent="-268288">
              <a:buClr>
                <a:srgbClr val="0091D4"/>
              </a:buClr>
              <a:buSzPct val="100000"/>
              <a:buFont typeface="Wingdings" pitchFamily="2" charset="2"/>
              <a:buChar char=""/>
              <a:defRPr sz="2600" b="0">
                <a:latin typeface="Arial" pitchFamily="34" charset="0"/>
                <a:cs typeface="Arial" pitchFamily="34" charset="0"/>
              </a:defRPr>
            </a:lvl1pPr>
            <a:lvl2pPr marL="531813" indent="-263525">
              <a:buClr>
                <a:srgbClr val="0091D4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2pPr>
            <a:lvl3pPr marL="809625" indent="-266700">
              <a:buClr>
                <a:srgbClr val="0091D4"/>
              </a:buClr>
              <a:buSzPct val="100000"/>
              <a:buFontTx/>
              <a:buChar char="-"/>
              <a:defRPr sz="1800" baseline="0">
                <a:latin typeface="Arial" pitchFamily="34" charset="0"/>
              </a:defRPr>
            </a:lvl3pPr>
            <a:lvl4pPr marL="648000" indent="-180000">
              <a:buClr>
                <a:srgbClr val="2585B8"/>
              </a:buClr>
              <a:buSzPct val="60000"/>
              <a:buFont typeface="Wingdings" pitchFamily="2" charset="2"/>
              <a:buChar char="n"/>
              <a:defRPr sz="1400">
                <a:latin typeface="Lucida Sans" pitchFamily="34" charset="0"/>
              </a:defRPr>
            </a:lvl4pPr>
            <a:lvl5pPr marL="756000" indent="-180000">
              <a:buClr>
                <a:srgbClr val="2585B8"/>
              </a:buClr>
              <a:buSzPct val="50000"/>
              <a:buFont typeface="Wingdings" pitchFamily="2" charset="2"/>
              <a:buChar char="n"/>
              <a:defRPr sz="1200">
                <a:latin typeface="Lucida Sans" pitchFamily="34" charset="0"/>
              </a:defRPr>
            </a:lvl5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  <a:p>
            <a:pPr lvl="2"/>
            <a:r>
              <a:rPr lang="da-DK" noProof="0" smtClean="0"/>
              <a:t>Tredje niveau</a:t>
            </a:r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56176" y="1628800"/>
            <a:ext cx="2530624" cy="4536504"/>
          </a:xfrm>
          <a:solidFill>
            <a:srgbClr val="0091D4">
              <a:alpha val="80000"/>
            </a:srgbClr>
          </a:solidFill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6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144000" indent="0">
              <a:buFontTx/>
              <a:buNone/>
              <a:defRPr sz="2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288000" indent="0">
              <a:buFontTx/>
              <a:buNone/>
              <a:defRPr sz="1800">
                <a:solidFill>
                  <a:schemeClr val="bg1"/>
                </a:solidFill>
                <a:latin typeface="Lucida Sans" pitchFamily="34" charset="0"/>
              </a:defRPr>
            </a:lvl3pPr>
            <a:lvl4pPr marL="432000" indent="0">
              <a:buFontTx/>
              <a:buNone/>
              <a:defRPr sz="1600">
                <a:solidFill>
                  <a:schemeClr val="bg1"/>
                </a:solidFill>
                <a:latin typeface="Lucida Sans" pitchFamily="34" charset="0"/>
              </a:defRPr>
            </a:lvl4pPr>
            <a:lvl5pPr marL="576000" indent="0">
              <a:buFontTx/>
              <a:buNone/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</p:txBody>
      </p:sp>
      <p:sp>
        <p:nvSpPr>
          <p:cNvPr id="12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‹nr.›</a:t>
            </a:fld>
            <a:endParaRPr lang="da-DK" dirty="0"/>
          </a:p>
        </p:txBody>
      </p:sp>
      <p:grpSp>
        <p:nvGrpSpPr>
          <p:cNvPr id="13" name="Gruppe 12"/>
          <p:cNvGrpSpPr/>
          <p:nvPr userDrawn="1"/>
        </p:nvGrpSpPr>
        <p:grpSpPr>
          <a:xfrm rot="16200000" flipH="1">
            <a:off x="8156697" y="6392697"/>
            <a:ext cx="514221" cy="422476"/>
            <a:chOff x="4355976" y="4293096"/>
            <a:chExt cx="4032448" cy="2335646"/>
          </a:xfrm>
        </p:grpSpPr>
        <p:sp>
          <p:nvSpPr>
            <p:cNvPr id="14" name="Rektangel 13"/>
            <p:cNvSpPr/>
            <p:nvPr userDrawn="1"/>
          </p:nvSpPr>
          <p:spPr>
            <a:xfrm>
              <a:off x="6228184" y="4293096"/>
              <a:ext cx="216024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6" name="Rektangel 15"/>
            <p:cNvSpPr/>
            <p:nvPr userDrawn="1"/>
          </p:nvSpPr>
          <p:spPr>
            <a:xfrm>
              <a:off x="4355976" y="4903626"/>
              <a:ext cx="403244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7" name="Rektangel 16"/>
            <p:cNvSpPr/>
            <p:nvPr userDrawn="1"/>
          </p:nvSpPr>
          <p:spPr>
            <a:xfrm>
              <a:off x="4788022" y="5514155"/>
              <a:ext cx="360040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8" name="Rektangel 17"/>
            <p:cNvSpPr/>
            <p:nvPr userDrawn="1"/>
          </p:nvSpPr>
          <p:spPr>
            <a:xfrm>
              <a:off x="5580112" y="6124686"/>
              <a:ext cx="2808312" cy="504056"/>
            </a:xfrm>
            <a:prstGeom prst="rect">
              <a:avLst/>
            </a:prstGeom>
            <a:solidFill>
              <a:srgbClr val="CFE2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22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258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ktangel 25"/>
          <p:cNvSpPr/>
          <p:nvPr userDrawn="1"/>
        </p:nvSpPr>
        <p:spPr>
          <a:xfrm>
            <a:off x="0" y="6165304"/>
            <a:ext cx="9144001" cy="695743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8" name="Pladsholder til indhold 3"/>
          <p:cNvSpPr>
            <a:spLocks noGrp="1"/>
          </p:cNvSpPr>
          <p:nvPr>
            <p:ph sz="half" idx="2"/>
          </p:nvPr>
        </p:nvSpPr>
        <p:spPr>
          <a:xfrm>
            <a:off x="6156176" y="1628800"/>
            <a:ext cx="2530624" cy="4536504"/>
          </a:xfrm>
          <a:solidFill>
            <a:srgbClr val="0091D4">
              <a:alpha val="80000"/>
            </a:srgbClr>
          </a:solidFill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6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144000" indent="0">
              <a:buFontTx/>
              <a:buNone/>
              <a:defRPr sz="2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288000" indent="0">
              <a:buFontTx/>
              <a:buNone/>
              <a:defRPr sz="1800">
                <a:solidFill>
                  <a:schemeClr val="bg1"/>
                </a:solidFill>
                <a:latin typeface="Lucida Sans" pitchFamily="34" charset="0"/>
              </a:defRPr>
            </a:lvl3pPr>
            <a:lvl4pPr marL="432000" indent="0">
              <a:buFontTx/>
              <a:buNone/>
              <a:defRPr sz="1600">
                <a:solidFill>
                  <a:schemeClr val="bg1"/>
                </a:solidFill>
                <a:latin typeface="Lucida Sans" pitchFamily="34" charset="0"/>
              </a:defRPr>
            </a:lvl4pPr>
            <a:lvl5pPr marL="576000" indent="0">
              <a:buFontTx/>
              <a:buNone/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</p:txBody>
      </p:sp>
      <p:sp>
        <p:nvSpPr>
          <p:cNvPr id="38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 dirty="0"/>
          </a:p>
        </p:txBody>
      </p:sp>
      <p:grpSp>
        <p:nvGrpSpPr>
          <p:cNvPr id="14" name="Gruppe 13"/>
          <p:cNvGrpSpPr/>
          <p:nvPr userDrawn="1"/>
        </p:nvGrpSpPr>
        <p:grpSpPr>
          <a:xfrm rot="16200000" flipH="1">
            <a:off x="8156697" y="6392697"/>
            <a:ext cx="514221" cy="422476"/>
            <a:chOff x="4355976" y="4293096"/>
            <a:chExt cx="4032448" cy="2335646"/>
          </a:xfrm>
        </p:grpSpPr>
        <p:sp>
          <p:nvSpPr>
            <p:cNvPr id="15" name="Rektangel 14"/>
            <p:cNvSpPr/>
            <p:nvPr userDrawn="1"/>
          </p:nvSpPr>
          <p:spPr>
            <a:xfrm>
              <a:off x="6228184" y="4293096"/>
              <a:ext cx="216024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6" name="Rektangel 15"/>
            <p:cNvSpPr/>
            <p:nvPr userDrawn="1"/>
          </p:nvSpPr>
          <p:spPr>
            <a:xfrm>
              <a:off x="4355976" y="4903626"/>
              <a:ext cx="403244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7" name="Rektangel 16"/>
            <p:cNvSpPr/>
            <p:nvPr userDrawn="1"/>
          </p:nvSpPr>
          <p:spPr>
            <a:xfrm>
              <a:off x="4788022" y="5514155"/>
              <a:ext cx="3600400" cy="504056"/>
            </a:xfrm>
            <a:prstGeom prst="rect">
              <a:avLst/>
            </a:prstGeom>
            <a:solidFill>
              <a:srgbClr val="A3C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9" name="Rektangel 18"/>
            <p:cNvSpPr/>
            <p:nvPr userDrawn="1"/>
          </p:nvSpPr>
          <p:spPr>
            <a:xfrm>
              <a:off x="5580112" y="6124686"/>
              <a:ext cx="2808312" cy="504056"/>
            </a:xfrm>
            <a:prstGeom prst="rect">
              <a:avLst/>
            </a:prstGeom>
            <a:solidFill>
              <a:srgbClr val="CFE2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653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smtClean="0"/>
              <a:t>Klik for at redigere i master</a:t>
            </a:r>
            <a:endParaRPr lang="en-GB" noProof="0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smtClean="0"/>
              <a:t>Klik for at redigere i master</a:t>
            </a:r>
          </a:p>
          <a:p>
            <a:pPr lvl="1"/>
            <a:r>
              <a:rPr lang="en-GB" noProof="0" smtClean="0"/>
              <a:t>Andet niveau</a:t>
            </a:r>
          </a:p>
          <a:p>
            <a:pPr lvl="2"/>
            <a:r>
              <a:rPr lang="en-GB" noProof="0" smtClean="0"/>
              <a:t>Tredje niveau</a:t>
            </a:r>
          </a:p>
          <a:p>
            <a:pPr lvl="3"/>
            <a:r>
              <a:rPr lang="en-GB" noProof="0" smtClean="0"/>
              <a:t>Fjerde niveau</a:t>
            </a:r>
          </a:p>
          <a:p>
            <a:pPr lvl="4"/>
            <a:r>
              <a:rPr lang="en-GB" noProof="0" smtClean="0"/>
              <a:t>Femte niveau</a:t>
            </a:r>
            <a:endParaRPr lang="en-GB" noProof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ucida Sans"/>
              </a:defRPr>
            </a:lvl1pPr>
          </a:lstStyle>
          <a:p>
            <a:fld id="{BE0DDEB0-2A7A-4824-9558-A361FF9FC87C}" type="datetime4">
              <a:rPr lang="en-US" smtClean="0"/>
              <a:t>December 2, 2015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496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</p:sldLayoutIdLst>
  <p:timing>
    <p:tnLst>
      <p:par>
        <p:cTn id="1" dur="indefinite" restart="never" nodeType="tmRoot"/>
      </p:par>
    </p:tnLst>
  </p:timing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drs@dst.d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467544" y="476672"/>
            <a:ext cx="7344816" cy="14675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Classifications </a:t>
            </a:r>
            <a:r>
              <a:rPr lang="en-US" dirty="0"/>
              <a:t>in Statistics Denmark – current situation and steps towards a DDI-based classification system</a:t>
            </a:r>
            <a:endParaRPr lang="en-GB" dirty="0"/>
          </a:p>
        </p:txBody>
      </p:sp>
      <p:sp>
        <p:nvSpPr>
          <p:cNvPr id="7" name="Undertitel 6"/>
          <p:cNvSpPr>
            <a:spLocks noGrp="1"/>
          </p:cNvSpPr>
          <p:nvPr>
            <p:ph type="subTitle" idx="1"/>
          </p:nvPr>
        </p:nvSpPr>
        <p:spPr>
          <a:xfrm>
            <a:off x="467544" y="2060848"/>
            <a:ext cx="7920880" cy="1554857"/>
          </a:xfrm>
        </p:spPr>
        <p:txBody>
          <a:bodyPr>
            <a:normAutofit fontScale="85000" lnSpcReduction="20000"/>
          </a:bodyPr>
          <a:lstStyle/>
          <a:p>
            <a:pPr algn="ctr"/>
            <a:endParaRPr lang="en-GB" sz="2400" b="1" dirty="0" smtClean="0">
              <a:solidFill>
                <a:srgbClr val="000000"/>
              </a:solidFill>
              <a:latin typeface="Calibri" pitchFamily="34" charset="0"/>
              <a:cs typeface="Droid Sans Fallback"/>
            </a:endParaRPr>
          </a:p>
          <a:p>
            <a:pPr algn="ctr"/>
            <a:endParaRPr lang="en-GB" sz="2400" b="1" dirty="0" smtClean="0">
              <a:solidFill>
                <a:srgbClr val="000000"/>
              </a:solidFill>
              <a:latin typeface="Calibri" pitchFamily="34" charset="0"/>
              <a:cs typeface="Droid Sans Fallback"/>
            </a:endParaRPr>
          </a:p>
          <a:p>
            <a:pPr algn="ctr"/>
            <a:r>
              <a:rPr lang="en-GB" sz="2400" b="1" dirty="0" smtClean="0">
                <a:solidFill>
                  <a:srgbClr val="000000"/>
                </a:solidFill>
                <a:latin typeface="Calibri" pitchFamily="34" charset="0"/>
                <a:cs typeface="Droid Sans Fallback"/>
              </a:rPr>
              <a:t>EDDI15, Dec 1-4</a:t>
            </a:r>
            <a:endParaRPr lang="en-GB" sz="2400" b="1" dirty="0">
              <a:solidFill>
                <a:srgbClr val="000000"/>
              </a:solidFill>
              <a:latin typeface="Calibri" pitchFamily="34" charset="0"/>
              <a:cs typeface="Droid Sans Fallback"/>
            </a:endParaRPr>
          </a:p>
          <a:p>
            <a:pPr algn="r"/>
            <a:endParaRPr lang="en-GB" sz="1400" b="1" dirty="0" smtClean="0">
              <a:solidFill>
                <a:srgbClr val="000000"/>
              </a:solidFill>
              <a:latin typeface="Calibri" pitchFamily="34" charset="0"/>
              <a:cs typeface="Droid Sans Fallback"/>
            </a:endParaRPr>
          </a:p>
          <a:p>
            <a:pPr algn="r"/>
            <a:endParaRPr lang="en-GB" sz="1400" b="1" dirty="0">
              <a:solidFill>
                <a:srgbClr val="000000"/>
              </a:solidFill>
              <a:latin typeface="Calibri" pitchFamily="34" charset="0"/>
              <a:cs typeface="Droid Sans Fallback"/>
            </a:endParaRPr>
          </a:p>
          <a:p>
            <a:pPr algn="r"/>
            <a:r>
              <a:rPr lang="en-GB" sz="1400" b="1" dirty="0" smtClean="0">
                <a:solidFill>
                  <a:srgbClr val="000000"/>
                </a:solidFill>
                <a:latin typeface="Calibri" pitchFamily="34" charset="0"/>
                <a:cs typeface="Droid Sans Fallback"/>
              </a:rPr>
              <a:t>Diana </a:t>
            </a:r>
            <a:r>
              <a:rPr lang="en-GB" sz="1400" b="1" dirty="0">
                <a:solidFill>
                  <a:srgbClr val="000000"/>
                </a:solidFill>
                <a:latin typeface="Calibri" pitchFamily="34" charset="0"/>
                <a:cs typeface="Droid Sans Fallback"/>
              </a:rPr>
              <a:t>Ransgaard </a:t>
            </a:r>
            <a:r>
              <a:rPr lang="en-GB" sz="1400" b="1" dirty="0" smtClean="0">
                <a:solidFill>
                  <a:srgbClr val="000000"/>
                </a:solidFill>
                <a:latin typeface="Calibri" pitchFamily="34" charset="0"/>
                <a:cs typeface="Droid Sans Fallback"/>
              </a:rPr>
              <a:t>Sørensen (</a:t>
            </a:r>
            <a:r>
              <a:rPr lang="en-GB" sz="1400" b="1" dirty="0" smtClean="0">
                <a:solidFill>
                  <a:srgbClr val="000000"/>
                </a:solidFill>
                <a:latin typeface="Calibri" pitchFamily="34" charset="0"/>
                <a:cs typeface="Droid Sans Fallback"/>
                <a:hlinkClick r:id="rId4"/>
              </a:rPr>
              <a:t>drs@dst.dk</a:t>
            </a:r>
            <a:r>
              <a:rPr lang="en-GB" sz="1400" b="1" dirty="0" smtClean="0">
                <a:solidFill>
                  <a:srgbClr val="000000"/>
                </a:solidFill>
                <a:latin typeface="Calibri" pitchFamily="34" charset="0"/>
                <a:cs typeface="Droid Sans Fallback"/>
              </a:rPr>
              <a:t>), Statistics </a:t>
            </a:r>
            <a:r>
              <a:rPr lang="en-GB" sz="1400" b="1" dirty="0">
                <a:solidFill>
                  <a:srgbClr val="000000"/>
                </a:solidFill>
                <a:latin typeface="Calibri" pitchFamily="34" charset="0"/>
                <a:cs typeface="Droid Sans Fallback"/>
              </a:rPr>
              <a:t>Denmark</a:t>
            </a:r>
          </a:p>
          <a:p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41948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sz="2800" dirty="0" smtClean="0"/>
              <a:t>Vision and ongoing work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da-DK" sz="2800" dirty="0" smtClean="0"/>
              <a:t>Existing business processes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da-DK" sz="2800" dirty="0" smtClean="0"/>
              <a:t>New </a:t>
            </a:r>
            <a:r>
              <a:rPr lang="da-DK" sz="2800" dirty="0"/>
              <a:t>business </a:t>
            </a:r>
            <a:r>
              <a:rPr lang="da-DK" sz="2800" dirty="0" smtClean="0"/>
              <a:t>processes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da-DK" sz="2800" dirty="0" smtClean="0"/>
              <a:t>Prototype</a:t>
            </a:r>
            <a:endParaRPr lang="da-DK" sz="28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800" dirty="0" smtClean="0"/>
              <a:t>Next step: Plans for 2016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Agenda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1028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Vision: Integrated and </a:t>
            </a:r>
            <a:r>
              <a:rPr lang="da-DK" dirty="0" err="1" smtClean="0"/>
              <a:t>reusable</a:t>
            </a:r>
            <a:r>
              <a:rPr lang="da-DK" dirty="0" smtClean="0"/>
              <a:t> metadata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6" name="Pladsholder til diasnummer 3"/>
          <p:cNvSpPr txBox="1">
            <a:spLocks/>
          </p:cNvSpPr>
          <p:nvPr/>
        </p:nvSpPr>
        <p:spPr bwMode="auto">
          <a:xfrm>
            <a:off x="8691563" y="6513513"/>
            <a:ext cx="417512" cy="271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defRPr sz="32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1pPr>
            <a:lvl2pPr marL="457200" algn="l" defTabSz="914400" rtl="0" eaLnBrk="1" latinLnBrk="0" hangingPunct="1"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defRPr sz="28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2pPr>
            <a:lvl3pPr marL="914400" algn="l" defTabSz="914400" rtl="0" eaLnBrk="1" latinLnBrk="0" hangingPunct="1"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defRPr sz="24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3pPr>
            <a:lvl4pPr marL="1371600" algn="l" defTabSz="914400" rtl="0" eaLnBrk="1" latinLnBrk="0" hangingPunct="1"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4pPr>
            <a:lvl5pPr marL="1828800" algn="l" defTabSz="914400" rtl="0" eaLnBrk="1" latinLnBrk="0" hangingPunct="1"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5pPr>
            <a:lvl6pPr marL="2514600" indent="-228600" algn="l" defTabSz="457200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6pPr>
            <a:lvl7pPr marL="2971800" indent="-228600" algn="l" defTabSz="457200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7pPr>
            <a:lvl8pPr marL="3429000" indent="-228600" algn="l" defTabSz="457200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8pPr>
            <a:lvl9pPr marL="3886200" indent="-228600" algn="l" defTabSz="457200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9pPr>
          </a:lstStyle>
          <a:p>
            <a:pPr>
              <a:spcBef>
                <a:spcPct val="0"/>
              </a:spcBef>
            </a:pPr>
            <a:endParaRPr lang="da-DK" altLang="da-DK" sz="1800" dirty="0">
              <a:solidFill>
                <a:srgbClr val="898989"/>
              </a:solidFill>
              <a:cs typeface="Arial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946150" y="3675063"/>
            <a:ext cx="2114550" cy="446087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Hvad betyder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132138" y="2149475"/>
            <a:ext cx="3109912" cy="446088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 dirty="0" err="1" smtClean="0">
                <a:solidFill>
                  <a:schemeClr val="tx1"/>
                </a:solidFill>
                <a:latin typeface="AvantGarde" charset="0"/>
              </a:rPr>
              <a:t>Documentation</a:t>
            </a:r>
            <a:r>
              <a:rPr lang="da-DK" altLang="da-DK" dirty="0" smtClean="0">
                <a:solidFill>
                  <a:schemeClr val="tx1"/>
                </a:solidFill>
                <a:latin typeface="AvantGarde" charset="0"/>
              </a:rPr>
              <a:t> of </a:t>
            </a:r>
            <a:r>
              <a:rPr lang="da-DK" altLang="da-DK" dirty="0" err="1" smtClean="0">
                <a:solidFill>
                  <a:schemeClr val="tx1"/>
                </a:solidFill>
                <a:latin typeface="AvantGarde" charset="0"/>
              </a:rPr>
              <a:t>statistics</a:t>
            </a:r>
            <a:endParaRPr lang="da-DK" altLang="da-DK" dirty="0">
              <a:solidFill>
                <a:schemeClr val="tx1"/>
              </a:solidFill>
              <a:latin typeface="AvantGarde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316663" y="3224213"/>
            <a:ext cx="2359025" cy="446087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Variable/dataset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39750" y="3225800"/>
            <a:ext cx="2522538" cy="449263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Concept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316663" y="3670300"/>
            <a:ext cx="2359025" cy="446088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Variabeldatabase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3306763" y="5286375"/>
            <a:ext cx="2765425" cy="446088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Klassifikationsdatabase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306763" y="4838700"/>
            <a:ext cx="2765425" cy="44608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Classifications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549650" y="1700213"/>
            <a:ext cx="2278063" cy="44767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Methods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687888" y="2720975"/>
            <a:ext cx="0" cy="19827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 flipV="1">
            <a:off x="1976016" y="2393157"/>
            <a:ext cx="1076325" cy="6953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6295231" y="2393157"/>
            <a:ext cx="863600" cy="6953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2268538" y="4221163"/>
            <a:ext cx="863600" cy="8413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 flipV="1">
            <a:off x="6242050" y="4257675"/>
            <a:ext cx="969963" cy="7683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3306763" y="3670300"/>
            <a:ext cx="2765425" cy="476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3319463" y="5286375"/>
            <a:ext cx="2765425" cy="446088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 dirty="0" err="1" smtClean="0">
                <a:solidFill>
                  <a:schemeClr val="tx1"/>
                </a:solidFill>
                <a:latin typeface="AvantGarde" charset="0"/>
              </a:rPr>
              <a:t>Classification</a:t>
            </a:r>
            <a:r>
              <a:rPr lang="da-DK" altLang="da-DK" dirty="0" smtClean="0">
                <a:solidFill>
                  <a:schemeClr val="tx1"/>
                </a:solidFill>
                <a:latin typeface="AvantGarde" charset="0"/>
              </a:rPr>
              <a:t> database</a:t>
            </a:r>
            <a:endParaRPr lang="da-DK" altLang="da-DK" dirty="0">
              <a:solidFill>
                <a:schemeClr val="tx1"/>
              </a:solidFill>
              <a:latin typeface="AvantGarde" charset="0"/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539750" y="3671888"/>
            <a:ext cx="2522538" cy="447675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 dirty="0" err="1" smtClean="0">
                <a:solidFill>
                  <a:schemeClr val="tx1"/>
                </a:solidFill>
                <a:latin typeface="AvantGarde" charset="0"/>
              </a:rPr>
              <a:t>Concept</a:t>
            </a:r>
            <a:r>
              <a:rPr lang="da-DK" altLang="da-DK" dirty="0" smtClean="0">
                <a:solidFill>
                  <a:schemeClr val="tx1"/>
                </a:solidFill>
                <a:latin typeface="AvantGarde" charset="0"/>
              </a:rPr>
              <a:t> database</a:t>
            </a:r>
            <a:endParaRPr lang="da-DK" altLang="da-DK" dirty="0">
              <a:solidFill>
                <a:schemeClr val="tx1"/>
              </a:solidFill>
              <a:latin typeface="AvantGar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5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rgbClr val="000000"/>
                </a:solidFill>
              </a:rPr>
              <a:t>Little reuse</a:t>
            </a:r>
          </a:p>
          <a:p>
            <a:pPr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rgbClr val="000000"/>
                </a:solidFill>
              </a:rPr>
              <a:t>Existing database not widely used </a:t>
            </a:r>
            <a:endParaRPr lang="en-US" sz="2800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rgbClr val="000000"/>
                </a:solidFill>
              </a:rPr>
              <a:t>Parallel </a:t>
            </a:r>
            <a:r>
              <a:rPr lang="en-US" sz="2800" smtClean="0">
                <a:solidFill>
                  <a:srgbClr val="000000"/>
                </a:solidFill>
              </a:rPr>
              <a:t>classification </a:t>
            </a:r>
            <a:r>
              <a:rPr lang="en-US" sz="2800" smtClean="0">
                <a:solidFill>
                  <a:srgbClr val="000000"/>
                </a:solidFill>
              </a:rPr>
              <a:t>systems</a:t>
            </a:r>
            <a:endParaRPr lang="en-US" sz="2800" dirty="0" smtClean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da-DK" sz="2800" dirty="0" smtClean="0">
                <a:solidFill>
                  <a:srgbClr val="000000"/>
                </a:solidFill>
              </a:rPr>
              <a:t>Standards </a:t>
            </a:r>
            <a:r>
              <a:rPr lang="da-DK" sz="2800" dirty="0">
                <a:solidFill>
                  <a:srgbClr val="000000"/>
                </a:solidFill>
              </a:rPr>
              <a:t>not </a:t>
            </a:r>
            <a:r>
              <a:rPr lang="da-DK" sz="2800" dirty="0" err="1" smtClean="0">
                <a:solidFill>
                  <a:srgbClr val="000000"/>
                </a:solidFill>
              </a:rPr>
              <a:t>implemented</a:t>
            </a:r>
            <a:endParaRPr lang="da-DK" sz="2800" dirty="0" smtClean="0">
              <a:solidFill>
                <a:srgbClr val="000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None/>
              <a:defRPr/>
            </a:pPr>
            <a:endParaRPr lang="da-DK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Challenges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0273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sz="2000" b="1" dirty="0" smtClean="0"/>
              <a:t>Standards</a:t>
            </a:r>
          </a:p>
          <a:p>
            <a:r>
              <a:rPr lang="da-DK" sz="2000" dirty="0" smtClean="0"/>
              <a:t>GSIM (</a:t>
            </a:r>
            <a:r>
              <a:rPr lang="da-DK" sz="2000" dirty="0" err="1" smtClean="0"/>
              <a:t>Generic</a:t>
            </a:r>
            <a:r>
              <a:rPr lang="da-DK" sz="2000" dirty="0" smtClean="0"/>
              <a:t> </a:t>
            </a:r>
            <a:r>
              <a:rPr lang="da-DK" sz="2000" dirty="0"/>
              <a:t>S</a:t>
            </a:r>
            <a:r>
              <a:rPr lang="da-DK" sz="2000" dirty="0" smtClean="0"/>
              <a:t>tatistical Information Model)</a:t>
            </a:r>
            <a:endParaRPr lang="da-DK" sz="2000" dirty="0"/>
          </a:p>
          <a:p>
            <a:pPr lvl="1"/>
            <a:r>
              <a:rPr lang="da-DK" sz="1600" dirty="0" smtClean="0"/>
              <a:t>A </a:t>
            </a:r>
            <a:r>
              <a:rPr lang="en-US" sz="1600" dirty="0" smtClean="0"/>
              <a:t>common language/terminology</a:t>
            </a:r>
            <a:endParaRPr lang="en-US" sz="1600" dirty="0"/>
          </a:p>
          <a:p>
            <a:pPr lvl="1"/>
            <a:r>
              <a:rPr lang="en-US" sz="1600" dirty="0"/>
              <a:t>Clarifying basic concepts </a:t>
            </a:r>
            <a:endParaRPr lang="da-DK" sz="1600" dirty="0"/>
          </a:p>
          <a:p>
            <a:r>
              <a:rPr lang="da-DK" sz="2000" dirty="0"/>
              <a:t>The Copenhagen </a:t>
            </a:r>
            <a:r>
              <a:rPr lang="da-DK" sz="2000" dirty="0" err="1"/>
              <a:t>mapping</a:t>
            </a:r>
            <a:r>
              <a:rPr lang="da-DK" sz="2000" dirty="0"/>
              <a:t> </a:t>
            </a:r>
          </a:p>
          <a:p>
            <a:endParaRPr lang="da-DK" sz="2000" dirty="0" smtClean="0"/>
          </a:p>
          <a:p>
            <a:pPr marL="0" indent="0">
              <a:buNone/>
            </a:pPr>
            <a:r>
              <a:rPr lang="da-DK" sz="2000" b="1" dirty="0"/>
              <a:t>Business processes </a:t>
            </a:r>
          </a:p>
          <a:p>
            <a:r>
              <a:rPr lang="da-DK" sz="2000" dirty="0"/>
              <a:t>B</a:t>
            </a:r>
            <a:r>
              <a:rPr lang="da-DK" sz="2000" dirty="0" smtClean="0"/>
              <a:t>usiness </a:t>
            </a:r>
            <a:r>
              <a:rPr lang="da-DK" sz="2000" dirty="0"/>
              <a:t>processes (</a:t>
            </a:r>
            <a:r>
              <a:rPr lang="da-DK" sz="2000" dirty="0" err="1"/>
              <a:t>how</a:t>
            </a:r>
            <a:r>
              <a:rPr lang="da-DK" sz="2000" dirty="0"/>
              <a:t> </a:t>
            </a:r>
            <a:r>
              <a:rPr lang="da-DK" sz="2000" dirty="0" err="1"/>
              <a:t>are</a:t>
            </a:r>
            <a:r>
              <a:rPr lang="da-DK" sz="2000" dirty="0"/>
              <a:t> </a:t>
            </a:r>
            <a:r>
              <a:rPr lang="da-DK" sz="2000" dirty="0" err="1" smtClean="0"/>
              <a:t>classifications</a:t>
            </a:r>
            <a:r>
              <a:rPr lang="da-DK" sz="2000" dirty="0" smtClean="0"/>
              <a:t> </a:t>
            </a:r>
            <a:r>
              <a:rPr lang="da-DK" sz="2000" dirty="0" err="1"/>
              <a:t>being</a:t>
            </a:r>
            <a:r>
              <a:rPr lang="da-DK" sz="2000" dirty="0"/>
              <a:t> </a:t>
            </a:r>
            <a:r>
              <a:rPr lang="da-DK" sz="2000" dirty="0" err="1"/>
              <a:t>used</a:t>
            </a:r>
            <a:r>
              <a:rPr lang="da-DK" sz="2000" dirty="0"/>
              <a:t>)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smtClean="0"/>
              <a:t>Initiation of </a:t>
            </a:r>
            <a:r>
              <a:rPr lang="da-DK" dirty="0" err="1" smtClean="0"/>
              <a:t>work</a:t>
            </a:r>
            <a:r>
              <a:rPr lang="da-DK" dirty="0" smtClean="0"/>
              <a:t> on </a:t>
            </a:r>
            <a:r>
              <a:rPr lang="da-DK" dirty="0" err="1" smtClean="0"/>
              <a:t>classifications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1361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>
          <a:xfrm>
            <a:off x="467544" y="1700808"/>
            <a:ext cx="8219256" cy="4425355"/>
          </a:xfrm>
        </p:spPr>
        <p:txBody>
          <a:bodyPr/>
          <a:lstStyle/>
          <a:p>
            <a:r>
              <a:rPr lang="en-US" sz="2000" dirty="0" smtClean="0"/>
              <a:t>Implements </a:t>
            </a:r>
            <a:r>
              <a:rPr lang="en-US" sz="2000" dirty="0"/>
              <a:t>the GSIM Statistical Classifications Model with DDI </a:t>
            </a:r>
            <a:r>
              <a:rPr lang="en-US" sz="2000" dirty="0" smtClean="0"/>
              <a:t>Lifecycle.</a:t>
            </a:r>
          </a:p>
          <a:p>
            <a:r>
              <a:rPr lang="en-US" sz="2000" dirty="0" smtClean="0"/>
              <a:t>Describes:</a:t>
            </a:r>
          </a:p>
          <a:p>
            <a:pPr lvl="1">
              <a:buFontTx/>
              <a:buChar char="-"/>
            </a:pPr>
            <a:r>
              <a:rPr lang="en-US" sz="1600" dirty="0" smtClean="0"/>
              <a:t>how </a:t>
            </a:r>
            <a:r>
              <a:rPr lang="en-US" sz="1600" dirty="0"/>
              <a:t>the GSIM terminology for statistical classifications maps to DDI </a:t>
            </a:r>
            <a:r>
              <a:rPr lang="en-US" sz="1600" dirty="0" smtClean="0"/>
              <a:t>3.2</a:t>
            </a:r>
          </a:p>
          <a:p>
            <a:pPr lvl="1">
              <a:buFontTx/>
              <a:buChar char="-"/>
            </a:pPr>
            <a:r>
              <a:rPr lang="en-US" sz="1600" dirty="0" smtClean="0"/>
              <a:t>offer </a:t>
            </a:r>
            <a:r>
              <a:rPr lang="en-US" sz="1600" dirty="0"/>
              <a:t>a set of controlled </a:t>
            </a:r>
            <a:r>
              <a:rPr lang="en-US" sz="1600" dirty="0" smtClean="0"/>
              <a:t>vocabularies.</a:t>
            </a:r>
          </a:p>
          <a:p>
            <a:pPr lvl="1">
              <a:buFontTx/>
              <a:buChar char="-"/>
            </a:pPr>
            <a:endParaRPr lang="en-US" sz="1600" dirty="0"/>
          </a:p>
          <a:p>
            <a:pPr marL="268288" lvl="1" indent="0">
              <a:buNone/>
            </a:pPr>
            <a:r>
              <a:rPr lang="en-US" sz="1600" dirty="0" smtClean="0"/>
              <a:t>Example:</a:t>
            </a:r>
          </a:p>
          <a:p>
            <a:pPr marL="268288" lvl="1" indent="0">
              <a:buNone/>
            </a:pPr>
            <a:endParaRPr lang="en-US" sz="1600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282154"/>
          </a:xfrm>
        </p:spPr>
        <p:txBody>
          <a:bodyPr>
            <a:normAutofit/>
          </a:bodyPr>
          <a:lstStyle/>
          <a:p>
            <a:r>
              <a:rPr lang="da-DK" dirty="0" smtClean="0"/>
              <a:t>The Copenhagen </a:t>
            </a:r>
            <a:r>
              <a:rPr lang="da-DK" dirty="0" err="1" smtClean="0"/>
              <a:t>mapping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6</a:t>
            </a:fld>
            <a:endParaRPr lang="da-DK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583" y="3985989"/>
            <a:ext cx="66579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374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Existing business processes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6" name="Pladsholder til indhold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96752"/>
            <a:ext cx="5418232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75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New </a:t>
            </a:r>
            <a:r>
              <a:rPr lang="da-DK" dirty="0"/>
              <a:t>business processes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8</a:t>
            </a:fld>
            <a:endParaRPr lang="da-DK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269" y="1412776"/>
            <a:ext cx="4901487" cy="4617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154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Prototype: a </a:t>
            </a:r>
            <a:r>
              <a:rPr lang="da-DK" dirty="0" err="1" smtClean="0"/>
              <a:t>common</a:t>
            </a:r>
            <a:r>
              <a:rPr lang="da-DK" dirty="0" smtClean="0"/>
              <a:t> </a:t>
            </a:r>
            <a:r>
              <a:rPr lang="da-DK" dirty="0" err="1" smtClean="0"/>
              <a:t>classification</a:t>
            </a:r>
            <a:r>
              <a:rPr lang="da-DK" dirty="0" smtClean="0"/>
              <a:t> system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9</a:t>
            </a:fld>
            <a:endParaRPr lang="da-DK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5" y="2132856"/>
            <a:ext cx="5862082" cy="29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646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Prototype: a </a:t>
            </a:r>
            <a:r>
              <a:rPr lang="da-DK" dirty="0" err="1" smtClean="0"/>
              <a:t>common</a:t>
            </a:r>
            <a:r>
              <a:rPr lang="da-DK" dirty="0" smtClean="0"/>
              <a:t> </a:t>
            </a:r>
            <a:r>
              <a:rPr lang="da-DK" dirty="0" err="1" smtClean="0"/>
              <a:t>classification</a:t>
            </a:r>
            <a:r>
              <a:rPr lang="da-DK" dirty="0" smtClean="0"/>
              <a:t> system (2)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3" y="1484784"/>
            <a:ext cx="4896544" cy="4622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184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>
          <a:xfrm>
            <a:off x="467544" y="1268760"/>
            <a:ext cx="8219256" cy="48574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Phase 1: (initiation): </a:t>
            </a:r>
          </a:p>
          <a:p>
            <a:pPr lvl="2"/>
            <a:r>
              <a:rPr lang="en-US" dirty="0" smtClean="0"/>
              <a:t>Overview of classifications used in Statistics Denmark</a:t>
            </a:r>
          </a:p>
          <a:p>
            <a:pPr marL="0" indent="0">
              <a:buNone/>
            </a:pPr>
            <a:r>
              <a:rPr lang="en-US" dirty="0" smtClean="0"/>
              <a:t>Phase 2: (</a:t>
            </a:r>
            <a:r>
              <a:rPr lang="da-DK" dirty="0" err="1" smtClean="0"/>
              <a:t>needs</a:t>
            </a:r>
            <a:r>
              <a:rPr lang="da-DK" dirty="0"/>
              <a:t>, </a:t>
            </a:r>
            <a:r>
              <a:rPr lang="da-DK" dirty="0" err="1"/>
              <a:t>requirements</a:t>
            </a:r>
            <a:r>
              <a:rPr lang="da-DK" dirty="0"/>
              <a:t> and prototype</a:t>
            </a:r>
            <a:r>
              <a:rPr lang="en-US" dirty="0" smtClean="0"/>
              <a:t>): </a:t>
            </a:r>
          </a:p>
          <a:p>
            <a:pPr lvl="2"/>
            <a:r>
              <a:rPr lang="en-US" dirty="0"/>
              <a:t>Description of </a:t>
            </a:r>
            <a:r>
              <a:rPr lang="en-US" dirty="0" smtClean="0"/>
              <a:t>existing work </a:t>
            </a:r>
            <a:r>
              <a:rPr lang="en-US" dirty="0"/>
              <a:t>processes </a:t>
            </a:r>
          </a:p>
          <a:p>
            <a:pPr lvl="2"/>
            <a:r>
              <a:rPr lang="en-US" dirty="0"/>
              <a:t>Description of </a:t>
            </a:r>
            <a:r>
              <a:rPr lang="en-US" dirty="0" smtClean="0"/>
              <a:t>new work </a:t>
            </a:r>
            <a:r>
              <a:rPr lang="en-US" dirty="0"/>
              <a:t>processes </a:t>
            </a:r>
          </a:p>
          <a:p>
            <a:pPr lvl="2"/>
            <a:r>
              <a:rPr lang="en-US" dirty="0" smtClean="0"/>
              <a:t>Requirements, specifications </a:t>
            </a:r>
            <a:r>
              <a:rPr lang="en-US" dirty="0"/>
              <a:t>and use cases </a:t>
            </a:r>
          </a:p>
          <a:p>
            <a:pPr lvl="2"/>
            <a:r>
              <a:rPr lang="en-US" dirty="0" smtClean="0"/>
              <a:t>GSIM-based </a:t>
            </a:r>
            <a:r>
              <a:rPr lang="en-US" dirty="0"/>
              <a:t>conceptual model </a:t>
            </a:r>
            <a:endParaRPr lang="en-US" dirty="0" smtClean="0"/>
          </a:p>
          <a:p>
            <a:pPr lvl="2"/>
            <a:r>
              <a:rPr lang="en-US" dirty="0" smtClean="0"/>
              <a:t>Conducting </a:t>
            </a:r>
            <a:r>
              <a:rPr lang="en-US" dirty="0"/>
              <a:t>and reporting from meetings with stakeholders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Phase 3 (it-design and development): </a:t>
            </a:r>
          </a:p>
          <a:p>
            <a:pPr lvl="2"/>
            <a:r>
              <a:rPr lang="en-US" dirty="0" smtClean="0"/>
              <a:t>IT </a:t>
            </a:r>
            <a:r>
              <a:rPr lang="en-US" dirty="0"/>
              <a:t>design and development </a:t>
            </a:r>
          </a:p>
          <a:p>
            <a:pPr lvl="2"/>
            <a:r>
              <a:rPr lang="en-US" dirty="0" smtClean="0"/>
              <a:t>Basic </a:t>
            </a:r>
            <a:r>
              <a:rPr lang="en-US" dirty="0"/>
              <a:t>model implemented in Colectica </a:t>
            </a:r>
          </a:p>
          <a:p>
            <a:pPr lvl="2"/>
            <a:r>
              <a:rPr lang="en-US" dirty="0" smtClean="0"/>
              <a:t>Customizing Colectica to classifications</a:t>
            </a:r>
          </a:p>
          <a:p>
            <a:pPr lvl="2"/>
            <a:r>
              <a:rPr lang="en-US" dirty="0" smtClean="0"/>
              <a:t>Conceptual </a:t>
            </a:r>
            <a:r>
              <a:rPr lang="en-US" dirty="0"/>
              <a:t>model of classifications </a:t>
            </a:r>
          </a:p>
          <a:p>
            <a:pPr lvl="2"/>
            <a:r>
              <a:rPr lang="en-US" dirty="0" smtClean="0"/>
              <a:t>Prototype (Import </a:t>
            </a:r>
            <a:r>
              <a:rPr lang="en-US" dirty="0"/>
              <a:t>of 2-3 </a:t>
            </a:r>
            <a:r>
              <a:rPr lang="en-US" dirty="0" smtClean="0"/>
              <a:t>classifications)</a:t>
            </a:r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Project plan 2015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11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4939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>
          <a:xfrm>
            <a:off x="467544" y="1268760"/>
            <a:ext cx="8219256" cy="4857403"/>
          </a:xfrm>
        </p:spPr>
        <p:txBody>
          <a:bodyPr>
            <a:normAutofit/>
          </a:bodyPr>
          <a:lstStyle/>
          <a:p>
            <a:pPr lvl="2"/>
            <a:r>
              <a:rPr lang="en-US" sz="2800" dirty="0" smtClean="0"/>
              <a:t>Import of all classifications in Statistics Denmark</a:t>
            </a:r>
          </a:p>
          <a:p>
            <a:pPr lvl="2"/>
            <a:r>
              <a:rPr lang="en-US" sz="2800" dirty="0" smtClean="0"/>
              <a:t>Customizing for specific needs, e.g. floating </a:t>
            </a:r>
            <a:r>
              <a:rPr lang="en-US" sz="2800" smtClean="0"/>
              <a:t>statistical classifications</a:t>
            </a:r>
          </a:p>
          <a:p>
            <a:pPr lvl="2"/>
            <a:r>
              <a:rPr lang="en-US" sz="2800" smtClean="0"/>
              <a:t>Integration </a:t>
            </a:r>
            <a:r>
              <a:rPr lang="en-US" sz="2800" dirty="0" smtClean="0"/>
              <a:t>with other metadata including dissemination</a:t>
            </a:r>
            <a:endParaRPr lang="en-US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Next</a:t>
            </a:r>
            <a:r>
              <a:rPr lang="da-DK" dirty="0" smtClean="0"/>
              <a:t> steps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12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8439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da-DK" dirty="0" smtClean="0"/>
              <a:t/>
            </a:r>
            <a:br>
              <a:rPr lang="da-DK" dirty="0" smtClean="0"/>
            </a:br>
            <a:r>
              <a:rPr lang="da-DK" dirty="0"/>
              <a:t/>
            </a:r>
            <a:br>
              <a:rPr lang="da-DK" dirty="0"/>
            </a:br>
            <a:r>
              <a:rPr lang="da-DK" dirty="0" smtClean="0"/>
              <a:t/>
            </a:r>
            <a:br>
              <a:rPr lang="da-DK" dirty="0" smtClean="0"/>
            </a:br>
            <a:r>
              <a:rPr lang="da-DK" dirty="0"/>
              <a:t/>
            </a:r>
            <a:br>
              <a:rPr lang="da-DK" dirty="0"/>
            </a:br>
            <a:r>
              <a:rPr lang="da-DK" dirty="0" err="1" smtClean="0"/>
              <a:t>Thanks</a:t>
            </a:r>
            <a:r>
              <a:rPr lang="da-DK" dirty="0" smtClean="0"/>
              <a:t> for </a:t>
            </a:r>
            <a:r>
              <a:rPr lang="da-DK" dirty="0" err="1" smtClean="0"/>
              <a:t>your</a:t>
            </a:r>
            <a:r>
              <a:rPr lang="da-DK" dirty="0" smtClean="0"/>
              <a:t> attention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13</a:t>
            </a:fld>
            <a:endParaRPr lang="da-DK" dirty="0"/>
          </a:p>
        </p:txBody>
      </p:sp>
      <p:sp>
        <p:nvSpPr>
          <p:cNvPr id="5" name="Titel 5"/>
          <p:cNvSpPr txBox="1">
            <a:spLocks/>
          </p:cNvSpPr>
          <p:nvPr/>
        </p:nvSpPr>
        <p:spPr>
          <a:xfrm>
            <a:off x="467544" y="476672"/>
            <a:ext cx="7344816" cy="1467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91D4"/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pPr algn="ctr"/>
            <a:endParaRPr lang="en-GB" dirty="0"/>
          </a:p>
        </p:txBody>
      </p:sp>
      <p:sp>
        <p:nvSpPr>
          <p:cNvPr id="6" name="Undertitel 6"/>
          <p:cNvSpPr txBox="1">
            <a:spLocks/>
          </p:cNvSpPr>
          <p:nvPr/>
        </p:nvSpPr>
        <p:spPr>
          <a:xfrm>
            <a:off x="467544" y="2060848"/>
            <a:ext cx="8208912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8288" indent="-268288" algn="l" defTabSz="914400" rtl="0" eaLnBrk="1" latinLnBrk="0" hangingPunct="1">
              <a:spcBef>
                <a:spcPct val="20000"/>
              </a:spcBef>
              <a:buClr>
                <a:srgbClr val="0091D4"/>
              </a:buClr>
              <a:buSzPct val="100000"/>
              <a:buFont typeface="Wingdings" pitchFamily="2" charset="2"/>
              <a:buChar char=""/>
              <a:defRPr sz="26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31813" indent="-263525" algn="l" defTabSz="914400" rtl="0" eaLnBrk="1" latinLnBrk="0" hangingPunct="1">
              <a:spcBef>
                <a:spcPct val="20000"/>
              </a:spcBef>
              <a:buClr>
                <a:srgbClr val="0091D4"/>
              </a:buClr>
              <a:buSzPct val="80000"/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809625" indent="-266700" algn="l" defTabSz="914400" rtl="0" eaLnBrk="1" latinLnBrk="0" hangingPunct="1">
              <a:spcBef>
                <a:spcPct val="20000"/>
              </a:spcBef>
              <a:buClr>
                <a:srgbClr val="0091D4"/>
              </a:buClr>
              <a:buSzPct val="100000"/>
              <a:buFontTx/>
              <a:buChar char="-"/>
              <a:defRPr sz="18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48000" indent="-180000" algn="l" defTabSz="914400" rtl="0" eaLnBrk="1" latinLnBrk="0" hangingPunct="1">
              <a:spcBef>
                <a:spcPct val="20000"/>
              </a:spcBef>
              <a:buClr>
                <a:srgbClr val="2585B8"/>
              </a:buClr>
              <a:buSzPct val="60000"/>
              <a:buFont typeface="Wingdings" pitchFamily="2" charset="2"/>
              <a:buChar char="n"/>
              <a:defRPr sz="1400" kern="1200">
                <a:solidFill>
                  <a:schemeClr val="tx1"/>
                </a:solidFill>
                <a:latin typeface="Lucida Sans" pitchFamily="34" charset="0"/>
                <a:ea typeface="+mn-ea"/>
                <a:cs typeface="Arial" pitchFamily="34" charset="0"/>
              </a:defRPr>
            </a:lvl4pPr>
            <a:lvl5pPr marL="756000" indent="-180000" algn="l" defTabSz="914400" rtl="0" eaLnBrk="1" latinLnBrk="0" hangingPunct="1">
              <a:spcBef>
                <a:spcPct val="20000"/>
              </a:spcBef>
              <a:buClr>
                <a:srgbClr val="2585B8"/>
              </a:buClr>
              <a:buSzPct val="50000"/>
              <a:buFont typeface="Wingdings" pitchFamily="2" charset="2"/>
              <a:buChar char="n"/>
              <a:defRPr sz="1200" kern="1200">
                <a:solidFill>
                  <a:schemeClr val="tx1"/>
                </a:solidFill>
                <a:latin typeface="Lucida Sans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GB" sz="2400" b="1" dirty="0" smtClean="0">
              <a:solidFill>
                <a:srgbClr val="000000"/>
              </a:solidFill>
              <a:latin typeface="Calibri" pitchFamily="34" charset="0"/>
              <a:cs typeface="Droid Sans Fallback"/>
            </a:endParaRPr>
          </a:p>
          <a:p>
            <a:pPr marL="0" indent="0" algn="ctr">
              <a:buNone/>
            </a:pPr>
            <a:endParaRPr lang="en-GB" sz="2400" b="1" dirty="0" smtClean="0">
              <a:solidFill>
                <a:srgbClr val="000000"/>
              </a:solidFill>
              <a:latin typeface="Calibri" pitchFamily="34" charset="0"/>
              <a:cs typeface="Droid Sans Fallback"/>
            </a:endParaRPr>
          </a:p>
          <a:p>
            <a:pPr marL="0" indent="0" algn="ctr">
              <a:buNone/>
            </a:pPr>
            <a:r>
              <a:rPr lang="en-GB" sz="1400" b="1" dirty="0" smtClean="0">
                <a:solidFill>
                  <a:srgbClr val="000000"/>
                </a:solidFill>
                <a:latin typeface="Calibri" pitchFamily="34" charset="0"/>
                <a:cs typeface="Droid Sans Fallback"/>
              </a:rPr>
              <a:t>Diana Ransgaard Sørensen (drs@dst.dk), Statistics Denmark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41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stBlue">
  <a:themeElements>
    <a:clrScheme name="Ds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BA6DD"/>
      </a:accent1>
      <a:accent2>
        <a:srgbClr val="2585B8"/>
      </a:accent2>
      <a:accent3>
        <a:srgbClr val="A0B24F"/>
      </a:accent3>
      <a:accent4>
        <a:srgbClr val="6AB24F"/>
      </a:accent4>
      <a:accent5>
        <a:srgbClr val="D73858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  <a:ln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st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BA6DD"/>
    </a:accent1>
    <a:accent2>
      <a:srgbClr val="2585B8"/>
    </a:accent2>
    <a:accent3>
      <a:srgbClr val="A0B24F"/>
    </a:accent3>
    <a:accent4>
      <a:srgbClr val="6AB24F"/>
    </a:accent4>
    <a:accent5>
      <a:srgbClr val="D73858"/>
    </a:accent5>
    <a:accent6>
      <a:srgbClr val="F79646"/>
    </a:accent6>
    <a:hlink>
      <a:srgbClr val="0000FF"/>
    </a:hlink>
    <a:folHlink>
      <a:srgbClr val="800080"/>
    </a:folHlink>
  </a:clrScheme>
</a:themeOverride>
</file>

<file path=customUI/customUI.xml>
</file>

<file path=docProps/app.xml><?xml version="1.0" encoding="utf-8"?>
<Properties xmlns="http://schemas.openxmlformats.org/officeDocument/2006/extended-properties" xmlns:vt="http://schemas.openxmlformats.org/officeDocument/2006/docPropsVTypes">
  <Template>DstBlue</Template>
  <TotalTime>650</TotalTime>
  <Words>283</Words>
  <Application>Microsoft Office PowerPoint</Application>
  <PresentationFormat>Skærmshow (4:3)</PresentationFormat>
  <Paragraphs>85</Paragraphs>
  <Slides>13</Slides>
  <Notes>1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Diastitler</vt:lpstr>
      </vt:variant>
      <vt:variant>
        <vt:i4>13</vt:i4>
      </vt:variant>
    </vt:vector>
  </HeadingPairs>
  <TitlesOfParts>
    <vt:vector size="14" baseType="lpstr">
      <vt:lpstr>DstBlue</vt:lpstr>
      <vt:lpstr> Classifications in Statistics Denmark – current situation and steps towards a DDI-based classification system</vt:lpstr>
      <vt:lpstr>Agenda</vt:lpstr>
      <vt:lpstr>Vision: Integrated and reusable metadata</vt:lpstr>
      <vt:lpstr>Challenges</vt:lpstr>
      <vt:lpstr>Initiation of work on classifications</vt:lpstr>
      <vt:lpstr>The Copenhagen mapping</vt:lpstr>
      <vt:lpstr>Existing business processes</vt:lpstr>
      <vt:lpstr>New business processes</vt:lpstr>
      <vt:lpstr>Prototype: a common classification system</vt:lpstr>
      <vt:lpstr>Prototype: a common classification system (2)</vt:lpstr>
      <vt:lpstr>Project plan 2015</vt:lpstr>
      <vt:lpstr>Next steps</vt:lpstr>
      <vt:lpstr>    Thanks for your attention</vt:lpstr>
    </vt:vector>
  </TitlesOfParts>
  <Company>Danmarks Statistik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Diana Ransgaard Sørensen</dc:creator>
  <cp:lastModifiedBy>Movebar</cp:lastModifiedBy>
  <cp:revision>36</cp:revision>
  <cp:lastPrinted>2015-11-30T14:49:49Z</cp:lastPrinted>
  <dcterms:created xsi:type="dcterms:W3CDTF">2015-05-19T08:45:23Z</dcterms:created>
  <dcterms:modified xsi:type="dcterms:W3CDTF">2015-12-02T09:00:37Z</dcterms:modified>
</cp:coreProperties>
</file>