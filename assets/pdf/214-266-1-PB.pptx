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9" r:id="rId3"/>
    <p:sldId id="260" r:id="rId4"/>
    <p:sldId id="257" r:id="rId5"/>
    <p:sldId id="258" r:id="rId6"/>
    <p:sldId id="261" r:id="rId7"/>
    <p:sldId id="262" r:id="rId8"/>
    <p:sldId id="279" r:id="rId9"/>
    <p:sldId id="267" r:id="rId10"/>
    <p:sldId id="265" r:id="rId11"/>
    <p:sldId id="266" r:id="rId12"/>
    <p:sldId id="269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81" r:id="rId21"/>
    <p:sldId id="282" r:id="rId22"/>
    <p:sldId id="28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BBB"/>
    <a:srgbClr val="2888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1" autoAdjust="0"/>
    <p:restoredTop sz="89631" autoAdjust="0"/>
  </p:normalViewPr>
  <p:slideViewPr>
    <p:cSldViewPr snapToGrid="0">
      <p:cViewPr varScale="1">
        <p:scale>
          <a:sx n="82" d="100"/>
          <a:sy n="82" d="100"/>
        </p:scale>
        <p:origin x="2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649892-EF04-4531-8218-51E464FDB671}" type="datetimeFigureOut">
              <a:rPr lang="en-US" smtClean="0"/>
              <a:t>12/2/2015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651573-7BDD-416B-ABBD-C288AB64C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623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 smtClean="0"/>
              <a:t>Ask a LOT of questions</a:t>
            </a:r>
          </a:p>
          <a:p>
            <a:endParaRPr lang="en-US" sz="1200" dirty="0" smtClean="0"/>
          </a:p>
          <a:p>
            <a:r>
              <a:rPr lang="en-US" sz="1200" dirty="0" smtClean="0"/>
              <a:t>What do we want to offer our community?</a:t>
            </a:r>
          </a:p>
          <a:p>
            <a:endParaRPr lang="en-US" sz="1200" dirty="0" smtClean="0"/>
          </a:p>
          <a:p>
            <a:r>
              <a:rPr lang="en-US" sz="1200" dirty="0" smtClean="0"/>
              <a:t>Data Access or Data Deposit?</a:t>
            </a: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651573-7BDD-416B-ABBD-C288AB64C9B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5023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66B66-522C-48F5-A72E-3FCB7296C9BC}" type="datetimeFigureOut">
              <a:rPr lang="en-US" smtClean="0"/>
              <a:t>12/2/2015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4F5A-E6E0-405F-B0BF-EE1FA2CA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52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66B66-522C-48F5-A72E-3FCB7296C9BC}" type="datetimeFigureOut">
              <a:rPr lang="en-US" smtClean="0"/>
              <a:t>12/2/2015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4F5A-E6E0-405F-B0BF-EE1FA2CA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771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66B66-522C-48F5-A72E-3FCB7296C9BC}" type="datetimeFigureOut">
              <a:rPr lang="en-US" smtClean="0"/>
              <a:t>12/2/2015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4F5A-E6E0-405F-B0BF-EE1FA2CA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307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66B66-522C-48F5-A72E-3FCB7296C9BC}" type="datetimeFigureOut">
              <a:rPr lang="en-US" smtClean="0"/>
              <a:t>12/2/2015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4F5A-E6E0-405F-B0BF-EE1FA2CA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019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66B66-522C-48F5-A72E-3FCB7296C9BC}" type="datetimeFigureOut">
              <a:rPr lang="en-US" smtClean="0"/>
              <a:t>12/2/2015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4F5A-E6E0-405F-B0BF-EE1FA2CA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413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66B66-522C-48F5-A72E-3FCB7296C9BC}" type="datetimeFigureOut">
              <a:rPr lang="en-US" smtClean="0"/>
              <a:t>12/2/2015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4F5A-E6E0-405F-B0BF-EE1FA2CA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917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66B66-522C-48F5-A72E-3FCB7296C9BC}" type="datetimeFigureOut">
              <a:rPr lang="en-US" smtClean="0"/>
              <a:t>12/2/2015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4F5A-E6E0-405F-B0BF-EE1FA2CA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429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66B66-522C-48F5-A72E-3FCB7296C9BC}" type="datetimeFigureOut">
              <a:rPr lang="en-US" smtClean="0"/>
              <a:t>12/2/2015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4F5A-E6E0-405F-B0BF-EE1FA2CA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055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66B66-522C-48F5-A72E-3FCB7296C9BC}" type="datetimeFigureOut">
              <a:rPr lang="en-US" smtClean="0"/>
              <a:t>12/2/2015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4F5A-E6E0-405F-B0BF-EE1FA2CA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464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66B66-522C-48F5-A72E-3FCB7296C9BC}" type="datetimeFigureOut">
              <a:rPr lang="en-US" smtClean="0"/>
              <a:t>12/2/2015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4F5A-E6E0-405F-B0BF-EE1FA2CA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609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66B66-522C-48F5-A72E-3FCB7296C9BC}" type="datetimeFigureOut">
              <a:rPr lang="en-US" smtClean="0"/>
              <a:t>12/2/2015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4F5A-E6E0-405F-B0BF-EE1FA2CA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188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166B66-522C-48F5-A72E-3FCB7296C9BC}" type="datetimeFigureOut">
              <a:rPr lang="en-US" smtClean="0"/>
              <a:t>12/2/2015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54F5A-E6E0-405F-B0BF-EE1FA2CA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166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mailto:block@cornell.edu" TargetMode="External"/><Relationship Id="rId2" Type="http://schemas.openxmlformats.org/officeDocument/2006/relationships/hyperlink" Target="mailto:ame87@cornell.ed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What comes first?</a:t>
            </a:r>
            <a:br>
              <a:rPr lang="en-US" dirty="0" smtClean="0"/>
            </a:br>
            <a:r>
              <a:rPr lang="en-US" dirty="0" smtClean="0"/>
              <a:t>Metadata or Data Access?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dirty="0" smtClean="0"/>
          </a:p>
          <a:p>
            <a:r>
              <a:rPr lang="en-US" sz="1800" dirty="0" smtClean="0"/>
              <a:t>A. Michelle Edwards, Ph.D., MLIS</a:t>
            </a:r>
          </a:p>
          <a:p>
            <a:r>
              <a:rPr lang="en-US" sz="1800" dirty="0" smtClean="0"/>
              <a:t>William Block, </a:t>
            </a:r>
            <a:r>
              <a:rPr lang="en-US" sz="1800" dirty="0" smtClean="0"/>
              <a:t>Ph.D.</a:t>
            </a:r>
            <a:endParaRPr lang="en-US" sz="1800" dirty="0" smtClean="0"/>
          </a:p>
          <a:p>
            <a:endParaRPr lang="en-US" sz="1800" dirty="0" smtClean="0"/>
          </a:p>
          <a:p>
            <a:r>
              <a:rPr lang="en-US" sz="1800" dirty="0" smtClean="0"/>
              <a:t>Cornell Institute for Social and Economic Research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101600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44661"/>
            <a:ext cx="9982200" cy="676571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58900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695325"/>
            <a:ext cx="5181600" cy="548163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Content Placeholder 9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838200" y="695325"/>
            <a:ext cx="5181600" cy="548163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05507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 smtClean="0"/>
              <a:t>Overall Goal:</a:t>
            </a:r>
            <a:endParaRPr lang="en-US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7200" dirty="0" smtClean="0"/>
              <a:t>To take advantage of DDI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687669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95000"/>
              </a:schemeClr>
            </a:gs>
            <a:gs pos="74000">
              <a:schemeClr val="bg1"/>
            </a:gs>
            <a:gs pos="83000">
              <a:schemeClr val="bg2">
                <a:lumMod val="75000"/>
              </a:schemeClr>
            </a:gs>
            <a:gs pos="100000">
              <a:schemeClr val="tx1"/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2950" y="891251"/>
            <a:ext cx="5626100" cy="5104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392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 smtClean="0"/>
              <a:t>Cornell Data Archives</a:t>
            </a:r>
            <a:r>
              <a:rPr lang="en-US" sz="6000" dirty="0" smtClean="0"/>
              <a:t>	</a:t>
            </a:r>
            <a:endParaRPr lang="en-US"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dirty="0" smtClean="0"/>
              <a:t>Currently 3-4 different data archives on campus:</a:t>
            </a:r>
          </a:p>
          <a:p>
            <a:pPr lvl="1"/>
            <a:r>
              <a:rPr lang="en-US" sz="3200" dirty="0" smtClean="0"/>
              <a:t>CISER Data Archive (Cornell Institute for Social and Economic Research)</a:t>
            </a:r>
          </a:p>
          <a:p>
            <a:pPr lvl="1"/>
            <a:r>
              <a:rPr lang="en-US" sz="3200" dirty="0" smtClean="0"/>
              <a:t>NDACAN Data Archive (National Data Archive on Child Abuse and Neglect)</a:t>
            </a:r>
          </a:p>
          <a:p>
            <a:pPr lvl="1"/>
            <a:r>
              <a:rPr lang="en-US" sz="3200" dirty="0" smtClean="0"/>
              <a:t>Roper Center for Public Opinion Research</a:t>
            </a:r>
          </a:p>
          <a:p>
            <a:pPr lvl="1"/>
            <a:r>
              <a:rPr lang="en-US" sz="3200" dirty="0" err="1" smtClean="0"/>
              <a:t>eCommons</a:t>
            </a:r>
            <a:r>
              <a:rPr lang="en-US" sz="3200" dirty="0" smtClean="0"/>
              <a:t> – Cornell’s Institutional Repository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514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 smtClean="0"/>
              <a:t>Current State of the Archives</a:t>
            </a:r>
            <a:endParaRPr lang="en-US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Each is a separate entity and will remain as such</a:t>
            </a:r>
          </a:p>
          <a:p>
            <a:r>
              <a:rPr lang="en-US" sz="4000" dirty="0" smtClean="0"/>
              <a:t>Each archive has its own workflow</a:t>
            </a:r>
          </a:p>
          <a:p>
            <a:r>
              <a:rPr lang="en-US" sz="4000" dirty="0" smtClean="0"/>
              <a:t>Each has its own mandate, collection policy, staff, and access portal</a:t>
            </a:r>
          </a:p>
          <a:p>
            <a:endParaRPr lang="en-US" sz="4000" dirty="0"/>
          </a:p>
          <a:p>
            <a:r>
              <a:rPr lang="en-US" sz="4000" dirty="0" smtClean="0"/>
              <a:t>Build relationships and create links</a:t>
            </a:r>
          </a:p>
          <a:p>
            <a:endParaRPr lang="en-US" sz="4000" dirty="0" smtClean="0"/>
          </a:p>
          <a:p>
            <a:endParaRPr lang="en-US" sz="4000" dirty="0" smtClean="0"/>
          </a:p>
          <a:p>
            <a:endParaRPr lang="en-US" sz="4000" dirty="0" smtClean="0"/>
          </a:p>
          <a:p>
            <a:endParaRPr lang="en-US" sz="4000" dirty="0"/>
          </a:p>
          <a:p>
            <a:pPr marL="0" indent="0">
              <a:buNone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826748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71000">
              <a:schemeClr val="bg1"/>
            </a:gs>
            <a:gs pos="100000">
              <a:schemeClr val="tx1"/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352" y="1016000"/>
            <a:ext cx="8681013" cy="482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347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284" y="0"/>
            <a:ext cx="91517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571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000" b="1" dirty="0" smtClean="0"/>
              <a:t>What do we want to offer our community?</a:t>
            </a:r>
            <a:endParaRPr lang="en-US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dirty="0" smtClean="0"/>
              <a:t>Data Access:</a:t>
            </a:r>
          </a:p>
          <a:p>
            <a:pPr lvl="1"/>
            <a:r>
              <a:rPr lang="en-US" sz="3600" dirty="0" smtClean="0"/>
              <a:t>Easy search and more detailed search</a:t>
            </a:r>
          </a:p>
          <a:p>
            <a:pPr lvl="1"/>
            <a:r>
              <a:rPr lang="en-US" sz="3600" dirty="0" smtClean="0"/>
              <a:t>Ability to self-serve</a:t>
            </a:r>
          </a:p>
          <a:p>
            <a:pPr lvl="1"/>
            <a:endParaRPr lang="en-US" sz="3600" dirty="0"/>
          </a:p>
          <a:p>
            <a:r>
              <a:rPr lang="en-US" sz="4000" dirty="0" smtClean="0"/>
              <a:t>Data Deposit:</a:t>
            </a:r>
          </a:p>
          <a:p>
            <a:pPr lvl="1"/>
            <a:r>
              <a:rPr lang="en-US" sz="3600" dirty="0" smtClean="0"/>
              <a:t>Easy ingest form</a:t>
            </a:r>
          </a:p>
          <a:p>
            <a:pPr lvl="1"/>
            <a:r>
              <a:rPr lang="en-US" sz="3600" dirty="0" smtClean="0"/>
              <a:t>Ability to self-serve</a:t>
            </a:r>
          </a:p>
          <a:p>
            <a:pPr lvl="1"/>
            <a:endParaRPr lang="en-US" sz="3600" dirty="0" smtClean="0"/>
          </a:p>
          <a:p>
            <a:pPr lvl="1"/>
            <a:endParaRPr lang="en-US" sz="3600" dirty="0" smtClean="0"/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119823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 smtClean="0"/>
              <a:t>DDI is a Natural FIT!</a:t>
            </a:r>
            <a:endParaRPr lang="en-US" sz="6000" b="1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0322" y="1570113"/>
            <a:ext cx="5231355" cy="4828944"/>
          </a:xfrm>
        </p:spPr>
      </p:pic>
    </p:spTree>
    <p:extLst>
      <p:ext uri="{BB962C8B-B14F-4D97-AF65-F5344CB8AC3E}">
        <p14:creationId xmlns:p14="http://schemas.microsoft.com/office/powerpoint/2010/main" val="3807770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95000"/>
              </a:schemeClr>
            </a:gs>
            <a:gs pos="74000">
              <a:schemeClr val="bg1"/>
            </a:gs>
            <a:gs pos="83000">
              <a:schemeClr val="bg2">
                <a:lumMod val="90000"/>
              </a:schemeClr>
            </a:gs>
            <a:gs pos="100000">
              <a:schemeClr val="tx1"/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40" r="4277"/>
          <a:stretch/>
        </p:blipFill>
        <p:spPr>
          <a:xfrm>
            <a:off x="1597306" y="949907"/>
            <a:ext cx="8970380" cy="493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932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 smtClean="0"/>
              <a:t>Options</a:t>
            </a:r>
            <a:endParaRPr lang="en-US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 smtClean="0"/>
              <a:t>Throw current system out the door and start over – maybe </a:t>
            </a:r>
            <a:r>
              <a:rPr lang="en-US" sz="4400" dirty="0"/>
              <a:t>b</a:t>
            </a:r>
            <a:r>
              <a:rPr lang="en-US" sz="4400" dirty="0" smtClean="0"/>
              <a:t>uild something from scratch?</a:t>
            </a:r>
          </a:p>
          <a:p>
            <a:pPr marL="0" indent="0">
              <a:buNone/>
            </a:pPr>
            <a:endParaRPr lang="en-US" sz="4400" dirty="0" smtClean="0"/>
          </a:p>
          <a:p>
            <a:r>
              <a:rPr lang="en-US" sz="4400" dirty="0" smtClean="0"/>
              <a:t>Evaluate current system and determine how it fits with new tools?</a:t>
            </a:r>
          </a:p>
        </p:txBody>
      </p:sp>
    </p:spTree>
    <p:extLst>
      <p:ext uri="{BB962C8B-B14F-4D97-AF65-F5344CB8AC3E}">
        <p14:creationId xmlns:p14="http://schemas.microsoft.com/office/powerpoint/2010/main" val="2232646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6000" b="1" dirty="0" smtClean="0"/>
              <a:t>What does the Archive need?</a:t>
            </a:r>
            <a:endParaRPr lang="en-US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 smtClean="0"/>
              <a:t>Make a list!</a:t>
            </a:r>
          </a:p>
          <a:p>
            <a:r>
              <a:rPr lang="en-US" sz="4400" dirty="0" smtClean="0"/>
              <a:t>Tracking metadata throughout workflow?</a:t>
            </a:r>
          </a:p>
          <a:p>
            <a:r>
              <a:rPr lang="en-US" sz="4400" dirty="0" smtClean="0"/>
              <a:t>Increase the metadata available for user searches?</a:t>
            </a:r>
          </a:p>
          <a:p>
            <a:pPr marL="0" indent="0">
              <a:buNone/>
            </a:pP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906829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53000">
              <a:schemeClr val="bg1"/>
            </a:gs>
            <a:gs pos="100000">
              <a:schemeClr val="bg2">
                <a:lumMod val="25000"/>
              </a:schemeClr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4223" y="1388963"/>
            <a:ext cx="6539696" cy="4051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992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/>
            </a:gs>
            <a:gs pos="54000">
              <a:schemeClr val="bg1"/>
            </a:gs>
            <a:gs pos="100000">
              <a:schemeClr val="bg2">
                <a:lumMod val="25000"/>
              </a:schemeClr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1428" y="1368707"/>
            <a:ext cx="6609145" cy="412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534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 smtClean="0"/>
              <a:t>Current State of Affairs</a:t>
            </a:r>
            <a:endParaRPr lang="en-US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 smtClean="0"/>
              <a:t>WANT:</a:t>
            </a:r>
          </a:p>
          <a:p>
            <a:pPr lvl="1"/>
            <a:r>
              <a:rPr lang="en-US" sz="4000" dirty="0" smtClean="0"/>
              <a:t>Preserve current archiving practices</a:t>
            </a:r>
          </a:p>
          <a:p>
            <a:pPr lvl="1"/>
            <a:r>
              <a:rPr lang="en-US" sz="4000" dirty="0" smtClean="0"/>
              <a:t>Track archive workflow processes</a:t>
            </a:r>
          </a:p>
          <a:p>
            <a:pPr lvl="1"/>
            <a:r>
              <a:rPr lang="en-US" sz="4000" dirty="0" smtClean="0"/>
              <a:t>Increase study level metadata</a:t>
            </a:r>
          </a:p>
          <a:p>
            <a:pPr lvl="1"/>
            <a:r>
              <a:rPr lang="en-US" sz="4000" dirty="0" smtClean="0"/>
              <a:t>Easy INGEST form for data depositors</a:t>
            </a:r>
          </a:p>
          <a:p>
            <a:pPr lvl="1"/>
            <a:r>
              <a:rPr lang="en-US" sz="4000" dirty="0" smtClean="0"/>
              <a:t>Increase efficiencies in current processes</a:t>
            </a:r>
          </a:p>
          <a:p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634216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 smtClean="0"/>
              <a:t>Current State of Affairs</a:t>
            </a:r>
            <a:endParaRPr lang="en-US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Evaluating several options</a:t>
            </a:r>
          </a:p>
          <a:p>
            <a:pPr lvl="1"/>
            <a:r>
              <a:rPr lang="en-US" sz="3600" dirty="0" err="1" smtClean="0"/>
              <a:t>Dataverse</a:t>
            </a:r>
            <a:endParaRPr lang="en-US" sz="3600" dirty="0" smtClean="0"/>
          </a:p>
          <a:p>
            <a:pPr lvl="1"/>
            <a:r>
              <a:rPr lang="en-US" sz="3600" dirty="0" err="1" smtClean="0"/>
              <a:t>Collectica</a:t>
            </a:r>
            <a:r>
              <a:rPr lang="en-US" sz="3600" dirty="0" smtClean="0"/>
              <a:t> Curation Tool</a:t>
            </a:r>
          </a:p>
          <a:p>
            <a:pPr lvl="1"/>
            <a:r>
              <a:rPr lang="en-US" sz="3600" dirty="0" smtClean="0"/>
              <a:t>Ced</a:t>
            </a:r>
            <a:r>
              <a:rPr lang="en-US" sz="3600" baseline="30000" dirty="0" smtClean="0"/>
              <a:t>2</a:t>
            </a:r>
            <a:r>
              <a:rPr lang="en-US" sz="3600" dirty="0" smtClean="0"/>
              <a:t>ar</a:t>
            </a:r>
          </a:p>
          <a:p>
            <a:pPr lvl="1"/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994061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71000">
              <a:schemeClr val="bg1"/>
            </a:gs>
            <a:gs pos="100000">
              <a:schemeClr val="bg2">
                <a:lumMod val="25000"/>
              </a:schemeClr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8488" y="983849"/>
            <a:ext cx="7075025" cy="490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179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71000">
              <a:schemeClr val="bg1"/>
            </a:gs>
            <a:gs pos="100000">
              <a:schemeClr val="tx1"/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352" y="1016000"/>
            <a:ext cx="8681013" cy="482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192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2825" y="0"/>
            <a:ext cx="85863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830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 smtClean="0"/>
              <a:t>Questions / Contact</a:t>
            </a:r>
            <a:endParaRPr lang="en-US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sz="4400" dirty="0" smtClean="0"/>
              <a:t>Michelle Edwards  </a:t>
            </a:r>
            <a:r>
              <a:rPr lang="en-US" sz="4400" dirty="0" smtClean="0">
                <a:hlinkClick r:id="rId2"/>
              </a:rPr>
              <a:t>ame87@cornell.edu</a:t>
            </a:r>
            <a:endParaRPr lang="en-US" sz="4400" dirty="0" smtClean="0"/>
          </a:p>
          <a:p>
            <a:pPr marL="0" indent="0" algn="ctr">
              <a:buNone/>
            </a:pPr>
            <a:endParaRPr lang="en-US" sz="4400" dirty="0"/>
          </a:p>
          <a:p>
            <a:pPr marL="0" indent="0" algn="ctr">
              <a:buNone/>
            </a:pPr>
            <a:r>
              <a:rPr lang="en-US" sz="4400" dirty="0" smtClean="0"/>
              <a:t>Bill Block  </a:t>
            </a:r>
            <a:r>
              <a:rPr lang="en-US" sz="4400" dirty="0" smtClean="0">
                <a:hlinkClick r:id="rId3"/>
              </a:rPr>
              <a:t>block@cornell.edu</a:t>
            </a:r>
            <a:endParaRPr lang="en-US" sz="4400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615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</TotalTime>
  <Words>278</Words>
  <Application>Microsoft Office PowerPoint</Application>
  <PresentationFormat>Widescreen</PresentationFormat>
  <Paragraphs>65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What comes first? Metadata or Data Access?</vt:lpstr>
      <vt:lpstr>PowerPoint Presentation</vt:lpstr>
      <vt:lpstr>PowerPoint Presentation</vt:lpstr>
      <vt:lpstr>Overall Goal:</vt:lpstr>
      <vt:lpstr>PowerPoint Presentation</vt:lpstr>
      <vt:lpstr>Cornell Data Archives </vt:lpstr>
      <vt:lpstr>Current State of the Archives</vt:lpstr>
      <vt:lpstr>PowerPoint Presentation</vt:lpstr>
      <vt:lpstr>PowerPoint Presentation</vt:lpstr>
      <vt:lpstr>What do we want to offer our community?</vt:lpstr>
      <vt:lpstr>DDI is a Natural FIT!</vt:lpstr>
      <vt:lpstr>PowerPoint Presentation</vt:lpstr>
      <vt:lpstr>Options</vt:lpstr>
      <vt:lpstr>What does the Archive need?</vt:lpstr>
      <vt:lpstr>PowerPoint Presentation</vt:lpstr>
      <vt:lpstr>PowerPoint Presentation</vt:lpstr>
      <vt:lpstr>Current State of Affairs</vt:lpstr>
      <vt:lpstr>Current State of Affairs</vt:lpstr>
      <vt:lpstr>PowerPoint Presentation</vt:lpstr>
      <vt:lpstr>PowerPoint Presentation</vt:lpstr>
      <vt:lpstr>PowerPoint Presentation</vt:lpstr>
      <vt:lpstr>Questions / Contact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comes first? Metadata of Data Access?</dc:title>
  <dc:creator>Michelle</dc:creator>
  <cp:lastModifiedBy>Michelle</cp:lastModifiedBy>
  <cp:revision>55</cp:revision>
  <dcterms:created xsi:type="dcterms:W3CDTF">2015-11-24T14:21:17Z</dcterms:created>
  <dcterms:modified xsi:type="dcterms:W3CDTF">2015-12-02T17:58:29Z</dcterms:modified>
</cp:coreProperties>
</file>