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6" r:id="rId2"/>
    <p:sldId id="285" r:id="rId3"/>
    <p:sldId id="286" r:id="rId4"/>
    <p:sldId id="287" r:id="rId5"/>
    <p:sldId id="288" r:id="rId6"/>
    <p:sldId id="271" r:id="rId7"/>
    <p:sldId id="272" r:id="rId8"/>
    <p:sldId id="273" r:id="rId9"/>
    <p:sldId id="289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90" r:id="rId20"/>
    <p:sldId id="264" r:id="rId21"/>
  </p:sldIdLst>
  <p:sldSz cx="9144000" cy="6858000" type="screen4x3"/>
  <p:notesSz cx="6858000" cy="9144000"/>
  <p:defaultTextStyle>
    <a:defPPr>
      <a:defRPr lang="de-CH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66666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 autoAdjust="0"/>
  </p:normalViewPr>
  <p:slideViewPr>
    <p:cSldViewPr showGuides="1">
      <p:cViewPr varScale="1">
        <p:scale>
          <a:sx n="92" d="100"/>
          <a:sy n="92" d="100"/>
        </p:scale>
        <p:origin x="1230" y="90"/>
      </p:cViewPr>
      <p:guideLst>
        <p:guide orient="horz" pos="2160"/>
        <p:guide pos="2880"/>
        <p:guide pos="3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CH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5F257E-72DA-4092-9195-6D451D13F64E}" type="slidenum">
              <a:rPr lang="de-CH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9932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Textmasterformate durch Klicken bearbeiten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A751-5681-4C92-A565-5C4E6EAFCF09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310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E24A33-B352-4AEE-AE31-2310AAC05580}" type="slidenum">
              <a:rPr lang="en-US"/>
              <a:pPr/>
              <a:t>1</a:t>
            </a:fld>
            <a:endParaRPr lang="en-US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853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631EB7-D20E-4F29-A0C0-D928EDCFF927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de-DE" altLang="de-DE" smtClean="0"/>
          </a:p>
        </p:txBody>
      </p:sp>
      <p:sp>
        <p:nvSpPr>
          <p:cNvPr id="2560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42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27651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E75977-D58F-4573-B5F7-2633C6CC20CD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de-DE" altLang="de-DE" smtClean="0"/>
          </a:p>
        </p:txBody>
      </p:sp>
      <p:sp>
        <p:nvSpPr>
          <p:cNvPr id="2765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72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29699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4B1416-841F-4A34-80CB-7F4C1A7F4DF7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de-DE" altLang="de-DE" smtClean="0"/>
          </a:p>
        </p:txBody>
      </p:sp>
      <p:sp>
        <p:nvSpPr>
          <p:cNvPr id="2970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06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33795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214C4E-8DD1-47B9-AADD-9C6941A42B1B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de-DE" altLang="de-DE" smtClean="0"/>
          </a:p>
        </p:txBody>
      </p:sp>
      <p:sp>
        <p:nvSpPr>
          <p:cNvPr id="3379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92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A2A63C-F4E8-46D2-A07F-85C94D280A2C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de-DE" altLang="de-DE" smtClean="0"/>
          </a:p>
        </p:txBody>
      </p:sp>
      <p:sp>
        <p:nvSpPr>
          <p:cNvPr id="3584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56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37891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DB7177-8D70-4499-8CB5-183BDA17D6A5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de-DE" altLang="de-DE" smtClean="0"/>
          </a:p>
        </p:txBody>
      </p:sp>
      <p:sp>
        <p:nvSpPr>
          <p:cNvPr id="3789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2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39939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8C995D-F917-492F-BCBF-9130CF5C621E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de-DE" altLang="de-DE" smtClean="0"/>
          </a:p>
        </p:txBody>
      </p:sp>
      <p:sp>
        <p:nvSpPr>
          <p:cNvPr id="3994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20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41987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81DDE8-87B0-4B11-BA2C-7F8F2F08D9A5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de-DE" altLang="de-DE" smtClean="0"/>
          </a:p>
        </p:txBody>
      </p:sp>
      <p:sp>
        <p:nvSpPr>
          <p:cNvPr id="4198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51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44035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421874-B9F4-44B1-8361-37EE67A2965A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de-DE" altLang="de-DE" smtClean="0"/>
          </a:p>
        </p:txBody>
      </p:sp>
      <p:sp>
        <p:nvSpPr>
          <p:cNvPr id="4403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103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46083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AECF3D-D506-4A8C-B374-8BB68914454E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de-DE" altLang="de-DE" smtClean="0"/>
          </a:p>
        </p:txBody>
      </p:sp>
      <p:sp>
        <p:nvSpPr>
          <p:cNvPr id="4608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44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48131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B9F1A9-0AF5-4022-AE79-3CCCABF266B0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de-DE" altLang="de-DE" smtClean="0"/>
          </a:p>
        </p:txBody>
      </p:sp>
      <p:sp>
        <p:nvSpPr>
          <p:cNvPr id="4813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43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de-DE" altLang="de-DE" smtClean="0"/>
              <a:t>DIPF PowerPoint-Präsentation</a:t>
            </a:r>
          </a:p>
        </p:txBody>
      </p:sp>
      <p:sp>
        <p:nvSpPr>
          <p:cNvPr id="50179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DCABC0-E033-4D22-9464-EA64744E8723}" type="slidenum">
              <a:rPr lang="de-DE" altLang="de-DE" smtClean="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de-DE" altLang="de-DE" smtClean="0"/>
          </a:p>
        </p:txBody>
      </p:sp>
      <p:sp>
        <p:nvSpPr>
          <p:cNvPr id="5018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altLang="de-DE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810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E4F688-F4C9-4974-8CBF-EF0B2EFBD5BE}" type="slidenum">
              <a:rPr lang="en-US"/>
              <a:pPr/>
              <a:t>20</a:t>
            </a:fld>
            <a:endParaRPr lang="en-US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652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7524750" y="0"/>
            <a:ext cx="1619250" cy="1619250"/>
          </a:xfrm>
          <a:prstGeom prst="rect">
            <a:avLst/>
          </a:prstGeom>
          <a:solidFill>
            <a:srgbClr val="6699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CH"/>
          </a:p>
        </p:txBody>
      </p:sp>
      <p:sp>
        <p:nvSpPr>
          <p:cNvPr id="75784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427038" y="1958975"/>
            <a:ext cx="7772400" cy="1254125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75785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27038" y="3429000"/>
            <a:ext cx="6400800" cy="863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200"/>
            </a:lvl1pPr>
          </a:lstStyle>
          <a:p>
            <a:r>
              <a:rPr lang="de-DE" smtClean="0"/>
              <a:t>Formatvorlage des Untertitelmasters durch Klicken bearbeiten</a:t>
            </a:r>
            <a:endParaRPr lang="de-CH"/>
          </a:p>
        </p:txBody>
      </p:sp>
      <p:sp>
        <p:nvSpPr>
          <p:cNvPr id="75787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E7B3B07D-D1BB-4CD0-B5C4-BA7398B2AB56}" type="slidenum">
              <a:rPr lang="en-US"/>
              <a:pPr/>
              <a:t>‹Nr.›</a:t>
            </a:fld>
            <a:endParaRPr lang="en-US"/>
          </a:p>
        </p:txBody>
      </p:sp>
      <p:pic>
        <p:nvPicPr>
          <p:cNvPr id="75792" name="Picture 16" descr="institut_s_i_i_rgb_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5600" y="258763"/>
            <a:ext cx="2519363" cy="900112"/>
          </a:xfrm>
          <a:prstGeom prst="rect">
            <a:avLst/>
          </a:prstGeom>
          <a:noFill/>
        </p:spPr>
      </p:pic>
      <p:sp>
        <p:nvSpPr>
          <p:cNvPr id="7" name="Rectangle 10"/>
          <p:cNvSpPr txBox="1">
            <a:spLocks noChangeArrowheads="1"/>
          </p:cNvSpPr>
          <p:nvPr userDrawn="1"/>
        </p:nvSpPr>
        <p:spPr bwMode="auto">
          <a:xfrm>
            <a:off x="428596" y="6340866"/>
            <a:ext cx="6000792" cy="28575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de-CH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b="1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University </a:t>
            </a:r>
            <a:r>
              <a:rPr kumimoji="0" lang="de-CH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</a:t>
            </a:r>
            <a:r>
              <a:rPr kumimoji="0" lang="de-CH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Applied </a:t>
            </a:r>
            <a:r>
              <a:rPr kumimoji="0" lang="de-CH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Sciences</a:t>
            </a:r>
            <a:r>
              <a:rPr kumimoji="0" lang="de-CH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Eastern </a:t>
            </a:r>
            <a:r>
              <a:rPr kumimoji="0" lang="de-CH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Switzerland</a:t>
            </a:r>
            <a:r>
              <a:rPr kumimoji="0" lang="de-CH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(FHO)</a:t>
            </a:r>
            <a:endParaRPr kumimoji="0" lang="de-CH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C9A6AC45-B590-4A8B-8163-943DBCC2BE7F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686D73EA-2F26-451C-91B4-455690F8FF05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67EB6739-98B7-415D-9076-72C99BB70AE1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EC9B814B-9BC2-4254-8DBB-439931843FEE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D6373B68-F6B7-49BC-979A-78DFF4EB76E7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B2CF41C6-FAA1-461A-9F79-3B90D6453C1F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06B754EC-114B-4777-81AC-948CB8B41D20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E3A290FD-F0F3-41CD-A1F9-E1889A36135E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160F3AA0-0AA0-42EB-86A3-F907544F619E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F336AF1B-60A8-4471-8BC1-760C4B2594B9}" type="slidenum">
              <a:rPr lang="en-US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86550" y="63373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r>
              <a:rPr lang="en-US"/>
              <a:t>page </a:t>
            </a:r>
            <a:fld id="{85B4A187-3CF9-4661-B4D6-91BCAC238F75}" type="slidenum">
              <a:rPr lang="en-US"/>
              <a:pPr/>
              <a:t>‹Nr.›</a:t>
            </a:fld>
            <a:endParaRPr lang="en-US"/>
          </a:p>
        </p:txBody>
      </p:sp>
      <p:pic>
        <p:nvPicPr>
          <p:cNvPr id="1036" name="Picture 12" descr="htw_chur_kurz_sw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42913" y="6308725"/>
            <a:ext cx="1249362" cy="407988"/>
          </a:xfrm>
          <a:prstGeom prst="rect">
            <a:avLst/>
          </a:prstGeom>
          <a:noFill/>
        </p:spPr>
      </p:pic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Titelmasterformat durch Klicken bearbeiten</a:t>
            </a:r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Textmasterformate durch Klicken bearbeiten</a:t>
            </a:r>
          </a:p>
          <a:p>
            <a:pPr lvl="1"/>
            <a:r>
              <a:rPr lang="en-US" smtClean="0"/>
              <a:t> Zweite Ebene</a:t>
            </a:r>
          </a:p>
          <a:p>
            <a:pPr lvl="2"/>
            <a:r>
              <a:rPr lang="en-US" smtClean="0"/>
              <a:t> 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669900"/>
          </a:solidFill>
          <a:latin typeface="Arial" charset="0"/>
        </a:defRPr>
      </a:lvl9pPr>
    </p:titleStyle>
    <p:bodyStyle>
      <a:lvl1pPr marL="269875" indent="-269875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38188" indent="-288925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171575" indent="-2540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3pPr>
      <a:lvl4pPr marL="1579563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987550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444750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01950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359150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16350" indent="-228600" algn="l" rtl="0" eaLnBrk="1" fontAlgn="base" hangingPunct="1">
        <a:spcBef>
          <a:spcPct val="20000"/>
        </a:spcBef>
        <a:spcAft>
          <a:spcPct val="0"/>
        </a:spcAft>
        <a:buClr>
          <a:srgbClr val="6699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A6C4BB30-408D-47EE-A4E7-B8DB87783FCC}" type="slidenum">
              <a:rPr lang="en-US"/>
              <a:pPr/>
              <a:t>1</a:t>
            </a:fld>
            <a:endParaRPr lang="en-US"/>
          </a:p>
        </p:txBody>
      </p:sp>
      <p:sp>
        <p:nvSpPr>
          <p:cNvPr id="78925" name="Rectangle 77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Advances</a:t>
            </a:r>
            <a:r>
              <a:rPr lang="de-DE" dirty="0" smtClean="0"/>
              <a:t> in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systems</a:t>
            </a:r>
            <a:endParaRPr lang="de-DE" dirty="0"/>
          </a:p>
        </p:txBody>
      </p:sp>
      <p:sp>
        <p:nvSpPr>
          <p:cNvPr id="78926" name="Rectangle 78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Ingo </a:t>
            </a:r>
            <a:r>
              <a:rPr lang="de-DE" dirty="0" smtClean="0"/>
              <a:t>Barkow,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err="1" smtClean="0"/>
              <a:t>Associate</a:t>
            </a:r>
            <a:r>
              <a:rPr lang="de-DE" dirty="0" smtClean="0"/>
              <a:t> Professor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/>
              <a:t>D</a:t>
            </a:r>
            <a:r>
              <a:rPr lang="de-DE" dirty="0" smtClean="0"/>
              <a:t>ata </a:t>
            </a:r>
            <a:r>
              <a:rPr lang="de-DE" dirty="0"/>
              <a:t>M</a:t>
            </a:r>
            <a:r>
              <a:rPr lang="de-DE" dirty="0" smtClean="0"/>
              <a:t>anagement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Agenda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Introduction</a:t>
            </a:r>
          </a:p>
          <a:p>
            <a:r>
              <a:rPr lang="en-US" sz="2800" dirty="0"/>
              <a:t>Metadata in the educational sciences</a:t>
            </a:r>
          </a:p>
          <a:p>
            <a:r>
              <a:rPr lang="en-US" sz="2800" dirty="0"/>
              <a:t>PIAAC as an example for an educational survey</a:t>
            </a:r>
          </a:p>
          <a:p>
            <a:r>
              <a:rPr lang="en-US" sz="2800" dirty="0"/>
              <a:t>Results from the first survey</a:t>
            </a:r>
          </a:p>
          <a:p>
            <a:r>
              <a:rPr lang="en-US" sz="2800" dirty="0"/>
              <a:t>Meaning of the results for DDI</a:t>
            </a:r>
          </a:p>
          <a:p>
            <a:r>
              <a:rPr lang="en-US" sz="2800" dirty="0"/>
              <a:t>Q&amp;A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Introduction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Survey is part of my dissertation process at the University of Szeged (Hungary)</a:t>
            </a:r>
          </a:p>
          <a:p>
            <a:r>
              <a:rPr lang="en-US" sz="2000" dirty="0"/>
              <a:t>Research was done during a sabbatical from August 2014 – February 2015</a:t>
            </a:r>
          </a:p>
          <a:p>
            <a:r>
              <a:rPr lang="en-US" sz="2000" dirty="0"/>
              <a:t>Goals of the dissertation</a:t>
            </a:r>
          </a:p>
          <a:p>
            <a:pPr lvl="1"/>
            <a:r>
              <a:rPr lang="en-US" sz="2000" dirty="0"/>
              <a:t>Improve the metadata handling in computer-based assessment, especially in large-scale studies</a:t>
            </a:r>
          </a:p>
          <a:p>
            <a:pPr lvl="1"/>
            <a:r>
              <a:rPr lang="en-US" sz="2000" dirty="0"/>
              <a:t>Use the results to improve open source computer-based assessment platforms and item banks</a:t>
            </a:r>
          </a:p>
          <a:p>
            <a:pPr lvl="1"/>
            <a:r>
              <a:rPr lang="en-US" sz="2000" dirty="0"/>
              <a:t>Focus only on computer-based assessment (not qualitative data)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6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Metadata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educational</a:t>
            </a:r>
            <a:r>
              <a:rPr lang="de-DE" dirty="0" smtClean="0"/>
              <a:t> </a:t>
            </a:r>
            <a:r>
              <a:rPr lang="de-DE" dirty="0" err="1" smtClean="0"/>
              <a:t>sciences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Research process in the educational sciences is very similar to the social sciences</a:t>
            </a:r>
          </a:p>
          <a:p>
            <a:r>
              <a:rPr lang="en-US" sz="2000" dirty="0"/>
              <a:t>Models like the Generic Longitudinal Business Process Model (GLBPM) can also be applied here</a:t>
            </a:r>
          </a:p>
          <a:p>
            <a:r>
              <a:rPr lang="en-US" sz="2000" dirty="0"/>
              <a:t>Most large-scale studies (e.g. PISA, PIAAC, PIRLS, TIMMS) use a mix of questionnaires and cognitive items</a:t>
            </a:r>
          </a:p>
          <a:p>
            <a:r>
              <a:rPr lang="en-US" sz="2000" dirty="0"/>
              <a:t>Shift from paper-based assessment towards computer-based assessment</a:t>
            </a:r>
          </a:p>
          <a:p>
            <a:r>
              <a:rPr lang="en-US" sz="2000" dirty="0"/>
              <a:t>Metadata standards (e.g. QTI, SCORM) exist, but only for very specific parts of the research process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Metadata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educational</a:t>
            </a:r>
            <a:r>
              <a:rPr lang="de-DE" dirty="0" smtClean="0"/>
              <a:t> </a:t>
            </a:r>
            <a:r>
              <a:rPr lang="de-DE" dirty="0" err="1" smtClean="0"/>
              <a:t>sciences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Specific challenges in computer-based assessment</a:t>
            </a:r>
          </a:p>
          <a:p>
            <a:r>
              <a:rPr lang="en-US" sz="2000" dirty="0"/>
              <a:t>Layout and screen size must be fixed to avoid changes in item difficulty</a:t>
            </a:r>
          </a:p>
          <a:p>
            <a:r>
              <a:rPr lang="en-US" sz="2000" dirty="0"/>
              <a:t>Scoring rules have to be implemented (and documented)</a:t>
            </a:r>
          </a:p>
          <a:p>
            <a:r>
              <a:rPr lang="en-US" sz="2000" dirty="0"/>
              <a:t>Very complex item types (e.g. simulations)</a:t>
            </a:r>
          </a:p>
          <a:p>
            <a:r>
              <a:rPr lang="en-US" sz="2000" dirty="0"/>
              <a:t>Mode effects (e.g. paper to computer, computer to tablet)</a:t>
            </a:r>
          </a:p>
          <a:p>
            <a:r>
              <a:rPr lang="en-US" sz="2000" dirty="0"/>
              <a:t>Use of </a:t>
            </a:r>
            <a:r>
              <a:rPr lang="en-US" sz="2000" dirty="0" err="1"/>
              <a:t>logfile</a:t>
            </a:r>
            <a:r>
              <a:rPr lang="en-US" sz="2000" dirty="0"/>
              <a:t> data analysis e.g. for diagnostic assessment</a:t>
            </a:r>
          </a:p>
          <a:p>
            <a:r>
              <a:rPr lang="en-US" sz="2000" dirty="0"/>
              <a:t>Statistical parameters (e.g. Cronbach‘s Alpha) have to be stored to support adaptive testing</a:t>
            </a:r>
          </a:p>
          <a:p>
            <a:r>
              <a:rPr lang="en-US" sz="2000" dirty="0"/>
              <a:t>Items are usually highly confidential (e.g. SAT, GMAT)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8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332656"/>
            <a:ext cx="7200900" cy="823913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de-DE" dirty="0" smtClean="0"/>
              <a:t>PIAAC </a:t>
            </a:r>
            <a:r>
              <a:rPr lang="de-DE" altLang="de-DE" dirty="0" err="1" smtClean="0"/>
              <a:t>Literacy</a:t>
            </a:r>
            <a:r>
              <a:rPr lang="de-DE" altLang="de-DE" dirty="0" smtClean="0"/>
              <a:t> Item</a:t>
            </a: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de-DE"/>
          </a:p>
        </p:txBody>
      </p:sp>
      <p:pic>
        <p:nvPicPr>
          <p:cNvPr id="24580" name="Grafik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10" y="1166232"/>
            <a:ext cx="6985000" cy="482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62232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373286"/>
            <a:ext cx="7200900" cy="823913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de-DE" smtClean="0"/>
              <a:t>PIAAC Problem Solving Item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de-DE"/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31" y="1197199"/>
            <a:ext cx="6840537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545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372839"/>
            <a:ext cx="7200900" cy="823913"/>
          </a:xfrm>
        </p:spPr>
        <p:txBody>
          <a:bodyPr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altLang="de-DE" smtClean="0"/>
              <a:t>CBA Itembuilder MicroFIN item</a:t>
            </a: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de-DE" altLang="de-DE"/>
          </a:p>
        </p:txBody>
      </p:sp>
      <p:pic>
        <p:nvPicPr>
          <p:cNvPr id="28676" name="Grafik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069" y="1340768"/>
            <a:ext cx="6265862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5356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</a:t>
            </a:r>
            <a:r>
              <a:rPr lang="de-DE" dirty="0" err="1" smtClean="0"/>
              <a:t>survey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group – researchers working in the fields of educational sciences and social sciences</a:t>
            </a:r>
          </a:p>
          <a:p>
            <a:r>
              <a:rPr lang="en-US" dirty="0"/>
              <a:t>Questionnaire on data management and metadata standards</a:t>
            </a:r>
          </a:p>
          <a:p>
            <a:r>
              <a:rPr lang="en-US" dirty="0"/>
              <a:t>Web survey using 45 questions in 30-35 minutes with complex branching (e.g. separate data users from data producers)</a:t>
            </a:r>
          </a:p>
          <a:p>
            <a:r>
              <a:rPr lang="en-US" dirty="0"/>
              <a:t>Tool: </a:t>
            </a:r>
            <a:r>
              <a:rPr lang="en-US" dirty="0" err="1"/>
              <a:t>Limesurvey</a:t>
            </a:r>
            <a:r>
              <a:rPr lang="en-US" dirty="0"/>
              <a:t> V2.05 with </a:t>
            </a:r>
            <a:r>
              <a:rPr lang="en-US" dirty="0" err="1"/>
              <a:t>SkeletonQuest</a:t>
            </a:r>
            <a:r>
              <a:rPr lang="en-US" dirty="0"/>
              <a:t> responsive design template (optimization for tablets and mobiles)</a:t>
            </a:r>
          </a:p>
          <a:p>
            <a:r>
              <a:rPr lang="en-US" dirty="0"/>
              <a:t>Data collection from November to December 2014</a:t>
            </a:r>
          </a:p>
          <a:p>
            <a:r>
              <a:rPr lang="en-US" dirty="0"/>
              <a:t>Collection of 221 interviews with 120 fully completes (not sufficient)</a:t>
            </a:r>
          </a:p>
          <a:p>
            <a:r>
              <a:rPr lang="en-US" dirty="0"/>
              <a:t>Second </a:t>
            </a:r>
            <a:r>
              <a:rPr lang="en-US" dirty="0" smtClean="0"/>
              <a:t>data collection was conducted between April 2015 and July 2015</a:t>
            </a:r>
          </a:p>
          <a:p>
            <a:r>
              <a:rPr lang="en-US" dirty="0" smtClean="0"/>
              <a:t>Bigger sample – 405 interviews with 295 completes</a:t>
            </a:r>
          </a:p>
          <a:p>
            <a:r>
              <a:rPr lang="en-US" dirty="0" smtClean="0"/>
              <a:t>No changes in result</a:t>
            </a:r>
            <a:endParaRPr lang="en-US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7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6111818D-D9C6-4123-8114-9BBD53B43DC5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10</a:t>
            </a:fld>
            <a:endParaRPr lang="de-DE" altLang="de-DE" sz="1100"/>
          </a:p>
        </p:txBody>
      </p:sp>
      <p:pic>
        <p:nvPicPr>
          <p:cNvPr id="32773" name="Grafik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0648"/>
            <a:ext cx="8077351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1341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79A62CB8-3314-4563-8EA9-F9E6736C3C69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11</a:t>
            </a:fld>
            <a:endParaRPr lang="de-DE" altLang="de-DE" sz="1100"/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86368"/>
              </p:ext>
            </p:extLst>
          </p:nvPr>
        </p:nvGraphicFramePr>
        <p:xfrm>
          <a:off x="395536" y="332656"/>
          <a:ext cx="8280920" cy="55446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3747"/>
                <a:gridCol w="4142289"/>
                <a:gridCol w="1944041"/>
                <a:gridCol w="1550843"/>
              </a:tblGrid>
              <a:tr h="661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Rank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Standard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Usage “often”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Usage “rarely”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Data Documentation Initiative (DDI)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Dublin Core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661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Questionnaire and Text Interoperability (QTI)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Machine Readable Cataloguing (MARC)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661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Statistical Data and Metadata Exchange (SDMX)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Learning and Test Interoperability (LTI)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Learning Object Model (LOM)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661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Shareable Content Object Reference Model (SCORM)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661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Metadata Encoding and Transmission Standard (METS)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Text Encoding Initiative (TEI)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  <a:tr h="31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QueDex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0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6" marR="685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29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88ABAF94-8257-48A1-83E5-6A697B1AABA9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12</a:t>
            </a:fld>
            <a:endParaRPr lang="de-DE" altLang="de-DE" sz="1100"/>
          </a:p>
        </p:txBody>
      </p:sp>
      <p:pic>
        <p:nvPicPr>
          <p:cNvPr id="36869" name="Grafik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88640"/>
            <a:ext cx="840062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9202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9B7F7EB4-0BE7-4F44-8E28-19834CCC64EA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13</a:t>
            </a:fld>
            <a:endParaRPr lang="de-DE" altLang="de-DE" sz="1100"/>
          </a:p>
        </p:txBody>
      </p:sp>
      <p:pic>
        <p:nvPicPr>
          <p:cNvPr id="38917" name="Grafik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8011474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2516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6FB48705-D5D8-4483-8BD0-D5934218973D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14</a:t>
            </a:fld>
            <a:endParaRPr lang="de-DE" altLang="de-DE" sz="110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99747"/>
              </p:ext>
            </p:extLst>
          </p:nvPr>
        </p:nvGraphicFramePr>
        <p:xfrm>
          <a:off x="467544" y="332656"/>
          <a:ext cx="8298631" cy="56886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4735"/>
                <a:gridCol w="5322405"/>
                <a:gridCol w="2201491"/>
              </a:tblGrid>
              <a:tr h="9004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Rank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Metadata Standard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Usage “Do not know”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QueDex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Learning and Test Interoperability (LTI)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Shareable Content Object Reference Model (SCORM)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Text Encoding Initiative (TEI)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Machine Readable Cataloguing (MARC)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Metadata Encoding and Transmission Standard (METS)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Questionnaire and Text Interoperability (QTI)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Learning Object Model (LOM)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Statistical Data and Metadata Exchange (SDMX)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Dublin Core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  <a:tr h="4352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Data Documentation Initiative (DDI)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43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731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4CCFBF79-2912-4C1E-8FF0-35F17F089099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15</a:t>
            </a:fld>
            <a:endParaRPr lang="de-DE" altLang="de-DE" sz="1100"/>
          </a:p>
        </p:txBody>
      </p:sp>
      <p:pic>
        <p:nvPicPr>
          <p:cNvPr id="43013" name="Grafik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39086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1018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5CA20B0D-408B-4E20-9350-F91A704928BE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16</a:t>
            </a:fld>
            <a:endParaRPr lang="de-DE" altLang="de-DE" sz="1100"/>
          </a:p>
        </p:txBody>
      </p:sp>
      <p:pic>
        <p:nvPicPr>
          <p:cNvPr id="45061" name="Grafik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280920" cy="614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96709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072B090F-4930-4007-BDDB-16244AA0D390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17</a:t>
            </a:fld>
            <a:endParaRPr lang="de-DE" altLang="de-DE" sz="1100"/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749225"/>
              </p:ext>
            </p:extLst>
          </p:nvPr>
        </p:nvGraphicFramePr>
        <p:xfrm>
          <a:off x="395536" y="404664"/>
          <a:ext cx="8496944" cy="5112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9944"/>
                <a:gridCol w="2178150"/>
                <a:gridCol w="792345"/>
                <a:gridCol w="679724"/>
                <a:gridCol w="1471270"/>
                <a:gridCol w="1035063"/>
                <a:gridCol w="889889"/>
                <a:gridCol w="910559"/>
              </a:tblGrid>
              <a:tr h="597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Rank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Opinion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Strongly agree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Agree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Neither agree nor disagree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Disagree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Strongly disagree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No answer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597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Preparation of data needs to much effort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12157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I have no resources or support from my employer to hand in the data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597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My organization or I have security concern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906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I do not know where to hand in my data for archiving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597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Somebody could misinterpret my results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  <a:tr h="5979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Somebody could use my data before me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8" marR="68578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5975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5"/>
          <p:cNvSpPr txBox="1">
            <a:spLocks noChangeArrowheads="1"/>
          </p:cNvSpPr>
          <p:nvPr/>
        </p:nvSpPr>
        <p:spPr bwMode="auto">
          <a:xfrm>
            <a:off x="7700963" y="629761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1pPr>
            <a:lvl2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2pPr>
            <a:lvl3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3pPr>
            <a:lvl4pPr>
              <a:lnSpc>
                <a:spcPct val="14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6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4A4A4A"/>
                </a:solidFill>
                <a:latin typeface="Arial" panose="020B0604020202020204" pitchFamily="34" charset="0"/>
                <a:ea typeface="DejaVu Sans" charset="0"/>
                <a:cs typeface="DejaVu Sans" charset="0"/>
              </a:defRPr>
            </a:lvl9pPr>
          </a:lstStyle>
          <a:p>
            <a:pPr algn="r" eaLnBrk="1" hangingPunct="1">
              <a:lnSpc>
                <a:spcPct val="100000"/>
              </a:lnSpc>
              <a:buClrTx/>
              <a:buFontTx/>
              <a:buNone/>
            </a:pPr>
            <a:fld id="{CB705939-594D-4C54-8110-3AC7DFF9D356}" type="slidenum">
              <a:rPr lang="de-DE" altLang="de-DE" sz="1100"/>
              <a:pPr algn="r" eaLnBrk="1" hangingPunct="1">
                <a:lnSpc>
                  <a:spcPct val="100000"/>
                </a:lnSpc>
                <a:buClrTx/>
                <a:buFontTx/>
                <a:buNone/>
              </a:pPr>
              <a:t>18</a:t>
            </a:fld>
            <a:endParaRPr lang="de-DE" altLang="de-DE" sz="110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202940"/>
              </p:ext>
            </p:extLst>
          </p:nvPr>
        </p:nvGraphicFramePr>
        <p:xfrm>
          <a:off x="323528" y="332656"/>
          <a:ext cx="8352928" cy="5688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794"/>
                <a:gridCol w="1448688"/>
                <a:gridCol w="1137750"/>
                <a:gridCol w="895125"/>
                <a:gridCol w="1330909"/>
                <a:gridCol w="1001911"/>
                <a:gridCol w="895125"/>
                <a:gridCol w="1112626"/>
              </a:tblGrid>
              <a:tr h="7336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Rank</a:t>
                      </a:r>
                      <a:endParaRPr lang="de-DE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Category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Very important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Important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Neither important nor unimportant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Not that important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Not at all important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No answer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6316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Data is cited as secondary publication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30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7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419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Support from the employer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26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31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10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10280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Co-authorship in secondary publications based on the data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17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35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8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10280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Archive provides list of publications based on the data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15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43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13</a:t>
                      </a:r>
                      <a:endParaRPr lang="de-DE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8197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5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Archive informs data producer who accessed the data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31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7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4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3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  <a:tr h="10280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6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The data producer receives a financial compensation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7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12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28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16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</a:rPr>
                        <a:t>13</a:t>
                      </a:r>
                      <a:endParaRPr lang="de-DE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</a:rPr>
                        <a:t>5</a:t>
                      </a:r>
                      <a:endParaRPr lang="de-DE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36" marR="6123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374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Meaning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DDI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DDI can be extended to support computer-based assessment platforms</a:t>
            </a:r>
          </a:p>
          <a:p>
            <a:r>
              <a:rPr lang="en-US" sz="2000" dirty="0"/>
              <a:t>Educational scientists know DDI better than native educational metadata standards like QTI or SCORM</a:t>
            </a:r>
          </a:p>
          <a:p>
            <a:r>
              <a:rPr lang="en-US" sz="2000" dirty="0"/>
              <a:t>As expected layout, scoring rules and </a:t>
            </a:r>
            <a:r>
              <a:rPr lang="en-US" sz="2000" dirty="0" err="1"/>
              <a:t>logfiles</a:t>
            </a:r>
            <a:r>
              <a:rPr lang="en-US" sz="2000" dirty="0"/>
              <a:t> have a higher importance for educational scientists than for social scientists</a:t>
            </a:r>
          </a:p>
          <a:p>
            <a:r>
              <a:rPr lang="en-US" sz="2000" dirty="0"/>
              <a:t>If the DDI Alliance wants to extend DDI4 for the educational sciences two further modules might be needed in the long run:</a:t>
            </a:r>
          </a:p>
          <a:p>
            <a:pPr lvl="1"/>
            <a:r>
              <a:rPr lang="en-US" sz="2000" dirty="0"/>
              <a:t>„Simple cognitive item“ (e.g. hotspot, </a:t>
            </a:r>
            <a:r>
              <a:rPr lang="en-US" sz="2000" dirty="0" err="1"/>
              <a:t>point&amp;click</a:t>
            </a:r>
            <a:r>
              <a:rPr lang="en-US" sz="2000" dirty="0"/>
              <a:t>, multiple choice, cloze test)</a:t>
            </a:r>
          </a:p>
          <a:p>
            <a:pPr lvl="1"/>
            <a:r>
              <a:rPr lang="en-US" sz="2000" dirty="0"/>
              <a:t>„Complex cognitive item“ (e.g. simulations, </a:t>
            </a:r>
            <a:r>
              <a:rPr lang="en-US" sz="2000" dirty="0" err="1"/>
              <a:t>MicroDYN</a:t>
            </a:r>
            <a:r>
              <a:rPr lang="en-US" sz="2000" dirty="0"/>
              <a:t>, </a:t>
            </a:r>
            <a:r>
              <a:rPr lang="en-US" sz="2000" dirty="0" err="1"/>
              <a:t>MicroFIN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C9A6AC45-B590-4A8B-8163-943DBCC2BE7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5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page </a:t>
            </a:r>
            <a:fld id="{2D869E50-38E6-4BDD-B407-56A40743DD1A}" type="slidenum">
              <a:rPr lang="en-US"/>
              <a:pPr/>
              <a:t>20</a:t>
            </a:fld>
            <a:endParaRPr lang="en-US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1488" y="1958975"/>
            <a:ext cx="7772400" cy="1254125"/>
          </a:xfrm>
        </p:spPr>
        <p:txBody>
          <a:bodyPr/>
          <a:lstStyle/>
          <a:p>
            <a:r>
              <a:rPr lang="de-CH"/>
              <a:t>Thanks for your attention.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orlage_sii_english">
  <a:themeElements>
    <a:clrScheme name="vorlage_sii_english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vorlage_sii_englis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66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666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vorlage_sii_english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_sii_english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_sii_english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vorlage_sii_english</Template>
  <TotalTime>0</TotalTime>
  <Words>976</Words>
  <Application>Microsoft Office PowerPoint</Application>
  <PresentationFormat>Bildschirmpräsentation (4:3)</PresentationFormat>
  <Paragraphs>291</Paragraphs>
  <Slides>20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Arial</vt:lpstr>
      <vt:lpstr>Calibri</vt:lpstr>
      <vt:lpstr>DejaVu Sans</vt:lpstr>
      <vt:lpstr>Times New Roman</vt:lpstr>
      <vt:lpstr>Wingdings</vt:lpstr>
      <vt:lpstr>vorlage_sii_english</vt:lpstr>
      <vt:lpstr>Advances in metadata systems</vt:lpstr>
      <vt:lpstr>Agenda</vt:lpstr>
      <vt:lpstr>Introduction</vt:lpstr>
      <vt:lpstr>Metadata in the educational sciences</vt:lpstr>
      <vt:lpstr>Metadata in the educational sciences</vt:lpstr>
      <vt:lpstr>PIAAC Literacy Item</vt:lpstr>
      <vt:lpstr>PIAAC Problem Solving Item</vt:lpstr>
      <vt:lpstr>CBA Itembuilder MicroFIN item</vt:lpstr>
      <vt:lpstr>The survey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Meaning of the results for DDI</vt:lpstr>
      <vt:lpstr>Thanks for your attention.</vt:lpstr>
    </vt:vector>
  </TitlesOfParts>
  <Company>HTW Chur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Advances in metadata systems</dc:title>
  <dc:creator>Barkow Ingo</dc:creator>
  <cp:lastModifiedBy>Barkow, Ingo</cp:lastModifiedBy>
  <cp:revision>18</cp:revision>
  <dcterms:created xsi:type="dcterms:W3CDTF">2015-11-04T09:02:55Z</dcterms:created>
  <dcterms:modified xsi:type="dcterms:W3CDTF">2015-12-02T13:04:44Z</dcterms:modified>
</cp:coreProperties>
</file>