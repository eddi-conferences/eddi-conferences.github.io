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5"/>
  </p:sldMasterIdLst>
  <p:notesMasterIdLst>
    <p:notesMasterId r:id="rId14"/>
  </p:notesMasterIdLst>
  <p:sldIdLst>
    <p:sldId id="256" r:id="rId6"/>
    <p:sldId id="266" r:id="rId7"/>
    <p:sldId id="264" r:id="rId8"/>
    <p:sldId id="257" r:id="rId9"/>
    <p:sldId id="263" r:id="rId10"/>
    <p:sldId id="270" r:id="rId11"/>
    <p:sldId id="265" r:id="rId12"/>
    <p:sldId id="271" r:id="rId13"/>
  </p:sldIdLst>
  <p:sldSz cx="9144000" cy="6858000" type="screen4x3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578" autoAdjust="0"/>
  </p:normalViewPr>
  <p:slideViewPr>
    <p:cSldViewPr>
      <p:cViewPr varScale="1">
        <p:scale>
          <a:sx n="71" d="100"/>
          <a:sy n="71" d="100"/>
        </p:scale>
        <p:origin x="1267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8" d="100"/>
          <a:sy n="98" d="100"/>
        </p:scale>
        <p:origin x="-3564" y="-9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28FA7C3C-5108-4C45-BA58-DDEFC9EB2741}" type="datetimeFigureOut">
              <a:rPr lang="de-DE" smtClean="0"/>
              <a:t>01.12.2015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EB8DFAB-5E93-49E7-B734-67F5C72812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7479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B8DFAB-5E93-49E7-B734-67F5C728124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7431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B8DFAB-5E93-49E7-B734-67F5C728124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7224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B8DFAB-5E93-49E7-B734-67F5C728124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2605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B8DFAB-5E93-49E7-B734-67F5C728124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588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>
          <a:xfrm>
            <a:off x="1475656" y="6356350"/>
            <a:ext cx="1115144" cy="365125"/>
          </a:xfrm>
        </p:spPr>
        <p:txBody>
          <a:bodyPr/>
          <a:lstStyle/>
          <a:p>
            <a:fld id="{8B7BA6AC-B8CF-4C90-B612-21023ED4F75C}" type="datetime1">
              <a:rPr lang="de-DE" smtClean="0"/>
              <a:t>01.12.2015</a:t>
            </a:fld>
            <a:endParaRPr lang="de-DE" dirty="0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026" name="Picture 2" descr="J:\NEU\Corporate Design\Leibniz BMBF etc\Leibniz\Logos\Mitglieder Logos DE-EN\Member_WGL_4c_E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287" y="6021288"/>
            <a:ext cx="1085369" cy="71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133872"/>
            <a:ext cx="8229600" cy="1143000"/>
          </a:xfrm>
        </p:spPr>
        <p:txBody>
          <a:bodyPr>
            <a:noAutofit/>
          </a:bodyPr>
          <a:lstStyle>
            <a:lvl1pPr algn="l">
              <a:defRPr sz="3500"/>
            </a:lvl1pPr>
          </a:lstStyle>
          <a:p>
            <a:r>
              <a:rPr lang="en-US" noProof="0" dirty="0" err="1" smtClean="0"/>
              <a:t>Titelmasterformat</a:t>
            </a:r>
            <a:r>
              <a:rPr lang="en-US" noProof="0" dirty="0" smtClean="0"/>
              <a:t> </a:t>
            </a:r>
            <a:r>
              <a:rPr lang="en-US" noProof="0" dirty="0" err="1" smtClean="0"/>
              <a:t>durch</a:t>
            </a:r>
            <a:r>
              <a:rPr lang="en-US" noProof="0" dirty="0" smtClean="0"/>
              <a:t>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3816424"/>
          </a:xfrm>
        </p:spPr>
        <p:txBody>
          <a:bodyPr>
            <a:normAutofit/>
          </a:bodyPr>
          <a:lstStyle>
            <a:lvl1pPr>
              <a:defRPr sz="2500"/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</a:lstStyle>
          <a:p>
            <a:pPr lvl="0"/>
            <a:r>
              <a:rPr lang="en-US" noProof="0" dirty="0" err="1" smtClean="0"/>
              <a:t>Textmasterformate</a:t>
            </a:r>
            <a:r>
              <a:rPr lang="en-US" noProof="0" dirty="0" smtClean="0"/>
              <a:t> </a:t>
            </a:r>
            <a:r>
              <a:rPr lang="en-US" noProof="0" dirty="0" err="1" smtClean="0"/>
              <a:t>durch</a:t>
            </a:r>
            <a:r>
              <a:rPr lang="en-US" noProof="0" dirty="0" smtClean="0"/>
              <a:t>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Zweite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Dritte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4"/>
            <a:r>
              <a:rPr lang="en-US" noProof="0" dirty="0" err="1" smtClean="0"/>
              <a:t>Fünfte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>
          <a:xfrm>
            <a:off x="1115616" y="6356350"/>
            <a:ext cx="1475184" cy="365125"/>
          </a:xfrm>
        </p:spPr>
        <p:txBody>
          <a:bodyPr/>
          <a:lstStyle/>
          <a:p>
            <a:fld id="{7C5E2BA6-6308-49F2-915A-2355829D7ECA}" type="datetime1">
              <a:rPr lang="de-DE" smtClean="0"/>
              <a:t>01.12.2015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1" name="Picture 2" descr="J:\NEU\Corporate Design\Leibniz BMBF etc\Leibniz\Logos\Mitglieder Logos DE-EN\Member_WGL_4c_E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08" y="6385956"/>
            <a:ext cx="542685" cy="35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>
          <a:xfrm>
            <a:off x="1115616" y="6356350"/>
            <a:ext cx="1475184" cy="365125"/>
          </a:xfrm>
        </p:spPr>
        <p:txBody>
          <a:bodyPr/>
          <a:lstStyle/>
          <a:p>
            <a:fld id="{0DD052EF-96CD-42DC-A037-A6E962DC702A}" type="datetime1">
              <a:rPr lang="de-DE" smtClean="0"/>
              <a:t>01.12.2015</a:t>
            </a:fld>
            <a:endParaRPr lang="de-DE"/>
          </a:p>
        </p:txBody>
      </p:sp>
      <p:pic>
        <p:nvPicPr>
          <p:cNvPr id="8" name="Picture 2" descr="J:\NEU\Corporate Design\Leibniz BMBF etc\Leibniz\Logos\Mitglieder Logos DE-EN\Member_WGL_4c_E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08" y="6385956"/>
            <a:ext cx="542685" cy="35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0"/>
          </p:nvPr>
        </p:nvSpPr>
        <p:spPr>
          <a:xfrm>
            <a:off x="1115616" y="6356350"/>
            <a:ext cx="1475184" cy="365125"/>
          </a:xfrm>
        </p:spPr>
        <p:txBody>
          <a:bodyPr/>
          <a:lstStyle/>
          <a:p>
            <a:fld id="{405EF1FD-1ED4-4007-A0D1-AAD5D86AFD7D}" type="datetime1">
              <a:rPr lang="de-DE" smtClean="0"/>
              <a:t>01.12.2015</a:t>
            </a:fld>
            <a:endParaRPr lang="de-DE"/>
          </a:p>
        </p:txBody>
      </p:sp>
      <p:pic>
        <p:nvPicPr>
          <p:cNvPr id="9" name="Picture 2" descr="J:\NEU\Corporate Design\Leibniz BMBF etc\Leibniz\Logos\Mitglieder Logos DE-EN\Member_WGL_4c_E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08" y="6385956"/>
            <a:ext cx="542685" cy="35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50030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3214687"/>
            <a:ext cx="4040188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250030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3214687"/>
            <a:ext cx="4041775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0"/>
          </p:nvPr>
        </p:nvSpPr>
        <p:spPr>
          <a:xfrm>
            <a:off x="1115616" y="6356350"/>
            <a:ext cx="1475184" cy="365125"/>
          </a:xfrm>
        </p:spPr>
        <p:txBody>
          <a:bodyPr/>
          <a:lstStyle/>
          <a:p>
            <a:fld id="{CC9A26FA-E7BD-4CDC-95CA-6FB4D19B6768}" type="datetime1">
              <a:rPr lang="de-DE" smtClean="0"/>
              <a:t>01.12.2015</a:t>
            </a:fld>
            <a:endParaRPr lang="de-DE"/>
          </a:p>
        </p:txBody>
      </p:sp>
      <p:pic>
        <p:nvPicPr>
          <p:cNvPr id="11" name="Picture 2" descr="J:\NEU\Corporate Design\Leibniz BMBF etc\Leibniz\Logos\Mitglieder Logos DE-EN\Member_WGL_4c_E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08" y="6385956"/>
            <a:ext cx="542685" cy="35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0"/>
          </p:nvPr>
        </p:nvSpPr>
        <p:spPr>
          <a:xfrm>
            <a:off x="1115616" y="6356350"/>
            <a:ext cx="1475184" cy="365125"/>
          </a:xfrm>
        </p:spPr>
        <p:txBody>
          <a:bodyPr/>
          <a:lstStyle/>
          <a:p>
            <a:fld id="{DF936CAA-A3C7-469F-8E3F-4C1CD672D5E9}" type="datetime1">
              <a:rPr lang="de-DE" smtClean="0"/>
              <a:t>01.12.2015</a:t>
            </a:fld>
            <a:endParaRPr lang="de-DE"/>
          </a:p>
        </p:txBody>
      </p:sp>
      <p:pic>
        <p:nvPicPr>
          <p:cNvPr id="7" name="Picture 2" descr="J:\NEU\Corporate Design\Leibniz BMBF etc\Leibniz\Logos\Mitglieder Logos DE-EN\Member_WGL_4c_E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08" y="6385956"/>
            <a:ext cx="542685" cy="35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>
          <a:xfrm>
            <a:off x="1115616" y="6356350"/>
            <a:ext cx="1475184" cy="365125"/>
          </a:xfrm>
        </p:spPr>
        <p:txBody>
          <a:bodyPr/>
          <a:lstStyle/>
          <a:p>
            <a:fld id="{001A9138-1760-40FD-8639-80C2E3302B43}" type="datetime1">
              <a:rPr lang="de-DE" smtClean="0"/>
              <a:t>01.12.2015</a:t>
            </a:fld>
            <a:endParaRPr lang="de-DE"/>
          </a:p>
        </p:txBody>
      </p:sp>
      <p:pic>
        <p:nvPicPr>
          <p:cNvPr id="8" name="Picture 2" descr="J:\NEU\Corporate Design\Leibniz BMBF etc\Leibniz\Logos\Mitglieder Logos DE-EN\Member_WGL_4c_E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08" y="6385956"/>
            <a:ext cx="542685" cy="35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1214422"/>
            <a:ext cx="5111750" cy="491174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2500306"/>
            <a:ext cx="3008313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0"/>
          </p:nvPr>
        </p:nvSpPr>
        <p:spPr>
          <a:xfrm>
            <a:off x="1115616" y="6356350"/>
            <a:ext cx="1475184" cy="365125"/>
          </a:xfrm>
        </p:spPr>
        <p:txBody>
          <a:bodyPr/>
          <a:lstStyle/>
          <a:p>
            <a:fld id="{2804A200-5040-41D8-9965-D0DB2F42AAD2}" type="datetime1">
              <a:rPr lang="de-DE" smtClean="0"/>
              <a:t>01.12.2015</a:t>
            </a:fld>
            <a:endParaRPr lang="de-DE"/>
          </a:p>
        </p:txBody>
      </p:sp>
      <p:pic>
        <p:nvPicPr>
          <p:cNvPr id="9" name="Picture 2" descr="J:\NEU\Corporate Design\Leibniz BMBF etc\Leibniz\Logos\Mitglieder Logos DE-EN\Member_WGL_4c_E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08" y="6385956"/>
            <a:ext cx="542685" cy="35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1196751"/>
            <a:ext cx="5486400" cy="35308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0"/>
          </p:nvPr>
        </p:nvSpPr>
        <p:spPr>
          <a:xfrm>
            <a:off x="1115616" y="6356350"/>
            <a:ext cx="1475184" cy="365125"/>
          </a:xfrm>
        </p:spPr>
        <p:txBody>
          <a:bodyPr/>
          <a:lstStyle/>
          <a:p>
            <a:fld id="{00B00C7C-63DD-40D7-B3DC-D2B58878B1BE}" type="datetime1">
              <a:rPr lang="de-DE" smtClean="0"/>
              <a:t>01.12.2015</a:t>
            </a:fld>
            <a:endParaRPr lang="de-DE"/>
          </a:p>
        </p:txBody>
      </p:sp>
      <p:pic>
        <p:nvPicPr>
          <p:cNvPr id="9" name="Picture 2" descr="J:\NEU\Corporate Design\Leibniz BMBF etc\Leibniz\Logos\Mitglieder Logos DE-EN\Member_WGL_4c_E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08" y="6385956"/>
            <a:ext cx="542685" cy="35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500306"/>
            <a:ext cx="8229600" cy="3625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pic>
        <p:nvPicPr>
          <p:cNvPr id="7" name="Grafik 6" descr="GS_Kopf PPT_en.bmp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0" y="0"/>
            <a:ext cx="9144000" cy="1066800"/>
          </a:xfrm>
          <a:prstGeom prst="rect">
            <a:avLst/>
          </a:prstGeom>
        </p:spPr>
      </p:pic>
      <p:sp>
        <p:nvSpPr>
          <p:cNvPr id="6" name="Datumsplatzhalter 3"/>
          <p:cNvSpPr>
            <a:spLocks noGrp="1"/>
          </p:cNvSpPr>
          <p:nvPr>
            <p:ph type="dt" sz="half" idx="2"/>
          </p:nvPr>
        </p:nvSpPr>
        <p:spPr>
          <a:xfrm>
            <a:off x="1115616" y="6356350"/>
            <a:ext cx="14751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A8ED1E7D-0949-4BA7-9B2B-2F9B128C4EF9}" type="datetime1">
              <a:rPr lang="de-DE" smtClean="0"/>
              <a:t>01.12.2015</a:t>
            </a:fld>
            <a:endParaRPr lang="de-DE" dirty="0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407C1131-679B-4DD1-802F-23CB41FA8BDC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claus-peter.klas@gesis.org" TargetMode="External"/><Relationship Id="rId2" Type="http://schemas.openxmlformats.org/officeDocument/2006/relationships/hyperlink" Target="mailto:manuela.blumenberg@gesis.or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wolfgang.zenk-moeltgen@gesis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000" dirty="0" smtClean="0"/>
              <a:t>Implementing DDI-Lifecycle for </a:t>
            </a:r>
            <a:br>
              <a:rPr lang="en-US" sz="3000" dirty="0" smtClean="0"/>
            </a:br>
            <a:r>
              <a:rPr lang="en-US" sz="3000" dirty="0" smtClean="0"/>
              <a:t>Data Collection within the </a:t>
            </a:r>
            <a:br>
              <a:rPr lang="en-US" sz="3000" dirty="0" smtClean="0"/>
            </a:br>
            <a:r>
              <a:rPr lang="en-US" sz="3000" dirty="0" smtClean="0"/>
              <a:t>German Longitudinal Election Study</a:t>
            </a:r>
            <a:endParaRPr lang="en-US" sz="3000" dirty="0"/>
          </a:p>
        </p:txBody>
      </p:sp>
      <p:sp>
        <p:nvSpPr>
          <p:cNvPr id="7" name="Untertitel 6"/>
          <p:cNvSpPr>
            <a:spLocks noGrp="1"/>
          </p:cNvSpPr>
          <p:nvPr>
            <p:ph type="subTitle" idx="1"/>
          </p:nvPr>
        </p:nvSpPr>
        <p:spPr>
          <a:xfrm>
            <a:off x="919572" y="3861048"/>
            <a:ext cx="7304856" cy="17526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Manuela </a:t>
            </a:r>
            <a:r>
              <a:rPr lang="en-US" sz="1800" dirty="0" err="1" smtClean="0"/>
              <a:t>Blumenberg</a:t>
            </a:r>
            <a:r>
              <a:rPr lang="en-US" sz="1800" dirty="0" smtClean="0"/>
              <a:t>, Claus-Peter </a:t>
            </a:r>
            <a:r>
              <a:rPr lang="en-US" sz="1800" dirty="0" err="1" smtClean="0"/>
              <a:t>Klas</a:t>
            </a:r>
            <a:r>
              <a:rPr lang="en-US" sz="1800" dirty="0" smtClean="0"/>
              <a:t>, Wolfgang </a:t>
            </a:r>
            <a:r>
              <a:rPr lang="en-US" sz="1800" dirty="0" err="1" smtClean="0"/>
              <a:t>Zenk-Möltgen</a:t>
            </a:r>
            <a:r>
              <a:rPr lang="en-US" sz="1800" dirty="0" smtClean="0"/>
              <a:t> (GESIS – Leibniz-</a:t>
            </a:r>
            <a:r>
              <a:rPr lang="en-US" sz="1800" dirty="0" err="1" smtClean="0"/>
              <a:t>Insitute</a:t>
            </a:r>
            <a:r>
              <a:rPr lang="en-US" sz="1800" dirty="0" smtClean="0"/>
              <a:t> for the Social Science)</a:t>
            </a:r>
          </a:p>
          <a:p>
            <a:endParaRPr lang="en-US" sz="1800" dirty="0" smtClean="0"/>
          </a:p>
          <a:p>
            <a:r>
              <a:rPr lang="en-US" sz="1800" dirty="0" smtClean="0"/>
              <a:t>EDDI - Annual European DDI User Conference 2015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German Longitudinal </a:t>
            </a:r>
            <a:r>
              <a:rPr lang="de-DE" dirty="0" err="1" smtClean="0"/>
              <a:t>Election</a:t>
            </a:r>
            <a:r>
              <a:rPr lang="de-DE" dirty="0" smtClean="0"/>
              <a:t> Study</a:t>
            </a:r>
            <a:endParaRPr lang="de-DE" dirty="0"/>
          </a:p>
        </p:txBody>
      </p:sp>
      <p:sp>
        <p:nvSpPr>
          <p:cNvPr id="5" name="Rechteck 4"/>
          <p:cNvSpPr/>
          <p:nvPr/>
        </p:nvSpPr>
        <p:spPr>
          <a:xfrm>
            <a:off x="107504" y="5949280"/>
            <a:ext cx="1152128" cy="836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/>
          <p:cNvSpPr/>
          <p:nvPr/>
        </p:nvSpPr>
        <p:spPr>
          <a:xfrm>
            <a:off x="8316416" y="6237312"/>
            <a:ext cx="504056" cy="4841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2856"/>
            <a:ext cx="9144000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41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 portal for the whole study lifecycle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Functions</a:t>
            </a:r>
          </a:p>
          <a:p>
            <a:r>
              <a:rPr lang="en-US" dirty="0" smtClean="0"/>
              <a:t>Study and study description</a:t>
            </a:r>
          </a:p>
          <a:p>
            <a:r>
              <a:rPr lang="en-US" dirty="0" smtClean="0"/>
              <a:t>Questionnaires</a:t>
            </a:r>
          </a:p>
          <a:p>
            <a:r>
              <a:rPr lang="en-US" dirty="0" smtClean="0"/>
              <a:t>Administrating of and discussions on questions</a:t>
            </a:r>
          </a:p>
          <a:p>
            <a:r>
              <a:rPr lang="en-US" dirty="0" smtClean="0"/>
              <a:t>Export to DDI, SPSS, Word, and PDF</a:t>
            </a:r>
          </a:p>
          <a:p>
            <a:r>
              <a:rPr lang="en-US" dirty="0" smtClean="0"/>
              <a:t>Transfer of data and meta data for archiving </a:t>
            </a:r>
          </a:p>
          <a:p>
            <a:endParaRPr lang="en-US" sz="1500" dirty="0" smtClean="0"/>
          </a:p>
          <a:p>
            <a:pPr marL="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 Standardization </a:t>
            </a:r>
            <a:r>
              <a:rPr lang="en-US" dirty="0">
                <a:sym typeface="Wingdings" panose="05000000000000000000" pitchFamily="2" charset="2"/>
              </a:rPr>
              <a:t>of operational </a:t>
            </a:r>
            <a:r>
              <a:rPr lang="en-US" dirty="0" smtClean="0">
                <a:sym typeface="Wingdings" panose="05000000000000000000" pitchFamily="2" charset="2"/>
              </a:rPr>
              <a:t>procedure with DDI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7743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-108520" y="0"/>
            <a:ext cx="9721080" cy="15567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7" y="394324"/>
            <a:ext cx="9058667" cy="645333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58310" y="620688"/>
            <a:ext cx="4334170" cy="1143000"/>
          </a:xfrm>
        </p:spPr>
        <p:txBody>
          <a:bodyPr/>
          <a:lstStyle/>
          <a:p>
            <a:r>
              <a:rPr lang="en-US" dirty="0" smtClean="0"/>
              <a:t>Creating of items / questionnaire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404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Survey</a:t>
            </a:r>
            <a:endParaRPr lang="en-US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2856"/>
            <a:ext cx="9174254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4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Archiving and dissemination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" y="2132856"/>
            <a:ext cx="9124038" cy="419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42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Goals 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Support in each part of study lifecycle</a:t>
            </a:r>
          </a:p>
          <a:p>
            <a:r>
              <a:rPr lang="en-US" dirty="0" smtClean="0"/>
              <a:t>Harmonization of processes</a:t>
            </a:r>
          </a:p>
          <a:p>
            <a:r>
              <a:rPr lang="en-US" dirty="0" smtClean="0"/>
              <a:t>Integration of other GESIS tools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Abgerundetes Rechteck 7"/>
          <p:cNvSpPr/>
          <p:nvPr/>
        </p:nvSpPr>
        <p:spPr>
          <a:xfrm>
            <a:off x="611560" y="4077072"/>
            <a:ext cx="3600000" cy="216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500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Short-term goal</a:t>
            </a:r>
          </a:p>
          <a:p>
            <a:r>
              <a:rPr lang="en-US" sz="25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Preparation of the portal for the GLES 2017</a:t>
            </a:r>
          </a:p>
        </p:txBody>
      </p:sp>
      <p:sp>
        <p:nvSpPr>
          <p:cNvPr id="9" name="Abgerundetes Rechteck 8"/>
          <p:cNvSpPr/>
          <p:nvPr/>
        </p:nvSpPr>
        <p:spPr>
          <a:xfrm>
            <a:off x="5004048" y="4077072"/>
            <a:ext cx="3600000" cy="2160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500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Long-term goal</a:t>
            </a:r>
          </a:p>
          <a:p>
            <a:r>
              <a:rPr lang="en-US" sz="25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Preparation of the portal for other survey programs </a:t>
            </a:r>
          </a:p>
        </p:txBody>
      </p:sp>
    </p:spTree>
    <p:extLst>
      <p:ext uri="{BB962C8B-B14F-4D97-AF65-F5344CB8AC3E}">
        <p14:creationId xmlns:p14="http://schemas.microsoft.com/office/powerpoint/2010/main" val="200029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 for your attention!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u="sng" dirty="0" err="1" smtClean="0"/>
              <a:t>Contact</a:t>
            </a:r>
            <a:endParaRPr lang="de-DE" sz="2000" u="sng" dirty="0" smtClean="0"/>
          </a:p>
          <a:p>
            <a:pPr marL="0" indent="0">
              <a:buNone/>
            </a:pPr>
            <a:endParaRPr lang="de-DE" sz="500" dirty="0"/>
          </a:p>
          <a:p>
            <a:pPr marL="0" indent="0">
              <a:buNone/>
            </a:pPr>
            <a:r>
              <a:rPr lang="de-DE" sz="2000" dirty="0" smtClean="0"/>
              <a:t>Manuela Blumenberg</a:t>
            </a:r>
          </a:p>
          <a:p>
            <a:pPr marL="0" indent="0">
              <a:buNone/>
            </a:pPr>
            <a:r>
              <a:rPr lang="de-DE" sz="2000" dirty="0" smtClean="0"/>
              <a:t>Email: </a:t>
            </a:r>
            <a:r>
              <a:rPr lang="de-DE" sz="2000" dirty="0" smtClean="0">
                <a:hlinkClick r:id="rId2"/>
              </a:rPr>
              <a:t>manuela.blumenberg@gesis.org</a:t>
            </a:r>
            <a:endParaRPr lang="de-DE" sz="2000" dirty="0" smtClean="0"/>
          </a:p>
          <a:p>
            <a:pPr marL="0" indent="0">
              <a:buNone/>
            </a:pPr>
            <a:endParaRPr lang="de-DE" sz="1000" dirty="0"/>
          </a:p>
          <a:p>
            <a:pPr marL="0" indent="0">
              <a:buNone/>
            </a:pPr>
            <a:r>
              <a:rPr lang="de-DE" sz="2000" dirty="0" smtClean="0"/>
              <a:t>Claus-Peter Klas</a:t>
            </a:r>
          </a:p>
          <a:p>
            <a:pPr marL="0" indent="0">
              <a:buNone/>
            </a:pPr>
            <a:r>
              <a:rPr lang="de-DE" sz="2000" dirty="0" smtClean="0"/>
              <a:t>Email: </a:t>
            </a:r>
            <a:r>
              <a:rPr lang="de-DE" sz="2000" dirty="0" smtClean="0">
                <a:hlinkClick r:id="rId3"/>
              </a:rPr>
              <a:t>claus-peter.klas@gesis.org</a:t>
            </a:r>
            <a:endParaRPr lang="de-DE" sz="2000" dirty="0" smtClean="0"/>
          </a:p>
          <a:p>
            <a:pPr marL="0" indent="0">
              <a:buNone/>
            </a:pPr>
            <a:endParaRPr lang="de-DE" sz="1000" dirty="0"/>
          </a:p>
          <a:p>
            <a:pPr marL="0" indent="0">
              <a:buNone/>
            </a:pPr>
            <a:r>
              <a:rPr lang="de-DE" sz="2000" dirty="0" smtClean="0"/>
              <a:t>Wolfgang </a:t>
            </a:r>
            <a:r>
              <a:rPr lang="de-DE" sz="2000" dirty="0" err="1" smtClean="0"/>
              <a:t>Zenk-Möltgen</a:t>
            </a:r>
            <a:endParaRPr lang="de-DE" sz="2000" dirty="0" smtClean="0"/>
          </a:p>
          <a:p>
            <a:pPr marL="0" indent="0">
              <a:buNone/>
            </a:pPr>
            <a:r>
              <a:rPr lang="de-DE" sz="2000" dirty="0" smtClean="0"/>
              <a:t>Email: </a:t>
            </a:r>
            <a:r>
              <a:rPr lang="de-DE" sz="2000" dirty="0" smtClean="0">
                <a:hlinkClick r:id="rId4"/>
              </a:rPr>
              <a:t>wolfgang.zenk-moeltgen@gesis.org</a:t>
            </a:r>
            <a:r>
              <a:rPr lang="de-DE" sz="2000" dirty="0" smtClean="0"/>
              <a:t> 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250128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nutzerdefiniertes 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>
  <documentManagement>
    <_dlc_DocIdUrl xmlns="f90a23b0-552c-4f8d-b330-f53f4fcdfcf9">
      <Url>http://intranet.gesis.intra/pr/Vorlagen/_layouts/DocIdRedir.aspx?ID=GESISDOC-552-18</Url>
      <Description>GESISDOC-552-18</Description>
    </_dlc_DocIdUrl>
    <_dlc_DocId xmlns="f90a23b0-552c-4f8d-b330-f53f4fcdfcf9">GESISDOC-552-18</_dlc_DocId>
    <Gremium_x0020_intern xmlns="f90a23b0-552c-4f8d-b330-f53f4fcdfcf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1ACB0F0E4D8D847898BCFF327EAA86F" ma:contentTypeVersion="14" ma:contentTypeDescription="Ein neues Dokument erstellen." ma:contentTypeScope="" ma:versionID="76c2ecf54bc48df689f7fd88d9137d51">
  <xsd:schema xmlns:xsd="http://www.w3.org/2001/XMLSchema" xmlns:xs="http://www.w3.org/2001/XMLSchema" xmlns:p="http://schemas.microsoft.com/office/2006/metadata/properties" xmlns:ns2="f90a23b0-552c-4f8d-b330-f53f4fcdfcf9" targetNamespace="http://schemas.microsoft.com/office/2006/metadata/properties" ma:root="true" ma:fieldsID="8cdd3350cfa562b8407acbb6ac326664" ns2:_="">
    <xsd:import namespace="f90a23b0-552c-4f8d-b330-f53f4fcdfcf9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Gremium_x0020_inter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0a23b0-552c-4f8d-b330-f53f4fcdfcf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  <xsd:element name="Gremium_x0020_intern" ma:index="11" nillable="true" ma:displayName="Gremium intern" ma:format="Dropdown" ma:internalName="Gremium_x0020_intern">
      <xsd:simpleType>
        <xsd:restriction base="dms:Choice">
          <xsd:enumeration value="KWA"/>
          <xsd:enumeration value="Institutsrat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2FFA55-C622-4F3D-AABF-4236B175EAD1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4449D386-2FCB-4353-94CE-7C0896CF81B1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f90a23b0-552c-4f8d-b330-f53f4fcdfcf9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12E0BAE-FAF0-4E78-A2C3-2AAC064B5FD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4C6A0AD-9779-44C8-8F68-AE936549AF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0a23b0-552c-4f8d-b330-f53f4fcdfc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147</Words>
  <Application>Microsoft Office PowerPoint</Application>
  <PresentationFormat>Bildschirmpräsentation (4:3)</PresentationFormat>
  <Paragraphs>40</Paragraphs>
  <Slides>8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Benutzerdefiniertes Design</vt:lpstr>
      <vt:lpstr>Implementing DDI-Lifecycle for  Data Collection within the  German Longitudinal Election Study</vt:lpstr>
      <vt:lpstr>German Longitudinal Election Study</vt:lpstr>
      <vt:lpstr>One portal for the whole study lifecycle</vt:lpstr>
      <vt:lpstr>Creating of items / questionnaire </vt:lpstr>
      <vt:lpstr>Survey</vt:lpstr>
      <vt:lpstr>Archiving and dissemination</vt:lpstr>
      <vt:lpstr>Goals </vt:lpstr>
      <vt:lpstr>Thank you for your attention!</vt:lpstr>
    </vt:vector>
  </TitlesOfParts>
  <Company>IZ Sozialwissenschaften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Heuser</dc:creator>
  <cp:lastModifiedBy>Manuela</cp:lastModifiedBy>
  <cp:revision>24</cp:revision>
  <cp:lastPrinted>2015-12-01T22:18:13Z</cp:lastPrinted>
  <dcterms:created xsi:type="dcterms:W3CDTF">2009-05-26T11:46:45Z</dcterms:created>
  <dcterms:modified xsi:type="dcterms:W3CDTF">2015-12-01T22:19:29Z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0x010100B1ACB0F0E4D8D847898BCFF327EAA86F</vt:lpwstr>
  </property>
  <property fmtid="{D5CDD505-2E9C-101B-9397-08002B2CF9AE}" pid="3" name="_dlc_DocIdItemGuid">
    <vt:lpwstr>ae7fdbd2-8fd7-45a0-880e-d54d7bab26b5</vt:lpwstr>
  </property>
</Properties>
</file>