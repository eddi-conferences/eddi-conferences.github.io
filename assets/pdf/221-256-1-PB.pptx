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66" r:id="rId2"/>
    <p:sldId id="276" r:id="rId3"/>
    <p:sldId id="278" r:id="rId4"/>
    <p:sldId id="281" r:id="rId5"/>
    <p:sldId id="268" r:id="rId6"/>
    <p:sldId id="287" r:id="rId7"/>
    <p:sldId id="288" r:id="rId8"/>
    <p:sldId id="280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67" r:id="rId17"/>
    <p:sldId id="282" r:id="rId18"/>
    <p:sldId id="286" r:id="rId19"/>
    <p:sldId id="279" r:id="rId20"/>
    <p:sldId id="283" r:id="rId21"/>
    <p:sldId id="275" r:id="rId22"/>
    <p:sldId id="284" r:id="rId23"/>
    <p:sldId id="273" r:id="rId24"/>
    <p:sldId id="269" r:id="rId25"/>
  </p:sldIdLst>
  <p:sldSz cx="9906000" cy="6858000" type="A4"/>
  <p:notesSz cx="6669088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>
          <p15:clr>
            <a:srgbClr val="A4A3A4"/>
          </p15:clr>
        </p15:guide>
        <p15:guide id="2" pos="53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F68"/>
    <a:srgbClr val="FDE1BB"/>
    <a:srgbClr val="B0B7D3"/>
    <a:srgbClr val="FBBA00"/>
    <a:srgbClr val="003F7D"/>
    <a:srgbClr val="CCCFE2"/>
    <a:srgbClr val="E2DEBD"/>
    <a:srgbClr val="B9B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3" autoAdjust="0"/>
    <p:restoredTop sz="94660"/>
  </p:normalViewPr>
  <p:slideViewPr>
    <p:cSldViewPr snapToGrid="0">
      <p:cViewPr varScale="1">
        <p:scale>
          <a:sx n="75" d="100"/>
          <a:sy n="75" d="100"/>
        </p:scale>
        <p:origin x="684" y="72"/>
      </p:cViewPr>
      <p:guideLst>
        <p:guide orient="horz" pos="2268"/>
        <p:guide pos="533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226F9E-AC18-4E26-970F-FD81CD92DEE0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3F7381F-2210-42D0-9A3F-DECF6636D7E3}">
      <dgm:prSet phldrT="[Text]"/>
      <dgm:spPr/>
      <dgm:t>
        <a:bodyPr/>
        <a:lstStyle/>
        <a:p>
          <a:r>
            <a:rPr lang="en-GB" noProof="0" dirty="0" smtClean="0"/>
            <a:t>2. In progress</a:t>
          </a:r>
          <a:endParaRPr lang="en-GB" noProof="0" dirty="0"/>
        </a:p>
      </dgm:t>
    </dgm:pt>
    <dgm:pt modelId="{FC761BC2-A4B7-4B0C-B170-A61C7A412883}" type="parTrans" cxnId="{A79822E4-7A43-4C3F-914B-3EB379430ED6}">
      <dgm:prSet/>
      <dgm:spPr/>
      <dgm:t>
        <a:bodyPr/>
        <a:lstStyle/>
        <a:p>
          <a:endParaRPr lang="de-DE"/>
        </a:p>
      </dgm:t>
    </dgm:pt>
    <dgm:pt modelId="{A9D4A4A8-A039-4ED1-93B4-C0ACE4957900}" type="sibTrans" cxnId="{A79822E4-7A43-4C3F-914B-3EB379430ED6}">
      <dgm:prSet/>
      <dgm:spPr/>
      <dgm:t>
        <a:bodyPr/>
        <a:lstStyle/>
        <a:p>
          <a:endParaRPr lang="de-DE"/>
        </a:p>
      </dgm:t>
    </dgm:pt>
    <dgm:pt modelId="{33126DFC-08B9-4F69-BA09-D97EF5A3D601}">
      <dgm:prSet phldrT="[Text]"/>
      <dgm:spPr/>
      <dgm:t>
        <a:bodyPr/>
        <a:lstStyle/>
        <a:p>
          <a:r>
            <a:rPr lang="de-DE" dirty="0" smtClean="0"/>
            <a:t>3. </a:t>
          </a:r>
          <a:r>
            <a:rPr lang="de-DE" dirty="0" err="1" smtClean="0"/>
            <a:t>Publish</a:t>
          </a:r>
          <a:endParaRPr lang="de-DE" dirty="0"/>
        </a:p>
      </dgm:t>
    </dgm:pt>
    <dgm:pt modelId="{611A5858-B3E4-4CC0-8458-719465216B5C}" type="parTrans" cxnId="{DE2818BA-AC62-4395-AD1A-2F7E62AC8A5C}">
      <dgm:prSet/>
      <dgm:spPr/>
      <dgm:t>
        <a:bodyPr/>
        <a:lstStyle/>
        <a:p>
          <a:endParaRPr lang="de-DE"/>
        </a:p>
      </dgm:t>
    </dgm:pt>
    <dgm:pt modelId="{A2A06EAA-8989-4368-8573-D721B6EFFBF2}" type="sibTrans" cxnId="{DE2818BA-AC62-4395-AD1A-2F7E62AC8A5C}">
      <dgm:prSet/>
      <dgm:spPr/>
      <dgm:t>
        <a:bodyPr/>
        <a:lstStyle/>
        <a:p>
          <a:endParaRPr lang="de-DE"/>
        </a:p>
      </dgm:t>
    </dgm:pt>
    <dgm:pt modelId="{AE11C2B4-8255-463E-97E1-43C6C61F4B44}">
      <dgm:prSet phldrT="[Text]"/>
      <dgm:spPr/>
      <dgm:t>
        <a:bodyPr/>
        <a:lstStyle/>
        <a:p>
          <a:r>
            <a:rPr lang="de-DE" dirty="0" smtClean="0"/>
            <a:t>4. </a:t>
          </a:r>
          <a:r>
            <a:rPr lang="de-DE" dirty="0" err="1" smtClean="0"/>
            <a:t>Outdated</a:t>
          </a:r>
          <a:endParaRPr lang="de-DE" dirty="0"/>
        </a:p>
      </dgm:t>
    </dgm:pt>
    <dgm:pt modelId="{3B2DE288-855F-4A4F-81A4-5A4625F6F3CF}" type="parTrans" cxnId="{D6404A72-B338-4B8D-B48F-B79FB6BBFC8B}">
      <dgm:prSet/>
      <dgm:spPr/>
      <dgm:t>
        <a:bodyPr/>
        <a:lstStyle/>
        <a:p>
          <a:endParaRPr lang="de-DE"/>
        </a:p>
      </dgm:t>
    </dgm:pt>
    <dgm:pt modelId="{B38DBBDB-CDC1-46C6-A713-877A6737522B}" type="sibTrans" cxnId="{D6404A72-B338-4B8D-B48F-B79FB6BBFC8B}">
      <dgm:prSet/>
      <dgm:spPr/>
      <dgm:t>
        <a:bodyPr/>
        <a:lstStyle/>
        <a:p>
          <a:endParaRPr lang="de-DE"/>
        </a:p>
      </dgm:t>
    </dgm:pt>
    <dgm:pt modelId="{2929562A-297A-4A01-B0BC-016AFCFA0DEF}">
      <dgm:prSet phldrT="[Text]"/>
      <dgm:spPr/>
      <dgm:t>
        <a:bodyPr/>
        <a:lstStyle/>
        <a:p>
          <a:r>
            <a:rPr lang="de-DE" dirty="0" smtClean="0"/>
            <a:t>5. </a:t>
          </a:r>
          <a:r>
            <a:rPr lang="de-DE" dirty="0" err="1" smtClean="0"/>
            <a:t>Archived</a:t>
          </a:r>
          <a:endParaRPr lang="de-DE" dirty="0"/>
        </a:p>
      </dgm:t>
    </dgm:pt>
    <dgm:pt modelId="{3B589AE6-FE8B-440D-BCF8-71F2753461D6}" type="parTrans" cxnId="{ED83E165-A3C3-4F2F-B820-6BEB7DE313B7}">
      <dgm:prSet/>
      <dgm:spPr/>
      <dgm:t>
        <a:bodyPr/>
        <a:lstStyle/>
        <a:p>
          <a:endParaRPr lang="de-DE"/>
        </a:p>
      </dgm:t>
    </dgm:pt>
    <dgm:pt modelId="{8AB53243-D307-42D1-933E-14800F32B481}" type="sibTrans" cxnId="{ED83E165-A3C3-4F2F-B820-6BEB7DE313B7}">
      <dgm:prSet/>
      <dgm:spPr/>
      <dgm:t>
        <a:bodyPr/>
        <a:lstStyle/>
        <a:p>
          <a:endParaRPr lang="de-DE"/>
        </a:p>
      </dgm:t>
    </dgm:pt>
    <dgm:pt modelId="{F6C909A6-4139-42AD-BB6D-6550407AB689}">
      <dgm:prSet phldrT="[Text]"/>
      <dgm:spPr/>
      <dgm:t>
        <a:bodyPr/>
        <a:lstStyle/>
        <a:p>
          <a:r>
            <a:rPr lang="de-DE" dirty="0" smtClean="0"/>
            <a:t>1. New</a:t>
          </a:r>
          <a:endParaRPr lang="de-DE" dirty="0"/>
        </a:p>
      </dgm:t>
    </dgm:pt>
    <dgm:pt modelId="{0A956B2C-32C1-4D3A-B867-3F1DE9E4FB53}" type="parTrans" cxnId="{8BA1BDFC-0A15-4AA3-8CDE-C8E2757A0070}">
      <dgm:prSet/>
      <dgm:spPr/>
      <dgm:t>
        <a:bodyPr/>
        <a:lstStyle/>
        <a:p>
          <a:endParaRPr lang="de-DE"/>
        </a:p>
      </dgm:t>
    </dgm:pt>
    <dgm:pt modelId="{805A082D-D750-427D-8A65-FEDE56DB6F22}" type="sibTrans" cxnId="{8BA1BDFC-0A15-4AA3-8CDE-C8E2757A0070}">
      <dgm:prSet/>
      <dgm:spPr/>
      <dgm:t>
        <a:bodyPr/>
        <a:lstStyle/>
        <a:p>
          <a:endParaRPr lang="de-DE"/>
        </a:p>
      </dgm:t>
    </dgm:pt>
    <dgm:pt modelId="{D052EEC3-135C-4C7A-8239-67711F841766}" type="pres">
      <dgm:prSet presAssocID="{2B226F9E-AC18-4E26-970F-FD81CD92DEE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F101487-1D60-4D6B-8685-E46D2C61F268}" type="pres">
      <dgm:prSet presAssocID="{83F7381F-2210-42D0-9A3F-DECF6636D7E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3B93053-3FB6-4F9C-84C9-2411688FD1EF}" type="pres">
      <dgm:prSet presAssocID="{83F7381F-2210-42D0-9A3F-DECF6636D7E3}" presName="spNode" presStyleCnt="0"/>
      <dgm:spPr/>
    </dgm:pt>
    <dgm:pt modelId="{C83AE875-F401-4CEA-83EA-FC9E3E466074}" type="pres">
      <dgm:prSet presAssocID="{A9D4A4A8-A039-4ED1-93B4-C0ACE4957900}" presName="sibTrans" presStyleLbl="sibTrans1D1" presStyleIdx="0" presStyleCnt="5"/>
      <dgm:spPr/>
      <dgm:t>
        <a:bodyPr/>
        <a:lstStyle/>
        <a:p>
          <a:endParaRPr lang="en-GB"/>
        </a:p>
      </dgm:t>
    </dgm:pt>
    <dgm:pt modelId="{B0A29949-91A6-4669-9126-7AC0D437D509}" type="pres">
      <dgm:prSet presAssocID="{33126DFC-08B9-4F69-BA09-D97EF5A3D60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D26A823-0B11-45A4-871B-F8644B7D8483}" type="pres">
      <dgm:prSet presAssocID="{33126DFC-08B9-4F69-BA09-D97EF5A3D601}" presName="spNode" presStyleCnt="0"/>
      <dgm:spPr/>
    </dgm:pt>
    <dgm:pt modelId="{B761C640-5529-4B71-B362-D5DCD436548C}" type="pres">
      <dgm:prSet presAssocID="{A2A06EAA-8989-4368-8573-D721B6EFFBF2}" presName="sibTrans" presStyleLbl="sibTrans1D1" presStyleIdx="1" presStyleCnt="5"/>
      <dgm:spPr/>
      <dgm:t>
        <a:bodyPr/>
        <a:lstStyle/>
        <a:p>
          <a:endParaRPr lang="en-GB"/>
        </a:p>
      </dgm:t>
    </dgm:pt>
    <dgm:pt modelId="{04DFB30A-FE3A-43A4-B557-4CE221729355}" type="pres">
      <dgm:prSet presAssocID="{AE11C2B4-8255-463E-97E1-43C6C61F4B44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EF53A27-E37F-4E11-8DD2-8DCAA2B6D1EB}" type="pres">
      <dgm:prSet presAssocID="{AE11C2B4-8255-463E-97E1-43C6C61F4B44}" presName="spNode" presStyleCnt="0"/>
      <dgm:spPr/>
    </dgm:pt>
    <dgm:pt modelId="{05425FC1-865E-4B9B-AC69-460FBCE4CD62}" type="pres">
      <dgm:prSet presAssocID="{B38DBBDB-CDC1-46C6-A713-877A6737522B}" presName="sibTrans" presStyleLbl="sibTrans1D1" presStyleIdx="2" presStyleCnt="5"/>
      <dgm:spPr/>
      <dgm:t>
        <a:bodyPr/>
        <a:lstStyle/>
        <a:p>
          <a:endParaRPr lang="en-GB"/>
        </a:p>
      </dgm:t>
    </dgm:pt>
    <dgm:pt modelId="{74C37DE5-8D6E-41BD-A496-10E119EDE612}" type="pres">
      <dgm:prSet presAssocID="{2929562A-297A-4A01-B0BC-016AFCFA0DE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79D426A-DE35-4BD8-A6F5-AAE704ACEBAD}" type="pres">
      <dgm:prSet presAssocID="{2929562A-297A-4A01-B0BC-016AFCFA0DEF}" presName="spNode" presStyleCnt="0"/>
      <dgm:spPr/>
    </dgm:pt>
    <dgm:pt modelId="{D759A2C3-E5D6-4BA6-AE11-3A80D65F127E}" type="pres">
      <dgm:prSet presAssocID="{8AB53243-D307-42D1-933E-14800F32B481}" presName="sibTrans" presStyleLbl="sibTrans1D1" presStyleIdx="3" presStyleCnt="5"/>
      <dgm:spPr/>
      <dgm:t>
        <a:bodyPr/>
        <a:lstStyle/>
        <a:p>
          <a:endParaRPr lang="en-GB"/>
        </a:p>
      </dgm:t>
    </dgm:pt>
    <dgm:pt modelId="{DACD9DC1-BF2B-4631-BEDE-0770D703E836}" type="pres">
      <dgm:prSet presAssocID="{F6C909A6-4139-42AD-BB6D-6550407AB68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D4A944B-4A36-42A8-89B7-F0218F0430C9}" type="pres">
      <dgm:prSet presAssocID="{F6C909A6-4139-42AD-BB6D-6550407AB689}" presName="spNode" presStyleCnt="0"/>
      <dgm:spPr/>
    </dgm:pt>
    <dgm:pt modelId="{3E081EBC-7863-4451-B277-3EB469346F6F}" type="pres">
      <dgm:prSet presAssocID="{805A082D-D750-427D-8A65-FEDE56DB6F22}" presName="sibTrans" presStyleLbl="sibTrans1D1" presStyleIdx="4" presStyleCnt="5"/>
      <dgm:spPr/>
      <dgm:t>
        <a:bodyPr/>
        <a:lstStyle/>
        <a:p>
          <a:endParaRPr lang="en-GB"/>
        </a:p>
      </dgm:t>
    </dgm:pt>
  </dgm:ptLst>
  <dgm:cxnLst>
    <dgm:cxn modelId="{73EC523B-2D8A-4294-9D24-822B3CAA46AA}" type="presOf" srcId="{83F7381F-2210-42D0-9A3F-DECF6636D7E3}" destId="{FF101487-1D60-4D6B-8685-E46D2C61F268}" srcOrd="0" destOrd="0" presId="urn:microsoft.com/office/officeart/2005/8/layout/cycle5"/>
    <dgm:cxn modelId="{82F7265D-2116-405F-AEEC-335801274101}" type="presOf" srcId="{B38DBBDB-CDC1-46C6-A713-877A6737522B}" destId="{05425FC1-865E-4B9B-AC69-460FBCE4CD62}" srcOrd="0" destOrd="0" presId="urn:microsoft.com/office/officeart/2005/8/layout/cycle5"/>
    <dgm:cxn modelId="{8BA1BDFC-0A15-4AA3-8CDE-C8E2757A0070}" srcId="{2B226F9E-AC18-4E26-970F-FD81CD92DEE0}" destId="{F6C909A6-4139-42AD-BB6D-6550407AB689}" srcOrd="4" destOrd="0" parTransId="{0A956B2C-32C1-4D3A-B867-3F1DE9E4FB53}" sibTransId="{805A082D-D750-427D-8A65-FEDE56DB6F22}"/>
    <dgm:cxn modelId="{0E7AC41B-E047-4530-8726-1405B4F91838}" type="presOf" srcId="{805A082D-D750-427D-8A65-FEDE56DB6F22}" destId="{3E081EBC-7863-4451-B277-3EB469346F6F}" srcOrd="0" destOrd="0" presId="urn:microsoft.com/office/officeart/2005/8/layout/cycle5"/>
    <dgm:cxn modelId="{D6404A72-B338-4B8D-B48F-B79FB6BBFC8B}" srcId="{2B226F9E-AC18-4E26-970F-FD81CD92DEE0}" destId="{AE11C2B4-8255-463E-97E1-43C6C61F4B44}" srcOrd="2" destOrd="0" parTransId="{3B2DE288-855F-4A4F-81A4-5A4625F6F3CF}" sibTransId="{B38DBBDB-CDC1-46C6-A713-877A6737522B}"/>
    <dgm:cxn modelId="{42BC3F5B-2D9B-44D0-9DCD-81F5FC8024E7}" type="presOf" srcId="{A9D4A4A8-A039-4ED1-93B4-C0ACE4957900}" destId="{C83AE875-F401-4CEA-83EA-FC9E3E466074}" srcOrd="0" destOrd="0" presId="urn:microsoft.com/office/officeart/2005/8/layout/cycle5"/>
    <dgm:cxn modelId="{551046D9-8A05-452C-BE1B-29B4F07374A2}" type="presOf" srcId="{A2A06EAA-8989-4368-8573-D721B6EFFBF2}" destId="{B761C640-5529-4B71-B362-D5DCD436548C}" srcOrd="0" destOrd="0" presId="urn:microsoft.com/office/officeart/2005/8/layout/cycle5"/>
    <dgm:cxn modelId="{89F4764E-A383-4292-BA72-1EC3CF2E9E89}" type="presOf" srcId="{2B226F9E-AC18-4E26-970F-FD81CD92DEE0}" destId="{D052EEC3-135C-4C7A-8239-67711F841766}" srcOrd="0" destOrd="0" presId="urn:microsoft.com/office/officeart/2005/8/layout/cycle5"/>
    <dgm:cxn modelId="{5704B679-B937-4F5A-8C5B-CE439586BED5}" type="presOf" srcId="{AE11C2B4-8255-463E-97E1-43C6C61F4B44}" destId="{04DFB30A-FE3A-43A4-B557-4CE221729355}" srcOrd="0" destOrd="0" presId="urn:microsoft.com/office/officeart/2005/8/layout/cycle5"/>
    <dgm:cxn modelId="{A05E2A6F-8173-4DD0-99C6-D1E70340EB51}" type="presOf" srcId="{F6C909A6-4139-42AD-BB6D-6550407AB689}" destId="{DACD9DC1-BF2B-4631-BEDE-0770D703E836}" srcOrd="0" destOrd="0" presId="urn:microsoft.com/office/officeart/2005/8/layout/cycle5"/>
    <dgm:cxn modelId="{DE2818BA-AC62-4395-AD1A-2F7E62AC8A5C}" srcId="{2B226F9E-AC18-4E26-970F-FD81CD92DEE0}" destId="{33126DFC-08B9-4F69-BA09-D97EF5A3D601}" srcOrd="1" destOrd="0" parTransId="{611A5858-B3E4-4CC0-8458-719465216B5C}" sibTransId="{A2A06EAA-8989-4368-8573-D721B6EFFBF2}"/>
    <dgm:cxn modelId="{5525F8F1-2524-4FC2-9244-B38F09E88D01}" type="presOf" srcId="{33126DFC-08B9-4F69-BA09-D97EF5A3D601}" destId="{B0A29949-91A6-4669-9126-7AC0D437D509}" srcOrd="0" destOrd="0" presId="urn:microsoft.com/office/officeart/2005/8/layout/cycle5"/>
    <dgm:cxn modelId="{0BA8E87E-F800-488C-BB72-C374B87BC8BE}" type="presOf" srcId="{8AB53243-D307-42D1-933E-14800F32B481}" destId="{D759A2C3-E5D6-4BA6-AE11-3A80D65F127E}" srcOrd="0" destOrd="0" presId="urn:microsoft.com/office/officeart/2005/8/layout/cycle5"/>
    <dgm:cxn modelId="{7AE133A8-B4DE-4884-A575-35DBC135DB86}" type="presOf" srcId="{2929562A-297A-4A01-B0BC-016AFCFA0DEF}" destId="{74C37DE5-8D6E-41BD-A496-10E119EDE612}" srcOrd="0" destOrd="0" presId="urn:microsoft.com/office/officeart/2005/8/layout/cycle5"/>
    <dgm:cxn modelId="{A79822E4-7A43-4C3F-914B-3EB379430ED6}" srcId="{2B226F9E-AC18-4E26-970F-FD81CD92DEE0}" destId="{83F7381F-2210-42D0-9A3F-DECF6636D7E3}" srcOrd="0" destOrd="0" parTransId="{FC761BC2-A4B7-4B0C-B170-A61C7A412883}" sibTransId="{A9D4A4A8-A039-4ED1-93B4-C0ACE4957900}"/>
    <dgm:cxn modelId="{ED83E165-A3C3-4F2F-B820-6BEB7DE313B7}" srcId="{2B226F9E-AC18-4E26-970F-FD81CD92DEE0}" destId="{2929562A-297A-4A01-B0BC-016AFCFA0DEF}" srcOrd="3" destOrd="0" parTransId="{3B589AE6-FE8B-440D-BCF8-71F2753461D6}" sibTransId="{8AB53243-D307-42D1-933E-14800F32B481}"/>
    <dgm:cxn modelId="{4420DC9E-0948-4B55-BB86-CE5B87AFDE05}" type="presParOf" srcId="{D052EEC3-135C-4C7A-8239-67711F841766}" destId="{FF101487-1D60-4D6B-8685-E46D2C61F268}" srcOrd="0" destOrd="0" presId="urn:microsoft.com/office/officeart/2005/8/layout/cycle5"/>
    <dgm:cxn modelId="{FDC27B3B-3DCF-4667-A47E-62222474F60E}" type="presParOf" srcId="{D052EEC3-135C-4C7A-8239-67711F841766}" destId="{43B93053-3FB6-4F9C-84C9-2411688FD1EF}" srcOrd="1" destOrd="0" presId="urn:microsoft.com/office/officeart/2005/8/layout/cycle5"/>
    <dgm:cxn modelId="{FB4B9AB0-2A1F-4CAF-A126-8BB288F37E16}" type="presParOf" srcId="{D052EEC3-135C-4C7A-8239-67711F841766}" destId="{C83AE875-F401-4CEA-83EA-FC9E3E466074}" srcOrd="2" destOrd="0" presId="urn:microsoft.com/office/officeart/2005/8/layout/cycle5"/>
    <dgm:cxn modelId="{9893CF04-AC69-4251-8A92-E137AAE9B29B}" type="presParOf" srcId="{D052EEC3-135C-4C7A-8239-67711F841766}" destId="{B0A29949-91A6-4669-9126-7AC0D437D509}" srcOrd="3" destOrd="0" presId="urn:microsoft.com/office/officeart/2005/8/layout/cycle5"/>
    <dgm:cxn modelId="{FBA4A10C-53D2-41A5-A5B8-EEBF36611C3A}" type="presParOf" srcId="{D052EEC3-135C-4C7A-8239-67711F841766}" destId="{3D26A823-0B11-45A4-871B-F8644B7D8483}" srcOrd="4" destOrd="0" presId="urn:microsoft.com/office/officeart/2005/8/layout/cycle5"/>
    <dgm:cxn modelId="{818D10B2-C9F6-4CF0-94ED-D81E8A3C5C30}" type="presParOf" srcId="{D052EEC3-135C-4C7A-8239-67711F841766}" destId="{B761C640-5529-4B71-B362-D5DCD436548C}" srcOrd="5" destOrd="0" presId="urn:microsoft.com/office/officeart/2005/8/layout/cycle5"/>
    <dgm:cxn modelId="{A0C6ADF3-9F5B-49CD-A807-300DFB4BB64E}" type="presParOf" srcId="{D052EEC3-135C-4C7A-8239-67711F841766}" destId="{04DFB30A-FE3A-43A4-B557-4CE221729355}" srcOrd="6" destOrd="0" presId="urn:microsoft.com/office/officeart/2005/8/layout/cycle5"/>
    <dgm:cxn modelId="{1045FA7B-4F0F-41D1-840B-68F404C1A991}" type="presParOf" srcId="{D052EEC3-135C-4C7A-8239-67711F841766}" destId="{6EF53A27-E37F-4E11-8DD2-8DCAA2B6D1EB}" srcOrd="7" destOrd="0" presId="urn:microsoft.com/office/officeart/2005/8/layout/cycle5"/>
    <dgm:cxn modelId="{C09F3747-B309-454D-9D67-C1C1D3993483}" type="presParOf" srcId="{D052EEC3-135C-4C7A-8239-67711F841766}" destId="{05425FC1-865E-4B9B-AC69-460FBCE4CD62}" srcOrd="8" destOrd="0" presId="urn:microsoft.com/office/officeart/2005/8/layout/cycle5"/>
    <dgm:cxn modelId="{12B83649-A5E6-4FF5-B8D1-4B7BE7AE6975}" type="presParOf" srcId="{D052EEC3-135C-4C7A-8239-67711F841766}" destId="{74C37DE5-8D6E-41BD-A496-10E119EDE612}" srcOrd="9" destOrd="0" presId="urn:microsoft.com/office/officeart/2005/8/layout/cycle5"/>
    <dgm:cxn modelId="{E3813544-08A7-4C71-8085-A3ED917568B5}" type="presParOf" srcId="{D052EEC3-135C-4C7A-8239-67711F841766}" destId="{979D426A-DE35-4BD8-A6F5-AAE704ACEBAD}" srcOrd="10" destOrd="0" presId="urn:microsoft.com/office/officeart/2005/8/layout/cycle5"/>
    <dgm:cxn modelId="{18C7A00B-D5EC-4103-88BC-0594A899380A}" type="presParOf" srcId="{D052EEC3-135C-4C7A-8239-67711F841766}" destId="{D759A2C3-E5D6-4BA6-AE11-3A80D65F127E}" srcOrd="11" destOrd="0" presId="urn:microsoft.com/office/officeart/2005/8/layout/cycle5"/>
    <dgm:cxn modelId="{2C156655-5351-45D6-9976-5B1C046B5E54}" type="presParOf" srcId="{D052EEC3-135C-4C7A-8239-67711F841766}" destId="{DACD9DC1-BF2B-4631-BEDE-0770D703E836}" srcOrd="12" destOrd="0" presId="urn:microsoft.com/office/officeart/2005/8/layout/cycle5"/>
    <dgm:cxn modelId="{6F959AD2-26C9-4E89-AA89-AD325DC162B5}" type="presParOf" srcId="{D052EEC3-135C-4C7A-8239-67711F841766}" destId="{1D4A944B-4A36-42A8-89B7-F0218F0430C9}" srcOrd="13" destOrd="0" presId="urn:microsoft.com/office/officeart/2005/8/layout/cycle5"/>
    <dgm:cxn modelId="{4B56CB7F-440B-46F1-9AE8-6564D2F1BF6C}" type="presParOf" srcId="{D052EEC3-135C-4C7A-8239-67711F841766}" destId="{3E081EBC-7863-4451-B277-3EB469346F6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101487-1D60-4D6B-8685-E46D2C61F268}">
      <dsp:nvSpPr>
        <dsp:cNvPr id="0" name=""/>
        <dsp:cNvSpPr/>
      </dsp:nvSpPr>
      <dsp:spPr>
        <a:xfrm>
          <a:off x="1643109" y="1247"/>
          <a:ext cx="1292131" cy="839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noProof="0" dirty="0" smtClean="0"/>
            <a:t>2. In progress</a:t>
          </a:r>
          <a:endParaRPr lang="en-GB" sz="2000" kern="1200" noProof="0" dirty="0"/>
        </a:p>
      </dsp:txBody>
      <dsp:txXfrm>
        <a:off x="1684109" y="42247"/>
        <a:ext cx="1210131" cy="757885"/>
      </dsp:txXfrm>
    </dsp:sp>
    <dsp:sp modelId="{C83AE875-F401-4CEA-83EA-FC9E3E466074}">
      <dsp:nvSpPr>
        <dsp:cNvPr id="0" name=""/>
        <dsp:cNvSpPr/>
      </dsp:nvSpPr>
      <dsp:spPr>
        <a:xfrm>
          <a:off x="611803" y="421190"/>
          <a:ext cx="3354743" cy="3354743"/>
        </a:xfrm>
        <a:custGeom>
          <a:avLst/>
          <a:gdLst/>
          <a:ahLst/>
          <a:cxnLst/>
          <a:rect l="0" t="0" r="0" b="0"/>
          <a:pathLst>
            <a:path>
              <a:moveTo>
                <a:pt x="2496385" y="213543"/>
              </a:moveTo>
              <a:arcTo wR="1677371" hR="1677371" stAng="17953625" swAng="121123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A29949-91A6-4669-9126-7AC0D437D509}">
      <dsp:nvSpPr>
        <dsp:cNvPr id="0" name=""/>
        <dsp:cNvSpPr/>
      </dsp:nvSpPr>
      <dsp:spPr>
        <a:xfrm>
          <a:off x="3238384" y="1160283"/>
          <a:ext cx="1292131" cy="839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3. </a:t>
          </a:r>
          <a:r>
            <a:rPr lang="de-DE" sz="2000" kern="1200" dirty="0" err="1" smtClean="0"/>
            <a:t>Publish</a:t>
          </a:r>
          <a:endParaRPr lang="de-DE" sz="2000" kern="1200" dirty="0"/>
        </a:p>
      </dsp:txBody>
      <dsp:txXfrm>
        <a:off x="3279384" y="1201283"/>
        <a:ext cx="1210131" cy="757885"/>
      </dsp:txXfrm>
    </dsp:sp>
    <dsp:sp modelId="{B761C640-5529-4B71-B362-D5DCD436548C}">
      <dsp:nvSpPr>
        <dsp:cNvPr id="0" name=""/>
        <dsp:cNvSpPr/>
      </dsp:nvSpPr>
      <dsp:spPr>
        <a:xfrm>
          <a:off x="611803" y="421190"/>
          <a:ext cx="3354743" cy="3354743"/>
        </a:xfrm>
        <a:custGeom>
          <a:avLst/>
          <a:gdLst/>
          <a:ahLst/>
          <a:cxnLst/>
          <a:rect l="0" t="0" r="0" b="0"/>
          <a:pathLst>
            <a:path>
              <a:moveTo>
                <a:pt x="3350716" y="1793533"/>
              </a:moveTo>
              <a:arcTo wR="1677371" hR="1677371" stAng="21838262" swAng="135949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DFB30A-FE3A-43A4-B557-4CE221729355}">
      <dsp:nvSpPr>
        <dsp:cNvPr id="0" name=""/>
        <dsp:cNvSpPr/>
      </dsp:nvSpPr>
      <dsp:spPr>
        <a:xfrm>
          <a:off x="2629043" y="3035641"/>
          <a:ext cx="1292131" cy="839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4. </a:t>
          </a:r>
          <a:r>
            <a:rPr lang="de-DE" sz="2000" kern="1200" dirty="0" err="1" smtClean="0"/>
            <a:t>Outdated</a:t>
          </a:r>
          <a:endParaRPr lang="de-DE" sz="2000" kern="1200" dirty="0"/>
        </a:p>
      </dsp:txBody>
      <dsp:txXfrm>
        <a:off x="2670043" y="3076641"/>
        <a:ext cx="1210131" cy="757885"/>
      </dsp:txXfrm>
    </dsp:sp>
    <dsp:sp modelId="{05425FC1-865E-4B9B-AC69-460FBCE4CD62}">
      <dsp:nvSpPr>
        <dsp:cNvPr id="0" name=""/>
        <dsp:cNvSpPr/>
      </dsp:nvSpPr>
      <dsp:spPr>
        <a:xfrm>
          <a:off x="611803" y="421190"/>
          <a:ext cx="3354743" cy="3354743"/>
        </a:xfrm>
        <a:custGeom>
          <a:avLst/>
          <a:gdLst/>
          <a:ahLst/>
          <a:cxnLst/>
          <a:rect l="0" t="0" r="0" b="0"/>
          <a:pathLst>
            <a:path>
              <a:moveTo>
                <a:pt x="1883142" y="3342074"/>
              </a:moveTo>
              <a:arcTo wR="1677371" hR="1677371" stAng="4977211" swAng="84557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37DE5-8D6E-41BD-A496-10E119EDE612}">
      <dsp:nvSpPr>
        <dsp:cNvPr id="0" name=""/>
        <dsp:cNvSpPr/>
      </dsp:nvSpPr>
      <dsp:spPr>
        <a:xfrm>
          <a:off x="657174" y="3035641"/>
          <a:ext cx="1292131" cy="839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5. </a:t>
          </a:r>
          <a:r>
            <a:rPr lang="de-DE" sz="2000" kern="1200" dirty="0" err="1" smtClean="0"/>
            <a:t>Archived</a:t>
          </a:r>
          <a:endParaRPr lang="de-DE" sz="2000" kern="1200" dirty="0"/>
        </a:p>
      </dsp:txBody>
      <dsp:txXfrm>
        <a:off x="698174" y="3076641"/>
        <a:ext cx="1210131" cy="757885"/>
      </dsp:txXfrm>
    </dsp:sp>
    <dsp:sp modelId="{D759A2C3-E5D6-4BA6-AE11-3A80D65F127E}">
      <dsp:nvSpPr>
        <dsp:cNvPr id="0" name=""/>
        <dsp:cNvSpPr/>
      </dsp:nvSpPr>
      <dsp:spPr>
        <a:xfrm>
          <a:off x="611803" y="421190"/>
          <a:ext cx="3354743" cy="3354743"/>
        </a:xfrm>
        <a:custGeom>
          <a:avLst/>
          <a:gdLst/>
          <a:ahLst/>
          <a:cxnLst/>
          <a:rect l="0" t="0" r="0" b="0"/>
          <a:pathLst>
            <a:path>
              <a:moveTo>
                <a:pt x="177926" y="2429195"/>
              </a:moveTo>
              <a:arcTo wR="1677371" hR="1677371" stAng="9202245" swAng="135949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CD9DC1-BF2B-4631-BEDE-0770D703E836}">
      <dsp:nvSpPr>
        <dsp:cNvPr id="0" name=""/>
        <dsp:cNvSpPr/>
      </dsp:nvSpPr>
      <dsp:spPr>
        <a:xfrm>
          <a:off x="47833" y="1160283"/>
          <a:ext cx="1292131" cy="839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1. New</a:t>
          </a:r>
          <a:endParaRPr lang="de-DE" sz="2000" kern="1200" dirty="0"/>
        </a:p>
      </dsp:txBody>
      <dsp:txXfrm>
        <a:off x="88833" y="1201283"/>
        <a:ext cx="1210131" cy="757885"/>
      </dsp:txXfrm>
    </dsp:sp>
    <dsp:sp modelId="{3E081EBC-7863-4451-B277-3EB469346F6F}">
      <dsp:nvSpPr>
        <dsp:cNvPr id="0" name=""/>
        <dsp:cNvSpPr/>
      </dsp:nvSpPr>
      <dsp:spPr>
        <a:xfrm>
          <a:off x="611803" y="421190"/>
          <a:ext cx="3354743" cy="3354743"/>
        </a:xfrm>
        <a:custGeom>
          <a:avLst/>
          <a:gdLst/>
          <a:ahLst/>
          <a:cxnLst/>
          <a:rect l="0" t="0" r="0" b="0"/>
          <a:pathLst>
            <a:path>
              <a:moveTo>
                <a:pt x="403517" y="586101"/>
              </a:moveTo>
              <a:arcTo wR="1677371" hR="1677371" stAng="13235137" swAng="121123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46113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b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endParaRPr lang="de-D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28163"/>
            <a:ext cx="2890837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b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fld id="{E3E35852-AA75-4DA6-9856-4DF21D96EB15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152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35852-AA75-4DA6-9856-4DF21D96EB1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88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6" name="Picture 20" descr="LOGO-FDZ-englisch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0"/>
            <a:ext cx="3048000" cy="1438275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9906000" cy="1439863"/>
          </a:xfrm>
          <a:solidFill>
            <a:srgbClr val="003F7D"/>
          </a:solidFill>
        </p:spPr>
        <p:txBody>
          <a:bodyPr/>
          <a:lstStyle>
            <a:lvl1pPr marL="628650">
              <a:defRPr sz="3500">
                <a:solidFill>
                  <a:srgbClr val="FFFFFF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50" y="3471863"/>
            <a:ext cx="8416925" cy="2706687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321800" y="6318250"/>
            <a:ext cx="584200" cy="539750"/>
          </a:xfrm>
        </p:spPr>
        <p:txBody>
          <a:bodyPr/>
          <a:lstStyle>
            <a:lvl1pPr>
              <a:defRPr sz="1400"/>
            </a:lvl1pPr>
          </a:lstStyle>
          <a:p>
            <a:fld id="{1290EB8D-D4E8-42FC-9AA8-B8D10123E845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9230" name="Text Box 14"/>
          <p:cNvSpPr txBox="1">
            <a:spLocks noChangeArrowheads="1"/>
          </p:cNvSpPr>
          <p:nvPr userDrawn="1"/>
        </p:nvSpPr>
        <p:spPr bwMode="auto">
          <a:xfrm>
            <a:off x="0" y="2878138"/>
            <a:ext cx="719138" cy="719137"/>
          </a:xfrm>
          <a:prstGeom prst="rect">
            <a:avLst/>
          </a:prstGeom>
          <a:solidFill>
            <a:srgbClr val="B9B663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9232" name="Text Box 16"/>
          <p:cNvSpPr txBox="1">
            <a:spLocks noChangeArrowheads="1"/>
          </p:cNvSpPr>
          <p:nvPr userDrawn="1"/>
        </p:nvSpPr>
        <p:spPr bwMode="auto">
          <a:xfrm>
            <a:off x="8467725" y="1438275"/>
            <a:ext cx="1439863" cy="1439863"/>
          </a:xfrm>
          <a:prstGeom prst="rect">
            <a:avLst/>
          </a:prstGeom>
          <a:solidFill>
            <a:srgbClr val="647AA9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DF95F4-CABB-4217-93FB-588F57CEDAEC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1969794-EF09-4BC5-9272-8E8095A53C41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798638"/>
            <a:ext cx="4259263" cy="4394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40313" y="1798638"/>
            <a:ext cx="4259262" cy="4394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6C51BD-02B0-4D3E-AF16-A7197C66CF8E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6B2064-2357-495A-8971-6CF6582325CD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7DC4-FD6D-4374-A2A7-25203D982D58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CFD96B-DA76-4986-9744-995212BA83D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434671-4D52-455B-BCD6-64CE4179F796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2E87E0-ABEA-4D84-A353-21E6FDBF245D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B08E46-04F6-4F4C-B63C-2650F8C14913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32638" y="692150"/>
            <a:ext cx="2166937" cy="55006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692150"/>
            <a:ext cx="6351588" cy="550068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A17F995-A386-4609-8B26-AED7E1CE9D47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0" y="0"/>
            <a:ext cx="8467725" cy="684213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1825" y="692150"/>
            <a:ext cx="788035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Überschrift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798638"/>
            <a:ext cx="86709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45638" y="6497638"/>
            <a:ext cx="360362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2DBC399-0D2A-4769-8A10-9213F9C7716A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0" y="6497638"/>
            <a:ext cx="8467725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1045" name="Text Box 21"/>
          <p:cNvSpPr txBox="1">
            <a:spLocks noChangeArrowheads="1"/>
          </p:cNvSpPr>
          <p:nvPr/>
        </p:nvSpPr>
        <p:spPr bwMode="auto">
          <a:xfrm>
            <a:off x="8467725" y="6497638"/>
            <a:ext cx="1085850" cy="360362"/>
          </a:xfrm>
          <a:prstGeom prst="rect">
            <a:avLst/>
          </a:prstGeom>
          <a:solidFill>
            <a:srgbClr val="B0B7D3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pic>
        <p:nvPicPr>
          <p:cNvPr id="1051" name="Picture 27" descr="LOGO-FDZ-englisch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455025" y="0"/>
            <a:ext cx="1450975" cy="68421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800">
          <a:solidFill>
            <a:srgbClr val="003F7D"/>
          </a:solidFill>
          <a:latin typeface="+mn-lt"/>
          <a:ea typeface="+mn-ea"/>
          <a:cs typeface="+mn-cs"/>
        </a:defRPr>
      </a:lvl1pPr>
      <a:lvl2pPr marL="822325" indent="-300038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400">
          <a:solidFill>
            <a:srgbClr val="003F7D"/>
          </a:solidFill>
          <a:latin typeface="+mn-lt"/>
        </a:defRPr>
      </a:lvl2pPr>
      <a:lvl3pPr marL="1230313" indent="-2286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000">
          <a:solidFill>
            <a:srgbClr val="003F7D"/>
          </a:solidFill>
          <a:latin typeface="+mn-lt"/>
        </a:defRPr>
      </a:lvl3pPr>
      <a:lvl4pPr marL="1638300" indent="-2286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>
          <a:solidFill>
            <a:srgbClr val="003F7D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8467725" cy="1439863"/>
          </a:xfrm>
          <a:ln/>
        </p:spPr>
        <p:txBody>
          <a:bodyPr>
            <a:normAutofit fontScale="90000"/>
          </a:bodyPr>
          <a:lstStyle/>
          <a:p>
            <a:r>
              <a:rPr lang="en-US" sz="3600" dirty="0" smtClean="0"/>
              <a:t>The </a:t>
            </a:r>
            <a:r>
              <a:rPr lang="en-US" sz="3600" dirty="0" err="1" smtClean="0"/>
              <a:t>Metadataportal</a:t>
            </a:r>
            <a:r>
              <a:rPr lang="en-US" sz="3600" dirty="0" smtClean="0"/>
              <a:t> (MDP) of the German Institute for Employment Research (IAB) – first live demonstration</a:t>
            </a:r>
            <a:endParaRPr lang="de-DE" sz="33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50" y="3514725"/>
            <a:ext cx="5329238" cy="2663825"/>
          </a:xfrm>
          <a:noFill/>
          <a:ln/>
        </p:spPr>
        <p:txBody>
          <a:bodyPr/>
          <a:lstStyle/>
          <a:p>
            <a:r>
              <a:rPr lang="en-GB" sz="2400" dirty="0" smtClean="0"/>
              <a:t>EDDI 2015</a:t>
            </a:r>
          </a:p>
          <a:p>
            <a:r>
              <a:rPr lang="en-GB" sz="2400" dirty="0" smtClean="0"/>
              <a:t>02.12.2015 Copenhagen (Denmark)</a:t>
            </a:r>
            <a:endParaRPr lang="en-GB" sz="2400" dirty="0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7026275" y="3978275"/>
            <a:ext cx="2879725" cy="2879725"/>
          </a:xfrm>
          <a:prstGeom prst="rect">
            <a:avLst/>
          </a:prstGeom>
          <a:solidFill>
            <a:srgbClr val="E2DEB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 dirty="0">
              <a:solidFill>
                <a:srgbClr val="003F7D"/>
              </a:solidFill>
            </a:endParaRPr>
          </a:p>
          <a:p>
            <a:pPr>
              <a:spcBef>
                <a:spcPct val="50000"/>
              </a:spcBef>
            </a:pPr>
            <a:endParaRPr lang="de-DE" dirty="0">
              <a:solidFill>
                <a:srgbClr val="003F7D"/>
              </a:solidFill>
            </a:endParaRPr>
          </a:p>
          <a:p>
            <a:pPr>
              <a:spcBef>
                <a:spcPct val="50000"/>
              </a:spcBef>
            </a:pPr>
            <a:r>
              <a:rPr lang="de-DE" dirty="0" smtClean="0">
                <a:solidFill>
                  <a:srgbClr val="003F7D"/>
                </a:solidFill>
              </a:rPr>
              <a:t>David Schiller, IAB</a:t>
            </a:r>
          </a:p>
          <a:p>
            <a:pPr>
              <a:spcBef>
                <a:spcPct val="50000"/>
              </a:spcBef>
            </a:pPr>
            <a:r>
              <a:rPr lang="de-DE" dirty="0" smtClean="0">
                <a:solidFill>
                  <a:srgbClr val="003F7D"/>
                </a:solidFill>
              </a:rPr>
              <a:t>Dana Müller, IAB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/>
              <a:t>Institute for Employment Research (IAB) </a:t>
            </a:r>
            <a:r>
              <a:rPr lang="en-US" sz="2400" dirty="0" smtClean="0"/>
              <a:t>is the research institution of the German Federal Employment Agency (BA).</a:t>
            </a:r>
          </a:p>
          <a:p>
            <a:r>
              <a:rPr lang="en-US" sz="2400" dirty="0" smtClean="0"/>
              <a:t>The IAB-MDP project is carried out by the Research </a:t>
            </a:r>
            <a:r>
              <a:rPr lang="en-US" sz="2400" dirty="0"/>
              <a:t>Data Centre (FDZ) </a:t>
            </a:r>
            <a:r>
              <a:rPr lang="en-US" sz="2400" dirty="0" smtClean="0"/>
              <a:t>of BA at IAB and lead by </a:t>
            </a:r>
            <a:r>
              <a:rPr lang="en-US" sz="2400" dirty="0"/>
              <a:t>Dana </a:t>
            </a:r>
            <a:r>
              <a:rPr lang="en-US" sz="2400" dirty="0" smtClean="0"/>
              <a:t>Müller.</a:t>
            </a:r>
          </a:p>
          <a:p>
            <a:r>
              <a:rPr lang="en-US" sz="2400" dirty="0" smtClean="0"/>
              <a:t>The MDP is implemented by a international consortium lead by TBA21.</a:t>
            </a:r>
          </a:p>
          <a:p>
            <a:r>
              <a:rPr lang="en-GB" dirty="0"/>
              <a:t>Two versions</a:t>
            </a:r>
          </a:p>
          <a:p>
            <a:pPr lvl="1"/>
            <a:r>
              <a:rPr lang="en-GB" dirty="0"/>
              <a:t>Developer version at TBA21 in Hungary</a:t>
            </a:r>
          </a:p>
          <a:p>
            <a:pPr lvl="1"/>
            <a:r>
              <a:rPr lang="en-GB" dirty="0"/>
              <a:t>Productive version at IAB in Germany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084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3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IAB data sources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Inhaltsplatzhalter 4" descr="grafik_flyer_Bbosto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34748" y="1298027"/>
            <a:ext cx="8387542" cy="5199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5855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IAB-MDP – two components</a:t>
            </a:r>
            <a:endParaRPr lang="en-GB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127380"/>
              </p:ext>
            </p:extLst>
          </p:nvPr>
        </p:nvGraphicFramePr>
        <p:xfrm>
          <a:off x="628651" y="2260600"/>
          <a:ext cx="4578350" cy="3932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DF95F4-CABB-4217-93FB-588F57CEDAEC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965200" y="1549400"/>
            <a:ext cx="326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Meta data editor (IAB internal)</a:t>
            </a:r>
            <a:endParaRPr lang="en-GB" dirty="0"/>
          </a:p>
        </p:txBody>
      </p:sp>
      <p:sp>
        <p:nvSpPr>
          <p:cNvPr id="7" name="Textfeld 6"/>
          <p:cNvSpPr txBox="1"/>
          <p:nvPr/>
        </p:nvSpPr>
        <p:spPr>
          <a:xfrm>
            <a:off x="5994399" y="1549400"/>
            <a:ext cx="256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Web </a:t>
            </a:r>
            <a:r>
              <a:rPr lang="de-DE" dirty="0" err="1" smtClean="0"/>
              <a:t>portal</a:t>
            </a:r>
            <a:r>
              <a:rPr lang="de-DE" dirty="0" smtClean="0"/>
              <a:t> (</a:t>
            </a:r>
            <a:r>
              <a:rPr lang="de-DE" dirty="0" err="1" smtClean="0"/>
              <a:t>public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8" name="Wolke 7"/>
          <p:cNvSpPr/>
          <p:nvPr/>
        </p:nvSpPr>
        <p:spPr>
          <a:xfrm>
            <a:off x="6350000" y="2959100"/>
            <a:ext cx="2692400" cy="18669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IAB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documentation</a:t>
            </a:r>
            <a:endParaRPr lang="de-DE" dirty="0"/>
          </a:p>
        </p:txBody>
      </p:sp>
      <p:cxnSp>
        <p:nvCxnSpPr>
          <p:cNvPr id="10" name="Gerader Verbinder 9"/>
          <p:cNvCxnSpPr/>
          <p:nvPr/>
        </p:nvCxnSpPr>
        <p:spPr>
          <a:xfrm>
            <a:off x="5613400" y="1549400"/>
            <a:ext cx="50800" cy="45720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 flipV="1">
            <a:off x="4767943" y="3762103"/>
            <a:ext cx="1985554" cy="1306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15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5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live demonstration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>
          <a:xfrm>
            <a:off x="628650" y="1536700"/>
            <a:ext cx="8670925" cy="4656138"/>
          </a:xfrm>
        </p:spPr>
        <p:txBody>
          <a:bodyPr/>
          <a:lstStyle/>
          <a:p>
            <a:r>
              <a:rPr lang="en-GB" dirty="0" smtClean="0"/>
              <a:t>Internal </a:t>
            </a:r>
            <a:r>
              <a:rPr lang="en-GB" dirty="0" smtClean="0"/>
              <a:t>editor</a:t>
            </a:r>
            <a:endParaRPr lang="en-GB" dirty="0" smtClean="0"/>
          </a:p>
          <a:p>
            <a:pPr lvl="1"/>
            <a:r>
              <a:rPr lang="en-GB" dirty="0" smtClean="0"/>
              <a:t>Language support (English / </a:t>
            </a:r>
            <a:r>
              <a:rPr lang="en-GB" dirty="0"/>
              <a:t>G</a:t>
            </a:r>
            <a:r>
              <a:rPr lang="en-GB" dirty="0" smtClean="0"/>
              <a:t>erman)</a:t>
            </a:r>
            <a:endParaRPr lang="en-US" dirty="0"/>
          </a:p>
          <a:p>
            <a:pPr lvl="1"/>
            <a:r>
              <a:rPr lang="en-GB" dirty="0" smtClean="0"/>
              <a:t>Accessibility</a:t>
            </a:r>
            <a:r>
              <a:rPr lang="en-US" dirty="0" smtClean="0"/>
              <a:t> </a:t>
            </a:r>
            <a:r>
              <a:rPr lang="en-US" dirty="0"/>
              <a:t>(e.g. for people poor eyesight).</a:t>
            </a:r>
            <a:endParaRPr lang="en-GB" dirty="0" smtClean="0"/>
          </a:p>
          <a:p>
            <a:pPr lvl="1"/>
            <a:r>
              <a:rPr lang="en-US" dirty="0" smtClean="0"/>
              <a:t>User management (different roles and departments)</a:t>
            </a:r>
          </a:p>
          <a:p>
            <a:pPr lvl="1"/>
            <a:r>
              <a:rPr lang="en-US" dirty="0" smtClean="0"/>
              <a:t>Master Data (standard documentation texts)</a:t>
            </a:r>
          </a:p>
          <a:p>
            <a:pPr lvl="1"/>
            <a:r>
              <a:rPr lang="en-US" dirty="0" smtClean="0"/>
              <a:t>Documentation creations process</a:t>
            </a:r>
          </a:p>
          <a:p>
            <a:pPr lvl="1"/>
            <a:r>
              <a:rPr lang="en-GB" dirty="0" smtClean="0"/>
              <a:t>Search function and keywords</a:t>
            </a:r>
          </a:p>
          <a:p>
            <a:r>
              <a:rPr lang="en-GB" dirty="0" smtClean="0"/>
              <a:t>External web </a:t>
            </a:r>
            <a:r>
              <a:rPr lang="en-GB" dirty="0" smtClean="0"/>
              <a:t>portal</a:t>
            </a:r>
            <a:endParaRPr lang="en-GB" dirty="0" smtClean="0"/>
          </a:p>
          <a:p>
            <a:pPr lvl="1"/>
            <a:r>
              <a:rPr lang="en-GB" dirty="0" smtClean="0"/>
              <a:t>Search via data products or search engine</a:t>
            </a:r>
          </a:p>
          <a:p>
            <a:pPr lvl="1"/>
            <a:r>
              <a:rPr lang="en-GB" dirty="0" smtClean="0"/>
              <a:t>Basket function for customized reports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870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3" name="Grafik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11200"/>
            <a:ext cx="9906000" cy="5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47823"/>
            <a:ext cx="9906000" cy="576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0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User roles within IAB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Administrator (IT) – god father of software solution</a:t>
            </a:r>
          </a:p>
          <a:p>
            <a:r>
              <a:rPr lang="en-GB" dirty="0" smtClean="0"/>
              <a:t>Administrator (FDZ) – responsible for issues related to final release of data documentation</a:t>
            </a:r>
          </a:p>
          <a:p>
            <a:r>
              <a:rPr lang="en-GB" dirty="0" smtClean="0"/>
              <a:t>Administrator (Departments) – responsible for department related data documentation issues</a:t>
            </a:r>
          </a:p>
          <a:p>
            <a:r>
              <a:rPr lang="en-GB" dirty="0" smtClean="0"/>
              <a:t>Editor – user responsible for creating data documentation</a:t>
            </a:r>
          </a:p>
          <a:p>
            <a:r>
              <a:rPr lang="en-GB" dirty="0" smtClean="0"/>
              <a:t>Publisher – user responsible for final expectance of data documentation</a:t>
            </a:r>
          </a:p>
          <a:p>
            <a:r>
              <a:rPr lang="en-GB" dirty="0" smtClean="0"/>
              <a:t>Reader – user only able to look at the documentation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DF95F4-CABB-4217-93FB-588F57CEDAE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88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297"/>
            <a:ext cx="9906000" cy="585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18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44297"/>
            <a:ext cx="9906001" cy="584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21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297"/>
            <a:ext cx="9906000" cy="585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08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44297"/>
            <a:ext cx="9906001" cy="584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4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25471"/>
            <a:ext cx="9905999" cy="577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52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14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297"/>
            <a:ext cx="9906000" cy="585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34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FD96B-DA76-4986-9744-995212BA83D5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297"/>
            <a:ext cx="9906000" cy="587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25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8467725" cy="1439863"/>
          </a:xfrm>
          <a:ln/>
        </p:spPr>
        <p:txBody>
          <a:bodyPr/>
          <a:lstStyle/>
          <a:p>
            <a:r>
              <a:rPr lang="en-US" dirty="0" smtClean="0"/>
              <a:t>Thank you for your attention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6750" y="3514725"/>
            <a:ext cx="5329238" cy="2663825"/>
          </a:xfrm>
        </p:spPr>
        <p:txBody>
          <a:bodyPr/>
          <a:lstStyle/>
          <a:p>
            <a:r>
              <a:rPr lang="de-DE" sz="2400" dirty="0" smtClean="0"/>
              <a:t>david.schiller@iab.de</a:t>
            </a:r>
          </a:p>
          <a:p>
            <a:r>
              <a:rPr lang="de-DE" sz="2400" dirty="0" smtClean="0"/>
              <a:t>dana.mueller@iab.de</a:t>
            </a:r>
          </a:p>
          <a:p>
            <a:endParaRPr lang="de-DE" sz="2400" dirty="0"/>
          </a:p>
          <a:p>
            <a:r>
              <a:rPr lang="de-DE" sz="2400" dirty="0"/>
              <a:t>http://</a:t>
            </a:r>
            <a:r>
              <a:rPr lang="de-DE" sz="2400" dirty="0" smtClean="0"/>
              <a:t>fdz.iab.de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9561513" y="6513513"/>
            <a:ext cx="360362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pic>
        <p:nvPicPr>
          <p:cNvPr id="64521" name="Picture 9" descr="farbkaestch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97638"/>
            <a:ext cx="3944938" cy="360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17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Incorporation of multiple data sources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2" y="1411288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578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18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and support for multiple sources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IAB cares about different data sources:</a:t>
            </a:r>
          </a:p>
          <a:p>
            <a:pPr lvl="1"/>
            <a:r>
              <a:rPr lang="en-US" dirty="0" smtClean="0"/>
              <a:t>Existing data sets stored in Stata.</a:t>
            </a:r>
          </a:p>
          <a:p>
            <a:pPr lvl="1"/>
            <a:r>
              <a:rPr lang="en-US" dirty="0" smtClean="0"/>
              <a:t>Data sets deriving from questionnaires.</a:t>
            </a:r>
          </a:p>
          <a:p>
            <a:pPr lvl="1"/>
            <a:r>
              <a:rPr lang="en-US" dirty="0" smtClean="0"/>
              <a:t>Process generated data from multiple sources.</a:t>
            </a:r>
          </a:p>
          <a:p>
            <a:r>
              <a:rPr lang="en-US" dirty="0" smtClean="0"/>
              <a:t>All of them have to be incorporated in the data documentation system without running into issues of non-working interfaces.</a:t>
            </a:r>
          </a:p>
          <a:p>
            <a:r>
              <a:rPr lang="en-US" dirty="0" smtClean="0"/>
              <a:t>Solution: use of exchange standards to import information.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7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Structure of IAB data creation process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 number of departments are involved:</a:t>
            </a:r>
          </a:p>
          <a:p>
            <a:pPr lvl="1"/>
            <a:r>
              <a:rPr lang="en-GB" dirty="0" smtClean="0"/>
              <a:t>ITM – extracting research data out of the data warehouse of the German Federal Employment Agency</a:t>
            </a:r>
          </a:p>
          <a:p>
            <a:pPr lvl="1"/>
            <a:r>
              <a:rPr lang="en-GB" dirty="0" smtClean="0"/>
              <a:t>Different departments (like “education and employment over the </a:t>
            </a:r>
            <a:r>
              <a:rPr lang="en-GB" smtClean="0"/>
              <a:t>life course) </a:t>
            </a:r>
            <a:r>
              <a:rPr lang="en-GB" dirty="0" smtClean="0"/>
              <a:t>– caring about survey belonging to their topic of interest</a:t>
            </a:r>
          </a:p>
          <a:p>
            <a:pPr lvl="1"/>
            <a:r>
              <a:rPr lang="en-GB" dirty="0" smtClean="0"/>
              <a:t>KEM – methods department responsible for data editing issues (weighting etc.)</a:t>
            </a:r>
          </a:p>
          <a:p>
            <a:pPr lvl="1"/>
            <a:r>
              <a:rPr lang="en-GB" dirty="0" smtClean="0"/>
              <a:t>FDZ – Research Data Centre giving access to external scientists</a:t>
            </a:r>
          </a:p>
          <a:p>
            <a:r>
              <a:rPr lang="en-GB" dirty="0" smtClean="0"/>
              <a:t>Consequently: need for data documentation tool that supports the data creation process.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DF95F4-CABB-4217-93FB-588F57CEDAEC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73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20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roles management within IAB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78" y="1411288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40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21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Outlook</a:t>
            </a:r>
            <a:endParaRPr lang="de-DE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 was developed at OPIT (software development company) in Budapest, Hungary.</a:t>
            </a:r>
          </a:p>
          <a:p>
            <a:r>
              <a:rPr lang="en-US" dirty="0" smtClean="0"/>
              <a:t>Complicated process of implementation into IT structures of the German Federal Employment Agency.</a:t>
            </a:r>
          </a:p>
          <a:p>
            <a:r>
              <a:rPr lang="en-US" dirty="0" smtClean="0"/>
              <a:t>Currently two equal versions in Hungary and Germany.</a:t>
            </a:r>
          </a:p>
          <a:p>
            <a:r>
              <a:rPr lang="en-US" dirty="0" smtClean="0"/>
              <a:t>Need for further testing and developing.</a:t>
            </a:r>
            <a:endParaRPr lang="en-US" dirty="0"/>
          </a:p>
          <a:p>
            <a:r>
              <a:rPr lang="en-US" dirty="0" smtClean="0"/>
              <a:t>Solution should go live in the 2</a:t>
            </a:r>
            <a:r>
              <a:rPr lang="en-US" baseline="30000" dirty="0" smtClean="0"/>
              <a:t>nd</a:t>
            </a:r>
            <a:r>
              <a:rPr lang="en-US" dirty="0" smtClean="0"/>
              <a:t> half of 2015.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6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22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of questionnaires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327" y="1437958"/>
            <a:ext cx="8457248" cy="475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125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23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future – even more data sources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IAB offers a powerful source of research data.</a:t>
            </a:r>
          </a:p>
          <a:p>
            <a:pPr lvl="1"/>
            <a:r>
              <a:rPr lang="en-US" dirty="0" smtClean="0"/>
              <a:t>Information about everybody how was employed from 1975 on a daily basis.</a:t>
            </a:r>
          </a:p>
          <a:p>
            <a:pPr lvl="1"/>
            <a:r>
              <a:rPr lang="en-US" dirty="0" smtClean="0"/>
              <a:t>Additional information coming from surveys to enrich the process generated data.</a:t>
            </a:r>
          </a:p>
          <a:p>
            <a:r>
              <a:rPr lang="en-US" dirty="0" smtClean="0"/>
              <a:t>In the future linkage with surveys not generated by IAB and with other process generated data sources (including Big Data).</a:t>
            </a:r>
          </a:p>
          <a:p>
            <a:r>
              <a:rPr lang="en-US" dirty="0" smtClean="0"/>
              <a:t>Current exchange format of choice – DDI 3.2.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7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24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of XML files from </a:t>
            </a:r>
            <a:r>
              <a:rPr lang="en-US" dirty="0"/>
              <a:t>S</a:t>
            </a:r>
            <a:r>
              <a:rPr lang="en-US" dirty="0" smtClean="0"/>
              <a:t>tata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2" y="1411288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45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theme/theme1.xml><?xml version="1.0" encoding="utf-8"?>
<a:theme xmlns:a="http://schemas.openxmlformats.org/drawingml/2006/main" name="Standarddesign">
  <a:themeElements>
    <a:clrScheme name="Standard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8C35A"/>
      </a:accent1>
      <a:accent2>
        <a:srgbClr val="333399"/>
      </a:accent2>
      <a:accent3>
        <a:srgbClr val="FFFFFF"/>
      </a:accent3>
      <a:accent4>
        <a:srgbClr val="000000"/>
      </a:accent4>
      <a:accent5>
        <a:srgbClr val="FBDEB5"/>
      </a:accent5>
      <a:accent6>
        <a:srgbClr val="2D2D8A"/>
      </a:accent6>
      <a:hlink>
        <a:srgbClr val="CCCCFF"/>
      </a:hlink>
      <a:folHlink>
        <a:srgbClr val="9DC2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8C35A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BDEB5"/>
        </a:accent5>
        <a:accent6>
          <a:srgbClr val="2D2D8A"/>
        </a:accent6>
        <a:hlink>
          <a:srgbClr val="CCCCFF"/>
        </a:hlink>
        <a:folHlink>
          <a:srgbClr val="9DC2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606</Words>
  <Application>Microsoft Office PowerPoint</Application>
  <PresentationFormat>A4-Papier (210x297 mm)</PresentationFormat>
  <Paragraphs>100</Paragraphs>
  <Slides>24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8" baseType="lpstr">
      <vt:lpstr>Agfa Rotis Semisans</vt:lpstr>
      <vt:lpstr>Arial</vt:lpstr>
      <vt:lpstr>Wingdings</vt:lpstr>
      <vt:lpstr>Standarddesign</vt:lpstr>
      <vt:lpstr>The Metadataportal (MDP) of the German Institute for Employment Research (IAB) – first live demonstration</vt:lpstr>
      <vt:lpstr>Introduction</vt:lpstr>
      <vt:lpstr>IAB data sources</vt:lpstr>
      <vt:lpstr>The IAB-MDP – two components</vt:lpstr>
      <vt:lpstr>Outline of live demonstration</vt:lpstr>
      <vt:lpstr>PowerPoint-Präsentation</vt:lpstr>
      <vt:lpstr>PowerPoint-Präsentation</vt:lpstr>
      <vt:lpstr>User roles within IAB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Thank you for your attention</vt:lpstr>
      <vt:lpstr>Incorporation of multiple data sources</vt:lpstr>
      <vt:lpstr>Import and support for multiple sources</vt:lpstr>
      <vt:lpstr>Structure of IAB data creation process</vt:lpstr>
      <vt:lpstr>User roles management within IAB</vt:lpstr>
      <vt:lpstr>Outlook</vt:lpstr>
      <vt:lpstr>Import of questionnaires</vt:lpstr>
      <vt:lpstr>The future – even more data sources</vt:lpstr>
      <vt:lpstr>Import of XML files from Stata</vt:lpstr>
    </vt:vector>
  </TitlesOfParts>
  <Company>Bundesagentur für Arbeit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KlotzP</dc:creator>
  <cp:lastModifiedBy>David Schiller</cp:lastModifiedBy>
  <cp:revision>221</cp:revision>
  <dcterms:created xsi:type="dcterms:W3CDTF">2007-10-24T11:24:10Z</dcterms:created>
  <dcterms:modified xsi:type="dcterms:W3CDTF">2015-12-02T15:51:57Z</dcterms:modified>
</cp:coreProperties>
</file>