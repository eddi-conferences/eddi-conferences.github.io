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cb004220af0346c9" Type="http://schemas.microsoft.com/office/2006/relationships/ui/extensibility" Target="customUI/customUI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37"/>
  </p:notesMasterIdLst>
  <p:handoutMasterIdLst>
    <p:handoutMasterId r:id="rId38"/>
  </p:handoutMasterIdLst>
  <p:sldIdLst>
    <p:sldId id="292" r:id="rId3"/>
    <p:sldId id="293" r:id="rId4"/>
    <p:sldId id="294" r:id="rId5"/>
    <p:sldId id="295" r:id="rId6"/>
    <p:sldId id="313" r:id="rId7"/>
    <p:sldId id="315" r:id="rId8"/>
    <p:sldId id="316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262" r:id="rId25"/>
    <p:sldId id="257" r:id="rId26"/>
    <p:sldId id="264" r:id="rId27"/>
    <p:sldId id="265" r:id="rId28"/>
    <p:sldId id="272" r:id="rId29"/>
    <p:sldId id="258" r:id="rId30"/>
    <p:sldId id="311" r:id="rId31"/>
    <p:sldId id="312" r:id="rId32"/>
    <p:sldId id="274" r:id="rId33"/>
    <p:sldId id="279" r:id="rId34"/>
    <p:sldId id="317" r:id="rId35"/>
    <p:sldId id="259" r:id="rId36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4060">
          <p15:clr>
            <a:srgbClr val="A4A3A4"/>
          </p15:clr>
        </p15:guide>
        <p15:guide id="2" pos="302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5193">
          <p15:clr>
            <a:srgbClr val="A4A3A4"/>
          </p15:clr>
        </p15:guide>
        <p15:guide id="2" pos="238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D4"/>
    <a:srgbClr val="75B6E5"/>
    <a:srgbClr val="26A3DD"/>
    <a:srgbClr val="A3CCEE"/>
    <a:srgbClr val="102D69"/>
    <a:srgbClr val="CFE2F6"/>
    <a:srgbClr val="0F78C8"/>
    <a:srgbClr val="2585B8"/>
    <a:srgbClr val="4BA6DD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398" autoAdjust="0"/>
  </p:normalViewPr>
  <p:slideViewPr>
    <p:cSldViewPr>
      <p:cViewPr>
        <p:scale>
          <a:sx n="70" d="100"/>
          <a:sy n="70" d="100"/>
        </p:scale>
        <p:origin x="-126" y="-66"/>
      </p:cViewPr>
      <p:guideLst>
        <p:guide orient="horz" pos="4060"/>
        <p:guide pos="3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058" y="-84"/>
      </p:cViewPr>
      <p:guideLst>
        <p:guide orient="horz" pos="5193"/>
        <p:guide pos="23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nummer 1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77E02-92A6-4B9C-BBA2-74867274E378}" type="slidenum">
              <a:rPr lang="da-DK" smtClean="0"/>
              <a:t>‹#›</a:t>
            </a:fld>
            <a:endParaRPr lang="da-DK"/>
          </a:p>
        </p:txBody>
      </p:sp>
      <p:pic>
        <p:nvPicPr>
          <p:cNvPr id="409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" y="8532000"/>
            <a:ext cx="914400" cy="48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402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20EA3-EEEC-4EE3-8111-65C8C600CA44}" type="slidenum">
              <a:rPr lang="da-DK" smtClean="0"/>
              <a:t>‹#›</a:t>
            </a:fld>
            <a:endParaRPr lang="da-DK"/>
          </a:p>
        </p:txBody>
      </p:sp>
      <p:pic>
        <p:nvPicPr>
          <p:cNvPr id="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" y="8532000"/>
            <a:ext cx="914400" cy="48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26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>
          <a:xfrm>
            <a:off x="684213" y="323850"/>
            <a:ext cx="5470525" cy="4103688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>
          <a:xfrm>
            <a:off x="684000" y="4680000"/>
            <a:ext cx="5472000" cy="3600000"/>
          </a:xfrm>
        </p:spPr>
        <p:txBody>
          <a:bodyPr/>
          <a:lstStyle/>
          <a:p>
            <a:endParaRPr lang="da-DK" dirty="0">
              <a:latin typeface="Lucida Sans"/>
            </a:endParaRP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>
          <a:xfrm>
            <a:off x="3227461" y="8676456"/>
            <a:ext cx="403077" cy="321941"/>
          </a:xfrm>
        </p:spPr>
        <p:txBody>
          <a:bodyPr/>
          <a:lstStyle/>
          <a:p>
            <a:pPr algn="ctr"/>
            <a:fld id="{DC720EA3-EEEC-4EE3-8111-65C8C600CA44}" type="slidenum">
              <a:rPr lang="da-DK" smtClean="0">
                <a:solidFill>
                  <a:prstClr val="black"/>
                </a:solidFill>
                <a:latin typeface="Lucida Sans"/>
              </a:rPr>
              <a:pPr algn="ctr"/>
              <a:t>1</a:t>
            </a:fld>
            <a:endParaRPr lang="da-DK">
              <a:solidFill>
                <a:prstClr val="black"/>
              </a:solidFill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74704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The purpose of official statistics is to provide a common basis for people’s understanding of society, and thus help them making informed decisions. This purpose of course requires that statistics have a high quality. One dimension of this is that statistics are easily accessible and understandable to all kinds of users.</a:t>
            </a:r>
          </a:p>
          <a:p>
            <a:endParaRPr lang="da-DK" dirty="0" smtClean="0"/>
          </a:p>
          <a:p>
            <a:r>
              <a:rPr lang="da-DK" dirty="0" err="1" smtClean="0"/>
              <a:t>When</a:t>
            </a:r>
            <a:r>
              <a:rPr lang="da-DK" dirty="0" smtClean="0"/>
              <a:t> </a:t>
            </a:r>
            <a:r>
              <a:rPr lang="da-DK" dirty="0" err="1" smtClean="0"/>
              <a:t>two</a:t>
            </a:r>
            <a:r>
              <a:rPr lang="da-DK" dirty="0" smtClean="0"/>
              <a:t> </a:t>
            </a:r>
            <a:r>
              <a:rPr lang="da-DK" dirty="0" err="1" smtClean="0"/>
              <a:t>friends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 </a:t>
            </a:r>
            <a:r>
              <a:rPr lang="da-DK" dirty="0" err="1" smtClean="0"/>
              <a:t>discussing</a:t>
            </a:r>
            <a:r>
              <a:rPr lang="da-DK" dirty="0" smtClean="0"/>
              <a:t> </a:t>
            </a:r>
            <a:r>
              <a:rPr lang="da-DK" dirty="0" err="1" smtClean="0"/>
              <a:t>how</a:t>
            </a:r>
            <a:r>
              <a:rPr lang="da-DK" dirty="0" smtClean="0"/>
              <a:t> </a:t>
            </a:r>
            <a:r>
              <a:rPr lang="da-DK" dirty="0" err="1" smtClean="0"/>
              <a:t>big</a:t>
            </a:r>
            <a:r>
              <a:rPr lang="da-DK" dirty="0" smtClean="0"/>
              <a:t> problems </a:t>
            </a:r>
            <a:r>
              <a:rPr lang="da-DK" dirty="0" err="1" smtClean="0"/>
              <a:t>there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 with immigrants</a:t>
            </a:r>
            <a:r>
              <a:rPr lang="da-DK" baseline="0" dirty="0" smtClean="0"/>
              <a:t> in the country, </a:t>
            </a:r>
            <a:r>
              <a:rPr lang="da-DK" baseline="0" dirty="0" err="1" smtClean="0"/>
              <a:t>they</a:t>
            </a:r>
            <a:r>
              <a:rPr lang="da-DK" baseline="0" dirty="0" smtClean="0"/>
              <a:t> </a:t>
            </a:r>
            <a:r>
              <a:rPr lang="da-DK" baseline="0" dirty="0" err="1" smtClean="0"/>
              <a:t>should</a:t>
            </a:r>
            <a:r>
              <a:rPr lang="da-DK" baseline="0" dirty="0" smtClean="0"/>
              <a:t> </a:t>
            </a:r>
            <a:r>
              <a:rPr lang="da-DK" baseline="0" dirty="0" err="1" smtClean="0"/>
              <a:t>turn</a:t>
            </a:r>
            <a:r>
              <a:rPr lang="da-DK" baseline="0" dirty="0" smtClean="0"/>
              <a:t> at </a:t>
            </a:r>
            <a:r>
              <a:rPr lang="da-DK" baseline="0" dirty="0" err="1" smtClean="0"/>
              <a:t>once</a:t>
            </a:r>
            <a:r>
              <a:rPr lang="da-DK" baseline="0" dirty="0" smtClean="0"/>
              <a:t> to the official </a:t>
            </a:r>
            <a:r>
              <a:rPr lang="da-DK" baseline="0" dirty="0" err="1" smtClean="0"/>
              <a:t>statistics</a:t>
            </a:r>
            <a:r>
              <a:rPr lang="da-DK" baseline="0" dirty="0" smtClean="0"/>
              <a:t> source. </a:t>
            </a:r>
            <a:r>
              <a:rPr lang="da-DK" baseline="0" dirty="0" err="1" smtClean="0"/>
              <a:t>They</a:t>
            </a:r>
            <a:r>
              <a:rPr lang="da-DK" baseline="0" dirty="0" smtClean="0"/>
              <a:t> </a:t>
            </a:r>
            <a:r>
              <a:rPr lang="da-DK" baseline="0" dirty="0" err="1" smtClean="0"/>
              <a:t>should</a:t>
            </a:r>
            <a:r>
              <a:rPr lang="da-DK" baseline="0" dirty="0" smtClean="0"/>
              <a:t> have a </a:t>
            </a:r>
            <a:r>
              <a:rPr lang="da-DK" baseline="0" dirty="0" err="1" smtClean="0"/>
              <a:t>common</a:t>
            </a:r>
            <a:r>
              <a:rPr lang="da-DK" baseline="0" dirty="0" smtClean="0"/>
              <a:t> reference point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E0A49-D51E-5D4B-8DB3-E2FF86CB0917}" type="slidenum">
              <a:rPr lang="da-DK" smtClean="0">
                <a:solidFill>
                  <a:prstClr val="black"/>
                </a:solidFill>
              </a:rPr>
              <a:pPr/>
              <a:t>2</a:t>
            </a:fld>
            <a:endParaRPr lang="da-DK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62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 smtClean="0"/>
              <a:t>Government</a:t>
            </a:r>
            <a:r>
              <a:rPr lang="da-DK" dirty="0" smtClean="0"/>
              <a:t> </a:t>
            </a:r>
            <a:r>
              <a:rPr lang="da-DK" dirty="0" err="1" smtClean="0"/>
              <a:t>needs</a:t>
            </a:r>
            <a:r>
              <a:rPr lang="da-DK" dirty="0" smtClean="0"/>
              <a:t> to know, </a:t>
            </a:r>
            <a:r>
              <a:rPr lang="da-DK" dirty="0" err="1" smtClean="0"/>
              <a:t>e.g</a:t>
            </a:r>
            <a:r>
              <a:rPr lang="da-DK" dirty="0" smtClean="0"/>
              <a:t>., </a:t>
            </a:r>
            <a:r>
              <a:rPr lang="da-DK" dirty="0" err="1" smtClean="0"/>
              <a:t>how</a:t>
            </a:r>
            <a:r>
              <a:rPr lang="da-DK" dirty="0" smtClean="0"/>
              <a:t> the </a:t>
            </a:r>
            <a:r>
              <a:rPr lang="da-DK" dirty="0" err="1" smtClean="0"/>
              <a:t>economy</a:t>
            </a:r>
            <a:r>
              <a:rPr lang="da-DK" dirty="0" smtClean="0"/>
              <a:t> is </a:t>
            </a:r>
            <a:r>
              <a:rPr lang="da-DK" dirty="0" err="1" smtClean="0"/>
              <a:t>developing</a:t>
            </a:r>
            <a:r>
              <a:rPr lang="da-DK" dirty="0" smtClean="0"/>
              <a:t>, </a:t>
            </a:r>
            <a:r>
              <a:rPr lang="da-DK" dirty="0" err="1" smtClean="0"/>
              <a:t>how</a:t>
            </a:r>
            <a:r>
              <a:rPr lang="da-DK" dirty="0" smtClean="0"/>
              <a:t> </a:t>
            </a:r>
            <a:r>
              <a:rPr lang="da-DK" dirty="0" err="1" smtClean="0"/>
              <a:t>many</a:t>
            </a:r>
            <a:r>
              <a:rPr lang="da-DK" dirty="0" smtClean="0"/>
              <a:t> </a:t>
            </a:r>
            <a:r>
              <a:rPr lang="da-DK" dirty="0" err="1" smtClean="0"/>
              <a:t>poor</a:t>
            </a:r>
            <a:r>
              <a:rPr lang="da-DK" dirty="0" smtClean="0"/>
              <a:t> </a:t>
            </a:r>
            <a:r>
              <a:rPr lang="da-DK" dirty="0" err="1" smtClean="0"/>
              <a:t>people</a:t>
            </a:r>
            <a:r>
              <a:rPr lang="da-DK" dirty="0" smtClean="0"/>
              <a:t> </a:t>
            </a:r>
            <a:r>
              <a:rPr lang="da-DK" dirty="0" err="1" smtClean="0"/>
              <a:t>there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, or </a:t>
            </a:r>
            <a:r>
              <a:rPr lang="da-DK" dirty="0" err="1" smtClean="0"/>
              <a:t>local</a:t>
            </a:r>
            <a:r>
              <a:rPr lang="da-DK" dirty="0" smtClean="0"/>
              <a:t> </a:t>
            </a:r>
            <a:r>
              <a:rPr lang="da-DK" dirty="0" err="1" smtClean="0"/>
              <a:t>government</a:t>
            </a:r>
            <a:r>
              <a:rPr lang="da-DK" baseline="0" dirty="0" smtClean="0"/>
              <a:t> </a:t>
            </a:r>
            <a:r>
              <a:rPr lang="da-DK" baseline="0" dirty="0" err="1" smtClean="0"/>
              <a:t>needs</a:t>
            </a:r>
            <a:r>
              <a:rPr lang="da-DK" baseline="0" dirty="0" smtClean="0"/>
              <a:t> to know </a:t>
            </a:r>
            <a:r>
              <a:rPr lang="da-DK" baseline="0" dirty="0" err="1" smtClean="0"/>
              <a:t>how</a:t>
            </a:r>
            <a:r>
              <a:rPr lang="da-DK" baseline="0" dirty="0" smtClean="0"/>
              <a:t> </a:t>
            </a:r>
            <a:r>
              <a:rPr lang="da-DK" baseline="0" dirty="0" err="1" smtClean="0"/>
              <a:t>many</a:t>
            </a:r>
            <a:r>
              <a:rPr lang="da-DK" baseline="0" dirty="0" smtClean="0"/>
              <a:t> </a:t>
            </a:r>
            <a:r>
              <a:rPr lang="da-DK" baseline="0" dirty="0" err="1" smtClean="0"/>
              <a:t>schoolkids</a:t>
            </a:r>
            <a:endParaRPr lang="da-DK" baseline="0" dirty="0" smtClean="0"/>
          </a:p>
          <a:p>
            <a:r>
              <a:rPr lang="da-DK" baseline="0" dirty="0" smtClean="0"/>
              <a:t>Research, </a:t>
            </a:r>
            <a:r>
              <a:rPr lang="da-DK" baseline="0" dirty="0" err="1" smtClean="0"/>
              <a:t>e.g</a:t>
            </a:r>
            <a:r>
              <a:rPr lang="da-DK" baseline="0" dirty="0" smtClean="0"/>
              <a:t>. in </a:t>
            </a:r>
            <a:r>
              <a:rPr lang="da-DK" baseline="0" dirty="0" err="1" smtClean="0"/>
              <a:t>health</a:t>
            </a:r>
            <a:r>
              <a:rPr lang="da-DK" baseline="0" dirty="0" smtClean="0"/>
              <a:t> and </a:t>
            </a:r>
            <a:r>
              <a:rPr lang="da-DK" baseline="0" dirty="0" err="1" smtClean="0"/>
              <a:t>its</a:t>
            </a:r>
            <a:r>
              <a:rPr lang="da-DK" baseline="0" dirty="0" smtClean="0"/>
              <a:t> relation to </a:t>
            </a:r>
            <a:r>
              <a:rPr lang="da-DK" baseline="0" dirty="0" err="1" smtClean="0"/>
              <a:t>work</a:t>
            </a:r>
            <a:r>
              <a:rPr lang="da-DK" baseline="0" dirty="0" smtClean="0"/>
              <a:t> participation, </a:t>
            </a:r>
            <a:r>
              <a:rPr lang="da-DK" baseline="0" dirty="0" err="1" smtClean="0"/>
              <a:t>whether</a:t>
            </a:r>
            <a:r>
              <a:rPr lang="da-DK" baseline="0" dirty="0" smtClean="0"/>
              <a:t> </a:t>
            </a:r>
            <a:r>
              <a:rPr lang="da-DK" baseline="0" dirty="0" err="1" smtClean="0"/>
              <a:t>people</a:t>
            </a:r>
            <a:r>
              <a:rPr lang="da-DK" baseline="0" dirty="0" smtClean="0"/>
              <a:t> </a:t>
            </a:r>
            <a:r>
              <a:rPr lang="da-DK" baseline="0" dirty="0" err="1" smtClean="0"/>
              <a:t>who</a:t>
            </a:r>
            <a:r>
              <a:rPr lang="da-DK" baseline="0" dirty="0" smtClean="0"/>
              <a:t> have a </a:t>
            </a:r>
            <a:r>
              <a:rPr lang="da-DK" baseline="0" dirty="0" err="1" smtClean="0"/>
              <a:t>certain</a:t>
            </a:r>
            <a:r>
              <a:rPr lang="da-DK" baseline="0" dirty="0" smtClean="0"/>
              <a:t> </a:t>
            </a:r>
            <a:r>
              <a:rPr lang="da-DK" baseline="0" dirty="0" err="1" smtClean="0"/>
              <a:t>disease</a:t>
            </a:r>
            <a:r>
              <a:rPr lang="da-DK" baseline="0" dirty="0" smtClean="0"/>
              <a:t> </a:t>
            </a:r>
            <a:r>
              <a:rPr lang="da-DK" baseline="0" dirty="0" err="1" smtClean="0"/>
              <a:t>descend</a:t>
            </a:r>
            <a:r>
              <a:rPr lang="da-DK" baseline="0" dirty="0" smtClean="0"/>
              <a:t> from </a:t>
            </a:r>
            <a:r>
              <a:rPr lang="da-DK" baseline="0" dirty="0" err="1" smtClean="0"/>
              <a:t>parents</a:t>
            </a:r>
            <a:r>
              <a:rPr lang="da-DK" baseline="0" dirty="0" smtClean="0"/>
              <a:t> and </a:t>
            </a:r>
            <a:r>
              <a:rPr lang="da-DK" baseline="0" dirty="0" err="1" smtClean="0"/>
              <a:t>grandparents</a:t>
            </a:r>
            <a:r>
              <a:rPr lang="da-DK" baseline="0" dirty="0" smtClean="0"/>
              <a:t> </a:t>
            </a:r>
            <a:r>
              <a:rPr lang="da-DK" baseline="0" dirty="0" err="1" smtClean="0"/>
              <a:t>that</a:t>
            </a:r>
            <a:r>
              <a:rPr lang="da-DK" baseline="0" dirty="0" smtClean="0"/>
              <a:t> have the same or a </a:t>
            </a:r>
            <a:r>
              <a:rPr lang="da-DK" baseline="0" dirty="0" err="1" smtClean="0"/>
              <a:t>similar</a:t>
            </a:r>
            <a:r>
              <a:rPr lang="da-DK" baseline="0" dirty="0" smtClean="0"/>
              <a:t> </a:t>
            </a:r>
            <a:r>
              <a:rPr lang="da-DK" baseline="0" dirty="0" err="1" smtClean="0"/>
              <a:t>disease</a:t>
            </a:r>
            <a:endParaRPr lang="da-DK" baseline="0" dirty="0" smtClean="0"/>
          </a:p>
          <a:p>
            <a:r>
              <a:rPr lang="da-DK" baseline="0" dirty="0" smtClean="0"/>
              <a:t>Plan location of branches</a:t>
            </a:r>
          </a:p>
          <a:p>
            <a:r>
              <a:rPr lang="da-DK" baseline="0" dirty="0" smtClean="0"/>
              <a:t>Hold </a:t>
            </a:r>
            <a:r>
              <a:rPr lang="da-DK" baseline="0" dirty="0" err="1" smtClean="0"/>
              <a:t>their</a:t>
            </a:r>
            <a:r>
              <a:rPr lang="da-DK" baseline="0" dirty="0" smtClean="0"/>
              <a:t> </a:t>
            </a:r>
            <a:r>
              <a:rPr lang="da-DK" baseline="0" dirty="0" err="1" smtClean="0"/>
              <a:t>politicians</a:t>
            </a:r>
            <a:r>
              <a:rPr lang="da-DK" baseline="0" dirty="0" smtClean="0"/>
              <a:t> </a:t>
            </a:r>
            <a:r>
              <a:rPr lang="da-DK" baseline="0" dirty="0" err="1" smtClean="0"/>
              <a:t>responsible</a:t>
            </a:r>
            <a:r>
              <a:rPr lang="da-DK" baseline="0" dirty="0" smtClean="0"/>
              <a:t>, or understand </a:t>
            </a:r>
            <a:r>
              <a:rPr lang="da-DK" baseline="0" dirty="0" err="1" smtClean="0"/>
              <a:t>phenomena</a:t>
            </a:r>
            <a:r>
              <a:rPr lang="da-DK" baseline="0" dirty="0" smtClean="0"/>
              <a:t> in society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E0A49-D51E-5D4B-8DB3-E2FF86CB0917}" type="slidenum">
              <a:rPr lang="da-DK" smtClean="0">
                <a:solidFill>
                  <a:prstClr val="black"/>
                </a:solidFill>
              </a:rPr>
              <a:pPr/>
              <a:t>3</a:t>
            </a:fld>
            <a:endParaRPr lang="da-DK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691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smtClean="0"/>
              <a:t>A model of the population and </a:t>
            </a:r>
            <a:r>
              <a:rPr lang="da-DK" dirty="0" err="1" smtClean="0"/>
              <a:t>also</a:t>
            </a:r>
            <a:r>
              <a:rPr lang="da-DK" dirty="0" smtClean="0"/>
              <a:t> the populations of </a:t>
            </a:r>
            <a:r>
              <a:rPr lang="da-DK" dirty="0" err="1" smtClean="0"/>
              <a:t>enterprises</a:t>
            </a:r>
            <a:r>
              <a:rPr lang="da-DK" dirty="0" smtClean="0"/>
              <a:t> and </a:t>
            </a:r>
            <a:r>
              <a:rPr lang="da-DK" dirty="0" err="1" smtClean="0"/>
              <a:t>dwellings</a:t>
            </a:r>
            <a:r>
              <a:rPr lang="da-DK" dirty="0" smtClean="0"/>
              <a:t> and real </a:t>
            </a:r>
            <a:r>
              <a:rPr lang="da-DK" dirty="0" err="1" smtClean="0"/>
              <a:t>estate</a:t>
            </a:r>
            <a:r>
              <a:rPr lang="da-DK" dirty="0" smtClean="0"/>
              <a:t> + the </a:t>
            </a:r>
            <a:r>
              <a:rPr lang="da-DK" dirty="0" err="1" smtClean="0"/>
              <a:t>concepts</a:t>
            </a:r>
            <a:r>
              <a:rPr lang="da-DK" dirty="0" smtClean="0"/>
              <a:t>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needed</a:t>
            </a:r>
            <a:r>
              <a:rPr lang="da-DK" dirty="0" smtClean="0"/>
              <a:t> to know </a:t>
            </a:r>
            <a:r>
              <a:rPr lang="da-DK" dirty="0" err="1" smtClean="0"/>
              <a:t>about</a:t>
            </a:r>
            <a:r>
              <a:rPr lang="da-DK" dirty="0" smtClean="0"/>
              <a:t> </a:t>
            </a:r>
            <a:r>
              <a:rPr lang="da-DK" dirty="0" err="1" smtClean="0"/>
              <a:t>them</a:t>
            </a:r>
            <a:endParaRPr lang="da-DK" dirty="0" smtClean="0"/>
          </a:p>
          <a:p>
            <a:r>
              <a:rPr lang="da-DK" dirty="0" err="1" smtClean="0"/>
              <a:t>Also</a:t>
            </a:r>
            <a:r>
              <a:rPr lang="da-DK" dirty="0" smtClean="0"/>
              <a:t> the links </a:t>
            </a:r>
            <a:r>
              <a:rPr lang="da-DK" dirty="0" err="1" smtClean="0"/>
              <a:t>between</a:t>
            </a:r>
            <a:r>
              <a:rPr lang="da-DK" dirty="0" smtClean="0"/>
              <a:t> </a:t>
            </a:r>
            <a:r>
              <a:rPr lang="da-DK" dirty="0" err="1" smtClean="0"/>
              <a:t>them</a:t>
            </a:r>
            <a:r>
              <a:rPr lang="da-DK" dirty="0" smtClean="0"/>
              <a:t>. 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E0A49-D51E-5D4B-8DB3-E2FF86CB0917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1860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E0A49-D51E-5D4B-8DB3-E2FF86CB0917}" type="slidenum">
              <a:rPr lang="da-DK" smtClean="0">
                <a:solidFill>
                  <a:prstClr val="black"/>
                </a:solidFill>
              </a:rPr>
              <a:pPr/>
              <a:t>10</a:t>
            </a:fld>
            <a:endParaRPr lang="da-DK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295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eaLnBrk="0"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eaLnBrk="0"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eaLnBrk="0"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eaLnBrk="0"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361964" indent="-214724" defTabSz="42944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791412" indent="-214724" defTabSz="42944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220860" indent="-214724" defTabSz="42944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650308" indent="-214724" defTabSz="42944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679959" algn="l"/>
                <a:tab pos="1359919" algn="l"/>
                <a:tab pos="2039878" algn="l"/>
                <a:tab pos="2719837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>
              <a:buFont typeface="Times New Roman" pitchFamily="16" charset="0"/>
              <a:buNone/>
            </a:pPr>
            <a:fld id="{42676C5B-7B4A-4CE6-AD7D-F803F36C54D0}" type="slidenum">
              <a:rPr lang="en-US" altLang="da-DK">
                <a:solidFill>
                  <a:srgbClr val="000000"/>
                </a:solidFill>
                <a:latin typeface="DejaVu Sans" pitchFamily="32" charset="0"/>
                <a:ea typeface="Lucida Sans Unicode" charset="0"/>
                <a:cs typeface="Lucida Sans Unicode" charset="0"/>
              </a:rPr>
              <a:pPr eaLnBrk="1">
                <a:buFont typeface="Times New Roman" pitchFamily="16" charset="0"/>
                <a:buNone/>
              </a:pPr>
              <a:t>11</a:t>
            </a:fld>
            <a:endParaRPr lang="en-US" altLang="da-DK">
              <a:solidFill>
                <a:srgbClr val="000000"/>
              </a:solidFill>
              <a:latin typeface="DejaVu Sans" pitchFamily="32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348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da-DK" smtClean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276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323528" y="332656"/>
            <a:ext cx="8352928" cy="3456384"/>
          </a:xfrm>
          <a:prstGeom prst="rect">
            <a:avLst/>
          </a:prstGeom>
          <a:solidFill>
            <a:srgbClr val="26A3D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6264696" cy="1467594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6264696" cy="1554857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Rektangel 3"/>
          <p:cNvSpPr/>
          <p:nvPr userDrawn="1"/>
        </p:nvSpPr>
        <p:spPr>
          <a:xfrm rot="16200000" flipH="1">
            <a:off x="7997456" y="6575711"/>
            <a:ext cx="461401" cy="108450"/>
          </a:xfrm>
          <a:prstGeom prst="rect">
            <a:avLst/>
          </a:prstGeom>
          <a:solidFill>
            <a:srgbClr val="75B6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 rot="16200000" flipH="1">
            <a:off x="7928875" y="6375773"/>
            <a:ext cx="861282" cy="108450"/>
          </a:xfrm>
          <a:prstGeom prst="rect">
            <a:avLst/>
          </a:prstGeom>
          <a:solidFill>
            <a:srgbClr val="26A3D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 rot="16200000" flipH="1">
            <a:off x="8106372" y="6421910"/>
            <a:ext cx="769002" cy="108450"/>
          </a:xfrm>
          <a:prstGeom prst="rect">
            <a:avLst/>
          </a:prstGeom>
          <a:solidFill>
            <a:srgbClr val="A3CCE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ktangel 10"/>
          <p:cNvSpPr/>
          <p:nvPr userDrawn="1"/>
        </p:nvSpPr>
        <p:spPr>
          <a:xfrm rot="16200000" flipH="1">
            <a:off x="8322321" y="6506501"/>
            <a:ext cx="599821" cy="108450"/>
          </a:xfrm>
          <a:prstGeom prst="rect">
            <a:avLst/>
          </a:prstGeom>
          <a:solidFill>
            <a:srgbClr val="0091D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" y="5947200"/>
            <a:ext cx="931500" cy="496800"/>
          </a:xfrm>
          <a:prstGeom prst="rect">
            <a:avLst/>
          </a:prstGeom>
          <a:noFill/>
          <a:effectLst>
            <a:outerShdw blurRad="12700"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35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8" name="Rektangel 7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‹#›</a:t>
            </a:fld>
            <a:endParaRPr lang="da-DK" dirty="0"/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27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5472608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‹#›</a:t>
            </a:fld>
            <a:endParaRPr lang="da-DK" dirty="0"/>
          </a:p>
        </p:txBody>
      </p:sp>
      <p:grpSp>
        <p:nvGrpSpPr>
          <p:cNvPr id="13" name="Gruppe 12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4" name="Rektangel 13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258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ktangel 25"/>
          <p:cNvSpPr/>
          <p:nvPr userDrawn="1"/>
        </p:nvSpPr>
        <p:spPr>
          <a:xfrm>
            <a:off x="0" y="6165304"/>
            <a:ext cx="9144001" cy="695743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8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38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 dirty="0"/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Rektangel 18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653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323528" y="332656"/>
            <a:ext cx="8352928" cy="3456384"/>
          </a:xfrm>
          <a:prstGeom prst="rect">
            <a:avLst/>
          </a:prstGeom>
          <a:solidFill>
            <a:srgbClr val="26A3D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6264696" cy="1467594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6264696" cy="1554857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Rektangel 3"/>
          <p:cNvSpPr/>
          <p:nvPr userDrawn="1"/>
        </p:nvSpPr>
        <p:spPr>
          <a:xfrm rot="16200000" flipH="1">
            <a:off x="7997456" y="6575711"/>
            <a:ext cx="461401" cy="108450"/>
          </a:xfrm>
          <a:prstGeom prst="rect">
            <a:avLst/>
          </a:prstGeom>
          <a:solidFill>
            <a:srgbClr val="75B6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 rot="16200000" flipH="1">
            <a:off x="7928875" y="6375773"/>
            <a:ext cx="861282" cy="108450"/>
          </a:xfrm>
          <a:prstGeom prst="rect">
            <a:avLst/>
          </a:prstGeom>
          <a:solidFill>
            <a:srgbClr val="26A3D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 rot="16200000" flipH="1">
            <a:off x="8106372" y="6421910"/>
            <a:ext cx="769002" cy="108450"/>
          </a:xfrm>
          <a:prstGeom prst="rect">
            <a:avLst/>
          </a:prstGeom>
          <a:solidFill>
            <a:srgbClr val="A3CCE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1" name="Rektangel 10"/>
          <p:cNvSpPr/>
          <p:nvPr userDrawn="1"/>
        </p:nvSpPr>
        <p:spPr>
          <a:xfrm rot="16200000" flipH="1">
            <a:off x="8322321" y="6506501"/>
            <a:ext cx="599821" cy="108450"/>
          </a:xfrm>
          <a:prstGeom prst="rect">
            <a:avLst/>
          </a:prstGeom>
          <a:solidFill>
            <a:srgbClr val="0091D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5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" y="5947200"/>
            <a:ext cx="931500" cy="496800"/>
          </a:xfrm>
          <a:prstGeom prst="rect">
            <a:avLst/>
          </a:prstGeom>
          <a:noFill/>
          <a:effectLst>
            <a:outerShdw blurRad="12700"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133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8" name="Rektangel 7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prstClr val="white"/>
              </a:solidFill>
            </a:endParaRPr>
          </a:p>
        </p:txBody>
      </p:sp>
      <p:sp>
        <p:nvSpPr>
          <p:cNvPr id="11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‹#›</a:t>
            </a:fld>
            <a:endParaRPr lang="da-DK" dirty="0">
              <a:solidFill>
                <a:prstClr val="white"/>
              </a:solidFill>
            </a:endParaRPr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</p:grpSp>
      <p:pic>
        <p:nvPicPr>
          <p:cNvPr id="4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371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prstClr val="white"/>
              </a:solidFill>
            </a:endParaRPr>
          </a:p>
        </p:txBody>
      </p:sp>
      <p:sp>
        <p:nvSpPr>
          <p:cNvPr id="19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5472608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‹#›</a:t>
            </a:fld>
            <a:endParaRPr lang="da-DK" dirty="0">
              <a:solidFill>
                <a:prstClr val="white"/>
              </a:solidFill>
            </a:endParaRPr>
          </a:p>
        </p:txBody>
      </p:sp>
      <p:grpSp>
        <p:nvGrpSpPr>
          <p:cNvPr id="13" name="Gruppe 12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4" name="Rektangel 13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</p:grpSp>
      <p:pic>
        <p:nvPicPr>
          <p:cNvPr id="22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69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ktangel 25"/>
          <p:cNvSpPr/>
          <p:nvPr userDrawn="1"/>
        </p:nvSpPr>
        <p:spPr>
          <a:xfrm>
            <a:off x="0" y="6165304"/>
            <a:ext cx="9144001" cy="695743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prstClr val="white"/>
              </a:solidFill>
            </a:endParaRPr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‹#›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18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38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 dirty="0"/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  <p:sp>
          <p:nvSpPr>
            <p:cNvPr id="19" name="Rektangel 18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prstClr val="black"/>
                </a:solidFill>
              </a:endParaRPr>
            </a:p>
          </p:txBody>
        </p:sp>
      </p:grpSp>
      <p:pic>
        <p:nvPicPr>
          <p:cNvPr id="20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746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smtClean="0"/>
              <a:t>Klik for at redigere i master</a:t>
            </a:r>
            <a:endParaRPr lang="en-GB" noProof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smtClean="0"/>
              <a:t>Klik for at redigere i master</a:t>
            </a:r>
          </a:p>
          <a:p>
            <a:pPr lvl="1"/>
            <a:r>
              <a:rPr lang="en-GB" noProof="0" smtClean="0"/>
              <a:t>Andet niveau</a:t>
            </a:r>
          </a:p>
          <a:p>
            <a:pPr lvl="2"/>
            <a:r>
              <a:rPr lang="en-GB" noProof="0" smtClean="0"/>
              <a:t>Tredje niveau</a:t>
            </a:r>
          </a:p>
          <a:p>
            <a:pPr lvl="3"/>
            <a:r>
              <a:rPr lang="en-GB" noProof="0" smtClean="0"/>
              <a:t>Fjerde niveau</a:t>
            </a:r>
          </a:p>
          <a:p>
            <a:pPr lvl="4"/>
            <a:r>
              <a:rPr lang="en-GB" noProof="0" smtClean="0"/>
              <a:t>Femte niveau</a:t>
            </a:r>
            <a:endParaRPr lang="en-GB" noProof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ucida Sans"/>
              </a:defRPr>
            </a:lvl1pPr>
          </a:lstStyle>
          <a:p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496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smtClean="0"/>
              <a:t>Klik for at redigere i master</a:t>
            </a:r>
            <a:endParaRPr lang="en-GB" noProof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smtClean="0"/>
              <a:t>Klik for at redigere i master</a:t>
            </a:r>
          </a:p>
          <a:p>
            <a:pPr lvl="1"/>
            <a:r>
              <a:rPr lang="en-GB" noProof="0" smtClean="0"/>
              <a:t>Andet niveau</a:t>
            </a:r>
          </a:p>
          <a:p>
            <a:pPr lvl="2"/>
            <a:r>
              <a:rPr lang="en-GB" noProof="0" smtClean="0"/>
              <a:t>Tredje niveau</a:t>
            </a:r>
          </a:p>
          <a:p>
            <a:pPr lvl="3"/>
            <a:r>
              <a:rPr lang="en-GB" noProof="0" smtClean="0"/>
              <a:t>Fjerde niveau</a:t>
            </a:r>
          </a:p>
          <a:p>
            <a:pPr lvl="4"/>
            <a:r>
              <a:rPr lang="en-GB" noProof="0" smtClean="0"/>
              <a:t>Femte niveau</a:t>
            </a:r>
            <a:endParaRPr lang="en-GB" noProof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ucida Sans"/>
              </a:defRPr>
            </a:lvl1pPr>
          </a:lstStyle>
          <a:p>
            <a:endParaRPr lang="da-DK">
              <a:solidFill>
                <a:prstClr val="white"/>
              </a:solidFill>
            </a:endParaRP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da-DK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6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0/04/Pharos_of_Alexandria1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st.dk/declaration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upload.wikimedia.org/wikipedia/commons/0/04/Pharos_of_Alexandria1.jpg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7488832" cy="1467594"/>
          </a:xfrm>
        </p:spPr>
        <p:txBody>
          <a:bodyPr/>
          <a:lstStyle/>
          <a:p>
            <a:r>
              <a:rPr lang="en-GB" dirty="0" smtClean="0"/>
              <a:t>Building a statistics lighthouse </a:t>
            </a:r>
            <a:r>
              <a:rPr lang="en-GB" sz="2800" dirty="0" smtClean="0"/>
              <a:t>for all decision makers</a:t>
            </a:r>
            <a:endParaRPr lang="en-GB" sz="2800" dirty="0"/>
          </a:p>
        </p:txBody>
      </p:sp>
      <p:sp>
        <p:nvSpPr>
          <p:cNvPr id="7" name="Undertitel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600" dirty="0" smtClean="0"/>
              <a:t>Lars Thygesen &amp; Carsten Zangenberg</a:t>
            </a:r>
          </a:p>
          <a:p>
            <a:r>
              <a:rPr lang="en-GB" sz="2000" dirty="0" smtClean="0"/>
              <a:t>EDDI 2015</a:t>
            </a:r>
          </a:p>
          <a:p>
            <a:r>
              <a:rPr lang="en-GB" sz="2000" dirty="0" smtClean="0"/>
              <a:t>Copenhagen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3104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 smtClean="0"/>
              <a:t>Why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here</a:t>
            </a:r>
            <a:r>
              <a:rPr lang="da-DK" dirty="0" smtClean="0"/>
              <a:t>?</a:t>
            </a:r>
            <a:endParaRPr lang="da-DK" dirty="0"/>
          </a:p>
        </p:txBody>
      </p:sp>
      <p:sp>
        <p:nvSpPr>
          <p:cNvPr id="6" name="Pladsholder til indhold 10"/>
          <p:cNvSpPr>
            <a:spLocks noGrp="1"/>
          </p:cNvSpPr>
          <p:nvPr>
            <p:ph idx="1"/>
          </p:nvPr>
        </p:nvSpPr>
        <p:spPr>
          <a:xfrm>
            <a:off x="467544" y="1600200"/>
            <a:ext cx="5184576" cy="4525963"/>
          </a:xfrm>
        </p:spPr>
        <p:txBody>
          <a:bodyPr>
            <a:normAutofit/>
          </a:bodyPr>
          <a:lstStyle/>
          <a:p>
            <a:r>
              <a:rPr lang="da-DK" dirty="0" err="1" smtClean="0"/>
              <a:t>Because</a:t>
            </a:r>
            <a:r>
              <a:rPr lang="da-DK" dirty="0" smtClean="0"/>
              <a:t> all </a:t>
            </a:r>
            <a:r>
              <a:rPr lang="da-DK" dirty="0" err="1" smtClean="0"/>
              <a:t>good</a:t>
            </a:r>
            <a:r>
              <a:rPr lang="da-DK" dirty="0" smtClean="0"/>
              <a:t> decisions </a:t>
            </a:r>
            <a:r>
              <a:rPr lang="da-DK" dirty="0" err="1" smtClean="0"/>
              <a:t>rely</a:t>
            </a:r>
            <a:r>
              <a:rPr lang="da-DK" dirty="0" smtClean="0"/>
              <a:t> on facts</a:t>
            </a:r>
          </a:p>
          <a:p>
            <a:r>
              <a:rPr lang="da-DK" dirty="0" smtClean="0"/>
              <a:t>Provide the basic facts on society – a </a:t>
            </a:r>
            <a:r>
              <a:rPr lang="da-DK" dirty="0" err="1" smtClean="0"/>
              <a:t>common</a:t>
            </a:r>
            <a:r>
              <a:rPr lang="da-DK" dirty="0" smtClean="0"/>
              <a:t> reference point</a:t>
            </a:r>
          </a:p>
          <a:p>
            <a:r>
              <a:rPr lang="da-DK" dirty="0" smtClean="0"/>
              <a:t>Basis for </a:t>
            </a:r>
            <a:r>
              <a:rPr lang="da-DK" dirty="0" err="1" smtClean="0">
                <a:solidFill>
                  <a:srgbClr val="FF0000"/>
                </a:solidFill>
              </a:rPr>
              <a:t>democracy</a:t>
            </a:r>
            <a:r>
              <a:rPr lang="da-DK" dirty="0" smtClean="0"/>
              <a:t> and </a:t>
            </a:r>
            <a:r>
              <a:rPr lang="da-DK" dirty="0" err="1" smtClean="0">
                <a:solidFill>
                  <a:srgbClr val="FF0000"/>
                </a:solidFill>
              </a:rPr>
              <a:t>economy</a:t>
            </a:r>
            <a:r>
              <a:rPr lang="da-DK" dirty="0" smtClean="0">
                <a:solidFill>
                  <a:srgbClr val="FF0000"/>
                </a:solidFill>
              </a:rPr>
              <a:t> </a:t>
            </a:r>
            <a:endParaRPr lang="da-DK" dirty="0" smtClean="0"/>
          </a:p>
          <a:p>
            <a:r>
              <a:rPr lang="da-DK" dirty="0" smtClean="0"/>
              <a:t>A </a:t>
            </a:r>
            <a:r>
              <a:rPr lang="da-DK" dirty="0" err="1" smtClean="0"/>
              <a:t>lighthouse</a:t>
            </a:r>
            <a:r>
              <a:rPr lang="da-DK" dirty="0" smtClean="0"/>
              <a:t> in the Sea of Information</a:t>
            </a:r>
          </a:p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4294967295"/>
          </p:nvPr>
        </p:nvSpPr>
        <p:spPr>
          <a:xfrm>
            <a:off x="8604448" y="6514165"/>
            <a:ext cx="504056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z="800" smtClean="0">
                <a:solidFill>
                  <a:schemeClr val="bg1"/>
                </a:solidFill>
              </a:rPr>
              <a:pPr/>
              <a:t>2</a:t>
            </a:fld>
            <a:endParaRPr lang="da-DK" sz="800" dirty="0">
              <a:solidFill>
                <a:schemeClr val="bg1"/>
              </a:solidFill>
            </a:endParaRPr>
          </a:p>
        </p:txBody>
      </p:sp>
      <p:pic>
        <p:nvPicPr>
          <p:cNvPr id="7" name="Picture 4" descr="File:Pharos of Alexandria1.jpg">
            <a:hlinkClick r:id="rId3"/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00" y="1764000"/>
            <a:ext cx="2530475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75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Pladsholder til diasnummer 4"/>
          <p:cNvSpPr>
            <a:spLocks noGrp="1"/>
          </p:cNvSpPr>
          <p:nvPr>
            <p:ph type="sldNum" sz="quarter" idx="4294967295"/>
          </p:nvPr>
        </p:nvSpPr>
        <p:spPr>
          <a:xfrm>
            <a:off x="6156176" y="6515096"/>
            <a:ext cx="2895600" cy="365125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15B8C3F-9704-45B2-9A62-A575A1C27424}" type="slidenum">
              <a:rPr lang="en-US" altLang="en-US" sz="800" smtClean="0">
                <a:solidFill>
                  <a:prstClr val="white"/>
                </a:solidFill>
              </a:rPr>
              <a:pPr/>
              <a:t>3</a:t>
            </a:fld>
            <a:endParaRPr lang="en-US" altLang="en-US" sz="800" dirty="0" smtClean="0">
              <a:solidFill>
                <a:prstClr val="white"/>
              </a:solidFill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74638"/>
            <a:ext cx="6552728" cy="1143000"/>
          </a:xfrm>
        </p:spPr>
        <p:txBody>
          <a:bodyPr>
            <a:normAutofit/>
          </a:bodyPr>
          <a:lstStyle/>
          <a:p>
            <a:pPr algn="l"/>
            <a:r>
              <a:rPr lang="en-GB" dirty="0" smtClean="0">
                <a:cs typeface="Times New Roman" pitchFamily="18" charset="0"/>
              </a:rPr>
              <a:t>Strategy of official statistics organisations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3200" dirty="0" smtClean="0"/>
              <a:t>Provide basis for informed decisions by:</a:t>
            </a:r>
          </a:p>
          <a:p>
            <a:endParaRPr lang="en-GB" sz="3200" dirty="0" smtClean="0"/>
          </a:p>
          <a:p>
            <a:pPr lvl="1"/>
            <a:r>
              <a:rPr lang="en-GB" dirty="0" smtClean="0"/>
              <a:t>Government</a:t>
            </a:r>
          </a:p>
          <a:p>
            <a:pPr lvl="1"/>
            <a:r>
              <a:rPr lang="en-GB" dirty="0" smtClean="0"/>
              <a:t>Research</a:t>
            </a:r>
          </a:p>
          <a:p>
            <a:pPr lvl="1"/>
            <a:r>
              <a:rPr lang="en-GB" dirty="0" smtClean="0"/>
              <a:t>Enterprise</a:t>
            </a:r>
            <a:r>
              <a:rPr lang="en-US" dirty="0"/>
              <a:t>s</a:t>
            </a:r>
            <a:endParaRPr lang="en-GB" dirty="0" smtClean="0"/>
          </a:p>
          <a:p>
            <a:pPr lvl="1"/>
            <a:r>
              <a:rPr lang="en-GB" dirty="0" smtClean="0"/>
              <a:t>Citizens</a:t>
            </a:r>
          </a:p>
          <a:p>
            <a:pPr lvl="1"/>
            <a:r>
              <a:rPr lang="en-GB" dirty="0" smtClean="0"/>
              <a:t>International organisations</a:t>
            </a:r>
          </a:p>
        </p:txBody>
      </p:sp>
    </p:spTree>
    <p:extLst>
      <p:ext uri="{BB962C8B-B14F-4D97-AF65-F5344CB8AC3E}">
        <p14:creationId xmlns:p14="http://schemas.microsoft.com/office/powerpoint/2010/main" val="1299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What</a:t>
            </a:r>
            <a:r>
              <a:rPr lang="da-DK" dirty="0" smtClean="0"/>
              <a:t> </a:t>
            </a:r>
            <a:r>
              <a:rPr lang="da-DK" dirty="0" err="1" smtClean="0"/>
              <a:t>we</a:t>
            </a:r>
            <a:r>
              <a:rPr lang="da-DK" dirty="0" smtClean="0"/>
              <a:t> have to do?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 smtClean="0"/>
              <a:t>Produce</a:t>
            </a:r>
            <a:r>
              <a:rPr lang="da-DK" dirty="0" smtClean="0"/>
              <a:t> </a:t>
            </a:r>
            <a:r>
              <a:rPr lang="da-DK" dirty="0" err="1" smtClean="0"/>
              <a:t>high</a:t>
            </a:r>
            <a:r>
              <a:rPr lang="da-DK" dirty="0" smtClean="0"/>
              <a:t> </a:t>
            </a:r>
            <a:r>
              <a:rPr lang="da-DK" dirty="0" err="1" smtClean="0"/>
              <a:t>quality</a:t>
            </a:r>
            <a:r>
              <a:rPr lang="da-DK" dirty="0" smtClean="0"/>
              <a:t> </a:t>
            </a:r>
            <a:r>
              <a:rPr lang="da-DK" dirty="0" err="1" smtClean="0"/>
              <a:t>statistics</a:t>
            </a:r>
            <a:endParaRPr lang="da-DK" dirty="0" smtClean="0"/>
          </a:p>
          <a:p>
            <a:r>
              <a:rPr lang="da-DK" dirty="0" smtClean="0"/>
              <a:t>Make it </a:t>
            </a:r>
            <a:r>
              <a:rPr lang="da-DK" dirty="0" err="1" smtClean="0"/>
              <a:t>available</a:t>
            </a:r>
            <a:endParaRPr lang="da-DK" dirty="0" smtClean="0"/>
          </a:p>
          <a:p>
            <a:endParaRPr lang="da-DK" dirty="0" smtClean="0"/>
          </a:p>
          <a:p>
            <a:pPr marL="0" indent="0">
              <a:buNone/>
            </a:pPr>
            <a:r>
              <a:rPr lang="da-DK" dirty="0" smtClean="0">
                <a:solidFill>
                  <a:srgbClr val="FF0000"/>
                </a:solidFill>
              </a:rPr>
              <a:t>              </a:t>
            </a:r>
            <a:r>
              <a:rPr lang="da-DK" b="1" dirty="0" smtClean="0">
                <a:solidFill>
                  <a:srgbClr val="FF0000"/>
                </a:solidFill>
              </a:rPr>
              <a:t>But it is not </a:t>
            </a:r>
            <a:r>
              <a:rPr lang="da-DK" b="1" dirty="0" err="1" smtClean="0">
                <a:solidFill>
                  <a:srgbClr val="FF0000"/>
                </a:solidFill>
              </a:rPr>
              <a:t>enough</a:t>
            </a:r>
            <a:r>
              <a:rPr lang="da-DK" b="1" dirty="0" smtClean="0">
                <a:solidFill>
                  <a:srgbClr val="FF0000"/>
                </a:solidFill>
              </a:rPr>
              <a:t>!</a:t>
            </a:r>
          </a:p>
          <a:p>
            <a:pPr marL="0" indent="0" algn="ctr">
              <a:buNone/>
            </a:pPr>
            <a:endParaRPr lang="da-DK" dirty="0" smtClean="0">
              <a:solidFill>
                <a:srgbClr val="FF0000"/>
              </a:solidFill>
            </a:endParaRPr>
          </a:p>
          <a:p>
            <a:r>
              <a:rPr lang="da-DK" dirty="0" smtClean="0"/>
              <a:t>Data    information    </a:t>
            </a:r>
            <a:r>
              <a:rPr lang="da-DK" dirty="0" err="1" smtClean="0"/>
              <a:t>statistics</a:t>
            </a:r>
            <a:r>
              <a:rPr lang="da-DK" dirty="0" smtClean="0"/>
              <a:t>     </a:t>
            </a:r>
            <a:r>
              <a:rPr lang="da-DK" dirty="0" err="1" smtClean="0"/>
              <a:t>knowledge</a:t>
            </a:r>
            <a:endParaRPr lang="da-DK" dirty="0" smtClean="0"/>
          </a:p>
          <a:p>
            <a:r>
              <a:rPr lang="da-DK" dirty="0" smtClean="0"/>
              <a:t>Knowledge has to </a:t>
            </a:r>
            <a:r>
              <a:rPr lang="da-DK" dirty="0" err="1" smtClean="0"/>
              <a:t>enter</a:t>
            </a:r>
            <a:r>
              <a:rPr lang="da-DK" dirty="0" smtClean="0"/>
              <a:t> the </a:t>
            </a:r>
            <a:r>
              <a:rPr lang="da-DK" dirty="0" err="1" smtClean="0"/>
              <a:t>heads</a:t>
            </a:r>
            <a:r>
              <a:rPr lang="da-DK" dirty="0" smtClean="0"/>
              <a:t> of </a:t>
            </a:r>
            <a:r>
              <a:rPr lang="da-DK" dirty="0" err="1" smtClean="0"/>
              <a:t>users</a:t>
            </a:r>
            <a:endParaRPr lang="da-DK" dirty="0" smtClean="0"/>
          </a:p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294967295"/>
          </p:nvPr>
        </p:nvSpPr>
        <p:spPr>
          <a:xfrm>
            <a:off x="8532440" y="6514165"/>
            <a:ext cx="514400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z="800" smtClean="0">
                <a:solidFill>
                  <a:schemeClr val="bg1"/>
                </a:solidFill>
              </a:rPr>
              <a:pPr/>
              <a:t>4</a:t>
            </a:fld>
            <a:endParaRPr lang="da-DK" sz="800" dirty="0">
              <a:solidFill>
                <a:schemeClr val="bg1"/>
              </a:solidFill>
            </a:endParaRPr>
          </a:p>
        </p:txBody>
      </p:sp>
      <p:sp>
        <p:nvSpPr>
          <p:cNvPr id="5" name="Højrepil 4"/>
          <p:cNvSpPr/>
          <p:nvPr/>
        </p:nvSpPr>
        <p:spPr>
          <a:xfrm>
            <a:off x="1547664" y="4149080"/>
            <a:ext cx="288032" cy="14401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prstClr val="black"/>
              </a:solidFill>
            </a:endParaRPr>
          </a:p>
        </p:txBody>
      </p:sp>
      <p:sp>
        <p:nvSpPr>
          <p:cNvPr id="6" name="Højrepil 5"/>
          <p:cNvSpPr/>
          <p:nvPr/>
        </p:nvSpPr>
        <p:spPr>
          <a:xfrm>
            <a:off x="5220072" y="4175470"/>
            <a:ext cx="288032" cy="14401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prstClr val="black"/>
              </a:solidFill>
            </a:endParaRPr>
          </a:p>
        </p:txBody>
      </p:sp>
      <p:sp>
        <p:nvSpPr>
          <p:cNvPr id="7" name="Højrepil 6"/>
          <p:cNvSpPr/>
          <p:nvPr/>
        </p:nvSpPr>
        <p:spPr>
          <a:xfrm>
            <a:off x="3563888" y="4175470"/>
            <a:ext cx="288032" cy="14401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59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Reference metadata: </a:t>
            </a:r>
          </a:p>
          <a:p>
            <a:pPr lvl="1"/>
            <a:r>
              <a:rPr lang="da-DK" dirty="0" err="1" smtClean="0"/>
              <a:t>Conceptual</a:t>
            </a:r>
            <a:r>
              <a:rPr lang="da-DK" dirty="0" smtClean="0"/>
              <a:t> </a:t>
            </a:r>
            <a:r>
              <a:rPr lang="da-DK" dirty="0"/>
              <a:t>metadata (</a:t>
            </a:r>
            <a:r>
              <a:rPr lang="da-DK" dirty="0" err="1"/>
              <a:t>e.g</a:t>
            </a:r>
            <a:r>
              <a:rPr lang="da-DK" dirty="0"/>
              <a:t>. definition of </a:t>
            </a:r>
            <a:r>
              <a:rPr lang="da-DK" dirty="0" err="1"/>
              <a:t>income</a:t>
            </a:r>
            <a:r>
              <a:rPr lang="da-DK" dirty="0"/>
              <a:t>)</a:t>
            </a:r>
          </a:p>
          <a:p>
            <a:pPr lvl="1"/>
            <a:r>
              <a:rPr lang="da-DK" dirty="0" err="1" smtClean="0"/>
              <a:t>Methodological</a:t>
            </a:r>
            <a:r>
              <a:rPr lang="da-DK" dirty="0" smtClean="0"/>
              <a:t> </a:t>
            </a:r>
            <a:r>
              <a:rPr lang="da-DK" dirty="0"/>
              <a:t>and </a:t>
            </a:r>
            <a:r>
              <a:rPr lang="da-DK" dirty="0" err="1"/>
              <a:t>processing</a:t>
            </a:r>
            <a:r>
              <a:rPr lang="da-DK" dirty="0"/>
              <a:t> metadata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description</a:t>
            </a:r>
            <a:r>
              <a:rPr lang="da-DK" dirty="0"/>
              <a:t> of data </a:t>
            </a:r>
            <a:r>
              <a:rPr lang="da-DK" dirty="0" err="1"/>
              <a:t>processing</a:t>
            </a:r>
            <a:r>
              <a:rPr lang="da-DK" dirty="0"/>
              <a:t>) </a:t>
            </a:r>
          </a:p>
          <a:p>
            <a:pPr lvl="1"/>
            <a:r>
              <a:rPr lang="da-DK" dirty="0" err="1" smtClean="0"/>
              <a:t>Quality</a:t>
            </a:r>
            <a:r>
              <a:rPr lang="da-DK" dirty="0" smtClean="0"/>
              <a:t> </a:t>
            </a:r>
            <a:r>
              <a:rPr lang="da-DK" dirty="0"/>
              <a:t>metadata 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Availability</a:t>
            </a:r>
            <a:r>
              <a:rPr lang="da-DK" dirty="0" smtClean="0"/>
              <a:t>)	</a:t>
            </a:r>
          </a:p>
          <a:p>
            <a:pPr lvl="1"/>
            <a:endParaRPr lang="da-DK" dirty="0"/>
          </a:p>
          <a:p>
            <a:r>
              <a:rPr lang="da-DK" dirty="0" err="1"/>
              <a:t>Structural</a:t>
            </a:r>
            <a:r>
              <a:rPr lang="da-DK" dirty="0"/>
              <a:t> metadata: </a:t>
            </a:r>
          </a:p>
          <a:p>
            <a:pPr lvl="1"/>
            <a:r>
              <a:rPr lang="da-DK" dirty="0" smtClean="0"/>
              <a:t>Metadata </a:t>
            </a:r>
            <a:r>
              <a:rPr lang="da-DK" dirty="0"/>
              <a:t>act as </a:t>
            </a:r>
            <a:r>
              <a:rPr lang="da-DK" dirty="0" err="1"/>
              <a:t>identifiers</a:t>
            </a:r>
            <a:r>
              <a:rPr lang="da-DK" dirty="0"/>
              <a:t> and </a:t>
            </a:r>
            <a:r>
              <a:rPr lang="da-DK" dirty="0" err="1"/>
              <a:t>descriptors</a:t>
            </a:r>
            <a:r>
              <a:rPr lang="da-DK" dirty="0"/>
              <a:t> of the data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name</a:t>
            </a:r>
            <a:r>
              <a:rPr lang="da-DK" dirty="0"/>
              <a:t> on variables, dataset </a:t>
            </a:r>
            <a:r>
              <a:rPr lang="da-DK" dirty="0" err="1"/>
              <a:t>etc</a:t>
            </a:r>
            <a:r>
              <a:rPr lang="da-DK" dirty="0"/>
              <a:t>)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Simplified</a:t>
            </a:r>
            <a:r>
              <a:rPr lang="da-DK" dirty="0" smtClean="0"/>
              <a:t> definition of </a:t>
            </a:r>
            <a:r>
              <a:rPr lang="da-DK" dirty="0" err="1" smtClean="0"/>
              <a:t>statistical</a:t>
            </a:r>
            <a:r>
              <a:rPr lang="da-DK" dirty="0" smtClean="0"/>
              <a:t> metadata 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>
          <a:xfrm>
            <a:off x="8532440" y="6514165"/>
            <a:ext cx="648072" cy="343835"/>
          </a:xfrm>
        </p:spPr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5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3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Pladsholder til diasnummer 4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7D259EE-0208-4C64-8F56-70CAD5A85E72}" type="slidenum">
              <a:rPr lang="en-US" altLang="en-US" sz="1200" smtClean="0">
                <a:solidFill>
                  <a:schemeClr val="bg1"/>
                </a:solidFill>
                <a:latin typeface="+mn-lt"/>
              </a:rPr>
              <a:pPr/>
              <a:t>6</a:t>
            </a:fld>
            <a:endParaRPr lang="en-US" altLang="en-US" sz="120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212416"/>
            <a:ext cx="8261350" cy="762000"/>
          </a:xfrm>
        </p:spPr>
        <p:txBody>
          <a:bodyPr>
            <a:noAutofit/>
          </a:bodyPr>
          <a:lstStyle/>
          <a:p>
            <a:r>
              <a:rPr lang="en-GB" sz="3400" dirty="0" smtClean="0">
                <a:solidFill>
                  <a:schemeClr val="tx1"/>
                </a:solidFill>
              </a:rPr>
              <a:t>The Statistical Information System</a:t>
            </a:r>
          </a:p>
        </p:txBody>
      </p:sp>
      <p:grpSp>
        <p:nvGrpSpPr>
          <p:cNvPr id="8197" name="Group 3"/>
          <p:cNvGrpSpPr>
            <a:grpSpLocks/>
          </p:cNvGrpSpPr>
          <p:nvPr/>
        </p:nvGrpSpPr>
        <p:grpSpPr bwMode="auto">
          <a:xfrm>
            <a:off x="1066800" y="1143000"/>
            <a:ext cx="6788150" cy="4876800"/>
            <a:chOff x="672" y="768"/>
            <a:chExt cx="4276" cy="3072"/>
          </a:xfrm>
        </p:grpSpPr>
        <p:sp>
          <p:nvSpPr>
            <p:cNvPr id="8252" name="Oval 4"/>
            <p:cNvSpPr>
              <a:spLocks noChangeArrowheads="1"/>
            </p:cNvSpPr>
            <p:nvPr/>
          </p:nvSpPr>
          <p:spPr bwMode="auto">
            <a:xfrm>
              <a:off x="2192" y="768"/>
              <a:ext cx="1296" cy="1336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+mn-lt"/>
              </a:endParaRPr>
            </a:p>
          </p:txBody>
        </p:sp>
        <p:sp>
          <p:nvSpPr>
            <p:cNvPr id="8253" name="Rectangle 5"/>
            <p:cNvSpPr>
              <a:spLocks noChangeArrowheads="1"/>
            </p:cNvSpPr>
            <p:nvPr/>
          </p:nvSpPr>
          <p:spPr bwMode="auto">
            <a:xfrm>
              <a:off x="2287" y="1069"/>
              <a:ext cx="1106" cy="5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ctr" defTabSz="762000"/>
              <a:r>
                <a:rPr lang="en-GB" b="1" dirty="0">
                  <a:solidFill>
                    <a:schemeClr val="bg1"/>
                  </a:solidFill>
                  <a:latin typeface="+mn-lt"/>
                </a:rPr>
                <a:t>Person</a:t>
              </a:r>
            </a:p>
            <a:p>
              <a:pPr algn="ctr" defTabSz="762000"/>
              <a:r>
                <a:rPr lang="en-GB" sz="2000" b="1" dirty="0">
                  <a:solidFill>
                    <a:schemeClr val="bg1"/>
                  </a:solidFill>
                  <a:latin typeface="+mn-lt"/>
                </a:rPr>
                <a:t>id: </a:t>
              </a:r>
            </a:p>
            <a:p>
              <a:pPr algn="ctr" defTabSz="762000"/>
              <a:r>
                <a:rPr lang="en-GB" sz="2000" b="1" dirty="0">
                  <a:solidFill>
                    <a:schemeClr val="bg1"/>
                  </a:solidFill>
                  <a:latin typeface="+mn-lt"/>
                </a:rPr>
                <a:t>Person </a:t>
              </a:r>
              <a:r>
                <a:rPr lang="da-DK" sz="2000" b="1" dirty="0">
                  <a:solidFill>
                    <a:schemeClr val="bg1"/>
                  </a:solidFill>
                  <a:latin typeface="+mn-lt"/>
                </a:rPr>
                <a:t>N</a:t>
              </a:r>
              <a:r>
                <a:rPr lang="en-GB" sz="2000" b="1" dirty="0">
                  <a:solidFill>
                    <a:schemeClr val="bg1"/>
                  </a:solidFill>
                  <a:latin typeface="+mn-lt"/>
                </a:rPr>
                <a:t>um</a:t>
              </a:r>
              <a:r>
                <a:rPr lang="da-DK" sz="2000" b="1" dirty="0">
                  <a:solidFill>
                    <a:schemeClr val="bg1"/>
                  </a:solidFill>
                  <a:latin typeface="+mn-lt"/>
                </a:rPr>
                <a:t>b</a:t>
              </a:r>
              <a:r>
                <a:rPr lang="en-GB" sz="2000" b="1" dirty="0" err="1" smtClean="0">
                  <a:solidFill>
                    <a:schemeClr val="bg1"/>
                  </a:solidFill>
                  <a:latin typeface="+mn-lt"/>
                </a:rPr>
                <a:t>er</a:t>
              </a:r>
              <a:endParaRPr lang="en-GB" sz="2000" b="1" dirty="0" smtClean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254" name="Oval 6"/>
            <p:cNvSpPr>
              <a:spLocks noChangeArrowheads="1"/>
            </p:cNvSpPr>
            <p:nvPr/>
          </p:nvSpPr>
          <p:spPr bwMode="auto">
            <a:xfrm>
              <a:off x="3656" y="2574"/>
              <a:ext cx="1292" cy="1258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55" name="Oval 7"/>
            <p:cNvSpPr>
              <a:spLocks noChangeArrowheads="1"/>
            </p:cNvSpPr>
            <p:nvPr/>
          </p:nvSpPr>
          <p:spPr bwMode="auto">
            <a:xfrm>
              <a:off x="672" y="2574"/>
              <a:ext cx="1252" cy="1266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56" name="Rectangle 8"/>
            <p:cNvSpPr>
              <a:spLocks noChangeArrowheads="1"/>
            </p:cNvSpPr>
            <p:nvPr/>
          </p:nvSpPr>
          <p:spPr bwMode="auto">
            <a:xfrm>
              <a:off x="3945" y="2928"/>
              <a:ext cx="675" cy="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ctr" defTabSz="762000"/>
              <a:r>
                <a:rPr lang="da-DK" b="1" dirty="0">
                  <a:solidFill>
                    <a:schemeClr val="bg1"/>
                  </a:solidFill>
                  <a:latin typeface="+mn-lt"/>
                </a:rPr>
                <a:t>Enterprise</a:t>
              </a:r>
              <a:endParaRPr lang="en-GB" b="1" dirty="0">
                <a:solidFill>
                  <a:schemeClr val="bg1"/>
                </a:solidFill>
                <a:latin typeface="+mn-lt"/>
              </a:endParaRPr>
            </a:p>
            <a:p>
              <a:pPr algn="ctr" defTabSz="762000"/>
              <a:r>
                <a:rPr lang="en-GB" sz="2000" b="1" dirty="0">
                  <a:solidFill>
                    <a:schemeClr val="bg1"/>
                  </a:solidFill>
                  <a:latin typeface="+mn-lt"/>
                </a:rPr>
                <a:t>id:</a:t>
              </a:r>
            </a:p>
            <a:p>
              <a:pPr algn="ctr" defTabSz="762000"/>
              <a:r>
                <a:rPr lang="da-DK" sz="2000" b="1" dirty="0" smtClean="0">
                  <a:solidFill>
                    <a:schemeClr val="bg1"/>
                  </a:solidFill>
                  <a:latin typeface="+mn-lt"/>
                </a:rPr>
                <a:t>CBR-No</a:t>
              </a:r>
              <a:endParaRPr lang="en-US" sz="2800" b="1" dirty="0">
                <a:solidFill>
                  <a:schemeClr val="bg1"/>
                </a:solidFill>
              </a:endParaRPr>
            </a:p>
            <a:p>
              <a:pPr algn="ctr" defTabSz="762000"/>
              <a:endParaRPr lang="en-GB" sz="2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257" name="Rectangle 9"/>
            <p:cNvSpPr>
              <a:spLocks noChangeArrowheads="1"/>
            </p:cNvSpPr>
            <p:nvPr/>
          </p:nvSpPr>
          <p:spPr bwMode="auto">
            <a:xfrm>
              <a:off x="672" y="2880"/>
              <a:ext cx="1242" cy="5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7625" tIns="19050" rIns="47625" bIns="19050">
              <a:spAutoFit/>
            </a:bodyPr>
            <a:lstStyle/>
            <a:p>
              <a:pPr algn="ctr" defTabSz="762000"/>
              <a:r>
                <a:rPr lang="da-DK" b="1" dirty="0" err="1">
                  <a:solidFill>
                    <a:schemeClr val="bg1"/>
                  </a:solidFill>
                  <a:latin typeface="+mn-lt"/>
                </a:rPr>
                <a:t>Dwelling</a:t>
              </a:r>
              <a:endParaRPr lang="en-GB" b="1" dirty="0">
                <a:solidFill>
                  <a:schemeClr val="bg1"/>
                </a:solidFill>
                <a:latin typeface="+mn-lt"/>
              </a:endParaRPr>
            </a:p>
            <a:p>
              <a:pPr algn="ctr" defTabSz="762000"/>
              <a:r>
                <a:rPr lang="en-GB" sz="2000" b="1" dirty="0">
                  <a:solidFill>
                    <a:schemeClr val="bg1"/>
                  </a:solidFill>
                  <a:latin typeface="+mn-lt"/>
                </a:rPr>
                <a:t>id</a:t>
              </a:r>
              <a:r>
                <a:rPr lang="da-DK" sz="2000" b="1" dirty="0">
                  <a:solidFill>
                    <a:schemeClr val="bg1"/>
                  </a:solidFill>
                  <a:latin typeface="+mn-lt"/>
                </a:rPr>
                <a:t>:</a:t>
              </a:r>
              <a:endParaRPr lang="en-GB" sz="2000" b="1" dirty="0">
                <a:solidFill>
                  <a:schemeClr val="bg1"/>
                </a:solidFill>
                <a:latin typeface="+mn-lt"/>
              </a:endParaRPr>
            </a:p>
            <a:p>
              <a:pPr algn="ctr" defTabSz="762000"/>
              <a:r>
                <a:rPr lang="da-DK" sz="2000" b="1" dirty="0">
                  <a:solidFill>
                    <a:schemeClr val="bg1"/>
                  </a:solidFill>
                  <a:latin typeface="+mn-lt"/>
                </a:rPr>
                <a:t>Ad</a:t>
              </a:r>
              <a:r>
                <a:rPr lang="en-GB" sz="2000" b="1" dirty="0" smtClean="0">
                  <a:solidFill>
                    <a:schemeClr val="bg1"/>
                  </a:solidFill>
                  <a:latin typeface="+mn-lt"/>
                </a:rPr>
                <a:t>dress</a:t>
              </a:r>
              <a:endParaRPr lang="en-GB" sz="20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258" name="Line 10"/>
            <p:cNvSpPr>
              <a:spLocks noChangeShapeType="1"/>
            </p:cNvSpPr>
            <p:nvPr/>
          </p:nvSpPr>
          <p:spPr bwMode="auto">
            <a:xfrm>
              <a:off x="1928" y="3212"/>
              <a:ext cx="1728" cy="0"/>
            </a:xfrm>
            <a:prstGeom prst="line">
              <a:avLst/>
            </a:prstGeom>
            <a:noFill/>
            <a:ln w="1016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60" name="Line 12"/>
            <p:cNvSpPr>
              <a:spLocks noChangeShapeType="1"/>
            </p:cNvSpPr>
            <p:nvPr/>
          </p:nvSpPr>
          <p:spPr bwMode="auto">
            <a:xfrm flipH="1">
              <a:off x="1709" y="1920"/>
              <a:ext cx="720" cy="816"/>
            </a:xfrm>
            <a:prstGeom prst="line">
              <a:avLst/>
            </a:prstGeom>
            <a:noFill/>
            <a:ln w="1016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59" name="Line 11"/>
            <p:cNvSpPr>
              <a:spLocks noChangeShapeType="1"/>
            </p:cNvSpPr>
            <p:nvPr/>
          </p:nvSpPr>
          <p:spPr bwMode="auto">
            <a:xfrm>
              <a:off x="3256" y="1928"/>
              <a:ext cx="624" cy="816"/>
            </a:xfrm>
            <a:prstGeom prst="line">
              <a:avLst/>
            </a:prstGeom>
            <a:noFill/>
            <a:ln w="1016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</p:grpSp>
      <p:grpSp>
        <p:nvGrpSpPr>
          <p:cNvPr id="261133" name="Group 13"/>
          <p:cNvGrpSpPr>
            <a:grpSpLocks/>
          </p:cNvGrpSpPr>
          <p:nvPr/>
        </p:nvGrpSpPr>
        <p:grpSpPr bwMode="auto">
          <a:xfrm>
            <a:off x="177800" y="2813050"/>
            <a:ext cx="3492500" cy="2044700"/>
            <a:chOff x="112" y="1772"/>
            <a:chExt cx="2200" cy="1288"/>
          </a:xfrm>
        </p:grpSpPr>
        <p:sp>
          <p:nvSpPr>
            <p:cNvPr id="8250" name="Oval 14"/>
            <p:cNvSpPr>
              <a:spLocks noChangeArrowheads="1"/>
            </p:cNvSpPr>
            <p:nvPr/>
          </p:nvSpPr>
          <p:spPr bwMode="auto">
            <a:xfrm>
              <a:off x="112" y="2452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Health</a:t>
              </a:r>
              <a:endParaRPr lang="en-GB" sz="1800" b="1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51" name="Line 15"/>
            <p:cNvSpPr>
              <a:spLocks noChangeShapeType="1"/>
            </p:cNvSpPr>
            <p:nvPr/>
          </p:nvSpPr>
          <p:spPr bwMode="auto">
            <a:xfrm flipV="1">
              <a:off x="680" y="1772"/>
              <a:ext cx="1632" cy="86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261136" name="Group 16"/>
          <p:cNvGrpSpPr>
            <a:grpSpLocks/>
          </p:cNvGrpSpPr>
          <p:nvPr/>
        </p:nvGrpSpPr>
        <p:grpSpPr bwMode="auto">
          <a:xfrm>
            <a:off x="1016000" y="1835150"/>
            <a:ext cx="4864100" cy="2882900"/>
            <a:chOff x="640" y="1156"/>
            <a:chExt cx="3064" cy="1816"/>
          </a:xfrm>
        </p:grpSpPr>
        <p:sp>
          <p:nvSpPr>
            <p:cNvPr id="8244" name="Line 17"/>
            <p:cNvSpPr>
              <a:spLocks noChangeShapeType="1"/>
            </p:cNvSpPr>
            <p:nvPr/>
          </p:nvSpPr>
          <p:spPr bwMode="auto">
            <a:xfrm>
              <a:off x="1304" y="1820"/>
              <a:ext cx="2400" cy="115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grpSp>
          <p:nvGrpSpPr>
            <p:cNvPr id="8245" name="Group 18"/>
            <p:cNvGrpSpPr>
              <a:grpSpLocks/>
            </p:cNvGrpSpPr>
            <p:nvPr/>
          </p:nvGrpSpPr>
          <p:grpSpPr bwMode="auto">
            <a:xfrm>
              <a:off x="640" y="1156"/>
              <a:ext cx="1528" cy="752"/>
              <a:chOff x="640" y="1156"/>
              <a:chExt cx="1528" cy="752"/>
            </a:xfrm>
          </p:grpSpPr>
          <p:sp>
            <p:nvSpPr>
              <p:cNvPr id="8246" name="Oval 19"/>
              <p:cNvSpPr>
                <a:spLocks noChangeArrowheads="1"/>
              </p:cNvSpPr>
              <p:nvPr/>
            </p:nvSpPr>
            <p:spPr bwMode="auto">
              <a:xfrm>
                <a:off x="640" y="1156"/>
                <a:ext cx="608" cy="608"/>
              </a:xfrm>
              <a:prstGeom prst="ellipse">
                <a:avLst/>
              </a:prstGeom>
              <a:solidFill>
                <a:srgbClr val="CECECE"/>
              </a:solidFill>
              <a:ln w="254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a-DK">
                  <a:solidFill>
                    <a:srgbClr val="0070C0"/>
                  </a:solidFill>
                  <a:latin typeface="+mn-lt"/>
                </a:endParaRPr>
              </a:p>
            </p:txBody>
          </p:sp>
          <p:sp>
            <p:nvSpPr>
              <p:cNvPr id="8247" name="Line 20"/>
              <p:cNvSpPr>
                <a:spLocks noChangeShapeType="1"/>
              </p:cNvSpPr>
              <p:nvPr/>
            </p:nvSpPr>
            <p:spPr bwMode="auto">
              <a:xfrm flipV="1">
                <a:off x="1352" y="1580"/>
                <a:ext cx="816" cy="144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a-DK">
                  <a:solidFill>
                    <a:srgbClr val="0070C0"/>
                  </a:solidFill>
                  <a:latin typeface="+mn-lt"/>
                </a:endParaRPr>
              </a:p>
            </p:txBody>
          </p:sp>
          <p:sp>
            <p:nvSpPr>
              <p:cNvPr id="8248" name="Oval 21"/>
              <p:cNvSpPr>
                <a:spLocks noChangeArrowheads="1"/>
              </p:cNvSpPr>
              <p:nvPr/>
            </p:nvSpPr>
            <p:spPr bwMode="auto">
              <a:xfrm>
                <a:off x="688" y="1252"/>
                <a:ext cx="608" cy="608"/>
              </a:xfrm>
              <a:prstGeom prst="ellipse">
                <a:avLst/>
              </a:prstGeom>
              <a:solidFill>
                <a:srgbClr val="CECECE"/>
              </a:solidFill>
              <a:ln w="254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a-DK">
                  <a:solidFill>
                    <a:srgbClr val="0070C0"/>
                  </a:solidFill>
                  <a:latin typeface="+mn-lt"/>
                </a:endParaRPr>
              </a:p>
            </p:txBody>
          </p:sp>
          <p:sp>
            <p:nvSpPr>
              <p:cNvPr id="8249" name="Oval 22"/>
              <p:cNvSpPr>
                <a:spLocks noChangeArrowheads="1"/>
              </p:cNvSpPr>
              <p:nvPr/>
            </p:nvSpPr>
            <p:spPr bwMode="auto">
              <a:xfrm>
                <a:off x="784" y="1300"/>
                <a:ext cx="608" cy="608"/>
              </a:xfrm>
              <a:prstGeom prst="ellipse">
                <a:avLst/>
              </a:prstGeom>
              <a:solidFill>
                <a:srgbClr val="CECECE"/>
              </a:solidFill>
              <a:ln w="254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pPr algn="ctr" defTabSz="762000">
                  <a:lnSpc>
                    <a:spcPct val="90000"/>
                  </a:lnSpc>
                </a:pPr>
                <a:r>
                  <a:rPr lang="da-DK" sz="1800" b="1" dirty="0" err="1">
                    <a:solidFill>
                      <a:srgbClr val="0070C0"/>
                    </a:solidFill>
                    <a:latin typeface="+mn-lt"/>
                  </a:rPr>
                  <a:t>Tax</a:t>
                </a:r>
                <a:endParaRPr lang="en-GB" sz="1800" b="1" dirty="0">
                  <a:solidFill>
                    <a:srgbClr val="0070C0"/>
                  </a:solidFill>
                  <a:latin typeface="+mn-lt"/>
                </a:endParaRPr>
              </a:p>
            </p:txBody>
          </p:sp>
        </p:grpSp>
      </p:grpSp>
      <p:grpSp>
        <p:nvGrpSpPr>
          <p:cNvPr id="261143" name="Group 23"/>
          <p:cNvGrpSpPr>
            <a:grpSpLocks/>
          </p:cNvGrpSpPr>
          <p:nvPr/>
        </p:nvGrpSpPr>
        <p:grpSpPr bwMode="auto">
          <a:xfrm>
            <a:off x="5499100" y="1066800"/>
            <a:ext cx="2705100" cy="1441450"/>
            <a:chOff x="3464" y="672"/>
            <a:chExt cx="1704" cy="908"/>
          </a:xfrm>
        </p:grpSpPr>
        <p:sp>
          <p:nvSpPr>
            <p:cNvPr id="8240" name="Line 24"/>
            <p:cNvSpPr>
              <a:spLocks noChangeShapeType="1"/>
            </p:cNvSpPr>
            <p:nvPr/>
          </p:nvSpPr>
          <p:spPr bwMode="auto">
            <a:xfrm flipH="1">
              <a:off x="3464" y="1344"/>
              <a:ext cx="1144" cy="23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41" name="Oval 25"/>
            <p:cNvSpPr>
              <a:spLocks noChangeArrowheads="1"/>
            </p:cNvSpPr>
            <p:nvPr/>
          </p:nvSpPr>
          <p:spPr bwMode="auto">
            <a:xfrm>
              <a:off x="4416" y="672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42" name="Oval 26"/>
            <p:cNvSpPr>
              <a:spLocks noChangeArrowheads="1"/>
            </p:cNvSpPr>
            <p:nvPr/>
          </p:nvSpPr>
          <p:spPr bwMode="auto">
            <a:xfrm>
              <a:off x="4512" y="768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43" name="Oval 27"/>
            <p:cNvSpPr>
              <a:spLocks noChangeArrowheads="1"/>
            </p:cNvSpPr>
            <p:nvPr/>
          </p:nvSpPr>
          <p:spPr bwMode="auto">
            <a:xfrm>
              <a:off x="4560" y="864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Employ-</a:t>
              </a:r>
            </a:p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ment</a:t>
              </a:r>
              <a:endParaRPr lang="en-GB" sz="1800" b="1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261148" name="Group 28"/>
          <p:cNvGrpSpPr>
            <a:grpSpLocks/>
          </p:cNvGrpSpPr>
          <p:nvPr/>
        </p:nvGrpSpPr>
        <p:grpSpPr bwMode="auto">
          <a:xfrm>
            <a:off x="5486400" y="1066800"/>
            <a:ext cx="1270000" cy="1270000"/>
            <a:chOff x="3456" y="672"/>
            <a:chExt cx="800" cy="800"/>
          </a:xfrm>
        </p:grpSpPr>
        <p:sp>
          <p:nvSpPr>
            <p:cNvPr id="8236" name="Line 29"/>
            <p:cNvSpPr>
              <a:spLocks noChangeShapeType="1"/>
            </p:cNvSpPr>
            <p:nvPr/>
          </p:nvSpPr>
          <p:spPr bwMode="auto">
            <a:xfrm flipH="1">
              <a:off x="3456" y="1200"/>
              <a:ext cx="192" cy="4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7" name="Oval 30"/>
            <p:cNvSpPr>
              <a:spLocks noChangeArrowheads="1"/>
            </p:cNvSpPr>
            <p:nvPr/>
          </p:nvSpPr>
          <p:spPr bwMode="auto">
            <a:xfrm>
              <a:off x="3504" y="672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8" name="Oval 31"/>
            <p:cNvSpPr>
              <a:spLocks noChangeArrowheads="1"/>
            </p:cNvSpPr>
            <p:nvPr/>
          </p:nvSpPr>
          <p:spPr bwMode="auto">
            <a:xfrm>
              <a:off x="3600" y="768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9" name="Oval 32"/>
            <p:cNvSpPr>
              <a:spLocks noChangeArrowheads="1"/>
            </p:cNvSpPr>
            <p:nvPr/>
          </p:nvSpPr>
          <p:spPr bwMode="auto">
            <a:xfrm>
              <a:off x="3648" y="864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Educa-</a:t>
              </a:r>
            </a:p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tion</a:t>
              </a:r>
              <a:endParaRPr lang="en-GB" sz="1800" b="1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261153" name="Group 33"/>
          <p:cNvGrpSpPr>
            <a:grpSpLocks/>
          </p:cNvGrpSpPr>
          <p:nvPr/>
        </p:nvGrpSpPr>
        <p:grpSpPr bwMode="auto">
          <a:xfrm>
            <a:off x="482600" y="2660650"/>
            <a:ext cx="3035300" cy="1282700"/>
            <a:chOff x="304" y="1676"/>
            <a:chExt cx="1912" cy="808"/>
          </a:xfrm>
        </p:grpSpPr>
        <p:sp>
          <p:nvSpPr>
            <p:cNvPr id="8233" name="Line 34"/>
            <p:cNvSpPr>
              <a:spLocks noChangeShapeType="1"/>
            </p:cNvSpPr>
            <p:nvPr/>
          </p:nvSpPr>
          <p:spPr bwMode="auto">
            <a:xfrm flipV="1">
              <a:off x="968" y="1676"/>
              <a:ext cx="1248" cy="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4" name="Oval 35"/>
            <p:cNvSpPr>
              <a:spLocks noChangeArrowheads="1"/>
            </p:cNvSpPr>
            <p:nvPr/>
          </p:nvSpPr>
          <p:spPr bwMode="auto">
            <a:xfrm>
              <a:off x="304" y="1780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5" name="Oval 36"/>
            <p:cNvSpPr>
              <a:spLocks noChangeArrowheads="1"/>
            </p:cNvSpPr>
            <p:nvPr/>
          </p:nvSpPr>
          <p:spPr bwMode="auto">
            <a:xfrm>
              <a:off x="352" y="1876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en-GB" sz="1800" b="1" dirty="0">
                  <a:solidFill>
                    <a:srgbClr val="0070C0"/>
                  </a:solidFill>
                  <a:latin typeface="+mn-lt"/>
                </a:rPr>
                <a:t>Social</a:t>
              </a:r>
            </a:p>
          </p:txBody>
        </p:sp>
      </p:grpSp>
      <p:grpSp>
        <p:nvGrpSpPr>
          <p:cNvPr id="261157" name="Group 37"/>
          <p:cNvGrpSpPr>
            <a:grpSpLocks/>
          </p:cNvGrpSpPr>
          <p:nvPr/>
        </p:nvGrpSpPr>
        <p:grpSpPr bwMode="auto">
          <a:xfrm>
            <a:off x="7861300" y="4121150"/>
            <a:ext cx="1282700" cy="1041400"/>
            <a:chOff x="4952" y="2596"/>
            <a:chExt cx="808" cy="656"/>
          </a:xfrm>
        </p:grpSpPr>
        <p:sp>
          <p:nvSpPr>
            <p:cNvPr id="8230" name="Line 38"/>
            <p:cNvSpPr>
              <a:spLocks noChangeShapeType="1"/>
            </p:cNvSpPr>
            <p:nvPr/>
          </p:nvSpPr>
          <p:spPr bwMode="auto">
            <a:xfrm flipH="1">
              <a:off x="4952" y="3068"/>
              <a:ext cx="192" cy="4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1" name="Oval 39"/>
            <p:cNvSpPr>
              <a:spLocks noChangeArrowheads="1"/>
            </p:cNvSpPr>
            <p:nvPr/>
          </p:nvSpPr>
          <p:spPr bwMode="auto">
            <a:xfrm>
              <a:off x="5056" y="2596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32" name="Oval 40"/>
            <p:cNvSpPr>
              <a:spLocks noChangeArrowheads="1"/>
            </p:cNvSpPr>
            <p:nvPr/>
          </p:nvSpPr>
          <p:spPr bwMode="auto">
            <a:xfrm>
              <a:off x="5152" y="2644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en-GB" sz="1800" b="1">
                  <a:solidFill>
                    <a:srgbClr val="0070C0"/>
                  </a:solidFill>
                  <a:latin typeface="+mn-lt"/>
                </a:rPr>
                <a:t>etc</a:t>
              </a:r>
            </a:p>
          </p:txBody>
        </p:sp>
      </p:grpSp>
      <p:grpSp>
        <p:nvGrpSpPr>
          <p:cNvPr id="261161" name="Group 41"/>
          <p:cNvGrpSpPr>
            <a:grpSpLocks/>
          </p:cNvGrpSpPr>
          <p:nvPr/>
        </p:nvGrpSpPr>
        <p:grpSpPr bwMode="auto">
          <a:xfrm>
            <a:off x="1930400" y="1073150"/>
            <a:ext cx="4013200" cy="5461000"/>
            <a:chOff x="1216" y="676"/>
            <a:chExt cx="2528" cy="3440"/>
          </a:xfrm>
        </p:grpSpPr>
        <p:sp>
          <p:nvSpPr>
            <p:cNvPr id="8216" name="Line 42"/>
            <p:cNvSpPr>
              <a:spLocks noChangeShapeType="1"/>
            </p:cNvSpPr>
            <p:nvPr/>
          </p:nvSpPr>
          <p:spPr bwMode="auto">
            <a:xfrm flipH="1" flipV="1">
              <a:off x="1784" y="3500"/>
              <a:ext cx="184" cy="1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  <p:grpSp>
          <p:nvGrpSpPr>
            <p:cNvPr id="8217" name="Group 43"/>
            <p:cNvGrpSpPr>
              <a:grpSpLocks/>
            </p:cNvGrpSpPr>
            <p:nvPr/>
          </p:nvGrpSpPr>
          <p:grpSpPr bwMode="auto">
            <a:xfrm>
              <a:off x="1216" y="676"/>
              <a:ext cx="2528" cy="3440"/>
              <a:chOff x="1216" y="676"/>
              <a:chExt cx="2528" cy="3440"/>
            </a:xfrm>
          </p:grpSpPr>
          <p:sp>
            <p:nvSpPr>
              <p:cNvPr id="8218" name="Line 44"/>
              <p:cNvSpPr>
                <a:spLocks noChangeShapeType="1"/>
              </p:cNvSpPr>
              <p:nvPr/>
            </p:nvSpPr>
            <p:spPr bwMode="auto">
              <a:xfrm flipV="1">
                <a:off x="3512" y="3552"/>
                <a:ext cx="232" cy="14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da-DK">
                  <a:latin typeface="+mn-lt"/>
                </a:endParaRPr>
              </a:p>
            </p:txBody>
          </p:sp>
          <p:grpSp>
            <p:nvGrpSpPr>
              <p:cNvPr id="8219" name="Group 45"/>
              <p:cNvGrpSpPr>
                <a:grpSpLocks/>
              </p:cNvGrpSpPr>
              <p:nvPr/>
            </p:nvGrpSpPr>
            <p:grpSpPr bwMode="auto">
              <a:xfrm>
                <a:off x="1216" y="676"/>
                <a:ext cx="2336" cy="3440"/>
                <a:chOff x="1216" y="676"/>
                <a:chExt cx="2336" cy="3440"/>
              </a:xfrm>
            </p:grpSpPr>
            <p:sp>
              <p:nvSpPr>
                <p:cNvPr id="8220" name="Line 46"/>
                <p:cNvSpPr>
                  <a:spLocks noChangeShapeType="1"/>
                </p:cNvSpPr>
                <p:nvPr/>
              </p:nvSpPr>
              <p:spPr bwMode="auto">
                <a:xfrm>
                  <a:off x="2016" y="1248"/>
                  <a:ext cx="200" cy="44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1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256" y="2060"/>
                  <a:ext cx="344" cy="1348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2" name="Line 48"/>
                <p:cNvSpPr>
                  <a:spLocks noChangeShapeType="1"/>
                </p:cNvSpPr>
                <p:nvPr/>
              </p:nvSpPr>
              <p:spPr bwMode="auto">
                <a:xfrm flipH="1" flipV="1">
                  <a:off x="2936" y="2108"/>
                  <a:ext cx="192" cy="129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3" name="Oval 49"/>
                <p:cNvSpPr>
                  <a:spLocks noChangeArrowheads="1"/>
                </p:cNvSpPr>
                <p:nvPr/>
              </p:nvSpPr>
              <p:spPr bwMode="auto">
                <a:xfrm>
                  <a:off x="1936" y="3408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4" name="Oval 50"/>
                <p:cNvSpPr>
                  <a:spLocks noChangeArrowheads="1"/>
                </p:cNvSpPr>
                <p:nvPr/>
              </p:nvSpPr>
              <p:spPr bwMode="auto">
                <a:xfrm>
                  <a:off x="2800" y="3412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5" name="Oval 51"/>
                <p:cNvSpPr>
                  <a:spLocks noChangeArrowheads="1"/>
                </p:cNvSpPr>
                <p:nvPr/>
              </p:nvSpPr>
              <p:spPr bwMode="auto">
                <a:xfrm>
                  <a:off x="1216" y="676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6" name="Oval 52"/>
                <p:cNvSpPr>
                  <a:spLocks noChangeArrowheads="1"/>
                </p:cNvSpPr>
                <p:nvPr/>
              </p:nvSpPr>
              <p:spPr bwMode="auto">
                <a:xfrm>
                  <a:off x="1312" y="772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da-DK">
                    <a:latin typeface="+mn-lt"/>
                  </a:endParaRPr>
                </a:p>
              </p:txBody>
            </p:sp>
            <p:sp>
              <p:nvSpPr>
                <p:cNvPr id="8227" name="Oval 53"/>
                <p:cNvSpPr>
                  <a:spLocks noChangeArrowheads="1"/>
                </p:cNvSpPr>
                <p:nvPr/>
              </p:nvSpPr>
              <p:spPr bwMode="auto">
                <a:xfrm>
                  <a:off x="1408" y="868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pPr algn="ctr" defTabSz="762000">
                    <a:lnSpc>
                      <a:spcPct val="90000"/>
                    </a:lnSpc>
                  </a:pPr>
                  <a:r>
                    <a:rPr lang="en-GB" sz="1800" b="1">
                      <a:solidFill>
                        <a:srgbClr val="FF0000"/>
                      </a:solidFill>
                      <a:latin typeface="+mn-lt"/>
                    </a:rPr>
                    <a:t>CPR</a:t>
                  </a:r>
                </a:p>
              </p:txBody>
            </p:sp>
            <p:sp>
              <p:nvSpPr>
                <p:cNvPr id="8228" name="Oval 54"/>
                <p:cNvSpPr>
                  <a:spLocks noChangeArrowheads="1"/>
                </p:cNvSpPr>
                <p:nvPr/>
              </p:nvSpPr>
              <p:spPr bwMode="auto">
                <a:xfrm>
                  <a:off x="1920" y="3504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pPr algn="ctr" defTabSz="762000">
                    <a:lnSpc>
                      <a:spcPct val="90000"/>
                    </a:lnSpc>
                  </a:pPr>
                  <a:r>
                    <a:rPr lang="en-GB" sz="1800" b="1">
                      <a:solidFill>
                        <a:srgbClr val="FF0000"/>
                      </a:solidFill>
                      <a:latin typeface="+mn-lt"/>
                    </a:rPr>
                    <a:t>B</a:t>
                  </a:r>
                  <a:r>
                    <a:rPr lang="da-DK" sz="1800" b="1">
                      <a:solidFill>
                        <a:srgbClr val="FF0000"/>
                      </a:solidFill>
                      <a:latin typeface="+mn-lt"/>
                    </a:rPr>
                    <a:t>D</a:t>
                  </a:r>
                  <a:r>
                    <a:rPr lang="en-GB" sz="1800" b="1">
                      <a:solidFill>
                        <a:srgbClr val="FF0000"/>
                      </a:solidFill>
                      <a:latin typeface="+mn-lt"/>
                    </a:rPr>
                    <a:t>R</a:t>
                  </a:r>
                </a:p>
              </p:txBody>
            </p:sp>
            <p:sp>
              <p:nvSpPr>
                <p:cNvPr id="8229" name="Oval 55"/>
                <p:cNvSpPr>
                  <a:spLocks noChangeArrowheads="1"/>
                </p:cNvSpPr>
                <p:nvPr/>
              </p:nvSpPr>
              <p:spPr bwMode="auto">
                <a:xfrm>
                  <a:off x="2944" y="3508"/>
                  <a:ext cx="608" cy="608"/>
                </a:xfrm>
                <a:prstGeom prst="ellipse">
                  <a:avLst/>
                </a:prstGeom>
                <a:solidFill>
                  <a:srgbClr val="CECECE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pPr algn="ctr" defTabSz="762000">
                    <a:lnSpc>
                      <a:spcPct val="90000"/>
                    </a:lnSpc>
                  </a:pPr>
                  <a:r>
                    <a:rPr lang="en-GB" sz="1800" b="1">
                      <a:solidFill>
                        <a:srgbClr val="FF0000"/>
                      </a:solidFill>
                      <a:latin typeface="+mn-lt"/>
                    </a:rPr>
                    <a:t>C</a:t>
                  </a:r>
                  <a:r>
                    <a:rPr lang="da-DK" sz="1800" b="1">
                      <a:solidFill>
                        <a:srgbClr val="FF0000"/>
                      </a:solidFill>
                      <a:latin typeface="+mn-lt"/>
                    </a:rPr>
                    <a:t>B</a:t>
                  </a:r>
                  <a:r>
                    <a:rPr lang="en-GB" sz="1800" b="1">
                      <a:solidFill>
                        <a:srgbClr val="FF0000"/>
                      </a:solidFill>
                      <a:latin typeface="+mn-lt"/>
                    </a:rPr>
                    <a:t>R</a:t>
                  </a:r>
                </a:p>
              </p:txBody>
            </p:sp>
          </p:grpSp>
        </p:grpSp>
      </p:grpSp>
      <p:grpSp>
        <p:nvGrpSpPr>
          <p:cNvPr id="261176" name="Group 56"/>
          <p:cNvGrpSpPr>
            <a:grpSpLocks/>
          </p:cNvGrpSpPr>
          <p:nvPr/>
        </p:nvGrpSpPr>
        <p:grpSpPr bwMode="auto">
          <a:xfrm>
            <a:off x="2984500" y="2736850"/>
            <a:ext cx="4940300" cy="2057400"/>
            <a:chOff x="1880" y="1724"/>
            <a:chExt cx="3112" cy="1296"/>
          </a:xfrm>
        </p:grpSpPr>
        <p:sp>
          <p:nvSpPr>
            <p:cNvPr id="8212" name="Line 57"/>
            <p:cNvSpPr>
              <a:spLocks noChangeShapeType="1"/>
            </p:cNvSpPr>
            <p:nvPr/>
          </p:nvSpPr>
          <p:spPr bwMode="auto">
            <a:xfrm flipH="1">
              <a:off x="1880" y="2208"/>
              <a:ext cx="2344" cy="81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13" name="Line 58"/>
            <p:cNvSpPr>
              <a:spLocks noChangeShapeType="1"/>
            </p:cNvSpPr>
            <p:nvPr/>
          </p:nvSpPr>
          <p:spPr bwMode="auto">
            <a:xfrm flipH="1" flipV="1">
              <a:off x="3416" y="1724"/>
              <a:ext cx="808" cy="24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  <p:sp>
          <p:nvSpPr>
            <p:cNvPr id="8214" name="AutoShape 59"/>
            <p:cNvSpPr>
              <a:spLocks noChangeArrowheads="1"/>
            </p:cNvSpPr>
            <p:nvPr/>
          </p:nvSpPr>
          <p:spPr bwMode="auto">
            <a:xfrm>
              <a:off x="4128" y="1776"/>
              <a:ext cx="864" cy="648"/>
            </a:xfrm>
            <a:prstGeom prst="vertic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da-DK">
                  <a:latin typeface="+mn-lt"/>
                </a:rPr>
                <a:t>Question-</a:t>
              </a:r>
            </a:p>
            <a:p>
              <a:pPr algn="ctr"/>
              <a:r>
                <a:rPr lang="da-DK">
                  <a:latin typeface="+mn-lt"/>
                </a:rPr>
                <a:t>naire</a:t>
              </a:r>
              <a:endParaRPr lang="en-GB">
                <a:latin typeface="+mn-lt"/>
              </a:endParaRPr>
            </a:p>
          </p:txBody>
        </p:sp>
        <p:sp>
          <p:nvSpPr>
            <p:cNvPr id="8215" name="Line 60"/>
            <p:cNvSpPr>
              <a:spLocks noChangeShapeType="1"/>
            </p:cNvSpPr>
            <p:nvPr/>
          </p:nvSpPr>
          <p:spPr bwMode="auto">
            <a:xfrm flipH="1">
              <a:off x="4512" y="2400"/>
              <a:ext cx="48" cy="2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</p:grpSp>
      <p:grpSp>
        <p:nvGrpSpPr>
          <p:cNvPr id="261181" name="Group 61"/>
          <p:cNvGrpSpPr>
            <a:grpSpLocks/>
          </p:cNvGrpSpPr>
          <p:nvPr/>
        </p:nvGrpSpPr>
        <p:grpSpPr bwMode="auto">
          <a:xfrm>
            <a:off x="5486400" y="2057400"/>
            <a:ext cx="3657600" cy="1028700"/>
            <a:chOff x="3456" y="1296"/>
            <a:chExt cx="2304" cy="648"/>
          </a:xfrm>
        </p:grpSpPr>
        <p:sp>
          <p:nvSpPr>
            <p:cNvPr id="8210" name="AutoShape 62"/>
            <p:cNvSpPr>
              <a:spLocks noChangeArrowheads="1"/>
            </p:cNvSpPr>
            <p:nvPr/>
          </p:nvSpPr>
          <p:spPr bwMode="auto">
            <a:xfrm>
              <a:off x="5040" y="1296"/>
              <a:ext cx="720" cy="648"/>
            </a:xfrm>
            <a:prstGeom prst="vertic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da-DK">
                  <a:latin typeface="+mn-lt"/>
                </a:rPr>
                <a:t>Inter-</a:t>
              </a:r>
            </a:p>
            <a:p>
              <a:pPr algn="ctr"/>
              <a:r>
                <a:rPr lang="da-DK">
                  <a:latin typeface="+mn-lt"/>
                </a:rPr>
                <a:t>view</a:t>
              </a:r>
              <a:endParaRPr lang="en-GB">
                <a:latin typeface="+mn-lt"/>
              </a:endParaRPr>
            </a:p>
          </p:txBody>
        </p:sp>
        <p:sp>
          <p:nvSpPr>
            <p:cNvPr id="8211" name="Line 63"/>
            <p:cNvSpPr>
              <a:spLocks noChangeShapeType="1"/>
            </p:cNvSpPr>
            <p:nvPr/>
          </p:nvSpPr>
          <p:spPr bwMode="auto">
            <a:xfrm flipH="1" flipV="1">
              <a:off x="3456" y="1632"/>
              <a:ext cx="16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latin typeface="+mn-lt"/>
              </a:endParaRPr>
            </a:p>
          </p:txBody>
        </p:sp>
      </p:grpSp>
      <p:grpSp>
        <p:nvGrpSpPr>
          <p:cNvPr id="261184" name="Group 64"/>
          <p:cNvGrpSpPr>
            <a:grpSpLocks/>
          </p:cNvGrpSpPr>
          <p:nvPr/>
        </p:nvGrpSpPr>
        <p:grpSpPr bwMode="auto">
          <a:xfrm>
            <a:off x="152400" y="5486400"/>
            <a:ext cx="1066800" cy="965200"/>
            <a:chOff x="96" y="3456"/>
            <a:chExt cx="672" cy="608"/>
          </a:xfrm>
        </p:grpSpPr>
        <p:sp>
          <p:nvSpPr>
            <p:cNvPr id="8208" name="Oval 65"/>
            <p:cNvSpPr>
              <a:spLocks noChangeArrowheads="1"/>
            </p:cNvSpPr>
            <p:nvPr/>
          </p:nvSpPr>
          <p:spPr bwMode="auto">
            <a:xfrm>
              <a:off x="96" y="3456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da-DK" sz="1800" b="1">
                  <a:solidFill>
                    <a:srgbClr val="0070C0"/>
                  </a:solidFill>
                  <a:latin typeface="+mn-lt"/>
                </a:rPr>
                <a:t>Cadastre</a:t>
              </a:r>
              <a:endParaRPr lang="en-GB" sz="1800" b="1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8209" name="Line 66"/>
            <p:cNvSpPr>
              <a:spLocks noChangeShapeType="1"/>
            </p:cNvSpPr>
            <p:nvPr/>
          </p:nvSpPr>
          <p:spPr bwMode="auto">
            <a:xfrm flipV="1">
              <a:off x="672" y="3504"/>
              <a:ext cx="96" cy="9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71" name="Group 64"/>
          <p:cNvGrpSpPr>
            <a:grpSpLocks/>
          </p:cNvGrpSpPr>
          <p:nvPr/>
        </p:nvGrpSpPr>
        <p:grpSpPr bwMode="auto">
          <a:xfrm>
            <a:off x="7830034" y="5498697"/>
            <a:ext cx="1282700" cy="1089025"/>
            <a:chOff x="-104" y="3378"/>
            <a:chExt cx="808" cy="686"/>
          </a:xfrm>
        </p:grpSpPr>
        <p:sp>
          <p:nvSpPr>
            <p:cNvPr id="72" name="Oval 65"/>
            <p:cNvSpPr>
              <a:spLocks noChangeArrowheads="1"/>
            </p:cNvSpPr>
            <p:nvPr/>
          </p:nvSpPr>
          <p:spPr bwMode="auto">
            <a:xfrm>
              <a:off x="96" y="3456"/>
              <a:ext cx="608" cy="608"/>
            </a:xfrm>
            <a:prstGeom prst="ellipse">
              <a:avLst/>
            </a:prstGeom>
            <a:solidFill>
              <a:srgbClr val="CECECE"/>
            </a:solidFill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defTabSz="762000">
                <a:lnSpc>
                  <a:spcPct val="90000"/>
                </a:lnSpc>
              </a:pPr>
              <a:r>
                <a:rPr lang="da-DK" sz="1800" b="1" dirty="0" smtClean="0">
                  <a:solidFill>
                    <a:srgbClr val="0070C0"/>
                  </a:solidFill>
                  <a:latin typeface="+mn-lt"/>
                </a:rPr>
                <a:t>VAT</a:t>
              </a:r>
              <a:endParaRPr lang="en-GB" sz="1800" b="1" dirty="0">
                <a:solidFill>
                  <a:srgbClr val="0070C0"/>
                </a:solidFill>
                <a:latin typeface="+mn-lt"/>
              </a:endParaRPr>
            </a:p>
          </p:txBody>
        </p:sp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-104" y="3378"/>
              <a:ext cx="264" cy="21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da-DK">
                <a:solidFill>
                  <a:srgbClr val="0070C0"/>
                </a:solidFill>
                <a:latin typeface="+mn-lt"/>
              </a:endParaRPr>
            </a:p>
          </p:txBody>
        </p:sp>
      </p:grpSp>
      <p:sp>
        <p:nvSpPr>
          <p:cNvPr id="74" name="Pladsholder til diasnummer 5"/>
          <p:cNvSpPr>
            <a:spLocks noGrp="1"/>
          </p:cNvSpPr>
          <p:nvPr>
            <p:ph type="sldNum" sz="quarter" idx="4294967295"/>
          </p:nvPr>
        </p:nvSpPr>
        <p:spPr>
          <a:xfrm>
            <a:off x="6959600" y="65055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FF0000"/>
                </a:solidFill>
              </a:defRPr>
            </a:lvl1pPr>
          </a:lstStyle>
          <a:p>
            <a:fld id="{6DDC7F05-F24B-7643-8BC7-5DD528BB8126}" type="slidenum">
              <a:rPr lang="da-DK" sz="800" smtClean="0">
                <a:solidFill>
                  <a:schemeClr val="bg1"/>
                </a:solidFill>
              </a:rPr>
              <a:pPr/>
              <a:t>6</a:t>
            </a:fld>
            <a:endParaRPr lang="da-DK" sz="800" dirty="0">
              <a:solidFill>
                <a:schemeClr val="bg1"/>
              </a:solidFill>
            </a:endParaRPr>
          </a:p>
        </p:txBody>
      </p:sp>
      <p:pic>
        <p:nvPicPr>
          <p:cNvPr id="75" name="Picture 6" descr="https://encrypted-tbn0.gstatic.com/images?q=tbn:ANd9GcQSU7vouQ-AL6QrLwxYo_qcLHnlVwejzWb0I66Wi6lnRKo_zUU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343" y="3393280"/>
            <a:ext cx="1471613" cy="147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kstfelt 75"/>
          <p:cNvSpPr txBox="1"/>
          <p:nvPr/>
        </p:nvSpPr>
        <p:spPr>
          <a:xfrm>
            <a:off x="4040109" y="3744365"/>
            <a:ext cx="1036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400" b="1" dirty="0" err="1" smtClean="0">
                <a:solidFill>
                  <a:schemeClr val="bg1"/>
                </a:solidFill>
              </a:rPr>
              <a:t>x,y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Tekstfelt 1"/>
          <p:cNvSpPr txBox="1"/>
          <p:nvPr/>
        </p:nvSpPr>
        <p:spPr>
          <a:xfrm>
            <a:off x="4255690" y="2469067"/>
            <a:ext cx="651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 err="1"/>
              <a:t>x</a:t>
            </a:r>
            <a:r>
              <a:rPr lang="da-DK" sz="3200" dirty="0" err="1" smtClean="0"/>
              <a:t>,y</a:t>
            </a:r>
            <a:endParaRPr lang="en-US" sz="3200" dirty="0"/>
          </a:p>
        </p:txBody>
      </p:sp>
      <p:sp>
        <p:nvSpPr>
          <p:cNvPr id="77" name="Tekstfelt 76"/>
          <p:cNvSpPr txBox="1"/>
          <p:nvPr/>
        </p:nvSpPr>
        <p:spPr>
          <a:xfrm>
            <a:off x="1761860" y="5245100"/>
            <a:ext cx="651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 err="1"/>
              <a:t>x</a:t>
            </a:r>
            <a:r>
              <a:rPr lang="da-DK" sz="3200" dirty="0" err="1" smtClean="0"/>
              <a:t>,y</a:t>
            </a:r>
            <a:endParaRPr lang="en-US" sz="3200" dirty="0"/>
          </a:p>
        </p:txBody>
      </p:sp>
      <p:sp>
        <p:nvSpPr>
          <p:cNvPr id="78" name="Tekstfelt 77"/>
          <p:cNvSpPr txBox="1"/>
          <p:nvPr/>
        </p:nvSpPr>
        <p:spPr>
          <a:xfrm>
            <a:off x="6553200" y="5327931"/>
            <a:ext cx="651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 err="1"/>
              <a:t>x</a:t>
            </a:r>
            <a:r>
              <a:rPr lang="da-DK" sz="3200" dirty="0" err="1" smtClean="0"/>
              <a:t>,y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517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Pladsholder til diasnummer 4"/>
          <p:cNvSpPr>
            <a:spLocks noGrp="1"/>
          </p:cNvSpPr>
          <p:nvPr>
            <p:ph type="sldNum" sz="quarter" idx="4294967295"/>
          </p:nvPr>
        </p:nvSpPr>
        <p:spPr>
          <a:xfrm>
            <a:off x="6948264" y="6478588"/>
            <a:ext cx="2133600" cy="365125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D5CD886-EC60-4747-9ED9-5251D9FD8033}" type="slidenum">
              <a:rPr lang="en-US" altLang="en-US" sz="800" smtClean="0">
                <a:solidFill>
                  <a:schemeClr val="bg1"/>
                </a:solidFill>
              </a:rPr>
              <a:pPr/>
              <a:t>7</a:t>
            </a:fld>
            <a:endParaRPr lang="en-US" altLang="en-US" sz="800" dirty="0" smtClean="0">
              <a:solidFill>
                <a:schemeClr val="bg1"/>
              </a:solidFill>
            </a:endParaRPr>
          </a:p>
        </p:txBody>
      </p:sp>
      <p:pic>
        <p:nvPicPr>
          <p:cNvPr id="9220" name="Picture 2" descr="skatkis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2514600"/>
            <a:ext cx="4572000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4400" y="1295400"/>
            <a:ext cx="4191000" cy="4114800"/>
          </a:xfrm>
          <a:noFill/>
        </p:spPr>
        <p:txBody>
          <a:bodyPr>
            <a:normAutofit/>
          </a:bodyPr>
          <a:lstStyle/>
          <a:p>
            <a:r>
              <a:rPr lang="en-GB" dirty="0" smtClean="0"/>
              <a:t>Immensely rich data</a:t>
            </a:r>
          </a:p>
          <a:p>
            <a:r>
              <a:rPr lang="en-GB" dirty="0" smtClean="0"/>
              <a:t>High data quality</a:t>
            </a:r>
          </a:p>
          <a:p>
            <a:r>
              <a:rPr lang="en-GB" dirty="0" smtClean="0"/>
              <a:t>Combining &amp; linking</a:t>
            </a:r>
          </a:p>
          <a:p>
            <a:r>
              <a:rPr lang="en-GB" dirty="0" smtClean="0"/>
              <a:t>Longitudinal studies</a:t>
            </a:r>
          </a:p>
          <a:p>
            <a:endParaRPr lang="da-DK" dirty="0"/>
          </a:p>
          <a:p>
            <a:r>
              <a:rPr lang="da-DK" dirty="0" smtClean="0"/>
              <a:t>But </a:t>
            </a:r>
            <a:r>
              <a:rPr lang="da-DK" dirty="0" err="1" smtClean="0"/>
              <a:t>how</a:t>
            </a:r>
            <a:r>
              <a:rPr lang="da-DK" dirty="0" smtClean="0"/>
              <a:t> </a:t>
            </a:r>
            <a:r>
              <a:rPr lang="da-DK" dirty="0" err="1" smtClean="0"/>
              <a:t>can</a:t>
            </a:r>
            <a:r>
              <a:rPr lang="da-DK" dirty="0" smtClean="0"/>
              <a:t> </a:t>
            </a:r>
            <a:r>
              <a:rPr lang="da-DK" dirty="0" err="1" smtClean="0"/>
              <a:t>users</a:t>
            </a:r>
            <a:r>
              <a:rPr lang="da-DK" dirty="0" smtClean="0"/>
              <a:t> </a:t>
            </a:r>
            <a:r>
              <a:rPr lang="da-DK" dirty="0" err="1" smtClean="0"/>
              <a:t>benefit</a:t>
            </a:r>
            <a:r>
              <a:rPr lang="da-DK" dirty="0" smtClean="0"/>
              <a:t>?</a:t>
            </a: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title"/>
          </p:nvPr>
        </p:nvSpPr>
        <p:spPr>
          <a:xfrm>
            <a:off x="4724400" y="304800"/>
            <a:ext cx="4114800" cy="762000"/>
          </a:xfrm>
          <a:noFill/>
        </p:spPr>
        <p:txBody>
          <a:bodyPr anchor="ctr"/>
          <a:lstStyle/>
          <a:p>
            <a:r>
              <a:rPr lang="en-GB" dirty="0" smtClean="0">
                <a:solidFill>
                  <a:schemeClr val="tx1"/>
                </a:solidFill>
              </a:rPr>
              <a:t>A treasure!</a:t>
            </a:r>
          </a:p>
        </p:txBody>
      </p:sp>
      <p:pic>
        <p:nvPicPr>
          <p:cNvPr id="9223" name="Picture 5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89" y="-89150"/>
            <a:ext cx="35814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4" name="Picture 6" descr="skatkis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91"/>
          <a:stretch>
            <a:fillRect/>
          </a:stretch>
        </p:blipFill>
        <p:spPr bwMode="auto">
          <a:xfrm>
            <a:off x="239713" y="4202113"/>
            <a:ext cx="4572000" cy="228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583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91329E-6 L 3.61111E-6 0.522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1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3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8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395536" y="1497407"/>
            <a:ext cx="82960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upport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to find the statistics most suitable for their 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 to understand contents and quality, and thus fitness for their 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etadata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very well structured and integrated with the 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maneuver from one part to </a:t>
            </a:r>
            <a:r>
              <a:rPr lang="en-US" sz="28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others </a:t>
            </a:r>
            <a:endParaRPr lang="da-DK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/>
          <a:lstStyle/>
          <a:p>
            <a:r>
              <a:rPr lang="da-DK" dirty="0" smtClean="0"/>
              <a:t>How metadata </a:t>
            </a:r>
            <a:r>
              <a:rPr lang="da-DK" dirty="0" err="1" smtClean="0"/>
              <a:t>can</a:t>
            </a:r>
            <a:r>
              <a:rPr lang="da-DK" dirty="0" smtClean="0"/>
              <a:t> </a:t>
            </a:r>
            <a:r>
              <a:rPr lang="da-DK" dirty="0" err="1" smtClean="0"/>
              <a:t>help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4105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smtClean="0"/>
              <a:t>How </a:t>
            </a:r>
            <a:r>
              <a:rPr lang="da-DK" dirty="0" err="1" smtClean="0"/>
              <a:t>can</a:t>
            </a:r>
            <a:r>
              <a:rPr lang="da-DK" dirty="0" smtClean="0"/>
              <a:t> </a:t>
            </a:r>
            <a:r>
              <a:rPr lang="da-DK" dirty="0" err="1" smtClean="0"/>
              <a:t>we</a:t>
            </a:r>
            <a:r>
              <a:rPr lang="da-DK" dirty="0" smtClean="0"/>
              <a:t> </a:t>
            </a:r>
            <a:r>
              <a:rPr lang="da-DK" dirty="0" err="1" smtClean="0"/>
              <a:t>serve</a:t>
            </a:r>
            <a:r>
              <a:rPr lang="da-DK" dirty="0" smtClean="0"/>
              <a:t> </a:t>
            </a:r>
            <a:r>
              <a:rPr lang="da-DK" dirty="0" err="1" smtClean="0"/>
              <a:t>users</a:t>
            </a:r>
            <a:r>
              <a:rPr lang="da-DK" dirty="0" smtClean="0"/>
              <a:t>? </a:t>
            </a:r>
            <a:br>
              <a:rPr lang="da-DK" dirty="0" smtClean="0"/>
            </a:br>
            <a:r>
              <a:rPr lang="da-DK" sz="2400" dirty="0" err="1" smtClean="0"/>
              <a:t>They</a:t>
            </a:r>
            <a:r>
              <a:rPr lang="da-DK" sz="2400" dirty="0" smtClean="0"/>
              <a:t> </a:t>
            </a:r>
            <a:r>
              <a:rPr lang="da-DK" sz="2400" dirty="0" err="1" smtClean="0"/>
              <a:t>should</a:t>
            </a:r>
            <a:r>
              <a:rPr lang="da-DK" sz="2400" dirty="0" smtClean="0"/>
              <a:t> </a:t>
            </a:r>
            <a:r>
              <a:rPr lang="da-DK" sz="2400" dirty="0" err="1" smtClean="0"/>
              <a:t>be</a:t>
            </a:r>
            <a:r>
              <a:rPr lang="da-DK" sz="2400" dirty="0" smtClean="0"/>
              <a:t> </a:t>
            </a:r>
            <a:r>
              <a:rPr lang="da-DK" sz="2400" dirty="0" err="1" smtClean="0"/>
              <a:t>helped</a:t>
            </a:r>
            <a:r>
              <a:rPr lang="da-DK" sz="2400" dirty="0" smtClean="0"/>
              <a:t> to…</a:t>
            </a:r>
            <a:endParaRPr lang="da-DK" sz="2400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564776"/>
          </a:xfrm>
        </p:spPr>
        <p:txBody>
          <a:bodyPr>
            <a:normAutofit/>
          </a:bodyPr>
          <a:lstStyle/>
          <a:p>
            <a:r>
              <a:rPr lang="da-DK" dirty="0" smtClean="0"/>
              <a:t>find </a:t>
            </a:r>
            <a:r>
              <a:rPr lang="da-DK" dirty="0" err="1" smtClean="0"/>
              <a:t>possibly</a:t>
            </a:r>
            <a:r>
              <a:rPr lang="da-DK" dirty="0" smtClean="0"/>
              <a:t> </a:t>
            </a:r>
            <a:r>
              <a:rPr lang="da-DK" dirty="0" err="1" smtClean="0"/>
              <a:t>useful</a:t>
            </a:r>
            <a:r>
              <a:rPr lang="da-DK" dirty="0" smtClean="0"/>
              <a:t> </a:t>
            </a:r>
            <a:r>
              <a:rPr lang="da-DK" dirty="0" err="1" smtClean="0"/>
              <a:t>statistics</a:t>
            </a:r>
            <a:endParaRPr lang="da-DK" dirty="0" smtClean="0"/>
          </a:p>
          <a:p>
            <a:pPr lvl="1"/>
            <a:r>
              <a:rPr lang="da-DK" dirty="0" smtClean="0"/>
              <a:t>Most </a:t>
            </a:r>
            <a:r>
              <a:rPr lang="da-DK" dirty="0" err="1" smtClean="0"/>
              <a:t>users</a:t>
            </a:r>
            <a:r>
              <a:rPr lang="da-DK" dirty="0" smtClean="0"/>
              <a:t> </a:t>
            </a:r>
            <a:r>
              <a:rPr lang="da-DK" dirty="0" err="1" smtClean="0"/>
              <a:t>don’t</a:t>
            </a:r>
            <a:r>
              <a:rPr lang="da-DK" dirty="0" smtClean="0"/>
              <a:t> know </a:t>
            </a:r>
            <a:r>
              <a:rPr lang="da-DK" dirty="0" err="1" smtClean="0"/>
              <a:t>what</a:t>
            </a:r>
            <a:r>
              <a:rPr lang="da-DK" dirty="0" smtClean="0"/>
              <a:t> </a:t>
            </a:r>
            <a:r>
              <a:rPr lang="da-DK" dirty="0" err="1" smtClean="0"/>
              <a:t>exists</a:t>
            </a:r>
            <a:endParaRPr lang="da-DK" dirty="0" smtClean="0"/>
          </a:p>
          <a:p>
            <a:pPr lvl="1"/>
            <a:r>
              <a:rPr lang="da-DK" dirty="0" smtClean="0"/>
              <a:t>Accessibility</a:t>
            </a:r>
          </a:p>
          <a:p>
            <a:pPr lvl="1"/>
            <a:r>
              <a:rPr lang="da-DK" dirty="0"/>
              <a:t> </a:t>
            </a:r>
            <a:r>
              <a:rPr lang="da-DK" dirty="0" smtClean="0"/>
              <a:t>            or </a:t>
            </a:r>
            <a:r>
              <a:rPr lang="da-DK" dirty="0" err="1" smtClean="0"/>
              <a:t>other</a:t>
            </a:r>
            <a:r>
              <a:rPr lang="da-DK" dirty="0" smtClean="0"/>
              <a:t> </a:t>
            </a:r>
            <a:r>
              <a:rPr lang="da-DK" dirty="0" err="1" smtClean="0"/>
              <a:t>search</a:t>
            </a:r>
            <a:r>
              <a:rPr lang="da-DK" dirty="0" smtClean="0"/>
              <a:t> - </a:t>
            </a:r>
            <a:r>
              <a:rPr lang="da-DK" dirty="0" err="1" smtClean="0"/>
              <a:t>needs</a:t>
            </a:r>
            <a:r>
              <a:rPr lang="da-DK" dirty="0" smtClean="0"/>
              <a:t> metadata</a:t>
            </a:r>
          </a:p>
          <a:p>
            <a:r>
              <a:rPr lang="da-DK" dirty="0" err="1" smtClean="0"/>
              <a:t>make</a:t>
            </a:r>
            <a:r>
              <a:rPr lang="da-DK" dirty="0" smtClean="0"/>
              <a:t> sure if the </a:t>
            </a:r>
            <a:r>
              <a:rPr lang="da-DK" dirty="0" err="1" smtClean="0"/>
              <a:t>statistics</a:t>
            </a:r>
            <a:r>
              <a:rPr lang="da-DK" dirty="0" smtClean="0"/>
              <a:t> </a:t>
            </a:r>
            <a:r>
              <a:rPr lang="da-DK" dirty="0" err="1" smtClean="0"/>
              <a:t>are</a:t>
            </a:r>
            <a:r>
              <a:rPr lang="da-DK" dirty="0" smtClean="0"/>
              <a:t> </a:t>
            </a:r>
            <a:r>
              <a:rPr lang="da-DK" dirty="0" err="1" smtClean="0"/>
              <a:t>suitable</a:t>
            </a:r>
            <a:endParaRPr lang="da-DK" dirty="0" smtClean="0"/>
          </a:p>
          <a:p>
            <a:r>
              <a:rPr lang="da-DK" dirty="0" err="1" smtClean="0"/>
              <a:t>study</a:t>
            </a:r>
            <a:r>
              <a:rPr lang="da-DK" dirty="0" smtClean="0"/>
              <a:t> </a:t>
            </a:r>
            <a:r>
              <a:rPr lang="da-DK" dirty="0" err="1" smtClean="0"/>
              <a:t>exact</a:t>
            </a:r>
            <a:r>
              <a:rPr lang="da-DK" dirty="0" smtClean="0"/>
              <a:t> </a:t>
            </a:r>
            <a:r>
              <a:rPr lang="da-DK" dirty="0" err="1" smtClean="0"/>
              <a:t>characteristics</a:t>
            </a:r>
            <a:endParaRPr lang="da-DK" dirty="0" smtClean="0"/>
          </a:p>
          <a:p>
            <a:pPr lvl="1"/>
            <a:r>
              <a:rPr lang="da-DK" dirty="0" smtClean="0"/>
              <a:t>Contents</a:t>
            </a:r>
          </a:p>
          <a:p>
            <a:pPr lvl="1"/>
            <a:r>
              <a:rPr lang="da-DK" dirty="0" err="1" smtClean="0"/>
              <a:t>Quality</a:t>
            </a:r>
            <a:endParaRPr lang="da-DK" dirty="0" smtClean="0"/>
          </a:p>
          <a:p>
            <a:pPr lvl="1"/>
            <a:r>
              <a:rPr lang="da-DK" dirty="0" smtClean="0"/>
              <a:t>Methods</a:t>
            </a:r>
          </a:p>
          <a:p>
            <a:r>
              <a:rPr lang="da-DK" dirty="0" err="1"/>
              <a:t>c</a:t>
            </a:r>
            <a:r>
              <a:rPr lang="da-DK" dirty="0" err="1" smtClean="0"/>
              <a:t>ompare</a:t>
            </a:r>
            <a:r>
              <a:rPr lang="da-DK" dirty="0" smtClean="0"/>
              <a:t> with </a:t>
            </a:r>
            <a:r>
              <a:rPr lang="da-DK" dirty="0" err="1" smtClean="0"/>
              <a:t>other</a:t>
            </a:r>
            <a:r>
              <a:rPr lang="da-DK" dirty="0" smtClean="0"/>
              <a:t> </a:t>
            </a:r>
            <a:r>
              <a:rPr lang="da-DK" dirty="0" err="1" smtClean="0"/>
              <a:t>statistics</a:t>
            </a:r>
            <a:r>
              <a:rPr lang="da-DK" dirty="0" smtClean="0"/>
              <a:t> and metadata</a:t>
            </a:r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780928"/>
            <a:ext cx="1029682" cy="459094"/>
          </a:xfrm>
          <a:prstGeom prst="rect">
            <a:avLst/>
          </a:prstGeom>
        </p:spPr>
      </p:pic>
      <p:sp>
        <p:nvSpPr>
          <p:cNvPr id="6" name="Pladsholder til diasnummer 3"/>
          <p:cNvSpPr>
            <a:spLocks noGrp="1"/>
          </p:cNvSpPr>
          <p:nvPr>
            <p:ph type="sldNum" sz="quarter" idx="4294967295"/>
          </p:nvPr>
        </p:nvSpPr>
        <p:spPr>
          <a:xfrm>
            <a:off x="8532440" y="6514165"/>
            <a:ext cx="514400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z="800" smtClean="0">
                <a:solidFill>
                  <a:schemeClr val="bg1"/>
                </a:solidFill>
              </a:rPr>
              <a:pPr/>
              <a:t>9</a:t>
            </a:fld>
            <a:endParaRPr lang="da-DK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21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2573336" y="2443080"/>
            <a:ext cx="4967287" cy="286232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en-US" altLang="da-DK" b="1" dirty="0">
              <a:solidFill>
                <a:prstClr val="black"/>
              </a:solidFill>
            </a:endParaRP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2949349" y="1196975"/>
            <a:ext cx="3960812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General Environment: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Political</a:t>
            </a:r>
            <a:r>
              <a:rPr lang="da-DK" altLang="da-DK" sz="1600" dirty="0">
                <a:solidFill>
                  <a:prstClr val="black"/>
                </a:solidFill>
              </a:rPr>
              <a:t>/</a:t>
            </a:r>
            <a:r>
              <a:rPr lang="da-DK" altLang="da-DK" sz="1600" dirty="0" smtClean="0">
                <a:solidFill>
                  <a:prstClr val="black"/>
                </a:solidFill>
              </a:rPr>
              <a:t>legal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context</a:t>
            </a:r>
            <a:r>
              <a:rPr lang="da-DK" altLang="da-DK" sz="1600" dirty="0" smtClean="0">
                <a:solidFill>
                  <a:prstClr val="black"/>
                </a:solidFill>
              </a:rPr>
              <a:t>, Technology/standards </a:t>
            </a:r>
            <a:endParaRPr lang="en-US" altLang="da-DK" sz="1600" dirty="0">
              <a:solidFill>
                <a:prstClr val="black"/>
              </a:solidFill>
            </a:endParaRPr>
          </a:p>
        </p:txBody>
      </p:sp>
      <p:sp>
        <p:nvSpPr>
          <p:cNvPr id="81943" name="Text Box 23"/>
          <p:cNvSpPr txBox="1">
            <a:spLocks noChangeArrowheads="1"/>
          </p:cNvSpPr>
          <p:nvPr/>
        </p:nvSpPr>
        <p:spPr bwMode="auto">
          <a:xfrm>
            <a:off x="65084" y="3279487"/>
            <a:ext cx="1835150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Respondents/ </a:t>
            </a:r>
            <a:r>
              <a:rPr lang="da-DK" altLang="da-DK" sz="1600" dirty="0" smtClean="0">
                <a:solidFill>
                  <a:prstClr val="black"/>
                </a:solidFill>
              </a:rPr>
              <a:t>registers etc.</a:t>
            </a:r>
            <a:endParaRPr lang="en-US" altLang="da-DK" dirty="0">
              <a:solidFill>
                <a:prstClr val="black"/>
              </a:solidFill>
            </a:endParaRPr>
          </a:p>
        </p:txBody>
      </p:sp>
      <p:cxnSp>
        <p:nvCxnSpPr>
          <p:cNvPr id="81944" name="AutoShape 24"/>
          <p:cNvCxnSpPr>
            <a:cxnSpLocks noChangeShapeType="1"/>
          </p:cNvCxnSpPr>
          <p:nvPr/>
        </p:nvCxnSpPr>
        <p:spPr bwMode="auto">
          <a:xfrm flipH="1">
            <a:off x="1979613" y="3573463"/>
            <a:ext cx="35877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46" name="AutoShape 26"/>
          <p:cNvCxnSpPr>
            <a:cxnSpLocks noChangeShapeType="1"/>
          </p:cNvCxnSpPr>
          <p:nvPr/>
        </p:nvCxnSpPr>
        <p:spPr bwMode="auto">
          <a:xfrm flipV="1">
            <a:off x="5023436" y="1932234"/>
            <a:ext cx="1588" cy="3603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65084" y="2415887"/>
            <a:ext cx="1835150" cy="83099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Ressources</a:t>
            </a:r>
            <a:r>
              <a:rPr lang="da-DK" altLang="da-DK" sz="1600" dirty="0" smtClean="0">
                <a:solidFill>
                  <a:prstClr val="black"/>
                </a:solidFill>
              </a:rPr>
              <a:t>: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staff</a:t>
            </a:r>
            <a:r>
              <a:rPr lang="da-DK" altLang="da-DK" sz="1600" dirty="0">
                <a:solidFill>
                  <a:prstClr val="black"/>
                </a:solidFill>
              </a:rPr>
              <a:t>, </a:t>
            </a:r>
            <a:r>
              <a:rPr lang="da-DK" altLang="da-DK" sz="1600" dirty="0" smtClean="0">
                <a:solidFill>
                  <a:prstClr val="black"/>
                </a:solidFill>
              </a:rPr>
              <a:t>IT-systems etc.</a:t>
            </a:r>
            <a:endParaRPr lang="en-US" altLang="da-DK" dirty="0">
              <a:solidFill>
                <a:prstClr val="black"/>
              </a:solidFill>
            </a:endParaRPr>
          </a:p>
        </p:txBody>
      </p:sp>
      <p:cxnSp>
        <p:nvCxnSpPr>
          <p:cNvPr id="81948" name="AutoShape 28"/>
          <p:cNvCxnSpPr>
            <a:cxnSpLocks noChangeShapeType="1"/>
          </p:cNvCxnSpPr>
          <p:nvPr/>
        </p:nvCxnSpPr>
        <p:spPr bwMode="auto">
          <a:xfrm flipH="1">
            <a:off x="1979613" y="2708275"/>
            <a:ext cx="35877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itel 1"/>
          <p:cNvSpPr>
            <a:spLocks noGrp="1"/>
          </p:cNvSpPr>
          <p:nvPr>
            <p:ph type="title" idx="4294967295"/>
          </p:nvPr>
        </p:nvSpPr>
        <p:spPr>
          <a:xfrm>
            <a:off x="251521" y="27856"/>
            <a:ext cx="8342490" cy="1143000"/>
          </a:xfrm>
        </p:spPr>
        <p:txBody>
          <a:bodyPr>
            <a:noAutofit/>
          </a:bodyPr>
          <a:lstStyle/>
          <a:p>
            <a:r>
              <a:rPr lang="da-DK" altLang="da-DK" sz="3200" b="1" dirty="0" smtClean="0">
                <a:solidFill>
                  <a:srgbClr val="0091D4"/>
                </a:solidFill>
              </a:rPr>
              <a:t>The </a:t>
            </a:r>
            <a:r>
              <a:rPr lang="da-DK" altLang="da-DK" sz="3200" b="1" dirty="0" err="1" smtClean="0">
                <a:solidFill>
                  <a:srgbClr val="0091D4"/>
                </a:solidFill>
              </a:rPr>
              <a:t>role</a:t>
            </a:r>
            <a:r>
              <a:rPr lang="da-DK" altLang="da-DK" sz="3200" b="1" dirty="0" smtClean="0">
                <a:solidFill>
                  <a:srgbClr val="0091D4"/>
                </a:solidFill>
              </a:rPr>
              <a:t> of metadata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761" y="3346968"/>
            <a:ext cx="4721419" cy="66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3840559" y="2626310"/>
            <a:ext cx="2398413" cy="338554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en-US" sz="1600" b="1" dirty="0">
                <a:solidFill>
                  <a:prstClr val="black"/>
                </a:solidFill>
              </a:rPr>
              <a:t>Management </a:t>
            </a:r>
            <a:r>
              <a:rPr lang="da-DK" altLang="en-US" sz="1400" b="1" dirty="0">
                <a:solidFill>
                  <a:prstClr val="black"/>
                </a:solidFill>
              </a:rPr>
              <a:t>processes</a:t>
            </a:r>
            <a:endParaRPr lang="en-US" altLang="en-US" sz="1400" b="1" dirty="0">
              <a:solidFill>
                <a:prstClr val="black"/>
              </a:solidFill>
            </a:endParaRP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2704713" y="4241602"/>
            <a:ext cx="4704531" cy="615553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da-DK" altLang="en-US" sz="1400" b="1" dirty="0">
                <a:solidFill>
                  <a:prstClr val="black"/>
                </a:solidFill>
              </a:rPr>
              <a:t>S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upport processes: </a:t>
            </a:r>
            <a:r>
              <a:rPr lang="da-DK" altLang="en-US" sz="1400" b="1" dirty="0" err="1" smtClean="0">
                <a:solidFill>
                  <a:prstClr val="black"/>
                </a:solidFill>
              </a:rPr>
              <a:t>Quality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, </a:t>
            </a:r>
            <a:r>
              <a:rPr lang="da-DK" altLang="en-US" sz="2000" b="1" dirty="0" smtClean="0">
                <a:solidFill>
                  <a:srgbClr val="FF0000"/>
                </a:solidFill>
              </a:rPr>
              <a:t>metadata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, </a:t>
            </a:r>
            <a:r>
              <a:rPr lang="da-DK" altLang="en-US" sz="1400" b="1" dirty="0" err="1" smtClean="0">
                <a:solidFill>
                  <a:prstClr val="black"/>
                </a:solidFill>
              </a:rPr>
              <a:t>methods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 &amp; IT</a:t>
            </a:r>
            <a:endParaRPr lang="en-US" altLang="en-US" sz="1400" b="1" dirty="0">
              <a:solidFill>
                <a:prstClr val="black"/>
              </a:solidFill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8007531" y="3421886"/>
            <a:ext cx="991333" cy="40011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2000" b="1" dirty="0" smtClean="0">
                <a:solidFill>
                  <a:srgbClr val="FF0000"/>
                </a:solidFill>
              </a:rPr>
              <a:t>Users</a:t>
            </a:r>
            <a:endParaRPr lang="en-US" altLang="da-DK" sz="2000" b="1" dirty="0">
              <a:solidFill>
                <a:srgbClr val="FF0000"/>
              </a:solidFill>
            </a:endParaRPr>
          </a:p>
        </p:txBody>
      </p:sp>
      <p:cxnSp>
        <p:nvCxnSpPr>
          <p:cNvPr id="23" name="AutoShape 30"/>
          <p:cNvCxnSpPr>
            <a:cxnSpLocks noChangeShapeType="1"/>
          </p:cNvCxnSpPr>
          <p:nvPr/>
        </p:nvCxnSpPr>
        <p:spPr bwMode="auto">
          <a:xfrm flipH="1">
            <a:off x="7540624" y="3700711"/>
            <a:ext cx="411342" cy="66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3764801" y="5589588"/>
            <a:ext cx="25843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da-DK" sz="2000" dirty="0">
                <a:solidFill>
                  <a:prstClr val="black"/>
                </a:solidFill>
              </a:rPr>
              <a:t>User </a:t>
            </a:r>
            <a:r>
              <a:rPr lang="da-DK" altLang="da-DK" dirty="0" err="1">
                <a:solidFill>
                  <a:prstClr val="black"/>
                </a:solidFill>
              </a:rPr>
              <a:t>needs</a:t>
            </a:r>
            <a:r>
              <a:rPr lang="da-DK" altLang="da-DK" sz="2000" dirty="0">
                <a:solidFill>
                  <a:prstClr val="black"/>
                </a:solidFill>
              </a:rPr>
              <a:t> /</a:t>
            </a:r>
            <a:r>
              <a:rPr lang="da-DK" altLang="da-DK" sz="2000" dirty="0" err="1">
                <a:solidFill>
                  <a:prstClr val="black"/>
                </a:solidFill>
              </a:rPr>
              <a:t>orders</a:t>
            </a:r>
            <a:r>
              <a:rPr lang="da-DK" altLang="da-DK" sz="2000" b="1" dirty="0">
                <a:solidFill>
                  <a:prstClr val="black"/>
                </a:solidFill>
              </a:rPr>
              <a:t> </a:t>
            </a:r>
          </a:p>
        </p:txBody>
      </p:sp>
      <p:cxnSp>
        <p:nvCxnSpPr>
          <p:cNvPr id="32" name="AutoShape 33"/>
          <p:cNvCxnSpPr>
            <a:cxnSpLocks noChangeShapeType="1"/>
            <a:stCxn id="30" idx="3"/>
          </p:cNvCxnSpPr>
          <p:nvPr/>
        </p:nvCxnSpPr>
        <p:spPr bwMode="auto">
          <a:xfrm>
            <a:off x="6349163" y="5789643"/>
            <a:ext cx="2255087" cy="174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34"/>
          <p:cNvCxnSpPr>
            <a:cxnSpLocks noChangeShapeType="1"/>
          </p:cNvCxnSpPr>
          <p:nvPr/>
        </p:nvCxnSpPr>
        <p:spPr bwMode="auto">
          <a:xfrm flipV="1">
            <a:off x="8604250" y="3933825"/>
            <a:ext cx="0" cy="18716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35"/>
          <p:cNvCxnSpPr>
            <a:cxnSpLocks noChangeShapeType="1"/>
          </p:cNvCxnSpPr>
          <p:nvPr/>
        </p:nvCxnSpPr>
        <p:spPr bwMode="auto">
          <a:xfrm flipH="1">
            <a:off x="1619250" y="4221163"/>
            <a:ext cx="7207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36"/>
          <p:cNvCxnSpPr>
            <a:cxnSpLocks noChangeShapeType="1"/>
          </p:cNvCxnSpPr>
          <p:nvPr/>
        </p:nvCxnSpPr>
        <p:spPr bwMode="auto">
          <a:xfrm flipV="1">
            <a:off x="1619250" y="4221163"/>
            <a:ext cx="1588" cy="15843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37"/>
          <p:cNvCxnSpPr>
            <a:cxnSpLocks noChangeShapeType="1"/>
            <a:endCxn id="30" idx="1"/>
          </p:cNvCxnSpPr>
          <p:nvPr/>
        </p:nvCxnSpPr>
        <p:spPr bwMode="auto">
          <a:xfrm flipV="1">
            <a:off x="1619250" y="5789643"/>
            <a:ext cx="2145551" cy="1584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Pladsholder til diasnummer 3"/>
          <p:cNvSpPr>
            <a:spLocks noGrp="1"/>
          </p:cNvSpPr>
          <p:nvPr>
            <p:ph type="sldNum" sz="quarter" idx="4294967295"/>
          </p:nvPr>
        </p:nvSpPr>
        <p:spPr>
          <a:xfrm>
            <a:off x="8532440" y="6514165"/>
            <a:ext cx="514400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z="800" smtClean="0">
                <a:solidFill>
                  <a:schemeClr val="bg1"/>
                </a:solidFill>
              </a:rPr>
              <a:pPr/>
              <a:t>10</a:t>
            </a:fld>
            <a:endParaRPr lang="da-DK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5"/>
          <p:cNvSpPr>
            <a:spLocks noGrp="1"/>
          </p:cNvSpPr>
          <p:nvPr>
            <p:ph type="sldNum" sz="quarter" idx="4294967295"/>
          </p:nvPr>
        </p:nvSpPr>
        <p:spPr>
          <a:xfrm>
            <a:off x="6948264" y="6387070"/>
            <a:ext cx="2128320" cy="470930"/>
          </a:xfrm>
          <a:prstGeom prst="rect">
            <a:avLst/>
          </a:prstGeom>
        </p:spPr>
        <p:txBody>
          <a:bodyPr lIns="82945" tIns="41473" rIns="82945" bIns="41473"/>
          <a:lstStyle/>
          <a:p>
            <a:pPr>
              <a:defRPr/>
            </a:pPr>
            <a:fld id="{81DB7C76-48BD-42AA-8ED5-AE6F041BFF4D}" type="slidenum">
              <a:rPr lang="en-US" sz="80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172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28160" cy="1144921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3715"/>
          <a:lstStyle/>
          <a:p>
            <a:pPr eaLnBrk="1"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da-DK" dirty="0"/>
              <a:t>Metadata</a:t>
            </a:r>
            <a:r>
              <a:rPr lang="en-US" altLang="da-DK" dirty="0" smtClean="0">
                <a:solidFill>
                  <a:srgbClr val="333333"/>
                </a:solidFill>
              </a:rPr>
              <a:t> </a:t>
            </a:r>
            <a:r>
              <a:rPr lang="en-US" altLang="da-DK" dirty="0"/>
              <a:t>users</a:t>
            </a:r>
          </a:p>
        </p:txBody>
      </p:sp>
      <p:pic>
        <p:nvPicPr>
          <p:cNvPr id="7173" name="Segnaposto contenuto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3360" y="1337901"/>
            <a:ext cx="7303680" cy="4311813"/>
          </a:xfrm>
        </p:spPr>
      </p:pic>
      <p:sp>
        <p:nvSpPr>
          <p:cNvPr id="2" name="Ellipse 1"/>
          <p:cNvSpPr/>
          <p:nvPr/>
        </p:nvSpPr>
        <p:spPr>
          <a:xfrm>
            <a:off x="6425076" y="846089"/>
            <a:ext cx="1788340" cy="460436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2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Metadata vital </a:t>
            </a:r>
            <a:r>
              <a:rPr lang="en-US" dirty="0"/>
              <a:t>for end users of </a:t>
            </a:r>
            <a:r>
              <a:rPr lang="en-US" dirty="0" smtClean="0"/>
              <a:t>statistics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8352928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Availability </a:t>
            </a:r>
            <a:r>
              <a:rPr lang="en-US" dirty="0"/>
              <a:t>of statistical </a:t>
            </a:r>
            <a:r>
              <a:rPr lang="en-US" dirty="0" smtClean="0"/>
              <a:t>outputs</a:t>
            </a:r>
          </a:p>
          <a:p>
            <a:r>
              <a:rPr lang="en-US" dirty="0" smtClean="0"/>
              <a:t>Metadata </a:t>
            </a:r>
            <a:r>
              <a:rPr lang="en-US" dirty="0"/>
              <a:t>related to the statistical outputs </a:t>
            </a:r>
            <a:endParaRPr lang="en-US" dirty="0" smtClean="0"/>
          </a:p>
          <a:p>
            <a:pPr lvl="1"/>
            <a:r>
              <a:rPr lang="en-US" dirty="0"/>
              <a:t>M</a:t>
            </a:r>
            <a:r>
              <a:rPr lang="en-US" dirty="0" smtClean="0"/>
              <a:t>etadata on concepts </a:t>
            </a:r>
            <a:r>
              <a:rPr lang="en-US" dirty="0"/>
              <a:t>and definitions, classifications, aggregations, statistical and evaluation methods, terminology, history, </a:t>
            </a:r>
            <a:r>
              <a:rPr lang="en-US" dirty="0" smtClean="0"/>
              <a:t>etc</a:t>
            </a:r>
            <a:r>
              <a:rPr lang="en-US" dirty="0"/>
              <a:t>.</a:t>
            </a:r>
            <a:r>
              <a:rPr lang="en-US" dirty="0" smtClean="0"/>
              <a:t> </a:t>
            </a:r>
          </a:p>
          <a:p>
            <a:r>
              <a:rPr lang="en-US" dirty="0" smtClean="0"/>
              <a:t>Metadata </a:t>
            </a:r>
            <a:r>
              <a:rPr lang="en-US" dirty="0"/>
              <a:t>about quality (e.g. explanatory </a:t>
            </a:r>
            <a:r>
              <a:rPr lang="en-US" dirty="0" smtClean="0"/>
              <a:t>notes, indicators)</a:t>
            </a:r>
          </a:p>
          <a:p>
            <a:r>
              <a:rPr lang="en-US" dirty="0" smtClean="0"/>
              <a:t>Access </a:t>
            </a:r>
            <a:r>
              <a:rPr lang="en-US" dirty="0"/>
              <a:t>to </a:t>
            </a:r>
            <a:r>
              <a:rPr lang="en-US" dirty="0" smtClean="0"/>
              <a:t>microdata</a:t>
            </a:r>
          </a:p>
          <a:p>
            <a:r>
              <a:rPr lang="en-US" dirty="0" smtClean="0"/>
              <a:t>Time series</a:t>
            </a:r>
          </a:p>
          <a:p>
            <a:r>
              <a:rPr lang="en-US" dirty="0" smtClean="0"/>
              <a:t>Updating procedures</a:t>
            </a:r>
          </a:p>
          <a:p>
            <a:r>
              <a:rPr lang="en-US" dirty="0" smtClean="0"/>
              <a:t>Statistical revisions</a:t>
            </a:r>
          </a:p>
          <a:p>
            <a:r>
              <a:rPr lang="en-US" dirty="0" smtClean="0"/>
              <a:t>Responsibility </a:t>
            </a:r>
            <a:r>
              <a:rPr lang="en-US" dirty="0"/>
              <a:t>for individual statistical </a:t>
            </a:r>
            <a:r>
              <a:rPr lang="en-US" dirty="0" smtClean="0"/>
              <a:t>outputs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294967295"/>
          </p:nvPr>
        </p:nvSpPr>
        <p:spPr>
          <a:xfrm>
            <a:off x="8532440" y="6514165"/>
            <a:ext cx="514400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z="800" smtClean="0">
                <a:solidFill>
                  <a:schemeClr val="bg1"/>
                </a:solidFill>
              </a:rPr>
              <a:pPr/>
              <a:t>12</a:t>
            </a:fld>
            <a:endParaRPr lang="da-DK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88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 smtClean="0"/>
              <a:t>Understanding</a:t>
            </a:r>
            <a:r>
              <a:rPr lang="da-DK" dirty="0" smtClean="0"/>
              <a:t> </a:t>
            </a:r>
            <a:r>
              <a:rPr lang="da-DK" dirty="0" err="1" smtClean="0"/>
              <a:t>statistics</a:t>
            </a:r>
            <a:r>
              <a:rPr lang="da-DK" dirty="0" smtClean="0"/>
              <a:t> and metadata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Language and </a:t>
            </a:r>
            <a:r>
              <a:rPr lang="da-DK" dirty="0" err="1" smtClean="0"/>
              <a:t>Terminology</a:t>
            </a:r>
            <a:endParaRPr lang="da-DK" dirty="0" smtClean="0"/>
          </a:p>
          <a:p>
            <a:r>
              <a:rPr lang="da-DK" dirty="0" err="1" smtClean="0"/>
              <a:t>Concepts</a:t>
            </a:r>
            <a:r>
              <a:rPr lang="da-DK" dirty="0" smtClean="0"/>
              <a:t> versus data</a:t>
            </a:r>
          </a:p>
          <a:p>
            <a:r>
              <a:rPr lang="da-DK" dirty="0" smtClean="0"/>
              <a:t>Populations and units</a:t>
            </a:r>
          </a:p>
          <a:p>
            <a:r>
              <a:rPr lang="da-DK" dirty="0" err="1" smtClean="0"/>
              <a:t>Attributes</a:t>
            </a:r>
            <a:r>
              <a:rPr lang="da-DK" dirty="0" smtClean="0"/>
              <a:t> </a:t>
            </a:r>
          </a:p>
          <a:p>
            <a:r>
              <a:rPr lang="da-DK" dirty="0" err="1" smtClean="0"/>
              <a:t>Stocks</a:t>
            </a:r>
            <a:r>
              <a:rPr lang="da-DK" dirty="0" smtClean="0"/>
              <a:t> versus flows /</a:t>
            </a:r>
            <a:r>
              <a:rPr lang="da-DK" dirty="0"/>
              <a:t> </a:t>
            </a:r>
            <a:r>
              <a:rPr lang="da-DK" dirty="0" smtClean="0"/>
              <a:t>events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13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1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kern="1200" dirty="0" smtClean="0">
                <a:effectLst/>
              </a:rPr>
              <a:t>Statistics are not all in one place, nor completely coherent. 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</a:t>
            </a:r>
            <a:r>
              <a:rPr lang="en-US" dirty="0" err="1"/>
              <a:t>organisations</a:t>
            </a:r>
            <a:r>
              <a:rPr lang="en-US" dirty="0"/>
              <a:t> in each country produce official </a:t>
            </a:r>
            <a:r>
              <a:rPr lang="en-US" dirty="0" smtClean="0"/>
              <a:t>statistics</a:t>
            </a:r>
          </a:p>
          <a:p>
            <a:endParaRPr lang="en-US" dirty="0"/>
          </a:p>
          <a:p>
            <a:r>
              <a:rPr lang="en-US" dirty="0"/>
              <a:t>D</a:t>
            </a:r>
            <a:r>
              <a:rPr lang="en-US" dirty="0" smtClean="0"/>
              <a:t>ifficult </a:t>
            </a:r>
            <a:r>
              <a:rPr lang="en-US" dirty="0"/>
              <a:t>to get an overview of what exists and how are the connections and differences between the </a:t>
            </a:r>
            <a:r>
              <a:rPr lang="en-US" dirty="0" smtClean="0">
                <a:solidFill>
                  <a:srgbClr val="FF0000"/>
                </a:solidFill>
              </a:rPr>
              <a:t>concepts</a:t>
            </a:r>
            <a:r>
              <a:rPr lang="en-US" dirty="0" smtClean="0"/>
              <a:t> measured</a:t>
            </a:r>
          </a:p>
          <a:p>
            <a:endParaRPr lang="en-US" dirty="0"/>
          </a:p>
          <a:p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you need data from several countries – which is increasingly needed – it becomes even </a:t>
            </a:r>
            <a:r>
              <a:rPr lang="en-US" dirty="0" smtClean="0"/>
              <a:t>worse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14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69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Where</a:t>
            </a:r>
            <a:r>
              <a:rPr lang="da-DK" dirty="0" smtClean="0"/>
              <a:t> to go</a:t>
            </a:r>
            <a:r>
              <a:rPr lang="da-DK" dirty="0" smtClean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18" y="4077072"/>
            <a:ext cx="1287031" cy="1576387"/>
          </a:xfrm>
          <a:prstGeom prst="rect">
            <a:avLst/>
          </a:prstGeom>
        </p:spPr>
      </p:pic>
      <p:pic>
        <p:nvPicPr>
          <p:cNvPr id="5" name="Billed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678517"/>
            <a:ext cx="1461387" cy="1241656"/>
          </a:xfrm>
          <a:prstGeom prst="rect">
            <a:avLst/>
          </a:prstGeom>
        </p:spPr>
      </p:pic>
      <p:pic>
        <p:nvPicPr>
          <p:cNvPr id="1026" name="Picture 2" descr="https://upload.wikimedia.org/wikipedia/commons/2/24/White_Shoal_Lighthous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30702"/>
            <a:ext cx="1226457" cy="163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Billed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604" y="4221088"/>
            <a:ext cx="1674561" cy="1663827"/>
          </a:xfrm>
          <a:prstGeom prst="rect">
            <a:avLst/>
          </a:prstGeom>
        </p:spPr>
      </p:pic>
      <p:pic>
        <p:nvPicPr>
          <p:cNvPr id="8" name="Picture 4" descr="File:Pharos of Alexandria1.jpg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256" y="2908188"/>
            <a:ext cx="1736441" cy="2337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kstfelt 6"/>
          <p:cNvSpPr txBox="1"/>
          <p:nvPr/>
        </p:nvSpPr>
        <p:spPr>
          <a:xfrm>
            <a:off x="3186363" y="1804168"/>
            <a:ext cx="276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400" dirty="0" smtClean="0">
                <a:solidFill>
                  <a:prstClr val="black"/>
                </a:solidFill>
              </a:rPr>
              <a:t>User</a:t>
            </a:r>
            <a:endParaRPr lang="en-US" sz="5400" dirty="0">
              <a:solidFill>
                <a:prstClr val="black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272" y="2472856"/>
            <a:ext cx="1083987" cy="151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dsholder til slide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15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2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kern="1200" dirty="0" smtClean="0">
                <a:effectLst/>
              </a:rPr>
              <a:t>Coordinated metadata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4726" y="1417638"/>
            <a:ext cx="8219256" cy="4525963"/>
          </a:xfrm>
        </p:spPr>
        <p:txBody>
          <a:bodyPr>
            <a:noAutofit/>
          </a:bodyPr>
          <a:lstStyle/>
          <a:p>
            <a:pPr lvl="0"/>
            <a:r>
              <a:rPr lang="en-US" dirty="0">
                <a:ea typeface="+mj-ea"/>
              </a:rPr>
              <a:t>W</a:t>
            </a:r>
            <a:r>
              <a:rPr lang="en-US" kern="1200" dirty="0" smtClean="0">
                <a:effectLst/>
                <a:ea typeface="+mj-ea"/>
              </a:rPr>
              <a:t>ithin each data provider</a:t>
            </a:r>
          </a:p>
          <a:p>
            <a:pPr lvl="0"/>
            <a:r>
              <a:rPr lang="en-US" dirty="0">
                <a:ea typeface="+mj-ea"/>
              </a:rPr>
              <a:t>B</a:t>
            </a:r>
            <a:r>
              <a:rPr lang="en-US" kern="1200" dirty="0" smtClean="0">
                <a:effectLst/>
                <a:ea typeface="+mj-ea"/>
              </a:rPr>
              <a:t>etween several data providers</a:t>
            </a:r>
          </a:p>
          <a:p>
            <a:pPr lvl="0"/>
            <a:r>
              <a:rPr lang="en-US" dirty="0">
                <a:ea typeface="+mj-ea"/>
              </a:rPr>
              <a:t>I</a:t>
            </a:r>
            <a:r>
              <a:rPr lang="en-US" kern="1200" dirty="0" smtClean="0">
                <a:effectLst/>
                <a:ea typeface="+mj-ea"/>
              </a:rPr>
              <a:t>n a country</a:t>
            </a:r>
          </a:p>
          <a:p>
            <a:pPr lvl="0"/>
            <a:r>
              <a:rPr lang="da-DK" dirty="0" err="1" smtClean="0">
                <a:ea typeface="+mj-ea"/>
              </a:rPr>
              <a:t>Several</a:t>
            </a:r>
            <a:r>
              <a:rPr lang="da-DK" dirty="0" smtClean="0">
                <a:ea typeface="+mj-ea"/>
              </a:rPr>
              <a:t> </a:t>
            </a:r>
            <a:r>
              <a:rPr lang="da-DK" dirty="0" err="1" smtClean="0">
                <a:ea typeface="+mj-ea"/>
              </a:rPr>
              <a:t>countries</a:t>
            </a:r>
            <a:endParaRPr lang="en-US" kern="1200" dirty="0" smtClean="0">
              <a:effectLst/>
              <a:ea typeface="+mj-ea"/>
            </a:endParaRPr>
          </a:p>
          <a:p>
            <a:pPr lvl="0"/>
            <a:r>
              <a:rPr lang="en-US" dirty="0">
                <a:ea typeface="+mj-ea"/>
              </a:rPr>
              <a:t>E</a:t>
            </a:r>
            <a:r>
              <a:rPr lang="en-US" kern="1200" dirty="0" smtClean="0">
                <a:effectLst/>
                <a:ea typeface="+mj-ea"/>
              </a:rPr>
              <a:t>ventually across the world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16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84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da-DK" dirty="0" smtClean="0">
                <a:ea typeface="+mj-ea"/>
              </a:rPr>
              <a:t>Organisation-</a:t>
            </a:r>
            <a:r>
              <a:rPr lang="da-DK" dirty="0" err="1" smtClean="0">
                <a:ea typeface="+mj-ea"/>
              </a:rPr>
              <a:t>wide</a:t>
            </a:r>
            <a:r>
              <a:rPr lang="da-DK" dirty="0" smtClean="0">
                <a:ea typeface="+mj-ea"/>
              </a:rPr>
              <a:t>, nation-</a:t>
            </a:r>
            <a:r>
              <a:rPr lang="da-DK" dirty="0" err="1" smtClean="0">
                <a:ea typeface="+mj-ea"/>
              </a:rPr>
              <a:t>wide</a:t>
            </a:r>
            <a:r>
              <a:rPr lang="da-DK" dirty="0" smtClean="0">
                <a:ea typeface="+mj-ea"/>
              </a:rPr>
              <a:t>, Nordic, </a:t>
            </a:r>
            <a:r>
              <a:rPr lang="da-DK" dirty="0" err="1" smtClean="0">
                <a:ea typeface="+mj-ea"/>
              </a:rPr>
              <a:t>world-wide</a:t>
            </a:r>
            <a:endParaRPr lang="en-US" kern="1200" dirty="0" smtClean="0">
              <a:effectLst/>
              <a:ea typeface="+mj-ea"/>
            </a:endParaRPr>
          </a:p>
          <a:p>
            <a:pPr lvl="0"/>
            <a:r>
              <a:rPr lang="en-US" dirty="0">
                <a:ea typeface="+mj-ea"/>
              </a:rPr>
              <a:t>M</a:t>
            </a:r>
            <a:r>
              <a:rPr lang="en-US" kern="1200" dirty="0" smtClean="0">
                <a:effectLst/>
                <a:ea typeface="+mj-ea"/>
              </a:rPr>
              <a:t>etadata standards are required. </a:t>
            </a:r>
          </a:p>
          <a:p>
            <a:pPr lvl="0"/>
            <a:r>
              <a:rPr lang="en-US" kern="1200" dirty="0" smtClean="0">
                <a:effectLst/>
                <a:ea typeface="+mj-ea"/>
              </a:rPr>
              <a:t>Standards must be so intuitive that users, advanced as well as simple, can benefit. </a:t>
            </a:r>
          </a:p>
          <a:p>
            <a:pPr lvl="0"/>
            <a:r>
              <a:rPr lang="en-US" dirty="0">
                <a:ea typeface="+mj-ea"/>
              </a:rPr>
              <a:t>M</a:t>
            </a:r>
            <a:r>
              <a:rPr lang="en-US" kern="1200" dirty="0" smtClean="0">
                <a:effectLst/>
                <a:ea typeface="+mj-ea"/>
              </a:rPr>
              <a:t>ust be easy to explain to producers of statistics </a:t>
            </a:r>
          </a:p>
          <a:p>
            <a:pPr lvl="0"/>
            <a:r>
              <a:rPr lang="en-US" kern="1200" dirty="0" smtClean="0">
                <a:effectLst/>
                <a:ea typeface="+mj-ea"/>
              </a:rPr>
              <a:t>Easy to implement in the production processes.</a:t>
            </a:r>
          </a:p>
          <a:p>
            <a:pPr marL="0" lvl="0" indent="0">
              <a:buNone/>
            </a:pPr>
            <a:endParaRPr lang="da-DK" kern="1200" dirty="0" smtClean="0">
              <a:effectLst/>
              <a:ea typeface="+mj-ea"/>
            </a:endParaRPr>
          </a:p>
          <a:p>
            <a:pPr marL="0" lvl="0" indent="0" algn="ctr">
              <a:buNone/>
            </a:pPr>
            <a:r>
              <a:rPr lang="da-DK" sz="5400" kern="1200" dirty="0" smtClean="0">
                <a:solidFill>
                  <a:srgbClr val="FF0000"/>
                </a:solidFill>
                <a:effectLst/>
                <a:ea typeface="+mj-ea"/>
              </a:rPr>
              <a:t>DDI</a:t>
            </a:r>
            <a:r>
              <a:rPr lang="en-US" kern="1200" dirty="0" smtClean="0">
                <a:effectLst/>
                <a:ea typeface="+mj-ea"/>
              </a:rPr>
              <a:t> </a:t>
            </a:r>
          </a:p>
          <a:p>
            <a:pPr marL="0" indent="0">
              <a:buNone/>
            </a:pPr>
            <a:r>
              <a:rPr lang="da-DK" dirty="0" smtClean="0">
                <a:ea typeface="+mj-ea"/>
              </a:rPr>
              <a:t>+ </a:t>
            </a:r>
            <a:r>
              <a:rPr lang="da-DK" dirty="0" err="1" smtClean="0">
                <a:ea typeface="+mj-ea"/>
              </a:rPr>
              <a:t>other</a:t>
            </a:r>
            <a:r>
              <a:rPr lang="da-DK" dirty="0" smtClean="0">
                <a:ea typeface="+mj-ea"/>
              </a:rPr>
              <a:t> standards </a:t>
            </a:r>
            <a:r>
              <a:rPr lang="da-DK" dirty="0" err="1" smtClean="0">
                <a:ea typeface="+mj-ea"/>
              </a:rPr>
              <a:t>specifying</a:t>
            </a:r>
            <a:r>
              <a:rPr lang="da-DK" dirty="0" smtClean="0">
                <a:ea typeface="+mj-ea"/>
              </a:rPr>
              <a:t> </a:t>
            </a:r>
            <a:r>
              <a:rPr lang="da-DK" dirty="0" err="1" smtClean="0">
                <a:ea typeface="+mj-ea"/>
              </a:rPr>
              <a:t>detailed</a:t>
            </a:r>
            <a:r>
              <a:rPr lang="da-DK" dirty="0" smtClean="0">
                <a:ea typeface="+mj-ea"/>
              </a:rPr>
              <a:t> </a:t>
            </a:r>
            <a:r>
              <a:rPr lang="da-DK" dirty="0" err="1" smtClean="0">
                <a:ea typeface="+mj-ea"/>
              </a:rPr>
              <a:t>contents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kern="1200" dirty="0" smtClean="0">
                <a:effectLst/>
                <a:ea typeface="+mj-ea"/>
              </a:rPr>
              <a:t>Portals and standards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17</a:t>
            </a:fld>
            <a:endParaRPr lang="da-DK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87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>
                <a:solidFill>
                  <a:srgbClr val="0070C0"/>
                </a:solidFill>
              </a:rPr>
              <a:t>The </a:t>
            </a:r>
            <a:r>
              <a:rPr lang="da-DK" dirty="0" err="1" smtClean="0">
                <a:solidFill>
                  <a:srgbClr val="0070C0"/>
                </a:solidFill>
              </a:rPr>
              <a:t>chosen</a:t>
            </a:r>
            <a:r>
              <a:rPr lang="da-DK" dirty="0" smtClean="0">
                <a:solidFill>
                  <a:srgbClr val="0070C0"/>
                </a:solidFill>
              </a:rPr>
              <a:t> standards</a:t>
            </a:r>
            <a:endParaRPr lang="da-DK" dirty="0">
              <a:solidFill>
                <a:srgbClr val="0070C0"/>
              </a:solidFill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221730"/>
            <a:ext cx="8229600" cy="5159598"/>
          </a:xfrm>
        </p:spPr>
        <p:txBody>
          <a:bodyPr>
            <a:normAutofit lnSpcReduction="10000"/>
          </a:bodyPr>
          <a:lstStyle/>
          <a:p>
            <a:r>
              <a:rPr lang="da-DK" dirty="0" smtClean="0">
                <a:solidFill>
                  <a:srgbClr val="FF0000"/>
                </a:solidFill>
              </a:rPr>
              <a:t>DDI			</a:t>
            </a:r>
            <a:r>
              <a:rPr lang="da-DK" dirty="0" smtClean="0"/>
              <a:t>to </a:t>
            </a:r>
            <a:r>
              <a:rPr lang="da-DK" dirty="0" err="1" smtClean="0"/>
              <a:t>achieve</a:t>
            </a:r>
            <a:r>
              <a:rPr lang="da-DK" dirty="0" smtClean="0"/>
              <a:t>: </a:t>
            </a:r>
          </a:p>
          <a:p>
            <a:pPr lvl="1"/>
            <a:r>
              <a:rPr lang="da-DK" dirty="0" smtClean="0"/>
              <a:t>the right </a:t>
            </a:r>
            <a:r>
              <a:rPr lang="da-DK" dirty="0" err="1" smtClean="0"/>
              <a:t>structure</a:t>
            </a:r>
            <a:r>
              <a:rPr lang="da-DK" dirty="0" smtClean="0"/>
              <a:t> of metadata </a:t>
            </a:r>
            <a:r>
              <a:rPr lang="da-DK" dirty="0" err="1" smtClean="0"/>
              <a:t>concepts</a:t>
            </a:r>
            <a:r>
              <a:rPr lang="da-DK" dirty="0" smtClean="0"/>
              <a:t>, </a:t>
            </a:r>
          </a:p>
          <a:p>
            <a:pPr lvl="1"/>
            <a:r>
              <a:rPr lang="da-DK" dirty="0" smtClean="0"/>
              <a:t>links </a:t>
            </a:r>
            <a:r>
              <a:rPr lang="da-DK" dirty="0" err="1" smtClean="0"/>
              <a:t>between</a:t>
            </a:r>
            <a:r>
              <a:rPr lang="da-DK" dirty="0" smtClean="0"/>
              <a:t> metadata terms &amp; </a:t>
            </a:r>
            <a:r>
              <a:rPr lang="da-DK" dirty="0" err="1" smtClean="0"/>
              <a:t>concepts</a:t>
            </a:r>
            <a:r>
              <a:rPr lang="da-DK" dirty="0" smtClean="0"/>
              <a:t>, </a:t>
            </a:r>
          </a:p>
          <a:p>
            <a:pPr lvl="1"/>
            <a:r>
              <a:rPr lang="da-DK" dirty="0" err="1"/>
              <a:t>c</a:t>
            </a:r>
            <a:r>
              <a:rPr lang="da-DK" dirty="0" err="1" smtClean="0"/>
              <a:t>onnection</a:t>
            </a:r>
            <a:r>
              <a:rPr lang="da-DK" dirty="0" smtClean="0"/>
              <a:t> </a:t>
            </a:r>
            <a:r>
              <a:rPr lang="da-DK" dirty="0"/>
              <a:t>to business </a:t>
            </a:r>
            <a:r>
              <a:rPr lang="da-DK" dirty="0" smtClean="0"/>
              <a:t>processes  </a:t>
            </a:r>
          </a:p>
          <a:p>
            <a:pPr lvl="1"/>
            <a:r>
              <a:rPr lang="da-DK" dirty="0" err="1" smtClean="0"/>
              <a:t>independence</a:t>
            </a:r>
            <a:r>
              <a:rPr lang="da-DK" dirty="0" smtClean="0"/>
              <a:t> of IT solution</a:t>
            </a:r>
          </a:p>
          <a:p>
            <a:r>
              <a:rPr lang="da-DK" dirty="0" smtClean="0">
                <a:solidFill>
                  <a:srgbClr val="FF0000"/>
                </a:solidFill>
              </a:rPr>
              <a:t>SDMX &amp; SIMS</a:t>
            </a:r>
            <a:r>
              <a:rPr lang="da-DK" dirty="0">
                <a:solidFill>
                  <a:srgbClr val="FF0000"/>
                </a:solidFill>
              </a:rPr>
              <a:t>	</a:t>
            </a:r>
            <a:r>
              <a:rPr lang="da-DK" dirty="0" smtClean="0"/>
              <a:t>to </a:t>
            </a:r>
            <a:r>
              <a:rPr lang="da-DK" dirty="0" err="1"/>
              <a:t>achieve</a:t>
            </a:r>
            <a:r>
              <a:rPr lang="da-DK" dirty="0" smtClean="0"/>
              <a:t>:</a:t>
            </a:r>
          </a:p>
          <a:p>
            <a:pPr lvl="1"/>
            <a:r>
              <a:rPr lang="da-DK" dirty="0" smtClean="0"/>
              <a:t>Total </a:t>
            </a:r>
            <a:r>
              <a:rPr lang="da-DK" dirty="0" err="1" smtClean="0"/>
              <a:t>coverage</a:t>
            </a:r>
            <a:r>
              <a:rPr lang="da-DK" dirty="0" smtClean="0"/>
              <a:t> of metadata items</a:t>
            </a:r>
          </a:p>
          <a:p>
            <a:pPr lvl="1"/>
            <a:r>
              <a:rPr lang="da-DK" dirty="0" smtClean="0"/>
              <a:t>Inter-</a:t>
            </a:r>
            <a:r>
              <a:rPr lang="da-DK" dirty="0" err="1" smtClean="0"/>
              <a:t>operability</a:t>
            </a:r>
            <a:r>
              <a:rPr lang="da-DK" dirty="0" smtClean="0"/>
              <a:t> with </a:t>
            </a:r>
            <a:r>
              <a:rPr lang="da-DK" dirty="0" err="1" smtClean="0"/>
              <a:t>other</a:t>
            </a:r>
            <a:r>
              <a:rPr lang="da-DK" dirty="0" smtClean="0"/>
              <a:t> metadata systems</a:t>
            </a:r>
          </a:p>
          <a:p>
            <a:pPr lvl="1"/>
            <a:r>
              <a:rPr lang="da-DK" dirty="0" err="1" smtClean="0"/>
              <a:t>Flexibility</a:t>
            </a:r>
            <a:r>
              <a:rPr lang="da-DK" dirty="0" smtClean="0"/>
              <a:t> in </a:t>
            </a:r>
            <a:r>
              <a:rPr lang="da-DK" dirty="0" err="1" smtClean="0"/>
              <a:t>presentation</a:t>
            </a:r>
            <a:endParaRPr lang="da-DK" dirty="0"/>
          </a:p>
          <a:p>
            <a:pPr lvl="1"/>
            <a:r>
              <a:rPr lang="da-DK" dirty="0" err="1" smtClean="0"/>
              <a:t>Easy</a:t>
            </a:r>
            <a:r>
              <a:rPr lang="da-DK" dirty="0" smtClean="0"/>
              <a:t> </a:t>
            </a:r>
            <a:r>
              <a:rPr lang="da-DK" dirty="0" err="1" smtClean="0"/>
              <a:t>exchange</a:t>
            </a:r>
            <a:r>
              <a:rPr lang="da-DK" dirty="0" smtClean="0"/>
              <a:t> with Eurostat and </a:t>
            </a:r>
            <a:r>
              <a:rPr lang="da-DK" dirty="0" err="1" smtClean="0"/>
              <a:t>others</a:t>
            </a:r>
            <a:endParaRPr lang="da-DK" dirty="0" smtClean="0"/>
          </a:p>
          <a:p>
            <a:r>
              <a:rPr lang="da-DK" dirty="0" smtClean="0">
                <a:solidFill>
                  <a:srgbClr val="FF0000"/>
                </a:solidFill>
              </a:rPr>
              <a:t>GSBPM</a:t>
            </a:r>
            <a:r>
              <a:rPr lang="da-DK" dirty="0">
                <a:solidFill>
                  <a:srgbClr val="FF0000"/>
                </a:solidFill>
              </a:rPr>
              <a:t>	</a:t>
            </a:r>
            <a:r>
              <a:rPr lang="da-DK" dirty="0" smtClean="0">
                <a:solidFill>
                  <a:srgbClr val="FF0000"/>
                </a:solidFill>
              </a:rPr>
              <a:t>	</a:t>
            </a:r>
            <a:r>
              <a:rPr lang="da-DK" dirty="0" smtClean="0"/>
              <a:t>to </a:t>
            </a:r>
            <a:r>
              <a:rPr lang="da-DK" dirty="0" err="1"/>
              <a:t>achieve</a:t>
            </a:r>
            <a:r>
              <a:rPr lang="da-DK" dirty="0" smtClean="0"/>
              <a:t>:</a:t>
            </a:r>
          </a:p>
          <a:p>
            <a:pPr lvl="1"/>
            <a:r>
              <a:rPr lang="da-DK" dirty="0" smtClean="0"/>
              <a:t>Metadata to </a:t>
            </a:r>
            <a:r>
              <a:rPr lang="da-DK" dirty="0" err="1" smtClean="0"/>
              <a:t>be</a:t>
            </a:r>
            <a:r>
              <a:rPr lang="da-DK" dirty="0" smtClean="0"/>
              <a:t> </a:t>
            </a:r>
            <a:r>
              <a:rPr lang="da-DK" dirty="0" err="1" smtClean="0"/>
              <a:t>produced</a:t>
            </a:r>
            <a:r>
              <a:rPr lang="da-DK" dirty="0" smtClean="0"/>
              <a:t> in the right processes</a:t>
            </a:r>
          </a:p>
          <a:p>
            <a:pPr lvl="1"/>
            <a:r>
              <a:rPr lang="da-DK" dirty="0" smtClean="0"/>
              <a:t>Metadata guidelines </a:t>
            </a:r>
            <a:r>
              <a:rPr lang="da-DK" dirty="0" err="1" smtClean="0"/>
              <a:t>integrated</a:t>
            </a:r>
            <a:r>
              <a:rPr lang="da-DK" dirty="0" smtClean="0"/>
              <a:t> with </a:t>
            </a:r>
            <a:r>
              <a:rPr lang="da-DK" dirty="0" err="1" smtClean="0"/>
              <a:t>other</a:t>
            </a:r>
            <a:r>
              <a:rPr lang="da-DK" dirty="0" smtClean="0"/>
              <a:t> guidelines</a:t>
            </a:r>
          </a:p>
        </p:txBody>
      </p:sp>
      <p:sp>
        <p:nvSpPr>
          <p:cNvPr id="4" name="Pladsholder til diasnummer 5"/>
          <p:cNvSpPr>
            <a:spLocks noGrp="1"/>
          </p:cNvSpPr>
          <p:nvPr>
            <p:ph type="sldNum" sz="quarter" idx="4294967295"/>
          </p:nvPr>
        </p:nvSpPr>
        <p:spPr>
          <a:xfrm>
            <a:off x="694826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FF0000"/>
                </a:solidFill>
              </a:defRPr>
            </a:lvl1pPr>
          </a:lstStyle>
          <a:p>
            <a:fld id="{6DDC7F05-F24B-7643-8BC7-5DD528BB8126}" type="slidenum">
              <a:rPr lang="da-DK" sz="800" smtClean="0">
                <a:solidFill>
                  <a:schemeClr val="bg1"/>
                </a:solidFill>
              </a:rPr>
              <a:pPr/>
              <a:t>18</a:t>
            </a:fld>
            <a:endParaRPr lang="da-DK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0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Statistics</a:t>
            </a:r>
            <a:r>
              <a:rPr lang="da-DK" dirty="0" smtClean="0"/>
              <a:t> and DDI in a </a:t>
            </a:r>
            <a:r>
              <a:rPr lang="da-DK" dirty="0" err="1" smtClean="0"/>
              <a:t>hurry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19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2527300" y="1268413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Study</a:t>
            </a:r>
          </a:p>
        </p:txBody>
      </p:sp>
      <p:sp>
        <p:nvSpPr>
          <p:cNvPr id="6" name="Cloud"/>
          <p:cNvSpPr>
            <a:spLocks noChangeAspect="1" noEditPoints="1" noChangeArrowheads="1"/>
          </p:cNvSpPr>
          <p:nvPr/>
        </p:nvSpPr>
        <p:spPr bwMode="auto">
          <a:xfrm>
            <a:off x="622300" y="4240213"/>
            <a:ext cx="2133600" cy="1219200"/>
          </a:xfrm>
          <a:custGeom>
            <a:avLst/>
            <a:gdLst>
              <a:gd name="T0" fmla="*/ 653711 w 21600"/>
              <a:gd name="T1" fmla="*/ 34408533 h 21600"/>
              <a:gd name="T2" fmla="*/ 105376133 w 21600"/>
              <a:gd name="T3" fmla="*/ 68743802 h 21600"/>
              <a:gd name="T4" fmla="*/ 210576640 w 21600"/>
              <a:gd name="T5" fmla="*/ 34408533 h 21600"/>
              <a:gd name="T6" fmla="*/ 105376133 w 21600"/>
              <a:gd name="T7" fmla="*/ 393468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      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    </a:t>
            </a:r>
            <a:r>
              <a:rPr lang="en-US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 flipV="1">
            <a:off x="1841500" y="2792413"/>
            <a:ext cx="12192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1003300" y="2792413"/>
            <a:ext cx="1371600" cy="457200"/>
          </a:xfrm>
          <a:prstGeom prst="wedgeRectCallout">
            <a:avLst>
              <a:gd name="adj1" fmla="val 42130"/>
              <a:gd name="adj2" fmla="val -243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measures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5651500" y="1268413"/>
            <a:ext cx="1295400" cy="14478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Survey</a:t>
            </a:r>
          </a:p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Instruments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3898900" y="1878013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4356100" y="1039813"/>
            <a:ext cx="990600" cy="457200"/>
          </a:xfrm>
          <a:prstGeom prst="wedgeRectCallout">
            <a:avLst>
              <a:gd name="adj1" fmla="val -49519"/>
              <a:gd name="adj2" fmla="val -243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using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6565900" y="37068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6718300" y="38592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6870700" y="40116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7023100" y="41640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7175500" y="43164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7327900" y="4468813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Questions</a:t>
            </a: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 flipH="1" flipV="1">
            <a:off x="6642100" y="2792413"/>
            <a:ext cx="762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7175500" y="2716213"/>
            <a:ext cx="1600200" cy="381000"/>
          </a:xfrm>
          <a:prstGeom prst="wedgeRectCallout">
            <a:avLst>
              <a:gd name="adj1" fmla="val -55653"/>
              <a:gd name="adj2" fmla="val -641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made up of</a:t>
            </a:r>
          </a:p>
        </p:txBody>
      </p:sp>
      <p:sp>
        <p:nvSpPr>
          <p:cNvPr id="20" name="AutoShape 23"/>
          <p:cNvSpPr>
            <a:spLocks noChangeArrowheads="1"/>
          </p:cNvSpPr>
          <p:nvPr/>
        </p:nvSpPr>
        <p:spPr bwMode="auto">
          <a:xfrm>
            <a:off x="4432300" y="45450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1" name="AutoShape 24"/>
          <p:cNvSpPr>
            <a:spLocks noChangeArrowheads="1"/>
          </p:cNvSpPr>
          <p:nvPr/>
        </p:nvSpPr>
        <p:spPr bwMode="auto">
          <a:xfrm>
            <a:off x="4584700" y="46974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2" name="AutoShape 25"/>
          <p:cNvSpPr>
            <a:spLocks noChangeArrowheads="1"/>
          </p:cNvSpPr>
          <p:nvPr/>
        </p:nvSpPr>
        <p:spPr bwMode="auto">
          <a:xfrm>
            <a:off x="4737100" y="48498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3" name="AutoShape 26"/>
          <p:cNvSpPr>
            <a:spLocks noChangeArrowheads="1"/>
          </p:cNvSpPr>
          <p:nvPr/>
        </p:nvSpPr>
        <p:spPr bwMode="auto">
          <a:xfrm>
            <a:off x="4889500" y="50022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4" name="AutoShape 27"/>
          <p:cNvSpPr>
            <a:spLocks noChangeArrowheads="1"/>
          </p:cNvSpPr>
          <p:nvPr/>
        </p:nvSpPr>
        <p:spPr bwMode="auto">
          <a:xfrm>
            <a:off x="5041900" y="51546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5" name="AutoShape 28"/>
          <p:cNvSpPr>
            <a:spLocks noChangeArrowheads="1"/>
          </p:cNvSpPr>
          <p:nvPr/>
        </p:nvSpPr>
        <p:spPr bwMode="auto">
          <a:xfrm>
            <a:off x="3975100" y="45450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6" name="AutoShape 29"/>
          <p:cNvSpPr>
            <a:spLocks noChangeArrowheads="1"/>
          </p:cNvSpPr>
          <p:nvPr/>
        </p:nvSpPr>
        <p:spPr bwMode="auto">
          <a:xfrm>
            <a:off x="4127500" y="46974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7" name="AutoShape 30"/>
          <p:cNvSpPr>
            <a:spLocks noChangeArrowheads="1"/>
          </p:cNvSpPr>
          <p:nvPr/>
        </p:nvSpPr>
        <p:spPr bwMode="auto">
          <a:xfrm>
            <a:off x="4279900" y="48498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8" name="AutoShape 31"/>
          <p:cNvSpPr>
            <a:spLocks noChangeArrowheads="1"/>
          </p:cNvSpPr>
          <p:nvPr/>
        </p:nvSpPr>
        <p:spPr bwMode="auto">
          <a:xfrm>
            <a:off x="4432300" y="50022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9" name="AutoShape 32"/>
          <p:cNvSpPr>
            <a:spLocks noChangeArrowheads="1"/>
          </p:cNvSpPr>
          <p:nvPr/>
        </p:nvSpPr>
        <p:spPr bwMode="auto">
          <a:xfrm>
            <a:off x="4584700" y="5154613"/>
            <a:ext cx="381000" cy="3810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30" name="Oval 33"/>
          <p:cNvSpPr>
            <a:spLocks noChangeArrowheads="1"/>
          </p:cNvSpPr>
          <p:nvPr/>
        </p:nvSpPr>
        <p:spPr bwMode="auto">
          <a:xfrm>
            <a:off x="3670300" y="4164013"/>
            <a:ext cx="21336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4127500" y="5535613"/>
            <a:ext cx="12875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da-DK" b="1" dirty="0">
                <a:solidFill>
                  <a:srgbClr val="FF0000"/>
                </a:solidFill>
                <a:ea typeface="MS PGothic" pitchFamily="34" charset="-128"/>
              </a:rPr>
              <a:t>Universes</a:t>
            </a: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 flipH="1" flipV="1">
            <a:off x="3746500" y="2792413"/>
            <a:ext cx="6096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33" name="AutoShape 36"/>
          <p:cNvSpPr>
            <a:spLocks noChangeArrowheads="1"/>
          </p:cNvSpPr>
          <p:nvPr/>
        </p:nvSpPr>
        <p:spPr bwMode="auto">
          <a:xfrm>
            <a:off x="4660900" y="3325813"/>
            <a:ext cx="914400" cy="304800"/>
          </a:xfrm>
          <a:prstGeom prst="wedgeRectCallout">
            <a:avLst>
              <a:gd name="adj1" fmla="val -109204"/>
              <a:gd name="adj2" fmla="val -16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411399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>
          <a:xfrm>
            <a:off x="8686938" y="6525344"/>
            <a:ext cx="416942" cy="270537"/>
          </a:xfrm>
        </p:spPr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20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239" y="5667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6639" y="7191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9039" y="8715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91439" y="10239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43839" y="11763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96239" y="1328787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Questions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34239" y="42763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6639" y="44287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39039" y="45811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791439" y="47335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943839" y="48859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096239" y="5038328"/>
            <a:ext cx="14478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Responses</a:t>
            </a: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V="1">
            <a:off x="1324839" y="2166986"/>
            <a:ext cx="0" cy="1933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79023" y="2676597"/>
            <a:ext cx="979116" cy="457200"/>
          </a:xfrm>
          <a:prstGeom prst="wedgeRectCallout">
            <a:avLst>
              <a:gd name="adj1" fmla="val 66297"/>
              <a:gd name="adj2" fmla="val 12326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collect</a:t>
            </a:r>
          </a:p>
        </p:txBody>
      </p:sp>
      <p:sp>
        <p:nvSpPr>
          <p:cNvPr id="19" name="AutoShape 19" descr="Large grid"/>
          <p:cNvSpPr>
            <a:spLocks noChangeArrowheads="1"/>
          </p:cNvSpPr>
          <p:nvPr/>
        </p:nvSpPr>
        <p:spPr bwMode="auto">
          <a:xfrm>
            <a:off x="3185575" y="4581128"/>
            <a:ext cx="1905000" cy="1219200"/>
          </a:xfrm>
          <a:prstGeom prst="cube">
            <a:avLst>
              <a:gd name="adj" fmla="val 25000"/>
            </a:avLst>
          </a:prstGeom>
          <a:pattFill prst="lgGrid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>
            <a:off x="2598783" y="5419328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21" name="AutoShape 21"/>
          <p:cNvSpPr>
            <a:spLocks noChangeArrowheads="1"/>
          </p:cNvSpPr>
          <p:nvPr/>
        </p:nvSpPr>
        <p:spPr bwMode="auto">
          <a:xfrm>
            <a:off x="2141583" y="3910111"/>
            <a:ext cx="1447800" cy="381000"/>
          </a:xfrm>
          <a:prstGeom prst="wedgeRectCallout">
            <a:avLst>
              <a:gd name="adj1" fmla="val 6468"/>
              <a:gd name="adj2" fmla="val 3241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resulting in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419707" y="4931171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da-DK" b="1" dirty="0">
                <a:solidFill>
                  <a:srgbClr val="FF0000"/>
                </a:solidFill>
                <a:ea typeface="MS PGothic" pitchFamily="34" charset="-128"/>
              </a:rPr>
              <a:t>Data Files</a:t>
            </a: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2979783" y="566787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3132183" y="719187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3284583" y="871587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3436983" y="1023987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nl-NL" altLang="da-DK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3589383" y="1176387"/>
            <a:ext cx="1676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Variables</a:t>
            </a: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4275183" y="2090787"/>
            <a:ext cx="0" cy="1912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29" name="AutoShape 31"/>
          <p:cNvSpPr>
            <a:spLocks noChangeArrowheads="1"/>
          </p:cNvSpPr>
          <p:nvPr/>
        </p:nvSpPr>
        <p:spPr bwMode="auto">
          <a:xfrm>
            <a:off x="2598783" y="2856755"/>
            <a:ext cx="1286296" cy="381000"/>
          </a:xfrm>
          <a:prstGeom prst="wedgeRectCallout">
            <a:avLst>
              <a:gd name="adj1" fmla="val 64546"/>
              <a:gd name="adj2" fmla="val 118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made up of</a:t>
            </a:r>
          </a:p>
        </p:txBody>
      </p:sp>
      <p:sp>
        <p:nvSpPr>
          <p:cNvPr id="30" name="AutoShape 32"/>
          <p:cNvSpPr>
            <a:spLocks noChangeArrowheads="1"/>
          </p:cNvSpPr>
          <p:nvPr/>
        </p:nvSpPr>
        <p:spPr bwMode="auto">
          <a:xfrm>
            <a:off x="6633159" y="414387"/>
            <a:ext cx="1600200" cy="1447800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Categories/</a:t>
            </a:r>
          </a:p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Codes,</a:t>
            </a:r>
          </a:p>
          <a:p>
            <a:pPr algn="ctr" eaLnBrk="1" hangingPunct="1"/>
            <a:r>
              <a:rPr lang="en-US" altLang="da-DK" b="1" dirty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Numbers</a:t>
            </a: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 flipH="1">
            <a:off x="5363439" y="1328787"/>
            <a:ext cx="111712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32" name="AutoShape 35"/>
          <p:cNvSpPr>
            <a:spLocks noChangeArrowheads="1"/>
          </p:cNvSpPr>
          <p:nvPr/>
        </p:nvSpPr>
        <p:spPr bwMode="auto">
          <a:xfrm>
            <a:off x="4808583" y="250874"/>
            <a:ext cx="1676400" cy="381000"/>
          </a:xfrm>
          <a:prstGeom prst="wedgeRectCallout">
            <a:avLst>
              <a:gd name="adj1" fmla="val 9373"/>
              <a:gd name="adj2" fmla="val 21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with values of</a:t>
            </a:r>
          </a:p>
        </p:txBody>
      </p:sp>
      <p:pic>
        <p:nvPicPr>
          <p:cNvPr id="33" name="Picture 2" descr="http://www.dougandmarsha.com/Rubiks_Cube_Users_Guide_files/image001.gif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491" y="4100610"/>
            <a:ext cx="1643319" cy="187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Line 34"/>
          <p:cNvSpPr>
            <a:spLocks noChangeShapeType="1"/>
          </p:cNvSpPr>
          <p:nvPr/>
        </p:nvSpPr>
        <p:spPr bwMode="auto">
          <a:xfrm flipH="1" flipV="1">
            <a:off x="4808582" y="2090787"/>
            <a:ext cx="2176039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>
            <a:off x="4721829" y="2722096"/>
            <a:ext cx="1470706" cy="411702"/>
          </a:xfrm>
          <a:prstGeom prst="wedgeRectCallout">
            <a:avLst>
              <a:gd name="adj1" fmla="val 39015"/>
              <a:gd name="adj2" fmla="val -9264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 smtClean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used for</a:t>
            </a:r>
            <a:endParaRPr lang="en-US" altLang="da-DK" i="1" dirty="0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>
            <a:off x="6741604" y="5856386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da-DK" b="1" dirty="0" smtClean="0">
                <a:solidFill>
                  <a:srgbClr val="FF0000"/>
                </a:solidFill>
                <a:ea typeface="MS PGothic" pitchFamily="34" charset="-128"/>
              </a:rPr>
              <a:t>N-Cubes</a:t>
            </a:r>
            <a:endParaRPr lang="en-US" altLang="da-DK" b="1" dirty="0">
              <a:solidFill>
                <a:srgbClr val="FF0000"/>
              </a:solidFill>
              <a:ea typeface="MS PGothic" pitchFamily="34" charset="-128"/>
            </a:endParaRPr>
          </a:p>
        </p:txBody>
      </p:sp>
      <p:sp>
        <p:nvSpPr>
          <p:cNvPr id="37" name="AutoShape 31"/>
          <p:cNvSpPr>
            <a:spLocks noChangeArrowheads="1"/>
          </p:cNvSpPr>
          <p:nvPr/>
        </p:nvSpPr>
        <p:spPr bwMode="auto">
          <a:xfrm>
            <a:off x="7776711" y="3611611"/>
            <a:ext cx="1331640" cy="392113"/>
          </a:xfrm>
          <a:prstGeom prst="wedgeRectCallout">
            <a:avLst>
              <a:gd name="adj1" fmla="val -70397"/>
              <a:gd name="adj2" fmla="val 3702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 smtClean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Used for</a:t>
            </a:r>
            <a:endParaRPr lang="en-US" altLang="da-DK" i="1" dirty="0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 flipV="1">
            <a:off x="7433259" y="3611610"/>
            <a:ext cx="0" cy="48886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39" name="AutoShape 32"/>
          <p:cNvSpPr>
            <a:spLocks noChangeArrowheads="1"/>
          </p:cNvSpPr>
          <p:nvPr/>
        </p:nvSpPr>
        <p:spPr bwMode="auto">
          <a:xfrm>
            <a:off x="7090143" y="2033637"/>
            <a:ext cx="1600200" cy="1447800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b="1" dirty="0" smtClean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Dimensions</a:t>
            </a:r>
          </a:p>
          <a:p>
            <a:pPr algn="ctr" eaLnBrk="1" hangingPunct="1"/>
            <a:r>
              <a:rPr lang="en-US" altLang="da-DK" b="1" dirty="0" smtClean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Measures and</a:t>
            </a:r>
          </a:p>
          <a:p>
            <a:pPr algn="ctr" eaLnBrk="1" hangingPunct="1"/>
            <a:r>
              <a:rPr lang="en-US" altLang="da-DK" b="1" dirty="0" smtClean="0">
                <a:solidFill>
                  <a:srgbClr val="FF0000"/>
                </a:solidFill>
                <a:latin typeface="Calibri" pitchFamily="34" charset="0"/>
                <a:ea typeface="MS PGothic" pitchFamily="34" charset="-128"/>
              </a:rPr>
              <a:t>attributes</a:t>
            </a:r>
            <a:endParaRPr lang="en-US" altLang="da-DK" b="1" dirty="0">
              <a:solidFill>
                <a:srgbClr val="FF0000"/>
              </a:solidFill>
              <a:latin typeface="Calibri" pitchFamily="34" charset="0"/>
              <a:ea typeface="MS PGothic" pitchFamily="34" charset="-128"/>
            </a:endParaRPr>
          </a:p>
        </p:txBody>
      </p:sp>
      <p:sp>
        <p:nvSpPr>
          <p:cNvPr id="40" name="Line 34"/>
          <p:cNvSpPr>
            <a:spLocks noChangeShapeType="1"/>
          </p:cNvSpPr>
          <p:nvPr/>
        </p:nvSpPr>
        <p:spPr bwMode="auto">
          <a:xfrm flipH="1">
            <a:off x="5265783" y="5114526"/>
            <a:ext cx="1169708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41" name="AutoShape 31"/>
          <p:cNvSpPr>
            <a:spLocks noChangeArrowheads="1"/>
          </p:cNvSpPr>
          <p:nvPr/>
        </p:nvSpPr>
        <p:spPr bwMode="auto">
          <a:xfrm>
            <a:off x="4960983" y="3909830"/>
            <a:ext cx="1524000" cy="381282"/>
          </a:xfrm>
          <a:prstGeom prst="wedgeRectCallout">
            <a:avLst>
              <a:gd name="adj1" fmla="val -7510"/>
              <a:gd name="adj2" fmla="val 22277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da-DK" i="1" dirty="0" smtClean="0">
                <a:solidFill>
                  <a:prstClr val="black"/>
                </a:solidFill>
                <a:latin typeface="Calibri" pitchFamily="34" charset="0"/>
                <a:ea typeface="MS PGothic" pitchFamily="34" charset="-128"/>
              </a:rPr>
              <a:t>used for</a:t>
            </a:r>
            <a:endParaRPr lang="en-US" altLang="da-DK" i="1" dirty="0">
              <a:solidFill>
                <a:prstClr val="black"/>
              </a:solidFill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864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dirty="0" err="1" smtClean="0"/>
              <a:t>Classical</a:t>
            </a:r>
            <a:r>
              <a:rPr lang="da-DK" altLang="da-DK" dirty="0" smtClean="0"/>
              <a:t> </a:t>
            </a:r>
            <a:r>
              <a:rPr lang="da-DK" altLang="da-DK" dirty="0"/>
              <a:t>metadata elements:</a:t>
            </a:r>
            <a:br>
              <a:rPr lang="da-DK" altLang="da-DK" dirty="0"/>
            </a:br>
            <a:r>
              <a:rPr lang="da-DK" altLang="da-DK" dirty="0">
                <a:solidFill>
                  <a:srgbClr val="FF0000"/>
                </a:solidFill>
              </a:rPr>
              <a:t>”The </a:t>
            </a:r>
            <a:r>
              <a:rPr lang="da-DK" altLang="da-DK" dirty="0" err="1">
                <a:solidFill>
                  <a:srgbClr val="FF0000"/>
                </a:solidFill>
              </a:rPr>
              <a:t>Diamond</a:t>
            </a:r>
            <a:r>
              <a:rPr lang="da-DK" altLang="da-DK" dirty="0">
                <a:solidFill>
                  <a:srgbClr val="FF0000"/>
                </a:solidFill>
              </a:rPr>
              <a:t> model”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21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8888" y="4148138"/>
            <a:ext cx="1871662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Hvad betyder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563938" y="2922588"/>
            <a:ext cx="2016125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Quality declaration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11863" y="3786188"/>
            <a:ext cx="1871662" cy="3587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 dirty="0">
                <a:solidFill>
                  <a:prstClr val="black"/>
                </a:solidFill>
              </a:rPr>
              <a:t>Variable/dataset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16013" y="3787775"/>
            <a:ext cx="2016125" cy="360363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Concept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011863" y="4144963"/>
            <a:ext cx="1871662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Variable database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348038" y="5443538"/>
            <a:ext cx="2447925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Klassifikationsdatabase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348038" y="5083175"/>
            <a:ext cx="2447925" cy="3587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Classifications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563938" y="2562225"/>
            <a:ext cx="2016125" cy="3587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Methods/ ”Survey”</a:t>
            </a: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4572000" y="3282950"/>
            <a:ext cx="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V="1">
            <a:off x="2195513" y="2922588"/>
            <a:ext cx="13684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5580063" y="2922588"/>
            <a:ext cx="14398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2124075" y="4506913"/>
            <a:ext cx="1223963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5795963" y="4506913"/>
            <a:ext cx="11525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3132138" y="4146550"/>
            <a:ext cx="2879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260475" y="2562225"/>
            <a:ext cx="1871663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da-DK" dirty="0" err="1">
                <a:solidFill>
                  <a:prstClr val="white">
                    <a:lumMod val="65000"/>
                  </a:prstClr>
                </a:solidFill>
                <a:cs typeface="Arial" charset="0"/>
              </a:rPr>
              <a:t>StatBank</a:t>
            </a:r>
            <a:endParaRPr lang="da-DK" dirty="0">
              <a:solidFill>
                <a:prstClr val="white">
                  <a:lumMod val="65000"/>
                </a:prstClr>
              </a:solidFill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011863" y="2562225"/>
            <a:ext cx="2089150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da-DK" dirty="0">
                <a:solidFill>
                  <a:prstClr val="white">
                    <a:lumMod val="65000"/>
                  </a:prstClr>
                </a:solidFill>
                <a:cs typeface="Arial" charset="0"/>
              </a:rPr>
              <a:t>Methods </a:t>
            </a:r>
            <a:r>
              <a:rPr lang="da-DK" dirty="0" err="1">
                <a:solidFill>
                  <a:prstClr val="white">
                    <a:lumMod val="65000"/>
                  </a:prstClr>
                </a:solidFill>
                <a:cs typeface="Arial" charset="0"/>
              </a:rPr>
              <a:t>papers</a:t>
            </a:r>
            <a:endParaRPr lang="da-DK" dirty="0">
              <a:solidFill>
                <a:prstClr val="white">
                  <a:lumMod val="65000"/>
                </a:prstClr>
              </a:solidFill>
              <a:cs typeface="Arial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V="1">
            <a:off x="2195513" y="2922588"/>
            <a:ext cx="0" cy="86360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da-DK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V="1">
            <a:off x="3132138" y="2778125"/>
            <a:ext cx="431800" cy="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da-DK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V="1">
            <a:off x="5580063" y="2778125"/>
            <a:ext cx="431800" cy="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>
              <a:defRPr/>
            </a:pPr>
            <a:endParaRPr lang="da-DK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348038" y="5443538"/>
            <a:ext cx="2447925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Class database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116013" y="4146550"/>
            <a:ext cx="2016125" cy="3587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da-DK" altLang="da-DK">
                <a:solidFill>
                  <a:prstClr val="black"/>
                </a:solidFill>
              </a:rPr>
              <a:t>Concepts database</a:t>
            </a:r>
          </a:p>
        </p:txBody>
      </p:sp>
    </p:spTree>
    <p:extLst>
      <p:ext uri="{BB962C8B-B14F-4D97-AF65-F5344CB8AC3E}">
        <p14:creationId xmlns:p14="http://schemas.microsoft.com/office/powerpoint/2010/main" val="95536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>
                <a:solidFill>
                  <a:prstClr val="white"/>
                </a:solidFill>
              </a:rPr>
              <a:pPr/>
              <a:t>22</a:t>
            </a:fld>
            <a:endParaRPr lang="da-DK" dirty="0">
              <a:solidFill>
                <a:prstClr val="white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04800" y="0"/>
            <a:ext cx="8839200" cy="6019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52399"/>
            <a:ext cx="9144000" cy="5973764"/>
          </a:xfrm>
          <a:prstGeom prst="rect">
            <a:avLst/>
          </a:prstGeom>
          <a:solidFill>
            <a:srgbClr val="CEDFD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300" b="1" dirty="0" smtClean="0">
                <a:solidFill>
                  <a:srgbClr val="FF0000"/>
                </a:solidFill>
              </a:rPr>
              <a:t>Dissemination aspects</a:t>
            </a:r>
            <a:endParaRPr lang="en-US" altLang="en-US" sz="3300" b="1" dirty="0">
              <a:solidFill>
                <a:srgbClr val="FF0000"/>
              </a:solidFill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0" y="-42334"/>
            <a:ext cx="9144000" cy="6019800"/>
            <a:chOff x="0" y="0"/>
            <a:chExt cx="6233" cy="4313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0"/>
              <a:ext cx="6233" cy="4313"/>
            </a:xfrm>
            <a:custGeom>
              <a:avLst/>
              <a:gdLst>
                <a:gd name="T0" fmla="*/ 954 w 6233"/>
                <a:gd name="T1" fmla="*/ 4311 h 4313"/>
                <a:gd name="T2" fmla="*/ 940 w 6233"/>
                <a:gd name="T3" fmla="*/ 3623 h 4313"/>
                <a:gd name="T4" fmla="*/ 837 w 6233"/>
                <a:gd name="T5" fmla="*/ 3009 h 4313"/>
                <a:gd name="T6" fmla="*/ 661 w 6233"/>
                <a:gd name="T7" fmla="*/ 2233 h 4313"/>
                <a:gd name="T8" fmla="*/ 354 w 6233"/>
                <a:gd name="T9" fmla="*/ 1414 h 4313"/>
                <a:gd name="T10" fmla="*/ 76 w 6233"/>
                <a:gd name="T11" fmla="*/ 1077 h 4313"/>
                <a:gd name="T12" fmla="*/ 486 w 6233"/>
                <a:gd name="T13" fmla="*/ 1019 h 4313"/>
                <a:gd name="T14" fmla="*/ 1100 w 6233"/>
                <a:gd name="T15" fmla="*/ 945 h 4313"/>
                <a:gd name="T16" fmla="*/ 1759 w 6233"/>
                <a:gd name="T17" fmla="*/ 770 h 4313"/>
                <a:gd name="T18" fmla="*/ 2608 w 6233"/>
                <a:gd name="T19" fmla="*/ 462 h 4313"/>
                <a:gd name="T20" fmla="*/ 3252 w 6233"/>
                <a:gd name="T21" fmla="*/ 23 h 4313"/>
                <a:gd name="T22" fmla="*/ 3866 w 6233"/>
                <a:gd name="T23" fmla="*/ 462 h 4313"/>
                <a:gd name="T24" fmla="*/ 4422 w 6233"/>
                <a:gd name="T25" fmla="*/ 755 h 4313"/>
                <a:gd name="T26" fmla="*/ 4935 w 6233"/>
                <a:gd name="T27" fmla="*/ 931 h 4313"/>
                <a:gd name="T28" fmla="*/ 5622 w 6233"/>
                <a:gd name="T29" fmla="*/ 1048 h 4313"/>
                <a:gd name="T30" fmla="*/ 6164 w 6233"/>
                <a:gd name="T31" fmla="*/ 1106 h 4313"/>
                <a:gd name="T32" fmla="*/ 6018 w 6233"/>
                <a:gd name="T33" fmla="*/ 1355 h 4313"/>
                <a:gd name="T34" fmla="*/ 5725 w 6233"/>
                <a:gd name="T35" fmla="*/ 1984 h 4313"/>
                <a:gd name="T36" fmla="*/ 5520 w 6233"/>
                <a:gd name="T37" fmla="*/ 2877 h 4313"/>
                <a:gd name="T38" fmla="*/ 5432 w 6233"/>
                <a:gd name="T39" fmla="*/ 3565 h 4313"/>
                <a:gd name="T40" fmla="*/ 5447 w 6233"/>
                <a:gd name="T41" fmla="*/ 4121 h 4313"/>
                <a:gd name="T42" fmla="*/ 5461 w 6233"/>
                <a:gd name="T43" fmla="*/ 4282 h 4313"/>
                <a:gd name="T44" fmla="*/ 5461 w 6233"/>
                <a:gd name="T45" fmla="*/ 4312 h 4313"/>
                <a:gd name="T46" fmla="*/ 6232 w 6233"/>
                <a:gd name="T47" fmla="*/ 4312 h 4313"/>
                <a:gd name="T48" fmla="*/ 6232 w 6233"/>
                <a:gd name="T49" fmla="*/ 0 h 4313"/>
                <a:gd name="T50" fmla="*/ 0 w 6233"/>
                <a:gd name="T51" fmla="*/ 0 h 4313"/>
                <a:gd name="T52" fmla="*/ 0 w 6233"/>
                <a:gd name="T53" fmla="*/ 4312 h 4313"/>
                <a:gd name="T54" fmla="*/ 954 w 6233"/>
                <a:gd name="T55" fmla="*/ 4311 h 4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233" h="4313">
                  <a:moveTo>
                    <a:pt x="954" y="4311"/>
                  </a:moveTo>
                  <a:lnTo>
                    <a:pt x="940" y="3623"/>
                  </a:lnTo>
                  <a:lnTo>
                    <a:pt x="837" y="3009"/>
                  </a:lnTo>
                  <a:lnTo>
                    <a:pt x="661" y="2233"/>
                  </a:lnTo>
                  <a:lnTo>
                    <a:pt x="354" y="1414"/>
                  </a:lnTo>
                  <a:lnTo>
                    <a:pt x="76" y="1077"/>
                  </a:lnTo>
                  <a:lnTo>
                    <a:pt x="486" y="1019"/>
                  </a:lnTo>
                  <a:lnTo>
                    <a:pt x="1100" y="945"/>
                  </a:lnTo>
                  <a:lnTo>
                    <a:pt x="1759" y="770"/>
                  </a:lnTo>
                  <a:lnTo>
                    <a:pt x="2608" y="462"/>
                  </a:lnTo>
                  <a:lnTo>
                    <a:pt x="3252" y="23"/>
                  </a:lnTo>
                  <a:lnTo>
                    <a:pt x="3866" y="462"/>
                  </a:lnTo>
                  <a:lnTo>
                    <a:pt x="4422" y="755"/>
                  </a:lnTo>
                  <a:lnTo>
                    <a:pt x="4935" y="931"/>
                  </a:lnTo>
                  <a:lnTo>
                    <a:pt x="5622" y="1048"/>
                  </a:lnTo>
                  <a:lnTo>
                    <a:pt x="6164" y="1106"/>
                  </a:lnTo>
                  <a:lnTo>
                    <a:pt x="6018" y="1355"/>
                  </a:lnTo>
                  <a:lnTo>
                    <a:pt x="5725" y="1984"/>
                  </a:lnTo>
                  <a:lnTo>
                    <a:pt x="5520" y="2877"/>
                  </a:lnTo>
                  <a:lnTo>
                    <a:pt x="5432" y="3565"/>
                  </a:lnTo>
                  <a:lnTo>
                    <a:pt x="5447" y="4121"/>
                  </a:lnTo>
                  <a:lnTo>
                    <a:pt x="5461" y="4282"/>
                  </a:lnTo>
                  <a:lnTo>
                    <a:pt x="5461" y="4312"/>
                  </a:lnTo>
                  <a:lnTo>
                    <a:pt x="6232" y="4312"/>
                  </a:lnTo>
                  <a:lnTo>
                    <a:pt x="6232" y="0"/>
                  </a:lnTo>
                  <a:lnTo>
                    <a:pt x="0" y="0"/>
                  </a:lnTo>
                  <a:lnTo>
                    <a:pt x="0" y="4312"/>
                  </a:lnTo>
                  <a:lnTo>
                    <a:pt x="954" y="4311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76" y="1340"/>
              <a:ext cx="221" cy="2870"/>
            </a:xfrm>
            <a:custGeom>
              <a:avLst/>
              <a:gdLst>
                <a:gd name="T0" fmla="*/ 0 w 221"/>
                <a:gd name="T1" fmla="*/ 0 h 2870"/>
                <a:gd name="T2" fmla="*/ 205 w 221"/>
                <a:gd name="T3" fmla="*/ 1244 h 2870"/>
                <a:gd name="T4" fmla="*/ 220 w 221"/>
                <a:gd name="T5" fmla="*/ 1961 h 2870"/>
                <a:gd name="T6" fmla="*/ 205 w 221"/>
                <a:gd name="T7" fmla="*/ 2869 h 2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" h="2870">
                  <a:moveTo>
                    <a:pt x="0" y="0"/>
                  </a:moveTo>
                  <a:lnTo>
                    <a:pt x="205" y="1244"/>
                  </a:lnTo>
                  <a:lnTo>
                    <a:pt x="220" y="1961"/>
                  </a:lnTo>
                  <a:lnTo>
                    <a:pt x="205" y="286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93" y="1355"/>
              <a:ext cx="294" cy="2943"/>
            </a:xfrm>
            <a:custGeom>
              <a:avLst/>
              <a:gdLst>
                <a:gd name="T0" fmla="*/ 0 w 294"/>
                <a:gd name="T1" fmla="*/ 0 h 2943"/>
                <a:gd name="T2" fmla="*/ 147 w 294"/>
                <a:gd name="T3" fmla="*/ 615 h 2943"/>
                <a:gd name="T4" fmla="*/ 293 w 294"/>
                <a:gd name="T5" fmla="*/ 1537 h 2943"/>
                <a:gd name="T6" fmla="*/ 293 w 294"/>
                <a:gd name="T7" fmla="*/ 1946 h 2943"/>
                <a:gd name="T8" fmla="*/ 293 w 294"/>
                <a:gd name="T9" fmla="*/ 2942 h 2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2943">
                  <a:moveTo>
                    <a:pt x="0" y="0"/>
                  </a:moveTo>
                  <a:lnTo>
                    <a:pt x="147" y="615"/>
                  </a:lnTo>
                  <a:lnTo>
                    <a:pt x="293" y="1537"/>
                  </a:lnTo>
                  <a:lnTo>
                    <a:pt x="293" y="1946"/>
                  </a:lnTo>
                  <a:lnTo>
                    <a:pt x="293" y="2942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266" y="1355"/>
              <a:ext cx="484" cy="2958"/>
            </a:xfrm>
            <a:custGeom>
              <a:avLst/>
              <a:gdLst>
                <a:gd name="T0" fmla="*/ 0 w 484"/>
                <a:gd name="T1" fmla="*/ 0 h 2958"/>
                <a:gd name="T2" fmla="*/ 264 w 484"/>
                <a:gd name="T3" fmla="*/ 834 h 2958"/>
                <a:gd name="T4" fmla="*/ 425 w 484"/>
                <a:gd name="T5" fmla="*/ 1698 h 2958"/>
                <a:gd name="T6" fmla="*/ 483 w 484"/>
                <a:gd name="T7" fmla="*/ 2957 h 2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4" h="2958">
                  <a:moveTo>
                    <a:pt x="0" y="0"/>
                  </a:moveTo>
                  <a:lnTo>
                    <a:pt x="264" y="834"/>
                  </a:lnTo>
                  <a:lnTo>
                    <a:pt x="425" y="1698"/>
                  </a:lnTo>
                  <a:lnTo>
                    <a:pt x="483" y="2957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5637" y="1267"/>
              <a:ext cx="543" cy="3016"/>
            </a:xfrm>
            <a:custGeom>
              <a:avLst/>
              <a:gdLst>
                <a:gd name="T0" fmla="*/ 542 w 543"/>
                <a:gd name="T1" fmla="*/ 0 h 3016"/>
                <a:gd name="T2" fmla="*/ 263 w 543"/>
                <a:gd name="T3" fmla="*/ 791 h 3016"/>
                <a:gd name="T4" fmla="*/ 117 w 543"/>
                <a:gd name="T5" fmla="*/ 1391 h 3016"/>
                <a:gd name="T6" fmla="*/ 29 w 543"/>
                <a:gd name="T7" fmla="*/ 2152 h 3016"/>
                <a:gd name="T8" fmla="*/ 0 w 543"/>
                <a:gd name="T9" fmla="*/ 2854 h 3016"/>
                <a:gd name="T10" fmla="*/ 0 w 543"/>
                <a:gd name="T11" fmla="*/ 301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3" h="3016">
                  <a:moveTo>
                    <a:pt x="542" y="0"/>
                  </a:moveTo>
                  <a:lnTo>
                    <a:pt x="263" y="791"/>
                  </a:lnTo>
                  <a:lnTo>
                    <a:pt x="117" y="1391"/>
                  </a:lnTo>
                  <a:lnTo>
                    <a:pt x="29" y="2152"/>
                  </a:lnTo>
                  <a:lnTo>
                    <a:pt x="0" y="2854"/>
                  </a:lnTo>
                  <a:lnTo>
                    <a:pt x="0" y="3015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930" y="1267"/>
              <a:ext cx="235" cy="3046"/>
            </a:xfrm>
            <a:custGeom>
              <a:avLst/>
              <a:gdLst>
                <a:gd name="T0" fmla="*/ 234 w 235"/>
                <a:gd name="T1" fmla="*/ 0 h 3046"/>
                <a:gd name="T2" fmla="*/ 58 w 235"/>
                <a:gd name="T3" fmla="*/ 1186 h 3046"/>
                <a:gd name="T4" fmla="*/ 0 w 235"/>
                <a:gd name="T5" fmla="*/ 2108 h 3046"/>
                <a:gd name="T6" fmla="*/ 0 w 235"/>
                <a:gd name="T7" fmla="*/ 3045 h 3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5" h="3046">
                  <a:moveTo>
                    <a:pt x="234" y="0"/>
                  </a:moveTo>
                  <a:lnTo>
                    <a:pt x="58" y="1186"/>
                  </a:lnTo>
                  <a:lnTo>
                    <a:pt x="0" y="2108"/>
                  </a:lnTo>
                  <a:lnTo>
                    <a:pt x="0" y="3045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6032" y="1282"/>
              <a:ext cx="191" cy="3030"/>
            </a:xfrm>
            <a:custGeom>
              <a:avLst/>
              <a:gdLst>
                <a:gd name="T0" fmla="*/ 190 w 191"/>
                <a:gd name="T1" fmla="*/ 0 h 3030"/>
                <a:gd name="T2" fmla="*/ 103 w 191"/>
                <a:gd name="T3" fmla="*/ 1098 h 3030"/>
                <a:gd name="T4" fmla="*/ 0 w 191"/>
                <a:gd name="T5" fmla="*/ 2283 h 3030"/>
                <a:gd name="T6" fmla="*/ 59 w 191"/>
                <a:gd name="T7" fmla="*/ 3029 h 3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3030">
                  <a:moveTo>
                    <a:pt x="190" y="0"/>
                  </a:moveTo>
                  <a:lnTo>
                    <a:pt x="103" y="1098"/>
                  </a:lnTo>
                  <a:lnTo>
                    <a:pt x="0" y="2283"/>
                  </a:lnTo>
                  <a:lnTo>
                    <a:pt x="59" y="302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3" y="858"/>
              <a:ext cx="235" cy="469"/>
            </a:xfrm>
            <a:custGeom>
              <a:avLst/>
              <a:gdLst>
                <a:gd name="T0" fmla="*/ 0 w 235"/>
                <a:gd name="T1" fmla="*/ 0 h 469"/>
                <a:gd name="T2" fmla="*/ 161 w 235"/>
                <a:gd name="T3" fmla="*/ 29 h 469"/>
                <a:gd name="T4" fmla="*/ 234 w 235"/>
                <a:gd name="T5" fmla="*/ 204 h 469"/>
                <a:gd name="T6" fmla="*/ 234 w 235"/>
                <a:gd name="T7" fmla="*/ 380 h 469"/>
                <a:gd name="T8" fmla="*/ 73 w 235"/>
                <a:gd name="T9" fmla="*/ 453 h 469"/>
                <a:gd name="T10" fmla="*/ 0 w 235"/>
                <a:gd name="T11" fmla="*/ 468 h 469"/>
                <a:gd name="T12" fmla="*/ 0 w 235"/>
                <a:gd name="T1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469">
                  <a:moveTo>
                    <a:pt x="0" y="0"/>
                  </a:moveTo>
                  <a:lnTo>
                    <a:pt x="161" y="29"/>
                  </a:lnTo>
                  <a:lnTo>
                    <a:pt x="234" y="204"/>
                  </a:lnTo>
                  <a:lnTo>
                    <a:pt x="234" y="380"/>
                  </a:lnTo>
                  <a:lnTo>
                    <a:pt x="73" y="453"/>
                  </a:lnTo>
                  <a:lnTo>
                    <a:pt x="0" y="468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32" y="960"/>
              <a:ext cx="206" cy="103"/>
            </a:xfrm>
            <a:custGeom>
              <a:avLst/>
              <a:gdLst>
                <a:gd name="T0" fmla="*/ 0 w 206"/>
                <a:gd name="T1" fmla="*/ 0 h 103"/>
                <a:gd name="T2" fmla="*/ 205 w 206"/>
                <a:gd name="T3" fmla="*/ 10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6" h="103">
                  <a:moveTo>
                    <a:pt x="0" y="0"/>
                  </a:moveTo>
                  <a:lnTo>
                    <a:pt x="205" y="102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18" y="1077"/>
              <a:ext cx="220" cy="60"/>
            </a:xfrm>
            <a:custGeom>
              <a:avLst/>
              <a:gdLst>
                <a:gd name="T0" fmla="*/ 0 w 220"/>
                <a:gd name="T1" fmla="*/ 0 h 60"/>
                <a:gd name="T2" fmla="*/ 102 w 220"/>
                <a:gd name="T3" fmla="*/ 59 h 60"/>
                <a:gd name="T4" fmla="*/ 219 w 220"/>
                <a:gd name="T5" fmla="*/ 5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60">
                  <a:moveTo>
                    <a:pt x="0" y="0"/>
                  </a:moveTo>
                  <a:lnTo>
                    <a:pt x="102" y="59"/>
                  </a:lnTo>
                  <a:lnTo>
                    <a:pt x="219" y="5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0" y="1180"/>
              <a:ext cx="150" cy="44"/>
            </a:xfrm>
            <a:custGeom>
              <a:avLst/>
              <a:gdLst>
                <a:gd name="T0" fmla="*/ 0 w 150"/>
                <a:gd name="T1" fmla="*/ 0 h 44"/>
                <a:gd name="T2" fmla="*/ 149 w 150"/>
                <a:gd name="T3" fmla="*/ 4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44">
                  <a:moveTo>
                    <a:pt x="0" y="0"/>
                  </a:moveTo>
                  <a:lnTo>
                    <a:pt x="149" y="43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998" y="940"/>
              <a:ext cx="235" cy="469"/>
            </a:xfrm>
            <a:custGeom>
              <a:avLst/>
              <a:gdLst>
                <a:gd name="T0" fmla="*/ 234 w 235"/>
                <a:gd name="T1" fmla="*/ 0 h 469"/>
                <a:gd name="T2" fmla="*/ 73 w 235"/>
                <a:gd name="T3" fmla="*/ 29 h 469"/>
                <a:gd name="T4" fmla="*/ 0 w 235"/>
                <a:gd name="T5" fmla="*/ 204 h 469"/>
                <a:gd name="T6" fmla="*/ 0 w 235"/>
                <a:gd name="T7" fmla="*/ 380 h 469"/>
                <a:gd name="T8" fmla="*/ 161 w 235"/>
                <a:gd name="T9" fmla="*/ 453 h 469"/>
                <a:gd name="T10" fmla="*/ 234 w 235"/>
                <a:gd name="T11" fmla="*/ 468 h 469"/>
                <a:gd name="T12" fmla="*/ 234 w 235"/>
                <a:gd name="T1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469">
                  <a:moveTo>
                    <a:pt x="234" y="0"/>
                  </a:moveTo>
                  <a:lnTo>
                    <a:pt x="73" y="29"/>
                  </a:lnTo>
                  <a:lnTo>
                    <a:pt x="0" y="204"/>
                  </a:lnTo>
                  <a:lnTo>
                    <a:pt x="0" y="380"/>
                  </a:lnTo>
                  <a:lnTo>
                    <a:pt x="161" y="453"/>
                  </a:lnTo>
                  <a:lnTo>
                    <a:pt x="234" y="468"/>
                  </a:lnTo>
                  <a:lnTo>
                    <a:pt x="234" y="0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6026" y="1042"/>
              <a:ext cx="206" cy="103"/>
            </a:xfrm>
            <a:custGeom>
              <a:avLst/>
              <a:gdLst>
                <a:gd name="T0" fmla="*/ 205 w 206"/>
                <a:gd name="T1" fmla="*/ 0 h 103"/>
                <a:gd name="T2" fmla="*/ 0 w 206"/>
                <a:gd name="T3" fmla="*/ 10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6" h="103">
                  <a:moveTo>
                    <a:pt x="205" y="0"/>
                  </a:moveTo>
                  <a:lnTo>
                    <a:pt x="0" y="102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12" y="1159"/>
              <a:ext cx="220" cy="60"/>
            </a:xfrm>
            <a:custGeom>
              <a:avLst/>
              <a:gdLst>
                <a:gd name="T0" fmla="*/ 219 w 220"/>
                <a:gd name="T1" fmla="*/ 0 h 60"/>
                <a:gd name="T2" fmla="*/ 117 w 220"/>
                <a:gd name="T3" fmla="*/ 59 h 60"/>
                <a:gd name="T4" fmla="*/ 0 w 220"/>
                <a:gd name="T5" fmla="*/ 5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60">
                  <a:moveTo>
                    <a:pt x="219" y="0"/>
                  </a:moveTo>
                  <a:lnTo>
                    <a:pt x="117" y="59"/>
                  </a:lnTo>
                  <a:lnTo>
                    <a:pt x="0" y="5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994" y="1262"/>
              <a:ext cx="150" cy="44"/>
            </a:xfrm>
            <a:custGeom>
              <a:avLst/>
              <a:gdLst>
                <a:gd name="T0" fmla="*/ 149 w 150"/>
                <a:gd name="T1" fmla="*/ 0 h 44"/>
                <a:gd name="T2" fmla="*/ 0 w 150"/>
                <a:gd name="T3" fmla="*/ 4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44">
                  <a:moveTo>
                    <a:pt x="149" y="0"/>
                  </a:moveTo>
                  <a:lnTo>
                    <a:pt x="0" y="43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222" y="23"/>
              <a:ext cx="2753" cy="836"/>
            </a:xfrm>
            <a:custGeom>
              <a:avLst/>
              <a:gdLst>
                <a:gd name="T0" fmla="*/ 2752 w 2753"/>
                <a:gd name="T1" fmla="*/ 0 h 836"/>
                <a:gd name="T2" fmla="*/ 2313 w 2753"/>
                <a:gd name="T3" fmla="*/ 278 h 836"/>
                <a:gd name="T4" fmla="*/ 1654 w 2753"/>
                <a:gd name="T5" fmla="*/ 498 h 836"/>
                <a:gd name="T6" fmla="*/ 513 w 2753"/>
                <a:gd name="T7" fmla="*/ 717 h 836"/>
                <a:gd name="T8" fmla="*/ 0 w 2753"/>
                <a:gd name="T9" fmla="*/ 835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3" h="836">
                  <a:moveTo>
                    <a:pt x="2752" y="0"/>
                  </a:moveTo>
                  <a:lnTo>
                    <a:pt x="2313" y="278"/>
                  </a:lnTo>
                  <a:lnTo>
                    <a:pt x="1654" y="498"/>
                  </a:lnTo>
                  <a:lnTo>
                    <a:pt x="513" y="717"/>
                  </a:lnTo>
                  <a:lnTo>
                    <a:pt x="0" y="835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47" y="68"/>
              <a:ext cx="2884" cy="469"/>
            </a:xfrm>
            <a:custGeom>
              <a:avLst/>
              <a:gdLst>
                <a:gd name="T0" fmla="*/ 2883 w 2884"/>
                <a:gd name="T1" fmla="*/ 0 h 469"/>
                <a:gd name="T2" fmla="*/ 1683 w 2884"/>
                <a:gd name="T3" fmla="*/ 336 h 469"/>
                <a:gd name="T4" fmla="*/ 1010 w 2884"/>
                <a:gd name="T5" fmla="*/ 395 h 469"/>
                <a:gd name="T6" fmla="*/ 249 w 2884"/>
                <a:gd name="T7" fmla="*/ 468 h 469"/>
                <a:gd name="T8" fmla="*/ 0 w 2884"/>
                <a:gd name="T9" fmla="*/ 468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4" h="469">
                  <a:moveTo>
                    <a:pt x="2883" y="0"/>
                  </a:moveTo>
                  <a:lnTo>
                    <a:pt x="1683" y="336"/>
                  </a:lnTo>
                  <a:lnTo>
                    <a:pt x="1010" y="395"/>
                  </a:lnTo>
                  <a:lnTo>
                    <a:pt x="249" y="468"/>
                  </a:lnTo>
                  <a:lnTo>
                    <a:pt x="0" y="468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61" y="0"/>
              <a:ext cx="3001" cy="244"/>
            </a:xfrm>
            <a:custGeom>
              <a:avLst/>
              <a:gdLst>
                <a:gd name="T0" fmla="*/ 3000 w 3001"/>
                <a:gd name="T1" fmla="*/ 0 h 244"/>
                <a:gd name="T2" fmla="*/ 1508 w 3001"/>
                <a:gd name="T3" fmla="*/ 184 h 244"/>
                <a:gd name="T4" fmla="*/ 732 w 3001"/>
                <a:gd name="T5" fmla="*/ 243 h 244"/>
                <a:gd name="T6" fmla="*/ 0 w 3001"/>
                <a:gd name="T7" fmla="*/ 199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01" h="244">
                  <a:moveTo>
                    <a:pt x="3000" y="0"/>
                  </a:moveTo>
                  <a:lnTo>
                    <a:pt x="1508" y="184"/>
                  </a:lnTo>
                  <a:lnTo>
                    <a:pt x="732" y="243"/>
                  </a:lnTo>
                  <a:lnTo>
                    <a:pt x="0" y="19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3413" y="9"/>
              <a:ext cx="2723" cy="893"/>
            </a:xfrm>
            <a:custGeom>
              <a:avLst/>
              <a:gdLst>
                <a:gd name="T0" fmla="*/ 0 w 2723"/>
                <a:gd name="T1" fmla="*/ 0 h 893"/>
                <a:gd name="T2" fmla="*/ 658 w 2723"/>
                <a:gd name="T3" fmla="*/ 424 h 893"/>
                <a:gd name="T4" fmla="*/ 1112 w 2723"/>
                <a:gd name="T5" fmla="*/ 600 h 893"/>
                <a:gd name="T6" fmla="*/ 2224 w 2723"/>
                <a:gd name="T7" fmla="*/ 892 h 893"/>
                <a:gd name="T8" fmla="*/ 2722 w 2723"/>
                <a:gd name="T9" fmla="*/ 892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3" h="893">
                  <a:moveTo>
                    <a:pt x="0" y="0"/>
                  </a:moveTo>
                  <a:lnTo>
                    <a:pt x="658" y="424"/>
                  </a:lnTo>
                  <a:lnTo>
                    <a:pt x="1112" y="600"/>
                  </a:lnTo>
                  <a:lnTo>
                    <a:pt x="2224" y="892"/>
                  </a:lnTo>
                  <a:lnTo>
                    <a:pt x="2722" y="892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3413" y="0"/>
              <a:ext cx="2810" cy="668"/>
            </a:xfrm>
            <a:custGeom>
              <a:avLst/>
              <a:gdLst>
                <a:gd name="T0" fmla="*/ 0 w 2810"/>
                <a:gd name="T1" fmla="*/ 0 h 668"/>
                <a:gd name="T2" fmla="*/ 775 w 2810"/>
                <a:gd name="T3" fmla="*/ 316 h 668"/>
                <a:gd name="T4" fmla="*/ 1317 w 2810"/>
                <a:gd name="T5" fmla="*/ 448 h 668"/>
                <a:gd name="T6" fmla="*/ 1946 w 2810"/>
                <a:gd name="T7" fmla="*/ 594 h 668"/>
                <a:gd name="T8" fmla="*/ 2268 w 2810"/>
                <a:gd name="T9" fmla="*/ 653 h 668"/>
                <a:gd name="T10" fmla="*/ 2809 w 2810"/>
                <a:gd name="T11" fmla="*/ 667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0" h="668">
                  <a:moveTo>
                    <a:pt x="0" y="0"/>
                  </a:moveTo>
                  <a:lnTo>
                    <a:pt x="775" y="316"/>
                  </a:lnTo>
                  <a:lnTo>
                    <a:pt x="1317" y="448"/>
                  </a:lnTo>
                  <a:lnTo>
                    <a:pt x="1946" y="594"/>
                  </a:lnTo>
                  <a:lnTo>
                    <a:pt x="2268" y="653"/>
                  </a:lnTo>
                  <a:lnTo>
                    <a:pt x="2809" y="667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3530" y="38"/>
              <a:ext cx="2664" cy="425"/>
            </a:xfrm>
            <a:custGeom>
              <a:avLst/>
              <a:gdLst>
                <a:gd name="T0" fmla="*/ 0 w 2664"/>
                <a:gd name="T1" fmla="*/ 0 h 425"/>
                <a:gd name="T2" fmla="*/ 1288 w 2664"/>
                <a:gd name="T3" fmla="*/ 263 h 425"/>
                <a:gd name="T4" fmla="*/ 1975 w 2664"/>
                <a:gd name="T5" fmla="*/ 351 h 425"/>
                <a:gd name="T6" fmla="*/ 2473 w 2664"/>
                <a:gd name="T7" fmla="*/ 424 h 425"/>
                <a:gd name="T8" fmla="*/ 2663 w 2664"/>
                <a:gd name="T9" fmla="*/ 381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4" h="425">
                  <a:moveTo>
                    <a:pt x="0" y="0"/>
                  </a:moveTo>
                  <a:lnTo>
                    <a:pt x="1288" y="263"/>
                  </a:lnTo>
                  <a:lnTo>
                    <a:pt x="1975" y="351"/>
                  </a:lnTo>
                  <a:lnTo>
                    <a:pt x="2473" y="424"/>
                  </a:lnTo>
                  <a:lnTo>
                    <a:pt x="2663" y="381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2695" y="0"/>
              <a:ext cx="1172" cy="454"/>
            </a:xfrm>
            <a:custGeom>
              <a:avLst/>
              <a:gdLst>
                <a:gd name="T0" fmla="*/ 0 w 1172"/>
                <a:gd name="T1" fmla="*/ 0 h 454"/>
                <a:gd name="T2" fmla="*/ 44 w 1172"/>
                <a:gd name="T3" fmla="*/ 161 h 454"/>
                <a:gd name="T4" fmla="*/ 88 w 1172"/>
                <a:gd name="T5" fmla="*/ 292 h 454"/>
                <a:gd name="T6" fmla="*/ 190 w 1172"/>
                <a:gd name="T7" fmla="*/ 380 h 454"/>
                <a:gd name="T8" fmla="*/ 322 w 1172"/>
                <a:gd name="T9" fmla="*/ 424 h 454"/>
                <a:gd name="T10" fmla="*/ 468 w 1172"/>
                <a:gd name="T11" fmla="*/ 439 h 454"/>
                <a:gd name="T12" fmla="*/ 658 w 1172"/>
                <a:gd name="T13" fmla="*/ 453 h 454"/>
                <a:gd name="T14" fmla="*/ 775 w 1172"/>
                <a:gd name="T15" fmla="*/ 424 h 454"/>
                <a:gd name="T16" fmla="*/ 922 w 1172"/>
                <a:gd name="T17" fmla="*/ 351 h 454"/>
                <a:gd name="T18" fmla="*/ 1010 w 1172"/>
                <a:gd name="T19" fmla="*/ 263 h 454"/>
                <a:gd name="T20" fmla="*/ 1097 w 1172"/>
                <a:gd name="T21" fmla="*/ 117 h 454"/>
                <a:gd name="T22" fmla="*/ 1171 w 1172"/>
                <a:gd name="T23" fmla="*/ 1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72" h="454">
                  <a:moveTo>
                    <a:pt x="0" y="0"/>
                  </a:moveTo>
                  <a:lnTo>
                    <a:pt x="44" y="161"/>
                  </a:lnTo>
                  <a:lnTo>
                    <a:pt x="88" y="292"/>
                  </a:lnTo>
                  <a:lnTo>
                    <a:pt x="190" y="380"/>
                  </a:lnTo>
                  <a:lnTo>
                    <a:pt x="322" y="424"/>
                  </a:lnTo>
                  <a:lnTo>
                    <a:pt x="468" y="439"/>
                  </a:lnTo>
                  <a:lnTo>
                    <a:pt x="658" y="453"/>
                  </a:lnTo>
                  <a:lnTo>
                    <a:pt x="775" y="424"/>
                  </a:lnTo>
                  <a:lnTo>
                    <a:pt x="922" y="351"/>
                  </a:lnTo>
                  <a:lnTo>
                    <a:pt x="1010" y="263"/>
                  </a:lnTo>
                  <a:lnTo>
                    <a:pt x="1097" y="117"/>
                  </a:lnTo>
                  <a:lnTo>
                    <a:pt x="1171" y="1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2827" y="50"/>
              <a:ext cx="879" cy="309"/>
            </a:xfrm>
            <a:custGeom>
              <a:avLst/>
              <a:gdLst>
                <a:gd name="T0" fmla="*/ 0 w 879"/>
                <a:gd name="T1" fmla="*/ 0 h 309"/>
                <a:gd name="T2" fmla="*/ 117 w 879"/>
                <a:gd name="T3" fmla="*/ 220 h 309"/>
                <a:gd name="T4" fmla="*/ 352 w 879"/>
                <a:gd name="T5" fmla="*/ 308 h 309"/>
                <a:gd name="T6" fmla="*/ 556 w 879"/>
                <a:gd name="T7" fmla="*/ 293 h 309"/>
                <a:gd name="T8" fmla="*/ 747 w 879"/>
                <a:gd name="T9" fmla="*/ 191 h 309"/>
                <a:gd name="T10" fmla="*/ 878 w 879"/>
                <a:gd name="T11" fmla="*/ 59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9" h="309">
                  <a:moveTo>
                    <a:pt x="0" y="0"/>
                  </a:moveTo>
                  <a:lnTo>
                    <a:pt x="117" y="220"/>
                  </a:lnTo>
                  <a:lnTo>
                    <a:pt x="352" y="308"/>
                  </a:lnTo>
                  <a:lnTo>
                    <a:pt x="556" y="293"/>
                  </a:lnTo>
                  <a:lnTo>
                    <a:pt x="747" y="191"/>
                  </a:lnTo>
                  <a:lnTo>
                    <a:pt x="878" y="59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2959" y="30"/>
              <a:ext cx="586" cy="191"/>
            </a:xfrm>
            <a:custGeom>
              <a:avLst/>
              <a:gdLst>
                <a:gd name="T0" fmla="*/ 0 w 586"/>
                <a:gd name="T1" fmla="*/ 0 h 191"/>
                <a:gd name="T2" fmla="*/ 73 w 586"/>
                <a:gd name="T3" fmla="*/ 117 h 191"/>
                <a:gd name="T4" fmla="*/ 205 w 586"/>
                <a:gd name="T5" fmla="*/ 190 h 191"/>
                <a:gd name="T6" fmla="*/ 351 w 586"/>
                <a:gd name="T7" fmla="*/ 190 h 191"/>
                <a:gd name="T8" fmla="*/ 498 w 586"/>
                <a:gd name="T9" fmla="*/ 146 h 191"/>
                <a:gd name="T10" fmla="*/ 585 w 586"/>
                <a:gd name="T11" fmla="*/ 5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6" h="191">
                  <a:moveTo>
                    <a:pt x="0" y="0"/>
                  </a:moveTo>
                  <a:lnTo>
                    <a:pt x="73" y="117"/>
                  </a:lnTo>
                  <a:lnTo>
                    <a:pt x="205" y="190"/>
                  </a:lnTo>
                  <a:lnTo>
                    <a:pt x="351" y="190"/>
                  </a:lnTo>
                  <a:lnTo>
                    <a:pt x="498" y="146"/>
                  </a:lnTo>
                  <a:lnTo>
                    <a:pt x="585" y="58"/>
                  </a:lnTo>
                </a:path>
              </a:pathLst>
            </a:custGeom>
            <a:solidFill>
              <a:srgbClr val="FF00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77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Pupils need comprehensible </a:t>
            </a:r>
            <a:r>
              <a:rPr lang="en-US" dirty="0" smtClean="0"/>
              <a:t>descriptions</a:t>
            </a:r>
          </a:p>
          <a:p>
            <a:endParaRPr lang="en-US" dirty="0"/>
          </a:p>
          <a:p>
            <a:r>
              <a:rPr lang="en-US" dirty="0" smtClean="0"/>
              <a:t>Analysts need </a:t>
            </a:r>
            <a:r>
              <a:rPr lang="en-US" dirty="0"/>
              <a:t>for change </a:t>
            </a:r>
            <a:r>
              <a:rPr lang="en-US" dirty="0" smtClean="0"/>
              <a:t>management</a:t>
            </a:r>
          </a:p>
          <a:p>
            <a:endParaRPr lang="en-US" dirty="0"/>
          </a:p>
          <a:p>
            <a:r>
              <a:rPr lang="en-US" dirty="0" smtClean="0"/>
              <a:t>Researchers </a:t>
            </a:r>
            <a:r>
              <a:rPr lang="en-US" dirty="0"/>
              <a:t>need specific and detailed information - </a:t>
            </a:r>
            <a:r>
              <a:rPr lang="en-US" dirty="0" smtClean="0"/>
              <a:t>also the historical</a:t>
            </a: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users have different </a:t>
            </a:r>
            <a:r>
              <a:rPr lang="en-US" dirty="0" smtClean="0"/>
              <a:t>needs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6893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one in four uses quality </a:t>
            </a:r>
            <a:r>
              <a:rPr lang="en-US" dirty="0" smtClean="0"/>
              <a:t>declarations</a:t>
            </a:r>
          </a:p>
          <a:p>
            <a:endParaRPr lang="en-US" dirty="0" smtClean="0"/>
          </a:p>
          <a:p>
            <a:r>
              <a:rPr lang="en-US" dirty="0"/>
              <a:t>For those who do not use quality </a:t>
            </a:r>
            <a:r>
              <a:rPr lang="en-US" dirty="0" smtClean="0"/>
              <a:t>declarations, two </a:t>
            </a:r>
            <a:r>
              <a:rPr lang="en-US" dirty="0"/>
              <a:t>out of </a:t>
            </a:r>
            <a:r>
              <a:rPr lang="en-US" dirty="0" smtClean="0"/>
              <a:t>three indicates, </a:t>
            </a:r>
            <a:r>
              <a:rPr lang="en-US" dirty="0"/>
              <a:t>they do not know what it </a:t>
            </a:r>
            <a:r>
              <a:rPr lang="en-US" dirty="0" smtClean="0"/>
              <a:t>is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must provide a perceived added value for </a:t>
            </a:r>
            <a:r>
              <a:rPr lang="en-US" dirty="0" smtClean="0"/>
              <a:t>end-users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2111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 smtClean="0"/>
              <a:t>Municipalities</a:t>
            </a:r>
            <a:r>
              <a:rPr lang="da-DK" dirty="0" smtClean="0"/>
              <a:t>				  50 pct.</a:t>
            </a:r>
          </a:p>
          <a:p>
            <a:r>
              <a:rPr lang="da-DK" dirty="0" smtClean="0"/>
              <a:t>Media and </a:t>
            </a:r>
            <a:r>
              <a:rPr lang="da-DK" dirty="0" err="1" smtClean="0"/>
              <a:t>press</a:t>
            </a:r>
            <a:r>
              <a:rPr lang="da-DK" dirty="0" smtClean="0"/>
              <a:t>				    0 pct.</a:t>
            </a:r>
          </a:p>
          <a:p>
            <a:r>
              <a:rPr lang="da-DK" dirty="0" err="1"/>
              <a:t>Educational</a:t>
            </a:r>
            <a:r>
              <a:rPr lang="da-DK" dirty="0"/>
              <a:t> </a:t>
            </a:r>
            <a:r>
              <a:rPr lang="da-DK" dirty="0" smtClean="0"/>
              <a:t>institutions		 	  70 pct.</a:t>
            </a:r>
          </a:p>
          <a:p>
            <a:r>
              <a:rPr lang="da-DK" dirty="0" smtClean="0"/>
              <a:t>Private </a:t>
            </a:r>
            <a:r>
              <a:rPr lang="da-DK" dirty="0" err="1" smtClean="0"/>
              <a:t>companies</a:t>
            </a:r>
            <a:r>
              <a:rPr lang="da-DK" dirty="0" smtClean="0"/>
              <a:t>			  50 pct.</a:t>
            </a:r>
          </a:p>
          <a:p>
            <a:r>
              <a:rPr lang="da-DK" dirty="0" err="1"/>
              <a:t>Ministries</a:t>
            </a:r>
            <a:r>
              <a:rPr lang="da-DK" dirty="0"/>
              <a:t> and </a:t>
            </a:r>
            <a:r>
              <a:rPr lang="da-DK" dirty="0" err="1" smtClean="0"/>
              <a:t>organizations</a:t>
            </a:r>
            <a:r>
              <a:rPr lang="da-DK" dirty="0" smtClean="0"/>
              <a:t>		100 pct.</a:t>
            </a: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Who</a:t>
            </a:r>
            <a:r>
              <a:rPr lang="da-DK" dirty="0"/>
              <a:t> </a:t>
            </a:r>
            <a:r>
              <a:rPr lang="da-DK" dirty="0" err="1"/>
              <a:t>uses</a:t>
            </a:r>
            <a:r>
              <a:rPr lang="da-DK" dirty="0"/>
              <a:t> </a:t>
            </a:r>
            <a:r>
              <a:rPr lang="da-DK" dirty="0" err="1"/>
              <a:t>documentation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402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says that we need to improve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26</a:t>
            </a:fld>
            <a:endParaRPr lang="da-DK" dirty="0"/>
          </a:p>
        </p:txBody>
      </p:sp>
      <p:sp>
        <p:nvSpPr>
          <p:cNvPr id="5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 smtClean="0"/>
              <a:t>Municipalities</a:t>
            </a:r>
            <a:r>
              <a:rPr lang="da-DK" dirty="0" smtClean="0"/>
              <a:t>				  50 pct. </a:t>
            </a:r>
            <a:r>
              <a:rPr lang="da-DK" b="1" dirty="0" smtClean="0">
                <a:solidFill>
                  <a:srgbClr val="FF0000"/>
                </a:solidFill>
              </a:rPr>
              <a:t>!</a:t>
            </a:r>
          </a:p>
          <a:p>
            <a:r>
              <a:rPr lang="da-DK" dirty="0" smtClean="0"/>
              <a:t>Media and </a:t>
            </a:r>
            <a:r>
              <a:rPr lang="da-DK" dirty="0" err="1" smtClean="0"/>
              <a:t>press</a:t>
            </a:r>
            <a:r>
              <a:rPr lang="da-DK" dirty="0" smtClean="0"/>
              <a:t>				    0 pct.</a:t>
            </a:r>
          </a:p>
          <a:p>
            <a:r>
              <a:rPr lang="da-DK" dirty="0" err="1"/>
              <a:t>Educational</a:t>
            </a:r>
            <a:r>
              <a:rPr lang="da-DK" dirty="0"/>
              <a:t> </a:t>
            </a:r>
            <a:r>
              <a:rPr lang="da-DK" dirty="0" smtClean="0"/>
              <a:t>institutions		 	  70 </a:t>
            </a:r>
            <a:r>
              <a:rPr lang="da-DK" dirty="0"/>
              <a:t>pct. </a:t>
            </a:r>
            <a:r>
              <a:rPr lang="da-DK" b="1" dirty="0" smtClean="0">
                <a:solidFill>
                  <a:srgbClr val="FF0000"/>
                </a:solidFill>
              </a:rPr>
              <a:t>!</a:t>
            </a:r>
          </a:p>
          <a:p>
            <a:r>
              <a:rPr lang="da-DK" dirty="0" smtClean="0"/>
              <a:t>Private </a:t>
            </a:r>
            <a:r>
              <a:rPr lang="da-DK" dirty="0" err="1" smtClean="0"/>
              <a:t>companies</a:t>
            </a:r>
            <a:r>
              <a:rPr lang="da-DK" dirty="0" smtClean="0"/>
              <a:t>			  50 pct. </a:t>
            </a:r>
            <a:r>
              <a:rPr lang="da-DK" b="1" dirty="0" smtClean="0">
                <a:solidFill>
                  <a:srgbClr val="FF0000"/>
                </a:solidFill>
              </a:rPr>
              <a:t>!</a:t>
            </a:r>
          </a:p>
          <a:p>
            <a:r>
              <a:rPr lang="da-DK" dirty="0" err="1"/>
              <a:t>Ministries</a:t>
            </a:r>
            <a:r>
              <a:rPr lang="da-DK" dirty="0"/>
              <a:t> and </a:t>
            </a:r>
            <a:r>
              <a:rPr lang="da-DK" dirty="0" err="1" smtClean="0"/>
              <a:t>organizations</a:t>
            </a:r>
            <a:r>
              <a:rPr lang="da-DK" dirty="0" smtClean="0"/>
              <a:t>		100 pct. </a:t>
            </a:r>
            <a:r>
              <a:rPr lang="da-DK" b="1" dirty="0" smtClean="0">
                <a:solidFill>
                  <a:srgbClr val="FF0000"/>
                </a:solidFill>
              </a:rPr>
              <a:t>!</a:t>
            </a:r>
            <a:endParaRPr lang="da-DK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16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 err="1" smtClean="0"/>
              <a:t>Terminology</a:t>
            </a:r>
            <a:endParaRPr lang="da-DK" dirty="0" smtClean="0"/>
          </a:p>
          <a:p>
            <a:pPr lvl="1"/>
            <a:r>
              <a:rPr lang="da-DK" dirty="0" smtClean="0"/>
              <a:t>Basic DDI </a:t>
            </a:r>
            <a:r>
              <a:rPr lang="da-DK" dirty="0" err="1" smtClean="0"/>
              <a:t>concepts</a:t>
            </a:r>
            <a:endParaRPr lang="da-DK" dirty="0"/>
          </a:p>
          <a:p>
            <a:endParaRPr lang="da-DK" dirty="0" smtClean="0"/>
          </a:p>
          <a:p>
            <a:r>
              <a:rPr lang="da-DK" dirty="0" smtClean="0"/>
              <a:t> Portals</a:t>
            </a:r>
          </a:p>
          <a:p>
            <a:endParaRPr lang="da-DK" dirty="0" smtClean="0"/>
          </a:p>
          <a:p>
            <a:r>
              <a:rPr lang="da-DK" dirty="0" err="1" smtClean="0"/>
              <a:t>Dissemination</a:t>
            </a:r>
            <a:r>
              <a:rPr lang="da-DK" dirty="0" smtClean="0"/>
              <a:t> products</a:t>
            </a:r>
          </a:p>
          <a:p>
            <a:pPr lvl="1"/>
            <a:r>
              <a:rPr lang="da-DK" dirty="0" err="1" smtClean="0"/>
              <a:t>Statbank</a:t>
            </a:r>
            <a:endParaRPr lang="da-DK" dirty="0" smtClean="0"/>
          </a:p>
          <a:p>
            <a:pPr lvl="1"/>
            <a:r>
              <a:rPr lang="da-DK" dirty="0" smtClean="0"/>
              <a:t>Publications</a:t>
            </a:r>
          </a:p>
          <a:p>
            <a:pPr lvl="1"/>
            <a:r>
              <a:rPr lang="da-DK" dirty="0" err="1" smtClean="0"/>
              <a:t>Communication</a:t>
            </a:r>
            <a:endParaRPr lang="da-DK" dirty="0" smtClean="0"/>
          </a:p>
          <a:p>
            <a:endParaRPr lang="da-DK" dirty="0"/>
          </a:p>
          <a:p>
            <a:r>
              <a:rPr lang="da-DK" dirty="0" smtClean="0"/>
              <a:t>Search Box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communicate metadata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264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Inverted</a:t>
            </a:r>
            <a:r>
              <a:rPr lang="da-DK" dirty="0" smtClean="0"/>
              <a:t> </a:t>
            </a:r>
            <a:r>
              <a:rPr lang="da-DK" dirty="0" err="1" smtClean="0"/>
              <a:t>news</a:t>
            </a:r>
            <a:r>
              <a:rPr lang="da-DK" dirty="0" smtClean="0"/>
              <a:t> </a:t>
            </a:r>
            <a:r>
              <a:rPr lang="da-DK" dirty="0" err="1" smtClean="0"/>
              <a:t>pyramid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28</a:t>
            </a:fld>
            <a:endParaRPr lang="da-DK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00808"/>
            <a:ext cx="5038700" cy="429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45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Different</a:t>
            </a:r>
            <a:r>
              <a:rPr lang="da-DK" dirty="0" smtClean="0"/>
              <a:t> data </a:t>
            </a:r>
            <a:r>
              <a:rPr lang="da-DK" dirty="0" err="1" smtClean="0"/>
              <a:t>needs</a:t>
            </a:r>
            <a:endParaRPr lang="en-GB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29</a:t>
            </a:fld>
            <a:endParaRPr lang="da-DK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" t="4687" r="2003" b="3125"/>
          <a:stretch/>
        </p:blipFill>
        <p:spPr bwMode="auto">
          <a:xfrm>
            <a:off x="395536" y="1628800"/>
            <a:ext cx="8169179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59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User </a:t>
            </a:r>
            <a:r>
              <a:rPr lang="da-DK" dirty="0" err="1"/>
              <a:t>behavior</a:t>
            </a:r>
            <a:r>
              <a:rPr lang="da-DK" dirty="0"/>
              <a:t> (eg Farmer, Miner and </a:t>
            </a:r>
            <a:r>
              <a:rPr lang="da-DK" dirty="0" err="1" smtClean="0"/>
              <a:t>Tourist</a:t>
            </a:r>
            <a:r>
              <a:rPr lang="da-DK" dirty="0" smtClean="0"/>
              <a:t>) </a:t>
            </a:r>
          </a:p>
          <a:p>
            <a:endParaRPr lang="da-DK" dirty="0"/>
          </a:p>
          <a:p>
            <a:r>
              <a:rPr lang="da-DK" dirty="0" err="1"/>
              <a:t>Sector</a:t>
            </a:r>
            <a:r>
              <a:rPr lang="da-DK" dirty="0"/>
              <a:t> (eg </a:t>
            </a:r>
            <a:r>
              <a:rPr lang="da-DK" dirty="0" err="1"/>
              <a:t>ministries</a:t>
            </a:r>
            <a:r>
              <a:rPr lang="da-DK" dirty="0"/>
              <a:t>, </a:t>
            </a:r>
            <a:r>
              <a:rPr lang="da-DK" dirty="0" err="1"/>
              <a:t>authorities</a:t>
            </a:r>
            <a:r>
              <a:rPr lang="da-DK" dirty="0"/>
              <a:t>, media, </a:t>
            </a:r>
            <a:r>
              <a:rPr lang="da-DK" dirty="0" err="1"/>
              <a:t>academia</a:t>
            </a:r>
            <a:r>
              <a:rPr lang="da-DK" dirty="0" smtClean="0"/>
              <a:t>)</a:t>
            </a:r>
          </a:p>
          <a:p>
            <a:endParaRPr lang="da-DK" dirty="0"/>
          </a:p>
          <a:p>
            <a:r>
              <a:rPr lang="da-DK" dirty="0" smtClean="0"/>
              <a:t>Knowledge </a:t>
            </a:r>
            <a:r>
              <a:rPr lang="da-DK" dirty="0" err="1" smtClean="0"/>
              <a:t>e.g</a:t>
            </a:r>
            <a:r>
              <a:rPr lang="da-DK" dirty="0" smtClean="0"/>
              <a:t>. of </a:t>
            </a:r>
            <a:r>
              <a:rPr lang="da-DK" dirty="0" err="1" smtClean="0"/>
              <a:t>statistics</a:t>
            </a:r>
            <a:r>
              <a:rPr lang="da-DK" dirty="0" smtClean="0"/>
              <a:t> (</a:t>
            </a:r>
            <a:r>
              <a:rPr lang="da-DK" dirty="0" err="1" smtClean="0"/>
              <a:t>experts</a:t>
            </a:r>
            <a:r>
              <a:rPr lang="da-DK" dirty="0" smtClean="0"/>
              <a:t> </a:t>
            </a:r>
            <a:r>
              <a:rPr lang="da-DK" dirty="0"/>
              <a:t>or </a:t>
            </a:r>
            <a:r>
              <a:rPr lang="da-DK" dirty="0" smtClean="0"/>
              <a:t>new </a:t>
            </a:r>
            <a:r>
              <a:rPr lang="da-DK" dirty="0" err="1"/>
              <a:t>users</a:t>
            </a:r>
            <a:r>
              <a:rPr lang="da-DK" dirty="0" smtClean="0"/>
              <a:t>)</a:t>
            </a:r>
          </a:p>
          <a:p>
            <a:pPr marL="0" indent="0">
              <a:buNone/>
            </a:pPr>
            <a:endParaRPr lang="da-DK" dirty="0" smtClean="0"/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User types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7824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Even professionals may have difficulty with the understanding of our concepts and definitions - I wonder how our users </a:t>
            </a:r>
            <a:r>
              <a:rPr lang="en-US" dirty="0" smtClean="0"/>
              <a:t>understand?</a:t>
            </a:r>
          </a:p>
          <a:p>
            <a:endParaRPr lang="en-US" dirty="0" smtClean="0"/>
          </a:p>
          <a:p>
            <a:r>
              <a:rPr lang="en-US" dirty="0"/>
              <a:t>How do we ensure that the language understood as intended - of different target </a:t>
            </a:r>
            <a:r>
              <a:rPr lang="en-US" dirty="0" smtClean="0"/>
              <a:t>groups?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dirty="0" smtClean="0">
                <a:solidFill>
                  <a:srgbClr val="0091D4"/>
                </a:solidFill>
              </a:rPr>
              <a:t>“Lost in Translation”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we get something from search </a:t>
            </a:r>
            <a:r>
              <a:rPr lang="en-US" dirty="0" smtClean="0"/>
              <a:t>engines </a:t>
            </a:r>
            <a:r>
              <a:rPr lang="en-US" dirty="0"/>
              <a:t>on the web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/>
              <a:t>Can specialists from </a:t>
            </a:r>
            <a:r>
              <a:rPr lang="en-US" dirty="0" smtClean="0"/>
              <a:t>our Information Services </a:t>
            </a:r>
            <a:r>
              <a:rPr lang="en-US" dirty="0"/>
              <a:t>help from the queries </a:t>
            </a:r>
            <a:r>
              <a:rPr lang="en-US" dirty="0" smtClean="0"/>
              <a:t>received?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”Words </a:t>
            </a:r>
            <a:r>
              <a:rPr lang="da-DK" dirty="0" err="1" smtClean="0"/>
              <a:t>don’t</a:t>
            </a:r>
            <a:r>
              <a:rPr lang="da-DK" dirty="0" smtClean="0"/>
              <a:t> </a:t>
            </a:r>
            <a:r>
              <a:rPr lang="da-DK" dirty="0" err="1"/>
              <a:t>come</a:t>
            </a:r>
            <a:r>
              <a:rPr lang="da-DK" dirty="0"/>
              <a:t> </a:t>
            </a:r>
            <a:r>
              <a:rPr lang="da-DK" dirty="0" err="1" smtClean="0"/>
              <a:t>easy</a:t>
            </a:r>
            <a:r>
              <a:rPr lang="da-DK" dirty="0" smtClean="0"/>
              <a:t>” </a:t>
            </a:r>
            <a:r>
              <a:rPr lang="da-DK" sz="2400" i="1" dirty="0" smtClean="0"/>
              <a:t>(</a:t>
            </a:r>
            <a:r>
              <a:rPr lang="da-DK" sz="2400" i="1" dirty="0" err="1" smtClean="0"/>
              <a:t>F.R.David</a:t>
            </a:r>
            <a:r>
              <a:rPr lang="da-DK" sz="2400" i="1" dirty="0" smtClean="0"/>
              <a:t>)</a:t>
            </a:r>
            <a:endParaRPr lang="da-DK" sz="2400" i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654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Explanations</a:t>
            </a:r>
            <a:r>
              <a:rPr lang="en-US" dirty="0"/>
              <a:t>, definitions and special considerations are essential for the understanding of </a:t>
            </a:r>
            <a:r>
              <a:rPr lang="en-US" dirty="0" smtClean="0"/>
              <a:t>statistical data</a:t>
            </a:r>
          </a:p>
          <a:p>
            <a:endParaRPr lang="en-US" dirty="0" smtClean="0"/>
          </a:p>
          <a:p>
            <a:r>
              <a:rPr lang="en-US" dirty="0"/>
              <a:t>The quality of the metadata is often as </a:t>
            </a:r>
            <a:r>
              <a:rPr lang="en-US" dirty="0" smtClean="0"/>
              <a:t>important (or more) </a:t>
            </a:r>
            <a:r>
              <a:rPr lang="en-US" dirty="0"/>
              <a:t>as the quality of the statistical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/>
              <a:t>Communication, perception and understanding are essential </a:t>
            </a:r>
            <a:r>
              <a:rPr lang="en-US" dirty="0" smtClean="0"/>
              <a:t>quality dimensions</a:t>
            </a:r>
          </a:p>
          <a:p>
            <a:endParaRPr lang="en-US" dirty="0" smtClean="0"/>
          </a:p>
          <a:p>
            <a:r>
              <a:rPr lang="en-US" dirty="0"/>
              <a:t>Metadata may be an integral part of the statistical </a:t>
            </a:r>
            <a:r>
              <a:rPr lang="en-US" dirty="0" smtClean="0"/>
              <a:t>data regardless </a:t>
            </a:r>
            <a:r>
              <a:rPr lang="en-US" dirty="0"/>
              <a:t>of how those </a:t>
            </a:r>
            <a:r>
              <a:rPr lang="en-US" dirty="0" smtClean="0"/>
              <a:t>are presented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da-DK" dirty="0" smtClean="0"/>
          </a:p>
          <a:p>
            <a:pPr marL="0" indent="0">
              <a:buNone/>
            </a:pPr>
            <a:endParaRPr lang="da-DK" dirty="0" smtClean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“I only believe in statistics that I doctored myself</a:t>
            </a:r>
            <a:r>
              <a:rPr lang="en-US" dirty="0" smtClean="0"/>
              <a:t>” </a:t>
            </a:r>
            <a:r>
              <a:rPr lang="en-US" sz="2200" i="1" dirty="0" smtClean="0"/>
              <a:t>(W. Churchill)</a:t>
            </a:r>
            <a:r>
              <a:rPr lang="en-US" sz="2200" i="1" dirty="0"/>
              <a:t/>
            </a:r>
            <a:br>
              <a:rPr lang="en-US" sz="2200" i="1" dirty="0"/>
            </a:br>
            <a:endParaRPr lang="da-DK" sz="2200" i="1" dirty="0" err="1" smtClean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717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One </a:t>
            </a:r>
            <a:r>
              <a:rPr lang="da-DK" dirty="0" err="1" smtClean="0"/>
              <a:t>bite</a:t>
            </a:r>
            <a:r>
              <a:rPr lang="da-DK" dirty="0" smtClean="0"/>
              <a:t> at a time 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33</a:t>
            </a:fld>
            <a:endParaRPr lang="da-DK" dirty="0"/>
          </a:p>
        </p:txBody>
      </p:sp>
      <p:grpSp>
        <p:nvGrpSpPr>
          <p:cNvPr id="5" name="Gruppe 4"/>
          <p:cNvGrpSpPr/>
          <p:nvPr/>
        </p:nvGrpSpPr>
        <p:grpSpPr>
          <a:xfrm>
            <a:off x="2159732" y="1196752"/>
            <a:ext cx="4536504" cy="4113097"/>
            <a:chOff x="2123728" y="1628800"/>
            <a:chExt cx="4536504" cy="4113097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728" y="1628800"/>
              <a:ext cx="4536504" cy="411309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ktangel 1"/>
            <p:cNvSpPr/>
            <p:nvPr/>
          </p:nvSpPr>
          <p:spPr>
            <a:xfrm>
              <a:off x="3011091" y="2161419"/>
              <a:ext cx="2305688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da-DK" sz="1600" b="1" cap="none" spc="50" dirty="0" smtClean="0">
                  <a:ln w="12700" cmpd="sng">
                    <a:solidFill>
                      <a:schemeClr val="accent6">
                        <a:satMod val="120000"/>
                        <a:shade val="80000"/>
                      </a:schemeClr>
                    </a:solidFill>
                    <a:prstDash val="solid"/>
                  </a:ln>
                  <a:solidFill>
                    <a:schemeClr val="accent6">
                      <a:tint val="1000"/>
                    </a:schemeClr>
                  </a:solidFill>
                  <a:effectLst>
                    <a:glow rad="53100">
                      <a:schemeClr val="accent6">
                        <a:satMod val="180000"/>
                        <a:alpha val="30000"/>
                      </a:schemeClr>
                    </a:glow>
                  </a:effectLst>
                </a:rPr>
                <a:t>DDI</a:t>
              </a:r>
              <a:endParaRPr lang="da-DK" sz="1600" b="1" cap="none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50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One </a:t>
            </a:r>
            <a:r>
              <a:rPr lang="da-DK" dirty="0" err="1" smtClean="0"/>
              <a:t>bite</a:t>
            </a:r>
            <a:r>
              <a:rPr lang="da-DK" dirty="0" smtClean="0"/>
              <a:t> at a time 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34</a:t>
            </a:fld>
            <a:endParaRPr lang="da-DK" dirty="0"/>
          </a:p>
        </p:txBody>
      </p:sp>
      <p:grpSp>
        <p:nvGrpSpPr>
          <p:cNvPr id="5" name="Gruppe 4"/>
          <p:cNvGrpSpPr/>
          <p:nvPr/>
        </p:nvGrpSpPr>
        <p:grpSpPr>
          <a:xfrm>
            <a:off x="2159732" y="1196752"/>
            <a:ext cx="4536504" cy="4113097"/>
            <a:chOff x="2123728" y="1628800"/>
            <a:chExt cx="4536504" cy="4113097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728" y="1628800"/>
              <a:ext cx="4536504" cy="411309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ktangel 1"/>
            <p:cNvSpPr/>
            <p:nvPr/>
          </p:nvSpPr>
          <p:spPr>
            <a:xfrm>
              <a:off x="3011091" y="2161419"/>
              <a:ext cx="2305688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da-DK" sz="1600" b="1" cap="none" spc="50" dirty="0" smtClean="0">
                  <a:ln w="12700" cmpd="sng">
                    <a:solidFill>
                      <a:schemeClr val="accent6">
                        <a:satMod val="120000"/>
                        <a:shade val="80000"/>
                      </a:schemeClr>
                    </a:solidFill>
                    <a:prstDash val="solid"/>
                  </a:ln>
                  <a:solidFill>
                    <a:schemeClr val="accent6">
                      <a:tint val="1000"/>
                    </a:schemeClr>
                  </a:solidFill>
                  <a:effectLst>
                    <a:glow rad="53100">
                      <a:schemeClr val="accent6">
                        <a:satMod val="180000"/>
                        <a:alpha val="30000"/>
                      </a:schemeClr>
                    </a:glow>
                  </a:effectLst>
                </a:rPr>
                <a:t>DDI</a:t>
              </a:r>
              <a:endParaRPr lang="da-DK" sz="1600" b="1" cap="none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endParaRPr>
            </a:p>
          </p:txBody>
        </p:sp>
      </p:grpSp>
      <p:sp>
        <p:nvSpPr>
          <p:cNvPr id="7" name="Titel 2"/>
          <p:cNvSpPr txBox="1">
            <a:spLocks/>
          </p:cNvSpPr>
          <p:nvPr/>
        </p:nvSpPr>
        <p:spPr>
          <a:xfrm>
            <a:off x="482650" y="4869160"/>
            <a:ext cx="82089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da-DK" dirty="0" err="1" smtClean="0"/>
              <a:t>Sometimes</a:t>
            </a:r>
            <a:r>
              <a:rPr lang="da-DK" dirty="0" smtClean="0"/>
              <a:t> perhaps </a:t>
            </a:r>
            <a:r>
              <a:rPr lang="da-DK" dirty="0" err="1" smtClean="0"/>
              <a:t>two</a:t>
            </a:r>
            <a:r>
              <a:rPr lang="da-DK" dirty="0" smtClean="0"/>
              <a:t>..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493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stBlue">
  <a:themeElements>
    <a:clrScheme name="D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A6DD"/>
      </a:accent1>
      <a:accent2>
        <a:srgbClr val="2585B8"/>
      </a:accent2>
      <a:accent3>
        <a:srgbClr val="A0B24F"/>
      </a:accent3>
      <a:accent4>
        <a:srgbClr val="6AB24F"/>
      </a:accent4>
      <a:accent5>
        <a:srgbClr val="D73858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DstBlue">
  <a:themeElements>
    <a:clrScheme name="D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A6DD"/>
      </a:accent1>
      <a:accent2>
        <a:srgbClr val="2585B8"/>
      </a:accent2>
      <a:accent3>
        <a:srgbClr val="A0B24F"/>
      </a:accent3>
      <a:accent4>
        <a:srgbClr val="6AB24F"/>
      </a:accent4>
      <a:accent5>
        <a:srgbClr val="D73858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customUI/customUI.xml>
</file>

<file path=docProps/app.xml><?xml version="1.0" encoding="utf-8"?>
<Properties xmlns="http://schemas.openxmlformats.org/officeDocument/2006/extended-properties" xmlns:vt="http://schemas.openxmlformats.org/officeDocument/2006/docPropsVTypes">
  <Template>DstBlue</Template>
  <TotalTime>795</TotalTime>
  <Words>1173</Words>
  <Application>Microsoft Office PowerPoint</Application>
  <PresentationFormat>On-screen Show (4:3)</PresentationFormat>
  <Paragraphs>319</Paragraphs>
  <Slides>34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DstBlue</vt:lpstr>
      <vt:lpstr>1_DstBlue</vt:lpstr>
      <vt:lpstr>Building a statistics lighthouse for all decision makers</vt:lpstr>
      <vt:lpstr>Why are we here?</vt:lpstr>
      <vt:lpstr>Strategy of official statistics organisations</vt:lpstr>
      <vt:lpstr>What we have to do?</vt:lpstr>
      <vt:lpstr>Simplified definition of statistical metadata </vt:lpstr>
      <vt:lpstr>The Statistical Information System</vt:lpstr>
      <vt:lpstr>A treasure!</vt:lpstr>
      <vt:lpstr>How metadata can help</vt:lpstr>
      <vt:lpstr>How can we serve users?  They should be helped to…</vt:lpstr>
      <vt:lpstr>The role of metadata</vt:lpstr>
      <vt:lpstr>Metadata users</vt:lpstr>
      <vt:lpstr>Metadata vital for end users of statistics</vt:lpstr>
      <vt:lpstr>Understanding statistics and metadata</vt:lpstr>
      <vt:lpstr>Statistics are not all in one place, nor completely coherent. </vt:lpstr>
      <vt:lpstr>Where to go?</vt:lpstr>
      <vt:lpstr>Coordinated metadata</vt:lpstr>
      <vt:lpstr>Portals and standards</vt:lpstr>
      <vt:lpstr>The chosen standards</vt:lpstr>
      <vt:lpstr>Statistics and DDI in a hurry</vt:lpstr>
      <vt:lpstr>PowerPoint Presentation</vt:lpstr>
      <vt:lpstr>Classical metadata elements: ”The Diamond model”</vt:lpstr>
      <vt:lpstr>PowerPoint Presentation</vt:lpstr>
      <vt:lpstr>Different users have different needs</vt:lpstr>
      <vt:lpstr>Metadata must provide a perceived added value for end-users</vt:lpstr>
      <vt:lpstr>Who uses documentation</vt:lpstr>
      <vt:lpstr>Who says that we need to improve</vt:lpstr>
      <vt:lpstr>How do we communicate metadata</vt:lpstr>
      <vt:lpstr>Inverted news pyramid</vt:lpstr>
      <vt:lpstr>Different data needs</vt:lpstr>
      <vt:lpstr>User types</vt:lpstr>
      <vt:lpstr>”Words don’t come easy” (F.R.David)</vt:lpstr>
      <vt:lpstr>“I only believe in statistics that I doctored myself” (W. Churchill) </vt:lpstr>
      <vt:lpstr>One bite at a time </vt:lpstr>
      <vt:lpstr>One bite at a time </vt:lpstr>
    </vt:vector>
  </TitlesOfParts>
  <Company>Danmarks Statistik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statistics lighthouse for all decision makers</dc:title>
  <dc:creator>Carsten Ulrik Zangenberg</dc:creator>
  <cp:lastModifiedBy>Auditoriet</cp:lastModifiedBy>
  <cp:revision>31</cp:revision>
  <dcterms:created xsi:type="dcterms:W3CDTF">2015-11-30T09:13:14Z</dcterms:created>
  <dcterms:modified xsi:type="dcterms:W3CDTF">2015-12-02T07:54:32Z</dcterms:modified>
</cp:coreProperties>
</file>