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56" r:id="rId1"/>
  </p:sldMasterIdLst>
  <p:notesMasterIdLst>
    <p:notesMasterId r:id="rId19"/>
  </p:notesMasterIdLst>
  <p:sldIdLst>
    <p:sldId id="256" r:id="rId2"/>
    <p:sldId id="286" r:id="rId3"/>
    <p:sldId id="303" r:id="rId4"/>
    <p:sldId id="291" r:id="rId5"/>
    <p:sldId id="288" r:id="rId6"/>
    <p:sldId id="304" r:id="rId7"/>
    <p:sldId id="305" r:id="rId8"/>
    <p:sldId id="287" r:id="rId9"/>
    <p:sldId id="309" r:id="rId10"/>
    <p:sldId id="308" r:id="rId11"/>
    <p:sldId id="310" r:id="rId12"/>
    <p:sldId id="311" r:id="rId13"/>
    <p:sldId id="302" r:id="rId14"/>
    <p:sldId id="306" r:id="rId15"/>
    <p:sldId id="312" r:id="rId16"/>
    <p:sldId id="307" r:id="rId17"/>
    <p:sldId id="29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3159" autoAdjust="0"/>
  </p:normalViewPr>
  <p:slideViewPr>
    <p:cSldViewPr>
      <p:cViewPr>
        <p:scale>
          <a:sx n="100" d="100"/>
          <a:sy n="100" d="100"/>
        </p:scale>
        <p:origin x="-1302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A9217-AC5D-4611-8D5D-762E705E32A8}" type="datetimeFigureOut">
              <a:rPr lang="en-US" smtClean="0"/>
              <a:pPr/>
              <a:t>12/4/2012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3265-14E3-499D-A250-3990DD3FB2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20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20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5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35342C-9DE7-4576-84B4-66DBAA25DBA3}" type="datetime1">
              <a:rPr lang="en-US" smtClean="0"/>
              <a:pPr/>
              <a:t>12/4/2012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371600" cy="365125"/>
          </a:xfrm>
        </p:spPr>
        <p:txBody>
          <a:bodyPr/>
          <a:lstStyle/>
          <a:p>
            <a:fld id="{BD821A40-E5F1-42C9-B5AC-56200B498016}" type="datetime1">
              <a:rPr lang="en-US" smtClean="0"/>
              <a:pPr/>
              <a:t>12/4/2012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34200" y="6248400"/>
            <a:ext cx="1839683" cy="365125"/>
          </a:xfrm>
        </p:spPr>
        <p:txBody>
          <a:bodyPr/>
          <a:lstStyle/>
          <a:p>
            <a:r>
              <a:rPr lang="en-US" dirty="0" smtClean="0"/>
              <a:t>Algenta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pic>
        <p:nvPicPr>
          <p:cNvPr id="3074" name="Picture 2" descr="C:\Users\jeremy\svn\admin\PR\Assets\colectica\custom\colectica43x2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6314016"/>
            <a:ext cx="433387" cy="2222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E58D6-12C4-40DE-9A9E-9AD82EBF105B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FCA2AEB-BE29-41D7-8DD4-2824D5AAA15F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2CF48B9-8E54-4ECC-8D6F-35F471D3CFE8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D7708-62B9-48C7-A148-8A601CF8A00E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CEAF-66CB-469F-84AC-3F1C8182DB42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FED5-581D-4E74-BD00-6014CC3587D4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BBA60A9-1E57-4270-9B08-37645341F174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8BAE-CDFA-4DEE-BD5A-2D153E55F028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6EA884-5F18-44A8-95F2-4CB935A25D55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D821A40-E5F1-42C9-B5AC-56200B498016}" type="datetime1">
              <a:rPr lang="en-US" smtClean="0"/>
              <a:pPr/>
              <a:t>12/4/2012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3048000"/>
            <a:ext cx="6248400" cy="19272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Managing Private and Public Views of DDI Metadata Repositories </a:t>
            </a:r>
            <a:endParaRPr lang="en-US" cap="none" dirty="0"/>
          </a:p>
        </p:txBody>
      </p:sp>
      <p:pic>
        <p:nvPicPr>
          <p:cNvPr id="1028" name="Picture 4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609600"/>
            <a:ext cx="3211512" cy="762000"/>
          </a:xfrm>
          <a:prstGeom prst="rect">
            <a:avLst/>
          </a:prstGeom>
          <a:noFill/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EDDI2012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Talk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19600"/>
          </a:xfrm>
        </p:spPr>
        <p:txBody>
          <a:bodyPr/>
          <a:lstStyle/>
          <a:p>
            <a:r>
              <a:rPr lang="en-US" dirty="0" smtClean="0"/>
              <a:t>Presenter: Dan Smith</a:t>
            </a:r>
          </a:p>
          <a:p>
            <a:r>
              <a:rPr lang="en-US" dirty="0" smtClean="0"/>
              <a:t>Challenges in confidentiality</a:t>
            </a:r>
          </a:p>
          <a:p>
            <a:pPr lvl="1"/>
            <a:r>
              <a:rPr lang="en-US" dirty="0" smtClean="0"/>
              <a:t>How to expose metadata to the public</a:t>
            </a:r>
            <a:endParaRPr lang="en-US" dirty="0" smtClean="0"/>
          </a:p>
          <a:p>
            <a:r>
              <a:rPr lang="en-US" dirty="0" smtClean="0"/>
              <a:t>Colectica Workflow Services</a:t>
            </a:r>
            <a:endParaRPr lang="en-US" dirty="0" smtClean="0"/>
          </a:p>
          <a:p>
            <a:pPr lvl="1"/>
            <a:r>
              <a:rPr lang="en-US" dirty="0" smtClean="0"/>
              <a:t>User Experience</a:t>
            </a:r>
            <a:endParaRPr lang="en-US" dirty="0" smtClean="0"/>
          </a:p>
          <a:p>
            <a:pPr lvl="1"/>
            <a:r>
              <a:rPr lang="en-US" dirty="0" smtClean="0"/>
              <a:t>Technical Implementation</a:t>
            </a:r>
            <a:endParaRPr lang="en-US" dirty="0" smtClean="0"/>
          </a:p>
          <a:p>
            <a:r>
              <a:rPr lang="en-US" dirty="0" smtClean="0"/>
              <a:t>Future Directions</a:t>
            </a:r>
            <a:endParaRPr lang="en-US" dirty="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6343220" y="152400"/>
            <a:ext cx="1838721" cy="942242"/>
            <a:chOff x="3200397" y="1584087"/>
            <a:chExt cx="1828805" cy="1357788"/>
          </a:xfrm>
        </p:grpSpPr>
        <p:sp>
          <p:nvSpPr>
            <p:cNvPr id="10" name="Rounded Rectangle 9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3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097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the Speaker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Former: IBM Advanced Internet Technology Group</a:t>
            </a:r>
          </a:p>
          <a:p>
            <a:pPr lvl="1"/>
            <a:r>
              <a:rPr lang="en-US" dirty="0" smtClean="0"/>
              <a:t>Semantic Web (OWL-S and SWRL)</a:t>
            </a:r>
          </a:p>
          <a:p>
            <a:pPr lvl="1"/>
            <a:r>
              <a:rPr lang="en-US" dirty="0" smtClean="0"/>
              <a:t>Persistent Identifiers (LSID)</a:t>
            </a:r>
          </a:p>
          <a:p>
            <a:endParaRPr lang="en-US" dirty="0" smtClean="0"/>
          </a:p>
          <a:p>
            <a:r>
              <a:rPr lang="en-US" dirty="0" smtClean="0"/>
              <a:t>Present: Colectica</a:t>
            </a:r>
          </a:p>
          <a:p>
            <a:pPr lvl="1"/>
            <a:r>
              <a:rPr lang="en-US" dirty="0" smtClean="0"/>
              <a:t>Many DDI 3 based software </a:t>
            </a:r>
            <a:r>
              <a:rPr lang="en-US" dirty="0" smtClean="0"/>
              <a:t>tools and customizations</a:t>
            </a:r>
          </a:p>
          <a:p>
            <a:pPr lvl="1"/>
            <a:r>
              <a:rPr lang="en-US" dirty="0" smtClean="0"/>
              <a:t>Workshops and DDI training</a:t>
            </a:r>
            <a:endParaRPr lang="en-US" dirty="0" smtClean="0"/>
          </a:p>
          <a:p>
            <a:r>
              <a:rPr lang="en-US" dirty="0" smtClean="0"/>
              <a:t>DDI Technical Implementation Committee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343220" y="152400"/>
            <a:ext cx="1838721" cy="942242"/>
            <a:chOff x="3200397" y="1584087"/>
            <a:chExt cx="1828805" cy="1357788"/>
          </a:xfrm>
        </p:grpSpPr>
        <p:sp>
          <p:nvSpPr>
            <p:cNvPr id="10" name="Rounded Rectangle 9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3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570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– Metadata Driven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Metadata now drives production systems</a:t>
            </a:r>
          </a:p>
          <a:p>
            <a:pPr lvl="1"/>
            <a:r>
              <a:rPr lang="en-US" dirty="0" smtClean="0"/>
              <a:t>Everything is recorded</a:t>
            </a:r>
          </a:p>
          <a:p>
            <a:r>
              <a:rPr lang="en-US" dirty="0" smtClean="0"/>
              <a:t>Some metadata used for processing may not be public</a:t>
            </a:r>
          </a:p>
          <a:p>
            <a:pPr lvl="1"/>
            <a:r>
              <a:rPr lang="en-US" dirty="0" smtClean="0"/>
              <a:t>Intermediary versions of metadata</a:t>
            </a:r>
          </a:p>
          <a:p>
            <a:pPr lvl="1"/>
            <a:r>
              <a:rPr lang="en-US" dirty="0" smtClean="0"/>
              <a:t>Internal locations of holdings</a:t>
            </a:r>
          </a:p>
          <a:p>
            <a:pPr lvl="1"/>
            <a:r>
              <a:rPr lang="en-US" dirty="0" smtClean="0"/>
              <a:t>Organization personnel due to privacy concerns</a:t>
            </a:r>
          </a:p>
          <a:p>
            <a:pPr lvl="1"/>
            <a:r>
              <a:rPr lang="en-US" dirty="0"/>
              <a:t>Variable </a:t>
            </a:r>
            <a:r>
              <a:rPr lang="en-US" dirty="0" smtClean="0"/>
              <a:t>statistics </a:t>
            </a:r>
            <a:r>
              <a:rPr lang="en-US" dirty="0"/>
              <a:t>may </a:t>
            </a:r>
            <a:r>
              <a:rPr lang="en-US" dirty="0" smtClean="0"/>
              <a:t>differ internally and externally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8430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- Legal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Legal issues in distributing metadata</a:t>
            </a:r>
          </a:p>
          <a:p>
            <a:r>
              <a:rPr lang="en-US" dirty="0" smtClean="0"/>
              <a:t>Privacy laws regarding particular studies</a:t>
            </a:r>
          </a:p>
          <a:p>
            <a:r>
              <a:rPr lang="en-US" dirty="0" smtClean="0"/>
              <a:t>Patient protections</a:t>
            </a:r>
          </a:p>
          <a:p>
            <a:r>
              <a:rPr lang="en-US" dirty="0" smtClean="0"/>
              <a:t>Licensed code lists that can not be republished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701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- Organizational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1A40-E5F1-42C9-B5AC-56200B498016}" type="datetime1">
              <a:rPr lang="en-US" smtClean="0"/>
              <a:pPr/>
              <a:t>12/4/2012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Specific organization decisions about metadata release</a:t>
            </a:r>
          </a:p>
          <a:p>
            <a:r>
              <a:rPr lang="en-US" dirty="0" smtClean="0"/>
              <a:t>An organization may want to publish only a portion of their information</a:t>
            </a:r>
          </a:p>
          <a:p>
            <a:pPr lvl="1"/>
            <a:r>
              <a:rPr lang="en-US" dirty="0" smtClean="0"/>
              <a:t>Only data file descriptions</a:t>
            </a:r>
          </a:p>
          <a:p>
            <a:pPr lvl="1"/>
            <a:r>
              <a:rPr lang="en-US" dirty="0" smtClean="0"/>
              <a:t>Only questionnaires</a:t>
            </a:r>
          </a:p>
        </p:txBody>
      </p:sp>
    </p:spTree>
    <p:extLst>
      <p:ext uri="{BB962C8B-B14F-4D97-AF65-F5344CB8AC3E}">
        <p14:creationId xmlns:p14="http://schemas.microsoft.com/office/powerpoint/2010/main" val="370638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Workflow Services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1A40-E5F1-42C9-B5AC-56200B498016}" type="datetime1">
              <a:rPr lang="en-US" smtClean="0"/>
              <a:pPr/>
              <a:t>12/4/2012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Colectica Workflow Services manage a publication process</a:t>
            </a:r>
          </a:p>
          <a:p>
            <a:pPr lvl="1"/>
            <a:r>
              <a:rPr lang="en-US" dirty="0" smtClean="0"/>
              <a:t>Approvals</a:t>
            </a:r>
          </a:p>
          <a:p>
            <a:pPr lvl="1"/>
            <a:r>
              <a:rPr lang="en-US" dirty="0" smtClean="0"/>
              <a:t>Redacting, filtering, </a:t>
            </a:r>
            <a:br>
              <a:rPr lang="en-US" dirty="0" smtClean="0"/>
            </a:br>
            <a:r>
              <a:rPr lang="en-US" dirty="0" smtClean="0"/>
              <a:t>and pruning published metadata</a:t>
            </a:r>
          </a:p>
          <a:p>
            <a:pPr lvl="1"/>
            <a:r>
              <a:rPr lang="en-US" dirty="0" smtClean="0"/>
              <a:t>Audit log of </a:t>
            </a:r>
            <a:br>
              <a:rPr lang="en-US" dirty="0" smtClean="0"/>
            </a:br>
            <a:r>
              <a:rPr lang="en-US" dirty="0" smtClean="0"/>
              <a:t>approval process</a:t>
            </a:r>
          </a:p>
          <a:p>
            <a:r>
              <a:rPr lang="en-US" dirty="0" smtClean="0"/>
              <a:t>Included with</a:t>
            </a:r>
            <a:br>
              <a:rPr lang="en-US" dirty="0" smtClean="0"/>
            </a:br>
            <a:r>
              <a:rPr lang="en-US" dirty="0" smtClean="0"/>
              <a:t>Colectica Repository</a:t>
            </a:r>
            <a:endParaRPr lang="en-US" dirty="0"/>
          </a:p>
        </p:txBody>
      </p:sp>
      <p:pic>
        <p:nvPicPr>
          <p:cNvPr id="1026" name="Picture 2" descr="C:\svn\admin\PR\Assets\colectica\boxes\workflow-bo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0480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77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Publication Process - Selection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User selects a metadata product to publish in Colectica Designer</a:t>
            </a:r>
          </a:p>
          <a:p>
            <a:pPr lvl="1"/>
            <a:r>
              <a:rPr lang="en-US" dirty="0" smtClean="0"/>
              <a:t>Chooses where to publish the item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124200"/>
            <a:ext cx="6248400" cy="305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Publication Process - Request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publication request is submitted to the Workflow Services</a:t>
            </a:r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397367"/>
            <a:ext cx="5791200" cy="356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Publication Process - Review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Another user with appropriate permissions can view and approve the publication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590800"/>
            <a:ext cx="6019800" cy="36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4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Publication Process - Publish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Workflow Services redacts/filters and publishes the metadata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362200"/>
            <a:ext cx="5942863" cy="36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Publication Process - Provenance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Audit trail of published metadata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286000"/>
            <a:ext cx="6400800" cy="393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7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Technical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Rules are created in the Workflow Service that control what information becomes public</a:t>
            </a:r>
          </a:p>
          <a:p>
            <a:r>
              <a:rPr lang="en-US" dirty="0" smtClean="0"/>
              <a:t>Two types of rules</a:t>
            </a:r>
          </a:p>
          <a:p>
            <a:pPr lvl="1"/>
            <a:r>
              <a:rPr lang="en-US" dirty="0" smtClean="0"/>
              <a:t>Per item rules control content within individual items</a:t>
            </a:r>
          </a:p>
          <a:p>
            <a:pPr lvl="1"/>
            <a:r>
              <a:rPr lang="en-US" dirty="0" smtClean="0"/>
              <a:t>Per publication rules control whole items and their relationships</a:t>
            </a:r>
          </a:p>
          <a:p>
            <a:r>
              <a:rPr lang="en-US" dirty="0" smtClean="0"/>
              <a:t>Combining these two rule types gives an organization full control.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9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Technical – Included Samples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Sample rules are included</a:t>
            </a:r>
          </a:p>
          <a:p>
            <a:r>
              <a:rPr lang="en-US" dirty="0" smtClean="0"/>
              <a:t>Filter published questionnaire flow</a:t>
            </a:r>
          </a:p>
          <a:p>
            <a:r>
              <a:rPr lang="en-US" dirty="0" smtClean="0"/>
              <a:t>Filter custom fields of a specific type</a:t>
            </a:r>
          </a:p>
          <a:p>
            <a:pPr lvl="1"/>
            <a:r>
              <a:rPr lang="en-US" dirty="0" smtClean="0"/>
              <a:t>Example - Don’t disclose the “Data Custodian”</a:t>
            </a:r>
          </a:p>
          <a:p>
            <a:r>
              <a:rPr lang="en-US" dirty="0" smtClean="0"/>
              <a:t>Filter by intended audience</a:t>
            </a:r>
          </a:p>
          <a:p>
            <a:pPr lvl="1"/>
            <a:r>
              <a:rPr lang="en-US" dirty="0" smtClean="0"/>
              <a:t>Colectica allows multiple audiences to be defined for many fields, filter the “Internal Audience”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76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Technical – External 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 metadata has same identification as the internal metadata</a:t>
            </a:r>
          </a:p>
          <a:p>
            <a:pPr lvl="1"/>
            <a:r>
              <a:rPr lang="en-US" dirty="0" smtClean="0"/>
              <a:t>Some fields may not be available</a:t>
            </a:r>
          </a:p>
          <a:p>
            <a:pPr lvl="1"/>
            <a:r>
              <a:rPr lang="en-US" dirty="0" smtClean="0"/>
              <a:t>Some items may be entirely hidden</a:t>
            </a:r>
          </a:p>
          <a:p>
            <a:r>
              <a:rPr lang="en-US" dirty="0" smtClean="0"/>
              <a:t>Consistent identity information allows an organization to benefit from reuse</a:t>
            </a:r>
          </a:p>
          <a:p>
            <a:pPr lvl="1"/>
            <a:r>
              <a:rPr lang="en-US" dirty="0" smtClean="0"/>
              <a:t>External reuse is still visible</a:t>
            </a:r>
          </a:p>
          <a:p>
            <a:pPr lvl="1"/>
            <a:r>
              <a:rPr lang="en-US" dirty="0" smtClean="0"/>
              <a:t>Third party metadata can be linked to internal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86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Future Directions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sample filters based on customer feedback</a:t>
            </a:r>
          </a:p>
          <a:p>
            <a:r>
              <a:rPr lang="en-US" dirty="0" smtClean="0"/>
              <a:t>Improved searching within publication audit trail</a:t>
            </a:r>
          </a:p>
          <a:p>
            <a:r>
              <a:rPr lang="en-US" dirty="0" smtClean="0"/>
              <a:t>Ability to publish to XML files in addition to another repository instance</a:t>
            </a:r>
          </a:p>
          <a:p>
            <a:r>
              <a:rPr lang="en-US" dirty="0" smtClean="0"/>
              <a:t>Public implementation at Statistics New Zealand in April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8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098" name="Picture 2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81000"/>
            <a:ext cx="3211513" cy="7620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943040"/>
              </p:ext>
            </p:extLst>
          </p:nvPr>
        </p:nvGraphicFramePr>
        <p:xfrm>
          <a:off x="1371600" y="3124200"/>
          <a:ext cx="7010401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1828800"/>
                <a:gridCol w="4572001"/>
              </a:tblGrid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Web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blogs.colectica.com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Twitter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@Colectica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youtube.com/</a:t>
                      </a:r>
                      <a:r>
                        <a:rPr lang="en-US" sz="3600" dirty="0" err="1" smtClean="0"/>
                        <a:t>colectica</a:t>
                      </a:r>
                      <a:endParaRPr lang="en-US" sz="3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2" descr="D:\Downloads\twit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4521200"/>
            <a:ext cx="4318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D:\Downloads\youtub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51562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37" y="3886200"/>
            <a:ext cx="411013" cy="4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5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464</Words>
  <Application>Microsoft Office PowerPoint</Application>
  <PresentationFormat>On-screen Show (4:3)</PresentationFormat>
  <Paragraphs>109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Median</vt:lpstr>
      <vt:lpstr>Managing Private and Public Views of DDI Metadata Repositories </vt:lpstr>
      <vt:lpstr>In This Talk</vt:lpstr>
      <vt:lpstr>About the Speaker</vt:lpstr>
      <vt:lpstr>Challenges – Metadata Driven</vt:lpstr>
      <vt:lpstr>Challenges - Legal</vt:lpstr>
      <vt:lpstr>Challenges - Organizational</vt:lpstr>
      <vt:lpstr>Colectica Workflow Services</vt:lpstr>
      <vt:lpstr>Publication Process - Selection</vt:lpstr>
      <vt:lpstr>Publication Process - Request</vt:lpstr>
      <vt:lpstr>Publication Process - Review</vt:lpstr>
      <vt:lpstr>Publication Process - Publish</vt:lpstr>
      <vt:lpstr>Publication Process - Provenance</vt:lpstr>
      <vt:lpstr>Technical</vt:lpstr>
      <vt:lpstr>Technical – Included Samples</vt:lpstr>
      <vt:lpstr>Technical – External view</vt:lpstr>
      <vt:lpstr>Future Directions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Accessing DDI 3 as Linked Data - Colectica RDF Services</dc:title>
  <dc:creator/>
  <cp:lastModifiedBy/>
  <cp:revision>1</cp:revision>
  <dcterms:created xsi:type="dcterms:W3CDTF">2012-06-05T17:15:01Z</dcterms:created>
  <dcterms:modified xsi:type="dcterms:W3CDTF">2012-12-04T08:38:10Z</dcterms:modified>
</cp:coreProperties>
</file>