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5.xml" ContentType="application/vnd.openxmlformats-officedocument.theme+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7.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8.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0.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63" r:id="rId2"/>
    <p:sldMasterId id="2147483667" r:id="rId3"/>
    <p:sldMasterId id="2147483671" r:id="rId4"/>
    <p:sldMasterId id="2147483675" r:id="rId5"/>
    <p:sldMasterId id="2147483679" r:id="rId6"/>
    <p:sldMasterId id="2147483683" r:id="rId7"/>
    <p:sldMasterId id="2147483690" r:id="rId8"/>
    <p:sldMasterId id="2147483694" r:id="rId9"/>
    <p:sldMasterId id="2147483699" r:id="rId10"/>
    <p:sldMasterId id="2147483704" r:id="rId11"/>
  </p:sldMasterIdLst>
  <p:notesMasterIdLst>
    <p:notesMasterId r:id="rId30"/>
  </p:notesMasterIdLst>
  <p:handoutMasterIdLst>
    <p:handoutMasterId r:id="rId31"/>
  </p:handoutMasterIdLst>
  <p:sldIdLst>
    <p:sldId id="280" r:id="rId12"/>
    <p:sldId id="347" r:id="rId13"/>
    <p:sldId id="348" r:id="rId14"/>
    <p:sldId id="364" r:id="rId15"/>
    <p:sldId id="363" r:id="rId16"/>
    <p:sldId id="350" r:id="rId17"/>
    <p:sldId id="349" r:id="rId18"/>
    <p:sldId id="263" r:id="rId19"/>
    <p:sldId id="351" r:id="rId20"/>
    <p:sldId id="354" r:id="rId21"/>
    <p:sldId id="344" r:id="rId22"/>
    <p:sldId id="362" r:id="rId23"/>
    <p:sldId id="359" r:id="rId24"/>
    <p:sldId id="360" r:id="rId25"/>
    <p:sldId id="355" r:id="rId26"/>
    <p:sldId id="356" r:id="rId27"/>
    <p:sldId id="357" r:id="rId28"/>
    <p:sldId id="332" r:id="rId29"/>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remy Williams" initials="JW"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16" autoAdjust="0"/>
    <p:restoredTop sz="87674" autoAdjust="0"/>
  </p:normalViewPr>
  <p:slideViewPr>
    <p:cSldViewPr>
      <p:cViewPr>
        <p:scale>
          <a:sx n="135" d="100"/>
          <a:sy n="135" d="100"/>
        </p:scale>
        <p:origin x="152" y="324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interSettings" Target="printerSettings/printerSettings1.bin"/><Relationship Id="rId9" Type="http://schemas.openxmlformats.org/officeDocument/2006/relationships/slideMaster" Target="slideMasters/slideMaster9.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33" Type="http://schemas.openxmlformats.org/officeDocument/2006/relationships/commentAuthors" Target="commentAuthor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3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D57C46BD-238D-4EDB-A8D9-1A1A7BF7F46C}" type="datetimeFigureOut">
              <a:rPr lang="en-US" smtClean="0"/>
              <a:t>12/3/12</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4BCBCCA1-36C2-44B0-8E50-F7C0EBE63184}" type="slidenum">
              <a:rPr lang="en-US" smtClean="0"/>
              <a:t>‹#›</a:t>
            </a:fld>
            <a:endParaRPr lang="en-US"/>
          </a:p>
        </p:txBody>
      </p:sp>
    </p:spTree>
    <p:extLst>
      <p:ext uri="{BB962C8B-B14F-4D97-AF65-F5344CB8AC3E}">
        <p14:creationId xmlns:p14="http://schemas.microsoft.com/office/powerpoint/2010/main" val="12223244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E00458AC-E67F-46D6-AF67-6D285AC8B639}" type="datetimeFigureOut">
              <a:rPr lang="en-US" smtClean="0"/>
              <a:t>12/3/12</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5F7376C8-F39B-46E9-A905-3B5B71594841}" type="slidenum">
              <a:rPr lang="en-US" smtClean="0"/>
              <a:t>‹#›</a:t>
            </a:fld>
            <a:endParaRPr lang="en-US"/>
          </a:p>
        </p:txBody>
      </p:sp>
    </p:spTree>
    <p:extLst>
      <p:ext uri="{BB962C8B-B14F-4D97-AF65-F5344CB8AC3E}">
        <p14:creationId xmlns:p14="http://schemas.microsoft.com/office/powerpoint/2010/main" val="2167435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110397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92158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192158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33566">
              <a:defRPr sz="2400">
                <a:solidFill>
                  <a:schemeClr val="tx1"/>
                </a:solidFill>
                <a:latin typeface="Times New Roman" charset="0"/>
                <a:ea typeface="ＭＳ Ｐゴシック" charset="0"/>
              </a:defRPr>
            </a:lvl1pPr>
            <a:lvl2pPr marL="733069" indent="-281950" defTabSz="933566">
              <a:defRPr sz="2400">
                <a:solidFill>
                  <a:schemeClr val="tx1"/>
                </a:solidFill>
                <a:latin typeface="Times New Roman" charset="0"/>
                <a:ea typeface="ＭＳ Ｐゴシック" charset="0"/>
              </a:defRPr>
            </a:lvl2pPr>
            <a:lvl3pPr marL="1127798" indent="-225560" defTabSz="933566">
              <a:defRPr sz="2400">
                <a:solidFill>
                  <a:schemeClr val="tx1"/>
                </a:solidFill>
                <a:latin typeface="Times New Roman" charset="0"/>
                <a:ea typeface="ＭＳ Ｐゴシック" charset="0"/>
              </a:defRPr>
            </a:lvl3pPr>
            <a:lvl4pPr marL="1578917" indent="-225560" defTabSz="933566">
              <a:defRPr sz="2400">
                <a:solidFill>
                  <a:schemeClr val="tx1"/>
                </a:solidFill>
                <a:latin typeface="Times New Roman" charset="0"/>
                <a:ea typeface="ＭＳ Ｐゴシック" charset="0"/>
              </a:defRPr>
            </a:lvl4pPr>
            <a:lvl5pPr marL="2030037" indent="-225560" defTabSz="933566">
              <a:defRPr sz="2400">
                <a:solidFill>
                  <a:schemeClr val="tx1"/>
                </a:solidFill>
                <a:latin typeface="Times New Roman" charset="0"/>
                <a:ea typeface="ＭＳ Ｐゴシック" charset="0"/>
              </a:defRPr>
            </a:lvl5pPr>
            <a:lvl6pPr marL="2481156" indent="-225560" defTabSz="933566" eaLnBrk="0" fontAlgn="base" hangingPunct="0">
              <a:spcBef>
                <a:spcPct val="0"/>
              </a:spcBef>
              <a:spcAft>
                <a:spcPct val="0"/>
              </a:spcAft>
              <a:defRPr sz="2400">
                <a:solidFill>
                  <a:schemeClr val="tx1"/>
                </a:solidFill>
                <a:latin typeface="Times New Roman" charset="0"/>
                <a:ea typeface="ＭＳ Ｐゴシック" charset="0"/>
              </a:defRPr>
            </a:lvl6pPr>
            <a:lvl7pPr marL="2932275" indent="-225560" defTabSz="933566" eaLnBrk="0" fontAlgn="base" hangingPunct="0">
              <a:spcBef>
                <a:spcPct val="0"/>
              </a:spcBef>
              <a:spcAft>
                <a:spcPct val="0"/>
              </a:spcAft>
              <a:defRPr sz="2400">
                <a:solidFill>
                  <a:schemeClr val="tx1"/>
                </a:solidFill>
                <a:latin typeface="Times New Roman" charset="0"/>
                <a:ea typeface="ＭＳ Ｐゴシック" charset="0"/>
              </a:defRPr>
            </a:lvl7pPr>
            <a:lvl8pPr marL="3383394" indent="-225560" defTabSz="933566" eaLnBrk="0" fontAlgn="base" hangingPunct="0">
              <a:spcBef>
                <a:spcPct val="0"/>
              </a:spcBef>
              <a:spcAft>
                <a:spcPct val="0"/>
              </a:spcAft>
              <a:defRPr sz="2400">
                <a:solidFill>
                  <a:schemeClr val="tx1"/>
                </a:solidFill>
                <a:latin typeface="Times New Roman" charset="0"/>
                <a:ea typeface="ＭＳ Ｐゴシック" charset="0"/>
              </a:defRPr>
            </a:lvl8pPr>
            <a:lvl9pPr marL="3834514" indent="-225560" defTabSz="933566" eaLnBrk="0" fontAlgn="base" hangingPunct="0">
              <a:spcBef>
                <a:spcPct val="0"/>
              </a:spcBef>
              <a:spcAft>
                <a:spcPct val="0"/>
              </a:spcAft>
              <a:defRPr sz="2400">
                <a:solidFill>
                  <a:schemeClr val="tx1"/>
                </a:solidFill>
                <a:latin typeface="Times New Roman" charset="0"/>
                <a:ea typeface="ＭＳ Ｐゴシック" charset="0"/>
              </a:defRPr>
            </a:lvl9pPr>
          </a:lstStyle>
          <a:p>
            <a:pPr>
              <a:defRPr/>
            </a:pPr>
            <a:fld id="{37327968-1913-5C4D-8EA7-A5C0BD3DBD6C}" type="slidenum">
              <a:rPr lang="en-US" sz="1200">
                <a:latin typeface="Arial" charset="0"/>
              </a:rPr>
              <a:pPr>
                <a:defRPr/>
              </a:pPr>
              <a:t>4</a:t>
            </a:fld>
            <a:endParaRPr lang="en-US" sz="1200">
              <a:latin typeface="Arial"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a:cs typeface="+mn-cs"/>
              </a:rPr>
              <a:t>IAN: The goal of this talk is to introduce you to the Research Data Center located at Cornell, to tell you about some of the current research projects going on at the RDC, to tell you about the many expansive datasets available for research at the RDC, and to tell you a little bit about the research process. </a:t>
            </a:r>
          </a:p>
          <a:p>
            <a:pPr eaLnBrk="1" hangingPunct="1">
              <a:defRPr/>
            </a:pPr>
            <a:r>
              <a:rPr lang="en-US">
                <a:cs typeface="+mn-cs"/>
              </a:rPr>
              <a:t>I am the Administrator of the facility and your first point of contact for questions regarding research projects you may wish to undertake.</a:t>
            </a:r>
          </a:p>
          <a:p>
            <a:pPr eaLnBrk="1" hangingPunct="1">
              <a:defRPr/>
            </a:pPr>
            <a:endParaRPr lang="en-US">
              <a:cs typeface="+mn-cs"/>
            </a:endParaRPr>
          </a:p>
          <a:p>
            <a:pPr eaLnBrk="1" hangingPunct="1">
              <a:defRPr/>
            </a:pPr>
            <a:r>
              <a:rPr lang="en-US">
                <a:cs typeface="+mn-cs"/>
              </a:rPr>
              <a:t>WARREN: I am the Research Director of the RDC at Cornell. I am leaving Cornell the end of the semester and Bill Block, Director of CISER, will take over directing the research functions including proposal development. The Cornell Research Data Center is located at 391 Pine Tree road, near East Hill Plaza, at CISER – the Cornell Institute for Social and Economic Research.  [Ad lib plug for CISER]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33566">
              <a:defRPr sz="2400">
                <a:solidFill>
                  <a:schemeClr val="tx1"/>
                </a:solidFill>
                <a:latin typeface="Times New Roman" charset="0"/>
                <a:ea typeface="ＭＳ Ｐゴシック" charset="0"/>
              </a:defRPr>
            </a:lvl1pPr>
            <a:lvl2pPr marL="733069" indent="-281950" defTabSz="933566">
              <a:defRPr sz="2400">
                <a:solidFill>
                  <a:schemeClr val="tx1"/>
                </a:solidFill>
                <a:latin typeface="Times New Roman" charset="0"/>
                <a:ea typeface="ＭＳ Ｐゴシック" charset="0"/>
              </a:defRPr>
            </a:lvl2pPr>
            <a:lvl3pPr marL="1127798" indent="-225560" defTabSz="933566">
              <a:defRPr sz="2400">
                <a:solidFill>
                  <a:schemeClr val="tx1"/>
                </a:solidFill>
                <a:latin typeface="Times New Roman" charset="0"/>
                <a:ea typeface="ＭＳ Ｐゴシック" charset="0"/>
              </a:defRPr>
            </a:lvl3pPr>
            <a:lvl4pPr marL="1578917" indent="-225560" defTabSz="933566">
              <a:defRPr sz="2400">
                <a:solidFill>
                  <a:schemeClr val="tx1"/>
                </a:solidFill>
                <a:latin typeface="Times New Roman" charset="0"/>
                <a:ea typeface="ＭＳ Ｐゴシック" charset="0"/>
              </a:defRPr>
            </a:lvl4pPr>
            <a:lvl5pPr marL="2030037" indent="-225560" defTabSz="933566">
              <a:defRPr sz="2400">
                <a:solidFill>
                  <a:schemeClr val="tx1"/>
                </a:solidFill>
                <a:latin typeface="Times New Roman" charset="0"/>
                <a:ea typeface="ＭＳ Ｐゴシック" charset="0"/>
              </a:defRPr>
            </a:lvl5pPr>
            <a:lvl6pPr marL="2481156" indent="-225560" defTabSz="933566" eaLnBrk="0" fontAlgn="base" hangingPunct="0">
              <a:spcBef>
                <a:spcPct val="0"/>
              </a:spcBef>
              <a:spcAft>
                <a:spcPct val="0"/>
              </a:spcAft>
              <a:defRPr sz="2400">
                <a:solidFill>
                  <a:schemeClr val="tx1"/>
                </a:solidFill>
                <a:latin typeface="Times New Roman" charset="0"/>
                <a:ea typeface="ＭＳ Ｐゴシック" charset="0"/>
              </a:defRPr>
            </a:lvl6pPr>
            <a:lvl7pPr marL="2932275" indent="-225560" defTabSz="933566" eaLnBrk="0" fontAlgn="base" hangingPunct="0">
              <a:spcBef>
                <a:spcPct val="0"/>
              </a:spcBef>
              <a:spcAft>
                <a:spcPct val="0"/>
              </a:spcAft>
              <a:defRPr sz="2400">
                <a:solidFill>
                  <a:schemeClr val="tx1"/>
                </a:solidFill>
                <a:latin typeface="Times New Roman" charset="0"/>
                <a:ea typeface="ＭＳ Ｐゴシック" charset="0"/>
              </a:defRPr>
            </a:lvl7pPr>
            <a:lvl8pPr marL="3383394" indent="-225560" defTabSz="933566" eaLnBrk="0" fontAlgn="base" hangingPunct="0">
              <a:spcBef>
                <a:spcPct val="0"/>
              </a:spcBef>
              <a:spcAft>
                <a:spcPct val="0"/>
              </a:spcAft>
              <a:defRPr sz="2400">
                <a:solidFill>
                  <a:schemeClr val="tx1"/>
                </a:solidFill>
                <a:latin typeface="Times New Roman" charset="0"/>
                <a:ea typeface="ＭＳ Ｐゴシック" charset="0"/>
              </a:defRPr>
            </a:lvl8pPr>
            <a:lvl9pPr marL="3834514" indent="-225560" defTabSz="933566" eaLnBrk="0" fontAlgn="base" hangingPunct="0">
              <a:spcBef>
                <a:spcPct val="0"/>
              </a:spcBef>
              <a:spcAft>
                <a:spcPct val="0"/>
              </a:spcAft>
              <a:defRPr sz="2400">
                <a:solidFill>
                  <a:schemeClr val="tx1"/>
                </a:solidFill>
                <a:latin typeface="Times New Roman" charset="0"/>
                <a:ea typeface="ＭＳ Ｐゴシック" charset="0"/>
              </a:defRPr>
            </a:lvl9pPr>
          </a:lstStyle>
          <a:p>
            <a:pPr>
              <a:defRPr/>
            </a:pPr>
            <a:fld id="{85DE12AF-D556-A24F-B8AD-55BD00BC67C4}" type="slidenum">
              <a:rPr lang="en-US" sz="1200">
                <a:latin typeface="Arial" charset="0"/>
              </a:rPr>
              <a:pPr>
                <a:defRPr/>
              </a:pPr>
              <a:t>5</a:t>
            </a:fld>
            <a:endParaRPr lang="en-US" sz="1200">
              <a:latin typeface="Arial"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a:cs typeface="+mn-cs"/>
              </a:rPr>
              <a:t>IAN: The Center for Economic Studies was created at Census in 1982 to provide secure access to confidential microdata for external researchers wanting to use business microdata collected in economic surveys. That original Census Research Data Center in Maryland has grown into a national network of 8 RDCs around the country, Cornell and Baruch being two of the most recently opened.</a:t>
            </a:r>
          </a:p>
          <a:p>
            <a:pPr eaLnBrk="1" hangingPunct="1">
              <a:defRPr/>
            </a:pPr>
            <a:r>
              <a:rPr lang="en-US">
                <a:cs typeface="+mn-cs"/>
              </a:rPr>
              <a:t>RDCs: </a:t>
            </a:r>
          </a:p>
          <a:p>
            <a:pPr lvl="1" eaLnBrk="1" hangingPunct="1">
              <a:defRPr/>
            </a:pPr>
            <a:r>
              <a:rPr lang="en-US"/>
              <a:t>Boston 1994, UC Berkeley 1999, UCLA 1999, Research Triangle 2000, Michigan 2002, Chicago 2002, New York - Cornell 2004 and Baruch 2006</a:t>
            </a:r>
          </a:p>
          <a:p>
            <a:pPr lvl="1" eaLnBrk="1" hangingPunct="1">
              <a:defRPr/>
            </a:pPr>
            <a:r>
              <a:rPr lang="en-US"/>
              <a:t>Minnesota 2009 Georgia?</a:t>
            </a:r>
          </a:p>
          <a:p>
            <a:pPr eaLnBrk="1" hangingPunct="1">
              <a:defRPr/>
            </a:pPr>
            <a:r>
              <a:rPr lang="en-US">
                <a:cs typeface="+mn-cs"/>
              </a:rPr>
              <a:t>There is an active proposal to open an RDC at the University of Georgia. One effect of this growing national network is that it facilitates collaborative projects involving researchers at different sites.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1921581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192158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4418ED-4E34-4F01-A3CD-06E94940DF2A}"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4129402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Shape 194"/>
          <p:cNvSpPr>
            <a:spLocks noGrp="1" noRot="1" noChangeAspect="1"/>
          </p:cNvSpPr>
          <p:nvPr>
            <p:ph type="sldImg" idx="2"/>
          </p:nvPr>
        </p:nvSpPr>
        <p:spPr>
          <a:xfrm>
            <a:off x="1184275" y="698500"/>
            <a:ext cx="4654550" cy="3490913"/>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95" name="Shape 195"/>
          <p:cNvSpPr txBox="1">
            <a:spLocks noGrp="1"/>
          </p:cNvSpPr>
          <p:nvPr>
            <p:ph type="body" idx="1"/>
          </p:nvPr>
        </p:nvSpPr>
        <p:spPr>
          <a:xfrm>
            <a:off x="702311" y="4421823"/>
            <a:ext cx="5618479" cy="373104"/>
          </a:xfrm>
          <a:prstGeom prst="rect">
            <a:avLst/>
          </a:prstGeom>
          <a:noFill/>
          <a:ln>
            <a:noFill/>
          </a:ln>
        </p:spPr>
        <p:txBody>
          <a:bodyPr lIns="93308" tIns="93308" rIns="93308" bIns="93308" anchor="t" anchorCtr="0">
            <a:spAutoFit/>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a:spLocks noGrp="1" noRot="1" noChangeAspect="1"/>
          </p:cNvSpPr>
          <p:nvPr>
            <p:ph type="sldImg" idx="2"/>
          </p:nvPr>
        </p:nvSpPr>
        <p:spPr>
          <a:xfrm>
            <a:off x="1184275" y="698500"/>
            <a:ext cx="4654550" cy="3490913"/>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83" name="Shape 183"/>
          <p:cNvSpPr txBox="1">
            <a:spLocks noGrp="1"/>
          </p:cNvSpPr>
          <p:nvPr>
            <p:ph type="body" idx="1"/>
          </p:nvPr>
        </p:nvSpPr>
        <p:spPr>
          <a:xfrm>
            <a:off x="702311" y="4421823"/>
            <a:ext cx="5618479" cy="373104"/>
          </a:xfrm>
          <a:prstGeom prst="rect">
            <a:avLst/>
          </a:prstGeom>
          <a:noFill/>
          <a:ln>
            <a:noFill/>
          </a:ln>
        </p:spPr>
        <p:txBody>
          <a:bodyPr lIns="93308" tIns="93308" rIns="93308" bIns="93308" anchor="t" anchorCtr="0">
            <a:spAutoFit/>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Shape 188"/>
          <p:cNvSpPr>
            <a:spLocks noGrp="1" noRot="1" noChangeAspect="1"/>
          </p:cNvSpPr>
          <p:nvPr>
            <p:ph type="sldImg" idx="2"/>
          </p:nvPr>
        </p:nvSpPr>
        <p:spPr>
          <a:xfrm>
            <a:off x="1184275" y="698500"/>
            <a:ext cx="4654550" cy="3490913"/>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89" name="Shape 189"/>
          <p:cNvSpPr txBox="1">
            <a:spLocks noGrp="1"/>
          </p:cNvSpPr>
          <p:nvPr>
            <p:ph type="body" idx="1"/>
          </p:nvPr>
        </p:nvSpPr>
        <p:spPr>
          <a:xfrm>
            <a:off x="702311" y="4421823"/>
            <a:ext cx="5618479" cy="373104"/>
          </a:xfrm>
          <a:prstGeom prst="rect">
            <a:avLst/>
          </a:prstGeom>
          <a:noFill/>
          <a:ln>
            <a:noFill/>
          </a:ln>
        </p:spPr>
        <p:txBody>
          <a:bodyPr lIns="93308" tIns="93308" rIns="93308" bIns="93308" anchor="t" anchorCtr="0">
            <a:spAutoFit/>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this scenario, </a:t>
            </a:r>
            <a:r>
              <a:rPr lang="en-US" dirty="0" err="1" smtClean="0"/>
              <a:t>totfam_kids</a:t>
            </a:r>
            <a:r>
              <a:rPr lang="en-US" dirty="0" smtClean="0"/>
              <a:t> is public and</a:t>
            </a:r>
            <a:r>
              <a:rPr lang="en-US" baseline="0" dirty="0" smtClean="0"/>
              <a:t> </a:t>
            </a:r>
            <a:r>
              <a:rPr lang="en-US" baseline="0" dirty="0" err="1" smtClean="0"/>
              <a:t>totinc</a:t>
            </a:r>
            <a:r>
              <a:rPr lang="en-US" baseline="0" dirty="0" smtClean="0"/>
              <a:t> is confidential</a:t>
            </a:r>
            <a:endParaRPr lang="en-US" dirty="0"/>
          </a:p>
        </p:txBody>
      </p:sp>
      <p:sp>
        <p:nvSpPr>
          <p:cNvPr id="4" name="Slide Number Placeholder 3"/>
          <p:cNvSpPr>
            <a:spLocks noGrp="1"/>
          </p:cNvSpPr>
          <p:nvPr>
            <p:ph type="sldNum" sz="quarter" idx="10"/>
          </p:nvPr>
        </p:nvSpPr>
        <p:spPr/>
        <p:txBody>
          <a:bodyPr/>
          <a:lstStyle/>
          <a:p>
            <a:fld id="{540264C1-321D-453B-9555-0145EF24E19E}" type="slidenum">
              <a:rPr lang="en-US" smtClean="0"/>
              <a:t>16</a:t>
            </a:fld>
            <a:endParaRPr lang="en-US"/>
          </a:p>
        </p:txBody>
      </p:sp>
    </p:spTree>
    <p:extLst>
      <p:ext uri="{BB962C8B-B14F-4D97-AF65-F5344CB8AC3E}">
        <p14:creationId xmlns:p14="http://schemas.microsoft.com/office/powerpoint/2010/main" val="4283262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Wouldn’t it be cool if we could make </a:t>
            </a:r>
            <a:r>
              <a:rPr lang="en-US" dirty="0" err="1" smtClean="0"/>
              <a:t>totinc</a:t>
            </a:r>
            <a:r>
              <a:rPr lang="en-US" baseline="0" dirty="0" smtClean="0"/>
              <a:t> public, but make certain value codes confidential (currently not possible to assign access id to </a:t>
            </a:r>
            <a:r>
              <a:rPr lang="en-US" baseline="0" dirty="0" err="1" smtClean="0"/>
              <a:t>catgry</a:t>
            </a:r>
            <a:r>
              <a:rPr lang="en-US" baseline="0" smtClean="0"/>
              <a:t> element in DDI 2.5)</a:t>
            </a:r>
            <a:endParaRPr lang="en-US" dirty="0"/>
          </a:p>
        </p:txBody>
      </p:sp>
      <p:sp>
        <p:nvSpPr>
          <p:cNvPr id="4" name="Slide Number Placeholder 3"/>
          <p:cNvSpPr>
            <a:spLocks noGrp="1"/>
          </p:cNvSpPr>
          <p:nvPr>
            <p:ph type="sldNum" sz="quarter" idx="10"/>
          </p:nvPr>
        </p:nvSpPr>
        <p:spPr/>
        <p:txBody>
          <a:bodyPr/>
          <a:lstStyle/>
          <a:p>
            <a:fld id="{540264C1-321D-453B-9555-0145EF24E19E}" type="slidenum">
              <a:rPr lang="en-US" smtClean="0"/>
              <a:t>17</a:t>
            </a:fld>
            <a:endParaRPr lang="en-US"/>
          </a:p>
        </p:txBody>
      </p:sp>
    </p:spTree>
    <p:extLst>
      <p:ext uri="{BB962C8B-B14F-4D97-AF65-F5344CB8AC3E}">
        <p14:creationId xmlns:p14="http://schemas.microsoft.com/office/powerpoint/2010/main" val="731343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Date Placeholder 3"/>
          <p:cNvSpPr>
            <a:spLocks noGrp="1"/>
          </p:cNvSpPr>
          <p:nvPr>
            <p:ph type="dt" sz="quarter" idx="1"/>
          </p:nvPr>
        </p:nvSpPr>
        <p:spPr/>
        <p:txBody>
          <a:bodyPr/>
          <a:lstStyle/>
          <a:p>
            <a:pPr>
              <a:defRPr/>
            </a:pPr>
            <a:fld id="{0DAB8732-FC47-4EFE-A0F4-2B8DC6B68170}" type="datetime1">
              <a:rPr lang="en-US" smtClean="0">
                <a:solidFill>
                  <a:prstClr val="black"/>
                </a:solidFill>
              </a:rPr>
              <a:pPr>
                <a:defRPr/>
              </a:pPr>
              <a:t>12/3/12</a:t>
            </a:fld>
            <a:endParaRPr lang="en-US" dirty="0">
              <a:solidFill>
                <a:prstClr val="black"/>
              </a:solidFill>
            </a:endParaRPr>
          </a:p>
        </p:txBody>
      </p:sp>
      <p:sp>
        <p:nvSpPr>
          <p:cNvPr id="5" name="Footer Placeholder 4"/>
          <p:cNvSpPr>
            <a:spLocks noGrp="1"/>
          </p:cNvSpPr>
          <p:nvPr>
            <p:ph type="ftr" sz="quarter" idx="4"/>
          </p:nvPr>
        </p:nvSpPr>
        <p:spPr/>
        <p:txBody>
          <a:bodyPr/>
          <a:lstStyle/>
          <a:p>
            <a:pPr>
              <a:defRPr/>
            </a:pPr>
            <a:r>
              <a:rPr lang="en-US">
                <a:solidFill>
                  <a:prstClr val="black"/>
                </a:solidFill>
              </a:rPr>
              <a:t>Not for further distribution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268822"/>
            <a:ext cx="7772400" cy="1470025"/>
          </a:xfrm>
          <a:prstGeom prst="rect">
            <a:avLst/>
          </a:prstGeom>
        </p:spPr>
        <p:txBody>
          <a:bodyPr/>
          <a:lstStyle>
            <a:lvl1pPr algn="l">
              <a:defRPr sz="4000" b="0" i="0">
                <a:solidFill>
                  <a:schemeClr val="bg1"/>
                </a:solidFill>
                <a:latin typeface="Frutiger LT Std 57 Cn"/>
                <a:cs typeface="Frutiger LT Std 57 Cn"/>
              </a:defRPr>
            </a:lvl1pPr>
          </a:lstStyle>
          <a:p>
            <a:r>
              <a:rPr lang="en-US" dirty="0" smtClean="0"/>
              <a:t>Click to edit Master </a:t>
            </a:r>
            <a:br>
              <a:rPr lang="en-US" dirty="0" smtClean="0"/>
            </a:br>
            <a:r>
              <a:rPr lang="en-US" dirty="0" smtClean="0"/>
              <a:t>title style</a:t>
            </a:r>
            <a:endParaRPr lang="en-US" dirty="0"/>
          </a:p>
        </p:txBody>
      </p:sp>
      <p:sp>
        <p:nvSpPr>
          <p:cNvPr id="3" name="Subtitle 2"/>
          <p:cNvSpPr>
            <a:spLocks noGrp="1"/>
          </p:cNvSpPr>
          <p:nvPr>
            <p:ph type="subTitle" idx="1" hasCustomPrompt="1"/>
          </p:nvPr>
        </p:nvSpPr>
        <p:spPr>
          <a:xfrm>
            <a:off x="685800" y="4065302"/>
            <a:ext cx="6400800" cy="1752600"/>
          </a:xfrm>
          <a:prstGeom prst="rect">
            <a:avLst/>
          </a:prstGeom>
        </p:spPr>
        <p:txBody>
          <a:bodyPr>
            <a:normAutofit/>
          </a:bodyPr>
          <a:lstStyle>
            <a:lvl1pPr marL="0" indent="0" algn="l">
              <a:buNone/>
              <a:defRPr sz="3000" b="0" i="0">
                <a:solidFill>
                  <a:schemeClr val="bg1"/>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a:t>
            </a:r>
            <a:br>
              <a:rPr lang="en-US" dirty="0" smtClean="0"/>
            </a:br>
            <a:r>
              <a:rPr lang="en-US" dirty="0" smtClean="0"/>
              <a:t>subtitle style</a:t>
            </a:r>
            <a:endParaRPr lang="en-US" dirty="0"/>
          </a:p>
        </p:txBody>
      </p:sp>
    </p:spTree>
    <p:extLst>
      <p:ext uri="{BB962C8B-B14F-4D97-AF65-F5344CB8AC3E}">
        <p14:creationId xmlns:p14="http://schemas.microsoft.com/office/powerpoint/2010/main" val="3728186187"/>
      </p:ext>
    </p:extLst>
  </p:cSld>
  <p:clrMapOvr>
    <a:masterClrMapping/>
  </p:clrMapOvr>
  <p:transition xmlns:p14="http://schemas.microsoft.com/office/powerpoint/2010/main">
    <p:cut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4011589027"/>
      </p:ext>
    </p:extLst>
  </p:cSld>
  <p:clrMapOvr>
    <a:masterClrMapping/>
  </p:clrMapOvr>
  <p:transition xmlns:p14="http://schemas.microsoft.com/office/powerpoint/2010/main">
    <p:cut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x" type="tx">
  <p:cSld name="tx">
    <p:spTree>
      <p:nvGrpSpPr>
        <p:cNvPr id="1" name="Shape 142"/>
        <p:cNvGrpSpPr/>
        <p:nvPr/>
      </p:nvGrpSpPr>
      <p:grpSpPr>
        <a:xfrm>
          <a:off x="0" y="0"/>
          <a:ext cx="0" cy="0"/>
          <a:chOff x="0" y="0"/>
          <a:chExt cx="0" cy="0"/>
        </a:xfrm>
      </p:grpSpPr>
      <p:sp>
        <p:nvSpPr>
          <p:cNvPr id="143" name="Shape 143"/>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Clr>
                <a:schemeClr val="dk1"/>
              </a:buClr>
              <a:buFont typeface="Arial"/>
              <a:buNone/>
              <a:defRPr sz="3600" b="1">
                <a:solidFill>
                  <a:schemeClr val="dk1"/>
                </a:solidFill>
                <a:latin typeface="Arial"/>
                <a:ea typeface="Arial"/>
                <a:cs typeface="Arial"/>
                <a:sym typeface="Arial"/>
              </a:defRPr>
            </a:lvl1pPr>
            <a:lvl2pPr algn="l" rtl="0">
              <a:spcBef>
                <a:spcPts val="0"/>
              </a:spcBef>
              <a:buClr>
                <a:schemeClr val="dk1"/>
              </a:buClr>
              <a:buFont typeface="Arial"/>
              <a:buNone/>
              <a:defRPr sz="3600" b="1">
                <a:solidFill>
                  <a:schemeClr val="dk1"/>
                </a:solidFill>
                <a:latin typeface="Arial"/>
                <a:ea typeface="Arial"/>
                <a:cs typeface="Arial"/>
                <a:sym typeface="Arial"/>
              </a:defRPr>
            </a:lvl2pPr>
            <a:lvl3pPr algn="l" rtl="0">
              <a:spcBef>
                <a:spcPts val="0"/>
              </a:spcBef>
              <a:buClr>
                <a:schemeClr val="dk1"/>
              </a:buClr>
              <a:buFont typeface="Arial"/>
              <a:buNone/>
              <a:defRPr sz="3600" b="1">
                <a:solidFill>
                  <a:schemeClr val="dk1"/>
                </a:solidFill>
                <a:latin typeface="Arial"/>
                <a:ea typeface="Arial"/>
                <a:cs typeface="Arial"/>
                <a:sym typeface="Arial"/>
              </a:defRPr>
            </a:lvl3pPr>
            <a:lvl4pPr algn="l" rtl="0">
              <a:spcBef>
                <a:spcPts val="0"/>
              </a:spcBef>
              <a:buClr>
                <a:schemeClr val="dk1"/>
              </a:buClr>
              <a:buFont typeface="Arial"/>
              <a:buNone/>
              <a:defRPr sz="3600" b="1">
                <a:solidFill>
                  <a:schemeClr val="dk1"/>
                </a:solidFill>
                <a:latin typeface="Arial"/>
                <a:ea typeface="Arial"/>
                <a:cs typeface="Arial"/>
                <a:sym typeface="Arial"/>
              </a:defRPr>
            </a:lvl4pPr>
            <a:lvl5pPr algn="l" rtl="0">
              <a:spcBef>
                <a:spcPts val="0"/>
              </a:spcBef>
              <a:buClr>
                <a:schemeClr val="dk1"/>
              </a:buClr>
              <a:buFont typeface="Arial"/>
              <a:buNone/>
              <a:defRPr sz="3600" b="1">
                <a:solidFill>
                  <a:schemeClr val="dk1"/>
                </a:solidFill>
                <a:latin typeface="Arial"/>
                <a:ea typeface="Arial"/>
                <a:cs typeface="Arial"/>
                <a:sym typeface="Arial"/>
              </a:defRPr>
            </a:lvl5pPr>
            <a:lvl6pPr algn="l" rtl="0">
              <a:spcBef>
                <a:spcPts val="0"/>
              </a:spcBef>
              <a:buClr>
                <a:schemeClr val="dk1"/>
              </a:buClr>
              <a:buFont typeface="Arial"/>
              <a:buNone/>
              <a:defRPr sz="3600" b="1">
                <a:solidFill>
                  <a:schemeClr val="dk1"/>
                </a:solidFill>
                <a:latin typeface="Arial"/>
                <a:ea typeface="Arial"/>
                <a:cs typeface="Arial"/>
                <a:sym typeface="Arial"/>
              </a:defRPr>
            </a:lvl6pPr>
            <a:lvl7pPr algn="l" rtl="0">
              <a:spcBef>
                <a:spcPts val="0"/>
              </a:spcBef>
              <a:buClr>
                <a:schemeClr val="dk1"/>
              </a:buClr>
              <a:buFont typeface="Arial"/>
              <a:buNone/>
              <a:defRPr sz="3600" b="1">
                <a:solidFill>
                  <a:schemeClr val="dk1"/>
                </a:solidFill>
                <a:latin typeface="Arial"/>
                <a:ea typeface="Arial"/>
                <a:cs typeface="Arial"/>
                <a:sym typeface="Arial"/>
              </a:defRPr>
            </a:lvl7pPr>
            <a:lvl8pPr algn="l" rtl="0">
              <a:spcBef>
                <a:spcPts val="0"/>
              </a:spcBef>
              <a:buClr>
                <a:schemeClr val="dk1"/>
              </a:buClr>
              <a:buFont typeface="Arial"/>
              <a:buNone/>
              <a:defRPr sz="3600" b="1">
                <a:solidFill>
                  <a:schemeClr val="dk1"/>
                </a:solidFill>
                <a:latin typeface="Arial"/>
                <a:ea typeface="Arial"/>
                <a:cs typeface="Arial"/>
                <a:sym typeface="Arial"/>
              </a:defRPr>
            </a:lvl8pPr>
            <a:lvl9pPr algn="l" rtl="0">
              <a:spcBef>
                <a:spcPts val="0"/>
              </a:spcBef>
              <a:buClr>
                <a:schemeClr val="dk1"/>
              </a:buClr>
              <a:buFont typeface="Arial"/>
              <a:buNone/>
              <a:defRPr sz="3600" b="1">
                <a:solidFill>
                  <a:schemeClr val="dk1"/>
                </a:solidFill>
                <a:latin typeface="Arial"/>
                <a:ea typeface="Arial"/>
                <a:cs typeface="Arial"/>
                <a:sym typeface="Arial"/>
              </a:defRPr>
            </a:lvl9pPr>
          </a:lstStyle>
          <a:p>
            <a:endParaRPr/>
          </a:p>
        </p:txBody>
      </p:sp>
      <p:sp>
        <p:nvSpPr>
          <p:cNvPr id="144" name="Shape 144"/>
          <p:cNvSpPr txBox="1">
            <a:spLocks noGrp="1"/>
          </p:cNvSpPr>
          <p:nvPr>
            <p:ph type="body" idx="1"/>
          </p:nvPr>
        </p:nvSpPr>
        <p:spPr>
          <a:xfrm>
            <a:off x="457200" y="1600200"/>
            <a:ext cx="8229600" cy="49677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Tree>
    <p:extLst>
      <p:ext uri="{BB962C8B-B14F-4D97-AF65-F5344CB8AC3E}">
        <p14:creationId xmlns:p14="http://schemas.microsoft.com/office/powerpoint/2010/main" val="2370967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264513207"/>
      </p:ext>
    </p:extLst>
  </p:cSld>
  <p:clrMapOvr>
    <a:masterClrMapping/>
  </p:clrMapOvr>
  <p:transition xmlns:p14="http://schemas.microsoft.com/office/powerpoint/2010/main">
    <p:cut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233569510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436723311"/>
      </p:ext>
    </p:extLst>
  </p:cSld>
  <p:clrMapOvr>
    <a:masterClrMapping/>
  </p:clrMapOvr>
  <p:transition xmlns:p14="http://schemas.microsoft.com/office/powerpoint/2010/main">
    <p:cut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2332004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989526475"/>
      </p:ext>
    </p:extLst>
  </p:cSld>
  <p:clrMapOvr>
    <a:masterClrMapping/>
  </p:clrMapOvr>
  <p:transition xmlns:p14="http://schemas.microsoft.com/office/powerpoint/2010/main">
    <p:cut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1190317323"/>
      </p:ext>
    </p:extLst>
  </p:cSld>
  <p:clrMapOvr>
    <a:masterClrMapping/>
  </p:clrMapOvr>
  <p:transition xmlns:p14="http://schemas.microsoft.com/office/powerpoint/2010/main">
    <p:cut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370332144"/>
      </p:ext>
    </p:extLst>
  </p:cSld>
  <p:clrMapOvr>
    <a:masterClrMapping/>
  </p:clrMapOvr>
  <p:transition xmlns:p14="http://schemas.microsoft.com/office/powerpoint/2010/main">
    <p:cut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2143395095"/>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1474986136"/>
      </p:ext>
    </p:extLst>
  </p:cSld>
  <p:clrMapOvr>
    <a:masterClrMapping/>
  </p:clrMapOvr>
  <p:transition xmlns:p14="http://schemas.microsoft.com/office/powerpoint/2010/main">
    <p:cut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372845978"/>
      </p:ext>
    </p:extLst>
  </p:cSld>
  <p:clrMapOvr>
    <a:masterClrMapping/>
  </p:clrMapOvr>
  <p:transition xmlns:p14="http://schemas.microsoft.com/office/powerpoint/2010/main">
    <p:cut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741978621"/>
      </p:ext>
    </p:extLst>
  </p:cSld>
  <p:clrMapOvr>
    <a:masterClrMapping/>
  </p:clrMapOvr>
  <p:transition xmlns:p14="http://schemas.microsoft.com/office/powerpoint/2010/main">
    <p:cut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3999234639"/>
      </p:ext>
    </p:extLst>
  </p:cSld>
  <p:clrMapOvr>
    <a:masterClrMapping/>
  </p:clrMapOvr>
  <p:transition xmlns:p14="http://schemas.microsoft.com/office/powerpoint/2010/main">
    <p:cut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smtClean="0">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38368988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424715653"/>
      </p:ext>
    </p:extLst>
  </p:cSld>
  <p:clrMapOvr>
    <a:masterClrMapping/>
  </p:clrMapOvr>
  <p:transition xmlns:p14="http://schemas.microsoft.com/office/powerpoint/2010/main">
    <p:cut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2963425419"/>
      </p:ext>
    </p:extLst>
  </p:cSld>
  <p:clrMapOvr>
    <a:masterClrMapping/>
  </p:clrMapOvr>
  <p:transition xmlns:p14="http://schemas.microsoft.com/office/powerpoint/2010/main">
    <p:cut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07D5B4C6-B431-4305-A54D-37F6010EF423}"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050208367"/>
      </p:ext>
    </p:extLst>
  </p:cSld>
  <p:clrMapOvr>
    <a:masterClrMapping/>
  </p:clrMapOvr>
  <p:transition xmlns:p14="http://schemas.microsoft.com/office/powerpoint/2010/main">
    <p:cut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2"/>
            <a:ext cx="7772400" cy="1371992"/>
          </a:xfrm>
          <a:prstGeom prst="rect">
            <a:avLst/>
          </a:prstGeom>
        </p:spPr>
        <p:txBody>
          <a:bodyPr/>
          <a:lstStyle>
            <a:lvl1pPr algn="l">
              <a:defRPr sz="4000" b="0" i="0">
                <a:solidFill>
                  <a:srgbClr val="264B89"/>
                </a:solidFill>
                <a:latin typeface="Frutiger LT Std 57 Cn"/>
                <a:cs typeface="Frutiger LT Std 57 Cn"/>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5800" y="2971343"/>
            <a:ext cx="6400800" cy="1752600"/>
          </a:xfrm>
          <a:prstGeom prst="rect">
            <a:avLst/>
          </a:prstGeom>
        </p:spPr>
        <p:txBody>
          <a:bodyPr/>
          <a:lstStyle>
            <a:lvl1pPr marL="0" indent="0" algn="l">
              <a:buFont typeface="Arial"/>
              <a:buChar char="•"/>
              <a:defRPr sz="3000" b="0" i="0">
                <a:solidFill>
                  <a:srgbClr val="264B89"/>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 Click to edit Master subtitle style</a:t>
            </a:r>
            <a:endParaRPr lang="en-US" dirty="0"/>
          </a:p>
        </p:txBody>
      </p:sp>
    </p:spTree>
    <p:extLst>
      <p:ext uri="{BB962C8B-B14F-4D97-AF65-F5344CB8AC3E}">
        <p14:creationId xmlns:p14="http://schemas.microsoft.com/office/powerpoint/2010/main" val="509889681"/>
      </p:ext>
    </p:extLst>
  </p:cSld>
  <p:clrMapOvr>
    <a:masterClrMapping/>
  </p:clrMapOvr>
  <p:transition xmlns:p14="http://schemas.microsoft.com/office/powerpoint/2010/main">
    <p:cut thruBlk="1"/>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defTabSz="457200"/>
            <a:endParaRPr lang="en-US" dirty="0">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defTabSz="457200"/>
            <a:endParaRPr lang="en-US" dirty="0">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defTabSz="457200"/>
            <a:fld id="{35F10103-E679-4F95-995B-FCA2CC3A3828}" type="slidenum">
              <a:rPr lang="en-US">
                <a:solidFill>
                  <a:prstClr val="black"/>
                </a:solidFill>
              </a:rPr>
              <a:pPr defTabSz="457200"/>
              <a:t>‹#›</a:t>
            </a:fld>
            <a:endParaRPr lang="en-US" dirty="0">
              <a:solidFill>
                <a:prstClr val="black"/>
              </a:solidFill>
            </a:endParaRPr>
          </a:p>
        </p:txBody>
      </p:sp>
    </p:spTree>
    <p:extLst>
      <p:ext uri="{BB962C8B-B14F-4D97-AF65-F5344CB8AC3E}">
        <p14:creationId xmlns:p14="http://schemas.microsoft.com/office/powerpoint/2010/main" val="3012732176"/>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268822"/>
            <a:ext cx="7772400" cy="1470025"/>
          </a:xfrm>
          <a:prstGeom prst="rect">
            <a:avLst/>
          </a:prstGeom>
        </p:spPr>
        <p:txBody>
          <a:bodyPr/>
          <a:lstStyle>
            <a:lvl1pPr algn="l">
              <a:defRPr sz="4000" b="0" i="0">
                <a:solidFill>
                  <a:schemeClr val="bg1"/>
                </a:solidFill>
                <a:latin typeface="Frutiger LT Std 57 Cn"/>
                <a:cs typeface="Frutiger LT Std 57 Cn"/>
              </a:defRPr>
            </a:lvl1pPr>
          </a:lstStyle>
          <a:p>
            <a:r>
              <a:rPr lang="en-US" dirty="0" smtClean="0"/>
              <a:t>Click to edit Master </a:t>
            </a:r>
            <a:br>
              <a:rPr lang="en-US" dirty="0" smtClean="0"/>
            </a:br>
            <a:r>
              <a:rPr lang="en-US" dirty="0" smtClean="0"/>
              <a:t>title style</a:t>
            </a:r>
            <a:endParaRPr lang="en-US" dirty="0"/>
          </a:p>
        </p:txBody>
      </p:sp>
      <p:sp>
        <p:nvSpPr>
          <p:cNvPr id="3" name="Subtitle 2"/>
          <p:cNvSpPr>
            <a:spLocks noGrp="1"/>
          </p:cNvSpPr>
          <p:nvPr>
            <p:ph type="subTitle" idx="1" hasCustomPrompt="1"/>
          </p:nvPr>
        </p:nvSpPr>
        <p:spPr>
          <a:xfrm>
            <a:off x="685800" y="4065302"/>
            <a:ext cx="6400800" cy="1752600"/>
          </a:xfrm>
          <a:prstGeom prst="rect">
            <a:avLst/>
          </a:prstGeom>
        </p:spPr>
        <p:txBody>
          <a:bodyPr>
            <a:normAutofit/>
          </a:bodyPr>
          <a:lstStyle>
            <a:lvl1pPr marL="0" indent="0" algn="l">
              <a:buNone/>
              <a:defRPr sz="3000" b="0" i="0">
                <a:solidFill>
                  <a:schemeClr val="bg1"/>
                </a:solidFill>
                <a:latin typeface="Frutiger LT Std 47 Light Cn"/>
                <a:cs typeface="Frutiger LT Std 47 Light C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a:t>
            </a:r>
            <a:br>
              <a:rPr lang="en-US" dirty="0" smtClean="0"/>
            </a:br>
            <a:r>
              <a:rPr lang="en-US" dirty="0" smtClean="0"/>
              <a:t>subtitle style</a:t>
            </a:r>
            <a:endParaRPr lang="en-US" dirty="0"/>
          </a:p>
        </p:txBody>
      </p:sp>
    </p:spTree>
    <p:extLst>
      <p:ext uri="{BB962C8B-B14F-4D97-AF65-F5344CB8AC3E}">
        <p14:creationId xmlns:p14="http://schemas.microsoft.com/office/powerpoint/2010/main" val="1537040780"/>
      </p:ext>
    </p:extLst>
  </p:cSld>
  <p:clrMapOvr>
    <a:masterClrMapping/>
  </p:clrMapOvr>
  <p:transition xmlns:p14="http://schemas.microsoft.com/office/powerpoint/2010/main">
    <p:cut thruBlk="1"/>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defTabSz="457200">
              <a:defRPr/>
            </a:pPr>
            <a:endParaRPr lang="en-US" dirty="0">
              <a:solidFill>
                <a:prstClr val="black"/>
              </a:solidFill>
            </a:endParaRPr>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defTabSz="457200">
              <a:defRPr/>
            </a:pPr>
            <a:endParaRPr lang="en-US">
              <a:solidFill>
                <a:prstClr val="black"/>
              </a:solidFill>
            </a:endParaRPr>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defTabSz="457200">
              <a:defRPr/>
            </a:pPr>
            <a:fld id="{CB170998-985E-49FD-8136-735689F89D25}" type="slidenum">
              <a:rPr lang="en-US">
                <a:solidFill>
                  <a:prstClr val="black"/>
                </a:solidFill>
              </a:rPr>
              <a:pPr defTabSz="457200">
                <a:defRPr/>
              </a:pPr>
              <a:t>‹#›</a:t>
            </a:fld>
            <a:endParaRPr lang="en-US" dirty="0">
              <a:solidFill>
                <a:prstClr val="black"/>
              </a:solidFill>
            </a:endParaRPr>
          </a:p>
        </p:txBody>
      </p:sp>
    </p:spTree>
    <p:extLst>
      <p:ext uri="{BB962C8B-B14F-4D97-AF65-F5344CB8AC3E}">
        <p14:creationId xmlns:p14="http://schemas.microsoft.com/office/powerpoint/2010/main" val="3345989155"/>
      </p:ext>
    </p:extLst>
  </p:cSld>
  <p:clrMapOvr>
    <a:masterClrMapping/>
  </p:clrMapOvr>
  <p:transition xmlns:p14="http://schemas.microsoft.com/office/powerpoint/2010/main">
    <p:cut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4" Type="http://schemas.openxmlformats.org/officeDocument/2006/relationships/image" Target="../media/image2.jpeg"/><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3.xml"/><Relationship Id="rId6" Type="http://schemas.openxmlformats.org/officeDocument/2006/relationships/image" Target="../media/image2.jpeg"/><Relationship Id="rId1" Type="http://schemas.openxmlformats.org/officeDocument/2006/relationships/slideLayout" Target="../slideLayouts/slideLayout4.xml"/><Relationship Id="rId2"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4" Type="http://schemas.openxmlformats.org/officeDocument/2006/relationships/image" Target="../media/image2.jpeg"/><Relationship Id="rId1" Type="http://schemas.openxmlformats.org/officeDocument/2006/relationships/slideLayout" Target="../slideLayouts/slideLayout8.xml"/><Relationship Id="rId2"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4" Type="http://schemas.openxmlformats.org/officeDocument/2006/relationships/image" Target="../media/image2.jpeg"/><Relationship Id="rId1" Type="http://schemas.openxmlformats.org/officeDocument/2006/relationships/slideLayout" Target="../slideLayouts/slideLayout10.xml"/><Relationship Id="rId2" Type="http://schemas.openxmlformats.org/officeDocument/2006/relationships/slideLayout" Target="../slideLayouts/slideLayout11.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6.xml"/><Relationship Id="rId3"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4" Type="http://schemas.openxmlformats.org/officeDocument/2006/relationships/image" Target="../media/image2.jpeg"/><Relationship Id="rId1" Type="http://schemas.openxmlformats.org/officeDocument/2006/relationships/slideLayout" Target="../slideLayouts/slideLayout13.xml"/><Relationship Id="rId2" Type="http://schemas.openxmlformats.org/officeDocument/2006/relationships/slideLayout" Target="../slideLayouts/slideLayout14.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7.xml"/><Relationship Id="rId4" Type="http://schemas.openxmlformats.org/officeDocument/2006/relationships/theme" Target="../theme/theme8.xml"/><Relationship Id="rId5" Type="http://schemas.openxmlformats.org/officeDocument/2006/relationships/image" Target="../media/image2.jpeg"/><Relationship Id="rId1" Type="http://schemas.openxmlformats.org/officeDocument/2006/relationships/slideLayout" Target="../slideLayouts/slideLayout15.xml"/><Relationship Id="rId2" Type="http://schemas.openxmlformats.org/officeDocument/2006/relationships/slideLayout" Target="../slideLayouts/slideLayout16.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4" Type="http://schemas.openxmlformats.org/officeDocument/2006/relationships/image" Target="../media/image2.jpeg"/><Relationship Id="rId1" Type="http://schemas.openxmlformats.org/officeDocument/2006/relationships/slideLayout" Target="../slideLayouts/slideLayout18.xml"/><Relationship Id="rId2"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4" Type="http://schemas.openxmlformats.org/officeDocument/2006/relationships/image" Target="../media/image2.jpeg"/><Relationship Id="rId1" Type="http://schemas.openxmlformats.org/officeDocument/2006/relationships/slideLayout" Target="../slideLayouts/slideLayout20.xml"/><Relationship Id="rId2" Type="http://schemas.openxmlformats.org/officeDocument/2006/relationships/slideLayout" Target="../slideLayouts/slideLayout21.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4" Type="http://schemas.openxmlformats.org/officeDocument/2006/relationships/image" Target="../media/image1.jpeg"/><Relationship Id="rId1" Type="http://schemas.openxmlformats.org/officeDocument/2006/relationships/slideLayout" Target="../slideLayouts/slideLayout22.xml"/><Relationship Id="rId2"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CISER_PP_cover_revised.jpg"/>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433661610"/>
      </p:ext>
    </p:extLst>
  </p:cSld>
  <p:clrMap bg1="lt1" tx1="dk1" bg2="lt2" tx2="dk2" accent1="accent1" accent2="accent2" accent3="accent3" accent4="accent4" accent5="accent5" accent6="accent6" hlink="hlink" folHlink="folHlink"/>
  <p:sldLayoutIdLst>
    <p:sldLayoutId id="2147483661" r:id="rId1"/>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068746667"/>
      </p:ext>
    </p:extLst>
  </p:cSld>
  <p:clrMap bg1="lt1" tx1="dk1" bg2="lt2" tx2="dk2" accent1="accent1" accent2="accent2" accent3="accent3" accent4="accent4" accent5="accent5" accent6="accent6" hlink="hlink" folHlink="folHlink"/>
  <p:sldLayoutIdLst>
    <p:sldLayoutId id="2147483664" r:id="rId1"/>
    <p:sldLayoutId id="2147483707"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6"/>
          <a:stretch>
            <a:fillRect/>
          </a:stretch>
        </p:blipFill>
        <p:spPr>
          <a:xfrm>
            <a:off x="0" y="0"/>
            <a:ext cx="9144000" cy="6858000"/>
          </a:xfrm>
          <a:prstGeom prst="rect">
            <a:avLst/>
          </a:prstGeom>
        </p:spPr>
      </p:pic>
    </p:spTree>
    <p:extLst>
      <p:ext uri="{BB962C8B-B14F-4D97-AF65-F5344CB8AC3E}">
        <p14:creationId xmlns:p14="http://schemas.microsoft.com/office/powerpoint/2010/main" val="307574848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708" r:id="rId4"/>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971354464"/>
      </p:ext>
    </p:extLst>
  </p:cSld>
  <p:clrMap bg1="lt1" tx1="dk1" bg2="lt2" tx2="dk2" accent1="accent1" accent2="accent2" accent3="accent3" accent4="accent4" accent5="accent5" accent6="accent6" hlink="hlink" folHlink="folHlink"/>
  <p:sldLayoutIdLst>
    <p:sldLayoutId id="2147483672" r:id="rId1"/>
    <p:sldLayoutId id="2147483674"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371517034"/>
      </p:ext>
    </p:extLst>
  </p:cSld>
  <p:clrMap bg1="lt1" tx1="dk1" bg2="lt2" tx2="dk2" accent1="accent1" accent2="accent2" accent3="accent3" accent4="accent4" accent5="accent5" accent6="accent6" hlink="hlink" folHlink="folHlink"/>
  <p:sldLayoutIdLst>
    <p:sldLayoutId id="2147483676" r:id="rId1"/>
    <p:sldLayoutId id="2147483677"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993182122"/>
      </p:ext>
    </p:extLst>
  </p:cSld>
  <p:clrMap bg1="lt1" tx1="dk1" bg2="lt2" tx2="dk2" accent1="accent1" accent2="accent2" accent3="accent3" accent4="accent4" accent5="accent5" accent6="accent6" hlink="hlink" folHlink="folHlink"/>
  <p:sldLayoutIdLst>
    <p:sldLayoutId id="2147483680" r:id="rId1"/>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926888419"/>
      </p:ext>
    </p:extLst>
  </p:cSld>
  <p:clrMap bg1="lt1" tx1="dk1" bg2="lt2" tx2="dk2" accent1="accent1" accent2="accent2" accent3="accent3" accent4="accent4" accent5="accent5" accent6="accent6" hlink="hlink" folHlink="folHlink"/>
  <p:sldLayoutIdLst>
    <p:sldLayoutId id="2147483684" r:id="rId1"/>
    <p:sldLayoutId id="2147483686"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5"/>
          <a:stretch>
            <a:fillRect/>
          </a:stretch>
        </p:blipFill>
        <p:spPr>
          <a:xfrm>
            <a:off x="0" y="0"/>
            <a:ext cx="9144000" cy="6858000"/>
          </a:xfrm>
          <a:prstGeom prst="rect">
            <a:avLst/>
          </a:prstGeom>
        </p:spPr>
      </p:pic>
    </p:spTree>
    <p:extLst>
      <p:ext uri="{BB962C8B-B14F-4D97-AF65-F5344CB8AC3E}">
        <p14:creationId xmlns:p14="http://schemas.microsoft.com/office/powerpoint/2010/main" val="4494755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243918753"/>
      </p:ext>
    </p:extLst>
  </p:cSld>
  <p:clrMap bg1="lt1" tx1="dk1" bg2="lt2" tx2="dk2" accent1="accent1" accent2="accent2" accent3="accent3" accent4="accent4" accent5="accent5" accent6="accent6" hlink="hlink" folHlink="folHlink"/>
  <p:sldLayoutIdLst>
    <p:sldLayoutId id="2147483695" r:id="rId1"/>
    <p:sldLayoutId id="2147483697"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ISER_PP_2 10x7.5.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922926717"/>
      </p:ext>
    </p:extLst>
  </p:cSld>
  <p:clrMap bg1="lt1" tx1="dk1" bg2="lt2" tx2="dk2" accent1="accent1" accent2="accent2" accent3="accent3" accent4="accent4" accent5="accent5" accent6="accent6" hlink="hlink" folHlink="folHlink"/>
  <p:sldLayoutIdLst>
    <p:sldLayoutId id="2147483700" r:id="rId1"/>
    <p:sldLayoutId id="2147483701" r:id="rId2"/>
  </p:sldLayoutIdLst>
  <p:transition xmlns:p14="http://schemas.microsoft.com/office/powerpoint/2010/main">
    <p:cut thruBlk="1"/>
  </p:transition>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CISER_PP_cover_revised.jpg"/>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1090187404"/>
      </p:ext>
    </p:extLst>
  </p:cSld>
  <p:clrMap bg1="lt1" tx1="dk1" bg2="lt2" tx2="dk2" accent1="accent1" accent2="accent2" accent3="accent3" accent4="accent4" accent5="accent5" accent6="accent6" hlink="hlink" folHlink="folHlink"/>
  <p:sldLayoutIdLst>
    <p:sldLayoutId id="2147483705" r:id="rId1"/>
    <p:sldLayoutId id="2147483706" r:id="rId2"/>
  </p:sldLayoutIdLst>
  <p:transition xmlns:p14="http://schemas.microsoft.com/office/powerpoint/2010/main">
    <p:cut thruBlk="1"/>
  </p:transition>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jpeg"/></Relationships>
</file>

<file path=ppt/slides/_rels/slide5.xml.rels><?xml version="1.0" encoding="UTF-8" standalone="yes"?>
<Relationships xmlns="http://schemas.openxmlformats.org/package/2006/relationships"><Relationship Id="rId11" Type="http://schemas.openxmlformats.org/officeDocument/2006/relationships/image" Target="../media/image12.jpeg"/><Relationship Id="rId12" Type="http://schemas.openxmlformats.org/officeDocument/2006/relationships/image" Target="../media/image13.png"/><Relationship Id="rId13" Type="http://schemas.openxmlformats.org/officeDocument/2006/relationships/image" Target="../media/image14.png"/><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 Id="rId10"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rschweb.ciserrsch.cornell.edu:8080/CED2AR_Web/"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3" Type="http://schemas.openxmlformats.org/officeDocument/2006/relationships/hyperlink" Target="http://rschweb.ciserrsch.cornell.edu:8080/CED2AR_Query/codebooks" TargetMode="External"/><Relationship Id="rId4" Type="http://schemas.openxmlformats.org/officeDocument/2006/relationships/hyperlink" Target="http://rschweb.ciserrsch.cornell.edu:8080/CED2AR_Query/codebooks/SSB" TargetMode="External"/><Relationship Id="rId5" Type="http://schemas.openxmlformats.org/officeDocument/2006/relationships/hyperlink" Target="http://rschweb.ciserrsch.cornell.edu:8080/CED2AR_Query/codebooks/SSB/variables" TargetMode="External"/><Relationship Id="rId6" Type="http://schemas.openxmlformats.org/officeDocument/2006/relationships/hyperlink" Target="http://rschweb.ciserrsch.cornell.edu:8080/CED2AR_Query/codebooks/SSB/variables/totfam_kids" TargetMode="External"/><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rschweb.ciserrsch.cornell.edu:8080/CED2AR_Query/search?return=variables&amp;where=variabletext=*house*,variablelabel=*dwelling*,variablelabel!=number*&amp;sort=-variablenam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ctrTitle"/>
          </p:nvPr>
        </p:nvSpPr>
        <p:spPr>
          <a:xfrm>
            <a:off x="318977" y="2268822"/>
            <a:ext cx="8907507" cy="1470025"/>
          </a:xfrm>
        </p:spPr>
        <p:txBody>
          <a:bodyPr/>
          <a:lstStyle/>
          <a:p>
            <a:r>
              <a:rPr lang="en-US" sz="2400" dirty="0" smtClean="0"/>
              <a:t>An Early Prototype of the Comprehensive Extensible Data Documentation and Access Repository (CED</a:t>
            </a:r>
            <a:r>
              <a:rPr lang="en-US" sz="2400" baseline="30000" dirty="0" smtClean="0"/>
              <a:t>2</a:t>
            </a:r>
            <a:r>
              <a:rPr lang="en-US" sz="2400" dirty="0" smtClean="0"/>
              <a:t>AR)</a:t>
            </a:r>
            <a:endParaRPr lang="en-US" sz="2400" dirty="0"/>
          </a:p>
        </p:txBody>
      </p:sp>
      <p:sp>
        <p:nvSpPr>
          <p:cNvPr id="19" name="Subtitle 18"/>
          <p:cNvSpPr>
            <a:spLocks noGrp="1"/>
          </p:cNvSpPr>
          <p:nvPr>
            <p:ph type="subTitle" idx="1"/>
          </p:nvPr>
        </p:nvSpPr>
        <p:spPr>
          <a:xfrm>
            <a:off x="685800" y="3657600"/>
            <a:ext cx="6477000" cy="2438400"/>
          </a:xfrm>
        </p:spPr>
        <p:txBody>
          <a:bodyPr>
            <a:normAutofit fontScale="77500" lnSpcReduction="20000"/>
          </a:bodyPr>
          <a:lstStyle/>
          <a:p>
            <a:pPr algn="ctr"/>
            <a:r>
              <a:rPr lang="en-US" sz="1400" dirty="0" smtClean="0"/>
              <a:t>William C. Block and Jeremy Williams,</a:t>
            </a:r>
            <a:r>
              <a:rPr lang="en-US" sz="1400" baseline="30000" dirty="0" smtClean="0"/>
              <a:t>1</a:t>
            </a:r>
            <a:r>
              <a:rPr lang="en-US" sz="1400" dirty="0" smtClean="0"/>
              <a:t>  </a:t>
            </a:r>
          </a:p>
          <a:p>
            <a:pPr algn="ctr"/>
            <a:r>
              <a:rPr lang="en-US" sz="1400" dirty="0" smtClean="0"/>
              <a:t>John </a:t>
            </a:r>
            <a:r>
              <a:rPr lang="en-US" sz="1400" dirty="0" err="1" smtClean="0"/>
              <a:t>Abowd</a:t>
            </a:r>
            <a:r>
              <a:rPr lang="en-US" sz="1400" dirty="0"/>
              <a:t> </a:t>
            </a:r>
            <a:r>
              <a:rPr lang="en-US" sz="1400" dirty="0" smtClean="0"/>
              <a:t>and Lars Vilhuber,</a:t>
            </a:r>
            <a:r>
              <a:rPr lang="en-US" sz="1400" baseline="30000" dirty="0" smtClean="0"/>
              <a:t>2</a:t>
            </a:r>
            <a:r>
              <a:rPr lang="en-US" sz="1400" dirty="0" smtClean="0"/>
              <a:t> </a:t>
            </a:r>
          </a:p>
          <a:p>
            <a:pPr algn="ctr"/>
            <a:r>
              <a:rPr lang="en-US" sz="1400" dirty="0"/>
              <a:t>a</a:t>
            </a:r>
            <a:r>
              <a:rPr lang="en-US" sz="1400" dirty="0" smtClean="0"/>
              <a:t>nd Carl Lagoze</a:t>
            </a:r>
            <a:r>
              <a:rPr lang="en-US" sz="1400" baseline="30000" dirty="0" smtClean="0"/>
              <a:t>3</a:t>
            </a:r>
          </a:p>
          <a:p>
            <a:pPr algn="ctr"/>
            <a:endParaRPr lang="en-US" sz="1400" baseline="30000" dirty="0"/>
          </a:p>
          <a:p>
            <a:pPr algn="ctr"/>
            <a:endParaRPr lang="en-US" sz="1400" baseline="30000" dirty="0" smtClean="0"/>
          </a:p>
          <a:p>
            <a:pPr algn="ctr"/>
            <a:endParaRPr lang="en-US" sz="1400" dirty="0" smtClean="0"/>
          </a:p>
          <a:p>
            <a:pPr algn="ctr"/>
            <a:r>
              <a:rPr lang="en-US" sz="1300" baseline="30000" dirty="0" smtClean="0"/>
              <a:t>1</a:t>
            </a:r>
            <a:r>
              <a:rPr lang="en-US" sz="1300" dirty="0" smtClean="0"/>
              <a:t> Cornell Institute Social and Economic Research, Cornell University</a:t>
            </a:r>
          </a:p>
          <a:p>
            <a:pPr algn="ctr"/>
            <a:r>
              <a:rPr lang="en-US" sz="1300" baseline="30000" dirty="0" smtClean="0"/>
              <a:t>2</a:t>
            </a:r>
            <a:r>
              <a:rPr lang="en-US" sz="1300" dirty="0" smtClean="0"/>
              <a:t> Labor Dynamics Institute, Cornell University</a:t>
            </a:r>
          </a:p>
          <a:p>
            <a:pPr algn="ctr"/>
            <a:r>
              <a:rPr lang="en-US" sz="1300" baseline="30000" dirty="0" smtClean="0"/>
              <a:t>3</a:t>
            </a:r>
            <a:r>
              <a:rPr lang="en-US" sz="1300" dirty="0" smtClean="0"/>
              <a:t> School of Information, University of Michigan</a:t>
            </a:r>
          </a:p>
          <a:p>
            <a:r>
              <a:rPr lang="en-US" sz="1800" b="1" i="1" u="sng" dirty="0" smtClean="0"/>
              <a:t> </a:t>
            </a:r>
          </a:p>
          <a:p>
            <a:endParaRPr lang="en-US" sz="1800" dirty="0" smtClean="0"/>
          </a:p>
          <a:p>
            <a:pPr algn="ctr"/>
            <a:r>
              <a:rPr lang="en-US" sz="1400" dirty="0" smtClean="0"/>
              <a:t>Presentation at the 4</a:t>
            </a:r>
            <a:r>
              <a:rPr lang="en-US" sz="1400" baseline="30000" dirty="0" smtClean="0"/>
              <a:t>th</a:t>
            </a:r>
            <a:r>
              <a:rPr lang="en-US" sz="1400" dirty="0" smtClean="0"/>
              <a:t> Annual European DDI User Conference (EDDI12)</a:t>
            </a:r>
          </a:p>
          <a:p>
            <a:pPr algn="ctr"/>
            <a:r>
              <a:rPr lang="en-US" sz="1400" dirty="0" smtClean="0"/>
              <a:t>Norwegian Social Science Data Services, Bergen, Norway</a:t>
            </a:r>
          </a:p>
          <a:p>
            <a:pPr algn="ctr"/>
            <a:r>
              <a:rPr lang="en-US" sz="1400" dirty="0" smtClean="0"/>
              <a:t>3 December, 2012</a:t>
            </a:r>
            <a:endParaRPr lang="en-US" sz="1400" dirty="0"/>
          </a:p>
          <a:p>
            <a:endParaRPr lang="en-US" sz="1800" dirty="0" smtClean="0"/>
          </a:p>
          <a:p>
            <a:endParaRPr lang="en-US" dirty="0"/>
          </a:p>
        </p:txBody>
      </p:sp>
      <p:sp>
        <p:nvSpPr>
          <p:cNvPr id="2" name="TextBox 1"/>
          <p:cNvSpPr txBox="1"/>
          <p:nvPr/>
        </p:nvSpPr>
        <p:spPr>
          <a:xfrm>
            <a:off x="2466975" y="5633236"/>
            <a:ext cx="3124200" cy="369332"/>
          </a:xfrm>
          <a:prstGeom prst="rect">
            <a:avLst/>
          </a:prstGeom>
          <a:noFill/>
        </p:spPr>
        <p:txBody>
          <a:bodyPr wrap="square" rtlCol="0">
            <a:spAutoFit/>
          </a:bodyPr>
          <a:lstStyle/>
          <a:p>
            <a:pPr defTabSz="457200"/>
            <a:r>
              <a:rPr lang="en-US" dirty="0">
                <a:solidFill>
                  <a:prstClr val="white"/>
                </a:solidFill>
              </a:rPr>
              <a:t> </a:t>
            </a:r>
          </a:p>
        </p:txBody>
      </p:sp>
    </p:spTree>
    <p:extLst>
      <p:ext uri="{BB962C8B-B14F-4D97-AF65-F5344CB8AC3E}">
        <p14:creationId xmlns:p14="http://schemas.microsoft.com/office/powerpoint/2010/main" val="1890792848"/>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82" y="990600"/>
            <a:ext cx="7465925" cy="6801862"/>
          </a:xfrm>
          <a:prstGeom prst="rect">
            <a:avLst/>
          </a:prstGeom>
          <a:noFill/>
        </p:spPr>
        <p:txBody>
          <a:bodyPr wrap="square" rtlCol="0">
            <a:spAutoFit/>
          </a:bodyPr>
          <a:lstStyle/>
          <a:p>
            <a:pPr algn="ctr" defTabSz="457200"/>
            <a:r>
              <a:rPr lang="en-US" sz="2800" dirty="0">
                <a:solidFill>
                  <a:srgbClr val="1F497D"/>
                </a:solidFill>
                <a:latin typeface="Frutiger LT Std 57 Cn"/>
              </a:rPr>
              <a:t>Outline</a:t>
            </a:r>
            <a:r>
              <a:rPr lang="en-US" sz="2400" dirty="0">
                <a:solidFill>
                  <a:srgbClr val="FF0000"/>
                </a:solidFill>
                <a:latin typeface="Frutiger LT Std 57 Cn"/>
              </a:rPr>
              <a:t> </a:t>
            </a:r>
            <a:endParaRPr lang="en-US" sz="2400" dirty="0" smtClean="0">
              <a:solidFill>
                <a:srgbClr val="1F497D"/>
              </a:solidFill>
              <a:latin typeface="Frutiger LT Std 57 Cn"/>
            </a:endParaRPr>
          </a:p>
          <a:p>
            <a:pPr defTabSz="457200"/>
            <a:endParaRPr lang="en-US" sz="2400" dirty="0" smtClean="0">
              <a:solidFill>
                <a:srgbClr val="1F497D"/>
              </a:solidFill>
              <a:latin typeface="Frutiger LT Std 57 Cn"/>
            </a:endParaRPr>
          </a:p>
          <a:p>
            <a:pPr defTabSz="457200"/>
            <a:r>
              <a:rPr lang="en-US" sz="2400" dirty="0" smtClean="0">
                <a:solidFill>
                  <a:srgbClr val="1F497D"/>
                </a:solidFill>
                <a:latin typeface="Frutiger LT Std 57 Cn"/>
              </a:rPr>
              <a:t>The Problem:  </a:t>
            </a:r>
            <a:r>
              <a:rPr lang="en-US" sz="2400" dirty="0" err="1" smtClean="0">
                <a:solidFill>
                  <a:srgbClr val="1F497D"/>
                </a:solidFill>
                <a:latin typeface="Frutiger LT Std 57 Cn"/>
              </a:rPr>
              <a:t>Curation</a:t>
            </a:r>
            <a:r>
              <a:rPr lang="en-US" sz="2400" dirty="0" smtClean="0">
                <a:solidFill>
                  <a:srgbClr val="1F497D"/>
                </a:solidFill>
                <a:latin typeface="Frutiger LT Std 57 Cn"/>
              </a:rPr>
              <a:t> of  Data Locked within a Secure Environment is Difficult</a:t>
            </a:r>
            <a:endParaRPr lang="en-US" dirty="0" smtClean="0">
              <a:solidFill>
                <a:srgbClr val="1F497D"/>
              </a:solidFill>
              <a:latin typeface="Frutiger LT Std 57 Cn"/>
            </a:endParaRPr>
          </a:p>
          <a:p>
            <a:pPr defTabSz="457200"/>
            <a:endParaRPr lang="en-US" dirty="0">
              <a:solidFill>
                <a:srgbClr val="1F497D"/>
              </a:solidFill>
              <a:latin typeface="Frutiger LT Std 57 Cn"/>
            </a:endParaRPr>
          </a:p>
          <a:p>
            <a:pPr defTabSz="457200"/>
            <a:r>
              <a:rPr lang="en-US" sz="2400" dirty="0" smtClean="0">
                <a:solidFill>
                  <a:srgbClr val="1F497D"/>
                </a:solidFill>
                <a:latin typeface="Frutiger LT Std 57 Cn"/>
              </a:rPr>
              <a:t>NCRN Solution:</a:t>
            </a:r>
          </a:p>
          <a:p>
            <a:pPr marL="342900" indent="-342900" defTabSz="457200">
              <a:buFont typeface="Arial"/>
              <a:buChar char="•"/>
            </a:pPr>
            <a:r>
              <a:rPr lang="en-US" sz="2400" dirty="0" smtClean="0">
                <a:solidFill>
                  <a:srgbClr val="1F497D"/>
                </a:solidFill>
                <a:latin typeface="Frutiger LT Std 57 Cn"/>
              </a:rPr>
              <a:t>CED</a:t>
            </a:r>
            <a:r>
              <a:rPr lang="en-US" sz="2400" baseline="30000" dirty="0" smtClean="0">
                <a:solidFill>
                  <a:srgbClr val="1F497D"/>
                </a:solidFill>
                <a:latin typeface="Frutiger LT Std 57 Cn"/>
              </a:rPr>
              <a:t>2</a:t>
            </a:r>
            <a:r>
              <a:rPr lang="en-US" sz="2400" dirty="0" smtClean="0">
                <a:solidFill>
                  <a:srgbClr val="1F497D"/>
                </a:solidFill>
                <a:latin typeface="Frutiger LT Std 57 Cn"/>
              </a:rPr>
              <a:t>AR Prototype</a:t>
            </a:r>
          </a:p>
          <a:p>
            <a:pPr marL="342900" indent="-342900" defTabSz="457200">
              <a:buFont typeface="Arial"/>
              <a:buChar char="•"/>
            </a:pPr>
            <a:r>
              <a:rPr lang="en-US" sz="2400" dirty="0" smtClean="0">
                <a:solidFill>
                  <a:srgbClr val="1F497D"/>
                </a:solidFill>
                <a:latin typeface="Frutiger LT Std 57 Cn"/>
              </a:rPr>
              <a:t>CED</a:t>
            </a:r>
            <a:r>
              <a:rPr lang="en-US" sz="2400" baseline="30000" dirty="0" smtClean="0">
                <a:solidFill>
                  <a:srgbClr val="1F497D"/>
                </a:solidFill>
                <a:latin typeface="Frutiger LT Std 57 Cn"/>
              </a:rPr>
              <a:t>2</a:t>
            </a:r>
            <a:r>
              <a:rPr lang="en-US" sz="2400" dirty="0" smtClean="0">
                <a:solidFill>
                  <a:srgbClr val="1F497D"/>
                </a:solidFill>
                <a:latin typeface="Frutiger LT Std 57 Cn"/>
              </a:rPr>
              <a:t>AR Search API</a:t>
            </a:r>
          </a:p>
          <a:p>
            <a:pPr marL="342900" indent="-342900" defTabSz="457200">
              <a:buFont typeface="Arial"/>
              <a:buChar char="•"/>
            </a:pPr>
            <a:r>
              <a:rPr lang="en-US" sz="2400" dirty="0" smtClean="0">
                <a:solidFill>
                  <a:srgbClr val="1F497D"/>
                </a:solidFill>
                <a:latin typeface="Frutiger LT Std 57 Cn"/>
              </a:rPr>
              <a:t>DDI  bridging the boundary between confidential and public metadata</a:t>
            </a:r>
          </a:p>
          <a:p>
            <a:pPr defTabSz="457200"/>
            <a:endParaRPr lang="en-US" sz="2400" dirty="0" smtClean="0">
              <a:solidFill>
                <a:srgbClr val="1F497D"/>
              </a:solidFill>
              <a:latin typeface="Frutiger LT Std 57 Cn"/>
            </a:endParaRPr>
          </a:p>
          <a:p>
            <a:pPr defTabSz="457200"/>
            <a:r>
              <a:rPr lang="en-US" sz="2400" dirty="0" smtClean="0">
                <a:solidFill>
                  <a:srgbClr val="1F497D"/>
                </a:solidFill>
                <a:latin typeface="Frutiger LT Std 57 Cn"/>
              </a:rPr>
              <a:t>Questions and Discussion</a:t>
            </a:r>
            <a:endParaRPr lang="en-US" sz="2400" dirty="0">
              <a:solidFill>
                <a:srgbClr val="1F497D"/>
              </a:solidFill>
              <a:latin typeface="Frutiger LT Std 57 Cn"/>
            </a:endParaRPr>
          </a:p>
          <a:p>
            <a:pPr defTabSz="457200"/>
            <a:endParaRPr lang="en-US" sz="2400" dirty="0" smtClean="0">
              <a:solidFill>
                <a:srgbClr val="1F497D"/>
              </a:solidFill>
              <a:latin typeface="Frutiger LT Std 57 Cn"/>
            </a:endParaRPr>
          </a:p>
          <a:p>
            <a:pPr defTabSz="457200"/>
            <a:endParaRPr lang="en-US" dirty="0" smtClean="0">
              <a:solidFill>
                <a:srgbClr val="1F497D"/>
              </a:solidFill>
              <a:latin typeface="Frutiger LT Std 57 Cn"/>
            </a:endParaRPr>
          </a:p>
          <a:p>
            <a:pPr marL="742950" lvl="1" indent="-285750" defTabSz="457200">
              <a:buFont typeface="Arial" pitchFamily="34" charset="0"/>
              <a:buChar char="•"/>
            </a:pPr>
            <a:endParaRPr lang="en-US" dirty="0">
              <a:solidFill>
                <a:srgbClr val="1F497D"/>
              </a:solidFill>
              <a:latin typeface="Frutiger LT Std 57 Cn"/>
            </a:endParaRPr>
          </a:p>
          <a:p>
            <a:pPr defTabSz="457200"/>
            <a:endParaRPr lang="en-US" dirty="0">
              <a:solidFill>
                <a:srgbClr val="1F497D"/>
              </a:solidFill>
              <a:latin typeface="Frutiger LT Std 57 Cn"/>
            </a:endParaRPr>
          </a:p>
          <a:p>
            <a:pPr defTabSz="457200"/>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prstClr val="black"/>
              </a:solidFill>
            </a:endParaRPr>
          </a:p>
        </p:txBody>
      </p:sp>
      <p:sp>
        <p:nvSpPr>
          <p:cNvPr id="3" name="Slide Number Placeholder 2"/>
          <p:cNvSpPr>
            <a:spLocks noGrp="1"/>
          </p:cNvSpPr>
          <p:nvPr>
            <p:ph type="sldNum" sz="quarter" idx="12"/>
          </p:nvPr>
        </p:nvSpPr>
        <p:spPr>
          <a:xfrm>
            <a:off x="6553200" y="6096000"/>
            <a:ext cx="2133600" cy="365125"/>
          </a:xfrm>
        </p:spPr>
        <p:txBody>
          <a:bodyPr/>
          <a:lstStyle/>
          <a:p>
            <a:pPr algn="r" defTabSz="457200"/>
            <a:fld id="{35F10103-E679-4F95-995B-FCA2CC3A3828}" type="slidenum">
              <a:rPr lang="en-US" smtClean="0">
                <a:solidFill>
                  <a:prstClr val="black"/>
                </a:solidFill>
              </a:rPr>
              <a:pPr algn="r" defTabSz="457200"/>
              <a:t>2</a:t>
            </a:fld>
            <a:endParaRPr lang="en-US" dirty="0">
              <a:solidFill>
                <a:prstClr val="black"/>
              </a:solidFill>
            </a:endParaRPr>
          </a:p>
        </p:txBody>
      </p:sp>
    </p:spTree>
    <p:extLst>
      <p:ext uri="{BB962C8B-B14F-4D97-AF65-F5344CB8AC3E}">
        <p14:creationId xmlns:p14="http://schemas.microsoft.com/office/powerpoint/2010/main" val="2381145822"/>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82" y="990600"/>
            <a:ext cx="7465925" cy="7017305"/>
          </a:xfrm>
          <a:prstGeom prst="rect">
            <a:avLst/>
          </a:prstGeom>
          <a:noFill/>
        </p:spPr>
        <p:txBody>
          <a:bodyPr wrap="square" rtlCol="0">
            <a:spAutoFit/>
          </a:bodyPr>
          <a:lstStyle/>
          <a:p>
            <a:pPr defTabSz="457200"/>
            <a:r>
              <a:rPr lang="en-US" sz="2800" dirty="0" smtClean="0">
                <a:solidFill>
                  <a:srgbClr val="1F497D"/>
                </a:solidFill>
                <a:latin typeface="Frutiger LT Std 57 Cn"/>
              </a:rPr>
              <a:t>Curating </a:t>
            </a:r>
            <a:r>
              <a:rPr lang="en-US" sz="2800" dirty="0">
                <a:solidFill>
                  <a:srgbClr val="1F497D"/>
                </a:solidFill>
                <a:latin typeface="Frutiger LT Std 57 Cn"/>
              </a:rPr>
              <a:t>Data Locked within a Secure Environment is </a:t>
            </a:r>
            <a:r>
              <a:rPr lang="en-US" sz="2800" dirty="0" smtClean="0">
                <a:solidFill>
                  <a:srgbClr val="1F497D"/>
                </a:solidFill>
                <a:latin typeface="Frutiger LT Std 57 Cn"/>
              </a:rPr>
              <a:t>difficult</a:t>
            </a:r>
          </a:p>
          <a:p>
            <a:pPr defTabSz="457200"/>
            <a:endParaRPr lang="en-US" sz="28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By definition:  Access is </a:t>
            </a:r>
            <a:r>
              <a:rPr lang="en-US" sz="2400" i="1" dirty="0" smtClean="0">
                <a:solidFill>
                  <a:srgbClr val="1F497D"/>
                </a:solidFill>
                <a:latin typeface="Frutiger LT Std 57 Cn"/>
              </a:rPr>
              <a:t>Restricted</a:t>
            </a:r>
          </a:p>
          <a:p>
            <a:pPr marL="342900" indent="-342900" defTabSz="457200">
              <a:buFont typeface="Arial"/>
              <a:buChar char="•"/>
            </a:pPr>
            <a:endParaRPr lang="en-US" sz="2400" i="1"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Lack of </a:t>
            </a:r>
            <a:r>
              <a:rPr lang="en-US" sz="2400" dirty="0" err="1" smtClean="0">
                <a:solidFill>
                  <a:srgbClr val="1F497D"/>
                </a:solidFill>
                <a:latin typeface="Frutiger LT Std 57 Cn"/>
              </a:rPr>
              <a:t>Curation</a:t>
            </a:r>
            <a:r>
              <a:rPr lang="en-US" sz="2400" dirty="0" smtClean="0">
                <a:solidFill>
                  <a:srgbClr val="1F497D"/>
                </a:solidFill>
                <a:latin typeface="Frutiger LT Std 57 Cn"/>
              </a:rPr>
              <a:t> throws up a barrier to Future Discovery and Access</a:t>
            </a:r>
          </a:p>
          <a:p>
            <a:pPr marL="342900" indent="-342900" defTabSz="457200">
              <a:buFont typeface="Arial"/>
              <a:buChar char="•"/>
            </a:pPr>
            <a:endParaRPr lang="en-US" sz="2400" dirty="0" smtClean="0">
              <a:solidFill>
                <a:srgbClr val="1F497D"/>
              </a:solidFill>
              <a:latin typeface="Frutiger LT Std 57 Cn"/>
            </a:endParaRPr>
          </a:p>
          <a:p>
            <a:pPr marL="342900" indent="-342900" defTabSz="457200">
              <a:buFont typeface="Arial"/>
              <a:buChar char="•"/>
            </a:pPr>
            <a:r>
              <a:rPr lang="en-US" sz="2400" dirty="0">
                <a:solidFill>
                  <a:srgbClr val="1F497D"/>
                </a:solidFill>
                <a:latin typeface="Frutiger LT Std 57 Cn"/>
              </a:rPr>
              <a:t>R</a:t>
            </a:r>
            <a:r>
              <a:rPr lang="en-US" sz="2400" dirty="0" smtClean="0">
                <a:solidFill>
                  <a:srgbClr val="1F497D"/>
                </a:solidFill>
                <a:latin typeface="Frutiger LT Std 57 Cn"/>
              </a:rPr>
              <a:t>eplication of Results becomes increasing difficult</a:t>
            </a:r>
            <a:endParaRPr lang="en-US" sz="2400" dirty="0">
              <a:solidFill>
                <a:srgbClr val="1F497D"/>
              </a:solidFill>
              <a:latin typeface="Frutiger LT Std 57 Cn"/>
            </a:endParaRPr>
          </a:p>
          <a:p>
            <a:pPr marL="800100" lvl="1" indent="-342900" defTabSz="457200">
              <a:buFont typeface="Arial"/>
              <a:buChar char="•"/>
            </a:pPr>
            <a:endParaRPr lang="en-US" sz="2400" dirty="0" smtClean="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Important! </a:t>
            </a:r>
            <a:r>
              <a:rPr lang="en-US" sz="2400" dirty="0">
                <a:solidFill>
                  <a:srgbClr val="1F497D"/>
                </a:solidFill>
                <a:latin typeface="Frutiger LT Std 57 Cn"/>
              </a:rPr>
              <a:t> </a:t>
            </a:r>
            <a:r>
              <a:rPr lang="en-US" sz="2400" dirty="0" smtClean="0">
                <a:solidFill>
                  <a:srgbClr val="1F497D"/>
                </a:solidFill>
                <a:latin typeface="Frutiger LT Std 57 Cn"/>
              </a:rPr>
              <a:t>The Scientific Method depends on the ability to replicate the results of research</a:t>
            </a:r>
          </a:p>
          <a:p>
            <a:pPr defTabSz="457200"/>
            <a:endParaRPr lang="en-US" sz="2400" dirty="0" smtClean="0">
              <a:solidFill>
                <a:srgbClr val="1F497D"/>
              </a:solidFill>
              <a:latin typeface="Frutiger LT Std 57 Cn"/>
            </a:endParaRPr>
          </a:p>
          <a:p>
            <a:pPr defTabSz="457200"/>
            <a:endParaRPr lang="en-US" dirty="0" smtClean="0">
              <a:solidFill>
                <a:srgbClr val="1F497D"/>
              </a:solidFill>
              <a:latin typeface="Frutiger LT Std 57 Cn"/>
            </a:endParaRPr>
          </a:p>
          <a:p>
            <a:pPr marL="742950" lvl="1" indent="-285750" defTabSz="457200">
              <a:buFont typeface="Arial" pitchFamily="34" charset="0"/>
              <a:buChar char="•"/>
            </a:pPr>
            <a:endParaRPr lang="en-US" dirty="0">
              <a:solidFill>
                <a:srgbClr val="1F497D"/>
              </a:solidFill>
              <a:latin typeface="Frutiger LT Std 57 Cn"/>
            </a:endParaRPr>
          </a:p>
          <a:p>
            <a:pPr defTabSz="457200"/>
            <a:endParaRPr lang="en-US" dirty="0">
              <a:solidFill>
                <a:srgbClr val="1F497D"/>
              </a:solidFill>
              <a:latin typeface="Frutiger LT Std 57 Cn"/>
            </a:endParaRPr>
          </a:p>
          <a:p>
            <a:pPr defTabSz="457200"/>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prstClr val="black"/>
              </a:solidFill>
            </a:endParaRPr>
          </a:p>
        </p:txBody>
      </p:sp>
      <p:sp>
        <p:nvSpPr>
          <p:cNvPr id="3" name="Slide Number Placeholder 2"/>
          <p:cNvSpPr>
            <a:spLocks noGrp="1"/>
          </p:cNvSpPr>
          <p:nvPr>
            <p:ph type="sldNum" sz="quarter" idx="12"/>
          </p:nvPr>
        </p:nvSpPr>
        <p:spPr>
          <a:xfrm>
            <a:off x="8229600" y="6096000"/>
            <a:ext cx="457200" cy="365125"/>
          </a:xfrm>
        </p:spPr>
        <p:txBody>
          <a:bodyPr/>
          <a:lstStyle/>
          <a:p>
            <a:pPr algn="r" defTabSz="457200"/>
            <a:fld id="{35F10103-E679-4F95-995B-FCA2CC3A3828}" type="slidenum">
              <a:rPr lang="en-US" smtClean="0">
                <a:solidFill>
                  <a:prstClr val="black"/>
                </a:solidFill>
              </a:rPr>
              <a:pPr algn="r" defTabSz="457200"/>
              <a:t>3</a:t>
            </a:fld>
            <a:endParaRPr lang="en-US" dirty="0">
              <a:solidFill>
                <a:prstClr val="black"/>
              </a:solidFill>
            </a:endParaRPr>
          </a:p>
        </p:txBody>
      </p:sp>
    </p:spTree>
    <p:extLst>
      <p:ext uri="{BB962C8B-B14F-4D97-AF65-F5344CB8AC3E}">
        <p14:creationId xmlns:p14="http://schemas.microsoft.com/office/powerpoint/2010/main" val="3216663997"/>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81000" y="1066800"/>
            <a:ext cx="8229600" cy="1143000"/>
          </a:xfrm>
        </p:spPr>
        <p:txBody>
          <a:bodyPr/>
          <a:lstStyle/>
          <a:p>
            <a:pPr eaLnBrk="1" hangingPunct="1">
              <a:defRPr/>
            </a:pPr>
            <a:r>
              <a:rPr lang="en-US" sz="2800" dirty="0" smtClean="0">
                <a:ea typeface="+mj-ea"/>
                <a:cs typeface="+mj-cs"/>
              </a:rPr>
              <a:t>Research Opportunities</a:t>
            </a:r>
            <a:br>
              <a:rPr lang="en-US" sz="2800" dirty="0" smtClean="0">
                <a:ea typeface="+mj-ea"/>
                <a:cs typeface="+mj-cs"/>
              </a:rPr>
            </a:br>
            <a:r>
              <a:rPr lang="en-US" sz="2800" dirty="0" smtClean="0">
                <a:ea typeface="+mj-ea"/>
                <a:cs typeface="+mj-cs"/>
              </a:rPr>
              <a:t> at the Cornell Census Research Data Center</a:t>
            </a:r>
            <a:endParaRPr lang="en-US" sz="1800" dirty="0" smtClean="0">
              <a:ea typeface="+mj-ea"/>
              <a:cs typeface="+mj-cs"/>
            </a:endParaRPr>
          </a:p>
        </p:txBody>
      </p:sp>
      <p:pic>
        <p:nvPicPr>
          <p:cNvPr id="4098" name="Picture 4" descr="home_build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438400"/>
            <a:ext cx="5334000"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610600" y="6096000"/>
            <a:ext cx="301660" cy="369332"/>
          </a:xfrm>
          <a:prstGeom prst="rect">
            <a:avLst/>
          </a:prstGeom>
          <a:noFill/>
        </p:spPr>
        <p:txBody>
          <a:bodyPr wrap="none" rtlCol="0">
            <a:spAutoFit/>
          </a:bodyPr>
          <a:lstStyle/>
          <a:p>
            <a:r>
              <a:rPr lang="en-US" dirty="0" smtClean="0"/>
              <a:t>4</a:t>
            </a:r>
            <a:endParaRPr lang="en-US" dirty="0"/>
          </a:p>
        </p:txBody>
      </p:sp>
    </p:spTree>
    <p:extLst>
      <p:ext uri="{BB962C8B-B14F-4D97-AF65-F5344CB8AC3E}">
        <p14:creationId xmlns:p14="http://schemas.microsoft.com/office/powerpoint/2010/main" val="565592886"/>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289" name="Picture 83" descr="2MapContinentalUS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6754813"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0" name="Picture 86" descr="censu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33528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2" name="Picture 90" descr="nb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2590800"/>
            <a:ext cx="6762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1" name="Picture 89" descr="mich"/>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2971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4" name="Picture 92" descr="cornell_sea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2200" y="2438400"/>
            <a:ext cx="476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5" name="Picture 93" descr="baruch"/>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34200" y="3200400"/>
            <a:ext cx="6429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6" name="Picture 94" descr="ccrdc"/>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3200400"/>
            <a:ext cx="8096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7" name="Picture 95" descr="triangle_log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4600" y="3810000"/>
            <a:ext cx="6858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8" name="Picture 96" descr="ccrdc"/>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4191000"/>
            <a:ext cx="8096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49" name="Picture 97" descr="umn_logo"/>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67200" y="2590800"/>
            <a:ext cx="296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52" name="Picture 100" descr="crdc_0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0600" y="3048000"/>
            <a:ext cx="4191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455" name="Rectangle 103"/>
          <p:cNvSpPr>
            <a:spLocks noGrp="1" noChangeArrowheads="1"/>
          </p:cNvSpPr>
          <p:nvPr>
            <p:ph type="title"/>
          </p:nvPr>
        </p:nvSpPr>
        <p:spPr>
          <a:xfrm>
            <a:off x="685800" y="1066800"/>
            <a:ext cx="7772400" cy="1143000"/>
          </a:xfrm>
        </p:spPr>
        <p:txBody>
          <a:bodyPr/>
          <a:lstStyle/>
          <a:p>
            <a:pPr eaLnBrk="1" hangingPunct="1">
              <a:defRPr/>
            </a:pPr>
            <a:r>
              <a:rPr lang="en-US" sz="2800" dirty="0">
                <a:effectLst>
                  <a:outerShdw blurRad="38100" dist="38100" dir="2700000" algn="tl">
                    <a:srgbClr val="DDDDDD"/>
                  </a:outerShdw>
                </a:effectLst>
                <a:latin typeface="Trebuchet MS" charset="0"/>
                <a:cs typeface="+mj-cs"/>
              </a:rPr>
              <a:t>The RDC Network</a:t>
            </a:r>
          </a:p>
        </p:txBody>
      </p:sp>
      <p:pic>
        <p:nvPicPr>
          <p:cNvPr id="100456" name="Picture 104" descr="logogeorgi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15000" y="4419600"/>
            <a:ext cx="4572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810355" y="6172200"/>
            <a:ext cx="301660" cy="369332"/>
          </a:xfrm>
          <a:prstGeom prst="rect">
            <a:avLst/>
          </a:prstGeom>
          <a:noFill/>
        </p:spPr>
        <p:txBody>
          <a:bodyPr wrap="none" rtlCol="0">
            <a:spAutoFit/>
          </a:bodyPr>
          <a:lstStyle/>
          <a:p>
            <a:r>
              <a:rPr lang="en-US" dirty="0" smtClean="0"/>
              <a:t>5</a:t>
            </a:r>
            <a:endParaRPr lang="en-US" dirty="0"/>
          </a:p>
        </p:txBody>
      </p:sp>
    </p:spTree>
    <p:extLst>
      <p:ext uri="{BB962C8B-B14F-4D97-AF65-F5344CB8AC3E}">
        <p14:creationId xmlns:p14="http://schemas.microsoft.com/office/powerpoint/2010/main" val="658855072"/>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763000" y="6248400"/>
            <a:ext cx="304800" cy="365125"/>
          </a:xfrm>
        </p:spPr>
        <p:txBody>
          <a:bodyPr/>
          <a:lstStyle/>
          <a:p>
            <a:pPr defTabSz="457200"/>
            <a:fld id="{35F10103-E679-4F95-995B-FCA2CC3A3828}" type="slidenum">
              <a:rPr lang="en-US" smtClean="0">
                <a:solidFill>
                  <a:prstClr val="black"/>
                </a:solidFill>
              </a:rPr>
              <a:pPr defTabSz="457200"/>
              <a:t>6</a:t>
            </a:fld>
            <a:endParaRPr lang="en-US" dirty="0">
              <a:solidFill>
                <a:prstClr val="black"/>
              </a:solidFill>
            </a:endParaRPr>
          </a:p>
        </p:txBody>
      </p:sp>
      <p:pic>
        <p:nvPicPr>
          <p:cNvPr id="3" name="Picture 2"/>
          <p:cNvPicPr>
            <a:picLocks noChangeAspect="1"/>
          </p:cNvPicPr>
          <p:nvPr/>
        </p:nvPicPr>
        <p:blipFill>
          <a:blip r:embed="rId2"/>
          <a:stretch>
            <a:fillRect/>
          </a:stretch>
        </p:blipFill>
        <p:spPr>
          <a:xfrm>
            <a:off x="1905000" y="1905000"/>
            <a:ext cx="5524500" cy="4406900"/>
          </a:xfrm>
          <a:prstGeom prst="rect">
            <a:avLst/>
          </a:prstGeom>
        </p:spPr>
      </p:pic>
      <p:sp>
        <p:nvSpPr>
          <p:cNvPr id="5" name="TextBox 4"/>
          <p:cNvSpPr txBox="1"/>
          <p:nvPr/>
        </p:nvSpPr>
        <p:spPr>
          <a:xfrm>
            <a:off x="914400" y="1219200"/>
            <a:ext cx="7840608" cy="369332"/>
          </a:xfrm>
          <a:prstGeom prst="rect">
            <a:avLst/>
          </a:prstGeom>
          <a:noFill/>
        </p:spPr>
        <p:txBody>
          <a:bodyPr wrap="none" rtlCol="0">
            <a:spAutoFit/>
          </a:bodyPr>
          <a:lstStyle/>
          <a:p>
            <a:r>
              <a:rPr lang="en-US" dirty="0" smtClean="0"/>
              <a:t>We see this problem at Cornell:  Research with Restricted Data increasing at CISER</a:t>
            </a:r>
            <a:endParaRPr lang="en-US" dirty="0"/>
          </a:p>
        </p:txBody>
      </p:sp>
    </p:spTree>
    <p:extLst>
      <p:ext uri="{BB962C8B-B14F-4D97-AF65-F5344CB8AC3E}">
        <p14:creationId xmlns:p14="http://schemas.microsoft.com/office/powerpoint/2010/main" val="925778449"/>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686800" y="6248400"/>
            <a:ext cx="304800" cy="365125"/>
          </a:xfrm>
        </p:spPr>
        <p:txBody>
          <a:bodyPr/>
          <a:lstStyle/>
          <a:p>
            <a:pPr defTabSz="457200"/>
            <a:fld id="{35F10103-E679-4F95-995B-FCA2CC3A3828}" type="slidenum">
              <a:rPr lang="en-US" smtClean="0">
                <a:solidFill>
                  <a:prstClr val="black"/>
                </a:solidFill>
              </a:rPr>
              <a:pPr defTabSz="457200"/>
              <a:t>7</a:t>
            </a:fld>
            <a:endParaRPr lang="en-US" dirty="0">
              <a:solidFill>
                <a:prstClr val="black"/>
              </a:solidFill>
            </a:endParaRPr>
          </a:p>
        </p:txBody>
      </p:sp>
      <p:pic>
        <p:nvPicPr>
          <p:cNvPr id="3" name="Picture 2" descr="Screen Shot 2012-11-30 at 6.01.3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1752600"/>
            <a:ext cx="6248400" cy="4269740"/>
          </a:xfrm>
          <a:prstGeom prst="rect">
            <a:avLst/>
          </a:prstGeom>
        </p:spPr>
      </p:pic>
      <p:sp>
        <p:nvSpPr>
          <p:cNvPr id="4" name="TextBox 3"/>
          <p:cNvSpPr txBox="1"/>
          <p:nvPr/>
        </p:nvSpPr>
        <p:spPr>
          <a:xfrm>
            <a:off x="1219200" y="6096000"/>
            <a:ext cx="3276600" cy="553998"/>
          </a:xfrm>
          <a:prstGeom prst="rect">
            <a:avLst/>
          </a:prstGeom>
          <a:noFill/>
        </p:spPr>
        <p:txBody>
          <a:bodyPr wrap="square" rtlCol="0">
            <a:spAutoFit/>
          </a:bodyPr>
          <a:lstStyle/>
          <a:p>
            <a:r>
              <a:rPr lang="en-US" sz="1200" dirty="0"/>
              <a:t>Source:  </a:t>
            </a:r>
            <a:r>
              <a:rPr lang="en-US" sz="1200" dirty="0"/>
              <a:t>Raj </a:t>
            </a:r>
            <a:r>
              <a:rPr lang="en-US" sz="1200" dirty="0" err="1"/>
              <a:t>Chetti</a:t>
            </a:r>
            <a:r>
              <a:rPr lang="en-US" sz="1200" dirty="0"/>
              <a:t>, NBER </a:t>
            </a:r>
            <a:r>
              <a:rPr lang="en-US" sz="1200" dirty="0" smtClean="0"/>
              <a:t>Summer Institute 2012</a:t>
            </a:r>
            <a:endParaRPr lang="en-US" sz="1200" dirty="0"/>
          </a:p>
          <a:p>
            <a:endParaRPr lang="en-US" dirty="0"/>
          </a:p>
        </p:txBody>
      </p:sp>
      <p:sp>
        <p:nvSpPr>
          <p:cNvPr id="5" name="TextBox 4"/>
          <p:cNvSpPr txBox="1"/>
          <p:nvPr/>
        </p:nvSpPr>
        <p:spPr>
          <a:xfrm>
            <a:off x="1524000" y="1143000"/>
            <a:ext cx="5833899" cy="461665"/>
          </a:xfrm>
          <a:prstGeom prst="rect">
            <a:avLst/>
          </a:prstGeom>
          <a:noFill/>
        </p:spPr>
        <p:txBody>
          <a:bodyPr wrap="none" rtlCol="0">
            <a:spAutoFit/>
          </a:bodyPr>
          <a:lstStyle/>
          <a:p>
            <a:r>
              <a:rPr lang="en-US" sz="2400" dirty="0" smtClean="0"/>
              <a:t>Increasing Use of Restricted Data in Research</a:t>
            </a:r>
            <a:endParaRPr lang="en-US" sz="2400" dirty="0"/>
          </a:p>
        </p:txBody>
      </p:sp>
    </p:spTree>
    <p:extLst>
      <p:ext uri="{BB962C8B-B14F-4D97-AF65-F5344CB8AC3E}">
        <p14:creationId xmlns:p14="http://schemas.microsoft.com/office/powerpoint/2010/main" val="2365142854"/>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52400"/>
            <a:ext cx="7465925" cy="3508653"/>
          </a:xfrm>
          <a:prstGeom prst="rect">
            <a:avLst/>
          </a:prstGeom>
          <a:noFill/>
        </p:spPr>
        <p:txBody>
          <a:bodyPr wrap="square" rtlCol="0">
            <a:spAutoFit/>
          </a:bodyPr>
          <a:lstStyle/>
          <a:p>
            <a:pPr algn="ctr" defTabSz="457200"/>
            <a:endParaRPr lang="en-US" sz="2400" b="1" dirty="0" smtClean="0">
              <a:solidFill>
                <a:srgbClr val="FF0000"/>
              </a:solidFill>
              <a:latin typeface="Frutiger LT Std 57 Cn"/>
            </a:endParaRPr>
          </a:p>
          <a:p>
            <a:pPr defTabSz="457200"/>
            <a:endParaRPr lang="en-US" sz="2400" dirty="0" smtClean="0">
              <a:solidFill>
                <a:srgbClr val="1F497D"/>
              </a:solidFill>
              <a:latin typeface="Frutiger LT Std 57 Cn"/>
            </a:endParaRPr>
          </a:p>
          <a:p>
            <a:pPr defTabSz="457200"/>
            <a:endParaRPr lang="en-US" sz="2400" dirty="0" smtClean="0">
              <a:solidFill>
                <a:srgbClr val="1F497D"/>
              </a:solidFill>
              <a:latin typeface="Frutiger LT Std 57 Cn"/>
            </a:endParaRPr>
          </a:p>
          <a:p>
            <a:pPr defTabSz="457200"/>
            <a:endParaRPr lang="en-US" sz="2400" dirty="0" smtClean="0">
              <a:solidFill>
                <a:srgbClr val="1F497D"/>
              </a:solidFill>
              <a:latin typeface="Frutiger LT Std 57 Cn"/>
            </a:endParaRPr>
          </a:p>
          <a:p>
            <a:pPr defTabSz="457200"/>
            <a:endParaRPr lang="en-US" dirty="0" smtClean="0">
              <a:solidFill>
                <a:srgbClr val="1F497D"/>
              </a:solidFill>
              <a:latin typeface="Frutiger LT Std 57 Cn"/>
            </a:endParaRPr>
          </a:p>
          <a:p>
            <a:pPr marL="742950" lvl="1" indent="-285750" defTabSz="457200">
              <a:buFont typeface="Arial" pitchFamily="34" charset="0"/>
              <a:buChar char="•"/>
            </a:pPr>
            <a:endParaRPr lang="en-US" dirty="0">
              <a:solidFill>
                <a:srgbClr val="1F497D"/>
              </a:solidFill>
              <a:latin typeface="Frutiger LT Std 57 Cn"/>
            </a:endParaRPr>
          </a:p>
          <a:p>
            <a:pPr defTabSz="457200"/>
            <a:endParaRPr lang="en-US" dirty="0">
              <a:solidFill>
                <a:srgbClr val="1F497D"/>
              </a:solidFill>
              <a:latin typeface="Frutiger LT Std 57 Cn"/>
            </a:endParaRPr>
          </a:p>
          <a:p>
            <a:pPr defTabSz="457200"/>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srgbClr val="1F497D"/>
              </a:solidFill>
              <a:latin typeface="Frutiger LT Std 57 Cn"/>
            </a:endParaRPr>
          </a:p>
          <a:p>
            <a:pPr marL="285750" indent="-285750" defTabSz="457200">
              <a:buFont typeface="Arial" pitchFamily="34" charset="0"/>
              <a:buChar char="•"/>
            </a:pPr>
            <a:endParaRPr lang="en-US" dirty="0">
              <a:solidFill>
                <a:prstClr val="black"/>
              </a:solidFill>
            </a:endParaRPr>
          </a:p>
        </p:txBody>
      </p:sp>
      <p:sp>
        <p:nvSpPr>
          <p:cNvPr id="3" name="Slide Number Placeholder 2"/>
          <p:cNvSpPr>
            <a:spLocks noGrp="1"/>
          </p:cNvSpPr>
          <p:nvPr>
            <p:ph type="sldNum" sz="quarter" idx="12"/>
          </p:nvPr>
        </p:nvSpPr>
        <p:spPr>
          <a:xfrm>
            <a:off x="8534400" y="6096000"/>
            <a:ext cx="381000" cy="365125"/>
          </a:xfrm>
        </p:spPr>
        <p:txBody>
          <a:bodyPr/>
          <a:lstStyle/>
          <a:p>
            <a:pPr algn="r" defTabSz="457200"/>
            <a:fld id="{35F10103-E679-4F95-995B-FCA2CC3A3828}" type="slidenum">
              <a:rPr lang="en-US" smtClean="0">
                <a:solidFill>
                  <a:prstClr val="black"/>
                </a:solidFill>
              </a:rPr>
              <a:pPr algn="r" defTabSz="457200"/>
              <a:t>8</a:t>
            </a:fld>
            <a:endParaRPr lang="en-US" dirty="0">
              <a:solidFill>
                <a:prstClr val="black"/>
              </a:solidFill>
            </a:endParaRPr>
          </a:p>
        </p:txBody>
      </p:sp>
      <p:pic>
        <p:nvPicPr>
          <p:cNvPr id="6" name="Picture 5" descr="Screen Shot 2012-11-30 at 5.59.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0" y="1752600"/>
            <a:ext cx="6541129" cy="4404360"/>
          </a:xfrm>
          <a:prstGeom prst="rect">
            <a:avLst/>
          </a:prstGeom>
        </p:spPr>
      </p:pic>
      <p:sp>
        <p:nvSpPr>
          <p:cNvPr id="7" name="TextBox 6"/>
          <p:cNvSpPr txBox="1"/>
          <p:nvPr/>
        </p:nvSpPr>
        <p:spPr>
          <a:xfrm>
            <a:off x="1676400" y="6172200"/>
            <a:ext cx="5359400" cy="461665"/>
          </a:xfrm>
          <a:prstGeom prst="rect">
            <a:avLst/>
          </a:prstGeom>
          <a:noFill/>
        </p:spPr>
        <p:txBody>
          <a:bodyPr wrap="square" rtlCol="0">
            <a:spAutoFit/>
          </a:bodyPr>
          <a:lstStyle/>
          <a:p>
            <a:r>
              <a:rPr lang="en-US" sz="1200" dirty="0"/>
              <a:t>Source:  Raj </a:t>
            </a:r>
            <a:r>
              <a:rPr lang="en-US" sz="1200" dirty="0" err="1"/>
              <a:t>Chetti</a:t>
            </a:r>
            <a:r>
              <a:rPr lang="en-US" sz="1200" dirty="0"/>
              <a:t>, NBER Summer Institute 2012</a:t>
            </a:r>
          </a:p>
          <a:p>
            <a:endParaRPr lang="en-US" sz="1200" dirty="0"/>
          </a:p>
        </p:txBody>
      </p:sp>
      <p:sp>
        <p:nvSpPr>
          <p:cNvPr id="8" name="TextBox 7"/>
          <p:cNvSpPr txBox="1"/>
          <p:nvPr/>
        </p:nvSpPr>
        <p:spPr>
          <a:xfrm>
            <a:off x="2743200" y="1066800"/>
            <a:ext cx="4224684" cy="461665"/>
          </a:xfrm>
          <a:prstGeom prst="rect">
            <a:avLst/>
          </a:prstGeom>
          <a:noFill/>
        </p:spPr>
        <p:txBody>
          <a:bodyPr wrap="none" rtlCol="0">
            <a:spAutoFit/>
          </a:bodyPr>
          <a:lstStyle/>
          <a:p>
            <a:r>
              <a:rPr lang="en-US" sz="2400" dirty="0" smtClean="0"/>
              <a:t>Use of Public Use Data Declining</a:t>
            </a:r>
            <a:endParaRPr lang="en-US" sz="2400" dirty="0"/>
          </a:p>
        </p:txBody>
      </p:sp>
    </p:spTree>
    <p:extLst>
      <p:ext uri="{BB962C8B-B14F-4D97-AF65-F5344CB8AC3E}">
        <p14:creationId xmlns:p14="http://schemas.microsoft.com/office/powerpoint/2010/main" val="3935204415"/>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763000" y="6248400"/>
            <a:ext cx="304800" cy="365125"/>
          </a:xfrm>
        </p:spPr>
        <p:txBody>
          <a:bodyPr/>
          <a:lstStyle/>
          <a:p>
            <a:pPr defTabSz="457200"/>
            <a:fld id="{35F10103-E679-4F95-995B-FCA2CC3A3828}" type="slidenum">
              <a:rPr lang="en-US" smtClean="0">
                <a:solidFill>
                  <a:prstClr val="black"/>
                </a:solidFill>
              </a:rPr>
              <a:pPr defTabSz="457200"/>
              <a:t>9</a:t>
            </a:fld>
            <a:endParaRPr lang="en-US" dirty="0">
              <a:solidFill>
                <a:prstClr val="black"/>
              </a:solidFill>
            </a:endParaRPr>
          </a:p>
        </p:txBody>
      </p:sp>
      <p:sp>
        <p:nvSpPr>
          <p:cNvPr id="4" name="TextBox 3"/>
          <p:cNvSpPr txBox="1"/>
          <p:nvPr/>
        </p:nvSpPr>
        <p:spPr>
          <a:xfrm>
            <a:off x="533400" y="1143000"/>
            <a:ext cx="7162800" cy="369332"/>
          </a:xfrm>
          <a:prstGeom prst="rect">
            <a:avLst/>
          </a:prstGeom>
          <a:noFill/>
        </p:spPr>
        <p:txBody>
          <a:bodyPr wrap="square" rtlCol="0">
            <a:spAutoFit/>
          </a:bodyPr>
          <a:lstStyle/>
          <a:p>
            <a:pPr algn="ctr"/>
            <a:r>
              <a:rPr lang="en-US" dirty="0" smtClean="0"/>
              <a:t>Proposed Solution:  Cornell’s NCRN Node</a:t>
            </a:r>
          </a:p>
        </p:txBody>
      </p:sp>
      <p:sp>
        <p:nvSpPr>
          <p:cNvPr id="5" name="Shape 222"/>
          <p:cNvSpPr/>
          <p:nvPr/>
        </p:nvSpPr>
        <p:spPr>
          <a:xfrm>
            <a:off x="914400" y="1828800"/>
            <a:ext cx="7372350" cy="2971800"/>
          </a:xfrm>
          <a:prstGeom prst="rect">
            <a:avLst/>
          </a:prstGeom>
          <a:blipFill>
            <a:blip r:embed="rId2"/>
            <a:stretch>
              <a:fillRect/>
            </a:stretch>
          </a:blipFill>
        </p:spPr>
        <p:txBody>
          <a:bodyPr/>
          <a:lstStyle/>
          <a:p>
            <a:endParaRPr lang="en-US"/>
          </a:p>
        </p:txBody>
      </p:sp>
      <p:sp>
        <p:nvSpPr>
          <p:cNvPr id="6" name="TextBox 5"/>
          <p:cNvSpPr txBox="1"/>
          <p:nvPr/>
        </p:nvSpPr>
        <p:spPr>
          <a:xfrm>
            <a:off x="990600" y="5334000"/>
            <a:ext cx="7162800" cy="923330"/>
          </a:xfrm>
          <a:prstGeom prst="rect">
            <a:avLst/>
          </a:prstGeom>
          <a:noFill/>
        </p:spPr>
        <p:txBody>
          <a:bodyPr wrap="square" rtlCol="0">
            <a:spAutoFit/>
          </a:bodyPr>
          <a:lstStyle/>
          <a:p>
            <a:pPr algn="ctr"/>
            <a:r>
              <a:rPr lang="en-US" dirty="0"/>
              <a:t>Improved documentation and discoverability of both public and restricted data from the federal statistical system</a:t>
            </a:r>
          </a:p>
          <a:p>
            <a:endParaRPr lang="en-US" dirty="0"/>
          </a:p>
        </p:txBody>
      </p:sp>
      <p:sp>
        <p:nvSpPr>
          <p:cNvPr id="7" name="Oval 6"/>
          <p:cNvSpPr/>
          <p:nvPr/>
        </p:nvSpPr>
        <p:spPr>
          <a:xfrm>
            <a:off x="5181600" y="1981200"/>
            <a:ext cx="3213948" cy="2133600"/>
          </a:xfrm>
          <a:prstGeom prst="ellipse">
            <a:avLst/>
          </a:prstGeom>
          <a:solidFill>
            <a:srgbClr val="FF0000">
              <a:alpha val="0"/>
            </a:srgbClr>
          </a:solidFill>
          <a:ln>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Oval 8"/>
          <p:cNvSpPr/>
          <p:nvPr/>
        </p:nvSpPr>
        <p:spPr>
          <a:xfrm>
            <a:off x="4038600" y="3657600"/>
            <a:ext cx="1752600" cy="1219200"/>
          </a:xfrm>
          <a:prstGeom prst="ellipse">
            <a:avLst/>
          </a:prstGeom>
          <a:solidFill>
            <a:srgbClr val="FF0000">
              <a:alpha val="0"/>
            </a:srgbClr>
          </a:solidFill>
          <a:ln>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TextBox 9"/>
          <p:cNvSpPr txBox="1"/>
          <p:nvPr/>
        </p:nvSpPr>
        <p:spPr>
          <a:xfrm>
            <a:off x="7620000" y="1752600"/>
            <a:ext cx="902811" cy="369332"/>
          </a:xfrm>
          <a:prstGeom prst="rect">
            <a:avLst/>
          </a:prstGeom>
          <a:noFill/>
        </p:spPr>
        <p:txBody>
          <a:bodyPr wrap="none" rtlCol="0">
            <a:spAutoFit/>
          </a:bodyPr>
          <a:lstStyle/>
          <a:p>
            <a:r>
              <a:rPr lang="en-US" dirty="0" smtClean="0">
                <a:solidFill>
                  <a:srgbClr val="FF0000"/>
                </a:solidFill>
              </a:rPr>
              <a:t>CED</a:t>
            </a:r>
            <a:r>
              <a:rPr lang="en-US" baseline="30000" dirty="0" smtClean="0">
                <a:solidFill>
                  <a:srgbClr val="FF0000"/>
                </a:solidFill>
              </a:rPr>
              <a:t>2</a:t>
            </a:r>
            <a:r>
              <a:rPr lang="en-US" dirty="0" smtClean="0">
                <a:solidFill>
                  <a:srgbClr val="FF0000"/>
                </a:solidFill>
              </a:rPr>
              <a:t>AR</a:t>
            </a:r>
            <a:endParaRPr lang="en-US" dirty="0">
              <a:solidFill>
                <a:srgbClr val="FF0000"/>
              </a:solidFill>
            </a:endParaRPr>
          </a:p>
        </p:txBody>
      </p:sp>
      <p:sp>
        <p:nvSpPr>
          <p:cNvPr id="11" name="TextBox 10"/>
          <p:cNvSpPr txBox="1"/>
          <p:nvPr/>
        </p:nvSpPr>
        <p:spPr>
          <a:xfrm>
            <a:off x="2514600" y="3962400"/>
            <a:ext cx="2186489" cy="923330"/>
          </a:xfrm>
          <a:prstGeom prst="rect">
            <a:avLst/>
          </a:prstGeom>
          <a:noFill/>
        </p:spPr>
        <p:txBody>
          <a:bodyPr wrap="square" rtlCol="0">
            <a:spAutoFit/>
          </a:bodyPr>
          <a:lstStyle/>
          <a:p>
            <a:r>
              <a:rPr lang="en-US" dirty="0" smtClean="0">
                <a:solidFill>
                  <a:srgbClr val="FF0000"/>
                </a:solidFill>
              </a:rPr>
              <a:t>DDI Solution to Confidential Metadata</a:t>
            </a:r>
            <a:endParaRPr lang="en-US" dirty="0">
              <a:solidFill>
                <a:srgbClr val="FF0000"/>
              </a:solidFill>
            </a:endParaRPr>
          </a:p>
        </p:txBody>
      </p:sp>
    </p:spTree>
    <p:extLst>
      <p:ext uri="{BB962C8B-B14F-4D97-AF65-F5344CB8AC3E}">
        <p14:creationId xmlns:p14="http://schemas.microsoft.com/office/powerpoint/2010/main" val="401441917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82" y="990600"/>
            <a:ext cx="7465925" cy="4647426"/>
          </a:xfrm>
          <a:prstGeom prst="rect">
            <a:avLst/>
          </a:prstGeom>
          <a:noFill/>
        </p:spPr>
        <p:txBody>
          <a:bodyPr wrap="square" rtlCol="0">
            <a:spAutoFit/>
          </a:bodyPr>
          <a:lstStyle/>
          <a:p>
            <a:pPr algn="ctr" defTabSz="457200"/>
            <a:r>
              <a:rPr lang="en-US" sz="2800" dirty="0" smtClean="0">
                <a:solidFill>
                  <a:srgbClr val="1F497D"/>
                </a:solidFill>
                <a:latin typeface="Frutiger LT Std 57 Cn"/>
              </a:rPr>
              <a:t>CED</a:t>
            </a:r>
            <a:r>
              <a:rPr lang="en-US" sz="2800" baseline="30000" dirty="0" smtClean="0">
                <a:solidFill>
                  <a:srgbClr val="1F497D"/>
                </a:solidFill>
                <a:latin typeface="Frutiger LT Std 57 Cn"/>
              </a:rPr>
              <a:t>2</a:t>
            </a:r>
            <a:r>
              <a:rPr lang="en-US" sz="2800" dirty="0" smtClean="0">
                <a:solidFill>
                  <a:srgbClr val="1F497D"/>
                </a:solidFill>
                <a:latin typeface="Frutiger LT Std 57 Cn"/>
              </a:rPr>
              <a:t>AR Overview and Goals</a:t>
            </a:r>
          </a:p>
          <a:p>
            <a:pPr defTabSz="457200"/>
            <a:endParaRPr lang="en-US" sz="28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Collect and standardize disparate metadata into a single DDI repository</a:t>
            </a:r>
          </a:p>
          <a:p>
            <a:pPr marL="342900" indent="-342900" defTabSz="457200">
              <a:buFont typeface="Arial"/>
              <a:buChar char="•"/>
            </a:pPr>
            <a:endParaRPr lang="en-US" sz="2400" i="1"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Provide a web interface for researchers to access</a:t>
            </a:r>
          </a:p>
          <a:p>
            <a:pPr marL="342900" indent="-342900" defTabSz="457200">
              <a:buFont typeface="Arial"/>
              <a:buChar char="•"/>
            </a:pPr>
            <a:endParaRPr lang="en-US" sz="24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Build an API for developers to use</a:t>
            </a:r>
          </a:p>
          <a:p>
            <a:pPr marL="342900" indent="-342900" defTabSz="457200">
              <a:buFont typeface="Arial"/>
              <a:buChar char="•"/>
            </a:pPr>
            <a:endParaRPr lang="en-US" sz="24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Use open standards</a:t>
            </a:r>
          </a:p>
          <a:p>
            <a:pPr marL="342900" indent="-342900" defTabSz="457200">
              <a:buFont typeface="Arial"/>
              <a:buChar char="•"/>
            </a:pPr>
            <a:endParaRPr lang="en-US" sz="2400" dirty="0">
              <a:solidFill>
                <a:srgbClr val="1F497D"/>
              </a:solidFill>
              <a:latin typeface="Frutiger LT Std 57 Cn"/>
            </a:endParaRPr>
          </a:p>
          <a:p>
            <a:pPr marL="342900" indent="-342900" defTabSz="457200">
              <a:buFont typeface="Arial"/>
              <a:buChar char="•"/>
            </a:pPr>
            <a:r>
              <a:rPr lang="en-US" sz="2400" dirty="0" smtClean="0">
                <a:solidFill>
                  <a:srgbClr val="1F497D"/>
                </a:solidFill>
                <a:latin typeface="Frutiger LT Std 57 Cn"/>
              </a:rPr>
              <a:t>Provide thorough documentation</a:t>
            </a:r>
          </a:p>
        </p:txBody>
      </p:sp>
      <p:sp>
        <p:nvSpPr>
          <p:cNvPr id="3" name="Slide Number Placeholder 2"/>
          <p:cNvSpPr>
            <a:spLocks noGrp="1"/>
          </p:cNvSpPr>
          <p:nvPr>
            <p:ph type="sldNum" sz="quarter" idx="12"/>
          </p:nvPr>
        </p:nvSpPr>
        <p:spPr>
          <a:xfrm>
            <a:off x="6553200" y="6096000"/>
            <a:ext cx="2133600" cy="365125"/>
          </a:xfrm>
        </p:spPr>
        <p:txBody>
          <a:bodyPr/>
          <a:lstStyle/>
          <a:p>
            <a:pPr algn="r" defTabSz="457200"/>
            <a:fld id="{35F10103-E679-4F95-995B-FCA2CC3A3828}" type="slidenum">
              <a:rPr lang="en-US" smtClean="0">
                <a:solidFill>
                  <a:prstClr val="black"/>
                </a:solidFill>
              </a:rPr>
              <a:pPr algn="r" defTabSz="457200"/>
              <a:t>10</a:t>
            </a:fld>
            <a:endParaRPr lang="en-US" dirty="0">
              <a:solidFill>
                <a:prstClr val="black"/>
              </a:solidFill>
            </a:endParaRPr>
          </a:p>
        </p:txBody>
      </p:sp>
    </p:spTree>
    <p:extLst>
      <p:ext uri="{BB962C8B-B14F-4D97-AF65-F5344CB8AC3E}">
        <p14:creationId xmlns:p14="http://schemas.microsoft.com/office/powerpoint/2010/main" val="937278253"/>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351"/>
            <a:ext cx="7772400" cy="4525001"/>
          </a:xfrm>
        </p:spPr>
        <p:txBody>
          <a:bodyPr/>
          <a:lstStyle/>
          <a:p>
            <a:pPr algn="ctr"/>
            <a:r>
              <a:rPr lang="en-US" sz="2800" dirty="0" smtClean="0"/>
              <a:t>Acknowledging CS 5150 Contributions</a:t>
            </a:r>
            <a:r>
              <a:rPr lang="en-US" sz="2800" dirty="0"/>
              <a:t/>
            </a:r>
            <a:br>
              <a:rPr lang="en-US" sz="2800" dirty="0"/>
            </a:br>
            <a:r>
              <a:rPr lang="en-US" sz="2800" dirty="0"/>
              <a:t/>
            </a:r>
            <a:br>
              <a:rPr lang="en-US" sz="2800" dirty="0"/>
            </a:br>
            <a:r>
              <a:rPr lang="en-US" sz="2400" dirty="0" smtClean="0"/>
              <a:t>Jeremy Williams*</a:t>
            </a:r>
            <a:br>
              <a:rPr lang="en-US" sz="2400" dirty="0" smtClean="0"/>
            </a:br>
            <a:r>
              <a:rPr lang="en-US" sz="2400" dirty="0"/>
              <a:t>Benjamin Perry</a:t>
            </a:r>
            <a:br>
              <a:rPr lang="en-US" sz="2400" dirty="0"/>
            </a:br>
            <a:r>
              <a:rPr lang="en-US" sz="2400" dirty="0"/>
              <a:t>Justin Burden</a:t>
            </a:r>
            <a:br>
              <a:rPr lang="en-US" sz="2400" dirty="0"/>
            </a:br>
            <a:r>
              <a:rPr lang="en-US" sz="2400" dirty="0" err="1"/>
              <a:t>Chantelle</a:t>
            </a:r>
            <a:r>
              <a:rPr lang="en-US" sz="2400" dirty="0"/>
              <a:t> Farmer</a:t>
            </a:r>
            <a:br>
              <a:rPr lang="en-US" sz="2400" dirty="0"/>
            </a:br>
            <a:r>
              <a:rPr lang="en-US" sz="2400" dirty="0" err="1" smtClean="0"/>
              <a:t>Shudan</a:t>
            </a:r>
            <a:r>
              <a:rPr lang="en-US" sz="2400" dirty="0" smtClean="0"/>
              <a:t> </a:t>
            </a:r>
            <a:r>
              <a:rPr lang="en-US" sz="2400" dirty="0" err="1" smtClean="0"/>
              <a:t>Zheng</a:t>
            </a:r>
            <a:r>
              <a:rPr lang="en-US" sz="2400" dirty="0" smtClean="0"/>
              <a:t/>
            </a:r>
            <a:br>
              <a:rPr lang="en-US" sz="2400" dirty="0" smtClean="0"/>
            </a:br>
            <a:r>
              <a:rPr lang="en-US" sz="2400" dirty="0" smtClean="0"/>
              <a:t>Jessica Kane</a:t>
            </a:r>
            <a:br>
              <a:rPr lang="en-US" sz="2400" dirty="0" smtClean="0"/>
            </a:br>
            <a:r>
              <a:rPr lang="en-US" sz="2400" dirty="0" smtClean="0"/>
              <a:t/>
            </a:r>
            <a:br>
              <a:rPr lang="en-US" sz="2400" dirty="0" smtClean="0"/>
            </a:br>
            <a:r>
              <a:rPr lang="en-US" sz="1200" dirty="0" smtClean="0"/>
              <a:t>*CISER and NCRN staff member, EDDI co-author, and coordinator of the CS5150 team</a:t>
            </a:r>
            <a:br>
              <a:rPr lang="en-US" sz="1200" dirty="0" smtClean="0"/>
            </a:br>
            <a:r>
              <a:rPr lang="en-US" sz="2400" dirty="0"/>
              <a:t/>
            </a:r>
            <a:br>
              <a:rPr lang="en-US" sz="2400" dirty="0"/>
            </a:br>
            <a:endParaRPr lang="en-US" sz="2400" dirty="0"/>
          </a:p>
        </p:txBody>
      </p:sp>
      <p:sp>
        <p:nvSpPr>
          <p:cNvPr id="3" name="TextBox 2"/>
          <p:cNvSpPr txBox="1"/>
          <p:nvPr/>
        </p:nvSpPr>
        <p:spPr>
          <a:xfrm flipH="1">
            <a:off x="8645407" y="6096000"/>
            <a:ext cx="533400" cy="369332"/>
          </a:xfrm>
          <a:prstGeom prst="rect">
            <a:avLst/>
          </a:prstGeom>
          <a:noFill/>
        </p:spPr>
        <p:txBody>
          <a:bodyPr wrap="square" rtlCol="0">
            <a:spAutoFit/>
          </a:bodyPr>
          <a:lstStyle/>
          <a:p>
            <a:r>
              <a:rPr lang="en-US" dirty="0" smtClean="0"/>
              <a:t>11</a:t>
            </a:r>
            <a:endParaRPr lang="en-US" dirty="0"/>
          </a:p>
        </p:txBody>
      </p:sp>
      <p:sp>
        <p:nvSpPr>
          <p:cNvPr id="4" name="TextBox 3"/>
          <p:cNvSpPr txBox="1"/>
          <p:nvPr/>
        </p:nvSpPr>
        <p:spPr>
          <a:xfrm>
            <a:off x="2133600" y="5562600"/>
            <a:ext cx="5622641" cy="369332"/>
          </a:xfrm>
          <a:prstGeom prst="rect">
            <a:avLst/>
          </a:prstGeom>
          <a:noFill/>
        </p:spPr>
        <p:txBody>
          <a:bodyPr wrap="none" rtlCol="0">
            <a:spAutoFit/>
          </a:bodyPr>
          <a:lstStyle/>
          <a:p>
            <a:r>
              <a:rPr lang="en-US" u="sng" dirty="0">
                <a:hlinkClick r:id="rId3"/>
              </a:rPr>
              <a:t>http://rschweb.ciserrsch.cornell.edu:8080/CED2AR_Web/</a:t>
            </a:r>
            <a:endParaRPr lang="en-US" dirty="0"/>
          </a:p>
        </p:txBody>
      </p:sp>
    </p:spTree>
    <p:extLst>
      <p:ext uri="{BB962C8B-B14F-4D97-AF65-F5344CB8AC3E}">
        <p14:creationId xmlns:p14="http://schemas.microsoft.com/office/powerpoint/2010/main" val="1560239651"/>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Shape 191"/>
          <p:cNvSpPr txBox="1">
            <a:spLocks noGrp="1"/>
          </p:cNvSpPr>
          <p:nvPr>
            <p:ph type="title"/>
          </p:nvPr>
        </p:nvSpPr>
        <p:spPr>
          <a:xfrm>
            <a:off x="457200" y="863669"/>
            <a:ext cx="8229600" cy="553968"/>
          </a:xfrm>
          <a:prstGeom prst="rect">
            <a:avLst/>
          </a:prstGeom>
          <a:noFill/>
          <a:ln>
            <a:noFill/>
          </a:ln>
        </p:spPr>
        <p:txBody>
          <a:bodyPr lIns="91425" tIns="91425" rIns="91425" bIns="91425" anchor="b" anchorCtr="0">
            <a:spAutoFit/>
          </a:bodyPr>
          <a:lstStyle/>
          <a:p>
            <a:pPr marL="0" marR="0" lvl="0" indent="0" algn="l" rtl="0">
              <a:spcBef>
                <a:spcPts val="0"/>
              </a:spcBef>
              <a:buClr>
                <a:schemeClr val="dk1"/>
              </a:buClr>
              <a:buSzPct val="25000"/>
              <a:buFont typeface="Arial"/>
              <a:buNone/>
            </a:pPr>
            <a:r>
              <a:rPr lang="en" sz="2400" dirty="0">
                <a:solidFill>
                  <a:schemeClr val="tx2"/>
                </a:solidFill>
              </a:rPr>
              <a:t>CED</a:t>
            </a:r>
            <a:r>
              <a:rPr lang="en" sz="2400" baseline="30000" dirty="0">
                <a:solidFill>
                  <a:schemeClr val="tx2"/>
                </a:solidFill>
              </a:rPr>
              <a:t>2</a:t>
            </a:r>
            <a:r>
              <a:rPr lang="en" sz="2400" dirty="0">
                <a:solidFill>
                  <a:schemeClr val="tx2"/>
                </a:solidFill>
              </a:rPr>
              <a:t>AR Search API </a:t>
            </a:r>
          </a:p>
        </p:txBody>
      </p:sp>
      <p:sp>
        <p:nvSpPr>
          <p:cNvPr id="192" name="Shape 192"/>
          <p:cNvSpPr txBox="1"/>
          <p:nvPr/>
        </p:nvSpPr>
        <p:spPr>
          <a:xfrm>
            <a:off x="198775" y="1603525"/>
            <a:ext cx="8653799" cy="4124176"/>
          </a:xfrm>
          <a:prstGeom prst="rect">
            <a:avLst/>
          </a:prstGeom>
          <a:noFill/>
        </p:spPr>
        <p:txBody>
          <a:bodyPr lIns="91425" tIns="91425" rIns="91425" bIns="91425" anchor="t" anchorCtr="0">
            <a:spAutoFit/>
          </a:bodyPr>
          <a:lstStyle/>
          <a:p>
            <a:pPr marL="0" lvl="0" indent="0" rtl="0">
              <a:buNone/>
            </a:pPr>
            <a:r>
              <a:rPr lang="en" sz="1600" u="sng" dirty="0">
                <a:solidFill>
                  <a:schemeClr val="tx2"/>
                </a:solidFill>
              </a:rPr>
              <a:t>The API Supports all of these query functions:</a:t>
            </a:r>
          </a:p>
          <a:p>
            <a:endParaRPr lang="en" sz="1600" u="sng" dirty="0">
              <a:solidFill>
                <a:schemeClr val="tx2"/>
              </a:solidFill>
            </a:endParaRPr>
          </a:p>
          <a:p>
            <a:pPr marL="457200" lvl="0" indent="-317500" rtl="0">
              <a:buClr>
                <a:srgbClr val="FFFFFF"/>
              </a:buClr>
              <a:buSzPct val="97222"/>
              <a:buFont typeface="Arial"/>
              <a:buChar char="•"/>
            </a:pPr>
            <a:r>
              <a:rPr lang="en" sz="1600" dirty="0">
                <a:solidFill>
                  <a:schemeClr val="tx2"/>
                </a:solidFill>
              </a:rPr>
              <a:t>Return</a:t>
            </a:r>
          </a:p>
          <a:p>
            <a:pPr marL="914400" lvl="1" indent="-317500" rtl="0">
              <a:buClr>
                <a:srgbClr val="FFFFFF"/>
              </a:buClr>
              <a:buSzPct val="100000"/>
              <a:buFont typeface="Courier New"/>
              <a:buChar char="o"/>
            </a:pPr>
            <a:r>
              <a:rPr lang="en" sz="1600" dirty="0">
                <a:solidFill>
                  <a:schemeClr val="tx2"/>
                </a:solidFill>
              </a:rPr>
              <a:t>a chosen set of fields within the DDI schema</a:t>
            </a:r>
          </a:p>
          <a:p>
            <a:pPr marL="457200" lvl="0" indent="-317500" rtl="0">
              <a:buClr>
                <a:srgbClr val="FFFFFF"/>
              </a:buClr>
              <a:buSzPct val="97222"/>
              <a:buFont typeface="Arial"/>
              <a:buChar char="•"/>
            </a:pPr>
            <a:r>
              <a:rPr lang="en" sz="1600" dirty="0">
                <a:solidFill>
                  <a:schemeClr val="tx2"/>
                </a:solidFill>
              </a:rPr>
              <a:t>Where</a:t>
            </a:r>
          </a:p>
          <a:p>
            <a:pPr marL="914400" lvl="1" indent="-317500" rtl="0">
              <a:buClr>
                <a:srgbClr val="FFFFFF"/>
              </a:buClr>
              <a:buSzPct val="100000"/>
              <a:buFont typeface="Courier New"/>
              <a:buChar char="o"/>
            </a:pPr>
            <a:r>
              <a:rPr lang="en" sz="1600" dirty="0">
                <a:solidFill>
                  <a:schemeClr val="tx2"/>
                </a:solidFill>
              </a:rPr>
              <a:t>a chosen set of supported DDI search fields</a:t>
            </a:r>
          </a:p>
          <a:p>
            <a:pPr marL="914400" lvl="1" indent="-317500" rtl="0">
              <a:buClr>
                <a:srgbClr val="FFFFFF"/>
              </a:buClr>
              <a:buSzPct val="100000"/>
              <a:buFont typeface="Courier New"/>
              <a:buChar char="o"/>
            </a:pPr>
            <a:r>
              <a:rPr lang="en" sz="1600" dirty="0">
                <a:solidFill>
                  <a:schemeClr val="tx2"/>
                </a:solidFill>
              </a:rPr>
              <a:t>and, or, and not</a:t>
            </a:r>
          </a:p>
          <a:p>
            <a:pPr marL="914400" lvl="1" indent="-317500" rtl="0">
              <a:buClr>
                <a:srgbClr val="FFFFFF"/>
              </a:buClr>
              <a:buSzPct val="100000"/>
              <a:buFont typeface="Courier New"/>
              <a:buChar char="o"/>
            </a:pPr>
            <a:r>
              <a:rPr lang="en" sz="1600" dirty="0">
                <a:solidFill>
                  <a:schemeClr val="tx2"/>
                </a:solidFill>
              </a:rPr>
              <a:t>contains, starts-with, ends-with</a:t>
            </a:r>
          </a:p>
          <a:p>
            <a:pPr marL="457200" lvl="0" indent="-317500" rtl="0">
              <a:buClr>
                <a:srgbClr val="FFFFFF"/>
              </a:buClr>
              <a:buSzPct val="97222"/>
              <a:buFont typeface="Arial"/>
              <a:buChar char="•"/>
            </a:pPr>
            <a:r>
              <a:rPr lang="en" sz="1600" dirty="0">
                <a:solidFill>
                  <a:schemeClr val="tx2"/>
                </a:solidFill>
              </a:rPr>
              <a:t>Sort</a:t>
            </a:r>
          </a:p>
          <a:p>
            <a:pPr marL="914400" lvl="1" indent="-317500" rtl="0">
              <a:buClr>
                <a:srgbClr val="FFFFFF"/>
              </a:buClr>
              <a:buSzPct val="100000"/>
              <a:buFont typeface="Courier New"/>
              <a:buChar char="o"/>
            </a:pPr>
            <a:r>
              <a:rPr lang="en" sz="1600" dirty="0">
                <a:solidFill>
                  <a:schemeClr val="tx2"/>
                </a:solidFill>
              </a:rPr>
              <a:t>descending, ascending</a:t>
            </a:r>
          </a:p>
          <a:p>
            <a:pPr marL="457200" lvl="0" indent="-317500" rtl="0">
              <a:buClr>
                <a:srgbClr val="FFFFFF"/>
              </a:buClr>
              <a:buSzPct val="97222"/>
              <a:buFont typeface="Arial"/>
              <a:buChar char="•"/>
            </a:pPr>
            <a:r>
              <a:rPr lang="en" sz="1600" dirty="0">
                <a:solidFill>
                  <a:schemeClr val="tx2"/>
                </a:solidFill>
              </a:rPr>
              <a:t>Limit</a:t>
            </a:r>
          </a:p>
          <a:p>
            <a:pPr marL="914400" lvl="1" indent="-317500" rtl="0">
              <a:buClr>
                <a:srgbClr val="FFFFFF"/>
              </a:buClr>
              <a:buSzPct val="100000"/>
              <a:buFont typeface="Courier New"/>
              <a:buChar char="o"/>
            </a:pPr>
            <a:r>
              <a:rPr lang="en" sz="1600" dirty="0">
                <a:solidFill>
                  <a:schemeClr val="tx2"/>
                </a:solidFill>
              </a:rPr>
              <a:t>give me results 10-50 from each codebook</a:t>
            </a:r>
          </a:p>
          <a:p>
            <a:endParaRPr lang="en" sz="1600" dirty="0">
              <a:solidFill>
                <a:schemeClr val="tx2"/>
              </a:solidFill>
            </a:endParaRPr>
          </a:p>
          <a:p>
            <a:endParaRPr lang="en" sz="1600" dirty="0">
              <a:solidFill>
                <a:schemeClr val="tx2"/>
              </a:solidFill>
            </a:endParaRPr>
          </a:p>
          <a:p>
            <a:pPr lvl="0" rtl="0">
              <a:buNone/>
            </a:pPr>
            <a:r>
              <a:rPr lang="en" sz="1600" dirty="0">
                <a:solidFill>
                  <a:schemeClr val="tx2"/>
                </a:solidFill>
              </a:rPr>
              <a:t>The API makes interacting with the repository easier because it abstracts away the underlying XQUERY necessary to perform the query.</a:t>
            </a:r>
          </a:p>
        </p:txBody>
      </p:sp>
      <p:sp>
        <p:nvSpPr>
          <p:cNvPr id="2" name="TextBox 1"/>
          <p:cNvSpPr txBox="1"/>
          <p:nvPr/>
        </p:nvSpPr>
        <p:spPr>
          <a:xfrm>
            <a:off x="8725346" y="6172200"/>
            <a:ext cx="418654" cy="646331"/>
          </a:xfrm>
          <a:prstGeom prst="rect">
            <a:avLst/>
          </a:prstGeom>
          <a:noFill/>
        </p:spPr>
        <p:txBody>
          <a:bodyPr wrap="none" rtlCol="0">
            <a:spAutoFit/>
          </a:bodyPr>
          <a:lstStyle/>
          <a:p>
            <a:r>
              <a:rPr lang="en-US" dirty="0" smtClean="0"/>
              <a:t>12</a:t>
            </a:r>
          </a:p>
          <a:p>
            <a:endParaRPr lang="en-US" dirty="0"/>
          </a:p>
        </p:txBody>
      </p:sp>
    </p:spTree>
    <p:extLst>
      <p:ext uri="{BB962C8B-B14F-4D97-AF65-F5344CB8AC3E}">
        <p14:creationId xmlns:p14="http://schemas.microsoft.com/office/powerpoint/2010/main" val="4157613640"/>
      </p:ext>
    </p:extLst>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457200" y="863669"/>
            <a:ext cx="8229600" cy="553968"/>
          </a:xfrm>
          <a:prstGeom prst="rect">
            <a:avLst/>
          </a:prstGeom>
          <a:noFill/>
          <a:ln>
            <a:noFill/>
          </a:ln>
        </p:spPr>
        <p:txBody>
          <a:bodyPr lIns="91425" tIns="91425" rIns="91425" bIns="91425" anchor="b" anchorCtr="0">
            <a:spAutoFit/>
          </a:bodyPr>
          <a:lstStyle/>
          <a:p>
            <a:pPr marL="0" marR="0" lvl="0" indent="0" algn="l" rtl="0">
              <a:spcBef>
                <a:spcPts val="0"/>
              </a:spcBef>
              <a:buClr>
                <a:schemeClr val="dk1"/>
              </a:buClr>
              <a:buSzPct val="25000"/>
              <a:buFont typeface="Arial"/>
              <a:buNone/>
            </a:pPr>
            <a:r>
              <a:rPr lang="en" sz="2400" dirty="0">
                <a:solidFill>
                  <a:schemeClr val="tx2"/>
                </a:solidFill>
              </a:rPr>
              <a:t>CED</a:t>
            </a:r>
            <a:r>
              <a:rPr lang="en" sz="2400" baseline="30000" dirty="0">
                <a:solidFill>
                  <a:schemeClr val="tx2"/>
                </a:solidFill>
              </a:rPr>
              <a:t>2</a:t>
            </a:r>
            <a:r>
              <a:rPr lang="en" sz="2400" dirty="0">
                <a:solidFill>
                  <a:schemeClr val="tx2"/>
                </a:solidFill>
              </a:rPr>
              <a:t>AR Search API </a:t>
            </a:r>
          </a:p>
        </p:txBody>
      </p:sp>
      <p:sp>
        <p:nvSpPr>
          <p:cNvPr id="180" name="Shape 180"/>
          <p:cNvSpPr txBox="1"/>
          <p:nvPr/>
        </p:nvSpPr>
        <p:spPr>
          <a:xfrm>
            <a:off x="533400" y="1447800"/>
            <a:ext cx="6414174" cy="4862840"/>
          </a:xfrm>
          <a:prstGeom prst="rect">
            <a:avLst/>
          </a:prstGeom>
          <a:noFill/>
        </p:spPr>
        <p:txBody>
          <a:bodyPr wrap="square" lIns="91425" tIns="91425" rIns="91425" bIns="91425" anchor="t" anchorCtr="0">
            <a:spAutoFit/>
          </a:bodyPr>
          <a:lstStyle/>
          <a:p>
            <a:pPr lvl="0" rtl="0">
              <a:buNone/>
            </a:pPr>
            <a:r>
              <a:rPr lang="en" sz="1600" u="sng" dirty="0">
                <a:solidFill>
                  <a:schemeClr val="tx2"/>
                </a:solidFill>
              </a:rPr>
              <a:t>Some Example DDI things (resources):</a:t>
            </a:r>
          </a:p>
          <a:p>
            <a:pPr marL="457200" lvl="0" indent="-317500" rtl="0">
              <a:buClr>
                <a:srgbClr val="FFFFFF"/>
              </a:buClr>
              <a:buSzPct val="97222"/>
              <a:buFont typeface="Arial"/>
              <a:buChar char="•"/>
            </a:pPr>
            <a:r>
              <a:rPr lang="en" sz="1600" dirty="0">
                <a:solidFill>
                  <a:schemeClr val="tx2"/>
                </a:solidFill>
              </a:rPr>
              <a:t>Codebooks:</a:t>
            </a:r>
          </a:p>
          <a:p>
            <a:pPr marL="914400" lvl="1" indent="-317500" rtl="0">
              <a:buClr>
                <a:srgbClr val="FFFFFF"/>
              </a:buClr>
              <a:buSzPct val="100000"/>
              <a:buFont typeface="Courier New"/>
              <a:buChar char="o"/>
            </a:pPr>
            <a:r>
              <a:rPr lang="en" sz="1600" u="sng" dirty="0">
                <a:solidFill>
                  <a:schemeClr val="tx2"/>
                </a:solidFill>
                <a:hlinkClick r:id="rId3"/>
              </a:rPr>
              <a:t>http://rschweb.ciserrsch.cornell.edu:8080/CED2AR_Query/codebooks</a:t>
            </a:r>
          </a:p>
          <a:p>
            <a:endParaRPr lang="en" sz="1600" u="sng" dirty="0">
              <a:solidFill>
                <a:schemeClr val="tx2"/>
              </a:solidFill>
              <a:hlinkClick r:id="rId3"/>
            </a:endParaRPr>
          </a:p>
          <a:p>
            <a:endParaRPr lang="en" sz="1600" u="sng" dirty="0">
              <a:solidFill>
                <a:schemeClr val="tx2"/>
              </a:solidFill>
              <a:hlinkClick r:id="rId3"/>
            </a:endParaRPr>
          </a:p>
          <a:p>
            <a:pPr marL="457200" lvl="0" indent="-317500" rtl="0">
              <a:buClr>
                <a:srgbClr val="FFFFFF"/>
              </a:buClr>
              <a:buSzPct val="97222"/>
              <a:buFont typeface="Arial"/>
              <a:buChar char="•"/>
            </a:pPr>
            <a:r>
              <a:rPr lang="en" sz="1600" dirty="0">
                <a:solidFill>
                  <a:schemeClr val="tx2"/>
                </a:solidFill>
              </a:rPr>
              <a:t>Codebook Named SSB</a:t>
            </a:r>
          </a:p>
          <a:p>
            <a:pPr marL="914400" lvl="1" indent="-317500" rtl="0">
              <a:buClr>
                <a:srgbClr val="FFFFFF"/>
              </a:buClr>
              <a:buSzPct val="100000"/>
              <a:buFont typeface="Courier New"/>
              <a:buChar char="o"/>
            </a:pPr>
            <a:r>
              <a:rPr lang="en" sz="1600" u="sng" dirty="0">
                <a:solidFill>
                  <a:schemeClr val="tx2"/>
                </a:solidFill>
                <a:hlinkClick r:id="rId4"/>
              </a:rPr>
              <a:t>http://rschweb.ciserrsch.cornell.edu:8080/CED2AR_Query/codebooks/SSB</a:t>
            </a:r>
          </a:p>
          <a:p>
            <a:endParaRPr lang="en" sz="1600" u="sng" dirty="0">
              <a:solidFill>
                <a:schemeClr val="tx2"/>
              </a:solidFill>
              <a:hlinkClick r:id="rId4"/>
            </a:endParaRPr>
          </a:p>
          <a:p>
            <a:endParaRPr lang="en" sz="1600" u="sng" dirty="0">
              <a:solidFill>
                <a:schemeClr val="tx2"/>
              </a:solidFill>
              <a:hlinkClick r:id="rId4"/>
            </a:endParaRPr>
          </a:p>
          <a:p>
            <a:pPr marL="457200" lvl="0" indent="-317500" rtl="0">
              <a:buClr>
                <a:srgbClr val="FFFFFF"/>
              </a:buClr>
              <a:buSzPct val="97222"/>
              <a:buFont typeface="Arial"/>
              <a:buChar char="•"/>
            </a:pPr>
            <a:r>
              <a:rPr lang="en" sz="1600" dirty="0">
                <a:solidFill>
                  <a:schemeClr val="tx2"/>
                </a:solidFill>
              </a:rPr>
              <a:t>Variables of Codebook Named SSB</a:t>
            </a:r>
          </a:p>
          <a:p>
            <a:pPr marL="914400" lvl="1" indent="-317500" rtl="0">
              <a:buClr>
                <a:srgbClr val="FFFFFF"/>
              </a:buClr>
              <a:buSzPct val="100000"/>
              <a:buFont typeface="Courier New"/>
              <a:buChar char="o"/>
            </a:pPr>
            <a:r>
              <a:rPr lang="en" sz="1600" u="sng" dirty="0">
                <a:solidFill>
                  <a:schemeClr val="tx2"/>
                </a:solidFill>
                <a:hlinkClick r:id="rId5"/>
              </a:rPr>
              <a:t>http://rschweb.ciserrsch.cornell.edu:8080/CED2AR_Query/codebooks/SSB/variables</a:t>
            </a:r>
          </a:p>
          <a:p>
            <a:endParaRPr lang="en" sz="1600" u="sng" dirty="0">
              <a:solidFill>
                <a:schemeClr val="tx2"/>
              </a:solidFill>
              <a:hlinkClick r:id="rId5"/>
            </a:endParaRPr>
          </a:p>
          <a:p>
            <a:endParaRPr lang="en" sz="1600" u="sng" dirty="0">
              <a:solidFill>
                <a:schemeClr val="tx2"/>
              </a:solidFill>
              <a:hlinkClick r:id="rId5"/>
            </a:endParaRPr>
          </a:p>
          <a:p>
            <a:pPr marL="457200" lvl="0" indent="-317500" rtl="0">
              <a:buClr>
                <a:srgbClr val="FFFFFF"/>
              </a:buClr>
              <a:buSzPct val="97222"/>
              <a:buFont typeface="Arial"/>
              <a:buChar char="•"/>
            </a:pPr>
            <a:r>
              <a:rPr lang="en" sz="1600" dirty="0">
                <a:solidFill>
                  <a:schemeClr val="tx2"/>
                </a:solidFill>
              </a:rPr>
              <a:t>A particular variable in the SSB Codebook named totfam_kids</a:t>
            </a:r>
          </a:p>
          <a:p>
            <a:pPr marL="914400" lvl="1" indent="-317500">
              <a:buClr>
                <a:srgbClr val="FFFFFF"/>
              </a:buClr>
              <a:buSzPct val="100000"/>
              <a:buFont typeface="Courier New"/>
              <a:buChar char="o"/>
            </a:pPr>
            <a:r>
              <a:rPr lang="en" sz="1600" u="sng" dirty="0">
                <a:solidFill>
                  <a:schemeClr val="tx2"/>
                </a:solidFill>
                <a:hlinkClick r:id="rId6"/>
              </a:rPr>
              <a:t>http://rschweb.ciserrsch.cornell.edu:8080/CED2AR_Query/codebooks/SSB/variables/totfam_kids</a:t>
            </a:r>
          </a:p>
        </p:txBody>
      </p:sp>
      <p:sp>
        <p:nvSpPr>
          <p:cNvPr id="2" name="TextBox 1"/>
          <p:cNvSpPr txBox="1"/>
          <p:nvPr/>
        </p:nvSpPr>
        <p:spPr>
          <a:xfrm>
            <a:off x="8761094" y="6172200"/>
            <a:ext cx="418654" cy="369332"/>
          </a:xfrm>
          <a:prstGeom prst="rect">
            <a:avLst/>
          </a:prstGeom>
          <a:noFill/>
        </p:spPr>
        <p:txBody>
          <a:bodyPr wrap="none" rtlCol="0">
            <a:spAutoFit/>
          </a:bodyPr>
          <a:lstStyle/>
          <a:p>
            <a:r>
              <a:rPr lang="en-US" dirty="0" smtClean="0"/>
              <a:t>13</a:t>
            </a:r>
            <a:endParaRPr lang="en-US" dirty="0"/>
          </a:p>
        </p:txBody>
      </p:sp>
    </p:spTree>
    <p:extLst>
      <p:ext uri="{BB962C8B-B14F-4D97-AF65-F5344CB8AC3E}">
        <p14:creationId xmlns:p14="http://schemas.microsoft.com/office/powerpoint/2010/main" val="2924902579"/>
      </p:ext>
    </p:extLst>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Shape 185"/>
          <p:cNvSpPr txBox="1">
            <a:spLocks noGrp="1"/>
          </p:cNvSpPr>
          <p:nvPr>
            <p:ph type="title"/>
          </p:nvPr>
        </p:nvSpPr>
        <p:spPr>
          <a:xfrm>
            <a:off x="457200" y="863669"/>
            <a:ext cx="8229600" cy="553968"/>
          </a:xfrm>
          <a:prstGeom prst="rect">
            <a:avLst/>
          </a:prstGeom>
          <a:noFill/>
          <a:ln>
            <a:noFill/>
          </a:ln>
        </p:spPr>
        <p:txBody>
          <a:bodyPr lIns="91425" tIns="91425" rIns="91425" bIns="91425" anchor="b" anchorCtr="0">
            <a:spAutoFit/>
          </a:bodyPr>
          <a:lstStyle/>
          <a:p>
            <a:pPr marL="0" marR="0" lvl="0" indent="0" algn="l" rtl="0">
              <a:spcBef>
                <a:spcPts val="0"/>
              </a:spcBef>
              <a:buClr>
                <a:schemeClr val="dk1"/>
              </a:buClr>
              <a:buSzPct val="25000"/>
              <a:buFont typeface="Arial"/>
              <a:buNone/>
            </a:pPr>
            <a:r>
              <a:rPr lang="en" sz="2400" dirty="0">
                <a:solidFill>
                  <a:schemeClr val="tx2"/>
                </a:solidFill>
              </a:rPr>
              <a:t>CED</a:t>
            </a:r>
            <a:r>
              <a:rPr lang="en" sz="2400" baseline="30000" dirty="0">
                <a:solidFill>
                  <a:schemeClr val="tx2"/>
                </a:solidFill>
              </a:rPr>
              <a:t>2</a:t>
            </a:r>
            <a:r>
              <a:rPr lang="en" sz="2400" dirty="0">
                <a:solidFill>
                  <a:schemeClr val="tx2"/>
                </a:solidFill>
              </a:rPr>
              <a:t>AR Search API </a:t>
            </a:r>
          </a:p>
        </p:txBody>
      </p:sp>
      <p:sp>
        <p:nvSpPr>
          <p:cNvPr id="186" name="Shape 186"/>
          <p:cNvSpPr txBox="1"/>
          <p:nvPr/>
        </p:nvSpPr>
        <p:spPr>
          <a:xfrm>
            <a:off x="198775" y="1603525"/>
            <a:ext cx="8653799" cy="2400627"/>
          </a:xfrm>
          <a:prstGeom prst="rect">
            <a:avLst/>
          </a:prstGeom>
          <a:noFill/>
        </p:spPr>
        <p:txBody>
          <a:bodyPr lIns="91425" tIns="91425" rIns="91425" bIns="91425" anchor="t" anchorCtr="0">
            <a:spAutoFit/>
          </a:bodyPr>
          <a:lstStyle/>
          <a:p>
            <a:pPr lvl="0" rtl="0">
              <a:buNone/>
            </a:pPr>
            <a:r>
              <a:rPr lang="en" sz="1600" u="sng" dirty="0">
                <a:solidFill>
                  <a:schemeClr val="tx2"/>
                </a:solidFill>
              </a:rPr>
              <a:t>Ability to create complex queries across codebooks</a:t>
            </a:r>
          </a:p>
          <a:p>
            <a:endParaRPr lang="en" sz="1600" u="sng" dirty="0">
              <a:solidFill>
                <a:schemeClr val="tx2"/>
              </a:solidFill>
            </a:endParaRPr>
          </a:p>
          <a:p>
            <a:pPr marL="457200" lvl="0" indent="-317500" rtl="0">
              <a:buClr>
                <a:srgbClr val="FFFFFF"/>
              </a:buClr>
              <a:buSzPct val="97222"/>
              <a:buFont typeface="Arial"/>
              <a:buChar char="•"/>
            </a:pPr>
            <a:r>
              <a:rPr lang="en" sz="1600" dirty="0">
                <a:solidFill>
                  <a:schemeClr val="tx2"/>
                </a:solidFill>
              </a:rPr>
              <a:t>Give me all variables across all codebooks where the variable text contains the word 'house' and the variable label contains the word 'dwelling' but does not start with the word 'number' (and sort it backwards by variable name)</a:t>
            </a:r>
          </a:p>
          <a:p>
            <a:endParaRPr lang="en" sz="1600" dirty="0">
              <a:solidFill>
                <a:schemeClr val="tx2"/>
              </a:solidFill>
            </a:endParaRPr>
          </a:p>
          <a:p>
            <a:pPr marL="914400" lvl="1" indent="-317500" rtl="0">
              <a:buClr>
                <a:srgbClr val="FFFFFF"/>
              </a:buClr>
              <a:buSzPct val="100000"/>
              <a:buFont typeface="Courier New"/>
              <a:buChar char="o"/>
            </a:pPr>
            <a:r>
              <a:rPr lang="en" sz="1600" u="sng" dirty="0">
                <a:solidFill>
                  <a:schemeClr val="tx2"/>
                </a:solidFill>
                <a:hlinkClick r:id="rId3"/>
              </a:rPr>
              <a:t>http://rschweb.ciserrsch.cornell.edu:8080/CED2AR_Query/search?return=variables&amp;where=variabletext=*house*,variablelabel=*dwelling*,variablelabel!=number*&amp;sort=-variablename</a:t>
            </a:r>
          </a:p>
        </p:txBody>
      </p:sp>
      <p:sp>
        <p:nvSpPr>
          <p:cNvPr id="2" name="TextBox 1"/>
          <p:cNvSpPr txBox="1"/>
          <p:nvPr/>
        </p:nvSpPr>
        <p:spPr>
          <a:xfrm>
            <a:off x="8761094" y="6096000"/>
            <a:ext cx="418654" cy="369332"/>
          </a:xfrm>
          <a:prstGeom prst="rect">
            <a:avLst/>
          </a:prstGeom>
          <a:noFill/>
        </p:spPr>
        <p:txBody>
          <a:bodyPr wrap="none" rtlCol="0">
            <a:spAutoFit/>
          </a:bodyPr>
          <a:lstStyle/>
          <a:p>
            <a:r>
              <a:rPr lang="en-US" dirty="0" smtClean="0"/>
              <a:t>14</a:t>
            </a:r>
          </a:p>
        </p:txBody>
      </p:sp>
    </p:spTree>
    <p:extLst>
      <p:ext uri="{BB962C8B-B14F-4D97-AF65-F5344CB8AC3E}">
        <p14:creationId xmlns:p14="http://schemas.microsoft.com/office/powerpoint/2010/main" val="1875951296"/>
      </p:ext>
    </p:extLst>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14600"/>
            <a:ext cx="8591606"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066800" y="1295400"/>
            <a:ext cx="6814686" cy="461665"/>
          </a:xfrm>
          <a:prstGeom prst="rect">
            <a:avLst/>
          </a:prstGeom>
          <a:noFill/>
        </p:spPr>
        <p:txBody>
          <a:bodyPr wrap="none" rtlCol="0">
            <a:spAutoFit/>
          </a:bodyPr>
          <a:lstStyle/>
          <a:p>
            <a:r>
              <a:rPr lang="en-US" sz="2400" dirty="0" smtClean="0"/>
              <a:t>NCRN DDI Solution at the Variable Level:  &lt;</a:t>
            </a:r>
            <a:r>
              <a:rPr lang="en-US" sz="2400" dirty="0" err="1" smtClean="0"/>
              <a:t>dataAccs</a:t>
            </a:r>
            <a:r>
              <a:rPr lang="en-US" sz="2400" dirty="0" smtClean="0"/>
              <a:t>&gt;</a:t>
            </a:r>
            <a:endParaRPr lang="en-US" sz="2400" dirty="0"/>
          </a:p>
        </p:txBody>
      </p:sp>
      <p:sp>
        <p:nvSpPr>
          <p:cNvPr id="2" name="TextBox 1"/>
          <p:cNvSpPr txBox="1"/>
          <p:nvPr/>
        </p:nvSpPr>
        <p:spPr>
          <a:xfrm>
            <a:off x="8716879" y="6096000"/>
            <a:ext cx="427121" cy="369332"/>
          </a:xfrm>
          <a:prstGeom prst="rect">
            <a:avLst/>
          </a:prstGeom>
          <a:noFill/>
        </p:spPr>
        <p:txBody>
          <a:bodyPr wrap="square" rtlCol="0">
            <a:spAutoFit/>
          </a:bodyPr>
          <a:lstStyle/>
          <a:p>
            <a:r>
              <a:rPr lang="en-US" dirty="0" smtClean="0"/>
              <a:t>15</a:t>
            </a:r>
          </a:p>
        </p:txBody>
      </p:sp>
    </p:spTree>
    <p:extLst>
      <p:ext uri="{BB962C8B-B14F-4D97-AF65-F5344CB8AC3E}">
        <p14:creationId xmlns:p14="http://schemas.microsoft.com/office/powerpoint/2010/main" val="269673101"/>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1" y="1752600"/>
            <a:ext cx="5943599" cy="4329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val 7"/>
          <p:cNvSpPr/>
          <p:nvPr/>
        </p:nvSpPr>
        <p:spPr>
          <a:xfrm>
            <a:off x="6477000" y="1676400"/>
            <a:ext cx="914400" cy="3810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Oval 10"/>
          <p:cNvSpPr/>
          <p:nvPr/>
        </p:nvSpPr>
        <p:spPr>
          <a:xfrm>
            <a:off x="6096000" y="4114800"/>
            <a:ext cx="914400" cy="3810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extBox 1"/>
          <p:cNvSpPr txBox="1"/>
          <p:nvPr/>
        </p:nvSpPr>
        <p:spPr>
          <a:xfrm>
            <a:off x="2362200" y="1295400"/>
            <a:ext cx="4553650" cy="461665"/>
          </a:xfrm>
          <a:prstGeom prst="rect">
            <a:avLst/>
          </a:prstGeom>
          <a:noFill/>
        </p:spPr>
        <p:txBody>
          <a:bodyPr wrap="none" rtlCol="0">
            <a:spAutoFit/>
          </a:bodyPr>
          <a:lstStyle/>
          <a:p>
            <a:r>
              <a:rPr lang="en-US" sz="2400" dirty="0" smtClean="0"/>
              <a:t>Variable Level Solution (continued)</a:t>
            </a:r>
            <a:endParaRPr lang="en-US" sz="2400" dirty="0"/>
          </a:p>
        </p:txBody>
      </p:sp>
      <p:sp>
        <p:nvSpPr>
          <p:cNvPr id="3" name="TextBox 2"/>
          <p:cNvSpPr txBox="1"/>
          <p:nvPr/>
        </p:nvSpPr>
        <p:spPr>
          <a:xfrm>
            <a:off x="8691479" y="6172200"/>
            <a:ext cx="418654" cy="369332"/>
          </a:xfrm>
          <a:prstGeom prst="rect">
            <a:avLst/>
          </a:prstGeom>
          <a:noFill/>
        </p:spPr>
        <p:txBody>
          <a:bodyPr wrap="none" rtlCol="0">
            <a:spAutoFit/>
          </a:bodyPr>
          <a:lstStyle/>
          <a:p>
            <a:r>
              <a:rPr lang="en-US" dirty="0" smtClean="0"/>
              <a:t>16</a:t>
            </a:r>
            <a:endParaRPr lang="en-US" dirty="0"/>
          </a:p>
        </p:txBody>
      </p:sp>
    </p:spTree>
    <p:extLst>
      <p:ext uri="{BB962C8B-B14F-4D97-AF65-F5344CB8AC3E}">
        <p14:creationId xmlns:p14="http://schemas.microsoft.com/office/powerpoint/2010/main" val="1842085068"/>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905000"/>
            <a:ext cx="7175329" cy="391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Oval 3"/>
          <p:cNvSpPr/>
          <p:nvPr/>
        </p:nvSpPr>
        <p:spPr>
          <a:xfrm>
            <a:off x="6781800" y="1752600"/>
            <a:ext cx="990600" cy="4572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Oval 4"/>
          <p:cNvSpPr/>
          <p:nvPr/>
        </p:nvSpPr>
        <p:spPr>
          <a:xfrm>
            <a:off x="2286000" y="4800600"/>
            <a:ext cx="1066800" cy="381000"/>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extBox 1"/>
          <p:cNvSpPr txBox="1"/>
          <p:nvPr/>
        </p:nvSpPr>
        <p:spPr>
          <a:xfrm>
            <a:off x="2286000" y="1143000"/>
            <a:ext cx="4357708" cy="369332"/>
          </a:xfrm>
          <a:prstGeom prst="rect">
            <a:avLst/>
          </a:prstGeom>
          <a:noFill/>
        </p:spPr>
        <p:txBody>
          <a:bodyPr wrap="none" rtlCol="0">
            <a:spAutoFit/>
          </a:bodyPr>
          <a:lstStyle/>
          <a:p>
            <a:r>
              <a:rPr lang="en-US" dirty="0" smtClean="0"/>
              <a:t>No DDI Solution at the level of a </a:t>
            </a:r>
            <a:r>
              <a:rPr lang="en-US" i="1" dirty="0" smtClean="0"/>
              <a:t>Value Label </a:t>
            </a:r>
            <a:endParaRPr lang="en-US" i="1" dirty="0"/>
          </a:p>
        </p:txBody>
      </p:sp>
      <p:sp>
        <p:nvSpPr>
          <p:cNvPr id="3" name="TextBox 2"/>
          <p:cNvSpPr txBox="1"/>
          <p:nvPr/>
        </p:nvSpPr>
        <p:spPr>
          <a:xfrm>
            <a:off x="1828800" y="5943600"/>
            <a:ext cx="5426410" cy="369332"/>
          </a:xfrm>
          <a:prstGeom prst="rect">
            <a:avLst/>
          </a:prstGeom>
          <a:noFill/>
        </p:spPr>
        <p:txBody>
          <a:bodyPr wrap="none" rtlCol="0">
            <a:spAutoFit/>
          </a:bodyPr>
          <a:lstStyle/>
          <a:p>
            <a:r>
              <a:rPr lang="en-US" dirty="0" smtClean="0"/>
              <a:t>Small tweak to the DDI Codebook Schema would fix this.</a:t>
            </a:r>
            <a:endParaRPr lang="en-US" dirty="0"/>
          </a:p>
        </p:txBody>
      </p:sp>
      <p:sp>
        <p:nvSpPr>
          <p:cNvPr id="6" name="TextBox 5"/>
          <p:cNvSpPr txBox="1"/>
          <p:nvPr/>
        </p:nvSpPr>
        <p:spPr>
          <a:xfrm>
            <a:off x="8725346" y="6172200"/>
            <a:ext cx="418654" cy="369332"/>
          </a:xfrm>
          <a:prstGeom prst="rect">
            <a:avLst/>
          </a:prstGeom>
          <a:noFill/>
        </p:spPr>
        <p:txBody>
          <a:bodyPr wrap="none" rtlCol="0">
            <a:spAutoFit/>
          </a:bodyPr>
          <a:lstStyle/>
          <a:p>
            <a:r>
              <a:rPr lang="en-US" dirty="0" smtClean="0"/>
              <a:t>17</a:t>
            </a:r>
            <a:endParaRPr lang="en-US" dirty="0"/>
          </a:p>
        </p:txBody>
      </p:sp>
    </p:spTree>
    <p:extLst>
      <p:ext uri="{BB962C8B-B14F-4D97-AF65-F5344CB8AC3E}">
        <p14:creationId xmlns:p14="http://schemas.microsoft.com/office/powerpoint/2010/main" val="3895222356"/>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txBox="1">
            <a:spLocks noChangeArrowheads="1"/>
          </p:cNvSpPr>
          <p:nvPr/>
        </p:nvSpPr>
        <p:spPr bwMode="auto">
          <a:xfrm>
            <a:off x="533400" y="2395799"/>
            <a:ext cx="5276850" cy="241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defRPr>
                <a:solidFill>
                  <a:schemeClr val="tx1"/>
                </a:solidFill>
                <a:latin typeface="Calibri" charset="0"/>
                <a:cs typeface="Arial" charset="0"/>
              </a:defRPr>
            </a:lvl1pPr>
            <a:lvl2pPr marL="742950" indent="-285750" defTabSz="457200" eaLnBrk="0" hangingPunct="0">
              <a:defRPr>
                <a:solidFill>
                  <a:schemeClr val="tx1"/>
                </a:solidFill>
                <a:latin typeface="Calibri" charset="0"/>
                <a:cs typeface="Arial" charset="0"/>
              </a:defRPr>
            </a:lvl2pPr>
            <a:lvl3pPr marL="1143000" indent="-228600" defTabSz="457200" eaLnBrk="0" hangingPunct="0">
              <a:defRPr>
                <a:solidFill>
                  <a:schemeClr val="tx1"/>
                </a:solidFill>
                <a:latin typeface="Calibri" charset="0"/>
                <a:cs typeface="Arial" charset="0"/>
              </a:defRPr>
            </a:lvl3pPr>
            <a:lvl4pPr marL="1600200" indent="-228600" defTabSz="457200" eaLnBrk="0" hangingPunct="0">
              <a:defRPr>
                <a:solidFill>
                  <a:schemeClr val="tx1"/>
                </a:solidFill>
                <a:latin typeface="Calibri" charset="0"/>
                <a:cs typeface="Arial" charset="0"/>
              </a:defRPr>
            </a:lvl4pPr>
            <a:lvl5pPr marL="2057400" indent="-228600" defTabSz="457200" eaLnBrk="0" hangingPunct="0">
              <a:defRPr>
                <a:solidFill>
                  <a:schemeClr val="tx1"/>
                </a:solidFill>
                <a:latin typeface="Calibri" charset="0"/>
                <a:cs typeface="Arial" charset="0"/>
              </a:defRPr>
            </a:lvl5pPr>
            <a:lvl6pPr marL="2514600" indent="-228600" defTabSz="457200" eaLnBrk="0" fontAlgn="base" hangingPunct="0">
              <a:spcBef>
                <a:spcPct val="0"/>
              </a:spcBef>
              <a:spcAft>
                <a:spcPct val="0"/>
              </a:spcAft>
              <a:defRPr>
                <a:solidFill>
                  <a:schemeClr val="tx1"/>
                </a:solidFill>
                <a:latin typeface="Calibri" charset="0"/>
                <a:cs typeface="Arial" charset="0"/>
              </a:defRPr>
            </a:lvl6pPr>
            <a:lvl7pPr marL="2971800" indent="-228600" defTabSz="457200" eaLnBrk="0" fontAlgn="base" hangingPunct="0">
              <a:spcBef>
                <a:spcPct val="0"/>
              </a:spcBef>
              <a:spcAft>
                <a:spcPct val="0"/>
              </a:spcAft>
              <a:defRPr>
                <a:solidFill>
                  <a:schemeClr val="tx1"/>
                </a:solidFill>
                <a:latin typeface="Calibri" charset="0"/>
                <a:cs typeface="Arial" charset="0"/>
              </a:defRPr>
            </a:lvl7pPr>
            <a:lvl8pPr marL="3429000" indent="-228600" defTabSz="457200" eaLnBrk="0" fontAlgn="base" hangingPunct="0">
              <a:spcBef>
                <a:spcPct val="0"/>
              </a:spcBef>
              <a:spcAft>
                <a:spcPct val="0"/>
              </a:spcAft>
              <a:defRPr>
                <a:solidFill>
                  <a:schemeClr val="tx1"/>
                </a:solidFill>
                <a:latin typeface="Calibri" charset="0"/>
                <a:cs typeface="Arial" charset="0"/>
              </a:defRPr>
            </a:lvl8pPr>
            <a:lvl9pPr marL="3886200" indent="-228600" defTabSz="457200" eaLnBrk="0" fontAlgn="base" hangingPunct="0">
              <a:spcBef>
                <a:spcPct val="0"/>
              </a:spcBef>
              <a:spcAft>
                <a:spcPct val="0"/>
              </a:spcAft>
              <a:defRPr>
                <a:solidFill>
                  <a:schemeClr val="tx1"/>
                </a:solidFill>
                <a:latin typeface="Calibri" charset="0"/>
                <a:cs typeface="Arial" charset="0"/>
              </a:defRPr>
            </a:lvl9pPr>
          </a:lstStyle>
          <a:p>
            <a:r>
              <a:rPr lang="en-US" sz="4000" dirty="0" err="1" smtClean="0">
                <a:solidFill>
                  <a:prstClr val="white"/>
                </a:solidFill>
                <a:latin typeface="Helvetica" charset="0"/>
                <a:ea typeface="ＭＳ Ｐゴシック" charset="-128"/>
                <a:cs typeface="Helvetica" charset="0"/>
              </a:rPr>
              <a:t>Takk</a:t>
            </a:r>
            <a:r>
              <a:rPr lang="en-US" sz="4000" dirty="0" smtClean="0">
                <a:solidFill>
                  <a:prstClr val="white"/>
                </a:solidFill>
                <a:latin typeface="Helvetica" charset="0"/>
                <a:ea typeface="ＭＳ Ｐゴシック" charset="-128"/>
                <a:cs typeface="Helvetica" charset="0"/>
              </a:rPr>
              <a:t>!</a:t>
            </a:r>
          </a:p>
          <a:p>
            <a:endParaRPr lang="en-US" sz="4000" dirty="0">
              <a:solidFill>
                <a:prstClr val="white"/>
              </a:solidFill>
              <a:latin typeface="Helvetica" charset="0"/>
              <a:ea typeface="ＭＳ Ｐゴシック" charset="-128"/>
              <a:cs typeface="Helvetica" charset="0"/>
            </a:endParaRPr>
          </a:p>
          <a:p>
            <a:r>
              <a:rPr lang="en-US" sz="4000" dirty="0" err="1" smtClean="0">
                <a:solidFill>
                  <a:prstClr val="white"/>
                </a:solidFill>
                <a:latin typeface="Helvetica" charset="0"/>
                <a:ea typeface="ＭＳ Ｐゴシック" charset="-128"/>
                <a:cs typeface="Helvetica" charset="0"/>
              </a:rPr>
              <a:t>Spørsmål</a:t>
            </a:r>
            <a:r>
              <a:rPr lang="en-US" sz="4000" dirty="0" smtClean="0">
                <a:solidFill>
                  <a:prstClr val="white"/>
                </a:solidFill>
                <a:latin typeface="Helvetica" charset="0"/>
                <a:ea typeface="ＭＳ Ｐゴシック" charset="-128"/>
                <a:cs typeface="Helvetica" charset="0"/>
              </a:rPr>
              <a:t>?</a:t>
            </a:r>
            <a:endParaRPr lang="en-US" sz="4000" dirty="0">
              <a:solidFill>
                <a:prstClr val="white"/>
              </a:solidFill>
              <a:latin typeface="Helvetica" charset="0"/>
              <a:ea typeface="ＭＳ Ｐゴシック" charset="-128"/>
              <a:cs typeface="Helvetica" charset="0"/>
            </a:endParaRPr>
          </a:p>
        </p:txBody>
      </p:sp>
      <p:sp>
        <p:nvSpPr>
          <p:cNvPr id="7" name="Rectangle 3"/>
          <p:cNvSpPr txBox="1">
            <a:spLocks noChangeArrowheads="1"/>
          </p:cNvSpPr>
          <p:nvPr/>
        </p:nvSpPr>
        <p:spPr bwMode="auto">
          <a:xfrm>
            <a:off x="2047874" y="4533899"/>
            <a:ext cx="4806185" cy="1399429"/>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algn="l" rtl="0" eaLnBrk="0" fontAlgn="base" hangingPunct="0">
              <a:spcBef>
                <a:spcPct val="20000"/>
              </a:spcBef>
              <a:spcAft>
                <a:spcPct val="0"/>
              </a:spcAft>
              <a:buFont typeface="Wingdings" charset="2"/>
              <a:buChar char="§"/>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Times"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Times"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Times"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r" defTabSz="457200" eaLnBrk="1" hangingPunct="1">
              <a:buFont typeface="Wingdings" charset="2"/>
              <a:buNone/>
              <a:defRPr/>
            </a:pPr>
            <a:r>
              <a:rPr lang="en-US" sz="2800" dirty="0" smtClean="0">
                <a:solidFill>
                  <a:prstClr val="white"/>
                </a:solidFill>
              </a:rPr>
              <a:t/>
            </a:r>
            <a:br>
              <a:rPr lang="en-US" sz="2800" dirty="0" smtClean="0">
                <a:solidFill>
                  <a:prstClr val="white"/>
                </a:solidFill>
              </a:rPr>
            </a:br>
            <a:r>
              <a:rPr lang="en-US" sz="2800" dirty="0" err="1" smtClean="0">
                <a:solidFill>
                  <a:prstClr val="white"/>
                </a:solidFill>
              </a:rPr>
              <a:t>block@cornell.edu</a:t>
            </a:r>
            <a:endParaRPr lang="en-US" sz="2800" dirty="0" smtClean="0">
              <a:solidFill>
                <a:prstClr val="white"/>
              </a:solidFill>
            </a:endParaRPr>
          </a:p>
          <a:p>
            <a:pPr algn="r" defTabSz="457200" eaLnBrk="1" hangingPunct="1">
              <a:buFont typeface="Wingdings" charset="2"/>
              <a:buNone/>
              <a:defRPr/>
            </a:pPr>
            <a:r>
              <a:rPr lang="en-US" sz="2800" dirty="0" err="1" smtClean="0">
                <a:solidFill>
                  <a:prstClr val="white"/>
                </a:solidFill>
                <a:latin typeface="Arial" charset="0"/>
              </a:rPr>
              <a:t>ncrn.cornell.edu</a:t>
            </a:r>
            <a:endParaRPr lang="en-US" sz="2800" dirty="0">
              <a:solidFill>
                <a:prstClr val="white"/>
              </a:solidFill>
              <a:latin typeface="Arial" charset="0"/>
            </a:endParaRPr>
          </a:p>
          <a:p>
            <a:pPr algn="r" defTabSz="457200" eaLnBrk="1" hangingPunct="1">
              <a:buFont typeface="Wingdings" charset="2"/>
              <a:buNone/>
              <a:defRPr/>
            </a:pPr>
            <a:endParaRPr lang="en-US" sz="2800" dirty="0">
              <a:solidFill>
                <a:prstClr val="white"/>
              </a:solidFill>
            </a:endParaRPr>
          </a:p>
          <a:p>
            <a:pPr algn="r" defTabSz="457200" eaLnBrk="1" hangingPunct="1">
              <a:buFont typeface="Wingdings" charset="2"/>
              <a:buNone/>
              <a:defRPr/>
            </a:pPr>
            <a:r>
              <a:rPr lang="en-US" sz="2800" dirty="0" smtClean="0">
                <a:solidFill>
                  <a:prstClr val="white"/>
                </a:solidFill>
              </a:rPr>
              <a:t/>
            </a:r>
            <a:br>
              <a:rPr lang="en-US" sz="2800" dirty="0" smtClean="0">
                <a:solidFill>
                  <a:prstClr val="white"/>
                </a:solidFill>
              </a:rPr>
            </a:br>
            <a:endParaRPr lang="en-US" sz="2800" dirty="0" smtClean="0">
              <a:solidFill>
                <a:prstClr val="white"/>
              </a:solidFill>
            </a:endParaRPr>
          </a:p>
        </p:txBody>
      </p:sp>
      <p:sp>
        <p:nvSpPr>
          <p:cNvPr id="2" name="Slide Number Placeholder 1"/>
          <p:cNvSpPr>
            <a:spLocks noGrp="1"/>
          </p:cNvSpPr>
          <p:nvPr>
            <p:ph type="sldNum" sz="quarter" idx="12"/>
          </p:nvPr>
        </p:nvSpPr>
        <p:spPr>
          <a:xfrm>
            <a:off x="8534400" y="6400800"/>
            <a:ext cx="457200" cy="365125"/>
          </a:xfrm>
        </p:spPr>
        <p:txBody>
          <a:bodyPr/>
          <a:lstStyle/>
          <a:p>
            <a:pPr>
              <a:defRPr/>
            </a:pPr>
            <a:fld id="{CB170998-985E-49FD-8136-735689F89D25}" type="slidenum">
              <a:rPr lang="en-US" smtClean="0">
                <a:solidFill>
                  <a:prstClr val="black"/>
                </a:solidFill>
              </a:rPr>
              <a:pPr>
                <a:defRPr/>
              </a:pPr>
              <a:t>18</a:t>
            </a:fld>
            <a:endParaRPr lang="en-US" dirty="0">
              <a:solidFill>
                <a:prstClr val="black"/>
              </a:solidFill>
            </a:endParaRPr>
          </a:p>
        </p:txBody>
      </p:sp>
    </p:spTree>
    <p:extLst>
      <p:ext uri="{BB962C8B-B14F-4D97-AF65-F5344CB8AC3E}">
        <p14:creationId xmlns:p14="http://schemas.microsoft.com/office/powerpoint/2010/main" val="1671425453"/>
      </p:ext>
    </p:extLst>
  </p:cSld>
  <p:clrMapOvr>
    <a:masterClrMapping/>
  </p:clrMapOvr>
  <p:transition xmlns:p14="http://schemas.microsoft.com/office/powerpoint/2010/main">
    <p:cut thruBlk="1"/>
  </p:transition>
  <p:timing>
    <p:tnLst>
      <p:par>
        <p:cTn xmlns:p14="http://schemas.microsoft.com/office/powerpoint/2010/main" id="1" dur="indefinite" restart="never" nodeType="tmRoot"/>
      </p:par>
    </p:tnLst>
  </p:timing>
</p:sld>
</file>

<file path=ppt/theme/theme1.xml><?xml version="1.0" encoding="utf-8"?>
<a:theme xmlns:a="http://schemas.openxmlformats.org/drawingml/2006/main" name="CISER_NEW Master pages_12_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2_CISER_NEW Master pages_12_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3195</TotalTime>
  <Words>895</Words>
  <Application>Microsoft Macintosh PowerPoint</Application>
  <PresentationFormat>On-screen Show (4:3)</PresentationFormat>
  <Paragraphs>169</Paragraphs>
  <Slides>18</Slides>
  <Notes>14</Notes>
  <HiddenSlides>0</HiddenSlides>
  <MMClips>0</MMClips>
  <ScaleCrop>false</ScaleCrop>
  <HeadingPairs>
    <vt:vector size="4" baseType="variant">
      <vt:variant>
        <vt:lpstr>Theme</vt:lpstr>
      </vt:variant>
      <vt:variant>
        <vt:i4>11</vt:i4>
      </vt:variant>
      <vt:variant>
        <vt:lpstr>Slide Titles</vt:lpstr>
      </vt:variant>
      <vt:variant>
        <vt:i4>18</vt:i4>
      </vt:variant>
    </vt:vector>
  </HeadingPairs>
  <TitlesOfParts>
    <vt:vector size="29" baseType="lpstr">
      <vt:lpstr>CISER_NEW Master pages_12_6</vt:lpstr>
      <vt:lpstr>1_Office Theme</vt:lpstr>
      <vt:lpstr>2_Office Theme</vt:lpstr>
      <vt:lpstr>3_Office Theme</vt:lpstr>
      <vt:lpstr>4_Office Theme</vt:lpstr>
      <vt:lpstr>5_Office Theme</vt:lpstr>
      <vt:lpstr>6_Office Theme</vt:lpstr>
      <vt:lpstr>Office Theme</vt:lpstr>
      <vt:lpstr>7_Office Theme</vt:lpstr>
      <vt:lpstr>8_Office Theme</vt:lpstr>
      <vt:lpstr>2_CISER_NEW Master pages_12_6</vt:lpstr>
      <vt:lpstr>An Early Prototype of the Comprehensive Extensible Data Documentation and Access Repository (CED2AR)</vt:lpstr>
      <vt:lpstr>PowerPoint Presentation</vt:lpstr>
      <vt:lpstr>PowerPoint Presentation</vt:lpstr>
      <vt:lpstr>Research Opportunities  at the Cornell Census Research Data Center</vt:lpstr>
      <vt:lpstr>The RDC Network</vt:lpstr>
      <vt:lpstr>PowerPoint Presentation</vt:lpstr>
      <vt:lpstr>PowerPoint Presentation</vt:lpstr>
      <vt:lpstr>PowerPoint Presentation</vt:lpstr>
      <vt:lpstr>PowerPoint Presentation</vt:lpstr>
      <vt:lpstr>PowerPoint Presentation</vt:lpstr>
      <vt:lpstr>Acknowledging CS 5150 Contributions  Jeremy Williams* Benjamin Perry Justin Burden Chantelle Farmer Shudan Zheng Jessica Kane  *CISER and NCRN staff member, EDDI co-author, and coordinator of the CS5150 team  </vt:lpstr>
      <vt:lpstr>CED2AR Search API </vt:lpstr>
      <vt:lpstr>CED2AR Search API </vt:lpstr>
      <vt:lpstr>CED2AR Search API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 Martin</dc:creator>
  <cp:lastModifiedBy>William Block</cp:lastModifiedBy>
  <cp:revision>141</cp:revision>
  <cp:lastPrinted>2012-11-28T15:14:28Z</cp:lastPrinted>
  <dcterms:created xsi:type="dcterms:W3CDTF">2012-07-18T12:10:14Z</dcterms:created>
  <dcterms:modified xsi:type="dcterms:W3CDTF">2012-12-03T10:54:09Z</dcterms:modified>
</cp:coreProperties>
</file>