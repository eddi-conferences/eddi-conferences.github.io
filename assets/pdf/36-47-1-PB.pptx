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4" r:id="rId8"/>
    <p:sldId id="262" r:id="rId9"/>
    <p:sldId id="263" r:id="rId10"/>
    <p:sldId id="266" r:id="rId11"/>
    <p:sldId id="278" r:id="rId12"/>
    <p:sldId id="279" r:id="rId13"/>
    <p:sldId id="265" r:id="rId14"/>
    <p:sldId id="267" r:id="rId15"/>
    <p:sldId id="268" r:id="rId16"/>
    <p:sldId id="269" r:id="rId17"/>
    <p:sldId id="280" r:id="rId18"/>
    <p:sldId id="270" r:id="rId19"/>
    <p:sldId id="271" r:id="rId20"/>
    <p:sldId id="272" r:id="rId21"/>
    <p:sldId id="273" r:id="rId22"/>
    <p:sldId id="274" r:id="rId23"/>
    <p:sldId id="275" r:id="rId24"/>
    <p:sldId id="281" r:id="rId25"/>
    <p:sldId id="276" r:id="rId26"/>
    <p:sldId id="277" r:id="rId27"/>
    <p:sldId id="282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8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5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0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7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35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8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08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48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4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6EE17-8F70-4C26-B157-2ADAFE458266}" type="datetimeFigureOut">
              <a:rPr lang="en-US" smtClean="0"/>
              <a:t>12/3/2012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1FB7E-4744-4AA9-AECA-F120C5D3F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1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DDI and GSIM – Impacts, Context, and Future Possibilities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Arofan Gregory</a:t>
            </a:r>
          </a:p>
          <a:p>
            <a:r>
              <a:rPr lang="en-US" dirty="0" smtClean="0"/>
              <a:t>Metadata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3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general situation for GSIM – DDI</a:t>
            </a:r>
          </a:p>
          <a:p>
            <a:r>
              <a:rPr lang="en-US" dirty="0" smtClean="0"/>
              <a:t>Implementing GSIM with DDI </a:t>
            </a:r>
          </a:p>
          <a:p>
            <a:r>
              <a:rPr lang="en-US" dirty="0" smtClean="0"/>
              <a:t>Detailed view of some GSIM areas and overlap/gaps with DDI</a:t>
            </a:r>
          </a:p>
          <a:p>
            <a:pPr lvl="1"/>
            <a:r>
              <a:rPr lang="en-US" dirty="0" smtClean="0"/>
              <a:t>Describing data</a:t>
            </a:r>
          </a:p>
          <a:p>
            <a:pPr lvl="1"/>
            <a:r>
              <a:rPr lang="en-US" dirty="0" smtClean="0"/>
              <a:t>Describing questionnaires</a:t>
            </a:r>
          </a:p>
          <a:p>
            <a:pPr lvl="1"/>
            <a:r>
              <a:rPr lang="en-US" dirty="0" smtClean="0"/>
              <a:t>Describing </a:t>
            </a:r>
            <a:r>
              <a:rPr lang="en-US" dirty="0" err="1" smtClean="0"/>
              <a:t>codelists</a:t>
            </a:r>
            <a:r>
              <a:rPr lang="en-US" dirty="0" smtClean="0"/>
              <a:t>, categories, and concepts</a:t>
            </a:r>
          </a:p>
          <a:p>
            <a:pPr lvl="1"/>
            <a:r>
              <a:rPr lang="en-US" dirty="0" smtClean="0"/>
              <a:t>Describing events and processing</a:t>
            </a:r>
          </a:p>
          <a:p>
            <a:r>
              <a:rPr lang="en-US" dirty="0" smtClean="0"/>
              <a:t>Looking forward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5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GSIM and DDI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GSIM is a creation of the HLG-BAS group under UN/ECE</a:t>
            </a:r>
          </a:p>
          <a:p>
            <a:r>
              <a:rPr lang="en-US" dirty="0" smtClean="0"/>
              <a:t>DDI is a creation of the DDI Alliance</a:t>
            </a:r>
          </a:p>
          <a:p>
            <a:r>
              <a:rPr lang="en-US" dirty="0" smtClean="0"/>
              <a:t>There is no immediate formal relationship between these organizations</a:t>
            </a:r>
          </a:p>
          <a:p>
            <a:r>
              <a:rPr lang="en-US" dirty="0" smtClean="0"/>
              <a:t>However, both organizations have made statements that they will work together to make DDI a good implementation vehicle for GSIM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14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GSIM, DDI, and Official Statistics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GSIM is a key standard for official statistics organizations</a:t>
            </a:r>
          </a:p>
          <a:p>
            <a:r>
              <a:rPr lang="en-US" dirty="0" smtClean="0"/>
              <a:t>Some official statistical organizations already use DDI or are planning to do so</a:t>
            </a:r>
          </a:p>
          <a:p>
            <a:pPr lvl="1"/>
            <a:r>
              <a:rPr lang="en-US" dirty="0" smtClean="0"/>
              <a:t>IHSN Metadata tools (developing world)</a:t>
            </a:r>
          </a:p>
          <a:p>
            <a:pPr lvl="1"/>
            <a:r>
              <a:rPr lang="en-US" dirty="0" smtClean="0"/>
              <a:t>DDI-Lifecycle (ABS, Stats NZ, INSEE, Eurostat)</a:t>
            </a:r>
          </a:p>
          <a:p>
            <a:r>
              <a:rPr lang="en-US" dirty="0" smtClean="0"/>
              <a:t>GSIM is a potential vehicle for the </a:t>
            </a:r>
            <a:r>
              <a:rPr lang="en-US" dirty="0" err="1" smtClean="0"/>
              <a:t>widespead</a:t>
            </a:r>
            <a:r>
              <a:rPr lang="en-US" dirty="0" smtClean="0"/>
              <a:t> adoption of DDI among official statistical organizations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at Different Levels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GSIM is a </a:t>
            </a:r>
            <a:r>
              <a:rPr lang="en-US" i="1" dirty="0" smtClean="0"/>
              <a:t>Conceptual Model</a:t>
            </a:r>
          </a:p>
          <a:p>
            <a:pPr lvl="1"/>
            <a:r>
              <a:rPr lang="en-US" dirty="0" smtClean="0"/>
              <a:t>It is technology and implementation-neutral</a:t>
            </a:r>
          </a:p>
          <a:p>
            <a:r>
              <a:rPr lang="en-US" dirty="0" smtClean="0"/>
              <a:t>DDI is an </a:t>
            </a:r>
            <a:r>
              <a:rPr lang="en-US" i="1" dirty="0"/>
              <a:t>I</a:t>
            </a:r>
            <a:r>
              <a:rPr lang="en-US" i="1" dirty="0" smtClean="0"/>
              <a:t>mplementation Model</a:t>
            </a:r>
          </a:p>
          <a:p>
            <a:pPr lvl="1"/>
            <a:r>
              <a:rPr lang="en-US" dirty="0" smtClean="0"/>
              <a:t>It is cross-platform and application-neutral</a:t>
            </a:r>
          </a:p>
          <a:p>
            <a:pPr lvl="1"/>
            <a:r>
              <a:rPr lang="en-US" dirty="0" smtClean="0"/>
              <a:t>It is </a:t>
            </a:r>
            <a:r>
              <a:rPr lang="en-US" dirty="0" err="1" smtClean="0"/>
              <a:t>implementated</a:t>
            </a:r>
            <a:r>
              <a:rPr lang="en-US" dirty="0" smtClean="0"/>
              <a:t> in XML (and soon, RDF), but isn’t technology-neutral</a:t>
            </a:r>
          </a:p>
          <a:p>
            <a:r>
              <a:rPr lang="en-US" dirty="0" smtClean="0"/>
              <a:t>Specific applications have their own, internal models</a:t>
            </a:r>
          </a:p>
          <a:p>
            <a:pPr lvl="1"/>
            <a:r>
              <a:rPr lang="en-US" dirty="0" smtClean="0"/>
              <a:t>These are bound to specific technologies and platforms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76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Implementing GSIM at a </a:t>
            </a:r>
            <a:br>
              <a:rPr lang="en-US" dirty="0" smtClean="0"/>
            </a:br>
            <a:r>
              <a:rPr lang="en-US" dirty="0" smtClean="0"/>
              <a:t>Technical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To allow re-use of applications and services, agreements must exist on many levels</a:t>
            </a:r>
          </a:p>
          <a:p>
            <a:pPr lvl="1"/>
            <a:r>
              <a:rPr lang="en-US" dirty="0" smtClean="0"/>
              <a:t>Conceptual models must match (GSIM)</a:t>
            </a:r>
          </a:p>
          <a:p>
            <a:pPr lvl="1"/>
            <a:r>
              <a:rPr lang="en-US" dirty="0" smtClean="0"/>
              <a:t>Implementation models must match (DDI)</a:t>
            </a:r>
          </a:p>
          <a:p>
            <a:pPr lvl="1"/>
            <a:r>
              <a:rPr lang="en-US" dirty="0" smtClean="0"/>
              <a:t>Application models must match (TBD – web services? Others?)</a:t>
            </a:r>
          </a:p>
          <a:p>
            <a:r>
              <a:rPr lang="en-US" dirty="0" smtClean="0"/>
              <a:t>There is still a lot of work around mapping DDI to GSIM, and then agreeing on how DDI XML will be used within applications before we have reusable, interoperable GSIM-based services and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4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Usefulness of GSIM?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To make applications work together on all levels, we will need to map existing application models to each other</a:t>
            </a:r>
          </a:p>
          <a:p>
            <a:pPr lvl="1"/>
            <a:r>
              <a:rPr lang="en-US" dirty="0" smtClean="0"/>
              <a:t>On the basis of DDI</a:t>
            </a:r>
          </a:p>
          <a:p>
            <a:pPr lvl="1"/>
            <a:r>
              <a:rPr lang="en-US" dirty="0" smtClean="0"/>
              <a:t>On the basis of GSIM</a:t>
            </a:r>
          </a:p>
          <a:p>
            <a:r>
              <a:rPr lang="en-US" dirty="0" smtClean="0"/>
              <a:t>From a technical perspective, this can be very difficult</a:t>
            </a:r>
          </a:p>
          <a:p>
            <a:pPr lvl="1"/>
            <a:r>
              <a:rPr lang="en-US" dirty="0" smtClean="0"/>
              <a:t>Having an agreed base model at the conceptual and implementation level makes it easier/possible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46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Describing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DDI describes two kinds of data</a:t>
            </a:r>
          </a:p>
          <a:p>
            <a:pPr lvl="1"/>
            <a:r>
              <a:rPr lang="en-US" dirty="0" err="1" smtClean="0"/>
              <a:t>Microdata</a:t>
            </a:r>
            <a:r>
              <a:rPr lang="en-US" dirty="0" smtClean="0"/>
              <a:t> sets</a:t>
            </a:r>
          </a:p>
          <a:p>
            <a:pPr lvl="1"/>
            <a:r>
              <a:rPr lang="en-US" dirty="0" smtClean="0"/>
              <a:t>Aggregate (“dimensional”) data sets – </a:t>
            </a:r>
            <a:r>
              <a:rPr lang="en-US" dirty="0" err="1" smtClean="0"/>
              <a:t>Ncubes</a:t>
            </a:r>
            <a:endParaRPr lang="en-US" dirty="0" smtClean="0"/>
          </a:p>
          <a:p>
            <a:r>
              <a:rPr lang="en-US" dirty="0" smtClean="0"/>
              <a:t>Both exist in GSIM</a:t>
            </a:r>
          </a:p>
          <a:p>
            <a:r>
              <a:rPr lang="en-US" dirty="0" smtClean="0"/>
              <a:t>In DDI </a:t>
            </a:r>
            <a:r>
              <a:rPr lang="en-US" dirty="0" err="1" smtClean="0"/>
              <a:t>microdata</a:t>
            </a:r>
            <a:r>
              <a:rPr lang="en-US" dirty="0" smtClean="0"/>
              <a:t>, each case/unit has a set of variables, at least one of which is the case identifier</a:t>
            </a:r>
          </a:p>
          <a:p>
            <a:pPr lvl="1"/>
            <a:r>
              <a:rPr lang="en-US" dirty="0" smtClean="0"/>
              <a:t>Others hold observations or derived or supporting values (such as weights)</a:t>
            </a:r>
          </a:p>
          <a:p>
            <a:r>
              <a:rPr lang="en-US" dirty="0" err="1" smtClean="0"/>
              <a:t>Ncube</a:t>
            </a:r>
            <a:r>
              <a:rPr lang="en-US" dirty="0" smtClean="0"/>
              <a:t> structures use variables as dimensions, observations, and attributes to describe the matrix structure of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228600"/>
            <a:ext cx="7754500" cy="659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7227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GSIM Constructs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GSIM does make a distinction between “unit data structures” and “dimensional data structures”</a:t>
            </a:r>
          </a:p>
          <a:p>
            <a:pPr lvl="1"/>
            <a:r>
              <a:rPr lang="en-US" dirty="0" smtClean="0"/>
              <a:t>GSIM supports hierarchical relationships in data sets</a:t>
            </a:r>
          </a:p>
          <a:p>
            <a:r>
              <a:rPr lang="en-US" dirty="0" smtClean="0"/>
              <a:t>Both are based on the core data model you have seem</a:t>
            </a:r>
          </a:p>
        </p:txBody>
      </p:sp>
    </p:spTree>
    <p:extLst>
      <p:ext uri="{BB962C8B-B14F-4D97-AF65-F5344CB8AC3E}">
        <p14:creationId xmlns:p14="http://schemas.microsoft.com/office/powerpoint/2010/main" val="130196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Data Set</a:t>
            </a:r>
            <a:endParaRPr lang="en-US" dirty="0"/>
          </a:p>
        </p:txBody>
      </p:sp>
      <p:pic>
        <p:nvPicPr>
          <p:cNvPr id="11266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5086"/>
            <a:ext cx="9144000" cy="5219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517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 Data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1862"/>
            <a:ext cx="9144000" cy="471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593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Describing Questionnaires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DDI – Lifecycle has a very complete description of a questionnaire/instrument</a:t>
            </a:r>
          </a:p>
          <a:p>
            <a:pPr lvl="1"/>
            <a:r>
              <a:rPr lang="en-US" dirty="0" smtClean="0"/>
              <a:t>Includes the mode and specifics of the instrument</a:t>
            </a:r>
          </a:p>
          <a:p>
            <a:pPr lvl="1"/>
            <a:r>
              <a:rPr lang="en-US" dirty="0" smtClean="0"/>
              <a:t>Includes the questions, statements, and instructions used</a:t>
            </a:r>
          </a:p>
          <a:p>
            <a:pPr lvl="1"/>
            <a:r>
              <a:rPr lang="en-US" dirty="0" smtClean="0"/>
              <a:t>Includes the flow logic of the questionnaire</a:t>
            </a:r>
          </a:p>
          <a:p>
            <a:pPr lvl="1"/>
            <a:r>
              <a:rPr lang="en-US" dirty="0" smtClean="0"/>
              <a:t>Can have multiple-question “blocks”</a:t>
            </a:r>
          </a:p>
          <a:p>
            <a:r>
              <a:rPr lang="en-US" dirty="0" smtClean="0"/>
              <a:t>GSIM does the same</a:t>
            </a:r>
          </a:p>
          <a:p>
            <a:pPr lvl="1"/>
            <a:r>
              <a:rPr lang="en-US" dirty="0" smtClean="0"/>
              <a:t>With less detail</a:t>
            </a:r>
          </a:p>
          <a:p>
            <a:pPr lvl="1"/>
            <a:r>
              <a:rPr lang="en-US" dirty="0" smtClean="0"/>
              <a:t>Largely based on DDI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66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GSIM Survey Instrument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53" y="1600200"/>
            <a:ext cx="8907263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697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Classifications, </a:t>
            </a:r>
            <a:r>
              <a:rPr lang="en-US" dirty="0" err="1" smtClean="0"/>
              <a:t>Codelists</a:t>
            </a:r>
            <a:r>
              <a:rPr lang="en-US" dirty="0" smtClean="0"/>
              <a:t>, Categories and Concepts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DDI has </a:t>
            </a:r>
            <a:r>
              <a:rPr lang="en-US" dirty="0" err="1" smtClean="0"/>
              <a:t>codelists</a:t>
            </a:r>
            <a:r>
              <a:rPr lang="en-US" dirty="0" smtClean="0"/>
              <a:t> which take their meaning from categories.</a:t>
            </a:r>
          </a:p>
          <a:p>
            <a:r>
              <a:rPr lang="en-US" dirty="0" smtClean="0"/>
              <a:t>DDI has concepts associated with variables and questions.</a:t>
            </a:r>
          </a:p>
          <a:p>
            <a:r>
              <a:rPr lang="en-US" dirty="0" smtClean="0"/>
              <a:t>GSIM has all of this, and more!</a:t>
            </a:r>
          </a:p>
          <a:p>
            <a:pPr lvl="1"/>
            <a:r>
              <a:rPr lang="en-US" dirty="0" smtClean="0"/>
              <a:t>GSIM is “concept-rich”</a:t>
            </a:r>
          </a:p>
          <a:p>
            <a:pPr lvl="1"/>
            <a:r>
              <a:rPr lang="en-US" dirty="0" smtClean="0"/>
              <a:t>GSIM also has a pure classification model, which is not as complete in DDI-Lifecycle (a bit in 3.2)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51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28600"/>
            <a:ext cx="4231635" cy="661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73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Nodes and Node-Sets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362200"/>
            <a:ext cx="9229537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277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0"/>
            <a:ext cx="6267450" cy="698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887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44585"/>
            <a:ext cx="6477000" cy="9971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74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 and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DDI provides us with several ways to describe events and processing</a:t>
            </a:r>
          </a:p>
          <a:p>
            <a:pPr lvl="1"/>
            <a:r>
              <a:rPr lang="en-US" dirty="0" smtClean="0"/>
              <a:t>Lifecycle Events</a:t>
            </a:r>
          </a:p>
          <a:p>
            <a:pPr lvl="1"/>
            <a:r>
              <a:rPr lang="en-US" dirty="0" smtClean="0"/>
              <a:t>Collection Events</a:t>
            </a:r>
          </a:p>
          <a:p>
            <a:pPr lvl="1"/>
            <a:r>
              <a:rPr lang="en-US" dirty="0" smtClean="0"/>
              <a:t>“Coding” Elements</a:t>
            </a:r>
          </a:p>
          <a:p>
            <a:pPr lvl="2"/>
            <a:r>
              <a:rPr lang="en-US" dirty="0" smtClean="0"/>
              <a:t>Generation Instructions</a:t>
            </a:r>
          </a:p>
          <a:p>
            <a:pPr lvl="2"/>
            <a:r>
              <a:rPr lang="en-US" dirty="0" smtClean="0"/>
              <a:t>General instructions</a:t>
            </a:r>
          </a:p>
          <a:p>
            <a:r>
              <a:rPr lang="en-US" dirty="0" smtClean="0"/>
              <a:t>GSIM gives us much, much more!</a:t>
            </a:r>
          </a:p>
          <a:p>
            <a:pPr lvl="1"/>
            <a:r>
              <a:rPr lang="en-US" dirty="0" smtClean="0"/>
              <a:t>Some of this is very specific to statistical agencies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73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1"/>
            <a:ext cx="9144000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76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81000"/>
            <a:ext cx="917196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357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0"/>
            <a:ext cx="7086600" cy="6761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27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0"/>
            <a:ext cx="7162800" cy="6856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160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Looking Forward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DDI and GSIM have some very strong alignments</a:t>
            </a:r>
          </a:p>
          <a:p>
            <a:r>
              <a:rPr lang="en-US" dirty="0" smtClean="0"/>
              <a:t>There are also some gaps</a:t>
            </a:r>
          </a:p>
          <a:p>
            <a:r>
              <a:rPr lang="en-US" dirty="0" smtClean="0"/>
              <a:t>DDI may need to add support for some functionality</a:t>
            </a:r>
          </a:p>
          <a:p>
            <a:pPr lvl="1"/>
            <a:r>
              <a:rPr lang="en-US" dirty="0" smtClean="0"/>
              <a:t>But maybe not everything – maybe SDMX can fill some gaps</a:t>
            </a:r>
          </a:p>
          <a:p>
            <a:r>
              <a:rPr lang="en-US" dirty="0" smtClean="0"/>
              <a:t>This is a two-way alignment</a:t>
            </a:r>
          </a:p>
          <a:p>
            <a:pPr lvl="1"/>
            <a:r>
              <a:rPr lang="en-US" dirty="0" smtClean="0"/>
              <a:t>GSIM may need to adjust to better fit DDI 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316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Looking Forward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As we look to the next major re-design of DDI, we will be working proactively with GSIM</a:t>
            </a:r>
          </a:p>
          <a:p>
            <a:pPr lvl="1"/>
            <a:r>
              <a:rPr lang="en-US" dirty="0" smtClean="0"/>
              <a:t>Representative from GSIM were invited to the first working session this year at </a:t>
            </a:r>
            <a:r>
              <a:rPr lang="en-US" dirty="0" err="1" smtClean="0"/>
              <a:t>Schloss</a:t>
            </a:r>
            <a:r>
              <a:rPr lang="en-US" dirty="0" smtClean="0"/>
              <a:t> </a:t>
            </a:r>
            <a:r>
              <a:rPr lang="en-US" dirty="0" err="1" smtClean="0"/>
              <a:t>Dagstuhl</a:t>
            </a:r>
            <a:endParaRPr lang="en-US" dirty="0" smtClean="0"/>
          </a:p>
          <a:p>
            <a:r>
              <a:rPr lang="en-US" dirty="0" smtClean="0"/>
              <a:t>DDI will continue to attend events around GSIM sponsored by HLG-BAS</a:t>
            </a:r>
          </a:p>
          <a:p>
            <a:pPr lvl="1"/>
            <a:r>
              <a:rPr lang="en-US" dirty="0" smtClean="0"/>
              <a:t>Like the Geneva meeting this past </a:t>
            </a:r>
            <a:r>
              <a:rPr lang="en-US" dirty="0" smtClean="0"/>
              <a:t>November</a:t>
            </a:r>
          </a:p>
          <a:p>
            <a:r>
              <a:rPr lang="en-US" dirty="0" smtClean="0"/>
              <a:t>Possibility for proactive engagement at a technical level</a:t>
            </a:r>
          </a:p>
          <a:p>
            <a:pPr lvl="1"/>
            <a:r>
              <a:rPr lang="en-US" dirty="0" smtClean="0"/>
              <a:t>SDMX-DDI Dialogue</a:t>
            </a:r>
          </a:p>
          <a:p>
            <a:pPr lvl="1"/>
            <a:r>
              <a:rPr lang="en-US" dirty="0" smtClean="0"/>
              <a:t>DDI Working Groups?</a:t>
            </a:r>
          </a:p>
          <a:p>
            <a:pPr lvl="1"/>
            <a:r>
              <a:rPr lang="en-US" dirty="0" smtClean="0"/>
              <a:t>Others?</a:t>
            </a:r>
            <a:endParaRPr lang="en-US" dirty="0" smtClean="0"/>
          </a:p>
          <a:p>
            <a:r>
              <a:rPr lang="en-US" dirty="0" smtClean="0"/>
              <a:t>GSIM may also provide a strong basis for other types of work within the DDI Community, less focused on official statistics</a:t>
            </a:r>
          </a:p>
          <a:p>
            <a:pPr lvl="1"/>
            <a:r>
              <a:rPr lang="en-US" dirty="0" smtClean="0"/>
              <a:t>Like the “Generic Longitudinal Process Model”, which was based on GSBPM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28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Looking Forward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Some external projects involve both archives and statistical agencies</a:t>
            </a:r>
          </a:p>
          <a:p>
            <a:pPr lvl="1"/>
            <a:r>
              <a:rPr lang="en-US" dirty="0" smtClean="0"/>
              <a:t>Data without Boundaries (DwB) is a prime example</a:t>
            </a:r>
          </a:p>
          <a:p>
            <a:pPr lvl="1"/>
            <a:r>
              <a:rPr lang="en-US" dirty="0" smtClean="0"/>
              <a:t>DwB is using a DDI-based metadata model</a:t>
            </a:r>
          </a:p>
          <a:p>
            <a:pPr lvl="1"/>
            <a:r>
              <a:rPr lang="en-US" dirty="0" smtClean="0"/>
              <a:t>May lead to production implementations in future</a:t>
            </a:r>
          </a:p>
          <a:p>
            <a:r>
              <a:rPr lang="en-US" dirty="0" smtClean="0"/>
              <a:t>If archives and statistical agencies use the same metadata…</a:t>
            </a:r>
          </a:p>
          <a:p>
            <a:pPr lvl="1"/>
            <a:r>
              <a:rPr lang="en-US" dirty="0" smtClean="0"/>
              <a:t>Archiving of official data becomes much easier</a:t>
            </a:r>
          </a:p>
          <a:p>
            <a:pPr lvl="1"/>
            <a:r>
              <a:rPr lang="en-US" dirty="0" smtClean="0"/>
              <a:t>Both communities can leverage the same </a:t>
            </a:r>
            <a:r>
              <a:rPr lang="en-US" dirty="0" smtClean="0"/>
              <a:t>tools. Approaches, </a:t>
            </a:r>
            <a:r>
              <a:rPr lang="en-US" dirty="0" smtClean="0"/>
              <a:t>and resources (where appropriate</a:t>
            </a:r>
            <a:r>
              <a:rPr lang="en-US" dirty="0" smtClean="0"/>
              <a:t>)</a:t>
            </a:r>
          </a:p>
          <a:p>
            <a:pPr lvl="2"/>
            <a:r>
              <a:rPr lang="en-US" dirty="0" err="1" smtClean="0"/>
              <a:t>Microdata</a:t>
            </a:r>
            <a:r>
              <a:rPr lang="en-US" dirty="0" smtClean="0"/>
              <a:t> access is an obvious point of </a:t>
            </a:r>
            <a:r>
              <a:rPr lang="en-US" dirty="0" err="1" smtClean="0"/>
              <a:t>stnergy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90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0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878</Words>
  <Application>Microsoft Office PowerPoint</Application>
  <PresentationFormat>On-screen Show (4:3)</PresentationFormat>
  <Paragraphs>111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DDI and GSIM – Impacts, Context, and Future Possibilities</vt:lpstr>
      <vt:lpstr>Overview</vt:lpstr>
      <vt:lpstr>GSIM and DDI</vt:lpstr>
      <vt:lpstr>GSIM, DDI, and Official Statistics</vt:lpstr>
      <vt:lpstr>Models at Different Levels</vt:lpstr>
      <vt:lpstr>Implementing GSIM at a  Technical Level</vt:lpstr>
      <vt:lpstr>What is the Usefulness of GSIM?</vt:lpstr>
      <vt:lpstr>Describing Data</vt:lpstr>
      <vt:lpstr>PowerPoint Presentation</vt:lpstr>
      <vt:lpstr>Other GSIM Constructs</vt:lpstr>
      <vt:lpstr>Unit Data Set</vt:lpstr>
      <vt:lpstr>Dimensional Data Set</vt:lpstr>
      <vt:lpstr>Describing Questionnaires</vt:lpstr>
      <vt:lpstr>GSIM Survey Instrument</vt:lpstr>
      <vt:lpstr>Classifications, Codelists, Categories and Concepts </vt:lpstr>
      <vt:lpstr>PowerPoint Presentation</vt:lpstr>
      <vt:lpstr>Nodes and Node-Sets</vt:lpstr>
      <vt:lpstr>PowerPoint Presentation</vt:lpstr>
      <vt:lpstr>PowerPoint Presentation</vt:lpstr>
      <vt:lpstr>Events and Processing</vt:lpstr>
      <vt:lpstr>PowerPoint Presentation</vt:lpstr>
      <vt:lpstr>PowerPoint Presentation</vt:lpstr>
      <vt:lpstr>PowerPoint Presentation</vt:lpstr>
      <vt:lpstr>PowerPoint Presentation</vt:lpstr>
      <vt:lpstr>Looking Forward</vt:lpstr>
      <vt:lpstr>Looking Forward (cont.)</vt:lpstr>
      <vt:lpstr>Looking Forward</vt:lpstr>
      <vt:lpstr>Questions?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agregory</dc:creator>
  <cp:lastModifiedBy>agregory</cp:lastModifiedBy>
  <cp:revision>35</cp:revision>
  <dcterms:created xsi:type="dcterms:W3CDTF">2012-12-02T16:46:42Z</dcterms:created>
  <dcterms:modified xsi:type="dcterms:W3CDTF">2012-12-03T12:46:02Z</dcterms:modified>
</cp:coreProperties>
</file>