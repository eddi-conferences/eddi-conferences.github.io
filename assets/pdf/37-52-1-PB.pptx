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82" r:id="rId13"/>
    <p:sldId id="265" r:id="rId14"/>
    <p:sldId id="283" r:id="rId15"/>
    <p:sldId id="284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1" r:id="rId24"/>
    <p:sldId id="276" r:id="rId25"/>
    <p:sldId id="277" r:id="rId26"/>
    <p:sldId id="278" r:id="rId27"/>
    <p:sldId id="279" r:id="rId28"/>
    <p:sldId id="280" r:id="rId29"/>
  </p:sldIdLst>
  <p:sldSz cx="9144000" cy="6858000" type="screen4x3"/>
  <p:notesSz cx="7010400" cy="92964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AU"/>
              <a:t>Click to edit the notes format</a:t>
            </a:r>
            <a:endParaRPr/>
          </a:p>
        </p:txBody>
      </p:sp>
      <p:sp>
        <p:nvSpPr>
          <p:cNvPr id="154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AU"/>
              <a:t>&lt;header&gt;</a:t>
            </a:r>
            <a:endParaRPr/>
          </a:p>
        </p:txBody>
      </p:sp>
      <p:sp>
        <p:nvSpPr>
          <p:cNvPr id="155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/>
            <a:r>
              <a:rPr lang="en-AU"/>
              <a:t>&lt;date/time&gt;</a:t>
            </a:r>
            <a:endParaRPr/>
          </a:p>
        </p:txBody>
      </p:sp>
      <p:sp>
        <p:nvSpPr>
          <p:cNvPr id="156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r>
              <a:rPr lang="en-AU"/>
              <a:t>&lt;footer&gt;</a:t>
            </a:r>
            <a:endParaRPr/>
          </a:p>
        </p:txBody>
      </p:sp>
      <p:sp>
        <p:nvSpPr>
          <p:cNvPr id="157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pPr algn="r"/>
            <a:fld id="{C7D78EDF-D652-4299-B1B7-D8A2ED2D5710}" type="slidenum">
              <a:rPr lang="en-A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7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/index.php?title=Stability_(software_engineering)&amp;action=edit&amp;redlink=1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ABS, like other National Statistical Institutions, faces shared constraints and challenges.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AU" b="1">
                <a:latin typeface="Candara"/>
                <a:ea typeface="Verdana"/>
              </a:rPr>
              <a:t>External Challenges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rapidly changing external environment 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More sophisticated users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Demand for timeliness and responsiveness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increasing demand for more accessible and ‘joined up’ data to solve complex policy questions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AU" b="1">
                <a:latin typeface="Candara"/>
                <a:ea typeface="Verdana"/>
              </a:rPr>
              <a:t>Constraints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Reduced funding and volatility in funding 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Our costs are increasing significantly – unable to contact many households, response rates dropping, difficult to recruit and retain interviewers 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skills shortages – competing for statistical and ICT skills across government 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complex work programs 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siloed processes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>
                <a:latin typeface="Candara"/>
                <a:ea typeface="Verdana"/>
              </a:rPr>
              <a:t>and aging infrastructure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312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8B4488BD-5DED-4327-B400-CD2E99283716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AU" sz="1200" dirty="0" smtClean="0"/>
              <a:t>Achieving (</a:t>
            </a:r>
            <a:r>
              <a:rPr lang="en-AU" sz="1200" dirty="0" err="1" smtClean="0"/>
              <a:t>i</a:t>
            </a:r>
            <a:r>
              <a:rPr lang="en-AU" sz="1200" dirty="0" smtClean="0"/>
              <a:t>) &amp; (ii) also requires a consistent approach to information flowing in and out of functions</a:t>
            </a:r>
            <a:br>
              <a:rPr lang="en-AU" sz="1200" dirty="0" smtClean="0"/>
            </a:br>
            <a:endParaRPr lang="en-AU" sz="1200" dirty="0" smtClean="0"/>
          </a:p>
          <a:p>
            <a:pPr>
              <a:lnSpc>
                <a:spcPct val="80000"/>
              </a:lnSpc>
            </a:pPr>
            <a:r>
              <a:rPr lang="en-AU" sz="1200" dirty="0" smtClean="0"/>
              <a:t>DDI and SDMX can provide a standard way of representing and “carrying” (at least some of) the required information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590A94-C066-43E2-A9E6-97679CD65CB8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714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E45D77E1-D593-4AB3-B34D-B067F6B11150}" type="slidenum">
              <a:rPr lang="en-AU" sz="1200">
                <a:solidFill>
                  <a:srgbClr val="000000"/>
                </a:solidFill>
                <a:latin typeface="Times New Roman"/>
                <a:ea typeface="+mn-ea"/>
              </a:rPr>
              <a:t>10</a:t>
            </a:fld>
            <a:endParaRPr/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 smtClean="0">
                <a:solidFill>
                  <a:schemeClr val="tx2">
                    <a:lumMod val="75000"/>
                  </a:schemeClr>
                </a:solidFill>
              </a:rPr>
              <a:t>not directly tied to them, nor other concrete implementation details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 smtClean="0">
                <a:solidFill>
                  <a:schemeClr val="tx2">
                    <a:lumMod val="75000"/>
                  </a:schemeClr>
                </a:solidFill>
              </a:rPr>
              <a:t>Provides common semantics that can be used unambiguously across and between different implementations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590A94-C066-43E2-A9E6-97679CD65CB8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135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200" dirty="0" smtClean="0"/>
              <a:t>between different disciplines involved in statistical production, within and between statistical organizations; and between users and producers of official statistics.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GB" sz="1200" dirty="0" smtClean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200" dirty="0" smtClean="0"/>
              <a:t>by enabling greater collaboration within and between organizations, especially through reuse of information, methods or technology.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200" dirty="0" smtClean="0"/>
              <a:t>of the statistical production process, thus increasing efficiency and reducing costs.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GB" sz="1200" dirty="0" smtClean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GB" sz="1200" dirty="0" smtClean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200" dirty="0" smtClean="0"/>
              <a:t>including support for the easy deployment of new statistical products and the adoption of new types of statistical data sources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200" dirty="0" smtClean="0"/>
              <a:t>that provides a simple, easy to understand view of complex information, with clear definitions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1200" dirty="0" smtClean="0"/>
              <a:t>and compare with best practice in other organizations.</a:t>
            </a:r>
            <a:endParaRPr lang="en-AU" sz="12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590A94-C066-43E2-A9E6-97679CD65CB8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6440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AU"/>
              <a:t>The conceptual model is explicitly chosen to be independent of design or implementation concerns, </a:t>
            </a:r>
            <a:endParaRPr/>
          </a:p>
          <a:p>
            <a:endParaRPr/>
          </a:p>
          <a:p>
            <a:r>
              <a:rPr lang="en-AU"/>
              <a:t>The aim of a conceptual model is to express the meaning of terms and concepts used by domain experts to discuss the problem, and to find the correct relationships between different concepts.</a:t>
            </a:r>
            <a:endParaRPr/>
          </a:p>
          <a:p>
            <a:endParaRPr/>
          </a:p>
          <a:p>
            <a:r>
              <a:rPr lang="en-AU"/>
              <a:t> The conceptual model attempts to clarify the meaning of various, usually ambiguous terms, and ensure that problems with different interpretations of the terms and concepts cannot occur. </a:t>
            </a:r>
            <a:endParaRPr/>
          </a:p>
          <a:p>
            <a:endParaRPr/>
          </a:p>
          <a:p>
            <a:r>
              <a:rPr lang="en-AU"/>
              <a:t>Such differing interpretations could easily cause confusion amongst stakeholders, especially those responsible for designing and implementing a solution, where the conceptual model provides a key artifact of business understanding and clarity. </a:t>
            </a:r>
            <a:endParaRPr/>
          </a:p>
          <a:p>
            <a:endParaRPr/>
          </a:p>
          <a:p>
            <a:r>
              <a:rPr lang="en-AU"/>
              <a:t>Once the domain concepts have been modeled, the model becomes a </a:t>
            </a:r>
            <a:r>
              <a:rPr lang="en-AU" u="sng">
                <a:solidFill>
                  <a:srgbClr val="000000"/>
                </a:solidFill>
                <a:hlinkClick r:id="rId3"/>
              </a:rPr>
              <a:t>stable</a:t>
            </a:r>
            <a:r>
              <a:rPr lang="en-AU">
                <a:solidFill>
                  <a:srgbClr val="000000"/>
                </a:solidFill>
              </a:rPr>
              <a:t> basis for subsequent development of applications in the domain. The concepts of the conceptual model can be mapped into physical design or implementation constructs </a:t>
            </a:r>
            <a:endParaRPr/>
          </a:p>
          <a:p>
            <a:endParaRPr/>
          </a:p>
        </p:txBody>
      </p:sp>
      <p:sp>
        <p:nvSpPr>
          <p:cNvPr id="322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E58F3D8E-FA90-44F9-A984-616CECDE8401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13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AU" sz="1200" b="1" i="1">
                <a:solidFill>
                  <a:srgbClr val="000000"/>
                </a:solidFill>
                <a:latin typeface="+mn-lt"/>
                <a:ea typeface="+mn-ea"/>
              </a:rPr>
              <a:t>Communication - the main purpose of interoperability (GSIM?) is to exchange information</a:t>
            </a:r>
            <a:endParaRPr/>
          </a:p>
          <a:p>
            <a:r>
              <a:rPr lang="en-AU" sz="1200" b="1" i="1">
                <a:solidFill>
                  <a:srgbClr val="000000"/>
                </a:solidFill>
                <a:latin typeface="+mn-lt"/>
                <a:ea typeface="+mn-ea"/>
              </a:rPr>
              <a:t>Coordination - align activities for mutual benefit, avoiding gaps and overlaps, and thus achieve results efficiently </a:t>
            </a:r>
            <a:endParaRPr/>
          </a:p>
          <a:p>
            <a:r>
              <a:rPr lang="en-AU" sz="1200" b="1" i="1">
                <a:solidFill>
                  <a:srgbClr val="000000"/>
                </a:solidFill>
                <a:latin typeface="+mn-lt"/>
                <a:ea typeface="+mn-ea"/>
              </a:rPr>
              <a:t>Cooperation - interoperability (GSIM?) is used for obtaining mutual benefits by sharing or partitioning work.</a:t>
            </a:r>
            <a:endParaRPr/>
          </a:p>
          <a:p>
            <a:r>
              <a:rPr lang="en-AU" sz="1200" b="1" i="1">
                <a:solidFill>
                  <a:srgbClr val="000000"/>
                </a:solidFill>
                <a:latin typeface="+mn-lt"/>
                <a:ea typeface="+mn-ea"/>
              </a:rPr>
              <a:t>Collaboration - engagement to achieve results that the participants would be unable to accomplish alone - interoperability (GSIM?) is a backbone for the collaboration</a:t>
            </a:r>
            <a:endParaRPr/>
          </a:p>
          <a:p>
            <a:endParaRPr/>
          </a:p>
        </p:txBody>
      </p:sp>
      <p:sp>
        <p:nvSpPr>
          <p:cNvPr id="324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673F2F32-75EF-41A6-BC71-37BCA753B63C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AU"/>
              <a:t>NOT the aim!!</a:t>
            </a:r>
            <a:endParaRPr/>
          </a:p>
        </p:txBody>
      </p:sp>
      <p:sp>
        <p:nvSpPr>
          <p:cNvPr id="326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5D87C1B-4C22-4565-A5F5-F5B9C8D3769E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/>
              <a:t>GSIM is an umbrella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/>
              <a:t>It is a conceptual model, not an implementation model. 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AU"/>
              <a:t>It doesn’t compete with DDI and SDMX but provides a generic additional layer.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AU"/>
              <a:t>As a reference framework, GSIM Provides over-arching guidance to the development and use of statistical implementation and technology standards. GSIM is not directly tied to any particular implementation standard or technology solution.  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328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A37CAEBC-8BAC-4B6B-8FDB-B3F4B8D867D1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/>
              <a:t>Ensuring GSIM relates to existing metadata standards, such as DDI and SDMX, has also been a priority throughout its development. The involvement of experts in these standards was an important part of Sprint 2 and continues to be a priority for the detailed work during the coming months. </a:t>
            </a:r>
            <a:endParaRPr/>
          </a:p>
        </p:txBody>
      </p:sp>
      <p:sp>
        <p:nvSpPr>
          <p:cNvPr id="330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0A0387FB-11DA-4457-930D-07C73C917072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332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8B6A6EE7-DB4E-42E2-A83C-859C7D4B2533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18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AU"/>
              <a:t>Locked people in rooms</a:t>
            </a:r>
            <a:endParaRPr/>
          </a:p>
        </p:txBody>
      </p:sp>
      <p:sp>
        <p:nvSpPr>
          <p:cNvPr id="334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94C4B0B0-8D4E-4807-9307-218F74DD8145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21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336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8F9618B5-DF25-4C4E-981F-E8E43B9CD63C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22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AU"/>
              <a:t>While GSIM is a conceptual model, it can be implemented to different levels. </a:t>
            </a:r>
            <a:endParaRPr/>
          </a:p>
          <a:p>
            <a:endParaRPr/>
          </a:p>
          <a:p>
            <a:pPr>
              <a:lnSpc>
                <a:spcPct val="100000"/>
              </a:lnSpc>
            </a:pPr>
            <a:r>
              <a:rPr lang="en-AU"/>
              <a:t>As a reference framework, GSIM Provides over-arching guidance to the development and use of statistical implementation and technology standards. GSIM is not directly tied to any particular implementation standard or technology solution.  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AU"/>
              <a:t>Where GSBPM defines the statistical production process and sub-processes; GSIM defines the information associated with the statistical production process, including the flows of information, the business rules and process-related quality metrics.  GSIM can however be implemented as a standalone framework or integrated with local business process models. 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338" name="TextShape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FB331CEF-F7EA-403C-8E90-154FF522BC1D}" type="slidenum">
              <a:rPr lang="en-AU">
                <a:solidFill>
                  <a:srgbClr val="000000"/>
                </a:solidFill>
                <a:latin typeface="+mn-lt"/>
                <a:ea typeface="+mn-ea"/>
              </a:rPr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14"/>
          <a:stretch>
            <a:fillRect/>
          </a:stretch>
        </p:blipFill>
        <p:spPr>
          <a:xfrm>
            <a:off x="0" y="4744800"/>
            <a:ext cx="3592800" cy="2112840"/>
          </a:xfrm>
          <a:prstGeom prst="rect">
            <a:avLst/>
          </a:prstGeom>
        </p:spPr>
      </p:pic>
      <p:pic>
        <p:nvPicPr>
          <p:cNvPr id="8" name="Picture 6"/>
          <p:cNvPicPr/>
          <p:nvPr/>
        </p:nvPicPr>
        <p:blipFill>
          <a:blip r:embed="rId14"/>
          <a:stretch>
            <a:fillRect/>
          </a:stretch>
        </p:blipFill>
        <p:spPr>
          <a:xfrm>
            <a:off x="0" y="4744800"/>
            <a:ext cx="3592800" cy="2112840"/>
          </a:xfrm>
          <a:prstGeom prst="rect">
            <a:avLst/>
          </a:prstGeom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Calibri"/>
              </a:rPr>
              <a:t>4/12/12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9133DDC2-4413-4362-9912-88720DE7C727}" type="slidenum">
              <a:rPr lang="en-AU">
                <a:solidFill>
                  <a:srgbClr val="000000"/>
                </a:solidFill>
                <a:latin typeface="Calibri"/>
              </a:rPr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397728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/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/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/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/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/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/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/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6"/>
          <p:cNvPicPr/>
          <p:nvPr/>
        </p:nvPicPr>
        <p:blipFill>
          <a:blip r:embed="rId14"/>
          <a:stretch>
            <a:fillRect/>
          </a:stretch>
        </p:blipFill>
        <p:spPr>
          <a:xfrm>
            <a:off x="0" y="4744800"/>
            <a:ext cx="3592800" cy="2112840"/>
          </a:xfrm>
          <a:prstGeom prst="rect">
            <a:avLst/>
          </a:prstGeom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41" name="PlaceHolder 2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Calibri"/>
              </a:rPr>
              <a:t>4/12/12</a:t>
            </a:r>
            <a:endParaRPr/>
          </a:p>
        </p:txBody>
      </p:sp>
      <p:sp>
        <p:nvSpPr>
          <p:cNvPr id="42" name="PlaceHolder 3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43" name="PlaceHolder 4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9C6583A1-FA8F-43F3-844D-F850729C949E}" type="slidenum">
              <a:rPr lang="en-AU">
                <a:solidFill>
                  <a:srgbClr val="000000"/>
                </a:solidFill>
                <a:latin typeface="Calibri"/>
              </a:rPr>
              <a:t>‹#›</a:t>
            </a:fld>
            <a:endParaRPr/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397728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/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/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/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/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/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/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/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/>
          <p:cNvPicPr/>
          <p:nvPr/>
        </p:nvPicPr>
        <p:blipFill>
          <a:blip r:embed="rId14"/>
          <a:stretch>
            <a:fillRect/>
          </a:stretch>
        </p:blipFill>
        <p:spPr>
          <a:xfrm>
            <a:off x="0" y="4744800"/>
            <a:ext cx="3592800" cy="2112840"/>
          </a:xfrm>
          <a:prstGeom prst="rect">
            <a:avLst/>
          </a:prstGeom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2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3">
              <a:buFont typeface="Arial"/>
              <a:buChar char="–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Calibri"/>
              </a:rPr>
              <a:t>4/12/12</a:t>
            </a:r>
            <a:endParaRPr/>
          </a:p>
        </p:txBody>
      </p:sp>
      <p:sp>
        <p:nvSpPr>
          <p:cNvPr id="81" name="PlaceHolder 4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82" name="PlaceHolder 5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E1CC18ED-AD8F-4246-812E-8B113A6E4C45}" type="slidenum">
              <a:rPr lang="en-AU">
                <a:solidFill>
                  <a:srgbClr val="000000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6"/>
          <p:cNvPicPr/>
          <p:nvPr/>
        </p:nvPicPr>
        <p:blipFill>
          <a:blip r:embed="rId14"/>
          <a:stretch>
            <a:fillRect/>
          </a:stretch>
        </p:blipFill>
        <p:spPr>
          <a:xfrm>
            <a:off x="0" y="4744800"/>
            <a:ext cx="3592800" cy="2112840"/>
          </a:xfrm>
          <a:prstGeom prst="rect">
            <a:avLst/>
          </a:prstGeom>
        </p:spPr>
      </p:pic>
      <p:sp>
        <p:nvSpPr>
          <p:cNvPr id="116" name="PlaceHolder 1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Calibri"/>
              </a:rPr>
              <a:t>4/12/12</a:t>
            </a:r>
            <a:endParaRPr/>
          </a:p>
        </p:txBody>
      </p:sp>
      <p:sp>
        <p:nvSpPr>
          <p:cNvPr id="117" name="PlaceHolder 2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18" name="PlaceHolder 3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4C646CCB-8602-45BF-ACBF-643AC22B0AA7}" type="slidenum">
              <a:rPr lang="en-AU">
                <a:solidFill>
                  <a:srgbClr val="000000"/>
                </a:solidFill>
                <a:latin typeface="Calibri"/>
              </a:rPr>
              <a:t>‹#›</a:t>
            </a:fld>
            <a:endParaRPr/>
          </a:p>
        </p:txBody>
      </p:sp>
      <p:sp>
        <p:nvSpPr>
          <p:cNvPr id="11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r>
              <a:rPr lang="en-US"/>
              <a:t>Click to edit the title text format</a:t>
            </a:r>
            <a:endParaRPr/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397728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/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/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/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/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/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/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/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1.unece.org/stat/platform/display/metis/Generic+Statistical+Information+Model+(GSIM)" TargetMode="Externa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539640" y="1512000"/>
            <a:ext cx="8152920" cy="42861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000">
                <a:solidFill>
                  <a:srgbClr val="000000"/>
                </a:solidFill>
                <a:latin typeface="Calibri"/>
              </a:rPr>
              <a:t>Generic Statistical Information Model 
(GSIM)
</a:t>
            </a:r>
            <a:r>
              <a:rPr lang="en-US" sz="2800">
                <a:solidFill>
                  <a:srgbClr val="000000"/>
                </a:solidFill>
                <a:latin typeface="Calibri"/>
              </a:rPr>
              <a:t>Thérèse Lalor and Steven Vale 
United Nations Economic Commission for Europe (UNECE)</a:t>
            </a:r>
            <a:r>
              <a:rPr lang="en-US" sz="4000">
                <a:solidFill>
                  <a:srgbClr val="000000"/>
                </a:solidFill>
                <a:latin typeface="Calibri"/>
              </a:rPr>
              <a:t>
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/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1">
                <a:solidFill>
                  <a:srgbClr val="000000"/>
                </a:solidFill>
                <a:latin typeface="Calibri"/>
              </a:rPr>
              <a:t>The Challenges </a:t>
            </a:r>
            <a:endParaRPr/>
          </a:p>
        </p:txBody>
      </p:sp>
      <p:pic>
        <p:nvPicPr>
          <p:cNvPr id="160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1638360" y="440280"/>
            <a:ext cx="6796080" cy="4254120"/>
          </a:xfrm>
          <a:prstGeom prst="rect">
            <a:avLst/>
          </a:prstGeom>
        </p:spPr>
      </p:pic>
      <p:sp>
        <p:nvSpPr>
          <p:cNvPr id="161" name="CustomShape 2"/>
          <p:cNvSpPr/>
          <p:nvPr/>
        </p:nvSpPr>
        <p:spPr>
          <a:xfrm>
            <a:off x="5256000" y="2925000"/>
            <a:ext cx="2016000" cy="91476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AU">
                <a:solidFill>
                  <a:srgbClr val="006600"/>
                </a:solidFill>
                <a:latin typeface="Arial"/>
              </a:rPr>
              <a:t>Increasing cost &amp; difficulty of acquiring data</a:t>
            </a:r>
            <a:endParaRPr/>
          </a:p>
        </p:txBody>
      </p:sp>
      <p:sp>
        <p:nvSpPr>
          <p:cNvPr id="162" name="CustomShape 3"/>
          <p:cNvSpPr/>
          <p:nvPr/>
        </p:nvSpPr>
        <p:spPr>
          <a:xfrm>
            <a:off x="3239640" y="3153600"/>
            <a:ext cx="2016000" cy="91476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AU">
                <a:solidFill>
                  <a:srgbClr val="002060"/>
                </a:solidFill>
                <a:latin typeface="Arial"/>
              </a:rPr>
              <a:t>New competitors &amp; changing expectations</a:t>
            </a:r>
            <a:endParaRPr/>
          </a:p>
        </p:txBody>
      </p:sp>
      <p:sp>
        <p:nvSpPr>
          <p:cNvPr id="163" name="CustomShape 4"/>
          <p:cNvSpPr/>
          <p:nvPr/>
        </p:nvSpPr>
        <p:spPr>
          <a:xfrm>
            <a:off x="1007640" y="4770360"/>
            <a:ext cx="2664000" cy="64044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Arial"/>
              </a:rPr>
              <a:t>Rapid changes in the environment</a:t>
            </a:r>
            <a:endParaRPr/>
          </a:p>
        </p:txBody>
      </p:sp>
      <p:sp>
        <p:nvSpPr>
          <p:cNvPr id="164" name="CustomShape 5"/>
          <p:cNvSpPr/>
          <p:nvPr/>
        </p:nvSpPr>
        <p:spPr>
          <a:xfrm>
            <a:off x="6876360" y="4191480"/>
            <a:ext cx="2016000" cy="64044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Arial"/>
              </a:rPr>
              <a:t>Competition for skilled resources</a:t>
            </a:r>
            <a:endParaRPr/>
          </a:p>
        </p:txBody>
      </p:sp>
      <p:sp>
        <p:nvSpPr>
          <p:cNvPr id="165" name="CustomShape 6"/>
          <p:cNvSpPr/>
          <p:nvPr/>
        </p:nvSpPr>
        <p:spPr>
          <a:xfrm>
            <a:off x="3960000" y="4946400"/>
            <a:ext cx="1656000" cy="64044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AU">
                <a:solidFill>
                  <a:srgbClr val="C00000"/>
                </a:solidFill>
                <a:latin typeface="Arial"/>
              </a:rPr>
              <a:t>Reducing</a:t>
            </a:r>
            <a:endParaRPr/>
          </a:p>
          <a:p>
            <a:pPr algn="ctr">
              <a:lnSpc>
                <a:spcPct val="100000"/>
              </a:lnSpc>
            </a:pPr>
            <a:r>
              <a:rPr lang="en-AU">
                <a:solidFill>
                  <a:srgbClr val="C00000"/>
                </a:solidFill>
                <a:latin typeface="Arial"/>
              </a:rPr>
              <a:t> budget</a:t>
            </a:r>
            <a:endParaRPr/>
          </a:p>
        </p:txBody>
      </p:sp>
      <p:sp>
        <p:nvSpPr>
          <p:cNvPr id="166" name="CustomShape 7"/>
          <p:cNvSpPr/>
          <p:nvPr/>
        </p:nvSpPr>
        <p:spPr>
          <a:xfrm>
            <a:off x="7272360" y="2686680"/>
            <a:ext cx="1872000" cy="64044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AU">
                <a:solidFill>
                  <a:srgbClr val="7030A0"/>
                </a:solidFill>
                <a:latin typeface="Arial"/>
              </a:rPr>
              <a:t>Riding the big data wave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/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539640" y="1268640"/>
            <a:ext cx="8136720" cy="385740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>
                <a:solidFill>
                  <a:srgbClr val="000000"/>
                </a:solidFill>
                <a:latin typeface="Calibri"/>
              </a:rPr>
              <a:t>These challenges are too big for statistical organisations to tackle on their own.
</a:t>
            </a:r>
            <a:r>
              <a:rPr lang="en-US" sz="1600">
                <a:solidFill>
                  <a:srgbClr val="000000"/>
                </a:solidFill>
                <a:latin typeface="Calibri"/>
              </a:rPr>
              <a:t>
</a:t>
            </a:r>
            <a:r>
              <a:rPr lang="en-US" sz="4800">
                <a:solidFill>
                  <a:srgbClr val="F79646"/>
                </a:solidFill>
                <a:latin typeface="Calibri"/>
              </a:rPr>
              <a:t>We need to work together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395640" y="1340640"/>
            <a:ext cx="8352720" cy="50724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A High Level Group consisting of 10 heads of national and international statistical organizations was created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69" name="TextShape 2"/>
          <p:cNvSpPr txBox="1"/>
          <p:nvPr/>
        </p:nvSpPr>
        <p:spPr>
          <a:xfrm>
            <a:off x="467640" y="404640"/>
            <a:ext cx="813672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Response from Official Statistics</a:t>
            </a:r>
            <a:endParaRPr/>
          </a:p>
        </p:txBody>
      </p:sp>
      <p:pic>
        <p:nvPicPr>
          <p:cNvPr id="170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3655080" y="3128760"/>
            <a:ext cx="1137240" cy="891000"/>
          </a:xfrm>
          <a:prstGeom prst="rect">
            <a:avLst/>
          </a:prstGeom>
        </p:spPr>
      </p:pic>
      <p:pic>
        <p:nvPicPr>
          <p:cNvPr id="171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6814440" y="4797000"/>
            <a:ext cx="2149560" cy="623160"/>
          </a:xfrm>
          <a:prstGeom prst="rect">
            <a:avLst/>
          </a:prstGeom>
        </p:spPr>
      </p:pic>
      <p:pic>
        <p:nvPicPr>
          <p:cNvPr id="172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3636720" y="4109040"/>
            <a:ext cx="1121040" cy="972000"/>
          </a:xfrm>
          <a:prstGeom prst="rect">
            <a:avLst/>
          </a:prstGeom>
        </p:spPr>
      </p:pic>
      <p:pic>
        <p:nvPicPr>
          <p:cNvPr id="173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3636720" y="5187960"/>
            <a:ext cx="1121040" cy="1121040"/>
          </a:xfrm>
          <a:prstGeom prst="rect">
            <a:avLst/>
          </a:prstGeom>
        </p:spPr>
      </p:pic>
      <p:pic>
        <p:nvPicPr>
          <p:cNvPr id="174" name="Picture 12"/>
          <p:cNvPicPr/>
          <p:nvPr/>
        </p:nvPicPr>
        <p:blipFill>
          <a:blip r:embed="rId6"/>
          <a:stretch>
            <a:fillRect/>
          </a:stretch>
        </p:blipFill>
        <p:spPr>
          <a:xfrm>
            <a:off x="4932000" y="3933000"/>
            <a:ext cx="1868760" cy="617040"/>
          </a:xfrm>
          <a:prstGeom prst="rect">
            <a:avLst/>
          </a:prstGeom>
        </p:spPr>
      </p:pic>
      <p:pic>
        <p:nvPicPr>
          <p:cNvPr id="175" name="Picture 14"/>
          <p:cNvPicPr/>
          <p:nvPr/>
        </p:nvPicPr>
        <p:blipFill>
          <a:blip r:embed="rId7"/>
          <a:stretch>
            <a:fillRect/>
          </a:stretch>
        </p:blipFill>
        <p:spPr>
          <a:xfrm>
            <a:off x="6884280" y="3069000"/>
            <a:ext cx="1919160" cy="699480"/>
          </a:xfrm>
          <a:prstGeom prst="rect">
            <a:avLst/>
          </a:prstGeom>
        </p:spPr>
      </p:pic>
      <p:pic>
        <p:nvPicPr>
          <p:cNvPr id="176" name="Picture 16"/>
          <p:cNvPicPr/>
          <p:nvPr/>
        </p:nvPicPr>
        <p:blipFill>
          <a:blip r:embed="rId8"/>
          <a:stretch>
            <a:fillRect/>
          </a:stretch>
        </p:blipFill>
        <p:spPr>
          <a:xfrm>
            <a:off x="4916160" y="4869000"/>
            <a:ext cx="1887840" cy="432360"/>
          </a:xfrm>
          <a:prstGeom prst="rect">
            <a:avLst/>
          </a:prstGeom>
        </p:spPr>
      </p:pic>
      <p:pic>
        <p:nvPicPr>
          <p:cNvPr id="177" name="Picture 17"/>
          <p:cNvPicPr/>
          <p:nvPr/>
        </p:nvPicPr>
        <p:blipFill>
          <a:blip r:embed="rId9"/>
          <a:stretch>
            <a:fillRect/>
          </a:stretch>
        </p:blipFill>
        <p:spPr>
          <a:xfrm>
            <a:off x="4951080" y="5589360"/>
            <a:ext cx="3868920" cy="700200"/>
          </a:xfrm>
          <a:prstGeom prst="rect">
            <a:avLst/>
          </a:prstGeom>
        </p:spPr>
      </p:pic>
      <p:pic>
        <p:nvPicPr>
          <p:cNvPr id="178" name="Picture 18"/>
          <p:cNvPicPr/>
          <p:nvPr/>
        </p:nvPicPr>
        <p:blipFill>
          <a:blip r:embed="rId10"/>
          <a:stretch>
            <a:fillRect/>
          </a:stretch>
        </p:blipFill>
        <p:spPr>
          <a:xfrm>
            <a:off x="5064120" y="3069000"/>
            <a:ext cx="1392840" cy="629640"/>
          </a:xfrm>
          <a:prstGeom prst="rect">
            <a:avLst/>
          </a:prstGeom>
        </p:spPr>
      </p:pic>
      <p:pic>
        <p:nvPicPr>
          <p:cNvPr id="179" name="Picture 9"/>
          <p:cNvPicPr/>
          <p:nvPr/>
        </p:nvPicPr>
        <p:blipFill>
          <a:blip r:embed="rId11"/>
          <a:stretch>
            <a:fillRect/>
          </a:stretch>
        </p:blipFill>
        <p:spPr>
          <a:xfrm>
            <a:off x="6852960" y="4005000"/>
            <a:ext cx="1928520" cy="56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 txBox="1"/>
          <p:nvPr/>
        </p:nvSpPr>
        <p:spPr>
          <a:xfrm>
            <a:off x="539640" y="1196640"/>
            <a:ext cx="7924320" cy="489636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002060"/>
                </a:solidFill>
                <a:latin typeface="Calibri"/>
              </a:rPr>
              <a:t>Using common standards, statistics can be produced
in a more efficient way</a:t>
            </a:r>
            <a:endParaRPr/>
          </a:p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C00000"/>
                </a:solidFill>
                <a:latin typeface="Calibri"/>
              </a:rPr>
              <a:t>No domain is special!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/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Content Placeholder 3"/>
          <p:cNvPicPr/>
          <p:nvPr/>
        </p:nvPicPr>
        <p:blipFill>
          <a:blip r:embed="rId2"/>
          <a:stretch>
            <a:fillRect/>
          </a:stretch>
        </p:blipFill>
        <p:spPr>
          <a:xfrm>
            <a:off x="1907640" y="764640"/>
            <a:ext cx="5136480" cy="4525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52280" y="1340640"/>
            <a:ext cx="8762760" cy="5333760"/>
          </a:xfrm>
          <a:prstGeom prst="rect">
            <a:avLst/>
          </a:prstGeom>
        </p:spPr>
      </p:pic>
      <p:sp>
        <p:nvSpPr>
          <p:cNvPr id="183" name="CustomShape 1"/>
          <p:cNvSpPr/>
          <p:nvPr/>
        </p:nvSpPr>
        <p:spPr>
          <a:xfrm>
            <a:off x="395640" y="476640"/>
            <a:ext cx="5832360" cy="6390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3600" b="1">
                <a:solidFill>
                  <a:srgbClr val="000000"/>
                </a:solidFill>
                <a:latin typeface="Calibri"/>
              </a:rPr>
              <a:t>The GSBPM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539640" y="1989000"/>
            <a:ext cx="7776360" cy="274176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AU" sz="3600" b="1">
                <a:solidFill>
                  <a:srgbClr val="002060"/>
                </a:solidFill>
                <a:latin typeface="Calibri"/>
              </a:rPr>
              <a:t>The GSBPM is used by more than</a:t>
            </a:r>
            <a:endParaRPr/>
          </a:p>
          <a:p>
            <a:pPr algn="ctr">
              <a:lnSpc>
                <a:spcPct val="100000"/>
              </a:lnSpc>
            </a:pPr>
            <a:r>
              <a:rPr lang="en-AU" sz="3600" b="1">
                <a:solidFill>
                  <a:srgbClr val="002060"/>
                </a:solidFill>
                <a:latin typeface="Calibri"/>
              </a:rPr>
              <a:t>50 statistical organizations</a:t>
            </a:r>
            <a:endParaRPr/>
          </a:p>
          <a:p>
            <a:pPr algn="ctr">
              <a:lnSpc>
                <a:spcPct val="100000"/>
              </a:lnSpc>
            </a:pPr>
            <a:r>
              <a:rPr lang="en-AU" sz="3600" b="1">
                <a:solidFill>
                  <a:srgbClr val="002060"/>
                </a:solidFill>
                <a:latin typeface="Calibri"/>
              </a:rPr>
              <a:t>worldwide to manage and</a:t>
            </a:r>
            <a:endParaRPr/>
          </a:p>
          <a:p>
            <a:pPr algn="ctr">
              <a:lnSpc>
                <a:spcPct val="100000"/>
              </a:lnSpc>
            </a:pPr>
            <a:r>
              <a:rPr lang="en-AU" sz="3600" b="1">
                <a:solidFill>
                  <a:srgbClr val="002060"/>
                </a:solidFill>
                <a:latin typeface="Calibri"/>
              </a:rPr>
              <a:t>document statistical production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645306" y="548680"/>
            <a:ext cx="7686675" cy="9906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GSIM is complementary to GSBPM</a:t>
            </a:r>
            <a:endParaRPr lang="en-GB" sz="4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035" name="Content Placeholder 2"/>
          <p:cNvSpPr>
            <a:spLocks noGrp="1"/>
          </p:cNvSpPr>
          <p:nvPr>
            <p:ph idx="4294967295"/>
          </p:nvPr>
        </p:nvSpPr>
        <p:spPr>
          <a:xfrm>
            <a:off x="323528" y="1547780"/>
            <a:ext cx="8352928" cy="1944216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>
                <a:solidFill>
                  <a:schemeClr val="tx2">
                    <a:lumMod val="75000"/>
                  </a:schemeClr>
                </a:solidFill>
              </a:rPr>
              <a:t>Another model is needed to describe information objects and flows within the statistical business process</a:t>
            </a:r>
          </a:p>
          <a:p>
            <a:endParaRPr lang="en-US" dirty="0" smtClean="0">
              <a:solidFill>
                <a:srgbClr val="002060"/>
              </a:solidFill>
            </a:endParaRPr>
          </a:p>
        </p:txBody>
      </p:sp>
      <p:pic>
        <p:nvPicPr>
          <p:cNvPr id="4" name="Picture 3" descr="GSIM and GSBPM"/>
          <p:cNvPicPr/>
          <p:nvPr/>
        </p:nvPicPr>
        <p:blipFill>
          <a:blip r:embed="rId3"/>
          <a:srcRect t="40625"/>
          <a:stretch>
            <a:fillRect/>
          </a:stretch>
        </p:blipFill>
        <p:spPr bwMode="auto">
          <a:xfrm>
            <a:off x="539552" y="3438395"/>
            <a:ext cx="8136904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5782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395640" y="1845000"/>
            <a:ext cx="6057720" cy="4691520"/>
          </a:xfrm>
          <a:prstGeom prst="rect">
            <a:avLst/>
          </a:prstGeom>
        </p:spPr>
      </p:pic>
      <p:sp>
        <p:nvSpPr>
          <p:cNvPr id="189" name="TextShape 1"/>
          <p:cNvSpPr txBox="1"/>
          <p:nvPr/>
        </p:nvSpPr>
        <p:spPr>
          <a:xfrm>
            <a:off x="357120" y="857160"/>
            <a:ext cx="7286400" cy="8568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558ED5"/>
                </a:solidFill>
                <a:latin typeface="Calibri"/>
              </a:rPr>
              <a:t>Introducing the GSIM</a:t>
            </a:r>
            <a:endParaRPr/>
          </a:p>
        </p:txBody>
      </p:sp>
      <p:sp>
        <p:nvSpPr>
          <p:cNvPr id="190" name="CustomShape 2"/>
          <p:cNvSpPr/>
          <p:nvPr/>
        </p:nvSpPr>
        <p:spPr>
          <a:xfrm>
            <a:off x="6929280" y="2428920"/>
            <a:ext cx="1928520" cy="118764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AU" sz="3600" b="1">
                <a:solidFill>
                  <a:srgbClr val="17375E"/>
                </a:solidFill>
                <a:latin typeface="Calibri"/>
              </a:rPr>
              <a:t>You are here</a:t>
            </a:r>
            <a:endParaRPr/>
          </a:p>
        </p:txBody>
      </p:sp>
      <p:sp>
        <p:nvSpPr>
          <p:cNvPr id="191" name="CustomShape 3"/>
          <p:cNvSpPr/>
          <p:nvPr/>
        </p:nvSpPr>
        <p:spPr>
          <a:xfrm>
            <a:off x="3786120" y="2571840"/>
            <a:ext cx="1642680" cy="1356840"/>
          </a:xfrm>
          <a:prstGeom prst="ellipse">
            <a:avLst/>
          </a:prstGeom>
          <a:ln w="76320">
            <a:solidFill>
              <a:srgbClr val="FF0000"/>
            </a:solidFill>
            <a:round/>
          </a:ln>
        </p:spPr>
      </p:sp>
      <p:sp>
        <p:nvSpPr>
          <p:cNvPr id="192" name="CustomShape 4"/>
          <p:cNvSpPr/>
          <p:nvPr/>
        </p:nvSpPr>
        <p:spPr>
          <a:xfrm flipH="1">
            <a:off x="5428800" y="2428920"/>
            <a:ext cx="1231432" cy="593820"/>
          </a:xfrm>
          <a:prstGeom prst="straightConnector1">
            <a:avLst/>
          </a:prstGeom>
          <a:ln w="76320">
            <a:solidFill>
              <a:srgbClr val="FF0000"/>
            </a:solidFill>
            <a:round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What is GSIM?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268413"/>
            <a:ext cx="8229600" cy="4525962"/>
          </a:xfrm>
          <a:prstGeom prst="rect">
            <a:avLst/>
          </a:prstGeo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AU" sz="4000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AU" sz="4000" dirty="0" smtClean="0">
                <a:solidFill>
                  <a:schemeClr val="tx2">
                    <a:lumMod val="75000"/>
                  </a:schemeClr>
                </a:solidFill>
              </a:rPr>
              <a:t>A </a:t>
            </a:r>
            <a:r>
              <a:rPr lang="en-AU" sz="4000" dirty="0">
                <a:solidFill>
                  <a:schemeClr val="tx2">
                    <a:lumMod val="75000"/>
                  </a:schemeClr>
                </a:solidFill>
              </a:rPr>
              <a:t>reference </a:t>
            </a:r>
            <a:r>
              <a:rPr lang="en-AU" sz="4000" dirty="0" smtClean="0">
                <a:solidFill>
                  <a:schemeClr val="tx2">
                    <a:lumMod val="75000"/>
                  </a:schemeClr>
                </a:solidFill>
              </a:rPr>
              <a:t>framework of </a:t>
            </a:r>
            <a:r>
              <a:rPr lang="en-AU" sz="4000" dirty="0">
                <a:solidFill>
                  <a:schemeClr val="tx2">
                    <a:lumMod val="75000"/>
                  </a:schemeClr>
                </a:solidFill>
              </a:rPr>
              <a:t>information </a:t>
            </a:r>
            <a:r>
              <a:rPr lang="en-AU" sz="4000" dirty="0" smtClean="0">
                <a:solidFill>
                  <a:schemeClr val="tx2">
                    <a:lumMod val="75000"/>
                  </a:schemeClr>
                </a:solidFill>
              </a:rPr>
              <a:t>objects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AU" sz="4000" dirty="0" smtClean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AU" sz="4000" dirty="0" smtClean="0">
                <a:solidFill>
                  <a:schemeClr val="tx2">
                    <a:lumMod val="75000"/>
                  </a:schemeClr>
                </a:solidFill>
              </a:rPr>
              <a:t>It sets out definitions, attributes and relationships regarding information objects</a:t>
            </a:r>
            <a:br>
              <a:rPr lang="en-AU" sz="4000" dirty="0" smtClean="0">
                <a:solidFill>
                  <a:schemeClr val="tx2">
                    <a:lumMod val="75000"/>
                  </a:schemeClr>
                </a:solidFill>
              </a:rPr>
            </a:br>
            <a:endParaRPr lang="en-AU" sz="4000" dirty="0" smtClean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AU" sz="4000" dirty="0" smtClean="0">
                <a:solidFill>
                  <a:schemeClr val="tx2">
                    <a:lumMod val="75000"/>
                  </a:schemeClr>
                </a:solidFill>
              </a:rPr>
              <a:t>It aligns with relevant standards such as DDI and SDMX</a:t>
            </a:r>
            <a:br>
              <a:rPr lang="en-AU" sz="4000" dirty="0" smtClean="0">
                <a:solidFill>
                  <a:schemeClr val="tx2">
                    <a:lumMod val="75000"/>
                  </a:schemeClr>
                </a:solidFill>
              </a:rPr>
            </a:br>
            <a:endParaRPr lang="en-AU" sz="4000" dirty="0" smtClean="0">
              <a:solidFill>
                <a:schemeClr val="tx2">
                  <a:lumMod val="7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GB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1E3C568-D3A4-465A-84DC-51831EECC4C8}" type="slidenum">
              <a:rPr lang="en-AU"/>
              <a:pPr>
                <a:defRPr/>
              </a:pPr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607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AU" sz="4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Purposes of GSIM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pPr marL="609600" indent="-609600"/>
            <a:r>
              <a:rPr lang="en-GB" sz="2800" dirty="0" smtClean="0">
                <a:solidFill>
                  <a:schemeClr val="tx2">
                    <a:lumMod val="75000"/>
                  </a:schemeClr>
                </a:solidFill>
              </a:rPr>
              <a:t>Improve communication </a:t>
            </a:r>
          </a:p>
          <a:p>
            <a:pPr marL="609600" indent="-609600"/>
            <a:r>
              <a:rPr lang="en-GB" sz="2800" dirty="0" smtClean="0">
                <a:solidFill>
                  <a:schemeClr val="tx2">
                    <a:lumMod val="75000"/>
                  </a:schemeClr>
                </a:solidFill>
              </a:rPr>
              <a:t>Generate economies of scale </a:t>
            </a:r>
          </a:p>
          <a:p>
            <a:pPr marL="609600" indent="-609600"/>
            <a:r>
              <a:rPr lang="en-GB" sz="2800" dirty="0" smtClean="0">
                <a:solidFill>
                  <a:schemeClr val="tx2">
                    <a:lumMod val="75000"/>
                  </a:schemeClr>
                </a:solidFill>
              </a:rPr>
              <a:t>Enable greater automation </a:t>
            </a:r>
          </a:p>
          <a:p>
            <a:pPr marL="609600" indent="-609600"/>
            <a:r>
              <a:rPr lang="en-GB" sz="2800" dirty="0" smtClean="0">
                <a:solidFill>
                  <a:schemeClr val="tx2">
                    <a:lumMod val="75000"/>
                  </a:schemeClr>
                </a:solidFill>
              </a:rPr>
              <a:t>Provide a basis for flexibility and innovation</a:t>
            </a:r>
          </a:p>
          <a:p>
            <a:pPr marL="609600" indent="-609600"/>
            <a:r>
              <a:rPr lang="en-GB" sz="2800" dirty="0" smtClean="0">
                <a:solidFill>
                  <a:schemeClr val="tx2">
                    <a:lumMod val="75000"/>
                  </a:schemeClr>
                </a:solidFill>
              </a:rPr>
              <a:t>Build staff capability by using GSIM as a teaching aid </a:t>
            </a:r>
          </a:p>
          <a:p>
            <a:pPr marL="609600" indent="-609600"/>
            <a:r>
              <a:rPr lang="en-GB" sz="2800" dirty="0" smtClean="0">
                <a:solidFill>
                  <a:schemeClr val="tx2">
                    <a:lumMod val="75000"/>
                  </a:schemeClr>
                </a:solidFill>
              </a:rPr>
              <a:t>Validate existing information systems </a:t>
            </a:r>
            <a:endParaRPr lang="en-AU" sz="2800" dirty="0" smtClean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99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Shape 1"/>
          <p:cNvSpPr txBox="1"/>
          <p:nvPr/>
        </p:nvSpPr>
        <p:spPr>
          <a:xfrm>
            <a:off x="395640" y="332640"/>
            <a:ext cx="8362800" cy="576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558ED5"/>
                </a:solidFill>
                <a:latin typeface="Calibri"/>
              </a:rPr>
              <a:t>GSIM is a conceptual model: 
It is a new way of thinking for statistical organizations</a:t>
            </a:r>
            <a:r>
              <a:rPr lang="en-US" sz="4400">
                <a:solidFill>
                  <a:srgbClr val="002060"/>
                </a:solidFill>
                <a:latin typeface="Calibri"/>
              </a:rPr>
              <a:t>
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GSIM enables:</a:t>
            </a:r>
            <a:endParaRPr/>
          </a:p>
        </p:txBody>
      </p:sp>
      <p:sp>
        <p:nvSpPr>
          <p:cNvPr id="200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Communication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Coordination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Cooperation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Collaboration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755640" y="332640"/>
            <a:ext cx="8061120" cy="460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3204000" y="44640"/>
            <a:ext cx="5760360" cy="5892120"/>
          </a:xfrm>
          <a:prstGeom prst="rect">
            <a:avLst/>
          </a:prstGeom>
        </p:spPr>
      </p:pic>
      <p:sp>
        <p:nvSpPr>
          <p:cNvPr id="203" name="CustomShape 1"/>
          <p:cNvSpPr/>
          <p:nvPr/>
        </p:nvSpPr>
        <p:spPr>
          <a:xfrm>
            <a:off x="2988000" y="4293000"/>
            <a:ext cx="266400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Calibri"/>
              </a:rPr>
              <a:t>Other relevant standards</a:t>
            </a:r>
            <a:endParaRPr/>
          </a:p>
        </p:txBody>
      </p:sp>
      <p:sp>
        <p:nvSpPr>
          <p:cNvPr id="204" name="CustomShape 2"/>
          <p:cNvSpPr/>
          <p:nvPr/>
        </p:nvSpPr>
        <p:spPr>
          <a:xfrm>
            <a:off x="6156000" y="5085360"/>
            <a:ext cx="223200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Calibri"/>
              </a:rPr>
              <a:t>Geospatial standards</a:t>
            </a:r>
            <a:endParaRPr/>
          </a:p>
        </p:txBody>
      </p:sp>
      <p:sp>
        <p:nvSpPr>
          <p:cNvPr id="205" name="CustomShape 3"/>
          <p:cNvSpPr/>
          <p:nvPr/>
        </p:nvSpPr>
        <p:spPr>
          <a:xfrm>
            <a:off x="4771080" y="3022920"/>
            <a:ext cx="66456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Calibri"/>
              </a:rPr>
              <a:t>DDI</a:t>
            </a:r>
            <a:endParaRPr/>
          </a:p>
        </p:txBody>
      </p:sp>
      <p:sp>
        <p:nvSpPr>
          <p:cNvPr id="206" name="CustomShape 4"/>
          <p:cNvSpPr/>
          <p:nvPr/>
        </p:nvSpPr>
        <p:spPr>
          <a:xfrm>
            <a:off x="6660360" y="3645000"/>
            <a:ext cx="187200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>
                <a:solidFill>
                  <a:srgbClr val="000000"/>
                </a:solidFill>
                <a:latin typeface="Calibri"/>
              </a:rPr>
              <a:t>SDMX</a:t>
            </a:r>
            <a:endParaRPr/>
          </a:p>
        </p:txBody>
      </p:sp>
      <p:sp>
        <p:nvSpPr>
          <p:cNvPr id="207" name="CustomShape 5"/>
          <p:cNvSpPr/>
          <p:nvPr/>
        </p:nvSpPr>
        <p:spPr>
          <a:xfrm>
            <a:off x="4572000" y="764640"/>
            <a:ext cx="3816000" cy="14310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8800">
                <a:solidFill>
                  <a:srgbClr val="FFFFFF"/>
                </a:solidFill>
                <a:latin typeface="Calibri"/>
              </a:rPr>
              <a:t>GSIM</a:t>
            </a:r>
            <a:endParaRPr/>
          </a:p>
        </p:txBody>
      </p:sp>
      <p:sp>
        <p:nvSpPr>
          <p:cNvPr id="208" name="CustomShape 6"/>
          <p:cNvSpPr/>
          <p:nvPr/>
        </p:nvSpPr>
        <p:spPr>
          <a:xfrm>
            <a:off x="2404800" y="597600"/>
            <a:ext cx="863640" cy="1583640"/>
          </a:xfrm>
          <a:prstGeom prst="leftBrace">
            <a:avLst>
              <a:gd name="adj1" fmla="val 8333"/>
              <a:gd name="adj2" fmla="val 50000"/>
            </a:avLst>
          </a:prstGeom>
          <a:ln w="9360">
            <a:solidFill>
              <a:srgbClr val="000000"/>
            </a:solidFill>
            <a:round/>
          </a:ln>
        </p:spPr>
      </p:sp>
      <p:sp>
        <p:nvSpPr>
          <p:cNvPr id="209" name="CustomShape 7"/>
          <p:cNvSpPr/>
          <p:nvPr/>
        </p:nvSpPr>
        <p:spPr>
          <a:xfrm>
            <a:off x="2339640" y="2637000"/>
            <a:ext cx="936000" cy="2817360"/>
          </a:xfrm>
          <a:prstGeom prst="leftBrace">
            <a:avLst>
              <a:gd name="adj1" fmla="val 8333"/>
              <a:gd name="adj2" fmla="val 50000"/>
            </a:avLst>
          </a:prstGeom>
          <a:ln w="9360">
            <a:solidFill>
              <a:srgbClr val="000000"/>
            </a:solidFill>
            <a:round/>
          </a:ln>
        </p:spPr>
      </p:sp>
      <p:sp>
        <p:nvSpPr>
          <p:cNvPr id="210" name="CustomShape 8"/>
          <p:cNvSpPr/>
          <p:nvPr/>
        </p:nvSpPr>
        <p:spPr>
          <a:xfrm>
            <a:off x="251640" y="887760"/>
            <a:ext cx="2296800" cy="94356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AU" sz="2800">
                <a:solidFill>
                  <a:srgbClr val="000000"/>
                </a:solidFill>
                <a:latin typeface="Calibri"/>
              </a:rPr>
              <a:t>Conceptual model</a:t>
            </a:r>
            <a:endParaRPr/>
          </a:p>
        </p:txBody>
      </p:sp>
      <p:sp>
        <p:nvSpPr>
          <p:cNvPr id="211" name="CustomShape 9"/>
          <p:cNvSpPr/>
          <p:nvPr/>
        </p:nvSpPr>
        <p:spPr>
          <a:xfrm>
            <a:off x="107640" y="3483000"/>
            <a:ext cx="2836440" cy="94356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800">
                <a:solidFill>
                  <a:srgbClr val="000000"/>
                </a:solidFill>
                <a:latin typeface="Calibri"/>
              </a:rPr>
              <a:t>Implementation</a:t>
            </a:r>
            <a:endParaRPr/>
          </a:p>
          <a:p>
            <a:pPr algn="ctr">
              <a:lnSpc>
                <a:spcPct val="100000"/>
              </a:lnSpc>
            </a:pPr>
            <a:r>
              <a:rPr lang="en-AU" sz="2800">
                <a:solidFill>
                  <a:srgbClr val="000000"/>
                </a:solidFill>
                <a:latin typeface="Calibri"/>
              </a:rPr>
              <a:t>standards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108000" y="260280"/>
            <a:ext cx="8424360" cy="6597360"/>
          </a:xfrm>
          <a:prstGeom prst="rect">
            <a:avLst/>
          </a:prstGeom>
        </p:spPr>
      </p:pic>
      <p:sp>
        <p:nvSpPr>
          <p:cNvPr id="213" name="TextShape 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F4458490-3BA9-4293-BB86-C013F192B240}" type="slidenum">
              <a:rPr lang="en-AU">
                <a:solidFill>
                  <a:srgbClr val="000000"/>
                </a:solidFill>
                <a:latin typeface="Calibri"/>
              </a:rPr>
              <a:t>17</a:t>
            </a:fld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</p:spPr>
      </p:sp>
      <p:sp>
        <p:nvSpPr>
          <p:cNvPr id="215" name="CustomShape 2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</p:spPr>
      </p:sp>
      <p:pic>
        <p:nvPicPr>
          <p:cNvPr id="216" name="Picture 85"/>
          <p:cNvPicPr/>
          <p:nvPr/>
        </p:nvPicPr>
        <p:blipFill>
          <a:blip r:embed="rId3"/>
          <a:stretch>
            <a:fillRect/>
          </a:stretch>
        </p:blipFill>
        <p:spPr>
          <a:xfrm>
            <a:off x="2366280" y="836640"/>
            <a:ext cx="4723920" cy="4723920"/>
          </a:xfrm>
          <a:prstGeom prst="rect">
            <a:avLst/>
          </a:prstGeom>
        </p:spPr>
      </p:pic>
      <p:sp>
        <p:nvSpPr>
          <p:cNvPr id="217" name="CustomShape 3"/>
          <p:cNvSpPr/>
          <p:nvPr/>
        </p:nvSpPr>
        <p:spPr>
          <a:xfrm>
            <a:off x="2747520" y="1141560"/>
            <a:ext cx="1447560" cy="51696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AU" sz="2800">
                <a:solidFill>
                  <a:srgbClr val="000000"/>
                </a:solidFill>
                <a:latin typeface="Calibri"/>
              </a:rPr>
              <a:t>Business</a:t>
            </a:r>
            <a:endParaRPr/>
          </a:p>
        </p:txBody>
      </p:sp>
      <p:sp>
        <p:nvSpPr>
          <p:cNvPr id="218" name="CustomShape 4"/>
          <p:cNvSpPr/>
          <p:nvPr/>
        </p:nvSpPr>
        <p:spPr>
          <a:xfrm>
            <a:off x="4957200" y="1141560"/>
            <a:ext cx="1980720" cy="51696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AU" sz="2800">
                <a:solidFill>
                  <a:srgbClr val="000000"/>
                </a:solidFill>
                <a:latin typeface="Calibri"/>
              </a:rPr>
              <a:t>Production</a:t>
            </a:r>
            <a:endParaRPr/>
          </a:p>
        </p:txBody>
      </p:sp>
      <p:sp>
        <p:nvSpPr>
          <p:cNvPr id="219" name="CustomShape 5"/>
          <p:cNvSpPr/>
          <p:nvPr/>
        </p:nvSpPr>
        <p:spPr>
          <a:xfrm>
            <a:off x="5185800" y="4722840"/>
            <a:ext cx="1752120" cy="51696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AU" sz="2800">
                <a:solidFill>
                  <a:srgbClr val="000000"/>
                </a:solidFill>
                <a:latin typeface="Calibri"/>
              </a:rPr>
              <a:t>Concepts</a:t>
            </a:r>
            <a:endParaRPr/>
          </a:p>
        </p:txBody>
      </p:sp>
      <p:sp>
        <p:nvSpPr>
          <p:cNvPr id="220" name="CustomShape 6"/>
          <p:cNvSpPr/>
          <p:nvPr/>
        </p:nvSpPr>
        <p:spPr>
          <a:xfrm>
            <a:off x="2608920" y="4722840"/>
            <a:ext cx="2133360" cy="51696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AU" sz="2800">
                <a:solidFill>
                  <a:srgbClr val="000000"/>
                </a:solidFill>
                <a:latin typeface="Calibri"/>
              </a:rPr>
              <a:t>Structures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49400"/>
            <a:ext cx="9143640" cy="655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41"/>
          <p:cNvSpPr/>
          <p:nvPr/>
        </p:nvSpPr>
        <p:spPr>
          <a:xfrm>
            <a:off x="151900" y="4963001"/>
            <a:ext cx="3700020" cy="1612518"/>
          </a:xfrm>
          <a:prstGeom prst="rect">
            <a:avLst/>
          </a:prstGeom>
          <a:solidFill>
            <a:srgbClr val="FFFFCC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9" name="Rectangle 98"/>
          <p:cNvSpPr/>
          <p:nvPr/>
        </p:nvSpPr>
        <p:spPr>
          <a:xfrm>
            <a:off x="137729" y="404664"/>
            <a:ext cx="8682743" cy="1332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0" name="Rectangle 139"/>
          <p:cNvSpPr/>
          <p:nvPr/>
        </p:nvSpPr>
        <p:spPr>
          <a:xfrm>
            <a:off x="6804248" y="404664"/>
            <a:ext cx="2016224" cy="61850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0" name="Rectangle 99"/>
          <p:cNvSpPr/>
          <p:nvPr/>
        </p:nvSpPr>
        <p:spPr>
          <a:xfrm>
            <a:off x="6516215" y="476672"/>
            <a:ext cx="711173" cy="1260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1" name="Rectangle 140"/>
          <p:cNvSpPr/>
          <p:nvPr/>
        </p:nvSpPr>
        <p:spPr>
          <a:xfrm>
            <a:off x="137730" y="1772816"/>
            <a:ext cx="3702633" cy="3141100"/>
          </a:xfrm>
          <a:prstGeom prst="rect">
            <a:avLst/>
          </a:prstGeom>
          <a:solidFill>
            <a:schemeClr val="accent3">
              <a:lumMod val="40000"/>
              <a:lumOff val="60000"/>
              <a:alpha val="2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5" name="Snip Same Side Corner Rectangle 84"/>
          <p:cNvSpPr/>
          <p:nvPr/>
        </p:nvSpPr>
        <p:spPr>
          <a:xfrm rot="5400000">
            <a:off x="2913870" y="2741093"/>
            <a:ext cx="4816874" cy="2880320"/>
          </a:xfrm>
          <a:prstGeom prst="rect">
            <a:avLst/>
          </a:prstGeom>
          <a:solidFill>
            <a:schemeClr val="accent2">
              <a:lumMod val="40000"/>
              <a:lumOff val="60000"/>
              <a:alpha val="2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5" name="Rectangle 114"/>
          <p:cNvSpPr/>
          <p:nvPr/>
        </p:nvSpPr>
        <p:spPr>
          <a:xfrm>
            <a:off x="954798" y="2238488"/>
            <a:ext cx="2143152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cap="none" spc="0" dirty="0" smtClean="0">
                <a:ln w="12700">
                  <a:noFill/>
                  <a:prstDash val="solid"/>
                </a:ln>
                <a:solidFill>
                  <a:schemeClr val="bg1">
                    <a:lumMod val="75000"/>
                    <a:alpha val="2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CONCEPTS</a:t>
            </a:r>
            <a:endParaRPr lang="en-US" sz="3500" b="1" cap="none" spc="0" dirty="0">
              <a:ln w="12700">
                <a:noFill/>
                <a:prstDash val="solid"/>
              </a:ln>
              <a:solidFill>
                <a:schemeClr val="bg1">
                  <a:lumMod val="75000"/>
                  <a:alpha val="2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3995936" y="5085184"/>
            <a:ext cx="2732864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cap="none" spc="0" dirty="0" smtClean="0">
                <a:ln w="12700">
                  <a:noFill/>
                  <a:prstDash val="solid"/>
                </a:ln>
                <a:solidFill>
                  <a:schemeClr val="bg1">
                    <a:lumMod val="75000"/>
                    <a:alpha val="2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PRODUCTION</a:t>
            </a:r>
            <a:endParaRPr lang="en-US" sz="3500" b="1" cap="none" spc="0" dirty="0">
              <a:ln w="12700">
                <a:noFill/>
                <a:prstDash val="solid"/>
              </a:ln>
              <a:solidFill>
                <a:schemeClr val="bg1">
                  <a:lumMod val="75000"/>
                  <a:alpha val="2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814907" y="5044837"/>
            <a:ext cx="1994905" cy="630942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cap="none" spc="0" dirty="0" smtClean="0">
                <a:ln w="12700">
                  <a:noFill/>
                  <a:prstDash val="solid"/>
                </a:ln>
                <a:solidFill>
                  <a:schemeClr val="bg1">
                    <a:lumMod val="75000"/>
                    <a:alpha val="2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BUSINESS</a:t>
            </a:r>
            <a:endParaRPr lang="en-US" sz="3500" b="1" cap="none" spc="0" dirty="0">
              <a:ln w="12700">
                <a:noFill/>
                <a:prstDash val="solid"/>
              </a:ln>
              <a:solidFill>
                <a:schemeClr val="bg1">
                  <a:lumMod val="75000"/>
                  <a:alpha val="2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678798" y="5057745"/>
            <a:ext cx="2597058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dirty="0" smtClean="0">
                <a:ln w="12700">
                  <a:noFill/>
                  <a:prstDash val="solid"/>
                </a:ln>
                <a:solidFill>
                  <a:schemeClr val="bg1">
                    <a:lumMod val="75000"/>
                    <a:alpha val="3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STRUCTURES</a:t>
            </a:r>
            <a:endParaRPr lang="en-US" sz="3500" b="1" cap="none" spc="0" dirty="0">
              <a:ln w="12700">
                <a:noFill/>
                <a:prstDash val="solid"/>
              </a:ln>
              <a:solidFill>
                <a:schemeClr val="bg1">
                  <a:lumMod val="75000"/>
                  <a:alpha val="3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1640990" y="620688"/>
            <a:ext cx="770770" cy="4680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Statistical Need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161270" y="620688"/>
            <a:ext cx="770770" cy="4680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Business Case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>
            <a:spLocks noChangeAspect="1"/>
          </p:cNvSpPr>
          <p:nvPr/>
        </p:nvSpPr>
        <p:spPr>
          <a:xfrm>
            <a:off x="2865126" y="3032956"/>
            <a:ext cx="770770" cy="4680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Population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>
            <a:spLocks noChangeAspect="1"/>
          </p:cNvSpPr>
          <p:nvPr/>
        </p:nvSpPr>
        <p:spPr>
          <a:xfrm>
            <a:off x="323528" y="3032956"/>
            <a:ext cx="770770" cy="4680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Concept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>
            <a:spLocks noChangeAspect="1"/>
          </p:cNvSpPr>
          <p:nvPr/>
        </p:nvSpPr>
        <p:spPr>
          <a:xfrm>
            <a:off x="5868144" y="1088740"/>
            <a:ext cx="770770" cy="4680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Statistical Program</a:t>
            </a:r>
          </a:p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Design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>
            <a:spLocks noChangeAspect="1"/>
          </p:cNvSpPr>
          <p:nvPr/>
        </p:nvSpPr>
        <p:spPr>
          <a:xfrm>
            <a:off x="4932040" y="1333509"/>
            <a:ext cx="566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changes </a:t>
            </a:r>
          </a:p>
          <a:p>
            <a:r>
              <a:rPr lang="en-NZ" sz="800" dirty="0" smtClean="0"/>
              <a:t>design of</a:t>
            </a:r>
            <a:endParaRPr lang="en-NZ" sz="800" dirty="0"/>
          </a:p>
        </p:txBody>
      </p:sp>
      <p:sp>
        <p:nvSpPr>
          <p:cNvPr id="15" name="Rectangle 14"/>
          <p:cNvSpPr>
            <a:spLocks noChangeAspect="1"/>
          </p:cNvSpPr>
          <p:nvPr/>
        </p:nvSpPr>
        <p:spPr>
          <a:xfrm>
            <a:off x="7911464" y="1088740"/>
            <a:ext cx="770770" cy="4680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Statistical Program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>
            <a:spLocks noChangeAspect="1"/>
          </p:cNvSpPr>
          <p:nvPr/>
        </p:nvSpPr>
        <p:spPr>
          <a:xfrm>
            <a:off x="7911463" y="3861048"/>
            <a:ext cx="798955" cy="4680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Statistical Activity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50086" y="1340768"/>
            <a:ext cx="3289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has</a:t>
            </a:r>
            <a:endParaRPr lang="en-NZ" sz="800" dirty="0"/>
          </a:p>
        </p:txBody>
      </p:sp>
      <p:cxnSp>
        <p:nvCxnSpPr>
          <p:cNvPr id="20" name="Straight Arrow Connector 19"/>
          <p:cNvCxnSpPr>
            <a:cxnSpLocks noChangeAspect="1"/>
            <a:stCxn id="15" idx="1"/>
            <a:endCxn id="12" idx="3"/>
          </p:cNvCxnSpPr>
          <p:nvPr/>
        </p:nvCxnSpPr>
        <p:spPr>
          <a:xfrm flipH="1">
            <a:off x="6638914" y="1322766"/>
            <a:ext cx="12725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5" idx="2"/>
          </p:cNvCxnSpPr>
          <p:nvPr/>
        </p:nvCxnSpPr>
        <p:spPr>
          <a:xfrm>
            <a:off x="8296849" y="1556792"/>
            <a:ext cx="14092" cy="2304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3307" y="3068960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includes</a:t>
            </a:r>
            <a:endParaRPr lang="en-NZ" sz="800" dirty="0"/>
          </a:p>
        </p:txBody>
      </p:sp>
      <p:sp>
        <p:nvSpPr>
          <p:cNvPr id="23" name="Rectangle 22"/>
          <p:cNvSpPr>
            <a:spLocks noChangeAspect="1"/>
          </p:cNvSpPr>
          <p:nvPr/>
        </p:nvSpPr>
        <p:spPr>
          <a:xfrm>
            <a:off x="7926150" y="5769260"/>
            <a:ext cx="770770" cy="4680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Data Channel</a:t>
            </a:r>
            <a:endParaRPr lang="en-NZ" sz="800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/>
          <p:cNvCxnSpPr>
            <a:cxnSpLocks noChangeAspect="1"/>
            <a:endCxn id="23" idx="0"/>
          </p:cNvCxnSpPr>
          <p:nvPr/>
        </p:nvCxnSpPr>
        <p:spPr>
          <a:xfrm>
            <a:off x="8310941" y="4329100"/>
            <a:ext cx="594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>
            <a:spLocks noChangeAspect="1"/>
          </p:cNvSpPr>
          <p:nvPr/>
        </p:nvSpPr>
        <p:spPr>
          <a:xfrm>
            <a:off x="8142174" y="4437692"/>
            <a:ext cx="3289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has</a:t>
            </a:r>
            <a:endParaRPr lang="en-NZ" sz="800" dirty="0"/>
          </a:p>
        </p:txBody>
      </p:sp>
      <p:sp>
        <p:nvSpPr>
          <p:cNvPr id="26" name="Rectangle 25"/>
          <p:cNvSpPr>
            <a:spLocks noChangeAspect="1"/>
          </p:cNvSpPr>
          <p:nvPr/>
        </p:nvSpPr>
        <p:spPr>
          <a:xfrm>
            <a:off x="2820244" y="5769260"/>
            <a:ext cx="770770" cy="468052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Resource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>
            <a:spLocks noChangeAspect="1"/>
          </p:cNvSpPr>
          <p:nvPr/>
        </p:nvSpPr>
        <p:spPr>
          <a:xfrm>
            <a:off x="7040576" y="5791093"/>
            <a:ext cx="3706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uses</a:t>
            </a:r>
            <a:endParaRPr lang="en-NZ" sz="800" dirty="0"/>
          </a:p>
        </p:txBody>
      </p:sp>
      <p:sp>
        <p:nvSpPr>
          <p:cNvPr id="28" name="Rectangle 27"/>
          <p:cNvSpPr>
            <a:spLocks noChangeAspect="1"/>
          </p:cNvSpPr>
          <p:nvPr/>
        </p:nvSpPr>
        <p:spPr>
          <a:xfrm>
            <a:off x="5868144" y="3861048"/>
            <a:ext cx="770770" cy="4680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Process Step</a:t>
            </a:r>
          </a:p>
        </p:txBody>
      </p:sp>
      <p:sp>
        <p:nvSpPr>
          <p:cNvPr id="29" name="Rectangle 28"/>
          <p:cNvSpPr>
            <a:spLocks noChangeAspect="1"/>
          </p:cNvSpPr>
          <p:nvPr/>
        </p:nvSpPr>
        <p:spPr>
          <a:xfrm>
            <a:off x="1496974" y="5769260"/>
            <a:ext cx="770770" cy="468052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Data Set</a:t>
            </a:r>
            <a:endParaRPr lang="en-NZ" sz="800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cxnSpLocks noChangeAspect="1"/>
            <a:endCxn id="28" idx="3"/>
          </p:cNvCxnSpPr>
          <p:nvPr/>
        </p:nvCxnSpPr>
        <p:spPr>
          <a:xfrm flipH="1">
            <a:off x="6638914" y="4095074"/>
            <a:ext cx="12725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>
            <a:spLocks noChangeAspect="1"/>
          </p:cNvSpPr>
          <p:nvPr/>
        </p:nvSpPr>
        <p:spPr>
          <a:xfrm>
            <a:off x="7339512" y="3929881"/>
            <a:ext cx="3706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uses</a:t>
            </a:r>
            <a:endParaRPr lang="en-NZ" sz="800" dirty="0"/>
          </a:p>
        </p:txBody>
      </p:sp>
      <p:sp>
        <p:nvSpPr>
          <p:cNvPr id="32" name="TextBox 31"/>
          <p:cNvSpPr txBox="1">
            <a:spLocks noChangeAspect="1"/>
          </p:cNvSpPr>
          <p:nvPr/>
        </p:nvSpPr>
        <p:spPr>
          <a:xfrm>
            <a:off x="2312893" y="5805264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includes</a:t>
            </a:r>
            <a:endParaRPr lang="en-NZ" sz="800" dirty="0"/>
          </a:p>
        </p:txBody>
      </p:sp>
      <p:sp>
        <p:nvSpPr>
          <p:cNvPr id="33" name="Rectangle 32"/>
          <p:cNvSpPr>
            <a:spLocks noChangeAspect="1"/>
          </p:cNvSpPr>
          <p:nvPr/>
        </p:nvSpPr>
        <p:spPr>
          <a:xfrm>
            <a:off x="2865126" y="3969060"/>
            <a:ext cx="770770" cy="4680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Unit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>
            <a:spLocks noChangeAspect="1"/>
          </p:cNvSpPr>
          <p:nvPr/>
        </p:nvSpPr>
        <p:spPr>
          <a:xfrm>
            <a:off x="284246" y="3969640"/>
            <a:ext cx="831370" cy="4680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Classification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>
            <a:spLocks noChangeAspect="1"/>
          </p:cNvSpPr>
          <p:nvPr/>
        </p:nvSpPr>
        <p:spPr>
          <a:xfrm>
            <a:off x="1598062" y="3969060"/>
            <a:ext cx="763868" cy="4680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Variable</a:t>
            </a:r>
            <a:endParaRPr lang="en-NZ" sz="800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cxnSpLocks noChangeAspect="1"/>
            <a:stCxn id="8" idx="1"/>
            <a:endCxn id="9" idx="3"/>
          </p:cNvCxnSpPr>
          <p:nvPr/>
        </p:nvCxnSpPr>
        <p:spPr>
          <a:xfrm flipH="1">
            <a:off x="1094298" y="3266982"/>
            <a:ext cx="1770828" cy="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>
            <a:spLocks noChangeAspect="1"/>
          </p:cNvSpPr>
          <p:nvPr/>
        </p:nvSpPr>
        <p:spPr>
          <a:xfrm>
            <a:off x="200830" y="5769260"/>
            <a:ext cx="770770" cy="468052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Data Structure</a:t>
            </a:r>
            <a:endParaRPr lang="en-NZ" sz="800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>
            <a:stCxn id="29" idx="1"/>
            <a:endCxn id="39" idx="3"/>
          </p:cNvCxnSpPr>
          <p:nvPr/>
        </p:nvCxnSpPr>
        <p:spPr>
          <a:xfrm flipH="1">
            <a:off x="971600" y="6003286"/>
            <a:ext cx="5253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2" idx="2"/>
            <a:endCxn id="28" idx="0"/>
          </p:cNvCxnSpPr>
          <p:nvPr/>
        </p:nvCxnSpPr>
        <p:spPr>
          <a:xfrm>
            <a:off x="6253529" y="1556792"/>
            <a:ext cx="0" cy="2304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>
            <a:spLocks noChangeAspect="1"/>
          </p:cNvSpPr>
          <p:nvPr/>
        </p:nvSpPr>
        <p:spPr>
          <a:xfrm>
            <a:off x="6114890" y="3164432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specifies</a:t>
            </a:r>
            <a:endParaRPr lang="en-NZ" sz="800" dirty="0"/>
          </a:p>
        </p:txBody>
      </p:sp>
      <p:sp>
        <p:nvSpPr>
          <p:cNvPr id="43" name="Rectangle 42"/>
          <p:cNvSpPr>
            <a:spLocks noChangeAspect="1"/>
          </p:cNvSpPr>
          <p:nvPr/>
        </p:nvSpPr>
        <p:spPr>
          <a:xfrm>
            <a:off x="4665326" y="4617132"/>
            <a:ext cx="770770" cy="4680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Process output</a:t>
            </a:r>
          </a:p>
        </p:txBody>
      </p:sp>
      <p:sp>
        <p:nvSpPr>
          <p:cNvPr id="44" name="Rectangle 43"/>
          <p:cNvSpPr>
            <a:spLocks noChangeAspect="1"/>
          </p:cNvSpPr>
          <p:nvPr/>
        </p:nvSpPr>
        <p:spPr>
          <a:xfrm>
            <a:off x="4665326" y="3212976"/>
            <a:ext cx="770770" cy="4680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 smtClean="0">
                <a:solidFill>
                  <a:schemeClr val="tx1"/>
                </a:solidFill>
              </a:rPr>
              <a:t>Process Input</a:t>
            </a:r>
          </a:p>
        </p:txBody>
      </p:sp>
      <p:sp>
        <p:nvSpPr>
          <p:cNvPr id="45" name="TextBox 44"/>
          <p:cNvSpPr txBox="1">
            <a:spLocks noChangeAspect="1"/>
          </p:cNvSpPr>
          <p:nvPr/>
        </p:nvSpPr>
        <p:spPr>
          <a:xfrm>
            <a:off x="5466818" y="3645024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specifies</a:t>
            </a:r>
            <a:endParaRPr lang="en-NZ" sz="800" dirty="0"/>
          </a:p>
        </p:txBody>
      </p:sp>
      <p:sp>
        <p:nvSpPr>
          <p:cNvPr id="46" name="TextBox 45"/>
          <p:cNvSpPr txBox="1">
            <a:spLocks noChangeAspect="1"/>
          </p:cNvSpPr>
          <p:nvPr/>
        </p:nvSpPr>
        <p:spPr>
          <a:xfrm>
            <a:off x="1043608" y="5805264"/>
            <a:ext cx="3289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has</a:t>
            </a:r>
            <a:endParaRPr lang="en-NZ" sz="800" dirty="0"/>
          </a:p>
        </p:txBody>
      </p:sp>
      <p:sp>
        <p:nvSpPr>
          <p:cNvPr id="48" name="TextBox 47"/>
          <p:cNvSpPr txBox="1">
            <a:spLocks noChangeAspect="1"/>
          </p:cNvSpPr>
          <p:nvPr/>
        </p:nvSpPr>
        <p:spPr>
          <a:xfrm>
            <a:off x="1698835" y="3082781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describes </a:t>
            </a:r>
          </a:p>
        </p:txBody>
      </p:sp>
      <p:sp>
        <p:nvSpPr>
          <p:cNvPr id="49" name="TextBox 48"/>
          <p:cNvSpPr txBox="1">
            <a:spLocks noChangeAspect="1"/>
          </p:cNvSpPr>
          <p:nvPr/>
        </p:nvSpPr>
        <p:spPr>
          <a:xfrm>
            <a:off x="971600" y="1917412"/>
            <a:ext cx="5966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identifies </a:t>
            </a:r>
          </a:p>
        </p:txBody>
      </p:sp>
      <p:sp>
        <p:nvSpPr>
          <p:cNvPr id="50" name="TextBox 49"/>
          <p:cNvSpPr txBox="1">
            <a:spLocks noChangeAspect="1"/>
          </p:cNvSpPr>
          <p:nvPr/>
        </p:nvSpPr>
        <p:spPr>
          <a:xfrm>
            <a:off x="2389614" y="190929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defines</a:t>
            </a:r>
            <a:endParaRPr lang="en-NZ" sz="800" dirty="0"/>
          </a:p>
        </p:txBody>
      </p:sp>
      <p:sp>
        <p:nvSpPr>
          <p:cNvPr id="51" name="TextBox 50"/>
          <p:cNvSpPr txBox="1">
            <a:spLocks noChangeAspect="1"/>
          </p:cNvSpPr>
          <p:nvPr/>
        </p:nvSpPr>
        <p:spPr>
          <a:xfrm>
            <a:off x="2289062" y="3501008"/>
            <a:ext cx="5886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measures</a:t>
            </a:r>
            <a:endParaRPr lang="en-NZ" sz="800" dirty="0"/>
          </a:p>
        </p:txBody>
      </p:sp>
      <p:sp>
        <p:nvSpPr>
          <p:cNvPr id="52" name="TextBox 51"/>
          <p:cNvSpPr txBox="1"/>
          <p:nvPr/>
        </p:nvSpPr>
        <p:spPr>
          <a:xfrm>
            <a:off x="1115616" y="3573596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defines</a:t>
            </a:r>
            <a:endParaRPr lang="en-NZ" sz="800" dirty="0"/>
          </a:p>
        </p:txBody>
      </p:sp>
      <p:sp>
        <p:nvSpPr>
          <p:cNvPr id="53" name="TextBox 52"/>
          <p:cNvSpPr txBox="1">
            <a:spLocks noChangeAspect="1"/>
          </p:cNvSpPr>
          <p:nvPr/>
        </p:nvSpPr>
        <p:spPr>
          <a:xfrm>
            <a:off x="1043746" y="4263479"/>
            <a:ext cx="647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         is </a:t>
            </a:r>
          </a:p>
          <a:p>
            <a:r>
              <a:rPr lang="en-NZ" sz="800" dirty="0" smtClean="0"/>
              <a:t>associated </a:t>
            </a:r>
          </a:p>
          <a:p>
            <a:r>
              <a:rPr lang="en-NZ" sz="800" dirty="0"/>
              <a:t> </a:t>
            </a:r>
            <a:r>
              <a:rPr lang="en-NZ" sz="800" dirty="0" smtClean="0"/>
              <a:t>     with</a:t>
            </a:r>
            <a:endParaRPr lang="en-NZ" sz="800" dirty="0"/>
          </a:p>
        </p:txBody>
      </p:sp>
      <p:sp>
        <p:nvSpPr>
          <p:cNvPr id="54" name="TextBox 53"/>
          <p:cNvSpPr txBox="1">
            <a:spLocks noChangeAspect="1"/>
          </p:cNvSpPr>
          <p:nvPr/>
        </p:nvSpPr>
        <p:spPr>
          <a:xfrm>
            <a:off x="3203848" y="3573016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comprises</a:t>
            </a:r>
            <a:endParaRPr lang="en-NZ" sz="800" dirty="0"/>
          </a:p>
        </p:txBody>
      </p:sp>
      <p:sp>
        <p:nvSpPr>
          <p:cNvPr id="55" name="TextBox 54"/>
          <p:cNvSpPr txBox="1">
            <a:spLocks noChangeAspect="1"/>
          </p:cNvSpPr>
          <p:nvPr/>
        </p:nvSpPr>
        <p:spPr>
          <a:xfrm>
            <a:off x="1710057" y="4509120"/>
            <a:ext cx="5790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describes</a:t>
            </a:r>
            <a:endParaRPr lang="en-NZ" sz="800" dirty="0"/>
          </a:p>
        </p:txBody>
      </p:sp>
      <p:cxnSp>
        <p:nvCxnSpPr>
          <p:cNvPr id="56" name="Straight Arrow Connector 55"/>
          <p:cNvCxnSpPr>
            <a:stCxn id="35" idx="2"/>
            <a:endCxn id="116" idx="0"/>
          </p:cNvCxnSpPr>
          <p:nvPr/>
        </p:nvCxnSpPr>
        <p:spPr>
          <a:xfrm flipH="1">
            <a:off x="1977327" y="4437112"/>
            <a:ext cx="2669" cy="6206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endCxn id="44" idx="3"/>
          </p:cNvCxnSpPr>
          <p:nvPr/>
        </p:nvCxnSpPr>
        <p:spPr>
          <a:xfrm rot="16200000" flipV="1">
            <a:off x="5241124" y="3641975"/>
            <a:ext cx="698323" cy="30837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endCxn id="43" idx="3"/>
          </p:cNvCxnSpPr>
          <p:nvPr/>
        </p:nvCxnSpPr>
        <p:spPr>
          <a:xfrm rot="5400000">
            <a:off x="5217992" y="4324677"/>
            <a:ext cx="744586" cy="30837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/>
          <p:nvPr/>
        </p:nvCxnSpPr>
        <p:spPr>
          <a:xfrm rot="10800000">
            <a:off x="3022282" y="2553960"/>
            <a:ext cx="1643044" cy="893043"/>
          </a:xfrm>
          <a:prstGeom prst="bentConnector3">
            <a:avLst>
              <a:gd name="adj1" fmla="val 20656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 flipV="1">
            <a:off x="3144978" y="4851158"/>
            <a:ext cx="1520350" cy="522058"/>
          </a:xfrm>
          <a:prstGeom prst="bentConnector3">
            <a:avLst>
              <a:gd name="adj1" fmla="val 21021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4330631" y="3447004"/>
            <a:ext cx="1" cy="14041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>
            <a:spLocks noChangeAspect="1"/>
          </p:cNvSpPr>
          <p:nvPr/>
        </p:nvSpPr>
        <p:spPr>
          <a:xfrm>
            <a:off x="5466818" y="4365684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specifies</a:t>
            </a:r>
            <a:endParaRPr lang="en-NZ" sz="800" dirty="0"/>
          </a:p>
        </p:txBody>
      </p:sp>
      <p:sp>
        <p:nvSpPr>
          <p:cNvPr id="66" name="TextBox 65"/>
          <p:cNvSpPr txBox="1">
            <a:spLocks noChangeAspect="1"/>
          </p:cNvSpPr>
          <p:nvPr/>
        </p:nvSpPr>
        <p:spPr>
          <a:xfrm>
            <a:off x="4018389" y="5013756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may include</a:t>
            </a:r>
            <a:endParaRPr lang="en-NZ" sz="800" dirty="0"/>
          </a:p>
        </p:txBody>
      </p:sp>
      <p:sp>
        <p:nvSpPr>
          <p:cNvPr id="67" name="TextBox 66"/>
          <p:cNvSpPr txBox="1">
            <a:spLocks noChangeAspect="1"/>
          </p:cNvSpPr>
          <p:nvPr/>
        </p:nvSpPr>
        <p:spPr>
          <a:xfrm>
            <a:off x="3946381" y="3213556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may include</a:t>
            </a:r>
            <a:endParaRPr lang="en-NZ" sz="800" dirty="0"/>
          </a:p>
        </p:txBody>
      </p:sp>
      <p:cxnSp>
        <p:nvCxnSpPr>
          <p:cNvPr id="68" name="Straight Arrow Connector 67"/>
          <p:cNvCxnSpPr>
            <a:stCxn id="6" idx="3"/>
            <a:endCxn id="7" idx="1"/>
          </p:cNvCxnSpPr>
          <p:nvPr/>
        </p:nvCxnSpPr>
        <p:spPr>
          <a:xfrm>
            <a:off x="2411760" y="854714"/>
            <a:ext cx="1749510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>
            <a:spLocks noChangeAspect="1"/>
          </p:cNvSpPr>
          <p:nvPr/>
        </p:nvSpPr>
        <p:spPr>
          <a:xfrm>
            <a:off x="3401223" y="620688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may initiate</a:t>
            </a:r>
            <a:endParaRPr lang="en-NZ" sz="800" dirty="0"/>
          </a:p>
        </p:txBody>
      </p:sp>
      <p:cxnSp>
        <p:nvCxnSpPr>
          <p:cNvPr id="76" name="Elbow Connector 75"/>
          <p:cNvCxnSpPr>
            <a:stCxn id="35" idx="1"/>
            <a:endCxn id="34" idx="3"/>
          </p:cNvCxnSpPr>
          <p:nvPr/>
        </p:nvCxnSpPr>
        <p:spPr>
          <a:xfrm flipH="1">
            <a:off x="1115616" y="4203086"/>
            <a:ext cx="482446" cy="5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>
            <a:spLocks noChangeAspect="1"/>
          </p:cNvSpPr>
          <p:nvPr/>
        </p:nvSpPr>
        <p:spPr>
          <a:xfrm>
            <a:off x="7418922" y="3140968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comprises</a:t>
            </a:r>
            <a:endParaRPr lang="en-NZ" sz="800" dirty="0"/>
          </a:p>
        </p:txBody>
      </p:sp>
      <p:sp>
        <p:nvSpPr>
          <p:cNvPr id="136" name="Rectangle 135"/>
          <p:cNvSpPr>
            <a:spLocks noChangeAspect="1"/>
          </p:cNvSpPr>
          <p:nvPr/>
        </p:nvSpPr>
        <p:spPr>
          <a:xfrm>
            <a:off x="6948264" y="2132856"/>
            <a:ext cx="1049403" cy="73657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itchFamily="34" charset="0"/>
              <a:buChar char="•"/>
            </a:pPr>
            <a:r>
              <a:rPr lang="en-NZ" sz="800" dirty="0" smtClean="0">
                <a:solidFill>
                  <a:schemeClr val="tx1"/>
                </a:solidFill>
              </a:rPr>
              <a:t>Acquisition Activity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NZ" sz="800" dirty="0" smtClean="0">
                <a:solidFill>
                  <a:schemeClr val="tx1"/>
                </a:solidFill>
              </a:rPr>
              <a:t>Production Activity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NZ" sz="800" dirty="0" smtClean="0">
                <a:solidFill>
                  <a:schemeClr val="tx1"/>
                </a:solidFill>
              </a:rPr>
              <a:t>Dissemination Activity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158" name="TextBox 157"/>
          <p:cNvSpPr txBox="1">
            <a:spLocks noChangeAspect="1"/>
          </p:cNvSpPr>
          <p:nvPr/>
        </p:nvSpPr>
        <p:spPr>
          <a:xfrm>
            <a:off x="6846030" y="692696"/>
            <a:ext cx="519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 smtClean="0"/>
              <a:t>initiates</a:t>
            </a:r>
            <a:endParaRPr lang="en-NZ" sz="800" dirty="0"/>
          </a:p>
        </p:txBody>
      </p:sp>
      <p:cxnSp>
        <p:nvCxnSpPr>
          <p:cNvPr id="159" name="Elbow Connector 158"/>
          <p:cNvCxnSpPr>
            <a:stCxn id="7" idx="3"/>
            <a:endCxn id="15" idx="0"/>
          </p:cNvCxnSpPr>
          <p:nvPr/>
        </p:nvCxnSpPr>
        <p:spPr>
          <a:xfrm>
            <a:off x="4932040" y="854714"/>
            <a:ext cx="3364809" cy="23402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/>
          <p:nvPr/>
        </p:nvCxnSpPr>
        <p:spPr>
          <a:xfrm flipV="1">
            <a:off x="2123728" y="3501008"/>
            <a:ext cx="898554" cy="234025"/>
          </a:xfrm>
          <a:prstGeom prst="bentConnector3">
            <a:avLst>
              <a:gd name="adj1" fmla="val 9995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endCxn id="33" idx="0"/>
          </p:cNvCxnSpPr>
          <p:nvPr/>
        </p:nvCxnSpPr>
        <p:spPr>
          <a:xfrm>
            <a:off x="3250511" y="3501008"/>
            <a:ext cx="0" cy="4680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Elbow Connector 183"/>
          <p:cNvCxnSpPr/>
          <p:nvPr/>
        </p:nvCxnSpPr>
        <p:spPr>
          <a:xfrm rot="16200000" flipV="1">
            <a:off x="7262329" y="3080069"/>
            <a:ext cx="991617" cy="570341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Elbow Connector 185"/>
          <p:cNvCxnSpPr>
            <a:stCxn id="6" idx="2"/>
            <a:endCxn id="9" idx="0"/>
          </p:cNvCxnSpPr>
          <p:nvPr/>
        </p:nvCxnSpPr>
        <p:spPr>
          <a:xfrm rot="5400000">
            <a:off x="395536" y="1402117"/>
            <a:ext cx="1944216" cy="131746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Elbow Connector 188"/>
          <p:cNvCxnSpPr>
            <a:stCxn id="6" idx="2"/>
            <a:endCxn id="8" idx="0"/>
          </p:cNvCxnSpPr>
          <p:nvPr/>
        </p:nvCxnSpPr>
        <p:spPr>
          <a:xfrm rot="16200000" flipH="1">
            <a:off x="1666335" y="1448780"/>
            <a:ext cx="1944216" cy="122413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/>
          <p:cNvCxnSpPr>
            <a:stCxn id="7" idx="2"/>
            <a:endCxn id="12" idx="1"/>
          </p:cNvCxnSpPr>
          <p:nvPr/>
        </p:nvCxnSpPr>
        <p:spPr>
          <a:xfrm rot="16200000" flipH="1">
            <a:off x="5090386" y="545008"/>
            <a:ext cx="234026" cy="132148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8" idx="1"/>
          </p:cNvCxnSpPr>
          <p:nvPr/>
        </p:nvCxnSpPr>
        <p:spPr>
          <a:xfrm flipH="1">
            <a:off x="5744475" y="4095074"/>
            <a:ext cx="1236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26" idx="1"/>
            <a:endCxn id="29" idx="3"/>
          </p:cNvCxnSpPr>
          <p:nvPr/>
        </p:nvCxnSpPr>
        <p:spPr>
          <a:xfrm flipH="1">
            <a:off x="2267744" y="6003286"/>
            <a:ext cx="5525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lbow Connector 164"/>
          <p:cNvCxnSpPr>
            <a:stCxn id="9" idx="2"/>
            <a:endCxn id="35" idx="0"/>
          </p:cNvCxnSpPr>
          <p:nvPr/>
        </p:nvCxnSpPr>
        <p:spPr>
          <a:xfrm rot="16200000" flipH="1">
            <a:off x="1110428" y="3099492"/>
            <a:ext cx="468052" cy="127108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flipV="1">
            <a:off x="2123728" y="3735034"/>
            <a:ext cx="0" cy="234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Elbow Connector 191"/>
          <p:cNvCxnSpPr>
            <a:stCxn id="23" idx="1"/>
            <a:endCxn id="26" idx="3"/>
          </p:cNvCxnSpPr>
          <p:nvPr/>
        </p:nvCxnSpPr>
        <p:spPr>
          <a:xfrm flipH="1">
            <a:off x="3591014" y="6003286"/>
            <a:ext cx="4335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07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Shape 1"/>
          <p:cNvSpPr txBox="1"/>
          <p:nvPr/>
        </p:nvSpPr>
        <p:spPr>
          <a:xfrm>
            <a:off x="539640" y="404640"/>
            <a:ext cx="768636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558ED5"/>
                </a:solidFill>
                <a:latin typeface="Calibri"/>
              </a:rPr>
              <a:t>GSIM: The “sprint’ approach </a:t>
            </a:r>
            <a:endParaRPr/>
          </a:p>
        </p:txBody>
      </p:sp>
      <p:sp>
        <p:nvSpPr>
          <p:cNvPr id="302" name="TextShape 2"/>
          <p:cNvSpPr txBox="1"/>
          <p:nvPr/>
        </p:nvSpPr>
        <p:spPr>
          <a:xfrm>
            <a:off x="467640" y="1412640"/>
            <a:ext cx="8301240" cy="452556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17375E"/>
                </a:solidFill>
                <a:latin typeface="Calibri"/>
              </a:rPr>
              <a:t>The HLG-BAS decided to accelerate the development of the GSIM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17375E"/>
                </a:solidFill>
                <a:latin typeface="Calibri"/>
              </a:rPr>
              <a:t>“Sprints” – 2 week workshops for 10-12 experts (IT, methodology, statistics, ...)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17375E"/>
                </a:solidFill>
                <a:latin typeface="Calibri"/>
              </a:rPr>
              <a:t>Sprint 1 – Slovenia, February 2012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17375E"/>
                </a:solidFill>
                <a:latin typeface="Calibri"/>
              </a:rPr>
              <a:t>Sprint 2 – Republic of Korea, April 2012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17375E"/>
                </a:solidFill>
                <a:latin typeface="Calibri"/>
              </a:rPr>
              <a:t>Integration Workshop, Netherlands, September 2012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558ED5"/>
                </a:solidFill>
                <a:latin typeface="Calibri"/>
              </a:rPr>
              <a:t>Moving to GSIM in practice</a:t>
            </a:r>
            <a:endParaRPr/>
          </a:p>
        </p:txBody>
      </p:sp>
      <p:sp>
        <p:nvSpPr>
          <p:cNvPr id="304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>
                <a:solidFill>
                  <a:srgbClr val="17375E"/>
                </a:solidFill>
                <a:latin typeface="Calibri"/>
              </a:rPr>
              <a:t>GSIM could lead to: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17375E"/>
                </a:solidFill>
                <a:latin typeface="Calibri"/>
              </a:rPr>
              <a:t>A foundation for standardized statistical metadata use throughout systems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17375E"/>
                </a:solidFill>
                <a:latin typeface="Calibri"/>
              </a:rPr>
              <a:t>A standardized framework to aid in consistent and coherent design capture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17375E"/>
                </a:solidFill>
                <a:latin typeface="Calibri"/>
              </a:rPr>
              <a:t>Increased sharing of system components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558ED5"/>
                </a:solidFill>
                <a:latin typeface="Calibri"/>
              </a:rPr>
              <a:t>Moving to GSIM in practice</a:t>
            </a:r>
            <a:endParaRPr/>
          </a:p>
        </p:txBody>
      </p:sp>
      <p:sp>
        <p:nvSpPr>
          <p:cNvPr id="306" name="TextShape 2"/>
          <p:cNvSpPr txBox="1"/>
          <p:nvPr/>
        </p:nvSpPr>
        <p:spPr>
          <a:xfrm>
            <a:off x="457200" y="1600200"/>
            <a:ext cx="8229240" cy="312444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17375E"/>
                </a:solidFill>
                <a:latin typeface="Calibri"/>
              </a:rPr>
              <a:t>Common terminology across and between statistical agencies.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17375E"/>
                </a:solidFill>
                <a:latin typeface="Calibri"/>
              </a:rPr>
              <a:t>It allows NSIs and standards bodies, such as SDMX and DDI, to understand and map common statistical information and processes.    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558ED5"/>
                </a:solidFill>
                <a:latin typeface="Calibri"/>
              </a:rPr>
              <a:t>GSIM v1.0</a:t>
            </a:r>
            <a:endParaRPr/>
          </a:p>
        </p:txBody>
      </p:sp>
      <p:sp>
        <p:nvSpPr>
          <p:cNvPr id="308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17375E"/>
                </a:solidFill>
                <a:latin typeface="Calibri"/>
              </a:rPr>
              <a:t>Released in December 2012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17375E"/>
                </a:solidFill>
                <a:latin typeface="Calibri"/>
              </a:rPr>
              <a:t>We need people to use GSIM “in anger”. Then we will know how best to improve it.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/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More information</a:t>
            </a:r>
            <a:endParaRPr/>
          </a:p>
        </p:txBody>
      </p:sp>
      <p:sp>
        <p:nvSpPr>
          <p:cNvPr id="310" name="TextShape 2"/>
          <p:cNvSpPr txBox="1"/>
          <p:nvPr/>
        </p:nvSpPr>
        <p:spPr>
          <a:xfrm>
            <a:off x="539640" y="1412640"/>
            <a:ext cx="8214840" cy="455652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GSIM</a:t>
            </a:r>
            <a:endParaRPr/>
          </a:p>
          <a:p>
            <a:pPr lvl="1">
              <a:buSzPct val="45000"/>
              <a:buFont typeface="StarSymbol"/>
              <a:buChar char=""/>
            </a:pPr>
            <a:r>
              <a:rPr lang="en-US" sz="2400" u="sng">
                <a:solidFill>
                  <a:srgbClr val="0000FF"/>
                </a:solidFill>
                <a:latin typeface="Calibri"/>
                <a:hlinkClick r:id="rId2"/>
              </a:rPr>
              <a:t>http://www1.unece.org/stat/platform/display/metis/Generic+Statistical+Information+Model+(GSIM)</a:t>
            </a: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"/>
            </a:pP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Poster Session @ EDDI </a:t>
            </a:r>
            <a:endParaRPr/>
          </a:p>
          <a:p>
            <a:pPr lvl="1"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Today at lunch time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/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1157</Words>
  <Application>Microsoft Office PowerPoint</Application>
  <PresentationFormat>Skjermfremvisning (4:3)</PresentationFormat>
  <Paragraphs>204</Paragraphs>
  <Slides>25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Lysbildetitler</vt:lpstr>
      </vt:variant>
      <vt:variant>
        <vt:i4>25</vt:i4>
      </vt:variant>
    </vt:vector>
  </HeadingPairs>
  <TitlesOfParts>
    <vt:vector size="29" baseType="lpstr">
      <vt:lpstr>Office Theme</vt:lpstr>
      <vt:lpstr>Office Theme</vt:lpstr>
      <vt:lpstr>Office Theme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GSIM is complementary to GSBPM</vt:lpstr>
      <vt:lpstr>PowerPoint-presentasjon</vt:lpstr>
      <vt:lpstr>What is GSIM?</vt:lpstr>
      <vt:lpstr>Purposes of GSIM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Konferanse 01</dc:creator>
  <cp:lastModifiedBy>Konferanse 01</cp:lastModifiedBy>
  <cp:revision>2</cp:revision>
  <dcterms:modified xsi:type="dcterms:W3CDTF">2012-12-04T07:44:41Z</dcterms:modified>
</cp:coreProperties>
</file>