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0"/>
  </p:sldMasterIdLst>
  <p:notesMasterIdLst>
    <p:notesMasterId r:id="rId41"/>
  </p:notesMasterIdLst>
  <p:sldIdLst>
    <p:sldId id="256" r:id="rId11"/>
    <p:sldId id="292" r:id="rId12"/>
    <p:sldId id="257" r:id="rId13"/>
    <p:sldId id="266" r:id="rId14"/>
    <p:sldId id="267" r:id="rId15"/>
    <p:sldId id="291" r:id="rId16"/>
    <p:sldId id="263" r:id="rId17"/>
    <p:sldId id="281" r:id="rId18"/>
    <p:sldId id="282" r:id="rId19"/>
    <p:sldId id="297" r:id="rId20"/>
    <p:sldId id="270" r:id="rId21"/>
    <p:sldId id="271" r:id="rId22"/>
    <p:sldId id="272" r:id="rId23"/>
    <p:sldId id="273" r:id="rId24"/>
    <p:sldId id="274" r:id="rId25"/>
    <p:sldId id="275" r:id="rId26"/>
    <p:sldId id="298" r:id="rId27"/>
    <p:sldId id="294" r:id="rId28"/>
    <p:sldId id="283" r:id="rId29"/>
    <p:sldId id="295" r:id="rId30"/>
    <p:sldId id="264" r:id="rId31"/>
    <p:sldId id="276" r:id="rId32"/>
    <p:sldId id="277" r:id="rId33"/>
    <p:sldId id="284" r:id="rId34"/>
    <p:sldId id="279" r:id="rId35"/>
    <p:sldId id="280" r:id="rId36"/>
    <p:sldId id="299" r:id="rId37"/>
    <p:sldId id="262" r:id="rId38"/>
    <p:sldId id="300" r:id="rId39"/>
    <p:sldId id="296"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8D16E52-BC5C-4E57-927A-AEE1438BD975}">
          <p14:sldIdLst>
            <p14:sldId id="256"/>
            <p14:sldId id="292"/>
            <p14:sldId id="257"/>
            <p14:sldId id="266"/>
            <p14:sldId id="267"/>
            <p14:sldId id="291"/>
            <p14:sldId id="263"/>
            <p14:sldId id="281"/>
          </p14:sldIdLst>
        </p14:section>
        <p14:section name="Architecture" id="{4DE08E67-F3BA-440B-9F71-6D4180C0D8F4}">
          <p14:sldIdLst>
            <p14:sldId id="282"/>
            <p14:sldId id="297"/>
            <p14:sldId id="270"/>
            <p14:sldId id="271"/>
            <p14:sldId id="272"/>
            <p14:sldId id="273"/>
            <p14:sldId id="274"/>
            <p14:sldId id="275"/>
            <p14:sldId id="298"/>
            <p14:sldId id="294"/>
          </p14:sldIdLst>
        </p14:section>
        <p14:section name="Integration" id="{9F8EF7DF-6611-49D4-90D2-842A7FA2C020}">
          <p14:sldIdLst>
            <p14:sldId id="283"/>
            <p14:sldId id="295"/>
            <p14:sldId id="264"/>
            <p14:sldId id="276"/>
            <p14:sldId id="277"/>
          </p14:sldIdLst>
        </p14:section>
        <p14:section name="Results" id="{3F6347E7-C60B-4375-83A2-96C976CED44B}">
          <p14:sldIdLst>
            <p14:sldId id="284"/>
            <p14:sldId id="279"/>
            <p14:sldId id="280"/>
            <p14:sldId id="299"/>
            <p14:sldId id="262"/>
            <p14:sldId id="300"/>
          </p14:sldIdLst>
        </p14:section>
        <p14:section name="Closing" id="{4F19A1BF-72A2-4478-9E62-CC02D082CB17}">
          <p14:sldIdLst>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1" autoAdjust="0"/>
    <p:restoredTop sz="74468" autoAdjust="0"/>
  </p:normalViewPr>
  <p:slideViewPr>
    <p:cSldViewPr>
      <p:cViewPr>
        <p:scale>
          <a:sx n="60" d="100"/>
          <a:sy n="60" d="100"/>
        </p:scale>
        <p:origin x="-1470"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9" d="100"/>
          <a:sy n="59" d="100"/>
        </p:scale>
        <p:origin x="-254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0"/>
    </mc:Choice>
    <mc:Fallback>
      <c:style val="10"/>
    </mc:Fallback>
  </mc:AlternateContent>
  <c:chart>
    <c:autoTitleDeleted val="1"/>
    <c:plotArea>
      <c:layout/>
      <c:barChart>
        <c:barDir val="bar"/>
        <c:grouping val="clustered"/>
        <c:varyColors val="0"/>
        <c:ser>
          <c:idx val="0"/>
          <c:order val="0"/>
          <c:tx>
            <c:strRef>
              <c:f>Sheet1!$B$1</c:f>
              <c:strCache>
                <c:ptCount val="1"/>
                <c:pt idx="0">
                  <c:v>New</c:v>
                </c:pt>
              </c:strCache>
            </c:strRef>
          </c:tx>
          <c:invertIfNegative val="0"/>
          <c:dLbls>
            <c:dLbl>
              <c:idx val="0"/>
              <c:layout/>
              <c:tx>
                <c:rich>
                  <a:bodyPr/>
                  <a:lstStyle/>
                  <a:p>
                    <a:r>
                      <a:rPr lang="en-US" b="1" dirty="0" smtClean="0"/>
                      <a:t>2 Weeks</a:t>
                    </a:r>
                    <a:endParaRPr lang="en-US" dirty="0"/>
                  </a:p>
                </c:rich>
              </c:tx>
              <c:dLblPos val="outEnd"/>
              <c:showLegendKey val="0"/>
              <c:showVal val="1"/>
              <c:showCatName val="0"/>
              <c:showSerName val="0"/>
              <c:showPercent val="0"/>
              <c:showBubbleSize val="0"/>
            </c:dLbl>
            <c:txPr>
              <a:bodyPr/>
              <a:lstStyle/>
              <a:p>
                <a:pPr>
                  <a:defRPr b="1"/>
                </a:pPr>
                <a:endParaRPr lang="en-US"/>
              </a:p>
            </c:txPr>
            <c:dLblPos val="outEnd"/>
            <c:showLegendKey val="0"/>
            <c:showVal val="1"/>
            <c:showCatName val="0"/>
            <c:showSerName val="0"/>
            <c:showPercent val="0"/>
            <c:showBubbleSize val="0"/>
            <c:showLeaderLines val="0"/>
          </c:dLbls>
          <c:cat>
            <c:strRef>
              <c:f>Sheet1!$A$2</c:f>
              <c:strCache>
                <c:ptCount val="1"/>
                <c:pt idx="0">
                  <c:v>Time</c:v>
                </c:pt>
              </c:strCache>
            </c:strRef>
          </c:cat>
          <c:val>
            <c:numRef>
              <c:f>Sheet1!$B$2</c:f>
              <c:numCache>
                <c:formatCode>General</c:formatCode>
                <c:ptCount val="1"/>
                <c:pt idx="0">
                  <c:v>2</c:v>
                </c:pt>
              </c:numCache>
            </c:numRef>
          </c:val>
        </c:ser>
        <c:ser>
          <c:idx val="1"/>
          <c:order val="1"/>
          <c:tx>
            <c:strRef>
              <c:f>Sheet1!$C$1</c:f>
              <c:strCache>
                <c:ptCount val="1"/>
                <c:pt idx="0">
                  <c:v>Old</c:v>
                </c:pt>
              </c:strCache>
            </c:strRef>
          </c:tx>
          <c:invertIfNegative val="0"/>
          <c:dLbls>
            <c:delete val="1"/>
          </c:dLbls>
          <c:cat>
            <c:strRef>
              <c:f>Sheet1!$A$2</c:f>
              <c:strCache>
                <c:ptCount val="1"/>
                <c:pt idx="0">
                  <c:v>Time</c:v>
                </c:pt>
              </c:strCache>
            </c:strRef>
          </c:cat>
          <c:val>
            <c:numRef>
              <c:f>Sheet1!$C$2</c:f>
              <c:numCache>
                <c:formatCode>General</c:formatCode>
                <c:ptCount val="1"/>
                <c:pt idx="0">
                  <c:v>14</c:v>
                </c:pt>
              </c:numCache>
            </c:numRef>
          </c:val>
        </c:ser>
        <c:dLbls>
          <c:dLblPos val="outEnd"/>
          <c:showLegendKey val="0"/>
          <c:showVal val="1"/>
          <c:showCatName val="0"/>
          <c:showSerName val="0"/>
          <c:showPercent val="0"/>
          <c:showBubbleSize val="0"/>
        </c:dLbls>
        <c:gapWidth val="150"/>
        <c:overlap val="-25"/>
        <c:axId val="38721408"/>
        <c:axId val="38722944"/>
      </c:barChart>
      <c:catAx>
        <c:axId val="38721408"/>
        <c:scaling>
          <c:orientation val="minMax"/>
        </c:scaling>
        <c:delete val="1"/>
        <c:axPos val="l"/>
        <c:majorTickMark val="none"/>
        <c:minorTickMark val="none"/>
        <c:tickLblPos val="nextTo"/>
        <c:crossAx val="38722944"/>
        <c:crosses val="autoZero"/>
        <c:auto val="1"/>
        <c:lblAlgn val="ctr"/>
        <c:lblOffset val="100"/>
        <c:noMultiLvlLbl val="0"/>
      </c:catAx>
      <c:valAx>
        <c:axId val="38722944"/>
        <c:scaling>
          <c:orientation val="minMax"/>
        </c:scaling>
        <c:delete val="1"/>
        <c:axPos val="b"/>
        <c:numFmt formatCode="General" sourceLinked="1"/>
        <c:majorTickMark val="out"/>
        <c:minorTickMark val="none"/>
        <c:tickLblPos val="nextTo"/>
        <c:crossAx val="38721408"/>
        <c:crosses val="autoZero"/>
        <c:crossBetween val="between"/>
      </c:valAx>
    </c:plotArea>
    <c:legend>
      <c:legendPos val="l"/>
      <c:layout>
        <c:manualLayout>
          <c:xMode val="edge"/>
          <c:yMode val="edge"/>
          <c:x val="1.2500000000000001E-2"/>
          <c:y val="0.22375295275590551"/>
          <c:w val="0.11801164698162729"/>
          <c:h val="0.60249409448818902"/>
        </c:manualLayout>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FC2F86-3303-4AE1-8C8F-0C8FBD4C2B30}" type="datetimeFigureOut">
              <a:rPr lang="en-US" smtClean="0"/>
              <a:t>12/3/2012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69FDA5-1478-4445-BC07-20053B5D7518}" type="slidenum">
              <a:rPr lang="en-US" smtClean="0"/>
              <a:t>‹#›</a:t>
            </a:fld>
            <a:endParaRPr lang="en-US"/>
          </a:p>
        </p:txBody>
      </p:sp>
    </p:spTree>
    <p:extLst>
      <p:ext uri="{BB962C8B-B14F-4D97-AF65-F5344CB8AC3E}">
        <p14:creationId xmlns:p14="http://schemas.microsoft.com/office/powerpoint/2010/main" val="297526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4E3265-14E3-499D-A250-3990DD3FB2C1}"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625454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Start with an introduction to Statistics New Zealand.</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3</a:t>
            </a:fld>
            <a:endParaRPr lang="en-US"/>
          </a:p>
        </p:txBody>
      </p:sp>
    </p:spTree>
    <p:extLst>
      <p:ext uri="{BB962C8B-B14F-4D97-AF65-F5344CB8AC3E}">
        <p14:creationId xmlns:p14="http://schemas.microsoft.com/office/powerpoint/2010/main" val="3366782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order to meet these goals, Statistics New Zealand disseminates data on many topics.</a:t>
            </a:r>
            <a:endParaRPr lang="en-US" dirty="0" smtClean="0"/>
          </a:p>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4</a:t>
            </a:fld>
            <a:endParaRPr lang="en-US"/>
          </a:p>
        </p:txBody>
      </p:sp>
    </p:spTree>
    <p:extLst>
      <p:ext uri="{BB962C8B-B14F-4D97-AF65-F5344CB8AC3E}">
        <p14:creationId xmlns:p14="http://schemas.microsoft.com/office/powerpoint/2010/main" val="1546142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Statistics New Zealand is</a:t>
            </a:r>
            <a:r>
              <a:rPr lang="en-US" baseline="0" dirty="0" smtClean="0"/>
              <a:t> responsible for data collection. This is just a small list of the questionnaires they use.</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5</a:t>
            </a:fld>
            <a:endParaRPr lang="en-US"/>
          </a:p>
        </p:txBody>
      </p:sp>
    </p:spTree>
    <p:extLst>
      <p:ext uri="{BB962C8B-B14F-4D97-AF65-F5344CB8AC3E}">
        <p14:creationId xmlns:p14="http://schemas.microsoft.com/office/powerpoint/2010/main" val="3381653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a:t>
            </a:r>
            <a:r>
              <a:rPr lang="en-US" baseline="0" dirty="0" smtClean="0"/>
              <a:t> a National Statistics Office, Statistics New Zealand is involved in every step of the data lifecycle.</a:t>
            </a:r>
          </a:p>
          <a:p>
            <a:endParaRPr lang="en-NZ" baseline="0" dirty="0" smtClean="0"/>
          </a:p>
          <a:p>
            <a:r>
              <a:rPr lang="en-NZ" sz="1200" b="0" i="0" u="none" strike="noStrike" kern="1200" baseline="0" dirty="0" smtClean="0">
                <a:solidFill>
                  <a:srgbClr val="FF0000"/>
                </a:solidFill>
                <a:latin typeface="+mn-lt"/>
                <a:ea typeface="+mn-ea"/>
                <a:cs typeface="+mn-cs"/>
              </a:rPr>
              <a:t>[Statistics New Zealand selected DDI as a metadata model </a:t>
            </a:r>
          </a:p>
          <a:p>
            <a:endParaRPr lang="en-NZ" sz="1200" b="0" i="0" u="none" strike="noStrike" kern="1200" baseline="0" dirty="0" smtClean="0">
              <a:solidFill>
                <a:srgbClr val="FF0000"/>
              </a:solidFill>
              <a:latin typeface="+mn-lt"/>
              <a:ea typeface="+mn-ea"/>
              <a:cs typeface="+mn-cs"/>
            </a:endParaRPr>
          </a:p>
          <a:p>
            <a:pPr marL="228600" indent="-228600">
              <a:buAutoNum type="alphaLcParenR"/>
            </a:pPr>
            <a:r>
              <a:rPr lang="en-NZ" sz="1200" b="0" i="0" u="none" strike="noStrike" kern="1200" baseline="0" dirty="0" smtClean="0">
                <a:solidFill>
                  <a:srgbClr val="FF0000"/>
                </a:solidFill>
                <a:latin typeface="+mn-lt"/>
                <a:ea typeface="+mn-ea"/>
                <a:cs typeface="+mn-cs"/>
              </a:rPr>
              <a:t>after conducting our own metadata modelling work and finding that DDI 3 while not a perfect fit it was 80% of the way there </a:t>
            </a:r>
          </a:p>
          <a:p>
            <a:pPr marL="228600" indent="-228600">
              <a:buAutoNum type="alphaLcParenR"/>
            </a:pPr>
            <a:r>
              <a:rPr lang="en-NZ" sz="1200" b="0" i="0" u="none" strike="noStrike" kern="1200" baseline="0" dirty="0" smtClean="0">
                <a:solidFill>
                  <a:srgbClr val="FF0000"/>
                </a:solidFill>
                <a:latin typeface="+mn-lt"/>
                <a:ea typeface="+mn-ea"/>
                <a:cs typeface="+mn-cs"/>
              </a:rPr>
              <a:t>in </a:t>
            </a:r>
            <a:r>
              <a:rPr lang="en-NZ" sz="1200" b="0" i="0" u="none" strike="noStrike" kern="1200" baseline="0" dirty="0" smtClean="0">
                <a:solidFill>
                  <a:srgbClr val="FF0000"/>
                </a:solidFill>
                <a:latin typeface="+mn-lt"/>
                <a:ea typeface="+mn-ea"/>
                <a:cs typeface="+mn-cs"/>
              </a:rPr>
              <a:t>particular the lifecycle model of DDI 3 fit our Generic Business Process model well</a:t>
            </a:r>
          </a:p>
          <a:p>
            <a:pPr marL="0" indent="0">
              <a:buNone/>
            </a:pPr>
            <a:endParaRPr lang="en-NZ" sz="1200" b="0" i="0" u="none" strike="noStrike" kern="1200" baseline="0" dirty="0" smtClean="0">
              <a:solidFill>
                <a:srgbClr val="FF0000"/>
              </a:solidFill>
              <a:latin typeface="+mn-lt"/>
              <a:ea typeface="+mn-ea"/>
              <a:cs typeface="+mn-cs"/>
            </a:endParaRPr>
          </a:p>
          <a:p>
            <a:pPr marL="0" indent="0">
              <a:buNone/>
            </a:pPr>
            <a:r>
              <a:rPr lang="en-NZ" sz="1200" b="0" i="0" u="none" strike="noStrike" kern="1200" baseline="0" dirty="0" smtClean="0">
                <a:solidFill>
                  <a:srgbClr val="FF0000"/>
                </a:solidFill>
                <a:latin typeface="+mn-lt"/>
                <a:ea typeface="+mn-ea"/>
                <a:cs typeface="+mn-cs"/>
              </a:rPr>
              <a:t>Adopted DDI but are also actively involved in GSIM (Generic Statistical Information Model) work and we see adoption of DDI as a good stepping stone / way of adopting GSIM and we are eager to see the two become more aligned]</a:t>
            </a:r>
            <a:endParaRPr lang="en-US" dirty="0">
              <a:solidFill>
                <a:srgbClr val="FF0000"/>
              </a:solidFill>
            </a:endParaRPr>
          </a:p>
        </p:txBody>
      </p:sp>
      <p:sp>
        <p:nvSpPr>
          <p:cNvPr id="4" name="Slide Number Placeholder 3"/>
          <p:cNvSpPr>
            <a:spLocks noGrp="1"/>
          </p:cNvSpPr>
          <p:nvPr>
            <p:ph type="sldNum" sz="quarter" idx="10"/>
          </p:nvPr>
        </p:nvSpPr>
        <p:spPr/>
        <p:txBody>
          <a:bodyPr/>
          <a:lstStyle/>
          <a:p>
            <a:fld id="{7F69FDA5-1478-4445-BC07-20053B5D7518}" type="slidenum">
              <a:rPr lang="en-US" smtClean="0"/>
              <a:t>6</a:t>
            </a:fld>
            <a:endParaRPr lang="en-US"/>
          </a:p>
        </p:txBody>
      </p:sp>
    </p:spTree>
    <p:extLst>
      <p:ext uri="{BB962C8B-B14F-4D97-AF65-F5344CB8AC3E}">
        <p14:creationId xmlns:p14="http://schemas.microsoft.com/office/powerpoint/2010/main" val="4085537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2011 </a:t>
            </a:r>
            <a:r>
              <a:rPr lang="en-US" baseline="0" dirty="0" smtClean="0"/>
              <a:t>Statistics New Zealand has had a project to improve the systems that record the information used throughout the data lifecycle.</a:t>
            </a:r>
          </a:p>
          <a:p>
            <a:endParaRPr lang="en-NZ" baseline="0" dirty="0" smtClean="0"/>
          </a:p>
          <a:p>
            <a:r>
              <a:rPr lang="en-NZ" baseline="0" dirty="0" smtClean="0"/>
              <a:t>[Primary aim of the project is to create efficiencies. In addition to tools such as Colectica also developing and implementing standards and guidance re. roles, responsibilities, how and where info should captured.] </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7</a:t>
            </a:fld>
            <a:endParaRPr lang="en-US"/>
          </a:p>
        </p:txBody>
      </p:sp>
    </p:spTree>
    <p:extLst>
      <p:ext uri="{BB962C8B-B14F-4D97-AF65-F5344CB8AC3E}">
        <p14:creationId xmlns:p14="http://schemas.microsoft.com/office/powerpoint/2010/main" val="1832085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case study</a:t>
            </a:r>
            <a:r>
              <a:rPr lang="en-US" baseline="0" dirty="0" smtClean="0"/>
              <a:t> will take a look at the solution that is currently in production, breaking things into three parts.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8</a:t>
            </a:fld>
            <a:endParaRPr lang="en-US"/>
          </a:p>
        </p:txBody>
      </p:sp>
    </p:spTree>
    <p:extLst>
      <p:ext uri="{BB962C8B-B14F-4D97-AF65-F5344CB8AC3E}">
        <p14:creationId xmlns:p14="http://schemas.microsoft.com/office/powerpoint/2010/main" val="3084576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9</a:t>
            </a:fld>
            <a:endParaRPr lang="en-US"/>
          </a:p>
        </p:txBody>
      </p:sp>
    </p:spTree>
    <p:extLst>
      <p:ext uri="{BB962C8B-B14F-4D97-AF65-F5344CB8AC3E}">
        <p14:creationId xmlns:p14="http://schemas.microsoft.com/office/powerpoint/2010/main" val="2595285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10</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Two types of users at New Zealand using Designer:</a:t>
            </a:r>
          </a:p>
          <a:p>
            <a:endParaRPr lang="en-US" dirty="0" smtClean="0"/>
          </a:p>
          <a:p>
            <a:pPr marL="228600" indent="-228600">
              <a:buAutoNum type="arabicPeriod"/>
            </a:pPr>
            <a:r>
              <a:rPr lang="en-US" dirty="0" smtClean="0"/>
              <a:t>Data Custodians.</a:t>
            </a:r>
            <a:r>
              <a:rPr lang="en-US" baseline="0" dirty="0" smtClean="0"/>
              <a:t> These are statistical analysts designated by their teams to be responsible for documenting data and ensuring the data are discoverable. They capture information about their own outputs.</a:t>
            </a:r>
          </a:p>
          <a:p>
            <a:pPr marL="228600" indent="-228600">
              <a:buAutoNum type="arabicPeriod"/>
            </a:pPr>
            <a:endParaRPr lang="en-US" baseline="0" dirty="0" smtClean="0"/>
          </a:p>
          <a:p>
            <a:pPr marL="228600" indent="-228600">
              <a:buAutoNum type="arabicPeriod"/>
            </a:pPr>
            <a:r>
              <a:rPr lang="en-US" baseline="0" dirty="0" smtClean="0"/>
              <a:t>Internal Data Archive staff. They had been using DDI 2, creating it by manually editing the XML. They are creating records for historical studies, and have found the benefit of DDI 3 is they are able to reuse resources that already exist in the repository.</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11</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Colectica SDK is used by the application development team at Statistics New Zealand to create new tools that</a:t>
            </a:r>
            <a:r>
              <a:rPr lang="en-US" baseline="0" dirty="0" smtClean="0"/>
              <a:t> work with the data stored in the repository.</a:t>
            </a:r>
          </a:p>
          <a:p>
            <a:endParaRPr lang="en-US" baseline="0" dirty="0" smtClean="0"/>
          </a:p>
          <a:p>
            <a:r>
              <a:rPr lang="en-US" baseline="0" dirty="0" smtClean="0"/>
              <a:t>We’ll talk about this some more in a few minutes.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12</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Used by administrators to move data in</a:t>
            </a:r>
            <a:r>
              <a:rPr lang="en-US" baseline="0" dirty="0" smtClean="0"/>
              <a:t> </a:t>
            </a:r>
            <a:r>
              <a:rPr lang="en-US" dirty="0" smtClean="0"/>
              <a:t>to and out</a:t>
            </a:r>
            <a:r>
              <a:rPr lang="en-US" baseline="0" dirty="0" smtClean="0"/>
              <a:t> of systems.</a:t>
            </a:r>
          </a:p>
          <a:p>
            <a:endParaRPr lang="en-NZ" baseline="0" dirty="0" smtClean="0"/>
          </a:p>
          <a:p>
            <a:r>
              <a:rPr lang="en-NZ" baseline="0" dirty="0" smtClean="0"/>
              <a:t>[Note that SNZ only uses a few of these as we don’t really use SPSS or CASES]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13</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accessible</a:t>
            </a:r>
            <a:r>
              <a:rPr lang="en-US" baseline="0" dirty="0" smtClean="0"/>
              <a:t> by everybody at Statistics New Zealand. </a:t>
            </a:r>
          </a:p>
          <a:p>
            <a:endParaRPr lang="en-US" baseline="0" dirty="0" smtClean="0"/>
          </a:p>
          <a:p>
            <a:r>
              <a:rPr lang="en-US" baseline="0" dirty="0" smtClean="0"/>
              <a:t>It’s especially used by the Client Services Team. This is the Statistics New Zealand help line that public users of their data can call to ask for help. The team uses the portal to find detailed information about data in the New Zealand repository.</a:t>
            </a:r>
          </a:p>
          <a:p>
            <a:endParaRPr lang="en-US" baseline="0" dirty="0" smtClean="0"/>
          </a:p>
          <a:p>
            <a:r>
              <a:rPr lang="en-US" baseline="0" dirty="0" smtClean="0"/>
              <a:t>Working toward the biggest use case, which is exploring interesting data by concept. For example, find all the data that has to do with Smoking. Everybody knows their own stuff but few people know what’s going on throughout the organization. The hope with Colectica is to break that pattern.</a:t>
            </a:r>
          </a:p>
          <a:p>
            <a:endParaRPr lang="en-US" baseline="0" dirty="0" smtClean="0"/>
          </a:p>
          <a:p>
            <a:r>
              <a:rPr lang="en-US" baseline="0" dirty="0" smtClean="0"/>
              <a:t>This Portal is only available internally right now. We’ll talk about a public portal shortly.</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14</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Workflow Services allow a few things.</a:t>
            </a:r>
          </a:p>
          <a:p>
            <a:endParaRPr lang="en-US" dirty="0" smtClean="0"/>
          </a:p>
          <a:p>
            <a:pPr marL="228600" indent="-228600">
              <a:buAutoNum type="arabicPeriod"/>
            </a:pPr>
            <a:r>
              <a:rPr lang="en-US" dirty="0" smtClean="0"/>
              <a:t>An</a:t>
            </a:r>
            <a:r>
              <a:rPr lang="en-US" baseline="0" dirty="0" smtClean="0"/>
              <a:t> internal user submits a publication request to the workflow services.</a:t>
            </a:r>
          </a:p>
          <a:p>
            <a:pPr marL="228600" indent="-228600">
              <a:buAutoNum type="arabicPeriod"/>
            </a:pPr>
            <a:r>
              <a:rPr lang="en-US" baseline="0" dirty="0" smtClean="0"/>
              <a:t>A manager who has the appropriate permissions reviews the request and either approves or denies it.</a:t>
            </a:r>
          </a:p>
          <a:p>
            <a:pPr marL="228600" indent="-228600">
              <a:buAutoNum type="arabicPeriod"/>
            </a:pPr>
            <a:r>
              <a:rPr lang="en-US" baseline="0" dirty="0" smtClean="0"/>
              <a:t>If the request is approved, the request is processed. As part of the processing, certain types of data or fields, which are only appropriate for internal staff, are removed by the workflow services.</a:t>
            </a:r>
          </a:p>
          <a:p>
            <a:pPr marL="228600" indent="-228600">
              <a:buAutoNum type="arabicPeriod"/>
            </a:pPr>
            <a:r>
              <a:rPr lang="en-US" baseline="0" dirty="0" smtClean="0"/>
              <a:t>After filtering, the information is available in the public Repository, where it can be accessed worldwide.</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15</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complete the picture, another</a:t>
            </a:r>
            <a:r>
              <a:rPr lang="en-US" baseline="0" dirty="0" smtClean="0"/>
              <a:t> instance of Colectica Portal will run on top of the public instance of Colectica Repository. The plan is for this to be available in April 2013.</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16</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a:t>
            </a:r>
            <a:r>
              <a:rPr lang="en-US" baseline="0" dirty="0" smtClean="0"/>
              <a:t> a pretty good overview of the architecture of how SNZ is using Colectica, but it’s not really complete.</a:t>
            </a:r>
          </a:p>
          <a:p>
            <a:endParaRPr lang="en-US" baseline="0" dirty="0" smtClean="0"/>
          </a:p>
          <a:p>
            <a:r>
              <a:rPr lang="en-US" baseline="0" dirty="0" smtClean="0"/>
              <a:t>There are also a number of custom tools built using Colectica SDK that work off the information in Colectica Repository.</a:t>
            </a:r>
          </a:p>
          <a:p>
            <a:endParaRPr lang="en-NZ" baseline="0" dirty="0"/>
          </a:p>
          <a:p>
            <a:r>
              <a:rPr lang="en-NZ" baseline="0" dirty="0" smtClean="0"/>
              <a:t>[</a:t>
            </a:r>
            <a:r>
              <a:rPr lang="en-NZ" sz="1200" b="0" i="0" u="none" strike="noStrike" kern="1200" baseline="0" dirty="0" smtClean="0">
                <a:solidFill>
                  <a:schemeClr val="tx1"/>
                </a:solidFill>
                <a:latin typeface="+mn-lt"/>
                <a:ea typeface="+mn-ea"/>
                <a:cs typeface="+mn-cs"/>
              </a:rPr>
              <a:t>Also, SNZ’s overall architecture for metadata will include some other metadata components (e.g. classification management system) that will for example allow for advanced management and business process workflows around some key types of metadata. The pieces will interoperate with Colectica and will be DDI friendly. SNZ’s overall metadata strategy also extends beyond systems and critically includes work to fit tools into business processes and engage with specialised areas.]</a:t>
            </a:r>
            <a:endParaRPr lang="en-NZ" baseline="0" dirty="0" smtClean="0"/>
          </a:p>
        </p:txBody>
      </p:sp>
      <p:sp>
        <p:nvSpPr>
          <p:cNvPr id="4" name="Slide Number Placeholder 3"/>
          <p:cNvSpPr>
            <a:spLocks noGrp="1"/>
          </p:cNvSpPr>
          <p:nvPr>
            <p:ph type="sldNum" sz="quarter" idx="10"/>
          </p:nvPr>
        </p:nvSpPr>
        <p:spPr/>
        <p:txBody>
          <a:bodyPr/>
          <a:lstStyle/>
          <a:p>
            <a:fld id="{7F69FDA5-1478-4445-BC07-20053B5D7518}" type="slidenum">
              <a:rPr lang="en-US" smtClean="0"/>
              <a:t>17</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is also a parallel test environment that Statistics New Zealand uses to ensure changes to the software work well with the production workflow.</a:t>
            </a:r>
          </a:p>
          <a:p>
            <a:endParaRPr lang="en-NZ" baseline="0" dirty="0" smtClean="0"/>
          </a:p>
          <a:p>
            <a:r>
              <a:rPr lang="en-NZ" baseline="0" dirty="0" smtClean="0"/>
              <a:t>[Also have a 	UAT]</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18</a:t>
            </a:fld>
            <a:endParaRPr lang="en-US"/>
          </a:p>
        </p:txBody>
      </p:sp>
    </p:spTree>
    <p:extLst>
      <p:ext uri="{BB962C8B-B14F-4D97-AF65-F5344CB8AC3E}">
        <p14:creationId xmlns:p14="http://schemas.microsoft.com/office/powerpoint/2010/main" val="2218713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Colectica offers a good amount of software, but it didn’t perfectly meet the needs of</a:t>
            </a:r>
            <a:r>
              <a:rPr lang="en-US" baseline="0" dirty="0" smtClean="0"/>
              <a:t> Statistics New Zealand.</a:t>
            </a:r>
          </a:p>
          <a:p>
            <a:endParaRPr lang="en-US" baseline="0" dirty="0" smtClean="0"/>
          </a:p>
          <a:p>
            <a:r>
              <a:rPr lang="en-US" baseline="0" dirty="0" smtClean="0"/>
              <a:t>This is something that often comes up when discussing off-the-shelf software: each potential user has unique needs, so they often prefer to design and build systems specific to their environments.</a:t>
            </a:r>
          </a:p>
          <a:p>
            <a:endParaRPr lang="en-US" baseline="0" dirty="0" smtClean="0"/>
          </a:p>
          <a:p>
            <a:r>
              <a:rPr lang="en-US" baseline="0" dirty="0" smtClean="0"/>
              <a:t>The nice thing about Colectica is that it isn’t a static solution that you have to take or leave. It can be extended and customized, and we did a good amount of this with Statistics New Zealand.</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19</a:t>
            </a:fld>
            <a:endParaRPr lang="en-US"/>
          </a:p>
        </p:txBody>
      </p:sp>
    </p:spTree>
    <p:extLst>
      <p:ext uri="{BB962C8B-B14F-4D97-AF65-F5344CB8AC3E}">
        <p14:creationId xmlns:p14="http://schemas.microsoft.com/office/powerpoint/2010/main" val="2181234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Instead of starting</a:t>
            </a:r>
            <a:r>
              <a:rPr lang="en-US" baseline="0" dirty="0" smtClean="0"/>
              <a:t> from 0%, start from 80%</a:t>
            </a:r>
          </a:p>
          <a:p>
            <a:endParaRPr lang="en-NZ" baseline="0" dirty="0" smtClean="0"/>
          </a:p>
          <a:p>
            <a:r>
              <a:rPr lang="en-NZ" baseline="0" dirty="0" smtClean="0"/>
              <a:t>[For national statistical agencies this is a helpful step up as they seek to move from a boutique to industrialised production process. Use of Colectica allows agencies to benefit from already developed base infrastructure that are common to the research community and focus their efforts on developments to support statistical agency specific functionality.</a:t>
            </a:r>
          </a:p>
          <a:p>
            <a:endParaRPr lang="en-NZ" baseline="0" dirty="0" smtClean="0"/>
          </a:p>
          <a:p>
            <a:r>
              <a:rPr lang="en-NZ" baseline="0" dirty="0" smtClean="0"/>
              <a:t>Note that ‘Goal’ here is a reference metadata system that allows for documenting key information created and used throughout the statistical process and a central hub for connecting and interacting with other to-be-developed metadata systems.]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20</a:t>
            </a:fld>
            <a:endParaRPr lang="en-US"/>
          </a:p>
        </p:txBody>
      </p:sp>
    </p:spTree>
    <p:extLst>
      <p:ext uri="{BB962C8B-B14F-4D97-AF65-F5344CB8AC3E}">
        <p14:creationId xmlns:p14="http://schemas.microsoft.com/office/powerpoint/2010/main" val="42414802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made some specific improvements to the software as part of Statistics New Zealand’s adoption.</a:t>
            </a:r>
          </a:p>
          <a:p>
            <a:endParaRPr lang="en-US" baseline="0" dirty="0" smtClean="0"/>
          </a:p>
          <a:p>
            <a:pPr marL="171450" indent="-171450">
              <a:buFontTx/>
              <a:buChar char="-"/>
            </a:pPr>
            <a:r>
              <a:rPr lang="en-US" baseline="0" dirty="0" smtClean="0"/>
              <a:t>The Repository’s versioning is much more robust</a:t>
            </a:r>
            <a:r>
              <a:rPr lang="en-US" baseline="0" dirty="0" smtClean="0"/>
              <a:t>.</a:t>
            </a:r>
          </a:p>
          <a:p>
            <a:pPr marL="171450" indent="-171450">
              <a:buFontTx/>
              <a:buChar char="-"/>
            </a:pPr>
            <a:r>
              <a:rPr lang="en-US" baseline="0" dirty="0" smtClean="0"/>
              <a:t>Item level permissions</a:t>
            </a:r>
          </a:p>
          <a:p>
            <a:pPr marL="171450" indent="-171450">
              <a:buFontTx/>
              <a:buChar char="-"/>
            </a:pPr>
            <a:r>
              <a:rPr lang="en-US" baseline="0" dirty="0" smtClean="0"/>
              <a:t>Repository usage statistics</a:t>
            </a:r>
            <a:endParaRPr lang="en-US" baseline="0" dirty="0" smtClean="0"/>
          </a:p>
          <a:p>
            <a:pPr marL="171450" indent="-171450">
              <a:buFontTx/>
              <a:buChar char="-"/>
            </a:pPr>
            <a:r>
              <a:rPr lang="en-US" baseline="0" dirty="0" smtClean="0"/>
              <a:t>Workflow Services is a completely new product built to meet their publication requirements.</a:t>
            </a:r>
          </a:p>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21</a:t>
            </a:fld>
            <a:endParaRPr lang="en-US"/>
          </a:p>
        </p:txBody>
      </p:sp>
    </p:spTree>
    <p:extLst>
      <p:ext uri="{BB962C8B-B14F-4D97-AF65-F5344CB8AC3E}">
        <p14:creationId xmlns:p14="http://schemas.microsoft.com/office/powerpoint/2010/main" val="928507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a:t>
            </a:r>
            <a:r>
              <a:rPr lang="en-US" baseline="0" dirty="0" smtClean="0"/>
              <a:t> more searching through email to find the right Word document with the latest questions.</a:t>
            </a:r>
          </a:p>
          <a:p>
            <a:endParaRPr lang="en-US" baseline="0" dirty="0" smtClean="0"/>
          </a:p>
          <a:p>
            <a:r>
              <a:rPr lang="en-US" baseline="0" dirty="0" smtClean="0"/>
              <a:t>The correct question comes straight from the central repository.</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22</a:t>
            </a:fld>
            <a:endParaRPr lang="en-US"/>
          </a:p>
        </p:txBody>
      </p:sp>
    </p:spTree>
    <p:extLst>
      <p:ext uri="{BB962C8B-B14F-4D97-AF65-F5344CB8AC3E}">
        <p14:creationId xmlns:p14="http://schemas.microsoft.com/office/powerpoint/2010/main" val="4134915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under development at Statistics New Zealand, by</a:t>
            </a:r>
            <a:r>
              <a:rPr lang="en-US" baseline="0" dirty="0" smtClean="0"/>
              <a:t> their technical team.</a:t>
            </a:r>
          </a:p>
          <a:p>
            <a:endParaRPr lang="en-NZ" baseline="0" dirty="0" smtClean="0"/>
          </a:p>
          <a:p>
            <a:r>
              <a:rPr lang="en-NZ" baseline="0" dirty="0" smtClean="0"/>
              <a:t>[Specifically Colectica will be used as a source to populate structured and contextual metadata into other systems, e.g. variables populated into processing and analysis systems and releasing metadata along with data to external researchers]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23</a:t>
            </a:fld>
            <a:endParaRPr lang="en-US"/>
          </a:p>
        </p:txBody>
      </p:sp>
    </p:spTree>
    <p:extLst>
      <p:ext uri="{BB962C8B-B14F-4D97-AF65-F5344CB8AC3E}">
        <p14:creationId xmlns:p14="http://schemas.microsoft.com/office/powerpoint/2010/main" val="166865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system</a:t>
            </a:r>
            <a:r>
              <a:rPr lang="en-US" baseline="0" dirty="0" smtClean="0"/>
              <a:t> has been in production for the last several months, so lets take look at some of the results.</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24</a:t>
            </a:fld>
            <a:endParaRPr lang="en-US"/>
          </a:p>
        </p:txBody>
      </p:sp>
    </p:spTree>
    <p:extLst>
      <p:ext uri="{BB962C8B-B14F-4D97-AF65-F5344CB8AC3E}">
        <p14:creationId xmlns:p14="http://schemas.microsoft.com/office/powerpoint/2010/main" val="4041554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What we had in the past was duplication of info into each of the systems. Not just duplication, not from a single source. Copy and pasting, re-entering into different systems.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Capture the information when they first think of it. And then use that to load the data collection system, data processing system., </a:t>
            </a:r>
            <a:r>
              <a:rPr lang="en-US" sz="1200" b="0" i="0" kern="1200" dirty="0" err="1" smtClean="0">
                <a:solidFill>
                  <a:schemeClr val="tx1"/>
                </a:solidFill>
                <a:effectLst/>
                <a:latin typeface="+mn-lt"/>
                <a:ea typeface="+mn-ea"/>
                <a:cs typeface="+mn-cs"/>
              </a:rPr>
              <a:t>etc</a:t>
            </a:r>
            <a:r>
              <a:rPr lang="en-US" sz="1200" b="0" i="0" kern="1200" dirty="0" smtClean="0">
                <a:solidFill>
                  <a:schemeClr val="tx1"/>
                </a:solidFill>
                <a:effectLst/>
                <a:latin typeface="+mn-lt"/>
                <a:ea typeface="+mn-ea"/>
                <a:cs typeface="+mn-cs"/>
              </a:rPr>
              <a:t>, load dissemination with much more of the contextual metadata.</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More metadata, and more accurate metadata.</a:t>
            </a:r>
          </a:p>
          <a:p>
            <a:endParaRPr lang="en-NZ" sz="1200" b="0" i="0" kern="1200" dirty="0" smtClean="0">
              <a:solidFill>
                <a:schemeClr val="tx1"/>
              </a:solidFill>
              <a:effectLst/>
              <a:latin typeface="+mn-lt"/>
              <a:ea typeface="+mn-ea"/>
              <a:cs typeface="+mn-cs"/>
            </a:endParaRPr>
          </a:p>
          <a:p>
            <a:r>
              <a:rPr lang="en-NZ" sz="1200" b="0" i="0" kern="1200" dirty="0" smtClean="0">
                <a:solidFill>
                  <a:schemeClr val="tx1"/>
                </a:solidFill>
                <a:effectLst/>
                <a:latin typeface="+mn-lt"/>
                <a:ea typeface="+mn-ea"/>
                <a:cs typeface="+mn-cs"/>
              </a:rPr>
              <a:t>[About efficiency]</a:t>
            </a: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25</a:t>
            </a:fld>
            <a:endParaRPr lang="en-US"/>
          </a:p>
        </p:txBody>
      </p:sp>
    </p:spTree>
    <p:extLst>
      <p:ext uri="{BB962C8B-B14F-4D97-AF65-F5344CB8AC3E}">
        <p14:creationId xmlns:p14="http://schemas.microsoft.com/office/powerpoint/2010/main" val="3642382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Old: 12-16 weeks to get somebody up to speed</a:t>
            </a:r>
          </a:p>
          <a:p>
            <a:r>
              <a:rPr lang="en-US" dirty="0" smtClean="0"/>
              <a:t>Now: 2 weeks</a:t>
            </a:r>
          </a:p>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27</a:t>
            </a:fld>
            <a:endParaRPr lang="en-US"/>
          </a:p>
        </p:txBody>
      </p:sp>
    </p:spTree>
    <p:extLst>
      <p:ext uri="{BB962C8B-B14F-4D97-AF65-F5344CB8AC3E}">
        <p14:creationId xmlns:p14="http://schemas.microsoft.com/office/powerpoint/2010/main" val="2648305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Many more</a:t>
            </a:r>
            <a:r>
              <a:rPr lang="en-US" baseline="0" dirty="0" smtClean="0"/>
              <a:t> datasets will be added soon</a:t>
            </a:r>
          </a:p>
          <a:p>
            <a:pPr marL="171450" indent="-171450">
              <a:buFontTx/>
              <a:buChar char="-"/>
            </a:pPr>
            <a:r>
              <a:rPr lang="en-US" baseline="0" dirty="0" smtClean="0"/>
              <a:t>All series have abstract, purpose, and citation information. Some have more detail</a:t>
            </a:r>
          </a:p>
          <a:p>
            <a:pPr marL="0" marR="0" indent="0" algn="l" defTabSz="914400" rtl="0" eaLnBrk="1" fontAlgn="auto" latinLnBrk="0" hangingPunct="1">
              <a:lnSpc>
                <a:spcPct val="100000"/>
              </a:lnSpc>
              <a:spcBef>
                <a:spcPts val="0"/>
              </a:spcBef>
              <a:spcAft>
                <a:spcPts val="0"/>
              </a:spcAft>
              <a:buClrTx/>
              <a:buSzTx/>
              <a:buFontTx/>
              <a:buNone/>
              <a:tabLst/>
              <a:defRPr/>
            </a:pPr>
            <a:endParaRPr lang="en-NZ"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NZ" sz="1200" b="0" i="0" u="none" strike="noStrike" kern="1200" baseline="0" dirty="0" smtClean="0">
                <a:solidFill>
                  <a:schemeClr val="tx1"/>
                </a:solidFill>
                <a:latin typeface="+mn-lt"/>
                <a:ea typeface="+mn-ea"/>
                <a:cs typeface="+mn-cs"/>
              </a:rPr>
              <a:t>[]</a:t>
            </a:r>
            <a:endParaRPr lang="en-NZ" sz="1200" b="0" i="0" u="none" strike="noStrike" kern="1200" baseline="0" dirty="0" smtClean="0">
              <a:solidFill>
                <a:schemeClr val="tx1"/>
              </a:solidFill>
              <a:latin typeface="+mn-lt"/>
              <a:ea typeface="+mn-ea"/>
              <a:cs typeface="+mn-cs"/>
            </a:endParaRP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28</a:t>
            </a:fld>
            <a:endParaRPr lang="en-US"/>
          </a:p>
        </p:txBody>
      </p:sp>
    </p:spTree>
    <p:extLst>
      <p:ext uri="{BB962C8B-B14F-4D97-AF65-F5344CB8AC3E}">
        <p14:creationId xmlns:p14="http://schemas.microsoft.com/office/powerpoint/2010/main" val="3081275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sz="1200" b="0" i="0" u="none" strike="noStrike" kern="1200" baseline="0" dirty="0" smtClean="0">
                <a:solidFill>
                  <a:srgbClr val="FF0000"/>
                </a:solidFill>
                <a:latin typeface="+mn-lt"/>
                <a:ea typeface="+mn-ea"/>
                <a:cs typeface="+mn-cs"/>
              </a:rPr>
              <a:t>Adopted DDI but are also actively involved in GSIM (Generic Statistical Information Model) work and we see adoption of DDI as a good stepping stone / way of adopting GSIM and we are eager to see the two become more aligned]</a:t>
            </a:r>
            <a:endParaRPr lang="en-US" dirty="0" smtClean="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7F69FDA5-1478-4445-BC07-20053B5D7518}" type="slidenum">
              <a:rPr lang="en-US" smtClean="0"/>
              <a:t>29</a:t>
            </a:fld>
            <a:endParaRPr lang="en-US"/>
          </a:p>
        </p:txBody>
      </p:sp>
    </p:spTree>
    <p:extLst>
      <p:ext uri="{BB962C8B-B14F-4D97-AF65-F5344CB8AC3E}">
        <p14:creationId xmlns:p14="http://schemas.microsoft.com/office/powerpoint/2010/main" val="3011709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4E3265-14E3-499D-A250-3990DD3FB2C1}"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1625454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F5682316-43F6-442C-B05E-B232ABD284DB}" type="datetimeFigureOut">
              <a:rPr lang="en-US" smtClean="0"/>
              <a:t>12/3/2012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3FE9BAB-DE95-439E-A65B-EFFA05DE9F8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5682316-43F6-442C-B05E-B232ABD284DB}" type="datetimeFigureOut">
              <a:rPr lang="en-US" smtClean="0"/>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3FE9BAB-DE95-439E-A65B-EFFA05DE9F85}"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F5682316-43F6-442C-B05E-B232ABD284DB}" type="datetimeFigureOut">
              <a:rPr lang="en-US" smtClean="0"/>
              <a:t>12/3/2012</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3FE9BAB-DE95-439E-A65B-EFFA05DE9F85}"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F5682316-43F6-442C-B05E-B232ABD284DB}" type="datetimeFigureOut">
              <a:rPr lang="en-US" smtClean="0"/>
              <a:t>12/3/2012</a:t>
            </a:fld>
            <a:endParaRPr lang="en-US"/>
          </a:p>
        </p:txBody>
      </p:sp>
      <p:sp>
        <p:nvSpPr>
          <p:cNvPr id="10" name="Slide Number Placeholder 9"/>
          <p:cNvSpPr>
            <a:spLocks noGrp="1"/>
          </p:cNvSpPr>
          <p:nvPr>
            <p:ph type="sldNum" sz="quarter" idx="16"/>
          </p:nvPr>
        </p:nvSpPr>
        <p:spPr/>
        <p:txBody>
          <a:bodyPr rtlCol="0"/>
          <a:lstStyle/>
          <a:p>
            <a:fld id="{13FE9BAB-DE95-439E-A65B-EFFA05DE9F85}"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F5682316-43F6-442C-B05E-B232ABD284DB}" type="datetimeFigureOut">
              <a:rPr lang="en-US" smtClean="0"/>
              <a:t>12/3/2012</a:t>
            </a:fld>
            <a:endParaRPr lang="en-US"/>
          </a:p>
        </p:txBody>
      </p:sp>
      <p:sp>
        <p:nvSpPr>
          <p:cNvPr id="12" name="Slide Number Placeholder 11"/>
          <p:cNvSpPr>
            <a:spLocks noGrp="1"/>
          </p:cNvSpPr>
          <p:nvPr>
            <p:ph type="sldNum" sz="quarter" idx="16"/>
          </p:nvPr>
        </p:nvSpPr>
        <p:spPr/>
        <p:txBody>
          <a:bodyPr rtlCol="0"/>
          <a:lstStyle/>
          <a:p>
            <a:fld id="{13FE9BAB-DE95-439E-A65B-EFFA05DE9F85}"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5682316-43F6-442C-B05E-B232ABD284DB}" type="datetimeFigureOut">
              <a:rPr lang="en-US" smtClean="0"/>
              <a:t>12/3/2012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3FE9BAB-DE95-439E-A65B-EFFA05DE9F8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682316-43F6-442C-B05E-B232ABD284DB}" type="datetimeFigureOut">
              <a:rPr lang="en-US" smtClean="0"/>
              <a:t>12/3/2012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3FE9BAB-DE95-439E-A65B-EFFA05DE9F8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5682316-43F6-442C-B05E-B232ABD284DB}" type="datetimeFigureOut">
              <a:rPr lang="en-US" smtClean="0"/>
              <a:t>12/3/2012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3FE9BAB-DE95-439E-A65B-EFFA05DE9F85}"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F5682316-43F6-442C-B05E-B232ABD284DB}" type="datetimeFigureOut">
              <a:rPr lang="en-US" smtClean="0"/>
              <a:t>12/3/2012</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3FE9BAB-DE95-439E-A65B-EFFA05DE9F85}"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5682316-43F6-442C-B05E-B232ABD284DB}" type="datetimeFigureOut">
              <a:rPr lang="en-US" smtClean="0"/>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E9BAB-DE95-439E-A65B-EFFA05DE9F8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F5682316-43F6-442C-B05E-B232ABD284DB}" type="datetimeFigureOut">
              <a:rPr lang="en-US" smtClean="0"/>
              <a:t>12/3/2012</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13FE9BAB-DE95-439E-A65B-EFFA05DE9F8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5682316-43F6-442C-B05E-B232ABD284DB}" type="datetimeFigureOut">
              <a:rPr lang="en-US" smtClean="0"/>
              <a:t>12/3/2012</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3FE9BAB-DE95-439E-A65B-EFFA05DE9F85}" type="slidenum">
              <a:rPr lang="en-US" smtClean="0"/>
              <a:t>‹#›</a:t>
            </a:fld>
            <a:endParaRPr lang="en-US"/>
          </a:p>
        </p:txBody>
      </p:sp>
      <p:pic>
        <p:nvPicPr>
          <p:cNvPr id="10" name="Picture 2" descr="C:\Users\jeremy\svn\admin\PR\Assets\colectica\custom\colectica43x22.png"/>
          <p:cNvPicPr>
            <a:picLocks noChangeAspect="1" noChangeArrowheads="1"/>
          </p:cNvPicPr>
          <p:nvPr userDrawn="1"/>
        </p:nvPicPr>
        <p:blipFill>
          <a:blip r:embed="rId13" cstate="print"/>
          <a:srcRect/>
          <a:stretch>
            <a:fillRect/>
          </a:stretch>
        </p:blipFill>
        <p:spPr bwMode="auto">
          <a:xfrm>
            <a:off x="8329613" y="6314016"/>
            <a:ext cx="433387" cy="222250"/>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customXml" Target="../../customXml/item8.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3.xml"/><Relationship Id="rId7"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customXml" Target="../../customXml/item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4.xml"/><Relationship Id="rId7"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customXml" Target="../../customXml/item5.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gif"/><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13.xml"/><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customXml" Target="../../customXml/item9.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1.gif"/><Relationship Id="rId4" Type="http://schemas.openxmlformats.org/officeDocument/2006/relationships/image" Target="../media/image26.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ustomXml" Target="../../customXml/item1.xml"/><Relationship Id="rId1" Type="http://schemas.openxmlformats.org/officeDocument/2006/relationships/customXml" Target="../../customXml/item3.xml"/><Relationship Id="rId5" Type="http://schemas.openxmlformats.org/officeDocument/2006/relationships/image" Target="../media/image7.emf"/><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customXml/item6.xml"/><Relationship Id="rId2" Type="http://schemas.openxmlformats.org/officeDocument/2006/relationships/customXml" Target="../../customXml/item4.xml"/><Relationship Id="rId1" Type="http://schemas.openxmlformats.org/officeDocument/2006/relationships/customXml" Target="../../customXml/item7.xml"/><Relationship Id="rId6" Type="http://schemas.openxmlformats.org/officeDocument/2006/relationships/image" Target="../media/image32.emf"/><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2200" y="533400"/>
            <a:ext cx="6477000" cy="1828800"/>
          </a:xfrm>
        </p:spPr>
        <p:txBody>
          <a:bodyPr>
            <a:normAutofit fontScale="90000"/>
          </a:bodyPr>
          <a:lstStyle/>
          <a:p>
            <a:r>
              <a:rPr lang="en-US" b="1" cap="none" dirty="0"/>
              <a:t>Powering Official Statistics at Statistics New Zealand with DDI-L and Colectica</a:t>
            </a:r>
            <a:endParaRPr lang="en-US" cap="none" dirty="0"/>
          </a:p>
        </p:txBody>
      </p:sp>
      <p:sp>
        <p:nvSpPr>
          <p:cNvPr id="3" name="Subtitle 2"/>
          <p:cNvSpPr>
            <a:spLocks noGrp="1"/>
          </p:cNvSpPr>
          <p:nvPr>
            <p:ph type="subTitle" idx="1"/>
          </p:nvPr>
        </p:nvSpPr>
        <p:spPr/>
        <p:txBody>
          <a:bodyPr/>
          <a:lstStyle/>
          <a:p>
            <a:r>
              <a:rPr lang="en-US" dirty="0" smtClean="0"/>
              <a:t>A Case Study</a:t>
            </a:r>
          </a:p>
        </p:txBody>
      </p:sp>
      <p:pic>
        <p:nvPicPr>
          <p:cNvPr id="4" name="Picture 2" descr="C:\Users\jeremy\svn\admin\PR\Assets\colectica\custom\colectica-green-web.png"/>
          <p:cNvPicPr>
            <a:picLocks noChangeAspect="1" noChangeArrowheads="1"/>
          </p:cNvPicPr>
          <p:nvPr/>
        </p:nvPicPr>
        <p:blipFill>
          <a:blip r:embed="rId2" cstate="print"/>
          <a:srcRect/>
          <a:stretch>
            <a:fillRect/>
          </a:stretch>
        </p:blipFill>
        <p:spPr bwMode="auto">
          <a:xfrm>
            <a:off x="5523956" y="3240373"/>
            <a:ext cx="2438401" cy="578563"/>
          </a:xfrm>
          <a:prstGeom prst="rect">
            <a:avLst/>
          </a:prstGeom>
          <a:noFill/>
        </p:spPr>
      </p:pic>
      <p:pic>
        <p:nvPicPr>
          <p:cNvPr id="5" name="Picture 2" descr="http://www.ddialliance.org/sites/default/files/ddi-logo-tagline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2356" y="4064399"/>
            <a:ext cx="1371600" cy="80924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stats.govt.nz/statistics/statsMain/Images/stat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303" y="3245563"/>
            <a:ext cx="1476375"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2929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6" name="Content Placeholder 5"/>
          <p:cNvSpPr>
            <a:spLocks noGrp="1"/>
          </p:cNvSpPr>
          <p:nvPr>
            <p:ph sz="quarter" idx="1"/>
          </p:nvPr>
        </p:nvSpPr>
        <p:spPr>
          <a:xfrm>
            <a:off x="609600" y="2971800"/>
            <a:ext cx="3886200" cy="3189766"/>
          </a:xfrm>
        </p:spPr>
        <p:txBody>
          <a:bodyPr/>
          <a:lstStyle/>
          <a:p>
            <a:r>
              <a:rPr lang="en-US" dirty="0" smtClean="0"/>
              <a:t>Adam Brown</a:t>
            </a:r>
          </a:p>
          <a:p>
            <a:pPr marL="365760" lvl="1" indent="0">
              <a:buNone/>
            </a:pPr>
            <a:r>
              <a:rPr lang="en-US" sz="2000" dirty="0" smtClean="0"/>
              <a:t>adam.brown@stats.govt.nz</a:t>
            </a:r>
          </a:p>
          <a:p>
            <a:endParaRPr lang="en-US" dirty="0" smtClean="0"/>
          </a:p>
          <a:p>
            <a:r>
              <a:rPr lang="en-US" dirty="0" smtClean="0"/>
              <a:t>Sally </a:t>
            </a:r>
            <a:r>
              <a:rPr lang="en-US" dirty="0" err="1" smtClean="0"/>
              <a:t>Vermaaten</a:t>
            </a:r>
            <a:endParaRPr lang="en-US" dirty="0" smtClean="0"/>
          </a:p>
          <a:p>
            <a:pPr marL="365760" lvl="1" indent="0">
              <a:buNone/>
            </a:pPr>
            <a:r>
              <a:rPr lang="en-US" sz="2000" dirty="0" smtClean="0"/>
              <a:t>sally.vermaaten@stats.govt.nz</a:t>
            </a:r>
            <a:endParaRPr lang="en-US" sz="2000" dirty="0"/>
          </a:p>
        </p:txBody>
      </p:sp>
      <p:sp>
        <p:nvSpPr>
          <p:cNvPr id="7" name="Content Placeholder 6"/>
          <p:cNvSpPr>
            <a:spLocks noGrp="1"/>
          </p:cNvSpPr>
          <p:nvPr>
            <p:ph sz="quarter" idx="2"/>
          </p:nvPr>
        </p:nvSpPr>
        <p:spPr>
          <a:xfrm>
            <a:off x="4844901" y="2971800"/>
            <a:ext cx="3886200" cy="3189766"/>
          </a:xfrm>
        </p:spPr>
        <p:txBody>
          <a:bodyPr/>
          <a:lstStyle/>
          <a:p>
            <a:r>
              <a:rPr lang="en-US" dirty="0" smtClean="0"/>
              <a:t>Jeremy Iverson</a:t>
            </a:r>
          </a:p>
          <a:p>
            <a:pPr marL="365760" lvl="1" indent="0">
              <a:buNone/>
            </a:pPr>
            <a:r>
              <a:rPr lang="en-US" sz="2000" dirty="0" smtClean="0"/>
              <a:t>jeremy@colectica.com</a:t>
            </a:r>
          </a:p>
          <a:p>
            <a:endParaRPr lang="en-US" dirty="0" smtClean="0"/>
          </a:p>
          <a:p>
            <a:r>
              <a:rPr lang="en-US" dirty="0" smtClean="0"/>
              <a:t>Dan Smith</a:t>
            </a:r>
          </a:p>
          <a:p>
            <a:pPr marL="365760" lvl="1" indent="0">
              <a:buNone/>
            </a:pPr>
            <a:r>
              <a:rPr lang="en-US" sz="2000" dirty="0" smtClean="0"/>
              <a:t>dan@colectica.com</a:t>
            </a:r>
            <a:endParaRPr lang="en-US" sz="2000" dirty="0"/>
          </a:p>
        </p:txBody>
      </p:sp>
      <p:sp>
        <p:nvSpPr>
          <p:cNvPr id="5" name="Slide Number Placeholder 4"/>
          <p:cNvSpPr>
            <a:spLocks noGrp="1"/>
          </p:cNvSpPr>
          <p:nvPr>
            <p:ph type="sldNum" sz="quarter" idx="16"/>
          </p:nvPr>
        </p:nvSpPr>
        <p:spPr/>
        <p:txBody>
          <a:bodyPr>
            <a:normAutofit fontScale="85000" lnSpcReduction="20000"/>
          </a:bodyPr>
          <a:lstStyle/>
          <a:p>
            <a:fld id="{7001C82C-A011-4758-B95D-86304D9DA0A2}" type="slidenum">
              <a:rPr lang="en-US" smtClean="0"/>
              <a:pPr/>
              <a:t>2</a:t>
            </a:fld>
            <a:endParaRPr lang="en-US"/>
          </a:p>
        </p:txBody>
      </p:sp>
      <p:pic>
        <p:nvPicPr>
          <p:cNvPr id="10" name="Picture 2" descr="C:\Users\jeremy\svn\admin\PR\Assets\colectica\custom\colectica-green-web.png"/>
          <p:cNvPicPr>
            <a:picLocks noChangeAspect="1" noChangeArrowheads="1"/>
          </p:cNvPicPr>
          <p:nvPr/>
        </p:nvPicPr>
        <p:blipFill>
          <a:blip r:embed="rId3" cstate="print"/>
          <a:srcRect/>
          <a:stretch>
            <a:fillRect/>
          </a:stretch>
        </p:blipFill>
        <p:spPr bwMode="auto">
          <a:xfrm>
            <a:off x="4876800" y="1859837"/>
            <a:ext cx="2438401" cy="578563"/>
          </a:xfrm>
          <a:prstGeom prst="rect">
            <a:avLst/>
          </a:prstGeom>
          <a:noFill/>
        </p:spPr>
      </p:pic>
      <p:pic>
        <p:nvPicPr>
          <p:cNvPr id="11" name="Picture 2" descr="http://www.stats.govt.nz/statistics/statsMain/Images/stat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008" y="1923481"/>
            <a:ext cx="1476375"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450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Statistics New Zealand</a:t>
            </a:r>
            <a:endParaRPr lang="en-US" dirty="0"/>
          </a:p>
        </p:txBody>
      </p:sp>
      <p:sp>
        <p:nvSpPr>
          <p:cNvPr id="3" name="Content Placeholder 2"/>
          <p:cNvSpPr>
            <a:spLocks noGrp="1"/>
          </p:cNvSpPr>
          <p:nvPr>
            <p:ph sz="quarter" idx="1"/>
          </p:nvPr>
        </p:nvSpPr>
        <p:spPr>
          <a:xfrm>
            <a:off x="612648" y="3276600"/>
            <a:ext cx="8153400" cy="2819400"/>
          </a:xfrm>
        </p:spPr>
        <p:txBody>
          <a:bodyPr>
            <a:normAutofit fontScale="92500" lnSpcReduction="20000"/>
          </a:bodyPr>
          <a:lstStyle/>
          <a:p>
            <a:endParaRPr lang="en-US" dirty="0"/>
          </a:p>
          <a:p>
            <a:r>
              <a:rPr lang="en-US" dirty="0" smtClean="0"/>
              <a:t>Ensure New Zealand has the statistical information it needs to grown and prosper</a:t>
            </a:r>
          </a:p>
          <a:p>
            <a:r>
              <a:rPr lang="en-US" dirty="0" smtClean="0"/>
              <a:t>We do this by:</a:t>
            </a:r>
          </a:p>
          <a:p>
            <a:pPr lvl="1"/>
            <a:r>
              <a:rPr lang="en-US" dirty="0" smtClean="0"/>
              <a:t>Make sure the right statistics are produced</a:t>
            </a:r>
          </a:p>
          <a:p>
            <a:pPr lvl="1"/>
            <a:r>
              <a:rPr lang="en-US" dirty="0" smtClean="0"/>
              <a:t>Make sure as many people as possible use the statistics to support informed decision making</a:t>
            </a:r>
            <a:endParaRPr lang="en-US" dirty="0"/>
          </a:p>
        </p:txBody>
      </p:sp>
      <p:sp>
        <p:nvSpPr>
          <p:cNvPr id="4" name="Rectangle 3"/>
          <p:cNvSpPr/>
          <p:nvPr/>
        </p:nvSpPr>
        <p:spPr>
          <a:xfrm>
            <a:off x="2057400" y="1828800"/>
            <a:ext cx="5486400"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sz="3600" b="1" dirty="0">
                <a:ln w="1905">
                  <a:solidFill>
                    <a:schemeClr val="bg1"/>
                  </a:solidFill>
                </a:ln>
                <a:solidFill>
                  <a:schemeClr val="tx1"/>
                </a:solidFill>
                <a:effectLst>
                  <a:innerShdw blurRad="69850" dist="43180" dir="5400000">
                    <a:srgbClr val="000000">
                      <a:alpha val="65000"/>
                    </a:srgbClr>
                  </a:innerShdw>
                </a:effectLst>
              </a:rPr>
              <a:t>“Turning data into </a:t>
            </a:r>
            <a:r>
              <a:rPr lang="en-US" sz="3600" b="1" dirty="0" smtClean="0">
                <a:ln w="1905">
                  <a:solidFill>
                    <a:schemeClr val="bg1"/>
                  </a:solidFill>
                </a:ln>
                <a:solidFill>
                  <a:schemeClr val="tx1"/>
                </a:solidFill>
                <a:effectLst>
                  <a:innerShdw blurRad="69850" dist="43180" dir="5400000">
                    <a:srgbClr val="000000">
                      <a:alpha val="65000"/>
                    </a:srgbClr>
                  </a:innerShdw>
                </a:effectLst>
              </a:rPr>
              <a:t>relevant </a:t>
            </a:r>
            <a:r>
              <a:rPr lang="en-US" sz="3600" b="1" dirty="0">
                <a:ln w="1905">
                  <a:solidFill>
                    <a:schemeClr val="bg1"/>
                  </a:solidFill>
                </a:ln>
                <a:solidFill>
                  <a:schemeClr val="tx1"/>
                </a:solidFill>
                <a:effectLst>
                  <a:innerShdw blurRad="69850" dist="43180" dir="5400000">
                    <a:srgbClr val="000000">
                      <a:alpha val="65000"/>
                    </a:srgbClr>
                  </a:innerShdw>
                </a:effectLst>
              </a:rPr>
              <a:t>knowledge, efficiently.”</a:t>
            </a:r>
          </a:p>
        </p:txBody>
      </p:sp>
      <p:pic>
        <p:nvPicPr>
          <p:cNvPr id="5" name="Picture 4"/>
          <p:cNvPicPr preferRelativeResize="0">
            <a:picLocks/>
          </p:cNvPicPr>
          <p:nvPr>
            <p:custDataLst>
              <p:custData r:id="rId1"/>
            </p:custDataLst>
          </p:nvPr>
        </p:nvPicPr>
        <p:blipFill rotWithShape="1">
          <a:blip r:embed="rId4">
            <a:extLst>
              <a:ext uri="{28A0092B-C50C-407E-A947-70E740481C1C}">
                <a14:useLocalDpi xmlns:a14="http://schemas.microsoft.com/office/drawing/2010/main" val="0"/>
              </a:ext>
            </a:extLst>
          </a:blip>
          <a:srcRect l="21068" t="22016" r="22016" b="23914"/>
          <a:stretch/>
        </p:blipFill>
        <p:spPr>
          <a:xfrm>
            <a:off x="920751" y="2173925"/>
            <a:ext cx="679449" cy="645475"/>
          </a:xfrm>
          <a:prstGeom prst="rect">
            <a:avLst/>
          </a:prstGeom>
        </p:spPr>
      </p:pic>
    </p:spTree>
    <p:extLst>
      <p:ext uri="{BB962C8B-B14F-4D97-AF65-F5344CB8AC3E}">
        <p14:creationId xmlns:p14="http://schemas.microsoft.com/office/powerpoint/2010/main" val="291028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WebBrowser"/>
          <p:cNvGrpSpPr/>
          <p:nvPr>
            <p:custDataLst>
              <p:custData r:id="rId1"/>
            </p:custDataLst>
          </p:nvPr>
        </p:nvGrpSpPr>
        <p:grpSpPr>
          <a:xfrm>
            <a:off x="0" y="0"/>
            <a:ext cx="9144000" cy="6858000"/>
            <a:chOff x="0" y="0"/>
            <a:chExt cx="9144000" cy="6858000"/>
          </a:xfrm>
        </p:grpSpPr>
        <p:sp>
          <p:nvSpPr>
            <p:cNvPr id="11" name="Background"/>
            <p:cNvSpPr/>
            <p:nvPr/>
          </p:nvSpPr>
          <p:spPr>
            <a:xfrm>
              <a:off x="0" y="0"/>
              <a:ext cx="9144000" cy="6858000"/>
            </a:xfrm>
            <a:prstGeom prst="rect">
              <a:avLst/>
            </a:prstGeom>
            <a:solidFill>
              <a:srgbClr val="FFFFFF">
                <a:lumMod val="65000"/>
              </a:srgbClr>
            </a:solidFill>
            <a:ln w="3175" cap="flat" cmpd="sng" algn="ctr">
              <a:solidFill>
                <a:srgbClr val="000000">
                  <a:lumMod val="50000"/>
                  <a:lumOff val="50000"/>
                </a:srgbClr>
              </a:solidFill>
              <a:prstDash val="solid"/>
            </a:ln>
            <a:effectLst/>
          </p:spPr>
          <p:txBody>
            <a:bodyPr rtlCol="0" anchor="ctr"/>
            <a:lstStyle/>
            <a:p>
              <a:pPr algn="ctr"/>
              <a:endParaRPr lang="en-US" sz="1050" kern="0" dirty="0">
                <a:solidFill>
                  <a:prstClr val="white"/>
                </a:solidFill>
                <a:latin typeface="Segoe UI"/>
              </a:endParaRPr>
            </a:p>
          </p:txBody>
        </p:sp>
        <p:sp>
          <p:nvSpPr>
            <p:cNvPr id="12" name="WindowTitle"/>
            <p:cNvSpPr txBox="1"/>
            <p:nvPr/>
          </p:nvSpPr>
          <p:spPr>
            <a:xfrm>
              <a:off x="22515" y="22341"/>
              <a:ext cx="1650195" cy="230832"/>
            </a:xfrm>
            <a:prstGeom prst="rect">
              <a:avLst/>
            </a:prstGeom>
            <a:noFill/>
          </p:spPr>
          <p:txBody>
            <a:bodyPr wrap="none" lIns="91440" tIns="18288" rIns="91440" bIns="27432" rtlCol="0" anchor="ctr" anchorCtr="0">
              <a:spAutoFit/>
            </a:bodyPr>
            <a:lstStyle/>
            <a:p>
              <a:r>
                <a:rPr lang="en-US" sz="1200" b="1" dirty="0" smtClean="0">
                  <a:solidFill>
                    <a:prstClr val="white"/>
                  </a:solidFill>
                  <a:latin typeface="Segoe UI" pitchFamily="34" charset="0"/>
                  <a:ea typeface="Segoe UI" pitchFamily="34" charset="0"/>
                  <a:cs typeface="Segoe UI" pitchFamily="34" charset="0"/>
                </a:rPr>
                <a:t>Browse for Statistics</a:t>
              </a:r>
            </a:p>
          </p:txBody>
        </p:sp>
        <p:grpSp>
          <p:nvGrpSpPr>
            <p:cNvPr id="13" name="Group 12"/>
            <p:cNvGrpSpPr/>
            <p:nvPr/>
          </p:nvGrpSpPr>
          <p:grpSpPr>
            <a:xfrm>
              <a:off x="81598" y="286385"/>
              <a:ext cx="320040" cy="316520"/>
              <a:chOff x="72073" y="221749"/>
              <a:chExt cx="320040" cy="316520"/>
            </a:xfrm>
          </p:grpSpPr>
          <p:sp>
            <p:nvSpPr>
              <p:cNvPr id="37" name="Oval 36"/>
              <p:cNvSpPr/>
              <p:nvPr/>
            </p:nvSpPr>
            <p:spPr>
              <a:xfrm>
                <a:off x="72073" y="221749"/>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38" name="Left Arrow 37"/>
              <p:cNvSpPr/>
              <p:nvPr/>
            </p:nvSpPr>
            <p:spPr>
              <a:xfrm>
                <a:off x="109358" y="275511"/>
                <a:ext cx="223134" cy="208997"/>
              </a:xfrm>
              <a:prstGeom prst="lef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14" name="Group 13"/>
            <p:cNvGrpSpPr/>
            <p:nvPr/>
          </p:nvGrpSpPr>
          <p:grpSpPr>
            <a:xfrm>
              <a:off x="453671" y="286384"/>
              <a:ext cx="320040" cy="316520"/>
              <a:chOff x="444146" y="221748"/>
              <a:chExt cx="320040" cy="316520"/>
            </a:xfrm>
          </p:grpSpPr>
          <p:sp>
            <p:nvSpPr>
              <p:cNvPr id="35" name="Oval 34"/>
              <p:cNvSpPr/>
              <p:nvPr/>
            </p:nvSpPr>
            <p:spPr>
              <a:xfrm>
                <a:off x="444146" y="221748"/>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36" name="Right Arrow 35"/>
              <p:cNvSpPr/>
              <p:nvPr/>
            </p:nvSpPr>
            <p:spPr>
              <a:xfrm>
                <a:off x="481249" y="275509"/>
                <a:ext cx="257146" cy="208999"/>
              </a:xfrm>
              <a:prstGeom prst="righ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15" name="Minimize - Maximize - Close"/>
            <p:cNvGrpSpPr/>
            <p:nvPr/>
          </p:nvGrpSpPr>
          <p:grpSpPr>
            <a:xfrm>
              <a:off x="8632311" y="92599"/>
              <a:ext cx="384527" cy="78032"/>
              <a:chOff x="9347642" y="131588"/>
              <a:chExt cx="384527" cy="78032"/>
            </a:xfrm>
          </p:grpSpPr>
          <p:cxnSp>
            <p:nvCxnSpPr>
              <p:cNvPr id="30" name="Line"/>
              <p:cNvCxnSpPr/>
              <p:nvPr/>
            </p:nvCxnSpPr>
            <p:spPr>
              <a:xfrm>
                <a:off x="9661396"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cxnSp>
            <p:nvCxnSpPr>
              <p:cNvPr id="31" name="Line"/>
              <p:cNvCxnSpPr/>
              <p:nvPr/>
            </p:nvCxnSpPr>
            <p:spPr>
              <a:xfrm flipH="1">
                <a:off x="9661395"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sp>
            <p:nvSpPr>
              <p:cNvPr id="32" name="Line"/>
              <p:cNvSpPr/>
              <p:nvPr/>
            </p:nvSpPr>
            <p:spPr>
              <a:xfrm rot="10800000" flipV="1">
                <a:off x="9499472" y="143255"/>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33" name="Line"/>
              <p:cNvSpPr/>
              <p:nvPr/>
            </p:nvSpPr>
            <p:spPr>
              <a:xfrm rot="10800000" flipV="1">
                <a:off x="9498658" y="135261"/>
                <a:ext cx="91440" cy="72527"/>
              </a:xfrm>
              <a:prstGeom prst="rect">
                <a:avLst/>
              </a:prstGeom>
              <a:noFill/>
              <a:ln w="12700">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34" name="Line"/>
              <p:cNvSpPr/>
              <p:nvPr/>
            </p:nvSpPr>
            <p:spPr>
              <a:xfrm rot="10800000" flipV="1">
                <a:off x="9347642" y="200476"/>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grpSp>
        <p:sp>
          <p:nvSpPr>
            <p:cNvPr id="16" name="WebPageBody"/>
            <p:cNvSpPr/>
            <p:nvPr/>
          </p:nvSpPr>
          <p:spPr>
            <a:xfrm>
              <a:off x="76200" y="685159"/>
              <a:ext cx="8991600" cy="6066801"/>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pPr algn="ctr"/>
              <a:endParaRPr lang="en-US" sz="1050" kern="0">
                <a:solidFill>
                  <a:prstClr val="white"/>
                </a:solidFill>
                <a:latin typeface="Segoe UI"/>
              </a:endParaRPr>
            </a:p>
          </p:txBody>
        </p:sp>
        <p:grpSp>
          <p:nvGrpSpPr>
            <p:cNvPr id="17" name="Group 16"/>
            <p:cNvGrpSpPr/>
            <p:nvPr/>
          </p:nvGrpSpPr>
          <p:grpSpPr>
            <a:xfrm>
              <a:off x="8386335" y="360579"/>
              <a:ext cx="640645" cy="183940"/>
              <a:chOff x="8303527" y="360579"/>
              <a:chExt cx="640645" cy="183940"/>
            </a:xfrm>
          </p:grpSpPr>
          <p:pic>
            <p:nvPicPr>
              <p:cNvPr id="27" name="Picture 2" descr="C:\Users\t-dantay\Documents\Placeholders\hom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3527" y="361109"/>
                <a:ext cx="18578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Users\t-dantay\Documents\Placeholders\setting.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3480" r="35484"/>
              <a:stretch/>
            </p:blipFill>
            <p:spPr bwMode="auto">
              <a:xfrm>
                <a:off x="8761292" y="360579"/>
                <a:ext cx="182880" cy="18394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C:\Users\t-dantay\Documents\Placeholders\sta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29364" y="361109"/>
                <a:ext cx="191874" cy="1828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p:cNvGrpSpPr/>
            <p:nvPr/>
          </p:nvGrpSpPr>
          <p:grpSpPr>
            <a:xfrm>
              <a:off x="923925" y="340846"/>
              <a:ext cx="7142930" cy="228600"/>
              <a:chOff x="923925" y="340846"/>
              <a:chExt cx="7142930" cy="228600"/>
            </a:xfrm>
          </p:grpSpPr>
          <p:sp>
            <p:nvSpPr>
              <p:cNvPr id="19" name="UrlBar"/>
              <p:cNvSpPr/>
              <p:nvPr/>
            </p:nvSpPr>
            <p:spPr>
              <a:xfrm>
                <a:off x="923925" y="340846"/>
                <a:ext cx="7142930" cy="228600"/>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r>
                  <a:rPr lang="en-US" sz="1200" kern="0" dirty="0" smtClean="0">
                    <a:solidFill>
                      <a:prstClr val="black">
                        <a:lumMod val="75000"/>
                        <a:lumOff val="25000"/>
                      </a:prstClr>
                    </a:solidFill>
                    <a:latin typeface="Segoe UI"/>
                  </a:rPr>
                  <a:t>http://www.stats.govt.nz/browse_for_stats.aspx</a:t>
                </a:r>
                <a:endParaRPr lang="en-US" sz="1200" kern="0" dirty="0">
                  <a:solidFill>
                    <a:prstClr val="black">
                      <a:lumMod val="75000"/>
                      <a:lumOff val="25000"/>
                    </a:prstClr>
                  </a:solidFill>
                  <a:latin typeface="Segoe UI"/>
                </a:endParaRPr>
              </a:p>
            </p:txBody>
          </p:sp>
          <p:grpSp>
            <p:nvGrpSpPr>
              <p:cNvPr id="20" name="Group 19"/>
              <p:cNvGrpSpPr/>
              <p:nvPr/>
            </p:nvGrpSpPr>
            <p:grpSpPr>
              <a:xfrm>
                <a:off x="7260350" y="363706"/>
                <a:ext cx="744325" cy="182880"/>
                <a:chOff x="7260350" y="363706"/>
                <a:chExt cx="744325" cy="182880"/>
              </a:xfrm>
            </p:grpSpPr>
            <p:pic>
              <p:nvPicPr>
                <p:cNvPr id="21" name="Search" descr="C:\Users\t-dantay\Documents\Placeholders\search.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726035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22" name="Refresh" descr="C:\Users\t-dantay\Documents\First24\arrowrepeat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4440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23" name="Drop Down" descr="C:\Users\t-dantay\Documents\First24\arrowsimple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5400000">
                  <a:off x="7476150" y="409426"/>
                  <a:ext cx="91440" cy="91440"/>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X"/>
                <p:cNvGrpSpPr/>
                <p:nvPr/>
              </p:nvGrpSpPr>
              <p:grpSpPr>
                <a:xfrm>
                  <a:off x="7913235" y="409426"/>
                  <a:ext cx="91440" cy="91440"/>
                  <a:chOff x="4687215" y="1739180"/>
                  <a:chExt cx="91440" cy="91440"/>
                </a:xfrm>
              </p:grpSpPr>
              <p:cxnSp>
                <p:nvCxnSpPr>
                  <p:cNvPr id="25" name="Straight Connector 24"/>
                  <p:cNvCxnSpPr/>
                  <p:nvPr/>
                </p:nvCxnSpPr>
                <p:spPr>
                  <a:xfrm flipV="1">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cxnSp>
                <p:nvCxnSpPr>
                  <p:cNvPr id="26" name="Straight Connector 25"/>
                  <p:cNvCxnSpPr/>
                  <p:nvPr/>
                </p:nvCxnSpPr>
                <p:spPr>
                  <a:xfrm>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grpSp>
          </p:grpSp>
        </p:grpSp>
      </p:grpSp>
      <p:pic>
        <p:nvPicPr>
          <p:cNvPr id="2053"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774" y="990600"/>
            <a:ext cx="8081343" cy="549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40119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ebBrowser"/>
          <p:cNvGrpSpPr/>
          <p:nvPr>
            <p:custDataLst>
              <p:custData r:id="rId1"/>
            </p:custDataLst>
          </p:nvPr>
        </p:nvGrpSpPr>
        <p:grpSpPr>
          <a:xfrm>
            <a:off x="0" y="0"/>
            <a:ext cx="9144000" cy="6858000"/>
            <a:chOff x="0" y="0"/>
            <a:chExt cx="9144000" cy="6858000"/>
          </a:xfrm>
        </p:grpSpPr>
        <p:sp>
          <p:nvSpPr>
            <p:cNvPr id="3" name="Background"/>
            <p:cNvSpPr/>
            <p:nvPr/>
          </p:nvSpPr>
          <p:spPr>
            <a:xfrm>
              <a:off x="0" y="0"/>
              <a:ext cx="9144000" cy="6858000"/>
            </a:xfrm>
            <a:prstGeom prst="rect">
              <a:avLst/>
            </a:prstGeom>
            <a:solidFill>
              <a:srgbClr val="FFFFFF">
                <a:lumMod val="65000"/>
              </a:srgbClr>
            </a:solidFill>
            <a:ln w="3175" cap="flat" cmpd="sng" algn="ctr">
              <a:solidFill>
                <a:srgbClr val="000000">
                  <a:lumMod val="50000"/>
                  <a:lumOff val="50000"/>
                </a:srgbClr>
              </a:solidFill>
              <a:prstDash val="solid"/>
            </a:ln>
            <a:effectLst/>
          </p:spPr>
          <p:txBody>
            <a:bodyPr rtlCol="0" anchor="ctr"/>
            <a:lstStyle/>
            <a:p>
              <a:pPr algn="ctr"/>
              <a:endParaRPr lang="en-US" sz="1050" kern="0" dirty="0">
                <a:solidFill>
                  <a:prstClr val="white"/>
                </a:solidFill>
                <a:latin typeface="Segoe UI"/>
              </a:endParaRPr>
            </a:p>
          </p:txBody>
        </p:sp>
        <p:sp>
          <p:nvSpPr>
            <p:cNvPr id="4" name="WindowTitle"/>
            <p:cNvSpPr txBox="1"/>
            <p:nvPr/>
          </p:nvSpPr>
          <p:spPr>
            <a:xfrm>
              <a:off x="22515" y="22341"/>
              <a:ext cx="2064861" cy="230832"/>
            </a:xfrm>
            <a:prstGeom prst="rect">
              <a:avLst/>
            </a:prstGeom>
            <a:noFill/>
          </p:spPr>
          <p:txBody>
            <a:bodyPr wrap="none" lIns="91440" tIns="18288" rIns="91440" bIns="27432" rtlCol="0" anchor="ctr" anchorCtr="0">
              <a:spAutoFit/>
            </a:bodyPr>
            <a:lstStyle/>
            <a:p>
              <a:r>
                <a:rPr lang="en-US" sz="1200" b="1" dirty="0" smtClean="0">
                  <a:solidFill>
                    <a:prstClr val="white"/>
                  </a:solidFill>
                  <a:latin typeface="Segoe UI" pitchFamily="34" charset="0"/>
                  <a:ea typeface="Segoe UI" pitchFamily="34" charset="0"/>
                  <a:cs typeface="Segoe UI" pitchFamily="34" charset="0"/>
                </a:rPr>
                <a:t>Questionnaires and Forms</a:t>
              </a:r>
            </a:p>
          </p:txBody>
        </p:sp>
        <p:grpSp>
          <p:nvGrpSpPr>
            <p:cNvPr id="5" name="Group 4"/>
            <p:cNvGrpSpPr/>
            <p:nvPr/>
          </p:nvGrpSpPr>
          <p:grpSpPr>
            <a:xfrm>
              <a:off x="81598" y="286385"/>
              <a:ext cx="320040" cy="316520"/>
              <a:chOff x="72073" y="221749"/>
              <a:chExt cx="320040" cy="316520"/>
            </a:xfrm>
          </p:grpSpPr>
          <p:sp>
            <p:nvSpPr>
              <p:cNvPr id="29" name="Oval 28"/>
              <p:cNvSpPr/>
              <p:nvPr/>
            </p:nvSpPr>
            <p:spPr>
              <a:xfrm>
                <a:off x="72073" y="221749"/>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30" name="Left Arrow 29"/>
              <p:cNvSpPr/>
              <p:nvPr/>
            </p:nvSpPr>
            <p:spPr>
              <a:xfrm>
                <a:off x="109358" y="275511"/>
                <a:ext cx="223134" cy="208997"/>
              </a:xfrm>
              <a:prstGeom prst="lef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6" name="Group 5"/>
            <p:cNvGrpSpPr/>
            <p:nvPr/>
          </p:nvGrpSpPr>
          <p:grpSpPr>
            <a:xfrm>
              <a:off x="453671" y="286384"/>
              <a:ext cx="320040" cy="316520"/>
              <a:chOff x="444146" y="221748"/>
              <a:chExt cx="320040" cy="316520"/>
            </a:xfrm>
          </p:grpSpPr>
          <p:sp>
            <p:nvSpPr>
              <p:cNvPr id="27" name="Oval 26"/>
              <p:cNvSpPr/>
              <p:nvPr/>
            </p:nvSpPr>
            <p:spPr>
              <a:xfrm>
                <a:off x="444146" y="221748"/>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28" name="Right Arrow 27"/>
              <p:cNvSpPr/>
              <p:nvPr/>
            </p:nvSpPr>
            <p:spPr>
              <a:xfrm>
                <a:off x="481249" y="275509"/>
                <a:ext cx="257146" cy="208999"/>
              </a:xfrm>
              <a:prstGeom prst="righ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7" name="Minimize - Maximize - Close"/>
            <p:cNvGrpSpPr/>
            <p:nvPr/>
          </p:nvGrpSpPr>
          <p:grpSpPr>
            <a:xfrm>
              <a:off x="8632311" y="92599"/>
              <a:ext cx="384527" cy="78032"/>
              <a:chOff x="9347642" y="131588"/>
              <a:chExt cx="384527" cy="78032"/>
            </a:xfrm>
          </p:grpSpPr>
          <p:cxnSp>
            <p:nvCxnSpPr>
              <p:cNvPr id="22" name="Line"/>
              <p:cNvCxnSpPr/>
              <p:nvPr/>
            </p:nvCxnSpPr>
            <p:spPr>
              <a:xfrm>
                <a:off x="9661396"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cxnSp>
            <p:nvCxnSpPr>
              <p:cNvPr id="23" name="Line"/>
              <p:cNvCxnSpPr/>
              <p:nvPr/>
            </p:nvCxnSpPr>
            <p:spPr>
              <a:xfrm flipH="1">
                <a:off x="9661395"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sp>
            <p:nvSpPr>
              <p:cNvPr id="24" name="Line"/>
              <p:cNvSpPr/>
              <p:nvPr/>
            </p:nvSpPr>
            <p:spPr>
              <a:xfrm rot="10800000" flipV="1">
                <a:off x="9499472" y="143255"/>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25" name="Line"/>
              <p:cNvSpPr/>
              <p:nvPr/>
            </p:nvSpPr>
            <p:spPr>
              <a:xfrm rot="10800000" flipV="1">
                <a:off x="9498658" y="135261"/>
                <a:ext cx="91440" cy="72527"/>
              </a:xfrm>
              <a:prstGeom prst="rect">
                <a:avLst/>
              </a:prstGeom>
              <a:noFill/>
              <a:ln w="12700">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26" name="Line"/>
              <p:cNvSpPr/>
              <p:nvPr/>
            </p:nvSpPr>
            <p:spPr>
              <a:xfrm rot="10800000" flipV="1">
                <a:off x="9347642" y="200476"/>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grpSp>
        <p:sp>
          <p:nvSpPr>
            <p:cNvPr id="8" name="WebPageBody"/>
            <p:cNvSpPr/>
            <p:nvPr/>
          </p:nvSpPr>
          <p:spPr>
            <a:xfrm>
              <a:off x="76200" y="685159"/>
              <a:ext cx="8991600" cy="6066801"/>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pPr algn="ctr"/>
              <a:endParaRPr lang="en-US" sz="1050" kern="0">
                <a:solidFill>
                  <a:prstClr val="white"/>
                </a:solidFill>
                <a:latin typeface="Segoe UI"/>
              </a:endParaRPr>
            </a:p>
          </p:txBody>
        </p:sp>
        <p:grpSp>
          <p:nvGrpSpPr>
            <p:cNvPr id="9" name="Group 8"/>
            <p:cNvGrpSpPr/>
            <p:nvPr/>
          </p:nvGrpSpPr>
          <p:grpSpPr>
            <a:xfrm>
              <a:off x="8386335" y="360579"/>
              <a:ext cx="640645" cy="183940"/>
              <a:chOff x="8303527" y="360579"/>
              <a:chExt cx="640645" cy="183940"/>
            </a:xfrm>
          </p:grpSpPr>
          <p:pic>
            <p:nvPicPr>
              <p:cNvPr id="19" name="Picture 2" descr="C:\Users\t-dantay\Documents\Placeholders\hom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3527" y="361109"/>
                <a:ext cx="18578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Users\t-dantay\Documents\Placeholders\setting.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3480" r="35484"/>
              <a:stretch/>
            </p:blipFill>
            <p:spPr bwMode="auto">
              <a:xfrm>
                <a:off x="8761292" y="360579"/>
                <a:ext cx="182880" cy="1839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C:\Users\t-dantay\Documents\Placeholders\sta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29364" y="361109"/>
                <a:ext cx="191874" cy="1828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p:cNvGrpSpPr/>
            <p:nvPr/>
          </p:nvGrpSpPr>
          <p:grpSpPr>
            <a:xfrm>
              <a:off x="923925" y="340846"/>
              <a:ext cx="7142930" cy="228600"/>
              <a:chOff x="923925" y="340846"/>
              <a:chExt cx="7142930" cy="228600"/>
            </a:xfrm>
          </p:grpSpPr>
          <p:sp>
            <p:nvSpPr>
              <p:cNvPr id="11" name="UrlBar"/>
              <p:cNvSpPr/>
              <p:nvPr/>
            </p:nvSpPr>
            <p:spPr>
              <a:xfrm>
                <a:off x="923925" y="340846"/>
                <a:ext cx="7142930" cy="228600"/>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r>
                  <a:rPr lang="en-US" sz="1200" kern="0" dirty="0" smtClean="0">
                    <a:solidFill>
                      <a:prstClr val="black">
                        <a:lumMod val="75000"/>
                        <a:lumOff val="25000"/>
                      </a:prstClr>
                    </a:solidFill>
                    <a:latin typeface="Segoe UI"/>
                  </a:rPr>
                  <a:t>http://www2.stats.govt.nz/domino/external/quest/sddquest.nsf/byName?openview</a:t>
                </a:r>
                <a:endParaRPr lang="en-US" sz="1200" kern="0" dirty="0">
                  <a:solidFill>
                    <a:prstClr val="black">
                      <a:lumMod val="75000"/>
                      <a:lumOff val="25000"/>
                    </a:prstClr>
                  </a:solidFill>
                  <a:latin typeface="Segoe UI"/>
                </a:endParaRPr>
              </a:p>
            </p:txBody>
          </p:sp>
          <p:grpSp>
            <p:nvGrpSpPr>
              <p:cNvPr id="12" name="Group 11"/>
              <p:cNvGrpSpPr/>
              <p:nvPr/>
            </p:nvGrpSpPr>
            <p:grpSpPr>
              <a:xfrm>
                <a:off x="7260350" y="363706"/>
                <a:ext cx="744325" cy="182880"/>
                <a:chOff x="7260350" y="363706"/>
                <a:chExt cx="744325" cy="182880"/>
              </a:xfrm>
            </p:grpSpPr>
            <p:pic>
              <p:nvPicPr>
                <p:cNvPr id="13" name="Search" descr="C:\Users\t-dantay\Documents\Placeholders\search.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726035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14" name="Refresh" descr="C:\Users\t-dantay\Documents\First24\arrowrepeat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4440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15" name="Drop Down" descr="C:\Users\t-dantay\Documents\First24\arrowsimple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5400000">
                  <a:off x="7476150" y="409426"/>
                  <a:ext cx="91440" cy="9144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X"/>
                <p:cNvGrpSpPr/>
                <p:nvPr/>
              </p:nvGrpSpPr>
              <p:grpSpPr>
                <a:xfrm>
                  <a:off x="7913235" y="409426"/>
                  <a:ext cx="91440" cy="91440"/>
                  <a:chOff x="4687215" y="1739180"/>
                  <a:chExt cx="91440" cy="91440"/>
                </a:xfrm>
              </p:grpSpPr>
              <p:cxnSp>
                <p:nvCxnSpPr>
                  <p:cNvPr id="17" name="Straight Connector 16"/>
                  <p:cNvCxnSpPr/>
                  <p:nvPr/>
                </p:nvCxnSpPr>
                <p:spPr>
                  <a:xfrm flipV="1">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cxnSp>
                <p:nvCxnSpPr>
                  <p:cNvPr id="18" name="Straight Connector 17"/>
                  <p:cNvCxnSpPr/>
                  <p:nvPr/>
                </p:nvCxnSpPr>
                <p:spPr>
                  <a:xfrm>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grpSp>
          </p:grpSp>
        </p:grpSp>
      </p:grpSp>
      <p:pic>
        <p:nvPicPr>
          <p:cNvPr id="3074"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 y="771525"/>
            <a:ext cx="7448550" cy="59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63500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DDI Data Lifecycle</a:t>
            </a:r>
            <a:endParaRPr lang="en-US" dirty="0"/>
          </a:p>
        </p:txBody>
      </p:sp>
      <p:sp>
        <p:nvSpPr>
          <p:cNvPr id="21" name="Slide Number Placeholder 3"/>
          <p:cNvSpPr>
            <a:spLocks noGrp="1"/>
          </p:cNvSpPr>
          <p:nvPr>
            <p:ph type="sldNum" sz="quarter" idx="12"/>
          </p:nvPr>
        </p:nvSpPr>
        <p:spPr>
          <a:xfrm>
            <a:off x="0" y="1272222"/>
            <a:ext cx="533400" cy="244476"/>
          </a:xfrm>
        </p:spPr>
        <p:txBody>
          <a:bodyPr>
            <a:normAutofit fontScale="85000" lnSpcReduction="20000"/>
          </a:bodyPr>
          <a:lstStyle/>
          <a:p>
            <a:fld id="{7001C82C-A011-4758-B95D-86304D9DA0A2}" type="slidenum">
              <a:rPr lang="en-US" smtClean="0"/>
              <a:pPr/>
              <a:t>6</a:t>
            </a:fld>
            <a:endParaRPr lang="en-US"/>
          </a:p>
        </p:txBody>
      </p:sp>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810000"/>
            <a:ext cx="12287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114800"/>
            <a:ext cx="14001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4067175"/>
            <a:ext cx="141922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4038600"/>
            <a:ext cx="13049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3962400"/>
            <a:ext cx="12573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3886200"/>
            <a:ext cx="13049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5486400"/>
            <a:ext cx="41814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1425" y="2600325"/>
            <a:ext cx="3152775"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1"/>
          <p:cNvPicPr/>
          <p:nvPr/>
        </p:nvPicPr>
        <p:blipFill rotWithShape="1">
          <a:blip r:embed="rId11"/>
          <a:srcRect b="88725"/>
          <a:stretch/>
        </p:blipFill>
        <p:spPr bwMode="auto">
          <a:xfrm>
            <a:off x="609600" y="1905001"/>
            <a:ext cx="7848600" cy="609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637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Statistics New Zealand Metadata Infrastructure Project</a:t>
            </a:r>
            <a:endParaRPr lang="en-US" dirty="0"/>
          </a:p>
        </p:txBody>
      </p:sp>
      <p:sp>
        <p:nvSpPr>
          <p:cNvPr id="3" name="Content Placeholder 2"/>
          <p:cNvSpPr>
            <a:spLocks noGrp="1"/>
          </p:cNvSpPr>
          <p:nvPr>
            <p:ph sz="quarter" idx="1"/>
          </p:nvPr>
        </p:nvSpPr>
        <p:spPr/>
        <p:txBody>
          <a:bodyPr>
            <a:normAutofit fontScale="92500"/>
          </a:bodyPr>
          <a:lstStyle/>
          <a:p>
            <a:endParaRPr lang="en-US" dirty="0" smtClean="0"/>
          </a:p>
          <a:p>
            <a:endParaRPr lang="en-US" dirty="0" smtClean="0"/>
          </a:p>
          <a:p>
            <a:endParaRPr lang="en-US" dirty="0"/>
          </a:p>
          <a:p>
            <a:endParaRPr lang="en-US" dirty="0" smtClean="0"/>
          </a:p>
          <a:p>
            <a:endParaRPr lang="en-US" dirty="0"/>
          </a:p>
          <a:p>
            <a:endParaRPr lang="en-US" dirty="0" smtClean="0"/>
          </a:p>
          <a:p>
            <a:r>
              <a:rPr lang="en-US" dirty="0" smtClean="0"/>
              <a:t>Create canonical sources for key information created and used during the statistical business process</a:t>
            </a:r>
          </a:p>
          <a:p>
            <a:r>
              <a:rPr lang="en-US" dirty="0" smtClean="0"/>
              <a:t>Solution: central repositories</a:t>
            </a:r>
            <a:endParaRPr lang="en-US" dirty="0"/>
          </a:p>
        </p:txBody>
      </p:sp>
      <p:grpSp>
        <p:nvGrpSpPr>
          <p:cNvPr id="4" name="Group 3"/>
          <p:cNvGrpSpPr/>
          <p:nvPr/>
        </p:nvGrpSpPr>
        <p:grpSpPr>
          <a:xfrm>
            <a:off x="1664127" y="1645821"/>
            <a:ext cx="5259334" cy="2743200"/>
            <a:chOff x="304800" y="1609725"/>
            <a:chExt cx="8162925" cy="4257675"/>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19400"/>
              <a:ext cx="12287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24200"/>
              <a:ext cx="14001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076575"/>
              <a:ext cx="141922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048000"/>
              <a:ext cx="13049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2971800"/>
              <a:ext cx="12573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2895600"/>
              <a:ext cx="13049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4495800"/>
              <a:ext cx="41814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1425" y="1609725"/>
              <a:ext cx="3152775"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3095988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r>
              <a:rPr lang="en-US" dirty="0" smtClean="0"/>
              <a:t>1. Use of Colectica at Statistics New Zealand</a:t>
            </a:r>
          </a:p>
          <a:p>
            <a:r>
              <a:rPr lang="en-US" dirty="0" smtClean="0"/>
              <a:t>2. Colectica Integration</a:t>
            </a:r>
          </a:p>
          <a:p>
            <a:r>
              <a:rPr lang="en-US" dirty="0" smtClean="0"/>
              <a:t>3. Results</a:t>
            </a:r>
            <a:endParaRPr lang="en-US" dirty="0"/>
          </a:p>
        </p:txBody>
      </p:sp>
      <p:sp>
        <p:nvSpPr>
          <p:cNvPr id="4" name="Title 3"/>
          <p:cNvSpPr>
            <a:spLocks noGrp="1"/>
          </p:cNvSpPr>
          <p:nvPr>
            <p:ph type="title"/>
          </p:nvPr>
        </p:nvSpPr>
        <p:spPr/>
        <p:txBody>
          <a:bodyPr/>
          <a:lstStyle/>
          <a:p>
            <a:r>
              <a:rPr lang="en-US" dirty="0" smtClean="0"/>
              <a:t>Overview</a:t>
            </a:r>
            <a:endParaRPr lang="en-US" dirty="0"/>
          </a:p>
        </p:txBody>
      </p:sp>
    </p:spTree>
    <p:extLst>
      <p:ext uri="{BB962C8B-B14F-4D97-AF65-F5344CB8AC3E}">
        <p14:creationId xmlns:p14="http://schemas.microsoft.com/office/powerpoint/2010/main" val="34805298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noAutofit/>
          </a:bodyPr>
          <a:lstStyle/>
          <a:p>
            <a:r>
              <a:rPr lang="en-US" sz="3600" dirty="0" smtClean="0"/>
              <a:t>Use of Colectica at Statistics New Zealand</a:t>
            </a:r>
            <a:endParaRPr lang="en-US" sz="3600" dirty="0"/>
          </a:p>
        </p:txBody>
      </p:sp>
    </p:spTree>
    <p:extLst>
      <p:ext uri="{BB962C8B-B14F-4D97-AF65-F5344CB8AC3E}">
        <p14:creationId xmlns:p14="http://schemas.microsoft.com/office/powerpoint/2010/main" val="32662601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Repository</a:t>
            </a:r>
            <a:endParaRPr lang="en-US" sz="3200" dirty="0"/>
          </a:p>
        </p:txBody>
      </p:sp>
      <p:sp>
        <p:nvSpPr>
          <p:cNvPr id="6" name="Freeform 5"/>
          <p:cNvSpPr/>
          <p:nvPr/>
        </p:nvSpPr>
        <p:spPr>
          <a:xfrm>
            <a:off x="490513" y="5096191"/>
            <a:ext cx="8185658" cy="825438"/>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490513" y="4061795"/>
            <a:ext cx="1898124" cy="978258"/>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2388637" y="4061795"/>
            <a:ext cx="1941706" cy="96507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SDK</a:t>
            </a:r>
            <a:endParaRPr lang="en-US" sz="2000" dirty="0">
              <a:effectLst/>
              <a:latin typeface="Times New Roman"/>
              <a:ea typeface="Times New Roman"/>
            </a:endParaRPr>
          </a:p>
        </p:txBody>
      </p:sp>
      <p:sp>
        <p:nvSpPr>
          <p:cNvPr id="9" name="Freeform 8"/>
          <p:cNvSpPr/>
          <p:nvPr/>
        </p:nvSpPr>
        <p:spPr>
          <a:xfrm>
            <a:off x="4369887" y="4061796"/>
            <a:ext cx="2044809" cy="96507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sp>
        <p:nvSpPr>
          <p:cNvPr id="10" name="Freeform 9"/>
          <p:cNvSpPr/>
          <p:nvPr/>
        </p:nvSpPr>
        <p:spPr>
          <a:xfrm>
            <a:off x="490513" y="3345915"/>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Workflow Server</a:t>
            </a:r>
            <a:endParaRPr lang="en-US" sz="2000">
              <a:effectLst/>
              <a:latin typeface="Times New Roman"/>
              <a:ea typeface="Times New Roman"/>
            </a:endParaRPr>
          </a:p>
        </p:txBody>
      </p:sp>
      <p:sp>
        <p:nvSpPr>
          <p:cNvPr id="11" name="Freeform 10"/>
          <p:cNvSpPr/>
          <p:nvPr/>
        </p:nvSpPr>
        <p:spPr>
          <a:xfrm>
            <a:off x="490513" y="2590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Repository (Public)</a:t>
            </a:r>
            <a:endParaRPr lang="en-US" sz="2000">
              <a:effectLst/>
              <a:latin typeface="Times New Roman"/>
              <a:ea typeface="Times New Roman"/>
            </a:endParaRPr>
          </a:p>
        </p:txBody>
      </p:sp>
      <p:sp>
        <p:nvSpPr>
          <p:cNvPr id="12" name="Freeform 11"/>
          <p:cNvSpPr/>
          <p:nvPr/>
        </p:nvSpPr>
        <p:spPr>
          <a:xfrm>
            <a:off x="490513" y="1828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Portal (Public)</a:t>
            </a:r>
            <a:endParaRPr lang="en-US" sz="2000" dirty="0">
              <a:effectLst/>
              <a:latin typeface="Times New Roman"/>
              <a:ea typeface="Times New Roman"/>
            </a:endParaRPr>
          </a:p>
        </p:txBody>
      </p:sp>
      <p:sp>
        <p:nvSpPr>
          <p:cNvPr id="13" name="Freeform 12"/>
          <p:cNvSpPr/>
          <p:nvPr/>
        </p:nvSpPr>
        <p:spPr>
          <a:xfrm>
            <a:off x="6427878" y="4061796"/>
            <a:ext cx="2248293" cy="97825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Portal (internal)</a:t>
            </a:r>
            <a:endParaRPr lang="en-US" sz="2000">
              <a:effectLst/>
              <a:latin typeface="Times New Roman"/>
              <a:ea typeface="Times New Roman"/>
            </a:endParaRPr>
          </a:p>
        </p:txBody>
      </p:sp>
      <p:sp>
        <p:nvSpPr>
          <p:cNvPr id="4" name="Rectangle 3"/>
          <p:cNvSpPr/>
          <p:nvPr/>
        </p:nvSpPr>
        <p:spPr>
          <a:xfrm>
            <a:off x="2667000" y="1219200"/>
            <a:ext cx="5943600" cy="40446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1" indent="-320040">
              <a:spcBef>
                <a:spcPts val="700"/>
              </a:spcBef>
              <a:buClr>
                <a:schemeClr val="accent2"/>
              </a:buClr>
              <a:buSzPct val="60000"/>
              <a:buFont typeface="Wingdings"/>
              <a:buChar char=""/>
            </a:pPr>
            <a:r>
              <a:rPr lang="en-US" sz="2400" dirty="0"/>
              <a:t>Central, authoritative source of metadata</a:t>
            </a:r>
          </a:p>
          <a:p>
            <a:pPr marL="320040" lvl="1" indent="-320040">
              <a:spcBef>
                <a:spcPts val="700"/>
              </a:spcBef>
              <a:buClr>
                <a:schemeClr val="accent2"/>
              </a:buClr>
              <a:buSzPct val="60000"/>
              <a:buFont typeface="Wingdings"/>
              <a:buChar char=""/>
            </a:pPr>
            <a:r>
              <a:rPr lang="en-US" sz="2400" dirty="0"/>
              <a:t>Built on DDI 3, ISO 11179, and Web Service standards</a:t>
            </a:r>
          </a:p>
          <a:p>
            <a:pPr marL="320040" lvl="1" indent="-320040">
              <a:spcBef>
                <a:spcPts val="700"/>
              </a:spcBef>
              <a:buClr>
                <a:schemeClr val="accent2"/>
              </a:buClr>
              <a:buSzPct val="60000"/>
              <a:buFont typeface="Wingdings"/>
              <a:buChar char=""/>
            </a:pPr>
            <a:r>
              <a:rPr lang="en-US" sz="2400" dirty="0" smtClean="0"/>
              <a:t>Full </a:t>
            </a:r>
            <a:r>
              <a:rPr lang="en-US" sz="2400" dirty="0"/>
              <a:t>audit trail and provenance tracking </a:t>
            </a:r>
          </a:p>
          <a:p>
            <a:pPr marL="320040" lvl="1" indent="-320040">
              <a:spcBef>
                <a:spcPts val="700"/>
              </a:spcBef>
              <a:buClr>
                <a:schemeClr val="accent2"/>
              </a:buClr>
              <a:buSzPct val="60000"/>
              <a:buFont typeface="Wingdings"/>
              <a:buChar char=""/>
            </a:pPr>
            <a:r>
              <a:rPr lang="en-US" sz="2400" dirty="0"/>
              <a:t>Item relationships</a:t>
            </a:r>
          </a:p>
          <a:p>
            <a:pPr marL="320040" lvl="1" indent="-320040">
              <a:spcBef>
                <a:spcPts val="700"/>
              </a:spcBef>
              <a:buClr>
                <a:schemeClr val="accent2"/>
              </a:buClr>
              <a:buSzPct val="60000"/>
              <a:buFont typeface="Wingdings"/>
              <a:buChar char=""/>
            </a:pPr>
            <a:r>
              <a:rPr lang="en-US" sz="2400" dirty="0"/>
              <a:t>Search</a:t>
            </a:r>
          </a:p>
          <a:p>
            <a:pPr marL="320040" lvl="1" indent="-320040">
              <a:spcBef>
                <a:spcPts val="700"/>
              </a:spcBef>
              <a:buClr>
                <a:schemeClr val="accent2"/>
              </a:buClr>
              <a:buSzPct val="60000"/>
              <a:buFont typeface="Wingdings"/>
              <a:buChar char=""/>
            </a:pPr>
            <a:r>
              <a:rPr lang="en-US" sz="2400" dirty="0"/>
              <a:t>Annotations</a:t>
            </a:r>
          </a:p>
          <a:p>
            <a:pPr marL="320040" lvl="1" indent="-320040">
              <a:spcBef>
                <a:spcPts val="700"/>
              </a:spcBef>
              <a:buClr>
                <a:schemeClr val="accent2"/>
              </a:buClr>
              <a:buSzPct val="60000"/>
              <a:buFont typeface="Wingdings"/>
              <a:buChar char=""/>
            </a:pPr>
            <a:r>
              <a:rPr lang="en-US" sz="2400" dirty="0" smtClean="0"/>
              <a:t>Secure Authentication and Encryption</a:t>
            </a:r>
          </a:p>
          <a:p>
            <a:pPr marL="320040" lvl="1" indent="-320040">
              <a:spcBef>
                <a:spcPts val="700"/>
              </a:spcBef>
              <a:buClr>
                <a:schemeClr val="accent2"/>
              </a:buClr>
              <a:buSzPct val="60000"/>
              <a:buFont typeface="Wingdings"/>
              <a:buChar char=""/>
            </a:pPr>
            <a:r>
              <a:rPr lang="en-US" sz="2400" dirty="0" smtClean="0"/>
              <a:t>Item and Type-based permissions</a:t>
            </a:r>
            <a:endParaRPr lang="en-US" sz="2400" dirty="0"/>
          </a:p>
        </p:txBody>
      </p:sp>
    </p:spTree>
    <p:extLst>
      <p:ext uri="{BB962C8B-B14F-4D97-AF65-F5344CB8AC3E}">
        <p14:creationId xmlns:p14="http://schemas.microsoft.com/office/powerpoint/2010/main" val="4060242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fade">
                                      <p:cBhvr>
                                        <p:cTn id="33" dur="500"/>
                                        <p:tgtEl>
                                          <p:spTgt spid="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Designer</a:t>
            </a:r>
            <a:endParaRPr lang="en-US" sz="3200" dirty="0"/>
          </a:p>
        </p:txBody>
      </p:sp>
      <p:grpSp>
        <p:nvGrpSpPr>
          <p:cNvPr id="5" name="Group 4"/>
          <p:cNvGrpSpPr/>
          <p:nvPr/>
        </p:nvGrpSpPr>
        <p:grpSpPr>
          <a:xfrm>
            <a:off x="490513" y="4061795"/>
            <a:ext cx="8185658" cy="1859834"/>
            <a:chOff x="0" y="1434294"/>
            <a:chExt cx="5257800" cy="1194606"/>
          </a:xfrm>
        </p:grpSpPr>
        <p:sp>
          <p:nvSpPr>
            <p:cNvPr id="6" name="Freeform 5"/>
            <p:cNvSpPr/>
            <p:nvPr/>
          </p:nvSpPr>
          <p:spPr>
            <a:xfrm>
              <a:off x="0" y="2098706"/>
              <a:ext cx="5257800" cy="530194"/>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0" y="1434294"/>
              <a:ext cx="1219200" cy="62835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Designer</a:t>
              </a:r>
              <a:endParaRPr lang="en-US" sz="2000" dirty="0">
                <a:effectLst/>
                <a:latin typeface="Times New Roman"/>
                <a:ea typeface="Times New Roman"/>
              </a:endParaRPr>
            </a:p>
          </p:txBody>
        </p:sp>
      </p:grpSp>
      <p:sp>
        <p:nvSpPr>
          <p:cNvPr id="8" name="Rectangle 7"/>
          <p:cNvSpPr/>
          <p:nvPr/>
        </p:nvSpPr>
        <p:spPr>
          <a:xfrm>
            <a:off x="2133600" y="2819400"/>
            <a:ext cx="5943600" cy="205697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a:solidFill>
                  <a:prstClr val="black"/>
                </a:solidFill>
              </a:rPr>
              <a:t>Create, ingest, manage, and edit metadata</a:t>
            </a:r>
          </a:p>
          <a:p>
            <a:pPr marL="320040" lvl="0" indent="-320040">
              <a:spcBef>
                <a:spcPts val="700"/>
              </a:spcBef>
              <a:buClr>
                <a:srgbClr val="DD8047"/>
              </a:buClr>
              <a:buSzPct val="60000"/>
              <a:buFont typeface="Wingdings"/>
              <a:buChar char=""/>
            </a:pPr>
            <a:r>
              <a:rPr lang="en-US" sz="2900" dirty="0">
                <a:solidFill>
                  <a:prstClr val="black"/>
                </a:solidFill>
              </a:rPr>
              <a:t>Usable DDI 3 for </a:t>
            </a:r>
            <a:r>
              <a:rPr lang="en-US" sz="2900" dirty="0" smtClean="0">
                <a:solidFill>
                  <a:prstClr val="black"/>
                </a:solidFill>
              </a:rPr>
              <a:t>end-users</a:t>
            </a:r>
          </a:p>
          <a:p>
            <a:pPr marL="320040" lvl="0" indent="-320040">
              <a:spcBef>
                <a:spcPts val="700"/>
              </a:spcBef>
              <a:buClr>
                <a:srgbClr val="DD8047"/>
              </a:buClr>
              <a:buSzPct val="60000"/>
              <a:buFont typeface="Wingdings"/>
              <a:buChar char=""/>
            </a:pPr>
            <a:r>
              <a:rPr lang="en-US" sz="2900" dirty="0" smtClean="0">
                <a:solidFill>
                  <a:prstClr val="black"/>
                </a:solidFill>
              </a:rPr>
              <a:t>Publish data to Repository</a:t>
            </a:r>
            <a:endParaRPr lang="en-US" sz="2900" dirty="0">
              <a:solidFill>
                <a:prstClr val="black"/>
              </a:solidFill>
            </a:endParaRPr>
          </a:p>
        </p:txBody>
      </p:sp>
      <p:pic>
        <p:nvPicPr>
          <p:cNvPr id="10" name="Picture 9"/>
          <p:cNvPicPr/>
          <p:nvPr/>
        </p:nvPicPr>
        <p:blipFill>
          <a:blip r:embed="rId3"/>
          <a:stretch>
            <a:fillRect/>
          </a:stretch>
        </p:blipFill>
        <p:spPr>
          <a:xfrm>
            <a:off x="2133600" y="1295401"/>
            <a:ext cx="6096000" cy="3744652"/>
          </a:xfrm>
          <a:prstGeom prst="rect">
            <a:avLst/>
          </a:prstGeom>
        </p:spPr>
      </p:pic>
    </p:spTree>
    <p:extLst>
      <p:ext uri="{BB962C8B-B14F-4D97-AF65-F5344CB8AC3E}">
        <p14:creationId xmlns:p14="http://schemas.microsoft.com/office/powerpoint/2010/main" val="41659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500"/>
                                        <p:tgtEl>
                                          <p:spTgt spid="8">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500"/>
                                        <p:tgtEl>
                                          <p:spTgt spid="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SDK</a:t>
            </a:r>
            <a:endParaRPr lang="en-US" sz="3200" dirty="0"/>
          </a:p>
        </p:txBody>
      </p:sp>
      <p:grpSp>
        <p:nvGrpSpPr>
          <p:cNvPr id="5" name="Group 4"/>
          <p:cNvGrpSpPr/>
          <p:nvPr/>
        </p:nvGrpSpPr>
        <p:grpSpPr>
          <a:xfrm>
            <a:off x="490513" y="4061795"/>
            <a:ext cx="8185658" cy="1859834"/>
            <a:chOff x="0" y="1434294"/>
            <a:chExt cx="5257800" cy="1194606"/>
          </a:xfrm>
        </p:grpSpPr>
        <p:sp>
          <p:nvSpPr>
            <p:cNvPr id="6" name="Freeform 5"/>
            <p:cNvSpPr/>
            <p:nvPr/>
          </p:nvSpPr>
          <p:spPr>
            <a:xfrm>
              <a:off x="0" y="2098706"/>
              <a:ext cx="5257800" cy="530194"/>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0" y="1434294"/>
              <a:ext cx="1219200" cy="62835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1219200" y="1434294"/>
              <a:ext cx="1247194" cy="619885"/>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SDK</a:t>
              </a:r>
              <a:endParaRPr lang="en-US" sz="2000" dirty="0">
                <a:effectLst/>
                <a:latin typeface="Times New Roman"/>
                <a:ea typeface="Times New Roman"/>
              </a:endParaRPr>
            </a:p>
          </p:txBody>
        </p:sp>
      </p:grpSp>
      <p:sp>
        <p:nvSpPr>
          <p:cNvPr id="9" name="Rectangle 8"/>
          <p:cNvSpPr/>
          <p:nvPr/>
        </p:nvSpPr>
        <p:spPr>
          <a:xfrm>
            <a:off x="990600" y="1676400"/>
            <a:ext cx="7848600" cy="250324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a:solidFill>
                  <a:prstClr val="black"/>
                </a:solidFill>
              </a:rPr>
              <a:t>Colectica Designer </a:t>
            </a:r>
            <a:r>
              <a:rPr lang="en-US" sz="2900" dirty="0" smtClean="0">
                <a:solidFill>
                  <a:prstClr val="black"/>
                </a:solidFill>
              </a:rPr>
              <a:t>is one </a:t>
            </a:r>
            <a:r>
              <a:rPr lang="en-US" sz="2900" dirty="0" smtClean="0">
                <a:solidFill>
                  <a:prstClr val="black"/>
                </a:solidFill>
              </a:rPr>
              <a:t>way </a:t>
            </a:r>
            <a:r>
              <a:rPr lang="en-US" sz="2900" dirty="0">
                <a:solidFill>
                  <a:prstClr val="black"/>
                </a:solidFill>
              </a:rPr>
              <a:t>to access Colectica Repository</a:t>
            </a:r>
          </a:p>
          <a:p>
            <a:pPr marL="320040" lvl="0" indent="-320040">
              <a:spcBef>
                <a:spcPts val="700"/>
              </a:spcBef>
              <a:buClr>
                <a:srgbClr val="DD8047"/>
              </a:buClr>
              <a:buSzPct val="60000"/>
              <a:buFont typeface="Wingdings"/>
              <a:buChar char=""/>
            </a:pPr>
            <a:r>
              <a:rPr lang="en-US" sz="2900" dirty="0">
                <a:solidFill>
                  <a:prstClr val="black"/>
                </a:solidFill>
              </a:rPr>
              <a:t>P</a:t>
            </a:r>
            <a:r>
              <a:rPr lang="en-US" sz="2900" dirty="0" smtClean="0">
                <a:solidFill>
                  <a:prstClr val="black"/>
                </a:solidFill>
              </a:rPr>
              <a:t>rogrammers can also interact </a:t>
            </a:r>
            <a:r>
              <a:rPr lang="en-US" sz="2900" dirty="0">
                <a:solidFill>
                  <a:prstClr val="black"/>
                </a:solidFill>
              </a:rPr>
              <a:t>with Colectica Repository to build custom tools</a:t>
            </a:r>
          </a:p>
          <a:p>
            <a:pPr marL="320040" lvl="0" indent="-320040">
              <a:spcBef>
                <a:spcPts val="700"/>
              </a:spcBef>
              <a:buClr>
                <a:srgbClr val="DD8047"/>
              </a:buClr>
              <a:buSzPct val="60000"/>
              <a:buFont typeface="Wingdings"/>
              <a:buChar char=""/>
            </a:pPr>
            <a:r>
              <a:rPr lang="en-US" sz="2900" dirty="0">
                <a:solidFill>
                  <a:prstClr val="black"/>
                </a:solidFill>
              </a:rPr>
              <a:t>Colectica SDK and Web Services enable this</a:t>
            </a:r>
          </a:p>
        </p:txBody>
      </p:sp>
    </p:spTree>
    <p:extLst>
      <p:ext uri="{BB962C8B-B14F-4D97-AF65-F5344CB8AC3E}">
        <p14:creationId xmlns:p14="http://schemas.microsoft.com/office/powerpoint/2010/main" val="41659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500"/>
                                        <p:tgtEl>
                                          <p:spTgt spid="9">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fade">
                                      <p:cBhvr>
                                        <p:cTn id="16"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Toolkit</a:t>
            </a:r>
            <a:endParaRPr lang="en-US" sz="3200" dirty="0"/>
          </a:p>
        </p:txBody>
      </p:sp>
      <p:grpSp>
        <p:nvGrpSpPr>
          <p:cNvPr id="5" name="Group 4"/>
          <p:cNvGrpSpPr/>
          <p:nvPr/>
        </p:nvGrpSpPr>
        <p:grpSpPr>
          <a:xfrm>
            <a:off x="490513" y="4061795"/>
            <a:ext cx="8185658" cy="1859834"/>
            <a:chOff x="0" y="1434294"/>
            <a:chExt cx="5257800" cy="1194606"/>
          </a:xfrm>
        </p:grpSpPr>
        <p:sp>
          <p:nvSpPr>
            <p:cNvPr id="6" name="Freeform 5"/>
            <p:cNvSpPr/>
            <p:nvPr/>
          </p:nvSpPr>
          <p:spPr>
            <a:xfrm>
              <a:off x="0" y="2098706"/>
              <a:ext cx="5257800" cy="530194"/>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0" y="1434294"/>
              <a:ext cx="1219200" cy="62835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1219200" y="1434294"/>
              <a:ext cx="1247194" cy="619885"/>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SDK</a:t>
              </a:r>
              <a:endParaRPr lang="en-US" sz="2000">
                <a:effectLst/>
                <a:latin typeface="Times New Roman"/>
                <a:ea typeface="Times New Roman"/>
              </a:endParaRPr>
            </a:p>
          </p:txBody>
        </p:sp>
        <p:sp>
          <p:nvSpPr>
            <p:cNvPr id="9" name="Freeform 8"/>
            <p:cNvSpPr/>
            <p:nvPr/>
          </p:nvSpPr>
          <p:spPr>
            <a:xfrm>
              <a:off x="2491794" y="1434295"/>
              <a:ext cx="1313419" cy="61988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grpSp>
      <p:sp>
        <p:nvSpPr>
          <p:cNvPr id="10" name="Rectangle 9"/>
          <p:cNvSpPr/>
          <p:nvPr/>
        </p:nvSpPr>
        <p:spPr>
          <a:xfrm>
            <a:off x="1164455" y="1600200"/>
            <a:ext cx="7543800" cy="26827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smtClean="0">
                <a:solidFill>
                  <a:prstClr val="black"/>
                </a:solidFill>
              </a:rPr>
              <a:t>Command line tools for batch processing</a:t>
            </a:r>
          </a:p>
          <a:p>
            <a:pPr marL="320040" lvl="0" indent="-320040">
              <a:spcBef>
                <a:spcPts val="700"/>
              </a:spcBef>
              <a:buClr>
                <a:srgbClr val="DD8047"/>
              </a:buClr>
              <a:buSzPct val="60000"/>
              <a:buFont typeface="Wingdings"/>
              <a:buChar char=""/>
            </a:pPr>
            <a:endParaRPr lang="en-US" sz="2900" dirty="0">
              <a:solidFill>
                <a:prstClr val="black"/>
              </a:solidFill>
            </a:endParaRPr>
          </a:p>
          <a:p>
            <a:pPr marL="320040" lvl="0" indent="-320040">
              <a:spcBef>
                <a:spcPts val="700"/>
              </a:spcBef>
              <a:buClr>
                <a:srgbClr val="DD8047"/>
              </a:buClr>
              <a:buSzPct val="60000"/>
              <a:buFont typeface="Wingdings"/>
              <a:buChar char=""/>
            </a:pPr>
            <a:endParaRPr lang="en-US" sz="2900" dirty="0" smtClean="0">
              <a:solidFill>
                <a:prstClr val="black"/>
              </a:solidFill>
            </a:endParaRPr>
          </a:p>
          <a:p>
            <a:pPr marL="320040" lvl="0" indent="-320040">
              <a:spcBef>
                <a:spcPts val="700"/>
              </a:spcBef>
              <a:buClr>
                <a:srgbClr val="DD8047"/>
              </a:buClr>
              <a:buSzPct val="60000"/>
              <a:buFont typeface="Wingdings"/>
              <a:buChar char=""/>
            </a:pPr>
            <a:endParaRPr lang="en-US" sz="2900" dirty="0" smtClean="0">
              <a:solidFill>
                <a:prstClr val="black"/>
              </a:solidFill>
            </a:endParaRPr>
          </a:p>
          <a:p>
            <a:pPr marL="320040" lvl="0" indent="-320040">
              <a:spcBef>
                <a:spcPts val="700"/>
              </a:spcBef>
              <a:buClr>
                <a:srgbClr val="DD8047"/>
              </a:buClr>
              <a:buSzPct val="60000"/>
              <a:buFont typeface="Wingdings"/>
              <a:buChar char=""/>
            </a:pPr>
            <a:endParaRPr lang="en-US" sz="2900" dirty="0">
              <a:solidFill>
                <a:prstClr val="black"/>
              </a:solidFill>
            </a:endParaRPr>
          </a:p>
        </p:txBody>
      </p:sp>
      <p:graphicFrame>
        <p:nvGraphicFramePr>
          <p:cNvPr id="11" name="Table 10"/>
          <p:cNvGraphicFramePr>
            <a:graphicFrameLocks noGrp="1"/>
          </p:cNvGraphicFramePr>
          <p:nvPr>
            <p:extLst>
              <p:ext uri="{D42A27DB-BD31-4B8C-83A1-F6EECF244321}">
                <p14:modId xmlns:p14="http://schemas.microsoft.com/office/powerpoint/2010/main" val="945622125"/>
              </p:ext>
            </p:extLst>
          </p:nvPr>
        </p:nvGraphicFramePr>
        <p:xfrm>
          <a:off x="1447801" y="2387537"/>
          <a:ext cx="7046291" cy="2156795"/>
        </p:xfrm>
        <a:graphic>
          <a:graphicData uri="http://schemas.openxmlformats.org/drawingml/2006/table">
            <a:tbl>
              <a:tblPr firstRow="1" bandRow="1">
                <a:tableStyleId>{073A0DAA-6AF3-43AB-8588-CEC1D06C72B9}</a:tableStyleId>
              </a:tblPr>
              <a:tblGrid>
                <a:gridCol w="3076431"/>
                <a:gridCol w="3969860"/>
              </a:tblGrid>
              <a:tr h="2156795">
                <a:tc>
                  <a:txBody>
                    <a:bodyPr/>
                    <a:lstStyle/>
                    <a:p>
                      <a:pPr marL="342900" indent="-342900" fontAlgn="t">
                        <a:buFont typeface="Arial" pitchFamily="34" charset="0"/>
                        <a:buChar char="•"/>
                      </a:pPr>
                      <a:r>
                        <a:rPr lang="en-US" sz="2400" dirty="0" err="1" smtClean="0">
                          <a:solidFill>
                            <a:schemeClr val="tx1"/>
                          </a:solidFill>
                        </a:rPr>
                        <a:t>MetadataConverter</a:t>
                      </a:r>
                      <a:endParaRPr lang="en-US" sz="2400" dirty="0" smtClean="0">
                        <a:solidFill>
                          <a:schemeClr val="tx1"/>
                        </a:solidFill>
                      </a:endParaRPr>
                    </a:p>
                    <a:p>
                      <a:pPr marL="342900" indent="-342900" fontAlgn="t">
                        <a:buFont typeface="Arial" pitchFamily="34" charset="0"/>
                        <a:buChar char="•"/>
                      </a:pPr>
                      <a:r>
                        <a:rPr lang="en-US" sz="2400" dirty="0" smtClean="0">
                          <a:solidFill>
                            <a:schemeClr val="tx1"/>
                          </a:solidFill>
                        </a:rPr>
                        <a:t>SPSSToDDI3</a:t>
                      </a:r>
                    </a:p>
                    <a:p>
                      <a:pPr marL="342900" indent="-342900" fontAlgn="t">
                        <a:buFont typeface="Arial" pitchFamily="34" charset="0"/>
                        <a:buChar char="•"/>
                      </a:pPr>
                      <a:r>
                        <a:rPr lang="en-US" sz="2400" dirty="0" smtClean="0">
                          <a:solidFill>
                            <a:schemeClr val="accent1">
                              <a:lumMod val="75000"/>
                            </a:schemeClr>
                          </a:solidFill>
                        </a:rPr>
                        <a:t>BlaiseToDDI3</a:t>
                      </a:r>
                    </a:p>
                    <a:p>
                      <a:pPr marL="342900" indent="-342900" fontAlgn="t">
                        <a:buFont typeface="Arial" pitchFamily="34" charset="0"/>
                        <a:buChar char="•"/>
                      </a:pPr>
                      <a:r>
                        <a:rPr lang="en-US" sz="2400" dirty="0" smtClean="0">
                          <a:solidFill>
                            <a:schemeClr val="tx1"/>
                          </a:solidFill>
                        </a:rPr>
                        <a:t>CASESToDDI3</a:t>
                      </a:r>
                    </a:p>
                    <a:p>
                      <a:endParaRPr lang="en-US" sz="2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342900" indent="-342900" fontAlgn="t">
                        <a:buFont typeface="Arial" pitchFamily="34" charset="0"/>
                        <a:buChar char="•"/>
                      </a:pPr>
                      <a:r>
                        <a:rPr lang="en-US" sz="2400" dirty="0" err="1" smtClean="0">
                          <a:solidFill>
                            <a:schemeClr val="tx1"/>
                          </a:solidFill>
                        </a:rPr>
                        <a:t>DocumentationGenerator</a:t>
                      </a:r>
                      <a:endParaRPr lang="en-US" sz="2400" dirty="0" smtClean="0">
                        <a:solidFill>
                          <a:schemeClr val="tx1"/>
                        </a:solidFill>
                      </a:endParaRPr>
                    </a:p>
                    <a:p>
                      <a:pPr marL="342900" indent="-342900" fontAlgn="t">
                        <a:buFont typeface="Arial" pitchFamily="34" charset="0"/>
                        <a:buChar char="•"/>
                      </a:pPr>
                      <a:r>
                        <a:rPr lang="en-US" sz="2400" dirty="0" smtClean="0">
                          <a:solidFill>
                            <a:schemeClr val="accent1">
                              <a:lumMod val="75000"/>
                            </a:schemeClr>
                          </a:solidFill>
                        </a:rPr>
                        <a:t>Validator</a:t>
                      </a:r>
                    </a:p>
                    <a:p>
                      <a:pPr marL="342900" indent="-342900" fontAlgn="t">
                        <a:buFont typeface="Arial" pitchFamily="34" charset="0"/>
                        <a:buChar char="•"/>
                      </a:pPr>
                      <a:r>
                        <a:rPr lang="en-US" sz="2400" dirty="0" err="1" smtClean="0">
                          <a:solidFill>
                            <a:schemeClr val="accent1">
                              <a:lumMod val="75000"/>
                            </a:schemeClr>
                          </a:solidFill>
                        </a:rPr>
                        <a:t>RepositoryImport</a:t>
                      </a:r>
                      <a:endParaRPr lang="en-US" sz="2400" dirty="0" smtClean="0">
                        <a:solidFill>
                          <a:schemeClr val="accent1">
                            <a:lumMod val="75000"/>
                          </a:schemeClr>
                        </a:solidFill>
                      </a:endParaRPr>
                    </a:p>
                    <a:p>
                      <a:pPr marL="342900" indent="-342900" fontAlgn="t">
                        <a:buFont typeface="Arial" pitchFamily="34" charset="0"/>
                        <a:buChar char="•"/>
                      </a:pPr>
                      <a:r>
                        <a:rPr lang="en-US" sz="2400" dirty="0" err="1" smtClean="0">
                          <a:solidFill>
                            <a:schemeClr val="accent1">
                              <a:lumMod val="75000"/>
                            </a:schemeClr>
                          </a:solidFill>
                        </a:rPr>
                        <a:t>RepositoryExport</a:t>
                      </a:r>
                      <a:endParaRPr lang="en-US" sz="2400" dirty="0" smtClean="0">
                        <a:solidFill>
                          <a:schemeClr val="accent1">
                            <a:lumMod val="75000"/>
                          </a:schemeClr>
                        </a:solidFill>
                      </a:endParaRPr>
                    </a:p>
                    <a:p>
                      <a:endParaRPr lang="en-US" sz="2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41659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Portal</a:t>
            </a:r>
            <a:endParaRPr lang="en-US" sz="3200" dirty="0"/>
          </a:p>
        </p:txBody>
      </p:sp>
      <p:grpSp>
        <p:nvGrpSpPr>
          <p:cNvPr id="5" name="Group 4"/>
          <p:cNvGrpSpPr/>
          <p:nvPr/>
        </p:nvGrpSpPr>
        <p:grpSpPr>
          <a:xfrm>
            <a:off x="490513" y="4061795"/>
            <a:ext cx="8185658" cy="1859834"/>
            <a:chOff x="0" y="1434294"/>
            <a:chExt cx="5257800" cy="1194606"/>
          </a:xfrm>
        </p:grpSpPr>
        <p:sp>
          <p:nvSpPr>
            <p:cNvPr id="6" name="Freeform 5"/>
            <p:cNvSpPr/>
            <p:nvPr/>
          </p:nvSpPr>
          <p:spPr>
            <a:xfrm>
              <a:off x="0" y="2098706"/>
              <a:ext cx="5257800" cy="530194"/>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0" y="1434294"/>
              <a:ext cx="1219200" cy="62835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1219200" y="1434294"/>
              <a:ext cx="1247194" cy="619885"/>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SDK</a:t>
              </a:r>
              <a:endParaRPr lang="en-US" sz="2000">
                <a:effectLst/>
                <a:latin typeface="Times New Roman"/>
                <a:ea typeface="Times New Roman"/>
              </a:endParaRPr>
            </a:p>
          </p:txBody>
        </p:sp>
        <p:sp>
          <p:nvSpPr>
            <p:cNvPr id="9" name="Freeform 8"/>
            <p:cNvSpPr/>
            <p:nvPr/>
          </p:nvSpPr>
          <p:spPr>
            <a:xfrm>
              <a:off x="2491794" y="1434295"/>
              <a:ext cx="1313419" cy="61988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sp>
          <p:nvSpPr>
            <p:cNvPr id="13" name="Freeform 12"/>
            <p:cNvSpPr/>
            <p:nvPr/>
          </p:nvSpPr>
          <p:spPr>
            <a:xfrm>
              <a:off x="3813680" y="1434295"/>
              <a:ext cx="1444120" cy="628351"/>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Portal (internal)</a:t>
              </a:r>
              <a:endParaRPr lang="en-US" sz="2000">
                <a:effectLst/>
                <a:latin typeface="Times New Roman"/>
                <a:ea typeface="Times New Roman"/>
              </a:endParaRPr>
            </a:p>
          </p:txBody>
        </p:sp>
      </p:grpSp>
      <p:sp>
        <p:nvSpPr>
          <p:cNvPr id="10" name="Rectangle 9"/>
          <p:cNvSpPr/>
          <p:nvPr/>
        </p:nvSpPr>
        <p:spPr>
          <a:xfrm>
            <a:off x="2732571" y="3276600"/>
            <a:ext cx="5943600" cy="98488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a:solidFill>
                  <a:prstClr val="black"/>
                </a:solidFill>
              </a:rPr>
              <a:t>Search and browse metadata from Colectica Repository on the Web</a:t>
            </a:r>
          </a:p>
        </p:txBody>
      </p:sp>
      <p:grpSp>
        <p:nvGrpSpPr>
          <p:cNvPr id="43" name="WebBrowser"/>
          <p:cNvGrpSpPr/>
          <p:nvPr>
            <p:custDataLst>
              <p:custData r:id="rId1"/>
            </p:custDataLst>
          </p:nvPr>
        </p:nvGrpSpPr>
        <p:grpSpPr>
          <a:xfrm>
            <a:off x="1469399" y="968948"/>
            <a:ext cx="7358086" cy="5312028"/>
            <a:chOff x="0" y="0"/>
            <a:chExt cx="9144000" cy="6858000"/>
          </a:xfrm>
        </p:grpSpPr>
        <p:sp>
          <p:nvSpPr>
            <p:cNvPr id="44" name="Background"/>
            <p:cNvSpPr/>
            <p:nvPr/>
          </p:nvSpPr>
          <p:spPr>
            <a:xfrm>
              <a:off x="0" y="0"/>
              <a:ext cx="9144000" cy="6858000"/>
            </a:xfrm>
            <a:prstGeom prst="rect">
              <a:avLst/>
            </a:prstGeom>
            <a:solidFill>
              <a:srgbClr val="FFFFFF">
                <a:lumMod val="65000"/>
              </a:srgbClr>
            </a:solidFill>
            <a:ln w="3175" cap="flat" cmpd="sng" algn="ctr">
              <a:solidFill>
                <a:srgbClr val="000000">
                  <a:lumMod val="50000"/>
                  <a:lumOff val="50000"/>
                </a:srgbClr>
              </a:solidFill>
              <a:prstDash val="solid"/>
            </a:ln>
            <a:effectLst/>
          </p:spPr>
          <p:txBody>
            <a:bodyPr rtlCol="0" anchor="ctr"/>
            <a:lstStyle/>
            <a:p>
              <a:pPr algn="ctr"/>
              <a:endParaRPr lang="en-US" sz="1050" kern="0" dirty="0">
                <a:solidFill>
                  <a:prstClr val="white"/>
                </a:solidFill>
                <a:latin typeface="Segoe UI"/>
              </a:endParaRPr>
            </a:p>
          </p:txBody>
        </p:sp>
        <p:sp>
          <p:nvSpPr>
            <p:cNvPr id="45" name="WindowTitle"/>
            <p:cNvSpPr txBox="1"/>
            <p:nvPr/>
          </p:nvSpPr>
          <p:spPr>
            <a:xfrm>
              <a:off x="22515" y="10199"/>
              <a:ext cx="1380895" cy="255117"/>
            </a:xfrm>
            <a:prstGeom prst="rect">
              <a:avLst/>
            </a:prstGeom>
            <a:noFill/>
          </p:spPr>
          <p:txBody>
            <a:bodyPr wrap="none" lIns="91440" tIns="18288" rIns="91440" bIns="27432" rtlCol="0" anchor="ctr" anchorCtr="0">
              <a:spAutoFit/>
            </a:bodyPr>
            <a:lstStyle/>
            <a:p>
              <a:r>
                <a:rPr lang="en-US" sz="1200" dirty="0" smtClean="0">
                  <a:solidFill>
                    <a:prstClr val="white"/>
                  </a:solidFill>
                  <a:latin typeface="Segoe UI" pitchFamily="34" charset="0"/>
                  <a:ea typeface="Segoe UI" pitchFamily="34" charset="0"/>
                  <a:cs typeface="Segoe UI" pitchFamily="34" charset="0"/>
                </a:rPr>
                <a:t>Colectica Portal</a:t>
              </a:r>
            </a:p>
          </p:txBody>
        </p:sp>
        <p:grpSp>
          <p:nvGrpSpPr>
            <p:cNvPr id="46" name="Group 45"/>
            <p:cNvGrpSpPr/>
            <p:nvPr/>
          </p:nvGrpSpPr>
          <p:grpSpPr>
            <a:xfrm>
              <a:off x="81598" y="286385"/>
              <a:ext cx="320040" cy="316520"/>
              <a:chOff x="72073" y="221749"/>
              <a:chExt cx="320040" cy="316520"/>
            </a:xfrm>
          </p:grpSpPr>
          <p:sp>
            <p:nvSpPr>
              <p:cNvPr id="70" name="Oval 69"/>
              <p:cNvSpPr/>
              <p:nvPr/>
            </p:nvSpPr>
            <p:spPr>
              <a:xfrm>
                <a:off x="72073" y="221749"/>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71" name="Left Arrow 70"/>
              <p:cNvSpPr/>
              <p:nvPr/>
            </p:nvSpPr>
            <p:spPr>
              <a:xfrm>
                <a:off x="109358" y="275511"/>
                <a:ext cx="223134" cy="208997"/>
              </a:xfrm>
              <a:prstGeom prst="lef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47" name="Group 46"/>
            <p:cNvGrpSpPr/>
            <p:nvPr/>
          </p:nvGrpSpPr>
          <p:grpSpPr>
            <a:xfrm>
              <a:off x="453671" y="286384"/>
              <a:ext cx="320040" cy="316520"/>
              <a:chOff x="444146" y="221748"/>
              <a:chExt cx="320040" cy="316520"/>
            </a:xfrm>
          </p:grpSpPr>
          <p:sp>
            <p:nvSpPr>
              <p:cNvPr id="68" name="Oval 67"/>
              <p:cNvSpPr/>
              <p:nvPr/>
            </p:nvSpPr>
            <p:spPr>
              <a:xfrm>
                <a:off x="444146" y="221748"/>
                <a:ext cx="320040" cy="316520"/>
              </a:xfrm>
              <a:prstGeom prst="ellipse">
                <a:avLst/>
              </a:prstGeom>
              <a:gradFill flip="none" rotWithShape="1">
                <a:gsLst>
                  <a:gs pos="91000">
                    <a:srgbClr val="FFFFFF">
                      <a:lumMod val="85000"/>
                    </a:srgbClr>
                  </a:gs>
                  <a:gs pos="36000">
                    <a:srgbClr val="FFFFFF">
                      <a:lumMod val="95000"/>
                    </a:srgbClr>
                  </a:gs>
                  <a:gs pos="100000">
                    <a:srgbClr val="FFFFFF">
                      <a:lumMod val="95000"/>
                    </a:srgbClr>
                  </a:gs>
                </a:gsLst>
                <a:lin ang="5400000" scaled="0"/>
                <a:tileRect/>
              </a:gradFill>
              <a:ln w="3175">
                <a:solidFill>
                  <a:srgbClr val="000000">
                    <a:lumMod val="50000"/>
                    <a:lumOff val="50000"/>
                  </a:srgbClr>
                </a:solidFill>
              </a:ln>
              <a:effectLst/>
            </p:spPr>
            <p:style>
              <a:lnRef idx="2">
                <a:srgbClr val="4F81BD">
                  <a:shade val="50000"/>
                </a:srgbClr>
              </a:lnRef>
              <a:fillRef idx="1">
                <a:srgbClr val="4F81BD"/>
              </a:fillRef>
              <a:effectRef idx="0">
                <a:srgbClr val="4F81BD"/>
              </a:effectRef>
              <a:fontRef idx="minor">
                <a:srgbClr val="000000"/>
              </a:fontRef>
            </p:style>
            <p:txBody>
              <a:bodyPr rtlCol="0" anchor="ctr"/>
              <a:lstStyle/>
              <a:p>
                <a:pPr algn="ctr"/>
                <a:endParaRPr lang="en-US" sz="1050" u="sng">
                  <a:solidFill>
                    <a:prstClr val="white"/>
                  </a:solidFill>
                </a:endParaRPr>
              </a:p>
            </p:txBody>
          </p:sp>
          <p:sp>
            <p:nvSpPr>
              <p:cNvPr id="69" name="Right Arrow 68"/>
              <p:cNvSpPr/>
              <p:nvPr/>
            </p:nvSpPr>
            <p:spPr>
              <a:xfrm>
                <a:off x="481249" y="275509"/>
                <a:ext cx="257146" cy="208999"/>
              </a:xfrm>
              <a:prstGeom prst="rightArrow">
                <a:avLst/>
              </a:prstGeom>
              <a:solidFill>
                <a:sysClr val="window" lastClr="FFFFFF"/>
              </a:solidFill>
              <a:ln w="3175" cap="flat" cmpd="sng" algn="ctr">
                <a:solidFill>
                  <a:sysClr val="windowText" lastClr="000000">
                    <a:lumMod val="75000"/>
                    <a:lumOff val="25000"/>
                  </a:sysClr>
                </a:solidFill>
                <a:prstDash val="solid"/>
              </a:ln>
              <a:effectLst/>
            </p:spPr>
            <p:txBody>
              <a:bodyPr rtlCol="0" anchor="ctr"/>
              <a:lstStyle/>
              <a:p>
                <a:pPr algn="ctr"/>
                <a:endParaRPr lang="en-US" sz="1050" kern="0">
                  <a:solidFill>
                    <a:prstClr val="white"/>
                  </a:solidFill>
                  <a:latin typeface="Segoe UI"/>
                </a:endParaRPr>
              </a:p>
            </p:txBody>
          </p:sp>
        </p:grpSp>
        <p:grpSp>
          <p:nvGrpSpPr>
            <p:cNvPr id="48" name="Minimize - Maximize - Close"/>
            <p:cNvGrpSpPr/>
            <p:nvPr/>
          </p:nvGrpSpPr>
          <p:grpSpPr>
            <a:xfrm>
              <a:off x="8632311" y="92599"/>
              <a:ext cx="384527" cy="78032"/>
              <a:chOff x="9347642" y="131588"/>
              <a:chExt cx="384527" cy="78032"/>
            </a:xfrm>
          </p:grpSpPr>
          <p:cxnSp>
            <p:nvCxnSpPr>
              <p:cNvPr id="63" name="Line"/>
              <p:cNvCxnSpPr/>
              <p:nvPr/>
            </p:nvCxnSpPr>
            <p:spPr>
              <a:xfrm>
                <a:off x="9661396"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cxnSp>
            <p:nvCxnSpPr>
              <p:cNvPr id="64" name="Line"/>
              <p:cNvCxnSpPr/>
              <p:nvPr/>
            </p:nvCxnSpPr>
            <p:spPr>
              <a:xfrm flipH="1">
                <a:off x="9661395" y="131588"/>
                <a:ext cx="70773" cy="76200"/>
              </a:xfrm>
              <a:prstGeom prst="line">
                <a:avLst/>
              </a:prstGeom>
              <a:ln w="12700">
                <a:solidFill>
                  <a:srgbClr val="FFFFFF"/>
                </a:solidFill>
              </a:ln>
            </p:spPr>
            <p:style>
              <a:lnRef idx="1">
                <a:srgbClr val="4F81BD"/>
              </a:lnRef>
              <a:fillRef idx="0">
                <a:srgbClr val="4F81BD"/>
              </a:fillRef>
              <a:effectRef idx="0">
                <a:srgbClr val="4F81BD"/>
              </a:effectRef>
              <a:fontRef idx="minor">
                <a:srgbClr val="000000"/>
              </a:fontRef>
            </p:style>
          </p:cxnSp>
          <p:sp>
            <p:nvSpPr>
              <p:cNvPr id="65" name="Line"/>
              <p:cNvSpPr/>
              <p:nvPr/>
            </p:nvSpPr>
            <p:spPr>
              <a:xfrm rot="10800000" flipV="1">
                <a:off x="9499472" y="143255"/>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66" name="Line"/>
              <p:cNvSpPr/>
              <p:nvPr/>
            </p:nvSpPr>
            <p:spPr>
              <a:xfrm rot="10800000" flipV="1">
                <a:off x="9498658" y="135261"/>
                <a:ext cx="91440" cy="72527"/>
              </a:xfrm>
              <a:prstGeom prst="rect">
                <a:avLst/>
              </a:prstGeom>
              <a:noFill/>
              <a:ln w="12700">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sp>
            <p:nvSpPr>
              <p:cNvPr id="67" name="Line"/>
              <p:cNvSpPr/>
              <p:nvPr/>
            </p:nvSpPr>
            <p:spPr>
              <a:xfrm rot="10800000" flipV="1">
                <a:off x="9347642" y="200476"/>
                <a:ext cx="91440" cy="9144"/>
              </a:xfrm>
              <a:prstGeom prst="rect">
                <a:avLst/>
              </a:prstGeom>
              <a:solidFill>
                <a:srgbClr val="919191"/>
              </a:solidFill>
              <a:ln w="3175">
                <a:solidFill>
                  <a:srgbClr val="FFFFFF"/>
                </a:solidFill>
              </a:ln>
            </p:spPr>
            <p:style>
              <a:lnRef idx="2">
                <a:srgbClr val="4F81BD">
                  <a:shade val="50000"/>
                </a:srgbClr>
              </a:lnRef>
              <a:fillRef idx="1001">
                <a:srgbClr val="000000"/>
              </a:fillRef>
              <a:effectRef idx="0">
                <a:srgbClr val="4F81BD"/>
              </a:effectRef>
              <a:fontRef idx="minor">
                <a:srgbClr val="000000"/>
              </a:fontRef>
            </p:style>
            <p:txBody>
              <a:bodyPr rtlCol="0" anchor="ctr"/>
              <a:lstStyle/>
              <a:p>
                <a:pPr algn="ctr"/>
                <a:endParaRPr lang="en-US" sz="1050" dirty="0">
                  <a:solidFill>
                    <a:prstClr val="white"/>
                  </a:solidFill>
                </a:endParaRPr>
              </a:p>
            </p:txBody>
          </p:sp>
        </p:grpSp>
        <p:sp>
          <p:nvSpPr>
            <p:cNvPr id="49" name="WebPageBody"/>
            <p:cNvSpPr/>
            <p:nvPr/>
          </p:nvSpPr>
          <p:spPr>
            <a:xfrm>
              <a:off x="76200" y="685159"/>
              <a:ext cx="8991600" cy="6066801"/>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pPr algn="ctr"/>
              <a:endParaRPr lang="en-US" sz="1050" kern="0">
                <a:solidFill>
                  <a:prstClr val="white"/>
                </a:solidFill>
                <a:latin typeface="Segoe UI"/>
              </a:endParaRPr>
            </a:p>
          </p:txBody>
        </p:sp>
        <p:grpSp>
          <p:nvGrpSpPr>
            <p:cNvPr id="50" name="Group 49"/>
            <p:cNvGrpSpPr/>
            <p:nvPr/>
          </p:nvGrpSpPr>
          <p:grpSpPr>
            <a:xfrm>
              <a:off x="8386335" y="360579"/>
              <a:ext cx="640645" cy="183940"/>
              <a:chOff x="8303527" y="360579"/>
              <a:chExt cx="640645" cy="183940"/>
            </a:xfrm>
          </p:grpSpPr>
          <p:pic>
            <p:nvPicPr>
              <p:cNvPr id="60" name="Picture 2" descr="C:\Users\t-dantay\Documents\Placeholders\hom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3527" y="361109"/>
                <a:ext cx="185783" cy="18288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C:\Users\t-dantay\Documents\Placeholders\setting.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3480" r="35484"/>
              <a:stretch/>
            </p:blipFill>
            <p:spPr bwMode="auto">
              <a:xfrm>
                <a:off x="8761292" y="360579"/>
                <a:ext cx="182880" cy="18394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C:\Users\t-dantay\Documents\Placeholders\sta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29364" y="361109"/>
                <a:ext cx="191874" cy="1828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1" name="Group 50"/>
            <p:cNvGrpSpPr/>
            <p:nvPr/>
          </p:nvGrpSpPr>
          <p:grpSpPr>
            <a:xfrm>
              <a:off x="923925" y="340846"/>
              <a:ext cx="7142930" cy="228600"/>
              <a:chOff x="923925" y="340846"/>
              <a:chExt cx="7142930" cy="228600"/>
            </a:xfrm>
          </p:grpSpPr>
          <p:sp>
            <p:nvSpPr>
              <p:cNvPr id="52" name="UrlBar"/>
              <p:cNvSpPr/>
              <p:nvPr/>
            </p:nvSpPr>
            <p:spPr>
              <a:xfrm>
                <a:off x="923925" y="340846"/>
                <a:ext cx="7142930" cy="228600"/>
              </a:xfrm>
              <a:prstGeom prst="rect">
                <a:avLst/>
              </a:prstGeom>
              <a:solidFill>
                <a:sysClr val="window" lastClr="FFFFFF"/>
              </a:solidFill>
              <a:ln w="3175" cap="flat" cmpd="sng" algn="ctr">
                <a:solidFill>
                  <a:srgbClr val="000000">
                    <a:lumMod val="50000"/>
                    <a:lumOff val="50000"/>
                  </a:srgbClr>
                </a:solidFill>
                <a:prstDash val="solid"/>
              </a:ln>
              <a:effectLst/>
            </p:spPr>
            <p:txBody>
              <a:bodyPr rtlCol="0" anchor="ctr"/>
              <a:lstStyle/>
              <a:p>
                <a:r>
                  <a:rPr lang="en-US" sz="1200" kern="0" dirty="0" smtClean="0">
                    <a:solidFill>
                      <a:prstClr val="black">
                        <a:lumMod val="75000"/>
                        <a:lumOff val="25000"/>
                      </a:prstClr>
                    </a:solidFill>
                    <a:latin typeface="Segoe UI"/>
                  </a:rPr>
                  <a:t>http://metadata/</a:t>
                </a:r>
                <a:endParaRPr lang="en-US" sz="1200" kern="0" dirty="0">
                  <a:solidFill>
                    <a:prstClr val="black">
                      <a:lumMod val="75000"/>
                      <a:lumOff val="25000"/>
                    </a:prstClr>
                  </a:solidFill>
                  <a:latin typeface="Segoe UI"/>
                </a:endParaRPr>
              </a:p>
            </p:txBody>
          </p:sp>
          <p:grpSp>
            <p:nvGrpSpPr>
              <p:cNvPr id="53" name="Group 52"/>
              <p:cNvGrpSpPr/>
              <p:nvPr/>
            </p:nvGrpSpPr>
            <p:grpSpPr>
              <a:xfrm>
                <a:off x="7260350" y="363706"/>
                <a:ext cx="744325" cy="182880"/>
                <a:chOff x="7260350" y="363706"/>
                <a:chExt cx="744325" cy="182880"/>
              </a:xfrm>
            </p:grpSpPr>
            <p:pic>
              <p:nvPicPr>
                <p:cNvPr id="54" name="Search" descr="C:\Users\t-dantay\Documents\Placeholders\search.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726035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55" name="Refresh" descr="C:\Users\t-dantay\Documents\First24\arrowrepeat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44400" y="363706"/>
                  <a:ext cx="182880" cy="182880"/>
                </a:xfrm>
                <a:prstGeom prst="rect">
                  <a:avLst/>
                </a:prstGeom>
                <a:noFill/>
                <a:extLst>
                  <a:ext uri="{909E8E84-426E-40DD-AFC4-6F175D3DCCD1}">
                    <a14:hiddenFill xmlns:a14="http://schemas.microsoft.com/office/drawing/2010/main">
                      <a:solidFill>
                        <a:srgbClr val="FFFFFF"/>
                      </a:solidFill>
                    </a14:hiddenFill>
                  </a:ext>
                </a:extLst>
              </p:spPr>
            </p:pic>
            <p:pic>
              <p:nvPicPr>
                <p:cNvPr id="56" name="Drop Down" descr="C:\Users\t-dantay\Documents\First24\arrowsimple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5400000">
                  <a:off x="7476150" y="409426"/>
                  <a:ext cx="91440" cy="9144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X"/>
                <p:cNvGrpSpPr/>
                <p:nvPr/>
              </p:nvGrpSpPr>
              <p:grpSpPr>
                <a:xfrm>
                  <a:off x="7913235" y="409426"/>
                  <a:ext cx="91440" cy="91440"/>
                  <a:chOff x="4687215" y="1739180"/>
                  <a:chExt cx="91440" cy="91440"/>
                </a:xfrm>
              </p:grpSpPr>
              <p:cxnSp>
                <p:nvCxnSpPr>
                  <p:cNvPr id="58" name="Straight Connector 57"/>
                  <p:cNvCxnSpPr/>
                  <p:nvPr/>
                </p:nvCxnSpPr>
                <p:spPr>
                  <a:xfrm flipV="1">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cxnSp>
                <p:nvCxnSpPr>
                  <p:cNvPr id="59" name="Straight Connector 58"/>
                  <p:cNvCxnSpPr/>
                  <p:nvPr/>
                </p:nvCxnSpPr>
                <p:spPr>
                  <a:xfrm>
                    <a:off x="4687215" y="1739180"/>
                    <a:ext cx="91440" cy="91440"/>
                  </a:xfrm>
                  <a:prstGeom prst="line">
                    <a:avLst/>
                  </a:prstGeom>
                  <a:ln w="28575">
                    <a:solidFill>
                      <a:srgbClr val="FFFFFF">
                        <a:lumMod val="50000"/>
                      </a:srgbClr>
                    </a:solidFill>
                  </a:ln>
                </p:spPr>
                <p:style>
                  <a:lnRef idx="1">
                    <a:srgbClr val="FFFFFF"/>
                  </a:lnRef>
                  <a:fillRef idx="0">
                    <a:srgbClr val="FFFFFF"/>
                  </a:fillRef>
                  <a:effectRef idx="0">
                    <a:srgbClr val="FFFFFF"/>
                  </a:effectRef>
                  <a:fontRef idx="minor">
                    <a:srgbClr val="000000"/>
                  </a:fontRef>
                </p:style>
              </p:cxnSp>
            </p:grpSp>
          </p:grpSp>
        </p:grpSp>
      </p:grpSp>
      <p:pic>
        <p:nvPicPr>
          <p:cNvPr id="104" name="Picture 103"/>
          <p:cNvPicPr/>
          <p:nvPr/>
        </p:nvPicPr>
        <p:blipFill>
          <a:blip r:embed="rId10"/>
          <a:stretch>
            <a:fillRect/>
          </a:stretch>
        </p:blipFill>
        <p:spPr>
          <a:xfrm>
            <a:off x="1546254" y="1499654"/>
            <a:ext cx="7231106" cy="4699186"/>
          </a:xfrm>
          <a:prstGeom prst="rect">
            <a:avLst/>
          </a:prstGeom>
        </p:spPr>
      </p:pic>
    </p:spTree>
    <p:extLst>
      <p:ext uri="{BB962C8B-B14F-4D97-AF65-F5344CB8AC3E}">
        <p14:creationId xmlns:p14="http://schemas.microsoft.com/office/powerpoint/2010/main" val="41659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500"/>
                                        <p:tgtEl>
                                          <p:spTgt spid="1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par>
                                <p:cTn id="16" presetID="10" presetClass="entr" presetSubtype="0" fill="hold" nodeType="with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fade">
                                      <p:cBhvr>
                                        <p:cTn id="18"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Publication Workflow</a:t>
            </a:r>
            <a:endParaRPr lang="en-US" sz="3200" dirty="0"/>
          </a:p>
        </p:txBody>
      </p:sp>
      <p:grpSp>
        <p:nvGrpSpPr>
          <p:cNvPr id="5" name="Group 4"/>
          <p:cNvGrpSpPr/>
          <p:nvPr/>
        </p:nvGrpSpPr>
        <p:grpSpPr>
          <a:xfrm>
            <a:off x="490513" y="2630035"/>
            <a:ext cx="8185658" cy="3291594"/>
            <a:chOff x="0" y="514648"/>
            <a:chExt cx="5257800" cy="2114252"/>
          </a:xfrm>
        </p:grpSpPr>
        <p:sp>
          <p:nvSpPr>
            <p:cNvPr id="6" name="Freeform 5"/>
            <p:cNvSpPr/>
            <p:nvPr/>
          </p:nvSpPr>
          <p:spPr>
            <a:xfrm>
              <a:off x="0" y="2098706"/>
              <a:ext cx="5257800" cy="530194"/>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0" y="1434294"/>
              <a:ext cx="1219200" cy="62835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1219200" y="1434294"/>
              <a:ext cx="1247194" cy="619885"/>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SDK</a:t>
              </a:r>
              <a:endParaRPr lang="en-US" sz="2000">
                <a:effectLst/>
                <a:latin typeface="Times New Roman"/>
                <a:ea typeface="Times New Roman"/>
              </a:endParaRPr>
            </a:p>
          </p:txBody>
        </p:sp>
        <p:sp>
          <p:nvSpPr>
            <p:cNvPr id="9" name="Freeform 8"/>
            <p:cNvSpPr/>
            <p:nvPr/>
          </p:nvSpPr>
          <p:spPr>
            <a:xfrm>
              <a:off x="2491794" y="1434295"/>
              <a:ext cx="1313419" cy="61988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sp>
          <p:nvSpPr>
            <p:cNvPr id="10" name="Freeform 9"/>
            <p:cNvSpPr/>
            <p:nvPr/>
          </p:nvSpPr>
          <p:spPr>
            <a:xfrm>
              <a:off x="0" y="974471"/>
              <a:ext cx="5257800" cy="45982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Workflow Server</a:t>
              </a:r>
              <a:endParaRPr lang="en-US" sz="2000">
                <a:effectLst/>
                <a:latin typeface="Times New Roman"/>
                <a:ea typeface="Times New Roman"/>
              </a:endParaRPr>
            </a:p>
          </p:txBody>
        </p:sp>
        <p:sp>
          <p:nvSpPr>
            <p:cNvPr id="11" name="Freeform 10"/>
            <p:cNvSpPr/>
            <p:nvPr/>
          </p:nvSpPr>
          <p:spPr>
            <a:xfrm>
              <a:off x="0" y="514648"/>
              <a:ext cx="5257800" cy="45982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Repository (Public)</a:t>
              </a:r>
              <a:endParaRPr lang="en-US" sz="2000">
                <a:effectLst/>
                <a:latin typeface="Times New Roman"/>
                <a:ea typeface="Times New Roman"/>
              </a:endParaRPr>
            </a:p>
          </p:txBody>
        </p:sp>
        <p:sp>
          <p:nvSpPr>
            <p:cNvPr id="13" name="Freeform 12"/>
            <p:cNvSpPr/>
            <p:nvPr/>
          </p:nvSpPr>
          <p:spPr>
            <a:xfrm>
              <a:off x="3813680" y="1434295"/>
              <a:ext cx="1444120" cy="628351"/>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Portal (internal)</a:t>
              </a:r>
              <a:endParaRPr lang="en-US" sz="2000">
                <a:effectLst/>
                <a:latin typeface="Times New Roman"/>
                <a:ea typeface="Times New Roman"/>
              </a:endParaRPr>
            </a:p>
          </p:txBody>
        </p:sp>
      </p:grpSp>
      <p:grpSp>
        <p:nvGrpSpPr>
          <p:cNvPr id="20" name="Group 19"/>
          <p:cNvGrpSpPr/>
          <p:nvPr/>
        </p:nvGrpSpPr>
        <p:grpSpPr>
          <a:xfrm>
            <a:off x="1164455" y="1600200"/>
            <a:ext cx="7543800" cy="2146742"/>
            <a:chOff x="1164455" y="1600200"/>
            <a:chExt cx="7543800" cy="2146742"/>
          </a:xfrm>
        </p:grpSpPr>
        <p:sp>
          <p:nvSpPr>
            <p:cNvPr id="12" name="Rectangle 11"/>
            <p:cNvSpPr/>
            <p:nvPr/>
          </p:nvSpPr>
          <p:spPr>
            <a:xfrm>
              <a:off x="1164455" y="1600200"/>
              <a:ext cx="7543800" cy="214674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endParaRPr lang="en-US" sz="2900" dirty="0">
                <a:solidFill>
                  <a:prstClr val="black"/>
                </a:solidFill>
              </a:endParaRPr>
            </a:p>
            <a:p>
              <a:pPr marL="320040" lvl="0" indent="-320040">
                <a:spcBef>
                  <a:spcPts val="700"/>
                </a:spcBef>
                <a:buClr>
                  <a:srgbClr val="DD8047"/>
                </a:buClr>
                <a:buSzPct val="60000"/>
                <a:buFont typeface="Wingdings"/>
                <a:buChar char=""/>
              </a:pPr>
              <a:endParaRPr lang="en-US" sz="2900" dirty="0" smtClean="0">
                <a:solidFill>
                  <a:prstClr val="black"/>
                </a:solidFill>
              </a:endParaRPr>
            </a:p>
            <a:p>
              <a:pPr marL="320040" lvl="0" indent="-320040">
                <a:spcBef>
                  <a:spcPts val="700"/>
                </a:spcBef>
                <a:buClr>
                  <a:srgbClr val="DD8047"/>
                </a:buClr>
                <a:buSzPct val="60000"/>
                <a:buFont typeface="Wingdings"/>
                <a:buChar char=""/>
              </a:pPr>
              <a:endParaRPr lang="en-US" sz="2900" dirty="0" smtClean="0">
                <a:solidFill>
                  <a:prstClr val="black"/>
                </a:solidFill>
              </a:endParaRPr>
            </a:p>
            <a:p>
              <a:pPr marL="320040" lvl="0" indent="-320040">
                <a:spcBef>
                  <a:spcPts val="700"/>
                </a:spcBef>
                <a:buClr>
                  <a:srgbClr val="DD8047"/>
                </a:buClr>
                <a:buSzPct val="60000"/>
                <a:buFont typeface="Wingdings"/>
                <a:buChar char=""/>
              </a:pPr>
              <a:endParaRPr lang="en-US" sz="2900" dirty="0">
                <a:solidFill>
                  <a:prstClr val="black"/>
                </a:solidFill>
              </a:endParaRPr>
            </a:p>
          </p:txBody>
        </p:sp>
        <p:sp>
          <p:nvSpPr>
            <p:cNvPr id="3" name="Flowchart: Magnetic Disk 2"/>
            <p:cNvSpPr/>
            <p:nvPr/>
          </p:nvSpPr>
          <p:spPr>
            <a:xfrm>
              <a:off x="1371600" y="1828798"/>
              <a:ext cx="1219200" cy="1517115"/>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smtClean="0"/>
                <a:t>Internal Repository</a:t>
              </a:r>
              <a:endParaRPr lang="en-US" b="1" dirty="0"/>
            </a:p>
          </p:txBody>
        </p:sp>
        <p:sp>
          <p:nvSpPr>
            <p:cNvPr id="14" name="Flowchart: Magnetic Disk 13"/>
            <p:cNvSpPr/>
            <p:nvPr/>
          </p:nvSpPr>
          <p:spPr>
            <a:xfrm>
              <a:off x="7162800" y="1828800"/>
              <a:ext cx="1341120" cy="1517115"/>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smtClean="0"/>
                <a:t>Public Repository</a:t>
              </a:r>
              <a:endParaRPr lang="en-US" b="1" dirty="0"/>
            </a:p>
          </p:txBody>
        </p:sp>
        <p:sp>
          <p:nvSpPr>
            <p:cNvPr id="4" name="Flowchart: Delay 3"/>
            <p:cNvSpPr/>
            <p:nvPr/>
          </p:nvSpPr>
          <p:spPr>
            <a:xfrm>
              <a:off x="4325535" y="1935692"/>
              <a:ext cx="1313265" cy="1313265"/>
            </a:xfrm>
            <a:prstGeom prst="flowChartDelay">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Workflow Services</a:t>
              </a:r>
              <a:endParaRPr lang="en-US" b="1" dirty="0"/>
            </a:p>
          </p:txBody>
        </p:sp>
        <p:cxnSp>
          <p:nvCxnSpPr>
            <p:cNvPr id="16" name="Straight Arrow Connector 15"/>
            <p:cNvCxnSpPr>
              <a:stCxn id="3" idx="4"/>
              <a:endCxn id="4" idx="1"/>
            </p:cNvCxnSpPr>
            <p:nvPr/>
          </p:nvCxnSpPr>
          <p:spPr>
            <a:xfrm>
              <a:off x="2590800" y="2587356"/>
              <a:ext cx="1734735" cy="4969"/>
            </a:xfrm>
            <a:prstGeom prst="straightConnector1">
              <a:avLst/>
            </a:prstGeom>
            <a:ln w="57150">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4" idx="3"/>
            </p:cNvCxnSpPr>
            <p:nvPr/>
          </p:nvCxnSpPr>
          <p:spPr>
            <a:xfrm flipV="1">
              <a:off x="5638800" y="2582386"/>
              <a:ext cx="1524000" cy="9939"/>
            </a:xfrm>
            <a:prstGeom prst="straightConnector1">
              <a:avLst/>
            </a:prstGeom>
            <a:ln w="57150">
              <a:tailEnd type="arrow"/>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659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Public Portal</a:t>
            </a:r>
            <a:endParaRPr lang="en-US" sz="3200" dirty="0"/>
          </a:p>
        </p:txBody>
      </p:sp>
      <p:sp>
        <p:nvSpPr>
          <p:cNvPr id="6" name="Freeform 5"/>
          <p:cNvSpPr/>
          <p:nvPr/>
        </p:nvSpPr>
        <p:spPr>
          <a:xfrm>
            <a:off x="490513" y="5096191"/>
            <a:ext cx="8185658" cy="825438"/>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490513" y="4061795"/>
            <a:ext cx="1898124" cy="978258"/>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2388637" y="4061795"/>
            <a:ext cx="1941706" cy="96507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SDK</a:t>
            </a:r>
            <a:endParaRPr lang="en-US" sz="2000" dirty="0">
              <a:effectLst/>
              <a:latin typeface="Times New Roman"/>
              <a:ea typeface="Times New Roman"/>
            </a:endParaRPr>
          </a:p>
        </p:txBody>
      </p:sp>
      <p:sp>
        <p:nvSpPr>
          <p:cNvPr id="9" name="Freeform 8"/>
          <p:cNvSpPr/>
          <p:nvPr/>
        </p:nvSpPr>
        <p:spPr>
          <a:xfrm>
            <a:off x="4369887" y="4061796"/>
            <a:ext cx="2044809" cy="96507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sp>
        <p:nvSpPr>
          <p:cNvPr id="10" name="Freeform 9"/>
          <p:cNvSpPr/>
          <p:nvPr/>
        </p:nvSpPr>
        <p:spPr>
          <a:xfrm>
            <a:off x="490513" y="3345915"/>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Workflow Server</a:t>
            </a:r>
            <a:endParaRPr lang="en-US" sz="2000">
              <a:effectLst/>
              <a:latin typeface="Times New Roman"/>
              <a:ea typeface="Times New Roman"/>
            </a:endParaRPr>
          </a:p>
        </p:txBody>
      </p:sp>
      <p:sp>
        <p:nvSpPr>
          <p:cNvPr id="11" name="Freeform 10"/>
          <p:cNvSpPr/>
          <p:nvPr/>
        </p:nvSpPr>
        <p:spPr>
          <a:xfrm>
            <a:off x="490513" y="2590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Repository (Public)</a:t>
            </a:r>
            <a:endParaRPr lang="en-US" sz="2000">
              <a:effectLst/>
              <a:latin typeface="Times New Roman"/>
              <a:ea typeface="Times New Roman"/>
            </a:endParaRPr>
          </a:p>
        </p:txBody>
      </p:sp>
      <p:sp>
        <p:nvSpPr>
          <p:cNvPr id="12" name="Freeform 11"/>
          <p:cNvSpPr/>
          <p:nvPr/>
        </p:nvSpPr>
        <p:spPr>
          <a:xfrm>
            <a:off x="490513" y="1828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Portal (Public)</a:t>
            </a:r>
            <a:endParaRPr lang="en-US" sz="2000" dirty="0">
              <a:effectLst/>
              <a:latin typeface="Times New Roman"/>
              <a:ea typeface="Times New Roman"/>
            </a:endParaRPr>
          </a:p>
        </p:txBody>
      </p:sp>
      <p:sp>
        <p:nvSpPr>
          <p:cNvPr id="13" name="Freeform 12"/>
          <p:cNvSpPr/>
          <p:nvPr/>
        </p:nvSpPr>
        <p:spPr>
          <a:xfrm>
            <a:off x="6427878" y="4061796"/>
            <a:ext cx="2248293" cy="97825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Portal (internal)</a:t>
            </a:r>
            <a:endParaRPr lang="en-US" sz="2000">
              <a:effectLst/>
              <a:latin typeface="Times New Roman"/>
              <a:ea typeface="Times New Roman"/>
            </a:endParaRPr>
          </a:p>
        </p:txBody>
      </p:sp>
      <p:sp>
        <p:nvSpPr>
          <p:cNvPr id="23" name="Rectangle 22"/>
          <p:cNvSpPr/>
          <p:nvPr/>
        </p:nvSpPr>
        <p:spPr>
          <a:xfrm>
            <a:off x="4914900" y="1524000"/>
            <a:ext cx="3771900" cy="53860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smtClean="0">
                <a:solidFill>
                  <a:prstClr val="black"/>
                </a:solidFill>
              </a:rPr>
              <a:t>Available April 2013</a:t>
            </a:r>
            <a:endParaRPr lang="en-US" sz="2900" dirty="0">
              <a:solidFill>
                <a:prstClr val="black"/>
              </a:solidFill>
            </a:endParaRPr>
          </a:p>
        </p:txBody>
      </p:sp>
    </p:spTree>
    <p:extLst>
      <p:ext uri="{BB962C8B-B14F-4D97-AF65-F5344CB8AC3E}">
        <p14:creationId xmlns:p14="http://schemas.microsoft.com/office/powerpoint/2010/main" val="171407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0" end="0"/>
                                            </p:txEl>
                                          </p:spTgt>
                                        </p:tgtEl>
                                        <p:attrNameLst>
                                          <p:attrName>style.visibility</p:attrName>
                                        </p:attrNameLst>
                                      </p:cBhvr>
                                      <p:to>
                                        <p:strVal val="visible"/>
                                      </p:to>
                                    </p:set>
                                    <p:animEffect transition="in" filter="fade">
                                      <p:cBhvr>
                                        <p:cTn id="10"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Not Quite a Complete Picture</a:t>
            </a:r>
            <a:endParaRPr lang="en-US" sz="3200" dirty="0"/>
          </a:p>
        </p:txBody>
      </p:sp>
      <p:sp>
        <p:nvSpPr>
          <p:cNvPr id="6" name="Freeform 5"/>
          <p:cNvSpPr/>
          <p:nvPr/>
        </p:nvSpPr>
        <p:spPr>
          <a:xfrm>
            <a:off x="490513" y="5096191"/>
            <a:ext cx="8185658" cy="825438"/>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r>
              <a:rPr lang="en-US" sz="2000" kern="1200" dirty="0">
                <a:solidFill>
                  <a:srgbClr val="FFFFFF"/>
                </a:solidFill>
                <a:effectLst/>
                <a:ea typeface="Times New Roman"/>
                <a:cs typeface="Times New Roman"/>
              </a:rPr>
              <a:t>Colectica Repository (Production)</a:t>
            </a:r>
            <a:endParaRPr lang="en-US" sz="2000" dirty="0">
              <a:effectLst/>
              <a:latin typeface="Times New Roman"/>
              <a:ea typeface="Times New Roman"/>
            </a:endParaRPr>
          </a:p>
        </p:txBody>
      </p:sp>
      <p:sp>
        <p:nvSpPr>
          <p:cNvPr id="7" name="Freeform 6"/>
          <p:cNvSpPr/>
          <p:nvPr/>
        </p:nvSpPr>
        <p:spPr>
          <a:xfrm>
            <a:off x="490513" y="4061795"/>
            <a:ext cx="1898124" cy="978258"/>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Designer</a:t>
            </a:r>
            <a:endParaRPr lang="en-US" sz="2000">
              <a:effectLst/>
              <a:latin typeface="Times New Roman"/>
              <a:ea typeface="Times New Roman"/>
            </a:endParaRPr>
          </a:p>
        </p:txBody>
      </p:sp>
      <p:sp>
        <p:nvSpPr>
          <p:cNvPr id="8" name="Freeform 7"/>
          <p:cNvSpPr/>
          <p:nvPr/>
        </p:nvSpPr>
        <p:spPr>
          <a:xfrm>
            <a:off x="2388637" y="4061795"/>
            <a:ext cx="1941706" cy="96507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SDK</a:t>
            </a:r>
            <a:endParaRPr lang="en-US" sz="2000" dirty="0">
              <a:effectLst/>
              <a:latin typeface="Times New Roman"/>
              <a:ea typeface="Times New Roman"/>
            </a:endParaRPr>
          </a:p>
        </p:txBody>
      </p:sp>
      <p:sp>
        <p:nvSpPr>
          <p:cNvPr id="9" name="Freeform 8"/>
          <p:cNvSpPr/>
          <p:nvPr/>
        </p:nvSpPr>
        <p:spPr>
          <a:xfrm>
            <a:off x="4369887" y="4061796"/>
            <a:ext cx="2044809" cy="96507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Toolkit</a:t>
            </a:r>
            <a:endParaRPr lang="en-US" sz="2000" dirty="0">
              <a:effectLst/>
              <a:latin typeface="Times New Roman"/>
              <a:ea typeface="Times New Roman"/>
            </a:endParaRPr>
          </a:p>
        </p:txBody>
      </p:sp>
      <p:sp>
        <p:nvSpPr>
          <p:cNvPr id="10" name="Freeform 9"/>
          <p:cNvSpPr/>
          <p:nvPr/>
        </p:nvSpPr>
        <p:spPr>
          <a:xfrm>
            <a:off x="490513" y="3345915"/>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Workflow Server</a:t>
            </a:r>
            <a:endParaRPr lang="en-US" sz="2000">
              <a:effectLst/>
              <a:latin typeface="Times New Roman"/>
              <a:ea typeface="Times New Roman"/>
            </a:endParaRPr>
          </a:p>
        </p:txBody>
      </p:sp>
      <p:sp>
        <p:nvSpPr>
          <p:cNvPr id="11" name="Freeform 10"/>
          <p:cNvSpPr/>
          <p:nvPr/>
        </p:nvSpPr>
        <p:spPr>
          <a:xfrm>
            <a:off x="490513" y="2590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Repository (Public)</a:t>
            </a:r>
            <a:endParaRPr lang="en-US" sz="2000">
              <a:effectLst/>
              <a:latin typeface="Times New Roman"/>
              <a:ea typeface="Times New Roman"/>
            </a:endParaRPr>
          </a:p>
        </p:txBody>
      </p:sp>
      <p:sp>
        <p:nvSpPr>
          <p:cNvPr id="12" name="Freeform 11"/>
          <p:cNvSpPr/>
          <p:nvPr/>
        </p:nvSpPr>
        <p:spPr>
          <a:xfrm>
            <a:off x="490513" y="1828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r>
              <a:rPr lang="en-US" sz="2000" kern="1200" dirty="0">
                <a:solidFill>
                  <a:srgbClr val="FFFFFF"/>
                </a:solidFill>
                <a:effectLst/>
                <a:ea typeface="Times New Roman"/>
                <a:cs typeface="Times New Roman"/>
              </a:rPr>
              <a:t>Colectica Portal (Public)</a:t>
            </a:r>
            <a:endParaRPr lang="en-US" sz="2000" dirty="0">
              <a:effectLst/>
              <a:latin typeface="Times New Roman"/>
              <a:ea typeface="Times New Roman"/>
            </a:endParaRPr>
          </a:p>
        </p:txBody>
      </p:sp>
      <p:sp>
        <p:nvSpPr>
          <p:cNvPr id="13" name="Freeform 12"/>
          <p:cNvSpPr/>
          <p:nvPr/>
        </p:nvSpPr>
        <p:spPr>
          <a:xfrm>
            <a:off x="6427878" y="4061796"/>
            <a:ext cx="2248293" cy="97825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r>
              <a:rPr lang="en-US" sz="2000" kern="1200">
                <a:solidFill>
                  <a:srgbClr val="FFFFFF"/>
                </a:solidFill>
                <a:effectLst/>
                <a:ea typeface="Times New Roman"/>
                <a:cs typeface="Times New Roman"/>
              </a:rPr>
              <a:t>Colectica Portal (internal)</a:t>
            </a:r>
            <a:endParaRPr lang="en-US" sz="2000">
              <a:effectLst/>
              <a:latin typeface="Times New Roman"/>
              <a:ea typeface="Times New Roman"/>
            </a:endParaRPr>
          </a:p>
        </p:txBody>
      </p:sp>
      <p:sp>
        <p:nvSpPr>
          <p:cNvPr id="3" name="Rectangle 2"/>
          <p:cNvSpPr/>
          <p:nvPr/>
        </p:nvSpPr>
        <p:spPr>
          <a:xfrm>
            <a:off x="27432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2004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657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7432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2004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657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800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52578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57150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4800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52578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7150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04800" y="2585591"/>
            <a:ext cx="2438400" cy="53860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320040" lvl="0" indent="-320040">
              <a:spcBef>
                <a:spcPts val="700"/>
              </a:spcBef>
              <a:buClr>
                <a:srgbClr val="DD8047"/>
              </a:buClr>
              <a:buSzPct val="60000"/>
              <a:buFont typeface="Wingdings"/>
              <a:buChar char=""/>
            </a:pPr>
            <a:r>
              <a:rPr lang="en-US" sz="2900" dirty="0" smtClean="0">
                <a:solidFill>
                  <a:prstClr val="black"/>
                </a:solidFill>
              </a:rPr>
              <a:t>Custom Tools</a:t>
            </a:r>
            <a:endParaRPr lang="en-US" sz="2900" dirty="0">
              <a:solidFill>
                <a:prstClr val="black"/>
              </a:solidFill>
            </a:endParaRPr>
          </a:p>
        </p:txBody>
      </p:sp>
      <p:cxnSp>
        <p:nvCxnSpPr>
          <p:cNvPr id="20" name="Straight Arrow Connector 19"/>
          <p:cNvCxnSpPr/>
          <p:nvPr/>
        </p:nvCxnSpPr>
        <p:spPr>
          <a:xfrm>
            <a:off x="1905000" y="3124200"/>
            <a:ext cx="990600" cy="990600"/>
          </a:xfrm>
          <a:prstGeom prst="straightConnector1">
            <a:avLst/>
          </a:prstGeom>
          <a:ln w="57150">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3755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18" grpId="0" animBg="1"/>
      <p:bldP spid="34" grpId="0" animBg="1"/>
      <p:bldP spid="35" grpId="0" animBg="1"/>
      <p:bldP spid="36" grpId="0" animBg="1"/>
      <p:bldP spid="37" grpId="0" animBg="1"/>
      <p:bldP spid="38" grpId="0" animBg="1"/>
      <p:bldP spid="39"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Architecture: Production and Test Environments</a:t>
            </a:r>
            <a:endParaRPr lang="en-US" sz="3200" dirty="0"/>
          </a:p>
        </p:txBody>
      </p:sp>
      <p:grpSp>
        <p:nvGrpSpPr>
          <p:cNvPr id="5" name="Group 4"/>
          <p:cNvGrpSpPr/>
          <p:nvPr/>
        </p:nvGrpSpPr>
        <p:grpSpPr>
          <a:xfrm>
            <a:off x="1145842" y="3352801"/>
            <a:ext cx="2491286" cy="1600199"/>
            <a:chOff x="490513" y="1828800"/>
            <a:chExt cx="8185658" cy="4092829"/>
          </a:xfrm>
        </p:grpSpPr>
        <p:sp>
          <p:nvSpPr>
            <p:cNvPr id="6" name="Freeform 5"/>
            <p:cNvSpPr/>
            <p:nvPr/>
          </p:nvSpPr>
          <p:spPr>
            <a:xfrm>
              <a:off x="490513" y="5096191"/>
              <a:ext cx="8185658" cy="825438"/>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endParaRPr lang="en-US" sz="2000" dirty="0">
                <a:effectLst/>
                <a:latin typeface="Times New Roman"/>
                <a:ea typeface="Times New Roman"/>
              </a:endParaRPr>
            </a:p>
          </p:txBody>
        </p:sp>
        <p:sp>
          <p:nvSpPr>
            <p:cNvPr id="7" name="Freeform 6"/>
            <p:cNvSpPr/>
            <p:nvPr/>
          </p:nvSpPr>
          <p:spPr>
            <a:xfrm>
              <a:off x="490513" y="4061795"/>
              <a:ext cx="1898124" cy="978258"/>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8" name="Freeform 7"/>
            <p:cNvSpPr/>
            <p:nvPr/>
          </p:nvSpPr>
          <p:spPr>
            <a:xfrm>
              <a:off x="2388637" y="4061795"/>
              <a:ext cx="1941706" cy="96507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9" name="Freeform 8"/>
            <p:cNvSpPr/>
            <p:nvPr/>
          </p:nvSpPr>
          <p:spPr>
            <a:xfrm>
              <a:off x="4369887" y="4061796"/>
              <a:ext cx="2044809" cy="96507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10" name="Freeform 9"/>
            <p:cNvSpPr/>
            <p:nvPr/>
          </p:nvSpPr>
          <p:spPr>
            <a:xfrm>
              <a:off x="490513" y="3345915"/>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11" name="Freeform 10"/>
            <p:cNvSpPr/>
            <p:nvPr/>
          </p:nvSpPr>
          <p:spPr>
            <a:xfrm>
              <a:off x="490513" y="2590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12" name="Freeform 11"/>
            <p:cNvSpPr/>
            <p:nvPr/>
          </p:nvSpPr>
          <p:spPr>
            <a:xfrm>
              <a:off x="490513" y="1828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13" name="Freeform 12"/>
            <p:cNvSpPr/>
            <p:nvPr/>
          </p:nvSpPr>
          <p:spPr>
            <a:xfrm>
              <a:off x="6427878" y="4061796"/>
              <a:ext cx="2248293" cy="97825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3" name="Rectangle 2"/>
            <p:cNvSpPr/>
            <p:nvPr/>
          </p:nvSpPr>
          <p:spPr>
            <a:xfrm>
              <a:off x="27432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2004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657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7432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2004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657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800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52578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57150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4800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52578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7150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p:nvGrpSpPr>
        <p:grpSpPr>
          <a:xfrm>
            <a:off x="5128714" y="3352801"/>
            <a:ext cx="2491286" cy="1600199"/>
            <a:chOff x="490513" y="1828800"/>
            <a:chExt cx="8185658" cy="4092829"/>
          </a:xfrm>
        </p:grpSpPr>
        <p:sp>
          <p:nvSpPr>
            <p:cNvPr id="26" name="Freeform 25"/>
            <p:cNvSpPr/>
            <p:nvPr/>
          </p:nvSpPr>
          <p:spPr>
            <a:xfrm>
              <a:off x="490513" y="5096191"/>
              <a:ext cx="8185658" cy="825438"/>
            </a:xfrm>
            <a:custGeom>
              <a:avLst/>
              <a:gdLst>
                <a:gd name="connsiteX0" fmla="*/ 0 w 8228699"/>
                <a:gd name="connsiteY0" fmla="*/ 83646 h 836463"/>
                <a:gd name="connsiteX1" fmla="*/ 83646 w 8228699"/>
                <a:gd name="connsiteY1" fmla="*/ 0 h 836463"/>
                <a:gd name="connsiteX2" fmla="*/ 8145053 w 8228699"/>
                <a:gd name="connsiteY2" fmla="*/ 0 h 836463"/>
                <a:gd name="connsiteX3" fmla="*/ 8228699 w 8228699"/>
                <a:gd name="connsiteY3" fmla="*/ 83646 h 836463"/>
                <a:gd name="connsiteX4" fmla="*/ 8228699 w 8228699"/>
                <a:gd name="connsiteY4" fmla="*/ 752817 h 836463"/>
                <a:gd name="connsiteX5" fmla="*/ 8145053 w 8228699"/>
                <a:gd name="connsiteY5" fmla="*/ 836463 h 836463"/>
                <a:gd name="connsiteX6" fmla="*/ 83646 w 8228699"/>
                <a:gd name="connsiteY6" fmla="*/ 836463 h 836463"/>
                <a:gd name="connsiteX7" fmla="*/ 0 w 8228699"/>
                <a:gd name="connsiteY7" fmla="*/ 752817 h 836463"/>
                <a:gd name="connsiteX8" fmla="*/ 0 w 8228699"/>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8699" h="836463">
                  <a:moveTo>
                    <a:pt x="0" y="83646"/>
                  </a:moveTo>
                  <a:cubicBezTo>
                    <a:pt x="0" y="37450"/>
                    <a:pt x="37450" y="0"/>
                    <a:pt x="83646" y="0"/>
                  </a:cubicBezTo>
                  <a:lnTo>
                    <a:pt x="8145053" y="0"/>
                  </a:lnTo>
                  <a:cubicBezTo>
                    <a:pt x="8191249" y="0"/>
                    <a:pt x="8228699" y="37450"/>
                    <a:pt x="8228699" y="83646"/>
                  </a:cubicBezTo>
                  <a:lnTo>
                    <a:pt x="8228699" y="752817"/>
                  </a:lnTo>
                  <a:cubicBezTo>
                    <a:pt x="8228699" y="799013"/>
                    <a:pt x="8191249" y="836463"/>
                    <a:pt x="8145053"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61659" tIns="161659" rIns="161659" bIns="161659" numCol="1" spcCol="1270" anchor="ctr" anchorCtr="0">
              <a:noAutofit/>
            </a:bodyPr>
            <a:lstStyle/>
            <a:p>
              <a:pPr marL="0" marR="0" algn="ctr">
                <a:lnSpc>
                  <a:spcPct val="90000"/>
                </a:lnSpc>
                <a:spcBef>
                  <a:spcPts val="0"/>
                </a:spcBef>
                <a:spcAft>
                  <a:spcPts val="0"/>
                </a:spcAft>
              </a:pPr>
              <a:endParaRPr lang="en-US" sz="2000" dirty="0">
                <a:effectLst/>
                <a:latin typeface="Times New Roman"/>
                <a:ea typeface="Times New Roman"/>
              </a:endParaRPr>
            </a:p>
          </p:txBody>
        </p:sp>
        <p:sp>
          <p:nvSpPr>
            <p:cNvPr id="27" name="Freeform 26"/>
            <p:cNvSpPr/>
            <p:nvPr/>
          </p:nvSpPr>
          <p:spPr>
            <a:xfrm>
              <a:off x="490513" y="4061795"/>
              <a:ext cx="1898124" cy="978258"/>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28" name="Freeform 27"/>
            <p:cNvSpPr/>
            <p:nvPr/>
          </p:nvSpPr>
          <p:spPr>
            <a:xfrm>
              <a:off x="2388637" y="4061795"/>
              <a:ext cx="1941706" cy="96507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29" name="Freeform 28"/>
            <p:cNvSpPr/>
            <p:nvPr/>
          </p:nvSpPr>
          <p:spPr>
            <a:xfrm>
              <a:off x="4369887" y="4061796"/>
              <a:ext cx="2044809" cy="965073"/>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30" name="Freeform 29"/>
            <p:cNvSpPr/>
            <p:nvPr/>
          </p:nvSpPr>
          <p:spPr>
            <a:xfrm>
              <a:off x="490513" y="3345915"/>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31" name="Freeform 30"/>
            <p:cNvSpPr/>
            <p:nvPr/>
          </p:nvSpPr>
          <p:spPr>
            <a:xfrm>
              <a:off x="490513" y="2590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32" name="Freeform 31"/>
            <p:cNvSpPr/>
            <p:nvPr/>
          </p:nvSpPr>
          <p:spPr>
            <a:xfrm>
              <a:off x="490513" y="1828800"/>
              <a:ext cx="8185658" cy="715880"/>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8319" tIns="108319" rIns="108319" bIns="10831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33" name="Freeform 32"/>
            <p:cNvSpPr/>
            <p:nvPr/>
          </p:nvSpPr>
          <p:spPr>
            <a:xfrm>
              <a:off x="6427878" y="4061796"/>
              <a:ext cx="2248293" cy="978254"/>
            </a:xfrm>
            <a:custGeom>
              <a:avLst/>
              <a:gdLst>
                <a:gd name="connsiteX0" fmla="*/ 0 w 2668190"/>
                <a:gd name="connsiteY0" fmla="*/ 83646 h 836463"/>
                <a:gd name="connsiteX1" fmla="*/ 83646 w 2668190"/>
                <a:gd name="connsiteY1" fmla="*/ 0 h 836463"/>
                <a:gd name="connsiteX2" fmla="*/ 2584544 w 2668190"/>
                <a:gd name="connsiteY2" fmla="*/ 0 h 836463"/>
                <a:gd name="connsiteX3" fmla="*/ 2668190 w 2668190"/>
                <a:gd name="connsiteY3" fmla="*/ 83646 h 836463"/>
                <a:gd name="connsiteX4" fmla="*/ 2668190 w 2668190"/>
                <a:gd name="connsiteY4" fmla="*/ 752817 h 836463"/>
                <a:gd name="connsiteX5" fmla="*/ 2584544 w 2668190"/>
                <a:gd name="connsiteY5" fmla="*/ 836463 h 836463"/>
                <a:gd name="connsiteX6" fmla="*/ 83646 w 2668190"/>
                <a:gd name="connsiteY6" fmla="*/ 836463 h 836463"/>
                <a:gd name="connsiteX7" fmla="*/ 0 w 2668190"/>
                <a:gd name="connsiteY7" fmla="*/ 752817 h 836463"/>
                <a:gd name="connsiteX8" fmla="*/ 0 w 2668190"/>
                <a:gd name="connsiteY8" fmla="*/ 83646 h 83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8190" h="836463">
                  <a:moveTo>
                    <a:pt x="0" y="83646"/>
                  </a:moveTo>
                  <a:cubicBezTo>
                    <a:pt x="0" y="37450"/>
                    <a:pt x="37450" y="0"/>
                    <a:pt x="83646" y="0"/>
                  </a:cubicBezTo>
                  <a:lnTo>
                    <a:pt x="2584544" y="0"/>
                  </a:lnTo>
                  <a:cubicBezTo>
                    <a:pt x="2630740" y="0"/>
                    <a:pt x="2668190" y="37450"/>
                    <a:pt x="2668190" y="83646"/>
                  </a:cubicBezTo>
                  <a:lnTo>
                    <a:pt x="2668190" y="752817"/>
                  </a:lnTo>
                  <a:cubicBezTo>
                    <a:pt x="2668190" y="799013"/>
                    <a:pt x="2630740" y="836463"/>
                    <a:pt x="2584544" y="836463"/>
                  </a:cubicBezTo>
                  <a:lnTo>
                    <a:pt x="83646" y="836463"/>
                  </a:lnTo>
                  <a:cubicBezTo>
                    <a:pt x="37450" y="836463"/>
                    <a:pt x="0" y="799013"/>
                    <a:pt x="0" y="752817"/>
                  </a:cubicBezTo>
                  <a:lnTo>
                    <a:pt x="0" y="83646"/>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9749" tIns="119749" rIns="119749" bIns="119749" numCol="1" spcCol="1270" anchor="ctr" anchorCtr="0">
              <a:noAutofit/>
            </a:bodyPr>
            <a:lstStyle/>
            <a:p>
              <a:pPr marL="0" marR="0" algn="ctr">
                <a:lnSpc>
                  <a:spcPct val="90000"/>
                </a:lnSpc>
                <a:spcBef>
                  <a:spcPts val="0"/>
                </a:spcBef>
                <a:spcAft>
                  <a:spcPts val="590"/>
                </a:spcAft>
              </a:pPr>
              <a:endParaRPr lang="en-US" sz="2000" dirty="0">
                <a:effectLst/>
                <a:latin typeface="Times New Roman"/>
                <a:ea typeface="Times New Roman"/>
              </a:endParaRPr>
            </a:p>
          </p:txBody>
        </p:sp>
        <p:sp>
          <p:nvSpPr>
            <p:cNvPr id="40" name="Rectangle 39"/>
            <p:cNvSpPr/>
            <p:nvPr/>
          </p:nvSpPr>
          <p:spPr>
            <a:xfrm>
              <a:off x="27432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32004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657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7432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2004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3657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48006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52578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5715000" y="47244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48006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52578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5715000" y="4114800"/>
              <a:ext cx="304800" cy="2286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p:cNvSpPr txBox="1"/>
          <p:nvPr/>
        </p:nvSpPr>
        <p:spPr>
          <a:xfrm>
            <a:off x="1127137" y="2286000"/>
            <a:ext cx="1872436" cy="584775"/>
          </a:xfrm>
          <a:prstGeom prst="rect">
            <a:avLst/>
          </a:prstGeom>
          <a:noFill/>
        </p:spPr>
        <p:txBody>
          <a:bodyPr wrap="none" rtlCol="0">
            <a:spAutoFit/>
          </a:bodyPr>
          <a:lstStyle/>
          <a:p>
            <a:r>
              <a:rPr lang="en-US" sz="3200" dirty="0" smtClean="0"/>
              <a:t>Production</a:t>
            </a:r>
            <a:endParaRPr lang="en-US" sz="3200" dirty="0"/>
          </a:p>
        </p:txBody>
      </p:sp>
      <p:sp>
        <p:nvSpPr>
          <p:cNvPr id="52" name="TextBox 51"/>
          <p:cNvSpPr txBox="1"/>
          <p:nvPr/>
        </p:nvSpPr>
        <p:spPr>
          <a:xfrm>
            <a:off x="5183804" y="2294020"/>
            <a:ext cx="783356" cy="584775"/>
          </a:xfrm>
          <a:prstGeom prst="rect">
            <a:avLst/>
          </a:prstGeom>
          <a:noFill/>
        </p:spPr>
        <p:txBody>
          <a:bodyPr wrap="none" rtlCol="0">
            <a:spAutoFit/>
          </a:bodyPr>
          <a:lstStyle/>
          <a:p>
            <a:r>
              <a:rPr lang="en-US" sz="3200" dirty="0" smtClean="0"/>
              <a:t>Test</a:t>
            </a:r>
            <a:endParaRPr lang="en-US" sz="3200" dirty="0"/>
          </a:p>
        </p:txBody>
      </p:sp>
    </p:spTree>
    <p:extLst>
      <p:ext uri="{BB962C8B-B14F-4D97-AF65-F5344CB8AC3E}">
        <p14:creationId xmlns:p14="http://schemas.microsoft.com/office/powerpoint/2010/main" val="38856218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normAutofit/>
          </a:bodyPr>
          <a:lstStyle/>
          <a:p>
            <a:r>
              <a:rPr lang="en-US" dirty="0" smtClean="0"/>
              <a:t>Colectica Integration</a:t>
            </a:r>
            <a:endParaRPr lang="en-US" dirty="0"/>
          </a:p>
        </p:txBody>
      </p:sp>
    </p:spTree>
    <p:extLst>
      <p:ext uri="{BB962C8B-B14F-4D97-AF65-F5344CB8AC3E}">
        <p14:creationId xmlns:p14="http://schemas.microsoft.com/office/powerpoint/2010/main" val="25446881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Getting to Production</a:t>
            </a:r>
            <a:endParaRPr lang="en-US" dirty="0"/>
          </a:p>
        </p:txBody>
      </p:sp>
      <p:cxnSp>
        <p:nvCxnSpPr>
          <p:cNvPr id="13" name="Straight Arrow Connector 12"/>
          <p:cNvCxnSpPr/>
          <p:nvPr/>
        </p:nvCxnSpPr>
        <p:spPr>
          <a:xfrm>
            <a:off x="609600" y="2807732"/>
            <a:ext cx="8001000" cy="0"/>
          </a:xfrm>
          <a:prstGeom prst="straightConnector1">
            <a:avLst/>
          </a:prstGeom>
          <a:ln w="152400">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9600" y="1969532"/>
            <a:ext cx="1495922" cy="523220"/>
          </a:xfrm>
          <a:prstGeom prst="rect">
            <a:avLst/>
          </a:prstGeom>
          <a:noFill/>
        </p:spPr>
        <p:txBody>
          <a:bodyPr wrap="none" rtlCol="0">
            <a:spAutoFit/>
          </a:bodyPr>
          <a:lstStyle/>
          <a:p>
            <a:r>
              <a:rPr lang="en-US" sz="2800" b="1" dirty="0" smtClean="0"/>
              <a:t>Option 1</a:t>
            </a:r>
            <a:endParaRPr lang="en-US" sz="2800" b="1" dirty="0"/>
          </a:p>
        </p:txBody>
      </p:sp>
      <p:sp>
        <p:nvSpPr>
          <p:cNvPr id="19" name="TextBox 18"/>
          <p:cNvSpPr txBox="1"/>
          <p:nvPr/>
        </p:nvSpPr>
        <p:spPr>
          <a:xfrm>
            <a:off x="7467600" y="1969532"/>
            <a:ext cx="918841" cy="523220"/>
          </a:xfrm>
          <a:prstGeom prst="rect">
            <a:avLst/>
          </a:prstGeom>
          <a:noFill/>
        </p:spPr>
        <p:txBody>
          <a:bodyPr wrap="none" rtlCol="0">
            <a:spAutoFit/>
          </a:bodyPr>
          <a:lstStyle/>
          <a:p>
            <a:r>
              <a:rPr lang="en-US" sz="2800" b="1" dirty="0" smtClean="0"/>
              <a:t>Goal</a:t>
            </a:r>
            <a:endParaRPr lang="en-US" sz="2800" b="1" dirty="0"/>
          </a:p>
        </p:txBody>
      </p:sp>
      <p:sp>
        <p:nvSpPr>
          <p:cNvPr id="20" name="TextBox 19"/>
          <p:cNvSpPr txBox="1"/>
          <p:nvPr/>
        </p:nvSpPr>
        <p:spPr>
          <a:xfrm>
            <a:off x="533400" y="2895600"/>
            <a:ext cx="1804468" cy="369332"/>
          </a:xfrm>
          <a:prstGeom prst="rect">
            <a:avLst/>
          </a:prstGeom>
          <a:noFill/>
        </p:spPr>
        <p:txBody>
          <a:bodyPr wrap="none" rtlCol="0">
            <a:spAutoFit/>
          </a:bodyPr>
          <a:lstStyle/>
          <a:p>
            <a:r>
              <a:rPr lang="en-US" dirty="0" smtClean="0"/>
              <a:t>Build from scratch</a:t>
            </a:r>
            <a:endParaRPr lang="en-US" dirty="0"/>
          </a:p>
        </p:txBody>
      </p:sp>
      <p:grpSp>
        <p:nvGrpSpPr>
          <p:cNvPr id="47" name="Group 46"/>
          <p:cNvGrpSpPr/>
          <p:nvPr/>
        </p:nvGrpSpPr>
        <p:grpSpPr>
          <a:xfrm>
            <a:off x="609600" y="4191000"/>
            <a:ext cx="7762415" cy="523220"/>
            <a:chOff x="609600" y="4191000"/>
            <a:chExt cx="7762415" cy="523220"/>
          </a:xfrm>
        </p:grpSpPr>
        <p:sp>
          <p:nvSpPr>
            <p:cNvPr id="22" name="TextBox 21"/>
            <p:cNvSpPr txBox="1"/>
            <p:nvPr/>
          </p:nvSpPr>
          <p:spPr>
            <a:xfrm>
              <a:off x="609600" y="4191000"/>
              <a:ext cx="1495922" cy="523220"/>
            </a:xfrm>
            <a:prstGeom prst="rect">
              <a:avLst/>
            </a:prstGeom>
            <a:noFill/>
          </p:spPr>
          <p:txBody>
            <a:bodyPr wrap="none" rtlCol="0">
              <a:spAutoFit/>
            </a:bodyPr>
            <a:lstStyle/>
            <a:p>
              <a:r>
                <a:rPr lang="en-US" sz="2800" b="1" dirty="0" smtClean="0"/>
                <a:t>Option 2</a:t>
              </a:r>
              <a:endParaRPr lang="en-US" sz="2800" b="1" dirty="0"/>
            </a:p>
          </p:txBody>
        </p:sp>
        <p:sp>
          <p:nvSpPr>
            <p:cNvPr id="23" name="TextBox 22"/>
            <p:cNvSpPr txBox="1"/>
            <p:nvPr/>
          </p:nvSpPr>
          <p:spPr>
            <a:xfrm>
              <a:off x="7467600" y="4191000"/>
              <a:ext cx="904415" cy="523220"/>
            </a:xfrm>
            <a:prstGeom prst="rect">
              <a:avLst/>
            </a:prstGeom>
            <a:noFill/>
          </p:spPr>
          <p:txBody>
            <a:bodyPr wrap="none" rtlCol="0">
              <a:spAutoFit/>
            </a:bodyPr>
            <a:lstStyle/>
            <a:p>
              <a:r>
                <a:rPr lang="en-US" sz="2800" b="1" dirty="0" smtClean="0"/>
                <a:t>Goal</a:t>
              </a:r>
              <a:endParaRPr lang="en-US" sz="2800" b="1" dirty="0"/>
            </a:p>
          </p:txBody>
        </p:sp>
      </p:grpSp>
      <p:grpSp>
        <p:nvGrpSpPr>
          <p:cNvPr id="48" name="Group 47"/>
          <p:cNvGrpSpPr/>
          <p:nvPr/>
        </p:nvGrpSpPr>
        <p:grpSpPr>
          <a:xfrm>
            <a:off x="685800" y="5029200"/>
            <a:ext cx="7924800" cy="445532"/>
            <a:chOff x="685800" y="5029200"/>
            <a:chExt cx="7924800" cy="445532"/>
          </a:xfrm>
        </p:grpSpPr>
        <p:cxnSp>
          <p:nvCxnSpPr>
            <p:cNvPr id="21" name="Straight Arrow Connector 20"/>
            <p:cNvCxnSpPr/>
            <p:nvPr/>
          </p:nvCxnSpPr>
          <p:spPr>
            <a:xfrm>
              <a:off x="6019800" y="5029200"/>
              <a:ext cx="2590800" cy="0"/>
            </a:xfrm>
            <a:prstGeom prst="straightConnector1">
              <a:avLst/>
            </a:prstGeom>
            <a:ln w="152400">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660969" y="5105400"/>
              <a:ext cx="806631" cy="369332"/>
            </a:xfrm>
            <a:prstGeom prst="rect">
              <a:avLst/>
            </a:prstGeom>
            <a:noFill/>
          </p:spPr>
          <p:txBody>
            <a:bodyPr wrap="none" rtlCol="0">
              <a:spAutoFit/>
            </a:bodyPr>
            <a:lstStyle/>
            <a:p>
              <a:r>
                <a:rPr lang="en-US" dirty="0" smtClean="0"/>
                <a:t>Extend</a:t>
              </a:r>
              <a:endParaRPr lang="en-US" dirty="0"/>
            </a:p>
          </p:txBody>
        </p:sp>
        <p:pic>
          <p:nvPicPr>
            <p:cNvPr id="29" name="Picture 2" descr="C:\Users\jeremy\svn\admin\PR\Assets\colectica\custom\colectica43x22.png"/>
            <p:cNvPicPr>
              <a:picLocks noChangeAspect="1" noChangeArrowheads="1"/>
            </p:cNvPicPr>
            <p:nvPr/>
          </p:nvPicPr>
          <p:blipFill>
            <a:blip r:embed="rId3" cstate="print"/>
            <a:srcRect/>
            <a:stretch>
              <a:fillRect/>
            </a:stretch>
          </p:blipFill>
          <p:spPr bwMode="auto">
            <a:xfrm>
              <a:off x="6043613" y="5181600"/>
              <a:ext cx="433387" cy="222250"/>
            </a:xfrm>
            <a:prstGeom prst="rect">
              <a:avLst/>
            </a:prstGeom>
            <a:noFill/>
          </p:spPr>
        </p:pic>
        <p:cxnSp>
          <p:nvCxnSpPr>
            <p:cNvPr id="46" name="Straight Connector 45"/>
            <p:cNvCxnSpPr/>
            <p:nvPr/>
          </p:nvCxnSpPr>
          <p:spPr>
            <a:xfrm>
              <a:off x="685800" y="5029200"/>
              <a:ext cx="5334000" cy="0"/>
            </a:xfrm>
            <a:prstGeom prst="line">
              <a:avLst/>
            </a:prstGeom>
            <a:ln w="152400">
              <a:solidFill>
                <a:schemeClr val="accent6"/>
              </a:solidFill>
              <a:prstDash val="dash"/>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a:xfrm>
            <a:off x="528959" y="3810000"/>
            <a:ext cx="8005441"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40616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Extending Colectica</a:t>
            </a:r>
            <a:endParaRPr lang="en-US" dirty="0"/>
          </a:p>
        </p:txBody>
      </p:sp>
      <p:sp>
        <p:nvSpPr>
          <p:cNvPr id="3" name="Content Placeholder 2"/>
          <p:cNvSpPr>
            <a:spLocks noGrp="1"/>
          </p:cNvSpPr>
          <p:nvPr>
            <p:ph sz="quarter" idx="1"/>
          </p:nvPr>
        </p:nvSpPr>
        <p:spPr/>
        <p:txBody>
          <a:bodyPr/>
          <a:lstStyle/>
          <a:p>
            <a:r>
              <a:rPr lang="en-US" dirty="0"/>
              <a:t>Versioning and synchronization </a:t>
            </a:r>
            <a:r>
              <a:rPr lang="en-US" dirty="0" smtClean="0"/>
              <a:t>improvements</a:t>
            </a:r>
          </a:p>
          <a:p>
            <a:r>
              <a:rPr lang="en-US" dirty="0" smtClean="0"/>
              <a:t>Item-level and item-type permissions</a:t>
            </a:r>
          </a:p>
          <a:p>
            <a:r>
              <a:rPr lang="en-US" dirty="0" smtClean="0"/>
              <a:t>Repository usage statistics</a:t>
            </a:r>
            <a:endParaRPr lang="en-US" dirty="0" smtClean="0"/>
          </a:p>
          <a:p>
            <a:r>
              <a:rPr lang="en-US" dirty="0"/>
              <a:t>Colectica Portal </a:t>
            </a:r>
            <a:r>
              <a:rPr lang="en-US" dirty="0" smtClean="0"/>
              <a:t>customization</a:t>
            </a:r>
          </a:p>
          <a:p>
            <a:r>
              <a:rPr lang="en-US" dirty="0" smtClean="0"/>
              <a:t>Colectica Workflow Services</a:t>
            </a:r>
          </a:p>
          <a:p>
            <a:endParaRPr lang="en-US" dirty="0" smtClean="0"/>
          </a:p>
          <a:p>
            <a:r>
              <a:rPr lang="en-US" dirty="0" smtClean="0"/>
              <a:t>Colectica SDK for custom integrations</a:t>
            </a:r>
            <a:endParaRPr lang="en-US" dirty="0"/>
          </a:p>
        </p:txBody>
      </p:sp>
    </p:spTree>
    <p:extLst>
      <p:ext uri="{BB962C8B-B14F-4D97-AF65-F5344CB8AC3E}">
        <p14:creationId xmlns:p14="http://schemas.microsoft.com/office/powerpoint/2010/main" val="338268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Integration: Questionnaire Design</a:t>
            </a:r>
            <a:endParaRPr lang="en-US" dirty="0"/>
          </a:p>
        </p:txBody>
      </p:sp>
      <p:sp>
        <p:nvSpPr>
          <p:cNvPr id="3" name="Content Placeholder 2"/>
          <p:cNvSpPr>
            <a:spLocks noGrp="1"/>
          </p:cNvSpPr>
          <p:nvPr>
            <p:ph sz="quarter" idx="1"/>
          </p:nvPr>
        </p:nvSpPr>
        <p:spPr/>
        <p:txBody>
          <a:bodyPr/>
          <a:lstStyle/>
          <a:p>
            <a:pPr lvl="1"/>
            <a:r>
              <a:rPr lang="en-US" b="1" dirty="0" smtClean="0"/>
              <a:t>Old</a:t>
            </a:r>
            <a:r>
              <a:rPr lang="en-US" dirty="0"/>
              <a:t>: Questionnaire designers create static flow charts, give to </a:t>
            </a:r>
            <a:r>
              <a:rPr lang="en-US" dirty="0" err="1"/>
              <a:t>Blaise</a:t>
            </a:r>
            <a:r>
              <a:rPr lang="en-US" dirty="0"/>
              <a:t> </a:t>
            </a:r>
            <a:r>
              <a:rPr lang="en-US" dirty="0" smtClean="0"/>
              <a:t>programmers</a:t>
            </a:r>
          </a:p>
          <a:p>
            <a:pPr lvl="1"/>
            <a:endParaRPr lang="en-US" b="1" dirty="0" smtClean="0"/>
          </a:p>
          <a:p>
            <a:pPr lvl="1"/>
            <a:r>
              <a:rPr lang="en-US" b="1" dirty="0" smtClean="0"/>
              <a:t>New</a:t>
            </a:r>
            <a:r>
              <a:rPr lang="en-US" dirty="0" smtClean="0"/>
              <a:t>: Application team created a prototype tool that pulls questions from Colectica, allows design of question flow, and creates </a:t>
            </a:r>
            <a:r>
              <a:rPr lang="en-US" dirty="0" err="1" smtClean="0"/>
              <a:t>Blaise</a:t>
            </a:r>
            <a:endParaRPr lang="en-US" dirty="0" smtClean="0"/>
          </a:p>
          <a:p>
            <a:pPr marL="365760" lvl="1" indent="0">
              <a:buNone/>
            </a:pPr>
            <a:endParaRPr lang="en-US" dirty="0" smtClean="0"/>
          </a:p>
        </p:txBody>
      </p:sp>
      <p:grpSp>
        <p:nvGrpSpPr>
          <p:cNvPr id="4" name="Group 3"/>
          <p:cNvGrpSpPr/>
          <p:nvPr/>
        </p:nvGrpSpPr>
        <p:grpSpPr>
          <a:xfrm>
            <a:off x="2457661" y="4004702"/>
            <a:ext cx="5086139" cy="2624698"/>
            <a:chOff x="304800" y="1609725"/>
            <a:chExt cx="8162925" cy="4257675"/>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19400"/>
              <a:ext cx="12287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24200"/>
              <a:ext cx="14001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076575"/>
              <a:ext cx="141922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048000"/>
              <a:ext cx="13049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2971800"/>
              <a:ext cx="12573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2895600"/>
              <a:ext cx="13049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4495800"/>
              <a:ext cx="41814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1425" y="1609725"/>
              <a:ext cx="3152775"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3" name="Rectangle 12"/>
          <p:cNvSpPr/>
          <p:nvPr/>
        </p:nvSpPr>
        <p:spPr>
          <a:xfrm>
            <a:off x="3276600" y="4800600"/>
            <a:ext cx="943636" cy="870376"/>
          </a:xfrm>
          <a:prstGeom prst="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21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Additional Tools</a:t>
            </a:r>
            <a:endParaRPr lang="en-US" dirty="0"/>
          </a:p>
        </p:txBody>
      </p:sp>
      <p:sp>
        <p:nvSpPr>
          <p:cNvPr id="3" name="Content Placeholder 2"/>
          <p:cNvSpPr>
            <a:spLocks noGrp="1"/>
          </p:cNvSpPr>
          <p:nvPr>
            <p:ph sz="quarter" idx="1"/>
          </p:nvPr>
        </p:nvSpPr>
        <p:spPr/>
        <p:txBody>
          <a:bodyPr/>
          <a:lstStyle/>
          <a:p>
            <a:r>
              <a:rPr lang="en-US" dirty="0" smtClean="0"/>
              <a:t>Data Processing</a:t>
            </a:r>
          </a:p>
          <a:p>
            <a:r>
              <a:rPr lang="en-US" dirty="0" smtClean="0"/>
              <a:t>Data Dissemination</a:t>
            </a:r>
            <a:endParaRPr lang="en-US" dirty="0"/>
          </a:p>
        </p:txBody>
      </p:sp>
      <p:grpSp>
        <p:nvGrpSpPr>
          <p:cNvPr id="4" name="Group 3"/>
          <p:cNvGrpSpPr/>
          <p:nvPr/>
        </p:nvGrpSpPr>
        <p:grpSpPr>
          <a:xfrm>
            <a:off x="1122788" y="2664473"/>
            <a:ext cx="6649612" cy="3431527"/>
            <a:chOff x="304800" y="1609725"/>
            <a:chExt cx="8162925" cy="4257675"/>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19400"/>
              <a:ext cx="12287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24200"/>
              <a:ext cx="14001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076575"/>
              <a:ext cx="141922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048000"/>
              <a:ext cx="13049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2971800"/>
              <a:ext cx="12573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2895600"/>
              <a:ext cx="13049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4495800"/>
              <a:ext cx="41814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1425" y="1609725"/>
              <a:ext cx="3152775"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3" name="Rectangle 12"/>
          <p:cNvSpPr/>
          <p:nvPr/>
        </p:nvSpPr>
        <p:spPr>
          <a:xfrm>
            <a:off x="3594128" y="3762254"/>
            <a:ext cx="2072746" cy="1120813"/>
          </a:xfrm>
          <a:prstGeom prst="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9901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normAutofit/>
          </a:bodyPr>
          <a:lstStyle/>
          <a:p>
            <a:r>
              <a:rPr lang="en-US" dirty="0" smtClean="0"/>
              <a:t>Results</a:t>
            </a:r>
            <a:endParaRPr lang="en-US" dirty="0"/>
          </a:p>
        </p:txBody>
      </p:sp>
    </p:spTree>
    <p:extLst>
      <p:ext uri="{BB962C8B-B14F-4D97-AF65-F5344CB8AC3E}">
        <p14:creationId xmlns:p14="http://schemas.microsoft.com/office/powerpoint/2010/main" val="25446881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Result 1 – Metadata Capture</a:t>
            </a:r>
            <a:endParaRPr lang="en-US" dirty="0"/>
          </a:p>
        </p:txBody>
      </p:sp>
      <p:sp>
        <p:nvSpPr>
          <p:cNvPr id="4" name="Rectangle 3"/>
          <p:cNvSpPr/>
          <p:nvPr/>
        </p:nvSpPr>
        <p:spPr>
          <a:xfrm>
            <a:off x="1752600" y="2076271"/>
            <a:ext cx="6629400" cy="120032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sz="3600" dirty="0" smtClean="0"/>
              <a:t>“We </a:t>
            </a:r>
            <a:r>
              <a:rPr lang="en-US" sz="3600" dirty="0"/>
              <a:t>used to record all metadata at the end of the lifecycle</a:t>
            </a:r>
            <a:r>
              <a:rPr lang="en-US" sz="3600" dirty="0" smtClean="0"/>
              <a:t>.”</a:t>
            </a:r>
            <a:endParaRPr lang="en-US" sz="3600" dirty="0"/>
          </a:p>
        </p:txBody>
      </p:sp>
      <p:sp>
        <p:nvSpPr>
          <p:cNvPr id="5" name="Rectangle 4"/>
          <p:cNvSpPr/>
          <p:nvPr/>
        </p:nvSpPr>
        <p:spPr>
          <a:xfrm>
            <a:off x="1524000" y="4209871"/>
            <a:ext cx="7086600"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sz="3600" dirty="0" smtClean="0"/>
              <a:t>“Now</a:t>
            </a:r>
            <a:r>
              <a:rPr lang="en-US" sz="3600" dirty="0"/>
              <a:t>, </a:t>
            </a:r>
            <a:r>
              <a:rPr lang="en-US" sz="3600" dirty="0" smtClean="0"/>
              <a:t>survey designers capture </a:t>
            </a:r>
            <a:r>
              <a:rPr lang="en-US" sz="3600" dirty="0"/>
              <a:t>the </a:t>
            </a:r>
            <a:r>
              <a:rPr lang="en-US" sz="3600" dirty="0" smtClean="0"/>
              <a:t>information </a:t>
            </a:r>
            <a:r>
              <a:rPr lang="en-US" sz="3600" dirty="0"/>
              <a:t>when they first think of it</a:t>
            </a:r>
            <a:r>
              <a:rPr lang="en-US" sz="3600" dirty="0" smtClean="0"/>
              <a:t>.”</a:t>
            </a:r>
            <a:endParaRPr lang="en-US" sz="3600" dirty="0"/>
          </a:p>
        </p:txBody>
      </p:sp>
      <p:pic>
        <p:nvPicPr>
          <p:cNvPr id="6" name="Picture 5"/>
          <p:cNvPicPr preferRelativeResize="0">
            <a:picLocks/>
          </p:cNvPicPr>
          <p:nvPr>
            <p:custDataLst>
              <p:custData r:id="rId1"/>
            </p:custDataLst>
          </p:nvPr>
        </p:nvPicPr>
        <p:blipFill rotWithShape="1">
          <a:blip r:embed="rId5">
            <a:extLst>
              <a:ext uri="{28A0092B-C50C-407E-A947-70E740481C1C}">
                <a14:useLocalDpi xmlns:a14="http://schemas.microsoft.com/office/drawing/2010/main" val="0"/>
              </a:ext>
            </a:extLst>
          </a:blip>
          <a:srcRect l="21068" t="22016" r="22016" b="23914"/>
          <a:stretch/>
        </p:blipFill>
        <p:spPr>
          <a:xfrm>
            <a:off x="539751" y="2353697"/>
            <a:ext cx="679449" cy="645475"/>
          </a:xfrm>
          <a:prstGeom prst="rect">
            <a:avLst/>
          </a:prstGeom>
        </p:spPr>
      </p:pic>
      <p:pic>
        <p:nvPicPr>
          <p:cNvPr id="7" name="Picture 6"/>
          <p:cNvPicPr preferRelativeResize="0">
            <a:picLocks/>
          </p:cNvPicPr>
          <p:nvPr>
            <p:custDataLst>
              <p:custData r:id="rId2"/>
            </p:custDataLst>
          </p:nvPr>
        </p:nvPicPr>
        <p:blipFill rotWithShape="1">
          <a:blip r:embed="rId5">
            <a:extLst>
              <a:ext uri="{28A0092B-C50C-407E-A947-70E740481C1C}">
                <a14:useLocalDpi xmlns:a14="http://schemas.microsoft.com/office/drawing/2010/main" val="0"/>
              </a:ext>
            </a:extLst>
          </a:blip>
          <a:srcRect l="21068" t="22016" r="22016" b="23914"/>
          <a:stretch/>
        </p:blipFill>
        <p:spPr>
          <a:xfrm>
            <a:off x="539750" y="4487297"/>
            <a:ext cx="679449" cy="645475"/>
          </a:xfrm>
          <a:prstGeom prst="rect">
            <a:avLst/>
          </a:prstGeom>
        </p:spPr>
      </p:pic>
    </p:spTree>
    <p:extLst>
      <p:ext uri="{BB962C8B-B14F-4D97-AF65-F5344CB8AC3E}">
        <p14:creationId xmlns:p14="http://schemas.microsoft.com/office/powerpoint/2010/main" val="195009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Result 2 - Archiving</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Old Process: </a:t>
            </a:r>
          </a:p>
          <a:p>
            <a:pPr lvl="1"/>
            <a:r>
              <a:rPr lang="en-US" dirty="0" smtClean="0"/>
              <a:t>Manually mark up DDI 2 XML</a:t>
            </a:r>
          </a:p>
          <a:p>
            <a:endParaRPr lang="en-US" dirty="0" smtClean="0"/>
          </a:p>
          <a:p>
            <a:r>
              <a:rPr lang="en-US" dirty="0" smtClean="0"/>
              <a:t>New Process: </a:t>
            </a:r>
          </a:p>
          <a:p>
            <a:pPr lvl="1"/>
            <a:r>
              <a:rPr lang="en-US" dirty="0" smtClean="0"/>
              <a:t>Information is entered into Colectica</a:t>
            </a:r>
          </a:p>
          <a:p>
            <a:pPr lvl="1"/>
            <a:r>
              <a:rPr lang="en-US" dirty="0" smtClean="0"/>
              <a:t>A program grabs </a:t>
            </a:r>
            <a:r>
              <a:rPr lang="en-US" dirty="0"/>
              <a:t>DDI from Colectica, </a:t>
            </a:r>
            <a:r>
              <a:rPr lang="en-US" dirty="0" smtClean="0"/>
              <a:t>harvests </a:t>
            </a:r>
            <a:r>
              <a:rPr lang="en-US" dirty="0"/>
              <a:t>all information from network drives, </a:t>
            </a:r>
            <a:r>
              <a:rPr lang="en-US" dirty="0" smtClean="0"/>
              <a:t>ingests </a:t>
            </a:r>
            <a:r>
              <a:rPr lang="en-US" dirty="0"/>
              <a:t>into </a:t>
            </a:r>
            <a:r>
              <a:rPr lang="en-US" dirty="0" smtClean="0"/>
              <a:t>Archive</a:t>
            </a:r>
          </a:p>
          <a:p>
            <a:pPr lvl="1"/>
            <a:r>
              <a:rPr lang="en-US" dirty="0" smtClean="0"/>
              <a:t>Archivists just </a:t>
            </a:r>
            <a:r>
              <a:rPr lang="en-US" dirty="0"/>
              <a:t>have to understand </a:t>
            </a:r>
            <a:r>
              <a:rPr lang="en-US" dirty="0" smtClean="0"/>
              <a:t>Colectica</a:t>
            </a:r>
          </a:p>
          <a:p>
            <a:pPr lvl="1"/>
            <a:r>
              <a:rPr lang="en-US" dirty="0" smtClean="0"/>
              <a:t>With content guidelines created by Statistics New Zealand, this is very easy</a:t>
            </a:r>
            <a:endParaRPr lang="en-US" dirty="0"/>
          </a:p>
        </p:txBody>
      </p:sp>
    </p:spTree>
    <p:extLst>
      <p:ext uri="{BB962C8B-B14F-4D97-AF65-F5344CB8AC3E}">
        <p14:creationId xmlns:p14="http://schemas.microsoft.com/office/powerpoint/2010/main" val="190621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Key Result 2 - Archiving</a:t>
            </a:r>
            <a:endParaRPr lang="en-US" dirty="0"/>
          </a:p>
        </p:txBody>
      </p:sp>
      <p:graphicFrame>
        <p:nvGraphicFramePr>
          <p:cNvPr id="4" name="Chart 3"/>
          <p:cNvGraphicFramePr/>
          <p:nvPr>
            <p:extLst>
              <p:ext uri="{D42A27DB-BD31-4B8C-83A1-F6EECF244321}">
                <p14:modId xmlns:p14="http://schemas.microsoft.com/office/powerpoint/2010/main" val="18011020"/>
              </p:ext>
            </p:extLst>
          </p:nvPr>
        </p:nvGraphicFramePr>
        <p:xfrm>
          <a:off x="1295400" y="1600200"/>
          <a:ext cx="6096000" cy="4064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1"/>
          <p:cNvSpPr txBox="1"/>
          <p:nvPr/>
        </p:nvSpPr>
        <p:spPr>
          <a:xfrm>
            <a:off x="6934200" y="2819400"/>
            <a:ext cx="914400" cy="9144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b="1" dirty="0" smtClean="0"/>
              <a:t>3 - 4 Months</a:t>
            </a:r>
            <a:endParaRPr lang="en-US" sz="1800" b="1" dirty="0"/>
          </a:p>
        </p:txBody>
      </p:sp>
      <p:sp>
        <p:nvSpPr>
          <p:cNvPr id="6" name="TextBox 1"/>
          <p:cNvSpPr txBox="1"/>
          <p:nvPr/>
        </p:nvSpPr>
        <p:spPr>
          <a:xfrm>
            <a:off x="3200400" y="1676400"/>
            <a:ext cx="24384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t>Time to Train Archivists</a:t>
            </a:r>
            <a:endParaRPr lang="en-US" sz="2400" b="1" dirty="0"/>
          </a:p>
        </p:txBody>
      </p:sp>
    </p:spTree>
    <p:extLst>
      <p:ext uri="{BB962C8B-B14F-4D97-AF65-F5344CB8AC3E}">
        <p14:creationId xmlns:p14="http://schemas.microsoft.com/office/powerpoint/2010/main" val="109221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Facts and Figures</a:t>
            </a:r>
            <a:endParaRPr lang="en-US" dirty="0"/>
          </a:p>
        </p:txBody>
      </p:sp>
      <p:graphicFrame>
        <p:nvGraphicFramePr>
          <p:cNvPr id="4" name="Shape 101"/>
          <p:cNvGraphicFramePr/>
          <p:nvPr>
            <p:extLst>
              <p:ext uri="{D42A27DB-BD31-4B8C-83A1-F6EECF244321}">
                <p14:modId xmlns:p14="http://schemas.microsoft.com/office/powerpoint/2010/main" val="3288918491"/>
              </p:ext>
            </p:extLst>
          </p:nvPr>
        </p:nvGraphicFramePr>
        <p:xfrm>
          <a:off x="2519725" y="1981200"/>
          <a:ext cx="5481275" cy="1371540"/>
        </p:xfrm>
        <a:graphic>
          <a:graphicData uri="http://schemas.openxmlformats.org/drawingml/2006/table">
            <a:tbl>
              <a:tblPr>
                <a:noFill/>
              </a:tblPr>
              <a:tblGrid>
                <a:gridCol w="2273300"/>
                <a:gridCol w="3207975"/>
              </a:tblGrid>
              <a:tr h="685800">
                <a:tc>
                  <a:txBody>
                    <a:bodyPr/>
                    <a:lstStyle/>
                    <a:p>
                      <a:pPr lvl="0" rtl="0">
                        <a:buClr>
                          <a:srgbClr val="000000"/>
                        </a:buClr>
                        <a:buSzPct val="30555"/>
                        <a:buFont typeface="Arial"/>
                        <a:buNone/>
                      </a:pPr>
                      <a:r>
                        <a:rPr lang="en" sz="3600" b="1" dirty="0" smtClean="0"/>
                        <a:t>1,008</a:t>
                      </a:r>
                      <a:endParaRPr lang="en" sz="3600" b="1" dirty="0"/>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c>
                  <a:txBody>
                    <a:bodyPr/>
                    <a:lstStyle/>
                    <a:p>
                      <a:pPr lvl="0" rtl="0">
                        <a:buClr>
                          <a:srgbClr val="000000"/>
                        </a:buClr>
                        <a:buSzPct val="30555"/>
                        <a:buFont typeface="Arial"/>
                        <a:buNone/>
                      </a:pPr>
                      <a:r>
                        <a:rPr lang="en" sz="3600" b="1" dirty="0" smtClean="0"/>
                        <a:t>200</a:t>
                      </a:r>
                      <a:endParaRPr lang="en" sz="3600" b="1" dirty="0"/>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r>
              <a:tr h="381000">
                <a:tc>
                  <a:txBody>
                    <a:bodyPr/>
                    <a:lstStyle/>
                    <a:p>
                      <a:pPr lvl="0" rtl="0">
                        <a:buClr>
                          <a:srgbClr val="000000"/>
                        </a:buClr>
                        <a:buSzPct val="36666"/>
                        <a:buFont typeface="Arial"/>
                        <a:buNone/>
                      </a:pPr>
                      <a:r>
                        <a:rPr lang="en" sz="3000" dirty="0" smtClean="0">
                          <a:solidFill>
                            <a:srgbClr val="999999"/>
                          </a:solidFill>
                        </a:rPr>
                        <a:t>Datasets</a:t>
                      </a:r>
                      <a:endParaRPr lang="en" sz="3000" dirty="0">
                        <a:solidFill>
                          <a:srgbClr val="999999"/>
                        </a:solidFill>
                      </a:endParaRPr>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c>
                  <a:txBody>
                    <a:bodyPr/>
                    <a:lstStyle/>
                    <a:p>
                      <a:pPr lvl="0" rtl="0">
                        <a:buClr>
                          <a:srgbClr val="000000"/>
                        </a:buClr>
                        <a:buSzPct val="36666"/>
                        <a:buFont typeface="Arial"/>
                        <a:buNone/>
                      </a:pPr>
                      <a:r>
                        <a:rPr lang="en" sz="3000" dirty="0" smtClean="0">
                          <a:solidFill>
                            <a:srgbClr val="999999"/>
                          </a:solidFill>
                        </a:rPr>
                        <a:t>Series</a:t>
                      </a:r>
                      <a:endParaRPr lang="en" sz="3000" dirty="0">
                        <a:solidFill>
                          <a:srgbClr val="999999"/>
                        </a:solidFill>
                      </a:endParaRPr>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r>
            </a:tbl>
          </a:graphicData>
        </a:graphic>
      </p:graphicFrame>
      <p:graphicFrame>
        <p:nvGraphicFramePr>
          <p:cNvPr id="5" name="Shape 101"/>
          <p:cNvGraphicFramePr/>
          <p:nvPr>
            <p:extLst>
              <p:ext uri="{D42A27DB-BD31-4B8C-83A1-F6EECF244321}">
                <p14:modId xmlns:p14="http://schemas.microsoft.com/office/powerpoint/2010/main" val="2391011485"/>
              </p:ext>
            </p:extLst>
          </p:nvPr>
        </p:nvGraphicFramePr>
        <p:xfrm>
          <a:off x="2514600" y="4038660"/>
          <a:ext cx="5481275" cy="1828740"/>
        </p:xfrm>
        <a:graphic>
          <a:graphicData uri="http://schemas.openxmlformats.org/drawingml/2006/table">
            <a:tbl>
              <a:tblPr>
                <a:noFill/>
              </a:tblPr>
              <a:tblGrid>
                <a:gridCol w="2273300"/>
                <a:gridCol w="3207975"/>
              </a:tblGrid>
              <a:tr h="496200">
                <a:tc>
                  <a:txBody>
                    <a:bodyPr/>
                    <a:lstStyle/>
                    <a:p>
                      <a:pPr lvl="0" rtl="0">
                        <a:buClr>
                          <a:srgbClr val="000000"/>
                        </a:buClr>
                        <a:buSzPct val="30555"/>
                        <a:buFont typeface="Arial"/>
                        <a:buNone/>
                      </a:pPr>
                      <a:r>
                        <a:rPr lang="en" sz="3600" b="1" dirty="0" smtClean="0"/>
                        <a:t>20 - 40</a:t>
                      </a:r>
                      <a:endParaRPr lang="en" sz="3600" b="1" dirty="0"/>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c>
                  <a:txBody>
                    <a:bodyPr/>
                    <a:lstStyle/>
                    <a:p>
                      <a:pPr lvl="0" rtl="0">
                        <a:buClr>
                          <a:srgbClr val="000000"/>
                        </a:buClr>
                        <a:buSzPct val="30555"/>
                        <a:buFont typeface="Arial"/>
                        <a:buNone/>
                      </a:pPr>
                      <a:r>
                        <a:rPr lang="en" sz="3600" b="1" dirty="0" smtClean="0"/>
                        <a:t>219</a:t>
                      </a:r>
                      <a:endParaRPr lang="en" sz="3600" b="1" dirty="0"/>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r>
              <a:tr h="381000">
                <a:tc>
                  <a:txBody>
                    <a:bodyPr/>
                    <a:lstStyle/>
                    <a:p>
                      <a:pPr lvl="0" rtl="0">
                        <a:buClr>
                          <a:srgbClr val="000000"/>
                        </a:buClr>
                        <a:buSzPct val="36666"/>
                        <a:buFont typeface="Arial"/>
                        <a:buNone/>
                      </a:pPr>
                      <a:r>
                        <a:rPr lang="en" sz="3000" dirty="0" smtClean="0">
                          <a:solidFill>
                            <a:srgbClr val="999999"/>
                          </a:solidFill>
                        </a:rPr>
                        <a:t>Metadata</a:t>
                      </a:r>
                      <a:r>
                        <a:rPr lang="en" sz="3000" baseline="0" dirty="0" smtClean="0">
                          <a:solidFill>
                            <a:srgbClr val="999999"/>
                          </a:solidFill>
                        </a:rPr>
                        <a:t> Creators</a:t>
                      </a:r>
                      <a:endParaRPr lang="en" sz="3000" dirty="0">
                        <a:solidFill>
                          <a:srgbClr val="999999"/>
                        </a:solidFill>
                      </a:endParaRPr>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c>
                  <a:txBody>
                    <a:bodyPr/>
                    <a:lstStyle/>
                    <a:p>
                      <a:pPr lvl="0" rtl="0">
                        <a:buClr>
                          <a:srgbClr val="000000"/>
                        </a:buClr>
                        <a:buSzPct val="36666"/>
                        <a:buFont typeface="Arial"/>
                        <a:buNone/>
                      </a:pPr>
                      <a:r>
                        <a:rPr lang="en" sz="3000" dirty="0" smtClean="0">
                          <a:solidFill>
                            <a:srgbClr val="999999"/>
                          </a:solidFill>
                        </a:rPr>
                        <a:t>Unique </a:t>
                      </a:r>
                      <a:br>
                        <a:rPr lang="en" sz="3000" dirty="0" smtClean="0">
                          <a:solidFill>
                            <a:srgbClr val="999999"/>
                          </a:solidFill>
                        </a:rPr>
                      </a:br>
                      <a:r>
                        <a:rPr lang="en" sz="3000" dirty="0" smtClean="0">
                          <a:solidFill>
                            <a:srgbClr val="999999"/>
                          </a:solidFill>
                        </a:rPr>
                        <a:t>Portal Users</a:t>
                      </a:r>
                      <a:endParaRPr lang="en" sz="3000" dirty="0">
                        <a:solidFill>
                          <a:srgbClr val="999999"/>
                        </a:solidFill>
                      </a:endParaRPr>
                    </a:p>
                  </a:txBody>
                  <a:tcPr marL="91425" marR="91425" marT="91425" marB="91425">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9525" cap="flat">
                      <a:solidFill>
                        <a:srgbClr val="000000">
                          <a:alpha val="0"/>
                        </a:srgbClr>
                      </a:solidFill>
                      <a:prstDash val="solid"/>
                      <a:round/>
                      <a:headEnd type="none" w="med" len="med"/>
                      <a:tailEnd type="none" w="med" len="med"/>
                    </a:lnT>
                    <a:lnB w="9525" cap="flat">
                      <a:solidFill>
                        <a:srgbClr val="000000">
                          <a:alpha val="0"/>
                        </a:srgbClr>
                      </a:solidFill>
                      <a:prstDash val="solid"/>
                      <a:round/>
                      <a:headEnd type="none" w="med" len="med"/>
                      <a:tailEnd type="none" w="med" len="med"/>
                    </a:lnB>
                  </a:tcPr>
                </a:tc>
              </a:tr>
            </a:tbl>
          </a:graphicData>
        </a:graphic>
      </p:graphicFrame>
      <p:pic>
        <p:nvPicPr>
          <p:cNvPr id="7" name="Picture 6"/>
          <p:cNvPicPr preferRelativeResize="0">
            <a:picLocks/>
          </p:cNvPicPr>
          <p:nvPr>
            <p:custDataLst>
              <p:custData r:id="rId1"/>
            </p:custDataLst>
          </p:nvPr>
        </p:nvPicPr>
        <p:blipFill rotWithShape="1">
          <a:blip r:embed="rId6">
            <a:extLst>
              <a:ext uri="{28A0092B-C50C-407E-A947-70E740481C1C}">
                <a14:useLocalDpi xmlns:a14="http://schemas.microsoft.com/office/drawing/2010/main" val="0"/>
              </a:ext>
            </a:extLst>
          </a:blip>
          <a:srcRect l="21974" t="22836" r="22405" b="22836"/>
          <a:stretch/>
        </p:blipFill>
        <p:spPr>
          <a:xfrm>
            <a:off x="756147" y="4343400"/>
            <a:ext cx="889000" cy="889000"/>
          </a:xfrm>
          <a:prstGeom prst="rect">
            <a:avLst/>
          </a:prstGeom>
        </p:spPr>
      </p:pic>
      <p:sp>
        <p:nvSpPr>
          <p:cNvPr id="8" name="Freeform 97"/>
          <p:cNvSpPr>
            <a:spLocks noEditPoints="1"/>
          </p:cNvSpPr>
          <p:nvPr>
            <p:custDataLst>
              <p:custData r:id="rId2"/>
              <p:custData r:id="rId3"/>
            </p:custDataLst>
          </p:nvPr>
        </p:nvSpPr>
        <p:spPr bwMode="black">
          <a:xfrm>
            <a:off x="851894" y="2293937"/>
            <a:ext cx="697506" cy="704243"/>
          </a:xfrm>
          <a:custGeom>
            <a:avLst/>
            <a:gdLst>
              <a:gd name="T0" fmla="*/ 0 w 96"/>
              <a:gd name="T1" fmla="*/ 0 h 97"/>
              <a:gd name="T2" fmla="*/ 0 w 96"/>
              <a:gd name="T3" fmla="*/ 97 h 97"/>
              <a:gd name="T4" fmla="*/ 24 w 96"/>
              <a:gd name="T5" fmla="*/ 97 h 97"/>
              <a:gd name="T6" fmla="*/ 24 w 96"/>
              <a:gd name="T7" fmla="*/ 69 h 97"/>
              <a:gd name="T8" fmla="*/ 73 w 96"/>
              <a:gd name="T9" fmla="*/ 69 h 97"/>
              <a:gd name="T10" fmla="*/ 73 w 96"/>
              <a:gd name="T11" fmla="*/ 97 h 97"/>
              <a:gd name="T12" fmla="*/ 96 w 96"/>
              <a:gd name="T13" fmla="*/ 97 h 97"/>
              <a:gd name="T14" fmla="*/ 96 w 96"/>
              <a:gd name="T15" fmla="*/ 0 h 97"/>
              <a:gd name="T16" fmla="*/ 0 w 96"/>
              <a:gd name="T17" fmla="*/ 0 h 97"/>
              <a:gd name="T18" fmla="*/ 80 w 96"/>
              <a:gd name="T19" fmla="*/ 41 h 97"/>
              <a:gd name="T20" fmla="*/ 14 w 96"/>
              <a:gd name="T21" fmla="*/ 41 h 97"/>
              <a:gd name="T22" fmla="*/ 14 w 96"/>
              <a:gd name="T23" fmla="*/ 5 h 97"/>
              <a:gd name="T24" fmla="*/ 80 w 96"/>
              <a:gd name="T25" fmla="*/ 5 h 97"/>
              <a:gd name="T26" fmla="*/ 80 w 96"/>
              <a:gd name="T27" fmla="*/ 41 h 97"/>
              <a:gd name="T28" fmla="*/ 34 w 96"/>
              <a:gd name="T29" fmla="*/ 76 h 97"/>
              <a:gd name="T30" fmla="*/ 50 w 96"/>
              <a:gd name="T31" fmla="*/ 76 h 97"/>
              <a:gd name="T32" fmla="*/ 50 w 96"/>
              <a:gd name="T33" fmla="*/ 97 h 97"/>
              <a:gd name="T34" fmla="*/ 34 w 96"/>
              <a:gd name="T35" fmla="*/ 97 h 97"/>
              <a:gd name="T36" fmla="*/ 34 w 96"/>
              <a:gd name="T37" fmla="*/ 7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7">
                <a:moveTo>
                  <a:pt x="0" y="0"/>
                </a:moveTo>
                <a:lnTo>
                  <a:pt x="0" y="97"/>
                </a:lnTo>
                <a:lnTo>
                  <a:pt x="24" y="97"/>
                </a:lnTo>
                <a:lnTo>
                  <a:pt x="24" y="69"/>
                </a:lnTo>
                <a:lnTo>
                  <a:pt x="73" y="69"/>
                </a:lnTo>
                <a:lnTo>
                  <a:pt x="73" y="97"/>
                </a:lnTo>
                <a:lnTo>
                  <a:pt x="96" y="97"/>
                </a:lnTo>
                <a:lnTo>
                  <a:pt x="96" y="0"/>
                </a:lnTo>
                <a:lnTo>
                  <a:pt x="0" y="0"/>
                </a:lnTo>
                <a:close/>
                <a:moveTo>
                  <a:pt x="80" y="41"/>
                </a:moveTo>
                <a:lnTo>
                  <a:pt x="14" y="41"/>
                </a:lnTo>
                <a:lnTo>
                  <a:pt x="14" y="5"/>
                </a:lnTo>
                <a:lnTo>
                  <a:pt x="80" y="5"/>
                </a:lnTo>
                <a:lnTo>
                  <a:pt x="80" y="41"/>
                </a:lnTo>
                <a:close/>
                <a:moveTo>
                  <a:pt x="34" y="76"/>
                </a:moveTo>
                <a:lnTo>
                  <a:pt x="50" y="76"/>
                </a:lnTo>
                <a:lnTo>
                  <a:pt x="50" y="97"/>
                </a:lnTo>
                <a:lnTo>
                  <a:pt x="34" y="97"/>
                </a:lnTo>
                <a:lnTo>
                  <a:pt x="34" y="76"/>
                </a:lnTo>
                <a:close/>
              </a:path>
            </a:pathLst>
          </a:custGeom>
          <a:solidFill>
            <a:srgbClr val="000000"/>
          </a:solidFill>
          <a:ln>
            <a:noFill/>
          </a:ln>
          <a:extLst/>
        </p:spPr>
        <p:txBody>
          <a:bodyPr vert="horz" wrap="square" lIns="97576" tIns="48788" rIns="97576" bIns="48788" numCol="1" anchor="t" anchorCtr="0" compatLnSpc="1">
            <a:prstTxWarp prst="textNoShape">
              <a:avLst/>
            </a:prstTxWarp>
          </a:bodyPr>
          <a:lstStyle/>
          <a:p>
            <a:endParaRPr lang="en-US"/>
          </a:p>
        </p:txBody>
      </p:sp>
    </p:spTree>
    <p:extLst>
      <p:ext uri="{BB962C8B-B14F-4D97-AF65-F5344CB8AC3E}">
        <p14:creationId xmlns:p14="http://schemas.microsoft.com/office/powerpoint/2010/main" val="192194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of Colectica and NSOs</a:t>
            </a:r>
            <a:endParaRPr lang="en-US" dirty="0"/>
          </a:p>
        </p:txBody>
      </p:sp>
      <p:sp>
        <p:nvSpPr>
          <p:cNvPr id="3" name="Content Placeholder 2"/>
          <p:cNvSpPr>
            <a:spLocks noGrp="1"/>
          </p:cNvSpPr>
          <p:nvPr>
            <p:ph sz="quarter" idx="1"/>
          </p:nvPr>
        </p:nvSpPr>
        <p:spPr/>
        <p:txBody>
          <a:bodyPr/>
          <a:lstStyle/>
          <a:p>
            <a:r>
              <a:rPr lang="en-US" dirty="0" smtClean="0"/>
              <a:t>Improving support for GSIM</a:t>
            </a:r>
          </a:p>
          <a:p>
            <a:endParaRPr lang="en-US" dirty="0" smtClean="0"/>
          </a:p>
          <a:p>
            <a:r>
              <a:rPr lang="en-US" dirty="0" smtClean="0"/>
              <a:t>Continue </a:t>
            </a:r>
            <a:r>
              <a:rPr lang="en-US" dirty="0"/>
              <a:t>to improve usability of the Colectica interface for those unfamiliar with </a:t>
            </a:r>
            <a:r>
              <a:rPr lang="en-US" dirty="0" smtClean="0"/>
              <a:t>DDI</a:t>
            </a:r>
          </a:p>
          <a:p>
            <a:endParaRPr lang="en-US" dirty="0" smtClean="0"/>
          </a:p>
          <a:p>
            <a:r>
              <a:rPr lang="en-US" dirty="0" smtClean="0"/>
              <a:t>Continue </a:t>
            </a:r>
            <a:r>
              <a:rPr lang="en-US" dirty="0"/>
              <a:t>to work with statistical agencies to tailor Colectica to their needs and meet their goals of </a:t>
            </a:r>
            <a:r>
              <a:rPr lang="en-US" dirty="0" err="1" smtClean="0"/>
              <a:t>modernisation</a:t>
            </a:r>
            <a:endParaRPr lang="en-US" dirty="0"/>
          </a:p>
        </p:txBody>
      </p:sp>
    </p:spTree>
    <p:extLst>
      <p:ext uri="{BB962C8B-B14F-4D97-AF65-F5344CB8AC3E}">
        <p14:creationId xmlns:p14="http://schemas.microsoft.com/office/powerpoint/2010/main" val="21249525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6" name="Content Placeholder 5"/>
          <p:cNvSpPr>
            <a:spLocks noGrp="1"/>
          </p:cNvSpPr>
          <p:nvPr>
            <p:ph sz="quarter" idx="1"/>
          </p:nvPr>
        </p:nvSpPr>
        <p:spPr>
          <a:xfrm>
            <a:off x="609600" y="2971800"/>
            <a:ext cx="3886200" cy="3189766"/>
          </a:xfrm>
        </p:spPr>
        <p:txBody>
          <a:bodyPr/>
          <a:lstStyle/>
          <a:p>
            <a:r>
              <a:rPr lang="en-US" dirty="0" smtClean="0"/>
              <a:t>Adam Brown</a:t>
            </a:r>
          </a:p>
          <a:p>
            <a:pPr marL="365760" lvl="1" indent="0">
              <a:buNone/>
            </a:pPr>
            <a:r>
              <a:rPr lang="en-US" sz="2000" dirty="0" smtClean="0"/>
              <a:t>adam.brown@stats.govt.nz</a:t>
            </a:r>
          </a:p>
          <a:p>
            <a:endParaRPr lang="en-US" dirty="0" smtClean="0"/>
          </a:p>
          <a:p>
            <a:r>
              <a:rPr lang="en-US" dirty="0" smtClean="0"/>
              <a:t>Sally </a:t>
            </a:r>
            <a:r>
              <a:rPr lang="en-US" dirty="0" err="1" smtClean="0"/>
              <a:t>Vermaaten</a:t>
            </a:r>
            <a:endParaRPr lang="en-US" dirty="0" smtClean="0"/>
          </a:p>
          <a:p>
            <a:pPr marL="365760" lvl="1" indent="0">
              <a:buNone/>
            </a:pPr>
            <a:r>
              <a:rPr lang="en-US" sz="2000" dirty="0" smtClean="0"/>
              <a:t>sally.vermaaten@stats.govt.nz</a:t>
            </a:r>
            <a:endParaRPr lang="en-US" sz="2000" dirty="0"/>
          </a:p>
        </p:txBody>
      </p:sp>
      <p:sp>
        <p:nvSpPr>
          <p:cNvPr id="7" name="Content Placeholder 6"/>
          <p:cNvSpPr>
            <a:spLocks noGrp="1"/>
          </p:cNvSpPr>
          <p:nvPr>
            <p:ph sz="quarter" idx="2"/>
          </p:nvPr>
        </p:nvSpPr>
        <p:spPr>
          <a:xfrm>
            <a:off x="4844901" y="2971800"/>
            <a:ext cx="3886200" cy="3189766"/>
          </a:xfrm>
        </p:spPr>
        <p:txBody>
          <a:bodyPr/>
          <a:lstStyle/>
          <a:p>
            <a:r>
              <a:rPr lang="en-US" dirty="0" smtClean="0"/>
              <a:t>Jeremy Iverson</a:t>
            </a:r>
          </a:p>
          <a:p>
            <a:pPr marL="365760" lvl="1" indent="0">
              <a:buNone/>
            </a:pPr>
            <a:r>
              <a:rPr lang="en-US" sz="2000" dirty="0" smtClean="0"/>
              <a:t>jeremy@colectica.com</a:t>
            </a:r>
          </a:p>
          <a:p>
            <a:endParaRPr lang="en-US" dirty="0" smtClean="0"/>
          </a:p>
          <a:p>
            <a:r>
              <a:rPr lang="en-US" dirty="0" smtClean="0"/>
              <a:t>Dan Smith</a:t>
            </a:r>
          </a:p>
          <a:p>
            <a:pPr marL="365760" lvl="1" indent="0">
              <a:buNone/>
            </a:pPr>
            <a:r>
              <a:rPr lang="en-US" sz="2000" dirty="0" smtClean="0"/>
              <a:t>dan@colectica.com</a:t>
            </a:r>
            <a:endParaRPr lang="en-US" sz="2000" dirty="0"/>
          </a:p>
        </p:txBody>
      </p:sp>
      <p:sp>
        <p:nvSpPr>
          <p:cNvPr id="5" name="Slide Number Placeholder 4"/>
          <p:cNvSpPr>
            <a:spLocks noGrp="1"/>
          </p:cNvSpPr>
          <p:nvPr>
            <p:ph type="sldNum" sz="quarter" idx="16"/>
          </p:nvPr>
        </p:nvSpPr>
        <p:spPr/>
        <p:txBody>
          <a:bodyPr>
            <a:normAutofit fontScale="85000" lnSpcReduction="20000"/>
          </a:bodyPr>
          <a:lstStyle/>
          <a:p>
            <a:fld id="{7001C82C-A011-4758-B95D-86304D9DA0A2}" type="slidenum">
              <a:rPr lang="en-US" smtClean="0"/>
              <a:pPr/>
              <a:t>30</a:t>
            </a:fld>
            <a:endParaRPr lang="en-US"/>
          </a:p>
        </p:txBody>
      </p:sp>
      <p:pic>
        <p:nvPicPr>
          <p:cNvPr id="10" name="Picture 2" descr="C:\Users\jeremy\svn\admin\PR\Assets\colectica\custom\colectica-green-web.png"/>
          <p:cNvPicPr>
            <a:picLocks noChangeAspect="1" noChangeArrowheads="1"/>
          </p:cNvPicPr>
          <p:nvPr/>
        </p:nvPicPr>
        <p:blipFill>
          <a:blip r:embed="rId3" cstate="print"/>
          <a:srcRect/>
          <a:stretch>
            <a:fillRect/>
          </a:stretch>
        </p:blipFill>
        <p:spPr bwMode="auto">
          <a:xfrm>
            <a:off x="4876800" y="1859837"/>
            <a:ext cx="2438401" cy="578563"/>
          </a:xfrm>
          <a:prstGeom prst="rect">
            <a:avLst/>
          </a:prstGeom>
          <a:noFill/>
        </p:spPr>
      </p:pic>
      <p:pic>
        <p:nvPicPr>
          <p:cNvPr id="11" name="Picture 2" descr="http://www.stats.govt.nz/statistics/statsMain/Images/stat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008" y="1923481"/>
            <a:ext cx="1476375"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9714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Control xmlns="http://schemas.microsoft.com/VisualStudio/2011/storyboarding/control">
  <Id Name="System.Storyboarding.WindowsAppIcons.Comment" Revision="1" Stencil="System.Storyboarding.WindowsAppIcons" StencilVersion="0.1"/>
</Control>
</file>

<file path=customXml/item2.xml><?xml version="1.0" encoding="utf-8"?>
<Control xmlns="http://schemas.microsoft.com/VisualStudio/2011/storyboarding/control">
  <Id Name="System.Storyboarding.Backgrounds.WebBrowser" Revision="1" Stencil="System.Storyboarding.Backgrounds" StencilVersion="0.1"/>
</Control>
</file>

<file path=customXml/item3.xml><?xml version="1.0" encoding="utf-8"?>
<Control xmlns="http://schemas.microsoft.com/VisualStudio/2011/storyboarding/control">
  <Id Name="System.Storyboarding.WindowsAppIcons.Comment" Revision="1" Stencil="System.Storyboarding.WindowsAppIcons" StencilVersion="0.1"/>
</Control>
</file>

<file path=customXml/item4.xml><?xml version="1.0" encoding="utf-8"?>
<Control xmlns="http://schemas.microsoft.com/VisualStudio/2011/storyboarding/control">
  <Id Name="f7a94b64-51d6-472a-8bb4-f2cc047935d1" RevisionId="4b37df06-a36b-4383-9074-55517f1335fc" Stencil="172d6d98-e5c9-42e9-a209-79f7a94bbd38" StencilRevisionId="00000000-0000-0000-0000-000000000000" StencilVersion="0.0"/>
</Control>
</file>

<file path=customXml/item5.xml><?xml version="1.0" encoding="utf-8"?>
<Control xmlns="http://schemas.microsoft.com/VisualStudio/2011/storyboarding/control">
  <Id Name="System.Storyboarding.Backgrounds.WebBrowser" Revision="1" Stencil="System.Storyboarding.Backgrounds" StencilVersion="0.1"/>
</Control>
</file>

<file path=customXml/item6.xml><?xml version="1.0" encoding="utf-8"?>
<Control xmlns="http://schemas.microsoft.com/VisualStudio/2011/storyboarding/control">
  <Id Name="System.Storyboarding.WindowsAppIcons.Save" Revision="1" Stencil="System.Storyboarding.WindowsAppIcons" StencilVersion="0.1"/>
</Control>
</file>

<file path=customXml/item7.xml><?xml version="1.0" encoding="utf-8"?>
<Control xmlns="http://schemas.microsoft.com/VisualStudio/2011/storyboarding/control">
  <Id Name="System.Storyboarding.WindowsAppIcons.Emoji" Revision="1" Stencil="System.Storyboarding.WindowsAppIcons" StencilVersion="0.1"/>
</Control>
</file>

<file path=customXml/item8.xml><?xml version="1.0" encoding="utf-8"?>
<Control xmlns="http://schemas.microsoft.com/VisualStudio/2011/storyboarding/control">
  <Id Name="System.Storyboarding.WindowsAppIcons.Comment" Revision="1" Stencil="System.Storyboarding.WindowsAppIcons" StencilVersion="0.1"/>
</Control>
</file>

<file path=customXml/item9.xml><?xml version="1.0" encoding="utf-8"?>
<Control xmlns="http://schemas.microsoft.com/VisualStudio/2011/storyboarding/control">
  <Id Name="System.Storyboarding.Backgrounds.WebBrowser" Revision="1" Stencil="System.Storyboarding.Backgrounds" StencilVersion="0.1"/>
</Control>
</file>

<file path=customXml/itemProps1.xml><?xml version="1.0" encoding="utf-8"?>
<ds:datastoreItem xmlns:ds="http://schemas.openxmlformats.org/officeDocument/2006/customXml" ds:itemID="{16CC67F6-BA75-4C7C-94A7-0E84047CBF8D}">
  <ds:schemaRefs>
    <ds:schemaRef ds:uri="http://schemas.microsoft.com/VisualStudio/2011/storyboarding/control"/>
  </ds:schemaRefs>
</ds:datastoreItem>
</file>

<file path=customXml/itemProps2.xml><?xml version="1.0" encoding="utf-8"?>
<ds:datastoreItem xmlns:ds="http://schemas.openxmlformats.org/officeDocument/2006/customXml" ds:itemID="{88C87184-3083-463E-8FA4-38A7B4A5BEB7}">
  <ds:schemaRefs>
    <ds:schemaRef ds:uri="http://schemas.microsoft.com/VisualStudio/2011/storyboarding/control"/>
  </ds:schemaRefs>
</ds:datastoreItem>
</file>

<file path=customXml/itemProps3.xml><?xml version="1.0" encoding="utf-8"?>
<ds:datastoreItem xmlns:ds="http://schemas.openxmlformats.org/officeDocument/2006/customXml" ds:itemID="{0E873176-AA28-44DD-B015-FE2837B86F44}">
  <ds:schemaRefs>
    <ds:schemaRef ds:uri="http://schemas.microsoft.com/VisualStudio/2011/storyboarding/control"/>
  </ds:schemaRefs>
</ds:datastoreItem>
</file>

<file path=customXml/itemProps4.xml><?xml version="1.0" encoding="utf-8"?>
<ds:datastoreItem xmlns:ds="http://schemas.openxmlformats.org/officeDocument/2006/customXml" ds:itemID="{44AB2C91-AA63-4D26-82FB-C9D94CE56802}">
  <ds:schemaRefs>
    <ds:schemaRef ds:uri="http://schemas.microsoft.com/VisualStudio/2011/storyboarding/control"/>
  </ds:schemaRefs>
</ds:datastoreItem>
</file>

<file path=customXml/itemProps5.xml><?xml version="1.0" encoding="utf-8"?>
<ds:datastoreItem xmlns:ds="http://schemas.openxmlformats.org/officeDocument/2006/customXml" ds:itemID="{527691DE-176D-4A24-A83E-4FFF48814330}">
  <ds:schemaRefs>
    <ds:schemaRef ds:uri="http://schemas.microsoft.com/VisualStudio/2011/storyboarding/control"/>
  </ds:schemaRefs>
</ds:datastoreItem>
</file>

<file path=customXml/itemProps6.xml><?xml version="1.0" encoding="utf-8"?>
<ds:datastoreItem xmlns:ds="http://schemas.openxmlformats.org/officeDocument/2006/customXml" ds:itemID="{06EC7F75-F625-49EC-A5FD-2AC9D2D7C628}">
  <ds:schemaRefs>
    <ds:schemaRef ds:uri="http://schemas.microsoft.com/VisualStudio/2011/storyboarding/control"/>
  </ds:schemaRefs>
</ds:datastoreItem>
</file>

<file path=customXml/itemProps7.xml><?xml version="1.0" encoding="utf-8"?>
<ds:datastoreItem xmlns:ds="http://schemas.openxmlformats.org/officeDocument/2006/customXml" ds:itemID="{D97124CF-B382-473D-95A6-8D64DD11EBA8}">
  <ds:schemaRefs>
    <ds:schemaRef ds:uri="http://schemas.microsoft.com/VisualStudio/2011/storyboarding/control"/>
  </ds:schemaRefs>
</ds:datastoreItem>
</file>

<file path=customXml/itemProps8.xml><?xml version="1.0" encoding="utf-8"?>
<ds:datastoreItem xmlns:ds="http://schemas.openxmlformats.org/officeDocument/2006/customXml" ds:itemID="{1066B6B6-C59B-4A6B-B64A-5CA082A04123}">
  <ds:schemaRefs>
    <ds:schemaRef ds:uri="http://schemas.microsoft.com/VisualStudio/2011/storyboarding/control"/>
  </ds:schemaRefs>
</ds:datastoreItem>
</file>

<file path=customXml/itemProps9.xml><?xml version="1.0" encoding="utf-8"?>
<ds:datastoreItem xmlns:ds="http://schemas.openxmlformats.org/officeDocument/2006/customXml" ds:itemID="{12F9FFF3-CF01-41F7-9966-15B252B93A0D}">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Median</Template>
  <TotalTime>5451</TotalTime>
  <Words>2067</Words>
  <Application>Microsoft Office PowerPoint</Application>
  <PresentationFormat>On-screen Show (4:3)</PresentationFormat>
  <Paragraphs>312</Paragraphs>
  <Slides>30</Slides>
  <Notes>28</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Median</vt:lpstr>
      <vt:lpstr>Powering Official Statistics at Statistics New Zealand with DDI-L and Colectica</vt:lpstr>
      <vt:lpstr>Authors</vt:lpstr>
      <vt:lpstr>Statistics New Zealand</vt:lpstr>
      <vt:lpstr>PowerPoint Presentation</vt:lpstr>
      <vt:lpstr>PowerPoint Presentation</vt:lpstr>
      <vt:lpstr>DDI Data Lifecycle</vt:lpstr>
      <vt:lpstr>Statistics New Zealand Metadata Infrastructure Project</vt:lpstr>
      <vt:lpstr>Overview</vt:lpstr>
      <vt:lpstr>Use of Colectica at Statistics New Zealand</vt:lpstr>
      <vt:lpstr>Architecture: Repository</vt:lpstr>
      <vt:lpstr>Architecture: Designer</vt:lpstr>
      <vt:lpstr>Architecture: SDK</vt:lpstr>
      <vt:lpstr>Architecture: Toolkit</vt:lpstr>
      <vt:lpstr>Architecture: Portal</vt:lpstr>
      <vt:lpstr>Architecture: Publication Workflow</vt:lpstr>
      <vt:lpstr>Architecture: Public Portal</vt:lpstr>
      <vt:lpstr>Architecture: Not Quite a Complete Picture</vt:lpstr>
      <vt:lpstr>Architecture: Production and Test Environments</vt:lpstr>
      <vt:lpstr>Colectica Integration</vt:lpstr>
      <vt:lpstr>Getting to Production</vt:lpstr>
      <vt:lpstr>Extending Colectica</vt:lpstr>
      <vt:lpstr>Integration: Questionnaire Design</vt:lpstr>
      <vt:lpstr>Integration: Additional Tools</vt:lpstr>
      <vt:lpstr>Results</vt:lpstr>
      <vt:lpstr>Key Result 1 – Metadata Capture</vt:lpstr>
      <vt:lpstr>Key Result 2 - Archiving</vt:lpstr>
      <vt:lpstr>Key Result 2 - Archiving</vt:lpstr>
      <vt:lpstr>Facts and Figures</vt:lpstr>
      <vt:lpstr>Future of Colectica and NSOs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jeremy</dc:creator>
  <cp:lastModifiedBy>jeremy</cp:lastModifiedBy>
  <cp:revision>90</cp:revision>
  <dcterms:created xsi:type="dcterms:W3CDTF">2012-11-26T21:18:04Z</dcterms:created>
  <dcterms:modified xsi:type="dcterms:W3CDTF">2012-12-03T12:41:48Z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