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handoutMasterIdLst>
    <p:handoutMasterId r:id="rId12"/>
  </p:handoutMasterIdLst>
  <p:sldIdLst>
    <p:sldId id="256" r:id="rId2"/>
    <p:sldId id="311" r:id="rId3"/>
    <p:sldId id="312" r:id="rId4"/>
    <p:sldId id="315" r:id="rId5"/>
    <p:sldId id="313" r:id="rId6"/>
    <p:sldId id="301" r:id="rId7"/>
    <p:sldId id="310" r:id="rId8"/>
    <p:sldId id="275" r:id="rId9"/>
    <p:sldId id="303" r:id="rId10"/>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D3082"/>
    <a:srgbClr val="E1691F"/>
    <a:srgbClr val="00632E"/>
    <a:srgbClr val="0A71B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443" autoAdjust="0"/>
    <p:restoredTop sz="94654" autoAdjust="0"/>
  </p:normalViewPr>
  <p:slideViewPr>
    <p:cSldViewPr>
      <p:cViewPr>
        <p:scale>
          <a:sx n="100" d="100"/>
          <a:sy n="100" d="100"/>
        </p:scale>
        <p:origin x="-510" y="-60"/>
      </p:cViewPr>
      <p:guideLst>
        <p:guide orient="horz" pos="2160"/>
        <p:guide pos="2880"/>
      </p:guideLst>
    </p:cSldViewPr>
  </p:slideViewPr>
  <p:outlineViewPr>
    <p:cViewPr>
      <p:scale>
        <a:sx n="33" d="100"/>
        <a:sy n="33" d="100"/>
      </p:scale>
      <p:origin x="36" y="3594"/>
    </p:cViewPr>
  </p:outlineViewPr>
  <p:notesTextViewPr>
    <p:cViewPr>
      <p:scale>
        <a:sx n="100" d="100"/>
        <a:sy n="100" d="100"/>
      </p:scale>
      <p:origin x="0" y="0"/>
    </p:cViewPr>
  </p:notesTextViewPr>
  <p:notesViewPr>
    <p:cSldViewPr>
      <p:cViewPr varScale="1">
        <p:scale>
          <a:sx n="80" d="100"/>
          <a:sy n="80" d="100"/>
        </p:scale>
        <p:origin x="-2022"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fr-FR" dirty="0" smtClean="0"/>
              <a:t>DwB – Data </a:t>
            </a:r>
            <a:r>
              <a:rPr lang="fr-FR" dirty="0" err="1" smtClean="0"/>
              <a:t>without</a:t>
            </a:r>
            <a:r>
              <a:rPr lang="fr-FR" dirty="0" smtClean="0"/>
              <a:t> </a:t>
            </a:r>
            <a:r>
              <a:rPr lang="fr-FR" dirty="0" err="1" smtClean="0"/>
              <a:t>Boundaries</a:t>
            </a:r>
            <a:endParaRPr lang="fr-FR" dirty="0" smtClean="0"/>
          </a:p>
          <a:p>
            <a:r>
              <a:rPr lang="fr-FR" dirty="0" err="1" smtClean="0"/>
              <a:t>Presentation</a:t>
            </a:r>
            <a:endParaRPr lang="fr-FR" dirty="0"/>
          </a:p>
        </p:txBody>
      </p:sp>
      <p:sp>
        <p:nvSpPr>
          <p:cNvPr id="3" name="Espace réservé de la date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391B6E42-A707-4D4D-8DC5-1C7FB6DDD94A}" type="datetimeFigureOut">
              <a:rPr lang="fr-FR" smtClean="0"/>
              <a:pPr/>
              <a:t>04/12/2012</a:t>
            </a:fld>
            <a:endParaRPr lang="fr-FR"/>
          </a:p>
        </p:txBody>
      </p:sp>
      <p:sp>
        <p:nvSpPr>
          <p:cNvPr id="4" name="Espace réservé du pied de page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6D9A494-C6B0-4562-B3D3-2BF273AFC470}" type="slidenum">
              <a:rPr lang="fr-FR" smtClean="0"/>
              <a:pPr/>
              <a:t>‹Nr.›</a:t>
            </a:fld>
            <a:endParaRPr lang="fr-FR" dirty="0"/>
          </a:p>
        </p:txBody>
      </p:sp>
    </p:spTree>
    <p:extLst>
      <p:ext uri="{BB962C8B-B14F-4D97-AF65-F5344CB8AC3E}">
        <p14:creationId xmlns:p14="http://schemas.microsoft.com/office/powerpoint/2010/main" val="39541155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E411F79-3B62-4A40-A06A-40DA29809D90}" type="datetimeFigureOut">
              <a:rPr lang="fr-FR" smtClean="0"/>
              <a:pPr/>
              <a:t>04/12/2012</a:t>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B60A6F2-8E83-4B25-A49C-01B49BC4E54A}" type="slidenum">
              <a:rPr lang="fr-FR" smtClean="0"/>
              <a:pPr/>
              <a:t>‹Nr.›</a:t>
            </a:fld>
            <a:endParaRPr lang="fr-FR"/>
          </a:p>
        </p:txBody>
      </p:sp>
    </p:spTree>
    <p:extLst>
      <p:ext uri="{BB962C8B-B14F-4D97-AF65-F5344CB8AC3E}">
        <p14:creationId xmlns:p14="http://schemas.microsoft.com/office/powerpoint/2010/main" val="256931960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fld id="{8B60A6F2-8E83-4B25-A49C-01B49BC4E54A}" type="slidenum">
              <a:rPr lang="fr-FR" smtClean="0"/>
              <a:pPr/>
              <a:t>1</a:t>
            </a:fld>
            <a:endParaRPr lang="fr-F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fld id="{8B60A6F2-8E83-4B25-A49C-01B49BC4E54A}" type="slidenum">
              <a:rPr lang="fr-FR" smtClean="0">
                <a:solidFill>
                  <a:prstClr val="black"/>
                </a:solidFill>
              </a:rPr>
              <a:pPr/>
              <a:t>8</a:t>
            </a:fld>
            <a:endParaRPr lang="fr-FR">
              <a:solidFill>
                <a:prstClr val="black"/>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normAutofit/>
          </a:bodyPr>
          <a:lstStyle>
            <a:lvl1pPr>
              <a:defRPr sz="4000">
                <a:solidFill>
                  <a:srgbClr val="0D3082"/>
                </a:solidFill>
              </a:defRPr>
            </a:lvl1pPr>
          </a:lstStyle>
          <a:p>
            <a:r>
              <a:rPr lang="de-DE" smtClean="0"/>
              <a:t>Titelmasterformat durch Klicken bearbeiten</a:t>
            </a:r>
            <a:endParaRPr lang="fr-FR" dirty="0"/>
          </a:p>
        </p:txBody>
      </p:sp>
      <p:sp>
        <p:nvSpPr>
          <p:cNvPr id="3" name="Sous-titre 2"/>
          <p:cNvSpPr>
            <a:spLocks noGrp="1"/>
          </p:cNvSpPr>
          <p:nvPr>
            <p:ph type="subTitle" idx="1"/>
          </p:nvPr>
        </p:nvSpPr>
        <p:spPr>
          <a:xfrm>
            <a:off x="1371600" y="3886200"/>
            <a:ext cx="6400800" cy="1415008"/>
          </a:xfrm>
        </p:spPr>
        <p:txBody>
          <a:bodyPr>
            <a:normAutofit/>
          </a:bodyPr>
          <a:lstStyle>
            <a:lvl1pPr marL="0" indent="0" algn="ctr">
              <a:buNone/>
              <a:defRPr sz="2400">
                <a:solidFill>
                  <a:srgbClr val="0A71B3"/>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DE" smtClean="0"/>
              <a:t>Formatvorlage des Untertitelmasters durch Klicken bearbeiten</a:t>
            </a:r>
            <a:endParaRPr lang="fr-FR" dirty="0"/>
          </a:p>
        </p:txBody>
      </p:sp>
      <p:sp>
        <p:nvSpPr>
          <p:cNvPr id="4" name="Espace réservé de la date 3"/>
          <p:cNvSpPr>
            <a:spLocks noGrp="1"/>
          </p:cNvSpPr>
          <p:nvPr>
            <p:ph type="dt" sz="half" idx="10"/>
          </p:nvPr>
        </p:nvSpPr>
        <p:spPr/>
        <p:txBody>
          <a:bodyPr/>
          <a:lstStyle/>
          <a:p>
            <a:r>
              <a:rPr lang="en-US" smtClean="0"/>
              <a:t>Data without Boundaries</a:t>
            </a:r>
            <a:endParaRPr lang="fr-FR" dirty="0"/>
          </a:p>
        </p:txBody>
      </p:sp>
      <p:sp>
        <p:nvSpPr>
          <p:cNvPr id="5" name="Espace réservé du pied de page 4"/>
          <p:cNvSpPr>
            <a:spLocks noGrp="1"/>
          </p:cNvSpPr>
          <p:nvPr>
            <p:ph type="ftr" sz="quarter" idx="11"/>
          </p:nvPr>
        </p:nvSpPr>
        <p:spPr/>
        <p:txBody>
          <a:bodyPr/>
          <a:lstStyle/>
          <a:p>
            <a:r>
              <a:rPr lang="fr-FR" smtClean="0"/>
              <a:t>EDDI 2012</a:t>
            </a:r>
            <a:endParaRPr lang="fr-FR"/>
          </a:p>
        </p:txBody>
      </p:sp>
      <p:sp>
        <p:nvSpPr>
          <p:cNvPr id="6" name="Espace réservé du numéro de diapositive 5"/>
          <p:cNvSpPr>
            <a:spLocks noGrp="1"/>
          </p:cNvSpPr>
          <p:nvPr>
            <p:ph type="sldNum" sz="quarter" idx="12"/>
          </p:nvPr>
        </p:nvSpPr>
        <p:spPr/>
        <p:txBody>
          <a:bodyPr/>
          <a:lstStyle/>
          <a:p>
            <a:fld id="{D7011AC4-63CC-491F-81A5-4C9322BBD505}" type="slidenum">
              <a:rPr lang="fr-FR" smtClean="0"/>
              <a:pPr/>
              <a:t>‹Nr.›</a:t>
            </a:fld>
            <a:endParaRPr lang="fr-FR"/>
          </a:p>
        </p:txBody>
      </p:sp>
      <p:pic>
        <p:nvPicPr>
          <p:cNvPr id="7" name="Image 6" descr="DwB without subtitle.png"/>
          <p:cNvPicPr>
            <a:picLocks noChangeAspect="1"/>
          </p:cNvPicPr>
          <p:nvPr userDrawn="1"/>
        </p:nvPicPr>
        <p:blipFill>
          <a:blip r:embed="rId2" cstate="print"/>
          <a:stretch>
            <a:fillRect/>
          </a:stretch>
        </p:blipFill>
        <p:spPr>
          <a:xfrm>
            <a:off x="490786" y="5968330"/>
            <a:ext cx="1533666" cy="360040"/>
          </a:xfrm>
          <a:prstGeom prst="rect">
            <a:avLst/>
          </a:prstGeom>
        </p:spPr>
      </p:pic>
      <p:pic>
        <p:nvPicPr>
          <p:cNvPr id="8" name="Image 7" descr="FP7-gen-RGB.jpg"/>
          <p:cNvPicPr>
            <a:picLocks noChangeAspect="1"/>
          </p:cNvPicPr>
          <p:nvPr userDrawn="1"/>
        </p:nvPicPr>
        <p:blipFill>
          <a:blip r:embed="rId3" cstate="print"/>
          <a:stretch>
            <a:fillRect/>
          </a:stretch>
        </p:blipFill>
        <p:spPr>
          <a:xfrm>
            <a:off x="7942659" y="5735513"/>
            <a:ext cx="743117" cy="60449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pic>
        <p:nvPicPr>
          <p:cNvPr id="7" name="Image 6" descr="DwB without subtitle.png"/>
          <p:cNvPicPr>
            <a:picLocks noChangeAspect="1"/>
          </p:cNvPicPr>
          <p:nvPr userDrawn="1"/>
        </p:nvPicPr>
        <p:blipFill>
          <a:blip r:embed="rId2" cstate="print"/>
          <a:stretch>
            <a:fillRect/>
          </a:stretch>
        </p:blipFill>
        <p:spPr>
          <a:xfrm>
            <a:off x="467544" y="5986772"/>
            <a:ext cx="1533666" cy="360040"/>
          </a:xfrm>
          <a:prstGeom prst="rect">
            <a:avLst/>
          </a:prstGeom>
        </p:spPr>
      </p:pic>
      <p:pic>
        <p:nvPicPr>
          <p:cNvPr id="9" name="Image 8" descr="FP7-gen-RGB.jpg"/>
          <p:cNvPicPr>
            <a:picLocks noChangeAspect="1"/>
          </p:cNvPicPr>
          <p:nvPr userDrawn="1"/>
        </p:nvPicPr>
        <p:blipFill>
          <a:blip r:embed="rId3" cstate="print"/>
          <a:stretch>
            <a:fillRect/>
          </a:stretch>
        </p:blipFill>
        <p:spPr>
          <a:xfrm>
            <a:off x="7944828" y="5742781"/>
            <a:ext cx="743117" cy="604490"/>
          </a:xfrm>
          <a:prstGeom prst="rect">
            <a:avLst/>
          </a:prstGeom>
        </p:spPr>
      </p:pic>
      <p:sp>
        <p:nvSpPr>
          <p:cNvPr id="2" name="Titre 1"/>
          <p:cNvSpPr>
            <a:spLocks noGrp="1"/>
          </p:cNvSpPr>
          <p:nvPr>
            <p:ph type="title"/>
          </p:nvPr>
        </p:nvSpPr>
        <p:spPr/>
        <p:txBody>
          <a:bodyPr>
            <a:normAutofit/>
          </a:bodyPr>
          <a:lstStyle>
            <a:lvl1pPr>
              <a:defRPr sz="3600"/>
            </a:lvl1pPr>
          </a:lstStyle>
          <a:p>
            <a:r>
              <a:rPr lang="de-DE" smtClean="0"/>
              <a:t>Titelmasterformat durch Klicken bearbeiten</a:t>
            </a:r>
            <a:endParaRPr lang="fr-FR" dirty="0"/>
          </a:p>
        </p:txBody>
      </p:sp>
      <p:sp>
        <p:nvSpPr>
          <p:cNvPr id="3" name="Espace réservé du contenu 2"/>
          <p:cNvSpPr>
            <a:spLocks noGrp="1"/>
          </p:cNvSpPr>
          <p:nvPr>
            <p:ph idx="1"/>
          </p:nvPr>
        </p:nvSpPr>
        <p:spPr>
          <a:xfrm>
            <a:off x="457200" y="1484784"/>
            <a:ext cx="8229600" cy="4248473"/>
          </a:xfrm>
        </p:spPr>
        <p:txBody>
          <a:bodyPr/>
          <a:lstStyle>
            <a:lvl1pPr>
              <a:buClr>
                <a:srgbClr val="0A71B3"/>
              </a:buClr>
              <a:defRPr/>
            </a:lvl1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fr-FR" dirty="0"/>
          </a:p>
        </p:txBody>
      </p:sp>
      <p:sp>
        <p:nvSpPr>
          <p:cNvPr id="4" name="Espace réservé de la date 3"/>
          <p:cNvSpPr>
            <a:spLocks noGrp="1"/>
          </p:cNvSpPr>
          <p:nvPr>
            <p:ph type="dt" sz="half" idx="10"/>
          </p:nvPr>
        </p:nvSpPr>
        <p:spPr/>
        <p:txBody>
          <a:bodyPr/>
          <a:lstStyle/>
          <a:p>
            <a:r>
              <a:rPr lang="en-US" smtClean="0"/>
              <a:t>Data without Boundaries</a:t>
            </a:r>
            <a:endParaRPr lang="fr-FR" dirty="0"/>
          </a:p>
        </p:txBody>
      </p:sp>
      <p:sp>
        <p:nvSpPr>
          <p:cNvPr id="5" name="Espace réservé du pied de page 4"/>
          <p:cNvSpPr>
            <a:spLocks noGrp="1"/>
          </p:cNvSpPr>
          <p:nvPr>
            <p:ph type="ftr" sz="quarter" idx="11"/>
          </p:nvPr>
        </p:nvSpPr>
        <p:spPr/>
        <p:txBody>
          <a:bodyPr/>
          <a:lstStyle/>
          <a:p>
            <a:r>
              <a:rPr lang="fr-FR" smtClean="0"/>
              <a:t>EDDI 2012</a:t>
            </a:r>
            <a:endParaRPr lang="fr-FR"/>
          </a:p>
        </p:txBody>
      </p:sp>
      <p:sp>
        <p:nvSpPr>
          <p:cNvPr id="6" name="Espace réservé du numéro de diapositive 5"/>
          <p:cNvSpPr>
            <a:spLocks noGrp="1"/>
          </p:cNvSpPr>
          <p:nvPr>
            <p:ph type="sldNum" sz="quarter" idx="12"/>
          </p:nvPr>
        </p:nvSpPr>
        <p:spPr/>
        <p:txBody>
          <a:bodyPr/>
          <a:lstStyle/>
          <a:p>
            <a:fld id="{D7011AC4-63CC-491F-81A5-4C9322BBD505}" type="slidenum">
              <a:rPr lang="fr-FR" smtClean="0"/>
              <a:pPr/>
              <a:t>‹Nr.›</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281115"/>
            <a:ext cx="7772400" cy="1362075"/>
          </a:xfrm>
        </p:spPr>
        <p:txBody>
          <a:bodyPr anchor="t"/>
          <a:lstStyle>
            <a:lvl1pPr algn="l">
              <a:defRPr sz="4000" b="1" cap="all"/>
            </a:lvl1pPr>
          </a:lstStyle>
          <a:p>
            <a:r>
              <a:rPr lang="de-DE" smtClean="0"/>
              <a:t>Titelmasterformat durch Klicken bearbeiten</a:t>
            </a:r>
            <a:endParaRPr lang="fr-FR"/>
          </a:p>
        </p:txBody>
      </p:sp>
      <p:sp>
        <p:nvSpPr>
          <p:cNvPr id="3" name="Espace réservé du texte 2"/>
          <p:cNvSpPr>
            <a:spLocks noGrp="1"/>
          </p:cNvSpPr>
          <p:nvPr>
            <p:ph type="body" idx="1"/>
          </p:nvPr>
        </p:nvSpPr>
        <p:spPr>
          <a:xfrm>
            <a:off x="722313" y="2780928"/>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de-DE" smtClean="0"/>
              <a:t>Textmasterformat bearbeiten</a:t>
            </a:r>
          </a:p>
        </p:txBody>
      </p:sp>
      <p:sp>
        <p:nvSpPr>
          <p:cNvPr id="4" name="Espace réservé de la date 3"/>
          <p:cNvSpPr>
            <a:spLocks noGrp="1"/>
          </p:cNvSpPr>
          <p:nvPr>
            <p:ph type="dt" sz="half" idx="10"/>
          </p:nvPr>
        </p:nvSpPr>
        <p:spPr/>
        <p:txBody>
          <a:bodyPr/>
          <a:lstStyle/>
          <a:p>
            <a:r>
              <a:rPr lang="en-US" smtClean="0"/>
              <a:t>Data without Boundaries</a:t>
            </a:r>
            <a:endParaRPr lang="fr-FR" dirty="0"/>
          </a:p>
        </p:txBody>
      </p:sp>
      <p:sp>
        <p:nvSpPr>
          <p:cNvPr id="5" name="Espace réservé du pied de page 4"/>
          <p:cNvSpPr>
            <a:spLocks noGrp="1"/>
          </p:cNvSpPr>
          <p:nvPr>
            <p:ph type="ftr" sz="quarter" idx="11"/>
          </p:nvPr>
        </p:nvSpPr>
        <p:spPr/>
        <p:txBody>
          <a:bodyPr/>
          <a:lstStyle/>
          <a:p>
            <a:r>
              <a:rPr lang="fr-FR" smtClean="0"/>
              <a:t>EDDI 2012</a:t>
            </a:r>
            <a:endParaRPr lang="fr-FR"/>
          </a:p>
        </p:txBody>
      </p:sp>
      <p:sp>
        <p:nvSpPr>
          <p:cNvPr id="6" name="Espace réservé du numéro de diapositive 5"/>
          <p:cNvSpPr>
            <a:spLocks noGrp="1"/>
          </p:cNvSpPr>
          <p:nvPr>
            <p:ph type="sldNum" sz="quarter" idx="12"/>
          </p:nvPr>
        </p:nvSpPr>
        <p:spPr/>
        <p:txBody>
          <a:bodyPr/>
          <a:lstStyle/>
          <a:p>
            <a:fld id="{D7011AC4-63CC-491F-81A5-4C9322BBD505}" type="slidenum">
              <a:rPr lang="fr-FR" smtClean="0"/>
              <a:pPr/>
              <a:t>‹Nr.›</a:t>
            </a:fld>
            <a:endParaRPr lang="fr-FR"/>
          </a:p>
        </p:txBody>
      </p:sp>
      <p:pic>
        <p:nvPicPr>
          <p:cNvPr id="7" name="Image 6" descr="DwB without subtitle.png"/>
          <p:cNvPicPr>
            <a:picLocks noChangeAspect="1"/>
          </p:cNvPicPr>
          <p:nvPr userDrawn="1"/>
        </p:nvPicPr>
        <p:blipFill>
          <a:blip r:embed="rId2" cstate="print"/>
          <a:stretch>
            <a:fillRect/>
          </a:stretch>
        </p:blipFill>
        <p:spPr>
          <a:xfrm>
            <a:off x="7144754" y="5877272"/>
            <a:ext cx="1533666" cy="360040"/>
          </a:xfrm>
          <a:prstGeom prst="rect">
            <a:avLst/>
          </a:prstGeom>
        </p:spPr>
      </p:pic>
      <p:pic>
        <p:nvPicPr>
          <p:cNvPr id="8" name="Image 7" descr="FP7-gen-RGB.jpg"/>
          <p:cNvPicPr>
            <a:picLocks noChangeAspect="1"/>
          </p:cNvPicPr>
          <p:nvPr userDrawn="1"/>
        </p:nvPicPr>
        <p:blipFill>
          <a:blip r:embed="rId3" cstate="print"/>
          <a:stretch>
            <a:fillRect/>
          </a:stretch>
        </p:blipFill>
        <p:spPr>
          <a:xfrm>
            <a:off x="467544" y="5733256"/>
            <a:ext cx="743117" cy="60449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de-DE" smtClean="0"/>
              <a:t>Titelmasterformat durch Klicken bearbeiten</a:t>
            </a:r>
            <a:endParaRPr lang="fr-FR"/>
          </a:p>
        </p:txBody>
      </p:sp>
      <p:sp>
        <p:nvSpPr>
          <p:cNvPr id="3" name="Espace réservé du contenu 2"/>
          <p:cNvSpPr>
            <a:spLocks noGrp="1"/>
          </p:cNvSpPr>
          <p:nvPr>
            <p:ph sz="half" idx="1"/>
          </p:nvPr>
        </p:nvSpPr>
        <p:spPr>
          <a:xfrm>
            <a:off x="457200" y="1600201"/>
            <a:ext cx="4038600" cy="41330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fr-FR" dirty="0"/>
          </a:p>
        </p:txBody>
      </p:sp>
      <p:sp>
        <p:nvSpPr>
          <p:cNvPr id="4" name="Espace réservé du contenu 3"/>
          <p:cNvSpPr>
            <a:spLocks noGrp="1"/>
          </p:cNvSpPr>
          <p:nvPr>
            <p:ph sz="half" idx="2"/>
          </p:nvPr>
        </p:nvSpPr>
        <p:spPr>
          <a:xfrm>
            <a:off x="4648200" y="1600201"/>
            <a:ext cx="4038600" cy="41330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fr-FR"/>
          </a:p>
        </p:txBody>
      </p:sp>
      <p:sp>
        <p:nvSpPr>
          <p:cNvPr id="5" name="Espace réservé de la date 4"/>
          <p:cNvSpPr>
            <a:spLocks noGrp="1"/>
          </p:cNvSpPr>
          <p:nvPr>
            <p:ph type="dt" sz="half" idx="10"/>
          </p:nvPr>
        </p:nvSpPr>
        <p:spPr/>
        <p:txBody>
          <a:bodyPr/>
          <a:lstStyle/>
          <a:p>
            <a:r>
              <a:rPr lang="en-US" smtClean="0"/>
              <a:t>Data without Boundaries</a:t>
            </a:r>
            <a:endParaRPr lang="fr-FR" dirty="0"/>
          </a:p>
        </p:txBody>
      </p:sp>
      <p:sp>
        <p:nvSpPr>
          <p:cNvPr id="6" name="Espace réservé du pied de page 5"/>
          <p:cNvSpPr>
            <a:spLocks noGrp="1"/>
          </p:cNvSpPr>
          <p:nvPr>
            <p:ph type="ftr" sz="quarter" idx="11"/>
          </p:nvPr>
        </p:nvSpPr>
        <p:spPr/>
        <p:txBody>
          <a:bodyPr/>
          <a:lstStyle/>
          <a:p>
            <a:r>
              <a:rPr lang="fr-FR" smtClean="0"/>
              <a:t>EDDI 2012</a:t>
            </a:r>
            <a:endParaRPr lang="fr-FR"/>
          </a:p>
        </p:txBody>
      </p:sp>
      <p:sp>
        <p:nvSpPr>
          <p:cNvPr id="7" name="Espace réservé du numéro de diapositive 6"/>
          <p:cNvSpPr>
            <a:spLocks noGrp="1"/>
          </p:cNvSpPr>
          <p:nvPr>
            <p:ph type="sldNum" sz="quarter" idx="12"/>
          </p:nvPr>
        </p:nvSpPr>
        <p:spPr/>
        <p:txBody>
          <a:bodyPr/>
          <a:lstStyle/>
          <a:p>
            <a:fld id="{D7011AC4-63CC-491F-81A5-4C9322BBD505}" type="slidenum">
              <a:rPr lang="fr-FR" smtClean="0"/>
              <a:pPr/>
              <a:t>‹Nr.›</a:t>
            </a:fld>
            <a:endParaRPr lang="fr-FR"/>
          </a:p>
        </p:txBody>
      </p:sp>
      <p:pic>
        <p:nvPicPr>
          <p:cNvPr id="8" name="Image 7" descr="DwB without subtitle.png"/>
          <p:cNvPicPr>
            <a:picLocks noChangeAspect="1"/>
          </p:cNvPicPr>
          <p:nvPr userDrawn="1"/>
        </p:nvPicPr>
        <p:blipFill>
          <a:blip r:embed="rId2" cstate="print"/>
          <a:stretch>
            <a:fillRect/>
          </a:stretch>
        </p:blipFill>
        <p:spPr>
          <a:xfrm>
            <a:off x="7144754" y="5877272"/>
            <a:ext cx="1533666" cy="360040"/>
          </a:xfrm>
          <a:prstGeom prst="rect">
            <a:avLst/>
          </a:prstGeom>
        </p:spPr>
      </p:pic>
      <p:pic>
        <p:nvPicPr>
          <p:cNvPr id="9" name="Image 8" descr="FP7-gen-RGB.jpg"/>
          <p:cNvPicPr>
            <a:picLocks noChangeAspect="1"/>
          </p:cNvPicPr>
          <p:nvPr userDrawn="1"/>
        </p:nvPicPr>
        <p:blipFill>
          <a:blip r:embed="rId3" cstate="print"/>
          <a:stretch>
            <a:fillRect/>
          </a:stretch>
        </p:blipFill>
        <p:spPr>
          <a:xfrm>
            <a:off x="467544" y="5733256"/>
            <a:ext cx="743117" cy="60449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de-DE" smtClean="0"/>
              <a:t>Titelmasterformat durch Klicken bearbeiten</a:t>
            </a:r>
            <a:endParaRPr lang="fr-F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smtClean="0"/>
              <a:t>Textmasterformat bearbeiten</a:t>
            </a:r>
          </a:p>
        </p:txBody>
      </p:sp>
      <p:sp>
        <p:nvSpPr>
          <p:cNvPr id="4" name="Espace réservé du contenu 3"/>
          <p:cNvSpPr>
            <a:spLocks noGrp="1"/>
          </p:cNvSpPr>
          <p:nvPr>
            <p:ph sz="half" idx="2"/>
          </p:nvPr>
        </p:nvSpPr>
        <p:spPr>
          <a:xfrm>
            <a:off x="457200" y="2174875"/>
            <a:ext cx="4040188" cy="3558381"/>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fr-F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smtClean="0"/>
              <a:t>Textmasterformat bearbeiten</a:t>
            </a:r>
          </a:p>
        </p:txBody>
      </p:sp>
      <p:sp>
        <p:nvSpPr>
          <p:cNvPr id="6" name="Espace réservé du contenu 5"/>
          <p:cNvSpPr>
            <a:spLocks noGrp="1"/>
          </p:cNvSpPr>
          <p:nvPr>
            <p:ph sz="quarter" idx="4"/>
          </p:nvPr>
        </p:nvSpPr>
        <p:spPr>
          <a:xfrm>
            <a:off x="4645025" y="2174875"/>
            <a:ext cx="4041775" cy="3558381"/>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fr-FR"/>
          </a:p>
        </p:txBody>
      </p:sp>
      <p:sp>
        <p:nvSpPr>
          <p:cNvPr id="7" name="Espace réservé de la date 6"/>
          <p:cNvSpPr>
            <a:spLocks noGrp="1"/>
          </p:cNvSpPr>
          <p:nvPr>
            <p:ph type="dt" sz="half" idx="10"/>
          </p:nvPr>
        </p:nvSpPr>
        <p:spPr/>
        <p:txBody>
          <a:bodyPr/>
          <a:lstStyle/>
          <a:p>
            <a:r>
              <a:rPr lang="en-US" smtClean="0"/>
              <a:t>Data without Boundaries</a:t>
            </a:r>
            <a:endParaRPr lang="fr-FR" dirty="0"/>
          </a:p>
        </p:txBody>
      </p:sp>
      <p:sp>
        <p:nvSpPr>
          <p:cNvPr id="8" name="Espace réservé du pied de page 7"/>
          <p:cNvSpPr>
            <a:spLocks noGrp="1"/>
          </p:cNvSpPr>
          <p:nvPr>
            <p:ph type="ftr" sz="quarter" idx="11"/>
          </p:nvPr>
        </p:nvSpPr>
        <p:spPr/>
        <p:txBody>
          <a:bodyPr/>
          <a:lstStyle/>
          <a:p>
            <a:r>
              <a:rPr lang="fr-FR" smtClean="0"/>
              <a:t>EDDI 2012</a:t>
            </a:r>
            <a:endParaRPr lang="fr-FR"/>
          </a:p>
        </p:txBody>
      </p:sp>
      <p:sp>
        <p:nvSpPr>
          <p:cNvPr id="9" name="Espace réservé du numéro de diapositive 8"/>
          <p:cNvSpPr>
            <a:spLocks noGrp="1"/>
          </p:cNvSpPr>
          <p:nvPr>
            <p:ph type="sldNum" sz="quarter" idx="12"/>
          </p:nvPr>
        </p:nvSpPr>
        <p:spPr/>
        <p:txBody>
          <a:bodyPr/>
          <a:lstStyle/>
          <a:p>
            <a:fld id="{D7011AC4-63CC-491F-81A5-4C9322BBD505}" type="slidenum">
              <a:rPr lang="fr-FR" smtClean="0"/>
              <a:pPr/>
              <a:t>‹Nr.›</a:t>
            </a:fld>
            <a:endParaRPr lang="fr-FR"/>
          </a:p>
        </p:txBody>
      </p:sp>
      <p:pic>
        <p:nvPicPr>
          <p:cNvPr id="10" name="Image 9" descr="DwB without subtitle.png"/>
          <p:cNvPicPr>
            <a:picLocks noChangeAspect="1"/>
          </p:cNvPicPr>
          <p:nvPr userDrawn="1"/>
        </p:nvPicPr>
        <p:blipFill>
          <a:blip r:embed="rId2" cstate="print"/>
          <a:stretch>
            <a:fillRect/>
          </a:stretch>
        </p:blipFill>
        <p:spPr>
          <a:xfrm>
            <a:off x="7144754" y="5877272"/>
            <a:ext cx="1533666" cy="360040"/>
          </a:xfrm>
          <a:prstGeom prst="rect">
            <a:avLst/>
          </a:prstGeom>
        </p:spPr>
      </p:pic>
      <p:pic>
        <p:nvPicPr>
          <p:cNvPr id="11" name="Image 10" descr="FP7-gen-RGB.jpg"/>
          <p:cNvPicPr>
            <a:picLocks noChangeAspect="1"/>
          </p:cNvPicPr>
          <p:nvPr userDrawn="1"/>
        </p:nvPicPr>
        <p:blipFill>
          <a:blip r:embed="rId3" cstate="print"/>
          <a:stretch>
            <a:fillRect/>
          </a:stretch>
        </p:blipFill>
        <p:spPr>
          <a:xfrm>
            <a:off x="467544" y="5733256"/>
            <a:ext cx="743117" cy="60449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de-DE" smtClean="0"/>
              <a:t>Titelmasterformat durch Klicken bearbeiten</a:t>
            </a:r>
            <a:endParaRPr lang="fr-FR"/>
          </a:p>
        </p:txBody>
      </p:sp>
      <p:sp>
        <p:nvSpPr>
          <p:cNvPr id="3" name="Espace réservé de la date 2"/>
          <p:cNvSpPr>
            <a:spLocks noGrp="1"/>
          </p:cNvSpPr>
          <p:nvPr>
            <p:ph type="dt" sz="half" idx="10"/>
          </p:nvPr>
        </p:nvSpPr>
        <p:spPr/>
        <p:txBody>
          <a:bodyPr/>
          <a:lstStyle/>
          <a:p>
            <a:r>
              <a:rPr lang="en-US" smtClean="0"/>
              <a:t>Data without Boundaries</a:t>
            </a:r>
            <a:endParaRPr lang="fr-FR" dirty="0"/>
          </a:p>
        </p:txBody>
      </p:sp>
      <p:sp>
        <p:nvSpPr>
          <p:cNvPr id="4" name="Espace réservé du pied de page 3"/>
          <p:cNvSpPr>
            <a:spLocks noGrp="1"/>
          </p:cNvSpPr>
          <p:nvPr>
            <p:ph type="ftr" sz="quarter" idx="11"/>
          </p:nvPr>
        </p:nvSpPr>
        <p:spPr/>
        <p:txBody>
          <a:bodyPr/>
          <a:lstStyle/>
          <a:p>
            <a:r>
              <a:rPr lang="fr-FR" smtClean="0"/>
              <a:t>EDDI 2012</a:t>
            </a:r>
            <a:endParaRPr lang="fr-FR"/>
          </a:p>
        </p:txBody>
      </p:sp>
      <p:sp>
        <p:nvSpPr>
          <p:cNvPr id="5" name="Espace réservé du numéro de diapositive 4"/>
          <p:cNvSpPr>
            <a:spLocks noGrp="1"/>
          </p:cNvSpPr>
          <p:nvPr>
            <p:ph type="sldNum" sz="quarter" idx="12"/>
          </p:nvPr>
        </p:nvSpPr>
        <p:spPr/>
        <p:txBody>
          <a:bodyPr/>
          <a:lstStyle/>
          <a:p>
            <a:fld id="{D7011AC4-63CC-491F-81A5-4C9322BBD505}" type="slidenum">
              <a:rPr lang="fr-FR" smtClean="0"/>
              <a:pPr/>
              <a:t>‹Nr.›</a:t>
            </a:fld>
            <a:endParaRPr lang="fr-FR"/>
          </a:p>
        </p:txBody>
      </p:sp>
      <p:pic>
        <p:nvPicPr>
          <p:cNvPr id="6" name="Image 5" descr="DwB without subtitle.png"/>
          <p:cNvPicPr>
            <a:picLocks noChangeAspect="1"/>
          </p:cNvPicPr>
          <p:nvPr userDrawn="1"/>
        </p:nvPicPr>
        <p:blipFill>
          <a:blip r:embed="rId2" cstate="print"/>
          <a:stretch>
            <a:fillRect/>
          </a:stretch>
        </p:blipFill>
        <p:spPr>
          <a:xfrm>
            <a:off x="7144754" y="5877272"/>
            <a:ext cx="1533666" cy="360040"/>
          </a:xfrm>
          <a:prstGeom prst="rect">
            <a:avLst/>
          </a:prstGeom>
        </p:spPr>
      </p:pic>
      <p:pic>
        <p:nvPicPr>
          <p:cNvPr id="7" name="Image 6" descr="FP7-gen-RGB.jpg"/>
          <p:cNvPicPr>
            <a:picLocks noChangeAspect="1"/>
          </p:cNvPicPr>
          <p:nvPr userDrawn="1"/>
        </p:nvPicPr>
        <p:blipFill>
          <a:blip r:embed="rId3" cstate="print"/>
          <a:stretch>
            <a:fillRect/>
          </a:stretch>
        </p:blipFill>
        <p:spPr>
          <a:xfrm>
            <a:off x="467544" y="5733256"/>
            <a:ext cx="743117" cy="60449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r>
              <a:rPr lang="en-US" smtClean="0"/>
              <a:t>Data without Boundaries</a:t>
            </a:r>
            <a:endParaRPr lang="fr-FR" dirty="0"/>
          </a:p>
        </p:txBody>
      </p:sp>
      <p:sp>
        <p:nvSpPr>
          <p:cNvPr id="3" name="Espace réservé du pied de page 2"/>
          <p:cNvSpPr>
            <a:spLocks noGrp="1"/>
          </p:cNvSpPr>
          <p:nvPr>
            <p:ph type="ftr" sz="quarter" idx="11"/>
          </p:nvPr>
        </p:nvSpPr>
        <p:spPr/>
        <p:txBody>
          <a:bodyPr/>
          <a:lstStyle/>
          <a:p>
            <a:r>
              <a:rPr lang="fr-FR" smtClean="0"/>
              <a:t>EDDI 2012</a:t>
            </a:r>
            <a:endParaRPr lang="fr-FR"/>
          </a:p>
        </p:txBody>
      </p:sp>
      <p:sp>
        <p:nvSpPr>
          <p:cNvPr id="4" name="Espace réservé du numéro de diapositive 3"/>
          <p:cNvSpPr>
            <a:spLocks noGrp="1"/>
          </p:cNvSpPr>
          <p:nvPr>
            <p:ph type="sldNum" sz="quarter" idx="12"/>
          </p:nvPr>
        </p:nvSpPr>
        <p:spPr/>
        <p:txBody>
          <a:bodyPr/>
          <a:lstStyle/>
          <a:p>
            <a:fld id="{D7011AC4-63CC-491F-81A5-4C9322BBD505}" type="slidenum">
              <a:rPr lang="fr-FR" smtClean="0"/>
              <a:pPr/>
              <a:t>‹Nr.›</a:t>
            </a:fld>
            <a:endParaRPr lang="fr-FR"/>
          </a:p>
        </p:txBody>
      </p:sp>
      <p:pic>
        <p:nvPicPr>
          <p:cNvPr id="5" name="Image 4" descr="DwB without subtitle.png"/>
          <p:cNvPicPr>
            <a:picLocks noChangeAspect="1"/>
          </p:cNvPicPr>
          <p:nvPr userDrawn="1"/>
        </p:nvPicPr>
        <p:blipFill>
          <a:blip r:embed="rId2" cstate="print"/>
          <a:stretch>
            <a:fillRect/>
          </a:stretch>
        </p:blipFill>
        <p:spPr>
          <a:xfrm>
            <a:off x="7144754" y="5877272"/>
            <a:ext cx="1533666" cy="360040"/>
          </a:xfrm>
          <a:prstGeom prst="rect">
            <a:avLst/>
          </a:prstGeom>
        </p:spPr>
      </p:pic>
      <p:pic>
        <p:nvPicPr>
          <p:cNvPr id="6" name="Image 5" descr="FP7-gen-RGB.jpg"/>
          <p:cNvPicPr>
            <a:picLocks noChangeAspect="1"/>
          </p:cNvPicPr>
          <p:nvPr userDrawn="1"/>
        </p:nvPicPr>
        <p:blipFill>
          <a:blip r:embed="rId3" cstate="print"/>
          <a:stretch>
            <a:fillRect/>
          </a:stretch>
        </p:blipFill>
        <p:spPr>
          <a:xfrm>
            <a:off x="467544" y="5733256"/>
            <a:ext cx="743117" cy="60449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3" name="Espace réservé de la date 2"/>
          <p:cNvSpPr>
            <a:spLocks noGrp="1"/>
          </p:cNvSpPr>
          <p:nvPr>
            <p:ph type="dt" sz="half" idx="10"/>
          </p:nvPr>
        </p:nvSpPr>
        <p:spPr/>
        <p:txBody>
          <a:bodyPr/>
          <a:lstStyle/>
          <a:p>
            <a:r>
              <a:rPr lang="en-US" smtClean="0"/>
              <a:t>Data without Boundaries</a:t>
            </a:r>
            <a:endParaRPr lang="fr-FR" dirty="0"/>
          </a:p>
        </p:txBody>
      </p:sp>
      <p:sp>
        <p:nvSpPr>
          <p:cNvPr id="4" name="Espace réservé du pied de page 3"/>
          <p:cNvSpPr>
            <a:spLocks noGrp="1"/>
          </p:cNvSpPr>
          <p:nvPr>
            <p:ph type="ftr" sz="quarter" idx="11"/>
          </p:nvPr>
        </p:nvSpPr>
        <p:spPr/>
        <p:txBody>
          <a:bodyPr/>
          <a:lstStyle/>
          <a:p>
            <a:r>
              <a:rPr lang="fr-FR" smtClean="0"/>
              <a:t>EDDI 2012</a:t>
            </a:r>
            <a:endParaRPr lang="fr-FR"/>
          </a:p>
        </p:txBody>
      </p:sp>
      <p:sp>
        <p:nvSpPr>
          <p:cNvPr id="5" name="Espace réservé du numéro de diapositive 4"/>
          <p:cNvSpPr>
            <a:spLocks noGrp="1"/>
          </p:cNvSpPr>
          <p:nvPr>
            <p:ph type="sldNum" sz="quarter" idx="12"/>
          </p:nvPr>
        </p:nvSpPr>
        <p:spPr/>
        <p:txBody>
          <a:bodyPr/>
          <a:lstStyle/>
          <a:p>
            <a:fld id="{D7011AC4-63CC-491F-81A5-4C9322BBD505}" type="slidenum">
              <a:rPr lang="fr-FR" smtClean="0"/>
              <a:pPr/>
              <a:t>‹Nr.›</a:t>
            </a:fld>
            <a:endParaRPr lang="fr-FR"/>
          </a:p>
        </p:txBody>
      </p:sp>
      <p:sp>
        <p:nvSpPr>
          <p:cNvPr id="6" name="Titre 1"/>
          <p:cNvSpPr>
            <a:spLocks noGrp="1"/>
          </p:cNvSpPr>
          <p:nvPr>
            <p:ph type="ctrTitle"/>
          </p:nvPr>
        </p:nvSpPr>
        <p:spPr>
          <a:xfrm>
            <a:off x="683568" y="908720"/>
            <a:ext cx="7772400" cy="1470025"/>
          </a:xfrm>
        </p:spPr>
        <p:txBody>
          <a:bodyPr>
            <a:normAutofit/>
          </a:bodyPr>
          <a:lstStyle>
            <a:lvl1pPr>
              <a:defRPr sz="4000">
                <a:solidFill>
                  <a:srgbClr val="0D3082"/>
                </a:solidFill>
              </a:defRPr>
            </a:lvl1pPr>
          </a:lstStyle>
          <a:p>
            <a:r>
              <a:rPr lang="de-DE" smtClean="0"/>
              <a:t>Titelmasterformat durch Klicken bearbeiten</a:t>
            </a:r>
            <a:endParaRPr lang="fr-FR" dirty="0"/>
          </a:p>
        </p:txBody>
      </p:sp>
      <p:sp>
        <p:nvSpPr>
          <p:cNvPr id="7" name="Sous-titre 2"/>
          <p:cNvSpPr>
            <a:spLocks noGrp="1"/>
          </p:cNvSpPr>
          <p:nvPr>
            <p:ph type="subTitle" idx="1"/>
          </p:nvPr>
        </p:nvSpPr>
        <p:spPr>
          <a:xfrm>
            <a:off x="1369368" y="2664495"/>
            <a:ext cx="6400800" cy="1415008"/>
          </a:xfrm>
        </p:spPr>
        <p:txBody>
          <a:bodyPr>
            <a:normAutofit/>
          </a:bodyPr>
          <a:lstStyle>
            <a:lvl1pPr marL="0" indent="0" algn="ctr">
              <a:buNone/>
              <a:defRPr sz="2400">
                <a:solidFill>
                  <a:srgbClr val="0A71B3"/>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DE" smtClean="0"/>
              <a:t>Formatvorlage des Untertitelmasters durch Klicken bearbeiten</a:t>
            </a:r>
            <a:endParaRPr lang="fr-FR"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de-DE" smtClean="0"/>
              <a:t>Titelmasterformat durch Klicken bearbeiten</a:t>
            </a:r>
            <a:endParaRPr lang="fr-FR"/>
          </a:p>
        </p:txBody>
      </p:sp>
      <p:sp>
        <p:nvSpPr>
          <p:cNvPr id="3" name="Espace réservé du contenu 2"/>
          <p:cNvSpPr>
            <a:spLocks noGrp="1"/>
          </p:cNvSpPr>
          <p:nvPr>
            <p:ph idx="1"/>
          </p:nvPr>
        </p:nvSpPr>
        <p:spPr>
          <a:xfrm>
            <a:off x="3575050" y="273051"/>
            <a:ext cx="5111750" cy="5460206"/>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fr-FR"/>
          </a:p>
        </p:txBody>
      </p:sp>
      <p:sp>
        <p:nvSpPr>
          <p:cNvPr id="4" name="Espace réservé du texte 3"/>
          <p:cNvSpPr>
            <a:spLocks noGrp="1"/>
          </p:cNvSpPr>
          <p:nvPr>
            <p:ph type="body" sz="half" idx="2"/>
          </p:nvPr>
        </p:nvSpPr>
        <p:spPr>
          <a:xfrm>
            <a:off x="457200" y="1435101"/>
            <a:ext cx="3008313" cy="429815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smtClean="0"/>
              <a:t>Textmasterformat bearbeiten</a:t>
            </a:r>
          </a:p>
        </p:txBody>
      </p:sp>
      <p:sp>
        <p:nvSpPr>
          <p:cNvPr id="5" name="Espace réservé de la date 4"/>
          <p:cNvSpPr>
            <a:spLocks noGrp="1"/>
          </p:cNvSpPr>
          <p:nvPr>
            <p:ph type="dt" sz="half" idx="10"/>
          </p:nvPr>
        </p:nvSpPr>
        <p:spPr/>
        <p:txBody>
          <a:bodyPr/>
          <a:lstStyle/>
          <a:p>
            <a:r>
              <a:rPr lang="en-US" smtClean="0"/>
              <a:t>Data without Boundaries</a:t>
            </a:r>
            <a:endParaRPr lang="fr-FR" dirty="0"/>
          </a:p>
        </p:txBody>
      </p:sp>
      <p:sp>
        <p:nvSpPr>
          <p:cNvPr id="6" name="Espace réservé du pied de page 5"/>
          <p:cNvSpPr>
            <a:spLocks noGrp="1"/>
          </p:cNvSpPr>
          <p:nvPr>
            <p:ph type="ftr" sz="quarter" idx="11"/>
          </p:nvPr>
        </p:nvSpPr>
        <p:spPr/>
        <p:txBody>
          <a:bodyPr/>
          <a:lstStyle/>
          <a:p>
            <a:r>
              <a:rPr lang="fr-FR" smtClean="0"/>
              <a:t>EDDI 2012</a:t>
            </a:r>
            <a:endParaRPr lang="fr-FR"/>
          </a:p>
        </p:txBody>
      </p:sp>
      <p:sp>
        <p:nvSpPr>
          <p:cNvPr id="7" name="Espace réservé du numéro de diapositive 6"/>
          <p:cNvSpPr>
            <a:spLocks noGrp="1"/>
          </p:cNvSpPr>
          <p:nvPr>
            <p:ph type="sldNum" sz="quarter" idx="12"/>
          </p:nvPr>
        </p:nvSpPr>
        <p:spPr/>
        <p:txBody>
          <a:bodyPr/>
          <a:lstStyle/>
          <a:p>
            <a:fld id="{D7011AC4-63CC-491F-81A5-4C9322BBD505}" type="slidenum">
              <a:rPr lang="fr-FR" smtClean="0"/>
              <a:pPr/>
              <a:t>‹Nr.›</a:t>
            </a:fld>
            <a:endParaRPr lang="fr-FR"/>
          </a:p>
        </p:txBody>
      </p:sp>
      <p:pic>
        <p:nvPicPr>
          <p:cNvPr id="8" name="Image 7" descr="DwB without subtitle.png"/>
          <p:cNvPicPr>
            <a:picLocks noChangeAspect="1"/>
          </p:cNvPicPr>
          <p:nvPr userDrawn="1"/>
        </p:nvPicPr>
        <p:blipFill>
          <a:blip r:embed="rId2" cstate="print"/>
          <a:stretch>
            <a:fillRect/>
          </a:stretch>
        </p:blipFill>
        <p:spPr>
          <a:xfrm>
            <a:off x="7144754" y="5877272"/>
            <a:ext cx="1533666" cy="360040"/>
          </a:xfrm>
          <a:prstGeom prst="rect">
            <a:avLst/>
          </a:prstGeom>
        </p:spPr>
      </p:pic>
      <p:pic>
        <p:nvPicPr>
          <p:cNvPr id="9" name="Image 8" descr="FP7-gen-RGB.jpg"/>
          <p:cNvPicPr>
            <a:picLocks noChangeAspect="1"/>
          </p:cNvPicPr>
          <p:nvPr userDrawn="1"/>
        </p:nvPicPr>
        <p:blipFill>
          <a:blip r:embed="rId3" cstate="print"/>
          <a:stretch>
            <a:fillRect/>
          </a:stretch>
        </p:blipFill>
        <p:spPr>
          <a:xfrm>
            <a:off x="467544" y="5733256"/>
            <a:ext cx="743117" cy="60449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de-DE" smtClean="0"/>
              <a:t>Titelmasterformat durch Klicken bearbeiten</a:t>
            </a:r>
            <a:endParaRPr lang="fr-F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smtClean="0"/>
              <a:t>Bild durch Klicken auf Symbol hinzufügen</a:t>
            </a:r>
            <a:endParaRPr lang="fr-F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smtClean="0"/>
              <a:t>Textmasterformat bearbeiten</a:t>
            </a:r>
          </a:p>
        </p:txBody>
      </p:sp>
      <p:sp>
        <p:nvSpPr>
          <p:cNvPr id="5" name="Espace réservé de la date 4"/>
          <p:cNvSpPr>
            <a:spLocks noGrp="1"/>
          </p:cNvSpPr>
          <p:nvPr>
            <p:ph type="dt" sz="half" idx="10"/>
          </p:nvPr>
        </p:nvSpPr>
        <p:spPr/>
        <p:txBody>
          <a:bodyPr/>
          <a:lstStyle/>
          <a:p>
            <a:r>
              <a:rPr lang="en-US" smtClean="0"/>
              <a:t>Data without Boundaries</a:t>
            </a:r>
            <a:endParaRPr lang="fr-FR"/>
          </a:p>
        </p:txBody>
      </p:sp>
      <p:sp>
        <p:nvSpPr>
          <p:cNvPr id="6" name="Espace réservé du pied de page 5"/>
          <p:cNvSpPr>
            <a:spLocks noGrp="1"/>
          </p:cNvSpPr>
          <p:nvPr>
            <p:ph type="ftr" sz="quarter" idx="11"/>
          </p:nvPr>
        </p:nvSpPr>
        <p:spPr/>
        <p:txBody>
          <a:bodyPr/>
          <a:lstStyle/>
          <a:p>
            <a:r>
              <a:rPr lang="fr-FR" smtClean="0"/>
              <a:t>EDDI 2012</a:t>
            </a:r>
            <a:endParaRPr lang="fr-FR"/>
          </a:p>
        </p:txBody>
      </p:sp>
      <p:sp>
        <p:nvSpPr>
          <p:cNvPr id="7" name="Espace réservé du numéro de diapositive 6"/>
          <p:cNvSpPr>
            <a:spLocks noGrp="1"/>
          </p:cNvSpPr>
          <p:nvPr>
            <p:ph type="sldNum" sz="quarter" idx="12"/>
          </p:nvPr>
        </p:nvSpPr>
        <p:spPr/>
        <p:txBody>
          <a:bodyPr/>
          <a:lstStyle/>
          <a:p>
            <a:fld id="{D7011AC4-63CC-491F-81A5-4C9322BBD505}" type="slidenum">
              <a:rPr lang="fr-FR" smtClean="0"/>
              <a:pPr/>
              <a:t>‹Nr.›</a:t>
            </a:fld>
            <a:endParaRPr lang="fr-FR"/>
          </a:p>
        </p:txBody>
      </p:sp>
      <p:pic>
        <p:nvPicPr>
          <p:cNvPr id="8" name="Image 7" descr="DwB without subtitle.png"/>
          <p:cNvPicPr>
            <a:picLocks noChangeAspect="1"/>
          </p:cNvPicPr>
          <p:nvPr userDrawn="1"/>
        </p:nvPicPr>
        <p:blipFill>
          <a:blip r:embed="rId2" cstate="print"/>
          <a:stretch>
            <a:fillRect/>
          </a:stretch>
        </p:blipFill>
        <p:spPr>
          <a:xfrm>
            <a:off x="7144754" y="5877272"/>
            <a:ext cx="1533666" cy="360040"/>
          </a:xfrm>
          <a:prstGeom prst="rect">
            <a:avLst/>
          </a:prstGeom>
        </p:spPr>
      </p:pic>
      <p:pic>
        <p:nvPicPr>
          <p:cNvPr id="9" name="Image 8" descr="FP7-gen-RGB.jpg"/>
          <p:cNvPicPr>
            <a:picLocks noChangeAspect="1"/>
          </p:cNvPicPr>
          <p:nvPr userDrawn="1"/>
        </p:nvPicPr>
        <p:blipFill>
          <a:blip r:embed="rId3" cstate="print"/>
          <a:stretch>
            <a:fillRect/>
          </a:stretch>
        </p:blipFill>
        <p:spPr>
          <a:xfrm>
            <a:off x="467544" y="5733256"/>
            <a:ext cx="743117" cy="60449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de-DE" smtClean="0"/>
              <a:t>Titelmasterformat durch Klicken bearbeiten</a:t>
            </a:r>
            <a:endParaRPr lang="fr-FR"/>
          </a:p>
        </p:txBody>
      </p:sp>
      <p:sp>
        <p:nvSpPr>
          <p:cNvPr id="3" name="Espace réservé du texte vertical 2"/>
          <p:cNvSpPr>
            <a:spLocks noGrp="1"/>
          </p:cNvSpPr>
          <p:nvPr>
            <p:ph type="body" orient="vert" idx="1"/>
          </p:nvPr>
        </p:nvSpPr>
        <p:spPr/>
        <p:txBody>
          <a:bodyPr vert="eaVert"/>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fr-FR"/>
          </a:p>
        </p:txBody>
      </p:sp>
      <p:sp>
        <p:nvSpPr>
          <p:cNvPr id="4" name="Espace réservé de la date 3"/>
          <p:cNvSpPr>
            <a:spLocks noGrp="1"/>
          </p:cNvSpPr>
          <p:nvPr>
            <p:ph type="dt" sz="half" idx="10"/>
          </p:nvPr>
        </p:nvSpPr>
        <p:spPr/>
        <p:txBody>
          <a:bodyPr/>
          <a:lstStyle/>
          <a:p>
            <a:r>
              <a:rPr lang="en-US" smtClean="0"/>
              <a:t>Data without Boundaries</a:t>
            </a:r>
            <a:endParaRPr lang="fr-FR"/>
          </a:p>
        </p:txBody>
      </p:sp>
      <p:sp>
        <p:nvSpPr>
          <p:cNvPr id="5" name="Espace réservé du pied de page 4"/>
          <p:cNvSpPr>
            <a:spLocks noGrp="1"/>
          </p:cNvSpPr>
          <p:nvPr>
            <p:ph type="ftr" sz="quarter" idx="11"/>
          </p:nvPr>
        </p:nvSpPr>
        <p:spPr/>
        <p:txBody>
          <a:bodyPr/>
          <a:lstStyle/>
          <a:p>
            <a:r>
              <a:rPr lang="fr-FR" smtClean="0"/>
              <a:t>EDDI 2012</a:t>
            </a:r>
            <a:endParaRPr lang="fr-FR"/>
          </a:p>
        </p:txBody>
      </p:sp>
      <p:sp>
        <p:nvSpPr>
          <p:cNvPr id="6" name="Espace réservé du numéro de diapositive 5"/>
          <p:cNvSpPr>
            <a:spLocks noGrp="1"/>
          </p:cNvSpPr>
          <p:nvPr>
            <p:ph type="sldNum" sz="quarter" idx="12"/>
          </p:nvPr>
        </p:nvSpPr>
        <p:spPr/>
        <p:txBody>
          <a:bodyPr/>
          <a:lstStyle/>
          <a:p>
            <a:fld id="{D7011AC4-63CC-491F-81A5-4C9322BBD505}" type="slidenum">
              <a:rPr lang="fr-FR" smtClean="0"/>
              <a:pPr/>
              <a:t>‹Nr.›</a:t>
            </a:fld>
            <a:endParaRPr lang="fr-FR"/>
          </a:p>
        </p:txBody>
      </p:sp>
      <p:pic>
        <p:nvPicPr>
          <p:cNvPr id="7" name="Image 6" descr="DwB without subtitle.png"/>
          <p:cNvPicPr>
            <a:picLocks noChangeAspect="1"/>
          </p:cNvPicPr>
          <p:nvPr userDrawn="1"/>
        </p:nvPicPr>
        <p:blipFill>
          <a:blip r:embed="rId2" cstate="print"/>
          <a:stretch>
            <a:fillRect/>
          </a:stretch>
        </p:blipFill>
        <p:spPr>
          <a:xfrm>
            <a:off x="7144754" y="5877272"/>
            <a:ext cx="1533666" cy="360040"/>
          </a:xfrm>
          <a:prstGeom prst="rect">
            <a:avLst/>
          </a:prstGeom>
        </p:spPr>
      </p:pic>
      <p:pic>
        <p:nvPicPr>
          <p:cNvPr id="8" name="Image 7" descr="FP7-gen-RGB.jpg"/>
          <p:cNvPicPr>
            <a:picLocks noChangeAspect="1"/>
          </p:cNvPicPr>
          <p:nvPr userDrawn="1"/>
        </p:nvPicPr>
        <p:blipFill>
          <a:blip r:embed="rId3" cstate="print"/>
          <a:stretch>
            <a:fillRect/>
          </a:stretch>
        </p:blipFill>
        <p:spPr>
          <a:xfrm>
            <a:off x="467544" y="5733256"/>
            <a:ext cx="743117" cy="60449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9"/>
            <a:ext cx="2057400" cy="5458618"/>
          </a:xfrm>
        </p:spPr>
        <p:txBody>
          <a:bodyPr vert="eaVert"/>
          <a:lstStyle/>
          <a:p>
            <a:r>
              <a:rPr lang="de-DE" smtClean="0"/>
              <a:t>Titelmasterformat durch Klicken bearbeiten</a:t>
            </a:r>
            <a:endParaRPr lang="fr-FR" dirty="0"/>
          </a:p>
        </p:txBody>
      </p:sp>
      <p:sp>
        <p:nvSpPr>
          <p:cNvPr id="3" name="Espace réservé du texte vertical 2"/>
          <p:cNvSpPr>
            <a:spLocks noGrp="1"/>
          </p:cNvSpPr>
          <p:nvPr>
            <p:ph type="body" orient="vert" idx="1"/>
          </p:nvPr>
        </p:nvSpPr>
        <p:spPr>
          <a:xfrm>
            <a:off x="457200" y="274639"/>
            <a:ext cx="6019800" cy="5458617"/>
          </a:xfrm>
        </p:spPr>
        <p:txBody>
          <a:bodyPr vert="eaVert"/>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fr-FR"/>
          </a:p>
        </p:txBody>
      </p:sp>
      <p:sp>
        <p:nvSpPr>
          <p:cNvPr id="4" name="Espace réservé de la date 3"/>
          <p:cNvSpPr>
            <a:spLocks noGrp="1"/>
          </p:cNvSpPr>
          <p:nvPr>
            <p:ph type="dt" sz="half" idx="10"/>
          </p:nvPr>
        </p:nvSpPr>
        <p:spPr/>
        <p:txBody>
          <a:bodyPr/>
          <a:lstStyle/>
          <a:p>
            <a:r>
              <a:rPr lang="en-US" smtClean="0"/>
              <a:t>Data without Boundaries</a:t>
            </a:r>
            <a:endParaRPr lang="fr-FR"/>
          </a:p>
        </p:txBody>
      </p:sp>
      <p:sp>
        <p:nvSpPr>
          <p:cNvPr id="5" name="Espace réservé du pied de page 4"/>
          <p:cNvSpPr>
            <a:spLocks noGrp="1"/>
          </p:cNvSpPr>
          <p:nvPr>
            <p:ph type="ftr" sz="quarter" idx="11"/>
          </p:nvPr>
        </p:nvSpPr>
        <p:spPr/>
        <p:txBody>
          <a:bodyPr/>
          <a:lstStyle/>
          <a:p>
            <a:r>
              <a:rPr lang="fr-FR" smtClean="0"/>
              <a:t>EDDI 2012</a:t>
            </a:r>
            <a:endParaRPr lang="fr-FR"/>
          </a:p>
        </p:txBody>
      </p:sp>
      <p:sp>
        <p:nvSpPr>
          <p:cNvPr id="6" name="Espace réservé du numéro de diapositive 5"/>
          <p:cNvSpPr>
            <a:spLocks noGrp="1"/>
          </p:cNvSpPr>
          <p:nvPr>
            <p:ph type="sldNum" sz="quarter" idx="12"/>
          </p:nvPr>
        </p:nvSpPr>
        <p:spPr/>
        <p:txBody>
          <a:bodyPr/>
          <a:lstStyle/>
          <a:p>
            <a:fld id="{D7011AC4-63CC-491F-81A5-4C9322BBD505}" type="slidenum">
              <a:rPr lang="fr-FR" smtClean="0"/>
              <a:pPr/>
              <a:t>‹Nr.›</a:t>
            </a:fld>
            <a:endParaRPr lang="fr-FR"/>
          </a:p>
        </p:txBody>
      </p:sp>
      <p:pic>
        <p:nvPicPr>
          <p:cNvPr id="7" name="Image 6" descr="DwB without subtitle.png"/>
          <p:cNvPicPr>
            <a:picLocks noChangeAspect="1"/>
          </p:cNvPicPr>
          <p:nvPr userDrawn="1"/>
        </p:nvPicPr>
        <p:blipFill>
          <a:blip r:embed="rId2" cstate="print"/>
          <a:stretch>
            <a:fillRect/>
          </a:stretch>
        </p:blipFill>
        <p:spPr>
          <a:xfrm>
            <a:off x="7144754" y="5877272"/>
            <a:ext cx="1533666" cy="360040"/>
          </a:xfrm>
          <a:prstGeom prst="rect">
            <a:avLst/>
          </a:prstGeom>
        </p:spPr>
      </p:pic>
      <p:pic>
        <p:nvPicPr>
          <p:cNvPr id="8" name="Image 7" descr="FP7-gen-RGB.jpg"/>
          <p:cNvPicPr>
            <a:picLocks noChangeAspect="1"/>
          </p:cNvPicPr>
          <p:nvPr userDrawn="1"/>
        </p:nvPicPr>
        <p:blipFill>
          <a:blip r:embed="rId3" cstate="print"/>
          <a:stretch>
            <a:fillRect/>
          </a:stretch>
        </p:blipFill>
        <p:spPr>
          <a:xfrm>
            <a:off x="467544" y="5733256"/>
            <a:ext cx="743117" cy="60449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9" name="Image 8" descr="ZZZZZZZZ.bmp"/>
          <p:cNvPicPr>
            <a:picLocks/>
          </p:cNvPicPr>
          <p:nvPr/>
        </p:nvPicPr>
        <p:blipFill>
          <a:blip r:embed="rId14" cstate="print"/>
          <a:srcRect b="22453"/>
          <a:stretch>
            <a:fillRect/>
          </a:stretch>
        </p:blipFill>
        <p:spPr bwMode="auto">
          <a:xfrm>
            <a:off x="0" y="0"/>
            <a:ext cx="9144000" cy="4725144"/>
          </a:xfrm>
          <a:prstGeom prst="rect">
            <a:avLst/>
          </a:prstGeom>
          <a:noFill/>
          <a:ln w="9525">
            <a:noFill/>
            <a:miter lim="800000"/>
            <a:headEnd/>
            <a:tailEnd/>
          </a:ln>
        </p:spPr>
      </p:pic>
      <p:sp>
        <p:nvSpPr>
          <p:cNvPr id="2" name="Espace réservé du titre 1"/>
          <p:cNvSpPr>
            <a:spLocks noGrp="1"/>
          </p:cNvSpPr>
          <p:nvPr>
            <p:ph type="title"/>
          </p:nvPr>
        </p:nvSpPr>
        <p:spPr>
          <a:xfrm>
            <a:off x="457200" y="620688"/>
            <a:ext cx="8229600" cy="796950"/>
          </a:xfrm>
          <a:prstGeom prst="rect">
            <a:avLst/>
          </a:prstGeom>
        </p:spPr>
        <p:txBody>
          <a:bodyPr vert="horz" lIns="91440" tIns="45720" rIns="91440" bIns="45720" rtlCol="0" anchor="ctr">
            <a:normAutofit/>
          </a:bodyPr>
          <a:lstStyle/>
          <a:p>
            <a:r>
              <a:rPr lang="fr-FR" dirty="0" smtClean="0"/>
              <a:t>Cliquez pour modifier le style du titre</a:t>
            </a:r>
            <a:endParaRPr lang="fr-FR" dirty="0"/>
          </a:p>
        </p:txBody>
      </p:sp>
      <p:sp>
        <p:nvSpPr>
          <p:cNvPr id="3" name="Espace réservé du texte 2"/>
          <p:cNvSpPr>
            <a:spLocks noGrp="1"/>
          </p:cNvSpPr>
          <p:nvPr>
            <p:ph type="body" idx="1"/>
          </p:nvPr>
        </p:nvSpPr>
        <p:spPr>
          <a:xfrm>
            <a:off x="457200" y="1484784"/>
            <a:ext cx="8229600" cy="4248473"/>
          </a:xfrm>
          <a:prstGeom prst="rect">
            <a:avLst/>
          </a:prstGeom>
        </p:spPr>
        <p:txBody>
          <a:bodyPr vert="horz" lIns="91440" tIns="45720" rIns="91440" bIns="45720" rtlCol="0">
            <a:normAutofit/>
          </a:bodyPr>
          <a:lstStyle/>
          <a:p>
            <a:pPr lvl="0"/>
            <a:r>
              <a:rPr lang="fr-FR" dirty="0" smtClean="0"/>
              <a:t>Cliquez pour modifier les styles du texte du masque</a:t>
            </a:r>
          </a:p>
          <a:p>
            <a:pPr lvl="1"/>
            <a:r>
              <a:rPr lang="fr-FR" dirty="0" smtClean="0"/>
              <a:t>Deuxième niveau</a:t>
            </a:r>
          </a:p>
          <a:p>
            <a:pPr lvl="2"/>
            <a:r>
              <a:rPr lang="fr-FR" dirty="0" smtClean="0"/>
              <a:t>Troisième niveau</a:t>
            </a:r>
          </a:p>
          <a:p>
            <a:pPr lvl="3"/>
            <a:r>
              <a:rPr lang="fr-FR" dirty="0" smtClean="0"/>
              <a:t>Quatrième niveau</a:t>
            </a:r>
          </a:p>
          <a:p>
            <a:pPr lvl="4"/>
            <a:r>
              <a:rPr lang="fr-FR" dirty="0" smtClean="0"/>
              <a:t>Cinquième niveau</a:t>
            </a:r>
            <a:endParaRPr lang="fr-FR" dirty="0"/>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solidFill>
              </a:defRPr>
            </a:lvl1pPr>
          </a:lstStyle>
          <a:p>
            <a:r>
              <a:rPr lang="en-US" smtClean="0"/>
              <a:t>Data without Boundaries</a:t>
            </a:r>
            <a:endParaRPr lang="fr-FR" dirty="0"/>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solidFill>
              </a:defRPr>
            </a:lvl1pPr>
          </a:lstStyle>
          <a:p>
            <a:r>
              <a:rPr lang="fr-FR" smtClean="0"/>
              <a:t>EDDI 2012</a:t>
            </a:r>
            <a:endParaRPr lang="fr-FR" dirty="0"/>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solidFill>
              </a:defRPr>
            </a:lvl1pPr>
          </a:lstStyle>
          <a:p>
            <a:fld id="{D7011AC4-63CC-491F-81A5-4C9322BBD505}" type="slidenum">
              <a:rPr lang="fr-FR" smtClean="0"/>
              <a:pPr/>
              <a:t>‹Nr.›</a:t>
            </a:fld>
            <a:endParaRPr lang="fr-FR"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60" r:id="rId8"/>
    <p:sldLayoutId id="2147483656" r:id="rId9"/>
    <p:sldLayoutId id="2147483657" r:id="rId10"/>
    <p:sldLayoutId id="2147483658" r:id="rId11"/>
    <p:sldLayoutId id="2147483659" r:id="rId12"/>
  </p:sldLayoutIdLst>
  <p:hf hdr="0"/>
  <p:txStyles>
    <p:titleStyle>
      <a:lvl1pPr algn="l" defTabSz="914400" rtl="0" eaLnBrk="1" latinLnBrk="0" hangingPunct="1">
        <a:spcBef>
          <a:spcPct val="0"/>
        </a:spcBef>
        <a:buNone/>
        <a:defRPr sz="3600" b="1" kern="1200">
          <a:solidFill>
            <a:srgbClr val="0D3082"/>
          </a:solidFill>
          <a:latin typeface="+mj-lt"/>
          <a:ea typeface="+mj-ea"/>
          <a:cs typeface="+mj-cs"/>
        </a:defRPr>
      </a:lvl1pPr>
    </p:titleStyle>
    <p:bodyStyle>
      <a:lvl1pPr marL="342900" indent="-342900" algn="l" defTabSz="914400" rtl="0" eaLnBrk="1" latinLnBrk="0" hangingPunct="1">
        <a:spcBef>
          <a:spcPct val="20000"/>
        </a:spcBef>
        <a:buClr>
          <a:srgbClr val="0A71B3"/>
        </a:buClr>
        <a:buFont typeface="Arial" pitchFamily="34" charset="0"/>
        <a:buChar char="•"/>
        <a:defRPr sz="1800" kern="1200">
          <a:solidFill>
            <a:schemeClr val="tx1"/>
          </a:solidFill>
          <a:latin typeface="+mn-lt"/>
          <a:ea typeface="+mn-ea"/>
          <a:cs typeface="+mn-cs"/>
        </a:defRPr>
      </a:lvl1pPr>
      <a:lvl2pPr marL="742950" indent="-285750" algn="l" defTabSz="914400" rtl="0" eaLnBrk="1" latinLnBrk="0" hangingPunct="1">
        <a:spcBef>
          <a:spcPct val="20000"/>
        </a:spcBef>
        <a:buClr>
          <a:srgbClr val="0A71B3"/>
        </a:buClr>
        <a:buFont typeface="Wingdings" pitchFamily="2" charset="2"/>
        <a:buChar char="Ø"/>
        <a:defRPr sz="1800" kern="1200">
          <a:solidFill>
            <a:schemeClr val="tx1"/>
          </a:solidFill>
          <a:latin typeface="+mn-lt"/>
          <a:ea typeface="+mn-ea"/>
          <a:cs typeface="+mn-cs"/>
        </a:defRPr>
      </a:lvl2pPr>
      <a:lvl3pPr marL="1143000" indent="-228600" algn="l" defTabSz="914400" rtl="0" eaLnBrk="1" latinLnBrk="0" hangingPunct="1">
        <a:spcBef>
          <a:spcPct val="20000"/>
        </a:spcBef>
        <a:buClr>
          <a:srgbClr val="0A71B3"/>
        </a:buClr>
        <a:buFont typeface="Wingdings" pitchFamily="2" charset="2"/>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685800" y="1268761"/>
            <a:ext cx="7772400" cy="2331690"/>
          </a:xfrm>
        </p:spPr>
        <p:txBody>
          <a:bodyPr>
            <a:normAutofit/>
          </a:bodyPr>
          <a:lstStyle/>
          <a:p>
            <a:pPr algn="ctr"/>
            <a:r>
              <a:rPr lang="en-US" dirty="0" smtClean="0"/>
              <a:t>Data without Boundaries</a:t>
            </a:r>
            <a:br>
              <a:rPr lang="en-US" dirty="0" smtClean="0"/>
            </a:br>
            <a:r>
              <a:rPr lang="en-US" sz="2400" dirty="0" smtClean="0"/>
              <a:t>A European Project to Enhance Access to Official Microdata</a:t>
            </a:r>
            <a:endParaRPr lang="en-US" sz="2400" dirty="0"/>
          </a:p>
        </p:txBody>
      </p:sp>
      <p:sp>
        <p:nvSpPr>
          <p:cNvPr id="3" name="Sous-titre 2"/>
          <p:cNvSpPr>
            <a:spLocks noGrp="1"/>
          </p:cNvSpPr>
          <p:nvPr>
            <p:ph type="subTitle" idx="1"/>
          </p:nvPr>
        </p:nvSpPr>
        <p:spPr>
          <a:xfrm>
            <a:off x="1371600" y="4077072"/>
            <a:ext cx="6400800" cy="1559024"/>
          </a:xfrm>
        </p:spPr>
        <p:txBody>
          <a:bodyPr>
            <a:normAutofit/>
          </a:bodyPr>
          <a:lstStyle/>
          <a:p>
            <a:r>
              <a:rPr lang="en-US" sz="1800" i="1" dirty="0" smtClean="0">
                <a:solidFill>
                  <a:srgbClr val="00B0F0"/>
                </a:solidFill>
              </a:rPr>
              <a:t>Roxane Silberman, </a:t>
            </a:r>
            <a:r>
              <a:rPr lang="en-US" sz="1800" i="1" dirty="0" err="1" smtClean="0">
                <a:solidFill>
                  <a:srgbClr val="00B0F0"/>
                </a:solidFill>
              </a:rPr>
              <a:t>Réseau</a:t>
            </a:r>
            <a:r>
              <a:rPr lang="en-US" sz="1800" i="1" dirty="0" smtClean="0">
                <a:solidFill>
                  <a:srgbClr val="00B0F0"/>
                </a:solidFill>
              </a:rPr>
              <a:t> </a:t>
            </a:r>
            <a:r>
              <a:rPr lang="en-US" sz="1800" i="1" dirty="0" err="1" smtClean="0">
                <a:solidFill>
                  <a:srgbClr val="00B0F0"/>
                </a:solidFill>
              </a:rPr>
              <a:t>Quételet</a:t>
            </a:r>
            <a:endParaRPr lang="en-US" sz="1800" i="1" dirty="0" smtClean="0">
              <a:solidFill>
                <a:srgbClr val="00B0F0"/>
              </a:solidFill>
            </a:endParaRPr>
          </a:p>
          <a:p>
            <a:r>
              <a:rPr lang="en-US" sz="1800" i="1" dirty="0" smtClean="0">
                <a:solidFill>
                  <a:srgbClr val="00B0F0"/>
                </a:solidFill>
              </a:rPr>
              <a:t>Christof Wolf, GESIS – Leibniz-Institute for the Social Sciences</a:t>
            </a:r>
          </a:p>
          <a:p>
            <a:endParaRPr lang="en-US" sz="1800" i="1" dirty="0" smtClean="0">
              <a:solidFill>
                <a:srgbClr val="00B0F0"/>
              </a:solidFill>
            </a:endParaRPr>
          </a:p>
          <a:p>
            <a:pPr lvl="0"/>
            <a:r>
              <a:rPr lang="en-US" sz="1800" i="1" dirty="0" smtClean="0">
                <a:solidFill>
                  <a:srgbClr val="00B0F0"/>
                </a:solidFill>
              </a:rPr>
              <a:t>European DDI User Meeting, 3-4 December 2012, Bergen, Norway</a:t>
            </a:r>
            <a:endParaRPr lang="en-US" sz="1800" i="1" dirty="0">
              <a:solidFill>
                <a:srgbClr val="00B0F0"/>
              </a:solidFill>
            </a:endParaRPr>
          </a:p>
        </p:txBody>
      </p:sp>
      <p:sp>
        <p:nvSpPr>
          <p:cNvPr id="4" name="Sous-titre 2"/>
          <p:cNvSpPr txBox="1">
            <a:spLocks/>
          </p:cNvSpPr>
          <p:nvPr/>
        </p:nvSpPr>
        <p:spPr>
          <a:xfrm>
            <a:off x="1375073" y="5013176"/>
            <a:ext cx="6400800" cy="360040"/>
          </a:xfrm>
          <a:prstGeom prst="rect">
            <a:avLst/>
          </a:prstGeom>
        </p:spPr>
        <p:txBody>
          <a:bodyPr vert="horz" lIns="91440" tIns="45720" rIns="91440" bIns="45720" rtlCol="0">
            <a:normAutofit/>
          </a:bodyPr>
          <a:lstStyle/>
          <a:p>
            <a:pPr lvl="0" algn="ctr">
              <a:spcBef>
                <a:spcPct val="20000"/>
              </a:spcBef>
              <a:defRPr/>
            </a:pPr>
            <a:endParaRPr kumimoji="0" lang="fr-FR" sz="1400" b="0" i="1" u="none" strike="noStrike" kern="1200" cap="none" spc="0" normalizeH="0" baseline="0" noProof="0" dirty="0" smtClean="0">
              <a:ln>
                <a:noFill/>
              </a:ln>
              <a:solidFill>
                <a:schemeClr val="tx1">
                  <a:tint val="75000"/>
                </a:schemeClr>
              </a:solidFill>
              <a:effectLst/>
              <a:uLnTx/>
              <a:uFillTx/>
              <a:latin typeface="+mn-lt"/>
              <a:ea typeface="+mn-ea"/>
              <a:cs typeface="+mn-cs"/>
            </a:endParaRPr>
          </a:p>
        </p:txBody>
      </p:sp>
      <p:sp>
        <p:nvSpPr>
          <p:cNvPr id="5" name="Datumsplatzhalter 4"/>
          <p:cNvSpPr>
            <a:spLocks noGrp="1"/>
          </p:cNvSpPr>
          <p:nvPr>
            <p:ph type="dt" sz="half" idx="10"/>
          </p:nvPr>
        </p:nvSpPr>
        <p:spPr/>
        <p:txBody>
          <a:bodyPr/>
          <a:lstStyle/>
          <a:p>
            <a:r>
              <a:rPr lang="en-US" smtClean="0"/>
              <a:t>Data without Boundaries</a:t>
            </a:r>
            <a:endParaRPr lang="fr-FR" dirty="0"/>
          </a:p>
        </p:txBody>
      </p:sp>
      <p:sp>
        <p:nvSpPr>
          <p:cNvPr id="6" name="Fußzeilenplatzhalter 5"/>
          <p:cNvSpPr>
            <a:spLocks noGrp="1"/>
          </p:cNvSpPr>
          <p:nvPr>
            <p:ph type="ftr" sz="quarter" idx="11"/>
          </p:nvPr>
        </p:nvSpPr>
        <p:spPr/>
        <p:txBody>
          <a:bodyPr/>
          <a:lstStyle/>
          <a:p>
            <a:r>
              <a:rPr lang="fr-FR" smtClean="0"/>
              <a:t>EDDI 2012</a:t>
            </a:r>
            <a:endParaRPr lang="fr-FR"/>
          </a:p>
        </p:txBody>
      </p:sp>
      <p:sp>
        <p:nvSpPr>
          <p:cNvPr id="7" name="Foliennummernplatzhalter 6"/>
          <p:cNvSpPr>
            <a:spLocks noGrp="1"/>
          </p:cNvSpPr>
          <p:nvPr>
            <p:ph type="sldNum" sz="quarter" idx="12"/>
          </p:nvPr>
        </p:nvSpPr>
        <p:spPr/>
        <p:txBody>
          <a:bodyPr/>
          <a:lstStyle/>
          <a:p>
            <a:fld id="{D7011AC4-63CC-491F-81A5-4C9322BBD505}" type="slidenum">
              <a:rPr lang="fr-FR" smtClean="0"/>
              <a:pPr/>
              <a:t>1</a:t>
            </a:fld>
            <a:endParaRPr lang="fr-F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lgn="ctr"/>
            <a:r>
              <a:rPr lang="en-GB" dirty="0" err="1">
                <a:latin typeface="Calibri" charset="0"/>
              </a:rPr>
              <a:t>DwB</a:t>
            </a:r>
            <a:r>
              <a:rPr lang="en-GB" dirty="0">
                <a:latin typeface="Calibri" charset="0"/>
              </a:rPr>
              <a:t> project in a nutshell </a:t>
            </a:r>
            <a:endParaRPr lang="en-US" dirty="0"/>
          </a:p>
        </p:txBody>
      </p:sp>
      <p:sp>
        <p:nvSpPr>
          <p:cNvPr id="3" name="Inhaltsplatzhalter 2"/>
          <p:cNvSpPr>
            <a:spLocks noGrp="1"/>
          </p:cNvSpPr>
          <p:nvPr>
            <p:ph idx="1"/>
          </p:nvPr>
        </p:nvSpPr>
        <p:spPr/>
        <p:txBody>
          <a:bodyPr/>
          <a:lstStyle/>
          <a:p>
            <a:pPr>
              <a:defRPr/>
            </a:pPr>
            <a:r>
              <a:rPr lang="en-GB" b="1" dirty="0">
                <a:solidFill>
                  <a:srgbClr val="0D3082"/>
                </a:solidFill>
                <a:latin typeface="Calibri" charset="0"/>
              </a:rPr>
              <a:t>A European Commission FP7 project 2011-2015</a:t>
            </a:r>
          </a:p>
          <a:p>
            <a:pPr>
              <a:defRPr/>
            </a:pPr>
            <a:r>
              <a:rPr lang="en-GB" b="1" dirty="0">
                <a:solidFill>
                  <a:srgbClr val="0D3082"/>
                </a:solidFill>
                <a:latin typeface="Calibri" charset="0"/>
              </a:rPr>
              <a:t>Overall objective </a:t>
            </a:r>
          </a:p>
          <a:p>
            <a:pPr lvl="1">
              <a:defRPr/>
            </a:pPr>
            <a:r>
              <a:rPr lang="en-GB" b="1" dirty="0">
                <a:solidFill>
                  <a:srgbClr val="0D3082"/>
                </a:solidFill>
                <a:latin typeface="Calibri" charset="0"/>
              </a:rPr>
              <a:t>Enhance researchers’ access to official </a:t>
            </a:r>
            <a:r>
              <a:rPr lang="en-GB" b="1" dirty="0" err="1">
                <a:solidFill>
                  <a:srgbClr val="0D3082"/>
                </a:solidFill>
                <a:latin typeface="Calibri" charset="0"/>
              </a:rPr>
              <a:t>microdata</a:t>
            </a:r>
            <a:r>
              <a:rPr lang="en-GB" b="1" dirty="0">
                <a:solidFill>
                  <a:srgbClr val="0D3082"/>
                </a:solidFill>
                <a:latin typeface="Calibri" charset="0"/>
              </a:rPr>
              <a:t> in Europe</a:t>
            </a:r>
          </a:p>
          <a:p>
            <a:pPr marL="457200" lvl="1" indent="0">
              <a:buNone/>
              <a:defRPr/>
            </a:pPr>
            <a:r>
              <a:rPr lang="en-GB" b="1" dirty="0">
                <a:solidFill>
                  <a:srgbClr val="0D3082"/>
                </a:solidFill>
                <a:latin typeface="Calibri" charset="0"/>
              </a:rPr>
              <a:t>	 </a:t>
            </a:r>
            <a:r>
              <a:rPr lang="en-GB" sz="1600" b="1" dirty="0">
                <a:solidFill>
                  <a:srgbClr val="0D3082"/>
                </a:solidFill>
                <a:latin typeface="Calibri" charset="0"/>
              </a:rPr>
              <a:t>Both national and European </a:t>
            </a:r>
          </a:p>
          <a:p>
            <a:pPr lvl="1">
              <a:defRPr/>
            </a:pPr>
            <a:r>
              <a:rPr lang="en-GB" sz="1600" b="1" dirty="0">
                <a:solidFill>
                  <a:srgbClr val="0D3082"/>
                </a:solidFill>
                <a:latin typeface="Calibri" charset="0"/>
              </a:rPr>
              <a:t>Focus on transnational access within the ERA</a:t>
            </a:r>
          </a:p>
          <a:p>
            <a:pPr lvl="1">
              <a:defRPr/>
            </a:pPr>
            <a:r>
              <a:rPr lang="en-GB" sz="1600" b="1" dirty="0">
                <a:solidFill>
                  <a:srgbClr val="0D3082"/>
                </a:solidFill>
                <a:latin typeface="Calibri" charset="0"/>
              </a:rPr>
              <a:t>Focus on confidential </a:t>
            </a:r>
            <a:r>
              <a:rPr lang="en-GB" sz="1600" b="1" dirty="0" err="1">
                <a:solidFill>
                  <a:srgbClr val="0D3082"/>
                </a:solidFill>
                <a:latin typeface="Calibri" charset="0"/>
              </a:rPr>
              <a:t>microdata</a:t>
            </a:r>
            <a:r>
              <a:rPr lang="en-GB" sz="1600" b="1" dirty="0">
                <a:solidFill>
                  <a:srgbClr val="0D3082"/>
                </a:solidFill>
                <a:latin typeface="Calibri" charset="0"/>
              </a:rPr>
              <a:t> </a:t>
            </a:r>
          </a:p>
          <a:p>
            <a:pPr>
              <a:defRPr/>
            </a:pPr>
            <a:r>
              <a:rPr lang="en-GB" b="1" dirty="0">
                <a:solidFill>
                  <a:srgbClr val="0D3082"/>
                </a:solidFill>
                <a:latin typeface="Calibri" charset="0"/>
              </a:rPr>
              <a:t>How ?</a:t>
            </a:r>
          </a:p>
          <a:p>
            <a:pPr lvl="1">
              <a:defRPr/>
            </a:pPr>
            <a:r>
              <a:rPr lang="en-GB" b="1" dirty="0">
                <a:solidFill>
                  <a:srgbClr val="0D3082"/>
                </a:solidFill>
                <a:latin typeface="Calibri" charset="0"/>
              </a:rPr>
              <a:t>A dialogue between </a:t>
            </a:r>
            <a:r>
              <a:rPr lang="en-GB" b="1" dirty="0" smtClean="0">
                <a:solidFill>
                  <a:srgbClr val="0D3082"/>
                </a:solidFill>
                <a:latin typeface="Calibri" charset="0"/>
              </a:rPr>
              <a:t>two </a:t>
            </a:r>
            <a:r>
              <a:rPr lang="en-GB" b="1" dirty="0">
                <a:solidFill>
                  <a:srgbClr val="0D3082"/>
                </a:solidFill>
                <a:latin typeface="Calibri" charset="0"/>
              </a:rPr>
              <a:t>existing infrastructures : </a:t>
            </a:r>
            <a:r>
              <a:rPr lang="en-GB" b="1" dirty="0" smtClean="0">
                <a:solidFill>
                  <a:srgbClr val="0D3082"/>
                </a:solidFill>
                <a:latin typeface="Calibri" charset="0"/>
              </a:rPr>
              <a:t/>
            </a:r>
            <a:br>
              <a:rPr lang="en-GB" b="1" dirty="0" smtClean="0">
                <a:solidFill>
                  <a:srgbClr val="0D3082"/>
                </a:solidFill>
                <a:latin typeface="Calibri" charset="0"/>
              </a:rPr>
            </a:br>
            <a:r>
              <a:rPr lang="en-GB" b="1" dirty="0" smtClean="0">
                <a:solidFill>
                  <a:srgbClr val="0D3082"/>
                </a:solidFill>
                <a:latin typeface="Calibri" charset="0"/>
              </a:rPr>
              <a:t>CESSDA </a:t>
            </a:r>
            <a:r>
              <a:rPr lang="en-GB" b="1" dirty="0">
                <a:solidFill>
                  <a:srgbClr val="0D3082"/>
                </a:solidFill>
                <a:latin typeface="Calibri" charset="0"/>
              </a:rPr>
              <a:t>(Data archives European network) and the </a:t>
            </a:r>
            <a:r>
              <a:rPr lang="en-GB" b="1" dirty="0" smtClean="0">
                <a:solidFill>
                  <a:srgbClr val="0D3082"/>
                </a:solidFill>
                <a:latin typeface="Calibri" charset="0"/>
              </a:rPr>
              <a:t/>
            </a:r>
            <a:br>
              <a:rPr lang="en-GB" b="1" dirty="0" smtClean="0">
                <a:solidFill>
                  <a:srgbClr val="0D3082"/>
                </a:solidFill>
                <a:latin typeface="Calibri" charset="0"/>
              </a:rPr>
            </a:br>
            <a:r>
              <a:rPr lang="en-GB" b="1" dirty="0" smtClean="0">
                <a:solidFill>
                  <a:srgbClr val="0D3082"/>
                </a:solidFill>
                <a:latin typeface="Calibri" charset="0"/>
              </a:rPr>
              <a:t>European </a:t>
            </a:r>
            <a:r>
              <a:rPr lang="en-GB" b="1" dirty="0">
                <a:solidFill>
                  <a:srgbClr val="0D3082"/>
                </a:solidFill>
                <a:latin typeface="Calibri" charset="0"/>
              </a:rPr>
              <a:t>Statistical System (ESS) </a:t>
            </a:r>
            <a:r>
              <a:rPr lang="en-GB" b="1" dirty="0" err="1">
                <a:solidFill>
                  <a:srgbClr val="0D3082"/>
                </a:solidFill>
                <a:latin typeface="Calibri" charset="0"/>
              </a:rPr>
              <a:t>ie</a:t>
            </a:r>
            <a:r>
              <a:rPr lang="en-GB" b="1" dirty="0">
                <a:solidFill>
                  <a:srgbClr val="0D3082"/>
                </a:solidFill>
                <a:latin typeface="Calibri" charset="0"/>
              </a:rPr>
              <a:t> NSIs, NSAs, Central Banks, Eurostat, ECB</a:t>
            </a:r>
          </a:p>
          <a:p>
            <a:pPr lvl="1">
              <a:defRPr/>
            </a:pPr>
            <a:r>
              <a:rPr lang="en-GB" sz="1600" b="1" dirty="0">
                <a:solidFill>
                  <a:srgbClr val="0D3082"/>
                </a:solidFill>
                <a:latin typeface="Calibri" charset="0"/>
              </a:rPr>
              <a:t>Building on </a:t>
            </a:r>
            <a:r>
              <a:rPr lang="en-GB" sz="1600" b="1" dirty="0" smtClean="0">
                <a:solidFill>
                  <a:srgbClr val="0D3082"/>
                </a:solidFill>
                <a:latin typeface="Calibri" charset="0"/>
              </a:rPr>
              <a:t>volunteering </a:t>
            </a:r>
            <a:r>
              <a:rPr lang="en-GB" sz="1600" b="1" dirty="0">
                <a:solidFill>
                  <a:srgbClr val="0D3082"/>
                </a:solidFill>
                <a:latin typeface="Calibri" charset="0"/>
              </a:rPr>
              <a:t>partners from the different </a:t>
            </a:r>
            <a:r>
              <a:rPr lang="en-GB" sz="1600" b="1" dirty="0" smtClean="0">
                <a:solidFill>
                  <a:srgbClr val="0D3082"/>
                </a:solidFill>
                <a:latin typeface="Calibri" charset="0"/>
              </a:rPr>
              <a:t>communities</a:t>
            </a:r>
            <a:endParaRPr lang="en-GB" sz="1600" b="1" dirty="0">
              <a:solidFill>
                <a:srgbClr val="0D3082"/>
              </a:solidFill>
              <a:latin typeface="Calibri" charset="0"/>
            </a:endParaRPr>
          </a:p>
          <a:p>
            <a:pPr lvl="1">
              <a:defRPr/>
            </a:pPr>
            <a:r>
              <a:rPr lang="en-GB" sz="1600" b="1" dirty="0">
                <a:solidFill>
                  <a:srgbClr val="0D3082"/>
                </a:solidFill>
                <a:latin typeface="Calibri" charset="0"/>
              </a:rPr>
              <a:t>Proposing standards and setting up pilots </a:t>
            </a:r>
          </a:p>
          <a:p>
            <a:pPr lvl="1">
              <a:defRPr/>
            </a:pPr>
            <a:r>
              <a:rPr lang="en-GB" sz="1600" b="1" dirty="0">
                <a:solidFill>
                  <a:srgbClr val="0D3082"/>
                </a:solidFill>
                <a:latin typeface="Calibri" charset="0"/>
              </a:rPr>
              <a:t>Enlarging the discussions and agreements to the whole communities</a:t>
            </a:r>
          </a:p>
          <a:p>
            <a:endParaRPr lang="en-US" dirty="0"/>
          </a:p>
        </p:txBody>
      </p:sp>
      <p:sp>
        <p:nvSpPr>
          <p:cNvPr id="4" name="Datumsplatzhalter 3"/>
          <p:cNvSpPr>
            <a:spLocks noGrp="1"/>
          </p:cNvSpPr>
          <p:nvPr>
            <p:ph type="dt" sz="half" idx="10"/>
          </p:nvPr>
        </p:nvSpPr>
        <p:spPr/>
        <p:txBody>
          <a:bodyPr/>
          <a:lstStyle/>
          <a:p>
            <a:r>
              <a:rPr lang="en-US" smtClean="0"/>
              <a:t>Data without Boundaries</a:t>
            </a:r>
            <a:endParaRPr lang="fr-FR" dirty="0"/>
          </a:p>
        </p:txBody>
      </p:sp>
      <p:sp>
        <p:nvSpPr>
          <p:cNvPr id="5" name="Fußzeilenplatzhalter 4"/>
          <p:cNvSpPr>
            <a:spLocks noGrp="1"/>
          </p:cNvSpPr>
          <p:nvPr>
            <p:ph type="ftr" sz="quarter" idx="11"/>
          </p:nvPr>
        </p:nvSpPr>
        <p:spPr/>
        <p:txBody>
          <a:bodyPr/>
          <a:lstStyle/>
          <a:p>
            <a:r>
              <a:rPr lang="fr-FR" smtClean="0"/>
              <a:t>EDDI 2012</a:t>
            </a:r>
            <a:endParaRPr lang="fr-FR"/>
          </a:p>
        </p:txBody>
      </p:sp>
      <p:sp>
        <p:nvSpPr>
          <p:cNvPr id="6" name="Foliennummernplatzhalter 5"/>
          <p:cNvSpPr>
            <a:spLocks noGrp="1"/>
          </p:cNvSpPr>
          <p:nvPr>
            <p:ph type="sldNum" sz="quarter" idx="12"/>
          </p:nvPr>
        </p:nvSpPr>
        <p:spPr/>
        <p:txBody>
          <a:bodyPr/>
          <a:lstStyle/>
          <a:p>
            <a:fld id="{D7011AC4-63CC-491F-81A5-4C9322BBD505}" type="slidenum">
              <a:rPr lang="fr-FR" smtClean="0"/>
              <a:pPr/>
              <a:t>2</a:t>
            </a:fld>
            <a:endParaRPr lang="fr-FR"/>
          </a:p>
        </p:txBody>
      </p:sp>
    </p:spTree>
    <p:extLst>
      <p:ext uri="{BB962C8B-B14F-4D97-AF65-F5344CB8AC3E}">
        <p14:creationId xmlns:p14="http://schemas.microsoft.com/office/powerpoint/2010/main" val="28441664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a:bodyPr>
          <a:lstStyle/>
          <a:p>
            <a:pPr algn="ctr"/>
            <a:r>
              <a:rPr lang="en-GB" dirty="0" smtClean="0">
                <a:latin typeface="Calibri" charset="0"/>
              </a:rPr>
              <a:t>Main issues</a:t>
            </a:r>
            <a:endParaRPr lang="en-US" dirty="0"/>
          </a:p>
        </p:txBody>
      </p:sp>
      <p:sp>
        <p:nvSpPr>
          <p:cNvPr id="3" name="Inhaltsplatzhalter 2"/>
          <p:cNvSpPr>
            <a:spLocks noGrp="1"/>
          </p:cNvSpPr>
          <p:nvPr>
            <p:ph idx="1"/>
          </p:nvPr>
        </p:nvSpPr>
        <p:spPr/>
        <p:txBody>
          <a:bodyPr/>
          <a:lstStyle/>
          <a:p>
            <a:pPr marL="457200" lvl="1" indent="0" algn="just">
              <a:spcBef>
                <a:spcPts val="1000"/>
              </a:spcBef>
              <a:buNone/>
              <a:defRPr/>
            </a:pPr>
            <a:r>
              <a:rPr lang="en-GB" b="1" i="1" dirty="0">
                <a:solidFill>
                  <a:srgbClr val="0D3082"/>
                </a:solidFill>
                <a:latin typeface="Calibri" charset="0"/>
              </a:rPr>
              <a:t>How to facilitate transnational access to official </a:t>
            </a:r>
            <a:r>
              <a:rPr lang="en-GB" b="1" i="1" dirty="0" err="1">
                <a:solidFill>
                  <a:srgbClr val="0D3082"/>
                </a:solidFill>
                <a:latin typeface="Calibri" charset="0"/>
              </a:rPr>
              <a:t>microdata</a:t>
            </a:r>
            <a:r>
              <a:rPr lang="en-GB" b="1" i="1" dirty="0">
                <a:solidFill>
                  <a:srgbClr val="0D3082"/>
                </a:solidFill>
                <a:latin typeface="Calibri" charset="0"/>
              </a:rPr>
              <a:t> (SUF and confidential) </a:t>
            </a:r>
          </a:p>
          <a:p>
            <a:pPr lvl="1" algn="just">
              <a:spcBef>
                <a:spcPts val="1000"/>
              </a:spcBef>
              <a:buFont typeface="Arial" charset="0"/>
              <a:buChar char="•"/>
              <a:defRPr/>
            </a:pPr>
            <a:r>
              <a:rPr lang="en-GB" b="1" dirty="0">
                <a:solidFill>
                  <a:srgbClr val="0D3082"/>
                </a:solidFill>
                <a:latin typeface="Calibri" charset="0"/>
              </a:rPr>
              <a:t>Legal issues </a:t>
            </a:r>
          </a:p>
          <a:p>
            <a:pPr lvl="1" algn="just">
              <a:spcBef>
                <a:spcPts val="1000"/>
              </a:spcBef>
              <a:buFont typeface="Arial" charset="0"/>
              <a:buChar char="•"/>
              <a:defRPr/>
            </a:pPr>
            <a:r>
              <a:rPr lang="en-GB" b="1" dirty="0">
                <a:solidFill>
                  <a:srgbClr val="0D3082"/>
                </a:solidFill>
                <a:latin typeface="Calibri" charset="0"/>
              </a:rPr>
              <a:t>Accreditation issues (multiple accreditation) </a:t>
            </a:r>
          </a:p>
          <a:p>
            <a:pPr lvl="1" algn="just">
              <a:spcBef>
                <a:spcPts val="1000"/>
              </a:spcBef>
              <a:buFont typeface="Arial" charset="0"/>
              <a:buChar char="•"/>
              <a:defRPr/>
            </a:pPr>
            <a:r>
              <a:rPr lang="en-GB" b="1" dirty="0">
                <a:solidFill>
                  <a:srgbClr val="0D3082"/>
                </a:solidFill>
                <a:latin typeface="Calibri" charset="0"/>
              </a:rPr>
              <a:t>Technical and methodological issues (European remote access network)</a:t>
            </a:r>
          </a:p>
          <a:p>
            <a:pPr lvl="1" algn="just">
              <a:spcBef>
                <a:spcPts val="1000"/>
              </a:spcBef>
              <a:buFont typeface="Arial" charset="0"/>
              <a:buChar char="•"/>
              <a:defRPr/>
            </a:pPr>
            <a:r>
              <a:rPr lang="en-GB" b="1" dirty="0" smtClean="0">
                <a:solidFill>
                  <a:srgbClr val="FF0000"/>
                </a:solidFill>
                <a:latin typeface="Calibri" charset="0"/>
              </a:rPr>
              <a:t>But we need…</a:t>
            </a:r>
            <a:endParaRPr lang="en-GB" b="1" dirty="0">
              <a:solidFill>
                <a:srgbClr val="FF0000"/>
              </a:solidFill>
              <a:latin typeface="Calibri" charset="0"/>
            </a:endParaRPr>
          </a:p>
          <a:p>
            <a:pPr marL="914400" lvl="2" indent="0" algn="just">
              <a:spcBef>
                <a:spcPts val="1000"/>
              </a:spcBef>
              <a:buNone/>
              <a:defRPr/>
            </a:pPr>
            <a:r>
              <a:rPr lang="en-GB" b="1" dirty="0">
                <a:solidFill>
                  <a:srgbClr val="FF0000"/>
                </a:solidFill>
                <a:latin typeface="Calibri" charset="0"/>
              </a:rPr>
              <a:t>Front office</a:t>
            </a:r>
          </a:p>
          <a:p>
            <a:pPr lvl="2" algn="just">
              <a:buFont typeface="Wingdings" charset="0"/>
              <a:buChar char="Ø"/>
              <a:defRPr/>
            </a:pPr>
            <a:r>
              <a:rPr lang="en-GB" sz="1600" b="1" dirty="0">
                <a:solidFill>
                  <a:srgbClr val="0D3082"/>
                </a:solidFill>
                <a:latin typeface="Calibri" charset="0"/>
              </a:rPr>
              <a:t>Build a central point of access where the researchers can discover what data are </a:t>
            </a:r>
            <a:r>
              <a:rPr lang="en-GB" sz="1600" b="1" dirty="0" smtClean="0">
                <a:solidFill>
                  <a:srgbClr val="0D3082"/>
                </a:solidFill>
                <a:latin typeface="Calibri" charset="0"/>
              </a:rPr>
              <a:t>available and offer user-friendly </a:t>
            </a:r>
            <a:r>
              <a:rPr lang="en-GB" sz="1600" b="1" dirty="0">
                <a:solidFill>
                  <a:srgbClr val="0D3082"/>
                </a:solidFill>
                <a:latin typeface="Calibri" charset="0"/>
              </a:rPr>
              <a:t>metadata </a:t>
            </a:r>
            <a:endParaRPr lang="en-GB" sz="1600" b="1" dirty="0" smtClean="0">
              <a:solidFill>
                <a:srgbClr val="0D3082"/>
              </a:solidFill>
              <a:latin typeface="Calibri" charset="0"/>
            </a:endParaRPr>
          </a:p>
          <a:p>
            <a:pPr lvl="2" algn="just">
              <a:buFont typeface="Wingdings" charset="0"/>
              <a:buChar char="Ø"/>
              <a:defRPr/>
            </a:pPr>
            <a:r>
              <a:rPr lang="en-GB" sz="1600" b="1" dirty="0" smtClean="0">
                <a:solidFill>
                  <a:srgbClr val="0D3082"/>
                </a:solidFill>
                <a:latin typeface="Calibri" charset="0"/>
              </a:rPr>
              <a:t>Avoiding </a:t>
            </a:r>
            <a:r>
              <a:rPr lang="en-GB" sz="1600" b="1" dirty="0">
                <a:solidFill>
                  <a:srgbClr val="0D3082"/>
                </a:solidFill>
                <a:latin typeface="Calibri" charset="0"/>
              </a:rPr>
              <a:t>creating silos </a:t>
            </a:r>
          </a:p>
          <a:p>
            <a:pPr lvl="3" algn="just">
              <a:buFont typeface="Wingdings" charset="0"/>
              <a:buChar char="Ø"/>
              <a:defRPr/>
            </a:pPr>
            <a:r>
              <a:rPr lang="en-GB" sz="1600" b="1" dirty="0" smtClean="0">
                <a:solidFill>
                  <a:srgbClr val="0D3082"/>
                </a:solidFill>
                <a:latin typeface="Calibri" charset="0"/>
              </a:rPr>
              <a:t>linking </a:t>
            </a:r>
            <a:r>
              <a:rPr lang="en-GB" sz="1600" b="1" dirty="0">
                <a:solidFill>
                  <a:srgbClr val="0D3082"/>
                </a:solidFill>
                <a:latin typeface="Calibri" charset="0"/>
              </a:rPr>
              <a:t>the ESS and the CESSDA portal </a:t>
            </a:r>
          </a:p>
          <a:p>
            <a:endParaRPr lang="en-US" dirty="0"/>
          </a:p>
        </p:txBody>
      </p:sp>
      <p:sp>
        <p:nvSpPr>
          <p:cNvPr id="4" name="Datumsplatzhalter 3"/>
          <p:cNvSpPr>
            <a:spLocks noGrp="1"/>
          </p:cNvSpPr>
          <p:nvPr>
            <p:ph type="dt" sz="half" idx="10"/>
          </p:nvPr>
        </p:nvSpPr>
        <p:spPr/>
        <p:txBody>
          <a:bodyPr/>
          <a:lstStyle/>
          <a:p>
            <a:r>
              <a:rPr lang="en-US" smtClean="0"/>
              <a:t>Data without Boundaries</a:t>
            </a:r>
            <a:endParaRPr lang="fr-FR" dirty="0"/>
          </a:p>
        </p:txBody>
      </p:sp>
      <p:sp>
        <p:nvSpPr>
          <p:cNvPr id="5" name="Fußzeilenplatzhalter 4"/>
          <p:cNvSpPr>
            <a:spLocks noGrp="1"/>
          </p:cNvSpPr>
          <p:nvPr>
            <p:ph type="ftr" sz="quarter" idx="11"/>
          </p:nvPr>
        </p:nvSpPr>
        <p:spPr/>
        <p:txBody>
          <a:bodyPr/>
          <a:lstStyle/>
          <a:p>
            <a:r>
              <a:rPr lang="fr-FR" smtClean="0"/>
              <a:t>EDDI 2012</a:t>
            </a:r>
            <a:endParaRPr lang="fr-FR"/>
          </a:p>
        </p:txBody>
      </p:sp>
      <p:sp>
        <p:nvSpPr>
          <p:cNvPr id="6" name="Foliennummernplatzhalter 5"/>
          <p:cNvSpPr>
            <a:spLocks noGrp="1"/>
          </p:cNvSpPr>
          <p:nvPr>
            <p:ph type="sldNum" sz="quarter" idx="12"/>
          </p:nvPr>
        </p:nvSpPr>
        <p:spPr/>
        <p:txBody>
          <a:bodyPr/>
          <a:lstStyle/>
          <a:p>
            <a:fld id="{D7011AC4-63CC-491F-81A5-4C9322BBD505}" type="slidenum">
              <a:rPr lang="fr-FR" smtClean="0"/>
              <a:pPr/>
              <a:t>3</a:t>
            </a:fld>
            <a:endParaRPr lang="fr-FR"/>
          </a:p>
        </p:txBody>
      </p:sp>
    </p:spTree>
    <p:extLst>
      <p:ext uri="{BB962C8B-B14F-4D97-AF65-F5344CB8AC3E}">
        <p14:creationId xmlns:p14="http://schemas.microsoft.com/office/powerpoint/2010/main" val="1738980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en-GB" dirty="0" smtClean="0">
                <a:latin typeface="Calibri" charset="0"/>
              </a:rPr>
              <a:t>Metadata </a:t>
            </a:r>
            <a:r>
              <a:rPr lang="en-GB" dirty="0">
                <a:latin typeface="Calibri" charset="0"/>
              </a:rPr>
              <a:t>issues </a:t>
            </a:r>
            <a:endParaRPr lang="fr-FR" dirty="0"/>
          </a:p>
        </p:txBody>
      </p:sp>
      <p:sp>
        <p:nvSpPr>
          <p:cNvPr id="3" name="Espace réservé du contenu 2"/>
          <p:cNvSpPr>
            <a:spLocks noGrp="1"/>
          </p:cNvSpPr>
          <p:nvPr>
            <p:ph idx="1"/>
          </p:nvPr>
        </p:nvSpPr>
        <p:spPr>
          <a:xfrm>
            <a:off x="457200" y="1484784"/>
            <a:ext cx="8229600" cy="4464496"/>
          </a:xfrm>
        </p:spPr>
        <p:txBody>
          <a:bodyPr>
            <a:normAutofit lnSpcReduction="10000"/>
          </a:bodyPr>
          <a:lstStyle/>
          <a:p>
            <a:pPr>
              <a:defRPr/>
            </a:pPr>
            <a:r>
              <a:rPr lang="en-GB" b="1" dirty="0" smtClean="0">
                <a:solidFill>
                  <a:srgbClr val="0D3082"/>
                </a:solidFill>
              </a:rPr>
              <a:t>In a fragmented landscape for official </a:t>
            </a:r>
            <a:r>
              <a:rPr lang="en-GB" b="1" dirty="0" err="1" smtClean="0">
                <a:solidFill>
                  <a:srgbClr val="0D3082"/>
                </a:solidFill>
              </a:rPr>
              <a:t>microdata</a:t>
            </a:r>
            <a:r>
              <a:rPr lang="en-GB" b="1" dirty="0" smtClean="0">
                <a:solidFill>
                  <a:srgbClr val="0D3082"/>
                </a:solidFill>
              </a:rPr>
              <a:t> </a:t>
            </a:r>
          </a:p>
          <a:p>
            <a:pPr lvl="1">
              <a:defRPr/>
            </a:pPr>
            <a:r>
              <a:rPr lang="en-GB" b="1" dirty="0" smtClean="0">
                <a:solidFill>
                  <a:srgbClr val="0D3082"/>
                </a:solidFill>
              </a:rPr>
              <a:t>NSIs, NSAs, Eurostat ….  </a:t>
            </a:r>
            <a:r>
              <a:rPr lang="en-GB" b="1" dirty="0" smtClean="0">
                <a:solidFill>
                  <a:srgbClr val="0D3082"/>
                </a:solidFill>
              </a:rPr>
              <a:t>and CESSDA </a:t>
            </a:r>
            <a:r>
              <a:rPr lang="en-GB" b="1" dirty="0" smtClean="0">
                <a:solidFill>
                  <a:srgbClr val="0D3082"/>
                </a:solidFill>
              </a:rPr>
              <a:t>partners</a:t>
            </a:r>
          </a:p>
          <a:p>
            <a:pPr lvl="1">
              <a:defRPr/>
            </a:pPr>
            <a:r>
              <a:rPr lang="en-GB" b="1" dirty="0">
                <a:solidFill>
                  <a:srgbClr val="0D3082"/>
                </a:solidFill>
              </a:rPr>
              <a:t>A</a:t>
            </a:r>
            <a:r>
              <a:rPr lang="en-GB" b="1" dirty="0" smtClean="0">
                <a:solidFill>
                  <a:srgbClr val="0D3082"/>
                </a:solidFill>
              </a:rPr>
              <a:t> lot of information not available, not structured </a:t>
            </a:r>
          </a:p>
          <a:p>
            <a:pPr lvl="1">
              <a:defRPr/>
            </a:pPr>
            <a:r>
              <a:rPr lang="en-GB" b="1" dirty="0" smtClean="0">
                <a:solidFill>
                  <a:srgbClr val="0D3082"/>
                </a:solidFill>
              </a:rPr>
              <a:t>Different metadata standards </a:t>
            </a:r>
          </a:p>
          <a:p>
            <a:pPr>
              <a:defRPr/>
            </a:pPr>
            <a:r>
              <a:rPr lang="en-GB" b="1" dirty="0" smtClean="0">
                <a:solidFill>
                  <a:srgbClr val="0D3082"/>
                </a:solidFill>
              </a:rPr>
              <a:t>Objectives</a:t>
            </a:r>
          </a:p>
          <a:p>
            <a:pPr lvl="1">
              <a:defRPr/>
            </a:pPr>
            <a:r>
              <a:rPr lang="en-GB" b="1" dirty="0" smtClean="0">
                <a:solidFill>
                  <a:srgbClr val="0D3082"/>
                </a:solidFill>
              </a:rPr>
              <a:t>Provide an overview of metadata standards usage and current projects in NSIs and Data Archives in Europe </a:t>
            </a:r>
          </a:p>
          <a:p>
            <a:pPr lvl="1">
              <a:defRPr/>
            </a:pPr>
            <a:r>
              <a:rPr lang="en-GB" b="1" dirty="0" smtClean="0">
                <a:solidFill>
                  <a:srgbClr val="0D3082"/>
                </a:solidFill>
              </a:rPr>
              <a:t>Participate and contribute to the SDMX/DDI dialogue</a:t>
            </a:r>
          </a:p>
          <a:p>
            <a:pPr lvl="1">
              <a:defRPr/>
            </a:pPr>
            <a:r>
              <a:rPr lang="en-GB" b="1" dirty="0" smtClean="0">
                <a:solidFill>
                  <a:srgbClr val="0D3082"/>
                </a:solidFill>
              </a:rPr>
              <a:t>Contribute to a </a:t>
            </a:r>
            <a:r>
              <a:rPr lang="en-GB" b="1" dirty="0" smtClean="0">
                <a:solidFill>
                  <a:srgbClr val="0D3082"/>
                </a:solidFill>
              </a:rPr>
              <a:t>consistent mapping between SDMX and DDI </a:t>
            </a:r>
            <a:endParaRPr lang="en-GB" b="1" dirty="0" smtClean="0">
              <a:solidFill>
                <a:srgbClr val="0D3082"/>
              </a:solidFill>
            </a:endParaRPr>
          </a:p>
          <a:p>
            <a:pPr lvl="1">
              <a:defRPr/>
            </a:pPr>
            <a:r>
              <a:rPr lang="en-GB" b="1" dirty="0" smtClean="0">
                <a:solidFill>
                  <a:srgbClr val="0D3082"/>
                </a:solidFill>
              </a:rPr>
              <a:t>Draft a </a:t>
            </a:r>
            <a:r>
              <a:rPr lang="en-GB" b="1" dirty="0" smtClean="0">
                <a:solidFill>
                  <a:srgbClr val="0D3082"/>
                </a:solidFill>
              </a:rPr>
              <a:t>metadata model that could be used for harvesting NSIs metadata</a:t>
            </a:r>
          </a:p>
          <a:p>
            <a:pPr lvl="1">
              <a:defRPr/>
            </a:pPr>
            <a:r>
              <a:rPr lang="en-GB" b="1" dirty="0" smtClean="0">
                <a:solidFill>
                  <a:srgbClr val="0D3082"/>
                </a:solidFill>
              </a:rPr>
              <a:t>Collect </a:t>
            </a:r>
            <a:r>
              <a:rPr lang="en-GB" b="1" dirty="0" smtClean="0">
                <a:solidFill>
                  <a:srgbClr val="0D3082"/>
                </a:solidFill>
              </a:rPr>
              <a:t>and structure information about available national and European microdata </a:t>
            </a:r>
            <a:r>
              <a:rPr lang="en-GB" b="1" dirty="0" smtClean="0">
                <a:solidFill>
                  <a:srgbClr val="0D3082"/>
                </a:solidFill>
              </a:rPr>
              <a:t>in a way compatible </a:t>
            </a:r>
            <a:r>
              <a:rPr lang="en-GB" b="1" dirty="0" smtClean="0">
                <a:solidFill>
                  <a:srgbClr val="0D3082"/>
                </a:solidFill>
              </a:rPr>
              <a:t>with the proposed metadata </a:t>
            </a:r>
            <a:r>
              <a:rPr lang="en-GB" b="1" dirty="0" smtClean="0">
                <a:solidFill>
                  <a:srgbClr val="0D3082"/>
                </a:solidFill>
              </a:rPr>
              <a:t>model</a:t>
            </a:r>
          </a:p>
          <a:p>
            <a:pPr marL="457200" lvl="1" indent="0">
              <a:buNone/>
              <a:defRPr/>
            </a:pPr>
            <a:endParaRPr lang="en-GB" b="1" dirty="0">
              <a:solidFill>
                <a:srgbClr val="0D3082"/>
              </a:solidFill>
            </a:endParaRPr>
          </a:p>
          <a:p>
            <a:pPr marL="457200" lvl="1" indent="0">
              <a:buNone/>
              <a:defRPr/>
            </a:pPr>
            <a:r>
              <a:rPr lang="en-GB" b="1" dirty="0" smtClean="0">
                <a:solidFill>
                  <a:srgbClr val="0D3082"/>
                </a:solidFill>
              </a:rPr>
              <a:t>All this will feed into a </a:t>
            </a:r>
            <a:r>
              <a:rPr lang="en-GB" b="1" dirty="0">
                <a:solidFill>
                  <a:srgbClr val="0D3082"/>
                </a:solidFill>
              </a:rPr>
              <a:t>European Service Centre for OS to be linked to the CESSDA </a:t>
            </a:r>
            <a:r>
              <a:rPr lang="en-GB" b="1" dirty="0" smtClean="0">
                <a:solidFill>
                  <a:srgbClr val="0D3082"/>
                </a:solidFill>
              </a:rPr>
              <a:t>portal</a:t>
            </a:r>
            <a:r>
              <a:rPr lang="en-GB" b="1" dirty="0" smtClean="0">
                <a:solidFill>
                  <a:srgbClr val="0A71B3"/>
                </a:solidFill>
              </a:rPr>
              <a:t> </a:t>
            </a:r>
            <a:endParaRPr lang="en-GB" b="1" dirty="0">
              <a:solidFill>
                <a:srgbClr val="0A71B3"/>
              </a:solidFill>
            </a:endParaRPr>
          </a:p>
          <a:p>
            <a:pPr>
              <a:defRPr/>
            </a:pPr>
            <a:endParaRPr lang="en-GB" b="1" dirty="0">
              <a:solidFill>
                <a:srgbClr val="0A71B3"/>
              </a:solidFill>
            </a:endParaRPr>
          </a:p>
          <a:p>
            <a:endParaRPr lang="fr-FR" dirty="0"/>
          </a:p>
        </p:txBody>
      </p:sp>
      <p:sp>
        <p:nvSpPr>
          <p:cNvPr id="4" name="Espace réservé de la date 3"/>
          <p:cNvSpPr>
            <a:spLocks noGrp="1"/>
          </p:cNvSpPr>
          <p:nvPr>
            <p:ph type="dt" sz="half" idx="10"/>
          </p:nvPr>
        </p:nvSpPr>
        <p:spPr/>
        <p:txBody>
          <a:bodyPr/>
          <a:lstStyle/>
          <a:p>
            <a:r>
              <a:rPr lang="en-US" smtClean="0"/>
              <a:t>Data without Boundaries</a:t>
            </a:r>
            <a:endParaRPr lang="fr-FR" dirty="0"/>
          </a:p>
        </p:txBody>
      </p:sp>
      <p:sp>
        <p:nvSpPr>
          <p:cNvPr id="5" name="Espace réservé du pied de page 4"/>
          <p:cNvSpPr>
            <a:spLocks noGrp="1"/>
          </p:cNvSpPr>
          <p:nvPr>
            <p:ph type="ftr" sz="quarter" idx="11"/>
          </p:nvPr>
        </p:nvSpPr>
        <p:spPr/>
        <p:txBody>
          <a:bodyPr/>
          <a:lstStyle/>
          <a:p>
            <a:r>
              <a:rPr lang="fr-FR" smtClean="0"/>
              <a:t>EDDI 2012</a:t>
            </a:r>
            <a:endParaRPr lang="fr-FR"/>
          </a:p>
        </p:txBody>
      </p:sp>
      <p:sp>
        <p:nvSpPr>
          <p:cNvPr id="6" name="Espace réservé du numéro de diapositive 5"/>
          <p:cNvSpPr>
            <a:spLocks noGrp="1"/>
          </p:cNvSpPr>
          <p:nvPr>
            <p:ph type="sldNum" sz="quarter" idx="12"/>
          </p:nvPr>
        </p:nvSpPr>
        <p:spPr/>
        <p:txBody>
          <a:bodyPr/>
          <a:lstStyle/>
          <a:p>
            <a:fld id="{D7011AC4-63CC-491F-81A5-4C9322BBD505}" type="slidenum">
              <a:rPr lang="fr-FR" smtClean="0"/>
              <a:pPr/>
              <a:t>4</a:t>
            </a:fld>
            <a:endParaRPr lang="fr-FR"/>
          </a:p>
        </p:txBody>
      </p:sp>
    </p:spTree>
    <p:extLst>
      <p:ext uri="{BB962C8B-B14F-4D97-AF65-F5344CB8AC3E}">
        <p14:creationId xmlns:p14="http://schemas.microsoft.com/office/powerpoint/2010/main" val="13334305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smtClean="0"/>
              <a:t>European Service </a:t>
            </a:r>
            <a:r>
              <a:rPr lang="de-DE" dirty="0" err="1" smtClean="0"/>
              <a:t>Centre</a:t>
            </a:r>
            <a:r>
              <a:rPr lang="de-DE" dirty="0" smtClean="0"/>
              <a:t> </a:t>
            </a:r>
            <a:r>
              <a:rPr lang="de-DE" dirty="0" err="1" smtClean="0"/>
              <a:t>for</a:t>
            </a:r>
            <a:r>
              <a:rPr lang="de-DE" dirty="0" smtClean="0"/>
              <a:t> OS </a:t>
            </a:r>
            <a:r>
              <a:rPr lang="de-DE" dirty="0" err="1" smtClean="0"/>
              <a:t>data</a:t>
            </a:r>
            <a:endParaRPr lang="en-US" dirty="0"/>
          </a:p>
        </p:txBody>
      </p:sp>
      <p:sp>
        <p:nvSpPr>
          <p:cNvPr id="3" name="Inhaltsplatzhalter 2"/>
          <p:cNvSpPr>
            <a:spLocks noGrp="1"/>
          </p:cNvSpPr>
          <p:nvPr>
            <p:ph idx="1"/>
          </p:nvPr>
        </p:nvSpPr>
        <p:spPr/>
        <p:txBody>
          <a:bodyPr>
            <a:noAutofit/>
          </a:bodyPr>
          <a:lstStyle/>
          <a:p>
            <a:r>
              <a:rPr lang="en-US" sz="2200" b="1" dirty="0" smtClean="0">
                <a:solidFill>
                  <a:srgbClr val="0D3082"/>
                </a:solidFill>
              </a:rPr>
              <a:t>Offer overview of existing official statistics microdata in Europe available for research, including information on access conditions and contact points</a:t>
            </a:r>
          </a:p>
          <a:p>
            <a:r>
              <a:rPr lang="en-US" sz="2200" b="1" dirty="0" smtClean="0">
                <a:solidFill>
                  <a:srgbClr val="0D3082"/>
                </a:solidFill>
              </a:rPr>
              <a:t>Offer detailed metadata for integrated European microdata from official statistics, i.e. data prepared by Eurostat and European census data from IECM (Barcelona)</a:t>
            </a:r>
          </a:p>
          <a:p>
            <a:r>
              <a:rPr lang="en-US" sz="2200" b="1" dirty="0" smtClean="0">
                <a:solidFill>
                  <a:srgbClr val="0D3082"/>
                </a:solidFill>
              </a:rPr>
              <a:t>Offer routines to work with these data</a:t>
            </a:r>
          </a:p>
          <a:p>
            <a:r>
              <a:rPr lang="en-US" sz="2200" b="1" dirty="0" smtClean="0">
                <a:solidFill>
                  <a:srgbClr val="0D3082"/>
                </a:solidFill>
              </a:rPr>
              <a:t>Offer training for official statistics microdata</a:t>
            </a:r>
          </a:p>
          <a:p>
            <a:r>
              <a:rPr lang="en-US" sz="2200" b="1" dirty="0" smtClean="0">
                <a:solidFill>
                  <a:srgbClr val="0D3082"/>
                </a:solidFill>
              </a:rPr>
              <a:t>Provide platform for discussion and exchange</a:t>
            </a:r>
          </a:p>
          <a:p>
            <a:r>
              <a:rPr lang="en-US" sz="2200" b="1" dirty="0" smtClean="0">
                <a:solidFill>
                  <a:srgbClr val="0D3082"/>
                </a:solidFill>
              </a:rPr>
              <a:t>Organize exchange between data producers, i.e. NSIs, service providers, e.g. data archives,  and research community</a:t>
            </a:r>
            <a:endParaRPr lang="en-US" sz="2200" b="1" dirty="0">
              <a:solidFill>
                <a:srgbClr val="0D3082"/>
              </a:solidFill>
            </a:endParaRPr>
          </a:p>
        </p:txBody>
      </p:sp>
      <p:sp>
        <p:nvSpPr>
          <p:cNvPr id="4" name="Datumsplatzhalter 3"/>
          <p:cNvSpPr>
            <a:spLocks noGrp="1"/>
          </p:cNvSpPr>
          <p:nvPr>
            <p:ph type="dt" sz="half" idx="10"/>
          </p:nvPr>
        </p:nvSpPr>
        <p:spPr/>
        <p:txBody>
          <a:bodyPr/>
          <a:lstStyle/>
          <a:p>
            <a:r>
              <a:rPr lang="en-US" smtClean="0"/>
              <a:t>Data without Boundaries</a:t>
            </a:r>
            <a:endParaRPr lang="fr-FR" dirty="0"/>
          </a:p>
        </p:txBody>
      </p:sp>
      <p:sp>
        <p:nvSpPr>
          <p:cNvPr id="5" name="Fußzeilenplatzhalter 4"/>
          <p:cNvSpPr>
            <a:spLocks noGrp="1"/>
          </p:cNvSpPr>
          <p:nvPr>
            <p:ph type="ftr" sz="quarter" idx="11"/>
          </p:nvPr>
        </p:nvSpPr>
        <p:spPr/>
        <p:txBody>
          <a:bodyPr/>
          <a:lstStyle/>
          <a:p>
            <a:r>
              <a:rPr lang="fr-FR" smtClean="0"/>
              <a:t>EDDI 2012</a:t>
            </a:r>
            <a:endParaRPr lang="fr-FR"/>
          </a:p>
        </p:txBody>
      </p:sp>
      <p:sp>
        <p:nvSpPr>
          <p:cNvPr id="6" name="Foliennummernplatzhalter 5"/>
          <p:cNvSpPr>
            <a:spLocks noGrp="1"/>
          </p:cNvSpPr>
          <p:nvPr>
            <p:ph type="sldNum" sz="quarter" idx="12"/>
          </p:nvPr>
        </p:nvSpPr>
        <p:spPr/>
        <p:txBody>
          <a:bodyPr/>
          <a:lstStyle/>
          <a:p>
            <a:fld id="{D7011AC4-63CC-491F-81A5-4C9322BBD505}" type="slidenum">
              <a:rPr lang="fr-FR" smtClean="0"/>
              <a:pPr/>
              <a:t>5</a:t>
            </a:fld>
            <a:endParaRPr lang="fr-FR"/>
          </a:p>
        </p:txBody>
      </p:sp>
    </p:spTree>
    <p:extLst>
      <p:ext uri="{BB962C8B-B14F-4D97-AF65-F5344CB8AC3E}">
        <p14:creationId xmlns:p14="http://schemas.microsoft.com/office/powerpoint/2010/main" val="30548656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r>
              <a:rPr lang="en-US" noProof="0" smtClean="0"/>
              <a:t>Data without Boundaries</a:t>
            </a:r>
            <a:endParaRPr lang="en-US" noProof="0"/>
          </a:p>
        </p:txBody>
      </p:sp>
      <p:sp>
        <p:nvSpPr>
          <p:cNvPr id="5" name="Fußzeilenplatzhalter 4"/>
          <p:cNvSpPr>
            <a:spLocks noGrp="1"/>
          </p:cNvSpPr>
          <p:nvPr>
            <p:ph type="ftr" sz="quarter" idx="11"/>
          </p:nvPr>
        </p:nvSpPr>
        <p:spPr/>
        <p:txBody>
          <a:bodyPr/>
          <a:lstStyle/>
          <a:p>
            <a:r>
              <a:rPr lang="en-US" noProof="0" smtClean="0"/>
              <a:t>EDDI 2012</a:t>
            </a:r>
            <a:endParaRPr lang="en-US" noProof="0"/>
          </a:p>
        </p:txBody>
      </p:sp>
      <p:sp>
        <p:nvSpPr>
          <p:cNvPr id="6" name="Foliennummernplatzhalter 5"/>
          <p:cNvSpPr>
            <a:spLocks noGrp="1"/>
          </p:cNvSpPr>
          <p:nvPr>
            <p:ph type="sldNum" sz="quarter" idx="12"/>
          </p:nvPr>
        </p:nvSpPr>
        <p:spPr/>
        <p:txBody>
          <a:bodyPr/>
          <a:lstStyle/>
          <a:p>
            <a:fld id="{407C1131-679B-4DD1-802F-23CB41FA8BDC}" type="slidenum">
              <a:rPr lang="en-US" noProof="0" smtClean="0"/>
              <a:pPr/>
              <a:t>6</a:t>
            </a:fld>
            <a:endParaRPr lang="en-US" noProof="0"/>
          </a:p>
        </p:txBody>
      </p:sp>
      <p:pic>
        <p:nvPicPr>
          <p:cNvPr id="7" name="Picture 2"/>
          <p:cNvPicPr>
            <a:picLocks noGrp="1" noChangeAspect="1" noChangeArrowheads="1"/>
          </p:cNvPicPr>
          <p:nvPr>
            <p:ph idx="1"/>
          </p:nvPr>
        </p:nvPicPr>
        <p:blipFill rotWithShape="1">
          <a:blip r:embed="rId2" cstate="print"/>
          <a:srcRect t="16146" r="10179"/>
          <a:stretch/>
        </p:blipFill>
        <p:spPr bwMode="auto">
          <a:xfrm>
            <a:off x="659354" y="1750318"/>
            <a:ext cx="7729070" cy="3622898"/>
          </a:xfrm>
          <a:prstGeom prst="rect">
            <a:avLst/>
          </a:prstGeom>
          <a:noFill/>
          <a:ln w="9525">
            <a:noFill/>
            <a:miter lim="800000"/>
            <a:headEnd/>
            <a:tailEnd/>
          </a:ln>
        </p:spPr>
      </p:pic>
      <p:sp>
        <p:nvSpPr>
          <p:cNvPr id="8" name="Titel 1"/>
          <p:cNvSpPr txBox="1">
            <a:spLocks/>
          </p:cNvSpPr>
          <p:nvPr/>
        </p:nvSpPr>
        <p:spPr>
          <a:xfrm>
            <a:off x="457200" y="620688"/>
            <a:ext cx="8507288" cy="796950"/>
          </a:xfrm>
          <a:prstGeom prst="rect">
            <a:avLst/>
          </a:prstGeom>
        </p:spPr>
        <p:txBody>
          <a:bodyPr vert="horz" lIns="91440" tIns="45720" rIns="91440" bIns="45720" rtlCol="0" anchor="ctr">
            <a:noAutofit/>
          </a:bodyPr>
          <a:lstStyle>
            <a:lvl1pPr algn="l" defTabSz="914400" rtl="0" eaLnBrk="1" latinLnBrk="0" hangingPunct="1">
              <a:spcBef>
                <a:spcPct val="0"/>
              </a:spcBef>
              <a:buNone/>
              <a:defRPr sz="3600" b="1" kern="1200">
                <a:solidFill>
                  <a:srgbClr val="0D3082"/>
                </a:solidFill>
                <a:latin typeface="+mj-lt"/>
                <a:ea typeface="+mj-ea"/>
                <a:cs typeface="+mj-cs"/>
              </a:defRPr>
            </a:lvl1pPr>
          </a:lstStyle>
          <a:p>
            <a:r>
              <a:rPr lang="en-US" sz="2800" dirty="0" smtClean="0"/>
              <a:t>Structure of European Service Centre Web Service</a:t>
            </a:r>
            <a:endParaRPr lang="en-GB" sz="2800" dirty="0"/>
          </a:p>
        </p:txBody>
      </p:sp>
    </p:spTree>
    <p:extLst>
      <p:ext uri="{BB962C8B-B14F-4D97-AF65-F5344CB8AC3E}">
        <p14:creationId xmlns:p14="http://schemas.microsoft.com/office/powerpoint/2010/main" val="52002375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err="1" smtClean="0"/>
              <a:t>Presentations</a:t>
            </a:r>
            <a:endParaRPr lang="en-US" dirty="0"/>
          </a:p>
        </p:txBody>
      </p:sp>
      <p:sp>
        <p:nvSpPr>
          <p:cNvPr id="3" name="Inhaltsplatzhalter 2"/>
          <p:cNvSpPr>
            <a:spLocks noGrp="1"/>
          </p:cNvSpPr>
          <p:nvPr>
            <p:ph idx="1"/>
          </p:nvPr>
        </p:nvSpPr>
        <p:spPr/>
        <p:txBody>
          <a:bodyPr>
            <a:noAutofit/>
          </a:bodyPr>
          <a:lstStyle/>
          <a:p>
            <a:r>
              <a:rPr lang="en-US" sz="2000" b="1" dirty="0" err="1" smtClean="0">
                <a:solidFill>
                  <a:srgbClr val="0D3082"/>
                </a:solidFill>
              </a:rPr>
              <a:t>Arofan</a:t>
            </a:r>
            <a:r>
              <a:rPr lang="en-US" sz="2000" b="1" dirty="0" smtClean="0">
                <a:solidFill>
                  <a:srgbClr val="0D3082"/>
                </a:solidFill>
              </a:rPr>
              <a:t> Gregory &amp; Marion Wittenberg: Resource Discovery for Official Statistics</a:t>
            </a:r>
            <a:br>
              <a:rPr lang="en-US" sz="2000" b="1" dirty="0" smtClean="0">
                <a:solidFill>
                  <a:srgbClr val="0D3082"/>
                </a:solidFill>
              </a:rPr>
            </a:br>
            <a:r>
              <a:rPr lang="en-US" sz="800" b="1" dirty="0" smtClean="0">
                <a:solidFill>
                  <a:srgbClr val="0D3082"/>
                </a:solidFill>
              </a:rPr>
              <a:t/>
            </a:r>
            <a:br>
              <a:rPr lang="en-US" sz="800" b="1" dirty="0" smtClean="0">
                <a:solidFill>
                  <a:srgbClr val="0D3082"/>
                </a:solidFill>
              </a:rPr>
            </a:br>
            <a:r>
              <a:rPr lang="en-US" sz="2000" b="1" dirty="0" smtClean="0">
                <a:solidFill>
                  <a:srgbClr val="0D3082"/>
                </a:solidFill>
              </a:rPr>
              <a:t>First the requirements and functionality of a web portal offering information on and metadata for official statistics are discussed. Then the metadata model and its relationship to DDI and other standards will be presented. This work is part of WP8 and 12 of </a:t>
            </a:r>
            <a:r>
              <a:rPr lang="en-US" sz="2000" b="1" dirty="0" err="1" smtClean="0">
                <a:solidFill>
                  <a:srgbClr val="0D3082"/>
                </a:solidFill>
              </a:rPr>
              <a:t>DwB</a:t>
            </a:r>
            <a:r>
              <a:rPr lang="en-US" sz="2000" b="1" dirty="0" smtClean="0">
                <a:solidFill>
                  <a:srgbClr val="0D3082"/>
                </a:solidFill>
              </a:rPr>
              <a:t>.</a:t>
            </a:r>
            <a:br>
              <a:rPr lang="en-US" sz="2000" b="1" dirty="0" smtClean="0">
                <a:solidFill>
                  <a:srgbClr val="0D3082"/>
                </a:solidFill>
              </a:rPr>
            </a:br>
            <a:endParaRPr lang="en-US" sz="2000" b="1" dirty="0" smtClean="0">
              <a:solidFill>
                <a:srgbClr val="0D3082"/>
              </a:solidFill>
            </a:endParaRPr>
          </a:p>
          <a:p>
            <a:pPr>
              <a:spcBef>
                <a:spcPts val="0"/>
              </a:spcBef>
            </a:pPr>
            <a:r>
              <a:rPr lang="en-US" sz="2000" b="1" dirty="0" err="1" smtClean="0">
                <a:solidFill>
                  <a:srgbClr val="0D3082"/>
                </a:solidFill>
              </a:rPr>
              <a:t>Raphaëlle</a:t>
            </a:r>
            <a:r>
              <a:rPr lang="en-US" sz="2000" b="1" dirty="0" smtClean="0">
                <a:solidFill>
                  <a:srgbClr val="0D3082"/>
                </a:solidFill>
              </a:rPr>
              <a:t> Fleureux, Cyril </a:t>
            </a:r>
            <a:r>
              <a:rPr lang="en-US" sz="2000" b="1" dirty="0" err="1" smtClean="0">
                <a:solidFill>
                  <a:srgbClr val="0D3082"/>
                </a:solidFill>
              </a:rPr>
              <a:t>Jayet</a:t>
            </a:r>
            <a:r>
              <a:rPr lang="en-US" sz="2000" b="1" dirty="0" smtClean="0">
                <a:solidFill>
                  <a:srgbClr val="0D3082"/>
                </a:solidFill>
              </a:rPr>
              <a:t> &amp; Arnaud </a:t>
            </a:r>
            <a:r>
              <a:rPr lang="en-US" sz="2000" b="1" dirty="0" err="1" smtClean="0">
                <a:solidFill>
                  <a:srgbClr val="0D3082"/>
                </a:solidFill>
              </a:rPr>
              <a:t>Szulek</a:t>
            </a:r>
            <a:r>
              <a:rPr lang="en-US" sz="2000" b="1" dirty="0" smtClean="0">
                <a:solidFill>
                  <a:srgbClr val="0D3082"/>
                </a:solidFill>
              </a:rPr>
              <a:t>: CIMES: A Tool for Describing European Official Statistics Microdata</a:t>
            </a:r>
            <a:br>
              <a:rPr lang="en-US" sz="2000" b="1" dirty="0" smtClean="0">
                <a:solidFill>
                  <a:srgbClr val="0D3082"/>
                </a:solidFill>
              </a:rPr>
            </a:br>
            <a:r>
              <a:rPr lang="en-US" sz="800" b="1" dirty="0" smtClean="0">
                <a:solidFill>
                  <a:srgbClr val="0D3082"/>
                </a:solidFill>
              </a:rPr>
              <a:t/>
            </a:r>
            <a:br>
              <a:rPr lang="en-US" sz="800" b="1" dirty="0" smtClean="0">
                <a:solidFill>
                  <a:srgbClr val="0D3082"/>
                </a:solidFill>
              </a:rPr>
            </a:br>
            <a:r>
              <a:rPr lang="en-US" sz="2000" b="1" dirty="0" smtClean="0">
                <a:solidFill>
                  <a:srgbClr val="0D3082"/>
                </a:solidFill>
              </a:rPr>
              <a:t>A web-based tool developed under </a:t>
            </a:r>
            <a:r>
              <a:rPr lang="en-US" sz="2000" b="1" dirty="0" err="1" smtClean="0">
                <a:solidFill>
                  <a:srgbClr val="0D3082"/>
                </a:solidFill>
              </a:rPr>
              <a:t>DwB</a:t>
            </a:r>
            <a:r>
              <a:rPr lang="en-US" sz="2000" b="1" dirty="0" smtClean="0">
                <a:solidFill>
                  <a:srgbClr val="0D3082"/>
                </a:solidFill>
              </a:rPr>
              <a:t> WP5 to document microdata bases. With its help we hope to finally arrive at a complete catalogue of microdata from official statistics throughout Europe and thereby improve access and comparative research.</a:t>
            </a:r>
          </a:p>
        </p:txBody>
      </p:sp>
      <p:sp>
        <p:nvSpPr>
          <p:cNvPr id="4" name="Datumsplatzhalter 3"/>
          <p:cNvSpPr>
            <a:spLocks noGrp="1"/>
          </p:cNvSpPr>
          <p:nvPr>
            <p:ph type="dt" sz="half" idx="10"/>
          </p:nvPr>
        </p:nvSpPr>
        <p:spPr/>
        <p:txBody>
          <a:bodyPr/>
          <a:lstStyle/>
          <a:p>
            <a:r>
              <a:rPr lang="en-US" smtClean="0"/>
              <a:t>Data without Boundaries</a:t>
            </a:r>
            <a:endParaRPr lang="fr-FR" dirty="0"/>
          </a:p>
        </p:txBody>
      </p:sp>
      <p:sp>
        <p:nvSpPr>
          <p:cNvPr id="5" name="Fußzeilenplatzhalter 4"/>
          <p:cNvSpPr>
            <a:spLocks noGrp="1"/>
          </p:cNvSpPr>
          <p:nvPr>
            <p:ph type="ftr" sz="quarter" idx="11"/>
          </p:nvPr>
        </p:nvSpPr>
        <p:spPr/>
        <p:txBody>
          <a:bodyPr/>
          <a:lstStyle/>
          <a:p>
            <a:r>
              <a:rPr lang="fr-FR" smtClean="0"/>
              <a:t>EDDI 2012</a:t>
            </a:r>
            <a:endParaRPr lang="fr-FR" dirty="0"/>
          </a:p>
        </p:txBody>
      </p:sp>
      <p:sp>
        <p:nvSpPr>
          <p:cNvPr id="6" name="Foliennummernplatzhalter 5"/>
          <p:cNvSpPr>
            <a:spLocks noGrp="1"/>
          </p:cNvSpPr>
          <p:nvPr>
            <p:ph type="sldNum" sz="quarter" idx="12"/>
          </p:nvPr>
        </p:nvSpPr>
        <p:spPr/>
        <p:txBody>
          <a:bodyPr/>
          <a:lstStyle/>
          <a:p>
            <a:fld id="{D7011AC4-63CC-491F-81A5-4C9322BBD505}" type="slidenum">
              <a:rPr lang="fr-FR" smtClean="0"/>
              <a:pPr/>
              <a:t>7</a:t>
            </a:fld>
            <a:endParaRPr lang="fr-FR"/>
          </a:p>
        </p:txBody>
      </p:sp>
    </p:spTree>
    <p:extLst>
      <p:ext uri="{BB962C8B-B14F-4D97-AF65-F5344CB8AC3E}">
        <p14:creationId xmlns:p14="http://schemas.microsoft.com/office/powerpoint/2010/main" val="31089058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descr="DwB with subtitle.jpg"/>
          <p:cNvPicPr>
            <a:picLocks noChangeAspect="1"/>
          </p:cNvPicPr>
          <p:nvPr/>
        </p:nvPicPr>
        <p:blipFill>
          <a:blip r:embed="rId3" cstate="print"/>
          <a:stretch>
            <a:fillRect/>
          </a:stretch>
        </p:blipFill>
        <p:spPr>
          <a:xfrm>
            <a:off x="3189582" y="5373216"/>
            <a:ext cx="2764836" cy="792088"/>
          </a:xfrm>
          <a:prstGeom prst="rect">
            <a:avLst/>
          </a:prstGeom>
        </p:spPr>
      </p:pic>
      <p:sp>
        <p:nvSpPr>
          <p:cNvPr id="2" name="Titre 1"/>
          <p:cNvSpPr>
            <a:spLocks noGrp="1"/>
          </p:cNvSpPr>
          <p:nvPr>
            <p:ph type="ctrTitle"/>
          </p:nvPr>
        </p:nvSpPr>
        <p:spPr/>
        <p:txBody>
          <a:bodyPr/>
          <a:lstStyle/>
          <a:p>
            <a:pPr algn="ctr"/>
            <a:r>
              <a:rPr lang="en-GB" dirty="0" smtClean="0"/>
              <a:t>Thank you for your attention!</a:t>
            </a:r>
            <a:endParaRPr lang="en-GB" dirty="0"/>
          </a:p>
        </p:txBody>
      </p:sp>
      <p:sp>
        <p:nvSpPr>
          <p:cNvPr id="3" name="Sous-titre 2"/>
          <p:cNvSpPr>
            <a:spLocks noGrp="1"/>
          </p:cNvSpPr>
          <p:nvPr>
            <p:ph type="subTitle" idx="1"/>
          </p:nvPr>
        </p:nvSpPr>
        <p:spPr>
          <a:xfrm>
            <a:off x="1369368" y="2664494"/>
            <a:ext cx="6400800" cy="1916633"/>
          </a:xfrm>
        </p:spPr>
        <p:txBody>
          <a:bodyPr>
            <a:normAutofit fontScale="85000" lnSpcReduction="20000"/>
          </a:bodyPr>
          <a:lstStyle/>
          <a:p>
            <a:r>
              <a:rPr lang="fr-FR" dirty="0" smtClean="0">
                <a:solidFill>
                  <a:schemeClr val="tx1"/>
                </a:solidFill>
              </a:rPr>
              <a:t>Contact: </a:t>
            </a:r>
          </a:p>
          <a:p>
            <a:r>
              <a:rPr lang="fr-FR" dirty="0">
                <a:solidFill>
                  <a:srgbClr val="00B0F0"/>
                </a:solidFill>
              </a:rPr>
              <a:t>Roxane Silberman &lt;roxane.silberman@ens.fr&gt;</a:t>
            </a:r>
          </a:p>
          <a:p>
            <a:r>
              <a:rPr lang="fr-FR" dirty="0" smtClean="0">
                <a:solidFill>
                  <a:srgbClr val="00B0F0"/>
                </a:solidFill>
              </a:rPr>
              <a:t>Christof Wolf &lt;christof.wolf@gesis.org &gt;</a:t>
            </a:r>
          </a:p>
          <a:p>
            <a:endParaRPr lang="fr-FR" dirty="0" smtClean="0"/>
          </a:p>
          <a:p>
            <a:r>
              <a:rPr lang="fr-FR" dirty="0" err="1" smtClean="0">
                <a:solidFill>
                  <a:schemeClr val="tx1"/>
                </a:solidFill>
              </a:rPr>
              <a:t>Website</a:t>
            </a:r>
            <a:r>
              <a:rPr lang="fr-FR" dirty="0" smtClean="0">
                <a:solidFill>
                  <a:schemeClr val="tx1"/>
                </a:solidFill>
              </a:rPr>
              <a:t>: </a:t>
            </a:r>
          </a:p>
          <a:p>
            <a:r>
              <a:rPr lang="fr-FR" dirty="0" smtClean="0">
                <a:solidFill>
                  <a:srgbClr val="00B0F0"/>
                </a:solidFill>
              </a:rPr>
              <a:t>http://www.dwbproject.org/</a:t>
            </a:r>
          </a:p>
          <a:p>
            <a:endParaRPr lang="fr-FR" dirty="0" smtClean="0">
              <a:solidFill>
                <a:schemeClr val="tx1"/>
              </a:solidFill>
            </a:endParaRPr>
          </a:p>
        </p:txBody>
      </p:sp>
      <p:sp>
        <p:nvSpPr>
          <p:cNvPr id="5" name="Datumsplatzhalter 4"/>
          <p:cNvSpPr>
            <a:spLocks noGrp="1"/>
          </p:cNvSpPr>
          <p:nvPr>
            <p:ph type="dt" sz="half" idx="10"/>
          </p:nvPr>
        </p:nvSpPr>
        <p:spPr/>
        <p:txBody>
          <a:bodyPr/>
          <a:lstStyle/>
          <a:p>
            <a:r>
              <a:rPr lang="en-US" smtClean="0"/>
              <a:t>Data without Boundaries</a:t>
            </a:r>
            <a:endParaRPr lang="fr-FR" dirty="0"/>
          </a:p>
        </p:txBody>
      </p:sp>
      <p:sp>
        <p:nvSpPr>
          <p:cNvPr id="6" name="Fußzeilenplatzhalter 5"/>
          <p:cNvSpPr>
            <a:spLocks noGrp="1"/>
          </p:cNvSpPr>
          <p:nvPr>
            <p:ph type="ftr" sz="quarter" idx="11"/>
          </p:nvPr>
        </p:nvSpPr>
        <p:spPr/>
        <p:txBody>
          <a:bodyPr/>
          <a:lstStyle/>
          <a:p>
            <a:r>
              <a:rPr lang="fr-FR" smtClean="0"/>
              <a:t>EDDI 2012</a:t>
            </a:r>
            <a:endParaRPr lang="fr-FR"/>
          </a:p>
        </p:txBody>
      </p:sp>
      <p:sp>
        <p:nvSpPr>
          <p:cNvPr id="7" name="Foliennummernplatzhalter 6"/>
          <p:cNvSpPr>
            <a:spLocks noGrp="1"/>
          </p:cNvSpPr>
          <p:nvPr>
            <p:ph type="sldNum" sz="quarter" idx="12"/>
          </p:nvPr>
        </p:nvSpPr>
        <p:spPr/>
        <p:txBody>
          <a:bodyPr/>
          <a:lstStyle/>
          <a:p>
            <a:fld id="{D7011AC4-63CC-491F-81A5-4C9322BBD505}" type="slidenum">
              <a:rPr lang="fr-FR" smtClean="0"/>
              <a:pPr/>
              <a:t>8</a:t>
            </a:fld>
            <a:endParaRPr lang="fr-F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r>
              <a:rPr lang="en-US" noProof="0" smtClean="0"/>
              <a:t>Data without Boundaries</a:t>
            </a:r>
            <a:endParaRPr lang="en-US" noProof="0"/>
          </a:p>
        </p:txBody>
      </p:sp>
      <p:sp>
        <p:nvSpPr>
          <p:cNvPr id="5" name="Fußzeilenplatzhalter 4"/>
          <p:cNvSpPr>
            <a:spLocks noGrp="1"/>
          </p:cNvSpPr>
          <p:nvPr>
            <p:ph type="ftr" sz="quarter" idx="11"/>
          </p:nvPr>
        </p:nvSpPr>
        <p:spPr/>
        <p:txBody>
          <a:bodyPr/>
          <a:lstStyle/>
          <a:p>
            <a:r>
              <a:rPr lang="en-US" noProof="0" smtClean="0"/>
              <a:t>EDDI 2012</a:t>
            </a:r>
            <a:endParaRPr lang="en-US" noProof="0"/>
          </a:p>
        </p:txBody>
      </p:sp>
      <p:sp>
        <p:nvSpPr>
          <p:cNvPr id="6" name="Foliennummernplatzhalter 5"/>
          <p:cNvSpPr>
            <a:spLocks noGrp="1"/>
          </p:cNvSpPr>
          <p:nvPr>
            <p:ph type="sldNum" sz="quarter" idx="12"/>
          </p:nvPr>
        </p:nvSpPr>
        <p:spPr/>
        <p:txBody>
          <a:bodyPr/>
          <a:lstStyle/>
          <a:p>
            <a:fld id="{407C1131-679B-4DD1-802F-23CB41FA8BDC}" type="slidenum">
              <a:rPr lang="en-US" noProof="0" smtClean="0"/>
              <a:pPr/>
              <a:t>9</a:t>
            </a:fld>
            <a:endParaRPr lang="en-US" noProof="0"/>
          </a:p>
        </p:txBody>
      </p:sp>
      <p:pic>
        <p:nvPicPr>
          <p:cNvPr id="21505" name="Picture 1"/>
          <p:cNvPicPr>
            <a:picLocks noGrp="1" noChangeAspect="1" noChangeArrowheads="1"/>
          </p:cNvPicPr>
          <p:nvPr>
            <p:ph idx="1"/>
          </p:nvPr>
        </p:nvPicPr>
        <p:blipFill rotWithShape="1">
          <a:blip r:embed="rId2" cstate="print"/>
          <a:srcRect t="5615"/>
          <a:stretch/>
        </p:blipFill>
        <p:spPr bwMode="auto">
          <a:xfrm>
            <a:off x="1259632" y="1590675"/>
            <a:ext cx="6048672" cy="4200831"/>
          </a:xfrm>
          <a:prstGeom prst="rect">
            <a:avLst/>
          </a:prstGeom>
          <a:noFill/>
          <a:ln w="9525">
            <a:noFill/>
            <a:miter lim="800000"/>
            <a:headEnd/>
            <a:tailEnd/>
          </a:ln>
        </p:spPr>
      </p:pic>
      <p:sp>
        <p:nvSpPr>
          <p:cNvPr id="9" name="Titel 1"/>
          <p:cNvSpPr>
            <a:spLocks noGrp="1"/>
          </p:cNvSpPr>
          <p:nvPr>
            <p:ph type="title"/>
          </p:nvPr>
        </p:nvSpPr>
        <p:spPr>
          <a:xfrm>
            <a:off x="457200" y="620688"/>
            <a:ext cx="8507288" cy="796950"/>
          </a:xfrm>
        </p:spPr>
        <p:txBody>
          <a:bodyPr>
            <a:noAutofit/>
          </a:bodyPr>
          <a:lstStyle/>
          <a:p>
            <a:r>
              <a:rPr lang="en-US" sz="2800" dirty="0" smtClean="0"/>
              <a:t>Institutional Framework of European Service Centre</a:t>
            </a:r>
            <a:endParaRPr lang="en-GB" sz="2800" dirty="0"/>
          </a:p>
        </p:txBody>
      </p:sp>
    </p:spTree>
    <p:extLst>
      <p:ext uri="{BB962C8B-B14F-4D97-AF65-F5344CB8AC3E}">
        <p14:creationId xmlns:p14="http://schemas.microsoft.com/office/powerpoint/2010/main" val="3485226161"/>
      </p:ext>
    </p:extLst>
  </p:cSld>
  <p:clrMapOvr>
    <a:masterClrMapping/>
  </p:clrMapOvr>
  <p:timing>
    <p:tnLst>
      <p:par>
        <p:cTn id="1" dur="indefinite" restart="never" nodeType="tmRoot"/>
      </p:par>
    </p:tnLst>
  </p:timing>
</p:sld>
</file>

<file path=ppt/theme/theme1.xml><?xml version="1.0" encoding="utf-8"?>
<a:theme xmlns:a="http://schemas.openxmlformats.org/drawingml/2006/main" name="DwB">
  <a:themeElements>
    <a:clrScheme name="Personnalisé 1">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A71B3"/>
      </a:hlink>
      <a:folHlink>
        <a:srgbClr val="40A52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DwB</Template>
  <TotalTime>0</TotalTime>
  <Words>431</Words>
  <Application>Microsoft Office PowerPoint</Application>
  <PresentationFormat>Bildschirmpräsentation (4:3)</PresentationFormat>
  <Paragraphs>88</Paragraphs>
  <Slides>9</Slides>
  <Notes>2</Notes>
  <HiddenSlides>0</HiddenSlides>
  <MMClips>0</MMClips>
  <ScaleCrop>false</ScaleCrop>
  <HeadingPairs>
    <vt:vector size="4" baseType="variant">
      <vt:variant>
        <vt:lpstr>Design</vt:lpstr>
      </vt:variant>
      <vt:variant>
        <vt:i4>1</vt:i4>
      </vt:variant>
      <vt:variant>
        <vt:lpstr>Folientitel</vt:lpstr>
      </vt:variant>
      <vt:variant>
        <vt:i4>9</vt:i4>
      </vt:variant>
    </vt:vector>
  </HeadingPairs>
  <TitlesOfParts>
    <vt:vector size="10" baseType="lpstr">
      <vt:lpstr>DwB</vt:lpstr>
      <vt:lpstr>Data without Boundaries A European Project to Enhance Access to Official Microdata</vt:lpstr>
      <vt:lpstr>DwB project in a nutshell </vt:lpstr>
      <vt:lpstr>Main issues</vt:lpstr>
      <vt:lpstr>Metadata issues </vt:lpstr>
      <vt:lpstr>European Service Centre for OS data</vt:lpstr>
      <vt:lpstr>PowerPoint-Präsentation</vt:lpstr>
      <vt:lpstr>Presentations</vt:lpstr>
      <vt:lpstr>Thank you for your attention!</vt:lpstr>
      <vt:lpstr>Institutional Framework of European Service Centre</vt:lpstr>
    </vt:vector>
  </TitlesOfParts>
  <Company>GESIS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DwB WP5  Servicing European Researchers  in the use of OS Microdata 1st year progress</dc:title>
  <dc:creator>wolf</dc:creator>
  <cp:lastModifiedBy>wolf</cp:lastModifiedBy>
  <cp:revision>41</cp:revision>
  <dcterms:created xsi:type="dcterms:W3CDTF">2012-05-09T05:20:13Z</dcterms:created>
  <dcterms:modified xsi:type="dcterms:W3CDTF">2012-12-04T09:57:44Z</dcterms:modified>
</cp:coreProperties>
</file>