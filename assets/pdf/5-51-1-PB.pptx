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75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BES" initials="T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082"/>
    <a:srgbClr val="0A71B3"/>
    <a:srgbClr val="00632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3" autoAdjust="0"/>
    <p:restoredTop sz="94654" autoAdjust="0"/>
  </p:normalViewPr>
  <p:slideViewPr>
    <p:cSldViewPr>
      <p:cViewPr varScale="1">
        <p:scale>
          <a:sx n="69" d="100"/>
          <a:sy n="69" d="100"/>
        </p:scale>
        <p:origin x="-146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6" y="359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2022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 dirty="0" smtClean="0"/>
              <a:t>DwB – Data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Boundaries</a:t>
            </a:r>
            <a:endParaRPr lang="fr-FR" dirty="0" smtClean="0"/>
          </a:p>
          <a:p>
            <a:r>
              <a:rPr lang="fr-FR" dirty="0" err="1" smtClean="0"/>
              <a:t>Presentation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B6E42-A707-4D4D-8DC5-1C7FB6DDD94A}" type="datetimeFigureOut">
              <a:rPr lang="fr-FR" smtClean="0"/>
              <a:pPr/>
              <a:t>04/12/2012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9A494-C6B0-4562-B3D3-2BF273AFC47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954115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11F79-3B62-4A40-A06A-40DA29809D90}" type="datetimeFigureOut">
              <a:rPr lang="fr-FR" smtClean="0"/>
              <a:pPr/>
              <a:t>04/12/2012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0A6F2-8E83-4B25-A49C-01B49BC4E54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569319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0A6F2-8E83-4B25-A49C-01B49BC4E54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0A6F2-8E83-4B25-A49C-01B49BC4E54A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0A6F2-8E83-4B25-A49C-01B49BC4E54A}" type="slidenum">
              <a:rPr lang="fr-FR" smtClean="0">
                <a:solidFill>
                  <a:prstClr val="black"/>
                </a:solidFill>
              </a:rPr>
              <a:pPr/>
              <a:t>13</a:t>
            </a:fld>
            <a:endParaRPr lang="fr-F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D3082"/>
                </a:solidFill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41500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0A71B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Cliquez pour modifier le style des sous-titres du masque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88AD0-D47B-4127-B1A0-1108425941F4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 6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8" name="Image 7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9" name="Image 8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248473"/>
          </a:xfrm>
        </p:spPr>
        <p:txBody>
          <a:bodyPr/>
          <a:lstStyle>
            <a:lvl1pPr>
              <a:buClr>
                <a:srgbClr val="0A71B3"/>
              </a:buClr>
              <a:defRPr/>
            </a:lvl1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1E06-C1CD-421E-ACF5-9CCD8265D4B5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28111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780928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CE41-F5BA-4FB4-BF93-59A0AF6DF031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 6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8" name="Image 7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1330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1330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3641-C9DA-4B81-902E-1A57FF0675E3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8" name="Image 7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9" name="Image 8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558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558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41180-830E-4984-BFCF-8B0D4635250F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Image 9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11" name="Image 10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1CE4-010F-4FBE-BB0F-82D20342157B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Image 5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7" name="Image 6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22BB-D135-46A3-85E9-8CE3356007E3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5" name="Image 4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6" name="Image 5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EE27-909B-4DD2-A973-72FB6FD4382B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Titre 1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D3082"/>
                </a:solidFill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7" name="Sous-titre 2"/>
          <p:cNvSpPr>
            <a:spLocks noGrp="1"/>
          </p:cNvSpPr>
          <p:nvPr>
            <p:ph type="subTitle" idx="1"/>
          </p:nvPr>
        </p:nvSpPr>
        <p:spPr>
          <a:xfrm>
            <a:off x="1369368" y="2664495"/>
            <a:ext cx="6400800" cy="141500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0A71B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Cliquez pour modifier le style des sous-titres du masque</a:t>
            </a:r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46020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29815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B74B-10AD-4C0B-9FE5-96CC43D97970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8" name="Image 7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9" name="Image 8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AB56-63DF-459D-B706-13FE142C184C}" type="datetimeFigureOut">
              <a:rPr lang="fr-FR" smtClean="0"/>
              <a:pPr/>
              <a:t>04/12/2012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8" name="Image 7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9" name="Image 8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AB56-63DF-459D-B706-13FE142C184C}" type="datetimeFigureOut">
              <a:rPr lang="fr-FR" smtClean="0"/>
              <a:pPr/>
              <a:t>04/12/2012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 6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8" name="Image 7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458618"/>
          </a:xfrm>
        </p:spPr>
        <p:txBody>
          <a:bodyPr vert="eaVert"/>
          <a:lstStyle/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458617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AB56-63DF-459D-B706-13FE142C184C}" type="datetimeFigureOut">
              <a:rPr lang="fr-FR" smtClean="0"/>
              <a:pPr/>
              <a:t>04/12/2012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AC4-63CC-491F-81A5-4C9322BBD50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 6" descr="DwB without subtitl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44754" y="5877272"/>
            <a:ext cx="1533666" cy="360040"/>
          </a:xfrm>
          <a:prstGeom prst="rect">
            <a:avLst/>
          </a:prstGeom>
        </p:spPr>
      </p:pic>
      <p:pic>
        <p:nvPicPr>
          <p:cNvPr id="8" name="Image 7" descr="FP7-gen-RGB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7544" y="5733256"/>
            <a:ext cx="743117" cy="60449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ZZZZZZZZ.bmp"/>
          <p:cNvPicPr>
            <a:picLocks/>
          </p:cNvPicPr>
          <p:nvPr userDrawn="1"/>
        </p:nvPicPr>
        <p:blipFill>
          <a:blip r:embed="rId14" cstate="print"/>
          <a:srcRect b="22453"/>
          <a:stretch>
            <a:fillRect/>
          </a:stretch>
        </p:blipFill>
        <p:spPr bwMode="auto">
          <a:xfrm>
            <a:off x="0" y="0"/>
            <a:ext cx="9144000" cy="472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600" cy="4248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EADBD467-7536-435B-BB72-262DFAB69601}" type="datetime4">
              <a:rPr lang="en-GB" smtClean="0"/>
              <a:pPr/>
              <a:t>04 December 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7011AC4-63CC-491F-81A5-4C9322BBD50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rgbClr val="0D308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A71B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A71B3"/>
        </a:buClr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A71B3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://www.dwbproject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CIMES, a tool for describing European Official Statistics Microdata</a:t>
            </a: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559024"/>
          </a:xfrm>
        </p:spPr>
        <p:txBody>
          <a:bodyPr>
            <a:normAutofit/>
          </a:bodyPr>
          <a:lstStyle/>
          <a:p>
            <a:endParaRPr lang="en-GB" sz="1800" i="1" dirty="0" smtClean="0"/>
          </a:p>
          <a:p>
            <a:endParaRPr lang="en-GB" sz="1800" dirty="0" smtClean="0"/>
          </a:p>
          <a:p>
            <a:r>
              <a:rPr lang="en-GB" sz="1800" dirty="0" smtClean="0"/>
              <a:t>P</a:t>
            </a:r>
            <a:r>
              <a:rPr lang="en-GB" sz="1600" dirty="0" smtClean="0"/>
              <a:t>resented by </a:t>
            </a:r>
          </a:p>
          <a:p>
            <a:r>
              <a:rPr lang="en-GB" sz="2000" dirty="0" smtClean="0"/>
              <a:t>Raphaëlle Fleureux, Cyril </a:t>
            </a:r>
            <a:r>
              <a:rPr lang="en-GB" sz="2000" dirty="0" err="1" smtClean="0"/>
              <a:t>Jayet</a:t>
            </a:r>
            <a:r>
              <a:rPr lang="en-GB" sz="2000" dirty="0" smtClean="0"/>
              <a:t>, Arnaud </a:t>
            </a:r>
            <a:r>
              <a:rPr lang="en-GB" sz="2000" dirty="0" err="1" smtClean="0"/>
              <a:t>Szulek</a:t>
            </a:r>
            <a:r>
              <a:rPr lang="en-GB" sz="2000" dirty="0" smtClean="0"/>
              <a:t> / CNRS-RQ</a:t>
            </a: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1375073" y="5733256"/>
            <a:ext cx="64008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fr-FR" i="1" dirty="0" smtClean="0">
                <a:solidFill>
                  <a:schemeClr val="tx1">
                    <a:tint val="75000"/>
                  </a:schemeClr>
                </a:solidFill>
              </a:rPr>
              <a:t>Bergen, EDDI 2012, </a:t>
            </a:r>
            <a:r>
              <a:rPr lang="fr-FR" i="1" dirty="0" err="1" smtClean="0">
                <a:solidFill>
                  <a:schemeClr val="tx1">
                    <a:tint val="75000"/>
                  </a:schemeClr>
                </a:solidFill>
              </a:rPr>
              <a:t>December</a:t>
            </a:r>
            <a:r>
              <a:rPr lang="fr-FR" i="1" dirty="0" smtClean="0">
                <a:solidFill>
                  <a:schemeClr val="tx1">
                    <a:tint val="75000"/>
                  </a:schemeClr>
                </a:solidFill>
              </a:rPr>
              <a:t> 4, 2012</a:t>
            </a:r>
            <a:endParaRPr kumimoji="0" lang="fr-FR" b="0" i="1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600" dirty="0" err="1" smtClean="0"/>
              <a:t>DwB</a:t>
            </a:r>
            <a:r>
              <a:rPr lang="en-GB" sz="2600" dirty="0" smtClean="0"/>
              <a:t> WP5 Objectives and Tasks</a:t>
            </a:r>
          </a:p>
          <a:p>
            <a:r>
              <a:rPr lang="en-GB" sz="2600" dirty="0" smtClean="0"/>
              <a:t>CIMES</a:t>
            </a:r>
          </a:p>
          <a:p>
            <a:r>
              <a:rPr lang="en-GB" sz="2600" dirty="0" smtClean="0"/>
              <a:t>The Documentation Schema</a:t>
            </a:r>
          </a:p>
          <a:p>
            <a:r>
              <a:rPr lang="en-GB" sz="2600" dirty="0" smtClean="0"/>
              <a:t>Technical aspects</a:t>
            </a:r>
          </a:p>
          <a:p>
            <a:r>
              <a:rPr lang="en-GB" sz="2600" dirty="0" smtClean="0"/>
              <a:t>Demo</a:t>
            </a:r>
          </a:p>
          <a:p>
            <a:r>
              <a:rPr lang="en-GB" sz="2600" dirty="0" smtClean="0"/>
              <a:t>State-of-Play &amp; Further Developments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DwB WP5 : Objectives and </a:t>
            </a:r>
            <a:r>
              <a:rPr lang="fr-FR" dirty="0" err="1" smtClean="0"/>
              <a:t>Tasks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sz="2600" dirty="0" smtClean="0"/>
              <a:t>Objective </a:t>
            </a:r>
            <a:r>
              <a:rPr lang="en-US" sz="2600" dirty="0" smtClean="0"/>
              <a:t>:  </a:t>
            </a:r>
            <a:r>
              <a:rPr lang="en-US" sz="2600" dirty="0" smtClean="0"/>
              <a:t>Provide </a:t>
            </a:r>
            <a:r>
              <a:rPr lang="en-US" sz="2600" b="1" dirty="0" smtClean="0"/>
              <a:t>comprehensive overview</a:t>
            </a:r>
            <a:r>
              <a:rPr lang="en-US" sz="2600" dirty="0" smtClean="0"/>
              <a:t> of official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smtClean="0"/>
              <a:t>statistical data in </a:t>
            </a:r>
            <a:r>
              <a:rPr lang="en-US" sz="2600" dirty="0" smtClean="0"/>
              <a:t>Europe</a:t>
            </a:r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Task </a:t>
            </a:r>
            <a:r>
              <a:rPr lang="en-US" sz="2600" dirty="0" smtClean="0"/>
              <a:t>2: Collect, structure and code information on available microdata from </a:t>
            </a:r>
            <a:r>
              <a:rPr lang="en-US" sz="2600" b="1" dirty="0" smtClean="0"/>
              <a:t>official statistics at the national level</a:t>
            </a:r>
            <a:r>
              <a:rPr lang="en-US" sz="2600" dirty="0" smtClean="0"/>
              <a:t> for each country in Europe</a:t>
            </a:r>
          </a:p>
          <a:p>
            <a:r>
              <a:rPr lang="en-US" sz="2600" dirty="0" smtClean="0"/>
              <a:t>Task 3: Collect, structure and code information on integrated </a:t>
            </a:r>
            <a:r>
              <a:rPr lang="en-US" sz="2600" b="1" dirty="0" smtClean="0"/>
              <a:t>European microdata from official statistics</a:t>
            </a:r>
            <a:r>
              <a:rPr lang="en-US" sz="2600" dirty="0" smtClean="0"/>
              <a:t> held by </a:t>
            </a:r>
            <a:r>
              <a:rPr lang="en-US" sz="2600" dirty="0" err="1" smtClean="0"/>
              <a:t>Eurostat</a:t>
            </a:r>
            <a:r>
              <a:rPr lang="en-US" sz="2600" dirty="0" smtClean="0"/>
              <a:t> and national </a:t>
            </a:r>
            <a:r>
              <a:rPr lang="en-US" sz="2600" dirty="0" smtClean="0"/>
              <a:t>censuses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CIMES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sz="2800" dirty="0" smtClean="0"/>
          </a:p>
          <a:p>
            <a:r>
              <a:rPr lang="en-US" sz="2800" dirty="0" smtClean="0"/>
              <a:t>In the task 2 of WP5, we agreed on a documentation schema based on DDI2 and 3</a:t>
            </a:r>
          </a:p>
          <a:p>
            <a:r>
              <a:rPr lang="en-US" sz="2800" dirty="0" smtClean="0"/>
              <a:t>We tested different </a:t>
            </a:r>
            <a:r>
              <a:rPr lang="en-US" sz="2800" dirty="0" err="1" smtClean="0"/>
              <a:t>softwares</a:t>
            </a:r>
            <a:r>
              <a:rPr lang="en-US" sz="2800" dirty="0" smtClean="0"/>
              <a:t> (</a:t>
            </a:r>
            <a:r>
              <a:rPr lang="en-US" sz="2800" dirty="0" err="1" smtClean="0"/>
              <a:t>Nesstar</a:t>
            </a:r>
            <a:r>
              <a:rPr lang="en-US" sz="2800" dirty="0" smtClean="0"/>
              <a:t>, </a:t>
            </a:r>
            <a:r>
              <a:rPr lang="en-US" sz="2800" dirty="0" err="1" smtClean="0"/>
              <a:t>Colectica</a:t>
            </a:r>
            <a:r>
              <a:rPr lang="en-US" sz="2800" dirty="0" smtClean="0"/>
              <a:t>, etc.) and they were </a:t>
            </a:r>
            <a:r>
              <a:rPr lang="en-US" sz="2800" dirty="0" smtClean="0"/>
              <a:t>not </a:t>
            </a:r>
            <a:r>
              <a:rPr lang="en-US" sz="2800" dirty="0" smtClean="0"/>
              <a:t>really relevant </a:t>
            </a:r>
            <a:r>
              <a:rPr lang="en-US" sz="2800" dirty="0" smtClean="0"/>
              <a:t>for the purpose of this </a:t>
            </a:r>
            <a:r>
              <a:rPr lang="en-US" sz="2800" dirty="0" smtClean="0"/>
              <a:t>documentation (in terms of correspondence to the schem</a:t>
            </a:r>
            <a:r>
              <a:rPr lang="en-US" sz="2800" dirty="0" smtClean="0"/>
              <a:t>a, and of financial and technical aspects)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marL="447675" indent="-447675">
              <a:buNone/>
            </a:pPr>
            <a:r>
              <a:rPr lang="en-US" sz="2800" dirty="0" smtClean="0">
                <a:solidFill>
                  <a:srgbClr val="0A71B3"/>
                </a:solidFill>
                <a:sym typeface="Wingdings" pitchFamily="2" charset="2"/>
              </a:rPr>
              <a:t></a:t>
            </a:r>
            <a:r>
              <a:rPr lang="en-US" sz="2800" dirty="0" smtClean="0">
                <a:sym typeface="Wingdings" pitchFamily="2" charset="2"/>
              </a:rPr>
              <a:t> </a:t>
            </a:r>
            <a:r>
              <a:rPr lang="en-US" sz="2800" dirty="0" smtClean="0"/>
              <a:t>We decided to develop our own tool at CNRS-RQ:  CIMES (</a:t>
            </a:r>
            <a:r>
              <a:rPr lang="en-US" sz="2800" dirty="0" err="1" smtClean="0"/>
              <a:t>Centralising</a:t>
            </a:r>
            <a:r>
              <a:rPr lang="en-US" sz="2800" dirty="0" smtClean="0"/>
              <a:t> and Integrating Metadata from European Statistics)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 Three-levels Schema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/>
          </a:p>
          <a:p>
            <a:r>
              <a:rPr lang="en-US" sz="2000" dirty="0" smtClean="0"/>
              <a:t>Series: a group of studies, for example </a:t>
            </a:r>
            <a:r>
              <a:rPr lang="en-US" sz="2000" dirty="0" err="1" smtClean="0"/>
              <a:t>Labour</a:t>
            </a:r>
            <a:r>
              <a:rPr lang="en-US" sz="2000" dirty="0" smtClean="0"/>
              <a:t> Force Survey (LFS)</a:t>
            </a:r>
          </a:p>
          <a:p>
            <a:endParaRPr lang="en-US" sz="2000" dirty="0" smtClean="0"/>
          </a:p>
          <a:p>
            <a:r>
              <a:rPr lang="en-US" sz="2000" dirty="0" smtClean="0"/>
              <a:t>Study: the actual collection of data, for example LFS 2007 </a:t>
            </a:r>
          </a:p>
          <a:p>
            <a:endParaRPr lang="en-US" sz="2000" dirty="0" smtClean="0"/>
          </a:p>
          <a:p>
            <a:r>
              <a:rPr lang="en-US" sz="2000" dirty="0" smtClean="0"/>
              <a:t>Dataset: a set of files disseminated, for example LFS Scientific Use File (SUF) 2007</a:t>
            </a:r>
          </a:p>
          <a:p>
            <a:endParaRPr lang="en-US" sz="2000" dirty="0" smtClean="0"/>
          </a:p>
          <a:p>
            <a:pPr>
              <a:buNone/>
            </a:pPr>
            <a:r>
              <a:rPr lang="en-US" sz="2000" dirty="0" smtClean="0">
                <a:solidFill>
                  <a:srgbClr val="0A71B3"/>
                </a:solidFill>
                <a:sym typeface="Wingdings" pitchFamily="2" charset="2"/>
              </a:rPr>
              <a:t></a:t>
            </a:r>
            <a:r>
              <a:rPr lang="en-US" sz="2000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sz="2000" dirty="0" smtClean="0"/>
              <a:t>In order to give a large and comprehensive overview of official microdata available in Europe, a simple schema is needed. The variable level will not be documented.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 Two- or Three-levels Nested Hierarchy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4175745" y="1916832"/>
            <a:ext cx="1476375" cy="8286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German Microcensus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79601" y="3212976"/>
            <a:ext cx="1476375" cy="8286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German Microcensus 2007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9321" y="3212976"/>
            <a:ext cx="1476375" cy="8286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Life Events and Health Survey </a:t>
            </a:r>
            <a:r>
              <a:rPr lang="en-US" dirty="0" smtClean="0">
                <a:solidFill>
                  <a:schemeClr val="tx1"/>
                </a:solidFill>
              </a:rPr>
              <a:t>2006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23728" y="4509666"/>
            <a:ext cx="1476375" cy="11160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German Microcensus 2007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SUF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99881" y="4509666"/>
            <a:ext cx="1476375" cy="11160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German Microcensus 2008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SUF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9321" y="4509666"/>
            <a:ext cx="1476375" cy="11160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/>
                </a:solidFill>
              </a:rPr>
              <a:t>Life Events and Health Survey 2006 </a:t>
            </a:r>
            <a:r>
              <a:rPr lang="en-US" smtClean="0">
                <a:solidFill>
                  <a:schemeClr val="tx1"/>
                </a:solidFill>
              </a:rPr>
              <a:t>PUF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81078" y="4509666"/>
            <a:ext cx="1474787" cy="11160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German </a:t>
            </a:r>
            <a:r>
              <a:rPr lang="en-US" dirty="0" err="1" smtClean="0">
                <a:solidFill>
                  <a:schemeClr val="tx1"/>
                </a:solidFill>
              </a:rPr>
              <a:t>Microcensus</a:t>
            </a:r>
            <a:r>
              <a:rPr lang="en-US" dirty="0" smtClean="0">
                <a:solidFill>
                  <a:schemeClr val="tx1"/>
                </a:solidFill>
              </a:rPr>
              <a:t> 2007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PUF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avec flèche vers le bas 10"/>
          <p:cNvSpPr/>
          <p:nvPr/>
        </p:nvSpPr>
        <p:spPr>
          <a:xfrm>
            <a:off x="7164139" y="1989807"/>
            <a:ext cx="1584325" cy="936625"/>
          </a:xfrm>
          <a:prstGeom prst="down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Series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avec flèche vers le bas 11"/>
          <p:cNvSpPr/>
          <p:nvPr/>
        </p:nvSpPr>
        <p:spPr>
          <a:xfrm>
            <a:off x="7164636" y="3212976"/>
            <a:ext cx="1584325" cy="936625"/>
          </a:xfrm>
          <a:prstGeom prst="down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Study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64635" y="4689216"/>
            <a:ext cx="1584000" cy="68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Dataset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99881" y="3212976"/>
            <a:ext cx="1476375" cy="8286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/>
                </a:solidFill>
              </a:rPr>
              <a:t>German Microcensus 2008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Connecteur droit 21"/>
          <p:cNvCxnSpPr>
            <a:stCxn id="4" idx="2"/>
            <a:endCxn id="14" idx="0"/>
          </p:cNvCxnSpPr>
          <p:nvPr/>
        </p:nvCxnSpPr>
        <p:spPr>
          <a:xfrm rot="16200000" flipH="1">
            <a:off x="5292267" y="2367173"/>
            <a:ext cx="467469" cy="1224136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21"/>
          <p:cNvCxnSpPr>
            <a:stCxn id="4" idx="2"/>
            <a:endCxn id="5" idx="0"/>
          </p:cNvCxnSpPr>
          <p:nvPr/>
        </p:nvCxnSpPr>
        <p:spPr>
          <a:xfrm rot="5400000">
            <a:off x="4032127" y="2331169"/>
            <a:ext cx="467469" cy="129614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stCxn id="14" idx="2"/>
            <a:endCxn id="8" idx="0"/>
          </p:cNvCxnSpPr>
          <p:nvPr/>
        </p:nvCxnSpPr>
        <p:spPr>
          <a:xfrm>
            <a:off x="6138069" y="4041651"/>
            <a:ext cx="0" cy="4680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21"/>
          <p:cNvCxnSpPr>
            <a:stCxn id="5" idx="2"/>
            <a:endCxn id="7" idx="0"/>
          </p:cNvCxnSpPr>
          <p:nvPr/>
        </p:nvCxnSpPr>
        <p:spPr>
          <a:xfrm rot="5400000">
            <a:off x="3005846" y="3897722"/>
            <a:ext cx="468015" cy="755873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21"/>
          <p:cNvCxnSpPr>
            <a:stCxn id="5" idx="2"/>
            <a:endCxn id="10" idx="0"/>
          </p:cNvCxnSpPr>
          <p:nvPr/>
        </p:nvCxnSpPr>
        <p:spPr>
          <a:xfrm rot="16200000" flipH="1">
            <a:off x="3834123" y="3825316"/>
            <a:ext cx="468015" cy="900683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>
            <a:stCxn id="6" idx="2"/>
            <a:endCxn id="9" idx="0"/>
          </p:cNvCxnSpPr>
          <p:nvPr/>
        </p:nvCxnSpPr>
        <p:spPr>
          <a:xfrm>
            <a:off x="1097509" y="4041651"/>
            <a:ext cx="0" cy="4680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1979712" y="184482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1979712" y="220486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1979712" y="256490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1979712" y="292494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>
            <a:off x="1979712" y="328498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1979712" y="364502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1979712" y="400506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1979712" y="436510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1979712" y="472514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1979712" y="508518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1979712" y="544522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2483768" y="155679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3 levels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611560" y="155679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2 levels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Schema Fields: Series Level</a:t>
            </a:r>
            <a:endParaRPr lang="fr-FR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827584" y="2137090"/>
          <a:ext cx="7992888" cy="25838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16774"/>
                <a:gridCol w="1224136"/>
                <a:gridCol w="5151978"/>
              </a:tblGrid>
              <a:tr h="258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noProof="0" dirty="0" smtClean="0"/>
                        <a:t>Series level</a:t>
                      </a:r>
                      <a:endParaRPr lang="en-US" sz="13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noProof="0" dirty="0" smtClean="0">
                          <a:solidFill>
                            <a:schemeClr val="bg1"/>
                          </a:solidFill>
                          <a:latin typeface="Calibri"/>
                        </a:rPr>
                        <a:t>DDI 2.1</a:t>
                      </a:r>
                      <a:endParaRPr lang="en-US" sz="1300" b="1" i="0" u="none" strike="noStrike" noProof="0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u="none" strike="noStrike" noProof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DDI 3</a:t>
                      </a:r>
                    </a:p>
                  </a:txBody>
                  <a:tcPr marL="7620" marR="7620" marT="7620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Title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2.1.5.1  &lt;</a:t>
                      </a:r>
                      <a:r>
                        <a:rPr lang="en-US" sz="1100" b="0" i="0" u="none" strike="noStrike" noProof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serName</a:t>
                      </a:r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&gt;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ddi:Group</a:t>
                      </a:r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/r:Citation/r:Title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strike="noStrike" noProof="0" dirty="0" smtClean="0"/>
                        <a:t>Subtitle</a:t>
                      </a:r>
                      <a:endParaRPr lang="fr-FR" sz="1400" dirty="0"/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ddi:Group</a:t>
                      </a:r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/r:Citation/r:SubTitle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strike="noStrike" noProof="0" dirty="0" smtClean="0"/>
                        <a:t>Alternative Title </a:t>
                      </a:r>
                      <a:endParaRPr lang="fr-FR" sz="1400" dirty="0"/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ddi:Group</a:t>
                      </a:r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/r:Citation/r:AlternateTitle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Abstract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2.1.5.2  &lt;</a:t>
                      </a:r>
                      <a:r>
                        <a:rPr lang="en-US" sz="1100" b="0" i="0" u="none" strike="noStrike" noProof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serInfo</a:t>
                      </a:r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&gt;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ddi:Group</a:t>
                      </a:r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/g:Abstract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Keywords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ddi:Group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r:Coverage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r:TopicalCoverage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r:Keyword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9525" marR="9525" marT="9525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Geographic Coverage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ddi:Group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r:Coverage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r:SpatialCoverage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r:Description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9525" marR="9525" marT="9525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smtClean="0"/>
                        <a:t>Time Period Covered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ddi:Group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r:Coverage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r:TemporalCoverage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r:ReferenceDate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r:HistoricalDate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9525" marR="9525" marT="9525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smtClean="0"/>
                        <a:t>Time Method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ddi:Group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d:DataCollection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d:Methodology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d:TimeMethod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9525" marR="9525" marT="9525" marB="0" anchor="ctr"/>
                </a:tc>
              </a:tr>
              <a:tr h="258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Notes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ddi:Group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/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Cambria"/>
                        </a:rPr>
                        <a:t>r:Note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Schema Fields: Study Level</a:t>
            </a:r>
            <a:endParaRPr lang="fr-FR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539552" y="1794360"/>
          <a:ext cx="8064896" cy="35739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56184"/>
                <a:gridCol w="1440160"/>
                <a:gridCol w="4968552"/>
              </a:tblGrid>
              <a:tr h="259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noProof="0" dirty="0" smtClean="0"/>
                        <a:t>Study level</a:t>
                      </a:r>
                      <a:endParaRPr lang="en-US" sz="13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noProof="0" dirty="0" smtClean="0">
                          <a:solidFill>
                            <a:schemeClr val="bg1"/>
                          </a:solidFill>
                          <a:latin typeface="Calibri"/>
                        </a:rPr>
                        <a:t>DDI 2.1</a:t>
                      </a:r>
                      <a:endParaRPr lang="en-US" sz="1300" b="1" i="0" u="none" strike="noStrike" noProof="0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u="none" strike="noStrike" noProof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DDI 3</a:t>
                      </a: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Title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2.1.1.1&lt;</a:t>
                      </a:r>
                      <a:r>
                        <a:rPr lang="en-US" sz="1100" b="0" i="0" u="none" strike="noStrike" noProof="0" dirty="0" err="1" smtClean="0">
                          <a:solidFill>
                            <a:schemeClr val="tx1"/>
                          </a:solidFill>
                          <a:latin typeface="+mj-lt"/>
                        </a:rPr>
                        <a:t>titl</a:t>
                      </a:r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&gt;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s:StudyUnit/r:Citation/r:Title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r>
                        <a:rPr lang="en-US" sz="1400" u="none" strike="noStrike" noProof="0" dirty="0" smtClean="0"/>
                        <a:t>Subtitle</a:t>
                      </a:r>
                      <a:endParaRPr lang="fr-FR" sz="1400" dirty="0"/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2.1.1.2 &lt;</a:t>
                      </a:r>
                      <a:r>
                        <a:rPr lang="en-US" sz="1100" b="0" i="0" u="none" strike="noStrike" noProof="0" dirty="0" err="1" smtClean="0">
                          <a:solidFill>
                            <a:schemeClr val="tx1"/>
                          </a:solidFill>
                          <a:latin typeface="+mj-lt"/>
                        </a:rPr>
                        <a:t>subTitl</a:t>
                      </a:r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&gt;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s:StudyUnit/r:Citation/r:SubTitle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r>
                        <a:rPr lang="en-US" sz="1400" u="none" strike="noStrike" noProof="0" dirty="0" smtClean="0"/>
                        <a:t>Alternative Title </a:t>
                      </a:r>
                      <a:endParaRPr lang="fr-FR" sz="1400" dirty="0"/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2.1.1.3 &lt;</a:t>
                      </a:r>
                      <a:r>
                        <a:rPr lang="en-US" sz="1100" b="0" i="0" u="none" strike="noStrike" noProof="0" dirty="0" err="1" smtClean="0">
                          <a:solidFill>
                            <a:schemeClr val="tx1"/>
                          </a:solidFill>
                          <a:latin typeface="+mj-lt"/>
                        </a:rPr>
                        <a:t>altTitl</a:t>
                      </a:r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&gt;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s:StudyUnit/r:Citation/r:AlternateTitle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Producer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2.1.3.1 &lt;producer&gt;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s:StudyUnit/r:Citation/r:Publisher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Abstract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latin typeface="+mj-lt"/>
                        </a:rPr>
                        <a:t>2.2.2 &lt;abstract&gt;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s:StudyUnit/s:Abstract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Keywords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2.2.1.1&lt;keyword&gt;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s:StudyUnit/r:Coverage/r:TopicalCoverage/r:Keyword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Geographic Coverage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2.2.3.4  &lt;geogCover&gt;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s:StudyUnit/r:Coverage/r:SpatialCoverage/r:Description</a:t>
                      </a:r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noProof="0" dirty="0" smtClean="0"/>
                        <a:t>Universe</a:t>
                      </a:r>
                      <a:endParaRPr lang="en-US" sz="1400" b="0" i="0" u="none" strike="noStrike" noProof="0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2.2.3.9 &lt;universe&gt;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latin typeface="+mj-lt"/>
                        </a:rPr>
                        <a:t>s:StudyUnit/c:ConceptualComponent/c:UniverseScheme/c:Universe/c:HumanReadable</a:t>
                      </a:r>
                    </a:p>
                  </a:txBody>
                  <a:tcPr marL="9525" marR="9525" marT="9525" marB="0" anchor="ctr"/>
                </a:tc>
              </a:tr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noProof="0" dirty="0" smtClean="0"/>
                        <a:t>Sampling Procedure</a:t>
                      </a:r>
                      <a:endParaRPr lang="en-US" sz="1400" b="0" i="0" u="none" strike="noStrike" noProof="0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2.3.1.4 &lt;SampProc&gt;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latin typeface="+mj-lt"/>
                        </a:rPr>
                        <a:t>s:StudyUnit/d:DataCollection/d:Methodology/d:SamplingProcedure</a:t>
                      </a:r>
                    </a:p>
                  </a:txBody>
                  <a:tcPr marL="9525" marR="9525" marT="9525" marB="0" anchor="ctr"/>
                </a:tc>
              </a:tr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noProof="0" dirty="0" smtClean="0"/>
                        <a:t>Date of Collection</a:t>
                      </a:r>
                      <a:endParaRPr lang="en-US" sz="1400" b="0" i="0" u="none" strike="noStrike" noProof="0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2.2.3.2 &lt;collDate&gt;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latin typeface="+mj-lt"/>
                        </a:rPr>
                        <a:t>s:StudyUnit/d:DataCollection/d:CollectionEvent/d:DataCollectionDate/r:HistoricalDate</a:t>
                      </a:r>
                    </a:p>
                  </a:txBody>
                  <a:tcPr marL="9525" marR="9525" marT="9525" marB="0" anchor="ctr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Time Period Covered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2.2.3.1 &lt;timePrd&gt;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latin typeface="+mj-lt"/>
                        </a:rPr>
                        <a:t>s:StudyUnit/r:Coverage/r:TemporalCoverage/r:ReferenceDate/r:HistoricalDate</a:t>
                      </a:r>
                    </a:p>
                  </a:txBody>
                  <a:tcPr marL="9525" marR="9525" marT="9525" marB="0" anchor="ctr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Kind of Data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2.2.3.10 &lt;dataKind&gt;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latin typeface="+mj-lt"/>
                        </a:rPr>
                        <a:t>s:StudyUnit/s:KindOfData</a:t>
                      </a:r>
                    </a:p>
                  </a:txBody>
                  <a:tcPr marL="9525" marR="9525" marT="9525" marB="0" anchor="ctr"/>
                </a:tc>
              </a:tr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noProof="0" dirty="0" smtClean="0"/>
                        <a:t>Documents</a:t>
                      </a:r>
                      <a:endParaRPr lang="en-US" sz="1400" b="0" i="0" u="none" strike="noStrike" noProof="0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5.0 &lt;otherMat&gt;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noProof="0" dirty="0" smtClean="0"/>
                        <a:t>Sources</a:t>
                      </a:r>
                      <a:endParaRPr lang="en-US" sz="1400" b="0" i="0" u="none" strike="noStrike" noProof="0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chemeClr val="tx1"/>
                          </a:solidFill>
                          <a:latin typeface="+mj-lt"/>
                        </a:rPr>
                        <a:t>2.3.1.8 &lt;sources&gt;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noProof="0" dirty="0" smtClean="0"/>
                        <a:t>Notes</a:t>
                      </a:r>
                      <a:endParaRPr lang="en-US" sz="1400" b="0" i="0" u="none" strike="noStrike" noProof="0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latin typeface="+mj-lt"/>
                        </a:rPr>
                        <a:t>2.2.4 &lt;notes&gt;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latin typeface="+mj-lt"/>
                        </a:rPr>
                        <a:t>s:StudyUnit/r:Note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Schema Fields: Dataset Level</a:t>
            </a:r>
            <a:endParaRPr lang="fr-FR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611560" y="2464058"/>
          <a:ext cx="7920880" cy="19298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40529"/>
                <a:gridCol w="1235935"/>
                <a:gridCol w="3744416"/>
              </a:tblGrid>
              <a:tr h="259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noProof="0" dirty="0" smtClean="0"/>
                        <a:t>Dataset level</a:t>
                      </a:r>
                      <a:endParaRPr lang="en-US" sz="13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noProof="0" dirty="0" smtClean="0">
                          <a:solidFill>
                            <a:schemeClr val="bg1"/>
                          </a:solidFill>
                          <a:latin typeface="Calibri"/>
                        </a:rPr>
                        <a:t>DDI 2.1</a:t>
                      </a:r>
                      <a:endParaRPr lang="en-US" sz="1300" b="1" i="0" u="none" strike="noStrike" noProof="0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u="none" strike="noStrike" noProof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DDI 3</a:t>
                      </a:r>
                    </a:p>
                  </a:txBody>
                  <a:tcPr marL="7620" marR="7620" marT="7620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Dataset Identification Number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j-lt"/>
                        </a:rPr>
                        <a:t>2.1.1.5 &lt;</a:t>
                      </a:r>
                      <a:r>
                        <a:rPr lang="en-US" sz="1100" b="0" i="0" u="none" strike="noStrike" noProof="0" dirty="0" err="1" smtClean="0">
                          <a:solidFill>
                            <a:srgbClr val="000000"/>
                          </a:solidFill>
                          <a:latin typeface="+mj-lt"/>
                        </a:rPr>
                        <a:t>IDNo</a:t>
                      </a:r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j-lt"/>
                        </a:rPr>
                        <a:t>&gt;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p:PhysicalDataProduct/r:UserID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Name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p:PhysicalDataProduct/p:PhysicalDataProductName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dirty="0" smtClean="0"/>
                        <a:t>Access conditions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p:PhysicalDataProduct/p:PhysicalDataProductName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latin typeface="+mj-lt"/>
                        </a:rPr>
                        <a:t>xml:lang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="en"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smtClean="0"/>
                        <a:t>Other Access Conditions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j-lt"/>
                        </a:rPr>
                        <a:t>2.4.7.7 &lt;conditions&gt;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a:Archive/a:ArchiveSpecific/a:Item/a:Access/a:AccessConditions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smtClean="0"/>
                        <a:t>Description of accreditation procedures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noProof="0" smtClean="0"/>
                        <a:t>Contact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 dirty="0" smtClean="0">
                          <a:solidFill>
                            <a:srgbClr val="000000"/>
                          </a:solidFill>
                          <a:latin typeface="+mj-lt"/>
                        </a:rPr>
                        <a:t>2.4.2.4 &lt;contact&gt;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a:Archive/a:OrganizationScheme/a:Organization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noProof="0" dirty="0" smtClean="0"/>
                        <a:t>Notes</a:t>
                      </a:r>
                      <a:endParaRPr lang="en-US" sz="1400" b="0" i="0" u="none" strike="noStrike" noProof="0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a:Archive/r:Note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CIMES: Technical Aspects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endParaRPr lang="en-US" sz="19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 dirty="0" smtClean="0"/>
              <a:t>HTML5 Web</a:t>
            </a:r>
            <a:r>
              <a:rPr lang="en-US" sz="1900" dirty="0"/>
              <a:t>-based </a:t>
            </a:r>
            <a:r>
              <a:rPr lang="en-US" sz="1900" dirty="0" smtClean="0"/>
              <a:t>tool </a:t>
            </a:r>
            <a:endParaRPr lang="en-US" sz="19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 dirty="0"/>
              <a:t>MySQL </a:t>
            </a:r>
            <a:r>
              <a:rPr lang="en-US" sz="1900" dirty="0" smtClean="0"/>
              <a:t>database and PHP scripting engine.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 dirty="0" err="1" smtClean="0"/>
              <a:t>Javascript</a:t>
            </a:r>
            <a:r>
              <a:rPr lang="en-US" sz="1900" dirty="0" smtClean="0"/>
              <a:t> (</a:t>
            </a:r>
            <a:r>
              <a:rPr lang="en-US" sz="1900" dirty="0" err="1" smtClean="0"/>
              <a:t>Mootools</a:t>
            </a:r>
            <a:r>
              <a:rPr lang="en-US" sz="1900" dirty="0" smtClean="0"/>
              <a:t> framework) and CSS3 client side.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 dirty="0" smtClean="0"/>
              <a:t>Works with any standard compliant browser </a:t>
            </a:r>
            <a:r>
              <a:rPr lang="en-US" sz="1400" dirty="0" smtClean="0"/>
              <a:t>(and even with Internet Explorer 8…).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fr-FR" dirty="0" smtClean="0"/>
              <a:t>DDI2 import </a:t>
            </a:r>
            <a:r>
              <a:rPr lang="fr-FR" dirty="0" err="1" smtClean="0"/>
              <a:t>functionality</a:t>
            </a:r>
            <a:endParaRPr lang="fr-FR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fr-FR" dirty="0" smtClean="0"/>
          </a:p>
          <a:p>
            <a:pPr marL="0" lvl="1" indent="0">
              <a:buNone/>
            </a:pPr>
            <a:r>
              <a:rPr lang="fr-FR" dirty="0" smtClean="0"/>
              <a:t>The CIMES </a:t>
            </a:r>
            <a:r>
              <a:rPr lang="fr-FR" dirty="0" err="1" smtClean="0"/>
              <a:t>tool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hosted</a:t>
            </a:r>
            <a:r>
              <a:rPr lang="fr-FR" dirty="0" smtClean="0"/>
              <a:t> on </a:t>
            </a:r>
            <a:r>
              <a:rPr lang="fr-FR" dirty="0" err="1" smtClean="0"/>
              <a:t>any</a:t>
            </a:r>
            <a:r>
              <a:rPr lang="fr-FR" dirty="0" smtClean="0"/>
              <a:t> web server (Apache, IIS) </a:t>
            </a:r>
            <a:r>
              <a:rPr lang="fr-FR" dirty="0" err="1" smtClean="0"/>
              <a:t>with</a:t>
            </a:r>
            <a:r>
              <a:rPr lang="fr-FR" dirty="0" smtClean="0"/>
              <a:t> minimal configuration/modification.</a:t>
            </a:r>
          </a:p>
          <a:p>
            <a:pPr marL="0" lvl="1" indent="0">
              <a:buNone/>
            </a:pPr>
            <a:r>
              <a:rPr lang="fr-FR" dirty="0" smtClean="0"/>
              <a:t>	</a:t>
            </a:r>
          </a:p>
          <a:p>
            <a:pPr marL="0" lvl="1" indent="0">
              <a:buNone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 client software installation </a:t>
            </a:r>
            <a:r>
              <a:rPr lang="fr-FR" dirty="0" err="1" smtClean="0"/>
              <a:t>needed</a:t>
            </a:r>
            <a:r>
              <a:rPr lang="fr-FR" dirty="0" smtClean="0"/>
              <a:t>.</a:t>
            </a:r>
          </a:p>
          <a:p>
            <a:pPr marL="0" lvl="1" indent="0">
              <a:buNone/>
            </a:pPr>
            <a:r>
              <a:rPr lang="fr-FR" dirty="0" err="1" smtClean="0"/>
              <a:t>Every</a:t>
            </a:r>
            <a:r>
              <a:rPr lang="fr-FR" dirty="0" smtClean="0"/>
              <a:t> update and bug </a:t>
            </a:r>
            <a:r>
              <a:rPr lang="fr-FR" dirty="0" err="1" smtClean="0"/>
              <a:t>fix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immediately</a:t>
            </a:r>
            <a:r>
              <a:rPr lang="fr-FR" dirty="0" smtClean="0"/>
              <a:t> made </a:t>
            </a:r>
            <a:r>
              <a:rPr lang="fr-FR" dirty="0" err="1" smtClean="0"/>
              <a:t>available</a:t>
            </a:r>
            <a:r>
              <a:rPr lang="fr-FR" dirty="0" smtClean="0"/>
              <a:t> to all the </a:t>
            </a:r>
            <a:r>
              <a:rPr lang="fr-FR" dirty="0" err="1" smtClean="0"/>
              <a:t>users</a:t>
            </a:r>
            <a:r>
              <a:rPr lang="fr-FR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Modélisation-WP5-v1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" y="375561"/>
            <a:ext cx="9144000" cy="64824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State-of-</a:t>
            </a:r>
            <a:r>
              <a:rPr lang="fr-FR" dirty="0" err="1" smtClean="0"/>
              <a:t>play</a:t>
            </a:r>
            <a:r>
              <a:rPr lang="fr-FR" dirty="0" smtClean="0"/>
              <a:t> &amp; Future </a:t>
            </a:r>
            <a:r>
              <a:rPr lang="fr-FR" dirty="0" err="1" smtClean="0"/>
              <a:t>Developments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We plan to document surveys on most commonly studied topics in comparative research projects in order to facilitate international comparisons across c.a. 20 European countries</a:t>
            </a:r>
          </a:p>
          <a:p>
            <a:pPr marL="717550" lvl="2" indent="-342900">
              <a:buFont typeface="Wingdings" pitchFamily="2" charset="2"/>
              <a:buChar char="Ø"/>
            </a:pPr>
            <a:r>
              <a:rPr lang="en-US" sz="2400" dirty="0" smtClean="0"/>
              <a:t>Living conditions, Employment, Education, Social Mobility, Structure of Earnings, Working Conditions, Innovation.</a:t>
            </a:r>
            <a:endParaRPr lang="fr-FR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We plan to make the metadata available by the end of the year 2013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DwB with subtitl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89582" y="4941168"/>
            <a:ext cx="2764836" cy="792088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 smtClean="0"/>
              <a:t>Thanks for Listening</a:t>
            </a: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 smtClean="0"/>
          </a:p>
          <a:p>
            <a:r>
              <a:rPr lang="fr-FR" dirty="0" smtClean="0">
                <a:solidFill>
                  <a:schemeClr val="tx1"/>
                </a:solidFill>
              </a:rPr>
              <a:t>DwB </a:t>
            </a:r>
            <a:r>
              <a:rPr lang="fr-FR" dirty="0" err="1" smtClean="0">
                <a:solidFill>
                  <a:schemeClr val="tx1"/>
                </a:solidFill>
              </a:rPr>
              <a:t>website</a:t>
            </a:r>
            <a:r>
              <a:rPr lang="fr-FR" dirty="0" smtClean="0">
                <a:solidFill>
                  <a:schemeClr val="tx1"/>
                </a:solidFill>
              </a:rPr>
              <a:t>: </a:t>
            </a:r>
            <a:r>
              <a:rPr lang="fr-FR" dirty="0" smtClean="0">
                <a:hlinkClick r:id="rId4"/>
              </a:rPr>
              <a:t>http://www.dwbproject.org/</a:t>
            </a:r>
            <a:endParaRPr lang="fr-FR" dirty="0" smtClean="0"/>
          </a:p>
          <a:p>
            <a:endParaRPr lang="fr-FR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Personnalis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A71B3"/>
      </a:hlink>
      <a:folHlink>
        <a:srgbClr val="40A5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7474</TotalTime>
  <Words>645</Words>
  <Application>Microsoft Office PowerPoint</Application>
  <PresentationFormat>Affichage à l'écran (4:3)</PresentationFormat>
  <Paragraphs>166</Paragraphs>
  <Slides>13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Thème Office</vt:lpstr>
      <vt:lpstr>CIMES, a tool for describing European Official Statistics Microdata</vt:lpstr>
      <vt:lpstr>Outline</vt:lpstr>
      <vt:lpstr>DwB WP5 : Objectives and Tasks</vt:lpstr>
      <vt:lpstr>CIMES</vt:lpstr>
      <vt:lpstr>A Three-levels Schema</vt:lpstr>
      <vt:lpstr>A Two- or Three-levels Nested Hierarchy</vt:lpstr>
      <vt:lpstr>Schema Fields: Series Level</vt:lpstr>
      <vt:lpstr>Schema Fields: Study Level</vt:lpstr>
      <vt:lpstr>Schema Fields: Dataset Level</vt:lpstr>
      <vt:lpstr>CIMES: Technical Aspects</vt:lpstr>
      <vt:lpstr>Diapositive 11</vt:lpstr>
      <vt:lpstr>State-of-play &amp; Future Developments</vt:lpstr>
      <vt:lpstr>Thanks for Listening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DwB Standard Presentation</dc:title>
  <dc:creator>LIBES</dc:creator>
  <cp:lastModifiedBy>cjayet</cp:lastModifiedBy>
  <cp:revision>44</cp:revision>
  <dcterms:created xsi:type="dcterms:W3CDTF">2011-09-27T12:24:17Z</dcterms:created>
  <dcterms:modified xsi:type="dcterms:W3CDTF">2012-12-04T10:24:56Z</dcterms:modified>
</cp:coreProperties>
</file>