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tags/tag1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1" r:id="rId6"/>
    <p:sldId id="262" r:id="rId7"/>
    <p:sldId id="266" r:id="rId8"/>
    <p:sldId id="263" r:id="rId9"/>
    <p:sldId id="267" r:id="rId10"/>
    <p:sldId id="290" r:id="rId11"/>
    <p:sldId id="269" r:id="rId12"/>
    <p:sldId id="270" r:id="rId13"/>
    <p:sldId id="301" r:id="rId14"/>
    <p:sldId id="300" r:id="rId15"/>
    <p:sldId id="296" r:id="rId16"/>
    <p:sldId id="271" r:id="rId17"/>
    <p:sldId id="272" r:id="rId18"/>
    <p:sldId id="273" r:id="rId19"/>
    <p:sldId id="274" r:id="rId20"/>
    <p:sldId id="275" r:id="rId21"/>
    <p:sldId id="292" r:id="rId22"/>
    <p:sldId id="297" r:id="rId23"/>
    <p:sldId id="298" r:id="rId24"/>
    <p:sldId id="294" r:id="rId25"/>
    <p:sldId id="288" r:id="rId26"/>
    <p:sldId id="276" r:id="rId27"/>
    <p:sldId id="299" r:id="rId28"/>
    <p:sldId id="278" r:id="rId29"/>
    <p:sldId id="279" r:id="rId30"/>
    <p:sldId id="295" r:id="rId31"/>
    <p:sldId id="282" r:id="rId32"/>
    <p:sldId id="283" r:id="rId33"/>
    <p:sldId id="284" r:id="rId34"/>
    <p:sldId id="285" r:id="rId35"/>
    <p:sldId id="286" r:id="rId36"/>
    <p:sldId id="287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709" autoAdjust="0"/>
  </p:normalViewPr>
  <p:slideViewPr>
    <p:cSldViewPr>
      <p:cViewPr varScale="1">
        <p:scale>
          <a:sx n="70" d="100"/>
          <a:sy n="70" d="100"/>
        </p:scale>
        <p:origin x="-51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2A2A8C-667A-4A8E-8EE2-B75EA4F423F8}" type="datetimeFigureOut">
              <a:rPr lang="en-US" smtClean="0"/>
              <a:pPr/>
              <a:t>11/29/2012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A94348-750C-4486-8261-72862FCEA20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A94348-750C-4486-8261-72862FCEA203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A94348-750C-4486-8261-72862FCEA203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A94348-750C-4486-8261-72862FCEA203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A94348-750C-4486-8261-72862FCEA203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A94348-750C-4486-8261-72862FCEA203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A94348-750C-4486-8261-72862FCEA203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B0892C7-4B98-427E-B9A2-BA4A5487F332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A94348-750C-4486-8261-72862FCEA203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5363D52-2A27-4A04-BF47-6B524AEBD70A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A94348-750C-4486-8261-72862FCEA203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Q2012</a:t>
            </a:r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Q2012</a:t>
            </a:r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264257-D910-4AA6-B0A9-301C38B434C2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A94348-750C-4486-8261-72862FCEA203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A94348-750C-4486-8261-72862FCEA203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EE20E05-2B8C-43E8-8AEC-0A9325894966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Q2012</a:t>
            </a:r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Q2012</a:t>
            </a:r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Q2012</a:t>
            </a:r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Q2012</a:t>
            </a:r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A94348-750C-4486-8261-72862FCEA203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A94348-750C-4486-8261-72862FCEA203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A94348-750C-4486-8261-72862FCEA203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A94348-750C-4486-8261-72862FCEA203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A94348-750C-4486-8261-72862FCEA203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Q2012</a:t>
            </a:r>
            <a:endParaRPr 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A94348-750C-4486-8261-72862FCEA203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Q2012</a:t>
            </a:r>
            <a:endParaRPr 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45EC8-D5FE-4F47-8045-F36C42E5647E}" type="slidenum">
              <a:rPr lang="en-US" smtClean="0"/>
              <a:pPr/>
              <a:t>29</a:t>
            </a:fld>
            <a:endParaRPr 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A94348-750C-4486-8261-72862FCEA203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Q2012</a:t>
            </a:r>
            <a:endParaRPr 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264257-D910-4AA6-B0A9-301C38B434C2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264257-D910-4AA6-B0A9-301C38B434C2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264257-D910-4AA6-B0A9-301C38B434C2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264257-D910-4AA6-B0A9-301C38B434C2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Q2012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Svein Nordbotten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C97A7-9325-451A-A448-415A4DB6556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43608" y="764704"/>
            <a:ext cx="75429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Register-based Data and Statistical Services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44277" y="1772816"/>
            <a:ext cx="675710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70C0"/>
                </a:solidFill>
              </a:rPr>
              <a:t>By</a:t>
            </a:r>
          </a:p>
          <a:p>
            <a:endParaRPr lang="en-US" sz="2400" b="1" dirty="0">
              <a:solidFill>
                <a:srgbClr val="0070C0"/>
              </a:solidFill>
            </a:endParaRPr>
          </a:p>
          <a:p>
            <a:pPr algn="ctr"/>
            <a:r>
              <a:rPr lang="en-US" sz="2400" b="1" dirty="0" smtClean="0">
                <a:solidFill>
                  <a:srgbClr val="0070C0"/>
                </a:solidFill>
              </a:rPr>
              <a:t>Svein Nordbotten</a:t>
            </a:r>
          </a:p>
          <a:p>
            <a:pPr algn="ctr"/>
            <a:endParaRPr lang="en-US" sz="2400" b="1" dirty="0">
              <a:solidFill>
                <a:srgbClr val="0070C0"/>
              </a:solidFill>
            </a:endParaRPr>
          </a:p>
          <a:p>
            <a:pPr algn="ctr"/>
            <a:r>
              <a:rPr lang="en-US" sz="2400" b="1" dirty="0" smtClean="0">
                <a:solidFill>
                  <a:srgbClr val="0070C0"/>
                </a:solidFill>
              </a:rPr>
              <a:t>EDDI </a:t>
            </a:r>
            <a:r>
              <a:rPr lang="en-US" b="1" dirty="0" smtClean="0">
                <a:solidFill>
                  <a:srgbClr val="0070C0"/>
                </a:solidFill>
              </a:rPr>
              <a:t>12  –  </a:t>
            </a:r>
            <a:r>
              <a:rPr lang="en-US" sz="2400" b="1" dirty="0" smtClean="0">
                <a:solidFill>
                  <a:srgbClr val="0070C0"/>
                </a:solidFill>
              </a:rPr>
              <a:t>4</a:t>
            </a:r>
            <a:r>
              <a:rPr lang="en-US" sz="2400" b="1" baseline="30000" dirty="0" smtClean="0">
                <a:solidFill>
                  <a:srgbClr val="0070C0"/>
                </a:solidFill>
              </a:rPr>
              <a:t>th</a:t>
            </a:r>
            <a:r>
              <a:rPr lang="en-US" sz="2400" b="1" dirty="0" smtClean="0">
                <a:solidFill>
                  <a:srgbClr val="0070C0"/>
                </a:solidFill>
              </a:rPr>
              <a:t> Annual European DDI User Conference</a:t>
            </a:r>
          </a:p>
          <a:p>
            <a:pPr algn="ctr"/>
            <a:endParaRPr lang="en-US" sz="2400" b="1" dirty="0">
              <a:solidFill>
                <a:srgbClr val="0070C0"/>
              </a:solidFill>
            </a:endParaRPr>
          </a:p>
          <a:p>
            <a:pPr algn="ctr"/>
            <a:r>
              <a:rPr lang="en-US" sz="2400" b="1" dirty="0" smtClean="0">
                <a:solidFill>
                  <a:srgbClr val="0070C0"/>
                </a:solidFill>
              </a:rPr>
              <a:t>December 3, 2012  in Bergen, Norway 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763688" y="2564904"/>
            <a:ext cx="52952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Important events in the 1950s</a:t>
            </a:r>
            <a:endParaRPr lang="en-US" sz="32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389760" y="683985"/>
            <a:ext cx="38148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Electronic Computers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47664" y="2372687"/>
            <a:ext cx="69150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0070C0"/>
                </a:solidFill>
              </a:rPr>
              <a:t> high processing </a:t>
            </a:r>
            <a:r>
              <a:rPr lang="en-US" sz="2400" b="1" dirty="0" smtClean="0">
                <a:solidFill>
                  <a:srgbClr val="FF0000"/>
                </a:solidFill>
              </a:rPr>
              <a:t>speed</a:t>
            </a:r>
          </a:p>
          <a:p>
            <a:pPr>
              <a:buFont typeface="Arial" pitchFamily="34" charset="0"/>
              <a:buChar char="•"/>
            </a:pP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en-US" sz="2400" b="1" dirty="0" smtClean="0">
                <a:solidFill>
                  <a:srgbClr val="0070C0"/>
                </a:solidFill>
              </a:rPr>
              <a:t>huge </a:t>
            </a:r>
            <a:r>
              <a:rPr lang="en-US" sz="2400" b="1" dirty="0" smtClean="0">
                <a:solidFill>
                  <a:srgbClr val="FF0000"/>
                </a:solidFill>
              </a:rPr>
              <a:t>internal storage</a:t>
            </a:r>
            <a:r>
              <a:rPr lang="en-US" sz="2400" b="1" dirty="0" smtClean="0">
                <a:solidFill>
                  <a:srgbClr val="0070C0"/>
                </a:solidFill>
              </a:rPr>
              <a:t> capability</a:t>
            </a:r>
          </a:p>
          <a:p>
            <a:pPr>
              <a:buFont typeface="Arial" pitchFamily="34" charset="0"/>
              <a:buChar char="•"/>
            </a:pP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en-US" sz="2400" b="1" dirty="0" smtClean="0">
                <a:solidFill>
                  <a:srgbClr val="0070C0"/>
                </a:solidFill>
              </a:rPr>
              <a:t>processing controlled by </a:t>
            </a:r>
            <a:r>
              <a:rPr lang="en-US" sz="2400" b="1" dirty="0" smtClean="0">
                <a:solidFill>
                  <a:srgbClr val="FF0000"/>
                </a:solidFill>
              </a:rPr>
              <a:t>internally stored programs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691680" y="404664"/>
            <a:ext cx="56447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Permanent Population Registers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5576" y="2492896"/>
            <a:ext cx="725980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 </a:t>
            </a:r>
            <a:r>
              <a:rPr lang="en-US" sz="2400" b="1" dirty="0" smtClean="0">
                <a:solidFill>
                  <a:srgbClr val="FF0000"/>
                </a:solidFill>
              </a:rPr>
              <a:t>unique</a:t>
            </a:r>
            <a:r>
              <a:rPr lang="en-US" sz="2400" b="1" dirty="0" smtClean="0">
                <a:solidFill>
                  <a:srgbClr val="0070C0"/>
                </a:solidFill>
              </a:rPr>
              <a:t> and </a:t>
            </a:r>
            <a:r>
              <a:rPr lang="en-US" sz="2400" b="1" dirty="0" smtClean="0">
                <a:solidFill>
                  <a:srgbClr val="FF0000"/>
                </a:solidFill>
              </a:rPr>
              <a:t>permanent</a:t>
            </a:r>
            <a:r>
              <a:rPr lang="en-US" sz="2400" b="1" dirty="0" smtClean="0">
                <a:solidFill>
                  <a:srgbClr val="0070C0"/>
                </a:solidFill>
              </a:rPr>
              <a:t> identification numbers</a:t>
            </a:r>
          </a:p>
          <a:p>
            <a:pPr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FF0000"/>
                </a:solidFill>
              </a:rPr>
              <a:t> comprehensive</a:t>
            </a:r>
            <a:r>
              <a:rPr lang="en-US" sz="2400" b="1" dirty="0" smtClean="0">
                <a:solidFill>
                  <a:srgbClr val="0070C0"/>
                </a:solidFill>
              </a:rPr>
              <a:t> and </a:t>
            </a:r>
            <a:r>
              <a:rPr lang="en-US" sz="2400" b="1" dirty="0" smtClean="0">
                <a:solidFill>
                  <a:srgbClr val="FF0000"/>
                </a:solidFill>
              </a:rPr>
              <a:t>continuously</a:t>
            </a:r>
            <a:r>
              <a:rPr lang="en-US" sz="2400" b="1" dirty="0" smtClean="0">
                <a:solidFill>
                  <a:srgbClr val="0070C0"/>
                </a:solidFill>
              </a:rPr>
              <a:t> maintained registers</a:t>
            </a:r>
          </a:p>
          <a:p>
            <a:pPr>
              <a:buFont typeface="Arial" pitchFamily="34" charset="0"/>
              <a:buChar char="•"/>
            </a:pP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en-US" sz="2400" b="1" dirty="0" smtClean="0">
                <a:solidFill>
                  <a:srgbClr val="0070C0"/>
                </a:solidFill>
              </a:rPr>
              <a:t>used by </a:t>
            </a:r>
            <a:r>
              <a:rPr lang="en-US" sz="2400" b="1" dirty="0" smtClean="0">
                <a:solidFill>
                  <a:srgbClr val="FF0000"/>
                </a:solidFill>
              </a:rPr>
              <a:t>central </a:t>
            </a:r>
            <a:r>
              <a:rPr lang="en-US" sz="2400" b="1" dirty="0" smtClean="0">
                <a:solidFill>
                  <a:srgbClr val="0070C0"/>
                </a:solidFill>
              </a:rPr>
              <a:t>and</a:t>
            </a:r>
            <a:r>
              <a:rPr lang="en-US" sz="2400" b="1" dirty="0" smtClean="0">
                <a:solidFill>
                  <a:srgbClr val="FF0000"/>
                </a:solidFill>
              </a:rPr>
              <a:t> local public </a:t>
            </a:r>
            <a:r>
              <a:rPr lang="en-US" sz="2400" b="1" dirty="0" smtClean="0">
                <a:solidFill>
                  <a:srgbClr val="0070C0"/>
                </a:solidFill>
              </a:rPr>
              <a:t>agencies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051720" y="332656"/>
            <a:ext cx="44644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0070C0"/>
                </a:solidFill>
              </a:rPr>
              <a:t>Real World System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3528" y="2132856"/>
            <a:ext cx="836440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0070C0"/>
                </a:solidFill>
              </a:rPr>
              <a:t>  Society conceived as different types of </a:t>
            </a:r>
            <a:r>
              <a:rPr lang="en-US" sz="2400" b="1" dirty="0" smtClean="0">
                <a:solidFill>
                  <a:srgbClr val="FF0000"/>
                </a:solidFill>
              </a:rPr>
              <a:t>interacting objects</a:t>
            </a:r>
          </a:p>
          <a:p>
            <a:pPr>
              <a:buFont typeface="Arial" pitchFamily="34" charset="0"/>
              <a:buChar char="•"/>
            </a:pP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en-US" sz="2400" b="1" dirty="0" smtClean="0">
                <a:solidFill>
                  <a:srgbClr val="0070C0"/>
                </a:solidFill>
              </a:rPr>
              <a:t> Each object type associated with set of </a:t>
            </a:r>
            <a:r>
              <a:rPr lang="en-US" sz="2400" b="1" dirty="0" smtClean="0">
                <a:solidFill>
                  <a:srgbClr val="FF0000"/>
                </a:solidFill>
              </a:rPr>
              <a:t>attributes</a:t>
            </a:r>
          </a:p>
          <a:p>
            <a:pPr>
              <a:buFont typeface="Arial" pitchFamily="34" charset="0"/>
              <a:buChar char="•"/>
            </a:pP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en-US" sz="2400" b="1" dirty="0" smtClean="0">
                <a:solidFill>
                  <a:srgbClr val="0070C0"/>
                </a:solidFill>
              </a:rPr>
              <a:t> Each object has a </a:t>
            </a:r>
            <a:r>
              <a:rPr lang="en-US" sz="2400" b="1" dirty="0" smtClean="0">
                <a:solidFill>
                  <a:srgbClr val="FF0000"/>
                </a:solidFill>
              </a:rPr>
              <a:t>unique </a:t>
            </a:r>
            <a:r>
              <a:rPr lang="en-US" sz="2400" b="1" dirty="0" smtClean="0">
                <a:solidFill>
                  <a:srgbClr val="0070C0"/>
                </a:solidFill>
              </a:rPr>
              <a:t>and</a:t>
            </a:r>
            <a:r>
              <a:rPr lang="en-US" sz="2400" b="1" dirty="0" smtClean="0">
                <a:solidFill>
                  <a:srgbClr val="FF0000"/>
                </a:solidFill>
              </a:rPr>
              <a:t> permanent identifier</a:t>
            </a:r>
          </a:p>
          <a:p>
            <a:pPr>
              <a:buFont typeface="Arial" pitchFamily="34" charset="0"/>
              <a:buChar char="•"/>
            </a:pP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en-US" sz="2400" b="1" dirty="0" smtClean="0">
                <a:solidFill>
                  <a:srgbClr val="0070C0"/>
                </a:solidFill>
              </a:rPr>
              <a:t> At any point of </a:t>
            </a:r>
            <a:r>
              <a:rPr lang="en-US" sz="2400" b="1" dirty="0" smtClean="0">
                <a:solidFill>
                  <a:srgbClr val="FF0000"/>
                </a:solidFill>
              </a:rPr>
              <a:t>time</a:t>
            </a:r>
            <a:r>
              <a:rPr lang="en-US" sz="2400" b="1" dirty="0" smtClean="0">
                <a:solidFill>
                  <a:srgbClr val="0070C0"/>
                </a:solidFill>
              </a:rPr>
              <a:t>, each object have a set of </a:t>
            </a:r>
            <a:r>
              <a:rPr lang="en-US" sz="2400" b="1" dirty="0" smtClean="0">
                <a:solidFill>
                  <a:srgbClr val="FF0000"/>
                </a:solidFill>
              </a:rPr>
              <a:t>attribute values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0" y="2420888"/>
            <a:ext cx="923926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  </a:t>
            </a:r>
            <a:r>
              <a:rPr lang="en-US" sz="2400" b="1" dirty="0" smtClean="0">
                <a:solidFill>
                  <a:srgbClr val="0070C0"/>
                </a:solidFill>
              </a:rPr>
              <a:t>Object</a:t>
            </a:r>
            <a:r>
              <a:rPr lang="en-US" dirty="0" smtClean="0"/>
              <a:t> </a:t>
            </a:r>
            <a:r>
              <a:rPr lang="en-US" sz="2400" b="1" dirty="0" smtClean="0">
                <a:solidFill>
                  <a:srgbClr val="FF0000"/>
                </a:solidFill>
              </a:rPr>
              <a:t>registers</a:t>
            </a:r>
            <a:r>
              <a:rPr lang="en-US" sz="2400" b="1" dirty="0" smtClean="0">
                <a:solidFill>
                  <a:srgbClr val="0070C0"/>
                </a:solidFill>
              </a:rPr>
              <a:t> with permanent Ids are established, and maintained</a:t>
            </a:r>
          </a:p>
          <a:p>
            <a:pPr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0070C0"/>
                </a:solidFill>
              </a:rPr>
              <a:t>  Attribute </a:t>
            </a:r>
            <a:r>
              <a:rPr lang="en-US" sz="2400" b="1" dirty="0" smtClean="0">
                <a:solidFill>
                  <a:srgbClr val="FF0000"/>
                </a:solidFill>
              </a:rPr>
              <a:t>catalogues </a:t>
            </a:r>
            <a:r>
              <a:rPr lang="en-US" sz="2400" b="1" dirty="0" smtClean="0">
                <a:solidFill>
                  <a:srgbClr val="0070C0"/>
                </a:solidFill>
              </a:rPr>
              <a:t>are established/maintained for all object types</a:t>
            </a:r>
          </a:p>
          <a:p>
            <a:pPr>
              <a:buFont typeface="Arial" pitchFamily="34" charset="0"/>
              <a:buChar char="•"/>
            </a:pPr>
            <a:endParaRPr lang="en-US" sz="2400" b="1" dirty="0" smtClean="0">
              <a:solidFill>
                <a:srgbClr val="0070C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0070C0"/>
                </a:solidFill>
              </a:rPr>
              <a:t>  Data with IDs are </a:t>
            </a:r>
            <a:r>
              <a:rPr lang="en-US" sz="2400" b="1" dirty="0" smtClean="0">
                <a:solidFill>
                  <a:srgbClr val="FF0000"/>
                </a:solidFill>
              </a:rPr>
              <a:t>collected</a:t>
            </a:r>
            <a:r>
              <a:rPr lang="en-US" sz="2400" b="1" dirty="0" smtClean="0">
                <a:solidFill>
                  <a:srgbClr val="0070C0"/>
                </a:solidFill>
              </a:rPr>
              <a:t> based on the registers</a:t>
            </a:r>
          </a:p>
          <a:p>
            <a:pPr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0070C0"/>
                </a:solidFill>
              </a:rPr>
              <a:t>  Data are </a:t>
            </a:r>
            <a:r>
              <a:rPr lang="en-US" sz="2400" b="1" dirty="0" smtClean="0">
                <a:solidFill>
                  <a:srgbClr val="FF0000"/>
                </a:solidFill>
              </a:rPr>
              <a:t>organized</a:t>
            </a:r>
            <a:r>
              <a:rPr lang="en-US" sz="2400" b="1" dirty="0" smtClean="0">
                <a:solidFill>
                  <a:srgbClr val="0070C0"/>
                </a:solidFill>
              </a:rPr>
              <a:t> and saved by IDs, attributes and time</a:t>
            </a:r>
          </a:p>
          <a:p>
            <a:endParaRPr lang="en-US" sz="2400" b="1" dirty="0" smtClean="0">
              <a:solidFill>
                <a:srgbClr val="FF000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0070C0"/>
                </a:solidFill>
              </a:rPr>
              <a:t>  Data are </a:t>
            </a:r>
            <a:r>
              <a:rPr lang="en-US" sz="2400" b="1" dirty="0" smtClean="0">
                <a:solidFill>
                  <a:srgbClr val="FF0000"/>
                </a:solidFill>
              </a:rPr>
              <a:t>retrieved</a:t>
            </a:r>
            <a:r>
              <a:rPr lang="en-US" sz="2400" b="1" dirty="0" smtClean="0">
                <a:solidFill>
                  <a:srgbClr val="0070C0"/>
                </a:solidFill>
              </a:rPr>
              <a:t> on request by IDs, attributes and time</a:t>
            </a:r>
          </a:p>
          <a:p>
            <a:pPr>
              <a:buFont typeface="Arial" pitchFamily="34" charset="0"/>
              <a:buChar char="•"/>
            </a:pP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en-US" sz="2400" b="1" dirty="0" smtClean="0">
                <a:solidFill>
                  <a:srgbClr val="0070C0"/>
                </a:solidFill>
              </a:rPr>
              <a:t>  Data are processed according to </a:t>
            </a:r>
            <a:r>
              <a:rPr lang="en-US" sz="2400" b="1" dirty="0" smtClean="0">
                <a:solidFill>
                  <a:srgbClr val="FF0000"/>
                </a:solidFill>
              </a:rPr>
              <a:t>needs</a:t>
            </a:r>
            <a:r>
              <a:rPr lang="en-US" sz="2400" b="1" dirty="0" smtClean="0">
                <a:solidFill>
                  <a:srgbClr val="0070C0"/>
                </a:solidFill>
              </a:rPr>
              <a:t> subject to </a:t>
            </a:r>
            <a:r>
              <a:rPr lang="en-US" sz="2400" b="1" dirty="0" smtClean="0">
                <a:solidFill>
                  <a:srgbClr val="FF0000"/>
                </a:solidFill>
              </a:rPr>
              <a:t>confidentiality</a:t>
            </a:r>
            <a:r>
              <a:rPr lang="en-US" sz="2400" b="1" dirty="0" smtClean="0">
                <a:solidFill>
                  <a:srgbClr val="0070C0"/>
                </a:solidFill>
              </a:rPr>
              <a:t>.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3568" y="346321"/>
            <a:ext cx="812183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Statistical Register-based/Archive/File Systems</a:t>
            </a:r>
          </a:p>
          <a:p>
            <a:pPr algn="ctr"/>
            <a:r>
              <a:rPr lang="en-US" sz="2800" b="1" dirty="0" smtClean="0">
                <a:solidFill>
                  <a:srgbClr val="0070C0"/>
                </a:solidFill>
              </a:rPr>
              <a:t>Data collection, storage and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520" y="1671191"/>
            <a:ext cx="2605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smtClean="0">
                <a:solidFill>
                  <a:srgbClr val="0070C0"/>
                </a:solidFill>
              </a:rPr>
              <a:t>Basic assumptions:</a:t>
            </a:r>
            <a:endParaRPr lang="en-US" sz="2400" b="1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Svein Nordbotten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rot="5400000" flipH="1" flipV="1">
            <a:off x="-190500" y="3213100"/>
            <a:ext cx="4040188" cy="1588"/>
          </a:xfrm>
          <a:prstGeom prst="straightConnector1">
            <a:avLst/>
          </a:prstGeom>
          <a:ln w="38100">
            <a:prstDash val="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1905000" y="5257800"/>
            <a:ext cx="5867400" cy="762000"/>
          </a:xfrm>
          <a:prstGeom prst="straightConnector1">
            <a:avLst/>
          </a:prstGeom>
          <a:ln w="28575">
            <a:solidFill>
              <a:srgbClr val="002060"/>
            </a:solidFill>
            <a:prstDash val="lg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47" name="TextBox 23"/>
          <p:cNvSpPr txBox="1">
            <a:spLocks noChangeArrowheads="1"/>
          </p:cNvSpPr>
          <p:nvPr/>
        </p:nvSpPr>
        <p:spPr bwMode="auto">
          <a:xfrm>
            <a:off x="762000" y="5649913"/>
            <a:ext cx="9747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nb-NO" sz="2000">
                <a:latin typeface="Constantia" pitchFamily="18" charset="0"/>
              </a:rPr>
              <a:t>Objects</a:t>
            </a:r>
            <a:endParaRPr lang="en-US" sz="2000">
              <a:latin typeface="Constantia" pitchFamily="18" charset="0"/>
            </a:endParaRPr>
          </a:p>
        </p:txBody>
      </p:sp>
      <p:sp>
        <p:nvSpPr>
          <p:cNvPr id="10248" name="TextBox 30"/>
          <p:cNvSpPr txBox="1">
            <a:spLocks noChangeArrowheads="1"/>
          </p:cNvSpPr>
          <p:nvPr/>
        </p:nvSpPr>
        <p:spPr bwMode="auto">
          <a:xfrm>
            <a:off x="1143000" y="849313"/>
            <a:ext cx="12287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nb-NO" sz="2000">
                <a:latin typeface="Constantia" pitchFamily="18" charset="0"/>
              </a:rPr>
              <a:t>Attributes</a:t>
            </a:r>
            <a:endParaRPr lang="en-US" sz="2000">
              <a:latin typeface="Constantia" pitchFamily="18" charset="0"/>
            </a:endParaRPr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2209800" y="2971800"/>
            <a:ext cx="2667000" cy="198120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1828800" y="1143000"/>
            <a:ext cx="29718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2209800" y="4953000"/>
            <a:ext cx="38100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4876800" y="2971800"/>
            <a:ext cx="2667000" cy="15240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rot="5400000" flipH="1" flipV="1">
            <a:off x="5372100" y="3543300"/>
            <a:ext cx="2667000" cy="1676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 rot="5400000" flipH="1" flipV="1">
            <a:off x="534194" y="3352006"/>
            <a:ext cx="3352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/>
          <p:nvPr/>
        </p:nvCxnSpPr>
        <p:spPr>
          <a:xfrm rot="5400000" flipH="1" flipV="1">
            <a:off x="3960813" y="2057400"/>
            <a:ext cx="1830388" cy="1587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/>
          <p:nvPr/>
        </p:nvCxnSpPr>
        <p:spPr>
          <a:xfrm rot="10800000" flipV="1">
            <a:off x="1447800" y="4953000"/>
            <a:ext cx="762000" cy="533400"/>
          </a:xfrm>
          <a:prstGeom prst="line">
            <a:avLst/>
          </a:prstGeom>
          <a:ln w="381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/>
          <p:cNvCxnSpPr/>
          <p:nvPr/>
        </p:nvCxnSpPr>
        <p:spPr>
          <a:xfrm rot="5400000" flipH="1" flipV="1">
            <a:off x="4267994" y="3580606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 flipV="1">
            <a:off x="6096000" y="1219200"/>
            <a:ext cx="1447800" cy="53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/>
          <p:cNvCxnSpPr/>
          <p:nvPr/>
        </p:nvCxnSpPr>
        <p:spPr>
          <a:xfrm>
            <a:off x="4876800" y="1143000"/>
            <a:ext cx="26670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/>
          <p:cNvCxnSpPr/>
          <p:nvPr/>
        </p:nvCxnSpPr>
        <p:spPr>
          <a:xfrm rot="5400000" flipH="1" flipV="1">
            <a:off x="6592094" y="2170906"/>
            <a:ext cx="1905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/>
          <p:cNvCxnSpPr/>
          <p:nvPr/>
        </p:nvCxnSpPr>
        <p:spPr>
          <a:xfrm>
            <a:off x="2438400" y="1600200"/>
            <a:ext cx="38862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/>
          <p:cNvCxnSpPr/>
          <p:nvPr/>
        </p:nvCxnSpPr>
        <p:spPr>
          <a:xfrm>
            <a:off x="2133600" y="1676400"/>
            <a:ext cx="39624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/>
          <p:cNvCxnSpPr/>
          <p:nvPr/>
        </p:nvCxnSpPr>
        <p:spPr>
          <a:xfrm>
            <a:off x="2971800" y="1524000"/>
            <a:ext cx="35052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/>
          <p:cNvCxnSpPr/>
          <p:nvPr/>
        </p:nvCxnSpPr>
        <p:spPr>
          <a:xfrm>
            <a:off x="3352800" y="1447800"/>
            <a:ext cx="32766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/>
          <p:cNvCxnSpPr/>
          <p:nvPr/>
        </p:nvCxnSpPr>
        <p:spPr>
          <a:xfrm>
            <a:off x="3657600" y="1371600"/>
            <a:ext cx="32004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/>
        </p:nvCxnSpPr>
        <p:spPr>
          <a:xfrm>
            <a:off x="3962400" y="1295400"/>
            <a:ext cx="31242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/>
          <p:cNvCxnSpPr/>
          <p:nvPr/>
        </p:nvCxnSpPr>
        <p:spPr>
          <a:xfrm>
            <a:off x="4267200" y="1246188"/>
            <a:ext cx="30480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/>
          <p:cNvCxnSpPr/>
          <p:nvPr/>
        </p:nvCxnSpPr>
        <p:spPr>
          <a:xfrm>
            <a:off x="4611688" y="1179513"/>
            <a:ext cx="28194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/>
          <p:cNvCxnSpPr/>
          <p:nvPr/>
        </p:nvCxnSpPr>
        <p:spPr>
          <a:xfrm rot="5400000">
            <a:off x="4552950" y="3387725"/>
            <a:ext cx="3413125" cy="222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/>
          <p:cNvCxnSpPr/>
          <p:nvPr/>
        </p:nvCxnSpPr>
        <p:spPr>
          <a:xfrm rot="5400000">
            <a:off x="4876801" y="3200400"/>
            <a:ext cx="3200400" cy="3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/>
          <p:cNvCxnSpPr/>
          <p:nvPr/>
        </p:nvCxnSpPr>
        <p:spPr>
          <a:xfrm rot="5400000" flipH="1" flipV="1">
            <a:off x="5141913" y="3009900"/>
            <a:ext cx="2973388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/>
          <p:cNvCxnSpPr/>
          <p:nvPr/>
        </p:nvCxnSpPr>
        <p:spPr>
          <a:xfrm rot="16200000" flipV="1">
            <a:off x="5485607" y="2818606"/>
            <a:ext cx="2717800" cy="269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/>
          <p:cNvCxnSpPr/>
          <p:nvPr/>
        </p:nvCxnSpPr>
        <p:spPr>
          <a:xfrm rot="16200000" flipH="1">
            <a:off x="5843588" y="2643188"/>
            <a:ext cx="2468562" cy="174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/>
          <p:cNvCxnSpPr/>
          <p:nvPr/>
        </p:nvCxnSpPr>
        <p:spPr>
          <a:xfrm rot="5400000">
            <a:off x="6096001" y="2438400"/>
            <a:ext cx="2286000" cy="3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/>
          <p:cNvCxnSpPr/>
          <p:nvPr/>
        </p:nvCxnSpPr>
        <p:spPr>
          <a:xfrm rot="5400000">
            <a:off x="6362701" y="2324100"/>
            <a:ext cx="2057400" cy="3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76" name="TextBox 249"/>
          <p:cNvSpPr txBox="1">
            <a:spLocks noChangeArrowheads="1"/>
          </p:cNvSpPr>
          <p:nvPr/>
        </p:nvSpPr>
        <p:spPr bwMode="auto">
          <a:xfrm>
            <a:off x="8001000" y="5791200"/>
            <a:ext cx="7016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nb-NO" sz="2000">
                <a:latin typeface="Constantia" pitchFamily="18" charset="0"/>
              </a:rPr>
              <a:t>Time</a:t>
            </a:r>
            <a:endParaRPr lang="en-US" sz="2000">
              <a:latin typeface="Constantia" pitchFamily="18" charset="0"/>
            </a:endParaRPr>
          </a:p>
        </p:txBody>
      </p:sp>
      <p:cxnSp>
        <p:nvCxnSpPr>
          <p:cNvPr id="289" name="Straight Connector 288"/>
          <p:cNvCxnSpPr/>
          <p:nvPr/>
        </p:nvCxnSpPr>
        <p:spPr>
          <a:xfrm>
            <a:off x="2209800" y="1981200"/>
            <a:ext cx="388620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/>
          <p:cNvCxnSpPr/>
          <p:nvPr/>
        </p:nvCxnSpPr>
        <p:spPr>
          <a:xfrm>
            <a:off x="2209800" y="2286000"/>
            <a:ext cx="388620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/>
          <p:cNvCxnSpPr/>
          <p:nvPr/>
        </p:nvCxnSpPr>
        <p:spPr>
          <a:xfrm>
            <a:off x="2209800" y="2667000"/>
            <a:ext cx="388620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/>
          <p:cNvCxnSpPr/>
          <p:nvPr/>
        </p:nvCxnSpPr>
        <p:spPr>
          <a:xfrm rot="10800000" flipV="1">
            <a:off x="1371600" y="3048000"/>
            <a:ext cx="83820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/>
          <p:cNvCxnSpPr/>
          <p:nvPr/>
        </p:nvCxnSpPr>
        <p:spPr>
          <a:xfrm flipV="1">
            <a:off x="6096000" y="1981200"/>
            <a:ext cx="1447800" cy="129540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/>
          <p:cNvCxnSpPr/>
          <p:nvPr/>
        </p:nvCxnSpPr>
        <p:spPr>
          <a:xfrm>
            <a:off x="2209800" y="3435350"/>
            <a:ext cx="388620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/>
          <p:cNvCxnSpPr/>
          <p:nvPr/>
        </p:nvCxnSpPr>
        <p:spPr>
          <a:xfrm>
            <a:off x="2209800" y="4191000"/>
            <a:ext cx="3886200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/>
          <p:cNvCxnSpPr/>
          <p:nvPr/>
        </p:nvCxnSpPr>
        <p:spPr>
          <a:xfrm>
            <a:off x="2209800" y="4495800"/>
            <a:ext cx="38862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/>
          <p:cNvCxnSpPr/>
          <p:nvPr/>
        </p:nvCxnSpPr>
        <p:spPr>
          <a:xfrm rot="5400000" flipH="1" flipV="1">
            <a:off x="6019800" y="2667000"/>
            <a:ext cx="1600200" cy="144780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/>
          <p:cNvCxnSpPr/>
          <p:nvPr/>
        </p:nvCxnSpPr>
        <p:spPr>
          <a:xfrm rot="5400000" flipH="1" flipV="1">
            <a:off x="1790701" y="3467100"/>
            <a:ext cx="838200" cy="31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/>
          <p:cNvCxnSpPr/>
          <p:nvPr/>
        </p:nvCxnSpPr>
        <p:spPr>
          <a:xfrm rot="5400000" flipH="1" flipV="1">
            <a:off x="1142207" y="3353594"/>
            <a:ext cx="33528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/>
          <p:cNvCxnSpPr/>
          <p:nvPr/>
        </p:nvCxnSpPr>
        <p:spPr>
          <a:xfrm rot="5400000" flipH="1" flipV="1">
            <a:off x="1715294" y="3391694"/>
            <a:ext cx="3429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/>
          <p:cNvCxnSpPr/>
          <p:nvPr/>
        </p:nvCxnSpPr>
        <p:spPr>
          <a:xfrm rot="5400000" flipH="1" flipV="1">
            <a:off x="3238501" y="3543300"/>
            <a:ext cx="3581400" cy="3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/>
          <p:cNvCxnSpPr/>
          <p:nvPr/>
        </p:nvCxnSpPr>
        <p:spPr>
          <a:xfrm rot="5400000" flipH="1" flipV="1">
            <a:off x="3733801" y="3581400"/>
            <a:ext cx="3657600" cy="3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/>
          <p:cNvCxnSpPr/>
          <p:nvPr/>
        </p:nvCxnSpPr>
        <p:spPr>
          <a:xfrm rot="5400000">
            <a:off x="7239001" y="2286000"/>
            <a:ext cx="609600" cy="317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/>
          <p:cNvCxnSpPr/>
          <p:nvPr/>
        </p:nvCxnSpPr>
        <p:spPr>
          <a:xfrm flipV="1">
            <a:off x="3962400" y="1905000"/>
            <a:ext cx="1981200" cy="121920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/>
          <p:cNvCxnSpPr/>
          <p:nvPr/>
        </p:nvCxnSpPr>
        <p:spPr>
          <a:xfrm flipV="1">
            <a:off x="4495800" y="1905000"/>
            <a:ext cx="1905000" cy="129540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Straight Connector 342"/>
          <p:cNvCxnSpPr/>
          <p:nvPr/>
        </p:nvCxnSpPr>
        <p:spPr>
          <a:xfrm>
            <a:off x="4038600" y="3124200"/>
            <a:ext cx="527050" cy="396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Connector 346"/>
          <p:cNvCxnSpPr/>
          <p:nvPr/>
        </p:nvCxnSpPr>
        <p:spPr>
          <a:xfrm>
            <a:off x="3962400" y="4019550"/>
            <a:ext cx="527050" cy="4921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Connector 355"/>
          <p:cNvCxnSpPr/>
          <p:nvPr/>
        </p:nvCxnSpPr>
        <p:spPr>
          <a:xfrm rot="5400000">
            <a:off x="4038601" y="3657600"/>
            <a:ext cx="914400" cy="317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Straight Connector 357"/>
          <p:cNvCxnSpPr/>
          <p:nvPr/>
        </p:nvCxnSpPr>
        <p:spPr>
          <a:xfrm rot="5400000">
            <a:off x="3505201" y="3581400"/>
            <a:ext cx="914400" cy="317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359"/>
          <p:cNvCxnSpPr/>
          <p:nvPr/>
        </p:nvCxnSpPr>
        <p:spPr>
          <a:xfrm>
            <a:off x="5962650" y="1884363"/>
            <a:ext cx="438150" cy="22225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Straight Connector 361"/>
          <p:cNvCxnSpPr/>
          <p:nvPr/>
        </p:nvCxnSpPr>
        <p:spPr>
          <a:xfrm flipV="1">
            <a:off x="4495800" y="2514600"/>
            <a:ext cx="1905000" cy="152400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Straight Connector 363"/>
          <p:cNvCxnSpPr/>
          <p:nvPr/>
        </p:nvCxnSpPr>
        <p:spPr>
          <a:xfrm rot="5400000">
            <a:off x="6069807" y="2210594"/>
            <a:ext cx="617537" cy="9525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Connector 373"/>
          <p:cNvCxnSpPr/>
          <p:nvPr/>
        </p:nvCxnSpPr>
        <p:spPr>
          <a:xfrm>
            <a:off x="2209800" y="3048000"/>
            <a:ext cx="1752600" cy="7620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375"/>
          <p:cNvCxnSpPr/>
          <p:nvPr/>
        </p:nvCxnSpPr>
        <p:spPr>
          <a:xfrm>
            <a:off x="2209800" y="3886200"/>
            <a:ext cx="1752600" cy="15240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Connector 379"/>
          <p:cNvCxnSpPr/>
          <p:nvPr/>
        </p:nvCxnSpPr>
        <p:spPr>
          <a:xfrm rot="10800000" flipV="1">
            <a:off x="1352550" y="3886200"/>
            <a:ext cx="857250" cy="3651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Connector 386"/>
          <p:cNvCxnSpPr/>
          <p:nvPr/>
        </p:nvCxnSpPr>
        <p:spPr>
          <a:xfrm>
            <a:off x="4495800" y="3170238"/>
            <a:ext cx="16002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Straight Connector 388"/>
          <p:cNvCxnSpPr/>
          <p:nvPr/>
        </p:nvCxnSpPr>
        <p:spPr>
          <a:xfrm>
            <a:off x="4495800" y="4075113"/>
            <a:ext cx="160020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Straight Connector 390"/>
          <p:cNvCxnSpPr/>
          <p:nvPr/>
        </p:nvCxnSpPr>
        <p:spPr>
          <a:xfrm rot="5400000">
            <a:off x="3886201" y="4648200"/>
            <a:ext cx="1219200" cy="3175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Connector 392"/>
          <p:cNvCxnSpPr/>
          <p:nvPr/>
        </p:nvCxnSpPr>
        <p:spPr>
          <a:xfrm rot="5400000" flipH="1" flipV="1">
            <a:off x="3771901" y="2476500"/>
            <a:ext cx="1447800" cy="3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Straight Connector 394"/>
          <p:cNvCxnSpPr/>
          <p:nvPr/>
        </p:nvCxnSpPr>
        <p:spPr>
          <a:xfrm rot="5400000">
            <a:off x="3390901" y="4610100"/>
            <a:ext cx="1143000" cy="3175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Straight Connector 398"/>
          <p:cNvCxnSpPr/>
          <p:nvPr/>
        </p:nvCxnSpPr>
        <p:spPr>
          <a:xfrm rot="5400000" flipH="1" flipV="1">
            <a:off x="3275807" y="2401094"/>
            <a:ext cx="14478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Straight Connector 400"/>
          <p:cNvCxnSpPr/>
          <p:nvPr/>
        </p:nvCxnSpPr>
        <p:spPr>
          <a:xfrm>
            <a:off x="7543800" y="3124200"/>
            <a:ext cx="1169988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Straight Connector 402"/>
          <p:cNvCxnSpPr/>
          <p:nvPr/>
        </p:nvCxnSpPr>
        <p:spPr>
          <a:xfrm>
            <a:off x="6096000" y="5410200"/>
            <a:ext cx="17526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Straight Connector 409"/>
          <p:cNvCxnSpPr/>
          <p:nvPr/>
        </p:nvCxnSpPr>
        <p:spPr>
          <a:xfrm rot="5400000">
            <a:off x="3364706" y="5190332"/>
            <a:ext cx="606425" cy="5889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Connector 411"/>
          <p:cNvCxnSpPr/>
          <p:nvPr/>
        </p:nvCxnSpPr>
        <p:spPr>
          <a:xfrm rot="5400000">
            <a:off x="3962400" y="5334000"/>
            <a:ext cx="6096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Straight Connector 414"/>
          <p:cNvCxnSpPr/>
          <p:nvPr/>
        </p:nvCxnSpPr>
        <p:spPr>
          <a:xfrm rot="10800000" flipV="1">
            <a:off x="6096000" y="1447800"/>
            <a:ext cx="1447800" cy="68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Straight Connector 416"/>
          <p:cNvCxnSpPr/>
          <p:nvPr/>
        </p:nvCxnSpPr>
        <p:spPr>
          <a:xfrm rot="10800000" flipV="1">
            <a:off x="6096000" y="1676400"/>
            <a:ext cx="1447800" cy="76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Straight Connector 418"/>
          <p:cNvCxnSpPr/>
          <p:nvPr/>
        </p:nvCxnSpPr>
        <p:spPr>
          <a:xfrm rot="10800000" flipV="1">
            <a:off x="6096000" y="1828800"/>
            <a:ext cx="1447800" cy="99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Straight Connector 420"/>
          <p:cNvCxnSpPr/>
          <p:nvPr/>
        </p:nvCxnSpPr>
        <p:spPr>
          <a:xfrm flipV="1">
            <a:off x="2798763" y="1143000"/>
            <a:ext cx="2382837" cy="549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Straight Connector 422"/>
          <p:cNvCxnSpPr/>
          <p:nvPr/>
        </p:nvCxnSpPr>
        <p:spPr>
          <a:xfrm flipV="1">
            <a:off x="3429000" y="1143000"/>
            <a:ext cx="1981200" cy="53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Straight Connector 424"/>
          <p:cNvCxnSpPr/>
          <p:nvPr/>
        </p:nvCxnSpPr>
        <p:spPr>
          <a:xfrm flipV="1">
            <a:off x="5029200" y="1219200"/>
            <a:ext cx="1600200" cy="53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Straight Connector 429"/>
          <p:cNvCxnSpPr/>
          <p:nvPr/>
        </p:nvCxnSpPr>
        <p:spPr>
          <a:xfrm flipV="1">
            <a:off x="3962400" y="1143000"/>
            <a:ext cx="1828800" cy="5826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Connector 434"/>
          <p:cNvCxnSpPr/>
          <p:nvPr/>
        </p:nvCxnSpPr>
        <p:spPr>
          <a:xfrm flipV="1">
            <a:off x="4495800" y="1189038"/>
            <a:ext cx="1685925" cy="5635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9" name="Straight Connector 438"/>
          <p:cNvCxnSpPr/>
          <p:nvPr/>
        </p:nvCxnSpPr>
        <p:spPr>
          <a:xfrm flipV="1">
            <a:off x="5562600" y="1219200"/>
            <a:ext cx="1524000" cy="53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23" name="TextBox 439"/>
          <p:cNvSpPr txBox="1">
            <a:spLocks noChangeArrowheads="1"/>
          </p:cNvSpPr>
          <p:nvPr/>
        </p:nvSpPr>
        <p:spPr bwMode="auto">
          <a:xfrm>
            <a:off x="457200" y="3505200"/>
            <a:ext cx="1100138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nb-NO">
                <a:solidFill>
                  <a:srgbClr val="FF0000"/>
                </a:solidFill>
                <a:latin typeface="Constantia" pitchFamily="18" charset="0"/>
              </a:rPr>
              <a:t>Census</a:t>
            </a:r>
          </a:p>
          <a:p>
            <a:r>
              <a:rPr lang="nb-NO">
                <a:solidFill>
                  <a:srgbClr val="FF0000"/>
                </a:solidFill>
                <a:latin typeface="Constantia" pitchFamily="18" charset="0"/>
              </a:rPr>
              <a:t>attributes</a:t>
            </a:r>
            <a:endParaRPr lang="en-US">
              <a:solidFill>
                <a:srgbClr val="FF0000"/>
              </a:solidFill>
              <a:latin typeface="Constantia" pitchFamily="18" charset="0"/>
            </a:endParaRPr>
          </a:p>
        </p:txBody>
      </p:sp>
      <p:sp>
        <p:nvSpPr>
          <p:cNvPr id="10324" name="TextBox 441"/>
          <p:cNvSpPr txBox="1">
            <a:spLocks noChangeArrowheads="1"/>
          </p:cNvSpPr>
          <p:nvPr/>
        </p:nvSpPr>
        <p:spPr bwMode="auto">
          <a:xfrm>
            <a:off x="3200400" y="5791200"/>
            <a:ext cx="846138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nb-NO">
                <a:solidFill>
                  <a:srgbClr val="FF0000"/>
                </a:solidFill>
                <a:latin typeface="Constantia" pitchFamily="18" charset="0"/>
              </a:rPr>
              <a:t>Census</a:t>
            </a:r>
          </a:p>
          <a:p>
            <a:r>
              <a:rPr lang="nb-NO">
                <a:solidFill>
                  <a:srgbClr val="FF0000"/>
                </a:solidFill>
                <a:latin typeface="Constantia" pitchFamily="18" charset="0"/>
              </a:rPr>
              <a:t>day</a:t>
            </a:r>
            <a:endParaRPr lang="en-US">
              <a:solidFill>
                <a:srgbClr val="FF0000"/>
              </a:solidFill>
              <a:latin typeface="Constantia" pitchFamily="18" charset="0"/>
            </a:endParaRPr>
          </a:p>
        </p:txBody>
      </p:sp>
      <p:sp>
        <p:nvSpPr>
          <p:cNvPr id="10325" name="TextBox 442"/>
          <p:cNvSpPr txBox="1">
            <a:spLocks noChangeArrowheads="1"/>
          </p:cNvSpPr>
          <p:nvPr/>
        </p:nvSpPr>
        <p:spPr bwMode="auto">
          <a:xfrm>
            <a:off x="7391400" y="3886200"/>
            <a:ext cx="12065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nb-NO">
                <a:solidFill>
                  <a:srgbClr val="FF0000"/>
                </a:solidFill>
                <a:latin typeface="Constantia" pitchFamily="18" charset="0"/>
              </a:rPr>
              <a:t>Human</a:t>
            </a:r>
          </a:p>
          <a:p>
            <a:r>
              <a:rPr lang="nb-NO">
                <a:solidFill>
                  <a:srgbClr val="FF0000"/>
                </a:solidFill>
                <a:latin typeface="Constantia" pitchFamily="18" charset="0"/>
              </a:rPr>
              <a:t>population</a:t>
            </a:r>
            <a:endParaRPr lang="en-US">
              <a:solidFill>
                <a:srgbClr val="FF0000"/>
              </a:solidFill>
              <a:latin typeface="Constantia" pitchFamily="18" charset="0"/>
            </a:endParaRPr>
          </a:p>
        </p:txBody>
      </p:sp>
      <p:sp>
        <p:nvSpPr>
          <p:cNvPr id="10326" name="TextBox 445"/>
          <p:cNvSpPr txBox="1">
            <a:spLocks noChangeArrowheads="1"/>
          </p:cNvSpPr>
          <p:nvPr/>
        </p:nvSpPr>
        <p:spPr bwMode="auto">
          <a:xfrm>
            <a:off x="1331640" y="169476"/>
            <a:ext cx="663790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nb-NO" sz="2800" b="1" dirty="0">
                <a:solidFill>
                  <a:srgbClr val="0070C0"/>
                </a:solidFill>
                <a:latin typeface="Constantia" pitchFamily="18" charset="0"/>
              </a:rPr>
              <a:t>Archive </a:t>
            </a:r>
            <a:r>
              <a:rPr lang="nb-NO" sz="2800" b="1" dirty="0" smtClean="0">
                <a:solidFill>
                  <a:srgbClr val="0070C0"/>
                </a:solidFill>
                <a:latin typeface="Constantia" pitchFamily="18" charset="0"/>
              </a:rPr>
              <a:t>Data Container from the 1960s</a:t>
            </a:r>
            <a:endParaRPr lang="en-US" sz="2800" b="1" dirty="0">
              <a:solidFill>
                <a:srgbClr val="0070C0"/>
              </a:solidFill>
              <a:latin typeface="Constantia" pitchFamily="18" charset="0"/>
            </a:endParaRPr>
          </a:p>
        </p:txBody>
      </p:sp>
      <p:cxnSp>
        <p:nvCxnSpPr>
          <p:cNvPr id="450" name="Straight Connector 449"/>
          <p:cNvCxnSpPr/>
          <p:nvPr/>
        </p:nvCxnSpPr>
        <p:spPr>
          <a:xfrm>
            <a:off x="3962400" y="3581400"/>
            <a:ext cx="517525" cy="3016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/>
          <p:cNvCxnSpPr/>
          <p:nvPr/>
        </p:nvCxnSpPr>
        <p:spPr>
          <a:xfrm flipV="1">
            <a:off x="4495800" y="2209800"/>
            <a:ext cx="1905000" cy="144780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 rot="5400000">
            <a:off x="1257301" y="3695700"/>
            <a:ext cx="838200" cy="3175"/>
          </a:xfrm>
          <a:prstGeom prst="line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3581400" y="5638800"/>
            <a:ext cx="533400" cy="76200"/>
          </a:xfrm>
          <a:prstGeom prst="line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/>
          <p:nvPr/>
        </p:nvCxnSpPr>
        <p:spPr>
          <a:xfrm rot="5400000">
            <a:off x="5943600" y="3581400"/>
            <a:ext cx="2286000" cy="1371600"/>
          </a:xfrm>
          <a:prstGeom prst="line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 rot="10800000">
            <a:off x="4151313" y="2998788"/>
            <a:ext cx="573087" cy="49212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 rot="5400000">
            <a:off x="4302125" y="3470275"/>
            <a:ext cx="814388" cy="1588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4379913" y="2862263"/>
            <a:ext cx="512762" cy="36512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 rot="5400000">
            <a:off x="4495801" y="3352800"/>
            <a:ext cx="762000" cy="3175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>
            <a:off x="4648200" y="2733675"/>
            <a:ext cx="481013" cy="28575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 rot="5400000">
            <a:off x="4724401" y="3154362"/>
            <a:ext cx="762000" cy="3175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4876800" y="2590800"/>
            <a:ext cx="463550" cy="23813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>
            <a:off x="5065713" y="2451100"/>
            <a:ext cx="457200" cy="26988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/>
          <p:nvPr/>
        </p:nvCxnSpPr>
        <p:spPr>
          <a:xfrm>
            <a:off x="5230813" y="2312988"/>
            <a:ext cx="484187" cy="36512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>
            <a:off x="5486400" y="2209800"/>
            <a:ext cx="420688" cy="30163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>
            <a:off x="5562600" y="2133600"/>
            <a:ext cx="454025" cy="23813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/>
          <p:nvPr/>
        </p:nvCxnSpPr>
        <p:spPr>
          <a:xfrm>
            <a:off x="5724525" y="2038350"/>
            <a:ext cx="438150" cy="28575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/>
          <p:nvPr/>
        </p:nvCxnSpPr>
        <p:spPr>
          <a:xfrm>
            <a:off x="5870575" y="1957388"/>
            <a:ext cx="393700" cy="26987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/>
          <p:nvPr/>
        </p:nvCxnSpPr>
        <p:spPr>
          <a:xfrm rot="5400000">
            <a:off x="4953001" y="2971800"/>
            <a:ext cx="762000" cy="3175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/>
          <p:nvPr/>
        </p:nvCxnSpPr>
        <p:spPr>
          <a:xfrm rot="5400000">
            <a:off x="5180807" y="2839244"/>
            <a:ext cx="685800" cy="1587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 rot="5400000">
            <a:off x="5372101" y="2705100"/>
            <a:ext cx="685800" cy="3175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/>
          <p:nvPr/>
        </p:nvCxnSpPr>
        <p:spPr>
          <a:xfrm rot="5400000">
            <a:off x="5562601" y="2590800"/>
            <a:ext cx="609600" cy="3175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/>
          <p:cNvCxnSpPr/>
          <p:nvPr/>
        </p:nvCxnSpPr>
        <p:spPr>
          <a:xfrm rot="5400000">
            <a:off x="5676901" y="2476500"/>
            <a:ext cx="685800" cy="3175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/>
          <p:nvPr/>
        </p:nvCxnSpPr>
        <p:spPr>
          <a:xfrm rot="5400000">
            <a:off x="5943601" y="2286000"/>
            <a:ext cx="609600" cy="3175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/>
          <p:cNvCxnSpPr/>
          <p:nvPr/>
        </p:nvCxnSpPr>
        <p:spPr>
          <a:xfrm rot="5400000">
            <a:off x="5799932" y="2401094"/>
            <a:ext cx="685800" cy="1587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 rot="5400000" flipH="1" flipV="1">
            <a:off x="6096000" y="2286000"/>
            <a:ext cx="1447800" cy="144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Date Placeholder 1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116" name="Slide Number Placeholder 1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03008" y="260648"/>
            <a:ext cx="83014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Events in Developing Statistical Archive Systems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3528" y="1124744"/>
            <a:ext cx="8159541" cy="5324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70C0"/>
                </a:solidFill>
              </a:rPr>
              <a:t>1960:  Paper based on a speech given to the </a:t>
            </a:r>
            <a:r>
              <a:rPr lang="en-US" sz="2000" b="1" dirty="0" smtClean="0">
                <a:solidFill>
                  <a:srgbClr val="FF0000"/>
                </a:solidFill>
              </a:rPr>
              <a:t>Meeting of Nordic Statisticians</a:t>
            </a:r>
          </a:p>
          <a:p>
            <a:endParaRPr lang="en-US" sz="2000" b="1" dirty="0">
              <a:solidFill>
                <a:srgbClr val="0070C0"/>
              </a:solidFill>
            </a:endParaRPr>
          </a:p>
          <a:p>
            <a:r>
              <a:rPr lang="en-US" sz="2000" b="1" dirty="0" smtClean="0">
                <a:solidFill>
                  <a:srgbClr val="0070C0"/>
                </a:solidFill>
              </a:rPr>
              <a:t>1967:  </a:t>
            </a:r>
            <a:r>
              <a:rPr lang="en-US" sz="2000" b="1" dirty="0" smtClean="0">
                <a:solidFill>
                  <a:srgbClr val="FF0000"/>
                </a:solidFill>
              </a:rPr>
              <a:t>Statistical File System</a:t>
            </a:r>
            <a:r>
              <a:rPr lang="en-US" sz="2000" b="1" dirty="0" smtClean="0">
                <a:solidFill>
                  <a:srgbClr val="0070C0"/>
                </a:solidFill>
              </a:rPr>
              <a:t>. Handbook. United Nations.</a:t>
            </a:r>
          </a:p>
          <a:p>
            <a:endParaRPr lang="en-US" sz="2000" b="1" dirty="0">
              <a:solidFill>
                <a:srgbClr val="0070C0"/>
              </a:solidFill>
            </a:endParaRPr>
          </a:p>
          <a:p>
            <a:r>
              <a:rPr lang="en-US" sz="2000" b="1" dirty="0" smtClean="0">
                <a:solidFill>
                  <a:srgbClr val="0070C0"/>
                </a:solidFill>
              </a:rPr>
              <a:t>1965-1970: Papers  on </a:t>
            </a:r>
            <a:r>
              <a:rPr lang="en-US" sz="2000" b="1" dirty="0" smtClean="0">
                <a:solidFill>
                  <a:srgbClr val="FF0000"/>
                </a:solidFill>
              </a:rPr>
              <a:t>development, </a:t>
            </a:r>
            <a:r>
              <a:rPr lang="en-US" sz="2000" b="1" dirty="0" smtClean="0">
                <a:solidFill>
                  <a:srgbClr val="0070C0"/>
                </a:solidFill>
              </a:rPr>
              <a:t> </a:t>
            </a:r>
            <a:r>
              <a:rPr lang="en-US" sz="2000" b="1" dirty="0" smtClean="0">
                <a:solidFill>
                  <a:srgbClr val="FF0000"/>
                </a:solidFill>
              </a:rPr>
              <a:t>uses</a:t>
            </a:r>
            <a:r>
              <a:rPr lang="en-US" sz="2000" b="1" dirty="0" smtClean="0">
                <a:solidFill>
                  <a:srgbClr val="0070C0"/>
                </a:solidFill>
              </a:rPr>
              <a:t> and </a:t>
            </a:r>
            <a:r>
              <a:rPr lang="en-US" sz="2000" b="1" dirty="0" smtClean="0">
                <a:solidFill>
                  <a:srgbClr val="FF0000"/>
                </a:solidFill>
              </a:rPr>
              <a:t>legal aspects </a:t>
            </a:r>
            <a:r>
              <a:rPr lang="en-US" sz="2000" b="1" dirty="0" smtClean="0">
                <a:solidFill>
                  <a:srgbClr val="0070C0"/>
                </a:solidFill>
              </a:rPr>
              <a:t>of the system</a:t>
            </a:r>
          </a:p>
          <a:p>
            <a:endParaRPr lang="en-US" sz="2000" b="1" dirty="0">
              <a:solidFill>
                <a:srgbClr val="0070C0"/>
              </a:solidFill>
            </a:endParaRPr>
          </a:p>
          <a:p>
            <a:r>
              <a:rPr lang="en-US" sz="2000" b="1" dirty="0" smtClean="0">
                <a:solidFill>
                  <a:srgbClr val="0070C0"/>
                </a:solidFill>
              </a:rPr>
              <a:t>1965: </a:t>
            </a:r>
            <a:r>
              <a:rPr lang="en-US" sz="2000" b="1" dirty="0" smtClean="0">
                <a:solidFill>
                  <a:srgbClr val="FF0000"/>
                </a:solidFill>
              </a:rPr>
              <a:t>US National Data Center Proposal </a:t>
            </a:r>
            <a:r>
              <a:rPr lang="en-US" sz="2000" b="1" dirty="0" smtClean="0">
                <a:solidFill>
                  <a:srgbClr val="0070C0"/>
                </a:solidFill>
              </a:rPr>
              <a:t>from the Ruggles Committee </a:t>
            </a:r>
          </a:p>
          <a:p>
            <a:endParaRPr lang="en-US" sz="2000" b="1" dirty="0" smtClean="0">
              <a:solidFill>
                <a:srgbClr val="0070C0"/>
              </a:solidFill>
            </a:endParaRPr>
          </a:p>
          <a:p>
            <a:r>
              <a:rPr lang="en-US" sz="2000" b="1" dirty="0" smtClean="0">
                <a:solidFill>
                  <a:srgbClr val="0070C0"/>
                </a:solidFill>
              </a:rPr>
              <a:t>1967: Miller, A. R.: </a:t>
            </a:r>
            <a:r>
              <a:rPr lang="en-US" sz="2000" b="1" dirty="0" smtClean="0">
                <a:solidFill>
                  <a:srgbClr val="FF0000"/>
                </a:solidFill>
              </a:rPr>
              <a:t>The National Data Center.</a:t>
            </a:r>
            <a:r>
              <a:rPr lang="en-US" sz="2000" b="1" dirty="0" smtClean="0"/>
              <a:t> </a:t>
            </a:r>
            <a:r>
              <a:rPr lang="en-US" sz="2000" b="1" dirty="0" smtClean="0">
                <a:solidFill>
                  <a:srgbClr val="0070C0"/>
                </a:solidFill>
              </a:rPr>
              <a:t>The Atlantic</a:t>
            </a:r>
          </a:p>
          <a:p>
            <a:endParaRPr lang="en-US" sz="2000" b="1" dirty="0">
              <a:solidFill>
                <a:srgbClr val="0070C0"/>
              </a:solidFill>
            </a:endParaRPr>
          </a:p>
          <a:p>
            <a:r>
              <a:rPr lang="en-US" sz="2000" b="1" dirty="0" smtClean="0">
                <a:solidFill>
                  <a:srgbClr val="0070C0"/>
                </a:solidFill>
              </a:rPr>
              <a:t>1970-1980: </a:t>
            </a:r>
            <a:r>
              <a:rPr lang="en-US" sz="2000" b="1" dirty="0" smtClean="0">
                <a:solidFill>
                  <a:srgbClr val="FF0000"/>
                </a:solidFill>
              </a:rPr>
              <a:t>ARKSY</a:t>
            </a:r>
            <a:r>
              <a:rPr lang="en-US" sz="2000" b="1" dirty="0" smtClean="0">
                <a:solidFill>
                  <a:srgbClr val="0070C0"/>
                </a:solidFill>
              </a:rPr>
              <a:t> project in Sweden</a:t>
            </a:r>
          </a:p>
          <a:p>
            <a:endParaRPr lang="en-US" sz="2000" b="1" dirty="0" smtClean="0">
              <a:solidFill>
                <a:srgbClr val="0070C0"/>
              </a:solidFill>
            </a:endParaRPr>
          </a:p>
          <a:p>
            <a:r>
              <a:rPr lang="en-US" sz="2000" b="1" dirty="0" smtClean="0">
                <a:solidFill>
                  <a:srgbClr val="0070C0"/>
                </a:solidFill>
              </a:rPr>
              <a:t>1973:  Infological Approach to </a:t>
            </a:r>
            <a:r>
              <a:rPr lang="en-US" sz="2000" b="1" dirty="0" smtClean="0">
                <a:solidFill>
                  <a:srgbClr val="FF0000"/>
                </a:solidFill>
              </a:rPr>
              <a:t>Data Bases </a:t>
            </a:r>
            <a:r>
              <a:rPr lang="en-US" sz="2000" b="1" dirty="0" smtClean="0">
                <a:solidFill>
                  <a:srgbClr val="0070C0"/>
                </a:solidFill>
              </a:rPr>
              <a:t>by Bo Sundgren</a:t>
            </a:r>
          </a:p>
          <a:p>
            <a:endParaRPr lang="en-US" sz="2000" b="1" dirty="0">
              <a:solidFill>
                <a:srgbClr val="0070C0"/>
              </a:solidFill>
            </a:endParaRPr>
          </a:p>
          <a:p>
            <a:r>
              <a:rPr lang="en-US" sz="2000" b="1" dirty="0" smtClean="0">
                <a:solidFill>
                  <a:srgbClr val="0070C0"/>
                </a:solidFill>
              </a:rPr>
              <a:t>1981: First Register-based </a:t>
            </a:r>
            <a:r>
              <a:rPr lang="en-US" sz="2000" b="1" dirty="0" smtClean="0">
                <a:solidFill>
                  <a:srgbClr val="FF0000"/>
                </a:solidFill>
              </a:rPr>
              <a:t>Population Census </a:t>
            </a:r>
            <a:r>
              <a:rPr lang="en-US" sz="2000" b="1" dirty="0" smtClean="0">
                <a:solidFill>
                  <a:srgbClr val="0070C0"/>
                </a:solidFill>
              </a:rPr>
              <a:t>in Denmark</a:t>
            </a:r>
          </a:p>
          <a:p>
            <a:endParaRPr lang="en-US" sz="2000" b="1" dirty="0" smtClean="0">
              <a:solidFill>
                <a:srgbClr val="0070C0"/>
              </a:solidFill>
            </a:endParaRPr>
          </a:p>
          <a:p>
            <a:r>
              <a:rPr lang="en-US" sz="2000" b="1" dirty="0" smtClean="0">
                <a:solidFill>
                  <a:srgbClr val="0070C0"/>
                </a:solidFill>
              </a:rPr>
              <a:t>1990-: More register-based data </a:t>
            </a:r>
            <a:r>
              <a:rPr lang="en-US" sz="2000" b="1" dirty="0" smtClean="0">
                <a:solidFill>
                  <a:srgbClr val="FF0000"/>
                </a:solidFill>
              </a:rPr>
              <a:t>applications </a:t>
            </a:r>
            <a:r>
              <a:rPr lang="en-US" sz="2000" b="1" dirty="0" smtClean="0">
                <a:solidFill>
                  <a:srgbClr val="0070C0"/>
                </a:solidFill>
              </a:rPr>
              <a:t>and documentation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12/03/2012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Svein Nordbotten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DDF728-817F-44D7-A712-7702924D61E7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14341" name="TextBox 4"/>
          <p:cNvSpPr txBox="1">
            <a:spLocks noChangeArrowheads="1"/>
          </p:cNvSpPr>
          <p:nvPr/>
        </p:nvSpPr>
        <p:spPr bwMode="auto">
          <a:xfrm>
            <a:off x="1259632" y="404664"/>
            <a:ext cx="671145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nb-NO" sz="3200" b="1" dirty="0" smtClean="0">
                <a:solidFill>
                  <a:srgbClr val="0070C0"/>
                </a:solidFill>
                <a:latin typeface="Constantia" pitchFamily="18" charset="0"/>
              </a:rPr>
              <a:t>Selection </a:t>
            </a:r>
            <a:r>
              <a:rPr lang="nb-NO" sz="3200" b="1" dirty="0">
                <a:solidFill>
                  <a:srgbClr val="0070C0"/>
                </a:solidFill>
                <a:latin typeface="Constantia" pitchFamily="18" charset="0"/>
              </a:rPr>
              <a:t>of </a:t>
            </a:r>
            <a:r>
              <a:rPr lang="nb-NO" sz="3200" b="1" dirty="0" smtClean="0">
                <a:solidFill>
                  <a:srgbClr val="0070C0"/>
                </a:solidFill>
                <a:latin typeface="Constantia" pitchFamily="18" charset="0"/>
              </a:rPr>
              <a:t>Current  Applications</a:t>
            </a:r>
            <a:endParaRPr lang="en-US" sz="3200" b="1" dirty="0">
              <a:solidFill>
                <a:srgbClr val="0070C0"/>
              </a:solidFill>
              <a:latin typeface="Constantia" pitchFamily="18" charset="0"/>
            </a:endParaRPr>
          </a:p>
        </p:txBody>
      </p:sp>
      <p:sp>
        <p:nvSpPr>
          <p:cNvPr id="14342" name="TextBox 5"/>
          <p:cNvSpPr txBox="1">
            <a:spLocks noChangeArrowheads="1"/>
          </p:cNvSpPr>
          <p:nvPr/>
        </p:nvSpPr>
        <p:spPr bwMode="auto">
          <a:xfrm>
            <a:off x="1357130" y="1556792"/>
            <a:ext cx="7760843" cy="4431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nb-NO" sz="2400" b="1" dirty="0">
                <a:solidFill>
                  <a:srgbClr val="FF0000"/>
                </a:solidFill>
                <a:latin typeface="Constantia" pitchFamily="18" charset="0"/>
              </a:rPr>
              <a:t>Censuses</a:t>
            </a:r>
            <a:r>
              <a:rPr lang="nb-NO" sz="2400" b="1" dirty="0">
                <a:latin typeface="Constantia" pitchFamily="18" charset="0"/>
              </a:rPr>
              <a:t> (population, location registers)</a:t>
            </a:r>
          </a:p>
          <a:p>
            <a:r>
              <a:rPr lang="nb-NO" sz="2400" b="1" dirty="0" smtClean="0">
                <a:solidFill>
                  <a:srgbClr val="FF0000"/>
                </a:solidFill>
                <a:latin typeface="Constantia" pitchFamily="18" charset="0"/>
              </a:rPr>
              <a:t>Demographics</a:t>
            </a:r>
            <a:r>
              <a:rPr lang="nb-NO" sz="2400" b="1" dirty="0" smtClean="0">
                <a:latin typeface="Constantia" pitchFamily="18" charset="0"/>
              </a:rPr>
              <a:t> </a:t>
            </a:r>
            <a:r>
              <a:rPr lang="nb-NO" sz="2400" b="1" dirty="0">
                <a:latin typeface="Constantia" pitchFamily="18" charset="0"/>
              </a:rPr>
              <a:t>(demographic registration)</a:t>
            </a:r>
          </a:p>
          <a:p>
            <a:r>
              <a:rPr lang="nb-NO" sz="2400" b="1" dirty="0" smtClean="0">
                <a:solidFill>
                  <a:srgbClr val="FF0000"/>
                </a:solidFill>
                <a:latin typeface="Constantia" pitchFamily="18" charset="0"/>
              </a:rPr>
              <a:t>Foreign </a:t>
            </a:r>
            <a:r>
              <a:rPr lang="nb-NO" sz="2400" b="1" dirty="0">
                <a:solidFill>
                  <a:srgbClr val="FF0000"/>
                </a:solidFill>
                <a:latin typeface="Constantia" pitchFamily="18" charset="0"/>
              </a:rPr>
              <a:t>trade </a:t>
            </a:r>
            <a:r>
              <a:rPr lang="nb-NO" sz="2400" b="1" dirty="0">
                <a:latin typeface="Constantia" pitchFamily="18" charset="0"/>
              </a:rPr>
              <a:t>(custom data)</a:t>
            </a:r>
          </a:p>
          <a:p>
            <a:r>
              <a:rPr lang="nb-NO" sz="2400" b="1" dirty="0" smtClean="0">
                <a:solidFill>
                  <a:srgbClr val="FF0000"/>
                </a:solidFill>
                <a:latin typeface="Constantia" pitchFamily="18" charset="0"/>
              </a:rPr>
              <a:t>Income</a:t>
            </a:r>
            <a:r>
              <a:rPr lang="nb-NO" sz="2400" b="1" dirty="0" smtClean="0">
                <a:latin typeface="Constantia" pitchFamily="18" charset="0"/>
              </a:rPr>
              <a:t>  </a:t>
            </a:r>
            <a:r>
              <a:rPr lang="nb-NO" sz="2400" b="1" dirty="0">
                <a:latin typeface="Constantia" pitchFamily="18" charset="0"/>
              </a:rPr>
              <a:t>(taxation data)</a:t>
            </a:r>
          </a:p>
          <a:p>
            <a:r>
              <a:rPr lang="nb-NO" sz="2400" b="1" dirty="0" smtClean="0">
                <a:solidFill>
                  <a:srgbClr val="FF0000"/>
                </a:solidFill>
                <a:latin typeface="Constantia" pitchFamily="18" charset="0"/>
              </a:rPr>
              <a:t>Social </a:t>
            </a:r>
            <a:r>
              <a:rPr lang="nb-NO" sz="2400" b="1" dirty="0">
                <a:solidFill>
                  <a:srgbClr val="FF0000"/>
                </a:solidFill>
                <a:latin typeface="Constantia" pitchFamily="18" charset="0"/>
              </a:rPr>
              <a:t>statistics </a:t>
            </a:r>
            <a:r>
              <a:rPr lang="nb-NO" sz="2400" b="1" dirty="0">
                <a:latin typeface="Constantia" pitchFamily="18" charset="0"/>
              </a:rPr>
              <a:t>(registration of </a:t>
            </a:r>
            <a:r>
              <a:rPr lang="nb-NO" sz="2400" b="1" dirty="0" smtClean="0">
                <a:latin typeface="Constantia" pitchFamily="18" charset="0"/>
              </a:rPr>
              <a:t> social services)</a:t>
            </a:r>
          </a:p>
          <a:p>
            <a:r>
              <a:rPr lang="nb-NO" sz="2400" b="1" dirty="0" smtClean="0">
                <a:solidFill>
                  <a:srgbClr val="FF0000"/>
                </a:solidFill>
                <a:latin typeface="Constantia" pitchFamily="18" charset="0"/>
              </a:rPr>
              <a:t>Employment</a:t>
            </a:r>
            <a:r>
              <a:rPr lang="nb-NO" sz="2400" b="1" dirty="0" smtClean="0">
                <a:latin typeface="Constantia" pitchFamily="18" charset="0"/>
              </a:rPr>
              <a:t> (unemployment registration)</a:t>
            </a:r>
          </a:p>
          <a:p>
            <a:r>
              <a:rPr lang="nb-NO" sz="2400" b="1" dirty="0" smtClean="0">
                <a:solidFill>
                  <a:srgbClr val="FF0000"/>
                </a:solidFill>
                <a:latin typeface="Constantia" pitchFamily="18" charset="0"/>
              </a:rPr>
              <a:t>Education</a:t>
            </a:r>
            <a:r>
              <a:rPr lang="nb-NO" sz="2400" b="1" dirty="0" smtClean="0">
                <a:latin typeface="Constantia" pitchFamily="18" charset="0"/>
              </a:rPr>
              <a:t> (registration of students and exams)</a:t>
            </a:r>
          </a:p>
          <a:p>
            <a:r>
              <a:rPr lang="nb-NO" sz="2400" b="1" dirty="0" smtClean="0">
                <a:solidFill>
                  <a:srgbClr val="FF0000"/>
                </a:solidFill>
                <a:latin typeface="Constantia" pitchFamily="18" charset="0"/>
              </a:rPr>
              <a:t>Health</a:t>
            </a:r>
            <a:r>
              <a:rPr lang="nb-NO" sz="2400" b="1" dirty="0" smtClean="0">
                <a:latin typeface="Constantia" pitchFamily="18" charset="0"/>
              </a:rPr>
              <a:t> (medical registrations)</a:t>
            </a:r>
          </a:p>
          <a:p>
            <a:r>
              <a:rPr lang="nb-NO" sz="2400" b="1" dirty="0" smtClean="0">
                <a:solidFill>
                  <a:srgbClr val="FF0000"/>
                </a:solidFill>
                <a:latin typeface="Constantia" pitchFamily="18" charset="0"/>
              </a:rPr>
              <a:t>Crime </a:t>
            </a:r>
            <a:r>
              <a:rPr lang="nb-NO" sz="2400" b="1" dirty="0" smtClean="0">
                <a:latin typeface="Constantia" pitchFamily="18" charset="0"/>
              </a:rPr>
              <a:t>( police, court, prison registrations)</a:t>
            </a:r>
          </a:p>
          <a:p>
            <a:r>
              <a:rPr lang="nb-NO" sz="2400" b="1" dirty="0" smtClean="0">
                <a:solidFill>
                  <a:srgbClr val="FF0000"/>
                </a:solidFill>
                <a:latin typeface="Constantia" pitchFamily="18" charset="0"/>
              </a:rPr>
              <a:t>Business</a:t>
            </a:r>
            <a:r>
              <a:rPr lang="nb-NO" sz="2400" b="1" dirty="0" smtClean="0">
                <a:latin typeface="Constantia" pitchFamily="18" charset="0"/>
              </a:rPr>
              <a:t> (business registers)</a:t>
            </a:r>
          </a:p>
          <a:p>
            <a:r>
              <a:rPr lang="nb-NO" sz="2400" b="1" dirty="0" smtClean="0">
                <a:solidFill>
                  <a:srgbClr val="FF0000"/>
                </a:solidFill>
                <a:latin typeface="Constantia" pitchFamily="18" charset="0"/>
              </a:rPr>
              <a:t>Research</a:t>
            </a:r>
            <a:r>
              <a:rPr lang="nb-NO" sz="2400" b="1" dirty="0" smtClean="0">
                <a:latin typeface="Constantia" pitchFamily="18" charset="0"/>
              </a:rPr>
              <a:t> (based on microdata and microdata series)</a:t>
            </a:r>
            <a:endParaRPr lang="nb-NO" b="1" dirty="0">
              <a:latin typeface="Constantia" pitchFamily="18" charset="0"/>
            </a:endParaRPr>
          </a:p>
          <a:p>
            <a:endParaRPr lang="nb-NO" b="1" dirty="0">
              <a:latin typeface="Constant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339752" y="2636912"/>
            <a:ext cx="42206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What about the future?</a:t>
            </a:r>
            <a:endParaRPr lang="en-US" sz="32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3190-1BB8-4975-B157-641AD8C04E4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475656" y="2348880"/>
            <a:ext cx="607211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nb-NO" sz="2400" b="1" dirty="0" smtClean="0">
                <a:solidFill>
                  <a:srgbClr val="FF0000"/>
                </a:solidFill>
              </a:rPr>
              <a:t> Budgets </a:t>
            </a:r>
            <a:r>
              <a:rPr lang="nb-NO" sz="2400" b="1" dirty="0" smtClean="0"/>
              <a:t>restrictions for NSIs</a:t>
            </a:r>
          </a:p>
          <a:p>
            <a:pPr>
              <a:buFont typeface="Arial" pitchFamily="34" charset="0"/>
              <a:buChar char="•"/>
            </a:pPr>
            <a:r>
              <a:rPr lang="nb-NO" sz="2400" b="1" dirty="0" smtClean="0">
                <a:solidFill>
                  <a:srgbClr val="FF0000"/>
                </a:solidFill>
              </a:rPr>
              <a:t> Response burden </a:t>
            </a:r>
            <a:r>
              <a:rPr lang="nb-NO" sz="2400" b="1" dirty="0" smtClean="0"/>
              <a:t>complaints from the public</a:t>
            </a:r>
          </a:p>
          <a:p>
            <a:endParaRPr lang="nb-NO" sz="2400" b="1" dirty="0" smtClean="0"/>
          </a:p>
          <a:p>
            <a:pPr>
              <a:buFont typeface="Arial" pitchFamily="34" charset="0"/>
              <a:buChar char="•"/>
            </a:pPr>
            <a:r>
              <a:rPr lang="nb-NO" sz="2400" b="1" dirty="0" smtClean="0"/>
              <a:t> Growing </a:t>
            </a:r>
            <a:r>
              <a:rPr lang="nb-NO" sz="2400" b="1" dirty="0" smtClean="0">
                <a:solidFill>
                  <a:srgbClr val="0070C0"/>
                </a:solidFill>
              </a:rPr>
              <a:t>demand</a:t>
            </a:r>
            <a:r>
              <a:rPr lang="nb-NO" sz="2400" b="1" dirty="0" smtClean="0"/>
              <a:t> for official statistics</a:t>
            </a:r>
          </a:p>
          <a:p>
            <a:pPr>
              <a:buFont typeface="Arial" pitchFamily="34" charset="0"/>
              <a:buChar char="•"/>
            </a:pPr>
            <a:r>
              <a:rPr lang="nb-NO" sz="2400" b="1" dirty="0" smtClean="0">
                <a:solidFill>
                  <a:srgbClr val="FF0000"/>
                </a:solidFill>
              </a:rPr>
              <a:t> </a:t>
            </a:r>
            <a:r>
              <a:rPr lang="nb-NO" sz="2400" b="1" dirty="0" smtClean="0"/>
              <a:t>Continuing</a:t>
            </a:r>
            <a:r>
              <a:rPr lang="nb-NO" sz="2400" b="1" dirty="0" smtClean="0">
                <a:solidFill>
                  <a:srgbClr val="FF0000"/>
                </a:solidFill>
              </a:rPr>
              <a:t> </a:t>
            </a:r>
            <a:r>
              <a:rPr lang="nb-NO" sz="2400" b="1" dirty="0" smtClean="0">
                <a:solidFill>
                  <a:srgbClr val="0070C0"/>
                </a:solidFill>
              </a:rPr>
              <a:t>technological</a:t>
            </a:r>
            <a:r>
              <a:rPr lang="nb-NO" sz="2400" b="1" dirty="0" smtClean="0">
                <a:solidFill>
                  <a:srgbClr val="FF0000"/>
                </a:solidFill>
              </a:rPr>
              <a:t> </a:t>
            </a:r>
            <a:r>
              <a:rPr lang="nb-NO" sz="2400" b="1" dirty="0" smtClean="0"/>
              <a:t>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1640" y="620688"/>
            <a:ext cx="6624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Present Status for Official Statistics</a:t>
            </a:r>
            <a:endParaRPr lang="en-US" sz="32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3190-1BB8-4975-B157-641AD8C04E4A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773071" y="476672"/>
            <a:ext cx="56072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Targets for Future Improvement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19672" y="1916832"/>
            <a:ext cx="660546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nb-NO" sz="2400" b="1" dirty="0" smtClean="0">
                <a:solidFill>
                  <a:srgbClr val="FF0000"/>
                </a:solidFill>
              </a:rPr>
              <a:t> Metadata </a:t>
            </a:r>
            <a:r>
              <a:rPr lang="nb-NO" sz="2400" b="1" dirty="0" smtClean="0"/>
              <a:t>systems (</a:t>
            </a:r>
            <a:r>
              <a:rPr lang="en-US" sz="2400" b="1" dirty="0" smtClean="0"/>
              <a:t>continuing</a:t>
            </a:r>
            <a:r>
              <a:rPr lang="nb-NO" sz="2400" b="1" dirty="0" smtClean="0"/>
              <a:t>)</a:t>
            </a:r>
            <a:endParaRPr lang="en-US" sz="2400" b="1" dirty="0" smtClean="0"/>
          </a:p>
          <a:p>
            <a:pPr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FF0000"/>
                </a:solidFill>
              </a:rPr>
              <a:t> Identification </a:t>
            </a:r>
            <a:r>
              <a:rPr lang="en-US" sz="2400" b="1" dirty="0" smtClean="0"/>
              <a:t>and</a:t>
            </a:r>
            <a:r>
              <a:rPr lang="en-US" sz="2400" b="1" dirty="0" smtClean="0">
                <a:solidFill>
                  <a:srgbClr val="FF0000"/>
                </a:solidFill>
              </a:rPr>
              <a:t> integration </a:t>
            </a:r>
            <a:r>
              <a:rPr lang="nb-NO" sz="2400" b="1" dirty="0" smtClean="0"/>
              <a:t>(</a:t>
            </a:r>
            <a:r>
              <a:rPr lang="en-US" sz="2400" b="1" dirty="0" smtClean="0"/>
              <a:t>continuing</a:t>
            </a:r>
            <a:r>
              <a:rPr lang="nb-NO" sz="2400" b="1" dirty="0" smtClean="0"/>
              <a:t>)</a:t>
            </a:r>
            <a:endParaRPr lang="en-US" sz="2400" b="1" dirty="0" smtClean="0"/>
          </a:p>
          <a:p>
            <a:pPr>
              <a:buFont typeface="Arial" pitchFamily="34" charset="0"/>
              <a:buChar char="•"/>
            </a:pPr>
            <a:r>
              <a:rPr lang="en-US" sz="2400" b="1" dirty="0" smtClean="0"/>
              <a:t> Increased use of </a:t>
            </a:r>
            <a:r>
              <a:rPr lang="en-US" sz="2400" b="1" dirty="0" smtClean="0">
                <a:solidFill>
                  <a:srgbClr val="FF0000"/>
                </a:solidFill>
              </a:rPr>
              <a:t>administrative</a:t>
            </a:r>
            <a:r>
              <a:rPr lang="en-US" sz="2400" b="1" dirty="0" smtClean="0"/>
              <a:t> data </a:t>
            </a:r>
            <a:r>
              <a:rPr lang="nb-NO" sz="2400" b="1" dirty="0" smtClean="0"/>
              <a:t>(</a:t>
            </a:r>
            <a:r>
              <a:rPr lang="en-US" sz="2400" b="1" dirty="0" smtClean="0"/>
              <a:t>continuing</a:t>
            </a:r>
            <a:r>
              <a:rPr lang="nb-NO" sz="2400" b="1" dirty="0" smtClean="0"/>
              <a:t>)</a:t>
            </a:r>
            <a:endParaRPr lang="en-US" sz="2400" b="1" dirty="0" smtClean="0"/>
          </a:p>
          <a:p>
            <a:pPr>
              <a:buFont typeface="Arial" pitchFamily="34" charset="0"/>
              <a:buChar char="•"/>
            </a:pPr>
            <a:r>
              <a:rPr lang="en-US" sz="2400" b="1" dirty="0" smtClean="0"/>
              <a:t> Use of electronic </a:t>
            </a:r>
            <a:r>
              <a:rPr lang="en-US" sz="2400" b="1" dirty="0" smtClean="0">
                <a:solidFill>
                  <a:srgbClr val="FF0000"/>
                </a:solidFill>
              </a:rPr>
              <a:t>footprints </a:t>
            </a:r>
            <a:r>
              <a:rPr lang="en-US" sz="2400" b="1" dirty="0" smtClean="0"/>
              <a:t>(new)</a:t>
            </a:r>
          </a:p>
          <a:p>
            <a:pPr>
              <a:buFont typeface="Arial" pitchFamily="34" charset="0"/>
              <a:buChar char="•"/>
            </a:pPr>
            <a:r>
              <a:rPr lang="nb-NO" sz="2400" b="1" dirty="0" smtClean="0">
                <a:solidFill>
                  <a:srgbClr val="FF0000"/>
                </a:solidFill>
              </a:rPr>
              <a:t> Conversion </a:t>
            </a:r>
            <a:r>
              <a:rPr lang="nb-NO" sz="2400" b="1" dirty="0" smtClean="0"/>
              <a:t>of </a:t>
            </a:r>
            <a:r>
              <a:rPr lang="nb-NO" sz="2400" b="1" dirty="0" smtClean="0">
                <a:solidFill>
                  <a:srgbClr val="FF0000"/>
                </a:solidFill>
              </a:rPr>
              <a:t>non-numeric</a:t>
            </a:r>
            <a:r>
              <a:rPr lang="nb-NO" sz="2400" b="1" dirty="0" smtClean="0"/>
              <a:t> data (new)</a:t>
            </a:r>
            <a:endParaRPr lang="en-US" sz="2400" b="1" dirty="0" smtClean="0"/>
          </a:p>
          <a:p>
            <a:pPr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FF0000"/>
                </a:solidFill>
              </a:rPr>
              <a:t> Storage </a:t>
            </a:r>
            <a:r>
              <a:rPr lang="en-US" sz="2400" b="1" dirty="0" smtClean="0"/>
              <a:t>and</a:t>
            </a:r>
            <a:r>
              <a:rPr lang="en-US" sz="2400" b="1" dirty="0" smtClean="0">
                <a:solidFill>
                  <a:srgbClr val="FF0000"/>
                </a:solidFill>
              </a:rPr>
              <a:t> re-use </a:t>
            </a:r>
            <a:r>
              <a:rPr lang="en-US" sz="2400" b="1" dirty="0" smtClean="0"/>
              <a:t>of microdata (continuing)</a:t>
            </a:r>
          </a:p>
          <a:p>
            <a:pPr>
              <a:buFont typeface="Arial" pitchFamily="34" charset="0"/>
              <a:buChar char="•"/>
            </a:pPr>
            <a:r>
              <a:rPr lang="nb-NO" sz="2400" b="1" dirty="0" smtClean="0"/>
              <a:t> </a:t>
            </a:r>
            <a:r>
              <a:rPr lang="nb-NO" sz="2400" b="1" dirty="0" smtClean="0">
                <a:solidFill>
                  <a:srgbClr val="FF0000"/>
                </a:solidFill>
              </a:rPr>
              <a:t>Online</a:t>
            </a:r>
            <a:r>
              <a:rPr lang="nb-NO" sz="2400" b="1" dirty="0" smtClean="0"/>
              <a:t> and </a:t>
            </a:r>
            <a:r>
              <a:rPr lang="nb-NO" sz="2400" b="1" dirty="0" smtClean="0">
                <a:solidFill>
                  <a:srgbClr val="FF0000"/>
                </a:solidFill>
              </a:rPr>
              <a:t>instant</a:t>
            </a:r>
            <a:r>
              <a:rPr lang="nb-NO" sz="2400" b="1" dirty="0" smtClean="0"/>
              <a:t> end user service (</a:t>
            </a:r>
            <a:r>
              <a:rPr lang="en-US" sz="2400" b="1" dirty="0" smtClean="0"/>
              <a:t>continuing</a:t>
            </a:r>
            <a:r>
              <a:rPr lang="nb-NO" sz="2400" b="1" dirty="0" smtClean="0"/>
              <a:t>)</a:t>
            </a:r>
          </a:p>
          <a:p>
            <a:pPr>
              <a:buFont typeface="Arial" pitchFamily="34" charset="0"/>
              <a:buChar char="•"/>
            </a:pPr>
            <a:r>
              <a:rPr lang="nb-NO" sz="2400" b="1" dirty="0" smtClean="0">
                <a:solidFill>
                  <a:srgbClr val="FF0000"/>
                </a:solidFill>
              </a:rPr>
              <a:t> Standardization </a:t>
            </a:r>
            <a:r>
              <a:rPr lang="nb-NO" sz="2400" b="1" dirty="0" smtClean="0"/>
              <a:t>and</a:t>
            </a:r>
            <a:r>
              <a:rPr lang="nb-NO" sz="2400" b="1" dirty="0" smtClean="0">
                <a:solidFill>
                  <a:srgbClr val="FF0000"/>
                </a:solidFill>
              </a:rPr>
              <a:t> cooperation </a:t>
            </a:r>
            <a:r>
              <a:rPr lang="nb-NO" sz="2400" b="1" dirty="0" smtClean="0"/>
              <a:t>(</a:t>
            </a:r>
            <a:r>
              <a:rPr lang="en-US" sz="2400" b="1" dirty="0" smtClean="0"/>
              <a:t>continuing</a:t>
            </a:r>
            <a:r>
              <a:rPr lang="nb-NO" sz="2400" b="1" dirty="0" smtClean="0"/>
              <a:t>)</a:t>
            </a:r>
            <a:endParaRPr lang="nb-NO" sz="2400" b="1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67744" y="476672"/>
            <a:ext cx="38338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Statistical File System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403648" y="1772816"/>
            <a:ext cx="6192688" cy="648072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823399" y="1815207"/>
            <a:ext cx="8926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Users</a:t>
            </a:r>
            <a:endParaRPr lang="en-US" sz="2400" b="1" dirty="0"/>
          </a:p>
        </p:txBody>
      </p:sp>
      <p:sp>
        <p:nvSpPr>
          <p:cNvPr id="9" name="Rectangle 8"/>
          <p:cNvSpPr/>
          <p:nvPr/>
        </p:nvSpPr>
        <p:spPr>
          <a:xfrm>
            <a:off x="1403648" y="2924944"/>
            <a:ext cx="2664296" cy="108012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890665" y="2924944"/>
            <a:ext cx="2664296" cy="108012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403648" y="4509120"/>
            <a:ext cx="6336704" cy="1224136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619672" y="3183359"/>
            <a:ext cx="23959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Metadata system</a:t>
            </a:r>
            <a:endParaRPr lang="en-US" sz="24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4954474" y="2852936"/>
            <a:ext cx="25527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Processing system</a:t>
            </a:r>
          </a:p>
          <a:p>
            <a:r>
              <a:rPr lang="en-US" sz="2400" b="1" dirty="0" smtClean="0"/>
              <a:t>(</a:t>
            </a:r>
            <a:r>
              <a:rPr lang="en-US" sz="2000" b="1" dirty="0" smtClean="0"/>
              <a:t>extract, integrate,</a:t>
            </a:r>
          </a:p>
          <a:p>
            <a:r>
              <a:rPr lang="en-US" sz="2000" b="1" dirty="0" smtClean="0"/>
              <a:t>  compute, publish</a:t>
            </a:r>
            <a:r>
              <a:rPr lang="en-US" sz="2400" b="1" dirty="0" smtClean="0"/>
              <a:t>)</a:t>
            </a:r>
            <a:endParaRPr lang="en-US" sz="2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3595140" y="4869160"/>
            <a:ext cx="1624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File archive</a:t>
            </a:r>
            <a:endParaRPr lang="en-US" sz="2400" b="1" dirty="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2411760" y="2420888"/>
            <a:ext cx="0" cy="50405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3131840" y="2420888"/>
            <a:ext cx="0" cy="504056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2411760" y="4005064"/>
            <a:ext cx="0" cy="50405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3131840" y="4005064"/>
            <a:ext cx="0" cy="50405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5796136" y="2420888"/>
            <a:ext cx="0" cy="50405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6588224" y="2420888"/>
            <a:ext cx="0" cy="50405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5796136" y="4005064"/>
            <a:ext cx="0" cy="50405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6588224" y="4005064"/>
            <a:ext cx="0" cy="50405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4067944" y="3140968"/>
            <a:ext cx="79208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4067944" y="3717032"/>
            <a:ext cx="79208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Up Arrow 39"/>
          <p:cNvSpPr/>
          <p:nvPr/>
        </p:nvSpPr>
        <p:spPr>
          <a:xfrm>
            <a:off x="4211960" y="5733256"/>
            <a:ext cx="360040" cy="576064"/>
          </a:xfrm>
          <a:prstGeom prst="up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4E35A-CC0D-496B-BE22-ED432DCCDD71}" type="datetime1">
              <a:rPr lang="en-US" smtClean="0"/>
              <a:pPr/>
              <a:t>11/29/2012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691680" y="332656"/>
            <a:ext cx="61439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Administrative  and Statistical Data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47664" y="2348880"/>
            <a:ext cx="792088" cy="252028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851556" y="2420888"/>
            <a:ext cx="144016" cy="252028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084168" y="2420888"/>
            <a:ext cx="792088" cy="252028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 flipH="1">
            <a:off x="2411759" y="2348880"/>
            <a:ext cx="144016" cy="252028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11560" y="1670365"/>
            <a:ext cx="34208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smtClean="0">
                <a:solidFill>
                  <a:srgbClr val="0070C0"/>
                </a:solidFill>
              </a:rPr>
              <a:t>Volume of units collected</a:t>
            </a:r>
            <a:endParaRPr lang="en-US" sz="2400" b="1" i="1" dirty="0">
              <a:solidFill>
                <a:srgbClr val="0070C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973504" y="1700808"/>
            <a:ext cx="26948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smtClean="0">
                <a:solidFill>
                  <a:srgbClr val="0070C0"/>
                </a:solidFill>
              </a:rPr>
              <a:t>Collection cost/unit</a:t>
            </a:r>
            <a:endParaRPr lang="en-US" sz="2400" b="1" i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555776" y="5445224"/>
            <a:ext cx="936104" cy="14401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555776" y="5877272"/>
            <a:ext cx="936104" cy="14401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491880" y="5322359"/>
            <a:ext cx="2183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: Administrative data</a:t>
            </a: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3502812" y="5760966"/>
            <a:ext cx="1706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: Statistical data</a:t>
            </a:r>
            <a:endParaRPr lang="en-US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555776" y="2780928"/>
            <a:ext cx="36513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Electronic footprints</a:t>
            </a:r>
            <a:endParaRPr lang="en-US" sz="32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Box 5"/>
          <p:cNvSpPr txBox="1">
            <a:spLocks noChangeArrowheads="1"/>
          </p:cNvSpPr>
          <p:nvPr/>
        </p:nvSpPr>
        <p:spPr bwMode="auto">
          <a:xfrm>
            <a:off x="2339752" y="323945"/>
            <a:ext cx="42404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nb-NO" sz="3200" b="1" dirty="0" smtClean="0">
                <a:solidFill>
                  <a:srgbClr val="0070C0"/>
                </a:solidFill>
                <a:latin typeface="Constantia" pitchFamily="18" charset="0"/>
              </a:rPr>
              <a:t>Electronic Recording</a:t>
            </a:r>
            <a:endParaRPr lang="en-US" sz="3200" b="1" dirty="0">
              <a:solidFill>
                <a:srgbClr val="0070C0"/>
              </a:solidFill>
              <a:latin typeface="Constantia" pitchFamily="18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403648" y="1055633"/>
            <a:ext cx="6589111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nb-NO" sz="2400" b="1" i="1" dirty="0">
                <a:latin typeface="Constantia" pitchFamily="18" charset="0"/>
              </a:rPr>
              <a:t>Examples of electronic recordings which can</a:t>
            </a:r>
          </a:p>
          <a:p>
            <a:r>
              <a:rPr lang="en-US" sz="2400" b="1" i="1" dirty="0">
                <a:latin typeface="Constantia" pitchFamily="18" charset="0"/>
              </a:rPr>
              <a:t>provide</a:t>
            </a:r>
            <a:r>
              <a:rPr lang="nb-NO" sz="2400" b="1" i="1" dirty="0">
                <a:latin typeface="Constantia" pitchFamily="18" charset="0"/>
              </a:rPr>
              <a:t> data for official statistics</a:t>
            </a:r>
            <a:r>
              <a:rPr lang="nb-NO" sz="2400" b="1" dirty="0">
                <a:latin typeface="Constantia" pitchFamily="18" charset="0"/>
              </a:rPr>
              <a:t>:</a:t>
            </a:r>
          </a:p>
          <a:p>
            <a:r>
              <a:rPr lang="nb-NO" sz="2400" b="1" dirty="0">
                <a:latin typeface="Constantia" pitchFamily="18" charset="0"/>
              </a:rPr>
              <a:t> </a:t>
            </a:r>
          </a:p>
          <a:p>
            <a:pPr>
              <a:buFontTx/>
              <a:buAutoNum type="arabicPeriod"/>
            </a:pPr>
            <a:r>
              <a:rPr lang="nb-NO" sz="2400" b="1" dirty="0" smtClean="0">
                <a:solidFill>
                  <a:srgbClr val="FF0000"/>
                </a:solidFill>
                <a:latin typeface="Constantia" pitchFamily="18" charset="0"/>
              </a:rPr>
              <a:t> </a:t>
            </a:r>
            <a:r>
              <a:rPr lang="nb-NO" sz="2400" b="1" dirty="0">
                <a:solidFill>
                  <a:srgbClr val="FF0000"/>
                </a:solidFill>
                <a:latin typeface="Constantia" pitchFamily="18" charset="0"/>
              </a:rPr>
              <a:t>Creditt card</a:t>
            </a:r>
            <a:r>
              <a:rPr lang="nb-NO" sz="2400" b="1" dirty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nb-NO" sz="2400" b="1" dirty="0">
                <a:latin typeface="Constantia" pitchFamily="18" charset="0"/>
              </a:rPr>
              <a:t>transactions</a:t>
            </a:r>
          </a:p>
          <a:p>
            <a:pPr>
              <a:buFontTx/>
              <a:buAutoNum type="arabicPeriod"/>
            </a:pPr>
            <a:r>
              <a:rPr lang="nb-NO" sz="2400" b="1" dirty="0">
                <a:solidFill>
                  <a:srgbClr val="FF0000"/>
                </a:solidFill>
                <a:latin typeface="Constantia" pitchFamily="18" charset="0"/>
              </a:rPr>
              <a:t> Commodity (RFID)</a:t>
            </a:r>
            <a:r>
              <a:rPr lang="nb-NO" sz="2400" b="1" dirty="0">
                <a:solidFill>
                  <a:srgbClr val="C00000"/>
                </a:solidFill>
                <a:latin typeface="Constantia" pitchFamily="18" charset="0"/>
              </a:rPr>
              <a:t> </a:t>
            </a:r>
            <a:r>
              <a:rPr lang="nb-NO" sz="2400" b="1" dirty="0">
                <a:latin typeface="Constantia" pitchFamily="18" charset="0"/>
              </a:rPr>
              <a:t>tracking</a:t>
            </a:r>
          </a:p>
          <a:p>
            <a:pPr>
              <a:buFontTx/>
              <a:buAutoNum type="arabicPeriod"/>
            </a:pPr>
            <a:r>
              <a:rPr lang="nb-NO" sz="2400" b="1" dirty="0">
                <a:solidFill>
                  <a:srgbClr val="FF0000"/>
                </a:solidFill>
                <a:latin typeface="Constantia" pitchFamily="18" charset="0"/>
              </a:rPr>
              <a:t> Toll road </a:t>
            </a:r>
            <a:r>
              <a:rPr lang="nb-NO" sz="2400" b="1" dirty="0" smtClean="0">
                <a:solidFill>
                  <a:srgbClr val="FF0000"/>
                </a:solidFill>
                <a:latin typeface="Constantia" pitchFamily="18" charset="0"/>
              </a:rPr>
              <a:t>(RFID) </a:t>
            </a:r>
            <a:r>
              <a:rPr lang="nb-NO" sz="2400" b="1" dirty="0" smtClean="0">
                <a:latin typeface="Constantia" pitchFamily="18" charset="0"/>
              </a:rPr>
              <a:t>recording</a:t>
            </a:r>
            <a:endParaRPr lang="nb-NO" sz="2400" b="1" dirty="0">
              <a:latin typeface="Constantia" pitchFamily="18" charset="0"/>
            </a:endParaRPr>
          </a:p>
          <a:p>
            <a:pPr>
              <a:buFontTx/>
              <a:buAutoNum type="arabicPeriod"/>
            </a:pPr>
            <a:r>
              <a:rPr lang="nb-NO" sz="2400" b="1" dirty="0">
                <a:solidFill>
                  <a:srgbClr val="FF0000"/>
                </a:solidFill>
                <a:latin typeface="Constantia" pitchFamily="18" charset="0"/>
              </a:rPr>
              <a:t> Electronic tickets </a:t>
            </a:r>
            <a:r>
              <a:rPr lang="nb-NO" sz="2400" b="1" dirty="0">
                <a:latin typeface="Constantia" pitchFamily="18" charset="0"/>
              </a:rPr>
              <a:t>for travelling</a:t>
            </a:r>
          </a:p>
          <a:p>
            <a:pPr>
              <a:buFontTx/>
              <a:buAutoNum type="arabicPeriod"/>
            </a:pPr>
            <a:r>
              <a:rPr lang="nb-NO" sz="2400" b="1" dirty="0">
                <a:solidFill>
                  <a:srgbClr val="FF0000"/>
                </a:solidFill>
                <a:latin typeface="Constantia" pitchFamily="18" charset="0"/>
              </a:rPr>
              <a:t> Public services </a:t>
            </a:r>
            <a:r>
              <a:rPr lang="en-US" sz="2400" b="1" dirty="0">
                <a:latin typeface="Constantia" pitchFamily="18" charset="0"/>
              </a:rPr>
              <a:t>offered</a:t>
            </a:r>
            <a:r>
              <a:rPr lang="nb-NO" sz="2400" b="1" dirty="0">
                <a:latin typeface="Constantia" pitchFamily="18" charset="0"/>
              </a:rPr>
              <a:t> electronically</a:t>
            </a:r>
          </a:p>
          <a:p>
            <a:pPr>
              <a:buFontTx/>
              <a:buAutoNum type="arabicPeriod"/>
            </a:pPr>
            <a:r>
              <a:rPr lang="nb-NO" sz="2400" b="1" dirty="0">
                <a:solidFill>
                  <a:srgbClr val="FF0000"/>
                </a:solidFill>
                <a:latin typeface="Constantia" pitchFamily="18" charset="0"/>
              </a:rPr>
              <a:t> Immigration </a:t>
            </a:r>
            <a:r>
              <a:rPr lang="nb-NO" sz="2400" b="1" dirty="0">
                <a:latin typeface="Constantia" pitchFamily="18" charset="0"/>
              </a:rPr>
              <a:t>control</a:t>
            </a:r>
            <a:r>
              <a:rPr lang="nb-NO" sz="2400" b="1" dirty="0" smtClean="0">
                <a:latin typeface="Constantia" pitchFamily="18" charset="0"/>
              </a:rPr>
              <a:t>.</a:t>
            </a:r>
            <a:endParaRPr lang="nb-NO" sz="2400" b="1" dirty="0">
              <a:latin typeface="Constantia" pitchFamily="18" charset="0"/>
            </a:endParaRPr>
          </a:p>
          <a:p>
            <a:pPr>
              <a:buFontTx/>
              <a:buAutoNum type="arabicPeriod"/>
            </a:pPr>
            <a:r>
              <a:rPr lang="nb-NO" sz="2400" b="1" dirty="0">
                <a:solidFill>
                  <a:srgbClr val="FF0000"/>
                </a:solidFill>
                <a:latin typeface="Constantia" pitchFamily="18" charset="0"/>
              </a:rPr>
              <a:t> Mobile phone </a:t>
            </a:r>
            <a:r>
              <a:rPr lang="nb-NO" sz="2400" b="1" dirty="0">
                <a:latin typeface="Constantia" pitchFamily="18" charset="0"/>
              </a:rPr>
              <a:t>use</a:t>
            </a:r>
          </a:p>
          <a:p>
            <a:pPr>
              <a:buFontTx/>
              <a:buAutoNum type="arabicPeriod"/>
            </a:pPr>
            <a:r>
              <a:rPr lang="nb-NO" sz="2400" b="1" dirty="0">
                <a:solidFill>
                  <a:srgbClr val="FF0000"/>
                </a:solidFill>
                <a:latin typeface="Constantia" pitchFamily="18" charset="0"/>
              </a:rPr>
              <a:t> Internet</a:t>
            </a:r>
            <a:r>
              <a:rPr lang="nb-NO" sz="2400" b="1" dirty="0">
                <a:latin typeface="Constantia" pitchFamily="18" charset="0"/>
              </a:rPr>
              <a:t> </a:t>
            </a:r>
            <a:r>
              <a:rPr lang="nb-NO" sz="2400" b="1" dirty="0" smtClean="0">
                <a:latin typeface="Constantia" pitchFamily="18" charset="0"/>
              </a:rPr>
              <a:t>and social media use</a:t>
            </a:r>
            <a:endParaRPr lang="nb-NO" sz="2400" b="1" dirty="0">
              <a:latin typeface="Constantia" pitchFamily="18" charset="0"/>
            </a:endParaRPr>
          </a:p>
          <a:p>
            <a:pPr>
              <a:buFontTx/>
              <a:buAutoNum type="arabicPeriod"/>
            </a:pPr>
            <a:r>
              <a:rPr lang="nb-NO" sz="2400" b="1" dirty="0">
                <a:solidFill>
                  <a:srgbClr val="FF0000"/>
                </a:solidFill>
                <a:latin typeface="Constantia" pitchFamily="18" charset="0"/>
              </a:rPr>
              <a:t> GPS</a:t>
            </a:r>
            <a:r>
              <a:rPr lang="nb-NO" sz="2400" b="1" dirty="0">
                <a:latin typeface="Constantia" pitchFamily="18" charset="0"/>
              </a:rPr>
              <a:t>  tracking of traffic and </a:t>
            </a:r>
            <a:r>
              <a:rPr lang="nb-NO" sz="2400" b="1" dirty="0" smtClean="0">
                <a:latin typeface="Constantia" pitchFamily="18" charset="0"/>
              </a:rPr>
              <a:t>transport</a:t>
            </a:r>
          </a:p>
          <a:p>
            <a:pPr>
              <a:buFontTx/>
              <a:buAutoNum type="arabicPeriod"/>
            </a:pPr>
            <a:r>
              <a:rPr lang="nb-NO" sz="2400" b="1" dirty="0" smtClean="0">
                <a:solidFill>
                  <a:srgbClr val="FF0000"/>
                </a:solidFill>
                <a:latin typeface="Constantia" pitchFamily="18" charset="0"/>
              </a:rPr>
              <a:t>  Mixed active/passive </a:t>
            </a:r>
            <a:r>
              <a:rPr lang="nb-NO" sz="2400" b="1" dirty="0" smtClean="0">
                <a:latin typeface="Constantia" pitchFamily="18" charset="0"/>
              </a:rPr>
              <a:t>recording</a:t>
            </a:r>
            <a:endParaRPr lang="nb-NO" sz="2400" b="1" dirty="0">
              <a:latin typeface="Constantia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Svein Nordbotten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16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3190-1BB8-4975-B157-641AD8C04E4A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71600" y="188640"/>
            <a:ext cx="748883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Use of Electronically Observed Data (EOD) </a:t>
            </a:r>
          </a:p>
          <a:p>
            <a:pPr algn="ctr"/>
            <a:r>
              <a:rPr lang="en-US" sz="3200" b="1" dirty="0" smtClean="0">
                <a:solidFill>
                  <a:srgbClr val="0070C0"/>
                </a:solidFill>
              </a:rPr>
              <a:t>in Official Statistics  I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3528" y="5517232"/>
            <a:ext cx="842493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58th World Statistics Congress of the International Statistical Institute, Special Topic Session 25: Analyzing Internet Traffic Flows and digital footprints for statistical purposes, Dublin August </a:t>
            </a:r>
            <a:r>
              <a:rPr lang="en-US" b="1" dirty="0" smtClean="0">
                <a:solidFill>
                  <a:srgbClr val="FF0000"/>
                </a:solidFill>
              </a:rPr>
              <a:t>2011.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97818" y="1196752"/>
            <a:ext cx="6686550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Straight Arrow Connector 8"/>
          <p:cNvCxnSpPr/>
          <p:nvPr/>
        </p:nvCxnSpPr>
        <p:spPr>
          <a:xfrm flipV="1">
            <a:off x="6948264" y="1916832"/>
            <a:ext cx="0" cy="223224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092280" y="285293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/>
              <a:t>5</a:t>
            </a:r>
            <a:endParaRPr lang="en-US" sz="1400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3190-1BB8-4975-B157-641AD8C04E4A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259632" y="1412776"/>
            <a:ext cx="2448272" cy="2160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932040" y="3212976"/>
            <a:ext cx="2448272" cy="30963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339752" y="3645024"/>
            <a:ext cx="0" cy="115212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2483768" y="4797152"/>
            <a:ext cx="2304256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403648" y="1340768"/>
            <a:ext cx="231088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Shop ID</a:t>
            </a:r>
          </a:p>
          <a:p>
            <a:r>
              <a:rPr lang="en-US" sz="2400" dirty="0" smtClean="0"/>
              <a:t>Commodity code</a:t>
            </a:r>
          </a:p>
          <a:p>
            <a:r>
              <a:rPr lang="en-US" sz="2400" dirty="0" smtClean="0"/>
              <a:t>Quantity</a:t>
            </a:r>
          </a:p>
          <a:p>
            <a:r>
              <a:rPr lang="en-US" sz="2400" dirty="0" smtClean="0"/>
              <a:t>Price</a:t>
            </a:r>
          </a:p>
          <a:p>
            <a:r>
              <a:rPr lang="en-US" sz="2400" dirty="0" smtClean="0"/>
              <a:t>Time</a:t>
            </a:r>
          </a:p>
          <a:p>
            <a:r>
              <a:rPr lang="en-US" sz="2400" dirty="0" smtClean="0"/>
              <a:t>Credit card ID</a:t>
            </a:r>
          </a:p>
          <a:p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860032" y="3284984"/>
            <a:ext cx="28803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Shop ID</a:t>
            </a:r>
          </a:p>
          <a:p>
            <a:r>
              <a:rPr lang="en-US" sz="2400" dirty="0" smtClean="0"/>
              <a:t>Commodity code</a:t>
            </a:r>
          </a:p>
          <a:p>
            <a:r>
              <a:rPr lang="en-US" sz="2400" dirty="0" smtClean="0"/>
              <a:t>Quantity</a:t>
            </a:r>
          </a:p>
          <a:p>
            <a:r>
              <a:rPr lang="en-US" sz="2400" dirty="0" smtClean="0"/>
              <a:t>Price</a:t>
            </a:r>
          </a:p>
          <a:p>
            <a:r>
              <a:rPr lang="en-US" sz="2400" dirty="0" smtClean="0"/>
              <a:t>Time</a:t>
            </a:r>
          </a:p>
          <a:p>
            <a:r>
              <a:rPr lang="en-US" sz="2400" dirty="0" smtClean="0"/>
              <a:t>Credit card ID</a:t>
            </a:r>
          </a:p>
          <a:p>
            <a:r>
              <a:rPr lang="en-US" sz="2400" dirty="0" smtClean="0"/>
              <a:t>Owner ID</a:t>
            </a:r>
          </a:p>
          <a:p>
            <a:r>
              <a:rPr lang="en-US" sz="2400" dirty="0" smtClean="0"/>
              <a:t>Owner microdata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1403648" y="836712"/>
            <a:ext cx="8258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Shop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52120" y="2564904"/>
            <a:ext cx="614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NSI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9552" y="188640"/>
            <a:ext cx="8343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Shop transaction integrated with NSI microdata </a:t>
            </a:r>
            <a:endParaRPr lang="en-US" sz="32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3190-1BB8-4975-B157-641AD8C04E4A}" type="slidenum">
              <a:rPr lang="en-US" smtClean="0"/>
              <a:pPr/>
              <a:t>19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1043608" y="4725144"/>
            <a:ext cx="720080" cy="57606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1763688" y="4581128"/>
            <a:ext cx="936104" cy="1440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rc 9"/>
          <p:cNvSpPr/>
          <p:nvPr/>
        </p:nvSpPr>
        <p:spPr>
          <a:xfrm>
            <a:off x="2771800" y="4509120"/>
            <a:ext cx="72008" cy="72008"/>
          </a:xfrm>
          <a:prstGeom prst="arc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2699792" y="4581128"/>
            <a:ext cx="432048" cy="2160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3059832" y="4653136"/>
            <a:ext cx="720080" cy="1440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043608" y="5301208"/>
            <a:ext cx="0" cy="36004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1043608" y="4797152"/>
            <a:ext cx="2952328" cy="86409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hord 23"/>
          <p:cNvSpPr/>
          <p:nvPr/>
        </p:nvSpPr>
        <p:spPr>
          <a:xfrm rot="-5100000">
            <a:off x="1399682" y="5467985"/>
            <a:ext cx="164057" cy="286936"/>
          </a:xfrm>
          <a:prstGeom prst="chord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Chord 25"/>
          <p:cNvSpPr/>
          <p:nvPr/>
        </p:nvSpPr>
        <p:spPr>
          <a:xfrm rot="-5100000">
            <a:off x="3559923" y="4819913"/>
            <a:ext cx="164057" cy="286936"/>
          </a:xfrm>
          <a:prstGeom prst="chord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8" name="Straight Connector 27"/>
          <p:cNvCxnSpPr/>
          <p:nvPr/>
        </p:nvCxnSpPr>
        <p:spPr>
          <a:xfrm>
            <a:off x="539552" y="5157192"/>
            <a:ext cx="504056" cy="1440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11560" y="5229200"/>
            <a:ext cx="0" cy="28803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611560" y="5517232"/>
            <a:ext cx="432048" cy="1440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611560" y="4725144"/>
            <a:ext cx="720080" cy="4320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1403648" y="4653136"/>
            <a:ext cx="360040" cy="7200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1331640" y="4509120"/>
            <a:ext cx="1080120" cy="1440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2411760" y="4509120"/>
            <a:ext cx="288032" cy="7200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2987824" y="4581128"/>
            <a:ext cx="576064" cy="1440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Arc 54"/>
          <p:cNvSpPr/>
          <p:nvPr/>
        </p:nvSpPr>
        <p:spPr>
          <a:xfrm rot="16200000">
            <a:off x="2447764" y="3392996"/>
            <a:ext cx="3528392" cy="2016224"/>
          </a:xfrm>
          <a:prstGeom prst="arc">
            <a:avLst>
              <a:gd name="adj1" fmla="val 16200000"/>
              <a:gd name="adj2" fmla="val 5934539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Arc 55"/>
          <p:cNvSpPr/>
          <p:nvPr/>
        </p:nvSpPr>
        <p:spPr>
          <a:xfrm rot="16200000">
            <a:off x="2303748" y="2888940"/>
            <a:ext cx="3888432" cy="2664296"/>
          </a:xfrm>
          <a:prstGeom prst="arc">
            <a:avLst>
              <a:gd name="adj1" fmla="val 16451789"/>
              <a:gd name="adj2" fmla="val 5934539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8" name="Straight Connector 57"/>
          <p:cNvCxnSpPr>
            <a:stCxn id="56" idx="0"/>
          </p:cNvCxnSpPr>
          <p:nvPr/>
        </p:nvCxnSpPr>
        <p:spPr>
          <a:xfrm flipH="1">
            <a:off x="2915816" y="4123467"/>
            <a:ext cx="1680" cy="31364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5580112" y="4437112"/>
            <a:ext cx="0" cy="28803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3752530" y="1949084"/>
            <a:ext cx="104047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Toll  road</a:t>
            </a:r>
            <a:endParaRPr lang="en-US" dirty="0"/>
          </a:p>
        </p:txBody>
      </p:sp>
      <p:cxnSp>
        <p:nvCxnSpPr>
          <p:cNvPr id="65" name="Straight Connector 64"/>
          <p:cNvCxnSpPr/>
          <p:nvPr/>
        </p:nvCxnSpPr>
        <p:spPr>
          <a:xfrm>
            <a:off x="3491880" y="4581128"/>
            <a:ext cx="288032" cy="7200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3779912" y="4653136"/>
            <a:ext cx="216024" cy="1440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 flipV="1">
            <a:off x="2915816" y="2924944"/>
            <a:ext cx="1296144" cy="1656184"/>
          </a:xfrm>
          <a:prstGeom prst="straightConnector1">
            <a:avLst/>
          </a:prstGeom>
          <a:ln w="28575"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4067944" y="2780928"/>
            <a:ext cx="288032" cy="144016"/>
          </a:xfrm>
          <a:prstGeom prst="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 70"/>
          <p:cNvSpPr/>
          <p:nvPr/>
        </p:nvSpPr>
        <p:spPr>
          <a:xfrm>
            <a:off x="755576" y="1196752"/>
            <a:ext cx="1512168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Rectangle 71"/>
          <p:cNvSpPr/>
          <p:nvPr/>
        </p:nvSpPr>
        <p:spPr>
          <a:xfrm>
            <a:off x="6516216" y="1052736"/>
            <a:ext cx="1512168" cy="8640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899592" y="1268760"/>
            <a:ext cx="1277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Car register</a:t>
            </a:r>
            <a:endParaRPr lang="en-US" b="1" dirty="0"/>
          </a:p>
        </p:txBody>
      </p:sp>
      <p:sp>
        <p:nvSpPr>
          <p:cNvPr id="74" name="TextBox 73"/>
          <p:cNvSpPr txBox="1"/>
          <p:nvPr/>
        </p:nvSpPr>
        <p:spPr>
          <a:xfrm>
            <a:off x="6660232" y="1196752"/>
            <a:ext cx="12255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Population</a:t>
            </a:r>
          </a:p>
          <a:p>
            <a:r>
              <a:rPr lang="en-US" b="1" dirty="0" smtClean="0"/>
              <a:t>register</a:t>
            </a:r>
            <a:endParaRPr lang="en-US" b="1" dirty="0"/>
          </a:p>
        </p:txBody>
      </p:sp>
      <p:sp>
        <p:nvSpPr>
          <p:cNvPr id="75" name="Rectangle 74"/>
          <p:cNvSpPr/>
          <p:nvPr/>
        </p:nvSpPr>
        <p:spPr>
          <a:xfrm>
            <a:off x="6588224" y="3284984"/>
            <a:ext cx="1512168" cy="13681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6738029" y="3356993"/>
            <a:ext cx="14343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 smtClean="0"/>
          </a:p>
          <a:p>
            <a:r>
              <a:rPr lang="en-US" b="1" dirty="0" smtClean="0"/>
              <a:t>Microdata</a:t>
            </a:r>
          </a:p>
          <a:p>
            <a:r>
              <a:rPr lang="en-US" b="1" dirty="0" smtClean="0"/>
              <a:t>Integration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2339752" y="1484784"/>
            <a:ext cx="4104456" cy="0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72" idx="2"/>
          </p:cNvCxnSpPr>
          <p:nvPr/>
        </p:nvCxnSpPr>
        <p:spPr>
          <a:xfrm>
            <a:off x="7272300" y="1916832"/>
            <a:ext cx="36004" cy="1296144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stCxn id="70" idx="1"/>
          </p:cNvCxnSpPr>
          <p:nvPr/>
        </p:nvCxnSpPr>
        <p:spPr>
          <a:xfrm flipH="1" flipV="1">
            <a:off x="1619672" y="1772816"/>
            <a:ext cx="2448272" cy="1080120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endCxn id="55" idx="2"/>
          </p:cNvCxnSpPr>
          <p:nvPr/>
        </p:nvCxnSpPr>
        <p:spPr>
          <a:xfrm flipV="1">
            <a:off x="1403648" y="4558506"/>
            <a:ext cx="3812404" cy="160679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>
            <a:stCxn id="56" idx="2"/>
          </p:cNvCxnSpPr>
          <p:nvPr/>
        </p:nvCxnSpPr>
        <p:spPr>
          <a:xfrm flipV="1">
            <a:off x="5572494" y="4005064"/>
            <a:ext cx="871714" cy="42365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 flipV="1">
            <a:off x="0" y="5301208"/>
            <a:ext cx="611560" cy="144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 flipV="1">
            <a:off x="2987824" y="3933056"/>
            <a:ext cx="2160240" cy="7200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 flipV="1">
            <a:off x="5508104" y="3501008"/>
            <a:ext cx="864096" cy="28803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 flipV="1">
            <a:off x="1835696" y="4725144"/>
            <a:ext cx="792088" cy="1440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 flipV="1">
            <a:off x="1619672" y="4869160"/>
            <a:ext cx="1296144" cy="28803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 flipH="1">
            <a:off x="1547664" y="4869160"/>
            <a:ext cx="288032" cy="28803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>
            <a:off x="2627784" y="4725144"/>
            <a:ext cx="288032" cy="1440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>
            <a:off x="2339752" y="4725144"/>
            <a:ext cx="0" cy="57606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>
            <a:off x="899592" y="5085184"/>
            <a:ext cx="288032" cy="7200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619672" y="2606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1254733" y="0"/>
            <a:ext cx="58174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Use of EOD in Official Statistics  II</a:t>
            </a:r>
            <a:endParaRPr lang="en-US" sz="3200" dirty="0"/>
          </a:p>
        </p:txBody>
      </p:sp>
      <p:sp>
        <p:nvSpPr>
          <p:cNvPr id="54" name="Rectangle 53"/>
          <p:cNvSpPr/>
          <p:nvPr/>
        </p:nvSpPr>
        <p:spPr>
          <a:xfrm>
            <a:off x="6588224" y="5301208"/>
            <a:ext cx="1656184" cy="8640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smtClean="0"/>
              <a:t>S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6876256" y="5589240"/>
            <a:ext cx="1090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b="1" dirty="0" smtClean="0"/>
              <a:t>Statisitics</a:t>
            </a:r>
            <a:endParaRPr lang="en-US" b="1" dirty="0"/>
          </a:p>
        </p:txBody>
      </p:sp>
      <p:cxnSp>
        <p:nvCxnSpPr>
          <p:cNvPr id="62" name="Straight Arrow Connector 61"/>
          <p:cNvCxnSpPr/>
          <p:nvPr/>
        </p:nvCxnSpPr>
        <p:spPr>
          <a:xfrm>
            <a:off x="7380312" y="4797152"/>
            <a:ext cx="0" cy="360040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3190-1BB8-4975-B157-641AD8C04E4A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80120" y="260648"/>
            <a:ext cx="68762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Integration of EOD with Existing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611560" y="1412776"/>
            <a:ext cx="2016224" cy="13681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55576" y="980728"/>
            <a:ext cx="20083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400" b="1" dirty="0" smtClean="0">
                <a:solidFill>
                  <a:srgbClr val="FF0000"/>
                </a:solidFill>
              </a:rPr>
              <a:t>Recorded EOD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7584" y="1484784"/>
            <a:ext cx="16882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400" b="1" dirty="0" smtClean="0"/>
              <a:t>Car number</a:t>
            </a:r>
          </a:p>
          <a:p>
            <a:r>
              <a:rPr lang="nb-NO" sz="2400" b="1" dirty="0" smtClean="0"/>
              <a:t>Location</a:t>
            </a:r>
          </a:p>
          <a:p>
            <a:r>
              <a:rPr lang="nb-NO" sz="2400" b="1" dirty="0" smtClean="0"/>
              <a:t>Time</a:t>
            </a:r>
            <a:endParaRPr lang="en-US" sz="2400" b="1" dirty="0"/>
          </a:p>
        </p:txBody>
      </p:sp>
      <p:sp>
        <p:nvSpPr>
          <p:cNvPr id="11" name="Rectangle 10"/>
          <p:cNvSpPr/>
          <p:nvPr/>
        </p:nvSpPr>
        <p:spPr>
          <a:xfrm>
            <a:off x="3419872" y="2348880"/>
            <a:ext cx="2016224" cy="22322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012160" y="3861048"/>
            <a:ext cx="2880320" cy="24482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571351" y="1844824"/>
            <a:ext cx="1648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400" b="1" dirty="0" smtClean="0">
                <a:solidFill>
                  <a:srgbClr val="FF0000"/>
                </a:solidFill>
              </a:rPr>
              <a:t>Car register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563888" y="2492896"/>
            <a:ext cx="172819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b-NO" sz="2400" b="1" dirty="0" smtClean="0"/>
              <a:t>Car number</a:t>
            </a:r>
          </a:p>
          <a:p>
            <a:r>
              <a:rPr lang="nb-NO" sz="2400" b="1" dirty="0" smtClean="0"/>
              <a:t>Location</a:t>
            </a:r>
          </a:p>
          <a:p>
            <a:r>
              <a:rPr lang="nb-NO" sz="2400" b="1" dirty="0" smtClean="0"/>
              <a:t>Time</a:t>
            </a:r>
          </a:p>
          <a:p>
            <a:r>
              <a:rPr lang="nb-NO" sz="2400" b="1" dirty="0" smtClean="0"/>
              <a:t>Owner ID</a:t>
            </a:r>
            <a:endParaRPr lang="en-US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6156176" y="4082296"/>
            <a:ext cx="26642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400" b="1" dirty="0" smtClean="0"/>
              <a:t>Car number</a:t>
            </a:r>
          </a:p>
          <a:p>
            <a:r>
              <a:rPr lang="nb-NO" sz="2400" b="1" dirty="0" smtClean="0"/>
              <a:t>Location</a:t>
            </a:r>
          </a:p>
          <a:p>
            <a:r>
              <a:rPr lang="nb-NO" sz="2400" b="1" dirty="0" smtClean="0"/>
              <a:t>Time</a:t>
            </a:r>
          </a:p>
          <a:p>
            <a:r>
              <a:rPr lang="nb-NO" sz="2400" b="1" dirty="0" smtClean="0"/>
              <a:t>Owner ID</a:t>
            </a:r>
          </a:p>
          <a:p>
            <a:r>
              <a:rPr lang="nb-NO" sz="2400" b="1" dirty="0" smtClean="0"/>
              <a:t>Owner microdata</a:t>
            </a:r>
            <a:endParaRPr lang="en-US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6228184" y="3255367"/>
            <a:ext cx="2047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400" b="1" dirty="0" smtClean="0">
                <a:solidFill>
                  <a:srgbClr val="FF0000"/>
                </a:solidFill>
              </a:rPr>
              <a:t>NSI  microdata</a:t>
            </a:r>
            <a:endParaRPr lang="en-US" sz="2400" b="1" dirty="0">
              <a:solidFill>
                <a:srgbClr val="FF0000"/>
              </a:solidFill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1691680" y="3429000"/>
            <a:ext cx="136815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691680" y="2924944"/>
            <a:ext cx="0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355976" y="5157192"/>
            <a:ext cx="151216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4390662" y="4725144"/>
            <a:ext cx="0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105009" y="2780928"/>
            <a:ext cx="23310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Social media</a:t>
            </a:r>
            <a:endParaRPr lang="en-US" sz="32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619672" y="1124744"/>
            <a:ext cx="559836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 smtClean="0">
                <a:solidFill>
                  <a:srgbClr val="0070C0"/>
                </a:solidFill>
              </a:rPr>
              <a:t>Every </a:t>
            </a:r>
            <a:r>
              <a:rPr lang="en-US" sz="2400" b="1" i="1" dirty="0" smtClean="0">
                <a:solidFill>
                  <a:srgbClr val="FF0000"/>
                </a:solidFill>
              </a:rPr>
              <a:t>minute</a:t>
            </a:r>
            <a:r>
              <a:rPr lang="en-US" sz="2400" b="1" i="1" dirty="0" smtClean="0">
                <a:solidFill>
                  <a:srgbClr val="0070C0"/>
                </a:solidFill>
              </a:rPr>
              <a:t> of the day</a:t>
            </a:r>
            <a:r>
              <a:rPr lang="en-US" sz="2400" b="1" dirty="0" smtClean="0">
                <a:solidFill>
                  <a:srgbClr val="0070C0"/>
                </a:solidFill>
              </a:rPr>
              <a:t>: </a:t>
            </a:r>
          </a:p>
          <a:p>
            <a:endParaRPr lang="en-US" sz="2400" b="1" dirty="0" smtClean="0">
              <a:solidFill>
                <a:srgbClr val="0070C0"/>
              </a:solidFill>
            </a:endParaRPr>
          </a:p>
          <a:p>
            <a:pPr lvl="1"/>
            <a:r>
              <a:rPr lang="en-US" sz="2400" b="1" dirty="0" smtClean="0">
                <a:solidFill>
                  <a:srgbClr val="0070C0"/>
                </a:solidFill>
              </a:rPr>
              <a:t>100,000 </a:t>
            </a:r>
            <a:r>
              <a:rPr lang="en-US" sz="2400" b="1" dirty="0" smtClean="0">
                <a:solidFill>
                  <a:srgbClr val="FF0000"/>
                </a:solidFill>
              </a:rPr>
              <a:t>tweets</a:t>
            </a:r>
            <a:r>
              <a:rPr lang="en-US" sz="2400" b="1" dirty="0" smtClean="0">
                <a:solidFill>
                  <a:srgbClr val="0070C0"/>
                </a:solidFill>
              </a:rPr>
              <a:t> are sent</a:t>
            </a:r>
          </a:p>
          <a:p>
            <a:pPr lvl="1"/>
            <a:r>
              <a:rPr lang="en-US" sz="2400" b="1" dirty="0" smtClean="0">
                <a:solidFill>
                  <a:srgbClr val="0070C0"/>
                </a:solidFill>
              </a:rPr>
              <a:t>684,478 pieces of content are shared on </a:t>
            </a:r>
            <a:r>
              <a:rPr lang="en-US" sz="2400" b="1" dirty="0" smtClean="0">
                <a:solidFill>
                  <a:srgbClr val="FF0000"/>
                </a:solidFill>
              </a:rPr>
              <a:t>Facebook</a:t>
            </a:r>
          </a:p>
          <a:p>
            <a:pPr lvl="1"/>
            <a:r>
              <a:rPr lang="en-US" sz="2400" b="1" dirty="0" smtClean="0">
                <a:solidFill>
                  <a:srgbClr val="0070C0"/>
                </a:solidFill>
              </a:rPr>
              <a:t>2 million search queries are made on </a:t>
            </a:r>
            <a:r>
              <a:rPr lang="en-US" sz="2400" b="1" dirty="0" smtClean="0">
                <a:solidFill>
                  <a:srgbClr val="FF0000"/>
                </a:solidFill>
              </a:rPr>
              <a:t>Google</a:t>
            </a:r>
          </a:p>
          <a:p>
            <a:pPr lvl="1"/>
            <a:r>
              <a:rPr lang="en-US" sz="2400" b="1" dirty="0" smtClean="0">
                <a:solidFill>
                  <a:srgbClr val="0070C0"/>
                </a:solidFill>
              </a:rPr>
              <a:t>48 hours of video are uploaded to </a:t>
            </a:r>
            <a:r>
              <a:rPr lang="en-US" sz="2400" b="1" dirty="0" smtClean="0">
                <a:solidFill>
                  <a:srgbClr val="FF0000"/>
                </a:solidFill>
              </a:rPr>
              <a:t>YouTube</a:t>
            </a:r>
          </a:p>
          <a:p>
            <a:pPr lvl="1"/>
            <a:r>
              <a:rPr lang="en-US" sz="2400" b="1" dirty="0" smtClean="0">
                <a:solidFill>
                  <a:srgbClr val="0070C0"/>
                </a:solidFill>
              </a:rPr>
              <a:t>3,600 </a:t>
            </a:r>
            <a:r>
              <a:rPr lang="en-US" sz="2400" b="1" dirty="0" smtClean="0">
                <a:solidFill>
                  <a:srgbClr val="FF0000"/>
                </a:solidFill>
              </a:rPr>
              <a:t>photos</a:t>
            </a:r>
            <a:r>
              <a:rPr lang="en-US" sz="2400" b="1" dirty="0" smtClean="0">
                <a:solidFill>
                  <a:srgbClr val="0070C0"/>
                </a:solidFill>
              </a:rPr>
              <a:t> are shared on </a:t>
            </a:r>
            <a:r>
              <a:rPr lang="en-US" sz="2400" b="1" dirty="0" smtClean="0">
                <a:solidFill>
                  <a:srgbClr val="FF0000"/>
                </a:solidFill>
              </a:rPr>
              <a:t>Instagram</a:t>
            </a:r>
          </a:p>
          <a:p>
            <a:pPr lvl="1"/>
            <a:r>
              <a:rPr lang="en-US" sz="2400" b="1" dirty="0" smtClean="0">
                <a:solidFill>
                  <a:srgbClr val="0070C0"/>
                </a:solidFill>
              </a:rPr>
              <a:t>571 </a:t>
            </a:r>
            <a:r>
              <a:rPr lang="en-US" sz="2400" b="1" dirty="0" smtClean="0">
                <a:solidFill>
                  <a:srgbClr val="FF0000"/>
                </a:solidFill>
              </a:rPr>
              <a:t>websites</a:t>
            </a:r>
            <a:r>
              <a:rPr lang="en-US" sz="2400" b="1" dirty="0" smtClean="0">
                <a:solidFill>
                  <a:srgbClr val="0070C0"/>
                </a:solidFill>
              </a:rPr>
              <a:t> are created</a:t>
            </a:r>
          </a:p>
          <a:p>
            <a:pPr lvl="1"/>
            <a:r>
              <a:rPr lang="en-US" sz="2400" b="1" dirty="0" smtClean="0">
                <a:solidFill>
                  <a:srgbClr val="0070C0"/>
                </a:solidFill>
              </a:rPr>
              <a:t>$272,000 is </a:t>
            </a:r>
            <a:r>
              <a:rPr lang="en-US" sz="2400" b="1" dirty="0" smtClean="0">
                <a:solidFill>
                  <a:srgbClr val="FF0000"/>
                </a:solidFill>
              </a:rPr>
              <a:t>spent</a:t>
            </a:r>
            <a:r>
              <a:rPr lang="en-US" sz="2400" b="1" dirty="0" smtClean="0">
                <a:solidFill>
                  <a:srgbClr val="0070C0"/>
                </a:solidFill>
              </a:rPr>
              <a:t> by consumers online</a:t>
            </a:r>
          </a:p>
          <a:p>
            <a:pPr lvl="1"/>
            <a:endParaRPr lang="en-US" sz="2400" b="1" dirty="0" smtClean="0">
              <a:solidFill>
                <a:srgbClr val="0070C0"/>
              </a:solidFill>
            </a:endParaRPr>
          </a:p>
          <a:p>
            <a:pPr lvl="1"/>
            <a:r>
              <a:rPr lang="en-US" sz="2400" b="1" dirty="0" smtClean="0">
                <a:solidFill>
                  <a:srgbClr val="0070C0"/>
                </a:solidFill>
              </a:rPr>
              <a:t> (Source: Wikipedia)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23728" y="332656"/>
            <a:ext cx="4279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Some Internet Activities</a:t>
            </a:r>
            <a:endParaRPr lang="en-US" sz="32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99592" y="5215345"/>
            <a:ext cx="1800200" cy="10081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99592" y="2661889"/>
            <a:ext cx="1800200" cy="10081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96859" y="3933056"/>
            <a:ext cx="1800200" cy="10081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779912" y="5229200"/>
            <a:ext cx="1800200" cy="10081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228184" y="1412776"/>
            <a:ext cx="1800200" cy="100811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99592" y="1340768"/>
            <a:ext cx="1800200" cy="10081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Social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228184" y="2708920"/>
            <a:ext cx="1800200" cy="100811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28184" y="4005064"/>
            <a:ext cx="1800200" cy="100811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96744" y="1601416"/>
            <a:ext cx="7743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Target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data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15616" y="1558533"/>
            <a:ext cx="14029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Social Media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data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00192" y="3068960"/>
            <a:ext cx="1752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Test correlations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8867" y="2739363"/>
            <a:ext cx="16561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Select sources 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and frequency.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Collect  text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2223" y="4074339"/>
            <a:ext cx="15328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Parse , extract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and count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00192" y="4149080"/>
            <a:ext cx="16727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Estimate model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parameters.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616" y="5431369"/>
            <a:ext cx="14102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Model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computation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139952" y="5400926"/>
            <a:ext cx="11219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Statistical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indicators</a:t>
            </a:r>
            <a:endParaRPr lang="en-US" b="1" dirty="0">
              <a:solidFill>
                <a:srgbClr val="0070C0"/>
              </a:solidFill>
            </a:endParaRPr>
          </a:p>
        </p:txBody>
      </p:sp>
      <p:cxnSp>
        <p:nvCxnSpPr>
          <p:cNvPr id="26" name="Straight Arrow Connector 25"/>
          <p:cNvCxnSpPr>
            <a:stCxn id="10" idx="3"/>
          </p:cNvCxnSpPr>
          <p:nvPr/>
        </p:nvCxnSpPr>
        <p:spPr>
          <a:xfrm>
            <a:off x="2699792" y="1844824"/>
            <a:ext cx="3456384" cy="1008112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endCxn id="8" idx="1"/>
          </p:cNvCxnSpPr>
          <p:nvPr/>
        </p:nvCxnSpPr>
        <p:spPr>
          <a:xfrm>
            <a:off x="2699792" y="5719402"/>
            <a:ext cx="1080120" cy="1385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 flipV="1">
            <a:off x="2771800" y="3212976"/>
            <a:ext cx="3528392" cy="47031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6" idx="2"/>
            <a:endCxn id="7" idx="0"/>
          </p:cNvCxnSpPr>
          <p:nvPr/>
        </p:nvCxnSpPr>
        <p:spPr>
          <a:xfrm>
            <a:off x="1796959" y="3662693"/>
            <a:ext cx="0" cy="27036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7" idx="2"/>
            <a:endCxn id="5" idx="0"/>
          </p:cNvCxnSpPr>
          <p:nvPr/>
        </p:nvCxnSpPr>
        <p:spPr>
          <a:xfrm>
            <a:off x="1796959" y="4941168"/>
            <a:ext cx="2733" cy="274177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1" idx="2"/>
            <a:endCxn id="12" idx="0"/>
          </p:cNvCxnSpPr>
          <p:nvPr/>
        </p:nvCxnSpPr>
        <p:spPr>
          <a:xfrm>
            <a:off x="7128284" y="3717032"/>
            <a:ext cx="0" cy="28803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2" idx="1"/>
          </p:cNvCxnSpPr>
          <p:nvPr/>
        </p:nvCxnSpPr>
        <p:spPr>
          <a:xfrm flipH="1">
            <a:off x="2699792" y="4509120"/>
            <a:ext cx="3528392" cy="864096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979712" y="332656"/>
            <a:ext cx="50809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Data for Statistical Indicators</a:t>
            </a:r>
            <a:endParaRPr lang="en-US" sz="3200" b="1" dirty="0">
              <a:solidFill>
                <a:srgbClr val="0070C0"/>
              </a:solidFill>
            </a:endParaRPr>
          </a:p>
        </p:txBody>
      </p:sp>
      <p:cxnSp>
        <p:nvCxnSpPr>
          <p:cNvPr id="39" name="Straight Arrow Connector 38"/>
          <p:cNvCxnSpPr>
            <a:stCxn id="9" idx="2"/>
            <a:endCxn id="11" idx="0"/>
          </p:cNvCxnSpPr>
          <p:nvPr/>
        </p:nvCxnSpPr>
        <p:spPr>
          <a:xfrm>
            <a:off x="7128284" y="2420888"/>
            <a:ext cx="0" cy="28803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10" idx="2"/>
            <a:endCxn id="6" idx="0"/>
          </p:cNvCxnSpPr>
          <p:nvPr/>
        </p:nvCxnSpPr>
        <p:spPr>
          <a:xfrm>
            <a:off x="1799692" y="2348880"/>
            <a:ext cx="0" cy="31300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347864" y="332656"/>
            <a:ext cx="19834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Estimators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616" y="1700808"/>
            <a:ext cx="6622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 smtClean="0">
                <a:solidFill>
                  <a:srgbClr val="0070C0"/>
                </a:solidFill>
              </a:rPr>
              <a:t>indicator</a:t>
            </a:r>
            <a:r>
              <a:rPr lang="en-US" sz="2400" b="1" baseline="-25000" dirty="0" err="1" smtClean="0">
                <a:solidFill>
                  <a:srgbClr val="0070C0"/>
                </a:solidFill>
              </a:rPr>
              <a:t>i</a:t>
            </a:r>
            <a:r>
              <a:rPr lang="en-US" sz="2400" b="1" baseline="-25000" dirty="0" smtClean="0">
                <a:solidFill>
                  <a:srgbClr val="0070C0"/>
                </a:solidFill>
              </a:rPr>
              <a:t> </a:t>
            </a:r>
            <a:r>
              <a:rPr lang="en-US" sz="2400" b="1" dirty="0" smtClean="0">
                <a:solidFill>
                  <a:srgbClr val="0070C0"/>
                </a:solidFill>
              </a:rPr>
              <a:t> </a:t>
            </a:r>
            <a:r>
              <a:rPr lang="en-US" sz="2400" b="1" dirty="0" smtClean="0">
                <a:solidFill>
                  <a:srgbClr val="0070C0"/>
                </a:solidFill>
              </a:rPr>
              <a:t>=  f</a:t>
            </a:r>
            <a:r>
              <a:rPr lang="en-US" sz="2400" b="1" baseline="-25000" dirty="0" smtClean="0">
                <a:solidFill>
                  <a:srgbClr val="0070C0"/>
                </a:solidFill>
              </a:rPr>
              <a:t> i</a:t>
            </a:r>
            <a:r>
              <a:rPr lang="en-US" sz="2400" b="1" dirty="0" smtClean="0">
                <a:solidFill>
                  <a:srgbClr val="0070C0"/>
                </a:solidFill>
              </a:rPr>
              <a:t> ( x</a:t>
            </a:r>
            <a:r>
              <a:rPr lang="en-US" sz="2400" b="1" baseline="-25000" dirty="0" smtClean="0">
                <a:solidFill>
                  <a:srgbClr val="0070C0"/>
                </a:solidFill>
              </a:rPr>
              <a:t>i,j</a:t>
            </a:r>
            <a:r>
              <a:rPr lang="en-US" sz="2400" b="1" dirty="0" smtClean="0">
                <a:solidFill>
                  <a:srgbClr val="0070C0"/>
                </a:solidFill>
              </a:rPr>
              <a:t>, x</a:t>
            </a:r>
            <a:r>
              <a:rPr lang="en-US" sz="2400" b="1" baseline="-25000" dirty="0" smtClean="0">
                <a:solidFill>
                  <a:srgbClr val="0070C0"/>
                </a:solidFill>
              </a:rPr>
              <a:t>i,j+1</a:t>
            </a:r>
            <a:r>
              <a:rPr lang="en-US" sz="2400" b="1" dirty="0" smtClean="0">
                <a:solidFill>
                  <a:srgbClr val="0070C0"/>
                </a:solidFill>
              </a:rPr>
              <a:t>, x</a:t>
            </a:r>
            <a:r>
              <a:rPr lang="en-US" sz="2400" b="1" baseline="-25000" dirty="0" smtClean="0">
                <a:solidFill>
                  <a:srgbClr val="0070C0"/>
                </a:solidFill>
              </a:rPr>
              <a:t>i,j+2</a:t>
            </a:r>
            <a:r>
              <a:rPr lang="en-US" sz="2400" b="1" dirty="0" smtClean="0">
                <a:solidFill>
                  <a:srgbClr val="0070C0"/>
                </a:solidFill>
              </a:rPr>
              <a:t>,…..)            i=1, 2, …….</a:t>
            </a:r>
            <a:r>
              <a:rPr lang="en-US" sz="2400" b="1" baseline="-25000" dirty="0" smtClean="0">
                <a:solidFill>
                  <a:srgbClr val="0070C0"/>
                </a:solidFill>
              </a:rPr>
              <a:t> 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3528" y="2708920"/>
            <a:ext cx="851694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70C0"/>
                </a:solidFill>
              </a:rPr>
              <a:t>where</a:t>
            </a:r>
            <a:r>
              <a:rPr lang="en-US" sz="2400" dirty="0" smtClean="0"/>
              <a:t> </a:t>
            </a:r>
          </a:p>
          <a:p>
            <a:r>
              <a:rPr lang="en-US" sz="2400" b="1" dirty="0" smtClean="0">
                <a:solidFill>
                  <a:srgbClr val="0070C0"/>
                </a:solidFill>
              </a:rPr>
              <a:t>	indicator</a:t>
            </a:r>
            <a:r>
              <a:rPr lang="en-US" sz="2400" b="1" baseline="-25000" dirty="0" smtClean="0">
                <a:solidFill>
                  <a:srgbClr val="0070C0"/>
                </a:solidFill>
              </a:rPr>
              <a:t>  </a:t>
            </a:r>
            <a:r>
              <a:rPr lang="en-US" sz="2400" b="1" dirty="0" smtClean="0">
                <a:solidFill>
                  <a:srgbClr val="0070C0"/>
                </a:solidFill>
              </a:rPr>
              <a:t>is a </a:t>
            </a:r>
            <a:r>
              <a:rPr lang="en-US" sz="2400" b="1" dirty="0" smtClean="0">
                <a:solidFill>
                  <a:srgbClr val="FF0000"/>
                </a:solidFill>
              </a:rPr>
              <a:t>target</a:t>
            </a:r>
            <a:r>
              <a:rPr lang="en-US" sz="2400" b="1" dirty="0" smtClean="0">
                <a:solidFill>
                  <a:srgbClr val="0070C0"/>
                </a:solidFill>
              </a:rPr>
              <a:t> statistic</a:t>
            </a:r>
            <a:endParaRPr lang="en-US" sz="2400" dirty="0" smtClean="0"/>
          </a:p>
          <a:p>
            <a:r>
              <a:rPr lang="en-US" sz="2400" dirty="0" smtClean="0"/>
              <a:t>	</a:t>
            </a:r>
          </a:p>
          <a:p>
            <a:r>
              <a:rPr lang="en-US" sz="2400" dirty="0" smtClean="0"/>
              <a:t>	</a:t>
            </a:r>
            <a:r>
              <a:rPr lang="en-US" sz="2400" b="1" dirty="0" smtClean="0">
                <a:solidFill>
                  <a:srgbClr val="0070C0"/>
                </a:solidFill>
              </a:rPr>
              <a:t>x</a:t>
            </a:r>
            <a:r>
              <a:rPr lang="en-US" sz="2400" b="1" baseline="-25000" dirty="0" smtClean="0">
                <a:solidFill>
                  <a:srgbClr val="0070C0"/>
                </a:solidFill>
              </a:rPr>
              <a:t>i,j</a:t>
            </a:r>
            <a:r>
              <a:rPr lang="en-US" sz="2400" b="1" dirty="0" smtClean="0">
                <a:solidFill>
                  <a:srgbClr val="0070C0"/>
                </a:solidFill>
              </a:rPr>
              <a:t>, x</a:t>
            </a:r>
            <a:r>
              <a:rPr lang="en-US" sz="2400" b="1" baseline="-25000" dirty="0" smtClean="0">
                <a:solidFill>
                  <a:srgbClr val="0070C0"/>
                </a:solidFill>
              </a:rPr>
              <a:t>i,j+1</a:t>
            </a:r>
            <a:r>
              <a:rPr lang="en-US" sz="2400" b="1" dirty="0" smtClean="0">
                <a:solidFill>
                  <a:srgbClr val="0070C0"/>
                </a:solidFill>
              </a:rPr>
              <a:t>, x</a:t>
            </a:r>
            <a:r>
              <a:rPr lang="en-US" sz="2400" b="1" baseline="-25000" dirty="0" smtClean="0">
                <a:solidFill>
                  <a:srgbClr val="0070C0"/>
                </a:solidFill>
              </a:rPr>
              <a:t>i,j+2</a:t>
            </a:r>
            <a:r>
              <a:rPr lang="en-US" sz="2400" b="1" dirty="0" smtClean="0">
                <a:solidFill>
                  <a:srgbClr val="0070C0"/>
                </a:solidFill>
              </a:rPr>
              <a:t>,….. are counted </a:t>
            </a:r>
            <a:r>
              <a:rPr lang="en-US" sz="2400" b="1" dirty="0" smtClean="0">
                <a:solidFill>
                  <a:srgbClr val="FF0000"/>
                </a:solidFill>
              </a:rPr>
              <a:t>observations</a:t>
            </a:r>
            <a:r>
              <a:rPr lang="en-US" sz="2400" b="1" dirty="0" smtClean="0">
                <a:solidFill>
                  <a:srgbClr val="0070C0"/>
                </a:solidFill>
              </a:rPr>
              <a:t> in social  media</a:t>
            </a:r>
          </a:p>
          <a:p>
            <a:r>
              <a:rPr lang="en-US" sz="2400" b="1" dirty="0" smtClean="0">
                <a:solidFill>
                  <a:srgbClr val="0070C0"/>
                </a:solidFill>
              </a:rPr>
              <a:t>	</a:t>
            </a:r>
          </a:p>
          <a:p>
            <a:r>
              <a:rPr lang="en-US" sz="2400" b="1" dirty="0" smtClean="0">
                <a:solidFill>
                  <a:srgbClr val="0070C0"/>
                </a:solidFill>
              </a:rPr>
              <a:t>	 f</a:t>
            </a:r>
            <a:r>
              <a:rPr lang="en-US" sz="2400" b="1" baseline="-25000" dirty="0" smtClean="0">
                <a:solidFill>
                  <a:srgbClr val="0070C0"/>
                </a:solidFill>
              </a:rPr>
              <a:t> i</a:t>
            </a:r>
            <a:r>
              <a:rPr lang="en-US" sz="2400" b="1" dirty="0" smtClean="0">
                <a:solidFill>
                  <a:srgbClr val="0070C0"/>
                </a:solidFill>
              </a:rPr>
              <a:t>  is an estimated </a:t>
            </a:r>
            <a:r>
              <a:rPr lang="en-US" sz="2400" b="1" dirty="0" smtClean="0">
                <a:solidFill>
                  <a:srgbClr val="FF0000"/>
                </a:solidFill>
              </a:rPr>
              <a:t>relationship</a:t>
            </a:r>
            <a:r>
              <a:rPr lang="en-US" sz="2400" b="1" dirty="0" smtClean="0">
                <a:solidFill>
                  <a:srgbClr val="0070C0"/>
                </a:solidFill>
              </a:rPr>
              <a:t> between indicators and </a:t>
            </a:r>
          </a:p>
          <a:p>
            <a:r>
              <a:rPr lang="en-US" sz="2400" b="1" dirty="0" smtClean="0">
                <a:solidFill>
                  <a:srgbClr val="0070C0"/>
                </a:solidFill>
              </a:rPr>
              <a:t>                    observations</a:t>
            </a:r>
            <a:r>
              <a:rPr lang="en-US" sz="2400" dirty="0" smtClean="0"/>
              <a:t>	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699792" y="2708920"/>
            <a:ext cx="31025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End user services</a:t>
            </a:r>
            <a:endParaRPr lang="en-US" sz="32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3190-1BB8-4975-B157-641AD8C04E4A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946054" y="260648"/>
            <a:ext cx="31506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3200" b="1" dirty="0" smtClean="0">
                <a:solidFill>
                  <a:srgbClr val="0070C0"/>
                </a:solidFill>
              </a:rPr>
              <a:t>End User Services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616" y="1772816"/>
            <a:ext cx="650094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b="1" dirty="0" smtClean="0"/>
              <a:t> Statistical file (</a:t>
            </a:r>
            <a:r>
              <a:rPr lang="en-US" sz="2400" b="1" dirty="0" smtClean="0">
                <a:solidFill>
                  <a:srgbClr val="FF0000"/>
                </a:solidFill>
              </a:rPr>
              <a:t>archive/register-based</a:t>
            </a:r>
            <a:r>
              <a:rPr lang="en-US" sz="2400" b="1" dirty="0" smtClean="0"/>
              <a:t>) systems</a:t>
            </a:r>
          </a:p>
          <a:p>
            <a:pPr>
              <a:buFont typeface="Arial" pitchFamily="34" charset="0"/>
              <a:buChar char="•"/>
            </a:pPr>
            <a:r>
              <a:rPr lang="en-US" sz="2400" b="1" dirty="0" smtClean="0"/>
              <a:t>  </a:t>
            </a:r>
            <a:r>
              <a:rPr lang="en-US" sz="2400" b="1" dirty="0" smtClean="0">
                <a:solidFill>
                  <a:srgbClr val="FF0000"/>
                </a:solidFill>
              </a:rPr>
              <a:t>Online</a:t>
            </a:r>
            <a:r>
              <a:rPr lang="en-US" sz="2400" b="1" dirty="0" smtClean="0"/>
              <a:t> and </a:t>
            </a:r>
            <a:r>
              <a:rPr lang="en-US" sz="2400" b="1" dirty="0" smtClean="0">
                <a:solidFill>
                  <a:srgbClr val="FF0000"/>
                </a:solidFill>
              </a:rPr>
              <a:t>instant</a:t>
            </a:r>
            <a:r>
              <a:rPr lang="en-US" sz="2400" b="1" dirty="0" smtClean="0"/>
              <a:t> database service to statistics</a:t>
            </a:r>
          </a:p>
          <a:p>
            <a:pPr>
              <a:buFont typeface="Arial" pitchFamily="34" charset="0"/>
              <a:buChar char="•"/>
            </a:pPr>
            <a:r>
              <a:rPr lang="en-US" sz="2400" b="1" dirty="0" smtClean="0"/>
              <a:t>  </a:t>
            </a:r>
            <a:r>
              <a:rPr lang="en-US" sz="2400" b="1" dirty="0" smtClean="0">
                <a:solidFill>
                  <a:srgbClr val="FF0000"/>
                </a:solidFill>
              </a:rPr>
              <a:t>Remote </a:t>
            </a:r>
            <a:r>
              <a:rPr lang="en-US" sz="2400" b="1" dirty="0" smtClean="0"/>
              <a:t>electronic access to </a:t>
            </a:r>
            <a:r>
              <a:rPr lang="en-US" sz="2400" b="1" dirty="0" smtClean="0">
                <a:solidFill>
                  <a:srgbClr val="FF0000"/>
                </a:solidFill>
              </a:rPr>
              <a:t>microdata</a:t>
            </a:r>
          </a:p>
          <a:p>
            <a:pPr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FF0000"/>
                </a:solidFill>
              </a:rPr>
              <a:t>  Model-based </a:t>
            </a:r>
            <a:r>
              <a:rPr lang="en-US" sz="2400" b="1" dirty="0" smtClean="0"/>
              <a:t>statistics</a:t>
            </a:r>
          </a:p>
          <a:p>
            <a:pPr>
              <a:buFont typeface="Arial" pitchFamily="34" charset="0"/>
              <a:buChar char="•"/>
            </a:pPr>
            <a:r>
              <a:rPr lang="en-US" sz="2400" b="1" dirty="0" smtClean="0"/>
              <a:t>  Pre-approved </a:t>
            </a:r>
            <a:r>
              <a:rPr lang="en-US" sz="2400" b="1" dirty="0" smtClean="0">
                <a:solidFill>
                  <a:srgbClr val="FF0000"/>
                </a:solidFill>
              </a:rPr>
              <a:t>analytica</a:t>
            </a:r>
            <a:r>
              <a:rPr lang="en-US" sz="2400" b="1" dirty="0" smtClean="0"/>
              <a:t>l programs</a:t>
            </a:r>
          </a:p>
          <a:p>
            <a:pPr>
              <a:buFont typeface="Arial" pitchFamily="34" charset="0"/>
              <a:buChar char="•"/>
            </a:pPr>
            <a:r>
              <a:rPr lang="en-US" sz="2400" b="1" dirty="0" smtClean="0"/>
              <a:t>  Access by </a:t>
            </a:r>
            <a:r>
              <a:rPr lang="en-US" sz="2400" b="1" dirty="0" smtClean="0">
                <a:solidFill>
                  <a:srgbClr val="FF0000"/>
                </a:solidFill>
              </a:rPr>
              <a:t>mobile</a:t>
            </a:r>
            <a:r>
              <a:rPr lang="en-US" sz="2400" b="1" dirty="0" smtClean="0"/>
              <a:t> devices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907704" y="2636912"/>
            <a:ext cx="53385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Access and reuse of microdata</a:t>
            </a:r>
            <a:endParaRPr lang="en-US" sz="32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3190-1BB8-4975-B157-641AD8C04E4A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46950" y="2507412"/>
            <a:ext cx="480131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b="1" dirty="0" smtClean="0"/>
              <a:t>Statistical Tables and </a:t>
            </a:r>
            <a:r>
              <a:rPr lang="en-US" sz="2400" b="1" dirty="0" smtClean="0">
                <a:solidFill>
                  <a:srgbClr val="FF0000"/>
                </a:solidFill>
              </a:rPr>
              <a:t>Data Cubes</a:t>
            </a:r>
          </a:p>
          <a:p>
            <a:pPr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FF0000"/>
                </a:solidFill>
              </a:rPr>
              <a:t>Anonymized</a:t>
            </a:r>
            <a:r>
              <a:rPr lang="en-US" sz="2400" b="1" dirty="0" smtClean="0"/>
              <a:t> Microdata Files</a:t>
            </a:r>
          </a:p>
          <a:p>
            <a:pPr>
              <a:buFont typeface="Arial" pitchFamily="34" charset="0"/>
              <a:buChar char="•"/>
            </a:pPr>
            <a:r>
              <a:rPr lang="en-US" sz="2400" b="1" dirty="0" smtClean="0"/>
              <a:t>Random Error  </a:t>
            </a:r>
            <a:r>
              <a:rPr lang="en-US" sz="2400" b="1" dirty="0" smtClean="0">
                <a:solidFill>
                  <a:srgbClr val="FF0000"/>
                </a:solidFill>
              </a:rPr>
              <a:t>Distorted </a:t>
            </a:r>
            <a:r>
              <a:rPr lang="en-US" sz="2400" b="1" dirty="0" smtClean="0"/>
              <a:t>Microdata	</a:t>
            </a:r>
          </a:p>
          <a:p>
            <a:pPr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FF0000"/>
                </a:solidFill>
              </a:rPr>
              <a:t>Remote </a:t>
            </a:r>
            <a:r>
              <a:rPr lang="en-US" sz="2400" b="1" dirty="0" smtClean="0"/>
              <a:t>Access</a:t>
            </a: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r>
              <a:rPr lang="en-US" sz="2400" b="1" dirty="0" smtClean="0"/>
              <a:t>Facilities 	</a:t>
            </a:r>
          </a:p>
          <a:p>
            <a:pPr>
              <a:buFont typeface="Arial" pitchFamily="34" charset="0"/>
              <a:buChar char="•"/>
            </a:pPr>
            <a:r>
              <a:rPr lang="en-US" sz="2400" b="1" dirty="0" smtClean="0"/>
              <a:t>Data </a:t>
            </a:r>
            <a:r>
              <a:rPr lang="en-US" sz="2400" b="1" dirty="0" smtClean="0">
                <a:solidFill>
                  <a:srgbClr val="FF0000"/>
                </a:solidFill>
              </a:rPr>
              <a:t>Laboratories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1600" y="5517232"/>
            <a:ext cx="7272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UN/ECE (2007): </a:t>
            </a:r>
            <a:r>
              <a:rPr lang="en-US" b="1" i="1" dirty="0" smtClean="0"/>
              <a:t>Managing  Statistical Confidentiality &amp; Microdata Access –</a:t>
            </a:r>
          </a:p>
          <a:p>
            <a:r>
              <a:rPr lang="en-US" b="1" i="1" dirty="0" smtClean="0"/>
              <a:t>Principles and Guidelines of Good Practice</a:t>
            </a:r>
            <a:r>
              <a:rPr lang="en-US" dirty="0" smtClean="0"/>
              <a:t>. </a:t>
            </a:r>
            <a:r>
              <a:rPr lang="en-US" b="1" dirty="0" smtClean="0"/>
              <a:t>New York and Geneva.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5604" y="620688"/>
            <a:ext cx="34952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Reuse of Microdata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77199" y="1556792"/>
            <a:ext cx="38349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smtClean="0">
                <a:solidFill>
                  <a:srgbClr val="0070C0"/>
                </a:solidFill>
              </a:rPr>
              <a:t>The Confidentiality Dilemma</a:t>
            </a:r>
            <a:endParaRPr lang="en-US" sz="2400" b="1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05200" y="457200"/>
            <a:ext cx="2209800" cy="1066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295400" y="2743200"/>
            <a:ext cx="1828800" cy="838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638800" y="2743200"/>
            <a:ext cx="1828800" cy="838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692238" y="2735996"/>
            <a:ext cx="1828800" cy="8454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899568" y="4184072"/>
            <a:ext cx="2133600" cy="7689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823854" y="5257800"/>
            <a:ext cx="1447800" cy="13716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858000" y="1524000"/>
            <a:ext cx="2209802" cy="8659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810000" y="522982"/>
            <a:ext cx="158710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3200" b="1" dirty="0" smtClean="0"/>
              <a:t>External</a:t>
            </a:r>
          </a:p>
          <a:p>
            <a:pPr algn="ctr"/>
            <a:r>
              <a:rPr lang="nb-NO" sz="3200" b="1" dirty="0" smtClean="0"/>
              <a:t>user</a:t>
            </a:r>
            <a:endParaRPr lang="en-US" sz="32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4191000" y="5562600"/>
            <a:ext cx="756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3200" b="1" dirty="0" smtClean="0"/>
              <a:t>SFS</a:t>
            </a:r>
            <a:endParaRPr lang="en-US" sz="32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1524000" y="2667000"/>
            <a:ext cx="14159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2400" b="1" dirty="0" smtClean="0"/>
              <a:t>Review</a:t>
            </a:r>
          </a:p>
          <a:p>
            <a:r>
              <a:rPr lang="nb-NO" sz="2400" b="1" dirty="0" smtClean="0"/>
              <a:t>metadata</a:t>
            </a:r>
            <a:endParaRPr lang="en-US" sz="2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5832391" y="2743200"/>
            <a:ext cx="15498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b-NO" sz="2400" b="1" dirty="0" smtClean="0"/>
              <a:t>Analyze</a:t>
            </a:r>
          </a:p>
          <a:p>
            <a:r>
              <a:rPr lang="nb-NO" sz="2400" b="1" dirty="0" smtClean="0"/>
              <a:t>micro-files</a:t>
            </a:r>
            <a:endParaRPr lang="en-US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3733800" y="2667000"/>
            <a:ext cx="1828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2400" b="1" dirty="0" smtClean="0"/>
              <a:t>Process</a:t>
            </a:r>
          </a:p>
          <a:p>
            <a:pPr algn="ctr"/>
            <a:r>
              <a:rPr lang="nb-NO" sz="2400" b="1" dirty="0" smtClean="0"/>
              <a:t>micro-files</a:t>
            </a:r>
            <a:endParaRPr lang="en-US" sz="24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6996143" y="4122003"/>
            <a:ext cx="20716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400" b="1" dirty="0" smtClean="0"/>
              <a:t>Confidentiality</a:t>
            </a:r>
          </a:p>
          <a:p>
            <a:pPr algn="ctr"/>
            <a:r>
              <a:rPr lang="nb-NO" sz="2400" b="1" dirty="0" smtClean="0"/>
              <a:t>screening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1130" y="1718239"/>
            <a:ext cx="205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2400" b="1" dirty="0" smtClean="0"/>
              <a:t>Displayresults</a:t>
            </a:r>
            <a:endParaRPr lang="en-US" sz="2400" b="1" dirty="0"/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1447800" y="845128"/>
            <a:ext cx="1828800" cy="602672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990600" y="5105400"/>
            <a:ext cx="2667000" cy="8382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5424054" y="5105400"/>
            <a:ext cx="2500746" cy="97674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V="1">
            <a:off x="8077200" y="2507672"/>
            <a:ext cx="6928" cy="15240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 flipV="1">
            <a:off x="5943600" y="762000"/>
            <a:ext cx="1600200" cy="685800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76200" y="1551433"/>
            <a:ext cx="2209800" cy="838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-278618" y="1524000"/>
            <a:ext cx="27623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2400" b="1" dirty="0" smtClean="0"/>
              <a:t>Submit </a:t>
            </a:r>
          </a:p>
          <a:p>
            <a:pPr algn="ctr"/>
            <a:r>
              <a:rPr lang="nb-NO" sz="2400" b="1" dirty="0" smtClean="0"/>
              <a:t>requests</a:t>
            </a:r>
          </a:p>
        </p:txBody>
      </p:sp>
      <p:cxnSp>
        <p:nvCxnSpPr>
          <p:cNvPr id="34" name="Straight Arrow Connector 33"/>
          <p:cNvCxnSpPr>
            <a:stCxn id="13" idx="0"/>
          </p:cNvCxnSpPr>
          <p:nvPr/>
        </p:nvCxnSpPr>
        <p:spPr>
          <a:xfrm flipV="1">
            <a:off x="2231983" y="1628800"/>
            <a:ext cx="1763953" cy="10382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 flipV="1">
            <a:off x="2267744" y="3717032"/>
            <a:ext cx="1656184" cy="158417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rot="-10800000" flipV="1">
            <a:off x="983672" y="2590800"/>
            <a:ext cx="6928" cy="15240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H="1">
            <a:off x="5334000" y="3657600"/>
            <a:ext cx="1800066" cy="172642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5181600" y="1600200"/>
            <a:ext cx="1752601" cy="1066801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4572000" y="1600200"/>
            <a:ext cx="0" cy="990600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4572000" y="3733800"/>
            <a:ext cx="0" cy="13716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41564" y="4191000"/>
            <a:ext cx="2209800" cy="838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327785" y="4163567"/>
            <a:ext cx="12822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b-NO" sz="2400" b="1" dirty="0" smtClean="0"/>
              <a:t>Process</a:t>
            </a:r>
          </a:p>
          <a:p>
            <a:pPr algn="ctr"/>
            <a:r>
              <a:rPr lang="nb-NO" sz="2400" b="1" dirty="0" smtClean="0"/>
              <a:t>requests</a:t>
            </a:r>
            <a:endParaRPr lang="en-US" sz="2400" b="1" dirty="0"/>
          </a:p>
        </p:txBody>
      </p:sp>
      <p:sp>
        <p:nvSpPr>
          <p:cNvPr id="33" name="Date Placeholder 3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35" name="Slide Number Placeholder 3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37" name="Footer Placeholder 3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95536" y="404664"/>
            <a:ext cx="84694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Model-based Statistics and Program Repertoires 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91680" y="1844824"/>
            <a:ext cx="6105454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sz="2400" b="1" dirty="0" smtClean="0">
                <a:solidFill>
                  <a:srgbClr val="FF0000"/>
                </a:solidFill>
              </a:rPr>
              <a:t>Traditional</a:t>
            </a:r>
            <a:r>
              <a:rPr lang="en-US" sz="2400" b="1" dirty="0" smtClean="0">
                <a:solidFill>
                  <a:srgbClr val="0070C0"/>
                </a:solidFill>
              </a:rPr>
              <a:t> statistical assumptions</a:t>
            </a:r>
          </a:p>
          <a:p>
            <a:pPr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0070C0"/>
                </a:solidFill>
              </a:rPr>
              <a:t> </a:t>
            </a:r>
            <a:r>
              <a:rPr lang="en-US" sz="2400" b="1" dirty="0" smtClean="0">
                <a:solidFill>
                  <a:srgbClr val="FF0000"/>
                </a:solidFill>
              </a:rPr>
              <a:t>Sample survey </a:t>
            </a:r>
            <a:r>
              <a:rPr lang="en-US" sz="2400" b="1" dirty="0" smtClean="0">
                <a:solidFill>
                  <a:srgbClr val="0070C0"/>
                </a:solidFill>
              </a:rPr>
              <a:t>assumptions</a:t>
            </a:r>
          </a:p>
          <a:p>
            <a:pPr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0070C0"/>
                </a:solidFill>
              </a:rPr>
              <a:t> Complete surveys regarded as </a:t>
            </a:r>
            <a:r>
              <a:rPr lang="en-US" sz="2400" b="1" dirty="0" smtClean="0">
                <a:solidFill>
                  <a:srgbClr val="FF0000"/>
                </a:solidFill>
              </a:rPr>
              <a:t>samples</a:t>
            </a:r>
          </a:p>
          <a:p>
            <a:pPr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0070C0"/>
                </a:solidFill>
              </a:rPr>
              <a:t> Statistics based </a:t>
            </a:r>
            <a:r>
              <a:rPr lang="en-US" sz="2400" b="1" dirty="0" smtClean="0">
                <a:solidFill>
                  <a:srgbClr val="FF0000"/>
                </a:solidFill>
              </a:rPr>
              <a:t>estimates</a:t>
            </a:r>
          </a:p>
          <a:p>
            <a:pPr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0070C0"/>
                </a:solidFill>
              </a:rPr>
              <a:t> Processing/analytical </a:t>
            </a:r>
            <a:r>
              <a:rPr lang="en-US" sz="2400" b="1" dirty="0" smtClean="0">
                <a:solidFill>
                  <a:srgbClr val="FF0000"/>
                </a:solidFill>
              </a:rPr>
              <a:t>program repertoires</a:t>
            </a:r>
          </a:p>
          <a:p>
            <a:pPr>
              <a:buFont typeface="Arial" pitchFamily="34" charset="0"/>
              <a:buChar char="•"/>
            </a:pPr>
            <a:endParaRPr lang="en-US" sz="2400" b="1" dirty="0" smtClean="0">
              <a:solidFill>
                <a:srgbClr val="0070C0"/>
              </a:solidFill>
            </a:endParaRPr>
          </a:p>
          <a:p>
            <a:r>
              <a:rPr lang="en-US" sz="2400" b="1" i="1" dirty="0" smtClean="0">
                <a:solidFill>
                  <a:srgbClr val="0070C0"/>
                </a:solidFill>
              </a:rPr>
              <a:t>Do users really need to inspect the microdata?</a:t>
            </a:r>
            <a:endParaRPr lang="en-US" sz="2400" b="1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3190-1BB8-4975-B157-641AD8C04E4A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195736" y="2780928"/>
            <a:ext cx="4171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Statistics for everybody</a:t>
            </a:r>
            <a:endParaRPr lang="en-US" sz="32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Svein Nordbotten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87824" y="1052736"/>
            <a:ext cx="3163115" cy="5193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Arrow Connector 5"/>
          <p:cNvCxnSpPr/>
          <p:nvPr/>
        </p:nvCxnSpPr>
        <p:spPr>
          <a:xfrm>
            <a:off x="1691680" y="2420888"/>
            <a:ext cx="3096344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7584" y="1916832"/>
            <a:ext cx="18250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FactsNorway</a:t>
            </a:r>
            <a:endParaRPr 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899592" y="260648"/>
            <a:ext cx="7417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APP for Android smart-phones and devices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87824" y="836712"/>
            <a:ext cx="3312368" cy="541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Arrow Connector 5"/>
          <p:cNvCxnSpPr/>
          <p:nvPr/>
        </p:nvCxnSpPr>
        <p:spPr>
          <a:xfrm>
            <a:off x="2123728" y="2924944"/>
            <a:ext cx="1224136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3528" y="2060848"/>
            <a:ext cx="24774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Living conditions</a:t>
            </a:r>
          </a:p>
          <a:p>
            <a:r>
              <a:rPr lang="en-US" sz="2400" b="1" dirty="0" smtClean="0"/>
              <a:t>and consumption </a:t>
            </a:r>
            <a:endParaRPr 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188760" y="116632"/>
            <a:ext cx="50475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Index to Facts about Norway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87824" y="976167"/>
            <a:ext cx="3240360" cy="5359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15816" y="1340768"/>
            <a:ext cx="3096344" cy="505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C97A7-9325-451A-A448-415A4DB65560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12/03/2012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Svein Nordbotten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3190-1BB8-4975-B157-641AD8C04E4A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84145" y="1412776"/>
            <a:ext cx="748025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b-NO" sz="3200" b="1" dirty="0" smtClean="0">
                <a:solidFill>
                  <a:srgbClr val="0070C0"/>
                </a:solidFill>
              </a:rPr>
              <a:t>    </a:t>
            </a:r>
            <a:r>
              <a:rPr lang="nb-NO" sz="4000" b="1" dirty="0" smtClean="0">
                <a:solidFill>
                  <a:srgbClr val="0070C0"/>
                </a:solidFill>
              </a:rPr>
              <a:t>Thank you for your attention!</a:t>
            </a:r>
          </a:p>
          <a:p>
            <a:endParaRPr lang="nb-NO" sz="3200" b="1" dirty="0" smtClean="0">
              <a:solidFill>
                <a:srgbClr val="0070C0"/>
              </a:solidFill>
            </a:endParaRPr>
          </a:p>
          <a:p>
            <a:r>
              <a:rPr lang="nb-NO" sz="2400" b="1" dirty="0" smtClean="0"/>
              <a:t>           If you are interested, you are welcome to more </a:t>
            </a:r>
          </a:p>
          <a:p>
            <a:r>
              <a:rPr lang="nb-NO" sz="2400" b="1" dirty="0" smtClean="0"/>
              <a:t>           information  on the topics reviewed at:</a:t>
            </a:r>
          </a:p>
          <a:p>
            <a:endParaRPr lang="nb-NO" sz="2400" b="1" dirty="0" smtClean="0"/>
          </a:p>
          <a:p>
            <a:pPr algn="ctr"/>
            <a:r>
              <a:rPr lang="nb-NO" sz="3200" b="1" dirty="0" smtClean="0">
                <a:solidFill>
                  <a:srgbClr val="0070C0"/>
                </a:solidFill>
              </a:rPr>
              <a:t>http://www.nordbotten.com/articles/</a:t>
            </a:r>
          </a:p>
          <a:p>
            <a:endParaRPr lang="nb-NO" sz="3200" b="1" dirty="0" smtClean="0">
              <a:solidFill>
                <a:srgbClr val="0070C0"/>
              </a:solidFill>
            </a:endParaRPr>
          </a:p>
          <a:p>
            <a:endParaRPr lang="en-US" sz="32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8|46.9|62.7|39.2|21.9|17.4|19.7|11.1|18|5.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1449</TotalTime>
  <Words>1193</Words>
  <Application>Microsoft Office PowerPoint</Application>
  <PresentationFormat>On-screen Show (4:3)</PresentationFormat>
  <Paragraphs>404</Paragraphs>
  <Slides>36</Slides>
  <Notes>36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Svein Nordbotten</dc:creator>
  <cp:lastModifiedBy>Svein Nordbotten</cp:lastModifiedBy>
  <cp:revision>118</cp:revision>
  <dcterms:created xsi:type="dcterms:W3CDTF">2012-11-15T13:52:09Z</dcterms:created>
  <dcterms:modified xsi:type="dcterms:W3CDTF">2012-11-29T16:32:12Z</dcterms:modified>
</cp:coreProperties>
</file>