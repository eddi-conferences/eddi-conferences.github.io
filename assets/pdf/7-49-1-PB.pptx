
<file path=[Content_Types].xml><?xml version="1.0" encoding="utf-8"?>
<Types xmlns="http://schemas.openxmlformats.org/package/2006/content-types">
  <Default Extension="tmp" ContentType="image/png"/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76" r:id="rId4"/>
    <p:sldId id="258" r:id="rId5"/>
    <p:sldId id="259" r:id="rId6"/>
    <p:sldId id="260" r:id="rId7"/>
    <p:sldId id="262" r:id="rId8"/>
    <p:sldId id="261" r:id="rId9"/>
    <p:sldId id="263" r:id="rId10"/>
    <p:sldId id="264" r:id="rId11"/>
    <p:sldId id="266" r:id="rId12"/>
    <p:sldId id="280" r:id="rId13"/>
    <p:sldId id="267" r:id="rId14"/>
    <p:sldId id="268" r:id="rId15"/>
    <p:sldId id="271" r:id="rId16"/>
    <p:sldId id="277" r:id="rId17"/>
    <p:sldId id="272" r:id="rId18"/>
    <p:sldId id="269" r:id="rId19"/>
    <p:sldId id="273" r:id="rId20"/>
    <p:sldId id="278" r:id="rId21"/>
    <p:sldId id="270" r:id="rId22"/>
    <p:sldId id="274" r:id="rId23"/>
    <p:sldId id="279" r:id="rId24"/>
    <p:sldId id="292" r:id="rId25"/>
    <p:sldId id="283" r:id="rId26"/>
    <p:sldId id="284" r:id="rId27"/>
    <p:sldId id="291" r:id="rId28"/>
    <p:sldId id="281" r:id="rId29"/>
    <p:sldId id="286" r:id="rId30"/>
    <p:sldId id="288" r:id="rId31"/>
    <p:sldId id="285" r:id="rId32"/>
    <p:sldId id="287" r:id="rId33"/>
    <p:sldId id="289" r:id="rId34"/>
    <p:sldId id="298" r:id="rId35"/>
    <p:sldId id="293" r:id="rId36"/>
    <p:sldId id="294" r:id="rId37"/>
    <p:sldId id="282" r:id="rId38"/>
    <p:sldId id="295" r:id="rId39"/>
    <p:sldId id="296" r:id="rId40"/>
    <p:sldId id="297" r:id="rId4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-906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44C78F-EA18-400E-8F3A-EF0D5D84F2F0}" type="datetimeFigureOut">
              <a:rPr lang="en-US" smtClean="0"/>
              <a:t>12/3/2012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AA8FA6-9CF1-4802-8622-3993362D06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1814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Revised 11/18/2012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EDDI2012, Hoyle, REDCap and DDI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08B5C-4DD5-4FA6-96EC-0426F4FA5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872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Revised 11/18/2012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EDDI2012, Hoyle, REDCap and DDI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08B5C-4DD5-4FA6-96EC-0426F4FA5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616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Revised 11/18/2012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EDDI2012, Hoyle, REDCap and DDI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08B5C-4DD5-4FA6-96EC-0426F4FA5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57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Revised 11/18/2012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EDDI2012, Hoyle, REDCap and DDI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08B5C-4DD5-4FA6-96EC-0426F4FA5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372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Revised 11/18/2012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EDDI2012, Hoyle, REDCap and DDI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08B5C-4DD5-4FA6-96EC-0426F4FA5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508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Revised 11/18/2012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EDDI2012, Hoyle, REDCap and DDI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08B5C-4DD5-4FA6-96EC-0426F4FA5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25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Revised 11/18/2012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EDDI2012, Hoyle, REDCap and DDI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08B5C-4DD5-4FA6-96EC-0426F4FA5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830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Revised 11/18/2012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EDDI2012, Hoyle, REDCap and DDI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08B5C-4DD5-4FA6-96EC-0426F4FA5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62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Revised 11/18/2012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EDDI2012, Hoyle, REDCap and DDI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08B5C-4DD5-4FA6-96EC-0426F4FA5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275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Revised 11/18/2012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EDDI2012, Hoyle, REDCap and DDI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08B5C-4DD5-4FA6-96EC-0426F4FA5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051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Revised 11/18/2012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EDDI2012, Hoyle, REDCap and DDI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08B5C-4DD5-4FA6-96EC-0426F4FA5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349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66800"/>
            <a:ext cx="8229600" cy="5059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0" y="6553200"/>
            <a:ext cx="1143000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Revised 11/18/2012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00400" y="6629400"/>
            <a:ext cx="2895600" cy="219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 smtClean="0"/>
              <a:t>EDDI2012, Hoyle, REDCap and DDI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4399" y="6629400"/>
            <a:ext cx="638175" cy="219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208B5C-4DD5-4FA6-96EC-0426F4FA5F3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244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mp"/><Relationship Id="rId2" Type="http://schemas.openxmlformats.org/officeDocument/2006/relationships/hyperlink" Target="http://project-redcap.org/" TargetMode="Externa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mp"/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tmp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tmp"/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tmp"/><Relationship Id="rId2" Type="http://schemas.openxmlformats.org/officeDocument/2006/relationships/image" Target="../media/image15.tmp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mp"/><Relationship Id="rId2" Type="http://schemas.openxmlformats.org/officeDocument/2006/relationships/image" Target="../media/image16.tmp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tmp"/><Relationship Id="rId2" Type="http://schemas.openxmlformats.org/officeDocument/2006/relationships/image" Target="../media/image18.tmp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tmp"/><Relationship Id="rId2" Type="http://schemas.openxmlformats.org/officeDocument/2006/relationships/image" Target="../media/image20.tmp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tmp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tmp"/><Relationship Id="rId2" Type="http://schemas.openxmlformats.org/officeDocument/2006/relationships/image" Target="../media/image21.tmp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tmp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tmp"/><Relationship Id="rId2" Type="http://schemas.openxmlformats.org/officeDocument/2006/relationships/image" Target="../media/image24.tmp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tmp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tmp"/><Relationship Id="rId2" Type="http://schemas.openxmlformats.org/officeDocument/2006/relationships/image" Target="../media/image27.tmp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tmp"/><Relationship Id="rId2" Type="http://schemas.openxmlformats.org/officeDocument/2006/relationships/image" Target="../media/image26.tmp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tmp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tmp"/><Relationship Id="rId2" Type="http://schemas.openxmlformats.org/officeDocument/2006/relationships/image" Target="../media/image29.tmp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psr.ku.edu/" TargetMode="External"/><Relationship Id="rId2" Type="http://schemas.openxmlformats.org/officeDocument/2006/relationships/hyperlink" Target="mailto:LarryHoyle@ku.edu" TargetMode="Externa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hyperlink" Target="http://cran.r-project.org/web/packages/XML/XML.pdf" TargetMode="Externa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REDCap and DDI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886200"/>
            <a:ext cx="7696200" cy="1752600"/>
          </a:xfrm>
        </p:spPr>
        <p:txBody>
          <a:bodyPr/>
          <a:lstStyle/>
          <a:p>
            <a:r>
              <a:rPr lang="en-US" dirty="0" smtClean="0"/>
              <a:t>Larry Hoyle</a:t>
            </a:r>
          </a:p>
          <a:p>
            <a:r>
              <a:rPr lang="en-US" dirty="0" smtClean="0"/>
              <a:t>Institute for Policy &amp; Social Research</a:t>
            </a:r>
          </a:p>
          <a:p>
            <a:r>
              <a:rPr lang="en-US" dirty="0" smtClean="0"/>
              <a:t>University of Kansas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Revised 11/18/2012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EDDI2012, Hoyle, REDCap and DDI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08B5C-4DD5-4FA6-96EC-0426F4FA5F3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480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2192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REDCap Consortium</a:t>
            </a:r>
            <a:br>
              <a:rPr lang="en-US" dirty="0" smtClean="0"/>
            </a:br>
            <a:r>
              <a:rPr lang="en-US" dirty="0" smtClean="0">
                <a:hlinkClick r:id="rId2"/>
              </a:rPr>
              <a:t>http://project-redcap.org/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Revised 11/18/2012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EDDI2012, Hoyle, REDCap and DDI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08B5C-4DD5-4FA6-96EC-0426F4FA5F3A}" type="slidenum">
              <a:rPr lang="en-US" smtClean="0"/>
              <a:t>2</a:t>
            </a:fld>
            <a:endParaRPr lang="en-US"/>
          </a:p>
        </p:txBody>
      </p:sp>
      <p:pic>
        <p:nvPicPr>
          <p:cNvPr id="7" name="Picture 6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1371600"/>
            <a:ext cx="6169614" cy="5191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675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REDCap Citation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Revised 11/18/2012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EDDI2012, Hoyle, REDCap and DDI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08B5C-4DD5-4FA6-96EC-0426F4FA5F3A}" type="slidenum">
              <a:rPr lang="en-US" smtClean="0"/>
              <a:t>3</a:t>
            </a:fld>
            <a:endParaRPr lang="en-US"/>
          </a:p>
        </p:txBody>
      </p:sp>
      <p:pic>
        <p:nvPicPr>
          <p:cNvPr id="7" name="Picture 6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9359"/>
            <a:ext cx="9144000" cy="439426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62313" y="5245656"/>
            <a:ext cx="1245021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Application</a:t>
            </a:r>
            <a:endParaRPr lang="en-US" dirty="0"/>
          </a:p>
        </p:txBody>
      </p:sp>
      <p:sp>
        <p:nvSpPr>
          <p:cNvPr id="8" name="Rounded Rectangle 7"/>
          <p:cNvSpPr/>
          <p:nvPr/>
        </p:nvSpPr>
        <p:spPr>
          <a:xfrm>
            <a:off x="1394460" y="3680460"/>
            <a:ext cx="1211580" cy="167640"/>
          </a:xfrm>
          <a:prstGeom prst="roundRect">
            <a:avLst/>
          </a:prstGeom>
          <a:solidFill>
            <a:srgbClr val="FFFF00">
              <a:alpha val="32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462313" y="5618560"/>
            <a:ext cx="1021946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Interface</a:t>
            </a:r>
            <a:endParaRPr 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6141720" y="3680460"/>
            <a:ext cx="1127760" cy="167640"/>
          </a:xfrm>
          <a:prstGeom prst="roundRect">
            <a:avLst/>
          </a:prstGeom>
          <a:solidFill>
            <a:srgbClr val="FFFF00">
              <a:alpha val="32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462313" y="5987892"/>
            <a:ext cx="1223605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Audit Trails</a:t>
            </a:r>
            <a:endParaRPr lang="en-US" dirty="0"/>
          </a:p>
        </p:txBody>
      </p:sp>
      <p:sp>
        <p:nvSpPr>
          <p:cNvPr id="12" name="Rounded Rectangle 11"/>
          <p:cNvSpPr/>
          <p:nvPr/>
        </p:nvSpPr>
        <p:spPr>
          <a:xfrm>
            <a:off x="8427720" y="3688080"/>
            <a:ext cx="647700" cy="160020"/>
          </a:xfrm>
          <a:prstGeom prst="roundRect">
            <a:avLst/>
          </a:prstGeom>
          <a:solidFill>
            <a:srgbClr val="FFFF00">
              <a:alpha val="32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462313" y="6357224"/>
            <a:ext cx="1895071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Export and import</a:t>
            </a:r>
            <a:endParaRPr lang="en-US" dirty="0"/>
          </a:p>
        </p:txBody>
      </p:sp>
      <p:sp>
        <p:nvSpPr>
          <p:cNvPr id="14" name="Rounded Rectangle 13"/>
          <p:cNvSpPr/>
          <p:nvPr/>
        </p:nvSpPr>
        <p:spPr>
          <a:xfrm>
            <a:off x="4099428" y="3866674"/>
            <a:ext cx="998352" cy="160020"/>
          </a:xfrm>
          <a:prstGeom prst="roundRect">
            <a:avLst/>
          </a:prstGeom>
          <a:solidFill>
            <a:srgbClr val="FFFF00">
              <a:alpha val="32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/>
          <p:cNvSpPr/>
          <p:nvPr/>
        </p:nvSpPr>
        <p:spPr>
          <a:xfrm>
            <a:off x="1015788" y="4026694"/>
            <a:ext cx="820631" cy="248126"/>
          </a:xfrm>
          <a:prstGeom prst="roundRect">
            <a:avLst/>
          </a:prstGeom>
          <a:solidFill>
            <a:srgbClr val="FFFF00">
              <a:alpha val="32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163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REDCap as an Environment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70114" y="1001486"/>
            <a:ext cx="8490857" cy="5364163"/>
          </a:xfrm>
        </p:spPr>
        <p:txBody>
          <a:bodyPr>
            <a:normAutofit/>
          </a:bodyPr>
          <a:lstStyle/>
          <a:p>
            <a:r>
              <a:rPr lang="en-US" dirty="0" smtClean="0"/>
              <a:t>Secure</a:t>
            </a:r>
          </a:p>
          <a:p>
            <a:r>
              <a:rPr lang="en-US" dirty="0" smtClean="0"/>
              <a:t>Web based</a:t>
            </a:r>
          </a:p>
          <a:p>
            <a:r>
              <a:rPr lang="en-US" dirty="0" smtClean="0"/>
              <a:t>Build and manage online surveys and databases</a:t>
            </a:r>
          </a:p>
          <a:p>
            <a:pPr lvl="1"/>
            <a:r>
              <a:rPr lang="en-US" dirty="0" smtClean="0"/>
              <a:t>Online Designer</a:t>
            </a:r>
          </a:p>
          <a:p>
            <a:pPr lvl="1"/>
            <a:r>
              <a:rPr lang="en-US" dirty="0" smtClean="0"/>
              <a:t>Excel template file</a:t>
            </a:r>
          </a:p>
          <a:p>
            <a:r>
              <a:rPr lang="en-US" dirty="0" smtClean="0"/>
              <a:t>Exports to SPSS, SAS, </a:t>
            </a:r>
            <a:r>
              <a:rPr lang="en-US" dirty="0" err="1" smtClean="0"/>
              <a:t>Stata</a:t>
            </a:r>
            <a:r>
              <a:rPr lang="en-US" dirty="0" smtClean="0"/>
              <a:t>, and R</a:t>
            </a:r>
          </a:p>
          <a:p>
            <a:r>
              <a:rPr lang="en-US" dirty="0" smtClean="0"/>
              <a:t>Project management features</a:t>
            </a:r>
          </a:p>
          <a:p>
            <a:pPr lvl="1"/>
            <a:r>
              <a:rPr lang="en-US" dirty="0" smtClean="0"/>
              <a:t>Calendar, scheduling, reporting, triggers, longitudinal studies, rights and permissions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Revised 11/18/2012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EDDI2012, Hoyle, REDCap and DDI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08B5C-4DD5-4FA6-96EC-0426F4FA5F3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938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Start Screen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Revised 11/18/2012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EDDI2012, Hoyle, REDCap and DDI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08B5C-4DD5-4FA6-96EC-0426F4FA5F3A}" type="slidenum">
              <a:rPr lang="en-US" smtClean="0"/>
              <a:t>5</a:t>
            </a:fld>
            <a:endParaRPr lang="en-US"/>
          </a:p>
        </p:txBody>
      </p:sp>
      <p:pic>
        <p:nvPicPr>
          <p:cNvPr id="8" name="Picture 7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245" y="838200"/>
            <a:ext cx="7924800" cy="5550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479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Online Designer – Project Setup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Revised 11/18/2012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EDDI2012, Hoyle, REDCap and DDI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08B5C-4DD5-4FA6-96EC-0426F4FA5F3A}" type="slidenum">
              <a:rPr lang="en-US" smtClean="0"/>
              <a:t>6</a:t>
            </a:fld>
            <a:endParaRPr lang="en-US"/>
          </a:p>
        </p:txBody>
      </p:sp>
      <p:pic>
        <p:nvPicPr>
          <p:cNvPr id="7" name="Picture 6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762000"/>
            <a:ext cx="6410837" cy="5844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166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 Setup (continued)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Revised 11/18/2012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EDDI2012, Hoyle, REDCap and DDI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08B5C-4DD5-4FA6-96EC-0426F4FA5F3A}" type="slidenum">
              <a:rPr lang="en-US" smtClean="0"/>
              <a:t>7</a:t>
            </a:fld>
            <a:endParaRPr lang="en-US"/>
          </a:p>
        </p:txBody>
      </p:sp>
      <p:pic>
        <p:nvPicPr>
          <p:cNvPr id="3" name="Picture 2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442" y="990600"/>
            <a:ext cx="7097116" cy="5153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24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Online Designer – Question Sequence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Revised 11/18/2012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EDDI2012, Hoyle, REDCap and DDI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08B5C-4DD5-4FA6-96EC-0426F4FA5F3A}" type="slidenum">
              <a:rPr lang="en-US" smtClean="0"/>
              <a:t>8</a:t>
            </a:fld>
            <a:endParaRPr lang="en-US"/>
          </a:p>
        </p:txBody>
      </p:sp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762000"/>
            <a:ext cx="6577516" cy="5647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781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Individual Question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Revised 11/18/2012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EDDI2012, Hoyle, REDCap and DDI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08B5C-4DD5-4FA6-96EC-0426F4FA5F3A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284" y="762000"/>
            <a:ext cx="7211432" cy="5772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983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Field Types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Revised 11/18/2012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EDDI2012, Hoyle, REDCap and DDI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08B5C-4DD5-4FA6-96EC-0426F4FA5F3A}" type="slidenum">
              <a:rPr lang="en-US" smtClean="0"/>
              <a:t>10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56" t="35506" r="46353" b="37977"/>
          <a:stretch/>
        </p:blipFill>
        <p:spPr bwMode="auto">
          <a:xfrm>
            <a:off x="762000" y="800100"/>
            <a:ext cx="7315200" cy="5107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32295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Branching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Revised 11/18/2012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EDDI2012, Hoyle, REDCap and DDI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08B5C-4DD5-4FA6-96EC-0426F4FA5F3A}" type="slidenum">
              <a:rPr lang="en-US" smtClean="0"/>
              <a:t>11</a:t>
            </a:fld>
            <a:endParaRPr lang="en-US"/>
          </a:p>
        </p:txBody>
      </p:sp>
      <p:pic>
        <p:nvPicPr>
          <p:cNvPr id="6" name="Picture 5" descr="Screen Clippi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763"/>
          <a:stretch/>
        </p:blipFill>
        <p:spPr>
          <a:xfrm>
            <a:off x="304800" y="914400"/>
            <a:ext cx="7811123" cy="1524000"/>
          </a:xfrm>
          <a:prstGeom prst="rect">
            <a:avLst/>
          </a:prstGeom>
        </p:spPr>
      </p:pic>
      <p:pic>
        <p:nvPicPr>
          <p:cNvPr id="7" name="Picture 6" descr="Screen Clippi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66747"/>
          <a:stretch/>
        </p:blipFill>
        <p:spPr>
          <a:xfrm>
            <a:off x="609600" y="2438400"/>
            <a:ext cx="6849431" cy="1419225"/>
          </a:xfrm>
          <a:prstGeom prst="rect">
            <a:avLst/>
          </a:prstGeom>
        </p:spPr>
      </p:pic>
      <p:pic>
        <p:nvPicPr>
          <p:cNvPr id="8" name="Picture 7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3962400"/>
            <a:ext cx="6935168" cy="2591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355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redCap</a:t>
            </a:r>
            <a:r>
              <a:rPr lang="en-US" dirty="0" smtClean="0"/>
              <a:t> to DDI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 REDCap survey description can be exported to a </a:t>
            </a:r>
            <a:r>
              <a:rPr lang="en-US" dirty="0" err="1" smtClean="0"/>
              <a:t>csv</a:t>
            </a:r>
            <a:r>
              <a:rPr lang="en-US" dirty="0" smtClean="0"/>
              <a:t> file. An R program reads the </a:t>
            </a:r>
            <a:r>
              <a:rPr lang="en-US" dirty="0" err="1" smtClean="0"/>
              <a:t>csv</a:t>
            </a:r>
            <a:r>
              <a:rPr lang="en-US" dirty="0" smtClean="0"/>
              <a:t> and writes a DDI 3.1 file.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Revised 11/18/2012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EDDI2012, Hoyle, REDCap and DDI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08B5C-4DD5-4FA6-96EC-0426F4FA5F3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939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One Row, CSV File (Excel Template)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Revised 11/18/2012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EDDI2012, Hoyle, REDCap and DDI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08B5C-4DD5-4FA6-96EC-0426F4FA5F3A}" type="slidenum">
              <a:rPr lang="en-US" smtClean="0"/>
              <a:t>13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smtClean="0"/>
              <a:t>Variable / Field Name</a:t>
            </a:r>
          </a:p>
          <a:p>
            <a:r>
              <a:rPr lang="en-US" dirty="0" smtClean="0"/>
              <a:t>Form Name</a:t>
            </a:r>
          </a:p>
          <a:p>
            <a:r>
              <a:rPr lang="en-US" dirty="0" smtClean="0"/>
              <a:t>Section Header</a:t>
            </a:r>
          </a:p>
          <a:p>
            <a:r>
              <a:rPr lang="en-US" dirty="0" smtClean="0"/>
              <a:t>Field Type</a:t>
            </a:r>
          </a:p>
          <a:p>
            <a:r>
              <a:rPr lang="en-US" dirty="0" smtClean="0"/>
              <a:t>Field Label</a:t>
            </a:r>
          </a:p>
          <a:p>
            <a:r>
              <a:rPr lang="en-US" dirty="0" smtClean="0"/>
              <a:t>Choices, Calculations, OR Slider Labels</a:t>
            </a:r>
          </a:p>
          <a:p>
            <a:r>
              <a:rPr lang="en-US" dirty="0" smtClean="0"/>
              <a:t>Field Note</a:t>
            </a:r>
          </a:p>
          <a:p>
            <a:r>
              <a:rPr lang="en-US" dirty="0" smtClean="0"/>
              <a:t>Text Validation Type OR Show Slider Number</a:t>
            </a:r>
          </a:p>
          <a:p>
            <a:r>
              <a:rPr lang="en-US" dirty="0" smtClean="0"/>
              <a:t>Text Validation Min</a:t>
            </a:r>
          </a:p>
          <a:p>
            <a:r>
              <a:rPr lang="en-US" dirty="0" smtClean="0"/>
              <a:t>Text Validation Max</a:t>
            </a:r>
          </a:p>
          <a:p>
            <a:r>
              <a:rPr lang="en-US" dirty="0" smtClean="0"/>
              <a:t>Identifier?</a:t>
            </a:r>
          </a:p>
          <a:p>
            <a:r>
              <a:rPr lang="en-US" dirty="0" smtClean="0"/>
              <a:t>Branching Logic (Show field only if...)</a:t>
            </a:r>
          </a:p>
          <a:p>
            <a:r>
              <a:rPr lang="en-US" dirty="0" smtClean="0"/>
              <a:t>Required Field?</a:t>
            </a:r>
          </a:p>
          <a:p>
            <a:r>
              <a:rPr lang="en-US" dirty="0" smtClean="0"/>
              <a:t>Custom Alignment</a:t>
            </a:r>
          </a:p>
          <a:p>
            <a:r>
              <a:rPr lang="en-US" dirty="0" smtClean="0"/>
              <a:t>Question Number (surveys only)</a:t>
            </a:r>
          </a:p>
          <a:p>
            <a:r>
              <a:rPr lang="en-US" dirty="0" smtClean="0"/>
              <a:t>Matrix Group Name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643717" y="1337187"/>
            <a:ext cx="3352800" cy="34163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chemeClr val="accent6">
                    <a:lumMod val="75000"/>
                  </a:schemeClr>
                </a:solidFill>
              </a:rPr>
              <a:t>TASK</a:t>
            </a:r>
          </a:p>
          <a:p>
            <a:endParaRPr lang="en-US" sz="2400" dirty="0" smtClean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sz="2400" dirty="0" smtClean="0">
                <a:solidFill>
                  <a:schemeClr val="accent6">
                    <a:lumMod val="75000"/>
                  </a:schemeClr>
                </a:solidFill>
              </a:rPr>
              <a:t>From: </a:t>
            </a:r>
          </a:p>
          <a:p>
            <a:r>
              <a:rPr lang="en-US" sz="2400" dirty="0" smtClean="0">
                <a:solidFill>
                  <a:schemeClr val="accent6">
                    <a:lumMod val="75000"/>
                  </a:schemeClr>
                </a:solidFill>
              </a:rPr>
              <a:t> One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row per question </a:t>
            </a:r>
          </a:p>
          <a:p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(with Header and Note)</a:t>
            </a:r>
          </a:p>
          <a:p>
            <a:endParaRPr lang="en-US" sz="2400" dirty="0" smtClean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sz="2400" dirty="0" smtClean="0">
                <a:solidFill>
                  <a:schemeClr val="accent6">
                    <a:lumMod val="75000"/>
                  </a:schemeClr>
                </a:solidFill>
              </a:rPr>
              <a:t>To:</a:t>
            </a:r>
          </a:p>
          <a:p>
            <a:r>
              <a:rPr lang="en-US" sz="2400" dirty="0" smtClean="0">
                <a:solidFill>
                  <a:schemeClr val="accent6">
                    <a:lumMod val="75000"/>
                  </a:schemeClr>
                </a:solidFill>
              </a:rPr>
              <a:t>Hierarchical DDI structure</a:t>
            </a:r>
            <a:endParaRPr lang="en-US" sz="24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2454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95" y="711819"/>
            <a:ext cx="6839905" cy="56491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Example: text field containing a number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Revised 11/18/2012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EDDI2012, Hoyle, REDCap and DDI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08B5C-4DD5-4FA6-96EC-0426F4FA5F3A}" type="slidenum">
              <a:rPr lang="en-US" smtClean="0"/>
              <a:t>14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7123470" y="1689109"/>
            <a:ext cx="1905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Field Type: </a:t>
            </a:r>
            <a:r>
              <a:rPr lang="en-US" sz="2000" b="1" dirty="0" smtClean="0"/>
              <a:t>text</a:t>
            </a:r>
            <a:endParaRPr lang="en-US" sz="2000" b="1" dirty="0"/>
          </a:p>
        </p:txBody>
      </p:sp>
      <p:cxnSp>
        <p:nvCxnSpPr>
          <p:cNvPr id="11" name="Straight Arrow Connector 10"/>
          <p:cNvCxnSpPr>
            <a:stCxn id="9" idx="1"/>
          </p:cNvCxnSpPr>
          <p:nvPr/>
        </p:nvCxnSpPr>
        <p:spPr>
          <a:xfrm flipH="1">
            <a:off x="4188542" y="1889164"/>
            <a:ext cx="2934928" cy="470578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123470" y="2936211"/>
            <a:ext cx="190500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Text Validation Type OR Show Slider Number: </a:t>
            </a:r>
            <a:r>
              <a:rPr lang="en-US" sz="2000" b="1" dirty="0" smtClean="0"/>
              <a:t>number</a:t>
            </a:r>
            <a:endParaRPr lang="en-US" sz="2000" b="1" dirty="0"/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3765755" y="3382298"/>
            <a:ext cx="3357715" cy="1258528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551174" y="4857135"/>
            <a:ext cx="1386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Extrema</a:t>
            </a:r>
            <a:endParaRPr lang="en-US" dirty="0"/>
          </a:p>
        </p:txBody>
      </p:sp>
      <p:cxnSp>
        <p:nvCxnSpPr>
          <p:cNvPr id="22" name="Straight Arrow Connector 21"/>
          <p:cNvCxnSpPr>
            <a:stCxn id="21" idx="1"/>
          </p:cNvCxnSpPr>
          <p:nvPr/>
        </p:nvCxnSpPr>
        <p:spPr>
          <a:xfrm flipH="1">
            <a:off x="7049730" y="5041801"/>
            <a:ext cx="501444" cy="1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9961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Example: text field containing a number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Revised 11/18/2012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EDDI2012, Hoyle, REDCap and DDI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08B5C-4DD5-4FA6-96EC-0426F4FA5F3A}" type="slidenum">
              <a:rPr lang="en-US" smtClean="0"/>
              <a:t>15</a:t>
            </a:fld>
            <a:endParaRPr lang="en-US"/>
          </a:p>
        </p:txBody>
      </p:sp>
      <p:pic>
        <p:nvPicPr>
          <p:cNvPr id="3" name="Picture 2" descr="Screen Clippi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54" b="7131"/>
          <a:stretch/>
        </p:blipFill>
        <p:spPr>
          <a:xfrm>
            <a:off x="990100" y="1920214"/>
            <a:ext cx="7163800" cy="4728235"/>
          </a:xfrm>
          <a:prstGeom prst="rect">
            <a:avLst/>
          </a:prstGeom>
        </p:spPr>
      </p:pic>
      <p:pic>
        <p:nvPicPr>
          <p:cNvPr id="7" name="Picture 6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5800"/>
            <a:ext cx="9144000" cy="1417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366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DDI – Question w/ Numeric Domain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Revised 11/18/2012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EDDI2012, Hoyle, REDCap and DDI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08B5C-4DD5-4FA6-96EC-0426F4FA5F3A}" type="slidenum">
              <a:rPr lang="en-US" smtClean="0"/>
              <a:t>16</a:t>
            </a:fld>
            <a:endParaRPr lang="en-US"/>
          </a:p>
        </p:txBody>
      </p:sp>
      <p:pic>
        <p:nvPicPr>
          <p:cNvPr id="7" name="Picture 6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5" y="2819400"/>
            <a:ext cx="8867468" cy="2819400"/>
          </a:xfrm>
          <a:prstGeom prst="rect">
            <a:avLst/>
          </a:prstGeom>
        </p:spPr>
      </p:pic>
      <p:pic>
        <p:nvPicPr>
          <p:cNvPr id="8" name="Picture 7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5800"/>
            <a:ext cx="9144000" cy="1417674"/>
          </a:xfrm>
          <a:prstGeom prst="rect">
            <a:avLst/>
          </a:prstGeom>
        </p:spPr>
      </p:pic>
      <p:cxnSp>
        <p:nvCxnSpPr>
          <p:cNvPr id="9" name="Straight Arrow Connector 8"/>
          <p:cNvCxnSpPr/>
          <p:nvPr/>
        </p:nvCxnSpPr>
        <p:spPr>
          <a:xfrm flipH="1">
            <a:off x="2192594" y="2103474"/>
            <a:ext cx="2989006" cy="1711442"/>
          </a:xfrm>
          <a:prstGeom prst="straightConnector1">
            <a:avLst/>
          </a:prstGeom>
          <a:ln w="38100">
            <a:solidFill>
              <a:schemeClr val="accent6">
                <a:lumMod val="75000"/>
                <a:alpha val="44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2517058" y="2103474"/>
            <a:ext cx="5555226" cy="2232552"/>
          </a:xfrm>
          <a:prstGeom prst="straightConnector1">
            <a:avLst/>
          </a:prstGeom>
          <a:ln w="38100">
            <a:solidFill>
              <a:schemeClr val="accent6">
                <a:lumMod val="75000"/>
                <a:alpha val="44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>
            <a:off x="2910348" y="2182761"/>
            <a:ext cx="6056671" cy="2399071"/>
          </a:xfrm>
          <a:prstGeom prst="straightConnector1">
            <a:avLst/>
          </a:prstGeom>
          <a:ln w="38100">
            <a:solidFill>
              <a:schemeClr val="accent6">
                <a:lumMod val="75000"/>
                <a:alpha val="44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0977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Section Header – in same row as data field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Revised 11/18/2012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EDDI2012, Hoyle, REDCap and DDI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08B5C-4DD5-4FA6-96EC-0426F4FA5F3A}" type="slidenum">
              <a:rPr lang="en-US" smtClean="0"/>
              <a:t>17</a:t>
            </a:fld>
            <a:endParaRPr lang="en-US"/>
          </a:p>
        </p:txBody>
      </p:sp>
      <p:pic>
        <p:nvPicPr>
          <p:cNvPr id="6" name="Picture 5" descr="Screen Clippi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38" r="52083"/>
          <a:stretch/>
        </p:blipFill>
        <p:spPr>
          <a:xfrm>
            <a:off x="-28575" y="914400"/>
            <a:ext cx="7791820" cy="2286000"/>
          </a:xfrm>
          <a:prstGeom prst="rect">
            <a:avLst/>
          </a:prstGeom>
        </p:spPr>
      </p:pic>
      <p:pic>
        <p:nvPicPr>
          <p:cNvPr id="8" name="Picture 7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439" y="3886200"/>
            <a:ext cx="8855765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640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Example: </a:t>
            </a:r>
            <a:r>
              <a:rPr lang="en-US" dirty="0"/>
              <a:t>c</a:t>
            </a:r>
            <a:r>
              <a:rPr lang="en-US" dirty="0" smtClean="0"/>
              <a:t>oded variable w/ radio buttons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Revised 11/18/2012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EDDI2012, Hoyle, REDCap and DDI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08B5C-4DD5-4FA6-96EC-0426F4FA5F3A}" type="slidenum">
              <a:rPr lang="en-US" smtClean="0"/>
              <a:t>18</a:t>
            </a:fld>
            <a:endParaRPr lang="en-US"/>
          </a:p>
        </p:txBody>
      </p:sp>
      <p:pic>
        <p:nvPicPr>
          <p:cNvPr id="9" name="Picture 8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27" y="1752600"/>
            <a:ext cx="7125695" cy="4944165"/>
          </a:xfrm>
          <a:prstGeom prst="rect">
            <a:avLst/>
          </a:prstGeom>
        </p:spPr>
      </p:pic>
      <p:pic>
        <p:nvPicPr>
          <p:cNvPr id="8" name="Picture 7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666750"/>
            <a:ext cx="8695174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062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REDCap Code and Category Strings Repeat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Revised 11/18/2012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EDDI2012, Hoyle, REDCap and DDI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08B5C-4DD5-4FA6-96EC-0426F4FA5F3A}" type="slidenum">
              <a:rPr lang="en-US" smtClean="0"/>
              <a:t>19</a:t>
            </a:fld>
            <a:endParaRPr lang="en-US"/>
          </a:p>
        </p:txBody>
      </p:sp>
      <p:pic>
        <p:nvPicPr>
          <p:cNvPr id="7" name="Picture 6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598274"/>
            <a:ext cx="7725944" cy="1916325"/>
          </a:xfrm>
          <a:prstGeom prst="rect">
            <a:avLst/>
          </a:prstGeom>
        </p:spPr>
      </p:pic>
      <p:pic>
        <p:nvPicPr>
          <p:cNvPr id="9" name="Picture 8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2590801"/>
            <a:ext cx="6096000" cy="239375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1" name="Picture 10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8246" y="3417425"/>
            <a:ext cx="4597949" cy="313426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cxnSp>
        <p:nvCxnSpPr>
          <p:cNvPr id="13" name="Straight Arrow Connector 12"/>
          <p:cNvCxnSpPr/>
          <p:nvPr/>
        </p:nvCxnSpPr>
        <p:spPr>
          <a:xfrm flipH="1" flipV="1">
            <a:off x="2819400" y="3124200"/>
            <a:ext cx="2057400" cy="2514600"/>
          </a:xfrm>
          <a:prstGeom prst="straightConnector1">
            <a:avLst/>
          </a:prstGeom>
          <a:ln w="63500">
            <a:solidFill>
              <a:srgbClr val="FFC000">
                <a:alpha val="48000"/>
              </a:srgb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04800" y="5257800"/>
            <a:ext cx="3733800" cy="138499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In DDI, only one Code and Category Scheme to be used by reference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529499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52176"/>
            <a:ext cx="3657600" cy="762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Lots of References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Revised 11/18/2012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EDDI2012, Hoyle, REDCap and DDI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08B5C-4DD5-4FA6-96EC-0426F4FA5F3A}" type="slidenum">
              <a:rPr lang="en-US" smtClean="0"/>
              <a:t>20</a:t>
            </a:fld>
            <a:endParaRPr lang="en-US"/>
          </a:p>
        </p:txBody>
      </p:sp>
      <p:pic>
        <p:nvPicPr>
          <p:cNvPr id="9" name="Picture 8" descr="Screen Clippi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465"/>
          <a:stretch/>
        </p:blipFill>
        <p:spPr>
          <a:xfrm>
            <a:off x="76200" y="2590801"/>
            <a:ext cx="5519057" cy="239375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1" name="Picture 10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8246" y="3561857"/>
            <a:ext cx="4597949" cy="313426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cxnSp>
        <p:nvCxnSpPr>
          <p:cNvPr id="13" name="Straight Arrow Connector 12"/>
          <p:cNvCxnSpPr/>
          <p:nvPr/>
        </p:nvCxnSpPr>
        <p:spPr>
          <a:xfrm flipH="1" flipV="1">
            <a:off x="1600200" y="3124200"/>
            <a:ext cx="3673824" cy="2514600"/>
          </a:xfrm>
          <a:prstGeom prst="straightConnector1">
            <a:avLst/>
          </a:prstGeom>
          <a:ln w="63500">
            <a:solidFill>
              <a:srgbClr val="FFC000">
                <a:alpha val="48000"/>
              </a:srgb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04800" y="5257800"/>
            <a:ext cx="3733800" cy="138499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Note: the program generates random style UUIDs</a:t>
            </a:r>
            <a:endParaRPr lang="en-US" sz="2800" dirty="0"/>
          </a:p>
        </p:txBody>
      </p:sp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8795" y="514201"/>
            <a:ext cx="5867400" cy="251133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5787704" y="10886"/>
            <a:ext cx="3355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Question references CodeScheme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493320" y="3124200"/>
            <a:ext cx="36506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CodeScheme references CategoryScheme</a:t>
            </a:r>
            <a:endParaRPr lang="en-US" sz="1600" dirty="0"/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4548541" y="2073039"/>
            <a:ext cx="1623659" cy="1488818"/>
          </a:xfrm>
          <a:prstGeom prst="straightConnector1">
            <a:avLst/>
          </a:prstGeom>
          <a:ln w="63500">
            <a:solidFill>
              <a:srgbClr val="FFC000">
                <a:alpha val="48000"/>
              </a:srgb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13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4" grpId="0"/>
      <p:bldP spid="1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DateTime fields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Revised 11/18/2012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EDDI2012, Hoyle, REDCap and DDI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08B5C-4DD5-4FA6-96EC-0426F4FA5F3A}" type="slidenum">
              <a:rPr lang="en-US" smtClean="0"/>
              <a:t>21</a:t>
            </a:fld>
            <a:endParaRPr lang="en-US"/>
          </a:p>
        </p:txBody>
      </p:sp>
      <p:pic>
        <p:nvPicPr>
          <p:cNvPr id="7" name="Picture 6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914400"/>
            <a:ext cx="7935433" cy="1533739"/>
          </a:xfrm>
          <a:prstGeom prst="rect">
            <a:avLst/>
          </a:prstGeom>
        </p:spPr>
      </p:pic>
      <p:pic>
        <p:nvPicPr>
          <p:cNvPr id="8" name="Picture 7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3473245"/>
            <a:ext cx="8738351" cy="250476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3" name="TextBox 2"/>
          <p:cNvSpPr txBox="1"/>
          <p:nvPr/>
        </p:nvSpPr>
        <p:spPr>
          <a:xfrm>
            <a:off x="597709" y="2599107"/>
            <a:ext cx="74549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Text Validation Type OR Show Slider </a:t>
            </a:r>
            <a:r>
              <a:rPr lang="en-US" sz="2400" dirty="0" smtClean="0"/>
              <a:t>Number:    </a:t>
            </a:r>
            <a:r>
              <a:rPr lang="en-US" sz="2400" b="1" dirty="0" smtClean="0"/>
              <a:t>date_ymd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037695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Sliders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57400"/>
            <a:ext cx="8229600" cy="4068763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Return a value between 0 and 100</a:t>
            </a:r>
          </a:p>
          <a:p>
            <a:r>
              <a:rPr lang="en-US" dirty="0" smtClean="0"/>
              <a:t>End and mid points labeled</a:t>
            </a:r>
          </a:p>
          <a:p>
            <a:r>
              <a:rPr lang="en-US" dirty="0" smtClean="0"/>
              <a:t>Optionally display the numeric value</a:t>
            </a:r>
          </a:p>
          <a:p>
            <a:endParaRPr lang="en-US" dirty="0"/>
          </a:p>
          <a:p>
            <a:r>
              <a:rPr lang="en-US" dirty="0" smtClean="0"/>
              <a:t>How to represent?</a:t>
            </a:r>
          </a:p>
          <a:p>
            <a:pPr lvl="1"/>
            <a:r>
              <a:rPr lang="en-US" dirty="0" smtClean="0"/>
              <a:t>Numeric  ?</a:t>
            </a:r>
          </a:p>
          <a:p>
            <a:pPr lvl="1"/>
            <a:r>
              <a:rPr lang="en-US" dirty="0" smtClean="0"/>
              <a:t>Categories for some values (0, 50 , 100)?</a:t>
            </a:r>
          </a:p>
          <a:p>
            <a:pPr lvl="2"/>
            <a:r>
              <a:rPr lang="en-US" dirty="0" smtClean="0"/>
              <a:t>Recorded in the NumericDomain Description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Revised 11/18/2012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EDDI2012, Hoyle, REDCap and DDI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08B5C-4DD5-4FA6-96EC-0426F4FA5F3A}" type="slidenum">
              <a:rPr lang="en-US" smtClean="0"/>
              <a:t>22</a:t>
            </a:fld>
            <a:endParaRPr lang="en-US"/>
          </a:p>
        </p:txBody>
      </p:sp>
      <p:pic>
        <p:nvPicPr>
          <p:cNvPr id="9" name="Picture 8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685800"/>
            <a:ext cx="8260705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003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752" y="1947655"/>
            <a:ext cx="8231336" cy="322411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Slider as Numeric question/variable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Revised 11/18/2012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EDDI2012, Hoyle, REDCap and DDI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08B5C-4DD5-4FA6-96EC-0426F4FA5F3A}" type="slidenum">
              <a:rPr lang="en-US" smtClean="0"/>
              <a:t>23</a:t>
            </a:fld>
            <a:endParaRPr lang="en-US"/>
          </a:p>
        </p:txBody>
      </p:sp>
      <p:pic>
        <p:nvPicPr>
          <p:cNvPr id="9" name="Picture 8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685800"/>
            <a:ext cx="8260705" cy="1219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0259" y="5151698"/>
            <a:ext cx="8906322" cy="150810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This Description added to the NumericDomain</a:t>
            </a:r>
          </a:p>
          <a:p>
            <a:r>
              <a:rPr lang="en-US" dirty="0"/>
              <a:t>REDCap Field Type:  slider  .  </a:t>
            </a:r>
            <a:endParaRPr lang="en-US" dirty="0" smtClean="0"/>
          </a:p>
          <a:p>
            <a:r>
              <a:rPr lang="en-US" dirty="0" smtClean="0"/>
              <a:t>NOTE</a:t>
            </a:r>
            <a:r>
              <a:rPr lang="en-US" dirty="0"/>
              <a:t>: This question has a minimum of 0 and a maximum of 100.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end and middle points were labeled as:  </a:t>
            </a:r>
            <a:endParaRPr lang="en-US" dirty="0" smtClean="0"/>
          </a:p>
          <a:p>
            <a:r>
              <a:rPr lang="en-US" dirty="0" smtClean="0"/>
              <a:t>0</a:t>
            </a:r>
            <a:r>
              <a:rPr lang="en-US" dirty="0"/>
              <a:t>, You can provide labels above the slider | </a:t>
            </a:r>
            <a:r>
              <a:rPr lang="en-US" dirty="0" smtClean="0"/>
              <a:t>50</a:t>
            </a:r>
            <a:r>
              <a:rPr lang="en-US" dirty="0"/>
              <a:t>,  Middle label | </a:t>
            </a:r>
            <a:r>
              <a:rPr lang="en-US" dirty="0" smtClean="0"/>
              <a:t>100</a:t>
            </a:r>
            <a:r>
              <a:rPr lang="en-US" dirty="0"/>
              <a:t>,  Right-hand label</a:t>
            </a:r>
          </a:p>
        </p:txBody>
      </p:sp>
    </p:spTree>
    <p:extLst>
      <p:ext uri="{BB962C8B-B14F-4D97-AF65-F5344CB8AC3E}">
        <p14:creationId xmlns:p14="http://schemas.microsoft.com/office/powerpoint/2010/main" val="3175091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Could be Slider as Coded variable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Revised 11/18/2012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EDDI2012, Hoyle, REDCap and DDI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08B5C-4DD5-4FA6-96EC-0426F4FA5F3A}" type="slidenum">
              <a:rPr lang="en-US" smtClean="0"/>
              <a:t>24</a:t>
            </a:fld>
            <a:endParaRPr lang="en-US"/>
          </a:p>
        </p:txBody>
      </p:sp>
      <p:pic>
        <p:nvPicPr>
          <p:cNvPr id="9" name="Picture 8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685800"/>
            <a:ext cx="8260705" cy="1219200"/>
          </a:xfrm>
          <a:prstGeom prst="rect">
            <a:avLst/>
          </a:prstGeom>
        </p:spPr>
      </p:pic>
      <p:pic>
        <p:nvPicPr>
          <p:cNvPr id="8" name="Picture 7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441" y="2057400"/>
            <a:ext cx="8183118" cy="303889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76400" y="5257800"/>
            <a:ext cx="7243201" cy="135421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This Description added to the CodeDomain</a:t>
            </a:r>
          </a:p>
          <a:p>
            <a:r>
              <a:rPr lang="en-US" dirty="0" smtClean="0"/>
              <a:t>REDCap Field Type:  slider  . </a:t>
            </a:r>
          </a:p>
          <a:p>
            <a:r>
              <a:rPr lang="en-US" dirty="0" smtClean="0"/>
              <a:t>NOTE: The REDCap slider field returns a numeric value between 0 and 100, </a:t>
            </a:r>
          </a:p>
          <a:p>
            <a:r>
              <a:rPr lang="en-US" dirty="0" smtClean="0"/>
              <a:t>but may have labels for the end and mid points.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2869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399" y="1038432"/>
            <a:ext cx="5506219" cy="364858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CSV values for a conditional question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Revised 11/18/2012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EDDI2012, Hoyle, REDCap and DDI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08B5C-4DD5-4FA6-96EC-0426F4FA5F3A}" type="slidenum">
              <a:rPr lang="en-US" smtClean="0"/>
              <a:t>25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324600" y="1819275"/>
            <a:ext cx="236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6">
                    <a:lumMod val="50000"/>
                  </a:schemeClr>
                </a:solidFill>
              </a:rPr>
              <a:t>The header and note will also be displayed conditionally</a:t>
            </a:r>
            <a:endParaRPr 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 flipH="1" flipV="1">
            <a:off x="5562600" y="1819275"/>
            <a:ext cx="762000" cy="152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5257800" y="2447925"/>
            <a:ext cx="1066800" cy="5429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324600" y="3667125"/>
            <a:ext cx="27050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B050"/>
                </a:solidFill>
              </a:rPr>
              <a:t>The Question and surrounding text will appear when this REDCap expression is true</a:t>
            </a:r>
            <a:endParaRPr lang="en-US" dirty="0">
              <a:solidFill>
                <a:srgbClr val="00B050"/>
              </a:solidFill>
            </a:endParaRPr>
          </a:p>
        </p:txBody>
      </p:sp>
      <p:cxnSp>
        <p:nvCxnSpPr>
          <p:cNvPr id="27" name="Straight Arrow Connector 26"/>
          <p:cNvCxnSpPr/>
          <p:nvPr/>
        </p:nvCxnSpPr>
        <p:spPr>
          <a:xfrm flipH="1" flipV="1">
            <a:off x="4733925" y="3848100"/>
            <a:ext cx="1524000" cy="20955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256399" y="6066592"/>
            <a:ext cx="861229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 err="1"/>
              <a:t>hidden_branch,survey,"Section</a:t>
            </a:r>
            <a:r>
              <a:rPr lang="en-US" sz="800" dirty="0"/>
              <a:t> Header immediately before question </a:t>
            </a:r>
            <a:r>
              <a:rPr lang="en-US" sz="800" dirty="0" err="1"/>
              <a:t>hidden_branch</a:t>
            </a:r>
            <a:r>
              <a:rPr lang="en-US" sz="800" dirty="0"/>
              <a:t>  ",</a:t>
            </a:r>
            <a:r>
              <a:rPr lang="en-US" sz="800" dirty="0" err="1"/>
              <a:t>text,"HIDDEN</a:t>
            </a:r>
            <a:r>
              <a:rPr lang="en-US" sz="800" dirty="0"/>
              <a:t> QUESTION: This question will only appear when you select the second option of the question immediately </a:t>
            </a:r>
            <a:r>
              <a:rPr lang="en-US" sz="800" dirty="0" err="1"/>
              <a:t>above.",,"A</a:t>
            </a:r>
            <a:r>
              <a:rPr lang="en-US" sz="800" dirty="0"/>
              <a:t> Field Note for a hidden question",,</a:t>
            </a:r>
            <a:r>
              <a:rPr lang="en-US" sz="800" dirty="0" err="1"/>
              <a:t>undefined,undefined</a:t>
            </a:r>
            <a:r>
              <a:rPr lang="en-US" sz="800" dirty="0"/>
              <a:t>,,"[</a:t>
            </a:r>
            <a:r>
              <a:rPr lang="en-US" sz="800" dirty="0" err="1"/>
              <a:t>radio_branch</a:t>
            </a:r>
            <a:r>
              <a:rPr lang="en-US" sz="800" dirty="0"/>
              <a:t>] = ""2""",,,,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399" y="5388077"/>
            <a:ext cx="7491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Branching Logic (Show field only if...)</a:t>
            </a:r>
            <a:r>
              <a:rPr lang="en-US" dirty="0"/>
              <a:t> </a:t>
            </a:r>
            <a:r>
              <a:rPr lang="en-US" dirty="0" smtClean="0"/>
              <a:t>     </a:t>
            </a:r>
            <a:r>
              <a:rPr lang="en-US" sz="2000" b="1" dirty="0" smtClean="0"/>
              <a:t>[</a:t>
            </a:r>
            <a:r>
              <a:rPr lang="en-US" sz="2000" b="1" dirty="0" err="1"/>
              <a:t>radio_branch</a:t>
            </a:r>
            <a:r>
              <a:rPr lang="en-US" sz="2000" b="1" dirty="0"/>
              <a:t>] = "2"</a:t>
            </a:r>
          </a:p>
        </p:txBody>
      </p:sp>
      <p:cxnSp>
        <p:nvCxnSpPr>
          <p:cNvPr id="14" name="Straight Arrow Connector 13"/>
          <p:cNvCxnSpPr>
            <a:stCxn id="25" idx="1"/>
          </p:cNvCxnSpPr>
          <p:nvPr/>
        </p:nvCxnSpPr>
        <p:spPr>
          <a:xfrm flipH="1">
            <a:off x="4886325" y="4267290"/>
            <a:ext cx="1438275" cy="112078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3972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399" y="1038432"/>
            <a:ext cx="2880091" cy="190843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err="1" smtClean="0"/>
              <a:t>ControlConstruct</a:t>
            </a:r>
            <a:r>
              <a:rPr lang="en-US" sz="3600" dirty="0" smtClean="0"/>
              <a:t> chain to build the Instrument</a:t>
            </a:r>
            <a:endParaRPr lang="en-US" sz="360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Revised 11/18/2012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EDDI2012, Hoyle, REDCap and DDI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08B5C-4DD5-4FA6-96EC-0426F4FA5F3A}" type="slidenum">
              <a:rPr lang="en-US" smtClean="0"/>
              <a:t>26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3576484" y="1207217"/>
            <a:ext cx="236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6">
                    <a:lumMod val="50000"/>
                  </a:schemeClr>
                </a:solidFill>
              </a:rPr>
              <a:t>DDI d:StatementItem</a:t>
            </a:r>
            <a:endParaRPr 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 flipH="1" flipV="1">
            <a:off x="3133725" y="1376824"/>
            <a:ext cx="381000" cy="76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2959510" y="1992649"/>
            <a:ext cx="555215" cy="8195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724274" y="2259272"/>
            <a:ext cx="2705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B050"/>
                </a:solidFill>
              </a:rPr>
              <a:t>DDI d:QuestionConstruct</a:t>
            </a:r>
            <a:endParaRPr lang="en-US" dirty="0">
              <a:solidFill>
                <a:srgbClr val="00B050"/>
              </a:solidFill>
            </a:endParaRPr>
          </a:p>
        </p:txBody>
      </p:sp>
      <p:cxnSp>
        <p:nvCxnSpPr>
          <p:cNvPr id="27" name="Straight Arrow Connector 26"/>
          <p:cNvCxnSpPr/>
          <p:nvPr/>
        </p:nvCxnSpPr>
        <p:spPr>
          <a:xfrm flipH="1">
            <a:off x="2452841" y="2408903"/>
            <a:ext cx="1061884" cy="7251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576484" y="1746842"/>
            <a:ext cx="236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DDI 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</a:rPr>
              <a:t>d:StatementItem</a:t>
            </a:r>
            <a:endParaRPr 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0" name="Right Brace 9"/>
          <p:cNvSpPr/>
          <p:nvPr/>
        </p:nvSpPr>
        <p:spPr>
          <a:xfrm>
            <a:off x="5776451" y="1194373"/>
            <a:ext cx="1130710" cy="167850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980904" y="1889940"/>
            <a:ext cx="1680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DDI d:Sequence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6907161" y="2872881"/>
            <a:ext cx="1947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DDI  d:IfThenElse </a:t>
            </a:r>
            <a:endParaRPr lang="en-US" dirty="0"/>
          </a:p>
        </p:txBody>
      </p:sp>
      <p:cxnSp>
        <p:nvCxnSpPr>
          <p:cNvPr id="20" name="Straight Arrow Connector 19"/>
          <p:cNvCxnSpPr/>
          <p:nvPr/>
        </p:nvCxnSpPr>
        <p:spPr>
          <a:xfrm flipH="1" flipV="1">
            <a:off x="7422996" y="2269354"/>
            <a:ext cx="131444" cy="495651"/>
          </a:xfrm>
          <a:prstGeom prst="straightConnector1">
            <a:avLst/>
          </a:prstGeom>
          <a:ln w="63500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980904" y="3858591"/>
            <a:ext cx="20358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DDI d:Sequence</a:t>
            </a:r>
          </a:p>
          <a:p>
            <a:r>
              <a:rPr lang="en-US" dirty="0"/>
              <a:t> </a:t>
            </a:r>
            <a:r>
              <a:rPr lang="en-US" dirty="0" smtClean="0"/>
              <a:t> (master sequence)</a:t>
            </a:r>
            <a:endParaRPr lang="en-US" dirty="0"/>
          </a:p>
        </p:txBody>
      </p:sp>
      <p:cxnSp>
        <p:nvCxnSpPr>
          <p:cNvPr id="28" name="Straight Arrow Connector 27"/>
          <p:cNvCxnSpPr/>
          <p:nvPr/>
        </p:nvCxnSpPr>
        <p:spPr>
          <a:xfrm flipH="1" flipV="1">
            <a:off x="7592036" y="3242213"/>
            <a:ext cx="156024" cy="529237"/>
          </a:xfrm>
          <a:prstGeom prst="straightConnector1">
            <a:avLst/>
          </a:prstGeom>
          <a:ln w="63500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133304" y="5069273"/>
            <a:ext cx="1807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DDI d:Instrument</a:t>
            </a:r>
            <a:endParaRPr lang="en-US" dirty="0"/>
          </a:p>
        </p:txBody>
      </p:sp>
      <p:cxnSp>
        <p:nvCxnSpPr>
          <p:cNvPr id="30" name="Straight Arrow Connector 29"/>
          <p:cNvCxnSpPr>
            <a:stCxn id="29" idx="0"/>
          </p:cNvCxnSpPr>
          <p:nvPr/>
        </p:nvCxnSpPr>
        <p:spPr>
          <a:xfrm flipH="1" flipV="1">
            <a:off x="7821038" y="4491939"/>
            <a:ext cx="215783" cy="577334"/>
          </a:xfrm>
          <a:prstGeom prst="straightConnector1">
            <a:avLst/>
          </a:prstGeom>
          <a:ln w="63500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143" y="3242212"/>
            <a:ext cx="6738069" cy="3240649"/>
          </a:xfrm>
          <a:prstGeom prst="rect">
            <a:avLst/>
          </a:prstGeom>
        </p:spPr>
      </p:pic>
      <p:sp>
        <p:nvSpPr>
          <p:cNvPr id="39" name="Rounded Rectangle 38"/>
          <p:cNvSpPr/>
          <p:nvPr/>
        </p:nvSpPr>
        <p:spPr>
          <a:xfrm>
            <a:off x="105508" y="4504922"/>
            <a:ext cx="5580184" cy="1813816"/>
          </a:xfrm>
          <a:prstGeom prst="roundRect">
            <a:avLst/>
          </a:prstGeom>
          <a:solidFill>
            <a:srgbClr val="FFFF00">
              <a:alpha val="25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Arrow Connector 40"/>
          <p:cNvCxnSpPr/>
          <p:nvPr/>
        </p:nvCxnSpPr>
        <p:spPr>
          <a:xfrm flipV="1">
            <a:off x="5685692" y="4780606"/>
            <a:ext cx="2062368" cy="288667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4081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5" grpId="0"/>
      <p:bldP spid="13" grpId="0"/>
      <p:bldP spid="10" grpId="0" animBg="1"/>
      <p:bldP spid="12" grpId="0"/>
      <p:bldP spid="18" grpId="0"/>
      <p:bldP spid="26" grpId="0"/>
      <p:bldP spid="29" grpId="0"/>
      <p:bldP spid="3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More complex Instrument issues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REDCap can set an option that </a:t>
            </a:r>
            <a:r>
              <a:rPr lang="en-US" dirty="0" smtClean="0"/>
              <a:t>ends the session </a:t>
            </a:r>
            <a:r>
              <a:rPr lang="en-US" dirty="0"/>
              <a:t>upon entry of a particular value </a:t>
            </a:r>
            <a:br>
              <a:rPr lang="en-US" dirty="0"/>
            </a:br>
            <a:r>
              <a:rPr lang="en-US" dirty="0"/>
              <a:t>(a "stop action")</a:t>
            </a:r>
          </a:p>
          <a:p>
            <a:pPr lvl="1"/>
            <a:r>
              <a:rPr lang="en-US" dirty="0" smtClean="0"/>
              <a:t>This could be represented with IfThenElse of a Sequence </a:t>
            </a:r>
          </a:p>
          <a:p>
            <a:pPr lvl="2"/>
            <a:r>
              <a:rPr lang="en-US" dirty="0" smtClean="0"/>
              <a:t>Not done in this version</a:t>
            </a:r>
          </a:p>
          <a:p>
            <a:r>
              <a:rPr lang="en-US" dirty="0" smtClean="0"/>
              <a:t>REDCap has a Matrix Group construct</a:t>
            </a:r>
          </a:p>
          <a:p>
            <a:pPr lvl="1"/>
            <a:r>
              <a:rPr lang="en-US" dirty="0" smtClean="0"/>
              <a:t>This is partly a layout issue but could be better documented with a sub-sequence than in this version of the program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Revised 11/18/2012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EDDI2012, Hoyle, REDCap and DDI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08B5C-4DD5-4FA6-96EC-0426F4FA5F3A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977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DDI to REDCap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Going the other way – defining a REDCap survey by transforming a DDI 3.1 file to a REDCap </a:t>
            </a:r>
            <a:r>
              <a:rPr lang="en-US" dirty="0" err="1" smtClean="0"/>
              <a:t>csv</a:t>
            </a:r>
            <a:r>
              <a:rPr lang="en-US" dirty="0" smtClean="0"/>
              <a:t> template.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Revised 11/18/2012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EDDI2012, Hoyle, REDCap and DDI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08B5C-4DD5-4FA6-96EC-0426F4FA5F3A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738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Hierarchical DDI to one row per Question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REDCap uses Code/Category schemes by repetition instead of by reference</a:t>
            </a:r>
          </a:p>
          <a:p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DDI Instruments may be much more complex than a simple sequence with a conditional display of a question. </a:t>
            </a:r>
          </a:p>
          <a:p>
            <a:pPr lvl="1"/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Combining REDCap calculated fields with conditional display might allow Loop, RepeatUntil etc. function. </a:t>
            </a:r>
          </a:p>
          <a:p>
            <a:pPr lvl="1"/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Parsing Instrument and ControlConstructs not done in this version.</a:t>
            </a:r>
          </a:p>
          <a:p>
            <a:pPr lvl="2"/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E.g. no Section Headers or Field Notes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Revised 11/18/2012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EDDI2012, Hoyle, REDCap and DDI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08B5C-4DD5-4FA6-96EC-0426F4FA5F3A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352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Hierarchical DDI to one row per Question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90954"/>
            <a:ext cx="8229600" cy="565052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URNs not 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evaluated</a:t>
            </a:r>
          </a:p>
          <a:p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Coded questions treated as "radio" fields.</a:t>
            </a:r>
          </a:p>
          <a:p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"checkbox" (multiple response) </a:t>
            </a:r>
          </a:p>
          <a:p>
            <a:pPr lvl="1"/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multiple variables not generated </a:t>
            </a:r>
          </a:p>
          <a:p>
            <a:pPr lvl="1"/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 placed note in CodeDomain Description (not machine actionable)</a:t>
            </a:r>
          </a:p>
          <a:p>
            <a:pPr lvl="1"/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treated as radio</a:t>
            </a:r>
          </a:p>
          <a:p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Calculated fields not generated </a:t>
            </a:r>
          </a:p>
          <a:p>
            <a:pPr lvl="1"/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Could look for d:ComputationItem</a:t>
            </a:r>
          </a:p>
          <a:p>
            <a:pPr lvl="2"/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Would require parsing arbitrary programming code and generating REDCap syntax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Revised 11/18/2012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EDDI2012, Hoyle, REDCap and DDI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08B5C-4DD5-4FA6-96EC-0426F4FA5F3A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247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" dur="2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" dur="2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" dur="2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Issues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The metadata models for REDCap and DDI are not exactly the same. Where do they not match up?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Revised 11/18/2012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EDDI2012, Hoyle, REDCap and DDI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08B5C-4DD5-4FA6-96EC-0426F4FA5F3A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451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Issues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5057" y="1066800"/>
            <a:ext cx="8741229" cy="5059363"/>
          </a:xfrm>
        </p:spPr>
        <p:txBody>
          <a:bodyPr/>
          <a:lstStyle/>
          <a:p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Full DDI complexity not representable in REDCap</a:t>
            </a:r>
          </a:p>
          <a:p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REDCap co-mingles layout with content metadata</a:t>
            </a:r>
            <a:br>
              <a:rPr lang="en-US" dirty="0" smtClean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       dropdown, radio, slider, matrix, checkbox</a:t>
            </a:r>
          </a:p>
          <a:p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REDCap field type of “file” – file upload action </a:t>
            </a:r>
          </a:p>
          <a:p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REDCap CSV does not include project management features that it has (email triggers, scheduling.</a:t>
            </a:r>
          </a:p>
          <a:p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DDI 3.1 doesn’t handle numeric variables with some labeled values well (like slider fields)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Revised 11/18/2012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EDDI2012, Hoyle, REDCap and DDI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08B5C-4DD5-4FA6-96EC-0426F4FA5F3A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352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Issues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REDCap allows minimum and maximum for DateTime types</a:t>
            </a:r>
          </a:p>
          <a:p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DDI allows multiple low, high pairs for numeric variables – REDCap has just one pair</a:t>
            </a:r>
          </a:p>
          <a:p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DDI 3.1 has no Description for a QuestionItem, no good place to put notes about display options</a:t>
            </a:r>
          </a:p>
          <a:p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REDCap can mark a Question as "required“</a:t>
            </a:r>
          </a:p>
          <a:p>
            <a:pPr lvl="1"/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DDI </a:t>
            </a:r>
            <a:r>
              <a:rPr lang="en-US" dirty="0" err="1" smtClean="0">
                <a:solidFill>
                  <a:schemeClr val="bg1">
                    <a:lumMod val="50000"/>
                  </a:schemeClr>
                </a:solidFill>
              </a:rPr>
              <a:t>RepeatUntil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?</a:t>
            </a:r>
          </a:p>
          <a:p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REDCap can mark a Question as having personally identifiable information.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Revised 11/18/2012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EDDI2012, Hoyle, REDCap and DDI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08B5C-4DD5-4FA6-96EC-0426F4FA5F3A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346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" dur="75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Issues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ResourcePackage vs. Studyunit</a:t>
            </a:r>
          </a:p>
          <a:p>
            <a:pPr lvl="1"/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Where do Questions, Variables, Categories, Codes go?</a:t>
            </a:r>
          </a:p>
          <a:p>
            <a:pPr lvl="1"/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Used ResourcePackage (more compatible with Colectica, which I used for validation)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Revised 11/18/2012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EDDI2012, Hoyle, REDCap and DDI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08B5C-4DD5-4FA6-96EC-0426F4FA5F3A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994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REDCap has an </a:t>
            </a:r>
            <a:r>
              <a:rPr lang="en-US" dirty="0" err="1" smtClean="0"/>
              <a:t>api</a:t>
            </a:r>
            <a:r>
              <a:rPr lang="en-US" dirty="0" smtClean="0"/>
              <a:t> – develop extensions that would work directly in REDCap?</a:t>
            </a:r>
          </a:p>
          <a:p>
            <a:pPr lvl="1"/>
            <a:r>
              <a:rPr lang="en-US" dirty="0" smtClean="0"/>
              <a:t>Capture (and import?) project management level metadata?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Revised 11/18/2012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EDDI2012, Hoyle, REDCap and DDI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08B5C-4DD5-4FA6-96EC-0426F4FA5F3A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192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Contact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Larry Hoyle</a:t>
            </a:r>
          </a:p>
          <a:p>
            <a:pPr marL="457200" lvl="1" indent="0">
              <a:buNone/>
            </a:pPr>
            <a:r>
              <a:rPr lang="en-US" dirty="0" smtClean="0"/>
              <a:t>Senior </a:t>
            </a:r>
            <a:r>
              <a:rPr lang="en-US" dirty="0"/>
              <a:t>Scientist</a:t>
            </a:r>
          </a:p>
          <a:p>
            <a:pPr marL="457200" lvl="1" indent="0">
              <a:buNone/>
            </a:pPr>
            <a:r>
              <a:rPr lang="en-US" dirty="0" smtClean="0"/>
              <a:t>Institute </a:t>
            </a:r>
            <a:r>
              <a:rPr lang="en-US" dirty="0"/>
              <a:t>for Policy &amp; Social Research, </a:t>
            </a:r>
            <a:r>
              <a:rPr lang="en-US" dirty="0" smtClean="0"/>
              <a:t>	</a:t>
            </a:r>
          </a:p>
          <a:p>
            <a:pPr marL="457200" lvl="1" indent="0">
              <a:buNone/>
            </a:pPr>
            <a:r>
              <a:rPr lang="en-US" dirty="0" smtClean="0"/>
              <a:t>University </a:t>
            </a:r>
            <a:r>
              <a:rPr lang="en-US" dirty="0"/>
              <a:t>of Kansas</a:t>
            </a:r>
          </a:p>
          <a:p>
            <a:pPr marL="457200" lvl="1" indent="0">
              <a:buNone/>
            </a:pPr>
            <a:r>
              <a:rPr lang="en-US" dirty="0"/>
              <a:t>1541 Lilac Lane, Blake 607</a:t>
            </a:r>
          </a:p>
          <a:p>
            <a:pPr marL="457200" lvl="1" indent="0">
              <a:buNone/>
            </a:pPr>
            <a:r>
              <a:rPr lang="en-US" dirty="0"/>
              <a:t>Lawrence, KS  </a:t>
            </a:r>
            <a:r>
              <a:rPr lang="en-US" dirty="0" smtClean="0"/>
              <a:t>66045-3129</a:t>
            </a:r>
          </a:p>
          <a:p>
            <a:pPr marL="457200" lvl="1" indent="0">
              <a:buNone/>
            </a:pPr>
            <a:endParaRPr lang="en-US" dirty="0"/>
          </a:p>
          <a:p>
            <a:pPr marL="0" lvl="1" indent="0">
              <a:buNone/>
            </a:pPr>
            <a:r>
              <a:rPr lang="en-US" dirty="0"/>
              <a:t> </a:t>
            </a:r>
            <a:r>
              <a:rPr lang="en-US" dirty="0" smtClean="0"/>
              <a:t>	</a:t>
            </a:r>
            <a:r>
              <a:rPr lang="en-US" dirty="0" smtClean="0">
                <a:hlinkClick r:id="rId2"/>
              </a:rPr>
              <a:t>LarryHoyle@ku.edu</a:t>
            </a:r>
            <a:endParaRPr lang="en-US" dirty="0"/>
          </a:p>
          <a:p>
            <a:pPr marL="457200" lvl="1" indent="0">
              <a:buNone/>
            </a:pPr>
            <a:r>
              <a:rPr lang="en-US" dirty="0" smtClean="0"/>
              <a:t>	</a:t>
            </a:r>
            <a:r>
              <a:rPr lang="en-US" u="sng" dirty="0" smtClean="0">
                <a:hlinkClick r:id="rId3"/>
              </a:rPr>
              <a:t>http</a:t>
            </a:r>
            <a:r>
              <a:rPr lang="en-US" u="sng" dirty="0">
                <a:hlinkClick r:id="rId3"/>
              </a:rPr>
              <a:t>://</a:t>
            </a:r>
            <a:r>
              <a:rPr lang="en-US" u="sng" dirty="0" smtClean="0">
                <a:hlinkClick r:id="rId3"/>
              </a:rPr>
              <a:t>www.ipsr.ku.edu</a:t>
            </a:r>
            <a:r>
              <a:rPr lang="en-US" u="sng" dirty="0" smtClean="0"/>
              <a:t> 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Revised 11/18/2012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EDDI2012, Hoyle, REDCap and DDI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08B5C-4DD5-4FA6-96EC-0426F4FA5F3A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680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 details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Revised 11/18/2012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EDDI2012, Hoyle, REDCap and DDI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08B5C-4DD5-4FA6-96EC-0426F4FA5F3A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58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Used </a:t>
            </a:r>
            <a:r>
              <a:rPr lang="en-US" dirty="0" smtClean="0"/>
              <a:t>R XML Package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Used the R package "XML"</a:t>
            </a:r>
          </a:p>
          <a:p>
            <a:pPr lvl="1"/>
            <a:r>
              <a:rPr lang="en-US" sz="2400" dirty="0">
                <a:hlinkClick r:id="rId2"/>
              </a:rPr>
              <a:t>http://</a:t>
            </a:r>
            <a:r>
              <a:rPr lang="en-US" sz="2400" dirty="0" smtClean="0">
                <a:hlinkClick r:id="rId2"/>
              </a:rPr>
              <a:t>cran.r-project.org/web/packages/XML/XML.pdf</a:t>
            </a:r>
            <a:endParaRPr lang="en-US" sz="2400" dirty="0" smtClean="0"/>
          </a:p>
          <a:p>
            <a:pPr marL="857250" lvl="2" indent="0">
              <a:buNone/>
            </a:pPr>
            <a:r>
              <a:rPr lang="en-US" dirty="0"/>
              <a:t>Author Duncan Temple Lang</a:t>
            </a:r>
          </a:p>
          <a:p>
            <a:pPr marL="857250" lvl="2" indent="0">
              <a:buNone/>
            </a:pPr>
            <a:r>
              <a:rPr lang="en-US" dirty="0"/>
              <a:t>Maintainer Duncan Temple Lang &lt;duncan@r-project.org&gt;</a:t>
            </a:r>
          </a:p>
          <a:p>
            <a:pPr marL="857250" lvl="2" indent="0">
              <a:buNone/>
            </a:pPr>
            <a:r>
              <a:rPr lang="en-US" dirty="0"/>
              <a:t>Title Tools for parsing and generating XML within R and S-Plus.</a:t>
            </a:r>
          </a:p>
          <a:p>
            <a:pPr marL="857250" lvl="2" indent="0">
              <a:buNone/>
            </a:pPr>
            <a:r>
              <a:rPr lang="en-US" dirty="0"/>
              <a:t>Depends R (&gt;= 1.2.0), methods, </a:t>
            </a:r>
            <a:r>
              <a:rPr lang="en-US" dirty="0" err="1"/>
              <a:t>utils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Revised 11/18/2012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EDDI2012, Hoyle, REDCap and DDI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08B5C-4DD5-4FA6-96EC-0426F4FA5F3A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906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 tools, Redcap </a:t>
            </a:r>
            <a:r>
              <a:rPr lang="en-US" dirty="0"/>
              <a:t>to </a:t>
            </a:r>
            <a:r>
              <a:rPr lang="en-US" dirty="0" smtClean="0"/>
              <a:t>DDI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Used Hash </a:t>
            </a:r>
            <a:r>
              <a:rPr lang="en-US" dirty="0"/>
              <a:t>Tree representation: </a:t>
            </a:r>
            <a:r>
              <a:rPr lang="en-US" dirty="0" err="1"/>
              <a:t>xmlHashTree</a:t>
            </a:r>
            <a:r>
              <a:rPr lang="en-US" dirty="0" smtClean="0"/>
              <a:t>()</a:t>
            </a:r>
          </a:p>
          <a:p>
            <a:pPr lvl="1"/>
            <a:r>
              <a:rPr lang="en-US" dirty="0" smtClean="0"/>
              <a:t>Allowed non-sequential addition to elements</a:t>
            </a:r>
          </a:p>
          <a:p>
            <a:r>
              <a:rPr lang="en-US" dirty="0" smtClean="0"/>
              <a:t>Fixed framework added first and then elements extended</a:t>
            </a:r>
          </a:p>
          <a:p>
            <a:pPr lvl="1"/>
            <a:r>
              <a:rPr lang="en-US" dirty="0" err="1" smtClean="0"/>
              <a:t>CategorySchemes</a:t>
            </a:r>
            <a:endParaRPr lang="en-US" dirty="0" smtClean="0"/>
          </a:p>
          <a:p>
            <a:pPr lvl="1"/>
            <a:r>
              <a:rPr lang="en-US" dirty="0" smtClean="0"/>
              <a:t>CodeScheme</a:t>
            </a:r>
          </a:p>
          <a:p>
            <a:pPr lvl="1"/>
            <a:r>
              <a:rPr lang="en-US" dirty="0" err="1" smtClean="0"/>
              <a:t>VariableSchemes</a:t>
            </a:r>
            <a:endParaRPr lang="en-US" dirty="0" smtClean="0"/>
          </a:p>
          <a:p>
            <a:pPr lvl="1"/>
            <a:r>
              <a:rPr lang="en-US" dirty="0" err="1" smtClean="0"/>
              <a:t>QuestionScheme</a:t>
            </a:r>
            <a:endParaRPr lang="en-US" dirty="0" smtClean="0"/>
          </a:p>
          <a:p>
            <a:pPr lvl="1"/>
            <a:r>
              <a:rPr lang="en-US" dirty="0" err="1" smtClean="0"/>
              <a:t>ControlConstructs</a:t>
            </a:r>
            <a:r>
              <a:rPr lang="en-US" dirty="0" smtClean="0"/>
              <a:t> and Instrument</a:t>
            </a:r>
            <a:r>
              <a:rPr lang="en-US" dirty="0"/>
              <a:t>	</a:t>
            </a:r>
            <a:r>
              <a:rPr lang="en-US" dirty="0" smtClean="0"/>
              <a:t>	</a:t>
            </a:r>
          </a:p>
          <a:p>
            <a:r>
              <a:rPr lang="en-US" dirty="0" smtClean="0"/>
              <a:t>Hash table to find the index number of the code and category schemes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Revised 11/18/2012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EDDI2012, Hoyle, REDCap and DDI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08B5C-4DD5-4FA6-96EC-0426F4FA5F3A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845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 tools, DDI to Redcap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Used internal </a:t>
            </a:r>
            <a:r>
              <a:rPr lang="en-US" dirty="0"/>
              <a:t>tree representation </a:t>
            </a:r>
            <a:r>
              <a:rPr lang="en-US" dirty="0" smtClean="0"/>
              <a:t>from reading DDI with </a:t>
            </a:r>
            <a:r>
              <a:rPr lang="en-US" dirty="0" err="1" smtClean="0"/>
              <a:t>xmlTreeParse</a:t>
            </a:r>
            <a:r>
              <a:rPr lang="en-US" dirty="0" smtClean="0"/>
              <a:t>()</a:t>
            </a:r>
          </a:p>
          <a:p>
            <a:r>
              <a:rPr lang="en-US" dirty="0" smtClean="0"/>
              <a:t>Built code and category string in REDCap</a:t>
            </a:r>
            <a:r>
              <a:rPr lang="en-US" dirty="0"/>
              <a:t> format e.g. </a:t>
            </a:r>
            <a:endParaRPr lang="en-US" dirty="0" smtClean="0"/>
          </a:p>
          <a:p>
            <a:pPr marL="857250" lvl="2" indent="0">
              <a:buNone/>
            </a:pPr>
            <a:r>
              <a:rPr lang="en-US" dirty="0" smtClean="0"/>
              <a:t>1</a:t>
            </a:r>
            <a:r>
              <a:rPr lang="en-US" dirty="0"/>
              <a:t>, bad, or worse | 2, good, or </a:t>
            </a:r>
            <a:r>
              <a:rPr lang="en-US" dirty="0" smtClean="0"/>
              <a:t>better</a:t>
            </a:r>
          </a:p>
          <a:p>
            <a:r>
              <a:rPr lang="en-US" dirty="0" smtClean="0"/>
              <a:t>Built a URN like string for complete category identifiers – used this as a hash key to the category value</a:t>
            </a:r>
          </a:p>
          <a:p>
            <a:r>
              <a:rPr lang="en-US" dirty="0" smtClean="0"/>
              <a:t>Did the same for </a:t>
            </a:r>
            <a:r>
              <a:rPr lang="en-US" dirty="0" err="1" smtClean="0"/>
              <a:t>CodeSchemes</a:t>
            </a:r>
            <a:r>
              <a:rPr lang="en-US" dirty="0" smtClean="0"/>
              <a:t> with the value being the REDCap code and category string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Revised 11/18/2012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EDDI2012, Hoyle, REDCap and DDI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08B5C-4DD5-4FA6-96EC-0426F4FA5F3A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844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449</TotalTime>
  <Words>1462</Words>
  <Application>Microsoft Office PowerPoint</Application>
  <PresentationFormat>On-screen Show (4:3)</PresentationFormat>
  <Paragraphs>303</Paragraphs>
  <Slides>40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1" baseType="lpstr">
      <vt:lpstr>Office Theme</vt:lpstr>
      <vt:lpstr>REDCap and DDI</vt:lpstr>
      <vt:lpstr>REDCap Consortium http://project-redcap.org/ </vt:lpstr>
      <vt:lpstr>REDCap Citation </vt:lpstr>
      <vt:lpstr>REDCap as an Environment</vt:lpstr>
      <vt:lpstr>Start Screen</vt:lpstr>
      <vt:lpstr>Online Designer – Project Setup</vt:lpstr>
      <vt:lpstr>Project Setup (continued)</vt:lpstr>
      <vt:lpstr>Online Designer – Question Sequence</vt:lpstr>
      <vt:lpstr>Individual Question</vt:lpstr>
      <vt:lpstr>Field Types</vt:lpstr>
      <vt:lpstr>Branching</vt:lpstr>
      <vt:lpstr>redCap to DDI</vt:lpstr>
      <vt:lpstr>One Row, CSV File (Excel Template)</vt:lpstr>
      <vt:lpstr>Example: text field containing a number</vt:lpstr>
      <vt:lpstr>Example: text field containing a number</vt:lpstr>
      <vt:lpstr>DDI – Question w/ Numeric Domain</vt:lpstr>
      <vt:lpstr>Section Header – in same row as data field</vt:lpstr>
      <vt:lpstr>Example: coded variable w/ radio buttons</vt:lpstr>
      <vt:lpstr>REDCap Code and Category Strings Repeat</vt:lpstr>
      <vt:lpstr>Lots of References</vt:lpstr>
      <vt:lpstr>DateTime fields</vt:lpstr>
      <vt:lpstr>Sliders</vt:lpstr>
      <vt:lpstr>Slider as Numeric question/variable</vt:lpstr>
      <vt:lpstr>Could be Slider as Coded variable</vt:lpstr>
      <vt:lpstr>CSV values for a conditional question</vt:lpstr>
      <vt:lpstr>ControlConstruct chain to build the Instrument</vt:lpstr>
      <vt:lpstr>More complex Instrument issues</vt:lpstr>
      <vt:lpstr>DDI to REDCap</vt:lpstr>
      <vt:lpstr>Hierarchical DDI to one row per Question</vt:lpstr>
      <vt:lpstr>Hierarchical DDI to one row per Question</vt:lpstr>
      <vt:lpstr>Issues</vt:lpstr>
      <vt:lpstr>Issues</vt:lpstr>
      <vt:lpstr>Issues</vt:lpstr>
      <vt:lpstr>Issues</vt:lpstr>
      <vt:lpstr>Future</vt:lpstr>
      <vt:lpstr>Contact</vt:lpstr>
      <vt:lpstr>R details</vt:lpstr>
      <vt:lpstr>Used R XML Package</vt:lpstr>
      <vt:lpstr>R tools, Redcap to DDI</vt:lpstr>
      <vt:lpstr>R tools, DDI to Redcap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REDCap and DDI</dc:title>
  <dc:creator>lhoyle</dc:creator>
  <cp:lastModifiedBy>Larry Hoyle</cp:lastModifiedBy>
  <cp:revision>61</cp:revision>
  <dcterms:created xsi:type="dcterms:W3CDTF">2012-11-17T17:23:53Z</dcterms:created>
  <dcterms:modified xsi:type="dcterms:W3CDTF">2012-12-03T07:18:03Z</dcterms:modified>
</cp:coreProperties>
</file>