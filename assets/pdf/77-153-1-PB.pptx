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0" r:id="rId1"/>
  </p:sldMasterIdLst>
  <p:notesMasterIdLst>
    <p:notesMasterId r:id="rId46"/>
  </p:notesMasterIdLst>
  <p:handoutMasterIdLst>
    <p:handoutMasterId r:id="rId47"/>
  </p:handoutMasterIdLst>
  <p:sldIdLst>
    <p:sldId id="256" r:id="rId2"/>
    <p:sldId id="259" r:id="rId3"/>
    <p:sldId id="260" r:id="rId4"/>
    <p:sldId id="261" r:id="rId5"/>
    <p:sldId id="262" r:id="rId6"/>
    <p:sldId id="263" r:id="rId7"/>
    <p:sldId id="265" r:id="rId8"/>
    <p:sldId id="266" r:id="rId9"/>
    <p:sldId id="267" r:id="rId10"/>
    <p:sldId id="268" r:id="rId11"/>
    <p:sldId id="270" r:id="rId12"/>
    <p:sldId id="271" r:id="rId13"/>
    <p:sldId id="272" r:id="rId14"/>
    <p:sldId id="273" r:id="rId15"/>
    <p:sldId id="274" r:id="rId16"/>
    <p:sldId id="275" r:id="rId17"/>
    <p:sldId id="276" r:id="rId18"/>
    <p:sldId id="277" r:id="rId19"/>
    <p:sldId id="278" r:id="rId20"/>
    <p:sldId id="310" r:id="rId21"/>
    <p:sldId id="280" r:id="rId22"/>
    <p:sldId id="281" r:id="rId23"/>
    <p:sldId id="282" r:id="rId24"/>
    <p:sldId id="317" r:id="rId25"/>
    <p:sldId id="284" r:id="rId26"/>
    <p:sldId id="286" r:id="rId27"/>
    <p:sldId id="319" r:id="rId28"/>
    <p:sldId id="318" r:id="rId29"/>
    <p:sldId id="289" r:id="rId30"/>
    <p:sldId id="291" r:id="rId31"/>
    <p:sldId id="292" r:id="rId32"/>
    <p:sldId id="290" r:id="rId33"/>
    <p:sldId id="294" r:id="rId34"/>
    <p:sldId id="295" r:id="rId35"/>
    <p:sldId id="296" r:id="rId36"/>
    <p:sldId id="297" r:id="rId37"/>
    <p:sldId id="298" r:id="rId38"/>
    <p:sldId id="299" r:id="rId39"/>
    <p:sldId id="322" r:id="rId40"/>
    <p:sldId id="300" r:id="rId41"/>
    <p:sldId id="321" r:id="rId42"/>
    <p:sldId id="301" r:id="rId43"/>
    <p:sldId id="302" r:id="rId44"/>
    <p:sldId id="320" r:id="rId4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9531" autoAdjust="0"/>
  </p:normalViewPr>
  <p:slideViewPr>
    <p:cSldViewPr snapToGrid="0" snapToObjects="1">
      <p:cViewPr>
        <p:scale>
          <a:sx n="85" d="100"/>
          <a:sy n="85" d="100"/>
        </p:scale>
        <p:origin x="-808" y="5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interSettings" Target="printerSettings/printerSettings1.bin"/><Relationship Id="rId49" Type="http://schemas.openxmlformats.org/officeDocument/2006/relationships/presProps" Target="presProp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6D312D-E985-8A45-9241-0B08EC1BA6FC}" type="doc">
      <dgm:prSet loTypeId="urn:microsoft.com/office/officeart/2009/3/layout/DescendingProcess" loCatId="" qsTypeId="urn:microsoft.com/office/officeart/2005/8/quickstyle/simple4" qsCatId="simple" csTypeId="urn:microsoft.com/office/officeart/2005/8/colors/colorful2" csCatId="colorful" phldr="1"/>
      <dgm:spPr/>
      <dgm:t>
        <a:bodyPr/>
        <a:lstStyle/>
        <a:p>
          <a:endParaRPr lang="en-US"/>
        </a:p>
      </dgm:t>
    </dgm:pt>
    <dgm:pt modelId="{563BA9F3-13F9-EC4C-9511-3FE4C323D0A6}">
      <dgm:prSet phldrT="[Text]" custT="1"/>
      <dgm:spPr/>
      <dgm:t>
        <a:bodyPr/>
        <a:lstStyle/>
        <a:p>
          <a:r>
            <a:rPr lang="en-US" sz="2000"/>
            <a:t>Simple Model</a:t>
          </a:r>
        </a:p>
      </dgm:t>
    </dgm:pt>
    <dgm:pt modelId="{3BB73CBE-69B1-0D4C-BCED-CF0F38E9F1B0}" type="parTrans" cxnId="{D0CAEB87-B35A-514F-B379-D42BBD900CB6}">
      <dgm:prSet/>
      <dgm:spPr/>
      <dgm:t>
        <a:bodyPr/>
        <a:lstStyle/>
        <a:p>
          <a:endParaRPr lang="en-US" sz="2000"/>
        </a:p>
      </dgm:t>
    </dgm:pt>
    <dgm:pt modelId="{8E92886C-5A76-2B46-9FFF-5C5E757AF0C7}" type="sibTrans" cxnId="{D0CAEB87-B35A-514F-B379-D42BBD900CB6}">
      <dgm:prSet/>
      <dgm:spPr/>
      <dgm:t>
        <a:bodyPr/>
        <a:lstStyle/>
        <a:p>
          <a:endParaRPr lang="en-US" sz="2000"/>
        </a:p>
      </dgm:t>
    </dgm:pt>
    <dgm:pt modelId="{73902E46-08D1-6E4C-A9A5-8C4A2015033C}">
      <dgm:prSet phldrT="[Text]" custT="1"/>
      <dgm:spPr/>
      <dgm:t>
        <a:bodyPr/>
        <a:lstStyle/>
        <a:p>
          <a:r>
            <a:rPr lang="en-US" sz="2000"/>
            <a:t>Advanced Model</a:t>
          </a:r>
        </a:p>
      </dgm:t>
    </dgm:pt>
    <dgm:pt modelId="{F6811F04-BADB-2B4C-B1A2-4FEF5DAF9E4B}" type="parTrans" cxnId="{F8ACF9AF-E707-CD46-A782-EFD6720EDD0F}">
      <dgm:prSet/>
      <dgm:spPr/>
      <dgm:t>
        <a:bodyPr/>
        <a:lstStyle/>
        <a:p>
          <a:endParaRPr lang="en-US" sz="2000"/>
        </a:p>
      </dgm:t>
    </dgm:pt>
    <dgm:pt modelId="{2BE82464-7526-5443-8594-16EB7681A5AC}" type="sibTrans" cxnId="{F8ACF9AF-E707-CD46-A782-EFD6720EDD0F}">
      <dgm:prSet/>
      <dgm:spPr/>
      <dgm:t>
        <a:bodyPr/>
        <a:lstStyle/>
        <a:p>
          <a:endParaRPr lang="en-US" sz="2000"/>
        </a:p>
      </dgm:t>
    </dgm:pt>
    <dgm:pt modelId="{7F0D5997-5837-FF4A-ADFB-936A4F065794}">
      <dgm:prSet phldrT="[Text]" custT="1"/>
      <dgm:spPr/>
      <dgm:t>
        <a:bodyPr/>
        <a:lstStyle/>
        <a:p>
          <a:r>
            <a:rPr lang="en-US" sz="2000" dirty="0"/>
            <a:t>OWL </a:t>
          </a:r>
          <a:r>
            <a:rPr lang="en-US" sz="2000" dirty="0" smtClean="0"/>
            <a:t>(Derived)</a:t>
          </a:r>
          <a:endParaRPr lang="en-US" sz="2000" dirty="0"/>
        </a:p>
      </dgm:t>
    </dgm:pt>
    <dgm:pt modelId="{06F4ABB5-5F2C-6D41-8C95-4E1F6D4424BF}" type="parTrans" cxnId="{9B6D215A-6866-124A-9E83-E574CC4519FD}">
      <dgm:prSet/>
      <dgm:spPr/>
      <dgm:t>
        <a:bodyPr/>
        <a:lstStyle/>
        <a:p>
          <a:endParaRPr lang="en-US" sz="2000"/>
        </a:p>
      </dgm:t>
    </dgm:pt>
    <dgm:pt modelId="{61BAB4A3-31F8-D746-BBFC-45EA845E7C93}" type="sibTrans" cxnId="{9B6D215A-6866-124A-9E83-E574CC4519FD}">
      <dgm:prSet/>
      <dgm:spPr/>
      <dgm:t>
        <a:bodyPr/>
        <a:lstStyle/>
        <a:p>
          <a:endParaRPr lang="en-US" sz="2000"/>
        </a:p>
      </dgm:t>
    </dgm:pt>
    <dgm:pt modelId="{8D607C98-ABA5-D442-9E87-8DF8DD893162}">
      <dgm:prSet phldrT="[Text]" custT="1"/>
      <dgm:spPr/>
      <dgm:t>
        <a:bodyPr/>
        <a:lstStyle/>
        <a:p>
          <a:r>
            <a:rPr lang="en-US" sz="2000" dirty="0"/>
            <a:t>OWL </a:t>
          </a:r>
          <a:r>
            <a:rPr lang="en-US" sz="2000" dirty="0" smtClean="0"/>
            <a:t>(Extended)</a:t>
          </a:r>
          <a:endParaRPr lang="en-US" sz="2000" dirty="0"/>
        </a:p>
      </dgm:t>
    </dgm:pt>
    <dgm:pt modelId="{E341BF7E-CBA3-9147-A959-ADD3FDA3745C}" type="parTrans" cxnId="{DC99A5C1-1BB7-D04E-83D6-12D76309C2EE}">
      <dgm:prSet/>
      <dgm:spPr/>
      <dgm:t>
        <a:bodyPr/>
        <a:lstStyle/>
        <a:p>
          <a:endParaRPr lang="en-US" sz="2000"/>
        </a:p>
      </dgm:t>
    </dgm:pt>
    <dgm:pt modelId="{61A6B72F-316A-5044-AF54-D609F3664448}" type="sibTrans" cxnId="{DC99A5C1-1BB7-D04E-83D6-12D76309C2EE}">
      <dgm:prSet/>
      <dgm:spPr/>
      <dgm:t>
        <a:bodyPr/>
        <a:lstStyle/>
        <a:p>
          <a:endParaRPr lang="en-US" sz="2000"/>
        </a:p>
      </dgm:t>
    </dgm:pt>
    <dgm:pt modelId="{64A7D007-1621-3649-BF10-BDC12A7EAADE}">
      <dgm:prSet phldrT="[Text]" custT="1"/>
      <dgm:spPr/>
      <dgm:t>
        <a:bodyPr/>
        <a:lstStyle/>
        <a:p>
          <a:r>
            <a:rPr lang="en-US" sz="2000" dirty="0"/>
            <a:t>RDF Representation</a:t>
          </a:r>
        </a:p>
      </dgm:t>
    </dgm:pt>
    <dgm:pt modelId="{07A73E52-78D6-C747-BC80-B0FFC79A31B9}" type="parTrans" cxnId="{618331D6-EF9B-394B-9741-E06DB32712EE}">
      <dgm:prSet/>
      <dgm:spPr/>
      <dgm:t>
        <a:bodyPr/>
        <a:lstStyle/>
        <a:p>
          <a:endParaRPr lang="en-US" sz="2000"/>
        </a:p>
      </dgm:t>
    </dgm:pt>
    <dgm:pt modelId="{EB5B224B-C5BC-E949-82A3-909D413971DF}" type="sibTrans" cxnId="{618331D6-EF9B-394B-9741-E06DB32712EE}">
      <dgm:prSet/>
      <dgm:spPr/>
      <dgm:t>
        <a:bodyPr/>
        <a:lstStyle/>
        <a:p>
          <a:endParaRPr lang="en-US" sz="2000"/>
        </a:p>
      </dgm:t>
    </dgm:pt>
    <dgm:pt modelId="{46487A05-A8FC-174C-9484-49D84A4FDF06}">
      <dgm:prSet phldrT="[Text]" custT="1"/>
      <dgm:spPr/>
      <dgm:t>
        <a:bodyPr/>
        <a:lstStyle/>
        <a:p>
          <a:r>
            <a:rPr lang="en-US" sz="2000" dirty="0" smtClean="0"/>
            <a:t>Data Discovery</a:t>
          </a:r>
          <a:endParaRPr lang="en-US" sz="2000" dirty="0"/>
        </a:p>
      </dgm:t>
    </dgm:pt>
    <dgm:pt modelId="{A5D1AEFB-56E4-2649-A3ED-850191B4E064}" type="parTrans" cxnId="{C45C4A18-E9A5-5E43-9D5F-A24AF1C81FE8}">
      <dgm:prSet/>
      <dgm:spPr/>
      <dgm:t>
        <a:bodyPr/>
        <a:lstStyle/>
        <a:p>
          <a:endParaRPr lang="en-US" sz="2000"/>
        </a:p>
      </dgm:t>
    </dgm:pt>
    <dgm:pt modelId="{4FDCC098-5413-674F-B9D7-FAFB633F0AF9}" type="sibTrans" cxnId="{C45C4A18-E9A5-5E43-9D5F-A24AF1C81FE8}">
      <dgm:prSet/>
      <dgm:spPr/>
      <dgm:t>
        <a:bodyPr/>
        <a:lstStyle/>
        <a:p>
          <a:endParaRPr lang="en-US" sz="2000"/>
        </a:p>
      </dgm:t>
    </dgm:pt>
    <dgm:pt modelId="{83396536-3076-9143-A2A9-9E8CB39F60E6}">
      <dgm:prSet phldrT="[Text]" custT="1"/>
      <dgm:spPr/>
      <dgm:t>
        <a:bodyPr/>
        <a:lstStyle/>
        <a:p>
          <a:r>
            <a:rPr lang="en-US" sz="2000"/>
            <a:t>XSD Schemas</a:t>
          </a:r>
        </a:p>
      </dgm:t>
    </dgm:pt>
    <dgm:pt modelId="{45862BEC-60D4-2044-92CF-C13967B8911E}" type="parTrans" cxnId="{CBE950F1-1EB1-2D4D-82D5-F9A09A2C1F57}">
      <dgm:prSet/>
      <dgm:spPr/>
      <dgm:t>
        <a:bodyPr/>
        <a:lstStyle/>
        <a:p>
          <a:endParaRPr lang="en-US" sz="2000"/>
        </a:p>
      </dgm:t>
    </dgm:pt>
    <dgm:pt modelId="{D2092B4E-7242-E749-A2FE-1D6F5A03E72D}" type="sibTrans" cxnId="{CBE950F1-1EB1-2D4D-82D5-F9A09A2C1F57}">
      <dgm:prSet/>
      <dgm:spPr/>
      <dgm:t>
        <a:bodyPr/>
        <a:lstStyle/>
        <a:p>
          <a:endParaRPr lang="en-US" sz="2000"/>
        </a:p>
      </dgm:t>
    </dgm:pt>
    <dgm:pt modelId="{B8808AF9-F226-9F42-80AE-75AFC3149849}" type="pres">
      <dgm:prSet presAssocID="{E86D312D-E985-8A45-9241-0B08EC1BA6FC}" presName="Name0" presStyleCnt="0">
        <dgm:presLayoutVars>
          <dgm:chMax val="7"/>
          <dgm:chPref val="5"/>
        </dgm:presLayoutVars>
      </dgm:prSet>
      <dgm:spPr/>
      <dgm:t>
        <a:bodyPr/>
        <a:lstStyle/>
        <a:p>
          <a:endParaRPr lang="en-US"/>
        </a:p>
      </dgm:t>
    </dgm:pt>
    <dgm:pt modelId="{509945ED-323C-134B-B389-C2BF9BF7DE9B}" type="pres">
      <dgm:prSet presAssocID="{E86D312D-E985-8A45-9241-0B08EC1BA6FC}" presName="arrowNode" presStyleLbl="node1" presStyleIdx="0" presStyleCnt="1"/>
      <dgm:spPr>
        <a:gradFill flip="none" rotWithShape="1">
          <a:gsLst>
            <a:gs pos="0">
              <a:schemeClr val="accent4">
                <a:lumMod val="40000"/>
                <a:lumOff val="60000"/>
              </a:schemeClr>
            </a:gs>
            <a:gs pos="100000">
              <a:schemeClr val="accent4">
                <a:lumMod val="75000"/>
              </a:schemeClr>
            </a:gs>
          </a:gsLst>
          <a:lin ang="0" scaled="0"/>
          <a:tileRect/>
        </a:gradFill>
      </dgm:spPr>
    </dgm:pt>
    <dgm:pt modelId="{CB5CD548-6604-044F-8A83-A0CE73F19AF9}" type="pres">
      <dgm:prSet presAssocID="{563BA9F3-13F9-EC4C-9511-3FE4C323D0A6}" presName="txNode1" presStyleLbl="revTx" presStyleIdx="0" presStyleCnt="7" custLinFactNeighborX="-3613">
        <dgm:presLayoutVars>
          <dgm:bulletEnabled val="1"/>
        </dgm:presLayoutVars>
      </dgm:prSet>
      <dgm:spPr/>
      <dgm:t>
        <a:bodyPr/>
        <a:lstStyle/>
        <a:p>
          <a:endParaRPr lang="en-US"/>
        </a:p>
      </dgm:t>
    </dgm:pt>
    <dgm:pt modelId="{A1B5783A-9585-6C42-A391-B7ABAFA0D6D7}" type="pres">
      <dgm:prSet presAssocID="{73902E46-08D1-6E4C-A9A5-8C4A2015033C}" presName="txNode2" presStyleLbl="revTx" presStyleIdx="1" presStyleCnt="7" custLinFactNeighborX="-5768" custLinFactNeighborY="-10744">
        <dgm:presLayoutVars>
          <dgm:bulletEnabled val="1"/>
        </dgm:presLayoutVars>
      </dgm:prSet>
      <dgm:spPr/>
      <dgm:t>
        <a:bodyPr/>
        <a:lstStyle/>
        <a:p>
          <a:endParaRPr lang="en-US"/>
        </a:p>
      </dgm:t>
    </dgm:pt>
    <dgm:pt modelId="{565E3BAF-E155-3041-A653-03DA86ABBD6F}" type="pres">
      <dgm:prSet presAssocID="{2BE82464-7526-5443-8594-16EB7681A5AC}" presName="dotNode2" presStyleCnt="0"/>
      <dgm:spPr/>
    </dgm:pt>
    <dgm:pt modelId="{7E0FE3AB-D538-DF4A-B297-564EA662896A}" type="pres">
      <dgm:prSet presAssocID="{2BE82464-7526-5443-8594-16EB7681A5AC}" presName="dotRepeatNode" presStyleLbl="fgShp" presStyleIdx="0" presStyleCnt="5"/>
      <dgm:spPr/>
      <dgm:t>
        <a:bodyPr/>
        <a:lstStyle/>
        <a:p>
          <a:endParaRPr lang="en-US"/>
        </a:p>
      </dgm:t>
    </dgm:pt>
    <dgm:pt modelId="{CF8550DB-ADD0-FD41-B3E0-E33D8C6EFDDF}" type="pres">
      <dgm:prSet presAssocID="{83396536-3076-9143-A2A9-9E8CB39F60E6}" presName="txNode3" presStyleLbl="revTx" presStyleIdx="2" presStyleCnt="7" custScaleX="124281" custLinFactNeighborX="-19" custLinFactNeighborY="14105">
        <dgm:presLayoutVars>
          <dgm:bulletEnabled val="1"/>
        </dgm:presLayoutVars>
      </dgm:prSet>
      <dgm:spPr/>
      <dgm:t>
        <a:bodyPr/>
        <a:lstStyle/>
        <a:p>
          <a:endParaRPr lang="en-US"/>
        </a:p>
      </dgm:t>
    </dgm:pt>
    <dgm:pt modelId="{D9775ABC-1C20-6046-84E5-26BB8F0DD6CE}" type="pres">
      <dgm:prSet presAssocID="{D2092B4E-7242-E749-A2FE-1D6F5A03E72D}" presName="dotNode3" presStyleCnt="0"/>
      <dgm:spPr/>
    </dgm:pt>
    <dgm:pt modelId="{1FD3E498-8111-E341-A6C4-3372C0251EAB}" type="pres">
      <dgm:prSet presAssocID="{D2092B4E-7242-E749-A2FE-1D6F5A03E72D}" presName="dotRepeatNode" presStyleLbl="fgShp" presStyleIdx="1" presStyleCnt="5"/>
      <dgm:spPr/>
      <dgm:t>
        <a:bodyPr/>
        <a:lstStyle/>
        <a:p>
          <a:endParaRPr lang="en-US"/>
        </a:p>
      </dgm:t>
    </dgm:pt>
    <dgm:pt modelId="{0F8E27FF-2CDA-AA4A-BBBA-F21455D56E1E}" type="pres">
      <dgm:prSet presAssocID="{7F0D5997-5837-FF4A-ADFB-936A4F065794}" presName="txNode4" presStyleLbl="revTx" presStyleIdx="3" presStyleCnt="7" custLinFactNeighborX="-5112" custLinFactNeighborY="-8530">
        <dgm:presLayoutVars>
          <dgm:bulletEnabled val="1"/>
        </dgm:presLayoutVars>
      </dgm:prSet>
      <dgm:spPr/>
      <dgm:t>
        <a:bodyPr/>
        <a:lstStyle/>
        <a:p>
          <a:endParaRPr lang="en-US"/>
        </a:p>
      </dgm:t>
    </dgm:pt>
    <dgm:pt modelId="{51CE7B52-7B09-4243-B21B-14944AC654DA}" type="pres">
      <dgm:prSet presAssocID="{61BAB4A3-31F8-D746-BBFC-45EA845E7C93}" presName="dotNode4" presStyleCnt="0"/>
      <dgm:spPr/>
    </dgm:pt>
    <dgm:pt modelId="{FA9481CC-069E-764C-964E-4E47EFD4B600}" type="pres">
      <dgm:prSet presAssocID="{61BAB4A3-31F8-D746-BBFC-45EA845E7C93}" presName="dotRepeatNode" presStyleLbl="fgShp" presStyleIdx="2" presStyleCnt="5"/>
      <dgm:spPr/>
      <dgm:t>
        <a:bodyPr/>
        <a:lstStyle/>
        <a:p>
          <a:endParaRPr lang="en-US"/>
        </a:p>
      </dgm:t>
    </dgm:pt>
    <dgm:pt modelId="{731395C2-89E3-5541-BC78-27355BE8B888}" type="pres">
      <dgm:prSet presAssocID="{8D607C98-ABA5-D442-9E87-8DF8DD893162}" presName="txNode5" presStyleLbl="revTx" presStyleIdx="4" presStyleCnt="7" custLinFactNeighborY="2209">
        <dgm:presLayoutVars>
          <dgm:bulletEnabled val="1"/>
        </dgm:presLayoutVars>
      </dgm:prSet>
      <dgm:spPr/>
      <dgm:t>
        <a:bodyPr/>
        <a:lstStyle/>
        <a:p>
          <a:endParaRPr lang="en-US"/>
        </a:p>
      </dgm:t>
    </dgm:pt>
    <dgm:pt modelId="{E3A31E69-9DB2-A941-8E4A-076F1546FF48}" type="pres">
      <dgm:prSet presAssocID="{61A6B72F-316A-5044-AF54-D609F3664448}" presName="dotNode5" presStyleCnt="0"/>
      <dgm:spPr/>
    </dgm:pt>
    <dgm:pt modelId="{F5A073BF-7DC6-4440-B7BC-D443317AD200}" type="pres">
      <dgm:prSet presAssocID="{61A6B72F-316A-5044-AF54-D609F3664448}" presName="dotRepeatNode" presStyleLbl="fgShp" presStyleIdx="3" presStyleCnt="5"/>
      <dgm:spPr/>
      <dgm:t>
        <a:bodyPr/>
        <a:lstStyle/>
        <a:p>
          <a:endParaRPr lang="en-US"/>
        </a:p>
      </dgm:t>
    </dgm:pt>
    <dgm:pt modelId="{BAAA3380-C0FF-634B-8264-29F55DAEE1C7}" type="pres">
      <dgm:prSet presAssocID="{64A7D007-1621-3649-BF10-BDC12A7EAADE}" presName="txNode6" presStyleLbl="revTx" presStyleIdx="5" presStyleCnt="7" custScaleX="134510" custLinFactNeighborX="12063" custLinFactNeighborY="-36663">
        <dgm:presLayoutVars>
          <dgm:bulletEnabled val="1"/>
        </dgm:presLayoutVars>
      </dgm:prSet>
      <dgm:spPr/>
      <dgm:t>
        <a:bodyPr/>
        <a:lstStyle/>
        <a:p>
          <a:endParaRPr lang="en-US"/>
        </a:p>
      </dgm:t>
    </dgm:pt>
    <dgm:pt modelId="{E59E9D07-48D3-0748-A454-48E0784094A4}" type="pres">
      <dgm:prSet presAssocID="{EB5B224B-C5BC-E949-82A3-909D413971DF}" presName="dotNode6" presStyleCnt="0"/>
      <dgm:spPr/>
    </dgm:pt>
    <dgm:pt modelId="{073B20B6-C2DC-D34F-9D1A-3133C7410359}" type="pres">
      <dgm:prSet presAssocID="{EB5B224B-C5BC-E949-82A3-909D413971DF}" presName="dotRepeatNode" presStyleLbl="fgShp" presStyleIdx="4" presStyleCnt="5"/>
      <dgm:spPr/>
      <dgm:t>
        <a:bodyPr/>
        <a:lstStyle/>
        <a:p>
          <a:endParaRPr lang="en-US"/>
        </a:p>
      </dgm:t>
    </dgm:pt>
    <dgm:pt modelId="{0F6D06C4-E3D6-9248-8DA2-6F9C34AFEAFE}" type="pres">
      <dgm:prSet presAssocID="{46487A05-A8FC-174C-9484-49D84A4FDF06}" presName="txNode7" presStyleLbl="revTx" presStyleIdx="6" presStyleCnt="7" custScaleY="53828">
        <dgm:presLayoutVars>
          <dgm:bulletEnabled val="1"/>
        </dgm:presLayoutVars>
      </dgm:prSet>
      <dgm:spPr/>
      <dgm:t>
        <a:bodyPr/>
        <a:lstStyle/>
        <a:p>
          <a:endParaRPr lang="en-US"/>
        </a:p>
      </dgm:t>
    </dgm:pt>
  </dgm:ptLst>
  <dgm:cxnLst>
    <dgm:cxn modelId="{DC99A5C1-1BB7-D04E-83D6-12D76309C2EE}" srcId="{E86D312D-E985-8A45-9241-0B08EC1BA6FC}" destId="{8D607C98-ABA5-D442-9E87-8DF8DD893162}" srcOrd="4" destOrd="0" parTransId="{E341BF7E-CBA3-9147-A959-ADD3FDA3745C}" sibTransId="{61A6B72F-316A-5044-AF54-D609F3664448}"/>
    <dgm:cxn modelId="{C276F1EB-0C36-E94E-90AA-4566584C10F4}" type="presOf" srcId="{8D607C98-ABA5-D442-9E87-8DF8DD893162}" destId="{731395C2-89E3-5541-BC78-27355BE8B888}" srcOrd="0" destOrd="0" presId="urn:microsoft.com/office/officeart/2009/3/layout/DescendingProcess"/>
    <dgm:cxn modelId="{AB086D8F-A103-2D44-AFCF-A78515123889}" type="presOf" srcId="{EB5B224B-C5BC-E949-82A3-909D413971DF}" destId="{073B20B6-C2DC-D34F-9D1A-3133C7410359}" srcOrd="0" destOrd="0" presId="urn:microsoft.com/office/officeart/2009/3/layout/DescendingProcess"/>
    <dgm:cxn modelId="{C45C4A18-E9A5-5E43-9D5F-A24AF1C81FE8}" srcId="{E86D312D-E985-8A45-9241-0B08EC1BA6FC}" destId="{46487A05-A8FC-174C-9484-49D84A4FDF06}" srcOrd="6" destOrd="0" parTransId="{A5D1AEFB-56E4-2649-A3ED-850191B4E064}" sibTransId="{4FDCC098-5413-674F-B9D7-FAFB633F0AF9}"/>
    <dgm:cxn modelId="{160C0034-66A5-C84D-8698-966DAFCFD831}" type="presOf" srcId="{D2092B4E-7242-E749-A2FE-1D6F5A03E72D}" destId="{1FD3E498-8111-E341-A6C4-3372C0251EAB}" srcOrd="0" destOrd="0" presId="urn:microsoft.com/office/officeart/2009/3/layout/DescendingProcess"/>
    <dgm:cxn modelId="{C8A0F480-75EE-3B4C-A592-7DF832252CFF}" type="presOf" srcId="{7F0D5997-5837-FF4A-ADFB-936A4F065794}" destId="{0F8E27FF-2CDA-AA4A-BBBA-F21455D56E1E}" srcOrd="0" destOrd="0" presId="urn:microsoft.com/office/officeart/2009/3/layout/DescendingProcess"/>
    <dgm:cxn modelId="{D0CAEB87-B35A-514F-B379-D42BBD900CB6}" srcId="{E86D312D-E985-8A45-9241-0B08EC1BA6FC}" destId="{563BA9F3-13F9-EC4C-9511-3FE4C323D0A6}" srcOrd="0" destOrd="0" parTransId="{3BB73CBE-69B1-0D4C-BCED-CF0F38E9F1B0}" sibTransId="{8E92886C-5A76-2B46-9FFF-5C5E757AF0C7}"/>
    <dgm:cxn modelId="{CB1EF472-4151-3549-8E24-DF37E3A7F9D1}" type="presOf" srcId="{46487A05-A8FC-174C-9484-49D84A4FDF06}" destId="{0F6D06C4-E3D6-9248-8DA2-6F9C34AFEAFE}" srcOrd="0" destOrd="0" presId="urn:microsoft.com/office/officeart/2009/3/layout/DescendingProcess"/>
    <dgm:cxn modelId="{F8ACF9AF-E707-CD46-A782-EFD6720EDD0F}" srcId="{E86D312D-E985-8A45-9241-0B08EC1BA6FC}" destId="{73902E46-08D1-6E4C-A9A5-8C4A2015033C}" srcOrd="1" destOrd="0" parTransId="{F6811F04-BADB-2B4C-B1A2-4FEF5DAF9E4B}" sibTransId="{2BE82464-7526-5443-8594-16EB7681A5AC}"/>
    <dgm:cxn modelId="{3409657C-F185-034D-A441-1BE71E6A3ABD}" type="presOf" srcId="{61A6B72F-316A-5044-AF54-D609F3664448}" destId="{F5A073BF-7DC6-4440-B7BC-D443317AD200}" srcOrd="0" destOrd="0" presId="urn:microsoft.com/office/officeart/2009/3/layout/DescendingProcess"/>
    <dgm:cxn modelId="{54FA0351-BCD9-7341-B99D-F96C3E16A7A9}" type="presOf" srcId="{64A7D007-1621-3649-BF10-BDC12A7EAADE}" destId="{BAAA3380-C0FF-634B-8264-29F55DAEE1C7}" srcOrd="0" destOrd="0" presId="urn:microsoft.com/office/officeart/2009/3/layout/DescendingProcess"/>
    <dgm:cxn modelId="{CC67328B-B5DD-354F-AA7C-D54A5919AAC5}" type="presOf" srcId="{61BAB4A3-31F8-D746-BBFC-45EA845E7C93}" destId="{FA9481CC-069E-764C-964E-4E47EFD4B600}" srcOrd="0" destOrd="0" presId="urn:microsoft.com/office/officeart/2009/3/layout/DescendingProcess"/>
    <dgm:cxn modelId="{43C8B451-410A-3447-9D00-4F449243A1C2}" type="presOf" srcId="{2BE82464-7526-5443-8594-16EB7681A5AC}" destId="{7E0FE3AB-D538-DF4A-B297-564EA662896A}" srcOrd="0" destOrd="0" presId="urn:microsoft.com/office/officeart/2009/3/layout/DescendingProcess"/>
    <dgm:cxn modelId="{E4151E70-5D5D-F04C-8464-5F731F8EC1CF}" type="presOf" srcId="{73902E46-08D1-6E4C-A9A5-8C4A2015033C}" destId="{A1B5783A-9585-6C42-A391-B7ABAFA0D6D7}" srcOrd="0" destOrd="0" presId="urn:microsoft.com/office/officeart/2009/3/layout/DescendingProcess"/>
    <dgm:cxn modelId="{A536F3F6-7CF7-A944-9E52-036D9E99F4B4}" type="presOf" srcId="{E86D312D-E985-8A45-9241-0B08EC1BA6FC}" destId="{B8808AF9-F226-9F42-80AE-75AFC3149849}" srcOrd="0" destOrd="0" presId="urn:microsoft.com/office/officeart/2009/3/layout/DescendingProcess"/>
    <dgm:cxn modelId="{CBE950F1-1EB1-2D4D-82D5-F9A09A2C1F57}" srcId="{E86D312D-E985-8A45-9241-0B08EC1BA6FC}" destId="{83396536-3076-9143-A2A9-9E8CB39F60E6}" srcOrd="2" destOrd="0" parTransId="{45862BEC-60D4-2044-92CF-C13967B8911E}" sibTransId="{D2092B4E-7242-E749-A2FE-1D6F5A03E72D}"/>
    <dgm:cxn modelId="{618331D6-EF9B-394B-9741-E06DB32712EE}" srcId="{E86D312D-E985-8A45-9241-0B08EC1BA6FC}" destId="{64A7D007-1621-3649-BF10-BDC12A7EAADE}" srcOrd="5" destOrd="0" parTransId="{07A73E52-78D6-C747-BC80-B0FFC79A31B9}" sibTransId="{EB5B224B-C5BC-E949-82A3-909D413971DF}"/>
    <dgm:cxn modelId="{9B6D215A-6866-124A-9E83-E574CC4519FD}" srcId="{E86D312D-E985-8A45-9241-0B08EC1BA6FC}" destId="{7F0D5997-5837-FF4A-ADFB-936A4F065794}" srcOrd="3" destOrd="0" parTransId="{06F4ABB5-5F2C-6D41-8C95-4E1F6D4424BF}" sibTransId="{61BAB4A3-31F8-D746-BBFC-45EA845E7C93}"/>
    <dgm:cxn modelId="{9983BDA9-9C20-6043-8E5A-D1169306E0AD}" type="presOf" srcId="{563BA9F3-13F9-EC4C-9511-3FE4C323D0A6}" destId="{CB5CD548-6604-044F-8A83-A0CE73F19AF9}" srcOrd="0" destOrd="0" presId="urn:microsoft.com/office/officeart/2009/3/layout/DescendingProcess"/>
    <dgm:cxn modelId="{B5BD59DC-70A7-F449-B968-338506E5A958}" type="presOf" srcId="{83396536-3076-9143-A2A9-9E8CB39F60E6}" destId="{CF8550DB-ADD0-FD41-B3E0-E33D8C6EFDDF}" srcOrd="0" destOrd="0" presId="urn:microsoft.com/office/officeart/2009/3/layout/DescendingProcess"/>
    <dgm:cxn modelId="{6CAD4108-99CC-814E-9A0E-397D806FC3DE}" type="presParOf" srcId="{B8808AF9-F226-9F42-80AE-75AFC3149849}" destId="{509945ED-323C-134B-B389-C2BF9BF7DE9B}" srcOrd="0" destOrd="0" presId="urn:microsoft.com/office/officeart/2009/3/layout/DescendingProcess"/>
    <dgm:cxn modelId="{9F66647E-C5FD-F34C-8D16-DAF3C66F321D}" type="presParOf" srcId="{B8808AF9-F226-9F42-80AE-75AFC3149849}" destId="{CB5CD548-6604-044F-8A83-A0CE73F19AF9}" srcOrd="1" destOrd="0" presId="urn:microsoft.com/office/officeart/2009/3/layout/DescendingProcess"/>
    <dgm:cxn modelId="{04ECE29D-200C-0F49-B62E-AB2D46DFC2BC}" type="presParOf" srcId="{B8808AF9-F226-9F42-80AE-75AFC3149849}" destId="{A1B5783A-9585-6C42-A391-B7ABAFA0D6D7}" srcOrd="2" destOrd="0" presId="urn:microsoft.com/office/officeart/2009/3/layout/DescendingProcess"/>
    <dgm:cxn modelId="{7CE35529-5088-1C49-BD3F-E4ED680B151D}" type="presParOf" srcId="{B8808AF9-F226-9F42-80AE-75AFC3149849}" destId="{565E3BAF-E155-3041-A653-03DA86ABBD6F}" srcOrd="3" destOrd="0" presId="urn:microsoft.com/office/officeart/2009/3/layout/DescendingProcess"/>
    <dgm:cxn modelId="{2597D7FC-B969-9C47-A8C7-FE338F25CB65}" type="presParOf" srcId="{565E3BAF-E155-3041-A653-03DA86ABBD6F}" destId="{7E0FE3AB-D538-DF4A-B297-564EA662896A}" srcOrd="0" destOrd="0" presId="urn:microsoft.com/office/officeart/2009/3/layout/DescendingProcess"/>
    <dgm:cxn modelId="{4047CA5D-7E62-E445-B2B5-C16891303023}" type="presParOf" srcId="{B8808AF9-F226-9F42-80AE-75AFC3149849}" destId="{CF8550DB-ADD0-FD41-B3E0-E33D8C6EFDDF}" srcOrd="4" destOrd="0" presId="urn:microsoft.com/office/officeart/2009/3/layout/DescendingProcess"/>
    <dgm:cxn modelId="{712C7F88-1546-0B46-8E79-FC03255F2199}" type="presParOf" srcId="{B8808AF9-F226-9F42-80AE-75AFC3149849}" destId="{D9775ABC-1C20-6046-84E5-26BB8F0DD6CE}" srcOrd="5" destOrd="0" presId="urn:microsoft.com/office/officeart/2009/3/layout/DescendingProcess"/>
    <dgm:cxn modelId="{21A36DE7-1463-FC49-9CDE-F6AA0AC16825}" type="presParOf" srcId="{D9775ABC-1C20-6046-84E5-26BB8F0DD6CE}" destId="{1FD3E498-8111-E341-A6C4-3372C0251EAB}" srcOrd="0" destOrd="0" presId="urn:microsoft.com/office/officeart/2009/3/layout/DescendingProcess"/>
    <dgm:cxn modelId="{B7044A2B-B6A6-684E-BDD2-66D6D44B6208}" type="presParOf" srcId="{B8808AF9-F226-9F42-80AE-75AFC3149849}" destId="{0F8E27FF-2CDA-AA4A-BBBA-F21455D56E1E}" srcOrd="6" destOrd="0" presId="urn:microsoft.com/office/officeart/2009/3/layout/DescendingProcess"/>
    <dgm:cxn modelId="{FD9A3537-B096-D64F-B64B-BC1225F8DB7D}" type="presParOf" srcId="{B8808AF9-F226-9F42-80AE-75AFC3149849}" destId="{51CE7B52-7B09-4243-B21B-14944AC654DA}" srcOrd="7" destOrd="0" presId="urn:microsoft.com/office/officeart/2009/3/layout/DescendingProcess"/>
    <dgm:cxn modelId="{2B3CDAE8-FEAA-4A40-BBBA-CDB6CFDFE093}" type="presParOf" srcId="{51CE7B52-7B09-4243-B21B-14944AC654DA}" destId="{FA9481CC-069E-764C-964E-4E47EFD4B600}" srcOrd="0" destOrd="0" presId="urn:microsoft.com/office/officeart/2009/3/layout/DescendingProcess"/>
    <dgm:cxn modelId="{A192679C-D86C-D441-A840-216D948BCF2D}" type="presParOf" srcId="{B8808AF9-F226-9F42-80AE-75AFC3149849}" destId="{731395C2-89E3-5541-BC78-27355BE8B888}" srcOrd="8" destOrd="0" presId="urn:microsoft.com/office/officeart/2009/3/layout/DescendingProcess"/>
    <dgm:cxn modelId="{DF3EAC63-776D-9540-8436-63D3DC55C7D6}" type="presParOf" srcId="{B8808AF9-F226-9F42-80AE-75AFC3149849}" destId="{E3A31E69-9DB2-A941-8E4A-076F1546FF48}" srcOrd="9" destOrd="0" presId="urn:microsoft.com/office/officeart/2009/3/layout/DescendingProcess"/>
    <dgm:cxn modelId="{B84A2E32-9CCE-0A4A-919F-0F549315ABC0}" type="presParOf" srcId="{E3A31E69-9DB2-A941-8E4A-076F1546FF48}" destId="{F5A073BF-7DC6-4440-B7BC-D443317AD200}" srcOrd="0" destOrd="0" presId="urn:microsoft.com/office/officeart/2009/3/layout/DescendingProcess"/>
    <dgm:cxn modelId="{5C0FEE61-448C-6741-91E9-C991FFA09F27}" type="presParOf" srcId="{B8808AF9-F226-9F42-80AE-75AFC3149849}" destId="{BAAA3380-C0FF-634B-8264-29F55DAEE1C7}" srcOrd="10" destOrd="0" presId="urn:microsoft.com/office/officeart/2009/3/layout/DescendingProcess"/>
    <dgm:cxn modelId="{77422721-D726-5F47-A7B4-FDFC73724D87}" type="presParOf" srcId="{B8808AF9-F226-9F42-80AE-75AFC3149849}" destId="{E59E9D07-48D3-0748-A454-48E0784094A4}" srcOrd="11" destOrd="0" presId="urn:microsoft.com/office/officeart/2009/3/layout/DescendingProcess"/>
    <dgm:cxn modelId="{AF099C4F-0842-4B4A-A763-151443770C96}" type="presParOf" srcId="{E59E9D07-48D3-0748-A454-48E0784094A4}" destId="{073B20B6-C2DC-D34F-9D1A-3133C7410359}" srcOrd="0" destOrd="0" presId="urn:microsoft.com/office/officeart/2009/3/layout/DescendingProcess"/>
    <dgm:cxn modelId="{D62A6181-255E-A249-9DC5-ADDA4A396B1F}" type="presParOf" srcId="{B8808AF9-F226-9F42-80AE-75AFC3149849}" destId="{0F6D06C4-E3D6-9248-8DA2-6F9C34AFEAFE}" srcOrd="12" destOrd="0" presId="urn:microsoft.com/office/officeart/2009/3/layout/DescendingProcess"/>
  </dgm:cxnLst>
  <dgm:bg>
    <a:effectLst>
      <a:outerShdw blurRad="101600" dist="88900" dir="2700000" algn="tl" rotWithShape="0">
        <a:srgbClr val="000000">
          <a:alpha val="75000"/>
        </a:srgbClr>
      </a:outerShdw>
    </a:effectLst>
  </dgm:bg>
  <dgm:whole>
    <a:ln w="38100" cap="sq" cmpd="sng" algn="ctr">
      <a:solidFill>
        <a:schemeClr val="accent4">
          <a:lumMod val="60000"/>
          <a:lumOff val="40000"/>
        </a:schemeClr>
      </a:solid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6D312D-E985-8A45-9241-0B08EC1BA6FC}" type="doc">
      <dgm:prSet loTypeId="urn:microsoft.com/office/officeart/2009/3/layout/DescendingProcess" loCatId="" qsTypeId="urn:microsoft.com/office/officeart/2005/8/quickstyle/simple4" qsCatId="simple" csTypeId="urn:microsoft.com/office/officeart/2005/8/colors/colorful2" csCatId="colorful" phldr="1"/>
      <dgm:spPr/>
      <dgm:t>
        <a:bodyPr/>
        <a:lstStyle/>
        <a:p>
          <a:endParaRPr lang="en-US"/>
        </a:p>
      </dgm:t>
    </dgm:pt>
    <dgm:pt modelId="{563BA9F3-13F9-EC4C-9511-3FE4C323D0A6}">
      <dgm:prSet phldrT="[Text]" custT="1"/>
      <dgm:spPr/>
      <dgm:t>
        <a:bodyPr/>
        <a:lstStyle/>
        <a:p>
          <a:r>
            <a:rPr lang="en-US" sz="1600" dirty="0"/>
            <a:t>Simple Model</a:t>
          </a:r>
        </a:p>
      </dgm:t>
    </dgm:pt>
    <dgm:pt modelId="{3BB73CBE-69B1-0D4C-BCED-CF0F38E9F1B0}" type="parTrans" cxnId="{D0CAEB87-B35A-514F-B379-D42BBD900CB6}">
      <dgm:prSet/>
      <dgm:spPr/>
      <dgm:t>
        <a:bodyPr/>
        <a:lstStyle/>
        <a:p>
          <a:endParaRPr lang="en-US" sz="1600"/>
        </a:p>
      </dgm:t>
    </dgm:pt>
    <dgm:pt modelId="{8E92886C-5A76-2B46-9FFF-5C5E757AF0C7}" type="sibTrans" cxnId="{D0CAEB87-B35A-514F-B379-D42BBD900CB6}">
      <dgm:prSet/>
      <dgm:spPr/>
      <dgm:t>
        <a:bodyPr/>
        <a:lstStyle/>
        <a:p>
          <a:endParaRPr lang="en-US" sz="1600"/>
        </a:p>
      </dgm:t>
    </dgm:pt>
    <dgm:pt modelId="{73902E46-08D1-6E4C-A9A5-8C4A2015033C}">
      <dgm:prSet phldrT="[Text]" custT="1"/>
      <dgm:spPr/>
      <dgm:t>
        <a:bodyPr/>
        <a:lstStyle/>
        <a:p>
          <a:r>
            <a:rPr lang="en-US" sz="1600" dirty="0"/>
            <a:t>Advanced Model</a:t>
          </a:r>
        </a:p>
      </dgm:t>
    </dgm:pt>
    <dgm:pt modelId="{F6811F04-BADB-2B4C-B1A2-4FEF5DAF9E4B}" type="parTrans" cxnId="{F8ACF9AF-E707-CD46-A782-EFD6720EDD0F}">
      <dgm:prSet/>
      <dgm:spPr/>
      <dgm:t>
        <a:bodyPr/>
        <a:lstStyle/>
        <a:p>
          <a:endParaRPr lang="en-US" sz="1600"/>
        </a:p>
      </dgm:t>
    </dgm:pt>
    <dgm:pt modelId="{2BE82464-7526-5443-8594-16EB7681A5AC}" type="sibTrans" cxnId="{F8ACF9AF-E707-CD46-A782-EFD6720EDD0F}">
      <dgm:prSet/>
      <dgm:spPr/>
      <dgm:t>
        <a:bodyPr/>
        <a:lstStyle/>
        <a:p>
          <a:endParaRPr lang="en-US" sz="1600"/>
        </a:p>
      </dgm:t>
    </dgm:pt>
    <dgm:pt modelId="{7F0D5997-5837-FF4A-ADFB-936A4F065794}">
      <dgm:prSet phldrT="[Text]" custT="1"/>
      <dgm:spPr/>
      <dgm:t>
        <a:bodyPr/>
        <a:lstStyle/>
        <a:p>
          <a:r>
            <a:rPr lang="en-US" sz="1600" dirty="0"/>
            <a:t>OWL </a:t>
          </a:r>
          <a:r>
            <a:rPr lang="en-US" sz="1600" dirty="0" smtClean="0"/>
            <a:t>(Derived)</a:t>
          </a:r>
          <a:endParaRPr lang="en-US" sz="1600" dirty="0"/>
        </a:p>
      </dgm:t>
    </dgm:pt>
    <dgm:pt modelId="{06F4ABB5-5F2C-6D41-8C95-4E1F6D4424BF}" type="parTrans" cxnId="{9B6D215A-6866-124A-9E83-E574CC4519FD}">
      <dgm:prSet/>
      <dgm:spPr/>
      <dgm:t>
        <a:bodyPr/>
        <a:lstStyle/>
        <a:p>
          <a:endParaRPr lang="en-US" sz="1600"/>
        </a:p>
      </dgm:t>
    </dgm:pt>
    <dgm:pt modelId="{61BAB4A3-31F8-D746-BBFC-45EA845E7C93}" type="sibTrans" cxnId="{9B6D215A-6866-124A-9E83-E574CC4519FD}">
      <dgm:prSet/>
      <dgm:spPr/>
      <dgm:t>
        <a:bodyPr/>
        <a:lstStyle/>
        <a:p>
          <a:endParaRPr lang="en-US" sz="1600"/>
        </a:p>
      </dgm:t>
    </dgm:pt>
    <dgm:pt modelId="{8D607C98-ABA5-D442-9E87-8DF8DD893162}">
      <dgm:prSet phldrT="[Text]" custT="1"/>
      <dgm:spPr/>
      <dgm:t>
        <a:bodyPr/>
        <a:lstStyle/>
        <a:p>
          <a:r>
            <a:rPr lang="en-US" sz="1600" dirty="0"/>
            <a:t>OWL </a:t>
          </a:r>
          <a:r>
            <a:rPr lang="en-US" sz="1600" dirty="0" smtClean="0"/>
            <a:t>(Extended)</a:t>
          </a:r>
          <a:endParaRPr lang="en-US" sz="1600" dirty="0"/>
        </a:p>
      </dgm:t>
    </dgm:pt>
    <dgm:pt modelId="{E341BF7E-CBA3-9147-A959-ADD3FDA3745C}" type="parTrans" cxnId="{DC99A5C1-1BB7-D04E-83D6-12D76309C2EE}">
      <dgm:prSet/>
      <dgm:spPr/>
      <dgm:t>
        <a:bodyPr/>
        <a:lstStyle/>
        <a:p>
          <a:endParaRPr lang="en-US" sz="1600"/>
        </a:p>
      </dgm:t>
    </dgm:pt>
    <dgm:pt modelId="{61A6B72F-316A-5044-AF54-D609F3664448}" type="sibTrans" cxnId="{DC99A5C1-1BB7-D04E-83D6-12D76309C2EE}">
      <dgm:prSet/>
      <dgm:spPr/>
      <dgm:t>
        <a:bodyPr/>
        <a:lstStyle/>
        <a:p>
          <a:endParaRPr lang="en-US" sz="1600"/>
        </a:p>
      </dgm:t>
    </dgm:pt>
    <dgm:pt modelId="{64A7D007-1621-3649-BF10-BDC12A7EAADE}">
      <dgm:prSet phldrT="[Text]" custT="1"/>
      <dgm:spPr/>
      <dgm:t>
        <a:bodyPr/>
        <a:lstStyle/>
        <a:p>
          <a:r>
            <a:rPr lang="en-US" sz="1600" dirty="0"/>
            <a:t>RDF </a:t>
          </a:r>
          <a:r>
            <a:rPr lang="en-US" sz="1600" dirty="0" smtClean="0"/>
            <a:t/>
          </a:r>
          <a:br>
            <a:rPr lang="en-US" sz="1600" dirty="0" smtClean="0"/>
          </a:br>
          <a:r>
            <a:rPr lang="en-US" sz="1600" dirty="0" smtClean="0"/>
            <a:t>Representation</a:t>
          </a:r>
          <a:endParaRPr lang="en-US" sz="1600" dirty="0"/>
        </a:p>
      </dgm:t>
    </dgm:pt>
    <dgm:pt modelId="{07A73E52-78D6-C747-BC80-B0FFC79A31B9}" type="parTrans" cxnId="{618331D6-EF9B-394B-9741-E06DB32712EE}">
      <dgm:prSet/>
      <dgm:spPr/>
      <dgm:t>
        <a:bodyPr/>
        <a:lstStyle/>
        <a:p>
          <a:endParaRPr lang="en-US" sz="1600"/>
        </a:p>
      </dgm:t>
    </dgm:pt>
    <dgm:pt modelId="{EB5B224B-C5BC-E949-82A3-909D413971DF}" type="sibTrans" cxnId="{618331D6-EF9B-394B-9741-E06DB32712EE}">
      <dgm:prSet/>
      <dgm:spPr/>
      <dgm:t>
        <a:bodyPr/>
        <a:lstStyle/>
        <a:p>
          <a:endParaRPr lang="en-US" sz="1600"/>
        </a:p>
      </dgm:t>
    </dgm:pt>
    <dgm:pt modelId="{46487A05-A8FC-174C-9484-49D84A4FDF06}">
      <dgm:prSet phldrT="[Text]" custT="1"/>
      <dgm:spPr/>
      <dgm:t>
        <a:bodyPr/>
        <a:lstStyle/>
        <a:p>
          <a:r>
            <a:rPr lang="en-US" sz="1600" dirty="0" smtClean="0"/>
            <a:t>Data Discovery</a:t>
          </a:r>
          <a:endParaRPr lang="en-US" sz="1600" dirty="0"/>
        </a:p>
      </dgm:t>
    </dgm:pt>
    <dgm:pt modelId="{A5D1AEFB-56E4-2649-A3ED-850191B4E064}" type="parTrans" cxnId="{C45C4A18-E9A5-5E43-9D5F-A24AF1C81FE8}">
      <dgm:prSet/>
      <dgm:spPr/>
      <dgm:t>
        <a:bodyPr/>
        <a:lstStyle/>
        <a:p>
          <a:endParaRPr lang="en-US" sz="1600"/>
        </a:p>
      </dgm:t>
    </dgm:pt>
    <dgm:pt modelId="{4FDCC098-5413-674F-B9D7-FAFB633F0AF9}" type="sibTrans" cxnId="{C45C4A18-E9A5-5E43-9D5F-A24AF1C81FE8}">
      <dgm:prSet/>
      <dgm:spPr/>
      <dgm:t>
        <a:bodyPr/>
        <a:lstStyle/>
        <a:p>
          <a:endParaRPr lang="en-US" sz="1600"/>
        </a:p>
      </dgm:t>
    </dgm:pt>
    <dgm:pt modelId="{83396536-3076-9143-A2A9-9E8CB39F60E6}">
      <dgm:prSet phldrT="[Text]" custT="1"/>
      <dgm:spPr/>
      <dgm:t>
        <a:bodyPr/>
        <a:lstStyle/>
        <a:p>
          <a:r>
            <a:rPr lang="en-US" sz="1600"/>
            <a:t>XSD Schemas</a:t>
          </a:r>
        </a:p>
      </dgm:t>
    </dgm:pt>
    <dgm:pt modelId="{45862BEC-60D4-2044-92CF-C13967B8911E}" type="parTrans" cxnId="{CBE950F1-1EB1-2D4D-82D5-F9A09A2C1F57}">
      <dgm:prSet/>
      <dgm:spPr/>
      <dgm:t>
        <a:bodyPr/>
        <a:lstStyle/>
        <a:p>
          <a:endParaRPr lang="en-US" sz="1600"/>
        </a:p>
      </dgm:t>
    </dgm:pt>
    <dgm:pt modelId="{D2092B4E-7242-E749-A2FE-1D6F5A03E72D}" type="sibTrans" cxnId="{CBE950F1-1EB1-2D4D-82D5-F9A09A2C1F57}">
      <dgm:prSet/>
      <dgm:spPr/>
      <dgm:t>
        <a:bodyPr/>
        <a:lstStyle/>
        <a:p>
          <a:endParaRPr lang="en-US" sz="1600"/>
        </a:p>
      </dgm:t>
    </dgm:pt>
    <dgm:pt modelId="{B8808AF9-F226-9F42-80AE-75AFC3149849}" type="pres">
      <dgm:prSet presAssocID="{E86D312D-E985-8A45-9241-0B08EC1BA6FC}" presName="Name0" presStyleCnt="0">
        <dgm:presLayoutVars>
          <dgm:chMax val="7"/>
          <dgm:chPref val="5"/>
        </dgm:presLayoutVars>
      </dgm:prSet>
      <dgm:spPr/>
      <dgm:t>
        <a:bodyPr/>
        <a:lstStyle/>
        <a:p>
          <a:endParaRPr lang="en-US"/>
        </a:p>
      </dgm:t>
    </dgm:pt>
    <dgm:pt modelId="{509945ED-323C-134B-B389-C2BF9BF7DE9B}" type="pres">
      <dgm:prSet presAssocID="{E86D312D-E985-8A45-9241-0B08EC1BA6FC}" presName="arrowNode" presStyleLbl="node1" presStyleIdx="0" presStyleCnt="1" custLinFactNeighborX="-2590"/>
      <dgm:spPr>
        <a:gradFill flip="none" rotWithShape="1">
          <a:gsLst>
            <a:gs pos="0">
              <a:schemeClr val="accent4">
                <a:lumMod val="40000"/>
                <a:lumOff val="60000"/>
              </a:schemeClr>
            </a:gs>
            <a:gs pos="100000">
              <a:schemeClr val="accent4">
                <a:lumMod val="75000"/>
              </a:schemeClr>
            </a:gs>
          </a:gsLst>
          <a:lin ang="0" scaled="0"/>
          <a:tileRect/>
        </a:gradFill>
      </dgm:spPr>
    </dgm:pt>
    <dgm:pt modelId="{CB5CD548-6604-044F-8A83-A0CE73F19AF9}" type="pres">
      <dgm:prSet presAssocID="{563BA9F3-13F9-EC4C-9511-3FE4C323D0A6}" presName="txNode1" presStyleLbl="revTx" presStyleIdx="0" presStyleCnt="7" custLinFactNeighborX="-8868">
        <dgm:presLayoutVars>
          <dgm:bulletEnabled val="1"/>
        </dgm:presLayoutVars>
      </dgm:prSet>
      <dgm:spPr/>
      <dgm:t>
        <a:bodyPr/>
        <a:lstStyle/>
        <a:p>
          <a:endParaRPr lang="en-US"/>
        </a:p>
      </dgm:t>
    </dgm:pt>
    <dgm:pt modelId="{A1B5783A-9585-6C42-A391-B7ABAFA0D6D7}" type="pres">
      <dgm:prSet presAssocID="{73902E46-08D1-6E4C-A9A5-8C4A2015033C}" presName="txNode2" presStyleLbl="revTx" presStyleIdx="1" presStyleCnt="7" custLinFactNeighborX="-9238" custLinFactNeighborY="-10744">
        <dgm:presLayoutVars>
          <dgm:bulletEnabled val="1"/>
        </dgm:presLayoutVars>
      </dgm:prSet>
      <dgm:spPr/>
      <dgm:t>
        <a:bodyPr/>
        <a:lstStyle/>
        <a:p>
          <a:endParaRPr lang="en-US"/>
        </a:p>
      </dgm:t>
    </dgm:pt>
    <dgm:pt modelId="{565E3BAF-E155-3041-A653-03DA86ABBD6F}" type="pres">
      <dgm:prSet presAssocID="{2BE82464-7526-5443-8594-16EB7681A5AC}" presName="dotNode2" presStyleCnt="0"/>
      <dgm:spPr/>
    </dgm:pt>
    <dgm:pt modelId="{7E0FE3AB-D538-DF4A-B297-564EA662896A}" type="pres">
      <dgm:prSet presAssocID="{2BE82464-7526-5443-8594-16EB7681A5AC}" presName="dotRepeatNode" presStyleLbl="fgShp" presStyleIdx="0" presStyleCnt="5"/>
      <dgm:spPr/>
      <dgm:t>
        <a:bodyPr/>
        <a:lstStyle/>
        <a:p>
          <a:endParaRPr lang="en-US"/>
        </a:p>
      </dgm:t>
    </dgm:pt>
    <dgm:pt modelId="{CF8550DB-ADD0-FD41-B3E0-E33D8C6EFDDF}" type="pres">
      <dgm:prSet presAssocID="{83396536-3076-9143-A2A9-9E8CB39F60E6}" presName="txNode3" presStyleLbl="revTx" presStyleIdx="2" presStyleCnt="7" custScaleX="124281" custLinFactNeighborX="-5909" custLinFactNeighborY="14105">
        <dgm:presLayoutVars>
          <dgm:bulletEnabled val="1"/>
        </dgm:presLayoutVars>
      </dgm:prSet>
      <dgm:spPr/>
      <dgm:t>
        <a:bodyPr/>
        <a:lstStyle/>
        <a:p>
          <a:endParaRPr lang="en-US"/>
        </a:p>
      </dgm:t>
    </dgm:pt>
    <dgm:pt modelId="{D9775ABC-1C20-6046-84E5-26BB8F0DD6CE}" type="pres">
      <dgm:prSet presAssocID="{D2092B4E-7242-E749-A2FE-1D6F5A03E72D}" presName="dotNode3" presStyleCnt="0"/>
      <dgm:spPr/>
    </dgm:pt>
    <dgm:pt modelId="{1FD3E498-8111-E341-A6C4-3372C0251EAB}" type="pres">
      <dgm:prSet presAssocID="{D2092B4E-7242-E749-A2FE-1D6F5A03E72D}" presName="dotRepeatNode" presStyleLbl="fgShp" presStyleIdx="1" presStyleCnt="5"/>
      <dgm:spPr/>
      <dgm:t>
        <a:bodyPr/>
        <a:lstStyle/>
        <a:p>
          <a:endParaRPr lang="en-US"/>
        </a:p>
      </dgm:t>
    </dgm:pt>
    <dgm:pt modelId="{0F8E27FF-2CDA-AA4A-BBBA-F21455D56E1E}" type="pres">
      <dgm:prSet presAssocID="{7F0D5997-5837-FF4A-ADFB-936A4F065794}" presName="txNode4" presStyleLbl="revTx" presStyleIdx="3" presStyleCnt="7" custLinFactNeighborX="-10097" custLinFactNeighborY="-8530">
        <dgm:presLayoutVars>
          <dgm:bulletEnabled val="1"/>
        </dgm:presLayoutVars>
      </dgm:prSet>
      <dgm:spPr/>
      <dgm:t>
        <a:bodyPr/>
        <a:lstStyle/>
        <a:p>
          <a:endParaRPr lang="en-US"/>
        </a:p>
      </dgm:t>
    </dgm:pt>
    <dgm:pt modelId="{51CE7B52-7B09-4243-B21B-14944AC654DA}" type="pres">
      <dgm:prSet presAssocID="{61BAB4A3-31F8-D746-BBFC-45EA845E7C93}" presName="dotNode4" presStyleCnt="0"/>
      <dgm:spPr/>
    </dgm:pt>
    <dgm:pt modelId="{FA9481CC-069E-764C-964E-4E47EFD4B600}" type="pres">
      <dgm:prSet presAssocID="{61BAB4A3-31F8-D746-BBFC-45EA845E7C93}" presName="dotRepeatNode" presStyleLbl="fgShp" presStyleIdx="2" presStyleCnt="5"/>
      <dgm:spPr/>
      <dgm:t>
        <a:bodyPr/>
        <a:lstStyle/>
        <a:p>
          <a:endParaRPr lang="en-US"/>
        </a:p>
      </dgm:t>
    </dgm:pt>
    <dgm:pt modelId="{731395C2-89E3-5541-BC78-27355BE8B888}" type="pres">
      <dgm:prSet presAssocID="{8D607C98-ABA5-D442-9E87-8DF8DD893162}" presName="txNode5" presStyleLbl="revTx" presStyleIdx="4" presStyleCnt="7" custLinFactNeighborX="-3890" custLinFactNeighborY="2209">
        <dgm:presLayoutVars>
          <dgm:bulletEnabled val="1"/>
        </dgm:presLayoutVars>
      </dgm:prSet>
      <dgm:spPr/>
      <dgm:t>
        <a:bodyPr/>
        <a:lstStyle/>
        <a:p>
          <a:endParaRPr lang="en-US"/>
        </a:p>
      </dgm:t>
    </dgm:pt>
    <dgm:pt modelId="{E3A31E69-9DB2-A941-8E4A-076F1546FF48}" type="pres">
      <dgm:prSet presAssocID="{61A6B72F-316A-5044-AF54-D609F3664448}" presName="dotNode5" presStyleCnt="0"/>
      <dgm:spPr/>
    </dgm:pt>
    <dgm:pt modelId="{F5A073BF-7DC6-4440-B7BC-D443317AD200}" type="pres">
      <dgm:prSet presAssocID="{61A6B72F-316A-5044-AF54-D609F3664448}" presName="dotRepeatNode" presStyleLbl="fgShp" presStyleIdx="3" presStyleCnt="5"/>
      <dgm:spPr/>
      <dgm:t>
        <a:bodyPr/>
        <a:lstStyle/>
        <a:p>
          <a:endParaRPr lang="en-US"/>
        </a:p>
      </dgm:t>
    </dgm:pt>
    <dgm:pt modelId="{BAAA3380-C0FF-634B-8264-29F55DAEE1C7}" type="pres">
      <dgm:prSet presAssocID="{64A7D007-1621-3649-BF10-BDC12A7EAADE}" presName="txNode6" presStyleLbl="revTx" presStyleIdx="5" presStyleCnt="7" custScaleX="125704" custLinFactNeighborX="-2084" custLinFactNeighborY="-36663">
        <dgm:presLayoutVars>
          <dgm:bulletEnabled val="1"/>
        </dgm:presLayoutVars>
      </dgm:prSet>
      <dgm:spPr/>
      <dgm:t>
        <a:bodyPr/>
        <a:lstStyle/>
        <a:p>
          <a:endParaRPr lang="en-US"/>
        </a:p>
      </dgm:t>
    </dgm:pt>
    <dgm:pt modelId="{E59E9D07-48D3-0748-A454-48E0784094A4}" type="pres">
      <dgm:prSet presAssocID="{EB5B224B-C5BC-E949-82A3-909D413971DF}" presName="dotNode6" presStyleCnt="0"/>
      <dgm:spPr/>
    </dgm:pt>
    <dgm:pt modelId="{073B20B6-C2DC-D34F-9D1A-3133C7410359}" type="pres">
      <dgm:prSet presAssocID="{EB5B224B-C5BC-E949-82A3-909D413971DF}" presName="dotRepeatNode" presStyleLbl="fgShp" presStyleIdx="4" presStyleCnt="5"/>
      <dgm:spPr/>
      <dgm:t>
        <a:bodyPr/>
        <a:lstStyle/>
        <a:p>
          <a:endParaRPr lang="en-US"/>
        </a:p>
      </dgm:t>
    </dgm:pt>
    <dgm:pt modelId="{0F6D06C4-E3D6-9248-8DA2-6F9C34AFEAFE}" type="pres">
      <dgm:prSet presAssocID="{46487A05-A8FC-174C-9484-49D84A4FDF06}" presName="txNode7" presStyleLbl="revTx" presStyleIdx="6" presStyleCnt="7" custScaleY="53828" custLinFactNeighborX="-3890">
        <dgm:presLayoutVars>
          <dgm:bulletEnabled val="1"/>
        </dgm:presLayoutVars>
      </dgm:prSet>
      <dgm:spPr/>
      <dgm:t>
        <a:bodyPr/>
        <a:lstStyle/>
        <a:p>
          <a:endParaRPr lang="en-US"/>
        </a:p>
      </dgm:t>
    </dgm:pt>
  </dgm:ptLst>
  <dgm:cxnLst>
    <dgm:cxn modelId="{CBE950F1-1EB1-2D4D-82D5-F9A09A2C1F57}" srcId="{E86D312D-E985-8A45-9241-0B08EC1BA6FC}" destId="{83396536-3076-9143-A2A9-9E8CB39F60E6}" srcOrd="2" destOrd="0" parTransId="{45862BEC-60D4-2044-92CF-C13967B8911E}" sibTransId="{D2092B4E-7242-E749-A2FE-1D6F5A03E72D}"/>
    <dgm:cxn modelId="{4DDB986F-4828-774B-80A1-C565F2100DC4}" type="presOf" srcId="{E86D312D-E985-8A45-9241-0B08EC1BA6FC}" destId="{B8808AF9-F226-9F42-80AE-75AFC3149849}" srcOrd="0" destOrd="0" presId="urn:microsoft.com/office/officeart/2009/3/layout/DescendingProcess"/>
    <dgm:cxn modelId="{F8ACF9AF-E707-CD46-A782-EFD6720EDD0F}" srcId="{E86D312D-E985-8A45-9241-0B08EC1BA6FC}" destId="{73902E46-08D1-6E4C-A9A5-8C4A2015033C}" srcOrd="1" destOrd="0" parTransId="{F6811F04-BADB-2B4C-B1A2-4FEF5DAF9E4B}" sibTransId="{2BE82464-7526-5443-8594-16EB7681A5AC}"/>
    <dgm:cxn modelId="{A24ED7D9-08E4-B845-B83D-F7708A0E1378}" type="presOf" srcId="{563BA9F3-13F9-EC4C-9511-3FE4C323D0A6}" destId="{CB5CD548-6604-044F-8A83-A0CE73F19AF9}" srcOrd="0" destOrd="0" presId="urn:microsoft.com/office/officeart/2009/3/layout/DescendingProcess"/>
    <dgm:cxn modelId="{CC3CFF93-A1C8-0C48-A30A-EAB278B1899E}" type="presOf" srcId="{46487A05-A8FC-174C-9484-49D84A4FDF06}" destId="{0F6D06C4-E3D6-9248-8DA2-6F9C34AFEAFE}" srcOrd="0" destOrd="0" presId="urn:microsoft.com/office/officeart/2009/3/layout/DescendingProcess"/>
    <dgm:cxn modelId="{5151D1AF-F77A-3147-B9FC-FEB6CC2DFABE}" type="presOf" srcId="{7F0D5997-5837-FF4A-ADFB-936A4F065794}" destId="{0F8E27FF-2CDA-AA4A-BBBA-F21455D56E1E}" srcOrd="0" destOrd="0" presId="urn:microsoft.com/office/officeart/2009/3/layout/DescendingProcess"/>
    <dgm:cxn modelId="{DC99A5C1-1BB7-D04E-83D6-12D76309C2EE}" srcId="{E86D312D-E985-8A45-9241-0B08EC1BA6FC}" destId="{8D607C98-ABA5-D442-9E87-8DF8DD893162}" srcOrd="4" destOrd="0" parTransId="{E341BF7E-CBA3-9147-A959-ADD3FDA3745C}" sibTransId="{61A6B72F-316A-5044-AF54-D609F3664448}"/>
    <dgm:cxn modelId="{404BEC10-AF2E-E649-8403-4A412E7A17F7}" type="presOf" srcId="{83396536-3076-9143-A2A9-9E8CB39F60E6}" destId="{CF8550DB-ADD0-FD41-B3E0-E33D8C6EFDDF}" srcOrd="0" destOrd="0" presId="urn:microsoft.com/office/officeart/2009/3/layout/DescendingProcess"/>
    <dgm:cxn modelId="{D0CAEB87-B35A-514F-B379-D42BBD900CB6}" srcId="{E86D312D-E985-8A45-9241-0B08EC1BA6FC}" destId="{563BA9F3-13F9-EC4C-9511-3FE4C323D0A6}" srcOrd="0" destOrd="0" parTransId="{3BB73CBE-69B1-0D4C-BCED-CF0F38E9F1B0}" sibTransId="{8E92886C-5A76-2B46-9FFF-5C5E757AF0C7}"/>
    <dgm:cxn modelId="{3743544B-163B-9E44-B0A9-12F3DB3703D9}" type="presOf" srcId="{61A6B72F-316A-5044-AF54-D609F3664448}" destId="{F5A073BF-7DC6-4440-B7BC-D443317AD200}" srcOrd="0" destOrd="0" presId="urn:microsoft.com/office/officeart/2009/3/layout/DescendingProcess"/>
    <dgm:cxn modelId="{E1F7ACC1-BDE2-4145-95E5-A70A3A9D35D7}" type="presOf" srcId="{8D607C98-ABA5-D442-9E87-8DF8DD893162}" destId="{731395C2-89E3-5541-BC78-27355BE8B888}" srcOrd="0" destOrd="0" presId="urn:microsoft.com/office/officeart/2009/3/layout/DescendingProcess"/>
    <dgm:cxn modelId="{E595EF46-7ABC-874A-A701-B7B443581F1D}" type="presOf" srcId="{EB5B224B-C5BC-E949-82A3-909D413971DF}" destId="{073B20B6-C2DC-D34F-9D1A-3133C7410359}" srcOrd="0" destOrd="0" presId="urn:microsoft.com/office/officeart/2009/3/layout/DescendingProcess"/>
    <dgm:cxn modelId="{9B6D215A-6866-124A-9E83-E574CC4519FD}" srcId="{E86D312D-E985-8A45-9241-0B08EC1BA6FC}" destId="{7F0D5997-5837-FF4A-ADFB-936A4F065794}" srcOrd="3" destOrd="0" parTransId="{06F4ABB5-5F2C-6D41-8C95-4E1F6D4424BF}" sibTransId="{61BAB4A3-31F8-D746-BBFC-45EA845E7C93}"/>
    <dgm:cxn modelId="{03C74A58-83C1-4844-BD9D-1E49C23D2048}" type="presOf" srcId="{61BAB4A3-31F8-D746-BBFC-45EA845E7C93}" destId="{FA9481CC-069E-764C-964E-4E47EFD4B600}" srcOrd="0" destOrd="0" presId="urn:microsoft.com/office/officeart/2009/3/layout/DescendingProcess"/>
    <dgm:cxn modelId="{C45C4A18-E9A5-5E43-9D5F-A24AF1C81FE8}" srcId="{E86D312D-E985-8A45-9241-0B08EC1BA6FC}" destId="{46487A05-A8FC-174C-9484-49D84A4FDF06}" srcOrd="6" destOrd="0" parTransId="{A5D1AEFB-56E4-2649-A3ED-850191B4E064}" sibTransId="{4FDCC098-5413-674F-B9D7-FAFB633F0AF9}"/>
    <dgm:cxn modelId="{C69DE2A8-9AA2-A446-984D-CE641635A519}" type="presOf" srcId="{64A7D007-1621-3649-BF10-BDC12A7EAADE}" destId="{BAAA3380-C0FF-634B-8264-29F55DAEE1C7}" srcOrd="0" destOrd="0" presId="urn:microsoft.com/office/officeart/2009/3/layout/DescendingProcess"/>
    <dgm:cxn modelId="{80CCE338-CC2C-ED4B-ADE8-A20EEDB2D641}" type="presOf" srcId="{2BE82464-7526-5443-8594-16EB7681A5AC}" destId="{7E0FE3AB-D538-DF4A-B297-564EA662896A}" srcOrd="0" destOrd="0" presId="urn:microsoft.com/office/officeart/2009/3/layout/DescendingProcess"/>
    <dgm:cxn modelId="{618331D6-EF9B-394B-9741-E06DB32712EE}" srcId="{E86D312D-E985-8A45-9241-0B08EC1BA6FC}" destId="{64A7D007-1621-3649-BF10-BDC12A7EAADE}" srcOrd="5" destOrd="0" parTransId="{07A73E52-78D6-C747-BC80-B0FFC79A31B9}" sibTransId="{EB5B224B-C5BC-E949-82A3-909D413971DF}"/>
    <dgm:cxn modelId="{C487B6A1-BE2E-3645-9BFA-EA0A0E8E75F7}" type="presOf" srcId="{D2092B4E-7242-E749-A2FE-1D6F5A03E72D}" destId="{1FD3E498-8111-E341-A6C4-3372C0251EAB}" srcOrd="0" destOrd="0" presId="urn:microsoft.com/office/officeart/2009/3/layout/DescendingProcess"/>
    <dgm:cxn modelId="{C100A702-143D-BE49-B44A-9BC00BCEBEA2}" type="presOf" srcId="{73902E46-08D1-6E4C-A9A5-8C4A2015033C}" destId="{A1B5783A-9585-6C42-A391-B7ABAFA0D6D7}" srcOrd="0" destOrd="0" presId="urn:microsoft.com/office/officeart/2009/3/layout/DescendingProcess"/>
    <dgm:cxn modelId="{6291F8D5-32D9-1D48-9EC3-F0127D0D01E1}" type="presParOf" srcId="{B8808AF9-F226-9F42-80AE-75AFC3149849}" destId="{509945ED-323C-134B-B389-C2BF9BF7DE9B}" srcOrd="0" destOrd="0" presId="urn:microsoft.com/office/officeart/2009/3/layout/DescendingProcess"/>
    <dgm:cxn modelId="{84EB3073-4D7E-EF4D-B43D-1FAF77645B49}" type="presParOf" srcId="{B8808AF9-F226-9F42-80AE-75AFC3149849}" destId="{CB5CD548-6604-044F-8A83-A0CE73F19AF9}" srcOrd="1" destOrd="0" presId="urn:microsoft.com/office/officeart/2009/3/layout/DescendingProcess"/>
    <dgm:cxn modelId="{641857A0-A3A9-4642-9EFC-4CE7F38B9572}" type="presParOf" srcId="{B8808AF9-F226-9F42-80AE-75AFC3149849}" destId="{A1B5783A-9585-6C42-A391-B7ABAFA0D6D7}" srcOrd="2" destOrd="0" presId="urn:microsoft.com/office/officeart/2009/3/layout/DescendingProcess"/>
    <dgm:cxn modelId="{1CE55935-5EF5-E844-A995-FDABF0A1A53E}" type="presParOf" srcId="{B8808AF9-F226-9F42-80AE-75AFC3149849}" destId="{565E3BAF-E155-3041-A653-03DA86ABBD6F}" srcOrd="3" destOrd="0" presId="urn:microsoft.com/office/officeart/2009/3/layout/DescendingProcess"/>
    <dgm:cxn modelId="{B0706835-8689-A746-A222-9917AE56A2E0}" type="presParOf" srcId="{565E3BAF-E155-3041-A653-03DA86ABBD6F}" destId="{7E0FE3AB-D538-DF4A-B297-564EA662896A}" srcOrd="0" destOrd="0" presId="urn:microsoft.com/office/officeart/2009/3/layout/DescendingProcess"/>
    <dgm:cxn modelId="{ABFF7981-B6D7-054D-ACF3-03E0234FFFCF}" type="presParOf" srcId="{B8808AF9-F226-9F42-80AE-75AFC3149849}" destId="{CF8550DB-ADD0-FD41-B3E0-E33D8C6EFDDF}" srcOrd="4" destOrd="0" presId="urn:microsoft.com/office/officeart/2009/3/layout/DescendingProcess"/>
    <dgm:cxn modelId="{AEB4745F-0CB2-C444-9C70-6EE41A2ECF3B}" type="presParOf" srcId="{B8808AF9-F226-9F42-80AE-75AFC3149849}" destId="{D9775ABC-1C20-6046-84E5-26BB8F0DD6CE}" srcOrd="5" destOrd="0" presId="urn:microsoft.com/office/officeart/2009/3/layout/DescendingProcess"/>
    <dgm:cxn modelId="{1FA71297-8048-2541-828D-3F6DFA76E89D}" type="presParOf" srcId="{D9775ABC-1C20-6046-84E5-26BB8F0DD6CE}" destId="{1FD3E498-8111-E341-A6C4-3372C0251EAB}" srcOrd="0" destOrd="0" presId="urn:microsoft.com/office/officeart/2009/3/layout/DescendingProcess"/>
    <dgm:cxn modelId="{5D626CDC-2734-4748-ADE5-4C0CF7CA2524}" type="presParOf" srcId="{B8808AF9-F226-9F42-80AE-75AFC3149849}" destId="{0F8E27FF-2CDA-AA4A-BBBA-F21455D56E1E}" srcOrd="6" destOrd="0" presId="urn:microsoft.com/office/officeart/2009/3/layout/DescendingProcess"/>
    <dgm:cxn modelId="{8991C64E-1910-784D-8536-DD7C85D45BEE}" type="presParOf" srcId="{B8808AF9-F226-9F42-80AE-75AFC3149849}" destId="{51CE7B52-7B09-4243-B21B-14944AC654DA}" srcOrd="7" destOrd="0" presId="urn:microsoft.com/office/officeart/2009/3/layout/DescendingProcess"/>
    <dgm:cxn modelId="{A8E19E71-6F53-EA47-AEAE-83105B2E4F0F}" type="presParOf" srcId="{51CE7B52-7B09-4243-B21B-14944AC654DA}" destId="{FA9481CC-069E-764C-964E-4E47EFD4B600}" srcOrd="0" destOrd="0" presId="urn:microsoft.com/office/officeart/2009/3/layout/DescendingProcess"/>
    <dgm:cxn modelId="{238B1879-0948-6342-B037-C347726D35EB}" type="presParOf" srcId="{B8808AF9-F226-9F42-80AE-75AFC3149849}" destId="{731395C2-89E3-5541-BC78-27355BE8B888}" srcOrd="8" destOrd="0" presId="urn:microsoft.com/office/officeart/2009/3/layout/DescendingProcess"/>
    <dgm:cxn modelId="{51B03174-23F6-AB4C-8CFA-B85D7A728347}" type="presParOf" srcId="{B8808AF9-F226-9F42-80AE-75AFC3149849}" destId="{E3A31E69-9DB2-A941-8E4A-076F1546FF48}" srcOrd="9" destOrd="0" presId="urn:microsoft.com/office/officeart/2009/3/layout/DescendingProcess"/>
    <dgm:cxn modelId="{084B1D5E-09D2-134C-A5AB-2E2DEF5FAE28}" type="presParOf" srcId="{E3A31E69-9DB2-A941-8E4A-076F1546FF48}" destId="{F5A073BF-7DC6-4440-B7BC-D443317AD200}" srcOrd="0" destOrd="0" presId="urn:microsoft.com/office/officeart/2009/3/layout/DescendingProcess"/>
    <dgm:cxn modelId="{820A39D4-2D52-294A-BB3E-0A2FB85892F1}" type="presParOf" srcId="{B8808AF9-F226-9F42-80AE-75AFC3149849}" destId="{BAAA3380-C0FF-634B-8264-29F55DAEE1C7}" srcOrd="10" destOrd="0" presId="urn:microsoft.com/office/officeart/2009/3/layout/DescendingProcess"/>
    <dgm:cxn modelId="{2C59E1E1-9DAA-C849-8455-6686E795783C}" type="presParOf" srcId="{B8808AF9-F226-9F42-80AE-75AFC3149849}" destId="{E59E9D07-48D3-0748-A454-48E0784094A4}" srcOrd="11" destOrd="0" presId="urn:microsoft.com/office/officeart/2009/3/layout/DescendingProcess"/>
    <dgm:cxn modelId="{763A90AF-C870-ED47-B2B1-57704D788E00}" type="presParOf" srcId="{E59E9D07-48D3-0748-A454-48E0784094A4}" destId="{073B20B6-C2DC-D34F-9D1A-3133C7410359}" srcOrd="0" destOrd="0" presId="urn:microsoft.com/office/officeart/2009/3/layout/DescendingProcess"/>
    <dgm:cxn modelId="{65204F40-DA01-B547-A249-B279A9486502}" type="presParOf" srcId="{B8808AF9-F226-9F42-80AE-75AFC3149849}" destId="{0F6D06C4-E3D6-9248-8DA2-6F9C34AFEAFE}" srcOrd="12" destOrd="0" presId="urn:microsoft.com/office/officeart/2009/3/layout/DescendingProcess"/>
  </dgm:cxnLst>
  <dgm:bg>
    <a:effectLst/>
  </dgm:bg>
  <dgm:whole>
    <a:ln w="38100" cap="sq" cmpd="sng" algn="ctr">
      <a:solidFill>
        <a:schemeClr val="accent4">
          <a:lumMod val="60000"/>
          <a:lumOff val="40000"/>
        </a:schemeClr>
      </a:solid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945ED-323C-134B-B389-C2BF9BF7DE9B}">
      <dsp:nvSpPr>
        <dsp:cNvPr id="0" name=""/>
        <dsp:cNvSpPr/>
      </dsp:nvSpPr>
      <dsp:spPr>
        <a:xfrm rot="4396374">
          <a:off x="1246061" y="817568"/>
          <a:ext cx="3546739" cy="2473408"/>
        </a:xfrm>
        <a:prstGeom prst="swooshArrow">
          <a:avLst>
            <a:gd name="adj1" fmla="val 16310"/>
            <a:gd name="adj2" fmla="val 31370"/>
          </a:avLst>
        </a:prstGeom>
        <a:gradFill flip="none" rotWithShape="1">
          <a:gsLst>
            <a:gs pos="0">
              <a:schemeClr val="accent4">
                <a:lumMod val="40000"/>
                <a:lumOff val="60000"/>
              </a:schemeClr>
            </a:gs>
            <a:gs pos="100000">
              <a:schemeClr val="accent4">
                <a:lumMod val="75000"/>
              </a:schemeClr>
            </a:gs>
          </a:gsLst>
          <a:lin ang="0" scaled="0"/>
          <a:tileRect/>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a:schemeClr val="lt1"/>
        </a:fontRef>
      </dsp:style>
    </dsp:sp>
    <dsp:sp modelId="{7E0FE3AB-D538-DF4A-B297-564EA662896A}">
      <dsp:nvSpPr>
        <dsp:cNvPr id="0" name=""/>
        <dsp:cNvSpPr/>
      </dsp:nvSpPr>
      <dsp:spPr>
        <a:xfrm>
          <a:off x="2454917" y="1061648"/>
          <a:ext cx="89566" cy="89566"/>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1FD3E498-8111-E341-A6C4-3372C0251EAB}">
      <dsp:nvSpPr>
        <dsp:cNvPr id="0" name=""/>
        <dsp:cNvSpPr/>
      </dsp:nvSpPr>
      <dsp:spPr>
        <a:xfrm>
          <a:off x="2884260" y="1361982"/>
          <a:ext cx="89566" cy="89566"/>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FA9481CC-069E-764C-964E-4E47EFD4B600}">
      <dsp:nvSpPr>
        <dsp:cNvPr id="0" name=""/>
        <dsp:cNvSpPr/>
      </dsp:nvSpPr>
      <dsp:spPr>
        <a:xfrm>
          <a:off x="3245812" y="1712030"/>
          <a:ext cx="89566" cy="89566"/>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CB5CD548-6604-044F-8A83-A0CE73F19AF9}">
      <dsp:nvSpPr>
        <dsp:cNvPr id="0" name=""/>
        <dsp:cNvSpPr/>
      </dsp:nvSpPr>
      <dsp:spPr>
        <a:xfrm>
          <a:off x="947883" y="0"/>
          <a:ext cx="1672177" cy="657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b" anchorCtr="0">
          <a:noAutofit/>
        </a:bodyPr>
        <a:lstStyle/>
        <a:p>
          <a:pPr lvl="0" algn="ctr" defTabSz="889000">
            <a:lnSpc>
              <a:spcPct val="90000"/>
            </a:lnSpc>
            <a:spcBef>
              <a:spcPct val="0"/>
            </a:spcBef>
            <a:spcAft>
              <a:spcPct val="35000"/>
            </a:spcAft>
          </a:pPr>
          <a:r>
            <a:rPr lang="en-US" sz="2000" kern="1200"/>
            <a:t>Simple Model</a:t>
          </a:r>
        </a:p>
      </dsp:txBody>
      <dsp:txXfrm>
        <a:off x="947883" y="0"/>
        <a:ext cx="1672177" cy="657367"/>
      </dsp:txXfrm>
    </dsp:sp>
    <dsp:sp modelId="{A1B5783A-9585-6C42-A391-B7ABAFA0D6D7}">
      <dsp:nvSpPr>
        <dsp:cNvPr id="0" name=""/>
        <dsp:cNvSpPr/>
      </dsp:nvSpPr>
      <dsp:spPr>
        <a:xfrm>
          <a:off x="2850854" y="707120"/>
          <a:ext cx="2530863" cy="657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l" defTabSz="889000">
            <a:lnSpc>
              <a:spcPct val="90000"/>
            </a:lnSpc>
            <a:spcBef>
              <a:spcPct val="0"/>
            </a:spcBef>
            <a:spcAft>
              <a:spcPct val="35000"/>
            </a:spcAft>
          </a:pPr>
          <a:r>
            <a:rPr lang="en-US" sz="2000" kern="1200"/>
            <a:t>Advanced Model</a:t>
          </a:r>
        </a:p>
      </dsp:txBody>
      <dsp:txXfrm>
        <a:off x="2850854" y="707120"/>
        <a:ext cx="2530863" cy="657367"/>
      </dsp:txXfrm>
    </dsp:sp>
    <dsp:sp modelId="{CF8550DB-ADD0-FD41-B3E0-E33D8C6EFDDF}">
      <dsp:nvSpPr>
        <dsp:cNvPr id="0" name=""/>
        <dsp:cNvSpPr/>
      </dsp:nvSpPr>
      <dsp:spPr>
        <a:xfrm>
          <a:off x="826951" y="1170803"/>
          <a:ext cx="1853529" cy="657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r" defTabSz="889000">
            <a:lnSpc>
              <a:spcPct val="90000"/>
            </a:lnSpc>
            <a:spcBef>
              <a:spcPct val="0"/>
            </a:spcBef>
            <a:spcAft>
              <a:spcPct val="35000"/>
            </a:spcAft>
          </a:pPr>
          <a:r>
            <a:rPr lang="en-US" sz="2000" kern="1200"/>
            <a:t>XSD Schemas</a:t>
          </a:r>
        </a:p>
      </dsp:txBody>
      <dsp:txXfrm>
        <a:off x="826951" y="1170803"/>
        <a:ext cx="1853529" cy="657367"/>
      </dsp:txXfrm>
    </dsp:sp>
    <dsp:sp modelId="{F5A073BF-7DC6-4440-B7BC-D443317AD200}">
      <dsp:nvSpPr>
        <dsp:cNvPr id="0" name=""/>
        <dsp:cNvSpPr/>
      </dsp:nvSpPr>
      <dsp:spPr>
        <a:xfrm>
          <a:off x="3558554" y="2099055"/>
          <a:ext cx="89566" cy="89566"/>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0F8E27FF-2CDA-AA4A-BBBA-F21455D56E1E}">
      <dsp:nvSpPr>
        <dsp:cNvPr id="0" name=""/>
        <dsp:cNvSpPr/>
      </dsp:nvSpPr>
      <dsp:spPr>
        <a:xfrm>
          <a:off x="3675030" y="1372056"/>
          <a:ext cx="1762565" cy="657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l" defTabSz="889000">
            <a:lnSpc>
              <a:spcPct val="90000"/>
            </a:lnSpc>
            <a:spcBef>
              <a:spcPct val="0"/>
            </a:spcBef>
            <a:spcAft>
              <a:spcPct val="35000"/>
            </a:spcAft>
          </a:pPr>
          <a:r>
            <a:rPr lang="en-US" sz="2000" kern="1200" dirty="0"/>
            <a:t>OWL </a:t>
          </a:r>
          <a:r>
            <a:rPr lang="en-US" sz="2000" kern="1200" dirty="0" smtClean="0"/>
            <a:t>(Derived)</a:t>
          </a:r>
          <a:endParaRPr lang="en-US" sz="2000" kern="1200" dirty="0"/>
        </a:p>
      </dsp:txBody>
      <dsp:txXfrm>
        <a:off x="3675030" y="1372056"/>
        <a:ext cx="1762565" cy="657367"/>
      </dsp:txXfrm>
    </dsp:sp>
    <dsp:sp modelId="{731395C2-89E3-5541-BC78-27355BE8B888}">
      <dsp:nvSpPr>
        <dsp:cNvPr id="0" name=""/>
        <dsp:cNvSpPr/>
      </dsp:nvSpPr>
      <dsp:spPr>
        <a:xfrm>
          <a:off x="1008298" y="1829676"/>
          <a:ext cx="2259699" cy="657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r" defTabSz="889000">
            <a:lnSpc>
              <a:spcPct val="90000"/>
            </a:lnSpc>
            <a:spcBef>
              <a:spcPct val="0"/>
            </a:spcBef>
            <a:spcAft>
              <a:spcPct val="35000"/>
            </a:spcAft>
          </a:pPr>
          <a:r>
            <a:rPr lang="en-US" sz="2000" kern="1200" dirty="0"/>
            <a:t>OWL </a:t>
          </a:r>
          <a:r>
            <a:rPr lang="en-US" sz="2000" kern="1200" dirty="0" smtClean="0"/>
            <a:t>(Extended)</a:t>
          </a:r>
          <a:endParaRPr lang="en-US" sz="2000" kern="1200" dirty="0"/>
        </a:p>
      </dsp:txBody>
      <dsp:txXfrm>
        <a:off x="1008298" y="1829676"/>
        <a:ext cx="2259699" cy="657367"/>
      </dsp:txXfrm>
    </dsp:sp>
    <dsp:sp modelId="{073B20B6-C2DC-D34F-9D1A-3133C7410359}">
      <dsp:nvSpPr>
        <dsp:cNvPr id="0" name=""/>
        <dsp:cNvSpPr/>
      </dsp:nvSpPr>
      <dsp:spPr>
        <a:xfrm>
          <a:off x="3810737" y="2493886"/>
          <a:ext cx="89566" cy="89566"/>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BAAA3380-C0FF-634B-8264-29F55DAEE1C7}">
      <dsp:nvSpPr>
        <dsp:cNvPr id="0" name=""/>
        <dsp:cNvSpPr/>
      </dsp:nvSpPr>
      <dsp:spPr>
        <a:xfrm>
          <a:off x="4149024" y="1968975"/>
          <a:ext cx="1762922" cy="657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l" defTabSz="889000">
            <a:lnSpc>
              <a:spcPct val="90000"/>
            </a:lnSpc>
            <a:spcBef>
              <a:spcPct val="0"/>
            </a:spcBef>
            <a:spcAft>
              <a:spcPct val="35000"/>
            </a:spcAft>
          </a:pPr>
          <a:r>
            <a:rPr lang="en-US" sz="2000" kern="1200" dirty="0"/>
            <a:t>RDF Representation</a:t>
          </a:r>
        </a:p>
      </dsp:txBody>
      <dsp:txXfrm>
        <a:off x="4149024" y="1968975"/>
        <a:ext cx="1762922" cy="657367"/>
      </dsp:txXfrm>
    </dsp:sp>
    <dsp:sp modelId="{0F6D06C4-E3D6-9248-8DA2-6F9C34AFEAFE}">
      <dsp:nvSpPr>
        <dsp:cNvPr id="0" name=""/>
        <dsp:cNvSpPr/>
      </dsp:nvSpPr>
      <dsp:spPr>
        <a:xfrm>
          <a:off x="3267998" y="3602937"/>
          <a:ext cx="2259699" cy="353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t" anchorCtr="0">
          <a:noAutofit/>
        </a:bodyPr>
        <a:lstStyle/>
        <a:p>
          <a:pPr lvl="0" algn="ctr" defTabSz="889000">
            <a:lnSpc>
              <a:spcPct val="90000"/>
            </a:lnSpc>
            <a:spcBef>
              <a:spcPct val="0"/>
            </a:spcBef>
            <a:spcAft>
              <a:spcPct val="35000"/>
            </a:spcAft>
          </a:pPr>
          <a:r>
            <a:rPr lang="en-US" sz="2000" kern="1200" dirty="0" smtClean="0"/>
            <a:t>Data Discovery</a:t>
          </a:r>
          <a:endParaRPr lang="en-US" sz="2000" kern="1200" dirty="0"/>
        </a:p>
      </dsp:txBody>
      <dsp:txXfrm>
        <a:off x="3267998" y="3602937"/>
        <a:ext cx="2259699" cy="3538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945ED-323C-134B-B389-C2BF9BF7DE9B}">
      <dsp:nvSpPr>
        <dsp:cNvPr id="0" name=""/>
        <dsp:cNvSpPr/>
      </dsp:nvSpPr>
      <dsp:spPr>
        <a:xfrm rot="4396374">
          <a:off x="367048" y="729493"/>
          <a:ext cx="3164655" cy="2206952"/>
        </a:xfrm>
        <a:prstGeom prst="swooshArrow">
          <a:avLst>
            <a:gd name="adj1" fmla="val 16310"/>
            <a:gd name="adj2" fmla="val 31370"/>
          </a:avLst>
        </a:prstGeom>
        <a:gradFill flip="none" rotWithShape="1">
          <a:gsLst>
            <a:gs pos="0">
              <a:schemeClr val="accent4">
                <a:lumMod val="40000"/>
                <a:lumOff val="60000"/>
              </a:schemeClr>
            </a:gs>
            <a:gs pos="100000">
              <a:schemeClr val="accent4">
                <a:lumMod val="75000"/>
              </a:schemeClr>
            </a:gs>
          </a:gsLst>
          <a:lin ang="0" scaled="0"/>
          <a:tileRect/>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a:schemeClr val="lt1"/>
        </a:fontRef>
      </dsp:style>
    </dsp:sp>
    <dsp:sp modelId="{7E0FE3AB-D538-DF4A-B297-564EA662896A}">
      <dsp:nvSpPr>
        <dsp:cNvPr id="0" name=""/>
        <dsp:cNvSpPr/>
      </dsp:nvSpPr>
      <dsp:spPr>
        <a:xfrm>
          <a:off x="1524008" y="947278"/>
          <a:ext cx="79917" cy="79917"/>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1FD3E498-8111-E341-A6C4-3372C0251EAB}">
      <dsp:nvSpPr>
        <dsp:cNvPr id="0" name=""/>
        <dsp:cNvSpPr/>
      </dsp:nvSpPr>
      <dsp:spPr>
        <a:xfrm>
          <a:off x="1907098" y="1215258"/>
          <a:ext cx="79917" cy="79917"/>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FA9481CC-069E-764C-964E-4E47EFD4B600}">
      <dsp:nvSpPr>
        <dsp:cNvPr id="0" name=""/>
        <dsp:cNvSpPr/>
      </dsp:nvSpPr>
      <dsp:spPr>
        <a:xfrm>
          <a:off x="2229701" y="1527596"/>
          <a:ext cx="79917" cy="79917"/>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CB5CD548-6604-044F-8A83-A0CE73F19AF9}">
      <dsp:nvSpPr>
        <dsp:cNvPr id="0" name=""/>
        <dsp:cNvSpPr/>
      </dsp:nvSpPr>
      <dsp:spPr>
        <a:xfrm>
          <a:off x="100917" y="0"/>
          <a:ext cx="1492037" cy="58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b" anchorCtr="0">
          <a:noAutofit/>
        </a:bodyPr>
        <a:lstStyle/>
        <a:p>
          <a:pPr lvl="0" algn="ctr" defTabSz="711200">
            <a:lnSpc>
              <a:spcPct val="90000"/>
            </a:lnSpc>
            <a:spcBef>
              <a:spcPct val="0"/>
            </a:spcBef>
            <a:spcAft>
              <a:spcPct val="35000"/>
            </a:spcAft>
          </a:pPr>
          <a:r>
            <a:rPr lang="en-US" sz="1600" kern="1200" dirty="0"/>
            <a:t>Simple Model</a:t>
          </a:r>
        </a:p>
      </dsp:txBody>
      <dsp:txXfrm>
        <a:off x="100917" y="0"/>
        <a:ext cx="1492037" cy="586550"/>
      </dsp:txXfrm>
    </dsp:sp>
    <dsp:sp modelId="{A1B5783A-9585-6C42-A391-B7ABAFA0D6D7}">
      <dsp:nvSpPr>
        <dsp:cNvPr id="0" name=""/>
        <dsp:cNvSpPr/>
      </dsp:nvSpPr>
      <dsp:spPr>
        <a:xfrm>
          <a:off x="1798931" y="630943"/>
          <a:ext cx="2258218" cy="58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l" defTabSz="711200">
            <a:lnSpc>
              <a:spcPct val="90000"/>
            </a:lnSpc>
            <a:spcBef>
              <a:spcPct val="0"/>
            </a:spcBef>
            <a:spcAft>
              <a:spcPct val="35000"/>
            </a:spcAft>
          </a:pPr>
          <a:r>
            <a:rPr lang="en-US" sz="1600" kern="1200" dirty="0"/>
            <a:t>Advanced Model</a:t>
          </a:r>
        </a:p>
      </dsp:txBody>
      <dsp:txXfrm>
        <a:off x="1798931" y="630943"/>
        <a:ext cx="2258218" cy="586550"/>
      </dsp:txXfrm>
    </dsp:sp>
    <dsp:sp modelId="{CF8550DB-ADD0-FD41-B3E0-E33D8C6EFDDF}">
      <dsp:nvSpPr>
        <dsp:cNvPr id="0" name=""/>
        <dsp:cNvSpPr/>
      </dsp:nvSpPr>
      <dsp:spPr>
        <a:xfrm>
          <a:off x="0" y="1044675"/>
          <a:ext cx="1653851" cy="58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r" defTabSz="711200">
            <a:lnSpc>
              <a:spcPct val="90000"/>
            </a:lnSpc>
            <a:spcBef>
              <a:spcPct val="0"/>
            </a:spcBef>
            <a:spcAft>
              <a:spcPct val="35000"/>
            </a:spcAft>
          </a:pPr>
          <a:r>
            <a:rPr lang="en-US" sz="1600" kern="1200"/>
            <a:t>XSD Schemas</a:t>
          </a:r>
        </a:p>
      </dsp:txBody>
      <dsp:txXfrm>
        <a:off x="0" y="1044675"/>
        <a:ext cx="1653851" cy="586550"/>
      </dsp:txXfrm>
    </dsp:sp>
    <dsp:sp modelId="{F5A073BF-7DC6-4440-B7BC-D443317AD200}">
      <dsp:nvSpPr>
        <dsp:cNvPr id="0" name=""/>
        <dsp:cNvSpPr/>
      </dsp:nvSpPr>
      <dsp:spPr>
        <a:xfrm>
          <a:off x="2508752" y="1872928"/>
          <a:ext cx="79917" cy="79917"/>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0F8E27FF-2CDA-AA4A-BBBA-F21455D56E1E}">
      <dsp:nvSpPr>
        <dsp:cNvPr id="0" name=""/>
        <dsp:cNvSpPr/>
      </dsp:nvSpPr>
      <dsp:spPr>
        <a:xfrm>
          <a:off x="2534281" y="1224247"/>
          <a:ext cx="1572687" cy="58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l" defTabSz="711200">
            <a:lnSpc>
              <a:spcPct val="90000"/>
            </a:lnSpc>
            <a:spcBef>
              <a:spcPct val="0"/>
            </a:spcBef>
            <a:spcAft>
              <a:spcPct val="35000"/>
            </a:spcAft>
          </a:pPr>
          <a:r>
            <a:rPr lang="en-US" sz="1600" kern="1200" dirty="0"/>
            <a:t>OWL </a:t>
          </a:r>
          <a:r>
            <a:rPr lang="en-US" sz="1600" kern="1200" dirty="0" smtClean="0"/>
            <a:t>(Derived)</a:t>
          </a:r>
          <a:endParaRPr lang="en-US" sz="1600" kern="1200" dirty="0"/>
        </a:p>
      </dsp:txBody>
      <dsp:txXfrm>
        <a:off x="2534281" y="1224247"/>
        <a:ext cx="1572687" cy="586550"/>
      </dsp:txXfrm>
    </dsp:sp>
    <dsp:sp modelId="{731395C2-89E3-5541-BC78-27355BE8B888}">
      <dsp:nvSpPr>
        <dsp:cNvPr id="0" name=""/>
        <dsp:cNvSpPr/>
      </dsp:nvSpPr>
      <dsp:spPr>
        <a:xfrm>
          <a:off x="154798" y="1632568"/>
          <a:ext cx="2016266" cy="58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r" defTabSz="711200">
            <a:lnSpc>
              <a:spcPct val="90000"/>
            </a:lnSpc>
            <a:spcBef>
              <a:spcPct val="0"/>
            </a:spcBef>
            <a:spcAft>
              <a:spcPct val="35000"/>
            </a:spcAft>
          </a:pPr>
          <a:r>
            <a:rPr lang="en-US" sz="1600" kern="1200" dirty="0"/>
            <a:t>OWL </a:t>
          </a:r>
          <a:r>
            <a:rPr lang="en-US" sz="1600" kern="1200" dirty="0" smtClean="0"/>
            <a:t>(Extended)</a:t>
          </a:r>
          <a:endParaRPr lang="en-US" sz="1600" kern="1200" dirty="0"/>
        </a:p>
      </dsp:txBody>
      <dsp:txXfrm>
        <a:off x="154798" y="1632568"/>
        <a:ext cx="2016266" cy="586550"/>
      </dsp:txXfrm>
    </dsp:sp>
    <dsp:sp modelId="{073B20B6-C2DC-D34F-9D1A-3133C7410359}">
      <dsp:nvSpPr>
        <dsp:cNvPr id="0" name=""/>
        <dsp:cNvSpPr/>
      </dsp:nvSpPr>
      <dsp:spPr>
        <a:xfrm>
          <a:off x="2733768" y="2225224"/>
          <a:ext cx="79917" cy="79917"/>
        </a:xfrm>
        <a:prstGeom prst="ellipse">
          <a:avLst/>
        </a:prstGeom>
        <a:gradFill rotWithShape="0">
          <a:gsLst>
            <a:gs pos="0">
              <a:schemeClr val="accent2">
                <a:tint val="40000"/>
                <a:hueOff val="0"/>
                <a:satOff val="0"/>
                <a:lumOff val="0"/>
                <a:alphaOff val="0"/>
                <a:shade val="30000"/>
                <a:satMod val="100000"/>
              </a:schemeClr>
            </a:gs>
            <a:gs pos="80000">
              <a:schemeClr val="accent2">
                <a:tint val="40000"/>
                <a:hueOff val="0"/>
                <a:satOff val="0"/>
                <a:lumOff val="0"/>
                <a:alphaOff val="0"/>
                <a:shade val="90000"/>
                <a:satMod val="100000"/>
              </a:schemeClr>
            </a:gs>
            <a:gs pos="100000">
              <a:schemeClr val="accent2">
                <a:tint val="40000"/>
                <a:hueOff val="0"/>
                <a:satOff val="0"/>
                <a:lumOff val="0"/>
                <a:alphaOff val="0"/>
                <a:tint val="90000"/>
                <a:shade val="100000"/>
                <a:satMod val="150000"/>
              </a:schemeClr>
            </a:gs>
          </a:gsLst>
          <a:lin ang="16200000" scaled="0"/>
        </a:gradFill>
        <a:ln>
          <a:noFill/>
        </a:ln>
        <a:effectLst>
          <a:outerShdw blurRad="228600" dist="38100" dir="5400000" sx="104000" sy="104000" algn="ctr" rotWithShape="0">
            <a:srgbClr val="000000">
              <a:alpha val="80000"/>
            </a:srgbClr>
          </a:outerShdw>
        </a:effectLst>
      </dsp:spPr>
      <dsp:style>
        <a:lnRef idx="0">
          <a:scrgbClr r="0" g="0" b="0"/>
        </a:lnRef>
        <a:fillRef idx="3">
          <a:scrgbClr r="0" g="0" b="0"/>
        </a:fillRef>
        <a:effectRef idx="2">
          <a:scrgbClr r="0" g="0" b="0"/>
        </a:effectRef>
        <a:fontRef idx="minor"/>
      </dsp:style>
    </dsp:sp>
    <dsp:sp modelId="{BAAA3380-C0FF-634B-8264-29F55DAEE1C7}">
      <dsp:nvSpPr>
        <dsp:cNvPr id="0" name=""/>
        <dsp:cNvSpPr/>
      </dsp:nvSpPr>
      <dsp:spPr>
        <a:xfrm>
          <a:off x="2921662" y="1756861"/>
          <a:ext cx="1470025" cy="58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l" defTabSz="711200">
            <a:lnSpc>
              <a:spcPct val="90000"/>
            </a:lnSpc>
            <a:spcBef>
              <a:spcPct val="0"/>
            </a:spcBef>
            <a:spcAft>
              <a:spcPct val="35000"/>
            </a:spcAft>
          </a:pPr>
          <a:r>
            <a:rPr lang="en-US" sz="1600" kern="1200" dirty="0"/>
            <a:t>RDF </a:t>
          </a:r>
          <a:r>
            <a:rPr lang="en-US" sz="1600" kern="1200" dirty="0" smtClean="0"/>
            <a:t/>
          </a:r>
          <a:br>
            <a:rPr lang="en-US" sz="1600" kern="1200" dirty="0" smtClean="0"/>
          </a:br>
          <a:r>
            <a:rPr lang="en-US" sz="1600" kern="1200" dirty="0" smtClean="0"/>
            <a:t>Representation</a:t>
          </a:r>
          <a:endParaRPr lang="en-US" sz="1600" kern="1200" dirty="0"/>
        </a:p>
      </dsp:txBody>
      <dsp:txXfrm>
        <a:off x="2921662" y="1756861"/>
        <a:ext cx="1470025" cy="586550"/>
      </dsp:txXfrm>
    </dsp:sp>
    <dsp:sp modelId="{0F6D06C4-E3D6-9248-8DA2-6F9C34AFEAFE}">
      <dsp:nvSpPr>
        <dsp:cNvPr id="0" name=""/>
        <dsp:cNvSpPr/>
      </dsp:nvSpPr>
      <dsp:spPr>
        <a:xfrm>
          <a:off x="2171064" y="3214799"/>
          <a:ext cx="2016266" cy="31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t" anchorCtr="0">
          <a:noAutofit/>
        </a:bodyPr>
        <a:lstStyle/>
        <a:p>
          <a:pPr lvl="0" algn="ctr" defTabSz="711200">
            <a:lnSpc>
              <a:spcPct val="90000"/>
            </a:lnSpc>
            <a:spcBef>
              <a:spcPct val="0"/>
            </a:spcBef>
            <a:spcAft>
              <a:spcPct val="35000"/>
            </a:spcAft>
          </a:pPr>
          <a:r>
            <a:rPr lang="en-US" sz="1600" kern="1200" dirty="0" smtClean="0"/>
            <a:t>Data Discovery</a:t>
          </a:r>
          <a:endParaRPr lang="en-US" sz="1600" kern="1200" dirty="0"/>
        </a:p>
      </dsp:txBody>
      <dsp:txXfrm>
        <a:off x="2171064" y="3214799"/>
        <a:ext cx="2016266" cy="315728"/>
      </dsp:txXfrm>
    </dsp:sp>
  </dsp:spTree>
</dsp:drawing>
</file>

<file path=ppt/diagrams/layout1.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5363B351-3281-DC45-A974-3C2FFC1503D7}" type="datetimeFigureOut">
              <a:rPr lang="en-US" smtClean="0"/>
              <a:t>12/1/13</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D4BD90C4-7ED9-8E47-9E65-3765D9B46FE9}" type="slidenum">
              <a:rPr lang="en-US" smtClean="0"/>
              <a:t>‹#›</a:t>
            </a:fld>
            <a:endParaRPr lang="en-US"/>
          </a:p>
        </p:txBody>
      </p:sp>
    </p:spTree>
    <p:extLst>
      <p:ext uri="{BB962C8B-B14F-4D97-AF65-F5344CB8AC3E}">
        <p14:creationId xmlns:p14="http://schemas.microsoft.com/office/powerpoint/2010/main" val="9572809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2D24FDD8-316E-0447-98D5-56DD938B49D7}" type="datetimeFigureOut">
              <a:rPr lang="en-US" smtClean="0"/>
              <a:t>12/1/13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820D74C4-CE59-A24F-84A3-DCE9EFAC2BD1}" type="slidenum">
              <a:rPr lang="en-US" smtClean="0"/>
              <a:t>‹#›</a:t>
            </a:fld>
            <a:endParaRPr lang="en-US"/>
          </a:p>
        </p:txBody>
      </p:sp>
    </p:spTree>
    <p:extLst>
      <p:ext uri="{BB962C8B-B14F-4D97-AF65-F5344CB8AC3E}">
        <p14:creationId xmlns:p14="http://schemas.microsoft.com/office/powerpoint/2010/main" val="144010125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0738" y="4155141"/>
            <a:ext cx="7542212" cy="1013012"/>
          </a:xfrm>
        </p:spPr>
        <p:txBody>
          <a:bodyPr anchor="b" anchorCtr="0">
            <a:noAutofit/>
          </a:bodyPr>
          <a:lstStyle/>
          <a:p>
            <a:r>
              <a:rPr lang="en-US" smtClean="0"/>
              <a:t>Click to edit Master title style</a:t>
            </a:r>
            <a:endParaRPr/>
          </a:p>
        </p:txBody>
      </p:sp>
      <p:sp>
        <p:nvSpPr>
          <p:cNvPr id="3" name="Subtitle 2"/>
          <p:cNvSpPr>
            <a:spLocks noGrp="1"/>
          </p:cNvSpPr>
          <p:nvPr>
            <p:ph type="subTitle" idx="1"/>
          </p:nvPr>
        </p:nvSpPr>
        <p:spPr>
          <a:xfrm>
            <a:off x="820738" y="5230906"/>
            <a:ext cx="7542212" cy="1030942"/>
          </a:xfrm>
        </p:spPr>
        <p:txBody>
          <a:bodyPr/>
          <a:lstStyle>
            <a:lvl1pPr marL="0" indent="0" algn="ctr">
              <a:spcBef>
                <a:spcPct val="30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r>
              <a:rPr lang="en-US" smtClean="0"/>
              <a:t>12/4/2013</a:t>
            </a:r>
            <a:endParaRPr lang="en-US" dirty="0"/>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pic>
        <p:nvPicPr>
          <p:cNvPr id="7" name="Picture 6" descr="MoleculeTracer.png"/>
          <p:cNvPicPr>
            <a:picLocks noChangeAspect="1"/>
          </p:cNvPicPr>
          <p:nvPr/>
        </p:nvPicPr>
        <p:blipFill>
          <a:blip r:embed="rId2"/>
          <a:stretch>
            <a:fillRect/>
          </a:stretch>
        </p:blipFill>
        <p:spPr>
          <a:xfrm>
            <a:off x="1674019" y="224679"/>
            <a:ext cx="5795963" cy="394337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0737" y="1219013"/>
            <a:ext cx="7542213" cy="1958975"/>
          </a:xfrm>
        </p:spPr>
        <p:txBody>
          <a:bodyPr vert="horz" lIns="91440" tIns="45720" rIns="91440" bIns="45720" rtlCol="0" anchor="b" anchorCtr="0">
            <a:noAutofit/>
          </a:bodyPr>
          <a:lstStyle>
            <a:lvl1pPr algn="ctr" defTabSz="914400" rtl="0" eaLnBrk="1" latinLnBrk="0" hangingPunct="1">
              <a:spcBef>
                <a:spcPct val="0"/>
              </a:spcBef>
              <a:buNone/>
              <a:defRPr sz="5200" b="1" kern="1200">
                <a:solidFill>
                  <a:schemeClr val="tx1"/>
                </a:solidFill>
                <a:effectLst>
                  <a:outerShdw blurRad="101600" dist="63500" dir="2700000" algn="tl" rotWithShape="0">
                    <a:prstClr val="black">
                      <a:alpha val="75000"/>
                    </a:prstClr>
                  </a:outerShdw>
                </a:effectLst>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820737" y="3224213"/>
            <a:ext cx="7542213" cy="1500187"/>
          </a:xfrm>
        </p:spPr>
        <p:txBody>
          <a:bodyPr vert="horz" lIns="91440" tIns="45720" rIns="91440" bIns="45720" rtlCol="0">
            <a:normAutofit/>
          </a:bodyPr>
          <a:lstStyle>
            <a:lvl1pPr marL="0" indent="0" algn="ctr" defTabSz="914400" rtl="0" eaLnBrk="1" latinLnBrk="0" hangingPunct="1">
              <a:spcBef>
                <a:spcPts val="300"/>
              </a:spcBef>
              <a:buFontTx/>
              <a:buNone/>
              <a:defRPr sz="2400" b="1" kern="1200">
                <a:solidFill>
                  <a:schemeClr val="tx1">
                    <a:tint val="75000"/>
                  </a:schemeClr>
                </a:solidFill>
                <a:effectLst>
                  <a:outerShdw blurRad="101600" dist="63500" dir="2700000" algn="tl" rotWithShape="0">
                    <a:prstClr val="black">
                      <a:alpha val="75000"/>
                    </a:prst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12/4/2013</a:t>
            </a:r>
            <a:endParaRPr lang="en-US" dirty="0"/>
          </a:p>
        </p:txBody>
      </p:sp>
      <p:sp>
        <p:nvSpPr>
          <p:cNvPr id="5" name="Footer Placeholder 4"/>
          <p:cNvSpPr>
            <a:spLocks noGrp="1"/>
          </p:cNvSpPr>
          <p:nvPr>
            <p:ph type="ftr" sz="quarter" idx="11"/>
          </p:nvPr>
        </p:nvSpPr>
        <p:spPr/>
        <p:txBody>
          <a:bodyPr/>
          <a:lstStyle/>
          <a:p>
            <a:r>
              <a:rPr lang="en-US" smtClean="0"/>
              <a:t>Booz Allen Hamilton</a:t>
            </a:r>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3312" y="107577"/>
            <a:ext cx="8277111" cy="1207502"/>
          </a:xfrm>
        </p:spPr>
        <p:txBody>
          <a:bodyPr/>
          <a:lstStyle/>
          <a:p>
            <a:r>
              <a:rPr lang="en-US" dirty="0" smtClean="0"/>
              <a:t>Click to edit Master title style</a:t>
            </a:r>
            <a:endParaRPr dirty="0"/>
          </a:p>
        </p:txBody>
      </p:sp>
      <p:sp>
        <p:nvSpPr>
          <p:cNvPr id="3" name="Content Placeholder 2"/>
          <p:cNvSpPr>
            <a:spLocks noGrp="1"/>
          </p:cNvSpPr>
          <p:nvPr>
            <p:ph sz="half" idx="1"/>
          </p:nvPr>
        </p:nvSpPr>
        <p:spPr>
          <a:xfrm>
            <a:off x="428188" y="1477212"/>
            <a:ext cx="3904009" cy="4390189"/>
          </a:xfrm>
        </p:spPr>
        <p:txBody>
          <a:bodyPr>
            <a:normAutofit/>
          </a:bodyPr>
          <a:lstStyle>
            <a:lvl1pPr>
              <a:defRPr sz="2000"/>
            </a:lvl1pPr>
            <a:lvl2pPr>
              <a:defRPr sz="1800"/>
            </a:lvl2pPr>
            <a:lvl3pPr>
              <a:defRPr sz="1800"/>
            </a:lvl3pPr>
            <a:lvl4pPr>
              <a:defRPr sz="1800"/>
            </a:lvl4pPr>
            <a:lvl5pPr>
              <a:defRPr sz="1800"/>
            </a:lvl5pPr>
            <a:lvl6pPr marL="2173288" indent="-344488">
              <a:defRPr sz="1800"/>
            </a:lvl6pPr>
            <a:lvl7pPr marL="2173288" indent="-344488">
              <a:defRPr sz="1800"/>
            </a:lvl7pPr>
            <a:lvl8pPr marL="2173288" indent="-344488">
              <a:defRPr sz="1800"/>
            </a:lvl8pPr>
            <a:lvl9pPr marL="2173288" indent="-344488">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4" name="Content Placeholder 3"/>
          <p:cNvSpPr>
            <a:spLocks noGrp="1"/>
          </p:cNvSpPr>
          <p:nvPr>
            <p:ph sz="half" idx="2"/>
          </p:nvPr>
        </p:nvSpPr>
        <p:spPr>
          <a:xfrm>
            <a:off x="4703763" y="1477212"/>
            <a:ext cx="3996660" cy="4390189"/>
          </a:xfrm>
        </p:spPr>
        <p:txBody>
          <a:bodyPr>
            <a:normAutofit/>
          </a:bodyPr>
          <a:lstStyle>
            <a:lvl1pPr>
              <a:defRPr sz="2000"/>
            </a:lvl1pPr>
            <a:lvl2pPr>
              <a:defRPr sz="1800"/>
            </a:lvl2pPr>
            <a:lvl3pPr>
              <a:defRPr sz="1800"/>
            </a:lvl3pPr>
            <a:lvl4pPr>
              <a:defRPr sz="1800"/>
            </a:lvl4pPr>
            <a:lvl5pPr>
              <a:defRPr sz="1800"/>
            </a:lvl5pPr>
            <a:lvl6pPr marL="2173288" indent="-344488">
              <a:defRPr sz="1800"/>
            </a:lvl6pPr>
            <a:lvl7pPr marL="2173288" indent="-344488">
              <a:defRPr sz="1800"/>
            </a:lvl7pPr>
            <a:lvl8pPr marL="2173288" indent="-344488">
              <a:defRPr sz="1800"/>
            </a:lvl8pPr>
            <a:lvl9pPr marL="2173288" indent="-344488">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5" name="Date Placeholder 4"/>
          <p:cNvSpPr>
            <a:spLocks noGrp="1"/>
          </p:cNvSpPr>
          <p:nvPr>
            <p:ph type="dt" sz="half" idx="10"/>
          </p:nvPr>
        </p:nvSpPr>
        <p:spPr/>
        <p:txBody>
          <a:bodyPr/>
          <a:lstStyle/>
          <a:p>
            <a:r>
              <a:rPr lang="en-US" smtClean="0"/>
              <a:t>12/4/2013</a:t>
            </a:r>
            <a:endParaRPr lang="en-US"/>
          </a:p>
        </p:txBody>
      </p:sp>
      <p:sp>
        <p:nvSpPr>
          <p:cNvPr id="6" name="Footer Placeholder 5"/>
          <p:cNvSpPr>
            <a:spLocks noGrp="1"/>
          </p:cNvSpPr>
          <p:nvPr>
            <p:ph type="ftr" sz="quarter" idx="11"/>
          </p:nvPr>
        </p:nvSpPr>
        <p:spPr/>
        <p:txBody>
          <a:bodyPr/>
          <a:lstStyle/>
          <a:p>
            <a:r>
              <a:rPr lang="en-US" smtClean="0"/>
              <a:t>Booz Allen Hamilton</a:t>
            </a:r>
            <a:endParaRPr lang="en-US"/>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79462" y="107577"/>
            <a:ext cx="7581901" cy="1653988"/>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9462" y="1761565"/>
            <a:ext cx="3657600" cy="515469"/>
          </a:xfrm>
        </p:spPr>
        <p:txBody>
          <a:bodyPr anchor="b">
            <a:normAutofit/>
          </a:bodyPr>
          <a:lstStyle>
            <a:lvl1pPr marL="0" indent="0" algn="ctr">
              <a:spcBef>
                <a:spcPct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9462" y="2393575"/>
            <a:ext cx="3657600" cy="3473823"/>
          </a:xfrm>
        </p:spPr>
        <p:txBody>
          <a:bodyPr>
            <a:normAutofit/>
          </a:bodyPr>
          <a:lstStyle>
            <a:lvl1pPr>
              <a:defRPr sz="2000"/>
            </a:lvl1pPr>
            <a:lvl2pPr>
              <a:defRPr sz="1800"/>
            </a:lvl2pPr>
            <a:lvl3pPr>
              <a:defRPr sz="1800"/>
            </a:lvl3pPr>
            <a:lvl4pPr>
              <a:defRPr sz="1800"/>
            </a:lvl4pPr>
            <a:lvl5pPr>
              <a:defRPr sz="1800"/>
            </a:lvl5pPr>
            <a:lvl6pPr marL="2173288" indent="-344488">
              <a:defRPr sz="1600"/>
            </a:lvl6pPr>
            <a:lvl7pPr marL="2173288" indent="-344488">
              <a:defRPr sz="1600"/>
            </a:lvl7pPr>
            <a:lvl8pPr marL="2173288" indent="-344488">
              <a:defRPr sz="1600"/>
            </a:lvl8pPr>
            <a:lvl9pPr marL="2173288"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4703763" y="1761565"/>
            <a:ext cx="3657600" cy="515469"/>
          </a:xfrm>
        </p:spPr>
        <p:txBody>
          <a:bodyPr anchor="b">
            <a:normAutofit/>
          </a:bodyPr>
          <a:lstStyle>
            <a:lvl1pPr marL="0" indent="0" algn="ctr">
              <a:spcBef>
                <a:spcPct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03763" y="2393575"/>
            <a:ext cx="3657600" cy="3473823"/>
          </a:xfrm>
        </p:spPr>
        <p:txBody>
          <a:bodyPr>
            <a:normAutofit/>
          </a:bodyPr>
          <a:lstStyle>
            <a:lvl1pPr>
              <a:defRPr sz="2000"/>
            </a:lvl1pPr>
            <a:lvl2pPr>
              <a:defRPr sz="1800"/>
            </a:lvl2pPr>
            <a:lvl3pPr>
              <a:defRPr sz="1800"/>
            </a:lvl3pPr>
            <a:lvl4pPr>
              <a:defRPr sz="1800"/>
            </a:lvl4pPr>
            <a:lvl5pPr>
              <a:defRPr sz="1800"/>
            </a:lvl5pPr>
            <a:lvl6pPr marL="2173288" indent="-344488">
              <a:defRPr sz="1600"/>
            </a:lvl6pPr>
            <a:lvl7pPr marL="2173288" indent="-344488">
              <a:defRPr sz="1600"/>
            </a:lvl7pPr>
            <a:lvl8pPr marL="2173288" indent="-344488">
              <a:defRPr sz="1600"/>
            </a:lvl8pPr>
            <a:lvl9pPr marL="2173288"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r>
              <a:rPr lang="en-US" smtClean="0"/>
              <a:t>12/4/2013</a:t>
            </a:r>
            <a:endParaRPr lang="en-US"/>
          </a:p>
        </p:txBody>
      </p:sp>
      <p:sp>
        <p:nvSpPr>
          <p:cNvPr id="8" name="Footer Placeholder 7"/>
          <p:cNvSpPr>
            <a:spLocks noGrp="1"/>
          </p:cNvSpPr>
          <p:nvPr>
            <p:ph type="ftr" sz="quarter" idx="11"/>
          </p:nvPr>
        </p:nvSpPr>
        <p:spPr/>
        <p:txBody>
          <a:bodyPr/>
          <a:lstStyle/>
          <a:p>
            <a:r>
              <a:rPr lang="en-US" smtClean="0"/>
              <a:t>Booz Allen Hamilton</a:t>
            </a:r>
            <a:endParaRPr lang="en-US"/>
          </a:p>
        </p:txBody>
      </p:sp>
      <p:sp>
        <p:nvSpPr>
          <p:cNvPr id="9" name="Slide Number Placeholder 8"/>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r>
              <a:rPr lang="en-US" smtClean="0"/>
              <a:t>12/4/2013</a:t>
            </a:r>
            <a:endParaRPr lang="en-US"/>
          </a:p>
        </p:txBody>
      </p:sp>
      <p:sp>
        <p:nvSpPr>
          <p:cNvPr id="4" name="Footer Placeholder 3"/>
          <p:cNvSpPr>
            <a:spLocks noGrp="1"/>
          </p:cNvSpPr>
          <p:nvPr>
            <p:ph type="ftr" sz="quarter" idx="11"/>
          </p:nvPr>
        </p:nvSpPr>
        <p:spPr/>
        <p:txBody>
          <a:bodyPr/>
          <a:lstStyle/>
          <a:p>
            <a:r>
              <a:rPr lang="en-US" smtClean="0"/>
              <a:t>Booz Allen Hamilton</a:t>
            </a:r>
            <a:endParaRPr lang="en-US"/>
          </a:p>
        </p:txBody>
      </p:sp>
      <p:sp>
        <p:nvSpPr>
          <p:cNvPr id="5" name="Slide Number Placeholder 4"/>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12/4/2013</a:t>
            </a:r>
            <a:endParaRPr lang="en-US"/>
          </a:p>
        </p:txBody>
      </p:sp>
      <p:sp>
        <p:nvSpPr>
          <p:cNvPr id="3" name="Footer Placeholder 2"/>
          <p:cNvSpPr>
            <a:spLocks noGrp="1"/>
          </p:cNvSpPr>
          <p:nvPr>
            <p:ph type="ftr" sz="quarter" idx="11"/>
          </p:nvPr>
        </p:nvSpPr>
        <p:spPr/>
        <p:txBody>
          <a:bodyPr/>
          <a:lstStyle/>
          <a:p>
            <a:r>
              <a:rPr lang="en-US" smtClean="0"/>
              <a:t>Booz Allen Hamilton</a:t>
            </a:r>
            <a:endParaRPr lang="en-US"/>
          </a:p>
        </p:txBody>
      </p:sp>
      <p:sp>
        <p:nvSpPr>
          <p:cNvPr id="4" name="Slide Number Placeholder 3"/>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9929" y="457201"/>
            <a:ext cx="3566160" cy="1371600"/>
          </a:xfrm>
        </p:spPr>
        <p:txBody>
          <a:bodyPr anchor="b">
            <a:normAutofit/>
          </a:bodyPr>
          <a:lstStyle>
            <a:lvl1pPr algn="ctr">
              <a:defRPr sz="3600" b="1"/>
            </a:lvl1pPr>
          </a:lstStyle>
          <a:p>
            <a:r>
              <a:rPr lang="en-US" smtClean="0"/>
              <a:t>Click to edit Master title style</a:t>
            </a:r>
            <a:endParaRPr/>
          </a:p>
        </p:txBody>
      </p:sp>
      <p:sp>
        <p:nvSpPr>
          <p:cNvPr id="3" name="Content Placeholder 2"/>
          <p:cNvSpPr>
            <a:spLocks noGrp="1"/>
          </p:cNvSpPr>
          <p:nvPr>
            <p:ph idx="1"/>
          </p:nvPr>
        </p:nvSpPr>
        <p:spPr>
          <a:xfrm>
            <a:off x="4802393" y="457201"/>
            <a:ext cx="3566160" cy="5410200"/>
          </a:xfrm>
        </p:spPr>
        <p:txBody>
          <a:bodyPr>
            <a:normAutofit/>
          </a:bodyPr>
          <a:lstStyle>
            <a:lvl1pPr>
              <a:defRPr sz="2400"/>
            </a:lvl1pPr>
            <a:lvl2pPr>
              <a:defRPr sz="2200"/>
            </a:lvl2pPr>
            <a:lvl3pPr>
              <a:defRPr sz="2000"/>
            </a:lvl3pPr>
            <a:lvl4pPr>
              <a:defRPr sz="1800"/>
            </a:lvl4pPr>
            <a:lvl5pPr>
              <a:defRPr sz="1800"/>
            </a:lvl5pPr>
            <a:lvl6pPr marL="2173288" indent="-344488">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6pPr>
            <a:lvl7pPr marL="2173288" indent="-344488">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7pPr>
            <a:lvl8pPr marL="2173288" indent="-344488">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8pPr>
            <a:lvl9pPr marL="2173288" indent="-344488">
              <a:defRPr sz="1800" b="1" kern="1200" dirty="0">
                <a:solidFill>
                  <a:schemeClr val="tx1"/>
                </a:solidFill>
                <a:effectLst>
                  <a:outerShdw blurRad="101600" dist="63500" dir="2700000" algn="tl" rotWithShape="0">
                    <a:prstClr val="black">
                      <a:alpha val="75000"/>
                    </a:prstClr>
                  </a:outerShdw>
                </a:effectLst>
                <a:latin typeface="+mn-lt"/>
                <a:ea typeface="+mn-ea"/>
                <a:cs typeface="+mn-cs"/>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779929" y="1828801"/>
            <a:ext cx="3566160" cy="3657600"/>
          </a:xfrm>
        </p:spPr>
        <p:txBody>
          <a:bodyPr>
            <a:normAutofit/>
          </a:bodyPr>
          <a:lstStyle>
            <a:lvl1pPr marL="0" indent="0" algn="ctr">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12/4/2013</a:t>
            </a:r>
            <a:endParaRPr lang="en-US"/>
          </a:p>
        </p:txBody>
      </p:sp>
      <p:sp>
        <p:nvSpPr>
          <p:cNvPr id="6" name="Footer Placeholder 5"/>
          <p:cNvSpPr>
            <a:spLocks noGrp="1"/>
          </p:cNvSpPr>
          <p:nvPr>
            <p:ph type="ftr" sz="quarter" idx="11"/>
          </p:nvPr>
        </p:nvSpPr>
        <p:spPr/>
        <p:txBody>
          <a:bodyPr/>
          <a:lstStyle/>
          <a:p>
            <a:r>
              <a:rPr lang="en-US" smtClean="0"/>
              <a:t>Booz Allen Hamilton</a:t>
            </a:r>
            <a:endParaRPr lang="en-US"/>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7240" y="457200"/>
            <a:ext cx="3566160" cy="1371600"/>
          </a:xfrm>
        </p:spPr>
        <p:txBody>
          <a:bodyPr anchor="b">
            <a:normAutofit/>
          </a:bodyPr>
          <a:lstStyle>
            <a:lvl1pPr algn="ctr">
              <a:defRPr sz="3600" b="1" kern="1200">
                <a:solidFill>
                  <a:schemeClr val="tx1"/>
                </a:solidFill>
                <a:effectLst>
                  <a:outerShdw blurRad="101600" dist="63500" dir="2700000" algn="tl" rotWithShape="0">
                    <a:prstClr val="black">
                      <a:alpha val="75000"/>
                    </a:prstClr>
                  </a:outerShdw>
                </a:effectLst>
                <a:latin typeface="+mj-lt"/>
                <a:ea typeface="+mj-ea"/>
                <a:cs typeface="+mj-cs"/>
              </a:defRPr>
            </a:lvl1pPr>
          </a:lstStyle>
          <a:p>
            <a:r>
              <a:rPr lang="en-US" dirty="0" smtClean="0"/>
              <a:t>Click to edit Master title style</a:t>
            </a:r>
            <a:endParaRPr dirty="0"/>
          </a:p>
        </p:txBody>
      </p:sp>
      <p:sp>
        <p:nvSpPr>
          <p:cNvPr id="3" name="Picture Placeholder 2"/>
          <p:cNvSpPr>
            <a:spLocks noGrp="1"/>
          </p:cNvSpPr>
          <p:nvPr>
            <p:ph type="pic" idx="1"/>
          </p:nvPr>
        </p:nvSpPr>
        <p:spPr>
          <a:xfrm>
            <a:off x="5266765" y="1676400"/>
            <a:ext cx="2975610" cy="2975610"/>
          </a:xfrm>
          <a:prstGeom prst="ellipse">
            <a:avLst/>
          </a:prstGeom>
          <a:solidFill>
            <a:schemeClr val="tx1">
              <a:lumMod val="75000"/>
            </a:schemeClr>
          </a:solidFill>
          <a:ln w="63500">
            <a:solidFill>
              <a:schemeClr val="tx1"/>
            </a:solidFill>
          </a:ln>
          <a:effectLst>
            <a:outerShdw blurRad="254000" dist="152400" dir="5400000" sx="90000" sy="-19000" rotWithShape="0">
              <a:prstClr val="black">
                <a:alpha val="2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777240" y="1828800"/>
            <a:ext cx="3566160" cy="3657600"/>
          </a:xfrm>
        </p:spPr>
        <p:txBody>
          <a:bodyPr vert="horz" lIns="91440" tIns="45720" rIns="91440" bIns="45720" rtlCol="0">
            <a:normAutofit/>
          </a:bodyPr>
          <a:lstStyle>
            <a:lvl1pPr marL="0" indent="0" algn="ctr">
              <a:spcBef>
                <a:spcPts val="600"/>
              </a:spcBef>
              <a:buNone/>
              <a:defRPr sz="2000" b="1" kern="1200">
                <a:solidFill>
                  <a:schemeClr val="tx1"/>
                </a:solidFill>
                <a:effectLst>
                  <a:outerShdw blurRad="101600" dist="63500" dir="2700000" algn="tl" rotWithShape="0">
                    <a:prstClr val="black">
                      <a:alpha val="75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000"/>
              </a:spcBef>
              <a:buFontTx/>
              <a:buNone/>
            </a:pPr>
            <a:r>
              <a:rPr lang="en-US" smtClean="0"/>
              <a:t>Click to edit Master text styles</a:t>
            </a:r>
          </a:p>
        </p:txBody>
      </p:sp>
      <p:sp>
        <p:nvSpPr>
          <p:cNvPr id="5" name="Date Placeholder 4"/>
          <p:cNvSpPr>
            <a:spLocks noGrp="1"/>
          </p:cNvSpPr>
          <p:nvPr>
            <p:ph type="dt" sz="half" idx="10"/>
          </p:nvPr>
        </p:nvSpPr>
        <p:spPr/>
        <p:txBody>
          <a:bodyPr/>
          <a:lstStyle/>
          <a:p>
            <a:r>
              <a:rPr lang="en-US" smtClean="0"/>
              <a:t>12/4/2013</a:t>
            </a:r>
            <a:endParaRPr lang="en-US"/>
          </a:p>
        </p:txBody>
      </p:sp>
      <p:sp>
        <p:nvSpPr>
          <p:cNvPr id="6" name="Footer Placeholder 5"/>
          <p:cNvSpPr>
            <a:spLocks noGrp="1"/>
          </p:cNvSpPr>
          <p:nvPr>
            <p:ph type="ftr" sz="quarter" idx="11"/>
          </p:nvPr>
        </p:nvSpPr>
        <p:spPr/>
        <p:txBody>
          <a:bodyPr/>
          <a:lstStyle/>
          <a:p>
            <a:r>
              <a:rPr lang="en-US" smtClean="0"/>
              <a:t>Booz Allen Hamilton</a:t>
            </a:r>
            <a:endParaRPr lang="en-US"/>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777240" y="3962399"/>
            <a:ext cx="7585710" cy="672353"/>
          </a:xfrm>
        </p:spPr>
        <p:txBody>
          <a:bodyPr anchor="b">
            <a:normAutofit/>
          </a:bodyPr>
          <a:lstStyle>
            <a:lvl1pPr algn="ctr">
              <a:defRPr sz="3600" b="1" kern="1200">
                <a:solidFill>
                  <a:schemeClr val="tx1"/>
                </a:solidFill>
                <a:effectLst>
                  <a:outerShdw blurRad="101600" dist="63500" dir="2700000" algn="tl" rotWithShape="0">
                    <a:prstClr val="black">
                      <a:alpha val="75000"/>
                    </a:prstClr>
                  </a:outerShdw>
                </a:effectLst>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3101957" y="457200"/>
            <a:ext cx="2940087" cy="2940087"/>
          </a:xfrm>
          <a:prstGeom prst="ellipse">
            <a:avLst/>
          </a:prstGeom>
          <a:solidFill>
            <a:schemeClr val="tx1">
              <a:lumMod val="75000"/>
            </a:schemeClr>
          </a:solidFill>
          <a:ln w="63500">
            <a:solidFill>
              <a:schemeClr val="tx1"/>
            </a:solidFill>
          </a:ln>
          <a:effectLst>
            <a:outerShdw blurRad="254000" dist="152400" dir="5400000" sx="90000" sy="-19000" rotWithShape="0">
              <a:prstClr val="black">
                <a:alpha val="20000"/>
              </a:prstClr>
            </a:outerShdw>
          </a:effectLst>
        </p:spPr>
        <p:txBody>
          <a:bodyPr vert="horz" lIns="91440" tIns="45720" rIns="91440" bIns="45720" rtlCol="0">
            <a:normAutofit/>
          </a:bodyPr>
          <a:lstStyle>
            <a:lvl1pPr marL="0" indent="0" algn="l" defTabSz="914400" rtl="0" eaLnBrk="1" latinLnBrk="0" hangingPunct="1">
              <a:spcBef>
                <a:spcPts val="2000"/>
              </a:spcBef>
              <a:buFontTx/>
              <a:buNone/>
              <a:defRPr sz="2400" b="1" kern="1200">
                <a:solidFill>
                  <a:schemeClr val="tx1"/>
                </a:solidFill>
                <a:effectLst>
                  <a:outerShdw blurRad="101600" dist="63500" dir="2700000" algn="tl" rotWithShape="0">
                    <a:prstClr val="black">
                      <a:alpha val="75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777240" y="4639235"/>
            <a:ext cx="7585710" cy="1371600"/>
          </a:xfrm>
        </p:spPr>
        <p:txBody>
          <a:bodyPr vert="horz" lIns="91440" tIns="45720" rIns="91440" bIns="45720" rtlCol="0">
            <a:normAutofit/>
          </a:bodyPr>
          <a:lstStyle>
            <a:lvl1pPr marL="0" indent="0" algn="ctr">
              <a:spcBef>
                <a:spcPts val="0"/>
              </a:spcBef>
              <a:buNone/>
              <a:defRPr sz="2000" b="1" kern="1200">
                <a:solidFill>
                  <a:schemeClr val="tx1"/>
                </a:solidFill>
                <a:effectLst>
                  <a:outerShdw blurRad="101600" dist="63500" dir="2700000" algn="tl" rotWithShape="0">
                    <a:prstClr val="black">
                      <a:alpha val="75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000"/>
              </a:spcBef>
              <a:buFontTx/>
              <a:buNone/>
            </a:pPr>
            <a:r>
              <a:rPr lang="en-US" smtClean="0"/>
              <a:t>Click to edit Master text styles</a:t>
            </a:r>
          </a:p>
        </p:txBody>
      </p:sp>
      <p:sp>
        <p:nvSpPr>
          <p:cNvPr id="5" name="Date Placeholder 4"/>
          <p:cNvSpPr>
            <a:spLocks noGrp="1"/>
          </p:cNvSpPr>
          <p:nvPr>
            <p:ph type="dt" sz="half" idx="10"/>
          </p:nvPr>
        </p:nvSpPr>
        <p:spPr/>
        <p:txBody>
          <a:bodyPr/>
          <a:lstStyle/>
          <a:p>
            <a:r>
              <a:rPr lang="en-US" smtClean="0"/>
              <a:t>12/4/2013</a:t>
            </a:r>
            <a:endParaRPr lang="en-US" dirty="0"/>
          </a:p>
        </p:txBody>
      </p:sp>
      <p:sp>
        <p:nvSpPr>
          <p:cNvPr id="6" name="Footer Placeholder 5"/>
          <p:cNvSpPr>
            <a:spLocks noGrp="1"/>
          </p:cNvSpPr>
          <p:nvPr>
            <p:ph type="ftr" sz="quarter" idx="11"/>
          </p:nvPr>
        </p:nvSpPr>
        <p:spPr/>
        <p:txBody>
          <a:bodyPr/>
          <a:lstStyle/>
          <a:p>
            <a:r>
              <a:rPr lang="en-US" smtClean="0"/>
              <a:t>Booz Allen Hamilton</a:t>
            </a:r>
            <a:endParaRPr lang="en-US" dirty="0"/>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19365" y="416859"/>
            <a:ext cx="1940859" cy="5607424"/>
          </a:xfrm>
        </p:spPr>
        <p:txBody>
          <a:bodyPr vert="eaVert" anchor="ctr" anchorCtr="0"/>
          <a:lstStyle/>
          <a:p>
            <a:r>
              <a:rPr lang="en-US" smtClean="0"/>
              <a:t>Click to edit Master title style</a:t>
            </a:r>
            <a:endParaRPr/>
          </a:p>
        </p:txBody>
      </p:sp>
      <p:sp>
        <p:nvSpPr>
          <p:cNvPr id="3" name="Vertical Text Placeholder 2"/>
          <p:cNvSpPr>
            <a:spLocks noGrp="1"/>
          </p:cNvSpPr>
          <p:nvPr>
            <p:ph type="body" orient="vert" idx="1"/>
          </p:nvPr>
        </p:nvSpPr>
        <p:spPr>
          <a:xfrm>
            <a:off x="820737" y="414015"/>
            <a:ext cx="6144839" cy="5610268"/>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r>
              <a:rPr lang="en-US" smtClean="0"/>
              <a:t>12/4/2013</a:t>
            </a:r>
            <a:endParaRPr lang="en-US" dirty="0"/>
          </a:p>
        </p:txBody>
      </p:sp>
      <p:sp>
        <p:nvSpPr>
          <p:cNvPr id="5" name="Footer Placeholder 4"/>
          <p:cNvSpPr>
            <a:spLocks noGrp="1"/>
          </p:cNvSpPr>
          <p:nvPr>
            <p:ph type="ftr" sz="quarter" idx="11"/>
          </p:nvPr>
        </p:nvSpPr>
        <p:spPr/>
        <p:txBody>
          <a:bodyPr/>
          <a:lstStyle/>
          <a:p>
            <a:r>
              <a:rPr lang="en-US" smtClean="0"/>
              <a:t>Booz Allen Hamilton</a:t>
            </a:r>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2.png"/><Relationship Id="rId1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GridOverlay.png"/>
          <p:cNvPicPr>
            <a:picLocks noChangeAspect="1"/>
          </p:cNvPicPr>
          <p:nvPr/>
        </p:nvPicPr>
        <p:blipFill>
          <a:blip r:embed="rId14"/>
          <a:stretch>
            <a:fillRect/>
          </a:stretch>
        </p:blipFill>
        <p:spPr>
          <a:xfrm>
            <a:off x="0" y="0"/>
            <a:ext cx="9144000" cy="6858000"/>
          </a:xfrm>
          <a:prstGeom prst="rect">
            <a:avLst/>
          </a:prstGeom>
          <a:solidFill>
            <a:schemeClr val="bg2">
              <a:lumMod val="60000"/>
              <a:lumOff val="40000"/>
              <a:alpha val="10000"/>
            </a:schemeClr>
          </a:solidFill>
        </p:spPr>
      </p:pic>
      <p:sp>
        <p:nvSpPr>
          <p:cNvPr id="2" name="Title Placeholder 1"/>
          <p:cNvSpPr>
            <a:spLocks noGrp="1"/>
          </p:cNvSpPr>
          <p:nvPr>
            <p:ph type="title"/>
          </p:nvPr>
        </p:nvSpPr>
        <p:spPr>
          <a:xfrm>
            <a:off x="441326" y="107577"/>
            <a:ext cx="8259097" cy="1135443"/>
          </a:xfrm>
          <a:prstGeom prst="rect">
            <a:avLst/>
          </a:prstGeom>
        </p:spPr>
        <p:txBody>
          <a:bodyPr vert="horz" lIns="91440" tIns="45720" rIns="91440" bIns="45720" rtlCol="0" anchor="ctr">
            <a:noAutofit/>
          </a:bodyPr>
          <a:lstStyle/>
          <a:p>
            <a:r>
              <a:rPr lang="en-US" dirty="0" smtClean="0"/>
              <a:t>Click to edit Master title style</a:t>
            </a:r>
            <a:endParaRPr dirty="0"/>
          </a:p>
        </p:txBody>
      </p:sp>
      <p:sp>
        <p:nvSpPr>
          <p:cNvPr id="3" name="Text Placeholder 2"/>
          <p:cNvSpPr>
            <a:spLocks noGrp="1"/>
          </p:cNvSpPr>
          <p:nvPr>
            <p:ph type="body" idx="1"/>
          </p:nvPr>
        </p:nvSpPr>
        <p:spPr>
          <a:xfrm>
            <a:off x="441326" y="1477211"/>
            <a:ext cx="8259097" cy="457575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4" name="Date Placeholder 3"/>
          <p:cNvSpPr>
            <a:spLocks noGrp="1"/>
          </p:cNvSpPr>
          <p:nvPr>
            <p:ph type="dt" sz="half" idx="2"/>
          </p:nvPr>
        </p:nvSpPr>
        <p:spPr>
          <a:xfrm>
            <a:off x="6651812" y="6356350"/>
            <a:ext cx="2133600" cy="365125"/>
          </a:xfrm>
          <a:prstGeom prst="rect">
            <a:avLst/>
          </a:prstGeom>
        </p:spPr>
        <p:txBody>
          <a:bodyPr vert="horz" lIns="91440" tIns="45720" rIns="91440" bIns="45720" rtlCol="0" anchor="ctr"/>
          <a:lstStyle>
            <a:lvl1pPr algn="r">
              <a:defRPr sz="1100">
                <a:solidFill>
                  <a:schemeClr val="tx1">
                    <a:tint val="75000"/>
                  </a:schemeClr>
                </a:solidFill>
                <a:effectLst>
                  <a:outerShdw blurRad="101600" dist="63500" dir="2700000" algn="tl" rotWithShape="0">
                    <a:prstClr val="black">
                      <a:alpha val="75000"/>
                    </a:prstClr>
                  </a:outerShdw>
                </a:effectLst>
              </a:defRPr>
            </a:lvl1pPr>
          </a:lstStyle>
          <a:p>
            <a:r>
              <a:rPr lang="en-US" smtClean="0"/>
              <a:t>12/4/2013</a:t>
            </a:r>
            <a:endParaRPr lang="en-US" dirty="0"/>
          </a:p>
        </p:txBody>
      </p:sp>
      <p:sp>
        <p:nvSpPr>
          <p:cNvPr id="5" name="Footer Placeholder 4"/>
          <p:cNvSpPr>
            <a:spLocks noGrp="1"/>
          </p:cNvSpPr>
          <p:nvPr>
            <p:ph type="ftr" sz="quarter" idx="3"/>
          </p:nvPr>
        </p:nvSpPr>
        <p:spPr>
          <a:xfrm>
            <a:off x="354106" y="6356350"/>
            <a:ext cx="2895600" cy="365125"/>
          </a:xfrm>
          <a:prstGeom prst="rect">
            <a:avLst/>
          </a:prstGeom>
        </p:spPr>
        <p:txBody>
          <a:bodyPr vert="horz" lIns="91440" tIns="45720" rIns="91440" bIns="45720" rtlCol="0" anchor="ctr"/>
          <a:lstStyle>
            <a:lvl1pPr algn="l">
              <a:defRPr sz="1100">
                <a:solidFill>
                  <a:schemeClr val="tx1">
                    <a:tint val="75000"/>
                  </a:schemeClr>
                </a:solidFill>
                <a:effectLst>
                  <a:outerShdw blurRad="101600" dist="63500" dir="2700000" algn="tl" rotWithShape="0">
                    <a:prstClr val="black">
                      <a:alpha val="75000"/>
                    </a:prstClr>
                  </a:outerShdw>
                </a:effectLst>
              </a:defRPr>
            </a:lvl1pPr>
          </a:lstStyle>
          <a:p>
            <a:r>
              <a:rPr lang="en-US" smtClean="0"/>
              <a:t>Booz Allen Hamilton</a:t>
            </a:r>
            <a:endParaRPr lang="en-US" dirty="0"/>
          </a:p>
        </p:txBody>
      </p:sp>
      <p:sp>
        <p:nvSpPr>
          <p:cNvPr id="6" name="Slide Number Placeholder 5"/>
          <p:cNvSpPr>
            <a:spLocks noGrp="1"/>
          </p:cNvSpPr>
          <p:nvPr>
            <p:ph type="sldNum" sz="quarter" idx="4"/>
          </p:nvPr>
        </p:nvSpPr>
        <p:spPr>
          <a:xfrm>
            <a:off x="4191000" y="6356350"/>
            <a:ext cx="762000" cy="365125"/>
          </a:xfrm>
          <a:prstGeom prst="rect">
            <a:avLst/>
          </a:prstGeom>
        </p:spPr>
        <p:txBody>
          <a:bodyPr vert="horz" lIns="91440" tIns="45720" rIns="91440" bIns="45720" rtlCol="0" anchor="ctr"/>
          <a:lstStyle>
            <a:lvl1pPr algn="ctr">
              <a:defRPr sz="1100">
                <a:solidFill>
                  <a:schemeClr val="tx1">
                    <a:tint val="75000"/>
                  </a:schemeClr>
                </a:solidFill>
                <a:effectLst>
                  <a:outerShdw blurRad="101600" dist="63500" dir="2700000" algn="tl" rotWithShape="0">
                    <a:prstClr val="black">
                      <a:alpha val="75000"/>
                    </a:prstClr>
                  </a:outerShdw>
                </a:effectLst>
              </a:defRPr>
            </a:lvl1pPr>
          </a:lstStyle>
          <a:p>
            <a:fld id="{FA84A37A-AFC2-4A01-80A1-FC20F2C0D5BB}"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 id="2147483902" r:id="rId12"/>
  </p:sldLayoutIdLst>
  <p:hf hdr="0"/>
  <p:txStyles>
    <p:titleStyle>
      <a:lvl1pPr algn="l" defTabSz="914400" rtl="0" eaLnBrk="1" latinLnBrk="0" hangingPunct="1">
        <a:spcBef>
          <a:spcPct val="0"/>
        </a:spcBef>
        <a:buNone/>
        <a:defRPr sz="3200" b="1" kern="1200">
          <a:solidFill>
            <a:schemeClr val="tx1"/>
          </a:solidFill>
          <a:effectLst>
            <a:outerShdw blurRad="101600" dist="63500" dir="2700000" algn="tl" rotWithShape="0">
              <a:prstClr val="black">
                <a:alpha val="75000"/>
              </a:prstClr>
            </a:outerShdw>
          </a:effectLst>
          <a:latin typeface="+mj-lt"/>
          <a:ea typeface="+mj-ea"/>
          <a:cs typeface="+mj-cs"/>
        </a:defRPr>
      </a:lvl1pPr>
    </p:titleStyle>
    <p:bodyStyle>
      <a:lvl1pPr marL="403225" indent="-403225" algn="l" defTabSz="914400" rtl="0" eaLnBrk="1" latinLnBrk="0" hangingPunct="1">
        <a:spcBef>
          <a:spcPts val="1400"/>
        </a:spcBef>
        <a:buFontTx/>
        <a:buBlip>
          <a:blip r:embed="rId15"/>
        </a:buBlip>
        <a:defRPr sz="2000" b="1" kern="1200">
          <a:solidFill>
            <a:schemeClr val="tx1"/>
          </a:solidFill>
          <a:effectLst>
            <a:outerShdw blurRad="101600" dist="63500" dir="2700000" algn="tl" rotWithShape="0">
              <a:prstClr val="black">
                <a:alpha val="75000"/>
              </a:prstClr>
            </a:outerShdw>
          </a:effectLst>
          <a:latin typeface="+mn-lt"/>
          <a:ea typeface="+mn-ea"/>
          <a:cs typeface="+mn-cs"/>
        </a:defRPr>
      </a:lvl1pPr>
      <a:lvl2pPr marL="806450" indent="-403225" algn="l" defTabSz="914400" rtl="0" eaLnBrk="1" latinLnBrk="0" hangingPunct="1">
        <a:spcBef>
          <a:spcPts val="600"/>
        </a:spcBef>
        <a:buFontTx/>
        <a:buBlip>
          <a:blip r:embed="rId15"/>
        </a:buBlip>
        <a:defRPr sz="1800" b="1" kern="1200">
          <a:solidFill>
            <a:schemeClr val="tx1"/>
          </a:solidFill>
          <a:effectLst>
            <a:outerShdw blurRad="101600" dist="63500" dir="2700000" algn="tl" rotWithShape="0">
              <a:prstClr val="black">
                <a:alpha val="75000"/>
              </a:prstClr>
            </a:outerShdw>
          </a:effectLst>
          <a:latin typeface="+mn-lt"/>
          <a:ea typeface="+mn-ea"/>
          <a:cs typeface="+mn-cs"/>
        </a:defRPr>
      </a:lvl2pPr>
      <a:lvl3pPr marL="1143000" indent="-336550" algn="l" defTabSz="914400" rtl="0" eaLnBrk="1" latinLnBrk="0" hangingPunct="1">
        <a:spcBef>
          <a:spcPts val="600"/>
        </a:spcBef>
        <a:buFontTx/>
        <a:buBlip>
          <a:blip r:embed="rId15"/>
        </a:buBlip>
        <a:defRPr sz="1800" b="1" kern="1200">
          <a:solidFill>
            <a:schemeClr val="tx1"/>
          </a:solidFill>
          <a:effectLst>
            <a:outerShdw blurRad="101600" dist="63500" dir="2700000" algn="tl" rotWithShape="0">
              <a:prstClr val="black">
                <a:alpha val="75000"/>
              </a:prstClr>
            </a:outerShdw>
          </a:effectLst>
          <a:latin typeface="+mn-lt"/>
          <a:ea typeface="+mn-ea"/>
          <a:cs typeface="+mn-cs"/>
        </a:defRPr>
      </a:lvl3pPr>
      <a:lvl4pPr marL="1492250" indent="-349250" algn="l" defTabSz="914400" rtl="0" eaLnBrk="1" latinLnBrk="0" hangingPunct="1">
        <a:spcBef>
          <a:spcPts val="600"/>
        </a:spcBef>
        <a:buFontTx/>
        <a:buBlip>
          <a:blip r:embed="rId15"/>
        </a:buBlip>
        <a:defRPr sz="1600" b="1" kern="1200">
          <a:solidFill>
            <a:schemeClr val="tx1"/>
          </a:solidFill>
          <a:effectLst>
            <a:outerShdw blurRad="101600" dist="63500" dir="2700000" algn="tl" rotWithShape="0">
              <a:prstClr val="black">
                <a:alpha val="75000"/>
              </a:prstClr>
            </a:outerShdw>
          </a:effectLst>
          <a:latin typeface="+mn-lt"/>
          <a:ea typeface="+mn-ea"/>
          <a:cs typeface="+mn-cs"/>
        </a:defRPr>
      </a:lvl4pPr>
      <a:lvl5pPr marL="1828800" indent="-336550" algn="l" defTabSz="914400" rtl="0" eaLnBrk="1" latinLnBrk="0" hangingPunct="1">
        <a:spcBef>
          <a:spcPts val="600"/>
        </a:spcBef>
        <a:buFontTx/>
        <a:buBlip>
          <a:blip r:embed="rId15"/>
        </a:buBlip>
        <a:defRPr sz="1600" b="1" kern="1200">
          <a:solidFill>
            <a:schemeClr val="tx1"/>
          </a:solidFill>
          <a:effectLst>
            <a:outerShdw blurRad="101600" dist="63500" dir="2700000" algn="tl" rotWithShape="0">
              <a:prstClr val="black">
                <a:alpha val="75000"/>
              </a:prstClr>
            </a:outerShdw>
          </a:effectLst>
          <a:latin typeface="+mn-lt"/>
          <a:ea typeface="+mn-ea"/>
          <a:cs typeface="+mn-cs"/>
        </a:defRPr>
      </a:lvl5pPr>
      <a:lvl6pPr marL="2173288" indent="-344488" algn="l" defTabSz="914400" rtl="0" eaLnBrk="1" latinLnBrk="0" hangingPunct="1">
        <a:spcBef>
          <a:spcPct val="20000"/>
        </a:spcBef>
        <a:buFontTx/>
        <a:buBlip>
          <a:blip r:embed="rId15"/>
        </a:buBlip>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6pPr>
      <a:lvl7pPr marL="2516188" indent="-344488" algn="l" defTabSz="914400" rtl="0" eaLnBrk="1" latinLnBrk="0" hangingPunct="1">
        <a:spcBef>
          <a:spcPct val="20000"/>
        </a:spcBef>
        <a:buFontTx/>
        <a:buBlip>
          <a:blip r:embed="rId15"/>
        </a:buBlip>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7pPr>
      <a:lvl8pPr marL="2860675" indent="-344488" algn="l" defTabSz="914400" rtl="0" eaLnBrk="1" latinLnBrk="0" hangingPunct="1">
        <a:spcBef>
          <a:spcPct val="20000"/>
        </a:spcBef>
        <a:buFontTx/>
        <a:buBlip>
          <a:blip r:embed="rId15"/>
        </a:buBlip>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8pPr>
      <a:lvl9pPr marL="3205163" indent="-344488" algn="l" defTabSz="914400" rtl="0" eaLnBrk="1" latinLnBrk="0" hangingPunct="1">
        <a:spcBef>
          <a:spcPct val="20000"/>
        </a:spcBef>
        <a:buFontTx/>
        <a:buBlip>
          <a:blip r:embed="rId15"/>
        </a:buBlip>
        <a:defRPr lang="en-US" sz="1800" b="1" kern="1200" dirty="0">
          <a:solidFill>
            <a:schemeClr val="tx1"/>
          </a:solidFill>
          <a:effectLst>
            <a:outerShdw blurRad="101600" dist="63500" dir="2700000" algn="tl" rotWithShape="0">
              <a:prstClr val="black">
                <a:alpha val="75000"/>
              </a:prstClr>
            </a:outerShdw>
          </a:effectLst>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image" Target="../media/image7.png"/><Relationship Id="rId1" Type="http://schemas.openxmlformats.org/officeDocument/2006/relationships/slideLayout" Target="../slideLayouts/slideLayout4.xml"/><Relationship Id="rId2"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nlm.nih.gov/cde/glossary.html%23cdedefinition" TargetMode="Externa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hyperlink" Target="http://dcevents.dublincore.org/IntConf/dc-2012/paper/download/77/59%E2%80%8E"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ieeexplore.ieee.org/xpl/login.jsp?tp=&amp;arnumber=6148416&amp;url=http://ieeexplore.ieee.org/stamp/stamp.jsp?tp=&amp;arnumber=6148416" TargetMode="External"/><Relationship Id="rId4"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hyperlink" Target="http://ceur-ws.org/Vol-809/paper-01.pd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w3.org/2006/07/SWD/SKOS/skos-and-owl/master.html" TargetMode="Externa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hyperlink" Target="http://www.ncbi.nlm.nih.gov/pubmed" TargetMode="External"/><Relationship Id="rId4" Type="http://schemas.openxmlformats.org/officeDocument/2006/relationships/hyperlink" Target="http://gene2mesh.ncibi.org/" TargetMode="External"/><Relationship Id="rId5" Type="http://schemas.openxmlformats.org/officeDocument/2006/relationships/image" Target="../media/image13.png"/><Relationship Id="rId6"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hyperlink" Target="http://www.nlm.nih.gov/mesh/"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www.ncbi.nlm.nih.gov/pubmed" TargetMode="External"/><Relationship Id="rId4" Type="http://schemas.openxmlformats.org/officeDocument/2006/relationships/hyperlink" Target="http://gene2mesh.ncibi.org/" TargetMode="External"/><Relationship Id="rId5" Type="http://schemas.openxmlformats.org/officeDocument/2006/relationships/image" Target="../media/image13.png"/><Relationship Id="rId6"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hyperlink" Target="http://www.nlm.nih.gov/mesh/"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hyperlink" Target="http://gene2mesh.ncibi.org/index.php?term=descriptor:enzyme+activation&amp;taxid=AL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hyperlink" Target="http://bioportal.bioontology.org/ontologies/OBI/" TargetMode="External"/><Relationship Id="rId4"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hyperlink" Target="http://www.obofoundry.or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w3.org/2006/07/SWD/SKOS/skos-and-owl/master.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kuscholarworks.ku.edu/dspace/handle/1808/1106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3000" i="1" dirty="0" smtClean="0"/>
              <a:t>Moving Forward</a:t>
            </a:r>
            <a:r>
              <a:rPr lang="en-US" sz="3000" dirty="0" smtClean="0"/>
              <a:t/>
            </a:r>
            <a:br>
              <a:rPr lang="en-US" sz="3000" dirty="0" smtClean="0"/>
            </a:br>
            <a:r>
              <a:rPr lang="en-US" sz="3600" dirty="0" smtClean="0"/>
              <a:t>DDI Support for Data Discovery</a:t>
            </a:r>
            <a:endParaRPr lang="en-US" sz="3600" dirty="0"/>
          </a:p>
        </p:txBody>
      </p:sp>
      <p:sp>
        <p:nvSpPr>
          <p:cNvPr id="2" name="Subtitle 1"/>
          <p:cNvSpPr>
            <a:spLocks noGrp="1"/>
          </p:cNvSpPr>
          <p:nvPr>
            <p:ph type="subTitle" idx="1"/>
          </p:nvPr>
        </p:nvSpPr>
        <p:spPr/>
        <p:txBody>
          <a:bodyPr/>
          <a:lstStyle/>
          <a:p>
            <a:r>
              <a:rPr lang="en-US" dirty="0" smtClean="0"/>
              <a:t>Jay Greenfield, Ph.D.</a:t>
            </a:r>
            <a:br>
              <a:rPr lang="en-US" dirty="0" smtClean="0"/>
            </a:br>
            <a:r>
              <a:rPr lang="en-US" dirty="0" smtClean="0"/>
              <a:t>EDDI 2013</a:t>
            </a:r>
            <a:br>
              <a:rPr lang="en-US" dirty="0" smtClean="0"/>
            </a:br>
            <a:r>
              <a:rPr lang="en-US" dirty="0" smtClean="0"/>
              <a:t>Paris, France</a:t>
            </a:r>
            <a:endParaRPr lang="en-US" dirty="0"/>
          </a:p>
        </p:txBody>
      </p:sp>
      <p:sp>
        <p:nvSpPr>
          <p:cNvPr id="4" name="Footer Placeholder 3"/>
          <p:cNvSpPr>
            <a:spLocks noGrp="1"/>
          </p:cNvSpPr>
          <p:nvPr>
            <p:ph type="ftr" sz="quarter" idx="11"/>
          </p:nvPr>
        </p:nvSpPr>
        <p:spPr/>
        <p:txBody>
          <a:bodyPr/>
          <a:lstStyle/>
          <a:p>
            <a:r>
              <a:rPr lang="en-US" smtClean="0"/>
              <a:t>Booz Allen Hamilton</a:t>
            </a:r>
            <a:endParaRPr lang="en-US"/>
          </a:p>
        </p:txBody>
      </p:sp>
      <p:sp>
        <p:nvSpPr>
          <p:cNvPr id="5" name="Slide Number Placeholder 4"/>
          <p:cNvSpPr>
            <a:spLocks noGrp="1"/>
          </p:cNvSpPr>
          <p:nvPr>
            <p:ph type="sldNum" sz="quarter" idx="12"/>
          </p:nvPr>
        </p:nvSpPr>
        <p:spPr/>
        <p:txBody>
          <a:bodyPr/>
          <a:lstStyle/>
          <a:p>
            <a:fld id="{FA84A37A-AFC2-4A01-80A1-FC20F2C0D5BB}" type="slidenum">
              <a:rPr lang="en-US" smtClean="0"/>
              <a:pPr/>
              <a:t>1</a:t>
            </a:fld>
            <a:endParaRPr lang="en-US" dirty="0"/>
          </a:p>
        </p:txBody>
      </p:sp>
      <p:sp>
        <p:nvSpPr>
          <p:cNvPr id="6" name="Date Placeholder 5"/>
          <p:cNvSpPr>
            <a:spLocks noGrp="1"/>
          </p:cNvSpPr>
          <p:nvPr>
            <p:ph type="dt" sz="half" idx="10"/>
          </p:nvPr>
        </p:nvSpPr>
        <p:spPr/>
        <p:txBody>
          <a:bodyPr/>
          <a:lstStyle/>
          <a:p>
            <a:r>
              <a:rPr lang="en-US" smtClean="0"/>
              <a:t>12/4/2013</a:t>
            </a:r>
            <a:endParaRPr lang="en-US" dirty="0"/>
          </a:p>
        </p:txBody>
      </p:sp>
    </p:spTree>
    <p:extLst>
      <p:ext uri="{BB962C8B-B14F-4D97-AF65-F5344CB8AC3E}">
        <p14:creationId xmlns:p14="http://schemas.microsoft.com/office/powerpoint/2010/main" val="55837636"/>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84" y="126821"/>
            <a:ext cx="8259097" cy="1135443"/>
          </a:xfrm>
        </p:spPr>
        <p:txBody>
          <a:bodyPr/>
          <a:lstStyle/>
          <a:p>
            <a:r>
              <a:rPr lang="en-US" dirty="0"/>
              <a:t>Moving </a:t>
            </a:r>
            <a:r>
              <a:rPr lang="en-US" dirty="0" smtClean="0"/>
              <a:t>Forward </a:t>
            </a:r>
            <a:r>
              <a:rPr lang="en-US" dirty="0"/>
              <a:t>DDI will become a model-based specification with </a:t>
            </a:r>
            <a:r>
              <a:rPr lang="en-US" dirty="0">
                <a:solidFill>
                  <a:srgbClr val="FFFF00"/>
                </a:solidFill>
              </a:rPr>
              <a:t>packages</a:t>
            </a:r>
            <a:r>
              <a:rPr lang="en-US" dirty="0"/>
              <a:t> and </a:t>
            </a:r>
            <a:r>
              <a:rPr lang="en-US" dirty="0">
                <a:solidFill>
                  <a:srgbClr val="FFFF00"/>
                </a:solidFill>
              </a:rPr>
              <a:t>views</a:t>
            </a:r>
          </a:p>
        </p:txBody>
      </p:sp>
      <p:sp>
        <p:nvSpPr>
          <p:cNvPr id="4" name="Footer Placeholder 3"/>
          <p:cNvSpPr>
            <a:spLocks noGrp="1"/>
          </p:cNvSpPr>
          <p:nvPr>
            <p:ph type="ftr" sz="quarter" idx="11"/>
          </p:nvPr>
        </p:nvSpPr>
        <p:spPr/>
        <p:txBody>
          <a:bodyPr/>
          <a:lstStyle/>
          <a:p>
            <a:r>
              <a:rPr lang="en-US" smtClean="0"/>
              <a:t>Booz Allen Hamilton</a:t>
            </a:r>
            <a:endParaRPr lang="en-US"/>
          </a:p>
        </p:txBody>
      </p:sp>
      <p:sp>
        <p:nvSpPr>
          <p:cNvPr id="5" name="Slide Number Placeholder 4"/>
          <p:cNvSpPr>
            <a:spLocks noGrp="1"/>
          </p:cNvSpPr>
          <p:nvPr>
            <p:ph type="sldNum" sz="quarter" idx="12"/>
          </p:nvPr>
        </p:nvSpPr>
        <p:spPr/>
        <p:txBody>
          <a:bodyPr/>
          <a:lstStyle/>
          <a:p>
            <a:fld id="{FA84A37A-AFC2-4A01-80A1-FC20F2C0D5BB}" type="slidenum">
              <a:rPr lang="en-US" smtClean="0"/>
              <a:pPr/>
              <a:t>2</a:t>
            </a:fld>
            <a:endParaRPr lang="en-US"/>
          </a:p>
        </p:txBody>
      </p:sp>
      <p:pic>
        <p:nvPicPr>
          <p:cNvPr id="6" name="Picture 5"/>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60414" y="1464346"/>
            <a:ext cx="6245184" cy="4683298"/>
          </a:xfrm>
          <a:prstGeom prst="rect">
            <a:avLst/>
          </a:prstGeom>
          <a:noFill/>
          <a:ln>
            <a:noFill/>
          </a:ln>
          <a:effectLst>
            <a:outerShdw blurRad="101600" dist="88900" dir="2700000" algn="tl" rotWithShape="0">
              <a:srgbClr val="000000">
                <a:alpha val="75000"/>
              </a:srgbClr>
            </a:outerShdw>
          </a:effectLst>
        </p:spPr>
      </p:pic>
      <p:sp>
        <p:nvSpPr>
          <p:cNvPr id="7" name="Date Placeholder 6"/>
          <p:cNvSpPr>
            <a:spLocks noGrp="1"/>
          </p:cNvSpPr>
          <p:nvPr>
            <p:ph type="dt" sz="half" idx="10"/>
          </p:nvPr>
        </p:nvSpPr>
        <p:spPr/>
        <p:txBody>
          <a:bodyPr/>
          <a:lstStyle/>
          <a:p>
            <a:r>
              <a:rPr lang="en-US" smtClean="0"/>
              <a:t>12/4/2013</a:t>
            </a:r>
            <a:endParaRPr lang="en-US"/>
          </a:p>
        </p:txBody>
      </p:sp>
    </p:spTree>
    <p:extLst>
      <p:ext uri="{BB962C8B-B14F-4D97-AF65-F5344CB8AC3E}">
        <p14:creationId xmlns:p14="http://schemas.microsoft.com/office/powerpoint/2010/main" val="97748580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Moving </a:t>
            </a:r>
            <a:r>
              <a:rPr lang="en-US" dirty="0" smtClean="0"/>
              <a:t>Forward </a:t>
            </a:r>
            <a:r>
              <a:rPr lang="en-US" dirty="0"/>
              <a:t>DDI will become a model-based specification with packages and views</a:t>
            </a:r>
          </a:p>
        </p:txBody>
      </p:sp>
      <p:sp>
        <p:nvSpPr>
          <p:cNvPr id="7" name="Content Placeholder 6"/>
          <p:cNvSpPr>
            <a:spLocks noGrp="1"/>
          </p:cNvSpPr>
          <p:nvPr>
            <p:ph sz="half" idx="1"/>
          </p:nvPr>
        </p:nvSpPr>
        <p:spPr>
          <a:xfrm>
            <a:off x="428188" y="1477212"/>
            <a:ext cx="3904009" cy="4603821"/>
          </a:xfrm>
        </p:spPr>
        <p:txBody>
          <a:bodyPr/>
          <a:lstStyle/>
          <a:p>
            <a:pPr>
              <a:spcBef>
                <a:spcPts val="1400"/>
              </a:spcBef>
            </a:pPr>
            <a:r>
              <a:rPr lang="en-US" b="0" dirty="0" smtClean="0"/>
              <a:t>DDI </a:t>
            </a:r>
            <a:r>
              <a:rPr lang="en-US" dirty="0" smtClean="0">
                <a:solidFill>
                  <a:srgbClr val="FFFF00"/>
                </a:solidFill>
              </a:rPr>
              <a:t>Foundational </a:t>
            </a:r>
            <a:r>
              <a:rPr lang="en-US" dirty="0">
                <a:solidFill>
                  <a:srgbClr val="FFFF00"/>
                </a:solidFill>
              </a:rPr>
              <a:t>M</a:t>
            </a:r>
            <a:r>
              <a:rPr lang="en-US" dirty="0" smtClean="0">
                <a:solidFill>
                  <a:srgbClr val="FFFF00"/>
                </a:solidFill>
              </a:rPr>
              <a:t>etadata </a:t>
            </a:r>
            <a:r>
              <a:rPr lang="en-US" b="0" dirty="0" smtClean="0"/>
              <a:t>will be built on top </a:t>
            </a:r>
            <a:r>
              <a:rPr lang="en-US" b="0" dirty="0" smtClean="0">
                <a:solidFill>
                  <a:srgbClr val="FFFF00"/>
                </a:solidFill>
              </a:rPr>
              <a:t>of </a:t>
            </a:r>
            <a:r>
              <a:rPr lang="en-US" dirty="0" smtClean="0">
                <a:solidFill>
                  <a:srgbClr val="FFFF00"/>
                </a:solidFill>
              </a:rPr>
              <a:t>core classes and core relationships</a:t>
            </a:r>
            <a:r>
              <a:rPr lang="en-US" b="0" dirty="0" smtClean="0"/>
              <a:t>.</a:t>
            </a:r>
          </a:p>
          <a:p>
            <a:pPr>
              <a:spcBef>
                <a:spcPts val="1400"/>
              </a:spcBef>
            </a:pPr>
            <a:r>
              <a:rPr lang="en-US" dirty="0" smtClean="0">
                <a:solidFill>
                  <a:srgbClr val="FFFF00"/>
                </a:solidFill>
              </a:rPr>
              <a:t>Simple Codebook </a:t>
            </a:r>
            <a:r>
              <a:rPr lang="en-US" b="0" dirty="0" smtClean="0"/>
              <a:t>will specialize the foundational metadata.</a:t>
            </a:r>
          </a:p>
          <a:p>
            <a:pPr>
              <a:spcBef>
                <a:spcPts val="1400"/>
              </a:spcBef>
            </a:pPr>
            <a:r>
              <a:rPr lang="en-US" dirty="0" smtClean="0">
                <a:solidFill>
                  <a:srgbClr val="FFFF00"/>
                </a:solidFill>
              </a:rPr>
              <a:t>Advanced Codebook </a:t>
            </a:r>
            <a:r>
              <a:rPr lang="en-US" b="0" dirty="0" smtClean="0"/>
              <a:t>will specialize Simple Codebook.</a:t>
            </a:r>
          </a:p>
          <a:p>
            <a:pPr>
              <a:spcBef>
                <a:spcPts val="1400"/>
              </a:spcBef>
            </a:pPr>
            <a:r>
              <a:rPr lang="en-US" b="0" dirty="0" smtClean="0"/>
              <a:t>Likewise there will be </a:t>
            </a:r>
            <a:r>
              <a:rPr lang="en-US" dirty="0" smtClean="0">
                <a:solidFill>
                  <a:srgbClr val="FFFF00"/>
                </a:solidFill>
              </a:rPr>
              <a:t>simple and advanced studies</a:t>
            </a:r>
            <a:r>
              <a:rPr lang="en-US" b="0" dirty="0" smtClean="0"/>
              <a:t>, be they longitudinal studies or meta-studies.</a:t>
            </a:r>
            <a:endParaRPr lang="en-US" b="0" dirty="0"/>
          </a:p>
        </p:txBody>
      </p:sp>
      <p:sp>
        <p:nvSpPr>
          <p:cNvPr id="4" name="Footer Placeholder 3"/>
          <p:cNvSpPr>
            <a:spLocks noGrp="1"/>
          </p:cNvSpPr>
          <p:nvPr>
            <p:ph type="ftr" sz="quarter" idx="11"/>
          </p:nvPr>
        </p:nvSpPr>
        <p:spPr/>
        <p:txBody>
          <a:bodyPr/>
          <a:lstStyle/>
          <a:p>
            <a:r>
              <a:rPr lang="en-US" smtClean="0"/>
              <a:t>Booz Allen Hamilton</a:t>
            </a:r>
            <a:endParaRPr lang="en-US"/>
          </a:p>
        </p:txBody>
      </p:sp>
      <p:sp>
        <p:nvSpPr>
          <p:cNvPr id="5" name="Slide Number Placeholder 4"/>
          <p:cNvSpPr>
            <a:spLocks noGrp="1"/>
          </p:cNvSpPr>
          <p:nvPr>
            <p:ph type="sldNum" sz="quarter" idx="12"/>
          </p:nvPr>
        </p:nvSpPr>
        <p:spPr/>
        <p:txBody>
          <a:bodyPr/>
          <a:lstStyle/>
          <a:p>
            <a:fld id="{FA84A37A-AFC2-4A01-80A1-FC20F2C0D5BB}" type="slidenum">
              <a:rPr lang="en-US" smtClean="0"/>
              <a:pPr/>
              <a:t>3</a:t>
            </a:fld>
            <a:endParaRPr lang="en-US"/>
          </a:p>
        </p:txBody>
      </p:sp>
      <p:pic>
        <p:nvPicPr>
          <p:cNvPr id="11" name="Picture 10"/>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816755" y="2076546"/>
            <a:ext cx="3748968" cy="2811371"/>
          </a:xfrm>
          <a:prstGeom prst="rect">
            <a:avLst/>
          </a:prstGeom>
          <a:noFill/>
          <a:ln>
            <a:noFill/>
          </a:ln>
          <a:effectLst>
            <a:outerShdw blurRad="101600" dist="88900" dir="2700000" algn="tl" rotWithShape="0">
              <a:srgbClr val="000000">
                <a:alpha val="75000"/>
              </a:srgbClr>
            </a:outerShdw>
          </a:effectLst>
        </p:spPr>
      </p:pic>
      <p:sp>
        <p:nvSpPr>
          <p:cNvPr id="12" name="Date Placeholder 11"/>
          <p:cNvSpPr>
            <a:spLocks noGrp="1"/>
          </p:cNvSpPr>
          <p:nvPr>
            <p:ph type="dt" sz="half" idx="10"/>
          </p:nvPr>
        </p:nvSpPr>
        <p:spPr/>
        <p:txBody>
          <a:bodyPr/>
          <a:lstStyle/>
          <a:p>
            <a:r>
              <a:rPr lang="en-US" smtClean="0"/>
              <a:t>12/4/2013</a:t>
            </a:r>
            <a:endParaRPr lang="en-US"/>
          </a:p>
        </p:txBody>
      </p:sp>
    </p:spTree>
    <p:extLst>
      <p:ext uri="{BB962C8B-B14F-4D97-AF65-F5344CB8AC3E}">
        <p14:creationId xmlns:p14="http://schemas.microsoft.com/office/powerpoint/2010/main" val="152543407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Driving the packages and views is a </a:t>
            </a:r>
            <a:r>
              <a:rPr lang="en-US" dirty="0" smtClean="0">
                <a:solidFill>
                  <a:srgbClr val="FFFF00"/>
                </a:solidFill>
              </a:rPr>
              <a:t>framework</a:t>
            </a:r>
            <a:r>
              <a:rPr lang="en-US" dirty="0" smtClean="0"/>
              <a:t>…</a:t>
            </a:r>
            <a:endParaRPr lang="en-US" dirty="0"/>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4</a:t>
            </a:fld>
            <a:endParaRPr lang="en-US"/>
          </a:p>
        </p:txBody>
      </p:sp>
      <p:pic>
        <p:nvPicPr>
          <p:cNvPr id="9" name="Picture 8"/>
          <p:cNvPicPr>
            <a:picLocks noChangeAspect="1"/>
          </p:cNvPicPr>
          <p:nvPr/>
        </p:nvPicPr>
        <p:blipFill>
          <a:blip r:embed="rId2"/>
          <a:stretch>
            <a:fillRect/>
          </a:stretch>
        </p:blipFill>
        <p:spPr>
          <a:xfrm>
            <a:off x="1203853" y="1378280"/>
            <a:ext cx="6753079" cy="4789351"/>
          </a:xfrm>
          <a:prstGeom prst="rect">
            <a:avLst/>
          </a:prstGeom>
          <a:effectLst>
            <a:outerShdw blurRad="101600" dist="88900" dir="2700000" algn="tl" rotWithShape="0">
              <a:srgbClr val="000000">
                <a:alpha val="75000"/>
              </a:srgbClr>
            </a:outerShdw>
          </a:effectLst>
        </p:spPr>
      </p:pic>
      <p:sp>
        <p:nvSpPr>
          <p:cNvPr id="10" name="Date Placeholder 9"/>
          <p:cNvSpPr>
            <a:spLocks noGrp="1"/>
          </p:cNvSpPr>
          <p:nvPr>
            <p:ph type="dt" sz="half" idx="10"/>
          </p:nvPr>
        </p:nvSpPr>
        <p:spPr/>
        <p:txBody>
          <a:bodyPr/>
          <a:lstStyle/>
          <a:p>
            <a:r>
              <a:rPr lang="en-US" smtClean="0"/>
              <a:t>12/4/2013</a:t>
            </a:r>
            <a:endParaRPr lang="en-US"/>
          </a:p>
        </p:txBody>
      </p:sp>
    </p:spTree>
    <p:extLst>
      <p:ext uri="{BB962C8B-B14F-4D97-AF65-F5344CB8AC3E}">
        <p14:creationId xmlns:p14="http://schemas.microsoft.com/office/powerpoint/2010/main" val="364113108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 a </a:t>
            </a:r>
            <a:r>
              <a:rPr lang="en-US" dirty="0" smtClean="0">
                <a:solidFill>
                  <a:srgbClr val="FFFF00"/>
                </a:solidFill>
              </a:rPr>
              <a:t>Concept of Operations </a:t>
            </a:r>
            <a:r>
              <a:rPr lang="en-US" dirty="0" smtClean="0"/>
              <a:t>(CONOPS)…</a:t>
            </a:r>
            <a:endParaRPr lang="en-US" dirty="0"/>
          </a:p>
        </p:txBody>
      </p:sp>
      <p:sp>
        <p:nvSpPr>
          <p:cNvPr id="4" name="Footer Placeholder 3"/>
          <p:cNvSpPr>
            <a:spLocks noGrp="1"/>
          </p:cNvSpPr>
          <p:nvPr>
            <p:ph type="ftr" sz="quarter" idx="11"/>
          </p:nvPr>
        </p:nvSpPr>
        <p:spPr/>
        <p:txBody>
          <a:bodyPr/>
          <a:lstStyle/>
          <a:p>
            <a:r>
              <a:rPr lang="en-US" smtClean="0"/>
              <a:t>Booz Allen Hamilton</a:t>
            </a:r>
            <a:endParaRPr lang="en-US"/>
          </a:p>
        </p:txBody>
      </p:sp>
      <p:sp>
        <p:nvSpPr>
          <p:cNvPr id="5" name="Slide Number Placeholder 4"/>
          <p:cNvSpPr>
            <a:spLocks noGrp="1"/>
          </p:cNvSpPr>
          <p:nvPr>
            <p:ph type="sldNum" sz="quarter" idx="12"/>
          </p:nvPr>
        </p:nvSpPr>
        <p:spPr/>
        <p:txBody>
          <a:bodyPr/>
          <a:lstStyle/>
          <a:p>
            <a:fld id="{FA84A37A-AFC2-4A01-80A1-FC20F2C0D5BB}" type="slidenum">
              <a:rPr lang="en-US" smtClean="0"/>
              <a:pPr/>
              <a:t>5</a:t>
            </a:fld>
            <a:endParaRPr lang="en-US"/>
          </a:p>
        </p:txBody>
      </p:sp>
      <p:graphicFrame>
        <p:nvGraphicFramePr>
          <p:cNvPr id="6" name="Diagram 5"/>
          <p:cNvGraphicFramePr/>
          <p:nvPr>
            <p:extLst>
              <p:ext uri="{D42A27DB-BD31-4B8C-83A1-F6EECF244321}">
                <p14:modId xmlns:p14="http://schemas.microsoft.com/office/powerpoint/2010/main" val="229471219"/>
              </p:ext>
            </p:extLst>
          </p:nvPr>
        </p:nvGraphicFramePr>
        <p:xfrm>
          <a:off x="1279655" y="1481771"/>
          <a:ext cx="6581082" cy="4108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Date Placeholder 6"/>
          <p:cNvSpPr>
            <a:spLocks noGrp="1"/>
          </p:cNvSpPr>
          <p:nvPr>
            <p:ph type="dt" sz="half" idx="10"/>
          </p:nvPr>
        </p:nvSpPr>
        <p:spPr/>
        <p:txBody>
          <a:bodyPr/>
          <a:lstStyle/>
          <a:p>
            <a:r>
              <a:rPr lang="en-US" smtClean="0"/>
              <a:t>12/4/2013</a:t>
            </a:r>
            <a:endParaRPr lang="en-US"/>
          </a:p>
        </p:txBody>
      </p:sp>
    </p:spTree>
    <p:extLst>
      <p:ext uri="{BB962C8B-B14F-4D97-AF65-F5344CB8AC3E}">
        <p14:creationId xmlns:p14="http://schemas.microsoft.com/office/powerpoint/2010/main" val="2930540185"/>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312" y="107577"/>
            <a:ext cx="8277111" cy="1499278"/>
          </a:xfrm>
        </p:spPr>
        <p:txBody>
          <a:bodyPr/>
          <a:lstStyle/>
          <a:p>
            <a:r>
              <a:rPr lang="en-US" dirty="0" smtClean="0">
                <a:solidFill>
                  <a:srgbClr val="FFFF00"/>
                </a:solidFill>
              </a:rPr>
              <a:t>Data Discovery </a:t>
            </a:r>
            <a:r>
              <a:rPr lang="en-US" dirty="0" smtClean="0"/>
              <a:t>under this CONOPS is </a:t>
            </a:r>
            <a:r>
              <a:rPr lang="en-US" dirty="0" smtClean="0">
                <a:solidFill>
                  <a:srgbClr val="FFFF00"/>
                </a:solidFill>
              </a:rPr>
              <a:t>semantic search </a:t>
            </a:r>
            <a:r>
              <a:rPr lang="en-US" dirty="0" smtClean="0"/>
              <a:t>which “exposes” key elements from one or more packages in </a:t>
            </a:r>
            <a:r>
              <a:rPr lang="en-US" dirty="0" smtClean="0">
                <a:solidFill>
                  <a:srgbClr val="FFFF00"/>
                </a:solidFill>
              </a:rPr>
              <a:t>views</a:t>
            </a:r>
            <a:r>
              <a:rPr lang="en-US" dirty="0" smtClean="0"/>
              <a:t>…</a:t>
            </a:r>
            <a:endParaRPr lang="en-US" dirty="0"/>
          </a:p>
        </p:txBody>
      </p:sp>
      <p:sp>
        <p:nvSpPr>
          <p:cNvPr id="6" name="Content Placeholder 5"/>
          <p:cNvSpPr>
            <a:spLocks noGrp="1"/>
          </p:cNvSpPr>
          <p:nvPr>
            <p:ph sz="half" idx="1"/>
          </p:nvPr>
        </p:nvSpPr>
        <p:spPr>
          <a:xfrm>
            <a:off x="428189" y="1751182"/>
            <a:ext cx="3914525" cy="4771659"/>
          </a:xfrm>
        </p:spPr>
        <p:txBody>
          <a:bodyPr>
            <a:noAutofit/>
          </a:bodyPr>
          <a:lstStyle/>
          <a:p>
            <a:pPr>
              <a:spcBef>
                <a:spcPts val="1200"/>
              </a:spcBef>
            </a:pPr>
            <a:r>
              <a:rPr lang="en-US" b="0" dirty="0" smtClean="0"/>
              <a:t>From these views first </a:t>
            </a:r>
            <a:br>
              <a:rPr lang="en-US" b="0" dirty="0" smtClean="0"/>
            </a:br>
            <a:r>
              <a:rPr lang="en-US" dirty="0" smtClean="0">
                <a:solidFill>
                  <a:srgbClr val="FFFF00"/>
                </a:solidFill>
              </a:rPr>
              <a:t>XSD schemas</a:t>
            </a:r>
            <a:r>
              <a:rPr lang="en-US" b="0" dirty="0" smtClean="0"/>
              <a:t> and then </a:t>
            </a:r>
            <a:r>
              <a:rPr lang="en-US" dirty="0" smtClean="0">
                <a:solidFill>
                  <a:srgbClr val="FFFF00"/>
                </a:solidFill>
              </a:rPr>
              <a:t>OWL </a:t>
            </a:r>
            <a:br>
              <a:rPr lang="en-US" dirty="0" smtClean="0">
                <a:solidFill>
                  <a:srgbClr val="FFFF00"/>
                </a:solidFill>
              </a:rPr>
            </a:br>
            <a:r>
              <a:rPr lang="en-US" dirty="0" smtClean="0">
                <a:solidFill>
                  <a:srgbClr val="FFFF00"/>
                </a:solidFill>
              </a:rPr>
              <a:t>ontologies </a:t>
            </a:r>
            <a:r>
              <a:rPr lang="en-US" b="0" dirty="0" smtClean="0"/>
              <a:t>are derived.</a:t>
            </a:r>
          </a:p>
          <a:p>
            <a:pPr>
              <a:spcBef>
                <a:spcPts val="1200"/>
              </a:spcBef>
            </a:pPr>
            <a:r>
              <a:rPr lang="en-US" b="0" dirty="0" smtClean="0"/>
              <a:t>As we shall see, there  may be cause to </a:t>
            </a:r>
            <a:r>
              <a:rPr lang="en-US" dirty="0" smtClean="0">
                <a:solidFill>
                  <a:srgbClr val="FFFF00"/>
                </a:solidFill>
              </a:rPr>
              <a:t>extend</a:t>
            </a:r>
            <a:r>
              <a:rPr lang="en-US" b="0" dirty="0" smtClean="0">
                <a:solidFill>
                  <a:srgbClr val="FFFF00"/>
                </a:solidFill>
              </a:rPr>
              <a:t> </a:t>
            </a:r>
            <a:r>
              <a:rPr lang="en-US" b="0" dirty="0" smtClean="0"/>
              <a:t>OWL (Derived) after the fact.</a:t>
            </a:r>
          </a:p>
          <a:p>
            <a:pPr>
              <a:spcBef>
                <a:spcPts val="1200"/>
              </a:spcBef>
            </a:pPr>
            <a:r>
              <a:rPr lang="en-US" b="0" dirty="0" smtClean="0"/>
              <a:t>In Moving Forward codebooks and studies continue as </a:t>
            </a:r>
            <a:r>
              <a:rPr lang="en-US" dirty="0" smtClean="0">
                <a:solidFill>
                  <a:srgbClr val="FFFF00"/>
                </a:solidFill>
              </a:rPr>
              <a:t>XML instances </a:t>
            </a:r>
            <a:r>
              <a:rPr lang="en-US" b="0" dirty="0" smtClean="0"/>
              <a:t>of XSD schemas.</a:t>
            </a:r>
          </a:p>
          <a:p>
            <a:pPr>
              <a:spcBef>
                <a:spcPts val="1200"/>
              </a:spcBef>
            </a:pPr>
            <a:r>
              <a:rPr lang="en-US" b="0" dirty="0" smtClean="0"/>
              <a:t>OWL and </a:t>
            </a:r>
            <a:r>
              <a:rPr lang="en-US" dirty="0" smtClean="0">
                <a:solidFill>
                  <a:srgbClr val="FFFF00"/>
                </a:solidFill>
              </a:rPr>
              <a:t>RDF instance-specific representations </a:t>
            </a:r>
            <a:r>
              <a:rPr lang="en-US" b="0" dirty="0" smtClean="0"/>
              <a:t>of these XML  codebook and study instances are generated.</a:t>
            </a:r>
            <a:endParaRPr lang="en-US" b="0" dirty="0"/>
          </a:p>
        </p:txBody>
      </p:sp>
      <p:sp>
        <p:nvSpPr>
          <p:cNvPr id="4" name="Footer Placeholder 3"/>
          <p:cNvSpPr>
            <a:spLocks noGrp="1"/>
          </p:cNvSpPr>
          <p:nvPr>
            <p:ph type="ftr" sz="quarter" idx="11"/>
          </p:nvPr>
        </p:nvSpPr>
        <p:spPr/>
        <p:txBody>
          <a:bodyPr/>
          <a:lstStyle/>
          <a:p>
            <a:r>
              <a:rPr lang="en-US" dirty="0" smtClean="0"/>
              <a:t>Booz Allen Hamilton</a:t>
            </a:r>
            <a:endParaRPr lang="en-US" dirty="0"/>
          </a:p>
        </p:txBody>
      </p:sp>
      <p:sp>
        <p:nvSpPr>
          <p:cNvPr id="5" name="Slide Number Placeholder 4"/>
          <p:cNvSpPr>
            <a:spLocks noGrp="1"/>
          </p:cNvSpPr>
          <p:nvPr>
            <p:ph type="sldNum" sz="quarter" idx="12"/>
          </p:nvPr>
        </p:nvSpPr>
        <p:spPr/>
        <p:txBody>
          <a:bodyPr/>
          <a:lstStyle/>
          <a:p>
            <a:fld id="{FA84A37A-AFC2-4A01-80A1-FC20F2C0D5BB}" type="slidenum">
              <a:rPr lang="en-US" smtClean="0"/>
              <a:pPr/>
              <a:t>6</a:t>
            </a:fld>
            <a:endParaRPr lang="en-US"/>
          </a:p>
        </p:txBody>
      </p:sp>
      <p:graphicFrame>
        <p:nvGraphicFramePr>
          <p:cNvPr id="8" name="Content Placeholder 7"/>
          <p:cNvGraphicFramePr>
            <a:graphicFrameLocks noGrp="1"/>
          </p:cNvGraphicFramePr>
          <p:nvPr>
            <p:ph sz="half" idx="2"/>
            <p:extLst>
              <p:ext uri="{D42A27DB-BD31-4B8C-83A1-F6EECF244321}">
                <p14:modId xmlns:p14="http://schemas.microsoft.com/office/powerpoint/2010/main" val="2198252125"/>
              </p:ext>
            </p:extLst>
          </p:nvPr>
        </p:nvGraphicFramePr>
        <p:xfrm>
          <a:off x="4389740" y="2102563"/>
          <a:ext cx="4487733" cy="36659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Date Placeholder 8"/>
          <p:cNvSpPr>
            <a:spLocks noGrp="1"/>
          </p:cNvSpPr>
          <p:nvPr>
            <p:ph type="dt" sz="half" idx="10"/>
          </p:nvPr>
        </p:nvSpPr>
        <p:spPr/>
        <p:txBody>
          <a:bodyPr/>
          <a:lstStyle/>
          <a:p>
            <a:r>
              <a:rPr lang="en-US" smtClean="0"/>
              <a:t>12/4/2013</a:t>
            </a:r>
            <a:endParaRPr lang="en-US"/>
          </a:p>
        </p:txBody>
      </p:sp>
      <p:pic>
        <p:nvPicPr>
          <p:cNvPr id="10" name="Picture 9"/>
          <p:cNvPicPr>
            <a:picLocks noChangeAspect="1"/>
          </p:cNvPicPr>
          <p:nvPr/>
        </p:nvPicPr>
        <p:blipFill>
          <a:blip r:embed="rId7"/>
          <a:stretch>
            <a:fillRect/>
          </a:stretch>
        </p:blipFill>
        <p:spPr>
          <a:xfrm>
            <a:off x="8144937" y="5904496"/>
            <a:ext cx="546925" cy="451854"/>
          </a:xfrm>
          <a:prstGeom prst="rect">
            <a:avLst/>
          </a:prstGeom>
        </p:spPr>
      </p:pic>
    </p:spTree>
    <p:extLst>
      <p:ext uri="{BB962C8B-B14F-4D97-AF65-F5344CB8AC3E}">
        <p14:creationId xmlns:p14="http://schemas.microsoft.com/office/powerpoint/2010/main" val="92069895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dissolve">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 we will propose three data discovery views (1 of 3)</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319745892"/>
              </p:ext>
            </p:extLst>
          </p:nvPr>
        </p:nvGraphicFramePr>
        <p:xfrm>
          <a:off x="441325" y="1391365"/>
          <a:ext cx="8259764" cy="3510280"/>
        </p:xfrm>
        <a:graphic>
          <a:graphicData uri="http://schemas.openxmlformats.org/drawingml/2006/table">
            <a:tbl>
              <a:tblPr firstRow="1" bandRow="1">
                <a:tableStyleId>{073A0DAA-6AF3-43AB-8588-CEC1D06C72B9}</a:tableStyleId>
              </a:tblPr>
              <a:tblGrid>
                <a:gridCol w="1675397"/>
                <a:gridCol w="6584367"/>
              </a:tblGrid>
              <a:tr h="370840">
                <a:tc>
                  <a:txBody>
                    <a:bodyPr/>
                    <a:lstStyle/>
                    <a:p>
                      <a:r>
                        <a:rPr lang="en-US" dirty="0" smtClean="0"/>
                        <a:t>View Domain</a:t>
                      </a:r>
                      <a:endParaRPr lang="en-US" dirty="0"/>
                    </a:p>
                  </a:txBody>
                  <a:tcPr/>
                </a:tc>
                <a:tc>
                  <a:txBody>
                    <a:bodyPr/>
                    <a:lstStyle/>
                    <a:p>
                      <a:r>
                        <a:rPr lang="en-US" dirty="0" smtClean="0"/>
                        <a:t>User Story</a:t>
                      </a:r>
                      <a:endParaRPr lang="en-US" dirty="0"/>
                    </a:p>
                  </a:txBody>
                  <a:tcPr/>
                </a:tc>
              </a:tr>
              <a:tr h="370840">
                <a:tc>
                  <a:txBody>
                    <a:bodyPr/>
                    <a:lstStyle/>
                    <a:p>
                      <a:r>
                        <a:rPr lang="en-US" sz="1800" kern="1200" dirty="0" smtClean="0">
                          <a:solidFill>
                            <a:schemeClr val="dk1"/>
                          </a:solidFill>
                          <a:effectLst/>
                          <a:latin typeface="+mn-lt"/>
                          <a:ea typeface="+mn-ea"/>
                          <a:cs typeface="+mn-cs"/>
                        </a:rPr>
                        <a:t>Data Elements and Common Data Elements (CDEs)</a:t>
                      </a:r>
                      <a:r>
                        <a:rPr lang="en-US" dirty="0" smtClean="0">
                          <a:effectLst/>
                        </a:rPr>
                        <a:t> </a:t>
                      </a:r>
                      <a:endParaRPr lang="en-US" dirty="0"/>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a:buChar char="•"/>
                        <a:tabLst/>
                        <a:defRPr/>
                      </a:pPr>
                      <a:r>
                        <a:rPr lang="en-US" sz="1800" b="1" kern="1200" dirty="0" smtClean="0">
                          <a:solidFill>
                            <a:schemeClr val="accent6">
                              <a:lumMod val="75000"/>
                            </a:schemeClr>
                          </a:solidFill>
                          <a:effectLst/>
                          <a:latin typeface="+mn-lt"/>
                          <a:ea typeface="+mn-ea"/>
                          <a:cs typeface="+mn-cs"/>
                        </a:rPr>
                        <a:t>Measures sometimes change </a:t>
                      </a:r>
                      <a:r>
                        <a:rPr lang="en-US" sz="1800" kern="1200" dirty="0" smtClean="0">
                          <a:solidFill>
                            <a:schemeClr val="dk1"/>
                          </a:solidFill>
                          <a:effectLst/>
                          <a:latin typeface="+mn-lt"/>
                          <a:ea typeface="+mn-ea"/>
                          <a:cs typeface="+mn-cs"/>
                        </a:rPr>
                        <a:t>within surveys from one version or wave</a:t>
                      </a:r>
                      <a:r>
                        <a:rPr lang="en-US" sz="1800" kern="1200" baseline="0" dirty="0" smtClean="0">
                          <a:solidFill>
                            <a:schemeClr val="dk1"/>
                          </a:solidFill>
                          <a:effectLst/>
                          <a:latin typeface="+mn-lt"/>
                          <a:ea typeface="+mn-ea"/>
                          <a:cs typeface="+mn-cs"/>
                        </a:rPr>
                        <a:t> of a survey</a:t>
                      </a:r>
                      <a:r>
                        <a:rPr lang="en-US" sz="1800" kern="1200" dirty="0" smtClean="0">
                          <a:solidFill>
                            <a:schemeClr val="dk1"/>
                          </a:solidFill>
                          <a:effectLst/>
                          <a:latin typeface="+mn-lt"/>
                          <a:ea typeface="+mn-ea"/>
                          <a:cs typeface="+mn-cs"/>
                        </a:rPr>
                        <a:t> to the next. </a:t>
                      </a:r>
                    </a:p>
                    <a:p>
                      <a:pPr marL="285750" marR="0" indent="-285750" algn="l" defTabSz="914400" rtl="0" eaLnBrk="1" fontAlgn="auto" latinLnBrk="0" hangingPunct="1">
                        <a:lnSpc>
                          <a:spcPct val="100000"/>
                        </a:lnSpc>
                        <a:spcBef>
                          <a:spcPts val="600"/>
                        </a:spcBef>
                        <a:spcAft>
                          <a:spcPts val="0"/>
                        </a:spcAft>
                        <a:buClrTx/>
                        <a:buSzTx/>
                        <a:buFont typeface="Arial"/>
                        <a:buChar char="•"/>
                        <a:tabLst/>
                        <a:defRPr/>
                      </a:pPr>
                      <a:r>
                        <a:rPr lang="en-US" sz="1800" kern="1200" dirty="0" smtClean="0">
                          <a:solidFill>
                            <a:schemeClr val="dk1"/>
                          </a:solidFill>
                          <a:effectLst/>
                          <a:latin typeface="+mn-lt"/>
                          <a:ea typeface="+mn-ea"/>
                          <a:cs typeface="+mn-cs"/>
                        </a:rPr>
                        <a:t>Change happens. </a:t>
                      </a:r>
                    </a:p>
                    <a:p>
                      <a:pPr marL="285750" marR="0" indent="-285750" algn="l" defTabSz="914400" rtl="0" eaLnBrk="1" fontAlgn="auto" latinLnBrk="0" hangingPunct="1">
                        <a:lnSpc>
                          <a:spcPct val="100000"/>
                        </a:lnSpc>
                        <a:spcBef>
                          <a:spcPts val="600"/>
                        </a:spcBef>
                        <a:spcAft>
                          <a:spcPts val="0"/>
                        </a:spcAft>
                        <a:buClrTx/>
                        <a:buSzTx/>
                        <a:buFont typeface="Arial"/>
                        <a:buChar char="•"/>
                        <a:tabLst/>
                        <a:defRPr/>
                      </a:pPr>
                      <a:r>
                        <a:rPr lang="en-US" sz="1800" kern="1200" dirty="0" smtClean="0">
                          <a:solidFill>
                            <a:schemeClr val="dk1"/>
                          </a:solidFill>
                          <a:effectLst/>
                          <a:latin typeface="+mn-lt"/>
                          <a:ea typeface="+mn-ea"/>
                          <a:cs typeface="+mn-cs"/>
                        </a:rPr>
                        <a:t>Alternatively, sometimes </a:t>
                      </a:r>
                      <a:r>
                        <a:rPr lang="en-US" sz="1800" b="1" kern="1200" dirty="0" smtClean="0">
                          <a:solidFill>
                            <a:srgbClr val="6A24A0"/>
                          </a:solidFill>
                          <a:effectLst/>
                          <a:latin typeface="+mn-lt"/>
                          <a:ea typeface="+mn-ea"/>
                          <a:cs typeface="+mn-cs"/>
                        </a:rPr>
                        <a:t>different surveys use the same constructs</a:t>
                      </a:r>
                      <a:r>
                        <a:rPr lang="en-US" sz="1800" kern="1200" dirty="0" smtClean="0">
                          <a:solidFill>
                            <a:schemeClr val="dk1"/>
                          </a:solidFill>
                          <a:effectLst/>
                          <a:latin typeface="+mn-lt"/>
                          <a:ea typeface="+mn-ea"/>
                          <a:cs typeface="+mn-cs"/>
                        </a:rPr>
                        <a:t>.</a:t>
                      </a:r>
                    </a:p>
                    <a:p>
                      <a:pPr marL="285750" marR="0" lvl="0" indent="-285750" algn="l" defTabSz="914400" rtl="0" eaLnBrk="1" fontAlgn="auto" latinLnBrk="0" hangingPunct="1">
                        <a:lnSpc>
                          <a:spcPct val="100000"/>
                        </a:lnSpc>
                        <a:spcBef>
                          <a:spcPts val="600"/>
                        </a:spcBef>
                        <a:spcAft>
                          <a:spcPts val="0"/>
                        </a:spcAft>
                        <a:buClrTx/>
                        <a:buSzTx/>
                        <a:buFont typeface="Arial"/>
                        <a:buChar char="•"/>
                        <a:tabLst/>
                        <a:defRPr/>
                      </a:pPr>
                      <a:r>
                        <a:rPr lang="en-US" sz="1800" kern="1200" dirty="0" smtClean="0">
                          <a:solidFill>
                            <a:schemeClr val="dk1"/>
                          </a:solidFill>
                          <a:effectLst/>
                          <a:latin typeface="+mn-lt"/>
                          <a:ea typeface="+mn-ea"/>
                          <a:cs typeface="+mn-cs"/>
                        </a:rPr>
                        <a:t>As a data curator I want to </a:t>
                      </a:r>
                      <a:r>
                        <a:rPr lang="en-US" sz="1800" b="1" kern="1200" dirty="0" smtClean="0">
                          <a:solidFill>
                            <a:srgbClr val="6A24A0"/>
                          </a:solidFill>
                          <a:effectLst/>
                          <a:latin typeface="+mn-lt"/>
                          <a:ea typeface="+mn-ea"/>
                          <a:cs typeface="+mn-cs"/>
                        </a:rPr>
                        <a:t>aggregate</a:t>
                      </a:r>
                      <a:r>
                        <a:rPr lang="en-US" sz="1800" kern="1200" dirty="0" smtClean="0">
                          <a:solidFill>
                            <a:schemeClr val="dk1"/>
                          </a:solidFill>
                          <a:effectLst/>
                          <a:latin typeface="+mn-lt"/>
                          <a:ea typeface="+mn-ea"/>
                          <a:cs typeface="+mn-cs"/>
                        </a:rPr>
                        <a:t> data across participants who get different versions of the same survey or are enrolled in different surveys with similar constructs.</a:t>
                      </a:r>
                    </a:p>
                    <a:p>
                      <a:pPr marL="285750" marR="0" lvl="0" indent="-285750" algn="l" defTabSz="914400" rtl="0" eaLnBrk="1" fontAlgn="auto" latinLnBrk="0" hangingPunct="1">
                        <a:lnSpc>
                          <a:spcPct val="100000"/>
                        </a:lnSpc>
                        <a:spcBef>
                          <a:spcPts val="600"/>
                        </a:spcBef>
                        <a:spcAft>
                          <a:spcPts val="0"/>
                        </a:spcAft>
                        <a:buClrTx/>
                        <a:buSzTx/>
                        <a:buFont typeface="Arial"/>
                        <a:buChar char="•"/>
                        <a:tabLst/>
                        <a:defRPr/>
                      </a:pPr>
                      <a:r>
                        <a:rPr lang="en-US" sz="1800" kern="1200" dirty="0" smtClean="0">
                          <a:solidFill>
                            <a:schemeClr val="dk1"/>
                          </a:solidFill>
                          <a:effectLst/>
                          <a:latin typeface="+mn-lt"/>
                          <a:ea typeface="+mn-ea"/>
                          <a:cs typeface="+mn-cs"/>
                        </a:rPr>
                        <a:t>As a data curator I want to </a:t>
                      </a:r>
                      <a:r>
                        <a:rPr lang="en-US" sz="1800" b="1" kern="1200" dirty="0" smtClean="0">
                          <a:solidFill>
                            <a:srgbClr val="6A24A0"/>
                          </a:solidFill>
                          <a:effectLst/>
                          <a:latin typeface="+mn-lt"/>
                          <a:ea typeface="+mn-ea"/>
                          <a:cs typeface="+mn-cs"/>
                        </a:rPr>
                        <a:t>integrate</a:t>
                      </a:r>
                      <a:r>
                        <a:rPr lang="en-US" sz="1800" kern="1200" dirty="0" smtClean="0">
                          <a:solidFill>
                            <a:srgbClr val="6A24A0"/>
                          </a:solidFill>
                          <a:effectLst/>
                          <a:latin typeface="+mn-lt"/>
                          <a:ea typeface="+mn-ea"/>
                          <a:cs typeface="+mn-cs"/>
                        </a:rPr>
                        <a:t> </a:t>
                      </a:r>
                      <a:r>
                        <a:rPr lang="en-US" sz="1800" kern="1200" dirty="0" smtClean="0">
                          <a:solidFill>
                            <a:schemeClr val="dk1"/>
                          </a:solidFill>
                          <a:effectLst/>
                          <a:latin typeface="+mn-lt"/>
                          <a:ea typeface="+mn-ea"/>
                          <a:cs typeface="+mn-cs"/>
                        </a:rPr>
                        <a:t>data that repeats measures across waves in a longitudinal study.</a:t>
                      </a:r>
                    </a:p>
                  </a:txBody>
                  <a:tcPr/>
                </a:tc>
              </a:tr>
            </a:tbl>
          </a:graphicData>
        </a:graphic>
      </p:graphicFrame>
      <p:sp>
        <p:nvSpPr>
          <p:cNvPr id="4" name="Footer Placeholder 3"/>
          <p:cNvSpPr>
            <a:spLocks noGrp="1"/>
          </p:cNvSpPr>
          <p:nvPr>
            <p:ph type="ftr" sz="quarter" idx="11"/>
          </p:nvPr>
        </p:nvSpPr>
        <p:spPr/>
        <p:txBody>
          <a:bodyPr/>
          <a:lstStyle/>
          <a:p>
            <a:r>
              <a:rPr lang="en-US" dirty="0" smtClean="0"/>
              <a:t>Booz Allen Hamilton</a:t>
            </a:r>
            <a:endParaRPr lang="en-US" dirty="0"/>
          </a:p>
        </p:txBody>
      </p:sp>
      <p:sp>
        <p:nvSpPr>
          <p:cNvPr id="5" name="Slide Number Placeholder 4"/>
          <p:cNvSpPr>
            <a:spLocks noGrp="1"/>
          </p:cNvSpPr>
          <p:nvPr>
            <p:ph type="sldNum" sz="quarter" idx="12"/>
          </p:nvPr>
        </p:nvSpPr>
        <p:spPr/>
        <p:txBody>
          <a:bodyPr/>
          <a:lstStyle/>
          <a:p>
            <a:fld id="{FA84A37A-AFC2-4A01-80A1-FC20F2C0D5BB}" type="slidenum">
              <a:rPr lang="en-US" smtClean="0"/>
              <a:pPr/>
              <a:t>7</a:t>
            </a:fld>
            <a:endParaRPr lang="en-US"/>
          </a:p>
        </p:txBody>
      </p:sp>
      <p:sp>
        <p:nvSpPr>
          <p:cNvPr id="3" name="TextBox 2"/>
          <p:cNvSpPr txBox="1"/>
          <p:nvPr/>
        </p:nvSpPr>
        <p:spPr>
          <a:xfrm>
            <a:off x="3059657" y="4964887"/>
            <a:ext cx="2992259" cy="523220"/>
          </a:xfrm>
          <a:prstGeom prst="rect">
            <a:avLst/>
          </a:prstGeom>
          <a:noFill/>
        </p:spPr>
        <p:txBody>
          <a:bodyPr wrap="square" rtlCol="0">
            <a:spAutoFit/>
          </a:bodyPr>
          <a:lstStyle/>
          <a:p>
            <a:pPr algn="ctr"/>
            <a:r>
              <a:rPr lang="en-US" sz="2800" b="1" i="1" dirty="0" smtClean="0">
                <a:ln w="12700">
                  <a:solidFill>
                    <a:schemeClr val="tx2">
                      <a:satMod val="155000"/>
                    </a:schemeClr>
                  </a:solidFill>
                  <a:prstDash val="solid"/>
                </a:ln>
                <a:solidFill>
                  <a:srgbClr val="FFFF00"/>
                </a:solidFill>
                <a:effectLst>
                  <a:outerShdw blurRad="41275" dist="20320" dir="1800000" algn="tl" rotWithShape="0">
                    <a:srgbClr val="000000">
                      <a:alpha val="40000"/>
                    </a:srgbClr>
                  </a:outerShdw>
                </a:effectLst>
              </a:rPr>
              <a:t>DEs and CDEs</a:t>
            </a:r>
            <a:endParaRPr lang="en-US" sz="2800" b="1" i="1" dirty="0">
              <a:ln w="12700">
                <a:solidFill>
                  <a:schemeClr val="tx2">
                    <a:satMod val="155000"/>
                  </a:schemeClr>
                </a:solidFill>
                <a:prstDash val="solid"/>
              </a:ln>
              <a:solidFill>
                <a:srgbClr val="FFFF00"/>
              </a:solidFill>
              <a:effectLst>
                <a:outerShdw blurRad="41275" dist="20320" dir="1800000" algn="tl" rotWithShape="0">
                  <a:srgbClr val="000000">
                    <a:alpha val="40000"/>
                  </a:srgbClr>
                </a:outerShdw>
              </a:effectLst>
            </a:endParaRPr>
          </a:p>
        </p:txBody>
      </p:sp>
      <p:sp>
        <p:nvSpPr>
          <p:cNvPr id="7" name="Date Placeholder 6"/>
          <p:cNvSpPr>
            <a:spLocks noGrp="1"/>
          </p:cNvSpPr>
          <p:nvPr>
            <p:ph type="dt" sz="half" idx="10"/>
          </p:nvPr>
        </p:nvSpPr>
        <p:spPr/>
        <p:txBody>
          <a:bodyPr/>
          <a:lstStyle/>
          <a:p>
            <a:r>
              <a:rPr lang="en-US" smtClean="0"/>
              <a:t>12/4/2013</a:t>
            </a:r>
            <a:endParaRPr lang="en-US"/>
          </a:p>
        </p:txBody>
      </p:sp>
    </p:spTree>
    <p:extLst>
      <p:ext uri="{BB962C8B-B14F-4D97-AF65-F5344CB8AC3E}">
        <p14:creationId xmlns:p14="http://schemas.microsoft.com/office/powerpoint/2010/main" val="2937707509"/>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 we will propose three data discovery views (2 of 3)</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035976550"/>
              </p:ext>
            </p:extLst>
          </p:nvPr>
        </p:nvGraphicFramePr>
        <p:xfrm>
          <a:off x="441325" y="1391365"/>
          <a:ext cx="8259764" cy="4409440"/>
        </p:xfrm>
        <a:graphic>
          <a:graphicData uri="http://schemas.openxmlformats.org/drawingml/2006/table">
            <a:tbl>
              <a:tblPr firstRow="1" bandRow="1">
                <a:tableStyleId>{073A0DAA-6AF3-43AB-8588-CEC1D06C72B9}</a:tableStyleId>
              </a:tblPr>
              <a:tblGrid>
                <a:gridCol w="1675397"/>
                <a:gridCol w="6584367"/>
              </a:tblGrid>
              <a:tr h="370840">
                <a:tc>
                  <a:txBody>
                    <a:bodyPr/>
                    <a:lstStyle/>
                    <a:p>
                      <a:r>
                        <a:rPr lang="en-US" dirty="0" smtClean="0"/>
                        <a:t>View Domain</a:t>
                      </a:r>
                      <a:endParaRPr lang="en-US" dirty="0"/>
                    </a:p>
                  </a:txBody>
                  <a:tcPr/>
                </a:tc>
                <a:tc>
                  <a:txBody>
                    <a:bodyPr/>
                    <a:lstStyle/>
                    <a:p>
                      <a:r>
                        <a:rPr lang="en-US" dirty="0" smtClean="0"/>
                        <a:t>User Story</a:t>
                      </a:r>
                      <a:endParaRPr lang="en-US" dirty="0"/>
                    </a:p>
                  </a:txBody>
                  <a:tcPr/>
                </a:tc>
              </a:tr>
              <a:tr h="370840">
                <a:tc>
                  <a:txBody>
                    <a:bodyPr/>
                    <a:lstStyle/>
                    <a:p>
                      <a:pPr marL="0" indent="0">
                        <a:buFont typeface="Arial"/>
                        <a:buNone/>
                      </a:pPr>
                      <a:r>
                        <a:rPr lang="en-US" sz="1800" kern="1200" dirty="0" smtClean="0">
                          <a:solidFill>
                            <a:schemeClr val="dk1"/>
                          </a:solidFill>
                          <a:effectLst/>
                          <a:latin typeface="+mn-lt"/>
                          <a:ea typeface="+mn-ea"/>
                          <a:cs typeface="+mn-cs"/>
                        </a:rPr>
                        <a:t>DDI / RDF Discovery Vocabulary (Disco) and Beyond</a:t>
                      </a:r>
                      <a:r>
                        <a:rPr lang="en-US" dirty="0" smtClean="0">
                          <a:effectLst/>
                        </a:rPr>
                        <a:t> </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a:buNone/>
                        <a:tabLst/>
                        <a:defRPr/>
                      </a:pPr>
                      <a:r>
                        <a:rPr lang="en-US" sz="1800" kern="1200" dirty="0" smtClean="0">
                          <a:solidFill>
                            <a:schemeClr val="dk1"/>
                          </a:solidFill>
                          <a:effectLst/>
                          <a:latin typeface="+mn-lt"/>
                          <a:ea typeface="+mn-ea"/>
                          <a:cs typeface="+mn-cs"/>
                        </a:rPr>
                        <a:t>From Bosch</a:t>
                      </a:r>
                      <a:r>
                        <a:rPr lang="en-US" sz="1800" kern="1200" baseline="0" dirty="0" smtClean="0">
                          <a:solidFill>
                            <a:schemeClr val="dk1"/>
                          </a:solidFill>
                          <a:effectLst/>
                          <a:latin typeface="+mn-lt"/>
                          <a:ea typeface="+mn-ea"/>
                          <a:cs typeface="+mn-cs"/>
                        </a:rPr>
                        <a:t> et al (2012):</a:t>
                      </a:r>
                      <a:r>
                        <a:rPr lang="en-US" sz="1800" kern="1200" dirty="0" smtClean="0">
                          <a:solidFill>
                            <a:schemeClr val="dk1"/>
                          </a:solidFill>
                          <a:effectLst/>
                          <a:latin typeface="+mn-lt"/>
                          <a:ea typeface="+mn-ea"/>
                          <a:cs typeface="+mn-cs"/>
                        </a:rPr>
                        <a:t> </a:t>
                      </a:r>
                    </a:p>
                    <a:p>
                      <a:pPr marL="285750" marR="0" indent="-285750" algn="l" defTabSz="914400" rtl="0" eaLnBrk="1" fontAlgn="auto" latinLnBrk="0" hangingPunct="1">
                        <a:lnSpc>
                          <a:spcPct val="100000"/>
                        </a:lnSpc>
                        <a:spcBef>
                          <a:spcPts val="600"/>
                        </a:spcBef>
                        <a:spcAft>
                          <a:spcPts val="0"/>
                        </a:spcAft>
                        <a:buClrTx/>
                        <a:buSzTx/>
                        <a:buFont typeface="Arial"/>
                        <a:buChar char="•"/>
                        <a:tabLst/>
                        <a:defRPr/>
                      </a:pPr>
                      <a:r>
                        <a:rPr lang="en-US" sz="1800" kern="1200" dirty="0" smtClean="0">
                          <a:solidFill>
                            <a:schemeClr val="dk1"/>
                          </a:solidFill>
                          <a:effectLst/>
                          <a:latin typeface="+mn-lt"/>
                          <a:ea typeface="+mn-ea"/>
                          <a:cs typeface="+mn-cs"/>
                        </a:rPr>
                        <a:t>Researchers often want to know which studies exist for a specific </a:t>
                      </a:r>
                      <a:r>
                        <a:rPr lang="en-US" sz="1800" b="1" kern="1200" dirty="0" smtClean="0">
                          <a:solidFill>
                            <a:srgbClr val="6A24A0"/>
                          </a:solidFill>
                          <a:effectLst/>
                          <a:latin typeface="+mn-lt"/>
                          <a:ea typeface="+mn-ea"/>
                          <a:cs typeface="+mn-cs"/>
                        </a:rPr>
                        <a:t>country</a:t>
                      </a:r>
                      <a:r>
                        <a:rPr lang="en-US" sz="1800" kern="1200" dirty="0" smtClean="0">
                          <a:solidFill>
                            <a:srgbClr val="6A24A0"/>
                          </a:solidFill>
                          <a:effectLst/>
                          <a:latin typeface="+mn-lt"/>
                          <a:ea typeface="+mn-ea"/>
                          <a:cs typeface="+mn-cs"/>
                        </a:rPr>
                        <a:t> </a:t>
                      </a:r>
                      <a:r>
                        <a:rPr lang="en-US" sz="1800" kern="1200" dirty="0" smtClean="0">
                          <a:solidFill>
                            <a:schemeClr val="dk1"/>
                          </a:solidFill>
                          <a:effectLst/>
                          <a:latin typeface="+mn-lt"/>
                          <a:ea typeface="+mn-ea"/>
                          <a:cs typeface="+mn-cs"/>
                        </a:rPr>
                        <a:t>(e.g. France), </a:t>
                      </a:r>
                      <a:r>
                        <a:rPr lang="en-US" sz="1800" b="1" kern="1200" dirty="0" smtClean="0">
                          <a:solidFill>
                            <a:srgbClr val="6A24A0"/>
                          </a:solidFill>
                          <a:effectLst/>
                          <a:latin typeface="+mn-lt"/>
                          <a:ea typeface="+mn-ea"/>
                          <a:cs typeface="+mn-cs"/>
                        </a:rPr>
                        <a:t>time</a:t>
                      </a:r>
                      <a:r>
                        <a:rPr lang="en-US" sz="1800" kern="1200" dirty="0" smtClean="0">
                          <a:solidFill>
                            <a:schemeClr val="dk1"/>
                          </a:solidFill>
                          <a:effectLst/>
                          <a:latin typeface="+mn-lt"/>
                          <a:ea typeface="+mn-ea"/>
                          <a:cs typeface="+mn-cs"/>
                        </a:rPr>
                        <a:t> (e.g. 2005), and </a:t>
                      </a:r>
                      <a:r>
                        <a:rPr lang="en-US" sz="1800" b="1" kern="1200" dirty="0" smtClean="0">
                          <a:solidFill>
                            <a:srgbClr val="6A24A0"/>
                          </a:solidFill>
                          <a:effectLst/>
                          <a:latin typeface="+mn-lt"/>
                          <a:ea typeface="+mn-ea"/>
                          <a:cs typeface="+mn-cs"/>
                        </a:rPr>
                        <a:t>subject</a:t>
                      </a:r>
                      <a:r>
                        <a:rPr lang="en-US" sz="1800" kern="1200" dirty="0" smtClean="0">
                          <a:solidFill>
                            <a:srgbClr val="6A24A0"/>
                          </a:solidFill>
                          <a:effectLst/>
                          <a:latin typeface="+mn-lt"/>
                          <a:ea typeface="+mn-ea"/>
                          <a:cs typeface="+mn-cs"/>
                        </a:rPr>
                        <a:t> </a:t>
                      </a:r>
                      <a:r>
                        <a:rPr lang="en-US" sz="1800" kern="1200" dirty="0" smtClean="0">
                          <a:solidFill>
                            <a:schemeClr val="dk1"/>
                          </a:solidFill>
                          <a:effectLst/>
                          <a:latin typeface="+mn-lt"/>
                          <a:ea typeface="+mn-ea"/>
                          <a:cs typeface="+mn-cs"/>
                        </a:rPr>
                        <a:t>(e.g. election).</a:t>
                      </a:r>
                      <a:r>
                        <a:rPr lang="en-US" dirty="0" smtClean="0">
                          <a:effectLst/>
                        </a:rPr>
                        <a:t> </a:t>
                      </a:r>
                      <a:r>
                        <a:rPr lang="en-US" sz="1800" kern="1200" dirty="0" smtClean="0">
                          <a:solidFill>
                            <a:schemeClr val="dk1"/>
                          </a:solidFill>
                          <a:effectLst/>
                          <a:latin typeface="+mn-lt"/>
                          <a:ea typeface="+mn-ea"/>
                          <a:cs typeface="+mn-cs"/>
                        </a:rPr>
                        <a:t>Alternatively, sometimes different surveys use the same constructs.</a:t>
                      </a:r>
                    </a:p>
                    <a:p>
                      <a:pPr marL="285750" marR="0" lvl="0" indent="-285750" algn="l" defTabSz="914400" rtl="0" eaLnBrk="1" fontAlgn="auto" latinLnBrk="0" hangingPunct="1">
                        <a:lnSpc>
                          <a:spcPct val="100000"/>
                        </a:lnSpc>
                        <a:spcBef>
                          <a:spcPts val="600"/>
                        </a:spcBef>
                        <a:spcAft>
                          <a:spcPts val="0"/>
                        </a:spcAft>
                        <a:buClrTx/>
                        <a:buSzTx/>
                        <a:buFont typeface="Arial"/>
                        <a:buChar char="•"/>
                        <a:tabLst/>
                        <a:defRPr/>
                      </a:pPr>
                      <a:r>
                        <a:rPr lang="en-US" sz="1800" kern="1200" dirty="0" smtClean="0">
                          <a:solidFill>
                            <a:schemeClr val="dk1"/>
                          </a:solidFill>
                          <a:effectLst/>
                          <a:latin typeface="+mn-lt"/>
                          <a:ea typeface="+mn-ea"/>
                          <a:cs typeface="+mn-cs"/>
                        </a:rPr>
                        <a:t>Researchers want to be able to </a:t>
                      </a:r>
                      <a:r>
                        <a:rPr lang="en-US" sz="1800" b="1" kern="1200" dirty="0" smtClean="0">
                          <a:solidFill>
                            <a:srgbClr val="6A24A0"/>
                          </a:solidFill>
                          <a:effectLst/>
                          <a:latin typeface="+mn-lt"/>
                          <a:ea typeface="+mn-ea"/>
                          <a:cs typeface="+mn-cs"/>
                        </a:rPr>
                        <a:t>link data to similar concepts</a:t>
                      </a:r>
                      <a:r>
                        <a:rPr lang="en-US" sz="1800" b="1" kern="1200" baseline="0" dirty="0" smtClean="0">
                          <a:solidFill>
                            <a:srgbClr val="6A24A0"/>
                          </a:solidFill>
                          <a:effectLst/>
                          <a:latin typeface="+mn-lt"/>
                          <a:ea typeface="+mn-ea"/>
                          <a:cs typeface="+mn-cs"/>
                        </a:rPr>
                        <a:t> </a:t>
                      </a:r>
                      <a:r>
                        <a:rPr lang="en-US" sz="1800" kern="1200" baseline="0" dirty="0" smtClean="0">
                          <a:solidFill>
                            <a:schemeClr val="dk1"/>
                          </a:solidFill>
                          <a:effectLst/>
                          <a:latin typeface="+mn-lt"/>
                          <a:ea typeface="+mn-ea"/>
                          <a:cs typeface="+mn-cs"/>
                        </a:rPr>
                        <a:t>so they can better search other studies.</a:t>
                      </a:r>
                      <a:endParaRPr lang="en-US" sz="1800" kern="1200" dirty="0" smtClean="0">
                        <a:solidFill>
                          <a:schemeClr val="dk1"/>
                        </a:solidFill>
                        <a:effectLst/>
                        <a:latin typeface="+mn-lt"/>
                        <a:ea typeface="+mn-ea"/>
                        <a:cs typeface="+mn-cs"/>
                      </a:endParaRPr>
                    </a:p>
                    <a:p>
                      <a:pPr marL="285750" marR="0" lvl="0" indent="-285750" algn="l" defTabSz="914400" rtl="0" eaLnBrk="1" fontAlgn="auto" latinLnBrk="0" hangingPunct="1">
                        <a:lnSpc>
                          <a:spcPct val="100000"/>
                        </a:lnSpc>
                        <a:spcBef>
                          <a:spcPts val="600"/>
                        </a:spcBef>
                        <a:spcAft>
                          <a:spcPts val="0"/>
                        </a:spcAft>
                        <a:buClrTx/>
                        <a:buSzTx/>
                        <a:buFont typeface="Arial"/>
                        <a:buChar char="•"/>
                        <a:tabLst/>
                        <a:defRPr/>
                      </a:pPr>
                      <a:r>
                        <a:rPr lang="en-US" sz="1800" kern="1200" dirty="0" smtClean="0">
                          <a:solidFill>
                            <a:schemeClr val="dk1"/>
                          </a:solidFill>
                          <a:effectLst/>
                          <a:latin typeface="+mn-lt"/>
                          <a:ea typeface="+mn-ea"/>
                          <a:cs typeface="+mn-cs"/>
                        </a:rPr>
                        <a:t>Researchers want to put data in context linking it to other research.</a:t>
                      </a:r>
                    </a:p>
                    <a:p>
                      <a:pPr marL="0" marR="0" lvl="0" indent="0" algn="l" defTabSz="914400" rtl="0" eaLnBrk="1" fontAlgn="auto" latinLnBrk="0" hangingPunct="1">
                        <a:lnSpc>
                          <a:spcPct val="100000"/>
                        </a:lnSpc>
                        <a:spcBef>
                          <a:spcPts val="600"/>
                        </a:spcBef>
                        <a:spcAft>
                          <a:spcPts val="0"/>
                        </a:spcAft>
                        <a:buClrTx/>
                        <a:buSzTx/>
                        <a:buFont typeface="Arial"/>
                        <a:buNone/>
                        <a:tabLst/>
                        <a:defRPr/>
                      </a:pPr>
                      <a:r>
                        <a:rPr lang="en-US" sz="1800" kern="1200" dirty="0" smtClean="0">
                          <a:solidFill>
                            <a:schemeClr val="dk1"/>
                          </a:solidFill>
                          <a:effectLst/>
                          <a:latin typeface="+mn-lt"/>
                          <a:ea typeface="+mn-ea"/>
                          <a:cs typeface="+mn-cs"/>
                        </a:rPr>
                        <a:t>From Greenfield (2013):</a:t>
                      </a:r>
                    </a:p>
                    <a:p>
                      <a:pPr marL="285750" marR="0" lvl="0" indent="-285750" algn="l" defTabSz="914400" rtl="0" eaLnBrk="1" fontAlgn="auto" latinLnBrk="0" hangingPunct="1">
                        <a:lnSpc>
                          <a:spcPct val="100000"/>
                        </a:lnSpc>
                        <a:spcBef>
                          <a:spcPts val="600"/>
                        </a:spcBef>
                        <a:spcAft>
                          <a:spcPts val="0"/>
                        </a:spcAft>
                        <a:buClrTx/>
                        <a:buSzTx/>
                        <a:buFont typeface="Arial"/>
                        <a:buChar char="•"/>
                        <a:tabLst/>
                        <a:defRPr/>
                      </a:pPr>
                      <a:r>
                        <a:rPr lang="en-US" sz="1800" kern="1200" dirty="0" smtClean="0">
                          <a:solidFill>
                            <a:schemeClr val="dk1"/>
                          </a:solidFill>
                          <a:effectLst/>
                          <a:latin typeface="+mn-lt"/>
                          <a:ea typeface="+mn-ea"/>
                          <a:cs typeface="+mn-cs"/>
                        </a:rPr>
                        <a:t>As a data curator I want to support a research assets manager who needs to assess the current research value of a data set by </a:t>
                      </a:r>
                      <a:r>
                        <a:rPr lang="en-US" sz="1800" b="1" kern="1200" dirty="0" smtClean="0">
                          <a:solidFill>
                            <a:srgbClr val="6A24A0"/>
                          </a:solidFill>
                          <a:effectLst/>
                          <a:latin typeface="+mn-lt"/>
                          <a:ea typeface="+mn-ea"/>
                          <a:cs typeface="+mn-cs"/>
                        </a:rPr>
                        <a:t>linking</a:t>
                      </a:r>
                      <a:r>
                        <a:rPr lang="en-US" sz="1800" kern="1200" baseline="0" dirty="0" smtClean="0">
                          <a:solidFill>
                            <a:srgbClr val="6A24A0"/>
                          </a:solidFill>
                          <a:effectLst/>
                          <a:latin typeface="+mn-lt"/>
                          <a:ea typeface="+mn-ea"/>
                          <a:cs typeface="+mn-cs"/>
                        </a:rPr>
                        <a:t> </a:t>
                      </a:r>
                      <a:r>
                        <a:rPr lang="en-US" sz="1800" kern="1200" baseline="0" dirty="0" smtClean="0">
                          <a:solidFill>
                            <a:schemeClr val="dk1"/>
                          </a:solidFill>
                          <a:effectLst/>
                          <a:latin typeface="+mn-lt"/>
                          <a:ea typeface="+mn-ea"/>
                          <a:cs typeface="+mn-cs"/>
                        </a:rPr>
                        <a:t>it in </a:t>
                      </a:r>
                      <a:r>
                        <a:rPr lang="en-US" sz="1800" b="1" kern="1200" baseline="0" dirty="0" smtClean="0">
                          <a:solidFill>
                            <a:srgbClr val="6A24A0"/>
                          </a:solidFill>
                          <a:effectLst/>
                          <a:latin typeface="+mn-lt"/>
                          <a:ea typeface="+mn-ea"/>
                          <a:cs typeface="+mn-cs"/>
                        </a:rPr>
                        <a:t>real time</a:t>
                      </a:r>
                      <a:r>
                        <a:rPr lang="en-US" b="1" dirty="0" smtClean="0">
                          <a:solidFill>
                            <a:srgbClr val="6A24A0"/>
                          </a:solidFill>
                          <a:effectLst/>
                        </a:rPr>
                        <a:t> </a:t>
                      </a:r>
                      <a:r>
                        <a:rPr lang="en-US" dirty="0" smtClean="0">
                          <a:effectLst/>
                        </a:rPr>
                        <a:t>to a </a:t>
                      </a:r>
                      <a:r>
                        <a:rPr lang="en-US" b="1" dirty="0" smtClean="0">
                          <a:solidFill>
                            <a:srgbClr val="6A24A0"/>
                          </a:solidFill>
                          <a:effectLst/>
                        </a:rPr>
                        <a:t>citations database</a:t>
                      </a:r>
                      <a:r>
                        <a:rPr lang="en-US" dirty="0" smtClean="0">
                          <a:effectLst/>
                        </a:rPr>
                        <a:t>.</a:t>
                      </a:r>
                      <a:endParaRPr lang="en-US" sz="1800" kern="1200" dirty="0" smtClean="0">
                        <a:solidFill>
                          <a:schemeClr val="dk1"/>
                        </a:solidFill>
                        <a:effectLst/>
                        <a:latin typeface="+mn-lt"/>
                        <a:ea typeface="+mn-ea"/>
                        <a:cs typeface="+mn-cs"/>
                      </a:endParaRPr>
                    </a:p>
                  </a:txBody>
                  <a:tcPr/>
                </a:tc>
              </a:tr>
            </a:tbl>
          </a:graphicData>
        </a:graphic>
      </p:graphicFrame>
      <p:sp>
        <p:nvSpPr>
          <p:cNvPr id="4" name="Footer Placeholder 3"/>
          <p:cNvSpPr>
            <a:spLocks noGrp="1"/>
          </p:cNvSpPr>
          <p:nvPr>
            <p:ph type="ftr" sz="quarter" idx="11"/>
          </p:nvPr>
        </p:nvSpPr>
        <p:spPr/>
        <p:txBody>
          <a:bodyPr/>
          <a:lstStyle/>
          <a:p>
            <a:r>
              <a:rPr lang="en-US" smtClean="0"/>
              <a:t>Booz Allen Hamilton</a:t>
            </a:r>
            <a:endParaRPr lang="en-US"/>
          </a:p>
        </p:txBody>
      </p:sp>
      <p:sp>
        <p:nvSpPr>
          <p:cNvPr id="5" name="Slide Number Placeholder 4"/>
          <p:cNvSpPr>
            <a:spLocks noGrp="1"/>
          </p:cNvSpPr>
          <p:nvPr>
            <p:ph type="sldNum" sz="quarter" idx="12"/>
          </p:nvPr>
        </p:nvSpPr>
        <p:spPr/>
        <p:txBody>
          <a:bodyPr/>
          <a:lstStyle/>
          <a:p>
            <a:fld id="{FA84A37A-AFC2-4A01-80A1-FC20F2C0D5BB}" type="slidenum">
              <a:rPr lang="en-US" smtClean="0"/>
              <a:pPr/>
              <a:t>8</a:t>
            </a:fld>
            <a:endParaRPr lang="en-US"/>
          </a:p>
        </p:txBody>
      </p:sp>
      <p:sp>
        <p:nvSpPr>
          <p:cNvPr id="8" name="TextBox 7"/>
          <p:cNvSpPr txBox="1"/>
          <p:nvPr/>
        </p:nvSpPr>
        <p:spPr>
          <a:xfrm>
            <a:off x="3348287" y="5850111"/>
            <a:ext cx="2443845" cy="523220"/>
          </a:xfrm>
          <a:prstGeom prst="rect">
            <a:avLst/>
          </a:prstGeom>
          <a:noFill/>
        </p:spPr>
        <p:txBody>
          <a:bodyPr wrap="square" rtlCol="0">
            <a:spAutoFit/>
          </a:bodyPr>
          <a:lstStyle/>
          <a:p>
            <a:pPr algn="ctr"/>
            <a:r>
              <a:rPr lang="en-US" sz="2800" b="1" i="1" dirty="0" smtClean="0">
                <a:ln w="12700">
                  <a:solidFill>
                    <a:schemeClr val="tx2">
                      <a:satMod val="155000"/>
                    </a:schemeClr>
                  </a:solidFill>
                  <a:prstDash val="solid"/>
                </a:ln>
                <a:solidFill>
                  <a:srgbClr val="FFFF00"/>
                </a:solidFill>
                <a:effectLst>
                  <a:outerShdw blurRad="41275" dist="20320" dir="1800000" algn="tl" rotWithShape="0">
                    <a:srgbClr val="000000">
                      <a:alpha val="40000"/>
                    </a:srgbClr>
                  </a:outerShdw>
                </a:effectLst>
              </a:rPr>
              <a:t>Disco</a:t>
            </a:r>
            <a:endParaRPr lang="en-US" sz="2800" b="1" i="1" dirty="0">
              <a:ln w="12700">
                <a:solidFill>
                  <a:schemeClr val="tx2">
                    <a:satMod val="155000"/>
                  </a:schemeClr>
                </a:solidFill>
                <a:prstDash val="solid"/>
              </a:ln>
              <a:solidFill>
                <a:srgbClr val="FFFF00"/>
              </a:solidFill>
              <a:effectLst>
                <a:outerShdw blurRad="41275" dist="20320" dir="1800000" algn="tl" rotWithShape="0">
                  <a:srgbClr val="000000">
                    <a:alpha val="40000"/>
                  </a:srgbClr>
                </a:outerShdw>
              </a:effectLst>
            </a:endParaRPr>
          </a:p>
        </p:txBody>
      </p:sp>
      <p:sp>
        <p:nvSpPr>
          <p:cNvPr id="9" name="Date Placeholder 8"/>
          <p:cNvSpPr>
            <a:spLocks noGrp="1"/>
          </p:cNvSpPr>
          <p:nvPr>
            <p:ph type="dt" sz="half" idx="10"/>
          </p:nvPr>
        </p:nvSpPr>
        <p:spPr/>
        <p:txBody>
          <a:bodyPr/>
          <a:lstStyle/>
          <a:p>
            <a:r>
              <a:rPr lang="en-US" smtClean="0"/>
              <a:t>12/4/2013</a:t>
            </a:r>
            <a:endParaRPr lang="en-US"/>
          </a:p>
        </p:txBody>
      </p:sp>
    </p:spTree>
    <p:extLst>
      <p:ext uri="{BB962C8B-B14F-4D97-AF65-F5344CB8AC3E}">
        <p14:creationId xmlns:p14="http://schemas.microsoft.com/office/powerpoint/2010/main" val="2953661059"/>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 we will propose three data discovery views (3 of 3)</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03791733"/>
              </p:ext>
            </p:extLst>
          </p:nvPr>
        </p:nvGraphicFramePr>
        <p:xfrm>
          <a:off x="441325" y="1391365"/>
          <a:ext cx="8259764" cy="3632200"/>
        </p:xfrm>
        <a:graphic>
          <a:graphicData uri="http://schemas.openxmlformats.org/drawingml/2006/table">
            <a:tbl>
              <a:tblPr firstRow="1" bandRow="1">
                <a:tableStyleId>{073A0DAA-6AF3-43AB-8588-CEC1D06C72B9}</a:tableStyleId>
              </a:tblPr>
              <a:tblGrid>
                <a:gridCol w="1675397"/>
                <a:gridCol w="6584367"/>
              </a:tblGrid>
              <a:tr h="370840">
                <a:tc>
                  <a:txBody>
                    <a:bodyPr/>
                    <a:lstStyle/>
                    <a:p>
                      <a:r>
                        <a:rPr lang="en-US" dirty="0" smtClean="0"/>
                        <a:t>View Domain</a:t>
                      </a:r>
                      <a:endParaRPr lang="en-US" dirty="0"/>
                    </a:p>
                  </a:txBody>
                  <a:tcPr/>
                </a:tc>
                <a:tc>
                  <a:txBody>
                    <a:bodyPr/>
                    <a:lstStyle/>
                    <a:p>
                      <a:r>
                        <a:rPr lang="en-US" dirty="0" smtClean="0"/>
                        <a:t>User Story</a:t>
                      </a:r>
                      <a:endParaRPr lang="en-US" dirty="0"/>
                    </a:p>
                  </a:txBody>
                  <a:tcPr/>
                </a:tc>
              </a:tr>
              <a:tr h="370840">
                <a:tc>
                  <a:txBody>
                    <a:bodyPr/>
                    <a:lstStyle/>
                    <a:p>
                      <a:pPr marL="0" indent="0">
                        <a:buFont typeface="Arial"/>
                        <a:buNone/>
                      </a:pPr>
                      <a:r>
                        <a:rPr lang="en-US" sz="1800" kern="1200" dirty="0" smtClean="0">
                          <a:solidFill>
                            <a:schemeClr val="dk1"/>
                          </a:solidFill>
                          <a:effectLst/>
                          <a:latin typeface="+mn-lt"/>
                          <a:ea typeface="+mn-ea"/>
                          <a:cs typeface="+mn-cs"/>
                        </a:rPr>
                        <a:t>Trajectories</a:t>
                      </a:r>
                      <a:r>
                        <a:rPr lang="en-US" dirty="0" smtClean="0">
                          <a:effectLst/>
                        </a:rPr>
                        <a:t> </a:t>
                      </a:r>
                      <a:endParaRPr lang="en-US" dirty="0"/>
                    </a:p>
                  </a:txBody>
                  <a:tcPr/>
                </a:tc>
                <a:tc>
                  <a:txBody>
                    <a:bodyPr/>
                    <a:lstStyle/>
                    <a:p>
                      <a:r>
                        <a:rPr lang="en-US" sz="1800" kern="1200" dirty="0" smtClean="0">
                          <a:solidFill>
                            <a:schemeClr val="dk1"/>
                          </a:solidFill>
                          <a:effectLst/>
                          <a:latin typeface="+mn-lt"/>
                          <a:ea typeface="+mn-ea"/>
                          <a:cs typeface="+mn-cs"/>
                        </a:rPr>
                        <a:t>Trajectories refer to </a:t>
                      </a:r>
                      <a:r>
                        <a:rPr lang="en-US" sz="1800" b="1" kern="1200" dirty="0" smtClean="0">
                          <a:solidFill>
                            <a:schemeClr val="accent6">
                              <a:lumMod val="75000"/>
                            </a:schemeClr>
                          </a:solidFill>
                          <a:effectLst/>
                          <a:latin typeface="+mn-lt"/>
                          <a:ea typeface="+mn-ea"/>
                          <a:cs typeface="+mn-cs"/>
                        </a:rPr>
                        <a:t>general models underlying path analysis </a:t>
                      </a:r>
                      <a:r>
                        <a:rPr lang="en-US" sz="1800" kern="1200" dirty="0" smtClean="0">
                          <a:solidFill>
                            <a:schemeClr val="dk1"/>
                          </a:solidFill>
                          <a:effectLst/>
                          <a:latin typeface="+mn-lt"/>
                          <a:ea typeface="+mn-ea"/>
                          <a:cs typeface="+mn-cs"/>
                        </a:rPr>
                        <a:t>in the social sciences and the </a:t>
                      </a:r>
                      <a:r>
                        <a:rPr lang="en-US" sz="1800" b="1" kern="1200" dirty="0" smtClean="0">
                          <a:solidFill>
                            <a:srgbClr val="6A24A0"/>
                          </a:solidFill>
                          <a:effectLst/>
                          <a:latin typeface="+mn-lt"/>
                          <a:ea typeface="+mn-ea"/>
                          <a:cs typeface="+mn-cs"/>
                        </a:rPr>
                        <a:t>representation of multifactorial traits </a:t>
                      </a:r>
                      <a:r>
                        <a:rPr lang="en-US" sz="1800" kern="1200" dirty="0" smtClean="0">
                          <a:solidFill>
                            <a:schemeClr val="dk1"/>
                          </a:solidFill>
                          <a:effectLst/>
                          <a:latin typeface="+mn-lt"/>
                          <a:ea typeface="+mn-ea"/>
                          <a:cs typeface="+mn-cs"/>
                        </a:rPr>
                        <a:t>in biomedical research. </a:t>
                      </a:r>
                    </a:p>
                    <a:p>
                      <a:pPr marL="285750" indent="-285750">
                        <a:spcBef>
                          <a:spcPts val="600"/>
                        </a:spcBef>
                        <a:buFont typeface="Arial"/>
                        <a:buChar char="•"/>
                      </a:pPr>
                      <a:r>
                        <a:rPr lang="en-US" sz="1800" kern="1200" dirty="0" smtClean="0">
                          <a:solidFill>
                            <a:schemeClr val="dk1"/>
                          </a:solidFill>
                          <a:effectLst/>
                          <a:latin typeface="+mn-lt"/>
                          <a:ea typeface="+mn-ea"/>
                          <a:cs typeface="+mn-cs"/>
                        </a:rPr>
                        <a:t>As a data curator I want to support a data scientist who has developed a multifactorial path model of annual family income and wants to determine how well it fits a set of data.</a:t>
                      </a:r>
                    </a:p>
                    <a:p>
                      <a:pPr marL="285750" lvl="0" indent="-285750">
                        <a:spcBef>
                          <a:spcPts val="600"/>
                        </a:spcBef>
                        <a:buFont typeface="Arial"/>
                        <a:buChar char="•"/>
                      </a:pPr>
                      <a:r>
                        <a:rPr lang="en-US" sz="1800" kern="1200" dirty="0" smtClean="0">
                          <a:solidFill>
                            <a:schemeClr val="dk1"/>
                          </a:solidFill>
                          <a:effectLst/>
                          <a:latin typeface="+mn-lt"/>
                          <a:ea typeface="+mn-ea"/>
                          <a:cs typeface="+mn-cs"/>
                        </a:rPr>
                        <a:t>As a data curator I want to support research on how a multi-factorial model of BMI (Body Mass Index) might change over time as a result of a specific policy intervention such as the banning of trans fats by the American Food and Drug Administration (FDA).</a:t>
                      </a:r>
                      <a:r>
                        <a:rPr lang="en-US" dirty="0" smtClean="0">
                          <a:effectLst/>
                        </a:rPr>
                        <a:t> </a:t>
                      </a:r>
                      <a:endParaRPr lang="en-US" sz="1800" kern="1200" dirty="0" smtClean="0">
                        <a:solidFill>
                          <a:schemeClr val="dk1"/>
                        </a:solidFill>
                        <a:effectLst/>
                        <a:latin typeface="+mn-lt"/>
                        <a:ea typeface="+mn-ea"/>
                        <a:cs typeface="+mn-cs"/>
                      </a:endParaRPr>
                    </a:p>
                  </a:txBody>
                  <a:tcPr/>
                </a:tc>
              </a:tr>
            </a:tbl>
          </a:graphicData>
        </a:graphic>
      </p:graphicFrame>
      <p:sp>
        <p:nvSpPr>
          <p:cNvPr id="4" name="Footer Placeholder 3"/>
          <p:cNvSpPr>
            <a:spLocks noGrp="1"/>
          </p:cNvSpPr>
          <p:nvPr>
            <p:ph type="ftr" sz="quarter" idx="11"/>
          </p:nvPr>
        </p:nvSpPr>
        <p:spPr/>
        <p:txBody>
          <a:bodyPr/>
          <a:lstStyle/>
          <a:p>
            <a:r>
              <a:rPr lang="en-US" dirty="0" smtClean="0"/>
              <a:t>Booz Allen Hamilton</a:t>
            </a:r>
            <a:endParaRPr lang="en-US" dirty="0"/>
          </a:p>
        </p:txBody>
      </p:sp>
      <p:sp>
        <p:nvSpPr>
          <p:cNvPr id="5" name="Slide Number Placeholder 4"/>
          <p:cNvSpPr>
            <a:spLocks noGrp="1"/>
          </p:cNvSpPr>
          <p:nvPr>
            <p:ph type="sldNum" sz="quarter" idx="12"/>
          </p:nvPr>
        </p:nvSpPr>
        <p:spPr/>
        <p:txBody>
          <a:bodyPr/>
          <a:lstStyle/>
          <a:p>
            <a:fld id="{FA84A37A-AFC2-4A01-80A1-FC20F2C0D5BB}" type="slidenum">
              <a:rPr lang="en-US" smtClean="0"/>
              <a:pPr/>
              <a:t>9</a:t>
            </a:fld>
            <a:endParaRPr lang="en-US"/>
          </a:p>
        </p:txBody>
      </p:sp>
      <p:sp>
        <p:nvSpPr>
          <p:cNvPr id="7" name="TextBox 6"/>
          <p:cNvSpPr txBox="1"/>
          <p:nvPr/>
        </p:nvSpPr>
        <p:spPr>
          <a:xfrm>
            <a:off x="3348287" y="5089973"/>
            <a:ext cx="2443845" cy="523220"/>
          </a:xfrm>
          <a:prstGeom prst="rect">
            <a:avLst/>
          </a:prstGeom>
          <a:noFill/>
        </p:spPr>
        <p:txBody>
          <a:bodyPr wrap="square" rtlCol="0">
            <a:spAutoFit/>
          </a:bodyPr>
          <a:lstStyle/>
          <a:p>
            <a:pPr algn="ctr"/>
            <a:r>
              <a:rPr lang="en-US" sz="2800" b="1" i="1" dirty="0" smtClean="0">
                <a:ln w="12700">
                  <a:solidFill>
                    <a:schemeClr val="tx2">
                      <a:satMod val="155000"/>
                    </a:schemeClr>
                  </a:solidFill>
                  <a:prstDash val="solid"/>
                </a:ln>
                <a:solidFill>
                  <a:srgbClr val="FFFF00"/>
                </a:solidFill>
                <a:effectLst>
                  <a:outerShdw blurRad="41275" dist="20320" dir="1800000" algn="tl" rotWithShape="0">
                    <a:srgbClr val="000000">
                      <a:alpha val="40000"/>
                    </a:srgbClr>
                  </a:outerShdw>
                </a:effectLst>
              </a:rPr>
              <a:t>Trajectories</a:t>
            </a:r>
            <a:endParaRPr lang="en-US" sz="2800" b="1" i="1" dirty="0">
              <a:ln w="12700">
                <a:solidFill>
                  <a:schemeClr val="tx2">
                    <a:satMod val="155000"/>
                  </a:schemeClr>
                </a:solidFill>
                <a:prstDash val="solid"/>
              </a:ln>
              <a:solidFill>
                <a:srgbClr val="FFFF00"/>
              </a:solidFill>
              <a:effectLst>
                <a:outerShdw blurRad="41275" dist="20320" dir="1800000" algn="tl" rotWithShape="0">
                  <a:srgbClr val="000000">
                    <a:alpha val="40000"/>
                  </a:srgbClr>
                </a:outerShdw>
              </a:effectLst>
            </a:endParaRPr>
          </a:p>
        </p:txBody>
      </p:sp>
      <p:sp>
        <p:nvSpPr>
          <p:cNvPr id="3" name="Date Placeholder 2"/>
          <p:cNvSpPr>
            <a:spLocks noGrp="1"/>
          </p:cNvSpPr>
          <p:nvPr>
            <p:ph type="dt" sz="half" idx="10"/>
          </p:nvPr>
        </p:nvSpPr>
        <p:spPr/>
        <p:txBody>
          <a:bodyPr/>
          <a:lstStyle/>
          <a:p>
            <a:r>
              <a:rPr lang="en-US" smtClean="0"/>
              <a:t>12/4/2013</a:t>
            </a:r>
            <a:endParaRPr lang="en-US"/>
          </a:p>
        </p:txBody>
      </p:sp>
    </p:spTree>
    <p:extLst>
      <p:ext uri="{BB962C8B-B14F-4D97-AF65-F5344CB8AC3E}">
        <p14:creationId xmlns:p14="http://schemas.microsoft.com/office/powerpoint/2010/main" val="2644207197"/>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Elements and Common Data Elements</a:t>
            </a:r>
            <a:endParaRPr lang="en-US" dirty="0"/>
          </a:p>
        </p:txBody>
      </p:sp>
      <p:sp>
        <p:nvSpPr>
          <p:cNvPr id="3" name="Content Placeholder 2"/>
          <p:cNvSpPr>
            <a:spLocks noGrp="1"/>
          </p:cNvSpPr>
          <p:nvPr>
            <p:ph idx="1"/>
          </p:nvPr>
        </p:nvSpPr>
        <p:spPr>
          <a:xfrm>
            <a:off x="441326" y="1139829"/>
            <a:ext cx="2012147" cy="4913135"/>
          </a:xfrm>
        </p:spPr>
        <p:txBody>
          <a:bodyPr>
            <a:normAutofit/>
          </a:bodyPr>
          <a:lstStyle/>
          <a:p>
            <a:pPr>
              <a:spcBef>
                <a:spcPts val="1400"/>
              </a:spcBef>
            </a:pPr>
            <a:r>
              <a:rPr lang="en-US" sz="2000" dirty="0">
                <a:solidFill>
                  <a:srgbClr val="FFFF00"/>
                </a:solidFill>
                <a:effectLst>
                  <a:outerShdw blurRad="101600" dist="63500" dir="2700000" algn="tl" rotWithShape="0">
                    <a:srgbClr val="000000">
                      <a:alpha val="75000"/>
                    </a:srgbClr>
                  </a:outerShdw>
                </a:effectLst>
              </a:rPr>
              <a:t>Data elements </a:t>
            </a:r>
            <a:r>
              <a:rPr lang="en-US" sz="2000" b="0" dirty="0">
                <a:effectLst>
                  <a:outerShdw blurRad="101600" dist="63500" dir="2700000" algn="tl" rotWithShape="0">
                    <a:srgbClr val="000000">
                      <a:alpha val="75000"/>
                    </a:srgbClr>
                  </a:outerShdw>
                </a:effectLst>
              </a:rPr>
              <a:t>were introduced in DDI 3.2. </a:t>
            </a:r>
            <a:endParaRPr lang="en-US" sz="2000" b="0" dirty="0" smtClean="0">
              <a:effectLst>
                <a:outerShdw blurRad="101600" dist="63500" dir="2700000" algn="tl" rotWithShape="0">
                  <a:srgbClr val="000000">
                    <a:alpha val="75000"/>
                  </a:srgbClr>
                </a:outerShdw>
              </a:effectLst>
            </a:endParaRPr>
          </a:p>
          <a:p>
            <a:pPr>
              <a:spcBef>
                <a:spcPts val="1400"/>
              </a:spcBef>
            </a:pPr>
            <a:r>
              <a:rPr lang="en-US" sz="2000" b="0" dirty="0" smtClean="0">
                <a:effectLst>
                  <a:outerShdw blurRad="101600" dist="63500" dir="2700000" algn="tl" rotWithShape="0">
                    <a:srgbClr val="000000">
                      <a:alpha val="75000"/>
                    </a:srgbClr>
                  </a:outerShdw>
                </a:effectLst>
              </a:rPr>
              <a:t>Before </a:t>
            </a:r>
            <a:r>
              <a:rPr lang="en-US" sz="2000" b="0" dirty="0">
                <a:effectLst>
                  <a:outerShdw blurRad="101600" dist="63500" dir="2700000" algn="tl" rotWithShape="0">
                    <a:srgbClr val="000000">
                      <a:alpha val="75000"/>
                    </a:srgbClr>
                  </a:outerShdw>
                </a:effectLst>
              </a:rPr>
              <a:t>data elements there were just variables and their associated questions. </a:t>
            </a: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10</a:t>
            </a:fld>
            <a:endParaRPr lang="en-US"/>
          </a:p>
        </p:txBody>
      </p:sp>
      <p:pic>
        <p:nvPicPr>
          <p:cNvPr id="12" name="Picture 11"/>
          <p:cNvPicPr>
            <a:picLocks noChangeAspect="1"/>
          </p:cNvPicPr>
          <p:nvPr/>
        </p:nvPicPr>
        <p:blipFill>
          <a:blip r:embed="rId2"/>
          <a:stretch>
            <a:fillRect/>
          </a:stretch>
        </p:blipFill>
        <p:spPr>
          <a:xfrm>
            <a:off x="2453473" y="1243020"/>
            <a:ext cx="6257559" cy="4426591"/>
          </a:xfrm>
          <a:prstGeom prst="rect">
            <a:avLst/>
          </a:prstGeom>
          <a:effectLst>
            <a:outerShdw blurRad="101600" dist="88900" dir="2700000" algn="tl" rotWithShape="0">
              <a:srgbClr val="000000">
                <a:alpha val="75000"/>
              </a:srgbClr>
            </a:outerShdw>
          </a:effectLst>
        </p:spPr>
      </p:pic>
    </p:spTree>
    <p:extLst>
      <p:ext uri="{BB962C8B-B14F-4D97-AF65-F5344CB8AC3E}">
        <p14:creationId xmlns:p14="http://schemas.microsoft.com/office/powerpoint/2010/main" val="37150266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smtClean="0"/>
              <a:t>DEs  and CDEs Moving</a:t>
            </a:r>
            <a:br>
              <a:rPr lang="en-US" dirty="0" smtClean="0"/>
            </a:br>
            <a:r>
              <a:rPr lang="en-US" dirty="0" smtClean="0"/>
              <a:t>Forward (1 of 4)</a:t>
            </a:r>
            <a:endParaRPr lang="en-US" dirty="0"/>
          </a:p>
        </p:txBody>
      </p:sp>
      <p:sp>
        <p:nvSpPr>
          <p:cNvPr id="11" name="Content Placeholder 10"/>
          <p:cNvSpPr>
            <a:spLocks noGrp="1"/>
          </p:cNvSpPr>
          <p:nvPr>
            <p:ph idx="1"/>
          </p:nvPr>
        </p:nvSpPr>
        <p:spPr/>
        <p:txBody>
          <a:bodyPr>
            <a:normAutofit/>
          </a:bodyPr>
          <a:lstStyle/>
          <a:p>
            <a:pPr>
              <a:spcBef>
                <a:spcPts val="1400"/>
              </a:spcBef>
            </a:pPr>
            <a:r>
              <a:rPr lang="en-US" sz="2000" b="0" dirty="0">
                <a:effectLst>
                  <a:outerShdw blurRad="101600" dist="63500" dir="2700000" algn="tl" rotWithShape="0">
                    <a:srgbClr val="000000">
                      <a:alpha val="75000"/>
                    </a:srgbClr>
                  </a:outerShdw>
                </a:effectLst>
              </a:rPr>
              <a:t>Here data elements have </a:t>
            </a:r>
            <a:r>
              <a:rPr lang="en-US" sz="2000" dirty="0">
                <a:solidFill>
                  <a:srgbClr val="FFFF00"/>
                </a:solidFill>
                <a:effectLst>
                  <a:outerShdw blurRad="101600" dist="63500" dir="2700000" algn="tl" rotWithShape="0">
                    <a:srgbClr val="000000">
                      <a:alpha val="75000"/>
                    </a:srgbClr>
                  </a:outerShdw>
                </a:effectLst>
              </a:rPr>
              <a:t>concepts</a:t>
            </a:r>
            <a:r>
              <a:rPr lang="en-US" sz="2000" b="0" dirty="0">
                <a:effectLst>
                  <a:outerShdw blurRad="101600" dist="63500" dir="2700000" algn="tl" rotWithShape="0">
                    <a:srgbClr val="000000">
                      <a:alpha val="75000"/>
                    </a:srgbClr>
                  </a:outerShdw>
                </a:effectLst>
              </a:rPr>
              <a:t> </a:t>
            </a:r>
            <a:r>
              <a:rPr lang="en-US" sz="2000" b="0" dirty="0" smtClean="0">
                <a:effectLst>
                  <a:outerShdw blurRad="101600" dist="63500" dir="2700000" algn="tl" rotWithShape="0">
                    <a:srgbClr val="000000">
                      <a:alpha val="75000"/>
                    </a:srgbClr>
                  </a:outerShdw>
                </a:effectLst>
              </a:rPr>
              <a:t/>
            </a:r>
            <a:br>
              <a:rPr lang="en-US" sz="2000" b="0" dirty="0" smtClean="0">
                <a:effectLst>
                  <a:outerShdw blurRad="101600" dist="63500" dir="2700000" algn="tl" rotWithShape="0">
                    <a:srgbClr val="000000">
                      <a:alpha val="75000"/>
                    </a:srgbClr>
                  </a:outerShdw>
                </a:effectLst>
              </a:rPr>
            </a:br>
            <a:r>
              <a:rPr lang="en-US" sz="2000" b="0" dirty="0" smtClean="0">
                <a:effectLst>
                  <a:outerShdw blurRad="101600" dist="63500" dir="2700000" algn="tl" rotWithShape="0">
                    <a:srgbClr val="000000">
                      <a:alpha val="75000"/>
                    </a:srgbClr>
                  </a:outerShdw>
                </a:effectLst>
              </a:rPr>
              <a:t>and </a:t>
            </a:r>
            <a:r>
              <a:rPr lang="en-US" sz="2000" b="0" dirty="0">
                <a:effectLst>
                  <a:outerShdw blurRad="101600" dist="63500" dir="2700000" algn="tl" rotWithShape="0">
                    <a:srgbClr val="000000">
                      <a:alpha val="75000"/>
                    </a:srgbClr>
                  </a:outerShdw>
                </a:effectLst>
              </a:rPr>
              <a:t>there is a </a:t>
            </a:r>
            <a:r>
              <a:rPr lang="en-US" sz="2000" dirty="0">
                <a:solidFill>
                  <a:srgbClr val="FFFF00"/>
                </a:solidFill>
                <a:effectLst>
                  <a:outerShdw blurRad="101600" dist="63500" dir="2700000" algn="tl" rotWithShape="0">
                    <a:srgbClr val="000000">
                      <a:alpha val="75000"/>
                    </a:srgbClr>
                  </a:outerShdw>
                </a:effectLst>
              </a:rPr>
              <a:t>one-to-</a:t>
            </a:r>
            <a:r>
              <a:rPr lang="en-US" sz="2000" dirty="0" smtClean="0">
                <a:solidFill>
                  <a:srgbClr val="FFFF00"/>
                </a:solidFill>
                <a:effectLst>
                  <a:outerShdw blurRad="101600" dist="63500" dir="2700000" algn="tl" rotWithShape="0">
                    <a:srgbClr val="000000">
                      <a:alpha val="75000"/>
                    </a:srgbClr>
                  </a:outerShdw>
                </a:effectLst>
              </a:rPr>
              <a:t>many</a:t>
            </a:r>
            <a:br>
              <a:rPr lang="en-US" sz="2000" dirty="0" smtClean="0">
                <a:solidFill>
                  <a:srgbClr val="FFFF00"/>
                </a:solidFill>
                <a:effectLst>
                  <a:outerShdw blurRad="101600" dist="63500" dir="2700000" algn="tl" rotWithShape="0">
                    <a:srgbClr val="000000">
                      <a:alpha val="75000"/>
                    </a:srgbClr>
                  </a:outerShdw>
                </a:effectLst>
              </a:rPr>
            </a:br>
            <a:r>
              <a:rPr lang="en-US" sz="2000" dirty="0" smtClean="0">
                <a:solidFill>
                  <a:srgbClr val="FFFF00"/>
                </a:solidFill>
                <a:effectLst>
                  <a:outerShdw blurRad="101600" dist="63500" dir="2700000" algn="tl" rotWithShape="0">
                    <a:srgbClr val="000000">
                      <a:alpha val="75000"/>
                    </a:srgbClr>
                  </a:outerShdw>
                </a:effectLst>
              </a:rPr>
              <a:t>relationship </a:t>
            </a:r>
            <a:r>
              <a:rPr lang="en-US" sz="2000" dirty="0">
                <a:solidFill>
                  <a:srgbClr val="FFFF00"/>
                </a:solidFill>
                <a:effectLst>
                  <a:outerShdw blurRad="101600" dist="63500" dir="2700000" algn="tl" rotWithShape="0">
                    <a:srgbClr val="000000">
                      <a:alpha val="75000"/>
                    </a:srgbClr>
                  </a:outerShdw>
                </a:effectLst>
              </a:rPr>
              <a:t>between data elements </a:t>
            </a:r>
            <a:r>
              <a:rPr lang="en-US" sz="2000" dirty="0" smtClean="0">
                <a:solidFill>
                  <a:srgbClr val="FFFF00"/>
                </a:solidFill>
                <a:effectLst>
                  <a:outerShdw blurRad="101600" dist="63500" dir="2700000" algn="tl" rotWithShape="0">
                    <a:srgbClr val="000000">
                      <a:alpha val="75000"/>
                    </a:srgbClr>
                  </a:outerShdw>
                </a:effectLst>
              </a:rPr>
              <a:t/>
            </a:r>
            <a:br>
              <a:rPr lang="en-US" sz="2000" dirty="0" smtClean="0">
                <a:solidFill>
                  <a:srgbClr val="FFFF00"/>
                </a:solidFill>
                <a:effectLst>
                  <a:outerShdw blurRad="101600" dist="63500" dir="2700000" algn="tl" rotWithShape="0">
                    <a:srgbClr val="000000">
                      <a:alpha val="75000"/>
                    </a:srgbClr>
                  </a:outerShdw>
                </a:effectLst>
              </a:rPr>
            </a:br>
            <a:r>
              <a:rPr lang="en-US" sz="2000" dirty="0" smtClean="0">
                <a:solidFill>
                  <a:srgbClr val="FFFF00"/>
                </a:solidFill>
                <a:effectLst>
                  <a:outerShdw blurRad="101600" dist="63500" dir="2700000" algn="tl" rotWithShape="0">
                    <a:srgbClr val="000000">
                      <a:alpha val="75000"/>
                    </a:srgbClr>
                  </a:outerShdw>
                </a:effectLst>
              </a:rPr>
              <a:t>and </a:t>
            </a:r>
            <a:r>
              <a:rPr lang="en-US" sz="2000" dirty="0">
                <a:solidFill>
                  <a:srgbClr val="FFFF00"/>
                </a:solidFill>
                <a:effectLst>
                  <a:outerShdw blurRad="101600" dist="63500" dir="2700000" algn="tl" rotWithShape="0">
                    <a:srgbClr val="000000">
                      <a:alpha val="75000"/>
                    </a:srgbClr>
                  </a:outerShdw>
                </a:effectLst>
              </a:rPr>
              <a:t>variables</a:t>
            </a:r>
            <a:r>
              <a:rPr lang="en-US" sz="2000" b="0" dirty="0">
                <a:effectLst>
                  <a:outerShdw blurRad="101600" dist="63500" dir="2700000" algn="tl" rotWithShape="0">
                    <a:srgbClr val="000000">
                      <a:alpha val="75000"/>
                    </a:srgbClr>
                  </a:outerShdw>
                </a:effectLst>
              </a:rPr>
              <a:t>. </a:t>
            </a:r>
            <a:endParaRPr lang="en-US" sz="2000" b="0" dirty="0" smtClean="0">
              <a:effectLst>
                <a:outerShdw blurRad="101600" dist="63500" dir="2700000" algn="tl" rotWithShape="0">
                  <a:srgbClr val="000000">
                    <a:alpha val="75000"/>
                  </a:srgbClr>
                </a:outerShdw>
              </a:effectLst>
            </a:endParaRPr>
          </a:p>
          <a:p>
            <a:pPr>
              <a:spcBef>
                <a:spcPts val="1400"/>
              </a:spcBef>
            </a:pPr>
            <a:r>
              <a:rPr lang="en-US" sz="2000" b="0" dirty="0" smtClean="0">
                <a:effectLst>
                  <a:outerShdw blurRad="101600" dist="63500" dir="2700000" algn="tl" rotWithShape="0">
                    <a:srgbClr val="000000">
                      <a:alpha val="75000"/>
                    </a:srgbClr>
                  </a:outerShdw>
                </a:effectLst>
              </a:rPr>
              <a:t>Also </a:t>
            </a:r>
            <a:r>
              <a:rPr lang="en-US" sz="2000" b="0" dirty="0">
                <a:effectLst>
                  <a:outerShdw blurRad="101600" dist="63500" dir="2700000" algn="tl" rotWithShape="0">
                    <a:srgbClr val="000000">
                      <a:alpha val="75000"/>
                    </a:srgbClr>
                  </a:outerShdw>
                </a:effectLst>
              </a:rPr>
              <a:t>here, depending on whether a data element is associated with comparable objects maintained by other agencies, it may be a </a:t>
            </a:r>
            <a:r>
              <a:rPr lang="en-US" sz="2000" dirty="0">
                <a:solidFill>
                  <a:srgbClr val="FFFF00"/>
                </a:solidFill>
                <a:effectLst>
                  <a:outerShdw blurRad="101600" dist="63500" dir="2700000" algn="tl" rotWithShape="0">
                    <a:srgbClr val="000000">
                      <a:alpha val="75000"/>
                    </a:srgbClr>
                  </a:outerShdw>
                </a:effectLst>
              </a:rPr>
              <a:t>common data element (CDE)</a:t>
            </a:r>
            <a:r>
              <a:rPr lang="en-US" sz="2000" b="0" dirty="0">
                <a:effectLst>
                  <a:outerShdw blurRad="101600" dist="63500" dir="2700000" algn="tl" rotWithShape="0">
                    <a:srgbClr val="000000">
                      <a:alpha val="75000"/>
                    </a:srgbClr>
                  </a:outerShdw>
                </a:effectLst>
              </a:rPr>
              <a:t>.</a:t>
            </a:r>
          </a:p>
          <a:p>
            <a:pPr>
              <a:spcBef>
                <a:spcPts val="1400"/>
              </a:spcBef>
            </a:pPr>
            <a:r>
              <a:rPr lang="en-US" sz="2000" b="0" dirty="0">
                <a:effectLst>
                  <a:outerShdw blurRad="101600" dist="63500" dir="2700000" algn="tl" rotWithShape="0">
                    <a:srgbClr val="000000">
                      <a:alpha val="75000"/>
                    </a:srgbClr>
                  </a:outerShdw>
                </a:effectLst>
              </a:rPr>
              <a:t>Arguably CDEs were invented by NCI (US National Cancer Institute) at NIH (US National Institutes of Health). </a:t>
            </a:r>
            <a:endParaRPr lang="en-US" sz="2000" b="0" dirty="0" smtClean="0">
              <a:effectLst>
                <a:outerShdw blurRad="101600" dist="63500" dir="2700000" algn="tl" rotWithShape="0">
                  <a:srgbClr val="000000">
                    <a:alpha val="75000"/>
                  </a:srgbClr>
                </a:outerShdw>
              </a:effectLst>
            </a:endParaRPr>
          </a:p>
          <a:p>
            <a:pPr>
              <a:spcBef>
                <a:spcPts val="1400"/>
              </a:spcBef>
            </a:pPr>
            <a:r>
              <a:rPr lang="en-US" sz="2000" b="0" dirty="0" smtClean="0">
                <a:effectLst>
                  <a:outerShdw blurRad="101600" dist="63500" dir="2700000" algn="tl" rotWithShape="0">
                    <a:srgbClr val="000000">
                      <a:alpha val="75000"/>
                    </a:srgbClr>
                  </a:outerShdw>
                </a:effectLst>
              </a:rPr>
              <a:t>At </a:t>
            </a:r>
            <a:r>
              <a:rPr lang="en-US" sz="2000" b="0" dirty="0">
                <a:effectLst>
                  <a:outerShdw blurRad="101600" dist="63500" dir="2700000" algn="tl" rotWithShape="0">
                    <a:srgbClr val="000000">
                      <a:alpha val="75000"/>
                    </a:srgbClr>
                  </a:outerShdw>
                </a:effectLst>
              </a:rPr>
              <a:t>the </a:t>
            </a:r>
            <a:r>
              <a:rPr lang="en-US" sz="2000" b="0" dirty="0" smtClean="0">
                <a:effectLst>
                  <a:outerShdw blurRad="101600" dist="63500" dir="2700000" algn="tl" rotWithShape="0">
                    <a:srgbClr val="000000">
                      <a:alpha val="75000"/>
                    </a:srgbClr>
                  </a:outerShdw>
                </a:effectLst>
                <a:hlinkClick r:id="rId2"/>
              </a:rPr>
              <a:t>NIH CDE Resource Portal</a:t>
            </a:r>
            <a:r>
              <a:rPr lang="en-US" sz="2000" b="0" dirty="0" smtClean="0">
                <a:effectLst>
                  <a:outerShdw blurRad="101600" dist="63500" dir="2700000" algn="tl" rotWithShape="0">
                    <a:srgbClr val="000000">
                      <a:alpha val="75000"/>
                    </a:srgbClr>
                  </a:outerShdw>
                </a:effectLst>
              </a:rPr>
              <a:t> it </a:t>
            </a:r>
            <a:r>
              <a:rPr lang="en-US" sz="2000" b="0" dirty="0">
                <a:effectLst>
                  <a:outerShdw blurRad="101600" dist="63500" dir="2700000" algn="tl" rotWithShape="0">
                    <a:srgbClr val="000000">
                      <a:alpha val="75000"/>
                    </a:srgbClr>
                  </a:outerShdw>
                </a:effectLst>
              </a:rPr>
              <a:t>is explained that CDEs were introduced to “improve the </a:t>
            </a:r>
            <a:r>
              <a:rPr lang="en-US" sz="2000" dirty="0">
                <a:solidFill>
                  <a:srgbClr val="FFFF00"/>
                </a:solidFill>
                <a:effectLst>
                  <a:outerShdw blurRad="101600" dist="63500" dir="2700000" algn="tl" rotWithShape="0">
                    <a:srgbClr val="000000">
                      <a:alpha val="75000"/>
                    </a:srgbClr>
                  </a:outerShdw>
                </a:effectLst>
              </a:rPr>
              <a:t>comparability of data collected </a:t>
            </a:r>
            <a:r>
              <a:rPr lang="en-US" sz="2000" b="0" dirty="0">
                <a:effectLst>
                  <a:outerShdw blurRad="101600" dist="63500" dir="2700000" algn="tl" rotWithShape="0">
                    <a:srgbClr val="000000">
                      <a:alpha val="75000"/>
                    </a:srgbClr>
                  </a:outerShdw>
                </a:effectLst>
              </a:rPr>
              <a:t>in clinical research and/or with patient data in electronic health </a:t>
            </a:r>
            <a:r>
              <a:rPr lang="en-US" sz="2000" b="0" dirty="0" smtClean="0">
                <a:effectLst>
                  <a:outerShdw blurRad="101600" dist="63500" dir="2700000" algn="tl" rotWithShape="0">
                    <a:srgbClr val="000000">
                      <a:alpha val="75000"/>
                    </a:srgbClr>
                  </a:outerShdw>
                </a:effectLst>
              </a:rPr>
              <a:t>records”. </a:t>
            </a:r>
            <a:endParaRPr lang="en-US" sz="2000" b="0" dirty="0">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11</a:t>
            </a:fld>
            <a:endParaRPr lang="en-US"/>
          </a:p>
        </p:txBody>
      </p:sp>
      <p:pic>
        <p:nvPicPr>
          <p:cNvPr id="12" name="Picture 11"/>
          <p:cNvPicPr>
            <a:picLocks noChangeAspect="1"/>
          </p:cNvPicPr>
          <p:nvPr/>
        </p:nvPicPr>
        <p:blipFill>
          <a:blip r:embed="rId3"/>
          <a:stretch>
            <a:fillRect/>
          </a:stretch>
        </p:blipFill>
        <p:spPr>
          <a:xfrm>
            <a:off x="5223468" y="328883"/>
            <a:ext cx="3476955" cy="2459595"/>
          </a:xfrm>
          <a:prstGeom prst="rect">
            <a:avLst/>
          </a:prstGeom>
          <a:effectLst>
            <a:outerShdw blurRad="101600" dist="63500" dir="2700000" algn="tl" rotWithShape="0">
              <a:srgbClr val="000000">
                <a:alpha val="75000"/>
              </a:srgbClr>
            </a:outerShdw>
          </a:effectLst>
        </p:spPr>
      </p:pic>
    </p:spTree>
    <p:extLst>
      <p:ext uri="{BB962C8B-B14F-4D97-AF65-F5344CB8AC3E}">
        <p14:creationId xmlns:p14="http://schemas.microsoft.com/office/powerpoint/2010/main" val="2077706786"/>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smtClean="0"/>
              <a:t>DEs  and CDEs Moving</a:t>
            </a:r>
            <a:br>
              <a:rPr lang="en-US" dirty="0" smtClean="0"/>
            </a:br>
            <a:r>
              <a:rPr lang="en-US" dirty="0" smtClean="0"/>
              <a:t>Forward (2 of 4)</a:t>
            </a:r>
            <a:endParaRPr lang="en-US" dirty="0"/>
          </a:p>
        </p:txBody>
      </p:sp>
      <p:sp>
        <p:nvSpPr>
          <p:cNvPr id="11" name="Content Placeholder 10"/>
          <p:cNvSpPr>
            <a:spLocks noGrp="1"/>
          </p:cNvSpPr>
          <p:nvPr>
            <p:ph idx="1"/>
          </p:nvPr>
        </p:nvSpPr>
        <p:spPr/>
        <p:txBody>
          <a:bodyPr>
            <a:normAutofit/>
          </a:bodyPr>
          <a:lstStyle/>
          <a:p>
            <a:pPr>
              <a:spcBef>
                <a:spcPts val="1400"/>
              </a:spcBef>
            </a:pPr>
            <a:r>
              <a:rPr lang="en-US" sz="2000" b="0" dirty="0" smtClean="0">
                <a:effectLst>
                  <a:outerShdw blurRad="101600" dist="63500" dir="2700000" algn="tl" rotWithShape="0">
                    <a:srgbClr val="000000">
                      <a:alpha val="75000"/>
                    </a:srgbClr>
                  </a:outerShdw>
                </a:effectLst>
              </a:rPr>
              <a:t>In terms of Moving Forward we</a:t>
            </a:r>
            <a:br>
              <a:rPr lang="en-US" sz="2000" b="0" dirty="0" smtClean="0">
                <a:effectLst>
                  <a:outerShdw blurRad="101600" dist="63500" dir="2700000" algn="tl" rotWithShape="0">
                    <a:srgbClr val="000000">
                      <a:alpha val="75000"/>
                    </a:srgbClr>
                  </a:outerShdw>
                </a:effectLst>
              </a:rPr>
            </a:br>
            <a:r>
              <a:rPr lang="en-US" sz="2000" b="0" dirty="0" smtClean="0">
                <a:effectLst>
                  <a:outerShdw blurRad="101600" dist="63500" dir="2700000" algn="tl" rotWithShape="0">
                    <a:srgbClr val="000000">
                      <a:alpha val="75000"/>
                    </a:srgbClr>
                  </a:outerShdw>
                </a:effectLst>
              </a:rPr>
              <a:t>might build, following the DDI</a:t>
            </a:r>
            <a:r>
              <a:rPr lang="en-US" sz="2000" b="0" dirty="0">
                <a:effectLst>
                  <a:outerShdw blurRad="101600" dist="63500" dir="2700000" algn="tl" rotWithShape="0">
                    <a:srgbClr val="000000">
                      <a:alpha val="75000"/>
                    </a:srgbClr>
                  </a:outerShdw>
                </a:effectLst>
              </a:rPr>
              <a:t/>
            </a:r>
            <a:br>
              <a:rPr lang="en-US" sz="2000" b="0" dirty="0">
                <a:effectLst>
                  <a:outerShdw blurRad="101600" dist="63500" dir="2700000" algn="tl" rotWithShape="0">
                    <a:srgbClr val="000000">
                      <a:alpha val="75000"/>
                    </a:srgbClr>
                  </a:outerShdw>
                </a:effectLst>
              </a:rPr>
            </a:br>
            <a:r>
              <a:rPr lang="en-US" sz="2000" b="0" dirty="0" smtClean="0">
                <a:effectLst>
                  <a:outerShdw blurRad="101600" dist="63500" dir="2700000" algn="tl" rotWithShape="0">
                    <a:srgbClr val="000000">
                      <a:alpha val="75000"/>
                    </a:srgbClr>
                  </a:outerShdw>
                </a:effectLst>
              </a:rPr>
              <a:t>CONOPS, </a:t>
            </a:r>
            <a:r>
              <a:rPr lang="en-US" sz="2000" b="0" dirty="0" smtClean="0">
                <a:solidFill>
                  <a:srgbClr val="FFFFFF"/>
                </a:solidFill>
                <a:effectLst>
                  <a:outerShdw blurRad="101600" dist="63500" dir="2700000" algn="tl" rotWithShape="0">
                    <a:srgbClr val="000000">
                      <a:alpha val="75000"/>
                    </a:srgbClr>
                  </a:outerShdw>
                </a:effectLst>
              </a:rPr>
              <a:t>a DDI </a:t>
            </a:r>
            <a:r>
              <a:rPr lang="en-US" sz="2000" dirty="0">
                <a:solidFill>
                  <a:srgbClr val="FFFF00"/>
                </a:solidFill>
                <a:effectLst>
                  <a:outerShdw blurRad="101600" dist="63500" dir="2700000" algn="tl" rotWithShape="0">
                    <a:srgbClr val="000000">
                      <a:alpha val="75000"/>
                    </a:srgbClr>
                  </a:outerShdw>
                </a:effectLst>
              </a:rPr>
              <a:t>d</a:t>
            </a:r>
            <a:r>
              <a:rPr lang="en-US" sz="2000" dirty="0" smtClean="0">
                <a:solidFill>
                  <a:srgbClr val="FFFF00"/>
                </a:solidFill>
                <a:effectLst>
                  <a:outerShdw blurRad="101600" dist="63500" dir="2700000" algn="tl" rotWithShape="0">
                    <a:srgbClr val="000000">
                      <a:alpha val="75000"/>
                    </a:srgbClr>
                  </a:outerShdw>
                </a:effectLst>
              </a:rPr>
              <a:t>ata normalization</a:t>
            </a:r>
            <a:br>
              <a:rPr lang="en-US" sz="2000" dirty="0" smtClean="0">
                <a:solidFill>
                  <a:srgbClr val="FFFF00"/>
                </a:solidFill>
                <a:effectLst>
                  <a:outerShdw blurRad="101600" dist="63500" dir="2700000" algn="tl" rotWithShape="0">
                    <a:srgbClr val="000000">
                      <a:alpha val="75000"/>
                    </a:srgbClr>
                  </a:outerShdw>
                </a:effectLst>
              </a:rPr>
            </a:br>
            <a:r>
              <a:rPr lang="en-US" sz="2000" dirty="0" smtClean="0">
                <a:solidFill>
                  <a:srgbClr val="FFFF00"/>
                </a:solidFill>
                <a:effectLst>
                  <a:outerShdw blurRad="101600" dist="63500" dir="2700000" algn="tl" rotWithShape="0">
                    <a:srgbClr val="000000">
                      <a:alpha val="75000"/>
                    </a:srgbClr>
                  </a:outerShdw>
                </a:effectLst>
              </a:rPr>
              <a:t>vocabulary</a:t>
            </a:r>
            <a:r>
              <a:rPr lang="en-US" sz="2000" b="0" dirty="0" smtClean="0">
                <a:effectLst>
                  <a:outerShdw blurRad="101600" dist="63500" dir="2700000" algn="tl" rotWithShape="0">
                    <a:srgbClr val="000000">
                      <a:alpha val="75000"/>
                    </a:srgbClr>
                  </a:outerShdw>
                </a:effectLst>
              </a:rPr>
              <a:t>.</a:t>
            </a:r>
          </a:p>
          <a:p>
            <a:pPr>
              <a:spcBef>
                <a:spcPts val="1400"/>
              </a:spcBef>
            </a:pPr>
            <a:r>
              <a:rPr lang="en-US" sz="2000" b="0" dirty="0" smtClean="0">
                <a:effectLst>
                  <a:outerShdw blurRad="101600" dist="63500" dir="2700000" algn="tl" rotWithShape="0">
                    <a:srgbClr val="000000">
                      <a:alpha val="75000"/>
                    </a:srgbClr>
                  </a:outerShdw>
                </a:effectLst>
              </a:rPr>
              <a:t>First we would derive a data normalization ontology from the DDI UML imagined here.</a:t>
            </a:r>
          </a:p>
          <a:p>
            <a:pPr>
              <a:spcBef>
                <a:spcPts val="1400"/>
              </a:spcBef>
            </a:pPr>
            <a:r>
              <a:rPr lang="en-US" sz="2000" b="0" dirty="0" smtClean="0">
                <a:effectLst>
                  <a:outerShdw blurRad="101600" dist="63500" dir="2700000" algn="tl" rotWithShape="0">
                    <a:srgbClr val="000000">
                      <a:alpha val="75000"/>
                    </a:srgbClr>
                  </a:outerShdw>
                </a:effectLst>
              </a:rPr>
              <a:t>Perhaps, however, we will want to “tweak” this UML </a:t>
            </a:r>
            <a:r>
              <a:rPr lang="en-US" sz="2000" dirty="0" smtClean="0">
                <a:solidFill>
                  <a:srgbClr val="FFFF00"/>
                </a:solidFill>
                <a:effectLst>
                  <a:outerShdw blurRad="101600" dist="63500" dir="2700000" algn="tl" rotWithShape="0">
                    <a:srgbClr val="000000">
                      <a:alpha val="75000"/>
                    </a:srgbClr>
                  </a:outerShdw>
                </a:effectLst>
              </a:rPr>
              <a:t>specializing</a:t>
            </a:r>
            <a:r>
              <a:rPr lang="en-US" sz="2000" b="0" dirty="0" smtClean="0">
                <a:effectLst>
                  <a:outerShdw blurRad="101600" dist="63500" dir="2700000" algn="tl" rotWithShape="0">
                    <a:srgbClr val="000000">
                      <a:alpha val="75000"/>
                    </a:srgbClr>
                  </a:outerShdw>
                </a:effectLst>
              </a:rPr>
              <a:t> it in a way that is not currently supported in DDI 3.2.</a:t>
            </a:r>
          </a:p>
          <a:p>
            <a:pPr>
              <a:spcBef>
                <a:spcPts val="1400"/>
              </a:spcBef>
            </a:pPr>
            <a:r>
              <a:rPr lang="en-US" sz="2000" b="0" dirty="0" smtClean="0">
                <a:effectLst>
                  <a:outerShdw blurRad="101600" dist="63500" dir="2700000" algn="tl" rotWithShape="0">
                    <a:srgbClr val="000000">
                      <a:alpha val="75000"/>
                    </a:srgbClr>
                  </a:outerShdw>
                </a:effectLst>
              </a:rPr>
              <a:t>Specialization may be needed because across NIH </a:t>
            </a:r>
            <a:r>
              <a:rPr lang="en-US" sz="2000" dirty="0" smtClean="0">
                <a:solidFill>
                  <a:srgbClr val="FFFF00"/>
                </a:solidFill>
                <a:effectLst>
                  <a:outerShdw blurRad="101600" dist="63500" dir="2700000" algn="tl" rotWithShape="0">
                    <a:srgbClr val="000000">
                      <a:alpha val="75000"/>
                    </a:srgbClr>
                  </a:outerShdw>
                </a:effectLst>
              </a:rPr>
              <a:t>four subclasses of CDEs</a:t>
            </a:r>
            <a:r>
              <a:rPr lang="en-US" sz="2000" b="0" dirty="0" smtClean="0">
                <a:effectLst>
                  <a:outerShdw blurRad="101600" dist="63500" dir="2700000" algn="tl" rotWithShape="0">
                    <a:srgbClr val="000000">
                      <a:alpha val="75000"/>
                    </a:srgbClr>
                  </a:outerShdw>
                </a:effectLst>
              </a:rPr>
              <a:t> have been identified…</a:t>
            </a: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12</a:t>
            </a:fld>
            <a:endParaRPr lang="en-US"/>
          </a:p>
        </p:txBody>
      </p:sp>
      <p:pic>
        <p:nvPicPr>
          <p:cNvPr id="12" name="Picture 11"/>
          <p:cNvPicPr>
            <a:picLocks noChangeAspect="1"/>
          </p:cNvPicPr>
          <p:nvPr/>
        </p:nvPicPr>
        <p:blipFill>
          <a:blip r:embed="rId2"/>
          <a:stretch>
            <a:fillRect/>
          </a:stretch>
        </p:blipFill>
        <p:spPr>
          <a:xfrm>
            <a:off x="5223468" y="328883"/>
            <a:ext cx="3476955" cy="2459595"/>
          </a:xfrm>
          <a:prstGeom prst="rect">
            <a:avLst/>
          </a:prstGeom>
          <a:effectLst>
            <a:outerShdw blurRad="101600" dist="63500" dir="2700000" algn="tl" rotWithShape="0">
              <a:srgbClr val="000000">
                <a:alpha val="75000"/>
              </a:srgbClr>
            </a:outerShdw>
          </a:effectLst>
        </p:spPr>
      </p:pic>
    </p:spTree>
    <p:extLst>
      <p:ext uri="{BB962C8B-B14F-4D97-AF65-F5344CB8AC3E}">
        <p14:creationId xmlns:p14="http://schemas.microsoft.com/office/powerpoint/2010/main" val="2761485226"/>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441326" y="88334"/>
            <a:ext cx="8259097" cy="691040"/>
          </a:xfrm>
        </p:spPr>
        <p:txBody>
          <a:bodyPr/>
          <a:lstStyle/>
          <a:p>
            <a:r>
              <a:rPr lang="en-US" dirty="0" smtClean="0"/>
              <a:t>DEs  and CDEs Moving Forward (3 of 4)</a:t>
            </a:r>
            <a:endParaRPr lang="en-US" dirty="0"/>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264636669"/>
              </p:ext>
            </p:extLst>
          </p:nvPr>
        </p:nvGraphicFramePr>
        <p:xfrm>
          <a:off x="441325" y="1001289"/>
          <a:ext cx="8259764" cy="5125720"/>
        </p:xfrm>
        <a:graphic>
          <a:graphicData uri="http://schemas.openxmlformats.org/drawingml/2006/table">
            <a:tbl>
              <a:tblPr firstRow="1" bandRow="1">
                <a:tableStyleId>{8EC20E35-A176-4012-BC5E-935CFFF8708E}</a:tableStyleId>
              </a:tblPr>
              <a:tblGrid>
                <a:gridCol w="1675397"/>
                <a:gridCol w="6584367"/>
              </a:tblGrid>
              <a:tr h="370840">
                <a:tc>
                  <a:txBody>
                    <a:bodyPr/>
                    <a:lstStyle/>
                    <a:p>
                      <a:r>
                        <a:rPr lang="en-US" dirty="0" smtClean="0"/>
                        <a:t>CDE Subclass</a:t>
                      </a:r>
                      <a:endParaRPr lang="en-US" dirty="0"/>
                    </a:p>
                  </a:txBody>
                  <a:tcPr/>
                </a:tc>
                <a:tc>
                  <a:txBody>
                    <a:bodyPr/>
                    <a:lstStyle/>
                    <a:p>
                      <a:r>
                        <a:rPr lang="en-US" dirty="0" smtClean="0"/>
                        <a:t>Description</a:t>
                      </a:r>
                      <a:endParaRPr lang="en-US" dirty="0"/>
                    </a:p>
                  </a:txBody>
                  <a:tcPr/>
                </a:tc>
              </a:tr>
              <a:tr h="370840">
                <a:tc>
                  <a:txBody>
                    <a:bodyPr/>
                    <a:lstStyle/>
                    <a:p>
                      <a:r>
                        <a:rPr lang="en-US" dirty="0" smtClean="0"/>
                        <a:t>Universal</a:t>
                      </a:r>
                      <a:endParaRPr lang="en-US" dirty="0"/>
                    </a:p>
                  </a:txBody>
                  <a:tcPr/>
                </a:tc>
                <a:tc>
                  <a:txBody>
                    <a:bodyPr/>
                    <a:lstStyle/>
                    <a:p>
                      <a:r>
                        <a:rPr lang="en-US" sz="1600" kern="1200" dirty="0" smtClean="0">
                          <a:effectLst/>
                        </a:rPr>
                        <a:t>CDEs that may be used in studies, regardless of the specific disease or condition of interest, e.g., </a:t>
                      </a:r>
                      <a:r>
                        <a:rPr lang="en-US" sz="1600" b="1" kern="1200" dirty="0" smtClean="0">
                          <a:solidFill>
                            <a:srgbClr val="6A24A0"/>
                          </a:solidFill>
                          <a:effectLst/>
                        </a:rPr>
                        <a:t>demographic information</a:t>
                      </a:r>
                      <a:r>
                        <a:rPr lang="en-US" sz="1600" kern="1200" dirty="0" smtClean="0">
                          <a:effectLst/>
                        </a:rPr>
                        <a:t> of study subjects, medical history, certain patient-reported outcomes.</a:t>
                      </a:r>
                      <a:r>
                        <a:rPr lang="en-US" sz="1600" dirty="0" smtClean="0">
                          <a:effectLst/>
                        </a:rPr>
                        <a:t> </a:t>
                      </a:r>
                      <a:endParaRPr lang="en-US" sz="1600" dirty="0"/>
                    </a:p>
                  </a:txBody>
                  <a:tcPr/>
                </a:tc>
              </a:tr>
              <a:tr h="370840">
                <a:tc>
                  <a:txBody>
                    <a:bodyPr/>
                    <a:lstStyle/>
                    <a:p>
                      <a:r>
                        <a:rPr lang="en-US" dirty="0" smtClean="0"/>
                        <a:t>Domain Specific</a:t>
                      </a:r>
                      <a:endParaRPr lang="en-US" dirty="0"/>
                    </a:p>
                  </a:txBody>
                  <a:tcPr/>
                </a:tc>
                <a:tc>
                  <a:txBody>
                    <a:bodyPr/>
                    <a:lstStyle/>
                    <a:p>
                      <a:r>
                        <a:rPr lang="en-US" sz="1600" kern="1200" dirty="0" smtClean="0">
                          <a:effectLst/>
                        </a:rPr>
                        <a:t>CDEs that are designed and intended for use in studies of a </a:t>
                      </a:r>
                      <a:r>
                        <a:rPr lang="en-US" sz="1600" b="1" kern="1200" dirty="0" smtClean="0">
                          <a:solidFill>
                            <a:srgbClr val="6A24A0"/>
                          </a:solidFill>
                          <a:effectLst/>
                        </a:rPr>
                        <a:t>particular topic, disease or condition, body system, or other classification</a:t>
                      </a:r>
                      <a:r>
                        <a:rPr lang="en-US" sz="1600" kern="1200" dirty="0" smtClean="0">
                          <a:effectLst/>
                        </a:rPr>
                        <a:t>, e.g., Parkinson's disease, Alzheimer's disease, diabetes, ophthalmology. Some domains are broadly applicable to a wide range of studies, while others are more useful in specific fields of clinical research.</a:t>
                      </a:r>
                      <a:r>
                        <a:rPr lang="en-US" sz="1600" dirty="0" smtClean="0">
                          <a:effectLst/>
                        </a:rPr>
                        <a:t> </a:t>
                      </a:r>
                      <a:endParaRPr lang="en-US" sz="1600" dirty="0"/>
                    </a:p>
                  </a:txBody>
                  <a:tcPr/>
                </a:tc>
              </a:tr>
              <a:tr h="370840">
                <a:tc>
                  <a:txBody>
                    <a:bodyPr/>
                    <a:lstStyle/>
                    <a:p>
                      <a:r>
                        <a:rPr lang="en-US" dirty="0" smtClean="0"/>
                        <a:t>Required</a:t>
                      </a:r>
                      <a:endParaRPr lang="en-US" dirty="0"/>
                    </a:p>
                  </a:txBody>
                  <a:tcPr/>
                </a:tc>
                <a:tc>
                  <a:txBody>
                    <a:bodyPr/>
                    <a:lstStyle/>
                    <a:p>
                      <a:r>
                        <a:rPr lang="en-US" sz="1600" kern="1200" dirty="0" smtClean="0">
                          <a:effectLst/>
                        </a:rPr>
                        <a:t>CDEs that are </a:t>
                      </a:r>
                      <a:r>
                        <a:rPr lang="en-US" sz="1600" b="1" kern="1200" dirty="0" smtClean="0">
                          <a:solidFill>
                            <a:srgbClr val="6A24A0"/>
                          </a:solidFill>
                          <a:effectLst/>
                        </a:rPr>
                        <a:t>required</a:t>
                      </a:r>
                      <a:r>
                        <a:rPr lang="en-US" sz="1600" kern="1200" dirty="0" smtClean="0">
                          <a:effectLst/>
                        </a:rPr>
                        <a:t> or expected, as a matter of </a:t>
                      </a:r>
                      <a:r>
                        <a:rPr lang="en-US" sz="1600" b="1" kern="1200" dirty="0" smtClean="0">
                          <a:solidFill>
                            <a:srgbClr val="6A24A0"/>
                          </a:solidFill>
                          <a:effectLst/>
                        </a:rPr>
                        <a:t>institutional policy </a:t>
                      </a:r>
                      <a:r>
                        <a:rPr lang="en-US" sz="1600" kern="1200" dirty="0" smtClean="0">
                          <a:effectLst/>
                        </a:rPr>
                        <a:t>(e.g., research funder or performer), to be collected for all subjects in studies of a particular type, e.g., NIH-funded studies of neurological disease, or NIH-funded studies of the genetics of eye disease.</a:t>
                      </a:r>
                      <a:r>
                        <a:rPr lang="en-US" sz="1600" dirty="0" smtClean="0">
                          <a:effectLst/>
                        </a:rPr>
                        <a:t> </a:t>
                      </a:r>
                      <a:endParaRPr lang="en-US" sz="1600" dirty="0"/>
                    </a:p>
                  </a:txBody>
                  <a:tcPr/>
                </a:tc>
              </a:tr>
              <a:tr h="370840">
                <a:tc>
                  <a:txBody>
                    <a:bodyPr/>
                    <a:lstStyle/>
                    <a:p>
                      <a:r>
                        <a:rPr lang="en-US" dirty="0" smtClean="0"/>
                        <a:t>Core</a:t>
                      </a:r>
                      <a:endParaRPr lang="en-US" dirty="0"/>
                    </a:p>
                  </a:txBody>
                  <a:tcPr/>
                </a:tc>
                <a:tc>
                  <a:txBody>
                    <a:bodyPr/>
                    <a:lstStyle/>
                    <a:p>
                      <a:r>
                        <a:rPr lang="en-US" sz="1600" kern="1200" dirty="0" smtClean="0">
                          <a:effectLst/>
                        </a:rPr>
                        <a:t>CDEs that are </a:t>
                      </a:r>
                      <a:r>
                        <a:rPr lang="en-US" sz="1600" b="1" kern="1200" dirty="0" smtClean="0">
                          <a:solidFill>
                            <a:srgbClr val="6A24A0"/>
                          </a:solidFill>
                          <a:effectLst/>
                        </a:rPr>
                        <a:t>required</a:t>
                      </a:r>
                      <a:r>
                        <a:rPr lang="en-US" sz="1600" kern="1200" dirty="0" smtClean="0">
                          <a:solidFill>
                            <a:srgbClr val="6A24A0"/>
                          </a:solidFill>
                          <a:effectLst/>
                        </a:rPr>
                        <a:t> </a:t>
                      </a:r>
                      <a:r>
                        <a:rPr lang="en-US" sz="1600" kern="1200" dirty="0" smtClean="0">
                          <a:effectLst/>
                        </a:rPr>
                        <a:t>or expected to be collected in </a:t>
                      </a:r>
                      <a:r>
                        <a:rPr lang="en-US" sz="1600" b="1" kern="1200" dirty="0" smtClean="0">
                          <a:solidFill>
                            <a:srgbClr val="6A24A0"/>
                          </a:solidFill>
                          <a:effectLst/>
                        </a:rPr>
                        <a:t>particular classes of studies</a:t>
                      </a:r>
                      <a:r>
                        <a:rPr lang="en-US" sz="1600" kern="1200" dirty="0" smtClean="0">
                          <a:effectLst/>
                        </a:rPr>
                        <a:t>, e.g., any study of neurological disease or cancer, any genome-wide association study. Other, domain-specific common data elements may be suggested, expected, or required for collection, depending on the more specific focus of the study (e.g., Alzheimer's disease, ovarian cancer, genome-wide association study of diabetes).</a:t>
                      </a:r>
                      <a:r>
                        <a:rPr lang="en-US" sz="1600" dirty="0" smtClean="0">
                          <a:effectLst/>
                        </a:rPr>
                        <a:t> </a:t>
                      </a:r>
                      <a:endParaRPr lang="en-US" sz="1600" dirty="0"/>
                    </a:p>
                  </a:txBody>
                  <a:tcPr/>
                </a:tc>
              </a:tr>
            </a:tbl>
          </a:graphicData>
        </a:graphic>
      </p:graphicFrame>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13</a:t>
            </a:fld>
            <a:endParaRPr lang="en-US"/>
          </a:p>
        </p:txBody>
      </p:sp>
    </p:spTree>
    <p:extLst>
      <p:ext uri="{BB962C8B-B14F-4D97-AF65-F5344CB8AC3E}">
        <p14:creationId xmlns:p14="http://schemas.microsoft.com/office/powerpoint/2010/main" val="2019790990"/>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smtClean="0"/>
              <a:t>DEs  and CDEs Moving</a:t>
            </a:r>
            <a:br>
              <a:rPr lang="en-US" dirty="0" smtClean="0"/>
            </a:br>
            <a:r>
              <a:rPr lang="en-US" dirty="0" smtClean="0"/>
              <a:t>Forward (5 of 5)</a:t>
            </a:r>
            <a:endParaRPr lang="en-US" dirty="0"/>
          </a:p>
        </p:txBody>
      </p:sp>
      <p:sp>
        <p:nvSpPr>
          <p:cNvPr id="11" name="Content Placeholder 10"/>
          <p:cNvSpPr>
            <a:spLocks noGrp="1"/>
          </p:cNvSpPr>
          <p:nvPr>
            <p:ph idx="1"/>
          </p:nvPr>
        </p:nvSpPr>
        <p:spPr/>
        <p:txBody>
          <a:bodyPr>
            <a:normAutofit lnSpcReduction="10000"/>
          </a:bodyPr>
          <a:lstStyle/>
          <a:p>
            <a:pPr>
              <a:spcBef>
                <a:spcPts val="1400"/>
              </a:spcBef>
            </a:pPr>
            <a:r>
              <a:rPr lang="en-US" sz="2000" b="0" dirty="0" smtClean="0">
                <a:effectLst>
                  <a:outerShdw blurRad="101600" dist="63500" dir="2700000" algn="tl" rotWithShape="0">
                    <a:srgbClr val="000000">
                      <a:alpha val="75000"/>
                    </a:srgbClr>
                  </a:outerShdw>
                </a:effectLst>
              </a:rPr>
              <a:t>Specialization, however, creates </a:t>
            </a:r>
            <a:br>
              <a:rPr lang="en-US" sz="2000" b="0" dirty="0" smtClean="0">
                <a:effectLst>
                  <a:outerShdw blurRad="101600" dist="63500" dir="2700000" algn="tl" rotWithShape="0">
                    <a:srgbClr val="000000">
                      <a:alpha val="75000"/>
                    </a:srgbClr>
                  </a:outerShdw>
                </a:effectLst>
              </a:rPr>
            </a:br>
            <a:r>
              <a:rPr lang="en-US" sz="2000" b="0" dirty="0" smtClean="0">
                <a:effectLst>
                  <a:outerShdw blurRad="101600" dist="63500" dir="2700000" algn="tl" rotWithShape="0">
                    <a:srgbClr val="000000">
                      <a:alpha val="75000"/>
                    </a:srgbClr>
                  </a:outerShdw>
                </a:effectLst>
              </a:rPr>
              <a:t>issues…</a:t>
            </a:r>
          </a:p>
          <a:p>
            <a:pPr>
              <a:spcBef>
                <a:spcPts val="1400"/>
              </a:spcBef>
            </a:pPr>
            <a:r>
              <a:rPr lang="en-US" sz="2000" b="0" dirty="0" smtClean="0">
                <a:effectLst>
                  <a:outerShdw blurRad="101600" dist="63500" dir="2700000" algn="tl" rotWithShape="0">
                    <a:srgbClr val="000000">
                      <a:alpha val="75000"/>
                    </a:srgbClr>
                  </a:outerShdw>
                </a:effectLst>
              </a:rPr>
              <a:t>Any XML instance that a study </a:t>
            </a:r>
            <a:br>
              <a:rPr lang="en-US" sz="2000" b="0" dirty="0" smtClean="0">
                <a:effectLst>
                  <a:outerShdw blurRad="101600" dist="63500" dir="2700000" algn="tl" rotWithShape="0">
                    <a:srgbClr val="000000">
                      <a:alpha val="75000"/>
                    </a:srgbClr>
                  </a:outerShdw>
                </a:effectLst>
              </a:rPr>
            </a:br>
            <a:r>
              <a:rPr lang="en-US" sz="2000" b="0" dirty="0" smtClean="0">
                <a:effectLst>
                  <a:outerShdw blurRad="101600" dist="63500" dir="2700000" algn="tl" rotWithShape="0">
                    <a:srgbClr val="000000">
                      <a:alpha val="75000"/>
                    </a:srgbClr>
                  </a:outerShdw>
                </a:effectLst>
              </a:rPr>
              <a:t>populates in line with an XML schema </a:t>
            </a:r>
            <a:br>
              <a:rPr lang="en-US" sz="2000" b="0" dirty="0" smtClean="0">
                <a:effectLst>
                  <a:outerShdw blurRad="101600" dist="63500" dir="2700000" algn="tl" rotWithShape="0">
                    <a:srgbClr val="000000">
                      <a:alpha val="75000"/>
                    </a:srgbClr>
                  </a:outerShdw>
                </a:effectLst>
              </a:rPr>
            </a:br>
            <a:r>
              <a:rPr lang="en-US" sz="2000" b="0" dirty="0" smtClean="0">
                <a:effectLst>
                  <a:outerShdw blurRad="101600" dist="63500" dir="2700000" algn="tl" rotWithShape="0">
                    <a:srgbClr val="000000">
                      <a:alpha val="75000"/>
                    </a:srgbClr>
                  </a:outerShdw>
                </a:effectLst>
              </a:rPr>
              <a:t>derived from our “simple” UML data </a:t>
            </a:r>
            <a:br>
              <a:rPr lang="en-US" sz="2000" b="0" dirty="0" smtClean="0">
                <a:effectLst>
                  <a:outerShdw blurRad="101600" dist="63500" dir="2700000" algn="tl" rotWithShape="0">
                    <a:srgbClr val="000000">
                      <a:alpha val="75000"/>
                    </a:srgbClr>
                  </a:outerShdw>
                </a:effectLst>
              </a:rPr>
            </a:br>
            <a:r>
              <a:rPr lang="en-US" sz="2000" b="0" dirty="0" smtClean="0">
                <a:effectLst>
                  <a:outerShdw blurRad="101600" dist="63500" dir="2700000" algn="tl" rotWithShape="0">
                    <a:srgbClr val="000000">
                      <a:alpha val="75000"/>
                    </a:srgbClr>
                  </a:outerShdw>
                </a:effectLst>
              </a:rPr>
              <a:t>normalization model won’t identify</a:t>
            </a:r>
            <a:br>
              <a:rPr lang="en-US" sz="2000" b="0" dirty="0" smtClean="0">
                <a:effectLst>
                  <a:outerShdw blurRad="101600" dist="63500" dir="2700000" algn="tl" rotWithShape="0">
                    <a:srgbClr val="000000">
                      <a:alpha val="75000"/>
                    </a:srgbClr>
                  </a:outerShdw>
                </a:effectLst>
              </a:rPr>
            </a:br>
            <a:r>
              <a:rPr lang="en-US" sz="2000" b="0" dirty="0" smtClean="0">
                <a:effectLst>
                  <a:outerShdw blurRad="101600" dist="63500" dir="2700000" algn="tl" rotWithShape="0">
                    <a:srgbClr val="000000">
                      <a:alpha val="75000"/>
                    </a:srgbClr>
                  </a:outerShdw>
                </a:effectLst>
              </a:rPr>
              <a:t>CDEs in terms of their subclasses.</a:t>
            </a:r>
          </a:p>
          <a:p>
            <a:pPr>
              <a:spcBef>
                <a:spcPts val="1400"/>
              </a:spcBef>
            </a:pPr>
            <a:r>
              <a:rPr lang="en-US" sz="2000" b="0" dirty="0" smtClean="0">
                <a:effectLst>
                  <a:outerShdw blurRad="101600" dist="63500" dir="2700000" algn="tl" rotWithShape="0">
                    <a:srgbClr val="000000">
                      <a:alpha val="75000"/>
                    </a:srgbClr>
                  </a:outerShdw>
                </a:effectLst>
              </a:rPr>
              <a:t>Perhaps, however, we will want to “tweak” our simple UML data normalization model by “</a:t>
            </a:r>
            <a:r>
              <a:rPr lang="en-US" sz="2000" dirty="0" smtClean="0">
                <a:solidFill>
                  <a:srgbClr val="FFFF00"/>
                </a:solidFill>
                <a:effectLst>
                  <a:outerShdw blurRad="101600" dist="63500" dir="2700000" algn="tl" rotWithShape="0">
                    <a:srgbClr val="000000">
                      <a:alpha val="75000"/>
                    </a:srgbClr>
                  </a:outerShdw>
                </a:effectLst>
              </a:rPr>
              <a:t>advancing</a:t>
            </a:r>
            <a:r>
              <a:rPr lang="en-US" sz="2000" b="0" dirty="0" smtClean="0">
                <a:effectLst>
                  <a:outerShdw blurRad="101600" dist="63500" dir="2700000" algn="tl" rotWithShape="0">
                    <a:srgbClr val="000000">
                      <a:alpha val="75000"/>
                    </a:srgbClr>
                  </a:outerShdw>
                </a:effectLst>
              </a:rPr>
              <a:t>” it with the addition of</a:t>
            </a:r>
            <a:r>
              <a:rPr lang="en-US" sz="2000" dirty="0" smtClean="0">
                <a:solidFill>
                  <a:srgbClr val="FFFF00"/>
                </a:solidFill>
                <a:effectLst>
                  <a:outerShdw blurRad="101600" dist="63500" dir="2700000" algn="tl" rotWithShape="0">
                    <a:srgbClr val="000000">
                      <a:alpha val="75000"/>
                    </a:srgbClr>
                  </a:outerShdw>
                </a:effectLst>
              </a:rPr>
              <a:t> CDE subclasses</a:t>
            </a:r>
            <a:r>
              <a:rPr lang="en-US" sz="2000" b="0" dirty="0" smtClean="0">
                <a:effectLst>
                  <a:outerShdw blurRad="101600" dist="63500" dir="2700000" algn="tl" rotWithShape="0">
                    <a:srgbClr val="000000">
                      <a:alpha val="75000"/>
                    </a:srgbClr>
                  </a:outerShdw>
                </a:effectLst>
              </a:rPr>
              <a:t>.</a:t>
            </a:r>
          </a:p>
          <a:p>
            <a:pPr>
              <a:spcBef>
                <a:spcPts val="1400"/>
              </a:spcBef>
            </a:pPr>
            <a:r>
              <a:rPr lang="en-US" sz="2000" b="0" dirty="0" smtClean="0">
                <a:effectLst>
                  <a:outerShdw blurRad="101600" dist="63500" dir="2700000" algn="tl" rotWithShape="0">
                    <a:srgbClr val="000000">
                      <a:alpha val="75000"/>
                    </a:srgbClr>
                  </a:outerShdw>
                </a:effectLst>
              </a:rPr>
              <a:t>A </a:t>
            </a:r>
            <a:r>
              <a:rPr lang="en-US" sz="2000" dirty="0" smtClean="0">
                <a:solidFill>
                  <a:srgbClr val="FFFF00"/>
                </a:solidFill>
                <a:effectLst>
                  <a:outerShdw blurRad="101600" dist="63500" dir="2700000" algn="tl" rotWithShape="0">
                    <a:srgbClr val="000000">
                      <a:alpha val="75000"/>
                    </a:srgbClr>
                  </a:outerShdw>
                </a:effectLst>
              </a:rPr>
              <a:t>proliferation of advanced models </a:t>
            </a:r>
            <a:r>
              <a:rPr lang="en-US" sz="2000" b="0" dirty="0" smtClean="0">
                <a:effectLst>
                  <a:outerShdw blurRad="101600" dist="63500" dir="2700000" algn="tl" rotWithShape="0">
                    <a:srgbClr val="000000">
                      <a:alpha val="75000"/>
                    </a:srgbClr>
                  </a:outerShdw>
                </a:effectLst>
              </a:rPr>
              <a:t>does not in principle lead to the “balkanization” of DDI but, because of the possibilities supported by the Moving Forward CONOPS, </a:t>
            </a:r>
            <a:r>
              <a:rPr lang="en-US" sz="2000" dirty="0" smtClean="0">
                <a:solidFill>
                  <a:srgbClr val="FFFF00"/>
                </a:solidFill>
                <a:effectLst>
                  <a:outerShdw blurRad="101600" dist="63500" dir="2700000" algn="tl" rotWithShape="0">
                    <a:srgbClr val="000000">
                      <a:alpha val="75000"/>
                    </a:srgbClr>
                  </a:outerShdw>
                </a:effectLst>
              </a:rPr>
              <a:t>more governance </a:t>
            </a:r>
            <a:r>
              <a:rPr lang="en-US" sz="2000" b="0" dirty="0" smtClean="0">
                <a:effectLst>
                  <a:outerShdw blurRad="101600" dist="63500" dir="2700000" algn="tl" rotWithShape="0">
                    <a:srgbClr val="000000">
                      <a:alpha val="75000"/>
                    </a:srgbClr>
                  </a:outerShdw>
                </a:effectLst>
              </a:rPr>
              <a:t>may be required.</a:t>
            </a: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14</a:t>
            </a:fld>
            <a:endParaRPr lang="en-US"/>
          </a:p>
        </p:txBody>
      </p:sp>
      <p:pic>
        <p:nvPicPr>
          <p:cNvPr id="2" name="Picture 1"/>
          <p:cNvPicPr>
            <a:picLocks noChangeAspect="1"/>
          </p:cNvPicPr>
          <p:nvPr/>
        </p:nvPicPr>
        <p:blipFill>
          <a:blip r:embed="rId2"/>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3" name="Oval 2"/>
          <p:cNvSpPr/>
          <p:nvPr/>
        </p:nvSpPr>
        <p:spPr>
          <a:xfrm>
            <a:off x="6555340" y="761926"/>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8021256"/>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 (DDI-RDF Discovery Language) and Beyond – Part I: Architecture (1 of 4)</a:t>
            </a:r>
            <a:endParaRPr lang="en-US"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15</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1953" y="1329619"/>
            <a:ext cx="6782600" cy="4895744"/>
          </a:xfrm>
          <a:prstGeom prst="rect">
            <a:avLst/>
          </a:prstGeom>
          <a:noFill/>
          <a:ln>
            <a:noFill/>
          </a:ln>
          <a:effectLst>
            <a:outerShdw blurRad="101600" dist="88900" dir="2700000" algn="tl" rotWithShape="0">
              <a:srgbClr val="000000">
                <a:alpha val="75000"/>
              </a:srgbClr>
            </a:outerShdw>
          </a:effectLst>
        </p:spPr>
      </p:pic>
      <p:sp>
        <p:nvSpPr>
          <p:cNvPr id="8" name="TextBox 7"/>
          <p:cNvSpPr txBox="1"/>
          <p:nvPr/>
        </p:nvSpPr>
        <p:spPr>
          <a:xfrm>
            <a:off x="7591336" y="1626100"/>
            <a:ext cx="1279655" cy="4093428"/>
          </a:xfrm>
          <a:prstGeom prst="rect">
            <a:avLst/>
          </a:prstGeom>
          <a:noFill/>
        </p:spPr>
        <p:txBody>
          <a:bodyPr wrap="square" rtlCol="0">
            <a:spAutoFit/>
          </a:bodyPr>
          <a:lstStyle/>
          <a:p>
            <a:r>
              <a:rPr lang="en-US" sz="2000" dirty="0"/>
              <a:t>Here is a </a:t>
            </a:r>
            <a:r>
              <a:rPr lang="en-US" sz="2000" b="1" dirty="0">
                <a:solidFill>
                  <a:srgbClr val="FFFF00"/>
                </a:solidFill>
              </a:rPr>
              <a:t>directed graph </a:t>
            </a:r>
            <a:r>
              <a:rPr lang="en-US" sz="2000" dirty="0"/>
              <a:t>described by </a:t>
            </a:r>
            <a:r>
              <a:rPr lang="en-US" sz="2000" dirty="0">
                <a:hlinkClick r:id="rId3"/>
              </a:rPr>
              <a:t>Bosch et al (2012) </a:t>
            </a:r>
            <a:r>
              <a:rPr lang="en-US" sz="2000" dirty="0"/>
              <a:t>that is the basis for the Disco RDF </a:t>
            </a:r>
            <a:r>
              <a:rPr lang="en-US" sz="2000" dirty="0" smtClean="0"/>
              <a:t>discovery language</a:t>
            </a:r>
            <a:endParaRPr lang="en-US" sz="2000" dirty="0"/>
          </a:p>
        </p:txBody>
      </p:sp>
    </p:spTree>
    <p:extLst>
      <p:ext uri="{BB962C8B-B14F-4D97-AF65-F5344CB8AC3E}">
        <p14:creationId xmlns:p14="http://schemas.microsoft.com/office/powerpoint/2010/main" val="434110446"/>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 and Beyond – Part I</a:t>
            </a:r>
            <a:br>
              <a:rPr lang="en-US" dirty="0" smtClean="0"/>
            </a:br>
            <a:r>
              <a:rPr lang="en-US" dirty="0" smtClean="0"/>
              <a:t>(2 of 4)</a:t>
            </a:r>
            <a:endParaRPr lang="en-US" dirty="0"/>
          </a:p>
        </p:txBody>
      </p:sp>
      <p:sp>
        <p:nvSpPr>
          <p:cNvPr id="3" name="Content Placeholder 2"/>
          <p:cNvSpPr>
            <a:spLocks noGrp="1"/>
          </p:cNvSpPr>
          <p:nvPr>
            <p:ph idx="1"/>
          </p:nvPr>
        </p:nvSpPr>
        <p:spPr/>
        <p:txBody>
          <a:bodyPr>
            <a:normAutofit/>
          </a:bodyPr>
          <a:lstStyle/>
          <a:p>
            <a:pPr>
              <a:spcBef>
                <a:spcPts val="1400"/>
              </a:spcBef>
            </a:pPr>
            <a:r>
              <a:rPr lang="en-US" sz="2000" b="0" dirty="0" smtClean="0"/>
              <a:t>Disco begins with an </a:t>
            </a:r>
            <a:r>
              <a:rPr lang="en-US" sz="2000" dirty="0" smtClean="0">
                <a:solidFill>
                  <a:srgbClr val="FFFF00"/>
                </a:solidFill>
              </a:rPr>
              <a:t>XSD schema </a:t>
            </a:r>
            <a:r>
              <a:rPr lang="en-US" sz="2000" b="0" dirty="0" smtClean="0"/>
              <a:t/>
            </a:r>
            <a:br>
              <a:rPr lang="en-US" sz="2000" b="0" dirty="0" smtClean="0"/>
            </a:br>
            <a:r>
              <a:rPr lang="en-US" sz="2000" b="0" dirty="0" smtClean="0"/>
              <a:t>based on this directed graph.</a:t>
            </a:r>
          </a:p>
          <a:p>
            <a:pPr>
              <a:spcBef>
                <a:spcPts val="1400"/>
              </a:spcBef>
            </a:pPr>
            <a:r>
              <a:rPr lang="en-US" sz="2000" b="0" dirty="0" smtClean="0">
                <a:hlinkClick r:id="rId2"/>
              </a:rPr>
              <a:t>Bosch and Mathiak (2011)</a:t>
            </a:r>
            <a:r>
              <a:rPr lang="en-US" sz="2000" b="0" dirty="0" smtClean="0"/>
              <a:t> and </a:t>
            </a:r>
            <a:br>
              <a:rPr lang="en-US" sz="2000" b="0" dirty="0" smtClean="0"/>
            </a:br>
            <a:r>
              <a:rPr lang="en-US" sz="2000" b="0" dirty="0" smtClean="0">
                <a:hlinkClick r:id="rId3"/>
              </a:rPr>
              <a:t>Bosch and Mathiak (2012)</a:t>
            </a:r>
            <a:r>
              <a:rPr lang="en-US" sz="2000" b="0" dirty="0" smtClean="0"/>
              <a:t> describe </a:t>
            </a:r>
            <a:br>
              <a:rPr lang="en-US" sz="2000" b="0" dirty="0" smtClean="0"/>
            </a:br>
            <a:r>
              <a:rPr lang="en-US" sz="2000" b="0" dirty="0" smtClean="0"/>
              <a:t>two approaches for </a:t>
            </a:r>
            <a:r>
              <a:rPr lang="en-US" sz="2000" dirty="0" smtClean="0">
                <a:solidFill>
                  <a:srgbClr val="FFFF00"/>
                </a:solidFill>
              </a:rPr>
              <a:t>deriving OWL </a:t>
            </a:r>
            <a:br>
              <a:rPr lang="en-US" sz="2000" dirty="0" smtClean="0">
                <a:solidFill>
                  <a:srgbClr val="FFFF00"/>
                </a:solidFill>
              </a:rPr>
            </a:br>
            <a:r>
              <a:rPr lang="en-US" sz="2000" dirty="0" smtClean="0">
                <a:solidFill>
                  <a:srgbClr val="FFFF00"/>
                </a:solidFill>
              </a:rPr>
              <a:t>ontologies</a:t>
            </a:r>
            <a:r>
              <a:rPr lang="en-US" sz="2000" b="0" dirty="0" smtClean="0"/>
              <a:t> from the Disco XSD.</a:t>
            </a:r>
          </a:p>
          <a:p>
            <a:pPr>
              <a:spcBef>
                <a:spcPts val="1400"/>
              </a:spcBef>
            </a:pPr>
            <a:r>
              <a:rPr lang="en-US" sz="2000" b="0" dirty="0" smtClean="0"/>
              <a:t>In terms of Moving Forward we note two things:</a:t>
            </a:r>
          </a:p>
          <a:p>
            <a:pPr lvl="1"/>
            <a:r>
              <a:rPr lang="en-US" sz="2000" b="0" dirty="0" smtClean="0"/>
              <a:t>Disco doesn’t begin with a view from either a simple or an advanced </a:t>
            </a:r>
            <a:r>
              <a:rPr lang="en-US" sz="2000" dirty="0" smtClean="0">
                <a:solidFill>
                  <a:srgbClr val="FFFF00"/>
                </a:solidFill>
              </a:rPr>
              <a:t>UML model</a:t>
            </a:r>
            <a:r>
              <a:rPr lang="en-US" sz="2000" b="0" dirty="0" smtClean="0"/>
              <a:t>.</a:t>
            </a:r>
          </a:p>
          <a:p>
            <a:pPr lvl="1"/>
            <a:r>
              <a:rPr lang="en-US" sz="2000" b="0" dirty="0" smtClean="0"/>
              <a:t>The Disco directed graph / conceptual model includes a type of concept – </a:t>
            </a:r>
            <a:r>
              <a:rPr lang="en-US" sz="2000" dirty="0" smtClean="0">
                <a:solidFill>
                  <a:srgbClr val="FFFF00"/>
                </a:solidFill>
              </a:rPr>
              <a:t>skos:Concept</a:t>
            </a:r>
            <a:r>
              <a:rPr lang="en-US" sz="2000" b="0" dirty="0" smtClean="0"/>
              <a:t> – which is not part of DDI 3.2.</a:t>
            </a:r>
            <a:endParaRPr lang="en-US" sz="2000" b="0"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16</a:t>
            </a:fld>
            <a:endParaRPr lang="en-US"/>
          </a:p>
        </p:txBody>
      </p:sp>
      <p:pic>
        <p:nvPicPr>
          <p:cNvPr id="8" name="Picture 7"/>
          <p:cNvPicPr>
            <a:picLocks noChangeAspect="1"/>
          </p:cNvPicPr>
          <p:nvPr/>
        </p:nvPicPr>
        <p:blipFill>
          <a:blip r:embed="rId4"/>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9" name="Oval 8"/>
          <p:cNvSpPr/>
          <p:nvPr/>
        </p:nvSpPr>
        <p:spPr>
          <a:xfrm>
            <a:off x="5343220" y="1089074"/>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270455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900" decel="100000" fill="hold"/>
                                        <p:tgtEl>
                                          <p:spTgt spid="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 and Beyond – Part I </a:t>
            </a:r>
            <a:br>
              <a:rPr lang="en-US" dirty="0" smtClean="0"/>
            </a:br>
            <a:r>
              <a:rPr lang="en-US" dirty="0" smtClean="0"/>
              <a:t>(3 of 4)</a:t>
            </a:r>
            <a:endParaRPr lang="en-US" dirty="0"/>
          </a:p>
        </p:txBody>
      </p:sp>
      <p:sp>
        <p:nvSpPr>
          <p:cNvPr id="3" name="Content Placeholder 2"/>
          <p:cNvSpPr>
            <a:spLocks noGrp="1"/>
          </p:cNvSpPr>
          <p:nvPr>
            <p:ph idx="1"/>
          </p:nvPr>
        </p:nvSpPr>
        <p:spPr>
          <a:xfrm>
            <a:off x="441326" y="1462526"/>
            <a:ext cx="8259097" cy="4893823"/>
          </a:xfrm>
        </p:spPr>
        <p:txBody>
          <a:bodyPr>
            <a:normAutofit/>
          </a:bodyPr>
          <a:lstStyle/>
          <a:p>
            <a:pPr>
              <a:spcBef>
                <a:spcPts val="1400"/>
              </a:spcBef>
            </a:pPr>
            <a:r>
              <a:rPr lang="en-US" sz="2000" b="0" dirty="0" smtClean="0"/>
              <a:t>Moving Forward, we will probably </a:t>
            </a:r>
            <a:br>
              <a:rPr lang="en-US" sz="2000" b="0" dirty="0" smtClean="0"/>
            </a:br>
            <a:r>
              <a:rPr lang="en-US" sz="2000" b="0" dirty="0" smtClean="0"/>
              <a:t>want to </a:t>
            </a:r>
            <a:r>
              <a:rPr lang="en-US" sz="2000" dirty="0" smtClean="0">
                <a:solidFill>
                  <a:srgbClr val="FFFF00"/>
                </a:solidFill>
              </a:rPr>
              <a:t>derive the Disco XSD schema </a:t>
            </a:r>
            <a:br>
              <a:rPr lang="en-US" sz="2000" dirty="0" smtClean="0">
                <a:solidFill>
                  <a:srgbClr val="FFFF00"/>
                </a:solidFill>
              </a:rPr>
            </a:br>
            <a:r>
              <a:rPr lang="en-US" sz="2000" dirty="0" smtClean="0">
                <a:solidFill>
                  <a:srgbClr val="FFFF00"/>
                </a:solidFill>
              </a:rPr>
              <a:t>from UML XMI </a:t>
            </a:r>
            <a:r>
              <a:rPr lang="en-US" sz="2000" b="0" dirty="0" smtClean="0"/>
              <a:t>although in principle it</a:t>
            </a:r>
            <a:br>
              <a:rPr lang="en-US" sz="2000" b="0" dirty="0" smtClean="0"/>
            </a:br>
            <a:r>
              <a:rPr lang="en-US" sz="2000" b="0" dirty="0" smtClean="0"/>
              <a:t>is possible to derive the Disco OWL </a:t>
            </a:r>
            <a:br>
              <a:rPr lang="en-US" sz="2000" b="0" dirty="0" smtClean="0"/>
            </a:br>
            <a:r>
              <a:rPr lang="en-US" sz="2000" b="0" dirty="0" smtClean="0"/>
              <a:t>ontology from UML XMI</a:t>
            </a:r>
            <a:br>
              <a:rPr lang="en-US" sz="2000" b="0" dirty="0" smtClean="0"/>
            </a:br>
            <a:r>
              <a:rPr lang="en-US" sz="2000" b="0" dirty="0" smtClean="0"/>
              <a:t>directly.</a:t>
            </a:r>
          </a:p>
          <a:p>
            <a:pPr>
              <a:spcBef>
                <a:spcPts val="1200"/>
              </a:spcBef>
            </a:pPr>
            <a:r>
              <a:rPr lang="en-US" sz="2000" b="0" dirty="0" smtClean="0"/>
              <a:t>A problem comes in because the </a:t>
            </a:r>
            <a:r>
              <a:rPr lang="en-US" sz="2000" dirty="0" smtClean="0">
                <a:solidFill>
                  <a:srgbClr val="FFFF00"/>
                </a:solidFill>
              </a:rPr>
              <a:t>DDI specification doesn’t support SKOS concepts</a:t>
            </a:r>
            <a:r>
              <a:rPr lang="en-US" sz="2000" b="0" dirty="0" smtClean="0"/>
              <a:t>.</a:t>
            </a:r>
          </a:p>
          <a:p>
            <a:pPr>
              <a:spcBef>
                <a:spcPts val="1200"/>
              </a:spcBef>
            </a:pPr>
            <a:r>
              <a:rPr lang="en-US" sz="2000" dirty="0" smtClean="0">
                <a:solidFill>
                  <a:srgbClr val="FFFF00"/>
                </a:solidFill>
              </a:rPr>
              <a:t>SKOS organizes concepts around “broader”, “narrower” and “associative” relationships </a:t>
            </a:r>
            <a:r>
              <a:rPr lang="en-US" sz="2000" b="0" dirty="0" smtClean="0"/>
              <a:t>and is well suited for describing statistical classifications and the standard thesaurus.</a:t>
            </a:r>
          </a:p>
          <a:p>
            <a:pPr>
              <a:spcBef>
                <a:spcPts val="1200"/>
              </a:spcBef>
            </a:pPr>
            <a:r>
              <a:rPr lang="en-US" sz="2000" b="0" dirty="0" smtClean="0"/>
              <a:t>Using SKOS, Disco can support </a:t>
            </a:r>
            <a:r>
              <a:rPr lang="en-US" sz="2000" dirty="0" smtClean="0">
                <a:solidFill>
                  <a:srgbClr val="FFFF00"/>
                </a:solidFill>
              </a:rPr>
              <a:t>cohort identification </a:t>
            </a:r>
            <a:r>
              <a:rPr lang="en-US" sz="2000" b="0" dirty="0" smtClean="0"/>
              <a:t>queries in which we search for populations that are more or less comparable on certain dimensions.</a:t>
            </a: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17</a:t>
            </a:fld>
            <a:endParaRPr lang="en-US"/>
          </a:p>
        </p:txBody>
      </p:sp>
      <p:pic>
        <p:nvPicPr>
          <p:cNvPr id="8" name="Picture 7"/>
          <p:cNvPicPr>
            <a:picLocks noChangeAspect="1"/>
          </p:cNvPicPr>
          <p:nvPr/>
        </p:nvPicPr>
        <p:blipFill>
          <a:blip r:embed="rId2"/>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9" name="Oval 8"/>
          <p:cNvSpPr/>
          <p:nvPr/>
        </p:nvSpPr>
        <p:spPr>
          <a:xfrm>
            <a:off x="5343220" y="1089074"/>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7111780" y="1302770"/>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577614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900" decel="100000" fill="hold"/>
                                        <p:tgtEl>
                                          <p:spTgt spid="1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 and Beyond – Part I </a:t>
            </a:r>
            <a:br>
              <a:rPr lang="en-US" dirty="0" smtClean="0"/>
            </a:br>
            <a:r>
              <a:rPr lang="en-US" dirty="0" smtClean="0"/>
              <a:t>(4 of 4)</a:t>
            </a:r>
            <a:endParaRPr lang="en-US" dirty="0"/>
          </a:p>
        </p:txBody>
      </p:sp>
      <p:sp>
        <p:nvSpPr>
          <p:cNvPr id="3" name="Content Placeholder 2"/>
          <p:cNvSpPr>
            <a:spLocks noGrp="1"/>
          </p:cNvSpPr>
          <p:nvPr>
            <p:ph idx="1"/>
          </p:nvPr>
        </p:nvSpPr>
        <p:spPr>
          <a:xfrm>
            <a:off x="441326" y="1462526"/>
            <a:ext cx="8259097" cy="4893823"/>
          </a:xfrm>
        </p:spPr>
        <p:txBody>
          <a:bodyPr>
            <a:normAutofit/>
          </a:bodyPr>
          <a:lstStyle/>
          <a:p>
            <a:pPr>
              <a:spcBef>
                <a:spcPts val="1400"/>
              </a:spcBef>
            </a:pPr>
            <a:r>
              <a:rPr lang="en-US" sz="2000" b="0" dirty="0" smtClean="0"/>
              <a:t>Since </a:t>
            </a:r>
            <a:r>
              <a:rPr lang="en-US" sz="2000" dirty="0" smtClean="0">
                <a:solidFill>
                  <a:srgbClr val="FFFF00"/>
                </a:solidFill>
              </a:rPr>
              <a:t>SKOS integrates with OWL</a:t>
            </a:r>
            <a:r>
              <a:rPr lang="en-US" sz="2000" b="0" dirty="0" smtClean="0"/>
              <a:t>, </a:t>
            </a:r>
            <a:br>
              <a:rPr lang="en-US" sz="2000" b="0" dirty="0" smtClean="0"/>
            </a:br>
            <a:r>
              <a:rPr lang="en-US" sz="2000" b="0" dirty="0" smtClean="0"/>
              <a:t>Moving Forward one approach for</a:t>
            </a:r>
            <a:br>
              <a:rPr lang="en-US" sz="2000" b="0" dirty="0" smtClean="0"/>
            </a:br>
            <a:r>
              <a:rPr lang="en-US" sz="2000" b="0" dirty="0" smtClean="0"/>
              <a:t>supporting SKOS concepts in DDI is</a:t>
            </a:r>
            <a:br>
              <a:rPr lang="en-US" sz="2000" b="0" dirty="0" smtClean="0"/>
            </a:br>
            <a:r>
              <a:rPr lang="en-US" sz="2000" b="0" dirty="0" smtClean="0"/>
              <a:t>to introduce them later on.</a:t>
            </a:r>
            <a:endParaRPr lang="en-US" sz="2000" b="0" dirty="0"/>
          </a:p>
          <a:p>
            <a:pPr>
              <a:spcBef>
                <a:spcPts val="1400"/>
              </a:spcBef>
            </a:pPr>
            <a:r>
              <a:rPr lang="en-US" sz="2000" b="0" dirty="0" smtClean="0"/>
              <a:t>“Later on” is after the Disco ontology</a:t>
            </a:r>
            <a:br>
              <a:rPr lang="en-US" sz="2000" b="0" dirty="0" smtClean="0"/>
            </a:br>
            <a:r>
              <a:rPr lang="en-US" sz="2000" b="0" dirty="0" smtClean="0"/>
              <a:t>is programmatically derived from</a:t>
            </a:r>
            <a:br>
              <a:rPr lang="en-US" sz="2000" b="0" dirty="0" smtClean="0"/>
            </a:br>
            <a:r>
              <a:rPr lang="en-US" sz="2000" b="0" dirty="0" smtClean="0"/>
              <a:t>DDI UML.</a:t>
            </a:r>
          </a:p>
          <a:p>
            <a:pPr>
              <a:spcBef>
                <a:spcPts val="1400"/>
              </a:spcBef>
            </a:pPr>
            <a:r>
              <a:rPr lang="en-US" sz="2000" b="0" dirty="0" smtClean="0"/>
              <a:t>In this approach OWL (Derived) can be </a:t>
            </a:r>
            <a:r>
              <a:rPr lang="en-US" sz="2000" dirty="0" smtClean="0">
                <a:solidFill>
                  <a:srgbClr val="FFFF00"/>
                </a:solidFill>
              </a:rPr>
              <a:t>extended</a:t>
            </a:r>
            <a:r>
              <a:rPr lang="en-US" sz="2000" b="0" dirty="0" smtClean="0"/>
              <a:t>.</a:t>
            </a:r>
          </a:p>
          <a:p>
            <a:pPr>
              <a:spcBef>
                <a:spcPts val="1400"/>
              </a:spcBef>
            </a:pPr>
            <a:r>
              <a:rPr lang="en-US" sz="2000" b="0" dirty="0" smtClean="0"/>
              <a:t>In their seminal work “Using OWL with SKOS” </a:t>
            </a:r>
            <a:r>
              <a:rPr lang="en-US" sz="2000" b="0" dirty="0" smtClean="0">
                <a:hlinkClick r:id="rId2"/>
              </a:rPr>
              <a:t>Bechhofer and Miles (2008)</a:t>
            </a:r>
            <a:r>
              <a:rPr lang="en-US" sz="2000" b="0" dirty="0" smtClean="0"/>
              <a:t> describe several models for </a:t>
            </a:r>
            <a:r>
              <a:rPr lang="en-US" sz="2000" dirty="0" smtClean="0">
                <a:solidFill>
                  <a:srgbClr val="FFFF00"/>
                </a:solidFill>
              </a:rPr>
              <a:t>integrating a SKOS thesaurus with an OWL ontology</a:t>
            </a:r>
            <a:r>
              <a:rPr lang="en-US" sz="2000" b="0" dirty="0" smtClean="0"/>
              <a:t>.</a:t>
            </a: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18</a:t>
            </a:fld>
            <a:endParaRPr lang="en-US"/>
          </a:p>
        </p:txBody>
      </p:sp>
      <p:pic>
        <p:nvPicPr>
          <p:cNvPr id="8" name="Picture 7"/>
          <p:cNvPicPr>
            <a:picLocks noChangeAspect="1"/>
          </p:cNvPicPr>
          <p:nvPr/>
        </p:nvPicPr>
        <p:blipFill>
          <a:blip r:embed="rId3"/>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9" name="Oval 8"/>
          <p:cNvSpPr/>
          <p:nvPr/>
        </p:nvSpPr>
        <p:spPr>
          <a:xfrm>
            <a:off x="5689540" y="1627906"/>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417878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900" decel="100000" fill="hold"/>
                                        <p:tgtEl>
                                          <p:spTgt spid="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smtClean="0"/>
              <a:t>Disco and Beyond – Part II: Growing Disco to Support the Valuation of Study Variables (1 of 4)</a:t>
            </a:r>
            <a:endParaRPr lang="en-US" sz="3000" dirty="0"/>
          </a:p>
        </p:txBody>
      </p:sp>
      <p:sp>
        <p:nvSpPr>
          <p:cNvPr id="3" name="Content Placeholder 2"/>
          <p:cNvSpPr>
            <a:spLocks noGrp="1"/>
          </p:cNvSpPr>
          <p:nvPr>
            <p:ph idx="1"/>
          </p:nvPr>
        </p:nvSpPr>
        <p:spPr>
          <a:xfrm>
            <a:off x="441327" y="1477211"/>
            <a:ext cx="5115192" cy="4575753"/>
          </a:xfrm>
        </p:spPr>
        <p:txBody>
          <a:bodyPr>
            <a:normAutofit lnSpcReduction="10000"/>
          </a:bodyPr>
          <a:lstStyle/>
          <a:p>
            <a:r>
              <a:rPr lang="en-US" b="0" dirty="0">
                <a:effectLst>
                  <a:outerShdw blurRad="101600" dist="63500" dir="2700000" algn="tl" rotWithShape="0">
                    <a:srgbClr val="000000">
                      <a:alpha val="75000"/>
                    </a:srgbClr>
                  </a:outerShdw>
                </a:effectLst>
              </a:rPr>
              <a:t>Imagine an instrument that uses your smartphone to take pictures that record </a:t>
            </a:r>
            <a:r>
              <a:rPr lang="en-US" dirty="0">
                <a:solidFill>
                  <a:srgbClr val="FFFF00"/>
                </a:solidFill>
                <a:effectLst>
                  <a:outerShdw blurRad="101600" dist="63500" dir="2700000" algn="tl" rotWithShape="0">
                    <a:srgbClr val="000000">
                      <a:alpha val="75000"/>
                    </a:srgbClr>
                  </a:outerShdw>
                </a:effectLst>
              </a:rPr>
              <a:t>the food you eat</a:t>
            </a:r>
            <a:r>
              <a:rPr lang="en-US" b="0" dirty="0">
                <a:effectLst>
                  <a:outerShdw blurRad="101600" dist="63500" dir="2700000" algn="tl" rotWithShape="0">
                    <a:srgbClr val="000000">
                      <a:alpha val="75000"/>
                    </a:srgbClr>
                  </a:outerShdw>
                </a:effectLst>
              </a:rPr>
              <a:t>.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Using </a:t>
            </a:r>
            <a:r>
              <a:rPr lang="en-US" b="0" dirty="0">
                <a:effectLst>
                  <a:outerShdw blurRad="101600" dist="63500" dir="2700000" algn="tl" rotWithShape="0">
                    <a:srgbClr val="000000">
                      <a:alpha val="75000"/>
                    </a:srgbClr>
                  </a:outerShdw>
                </a:effectLst>
              </a:rPr>
              <a:t>the pictures as input, the instrument identifies food objects like the bread on your plate.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The </a:t>
            </a:r>
            <a:r>
              <a:rPr lang="en-US" b="0" dirty="0">
                <a:effectLst>
                  <a:outerShdw blurRad="101600" dist="63500" dir="2700000" algn="tl" rotWithShape="0">
                    <a:srgbClr val="000000">
                      <a:alpha val="75000"/>
                    </a:srgbClr>
                  </a:outerShdw>
                </a:effectLst>
              </a:rPr>
              <a:t>instrument records an annotation it places on the picture that marks the bread.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It </a:t>
            </a:r>
            <a:r>
              <a:rPr lang="en-US" b="0" dirty="0">
                <a:effectLst>
                  <a:outerShdw blurRad="101600" dist="63500" dir="2700000" algn="tl" rotWithShape="0">
                    <a:srgbClr val="000000">
                      <a:alpha val="75000"/>
                    </a:srgbClr>
                  </a:outerShdw>
                </a:effectLst>
              </a:rPr>
              <a:t>also records a measure of size based on the annotation.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Finally </a:t>
            </a:r>
            <a:r>
              <a:rPr lang="en-US" b="0" dirty="0">
                <a:effectLst>
                  <a:outerShdw blurRad="101600" dist="63500" dir="2700000" algn="tl" rotWithShape="0">
                    <a:srgbClr val="000000">
                      <a:alpha val="75000"/>
                    </a:srgbClr>
                  </a:outerShdw>
                </a:effectLst>
              </a:rPr>
              <a:t>it records the </a:t>
            </a:r>
            <a:r>
              <a:rPr lang="en-US" dirty="0">
                <a:solidFill>
                  <a:srgbClr val="FFFF00"/>
                </a:solidFill>
                <a:effectLst>
                  <a:outerShdw blurRad="101600" dist="63500" dir="2700000" algn="tl" rotWithShape="0">
                    <a:srgbClr val="000000">
                      <a:alpha val="75000"/>
                    </a:srgbClr>
                  </a:outerShdw>
                </a:effectLst>
              </a:rPr>
              <a:t>nutritional value </a:t>
            </a:r>
            <a:r>
              <a:rPr lang="en-US" b="0" dirty="0">
                <a:effectLst>
                  <a:outerShdw blurRad="101600" dist="63500" dir="2700000" algn="tl" rotWithShape="0">
                    <a:srgbClr val="000000">
                      <a:alpha val="75000"/>
                    </a:srgbClr>
                  </a:outerShdw>
                </a:effectLst>
              </a:rPr>
              <a:t>of the piece of bread based on a lookup</a:t>
            </a:r>
            <a:r>
              <a:rPr lang="en-US" b="0" dirty="0" smtClean="0">
                <a:effectLst>
                  <a:outerShdw blurRad="101600" dist="63500" dir="2700000" algn="tl" rotWithShape="0">
                    <a:srgbClr val="000000">
                      <a:alpha val="75000"/>
                    </a:srgbClr>
                  </a:outerShdw>
                </a:effectLst>
              </a:rPr>
              <a:t>.</a:t>
            </a:r>
            <a:endParaRPr lang="en-US" b="0" dirty="0">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19</a:t>
            </a:fld>
            <a:endParaRPr lang="en-US"/>
          </a:p>
        </p:txBody>
      </p:sp>
      <p:pic>
        <p:nvPicPr>
          <p:cNvPr id="7" name="Picture 6"/>
          <p:cNvPicPr>
            <a:picLocks noChangeAspect="1"/>
          </p:cNvPicPr>
          <p:nvPr/>
        </p:nvPicPr>
        <p:blipFill>
          <a:blip r:embed="rId2"/>
          <a:stretch>
            <a:fillRect/>
          </a:stretch>
        </p:blipFill>
        <p:spPr>
          <a:xfrm>
            <a:off x="5707807" y="1587713"/>
            <a:ext cx="2992616" cy="1991450"/>
          </a:xfrm>
          <a:prstGeom prst="rect">
            <a:avLst/>
          </a:prstGeom>
          <a:effectLst>
            <a:outerShdw blurRad="101600" dist="63500" dir="2700000" algn="tl" rotWithShape="0">
              <a:srgbClr val="000000">
                <a:alpha val="75000"/>
              </a:srgbClr>
            </a:outerShdw>
          </a:effectLst>
        </p:spPr>
      </p:pic>
      <p:pic>
        <p:nvPicPr>
          <p:cNvPr id="11" name="Picture 10"/>
          <p:cNvPicPr>
            <a:picLocks noChangeAspect="1"/>
          </p:cNvPicPr>
          <p:nvPr/>
        </p:nvPicPr>
        <p:blipFill>
          <a:blip r:embed="rId3"/>
          <a:stretch>
            <a:fillRect/>
          </a:stretch>
        </p:blipFill>
        <p:spPr>
          <a:xfrm>
            <a:off x="7910622" y="5377582"/>
            <a:ext cx="789801" cy="652511"/>
          </a:xfrm>
          <a:prstGeom prst="rect">
            <a:avLst/>
          </a:prstGeom>
        </p:spPr>
      </p:pic>
      <p:sp>
        <p:nvSpPr>
          <p:cNvPr id="8" name="Teardrop 7"/>
          <p:cNvSpPr/>
          <p:nvPr/>
        </p:nvSpPr>
        <p:spPr>
          <a:xfrm>
            <a:off x="5766421" y="1758462"/>
            <a:ext cx="1335809" cy="947615"/>
          </a:xfrm>
          <a:prstGeom prst="teardrop">
            <a:avLst>
              <a:gd name="adj" fmla="val 108776"/>
            </a:avLst>
          </a:prstGeom>
          <a:gradFill>
            <a:gsLst>
              <a:gs pos="0">
                <a:schemeClr val="accent1">
                  <a:shade val="30000"/>
                  <a:satMod val="100000"/>
                  <a:alpha val="36000"/>
                </a:schemeClr>
              </a:gs>
              <a:gs pos="80000">
                <a:schemeClr val="accent1">
                  <a:shade val="90000"/>
                  <a:satMod val="100000"/>
                  <a:alpha val="44000"/>
                </a:schemeClr>
              </a:gs>
              <a:gs pos="100000">
                <a:schemeClr val="accent1">
                  <a:tint val="90000"/>
                  <a:shade val="100000"/>
                  <a:satMod val="1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921276" y="1973384"/>
            <a:ext cx="1089962" cy="369332"/>
          </a:xfrm>
          <a:prstGeom prst="rect">
            <a:avLst/>
          </a:prstGeom>
          <a:noFill/>
        </p:spPr>
        <p:txBody>
          <a:bodyPr wrap="none" rtlCol="0">
            <a:spAutoFit/>
          </a:bodyPr>
          <a:lstStyle/>
          <a:p>
            <a:pPr algn="ctr"/>
            <a:r>
              <a:rPr lang="en-US" dirty="0" smtClean="0"/>
              <a:t>40 grams</a:t>
            </a:r>
            <a:endParaRPr lang="en-US" dirty="0"/>
          </a:p>
        </p:txBody>
      </p:sp>
    </p:spTree>
    <p:extLst>
      <p:ext uri="{BB962C8B-B14F-4D97-AF65-F5344CB8AC3E}">
        <p14:creationId xmlns:p14="http://schemas.microsoft.com/office/powerpoint/2010/main" val="428083854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par>
                          <p:cTn id="13" fill="hold">
                            <p:stCondLst>
                              <p:cond delay="500"/>
                            </p:stCondLst>
                            <p:childTnLst>
                              <p:par>
                                <p:cTn id="14" presetID="37"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anim calcmode="lin" valueType="num">
                                      <p:cBhvr>
                                        <p:cTn id="17" dur="1000" fill="hold"/>
                                        <p:tgtEl>
                                          <p:spTgt spid="8"/>
                                        </p:tgtEl>
                                        <p:attrNameLst>
                                          <p:attrName>ppt_x</p:attrName>
                                        </p:attrNameLst>
                                      </p:cBhvr>
                                      <p:tavLst>
                                        <p:tav tm="0">
                                          <p:val>
                                            <p:strVal val="#ppt_x"/>
                                          </p:val>
                                        </p:tav>
                                        <p:tav tm="100000">
                                          <p:val>
                                            <p:strVal val="#ppt_x"/>
                                          </p:val>
                                        </p:tav>
                                      </p:tavLst>
                                    </p:anim>
                                    <p:anim calcmode="lin" valueType="num">
                                      <p:cBhvr>
                                        <p:cTn id="18" dur="900" decel="100000" fill="hold"/>
                                        <p:tgtEl>
                                          <p:spTgt spid="8"/>
                                        </p:tgtEl>
                                        <p:attrNameLst>
                                          <p:attrName>ppt_y</p:attrName>
                                        </p:attrNameLst>
                                      </p:cBhvr>
                                      <p:tavLst>
                                        <p:tav tm="0">
                                          <p:val>
                                            <p:strVal val="#ppt_y+1"/>
                                          </p:val>
                                        </p:tav>
                                        <p:tav tm="100000">
                                          <p:val>
                                            <p:strVal val="#ppt_y-.03"/>
                                          </p:val>
                                        </p:tav>
                                      </p:tavLst>
                                    </p:anim>
                                    <p:anim calcmode="lin" valueType="num">
                                      <p:cBhvr>
                                        <p:cTn id="19"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dissolve">
                                      <p:cBhvr>
                                        <p:cTn id="24" dur="500"/>
                                        <p:tgtEl>
                                          <p:spTgt spid="3">
                                            <p:txEl>
                                              <p:pRg st="3" end="3"/>
                                            </p:txEl>
                                          </p:spTgt>
                                        </p:tgtEl>
                                      </p:cBhvr>
                                    </p:animEffect>
                                  </p:childTnLst>
                                </p:cTn>
                              </p:par>
                            </p:childTnLst>
                          </p:cTn>
                        </p:par>
                        <p:par>
                          <p:cTn id="25" fill="hold">
                            <p:stCondLst>
                              <p:cond delay="500"/>
                            </p:stCondLst>
                            <p:childTnLst>
                              <p:par>
                                <p:cTn id="26" presetID="37"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900" decel="100000" fill="hold"/>
                                        <p:tgtEl>
                                          <p:spTgt spid="9"/>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dissolve">
                                      <p:cBhvr>
                                        <p:cTn id="3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smtClean="0"/>
              <a:t>Disco and Beyond – Part II: Growing Disco to Support the Valuation of Study Variables (1 of 4)</a:t>
            </a:r>
            <a:endParaRPr lang="en-US" sz="3000" dirty="0"/>
          </a:p>
        </p:txBody>
      </p:sp>
      <p:sp>
        <p:nvSpPr>
          <p:cNvPr id="3" name="Content Placeholder 2"/>
          <p:cNvSpPr>
            <a:spLocks noGrp="1"/>
          </p:cNvSpPr>
          <p:nvPr>
            <p:ph idx="1"/>
          </p:nvPr>
        </p:nvSpPr>
        <p:spPr>
          <a:xfrm>
            <a:off x="441327" y="1477211"/>
            <a:ext cx="5115192" cy="4575753"/>
          </a:xfrm>
        </p:spPr>
        <p:txBody>
          <a:bodyPr>
            <a:normAutofit lnSpcReduction="10000"/>
          </a:bodyPr>
          <a:lstStyle/>
          <a:p>
            <a:r>
              <a:rPr lang="en-US" b="0" dirty="0">
                <a:effectLst>
                  <a:outerShdw blurRad="101600" dist="63500" dir="2700000" algn="tl" rotWithShape="0">
                    <a:srgbClr val="000000">
                      <a:alpha val="75000"/>
                    </a:srgbClr>
                  </a:outerShdw>
                </a:effectLst>
              </a:rPr>
              <a:t>Imagine an instrument that uses your smartphone to take pictures that record </a:t>
            </a:r>
            <a:r>
              <a:rPr lang="en-US" dirty="0">
                <a:solidFill>
                  <a:srgbClr val="FFFF00"/>
                </a:solidFill>
                <a:effectLst>
                  <a:outerShdw blurRad="101600" dist="63500" dir="2700000" algn="tl" rotWithShape="0">
                    <a:srgbClr val="000000">
                      <a:alpha val="75000"/>
                    </a:srgbClr>
                  </a:outerShdw>
                </a:effectLst>
              </a:rPr>
              <a:t>the food you eat</a:t>
            </a:r>
            <a:r>
              <a:rPr lang="en-US" b="0" dirty="0">
                <a:effectLst>
                  <a:outerShdw blurRad="101600" dist="63500" dir="2700000" algn="tl" rotWithShape="0">
                    <a:srgbClr val="000000">
                      <a:alpha val="75000"/>
                    </a:srgbClr>
                  </a:outerShdw>
                </a:effectLst>
              </a:rPr>
              <a:t>.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Using </a:t>
            </a:r>
            <a:r>
              <a:rPr lang="en-US" b="0" dirty="0">
                <a:effectLst>
                  <a:outerShdw blurRad="101600" dist="63500" dir="2700000" algn="tl" rotWithShape="0">
                    <a:srgbClr val="000000">
                      <a:alpha val="75000"/>
                    </a:srgbClr>
                  </a:outerShdw>
                </a:effectLst>
              </a:rPr>
              <a:t>the pictures as input, the instrument identifies food objects like the bread on your plate.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The </a:t>
            </a:r>
            <a:r>
              <a:rPr lang="en-US" b="0" dirty="0">
                <a:effectLst>
                  <a:outerShdw blurRad="101600" dist="63500" dir="2700000" algn="tl" rotWithShape="0">
                    <a:srgbClr val="000000">
                      <a:alpha val="75000"/>
                    </a:srgbClr>
                  </a:outerShdw>
                </a:effectLst>
              </a:rPr>
              <a:t>instrument records an annotation it places on the picture that marks the bread.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It </a:t>
            </a:r>
            <a:r>
              <a:rPr lang="en-US" b="0" dirty="0">
                <a:effectLst>
                  <a:outerShdw blurRad="101600" dist="63500" dir="2700000" algn="tl" rotWithShape="0">
                    <a:srgbClr val="000000">
                      <a:alpha val="75000"/>
                    </a:srgbClr>
                  </a:outerShdw>
                </a:effectLst>
              </a:rPr>
              <a:t>also records a measure of size based on the </a:t>
            </a:r>
            <a:r>
              <a:rPr lang="en-US" b="0" dirty="0" smtClean="0">
                <a:effectLst>
                  <a:outerShdw blurRad="101600" dist="63500" dir="2700000" algn="tl" rotWithShape="0">
                    <a:srgbClr val="000000">
                      <a:alpha val="75000"/>
                    </a:srgbClr>
                  </a:outerShdw>
                </a:effectLst>
              </a:rPr>
              <a:t>annotation</a:t>
            </a:r>
            <a:r>
              <a:rPr lang="en-US" b="0" dirty="0">
                <a:effectLst>
                  <a:outerShdw blurRad="101600" dist="63500" dir="2700000" algn="tl" rotWithShape="0">
                    <a:srgbClr val="000000">
                      <a:alpha val="75000"/>
                    </a:srgbClr>
                  </a:outerShdw>
                </a:effectLst>
              </a:rPr>
              <a:t>.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Finally </a:t>
            </a:r>
            <a:r>
              <a:rPr lang="en-US" b="0" dirty="0">
                <a:effectLst>
                  <a:outerShdw blurRad="101600" dist="63500" dir="2700000" algn="tl" rotWithShape="0">
                    <a:srgbClr val="000000">
                      <a:alpha val="75000"/>
                    </a:srgbClr>
                  </a:outerShdw>
                </a:effectLst>
              </a:rPr>
              <a:t>it records the </a:t>
            </a:r>
            <a:r>
              <a:rPr lang="en-US" dirty="0">
                <a:solidFill>
                  <a:srgbClr val="FFFF00"/>
                </a:solidFill>
                <a:effectLst>
                  <a:outerShdw blurRad="101600" dist="63500" dir="2700000" algn="tl" rotWithShape="0">
                    <a:srgbClr val="000000">
                      <a:alpha val="75000"/>
                    </a:srgbClr>
                  </a:outerShdw>
                </a:effectLst>
              </a:rPr>
              <a:t>nutritional value </a:t>
            </a:r>
            <a:r>
              <a:rPr lang="en-US" b="0" dirty="0">
                <a:effectLst>
                  <a:outerShdw blurRad="101600" dist="63500" dir="2700000" algn="tl" rotWithShape="0">
                    <a:srgbClr val="000000">
                      <a:alpha val="75000"/>
                    </a:srgbClr>
                  </a:outerShdw>
                </a:effectLst>
              </a:rPr>
              <a:t>of the piece of bread based on a lookup</a:t>
            </a:r>
            <a:r>
              <a:rPr lang="en-US" b="0" dirty="0" smtClean="0">
                <a:effectLst>
                  <a:outerShdw blurRad="101600" dist="63500" dir="2700000" algn="tl" rotWithShape="0">
                    <a:srgbClr val="000000">
                      <a:alpha val="75000"/>
                    </a:srgbClr>
                  </a:outerShdw>
                </a:effectLst>
              </a:rPr>
              <a:t>.`	</a:t>
            </a:r>
            <a:endParaRPr lang="en-US" b="0" dirty="0">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20</a:t>
            </a:fld>
            <a:endParaRPr lang="en-US"/>
          </a:p>
        </p:txBody>
      </p:sp>
      <p:pic>
        <p:nvPicPr>
          <p:cNvPr id="7" name="Picture 6"/>
          <p:cNvPicPr>
            <a:picLocks noChangeAspect="1"/>
          </p:cNvPicPr>
          <p:nvPr/>
        </p:nvPicPr>
        <p:blipFill>
          <a:blip r:embed="rId2"/>
          <a:stretch>
            <a:fillRect/>
          </a:stretch>
        </p:blipFill>
        <p:spPr>
          <a:xfrm>
            <a:off x="5707807" y="1587713"/>
            <a:ext cx="2992616" cy="1991450"/>
          </a:xfrm>
          <a:prstGeom prst="rect">
            <a:avLst/>
          </a:prstGeom>
          <a:effectLst>
            <a:outerShdw blurRad="101600" dist="63500" dir="2700000" algn="tl" rotWithShape="0">
              <a:srgbClr val="000000">
                <a:alpha val="75000"/>
              </a:srgbClr>
            </a:outerShdw>
          </a:effectLst>
        </p:spPr>
      </p:pic>
      <p:sp>
        <p:nvSpPr>
          <p:cNvPr id="12" name="Rectangle 11"/>
          <p:cNvSpPr/>
          <p:nvPr/>
        </p:nvSpPr>
        <p:spPr>
          <a:xfrm>
            <a:off x="1492822" y="1464214"/>
            <a:ext cx="6303945" cy="4659313"/>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240" y="1413189"/>
            <a:ext cx="6442074" cy="4808221"/>
          </a:xfrm>
          <a:prstGeom prst="rect">
            <a:avLst/>
          </a:prstGeom>
          <a:noFill/>
          <a:ln>
            <a:noFill/>
          </a:ln>
        </p:spPr>
      </p:pic>
    </p:spTree>
    <p:extLst>
      <p:ext uri="{BB962C8B-B14F-4D97-AF65-F5344CB8AC3E}">
        <p14:creationId xmlns:p14="http://schemas.microsoft.com/office/powerpoint/2010/main" val="291996896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fltVal val="0"/>
                                          </p:val>
                                        </p:tav>
                                        <p:tav tm="100000">
                                          <p:val>
                                            <p:strVal val="#ppt_w"/>
                                          </p:val>
                                        </p:tav>
                                      </p:tavLst>
                                    </p:anim>
                                    <p:anim calcmode="lin" valueType="num">
                                      <p:cBhvr>
                                        <p:cTn id="8" dur="1000" fill="hold"/>
                                        <p:tgtEl>
                                          <p:spTgt spid="13"/>
                                        </p:tgtEl>
                                        <p:attrNameLst>
                                          <p:attrName>ppt_h</p:attrName>
                                        </p:attrNameLst>
                                      </p:cBhvr>
                                      <p:tavLst>
                                        <p:tav tm="0">
                                          <p:val>
                                            <p:fltVal val="0"/>
                                          </p:val>
                                        </p:tav>
                                        <p:tav tm="100000">
                                          <p:val>
                                            <p:strVal val="#ppt_h"/>
                                          </p:val>
                                        </p:tav>
                                      </p:tavLst>
                                    </p:anim>
                                    <p:anim calcmode="lin" valueType="num">
                                      <p:cBhvr>
                                        <p:cTn id="9" dur="1000" fill="hold"/>
                                        <p:tgtEl>
                                          <p:spTgt spid="13"/>
                                        </p:tgtEl>
                                        <p:attrNameLst>
                                          <p:attrName>style.rotation</p:attrName>
                                        </p:attrNameLst>
                                      </p:cBhvr>
                                      <p:tavLst>
                                        <p:tav tm="0">
                                          <p:val>
                                            <p:fltVal val="90"/>
                                          </p:val>
                                        </p:tav>
                                        <p:tav tm="100000">
                                          <p:val>
                                            <p:fltVal val="0"/>
                                          </p:val>
                                        </p:tav>
                                      </p:tavLst>
                                    </p:anim>
                                    <p:animEffect transition="in" filter="fade">
                                      <p:cBhvr>
                                        <p:cTn id="10" dur="1000"/>
                                        <p:tgtEl>
                                          <p:spTgt spid="13"/>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1000" fill="hold"/>
                                        <p:tgtEl>
                                          <p:spTgt spid="12"/>
                                        </p:tgtEl>
                                        <p:attrNameLst>
                                          <p:attrName>ppt_w</p:attrName>
                                        </p:attrNameLst>
                                      </p:cBhvr>
                                      <p:tavLst>
                                        <p:tav tm="0">
                                          <p:val>
                                            <p:fltVal val="0"/>
                                          </p:val>
                                        </p:tav>
                                        <p:tav tm="100000">
                                          <p:val>
                                            <p:strVal val="#ppt_w"/>
                                          </p:val>
                                        </p:tav>
                                      </p:tavLst>
                                    </p:anim>
                                    <p:anim calcmode="lin" valueType="num">
                                      <p:cBhvr>
                                        <p:cTn id="14" dur="1000" fill="hold"/>
                                        <p:tgtEl>
                                          <p:spTgt spid="12"/>
                                        </p:tgtEl>
                                        <p:attrNameLst>
                                          <p:attrName>ppt_h</p:attrName>
                                        </p:attrNameLst>
                                      </p:cBhvr>
                                      <p:tavLst>
                                        <p:tav tm="0">
                                          <p:val>
                                            <p:fltVal val="0"/>
                                          </p:val>
                                        </p:tav>
                                        <p:tav tm="100000">
                                          <p:val>
                                            <p:strVal val="#ppt_h"/>
                                          </p:val>
                                        </p:tav>
                                      </p:tavLst>
                                    </p:anim>
                                    <p:anim calcmode="lin" valueType="num">
                                      <p:cBhvr>
                                        <p:cTn id="15" dur="1000" fill="hold"/>
                                        <p:tgtEl>
                                          <p:spTgt spid="12"/>
                                        </p:tgtEl>
                                        <p:attrNameLst>
                                          <p:attrName>style.rotation</p:attrName>
                                        </p:attrNameLst>
                                      </p:cBhvr>
                                      <p:tavLst>
                                        <p:tav tm="0">
                                          <p:val>
                                            <p:fltVal val="90"/>
                                          </p:val>
                                        </p:tav>
                                        <p:tav tm="100000">
                                          <p:val>
                                            <p:fltVal val="0"/>
                                          </p:val>
                                        </p:tav>
                                      </p:tavLst>
                                    </p:anim>
                                    <p:animEffect transition="in" filter="fade">
                                      <p:cBhvr>
                                        <p:cTn id="16"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 and Beyond – Part II </a:t>
            </a:r>
            <a:br>
              <a:rPr lang="en-US" dirty="0" smtClean="0"/>
            </a:br>
            <a:r>
              <a:rPr lang="en-US" dirty="0" smtClean="0"/>
              <a:t>(2 of 4)</a:t>
            </a:r>
            <a:endParaRPr lang="en-US" dirty="0"/>
          </a:p>
        </p:txBody>
      </p:sp>
      <p:sp>
        <p:nvSpPr>
          <p:cNvPr id="3" name="Content Placeholder 2"/>
          <p:cNvSpPr>
            <a:spLocks noGrp="1"/>
          </p:cNvSpPr>
          <p:nvPr>
            <p:ph idx="1"/>
          </p:nvPr>
        </p:nvSpPr>
        <p:spPr>
          <a:xfrm>
            <a:off x="441326" y="1462526"/>
            <a:ext cx="8259097" cy="4893823"/>
          </a:xfrm>
        </p:spPr>
        <p:txBody>
          <a:bodyPr>
            <a:normAutofit/>
          </a:bodyPr>
          <a:lstStyle/>
          <a:p>
            <a:r>
              <a:rPr lang="en-US" b="0" dirty="0">
                <a:effectLst>
                  <a:outerShdw blurRad="101600" dist="63500" dir="2700000" algn="tl" rotWithShape="0">
                    <a:srgbClr val="000000">
                      <a:alpha val="75000"/>
                    </a:srgbClr>
                  </a:outerShdw>
                </a:effectLst>
              </a:rPr>
              <a:t>Eventually this information together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with </a:t>
            </a:r>
            <a:r>
              <a:rPr lang="en-US" b="0" dirty="0">
                <a:effectLst>
                  <a:outerShdw blurRad="101600" dist="63500" dir="2700000" algn="tl" rotWithShape="0">
                    <a:srgbClr val="000000">
                      <a:alpha val="75000"/>
                    </a:srgbClr>
                  </a:outerShdw>
                </a:effectLst>
              </a:rPr>
              <a:t>information about other foods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on </a:t>
            </a:r>
            <a:r>
              <a:rPr lang="en-US" b="0" dirty="0">
                <a:effectLst>
                  <a:outerShdw blurRad="101600" dist="63500" dir="2700000" algn="tl" rotWithShape="0">
                    <a:srgbClr val="000000">
                      <a:alpha val="75000"/>
                    </a:srgbClr>
                  </a:outerShdw>
                </a:effectLst>
              </a:rPr>
              <a:t>the plate finds its way into a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dataset </a:t>
            </a:r>
            <a:r>
              <a:rPr lang="en-US" b="0" dirty="0">
                <a:effectLst>
                  <a:outerShdw blurRad="101600" dist="63500" dir="2700000" algn="tl" rotWithShape="0">
                    <a:srgbClr val="000000">
                      <a:alpha val="75000"/>
                    </a:srgbClr>
                  </a:outerShdw>
                </a:effectLst>
              </a:rPr>
              <a:t>DDI describes with Variables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and </a:t>
            </a:r>
            <a:r>
              <a:rPr lang="en-US" b="0" dirty="0">
                <a:effectLst>
                  <a:outerShdw blurRad="101600" dist="63500" dir="2700000" algn="tl" rotWithShape="0">
                    <a:srgbClr val="000000">
                      <a:alpha val="75000"/>
                    </a:srgbClr>
                  </a:outerShdw>
                </a:effectLst>
              </a:rPr>
              <a:t>a LogicalDataSet.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Let’s </a:t>
            </a:r>
            <a:r>
              <a:rPr lang="en-US" b="0" dirty="0">
                <a:effectLst>
                  <a:outerShdw blurRad="101600" dist="63500" dir="2700000" algn="tl" rotWithShape="0">
                    <a:srgbClr val="000000">
                      <a:alpha val="75000"/>
                    </a:srgbClr>
                  </a:outerShdw>
                </a:effectLst>
              </a:rPr>
              <a:t>imagine </a:t>
            </a:r>
            <a:r>
              <a:rPr lang="en-US" b="0" dirty="0" smtClean="0">
                <a:effectLst>
                  <a:outerShdw blurRad="101600" dist="63500" dir="2700000" algn="tl" rotWithShape="0">
                    <a:srgbClr val="000000">
                      <a:alpha val="75000"/>
                    </a:srgbClr>
                  </a:outerShdw>
                </a:effectLst>
              </a:rPr>
              <a:t>that </a:t>
            </a:r>
            <a:r>
              <a:rPr lang="en-US" b="0" dirty="0">
                <a:effectLst>
                  <a:outerShdw blurRad="101600" dist="63500" dir="2700000" algn="tl" rotWithShape="0">
                    <a:srgbClr val="000000">
                      <a:alpha val="75000"/>
                    </a:srgbClr>
                  </a:outerShdw>
                </a:effectLst>
              </a:rPr>
              <a:t>Marie is its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curator</a:t>
            </a:r>
            <a:r>
              <a:rPr lang="en-US" b="0" dirty="0">
                <a:effectLst>
                  <a:outerShdw blurRad="101600" dist="63500" dir="2700000" algn="tl" rotWithShape="0">
                    <a:srgbClr val="000000">
                      <a:alpha val="75000"/>
                    </a:srgbClr>
                  </a:outerShdw>
                </a:effectLst>
              </a:rPr>
              <a:t>, and she just received a mission she chose to accept: determine the research value of this LogicalProduct.</a:t>
            </a:r>
          </a:p>
          <a:p>
            <a:r>
              <a:rPr lang="en-US" b="0" dirty="0">
                <a:effectLst>
                  <a:outerShdw blurRad="101600" dist="63500" dir="2700000" algn="tl" rotWithShape="0">
                    <a:srgbClr val="000000">
                      <a:alpha val="75000"/>
                    </a:srgbClr>
                  </a:outerShdw>
                </a:effectLst>
              </a:rPr>
              <a:t>What Marie might do, under the circumstances, is </a:t>
            </a:r>
            <a:r>
              <a:rPr lang="en-US" dirty="0">
                <a:solidFill>
                  <a:srgbClr val="FFFF00"/>
                </a:solidFill>
                <a:effectLst>
                  <a:outerShdw blurRad="101600" dist="63500" dir="2700000" algn="tl" rotWithShape="0">
                    <a:srgbClr val="000000">
                      <a:alpha val="75000"/>
                    </a:srgbClr>
                  </a:outerShdw>
                </a:effectLst>
              </a:rPr>
              <a:t>specialize</a:t>
            </a:r>
            <a:r>
              <a:rPr lang="en-US" b="0" dirty="0">
                <a:solidFill>
                  <a:srgbClr val="FFFF00"/>
                </a:solidFill>
                <a:effectLst>
                  <a:outerShdw blurRad="101600" dist="63500" dir="2700000" algn="tl" rotWithShape="0">
                    <a:srgbClr val="000000">
                      <a:alpha val="75000"/>
                    </a:srgbClr>
                  </a:outerShdw>
                </a:effectLst>
              </a:rPr>
              <a:t> </a:t>
            </a:r>
            <a:r>
              <a:rPr lang="en-US" b="0" dirty="0" smtClean="0">
                <a:effectLst>
                  <a:outerShdw blurRad="101600" dist="63500" dir="2700000" algn="tl" rotWithShape="0">
                    <a:srgbClr val="000000">
                      <a:alpha val="75000"/>
                    </a:srgbClr>
                  </a:outerShdw>
                </a:effectLst>
              </a:rPr>
              <a:t>Disco…</a:t>
            </a:r>
            <a:endParaRPr lang="en-US" b="0" dirty="0">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21</a:t>
            </a:fld>
            <a:endParaRPr lang="en-US"/>
          </a:p>
        </p:txBody>
      </p:sp>
      <p:pic>
        <p:nvPicPr>
          <p:cNvPr id="8" name="Picture 7"/>
          <p:cNvPicPr>
            <a:picLocks noChangeAspect="1"/>
          </p:cNvPicPr>
          <p:nvPr/>
        </p:nvPicPr>
        <p:blipFill>
          <a:blip r:embed="rId2"/>
          <a:stretch>
            <a:fillRect/>
          </a:stretch>
        </p:blipFill>
        <p:spPr>
          <a:xfrm>
            <a:off x="5208513" y="357746"/>
            <a:ext cx="3493687" cy="3073324"/>
          </a:xfrm>
          <a:prstGeom prst="rect">
            <a:avLst/>
          </a:prstGeom>
          <a:ln w="22225">
            <a:solidFill>
              <a:schemeClr val="tx2">
                <a:lumMod val="50000"/>
              </a:schemeClr>
            </a:solidFill>
          </a:ln>
        </p:spPr>
      </p:pic>
      <p:sp>
        <p:nvSpPr>
          <p:cNvPr id="9" name="Oval 8"/>
          <p:cNvSpPr/>
          <p:nvPr/>
        </p:nvSpPr>
        <p:spPr>
          <a:xfrm>
            <a:off x="6541699" y="775594"/>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stretch>
            <a:fillRect/>
          </a:stretch>
        </p:blipFill>
        <p:spPr>
          <a:xfrm>
            <a:off x="7910622" y="5377582"/>
            <a:ext cx="789801" cy="652511"/>
          </a:xfrm>
          <a:prstGeom prst="rect">
            <a:avLst/>
          </a:prstGeom>
        </p:spPr>
      </p:pic>
    </p:spTree>
    <p:extLst>
      <p:ext uri="{BB962C8B-B14F-4D97-AF65-F5344CB8AC3E}">
        <p14:creationId xmlns:p14="http://schemas.microsoft.com/office/powerpoint/2010/main" val="149052222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 and Beyond – Part II </a:t>
            </a:r>
            <a:br>
              <a:rPr lang="en-US" dirty="0" smtClean="0"/>
            </a:br>
            <a:r>
              <a:rPr lang="en-US" dirty="0" smtClean="0"/>
              <a:t>(2 of 4)</a:t>
            </a:r>
            <a:endParaRPr lang="en-US" dirty="0"/>
          </a:p>
        </p:txBody>
      </p:sp>
      <p:sp>
        <p:nvSpPr>
          <p:cNvPr id="3" name="Content Placeholder 2"/>
          <p:cNvSpPr>
            <a:spLocks noGrp="1"/>
          </p:cNvSpPr>
          <p:nvPr>
            <p:ph idx="1"/>
          </p:nvPr>
        </p:nvSpPr>
        <p:spPr>
          <a:xfrm>
            <a:off x="441326" y="1462526"/>
            <a:ext cx="8259097" cy="4893823"/>
          </a:xfrm>
        </p:spPr>
        <p:txBody>
          <a:bodyPr>
            <a:normAutofit/>
          </a:bodyPr>
          <a:lstStyle/>
          <a:p>
            <a:r>
              <a:rPr lang="en-US" b="0" dirty="0">
                <a:effectLst>
                  <a:outerShdw blurRad="101600" dist="63500" dir="2700000" algn="tl" rotWithShape="0">
                    <a:srgbClr val="000000">
                      <a:alpha val="75000"/>
                    </a:srgbClr>
                  </a:outerShdw>
                </a:effectLst>
              </a:rPr>
              <a:t>Eventually this information together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with </a:t>
            </a:r>
            <a:r>
              <a:rPr lang="en-US" b="0" dirty="0">
                <a:effectLst>
                  <a:outerShdw blurRad="101600" dist="63500" dir="2700000" algn="tl" rotWithShape="0">
                    <a:srgbClr val="000000">
                      <a:alpha val="75000"/>
                    </a:srgbClr>
                  </a:outerShdw>
                </a:effectLst>
              </a:rPr>
              <a:t>information about other foods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on </a:t>
            </a:r>
            <a:r>
              <a:rPr lang="en-US" b="0" dirty="0">
                <a:effectLst>
                  <a:outerShdw blurRad="101600" dist="63500" dir="2700000" algn="tl" rotWithShape="0">
                    <a:srgbClr val="000000">
                      <a:alpha val="75000"/>
                    </a:srgbClr>
                  </a:outerShdw>
                </a:effectLst>
              </a:rPr>
              <a:t>the plate finds its way into a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dataset </a:t>
            </a:r>
            <a:r>
              <a:rPr lang="en-US" b="0" dirty="0">
                <a:effectLst>
                  <a:outerShdw blurRad="101600" dist="63500" dir="2700000" algn="tl" rotWithShape="0">
                    <a:srgbClr val="000000">
                      <a:alpha val="75000"/>
                    </a:srgbClr>
                  </a:outerShdw>
                </a:effectLst>
              </a:rPr>
              <a:t>DDI describes with Variables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and </a:t>
            </a:r>
            <a:r>
              <a:rPr lang="en-US" b="0" dirty="0">
                <a:effectLst>
                  <a:outerShdw blurRad="101600" dist="63500" dir="2700000" algn="tl" rotWithShape="0">
                    <a:srgbClr val="000000">
                      <a:alpha val="75000"/>
                    </a:srgbClr>
                  </a:outerShdw>
                </a:effectLst>
              </a:rPr>
              <a:t>a LogicalDataSet.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Let’s </a:t>
            </a:r>
            <a:r>
              <a:rPr lang="en-US" b="0" dirty="0">
                <a:effectLst>
                  <a:outerShdw blurRad="101600" dist="63500" dir="2700000" algn="tl" rotWithShape="0">
                    <a:srgbClr val="000000">
                      <a:alpha val="75000"/>
                    </a:srgbClr>
                  </a:outerShdw>
                </a:effectLst>
              </a:rPr>
              <a:t>imagine </a:t>
            </a:r>
            <a:r>
              <a:rPr lang="en-US" b="0" dirty="0" smtClean="0">
                <a:effectLst>
                  <a:outerShdw blurRad="101600" dist="63500" dir="2700000" algn="tl" rotWithShape="0">
                    <a:srgbClr val="000000">
                      <a:alpha val="75000"/>
                    </a:srgbClr>
                  </a:outerShdw>
                </a:effectLst>
              </a:rPr>
              <a:t>that </a:t>
            </a:r>
            <a:r>
              <a:rPr lang="en-US" b="0" dirty="0">
                <a:effectLst>
                  <a:outerShdw blurRad="101600" dist="63500" dir="2700000" algn="tl" rotWithShape="0">
                    <a:srgbClr val="000000">
                      <a:alpha val="75000"/>
                    </a:srgbClr>
                  </a:outerShdw>
                </a:effectLst>
              </a:rPr>
              <a:t>Marie is its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curator</a:t>
            </a:r>
            <a:r>
              <a:rPr lang="en-US" b="0" dirty="0">
                <a:effectLst>
                  <a:outerShdw blurRad="101600" dist="63500" dir="2700000" algn="tl" rotWithShape="0">
                    <a:srgbClr val="000000">
                      <a:alpha val="75000"/>
                    </a:srgbClr>
                  </a:outerShdw>
                </a:effectLst>
              </a:rPr>
              <a:t>, and she just received a mission she chose to accept: determine the research value of this LogicalProduct.</a:t>
            </a:r>
          </a:p>
          <a:p>
            <a:r>
              <a:rPr lang="en-US" b="0" dirty="0">
                <a:effectLst>
                  <a:outerShdw blurRad="101600" dist="63500" dir="2700000" algn="tl" rotWithShape="0">
                    <a:srgbClr val="000000">
                      <a:alpha val="75000"/>
                    </a:srgbClr>
                  </a:outerShdw>
                </a:effectLst>
              </a:rPr>
              <a:t>What Marie might do, under the circumstances, is </a:t>
            </a:r>
            <a:r>
              <a:rPr lang="en-US" dirty="0">
                <a:solidFill>
                  <a:srgbClr val="FFFF00"/>
                </a:solidFill>
                <a:effectLst>
                  <a:outerShdw blurRad="101600" dist="63500" dir="2700000" algn="tl" rotWithShape="0">
                    <a:srgbClr val="000000">
                      <a:alpha val="75000"/>
                    </a:srgbClr>
                  </a:outerShdw>
                </a:effectLst>
              </a:rPr>
              <a:t>specialize</a:t>
            </a:r>
            <a:r>
              <a:rPr lang="en-US" b="0" dirty="0">
                <a:solidFill>
                  <a:srgbClr val="FFFF00"/>
                </a:solidFill>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Disco.</a:t>
            </a: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22</a:t>
            </a:fld>
            <a:endParaRPr lang="en-US"/>
          </a:p>
        </p:txBody>
      </p:sp>
      <p:pic>
        <p:nvPicPr>
          <p:cNvPr id="8" name="Picture 7"/>
          <p:cNvPicPr>
            <a:picLocks noChangeAspect="1"/>
          </p:cNvPicPr>
          <p:nvPr/>
        </p:nvPicPr>
        <p:blipFill>
          <a:blip r:embed="rId2"/>
          <a:stretch>
            <a:fillRect/>
          </a:stretch>
        </p:blipFill>
        <p:spPr>
          <a:xfrm>
            <a:off x="5208513" y="357746"/>
            <a:ext cx="3493687" cy="3073324"/>
          </a:xfrm>
          <a:prstGeom prst="rect">
            <a:avLst/>
          </a:prstGeom>
          <a:ln w="22225">
            <a:solidFill>
              <a:schemeClr val="tx2">
                <a:lumMod val="50000"/>
              </a:schemeClr>
            </a:solidFill>
          </a:ln>
        </p:spPr>
      </p:pic>
      <p:sp>
        <p:nvSpPr>
          <p:cNvPr id="9" name="Oval 8"/>
          <p:cNvSpPr/>
          <p:nvPr/>
        </p:nvSpPr>
        <p:spPr>
          <a:xfrm>
            <a:off x="6541699" y="775594"/>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3"/>
          <a:stretch>
            <a:fillRect/>
          </a:stretch>
        </p:blipFill>
        <p:spPr>
          <a:xfrm>
            <a:off x="439738" y="1462527"/>
            <a:ext cx="8299070" cy="4520206"/>
          </a:xfrm>
          <a:prstGeom prst="rect">
            <a:avLst/>
          </a:prstGeom>
          <a:effectLst>
            <a:outerShdw blurRad="101600" dist="63500" dir="2700000" algn="tl" rotWithShape="0">
              <a:srgbClr val="000000">
                <a:alpha val="75000"/>
              </a:srgbClr>
            </a:outerShdw>
          </a:effectLst>
        </p:spPr>
      </p:pic>
    </p:spTree>
    <p:extLst>
      <p:ext uri="{BB962C8B-B14F-4D97-AF65-F5344CB8AC3E}">
        <p14:creationId xmlns:p14="http://schemas.microsoft.com/office/powerpoint/2010/main" val="410101944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par>
                          <p:cTn id="9" fill="hold">
                            <p:stCondLst>
                              <p:cond delay="0"/>
                            </p:stCondLst>
                            <p:childTnLst>
                              <p:par>
                                <p:cTn id="10" presetID="31" presetClass="entr" presetSubtype="0"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fltVal val="0"/>
                                          </p:val>
                                        </p:tav>
                                        <p:tav tm="100000">
                                          <p:val>
                                            <p:strVal val="#ppt_w"/>
                                          </p:val>
                                        </p:tav>
                                      </p:tavLst>
                                    </p:anim>
                                    <p:anim calcmode="lin" valueType="num">
                                      <p:cBhvr>
                                        <p:cTn id="13" dur="1000" fill="hold"/>
                                        <p:tgtEl>
                                          <p:spTgt spid="11"/>
                                        </p:tgtEl>
                                        <p:attrNameLst>
                                          <p:attrName>ppt_h</p:attrName>
                                        </p:attrNameLst>
                                      </p:cBhvr>
                                      <p:tavLst>
                                        <p:tav tm="0">
                                          <p:val>
                                            <p:fltVal val="0"/>
                                          </p:val>
                                        </p:tav>
                                        <p:tav tm="100000">
                                          <p:val>
                                            <p:strVal val="#ppt_h"/>
                                          </p:val>
                                        </p:tav>
                                      </p:tavLst>
                                    </p:anim>
                                    <p:anim calcmode="lin" valueType="num">
                                      <p:cBhvr>
                                        <p:cTn id="14" dur="1000" fill="hold"/>
                                        <p:tgtEl>
                                          <p:spTgt spid="11"/>
                                        </p:tgtEl>
                                        <p:attrNameLst>
                                          <p:attrName>style.rotation</p:attrName>
                                        </p:attrNameLst>
                                      </p:cBhvr>
                                      <p:tavLst>
                                        <p:tav tm="0">
                                          <p:val>
                                            <p:fltVal val="90"/>
                                          </p:val>
                                        </p:tav>
                                        <p:tav tm="100000">
                                          <p:val>
                                            <p:fltVal val="0"/>
                                          </p:val>
                                        </p:tav>
                                      </p:tavLst>
                                    </p:anim>
                                    <p:animEffect transition="in" filter="fade">
                                      <p:cBhvr>
                                        <p:cTn id="1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 and Beyond – </a:t>
            </a:r>
            <a:br>
              <a:rPr lang="en-US" dirty="0" smtClean="0"/>
            </a:br>
            <a:r>
              <a:rPr lang="en-US" dirty="0" smtClean="0"/>
              <a:t>Part II (</a:t>
            </a:r>
            <a:r>
              <a:rPr lang="en-US" dirty="0"/>
              <a:t>3</a:t>
            </a:r>
            <a:r>
              <a:rPr lang="en-US" dirty="0" smtClean="0"/>
              <a:t> of 4)</a:t>
            </a:r>
            <a:endParaRPr lang="en-US" dirty="0"/>
          </a:p>
        </p:txBody>
      </p:sp>
      <p:sp>
        <p:nvSpPr>
          <p:cNvPr id="3" name="Content Placeholder 2"/>
          <p:cNvSpPr>
            <a:spLocks noGrp="1"/>
          </p:cNvSpPr>
          <p:nvPr>
            <p:ph idx="1"/>
          </p:nvPr>
        </p:nvSpPr>
        <p:spPr>
          <a:xfrm>
            <a:off x="441326" y="1462526"/>
            <a:ext cx="8259097" cy="4893823"/>
          </a:xfrm>
        </p:spPr>
        <p:txBody>
          <a:bodyPr>
            <a:normAutofit fontScale="92500" lnSpcReduction="20000"/>
          </a:bodyPr>
          <a:lstStyle/>
          <a:p>
            <a:r>
              <a:rPr lang="en-US" b="0" dirty="0">
                <a:effectLst>
                  <a:outerShdw blurRad="101600" dist="63500" dir="2700000" algn="tl" rotWithShape="0">
                    <a:srgbClr val="000000">
                      <a:alpha val="75000"/>
                    </a:srgbClr>
                  </a:outerShdw>
                </a:effectLst>
              </a:rPr>
              <a:t>Specializations are outlined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in </a:t>
            </a:r>
            <a:r>
              <a:rPr lang="en-US" dirty="0">
                <a:solidFill>
                  <a:schemeClr val="accent4"/>
                </a:solidFill>
                <a:effectLst>
                  <a:outerShdw blurRad="101600" dist="63500" dir="2700000" algn="tl" rotWithShape="0">
                    <a:srgbClr val="000000">
                      <a:alpha val="75000"/>
                    </a:srgbClr>
                  </a:outerShdw>
                </a:effectLst>
              </a:rPr>
              <a:t>red</a:t>
            </a:r>
            <a:r>
              <a:rPr lang="en-US" b="0" dirty="0">
                <a:effectLst>
                  <a:outerShdw blurRad="101600" dist="63500" dir="2700000" algn="tl" rotWithShape="0">
                    <a:srgbClr val="000000">
                      <a:alpha val="75000"/>
                    </a:srgbClr>
                  </a:outerShdw>
                </a:effectLst>
              </a:rPr>
              <a:t>. </a:t>
            </a:r>
            <a:endParaRPr lang="en-US" b="0" dirty="0" smtClean="0">
              <a:effectLst>
                <a:outerShdw blurRad="101600" dist="63500" dir="2700000" algn="tl" rotWithShape="0">
                  <a:srgbClr val="000000">
                    <a:alpha val="75000"/>
                  </a:srgbClr>
                </a:outerShdw>
              </a:effectLst>
            </a:endParaRPr>
          </a:p>
          <a:p>
            <a:r>
              <a:rPr lang="en-US" b="0" u="sng" dirty="0" smtClean="0">
                <a:effectLst>
                  <a:outerShdw blurRad="101600" dist="63500" dir="2700000" algn="tl" rotWithShape="0">
                    <a:srgbClr val="000000">
                      <a:alpha val="75000"/>
                    </a:srgbClr>
                  </a:outerShdw>
                </a:effectLst>
                <a:hlinkClick r:id="rId2"/>
              </a:rPr>
              <a:t>MeSH</a:t>
            </a:r>
            <a:r>
              <a:rPr lang="en-US" b="0" dirty="0" smtClean="0">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is a </a:t>
            </a:r>
            <a:r>
              <a:rPr lang="en-US" b="0" dirty="0" smtClean="0">
                <a:effectLst>
                  <a:outerShdw blurRad="101600" dist="63500" dir="2700000" algn="tl" rotWithShape="0">
                    <a:srgbClr val="000000">
                      <a:alpha val="75000"/>
                    </a:srgbClr>
                  </a:outerShdw>
                </a:effectLst>
              </a:rPr>
              <a:t>taxonomy</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of  Medical Subject Headers.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u="sng" dirty="0" smtClean="0">
                <a:effectLst>
                  <a:outerShdw blurRad="101600" dist="63500" dir="2700000" algn="tl" rotWithShape="0">
                    <a:srgbClr val="000000">
                      <a:alpha val="75000"/>
                    </a:srgbClr>
                  </a:outerShdw>
                </a:effectLst>
                <a:hlinkClick r:id="rId3"/>
              </a:rPr>
              <a:t>PubMed</a:t>
            </a:r>
            <a:r>
              <a:rPr lang="en-US" b="0" dirty="0" smtClean="0">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consists of more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than </a:t>
            </a:r>
            <a:r>
              <a:rPr lang="en-US" b="0" dirty="0">
                <a:effectLst>
                  <a:outerShdw blurRad="101600" dist="63500" dir="2700000" algn="tl" rotWithShape="0">
                    <a:srgbClr val="000000">
                      <a:alpha val="75000"/>
                    </a:srgbClr>
                  </a:outerShdw>
                </a:effectLst>
              </a:rPr>
              <a:t>23 million citations for biomedical literature. Those citations are indexed by MeSH.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Finally</a:t>
            </a:r>
            <a:r>
              <a:rPr lang="en-US" b="0" dirty="0">
                <a:effectLst>
                  <a:outerShdw blurRad="101600" dist="63500" dir="2700000" algn="tl" rotWithShape="0">
                    <a:srgbClr val="000000">
                      <a:alpha val="75000"/>
                    </a:srgbClr>
                  </a:outerShdw>
                </a:effectLst>
              </a:rPr>
              <a:t>, there is </a:t>
            </a:r>
            <a:r>
              <a:rPr lang="en-US" b="0" u="sng" dirty="0">
                <a:effectLst>
                  <a:outerShdw blurRad="101600" dist="63500" dir="2700000" algn="tl" rotWithShape="0">
                    <a:srgbClr val="000000">
                      <a:alpha val="75000"/>
                    </a:srgbClr>
                  </a:outerShdw>
                </a:effectLst>
                <a:hlinkClick r:id="rId4"/>
              </a:rPr>
              <a:t>Gene2MeSH</a:t>
            </a:r>
            <a:r>
              <a:rPr lang="en-US" b="0" dirty="0">
                <a:effectLst>
                  <a:outerShdw blurRad="101600" dist="63500" dir="2700000" algn="tl" rotWithShape="0">
                    <a:srgbClr val="000000">
                      <a:alpha val="75000"/>
                    </a:srgbClr>
                  </a:outerShdw>
                </a:effectLst>
              </a:rPr>
              <a:t>. Gene2MeSH “uses a statistical approach to reliably and automatically annotate genes with the concepts defined in MeSH, the National Library of Medicine's controlled vocabulary for biology and medicine.” </a:t>
            </a:r>
          </a:p>
          <a:p>
            <a:r>
              <a:rPr lang="en-US" b="0" dirty="0">
                <a:effectLst>
                  <a:outerShdw blurRad="101600" dist="63500" dir="2700000" algn="tl" rotWithShape="0">
                    <a:srgbClr val="000000">
                      <a:alpha val="75000"/>
                    </a:srgbClr>
                  </a:outerShdw>
                </a:effectLst>
              </a:rPr>
              <a:t>Back to Marie. She </a:t>
            </a:r>
            <a:r>
              <a:rPr lang="en-US" dirty="0">
                <a:solidFill>
                  <a:srgbClr val="FFFF00"/>
                </a:solidFill>
                <a:effectLst>
                  <a:outerShdw blurRad="101600" dist="63500" dir="2700000" algn="tl" rotWithShape="0">
                    <a:srgbClr val="000000">
                      <a:alpha val="75000"/>
                    </a:srgbClr>
                  </a:outerShdw>
                </a:effectLst>
              </a:rPr>
              <a:t>tags</a:t>
            </a:r>
            <a:r>
              <a:rPr lang="en-US" b="0" dirty="0">
                <a:solidFill>
                  <a:srgbClr val="FFFF00"/>
                </a:solidFill>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the nutritional LogicalDataSet with the MeSH term “Enzyme Activation” along with some other keywords. </a:t>
            </a:r>
          </a:p>
          <a:p>
            <a:r>
              <a:rPr lang="en-US" b="0" dirty="0" smtClean="0">
                <a:effectLst>
                  <a:outerShdw blurRad="101600" dist="63500" dir="2700000" algn="tl" rotWithShape="0">
                    <a:srgbClr val="000000">
                      <a:alpha val="75000"/>
                    </a:srgbClr>
                  </a:outerShdw>
                </a:effectLst>
              </a:rPr>
              <a:t>Next </a:t>
            </a:r>
            <a:r>
              <a:rPr lang="en-US" b="0" dirty="0">
                <a:effectLst>
                  <a:outerShdw blurRad="101600" dist="63500" dir="2700000" algn="tl" rotWithShape="0">
                    <a:srgbClr val="000000">
                      <a:alpha val="75000"/>
                    </a:srgbClr>
                  </a:outerShdw>
                </a:effectLst>
              </a:rPr>
              <a:t>with the assistance of a software agent and a Gene2MeSH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web </a:t>
            </a:r>
            <a:r>
              <a:rPr lang="en-US" b="0" dirty="0">
                <a:effectLst>
                  <a:outerShdw blurRad="101600" dist="63500" dir="2700000" algn="tl" rotWithShape="0">
                    <a:srgbClr val="000000">
                      <a:alpha val="75000"/>
                    </a:srgbClr>
                  </a:outerShdw>
                </a:effectLst>
              </a:rPr>
              <a:t>service, she </a:t>
            </a:r>
            <a:r>
              <a:rPr lang="en-US" dirty="0">
                <a:solidFill>
                  <a:srgbClr val="FFFF00"/>
                </a:solidFill>
                <a:effectLst>
                  <a:outerShdw blurRad="101600" dist="63500" dir="2700000" algn="tl" rotWithShape="0">
                    <a:srgbClr val="000000">
                      <a:alpha val="75000"/>
                    </a:srgbClr>
                  </a:outerShdw>
                </a:effectLst>
              </a:rPr>
              <a:t>retrieves</a:t>
            </a:r>
            <a:r>
              <a:rPr lang="en-US" b="0" dirty="0">
                <a:effectLst>
                  <a:outerShdw blurRad="101600" dist="63500" dir="2700000" algn="tl" rotWithShape="0">
                    <a:srgbClr val="000000">
                      <a:alpha val="75000"/>
                    </a:srgbClr>
                  </a:outerShdw>
                </a:effectLst>
              </a:rPr>
              <a:t> a list of at least 200 genes and the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PubMed </a:t>
            </a:r>
            <a:r>
              <a:rPr lang="en-US" b="0" dirty="0">
                <a:effectLst>
                  <a:outerShdw blurRad="101600" dist="63500" dir="2700000" algn="tl" rotWithShape="0">
                    <a:srgbClr val="000000">
                      <a:alpha val="75000"/>
                    </a:srgbClr>
                  </a:outerShdw>
                </a:effectLst>
              </a:rPr>
              <a:t>citations in which each is </a:t>
            </a:r>
            <a:r>
              <a:rPr lang="en-US" b="0" dirty="0" smtClean="0">
                <a:effectLst>
                  <a:outerShdw blurRad="101600" dist="63500" dir="2700000" algn="tl" rotWithShape="0">
                    <a:srgbClr val="000000">
                      <a:alpha val="75000"/>
                    </a:srgbClr>
                  </a:outerShdw>
                </a:effectLst>
              </a:rPr>
              <a:t>discussed.</a:t>
            </a:r>
            <a:endParaRPr lang="en-US" b="0" dirty="0">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23</a:t>
            </a:fld>
            <a:endParaRPr lang="en-US"/>
          </a:p>
        </p:txBody>
      </p:sp>
      <p:pic>
        <p:nvPicPr>
          <p:cNvPr id="10" name="Picture 9"/>
          <p:cNvPicPr>
            <a:picLocks noChangeAspect="1"/>
          </p:cNvPicPr>
          <p:nvPr/>
        </p:nvPicPr>
        <p:blipFill>
          <a:blip r:embed="rId5"/>
          <a:stretch>
            <a:fillRect/>
          </a:stretch>
        </p:blipFill>
        <p:spPr>
          <a:xfrm>
            <a:off x="4152236" y="242550"/>
            <a:ext cx="4586571" cy="2498141"/>
          </a:xfrm>
          <a:prstGeom prst="rect">
            <a:avLst/>
          </a:prstGeom>
          <a:effectLst>
            <a:outerShdw blurRad="101600" dist="63500" dir="2700000" algn="tl" rotWithShape="0">
              <a:srgbClr val="000000">
                <a:alpha val="75000"/>
              </a:srgbClr>
            </a:outerShdw>
          </a:effectLst>
        </p:spPr>
      </p:pic>
      <p:pic>
        <p:nvPicPr>
          <p:cNvPr id="8" name="Picture 7"/>
          <p:cNvPicPr>
            <a:picLocks noChangeAspect="1"/>
          </p:cNvPicPr>
          <p:nvPr/>
        </p:nvPicPr>
        <p:blipFill>
          <a:blip r:embed="rId6"/>
          <a:stretch>
            <a:fillRect/>
          </a:stretch>
        </p:blipFill>
        <p:spPr>
          <a:xfrm>
            <a:off x="7910622" y="5377582"/>
            <a:ext cx="789801" cy="652511"/>
          </a:xfrm>
          <a:prstGeom prst="rect">
            <a:avLst/>
          </a:prstGeom>
        </p:spPr>
      </p:pic>
    </p:spTree>
    <p:extLst>
      <p:ext uri="{BB962C8B-B14F-4D97-AF65-F5344CB8AC3E}">
        <p14:creationId xmlns:p14="http://schemas.microsoft.com/office/powerpoint/2010/main" val="404769894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 and Beyond – </a:t>
            </a:r>
            <a:br>
              <a:rPr lang="en-US" dirty="0" smtClean="0"/>
            </a:br>
            <a:r>
              <a:rPr lang="en-US" dirty="0" smtClean="0"/>
              <a:t>Part II (</a:t>
            </a:r>
            <a:r>
              <a:rPr lang="en-US" dirty="0"/>
              <a:t>3</a:t>
            </a:r>
            <a:r>
              <a:rPr lang="en-US" dirty="0" smtClean="0"/>
              <a:t> of 4)</a:t>
            </a:r>
            <a:endParaRPr lang="en-US" dirty="0"/>
          </a:p>
        </p:txBody>
      </p:sp>
      <p:sp>
        <p:nvSpPr>
          <p:cNvPr id="3" name="Content Placeholder 2"/>
          <p:cNvSpPr>
            <a:spLocks noGrp="1"/>
          </p:cNvSpPr>
          <p:nvPr>
            <p:ph idx="1"/>
          </p:nvPr>
        </p:nvSpPr>
        <p:spPr>
          <a:xfrm>
            <a:off x="441326" y="1462526"/>
            <a:ext cx="8259097" cy="4893823"/>
          </a:xfrm>
        </p:spPr>
        <p:txBody>
          <a:bodyPr>
            <a:normAutofit fontScale="92500" lnSpcReduction="20000"/>
          </a:bodyPr>
          <a:lstStyle/>
          <a:p>
            <a:r>
              <a:rPr lang="en-US" b="0" dirty="0">
                <a:effectLst>
                  <a:outerShdw blurRad="101600" dist="63500" dir="2700000" algn="tl" rotWithShape="0">
                    <a:srgbClr val="000000">
                      <a:alpha val="75000"/>
                    </a:srgbClr>
                  </a:outerShdw>
                </a:effectLst>
              </a:rPr>
              <a:t>Specializations are outlined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in </a:t>
            </a:r>
            <a:r>
              <a:rPr lang="en-US" dirty="0">
                <a:solidFill>
                  <a:schemeClr val="accent4"/>
                </a:solidFill>
                <a:effectLst>
                  <a:outerShdw blurRad="101600" dist="63500" dir="2700000" algn="tl" rotWithShape="0">
                    <a:srgbClr val="000000">
                      <a:alpha val="75000"/>
                    </a:srgbClr>
                  </a:outerShdw>
                </a:effectLst>
              </a:rPr>
              <a:t>red</a:t>
            </a:r>
            <a:r>
              <a:rPr lang="en-US" b="0" dirty="0">
                <a:effectLst>
                  <a:outerShdw blurRad="101600" dist="63500" dir="2700000" algn="tl" rotWithShape="0">
                    <a:srgbClr val="000000">
                      <a:alpha val="75000"/>
                    </a:srgbClr>
                  </a:outerShdw>
                </a:effectLst>
              </a:rPr>
              <a:t>. </a:t>
            </a:r>
            <a:endParaRPr lang="en-US" b="0" dirty="0" smtClean="0">
              <a:effectLst>
                <a:outerShdw blurRad="101600" dist="63500" dir="2700000" algn="tl" rotWithShape="0">
                  <a:srgbClr val="000000">
                    <a:alpha val="75000"/>
                  </a:srgbClr>
                </a:outerShdw>
              </a:effectLst>
            </a:endParaRPr>
          </a:p>
          <a:p>
            <a:r>
              <a:rPr lang="en-US" b="0" u="sng" dirty="0" smtClean="0">
                <a:effectLst>
                  <a:outerShdw blurRad="101600" dist="63500" dir="2700000" algn="tl" rotWithShape="0">
                    <a:srgbClr val="000000">
                      <a:alpha val="75000"/>
                    </a:srgbClr>
                  </a:outerShdw>
                </a:effectLst>
                <a:hlinkClick r:id="rId2"/>
              </a:rPr>
              <a:t>MeSH</a:t>
            </a:r>
            <a:r>
              <a:rPr lang="en-US" b="0" dirty="0" smtClean="0">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is a </a:t>
            </a:r>
            <a:r>
              <a:rPr lang="en-US" b="0" dirty="0" smtClean="0">
                <a:effectLst>
                  <a:outerShdw blurRad="101600" dist="63500" dir="2700000" algn="tl" rotWithShape="0">
                    <a:srgbClr val="000000">
                      <a:alpha val="75000"/>
                    </a:srgbClr>
                  </a:outerShdw>
                </a:effectLst>
              </a:rPr>
              <a:t>taxonomy</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of  Medical Subject Headers.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u="sng" dirty="0" smtClean="0">
                <a:effectLst>
                  <a:outerShdw blurRad="101600" dist="63500" dir="2700000" algn="tl" rotWithShape="0">
                    <a:srgbClr val="000000">
                      <a:alpha val="75000"/>
                    </a:srgbClr>
                  </a:outerShdw>
                </a:effectLst>
                <a:hlinkClick r:id="rId3"/>
              </a:rPr>
              <a:t>PubMed</a:t>
            </a:r>
            <a:r>
              <a:rPr lang="en-US" b="0" dirty="0" smtClean="0">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consists of more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than </a:t>
            </a:r>
            <a:r>
              <a:rPr lang="en-US" b="0" dirty="0">
                <a:effectLst>
                  <a:outerShdw blurRad="101600" dist="63500" dir="2700000" algn="tl" rotWithShape="0">
                    <a:srgbClr val="000000">
                      <a:alpha val="75000"/>
                    </a:srgbClr>
                  </a:outerShdw>
                </a:effectLst>
              </a:rPr>
              <a:t>23 million citations for biomedical literature. Those citations are indexed by MeSH.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Finally</a:t>
            </a:r>
            <a:r>
              <a:rPr lang="en-US" b="0" dirty="0">
                <a:effectLst>
                  <a:outerShdw blurRad="101600" dist="63500" dir="2700000" algn="tl" rotWithShape="0">
                    <a:srgbClr val="000000">
                      <a:alpha val="75000"/>
                    </a:srgbClr>
                  </a:outerShdw>
                </a:effectLst>
              </a:rPr>
              <a:t>, there is </a:t>
            </a:r>
            <a:r>
              <a:rPr lang="en-US" b="0" u="sng" dirty="0">
                <a:effectLst>
                  <a:outerShdw blurRad="101600" dist="63500" dir="2700000" algn="tl" rotWithShape="0">
                    <a:srgbClr val="000000">
                      <a:alpha val="75000"/>
                    </a:srgbClr>
                  </a:outerShdw>
                </a:effectLst>
                <a:hlinkClick r:id="rId4"/>
              </a:rPr>
              <a:t>Gene2MeSH</a:t>
            </a:r>
            <a:r>
              <a:rPr lang="en-US" b="0" dirty="0">
                <a:effectLst>
                  <a:outerShdw blurRad="101600" dist="63500" dir="2700000" algn="tl" rotWithShape="0">
                    <a:srgbClr val="000000">
                      <a:alpha val="75000"/>
                    </a:srgbClr>
                  </a:outerShdw>
                </a:effectLst>
              </a:rPr>
              <a:t>. Gene2MeSH “uses a statistical approach to reliably and automatically annotate genes with the concepts defined in MeSH, the National Library of Medicine's controlled vocabulary for biology and medicine.” </a:t>
            </a:r>
          </a:p>
          <a:p>
            <a:r>
              <a:rPr lang="en-US" b="0" dirty="0">
                <a:effectLst>
                  <a:outerShdw blurRad="101600" dist="63500" dir="2700000" algn="tl" rotWithShape="0">
                    <a:srgbClr val="000000">
                      <a:alpha val="75000"/>
                    </a:srgbClr>
                  </a:outerShdw>
                </a:effectLst>
              </a:rPr>
              <a:t>Back to Marie. She </a:t>
            </a:r>
            <a:r>
              <a:rPr lang="en-US" dirty="0">
                <a:solidFill>
                  <a:srgbClr val="FFFF00"/>
                </a:solidFill>
                <a:effectLst>
                  <a:outerShdw blurRad="101600" dist="63500" dir="2700000" algn="tl" rotWithShape="0">
                    <a:srgbClr val="000000">
                      <a:alpha val="75000"/>
                    </a:srgbClr>
                  </a:outerShdw>
                </a:effectLst>
              </a:rPr>
              <a:t>tags</a:t>
            </a:r>
            <a:r>
              <a:rPr lang="en-US" b="0" dirty="0">
                <a:solidFill>
                  <a:srgbClr val="FFFF00"/>
                </a:solidFill>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the nutritional LogicalDataSet with the MeSH term “Enzyme Activation” along with some other keywords. </a:t>
            </a:r>
          </a:p>
          <a:p>
            <a:r>
              <a:rPr lang="en-US" b="0" dirty="0" smtClean="0">
                <a:effectLst>
                  <a:outerShdw blurRad="101600" dist="63500" dir="2700000" algn="tl" rotWithShape="0">
                    <a:srgbClr val="000000">
                      <a:alpha val="75000"/>
                    </a:srgbClr>
                  </a:outerShdw>
                </a:effectLst>
              </a:rPr>
              <a:t>Next </a:t>
            </a:r>
            <a:r>
              <a:rPr lang="en-US" b="0" dirty="0">
                <a:effectLst>
                  <a:outerShdw blurRad="101600" dist="63500" dir="2700000" algn="tl" rotWithShape="0">
                    <a:srgbClr val="000000">
                      <a:alpha val="75000"/>
                    </a:srgbClr>
                  </a:outerShdw>
                </a:effectLst>
              </a:rPr>
              <a:t>with the assistance of a software agent and a Gene2MeSH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web </a:t>
            </a:r>
            <a:r>
              <a:rPr lang="en-US" b="0" dirty="0">
                <a:effectLst>
                  <a:outerShdw blurRad="101600" dist="63500" dir="2700000" algn="tl" rotWithShape="0">
                    <a:srgbClr val="000000">
                      <a:alpha val="75000"/>
                    </a:srgbClr>
                  </a:outerShdw>
                </a:effectLst>
              </a:rPr>
              <a:t>service, she </a:t>
            </a:r>
            <a:r>
              <a:rPr lang="en-US" dirty="0">
                <a:solidFill>
                  <a:srgbClr val="FFFF00"/>
                </a:solidFill>
                <a:effectLst>
                  <a:outerShdw blurRad="101600" dist="63500" dir="2700000" algn="tl" rotWithShape="0">
                    <a:srgbClr val="000000">
                      <a:alpha val="75000"/>
                    </a:srgbClr>
                  </a:outerShdw>
                </a:effectLst>
              </a:rPr>
              <a:t>retrieves</a:t>
            </a:r>
            <a:r>
              <a:rPr lang="en-US" b="0" dirty="0">
                <a:effectLst>
                  <a:outerShdw blurRad="101600" dist="63500" dir="2700000" algn="tl" rotWithShape="0">
                    <a:srgbClr val="000000">
                      <a:alpha val="75000"/>
                    </a:srgbClr>
                  </a:outerShdw>
                </a:effectLst>
              </a:rPr>
              <a:t> a list of at least 200 genes and the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PubMed </a:t>
            </a:r>
            <a:r>
              <a:rPr lang="en-US" b="0" dirty="0">
                <a:effectLst>
                  <a:outerShdw blurRad="101600" dist="63500" dir="2700000" algn="tl" rotWithShape="0">
                    <a:srgbClr val="000000">
                      <a:alpha val="75000"/>
                    </a:srgbClr>
                  </a:outerShdw>
                </a:effectLst>
              </a:rPr>
              <a:t>citations in which each is </a:t>
            </a:r>
            <a:r>
              <a:rPr lang="en-US" b="0" dirty="0" smtClean="0">
                <a:effectLst>
                  <a:outerShdw blurRad="101600" dist="63500" dir="2700000" algn="tl" rotWithShape="0">
                    <a:srgbClr val="000000">
                      <a:alpha val="75000"/>
                    </a:srgbClr>
                  </a:outerShdw>
                </a:effectLst>
              </a:rPr>
              <a:t>discussed.</a:t>
            </a:r>
            <a:endParaRPr lang="en-US" b="0" dirty="0">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24</a:t>
            </a:fld>
            <a:endParaRPr lang="en-US"/>
          </a:p>
        </p:txBody>
      </p:sp>
      <p:pic>
        <p:nvPicPr>
          <p:cNvPr id="10" name="Picture 9"/>
          <p:cNvPicPr>
            <a:picLocks noChangeAspect="1"/>
          </p:cNvPicPr>
          <p:nvPr/>
        </p:nvPicPr>
        <p:blipFill>
          <a:blip r:embed="rId5"/>
          <a:stretch>
            <a:fillRect/>
          </a:stretch>
        </p:blipFill>
        <p:spPr>
          <a:xfrm>
            <a:off x="4152236" y="242550"/>
            <a:ext cx="4586571" cy="2498141"/>
          </a:xfrm>
          <a:prstGeom prst="rect">
            <a:avLst/>
          </a:prstGeom>
          <a:effectLst>
            <a:outerShdw blurRad="101600" dist="63500" dir="2700000" algn="tl" rotWithShape="0">
              <a:srgbClr val="000000">
                <a:alpha val="75000"/>
              </a:srgbClr>
            </a:outerShdw>
          </a:effectLst>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3763" y="1372631"/>
            <a:ext cx="8121379" cy="4819415"/>
          </a:xfrm>
          <a:prstGeom prst="rect">
            <a:avLst/>
          </a:prstGeom>
          <a:noFill/>
          <a:ln>
            <a:noFill/>
          </a:ln>
          <a:effectLst>
            <a:outerShdw blurRad="101600" dist="63500" dir="2700000" algn="tl" rotWithShape="0">
              <a:srgbClr val="000000">
                <a:alpha val="75000"/>
              </a:srgbClr>
            </a:outerShdw>
          </a:effectLst>
        </p:spPr>
      </p:pic>
    </p:spTree>
    <p:extLst>
      <p:ext uri="{BB962C8B-B14F-4D97-AF65-F5344CB8AC3E}">
        <p14:creationId xmlns:p14="http://schemas.microsoft.com/office/powerpoint/2010/main" val="295584248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6" y="107577"/>
            <a:ext cx="8259097" cy="814681"/>
          </a:xfrm>
        </p:spPr>
        <p:txBody>
          <a:bodyPr/>
          <a:lstStyle/>
          <a:p>
            <a:r>
              <a:rPr lang="en-US" dirty="0" smtClean="0"/>
              <a:t>Disco and Beyond – Part II (</a:t>
            </a:r>
            <a:r>
              <a:rPr lang="en-US" dirty="0"/>
              <a:t>4</a:t>
            </a:r>
            <a:r>
              <a:rPr lang="en-US" dirty="0" smtClean="0"/>
              <a:t> of 4)</a:t>
            </a:r>
            <a:endParaRPr lang="en-US" dirty="0"/>
          </a:p>
        </p:txBody>
      </p:sp>
      <p:sp>
        <p:nvSpPr>
          <p:cNvPr id="3" name="Content Placeholder 2"/>
          <p:cNvSpPr>
            <a:spLocks noGrp="1"/>
          </p:cNvSpPr>
          <p:nvPr>
            <p:ph idx="1"/>
          </p:nvPr>
        </p:nvSpPr>
        <p:spPr>
          <a:xfrm>
            <a:off x="441326" y="1180270"/>
            <a:ext cx="4511673" cy="4893823"/>
          </a:xfrm>
        </p:spPr>
        <p:txBody>
          <a:bodyPr>
            <a:normAutofit/>
          </a:bodyPr>
          <a:lstStyle/>
          <a:p>
            <a:r>
              <a:rPr lang="en-US" b="0" dirty="0">
                <a:effectLst>
                  <a:outerShdw blurRad="101600" dist="63500" dir="2700000" algn="tl" rotWithShape="0">
                    <a:srgbClr val="000000">
                      <a:alpha val="75000"/>
                    </a:srgbClr>
                  </a:outerShdw>
                </a:effectLst>
              </a:rPr>
              <a:t>Next Marie and her software agent know to </a:t>
            </a:r>
            <a:r>
              <a:rPr lang="en-US" dirty="0">
                <a:solidFill>
                  <a:srgbClr val="FFFF00"/>
                </a:solidFill>
                <a:effectLst>
                  <a:outerShdw blurRad="101600" dist="63500" dir="2700000" algn="tl" rotWithShape="0">
                    <a:srgbClr val="000000">
                      <a:alpha val="75000"/>
                    </a:srgbClr>
                  </a:outerShdw>
                </a:effectLst>
              </a:rPr>
              <a:t>filter the search </a:t>
            </a:r>
            <a:r>
              <a:rPr lang="en-US" b="0" dirty="0">
                <a:effectLst>
                  <a:outerShdw blurRad="101600" dist="63500" dir="2700000" algn="tl" rotWithShape="0">
                    <a:srgbClr val="000000">
                      <a:alpha val="75000"/>
                    </a:srgbClr>
                  </a:outerShdw>
                </a:effectLst>
              </a:rPr>
              <a:t>with a second keyword: </a:t>
            </a:r>
            <a:r>
              <a:rPr lang="en-US" b="0" i="1" dirty="0" smtClean="0">
                <a:effectLst>
                  <a:outerShdw blurRad="101600" dist="63500" dir="2700000" algn="tl" rotWithShape="0">
                    <a:srgbClr val="000000">
                      <a:alpha val="75000"/>
                    </a:srgbClr>
                  </a:outerShdw>
                </a:effectLst>
              </a:rPr>
              <a:t>monosaccharide</a:t>
            </a:r>
            <a:r>
              <a:rPr lang="en-US" b="0" dirty="0" smtClean="0">
                <a:effectLst>
                  <a:outerShdw blurRad="101600" dist="63500" dir="2700000" algn="tl" rotWithShape="0">
                    <a:srgbClr val="000000">
                      <a:alpha val="75000"/>
                    </a:srgbClr>
                  </a:outerShdw>
                </a:effectLst>
              </a:rPr>
              <a:t>.</a:t>
            </a:r>
          </a:p>
          <a:p>
            <a:r>
              <a:rPr lang="en-US" b="0" dirty="0" smtClean="0">
                <a:effectLst>
                  <a:outerShdw blurRad="101600" dist="63500" dir="2700000" algn="tl" rotWithShape="0">
                    <a:srgbClr val="000000">
                      <a:alpha val="75000"/>
                    </a:srgbClr>
                  </a:outerShdw>
                </a:effectLst>
              </a:rPr>
              <a:t>Now </a:t>
            </a:r>
            <a:r>
              <a:rPr lang="en-US" b="0" dirty="0">
                <a:effectLst>
                  <a:outerShdw blurRad="101600" dist="63500" dir="2700000" algn="tl" rotWithShape="0">
                    <a:srgbClr val="000000">
                      <a:alpha val="75000"/>
                    </a:srgbClr>
                  </a:outerShdw>
                </a:effectLst>
              </a:rPr>
              <a:t>Marie and her agent have a count of ongoing genetic research into the digestion of bread.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Marie </a:t>
            </a:r>
            <a:r>
              <a:rPr lang="en-US" b="0" dirty="0">
                <a:effectLst>
                  <a:outerShdw blurRad="101600" dist="63500" dir="2700000" algn="tl" rotWithShape="0">
                    <a:srgbClr val="000000">
                      <a:alpha val="75000"/>
                    </a:srgbClr>
                  </a:outerShdw>
                </a:effectLst>
              </a:rPr>
              <a:t>stores the search URL that provides this account in </a:t>
            </a:r>
            <a:r>
              <a:rPr lang="en-US" dirty="0" smtClean="0">
                <a:solidFill>
                  <a:srgbClr val="FFFF00"/>
                </a:solidFill>
                <a:effectLst>
                  <a:outerShdw blurRad="101600" dist="63500" dir="2700000" algn="tl" rotWithShape="0">
                    <a:srgbClr val="000000">
                      <a:alpha val="75000"/>
                    </a:srgbClr>
                  </a:outerShdw>
                </a:effectLst>
              </a:rPr>
              <a:t>OtherMaterial</a:t>
            </a:r>
            <a:r>
              <a:rPr lang="en-US" b="0" dirty="0" smtClean="0">
                <a:effectLst>
                  <a:outerShdw blurRad="101600" dist="63500" dir="2700000" algn="tl" rotWithShape="0">
                    <a:srgbClr val="000000">
                      <a:alpha val="75000"/>
                    </a:srgbClr>
                  </a:outerShdw>
                </a:effectLst>
              </a:rPr>
              <a:t>:</a:t>
            </a:r>
            <a:br>
              <a:rPr lang="en-US" b="0" dirty="0" smtClean="0">
                <a:effectLst>
                  <a:outerShdw blurRad="101600" dist="63500" dir="2700000" algn="tl" rotWithShape="0">
                    <a:srgbClr val="000000">
                      <a:alpha val="75000"/>
                    </a:srgbClr>
                  </a:outerShdw>
                </a:effectLst>
              </a:rPr>
            </a:br>
            <a:r>
              <a:rPr lang="en-US" b="0" i="1" u="sng" dirty="0" smtClean="0">
                <a:effectLst>
                  <a:outerShdw blurRad="101600" dist="63500" dir="2700000" algn="tl" rotWithShape="0">
                    <a:srgbClr val="000000">
                      <a:alpha val="75000"/>
                    </a:srgbClr>
                  </a:outerShdw>
                </a:effectLst>
                <a:hlinkClick r:id="rId2"/>
              </a:rPr>
              <a:t>http</a:t>
            </a:r>
            <a:r>
              <a:rPr lang="en-US" b="0" i="1" u="sng" dirty="0">
                <a:effectLst>
                  <a:outerShdw blurRad="101600" dist="63500" dir="2700000" algn="tl" rotWithShape="0">
                    <a:srgbClr val="000000">
                      <a:alpha val="75000"/>
                    </a:srgbClr>
                  </a:outerShdw>
                </a:effectLst>
                <a:hlinkClick r:id="rId2"/>
              </a:rPr>
              <a:t>://gene2mesh.ncibi.org/index.php?term=descriptor%3Aenzyme+activation&amp;taxid=</a:t>
            </a:r>
            <a:r>
              <a:rPr lang="en-US" b="0" i="1" u="sng" dirty="0" smtClean="0">
                <a:effectLst>
                  <a:outerShdw blurRad="101600" dist="63500" dir="2700000" algn="tl" rotWithShape="0">
                    <a:srgbClr val="000000">
                      <a:alpha val="75000"/>
                    </a:srgbClr>
                  </a:outerShdw>
                </a:effectLst>
                <a:hlinkClick r:id="rId2"/>
              </a:rPr>
              <a:t>ALL</a:t>
            </a:r>
            <a:endParaRPr lang="en-US" b="0" i="1" u="sng"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Finally, </a:t>
            </a:r>
            <a:r>
              <a:rPr lang="en-US" dirty="0" smtClean="0">
                <a:solidFill>
                  <a:srgbClr val="FFFF00"/>
                </a:solidFill>
                <a:effectLst>
                  <a:outerShdw blurRad="101600" dist="63500" dir="2700000" algn="tl" rotWithShape="0">
                    <a:srgbClr val="000000">
                      <a:alpha val="75000"/>
                    </a:srgbClr>
                  </a:outerShdw>
                </a:effectLst>
              </a:rPr>
              <a:t>DDI supports the real time valuation of study variables</a:t>
            </a:r>
            <a:r>
              <a:rPr lang="en-US" b="0" dirty="0" smtClean="0">
                <a:effectLst>
                  <a:outerShdw blurRad="101600" dist="63500" dir="2700000" algn="tl" rotWithShape="0">
                    <a:srgbClr val="000000">
                      <a:alpha val="75000"/>
                    </a:srgbClr>
                  </a:outerShdw>
                </a:effectLst>
              </a:rPr>
              <a:t>.</a:t>
            </a:r>
            <a:endParaRPr lang="en-US" b="0" dirty="0">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25</a:t>
            </a:fld>
            <a:endParaRPr lang="en-US"/>
          </a:p>
        </p:txBody>
      </p:sp>
      <p:pic>
        <p:nvPicPr>
          <p:cNvPr id="8" name="Picture 7"/>
          <p:cNvPicPr>
            <a:picLocks/>
          </p:cNvPicPr>
          <p:nvPr/>
        </p:nvPicPr>
        <p:blipFill>
          <a:blip r:embed="rId3"/>
          <a:stretch>
            <a:fillRect/>
          </a:stretch>
        </p:blipFill>
        <p:spPr>
          <a:xfrm>
            <a:off x="5208868" y="1116309"/>
            <a:ext cx="3529584"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9" name="Oval 8"/>
          <p:cNvSpPr/>
          <p:nvPr/>
        </p:nvSpPr>
        <p:spPr>
          <a:xfrm>
            <a:off x="6576979" y="1498875"/>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a:stretch>
            <a:fillRect/>
          </a:stretch>
        </p:blipFill>
        <p:spPr>
          <a:xfrm>
            <a:off x="5208513" y="4335294"/>
            <a:ext cx="3530294" cy="1922825"/>
          </a:xfrm>
          <a:prstGeom prst="rect">
            <a:avLst/>
          </a:prstGeom>
          <a:effectLst>
            <a:outerShdw blurRad="101600" dist="63500" dir="2700000" algn="tl" rotWithShape="0">
              <a:srgbClr val="000000">
                <a:alpha val="75000"/>
              </a:srgbClr>
            </a:outerShdw>
          </a:effectLst>
        </p:spPr>
      </p:pic>
    </p:spTree>
    <p:extLst>
      <p:ext uri="{BB962C8B-B14F-4D97-AF65-F5344CB8AC3E}">
        <p14:creationId xmlns:p14="http://schemas.microsoft.com/office/powerpoint/2010/main" val="1233918723"/>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Discovery: </a:t>
            </a:r>
            <a:r>
              <a:rPr lang="en-US" i="1" dirty="0" smtClean="0"/>
              <a:t>What is it?</a:t>
            </a:r>
            <a:endParaRPr lang="en-US" i="1" dirty="0"/>
          </a:p>
        </p:txBody>
      </p:sp>
      <p:sp>
        <p:nvSpPr>
          <p:cNvPr id="3" name="Content Placeholder 2"/>
          <p:cNvSpPr>
            <a:spLocks noGrp="1"/>
          </p:cNvSpPr>
          <p:nvPr>
            <p:ph idx="1"/>
          </p:nvPr>
        </p:nvSpPr>
        <p:spPr>
          <a:xfrm>
            <a:off x="441326" y="1367451"/>
            <a:ext cx="8259097" cy="4716353"/>
          </a:xfrm>
        </p:spPr>
        <p:txBody>
          <a:bodyPr>
            <a:normAutofit lnSpcReduction="10000"/>
          </a:bodyPr>
          <a:lstStyle/>
          <a:p>
            <a:r>
              <a:rPr lang="en-US" b="0" dirty="0" smtClean="0"/>
              <a:t>Beyond common data elements, beyond cohort identification and beyond the DDI RDF vocabulary, what if we could</a:t>
            </a:r>
            <a:r>
              <a:rPr lang="en-US" dirty="0" smtClean="0">
                <a:solidFill>
                  <a:srgbClr val="FFFF00"/>
                </a:solidFill>
              </a:rPr>
              <a:t> discover the research questions that studies are able to answer</a:t>
            </a:r>
            <a:r>
              <a:rPr lang="en-US" b="0" dirty="0" smtClean="0"/>
              <a:t>?</a:t>
            </a:r>
          </a:p>
          <a:p>
            <a:r>
              <a:rPr lang="en-US" b="0" dirty="0" smtClean="0"/>
              <a:t>Note we don’t say “the research questions that studies </a:t>
            </a:r>
            <a:r>
              <a:rPr lang="en-US" b="0" i="1" dirty="0" smtClean="0"/>
              <a:t>intended</a:t>
            </a:r>
            <a:r>
              <a:rPr lang="en-US" b="0" dirty="0" smtClean="0"/>
              <a:t> to answer”.</a:t>
            </a:r>
          </a:p>
          <a:p>
            <a:r>
              <a:rPr lang="en-US" b="0" dirty="0" smtClean="0"/>
              <a:t>In a brave new world of research practiced by biology and the genomics revolution we divide samples into two parts:</a:t>
            </a:r>
          </a:p>
          <a:p>
            <a:pPr lvl="1">
              <a:spcBef>
                <a:spcPts val="900"/>
              </a:spcBef>
            </a:pPr>
            <a:r>
              <a:rPr lang="en-US" b="0" dirty="0" smtClean="0"/>
              <a:t>In the first part </a:t>
            </a:r>
            <a:r>
              <a:rPr lang="en-US" sz="2000" b="0" dirty="0" smtClean="0"/>
              <a:t>we </a:t>
            </a:r>
            <a:r>
              <a:rPr lang="en-US" sz="2000" dirty="0" smtClean="0">
                <a:solidFill>
                  <a:srgbClr val="FFFF00"/>
                </a:solidFill>
              </a:rPr>
              <a:t>train</a:t>
            </a:r>
            <a:r>
              <a:rPr lang="en-US" sz="2000" b="0" dirty="0" smtClean="0">
                <a:solidFill>
                  <a:srgbClr val="FFFF00"/>
                </a:solidFill>
              </a:rPr>
              <a:t> </a:t>
            </a:r>
            <a:r>
              <a:rPr lang="en-US" sz="2000" b="0" dirty="0" smtClean="0"/>
              <a:t>programs to </a:t>
            </a:r>
            <a:r>
              <a:rPr lang="en-US" sz="2000" dirty="0" smtClean="0">
                <a:solidFill>
                  <a:srgbClr val="FFFF00"/>
                </a:solidFill>
              </a:rPr>
              <a:t>explore</a:t>
            </a:r>
            <a:r>
              <a:rPr lang="en-US" sz="2000" b="0" dirty="0" smtClean="0">
                <a:solidFill>
                  <a:srgbClr val="FFFF00"/>
                </a:solidFill>
              </a:rPr>
              <a:t> </a:t>
            </a:r>
            <a:r>
              <a:rPr lang="en-US" sz="2000" b="0" dirty="0" smtClean="0"/>
              <a:t>and learn the relationships in a data network.</a:t>
            </a:r>
          </a:p>
          <a:p>
            <a:pPr lvl="1">
              <a:spcBef>
                <a:spcPts val="900"/>
              </a:spcBef>
            </a:pPr>
            <a:r>
              <a:rPr lang="en-US" b="0" dirty="0" smtClean="0"/>
              <a:t>In the </a:t>
            </a:r>
            <a:r>
              <a:rPr lang="en-US" sz="2000" b="0" dirty="0" smtClean="0"/>
              <a:t>second part we try to </a:t>
            </a:r>
            <a:r>
              <a:rPr lang="en-US" sz="2000" dirty="0" smtClean="0">
                <a:solidFill>
                  <a:srgbClr val="FFFF00"/>
                </a:solidFill>
              </a:rPr>
              <a:t>confirm</a:t>
            </a:r>
            <a:r>
              <a:rPr lang="en-US" sz="2000" b="0" dirty="0" smtClean="0">
                <a:solidFill>
                  <a:srgbClr val="FFFF00"/>
                </a:solidFill>
              </a:rPr>
              <a:t> </a:t>
            </a:r>
            <a:r>
              <a:rPr lang="en-US" sz="2000" b="0" dirty="0" smtClean="0"/>
              <a:t>what discovery has suggested to us.</a:t>
            </a:r>
          </a:p>
          <a:p>
            <a:r>
              <a:rPr lang="en-US" b="0" dirty="0">
                <a:solidFill>
                  <a:srgbClr val="FFFF00"/>
                </a:solidFill>
              </a:rPr>
              <a:t>H</a:t>
            </a:r>
            <a:r>
              <a:rPr lang="en-US" b="0" dirty="0" smtClean="0">
                <a:solidFill>
                  <a:srgbClr val="FFFF00"/>
                </a:solidFill>
              </a:rPr>
              <a:t>ypothesis generation</a:t>
            </a:r>
            <a:r>
              <a:rPr lang="en-US" b="0" dirty="0" smtClean="0"/>
              <a:t>, however, depends on metadata that </a:t>
            </a:r>
            <a:r>
              <a:rPr lang="en-US" dirty="0" smtClean="0">
                <a:solidFill>
                  <a:srgbClr val="FFFF00"/>
                </a:solidFill>
              </a:rPr>
              <a:t>annotates</a:t>
            </a:r>
            <a:r>
              <a:rPr lang="en-US" b="0" dirty="0" smtClean="0"/>
              <a:t> the data elements that make up the </a:t>
            </a:r>
            <a:r>
              <a:rPr lang="en-US" dirty="0" smtClean="0">
                <a:solidFill>
                  <a:srgbClr val="FFFF00"/>
                </a:solidFill>
              </a:rPr>
              <a:t>hypothesis discovery view</a:t>
            </a:r>
            <a:r>
              <a:rPr lang="en-US" b="0" dirty="0" smtClean="0"/>
              <a:t>.</a:t>
            </a:r>
            <a:endParaRPr lang="en-US" b="0" i="1"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26</a:t>
            </a:fld>
            <a:endParaRPr lang="en-US"/>
          </a:p>
        </p:txBody>
      </p:sp>
    </p:spTree>
    <p:extLst>
      <p:ext uri="{BB962C8B-B14F-4D97-AF65-F5344CB8AC3E}">
        <p14:creationId xmlns:p14="http://schemas.microsoft.com/office/powerpoint/2010/main" val="2036696280"/>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Discovery: </a:t>
            </a:r>
            <a:r>
              <a:rPr lang="en-US" i="1" dirty="0" smtClean="0"/>
              <a:t>What is it?</a:t>
            </a:r>
            <a:endParaRPr lang="en-US" i="1" dirty="0"/>
          </a:p>
        </p:txBody>
      </p:sp>
      <p:sp>
        <p:nvSpPr>
          <p:cNvPr id="3" name="Content Placeholder 2"/>
          <p:cNvSpPr>
            <a:spLocks noGrp="1"/>
          </p:cNvSpPr>
          <p:nvPr>
            <p:ph idx="1"/>
          </p:nvPr>
        </p:nvSpPr>
        <p:spPr>
          <a:xfrm>
            <a:off x="441326" y="1367451"/>
            <a:ext cx="8259097" cy="4716353"/>
          </a:xfrm>
        </p:spPr>
        <p:txBody>
          <a:bodyPr>
            <a:normAutofit lnSpcReduction="10000"/>
          </a:bodyPr>
          <a:lstStyle/>
          <a:p>
            <a:r>
              <a:rPr lang="en-US" b="0" dirty="0" smtClean="0"/>
              <a:t>Beyond common data elements, beyond cohort identification and beyond the DDI RDF vocabulary, what if we could</a:t>
            </a:r>
            <a:r>
              <a:rPr lang="en-US" dirty="0" smtClean="0">
                <a:solidFill>
                  <a:srgbClr val="FFFF00"/>
                </a:solidFill>
              </a:rPr>
              <a:t> discover the research questions that studies are able to answer</a:t>
            </a:r>
            <a:r>
              <a:rPr lang="en-US" b="0" dirty="0" smtClean="0"/>
              <a:t>?</a:t>
            </a:r>
          </a:p>
          <a:p>
            <a:r>
              <a:rPr lang="en-US" b="0" dirty="0" smtClean="0"/>
              <a:t>Note we don’t say “the research questions that studies </a:t>
            </a:r>
            <a:r>
              <a:rPr lang="en-US" b="0" i="1" dirty="0" smtClean="0"/>
              <a:t>intended</a:t>
            </a:r>
            <a:r>
              <a:rPr lang="en-US" b="0" dirty="0" smtClean="0"/>
              <a:t> to answer”.</a:t>
            </a:r>
          </a:p>
          <a:p>
            <a:r>
              <a:rPr lang="en-US" b="0" dirty="0" smtClean="0"/>
              <a:t>In a brave new world of research practiced by biology and the genomics revolution we divide samples into two parts:</a:t>
            </a:r>
          </a:p>
          <a:p>
            <a:pPr lvl="1">
              <a:spcBef>
                <a:spcPts val="900"/>
              </a:spcBef>
            </a:pPr>
            <a:r>
              <a:rPr lang="en-US" b="0" dirty="0" smtClean="0"/>
              <a:t>In the first part </a:t>
            </a:r>
            <a:r>
              <a:rPr lang="en-US" sz="2000" b="0" dirty="0" smtClean="0"/>
              <a:t>we </a:t>
            </a:r>
            <a:r>
              <a:rPr lang="en-US" sz="2000" dirty="0" smtClean="0">
                <a:solidFill>
                  <a:srgbClr val="FFFF00"/>
                </a:solidFill>
              </a:rPr>
              <a:t>train</a:t>
            </a:r>
            <a:r>
              <a:rPr lang="en-US" sz="2000" b="0" dirty="0" smtClean="0">
                <a:solidFill>
                  <a:srgbClr val="FFFF00"/>
                </a:solidFill>
              </a:rPr>
              <a:t> </a:t>
            </a:r>
            <a:r>
              <a:rPr lang="en-US" sz="2000" b="0" dirty="0" smtClean="0"/>
              <a:t>programs to </a:t>
            </a:r>
            <a:r>
              <a:rPr lang="en-US" sz="2000" dirty="0" smtClean="0">
                <a:solidFill>
                  <a:srgbClr val="FFFF00"/>
                </a:solidFill>
              </a:rPr>
              <a:t>explore</a:t>
            </a:r>
            <a:r>
              <a:rPr lang="en-US" sz="2000" b="0" dirty="0" smtClean="0">
                <a:solidFill>
                  <a:srgbClr val="FFFF00"/>
                </a:solidFill>
              </a:rPr>
              <a:t> </a:t>
            </a:r>
            <a:r>
              <a:rPr lang="en-US" sz="2000" b="0" dirty="0" smtClean="0"/>
              <a:t>and learn the relationships in a data network.</a:t>
            </a:r>
          </a:p>
          <a:p>
            <a:pPr lvl="1">
              <a:spcBef>
                <a:spcPts val="900"/>
              </a:spcBef>
            </a:pPr>
            <a:r>
              <a:rPr lang="en-US" b="0" dirty="0" smtClean="0"/>
              <a:t>In the </a:t>
            </a:r>
            <a:r>
              <a:rPr lang="en-US" sz="2000" b="0" dirty="0" smtClean="0"/>
              <a:t>second part we try to </a:t>
            </a:r>
            <a:r>
              <a:rPr lang="en-US" sz="2000" dirty="0" smtClean="0">
                <a:solidFill>
                  <a:srgbClr val="FFFF00"/>
                </a:solidFill>
              </a:rPr>
              <a:t>confirm</a:t>
            </a:r>
            <a:r>
              <a:rPr lang="en-US" sz="2000" b="0" dirty="0" smtClean="0">
                <a:solidFill>
                  <a:srgbClr val="FFFF00"/>
                </a:solidFill>
              </a:rPr>
              <a:t> </a:t>
            </a:r>
            <a:r>
              <a:rPr lang="en-US" sz="2000" b="0" dirty="0" smtClean="0"/>
              <a:t>what discovery has suggested to us.</a:t>
            </a:r>
          </a:p>
          <a:p>
            <a:r>
              <a:rPr lang="en-US" b="0" dirty="0">
                <a:solidFill>
                  <a:srgbClr val="FFFF00"/>
                </a:solidFill>
              </a:rPr>
              <a:t>H</a:t>
            </a:r>
            <a:r>
              <a:rPr lang="en-US" b="0" dirty="0" smtClean="0">
                <a:solidFill>
                  <a:srgbClr val="FFFF00"/>
                </a:solidFill>
              </a:rPr>
              <a:t>ypothesis generation</a:t>
            </a:r>
            <a:r>
              <a:rPr lang="en-US" b="0" dirty="0" smtClean="0"/>
              <a:t>, however, depends on metadata that </a:t>
            </a:r>
            <a:r>
              <a:rPr lang="en-US" dirty="0" smtClean="0">
                <a:solidFill>
                  <a:srgbClr val="FFFF00"/>
                </a:solidFill>
              </a:rPr>
              <a:t>annotates</a:t>
            </a:r>
            <a:r>
              <a:rPr lang="en-US" b="0" dirty="0" smtClean="0"/>
              <a:t> the data elements that make up the </a:t>
            </a:r>
            <a:r>
              <a:rPr lang="en-US" dirty="0" smtClean="0">
                <a:solidFill>
                  <a:srgbClr val="FFFF00"/>
                </a:solidFill>
              </a:rPr>
              <a:t>hypothesis discovery view</a:t>
            </a:r>
            <a:r>
              <a:rPr lang="en-US" b="0" dirty="0" smtClean="0"/>
              <a:t>.</a:t>
            </a:r>
            <a:endParaRPr lang="en-US" b="0" i="1"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27</a:t>
            </a:fld>
            <a:endParaRPr lang="en-US"/>
          </a:p>
        </p:txBody>
      </p:sp>
      <p:pic>
        <p:nvPicPr>
          <p:cNvPr id="7" name="Picture 6"/>
          <p:cNvPicPr>
            <a:picLocks noChangeAspect="1"/>
          </p:cNvPicPr>
          <p:nvPr/>
        </p:nvPicPr>
        <p:blipFill>
          <a:blip r:embed="rId2"/>
          <a:stretch>
            <a:fillRect/>
          </a:stretch>
        </p:blipFill>
        <p:spPr>
          <a:xfrm>
            <a:off x="1323315" y="1278302"/>
            <a:ext cx="6471843" cy="4858954"/>
          </a:xfrm>
          <a:prstGeom prst="rect">
            <a:avLst/>
          </a:prstGeom>
          <a:effectLst>
            <a:outerShdw blurRad="101600" dist="88900" dir="2700000" algn="tl" rotWithShape="0">
              <a:srgbClr val="000000">
                <a:alpha val="75000"/>
              </a:srgbClr>
            </a:outerShdw>
          </a:effectLst>
        </p:spPr>
      </p:pic>
    </p:spTree>
    <p:extLst>
      <p:ext uri="{BB962C8B-B14F-4D97-AF65-F5344CB8AC3E}">
        <p14:creationId xmlns:p14="http://schemas.microsoft.com/office/powerpoint/2010/main" val="129331906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Discovery: </a:t>
            </a:r>
            <a:r>
              <a:rPr lang="en-US" i="1" dirty="0" smtClean="0"/>
              <a:t>What is it?</a:t>
            </a:r>
            <a:endParaRPr lang="en-US" i="1" dirty="0"/>
          </a:p>
        </p:txBody>
      </p:sp>
      <p:sp>
        <p:nvSpPr>
          <p:cNvPr id="3" name="Content Placeholder 2"/>
          <p:cNvSpPr>
            <a:spLocks noGrp="1"/>
          </p:cNvSpPr>
          <p:nvPr>
            <p:ph idx="1"/>
          </p:nvPr>
        </p:nvSpPr>
        <p:spPr>
          <a:xfrm>
            <a:off x="441326" y="1367451"/>
            <a:ext cx="8259097" cy="4716353"/>
          </a:xfrm>
        </p:spPr>
        <p:txBody>
          <a:bodyPr>
            <a:normAutofit lnSpcReduction="10000"/>
          </a:bodyPr>
          <a:lstStyle/>
          <a:p>
            <a:r>
              <a:rPr lang="en-US" b="0" dirty="0" smtClean="0"/>
              <a:t>Beyond common data elements, beyond cohort identification and beyond the DDI RDF vocabulary, what if we could</a:t>
            </a:r>
            <a:r>
              <a:rPr lang="en-US" dirty="0" smtClean="0">
                <a:solidFill>
                  <a:srgbClr val="FFFF00"/>
                </a:solidFill>
              </a:rPr>
              <a:t> discover the research questions that studies are able to answer</a:t>
            </a:r>
            <a:r>
              <a:rPr lang="en-US" b="0" dirty="0" smtClean="0"/>
              <a:t>?</a:t>
            </a:r>
          </a:p>
          <a:p>
            <a:r>
              <a:rPr lang="en-US" b="0" dirty="0" smtClean="0"/>
              <a:t>Note we don’t say “the research questions that studies </a:t>
            </a:r>
            <a:r>
              <a:rPr lang="en-US" b="0" i="1" dirty="0" smtClean="0"/>
              <a:t>intended</a:t>
            </a:r>
            <a:r>
              <a:rPr lang="en-US" b="0" dirty="0" smtClean="0"/>
              <a:t> to answer”.</a:t>
            </a:r>
          </a:p>
          <a:p>
            <a:r>
              <a:rPr lang="en-US" b="0" dirty="0" smtClean="0"/>
              <a:t>In a brave new world of research practiced by biology and the genomics revolution we divide samples into two parts:</a:t>
            </a:r>
          </a:p>
          <a:p>
            <a:pPr lvl="1">
              <a:spcBef>
                <a:spcPts val="900"/>
              </a:spcBef>
            </a:pPr>
            <a:r>
              <a:rPr lang="en-US" b="0" dirty="0" smtClean="0"/>
              <a:t>In the first part </a:t>
            </a:r>
            <a:r>
              <a:rPr lang="en-US" sz="2000" b="0" dirty="0" smtClean="0"/>
              <a:t>we </a:t>
            </a:r>
            <a:r>
              <a:rPr lang="en-US" sz="2000" dirty="0" smtClean="0">
                <a:solidFill>
                  <a:srgbClr val="FFFF00"/>
                </a:solidFill>
              </a:rPr>
              <a:t>train</a:t>
            </a:r>
            <a:r>
              <a:rPr lang="en-US" sz="2000" b="0" dirty="0" smtClean="0">
                <a:solidFill>
                  <a:srgbClr val="FFFF00"/>
                </a:solidFill>
              </a:rPr>
              <a:t> </a:t>
            </a:r>
            <a:r>
              <a:rPr lang="en-US" sz="2000" b="0" dirty="0" smtClean="0"/>
              <a:t>programs to </a:t>
            </a:r>
            <a:r>
              <a:rPr lang="en-US" sz="2000" dirty="0" smtClean="0">
                <a:solidFill>
                  <a:srgbClr val="FFFF00"/>
                </a:solidFill>
              </a:rPr>
              <a:t>explore</a:t>
            </a:r>
            <a:r>
              <a:rPr lang="en-US" sz="2000" b="0" dirty="0" smtClean="0">
                <a:solidFill>
                  <a:srgbClr val="FFFF00"/>
                </a:solidFill>
              </a:rPr>
              <a:t> </a:t>
            </a:r>
            <a:r>
              <a:rPr lang="en-US" sz="2000" b="0" dirty="0" smtClean="0"/>
              <a:t>and learn the relationships in a data network.</a:t>
            </a:r>
          </a:p>
          <a:p>
            <a:pPr lvl="1">
              <a:spcBef>
                <a:spcPts val="900"/>
              </a:spcBef>
            </a:pPr>
            <a:r>
              <a:rPr lang="en-US" b="0" dirty="0" smtClean="0"/>
              <a:t>In the </a:t>
            </a:r>
            <a:r>
              <a:rPr lang="en-US" sz="2000" b="0" dirty="0" smtClean="0"/>
              <a:t>second part we try to </a:t>
            </a:r>
            <a:r>
              <a:rPr lang="en-US" sz="2000" dirty="0" smtClean="0">
                <a:solidFill>
                  <a:srgbClr val="FFFF00"/>
                </a:solidFill>
              </a:rPr>
              <a:t>confirm</a:t>
            </a:r>
            <a:r>
              <a:rPr lang="en-US" sz="2000" b="0" dirty="0" smtClean="0">
                <a:solidFill>
                  <a:srgbClr val="FFFF00"/>
                </a:solidFill>
              </a:rPr>
              <a:t> </a:t>
            </a:r>
            <a:r>
              <a:rPr lang="en-US" sz="2000" b="0" dirty="0" smtClean="0"/>
              <a:t>what discovery has suggested to us.</a:t>
            </a:r>
          </a:p>
          <a:p>
            <a:r>
              <a:rPr lang="en-US" b="0" dirty="0">
                <a:solidFill>
                  <a:srgbClr val="FFFF00"/>
                </a:solidFill>
              </a:rPr>
              <a:t>H</a:t>
            </a:r>
            <a:r>
              <a:rPr lang="en-US" b="0" dirty="0" smtClean="0">
                <a:solidFill>
                  <a:srgbClr val="FFFF00"/>
                </a:solidFill>
              </a:rPr>
              <a:t>ypothesis generation</a:t>
            </a:r>
            <a:r>
              <a:rPr lang="en-US" b="0" dirty="0" smtClean="0"/>
              <a:t>, however, depends on metadata that </a:t>
            </a:r>
            <a:r>
              <a:rPr lang="en-US" dirty="0" smtClean="0">
                <a:solidFill>
                  <a:srgbClr val="FFFF00"/>
                </a:solidFill>
              </a:rPr>
              <a:t>annotates</a:t>
            </a:r>
            <a:r>
              <a:rPr lang="en-US" b="0" dirty="0" smtClean="0"/>
              <a:t> the data elements that make up the </a:t>
            </a:r>
            <a:r>
              <a:rPr lang="en-US" dirty="0" smtClean="0">
                <a:solidFill>
                  <a:srgbClr val="FFFF00"/>
                </a:solidFill>
              </a:rPr>
              <a:t>hypothesis discovery view</a:t>
            </a:r>
            <a:r>
              <a:rPr lang="en-US" b="0" dirty="0" smtClean="0"/>
              <a:t>.</a:t>
            </a:r>
            <a:endParaRPr lang="en-US" b="0" i="1"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28</a:t>
            </a:fld>
            <a:endParaRPr lang="en-US"/>
          </a:p>
        </p:txBody>
      </p:sp>
      <p:pic>
        <p:nvPicPr>
          <p:cNvPr id="7" name="Picture 6"/>
          <p:cNvPicPr>
            <a:picLocks noChangeAspect="1"/>
          </p:cNvPicPr>
          <p:nvPr/>
        </p:nvPicPr>
        <p:blipFill>
          <a:blip r:embed="rId2"/>
          <a:stretch>
            <a:fillRect/>
          </a:stretch>
        </p:blipFill>
        <p:spPr>
          <a:xfrm>
            <a:off x="1333712" y="1260661"/>
            <a:ext cx="6467195" cy="4855464"/>
          </a:xfrm>
          <a:prstGeom prst="rect">
            <a:avLst/>
          </a:prstGeom>
          <a:effectLst>
            <a:outerShdw blurRad="101600" dist="88900" dir="2700000" algn="tl" rotWithShape="0">
              <a:srgbClr val="000000">
                <a:alpha val="75000"/>
              </a:srgbClr>
            </a:outerShdw>
          </a:effectLst>
        </p:spPr>
      </p:pic>
    </p:spTree>
    <p:extLst>
      <p:ext uri="{BB962C8B-B14F-4D97-AF65-F5344CB8AC3E}">
        <p14:creationId xmlns:p14="http://schemas.microsoft.com/office/powerpoint/2010/main" val="61364133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7" y="107577"/>
            <a:ext cx="5926620" cy="1762386"/>
          </a:xfrm>
        </p:spPr>
        <p:txBody>
          <a:bodyPr/>
          <a:lstStyle/>
          <a:p>
            <a:r>
              <a:rPr lang="en-US" dirty="0" smtClean="0"/>
              <a:t>To support hypothesis generation we are </a:t>
            </a:r>
            <a:br>
              <a:rPr lang="en-US" dirty="0" smtClean="0"/>
            </a:br>
            <a:r>
              <a:rPr lang="en-US" dirty="0" smtClean="0"/>
              <a:t>proposing a </a:t>
            </a:r>
            <a:r>
              <a:rPr lang="en-US" i="1" dirty="0" smtClean="0"/>
              <a:t>union</a:t>
            </a:r>
            <a:r>
              <a:rPr lang="en-US" dirty="0" smtClean="0"/>
              <a:t>…</a:t>
            </a:r>
            <a:endParaRPr lang="en-US" dirty="0"/>
          </a:p>
        </p:txBody>
      </p:sp>
      <p:sp>
        <p:nvSpPr>
          <p:cNvPr id="3" name="Content Placeholder 2"/>
          <p:cNvSpPr>
            <a:spLocks noGrp="1"/>
          </p:cNvSpPr>
          <p:nvPr>
            <p:ph idx="1"/>
          </p:nvPr>
        </p:nvSpPr>
        <p:spPr>
          <a:xfrm>
            <a:off x="441326" y="1993451"/>
            <a:ext cx="8344085" cy="4059513"/>
          </a:xfrm>
        </p:spPr>
        <p:txBody>
          <a:bodyPr>
            <a:normAutofit/>
          </a:bodyPr>
          <a:lstStyle/>
          <a:p>
            <a:r>
              <a:rPr lang="en-US" b="0" dirty="0" smtClean="0">
                <a:effectLst>
                  <a:outerShdw blurRad="101600" dist="63500" dir="2700000" algn="tl" rotWithShape="0">
                    <a:srgbClr val="000000">
                      <a:alpha val="75000"/>
                    </a:srgbClr>
                  </a:outerShdw>
                </a:effectLst>
              </a:rPr>
              <a:t>In </a:t>
            </a:r>
            <a:r>
              <a:rPr lang="en-US" b="0" dirty="0">
                <a:effectLst>
                  <a:outerShdw blurRad="101600" dist="63500" dir="2700000" algn="tl" rotWithShape="0">
                    <a:srgbClr val="000000">
                      <a:alpha val="75000"/>
                    </a:srgbClr>
                  </a:outerShdw>
                </a:effectLst>
              </a:rPr>
              <a:t>this </a:t>
            </a:r>
            <a:r>
              <a:rPr lang="en-US" dirty="0" smtClean="0">
                <a:solidFill>
                  <a:srgbClr val="FFFF00"/>
                </a:solidFill>
                <a:effectLst>
                  <a:outerShdw blurRad="101600" dist="63500" dir="2700000" algn="tl" rotWithShape="0">
                    <a:srgbClr val="000000">
                      <a:alpha val="75000"/>
                    </a:srgbClr>
                  </a:outerShdw>
                </a:effectLst>
              </a:rPr>
              <a:t>union</a:t>
            </a:r>
            <a:r>
              <a:rPr lang="en-US" b="0" dirty="0" smtClean="0">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using the CONOPS,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first DDI </a:t>
            </a:r>
            <a:r>
              <a:rPr lang="en-US" b="0" dirty="0">
                <a:effectLst>
                  <a:outerShdw blurRad="101600" dist="63500" dir="2700000" algn="tl" rotWithShape="0">
                    <a:srgbClr val="000000">
                      <a:alpha val="75000"/>
                    </a:srgbClr>
                  </a:outerShdw>
                </a:effectLst>
              </a:rPr>
              <a:t>is projected into an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hlinkClick r:id="rId2"/>
              </a:rPr>
              <a:t>OBO Foundry</a:t>
            </a:r>
            <a:r>
              <a:rPr lang="en-US" b="0" dirty="0" smtClean="0">
                <a:effectLst>
                  <a:outerShdw blurRad="101600" dist="63500" dir="2700000" algn="tl" rotWithShape="0">
                    <a:srgbClr val="000000">
                      <a:alpha val="75000"/>
                    </a:srgbClr>
                  </a:outerShdw>
                </a:effectLst>
              </a:rPr>
              <a:t> ontology called the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hlinkClick r:id="rId3"/>
              </a:rPr>
              <a:t>Ontology of Biological Investigations</a:t>
            </a:r>
            <a:r>
              <a:rPr lang="en-US" b="0" dirty="0" smtClean="0">
                <a:effectLst>
                  <a:outerShdw blurRad="101600" dist="63500" dir="2700000" algn="tl" rotWithShape="0">
                    <a:srgbClr val="000000">
                      <a:alpha val="75000"/>
                    </a:srgbClr>
                  </a:outerShdw>
                </a:effectLst>
              </a:rPr>
              <a:t>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(OBI). </a:t>
            </a:r>
          </a:p>
          <a:p>
            <a:r>
              <a:rPr lang="en-US" b="0" dirty="0" smtClean="0">
                <a:effectLst>
                  <a:outerShdw blurRad="101600" dist="63500" dir="2700000" algn="tl" rotWithShape="0">
                    <a:srgbClr val="000000">
                      <a:alpha val="75000"/>
                    </a:srgbClr>
                  </a:outerShdw>
                </a:effectLst>
              </a:rPr>
              <a:t>In </a:t>
            </a:r>
            <a:r>
              <a:rPr lang="en-US" b="0" dirty="0">
                <a:effectLst>
                  <a:outerShdw blurRad="101600" dist="63500" dir="2700000" algn="tl" rotWithShape="0">
                    <a:srgbClr val="000000">
                      <a:alpha val="75000"/>
                    </a:srgbClr>
                  </a:outerShdw>
                </a:effectLst>
              </a:rPr>
              <a:t>this projection OBI is specialized to include the very rich vocabulary of study objects and study processes DDI has developed.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And </a:t>
            </a:r>
            <a:r>
              <a:rPr lang="en-US" b="0" dirty="0">
                <a:effectLst>
                  <a:outerShdw blurRad="101600" dist="63500" dir="2700000" algn="tl" rotWithShape="0">
                    <a:srgbClr val="000000">
                      <a:alpha val="75000"/>
                    </a:srgbClr>
                  </a:outerShdw>
                </a:effectLst>
              </a:rPr>
              <a:t>DDI gains a platform on which to describe</a:t>
            </a:r>
            <a:r>
              <a:rPr lang="en-US" dirty="0">
                <a:solidFill>
                  <a:srgbClr val="FFFF00"/>
                </a:solidFill>
                <a:effectLst>
                  <a:outerShdw blurRad="101600" dist="63500" dir="2700000" algn="tl" rotWithShape="0">
                    <a:srgbClr val="000000">
                      <a:alpha val="75000"/>
                    </a:srgbClr>
                  </a:outerShdw>
                </a:effectLst>
              </a:rPr>
              <a:t> the succession of qualities and dispositions that humans and other entities undergo</a:t>
            </a:r>
            <a:r>
              <a:rPr lang="en-US" b="0" dirty="0">
                <a:effectLst>
                  <a:outerShdw blurRad="101600" dist="63500" dir="2700000" algn="tl" rotWithShape="0">
                    <a:srgbClr val="000000">
                      <a:alpha val="75000"/>
                    </a:srgbClr>
                  </a:outerShdw>
                </a:effectLst>
              </a:rPr>
              <a:t> as a result of a “treatment” in clinical studies or other “occurrences” such as environmental and psychosocial exposures in observational research. </a:t>
            </a:r>
            <a:endParaRPr lang="en-US"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29</a:t>
            </a:fld>
            <a:endParaRPr lang="en-US"/>
          </a:p>
        </p:txBody>
      </p:sp>
      <p:pic>
        <p:nvPicPr>
          <p:cNvPr id="8" name="Picture 7"/>
          <p:cNvPicPr>
            <a:picLocks noChangeAspect="1"/>
          </p:cNvPicPr>
          <p:nvPr/>
        </p:nvPicPr>
        <p:blipFill>
          <a:blip r:embed="rId4"/>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10" name="Oval 9"/>
          <p:cNvSpPr/>
          <p:nvPr/>
        </p:nvSpPr>
        <p:spPr>
          <a:xfrm>
            <a:off x="7151811" y="1257442"/>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355106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900" decel="100000" fill="hold"/>
                                        <p:tgtEl>
                                          <p:spTgt spid="1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After courting but before the union, OBI cuts the following figure…</a:t>
            </a:r>
            <a:endParaRPr lang="en-US"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30</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6030" y="1371319"/>
            <a:ext cx="6666575" cy="4914468"/>
          </a:xfrm>
          <a:prstGeom prst="rect">
            <a:avLst/>
          </a:prstGeom>
          <a:noFill/>
          <a:ln>
            <a:noFill/>
          </a:ln>
          <a:effectLst>
            <a:outerShdw blurRad="101600" dist="88900" dir="2700000" algn="tl" rotWithShape="0">
              <a:srgbClr val="000000">
                <a:alpha val="75000"/>
              </a:srgbClr>
            </a:outerShdw>
          </a:effectLst>
        </p:spPr>
      </p:pic>
      <p:sp>
        <p:nvSpPr>
          <p:cNvPr id="3" name="TextBox 2"/>
          <p:cNvSpPr txBox="1"/>
          <p:nvPr/>
        </p:nvSpPr>
        <p:spPr>
          <a:xfrm>
            <a:off x="6239712" y="-454717"/>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7069868"/>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After dating but before the marriage OBI cuts the following figure…</a:t>
            </a:r>
            <a:endParaRPr lang="en-US"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dirty="0" smtClean="0"/>
              <a:t>Booz Allen Hamilton</a:t>
            </a:r>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31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4326" y="157985"/>
            <a:ext cx="8804108" cy="6490216"/>
          </a:xfrm>
          <a:prstGeom prst="rect">
            <a:avLst/>
          </a:prstGeom>
          <a:noFill/>
          <a:ln w="15875">
            <a:noFill/>
          </a:ln>
          <a:effectLst>
            <a:outerShdw blurRad="63500" dist="88900" dir="2700000" algn="tl" rotWithShape="0">
              <a:srgbClr val="000000">
                <a:alpha val="43000"/>
              </a:srgbClr>
            </a:outerShdw>
          </a:effectLst>
        </p:spPr>
      </p:pic>
    </p:spTree>
    <p:extLst>
      <p:ext uri="{BB962C8B-B14F-4D97-AF65-F5344CB8AC3E}">
        <p14:creationId xmlns:p14="http://schemas.microsoft.com/office/powerpoint/2010/main" val="207703626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7" y="107577"/>
            <a:ext cx="4638918" cy="1762386"/>
          </a:xfrm>
        </p:spPr>
        <p:txBody>
          <a:bodyPr/>
          <a:lstStyle/>
          <a:p>
            <a:r>
              <a:rPr lang="en-US" dirty="0" smtClean="0"/>
              <a:t>Upon the union OBI undergoes specialization…</a:t>
            </a:r>
            <a:endParaRPr lang="en-US" dirty="0"/>
          </a:p>
        </p:txBody>
      </p:sp>
      <p:sp>
        <p:nvSpPr>
          <p:cNvPr id="3" name="Content Placeholder 2"/>
          <p:cNvSpPr>
            <a:spLocks noGrp="1"/>
          </p:cNvSpPr>
          <p:nvPr>
            <p:ph idx="1"/>
          </p:nvPr>
        </p:nvSpPr>
        <p:spPr>
          <a:xfrm>
            <a:off x="441326" y="1993451"/>
            <a:ext cx="8344085" cy="4362899"/>
          </a:xfrm>
        </p:spPr>
        <p:txBody>
          <a:bodyPr>
            <a:normAutofit fontScale="92500" lnSpcReduction="10000"/>
          </a:bodyPr>
          <a:lstStyle/>
          <a:p>
            <a:r>
              <a:rPr lang="en-US" sz="2200" b="0" dirty="0">
                <a:effectLst>
                  <a:outerShdw blurRad="101600" dist="63500" dir="2700000" algn="tl" rotWithShape="0">
                    <a:srgbClr val="000000">
                      <a:alpha val="75000"/>
                    </a:srgbClr>
                  </a:outerShdw>
                </a:effectLst>
              </a:rPr>
              <a:t>Using </a:t>
            </a:r>
            <a:r>
              <a:rPr lang="en-US" sz="2200" dirty="0">
                <a:solidFill>
                  <a:srgbClr val="FFFF00"/>
                </a:solidFill>
                <a:effectLst>
                  <a:outerShdw blurRad="101600" dist="63500" dir="2700000" algn="tl" rotWithShape="0">
                    <a:srgbClr val="000000">
                      <a:alpha val="75000"/>
                    </a:srgbClr>
                  </a:outerShdw>
                </a:effectLst>
              </a:rPr>
              <a:t>DDI UML </a:t>
            </a:r>
            <a:r>
              <a:rPr lang="en-US" sz="2200" b="0" dirty="0">
                <a:effectLst>
                  <a:outerShdw blurRad="101600" dist="63500" dir="2700000" algn="tl" rotWithShape="0">
                    <a:srgbClr val="000000">
                      <a:alpha val="75000"/>
                    </a:srgbClr>
                  </a:outerShdw>
                </a:effectLst>
              </a:rPr>
              <a:t>and </a:t>
            </a:r>
            <a:r>
              <a:rPr lang="en-US" sz="2200" dirty="0">
                <a:solidFill>
                  <a:srgbClr val="FFFF00"/>
                </a:solidFill>
                <a:effectLst>
                  <a:outerShdw blurRad="101600" dist="63500" dir="2700000" algn="tl" rotWithShape="0">
                    <a:srgbClr val="000000">
                      <a:alpha val="75000"/>
                    </a:srgbClr>
                  </a:outerShdw>
                </a:effectLst>
              </a:rPr>
              <a:t>certain rules</a:t>
            </a:r>
            <a:r>
              <a:rPr lang="en-US" sz="2200" b="0" dirty="0">
                <a:effectLst>
                  <a:outerShdw blurRad="101600" dist="63500" dir="2700000" algn="tl" rotWithShape="0">
                    <a:srgbClr val="000000">
                      <a:alpha val="75000"/>
                    </a:srgbClr>
                  </a:outerShdw>
                </a:effectLst>
              </a:rPr>
              <a:t>, in </a:t>
            </a:r>
            <a:r>
              <a:rPr lang="en-US" sz="2200" b="0" dirty="0" smtClean="0">
                <a:effectLst>
                  <a:outerShdw blurRad="101600" dist="63500" dir="2700000" algn="tl" rotWithShape="0">
                    <a:srgbClr val="000000">
                      <a:alpha val="75000"/>
                    </a:srgbClr>
                  </a:outerShdw>
                </a:effectLst>
              </a:rPr>
              <a:t/>
            </a:r>
            <a:br>
              <a:rPr lang="en-US" sz="2200" b="0" dirty="0" smtClean="0">
                <a:effectLst>
                  <a:outerShdw blurRad="101600" dist="63500" dir="2700000" algn="tl" rotWithShape="0">
                    <a:srgbClr val="000000">
                      <a:alpha val="75000"/>
                    </a:srgbClr>
                  </a:outerShdw>
                </a:effectLst>
              </a:rPr>
            </a:br>
            <a:r>
              <a:rPr lang="en-US" sz="2200" b="0" dirty="0" smtClean="0">
                <a:effectLst>
                  <a:outerShdw blurRad="101600" dist="63500" dir="2700000" algn="tl" rotWithShape="0">
                    <a:srgbClr val="000000">
                      <a:alpha val="75000"/>
                    </a:srgbClr>
                  </a:outerShdw>
                </a:effectLst>
              </a:rPr>
              <a:t>the </a:t>
            </a:r>
            <a:r>
              <a:rPr lang="en-US" sz="2200" b="0" dirty="0">
                <a:effectLst>
                  <a:outerShdw blurRad="101600" dist="63500" dir="2700000" algn="tl" rotWithShape="0">
                    <a:srgbClr val="000000">
                      <a:alpha val="75000"/>
                    </a:srgbClr>
                  </a:outerShdw>
                </a:effectLst>
              </a:rPr>
              <a:t>future it will be possible to </a:t>
            </a:r>
            <a:r>
              <a:rPr lang="en-US" sz="2200" b="0" dirty="0" smtClean="0">
                <a:effectLst>
                  <a:outerShdw blurRad="101600" dist="63500" dir="2700000" algn="tl" rotWithShape="0">
                    <a:srgbClr val="000000">
                      <a:alpha val="75000"/>
                    </a:srgbClr>
                  </a:outerShdw>
                </a:effectLst>
              </a:rPr>
              <a:t/>
            </a:r>
            <a:br>
              <a:rPr lang="en-US" sz="2200" b="0" dirty="0" smtClean="0">
                <a:effectLst>
                  <a:outerShdw blurRad="101600" dist="63500" dir="2700000" algn="tl" rotWithShape="0">
                    <a:srgbClr val="000000">
                      <a:alpha val="75000"/>
                    </a:srgbClr>
                  </a:outerShdw>
                </a:effectLst>
              </a:rPr>
            </a:br>
            <a:r>
              <a:rPr lang="en-US" sz="2200" dirty="0" smtClean="0">
                <a:solidFill>
                  <a:srgbClr val="FFFF00"/>
                </a:solidFill>
                <a:effectLst>
                  <a:outerShdw blurRad="101600" dist="63500" dir="2700000" algn="tl" rotWithShape="0">
                    <a:srgbClr val="000000">
                      <a:alpha val="75000"/>
                    </a:srgbClr>
                  </a:outerShdw>
                </a:effectLst>
              </a:rPr>
              <a:t>derive</a:t>
            </a:r>
            <a:r>
              <a:rPr lang="en-US" sz="2200" b="0" dirty="0" smtClean="0">
                <a:solidFill>
                  <a:srgbClr val="FFFF00"/>
                </a:solidFill>
                <a:effectLst>
                  <a:outerShdw blurRad="101600" dist="63500" dir="2700000" algn="tl" rotWithShape="0">
                    <a:srgbClr val="000000">
                      <a:alpha val="75000"/>
                    </a:srgbClr>
                  </a:outerShdw>
                </a:effectLst>
              </a:rPr>
              <a:t> </a:t>
            </a:r>
            <a:r>
              <a:rPr lang="en-US" sz="2200" b="0" dirty="0" smtClean="0">
                <a:effectLst>
                  <a:outerShdw blurRad="101600" dist="63500" dir="2700000" algn="tl" rotWithShape="0">
                    <a:srgbClr val="000000">
                      <a:alpha val="75000"/>
                    </a:srgbClr>
                  </a:outerShdw>
                </a:effectLst>
              </a:rPr>
              <a:t>a DDI infused </a:t>
            </a:r>
            <a:r>
              <a:rPr lang="en-US" sz="2200" dirty="0">
                <a:solidFill>
                  <a:srgbClr val="FFFF00"/>
                </a:solidFill>
                <a:effectLst>
                  <a:outerShdw blurRad="101600" dist="63500" dir="2700000" algn="tl" rotWithShape="0">
                    <a:srgbClr val="000000">
                      <a:alpha val="75000"/>
                    </a:srgbClr>
                  </a:outerShdw>
                </a:effectLst>
              </a:rPr>
              <a:t>OBI-based OWL</a:t>
            </a:r>
            <a:r>
              <a:rPr lang="en-US" sz="2200" b="0" dirty="0">
                <a:effectLst>
                  <a:outerShdw blurRad="101600" dist="63500" dir="2700000" algn="tl" rotWithShape="0">
                    <a:srgbClr val="000000">
                      <a:alpha val="75000"/>
                    </a:srgbClr>
                  </a:outerShdw>
                </a:effectLst>
              </a:rPr>
              <a:t> </a:t>
            </a:r>
            <a:r>
              <a:rPr lang="en-US" sz="2200" b="0" dirty="0" smtClean="0">
                <a:effectLst>
                  <a:outerShdw blurRad="101600" dist="63500" dir="2700000" algn="tl" rotWithShape="0">
                    <a:srgbClr val="000000">
                      <a:alpha val="75000"/>
                    </a:srgbClr>
                  </a:outerShdw>
                </a:effectLst>
              </a:rPr>
              <a:t/>
            </a:r>
            <a:br>
              <a:rPr lang="en-US" sz="2200" b="0" dirty="0" smtClean="0">
                <a:effectLst>
                  <a:outerShdw blurRad="101600" dist="63500" dir="2700000" algn="tl" rotWithShape="0">
                    <a:srgbClr val="000000">
                      <a:alpha val="75000"/>
                    </a:srgbClr>
                  </a:outerShdw>
                </a:effectLst>
              </a:rPr>
            </a:br>
            <a:r>
              <a:rPr lang="en-US" sz="2200" b="0" dirty="0" smtClean="0">
                <a:effectLst>
                  <a:outerShdw blurRad="101600" dist="63500" dir="2700000" algn="tl" rotWithShape="0">
                    <a:srgbClr val="000000">
                      <a:alpha val="75000"/>
                    </a:srgbClr>
                  </a:outerShdw>
                </a:effectLst>
              </a:rPr>
              <a:t>to describe</a:t>
            </a:r>
            <a:r>
              <a:rPr lang="en-US" sz="2200" b="0" dirty="0">
                <a:effectLst>
                  <a:outerShdw blurRad="101600" dist="63500" dir="2700000" algn="tl" rotWithShape="0">
                    <a:srgbClr val="000000">
                      <a:alpha val="75000"/>
                    </a:srgbClr>
                  </a:outerShdw>
                </a:effectLst>
              </a:rPr>
              <a:t>, for example, a simple or </a:t>
            </a:r>
            <a:r>
              <a:rPr lang="en-US" sz="2200" b="0" dirty="0" smtClean="0">
                <a:effectLst>
                  <a:outerShdw blurRad="101600" dist="63500" dir="2700000" algn="tl" rotWithShape="0">
                    <a:srgbClr val="000000">
                      <a:alpha val="75000"/>
                    </a:srgbClr>
                  </a:outerShdw>
                </a:effectLst>
              </a:rPr>
              <a:t/>
            </a:r>
            <a:br>
              <a:rPr lang="en-US" sz="2200" b="0" dirty="0" smtClean="0">
                <a:effectLst>
                  <a:outerShdw blurRad="101600" dist="63500" dir="2700000" algn="tl" rotWithShape="0">
                    <a:srgbClr val="000000">
                      <a:alpha val="75000"/>
                    </a:srgbClr>
                  </a:outerShdw>
                </a:effectLst>
              </a:rPr>
            </a:br>
            <a:r>
              <a:rPr lang="en-US" sz="2200" b="0" dirty="0" smtClean="0">
                <a:effectLst>
                  <a:outerShdw blurRad="101600" dist="63500" dir="2700000" algn="tl" rotWithShape="0">
                    <a:srgbClr val="000000">
                      <a:alpha val="75000"/>
                    </a:srgbClr>
                  </a:outerShdw>
                </a:effectLst>
              </a:rPr>
              <a:t>an advanced survey: </a:t>
            </a:r>
          </a:p>
          <a:p>
            <a:pPr lvl="1">
              <a:spcBef>
                <a:spcPts val="1500"/>
              </a:spcBef>
            </a:pPr>
            <a:r>
              <a:rPr lang="en-US" sz="2100" b="0" dirty="0">
                <a:effectLst>
                  <a:outerShdw blurRad="101600" dist="63500" dir="2700000" algn="tl" rotWithShape="0">
                    <a:srgbClr val="000000">
                      <a:alpha val="75000"/>
                    </a:srgbClr>
                  </a:outerShdw>
                </a:effectLst>
              </a:rPr>
              <a:t>A</a:t>
            </a:r>
            <a:r>
              <a:rPr lang="en-US" sz="2100" b="0" dirty="0" smtClean="0">
                <a:effectLst>
                  <a:outerShdw blurRad="101600" dist="63500" dir="2700000" algn="tl" rotWithShape="0">
                    <a:srgbClr val="000000">
                      <a:alpha val="75000"/>
                    </a:srgbClr>
                  </a:outerShdw>
                </a:effectLst>
              </a:rPr>
              <a:t> </a:t>
            </a:r>
            <a:r>
              <a:rPr lang="en-US" sz="2100" dirty="0">
                <a:solidFill>
                  <a:srgbClr val="FFFF00"/>
                </a:solidFill>
                <a:effectLst>
                  <a:outerShdw blurRad="101600" dist="63500" dir="2700000" algn="tl" rotWithShape="0">
                    <a:srgbClr val="000000">
                      <a:alpha val="75000"/>
                    </a:srgbClr>
                  </a:outerShdw>
                </a:effectLst>
              </a:rPr>
              <a:t>wave entity </a:t>
            </a:r>
            <a:r>
              <a:rPr lang="en-US" sz="2100" b="0" dirty="0">
                <a:effectLst>
                  <a:outerShdw blurRad="101600" dist="63500" dir="2700000" algn="tl" rotWithShape="0">
                    <a:srgbClr val="000000">
                      <a:alpha val="75000"/>
                    </a:srgbClr>
                  </a:outerShdw>
                </a:effectLst>
              </a:rPr>
              <a:t>might be added to the </a:t>
            </a:r>
            <a:r>
              <a:rPr lang="en-US" sz="2100" b="0" dirty="0" smtClean="0">
                <a:effectLst>
                  <a:outerShdw blurRad="101600" dist="63500" dir="2700000" algn="tl" rotWithShape="0">
                    <a:srgbClr val="000000">
                      <a:alpha val="75000"/>
                    </a:srgbClr>
                  </a:outerShdw>
                </a:effectLst>
              </a:rPr>
              <a:t>protocol.</a:t>
            </a:r>
          </a:p>
          <a:p>
            <a:pPr lvl="1">
              <a:spcBef>
                <a:spcPts val="900"/>
              </a:spcBef>
            </a:pPr>
            <a:r>
              <a:rPr lang="en-US" sz="2100" b="0" dirty="0" smtClean="0">
                <a:effectLst>
                  <a:outerShdw blurRad="101600" dist="63500" dir="2700000" algn="tl" rotWithShape="0">
                    <a:srgbClr val="000000">
                      <a:alpha val="75000"/>
                    </a:srgbClr>
                  </a:outerShdw>
                </a:effectLst>
              </a:rPr>
              <a:t>An </a:t>
            </a:r>
            <a:r>
              <a:rPr lang="en-US" sz="2100" dirty="0">
                <a:solidFill>
                  <a:srgbClr val="FFFF00"/>
                </a:solidFill>
                <a:effectLst>
                  <a:outerShdw blurRad="101600" dist="63500" dir="2700000" algn="tl" rotWithShape="0">
                    <a:srgbClr val="000000">
                      <a:alpha val="75000"/>
                    </a:srgbClr>
                  </a:outerShdw>
                </a:effectLst>
              </a:rPr>
              <a:t>instrument entity </a:t>
            </a:r>
            <a:r>
              <a:rPr lang="en-US" sz="2100" b="0" dirty="0">
                <a:effectLst>
                  <a:outerShdw blurRad="101600" dist="63500" dir="2700000" algn="tl" rotWithShape="0">
                    <a:srgbClr val="000000">
                      <a:alpha val="75000"/>
                    </a:srgbClr>
                  </a:outerShdw>
                </a:effectLst>
              </a:rPr>
              <a:t>might be added to arrange </a:t>
            </a:r>
            <a:r>
              <a:rPr lang="en-US" sz="2100" b="0" dirty="0" smtClean="0">
                <a:effectLst>
                  <a:outerShdw blurRad="101600" dist="63500" dir="2700000" algn="tl" rotWithShape="0">
                    <a:srgbClr val="000000">
                      <a:alpha val="75000"/>
                    </a:srgbClr>
                  </a:outerShdw>
                </a:effectLst>
              </a:rPr>
              <a:t>assays.</a:t>
            </a:r>
          </a:p>
          <a:p>
            <a:pPr lvl="1">
              <a:spcBef>
                <a:spcPts val="900"/>
              </a:spcBef>
            </a:pPr>
            <a:r>
              <a:rPr lang="en-US" sz="2100" b="0" dirty="0" smtClean="0">
                <a:effectLst>
                  <a:outerShdw blurRad="101600" dist="63500" dir="2700000" algn="tl" rotWithShape="0">
                    <a:srgbClr val="000000">
                      <a:alpha val="75000"/>
                    </a:srgbClr>
                  </a:outerShdw>
                </a:effectLst>
              </a:rPr>
              <a:t>The </a:t>
            </a:r>
            <a:r>
              <a:rPr lang="en-US" sz="2100" dirty="0">
                <a:solidFill>
                  <a:srgbClr val="FFFF00"/>
                </a:solidFill>
                <a:effectLst>
                  <a:outerShdw blurRad="101600" dist="63500" dir="2700000" algn="tl" rotWithShape="0">
                    <a:srgbClr val="000000">
                      <a:alpha val="75000"/>
                    </a:srgbClr>
                  </a:outerShdw>
                </a:effectLst>
              </a:rPr>
              <a:t>DataElement entity </a:t>
            </a:r>
            <a:r>
              <a:rPr lang="en-US" sz="2100" b="0" dirty="0">
                <a:effectLst>
                  <a:outerShdw blurRad="101600" dist="63500" dir="2700000" algn="tl" rotWithShape="0">
                    <a:srgbClr val="000000">
                      <a:alpha val="75000"/>
                    </a:srgbClr>
                  </a:outerShdw>
                </a:effectLst>
              </a:rPr>
              <a:t>might be introduced in order to account for successive versions of an </a:t>
            </a:r>
            <a:r>
              <a:rPr lang="en-US" sz="2100" b="0" dirty="0" smtClean="0">
                <a:effectLst>
                  <a:outerShdw blurRad="101600" dist="63500" dir="2700000" algn="tl" rotWithShape="0">
                    <a:srgbClr val="000000">
                      <a:alpha val="75000"/>
                    </a:srgbClr>
                  </a:outerShdw>
                </a:effectLst>
              </a:rPr>
              <a:t>assay and </a:t>
            </a:r>
            <a:r>
              <a:rPr lang="en-US" sz="2100" b="0" dirty="0">
                <a:effectLst>
                  <a:outerShdw blurRad="101600" dist="63500" dir="2700000" algn="tl" rotWithShape="0">
                    <a:srgbClr val="000000">
                      <a:alpha val="75000"/>
                    </a:srgbClr>
                  </a:outerShdw>
                </a:effectLst>
              </a:rPr>
              <a:t>so forth. </a:t>
            </a:r>
            <a:endParaRPr lang="en-US" sz="2100" b="0" dirty="0" smtClean="0">
              <a:effectLst>
                <a:outerShdw blurRad="101600" dist="63500" dir="2700000" algn="tl" rotWithShape="0">
                  <a:srgbClr val="000000">
                    <a:alpha val="75000"/>
                  </a:srgbClr>
                </a:outerShdw>
              </a:effectLst>
            </a:endParaRPr>
          </a:p>
          <a:p>
            <a:pPr lvl="1">
              <a:spcBef>
                <a:spcPts val="900"/>
              </a:spcBef>
            </a:pPr>
            <a:r>
              <a:rPr lang="en-US" sz="2100" b="0" dirty="0" smtClean="0">
                <a:effectLst>
                  <a:outerShdw blurRad="101600" dist="63500" dir="2700000" algn="tl" rotWithShape="0">
                    <a:srgbClr val="000000">
                      <a:alpha val="75000"/>
                    </a:srgbClr>
                  </a:outerShdw>
                </a:effectLst>
              </a:rPr>
              <a:t>One </a:t>
            </a:r>
            <a:r>
              <a:rPr lang="en-US" sz="2100" b="0" dirty="0">
                <a:effectLst>
                  <a:outerShdw blurRad="101600" dist="63500" dir="2700000" algn="tl" rotWithShape="0">
                    <a:srgbClr val="000000">
                      <a:alpha val="75000"/>
                    </a:srgbClr>
                  </a:outerShdw>
                </a:effectLst>
              </a:rPr>
              <a:t>set of specializations might grow </a:t>
            </a:r>
            <a:r>
              <a:rPr lang="en-US" sz="2100" b="0" dirty="0" smtClean="0">
                <a:effectLst>
                  <a:outerShdw blurRad="101600" dist="63500" dir="2700000" algn="tl" rotWithShape="0">
                    <a:srgbClr val="000000">
                      <a:alpha val="75000"/>
                    </a:srgbClr>
                  </a:outerShdw>
                </a:effectLst>
              </a:rPr>
              <a:t>OBI </a:t>
            </a:r>
            <a:r>
              <a:rPr lang="en-US" sz="2100" b="0" dirty="0">
                <a:effectLst>
                  <a:outerShdw blurRad="101600" dist="63500" dir="2700000" algn="tl" rotWithShape="0">
                    <a:srgbClr val="000000">
                      <a:alpha val="75000"/>
                    </a:srgbClr>
                  </a:outerShdw>
                </a:effectLst>
              </a:rPr>
              <a:t>into a template suited for describing observational studies of behavior. </a:t>
            </a:r>
            <a:endParaRPr lang="en-US" sz="2100" b="0" dirty="0" smtClean="0">
              <a:effectLst>
                <a:outerShdw blurRad="101600" dist="63500" dir="2700000" algn="tl" rotWithShape="0">
                  <a:srgbClr val="000000">
                    <a:alpha val="75000"/>
                  </a:srgbClr>
                </a:outerShdw>
              </a:effectLst>
            </a:endParaRPr>
          </a:p>
          <a:p>
            <a:pPr lvl="1">
              <a:spcBef>
                <a:spcPts val="900"/>
              </a:spcBef>
            </a:pPr>
            <a:r>
              <a:rPr lang="en-US" sz="2100" b="0" dirty="0" smtClean="0">
                <a:effectLst>
                  <a:outerShdw blurRad="101600" dist="63500" dir="2700000" algn="tl" rotWithShape="0">
                    <a:srgbClr val="000000">
                      <a:alpha val="75000"/>
                    </a:srgbClr>
                  </a:outerShdw>
                </a:effectLst>
              </a:rPr>
              <a:t>Another </a:t>
            </a:r>
            <a:r>
              <a:rPr lang="en-US" sz="2100" b="0" dirty="0">
                <a:effectLst>
                  <a:outerShdw blurRad="101600" dist="63500" dir="2700000" algn="tl" rotWithShape="0">
                    <a:srgbClr val="000000">
                      <a:alpha val="75000"/>
                    </a:srgbClr>
                  </a:outerShdw>
                </a:effectLst>
              </a:rPr>
              <a:t>set of specializations might enable this figure to describe clinical research. </a:t>
            </a: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32</a:t>
            </a:fld>
            <a:endParaRPr lang="en-US"/>
          </a:p>
        </p:txBody>
      </p:sp>
      <p:pic>
        <p:nvPicPr>
          <p:cNvPr id="8" name="Picture 7"/>
          <p:cNvPicPr>
            <a:picLocks noChangeAspect="1"/>
          </p:cNvPicPr>
          <p:nvPr/>
        </p:nvPicPr>
        <p:blipFill>
          <a:blip r:embed="rId2"/>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10" name="Oval 9"/>
          <p:cNvSpPr/>
          <p:nvPr/>
        </p:nvSpPr>
        <p:spPr>
          <a:xfrm>
            <a:off x="7151811" y="1257442"/>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937043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900" decel="100000" fill="hold"/>
                                        <p:tgtEl>
                                          <p:spTgt spid="1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7" y="107577"/>
            <a:ext cx="4638918" cy="1762386"/>
          </a:xfrm>
        </p:spPr>
        <p:txBody>
          <a:bodyPr/>
          <a:lstStyle/>
          <a:p>
            <a:r>
              <a:rPr lang="en-US" dirty="0" smtClean="0">
                <a:effectLst>
                  <a:outerShdw blurRad="101600" dist="63500" dir="2700000" algn="tl" rotWithShape="0">
                    <a:srgbClr val="000000">
                      <a:alpha val="75000"/>
                    </a:srgbClr>
                  </a:outerShdw>
                </a:effectLst>
              </a:rPr>
              <a:t>Next, </a:t>
            </a:r>
            <a:r>
              <a:rPr lang="en-US" dirty="0">
                <a:effectLst>
                  <a:outerShdw blurRad="101600" dist="63500" dir="2700000" algn="tl" rotWithShape="0">
                    <a:srgbClr val="000000">
                      <a:alpha val="75000"/>
                    </a:srgbClr>
                  </a:outerShdw>
                </a:effectLst>
              </a:rPr>
              <a:t>using a DDI XML </a:t>
            </a:r>
            <a:r>
              <a:rPr lang="en-US" dirty="0" smtClean="0">
                <a:effectLst>
                  <a:outerShdw blurRad="101600" dist="63500" dir="2700000" algn="tl" rotWithShape="0">
                    <a:srgbClr val="000000">
                      <a:alpha val="75000"/>
                    </a:srgbClr>
                  </a:outerShdw>
                </a:effectLst>
              </a:rPr>
              <a:t>study instance</a:t>
            </a:r>
            <a:r>
              <a:rPr lang="en-US" dirty="0">
                <a:effectLst>
                  <a:outerShdw blurRad="101600" dist="63500" dir="2700000" algn="tl" rotWithShape="0">
                    <a:srgbClr val="000000">
                      <a:alpha val="75000"/>
                    </a:srgbClr>
                  </a:outerShdw>
                </a:effectLst>
              </a:rPr>
              <a:t>, it will be </a:t>
            </a:r>
            <a:r>
              <a:rPr lang="en-US" dirty="0" smtClean="0">
                <a:effectLst>
                  <a:outerShdw blurRad="101600" dist="63500" dir="2700000" algn="tl" rotWithShape="0">
                    <a:srgbClr val="000000">
                      <a:alpha val="75000"/>
                    </a:srgbClr>
                  </a:outerShdw>
                </a:effectLst>
              </a:rPr>
              <a:t>possible…</a:t>
            </a:r>
            <a:endParaRPr lang="en-US" dirty="0">
              <a:effectLst>
                <a:outerShdw blurRad="101600" dist="63500" dir="2700000" algn="tl" rotWithShape="0">
                  <a:srgbClr val="000000">
                    <a:alpha val="75000"/>
                  </a:srgbClr>
                </a:outerShdw>
              </a:effectLst>
            </a:endParaRPr>
          </a:p>
        </p:txBody>
      </p:sp>
      <p:sp>
        <p:nvSpPr>
          <p:cNvPr id="3" name="Content Placeholder 2"/>
          <p:cNvSpPr>
            <a:spLocks noGrp="1"/>
          </p:cNvSpPr>
          <p:nvPr>
            <p:ph idx="1"/>
          </p:nvPr>
        </p:nvSpPr>
        <p:spPr>
          <a:xfrm>
            <a:off x="441326" y="1993451"/>
            <a:ext cx="8344085" cy="4059513"/>
          </a:xfrm>
        </p:spPr>
        <p:txBody>
          <a:bodyPr>
            <a:normAutofit/>
          </a:bodyPr>
          <a:lstStyle/>
          <a:p>
            <a:r>
              <a:rPr lang="en-US" b="0" dirty="0" smtClean="0">
                <a:effectLst>
                  <a:outerShdw blurRad="101600" dist="63500" dir="2700000" algn="tl" rotWithShape="0">
                    <a:srgbClr val="000000">
                      <a:alpha val="75000"/>
                    </a:srgbClr>
                  </a:outerShdw>
                </a:effectLst>
              </a:rPr>
              <a:t>…to </a:t>
            </a:r>
            <a:r>
              <a:rPr lang="en-US" b="0" dirty="0">
                <a:effectLst>
                  <a:outerShdw blurRad="101600" dist="63500" dir="2700000" algn="tl" rotWithShape="0">
                    <a:srgbClr val="000000">
                      <a:alpha val="75000"/>
                    </a:srgbClr>
                  </a:outerShdw>
                </a:effectLst>
              </a:rPr>
              <a:t>complete this ontology for an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actual </a:t>
            </a:r>
            <a:r>
              <a:rPr lang="en-US" b="0" dirty="0">
                <a:effectLst>
                  <a:outerShdw blurRad="101600" dist="63500" dir="2700000" algn="tl" rotWithShape="0">
                    <a:srgbClr val="000000">
                      <a:alpha val="75000"/>
                    </a:srgbClr>
                  </a:outerShdw>
                </a:effectLst>
              </a:rPr>
              <a:t>study, filling in the specific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measurements</a:t>
            </a:r>
            <a:r>
              <a:rPr lang="en-US" b="0" dirty="0">
                <a:effectLst>
                  <a:outerShdw blurRad="101600" dist="63500" dir="2700000" algn="tl" rotWithShape="0">
                    <a:srgbClr val="000000">
                      <a:alpha val="75000"/>
                    </a:srgbClr>
                  </a:outerShdw>
                </a:effectLst>
              </a:rPr>
              <a:t>, qualities, dispositions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and </a:t>
            </a:r>
            <a:r>
              <a:rPr lang="en-US" b="0" dirty="0">
                <a:effectLst>
                  <a:outerShdw blurRad="101600" dist="63500" dir="2700000" algn="tl" rotWithShape="0">
                    <a:srgbClr val="000000">
                      <a:alpha val="75000"/>
                    </a:srgbClr>
                  </a:outerShdw>
                </a:effectLst>
              </a:rPr>
              <a:t>triggers that fall within its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purview</a:t>
            </a:r>
            <a:r>
              <a:rPr lang="en-US" b="0" dirty="0">
                <a:effectLst>
                  <a:outerShdw blurRad="101600" dist="63500" dir="2700000" algn="tl" rotWithShape="0">
                    <a:srgbClr val="000000">
                      <a:alpha val="75000"/>
                    </a:srgbClr>
                  </a:outerShdw>
                </a:effectLst>
              </a:rPr>
              <a:t>.</a:t>
            </a:r>
          </a:p>
          <a:p>
            <a:r>
              <a:rPr lang="en-US" dirty="0">
                <a:solidFill>
                  <a:srgbClr val="FFFF00"/>
                </a:solidFill>
                <a:effectLst>
                  <a:outerShdw blurRad="101600" dist="63500" dir="2700000" algn="tl" rotWithShape="0">
                    <a:srgbClr val="000000">
                      <a:alpha val="75000"/>
                    </a:srgbClr>
                  </a:outerShdw>
                </a:effectLst>
              </a:rPr>
              <a:t>Instantiating </a:t>
            </a:r>
            <a:r>
              <a:rPr lang="en-US" dirty="0" smtClean="0">
                <a:solidFill>
                  <a:srgbClr val="FFFF00"/>
                </a:solidFill>
                <a:effectLst>
                  <a:outerShdw blurRad="101600" dist="63500" dir="2700000" algn="tl" rotWithShape="0">
                    <a:srgbClr val="000000">
                      <a:alpha val="75000"/>
                    </a:srgbClr>
                  </a:outerShdw>
                </a:effectLst>
              </a:rPr>
              <a:t>OWL Extended </a:t>
            </a:r>
            <a:r>
              <a:rPr lang="en-US" b="0" dirty="0">
                <a:effectLst>
                  <a:outerShdw blurRad="101600" dist="63500" dir="2700000" algn="tl" rotWithShape="0">
                    <a:srgbClr val="000000">
                      <a:alpha val="75000"/>
                    </a:srgbClr>
                  </a:outerShdw>
                </a:effectLst>
              </a:rPr>
              <a:t>using a DDI XML </a:t>
            </a:r>
            <a:r>
              <a:rPr lang="en-US" b="0" dirty="0" smtClean="0">
                <a:effectLst>
                  <a:outerShdw blurRad="101600" dist="63500" dir="2700000" algn="tl" rotWithShape="0">
                    <a:srgbClr val="000000">
                      <a:alpha val="75000"/>
                    </a:srgbClr>
                  </a:outerShdw>
                </a:effectLst>
              </a:rPr>
              <a:t>instance </a:t>
            </a:r>
            <a:r>
              <a:rPr lang="en-US" b="0" dirty="0">
                <a:effectLst>
                  <a:outerShdw blurRad="101600" dist="63500" dir="2700000" algn="tl" rotWithShape="0">
                    <a:srgbClr val="000000">
                      <a:alpha val="75000"/>
                    </a:srgbClr>
                  </a:outerShdw>
                </a:effectLst>
              </a:rPr>
              <a:t>will require </a:t>
            </a:r>
            <a:r>
              <a:rPr lang="en-US" dirty="0">
                <a:solidFill>
                  <a:srgbClr val="FFFF00"/>
                </a:solidFill>
                <a:effectLst>
                  <a:outerShdw blurRad="101600" dist="63500" dir="2700000" algn="tl" rotWithShape="0">
                    <a:srgbClr val="000000">
                      <a:alpha val="75000"/>
                    </a:srgbClr>
                  </a:outerShdw>
                </a:effectLst>
              </a:rPr>
              <a:t>leveraging </a:t>
            </a:r>
            <a:r>
              <a:rPr lang="en-US" dirty="0" smtClean="0">
                <a:solidFill>
                  <a:srgbClr val="FFFF00"/>
                </a:solidFill>
                <a:effectLst>
                  <a:outerShdw blurRad="101600" dist="63500" dir="2700000" algn="tl" rotWithShape="0">
                    <a:srgbClr val="000000">
                      <a:alpha val="75000"/>
                    </a:srgbClr>
                  </a:outerShdw>
                </a:effectLst>
              </a:rPr>
              <a:t>study-specific </a:t>
            </a:r>
            <a:r>
              <a:rPr lang="en-US" dirty="0">
                <a:solidFill>
                  <a:srgbClr val="FFFF00"/>
                </a:solidFill>
                <a:effectLst>
                  <a:outerShdw blurRad="101600" dist="63500" dir="2700000" algn="tl" rotWithShape="0">
                    <a:srgbClr val="000000">
                      <a:alpha val="75000"/>
                    </a:srgbClr>
                  </a:outerShdw>
                </a:effectLst>
              </a:rPr>
              <a:t>DDI controlled vocabularies (</a:t>
            </a:r>
            <a:r>
              <a:rPr lang="en-US" dirty="0" smtClean="0">
                <a:solidFill>
                  <a:srgbClr val="FFFF00"/>
                </a:solidFill>
                <a:effectLst>
                  <a:outerShdw blurRad="101600" dist="63500" dir="2700000" algn="tl" rotWithShape="0">
                    <a:srgbClr val="000000">
                      <a:alpha val="75000"/>
                    </a:srgbClr>
                  </a:outerShdw>
                </a:effectLst>
              </a:rPr>
              <a:t>CVS)</a:t>
            </a:r>
            <a:r>
              <a:rPr lang="en-US" b="0" dirty="0" smtClean="0">
                <a:effectLst>
                  <a:outerShdw blurRad="101600" dist="63500" dir="2700000" algn="tl" rotWithShape="0">
                    <a:srgbClr val="000000">
                      <a:alpha val="75000"/>
                    </a:srgbClr>
                  </a:outerShdw>
                </a:effectLst>
              </a:rPr>
              <a:t>.</a:t>
            </a:r>
            <a:endParaRPr lang="en-US" b="0" dirty="0" smtClean="0">
              <a:solidFill>
                <a:srgbClr val="FFFF00"/>
              </a:solidFill>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Here </a:t>
            </a:r>
            <a:r>
              <a:rPr lang="en-US" b="0" dirty="0">
                <a:effectLst>
                  <a:outerShdw blurRad="101600" dist="63500" dir="2700000" algn="tl" rotWithShape="0">
                    <a:srgbClr val="000000">
                      <a:alpha val="75000"/>
                    </a:srgbClr>
                  </a:outerShdw>
                </a:effectLst>
              </a:rPr>
              <a:t>is </a:t>
            </a:r>
            <a:r>
              <a:rPr lang="en-US" b="0" dirty="0" smtClean="0">
                <a:effectLst>
                  <a:outerShdw blurRad="101600" dist="63500" dir="2700000" algn="tl" rotWithShape="0">
                    <a:srgbClr val="000000">
                      <a:alpha val="75000"/>
                    </a:srgbClr>
                  </a:outerShdw>
                </a:effectLst>
              </a:rPr>
              <a:t>an example…</a:t>
            </a:r>
            <a:endParaRPr lang="en-US" b="0" dirty="0">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33</a:t>
            </a:fld>
            <a:endParaRPr lang="en-US"/>
          </a:p>
        </p:txBody>
      </p:sp>
      <p:pic>
        <p:nvPicPr>
          <p:cNvPr id="8" name="Picture 7"/>
          <p:cNvPicPr>
            <a:picLocks noChangeAspect="1"/>
          </p:cNvPicPr>
          <p:nvPr/>
        </p:nvPicPr>
        <p:blipFill>
          <a:blip r:embed="rId2"/>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10" name="Oval 9"/>
          <p:cNvSpPr/>
          <p:nvPr/>
        </p:nvSpPr>
        <p:spPr>
          <a:xfrm>
            <a:off x="5709698" y="1645430"/>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00080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900" decel="100000" fill="hold"/>
                                        <p:tgtEl>
                                          <p:spTgt spid="1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Here we subclass the OBI assay using a </a:t>
            </a:r>
            <a:br>
              <a:rPr lang="en-US" dirty="0" smtClean="0"/>
            </a:br>
            <a:r>
              <a:rPr lang="en-US" dirty="0" smtClean="0"/>
              <a:t>study-specific DDI controlled </a:t>
            </a:r>
            <a:r>
              <a:rPr lang="en-US" dirty="0"/>
              <a:t>v</a:t>
            </a:r>
            <a:r>
              <a:rPr lang="en-US" dirty="0" smtClean="0"/>
              <a:t>ocabulary…</a:t>
            </a:r>
            <a:endParaRPr lang="en-US" dirty="0"/>
          </a:p>
        </p:txBody>
      </p:sp>
      <p:sp>
        <p:nvSpPr>
          <p:cNvPr id="3" name="Content Placeholder 2"/>
          <p:cNvSpPr>
            <a:spLocks noGrp="1"/>
          </p:cNvSpPr>
          <p:nvPr>
            <p:ph idx="1"/>
          </p:nvPr>
        </p:nvSpPr>
        <p:spPr>
          <a:xfrm>
            <a:off x="441326" y="1477211"/>
            <a:ext cx="8259097" cy="2897233"/>
          </a:xfrm>
        </p:spPr>
        <p:txBody>
          <a:bodyPr/>
          <a:lstStyle/>
          <a:p>
            <a:r>
              <a:rPr lang="en-US" b="0" dirty="0" smtClean="0">
                <a:effectLst>
                  <a:outerShdw blurRad="101600" dist="63500" dir="2700000" algn="tl" rotWithShape="0">
                    <a:srgbClr val="000000">
                      <a:alpha val="75000"/>
                    </a:srgbClr>
                  </a:outerShdw>
                </a:effectLst>
              </a:rPr>
              <a:t>An “assay” </a:t>
            </a:r>
            <a:r>
              <a:rPr lang="en-US" b="0" dirty="0">
                <a:effectLst>
                  <a:outerShdw blurRad="101600" dist="63500" dir="2700000" algn="tl" rotWithShape="0">
                    <a:srgbClr val="000000">
                      <a:alpha val="75000"/>
                    </a:srgbClr>
                  </a:outerShdw>
                </a:effectLst>
              </a:rPr>
              <a:t>is a planned process with the objective of producing information.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An </a:t>
            </a:r>
            <a:r>
              <a:rPr lang="en-US" b="0" dirty="0">
                <a:effectLst>
                  <a:outerShdw blurRad="101600" dist="63500" dir="2700000" algn="tl" rotWithShape="0">
                    <a:srgbClr val="000000">
                      <a:alpha val="75000"/>
                    </a:srgbClr>
                  </a:outerShdw>
                </a:effectLst>
              </a:rPr>
              <a:t>example of an assay might be a question an interviewer plans to ask, a blood draw a nurse plans to take or an anthropometric characteristic like the circumference of a child’s head that an interviewer plans to measure in line with the protocol. </a:t>
            </a:r>
            <a:endParaRPr lang="en-US" b="0" dirty="0" smtClean="0">
              <a:effectLst>
                <a:outerShdw blurRad="101600" dist="63500" dir="2700000" algn="tl" rotWithShape="0">
                  <a:srgbClr val="000000">
                    <a:alpha val="75000"/>
                  </a:srgbClr>
                </a:outerShdw>
              </a:effectLst>
            </a:endParaRPr>
          </a:p>
          <a:p>
            <a:r>
              <a:rPr lang="en-US" b="0" dirty="0" smtClean="0">
                <a:effectLst>
                  <a:outerShdw blurRad="101600" dist="63500" dir="2700000" algn="tl" rotWithShape="0">
                    <a:srgbClr val="000000">
                      <a:alpha val="75000"/>
                    </a:srgbClr>
                  </a:outerShdw>
                </a:effectLst>
              </a:rPr>
              <a:t>From </a:t>
            </a:r>
            <a:r>
              <a:rPr lang="en-US" b="0" dirty="0">
                <a:effectLst>
                  <a:outerShdw blurRad="101600" dist="63500" dir="2700000" algn="tl" rotWithShape="0">
                    <a:srgbClr val="000000">
                      <a:alpha val="75000"/>
                    </a:srgbClr>
                  </a:outerShdw>
                </a:effectLst>
              </a:rPr>
              <a:t>this discussion we know that in a specific study the </a:t>
            </a:r>
            <a:r>
              <a:rPr lang="en-US" dirty="0">
                <a:solidFill>
                  <a:srgbClr val="FFFF00"/>
                </a:solidFill>
                <a:effectLst>
                  <a:outerShdw blurRad="101600" dist="63500" dir="2700000" algn="tl" rotWithShape="0">
                    <a:srgbClr val="000000">
                      <a:alpha val="75000"/>
                    </a:srgbClr>
                  </a:outerShdw>
                </a:effectLst>
              </a:rPr>
              <a:t>assay entity has subclasses</a:t>
            </a:r>
            <a:r>
              <a:rPr lang="en-US" dirty="0" smtClean="0">
                <a:solidFill>
                  <a:srgbClr val="FFFF00"/>
                </a:solidFill>
                <a:effectLst>
                  <a:outerShdw blurRad="101600" dist="63500" dir="2700000" algn="tl" rotWithShape="0">
                    <a:srgbClr val="000000">
                      <a:alpha val="75000"/>
                    </a:srgbClr>
                  </a:outerShdw>
                </a:effectLst>
              </a:rPr>
              <a:t>:</a:t>
            </a:r>
            <a:endParaRPr lang="en-US" dirty="0">
              <a:solidFill>
                <a:srgbClr val="FFFF00"/>
              </a:solidFill>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34</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3223" y="4528819"/>
            <a:ext cx="7810314" cy="1708291"/>
          </a:xfrm>
          <a:prstGeom prst="rect">
            <a:avLst/>
          </a:prstGeom>
          <a:noFill/>
          <a:ln>
            <a:noFill/>
          </a:ln>
          <a:effectLst>
            <a:outerShdw blurRad="101600" dist="88900" dir="2700000" algn="tl" rotWithShape="0">
              <a:srgbClr val="000000">
                <a:alpha val="75000"/>
              </a:srgbClr>
            </a:outerShdw>
          </a:effectLst>
        </p:spPr>
      </p:pic>
    </p:spTree>
    <p:extLst>
      <p:ext uri="{BB962C8B-B14F-4D97-AF65-F5344CB8AC3E}">
        <p14:creationId xmlns:p14="http://schemas.microsoft.com/office/powerpoint/2010/main" val="1077039103"/>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6" y="107577"/>
            <a:ext cx="8259097" cy="2263090"/>
          </a:xfrm>
        </p:spPr>
        <p:txBody>
          <a:bodyPr/>
          <a:lstStyle/>
          <a:p>
            <a:r>
              <a:rPr lang="en-US" dirty="0" smtClean="0"/>
              <a:t>Appropriate subclasses </a:t>
            </a:r>
            <a:br>
              <a:rPr lang="en-US" dirty="0" smtClean="0"/>
            </a:br>
            <a:r>
              <a:rPr lang="en-US" dirty="0" smtClean="0"/>
              <a:t>for a specific study can be </a:t>
            </a:r>
            <a:br>
              <a:rPr lang="en-US" dirty="0" smtClean="0"/>
            </a:br>
            <a:r>
              <a:rPr lang="en-US" dirty="0" smtClean="0"/>
              <a:t>programmatically </a:t>
            </a:r>
            <a:br>
              <a:rPr lang="en-US" dirty="0" smtClean="0"/>
            </a:br>
            <a:r>
              <a:rPr lang="en-US" dirty="0" smtClean="0"/>
              <a:t>generated…</a:t>
            </a:r>
            <a:endParaRPr lang="en-US" dirty="0"/>
          </a:p>
        </p:txBody>
      </p:sp>
      <p:sp>
        <p:nvSpPr>
          <p:cNvPr id="3" name="Content Placeholder 2"/>
          <p:cNvSpPr>
            <a:spLocks noGrp="1"/>
          </p:cNvSpPr>
          <p:nvPr>
            <p:ph idx="1"/>
          </p:nvPr>
        </p:nvSpPr>
        <p:spPr>
          <a:xfrm>
            <a:off x="441326" y="2370667"/>
            <a:ext cx="8259097" cy="3682297"/>
          </a:xfrm>
        </p:spPr>
        <p:txBody>
          <a:bodyPr/>
          <a:lstStyle/>
          <a:p>
            <a:r>
              <a:rPr lang="en-US" dirty="0" smtClean="0"/>
              <a:t>…from CVs like this:</a:t>
            </a:r>
            <a:endParaRPr lang="en-US"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35</a:t>
            </a:fld>
            <a:endParaRPr lang="en-US"/>
          </a:p>
        </p:txBody>
      </p:sp>
      <p:pic>
        <p:nvPicPr>
          <p:cNvPr id="7" name="Picture 6"/>
          <p:cNvPicPr>
            <a:picLocks noChangeAspect="1"/>
          </p:cNvPicPr>
          <p:nvPr/>
        </p:nvPicPr>
        <p:blipFill>
          <a:blip r:embed="rId2"/>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8" name="Oval 7"/>
          <p:cNvSpPr/>
          <p:nvPr/>
        </p:nvSpPr>
        <p:spPr>
          <a:xfrm>
            <a:off x="7151811" y="1257442"/>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7910622" y="5377582"/>
            <a:ext cx="789801" cy="652511"/>
          </a:xfrm>
          <a:prstGeom prst="rect">
            <a:avLst/>
          </a:prstGeom>
        </p:spPr>
      </p:pic>
    </p:spTree>
    <p:extLst>
      <p:ext uri="{BB962C8B-B14F-4D97-AF65-F5344CB8AC3E}">
        <p14:creationId xmlns:p14="http://schemas.microsoft.com/office/powerpoint/2010/main" val="243639870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900" decel="100000" fill="hold"/>
                                        <p:tgtEl>
                                          <p:spTgt spid="8"/>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6" y="107577"/>
            <a:ext cx="8259097" cy="2263090"/>
          </a:xfrm>
        </p:spPr>
        <p:txBody>
          <a:bodyPr/>
          <a:lstStyle/>
          <a:p>
            <a:r>
              <a:rPr lang="en-US" dirty="0" smtClean="0"/>
              <a:t>Appropriate subclasses </a:t>
            </a:r>
            <a:br>
              <a:rPr lang="en-US" dirty="0" smtClean="0"/>
            </a:br>
            <a:r>
              <a:rPr lang="en-US" dirty="0" smtClean="0"/>
              <a:t>for a specific study can be </a:t>
            </a:r>
            <a:br>
              <a:rPr lang="en-US" dirty="0" smtClean="0"/>
            </a:br>
            <a:r>
              <a:rPr lang="en-US" dirty="0" smtClean="0"/>
              <a:t>programmatically </a:t>
            </a:r>
            <a:br>
              <a:rPr lang="en-US" dirty="0" smtClean="0"/>
            </a:br>
            <a:r>
              <a:rPr lang="en-US" dirty="0" smtClean="0"/>
              <a:t>generated…</a:t>
            </a:r>
            <a:endParaRPr lang="en-US" dirty="0"/>
          </a:p>
        </p:txBody>
      </p:sp>
      <p:sp>
        <p:nvSpPr>
          <p:cNvPr id="3" name="Content Placeholder 2"/>
          <p:cNvSpPr>
            <a:spLocks noGrp="1"/>
          </p:cNvSpPr>
          <p:nvPr>
            <p:ph idx="1"/>
          </p:nvPr>
        </p:nvSpPr>
        <p:spPr>
          <a:xfrm>
            <a:off x="441326" y="2370667"/>
            <a:ext cx="8259097" cy="3682297"/>
          </a:xfrm>
        </p:spPr>
        <p:txBody>
          <a:bodyPr/>
          <a:lstStyle/>
          <a:p>
            <a:r>
              <a:rPr lang="en-US" dirty="0" smtClean="0"/>
              <a:t>…from CVs like this:</a:t>
            </a:r>
            <a:endParaRPr lang="en-US"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36</a:t>
            </a:fld>
            <a:endParaRPr lang="en-US"/>
          </a:p>
        </p:txBody>
      </p:sp>
      <p:pic>
        <p:nvPicPr>
          <p:cNvPr id="7" name="Picture 6"/>
          <p:cNvPicPr>
            <a:picLocks noChangeAspect="1"/>
          </p:cNvPicPr>
          <p:nvPr/>
        </p:nvPicPr>
        <p:blipFill>
          <a:blip r:embed="rId2"/>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8" name="Oval 7"/>
          <p:cNvSpPr/>
          <p:nvPr/>
        </p:nvSpPr>
        <p:spPr>
          <a:xfrm>
            <a:off x="7151811" y="1257442"/>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27665" y="1369478"/>
            <a:ext cx="6646334" cy="4834230"/>
          </a:xfrm>
          <a:prstGeom prst="rect">
            <a:avLst/>
          </a:prstGeom>
          <a:noFill/>
          <a:ln w="15875">
            <a:solidFill>
              <a:schemeClr val="tx1"/>
            </a:solidFill>
          </a:ln>
          <a:effectLst>
            <a:outerShdw blurRad="63500" dist="88900" dir="2700000" algn="tl" rotWithShape="0">
              <a:srgbClr val="000000">
                <a:alpha val="75000"/>
              </a:srgbClr>
            </a:outerShdw>
          </a:effectLst>
        </p:spPr>
      </p:pic>
    </p:spTree>
    <p:extLst>
      <p:ext uri="{BB962C8B-B14F-4D97-AF65-F5344CB8AC3E}">
        <p14:creationId xmlns:p14="http://schemas.microsoft.com/office/powerpoint/2010/main" val="210371019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7" y="149910"/>
            <a:ext cx="4511674" cy="2233895"/>
          </a:xfrm>
        </p:spPr>
        <p:txBody>
          <a:bodyPr/>
          <a:lstStyle/>
          <a:p>
            <a:r>
              <a:rPr lang="en-US" dirty="0" smtClean="0"/>
              <a:t>However, in the end , hypothesis generation requires that we annotate DDI data elements…</a:t>
            </a:r>
            <a:endParaRPr lang="en-US" dirty="0"/>
          </a:p>
        </p:txBody>
      </p:sp>
      <p:sp>
        <p:nvSpPr>
          <p:cNvPr id="3" name="Content Placeholder 2"/>
          <p:cNvSpPr>
            <a:spLocks noGrp="1"/>
          </p:cNvSpPr>
          <p:nvPr>
            <p:ph idx="1"/>
          </p:nvPr>
        </p:nvSpPr>
        <p:spPr>
          <a:xfrm>
            <a:off x="441326" y="2602865"/>
            <a:ext cx="8259097" cy="3450099"/>
          </a:xfrm>
        </p:spPr>
        <p:txBody>
          <a:bodyPr/>
          <a:lstStyle/>
          <a:p>
            <a:r>
              <a:rPr lang="en-US" b="0" dirty="0">
                <a:effectLst>
                  <a:outerShdw blurRad="101600" dist="63500" dir="2700000" algn="tl" rotWithShape="0">
                    <a:srgbClr val="000000">
                      <a:alpha val="75000"/>
                    </a:srgbClr>
                  </a:outerShdw>
                </a:effectLst>
              </a:rPr>
              <a:t>For instance, in OBI we can </a:t>
            </a:r>
            <a:r>
              <a:rPr lang="en-US" b="0" dirty="0" smtClean="0">
                <a:effectLst>
                  <a:outerShdw blurRad="101600" dist="63500" dir="2700000" algn="tl" rotWithShape="0">
                    <a:srgbClr val="000000">
                      <a:alpha val="75000"/>
                    </a:srgbClr>
                  </a:outerShdw>
                </a:effectLst>
              </a:rPr>
              <a:t>in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rPr>
              <a:t>principle make statements like this: </a:t>
            </a:r>
            <a:br>
              <a:rPr lang="en-US" b="0" dirty="0" smtClean="0">
                <a:effectLst>
                  <a:outerShdw blurRad="101600" dist="63500" dir="2700000" algn="tl" rotWithShape="0">
                    <a:srgbClr val="000000">
                      <a:alpha val="75000"/>
                    </a:srgbClr>
                  </a:outerShdw>
                </a:effectLst>
              </a:rPr>
            </a:br>
            <a:r>
              <a:rPr lang="en-US" i="1" dirty="0" smtClean="0">
                <a:solidFill>
                  <a:srgbClr val="FFFF00"/>
                </a:solidFill>
                <a:effectLst>
                  <a:outerShdw blurRad="101600" dist="63500" dir="2700000" algn="tl" rotWithShape="0">
                    <a:srgbClr val="000000">
                      <a:alpha val="75000"/>
                    </a:srgbClr>
                  </a:outerShdw>
                </a:effectLst>
              </a:rPr>
              <a:t>the </a:t>
            </a:r>
            <a:r>
              <a:rPr lang="en-US" i="1" dirty="0">
                <a:solidFill>
                  <a:srgbClr val="FFFF00"/>
                </a:solidFill>
                <a:effectLst>
                  <a:outerShdw blurRad="101600" dist="63500" dir="2700000" algn="tl" rotWithShape="0">
                    <a:srgbClr val="000000">
                      <a:alpha val="75000"/>
                    </a:srgbClr>
                  </a:outerShdw>
                </a:effectLst>
              </a:rPr>
              <a:t>executive </a:t>
            </a:r>
            <a:r>
              <a:rPr lang="en-US" sz="2200" i="1" dirty="0">
                <a:solidFill>
                  <a:srgbClr val="FF6600"/>
                </a:solidFill>
                <a:effectLst>
                  <a:outerShdw blurRad="101600" dist="63500" dir="2700000" algn="tl" rotWithShape="0">
                    <a:srgbClr val="000000">
                      <a:alpha val="75000"/>
                    </a:srgbClr>
                  </a:outerShdw>
                </a:effectLst>
              </a:rPr>
              <a:t>function</a:t>
            </a:r>
            <a:r>
              <a:rPr lang="en-US" i="1" dirty="0">
                <a:solidFill>
                  <a:srgbClr val="FFFF00"/>
                </a:solidFill>
                <a:effectLst>
                  <a:outerShdw blurRad="101600" dist="63500" dir="2700000" algn="tl" rotWithShape="0">
                    <a:srgbClr val="000000">
                      <a:alpha val="75000"/>
                    </a:srgbClr>
                  </a:outerShdw>
                </a:effectLst>
              </a:rPr>
              <a:t> is stimulated </a:t>
            </a:r>
            <a:r>
              <a:rPr lang="en-US" i="1" dirty="0" smtClean="0">
                <a:solidFill>
                  <a:srgbClr val="FFFF00"/>
                </a:solidFill>
                <a:effectLst>
                  <a:outerShdw blurRad="101600" dist="63500" dir="2700000" algn="tl" rotWithShape="0">
                    <a:srgbClr val="000000">
                      <a:alpha val="75000"/>
                    </a:srgbClr>
                  </a:outerShdw>
                </a:effectLst>
              </a:rPr>
              <a:t/>
            </a:r>
            <a:br>
              <a:rPr lang="en-US" i="1" dirty="0" smtClean="0">
                <a:solidFill>
                  <a:srgbClr val="FFFF00"/>
                </a:solidFill>
                <a:effectLst>
                  <a:outerShdw blurRad="101600" dist="63500" dir="2700000" algn="tl" rotWithShape="0">
                    <a:srgbClr val="000000">
                      <a:alpha val="75000"/>
                    </a:srgbClr>
                  </a:outerShdw>
                </a:effectLst>
              </a:rPr>
            </a:br>
            <a:r>
              <a:rPr lang="en-US" i="1" dirty="0" smtClean="0">
                <a:solidFill>
                  <a:srgbClr val="FFFF00"/>
                </a:solidFill>
                <a:effectLst>
                  <a:outerShdw blurRad="101600" dist="63500" dir="2700000" algn="tl" rotWithShape="0">
                    <a:srgbClr val="000000">
                      <a:alpha val="75000"/>
                    </a:srgbClr>
                  </a:outerShdw>
                </a:effectLst>
              </a:rPr>
              <a:t>by </a:t>
            </a:r>
            <a:r>
              <a:rPr lang="en-US" i="1" dirty="0">
                <a:solidFill>
                  <a:srgbClr val="FFFF00"/>
                </a:solidFill>
                <a:effectLst>
                  <a:outerShdw blurRad="101600" dist="63500" dir="2700000" algn="tl" rotWithShape="0">
                    <a:srgbClr val="000000">
                      <a:alpha val="75000"/>
                    </a:srgbClr>
                  </a:outerShdw>
                </a:effectLst>
              </a:rPr>
              <a:t>certain psychosocial </a:t>
            </a:r>
            <a:r>
              <a:rPr lang="en-US" sz="2200" i="1" dirty="0">
                <a:solidFill>
                  <a:srgbClr val="FF6600"/>
                </a:solidFill>
                <a:effectLst>
                  <a:outerShdw blurRad="101600" dist="63500" dir="2700000" algn="tl" rotWithShape="0">
                    <a:srgbClr val="000000">
                      <a:alpha val="75000"/>
                    </a:srgbClr>
                  </a:outerShdw>
                </a:effectLst>
              </a:rPr>
              <a:t>exposures</a:t>
            </a:r>
            <a:r>
              <a:rPr lang="en-US" i="1" dirty="0">
                <a:solidFill>
                  <a:srgbClr val="FFFF00"/>
                </a:solidFill>
                <a:effectLst>
                  <a:outerShdw blurRad="101600" dist="63500" dir="2700000" algn="tl" rotWithShape="0">
                    <a:srgbClr val="000000">
                      <a:alpha val="75000"/>
                    </a:srgbClr>
                  </a:outerShdw>
                </a:effectLst>
              </a:rPr>
              <a:t> </a:t>
            </a:r>
            <a:r>
              <a:rPr lang="en-US" i="1" dirty="0" smtClean="0">
                <a:solidFill>
                  <a:srgbClr val="FFFF00"/>
                </a:solidFill>
                <a:effectLst>
                  <a:outerShdw blurRad="101600" dist="63500" dir="2700000" algn="tl" rotWithShape="0">
                    <a:srgbClr val="000000">
                      <a:alpha val="75000"/>
                    </a:srgbClr>
                  </a:outerShdw>
                </a:effectLst>
              </a:rPr>
              <a:t>under </a:t>
            </a:r>
            <a:r>
              <a:rPr lang="en-US" i="1" dirty="0">
                <a:solidFill>
                  <a:srgbClr val="FFFF00"/>
                </a:solidFill>
                <a:effectLst>
                  <a:outerShdw blurRad="101600" dist="63500" dir="2700000" algn="tl" rotWithShape="0">
                    <a:srgbClr val="000000">
                      <a:alpha val="75000"/>
                    </a:srgbClr>
                  </a:outerShdw>
                </a:effectLst>
              </a:rPr>
              <a:t>certain </a:t>
            </a:r>
            <a:r>
              <a:rPr lang="en-US" sz="2200" i="1" dirty="0">
                <a:solidFill>
                  <a:srgbClr val="FF6600"/>
                </a:solidFill>
                <a:effectLst>
                  <a:outerShdw blurRad="101600" dist="63500" dir="2700000" algn="tl" rotWithShape="0">
                    <a:srgbClr val="000000">
                      <a:alpha val="75000"/>
                    </a:srgbClr>
                  </a:outerShdw>
                </a:effectLst>
              </a:rPr>
              <a:t>circumstances</a:t>
            </a:r>
            <a:r>
              <a:rPr lang="en-US" i="1" dirty="0">
                <a:solidFill>
                  <a:srgbClr val="FFFF00"/>
                </a:solidFill>
                <a:effectLst>
                  <a:outerShdw blurRad="101600" dist="63500" dir="2700000" algn="tl" rotWithShape="0">
                    <a:srgbClr val="000000">
                      <a:alpha val="75000"/>
                    </a:srgbClr>
                  </a:outerShdw>
                </a:effectLst>
              </a:rPr>
              <a:t> as measured by an </a:t>
            </a:r>
            <a:r>
              <a:rPr lang="en-US" i="1" dirty="0" smtClean="0">
                <a:solidFill>
                  <a:srgbClr val="FFFF00"/>
                </a:solidFill>
                <a:effectLst>
                  <a:outerShdw blurRad="101600" dist="63500" dir="2700000" algn="tl" rotWithShape="0">
                    <a:srgbClr val="000000">
                      <a:alpha val="75000"/>
                    </a:srgbClr>
                  </a:outerShdw>
                </a:effectLst>
              </a:rPr>
              <a:t>assessment, and </a:t>
            </a:r>
            <a:r>
              <a:rPr lang="en-US" i="1" dirty="0">
                <a:solidFill>
                  <a:srgbClr val="FFFF00"/>
                </a:solidFill>
                <a:effectLst>
                  <a:outerShdw blurRad="101600" dist="63500" dir="2700000" algn="tl" rotWithShape="0">
                    <a:srgbClr val="000000">
                      <a:alpha val="75000"/>
                    </a:srgbClr>
                  </a:outerShdw>
                </a:effectLst>
              </a:rPr>
              <a:t>humans who test </a:t>
            </a:r>
            <a:r>
              <a:rPr lang="en-US" i="1" dirty="0" smtClean="0">
                <a:solidFill>
                  <a:srgbClr val="FFFF00"/>
                </a:solidFill>
                <a:effectLst>
                  <a:outerShdw blurRad="101600" dist="63500" dir="2700000" algn="tl" rotWithShape="0">
                    <a:srgbClr val="000000">
                      <a:alpha val="75000"/>
                    </a:srgbClr>
                  </a:outerShdw>
                </a:effectLst>
              </a:rPr>
              <a:t>well for executive function </a:t>
            </a:r>
            <a:r>
              <a:rPr lang="en-US" i="1" dirty="0">
                <a:solidFill>
                  <a:srgbClr val="FFFF00"/>
                </a:solidFill>
                <a:effectLst>
                  <a:outerShdw blurRad="101600" dist="63500" dir="2700000" algn="tl" rotWithShape="0">
                    <a:srgbClr val="000000">
                      <a:alpha val="75000"/>
                    </a:srgbClr>
                  </a:outerShdw>
                </a:effectLst>
              </a:rPr>
              <a:t>have certain neuronal </a:t>
            </a:r>
            <a:r>
              <a:rPr lang="en-US" sz="2200" i="1" dirty="0">
                <a:solidFill>
                  <a:srgbClr val="FF6600"/>
                </a:solidFill>
                <a:effectLst>
                  <a:outerShdw blurRad="101600" dist="63500" dir="2700000" algn="tl" rotWithShape="0">
                    <a:srgbClr val="000000">
                      <a:alpha val="75000"/>
                    </a:srgbClr>
                  </a:outerShdw>
                </a:effectLst>
              </a:rPr>
              <a:t>qualities</a:t>
            </a:r>
            <a:r>
              <a:rPr lang="en-US" b="0" dirty="0" smtClean="0">
                <a:effectLst>
                  <a:outerShdw blurRad="101600" dist="63500" dir="2700000" algn="tl" rotWithShape="0">
                    <a:srgbClr val="000000">
                      <a:alpha val="75000"/>
                    </a:srgbClr>
                  </a:outerShdw>
                </a:effectLst>
              </a:rPr>
              <a:t>.</a:t>
            </a:r>
            <a:endParaRPr lang="en-US" b="0" dirty="0" smtClean="0"/>
          </a:p>
          <a:p>
            <a:r>
              <a:rPr lang="en-US" b="0" dirty="0" smtClean="0">
                <a:effectLst>
                  <a:outerShdw blurRad="101600" dist="63500" dir="2700000" algn="tl" rotWithShape="0">
                    <a:srgbClr val="000000">
                      <a:alpha val="75000"/>
                    </a:srgbClr>
                  </a:outerShdw>
                </a:effectLst>
              </a:rPr>
              <a:t>For now this seems to require a curator to </a:t>
            </a:r>
            <a:r>
              <a:rPr lang="en-US" dirty="0" smtClean="0">
                <a:solidFill>
                  <a:srgbClr val="FFFF00"/>
                </a:solidFill>
                <a:effectLst>
                  <a:outerShdw blurRad="101600" dist="63500" dir="2700000" algn="tl" rotWithShape="0">
                    <a:srgbClr val="000000">
                      <a:alpha val="75000"/>
                    </a:srgbClr>
                  </a:outerShdw>
                </a:effectLst>
              </a:rPr>
              <a:t>tag</a:t>
            </a:r>
            <a:r>
              <a:rPr lang="en-US" b="0" dirty="0" smtClean="0">
                <a:effectLst>
                  <a:outerShdw blurRad="101600" dist="63500" dir="2700000" algn="tl" rotWithShape="0">
                    <a:srgbClr val="000000">
                      <a:alpha val="75000"/>
                    </a:srgbClr>
                  </a:outerShdw>
                </a:effectLst>
              </a:rPr>
              <a:t> an instance of DDI data elements </a:t>
            </a:r>
            <a:r>
              <a:rPr lang="en-US" dirty="0" smtClean="0">
                <a:solidFill>
                  <a:srgbClr val="FFFF00"/>
                </a:solidFill>
                <a:effectLst>
                  <a:outerShdw blurRad="101600" dist="63500" dir="2700000" algn="tl" rotWithShape="0">
                    <a:srgbClr val="000000">
                      <a:alpha val="75000"/>
                    </a:srgbClr>
                  </a:outerShdw>
                </a:effectLst>
              </a:rPr>
              <a:t>with OBI concepts and relationships</a:t>
            </a:r>
            <a:r>
              <a:rPr lang="en-US" b="0" dirty="0" smtClean="0">
                <a:effectLst>
                  <a:outerShdw blurRad="101600" dist="63500" dir="2700000" algn="tl" rotWithShape="0">
                    <a:srgbClr val="000000">
                      <a:alpha val="75000"/>
                    </a:srgbClr>
                  </a:outerShdw>
                </a:effectLst>
              </a:rPr>
              <a:t>.</a:t>
            </a:r>
          </a:p>
          <a:p>
            <a:r>
              <a:rPr lang="en-US" b="0" dirty="0" smtClean="0">
                <a:effectLst>
                  <a:outerShdw blurRad="101600" dist="63500" dir="2700000" algn="tl" rotWithShape="0">
                    <a:srgbClr val="000000">
                      <a:alpha val="75000"/>
                    </a:srgbClr>
                  </a:outerShdw>
                </a:effectLst>
              </a:rPr>
              <a:t>Eventually annotation will be machine-assisted but right now it is not…</a:t>
            </a:r>
            <a:endParaRPr lang="en-US" b="0" dirty="0">
              <a:effectLst>
                <a:outerShdw blurRad="101600" dist="63500" dir="2700000" algn="tl" rotWithShape="0">
                  <a:srgbClr val="000000">
                    <a:alpha val="75000"/>
                  </a:srgbClr>
                </a:outerShdw>
              </a:effectLst>
            </a:endParaRPr>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37</a:t>
            </a:fld>
            <a:endParaRPr lang="en-US"/>
          </a:p>
        </p:txBody>
      </p:sp>
      <p:pic>
        <p:nvPicPr>
          <p:cNvPr id="8" name="Picture 7"/>
          <p:cNvPicPr>
            <a:picLocks noChangeAspect="1"/>
          </p:cNvPicPr>
          <p:nvPr/>
        </p:nvPicPr>
        <p:blipFill>
          <a:blip r:embed="rId2"/>
          <a:stretch>
            <a:fillRect/>
          </a:stretch>
        </p:blipFill>
        <p:spPr>
          <a:xfrm>
            <a:off x="5208513" y="357746"/>
            <a:ext cx="3493687" cy="3073324"/>
          </a:xfrm>
          <a:prstGeom prst="rect">
            <a:avLst/>
          </a:prstGeom>
          <a:ln w="22225">
            <a:solidFill>
              <a:schemeClr val="tx2">
                <a:lumMod val="50000"/>
              </a:schemeClr>
            </a:solidFill>
          </a:ln>
          <a:effectLst>
            <a:outerShdw blurRad="101600" dist="63500" dir="2700000" algn="tl" rotWithShape="0">
              <a:srgbClr val="000000">
                <a:alpha val="75000"/>
              </a:srgbClr>
            </a:outerShdw>
          </a:effectLst>
        </p:spPr>
      </p:pic>
      <p:sp>
        <p:nvSpPr>
          <p:cNvPr id="9" name="Oval 8"/>
          <p:cNvSpPr/>
          <p:nvPr/>
        </p:nvSpPr>
        <p:spPr>
          <a:xfrm>
            <a:off x="5709698" y="1645430"/>
            <a:ext cx="1462271" cy="696042"/>
          </a:xfrm>
          <a:prstGeom prst="ellipse">
            <a:avLst/>
          </a:prstGeom>
          <a:solidFill>
            <a:schemeClr val="accent1">
              <a:alpha val="18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084485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900" decel="100000" fill="hold"/>
                                        <p:tgtEl>
                                          <p:spTgt spid="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38</a:t>
            </a:fld>
            <a:endParaRPr lang="en-US"/>
          </a:p>
        </p:txBody>
      </p:sp>
      <p:pic>
        <p:nvPicPr>
          <p:cNvPr id="14" name="Picture 13"/>
          <p:cNvPicPr>
            <a:picLocks noChangeAspect="1"/>
          </p:cNvPicPr>
          <p:nvPr/>
        </p:nvPicPr>
        <p:blipFill>
          <a:blip r:embed="rId2"/>
          <a:stretch>
            <a:fillRect/>
          </a:stretch>
        </p:blipFill>
        <p:spPr>
          <a:xfrm>
            <a:off x="388604" y="553556"/>
            <a:ext cx="8376650" cy="5291617"/>
          </a:xfrm>
          <a:prstGeom prst="rect">
            <a:avLst/>
          </a:prstGeom>
          <a:ln w="15875">
            <a:noFill/>
          </a:ln>
          <a:effectLst>
            <a:outerShdw blurRad="63500" dist="88900" dir="2700000" algn="tl" rotWithShape="0">
              <a:srgbClr val="000000">
                <a:alpha val="43000"/>
              </a:srgbClr>
            </a:outerShdw>
          </a:effectLst>
        </p:spPr>
      </p:pic>
    </p:spTree>
    <p:extLst>
      <p:ext uri="{BB962C8B-B14F-4D97-AF65-F5344CB8AC3E}">
        <p14:creationId xmlns:p14="http://schemas.microsoft.com/office/powerpoint/2010/main" val="90670075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Towards a Hypothesis</a:t>
            </a:r>
            <a:br>
              <a:rPr lang="en-US" dirty="0" smtClean="0"/>
            </a:br>
            <a:r>
              <a:rPr lang="en-US" dirty="0" smtClean="0"/>
              <a:t>Vocabulary</a:t>
            </a:r>
            <a:endParaRPr lang="en-US" dirty="0"/>
          </a:p>
        </p:txBody>
      </p:sp>
      <p:sp>
        <p:nvSpPr>
          <p:cNvPr id="3" name="Content Placeholder 2"/>
          <p:cNvSpPr>
            <a:spLocks noGrp="1"/>
          </p:cNvSpPr>
          <p:nvPr>
            <p:ph idx="1"/>
          </p:nvPr>
        </p:nvSpPr>
        <p:spPr/>
        <p:txBody>
          <a:bodyPr/>
          <a:lstStyle/>
          <a:p>
            <a:r>
              <a:rPr lang="en-US" dirty="0" smtClean="0"/>
              <a:t>Basically OBI provides us with</a:t>
            </a:r>
            <a:br>
              <a:rPr lang="en-US" dirty="0" smtClean="0"/>
            </a:br>
            <a:r>
              <a:rPr lang="en-US" b="0" dirty="0" smtClean="0">
                <a:solidFill>
                  <a:srgbClr val="FFFF00"/>
                </a:solidFill>
              </a:rPr>
              <a:t>a biomedical research </a:t>
            </a:r>
            <a:br>
              <a:rPr lang="en-US" b="0" dirty="0" smtClean="0">
                <a:solidFill>
                  <a:srgbClr val="FFFF00"/>
                </a:solidFill>
              </a:rPr>
            </a:br>
            <a:r>
              <a:rPr lang="en-US" b="0" dirty="0" smtClean="0">
                <a:solidFill>
                  <a:srgbClr val="FFFF00"/>
                </a:solidFill>
              </a:rPr>
              <a:t>hypothesis template </a:t>
            </a:r>
            <a:r>
              <a:rPr lang="en-US" dirty="0" smtClean="0"/>
              <a:t>that we </a:t>
            </a:r>
            <a:br>
              <a:rPr lang="en-US" dirty="0" smtClean="0"/>
            </a:br>
            <a:r>
              <a:rPr lang="en-US" dirty="0" smtClean="0"/>
              <a:t>can instantiate with data</a:t>
            </a:r>
            <a:br>
              <a:rPr lang="en-US" dirty="0" smtClean="0"/>
            </a:br>
            <a:r>
              <a:rPr lang="en-US" dirty="0" smtClean="0"/>
              <a:t>elements</a:t>
            </a:r>
          </a:p>
          <a:p>
            <a:r>
              <a:rPr lang="en-US" dirty="0" smtClean="0"/>
              <a:t>We can also grow the template so it can express other hypothesis types</a:t>
            </a:r>
          </a:p>
          <a:p>
            <a:r>
              <a:rPr lang="en-US" dirty="0" smtClean="0"/>
              <a:t>OBI lends itself to many hypothesis views</a:t>
            </a:r>
          </a:p>
          <a:p>
            <a:endParaRPr lang="en-US"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39</a:t>
            </a:fld>
            <a:endParaRPr lang="en-US"/>
          </a:p>
        </p:txBody>
      </p:sp>
      <p:pic>
        <p:nvPicPr>
          <p:cNvPr id="14" name="Picture 13"/>
          <p:cNvPicPr>
            <a:picLocks noChangeAspect="1"/>
          </p:cNvPicPr>
          <p:nvPr/>
        </p:nvPicPr>
        <p:blipFill>
          <a:blip r:embed="rId2"/>
          <a:stretch>
            <a:fillRect/>
          </a:stretch>
        </p:blipFill>
        <p:spPr>
          <a:xfrm>
            <a:off x="4557059" y="314499"/>
            <a:ext cx="4208195" cy="2658361"/>
          </a:xfrm>
          <a:prstGeom prst="rect">
            <a:avLst/>
          </a:prstGeom>
          <a:ln w="15875">
            <a:noFill/>
          </a:ln>
          <a:effectLst>
            <a:outerShdw blurRad="63500" dist="88900" dir="2700000" algn="tl" rotWithShape="0">
              <a:srgbClr val="000000">
                <a:alpha val="43000"/>
              </a:srgbClr>
            </a:outerShdw>
          </a:effectLst>
        </p:spPr>
      </p:pic>
    </p:spTree>
    <p:extLst>
      <p:ext uri="{BB962C8B-B14F-4D97-AF65-F5344CB8AC3E}">
        <p14:creationId xmlns:p14="http://schemas.microsoft.com/office/powerpoint/2010/main" val="1180765969"/>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xmlns:p14="http://schemas.microsoft.com/office/powerpoint/2010/main" spd="slow">
        <p:checker/>
      </p:transition>
    </mc:Fallback>
  </mc:AlternateContent>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12/4/2013</a:t>
            </a:r>
            <a:endParaRPr lang="en-US"/>
          </a:p>
        </p:txBody>
      </p:sp>
      <p:sp>
        <p:nvSpPr>
          <p:cNvPr id="3" name="Footer Placeholder 2"/>
          <p:cNvSpPr>
            <a:spLocks noGrp="1"/>
          </p:cNvSpPr>
          <p:nvPr>
            <p:ph type="ftr" sz="quarter" idx="11"/>
          </p:nvPr>
        </p:nvSpPr>
        <p:spPr/>
        <p:txBody>
          <a:bodyPr/>
          <a:lstStyle/>
          <a:p>
            <a:r>
              <a:rPr lang="en-US" dirty="0" smtClean="0"/>
              <a:t>Booz Allen Hamilton</a:t>
            </a:r>
            <a:endParaRPr lang="en-US" dirty="0"/>
          </a:p>
        </p:txBody>
      </p:sp>
      <p:sp>
        <p:nvSpPr>
          <p:cNvPr id="4" name="Slide Number Placeholder 3"/>
          <p:cNvSpPr>
            <a:spLocks noGrp="1"/>
          </p:cNvSpPr>
          <p:nvPr>
            <p:ph type="sldNum" sz="quarter" idx="12"/>
          </p:nvPr>
        </p:nvSpPr>
        <p:spPr/>
        <p:txBody>
          <a:bodyPr/>
          <a:lstStyle/>
          <a:p>
            <a:fld id="{FA84A37A-AFC2-4A01-80A1-FC20F2C0D5BB}" type="slidenum">
              <a:rPr lang="en-US" smtClean="0"/>
              <a:pPr/>
              <a:t>40</a:t>
            </a:fld>
            <a:endParaRPr lang="en-US"/>
          </a:p>
        </p:txBody>
      </p:sp>
      <p:pic>
        <p:nvPicPr>
          <p:cNvPr id="5" name="Picture 4"/>
          <p:cNvPicPr>
            <a:picLocks noChangeAspect="1"/>
          </p:cNvPicPr>
          <p:nvPr/>
        </p:nvPicPr>
        <p:blipFill>
          <a:blip r:embed="rId2"/>
          <a:stretch>
            <a:fillRect/>
          </a:stretch>
        </p:blipFill>
        <p:spPr>
          <a:xfrm>
            <a:off x="2603471" y="1946222"/>
            <a:ext cx="3906098" cy="2914550"/>
          </a:xfrm>
          <a:prstGeom prst="rect">
            <a:avLst/>
          </a:prstGeom>
        </p:spPr>
      </p:pic>
    </p:spTree>
    <p:extLst>
      <p:ext uri="{BB962C8B-B14F-4D97-AF65-F5344CB8AC3E}">
        <p14:creationId xmlns:p14="http://schemas.microsoft.com/office/powerpoint/2010/main" val="16160085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8"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0" fill="hold"/>
                                        <p:tgtEl>
                                          <p:spTgt spid="5"/>
                                        </p:tgtEl>
                                        <p:attrNameLst>
                                          <p:attrName>ppt_x</p:attrName>
                                        </p:attrNameLst>
                                      </p:cBhvr>
                                      <p:tavLst>
                                        <p:tav tm="0">
                                          <p:val>
                                            <p:strVal val="#ppt_x"/>
                                          </p:val>
                                        </p:tav>
                                        <p:tav tm="100000">
                                          <p:val>
                                            <p:strVal val="#ppt_x"/>
                                          </p:val>
                                        </p:tav>
                                      </p:tavLst>
                                    </p:anim>
                                    <p:anim calcmode="lin" valueType="num">
                                      <p:cBhvr>
                                        <p:cTn id="8" dur="5000" fill="hold"/>
                                        <p:tgtEl>
                                          <p:spTgt spid="5"/>
                                        </p:tgtEl>
                                        <p:attrNameLst>
                                          <p:attrName>ppt_y</p:attrName>
                                        </p:attrNameLst>
                                      </p:cBhvr>
                                      <p:tavLst>
                                        <p:tav tm="0">
                                          <p:val>
                                            <p:strVal val="#ppt_y+1"/>
                                          </p:val>
                                        </p:tav>
                                        <p:tav tm="100000">
                                          <p:val>
                                            <p:strVal val="#ppt_y-1"/>
                                          </p:val>
                                        </p:tav>
                                      </p:tavLst>
                                    </p:anim>
                                  </p:childTnLst>
                                </p:cTn>
                              </p:par>
                            </p:childTnLst>
                          </p:cTn>
                        </p:par>
                        <p:par>
                          <p:cTn id="9" fill="hold">
                            <p:stCondLst>
                              <p:cond delay="5000"/>
                            </p:stCondLst>
                            <p:childTnLst>
                              <p:par>
                                <p:cTn id="10" presetID="1" presetClass="exit"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hidden"/>
                                      </p:to>
                                    </p:set>
                                  </p:childTnLst>
                                </p:cTn>
                              </p:par>
                            </p:childTnLst>
                          </p:cTn>
                        </p:par>
                        <p:par>
                          <p:cTn id="12" fill="hold">
                            <p:stCondLst>
                              <p:cond delay="5000"/>
                            </p:stCondLst>
                            <p:childTnLst>
                              <p:par>
                                <p:cTn id="13" presetID="1" presetClass="exit"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par>
                          <p:cTn id="15" fill="hold">
                            <p:stCondLst>
                              <p:cond delay="5000"/>
                            </p:stCondLst>
                            <p:childTnLst>
                              <p:par>
                                <p:cTn id="16" presetID="1" presetClass="exit"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12/4/2013</a:t>
            </a:r>
            <a:endParaRPr lang="en-US"/>
          </a:p>
        </p:txBody>
      </p:sp>
      <p:sp>
        <p:nvSpPr>
          <p:cNvPr id="3" name="Footer Placeholder 2"/>
          <p:cNvSpPr>
            <a:spLocks noGrp="1"/>
          </p:cNvSpPr>
          <p:nvPr>
            <p:ph type="ftr" sz="quarter" idx="11"/>
          </p:nvPr>
        </p:nvSpPr>
        <p:spPr/>
        <p:txBody>
          <a:bodyPr/>
          <a:lstStyle/>
          <a:p>
            <a:r>
              <a:rPr lang="en-US" smtClean="0"/>
              <a:t>Booz Allen Hamilton</a:t>
            </a:r>
            <a:endParaRPr lang="en-US"/>
          </a:p>
        </p:txBody>
      </p:sp>
      <p:sp>
        <p:nvSpPr>
          <p:cNvPr id="4" name="Slide Number Placeholder 3"/>
          <p:cNvSpPr>
            <a:spLocks noGrp="1"/>
          </p:cNvSpPr>
          <p:nvPr>
            <p:ph type="sldNum" sz="quarter" idx="12"/>
          </p:nvPr>
        </p:nvSpPr>
        <p:spPr/>
        <p:txBody>
          <a:bodyPr/>
          <a:lstStyle/>
          <a:p>
            <a:fld id="{FA84A37A-AFC2-4A01-80A1-FC20F2C0D5BB}" type="slidenum">
              <a:rPr lang="en-US" smtClean="0"/>
              <a:pPr/>
              <a:t>41</a:t>
            </a:fld>
            <a:endParaRPr lang="en-US"/>
          </a:p>
        </p:txBody>
      </p:sp>
      <p:pic>
        <p:nvPicPr>
          <p:cNvPr id="5" name="Picture 4"/>
          <p:cNvPicPr>
            <a:picLocks noChangeAspect="1"/>
          </p:cNvPicPr>
          <p:nvPr/>
        </p:nvPicPr>
        <p:blipFill>
          <a:blip r:embed="rId2"/>
          <a:stretch>
            <a:fillRect/>
          </a:stretch>
        </p:blipFill>
        <p:spPr>
          <a:xfrm>
            <a:off x="2819400" y="2260600"/>
            <a:ext cx="3492500" cy="2324100"/>
          </a:xfrm>
          <a:prstGeom prst="rect">
            <a:avLst/>
          </a:prstGeom>
        </p:spPr>
      </p:pic>
    </p:spTree>
    <p:extLst>
      <p:ext uri="{BB962C8B-B14F-4D97-AF65-F5344CB8AC3E}">
        <p14:creationId xmlns:p14="http://schemas.microsoft.com/office/powerpoint/2010/main" val="177719539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Acknowledgements</a:t>
            </a:r>
            <a:endParaRPr lang="en-US" dirty="0"/>
          </a:p>
        </p:txBody>
      </p:sp>
      <p:sp>
        <p:nvSpPr>
          <p:cNvPr id="6" name="Content Placeholder 5"/>
          <p:cNvSpPr>
            <a:spLocks noGrp="1"/>
          </p:cNvSpPr>
          <p:nvPr>
            <p:ph idx="1"/>
          </p:nvPr>
        </p:nvSpPr>
        <p:spPr>
          <a:xfrm>
            <a:off x="441326" y="1477211"/>
            <a:ext cx="8259097" cy="4763393"/>
          </a:xfrm>
        </p:spPr>
        <p:txBody>
          <a:bodyPr>
            <a:normAutofit lnSpcReduction="10000"/>
          </a:bodyPr>
          <a:lstStyle/>
          <a:p>
            <a:pPr marL="0" indent="0">
              <a:buNone/>
            </a:pPr>
            <a:r>
              <a:rPr lang="en-US" b="0" dirty="0">
                <a:effectLst>
                  <a:outerShdw blurRad="101600" dist="63500" dir="2700000" algn="tl" rotWithShape="0">
                    <a:srgbClr val="000000">
                      <a:alpha val="75000"/>
                    </a:srgbClr>
                  </a:outerShdw>
                </a:effectLst>
              </a:rPr>
              <a:t>Over the past several years the National Children’s Study (NCS</a:t>
            </a:r>
            <a:r>
              <a:rPr lang="en-US" b="0" dirty="0" smtClean="0">
                <a:effectLst>
                  <a:outerShdw blurRad="101600" dist="63500" dir="2700000" algn="tl" rotWithShape="0">
                    <a:srgbClr val="000000">
                      <a:alpha val="75000"/>
                    </a:srgbClr>
                  </a:outerShdw>
                </a:effectLst>
              </a:rPr>
              <a:t>), </a:t>
            </a:r>
            <a:r>
              <a:rPr lang="en-US" b="0" dirty="0">
                <a:effectLst>
                  <a:outerShdw blurRad="101600" dist="63500" dir="2700000" algn="tl" rotWithShape="0">
                    <a:srgbClr val="000000">
                      <a:alpha val="75000"/>
                    </a:srgbClr>
                  </a:outerShdw>
                </a:effectLst>
              </a:rPr>
              <a:t>its Director Dr. Steven </a:t>
            </a:r>
            <a:r>
              <a:rPr lang="en-US" b="0" dirty="0" smtClean="0">
                <a:effectLst>
                  <a:outerShdw blurRad="101600" dist="63500" dir="2700000" algn="tl" rotWithShape="0">
                    <a:srgbClr val="000000">
                      <a:alpha val="75000"/>
                    </a:srgbClr>
                  </a:outerShdw>
                </a:effectLst>
              </a:rPr>
              <a:t>Hirschfeld and the CIO David Songco have </a:t>
            </a:r>
            <a:r>
              <a:rPr lang="en-US" b="0" dirty="0">
                <a:effectLst>
                  <a:outerShdw blurRad="101600" dist="63500" dir="2700000" algn="tl" rotWithShape="0">
                    <a:srgbClr val="000000">
                      <a:alpha val="75000"/>
                    </a:srgbClr>
                  </a:outerShdw>
                </a:effectLst>
              </a:rPr>
              <a:t>encouraged many of us to think broadly and creatively about terminology, </a:t>
            </a:r>
            <a:r>
              <a:rPr lang="en-US" dirty="0">
                <a:effectLst>
                  <a:outerShdw blurRad="101600" dist="63500" dir="2700000" algn="tl" rotWithShape="0">
                    <a:srgbClr val="000000">
                      <a:alpha val="75000"/>
                    </a:srgbClr>
                  </a:outerShdw>
                </a:effectLst>
              </a:rPr>
              <a:t>ontology</a:t>
            </a:r>
            <a:r>
              <a:rPr lang="en-US" b="0" dirty="0">
                <a:effectLst>
                  <a:outerShdw blurRad="101600" dist="63500" dir="2700000" algn="tl" rotWithShape="0">
                    <a:srgbClr val="000000">
                      <a:alpha val="75000"/>
                    </a:srgbClr>
                  </a:outerShdw>
                </a:effectLst>
              </a:rPr>
              <a:t> and study metadata. Many of the views described here originate in ongoing work that Booz Allen Hamilton and other NCS contractors are currently engaged in.</a:t>
            </a:r>
          </a:p>
          <a:p>
            <a:pPr marL="0" indent="0">
              <a:buNone/>
            </a:pPr>
            <a:r>
              <a:rPr lang="en-US" b="0" dirty="0">
                <a:effectLst>
                  <a:outerShdw blurRad="101600" dist="63500" dir="2700000" algn="tl" rotWithShape="0">
                    <a:srgbClr val="000000">
                      <a:alpha val="75000"/>
                    </a:srgbClr>
                  </a:outerShdw>
                </a:effectLst>
              </a:rPr>
              <a:t>More specifically, this document draws from the work of two mentors: </a:t>
            </a:r>
          </a:p>
          <a:p>
            <a:r>
              <a:rPr lang="en-US" b="0" dirty="0">
                <a:effectLst>
                  <a:outerShdw blurRad="101600" dist="63500" dir="2700000" algn="tl" rotWithShape="0">
                    <a:srgbClr val="000000">
                      <a:alpha val="75000"/>
                    </a:srgbClr>
                  </a:outerShdw>
                </a:effectLst>
              </a:rPr>
              <a:t>Sophia Kuan is a colleague and an informaticist who over the years has led the development of a number of software systems that automate the annotation of data with metadata and semantics.</a:t>
            </a:r>
          </a:p>
          <a:p>
            <a:r>
              <a:rPr lang="en-US" b="0" dirty="0">
                <a:effectLst>
                  <a:outerShdw blurRad="101600" dist="63500" dir="2700000" algn="tl" rotWithShape="0">
                    <a:srgbClr val="000000">
                      <a:alpha val="75000"/>
                    </a:srgbClr>
                  </a:outerShdw>
                </a:effectLst>
              </a:rPr>
              <a:t>Mathias Brochhausen is a </a:t>
            </a:r>
            <a:r>
              <a:rPr lang="en-US" b="0" dirty="0" smtClean="0">
                <a:effectLst>
                  <a:outerShdw blurRad="101600" dist="63500" dir="2700000" algn="tl" rotWithShape="0">
                    <a:srgbClr val="000000">
                      <a:alpha val="75000"/>
                    </a:srgbClr>
                  </a:outerShdw>
                </a:effectLst>
              </a:rPr>
              <a:t>member of the faculty of the Biomedical Informatics Division of the College of Medicine at the University of Arkansas Medical Sciences and a contributor </a:t>
            </a:r>
            <a:r>
              <a:rPr lang="en-US" b="0" dirty="0">
                <a:effectLst>
                  <a:outerShdw blurRad="101600" dist="63500" dir="2700000" algn="tl" rotWithShape="0">
                    <a:srgbClr val="000000">
                      <a:alpha val="75000"/>
                    </a:srgbClr>
                  </a:outerShdw>
                </a:effectLst>
              </a:rPr>
              <a:t>to the </a:t>
            </a:r>
            <a:r>
              <a:rPr lang="en-US" b="0" dirty="0" smtClean="0">
                <a:effectLst>
                  <a:outerShdw blurRad="101600" dist="63500" dir="2700000" algn="tl" rotWithShape="0">
                    <a:srgbClr val="000000">
                      <a:alpha val="75000"/>
                    </a:srgbClr>
                  </a:outerShdw>
                </a:effectLst>
              </a:rPr>
              <a:t>Basic Formal Ontology (BFO) Project. He </a:t>
            </a:r>
            <a:r>
              <a:rPr lang="en-US" b="0" dirty="0">
                <a:effectLst>
                  <a:outerShdw blurRad="101600" dist="63500" dir="2700000" algn="tl" rotWithShape="0">
                    <a:srgbClr val="000000">
                      <a:alpha val="75000"/>
                    </a:srgbClr>
                  </a:outerShdw>
                </a:effectLst>
              </a:rPr>
              <a:t>has helped me grow my knowledge of the </a:t>
            </a:r>
            <a:r>
              <a:rPr lang="en-US" b="0" dirty="0" smtClean="0">
                <a:effectLst>
                  <a:outerShdw blurRad="101600" dist="63500" dir="2700000" algn="tl" rotWithShape="0">
                    <a:srgbClr val="000000">
                      <a:alpha val="75000"/>
                    </a:srgbClr>
                  </a:outerShdw>
                </a:effectLst>
              </a:rPr>
              <a:t>Open Biological and Biomedical Ontologies (OBO).</a:t>
            </a:r>
            <a:endParaRPr lang="en-US" b="0" dirty="0">
              <a:effectLst>
                <a:outerShdw blurRad="101600" dist="63500" dir="2700000" algn="tl" rotWithShape="0">
                  <a:srgbClr val="000000">
                    <a:alpha val="75000"/>
                  </a:srgbClr>
                </a:outerShdw>
              </a:effectLst>
            </a:endParaRPr>
          </a:p>
          <a:p>
            <a:endParaRPr lang="en-US" dirty="0"/>
          </a:p>
        </p:txBody>
      </p:sp>
      <p:sp>
        <p:nvSpPr>
          <p:cNvPr id="2" name="Date Placeholder 1"/>
          <p:cNvSpPr>
            <a:spLocks noGrp="1"/>
          </p:cNvSpPr>
          <p:nvPr>
            <p:ph type="dt" sz="half" idx="10"/>
          </p:nvPr>
        </p:nvSpPr>
        <p:spPr/>
        <p:txBody>
          <a:bodyPr/>
          <a:lstStyle/>
          <a:p>
            <a:r>
              <a:rPr lang="en-US" smtClean="0"/>
              <a:t>12/4/2013</a:t>
            </a:r>
            <a:endParaRPr lang="en-US"/>
          </a:p>
        </p:txBody>
      </p:sp>
      <p:sp>
        <p:nvSpPr>
          <p:cNvPr id="3" name="Footer Placeholder 2"/>
          <p:cNvSpPr>
            <a:spLocks noGrp="1"/>
          </p:cNvSpPr>
          <p:nvPr>
            <p:ph type="ftr" sz="quarter" idx="11"/>
          </p:nvPr>
        </p:nvSpPr>
        <p:spPr/>
        <p:txBody>
          <a:bodyPr/>
          <a:lstStyle/>
          <a:p>
            <a:r>
              <a:rPr lang="en-US" smtClean="0"/>
              <a:t>Booz Allen Hamilton</a:t>
            </a:r>
            <a:endParaRPr lang="en-US"/>
          </a:p>
        </p:txBody>
      </p:sp>
      <p:sp>
        <p:nvSpPr>
          <p:cNvPr id="4" name="Slide Number Placeholder 3"/>
          <p:cNvSpPr>
            <a:spLocks noGrp="1"/>
          </p:cNvSpPr>
          <p:nvPr>
            <p:ph type="sldNum" sz="quarter" idx="12"/>
          </p:nvPr>
        </p:nvSpPr>
        <p:spPr/>
        <p:txBody>
          <a:bodyPr/>
          <a:lstStyle/>
          <a:p>
            <a:fld id="{FA84A37A-AFC2-4A01-80A1-FC20F2C0D5BB}" type="slidenum">
              <a:rPr lang="en-US" smtClean="0"/>
              <a:pPr/>
              <a:t>42</a:t>
            </a:fld>
            <a:endParaRPr lang="en-US"/>
          </a:p>
        </p:txBody>
      </p:sp>
    </p:spTree>
    <p:extLst>
      <p:ext uri="{BB962C8B-B14F-4D97-AF65-F5344CB8AC3E}">
        <p14:creationId xmlns:p14="http://schemas.microsoft.com/office/powerpoint/2010/main" val="2640686194"/>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fontScale="92500" lnSpcReduction="20000"/>
          </a:bodyPr>
          <a:lstStyle/>
          <a:p>
            <a:r>
              <a:rPr lang="en-US" b="0" dirty="0">
                <a:effectLst>
                  <a:outerShdw blurRad="101600" dist="63500" dir="2700000" algn="tl" rotWithShape="0">
                    <a:srgbClr val="000000">
                      <a:alpha val="75000"/>
                    </a:srgbClr>
                  </a:outerShdw>
                </a:effectLst>
              </a:rPr>
              <a:t>Bechhofer, Sean, and Alistair Miles. (2008). Using OWL and SKOS, [Online], Available: </a:t>
            </a:r>
            <a:r>
              <a:rPr lang="en-US" b="0" u="sng" dirty="0">
                <a:effectLst>
                  <a:outerShdw blurRad="101600" dist="63500" dir="2700000" algn="tl" rotWithShape="0">
                    <a:srgbClr val="000000">
                      <a:alpha val="75000"/>
                    </a:srgbClr>
                  </a:outerShdw>
                </a:effectLst>
                <a:hlinkClick r:id="rId2"/>
              </a:rPr>
              <a:t>http://www.w3.org/2006/07/SWD/SKOS/skos-and-owl/master.html</a:t>
            </a:r>
            <a:r>
              <a:rPr lang="en-US" b="0" dirty="0">
                <a:effectLst>
                  <a:outerShdw blurRad="101600" dist="63500" dir="2700000" algn="tl" rotWithShape="0">
                    <a:srgbClr val="000000">
                      <a:alpha val="75000"/>
                    </a:srgbClr>
                  </a:outerShdw>
                </a:effectLst>
              </a:rPr>
              <a:t>.</a:t>
            </a:r>
          </a:p>
          <a:p>
            <a:r>
              <a:rPr lang="en-US" b="0" dirty="0">
                <a:effectLst>
                  <a:outerShdw blurRad="101600" dist="63500" dir="2700000" algn="tl" rotWithShape="0">
                    <a:srgbClr val="000000">
                      <a:alpha val="75000"/>
                    </a:srgbClr>
                  </a:outerShdw>
                </a:effectLst>
              </a:rPr>
              <a:t>Bosch, Thomas, and Brigitte Mathiak. (2011). Generic Multilevel Approach Designing Domain Ontologies based on XML Schemas. Workshop Ontologies Come of Age in the Semantic Web, 2011, 1-12.</a:t>
            </a:r>
          </a:p>
          <a:p>
            <a:r>
              <a:rPr lang="en-US" b="0" dirty="0">
                <a:effectLst>
                  <a:outerShdw blurRad="101600" dist="63500" dir="2700000" algn="tl" rotWithShape="0">
                    <a:srgbClr val="000000">
                      <a:alpha val="75000"/>
                    </a:srgbClr>
                  </a:outerShdw>
                </a:effectLst>
              </a:rPr>
              <a:t>Bosch, Thomas, and Brigitte Mathiak. (2012). XSLT Transformation Generating OWL Ontologies Automatically Based on XML Schemas. The 6th International Conference for Internet Technology and Secured Transactions, 2012, 660-667.</a:t>
            </a:r>
          </a:p>
          <a:p>
            <a:r>
              <a:rPr lang="en-US" b="0" dirty="0">
                <a:effectLst>
                  <a:outerShdw blurRad="101600" dist="63500" dir="2700000" algn="tl" rotWithShape="0">
                    <a:srgbClr val="000000">
                      <a:alpha val="75000"/>
                    </a:srgbClr>
                  </a:outerShdw>
                </a:effectLst>
              </a:rPr>
              <a:t>Bosch, Thomas, Richard Cyganiak, Joachim Wackerow and Benjamin Zapilko. (2012). Leveraging the DDI Model for Linked Statistical Data in the Social, Behavioral, and Economic Sciences. Proc. Int’l Conf. on Dublin Core and Metadata </a:t>
            </a:r>
            <a:r>
              <a:rPr lang="en-US" b="0" dirty="0" smtClean="0">
                <a:effectLst>
                  <a:outerShdw blurRad="101600" dist="63500" dir="2700000" algn="tl" rotWithShape="0">
                    <a:srgbClr val="000000">
                      <a:alpha val="75000"/>
                    </a:srgbClr>
                  </a:outerShdw>
                </a:effectLst>
              </a:rPr>
              <a:t>Applications, </a:t>
            </a:r>
            <a:r>
              <a:rPr lang="en-US" b="0" dirty="0">
                <a:effectLst>
                  <a:outerShdw blurRad="101600" dist="63500" dir="2700000" algn="tl" rotWithShape="0">
                    <a:srgbClr val="000000">
                      <a:alpha val="75000"/>
                    </a:srgbClr>
                  </a:outerShdw>
                </a:effectLst>
              </a:rPr>
              <a:t>2012.</a:t>
            </a:r>
          </a:p>
          <a:p>
            <a:r>
              <a:rPr lang="en-US" b="0" dirty="0">
                <a:effectLst>
                  <a:outerShdw blurRad="101600" dist="63500" dir="2700000" algn="tl" rotWithShape="0">
                    <a:srgbClr val="000000">
                      <a:alpha val="75000"/>
                    </a:srgbClr>
                  </a:outerShdw>
                </a:effectLst>
              </a:rPr>
              <a:t>Fisher, Justin. (2013). Dispositions, Conditionals and Auspicious Circumstances. Philosophical Studies 164 (2)443-464.</a:t>
            </a:r>
          </a:p>
          <a:p>
            <a:endParaRPr lang="en-US"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43</a:t>
            </a:fld>
            <a:endParaRPr lang="en-US"/>
          </a:p>
        </p:txBody>
      </p:sp>
    </p:spTree>
    <p:extLst>
      <p:ext uri="{BB962C8B-B14F-4D97-AF65-F5344CB8AC3E}">
        <p14:creationId xmlns:p14="http://schemas.microsoft.com/office/powerpoint/2010/main" val="590853007"/>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(continued)</a:t>
            </a:r>
            <a:endParaRPr lang="en-US" dirty="0"/>
          </a:p>
        </p:txBody>
      </p:sp>
      <p:sp>
        <p:nvSpPr>
          <p:cNvPr id="3" name="Content Placeholder 2"/>
          <p:cNvSpPr>
            <a:spLocks noGrp="1"/>
          </p:cNvSpPr>
          <p:nvPr>
            <p:ph idx="1"/>
          </p:nvPr>
        </p:nvSpPr>
        <p:spPr/>
        <p:txBody>
          <a:bodyPr>
            <a:normAutofit/>
          </a:bodyPr>
          <a:lstStyle/>
          <a:p>
            <a:r>
              <a:rPr lang="en-US" b="0" dirty="0" smtClean="0">
                <a:effectLst>
                  <a:outerShdw blurRad="101600" dist="63500" dir="2700000" algn="tl" rotWithShape="0">
                    <a:srgbClr val="000000">
                      <a:alpha val="75000"/>
                    </a:srgbClr>
                  </a:outerShdw>
                </a:effectLst>
              </a:rPr>
              <a:t>Greenfield, Jay. (2013). The Paradata Information Model. North American Data </a:t>
            </a:r>
            <a:r>
              <a:rPr lang="en-US" b="0" dirty="0">
                <a:effectLst>
                  <a:outerShdw blurRad="101600" dist="63500" dir="2700000" algn="tl" rotWithShape="0">
                    <a:srgbClr val="000000">
                      <a:alpha val="75000"/>
                    </a:srgbClr>
                  </a:outerShdw>
                </a:effectLst>
              </a:rPr>
              <a:t>Documentation Conference (NADDI), 2013. </a:t>
            </a:r>
            <a:r>
              <a:rPr lang="en-US" b="0" dirty="0" smtClean="0">
                <a:effectLst>
                  <a:outerShdw blurRad="101600" dist="63500" dir="2700000" algn="tl" rotWithShape="0">
                    <a:srgbClr val="000000">
                      <a:alpha val="75000"/>
                    </a:srgbClr>
                  </a:outerShdw>
                </a:effectLst>
              </a:rPr>
              <a:t/>
            </a:r>
            <a:br>
              <a:rPr lang="en-US" b="0" dirty="0" smtClean="0">
                <a:effectLst>
                  <a:outerShdw blurRad="101600" dist="63500" dir="2700000" algn="tl" rotWithShape="0">
                    <a:srgbClr val="000000">
                      <a:alpha val="75000"/>
                    </a:srgbClr>
                  </a:outerShdw>
                </a:effectLst>
              </a:rPr>
            </a:br>
            <a:r>
              <a:rPr lang="en-US" b="0" dirty="0" smtClean="0">
                <a:effectLst>
                  <a:outerShdw blurRad="101600" dist="63500" dir="2700000" algn="tl" rotWithShape="0">
                    <a:srgbClr val="000000">
                      <a:alpha val="75000"/>
                    </a:srgbClr>
                  </a:outerShdw>
                </a:effectLst>
                <a:hlinkClick r:id="rId2"/>
              </a:rPr>
              <a:t>http</a:t>
            </a:r>
            <a:r>
              <a:rPr lang="en-US" b="0" dirty="0">
                <a:effectLst>
                  <a:outerShdw blurRad="101600" dist="63500" dir="2700000" algn="tl" rotWithShape="0">
                    <a:srgbClr val="000000">
                      <a:alpha val="75000"/>
                    </a:srgbClr>
                  </a:outerShdw>
                </a:effectLst>
                <a:hlinkClick r:id="rId2"/>
              </a:rPr>
              <a:t>://</a:t>
            </a:r>
            <a:r>
              <a:rPr lang="en-US" b="0" dirty="0" err="1">
                <a:effectLst>
                  <a:outerShdw blurRad="101600" dist="63500" dir="2700000" algn="tl" rotWithShape="0">
                    <a:srgbClr val="000000">
                      <a:alpha val="75000"/>
                    </a:srgbClr>
                  </a:outerShdw>
                </a:effectLst>
                <a:hlinkClick r:id="rId2"/>
              </a:rPr>
              <a:t>kuscholarworks.ku.edu</a:t>
            </a:r>
            <a:r>
              <a:rPr lang="en-US" b="0" dirty="0">
                <a:effectLst>
                  <a:outerShdw blurRad="101600" dist="63500" dir="2700000" algn="tl" rotWithShape="0">
                    <a:srgbClr val="000000">
                      <a:alpha val="75000"/>
                    </a:srgbClr>
                  </a:outerShdw>
                </a:effectLst>
                <a:hlinkClick r:id="rId2"/>
              </a:rPr>
              <a:t>/</a:t>
            </a:r>
            <a:r>
              <a:rPr lang="en-US" b="0" dirty="0" err="1">
                <a:effectLst>
                  <a:outerShdw blurRad="101600" dist="63500" dir="2700000" algn="tl" rotWithShape="0">
                    <a:srgbClr val="000000">
                      <a:alpha val="75000"/>
                    </a:srgbClr>
                  </a:outerShdw>
                </a:effectLst>
                <a:hlinkClick r:id="rId2"/>
              </a:rPr>
              <a:t>dspace</a:t>
            </a:r>
            <a:r>
              <a:rPr lang="en-US" b="0" dirty="0">
                <a:effectLst>
                  <a:outerShdw blurRad="101600" dist="63500" dir="2700000" algn="tl" rotWithShape="0">
                    <a:srgbClr val="000000">
                      <a:alpha val="75000"/>
                    </a:srgbClr>
                  </a:outerShdw>
                </a:effectLst>
                <a:hlinkClick r:id="rId2"/>
              </a:rPr>
              <a:t>/handle/1808/11065</a:t>
            </a:r>
            <a:endParaRPr lang="en-US" dirty="0"/>
          </a:p>
        </p:txBody>
      </p:sp>
      <p:sp>
        <p:nvSpPr>
          <p:cNvPr id="4" name="Date Placeholder 3"/>
          <p:cNvSpPr>
            <a:spLocks noGrp="1"/>
          </p:cNvSpPr>
          <p:nvPr>
            <p:ph type="dt" sz="half" idx="10"/>
          </p:nvPr>
        </p:nvSpPr>
        <p:spPr/>
        <p:txBody>
          <a:bodyPr/>
          <a:lstStyle/>
          <a:p>
            <a:r>
              <a:rPr lang="en-US" smtClean="0"/>
              <a:t>12/4/2013</a:t>
            </a:r>
            <a:endParaRPr lang="en-US"/>
          </a:p>
        </p:txBody>
      </p:sp>
      <p:sp>
        <p:nvSpPr>
          <p:cNvPr id="5" name="Footer Placeholder 4"/>
          <p:cNvSpPr>
            <a:spLocks noGrp="1"/>
          </p:cNvSpPr>
          <p:nvPr>
            <p:ph type="ftr" sz="quarter" idx="11"/>
          </p:nvPr>
        </p:nvSpPr>
        <p:spPr/>
        <p:txBody>
          <a:bodyPr/>
          <a:lstStyle/>
          <a:p>
            <a:r>
              <a:rPr lang="en-US" smtClean="0"/>
              <a:t>Booz Allen Hamilton</a:t>
            </a:r>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44</a:t>
            </a:fld>
            <a:endParaRPr lang="en-US"/>
          </a:p>
        </p:txBody>
      </p:sp>
    </p:spTree>
    <p:extLst>
      <p:ext uri="{BB962C8B-B14F-4D97-AF65-F5344CB8AC3E}">
        <p14:creationId xmlns:p14="http://schemas.microsoft.com/office/powerpoint/2010/main" val="949253157"/>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bit">
  <a:themeElements>
    <a:clrScheme name="Custom 14">
      <a:dk1>
        <a:srgbClr val="000000"/>
      </a:dk1>
      <a:lt1>
        <a:srgbClr val="FFFFFF"/>
      </a:lt1>
      <a:dk2>
        <a:srgbClr val="7C9BA5"/>
      </a:dk2>
      <a:lt2>
        <a:srgbClr val="C1D0CA"/>
      </a:lt2>
      <a:accent1>
        <a:srgbClr val="F2D908"/>
      </a:accent1>
      <a:accent2>
        <a:srgbClr val="9DE61E"/>
      </a:accent2>
      <a:accent3>
        <a:srgbClr val="0D8BE6"/>
      </a:accent3>
      <a:accent4>
        <a:srgbClr val="C61B1B"/>
      </a:accent4>
      <a:accent5>
        <a:srgbClr val="E26F08"/>
      </a:accent5>
      <a:accent6>
        <a:srgbClr val="8D35D1"/>
      </a:accent6>
      <a:hlink>
        <a:srgbClr val="F59595"/>
      </a:hlink>
      <a:folHlink>
        <a:srgbClr val="F59595"/>
      </a:folHlink>
    </a:clrScheme>
    <a:fontScheme name="Orbit">
      <a:majorFont>
        <a:latin typeface="Candara"/>
        <a:ea typeface=""/>
        <a:cs typeface=""/>
        <a:font script="Jpan" typeface="ＭＳ Ｐゴシック"/>
      </a:majorFont>
      <a:minorFont>
        <a:latin typeface="Candara"/>
        <a:ea typeface=""/>
        <a:cs typeface=""/>
        <a:font script="Jpan" typeface="ＭＳ Ｐゴシック"/>
      </a:minorFont>
    </a:fontScheme>
    <a:fmtScheme name="Orbit">
      <a:fillStyleLst>
        <a:solidFill>
          <a:schemeClr val="phClr"/>
        </a:solidFill>
        <a:solidFill>
          <a:schemeClr val="phClr">
            <a:shade val="80000"/>
          </a:schemeClr>
        </a:solidFill>
        <a:gradFill rotWithShape="1">
          <a:gsLst>
            <a:gs pos="0">
              <a:schemeClr val="phClr">
                <a:shade val="30000"/>
                <a:satMod val="100000"/>
              </a:schemeClr>
            </a:gs>
            <a:gs pos="80000">
              <a:schemeClr val="phClr">
                <a:shade val="90000"/>
                <a:satMod val="100000"/>
              </a:schemeClr>
            </a:gs>
            <a:gs pos="100000">
              <a:schemeClr val="phClr">
                <a:tint val="90000"/>
                <a:shade val="100000"/>
                <a:satMod val="150000"/>
              </a:schemeClr>
            </a:gs>
          </a:gsLst>
          <a:lin ang="16200000" scaled="0"/>
        </a:gradFill>
      </a:fillStyleLst>
      <a:lnStyleLst>
        <a:ln w="12700" cap="flat" cmpd="sng" algn="ctr">
          <a:solidFill>
            <a:schemeClr val="phClr">
              <a:shade val="95000"/>
              <a:satMod val="105000"/>
            </a:schemeClr>
          </a:solidFill>
          <a:prstDash val="solid"/>
        </a:ln>
        <a:ln w="31750" cap="flat" cmpd="sng" algn="ctr">
          <a:solidFill>
            <a:schemeClr val="phClr">
              <a:shade val="90000"/>
            </a:schemeClr>
          </a:solidFill>
          <a:prstDash val="solid"/>
        </a:ln>
        <a:ln w="76200" cap="flat" cmpd="sng" algn="ctr">
          <a:solidFill>
            <a:schemeClr val="phClr"/>
          </a:solidFill>
          <a:prstDash val="solid"/>
        </a:ln>
      </a:lnStyleLst>
      <a:effectStyleLst>
        <a:effectStyle>
          <a:effectLst/>
        </a:effectStyle>
        <a:effectStyle>
          <a:effectLst>
            <a:outerShdw blurRad="228600" dist="38100" dir="5400000" sx="104000" sy="104000" algn="ctr" rotWithShape="0">
              <a:srgbClr val="000000">
                <a:alpha val="80000"/>
              </a:srgbClr>
            </a:outerShdw>
          </a:effectLst>
        </a:effectStyle>
        <a:effectStyle>
          <a:effectLst>
            <a:outerShdw blurRad="317500" dist="381000" dir="5400000" sx="90000" sy="20000" rotWithShape="0">
              <a:srgbClr val="000000">
                <a:alpha val="40000"/>
              </a:srgbClr>
            </a:outerShdw>
          </a:effectLst>
          <a:scene3d>
            <a:camera prst="orthographicFront">
              <a:rot lat="0" lon="0" rev="0"/>
            </a:camera>
            <a:lightRig rig="balanced" dir="t"/>
          </a:scene3d>
          <a:sp3d prstMaterial="metal">
            <a:bevelT w="254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lin ang="5400000" scaled="0"/>
        </a:gradFill>
        <a:blipFill rotWithShape="1">
          <a:blip xmlns:r="http://schemas.openxmlformats.org/officeDocument/2006/relationships" r:embed="rId1">
            <a:duotone>
              <a:schemeClr val="phClr">
                <a:shade val="1000"/>
                <a:lumMod val="80000"/>
              </a:schemeClr>
              <a:schemeClr val="phClr">
                <a:satMod val="360000"/>
                <a:lumMod val="14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Orbit.thmx</Template>
  <TotalTime>5479</TotalTime>
  <Words>2615</Words>
  <Application>Microsoft Macintosh PowerPoint</Application>
  <PresentationFormat>On-screen Show (4:3)</PresentationFormat>
  <Paragraphs>342</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Orbit</vt:lpstr>
      <vt:lpstr>Moving Forward DDI Support for Data Discovery</vt:lpstr>
      <vt:lpstr>Moving Forward DDI will become a model-based specification with packages and views</vt:lpstr>
      <vt:lpstr>Moving Forward DDI will become a model-based specification with packages and views</vt:lpstr>
      <vt:lpstr>Driving the packages and views is a framework…</vt:lpstr>
      <vt:lpstr>and a Concept of Operations (CONOPS)…</vt:lpstr>
      <vt:lpstr>Data Discovery under this CONOPS is semantic search which “exposes” key elements from one or more packages in views…</vt:lpstr>
      <vt:lpstr>Today we will propose three data discovery views (1 of 3)</vt:lpstr>
      <vt:lpstr>Today we will propose three data discovery views (2 of 3)</vt:lpstr>
      <vt:lpstr>Today we will propose three data discovery views (3 of 3)</vt:lpstr>
      <vt:lpstr>Data Elements and Common Data Elements</vt:lpstr>
      <vt:lpstr>DEs  and CDEs Moving Forward (1 of 4)</vt:lpstr>
      <vt:lpstr>DEs  and CDEs Moving Forward (2 of 4)</vt:lpstr>
      <vt:lpstr>DEs  and CDEs Moving Forward (3 of 4)</vt:lpstr>
      <vt:lpstr>DEs  and CDEs Moving Forward (5 of 5)</vt:lpstr>
      <vt:lpstr>Disco (DDI-RDF Discovery Language) and Beyond – Part I: Architecture (1 of 4)</vt:lpstr>
      <vt:lpstr>Disco and Beyond – Part I (2 of 4)</vt:lpstr>
      <vt:lpstr>Disco and Beyond – Part I  (3 of 4)</vt:lpstr>
      <vt:lpstr>Disco and Beyond – Part I  (4 of 4)</vt:lpstr>
      <vt:lpstr>Disco and Beyond – Part II: Growing Disco to Support the Valuation of Study Variables (1 of 4)</vt:lpstr>
      <vt:lpstr>Disco and Beyond – Part II: Growing Disco to Support the Valuation of Study Variables (1 of 4)</vt:lpstr>
      <vt:lpstr>Disco and Beyond – Part II  (2 of 4)</vt:lpstr>
      <vt:lpstr>Disco and Beyond – Part II  (2 of 4)</vt:lpstr>
      <vt:lpstr>Disco and Beyond –  Part II (3 of 4)</vt:lpstr>
      <vt:lpstr>Disco and Beyond –  Part II (3 of 4)</vt:lpstr>
      <vt:lpstr>Disco and Beyond – Part II (4 of 4)</vt:lpstr>
      <vt:lpstr>Hypothesis Discovery: What is it?</vt:lpstr>
      <vt:lpstr>Hypothesis Discovery: What is it?</vt:lpstr>
      <vt:lpstr>Hypothesis Discovery: What is it?</vt:lpstr>
      <vt:lpstr>To support hypothesis generation we are  proposing a union…</vt:lpstr>
      <vt:lpstr>After courting but before the union, OBI cuts the following figure…</vt:lpstr>
      <vt:lpstr>After dating but before the marriage OBI cuts the following figure…</vt:lpstr>
      <vt:lpstr>Upon the union OBI undergoes specialization…</vt:lpstr>
      <vt:lpstr>Next, using a DDI XML study instance, it will be possible…</vt:lpstr>
      <vt:lpstr>Here we subclass the OBI assay using a  study-specific DDI controlled vocabulary…</vt:lpstr>
      <vt:lpstr>Appropriate subclasses  for a specific study can be  programmatically  generated…</vt:lpstr>
      <vt:lpstr>Appropriate subclasses  for a specific study can be  programmatically  generated…</vt:lpstr>
      <vt:lpstr>However, in the end , hypothesis generation requires that we annotate DDI data elements…</vt:lpstr>
      <vt:lpstr>PowerPoint Presentation</vt:lpstr>
      <vt:lpstr>Towards a Hypothesis Vocabulary</vt:lpstr>
      <vt:lpstr>PowerPoint Presentation</vt:lpstr>
      <vt:lpstr>PowerPoint Presentation</vt:lpstr>
      <vt:lpstr>Acknowledgements</vt:lpstr>
      <vt:lpstr>References</vt:lpstr>
      <vt:lpstr>References (continued)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 Greenfield</dc:creator>
  <cp:lastModifiedBy>Jay Greenfield</cp:lastModifiedBy>
  <cp:revision>104</cp:revision>
  <dcterms:created xsi:type="dcterms:W3CDTF">2013-11-25T09:39:15Z</dcterms:created>
  <dcterms:modified xsi:type="dcterms:W3CDTF">2013-12-03T05:41:14Z</dcterms:modified>
</cp:coreProperties>
</file>