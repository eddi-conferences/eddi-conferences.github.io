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4"/>
  </p:notesMasterIdLst>
  <p:sldIdLst>
    <p:sldId id="306" r:id="rId2"/>
    <p:sldId id="416" r:id="rId3"/>
    <p:sldId id="418" r:id="rId4"/>
    <p:sldId id="419" r:id="rId5"/>
    <p:sldId id="420" r:id="rId6"/>
    <p:sldId id="421" r:id="rId7"/>
    <p:sldId id="422" r:id="rId8"/>
    <p:sldId id="423" r:id="rId9"/>
    <p:sldId id="424" r:id="rId10"/>
    <p:sldId id="400" r:id="rId11"/>
    <p:sldId id="442" r:id="rId12"/>
    <p:sldId id="449" r:id="rId13"/>
    <p:sldId id="408" r:id="rId14"/>
    <p:sldId id="461" r:id="rId15"/>
    <p:sldId id="428" r:id="rId16"/>
    <p:sldId id="441" r:id="rId17"/>
    <p:sldId id="446" r:id="rId18"/>
    <p:sldId id="429" r:id="rId19"/>
    <p:sldId id="471" r:id="rId20"/>
    <p:sldId id="445" r:id="rId21"/>
    <p:sldId id="469" r:id="rId22"/>
    <p:sldId id="451" r:id="rId23"/>
    <p:sldId id="440" r:id="rId24"/>
    <p:sldId id="410" r:id="rId25"/>
    <p:sldId id="468" r:id="rId26"/>
    <p:sldId id="470" r:id="rId27"/>
    <p:sldId id="472" r:id="rId28"/>
    <p:sldId id="474" r:id="rId29"/>
    <p:sldId id="473" r:id="rId30"/>
    <p:sldId id="475" r:id="rId31"/>
    <p:sldId id="476" r:id="rId32"/>
    <p:sldId id="477" r:id="rId33"/>
  </p:sldIdLst>
  <p:sldSz cx="12192000" cy="6858000"/>
  <p:notesSz cx="6810375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40"/>
    <a:srgbClr val="B2FCBB"/>
    <a:srgbClr val="FFFF99"/>
    <a:srgbClr val="8AFA97"/>
    <a:srgbClr val="93FFC4"/>
    <a:srgbClr val="FFFFCC"/>
    <a:srgbClr val="E1AA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08" autoAdjust="0"/>
    <p:restoredTop sz="67325" autoAdjust="0"/>
  </p:normalViewPr>
  <p:slideViewPr>
    <p:cSldViewPr snapToGrid="0">
      <p:cViewPr>
        <p:scale>
          <a:sx n="66" d="100"/>
          <a:sy n="66" d="100"/>
        </p:scale>
        <p:origin x="-1572" y="-72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7636" y="0"/>
            <a:ext cx="2951163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31985B-1E3C-4649-B9DC-EAF3A68A65C2}" type="datetimeFigureOut">
              <a:rPr lang="en-GB" smtClean="0"/>
              <a:pPr/>
              <a:t>02/12/2013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5825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84835"/>
            <a:ext cx="544830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51163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7636" y="9443662"/>
            <a:ext cx="2951163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E6E89-CFCC-4916-9882-B2479E77BF2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1455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E6E89-CFCC-4916-9882-B2479E77BF2A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3098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5825" cy="3355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 smtClean="0"/>
              <a:t>2 big barriers that hinder </a:t>
            </a:r>
            <a:r>
              <a:rPr lang="en-US" sz="3200" dirty="0" err="1" smtClean="0"/>
              <a:t>modernisation</a:t>
            </a:r>
            <a:r>
              <a:rPr lang="en-US" sz="3200" dirty="0" smtClean="0"/>
              <a:t> of statistical </a:t>
            </a:r>
            <a:r>
              <a:rPr lang="en-US" sz="3200" dirty="0" err="1" smtClean="0"/>
              <a:t>organisations</a:t>
            </a:r>
            <a:r>
              <a:rPr lang="en-US" sz="3200" dirty="0" smtClean="0"/>
              <a:t> are:</a:t>
            </a:r>
          </a:p>
          <a:p>
            <a:endParaRPr lang="en-US" sz="3200" dirty="0" smtClean="0"/>
          </a:p>
          <a:p>
            <a:pPr lvl="1"/>
            <a:r>
              <a:rPr lang="en-US" sz="3200" dirty="0" smtClean="0"/>
              <a:t>Rigid processes and methods; and</a:t>
            </a:r>
          </a:p>
          <a:p>
            <a:pPr lvl="1"/>
            <a:r>
              <a:rPr lang="en-US" sz="3200" dirty="0" smtClean="0"/>
              <a:t>Inflexible and ageing technology environment.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A062F-DAF2-4BC2-8480-176F2861F2E4}" type="slidenum">
              <a:rPr lang="en-GB" smtClean="0">
                <a:solidFill>
                  <a:prstClr val="black"/>
                </a:solidFill>
                <a:latin typeface="Calibri"/>
              </a:rPr>
              <a:pPr/>
              <a:t>2</a:t>
            </a:fld>
            <a:endParaRPr lang="en-GB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3627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5825" cy="3355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Architecture</a:t>
            </a:r>
            <a:r>
              <a:rPr lang="en-US" baseline="0" dirty="0" smtClean="0"/>
              <a:t> is intrinsically linked to a transformation in a complex system and is concerned with maintaining coherence across a set of activities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A5727-E599-4087-B265-90A8C68ED9C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86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5825" cy="3355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A062F-DAF2-4BC2-8480-176F2861F2E4}" type="slidenum">
              <a:rPr lang="en-GB" smtClean="0">
                <a:solidFill>
                  <a:prstClr val="black"/>
                </a:solidFill>
                <a:latin typeface="Calibri"/>
              </a:rPr>
              <a:pPr/>
              <a:t>4</a:t>
            </a:fld>
            <a:endParaRPr lang="en-GB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6252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5825" cy="3355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A5727-E599-4087-B265-90A8C68ED9C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602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5825" cy="3355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A062F-DAF2-4BC2-8480-176F2861F2E4}" type="slidenum">
              <a:rPr lang="en-GB" smtClean="0">
                <a:solidFill>
                  <a:prstClr val="black"/>
                </a:solidFill>
                <a:latin typeface="Calibri"/>
              </a:rPr>
              <a:pPr/>
              <a:t>6</a:t>
            </a:fld>
            <a:endParaRPr lang="en-GB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1385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5825" cy="3355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A062F-DAF2-4BC2-8480-176F2861F2E4}" type="slidenum">
              <a:rPr lang="en-GB" smtClean="0">
                <a:solidFill>
                  <a:prstClr val="black"/>
                </a:solidFill>
                <a:latin typeface="Calibri"/>
              </a:rPr>
              <a:pPr/>
              <a:t>7</a:t>
            </a:fld>
            <a:endParaRPr lang="en-GB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6162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5825" cy="3355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HLG sponsor</a:t>
            </a:r>
            <a:r>
              <a:rPr lang="en-US" baseline="0" dirty="0" smtClean="0"/>
              <a:t> project: </a:t>
            </a:r>
            <a:r>
              <a:rPr lang="en-US" dirty="0" smtClean="0"/>
              <a:t>Desired Project Outcomes</a:t>
            </a:r>
          </a:p>
          <a:p>
            <a:pPr marL="0" indent="0">
              <a:buNone/>
            </a:pPr>
            <a:r>
              <a:rPr lang="en-US" dirty="0" smtClean="0"/>
              <a:t>Increased:</a:t>
            </a:r>
          </a:p>
          <a:p>
            <a:r>
              <a:rPr lang="en-US" dirty="0" smtClean="0"/>
              <a:t>interoperability in Official Statistics through the sharing of processes and components</a:t>
            </a:r>
          </a:p>
          <a:p>
            <a:r>
              <a:rPr lang="en-US" dirty="0" smtClean="0"/>
              <a:t>ability to find real/genuine collaboration opportunities </a:t>
            </a:r>
          </a:p>
          <a:p>
            <a:r>
              <a:rPr lang="en-US" dirty="0" smtClean="0"/>
              <a:t>ability to make international decisions and investments </a:t>
            </a:r>
          </a:p>
          <a:p>
            <a:r>
              <a:rPr lang="en-US" dirty="0" smtClean="0"/>
              <a:t>sharing of architectural/design</a:t>
            </a:r>
          </a:p>
          <a:p>
            <a:pPr marL="0" indent="0">
              <a:buNone/>
            </a:pPr>
            <a:r>
              <a:rPr lang="en-US" dirty="0" smtClean="0"/>
              <a:t>    knowledge and practices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A5727-E599-4087-B265-90A8C68ED9C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923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5825" cy="3355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A062F-DAF2-4BC2-8480-176F2861F2E4}" type="slidenum">
              <a:rPr lang="en-GB" smtClean="0">
                <a:solidFill>
                  <a:prstClr val="black"/>
                </a:solidFill>
                <a:latin typeface="Calibri"/>
              </a:rPr>
              <a:pPr/>
              <a:t>9</a:t>
            </a:fld>
            <a:endParaRPr lang="en-GB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4280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E6E89-CFCC-4916-9882-B2479E77BF2A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8151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E6E89-CFCC-4916-9882-B2479E77BF2A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0292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Segnaposto note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23556" name="Segnaposto numero diapositiva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8EA8DF-9DBF-4E6C-BC9B-98294C255F3D}" type="slidenum">
              <a:rPr lang="it-IT">
                <a:latin typeface="Calibri" panose="020F0502020204030204" pitchFamily="34" charset="0"/>
              </a:rPr>
              <a:pPr eaLnBrk="1" hangingPunct="1"/>
              <a:t>12</a:t>
            </a:fld>
            <a:endParaRPr lang="it-IT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153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sz="2400" dirty="0" smtClean="0"/>
              <a:t>An important concept in architecture is the </a:t>
            </a:r>
            <a:r>
              <a:rPr lang="en-US" sz="2400" dirty="0" smtClean="0">
                <a:solidFill>
                  <a:srgbClr val="FF3300"/>
                </a:solidFill>
              </a:rPr>
              <a:t>separation of concerns</a:t>
            </a:r>
            <a:r>
              <a:rPr lang="en-US" sz="2400" dirty="0" smtClean="0"/>
              <a:t>. For that reason, the architecture is separated into a number of </a:t>
            </a:r>
            <a:r>
              <a:rPr lang="en-US" sz="2400" dirty="0" smtClean="0">
                <a:solidFill>
                  <a:srgbClr val="FF3300"/>
                </a:solidFill>
              </a:rPr>
              <a:t>layers</a:t>
            </a:r>
            <a:r>
              <a:rPr lang="en-US" sz="2400" dirty="0" smtClean="0"/>
              <a:t>:  </a:t>
            </a:r>
            <a:endParaRPr lang="it-IT" sz="2400" dirty="0" smtClean="0"/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sz="2400" b="1" dirty="0" smtClean="0"/>
              <a:t>Business Architecture:</a:t>
            </a:r>
            <a:r>
              <a:rPr lang="en-US" sz="2400" dirty="0" smtClean="0"/>
              <a:t> what the industry does and how it is done (statistics in our case) </a:t>
            </a:r>
            <a:r>
              <a:rPr lang="en-US" sz="2400" b="1" dirty="0" smtClean="0"/>
              <a:t>[mention</a:t>
            </a:r>
            <a:r>
              <a:rPr lang="en-US" sz="2400" b="1" baseline="0" dirty="0" smtClean="0"/>
              <a:t>: link to Statistical Network]</a:t>
            </a:r>
            <a:endParaRPr lang="it-IT" sz="2400" b="1" dirty="0" smtClean="0"/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sz="2400" b="1" dirty="0" smtClean="0"/>
              <a:t>Information Architecture:</a:t>
            </a:r>
            <a:r>
              <a:rPr lang="en-US" sz="2400" dirty="0" smtClean="0"/>
              <a:t> understanding of the information, its flows and uses across the industry, and how that information is managed</a:t>
            </a:r>
            <a:endParaRPr lang="it-IT" sz="2400" dirty="0" smtClean="0"/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sz="2400" b="1" dirty="0" smtClean="0"/>
              <a:t>Application Architecture: </a:t>
            </a:r>
            <a:r>
              <a:rPr lang="en-US" sz="2400" dirty="0" smtClean="0"/>
              <a:t>the set of practices used to select, define or design software components and their relationships</a:t>
            </a:r>
            <a:endParaRPr lang="it-IT" sz="2400" dirty="0" smtClean="0"/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sz="2400" b="1" dirty="0" smtClean="0"/>
              <a:t>Technology Architecture:</a:t>
            </a:r>
            <a:r>
              <a:rPr lang="en-US" sz="2400" dirty="0" smtClean="0"/>
              <a:t>  the infrastructure technology underlying (supporting) the business and application layers</a:t>
            </a:r>
            <a:endParaRPr lang="it-IT" sz="24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A5727-E599-4087-B265-90A8C68ED9C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684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At the core of the </a:t>
            </a:r>
            <a:r>
              <a:rPr lang="en-US" dirty="0" err="1" smtClean="0"/>
              <a:t>architecure</a:t>
            </a:r>
            <a:r>
              <a:rPr lang="en-US" dirty="0" smtClean="0"/>
              <a:t> is the concept</a:t>
            </a:r>
            <a:r>
              <a:rPr lang="en-US" baseline="0" dirty="0" smtClean="0"/>
              <a:t> of </a:t>
            </a:r>
            <a:r>
              <a:rPr lang="en-US" dirty="0" smtClean="0"/>
              <a:t>statistical Service:</a:t>
            </a:r>
          </a:p>
          <a:p>
            <a:pPr lvl="1"/>
            <a:r>
              <a:rPr lang="en-US" dirty="0" smtClean="0"/>
              <a:t>It</a:t>
            </a:r>
            <a:r>
              <a:rPr lang="en-US" baseline="0" dirty="0" smtClean="0"/>
              <a:t> is a set of activities that are </a:t>
            </a:r>
            <a:r>
              <a:rPr lang="en-US" dirty="0" err="1" smtClean="0"/>
              <a:t>self contained</a:t>
            </a:r>
            <a:r>
              <a:rPr lang="en-US" dirty="0" smtClean="0"/>
              <a:t> and which can be executed autonomously </a:t>
            </a:r>
          </a:p>
          <a:p>
            <a:pPr lvl="1"/>
            <a:r>
              <a:rPr lang="en-US" baseline="0" dirty="0" smtClean="0"/>
              <a:t>It required well define input and provide well define output.  It can be </a:t>
            </a:r>
            <a:r>
              <a:rPr lang="en-US" baseline="0" dirty="0" err="1" smtClean="0"/>
              <a:t>parametrised</a:t>
            </a:r>
            <a:endParaRPr lang="en-US" baseline="0" dirty="0" smtClean="0"/>
          </a:p>
          <a:p>
            <a:pPr lvl="0"/>
            <a:r>
              <a:rPr lang="en-US" baseline="0" dirty="0" smtClean="0"/>
              <a:t>Link to GSBPM and GSIM</a:t>
            </a:r>
          </a:p>
          <a:p>
            <a:pPr lvl="0"/>
            <a:r>
              <a:rPr lang="en-US" baseline="0" dirty="0" smtClean="0"/>
              <a:t>IN the statistical world, we use GSBPM to describe our activities and we use GSIM to describe the objects (information, parameters) and their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E6E89-CFCC-4916-9882-B2479E77BF2A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63904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5825" cy="3355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 smtClean="0"/>
              <a:t>We use the analogy</a:t>
            </a:r>
            <a:r>
              <a:rPr lang="en-US" baseline="0" dirty="0" smtClean="0"/>
              <a:t> of the </a:t>
            </a:r>
            <a:r>
              <a:rPr lang="en-US" baseline="0" dirty="0" err="1" smtClean="0"/>
              <a:t>lego</a:t>
            </a:r>
            <a:r>
              <a:rPr lang="en-US" baseline="0" dirty="0" smtClean="0"/>
              <a:t> block </a:t>
            </a:r>
          </a:p>
          <a:p>
            <a:pPr lvl="1"/>
            <a:r>
              <a:rPr lang="en-US" baseline="0" dirty="0" smtClean="0"/>
              <a:t>	the connector are </a:t>
            </a:r>
            <a:r>
              <a:rPr lang="en-US" baseline="0" dirty="0" err="1" smtClean="0"/>
              <a:t>standardised</a:t>
            </a:r>
            <a:r>
              <a:rPr lang="en-US" baseline="0" dirty="0" smtClean="0"/>
              <a:t>, they can be easily assembled</a:t>
            </a:r>
          </a:p>
          <a:p>
            <a:pPr lvl="1"/>
            <a:r>
              <a:rPr lang="en-US" baseline="0" dirty="0" smtClean="0"/>
              <a:t>	the block can be used and reused for many deferent purpose (wall, castle, ….)</a:t>
            </a:r>
          </a:p>
          <a:p>
            <a:pPr lvl="1"/>
            <a:endParaRPr lang="en-US" baseline="0" dirty="0" smtClean="0"/>
          </a:p>
          <a:p>
            <a:pPr lvl="1"/>
            <a:r>
              <a:rPr lang="en-US" baseline="0" dirty="0" smtClean="0"/>
              <a:t>It usually have an IT </a:t>
            </a:r>
            <a:r>
              <a:rPr lang="en-US" baseline="0" dirty="0" err="1" smtClean="0"/>
              <a:t>conotation</a:t>
            </a:r>
            <a:r>
              <a:rPr lang="en-US" baseline="0" dirty="0" smtClean="0"/>
              <a:t> but this is not necessary : service are broader that this</a:t>
            </a:r>
          </a:p>
          <a:p>
            <a:pPr lvl="1"/>
            <a:r>
              <a:rPr lang="en-US" baseline="0" dirty="0" smtClean="0"/>
              <a:t>	</a:t>
            </a:r>
          </a:p>
          <a:p>
            <a:pPr lvl="1"/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8A5727-E599-4087-B265-90A8C68ED9C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99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E6E89-CFCC-4916-9882-B2479E77BF2A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01530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6225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For pragmatic</a:t>
            </a:r>
            <a:r>
              <a:rPr lang="en-GB" baseline="0" dirty="0" smtClean="0"/>
              <a:t> reason – ensuring the architecture is valid for our current environments – wrapped legacy/</a:t>
            </a:r>
            <a:r>
              <a:rPr lang="en-GB" baseline="0" dirty="0" err="1" smtClean="0"/>
              <a:t>exisitng</a:t>
            </a:r>
            <a:r>
              <a:rPr lang="en-GB" baseline="0" dirty="0" smtClean="0"/>
              <a:t> has been selected</a:t>
            </a:r>
          </a:p>
          <a:p>
            <a:endParaRPr lang="en-GB" baseline="0" dirty="0" smtClean="0"/>
          </a:p>
          <a:p>
            <a:r>
              <a:rPr lang="en-GB" baseline="0" dirty="0" smtClean="0"/>
              <a:t>Timing</a:t>
            </a:r>
          </a:p>
          <a:p>
            <a:endParaRPr lang="en-GB" baseline="0" dirty="0" smtClean="0"/>
          </a:p>
          <a:p>
            <a:r>
              <a:rPr lang="en-GB" baseline="0" dirty="0" smtClean="0"/>
              <a:t>Good stuff – just not easy to share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A062F-DAF2-4BC2-8480-176F2861F2E4}" type="slidenum">
              <a:rPr lang="en-GB">
                <a:solidFill>
                  <a:prstClr val="black"/>
                </a:solidFill>
              </a:rPr>
              <a:pPr/>
              <a:t>17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1153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5825" cy="3355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 smtClean="0"/>
              <a:t>Agreed components</a:t>
            </a:r>
            <a:r>
              <a:rPr lang="en-NZ" baseline="0" dirty="0" smtClean="0"/>
              <a:t> for the proof of concept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2CDB7-EC4C-4787-B3E8-E1F036D7DFFF}" type="slidenum">
              <a:rPr lang="sv-SE" smtClean="0"/>
              <a:pPr/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369669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E6E89-CFCC-4916-9882-B2479E77BF2A}" type="slidenum">
              <a:rPr lang="en-GB" smtClean="0"/>
              <a:pPr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3836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Segnaposto note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29700" name="Segnaposto numero diapositiva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19CD915-09F4-45CA-97C3-D57D3C97361A}" type="slidenum">
              <a:rPr lang="it-IT">
                <a:latin typeface="Calibri" panose="020F0502020204030204" pitchFamily="34" charset="0"/>
              </a:rPr>
              <a:pPr eaLnBrk="1" hangingPunct="1"/>
              <a:t>21</a:t>
            </a:fld>
            <a:endParaRPr lang="it-IT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7324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E6E89-CFCC-4916-9882-B2479E77BF2A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9896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E6E89-CFCC-4916-9882-B2479E77BF2A}" type="slidenum">
              <a:rPr lang="en-GB" smtClean="0"/>
              <a:pPr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46349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E6E89-CFCC-4916-9882-B2479E77BF2A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434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5636-19D6-44D6-9351-C8113A37B333}" type="datetimeFigureOut">
              <a:rPr lang="en-GB" smtClean="0"/>
              <a:pPr/>
              <a:t>02/12/2013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FF7C-33AD-4211-B250-EC7B492E51F7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5636-19D6-44D6-9351-C8113A37B333}" type="datetimeFigureOut">
              <a:rPr lang="en-GB" smtClean="0"/>
              <a:pPr/>
              <a:t>02/12/2013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FF7C-33AD-4211-B250-EC7B492E51F7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5636-19D6-44D6-9351-C8113A37B333}" type="datetimeFigureOut">
              <a:rPr lang="en-GB" smtClean="0"/>
              <a:pPr/>
              <a:t>02/12/2013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FF7C-33AD-4211-B250-EC7B492E51F7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5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5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5636-19D6-44D6-9351-C8113A37B333}" type="datetimeFigureOut">
              <a:rPr lang="en-GB" smtClean="0"/>
              <a:pPr/>
              <a:t>02/12/2013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FF7C-33AD-4211-B250-EC7B492E51F7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5636-19D6-44D6-9351-C8113A37B333}" type="datetimeFigureOut">
              <a:rPr lang="en-GB" smtClean="0"/>
              <a:pPr/>
              <a:t>02/12/2013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FF7C-33AD-4211-B250-EC7B492E51F7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5636-19D6-44D6-9351-C8113A37B333}" type="datetimeFigureOut">
              <a:rPr lang="en-GB" smtClean="0"/>
              <a:pPr/>
              <a:t>02/12/2013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FF7C-33AD-4211-B250-EC7B492E51F7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5636-19D6-44D6-9351-C8113A37B333}" type="datetimeFigureOut">
              <a:rPr lang="en-GB" smtClean="0"/>
              <a:pPr/>
              <a:t>02/12/2013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FF7C-33AD-4211-B250-EC7B492E51F7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5636-19D6-44D6-9351-C8113A37B333}" type="datetimeFigureOut">
              <a:rPr lang="en-GB" smtClean="0"/>
              <a:pPr/>
              <a:t>02/12/2013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FF7C-33AD-4211-B250-EC7B492E51F7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5636-19D6-44D6-9351-C8113A37B333}" type="datetimeFigureOut">
              <a:rPr lang="en-GB" smtClean="0"/>
              <a:pPr/>
              <a:t>02/12/2013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FF7C-33AD-4211-B250-EC7B492E51F7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5636-19D6-44D6-9351-C8113A37B333}" type="datetimeFigureOut">
              <a:rPr lang="en-GB" smtClean="0"/>
              <a:pPr/>
              <a:t>02/12/2013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FF7C-33AD-4211-B250-EC7B492E51F7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3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3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5636-19D6-44D6-9351-C8113A37B333}" type="datetimeFigureOut">
              <a:rPr lang="en-GB" smtClean="0"/>
              <a:pPr/>
              <a:t>02/12/2013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FF7C-33AD-4211-B250-EC7B492E51F7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B5636-19D6-44D6-9351-C8113A37B333}" type="datetimeFigureOut">
              <a:rPr lang="en-GB" smtClean="0"/>
              <a:pPr/>
              <a:t>02/12/2013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6FF7C-33AD-4211-B250-EC7B492E51F7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illeccio.com/page.php?lang=en&amp;product_id=37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Lalor\Pictures\pnp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194" y="1022469"/>
            <a:ext cx="6221561" cy="442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815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680745" y="1207978"/>
            <a:ext cx="8712970" cy="3924382"/>
            <a:chOff x="206369" y="80682"/>
            <a:chExt cx="8712969" cy="3924382"/>
          </a:xfrm>
        </p:grpSpPr>
        <p:grpSp>
          <p:nvGrpSpPr>
            <p:cNvPr id="2" name="Grupp 49"/>
            <p:cNvGrpSpPr/>
            <p:nvPr/>
          </p:nvGrpSpPr>
          <p:grpSpPr>
            <a:xfrm>
              <a:off x="206369" y="80682"/>
              <a:ext cx="8712969" cy="3924382"/>
              <a:chOff x="-279066" y="188640"/>
              <a:chExt cx="9171546" cy="4896544"/>
            </a:xfrm>
          </p:grpSpPr>
          <p:sp>
            <p:nvSpPr>
              <p:cNvPr id="75" name="Rektangel 74"/>
              <p:cNvSpPr/>
              <p:nvPr/>
            </p:nvSpPr>
            <p:spPr>
              <a:xfrm>
                <a:off x="251520" y="188640"/>
                <a:ext cx="8640960" cy="4896544"/>
              </a:xfrm>
              <a:prstGeom prst="rect">
                <a:avLst/>
              </a:prstGeom>
              <a:solidFill>
                <a:schemeClr val="accent1">
                  <a:alpha val="6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1" name="textruta 130"/>
              <p:cNvSpPr txBox="1"/>
              <p:nvPr/>
            </p:nvSpPr>
            <p:spPr>
              <a:xfrm rot="16200000">
                <a:off x="-632524" y="2256529"/>
                <a:ext cx="1322470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3200" b="1" dirty="0">
                    <a:solidFill>
                      <a:prstClr val="black"/>
                    </a:solidFill>
                    <a:latin typeface="Calibri"/>
                  </a:rPr>
                  <a:t>NSI 1</a:t>
                </a:r>
              </a:p>
            </p:txBody>
          </p:sp>
        </p:grpSp>
        <p:grpSp>
          <p:nvGrpSpPr>
            <p:cNvPr id="3" name="Group 4"/>
            <p:cNvGrpSpPr/>
            <p:nvPr/>
          </p:nvGrpSpPr>
          <p:grpSpPr>
            <a:xfrm>
              <a:off x="926450" y="224698"/>
              <a:ext cx="7661651" cy="832330"/>
              <a:chOff x="353355" y="2933913"/>
              <a:chExt cx="8221964" cy="814274"/>
            </a:xfrm>
          </p:grpSpPr>
          <p:sp>
            <p:nvSpPr>
              <p:cNvPr id="6" name="Freeform 5"/>
              <p:cNvSpPr/>
              <p:nvPr/>
            </p:nvSpPr>
            <p:spPr>
              <a:xfrm>
                <a:off x="353355" y="2933913"/>
                <a:ext cx="2222152" cy="814274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dirty="0">
                    <a:solidFill>
                      <a:prstClr val="white"/>
                    </a:solidFill>
                    <a:latin typeface="Calibri"/>
                  </a:rPr>
                  <a:t>Collect</a:t>
                </a: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" name="Freeform 6"/>
              <p:cNvSpPr/>
              <p:nvPr/>
            </p:nvSpPr>
            <p:spPr>
              <a:xfrm>
                <a:off x="2353292" y="2933913"/>
                <a:ext cx="2222152" cy="814274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  <a:scene3d>
                <a:camera prst="orthographicFront"/>
                <a:lightRig rig="threePt" dir="t"/>
              </a:scene3d>
              <a:sp3d>
                <a:bevelB w="247650" h="133350" prst="coolSlant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dirty="0">
                    <a:solidFill>
                      <a:prstClr val="white"/>
                    </a:solidFill>
                    <a:latin typeface="Calibri"/>
                  </a:rPr>
                  <a:t>Process</a:t>
                </a: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4353230" y="2933913"/>
                <a:ext cx="2222152" cy="814273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sz="1600" dirty="0">
                    <a:solidFill>
                      <a:prstClr val="white"/>
                    </a:solidFill>
                    <a:latin typeface="Calibri"/>
                  </a:rPr>
                  <a:t>Analyse</a:t>
                </a:r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6353167" y="2933913"/>
                <a:ext cx="2222152" cy="814273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sz="1600" dirty="0">
                    <a:solidFill>
                      <a:prstClr val="white"/>
                    </a:solidFill>
                    <a:latin typeface="Calibri"/>
                  </a:rPr>
                  <a:t>Disseminate</a:t>
                </a:r>
              </a:p>
            </p:txBody>
          </p:sp>
        </p:grpSp>
        <p:grpSp>
          <p:nvGrpSpPr>
            <p:cNvPr id="4" name="Grupp 55"/>
            <p:cNvGrpSpPr/>
            <p:nvPr/>
          </p:nvGrpSpPr>
          <p:grpSpPr>
            <a:xfrm>
              <a:off x="854442" y="1232810"/>
              <a:ext cx="7920880" cy="1217053"/>
              <a:chOff x="229363" y="1851370"/>
              <a:chExt cx="8064896" cy="1413976"/>
            </a:xfrm>
          </p:grpSpPr>
          <p:sp>
            <p:nvSpPr>
              <p:cNvPr id="55" name="Rektangel 54"/>
              <p:cNvSpPr/>
              <p:nvPr/>
            </p:nvSpPr>
            <p:spPr>
              <a:xfrm>
                <a:off x="229363" y="1851370"/>
                <a:ext cx="8064896" cy="1413976"/>
              </a:xfrm>
              <a:prstGeom prst="rect">
                <a:avLst/>
              </a:prstGeom>
              <a:solidFill>
                <a:schemeClr val="bg1">
                  <a:alpha val="7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1" name="textruta 90"/>
              <p:cNvSpPr txBox="1"/>
              <p:nvPr/>
            </p:nvSpPr>
            <p:spPr>
              <a:xfrm rot="16200000">
                <a:off x="-56237" y="2374447"/>
                <a:ext cx="1187896" cy="3760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b="1" dirty="0" err="1">
                    <a:solidFill>
                      <a:prstClr val="black"/>
                    </a:solidFill>
                    <a:latin typeface="Calibri"/>
                  </a:rPr>
                  <a:t>Survey</a:t>
                </a:r>
                <a:r>
                  <a:rPr lang="sv-SE" b="1" dirty="0">
                    <a:solidFill>
                      <a:prstClr val="black"/>
                    </a:solidFill>
                    <a:latin typeface="Calibri"/>
                  </a:rPr>
                  <a:t> A</a:t>
                </a:r>
              </a:p>
            </p:txBody>
          </p:sp>
        </p:grpSp>
        <p:grpSp>
          <p:nvGrpSpPr>
            <p:cNvPr id="14" name="Grupp 131"/>
            <p:cNvGrpSpPr/>
            <p:nvPr/>
          </p:nvGrpSpPr>
          <p:grpSpPr>
            <a:xfrm>
              <a:off x="854442" y="2600963"/>
              <a:ext cx="7920880" cy="1217051"/>
              <a:chOff x="229363" y="1851370"/>
              <a:chExt cx="8064896" cy="1413976"/>
            </a:xfrm>
          </p:grpSpPr>
          <p:sp>
            <p:nvSpPr>
              <p:cNvPr id="133" name="Rektangel 132"/>
              <p:cNvSpPr/>
              <p:nvPr/>
            </p:nvSpPr>
            <p:spPr>
              <a:xfrm>
                <a:off x="229363" y="1851370"/>
                <a:ext cx="8064896" cy="1413976"/>
              </a:xfrm>
              <a:prstGeom prst="rect">
                <a:avLst/>
              </a:prstGeom>
              <a:solidFill>
                <a:schemeClr val="bg1">
                  <a:alpha val="7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4" name="textruta 133"/>
              <p:cNvSpPr txBox="1"/>
              <p:nvPr/>
            </p:nvSpPr>
            <p:spPr>
              <a:xfrm rot="16200000">
                <a:off x="-50651" y="2374447"/>
                <a:ext cx="1176724" cy="3760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b="1" dirty="0" err="1">
                    <a:solidFill>
                      <a:prstClr val="black"/>
                    </a:solidFill>
                    <a:latin typeface="Calibri"/>
                  </a:rPr>
                  <a:t>Survey</a:t>
                </a:r>
                <a:r>
                  <a:rPr lang="sv-SE" b="1" dirty="0">
                    <a:solidFill>
                      <a:prstClr val="black"/>
                    </a:solidFill>
                    <a:latin typeface="Calibri"/>
                  </a:rPr>
                  <a:t> B</a:t>
                </a:r>
              </a:p>
            </p:txBody>
          </p:sp>
        </p:grpSp>
        <p:sp>
          <p:nvSpPr>
            <p:cNvPr id="98" name="Cirkel 97"/>
            <p:cNvSpPr/>
            <p:nvPr/>
          </p:nvSpPr>
          <p:spPr>
            <a:xfrm rot="2796551">
              <a:off x="5532858" y="1379759"/>
              <a:ext cx="864096" cy="836712"/>
            </a:xfrm>
            <a:prstGeom prst="pi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sv-SE" sz="16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3" name="Freeform 11"/>
            <p:cNvSpPr/>
            <p:nvPr/>
          </p:nvSpPr>
          <p:spPr>
            <a:xfrm>
              <a:off x="5580112" y="2780928"/>
              <a:ext cx="1009859" cy="888861"/>
            </a:xfrm>
            <a:custGeom>
              <a:avLst/>
              <a:gdLst>
                <a:gd name="connsiteX0" fmla="*/ 0 w 2222152"/>
                <a:gd name="connsiteY0" fmla="*/ 0 h 888861"/>
                <a:gd name="connsiteX1" fmla="*/ 1777722 w 2222152"/>
                <a:gd name="connsiteY1" fmla="*/ 0 h 888861"/>
                <a:gd name="connsiteX2" fmla="*/ 2222152 w 2222152"/>
                <a:gd name="connsiteY2" fmla="*/ 444431 h 888861"/>
                <a:gd name="connsiteX3" fmla="*/ 1777722 w 2222152"/>
                <a:gd name="connsiteY3" fmla="*/ 888861 h 888861"/>
                <a:gd name="connsiteX4" fmla="*/ 0 w 2222152"/>
                <a:gd name="connsiteY4" fmla="*/ 888861 h 888861"/>
                <a:gd name="connsiteX5" fmla="*/ 444431 w 2222152"/>
                <a:gd name="connsiteY5" fmla="*/ 444431 h 888861"/>
                <a:gd name="connsiteX6" fmla="*/ 0 w 2222152"/>
                <a:gd name="connsiteY6" fmla="*/ 0 h 888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22152" h="888861">
                  <a:moveTo>
                    <a:pt x="0" y="0"/>
                  </a:moveTo>
                  <a:lnTo>
                    <a:pt x="1777722" y="0"/>
                  </a:lnTo>
                  <a:lnTo>
                    <a:pt x="2222152" y="444431"/>
                  </a:lnTo>
                  <a:lnTo>
                    <a:pt x="1777722" y="888861"/>
                  </a:lnTo>
                  <a:lnTo>
                    <a:pt x="0" y="888861"/>
                  </a:lnTo>
                  <a:lnTo>
                    <a:pt x="444431" y="4444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en-GB" sz="16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4" name="Freeform 11"/>
            <p:cNvSpPr/>
            <p:nvPr/>
          </p:nvSpPr>
          <p:spPr>
            <a:xfrm rot="5400000">
              <a:off x="1943709" y="872715"/>
              <a:ext cx="504055" cy="1440161"/>
            </a:xfrm>
            <a:custGeom>
              <a:avLst/>
              <a:gdLst>
                <a:gd name="connsiteX0" fmla="*/ 0 w 2222152"/>
                <a:gd name="connsiteY0" fmla="*/ 0 h 888861"/>
                <a:gd name="connsiteX1" fmla="*/ 1777722 w 2222152"/>
                <a:gd name="connsiteY1" fmla="*/ 0 h 888861"/>
                <a:gd name="connsiteX2" fmla="*/ 2222152 w 2222152"/>
                <a:gd name="connsiteY2" fmla="*/ 444431 h 888861"/>
                <a:gd name="connsiteX3" fmla="*/ 1777722 w 2222152"/>
                <a:gd name="connsiteY3" fmla="*/ 888861 h 888861"/>
                <a:gd name="connsiteX4" fmla="*/ 0 w 2222152"/>
                <a:gd name="connsiteY4" fmla="*/ 888861 h 888861"/>
                <a:gd name="connsiteX5" fmla="*/ 444431 w 2222152"/>
                <a:gd name="connsiteY5" fmla="*/ 444431 h 888861"/>
                <a:gd name="connsiteX6" fmla="*/ 0 w 2222152"/>
                <a:gd name="connsiteY6" fmla="*/ 0 h 888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22152" h="888861">
                  <a:moveTo>
                    <a:pt x="0" y="0"/>
                  </a:moveTo>
                  <a:lnTo>
                    <a:pt x="1777722" y="0"/>
                  </a:lnTo>
                  <a:lnTo>
                    <a:pt x="2222152" y="444431"/>
                  </a:lnTo>
                  <a:lnTo>
                    <a:pt x="1777722" y="888861"/>
                  </a:lnTo>
                  <a:lnTo>
                    <a:pt x="0" y="888861"/>
                  </a:lnTo>
                  <a:lnTo>
                    <a:pt x="444431" y="4444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en-GB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5" name="Freeform 11"/>
            <p:cNvSpPr/>
            <p:nvPr/>
          </p:nvSpPr>
          <p:spPr>
            <a:xfrm rot="5400000">
              <a:off x="1943709" y="1304763"/>
              <a:ext cx="504055" cy="1440161"/>
            </a:xfrm>
            <a:custGeom>
              <a:avLst/>
              <a:gdLst>
                <a:gd name="connsiteX0" fmla="*/ 0 w 2222152"/>
                <a:gd name="connsiteY0" fmla="*/ 0 h 888861"/>
                <a:gd name="connsiteX1" fmla="*/ 1777722 w 2222152"/>
                <a:gd name="connsiteY1" fmla="*/ 0 h 888861"/>
                <a:gd name="connsiteX2" fmla="*/ 2222152 w 2222152"/>
                <a:gd name="connsiteY2" fmla="*/ 444431 h 888861"/>
                <a:gd name="connsiteX3" fmla="*/ 1777722 w 2222152"/>
                <a:gd name="connsiteY3" fmla="*/ 888861 h 888861"/>
                <a:gd name="connsiteX4" fmla="*/ 0 w 2222152"/>
                <a:gd name="connsiteY4" fmla="*/ 888861 h 888861"/>
                <a:gd name="connsiteX5" fmla="*/ 444431 w 2222152"/>
                <a:gd name="connsiteY5" fmla="*/ 444431 h 888861"/>
                <a:gd name="connsiteX6" fmla="*/ 0 w 2222152"/>
                <a:gd name="connsiteY6" fmla="*/ 0 h 888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22152" h="888861">
                  <a:moveTo>
                    <a:pt x="0" y="0"/>
                  </a:moveTo>
                  <a:lnTo>
                    <a:pt x="1777722" y="0"/>
                  </a:lnTo>
                  <a:lnTo>
                    <a:pt x="2222152" y="444431"/>
                  </a:lnTo>
                  <a:lnTo>
                    <a:pt x="1777722" y="888861"/>
                  </a:lnTo>
                  <a:lnTo>
                    <a:pt x="0" y="888861"/>
                  </a:lnTo>
                  <a:lnTo>
                    <a:pt x="444431" y="4444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en-GB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6" name="Ellips 105"/>
            <p:cNvSpPr/>
            <p:nvPr/>
          </p:nvSpPr>
          <p:spPr>
            <a:xfrm>
              <a:off x="4788024" y="2780928"/>
              <a:ext cx="864096" cy="936104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sv-SE" sz="1600" dirty="0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119" name="Grupp 118"/>
            <p:cNvGrpSpPr/>
            <p:nvPr/>
          </p:nvGrpSpPr>
          <p:grpSpPr>
            <a:xfrm>
              <a:off x="3059832" y="1340768"/>
              <a:ext cx="1008112" cy="936104"/>
              <a:chOff x="10332640" y="1124744"/>
              <a:chExt cx="1008112" cy="936104"/>
            </a:xfrm>
          </p:grpSpPr>
          <p:sp>
            <p:nvSpPr>
              <p:cNvPr id="120" name="Diagonal rand 119"/>
              <p:cNvSpPr/>
              <p:nvPr/>
            </p:nvSpPr>
            <p:spPr>
              <a:xfrm>
                <a:off x="10332640" y="1124744"/>
                <a:ext cx="936104" cy="864096"/>
              </a:xfrm>
              <a:prstGeom prst="diagStripe">
                <a:avLst/>
              </a:prstGeom>
              <a:scene3d>
                <a:camera prst="orthographicFront"/>
                <a:lightRig rig="threePt" dir="t"/>
              </a:scene3d>
              <a:sp3d>
                <a:bevelB w="247650" h="133350" prst="coolSlant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sv-SE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1" name="Diagonal rand 120"/>
              <p:cNvSpPr/>
              <p:nvPr/>
            </p:nvSpPr>
            <p:spPr>
              <a:xfrm rot="10800000">
                <a:off x="10404648" y="1196752"/>
                <a:ext cx="936104" cy="864096"/>
              </a:xfrm>
              <a:prstGeom prst="diagStripe">
                <a:avLst/>
              </a:prstGeom>
              <a:scene3d>
                <a:camera prst="orthographicFront"/>
                <a:lightRig rig="threePt" dir="t"/>
              </a:scene3d>
              <a:sp3d>
                <a:bevelB w="247650" h="133350" prst="coolSlant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sv-SE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sp>
          <p:nvSpPr>
            <p:cNvPr id="125" name="Isosceles Triangle 73"/>
            <p:cNvSpPr/>
            <p:nvPr/>
          </p:nvSpPr>
          <p:spPr>
            <a:xfrm rot="6411494">
              <a:off x="6620910" y="3226579"/>
              <a:ext cx="424234" cy="533520"/>
            </a:xfrm>
            <a:prstGeom prst="triangl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en-GB" sz="16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6" name="Isosceles Triangle 73"/>
            <p:cNvSpPr/>
            <p:nvPr/>
          </p:nvSpPr>
          <p:spPr>
            <a:xfrm rot="9174982">
              <a:off x="6686416" y="2848252"/>
              <a:ext cx="424234" cy="533520"/>
            </a:xfrm>
            <a:prstGeom prst="triangl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en-GB" sz="16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6" name="Parallelogram 72"/>
            <p:cNvSpPr/>
            <p:nvPr/>
          </p:nvSpPr>
          <p:spPr>
            <a:xfrm>
              <a:off x="1403648" y="2780928"/>
              <a:ext cx="2065670" cy="407886"/>
            </a:xfrm>
            <a:prstGeom prst="parallelogram">
              <a:avLst>
                <a:gd name="adj" fmla="val 105064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en-GB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7" name="Parallelogram 72"/>
            <p:cNvSpPr/>
            <p:nvPr/>
          </p:nvSpPr>
          <p:spPr>
            <a:xfrm>
              <a:off x="1403648" y="3284984"/>
              <a:ext cx="2065670" cy="407886"/>
            </a:xfrm>
            <a:prstGeom prst="parallelogram">
              <a:avLst>
                <a:gd name="adj" fmla="val 105064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en-GB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8" name="Ellips 127"/>
            <p:cNvSpPr/>
            <p:nvPr/>
          </p:nvSpPr>
          <p:spPr>
            <a:xfrm>
              <a:off x="7812360" y="2708920"/>
              <a:ext cx="864096" cy="936104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sv-SE" sz="16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2" name="Sexhörning 131"/>
            <p:cNvSpPr/>
            <p:nvPr/>
          </p:nvSpPr>
          <p:spPr>
            <a:xfrm>
              <a:off x="6300192" y="1412776"/>
              <a:ext cx="1008112" cy="864096"/>
            </a:xfrm>
            <a:prstGeom prst="hexag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sv-SE" sz="16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6" name="Beslut 135"/>
            <p:cNvSpPr/>
            <p:nvPr/>
          </p:nvSpPr>
          <p:spPr>
            <a:xfrm>
              <a:off x="7380312" y="1412776"/>
              <a:ext cx="1224136" cy="936104"/>
            </a:xfrm>
            <a:prstGeom prst="flowChartDecisi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sv-SE" sz="16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7" name="Regelbunden femhörning 136"/>
            <p:cNvSpPr/>
            <p:nvPr/>
          </p:nvSpPr>
          <p:spPr>
            <a:xfrm>
              <a:off x="3563888" y="2780928"/>
              <a:ext cx="1080120" cy="864096"/>
            </a:xfrm>
            <a:prstGeom prst="pentagon">
              <a:avLst/>
            </a:prstGeom>
            <a:scene3d>
              <a:camera prst="orthographicFront"/>
              <a:lightRig rig="threePt" dir="t"/>
            </a:scene3d>
            <a:sp3d>
              <a:bevelB w="247650" h="133350" prst="coolSlant"/>
            </a:sp3d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sv-SE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8" name="Parallelltrapets 137"/>
            <p:cNvSpPr/>
            <p:nvPr/>
          </p:nvSpPr>
          <p:spPr>
            <a:xfrm>
              <a:off x="4211960" y="1412776"/>
              <a:ext cx="1152128" cy="864096"/>
            </a:xfrm>
            <a:prstGeom prst="trapezoid">
              <a:avLst/>
            </a:prstGeom>
            <a:scene3d>
              <a:camera prst="orthographicFront"/>
              <a:lightRig rig="threePt" dir="t"/>
            </a:scene3d>
            <a:sp3d>
              <a:bevelB w="247650" h="133350" prst="coolSlant"/>
            </a:sp3d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sv-SE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9" name="Rätvinklig triangel 138"/>
            <p:cNvSpPr/>
            <p:nvPr/>
          </p:nvSpPr>
          <p:spPr>
            <a:xfrm>
              <a:off x="7164288" y="2708920"/>
              <a:ext cx="720080" cy="936104"/>
            </a:xfrm>
            <a:prstGeom prst="rtTriangl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sv-SE" sz="1600" dirty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996268" y="5562603"/>
            <a:ext cx="8089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Historically statistical organisations have produced specialised business processes and IT systems</a:t>
            </a:r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764644" y="0"/>
            <a:ext cx="10515600" cy="1325563"/>
          </a:xfrm>
        </p:spPr>
        <p:txBody>
          <a:bodyPr/>
          <a:lstStyle/>
          <a:p>
            <a:r>
              <a:rPr lang="en-US" dirty="0" smtClean="0"/>
              <a:t>The problem we are trying to solve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61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Architecture help?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statistical organisations are modernising and transforming using Enterprise Architecture</a:t>
            </a:r>
            <a:endParaRPr lang="en-US" dirty="0"/>
          </a:p>
          <a:p>
            <a:r>
              <a:rPr lang="en-US" dirty="0" smtClean="0"/>
              <a:t>Enterprise Architecture shows what the business needs are and where the organisation wants to be, then aligns efforts accordingly</a:t>
            </a:r>
            <a:endParaRPr lang="en-US" dirty="0"/>
          </a:p>
          <a:p>
            <a:r>
              <a:rPr lang="en-US" dirty="0" smtClean="0"/>
              <a:t>It can help to remove silos and improve collaboration across an </a:t>
            </a:r>
            <a:r>
              <a:rPr lang="en-US" dirty="0" err="1" smtClean="0"/>
              <a:t>organisation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496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2399554" y="1689640"/>
            <a:ext cx="7594219" cy="4939216"/>
            <a:chOff x="185723" y="1219200"/>
            <a:chExt cx="8757766" cy="5409656"/>
          </a:xfrm>
        </p:grpSpPr>
        <p:grpSp>
          <p:nvGrpSpPr>
            <p:cNvPr id="2" name="Grupp 49"/>
            <p:cNvGrpSpPr/>
            <p:nvPr/>
          </p:nvGrpSpPr>
          <p:grpSpPr>
            <a:xfrm>
              <a:off x="185723" y="1219200"/>
              <a:ext cx="8757766" cy="5409656"/>
              <a:chOff x="-326221" y="188640"/>
              <a:chExt cx="9218701" cy="4896544"/>
            </a:xfrm>
          </p:grpSpPr>
          <p:sp>
            <p:nvSpPr>
              <p:cNvPr id="75" name="Rektangel 74"/>
              <p:cNvSpPr/>
              <p:nvPr/>
            </p:nvSpPr>
            <p:spPr>
              <a:xfrm>
                <a:off x="251520" y="188640"/>
                <a:ext cx="8640960" cy="4896544"/>
              </a:xfrm>
              <a:prstGeom prst="rect">
                <a:avLst/>
              </a:prstGeom>
              <a:solidFill>
                <a:schemeClr val="accent1">
                  <a:alpha val="6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1" name="textruta 130"/>
              <p:cNvSpPr txBox="1"/>
              <p:nvPr/>
            </p:nvSpPr>
            <p:spPr>
              <a:xfrm rot="16200000">
                <a:off x="-496663" y="2209370"/>
                <a:ext cx="1050749" cy="7098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3200" b="1" dirty="0">
                    <a:solidFill>
                      <a:prstClr val="black"/>
                    </a:solidFill>
                    <a:latin typeface="Calibri"/>
                  </a:rPr>
                  <a:t>NSI 1</a:t>
                </a:r>
              </a:p>
            </p:txBody>
          </p:sp>
        </p:grpSp>
        <p:grpSp>
          <p:nvGrpSpPr>
            <p:cNvPr id="3" name="Group 4"/>
            <p:cNvGrpSpPr/>
            <p:nvPr/>
          </p:nvGrpSpPr>
          <p:grpSpPr>
            <a:xfrm>
              <a:off x="1094222" y="5585330"/>
              <a:ext cx="7661651" cy="832330"/>
              <a:chOff x="353355" y="2933913"/>
              <a:chExt cx="8221964" cy="814274"/>
            </a:xfrm>
          </p:grpSpPr>
          <p:sp>
            <p:nvSpPr>
              <p:cNvPr id="6" name="Freeform 5"/>
              <p:cNvSpPr/>
              <p:nvPr/>
            </p:nvSpPr>
            <p:spPr>
              <a:xfrm>
                <a:off x="353355" y="2933913"/>
                <a:ext cx="2222152" cy="814274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dirty="0">
                    <a:solidFill>
                      <a:prstClr val="white"/>
                    </a:solidFill>
                    <a:latin typeface="Calibri"/>
                  </a:rPr>
                  <a:t>Collect</a:t>
                </a: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" name="Freeform 6"/>
              <p:cNvSpPr/>
              <p:nvPr/>
            </p:nvSpPr>
            <p:spPr>
              <a:xfrm>
                <a:off x="2353292" y="2933913"/>
                <a:ext cx="2222152" cy="814274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  <a:scene3d>
                <a:camera prst="orthographicFront"/>
                <a:lightRig rig="threePt" dir="t"/>
              </a:scene3d>
              <a:sp3d>
                <a:bevelB w="247650" h="133350" prst="coolSlant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dirty="0">
                    <a:solidFill>
                      <a:prstClr val="white"/>
                    </a:solidFill>
                    <a:latin typeface="Calibri"/>
                  </a:rPr>
                  <a:t>Process</a:t>
                </a: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4353230" y="2933913"/>
                <a:ext cx="2222152" cy="814273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sz="1600" dirty="0">
                    <a:solidFill>
                      <a:prstClr val="white"/>
                    </a:solidFill>
                    <a:latin typeface="Calibri"/>
                  </a:rPr>
                  <a:t>Analyse</a:t>
                </a:r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6353167" y="2933913"/>
                <a:ext cx="2222152" cy="814273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en-GB" sz="160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grpSp>
          <p:nvGrpSpPr>
            <p:cNvPr id="4" name="Grupp 55"/>
            <p:cNvGrpSpPr/>
            <p:nvPr/>
          </p:nvGrpSpPr>
          <p:grpSpPr>
            <a:xfrm>
              <a:off x="854442" y="1331740"/>
              <a:ext cx="7920880" cy="1217053"/>
              <a:chOff x="229363" y="1851370"/>
              <a:chExt cx="8064896" cy="1413976"/>
            </a:xfrm>
          </p:grpSpPr>
          <p:sp>
            <p:nvSpPr>
              <p:cNvPr id="55" name="Rektangel 54"/>
              <p:cNvSpPr/>
              <p:nvPr/>
            </p:nvSpPr>
            <p:spPr>
              <a:xfrm>
                <a:off x="229363" y="1851370"/>
                <a:ext cx="8064896" cy="1413976"/>
              </a:xfrm>
              <a:prstGeom prst="rect">
                <a:avLst/>
              </a:prstGeom>
              <a:solidFill>
                <a:schemeClr val="bg1">
                  <a:alpha val="7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1" name="textruta 90"/>
              <p:cNvSpPr txBox="1"/>
              <p:nvPr/>
            </p:nvSpPr>
            <p:spPr>
              <a:xfrm rot="16200000">
                <a:off x="-112806" y="2345639"/>
                <a:ext cx="1301039" cy="433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b="1" dirty="0" err="1">
                    <a:solidFill>
                      <a:prstClr val="black"/>
                    </a:solidFill>
                    <a:latin typeface="Calibri"/>
                  </a:rPr>
                  <a:t>Survey</a:t>
                </a:r>
                <a:r>
                  <a:rPr lang="sv-SE" b="1" dirty="0">
                    <a:solidFill>
                      <a:prstClr val="black"/>
                    </a:solidFill>
                    <a:latin typeface="Calibri"/>
                  </a:rPr>
                  <a:t> A</a:t>
                </a:r>
              </a:p>
            </p:txBody>
          </p:sp>
        </p:grpSp>
        <p:grpSp>
          <p:nvGrpSpPr>
            <p:cNvPr id="10" name="Group 16"/>
            <p:cNvGrpSpPr/>
            <p:nvPr/>
          </p:nvGrpSpPr>
          <p:grpSpPr>
            <a:xfrm>
              <a:off x="1502514" y="1484314"/>
              <a:ext cx="2255351" cy="855538"/>
              <a:chOff x="459143" y="4581128"/>
              <a:chExt cx="2467911" cy="888861"/>
            </a:xfrm>
          </p:grpSpPr>
          <p:sp>
            <p:nvSpPr>
              <p:cNvPr id="87" name="Freeform 10"/>
              <p:cNvSpPr/>
              <p:nvPr/>
            </p:nvSpPr>
            <p:spPr>
              <a:xfrm>
                <a:off x="572124" y="4581128"/>
                <a:ext cx="2222152" cy="888861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8" name="Diamond 14"/>
              <p:cNvSpPr/>
              <p:nvPr/>
            </p:nvSpPr>
            <p:spPr>
              <a:xfrm>
                <a:off x="2217070" y="4803343"/>
                <a:ext cx="709984" cy="444430"/>
              </a:xfrm>
              <a:prstGeom prst="diamond">
                <a:avLst/>
              </a:prstGeom>
              <a:solidFill>
                <a:schemeClr val="bg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9" name="Diamond 15"/>
              <p:cNvSpPr/>
              <p:nvPr/>
            </p:nvSpPr>
            <p:spPr>
              <a:xfrm>
                <a:off x="459143" y="4803343"/>
                <a:ext cx="709984" cy="444430"/>
              </a:xfrm>
              <a:prstGeom prst="diamond">
                <a:avLst/>
              </a:prstGeom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grpSp>
          <p:nvGrpSpPr>
            <p:cNvPr id="11" name="Group 17"/>
            <p:cNvGrpSpPr/>
            <p:nvPr/>
          </p:nvGrpSpPr>
          <p:grpSpPr>
            <a:xfrm>
              <a:off x="3147843" y="1475756"/>
              <a:ext cx="2255351" cy="855538"/>
              <a:chOff x="459143" y="4581128"/>
              <a:chExt cx="2467911" cy="888861"/>
            </a:xfrm>
          </p:grpSpPr>
          <p:sp>
            <p:nvSpPr>
              <p:cNvPr id="84" name="Freeform 18"/>
              <p:cNvSpPr/>
              <p:nvPr/>
            </p:nvSpPr>
            <p:spPr>
              <a:xfrm>
                <a:off x="572124" y="4581128"/>
                <a:ext cx="2222152" cy="888861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5" name="Diamond 19"/>
              <p:cNvSpPr/>
              <p:nvPr/>
            </p:nvSpPr>
            <p:spPr>
              <a:xfrm>
                <a:off x="2217070" y="4803343"/>
                <a:ext cx="709984" cy="444430"/>
              </a:xfrm>
              <a:prstGeom prst="diamond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6" name="Diamond 20"/>
              <p:cNvSpPr/>
              <p:nvPr/>
            </p:nvSpPr>
            <p:spPr>
              <a:xfrm>
                <a:off x="459143" y="4803343"/>
                <a:ext cx="709984" cy="444430"/>
              </a:xfrm>
              <a:prstGeom prst="diamond">
                <a:avLst/>
              </a:prstGeom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grpSp>
          <p:nvGrpSpPr>
            <p:cNvPr id="12" name="Group 21"/>
            <p:cNvGrpSpPr/>
            <p:nvPr/>
          </p:nvGrpSpPr>
          <p:grpSpPr>
            <a:xfrm>
              <a:off x="4783661" y="1484314"/>
              <a:ext cx="2255351" cy="855538"/>
              <a:chOff x="459143" y="4581128"/>
              <a:chExt cx="2467911" cy="888861"/>
            </a:xfrm>
          </p:grpSpPr>
          <p:sp>
            <p:nvSpPr>
              <p:cNvPr id="81" name="Freeform 22"/>
              <p:cNvSpPr/>
              <p:nvPr/>
            </p:nvSpPr>
            <p:spPr>
              <a:xfrm>
                <a:off x="572124" y="4581128"/>
                <a:ext cx="2222152" cy="888861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2" name="Diamond 23"/>
              <p:cNvSpPr/>
              <p:nvPr/>
            </p:nvSpPr>
            <p:spPr>
              <a:xfrm>
                <a:off x="2217070" y="4803343"/>
                <a:ext cx="709984" cy="444430"/>
              </a:xfrm>
              <a:prstGeom prst="diamond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3" name="Diamond 24"/>
              <p:cNvSpPr/>
              <p:nvPr/>
            </p:nvSpPr>
            <p:spPr>
              <a:xfrm>
                <a:off x="459143" y="4803343"/>
                <a:ext cx="709984" cy="444430"/>
              </a:xfrm>
              <a:prstGeom prst="diamond">
                <a:avLst/>
              </a:prstGeom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grpSp>
          <p:nvGrpSpPr>
            <p:cNvPr id="13" name="Group 25"/>
            <p:cNvGrpSpPr/>
            <p:nvPr/>
          </p:nvGrpSpPr>
          <p:grpSpPr>
            <a:xfrm>
              <a:off x="6400800" y="1484314"/>
              <a:ext cx="2353595" cy="855538"/>
              <a:chOff x="459143" y="4581128"/>
              <a:chExt cx="2575414" cy="888861"/>
            </a:xfrm>
          </p:grpSpPr>
          <p:sp>
            <p:nvSpPr>
              <p:cNvPr id="77" name="Freeform 26"/>
              <p:cNvSpPr/>
              <p:nvPr/>
            </p:nvSpPr>
            <p:spPr>
              <a:xfrm>
                <a:off x="572124" y="4581128"/>
                <a:ext cx="2222152" cy="888861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9" name="Diamond 27"/>
              <p:cNvSpPr/>
              <p:nvPr/>
            </p:nvSpPr>
            <p:spPr>
              <a:xfrm>
                <a:off x="2324573" y="4803343"/>
                <a:ext cx="709984" cy="444431"/>
              </a:xfrm>
              <a:prstGeom prst="diamon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0" name="Diamond 28"/>
              <p:cNvSpPr/>
              <p:nvPr/>
            </p:nvSpPr>
            <p:spPr>
              <a:xfrm>
                <a:off x="459143" y="4803343"/>
                <a:ext cx="709984" cy="444430"/>
              </a:xfrm>
              <a:prstGeom prst="diamond">
                <a:avLst/>
              </a:prstGeom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grpSp>
          <p:nvGrpSpPr>
            <p:cNvPr id="14" name="Grupp 131"/>
            <p:cNvGrpSpPr/>
            <p:nvPr/>
          </p:nvGrpSpPr>
          <p:grpSpPr>
            <a:xfrm>
              <a:off x="854442" y="2699893"/>
              <a:ext cx="7920880" cy="1217051"/>
              <a:chOff x="229363" y="1851370"/>
              <a:chExt cx="8064896" cy="1413976"/>
            </a:xfrm>
          </p:grpSpPr>
          <p:sp>
            <p:nvSpPr>
              <p:cNvPr id="133" name="Rektangel 132"/>
              <p:cNvSpPr/>
              <p:nvPr/>
            </p:nvSpPr>
            <p:spPr>
              <a:xfrm>
                <a:off x="229363" y="1851370"/>
                <a:ext cx="8064896" cy="1413976"/>
              </a:xfrm>
              <a:prstGeom prst="rect">
                <a:avLst/>
              </a:prstGeom>
              <a:solidFill>
                <a:schemeClr val="bg1">
                  <a:alpha val="7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4" name="textruta 133"/>
              <p:cNvSpPr txBox="1"/>
              <p:nvPr/>
            </p:nvSpPr>
            <p:spPr>
              <a:xfrm rot="16200000">
                <a:off x="-106689" y="2345638"/>
                <a:ext cx="1288801" cy="433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b="1" dirty="0" err="1">
                    <a:solidFill>
                      <a:prstClr val="black"/>
                    </a:solidFill>
                    <a:latin typeface="Calibri"/>
                  </a:rPr>
                  <a:t>Survey</a:t>
                </a:r>
                <a:r>
                  <a:rPr lang="sv-SE" b="1" dirty="0">
                    <a:solidFill>
                      <a:prstClr val="black"/>
                    </a:solidFill>
                    <a:latin typeface="Calibri"/>
                  </a:rPr>
                  <a:t> B</a:t>
                </a:r>
              </a:p>
            </p:txBody>
          </p:sp>
        </p:grpSp>
        <p:grpSp>
          <p:nvGrpSpPr>
            <p:cNvPr id="15" name="Group 77"/>
            <p:cNvGrpSpPr/>
            <p:nvPr/>
          </p:nvGrpSpPr>
          <p:grpSpPr>
            <a:xfrm>
              <a:off x="1514937" y="2843908"/>
              <a:ext cx="7188377" cy="864096"/>
              <a:chOff x="472737" y="4572237"/>
              <a:chExt cx="7865859" cy="897752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472737" y="4581128"/>
                <a:ext cx="2454317" cy="888861"/>
                <a:chOff x="472737" y="4581128"/>
                <a:chExt cx="2454317" cy="888861"/>
              </a:xfrm>
            </p:grpSpPr>
            <p:sp>
              <p:nvSpPr>
                <p:cNvPr id="219" name="Freeform 10"/>
                <p:cNvSpPr/>
                <p:nvPr/>
              </p:nvSpPr>
              <p:spPr>
                <a:xfrm>
                  <a:off x="572124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20" name="Diamond 14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21" name="Diamond 15"/>
                <p:cNvSpPr/>
                <p:nvPr/>
              </p:nvSpPr>
              <p:spPr>
                <a:xfrm>
                  <a:off x="472737" y="4803344"/>
                  <a:ext cx="709984" cy="444430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7" name="Group 17"/>
              <p:cNvGrpSpPr/>
              <p:nvPr/>
            </p:nvGrpSpPr>
            <p:grpSpPr>
              <a:xfrm>
                <a:off x="2259539" y="4572237"/>
                <a:ext cx="2467911" cy="888861"/>
                <a:chOff x="459143" y="4581128"/>
                <a:chExt cx="2467911" cy="888861"/>
              </a:xfrm>
            </p:grpSpPr>
            <p:sp>
              <p:nvSpPr>
                <p:cNvPr id="216" name="Freeform 18"/>
                <p:cNvSpPr/>
                <p:nvPr/>
              </p:nvSpPr>
              <p:spPr>
                <a:xfrm>
                  <a:off x="572124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17" name="Diamond 19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18" name="Diamond 20"/>
                <p:cNvSpPr/>
                <p:nvPr/>
              </p:nvSpPr>
              <p:spPr>
                <a:xfrm>
                  <a:off x="459143" y="4803343"/>
                  <a:ext cx="709984" cy="444430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8" name="Group 21"/>
              <p:cNvGrpSpPr/>
              <p:nvPr/>
            </p:nvGrpSpPr>
            <p:grpSpPr>
              <a:xfrm>
                <a:off x="4049528" y="4581128"/>
                <a:ext cx="2467911" cy="888861"/>
                <a:chOff x="459143" y="4581128"/>
                <a:chExt cx="2467911" cy="888861"/>
              </a:xfrm>
            </p:grpSpPr>
            <p:sp>
              <p:nvSpPr>
                <p:cNvPr id="213" name="Freeform 22"/>
                <p:cNvSpPr/>
                <p:nvPr/>
              </p:nvSpPr>
              <p:spPr>
                <a:xfrm>
                  <a:off x="572124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14" name="Diamond 23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15" name="Diamond 24"/>
                <p:cNvSpPr/>
                <p:nvPr/>
              </p:nvSpPr>
              <p:spPr>
                <a:xfrm>
                  <a:off x="459143" y="4803343"/>
                  <a:ext cx="709984" cy="444430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9" name="Group 25"/>
              <p:cNvGrpSpPr/>
              <p:nvPr/>
            </p:nvGrpSpPr>
            <p:grpSpPr>
              <a:xfrm>
                <a:off x="5859528" y="4581128"/>
                <a:ext cx="2479068" cy="888861"/>
                <a:chOff x="447986" y="4581128"/>
                <a:chExt cx="2479068" cy="888861"/>
              </a:xfrm>
            </p:grpSpPr>
            <p:sp>
              <p:nvSpPr>
                <p:cNvPr id="210" name="Freeform 26"/>
                <p:cNvSpPr/>
                <p:nvPr/>
              </p:nvSpPr>
              <p:spPr>
                <a:xfrm>
                  <a:off x="490917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11" name="Diamond 27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212" name="Diamond 28"/>
                <p:cNvSpPr/>
                <p:nvPr/>
              </p:nvSpPr>
              <p:spPr>
                <a:xfrm>
                  <a:off x="447986" y="4803343"/>
                  <a:ext cx="709984" cy="444431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</p:grpSp>
        <p:grpSp>
          <p:nvGrpSpPr>
            <p:cNvPr id="98" name="Grupp 131"/>
            <p:cNvGrpSpPr/>
            <p:nvPr/>
          </p:nvGrpSpPr>
          <p:grpSpPr>
            <a:xfrm>
              <a:off x="854442" y="4077102"/>
              <a:ext cx="7920880" cy="1217051"/>
              <a:chOff x="229363" y="1851370"/>
              <a:chExt cx="8064896" cy="1413976"/>
            </a:xfrm>
          </p:grpSpPr>
          <p:sp>
            <p:nvSpPr>
              <p:cNvPr id="100" name="Rektangel 99"/>
              <p:cNvSpPr/>
              <p:nvPr/>
            </p:nvSpPr>
            <p:spPr>
              <a:xfrm>
                <a:off x="229363" y="1851370"/>
                <a:ext cx="8064896" cy="1413976"/>
              </a:xfrm>
              <a:prstGeom prst="rect">
                <a:avLst/>
              </a:prstGeom>
              <a:solidFill>
                <a:schemeClr val="bg1">
                  <a:alpha val="7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1" name="textruta 100"/>
              <p:cNvSpPr txBox="1"/>
              <p:nvPr/>
            </p:nvSpPr>
            <p:spPr>
              <a:xfrm rot="16200000">
                <a:off x="-101590" y="2345638"/>
                <a:ext cx="1278604" cy="433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b="1" dirty="0" err="1">
                    <a:solidFill>
                      <a:prstClr val="black"/>
                    </a:solidFill>
                    <a:latin typeface="Calibri"/>
                  </a:rPr>
                  <a:t>Survey</a:t>
                </a:r>
                <a:r>
                  <a:rPr lang="sv-SE" b="1" dirty="0">
                    <a:solidFill>
                      <a:prstClr val="black"/>
                    </a:solidFill>
                    <a:latin typeface="Calibri"/>
                  </a:rPr>
                  <a:t> C</a:t>
                </a:r>
              </a:p>
            </p:txBody>
          </p:sp>
        </p:grpSp>
        <p:grpSp>
          <p:nvGrpSpPr>
            <p:cNvPr id="102" name="Group 77"/>
            <p:cNvGrpSpPr/>
            <p:nvPr/>
          </p:nvGrpSpPr>
          <p:grpSpPr>
            <a:xfrm>
              <a:off x="1514937" y="4221116"/>
              <a:ext cx="7188377" cy="864096"/>
              <a:chOff x="472737" y="4572237"/>
              <a:chExt cx="7865859" cy="897752"/>
            </a:xfrm>
          </p:grpSpPr>
          <p:grpSp>
            <p:nvGrpSpPr>
              <p:cNvPr id="103" name="Group 16"/>
              <p:cNvGrpSpPr/>
              <p:nvPr/>
            </p:nvGrpSpPr>
            <p:grpSpPr>
              <a:xfrm>
                <a:off x="472737" y="4581128"/>
                <a:ext cx="2454317" cy="888861"/>
                <a:chOff x="472737" y="4581128"/>
                <a:chExt cx="2454317" cy="888861"/>
              </a:xfrm>
            </p:grpSpPr>
            <p:sp>
              <p:nvSpPr>
                <p:cNvPr id="116" name="Freeform 10"/>
                <p:cNvSpPr/>
                <p:nvPr/>
              </p:nvSpPr>
              <p:spPr>
                <a:xfrm>
                  <a:off x="572124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17" name="Diamond 14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18" name="Diamond 15"/>
                <p:cNvSpPr/>
                <p:nvPr/>
              </p:nvSpPr>
              <p:spPr>
                <a:xfrm>
                  <a:off x="472737" y="4803344"/>
                  <a:ext cx="709984" cy="444430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04" name="Group 17"/>
              <p:cNvGrpSpPr/>
              <p:nvPr/>
            </p:nvGrpSpPr>
            <p:grpSpPr>
              <a:xfrm>
                <a:off x="2259539" y="4572237"/>
                <a:ext cx="2467911" cy="888861"/>
                <a:chOff x="459143" y="4581128"/>
                <a:chExt cx="2467911" cy="888861"/>
              </a:xfrm>
            </p:grpSpPr>
            <p:sp>
              <p:nvSpPr>
                <p:cNvPr id="113" name="Freeform 18"/>
                <p:cNvSpPr/>
                <p:nvPr/>
              </p:nvSpPr>
              <p:spPr>
                <a:xfrm>
                  <a:off x="572124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14" name="Diamond 19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15" name="Diamond 20"/>
                <p:cNvSpPr/>
                <p:nvPr/>
              </p:nvSpPr>
              <p:spPr>
                <a:xfrm>
                  <a:off x="459143" y="4803343"/>
                  <a:ext cx="709984" cy="444430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05" name="Group 21"/>
              <p:cNvGrpSpPr/>
              <p:nvPr/>
            </p:nvGrpSpPr>
            <p:grpSpPr>
              <a:xfrm>
                <a:off x="4049528" y="4581128"/>
                <a:ext cx="2467911" cy="888861"/>
                <a:chOff x="459143" y="4581128"/>
                <a:chExt cx="2467911" cy="888861"/>
              </a:xfrm>
            </p:grpSpPr>
            <p:sp>
              <p:nvSpPr>
                <p:cNvPr id="110" name="Freeform 22"/>
                <p:cNvSpPr/>
                <p:nvPr/>
              </p:nvSpPr>
              <p:spPr>
                <a:xfrm>
                  <a:off x="572124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11" name="Diamond 23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12" name="Diamond 24"/>
                <p:cNvSpPr/>
                <p:nvPr/>
              </p:nvSpPr>
              <p:spPr>
                <a:xfrm>
                  <a:off x="459143" y="4803343"/>
                  <a:ext cx="709984" cy="444430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06" name="Group 25"/>
              <p:cNvGrpSpPr/>
              <p:nvPr/>
            </p:nvGrpSpPr>
            <p:grpSpPr>
              <a:xfrm>
                <a:off x="5870685" y="4581128"/>
                <a:ext cx="2467911" cy="888861"/>
                <a:chOff x="459143" y="4581128"/>
                <a:chExt cx="2467911" cy="888861"/>
              </a:xfrm>
            </p:grpSpPr>
            <p:sp>
              <p:nvSpPr>
                <p:cNvPr id="107" name="Freeform 26"/>
                <p:cNvSpPr/>
                <p:nvPr/>
              </p:nvSpPr>
              <p:spPr>
                <a:xfrm>
                  <a:off x="490917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08" name="Diamond 27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09" name="Diamond 28"/>
                <p:cNvSpPr/>
                <p:nvPr/>
              </p:nvSpPr>
              <p:spPr>
                <a:xfrm>
                  <a:off x="459143" y="4803343"/>
                  <a:ext cx="709984" cy="444430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</p:grpSp>
      </p:grpSp>
      <p:sp>
        <p:nvSpPr>
          <p:cNvPr id="69" name="Title 1"/>
          <p:cNvSpPr>
            <a:spLocks noGrp="1"/>
          </p:cNvSpPr>
          <p:nvPr>
            <p:ph type="title"/>
          </p:nvPr>
        </p:nvSpPr>
        <p:spPr>
          <a:xfrm>
            <a:off x="2133600" y="381000"/>
            <a:ext cx="8229600" cy="1143000"/>
          </a:xfrm>
        </p:spPr>
        <p:txBody>
          <a:bodyPr/>
          <a:lstStyle/>
          <a:p>
            <a:r>
              <a:rPr lang="en-US" dirty="0" smtClean="0"/>
              <a:t>EA helps you get to this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400629" y="5899086"/>
            <a:ext cx="129540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44550">
              <a:lnSpc>
                <a:spcPct val="90000"/>
              </a:lnSpc>
              <a:spcAft>
                <a:spcPct val="35000"/>
              </a:spcAft>
            </a:pPr>
            <a:r>
              <a:rPr lang="en-GB" sz="1600" dirty="0">
                <a:solidFill>
                  <a:prstClr val="white"/>
                </a:solidFill>
                <a:latin typeface="Calibri"/>
              </a:rPr>
              <a:t>Disseminate</a:t>
            </a:r>
          </a:p>
        </p:txBody>
      </p:sp>
    </p:spTree>
    <p:extLst>
      <p:ext uri="{BB962C8B-B14F-4D97-AF65-F5344CB8AC3E}">
        <p14:creationId xmlns:p14="http://schemas.microsoft.com/office/powerpoint/2010/main" val="2339324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04088"/>
            <a:ext cx="8229600" cy="4096512"/>
          </a:xfrm>
        </p:spPr>
        <p:txBody>
          <a:bodyPr/>
          <a:lstStyle/>
          <a:p>
            <a:pPr algn="ctr"/>
            <a:r>
              <a:rPr lang="en-US" dirty="0" smtClean="0"/>
              <a:t>…but if each statistical organisation works by themselves…..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89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102530" y="1676400"/>
            <a:ext cx="8025030" cy="3810000"/>
            <a:chOff x="270336" y="87234"/>
            <a:chExt cx="8667948" cy="4044327"/>
          </a:xfrm>
        </p:grpSpPr>
        <p:grpSp>
          <p:nvGrpSpPr>
            <p:cNvPr id="3" name="Grupp 49"/>
            <p:cNvGrpSpPr/>
            <p:nvPr/>
          </p:nvGrpSpPr>
          <p:grpSpPr>
            <a:xfrm>
              <a:off x="270336" y="87234"/>
              <a:ext cx="8667948" cy="2405663"/>
              <a:chOff x="-231675" y="188640"/>
              <a:chExt cx="9124155" cy="3093851"/>
            </a:xfrm>
          </p:grpSpPr>
          <p:sp>
            <p:nvSpPr>
              <p:cNvPr id="75" name="Rektangel 74"/>
              <p:cNvSpPr/>
              <p:nvPr/>
            </p:nvSpPr>
            <p:spPr>
              <a:xfrm>
                <a:off x="251520" y="188640"/>
                <a:ext cx="8640960" cy="3093851"/>
              </a:xfrm>
              <a:prstGeom prst="rect">
                <a:avLst/>
              </a:prstGeom>
              <a:solidFill>
                <a:schemeClr val="accent1">
                  <a:alpha val="6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1" name="textruta 130"/>
              <p:cNvSpPr txBox="1"/>
              <p:nvPr/>
            </p:nvSpPr>
            <p:spPr>
              <a:xfrm rot="16200000">
                <a:off x="-744128" y="2223532"/>
                <a:ext cx="1549802" cy="5248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400" b="1" dirty="0">
                    <a:solidFill>
                      <a:prstClr val="black"/>
                    </a:solidFill>
                    <a:latin typeface="Calibri"/>
                  </a:rPr>
                  <a:t>Canada</a:t>
                </a:r>
              </a:p>
            </p:txBody>
          </p:sp>
        </p:grpSp>
        <p:grpSp>
          <p:nvGrpSpPr>
            <p:cNvPr id="4" name="Group 4"/>
            <p:cNvGrpSpPr/>
            <p:nvPr/>
          </p:nvGrpSpPr>
          <p:grpSpPr>
            <a:xfrm>
              <a:off x="918538" y="231250"/>
              <a:ext cx="7661651" cy="832330"/>
              <a:chOff x="353355" y="2933913"/>
              <a:chExt cx="8221964" cy="814274"/>
            </a:xfrm>
          </p:grpSpPr>
          <p:sp>
            <p:nvSpPr>
              <p:cNvPr id="6" name="Freeform 5"/>
              <p:cNvSpPr/>
              <p:nvPr/>
            </p:nvSpPr>
            <p:spPr>
              <a:xfrm>
                <a:off x="353355" y="2933913"/>
                <a:ext cx="2222152" cy="814274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dirty="0">
                    <a:solidFill>
                      <a:prstClr val="white"/>
                    </a:solidFill>
                    <a:latin typeface="Calibri"/>
                  </a:rPr>
                  <a:t>Collect</a:t>
                </a: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" name="Freeform 6"/>
              <p:cNvSpPr/>
              <p:nvPr/>
            </p:nvSpPr>
            <p:spPr>
              <a:xfrm>
                <a:off x="2353292" y="2933913"/>
                <a:ext cx="2222152" cy="814274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  <a:scene3d>
                <a:camera prst="orthographicFront"/>
                <a:lightRig rig="threePt" dir="t"/>
              </a:scene3d>
              <a:sp3d>
                <a:bevelB w="247650" h="133350" prst="coolSlant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dirty="0">
                    <a:solidFill>
                      <a:prstClr val="white"/>
                    </a:solidFill>
                    <a:latin typeface="Calibri"/>
                  </a:rPr>
                  <a:t>Process</a:t>
                </a: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4353230" y="2933913"/>
                <a:ext cx="2222152" cy="814273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sz="1600" dirty="0">
                    <a:solidFill>
                      <a:prstClr val="white"/>
                    </a:solidFill>
                    <a:latin typeface="Calibri"/>
                  </a:rPr>
                  <a:t>Analyse</a:t>
                </a:r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6353167" y="2933913"/>
                <a:ext cx="2222152" cy="814273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sz="1600" dirty="0">
                    <a:solidFill>
                      <a:prstClr val="white"/>
                    </a:solidFill>
                    <a:latin typeface="Calibri"/>
                  </a:rPr>
                  <a:t>Disseminate</a:t>
                </a:r>
              </a:p>
            </p:txBody>
          </p:sp>
        </p:grpSp>
        <p:sp>
          <p:nvSpPr>
            <p:cNvPr id="55" name="Rektangel 54"/>
            <p:cNvSpPr/>
            <p:nvPr/>
          </p:nvSpPr>
          <p:spPr>
            <a:xfrm>
              <a:off x="873388" y="1158298"/>
              <a:ext cx="7920880" cy="1217053"/>
            </a:xfrm>
            <a:prstGeom prst="rect">
              <a:avLst/>
            </a:prstGeom>
            <a:solidFill>
              <a:schemeClr val="bg1">
                <a:alpha val="7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10" name="Group 77"/>
            <p:cNvGrpSpPr/>
            <p:nvPr/>
          </p:nvGrpSpPr>
          <p:grpSpPr>
            <a:xfrm>
              <a:off x="1521460" y="1302314"/>
              <a:ext cx="7200800" cy="864096"/>
              <a:chOff x="459143" y="4572237"/>
              <a:chExt cx="7879453" cy="897752"/>
            </a:xfrm>
          </p:grpSpPr>
          <p:grpSp>
            <p:nvGrpSpPr>
              <p:cNvPr id="11" name="Group 16"/>
              <p:cNvGrpSpPr/>
              <p:nvPr/>
            </p:nvGrpSpPr>
            <p:grpSpPr>
              <a:xfrm>
                <a:off x="459143" y="4581128"/>
                <a:ext cx="2467911" cy="888861"/>
                <a:chOff x="459143" y="4581128"/>
                <a:chExt cx="2467911" cy="888861"/>
              </a:xfrm>
            </p:grpSpPr>
            <p:sp>
              <p:nvSpPr>
                <p:cNvPr id="87" name="Freeform 10"/>
                <p:cNvSpPr/>
                <p:nvPr/>
              </p:nvSpPr>
              <p:spPr>
                <a:xfrm>
                  <a:off x="572124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88" name="Diamond 14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89" name="Diamond 15"/>
                <p:cNvSpPr/>
                <p:nvPr/>
              </p:nvSpPr>
              <p:spPr>
                <a:xfrm>
                  <a:off x="459143" y="4803343"/>
                  <a:ext cx="709984" cy="444430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2" name="Group 17"/>
              <p:cNvGrpSpPr/>
              <p:nvPr/>
            </p:nvGrpSpPr>
            <p:grpSpPr>
              <a:xfrm>
                <a:off x="2259539" y="4572237"/>
                <a:ext cx="2467911" cy="888861"/>
                <a:chOff x="459143" y="4581128"/>
                <a:chExt cx="2467911" cy="888861"/>
              </a:xfrm>
            </p:grpSpPr>
            <p:sp>
              <p:nvSpPr>
                <p:cNvPr id="84" name="Freeform 18"/>
                <p:cNvSpPr/>
                <p:nvPr/>
              </p:nvSpPr>
              <p:spPr>
                <a:xfrm>
                  <a:off x="572124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85" name="Diamond 19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86" name="Diamond 20"/>
                <p:cNvSpPr/>
                <p:nvPr/>
              </p:nvSpPr>
              <p:spPr>
                <a:xfrm>
                  <a:off x="459143" y="4803343"/>
                  <a:ext cx="709984" cy="444430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3" name="Group 21"/>
              <p:cNvGrpSpPr/>
              <p:nvPr/>
            </p:nvGrpSpPr>
            <p:grpSpPr>
              <a:xfrm>
                <a:off x="4049528" y="4581128"/>
                <a:ext cx="2467911" cy="888861"/>
                <a:chOff x="459143" y="4581128"/>
                <a:chExt cx="2467911" cy="888861"/>
              </a:xfrm>
            </p:grpSpPr>
            <p:sp>
              <p:nvSpPr>
                <p:cNvPr id="81" name="Freeform 22"/>
                <p:cNvSpPr/>
                <p:nvPr/>
              </p:nvSpPr>
              <p:spPr>
                <a:xfrm>
                  <a:off x="572124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82" name="Diamond 23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83" name="Diamond 24"/>
                <p:cNvSpPr/>
                <p:nvPr/>
              </p:nvSpPr>
              <p:spPr>
                <a:xfrm>
                  <a:off x="459143" y="4803343"/>
                  <a:ext cx="709984" cy="444430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4" name="Group 25"/>
              <p:cNvGrpSpPr/>
              <p:nvPr/>
            </p:nvGrpSpPr>
            <p:grpSpPr>
              <a:xfrm>
                <a:off x="5845844" y="4581128"/>
                <a:ext cx="2492752" cy="888861"/>
                <a:chOff x="434302" y="4581128"/>
                <a:chExt cx="2492752" cy="888861"/>
              </a:xfrm>
            </p:grpSpPr>
            <p:sp>
              <p:nvSpPr>
                <p:cNvPr id="77" name="Freeform 26"/>
                <p:cNvSpPr/>
                <p:nvPr/>
              </p:nvSpPr>
              <p:spPr>
                <a:xfrm>
                  <a:off x="513098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79" name="Diamond 27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80" name="Diamond 28"/>
                <p:cNvSpPr/>
                <p:nvPr/>
              </p:nvSpPr>
              <p:spPr>
                <a:xfrm>
                  <a:off x="434302" y="4794451"/>
                  <a:ext cx="709984" cy="491052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</p:grpSp>
        <p:grpSp>
          <p:nvGrpSpPr>
            <p:cNvPr id="222" name="Grupp 49"/>
            <p:cNvGrpSpPr/>
            <p:nvPr/>
          </p:nvGrpSpPr>
          <p:grpSpPr>
            <a:xfrm>
              <a:off x="272565" y="2557904"/>
              <a:ext cx="8665715" cy="1573657"/>
              <a:chOff x="-229329" y="188640"/>
              <a:chExt cx="9121809" cy="2761839"/>
            </a:xfrm>
          </p:grpSpPr>
          <p:sp>
            <p:nvSpPr>
              <p:cNvPr id="223" name="Rektangel 222"/>
              <p:cNvSpPr/>
              <p:nvPr/>
            </p:nvSpPr>
            <p:spPr>
              <a:xfrm>
                <a:off x="251520" y="188640"/>
                <a:ext cx="8640960" cy="2761839"/>
              </a:xfrm>
              <a:prstGeom prst="rect">
                <a:avLst/>
              </a:prstGeom>
              <a:solidFill>
                <a:schemeClr val="accent1">
                  <a:alpha val="6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24" name="textruta 223"/>
              <p:cNvSpPr txBox="1"/>
              <p:nvPr/>
            </p:nvSpPr>
            <p:spPr>
              <a:xfrm rot="16200000">
                <a:off x="-1080619" y="1244621"/>
                <a:ext cx="2227475" cy="5248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400" b="1" dirty="0">
                    <a:solidFill>
                      <a:prstClr val="black"/>
                    </a:solidFill>
                    <a:latin typeface="Calibri"/>
                  </a:rPr>
                  <a:t>Sweden</a:t>
                </a:r>
              </a:p>
            </p:txBody>
          </p:sp>
        </p:grpSp>
        <p:grpSp>
          <p:nvGrpSpPr>
            <p:cNvPr id="225" name="Grupp 55"/>
            <p:cNvGrpSpPr/>
            <p:nvPr/>
          </p:nvGrpSpPr>
          <p:grpSpPr>
            <a:xfrm>
              <a:off x="873388" y="2674534"/>
              <a:ext cx="7920880" cy="1217053"/>
              <a:chOff x="229363" y="1851370"/>
              <a:chExt cx="8064896" cy="1413976"/>
            </a:xfrm>
          </p:grpSpPr>
          <p:sp>
            <p:nvSpPr>
              <p:cNvPr id="226" name="Rektangel 225"/>
              <p:cNvSpPr/>
              <p:nvPr/>
            </p:nvSpPr>
            <p:spPr>
              <a:xfrm>
                <a:off x="229363" y="1851370"/>
                <a:ext cx="8064896" cy="1413976"/>
              </a:xfrm>
              <a:prstGeom prst="rect">
                <a:avLst/>
              </a:prstGeom>
              <a:solidFill>
                <a:schemeClr val="bg1">
                  <a:alpha val="7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27" name="textruta 226"/>
              <p:cNvSpPr txBox="1"/>
              <p:nvPr/>
            </p:nvSpPr>
            <p:spPr>
              <a:xfrm rot="16200000">
                <a:off x="423802" y="2359382"/>
                <a:ext cx="227821" cy="4061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sv-SE" b="1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303" name="Grupp 302"/>
            <p:cNvGrpSpPr/>
            <p:nvPr/>
          </p:nvGrpSpPr>
          <p:grpSpPr>
            <a:xfrm>
              <a:off x="1494602" y="2854990"/>
              <a:ext cx="5472608" cy="864096"/>
              <a:chOff x="1403648" y="2780928"/>
              <a:chExt cx="5472608" cy="864096"/>
            </a:xfrm>
          </p:grpSpPr>
          <p:sp>
            <p:nvSpPr>
              <p:cNvPr id="299" name="Flödesschema: Data 298"/>
              <p:cNvSpPr/>
              <p:nvPr/>
            </p:nvSpPr>
            <p:spPr>
              <a:xfrm>
                <a:off x="1403648" y="2780928"/>
                <a:ext cx="2016224" cy="864096"/>
              </a:xfrm>
              <a:prstGeom prst="flowChartInputOutpu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sv-SE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00" name="Flödesschema: Data 299"/>
              <p:cNvSpPr/>
              <p:nvPr/>
            </p:nvSpPr>
            <p:spPr>
              <a:xfrm>
                <a:off x="3131840" y="2780928"/>
                <a:ext cx="2016224" cy="864096"/>
              </a:xfrm>
              <a:prstGeom prst="flowChartInputOutpu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sv-SE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01" name="Flödesschema: Data 300"/>
              <p:cNvSpPr/>
              <p:nvPr/>
            </p:nvSpPr>
            <p:spPr>
              <a:xfrm>
                <a:off x="4860032" y="2780928"/>
                <a:ext cx="2016224" cy="864096"/>
              </a:xfrm>
              <a:prstGeom prst="flowChartInputOutpu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sv-SE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sp>
          <p:nvSpPr>
            <p:cNvPr id="314" name="Flödesschema: Data 313"/>
            <p:cNvSpPr/>
            <p:nvPr/>
          </p:nvSpPr>
          <p:spPr>
            <a:xfrm>
              <a:off x="6679178" y="2854990"/>
              <a:ext cx="2016224" cy="864096"/>
            </a:xfrm>
            <a:prstGeom prst="flowChartInputOutpu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  <a:prstDash val="solid"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sv-SE" sz="1900">
                <a:solidFill>
                  <a:prstClr val="white"/>
                </a:solidFill>
                <a:latin typeface="Calibri"/>
              </a:endParaRPr>
            </a:p>
          </p:txBody>
        </p:sp>
        <p:pic>
          <p:nvPicPr>
            <p:cNvPr id="338" name="Picture 7" descr="\\FS11\SCBJAEN$\Mina dokument\Presentations\Other\flags\ca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9712" y="141277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40" name="Picture 7" descr="\\FS11\SCBJAEN$\Mina dokument\Presentations\Other\flags\ca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5896" y="141277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42" name="Picture 7" descr="\\FS11\SCBJAEN$\Mina dokument\Presentations\Other\flags\ca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2080" y="141277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44" name="Picture 7" descr="\\FS11\SCBJAEN$\Mina dokument\Presentations\Other\flags\ca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8264" y="141277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46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9712" y="295639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48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5896" y="295639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50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4088" y="295639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51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7958" y="2920242"/>
              <a:ext cx="576064" cy="576064"/>
            </a:xfrm>
            <a:prstGeom prst="rect">
              <a:avLst/>
            </a:prstGeom>
            <a:noFill/>
          </p:spPr>
        </p:pic>
        <p:sp>
          <p:nvSpPr>
            <p:cNvPr id="97" name="Diamond 27"/>
            <p:cNvSpPr/>
            <p:nvPr/>
          </p:nvSpPr>
          <p:spPr>
            <a:xfrm>
              <a:off x="7937430" y="1516199"/>
              <a:ext cx="739026" cy="472642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en-GB" sz="1900" dirty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65" name="Title 1"/>
          <p:cNvSpPr>
            <a:spLocks noGrp="1"/>
          </p:cNvSpPr>
          <p:nvPr>
            <p:ph type="title"/>
          </p:nvPr>
        </p:nvSpPr>
        <p:spPr>
          <a:xfrm>
            <a:off x="2133600" y="381000"/>
            <a:ext cx="8229600" cy="1143000"/>
          </a:xfrm>
        </p:spPr>
        <p:txBody>
          <a:bodyPr/>
          <a:lstStyle/>
          <a:p>
            <a:r>
              <a:rPr lang="en-US" dirty="0" smtClean="0"/>
              <a:t>…we get this….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75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102530" y="1676400"/>
            <a:ext cx="8025030" cy="4955852"/>
            <a:chOff x="270336" y="87234"/>
            <a:chExt cx="8667948" cy="5260652"/>
          </a:xfrm>
        </p:grpSpPr>
        <p:grpSp>
          <p:nvGrpSpPr>
            <p:cNvPr id="3" name="Grupp 49"/>
            <p:cNvGrpSpPr/>
            <p:nvPr/>
          </p:nvGrpSpPr>
          <p:grpSpPr>
            <a:xfrm>
              <a:off x="270336" y="87234"/>
              <a:ext cx="8667948" cy="2405663"/>
              <a:chOff x="-231675" y="188640"/>
              <a:chExt cx="9124155" cy="3093851"/>
            </a:xfrm>
          </p:grpSpPr>
          <p:sp>
            <p:nvSpPr>
              <p:cNvPr id="75" name="Rektangel 74"/>
              <p:cNvSpPr/>
              <p:nvPr/>
            </p:nvSpPr>
            <p:spPr>
              <a:xfrm>
                <a:off x="251520" y="188640"/>
                <a:ext cx="8640960" cy="3093851"/>
              </a:xfrm>
              <a:prstGeom prst="rect">
                <a:avLst/>
              </a:prstGeom>
              <a:solidFill>
                <a:schemeClr val="accent1">
                  <a:alpha val="6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1" name="textruta 130"/>
              <p:cNvSpPr txBox="1"/>
              <p:nvPr/>
            </p:nvSpPr>
            <p:spPr>
              <a:xfrm rot="16200000">
                <a:off x="-744128" y="2223532"/>
                <a:ext cx="1549802" cy="5248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400" b="1" dirty="0">
                    <a:solidFill>
                      <a:prstClr val="black"/>
                    </a:solidFill>
                    <a:latin typeface="Calibri"/>
                  </a:rPr>
                  <a:t>Canada</a:t>
                </a:r>
              </a:p>
            </p:txBody>
          </p:sp>
        </p:grpSp>
        <p:grpSp>
          <p:nvGrpSpPr>
            <p:cNvPr id="4" name="Group 4"/>
            <p:cNvGrpSpPr/>
            <p:nvPr/>
          </p:nvGrpSpPr>
          <p:grpSpPr>
            <a:xfrm>
              <a:off x="918538" y="231250"/>
              <a:ext cx="7661651" cy="832330"/>
              <a:chOff x="353355" y="2933913"/>
              <a:chExt cx="8221964" cy="814274"/>
            </a:xfrm>
          </p:grpSpPr>
          <p:sp>
            <p:nvSpPr>
              <p:cNvPr id="6" name="Freeform 5"/>
              <p:cNvSpPr/>
              <p:nvPr/>
            </p:nvSpPr>
            <p:spPr>
              <a:xfrm>
                <a:off x="353355" y="2933913"/>
                <a:ext cx="2222152" cy="814274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dirty="0">
                    <a:solidFill>
                      <a:prstClr val="white"/>
                    </a:solidFill>
                    <a:latin typeface="Calibri"/>
                  </a:rPr>
                  <a:t>Collect</a:t>
                </a: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" name="Freeform 6"/>
              <p:cNvSpPr/>
              <p:nvPr/>
            </p:nvSpPr>
            <p:spPr>
              <a:xfrm>
                <a:off x="2353292" y="2933913"/>
                <a:ext cx="2222152" cy="814274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  <a:scene3d>
                <a:camera prst="orthographicFront"/>
                <a:lightRig rig="threePt" dir="t"/>
              </a:scene3d>
              <a:sp3d>
                <a:bevelB w="247650" h="133350" prst="coolSlant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dirty="0">
                    <a:solidFill>
                      <a:prstClr val="white"/>
                    </a:solidFill>
                    <a:latin typeface="Calibri"/>
                  </a:rPr>
                  <a:t>Process</a:t>
                </a: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4353230" y="2933913"/>
                <a:ext cx="2222152" cy="814273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sz="1600" dirty="0">
                    <a:solidFill>
                      <a:prstClr val="white"/>
                    </a:solidFill>
                    <a:latin typeface="Calibri"/>
                  </a:rPr>
                  <a:t>Analyse</a:t>
                </a:r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6353167" y="2933913"/>
                <a:ext cx="2222152" cy="814273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sz="1600" dirty="0">
                    <a:solidFill>
                      <a:prstClr val="white"/>
                    </a:solidFill>
                    <a:latin typeface="Calibri"/>
                  </a:rPr>
                  <a:t>Disseminate</a:t>
                </a:r>
              </a:p>
            </p:txBody>
          </p:sp>
        </p:grpSp>
        <p:sp>
          <p:nvSpPr>
            <p:cNvPr id="55" name="Rektangel 54"/>
            <p:cNvSpPr/>
            <p:nvPr/>
          </p:nvSpPr>
          <p:spPr>
            <a:xfrm>
              <a:off x="873388" y="1158298"/>
              <a:ext cx="7920880" cy="1217053"/>
            </a:xfrm>
            <a:prstGeom prst="rect">
              <a:avLst/>
            </a:prstGeom>
            <a:solidFill>
              <a:schemeClr val="bg1">
                <a:alpha val="7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10" name="Group 77"/>
            <p:cNvGrpSpPr/>
            <p:nvPr/>
          </p:nvGrpSpPr>
          <p:grpSpPr>
            <a:xfrm>
              <a:off x="1521460" y="1302314"/>
              <a:ext cx="7200800" cy="864096"/>
              <a:chOff x="459143" y="4572237"/>
              <a:chExt cx="7879453" cy="897752"/>
            </a:xfrm>
          </p:grpSpPr>
          <p:grpSp>
            <p:nvGrpSpPr>
              <p:cNvPr id="11" name="Group 16"/>
              <p:cNvGrpSpPr/>
              <p:nvPr/>
            </p:nvGrpSpPr>
            <p:grpSpPr>
              <a:xfrm>
                <a:off x="459143" y="4581128"/>
                <a:ext cx="2467911" cy="888861"/>
                <a:chOff x="459143" y="4581128"/>
                <a:chExt cx="2467911" cy="888861"/>
              </a:xfrm>
            </p:grpSpPr>
            <p:sp>
              <p:nvSpPr>
                <p:cNvPr id="87" name="Freeform 10"/>
                <p:cNvSpPr/>
                <p:nvPr/>
              </p:nvSpPr>
              <p:spPr>
                <a:xfrm>
                  <a:off x="572124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88" name="Diamond 14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89" name="Diamond 15"/>
                <p:cNvSpPr/>
                <p:nvPr/>
              </p:nvSpPr>
              <p:spPr>
                <a:xfrm>
                  <a:off x="459143" y="4803343"/>
                  <a:ext cx="709984" cy="444430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2" name="Group 17"/>
              <p:cNvGrpSpPr/>
              <p:nvPr/>
            </p:nvGrpSpPr>
            <p:grpSpPr>
              <a:xfrm>
                <a:off x="2259539" y="4572237"/>
                <a:ext cx="2467911" cy="888861"/>
                <a:chOff x="459143" y="4581128"/>
                <a:chExt cx="2467911" cy="888861"/>
              </a:xfrm>
            </p:grpSpPr>
            <p:sp>
              <p:nvSpPr>
                <p:cNvPr id="84" name="Freeform 18"/>
                <p:cNvSpPr/>
                <p:nvPr/>
              </p:nvSpPr>
              <p:spPr>
                <a:xfrm>
                  <a:off x="572124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85" name="Diamond 19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86" name="Diamond 20"/>
                <p:cNvSpPr/>
                <p:nvPr/>
              </p:nvSpPr>
              <p:spPr>
                <a:xfrm>
                  <a:off x="459143" y="4803343"/>
                  <a:ext cx="709984" cy="444430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3" name="Group 21"/>
              <p:cNvGrpSpPr/>
              <p:nvPr/>
            </p:nvGrpSpPr>
            <p:grpSpPr>
              <a:xfrm>
                <a:off x="4049528" y="4581128"/>
                <a:ext cx="2467911" cy="888861"/>
                <a:chOff x="459143" y="4581128"/>
                <a:chExt cx="2467911" cy="888861"/>
              </a:xfrm>
            </p:grpSpPr>
            <p:sp>
              <p:nvSpPr>
                <p:cNvPr id="81" name="Freeform 22"/>
                <p:cNvSpPr/>
                <p:nvPr/>
              </p:nvSpPr>
              <p:spPr>
                <a:xfrm>
                  <a:off x="572124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82" name="Diamond 23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83" name="Diamond 24"/>
                <p:cNvSpPr/>
                <p:nvPr/>
              </p:nvSpPr>
              <p:spPr>
                <a:xfrm>
                  <a:off x="459143" y="4803343"/>
                  <a:ext cx="709984" cy="444430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4" name="Group 25"/>
              <p:cNvGrpSpPr/>
              <p:nvPr/>
            </p:nvGrpSpPr>
            <p:grpSpPr>
              <a:xfrm>
                <a:off x="5845844" y="4581128"/>
                <a:ext cx="2492752" cy="888861"/>
                <a:chOff x="434302" y="4581128"/>
                <a:chExt cx="2492752" cy="888861"/>
              </a:xfrm>
            </p:grpSpPr>
            <p:sp>
              <p:nvSpPr>
                <p:cNvPr id="77" name="Freeform 26"/>
                <p:cNvSpPr/>
                <p:nvPr/>
              </p:nvSpPr>
              <p:spPr>
                <a:xfrm>
                  <a:off x="513098" y="4581128"/>
                  <a:ext cx="2222152" cy="888861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79" name="Diamond 27"/>
                <p:cNvSpPr/>
                <p:nvPr/>
              </p:nvSpPr>
              <p:spPr>
                <a:xfrm>
                  <a:off x="2217070" y="4803343"/>
                  <a:ext cx="709984" cy="444430"/>
                </a:xfrm>
                <a:prstGeom prst="diamond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80" name="Diamond 28"/>
                <p:cNvSpPr/>
                <p:nvPr/>
              </p:nvSpPr>
              <p:spPr>
                <a:xfrm>
                  <a:off x="434302" y="4794451"/>
                  <a:ext cx="709984" cy="491052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</p:grpSp>
        <p:grpSp>
          <p:nvGrpSpPr>
            <p:cNvPr id="222" name="Grupp 49"/>
            <p:cNvGrpSpPr/>
            <p:nvPr/>
          </p:nvGrpSpPr>
          <p:grpSpPr>
            <a:xfrm>
              <a:off x="270339" y="2557904"/>
              <a:ext cx="8667945" cy="2789982"/>
              <a:chOff x="-231672" y="188640"/>
              <a:chExt cx="9124152" cy="4896544"/>
            </a:xfrm>
          </p:grpSpPr>
          <p:sp>
            <p:nvSpPr>
              <p:cNvPr id="223" name="Rektangel 222"/>
              <p:cNvSpPr/>
              <p:nvPr/>
            </p:nvSpPr>
            <p:spPr>
              <a:xfrm>
                <a:off x="251520" y="188640"/>
                <a:ext cx="8640960" cy="4896544"/>
              </a:xfrm>
              <a:prstGeom prst="rect">
                <a:avLst/>
              </a:prstGeom>
              <a:solidFill>
                <a:schemeClr val="accent1">
                  <a:alpha val="6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24" name="textruta 223"/>
              <p:cNvSpPr txBox="1"/>
              <p:nvPr/>
            </p:nvSpPr>
            <p:spPr>
              <a:xfrm rot="16200000">
                <a:off x="-1082962" y="2485121"/>
                <a:ext cx="2227475" cy="5248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sv-SE" sz="2400" b="1" dirty="0">
                    <a:solidFill>
                      <a:prstClr val="black"/>
                    </a:solidFill>
                    <a:latin typeface="Calibri"/>
                  </a:rPr>
                  <a:t>Sweden</a:t>
                </a:r>
              </a:p>
            </p:txBody>
          </p:sp>
        </p:grpSp>
        <p:sp>
          <p:nvSpPr>
            <p:cNvPr id="246" name="Rektangel 245"/>
            <p:cNvSpPr/>
            <p:nvPr/>
          </p:nvSpPr>
          <p:spPr>
            <a:xfrm>
              <a:off x="873388" y="4042687"/>
              <a:ext cx="7920880" cy="1217051"/>
            </a:xfrm>
            <a:prstGeom prst="rect">
              <a:avLst/>
            </a:prstGeom>
            <a:solidFill>
              <a:schemeClr val="bg1">
                <a:alpha val="7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225" name="Grupp 55"/>
            <p:cNvGrpSpPr/>
            <p:nvPr/>
          </p:nvGrpSpPr>
          <p:grpSpPr>
            <a:xfrm>
              <a:off x="873388" y="2674534"/>
              <a:ext cx="7920880" cy="1217053"/>
              <a:chOff x="229363" y="1851370"/>
              <a:chExt cx="8064896" cy="1413976"/>
            </a:xfrm>
          </p:grpSpPr>
          <p:sp>
            <p:nvSpPr>
              <p:cNvPr id="226" name="Rektangel 225"/>
              <p:cNvSpPr/>
              <p:nvPr/>
            </p:nvSpPr>
            <p:spPr>
              <a:xfrm>
                <a:off x="229363" y="1851370"/>
                <a:ext cx="8064896" cy="1413976"/>
              </a:xfrm>
              <a:prstGeom prst="rect">
                <a:avLst/>
              </a:prstGeom>
              <a:solidFill>
                <a:schemeClr val="bg1">
                  <a:alpha val="7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27" name="textruta 226"/>
              <p:cNvSpPr txBox="1"/>
              <p:nvPr/>
            </p:nvSpPr>
            <p:spPr>
              <a:xfrm rot="16200000">
                <a:off x="423802" y="2359382"/>
                <a:ext cx="227821" cy="4061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sv-SE" b="1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303" name="Grupp 302"/>
            <p:cNvGrpSpPr/>
            <p:nvPr/>
          </p:nvGrpSpPr>
          <p:grpSpPr>
            <a:xfrm>
              <a:off x="1494602" y="2854990"/>
              <a:ext cx="5472608" cy="864096"/>
              <a:chOff x="1403648" y="2780928"/>
              <a:chExt cx="5472608" cy="864096"/>
            </a:xfrm>
          </p:grpSpPr>
          <p:sp>
            <p:nvSpPr>
              <p:cNvPr id="299" name="Flödesschema: Data 298"/>
              <p:cNvSpPr/>
              <p:nvPr/>
            </p:nvSpPr>
            <p:spPr>
              <a:xfrm>
                <a:off x="1403648" y="2780928"/>
                <a:ext cx="2016224" cy="864096"/>
              </a:xfrm>
              <a:prstGeom prst="flowChartInputOutpu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sv-SE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00" name="Flödesschema: Data 299"/>
              <p:cNvSpPr/>
              <p:nvPr/>
            </p:nvSpPr>
            <p:spPr>
              <a:xfrm>
                <a:off x="3131840" y="2780928"/>
                <a:ext cx="2016224" cy="864096"/>
              </a:xfrm>
              <a:prstGeom prst="flowChartInputOutpu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sv-SE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01" name="Flödesschema: Data 300"/>
              <p:cNvSpPr/>
              <p:nvPr/>
            </p:nvSpPr>
            <p:spPr>
              <a:xfrm>
                <a:off x="4860032" y="2780928"/>
                <a:ext cx="2016224" cy="864096"/>
              </a:xfrm>
              <a:prstGeom prst="flowChartInputOutpu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sv-SE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grpSp>
          <p:nvGrpSpPr>
            <p:cNvPr id="304" name="Grupp 303"/>
            <p:cNvGrpSpPr/>
            <p:nvPr/>
          </p:nvGrpSpPr>
          <p:grpSpPr>
            <a:xfrm>
              <a:off x="1494602" y="4223142"/>
              <a:ext cx="5472608" cy="864096"/>
              <a:chOff x="1403648" y="2780928"/>
              <a:chExt cx="5472608" cy="864096"/>
            </a:xfrm>
          </p:grpSpPr>
          <p:sp>
            <p:nvSpPr>
              <p:cNvPr id="305" name="Flödesschema: Data 304"/>
              <p:cNvSpPr/>
              <p:nvPr/>
            </p:nvSpPr>
            <p:spPr>
              <a:xfrm>
                <a:off x="1403648" y="2780928"/>
                <a:ext cx="2016224" cy="864096"/>
              </a:xfrm>
              <a:prstGeom prst="flowChartInputOutpu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sv-SE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06" name="Flödesschema: Data 305"/>
              <p:cNvSpPr/>
              <p:nvPr/>
            </p:nvSpPr>
            <p:spPr>
              <a:xfrm>
                <a:off x="3131840" y="2780928"/>
                <a:ext cx="2016224" cy="864096"/>
              </a:xfrm>
              <a:prstGeom prst="flowChartInputOutpu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sv-SE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07" name="Flödesschema: Data 306"/>
              <p:cNvSpPr/>
              <p:nvPr/>
            </p:nvSpPr>
            <p:spPr>
              <a:xfrm>
                <a:off x="4860032" y="2780928"/>
                <a:ext cx="2016224" cy="864096"/>
              </a:xfrm>
              <a:prstGeom prst="flowChartInputOutpu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sv-SE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sp>
          <p:nvSpPr>
            <p:cNvPr id="311" name="textruta 310"/>
            <p:cNvSpPr txBox="1"/>
            <p:nvPr/>
          </p:nvSpPr>
          <p:spPr>
            <a:xfrm>
              <a:off x="7399260" y="2782981"/>
              <a:ext cx="545746" cy="980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400" b="1" dirty="0">
                  <a:solidFill>
                    <a:prstClr val="black"/>
                  </a:solidFill>
                  <a:latin typeface="Calibri"/>
                </a:rPr>
                <a:t>?</a:t>
              </a:r>
              <a:endParaRPr lang="sv-SE" b="1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4" name="Flödesschema: Data 313"/>
            <p:cNvSpPr/>
            <p:nvPr/>
          </p:nvSpPr>
          <p:spPr>
            <a:xfrm>
              <a:off x="6679178" y="2854990"/>
              <a:ext cx="2016224" cy="864096"/>
            </a:xfrm>
            <a:prstGeom prst="flowChartInputOutpu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sv-SE" sz="19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5" name="Flödesschema: Data 314"/>
            <p:cNvSpPr/>
            <p:nvPr/>
          </p:nvSpPr>
          <p:spPr>
            <a:xfrm>
              <a:off x="6679178" y="4223142"/>
              <a:ext cx="2016224" cy="864096"/>
            </a:xfrm>
            <a:prstGeom prst="flowChartInputOutpu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  <a:prstDash val="sysDot"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sv-SE" sz="19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6" name="textruta 315"/>
            <p:cNvSpPr txBox="1"/>
            <p:nvPr/>
          </p:nvSpPr>
          <p:spPr>
            <a:xfrm>
              <a:off x="7399260" y="4151134"/>
              <a:ext cx="545746" cy="980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400" b="1" dirty="0">
                  <a:solidFill>
                    <a:prstClr val="black"/>
                  </a:solidFill>
                  <a:latin typeface="Calibri"/>
                </a:rPr>
                <a:t>?</a:t>
              </a:r>
              <a:endParaRPr lang="sv-SE" b="1" dirty="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338" name="Picture 7" descr="\\FS11\SCBJAEN$\Mina dokument\Presentations\Other\flags\ca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9712" y="141277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40" name="Picture 7" descr="\\FS11\SCBJAEN$\Mina dokument\Presentations\Other\flags\ca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5896" y="141277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42" name="Picture 7" descr="\\FS11\SCBJAEN$\Mina dokument\Presentations\Other\flags\ca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2080" y="141277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44" name="Picture 7" descr="\\FS11\SCBJAEN$\Mina dokument\Presentations\Other\flags\ca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8264" y="141277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46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9712" y="295639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47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9712" y="4324548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48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5896" y="295639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49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5896" y="4324548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50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4088" y="295639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351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4088" y="4324548"/>
              <a:ext cx="576064" cy="576064"/>
            </a:xfrm>
            <a:prstGeom prst="rect">
              <a:avLst/>
            </a:prstGeom>
            <a:noFill/>
          </p:spPr>
        </p:pic>
        <p:grpSp>
          <p:nvGrpSpPr>
            <p:cNvPr id="364" name="Grupp 363"/>
            <p:cNvGrpSpPr/>
            <p:nvPr/>
          </p:nvGrpSpPr>
          <p:grpSpPr>
            <a:xfrm>
              <a:off x="6444208" y="4252540"/>
              <a:ext cx="2264251" cy="855538"/>
              <a:chOff x="6444208" y="4293096"/>
              <a:chExt cx="2264251" cy="855538"/>
            </a:xfrm>
          </p:grpSpPr>
          <p:grpSp>
            <p:nvGrpSpPr>
              <p:cNvPr id="365" name="Grupp 364"/>
              <p:cNvGrpSpPr/>
              <p:nvPr/>
            </p:nvGrpSpPr>
            <p:grpSpPr>
              <a:xfrm>
                <a:off x="6444208" y="4293096"/>
                <a:ext cx="2264251" cy="855538"/>
                <a:chOff x="8285174" y="548680"/>
                <a:chExt cx="2264251" cy="855538"/>
              </a:xfrm>
            </p:grpSpPr>
            <p:sp>
              <p:nvSpPr>
                <p:cNvPr id="367" name="Freeform 22"/>
                <p:cNvSpPr/>
                <p:nvPr/>
              </p:nvSpPr>
              <p:spPr>
                <a:xfrm>
                  <a:off x="8388424" y="548680"/>
                  <a:ext cx="2030759" cy="855538"/>
                </a:xfrm>
                <a:custGeom>
                  <a:avLst/>
                  <a:gdLst>
                    <a:gd name="connsiteX0" fmla="*/ 0 w 2222152"/>
                    <a:gd name="connsiteY0" fmla="*/ 0 h 888861"/>
                    <a:gd name="connsiteX1" fmla="*/ 1777722 w 2222152"/>
                    <a:gd name="connsiteY1" fmla="*/ 0 h 888861"/>
                    <a:gd name="connsiteX2" fmla="*/ 2222152 w 2222152"/>
                    <a:gd name="connsiteY2" fmla="*/ 444431 h 888861"/>
                    <a:gd name="connsiteX3" fmla="*/ 1777722 w 2222152"/>
                    <a:gd name="connsiteY3" fmla="*/ 888861 h 888861"/>
                    <a:gd name="connsiteX4" fmla="*/ 0 w 2222152"/>
                    <a:gd name="connsiteY4" fmla="*/ 888861 h 888861"/>
                    <a:gd name="connsiteX5" fmla="*/ 444431 w 2222152"/>
                    <a:gd name="connsiteY5" fmla="*/ 444431 h 888861"/>
                    <a:gd name="connsiteX6" fmla="*/ 0 w 2222152"/>
                    <a:gd name="connsiteY6" fmla="*/ 0 h 888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22152" h="888861">
                      <a:moveTo>
                        <a:pt x="0" y="0"/>
                      </a:moveTo>
                      <a:lnTo>
                        <a:pt x="1777722" y="0"/>
                      </a:lnTo>
                      <a:lnTo>
                        <a:pt x="2222152" y="444431"/>
                      </a:lnTo>
                      <a:lnTo>
                        <a:pt x="1777722" y="888861"/>
                      </a:lnTo>
                      <a:lnTo>
                        <a:pt x="0" y="888861"/>
                      </a:lnTo>
                      <a:lnTo>
                        <a:pt x="444431" y="44443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368" name="Diamond 24"/>
                <p:cNvSpPr/>
                <p:nvPr/>
              </p:nvSpPr>
              <p:spPr>
                <a:xfrm>
                  <a:off x="8285174" y="762564"/>
                  <a:ext cx="648833" cy="427769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369" name="Diamond 27"/>
                <p:cNvSpPr/>
                <p:nvPr/>
              </p:nvSpPr>
              <p:spPr>
                <a:xfrm>
                  <a:off x="9900592" y="764704"/>
                  <a:ext cx="648833" cy="427769"/>
                </a:xfrm>
                <a:prstGeom prst="diamond">
                  <a:avLst/>
                </a:prstGeom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GB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pic>
            <p:nvPicPr>
              <p:cNvPr id="366" name="Picture 7" descr="\\FS11\SCBJAEN$\Mina dokument\Presentations\Other\flags\ca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56799" y="4437112"/>
                <a:ext cx="576064" cy="576064"/>
              </a:xfrm>
              <a:prstGeom prst="rect">
                <a:avLst/>
              </a:prstGeom>
              <a:noFill/>
            </p:spPr>
          </p:pic>
        </p:grpSp>
        <p:sp>
          <p:nvSpPr>
            <p:cNvPr id="97" name="Diamond 27"/>
            <p:cNvSpPr/>
            <p:nvPr/>
          </p:nvSpPr>
          <p:spPr>
            <a:xfrm>
              <a:off x="7937430" y="1516199"/>
              <a:ext cx="739026" cy="472642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en-GB" sz="1900" dirty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65" name="Title 1"/>
          <p:cNvSpPr>
            <a:spLocks noGrp="1"/>
          </p:cNvSpPr>
          <p:nvPr>
            <p:ph type="title"/>
          </p:nvPr>
        </p:nvSpPr>
        <p:spPr>
          <a:xfrm>
            <a:off x="2133600" y="38100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dirty="0"/>
              <a:t>This makes it hard to share and reuse!</a:t>
            </a:r>
          </a:p>
        </p:txBody>
      </p:sp>
    </p:spTree>
    <p:extLst>
      <p:ext uri="{BB962C8B-B14F-4D97-AF65-F5344CB8AC3E}">
        <p14:creationId xmlns:p14="http://schemas.microsoft.com/office/powerpoint/2010/main" val="206582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371600"/>
            <a:ext cx="8229600" cy="3124200"/>
          </a:xfrm>
        </p:spPr>
        <p:txBody>
          <a:bodyPr/>
          <a:lstStyle/>
          <a:p>
            <a:pPr algn="ctr"/>
            <a:r>
              <a:rPr lang="en-US" dirty="0" smtClean="0"/>
              <a:t>…but if statistical </a:t>
            </a:r>
            <a:r>
              <a:rPr lang="en-US" dirty="0" err="1" smtClean="0"/>
              <a:t>organisations</a:t>
            </a:r>
            <a:r>
              <a:rPr lang="en-US" dirty="0" smtClean="0"/>
              <a:t> work together?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115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819866" y="1721860"/>
            <a:ext cx="8453715" cy="4800599"/>
            <a:chOff x="218061" y="87234"/>
            <a:chExt cx="8720223" cy="5253644"/>
          </a:xfrm>
        </p:grpSpPr>
        <p:sp>
          <p:nvSpPr>
            <p:cNvPr id="75" name="Rektangel 74"/>
            <p:cNvSpPr/>
            <p:nvPr/>
          </p:nvSpPr>
          <p:spPr>
            <a:xfrm>
              <a:off x="729372" y="87234"/>
              <a:ext cx="8208912" cy="2405662"/>
            </a:xfrm>
            <a:prstGeom prst="rect">
              <a:avLst/>
            </a:prstGeom>
            <a:solidFill>
              <a:schemeClr val="accent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918538" y="231250"/>
              <a:ext cx="7661651" cy="832330"/>
              <a:chOff x="353355" y="2933913"/>
              <a:chExt cx="8221964" cy="814274"/>
            </a:xfrm>
          </p:grpSpPr>
          <p:sp>
            <p:nvSpPr>
              <p:cNvPr id="6" name="Freeform 5"/>
              <p:cNvSpPr/>
              <p:nvPr/>
            </p:nvSpPr>
            <p:spPr>
              <a:xfrm>
                <a:off x="353355" y="2933913"/>
                <a:ext cx="2222152" cy="814274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dirty="0">
                    <a:solidFill>
                      <a:prstClr val="white"/>
                    </a:solidFill>
                    <a:latin typeface="Calibri"/>
                  </a:rPr>
                  <a:t>Collect</a:t>
                </a: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" name="Freeform 6"/>
              <p:cNvSpPr/>
              <p:nvPr/>
            </p:nvSpPr>
            <p:spPr>
              <a:xfrm>
                <a:off x="2353292" y="2933913"/>
                <a:ext cx="2222152" cy="814274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  <a:scene3d>
                <a:camera prst="orthographicFront"/>
                <a:lightRig rig="threePt" dir="t"/>
              </a:scene3d>
              <a:sp3d>
                <a:bevelB w="247650" h="133350" prst="coolSlant"/>
              </a:sp3d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dirty="0">
                    <a:solidFill>
                      <a:prstClr val="white"/>
                    </a:solidFill>
                    <a:latin typeface="Calibri"/>
                  </a:rPr>
                  <a:t>Process</a:t>
                </a:r>
                <a:endParaRPr lang="en-GB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4353230" y="2933913"/>
                <a:ext cx="2222152" cy="814273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sz="1600" dirty="0">
                    <a:solidFill>
                      <a:prstClr val="white"/>
                    </a:solidFill>
                    <a:latin typeface="Calibri"/>
                  </a:rPr>
                  <a:t>Analyse</a:t>
                </a:r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6353167" y="2933913"/>
                <a:ext cx="2222152" cy="814273"/>
              </a:xfrm>
              <a:custGeom>
                <a:avLst/>
                <a:gdLst>
                  <a:gd name="connsiteX0" fmla="*/ 0 w 2222152"/>
                  <a:gd name="connsiteY0" fmla="*/ 0 h 888861"/>
                  <a:gd name="connsiteX1" fmla="*/ 1777722 w 2222152"/>
                  <a:gd name="connsiteY1" fmla="*/ 0 h 888861"/>
                  <a:gd name="connsiteX2" fmla="*/ 2222152 w 2222152"/>
                  <a:gd name="connsiteY2" fmla="*/ 444431 h 888861"/>
                  <a:gd name="connsiteX3" fmla="*/ 1777722 w 2222152"/>
                  <a:gd name="connsiteY3" fmla="*/ 888861 h 888861"/>
                  <a:gd name="connsiteX4" fmla="*/ 0 w 2222152"/>
                  <a:gd name="connsiteY4" fmla="*/ 888861 h 888861"/>
                  <a:gd name="connsiteX5" fmla="*/ 444431 w 2222152"/>
                  <a:gd name="connsiteY5" fmla="*/ 444431 h 888861"/>
                  <a:gd name="connsiteX6" fmla="*/ 0 w 2222152"/>
                  <a:gd name="connsiteY6" fmla="*/ 0 h 888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22152" h="888861">
                    <a:moveTo>
                      <a:pt x="0" y="0"/>
                    </a:moveTo>
                    <a:lnTo>
                      <a:pt x="1777722" y="0"/>
                    </a:lnTo>
                    <a:lnTo>
                      <a:pt x="2222152" y="444431"/>
                    </a:lnTo>
                    <a:lnTo>
                      <a:pt x="1777722" y="888861"/>
                    </a:lnTo>
                    <a:lnTo>
                      <a:pt x="0" y="888861"/>
                    </a:lnTo>
                    <a:lnTo>
                      <a:pt x="444431" y="444431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r>
                  <a:rPr lang="en-GB" sz="1600" dirty="0">
                    <a:solidFill>
                      <a:prstClr val="white"/>
                    </a:solidFill>
                    <a:latin typeface="Calibri"/>
                  </a:rPr>
                  <a:t>Disseminate</a:t>
                </a:r>
              </a:p>
            </p:txBody>
          </p:sp>
        </p:grpSp>
        <p:sp>
          <p:nvSpPr>
            <p:cNvPr id="55" name="Rektangel 54"/>
            <p:cNvSpPr/>
            <p:nvPr/>
          </p:nvSpPr>
          <p:spPr>
            <a:xfrm>
              <a:off x="873388" y="1158298"/>
              <a:ext cx="7920880" cy="1217053"/>
            </a:xfrm>
            <a:prstGeom prst="rect">
              <a:avLst/>
            </a:prstGeom>
            <a:solidFill>
              <a:schemeClr val="bg1">
                <a:alpha val="7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23" name="Rektangel 222"/>
            <p:cNvSpPr/>
            <p:nvPr/>
          </p:nvSpPr>
          <p:spPr>
            <a:xfrm>
              <a:off x="719572" y="2550896"/>
              <a:ext cx="8208912" cy="2789982"/>
            </a:xfrm>
            <a:prstGeom prst="rect">
              <a:avLst/>
            </a:prstGeom>
            <a:solidFill>
              <a:schemeClr val="accent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26" name="Rektangel 225"/>
            <p:cNvSpPr/>
            <p:nvPr/>
          </p:nvSpPr>
          <p:spPr>
            <a:xfrm>
              <a:off x="863588" y="2667526"/>
              <a:ext cx="7920880" cy="1217053"/>
            </a:xfrm>
            <a:prstGeom prst="rect">
              <a:avLst/>
            </a:prstGeom>
            <a:solidFill>
              <a:schemeClr val="bg1">
                <a:alpha val="7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46" name="Rektangel 245"/>
            <p:cNvSpPr/>
            <p:nvPr/>
          </p:nvSpPr>
          <p:spPr>
            <a:xfrm>
              <a:off x="863588" y="4035679"/>
              <a:ext cx="7920880" cy="1217051"/>
            </a:xfrm>
            <a:prstGeom prst="rect">
              <a:avLst/>
            </a:prstGeom>
            <a:solidFill>
              <a:schemeClr val="bg1">
                <a:alpha val="7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1" name="textruta 310"/>
            <p:cNvSpPr txBox="1"/>
            <p:nvPr/>
          </p:nvSpPr>
          <p:spPr>
            <a:xfrm>
              <a:off x="7370512" y="2877380"/>
              <a:ext cx="521196" cy="10104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400" b="1" dirty="0">
                  <a:solidFill>
                    <a:prstClr val="black"/>
                  </a:solidFill>
                  <a:latin typeface="Calibri"/>
                </a:rPr>
                <a:t>?</a:t>
              </a:r>
              <a:endParaRPr lang="sv-SE" b="1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6" name="textruta 315"/>
            <p:cNvSpPr txBox="1"/>
            <p:nvPr/>
          </p:nvSpPr>
          <p:spPr>
            <a:xfrm>
              <a:off x="7370512" y="4245533"/>
              <a:ext cx="521196" cy="10104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5400" b="1" dirty="0">
                  <a:solidFill>
                    <a:prstClr val="black"/>
                  </a:solidFill>
                  <a:latin typeface="Calibri"/>
                </a:rPr>
                <a:t>?</a:t>
              </a:r>
              <a:endParaRPr lang="sv-SE" b="1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76" name="Grupp 75"/>
            <p:cNvGrpSpPr/>
            <p:nvPr/>
          </p:nvGrpSpPr>
          <p:grpSpPr>
            <a:xfrm>
              <a:off x="1691680" y="1412776"/>
              <a:ext cx="6840760" cy="792088"/>
              <a:chOff x="1691680" y="1340768"/>
              <a:chExt cx="6840760" cy="792088"/>
            </a:xfrm>
          </p:grpSpPr>
          <p:grpSp>
            <p:nvGrpSpPr>
              <p:cNvPr id="78" name="Grupp 320"/>
              <p:cNvGrpSpPr/>
              <p:nvPr/>
            </p:nvGrpSpPr>
            <p:grpSpPr>
              <a:xfrm>
                <a:off x="1691680" y="1340768"/>
                <a:ext cx="1656184" cy="792088"/>
                <a:chOff x="1691680" y="1412776"/>
                <a:chExt cx="1656184" cy="720080"/>
              </a:xfrm>
            </p:grpSpPr>
            <p:sp>
              <p:nvSpPr>
                <p:cNvPr id="109" name="Rektangel 108"/>
                <p:cNvSpPr/>
                <p:nvPr/>
              </p:nvSpPr>
              <p:spPr>
                <a:xfrm>
                  <a:off x="1691680" y="1556792"/>
                  <a:ext cx="1656184" cy="576064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10" name="Rektangel 109"/>
                <p:cNvSpPr/>
                <p:nvPr/>
              </p:nvSpPr>
              <p:spPr>
                <a:xfrm>
                  <a:off x="1835696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11" name="Rektangel 110"/>
                <p:cNvSpPr/>
                <p:nvPr/>
              </p:nvSpPr>
              <p:spPr>
                <a:xfrm>
                  <a:off x="2339752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12" name="Rektangel 111"/>
                <p:cNvSpPr/>
                <p:nvPr/>
              </p:nvSpPr>
              <p:spPr>
                <a:xfrm>
                  <a:off x="2843808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90" name="Grupp 321"/>
              <p:cNvGrpSpPr/>
              <p:nvPr/>
            </p:nvGrpSpPr>
            <p:grpSpPr>
              <a:xfrm>
                <a:off x="3419872" y="1340768"/>
                <a:ext cx="1656184" cy="792088"/>
                <a:chOff x="1691680" y="1412776"/>
                <a:chExt cx="1656184" cy="720080"/>
              </a:xfrm>
            </p:grpSpPr>
            <p:sp>
              <p:nvSpPr>
                <p:cNvPr id="105" name="Rektangel 104"/>
                <p:cNvSpPr/>
                <p:nvPr/>
              </p:nvSpPr>
              <p:spPr>
                <a:xfrm>
                  <a:off x="1691680" y="1556792"/>
                  <a:ext cx="1656184" cy="576064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06" name="Rektangel 105"/>
                <p:cNvSpPr/>
                <p:nvPr/>
              </p:nvSpPr>
              <p:spPr>
                <a:xfrm>
                  <a:off x="1835696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07" name="Rektangel 106"/>
                <p:cNvSpPr/>
                <p:nvPr/>
              </p:nvSpPr>
              <p:spPr>
                <a:xfrm>
                  <a:off x="2339752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08" name="Rektangel 107"/>
                <p:cNvSpPr/>
                <p:nvPr/>
              </p:nvSpPr>
              <p:spPr>
                <a:xfrm>
                  <a:off x="2843808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92" name="Grupp 326"/>
              <p:cNvGrpSpPr/>
              <p:nvPr/>
            </p:nvGrpSpPr>
            <p:grpSpPr>
              <a:xfrm>
                <a:off x="5148064" y="1340768"/>
                <a:ext cx="1656184" cy="792088"/>
                <a:chOff x="1691680" y="1412776"/>
                <a:chExt cx="1656184" cy="720080"/>
              </a:xfrm>
            </p:grpSpPr>
            <p:sp>
              <p:nvSpPr>
                <p:cNvPr id="101" name="Rektangel 100"/>
                <p:cNvSpPr/>
                <p:nvPr/>
              </p:nvSpPr>
              <p:spPr>
                <a:xfrm>
                  <a:off x="1691680" y="1556792"/>
                  <a:ext cx="1656184" cy="576064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02" name="Rektangel 101"/>
                <p:cNvSpPr/>
                <p:nvPr/>
              </p:nvSpPr>
              <p:spPr>
                <a:xfrm>
                  <a:off x="1835696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03" name="Rektangel 102"/>
                <p:cNvSpPr/>
                <p:nvPr/>
              </p:nvSpPr>
              <p:spPr>
                <a:xfrm>
                  <a:off x="2339752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04" name="Rektangel 103"/>
                <p:cNvSpPr/>
                <p:nvPr/>
              </p:nvSpPr>
              <p:spPr>
                <a:xfrm>
                  <a:off x="2843808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93" name="Grupp 331"/>
              <p:cNvGrpSpPr/>
              <p:nvPr/>
            </p:nvGrpSpPr>
            <p:grpSpPr>
              <a:xfrm>
                <a:off x="6876256" y="1340768"/>
                <a:ext cx="1656184" cy="792088"/>
                <a:chOff x="1691680" y="1412776"/>
                <a:chExt cx="1656184" cy="720080"/>
              </a:xfrm>
            </p:grpSpPr>
            <p:sp>
              <p:nvSpPr>
                <p:cNvPr id="94" name="Rektangel 93"/>
                <p:cNvSpPr/>
                <p:nvPr/>
              </p:nvSpPr>
              <p:spPr>
                <a:xfrm>
                  <a:off x="1691680" y="1556792"/>
                  <a:ext cx="1656184" cy="576064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95" name="Rektangel 94"/>
                <p:cNvSpPr/>
                <p:nvPr/>
              </p:nvSpPr>
              <p:spPr>
                <a:xfrm>
                  <a:off x="1835696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98" name="Rektangel 97"/>
                <p:cNvSpPr/>
                <p:nvPr/>
              </p:nvSpPr>
              <p:spPr>
                <a:xfrm>
                  <a:off x="2339752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00" name="Rektangel 99"/>
                <p:cNvSpPr/>
                <p:nvPr/>
              </p:nvSpPr>
              <p:spPr>
                <a:xfrm>
                  <a:off x="2843808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</p:grpSp>
        <p:grpSp>
          <p:nvGrpSpPr>
            <p:cNvPr id="137" name="Grupp 136"/>
            <p:cNvGrpSpPr/>
            <p:nvPr/>
          </p:nvGrpSpPr>
          <p:grpSpPr>
            <a:xfrm>
              <a:off x="1681880" y="2877380"/>
              <a:ext cx="5112568" cy="792088"/>
              <a:chOff x="1691680" y="1340768"/>
              <a:chExt cx="5112568" cy="792088"/>
            </a:xfrm>
          </p:grpSpPr>
          <p:grpSp>
            <p:nvGrpSpPr>
              <p:cNvPr id="138" name="Grupp 320"/>
              <p:cNvGrpSpPr/>
              <p:nvPr/>
            </p:nvGrpSpPr>
            <p:grpSpPr>
              <a:xfrm>
                <a:off x="1691680" y="1340768"/>
                <a:ext cx="1656184" cy="792088"/>
                <a:chOff x="1691680" y="1412776"/>
                <a:chExt cx="1656184" cy="720080"/>
              </a:xfrm>
            </p:grpSpPr>
            <p:sp>
              <p:nvSpPr>
                <p:cNvPr id="154" name="Rektangel 153"/>
                <p:cNvSpPr/>
                <p:nvPr/>
              </p:nvSpPr>
              <p:spPr>
                <a:xfrm>
                  <a:off x="1691680" y="1556792"/>
                  <a:ext cx="1656184" cy="576064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55" name="Rektangel 154"/>
                <p:cNvSpPr/>
                <p:nvPr/>
              </p:nvSpPr>
              <p:spPr>
                <a:xfrm>
                  <a:off x="1835696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56" name="Rektangel 155"/>
                <p:cNvSpPr/>
                <p:nvPr/>
              </p:nvSpPr>
              <p:spPr>
                <a:xfrm>
                  <a:off x="2339752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57" name="Rektangel 156"/>
                <p:cNvSpPr/>
                <p:nvPr/>
              </p:nvSpPr>
              <p:spPr>
                <a:xfrm>
                  <a:off x="2843808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39" name="Grupp 321"/>
              <p:cNvGrpSpPr/>
              <p:nvPr/>
            </p:nvGrpSpPr>
            <p:grpSpPr>
              <a:xfrm>
                <a:off x="3419872" y="1340768"/>
                <a:ext cx="1656184" cy="792088"/>
                <a:chOff x="1691680" y="1412776"/>
                <a:chExt cx="1656184" cy="720080"/>
              </a:xfrm>
            </p:grpSpPr>
            <p:sp>
              <p:nvSpPr>
                <p:cNvPr id="150" name="Rektangel 149"/>
                <p:cNvSpPr/>
                <p:nvPr/>
              </p:nvSpPr>
              <p:spPr>
                <a:xfrm>
                  <a:off x="1691680" y="1556792"/>
                  <a:ext cx="1656184" cy="576064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51" name="Rektangel 150"/>
                <p:cNvSpPr/>
                <p:nvPr/>
              </p:nvSpPr>
              <p:spPr>
                <a:xfrm>
                  <a:off x="1835696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52" name="Rektangel 151"/>
                <p:cNvSpPr/>
                <p:nvPr/>
              </p:nvSpPr>
              <p:spPr>
                <a:xfrm>
                  <a:off x="2339752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53" name="Rektangel 152"/>
                <p:cNvSpPr/>
                <p:nvPr/>
              </p:nvSpPr>
              <p:spPr>
                <a:xfrm>
                  <a:off x="2843808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40" name="Grupp 326"/>
              <p:cNvGrpSpPr/>
              <p:nvPr/>
            </p:nvGrpSpPr>
            <p:grpSpPr>
              <a:xfrm>
                <a:off x="5148064" y="1340768"/>
                <a:ext cx="1656184" cy="792088"/>
                <a:chOff x="1691680" y="1412776"/>
                <a:chExt cx="1656184" cy="720080"/>
              </a:xfrm>
            </p:grpSpPr>
            <p:sp>
              <p:nvSpPr>
                <p:cNvPr id="146" name="Rektangel 145"/>
                <p:cNvSpPr/>
                <p:nvPr/>
              </p:nvSpPr>
              <p:spPr>
                <a:xfrm>
                  <a:off x="1691680" y="1556792"/>
                  <a:ext cx="1656184" cy="576064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47" name="Rektangel 146"/>
                <p:cNvSpPr/>
                <p:nvPr/>
              </p:nvSpPr>
              <p:spPr>
                <a:xfrm>
                  <a:off x="1835696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48" name="Rektangel 147"/>
                <p:cNvSpPr/>
                <p:nvPr/>
              </p:nvSpPr>
              <p:spPr>
                <a:xfrm>
                  <a:off x="2339752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49" name="Rektangel 148"/>
                <p:cNvSpPr/>
                <p:nvPr/>
              </p:nvSpPr>
              <p:spPr>
                <a:xfrm>
                  <a:off x="2843808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</p:grpSp>
        <p:grpSp>
          <p:nvGrpSpPr>
            <p:cNvPr id="158" name="Grupp 157"/>
            <p:cNvGrpSpPr/>
            <p:nvPr/>
          </p:nvGrpSpPr>
          <p:grpSpPr>
            <a:xfrm>
              <a:off x="1681880" y="2862978"/>
              <a:ext cx="6840760" cy="2174642"/>
              <a:chOff x="1691680" y="-41786"/>
              <a:chExt cx="6840760" cy="2174642"/>
            </a:xfrm>
          </p:grpSpPr>
          <p:grpSp>
            <p:nvGrpSpPr>
              <p:cNvPr id="159" name="Grupp 320"/>
              <p:cNvGrpSpPr/>
              <p:nvPr/>
            </p:nvGrpSpPr>
            <p:grpSpPr>
              <a:xfrm>
                <a:off x="1691680" y="1340768"/>
                <a:ext cx="1656184" cy="792088"/>
                <a:chOff x="1691680" y="1412776"/>
                <a:chExt cx="1656184" cy="720080"/>
              </a:xfrm>
            </p:grpSpPr>
            <p:sp>
              <p:nvSpPr>
                <p:cNvPr id="175" name="Rektangel 174"/>
                <p:cNvSpPr/>
                <p:nvPr/>
              </p:nvSpPr>
              <p:spPr>
                <a:xfrm>
                  <a:off x="1691680" y="1556792"/>
                  <a:ext cx="1656184" cy="576064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76" name="Rektangel 175"/>
                <p:cNvSpPr/>
                <p:nvPr/>
              </p:nvSpPr>
              <p:spPr>
                <a:xfrm>
                  <a:off x="1835696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77" name="Rektangel 176"/>
                <p:cNvSpPr/>
                <p:nvPr/>
              </p:nvSpPr>
              <p:spPr>
                <a:xfrm>
                  <a:off x="2339752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78" name="Rektangel 177"/>
                <p:cNvSpPr/>
                <p:nvPr/>
              </p:nvSpPr>
              <p:spPr>
                <a:xfrm>
                  <a:off x="2843808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60" name="Grupp 321"/>
              <p:cNvGrpSpPr/>
              <p:nvPr/>
            </p:nvGrpSpPr>
            <p:grpSpPr>
              <a:xfrm>
                <a:off x="3419872" y="1340768"/>
                <a:ext cx="1656184" cy="792088"/>
                <a:chOff x="1691680" y="1412776"/>
                <a:chExt cx="1656184" cy="720080"/>
              </a:xfrm>
            </p:grpSpPr>
            <p:sp>
              <p:nvSpPr>
                <p:cNvPr id="171" name="Rektangel 170"/>
                <p:cNvSpPr/>
                <p:nvPr/>
              </p:nvSpPr>
              <p:spPr>
                <a:xfrm>
                  <a:off x="1691680" y="1556792"/>
                  <a:ext cx="1656184" cy="576064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72" name="Rektangel 171"/>
                <p:cNvSpPr/>
                <p:nvPr/>
              </p:nvSpPr>
              <p:spPr>
                <a:xfrm>
                  <a:off x="1835696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73" name="Rektangel 172"/>
                <p:cNvSpPr/>
                <p:nvPr/>
              </p:nvSpPr>
              <p:spPr>
                <a:xfrm>
                  <a:off x="2339752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74" name="Rektangel 173"/>
                <p:cNvSpPr/>
                <p:nvPr/>
              </p:nvSpPr>
              <p:spPr>
                <a:xfrm>
                  <a:off x="2843808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3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3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61" name="Grupp 326"/>
              <p:cNvGrpSpPr/>
              <p:nvPr/>
            </p:nvGrpSpPr>
            <p:grpSpPr>
              <a:xfrm>
                <a:off x="5148064" y="1340768"/>
                <a:ext cx="1656184" cy="792088"/>
                <a:chOff x="1691680" y="1412776"/>
                <a:chExt cx="1656184" cy="720080"/>
              </a:xfrm>
            </p:grpSpPr>
            <p:sp>
              <p:nvSpPr>
                <p:cNvPr id="167" name="Rektangel 166"/>
                <p:cNvSpPr/>
                <p:nvPr/>
              </p:nvSpPr>
              <p:spPr>
                <a:xfrm>
                  <a:off x="1691680" y="1556792"/>
                  <a:ext cx="1656184" cy="576064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68" name="Rektangel 167"/>
                <p:cNvSpPr/>
                <p:nvPr/>
              </p:nvSpPr>
              <p:spPr>
                <a:xfrm>
                  <a:off x="1835696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69" name="Rektangel 168"/>
                <p:cNvSpPr/>
                <p:nvPr/>
              </p:nvSpPr>
              <p:spPr>
                <a:xfrm>
                  <a:off x="2339752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70" name="Rektangel 169"/>
                <p:cNvSpPr/>
                <p:nvPr/>
              </p:nvSpPr>
              <p:spPr>
                <a:xfrm>
                  <a:off x="2843808" y="1412776"/>
                  <a:ext cx="360040" cy="144016"/>
                </a:xfrm>
                <a:prstGeom prst="rect">
                  <a:avLst/>
                </a:prstGeom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62" name="Grupp 331"/>
              <p:cNvGrpSpPr/>
              <p:nvPr/>
            </p:nvGrpSpPr>
            <p:grpSpPr>
              <a:xfrm>
                <a:off x="6876256" y="-41786"/>
                <a:ext cx="1656184" cy="2174642"/>
                <a:chOff x="1691680" y="155909"/>
                <a:chExt cx="1656184" cy="1976947"/>
              </a:xfrm>
            </p:grpSpPr>
            <p:sp>
              <p:nvSpPr>
                <p:cNvPr id="163" name="Rektangel 162"/>
                <p:cNvSpPr/>
                <p:nvPr/>
              </p:nvSpPr>
              <p:spPr>
                <a:xfrm>
                  <a:off x="1691680" y="1556792"/>
                  <a:ext cx="1656184" cy="5760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64" name="Rektangel 163"/>
                <p:cNvSpPr/>
                <p:nvPr/>
              </p:nvSpPr>
              <p:spPr>
                <a:xfrm>
                  <a:off x="1835696" y="1412776"/>
                  <a:ext cx="360040" cy="14401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65" name="Rektangel 164"/>
                <p:cNvSpPr/>
                <p:nvPr/>
              </p:nvSpPr>
              <p:spPr>
                <a:xfrm>
                  <a:off x="2339752" y="1412776"/>
                  <a:ext cx="360040" cy="14401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66" name="Rektangel 165"/>
                <p:cNvSpPr/>
                <p:nvPr/>
              </p:nvSpPr>
              <p:spPr>
                <a:xfrm>
                  <a:off x="2843808" y="1412776"/>
                  <a:ext cx="360040" cy="14401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79" name="Rektangel 178"/>
                <p:cNvSpPr/>
                <p:nvPr/>
              </p:nvSpPr>
              <p:spPr>
                <a:xfrm>
                  <a:off x="1691680" y="299925"/>
                  <a:ext cx="1656184" cy="5760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80" name="Rektangel 179"/>
                <p:cNvSpPr/>
                <p:nvPr/>
              </p:nvSpPr>
              <p:spPr>
                <a:xfrm>
                  <a:off x="1835696" y="155909"/>
                  <a:ext cx="360040" cy="14401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81" name="Rektangel 180"/>
                <p:cNvSpPr/>
                <p:nvPr/>
              </p:nvSpPr>
              <p:spPr>
                <a:xfrm>
                  <a:off x="2339752" y="155909"/>
                  <a:ext cx="360040" cy="14401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182" name="Rektangel 181"/>
                <p:cNvSpPr/>
                <p:nvPr/>
              </p:nvSpPr>
              <p:spPr>
                <a:xfrm>
                  <a:off x="2843808" y="155909"/>
                  <a:ext cx="360040" cy="14401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20441" tIns="25337" rIns="469767" bIns="25337" numCol="1" spcCol="1270" anchor="ctr" anchorCtr="0">
                  <a:noAutofit/>
                </a:bodyPr>
                <a:lstStyle/>
                <a:p>
                  <a:pPr algn="ctr" defTabSz="8445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sv-SE" sz="1900" dirty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</p:grpSp>
        </p:grpSp>
        <p:pic>
          <p:nvPicPr>
            <p:cNvPr id="183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9912" y="3093404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184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9912" y="446155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185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6096" y="3093404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186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6096" y="446155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187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4288" y="3093404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188" name="Picture 3" descr="\\FS11\SCBJAEN$\Mina dokument\Presentations\Other\flags\se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4288" y="4461556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189" name="Picture 7" descr="\\FS11\SCBJAEN$\Mina dokument\Presentations\Other\flags\ca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9712" y="1628800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191" name="Picture 7" descr="\\FS11\SCBJAEN$\Mina dokument\Presentations\Other\flags\ca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5896" y="1628800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193" name="Picture 7" descr="\\FS11\SCBJAEN$\Mina dokument\Presentations\Other\flags\ca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2080" y="1628800"/>
              <a:ext cx="576064" cy="576064"/>
            </a:xfrm>
            <a:prstGeom prst="rect">
              <a:avLst/>
            </a:prstGeom>
            <a:noFill/>
          </p:spPr>
        </p:pic>
        <p:pic>
          <p:nvPicPr>
            <p:cNvPr id="195" name="Picture 7" descr="\\FS11\SCBJAEN$\Mina dokument\Presentations\Other\flags\ca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8264" y="1628800"/>
              <a:ext cx="576064" cy="576064"/>
            </a:xfrm>
            <a:prstGeom prst="rect">
              <a:avLst/>
            </a:prstGeom>
            <a:noFill/>
          </p:spPr>
        </p:pic>
        <p:grpSp>
          <p:nvGrpSpPr>
            <p:cNvPr id="229" name="Grupp 228"/>
            <p:cNvGrpSpPr/>
            <p:nvPr/>
          </p:nvGrpSpPr>
          <p:grpSpPr>
            <a:xfrm>
              <a:off x="6866456" y="4245532"/>
              <a:ext cx="1656184" cy="806491"/>
              <a:chOff x="9396536" y="3270581"/>
              <a:chExt cx="1656184" cy="806491"/>
            </a:xfrm>
          </p:grpSpPr>
          <p:sp>
            <p:nvSpPr>
              <p:cNvPr id="230" name="Rektangel 229"/>
              <p:cNvSpPr/>
              <p:nvPr/>
            </p:nvSpPr>
            <p:spPr>
              <a:xfrm>
                <a:off x="9396536" y="3429000"/>
                <a:ext cx="1656184" cy="633670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sv-SE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pic>
            <p:nvPicPr>
              <p:cNvPr id="231" name="Picture 7" descr="\\FS11\SCBJAEN$\Mina dokument\Presentations\Other\flags\ca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68544" y="3501008"/>
                <a:ext cx="576064" cy="576064"/>
              </a:xfrm>
              <a:prstGeom prst="rect">
                <a:avLst/>
              </a:prstGeom>
              <a:noFill/>
            </p:spPr>
          </p:pic>
          <p:sp>
            <p:nvSpPr>
              <p:cNvPr id="232" name="Rektangel 231"/>
              <p:cNvSpPr/>
              <p:nvPr/>
            </p:nvSpPr>
            <p:spPr>
              <a:xfrm>
                <a:off x="9540552" y="3270581"/>
                <a:ext cx="360040" cy="158418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sv-SE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33" name="Rektangel 232"/>
              <p:cNvSpPr/>
              <p:nvPr/>
            </p:nvSpPr>
            <p:spPr>
              <a:xfrm>
                <a:off x="10044608" y="3270581"/>
                <a:ext cx="360040" cy="158418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sv-SE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34" name="Rektangel 233"/>
              <p:cNvSpPr/>
              <p:nvPr/>
            </p:nvSpPr>
            <p:spPr>
              <a:xfrm>
                <a:off x="10548664" y="3270581"/>
                <a:ext cx="360040" cy="158418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20441" tIns="25337" rIns="469767" bIns="25337" numCol="1" spcCol="1270" anchor="ctr" anchorCtr="0">
                <a:noAutofit/>
              </a:bodyPr>
              <a:lstStyle/>
              <a:p>
                <a:pPr algn="ctr" defTabSz="844550">
                  <a:lnSpc>
                    <a:spcPct val="90000"/>
                  </a:lnSpc>
                  <a:spcAft>
                    <a:spcPct val="35000"/>
                  </a:spcAft>
                </a:pPr>
                <a:endParaRPr lang="sv-SE" sz="190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sp>
          <p:nvSpPr>
            <p:cNvPr id="141" name="textruta 223"/>
            <p:cNvSpPr txBox="1"/>
            <p:nvPr/>
          </p:nvSpPr>
          <p:spPr>
            <a:xfrm rot="16200000">
              <a:off x="-317863" y="3640285"/>
              <a:ext cx="1675060" cy="603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3200" b="1" dirty="0">
                  <a:solidFill>
                    <a:prstClr val="black"/>
                  </a:solidFill>
                  <a:latin typeface="Calibri"/>
                </a:rPr>
                <a:t>Sweden</a:t>
              </a:r>
            </a:p>
          </p:txBody>
        </p:sp>
        <p:sp>
          <p:nvSpPr>
            <p:cNvPr id="142" name="textruta 130"/>
            <p:cNvSpPr txBox="1"/>
            <p:nvPr/>
          </p:nvSpPr>
          <p:spPr>
            <a:xfrm rot="16200000">
              <a:off x="-272568" y="1571954"/>
              <a:ext cx="1584468" cy="603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3200" b="1" dirty="0">
                  <a:solidFill>
                    <a:prstClr val="black"/>
                  </a:solidFill>
                  <a:latin typeface="Calibri"/>
                </a:rPr>
                <a:t>Canada</a:t>
              </a:r>
            </a:p>
          </p:txBody>
        </p:sp>
      </p:grpSp>
      <p:sp>
        <p:nvSpPr>
          <p:cNvPr id="96" name="Title 1"/>
          <p:cNvSpPr>
            <a:spLocks noGrp="1"/>
          </p:cNvSpPr>
          <p:nvPr>
            <p:ph type="title"/>
          </p:nvPr>
        </p:nvSpPr>
        <p:spPr>
          <a:xfrm>
            <a:off x="2133600" y="38100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dirty="0"/>
              <a:t>This makes it easier to share and reuse!</a:t>
            </a:r>
          </a:p>
        </p:txBody>
      </p:sp>
    </p:spTree>
    <p:extLst>
      <p:ext uri="{BB962C8B-B14F-4D97-AF65-F5344CB8AC3E}">
        <p14:creationId xmlns:p14="http://schemas.microsoft.com/office/powerpoint/2010/main" val="236221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2 Strands to the project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591800" cy="603653"/>
          </a:xfrm>
        </p:spPr>
        <p:txBody>
          <a:bodyPr>
            <a:normAutofit/>
          </a:bodyPr>
          <a:lstStyle/>
          <a:p>
            <a:pPr algn="ctr"/>
            <a:r>
              <a:rPr lang="en-GB" sz="2800" dirty="0" smtClean="0"/>
              <a:t>Architecture				Proof </a:t>
            </a:r>
            <a:r>
              <a:rPr lang="en-GB" sz="2800" dirty="0"/>
              <a:t>of </a:t>
            </a:r>
            <a:r>
              <a:rPr lang="en-GB" sz="2800" dirty="0" smtClean="0"/>
              <a:t>Concept</a:t>
            </a:r>
            <a:endParaRPr lang="en-GB" sz="2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139" y="2355742"/>
            <a:ext cx="3184741" cy="3668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088" y="2169762"/>
            <a:ext cx="5566991" cy="4349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963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105" y="2196428"/>
            <a:ext cx="10972800" cy="1143000"/>
          </a:xfrm>
        </p:spPr>
        <p:txBody>
          <a:bodyPr>
            <a:normAutofit/>
          </a:bodyPr>
          <a:lstStyle/>
          <a:p>
            <a:r>
              <a:rPr lang="en-US" sz="6000" b="1" dirty="0" smtClean="0">
                <a:solidFill>
                  <a:schemeClr val="tx2"/>
                </a:solidFill>
              </a:rPr>
              <a:t>The Architecture</a:t>
            </a:r>
            <a:endParaRPr lang="en-GB" sz="6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75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olo 1"/>
          <p:cNvSpPr>
            <a:spLocks noGrp="1"/>
          </p:cNvSpPr>
          <p:nvPr>
            <p:ph type="title" idx="4294967295"/>
          </p:nvPr>
        </p:nvSpPr>
        <p:spPr bwMode="auto">
          <a:xfrm>
            <a:off x="1992313" y="404814"/>
            <a:ext cx="8229600" cy="56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eaLnBrk="1" hangingPunct="1"/>
            <a:r>
              <a:rPr lang="it-IT" sz="3600" dirty="0"/>
              <a:t>CSPA Definition</a:t>
            </a:r>
          </a:p>
        </p:txBody>
      </p:sp>
      <p:sp>
        <p:nvSpPr>
          <p:cNvPr id="16387" name="Segnaposto contenuto 2"/>
          <p:cNvSpPr>
            <a:spLocks/>
          </p:cNvSpPr>
          <p:nvPr/>
        </p:nvSpPr>
        <p:spPr bwMode="auto">
          <a:xfrm>
            <a:off x="819150" y="1209675"/>
            <a:ext cx="1091565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000" dirty="0"/>
              <a:t>Common Statistical Production Architecture (CSPA): framework about Statistical Services to create an agreed top level description of the 'system' of producing statistics which is in alignment with the modernization initiative</a:t>
            </a:r>
          </a:p>
          <a:p>
            <a:pPr>
              <a:defRPr/>
            </a:pPr>
            <a:endParaRPr lang="en-US" sz="3000" dirty="0"/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sz="3000" dirty="0"/>
              <a:t>CSPA provides a </a:t>
            </a:r>
            <a:r>
              <a:rPr lang="en-US" sz="3000" dirty="0">
                <a:solidFill>
                  <a:srgbClr val="FF0000"/>
                </a:solidFill>
              </a:rPr>
              <a:t>template architecture </a:t>
            </a:r>
            <a:r>
              <a:rPr lang="en-US" sz="3000" dirty="0"/>
              <a:t>for official statistics, describing:</a:t>
            </a:r>
            <a:endParaRPr lang="it-IT" sz="3000" dirty="0"/>
          </a:p>
          <a:p>
            <a:pPr marL="742950" lvl="1" indent="-285750">
              <a:buFont typeface="Arial" pitchFamily="34" charset="0"/>
              <a:buChar char="•"/>
              <a:defRPr/>
            </a:pPr>
            <a:r>
              <a:rPr lang="en-US" sz="3000" dirty="0">
                <a:solidFill>
                  <a:srgbClr val="FF0000"/>
                </a:solidFill>
              </a:rPr>
              <a:t>What </a:t>
            </a:r>
            <a:r>
              <a:rPr lang="en-US" sz="3000" dirty="0"/>
              <a:t>the official statistical industry wants </a:t>
            </a:r>
            <a:r>
              <a:rPr lang="en-US" sz="3000" dirty="0">
                <a:solidFill>
                  <a:srgbClr val="FF0000"/>
                </a:solidFill>
              </a:rPr>
              <a:t>to achieve </a:t>
            </a:r>
          </a:p>
          <a:p>
            <a:pPr marL="742950" lvl="1" indent="-285750">
              <a:buFont typeface="Arial" pitchFamily="34" charset="0"/>
              <a:buChar char="•"/>
              <a:defRPr/>
            </a:pPr>
            <a:r>
              <a:rPr lang="en-US" sz="3000" dirty="0">
                <a:solidFill>
                  <a:srgbClr val="FF0000"/>
                </a:solidFill>
              </a:rPr>
              <a:t>How</a:t>
            </a:r>
            <a:r>
              <a:rPr lang="en-US" sz="3000" dirty="0"/>
              <a:t> the industry can achieve this, i.e. principles that guide how statistics are produced</a:t>
            </a:r>
            <a:endParaRPr lang="it-IT" sz="3000" dirty="0"/>
          </a:p>
          <a:p>
            <a:pPr marL="742950" lvl="1" indent="-285750">
              <a:buFont typeface="Arial" pitchFamily="34" charset="0"/>
              <a:buChar char="•"/>
              <a:defRPr/>
            </a:pPr>
            <a:r>
              <a:rPr lang="en-US" sz="3000" dirty="0">
                <a:solidFill>
                  <a:srgbClr val="FF0000"/>
                </a:solidFill>
              </a:rPr>
              <a:t>What </a:t>
            </a:r>
            <a:r>
              <a:rPr lang="en-US" sz="3000" dirty="0"/>
              <a:t>the industry will have </a:t>
            </a:r>
            <a:r>
              <a:rPr lang="en-US" sz="3000" dirty="0">
                <a:solidFill>
                  <a:srgbClr val="FF0000"/>
                </a:solidFill>
              </a:rPr>
              <a:t>to do</a:t>
            </a:r>
            <a:r>
              <a:rPr lang="en-US" sz="3000" dirty="0"/>
              <a:t>, compliance  with the CSPA</a:t>
            </a:r>
            <a:endParaRPr lang="it-IT" sz="3000" dirty="0"/>
          </a:p>
          <a:p>
            <a:pPr marL="285750" indent="-28575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400" dirty="0"/>
          </a:p>
          <a:p>
            <a:pPr marL="285750" indent="-28575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400" dirty="0"/>
          </a:p>
          <a:p>
            <a:pPr marL="285750" indent="-28575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it-IT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243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5400000">
            <a:off x="3944593" y="-2782543"/>
            <a:ext cx="1828800" cy="773678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 rot="5400000">
            <a:off x="3921556" y="-754540"/>
            <a:ext cx="1864933" cy="772684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400000">
            <a:off x="4041857" y="1158109"/>
            <a:ext cx="1634271" cy="7736784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5400000">
            <a:off x="4502097" y="2460152"/>
            <a:ext cx="703851" cy="772684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382686" y="762683"/>
            <a:ext cx="449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j-lt"/>
              </a:rPr>
              <a:t>Business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99" y="2772373"/>
            <a:ext cx="7726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j-lt"/>
              </a:rPr>
              <a:t>Information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99" y="4632584"/>
            <a:ext cx="7736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j-lt"/>
              </a:rPr>
              <a:t>Application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6019801"/>
            <a:ext cx="7726846" cy="655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+mj-lt"/>
              </a:rPr>
              <a:t>Technology Architecture</a:t>
            </a:r>
          </a:p>
        </p:txBody>
      </p:sp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0150" y="514105"/>
            <a:ext cx="2518625" cy="115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1444" y="2442690"/>
            <a:ext cx="2529455" cy="13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9" descr="SDMX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2525" y="5118609"/>
            <a:ext cx="2416250" cy="722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245" y="4344564"/>
            <a:ext cx="1657852" cy="576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8" name="Straight Arrow Connector 17"/>
          <p:cNvCxnSpPr>
            <a:stCxn id="13" idx="1"/>
          </p:cNvCxnSpPr>
          <p:nvPr/>
        </p:nvCxnSpPr>
        <p:spPr>
          <a:xfrm flipH="1">
            <a:off x="7556489" y="1089429"/>
            <a:ext cx="2013661" cy="2887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7556489" y="3108883"/>
            <a:ext cx="2042750" cy="16381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7556489" y="4666016"/>
            <a:ext cx="2042750" cy="16381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7556489" y="5406927"/>
            <a:ext cx="2042750" cy="16381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0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942562"/>
          </a:xfrm>
        </p:spPr>
        <p:txBody>
          <a:bodyPr>
            <a:normAutofit/>
          </a:bodyPr>
          <a:lstStyle/>
          <a:p>
            <a:r>
              <a:rPr lang="sv-SE" dirty="0" smtClean="0"/>
              <a:t>A </a:t>
            </a:r>
            <a:r>
              <a:rPr lang="sv-SE" dirty="0" err="1" smtClean="0"/>
              <a:t>statistical</a:t>
            </a:r>
            <a:r>
              <a:rPr lang="sv-SE" dirty="0" smtClean="0"/>
              <a:t> service </a:t>
            </a:r>
            <a:endParaRPr lang="sv-SE" dirty="0"/>
          </a:p>
        </p:txBody>
      </p:sp>
      <p:pic>
        <p:nvPicPr>
          <p:cNvPr id="28674" name="Picture 2" descr="http://illeccio.com/media/full/gioco-in-legno-form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67" y="1646651"/>
            <a:ext cx="9398000" cy="5286375"/>
          </a:xfrm>
          <a:prstGeom prst="rect">
            <a:avLst/>
          </a:prstGeom>
          <a:noFill/>
        </p:spPr>
      </p:pic>
      <p:grpSp>
        <p:nvGrpSpPr>
          <p:cNvPr id="3" name="Grupp 52"/>
          <p:cNvGrpSpPr/>
          <p:nvPr/>
        </p:nvGrpSpPr>
        <p:grpSpPr>
          <a:xfrm>
            <a:off x="2255573" y="5301208"/>
            <a:ext cx="2883032" cy="936104"/>
            <a:chOff x="1691680" y="5301208"/>
            <a:chExt cx="2162274" cy="936104"/>
          </a:xfrm>
        </p:grpSpPr>
        <p:sp>
          <p:nvSpPr>
            <p:cNvPr id="31" name="Rektangel med rundade hörn 30"/>
            <p:cNvSpPr/>
            <p:nvPr/>
          </p:nvSpPr>
          <p:spPr>
            <a:xfrm>
              <a:off x="1691680" y="5301208"/>
              <a:ext cx="1440160" cy="936104"/>
            </a:xfrm>
            <a:prstGeom prst="roundRect">
              <a:avLst>
                <a:gd name="adj" fmla="val 4984"/>
              </a:avLst>
            </a:prstGeom>
            <a:solidFill>
              <a:srgbClr val="4F81BD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kern="0" dirty="0" smtClean="0">
                  <a:solidFill>
                    <a:prstClr val="white"/>
                  </a:solidFill>
                  <a:latin typeface="Calibri"/>
                </a:rPr>
                <a:t>GSIM object instances</a:t>
              </a:r>
              <a:endParaRPr lang="en-US" sz="1800" kern="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2" name="Rak pil 31"/>
            <p:cNvCxnSpPr/>
            <p:nvPr/>
          </p:nvCxnSpPr>
          <p:spPr>
            <a:xfrm flipV="1">
              <a:off x="3131840" y="5733256"/>
              <a:ext cx="722114" cy="471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upp 51"/>
          <p:cNvGrpSpPr/>
          <p:nvPr/>
        </p:nvGrpSpPr>
        <p:grpSpPr>
          <a:xfrm>
            <a:off x="6672064" y="1700808"/>
            <a:ext cx="4704523" cy="936104"/>
            <a:chOff x="5004048" y="1700808"/>
            <a:chExt cx="3528392" cy="936104"/>
          </a:xfrm>
        </p:grpSpPr>
        <p:sp>
          <p:nvSpPr>
            <p:cNvPr id="33" name="Rektangel med rundade hörn 32"/>
            <p:cNvSpPr/>
            <p:nvPr/>
          </p:nvSpPr>
          <p:spPr>
            <a:xfrm>
              <a:off x="7092280" y="1700808"/>
              <a:ext cx="1440160" cy="936104"/>
            </a:xfrm>
            <a:prstGeom prst="roundRect">
              <a:avLst>
                <a:gd name="adj" fmla="val 4984"/>
              </a:avLst>
            </a:prstGeom>
            <a:solidFill>
              <a:srgbClr val="4F81BD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kern="0" dirty="0" smtClean="0">
                  <a:solidFill>
                    <a:prstClr val="white"/>
                  </a:solidFill>
                  <a:latin typeface="Calibri"/>
                </a:rPr>
                <a:t>GSIM object structures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kern="0" dirty="0" smtClean="0">
                  <a:solidFill>
                    <a:prstClr val="white"/>
                  </a:solidFill>
                  <a:latin typeface="Calibri"/>
                </a:rPr>
                <a:t>(formats)</a:t>
              </a:r>
              <a:endParaRPr lang="en-US" sz="1800" kern="0" dirty="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4" name="Rak pil 33"/>
            <p:cNvCxnSpPr/>
            <p:nvPr/>
          </p:nvCxnSpPr>
          <p:spPr>
            <a:xfrm flipH="1">
              <a:off x="5004048" y="2132856"/>
              <a:ext cx="2088232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upp 50"/>
          <p:cNvGrpSpPr/>
          <p:nvPr/>
        </p:nvGrpSpPr>
        <p:grpSpPr>
          <a:xfrm>
            <a:off x="1103446" y="2708920"/>
            <a:ext cx="3012753" cy="648072"/>
            <a:chOff x="827584" y="2708920"/>
            <a:chExt cx="2259565" cy="648072"/>
          </a:xfrm>
        </p:grpSpPr>
        <p:cxnSp>
          <p:nvCxnSpPr>
            <p:cNvPr id="30" name="Rak pil 29"/>
            <p:cNvCxnSpPr/>
            <p:nvPr/>
          </p:nvCxnSpPr>
          <p:spPr>
            <a:xfrm>
              <a:off x="2604822" y="3037287"/>
              <a:ext cx="482327" cy="7917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Femhörning 47"/>
            <p:cNvSpPr/>
            <p:nvPr/>
          </p:nvSpPr>
          <p:spPr>
            <a:xfrm>
              <a:off x="827584" y="2708920"/>
              <a:ext cx="1800200" cy="648072"/>
            </a:xfrm>
            <a:prstGeom prst="homePlate">
              <a:avLst/>
            </a:prstGeom>
            <a:solidFill>
              <a:srgbClr val="8064A2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sv-SE" sz="1800" kern="0" dirty="0">
                  <a:solidFill>
                    <a:prstClr val="white"/>
                  </a:solidFill>
                  <a:latin typeface="Calibri"/>
                </a:rPr>
                <a:t>GSBPM -process</a:t>
              </a:r>
            </a:p>
          </p:txBody>
        </p:sp>
      </p:grpSp>
      <p:sp>
        <p:nvSpPr>
          <p:cNvPr id="13" name="textruta 12"/>
          <p:cNvSpPr txBox="1"/>
          <p:nvPr/>
        </p:nvSpPr>
        <p:spPr>
          <a:xfrm>
            <a:off x="6835064" y="6627168"/>
            <a:ext cx="3931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sv-SE" sz="1200" u="sng" dirty="0" smtClean="0">
                <a:solidFill>
                  <a:prstClr val="black"/>
                </a:solidFill>
                <a:latin typeface="Calibri"/>
                <a:hlinkClick r:id="rId4"/>
              </a:rPr>
              <a:t>http://www.illeccio.com/page.php?lang=en&amp;product_id=37</a:t>
            </a:r>
            <a:endParaRPr lang="sv-SE" sz="1200" dirty="0" smtClean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sv-SE" sz="12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16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96055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4000" dirty="0" smtClean="0"/>
              <a:t>The concept of Plug and Play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001"/>
            <a:ext cx="10515600" cy="4271963"/>
          </a:xfrm>
        </p:spPr>
        <p:txBody>
          <a:bodyPr/>
          <a:lstStyle/>
          <a:p>
            <a:r>
              <a:rPr lang="en-US" dirty="0" err="1" smtClean="0"/>
              <a:t>Standardised</a:t>
            </a:r>
            <a:r>
              <a:rPr lang="en-US" dirty="0" smtClean="0"/>
              <a:t> Service: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r>
              <a:rPr lang="en-US" b="1" dirty="0" err="1" smtClean="0"/>
              <a:t>Standardised</a:t>
            </a:r>
            <a:r>
              <a:rPr lang="en-US" dirty="0" smtClean="0"/>
              <a:t> input and output</a:t>
            </a:r>
          </a:p>
          <a:p>
            <a:pPr lvl="1"/>
            <a:r>
              <a:rPr lang="en-US" dirty="0" smtClean="0"/>
              <a:t>Meet generic nonfunctional </a:t>
            </a:r>
            <a:r>
              <a:rPr lang="en-US" b="1" dirty="0" smtClean="0"/>
              <a:t>requirements</a:t>
            </a:r>
          </a:p>
          <a:p>
            <a:pPr lvl="1"/>
            <a:r>
              <a:rPr lang="en-US" dirty="0" smtClean="0"/>
              <a:t>Can be </a:t>
            </a:r>
            <a:r>
              <a:rPr lang="en-US" b="1" dirty="0" smtClean="0"/>
              <a:t>easily</a:t>
            </a:r>
            <a:r>
              <a:rPr lang="en-US" dirty="0" smtClean="0"/>
              <a:t> used and reused in a number of different processes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  <p:grpSp>
        <p:nvGrpSpPr>
          <p:cNvPr id="4" name="Grupp 89"/>
          <p:cNvGrpSpPr/>
          <p:nvPr/>
        </p:nvGrpSpPr>
        <p:grpSpPr>
          <a:xfrm>
            <a:off x="7268433" y="4951836"/>
            <a:ext cx="3696955" cy="1696977"/>
            <a:chOff x="1187624" y="2348880"/>
            <a:chExt cx="6181610" cy="2952328"/>
          </a:xfrm>
        </p:grpSpPr>
        <p:sp>
          <p:nvSpPr>
            <p:cNvPr id="5" name="Kub 9"/>
            <p:cNvSpPr/>
            <p:nvPr/>
          </p:nvSpPr>
          <p:spPr>
            <a:xfrm>
              <a:off x="1187624" y="2708920"/>
              <a:ext cx="6181610" cy="2592288"/>
            </a:xfrm>
            <a:prstGeom prst="cube">
              <a:avLst>
                <a:gd name="adj" fmla="val 3738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Cylinder 6"/>
            <p:cNvSpPr/>
            <p:nvPr/>
          </p:nvSpPr>
          <p:spPr>
            <a:xfrm>
              <a:off x="3923928" y="2348880"/>
              <a:ext cx="997034" cy="797627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Cylinder 3"/>
            <p:cNvSpPr/>
            <p:nvPr/>
          </p:nvSpPr>
          <p:spPr>
            <a:xfrm>
              <a:off x="3563888" y="2708919"/>
              <a:ext cx="997034" cy="797627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Cylinder 83"/>
            <p:cNvSpPr/>
            <p:nvPr/>
          </p:nvSpPr>
          <p:spPr>
            <a:xfrm>
              <a:off x="2339752" y="2348880"/>
              <a:ext cx="997034" cy="797627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Cylinder 84"/>
            <p:cNvSpPr/>
            <p:nvPr/>
          </p:nvSpPr>
          <p:spPr>
            <a:xfrm>
              <a:off x="1979712" y="2708919"/>
              <a:ext cx="997034" cy="797627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Cylinder 85"/>
            <p:cNvSpPr/>
            <p:nvPr/>
          </p:nvSpPr>
          <p:spPr>
            <a:xfrm>
              <a:off x="5508104" y="2348880"/>
              <a:ext cx="997034" cy="797627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Cylinder 86"/>
            <p:cNvSpPr/>
            <p:nvPr/>
          </p:nvSpPr>
          <p:spPr>
            <a:xfrm>
              <a:off x="5148064" y="2708919"/>
              <a:ext cx="997034" cy="797627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05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603" y="2320415"/>
            <a:ext cx="10972800" cy="1143000"/>
          </a:xfrm>
        </p:spPr>
        <p:txBody>
          <a:bodyPr>
            <a:normAutofit/>
          </a:bodyPr>
          <a:lstStyle/>
          <a:p>
            <a:r>
              <a:rPr lang="en-US" sz="6000" b="1" dirty="0" smtClean="0">
                <a:solidFill>
                  <a:schemeClr val="tx2"/>
                </a:solidFill>
              </a:rPr>
              <a:t>Proof of Concept</a:t>
            </a:r>
            <a:endParaRPr lang="en-GB" sz="6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83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 228"/>
          <p:cNvGrpSpPr/>
          <p:nvPr/>
        </p:nvGrpSpPr>
        <p:grpSpPr>
          <a:xfrm>
            <a:off x="1482157" y="3982309"/>
            <a:ext cx="3757307" cy="1390332"/>
            <a:chOff x="9396536" y="3270581"/>
            <a:chExt cx="1656184" cy="806491"/>
          </a:xfrm>
        </p:grpSpPr>
        <p:sp>
          <p:nvSpPr>
            <p:cNvPr id="99" name="Rektangel 229"/>
            <p:cNvSpPr/>
            <p:nvPr/>
          </p:nvSpPr>
          <p:spPr>
            <a:xfrm>
              <a:off x="9396536" y="3429000"/>
              <a:ext cx="1656184" cy="63367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sv-SE" sz="1900" dirty="0">
                <a:solidFill>
                  <a:prstClr val="white"/>
                </a:solidFill>
                <a:latin typeface="Calibri"/>
              </a:endParaRPr>
            </a:p>
          </p:txBody>
        </p:sp>
        <p:pic>
          <p:nvPicPr>
            <p:cNvPr id="113" name="Picture 7" descr="\\FS11\SCBJAEN$\Mina dokument\Presentations\Other\flags\ca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8544" y="3501008"/>
              <a:ext cx="576064" cy="576064"/>
            </a:xfrm>
            <a:prstGeom prst="rect">
              <a:avLst/>
            </a:prstGeom>
            <a:noFill/>
          </p:spPr>
        </p:pic>
        <p:sp>
          <p:nvSpPr>
            <p:cNvPr id="114" name="Rektangel 231"/>
            <p:cNvSpPr/>
            <p:nvPr/>
          </p:nvSpPr>
          <p:spPr>
            <a:xfrm>
              <a:off x="9540552" y="3270581"/>
              <a:ext cx="360040" cy="158418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sv-SE" sz="19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5" name="Rektangel 232"/>
            <p:cNvSpPr/>
            <p:nvPr/>
          </p:nvSpPr>
          <p:spPr>
            <a:xfrm>
              <a:off x="10044608" y="3270581"/>
              <a:ext cx="360040" cy="158418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sv-SE" sz="19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6" name="Rektangel 233"/>
            <p:cNvSpPr/>
            <p:nvPr/>
          </p:nvSpPr>
          <p:spPr>
            <a:xfrm>
              <a:off x="10548664" y="3270581"/>
              <a:ext cx="360040" cy="158418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sv-SE" sz="1900" dirty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19" name="Rektangel 229"/>
          <p:cNvSpPr/>
          <p:nvPr/>
        </p:nvSpPr>
        <p:spPr>
          <a:xfrm>
            <a:off x="6916557" y="4297751"/>
            <a:ext cx="3757307" cy="1092401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20441" tIns="25337" rIns="469767" bIns="25337" numCol="1" spcCol="1270" anchor="ctr" anchorCtr="0">
            <a:noAutofit/>
          </a:bodyPr>
          <a:lstStyle/>
          <a:p>
            <a:pPr algn="ctr" defTabSz="844550">
              <a:lnSpc>
                <a:spcPct val="90000"/>
              </a:lnSpc>
              <a:spcAft>
                <a:spcPct val="35000"/>
              </a:spcAft>
            </a:pPr>
            <a:endParaRPr lang="sv-SE" sz="19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1" name="Rektangel 231"/>
          <p:cNvSpPr/>
          <p:nvPr/>
        </p:nvSpPr>
        <p:spPr>
          <a:xfrm>
            <a:off x="7310592" y="4024652"/>
            <a:ext cx="816805" cy="273101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20441" tIns="25337" rIns="469767" bIns="25337" numCol="1" spcCol="1270" anchor="ctr" anchorCtr="0">
            <a:noAutofit/>
          </a:bodyPr>
          <a:lstStyle/>
          <a:p>
            <a:pPr algn="ctr" defTabSz="844550">
              <a:lnSpc>
                <a:spcPct val="90000"/>
              </a:lnSpc>
              <a:spcAft>
                <a:spcPct val="35000"/>
              </a:spcAft>
            </a:pPr>
            <a:endParaRPr lang="sv-SE" sz="19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2" name="Rektangel 232"/>
          <p:cNvSpPr/>
          <p:nvPr/>
        </p:nvSpPr>
        <p:spPr>
          <a:xfrm>
            <a:off x="8454120" y="4024652"/>
            <a:ext cx="816805" cy="273101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20441" tIns="25337" rIns="469767" bIns="25337" numCol="1" spcCol="1270" anchor="ctr" anchorCtr="0">
            <a:noAutofit/>
          </a:bodyPr>
          <a:lstStyle/>
          <a:p>
            <a:pPr algn="ctr" defTabSz="844550">
              <a:lnSpc>
                <a:spcPct val="90000"/>
              </a:lnSpc>
              <a:spcAft>
                <a:spcPct val="35000"/>
              </a:spcAft>
            </a:pPr>
            <a:endParaRPr lang="sv-SE" sz="19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3" name="Rektangel 233"/>
          <p:cNvSpPr/>
          <p:nvPr/>
        </p:nvSpPr>
        <p:spPr>
          <a:xfrm>
            <a:off x="9597648" y="4024652"/>
            <a:ext cx="816805" cy="273101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20441" tIns="25337" rIns="469767" bIns="25337" numCol="1" spcCol="1270" anchor="ctr" anchorCtr="0">
            <a:noAutofit/>
          </a:bodyPr>
          <a:lstStyle/>
          <a:p>
            <a:pPr algn="ctr" defTabSz="844550">
              <a:lnSpc>
                <a:spcPct val="90000"/>
              </a:lnSpc>
              <a:spcAft>
                <a:spcPct val="35000"/>
              </a:spcAft>
            </a:pPr>
            <a:endParaRPr lang="sv-SE" sz="1900" dirty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7779596" y="4500124"/>
            <a:ext cx="2280013" cy="691338"/>
            <a:chOff x="6174860" y="5181600"/>
            <a:chExt cx="1710010" cy="691338"/>
          </a:xfrm>
        </p:grpSpPr>
        <p:sp>
          <p:nvSpPr>
            <p:cNvPr id="124" name="Freeform 22"/>
            <p:cNvSpPr/>
            <p:nvPr/>
          </p:nvSpPr>
          <p:spPr>
            <a:xfrm>
              <a:off x="6174860" y="5181600"/>
              <a:ext cx="1640799" cy="691338"/>
            </a:xfrm>
            <a:custGeom>
              <a:avLst/>
              <a:gdLst>
                <a:gd name="connsiteX0" fmla="*/ 0 w 2222152"/>
                <a:gd name="connsiteY0" fmla="*/ 0 h 888861"/>
                <a:gd name="connsiteX1" fmla="*/ 1777722 w 2222152"/>
                <a:gd name="connsiteY1" fmla="*/ 0 h 888861"/>
                <a:gd name="connsiteX2" fmla="*/ 2222152 w 2222152"/>
                <a:gd name="connsiteY2" fmla="*/ 444431 h 888861"/>
                <a:gd name="connsiteX3" fmla="*/ 1777722 w 2222152"/>
                <a:gd name="connsiteY3" fmla="*/ 888861 h 888861"/>
                <a:gd name="connsiteX4" fmla="*/ 0 w 2222152"/>
                <a:gd name="connsiteY4" fmla="*/ 888861 h 888861"/>
                <a:gd name="connsiteX5" fmla="*/ 444431 w 2222152"/>
                <a:gd name="connsiteY5" fmla="*/ 444431 h 888861"/>
                <a:gd name="connsiteX6" fmla="*/ 0 w 2222152"/>
                <a:gd name="connsiteY6" fmla="*/ 0 h 888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22152" h="888861">
                  <a:moveTo>
                    <a:pt x="0" y="0"/>
                  </a:moveTo>
                  <a:lnTo>
                    <a:pt x="1777722" y="0"/>
                  </a:lnTo>
                  <a:lnTo>
                    <a:pt x="2222152" y="444431"/>
                  </a:lnTo>
                  <a:lnTo>
                    <a:pt x="1777722" y="888861"/>
                  </a:lnTo>
                  <a:lnTo>
                    <a:pt x="0" y="888861"/>
                  </a:lnTo>
                  <a:lnTo>
                    <a:pt x="444431" y="444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en-GB" sz="19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5" name="Diamond 27"/>
            <p:cNvSpPr/>
            <p:nvPr/>
          </p:nvSpPr>
          <p:spPr>
            <a:xfrm>
              <a:off x="7267954" y="5336769"/>
              <a:ext cx="616916" cy="381000"/>
            </a:xfrm>
            <a:prstGeom prst="diamond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0441" tIns="25337" rIns="469767" bIns="25337" numCol="1" spcCol="1270" anchor="ctr" anchorCtr="0">
              <a:noAutofit/>
            </a:bodyPr>
            <a:lstStyle/>
            <a:p>
              <a:pPr algn="ctr" defTabSz="844550">
                <a:lnSpc>
                  <a:spcPct val="90000"/>
                </a:lnSpc>
                <a:spcAft>
                  <a:spcPct val="35000"/>
                </a:spcAft>
              </a:pPr>
              <a:endParaRPr lang="en-GB" sz="1900" dirty="0">
                <a:solidFill>
                  <a:prstClr val="white"/>
                </a:solidFill>
                <a:latin typeface="Calibri"/>
              </a:endParaRPr>
            </a:p>
          </p:txBody>
        </p:sp>
      </p:grpSp>
      <p:pic>
        <p:nvPicPr>
          <p:cNvPr id="120" name="Picture 7" descr="\\FS11\SCBJAEN$\Mina dokument\Presentations\Other\flags\ca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5803" y="4597520"/>
            <a:ext cx="653444" cy="496546"/>
          </a:xfrm>
          <a:prstGeom prst="rect">
            <a:avLst/>
          </a:prstGeom>
          <a:noFill/>
        </p:spPr>
      </p:pic>
      <p:sp>
        <p:nvSpPr>
          <p:cNvPr id="126" name="Title 1"/>
          <p:cNvSpPr>
            <a:spLocks noGrp="1"/>
          </p:cNvSpPr>
          <p:nvPr>
            <p:ph type="title"/>
          </p:nvPr>
        </p:nvSpPr>
        <p:spPr>
          <a:xfrm>
            <a:off x="679785" y="208257"/>
            <a:ext cx="10972800" cy="2064719"/>
          </a:xfrm>
        </p:spPr>
        <p:txBody>
          <a:bodyPr>
            <a:noAutofit/>
          </a:bodyPr>
          <a:lstStyle/>
          <a:p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800" dirty="0" smtClean="0"/>
              <a:t>Choosing the </a:t>
            </a:r>
            <a:r>
              <a:rPr lang="en-US" sz="4800" dirty="0" err="1" smtClean="0"/>
              <a:t>PoC</a:t>
            </a:r>
            <a:r>
              <a:rPr lang="en-US" sz="4800" dirty="0" smtClean="0"/>
              <a:t> components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 smtClean="0"/>
              <a:t>Lego pieces could be:</a:t>
            </a:r>
            <a:endParaRPr lang="en-US" sz="4000" dirty="0"/>
          </a:p>
        </p:txBody>
      </p:sp>
      <p:sp>
        <p:nvSpPr>
          <p:cNvPr id="10" name="TextBox 9"/>
          <p:cNvSpPr txBox="1"/>
          <p:nvPr/>
        </p:nvSpPr>
        <p:spPr>
          <a:xfrm>
            <a:off x="1422400" y="2971807"/>
            <a:ext cx="3817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prstClr val="black"/>
                </a:solidFill>
              </a:rPr>
              <a:t>Brand new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886677" y="2725578"/>
            <a:ext cx="38170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prstClr val="black"/>
                </a:solidFill>
              </a:rPr>
              <a:t>Wrapped legacy/existing </a:t>
            </a:r>
          </a:p>
        </p:txBody>
      </p:sp>
      <p:sp>
        <p:nvSpPr>
          <p:cNvPr id="19" name="textruta 18"/>
          <p:cNvSpPr txBox="1"/>
          <p:nvPr/>
        </p:nvSpPr>
        <p:spPr>
          <a:xfrm>
            <a:off x="5582654" y="4479287"/>
            <a:ext cx="11670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Arial" pitchFamily="34" charset="0"/>
                <a:cs typeface="Arial" pitchFamily="34" charset="0"/>
              </a:rPr>
              <a:t>OR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41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 145"/>
          <p:cNvGrpSpPr/>
          <p:nvPr/>
        </p:nvGrpSpPr>
        <p:grpSpPr>
          <a:xfrm>
            <a:off x="7650164" y="2511680"/>
            <a:ext cx="2265864" cy="629038"/>
            <a:chOff x="2752027" y="334790"/>
            <a:chExt cx="2265864" cy="629038"/>
          </a:xfrm>
        </p:grpSpPr>
        <p:sp>
          <p:nvSpPr>
            <p:cNvPr id="17" name="Rounded Rectangle 16"/>
            <p:cNvSpPr/>
            <p:nvPr/>
          </p:nvSpPr>
          <p:spPr>
            <a:xfrm>
              <a:off x="2752027" y="334790"/>
              <a:ext cx="2110193" cy="62903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15866" y="399840"/>
              <a:ext cx="16020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 smtClean="0"/>
                <a:t>G Code</a:t>
              </a:r>
              <a:endParaRPr lang="en-GB" sz="28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The Proof of Concept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5 countries played the role of Builders</a:t>
            </a:r>
          </a:p>
          <a:p>
            <a:endParaRPr lang="en-NZ" dirty="0"/>
          </a:p>
          <a:p>
            <a:endParaRPr lang="en-NZ" dirty="0" smtClean="0"/>
          </a:p>
          <a:p>
            <a:endParaRPr lang="en-NZ" dirty="0"/>
          </a:p>
          <a:p>
            <a:r>
              <a:rPr lang="en-NZ" dirty="0" smtClean="0"/>
              <a:t>3 countries played the role of Assemblers</a:t>
            </a:r>
            <a:endParaRPr lang="en-NZ" dirty="0"/>
          </a:p>
        </p:txBody>
      </p:sp>
      <p:grpSp>
        <p:nvGrpSpPr>
          <p:cNvPr id="4" name="Grupp 88"/>
          <p:cNvGrpSpPr/>
          <p:nvPr/>
        </p:nvGrpSpPr>
        <p:grpSpPr>
          <a:xfrm>
            <a:off x="5035201" y="2471434"/>
            <a:ext cx="3204526" cy="629038"/>
            <a:chOff x="661705" y="4933194"/>
            <a:chExt cx="3366520" cy="660837"/>
          </a:xfrm>
        </p:grpSpPr>
        <p:sp>
          <p:nvSpPr>
            <p:cNvPr id="5" name="Rounded Rectangle 176"/>
            <p:cNvSpPr/>
            <p:nvPr/>
          </p:nvSpPr>
          <p:spPr>
            <a:xfrm>
              <a:off x="661705" y="4933194"/>
              <a:ext cx="2500204" cy="66083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32727" y="5025003"/>
              <a:ext cx="1683011" cy="549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 err="1" smtClean="0"/>
                <a:t>Blaise</a:t>
              </a:r>
              <a:endParaRPr lang="en-GB" sz="2800" dirty="0"/>
            </a:p>
          </p:txBody>
        </p:sp>
        <p:pic>
          <p:nvPicPr>
            <p:cNvPr id="7" name="Picture 4" descr="http://us.cdn2.123rf.com/168nwm/trezvuy/trezvuy1212/trezvuy121200267/16773060-vector-creative-circle-flag-on-white-background-eps10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8609" y="5058841"/>
              <a:ext cx="519616" cy="519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upp 89"/>
          <p:cNvGrpSpPr/>
          <p:nvPr/>
        </p:nvGrpSpPr>
        <p:grpSpPr>
          <a:xfrm>
            <a:off x="9893405" y="2496147"/>
            <a:ext cx="2298596" cy="629038"/>
            <a:chOff x="3552854" y="2784150"/>
            <a:chExt cx="2414794" cy="660837"/>
          </a:xfrm>
        </p:grpSpPr>
        <p:sp>
          <p:nvSpPr>
            <p:cNvPr id="9" name="Rounded Rectangle 8"/>
            <p:cNvSpPr/>
            <p:nvPr/>
          </p:nvSpPr>
          <p:spPr>
            <a:xfrm>
              <a:off x="3552854" y="2784150"/>
              <a:ext cx="2216868" cy="66083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84638" y="2863390"/>
              <a:ext cx="1683010" cy="549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 smtClean="0"/>
                <a:t>SCS</a:t>
              </a:r>
              <a:endParaRPr lang="en-GB" sz="2800" dirty="0"/>
            </a:p>
          </p:txBody>
        </p:sp>
        <p:pic>
          <p:nvPicPr>
            <p:cNvPr id="11" name="Picture 2" descr="http://sr.photos2.fotosearch.com/bthumb/CSP/CSP025/k0252788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4334" y="2840765"/>
              <a:ext cx="553391" cy="553392"/>
            </a:xfrm>
            <a:prstGeom prst="rect">
              <a:avLst/>
            </a:prstGeom>
            <a:solidFill>
              <a:schemeClr val="accent3"/>
            </a:solidFill>
          </p:spPr>
        </p:pic>
      </p:grpSp>
      <p:grpSp>
        <p:nvGrpSpPr>
          <p:cNvPr id="12" name="Grupp 92"/>
          <p:cNvGrpSpPr/>
          <p:nvPr/>
        </p:nvGrpSpPr>
        <p:grpSpPr>
          <a:xfrm>
            <a:off x="2644871" y="2471334"/>
            <a:ext cx="2213355" cy="629038"/>
            <a:chOff x="6383253" y="2718848"/>
            <a:chExt cx="2325244" cy="660837"/>
          </a:xfrm>
        </p:grpSpPr>
        <p:sp>
          <p:nvSpPr>
            <p:cNvPr id="13" name="Rounded Rectangle 12"/>
            <p:cNvSpPr/>
            <p:nvPr/>
          </p:nvSpPr>
          <p:spPr>
            <a:xfrm>
              <a:off x="6383253" y="2718848"/>
              <a:ext cx="2216868" cy="66083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4" name="Picture 7" descr="\\FS11\SCBJAEN$\Mina dokument\Presentations\Other\flags\ca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7095" y="2803619"/>
              <a:ext cx="576064" cy="576064"/>
            </a:xfrm>
            <a:prstGeom prst="rect">
              <a:avLst/>
            </a:prstGeom>
            <a:noFill/>
          </p:spPr>
        </p:pic>
        <p:sp>
          <p:nvSpPr>
            <p:cNvPr id="15" name="TextBox 14"/>
            <p:cNvSpPr txBox="1"/>
            <p:nvPr/>
          </p:nvSpPr>
          <p:spPr>
            <a:xfrm>
              <a:off x="7025486" y="2810657"/>
              <a:ext cx="1683011" cy="485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smtClean="0"/>
                <a:t>CANCEIS</a:t>
              </a:r>
              <a:endParaRPr lang="en-GB" sz="2400" dirty="0"/>
            </a:p>
          </p:txBody>
        </p:sp>
      </p:grpSp>
      <p:grpSp>
        <p:nvGrpSpPr>
          <p:cNvPr id="20" name="Grupp 288"/>
          <p:cNvGrpSpPr/>
          <p:nvPr/>
        </p:nvGrpSpPr>
        <p:grpSpPr>
          <a:xfrm>
            <a:off x="153147" y="2471435"/>
            <a:ext cx="2379896" cy="629038"/>
            <a:chOff x="6422793" y="-239889"/>
            <a:chExt cx="2500204" cy="660837"/>
          </a:xfrm>
        </p:grpSpPr>
        <p:sp>
          <p:nvSpPr>
            <p:cNvPr id="21" name="Rounded Rectangle 176"/>
            <p:cNvSpPr/>
            <p:nvPr/>
          </p:nvSpPr>
          <p:spPr>
            <a:xfrm>
              <a:off x="6422793" y="-239889"/>
              <a:ext cx="2500204" cy="66083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93815" y="-148079"/>
              <a:ext cx="1683011" cy="549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 err="1" smtClean="0"/>
                <a:t>Editrules</a:t>
              </a:r>
              <a:endParaRPr lang="en-GB" sz="2800" dirty="0"/>
            </a:p>
          </p:txBody>
        </p:sp>
      </p:grpSp>
      <p:grpSp>
        <p:nvGrpSpPr>
          <p:cNvPr id="124" name="Grupp 83"/>
          <p:cNvGrpSpPr/>
          <p:nvPr/>
        </p:nvGrpSpPr>
        <p:grpSpPr>
          <a:xfrm>
            <a:off x="582979" y="4810033"/>
            <a:ext cx="11184479" cy="1083083"/>
            <a:chOff x="755576" y="4509120"/>
            <a:chExt cx="8064896" cy="1080120"/>
          </a:xfrm>
          <a:solidFill>
            <a:schemeClr val="accent6">
              <a:lumMod val="75000"/>
            </a:schemeClr>
          </a:solidFill>
        </p:grpSpPr>
        <p:sp>
          <p:nvSpPr>
            <p:cNvPr id="125" name="Kub 50"/>
            <p:cNvSpPr/>
            <p:nvPr/>
          </p:nvSpPr>
          <p:spPr>
            <a:xfrm>
              <a:off x="755576" y="4653136"/>
              <a:ext cx="8064896" cy="936104"/>
            </a:xfrm>
            <a:prstGeom prst="cube">
              <a:avLst>
                <a:gd name="adj" fmla="val 37382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6" name="Cylinder 51"/>
            <p:cNvSpPr/>
            <p:nvPr/>
          </p:nvSpPr>
          <p:spPr>
            <a:xfrm>
              <a:off x="1187624" y="4509120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7" name="Cylinder 52"/>
            <p:cNvSpPr/>
            <p:nvPr/>
          </p:nvSpPr>
          <p:spPr>
            <a:xfrm>
              <a:off x="1691680" y="4509120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8" name="Cylinder 53"/>
            <p:cNvSpPr/>
            <p:nvPr/>
          </p:nvSpPr>
          <p:spPr>
            <a:xfrm>
              <a:off x="2195736" y="4509120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9" name="Cylinder 54"/>
            <p:cNvSpPr/>
            <p:nvPr/>
          </p:nvSpPr>
          <p:spPr>
            <a:xfrm>
              <a:off x="1043608" y="4653136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0" name="Cylinder 55"/>
            <p:cNvSpPr/>
            <p:nvPr/>
          </p:nvSpPr>
          <p:spPr>
            <a:xfrm>
              <a:off x="1547664" y="4653136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1" name="Cylinder 56"/>
            <p:cNvSpPr/>
            <p:nvPr/>
          </p:nvSpPr>
          <p:spPr>
            <a:xfrm>
              <a:off x="2051720" y="4653136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2" name="Cylinder 57"/>
            <p:cNvSpPr/>
            <p:nvPr/>
          </p:nvSpPr>
          <p:spPr>
            <a:xfrm>
              <a:off x="2699792" y="4509120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3" name="Cylinder 58"/>
            <p:cNvSpPr/>
            <p:nvPr/>
          </p:nvSpPr>
          <p:spPr>
            <a:xfrm>
              <a:off x="3203848" y="4509120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4" name="Cylinder 59"/>
            <p:cNvSpPr/>
            <p:nvPr/>
          </p:nvSpPr>
          <p:spPr>
            <a:xfrm>
              <a:off x="3707904" y="4509120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5" name="Cylinder 60"/>
            <p:cNvSpPr/>
            <p:nvPr/>
          </p:nvSpPr>
          <p:spPr>
            <a:xfrm>
              <a:off x="2555776" y="4653136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6" name="Cylinder 61"/>
            <p:cNvSpPr/>
            <p:nvPr/>
          </p:nvSpPr>
          <p:spPr>
            <a:xfrm>
              <a:off x="3059832" y="4653136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7" name="Cylinder 62"/>
            <p:cNvSpPr/>
            <p:nvPr/>
          </p:nvSpPr>
          <p:spPr>
            <a:xfrm>
              <a:off x="3563888" y="4653136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8" name="Cylinder 63"/>
            <p:cNvSpPr/>
            <p:nvPr/>
          </p:nvSpPr>
          <p:spPr>
            <a:xfrm>
              <a:off x="4211960" y="4509120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9" name="Cylinder 64"/>
            <p:cNvSpPr/>
            <p:nvPr/>
          </p:nvSpPr>
          <p:spPr>
            <a:xfrm>
              <a:off x="4716016" y="4509120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0" name="Cylinder 65"/>
            <p:cNvSpPr/>
            <p:nvPr/>
          </p:nvSpPr>
          <p:spPr>
            <a:xfrm>
              <a:off x="5220072" y="4509120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1" name="Cylinder 66"/>
            <p:cNvSpPr/>
            <p:nvPr/>
          </p:nvSpPr>
          <p:spPr>
            <a:xfrm>
              <a:off x="4067944" y="4653136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2" name="Cylinder 67"/>
            <p:cNvSpPr/>
            <p:nvPr/>
          </p:nvSpPr>
          <p:spPr>
            <a:xfrm>
              <a:off x="4572000" y="4653136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3" name="Cylinder 68"/>
            <p:cNvSpPr/>
            <p:nvPr/>
          </p:nvSpPr>
          <p:spPr>
            <a:xfrm>
              <a:off x="5076056" y="4653136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4" name="Cylinder 69"/>
            <p:cNvSpPr/>
            <p:nvPr/>
          </p:nvSpPr>
          <p:spPr>
            <a:xfrm>
              <a:off x="5724128" y="4509120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5" name="Cylinder 70"/>
            <p:cNvSpPr/>
            <p:nvPr/>
          </p:nvSpPr>
          <p:spPr>
            <a:xfrm>
              <a:off x="6228184" y="4509120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6" name="Cylinder 71"/>
            <p:cNvSpPr/>
            <p:nvPr/>
          </p:nvSpPr>
          <p:spPr>
            <a:xfrm>
              <a:off x="6732240" y="4509120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7" name="Cylinder 72"/>
            <p:cNvSpPr/>
            <p:nvPr/>
          </p:nvSpPr>
          <p:spPr>
            <a:xfrm>
              <a:off x="5580112" y="4653136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8" name="Cylinder 73"/>
            <p:cNvSpPr/>
            <p:nvPr/>
          </p:nvSpPr>
          <p:spPr>
            <a:xfrm>
              <a:off x="6084168" y="4653136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9" name="Cylinder 74"/>
            <p:cNvSpPr/>
            <p:nvPr/>
          </p:nvSpPr>
          <p:spPr>
            <a:xfrm>
              <a:off x="6588224" y="4653136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0" name="Cylinder 75"/>
            <p:cNvSpPr/>
            <p:nvPr/>
          </p:nvSpPr>
          <p:spPr>
            <a:xfrm>
              <a:off x="7199784" y="4509120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1" name="Cylinder 76"/>
            <p:cNvSpPr/>
            <p:nvPr/>
          </p:nvSpPr>
          <p:spPr>
            <a:xfrm>
              <a:off x="7055768" y="4653136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2" name="Cylinder 77"/>
            <p:cNvSpPr/>
            <p:nvPr/>
          </p:nvSpPr>
          <p:spPr>
            <a:xfrm>
              <a:off x="7703840" y="4509120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3" name="Cylinder 78"/>
            <p:cNvSpPr/>
            <p:nvPr/>
          </p:nvSpPr>
          <p:spPr>
            <a:xfrm>
              <a:off x="8207896" y="4509120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4" name="Cylinder 80"/>
            <p:cNvSpPr/>
            <p:nvPr/>
          </p:nvSpPr>
          <p:spPr>
            <a:xfrm>
              <a:off x="7559824" y="4653136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5" name="Cylinder 81"/>
            <p:cNvSpPr/>
            <p:nvPr/>
          </p:nvSpPr>
          <p:spPr>
            <a:xfrm>
              <a:off x="8063880" y="4653136"/>
              <a:ext cx="360040" cy="288032"/>
            </a:xfrm>
            <a:prstGeom prst="ca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56" name="Oval 155"/>
          <p:cNvSpPr/>
          <p:nvPr/>
        </p:nvSpPr>
        <p:spPr>
          <a:xfrm>
            <a:off x="4724193" y="5348861"/>
            <a:ext cx="522155" cy="544255"/>
          </a:xfrm>
          <a:prstGeom prst="ellipse">
            <a:avLst/>
          </a:prstGeom>
          <a:blipFill>
            <a:blip r:embed="rId6" cstate="print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pic>
        <p:nvPicPr>
          <p:cNvPr id="157" name="Picture 2" descr="http://sr.photos2.fotosearch.com/bthumb/CSP/CSP025/k0252788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5811" y="5348861"/>
            <a:ext cx="526763" cy="526763"/>
          </a:xfrm>
          <a:prstGeom prst="rect">
            <a:avLst/>
          </a:prstGeom>
          <a:solidFill>
            <a:schemeClr val="accent3"/>
          </a:solidFill>
        </p:spPr>
      </p:pic>
      <p:pic>
        <p:nvPicPr>
          <p:cNvPr id="158" name="Picture 3" descr="\\FS11\SCBJAEN$\Mina dokument\Presentations\Other\flags\se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411" y="5317050"/>
            <a:ext cx="576064" cy="576064"/>
          </a:xfrm>
          <a:prstGeom prst="rect">
            <a:avLst/>
          </a:prstGeom>
          <a:noFill/>
        </p:spPr>
      </p:pic>
      <p:sp>
        <p:nvSpPr>
          <p:cNvPr id="60" name="Oval 59"/>
          <p:cNvSpPr/>
          <p:nvPr/>
        </p:nvSpPr>
        <p:spPr>
          <a:xfrm>
            <a:off x="364913" y="2518454"/>
            <a:ext cx="522155" cy="544255"/>
          </a:xfrm>
          <a:prstGeom prst="ellipse">
            <a:avLst/>
          </a:prstGeom>
          <a:blipFill>
            <a:blip r:embed="rId6" cstate="print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348" y="2508559"/>
            <a:ext cx="573488" cy="573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362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Did the Services </a:t>
            </a:r>
            <a:r>
              <a:rPr lang="en-US" dirty="0"/>
              <a:t>D</a:t>
            </a:r>
            <a:r>
              <a:rPr lang="en-US" dirty="0" smtClean="0"/>
              <a:t>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DataEdit</a:t>
            </a:r>
            <a:r>
              <a:rPr lang="en-US" dirty="0" smtClean="0"/>
              <a:t>: Localization of </a:t>
            </a:r>
            <a:r>
              <a:rPr lang="en-US" dirty="0" err="1" smtClean="0"/>
              <a:t>erors</a:t>
            </a:r>
            <a:endParaRPr lang="en-US" dirty="0" smtClean="0"/>
          </a:p>
          <a:p>
            <a:r>
              <a:rPr lang="en-US" dirty="0" smtClean="0"/>
              <a:t>CANCEIS: Localization of errors</a:t>
            </a:r>
            <a:r>
              <a:rPr lang="en-US" dirty="0" smtClean="0"/>
              <a:t>, editing, </a:t>
            </a:r>
            <a:r>
              <a:rPr lang="en-US" dirty="0" smtClean="0"/>
              <a:t>imputation</a:t>
            </a:r>
          </a:p>
          <a:p>
            <a:r>
              <a:rPr lang="en-US" dirty="0" err="1" smtClean="0"/>
              <a:t>Blaise</a:t>
            </a:r>
            <a:r>
              <a:rPr lang="en-US" dirty="0" smtClean="0"/>
              <a:t>: Administration of questionnaire and collection of data</a:t>
            </a:r>
          </a:p>
          <a:p>
            <a:r>
              <a:rPr lang="en-US" dirty="0" smtClean="0"/>
              <a:t>G Code: </a:t>
            </a:r>
            <a:r>
              <a:rPr lang="en-US" smtClean="0"/>
              <a:t>An auto-coding </a:t>
            </a:r>
            <a:r>
              <a:rPr lang="en-US" dirty="0" smtClean="0"/>
              <a:t>service</a:t>
            </a:r>
          </a:p>
          <a:p>
            <a:r>
              <a:rPr lang="en-US" dirty="0" smtClean="0"/>
              <a:t>SCS: </a:t>
            </a:r>
            <a:r>
              <a:rPr lang="en-US" dirty="0" smtClean="0"/>
              <a:t>An auto-coding service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66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90896"/>
            <a:ext cx="10972800" cy="1143000"/>
          </a:xfrm>
        </p:spPr>
        <p:txBody>
          <a:bodyPr>
            <a:normAutofit/>
          </a:bodyPr>
          <a:lstStyle/>
          <a:p>
            <a:r>
              <a:rPr lang="en-GB" sz="6000" dirty="0" smtClean="0">
                <a:solidFill>
                  <a:schemeClr val="tx2"/>
                </a:solidFill>
              </a:rPr>
              <a:t>Using DDI in the Proof of Concept</a:t>
            </a:r>
            <a:endParaRPr lang="en-GB" sz="6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53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olo 1"/>
          <p:cNvSpPr>
            <a:spLocks noGrp="1"/>
          </p:cNvSpPr>
          <p:nvPr>
            <p:ph type="title" idx="4294967295"/>
          </p:nvPr>
        </p:nvSpPr>
        <p:spPr bwMode="auto">
          <a:xfrm>
            <a:off x="1992313" y="404814"/>
            <a:ext cx="8229600" cy="56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it-IT" sz="2400" b="1"/>
              <a:t>CSPA Service Design and Implementation</a:t>
            </a:r>
            <a:endParaRPr lang="it-IT" sz="2400"/>
          </a:p>
        </p:txBody>
      </p:sp>
      <p:pic>
        <p:nvPicPr>
          <p:cNvPr id="20483" name="Picture 2"/>
          <p:cNvPicPr preferRelativeResize="0"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157" y="832520"/>
            <a:ext cx="8699499" cy="6025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umetto 2 1"/>
          <p:cNvSpPr/>
          <p:nvPr/>
        </p:nvSpPr>
        <p:spPr>
          <a:xfrm>
            <a:off x="501650" y="3197560"/>
            <a:ext cx="1490663" cy="647700"/>
          </a:xfrm>
          <a:prstGeom prst="wedgeRoundRectCallout">
            <a:avLst>
              <a:gd name="adj1" fmla="val 192457"/>
              <a:gd name="adj2" fmla="val -1361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it-IT" dirty="0"/>
              <a:t>E.g. DDI or SDMX</a:t>
            </a:r>
          </a:p>
        </p:txBody>
      </p:sp>
    </p:spTree>
    <p:extLst>
      <p:ext uri="{BB962C8B-B14F-4D97-AF65-F5344CB8AC3E}">
        <p14:creationId xmlns:p14="http://schemas.microsoft.com/office/powerpoint/2010/main" val="66735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Learning curves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Proof of Concept required knowledge about:</a:t>
            </a:r>
          </a:p>
          <a:p>
            <a:pPr marL="0" indent="0">
              <a:buNone/>
            </a:pPr>
            <a:endParaRPr lang="en-GB" dirty="0" smtClean="0"/>
          </a:p>
          <a:p>
            <a:r>
              <a:rPr lang="en-GB" dirty="0"/>
              <a:t>T</a:t>
            </a:r>
            <a:r>
              <a:rPr lang="en-GB" dirty="0" smtClean="0"/>
              <a:t>he tool which was wrapped (CANCEIS, Blaise </a:t>
            </a:r>
            <a:r>
              <a:rPr lang="en-GB" dirty="0" err="1" smtClean="0"/>
              <a:t>etc</a:t>
            </a:r>
            <a:r>
              <a:rPr lang="en-GB" dirty="0" smtClean="0"/>
              <a:t>)</a:t>
            </a:r>
          </a:p>
          <a:p>
            <a:endParaRPr lang="en-GB" dirty="0" smtClean="0"/>
          </a:p>
          <a:p>
            <a:r>
              <a:rPr lang="en-GB" dirty="0" smtClean="0"/>
              <a:t>GSIM implementation standards  (DDI in this case)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200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90896"/>
            <a:ext cx="10972800" cy="1143000"/>
          </a:xfrm>
        </p:spPr>
        <p:txBody>
          <a:bodyPr>
            <a:normAutofit/>
          </a:bodyPr>
          <a:lstStyle/>
          <a:p>
            <a:r>
              <a:rPr lang="en-GB" sz="6000" dirty="0" smtClean="0">
                <a:solidFill>
                  <a:schemeClr val="tx2"/>
                </a:solidFill>
              </a:rPr>
              <a:t>What did we prove?</a:t>
            </a:r>
            <a:endParaRPr lang="en-GB" sz="6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36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1" y="346075"/>
            <a:ext cx="10515600" cy="1325563"/>
          </a:xfrm>
        </p:spPr>
        <p:txBody>
          <a:bodyPr>
            <a:norm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NZ" sz="4400" dirty="0" smtClean="0">
                <a:latin typeface="+mj-lt"/>
              </a:rPr>
              <a:t>CSPA is practical and can be implemented by various agencies in a consistent way</a:t>
            </a:r>
            <a:endParaRPr lang="en-GB" sz="4400" dirty="0">
              <a:latin typeface="+mj-lt"/>
            </a:endParaRPr>
          </a:p>
        </p:txBody>
      </p:sp>
      <p:pic>
        <p:nvPicPr>
          <p:cNvPr id="5123" name="Picture 3" descr="C:\Users\laloth\AppData\Local\Microsoft\Windows\Temporary Internet Files\Content.IE5\DEL3PDM9\MC900434665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1384" y="1501820"/>
            <a:ext cx="1831975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469" y="3621494"/>
            <a:ext cx="9806506" cy="1290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448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51" y="247651"/>
            <a:ext cx="4893908" cy="285749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408" y="247651"/>
            <a:ext cx="5082511" cy="2857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21" y="3733800"/>
            <a:ext cx="5754403" cy="25862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671" y="3733800"/>
            <a:ext cx="5754404" cy="2586285"/>
          </a:xfrm>
          <a:prstGeom prst="rect">
            <a:avLst/>
          </a:prstGeom>
        </p:spPr>
      </p:pic>
      <p:pic>
        <p:nvPicPr>
          <p:cNvPr id="3074" name="Picture 2" descr="C:\Users\laloth\AppData\Local\Microsoft\Windows\Temporary Internet Files\Content.IE5\9VZ22EJ6\MC900434713[1]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451" y="1599110"/>
            <a:ext cx="922338" cy="966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laloth\AppData\Local\Microsoft\Windows\Temporary Internet Files\Content.IE5\9VZ22EJ6\MC900434713[1]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2383" y="1698500"/>
            <a:ext cx="976167" cy="1023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:\Users\laloth\AppData\Local\Microsoft\Windows\Temporary Internet Files\Content.IE5\9VZ22EJ6\MC900434713[1]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2384" y="4683910"/>
            <a:ext cx="922338" cy="966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laloth\AppData\Local\Microsoft\Windows\Temporary Internet Files\Content.IE5\9VZ22EJ6\MC900434713[1]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3" y="4683910"/>
            <a:ext cx="922338" cy="966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0317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was the CSPA POC Experience with DDI?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Being a lifecycle-oriented project, the CSPA POC agreed to use DDI 3.1, the latest production version of DDI Lifecycle</a:t>
            </a:r>
          </a:p>
          <a:p>
            <a:r>
              <a:rPr lang="en-US" dirty="0" smtClean="0"/>
              <a:t>The services focused in two areas: questionnaires and (mostly) editing of </a:t>
            </a:r>
            <a:r>
              <a:rPr lang="en-US" dirty="0" err="1" smtClean="0"/>
              <a:t>microdata</a:t>
            </a:r>
            <a:r>
              <a:rPr lang="en-US" dirty="0" smtClean="0"/>
              <a:t> (re-coding, localization of errors, imputation)</a:t>
            </a:r>
          </a:p>
          <a:p>
            <a:r>
              <a:rPr lang="en-US" dirty="0" smtClean="0"/>
              <a:t>DDI Lifecycle was the natural choice</a:t>
            </a:r>
          </a:p>
          <a:p>
            <a:pPr lvl="1"/>
            <a:r>
              <a:rPr lang="en-US" dirty="0" smtClean="0"/>
              <a:t>DDI maps reasonably well to GSIM</a:t>
            </a:r>
          </a:p>
          <a:p>
            <a:pPr lvl="1"/>
            <a:r>
              <a:rPr lang="en-US" dirty="0" smtClean="0"/>
              <a:t>DDI profiles and “implementers guide” now being produced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8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Lessons Learned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For data editing, DDI Lifecycle can be massive overkill</a:t>
            </a:r>
          </a:p>
          <a:p>
            <a:pPr lvl="1"/>
            <a:r>
              <a:rPr lang="en-US" dirty="0" smtClean="0"/>
              <a:t>Much of the required detail is simply not needed (better in 3.2)</a:t>
            </a:r>
          </a:p>
          <a:p>
            <a:r>
              <a:rPr lang="en-US" dirty="0" smtClean="0"/>
              <a:t>Data editing is a relatively “metadata-light” application</a:t>
            </a:r>
          </a:p>
          <a:p>
            <a:pPr lvl="1"/>
            <a:r>
              <a:rPr lang="en-US" dirty="0" smtClean="0"/>
              <a:t>A few data files needed to be described, for input data sets, edited data sets, and reports (tables of which variables were imputed, or where errors might be located)</a:t>
            </a:r>
          </a:p>
          <a:p>
            <a:pPr lvl="1"/>
            <a:r>
              <a:rPr lang="en-US" dirty="0" smtClean="0"/>
              <a:t>These files were mostly very simple .CSV files</a:t>
            </a:r>
          </a:p>
          <a:p>
            <a:pPr lvl="1"/>
            <a:r>
              <a:rPr lang="en-US" dirty="0" smtClean="0"/>
              <a:t>We also needed a </a:t>
            </a:r>
            <a:r>
              <a:rPr lang="en-US" dirty="0" err="1" smtClean="0"/>
              <a:t>codelist</a:t>
            </a:r>
            <a:r>
              <a:rPr lang="en-US" dirty="0" smtClean="0"/>
              <a:t> (codes and categories) for the </a:t>
            </a:r>
            <a:r>
              <a:rPr lang="en-US" dirty="0" smtClean="0"/>
              <a:t>cod</a:t>
            </a:r>
            <a:r>
              <a:rPr lang="en-US" dirty="0" smtClean="0"/>
              <a:t>ing services</a:t>
            </a:r>
            <a:endParaRPr lang="en-US" dirty="0" smtClean="0"/>
          </a:p>
          <a:p>
            <a:r>
              <a:rPr lang="en-US" dirty="0" smtClean="0"/>
              <a:t>A *really simple* data set description is needed</a:t>
            </a:r>
          </a:p>
          <a:p>
            <a:pPr lvl="1"/>
            <a:r>
              <a:rPr lang="en-US" dirty="0" smtClean="0"/>
              <a:t>No interest in study-level information: it is not used by these applications</a:t>
            </a:r>
          </a:p>
          <a:p>
            <a:pPr lvl="1"/>
            <a:r>
              <a:rPr lang="en-US" dirty="0" smtClean="0"/>
              <a:t>This document will be included in DDI 4.* and later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95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Lessons Learned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It is important to maintain the continuity of metadata across the lifecycle</a:t>
            </a:r>
          </a:p>
          <a:p>
            <a:r>
              <a:rPr lang="en-US" dirty="0" smtClean="0"/>
              <a:t>The editing phases of the lifecycle do not use a lot of metadata</a:t>
            </a:r>
          </a:p>
          <a:p>
            <a:pPr lvl="1"/>
            <a:r>
              <a:rPr lang="en-US" dirty="0" smtClean="0"/>
              <a:t>The tools often consume metadata, but do not produce much! (SAS, etc.)</a:t>
            </a:r>
          </a:p>
          <a:p>
            <a:r>
              <a:rPr lang="en-US" dirty="0" smtClean="0"/>
              <a:t>Study-level metadata is often fairly static</a:t>
            </a:r>
          </a:p>
          <a:p>
            <a:r>
              <a:rPr lang="en-US" dirty="0" smtClean="0"/>
              <a:t>Variables, logical records, physical data description, statistics can be “recovered” from post-process set-ups, etc.</a:t>
            </a:r>
          </a:p>
          <a:p>
            <a:r>
              <a:rPr lang="en-US" dirty="0" smtClean="0"/>
              <a:t>Otherwise, the processing phases of the life-cycle can be a “metadata black hole”!</a:t>
            </a:r>
          </a:p>
        </p:txBody>
      </p:sp>
    </p:spTree>
    <p:extLst>
      <p:ext uri="{BB962C8B-B14F-4D97-AF65-F5344CB8AC3E}">
        <p14:creationId xmlns:p14="http://schemas.microsoft.com/office/powerpoint/2010/main" val="88053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Lessons Learned 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CSPA as an architecture is services-oriented</a:t>
            </a:r>
          </a:p>
          <a:p>
            <a:pPr lvl="1"/>
            <a:r>
              <a:rPr lang="en-US" dirty="0" smtClean="0"/>
              <a:t>The definition of services is broad (TOGAF), but web services and </a:t>
            </a:r>
            <a:r>
              <a:rPr lang="en-US" dirty="0" err="1" smtClean="0"/>
              <a:t>RESTful</a:t>
            </a:r>
            <a:r>
              <a:rPr lang="en-US" dirty="0" smtClean="0"/>
              <a:t> services both fit the definition being used</a:t>
            </a:r>
          </a:p>
          <a:p>
            <a:pPr lvl="1"/>
            <a:r>
              <a:rPr lang="en-US" dirty="0" smtClean="0"/>
              <a:t>DDI is not service-oriented: there are no standard service interfaces</a:t>
            </a:r>
          </a:p>
          <a:p>
            <a:r>
              <a:rPr lang="en-US" dirty="0" smtClean="0"/>
              <a:t>Most “files” were passed into the CSPA POC services as location references</a:t>
            </a:r>
          </a:p>
          <a:p>
            <a:pPr lvl="1"/>
            <a:r>
              <a:rPr lang="en-US" dirty="0" smtClean="0"/>
              <a:t>DDI was passed in wholesale in XML form</a:t>
            </a:r>
          </a:p>
          <a:p>
            <a:pPr lvl="1"/>
            <a:r>
              <a:rPr lang="en-US" dirty="0" smtClean="0"/>
              <a:t>This would not be necessary is we had a standard </a:t>
            </a:r>
            <a:r>
              <a:rPr lang="en-US" dirty="0" err="1" smtClean="0"/>
              <a:t>RESTful</a:t>
            </a:r>
            <a:r>
              <a:rPr lang="en-US" dirty="0" smtClean="0"/>
              <a:t> syntax, etc.</a:t>
            </a:r>
          </a:p>
          <a:p>
            <a:pPr lvl="1"/>
            <a:r>
              <a:rPr lang="en-US" dirty="0" smtClean="0"/>
              <a:t>Metadata could be obtained as needed by the services at run-time from minimal input parameters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54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Lessons Learned (4)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CSPA architecture is designed to support more than just data-production processes</a:t>
            </a:r>
          </a:p>
          <a:p>
            <a:pPr lvl="1"/>
            <a:r>
              <a:rPr lang="en-US" dirty="0" smtClean="0"/>
              <a:t>Also “support” functions such as classification management</a:t>
            </a:r>
          </a:p>
          <a:p>
            <a:r>
              <a:rPr lang="en-US" dirty="0" smtClean="0"/>
              <a:t>In GSIM, the Study Unit maps neatly to a cycle of data production</a:t>
            </a:r>
          </a:p>
          <a:p>
            <a:pPr lvl="1"/>
            <a:r>
              <a:rPr lang="en-US" dirty="0" smtClean="0"/>
              <a:t>There is no good corresponding container for support functions: Study Unit is about data production</a:t>
            </a:r>
          </a:p>
          <a:p>
            <a:pPr lvl="1"/>
            <a:r>
              <a:rPr lang="en-US" dirty="0" smtClean="0"/>
              <a:t>Resource Packages represent reusable resources, and map against other things in GSIM</a:t>
            </a:r>
          </a:p>
          <a:p>
            <a:r>
              <a:rPr lang="en-US" dirty="0" smtClean="0"/>
              <a:t>For the CSPA POC, this was not an issue: all services were data-oriented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47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Interesting Decision: Rules Language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For the CSPA POC, many GSIM inputs were “Rules” </a:t>
            </a:r>
          </a:p>
          <a:p>
            <a:pPr lvl="1"/>
            <a:r>
              <a:rPr lang="en-US" dirty="0" smtClean="0"/>
              <a:t>For imputation</a:t>
            </a:r>
          </a:p>
          <a:p>
            <a:pPr lvl="1"/>
            <a:r>
              <a:rPr lang="en-US" dirty="0" smtClean="0"/>
              <a:t>For </a:t>
            </a:r>
            <a:r>
              <a:rPr lang="en-US" dirty="0" smtClean="0"/>
              <a:t>editing</a:t>
            </a:r>
          </a:p>
          <a:p>
            <a:pPr lvl="1"/>
            <a:r>
              <a:rPr lang="en-US" dirty="0" smtClean="0"/>
              <a:t>For validation</a:t>
            </a:r>
            <a:endParaRPr lang="en-US" dirty="0" smtClean="0"/>
          </a:p>
          <a:p>
            <a:r>
              <a:rPr lang="en-US" dirty="0" smtClean="0"/>
              <a:t>There was no good “rules language” for expressing these in a standard way</a:t>
            </a:r>
          </a:p>
          <a:p>
            <a:r>
              <a:rPr lang="en-US" dirty="0" smtClean="0"/>
              <a:t>Decision was made, for future work, to use the platform-neutral “Expression Language” now being developed</a:t>
            </a:r>
          </a:p>
          <a:p>
            <a:pPr lvl="1"/>
            <a:r>
              <a:rPr lang="en-US" dirty="0" smtClean="0"/>
              <a:t>For use with SDMX and DDI, or as “stand-alone”</a:t>
            </a:r>
          </a:p>
          <a:p>
            <a:pPr lvl="1"/>
            <a:r>
              <a:rPr lang="en-US" dirty="0" smtClean="0"/>
              <a:t>Second face-to-face meeting will be in Basel, end of January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10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DDI was able to support the CSPA POC use cases</a:t>
            </a:r>
          </a:p>
          <a:p>
            <a:r>
              <a:rPr lang="en-US" dirty="0" smtClean="0"/>
              <a:t>Too complex, and too steep a learning curve</a:t>
            </a:r>
          </a:p>
          <a:p>
            <a:r>
              <a:rPr lang="en-US" dirty="0" smtClean="0"/>
              <a:t>Standard DDI services interfaces should be developed</a:t>
            </a:r>
          </a:p>
          <a:p>
            <a:r>
              <a:rPr lang="en-US" dirty="0" smtClean="0"/>
              <a:t>Need to think about the overall data production lifecycle and how to persist the metadata</a:t>
            </a:r>
          </a:p>
          <a:p>
            <a:r>
              <a:rPr lang="en-US" dirty="0" smtClean="0"/>
              <a:t>Need to consider the GSIM objects not only for cyclical data production, but also for “support” functions such as metadata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346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6672</TotalTime>
  <Words>1304</Words>
  <Application>Microsoft Office PowerPoint</Application>
  <PresentationFormat>Custom</PresentationFormat>
  <Paragraphs>221</Paragraphs>
  <Slides>32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The problem we are trying to solve</vt:lpstr>
      <vt:lpstr>How does Architecture help?</vt:lpstr>
      <vt:lpstr>EA helps you get to this</vt:lpstr>
      <vt:lpstr>…but if each statistical organisation works by themselves….. </vt:lpstr>
      <vt:lpstr>…we get this….</vt:lpstr>
      <vt:lpstr>This makes it hard to share and reuse!</vt:lpstr>
      <vt:lpstr>…but if statistical organisations work together? </vt:lpstr>
      <vt:lpstr>This makes it easier to share and reuse!</vt:lpstr>
      <vt:lpstr>2 Strands to the project</vt:lpstr>
      <vt:lpstr>The Architecture</vt:lpstr>
      <vt:lpstr>CSPA Definition</vt:lpstr>
      <vt:lpstr>PowerPoint Presentation</vt:lpstr>
      <vt:lpstr>A statistical service </vt:lpstr>
      <vt:lpstr>The concept of Plug and Play</vt:lpstr>
      <vt:lpstr>Proof of Concept</vt:lpstr>
      <vt:lpstr> Choosing the PoC components  Lego pieces could be:</vt:lpstr>
      <vt:lpstr>The Proof of Concept</vt:lpstr>
      <vt:lpstr>What Did the Services Do?</vt:lpstr>
      <vt:lpstr>Using DDI in the Proof of Concept</vt:lpstr>
      <vt:lpstr>CSPA Service Design and Implementation</vt:lpstr>
      <vt:lpstr>Learning curves</vt:lpstr>
      <vt:lpstr>What did we prove?</vt:lpstr>
      <vt:lpstr>CSPA is practical and can be implemented by various agencies in a consistent way</vt:lpstr>
      <vt:lpstr>PowerPoint Presentation</vt:lpstr>
      <vt:lpstr>What was the CSPA POC Experience with DDI?</vt:lpstr>
      <vt:lpstr>DDI Lessons Learned (1)</vt:lpstr>
      <vt:lpstr>DDI Lessons Learned (2)</vt:lpstr>
      <vt:lpstr>DDI Lessons Learned (3)</vt:lpstr>
      <vt:lpstr>DDI Lessons Learned (4) </vt:lpstr>
      <vt:lpstr>An Interesting Decision: Rules Language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Sprint</dc:title>
  <dc:creator>Therese Lalor</dc:creator>
  <cp:lastModifiedBy>Arofan</cp:lastModifiedBy>
  <cp:revision>172</cp:revision>
  <dcterms:created xsi:type="dcterms:W3CDTF">2013-06-13T05:12:48Z</dcterms:created>
  <dcterms:modified xsi:type="dcterms:W3CDTF">2013-12-03T06:27:28Z</dcterms:modified>
</cp:coreProperties>
</file>