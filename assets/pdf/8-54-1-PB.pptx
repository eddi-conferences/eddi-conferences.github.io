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8" r:id="rId4"/>
    <p:sldId id="259" r:id="rId5"/>
    <p:sldId id="271" r:id="rId6"/>
    <p:sldId id="260" r:id="rId7"/>
    <p:sldId id="261" r:id="rId8"/>
    <p:sldId id="262" r:id="rId9"/>
    <p:sldId id="272" r:id="rId10"/>
    <p:sldId id="263" r:id="rId11"/>
    <p:sldId id="264" r:id="rId12"/>
    <p:sldId id="265" r:id="rId13"/>
    <p:sldId id="266" r:id="rId14"/>
    <p:sldId id="267" r:id="rId15"/>
    <p:sldId id="273" r:id="rId16"/>
    <p:sldId id="268" r:id="rId17"/>
    <p:sldId id="274" r:id="rId18"/>
    <p:sldId id="269" r:id="rId19"/>
    <p:sldId id="275" r:id="rId20"/>
    <p:sldId id="257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5" autoAdjust="0"/>
    <p:restoredTop sz="94630" autoAdjust="0"/>
  </p:normalViewPr>
  <p:slideViewPr>
    <p:cSldViewPr>
      <p:cViewPr varScale="1">
        <p:scale>
          <a:sx n="85" d="100"/>
          <a:sy n="85" d="100"/>
        </p:scale>
        <p:origin x="-84" y="-6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58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w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tietoarkisto_oranssi_viiva.wm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32022" y="4189415"/>
            <a:ext cx="4679954" cy="2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8" descr="tietoarkisto_logo_vaaka_fi_swe_eng.wm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781303" y="5653085"/>
            <a:ext cx="3578220" cy="6953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Placeholder 1"/>
          <p:cNvSpPr txBox="1">
            <a:spLocks noGrp="1"/>
          </p:cNvSpPr>
          <p:nvPr>
            <p:ph type="ctrTitle"/>
          </p:nvPr>
        </p:nvSpPr>
        <p:spPr>
          <a:xfrm>
            <a:off x="1970083" y="3152778"/>
            <a:ext cx="5203822" cy="938210"/>
          </a:xfrm>
        </p:spPr>
        <p:txBody>
          <a:bodyPr anchor="b" anchorCtr="1"/>
          <a:lstStyle>
            <a:lvl1pPr algn="ctr">
              <a:lnSpc>
                <a:spcPts val="3700"/>
              </a:lnSpc>
              <a:defRPr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 txBox="1">
            <a:spLocks noGrp="1"/>
          </p:cNvSpPr>
          <p:nvPr>
            <p:ph type="subTitle" idx="1"/>
          </p:nvPr>
        </p:nvSpPr>
        <p:spPr>
          <a:xfrm>
            <a:off x="2341558" y="4298951"/>
            <a:ext cx="4460872" cy="698501"/>
          </a:xfrm>
        </p:spPr>
        <p:txBody>
          <a:bodyPr anchorCtr="1"/>
          <a:lstStyle>
            <a:lvl1pPr marL="0" indent="0" algn="ctr">
              <a:spcBef>
                <a:spcPts val="400"/>
              </a:spcBef>
              <a:buNone/>
              <a:defRPr sz="1600" b="1" i="1">
                <a:solidFill>
                  <a:srgbClr val="005993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833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i-FI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4C194E-12C3-45A6-A926-4CDCF9B46870}" type="slidenum"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8222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722311" y="4406895"/>
            <a:ext cx="7772400" cy="1362071"/>
          </a:xfrm>
        </p:spPr>
        <p:txBody>
          <a:bodyPr anchor="t"/>
          <a:lstStyle>
            <a:lvl1pPr>
              <a:defRPr sz="4000" cap="all"/>
            </a:lvl1pPr>
          </a:lstStyle>
          <a:p>
            <a:pPr lvl="0"/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722311" y="2906713"/>
            <a:ext cx="7772400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i-FI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2B174D-44D5-4DD9-8ADE-9CD439D11EF6}" type="slidenum"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8209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457200" y="2046290"/>
            <a:ext cx="4038603" cy="3883027"/>
          </a:xfrm>
        </p:spPr>
        <p:txBody>
          <a:bodyPr/>
          <a:lstStyle>
            <a:lvl1pPr>
              <a:spcBef>
                <a:spcPts val="700"/>
              </a:spcBef>
              <a:buSzPts val="1539"/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4648196" y="2046290"/>
            <a:ext cx="4038603" cy="3883027"/>
          </a:xfrm>
        </p:spPr>
        <p:txBody>
          <a:bodyPr/>
          <a:lstStyle>
            <a:lvl1pPr>
              <a:spcBef>
                <a:spcPts val="700"/>
              </a:spcBef>
              <a:buSzPts val="1539"/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i-FI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162D2F-323D-4E8C-8DD6-8B0E577619A3}" type="slidenum"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3280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57200" y="27464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457200" y="2174872"/>
            <a:ext cx="4040184" cy="3951286"/>
          </a:xfrm>
        </p:spPr>
        <p:txBody>
          <a:bodyPr/>
          <a:lstStyle>
            <a:lvl1pPr>
              <a:spcBef>
                <a:spcPts val="600"/>
              </a:spcBef>
              <a:buSzPts val="1320"/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4645023" y="1535113"/>
            <a:ext cx="4041776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idx="4"/>
          </p:nvPr>
        </p:nvSpPr>
        <p:spPr>
          <a:xfrm>
            <a:off x="4645023" y="2174872"/>
            <a:ext cx="4041776" cy="3951286"/>
          </a:xfrm>
        </p:spPr>
        <p:txBody>
          <a:bodyPr/>
          <a:lstStyle>
            <a:lvl1pPr>
              <a:spcBef>
                <a:spcPts val="600"/>
              </a:spcBef>
              <a:buSzPts val="1320"/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Footer Placeholder 6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i-FI"/>
          </a:p>
        </p:txBody>
      </p:sp>
      <p:sp>
        <p:nvSpPr>
          <p:cNvPr id="8" name="Slide Number Placeholder 7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EA3B15A-F46D-40BA-BA2D-078F71675E80}" type="slidenum"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849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i-FI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0769356-AC04-4C9C-AFEE-FC2A7B62CB54}" type="slidenum"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9411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i-FI"/>
          </a:p>
        </p:txBody>
      </p:sp>
      <p:sp>
        <p:nvSpPr>
          <p:cNvPr id="3" name="Slide Number Placeholder 2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25FEBC-1143-48DD-AA42-AC2EA97C1EBE}" type="slidenum"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6609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57200" y="273048"/>
            <a:ext cx="3008311" cy="1162046"/>
          </a:xfrm>
        </p:spPr>
        <p:txBody>
          <a:bodyPr anchor="b"/>
          <a:lstStyle>
            <a:lvl1pPr>
              <a:defRPr sz="2000"/>
            </a:lvl1pPr>
          </a:lstStyle>
          <a:p>
            <a:pPr lvl="0"/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3575047" y="273048"/>
            <a:ext cx="511175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457200" y="1435095"/>
            <a:ext cx="3008311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i-FI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920D14-ACC9-4375-8966-93127D80173C}" type="slidenum"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2927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5"/>
          </a:xfrm>
        </p:spPr>
        <p:txBody>
          <a:bodyPr anchor="b"/>
          <a:lstStyle>
            <a:lvl1pPr>
              <a:defRPr sz="2000"/>
            </a:lvl1pPr>
          </a:lstStyle>
          <a:p>
            <a:pPr lvl="0"/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icon to add picture</a:t>
            </a:r>
            <a:endParaRPr lang="fi-FI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1792288" y="5367335"/>
            <a:ext cx="54864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i-FI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C6C061-19AE-4752-B5D5-CC2E39267314}" type="slidenum"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1947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i-FI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AEF030-5CF8-44C5-B0D8-F8EABDA9D70C}" type="slidenum"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4275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6629400" y="966785"/>
            <a:ext cx="2057400" cy="4962521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457200" y="966785"/>
            <a:ext cx="6019796" cy="4962521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i-FI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E072ADF-0262-4DA1-B5FE-473C5141ECB2}" type="slidenum"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0728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tietoarkisto_logo_vaaka_fi_swe_eng.wmf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215898" y="193679"/>
            <a:ext cx="2208211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Placeholder 1"/>
          <p:cNvSpPr txBox="1">
            <a:spLocks noGrp="1"/>
          </p:cNvSpPr>
          <p:nvPr>
            <p:ph type="title"/>
          </p:nvPr>
        </p:nvSpPr>
        <p:spPr>
          <a:xfrm>
            <a:off x="457200" y="966785"/>
            <a:ext cx="8229600" cy="9477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2"/>
          <p:cNvSpPr txBox="1">
            <a:spLocks noGrp="1"/>
          </p:cNvSpPr>
          <p:nvPr>
            <p:ph type="body" idx="1"/>
          </p:nvPr>
        </p:nvSpPr>
        <p:spPr>
          <a:xfrm>
            <a:off x="457200" y="2046290"/>
            <a:ext cx="8229600" cy="388302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5"/>
          <p:cNvSpPr txBox="1">
            <a:spLocks noGrp="1"/>
          </p:cNvSpPr>
          <p:nvPr>
            <p:ph type="ftr" sz="quarter" idx="3"/>
          </p:nvPr>
        </p:nvSpPr>
        <p:spPr>
          <a:xfrm>
            <a:off x="4483102" y="6500817"/>
            <a:ext cx="4648196" cy="3317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i-FI" sz="1000" b="1" i="0" u="none" strike="noStrike" kern="1200" cap="none" spc="0" baseline="0">
                <a:solidFill>
                  <a:srgbClr val="FFFFFF"/>
                </a:solidFill>
                <a:uFillTx/>
                <a:latin typeface="PT Sans"/>
                <a:ea typeface="MS PGothic"/>
              </a:defRPr>
            </a:lvl1pPr>
          </a:lstStyle>
          <a:p>
            <a:pPr lvl="0"/>
            <a:endParaRPr lang="fi-FI"/>
          </a:p>
        </p:txBody>
      </p:sp>
      <p:sp>
        <p:nvSpPr>
          <p:cNvPr id="6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883402" y="273048"/>
            <a:ext cx="2133596" cy="2555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i-FI" sz="1000" b="0" i="0" u="none" strike="noStrike" kern="1200" cap="none" spc="0" baseline="0">
                <a:solidFill>
                  <a:srgbClr val="969696"/>
                </a:solidFill>
                <a:uFillTx/>
                <a:latin typeface="PT Sans"/>
                <a:ea typeface="MS PGothic"/>
              </a:defRPr>
            </a:lvl1pPr>
          </a:lstStyle>
          <a:p>
            <a:pPr lvl="0"/>
            <a:fld id="{4F2CAF4F-C799-43E7-A33D-31AEE16754C1}" type="slidenum">
              <a:t>‹#›</a:t>
            </a:fld>
            <a:endParaRPr 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marL="0" marR="0" lvl="0" indent="0" algn="l" defTabSz="4572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1" i="0" u="none" strike="noStrike" kern="0" cap="none" spc="0" baseline="0">
          <a:solidFill>
            <a:srgbClr val="009FE3"/>
          </a:solidFill>
          <a:uFillTx/>
          <a:latin typeface="PT Sans"/>
          <a:ea typeface="MS PGothic"/>
        </a:defRPr>
      </a:lvl1pPr>
    </p:titleStyle>
    <p:bodyStyle>
      <a:lvl1pPr marL="342900" marR="0" lvl="0" indent="-342900" algn="l" defTabSz="457200" rtl="0" fontAlgn="auto" hangingPunct="1">
        <a:lnSpc>
          <a:spcPct val="100000"/>
        </a:lnSpc>
        <a:spcBef>
          <a:spcPts val="800"/>
        </a:spcBef>
        <a:spcAft>
          <a:spcPts val="0"/>
        </a:spcAft>
        <a:buSzPts val="1760"/>
        <a:buBlip>
          <a:blip r:embed="rId15"/>
        </a:buBlip>
        <a:tabLst/>
        <a:defRPr lang="en-US" sz="2800" b="0" i="0" u="none" strike="noStrike" kern="0" cap="none" spc="0" baseline="0">
          <a:solidFill>
            <a:srgbClr val="282A30"/>
          </a:solidFill>
          <a:uFillTx/>
          <a:latin typeface="PT Sans"/>
          <a:ea typeface="MS PGothic"/>
        </a:defRPr>
      </a:lvl1pPr>
      <a:lvl2pPr marL="742950" marR="0" lvl="1" indent="-285750" algn="l" defTabSz="4572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90000"/>
        <a:buFont typeface="Arial" pitchFamily="34"/>
        <a:buChar char="•"/>
        <a:tabLst/>
        <a:defRPr lang="en-US" sz="2400" b="0" i="0" u="none" strike="noStrike" kern="0" cap="none" spc="0" baseline="0">
          <a:solidFill>
            <a:srgbClr val="282A30"/>
          </a:solidFill>
          <a:uFillTx/>
          <a:latin typeface="PT Sans"/>
          <a:ea typeface="MS PGothic"/>
        </a:defRPr>
      </a:lvl2pPr>
      <a:lvl3pPr marL="1143000" marR="0" lvl="2" indent="-228600" algn="l" defTabSz="4572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93000"/>
        <a:buFont typeface="Lucida Grande"/>
        <a:buChar char="-"/>
        <a:tabLst/>
        <a:defRPr lang="en-US" sz="2000" b="0" i="0" u="none" strike="noStrike" kern="0" cap="none" spc="0" baseline="0">
          <a:solidFill>
            <a:srgbClr val="282A30"/>
          </a:solidFill>
          <a:uFillTx/>
          <a:latin typeface="PT Sans"/>
          <a:ea typeface="MS PGothic"/>
        </a:defRPr>
      </a:lvl3pPr>
      <a:lvl4pPr marL="1600200" marR="0" lvl="3" indent="-228600" algn="l" defTabSz="4572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Lucida Grande"/>
        <a:buChar char="»"/>
        <a:tabLst/>
        <a:defRPr lang="en-US" sz="1800" b="0" i="0" u="none" strike="noStrike" kern="0" cap="none" spc="0" baseline="0">
          <a:solidFill>
            <a:srgbClr val="282A30"/>
          </a:solidFill>
          <a:uFillTx/>
          <a:latin typeface="PT Sans"/>
          <a:ea typeface="MS PGothic"/>
        </a:defRPr>
      </a:lvl4pPr>
      <a:lvl5pPr marL="2057400" marR="0" lvl="4" indent="-228600" algn="l" defTabSz="4572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PT Sans" pitchFamily="34"/>
        <a:buChar char="­"/>
        <a:tabLst/>
        <a:defRPr lang="en-US" sz="1600" b="0" i="0" u="none" strike="noStrike" kern="0" cap="none" spc="0" baseline="0">
          <a:solidFill>
            <a:srgbClr val="282A30"/>
          </a:solidFill>
          <a:uFillTx/>
          <a:latin typeface="PT Sans"/>
          <a:ea typeface="MS PGothic"/>
        </a:defRPr>
      </a:lvl5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 txBox="1">
            <a:spLocks noGrp="1"/>
          </p:cNvSpPr>
          <p:nvPr>
            <p:ph type="ctrTitle"/>
          </p:nvPr>
        </p:nvSpPr>
        <p:spPr>
          <a:xfrm>
            <a:off x="1970083" y="2132856"/>
            <a:ext cx="5203822" cy="1958132"/>
          </a:xfrm>
        </p:spPr>
        <p:txBody>
          <a:bodyPr anchor="b" anchorCtr="1">
            <a:normAutofit fontScale="90000"/>
          </a:bodyPr>
          <a:lstStyle>
            <a:lvl1pPr algn="ctr">
              <a:lnSpc>
                <a:spcPts val="3700"/>
              </a:lnSpc>
              <a:defRPr/>
            </a:lvl1pPr>
          </a:lstStyle>
          <a:p>
            <a:pPr lvl="0"/>
            <a:r>
              <a:rPr lang="en-US" dirty="0" smtClean="0"/>
              <a:t>Implementing a longitudinal data portal with a customized version of </a:t>
            </a:r>
            <a:r>
              <a:rPr lang="en-US" dirty="0" err="1" smtClean="0"/>
              <a:t>Questasy</a:t>
            </a:r>
            <a:endParaRPr lang="en-US" dirty="0"/>
          </a:p>
        </p:txBody>
      </p:sp>
      <p:sp>
        <p:nvSpPr>
          <p:cNvPr id="4" name="Text Placeholder 2"/>
          <p:cNvSpPr txBox="1">
            <a:spLocks noGrp="1"/>
          </p:cNvSpPr>
          <p:nvPr>
            <p:ph type="subTitle" idx="1"/>
          </p:nvPr>
        </p:nvSpPr>
        <p:spPr>
          <a:xfrm>
            <a:off x="2341558" y="4298951"/>
            <a:ext cx="4460872" cy="698501"/>
          </a:xfrm>
        </p:spPr>
        <p:txBody>
          <a:bodyPr anchorCtr="1">
            <a:normAutofit fontScale="77500" lnSpcReduction="20000"/>
          </a:bodyPr>
          <a:lstStyle>
            <a:lvl1pPr marL="0" indent="0" algn="ctr">
              <a:spcBef>
                <a:spcPts val="400"/>
              </a:spcBef>
              <a:buNone/>
              <a:defRPr sz="1600" b="1" i="1">
                <a:solidFill>
                  <a:srgbClr val="005993"/>
                </a:solidFill>
              </a:defRPr>
            </a:lvl1pPr>
          </a:lstStyle>
          <a:p>
            <a:pPr lvl="0"/>
            <a:r>
              <a:rPr lang="en-US" dirty="0" smtClean="0"/>
              <a:t>EDDI12 – Bergen, Norway</a:t>
            </a:r>
          </a:p>
          <a:p>
            <a:pPr lvl="0"/>
            <a:r>
              <a:rPr lang="en-US" dirty="0" smtClean="0"/>
              <a:t>4.12.2012</a:t>
            </a:r>
          </a:p>
          <a:p>
            <a:pPr lvl="0"/>
            <a:r>
              <a:rPr lang="en-US" dirty="0" smtClean="0"/>
              <a:t>Toni </a:t>
            </a:r>
            <a:r>
              <a:rPr lang="en-US" dirty="0" err="1" smtClean="0"/>
              <a:t>Sissala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 err="1" smtClean="0"/>
              <a:t>Requirement</a:t>
            </a:r>
            <a:endParaRPr lang="fi-FI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3762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Requirement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sz="2400" dirty="0" err="1" smtClean="0"/>
              <a:t>Longitudinal</a:t>
            </a:r>
            <a:r>
              <a:rPr lang="fi-FI" sz="2400" dirty="0" smtClean="0"/>
              <a:t> data </a:t>
            </a:r>
            <a:r>
              <a:rPr lang="fi-FI" sz="2400" dirty="0" err="1" smtClean="0"/>
              <a:t>portal</a:t>
            </a:r>
            <a:r>
              <a:rPr lang="fi-FI" sz="2400" dirty="0" smtClean="0"/>
              <a:t> </a:t>
            </a:r>
            <a:r>
              <a:rPr lang="fi-FI" sz="2400" dirty="0" err="1" smtClean="0"/>
              <a:t>consisting</a:t>
            </a:r>
            <a:r>
              <a:rPr lang="fi-FI" sz="2400" dirty="0" smtClean="0"/>
              <a:t> of </a:t>
            </a:r>
            <a:r>
              <a:rPr lang="fi-FI" sz="2400" dirty="0" err="1" smtClean="0"/>
              <a:t>periodically</a:t>
            </a:r>
            <a:r>
              <a:rPr lang="fi-FI" sz="2400" dirty="0" smtClean="0"/>
              <a:t> </a:t>
            </a:r>
            <a:r>
              <a:rPr lang="fi-FI" sz="2400" dirty="0" err="1" smtClean="0"/>
              <a:t>collected</a:t>
            </a:r>
            <a:r>
              <a:rPr lang="fi-FI" sz="2400" dirty="0" smtClean="0"/>
              <a:t> </a:t>
            </a:r>
            <a:r>
              <a:rPr lang="fi-FI" sz="2400" dirty="0" err="1" smtClean="0"/>
              <a:t>variable-level</a:t>
            </a:r>
            <a:r>
              <a:rPr lang="fi-FI" sz="2400" dirty="0" smtClean="0"/>
              <a:t> metadata.</a:t>
            </a:r>
          </a:p>
          <a:p>
            <a:pPr lvl="1"/>
            <a:r>
              <a:rPr lang="fi-FI" dirty="0"/>
              <a:t>Web </a:t>
            </a:r>
            <a:r>
              <a:rPr lang="fi-FI" dirty="0" err="1"/>
              <a:t>application</a:t>
            </a:r>
            <a:r>
              <a:rPr lang="fi-FI" dirty="0"/>
              <a:t>.</a:t>
            </a:r>
          </a:p>
          <a:p>
            <a:pPr lvl="1"/>
            <a:r>
              <a:rPr lang="fi-FI" dirty="0" err="1"/>
              <a:t>Supports</a:t>
            </a:r>
            <a:r>
              <a:rPr lang="fi-FI" dirty="0"/>
              <a:t> DDI.</a:t>
            </a:r>
          </a:p>
          <a:p>
            <a:pPr lvl="1"/>
            <a:r>
              <a:rPr lang="fi-FI" dirty="0" err="1" smtClean="0"/>
              <a:t>Helps</a:t>
            </a:r>
            <a:r>
              <a:rPr lang="fi-FI" dirty="0" smtClean="0"/>
              <a:t> </a:t>
            </a:r>
            <a:r>
              <a:rPr lang="fi-FI" dirty="0" err="1" smtClean="0"/>
              <a:t>researchers</a:t>
            </a:r>
            <a:r>
              <a:rPr lang="fi-FI" dirty="0" smtClean="0"/>
              <a:t> </a:t>
            </a:r>
            <a:r>
              <a:rPr lang="fi-FI" dirty="0" err="1" smtClean="0"/>
              <a:t>find</a:t>
            </a:r>
            <a:r>
              <a:rPr lang="fi-FI" dirty="0" smtClean="0"/>
              <a:t>, </a:t>
            </a:r>
            <a:r>
              <a:rPr lang="fi-FI" dirty="0" err="1" smtClean="0"/>
              <a:t>acquire</a:t>
            </a:r>
            <a:r>
              <a:rPr lang="fi-FI" dirty="0" smtClean="0"/>
              <a:t> and </a:t>
            </a:r>
            <a:r>
              <a:rPr lang="fi-FI" dirty="0" err="1" smtClean="0"/>
              <a:t>deposit</a:t>
            </a:r>
            <a:r>
              <a:rPr lang="fi-FI" dirty="0" smtClean="0"/>
              <a:t> data.</a:t>
            </a:r>
            <a:endParaRPr lang="fi-FI" sz="2000" dirty="0" smtClean="0"/>
          </a:p>
          <a:p>
            <a:r>
              <a:rPr lang="fi-FI" dirty="0" err="1"/>
              <a:t>Implemented</a:t>
            </a:r>
            <a:r>
              <a:rPr lang="fi-FI" dirty="0"/>
              <a:t> as a </a:t>
            </a:r>
            <a:r>
              <a:rPr lang="fi-FI" dirty="0" err="1"/>
              <a:t>part</a:t>
            </a:r>
            <a:r>
              <a:rPr lang="fi-FI" dirty="0"/>
              <a:t> of a </a:t>
            </a:r>
            <a:r>
              <a:rPr lang="fi-FI" dirty="0" err="1"/>
              <a:t>five-year</a:t>
            </a:r>
            <a:r>
              <a:rPr lang="fi-FI" dirty="0"/>
              <a:t> </a:t>
            </a:r>
            <a:r>
              <a:rPr lang="fi-FI" dirty="0" err="1"/>
              <a:t>project</a:t>
            </a:r>
            <a:r>
              <a:rPr lang="fi-FI" dirty="0"/>
              <a:t> </a:t>
            </a:r>
            <a:r>
              <a:rPr lang="fi-FI" i="1" dirty="0" err="1"/>
              <a:t>FSD-Upgrade</a:t>
            </a:r>
            <a:endParaRPr lang="fi-FI" dirty="0"/>
          </a:p>
          <a:p>
            <a:r>
              <a:rPr lang="fi-FI" sz="2400" dirty="0" err="1" smtClean="0"/>
              <a:t>Relieves</a:t>
            </a:r>
            <a:r>
              <a:rPr lang="fi-FI" sz="2400" dirty="0" smtClean="0"/>
              <a:t> the </a:t>
            </a:r>
            <a:r>
              <a:rPr lang="fi-FI" sz="2400" dirty="0" err="1" smtClean="0"/>
              <a:t>workload</a:t>
            </a:r>
            <a:r>
              <a:rPr lang="fi-FI" sz="2400" dirty="0" smtClean="0"/>
              <a:t> of </a:t>
            </a:r>
            <a:r>
              <a:rPr lang="fi-FI" sz="2400" dirty="0" err="1" smtClean="0"/>
              <a:t>our</a:t>
            </a:r>
            <a:r>
              <a:rPr lang="fi-FI" sz="2400" dirty="0" smtClean="0"/>
              <a:t> </a:t>
            </a:r>
            <a:r>
              <a:rPr lang="fi-FI" sz="2400" dirty="0" err="1" smtClean="0"/>
              <a:t>user</a:t>
            </a:r>
            <a:r>
              <a:rPr lang="fi-FI" sz="2400" dirty="0" smtClean="0"/>
              <a:t> </a:t>
            </a:r>
            <a:r>
              <a:rPr lang="fi-FI" sz="2400" dirty="0" err="1" smtClean="0"/>
              <a:t>services</a:t>
            </a:r>
            <a:r>
              <a:rPr lang="fi-FI" sz="2400" dirty="0"/>
              <a:t> </a:t>
            </a:r>
            <a:r>
              <a:rPr lang="fi-FI" sz="2400" dirty="0" err="1" smtClean="0"/>
              <a:t>by</a:t>
            </a:r>
            <a:r>
              <a:rPr lang="fi-FI" sz="2400" dirty="0" smtClean="0"/>
              <a:t> </a:t>
            </a:r>
            <a:r>
              <a:rPr lang="fi-FI" sz="2400" dirty="0" err="1" smtClean="0"/>
              <a:t>consolidating</a:t>
            </a:r>
            <a:r>
              <a:rPr lang="fi-FI" sz="2400" dirty="0" smtClean="0"/>
              <a:t> </a:t>
            </a:r>
            <a:r>
              <a:rPr lang="fi-FI" sz="2400" dirty="0" err="1" smtClean="0"/>
              <a:t>electronic</a:t>
            </a:r>
            <a:r>
              <a:rPr lang="fi-FI" sz="2400" dirty="0" smtClean="0"/>
              <a:t> </a:t>
            </a:r>
            <a:r>
              <a:rPr lang="fi-FI" sz="2400" dirty="0" err="1" smtClean="0"/>
              <a:t>dissemination</a:t>
            </a:r>
            <a:r>
              <a:rPr lang="fi-FI" sz="2400" dirty="0" smtClean="0"/>
              <a:t> of data.</a:t>
            </a:r>
          </a:p>
        </p:txBody>
      </p:sp>
    </p:spTree>
    <p:extLst>
      <p:ext uri="{BB962C8B-B14F-4D97-AF65-F5344CB8AC3E}">
        <p14:creationId xmlns:p14="http://schemas.microsoft.com/office/powerpoint/2010/main" val="272464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Search</a:t>
            </a:r>
            <a:r>
              <a:rPr lang="fi-FI" dirty="0"/>
              <a:t> </a:t>
            </a:r>
            <a:r>
              <a:rPr lang="fi-FI" dirty="0" err="1"/>
              <a:t>engine</a:t>
            </a:r>
            <a:r>
              <a:rPr lang="fi-FI" dirty="0"/>
              <a:t> </a:t>
            </a:r>
            <a:r>
              <a:rPr lang="fi-FI" dirty="0" err="1"/>
              <a:t>capable</a:t>
            </a:r>
            <a:r>
              <a:rPr lang="fi-FI" dirty="0"/>
              <a:t> of </a:t>
            </a:r>
            <a:r>
              <a:rPr lang="fi-FI" dirty="0" err="1"/>
              <a:t>indexing</a:t>
            </a:r>
            <a:r>
              <a:rPr lang="fi-FI" dirty="0"/>
              <a:t> </a:t>
            </a:r>
            <a:r>
              <a:rPr lang="fi-FI" dirty="0" err="1"/>
              <a:t>variable-level</a:t>
            </a:r>
            <a:r>
              <a:rPr lang="fi-FI" dirty="0"/>
              <a:t> data</a:t>
            </a:r>
          </a:p>
          <a:p>
            <a:pPr lvl="0"/>
            <a:r>
              <a:rPr lang="en-US" dirty="0"/>
              <a:t>View showing sequences, means and other statistical measures at variable level</a:t>
            </a:r>
            <a:endParaRPr lang="fi-FI" dirty="0"/>
          </a:p>
          <a:p>
            <a:pPr lvl="0"/>
            <a:r>
              <a:rPr lang="en-US" dirty="0"/>
              <a:t>Login system integrated to FSDs single-sign-on system</a:t>
            </a:r>
            <a:endParaRPr lang="fi-FI" dirty="0"/>
          </a:p>
          <a:p>
            <a:pPr lvl="0"/>
            <a:r>
              <a:rPr lang="en-US" dirty="0"/>
              <a:t>Possibility to manage user roles and ACLs</a:t>
            </a:r>
            <a:endParaRPr lang="fi-FI" dirty="0"/>
          </a:p>
          <a:p>
            <a:pPr lvl="0"/>
            <a:r>
              <a:rPr lang="en-US" dirty="0"/>
              <a:t>Finding out how a question text differs across waves</a:t>
            </a:r>
            <a:endParaRPr lang="fi-FI" dirty="0"/>
          </a:p>
          <a:p>
            <a:pPr lvl="0"/>
            <a:r>
              <a:rPr lang="en-US" dirty="0"/>
              <a:t>FSD should be able to administer and uphold the system without the need for outside assistance</a:t>
            </a:r>
            <a:endParaRPr lang="fi-FI" dirty="0"/>
          </a:p>
          <a:p>
            <a:pPr lvl="0"/>
            <a:r>
              <a:rPr lang="en-US" dirty="0"/>
              <a:t>FSD should be able to customize the system</a:t>
            </a:r>
            <a:endParaRPr lang="fi-FI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966785"/>
            <a:ext cx="8229600" cy="947739"/>
          </a:xfrm>
        </p:spPr>
        <p:txBody>
          <a:bodyPr/>
          <a:lstStyle/>
          <a:p>
            <a:r>
              <a:rPr lang="fi-FI" dirty="0" err="1" smtClean="0"/>
              <a:t>Requirement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5244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 smtClean="0"/>
              <a:t>Evaluation</a:t>
            </a:r>
            <a:endParaRPr lang="fi-FI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0425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Evaluation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already developed by the DDI community</a:t>
            </a:r>
          </a:p>
          <a:p>
            <a:pPr lvl="1"/>
            <a:r>
              <a:rPr lang="en-US" dirty="0"/>
              <a:t>As reference,</a:t>
            </a:r>
          </a:p>
          <a:p>
            <a:pPr lvl="1"/>
            <a:r>
              <a:rPr lang="en-US" dirty="0"/>
              <a:t>be applicable through customization</a:t>
            </a:r>
          </a:p>
          <a:p>
            <a:pPr lvl="1"/>
            <a:r>
              <a:rPr lang="en-US" dirty="0"/>
              <a:t>or fully implemented with minor </a:t>
            </a:r>
            <a:r>
              <a:rPr lang="en-US" dirty="0" smtClean="0"/>
              <a:t>changes.</a:t>
            </a:r>
            <a:endParaRPr lang="en-US" dirty="0"/>
          </a:p>
          <a:p>
            <a:pPr lvl="1"/>
            <a:r>
              <a:rPr lang="en-US" dirty="0"/>
              <a:t>License should allow modifications</a:t>
            </a:r>
          </a:p>
          <a:p>
            <a:r>
              <a:rPr lang="en-US" dirty="0"/>
              <a:t>Building our own system vs. customizing an existing one</a:t>
            </a:r>
          </a:p>
          <a:p>
            <a:pPr lvl="1"/>
            <a:r>
              <a:rPr lang="en-US" dirty="0"/>
              <a:t>Customizable software has benefits:</a:t>
            </a:r>
          </a:p>
          <a:p>
            <a:pPr lvl="2"/>
            <a:r>
              <a:rPr lang="en-US" dirty="0"/>
              <a:t>easy to evaluate against use cases</a:t>
            </a:r>
          </a:p>
          <a:p>
            <a:pPr lvl="2"/>
            <a:r>
              <a:rPr lang="en-US" dirty="0"/>
              <a:t>we could develop additional functionality</a:t>
            </a:r>
          </a:p>
          <a:p>
            <a:pPr lvl="2"/>
            <a:r>
              <a:rPr lang="en-US" dirty="0"/>
              <a:t>saves the time and effort required to build a system from scratch</a:t>
            </a:r>
          </a:p>
        </p:txBody>
      </p:sp>
    </p:spTree>
    <p:extLst>
      <p:ext uri="{BB962C8B-B14F-4D97-AF65-F5344CB8AC3E}">
        <p14:creationId xmlns:p14="http://schemas.microsoft.com/office/powerpoint/2010/main" val="386751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Evaluation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 smtClean="0"/>
              <a:t>Questasy</a:t>
            </a:r>
            <a:r>
              <a:rPr lang="fi-FI" dirty="0" smtClean="0"/>
              <a:t> – a </a:t>
            </a:r>
            <a:r>
              <a:rPr lang="fi-FI" dirty="0" err="1" smtClean="0"/>
              <a:t>web</a:t>
            </a:r>
            <a:r>
              <a:rPr lang="fi-FI" dirty="0" smtClean="0"/>
              <a:t> </a:t>
            </a:r>
            <a:r>
              <a:rPr lang="fi-FI" dirty="0" err="1" smtClean="0"/>
              <a:t>application</a:t>
            </a:r>
            <a:r>
              <a:rPr lang="fi-FI" dirty="0" smtClean="0"/>
              <a:t> </a:t>
            </a:r>
            <a:r>
              <a:rPr lang="fi-FI" dirty="0" err="1" smtClean="0"/>
              <a:t>developed</a:t>
            </a:r>
            <a:r>
              <a:rPr lang="fi-FI" dirty="0" smtClean="0"/>
              <a:t> </a:t>
            </a:r>
            <a:r>
              <a:rPr lang="fi-FI" dirty="0" err="1" smtClean="0"/>
              <a:t>by</a:t>
            </a:r>
            <a:r>
              <a:rPr lang="fi-FI" dirty="0" smtClean="0"/>
              <a:t> </a:t>
            </a:r>
            <a:r>
              <a:rPr lang="fi-FI" dirty="0" err="1" smtClean="0"/>
              <a:t>CentERdata</a:t>
            </a:r>
            <a:endParaRPr lang="fi-FI" dirty="0" smtClean="0"/>
          </a:p>
          <a:p>
            <a:pPr lvl="1"/>
            <a:r>
              <a:rPr lang="en-US" dirty="0"/>
              <a:t>facilitates access to metadata collected within longitudinal </a:t>
            </a:r>
            <a:r>
              <a:rPr lang="en-US" dirty="0" smtClean="0"/>
              <a:t>studies</a:t>
            </a:r>
          </a:p>
          <a:p>
            <a:pPr lvl="1"/>
            <a:r>
              <a:rPr lang="en-US" dirty="0"/>
              <a:t>database </a:t>
            </a:r>
            <a:r>
              <a:rPr lang="en-US" dirty="0" smtClean="0"/>
              <a:t>model is </a:t>
            </a:r>
            <a:r>
              <a:rPr lang="en-US" dirty="0"/>
              <a:t>based on </a:t>
            </a:r>
            <a:r>
              <a:rPr lang="en-US" dirty="0" smtClean="0"/>
              <a:t>DDI</a:t>
            </a:r>
          </a:p>
          <a:p>
            <a:pPr lvl="1"/>
            <a:r>
              <a:rPr lang="en-US" dirty="0"/>
              <a:t>offers a way to link variables between </a:t>
            </a:r>
            <a:r>
              <a:rPr lang="en-US" dirty="0" smtClean="0"/>
              <a:t>waves </a:t>
            </a:r>
            <a:r>
              <a:rPr lang="en-US" dirty="0"/>
              <a:t>of the </a:t>
            </a:r>
            <a:r>
              <a:rPr lang="en-US" dirty="0" smtClean="0"/>
              <a:t>studies</a:t>
            </a:r>
          </a:p>
          <a:p>
            <a:pPr lvl="1"/>
            <a:r>
              <a:rPr lang="en-US" dirty="0" smtClean="0"/>
              <a:t>free software, license allows modifications</a:t>
            </a:r>
          </a:p>
          <a:p>
            <a:pPr lvl="1"/>
            <a:r>
              <a:rPr lang="en-US" dirty="0" smtClean="0"/>
              <a:t>actively developed by </a:t>
            </a:r>
            <a:r>
              <a:rPr lang="en-US" dirty="0" err="1" smtClean="0"/>
              <a:t>CentERdata</a:t>
            </a:r>
            <a:endParaRPr lang="fi-FI" dirty="0" smtClean="0"/>
          </a:p>
        </p:txBody>
      </p:sp>
    </p:spTree>
    <p:extLst>
      <p:ext uri="{BB962C8B-B14F-4D97-AF65-F5344CB8AC3E}">
        <p14:creationId xmlns:p14="http://schemas.microsoft.com/office/powerpoint/2010/main" val="94008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Additional</a:t>
            </a:r>
            <a:r>
              <a:rPr lang="fi-FI" dirty="0"/>
              <a:t> </a:t>
            </a:r>
            <a:r>
              <a:rPr lang="fi-FI" dirty="0" err="1"/>
              <a:t>benefits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Questasy</a:t>
            </a:r>
            <a:r>
              <a:rPr lang="fi-FI" dirty="0"/>
              <a:t>:</a:t>
            </a:r>
          </a:p>
          <a:p>
            <a:pPr lvl="1"/>
            <a:r>
              <a:rPr lang="fi-FI" dirty="0" err="1"/>
              <a:t>Browse</a:t>
            </a:r>
            <a:r>
              <a:rPr lang="fi-FI" dirty="0"/>
              <a:t> and </a:t>
            </a:r>
            <a:r>
              <a:rPr lang="fi-FI" dirty="0" err="1"/>
              <a:t>categorize</a:t>
            </a:r>
            <a:r>
              <a:rPr lang="fi-FI" dirty="0"/>
              <a:t> </a:t>
            </a:r>
            <a:r>
              <a:rPr lang="fi-FI" dirty="0" err="1"/>
              <a:t>study</a:t>
            </a:r>
            <a:r>
              <a:rPr lang="fi-FI" dirty="0"/>
              <a:t> </a:t>
            </a:r>
            <a:r>
              <a:rPr lang="fi-FI" dirty="0" err="1"/>
              <a:t>elements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:</a:t>
            </a:r>
          </a:p>
          <a:p>
            <a:pPr lvl="2"/>
            <a:r>
              <a:rPr lang="fi-FI" dirty="0" err="1"/>
              <a:t>topics</a:t>
            </a:r>
            <a:r>
              <a:rPr lang="fi-FI" dirty="0"/>
              <a:t> </a:t>
            </a:r>
            <a:r>
              <a:rPr lang="fi-FI" dirty="0" err="1"/>
              <a:t>associated</a:t>
            </a:r>
            <a:r>
              <a:rPr lang="fi-FI" dirty="0"/>
              <a:t> with </a:t>
            </a:r>
            <a:r>
              <a:rPr lang="fi-FI" dirty="0" err="1"/>
              <a:t>studies</a:t>
            </a:r>
            <a:endParaRPr lang="en-US" dirty="0"/>
          </a:p>
          <a:p>
            <a:pPr lvl="2"/>
            <a:r>
              <a:rPr lang="en-US" dirty="0"/>
              <a:t>concepts associated with variables</a:t>
            </a:r>
          </a:p>
          <a:p>
            <a:pPr lvl="1"/>
            <a:r>
              <a:rPr lang="en-US" dirty="0"/>
              <a:t>Access Control Lists – limit access for each action per user role</a:t>
            </a:r>
          </a:p>
          <a:p>
            <a:r>
              <a:rPr lang="en-US" dirty="0"/>
              <a:t>Conclusion: </a:t>
            </a:r>
            <a:r>
              <a:rPr lang="fi-FI" dirty="0"/>
              <a:t>FSD </a:t>
            </a:r>
            <a:r>
              <a:rPr lang="fi-FI" dirty="0" err="1"/>
              <a:t>will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using</a:t>
            </a:r>
            <a:r>
              <a:rPr lang="fi-FI" dirty="0"/>
              <a:t> </a:t>
            </a:r>
            <a:r>
              <a:rPr lang="fi-FI" dirty="0" err="1"/>
              <a:t>Questasy</a:t>
            </a:r>
            <a:r>
              <a:rPr lang="fi-FI" dirty="0"/>
              <a:t> as a </a:t>
            </a:r>
            <a:r>
              <a:rPr lang="fi-FI" dirty="0" err="1"/>
              <a:t>platform</a:t>
            </a:r>
            <a:r>
              <a:rPr lang="fi-FI" dirty="0"/>
              <a:t> on </a:t>
            </a:r>
            <a:r>
              <a:rPr lang="fi-FI" dirty="0" err="1"/>
              <a:t>which</a:t>
            </a:r>
            <a:r>
              <a:rPr lang="fi-FI" dirty="0"/>
              <a:t> to </a:t>
            </a:r>
            <a:r>
              <a:rPr lang="fi-FI" dirty="0" err="1"/>
              <a:t>base</a:t>
            </a:r>
            <a:r>
              <a:rPr lang="fi-FI" dirty="0"/>
              <a:t> the </a:t>
            </a:r>
            <a:r>
              <a:rPr lang="fi-FI" dirty="0" err="1"/>
              <a:t>longitudinal</a:t>
            </a:r>
            <a:r>
              <a:rPr lang="fi-FI" dirty="0"/>
              <a:t> </a:t>
            </a:r>
            <a:r>
              <a:rPr lang="fi-FI" dirty="0" err="1"/>
              <a:t>portal</a:t>
            </a:r>
            <a:endParaRPr lang="fi-FI" dirty="0"/>
          </a:p>
          <a:p>
            <a:pPr lvl="1"/>
            <a:r>
              <a:rPr lang="fi-FI" dirty="0" err="1"/>
              <a:t>Some</a:t>
            </a:r>
            <a:r>
              <a:rPr lang="fi-FI" dirty="0"/>
              <a:t> </a:t>
            </a:r>
            <a:r>
              <a:rPr lang="fi-FI" dirty="0" err="1"/>
              <a:t>customization</a:t>
            </a:r>
            <a:r>
              <a:rPr lang="fi-FI" dirty="0"/>
              <a:t> </a:t>
            </a:r>
            <a:r>
              <a:rPr lang="fi-FI" dirty="0" err="1"/>
              <a:t>required</a:t>
            </a:r>
            <a:endParaRPr lang="fi-FI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966785"/>
            <a:ext cx="8229600" cy="947739"/>
          </a:xfrm>
        </p:spPr>
        <p:txBody>
          <a:bodyPr/>
          <a:lstStyle/>
          <a:p>
            <a:r>
              <a:rPr lang="fi-FI" dirty="0" smtClean="0"/>
              <a:t>Evaluation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9914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 err="1" smtClean="0"/>
              <a:t>Development</a:t>
            </a:r>
            <a:endParaRPr lang="fi-FI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4522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Development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 smtClean="0"/>
              <a:t>It</a:t>
            </a:r>
            <a:r>
              <a:rPr lang="fi-FI" dirty="0" smtClean="0"/>
              <a:t> </a:t>
            </a:r>
            <a:r>
              <a:rPr lang="fi-FI" dirty="0" err="1" smtClean="0"/>
              <a:t>was</a:t>
            </a:r>
            <a:r>
              <a:rPr lang="fi-FI" dirty="0" smtClean="0"/>
              <a:t> </a:t>
            </a:r>
            <a:r>
              <a:rPr lang="fi-FI" dirty="0" err="1" smtClean="0"/>
              <a:t>already</a:t>
            </a:r>
            <a:r>
              <a:rPr lang="fi-FI" dirty="0" smtClean="0"/>
              <a:t> </a:t>
            </a:r>
            <a:r>
              <a:rPr lang="fi-FI" dirty="0" err="1" smtClean="0"/>
              <a:t>decided</a:t>
            </a:r>
            <a:r>
              <a:rPr lang="fi-FI" dirty="0" smtClean="0"/>
              <a:t> </a:t>
            </a:r>
            <a:r>
              <a:rPr lang="fi-FI" dirty="0" err="1" smtClean="0"/>
              <a:t>that</a:t>
            </a:r>
            <a:r>
              <a:rPr lang="fi-FI" dirty="0" smtClean="0"/>
              <a:t> </a:t>
            </a:r>
            <a:r>
              <a:rPr lang="fi-FI" dirty="0" err="1" smtClean="0"/>
              <a:t>we</a:t>
            </a:r>
            <a:r>
              <a:rPr lang="fi-FI" dirty="0" smtClean="0"/>
              <a:t> </a:t>
            </a:r>
            <a:r>
              <a:rPr lang="fi-FI" dirty="0" err="1" smtClean="0"/>
              <a:t>would</a:t>
            </a:r>
            <a:endParaRPr lang="fi-FI" dirty="0" smtClean="0"/>
          </a:p>
          <a:p>
            <a:pPr lvl="1"/>
            <a:r>
              <a:rPr lang="fi-FI" dirty="0" err="1" smtClean="0"/>
              <a:t>brand</a:t>
            </a:r>
            <a:r>
              <a:rPr lang="fi-FI" dirty="0" smtClean="0"/>
              <a:t> the layout of the software to </a:t>
            </a:r>
            <a:r>
              <a:rPr lang="fi-FI" dirty="0" err="1" smtClean="0"/>
              <a:t>reflect</a:t>
            </a:r>
            <a:r>
              <a:rPr lang="fi-FI" dirty="0" smtClean="0"/>
              <a:t> the look of </a:t>
            </a:r>
            <a:r>
              <a:rPr lang="fi-FI" dirty="0" err="1" smtClean="0"/>
              <a:t>our</a:t>
            </a:r>
            <a:r>
              <a:rPr lang="fi-FI" dirty="0" smtClean="0"/>
              <a:t> </a:t>
            </a:r>
            <a:r>
              <a:rPr lang="fi-FI" dirty="0" err="1" smtClean="0"/>
              <a:t>homepage</a:t>
            </a:r>
            <a:endParaRPr lang="fi-FI" dirty="0" smtClean="0"/>
          </a:p>
          <a:p>
            <a:pPr lvl="1"/>
            <a:r>
              <a:rPr lang="fi-FI" dirty="0" err="1"/>
              <a:t>t</a:t>
            </a:r>
            <a:r>
              <a:rPr lang="fi-FI" dirty="0" err="1" smtClean="0"/>
              <a:t>ranslate</a:t>
            </a:r>
            <a:r>
              <a:rPr lang="fi-FI" dirty="0" smtClean="0"/>
              <a:t> the </a:t>
            </a:r>
            <a:r>
              <a:rPr lang="fi-FI" dirty="0" err="1" smtClean="0"/>
              <a:t>user</a:t>
            </a:r>
            <a:r>
              <a:rPr lang="fi-FI" dirty="0" smtClean="0"/>
              <a:t> </a:t>
            </a:r>
            <a:r>
              <a:rPr lang="fi-FI" dirty="0" err="1" smtClean="0"/>
              <a:t>interface</a:t>
            </a:r>
            <a:r>
              <a:rPr lang="fi-FI" dirty="0" smtClean="0"/>
              <a:t> to </a:t>
            </a:r>
            <a:r>
              <a:rPr lang="fi-FI" dirty="0" err="1" smtClean="0"/>
              <a:t>Finnish</a:t>
            </a:r>
            <a:r>
              <a:rPr lang="fi-FI" dirty="0" smtClean="0"/>
              <a:t>.</a:t>
            </a:r>
          </a:p>
          <a:p>
            <a:r>
              <a:rPr lang="fi-FI" dirty="0" err="1" smtClean="0"/>
              <a:t>Additional</a:t>
            </a:r>
            <a:r>
              <a:rPr lang="fi-FI" dirty="0" smtClean="0"/>
              <a:t> </a:t>
            </a:r>
            <a:r>
              <a:rPr lang="fi-FI" dirty="0" err="1" smtClean="0"/>
              <a:t>reviews</a:t>
            </a:r>
            <a:r>
              <a:rPr lang="fi-FI" dirty="0" smtClean="0"/>
              <a:t> to </a:t>
            </a:r>
            <a:r>
              <a:rPr lang="fi-FI" dirty="0" err="1" smtClean="0"/>
              <a:t>find</a:t>
            </a:r>
            <a:r>
              <a:rPr lang="fi-FI" dirty="0" smtClean="0"/>
              <a:t> out </a:t>
            </a:r>
            <a:r>
              <a:rPr lang="fi-FI" dirty="0" err="1" smtClean="0"/>
              <a:t>if</a:t>
            </a:r>
            <a:r>
              <a:rPr lang="fi-FI" dirty="0" smtClean="0"/>
              <a:t> </a:t>
            </a:r>
            <a:r>
              <a:rPr lang="fi-FI" dirty="0" err="1" smtClean="0"/>
              <a:t>there</a:t>
            </a:r>
            <a:r>
              <a:rPr lang="fi-FI" dirty="0" smtClean="0"/>
              <a:t> </a:t>
            </a:r>
            <a:r>
              <a:rPr lang="fi-FI" dirty="0" err="1" smtClean="0"/>
              <a:t>are</a:t>
            </a:r>
            <a:r>
              <a:rPr lang="fi-FI" dirty="0" smtClean="0"/>
              <a:t> </a:t>
            </a:r>
            <a:r>
              <a:rPr lang="fi-FI" dirty="0" err="1" smtClean="0"/>
              <a:t>any</a:t>
            </a:r>
            <a:r>
              <a:rPr lang="fi-FI" dirty="0" smtClean="0"/>
              <a:t> </a:t>
            </a:r>
            <a:r>
              <a:rPr lang="fi-FI" dirty="0" err="1" smtClean="0"/>
              <a:t>issues</a:t>
            </a:r>
            <a:r>
              <a:rPr lang="fi-FI" dirty="0" smtClean="0"/>
              <a:t> </a:t>
            </a:r>
            <a:r>
              <a:rPr lang="en-US" dirty="0"/>
              <a:t>in the software regarding the functions and principals it </a:t>
            </a:r>
            <a:r>
              <a:rPr lang="en-US" dirty="0" smtClean="0"/>
              <a:t>upholds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9800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Development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3883027"/>
          </a:xfrm>
        </p:spPr>
        <p:txBody>
          <a:bodyPr/>
          <a:lstStyle/>
          <a:p>
            <a:r>
              <a:rPr lang="fi-FI" dirty="0" err="1" smtClean="0"/>
              <a:t>Questasy</a:t>
            </a:r>
            <a:r>
              <a:rPr lang="fi-FI" dirty="0" smtClean="0"/>
              <a:t> </a:t>
            </a:r>
            <a:r>
              <a:rPr lang="fi-FI" dirty="0" err="1" smtClean="0"/>
              <a:t>has</a:t>
            </a:r>
            <a:r>
              <a:rPr lang="fi-FI" dirty="0" smtClean="0"/>
              <a:t> an </a:t>
            </a:r>
            <a:r>
              <a:rPr lang="fi-FI" dirty="0" err="1" smtClean="0"/>
              <a:t>importer</a:t>
            </a:r>
            <a:r>
              <a:rPr lang="fi-FI" dirty="0" smtClean="0"/>
              <a:t> for </a:t>
            </a:r>
            <a:r>
              <a:rPr lang="fi-FI" dirty="0" err="1" smtClean="0"/>
              <a:t>variables</a:t>
            </a:r>
            <a:endParaRPr lang="fi-FI" dirty="0" smtClean="0"/>
          </a:p>
          <a:p>
            <a:pPr lvl="1"/>
            <a:r>
              <a:rPr lang="fi-FI" dirty="0" err="1" smtClean="0"/>
              <a:t>Imports</a:t>
            </a:r>
            <a:r>
              <a:rPr lang="fi-FI" dirty="0" smtClean="0"/>
              <a:t> </a:t>
            </a:r>
            <a:r>
              <a:rPr lang="fi-FI" dirty="0" err="1" smtClean="0"/>
              <a:t>OMS-files</a:t>
            </a:r>
            <a:r>
              <a:rPr lang="fi-FI" dirty="0" smtClean="0"/>
              <a:t> </a:t>
            </a:r>
            <a:r>
              <a:rPr lang="fi-FI" dirty="0" err="1" smtClean="0"/>
              <a:t>that</a:t>
            </a:r>
            <a:r>
              <a:rPr lang="fi-FI" dirty="0" smtClean="0"/>
              <a:t> </a:t>
            </a:r>
            <a:r>
              <a:rPr lang="fi-FI" dirty="0" err="1" smtClean="0"/>
              <a:t>can</a:t>
            </a:r>
            <a:r>
              <a:rPr lang="fi-FI" dirty="0" smtClean="0"/>
              <a:t> </a:t>
            </a:r>
            <a:r>
              <a:rPr lang="fi-FI" dirty="0" err="1" smtClean="0"/>
              <a:t>be</a:t>
            </a:r>
            <a:r>
              <a:rPr lang="fi-FI" dirty="0" smtClean="0"/>
              <a:t> </a:t>
            </a:r>
            <a:r>
              <a:rPr lang="fi-FI" dirty="0" err="1" smtClean="0"/>
              <a:t>exported</a:t>
            </a:r>
            <a:r>
              <a:rPr lang="fi-FI" dirty="0" smtClean="0"/>
              <a:t> </a:t>
            </a:r>
            <a:r>
              <a:rPr lang="fi-FI" dirty="0" err="1" smtClean="0"/>
              <a:t>from</a:t>
            </a:r>
            <a:r>
              <a:rPr lang="fi-FI" dirty="0" smtClean="0"/>
              <a:t> SPSS</a:t>
            </a:r>
          </a:p>
          <a:p>
            <a:pPr lvl="1"/>
            <a:r>
              <a:rPr lang="fi-FI" dirty="0" err="1" smtClean="0"/>
              <a:t>Since</a:t>
            </a:r>
            <a:r>
              <a:rPr lang="fi-FI" dirty="0" smtClean="0"/>
              <a:t> a </a:t>
            </a:r>
            <a:r>
              <a:rPr lang="fi-FI" dirty="0" err="1" smtClean="0"/>
              <a:t>study</a:t>
            </a:r>
            <a:r>
              <a:rPr lang="fi-FI" dirty="0" smtClean="0"/>
              <a:t> </a:t>
            </a:r>
            <a:r>
              <a:rPr lang="fi-FI" dirty="0" err="1" smtClean="0"/>
              <a:t>can</a:t>
            </a:r>
            <a:r>
              <a:rPr lang="fi-FI" dirty="0" smtClean="0"/>
              <a:t> </a:t>
            </a:r>
            <a:r>
              <a:rPr lang="fi-FI" dirty="0" err="1" smtClean="0"/>
              <a:t>hold</a:t>
            </a:r>
            <a:r>
              <a:rPr lang="fi-FI" dirty="0" smtClean="0"/>
              <a:t> </a:t>
            </a:r>
            <a:r>
              <a:rPr lang="fi-FI" dirty="0" err="1" smtClean="0"/>
              <a:t>hundreds</a:t>
            </a:r>
            <a:r>
              <a:rPr lang="fi-FI" dirty="0" smtClean="0"/>
              <a:t> of </a:t>
            </a:r>
            <a:r>
              <a:rPr lang="fi-FI" dirty="0" err="1" smtClean="0"/>
              <a:t>variables</a:t>
            </a:r>
            <a:r>
              <a:rPr lang="fi-FI" dirty="0" smtClean="0"/>
              <a:t>, </a:t>
            </a:r>
            <a:r>
              <a:rPr lang="fi-FI" dirty="0" err="1" smtClean="0"/>
              <a:t>this</a:t>
            </a:r>
            <a:r>
              <a:rPr lang="fi-FI" dirty="0" smtClean="0"/>
              <a:t> feature is </a:t>
            </a:r>
            <a:r>
              <a:rPr lang="fi-FI" dirty="0" err="1" smtClean="0"/>
              <a:t>very</a:t>
            </a:r>
            <a:r>
              <a:rPr lang="fi-FI" dirty="0" smtClean="0"/>
              <a:t> </a:t>
            </a:r>
            <a:r>
              <a:rPr lang="fi-FI" dirty="0" err="1" smtClean="0"/>
              <a:t>useful</a:t>
            </a:r>
            <a:endParaRPr lang="fi-FI" dirty="0" smtClean="0"/>
          </a:p>
          <a:p>
            <a:pPr lvl="1"/>
            <a:r>
              <a:rPr lang="fi-FI" dirty="0" err="1" smtClean="0"/>
              <a:t>Problem</a:t>
            </a:r>
            <a:r>
              <a:rPr lang="fi-FI" dirty="0" smtClean="0"/>
              <a:t>: </a:t>
            </a:r>
            <a:r>
              <a:rPr lang="fi-FI" dirty="0" err="1" smtClean="0"/>
              <a:t>each</a:t>
            </a:r>
            <a:r>
              <a:rPr lang="fi-FI" dirty="0" smtClean="0"/>
              <a:t> </a:t>
            </a:r>
            <a:r>
              <a:rPr lang="fi-FI" dirty="0" err="1" smtClean="0"/>
              <a:t>imported</a:t>
            </a:r>
            <a:r>
              <a:rPr lang="fi-FI" dirty="0" smtClean="0"/>
              <a:t> </a:t>
            </a:r>
            <a:r>
              <a:rPr lang="fi-FI" dirty="0" err="1" smtClean="0"/>
              <a:t>variable</a:t>
            </a:r>
            <a:r>
              <a:rPr lang="fi-FI" dirty="0" smtClean="0"/>
              <a:t> </a:t>
            </a:r>
            <a:r>
              <a:rPr lang="fi-FI" dirty="0" err="1" smtClean="0"/>
              <a:t>should</a:t>
            </a:r>
            <a:r>
              <a:rPr lang="fi-FI" dirty="0" smtClean="0"/>
              <a:t> </a:t>
            </a:r>
            <a:r>
              <a:rPr lang="fi-FI" dirty="0" err="1" smtClean="0"/>
              <a:t>have</a:t>
            </a:r>
            <a:r>
              <a:rPr lang="fi-FI" dirty="0" smtClean="0"/>
              <a:t> a </a:t>
            </a:r>
            <a:r>
              <a:rPr lang="fi-FI" dirty="0" err="1" smtClean="0"/>
              <a:t>corresponding</a:t>
            </a:r>
            <a:r>
              <a:rPr lang="fi-FI" dirty="0" smtClean="0"/>
              <a:t> </a:t>
            </a:r>
            <a:r>
              <a:rPr lang="fi-FI" dirty="0" err="1" smtClean="0"/>
              <a:t>question</a:t>
            </a:r>
            <a:r>
              <a:rPr lang="fi-FI" dirty="0" smtClean="0"/>
              <a:t> </a:t>
            </a:r>
            <a:r>
              <a:rPr lang="fi-FI" dirty="0" err="1" smtClean="0"/>
              <a:t>presented</a:t>
            </a:r>
            <a:r>
              <a:rPr lang="fi-FI" dirty="0" smtClean="0"/>
              <a:t> in a </a:t>
            </a:r>
            <a:r>
              <a:rPr lang="fi-FI" dirty="0" err="1" smtClean="0"/>
              <a:t>questionnaire</a:t>
            </a:r>
            <a:r>
              <a:rPr lang="fi-FI" dirty="0" smtClean="0"/>
              <a:t>. </a:t>
            </a:r>
            <a:r>
              <a:rPr lang="fi-FI" dirty="0" err="1" smtClean="0"/>
              <a:t>Questionnaires</a:t>
            </a:r>
            <a:r>
              <a:rPr lang="fi-FI" dirty="0" smtClean="0"/>
              <a:t> </a:t>
            </a:r>
            <a:r>
              <a:rPr lang="fi-FI" dirty="0" err="1" smtClean="0"/>
              <a:t>are</a:t>
            </a:r>
            <a:r>
              <a:rPr lang="fi-FI" dirty="0" smtClean="0"/>
              <a:t> </a:t>
            </a:r>
            <a:r>
              <a:rPr lang="fi-FI" dirty="0" err="1" smtClean="0"/>
              <a:t>populated</a:t>
            </a:r>
            <a:r>
              <a:rPr lang="fi-FI" dirty="0" smtClean="0"/>
              <a:t> </a:t>
            </a:r>
            <a:r>
              <a:rPr lang="fi-FI" dirty="0" err="1" smtClean="0"/>
              <a:t>manually</a:t>
            </a:r>
            <a:r>
              <a:rPr lang="fi-FI" dirty="0" smtClean="0"/>
              <a:t>.</a:t>
            </a:r>
          </a:p>
          <a:p>
            <a:pPr lvl="1"/>
            <a:r>
              <a:rPr lang="fi-FI" dirty="0" err="1" smtClean="0"/>
              <a:t>Solution</a:t>
            </a:r>
            <a:r>
              <a:rPr lang="fi-FI" dirty="0" smtClean="0"/>
              <a:t>: to </a:t>
            </a:r>
            <a:r>
              <a:rPr lang="fi-FI" dirty="0" err="1" smtClean="0"/>
              <a:t>develop</a:t>
            </a:r>
            <a:r>
              <a:rPr lang="fi-FI" dirty="0" smtClean="0"/>
              <a:t> a </a:t>
            </a:r>
            <a:r>
              <a:rPr lang="fi-FI" dirty="0" err="1" smtClean="0"/>
              <a:t>question</a:t>
            </a:r>
            <a:r>
              <a:rPr lang="fi-FI" dirty="0" smtClean="0"/>
              <a:t> </a:t>
            </a:r>
            <a:r>
              <a:rPr lang="fi-FI" dirty="0" err="1" smtClean="0"/>
              <a:t>importer</a:t>
            </a:r>
            <a:r>
              <a:rPr lang="fi-FI" dirty="0" smtClean="0"/>
              <a:t> </a:t>
            </a:r>
            <a:r>
              <a:rPr lang="fi-FI" dirty="0" err="1" smtClean="0"/>
              <a:t>that</a:t>
            </a:r>
            <a:r>
              <a:rPr lang="fi-FI" dirty="0" smtClean="0"/>
              <a:t> </a:t>
            </a:r>
            <a:r>
              <a:rPr lang="fi-FI" dirty="0" err="1" smtClean="0"/>
              <a:t>generates</a:t>
            </a:r>
            <a:r>
              <a:rPr lang="fi-FI" dirty="0" smtClean="0"/>
              <a:t> </a:t>
            </a:r>
            <a:r>
              <a:rPr lang="fi-FI" dirty="0" err="1" smtClean="0"/>
              <a:t>questionnaires</a:t>
            </a:r>
            <a:endParaRPr lang="fi-FI" dirty="0" smtClean="0"/>
          </a:p>
          <a:p>
            <a:r>
              <a:rPr lang="fi-FI" dirty="0" err="1" smtClean="0"/>
              <a:t>Variables</a:t>
            </a:r>
            <a:r>
              <a:rPr lang="fi-FI" dirty="0" smtClean="0"/>
              <a:t> </a:t>
            </a:r>
            <a:r>
              <a:rPr lang="fi-FI" dirty="0" err="1" smtClean="0"/>
              <a:t>need</a:t>
            </a:r>
            <a:r>
              <a:rPr lang="fi-FI" dirty="0" smtClean="0"/>
              <a:t> to </a:t>
            </a:r>
            <a:r>
              <a:rPr lang="fi-FI" dirty="0" err="1" smtClean="0"/>
              <a:t>be</a:t>
            </a:r>
            <a:r>
              <a:rPr lang="fi-FI" dirty="0" smtClean="0"/>
              <a:t> </a:t>
            </a:r>
            <a:r>
              <a:rPr lang="fi-FI" dirty="0" err="1" smtClean="0"/>
              <a:t>linked</a:t>
            </a:r>
            <a:r>
              <a:rPr lang="fi-FI" dirty="0" smtClean="0"/>
              <a:t> to </a:t>
            </a:r>
            <a:r>
              <a:rPr lang="fi-FI" dirty="0" err="1" smtClean="0"/>
              <a:t>corresponding</a:t>
            </a:r>
            <a:r>
              <a:rPr lang="fi-FI" dirty="0" smtClean="0"/>
              <a:t> </a:t>
            </a:r>
            <a:r>
              <a:rPr lang="fi-FI" dirty="0" err="1" smtClean="0"/>
              <a:t>questions</a:t>
            </a:r>
            <a:r>
              <a:rPr lang="fi-FI" dirty="0" smtClean="0"/>
              <a:t>.</a:t>
            </a:r>
          </a:p>
          <a:p>
            <a:pPr lvl="1"/>
            <a:r>
              <a:rPr lang="fi-FI" dirty="0" err="1"/>
              <a:t>Problem</a:t>
            </a:r>
            <a:r>
              <a:rPr lang="fi-FI" dirty="0"/>
              <a:t>: </a:t>
            </a:r>
            <a:r>
              <a:rPr lang="fi-FI" dirty="0" err="1"/>
              <a:t>manual</a:t>
            </a:r>
            <a:r>
              <a:rPr lang="fi-FI" dirty="0"/>
              <a:t> </a:t>
            </a:r>
            <a:r>
              <a:rPr lang="fi-FI" dirty="0" err="1"/>
              <a:t>work</a:t>
            </a:r>
            <a:r>
              <a:rPr lang="fi-FI" dirty="0"/>
              <a:t> </a:t>
            </a:r>
            <a:r>
              <a:rPr lang="fi-FI" dirty="0" err="1"/>
              <a:t>done</a:t>
            </a:r>
            <a:r>
              <a:rPr lang="fi-FI" dirty="0"/>
              <a:t> </a:t>
            </a:r>
            <a:r>
              <a:rPr lang="fi-FI" dirty="0" err="1"/>
              <a:t>variable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variable</a:t>
            </a:r>
            <a:endParaRPr lang="fi-FI" dirty="0"/>
          </a:p>
          <a:p>
            <a:pPr lvl="1"/>
            <a:r>
              <a:rPr lang="fi-FI" dirty="0" err="1" smtClean="0"/>
              <a:t>Solution</a:t>
            </a:r>
            <a:r>
              <a:rPr lang="fi-FI" dirty="0" smtClean="0"/>
              <a:t>: </a:t>
            </a:r>
            <a:r>
              <a:rPr lang="fi-FI" dirty="0" err="1" smtClean="0"/>
              <a:t>automated</a:t>
            </a:r>
            <a:r>
              <a:rPr lang="fi-FI" dirty="0" smtClean="0"/>
              <a:t> </a:t>
            </a:r>
            <a:r>
              <a:rPr lang="fi-FI" dirty="0" err="1" smtClean="0"/>
              <a:t>group</a:t>
            </a:r>
            <a:r>
              <a:rPr lang="fi-FI" dirty="0" smtClean="0"/>
              <a:t> </a:t>
            </a:r>
            <a:r>
              <a:rPr lang="fi-FI" dirty="0" err="1" smtClean="0"/>
              <a:t>linker</a:t>
            </a:r>
            <a:r>
              <a:rPr lang="fi-FI" dirty="0" smtClean="0"/>
              <a:t> –</a:t>
            </a:r>
            <a:r>
              <a:rPr lang="fi-FI" dirty="0" err="1" smtClean="0"/>
              <a:t>functionality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5846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Development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 smtClean="0"/>
              <a:t>Extending</a:t>
            </a:r>
            <a:r>
              <a:rPr lang="fi-FI" dirty="0" smtClean="0"/>
              <a:t> the </a:t>
            </a:r>
            <a:r>
              <a:rPr lang="fi-FI" dirty="0" err="1" smtClean="0"/>
              <a:t>database</a:t>
            </a:r>
            <a:r>
              <a:rPr lang="fi-FI" dirty="0" smtClean="0"/>
              <a:t> to </a:t>
            </a:r>
            <a:r>
              <a:rPr lang="fi-FI" dirty="0" err="1" smtClean="0"/>
              <a:t>contain</a:t>
            </a:r>
            <a:r>
              <a:rPr lang="fi-FI" dirty="0" smtClean="0"/>
              <a:t> </a:t>
            </a:r>
            <a:r>
              <a:rPr lang="fi-FI" dirty="0" err="1" smtClean="0"/>
              <a:t>statistical</a:t>
            </a:r>
            <a:r>
              <a:rPr lang="fi-FI" dirty="0" smtClean="0"/>
              <a:t> </a:t>
            </a:r>
            <a:r>
              <a:rPr lang="fi-FI" dirty="0" err="1" smtClean="0"/>
              <a:t>measures</a:t>
            </a:r>
            <a:r>
              <a:rPr lang="fi-FI" dirty="0" smtClean="0"/>
              <a:t> </a:t>
            </a:r>
            <a:r>
              <a:rPr lang="fi-FI" dirty="0" err="1" smtClean="0"/>
              <a:t>derived</a:t>
            </a:r>
            <a:r>
              <a:rPr lang="fi-FI" dirty="0" smtClean="0"/>
              <a:t> </a:t>
            </a:r>
            <a:r>
              <a:rPr lang="fi-FI" dirty="0" err="1" smtClean="0"/>
              <a:t>from</a:t>
            </a:r>
            <a:r>
              <a:rPr lang="fi-FI" dirty="0" smtClean="0"/>
              <a:t> the </a:t>
            </a:r>
            <a:r>
              <a:rPr lang="fi-FI" dirty="0" err="1" smtClean="0"/>
              <a:t>variables</a:t>
            </a:r>
            <a:endParaRPr lang="fi-FI" dirty="0" smtClean="0"/>
          </a:p>
          <a:p>
            <a:pPr lvl="1"/>
            <a:r>
              <a:rPr lang="fi-FI" dirty="0" err="1" smtClean="0"/>
              <a:t>Problem</a:t>
            </a:r>
            <a:r>
              <a:rPr lang="fi-FI" dirty="0" smtClean="0"/>
              <a:t>: </a:t>
            </a:r>
            <a:r>
              <a:rPr lang="fi-FI" dirty="0" err="1" smtClean="0"/>
              <a:t>Questasy’s</a:t>
            </a:r>
            <a:r>
              <a:rPr lang="fi-FI" dirty="0" smtClean="0"/>
              <a:t> </a:t>
            </a:r>
            <a:r>
              <a:rPr lang="fi-FI" dirty="0" err="1" smtClean="0"/>
              <a:t>built-in</a:t>
            </a:r>
            <a:r>
              <a:rPr lang="fi-FI" dirty="0" smtClean="0"/>
              <a:t> </a:t>
            </a:r>
            <a:r>
              <a:rPr lang="fi-FI" dirty="0" err="1" smtClean="0"/>
              <a:t>variable</a:t>
            </a:r>
            <a:r>
              <a:rPr lang="fi-FI" dirty="0" smtClean="0"/>
              <a:t> </a:t>
            </a:r>
            <a:r>
              <a:rPr lang="fi-FI" dirty="0" err="1" smtClean="0"/>
              <a:t>importer</a:t>
            </a:r>
            <a:r>
              <a:rPr lang="fi-FI" dirty="0" smtClean="0"/>
              <a:t> </a:t>
            </a:r>
            <a:r>
              <a:rPr lang="fi-FI" dirty="0" err="1" smtClean="0"/>
              <a:t>doesn’t</a:t>
            </a:r>
            <a:r>
              <a:rPr lang="fi-FI" dirty="0" smtClean="0"/>
              <a:t> </a:t>
            </a:r>
            <a:r>
              <a:rPr lang="fi-FI" dirty="0" err="1" smtClean="0"/>
              <a:t>support</a:t>
            </a:r>
            <a:r>
              <a:rPr lang="fi-FI" dirty="0" smtClean="0"/>
              <a:t> </a:t>
            </a:r>
            <a:r>
              <a:rPr lang="fi-FI" dirty="0" err="1" smtClean="0"/>
              <a:t>statistical</a:t>
            </a:r>
            <a:r>
              <a:rPr lang="fi-FI" dirty="0" smtClean="0"/>
              <a:t> </a:t>
            </a:r>
            <a:r>
              <a:rPr lang="fi-FI" dirty="0" err="1" smtClean="0"/>
              <a:t>measures</a:t>
            </a:r>
            <a:endParaRPr lang="fi-FI" dirty="0" smtClean="0"/>
          </a:p>
          <a:p>
            <a:pPr lvl="1"/>
            <a:r>
              <a:rPr lang="fi-FI" dirty="0" err="1" smtClean="0"/>
              <a:t>Solution</a:t>
            </a:r>
            <a:r>
              <a:rPr lang="fi-FI" dirty="0" smtClean="0"/>
              <a:t>: </a:t>
            </a:r>
            <a:r>
              <a:rPr lang="fi-FI" dirty="0" err="1" smtClean="0"/>
              <a:t>Create</a:t>
            </a:r>
            <a:r>
              <a:rPr lang="fi-FI" dirty="0" smtClean="0"/>
              <a:t> a new </a:t>
            </a:r>
            <a:r>
              <a:rPr lang="fi-FI" dirty="0" err="1" smtClean="0"/>
              <a:t>importer</a:t>
            </a:r>
            <a:r>
              <a:rPr lang="fi-FI" dirty="0" smtClean="0"/>
              <a:t> for </a:t>
            </a:r>
            <a:r>
              <a:rPr lang="fi-FI" dirty="0" err="1" smtClean="0"/>
              <a:t>variables</a:t>
            </a:r>
            <a:endParaRPr lang="fi-FI" dirty="0" smtClean="0"/>
          </a:p>
          <a:p>
            <a:pPr lvl="2"/>
            <a:r>
              <a:rPr lang="fi-FI" dirty="0" err="1" smtClean="0"/>
              <a:t>imports</a:t>
            </a:r>
            <a:r>
              <a:rPr lang="fi-FI" dirty="0" smtClean="0"/>
              <a:t> DDI2 </a:t>
            </a:r>
            <a:r>
              <a:rPr lang="fi-FI" dirty="0" err="1" smtClean="0"/>
              <a:t>files</a:t>
            </a:r>
            <a:endParaRPr lang="fi-FI" dirty="0" smtClean="0"/>
          </a:p>
          <a:p>
            <a:pPr lvl="2"/>
            <a:r>
              <a:rPr lang="fi-FI" dirty="0" err="1" smtClean="0"/>
              <a:t>supports</a:t>
            </a:r>
            <a:r>
              <a:rPr lang="fi-FI" dirty="0" smtClean="0"/>
              <a:t> </a:t>
            </a:r>
            <a:r>
              <a:rPr lang="fi-FI" dirty="0" err="1" smtClean="0"/>
              <a:t>statistical</a:t>
            </a:r>
            <a:r>
              <a:rPr lang="fi-FI" dirty="0" smtClean="0"/>
              <a:t> </a:t>
            </a:r>
            <a:r>
              <a:rPr lang="fi-FI" dirty="0" err="1" smtClean="0"/>
              <a:t>measures</a:t>
            </a:r>
            <a:endParaRPr lang="fi-FI" dirty="0" smtClean="0"/>
          </a:p>
          <a:p>
            <a:pPr lvl="2"/>
            <a:r>
              <a:rPr lang="fi-FI" dirty="0" err="1" smtClean="0"/>
              <a:t>additional</a:t>
            </a:r>
            <a:r>
              <a:rPr lang="fi-FI" dirty="0" smtClean="0"/>
              <a:t> </a:t>
            </a:r>
            <a:r>
              <a:rPr lang="fi-FI" dirty="0" err="1" smtClean="0"/>
              <a:t>benefit</a:t>
            </a:r>
            <a:r>
              <a:rPr lang="fi-FI" dirty="0" smtClean="0"/>
              <a:t>: </a:t>
            </a:r>
            <a:r>
              <a:rPr lang="fi-FI" dirty="0" err="1" smtClean="0"/>
              <a:t>only</a:t>
            </a:r>
            <a:r>
              <a:rPr lang="fi-FI" dirty="0" smtClean="0"/>
              <a:t> DDI </a:t>
            </a:r>
            <a:r>
              <a:rPr lang="fi-FI" dirty="0" err="1" smtClean="0"/>
              <a:t>file</a:t>
            </a:r>
            <a:r>
              <a:rPr lang="fi-FI" dirty="0" smtClean="0"/>
              <a:t> </a:t>
            </a:r>
            <a:r>
              <a:rPr lang="fi-FI" dirty="0" err="1" smtClean="0"/>
              <a:t>required</a:t>
            </a:r>
            <a:r>
              <a:rPr lang="fi-FI" dirty="0" smtClean="0"/>
              <a:t> to import </a:t>
            </a:r>
            <a:r>
              <a:rPr lang="fi-FI" dirty="0" err="1" smtClean="0"/>
              <a:t>both</a:t>
            </a:r>
            <a:r>
              <a:rPr lang="fi-FI" dirty="0" smtClean="0"/>
              <a:t> </a:t>
            </a:r>
            <a:r>
              <a:rPr lang="fi-FI" dirty="0" err="1" smtClean="0"/>
              <a:t>variables</a:t>
            </a:r>
            <a:r>
              <a:rPr lang="fi-FI" dirty="0" smtClean="0"/>
              <a:t> and </a:t>
            </a:r>
            <a:r>
              <a:rPr lang="fi-FI" dirty="0" err="1" smtClean="0"/>
              <a:t>questions</a:t>
            </a:r>
            <a:endParaRPr lang="fi-FI" dirty="0" smtClean="0"/>
          </a:p>
          <a:p>
            <a:r>
              <a:rPr lang="fi-FI" dirty="0" err="1" smtClean="0"/>
              <a:t>Multilingual</a:t>
            </a:r>
            <a:r>
              <a:rPr lang="fi-FI" dirty="0" smtClean="0"/>
              <a:t> </a:t>
            </a:r>
            <a:r>
              <a:rPr lang="fi-FI" dirty="0" err="1" smtClean="0"/>
              <a:t>support</a:t>
            </a:r>
            <a:r>
              <a:rPr lang="fi-FI" dirty="0" smtClean="0"/>
              <a:t> for the </a:t>
            </a:r>
            <a:r>
              <a:rPr lang="fi-FI" dirty="0" err="1" smtClean="0"/>
              <a:t>user</a:t>
            </a:r>
            <a:r>
              <a:rPr lang="fi-FI" dirty="0" smtClean="0"/>
              <a:t> </a:t>
            </a:r>
            <a:r>
              <a:rPr lang="fi-FI" dirty="0" err="1" smtClean="0"/>
              <a:t>interface</a:t>
            </a:r>
            <a:endParaRPr lang="fi-FI" dirty="0" smtClean="0"/>
          </a:p>
          <a:p>
            <a:pPr lvl="1"/>
            <a:r>
              <a:rPr lang="fi-FI" dirty="0" err="1" smtClean="0"/>
              <a:t>Not</a:t>
            </a:r>
            <a:r>
              <a:rPr lang="fi-FI" dirty="0" smtClean="0"/>
              <a:t> </a:t>
            </a:r>
            <a:r>
              <a:rPr lang="fi-FI" dirty="0" err="1" smtClean="0"/>
              <a:t>yet</a:t>
            </a:r>
            <a:r>
              <a:rPr lang="fi-FI" dirty="0" smtClean="0"/>
              <a:t> in </a:t>
            </a:r>
            <a:r>
              <a:rPr lang="fi-FI" dirty="0" err="1" smtClean="0"/>
              <a:t>use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68177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Development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FSD </a:t>
            </a:r>
            <a:r>
              <a:rPr lang="fi-FI" dirty="0" err="1"/>
              <a:t>decided</a:t>
            </a:r>
            <a:r>
              <a:rPr lang="fi-FI" dirty="0"/>
              <a:t> to </a:t>
            </a:r>
            <a:r>
              <a:rPr lang="fi-FI" dirty="0" err="1"/>
              <a:t>develop</a:t>
            </a:r>
            <a:r>
              <a:rPr lang="fi-FI" dirty="0"/>
              <a:t> the </a:t>
            </a:r>
            <a:r>
              <a:rPr lang="fi-FI" dirty="0" err="1"/>
              <a:t>following</a:t>
            </a:r>
            <a:r>
              <a:rPr lang="fi-FI" dirty="0"/>
              <a:t> </a:t>
            </a:r>
            <a:r>
              <a:rPr lang="fi-FI" dirty="0" err="1"/>
              <a:t>features</a:t>
            </a:r>
            <a:r>
              <a:rPr lang="fi-FI" dirty="0"/>
              <a:t>:</a:t>
            </a:r>
          </a:p>
          <a:p>
            <a:pPr lvl="1"/>
            <a:r>
              <a:rPr lang="fi-FI" dirty="0"/>
              <a:t>DDI </a:t>
            </a:r>
            <a:r>
              <a:rPr lang="fi-FI" dirty="0" err="1"/>
              <a:t>importer</a:t>
            </a:r>
            <a:r>
              <a:rPr lang="fi-FI" dirty="0"/>
              <a:t> for </a:t>
            </a:r>
            <a:r>
              <a:rPr lang="fi-FI" dirty="0" err="1"/>
              <a:t>questions</a:t>
            </a:r>
            <a:r>
              <a:rPr lang="fi-FI" dirty="0"/>
              <a:t>. </a:t>
            </a:r>
            <a:r>
              <a:rPr lang="fi-FI" dirty="0" err="1"/>
              <a:t>Supports</a:t>
            </a:r>
            <a:r>
              <a:rPr lang="fi-FI" dirty="0"/>
              <a:t> the </a:t>
            </a:r>
            <a:r>
              <a:rPr lang="fi-FI" dirty="0" err="1"/>
              <a:t>generation</a:t>
            </a:r>
            <a:r>
              <a:rPr lang="fi-FI" dirty="0"/>
              <a:t> of a </a:t>
            </a:r>
            <a:r>
              <a:rPr lang="fi-FI" dirty="0" err="1"/>
              <a:t>questionnaire</a:t>
            </a:r>
            <a:r>
              <a:rPr lang="fi-FI" dirty="0"/>
              <a:t>.</a:t>
            </a:r>
          </a:p>
          <a:p>
            <a:pPr lvl="1"/>
            <a:r>
              <a:rPr lang="fi-FI" dirty="0" err="1"/>
              <a:t>Support</a:t>
            </a:r>
            <a:r>
              <a:rPr lang="fi-FI" dirty="0"/>
              <a:t> for </a:t>
            </a:r>
            <a:r>
              <a:rPr lang="fi-FI" dirty="0" err="1"/>
              <a:t>statistical</a:t>
            </a:r>
            <a:r>
              <a:rPr lang="fi-FI" dirty="0"/>
              <a:t> </a:t>
            </a:r>
            <a:r>
              <a:rPr lang="fi-FI" dirty="0" err="1"/>
              <a:t>measures</a:t>
            </a:r>
            <a:r>
              <a:rPr lang="fi-FI" dirty="0"/>
              <a:t>: </a:t>
            </a:r>
            <a:r>
              <a:rPr lang="fi-FI" dirty="0" err="1"/>
              <a:t>database</a:t>
            </a:r>
            <a:r>
              <a:rPr lang="fi-FI" dirty="0"/>
              <a:t>, </a:t>
            </a:r>
            <a:r>
              <a:rPr lang="fi-FI" dirty="0" err="1"/>
              <a:t>CRUD-functionality</a:t>
            </a:r>
            <a:endParaRPr lang="fi-FI" dirty="0"/>
          </a:p>
          <a:p>
            <a:pPr lvl="1"/>
            <a:r>
              <a:rPr lang="fi-FI" dirty="0"/>
              <a:t>DDI </a:t>
            </a:r>
            <a:r>
              <a:rPr lang="fi-FI" dirty="0" err="1"/>
              <a:t>importer</a:t>
            </a:r>
            <a:r>
              <a:rPr lang="fi-FI" dirty="0"/>
              <a:t> for </a:t>
            </a:r>
            <a:r>
              <a:rPr lang="fi-FI" dirty="0" err="1"/>
              <a:t>variables</a:t>
            </a:r>
            <a:r>
              <a:rPr lang="fi-FI" dirty="0"/>
              <a:t>. </a:t>
            </a:r>
            <a:r>
              <a:rPr lang="fi-FI" dirty="0" err="1"/>
              <a:t>Supports</a:t>
            </a:r>
            <a:r>
              <a:rPr lang="fi-FI" dirty="0"/>
              <a:t> </a:t>
            </a:r>
            <a:r>
              <a:rPr lang="fi-FI" dirty="0" err="1"/>
              <a:t>statistical</a:t>
            </a:r>
            <a:r>
              <a:rPr lang="fi-FI" dirty="0"/>
              <a:t> </a:t>
            </a:r>
            <a:r>
              <a:rPr lang="fi-FI" dirty="0" err="1"/>
              <a:t>measures</a:t>
            </a:r>
            <a:r>
              <a:rPr lang="fi-FI" dirty="0"/>
              <a:t>.</a:t>
            </a:r>
          </a:p>
          <a:p>
            <a:pPr lvl="1"/>
            <a:r>
              <a:rPr lang="fi-FI" dirty="0" err="1"/>
              <a:t>GroupLinker</a:t>
            </a:r>
            <a:r>
              <a:rPr lang="fi-FI" dirty="0"/>
              <a:t> to </a:t>
            </a:r>
            <a:r>
              <a:rPr lang="fi-FI" dirty="0" err="1"/>
              <a:t>automate</a:t>
            </a:r>
            <a:r>
              <a:rPr lang="fi-FI" dirty="0"/>
              <a:t> </a:t>
            </a:r>
            <a:r>
              <a:rPr lang="fi-FI" dirty="0" err="1"/>
              <a:t>linking</a:t>
            </a:r>
            <a:r>
              <a:rPr lang="fi-FI" dirty="0"/>
              <a:t> of </a:t>
            </a:r>
            <a:r>
              <a:rPr lang="fi-FI" dirty="0" err="1"/>
              <a:t>variables</a:t>
            </a:r>
            <a:r>
              <a:rPr lang="fi-FI" dirty="0"/>
              <a:t> and </a:t>
            </a:r>
            <a:r>
              <a:rPr lang="fi-FI" dirty="0" err="1"/>
              <a:t>questions</a:t>
            </a:r>
            <a:endParaRPr lang="fi-FI" dirty="0"/>
          </a:p>
          <a:p>
            <a:pPr lvl="1"/>
            <a:r>
              <a:rPr lang="fi-FI" dirty="0" err="1"/>
              <a:t>Multilingual</a:t>
            </a:r>
            <a:r>
              <a:rPr lang="fi-FI" dirty="0"/>
              <a:t> </a:t>
            </a:r>
            <a:r>
              <a:rPr lang="fi-FI" dirty="0" err="1"/>
              <a:t>support</a:t>
            </a:r>
            <a:r>
              <a:rPr lang="fi-FI" dirty="0"/>
              <a:t> for the UI</a:t>
            </a:r>
          </a:p>
          <a:p>
            <a:pPr lvl="1"/>
            <a:r>
              <a:rPr lang="fi-FI" dirty="0" err="1"/>
              <a:t>Branded</a:t>
            </a:r>
            <a:r>
              <a:rPr lang="fi-FI" dirty="0"/>
              <a:t> layout</a:t>
            </a:r>
          </a:p>
          <a:p>
            <a:pPr lvl="1"/>
            <a:r>
              <a:rPr lang="fi-FI" dirty="0"/>
              <a:t>UI </a:t>
            </a:r>
            <a:r>
              <a:rPr lang="fi-FI" dirty="0" err="1"/>
              <a:t>translated</a:t>
            </a:r>
            <a:r>
              <a:rPr lang="fi-FI" dirty="0"/>
              <a:t> into </a:t>
            </a:r>
            <a:r>
              <a:rPr lang="fi-FI" dirty="0" err="1"/>
              <a:t>Finnish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5099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Variable</a:t>
            </a:r>
            <a:r>
              <a:rPr lang="fi-FI" dirty="0"/>
              <a:t> </a:t>
            </a:r>
            <a:r>
              <a:rPr lang="fi-FI" dirty="0" err="1"/>
              <a:t>Basket</a:t>
            </a:r>
            <a:r>
              <a:rPr lang="fi-FI" dirty="0"/>
              <a:t> feature to </a:t>
            </a:r>
            <a:r>
              <a:rPr lang="fi-FI" dirty="0" err="1"/>
              <a:t>work</a:t>
            </a:r>
            <a:r>
              <a:rPr lang="fi-FI" dirty="0"/>
              <a:t> on a Linux </a:t>
            </a:r>
            <a:r>
              <a:rPr lang="fi-FI" dirty="0" err="1"/>
              <a:t>server</a:t>
            </a:r>
            <a:endParaRPr lang="fi-FI" dirty="0"/>
          </a:p>
          <a:p>
            <a:pPr lvl="1"/>
            <a:r>
              <a:rPr lang="fi-FI" dirty="0" err="1"/>
              <a:t>Problem</a:t>
            </a:r>
            <a:r>
              <a:rPr lang="fi-FI" dirty="0"/>
              <a:t> with </a:t>
            </a:r>
            <a:r>
              <a:rPr lang="fi-FI" dirty="0" err="1"/>
              <a:t>StatTransfer</a:t>
            </a:r>
            <a:r>
              <a:rPr lang="fi-FI" dirty="0"/>
              <a:t> and ODBC-API: </a:t>
            </a:r>
            <a:r>
              <a:rPr lang="fi-FI" dirty="0" err="1"/>
              <a:t>StatTransfer</a:t>
            </a:r>
            <a:r>
              <a:rPr lang="fi-FI" dirty="0"/>
              <a:t> </a:t>
            </a:r>
            <a:r>
              <a:rPr lang="fi-FI" dirty="0" err="1"/>
              <a:t>doesn’t</a:t>
            </a:r>
            <a:r>
              <a:rPr lang="fi-FI" dirty="0"/>
              <a:t> </a:t>
            </a:r>
            <a:r>
              <a:rPr lang="fi-FI" dirty="0" err="1"/>
              <a:t>support</a:t>
            </a:r>
            <a:r>
              <a:rPr lang="fi-FI" dirty="0"/>
              <a:t> </a:t>
            </a:r>
            <a:r>
              <a:rPr lang="fi-FI" dirty="0" err="1"/>
              <a:t>ODBC-connections</a:t>
            </a:r>
            <a:r>
              <a:rPr lang="fi-FI" dirty="0"/>
              <a:t> on a Linux </a:t>
            </a:r>
            <a:r>
              <a:rPr lang="fi-FI" dirty="0" err="1"/>
              <a:t>machine</a:t>
            </a:r>
            <a:endParaRPr lang="fi-FI" dirty="0"/>
          </a:p>
          <a:p>
            <a:pPr lvl="1"/>
            <a:r>
              <a:rPr lang="fi-FI" dirty="0"/>
              <a:t>FSD </a:t>
            </a:r>
            <a:r>
              <a:rPr lang="fi-FI" dirty="0" err="1"/>
              <a:t>would</a:t>
            </a:r>
            <a:r>
              <a:rPr lang="fi-FI" dirty="0"/>
              <a:t> </a:t>
            </a:r>
            <a:r>
              <a:rPr lang="fi-FI" dirty="0" err="1"/>
              <a:t>like</a:t>
            </a:r>
            <a:r>
              <a:rPr lang="fi-FI" dirty="0"/>
              <a:t> to </a:t>
            </a:r>
            <a:r>
              <a:rPr lang="fi-FI" dirty="0" err="1"/>
              <a:t>use</a:t>
            </a:r>
            <a:r>
              <a:rPr lang="fi-FI" dirty="0"/>
              <a:t> the </a:t>
            </a:r>
            <a:r>
              <a:rPr lang="fi-FI" dirty="0" err="1" smtClean="0"/>
              <a:t>Variable</a:t>
            </a:r>
            <a:r>
              <a:rPr lang="fi-FI" dirty="0" smtClean="0"/>
              <a:t> </a:t>
            </a:r>
            <a:r>
              <a:rPr lang="fi-FI" dirty="0" err="1" smtClean="0"/>
              <a:t>Basket</a:t>
            </a:r>
            <a:r>
              <a:rPr lang="fi-FI" dirty="0" smtClean="0"/>
              <a:t> </a:t>
            </a:r>
            <a:r>
              <a:rPr lang="fi-FI" dirty="0"/>
              <a:t>feature.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might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able</a:t>
            </a:r>
            <a:r>
              <a:rPr lang="fi-FI" dirty="0"/>
              <a:t> to </a:t>
            </a:r>
            <a:r>
              <a:rPr lang="fi-FI" dirty="0" err="1"/>
              <a:t>replace</a:t>
            </a:r>
            <a:r>
              <a:rPr lang="fi-FI" dirty="0"/>
              <a:t> the </a:t>
            </a:r>
            <a:r>
              <a:rPr lang="fi-FI" dirty="0" err="1"/>
              <a:t>back-end</a:t>
            </a:r>
            <a:r>
              <a:rPr lang="fi-FI" dirty="0"/>
              <a:t> with </a:t>
            </a:r>
            <a:r>
              <a:rPr lang="fi-FI" dirty="0" err="1"/>
              <a:t>something</a:t>
            </a:r>
            <a:r>
              <a:rPr lang="fi-FI" dirty="0"/>
              <a:t>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could</a:t>
            </a:r>
            <a:r>
              <a:rPr lang="fi-FI" dirty="0"/>
              <a:t> </a:t>
            </a:r>
            <a:r>
              <a:rPr lang="fi-FI" dirty="0" err="1"/>
              <a:t>use</a:t>
            </a:r>
            <a:r>
              <a:rPr lang="fi-FI" dirty="0"/>
              <a:t>.</a:t>
            </a:r>
          </a:p>
          <a:p>
            <a:pPr lvl="1"/>
            <a:r>
              <a:rPr lang="fi-FI" dirty="0" err="1"/>
              <a:t>Solution</a:t>
            </a:r>
            <a:r>
              <a:rPr lang="fi-FI" dirty="0"/>
              <a:t> </a:t>
            </a:r>
            <a:r>
              <a:rPr lang="fi-FI" dirty="0" err="1"/>
              <a:t>remains</a:t>
            </a:r>
            <a:r>
              <a:rPr lang="fi-FI" dirty="0"/>
              <a:t> open</a:t>
            </a:r>
          </a:p>
          <a:p>
            <a:r>
              <a:rPr lang="fi-FI" dirty="0" err="1"/>
              <a:t>Interoperability</a:t>
            </a:r>
            <a:r>
              <a:rPr lang="fi-FI" dirty="0"/>
              <a:t>:</a:t>
            </a:r>
          </a:p>
          <a:p>
            <a:pPr lvl="1"/>
            <a:r>
              <a:rPr lang="fi-FI" dirty="0"/>
              <a:t>Second </a:t>
            </a:r>
            <a:r>
              <a:rPr lang="fi-FI" dirty="0" err="1"/>
              <a:t>stage</a:t>
            </a:r>
            <a:r>
              <a:rPr lang="fi-FI" dirty="0"/>
              <a:t> of </a:t>
            </a:r>
            <a:r>
              <a:rPr lang="fi-FI" dirty="0" err="1"/>
              <a:t>development</a:t>
            </a:r>
            <a:r>
              <a:rPr lang="fi-FI" dirty="0"/>
              <a:t>.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yet</a:t>
            </a:r>
            <a:r>
              <a:rPr lang="fi-FI" dirty="0"/>
              <a:t> </a:t>
            </a:r>
            <a:r>
              <a:rPr lang="fi-FI" dirty="0" err="1"/>
              <a:t>implemented</a:t>
            </a:r>
            <a:r>
              <a:rPr lang="fi-FI" dirty="0"/>
              <a:t>.</a:t>
            </a:r>
          </a:p>
          <a:p>
            <a:pPr lvl="1"/>
            <a:r>
              <a:rPr lang="fi-FI" dirty="0" err="1"/>
              <a:t>Integration</a:t>
            </a:r>
            <a:r>
              <a:rPr lang="fi-FI" dirty="0"/>
              <a:t> to the SSO </a:t>
            </a:r>
            <a:r>
              <a:rPr lang="fi-FI" dirty="0" err="1"/>
              <a:t>system</a:t>
            </a:r>
            <a:endParaRPr lang="fi-FI" dirty="0"/>
          </a:p>
          <a:p>
            <a:pPr lvl="1"/>
            <a:r>
              <a:rPr lang="fi-FI" dirty="0" err="1"/>
              <a:t>Integration</a:t>
            </a:r>
            <a:r>
              <a:rPr lang="fi-FI" dirty="0"/>
              <a:t> to the </a:t>
            </a:r>
            <a:r>
              <a:rPr lang="fi-FI" dirty="0" err="1"/>
              <a:t>electronic</a:t>
            </a:r>
            <a:r>
              <a:rPr lang="fi-FI" dirty="0"/>
              <a:t> data </a:t>
            </a:r>
            <a:r>
              <a:rPr lang="fi-FI" dirty="0" err="1"/>
              <a:t>dissemination</a:t>
            </a:r>
            <a:r>
              <a:rPr lang="fi-FI" dirty="0"/>
              <a:t> </a:t>
            </a:r>
            <a:r>
              <a:rPr lang="fi-FI" dirty="0" err="1"/>
              <a:t>system</a:t>
            </a:r>
            <a:endParaRPr lang="fi-FI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966785"/>
            <a:ext cx="8229600" cy="947739"/>
          </a:xfrm>
        </p:spPr>
        <p:txBody>
          <a:bodyPr/>
          <a:lstStyle/>
          <a:p>
            <a:r>
              <a:rPr lang="fi-FI" dirty="0" err="1" smtClean="0"/>
              <a:t>Development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68265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 err="1" smtClean="0"/>
              <a:t>Interoperability</a:t>
            </a:r>
            <a:endParaRPr lang="fi-FI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4158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Interoperability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Integrate</a:t>
            </a:r>
            <a:r>
              <a:rPr lang="fi-FI" dirty="0"/>
              <a:t> the </a:t>
            </a:r>
            <a:r>
              <a:rPr lang="fi-FI" dirty="0" err="1"/>
              <a:t>portal’s</a:t>
            </a:r>
            <a:r>
              <a:rPr lang="fi-FI" dirty="0"/>
              <a:t> </a:t>
            </a:r>
            <a:r>
              <a:rPr lang="fi-FI" dirty="0" err="1"/>
              <a:t>authentication</a:t>
            </a:r>
            <a:r>
              <a:rPr lang="fi-FI" dirty="0"/>
              <a:t> </a:t>
            </a:r>
            <a:r>
              <a:rPr lang="fi-FI" dirty="0" err="1"/>
              <a:t>back-end</a:t>
            </a:r>
            <a:r>
              <a:rPr lang="fi-FI" dirty="0"/>
              <a:t> to a </a:t>
            </a:r>
            <a:r>
              <a:rPr lang="fi-FI" dirty="0" err="1"/>
              <a:t>Single-Sign-On</a:t>
            </a:r>
            <a:r>
              <a:rPr lang="fi-FI" dirty="0"/>
              <a:t> </a:t>
            </a:r>
            <a:r>
              <a:rPr lang="fi-FI" dirty="0" err="1"/>
              <a:t>system</a:t>
            </a:r>
            <a:r>
              <a:rPr lang="fi-FI" dirty="0"/>
              <a:t> for FSD </a:t>
            </a:r>
            <a:r>
              <a:rPr lang="fi-FI" dirty="0" err="1"/>
              <a:t>web</a:t>
            </a:r>
            <a:r>
              <a:rPr lang="fi-FI" dirty="0"/>
              <a:t> </a:t>
            </a:r>
            <a:r>
              <a:rPr lang="fi-FI" dirty="0" err="1"/>
              <a:t>services</a:t>
            </a:r>
            <a:endParaRPr lang="fi-FI" dirty="0"/>
          </a:p>
          <a:p>
            <a:pPr lvl="1"/>
            <a:r>
              <a:rPr lang="fi-FI" dirty="0"/>
              <a:t>The SSO </a:t>
            </a:r>
            <a:r>
              <a:rPr lang="fi-FI" dirty="0" err="1"/>
              <a:t>system</a:t>
            </a:r>
            <a:r>
              <a:rPr lang="fi-FI" dirty="0"/>
              <a:t> is </a:t>
            </a:r>
            <a:r>
              <a:rPr lang="fi-FI" dirty="0" err="1"/>
              <a:t>also</a:t>
            </a:r>
            <a:r>
              <a:rPr lang="fi-FI" dirty="0"/>
              <a:t> </a:t>
            </a:r>
            <a:r>
              <a:rPr lang="fi-FI" dirty="0" err="1"/>
              <a:t>under</a:t>
            </a:r>
            <a:r>
              <a:rPr lang="fi-FI" dirty="0"/>
              <a:t> </a:t>
            </a:r>
            <a:r>
              <a:rPr lang="fi-FI" dirty="0" err="1"/>
              <a:t>development</a:t>
            </a:r>
            <a:endParaRPr lang="fi-FI" dirty="0"/>
          </a:p>
          <a:p>
            <a:pPr lvl="1"/>
            <a:r>
              <a:rPr lang="fi-FI" dirty="0" err="1"/>
              <a:t>It</a:t>
            </a:r>
            <a:r>
              <a:rPr lang="fi-FI" dirty="0"/>
              <a:t> </a:t>
            </a:r>
            <a:r>
              <a:rPr lang="fi-FI" dirty="0" err="1"/>
              <a:t>will</a:t>
            </a:r>
            <a:r>
              <a:rPr lang="fi-FI" dirty="0"/>
              <a:t> </a:t>
            </a:r>
            <a:r>
              <a:rPr lang="fi-FI" dirty="0" err="1"/>
              <a:t>use</a:t>
            </a:r>
            <a:r>
              <a:rPr lang="fi-FI" dirty="0"/>
              <a:t> </a:t>
            </a:r>
            <a:r>
              <a:rPr lang="fi-FI" dirty="0" err="1"/>
              <a:t>HAKA-federation</a:t>
            </a:r>
            <a:r>
              <a:rPr lang="fi-FI" dirty="0"/>
              <a:t> as an Identity </a:t>
            </a:r>
            <a:r>
              <a:rPr lang="fi-FI" dirty="0" err="1"/>
              <a:t>provider</a:t>
            </a:r>
            <a:endParaRPr lang="fi-FI" dirty="0"/>
          </a:p>
          <a:p>
            <a:pPr lvl="2"/>
            <a:r>
              <a:rPr lang="fi-FI" dirty="0"/>
              <a:t>HAKA </a:t>
            </a:r>
            <a:r>
              <a:rPr lang="fi-FI" dirty="0" err="1"/>
              <a:t>consists</a:t>
            </a:r>
            <a:r>
              <a:rPr lang="fi-FI" dirty="0"/>
              <a:t> of </a:t>
            </a:r>
            <a:r>
              <a:rPr lang="fi-FI" dirty="0" err="1"/>
              <a:t>nearly</a:t>
            </a:r>
            <a:r>
              <a:rPr lang="fi-FI" dirty="0"/>
              <a:t> </a:t>
            </a:r>
            <a:r>
              <a:rPr lang="fi-FI" dirty="0" err="1"/>
              <a:t>all</a:t>
            </a:r>
            <a:r>
              <a:rPr lang="fi-FI" dirty="0"/>
              <a:t> </a:t>
            </a:r>
            <a:r>
              <a:rPr lang="fi-FI" dirty="0" err="1"/>
              <a:t>universities</a:t>
            </a:r>
            <a:r>
              <a:rPr lang="fi-FI" dirty="0"/>
              <a:t> and </a:t>
            </a:r>
            <a:r>
              <a:rPr lang="fi-FI" dirty="0" err="1"/>
              <a:t>polytechnics</a:t>
            </a:r>
            <a:r>
              <a:rPr lang="fi-FI" dirty="0"/>
              <a:t> in Finland</a:t>
            </a:r>
          </a:p>
          <a:p>
            <a:r>
              <a:rPr lang="fi-FI" dirty="0" err="1"/>
              <a:t>Portal</a:t>
            </a:r>
            <a:r>
              <a:rPr lang="fi-FI" dirty="0"/>
              <a:t> </a:t>
            </a:r>
            <a:r>
              <a:rPr lang="fi-FI" dirty="0" err="1"/>
              <a:t>will</a:t>
            </a:r>
            <a:r>
              <a:rPr lang="fi-FI" dirty="0"/>
              <a:t> </a:t>
            </a:r>
            <a:r>
              <a:rPr lang="fi-FI" dirty="0" err="1"/>
              <a:t>direct</a:t>
            </a:r>
            <a:r>
              <a:rPr lang="fi-FI" dirty="0"/>
              <a:t> </a:t>
            </a:r>
            <a:r>
              <a:rPr lang="fi-FI" dirty="0" err="1"/>
              <a:t>users</a:t>
            </a:r>
            <a:r>
              <a:rPr lang="fi-FI" dirty="0"/>
              <a:t> to </a:t>
            </a:r>
            <a:r>
              <a:rPr lang="fi-FI" dirty="0" err="1"/>
              <a:t>download</a:t>
            </a:r>
            <a:r>
              <a:rPr lang="fi-FI" dirty="0"/>
              <a:t> </a:t>
            </a:r>
            <a:r>
              <a:rPr lang="fi-FI" dirty="0" err="1"/>
              <a:t>datasets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the </a:t>
            </a:r>
            <a:r>
              <a:rPr lang="fi-FI" dirty="0" err="1"/>
              <a:t>electronic</a:t>
            </a:r>
            <a:r>
              <a:rPr lang="fi-FI" dirty="0"/>
              <a:t> data </a:t>
            </a:r>
            <a:r>
              <a:rPr lang="fi-FI" dirty="0" err="1"/>
              <a:t>dissemination</a:t>
            </a:r>
            <a:r>
              <a:rPr lang="fi-FI" dirty="0"/>
              <a:t> </a:t>
            </a:r>
            <a:r>
              <a:rPr lang="fi-FI" dirty="0" err="1"/>
              <a:t>system</a:t>
            </a:r>
            <a:r>
              <a:rPr lang="fi-FI" dirty="0"/>
              <a:t> (AILA)</a:t>
            </a:r>
          </a:p>
          <a:p>
            <a:pPr lvl="1"/>
            <a:r>
              <a:rPr lang="fi-FI" dirty="0"/>
              <a:t>The </a:t>
            </a:r>
            <a:r>
              <a:rPr lang="fi-FI" dirty="0" err="1"/>
              <a:t>dissemination</a:t>
            </a:r>
            <a:r>
              <a:rPr lang="fi-FI" dirty="0"/>
              <a:t> </a:t>
            </a:r>
            <a:r>
              <a:rPr lang="fi-FI" dirty="0" err="1"/>
              <a:t>system</a:t>
            </a:r>
            <a:r>
              <a:rPr lang="fi-FI" dirty="0"/>
              <a:t> is </a:t>
            </a:r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under</a:t>
            </a:r>
            <a:r>
              <a:rPr lang="fi-FI" dirty="0"/>
              <a:t> </a:t>
            </a:r>
            <a:r>
              <a:rPr lang="fi-FI" dirty="0" err="1"/>
              <a:t>development</a:t>
            </a:r>
            <a:endParaRPr lang="fi-FI" dirty="0"/>
          </a:p>
          <a:p>
            <a:pPr lvl="1"/>
            <a:r>
              <a:rPr lang="fi-FI" dirty="0" err="1"/>
              <a:t>Also</a:t>
            </a:r>
            <a:r>
              <a:rPr lang="fi-FI" dirty="0"/>
              <a:t> a </a:t>
            </a:r>
            <a:r>
              <a:rPr lang="fi-FI" dirty="0" err="1"/>
              <a:t>key</a:t>
            </a:r>
            <a:r>
              <a:rPr lang="fi-FI" dirty="0"/>
              <a:t> </a:t>
            </a:r>
            <a:r>
              <a:rPr lang="fi-FI" dirty="0" err="1"/>
              <a:t>element</a:t>
            </a:r>
            <a:r>
              <a:rPr lang="fi-FI" dirty="0"/>
              <a:t> of the </a:t>
            </a:r>
            <a:r>
              <a:rPr lang="fi-FI" i="1" dirty="0"/>
              <a:t>FSD Upgrade </a:t>
            </a:r>
            <a:r>
              <a:rPr lang="fi-FI" i="1" dirty="0" err="1"/>
              <a:t>project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45680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 err="1" smtClean="0"/>
              <a:t>Implementation</a:t>
            </a:r>
            <a:endParaRPr lang="fi-FI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8945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Implementation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6290"/>
            <a:ext cx="8229600" cy="4407046"/>
          </a:xfrm>
        </p:spPr>
        <p:txBody>
          <a:bodyPr>
            <a:normAutofit fontScale="92500" lnSpcReduction="10000"/>
          </a:bodyPr>
          <a:lstStyle/>
          <a:p>
            <a:r>
              <a:rPr lang="fi-FI" dirty="0" err="1"/>
              <a:t>Consists</a:t>
            </a:r>
            <a:r>
              <a:rPr lang="fi-FI" dirty="0"/>
              <a:t> of </a:t>
            </a:r>
            <a:r>
              <a:rPr lang="fi-FI" dirty="0" err="1"/>
              <a:t>three</a:t>
            </a:r>
            <a:r>
              <a:rPr lang="fi-FI" dirty="0"/>
              <a:t> </a:t>
            </a:r>
            <a:r>
              <a:rPr lang="fi-FI" dirty="0" err="1"/>
              <a:t>stages</a:t>
            </a:r>
            <a:endParaRPr lang="fi-FI" dirty="0"/>
          </a:p>
          <a:p>
            <a:pPr lvl="1"/>
            <a:r>
              <a:rPr lang="fi-FI" dirty="0" smtClean="0"/>
              <a:t>I </a:t>
            </a:r>
            <a:r>
              <a:rPr lang="fi-FI" dirty="0" err="1" smtClean="0"/>
              <a:t>Stage</a:t>
            </a:r>
            <a:r>
              <a:rPr lang="fi-FI" dirty="0" smtClean="0"/>
              <a:t> </a:t>
            </a:r>
            <a:r>
              <a:rPr lang="fi-FI" dirty="0"/>
              <a:t>–</a:t>
            </a:r>
            <a:r>
              <a:rPr lang="fi-FI" dirty="0" smtClean="0"/>
              <a:t> </a:t>
            </a:r>
            <a:r>
              <a:rPr lang="fi-FI" dirty="0"/>
              <a:t>Demo to </a:t>
            </a:r>
            <a:r>
              <a:rPr lang="fi-FI" dirty="0" err="1"/>
              <a:t>advertise</a:t>
            </a:r>
            <a:r>
              <a:rPr lang="fi-FI" dirty="0"/>
              <a:t> the </a:t>
            </a:r>
            <a:r>
              <a:rPr lang="fi-FI" dirty="0" err="1"/>
              <a:t>upcoming</a:t>
            </a:r>
            <a:r>
              <a:rPr lang="fi-FI" dirty="0"/>
              <a:t> </a:t>
            </a:r>
            <a:r>
              <a:rPr lang="fi-FI" dirty="0" err="1"/>
              <a:t>portal</a:t>
            </a:r>
            <a:r>
              <a:rPr lang="fi-FI" dirty="0"/>
              <a:t>:</a:t>
            </a:r>
          </a:p>
          <a:p>
            <a:pPr lvl="2"/>
            <a:r>
              <a:rPr lang="fi-FI" dirty="0"/>
              <a:t>no </a:t>
            </a:r>
            <a:r>
              <a:rPr lang="fi-FI" dirty="0" err="1"/>
              <a:t>login</a:t>
            </a:r>
            <a:r>
              <a:rPr lang="fi-FI" dirty="0"/>
              <a:t> / </a:t>
            </a:r>
            <a:r>
              <a:rPr lang="fi-FI" dirty="0" err="1"/>
              <a:t>register</a:t>
            </a:r>
            <a:r>
              <a:rPr lang="fi-FI" dirty="0"/>
              <a:t> </a:t>
            </a:r>
            <a:r>
              <a:rPr lang="fi-FI" dirty="0" err="1"/>
              <a:t>functionality</a:t>
            </a:r>
            <a:endParaRPr lang="fi-FI" dirty="0"/>
          </a:p>
          <a:p>
            <a:pPr lvl="2"/>
            <a:r>
              <a:rPr lang="fi-FI" dirty="0"/>
              <a:t>no </a:t>
            </a:r>
            <a:r>
              <a:rPr lang="fi-FI" dirty="0" err="1"/>
              <a:t>downloads</a:t>
            </a:r>
            <a:endParaRPr lang="fi-FI" dirty="0"/>
          </a:p>
          <a:p>
            <a:pPr lvl="2"/>
            <a:r>
              <a:rPr lang="fi-FI" dirty="0" err="1"/>
              <a:t>already</a:t>
            </a:r>
            <a:r>
              <a:rPr lang="fi-FI" dirty="0"/>
              <a:t> </a:t>
            </a:r>
            <a:r>
              <a:rPr lang="fi-FI" dirty="0" err="1"/>
              <a:t>implemented</a:t>
            </a:r>
            <a:r>
              <a:rPr lang="fi-FI" dirty="0"/>
              <a:t> and </a:t>
            </a:r>
            <a:r>
              <a:rPr lang="fi-FI" dirty="0" err="1"/>
              <a:t>published</a:t>
            </a:r>
            <a:r>
              <a:rPr lang="fi-FI" dirty="0"/>
              <a:t> </a:t>
            </a:r>
            <a:r>
              <a:rPr lang="fi-FI" dirty="0" err="1"/>
              <a:t>online</a:t>
            </a:r>
            <a:endParaRPr lang="fi-FI" dirty="0"/>
          </a:p>
          <a:p>
            <a:pPr lvl="1"/>
            <a:r>
              <a:rPr lang="fi-FI" dirty="0"/>
              <a:t>II </a:t>
            </a:r>
            <a:r>
              <a:rPr lang="fi-FI" dirty="0" err="1"/>
              <a:t>Stage</a:t>
            </a:r>
            <a:r>
              <a:rPr lang="fi-FI" dirty="0"/>
              <a:t> – </a:t>
            </a:r>
            <a:r>
              <a:rPr lang="fi-FI" dirty="0" err="1" smtClean="0"/>
              <a:t>Interoperability</a:t>
            </a:r>
            <a:r>
              <a:rPr lang="fi-FI" dirty="0"/>
              <a:t>:</a:t>
            </a:r>
          </a:p>
          <a:p>
            <a:pPr lvl="2"/>
            <a:r>
              <a:rPr lang="fi-FI" dirty="0" err="1"/>
              <a:t>login</a:t>
            </a:r>
            <a:r>
              <a:rPr lang="fi-FI" dirty="0"/>
              <a:t> </a:t>
            </a:r>
            <a:r>
              <a:rPr lang="fi-FI" dirty="0" err="1"/>
              <a:t>system</a:t>
            </a:r>
            <a:r>
              <a:rPr lang="fi-FI" dirty="0"/>
              <a:t> via the SSO for FSD </a:t>
            </a:r>
            <a:r>
              <a:rPr lang="fi-FI" dirty="0" err="1"/>
              <a:t>web</a:t>
            </a:r>
            <a:r>
              <a:rPr lang="fi-FI" dirty="0"/>
              <a:t> </a:t>
            </a:r>
            <a:r>
              <a:rPr lang="fi-FI" dirty="0" err="1"/>
              <a:t>services</a:t>
            </a:r>
            <a:endParaRPr lang="fi-FI" dirty="0"/>
          </a:p>
          <a:p>
            <a:pPr lvl="2"/>
            <a:r>
              <a:rPr lang="fi-FI" dirty="0" err="1"/>
              <a:t>possibility</a:t>
            </a:r>
            <a:r>
              <a:rPr lang="fi-FI" dirty="0"/>
              <a:t> to </a:t>
            </a:r>
            <a:r>
              <a:rPr lang="fi-FI" dirty="0" err="1"/>
              <a:t>download</a:t>
            </a:r>
            <a:r>
              <a:rPr lang="fi-FI" dirty="0"/>
              <a:t> </a:t>
            </a:r>
            <a:r>
              <a:rPr lang="fi-FI" dirty="0" err="1"/>
              <a:t>datasets</a:t>
            </a:r>
            <a:endParaRPr lang="fi-FI" dirty="0"/>
          </a:p>
          <a:p>
            <a:pPr lvl="2"/>
            <a:r>
              <a:rPr lang="en-US" dirty="0"/>
              <a:t>research interface to collect metadata while the study is in progress</a:t>
            </a:r>
          </a:p>
          <a:p>
            <a:pPr lvl="1"/>
            <a:r>
              <a:rPr lang="en-US" dirty="0"/>
              <a:t>III Stage – New features:</a:t>
            </a:r>
          </a:p>
          <a:p>
            <a:pPr lvl="2"/>
            <a:r>
              <a:rPr lang="en-US" dirty="0" smtClean="0"/>
              <a:t>Variable Basket </a:t>
            </a:r>
            <a:r>
              <a:rPr lang="en-US" dirty="0"/>
              <a:t>feature with a Linux compatible back-end</a:t>
            </a:r>
          </a:p>
          <a:p>
            <a:pPr lvl="2"/>
            <a:r>
              <a:rPr lang="en-US" dirty="0"/>
              <a:t>import / export DDI3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14919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 err="1" smtClean="0"/>
              <a:t>Screenshots</a:t>
            </a:r>
            <a:endParaRPr lang="fi-FI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7363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0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7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6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0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8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7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80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5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etoarkisto_lopetu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tietoarkisto_powerpoint_2003</Template>
  <TotalTime>756</TotalTime>
  <Words>768</Words>
  <Application>Microsoft Office PowerPoint</Application>
  <PresentationFormat>On-screen Show (4:3)</PresentationFormat>
  <Paragraphs>113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Tietoarkisto_lopetus</vt:lpstr>
      <vt:lpstr>Implementing a longitudinal data portal with a customized version of Questasy</vt:lpstr>
      <vt:lpstr>Requirement</vt:lpstr>
      <vt:lpstr>Requirement</vt:lpstr>
      <vt:lpstr>Requirement</vt:lpstr>
      <vt:lpstr>Evaluation</vt:lpstr>
      <vt:lpstr>Evaluation</vt:lpstr>
      <vt:lpstr>Evaluation</vt:lpstr>
      <vt:lpstr>Evaluation</vt:lpstr>
      <vt:lpstr>Development</vt:lpstr>
      <vt:lpstr>Development</vt:lpstr>
      <vt:lpstr>Development</vt:lpstr>
      <vt:lpstr>Development</vt:lpstr>
      <vt:lpstr>Development</vt:lpstr>
      <vt:lpstr>Development</vt:lpstr>
      <vt:lpstr>Interoperability</vt:lpstr>
      <vt:lpstr>Interoperability</vt:lpstr>
      <vt:lpstr>Implementation</vt:lpstr>
      <vt:lpstr>Implementation</vt:lpstr>
      <vt:lpstr>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Toni Sissala</dc:creator>
  <cp:lastModifiedBy>Toni Sissala</cp:lastModifiedBy>
  <cp:revision>68</cp:revision>
  <dcterms:created xsi:type="dcterms:W3CDTF">2012-11-16T06:34:55Z</dcterms:created>
  <dcterms:modified xsi:type="dcterms:W3CDTF">2012-11-29T12:59:20Z</dcterms:modified>
</cp:coreProperties>
</file>