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7" r:id="rId3"/>
    <p:sldId id="258" r:id="rId4"/>
    <p:sldId id="314" r:id="rId5"/>
    <p:sldId id="312" r:id="rId6"/>
    <p:sldId id="259" r:id="rId7"/>
    <p:sldId id="280" r:id="rId8"/>
    <p:sldId id="278" r:id="rId9"/>
    <p:sldId id="279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61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1" r:id="rId29"/>
    <p:sldId id="282" r:id="rId30"/>
    <p:sldId id="284" r:id="rId31"/>
    <p:sldId id="283" r:id="rId32"/>
    <p:sldId id="285" r:id="rId33"/>
    <p:sldId id="286" r:id="rId34"/>
    <p:sldId id="313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310" r:id="rId47"/>
    <p:sldId id="306" r:id="rId48"/>
    <p:sldId id="307" r:id="rId49"/>
    <p:sldId id="308" r:id="rId50"/>
    <p:sldId id="298" r:id="rId51"/>
    <p:sldId id="299" r:id="rId52"/>
    <p:sldId id="300" r:id="rId53"/>
    <p:sldId id="303" r:id="rId54"/>
  </p:sldIdLst>
  <p:sldSz cx="9144000" cy="6858000" type="screen4x3"/>
  <p:notesSz cx="6794500" cy="9931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8DA"/>
    <a:srgbClr val="EDEBDF"/>
    <a:srgbClr val="E6E3D2"/>
    <a:srgbClr val="E0DCC6"/>
    <a:srgbClr val="D2CDAE"/>
    <a:srgbClr val="C4BD9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-3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A2004-449C-4A7E-B151-E2868ACE5C16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D03C5-0FA4-4E4E-87D0-7814122E3886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CCB7A-B6D5-47CB-AFA3-BDD9F1A66B18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74117-8C08-4C8D-B499-BE3B1568778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50D42-C9CD-4801-B293-61D1F53EC57E}" type="datetimeFigureOut">
              <a:rPr lang="de-DE" smtClean="0"/>
              <a:pPr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sis.org/en/services/research/data-catalogu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://www.gesis.org/en/services/research/data-catalogue/dbkfree/" TargetMode="Externa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www.gesis.org/histat/" TargetMode="Externa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://info1.gesis.org/dbkddi/" TargetMode="Externa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mailto:wolfgang.zenk-moeltgen@gesis.or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Metadata Management for Research Data with </a:t>
            </a:r>
            <a:r>
              <a:rPr lang="en-US" dirty="0" err="1" smtClean="0"/>
              <a:t>DBKfree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5038328"/>
            <a:ext cx="6400800" cy="838944"/>
          </a:xfrm>
        </p:spPr>
        <p:txBody>
          <a:bodyPr>
            <a:normAutofit/>
          </a:bodyPr>
          <a:lstStyle/>
          <a:p>
            <a:r>
              <a:rPr lang="de-DE" sz="2000" dirty="0" smtClean="0"/>
              <a:t>Wolfgang Zenk-Möltgen</a:t>
            </a:r>
          </a:p>
          <a:p>
            <a:r>
              <a:rPr lang="de-DE" sz="2000" dirty="0" smtClean="0"/>
              <a:t>GESIS – Leibniz Institute </a:t>
            </a:r>
            <a:r>
              <a:rPr lang="de-DE" sz="2000" dirty="0" err="1" smtClean="0"/>
              <a:t>for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</a:t>
            </a:r>
            <a:r>
              <a:rPr lang="de-DE" sz="2000" dirty="0" err="1" smtClean="0"/>
              <a:t>Social</a:t>
            </a:r>
            <a:r>
              <a:rPr lang="de-DE" sz="2000" dirty="0" smtClean="0"/>
              <a:t> </a:t>
            </a:r>
            <a:r>
              <a:rPr lang="de-DE" sz="2000" dirty="0" err="1" smtClean="0"/>
              <a:t>Sciences</a:t>
            </a:r>
            <a:endParaRPr lang="de-DE" sz="2000" dirty="0"/>
          </a:p>
        </p:txBody>
      </p:sp>
      <p:sp>
        <p:nvSpPr>
          <p:cNvPr id="4" name="Textfeld 3"/>
          <p:cNvSpPr txBox="1"/>
          <p:nvPr/>
        </p:nvSpPr>
        <p:spPr>
          <a:xfrm>
            <a:off x="323528" y="5805264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EDDI13 – 5th Annual European DDI User Conference</a:t>
            </a:r>
          </a:p>
          <a:p>
            <a:pPr algn="ctr"/>
            <a:r>
              <a:rPr lang="de-DE" dirty="0" err="1" smtClean="0"/>
              <a:t>Réseau</a:t>
            </a:r>
            <a:r>
              <a:rPr lang="de-DE" dirty="0" smtClean="0"/>
              <a:t> </a:t>
            </a:r>
            <a:r>
              <a:rPr lang="de-DE" dirty="0" err="1" smtClean="0"/>
              <a:t>Quetelet</a:t>
            </a:r>
            <a:r>
              <a:rPr lang="de-DE" dirty="0" smtClean="0"/>
              <a:t> - French Data Archives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Social</a:t>
            </a:r>
            <a:r>
              <a:rPr lang="de-DE" dirty="0" smtClean="0"/>
              <a:t> </a:t>
            </a:r>
            <a:r>
              <a:rPr lang="de-DE" dirty="0" err="1" smtClean="0"/>
              <a:t>Sciences</a:t>
            </a:r>
            <a:endParaRPr lang="de-DE" dirty="0" smtClean="0"/>
          </a:p>
          <a:p>
            <a:pPr algn="ctr"/>
            <a:r>
              <a:rPr lang="de-DE" dirty="0" err="1" smtClean="0"/>
              <a:t>December</a:t>
            </a:r>
            <a:r>
              <a:rPr lang="de-DE" dirty="0" smtClean="0"/>
              <a:t> 3-4, 2013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05880"/>
            <a:ext cx="8229600" cy="1143000"/>
          </a:xfrm>
        </p:spPr>
        <p:txBody>
          <a:bodyPr/>
          <a:lstStyle/>
          <a:p>
            <a:r>
              <a:rPr lang="de-DE" dirty="0" smtClean="0"/>
              <a:t>Outline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5"/>
          </a:xfrm>
        </p:spPr>
        <p:txBody>
          <a:bodyPr/>
          <a:lstStyle/>
          <a:p>
            <a:r>
              <a:rPr lang="de-DE" dirty="0" err="1" smtClean="0"/>
              <a:t>DBKfree</a:t>
            </a:r>
            <a:r>
              <a:rPr lang="de-DE" dirty="0" smtClean="0"/>
              <a:t> – Data </a:t>
            </a:r>
            <a:r>
              <a:rPr lang="de-DE" dirty="0" smtClean="0"/>
              <a:t>Catalogue </a:t>
            </a:r>
            <a:r>
              <a:rPr lang="de-DE" dirty="0" smtClean="0"/>
              <a:t>Software</a:t>
            </a:r>
            <a:endParaRPr lang="de-DE" dirty="0" smtClean="0"/>
          </a:p>
          <a:p>
            <a:r>
              <a:rPr lang="de-DE" dirty="0" err="1" smtClean="0"/>
              <a:t>DBKSearch</a:t>
            </a:r>
            <a:r>
              <a:rPr lang="de-DE" dirty="0" smtClean="0"/>
              <a:t> </a:t>
            </a:r>
            <a:r>
              <a:rPr lang="de-DE" dirty="0" err="1" smtClean="0"/>
              <a:t>Functions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End Users</a:t>
            </a:r>
            <a:endParaRPr lang="de-DE" dirty="0" smtClean="0"/>
          </a:p>
          <a:p>
            <a:r>
              <a:rPr lang="de-DE" dirty="0" err="1" smtClean="0"/>
              <a:t>DBKEdit</a:t>
            </a:r>
            <a:r>
              <a:rPr lang="de-DE" dirty="0" smtClean="0"/>
              <a:t> </a:t>
            </a:r>
            <a:r>
              <a:rPr lang="de-DE" dirty="0" err="1" smtClean="0"/>
              <a:t>Functions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Managers</a:t>
            </a:r>
            <a:endParaRPr lang="de-DE" dirty="0" smtClean="0"/>
          </a:p>
          <a:p>
            <a:r>
              <a:rPr lang="de-DE" dirty="0" smtClean="0"/>
              <a:t>DBK Technical &amp; </a:t>
            </a:r>
            <a:r>
              <a:rPr lang="de-DE" dirty="0" err="1" smtClean="0"/>
              <a:t>License</a:t>
            </a:r>
            <a:endParaRPr lang="de-DE" dirty="0" smtClean="0"/>
          </a:p>
          <a:p>
            <a:r>
              <a:rPr lang="de-DE" dirty="0" smtClean="0"/>
              <a:t>DBK Web </a:t>
            </a:r>
            <a:r>
              <a:rPr lang="de-DE" dirty="0" smtClean="0"/>
              <a:t>Services</a:t>
            </a:r>
            <a:endParaRPr lang="de-DE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05880"/>
            <a:ext cx="8229600" cy="1143000"/>
          </a:xfrm>
        </p:spPr>
        <p:txBody>
          <a:bodyPr>
            <a:normAutofit/>
          </a:bodyPr>
          <a:lstStyle/>
          <a:p>
            <a:r>
              <a:rPr lang="de-DE" dirty="0" err="1" smtClean="0"/>
              <a:t>DBKfree</a:t>
            </a:r>
            <a:r>
              <a:rPr lang="de-DE" dirty="0" smtClean="0"/>
              <a:t> – Data </a:t>
            </a:r>
            <a:r>
              <a:rPr lang="de-DE" dirty="0" smtClean="0"/>
              <a:t>Catalogue </a:t>
            </a:r>
            <a:r>
              <a:rPr lang="de-DE" dirty="0" smtClean="0"/>
              <a:t>Software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5"/>
          </a:xfrm>
        </p:spPr>
        <p:txBody>
          <a:bodyPr>
            <a:normAutofit lnSpcReduction="10000"/>
          </a:bodyPr>
          <a:lstStyle/>
          <a:p>
            <a:r>
              <a:rPr lang="de-DE" dirty="0" smtClean="0"/>
              <a:t>Preview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DBKfree</a:t>
            </a:r>
            <a:r>
              <a:rPr lang="de-DE" dirty="0" smtClean="0"/>
              <a:t> </a:t>
            </a:r>
            <a:r>
              <a:rPr lang="de-DE" dirty="0" err="1" smtClean="0"/>
              <a:t>v</a:t>
            </a:r>
            <a:r>
              <a:rPr lang="de-DE" dirty="0" err="1" smtClean="0"/>
              <a:t>ersion</a:t>
            </a:r>
            <a:r>
              <a:rPr lang="de-DE" dirty="0" smtClean="0"/>
              <a:t> 2.0 </a:t>
            </a:r>
            <a:r>
              <a:rPr lang="de-DE" dirty="0" err="1" smtClean="0"/>
              <a:t>beta</a:t>
            </a:r>
            <a:endParaRPr lang="de-DE" dirty="0" smtClean="0"/>
          </a:p>
          <a:p>
            <a:r>
              <a:rPr lang="de-DE" dirty="0" smtClean="0"/>
              <a:t>Will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GESIS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start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smtClean="0"/>
              <a:t>2014</a:t>
            </a:r>
          </a:p>
          <a:p>
            <a:r>
              <a:rPr lang="de-DE" dirty="0" smtClean="0"/>
              <a:t>Will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released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public</a:t>
            </a:r>
            <a:r>
              <a:rPr lang="de-DE" dirty="0" smtClean="0"/>
              <a:t> </a:t>
            </a:r>
            <a:r>
              <a:rPr lang="de-DE" dirty="0" err="1" smtClean="0"/>
              <a:t>during</a:t>
            </a:r>
            <a:r>
              <a:rPr lang="de-DE" dirty="0" smtClean="0"/>
              <a:t> 2014</a:t>
            </a:r>
            <a:endParaRPr lang="de-DE" dirty="0" smtClean="0"/>
          </a:p>
          <a:p>
            <a:r>
              <a:rPr lang="de-DE" dirty="0" err="1" smtClean="0"/>
              <a:t>Completely</a:t>
            </a:r>
            <a:r>
              <a:rPr lang="de-DE" dirty="0" smtClean="0"/>
              <a:t>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layout</a:t>
            </a:r>
            <a:endParaRPr lang="de-DE" dirty="0" smtClean="0"/>
          </a:p>
          <a:p>
            <a:r>
              <a:rPr lang="de-DE" dirty="0" smtClean="0"/>
              <a:t>Registration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users</a:t>
            </a:r>
            <a:r>
              <a:rPr lang="de-DE" dirty="0" smtClean="0"/>
              <a:t> </a:t>
            </a:r>
            <a:r>
              <a:rPr lang="de-DE" dirty="0" err="1" smtClean="0"/>
              <a:t>integrated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ZACAT </a:t>
            </a:r>
            <a:r>
              <a:rPr lang="de-DE" dirty="0" err="1" smtClean="0"/>
              <a:t>and</a:t>
            </a:r>
            <a:r>
              <a:rPr lang="de-DE" dirty="0" smtClean="0"/>
              <a:t> datorium</a:t>
            </a:r>
          </a:p>
          <a:p>
            <a:r>
              <a:rPr lang="de-DE" dirty="0" smtClean="0"/>
              <a:t>Download </a:t>
            </a:r>
            <a:r>
              <a:rPr lang="de-DE" dirty="0" err="1" smtClean="0"/>
              <a:t>portal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smtClean="0"/>
              <a:t>GESIS Data Archive</a:t>
            </a:r>
            <a:endParaRPr lang="de-DE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457200" y="1061864"/>
            <a:ext cx="8229600" cy="1143000"/>
          </a:xfrm>
        </p:spPr>
        <p:txBody>
          <a:bodyPr/>
          <a:lstStyle/>
          <a:p>
            <a:pPr eaLnBrk="1" hangingPunct="1"/>
            <a:r>
              <a:rPr lang="de-DE" dirty="0" smtClean="0"/>
              <a:t>DBK </a:t>
            </a:r>
            <a:r>
              <a:rPr lang="de-DE" dirty="0" err="1" smtClean="0"/>
              <a:t>at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GESIS Data Archive</a:t>
            </a:r>
            <a:endParaRPr lang="de-DE" dirty="0" smtClean="0"/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705225"/>
          </a:xfrm>
        </p:spPr>
        <p:txBody>
          <a:bodyPr>
            <a:noAutofit/>
          </a:bodyPr>
          <a:lstStyle/>
          <a:p>
            <a:pPr eaLnBrk="1" hangingPunct="1"/>
            <a:r>
              <a:rPr lang="de-DE" sz="1800" dirty="0" err="1" smtClean="0"/>
              <a:t>Contains</a:t>
            </a:r>
            <a:r>
              <a:rPr lang="de-DE" sz="1800" dirty="0" smtClean="0"/>
              <a:t> </a:t>
            </a:r>
            <a:r>
              <a:rPr lang="de-DE" sz="1800" dirty="0" err="1" smtClean="0"/>
              <a:t>study</a:t>
            </a:r>
            <a:r>
              <a:rPr lang="de-DE" sz="1800" dirty="0" smtClean="0"/>
              <a:t> </a:t>
            </a:r>
            <a:r>
              <a:rPr lang="de-DE" sz="1800" dirty="0" err="1" smtClean="0"/>
              <a:t>descriptions</a:t>
            </a:r>
            <a:r>
              <a:rPr lang="de-DE" sz="1800" dirty="0" smtClean="0"/>
              <a:t> </a:t>
            </a:r>
            <a:r>
              <a:rPr lang="de-DE" sz="1800" dirty="0" err="1" smtClean="0"/>
              <a:t>of</a:t>
            </a:r>
            <a:r>
              <a:rPr lang="de-DE" sz="1800" dirty="0" smtClean="0"/>
              <a:t> </a:t>
            </a:r>
            <a:r>
              <a:rPr lang="en-US" sz="1800" dirty="0" smtClean="0"/>
              <a:t>primary </a:t>
            </a:r>
            <a:r>
              <a:rPr lang="en-US" sz="1800" dirty="0" smtClean="0"/>
              <a:t>data from survey </a:t>
            </a:r>
            <a:r>
              <a:rPr lang="en-US" sz="1800" dirty="0" smtClean="0"/>
              <a:t>research and </a:t>
            </a:r>
            <a:r>
              <a:rPr lang="en-US" sz="1800" dirty="0" smtClean="0"/>
              <a:t>historical </a:t>
            </a:r>
            <a:r>
              <a:rPr lang="en-US" sz="1800" dirty="0" smtClean="0"/>
              <a:t>time series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Has more </a:t>
            </a:r>
            <a:r>
              <a:rPr lang="en-US" sz="1800" dirty="0" smtClean="0"/>
              <a:t>than </a:t>
            </a:r>
            <a:r>
              <a:rPr lang="en-US" sz="1800" dirty="0" smtClean="0"/>
              <a:t>5100 studies, e.g</a:t>
            </a:r>
            <a:r>
              <a:rPr lang="en-US" sz="1800" dirty="0" smtClean="0"/>
              <a:t>. </a:t>
            </a:r>
            <a:r>
              <a:rPr lang="en-US" sz="1800" dirty="0" smtClean="0"/>
              <a:t>ALLBUS</a:t>
            </a:r>
            <a:r>
              <a:rPr lang="en-US" sz="1800" dirty="0" smtClean="0"/>
              <a:t>, ISSP, </a:t>
            </a:r>
            <a:r>
              <a:rPr lang="en-US" sz="1800" dirty="0" err="1" smtClean="0"/>
              <a:t>Eurobarometer</a:t>
            </a:r>
            <a:r>
              <a:rPr lang="en-US" sz="1800" dirty="0" smtClean="0"/>
              <a:t>, </a:t>
            </a:r>
            <a:r>
              <a:rPr lang="en-US" sz="1800" dirty="0" err="1" smtClean="0"/>
              <a:t>Politbarometer</a:t>
            </a:r>
            <a:r>
              <a:rPr lang="en-US" sz="1800" dirty="0" smtClean="0"/>
              <a:t>,  </a:t>
            </a:r>
            <a:r>
              <a:rPr lang="en-US" sz="1800" dirty="0" err="1" smtClean="0"/>
              <a:t>DeutschlandTrend</a:t>
            </a:r>
            <a:r>
              <a:rPr lang="en-US" sz="1800" dirty="0" smtClean="0"/>
              <a:t>, European Values Study, </a:t>
            </a:r>
            <a:r>
              <a:rPr lang="de-DE" sz="1800" dirty="0" smtClean="0"/>
              <a:t>German Longitudinal </a:t>
            </a:r>
            <a:r>
              <a:rPr lang="de-DE" sz="1800" dirty="0" err="1" smtClean="0"/>
              <a:t>Election</a:t>
            </a:r>
            <a:r>
              <a:rPr lang="de-DE" sz="1800" dirty="0" smtClean="0"/>
              <a:t> Study, </a:t>
            </a:r>
            <a:r>
              <a:rPr lang="de-DE" sz="1800" dirty="0" err="1" smtClean="0"/>
              <a:t>Comparative</a:t>
            </a:r>
            <a:r>
              <a:rPr lang="de-DE" sz="1800" dirty="0" smtClean="0"/>
              <a:t> Study </a:t>
            </a:r>
            <a:r>
              <a:rPr lang="de-DE" sz="1800" dirty="0" err="1" smtClean="0"/>
              <a:t>of</a:t>
            </a:r>
            <a:r>
              <a:rPr lang="de-DE" sz="1800" dirty="0" smtClean="0"/>
              <a:t> </a:t>
            </a:r>
            <a:r>
              <a:rPr lang="de-DE" sz="1800" dirty="0" err="1" smtClean="0"/>
              <a:t>Electoral</a:t>
            </a:r>
            <a:r>
              <a:rPr lang="de-DE" sz="1800" dirty="0" smtClean="0"/>
              <a:t> Systems, Youth </a:t>
            </a:r>
            <a:r>
              <a:rPr lang="de-DE" sz="1800" dirty="0" smtClean="0"/>
              <a:t>Studies </a:t>
            </a:r>
            <a:r>
              <a:rPr lang="de-DE" sz="1800" dirty="0" err="1" smtClean="0"/>
              <a:t>and</a:t>
            </a:r>
            <a:r>
              <a:rPr lang="de-DE" sz="1800" dirty="0" smtClean="0"/>
              <a:t> </a:t>
            </a:r>
            <a:r>
              <a:rPr lang="de-DE" sz="1800" dirty="0" err="1" smtClean="0"/>
              <a:t>many</a:t>
            </a:r>
            <a:r>
              <a:rPr lang="de-DE" sz="1800" dirty="0" smtClean="0"/>
              <a:t> </a:t>
            </a:r>
            <a:r>
              <a:rPr lang="de-DE" sz="1800" dirty="0" err="1" smtClean="0"/>
              <a:t>more</a:t>
            </a:r>
            <a:r>
              <a:rPr lang="de-DE" sz="1800" dirty="0" smtClean="0"/>
              <a:t>…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Uses a </a:t>
            </a:r>
            <a:r>
              <a:rPr lang="de-DE" sz="1800" dirty="0" err="1" smtClean="0"/>
              <a:t>generic</a:t>
            </a:r>
            <a:r>
              <a:rPr lang="de-DE" sz="1800" dirty="0" smtClean="0"/>
              <a:t> </a:t>
            </a:r>
            <a:r>
              <a:rPr lang="de-DE" sz="1800" dirty="0" err="1" smtClean="0"/>
              <a:t>metadata</a:t>
            </a:r>
            <a:r>
              <a:rPr lang="de-DE" sz="1800" dirty="0" smtClean="0"/>
              <a:t> </a:t>
            </a:r>
            <a:r>
              <a:rPr lang="de-DE" sz="1800" dirty="0" err="1" smtClean="0"/>
              <a:t>schema</a:t>
            </a:r>
            <a:r>
              <a:rPr lang="de-DE" sz="1800" dirty="0" smtClean="0"/>
              <a:t> </a:t>
            </a:r>
            <a:r>
              <a:rPr lang="de-DE" sz="1800" dirty="0" err="1" smtClean="0"/>
              <a:t>for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description</a:t>
            </a:r>
            <a:r>
              <a:rPr lang="de-DE" sz="1800" dirty="0" smtClean="0"/>
              <a:t> </a:t>
            </a:r>
            <a:r>
              <a:rPr lang="de-DE" sz="1800" dirty="0" err="1" smtClean="0"/>
              <a:t>of</a:t>
            </a:r>
            <a:r>
              <a:rPr lang="de-DE" sz="1800" dirty="0" smtClean="0"/>
              <a:t> </a:t>
            </a:r>
            <a:r>
              <a:rPr lang="de-DE" sz="1800" dirty="0" err="1" smtClean="0"/>
              <a:t>social</a:t>
            </a:r>
            <a:r>
              <a:rPr lang="de-DE" sz="1800" dirty="0" smtClean="0"/>
              <a:t> </a:t>
            </a:r>
            <a:r>
              <a:rPr lang="de-DE" sz="1800" dirty="0" err="1" smtClean="0"/>
              <a:t>science</a:t>
            </a:r>
            <a:r>
              <a:rPr lang="de-DE" sz="1800" dirty="0" smtClean="0"/>
              <a:t> </a:t>
            </a:r>
            <a:r>
              <a:rPr lang="de-DE" sz="1800" dirty="0" err="1" smtClean="0"/>
              <a:t>data</a:t>
            </a:r>
            <a:r>
              <a:rPr lang="de-DE" sz="1800" dirty="0" smtClean="0"/>
              <a:t> </a:t>
            </a:r>
          </a:p>
          <a:p>
            <a:pPr eaLnBrk="1" hangingPunct="1"/>
            <a:r>
              <a:rPr lang="de-DE" sz="1800" dirty="0" smtClean="0"/>
              <a:t>Was </a:t>
            </a:r>
            <a:r>
              <a:rPr lang="de-DE" sz="1800" dirty="0" err="1" smtClean="0"/>
              <a:t>developed</a:t>
            </a:r>
            <a:r>
              <a:rPr lang="de-DE" sz="1800" dirty="0" smtClean="0"/>
              <a:t> </a:t>
            </a:r>
            <a:r>
              <a:rPr lang="de-DE" sz="1800" dirty="0" err="1" smtClean="0"/>
              <a:t>since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smtClean="0"/>
              <a:t>1960ies, </a:t>
            </a:r>
            <a:r>
              <a:rPr lang="de-DE" sz="1800" dirty="0" err="1" smtClean="0"/>
              <a:t>together</a:t>
            </a:r>
            <a:r>
              <a:rPr lang="de-DE" sz="1800" dirty="0" smtClean="0"/>
              <a:t> </a:t>
            </a:r>
            <a:r>
              <a:rPr lang="de-DE" sz="1800" dirty="0" err="1" smtClean="0"/>
              <a:t>with</a:t>
            </a:r>
            <a:r>
              <a:rPr lang="de-DE" sz="1800" dirty="0" smtClean="0"/>
              <a:t> </a:t>
            </a:r>
            <a:r>
              <a:rPr lang="de-DE" sz="1800" dirty="0" smtClean="0"/>
              <a:t>international </a:t>
            </a:r>
            <a:r>
              <a:rPr lang="de-DE" sz="1800" dirty="0" err="1" smtClean="0"/>
              <a:t>archives</a:t>
            </a:r>
            <a:r>
              <a:rPr lang="de-DE" sz="1800" dirty="0" smtClean="0"/>
              <a:t> </a:t>
            </a:r>
            <a:r>
              <a:rPr lang="de-DE" sz="1800" dirty="0" err="1" smtClean="0"/>
              <a:t>and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DDI </a:t>
            </a:r>
            <a:r>
              <a:rPr lang="de-DE" sz="1800" dirty="0" err="1" smtClean="0"/>
              <a:t>Alliance</a:t>
            </a:r>
            <a:endParaRPr lang="de-DE" sz="1800" dirty="0" smtClean="0"/>
          </a:p>
          <a:p>
            <a:pPr eaLnBrk="1" hangingPunct="1"/>
            <a:r>
              <a:rPr lang="de-DE" sz="1800" dirty="0" err="1" smtClean="0"/>
              <a:t>Provides</a:t>
            </a:r>
            <a:r>
              <a:rPr lang="de-DE" sz="1800" dirty="0" smtClean="0"/>
              <a:t> </a:t>
            </a:r>
            <a:r>
              <a:rPr lang="de-DE" sz="1800" dirty="0" err="1" smtClean="0"/>
              <a:t>metadata</a:t>
            </a:r>
            <a:r>
              <a:rPr lang="de-DE" sz="1800" dirty="0" smtClean="0"/>
              <a:t> </a:t>
            </a:r>
            <a:r>
              <a:rPr lang="de-DE" sz="1800" dirty="0" err="1" smtClean="0"/>
              <a:t>management</a:t>
            </a:r>
            <a:r>
              <a:rPr lang="de-DE" sz="1800" dirty="0" smtClean="0"/>
              <a:t> </a:t>
            </a:r>
            <a:r>
              <a:rPr lang="de-DE" sz="1800" dirty="0" err="1" smtClean="0"/>
              <a:t>to</a:t>
            </a:r>
            <a:r>
              <a:rPr lang="de-DE" sz="1800" dirty="0" smtClean="0"/>
              <a:t> </a:t>
            </a:r>
            <a:r>
              <a:rPr lang="de-DE" sz="1800" dirty="0" err="1" smtClean="0"/>
              <a:t>publish</a:t>
            </a:r>
            <a:r>
              <a:rPr lang="de-DE" sz="1800" dirty="0" smtClean="0"/>
              <a:t> </a:t>
            </a:r>
            <a:r>
              <a:rPr lang="de-DE" sz="1800" dirty="0" err="1" smtClean="0"/>
              <a:t>it</a:t>
            </a:r>
            <a:r>
              <a:rPr lang="de-DE" sz="1800" dirty="0" smtClean="0"/>
              <a:t> in different </a:t>
            </a:r>
            <a:r>
              <a:rPr lang="de-DE" sz="1800" dirty="0" err="1" smtClean="0"/>
              <a:t>retrieval</a:t>
            </a:r>
            <a:r>
              <a:rPr lang="de-DE" sz="1800" dirty="0" smtClean="0"/>
              <a:t> </a:t>
            </a:r>
            <a:r>
              <a:rPr lang="de-DE" sz="1800" dirty="0" err="1" smtClean="0"/>
              <a:t>and</a:t>
            </a:r>
            <a:r>
              <a:rPr lang="de-DE" sz="1800" dirty="0" smtClean="0"/>
              <a:t> </a:t>
            </a:r>
            <a:r>
              <a:rPr lang="de-DE" sz="1800" dirty="0" err="1" smtClean="0"/>
              <a:t>distribution</a:t>
            </a:r>
            <a:r>
              <a:rPr lang="de-DE" sz="1800" dirty="0" smtClean="0"/>
              <a:t> </a:t>
            </a:r>
            <a:r>
              <a:rPr lang="de-DE" sz="1800" dirty="0" err="1" smtClean="0"/>
              <a:t>platforms</a:t>
            </a:r>
            <a:endParaRPr lang="de-DE" sz="1800" dirty="0" smtClean="0"/>
          </a:p>
          <a:p>
            <a:pPr eaLnBrk="1" hangingPunct="1"/>
            <a:r>
              <a:rPr lang="de-DE" sz="1800" dirty="0" err="1" smtClean="0"/>
              <a:t>Includes</a:t>
            </a:r>
            <a:r>
              <a:rPr lang="de-DE" sz="1800" dirty="0" smtClean="0"/>
              <a:t> a </a:t>
            </a:r>
            <a:r>
              <a:rPr lang="de-DE" sz="1800" dirty="0" err="1" smtClean="0"/>
              <a:t>version</a:t>
            </a:r>
            <a:r>
              <a:rPr lang="de-DE" sz="1800" dirty="0" smtClean="0"/>
              <a:t> </a:t>
            </a:r>
            <a:r>
              <a:rPr lang="de-DE" sz="1800" dirty="0" err="1" smtClean="0"/>
              <a:t>history</a:t>
            </a:r>
            <a:r>
              <a:rPr lang="de-DE" sz="1800" dirty="0" smtClean="0"/>
              <a:t> </a:t>
            </a:r>
            <a:r>
              <a:rPr lang="de-DE" sz="1800" dirty="0" err="1" smtClean="0"/>
              <a:t>for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datasets</a:t>
            </a:r>
            <a:r>
              <a:rPr lang="de-DE" sz="1800" dirty="0" smtClean="0"/>
              <a:t>, </a:t>
            </a:r>
            <a:r>
              <a:rPr lang="de-DE" sz="1800" dirty="0" err="1" smtClean="0"/>
              <a:t>including</a:t>
            </a:r>
            <a:r>
              <a:rPr lang="de-DE" sz="1800" dirty="0" smtClean="0"/>
              <a:t> </a:t>
            </a:r>
            <a:r>
              <a:rPr lang="de-DE" sz="1800" dirty="0" err="1" smtClean="0"/>
              <a:t>errata</a:t>
            </a:r>
            <a:r>
              <a:rPr lang="de-DE" sz="1800" dirty="0" smtClean="0"/>
              <a:t> </a:t>
            </a:r>
            <a:r>
              <a:rPr lang="de-DE" sz="1800" dirty="0" err="1" smtClean="0"/>
              <a:t>documentation</a:t>
            </a:r>
            <a:r>
              <a:rPr lang="de-DE" sz="1800" dirty="0" smtClean="0"/>
              <a:t> </a:t>
            </a:r>
            <a:r>
              <a:rPr lang="de-DE" sz="1800" dirty="0" err="1" smtClean="0"/>
              <a:t>and</a:t>
            </a:r>
            <a:r>
              <a:rPr lang="de-DE" sz="1800" dirty="0" smtClean="0"/>
              <a:t> persistent </a:t>
            </a:r>
            <a:r>
              <a:rPr lang="de-DE" sz="1800" dirty="0" err="1" smtClean="0"/>
              <a:t>identifiers</a:t>
            </a:r>
            <a:r>
              <a:rPr lang="de-DE" sz="1800" dirty="0" smtClean="0"/>
              <a:t> (DOIs </a:t>
            </a:r>
            <a:r>
              <a:rPr lang="de-DE" sz="1800" dirty="0" err="1" smtClean="0"/>
              <a:t>by</a:t>
            </a:r>
            <a:r>
              <a:rPr lang="de-DE" sz="1800" dirty="0" smtClean="0"/>
              <a:t> </a:t>
            </a:r>
            <a:r>
              <a:rPr lang="de-DE" sz="1800" dirty="0" err="1" smtClean="0"/>
              <a:t>da|ra</a:t>
            </a:r>
            <a:r>
              <a:rPr lang="de-DE" sz="1800" dirty="0" smtClean="0"/>
              <a:t>)</a:t>
            </a:r>
            <a:endParaRPr lang="de-DE" sz="1800" dirty="0" smtClean="0"/>
          </a:p>
          <a:p>
            <a:pPr eaLnBrk="1" hangingPunct="1"/>
            <a:r>
              <a:rPr lang="de-DE" sz="1800" dirty="0" err="1" smtClean="0"/>
              <a:t>Enables</a:t>
            </a:r>
            <a:r>
              <a:rPr lang="de-DE" sz="1800" dirty="0" smtClean="0"/>
              <a:t> a </a:t>
            </a:r>
            <a:r>
              <a:rPr lang="de-DE" sz="1800" dirty="0" err="1" smtClean="0"/>
              <a:t>standardisation</a:t>
            </a:r>
            <a:r>
              <a:rPr lang="de-DE" sz="1800" dirty="0" smtClean="0"/>
              <a:t> </a:t>
            </a:r>
            <a:r>
              <a:rPr lang="de-DE" sz="1800" dirty="0" err="1" smtClean="0"/>
              <a:t>of</a:t>
            </a:r>
            <a:r>
              <a:rPr lang="de-DE" sz="1800" dirty="0" smtClean="0"/>
              <a:t> </a:t>
            </a:r>
            <a:r>
              <a:rPr lang="de-DE" sz="1800" dirty="0" err="1" smtClean="0"/>
              <a:t>the</a:t>
            </a:r>
            <a:r>
              <a:rPr lang="de-DE" sz="1800" dirty="0" smtClean="0"/>
              <a:t> </a:t>
            </a:r>
            <a:r>
              <a:rPr lang="de-DE" sz="1800" dirty="0" err="1" smtClean="0"/>
              <a:t>metadata</a:t>
            </a:r>
            <a:r>
              <a:rPr lang="de-DE" sz="1800" dirty="0" smtClean="0"/>
              <a:t>, e.g. </a:t>
            </a:r>
            <a:r>
              <a:rPr lang="de-DE" sz="1800" dirty="0" err="1" smtClean="0"/>
              <a:t>geographic</a:t>
            </a:r>
            <a:r>
              <a:rPr lang="de-DE" sz="1800" dirty="0" smtClean="0"/>
              <a:t> </a:t>
            </a:r>
            <a:r>
              <a:rPr lang="de-DE" sz="1800" dirty="0" err="1" smtClean="0"/>
              <a:t>coverage</a:t>
            </a:r>
            <a:r>
              <a:rPr lang="de-DE" sz="1800" dirty="0" smtClean="0"/>
              <a:t> , </a:t>
            </a:r>
            <a:r>
              <a:rPr lang="de-DE" sz="1800" dirty="0" err="1" smtClean="0"/>
              <a:t>collection</a:t>
            </a:r>
            <a:r>
              <a:rPr lang="de-DE" sz="1800" dirty="0" smtClean="0"/>
              <a:t> </a:t>
            </a:r>
            <a:r>
              <a:rPr lang="de-DE" sz="1800" dirty="0" err="1" smtClean="0"/>
              <a:t>dates</a:t>
            </a:r>
            <a:r>
              <a:rPr lang="de-DE" sz="1800" dirty="0" smtClean="0"/>
              <a:t>, </a:t>
            </a:r>
            <a:r>
              <a:rPr lang="de-DE" sz="1800" dirty="0" err="1" smtClean="0"/>
              <a:t>and</a:t>
            </a:r>
            <a:r>
              <a:rPr lang="de-DE" sz="1800" dirty="0" smtClean="0"/>
              <a:t> </a:t>
            </a:r>
            <a:r>
              <a:rPr lang="de-DE" sz="1800" dirty="0" err="1" smtClean="0"/>
              <a:t>publications</a:t>
            </a:r>
            <a:endParaRPr lang="de-DE" sz="1800" dirty="0" smtClean="0"/>
          </a:p>
          <a:p>
            <a:pPr eaLnBrk="1" hangingPunct="1"/>
            <a:r>
              <a:rPr lang="de-DE" sz="1800" dirty="0" smtClean="0">
                <a:hlinkClick r:id="rId3"/>
              </a:rPr>
              <a:t>http://www.gesis.org/en/services/research/data-catalogue/</a:t>
            </a:r>
            <a:r>
              <a:rPr lang="de-DE" sz="1800" dirty="0" smtClean="0"/>
              <a:t> </a:t>
            </a:r>
          </a:p>
          <a:p>
            <a:pPr lvl="1" eaLnBrk="1" hangingPunct="1"/>
            <a:endParaRPr lang="de-DE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05880"/>
            <a:ext cx="8229600" cy="1143000"/>
          </a:xfrm>
        </p:spPr>
        <p:txBody>
          <a:bodyPr>
            <a:normAutofit/>
          </a:bodyPr>
          <a:lstStyle/>
          <a:p>
            <a:r>
              <a:rPr lang="de-DE" dirty="0" err="1" smtClean="0"/>
              <a:t>DBKSearch</a:t>
            </a:r>
            <a:r>
              <a:rPr lang="de-DE" dirty="0" smtClean="0"/>
              <a:t> </a:t>
            </a:r>
            <a:r>
              <a:rPr lang="de-DE" dirty="0" err="1" smtClean="0"/>
              <a:t>Functions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End Users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5"/>
          </a:xfrm>
        </p:spPr>
        <p:txBody>
          <a:bodyPr>
            <a:normAutofit/>
          </a:bodyPr>
          <a:lstStyle/>
          <a:p>
            <a:r>
              <a:rPr lang="de-DE" dirty="0" smtClean="0"/>
              <a:t>Quick, Simple &amp; </a:t>
            </a:r>
            <a:r>
              <a:rPr lang="de-DE" dirty="0" err="1" smtClean="0"/>
              <a:t>Advanced</a:t>
            </a:r>
            <a:r>
              <a:rPr lang="de-DE" dirty="0" smtClean="0"/>
              <a:t> Field </a:t>
            </a:r>
            <a:r>
              <a:rPr lang="de-DE" dirty="0" err="1" smtClean="0"/>
              <a:t>Searches</a:t>
            </a:r>
            <a:endParaRPr lang="de-DE" dirty="0" smtClean="0"/>
          </a:p>
          <a:p>
            <a:r>
              <a:rPr lang="de-DE" dirty="0" err="1" smtClean="0"/>
              <a:t>Configurable</a:t>
            </a:r>
            <a:r>
              <a:rPr lang="de-DE" dirty="0" smtClean="0"/>
              <a:t> </a:t>
            </a:r>
            <a:r>
              <a:rPr lang="de-DE" dirty="0" err="1" smtClean="0"/>
              <a:t>Result</a:t>
            </a:r>
            <a:r>
              <a:rPr lang="de-DE" dirty="0" smtClean="0"/>
              <a:t> Lists</a:t>
            </a:r>
          </a:p>
          <a:p>
            <a:r>
              <a:rPr lang="de-DE" dirty="0" smtClean="0"/>
              <a:t>Browse Studies, Products &amp; Groups</a:t>
            </a:r>
            <a:endParaRPr lang="de-DE" dirty="0" smtClean="0"/>
          </a:p>
          <a:p>
            <a:r>
              <a:rPr lang="de-DE" dirty="0" smtClean="0"/>
              <a:t>Tag </a:t>
            </a:r>
            <a:r>
              <a:rPr lang="de-DE" dirty="0" err="1" smtClean="0"/>
              <a:t>Clouds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Overviews</a:t>
            </a:r>
            <a:endParaRPr lang="de-DE" dirty="0" smtClean="0"/>
          </a:p>
          <a:p>
            <a:r>
              <a:rPr lang="de-DE" dirty="0" smtClean="0"/>
              <a:t>New Registration </a:t>
            </a:r>
            <a:r>
              <a:rPr lang="de-DE" dirty="0" err="1" smtClean="0"/>
              <a:t>for</a:t>
            </a:r>
            <a:r>
              <a:rPr lang="de-DE" dirty="0" smtClean="0"/>
              <a:t> Users</a:t>
            </a:r>
          </a:p>
          <a:p>
            <a:pPr lvl="1"/>
            <a:r>
              <a:rPr lang="de-DE" dirty="0" smtClean="0"/>
              <a:t>Data Download &amp; Shopping </a:t>
            </a:r>
            <a:r>
              <a:rPr lang="de-DE" dirty="0" err="1" smtClean="0"/>
              <a:t>Cart</a:t>
            </a:r>
            <a:endParaRPr lang="de-DE" dirty="0" smtClean="0"/>
          </a:p>
          <a:p>
            <a:endParaRPr lang="de-DE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129591" cy="5433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094539" cy="544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99283"/>
            <a:ext cx="7087528" cy="542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094539" cy="5531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82486"/>
            <a:ext cx="7157632" cy="7459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084656"/>
            <a:ext cx="7129591" cy="515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052736"/>
            <a:ext cx="6199644" cy="598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052736"/>
            <a:ext cx="6217932" cy="5937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052736"/>
            <a:ext cx="6199644" cy="5797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038164"/>
            <a:ext cx="6175260" cy="5919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052736"/>
            <a:ext cx="6175260" cy="5577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052736"/>
            <a:ext cx="6175260" cy="4401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052736"/>
            <a:ext cx="6175260" cy="5041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5799" y="1034198"/>
            <a:ext cx="7136601" cy="6211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077046"/>
            <a:ext cx="7094539" cy="5271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052736"/>
            <a:ext cx="7129591" cy="506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087528" cy="5699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073507" cy="5636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108559" cy="567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6830" y="1052736"/>
            <a:ext cx="7115570" cy="562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104995"/>
            <a:ext cx="7087528" cy="5636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7861" y="2046900"/>
            <a:ext cx="7094539" cy="505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1061864"/>
            <a:ext cx="8229600" cy="1143000"/>
          </a:xfrm>
        </p:spPr>
        <p:txBody>
          <a:bodyPr/>
          <a:lstStyle/>
          <a:p>
            <a:r>
              <a:rPr lang="de-DE" dirty="0" smtClean="0"/>
              <a:t>Registration 2.0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094539" cy="5068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101549" cy="631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7087528" cy="5362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60648"/>
            <a:ext cx="7080518" cy="6603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476672"/>
            <a:ext cx="7529186" cy="6365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-27384"/>
            <a:ext cx="7073507" cy="743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7504" y="1205880"/>
            <a:ext cx="8928992" cy="1143000"/>
          </a:xfrm>
        </p:spPr>
        <p:txBody>
          <a:bodyPr>
            <a:noAutofit/>
          </a:bodyPr>
          <a:lstStyle/>
          <a:p>
            <a:r>
              <a:rPr lang="de-DE" sz="4000" dirty="0" err="1" smtClean="0"/>
              <a:t>DBKEdit</a:t>
            </a:r>
            <a:r>
              <a:rPr lang="de-DE" sz="4000" dirty="0" smtClean="0"/>
              <a:t> </a:t>
            </a:r>
            <a:r>
              <a:rPr lang="de-DE" sz="4000" dirty="0" err="1" smtClean="0"/>
              <a:t>Functions</a:t>
            </a:r>
            <a:r>
              <a:rPr lang="de-DE" sz="4000" dirty="0" smtClean="0"/>
              <a:t> </a:t>
            </a:r>
            <a:r>
              <a:rPr lang="de-DE" sz="4000" dirty="0" err="1" smtClean="0"/>
              <a:t>for</a:t>
            </a:r>
            <a:r>
              <a:rPr lang="de-DE" sz="4000" dirty="0" smtClean="0"/>
              <a:t> </a:t>
            </a:r>
            <a:r>
              <a:rPr lang="de-DE" sz="4000" dirty="0" err="1" smtClean="0"/>
              <a:t>Metadata</a:t>
            </a:r>
            <a:r>
              <a:rPr lang="de-DE" sz="4000" dirty="0" smtClean="0"/>
              <a:t> </a:t>
            </a:r>
            <a:r>
              <a:rPr lang="de-DE" sz="4000" dirty="0" smtClean="0"/>
              <a:t>Managers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5"/>
          </a:xfrm>
        </p:spPr>
        <p:txBody>
          <a:bodyPr>
            <a:normAutofit lnSpcReduction="10000"/>
          </a:bodyPr>
          <a:lstStyle/>
          <a:p>
            <a:r>
              <a:rPr lang="de-DE" dirty="0" smtClean="0"/>
              <a:t>English Interface </a:t>
            </a:r>
            <a:r>
              <a:rPr lang="de-DE" dirty="0" err="1" smtClean="0"/>
              <a:t>now</a:t>
            </a:r>
            <a:r>
              <a:rPr lang="de-DE" dirty="0" smtClean="0"/>
              <a:t> </a:t>
            </a:r>
            <a:r>
              <a:rPr lang="de-DE" dirty="0" err="1" smtClean="0"/>
              <a:t>available</a:t>
            </a:r>
            <a:endParaRPr lang="de-DE" dirty="0" smtClean="0"/>
          </a:p>
          <a:p>
            <a:r>
              <a:rPr lang="de-DE" dirty="0" smtClean="0"/>
              <a:t>Create, </a:t>
            </a:r>
            <a:r>
              <a:rPr lang="de-DE" dirty="0" err="1" smtClean="0"/>
              <a:t>Search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Browse: Studies, Products, Groups, </a:t>
            </a:r>
            <a:r>
              <a:rPr lang="de-DE" dirty="0" err="1" smtClean="0"/>
              <a:t>Prefaces</a:t>
            </a:r>
            <a:r>
              <a:rPr lang="de-DE" dirty="0" smtClean="0"/>
              <a:t> &amp; </a:t>
            </a:r>
            <a:r>
              <a:rPr lang="de-DE" dirty="0" err="1" smtClean="0"/>
              <a:t>Drafts</a:t>
            </a:r>
            <a:endParaRPr lang="de-DE" dirty="0" smtClean="0"/>
          </a:p>
          <a:p>
            <a:r>
              <a:rPr lang="de-DE" dirty="0" smtClean="0"/>
              <a:t>Edit </a:t>
            </a:r>
            <a:r>
              <a:rPr lang="de-DE" dirty="0" err="1" smtClean="0"/>
              <a:t>Metadata</a:t>
            </a:r>
            <a:r>
              <a:rPr lang="de-DE" dirty="0" smtClean="0"/>
              <a:t> &amp; Register DOIs (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da|ra</a:t>
            </a:r>
            <a:r>
              <a:rPr lang="de-DE" dirty="0" smtClean="0"/>
              <a:t>)</a:t>
            </a:r>
            <a:endParaRPr lang="de-DE" dirty="0" smtClean="0"/>
          </a:p>
          <a:p>
            <a:r>
              <a:rPr lang="de-DE" dirty="0" smtClean="0"/>
              <a:t>Do Checks </a:t>
            </a:r>
            <a:r>
              <a:rPr lang="de-DE" dirty="0" err="1" smtClean="0"/>
              <a:t>and</a:t>
            </a:r>
            <a:r>
              <a:rPr lang="de-DE" dirty="0" smtClean="0"/>
              <a:t> View </a:t>
            </a:r>
            <a:r>
              <a:rPr lang="de-DE" dirty="0" err="1" smtClean="0"/>
              <a:t>Logfiles</a:t>
            </a:r>
            <a:endParaRPr lang="de-DE" dirty="0" smtClean="0"/>
          </a:p>
          <a:p>
            <a:r>
              <a:rPr lang="de-DE" dirty="0" smtClean="0"/>
              <a:t>Create Newsfeed </a:t>
            </a:r>
            <a:r>
              <a:rPr lang="de-DE" dirty="0" err="1" smtClean="0"/>
              <a:t>Entries</a:t>
            </a:r>
            <a:endParaRPr lang="de-DE" dirty="0" smtClean="0"/>
          </a:p>
          <a:p>
            <a:r>
              <a:rPr lang="de-DE" dirty="0" smtClean="0"/>
              <a:t>Manage Users, Groups </a:t>
            </a:r>
            <a:r>
              <a:rPr lang="de-DE" dirty="0" err="1" smtClean="0"/>
              <a:t>of</a:t>
            </a:r>
            <a:r>
              <a:rPr lang="de-DE" dirty="0" smtClean="0"/>
              <a:t> Users &amp; </a:t>
            </a:r>
            <a:r>
              <a:rPr lang="de-DE" dirty="0" err="1" smtClean="0"/>
              <a:t>Rights</a:t>
            </a:r>
            <a:endParaRPr lang="de-DE" dirty="0" smtClean="0"/>
          </a:p>
          <a:p>
            <a:endParaRPr lang="de-DE" dirty="0" smtClean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830340"/>
            <a:ext cx="7115570" cy="26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57200" y="1124744"/>
            <a:ext cx="8229600" cy="1143000"/>
          </a:xfrm>
        </p:spPr>
        <p:txBody>
          <a:bodyPr/>
          <a:lstStyle/>
          <a:p>
            <a:r>
              <a:rPr lang="de-DE" dirty="0" err="1" smtClean="0"/>
              <a:t>DBKEdit</a:t>
            </a:r>
            <a:r>
              <a:rPr lang="de-DE" dirty="0" smtClean="0"/>
              <a:t> </a:t>
            </a:r>
            <a:r>
              <a:rPr lang="de-DE" dirty="0" smtClean="0"/>
              <a:t>2.0 </a:t>
            </a:r>
            <a:r>
              <a:rPr lang="de-DE" dirty="0" err="1" smtClean="0"/>
              <a:t>beta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3841" y="548680"/>
            <a:ext cx="7108559" cy="633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02515"/>
            <a:ext cx="7101549" cy="737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4926" y="197359"/>
            <a:ext cx="7045466" cy="748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69367"/>
            <a:ext cx="7087528" cy="748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6632"/>
            <a:ext cx="8503634" cy="6751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02515"/>
            <a:ext cx="7080518" cy="737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16632"/>
            <a:ext cx="7094539" cy="7445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6830" y="1124744"/>
            <a:ext cx="7115570" cy="4052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1194"/>
            <a:ext cx="8805081" cy="7459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7108559" cy="2888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1061864"/>
            <a:ext cx="8229600" cy="1143000"/>
          </a:xfrm>
        </p:spPr>
        <p:txBody>
          <a:bodyPr/>
          <a:lstStyle/>
          <a:p>
            <a:r>
              <a:rPr lang="de-DE" dirty="0" err="1" smtClean="0"/>
              <a:t>DBKfree</a:t>
            </a:r>
            <a:r>
              <a:rPr lang="de-DE" dirty="0" smtClean="0"/>
              <a:t> Technical &amp; </a:t>
            </a:r>
            <a:r>
              <a:rPr lang="de-DE" dirty="0" err="1" smtClean="0"/>
              <a:t>License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431429"/>
            <a:ext cx="4038600" cy="4525963"/>
          </a:xfrm>
        </p:spPr>
        <p:txBody>
          <a:bodyPr>
            <a:normAutofit/>
          </a:bodyPr>
          <a:lstStyle/>
          <a:p>
            <a:r>
              <a:rPr lang="de-DE" dirty="0" smtClean="0"/>
              <a:t>ASP Server Pages</a:t>
            </a:r>
            <a:endParaRPr lang="de-DE" dirty="0" smtClean="0"/>
          </a:p>
          <a:p>
            <a:r>
              <a:rPr lang="de-DE" dirty="0" smtClean="0"/>
              <a:t>IIS 7.5</a:t>
            </a:r>
            <a:endParaRPr lang="de-DE" dirty="0" smtClean="0"/>
          </a:p>
          <a:p>
            <a:r>
              <a:rPr lang="de-DE" dirty="0" err="1" smtClean="0"/>
              <a:t>MySQL</a:t>
            </a:r>
            <a:r>
              <a:rPr lang="de-DE" dirty="0" smtClean="0"/>
              <a:t> 5.6</a:t>
            </a:r>
            <a:endParaRPr lang="de-DE" dirty="0" smtClean="0"/>
          </a:p>
          <a:p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>
          <a:xfrm>
            <a:off x="4648200" y="2431429"/>
            <a:ext cx="4038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GNU General Public License (GPL) v3.0</a:t>
            </a:r>
            <a:endParaRPr lang="de-DE" dirty="0" smtClean="0"/>
          </a:p>
          <a:p>
            <a:endParaRPr lang="de-DE" dirty="0" smtClean="0"/>
          </a:p>
          <a:p>
            <a:endParaRPr lang="de-DE" dirty="0" smtClean="0"/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467544" y="4077072"/>
            <a:ext cx="4392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Download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current</a:t>
            </a:r>
            <a:r>
              <a:rPr lang="de-DE" dirty="0" smtClean="0"/>
              <a:t> </a:t>
            </a:r>
            <a:r>
              <a:rPr lang="de-DE" dirty="0" err="1" smtClean="0"/>
              <a:t>version</a:t>
            </a:r>
            <a:r>
              <a:rPr lang="de-DE" dirty="0" smtClean="0"/>
              <a:t> 1.8 </a:t>
            </a:r>
            <a:r>
              <a:rPr lang="de-DE" dirty="0" err="1" smtClean="0"/>
              <a:t>here</a:t>
            </a:r>
            <a:r>
              <a:rPr lang="de-DE" dirty="0" smtClean="0"/>
              <a:t>:</a:t>
            </a:r>
          </a:p>
          <a:p>
            <a:r>
              <a:rPr lang="de-DE" dirty="0" smtClean="0">
                <a:hlinkClick r:id="rId2"/>
              </a:rPr>
              <a:t>http://www.gesis.org/en/services/research/data-catalogue/dbkfree</a:t>
            </a:r>
            <a:r>
              <a:rPr lang="de-DE" dirty="0" smtClean="0">
                <a:hlinkClick r:id="rId2"/>
              </a:rPr>
              <a:t>/</a:t>
            </a:r>
            <a:endParaRPr lang="de-DE" dirty="0" smtClean="0"/>
          </a:p>
          <a:p>
            <a:r>
              <a:rPr lang="de-DE" dirty="0" smtClean="0"/>
              <a:t>New </a:t>
            </a:r>
            <a:r>
              <a:rPr lang="de-DE" dirty="0" err="1" smtClean="0"/>
              <a:t>version</a:t>
            </a:r>
            <a:r>
              <a:rPr lang="de-DE" dirty="0" smtClean="0"/>
              <a:t> 2.0 will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announced</a:t>
            </a:r>
            <a:r>
              <a:rPr lang="de-DE" dirty="0" smtClean="0"/>
              <a:t> </a:t>
            </a:r>
            <a:r>
              <a:rPr lang="de-DE" dirty="0" err="1" smtClean="0"/>
              <a:t>there</a:t>
            </a:r>
            <a:r>
              <a:rPr lang="de-DE" dirty="0" smtClean="0"/>
              <a:t>…</a:t>
            </a:r>
            <a:endParaRPr lang="de-DE" dirty="0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3861048"/>
            <a:ext cx="3090863" cy="28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1061864"/>
            <a:ext cx="8229600" cy="1143000"/>
          </a:xfrm>
        </p:spPr>
        <p:txBody>
          <a:bodyPr/>
          <a:lstStyle/>
          <a:p>
            <a:r>
              <a:rPr lang="de-DE" dirty="0" smtClean="0"/>
              <a:t>DBK Web Services: </a:t>
            </a:r>
            <a:r>
              <a:rPr lang="de-DE" dirty="0" err="1" smtClean="0"/>
              <a:t>DBKWeb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431429"/>
            <a:ext cx="4038600" cy="4525963"/>
          </a:xfrm>
        </p:spPr>
        <p:txBody>
          <a:bodyPr>
            <a:normAutofit fontScale="70000" lnSpcReduction="20000"/>
          </a:bodyPr>
          <a:lstStyle/>
          <a:p>
            <a:r>
              <a:rPr lang="de-DE" dirty="0" err="1" smtClean="0"/>
              <a:t>Authenticate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Study_AddGeography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Study_AddPrincipleInvestigator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Study_AddPublication</a:t>
            </a:r>
            <a:endParaRPr lang="de-DE" dirty="0" smtClean="0"/>
          </a:p>
          <a:p>
            <a:r>
              <a:rPr lang="de-DE" dirty="0" err="1" smtClean="0"/>
              <a:t>Study_ClearGeography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Study_ClearPrincipleInvestigators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Study_ClearPublications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Study_Create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Study_CreateVersion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Study_Delete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Study_GetDOIbyVersion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Study_GetNewNumber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Study_SetAbstract</a:t>
            </a:r>
            <a:r>
              <a:rPr lang="de-DE" dirty="0" smtClean="0"/>
              <a:t> </a:t>
            </a:r>
          </a:p>
          <a:p>
            <a:r>
              <a:rPr lang="de-DE" dirty="0" err="1" smtClean="0"/>
              <a:t>Study_SetAccessClass</a:t>
            </a:r>
            <a:r>
              <a:rPr lang="de-DE" dirty="0" smtClean="0"/>
              <a:t> </a:t>
            </a:r>
          </a:p>
          <a:p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>
          <a:xfrm>
            <a:off x="4648200" y="2431429"/>
            <a:ext cx="4038600" cy="4525963"/>
          </a:xfrm>
        </p:spPr>
        <p:txBody>
          <a:bodyPr>
            <a:normAutofit fontScale="70000" lnSpcReduction="20000"/>
          </a:bodyPr>
          <a:lstStyle/>
          <a:p>
            <a:r>
              <a:rPr lang="de-DE" dirty="0" err="1" smtClean="0"/>
              <a:t>To</a:t>
            </a:r>
            <a:r>
              <a:rPr lang="de-DE" dirty="0" smtClean="0"/>
              <a:t> manage </a:t>
            </a:r>
            <a:r>
              <a:rPr lang="de-DE" dirty="0" err="1" smtClean="0"/>
              <a:t>basic</a:t>
            </a:r>
            <a:r>
              <a:rPr lang="de-DE" dirty="0" smtClean="0"/>
              <a:t> </a:t>
            </a:r>
            <a:r>
              <a:rPr lang="de-DE" dirty="0" err="1" smtClean="0"/>
              <a:t>functions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study</a:t>
            </a:r>
            <a:r>
              <a:rPr lang="de-DE" dirty="0" smtClean="0"/>
              <a:t> </a:t>
            </a:r>
            <a:r>
              <a:rPr lang="de-DE" dirty="0" err="1" smtClean="0"/>
              <a:t>descriptions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other</a:t>
            </a:r>
            <a:r>
              <a:rPr lang="de-DE" dirty="0" smtClean="0"/>
              <a:t> </a:t>
            </a:r>
            <a:r>
              <a:rPr lang="de-DE" dirty="0" err="1" smtClean="0"/>
              <a:t>applications</a:t>
            </a:r>
            <a:endParaRPr lang="de-DE" dirty="0" smtClean="0"/>
          </a:p>
          <a:p>
            <a:r>
              <a:rPr lang="de-DE" dirty="0" smtClean="0"/>
              <a:t>SOAP Protocol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endParaRPr lang="de-DE" dirty="0" smtClean="0"/>
          </a:p>
          <a:p>
            <a:r>
              <a:rPr lang="de-DE" dirty="0" err="1" smtClean="0"/>
              <a:t>Example</a:t>
            </a:r>
            <a:r>
              <a:rPr lang="de-DE" dirty="0" smtClean="0"/>
              <a:t>: HISTAT </a:t>
            </a:r>
            <a:r>
              <a:rPr lang="de-DE" dirty="0" err="1" smtClean="0"/>
              <a:t>application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Historical Time </a:t>
            </a:r>
            <a:r>
              <a:rPr lang="de-DE" dirty="0" smtClean="0"/>
              <a:t>Series: </a:t>
            </a:r>
            <a:r>
              <a:rPr lang="de-DE" dirty="0" smtClean="0">
                <a:hlinkClick r:id="rId2"/>
              </a:rPr>
              <a:t>http://</a:t>
            </a:r>
            <a:r>
              <a:rPr lang="de-DE" dirty="0" smtClean="0">
                <a:hlinkClick r:id="rId2"/>
              </a:rPr>
              <a:t>www.gesis.org/histat/</a:t>
            </a:r>
            <a:r>
              <a:rPr lang="de-DE" dirty="0" smtClean="0"/>
              <a:t> </a:t>
            </a:r>
          </a:p>
          <a:p>
            <a:endParaRPr lang="de-DE" dirty="0" smtClean="0"/>
          </a:p>
          <a:p>
            <a:endParaRPr lang="de-DE" dirty="0" smtClean="0"/>
          </a:p>
          <a:p>
            <a:endParaRPr lang="de-DE" dirty="0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4349005"/>
            <a:ext cx="2952750" cy="239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056" y="1183331"/>
            <a:ext cx="8454408" cy="5414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1061864"/>
            <a:ext cx="8229600" cy="1143000"/>
          </a:xfrm>
        </p:spPr>
        <p:txBody>
          <a:bodyPr/>
          <a:lstStyle/>
          <a:p>
            <a:r>
              <a:rPr lang="de-DE" dirty="0" smtClean="0"/>
              <a:t>DBK Web Services: DBKDDI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431429"/>
            <a:ext cx="4038600" cy="4525963"/>
          </a:xfrm>
        </p:spPr>
        <p:txBody>
          <a:bodyPr>
            <a:normAutofit/>
          </a:bodyPr>
          <a:lstStyle/>
          <a:p>
            <a:r>
              <a:rPr lang="de-DE" sz="2000" dirty="0" err="1" smtClean="0"/>
              <a:t>GetStudyList</a:t>
            </a:r>
            <a:r>
              <a:rPr lang="de-DE" sz="2000" dirty="0" smtClean="0"/>
              <a:t> </a:t>
            </a:r>
          </a:p>
          <a:p>
            <a:r>
              <a:rPr lang="de-DE" sz="2000" dirty="0" smtClean="0"/>
              <a:t>Study_GetDDI20 </a:t>
            </a:r>
          </a:p>
          <a:p>
            <a:r>
              <a:rPr lang="de-DE" sz="2000" dirty="0" smtClean="0"/>
              <a:t>Study_GetDDI31 </a:t>
            </a:r>
          </a:p>
          <a:p>
            <a:endParaRPr lang="de-DE" sz="2000" dirty="0" smtClean="0"/>
          </a:p>
          <a:p>
            <a:endParaRPr lang="de-DE" sz="2000" dirty="0"/>
          </a:p>
        </p:txBody>
      </p:sp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>
          <a:xfrm>
            <a:off x="4648200" y="2431429"/>
            <a:ext cx="4038600" cy="4525963"/>
          </a:xfrm>
        </p:spPr>
        <p:txBody>
          <a:bodyPr>
            <a:normAutofit/>
          </a:bodyPr>
          <a:lstStyle/>
          <a:p>
            <a:r>
              <a:rPr lang="de-DE" sz="2000" dirty="0" err="1" smtClean="0"/>
              <a:t>To</a:t>
            </a:r>
            <a:r>
              <a:rPr lang="de-DE" sz="2000" dirty="0" smtClean="0"/>
              <a:t> </a:t>
            </a:r>
            <a:r>
              <a:rPr lang="de-DE" sz="2000" dirty="0" err="1" smtClean="0"/>
              <a:t>access</a:t>
            </a:r>
            <a:r>
              <a:rPr lang="de-DE" sz="2000" dirty="0" smtClean="0"/>
              <a:t> DBK DDI-</a:t>
            </a:r>
            <a:r>
              <a:rPr lang="de-DE" sz="2000" dirty="0" err="1" smtClean="0"/>
              <a:t>Codebook</a:t>
            </a:r>
            <a:r>
              <a:rPr lang="de-DE" sz="2000" dirty="0" smtClean="0"/>
              <a:t> </a:t>
            </a:r>
            <a:r>
              <a:rPr lang="de-DE" sz="2000" dirty="0" err="1" smtClean="0"/>
              <a:t>and</a:t>
            </a:r>
            <a:r>
              <a:rPr lang="de-DE" sz="2000" dirty="0" smtClean="0"/>
              <a:t> DDI-</a:t>
            </a:r>
            <a:r>
              <a:rPr lang="de-DE" sz="2000" dirty="0" err="1" smtClean="0"/>
              <a:t>Lifecycle</a:t>
            </a:r>
            <a:r>
              <a:rPr lang="de-DE" sz="2000" dirty="0" smtClean="0"/>
              <a:t> Exports </a:t>
            </a:r>
            <a:r>
              <a:rPr lang="de-DE" sz="2000" dirty="0" err="1" smtClean="0"/>
              <a:t>from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web</a:t>
            </a:r>
          </a:p>
          <a:p>
            <a:r>
              <a:rPr lang="de-DE" sz="2000" dirty="0" smtClean="0"/>
              <a:t>SOAP Protocol </a:t>
            </a:r>
            <a:r>
              <a:rPr lang="de-DE" sz="2000" dirty="0" err="1" smtClean="0"/>
              <a:t>is</a:t>
            </a:r>
            <a:r>
              <a:rPr lang="de-DE" sz="2000" dirty="0" smtClean="0"/>
              <a:t> </a:t>
            </a:r>
            <a:r>
              <a:rPr lang="de-DE" sz="2000" dirty="0" err="1" smtClean="0"/>
              <a:t>used</a:t>
            </a:r>
            <a:endParaRPr lang="de-DE" sz="2000" dirty="0" smtClean="0"/>
          </a:p>
          <a:p>
            <a:r>
              <a:rPr lang="de-DE" sz="2000" dirty="0" err="1" smtClean="0"/>
              <a:t>Already</a:t>
            </a:r>
            <a:r>
              <a:rPr lang="de-DE" sz="2000" dirty="0" smtClean="0"/>
              <a:t> </a:t>
            </a:r>
            <a:r>
              <a:rPr lang="de-DE" sz="2000" dirty="0" err="1" smtClean="0"/>
              <a:t>available</a:t>
            </a:r>
            <a:r>
              <a:rPr lang="de-DE" sz="2000" dirty="0" smtClean="0"/>
              <a:t> </a:t>
            </a:r>
            <a:r>
              <a:rPr lang="de-DE" sz="2000" dirty="0" err="1" smtClean="0"/>
              <a:t>at</a:t>
            </a:r>
            <a:r>
              <a:rPr lang="de-DE" sz="2000" dirty="0" smtClean="0"/>
              <a:t> </a:t>
            </a:r>
            <a:r>
              <a:rPr lang="de-DE" sz="2000" dirty="0" smtClean="0">
                <a:hlinkClick r:id="rId2"/>
              </a:rPr>
              <a:t>http</a:t>
            </a:r>
            <a:r>
              <a:rPr lang="de-DE" sz="2000" dirty="0" smtClean="0">
                <a:hlinkClick r:id="rId2"/>
              </a:rPr>
              <a:t>://info1.gesis.org/dbkddi</a:t>
            </a:r>
            <a:r>
              <a:rPr lang="de-DE" sz="2000" dirty="0" smtClean="0">
                <a:hlinkClick r:id="rId2"/>
              </a:rPr>
              <a:t>/</a:t>
            </a:r>
            <a:r>
              <a:rPr lang="de-DE" sz="2000" dirty="0" smtClean="0"/>
              <a:t> </a:t>
            </a:r>
          </a:p>
          <a:p>
            <a:endParaRPr lang="de-DE" sz="2000" dirty="0" smtClean="0"/>
          </a:p>
          <a:p>
            <a:endParaRPr lang="de-DE" sz="2000" dirty="0" smtClean="0"/>
          </a:p>
          <a:p>
            <a:endParaRPr lang="de-DE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5227" y="1315925"/>
            <a:ext cx="7287173" cy="4849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025" y="980728"/>
            <a:ext cx="7123343" cy="583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980728"/>
            <a:ext cx="7824536" cy="5825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2"/>
          <p:cNvSpPr>
            <a:spLocks noGrp="1"/>
          </p:cNvSpPr>
          <p:nvPr>
            <p:ph type="title"/>
          </p:nvPr>
        </p:nvSpPr>
        <p:spPr>
          <a:xfrm>
            <a:off x="457200" y="3510136"/>
            <a:ext cx="8229600" cy="1143000"/>
          </a:xfrm>
        </p:spPr>
        <p:txBody>
          <a:bodyPr/>
          <a:lstStyle/>
          <a:p>
            <a:r>
              <a:rPr lang="de-DE" dirty="0" err="1" smtClean="0"/>
              <a:t>Thank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!</a:t>
            </a:r>
            <a:endParaRPr lang="de-DE" dirty="0"/>
          </a:p>
        </p:txBody>
      </p:sp>
      <p:sp>
        <p:nvSpPr>
          <p:cNvPr id="3" name="Titel 2"/>
          <p:cNvSpPr txBox="1">
            <a:spLocks/>
          </p:cNvSpPr>
          <p:nvPr/>
        </p:nvSpPr>
        <p:spPr>
          <a:xfrm>
            <a:off x="467544" y="53103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Contact</a:t>
            </a:r>
            <a:r>
              <a:rPr kumimoji="0" lang="de-DE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</a:t>
            </a:r>
            <a:r>
              <a:rPr kumimoji="0" lang="de-DE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2"/>
              </a:rPr>
              <a:t>wolfgang.zenk-moeltgen@gesis.org</a:t>
            </a:r>
            <a:r>
              <a:rPr kumimoji="0" lang="de-DE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Bildschirmpräsentation (4:3)</PresentationFormat>
  <Paragraphs>82</Paragraphs>
  <Slides>53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53</vt:i4>
      </vt:variant>
    </vt:vector>
  </HeadingPairs>
  <TitlesOfParts>
    <vt:vector size="54" baseType="lpstr">
      <vt:lpstr>Larissa-Design</vt:lpstr>
      <vt:lpstr>Metadata Management for Research Data with DBKfree</vt:lpstr>
      <vt:lpstr>Outline</vt:lpstr>
      <vt:lpstr>DBKfree – Data Catalogue Software</vt:lpstr>
      <vt:lpstr>DBK at the GESIS Data Archive</vt:lpstr>
      <vt:lpstr>DBKSearch Functions for End Users</vt:lpstr>
      <vt:lpstr>Folie 6</vt:lpstr>
      <vt:lpstr>Folie 7</vt:lpstr>
      <vt:lpstr>Folie 8</vt:lpstr>
      <vt:lpstr>Folie 9</vt:lpstr>
      <vt:lpstr>Folie 10</vt:lpstr>
      <vt:lpstr>Folie 11</vt:lpstr>
      <vt:lpstr>Folie 12</vt:lpstr>
      <vt:lpstr>Folie 13</vt:lpstr>
      <vt:lpstr>Folie 14</vt:lpstr>
      <vt:lpstr>Folie 15</vt:lpstr>
      <vt:lpstr>Folie 16</vt:lpstr>
      <vt:lpstr>Folie 17</vt:lpstr>
      <vt:lpstr>Folie 18</vt:lpstr>
      <vt:lpstr>Folie 19</vt:lpstr>
      <vt:lpstr>Folie 20</vt:lpstr>
      <vt:lpstr>Folie 21</vt:lpstr>
      <vt:lpstr>Folie 22</vt:lpstr>
      <vt:lpstr>Folie 23</vt:lpstr>
      <vt:lpstr>Folie 24</vt:lpstr>
      <vt:lpstr>Folie 25</vt:lpstr>
      <vt:lpstr>Folie 26</vt:lpstr>
      <vt:lpstr>Registration 2.0</vt:lpstr>
      <vt:lpstr>Folie 28</vt:lpstr>
      <vt:lpstr>Folie 29</vt:lpstr>
      <vt:lpstr>Folie 30</vt:lpstr>
      <vt:lpstr>Folie 31</vt:lpstr>
      <vt:lpstr>Folie 32</vt:lpstr>
      <vt:lpstr>Folie 33</vt:lpstr>
      <vt:lpstr>DBKEdit Functions for Metadata Managers</vt:lpstr>
      <vt:lpstr>DBKEdit 2.0 beta</vt:lpstr>
      <vt:lpstr>Folie 36</vt:lpstr>
      <vt:lpstr>Folie 37</vt:lpstr>
      <vt:lpstr>Folie 38</vt:lpstr>
      <vt:lpstr>Folie 39</vt:lpstr>
      <vt:lpstr>Folie 40</vt:lpstr>
      <vt:lpstr>Folie 41</vt:lpstr>
      <vt:lpstr>Folie 42</vt:lpstr>
      <vt:lpstr>Folie 43</vt:lpstr>
      <vt:lpstr>Folie 44</vt:lpstr>
      <vt:lpstr>Folie 45</vt:lpstr>
      <vt:lpstr>DBKfree Technical &amp; License</vt:lpstr>
      <vt:lpstr>DBK Web Services: DBKWeb</vt:lpstr>
      <vt:lpstr>Folie 48</vt:lpstr>
      <vt:lpstr>DBK Web Services: DBKDDI</vt:lpstr>
      <vt:lpstr>Folie 50</vt:lpstr>
      <vt:lpstr>Folie 51</vt:lpstr>
      <vt:lpstr>Folie 52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Zenk-Möltgen, Wolfgang</dc:creator>
  <cp:lastModifiedBy>Zenk-Möltgen, Wolfgang</cp:lastModifiedBy>
  <cp:revision>118</cp:revision>
  <dcterms:created xsi:type="dcterms:W3CDTF">2013-11-25T09:23:39Z</dcterms:created>
  <dcterms:modified xsi:type="dcterms:W3CDTF">2013-11-28T16:29:18Z</dcterms:modified>
</cp:coreProperties>
</file>