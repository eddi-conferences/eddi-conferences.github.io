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Default Extension="rels" ContentType="application/vnd.openxmlformats-package.relationships+xml"/>
  <Override PartName="/ppt/slides/slide5.xml" ContentType="application/vnd.openxmlformats-officedocument.presentationml.slide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s/slide34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embedTrueTypeFonts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0" r:id="rId3"/>
    <p:sldId id="262" r:id="rId4"/>
    <p:sldId id="263" r:id="rId5"/>
    <p:sldId id="266" r:id="rId6"/>
    <p:sldId id="270" r:id="rId7"/>
    <p:sldId id="267" r:id="rId8"/>
    <p:sldId id="276" r:id="rId9"/>
    <p:sldId id="279" r:id="rId10"/>
    <p:sldId id="273" r:id="rId11"/>
    <p:sldId id="304" r:id="rId12"/>
    <p:sldId id="305" r:id="rId13"/>
    <p:sldId id="306" r:id="rId14"/>
    <p:sldId id="308" r:id="rId15"/>
    <p:sldId id="307" r:id="rId16"/>
    <p:sldId id="309" r:id="rId17"/>
    <p:sldId id="310" r:id="rId18"/>
    <p:sldId id="311" r:id="rId19"/>
    <p:sldId id="274" r:id="rId20"/>
    <p:sldId id="293" r:id="rId21"/>
    <p:sldId id="294" r:id="rId22"/>
    <p:sldId id="296" r:id="rId23"/>
    <p:sldId id="297" r:id="rId24"/>
    <p:sldId id="299" r:id="rId25"/>
    <p:sldId id="300" r:id="rId26"/>
    <p:sldId id="292" r:id="rId27"/>
    <p:sldId id="291" r:id="rId28"/>
    <p:sldId id="283" r:id="rId29"/>
    <p:sldId id="284" r:id="rId30"/>
    <p:sldId id="286" r:id="rId31"/>
    <p:sldId id="287" r:id="rId32"/>
    <p:sldId id="302" r:id="rId33"/>
    <p:sldId id="303" r:id="rId34"/>
    <p:sldId id="258" r:id="rId35"/>
  </p:sldIdLst>
  <p:sldSz cx="9144000" cy="6858000" type="screen4x3"/>
  <p:notesSz cx="9906000" cy="6807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008000"/>
    <a:srgbClr val="4C7913"/>
    <a:srgbClr val="78BE20"/>
    <a:srgbClr val="B5BD00"/>
    <a:srgbClr val="CE0058"/>
    <a:srgbClr val="385E9D"/>
  </p:clrMru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27100" autoAdjust="0"/>
    <p:restoredTop sz="94589" autoAdjust="0"/>
  </p:normalViewPr>
  <p:slideViewPr>
    <p:cSldViewPr>
      <p:cViewPr>
        <p:scale>
          <a:sx n="100" d="100"/>
          <a:sy n="100" d="100"/>
        </p:scale>
        <p:origin x="-104" y="-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handoutMaster" Target="handoutMasters/handout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11108" y="0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7A252-E0C1-4479-B948-DFC424037687}" type="datetimeFigureOut">
              <a:rPr lang="en-GB" smtClean="0"/>
              <a:pPr/>
              <a:t>12/4/13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65659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11108" y="6465659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661B1-D05C-483D-B58F-94945D23623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637342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11108" y="0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18AFB-9A18-6541-8609-1552D1D67629}" type="datetimeFigureOut">
              <a:rPr lang="en-US" smtClean="0"/>
              <a:pPr/>
              <a:t>12/4/13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511175"/>
            <a:ext cx="3403600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0600" y="3233420"/>
            <a:ext cx="7924800" cy="30632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65659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11108" y="6465659"/>
            <a:ext cx="4292600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6D18-7A1A-E44C-8952-03A7CD08AA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6823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fld id="{93BE5F20-5306-F048-9909-F25C45AB483F}" type="slidenum">
              <a:rPr lang="en-GB" sz="1200" smtClean="0">
                <a:latin typeface="Arial" charset="0"/>
              </a:rPr>
              <a:pPr>
                <a:defRPr/>
              </a:pPr>
              <a:t>6</a:t>
            </a:fld>
            <a:endParaRPr lang="en-GB" sz="1200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fld id="{315CFEE3-15D7-6347-B9D6-416FE6FC699E}" type="slidenum">
              <a:rPr lang="en-GB" sz="1200" smtClean="0">
                <a:latin typeface="Arial" charset="0"/>
              </a:rPr>
              <a:pPr>
                <a:defRPr/>
              </a:pPr>
              <a:t>7</a:t>
            </a:fld>
            <a:endParaRPr lang="en-GB" sz="1200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UKD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I:\Publicity\OpenAccess\UKDataService\TestArea\bit1.png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43416"/>
          <a:stretch/>
        </p:blipFill>
        <p:spPr bwMode="auto">
          <a:xfrm>
            <a:off x="6516216" y="0"/>
            <a:ext cx="2627784" cy="6858000"/>
          </a:xfrm>
          <a:prstGeom prst="rect">
            <a:avLst/>
          </a:prstGeom>
          <a:noFill/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51520" y="0"/>
            <a:ext cx="7272808" cy="2420888"/>
          </a:xfrm>
        </p:spPr>
        <p:txBody>
          <a:bodyPr>
            <a:normAutofit/>
          </a:bodyPr>
          <a:lstStyle>
            <a:lvl1pPr algn="l">
              <a:defRPr sz="4400" b="0" i="0" baseline="0">
                <a:latin typeface="Arial" pitchFamily="34" charset="0"/>
              </a:defRPr>
            </a:lvl1pPr>
          </a:lstStyle>
          <a:p>
            <a:r>
              <a:rPr lang="en-US" dirty="0" smtClean="0"/>
              <a:t>Insert title here (44pt)</a:t>
            </a:r>
            <a:endParaRPr lang="en-GB" dirty="0"/>
          </a:p>
        </p:txBody>
      </p:sp>
      <p:pic>
        <p:nvPicPr>
          <p:cNvPr id="16" name="Picture 8" descr="I:\Publicity\OpenAccess\UKDataService\TestArea\UKDS_Logo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5805264"/>
            <a:ext cx="1446667" cy="872868"/>
          </a:xfrm>
          <a:prstGeom prst="rect">
            <a:avLst/>
          </a:prstGeom>
          <a:noFill/>
        </p:spPr>
      </p:pic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708920"/>
            <a:ext cx="4032448" cy="114840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Insert Name and Job Title on separate lines</a:t>
            </a:r>
            <a:endParaRPr lang="en-GB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0" hasCustomPrompt="1"/>
          </p:nvPr>
        </p:nvSpPr>
        <p:spPr>
          <a:xfrm>
            <a:off x="304800" y="4149725"/>
            <a:ext cx="3979863" cy="14398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Arial" pitchFamily="34" charset="0"/>
              </a:defRPr>
            </a:lvl1pPr>
          </a:lstStyle>
          <a:p>
            <a:pPr lvl="0"/>
            <a:r>
              <a:rPr lang="en-GB" dirty="0" smtClean="0"/>
              <a:t>Name of meeting and place followed by date on a separate line</a:t>
            </a:r>
            <a:endParaRPr lang="en-GB" dirty="0"/>
          </a:p>
        </p:txBody>
      </p:sp>
      <p:cxnSp>
        <p:nvCxnSpPr>
          <p:cNvPr id="23" name="Straight Connector 22"/>
          <p:cNvCxnSpPr/>
          <p:nvPr userDrawn="1"/>
        </p:nvCxnSpPr>
        <p:spPr>
          <a:xfrm flipV="1">
            <a:off x="309594" y="471584"/>
            <a:ext cx="8208912" cy="5088"/>
          </a:xfrm>
          <a:prstGeom prst="line">
            <a:avLst/>
          </a:prstGeom>
          <a:ln>
            <a:solidFill>
              <a:srgbClr val="8E9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495871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UKD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520" y="260648"/>
            <a:ext cx="8229600" cy="1143000"/>
          </a:xfrm>
        </p:spPr>
        <p:txBody>
          <a:bodyPr>
            <a:normAutofit/>
          </a:bodyPr>
          <a:lstStyle>
            <a:lvl1pPr algn="l">
              <a:defRPr sz="3500">
                <a:latin typeface="Arial" pitchFamily="34" charset="0"/>
              </a:defRPr>
            </a:lvl1pPr>
          </a:lstStyle>
          <a:p>
            <a:r>
              <a:rPr lang="en-US" dirty="0" smtClean="0"/>
              <a:t>Slide title here (sentence case)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5225" y="1643459"/>
            <a:ext cx="8229600" cy="5141168"/>
          </a:xfrm>
        </p:spPr>
        <p:txBody>
          <a:bodyPr/>
          <a:lstStyle>
            <a:lvl1pPr>
              <a:defRPr sz="2400" baseline="0">
                <a:latin typeface="Arial" pitchFamily="34" charset="0"/>
              </a:defRPr>
            </a:lvl1pPr>
            <a:lvl2pPr marL="742950" indent="-285750">
              <a:buFont typeface="Arial" pitchFamily="34" charset="0"/>
              <a:buChar char="•"/>
              <a:defRPr sz="2000" baseline="0">
                <a:latin typeface="Arial" pitchFamily="34" charset="0"/>
              </a:defRPr>
            </a:lvl2pPr>
            <a:lvl3pPr marL="1257300" indent="-342900">
              <a:buFont typeface="Arial" pitchFamily="34" charset="0"/>
              <a:buChar char="•"/>
              <a:defRPr sz="1800" baseline="0">
                <a:latin typeface="Arial" pitchFamily="34" charset="0"/>
              </a:defRPr>
            </a:lvl3pPr>
          </a:lstStyle>
          <a:p>
            <a:r>
              <a:rPr lang="en-GB" dirty="0" smtClean="0"/>
              <a:t>Bullet points are in sentence case (24pt </a:t>
            </a:r>
            <a:r>
              <a:rPr lang="en-GB" dirty="0" err="1" smtClean="0"/>
              <a:t>Museo</a:t>
            </a:r>
            <a:r>
              <a:rPr lang="en-GB" dirty="0" smtClean="0"/>
              <a:t> Sans)</a:t>
            </a:r>
          </a:p>
          <a:p>
            <a:pPr lvl="1"/>
            <a:r>
              <a:rPr lang="en-US" dirty="0" smtClean="0"/>
              <a:t>Even second level points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pic>
        <p:nvPicPr>
          <p:cNvPr id="7" name="Picture 6" descr="I:\Publicity\OpenAccess\UKDataService\TestArea\bit1.png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88382"/>
          <a:stretch/>
        </p:blipFill>
        <p:spPr bwMode="auto">
          <a:xfrm>
            <a:off x="8604448" y="-1683568"/>
            <a:ext cx="539552" cy="6858000"/>
          </a:xfrm>
          <a:prstGeom prst="rect">
            <a:avLst/>
          </a:prstGeom>
          <a:noFill/>
        </p:spPr>
      </p:pic>
      <p:pic>
        <p:nvPicPr>
          <p:cNvPr id="8" name="Picture 2" descr="I:\Publicity\OpenAccess\UKDataService\Logos\UK_Data_Service_Logos\Web_Screen\Primary_logo\UKDS_Logo_RGB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6336" y="6021288"/>
            <a:ext cx="1265137" cy="763339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 userDrawn="1"/>
        </p:nvCxnSpPr>
        <p:spPr>
          <a:xfrm flipV="1">
            <a:off x="309594" y="471584"/>
            <a:ext cx="8208912" cy="5088"/>
          </a:xfrm>
          <a:prstGeom prst="line">
            <a:avLst/>
          </a:prstGeom>
          <a:ln>
            <a:solidFill>
              <a:srgbClr val="8E9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0981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UKDS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16687" y="1588"/>
            <a:ext cx="262731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467544" y="2420888"/>
            <a:ext cx="5040313" cy="57606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 lvl="0"/>
            <a:r>
              <a:rPr lang="en-GB" dirty="0" smtClean="0"/>
              <a:t>Contact details: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468313" y="3213100"/>
            <a:ext cx="5040312" cy="576263"/>
          </a:xfrm>
        </p:spPr>
        <p:txBody>
          <a:bodyPr/>
          <a:lstStyle>
            <a:lvl1pPr marL="0" indent="0">
              <a:buNone/>
              <a:defRPr baseline="0">
                <a:latin typeface="Arial" pitchFamily="34" charset="0"/>
              </a:defRPr>
            </a:lvl1pPr>
          </a:lstStyle>
          <a:p>
            <a:pPr lvl="0"/>
            <a:r>
              <a:rPr lang="en-GB" dirty="0" smtClean="0"/>
              <a:t>Name</a:t>
            </a:r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309594" y="471584"/>
            <a:ext cx="8208912" cy="5088"/>
          </a:xfrm>
          <a:prstGeom prst="line">
            <a:avLst/>
          </a:prstGeom>
          <a:ln>
            <a:solidFill>
              <a:srgbClr val="8E9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468313" y="4076700"/>
            <a:ext cx="5040312" cy="72072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 dirty="0" smtClean="0"/>
              <a:t>Email</a:t>
            </a:r>
            <a:endParaRPr lang="en-GB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251520" y="505779"/>
            <a:ext cx="5918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latin typeface="Arial" pitchFamily="34" charset="0"/>
              </a:rPr>
              <a:t>Questions</a:t>
            </a:r>
            <a:endParaRPr lang="en-GB" sz="3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43618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9EEFBBAD-C8FA-48BD-A508-1A92C9B4AB4D}" type="datetimeFigureOut">
              <a:rPr lang="en-GB" smtClean="0"/>
              <a:pPr/>
              <a:t>12/4/13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251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7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ata-archive.ac.uk/create-manage/projects/qudex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sds.ac.uk/doi/?sn=6124%231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mailto:corti@essex.ac.uk" TargetMode="External"/><Relationship Id="rId3" Type="http://schemas.openxmlformats.org/officeDocument/2006/relationships/hyperlink" Target="mailto:a.martinez-garcia@ljmu.ac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269" y="188640"/>
            <a:ext cx="8496944" cy="2420888"/>
          </a:xfrm>
        </p:spPr>
        <p:txBody>
          <a:bodyPr>
            <a:normAutofit/>
          </a:bodyPr>
          <a:lstStyle/>
          <a:p>
            <a:r>
              <a:rPr lang="en-GB" sz="3500" dirty="0"/>
              <a:t>Integrating DDI with metadata for qualitative data: </a:t>
            </a:r>
            <a:r>
              <a:rPr lang="en-GB" sz="3500" dirty="0" smtClean="0"/>
              <a:t>implementing </a:t>
            </a:r>
            <a:r>
              <a:rPr lang="en-GB" sz="3500" dirty="0"/>
              <a:t>the </a:t>
            </a:r>
            <a:r>
              <a:rPr lang="en-GB" sz="3500" dirty="0" smtClean="0"/>
              <a:t/>
            </a:r>
            <a:br>
              <a:rPr lang="en-GB" sz="3500" dirty="0" smtClean="0"/>
            </a:br>
            <a:r>
              <a:rPr lang="en-GB" sz="3500" dirty="0" smtClean="0"/>
              <a:t>QuDEx </a:t>
            </a:r>
            <a:r>
              <a:rPr lang="en-GB" sz="3500" dirty="0"/>
              <a:t>standard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3528" y="4437112"/>
            <a:ext cx="3979863" cy="1080120"/>
          </a:xfrm>
        </p:spPr>
        <p:txBody>
          <a:bodyPr/>
          <a:lstStyle/>
          <a:p>
            <a:r>
              <a:rPr lang="en-GB" dirty="0" smtClean="0"/>
              <a:t>EDDI13, Paris</a:t>
            </a:r>
          </a:p>
          <a:p>
            <a:r>
              <a:rPr lang="en-GB" dirty="0" smtClean="0"/>
              <a:t>December 2013</a:t>
            </a:r>
            <a:endParaRPr lang="en-GB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23528" y="3068960"/>
            <a:ext cx="5184576" cy="1148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Louise Corti, UK Data Archive</a:t>
            </a:r>
          </a:p>
          <a:p>
            <a:r>
              <a:rPr lang="en-GB" dirty="0" smtClean="0"/>
              <a:t>Agustina Martinez, Liverpool John Moores</a:t>
            </a:r>
          </a:p>
          <a:p>
            <a:r>
              <a:rPr lang="en-GB" dirty="0" smtClean="0"/>
              <a:t>Daren Bell</a:t>
            </a:r>
            <a:r>
              <a:rPr lang="en-GB" dirty="0"/>
              <a:t>, UK Data </a:t>
            </a:r>
            <a:r>
              <a:rPr lang="en-GB" dirty="0" smtClean="0"/>
              <a:t>Archive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2245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 smtClean="0">
                <a:latin typeface="Arial" charset="0"/>
                <a:cs typeface="+mj-cs"/>
              </a:rPr>
              <a:t>Digital futures project: rationale &amp; aims</a:t>
            </a:r>
            <a:endParaRPr lang="en-GB" dirty="0">
              <a:latin typeface="Arial" charset="0"/>
              <a:cs typeface="+mj-cs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539552" y="1556792"/>
            <a:ext cx="7815167" cy="4680520"/>
          </a:xfrm>
        </p:spPr>
        <p:txBody>
          <a:bodyPr/>
          <a:lstStyle/>
          <a:p>
            <a:pPr>
              <a:buClr>
                <a:srgbClr val="008000"/>
              </a:buClr>
              <a:buSzPct val="120000"/>
              <a:defRPr/>
            </a:pPr>
            <a:r>
              <a:rPr lang="en-GB" dirty="0" smtClean="0">
                <a:latin typeface="Arial" charset="0"/>
                <a:cs typeface="+mn-cs"/>
              </a:rPr>
              <a:t>18 month wham-bang capital project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 smtClean="0">
                <a:latin typeface="Arial" charset="0"/>
                <a:cs typeface="+mn-cs"/>
              </a:rPr>
              <a:t>Provide </a:t>
            </a:r>
            <a:r>
              <a:rPr lang="en-GB" dirty="0">
                <a:latin typeface="Arial" charset="0"/>
                <a:cs typeface="+mn-cs"/>
              </a:rPr>
              <a:t>enhanced access to key </a:t>
            </a:r>
            <a:r>
              <a:rPr lang="en-GB" dirty="0" smtClean="0">
                <a:latin typeface="Arial" charset="0"/>
                <a:cs typeface="+mn-cs"/>
              </a:rPr>
              <a:t>qualitative </a:t>
            </a:r>
            <a:r>
              <a:rPr lang="en-GB" dirty="0">
                <a:latin typeface="Arial" charset="0"/>
                <a:cs typeface="+mn-cs"/>
              </a:rPr>
              <a:t>data via online </a:t>
            </a:r>
            <a:r>
              <a:rPr lang="en-GB" dirty="0">
                <a:solidFill>
                  <a:srgbClr val="008000"/>
                </a:solidFill>
                <a:latin typeface="Arial" charset="0"/>
                <a:cs typeface="+mn-cs"/>
              </a:rPr>
              <a:t>data browsing and </a:t>
            </a:r>
            <a:r>
              <a:rPr lang="en-GB" dirty="0" smtClean="0">
                <a:solidFill>
                  <a:srgbClr val="008000"/>
                </a:solidFill>
                <a:latin typeface="Arial" charset="0"/>
                <a:cs typeface="+mn-cs"/>
              </a:rPr>
              <a:t>exploration: UK Quali Bank</a:t>
            </a:r>
            <a:endParaRPr lang="en-GB" dirty="0">
              <a:solidFill>
                <a:srgbClr val="008000"/>
              </a:solidFill>
              <a:latin typeface="Arial" charset="0"/>
              <a:cs typeface="+mn-cs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 smtClean="0">
                <a:latin typeface="Arial" charset="0"/>
                <a:cs typeface="+mn-cs"/>
              </a:rPr>
              <a:t>Based on </a:t>
            </a:r>
            <a:r>
              <a:rPr lang="en-GB" dirty="0">
                <a:solidFill>
                  <a:srgbClr val="008000"/>
                </a:solidFill>
                <a:latin typeface="Arial" charset="0"/>
              </a:rPr>
              <a:t>existing metadata </a:t>
            </a:r>
            <a:r>
              <a:rPr lang="en-GB" dirty="0" smtClean="0">
                <a:solidFill>
                  <a:srgbClr val="008000"/>
                </a:solidFill>
                <a:latin typeface="Arial" charset="0"/>
              </a:rPr>
              <a:t>schemas, </a:t>
            </a:r>
            <a:r>
              <a:rPr lang="en-GB" dirty="0" smtClean="0">
                <a:latin typeface="Arial" charset="0"/>
                <a:cs typeface="+mn-cs"/>
              </a:rPr>
              <a:t>known technologies. Oh, and expert consultants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 smtClean="0">
                <a:latin typeface="Arial" charset="0"/>
                <a:cs typeface="+mn-cs"/>
              </a:rPr>
              <a:t>Offer </a:t>
            </a:r>
            <a:r>
              <a:rPr lang="en-GB" dirty="0">
                <a:latin typeface="Arial" charset="0"/>
                <a:cs typeface="+mn-cs"/>
              </a:rPr>
              <a:t>a mechanism for </a:t>
            </a:r>
            <a:r>
              <a:rPr lang="en-GB" dirty="0">
                <a:solidFill>
                  <a:srgbClr val="008000"/>
                </a:solidFill>
                <a:latin typeface="Arial" charset="0"/>
                <a:cs typeface="+mn-cs"/>
              </a:rPr>
              <a:t>reliably citing data </a:t>
            </a:r>
            <a:r>
              <a:rPr lang="en-GB" dirty="0">
                <a:latin typeface="Arial" charset="0"/>
                <a:cs typeface="+mn-cs"/>
              </a:rPr>
              <a:t>located in the </a:t>
            </a:r>
            <a:r>
              <a:rPr lang="en-GB" dirty="0" smtClean="0">
                <a:latin typeface="Arial" charset="0"/>
                <a:cs typeface="+mn-cs"/>
              </a:rPr>
              <a:t>system</a:t>
            </a:r>
            <a:endParaRPr lang="en-GB" dirty="0">
              <a:latin typeface="Arial" charset="0"/>
              <a:cs typeface="+mn-cs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>
                <a:latin typeface="Arial" charset="0"/>
                <a:cs typeface="+mn-cs"/>
              </a:rPr>
              <a:t>Project includes </a:t>
            </a:r>
            <a:r>
              <a:rPr lang="en-GB" dirty="0">
                <a:solidFill>
                  <a:srgbClr val="008000"/>
                </a:solidFill>
                <a:latin typeface="Arial" charset="0"/>
                <a:cs typeface="+mn-cs"/>
              </a:rPr>
              <a:t>large-scale digitisation</a:t>
            </a:r>
            <a:r>
              <a:rPr lang="en-GB" dirty="0">
                <a:solidFill>
                  <a:srgbClr val="50B2CE"/>
                </a:solidFill>
                <a:latin typeface="Arial" charset="0"/>
                <a:cs typeface="+mn-cs"/>
              </a:rPr>
              <a:t> </a:t>
            </a:r>
            <a:r>
              <a:rPr lang="en-GB" dirty="0">
                <a:latin typeface="Arial" charset="0"/>
                <a:cs typeface="+mn-cs"/>
              </a:rPr>
              <a:t>of precious and undigitized materials 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>
                <a:latin typeface="Arial" charset="0"/>
                <a:cs typeface="+mn-cs"/>
              </a:rPr>
              <a:t>Maximise the </a:t>
            </a:r>
            <a:r>
              <a:rPr lang="en-GB" dirty="0">
                <a:solidFill>
                  <a:srgbClr val="008000"/>
                </a:solidFill>
                <a:latin typeface="Arial" charset="0"/>
                <a:cs typeface="+mn-cs"/>
              </a:rPr>
              <a:t>impact </a:t>
            </a:r>
            <a:r>
              <a:rPr lang="en-GB" dirty="0">
                <a:latin typeface="Arial" charset="0"/>
                <a:cs typeface="+mn-cs"/>
              </a:rPr>
              <a:t>from existing research and resource investments </a:t>
            </a:r>
            <a:r>
              <a:rPr lang="en-GB" dirty="0" smtClean="0">
                <a:latin typeface="Arial" charset="0"/>
                <a:cs typeface="+mn-cs"/>
              </a:rPr>
              <a:t>– demonstrate re-use</a:t>
            </a:r>
            <a:endParaRPr lang="en-GB" dirty="0">
              <a:latin typeface="Arial" charset="0"/>
              <a:cs typeface="+mn-cs"/>
            </a:endParaRPr>
          </a:p>
          <a:p>
            <a:pPr>
              <a:buClr>
                <a:srgbClr val="78BE20"/>
              </a:buClr>
              <a:buSzPct val="120000"/>
              <a:defRPr/>
            </a:pPr>
            <a:endParaRPr lang="en-GB" dirty="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8466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GB" dirty="0" smtClean="0">
                <a:latin typeface="Arial" charset="0"/>
                <a:cs typeface="+mj-cs"/>
              </a:rPr>
              <a:t>UK </a:t>
            </a:r>
            <a:r>
              <a:rPr lang="en-GB" dirty="0">
                <a:latin typeface="Arial" charset="0"/>
              </a:rPr>
              <a:t>D</a:t>
            </a:r>
            <a:r>
              <a:rPr lang="en-GB" dirty="0" smtClean="0">
                <a:latin typeface="Arial" charset="0"/>
                <a:cs typeface="+mj-cs"/>
              </a:rPr>
              <a:t>ata Service: qualitative data services</a:t>
            </a:r>
            <a:endParaRPr lang="en-GB" dirty="0">
              <a:latin typeface="Arial" charset="0"/>
              <a:cs typeface="+mj-cs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7776864" cy="4895850"/>
          </a:xfrm>
        </p:spPr>
        <p:txBody>
          <a:bodyPr>
            <a:normAutofit/>
          </a:bodyPr>
          <a:lstStyle/>
          <a:p>
            <a:pPr>
              <a:buClr>
                <a:srgbClr val="008000"/>
              </a:buClr>
              <a:buSzPct val="120000"/>
              <a:defRPr/>
            </a:pPr>
            <a:r>
              <a:rPr lang="en-GB" dirty="0">
                <a:latin typeface="Arial" charset="0"/>
                <a:cs typeface="+mn-cs"/>
              </a:rPr>
              <a:t>We have one of the largest qualitative data </a:t>
            </a:r>
            <a:r>
              <a:rPr lang="en-GB" dirty="0" smtClean="0">
                <a:latin typeface="Arial" charset="0"/>
                <a:cs typeface="+mn-cs"/>
              </a:rPr>
              <a:t>collections - </a:t>
            </a:r>
            <a:r>
              <a:rPr lang="en-GB" dirty="0">
                <a:latin typeface="Arial" charset="0"/>
                <a:cs typeface="+mn-cs"/>
              </a:rPr>
              <a:t>over </a:t>
            </a:r>
            <a:r>
              <a:rPr lang="en-GB" dirty="0" smtClean="0">
                <a:latin typeface="Arial" charset="0"/>
                <a:cs typeface="+mn-cs"/>
              </a:rPr>
              <a:t>350 </a:t>
            </a:r>
            <a:r>
              <a:rPr lang="en-GB" dirty="0">
                <a:latin typeface="Arial" charset="0"/>
                <a:cs typeface="+mn-cs"/>
              </a:rPr>
              <a:t>data collections</a:t>
            </a:r>
          </a:p>
          <a:p>
            <a:pPr>
              <a:buClr>
                <a:srgbClr val="008000"/>
              </a:buClr>
              <a:buSzPct val="120000"/>
              <a:defRPr/>
            </a:pPr>
            <a:endParaRPr lang="en-GB" dirty="0" smtClean="0">
              <a:latin typeface="Arial" charset="0"/>
              <a:cs typeface="+mn-cs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 smtClean="0">
                <a:latin typeface="Arial" charset="0"/>
                <a:cs typeface="+mn-cs"/>
              </a:rPr>
              <a:t>Currently </a:t>
            </a:r>
            <a:r>
              <a:rPr lang="en-GB" dirty="0">
                <a:latin typeface="Arial" charset="0"/>
                <a:cs typeface="+mn-cs"/>
              </a:rPr>
              <a:t>users find and download these from our website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GB" sz="2200" dirty="0">
                <a:latin typeface="Arial" charset="0"/>
              </a:rPr>
              <a:t>n</a:t>
            </a:r>
            <a:r>
              <a:rPr lang="en-GB" sz="2200" dirty="0" smtClean="0">
                <a:latin typeface="Arial" charset="0"/>
              </a:rPr>
              <a:t>ot </a:t>
            </a:r>
            <a:r>
              <a:rPr lang="en-GB" sz="2200" dirty="0">
                <a:latin typeface="Arial" charset="0"/>
              </a:rPr>
              <a:t>so easy to find, but study documentation </a:t>
            </a:r>
            <a:r>
              <a:rPr lang="en-GB" sz="2200" dirty="0" smtClean="0">
                <a:latin typeface="Arial" charset="0"/>
              </a:rPr>
              <a:t>good</a:t>
            </a:r>
            <a:endParaRPr lang="en-GB" sz="2200" dirty="0">
              <a:latin typeface="Arial" charset="0"/>
            </a:endParaRP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GB" sz="2200" dirty="0">
                <a:latin typeface="Arial" charset="0"/>
              </a:rPr>
              <a:t>n</a:t>
            </a:r>
            <a:r>
              <a:rPr lang="en-GB" sz="2200" dirty="0" smtClean="0">
                <a:latin typeface="Arial" charset="0"/>
              </a:rPr>
              <a:t>o </a:t>
            </a:r>
            <a:r>
              <a:rPr lang="en-GB" sz="2200" dirty="0">
                <a:latin typeface="Arial" charset="0"/>
              </a:rPr>
              <a:t>searching within collections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GB" sz="2200" dirty="0">
                <a:latin typeface="Arial" charset="0"/>
              </a:rPr>
              <a:t>n</a:t>
            </a:r>
            <a:r>
              <a:rPr lang="en-GB" sz="2200" dirty="0" smtClean="0">
                <a:latin typeface="Arial" charset="0"/>
              </a:rPr>
              <a:t>o </a:t>
            </a:r>
            <a:r>
              <a:rPr lang="en-GB" sz="2200" dirty="0">
                <a:latin typeface="Arial" charset="0"/>
              </a:rPr>
              <a:t>file manifest shown until download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GB" sz="2200" dirty="0" smtClean="0">
                <a:latin typeface="Arial" charset="0"/>
              </a:rPr>
              <a:t>can </a:t>
            </a:r>
            <a:r>
              <a:rPr lang="en-GB" sz="2200" dirty="0">
                <a:latin typeface="Arial" charset="0"/>
              </a:rPr>
              <a:t>be a bit of guess work!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endParaRPr lang="en-GB" sz="2200" dirty="0" smtClean="0">
              <a:latin typeface="Arial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>
                <a:latin typeface="Arial" charset="0"/>
              </a:rPr>
              <a:t>Have Datacite collection DOIs; cannot cite parts of data</a:t>
            </a:r>
          </a:p>
          <a:p>
            <a:pPr>
              <a:buClr>
                <a:srgbClr val="008000"/>
              </a:buClr>
              <a:defRPr/>
            </a:pPr>
            <a:endParaRPr lang="en-GB" sz="22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6416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latin typeface="Arial" charset="0"/>
                <a:cs typeface="+mj-cs"/>
              </a:rPr>
              <a:t>Finding &amp; accessing qualitative data</a:t>
            </a:r>
            <a:endParaRPr lang="en-GB" dirty="0">
              <a:latin typeface="Arial" charset="0"/>
              <a:cs typeface="+mj-cs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330241" y="1268760"/>
            <a:ext cx="8064500" cy="511256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/>
              <a:t>Search for </a:t>
            </a:r>
            <a:r>
              <a:rPr lang="ja-JP" altLang="en-GB" dirty="0"/>
              <a:t>“</a:t>
            </a:r>
            <a:r>
              <a:rPr lang="en-GB" dirty="0"/>
              <a:t>health</a:t>
            </a:r>
            <a:r>
              <a:rPr lang="ja-JP" altLang="en-GB" dirty="0"/>
              <a:t>” </a:t>
            </a:r>
            <a:r>
              <a:rPr lang="en-GB" altLang="ja-JP" dirty="0"/>
              <a:t>in our data catalogue, Discover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/>
              <a:t>Retrieve </a:t>
            </a:r>
            <a:r>
              <a:rPr lang="en-GB" dirty="0" smtClean="0"/>
              <a:t>a study-level catalogue record</a:t>
            </a:r>
            <a:endParaRPr lang="en-GB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 smtClean="0"/>
              <a:t>DDI 2.x very limited for describing file content: no var lists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 smtClean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 smtClean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 smtClean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 smtClean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/>
              <a:t>View limited </a:t>
            </a:r>
            <a:r>
              <a:rPr lang="en-GB" dirty="0" smtClean="0"/>
              <a:t>data list and user </a:t>
            </a:r>
            <a:r>
              <a:rPr lang="en-GB" dirty="0"/>
              <a:t>guide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/>
              <a:t>Web download as RTF bundle (46 transcripts)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/>
          </a:p>
          <a:p>
            <a:pPr>
              <a:defRPr/>
            </a:pPr>
            <a:endParaRPr lang="en-GB" sz="2800" dirty="0">
              <a:latin typeface="Arial" charset="0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6341" t="26467" r="37713" b="20073"/>
          <a:stretch/>
        </p:blipFill>
        <p:spPr bwMode="auto">
          <a:xfrm>
            <a:off x="3923928" y="2348880"/>
            <a:ext cx="4320480" cy="3132259"/>
          </a:xfrm>
          <a:prstGeom prst="rect">
            <a:avLst/>
          </a:prstGeom>
          <a:noFill/>
          <a:ln w="9525">
            <a:solidFill>
              <a:srgbClr val="78BE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5090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 smtClean="0">
                <a:latin typeface="Arial" charset="0"/>
                <a:cs typeface="+mj-cs"/>
              </a:rPr>
              <a:t>Data listing</a:t>
            </a:r>
            <a:endParaRPr lang="en-GB" dirty="0">
              <a:latin typeface="Arial" charset="0"/>
              <a:cs typeface="+mj-cs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908050"/>
            <a:ext cx="7921625" cy="4895850"/>
          </a:xfrm>
        </p:spPr>
        <p:txBody>
          <a:bodyPr/>
          <a:lstStyle/>
          <a:p>
            <a:pPr>
              <a:buFontTx/>
              <a:buNone/>
              <a:defRPr/>
            </a:pPr>
            <a:endParaRPr lang="en-GB" dirty="0">
              <a:latin typeface="Arial" charset="0"/>
              <a:cs typeface="+mn-cs"/>
            </a:endParaRPr>
          </a:p>
          <a:p>
            <a:pPr>
              <a:defRPr/>
            </a:pPr>
            <a:endParaRPr lang="en-GB" dirty="0">
              <a:latin typeface="Arial" charset="0"/>
              <a:cs typeface="+mn-cs"/>
            </a:endParaRPr>
          </a:p>
          <a:p>
            <a:pPr>
              <a:defRPr/>
            </a:pPr>
            <a:endParaRPr lang="en-GB" dirty="0">
              <a:latin typeface="Arial" charset="0"/>
              <a:cs typeface="+mn-cs"/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8361" t="25546" r="28709" b="10608"/>
          <a:stretch>
            <a:fillRect/>
          </a:stretch>
        </p:blipFill>
        <p:spPr bwMode="auto">
          <a:xfrm>
            <a:off x="611560" y="1124744"/>
            <a:ext cx="8172450" cy="528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7521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548680"/>
            <a:ext cx="7489825" cy="53959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 smtClean="0">
                <a:latin typeface="Arial" charset="0"/>
              </a:rPr>
              <a:t>Complex data collections</a:t>
            </a:r>
            <a:endParaRPr lang="en-GB" dirty="0">
              <a:latin typeface="Arial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7848600" cy="2376487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008000"/>
              </a:buClr>
              <a:buSzPct val="120000"/>
              <a:defRPr/>
            </a:pPr>
            <a:r>
              <a:rPr lang="en-GB" sz="2200" dirty="0">
                <a:latin typeface="Arial" charset="0"/>
              </a:rPr>
              <a:t>SN 5801: Concepts of Healthy Eating Food Research: Phases I and II, 1992-1996</a:t>
            </a:r>
          </a:p>
          <a:p>
            <a:pPr>
              <a:lnSpc>
                <a:spcPct val="80000"/>
              </a:lnSpc>
              <a:buClr>
                <a:srgbClr val="008000"/>
              </a:buClr>
              <a:buSzPct val="120000"/>
              <a:defRPr/>
            </a:pPr>
            <a:endParaRPr lang="en-GB" sz="2200" dirty="0">
              <a:latin typeface="Arial" charset="0"/>
            </a:endParaRPr>
          </a:p>
          <a:p>
            <a:pPr>
              <a:lnSpc>
                <a:spcPct val="80000"/>
              </a:lnSpc>
              <a:buClr>
                <a:srgbClr val="008000"/>
              </a:buClr>
              <a:buSzPct val="120000"/>
              <a:defRPr/>
            </a:pPr>
            <a:r>
              <a:rPr lang="en-GB" sz="2200" dirty="0">
                <a:latin typeface="Arial" charset="0"/>
              </a:rPr>
              <a:t>293 interview transcripts; 73 diaries; </a:t>
            </a:r>
            <a:r>
              <a:rPr lang="en-GB" sz="2200" dirty="0" smtClean="0">
                <a:latin typeface="Arial" charset="0"/>
              </a:rPr>
              <a:t>6 </a:t>
            </a:r>
            <a:r>
              <a:rPr lang="en-GB" sz="2200" dirty="0">
                <a:latin typeface="Arial" charset="0"/>
              </a:rPr>
              <a:t>field notes </a:t>
            </a:r>
          </a:p>
          <a:p>
            <a:pPr>
              <a:lnSpc>
                <a:spcPct val="80000"/>
              </a:lnSpc>
              <a:buClr>
                <a:srgbClr val="008000"/>
              </a:buClr>
              <a:buSzPct val="120000"/>
              <a:defRPr/>
            </a:pPr>
            <a:endParaRPr lang="en-GB" sz="2200" dirty="0">
              <a:latin typeface="Arial" charset="0"/>
            </a:endParaRPr>
          </a:p>
          <a:p>
            <a:pPr>
              <a:lnSpc>
                <a:spcPct val="80000"/>
              </a:lnSpc>
              <a:buClr>
                <a:srgbClr val="008000"/>
              </a:buClr>
              <a:buSzPct val="120000"/>
              <a:defRPr/>
            </a:pPr>
            <a:r>
              <a:rPr lang="en-GB" sz="2200" dirty="0">
                <a:latin typeface="Arial" charset="0"/>
              </a:rPr>
              <a:t>Not represented well at all in </a:t>
            </a:r>
            <a:r>
              <a:rPr lang="en-GB" sz="2200" dirty="0" smtClean="0">
                <a:latin typeface="Arial" charset="0"/>
              </a:rPr>
              <a:t>a DDI 2.X </a:t>
            </a:r>
            <a:r>
              <a:rPr lang="en-GB" sz="2200" dirty="0">
                <a:latin typeface="Arial" charset="0"/>
              </a:rPr>
              <a:t>catalogue</a:t>
            </a:r>
          </a:p>
          <a:p>
            <a:pPr>
              <a:lnSpc>
                <a:spcPct val="80000"/>
              </a:lnSpc>
              <a:buClr>
                <a:srgbClr val="78BE20"/>
              </a:buClr>
              <a:buSzPct val="120000"/>
              <a:defRPr/>
            </a:pPr>
            <a:endParaRPr lang="en-GB" sz="2000" dirty="0">
              <a:latin typeface="Arial" charset="0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4860" t="11989" r="28892" b="57008"/>
          <a:stretch/>
        </p:blipFill>
        <p:spPr bwMode="auto">
          <a:xfrm>
            <a:off x="251520" y="3573016"/>
            <a:ext cx="6886744" cy="29926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8966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GB" dirty="0">
                <a:latin typeface="Arial" charset="0"/>
                <a:cs typeface="+mj-cs"/>
              </a:rPr>
              <a:t>Download </a:t>
            </a:r>
            <a:r>
              <a:rPr lang="en-GB" dirty="0" smtClean="0">
                <a:latin typeface="Arial" charset="0"/>
                <a:cs typeface="+mj-cs"/>
              </a:rPr>
              <a:t>Zip of data and doc </a:t>
            </a:r>
            <a:endParaRPr lang="en-GB" dirty="0">
              <a:latin typeface="Arial" charset="0"/>
              <a:cs typeface="+mj-cs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t="7373" r="1907" b="66727"/>
          <a:stretch/>
        </p:blipFill>
        <p:spPr bwMode="auto">
          <a:xfrm>
            <a:off x="278316" y="1700808"/>
            <a:ext cx="8564711" cy="1430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8231" t="45502" r="31923" b="38064"/>
          <a:stretch/>
        </p:blipFill>
        <p:spPr bwMode="auto">
          <a:xfrm>
            <a:off x="3131840" y="1124744"/>
            <a:ext cx="4842933" cy="973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4047" t="11891" r="41919" b="37141"/>
          <a:stretch/>
        </p:blipFill>
        <p:spPr bwMode="auto">
          <a:xfrm>
            <a:off x="123928" y="3213134"/>
            <a:ext cx="4851401" cy="3239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7026" t="19083" r="47922" b="3468"/>
          <a:stretch/>
        </p:blipFill>
        <p:spPr>
          <a:xfrm>
            <a:off x="4955444" y="3068960"/>
            <a:ext cx="3651081" cy="3715993"/>
          </a:xfrm>
          <a:prstGeom prst="rect">
            <a:avLst/>
          </a:prstGeom>
          <a:ln>
            <a:solidFill>
              <a:srgbClr val="78BE20"/>
            </a:solidFill>
          </a:ln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3970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620688"/>
            <a:ext cx="7561262" cy="4318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GB" dirty="0" smtClean="0">
                <a:latin typeface="Arial" charset="0"/>
              </a:rPr>
              <a:t>Digitisation of key data sources</a:t>
            </a:r>
            <a:endParaRPr lang="en-GB" dirty="0">
              <a:latin typeface="Arial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268760"/>
            <a:ext cx="7920880" cy="5040560"/>
          </a:xfrm>
        </p:spPr>
        <p:txBody>
          <a:bodyPr>
            <a:normAutofit fontScale="85000" lnSpcReduction="10000"/>
          </a:bodyPr>
          <a:lstStyle/>
          <a:p>
            <a:pPr>
              <a:buClr>
                <a:srgbClr val="78BE20"/>
              </a:buClr>
              <a:buSzPct val="120000"/>
              <a:buFontTx/>
              <a:buNone/>
              <a:defRPr/>
            </a:pPr>
            <a:r>
              <a:rPr lang="en-GB" sz="2800" dirty="0" smtClean="0">
                <a:latin typeface="Arial" charset="0"/>
              </a:rPr>
              <a:t>Selectively digitize paper</a:t>
            </a:r>
            <a:r>
              <a:rPr lang="en-GB" sz="2800" dirty="0">
                <a:latin typeface="Arial" charset="0"/>
              </a:rPr>
              <a:t>-based materials</a:t>
            </a:r>
            <a:r>
              <a:rPr lang="en-GB" sz="2800" dirty="0" smtClean="0">
                <a:latin typeface="Arial" charset="0"/>
              </a:rPr>
              <a:t>: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>
                <a:latin typeface="Arial" charset="0"/>
                <a:cs typeface="ＭＳ Ｐゴシック" charset="0"/>
              </a:rPr>
              <a:t>o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riginal </a:t>
            </a:r>
            <a:r>
              <a:rPr lang="en-GB" sz="2800" dirty="0">
                <a:latin typeface="Arial" charset="0"/>
                <a:cs typeface="ＭＳ Ｐゴシック" charset="0"/>
              </a:rPr>
              <a:t>survey 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questionnaires; open ended questions</a:t>
            </a:r>
            <a:endParaRPr lang="en-GB" sz="2800" dirty="0">
              <a:latin typeface="Arial" charset="0"/>
              <a:cs typeface="ＭＳ Ｐゴシック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>
                <a:latin typeface="Arial" charset="0"/>
                <a:cs typeface="ＭＳ Ｐゴシック" charset="0"/>
              </a:rPr>
              <a:t>t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ranscribed interviews 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 smtClean="0">
                <a:latin typeface="Arial" charset="0"/>
                <a:cs typeface="ＭＳ Ｐゴシック" charset="0"/>
              </a:rPr>
              <a:t>handwritten </a:t>
            </a:r>
            <a:r>
              <a:rPr lang="en-GB" sz="2800" dirty="0">
                <a:latin typeface="Arial" charset="0"/>
                <a:cs typeface="ＭＳ Ｐゴシック" charset="0"/>
              </a:rPr>
              <a:t>field 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notes, essays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 smtClean="0">
                <a:latin typeface="Arial" charset="0"/>
                <a:cs typeface="ＭＳ Ｐゴシック" charset="0"/>
              </a:rPr>
              <a:t>diagrams</a:t>
            </a:r>
            <a:endParaRPr lang="en-GB" sz="2800" dirty="0">
              <a:latin typeface="Arial" charset="0"/>
              <a:cs typeface="ＭＳ Ｐゴシック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 smtClean="0">
                <a:latin typeface="Arial" charset="0"/>
                <a:cs typeface="ＭＳ Ｐゴシック" charset="0"/>
              </a:rPr>
              <a:t>photographs</a:t>
            </a:r>
          </a:p>
          <a:p>
            <a:pPr marL="57150" indent="0">
              <a:buClr>
                <a:srgbClr val="78BE20"/>
              </a:buClr>
              <a:buSzPct val="120000"/>
              <a:buFontTx/>
              <a:buNone/>
              <a:defRPr/>
            </a:pPr>
            <a:endParaRPr lang="en-GB" sz="2800" dirty="0" smtClean="0">
              <a:latin typeface="Arial" charset="0"/>
              <a:cs typeface="ＭＳ Ｐゴシック" charset="0"/>
            </a:endParaRPr>
          </a:p>
          <a:p>
            <a:pPr marL="57150" indent="0">
              <a:buClr>
                <a:srgbClr val="78BE20"/>
              </a:buClr>
              <a:buSzPct val="120000"/>
              <a:buFontTx/>
              <a:buNone/>
              <a:defRPr/>
            </a:pPr>
            <a:r>
              <a:rPr lang="en-GB" sz="2800" dirty="0" smtClean="0">
                <a:latin typeface="Arial" charset="0"/>
                <a:cs typeface="ＭＳ Ｐゴシック" charset="0"/>
              </a:rPr>
              <a:t>Destination formats:</a:t>
            </a:r>
            <a:endParaRPr lang="en-GB" sz="2800" dirty="0">
              <a:latin typeface="Arial" charset="0"/>
              <a:cs typeface="ＭＳ Ｐゴシック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>
                <a:latin typeface="Arial" charset="0"/>
                <a:cs typeface="ＭＳ Ｐゴシック" charset="0"/>
              </a:rPr>
              <a:t>a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ll </a:t>
            </a:r>
            <a:r>
              <a:rPr lang="en-GB" sz="2800" dirty="0">
                <a:latin typeface="Arial" charset="0"/>
                <a:cs typeface="ＭＳ Ｐゴシック" charset="0"/>
              </a:rPr>
              <a:t>text 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files:  </a:t>
            </a:r>
            <a:r>
              <a:rPr lang="en-GB" sz="2800" dirty="0">
                <a:latin typeface="Arial" charset="0"/>
                <a:cs typeface="ＭＳ Ｐゴシック" charset="0"/>
              </a:rPr>
              <a:t>XML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>
                <a:latin typeface="Arial" charset="0"/>
                <a:cs typeface="ＭＳ Ｐゴシック" charset="0"/>
              </a:rPr>
              <a:t>h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andwriting</a:t>
            </a:r>
            <a:r>
              <a:rPr lang="en-GB" sz="2800" dirty="0">
                <a:latin typeface="Arial" charset="0"/>
                <a:cs typeface="ＭＳ Ｐゴシック" charset="0"/>
              </a:rPr>
              <a:t>/photos/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pictures: images </a:t>
            </a:r>
            <a:r>
              <a:rPr lang="en-GB" sz="2800" dirty="0">
                <a:latin typeface="Arial" charset="0"/>
                <a:cs typeface="ＭＳ Ｐゴシック" charset="0"/>
              </a:rPr>
              <a:t>as jpeg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>
                <a:latin typeface="Arial" charset="0"/>
                <a:cs typeface="ＭＳ Ｐゴシック" charset="0"/>
              </a:rPr>
              <a:t>m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ultipage non-XMLable docs: images </a:t>
            </a:r>
            <a:r>
              <a:rPr lang="en-GB" sz="2800" dirty="0">
                <a:latin typeface="Arial" charset="0"/>
                <a:cs typeface="ＭＳ Ｐゴシック" charset="0"/>
              </a:rPr>
              <a:t>as PDF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sz="2800" dirty="0">
                <a:latin typeface="Arial" charset="0"/>
                <a:cs typeface="ＭＳ Ｐゴシック" charset="0"/>
              </a:rPr>
              <a:t>a</a:t>
            </a:r>
            <a:r>
              <a:rPr lang="en-GB" sz="2800" dirty="0" smtClean="0">
                <a:latin typeface="Arial" charset="0"/>
                <a:cs typeface="ＭＳ Ｐゴシック" charset="0"/>
              </a:rPr>
              <a:t>udio: mp3</a:t>
            </a:r>
          </a:p>
          <a:p>
            <a:pPr>
              <a:buClr>
                <a:srgbClr val="78BE20"/>
              </a:buClr>
              <a:buSzPct val="120000"/>
              <a:defRPr/>
            </a:pPr>
            <a:endParaRPr lang="en-GB" sz="2600" dirty="0" smtClean="0">
              <a:latin typeface="Arial" charset="0"/>
              <a:cs typeface="ＭＳ Ｐゴシック" charset="0"/>
            </a:endParaRPr>
          </a:p>
          <a:p>
            <a:pPr>
              <a:buClr>
                <a:srgbClr val="78BE20"/>
              </a:buClr>
              <a:buSzPct val="120000"/>
              <a:defRPr/>
            </a:pPr>
            <a:endParaRPr lang="en-GB" sz="2900" dirty="0" smtClean="0">
              <a:latin typeface="Arial" charset="0"/>
              <a:cs typeface="ＭＳ Ｐゴシック" charset="0"/>
            </a:endParaRPr>
          </a:p>
          <a:p>
            <a:pPr lvl="1">
              <a:defRPr/>
            </a:pPr>
            <a:endParaRPr lang="en-GB" sz="2000" dirty="0">
              <a:latin typeface="Arial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5222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352928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charset="0"/>
              </a:rPr>
              <a:t>Metadata demands for UK Quali Bank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556792"/>
            <a:ext cx="7920880" cy="5141168"/>
          </a:xfrm>
        </p:spPr>
        <p:txBody>
          <a:bodyPr>
            <a:normAutofit/>
          </a:bodyPr>
          <a:lstStyle/>
          <a:p>
            <a:pPr marL="0" indent="0">
              <a:buClr>
                <a:srgbClr val="008000"/>
              </a:buClr>
              <a:buSzPct val="120000"/>
              <a:buNone/>
              <a:defRPr/>
            </a:pPr>
            <a:r>
              <a:rPr lang="en-US" sz="2200" dirty="0" smtClean="0">
                <a:solidFill>
                  <a:srgbClr val="008000"/>
                </a:solidFill>
                <a:latin typeface="Arial" charset="0"/>
              </a:rPr>
              <a:t>Discover, locate, retrieve, examine in context, cite</a:t>
            </a:r>
          </a:p>
          <a:p>
            <a:pPr>
              <a:buClr>
                <a:srgbClr val="008000"/>
              </a:buClr>
              <a:buSzPct val="120000"/>
              <a:defRPr/>
            </a:pPr>
            <a:endParaRPr lang="en-US" sz="2200" dirty="0" smtClean="0">
              <a:solidFill>
                <a:srgbClr val="008000"/>
              </a:solidFill>
              <a:latin typeface="Arial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Requires rich descriptive metadata for files</a:t>
            </a:r>
            <a:endParaRPr lang="en-US" sz="2200" dirty="0">
              <a:latin typeface="Arial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endParaRPr lang="en-US" sz="2200" dirty="0">
              <a:solidFill>
                <a:srgbClr val="008000"/>
              </a:solidFill>
              <a:latin typeface="Arial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solidFill>
                  <a:srgbClr val="000000"/>
                </a:solidFill>
                <a:latin typeface="Arial" charset="0"/>
              </a:rPr>
              <a:t>Ability to display and link data objects: text to related audio,</a:t>
            </a:r>
            <a:r>
              <a:rPr lang="en-US" sz="2200" dirty="0" smtClean="0">
                <a:solidFill>
                  <a:srgbClr val="008000"/>
                </a:solidFill>
                <a:latin typeface="Arial" charset="0"/>
              </a:rPr>
              <a:t> </a:t>
            </a:r>
            <a:r>
              <a:rPr lang="en-US" sz="2200" dirty="0" smtClean="0">
                <a:latin typeface="Arial" charset="0"/>
              </a:rPr>
              <a:t>images</a:t>
            </a:r>
            <a:r>
              <a:rPr lang="en-US" sz="2200" dirty="0">
                <a:latin typeface="Arial" charset="0"/>
              </a:rPr>
              <a:t>, and other </a:t>
            </a:r>
            <a:r>
              <a:rPr lang="en-US" sz="2200" dirty="0" smtClean="0">
                <a:latin typeface="Arial" charset="0"/>
              </a:rPr>
              <a:t>research </a:t>
            </a:r>
            <a:r>
              <a:rPr lang="en-US" sz="2200" dirty="0">
                <a:latin typeface="Arial" charset="0"/>
              </a:rPr>
              <a:t>outputs</a:t>
            </a:r>
          </a:p>
          <a:p>
            <a:pPr marL="0" indent="0">
              <a:buClr>
                <a:srgbClr val="008000"/>
              </a:buClr>
              <a:buSzPct val="120000"/>
              <a:buNone/>
              <a:defRPr/>
            </a:pPr>
            <a:endParaRPr lang="en-US" sz="2200" dirty="0" smtClean="0">
              <a:latin typeface="Arial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200" dirty="0">
                <a:latin typeface="Arial" charset="0"/>
              </a:rPr>
              <a:t>Highly structured and consistently marked-up </a:t>
            </a:r>
            <a:r>
              <a:rPr lang="en-US" sz="2200" dirty="0" smtClean="0">
                <a:latin typeface="Arial" charset="0"/>
              </a:rPr>
              <a:t>data</a:t>
            </a:r>
            <a:endParaRPr lang="en-US" sz="2200" dirty="0">
              <a:latin typeface="Arial" charset="0"/>
            </a:endParaRPr>
          </a:p>
          <a:p>
            <a:pPr marL="0" indent="0">
              <a:buClr>
                <a:srgbClr val="008000"/>
              </a:buClr>
              <a:buSzPct val="120000"/>
              <a:buNone/>
              <a:defRPr/>
            </a:pPr>
            <a:endParaRPr lang="en-US" sz="2200" dirty="0">
              <a:latin typeface="Arial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Use of common metadata elements enable </a:t>
            </a:r>
            <a:r>
              <a:rPr lang="en-US" sz="2200" dirty="0">
                <a:latin typeface="Arial" charset="0"/>
              </a:rPr>
              <a:t>federated catalogues across providers and borders</a:t>
            </a:r>
          </a:p>
          <a:p>
            <a:pPr marL="0" indent="0">
              <a:buClr>
                <a:srgbClr val="008000"/>
              </a:buClr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327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cs typeface="+mj-cs"/>
              </a:rPr>
              <a:t>Description below the collection</a:t>
            </a:r>
            <a:endParaRPr lang="en-US" dirty="0"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064896" cy="4104456"/>
          </a:xfrm>
        </p:spPr>
        <p:txBody>
          <a:bodyPr>
            <a:normAutofit/>
          </a:bodyPr>
          <a:lstStyle/>
          <a:p>
            <a:pPr>
              <a:buClr>
                <a:srgbClr val="008000"/>
              </a:buClr>
              <a:buSzPct val="120000"/>
              <a:defRPr/>
            </a:pPr>
            <a:r>
              <a:rPr lang="en-GB" dirty="0" smtClean="0">
                <a:solidFill>
                  <a:srgbClr val="008000"/>
                </a:solidFill>
                <a:latin typeface="Arial" charset="0"/>
                <a:cs typeface="+mn-cs"/>
              </a:rPr>
              <a:t>DDI Codebook 2.5 </a:t>
            </a:r>
            <a:r>
              <a:rPr lang="en-GB" dirty="0" smtClean="0">
                <a:latin typeface="Arial" charset="0"/>
                <a:cs typeface="+mn-cs"/>
              </a:rPr>
              <a:t>for basic study</a:t>
            </a:r>
            <a:r>
              <a:rPr lang="en-GB" dirty="0" smtClean="0">
                <a:latin typeface="Arial" charset="0"/>
              </a:rPr>
              <a:t>-</a:t>
            </a:r>
            <a:r>
              <a:rPr lang="en-GB" dirty="0" smtClean="0">
                <a:latin typeface="Arial" charset="0"/>
                <a:cs typeface="+mn-cs"/>
              </a:rPr>
              <a:t>level catalogue metadata</a:t>
            </a:r>
          </a:p>
          <a:p>
            <a:pPr>
              <a:buClr>
                <a:srgbClr val="008000"/>
              </a:buClr>
              <a:buSzPct val="120000"/>
              <a:defRPr/>
            </a:pPr>
            <a:endParaRPr lang="en-GB" dirty="0" smtClean="0">
              <a:latin typeface="Arial" charset="0"/>
              <a:cs typeface="+mn-cs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 err="1" smtClean="0">
                <a:solidFill>
                  <a:srgbClr val="008000"/>
                </a:solidFill>
                <a:latin typeface="Arial" charset="0"/>
                <a:cs typeface="+mn-cs"/>
              </a:rPr>
              <a:t>QuDEx</a:t>
            </a:r>
            <a:r>
              <a:rPr lang="en-GB" dirty="0" smtClean="0">
                <a:solidFill>
                  <a:srgbClr val="008000"/>
                </a:solidFill>
                <a:latin typeface="Arial" charset="0"/>
                <a:cs typeface="+mn-cs"/>
              </a:rPr>
              <a:t> schema (Qualitative Data Exchange) </a:t>
            </a:r>
            <a:r>
              <a:rPr lang="en-GB" dirty="0" smtClean="0">
                <a:latin typeface="Arial" charset="0"/>
                <a:cs typeface="+mn-cs"/>
              </a:rPr>
              <a:t>for rich file-level description, document coding and annotation and intra-collection relationships</a:t>
            </a:r>
          </a:p>
          <a:p>
            <a:pPr marL="457200" lvl="1" indent="0">
              <a:buClr>
                <a:srgbClr val="008000"/>
              </a:buClr>
              <a:buSzPct val="120000"/>
              <a:buNone/>
              <a:defRPr/>
            </a:pPr>
            <a:endParaRPr lang="en-GB" dirty="0" smtClean="0">
              <a:latin typeface="Arial" charset="0"/>
            </a:endParaRPr>
          </a:p>
          <a:p>
            <a:pPr marL="457200" lvl="1" indent="0">
              <a:buClr>
                <a:srgbClr val="008000"/>
              </a:buClr>
              <a:buSzPct val="120000"/>
              <a:buNone/>
              <a:defRPr/>
            </a:pPr>
            <a:endParaRPr lang="en-GB" sz="1300" dirty="0" smtClean="0">
              <a:latin typeface="Arial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 smtClean="0">
                <a:latin typeface="Arial" charset="0"/>
              </a:rPr>
              <a:t>Limited use of </a:t>
            </a:r>
            <a:r>
              <a:rPr lang="en-GB" dirty="0" smtClean="0">
                <a:solidFill>
                  <a:srgbClr val="008000"/>
                </a:solidFill>
                <a:latin typeface="Arial" charset="0"/>
              </a:rPr>
              <a:t>TEI </a:t>
            </a:r>
            <a:r>
              <a:rPr lang="en-GB" dirty="0">
                <a:solidFill>
                  <a:srgbClr val="008000"/>
                </a:solidFill>
                <a:latin typeface="Arial" charset="0"/>
              </a:rPr>
              <a:t>schema </a:t>
            </a:r>
            <a:r>
              <a:rPr lang="en-GB" dirty="0" smtClean="0">
                <a:solidFill>
                  <a:srgbClr val="008000"/>
                </a:solidFill>
                <a:latin typeface="Arial" charset="0"/>
              </a:rPr>
              <a:t>(Text Encoding Initiative) </a:t>
            </a:r>
            <a:r>
              <a:rPr lang="en-GB" dirty="0" smtClean="0">
                <a:latin typeface="Arial" charset="0"/>
              </a:rPr>
              <a:t>for </a:t>
            </a:r>
            <a:r>
              <a:rPr lang="en-GB" dirty="0">
                <a:latin typeface="Arial" charset="0"/>
              </a:rPr>
              <a:t>mark-up of textual data items</a:t>
            </a:r>
          </a:p>
          <a:p>
            <a:pPr>
              <a:buClr>
                <a:srgbClr val="008000"/>
              </a:buClr>
              <a:buSzPct val="120000"/>
              <a:defRPr/>
            </a:pPr>
            <a:endParaRPr lang="en-US" dirty="0" smtClean="0"/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endParaRPr lang="en-US" b="1" dirty="0" smtClean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buFont typeface="Arial"/>
              <a:buChar char="•"/>
              <a:defRPr/>
            </a:pPr>
            <a:endParaRPr lang="en-US" dirty="0" smtClean="0"/>
          </a:p>
          <a:p>
            <a:pPr>
              <a:defRPr/>
            </a:pPr>
            <a:endParaRPr lang="en-US" dirty="0" smtClean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162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QuDEx Overview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229600" cy="5141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XML schema for documenting metadata for qualitative data collections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>
                <a:latin typeface="Arial" charset="0"/>
              </a:rPr>
              <a:t>d</a:t>
            </a:r>
            <a:r>
              <a:rPr lang="en-GB" dirty="0" smtClean="0">
                <a:latin typeface="Arial" charset="0"/>
              </a:rPr>
              <a:t>eveloped as part of the JISC </a:t>
            </a:r>
            <a:r>
              <a:rPr lang="en-GB" dirty="0" smtClean="0">
                <a:latin typeface="Arial" charset="0"/>
              </a:rPr>
              <a:t>2007 </a:t>
            </a:r>
            <a:r>
              <a:rPr lang="en-GB" dirty="0" smtClean="0">
                <a:latin typeface="Arial" charset="0"/>
              </a:rPr>
              <a:t>Data Exchange Tools (DExT) project – UK Data Archive and MetadataTechnologies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QuDEx is intended to be used as a standard way of encoding metadata for qualitative collections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>
                <a:latin typeface="Arial" charset="0"/>
              </a:rPr>
              <a:t>f</a:t>
            </a:r>
            <a:r>
              <a:rPr lang="en-US" dirty="0" smtClean="0">
                <a:latin typeface="Arial" charset="0"/>
              </a:rPr>
              <a:t>or exchange between CAQDAS packages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>
                <a:latin typeface="Arial" charset="0"/>
              </a:rPr>
              <a:t>f</a:t>
            </a:r>
            <a:r>
              <a:rPr lang="en-US" dirty="0" smtClean="0">
                <a:latin typeface="Arial" charset="0"/>
              </a:rPr>
              <a:t>or use within data archives and libraries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>
                <a:latin typeface="Arial" charset="0"/>
              </a:rPr>
              <a:t>f</a:t>
            </a:r>
            <a:r>
              <a:rPr lang="en-US" dirty="0" smtClean="0">
                <a:latin typeface="Arial" charset="0"/>
              </a:rPr>
              <a:t>or dissemination systems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Allow for describing complex collections of quali data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>
                <a:latin typeface="Arial" charset="0"/>
              </a:rPr>
              <a:t>detailed d</a:t>
            </a:r>
            <a:r>
              <a:rPr lang="en-GB" dirty="0" smtClean="0">
                <a:latin typeface="Arial" charset="0"/>
              </a:rPr>
              <a:t>escription at </a:t>
            </a:r>
            <a:r>
              <a:rPr lang="en-GB" dirty="0">
                <a:latin typeface="Arial" charset="0"/>
              </a:rPr>
              <a:t>the object level, e.g. </a:t>
            </a:r>
            <a:r>
              <a:rPr lang="en-GB" dirty="0" smtClean="0">
                <a:latin typeface="Arial" charset="0"/>
              </a:rPr>
              <a:t>interview </a:t>
            </a:r>
            <a:r>
              <a:rPr lang="en-GB" dirty="0">
                <a:latin typeface="Arial" charset="0"/>
              </a:rPr>
              <a:t>characteristics, interview </a:t>
            </a:r>
            <a:r>
              <a:rPr lang="en-GB" dirty="0" smtClean="0">
                <a:latin typeface="Arial" charset="0"/>
              </a:rPr>
              <a:t>setting, type of object etc.</a:t>
            </a:r>
            <a:endParaRPr lang="en-US" dirty="0" smtClean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>
                <a:latin typeface="Arial" charset="0"/>
              </a:rPr>
              <a:t>c</a:t>
            </a:r>
            <a:r>
              <a:rPr lang="en-GB" dirty="0" smtClean="0">
                <a:latin typeface="Arial" charset="0"/>
              </a:rPr>
              <a:t>apture relationships between resources (files)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>
                <a:latin typeface="Arial" charset="0"/>
              </a:rPr>
              <a:t>p</a:t>
            </a:r>
            <a:r>
              <a:rPr lang="en-GB" dirty="0" smtClean="0">
                <a:latin typeface="Arial" charset="0"/>
              </a:rPr>
              <a:t>reserve references to annotations performed on data 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4883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QuDEx Structure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352928" cy="5141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 smtClean="0"/>
              <a:t>A qualitative study can be described using a single QuDEx instance (the XML document)</a:t>
            </a:r>
          </a:p>
          <a:p>
            <a:pPr>
              <a:lnSpc>
                <a:spcPct val="90000"/>
              </a:lnSpc>
              <a:buClr>
                <a:srgbClr val="78BE20"/>
              </a:buClr>
              <a:buSzPct val="120000"/>
              <a:defRPr/>
            </a:pPr>
            <a:endParaRPr lang="en-GB" sz="2200" dirty="0" smtClean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solidFill>
                  <a:srgbClr val="008000"/>
                </a:solidFill>
                <a:latin typeface="Arial" charset="0"/>
              </a:rPr>
              <a:t>&lt;resourceCollection&gt;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&lt;segmentCollection&gt;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&lt;codeCollection&gt;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solidFill>
                  <a:srgbClr val="008000"/>
                </a:solidFill>
                <a:latin typeface="Arial" charset="0"/>
              </a:rPr>
              <a:t>&lt;categoryCollection&gt;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>
                <a:solidFill>
                  <a:srgbClr val="008000"/>
                </a:solidFill>
                <a:latin typeface="Arial" charset="0"/>
              </a:rPr>
              <a:t>&lt;memoCollection&gt;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solidFill>
                  <a:srgbClr val="008000"/>
                </a:solidFill>
                <a:latin typeface="Arial" charset="0"/>
              </a:rPr>
              <a:t>&lt;relationCollection&gt;</a:t>
            </a:r>
          </a:p>
          <a:p>
            <a:pPr marL="457200" lvl="1" indent="0">
              <a:lnSpc>
                <a:spcPct val="90000"/>
              </a:lnSpc>
              <a:buClr>
                <a:srgbClr val="008000"/>
              </a:buClr>
              <a:buSzPct val="120000"/>
              <a:buNone/>
              <a:defRPr/>
            </a:pPr>
            <a:endParaRPr lang="en-US" sz="2200" dirty="0" smtClean="0">
              <a:solidFill>
                <a:srgbClr val="008000"/>
              </a:solidFill>
              <a:latin typeface="Arial" charset="0"/>
            </a:endParaRPr>
          </a:p>
          <a:p>
            <a:pPr marL="457200" lvl="1" indent="0">
              <a:lnSpc>
                <a:spcPct val="90000"/>
              </a:lnSpc>
              <a:buClr>
                <a:srgbClr val="008000"/>
              </a:buClr>
              <a:buSzPct val="120000"/>
              <a:buNone/>
              <a:defRPr/>
            </a:pPr>
            <a:r>
              <a:rPr lang="en-US" dirty="0"/>
              <a:t>S</a:t>
            </a:r>
            <a:r>
              <a:rPr lang="en-US" dirty="0" smtClean="0"/>
              <a:t>chema </a:t>
            </a:r>
            <a:r>
              <a:rPr lang="en-US" dirty="0"/>
              <a:t>at: </a:t>
            </a:r>
            <a:r>
              <a:rPr lang="en-US" dirty="0">
                <a:hlinkClick r:id="rId2"/>
              </a:rPr>
              <a:t>www.data-archive.ac.uk/create-manage/projects/qudex/</a:t>
            </a:r>
            <a:endParaRPr lang="en-US" dirty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2200" dirty="0" smtClean="0">
              <a:solidFill>
                <a:srgbClr val="008000"/>
              </a:solidFill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78BE20"/>
              </a:buClr>
              <a:buSzPct val="120000"/>
              <a:defRPr/>
            </a:pPr>
            <a:endParaRPr lang="en-GB" sz="1800" dirty="0" smtClean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2504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QuDEx – Resource Collection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Resource collection is broken into two sections, sources and documents: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2200" dirty="0" smtClean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a &lt;source&gt; describes a physical file of the qualitative data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>
                <a:latin typeface="Arial" charset="0"/>
              </a:rPr>
              <a:t>a</a:t>
            </a:r>
            <a:r>
              <a:rPr lang="en-US" sz="2200" dirty="0" smtClean="0">
                <a:latin typeface="Arial" charset="0"/>
              </a:rPr>
              <a:t> &lt;document&gt; is a file available to an application. It is typically a copy of a source, which might have been re-formatted, and it always references its &lt;source&gt;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2200" dirty="0" smtClean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Each data file included in a data collection has to be described as a pair of &lt;source&gt; and &lt;document&gt; within a study’s QuDEx instance</a:t>
            </a:r>
          </a:p>
          <a:p>
            <a:pPr>
              <a:buClr>
                <a:srgbClr val="008000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4919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QuDEx – Category Collection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229600" cy="5141168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A &lt;category&gt; is a formal code applied to the qualitative data (usually documents or segments) by the researcher</a:t>
            </a:r>
          </a:p>
          <a:p>
            <a:pPr>
              <a:buClr>
                <a:srgbClr val="008000"/>
              </a:buClr>
            </a:pPr>
            <a:endParaRPr lang="en-US" sz="2200" dirty="0" smtClean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usually taken from a formal classification or controlled vocabulary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2200" dirty="0" smtClean="0"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can be applied to documents, segments, codes, memos, or other categories using a &lt;relation&gt;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2200" dirty="0" smtClean="0"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can be used to group documents directly, by simply listing them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2200" dirty="0" smtClean="0"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>
                <a:latin typeface="Arial" charset="0"/>
              </a:rPr>
              <a:t>can be arranged in hierarchies</a:t>
            </a:r>
            <a:endParaRPr lang="en-GB" sz="2200" dirty="0" smtClean="0">
              <a:latin typeface="Arial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9407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QuDEx – Memo Collection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229600" cy="5141168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A &lt;memo&gt; is used to store annotations of data files, e/g those produced by the researcher. 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dirty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examples include: analytic notes, interview notes, or any richer descriptive information</a:t>
            </a:r>
          </a:p>
          <a:p>
            <a:pPr lvl="1">
              <a:buClr>
                <a:srgbClr val="008000"/>
              </a:buClr>
            </a:pPr>
            <a:endParaRPr lang="en-US" sz="2200" dirty="0" smtClean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>
                <a:latin typeface="Arial" charset="0"/>
              </a:rPr>
              <a:t>c</a:t>
            </a:r>
            <a:r>
              <a:rPr lang="en-US" sz="2200" dirty="0" smtClean="0">
                <a:latin typeface="Arial" charset="0"/>
              </a:rPr>
              <a:t>an be held in the QuDEx document (inline) or stored in an external file (memo source)</a:t>
            </a:r>
          </a:p>
          <a:p>
            <a:pPr lvl="2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2200" dirty="0" smtClean="0"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sz="2200" dirty="0">
                <a:latin typeface="Arial" charset="0"/>
              </a:rPr>
              <a:t>c</a:t>
            </a:r>
            <a:r>
              <a:rPr lang="en-US" sz="2200" dirty="0" smtClean="0">
                <a:latin typeface="Arial" charset="0"/>
              </a:rPr>
              <a:t>an be associated with documents, segments, memos, categories</a:t>
            </a:r>
            <a:r>
              <a:rPr lang="en-US" dirty="0" smtClean="0">
                <a:latin typeface="Arial" charset="0"/>
              </a:rPr>
              <a:t>, or codes using a &lt;relation&gt; element</a:t>
            </a:r>
          </a:p>
          <a:p>
            <a:pPr>
              <a:buClr>
                <a:srgbClr val="008000"/>
              </a:buClr>
            </a:pPr>
            <a:endParaRPr lang="en-US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72865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QuDEx – Relation Collection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8229600" cy="514116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/>
              <a:t>A &lt;relation&gt; element links a source and target, using a typed relationship</a:t>
            </a:r>
            <a:endParaRPr lang="en-US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sz="1200" dirty="0" smtClean="0"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>
                <a:latin typeface="Arial" charset="0"/>
              </a:rPr>
              <a:t>there is a fixed list of typical relationships (i.e. “isPartOf”, “isFormatOf”)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dirty="0"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 smtClean="0">
                <a:latin typeface="Arial" charset="0"/>
              </a:rPr>
              <a:t>user-defined relationships are also allowed (i.e. by using “otherRelationName” element). E.g. “isTranscriptionOf”, “isAnnotationOf”…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dirty="0"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>
                <a:latin typeface="Arial" charset="0"/>
              </a:rPr>
              <a:t>o</a:t>
            </a:r>
            <a:r>
              <a:rPr lang="en-US" dirty="0" smtClean="0">
                <a:latin typeface="Arial" charset="0"/>
              </a:rPr>
              <a:t>ptionally, the type of the relationship can be specified. E.g. “documentDocument”, “categoryDocument”, or “memoDocument”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US" dirty="0" smtClean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US" dirty="0"/>
              <a:t>s</a:t>
            </a:r>
            <a:r>
              <a:rPr lang="en-US" dirty="0" smtClean="0"/>
              <a:t>ource and target may be documents, segments, categories, memos, or codes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399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 of QuDEx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7992888" cy="5141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dirty="0" smtClean="0"/>
              <a:t>QuDEx instance is central to the Quali Bank system. It provides: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 smtClean="0"/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sz="2400" dirty="0">
                <a:latin typeface="Arial" charset="0"/>
              </a:rPr>
              <a:t>a</a:t>
            </a:r>
            <a:r>
              <a:rPr lang="en-GB" sz="2400" dirty="0" smtClean="0">
                <a:latin typeface="Arial" charset="0"/>
              </a:rPr>
              <a:t>ccess to study-level documentation by referencing existing DDI 2.5 documents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sz="2400" dirty="0">
                <a:latin typeface="Arial" charset="0"/>
              </a:rPr>
              <a:t>d</a:t>
            </a:r>
            <a:r>
              <a:rPr lang="en-GB" sz="2400" dirty="0" smtClean="0">
                <a:latin typeface="Arial" charset="0"/>
              </a:rPr>
              <a:t>ata listing for resources included in a collection (by using &lt;sources&gt; and &lt;documents&gt; elements)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sz="2400" dirty="0">
                <a:latin typeface="Arial" charset="0"/>
              </a:rPr>
              <a:t>a</a:t>
            </a:r>
            <a:r>
              <a:rPr lang="en-GB" sz="2400" dirty="0" smtClean="0">
                <a:latin typeface="Arial" charset="0"/>
              </a:rPr>
              <a:t>ttachment of categories to data resources and collection documentation files</a:t>
            </a:r>
          </a:p>
          <a:p>
            <a:pPr lvl="1"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sz="2400" dirty="0">
                <a:latin typeface="Arial" charset="0"/>
              </a:rPr>
              <a:t>s</a:t>
            </a:r>
            <a:r>
              <a:rPr lang="en-GB" sz="2400" dirty="0" smtClean="0">
                <a:latin typeface="Arial" charset="0"/>
              </a:rPr>
              <a:t>pecification of data relationships (by using &lt;relation&gt; elements)</a:t>
            </a:r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0119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1295400"/>
            <a:ext cx="9080500" cy="50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9845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cs typeface="+mj-cs"/>
              </a:rPr>
              <a:t>System expectations</a:t>
            </a:r>
            <a:endParaRPr lang="en-US" dirty="0"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82186" cy="5040907"/>
          </a:xfrm>
        </p:spPr>
        <p:txBody>
          <a:bodyPr>
            <a:normAutofit fontScale="92500" lnSpcReduction="10000"/>
          </a:bodyPr>
          <a:lstStyle/>
          <a:p>
            <a:pPr marL="342900" lvl="1" indent="-342900">
              <a:buClr>
                <a:srgbClr val="008000"/>
              </a:buClr>
              <a:buSzPct val="120000"/>
              <a:defRPr/>
            </a:pPr>
            <a:r>
              <a:rPr lang="en-US" sz="2400" dirty="0">
                <a:solidFill>
                  <a:srgbClr val="008000"/>
                </a:solidFill>
              </a:rPr>
              <a:t>Search/browse for data</a:t>
            </a:r>
          </a:p>
          <a:p>
            <a:pPr marL="742950" lvl="2" indent="-342900"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Search /faceted browse of data  - text; image/PDF, audio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dirty="0" smtClean="0">
                <a:solidFill>
                  <a:srgbClr val="008000"/>
                </a:solidFill>
                <a:cs typeface="+mn-cs"/>
              </a:rPr>
              <a:t>Browse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Faceted </a:t>
            </a:r>
            <a:r>
              <a:rPr lang="en-US" sz="2200" dirty="0"/>
              <a:t>browse </a:t>
            </a:r>
            <a:r>
              <a:rPr lang="en-US" sz="2200" dirty="0" smtClean="0"/>
              <a:t>by: </a:t>
            </a:r>
          </a:p>
          <a:p>
            <a:pPr lvl="2">
              <a:buClr>
                <a:srgbClr val="008000"/>
              </a:buClr>
              <a:buSzPct val="120000"/>
              <a:defRPr/>
            </a:pPr>
            <a:r>
              <a:rPr lang="en-US" sz="2000" dirty="0" smtClean="0"/>
              <a:t>Collection level: title, date and openness</a:t>
            </a:r>
          </a:p>
          <a:p>
            <a:pPr lvl="2">
              <a:buClr>
                <a:srgbClr val="008000"/>
              </a:buClr>
              <a:buSzPct val="120000"/>
              <a:defRPr/>
            </a:pPr>
            <a:r>
              <a:rPr lang="en-US" sz="2000" dirty="0" smtClean="0"/>
              <a:t>Object level: data type, interview characteristics, location</a:t>
            </a:r>
            <a:endParaRPr lang="en-US" sz="2000" dirty="0"/>
          </a:p>
          <a:p>
            <a:pPr marL="342900" lvl="1" indent="-342900">
              <a:buClr>
                <a:srgbClr val="008000"/>
              </a:buClr>
              <a:buSzPct val="120000"/>
              <a:defRPr/>
            </a:pPr>
            <a:r>
              <a:rPr lang="en-US" sz="2400" dirty="0" smtClean="0">
                <a:solidFill>
                  <a:srgbClr val="008000"/>
                </a:solidFill>
              </a:rPr>
              <a:t>Search: </a:t>
            </a:r>
          </a:p>
          <a:p>
            <a:pPr marL="715963" lvl="2">
              <a:buClr>
                <a:srgbClr val="008000"/>
              </a:buClr>
              <a:buSzPct val="120000"/>
              <a:defRPr/>
            </a:pPr>
            <a:r>
              <a:rPr lang="en-US" sz="2200" dirty="0"/>
              <a:t>Display no. hits and minimal item metadata</a:t>
            </a:r>
          </a:p>
          <a:p>
            <a:pPr marL="742950" lvl="2" indent="-342900"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Word in paragraph; thumbnail image/pdf; AV link</a:t>
            </a:r>
          </a:p>
          <a:p>
            <a:pPr marL="742950" lvl="2" indent="-342900"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Context: other related objects, within system or external</a:t>
            </a:r>
            <a:endParaRPr lang="en-US" sz="2200" dirty="0"/>
          </a:p>
          <a:p>
            <a:pPr marL="342900" lvl="1" indent="-342900">
              <a:buClr>
                <a:srgbClr val="008000"/>
              </a:buClr>
              <a:buSzPct val="120000"/>
              <a:defRPr/>
            </a:pPr>
            <a:r>
              <a:rPr lang="en-US" sz="2400" dirty="0" smtClean="0">
                <a:solidFill>
                  <a:srgbClr val="008000"/>
                </a:solidFill>
              </a:rPr>
              <a:t>Access full object</a:t>
            </a:r>
          </a:p>
          <a:p>
            <a:pPr marL="742950" lvl="2" indent="-342900"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View data, key metadata and all related files and links</a:t>
            </a:r>
          </a:p>
          <a:p>
            <a:pPr marL="742950" lvl="2" indent="-342900"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Link to download full collection and user documentation (UKDS)</a:t>
            </a:r>
          </a:p>
          <a:p>
            <a:pPr marL="742950" lvl="2" indent="-342900">
              <a:buClr>
                <a:srgbClr val="008000"/>
              </a:buClr>
              <a:buSzPct val="120000"/>
              <a:defRPr/>
            </a:pPr>
            <a:r>
              <a:rPr lang="en-US" sz="2200" dirty="0" smtClean="0"/>
              <a:t>Get citation for part of data</a:t>
            </a:r>
          </a:p>
          <a:p>
            <a:pPr>
              <a:buClr>
                <a:srgbClr val="008000"/>
              </a:buClr>
              <a:buSzPct val="120000"/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4084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QuDEx collection level metadata</a:t>
            </a:r>
            <a:endParaRPr lang="en-GB" dirty="0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 rotWithShape="1">
          <a:blip r:embed="rId2"/>
          <a:srcRect t="12245" b="29096"/>
          <a:stretch/>
        </p:blipFill>
        <p:spPr>
          <a:xfrm>
            <a:off x="179512" y="1340768"/>
            <a:ext cx="8712968" cy="4176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560" y="5013176"/>
            <a:ext cx="6768752" cy="1323439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8000"/>
              </a:buClr>
              <a:buFont typeface="Arial"/>
              <a:buChar char="•"/>
            </a:pPr>
            <a:r>
              <a:rPr lang="en-US" sz="2000" dirty="0" smtClean="0"/>
              <a:t>All other collection level metadata held in DDI</a:t>
            </a:r>
          </a:p>
          <a:p>
            <a:pPr marL="342900" indent="-342900">
              <a:buClr>
                <a:srgbClr val="008000"/>
              </a:buClr>
              <a:buFont typeface="Arial"/>
              <a:buChar char="•"/>
            </a:pPr>
            <a:r>
              <a:rPr lang="en-US" sz="2000" dirty="0" smtClean="0"/>
              <a:t>DDI references QuDEx file GUID as: </a:t>
            </a:r>
          </a:p>
          <a:p>
            <a:pPr>
              <a:buClr>
                <a:srgbClr val="008000"/>
              </a:buClr>
            </a:pPr>
            <a:r>
              <a:rPr lang="en-US" sz="2000" dirty="0" smtClean="0"/>
              <a:t>	&lt;</a:t>
            </a:r>
            <a:r>
              <a:rPr lang="en-US" sz="2000" dirty="0" err="1" smtClean="0"/>
              <a:t>othrStdyMat</a:t>
            </a:r>
            <a:r>
              <a:rPr lang="en-US" sz="2000" dirty="0" smtClean="0"/>
              <a:t>&gt;</a:t>
            </a:r>
          </a:p>
          <a:p>
            <a:pPr lvl="1">
              <a:buClr>
                <a:srgbClr val="008000"/>
              </a:buClr>
            </a:pPr>
            <a:r>
              <a:rPr lang="en-US" sz="2000" dirty="0" smtClean="0"/>
              <a:t>		&lt;</a:t>
            </a:r>
            <a:r>
              <a:rPr lang="en-US" sz="2000" dirty="0" err="1" smtClean="0"/>
              <a:t>relmat</a:t>
            </a:r>
            <a:r>
              <a:rPr lang="en-US" sz="2000" dirty="0" smtClean="0"/>
              <a:t> </a:t>
            </a:r>
            <a:r>
              <a:rPr lang="en-US" sz="2000" dirty="0" err="1" smtClean="0"/>
              <a:t>ype</a:t>
            </a:r>
            <a:r>
              <a:rPr lang="en-US" sz="2000" dirty="0" smtClean="0"/>
              <a:t> = “</a:t>
            </a:r>
            <a:r>
              <a:rPr lang="en-US" sz="2000" dirty="0" err="1" smtClean="0"/>
              <a:t>qudex</a:t>
            </a:r>
            <a:r>
              <a:rPr lang="en-US" sz="2000" dirty="0" smtClean="0"/>
              <a:t>”&gt;GUID&lt;/</a:t>
            </a:r>
            <a:r>
              <a:rPr lang="en-US" sz="2000" dirty="0" err="1" smtClean="0"/>
              <a:t>relmat</a:t>
            </a:r>
            <a:r>
              <a:rPr lang="en-US" sz="2000" dirty="0" smtClean="0"/>
              <a:t>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4124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Within collection object metadata 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t="12174"/>
          <a:stretch/>
        </p:blipFill>
        <p:spPr>
          <a:xfrm>
            <a:off x="251520" y="1268760"/>
            <a:ext cx="8712968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7916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QuDEx</a:t>
            </a:r>
            <a:r>
              <a:rPr lang="en-GB" dirty="0" smtClean="0"/>
              <a:t> Category schema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8821" t="12292" r="28563"/>
          <a:stretch/>
        </p:blipFill>
        <p:spPr>
          <a:xfrm>
            <a:off x="251520" y="1268760"/>
            <a:ext cx="4608512" cy="547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76056" y="1628800"/>
            <a:ext cx="3600400" cy="4524316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pPr marL="177800" indent="-177800">
              <a:buClr>
                <a:srgbClr val="008000"/>
              </a:buClr>
              <a:buFont typeface="Arial"/>
              <a:buChar char="•"/>
            </a:pPr>
            <a:r>
              <a:rPr lang="en-US" dirty="0" smtClean="0"/>
              <a:t>Available for all collections</a:t>
            </a:r>
          </a:p>
          <a:p>
            <a:pPr marL="177800" indent="-177800">
              <a:buClr>
                <a:srgbClr val="008000"/>
              </a:buClr>
              <a:buFont typeface="Arial"/>
              <a:buChar char="•"/>
            </a:pPr>
            <a:endParaRPr lang="en-US" dirty="0" smtClean="0"/>
          </a:p>
          <a:p>
            <a:pPr marL="177800" indent="-177800">
              <a:buClr>
                <a:srgbClr val="008000"/>
              </a:buClr>
              <a:buFont typeface="Arial"/>
              <a:buChar char="•"/>
            </a:pPr>
            <a:r>
              <a:rPr lang="en-US" dirty="0" smtClean="0"/>
              <a:t>Primary core metadata. </a:t>
            </a:r>
          </a:p>
          <a:p>
            <a:pPr marL="177800" indent="-177800">
              <a:buClr>
                <a:srgbClr val="008000"/>
              </a:buClr>
              <a:buFont typeface="Arial"/>
              <a:buChar char="•"/>
            </a:pPr>
            <a:r>
              <a:rPr lang="en-US" dirty="0" smtClean="0"/>
              <a:t>Can add to for additional (secondary) metadata</a:t>
            </a:r>
          </a:p>
          <a:p>
            <a:pPr marL="177800" indent="-177800">
              <a:buClr>
                <a:srgbClr val="008000"/>
              </a:buClr>
              <a:buFont typeface="Arial"/>
              <a:buChar char="•"/>
            </a:pPr>
            <a:endParaRPr lang="en-US" dirty="0"/>
          </a:p>
          <a:p>
            <a:pPr marL="177800" indent="-177800">
              <a:buClr>
                <a:srgbClr val="008000"/>
              </a:buClr>
              <a:buSzPct val="120000"/>
              <a:buFont typeface="Arial"/>
              <a:buChar char="•"/>
              <a:defRPr/>
            </a:pPr>
            <a:r>
              <a:rPr lang="en-GB" dirty="0">
                <a:latin typeface="Arial" charset="0"/>
                <a:cs typeface="ＭＳ Ｐゴシック" charset="0"/>
              </a:rPr>
              <a:t>Metadata </a:t>
            </a:r>
            <a:r>
              <a:rPr lang="en-GB" dirty="0" smtClean="0">
                <a:latin typeface="Arial" charset="0"/>
                <a:cs typeface="ＭＳ Ｐゴシック" charset="0"/>
              </a:rPr>
              <a:t>population - a </a:t>
            </a:r>
            <a:r>
              <a:rPr lang="en-GB" dirty="0">
                <a:latin typeface="Arial" charset="0"/>
                <a:cs typeface="ＭＳ Ｐゴシック" charset="0"/>
              </a:rPr>
              <a:t>lot of manual work</a:t>
            </a:r>
            <a:r>
              <a:rPr lang="en-GB" dirty="0" smtClean="0">
                <a:latin typeface="Arial" charset="0"/>
                <a:cs typeface="ＭＳ Ｐゴシック" charset="0"/>
              </a:rPr>
              <a:t>!</a:t>
            </a:r>
          </a:p>
          <a:p>
            <a:pPr marL="177800" indent="-177800">
              <a:buClr>
                <a:srgbClr val="008000"/>
              </a:buClr>
              <a:buSzPct val="120000"/>
              <a:buFont typeface="Arial"/>
              <a:buChar char="•"/>
              <a:defRPr/>
            </a:pPr>
            <a:endParaRPr lang="en-GB" dirty="0">
              <a:latin typeface="Arial" charset="0"/>
              <a:cs typeface="ＭＳ Ｐゴシック" charset="0"/>
            </a:endParaRPr>
          </a:p>
          <a:p>
            <a:pPr marL="177800" indent="-177800">
              <a:buClr>
                <a:srgbClr val="008000"/>
              </a:buClr>
              <a:buSzPct val="120000"/>
              <a:buFont typeface="Arial"/>
              <a:buChar char="•"/>
              <a:defRPr/>
            </a:pPr>
            <a:r>
              <a:rPr lang="en-GB" dirty="0" smtClean="0">
                <a:latin typeface="Arial" charset="0"/>
                <a:cs typeface="ＭＳ Ｐゴシック" charset="0"/>
              </a:rPr>
              <a:t>Little </a:t>
            </a:r>
            <a:r>
              <a:rPr lang="en-GB" dirty="0">
                <a:latin typeface="Arial" charset="0"/>
                <a:cs typeface="ＭＳ Ｐゴシック" charset="0"/>
              </a:rPr>
              <a:t>that can be automated </a:t>
            </a:r>
            <a:r>
              <a:rPr lang="en-GB" dirty="0" smtClean="0">
                <a:latin typeface="Arial" charset="0"/>
                <a:cs typeface="ＭＳ Ｐゴシック" charset="0"/>
              </a:rPr>
              <a:t>unless from </a:t>
            </a:r>
            <a:r>
              <a:rPr lang="en-GB" dirty="0">
                <a:latin typeface="Arial" charset="0"/>
                <a:cs typeface="ＭＳ Ｐゴシック" charset="0"/>
              </a:rPr>
              <a:t>a linked quant </a:t>
            </a:r>
            <a:r>
              <a:rPr lang="en-GB" dirty="0" smtClean="0">
                <a:latin typeface="Arial" charset="0"/>
                <a:cs typeface="ＭＳ Ｐゴシック" charset="0"/>
              </a:rPr>
              <a:t>file</a:t>
            </a:r>
          </a:p>
          <a:p>
            <a:pPr marL="177800" indent="-177800">
              <a:buClr>
                <a:srgbClr val="008000"/>
              </a:buClr>
              <a:buSzPct val="120000"/>
              <a:defRPr/>
            </a:pPr>
            <a:endParaRPr lang="en-GB" dirty="0">
              <a:latin typeface="Arial" charset="0"/>
              <a:cs typeface="ＭＳ Ｐゴシック" charset="0"/>
            </a:endParaRPr>
          </a:p>
          <a:p>
            <a:pPr marL="177800" indent="-177800">
              <a:buClr>
                <a:srgbClr val="008000"/>
              </a:buClr>
              <a:buSzPct val="120000"/>
              <a:buFont typeface="Arial"/>
              <a:buChar char="•"/>
              <a:defRPr/>
            </a:pPr>
            <a:r>
              <a:rPr lang="en-GB" dirty="0" smtClean="0">
                <a:latin typeface="Arial" charset="0"/>
                <a:cs typeface="ＭＳ Ｐゴシック" charset="0"/>
              </a:rPr>
              <a:t>Object relations. </a:t>
            </a:r>
            <a:r>
              <a:rPr lang="en-GB" dirty="0" err="1" smtClean="0">
                <a:latin typeface="Arial" charset="0"/>
                <a:cs typeface="ＭＳ Ｐゴシック" charset="0"/>
              </a:rPr>
              <a:t>AutoGenerates</a:t>
            </a:r>
            <a:r>
              <a:rPr lang="en-GB" dirty="0" smtClean="0">
                <a:latin typeface="Arial" charset="0"/>
                <a:cs typeface="ＭＳ Ｐゴシック" charset="0"/>
              </a:rPr>
              <a:t> converse relation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endParaRPr lang="en-GB" dirty="0" smtClean="0">
              <a:latin typeface="Arial" charset="0"/>
              <a:cs typeface="ＭＳ Ｐゴシック" charset="0"/>
            </a:endParaRP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GB" dirty="0" err="1">
                <a:solidFill>
                  <a:srgbClr val="008000"/>
                </a:solidFill>
                <a:latin typeface="Arial" charset="0"/>
                <a:cs typeface="ＭＳ Ｐゴシック" charset="0"/>
              </a:rPr>
              <a:t>i</a:t>
            </a:r>
            <a:r>
              <a:rPr lang="en-GB" dirty="0" err="1" smtClean="0">
                <a:solidFill>
                  <a:srgbClr val="008000"/>
                </a:solidFill>
                <a:latin typeface="Arial" charset="0"/>
                <a:cs typeface="ＭＳ Ｐゴシック" charset="0"/>
              </a:rPr>
              <a:t>sTranscriptOf</a:t>
            </a:r>
            <a:r>
              <a:rPr lang="en-GB" dirty="0" smtClean="0">
                <a:solidFill>
                  <a:srgbClr val="008000"/>
                </a:solidFill>
                <a:latin typeface="Arial" charset="0"/>
                <a:cs typeface="ＭＳ Ｐゴシック" charset="0"/>
              </a:rPr>
              <a:t> - </a:t>
            </a:r>
            <a:r>
              <a:rPr lang="en-GB" dirty="0" err="1" smtClean="0">
                <a:solidFill>
                  <a:srgbClr val="008000"/>
                </a:solidFill>
                <a:latin typeface="Arial" charset="0"/>
                <a:cs typeface="ＭＳ Ｐゴシック" charset="0"/>
              </a:rPr>
              <a:t>hasTranscription</a:t>
            </a:r>
            <a:endParaRPr lang="en-GB" dirty="0">
              <a:solidFill>
                <a:srgbClr val="008000"/>
              </a:solidFill>
              <a:latin typeface="Arial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5937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 of Text Encoding Initiative (TEI)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161805"/>
          </a:xfrm>
        </p:spPr>
        <p:txBody>
          <a:bodyPr>
            <a:normAutofit lnSpcReduction="10000"/>
          </a:bodyPr>
          <a:lstStyle/>
          <a:p>
            <a:pPr>
              <a:buClr>
                <a:srgbClr val="008000"/>
              </a:buClr>
            </a:pPr>
            <a:r>
              <a:rPr lang="en-GB" dirty="0" smtClean="0"/>
              <a:t>Bespoke TEI schema. Minimal use of TEI tags, from a massive profile</a:t>
            </a:r>
          </a:p>
          <a:p>
            <a:pPr>
              <a:buClr>
                <a:srgbClr val="008000"/>
              </a:buClr>
            </a:pPr>
            <a:endParaRPr lang="en-GB" dirty="0"/>
          </a:p>
          <a:p>
            <a:pPr>
              <a:buClr>
                <a:srgbClr val="008000"/>
              </a:buClr>
            </a:pPr>
            <a:r>
              <a:rPr lang="en-GB" dirty="0" smtClean="0"/>
              <a:t>To denote structural mark-up</a:t>
            </a:r>
          </a:p>
          <a:p>
            <a:pPr lvl="1">
              <a:buClr>
                <a:srgbClr val="008000"/>
              </a:buClr>
            </a:pPr>
            <a:r>
              <a:rPr lang="en-GB" sz="2200" dirty="0" smtClean="0"/>
              <a:t>TEI header: 3 mandatory elements</a:t>
            </a:r>
          </a:p>
          <a:p>
            <a:pPr lvl="1">
              <a:buClr>
                <a:srgbClr val="008000"/>
              </a:buClr>
            </a:pPr>
            <a:r>
              <a:rPr lang="en-GB" sz="2200" dirty="0" smtClean="0"/>
              <a:t>Body elements: Turn takers, paragraphs, headers</a:t>
            </a:r>
          </a:p>
          <a:p>
            <a:pPr lvl="1">
              <a:buClr>
                <a:srgbClr val="008000"/>
              </a:buClr>
            </a:pPr>
            <a:r>
              <a:rPr lang="en-GB" sz="2200" dirty="0" smtClean="0"/>
              <a:t>Inline tags: Corrections, errors</a:t>
            </a:r>
          </a:p>
          <a:p>
            <a:pPr lvl="1">
              <a:buClr>
                <a:srgbClr val="008000"/>
              </a:buClr>
            </a:pPr>
            <a:endParaRPr lang="en-GB" sz="2200" dirty="0"/>
          </a:p>
          <a:p>
            <a:pPr>
              <a:buClr>
                <a:srgbClr val="008000"/>
              </a:buClr>
            </a:pPr>
            <a:r>
              <a:rPr lang="en-GB" dirty="0"/>
              <a:t>Use of unique </a:t>
            </a:r>
            <a:r>
              <a:rPr lang="en-GB" dirty="0" smtClean="0"/>
              <a:t>GUIDs </a:t>
            </a:r>
            <a:r>
              <a:rPr lang="en-GB" dirty="0"/>
              <a:t>to identify </a:t>
            </a:r>
            <a:r>
              <a:rPr lang="en-GB" dirty="0" smtClean="0"/>
              <a:t>both TEI and </a:t>
            </a:r>
            <a:r>
              <a:rPr lang="en-GB" dirty="0" err="1" smtClean="0"/>
              <a:t>QuDEx</a:t>
            </a:r>
            <a:r>
              <a:rPr lang="en-GB" dirty="0" smtClean="0"/>
              <a:t> objects:</a:t>
            </a:r>
            <a:endParaRPr lang="en-GB" dirty="0"/>
          </a:p>
          <a:p>
            <a:pPr lvl="1">
              <a:buClr>
                <a:srgbClr val="008000"/>
              </a:buClr>
            </a:pPr>
            <a:r>
              <a:rPr lang="en-GB" sz="2200" dirty="0" smtClean="0"/>
              <a:t>Collection, Files, Paragraphs</a:t>
            </a:r>
            <a:endParaRPr lang="en-GB" sz="2200" dirty="0"/>
          </a:p>
          <a:p>
            <a:pPr lvl="1">
              <a:buClr>
                <a:srgbClr val="78BE20"/>
              </a:buClr>
            </a:pPr>
            <a:endParaRPr lang="en-GB" sz="2200" dirty="0" smtClean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3076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965202" y="1129358"/>
            <a:ext cx="3639246" cy="47525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9015" r="10087" b="6070"/>
          <a:stretch/>
        </p:blipFill>
        <p:spPr bwMode="auto">
          <a:xfrm>
            <a:off x="5037210" y="1216634"/>
            <a:ext cx="3495230" cy="461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7190" t="2597" r="24673" b="4178"/>
          <a:stretch/>
        </p:blipFill>
        <p:spPr>
          <a:xfrm>
            <a:off x="1187624" y="2420888"/>
            <a:ext cx="3225930" cy="41539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6355" t="2736" r="24767" b="2668"/>
          <a:stretch/>
        </p:blipFill>
        <p:spPr>
          <a:xfrm>
            <a:off x="751086" y="2276872"/>
            <a:ext cx="3187683" cy="41019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6916" t="3829" r="24673" b="2947"/>
          <a:stretch/>
        </p:blipFill>
        <p:spPr>
          <a:xfrm>
            <a:off x="268067" y="2060848"/>
            <a:ext cx="3244378" cy="41539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6173" y="529516"/>
            <a:ext cx="8176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School Leavers on the Isle of Sheppey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Bent-Up Arrow 16"/>
          <p:cNvSpPr/>
          <p:nvPr/>
        </p:nvSpPr>
        <p:spPr>
          <a:xfrm rot="5400000" flipH="1">
            <a:off x="4000281" y="1512392"/>
            <a:ext cx="832143" cy="840832"/>
          </a:xfrm>
          <a:prstGeom prst="bentUpArrow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148064" y="5625244"/>
            <a:ext cx="288032" cy="1800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436534" y="4257092"/>
            <a:ext cx="215586" cy="1800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129694" y="2008687"/>
            <a:ext cx="215586" cy="1800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2247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6173" y="529516"/>
            <a:ext cx="8176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XML: School Leavers on the Isle of Sheppey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1065" t="13354" r="2708" b="11564"/>
          <a:stretch/>
        </p:blipFill>
        <p:spPr bwMode="auto">
          <a:xfrm>
            <a:off x="539552" y="1124744"/>
            <a:ext cx="7056784" cy="556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2339752" y="2276872"/>
            <a:ext cx="3096344" cy="822960"/>
          </a:xfrm>
          <a:prstGeom prst="ellipse">
            <a:avLst/>
          </a:prstGeom>
          <a:noFill/>
          <a:ln w="25400">
            <a:solidFill>
              <a:srgbClr val="008000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547664" y="3789040"/>
            <a:ext cx="2304256" cy="432048"/>
          </a:xfrm>
          <a:prstGeom prst="ellipse">
            <a:avLst/>
          </a:prstGeom>
          <a:noFill/>
          <a:ln w="25400">
            <a:solidFill>
              <a:srgbClr val="008000">
                <a:alpha val="7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8338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9776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+mj-cs"/>
              </a:rPr>
              <a:t>System tools</a:t>
            </a:r>
            <a:endParaRPr lang="en-US" dirty="0"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568952" cy="4896544"/>
          </a:xfrm>
        </p:spPr>
        <p:txBody>
          <a:bodyPr>
            <a:noAutofit/>
          </a:bodyPr>
          <a:lstStyle/>
          <a:p>
            <a:pPr>
              <a:buClr>
                <a:srgbClr val="008000"/>
              </a:buClr>
              <a:buSzPct val="120000"/>
              <a:defRPr/>
            </a:pPr>
            <a:r>
              <a:rPr lang="en-US" sz="2100" dirty="0" err="1" smtClean="0"/>
              <a:t>BaseX</a:t>
            </a:r>
            <a:r>
              <a:rPr lang="en-US" sz="2100" dirty="0" smtClean="0"/>
              <a:t> for metadata and textual data storage and retrieval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US" dirty="0" smtClean="0"/>
              <a:t>DDI 2.5/ DDI Codebook: collection level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US" dirty="0" err="1" smtClean="0"/>
              <a:t>QuDEx</a:t>
            </a:r>
            <a:r>
              <a:rPr lang="en-US" dirty="0" smtClean="0"/>
              <a:t>: Limited collection and object level</a:t>
            </a:r>
          </a:p>
          <a:p>
            <a:pPr lvl="1">
              <a:buClr>
                <a:srgbClr val="008000"/>
              </a:buClr>
              <a:buSzPct val="120000"/>
              <a:defRPr/>
            </a:pPr>
            <a:r>
              <a:rPr lang="en-US" dirty="0" smtClean="0"/>
              <a:t>TEI: object level - text documents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100" dirty="0" smtClean="0"/>
              <a:t>File server for non-XML docs</a:t>
            </a:r>
            <a:endParaRPr lang="en-US" sz="2100" dirty="0"/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100" dirty="0" smtClean="0"/>
              <a:t>Simple </a:t>
            </a:r>
            <a:r>
              <a:rPr lang="en-US" sz="2100" dirty="0" err="1" smtClean="0"/>
              <a:t>QuDEx</a:t>
            </a:r>
            <a:r>
              <a:rPr lang="en-US" sz="2100" dirty="0" smtClean="0"/>
              <a:t> metadata data entry tool: </a:t>
            </a:r>
            <a:r>
              <a:rPr lang="en-US" sz="2100" dirty="0" err="1" smtClean="0"/>
              <a:t>Sharepoint</a:t>
            </a:r>
            <a:endParaRPr lang="en-US" sz="2100" dirty="0" smtClean="0"/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100" dirty="0" smtClean="0"/>
              <a:t>C# scripts process and validate against XML schemas; </a:t>
            </a:r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100" dirty="0" smtClean="0"/>
              <a:t>Oxygen </a:t>
            </a:r>
            <a:r>
              <a:rPr lang="en-US" sz="2100" dirty="0"/>
              <a:t>for </a:t>
            </a:r>
            <a:r>
              <a:rPr lang="en-US" sz="2100" dirty="0" smtClean="0"/>
              <a:t>manual mark-up</a:t>
            </a:r>
            <a:endParaRPr lang="en-GB" sz="2100" dirty="0" smtClean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sz="2100" dirty="0" err="1">
                <a:latin typeface="Arial" charset="0"/>
              </a:rPr>
              <a:t>Solr</a:t>
            </a:r>
            <a:r>
              <a:rPr lang="en-GB" sz="2100" dirty="0">
                <a:latin typeface="Arial" charset="0"/>
              </a:rPr>
              <a:t> indexes used for faceted browsing and TEI text highlighting</a:t>
            </a:r>
            <a:endParaRPr lang="en-US" sz="2100" dirty="0"/>
          </a:p>
          <a:p>
            <a:pPr>
              <a:lnSpc>
                <a:spcPct val="90000"/>
              </a:lnSpc>
              <a:buClr>
                <a:srgbClr val="008000"/>
              </a:buClr>
              <a:buSzPct val="120000"/>
              <a:defRPr/>
            </a:pPr>
            <a:r>
              <a:rPr lang="en-GB" sz="2100" dirty="0" err="1" smtClean="0">
                <a:latin typeface="Arial" charset="0"/>
              </a:rPr>
              <a:t>Xquery</a:t>
            </a:r>
            <a:r>
              <a:rPr lang="en-GB" sz="2100" dirty="0" smtClean="0">
                <a:latin typeface="Arial" charset="0"/>
              </a:rPr>
              <a:t> on </a:t>
            </a:r>
            <a:r>
              <a:rPr lang="en-GB" sz="2100" dirty="0" err="1" smtClean="0">
                <a:latin typeface="Arial" charset="0"/>
              </a:rPr>
              <a:t>BaseX</a:t>
            </a:r>
            <a:r>
              <a:rPr lang="en-GB" sz="2100" dirty="0" smtClean="0">
                <a:latin typeface="Arial" charset="0"/>
              </a:rPr>
              <a:t> for object metadata, text utterances and related materials</a:t>
            </a:r>
            <a:endParaRPr lang="en-US" sz="2100" dirty="0" smtClean="0"/>
          </a:p>
          <a:p>
            <a:pPr>
              <a:buClr>
                <a:srgbClr val="008000"/>
              </a:buClr>
              <a:buSzPct val="120000"/>
              <a:defRPr/>
            </a:pPr>
            <a:r>
              <a:rPr lang="en-US" sz="2100" dirty="0" smtClean="0"/>
              <a:t>GUID generator SQL database for </a:t>
            </a:r>
            <a:r>
              <a:rPr lang="en-US" sz="2100" dirty="0" err="1" smtClean="0"/>
              <a:t>QuDEx</a:t>
            </a:r>
            <a:r>
              <a:rPr lang="en-US" sz="2100" dirty="0" smtClean="0"/>
              <a:t> and TEI elements</a:t>
            </a:r>
          </a:p>
          <a:p>
            <a:pPr>
              <a:buClr>
                <a:srgbClr val="78BE20"/>
              </a:buClr>
              <a:buSzPct val="120000"/>
              <a:defRPr/>
            </a:pPr>
            <a:r>
              <a:rPr lang="en-US" sz="2100" dirty="0" smtClean="0"/>
              <a:t>UI in</a:t>
            </a:r>
            <a:r>
              <a:rPr lang="en-US" sz="2100" dirty="0"/>
              <a:t>-house </a:t>
            </a:r>
            <a:r>
              <a:rPr lang="en-US" sz="2100" dirty="0" smtClean="0"/>
              <a:t>technologie</a:t>
            </a:r>
            <a:r>
              <a:rPr lang="en-US" sz="2100" dirty="0"/>
              <a:t>s</a:t>
            </a:r>
            <a:r>
              <a:rPr lang="en-US" sz="2100" dirty="0" smtClean="0"/>
              <a:t> </a:t>
            </a:r>
            <a:r>
              <a:rPr lang="en-US" sz="2100" dirty="0"/>
              <a:t>.</a:t>
            </a:r>
            <a:r>
              <a:rPr lang="en-US" sz="2100" dirty="0" smtClean="0"/>
              <a:t>NET and </a:t>
            </a:r>
            <a:r>
              <a:rPr lang="en-US" sz="2100" dirty="0" err="1" smtClean="0"/>
              <a:t>RESTful</a:t>
            </a:r>
            <a:r>
              <a:rPr lang="en-US" sz="2100" dirty="0" smtClean="0"/>
              <a:t> web services/APIs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6588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6176" t="9922" r="10305" b="10425"/>
          <a:stretch/>
        </p:blipFill>
        <p:spPr bwMode="auto">
          <a:xfrm>
            <a:off x="68406" y="260648"/>
            <a:ext cx="9084734" cy="582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Heart 7"/>
          <p:cNvSpPr/>
          <p:nvPr/>
        </p:nvSpPr>
        <p:spPr>
          <a:xfrm>
            <a:off x="1763688" y="4509120"/>
            <a:ext cx="2262940" cy="1982372"/>
          </a:xfrm>
          <a:prstGeom prst="hear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195736" y="5013176"/>
            <a:ext cx="1440160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Need streamlined workflow!!</a:t>
            </a:r>
            <a:endParaRPr lang="en-US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2891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Search interface - hits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268760"/>
            <a:ext cx="8496944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891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Target page for an interview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340768"/>
            <a:ext cx="8496944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891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9776"/>
            <a:ext cx="8229600" cy="1143000"/>
          </a:xfrm>
        </p:spPr>
        <p:txBody>
          <a:bodyPr/>
          <a:lstStyle/>
          <a:p>
            <a:r>
              <a:rPr lang="en-GB" dirty="0" smtClean="0"/>
              <a:t>Target references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3425" r="12846" b="23085"/>
          <a:stretch/>
        </p:blipFill>
        <p:spPr>
          <a:xfrm>
            <a:off x="323528" y="1268760"/>
            <a:ext cx="7992888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2706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Audio file target page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2037" r="13081" b="13567"/>
          <a:stretch/>
        </p:blipFill>
        <p:spPr>
          <a:xfrm>
            <a:off x="323528" y="1268760"/>
            <a:ext cx="7056784" cy="528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7689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9776"/>
            <a:ext cx="8229600" cy="1143000"/>
          </a:xfrm>
        </p:spPr>
        <p:txBody>
          <a:bodyPr/>
          <a:lstStyle/>
          <a:p>
            <a:r>
              <a:rPr lang="en-GB" dirty="0" smtClean="0"/>
              <a:t>Citation mechanism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14116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r>
              <a:rPr lang="en-US" sz="2200" dirty="0" smtClean="0"/>
              <a:t>System will enable extract/quotation level citation; 1 or more consecutive paragraphs</a:t>
            </a:r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endParaRPr lang="en-US" sz="1200" dirty="0" smtClean="0"/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r>
              <a:rPr lang="en-US" sz="2200" dirty="0" smtClean="0"/>
              <a:t>Citation </a:t>
            </a:r>
            <a:r>
              <a:rPr lang="en-US" sz="2200" dirty="0"/>
              <a:t>object and citation format created on the fly – using </a:t>
            </a:r>
            <a:r>
              <a:rPr lang="en-US" sz="2200" dirty="0" smtClean="0"/>
              <a:t>GUIDs </a:t>
            </a:r>
            <a:r>
              <a:rPr lang="en-US" sz="2200" dirty="0"/>
              <a:t>and </a:t>
            </a:r>
            <a:r>
              <a:rPr lang="en-US" sz="2200" dirty="0" smtClean="0"/>
              <a:t>system URI</a:t>
            </a:r>
            <a:endParaRPr lang="en-US" sz="2200" dirty="0"/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endParaRPr lang="en-US" sz="1200" dirty="0"/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r>
              <a:rPr lang="en-US" sz="2200" dirty="0"/>
              <a:t>URI resolves directly to the data </a:t>
            </a:r>
            <a:r>
              <a:rPr lang="en-US" sz="2200" dirty="0" smtClean="0"/>
              <a:t>extract</a:t>
            </a:r>
            <a:endParaRPr lang="en-US" sz="2200" dirty="0"/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endParaRPr lang="en-US" sz="1200" dirty="0"/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r>
              <a:rPr lang="en-US" sz="2200" dirty="0"/>
              <a:t>Some more sensitive collections will be closed, so cannot resolve to data</a:t>
            </a:r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endParaRPr lang="en-US" sz="1200" dirty="0"/>
          </a:p>
          <a:p>
            <a:pPr>
              <a:lnSpc>
                <a:spcPct val="110000"/>
              </a:lnSpc>
              <a:buClr>
                <a:srgbClr val="78BE20"/>
              </a:buClr>
              <a:buFont typeface="Arial"/>
              <a:buChar char="•"/>
            </a:pPr>
            <a:r>
              <a:rPr lang="en-US" sz="2200" dirty="0" smtClean="0"/>
              <a:t>Will be related </a:t>
            </a:r>
            <a:r>
              <a:rPr lang="en-US" sz="2200" dirty="0"/>
              <a:t>to our collection-level </a:t>
            </a:r>
            <a:r>
              <a:rPr lang="en-US" sz="2200" dirty="0" smtClean="0"/>
              <a:t>DOIs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34864329"/>
              </p:ext>
            </p:extLst>
          </p:nvPr>
        </p:nvGraphicFramePr>
        <p:xfrm>
          <a:off x="1907704" y="5949281"/>
          <a:ext cx="4968552" cy="365760"/>
        </p:xfrm>
        <a:graphic>
          <a:graphicData uri="http://schemas.openxmlformats.org/drawingml/2006/table">
            <a:tbl>
              <a:tblPr/>
              <a:tblGrid>
                <a:gridCol w="504056"/>
                <a:gridCol w="4464496"/>
              </a:tblGrid>
              <a:tr h="36003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linkClick r:id="rId2" tooltip="http://dx.doi.org/10.5255/UKDA-SN-6124-1"/>
                        </a:rPr>
                        <a:t>10.5255/UKDA-SN-6124-1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425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Citation</a:t>
            </a:r>
            <a:endParaRPr lang="en-GB" dirty="0"/>
          </a:p>
        </p:txBody>
      </p:sp>
      <p:pic>
        <p:nvPicPr>
          <p:cNvPr id="3" name="Picture 2" descr="Untitled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r="76091" b="71607"/>
          <a:stretch/>
        </p:blipFill>
        <p:spPr>
          <a:xfrm>
            <a:off x="2339752" y="836712"/>
            <a:ext cx="6126910" cy="456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8880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/>
          </p:cNvSpPr>
          <p:nvPr>
            <p:ph sz="quarter" idx="15"/>
          </p:nvPr>
        </p:nvSpPr>
        <p:spPr>
          <a:xfrm>
            <a:off x="251520" y="2276872"/>
            <a:ext cx="6839992" cy="2880320"/>
          </a:xfrm>
        </p:spPr>
        <p:txBody>
          <a:bodyPr>
            <a:normAutofit fontScale="47500" lnSpcReduction="20000"/>
          </a:bodyPr>
          <a:lstStyle/>
          <a:p>
            <a:r>
              <a:rPr lang="en-GB" sz="5000" dirty="0" smtClean="0"/>
              <a:t>Contact details</a:t>
            </a:r>
          </a:p>
          <a:p>
            <a:endParaRPr lang="en-GB" sz="5000" dirty="0"/>
          </a:p>
          <a:p>
            <a:r>
              <a:rPr lang="en-GB" sz="4600" dirty="0" smtClean="0"/>
              <a:t>Louise </a:t>
            </a:r>
            <a:r>
              <a:rPr lang="en-GB" sz="4600" dirty="0"/>
              <a:t>Corti, </a:t>
            </a:r>
            <a:r>
              <a:rPr lang="en-GB" sz="4600" dirty="0" smtClean="0">
                <a:hlinkClick r:id="rId2"/>
              </a:rPr>
              <a:t>corti@essex.ac.uk</a:t>
            </a:r>
            <a:endParaRPr lang="en-GB" sz="4600" dirty="0" smtClean="0"/>
          </a:p>
          <a:p>
            <a:r>
              <a:rPr lang="en-GB" sz="4600" dirty="0"/>
              <a:t>Agustina Martinez, </a:t>
            </a:r>
            <a:r>
              <a:rPr lang="en-GB" sz="4600" dirty="0" smtClean="0">
                <a:hlinkClick r:id="rId3"/>
              </a:rPr>
              <a:t>a.martinez-garcia@ljmu.ac.uk</a:t>
            </a:r>
            <a:endParaRPr lang="en-GB" sz="4600" dirty="0" smtClean="0"/>
          </a:p>
          <a:p>
            <a:endParaRPr lang="en-GB" sz="5000" dirty="0"/>
          </a:p>
          <a:p>
            <a:endParaRPr lang="en-GB" sz="5300" dirty="0"/>
          </a:p>
          <a:p>
            <a:r>
              <a:rPr lang="en-GB" dirty="0" smtClean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63846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KDS-Presentation-Template-Core-ari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KDS-PPT">
      <a:majorFont>
        <a:latin typeface="Museo 500"/>
        <a:ea typeface=""/>
        <a:cs typeface=""/>
      </a:majorFont>
      <a:minorFont>
        <a:latin typeface="Museo Sans 50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UKDS-Presentation-Template-Core-arial.potx</Template>
  <TotalTime>4895</TotalTime>
  <Words>1535</Words>
  <Application>Microsoft Macintosh PowerPoint</Application>
  <PresentationFormat>On-screen Show (4:3)</PresentationFormat>
  <Paragraphs>234</Paragraphs>
  <Slides>34</Slides>
  <Notes>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UKDS-Presentation-Template-Core-arial</vt:lpstr>
      <vt:lpstr>Integrating DDI with metadata for qualitative data: implementing the  QuDEx standard</vt:lpstr>
      <vt:lpstr>Digital futures project: rationale &amp; aims</vt:lpstr>
      <vt:lpstr>UK Data Service: qualitative data services</vt:lpstr>
      <vt:lpstr>Finding &amp; accessing qualitative data</vt:lpstr>
      <vt:lpstr>Data listing</vt:lpstr>
      <vt:lpstr>Complex data collections</vt:lpstr>
      <vt:lpstr>Download Zip of data and doc </vt:lpstr>
      <vt:lpstr>Digitisation of key data sources</vt:lpstr>
      <vt:lpstr>Metadata demands for UK Quali Bank</vt:lpstr>
      <vt:lpstr>Description below the collection</vt:lpstr>
      <vt:lpstr>QuDEx Overview</vt:lpstr>
      <vt:lpstr>QuDEx Structure</vt:lpstr>
      <vt:lpstr>QuDEx – Resource Collection</vt:lpstr>
      <vt:lpstr>QuDEx – Category Collection</vt:lpstr>
      <vt:lpstr>QuDEx – Memo Collection</vt:lpstr>
      <vt:lpstr>QuDEx – Relation Collection</vt:lpstr>
      <vt:lpstr>Use of QuDEx</vt:lpstr>
      <vt:lpstr>Slide 18</vt:lpstr>
      <vt:lpstr>System expectations</vt:lpstr>
      <vt:lpstr>QuDEx collection level metadata</vt:lpstr>
      <vt:lpstr>Within collection object metadata </vt:lpstr>
      <vt:lpstr>QuDEx Category schema</vt:lpstr>
      <vt:lpstr>Use of Text Encoding Initiative (TEI)</vt:lpstr>
      <vt:lpstr>Slide 24</vt:lpstr>
      <vt:lpstr>Slide 25</vt:lpstr>
      <vt:lpstr>System tools</vt:lpstr>
      <vt:lpstr>Slide 27</vt:lpstr>
      <vt:lpstr>Search interface - hits</vt:lpstr>
      <vt:lpstr>Target page for an interview</vt:lpstr>
      <vt:lpstr>Target references</vt:lpstr>
      <vt:lpstr>Audio file target page</vt:lpstr>
      <vt:lpstr>Citation mechanism</vt:lpstr>
      <vt:lpstr>Citation</vt:lpstr>
      <vt:lpstr>Slide 34</vt:lpstr>
    </vt:vector>
  </TitlesOfParts>
  <Company>UKDA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Cozzolino, Susan</dc:creator>
  <cp:lastModifiedBy>Agustina Martinez</cp:lastModifiedBy>
  <cp:revision>194</cp:revision>
  <cp:lastPrinted>2013-06-20T12:34:50Z</cp:lastPrinted>
  <dcterms:created xsi:type="dcterms:W3CDTF">2013-12-04T08:36:04Z</dcterms:created>
  <dcterms:modified xsi:type="dcterms:W3CDTF">2013-12-04T08:38:32Z</dcterms:modified>
</cp:coreProperties>
</file>