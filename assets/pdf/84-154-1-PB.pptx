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sldIdLst>
    <p:sldId id="256" r:id="rId2"/>
    <p:sldId id="260" r:id="rId3"/>
    <p:sldId id="261" r:id="rId4"/>
    <p:sldId id="263" r:id="rId5"/>
    <p:sldId id="264" r:id="rId6"/>
    <p:sldId id="266" r:id="rId7"/>
    <p:sldId id="267" r:id="rId8"/>
    <p:sldId id="269" r:id="rId9"/>
    <p:sldId id="257" r:id="rId10"/>
    <p:sldId id="272" r:id="rId11"/>
    <p:sldId id="268" r:id="rId12"/>
    <p:sldId id="275" r:id="rId13"/>
    <p:sldId id="273" r:id="rId14"/>
    <p:sldId id="274" r:id="rId15"/>
    <p:sldId id="25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ABB"/>
    <a:srgbClr val="16467C"/>
    <a:srgbClr val="667F2A"/>
    <a:srgbClr val="316EAD"/>
    <a:srgbClr val="336288"/>
    <a:srgbClr val="006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79306" autoAdjust="0"/>
  </p:normalViewPr>
  <p:slideViewPr>
    <p:cSldViewPr snapToGrid="0" snapToObjects="1">
      <p:cViewPr varScale="1">
        <p:scale>
          <a:sx n="104" d="100"/>
          <a:sy n="104" d="100"/>
        </p:scale>
        <p:origin x="-1576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5248"/>
            <a:ext cx="7772400" cy="978408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352800"/>
            <a:ext cx="7772400" cy="87782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403" y="1158373"/>
            <a:ext cx="8127631" cy="5096844"/>
          </a:xfrm>
        </p:spPr>
        <p:txBody>
          <a:bodyPr/>
          <a:lstStyle>
            <a:lvl1pPr marL="342900" indent="-342900">
              <a:buFont typeface="Wingdings" charset="2"/>
              <a:buChar char="Ø"/>
              <a:defRPr/>
            </a:lvl1pPr>
            <a:lvl2pPr marL="685800" indent="-336550">
              <a:buFont typeface="Wingdings" charset="2"/>
              <a:buChar char="Ø"/>
              <a:defRPr/>
            </a:lvl2pPr>
            <a:lvl3pPr marL="1035050" indent="-349250">
              <a:buFont typeface="Wingdings" charset="2"/>
              <a:buChar char="Ø"/>
              <a:defRPr/>
            </a:lvl3pPr>
            <a:lvl4pPr marL="1371600" indent="-336550">
              <a:buFont typeface="Wingdings" charset="2"/>
              <a:buChar char="Ø"/>
              <a:defRPr/>
            </a:lvl4pPr>
            <a:lvl5pPr marL="1720850" indent="-349250">
              <a:buFont typeface="Wingdings" charset="2"/>
              <a:buChar char="Ø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67200"/>
            <a:ext cx="7772400" cy="977153"/>
          </a:xfrm>
        </p:spPr>
        <p:txBody>
          <a:bodyPr anchor="b" anchorCtr="0"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5257800"/>
            <a:ext cx="7770813" cy="874058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 rot="21540000">
            <a:off x="2056196" y="424650"/>
            <a:ext cx="5031609" cy="337580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7770813" cy="17430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756647"/>
            <a:ext cx="7770813" cy="128195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4733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5526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5526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86205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36966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5" y="971550"/>
            <a:ext cx="3657600" cy="116205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457200"/>
            <a:ext cx="3657600" cy="56689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5" y="2133601"/>
            <a:ext cx="3657600" cy="358140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5082" y="969264"/>
            <a:ext cx="3657600" cy="1161288"/>
          </a:xfrm>
        </p:spPr>
        <p:txBody>
          <a:bodyPr anchor="b">
            <a:noAutofit/>
          </a:bodyPr>
          <a:lstStyle>
            <a:lvl1pPr algn="l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63388" y="510988"/>
            <a:ext cx="3657600" cy="5553636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853" y="2130552"/>
            <a:ext cx="3657600" cy="358444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1376"/>
            <a:ext cx="7776882" cy="1014984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457199"/>
            <a:ext cx="5486400" cy="3644153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5141"/>
            <a:ext cx="7776882" cy="1013011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68580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6" name="Picture Placeholder 2"/>
          <p:cNvSpPr>
            <a:spLocks noGrp="1"/>
          </p:cNvSpPr>
          <p:nvPr>
            <p:ph type="pic" idx="14"/>
          </p:nvPr>
        </p:nvSpPr>
        <p:spPr>
          <a:xfrm>
            <a:off x="341249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7" name="Picture Placeholder 2"/>
          <p:cNvSpPr>
            <a:spLocks noGrp="1"/>
          </p:cNvSpPr>
          <p:nvPr>
            <p:ph type="pic" idx="15"/>
          </p:nvPr>
        </p:nvSpPr>
        <p:spPr>
          <a:xfrm>
            <a:off x="341249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8" name="Picture Placeholder 2"/>
          <p:cNvSpPr>
            <a:spLocks noGrp="1"/>
          </p:cNvSpPr>
          <p:nvPr>
            <p:ph type="pic" idx="16"/>
          </p:nvPr>
        </p:nvSpPr>
        <p:spPr>
          <a:xfrm>
            <a:off x="613918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9" name="Picture Placeholder 2"/>
          <p:cNvSpPr>
            <a:spLocks noGrp="1"/>
          </p:cNvSpPr>
          <p:nvPr>
            <p:ph type="pic" idx="17"/>
          </p:nvPr>
        </p:nvSpPr>
        <p:spPr>
          <a:xfrm>
            <a:off x="613918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3400"/>
            <a:ext cx="1600200" cy="5592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6019800" cy="55927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0AA16DF-886B-6844-9963-8661696EF294}" type="datetimeFigureOut">
              <a:rPr lang="en-US" smtClean="0"/>
              <a:t>11/28/13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36DBD6DD-918B-764D-98CE-80A4EF99B4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3.png"/><Relationship Id="rId17" Type="http://schemas.openxmlformats.org/officeDocument/2006/relationships/image" Target="../media/image4.png"/><Relationship Id="rId18" Type="http://schemas.openxmlformats.org/officeDocument/2006/relationships/image" Target="../media/image5.png"/><Relationship Id="rId19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21024"/>
            <a:ext cx="9144000" cy="79709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757" y="1203445"/>
            <a:ext cx="8196277" cy="494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pic>
        <p:nvPicPr>
          <p:cNvPr id="9" name="Picture 8" descr="BU005259.png"/>
          <p:cNvPicPr>
            <a:picLocks noChangeAspect="1"/>
          </p:cNvPicPr>
          <p:nvPr/>
        </p:nvPicPr>
        <p:blipFill>
          <a:blip r:embed="rId1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27" y="730207"/>
            <a:ext cx="6451971" cy="57651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9419" y="6406178"/>
            <a:ext cx="2720216" cy="404437"/>
          </a:xfrm>
          <a:prstGeom prst="rect">
            <a:avLst/>
          </a:prstGeom>
        </p:spPr>
      </p:pic>
      <p:pic>
        <p:nvPicPr>
          <p:cNvPr id="5" name="Picture 4" descr="mtna_new.png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456" y="6448015"/>
            <a:ext cx="1011045" cy="362600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FontTx/>
        <a:buBlip>
          <a:blip r:embed="rId19"/>
        </a:buBlip>
        <a:defRPr sz="22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FontTx/>
        <a:buBlip>
          <a:blip r:embed="rId19"/>
        </a:buBlip>
        <a:defRPr sz="20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FontTx/>
        <a:buBlip>
          <a:blip r:embed="rId19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FontTx/>
        <a:buBlip>
          <a:blip r:embed="rId19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FontTx/>
        <a:buBlip>
          <a:blip r:embed="rId19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055813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6pPr>
      <a:lvl7pPr marL="2398713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7pPr>
      <a:lvl8pPr marL="2743200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8pPr>
      <a:lvl9pPr marL="3087688" indent="-336550" algn="l" defTabSz="914400" rtl="0" eaLnBrk="1" latinLnBrk="0" hangingPunct="1">
        <a:spcBef>
          <a:spcPct val="20000"/>
        </a:spcBef>
        <a:buFontTx/>
        <a:buBlip>
          <a:blip r:embed="rId19"/>
        </a:buBlip>
        <a:defRPr lang="en-US" sz="1800" kern="1200" dirty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gif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gif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gif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gif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gif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7.png"/><Relationship Id="rId18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20" Type="http://schemas.openxmlformats.org/officeDocument/2006/relationships/image" Target="../media/image30.png"/><Relationship Id="rId21" Type="http://schemas.openxmlformats.org/officeDocument/2006/relationships/image" Target="../media/image31.png"/><Relationship Id="rId22" Type="http://schemas.openxmlformats.org/officeDocument/2006/relationships/image" Target="../media/image32.png"/><Relationship Id="rId23" Type="http://schemas.openxmlformats.org/officeDocument/2006/relationships/image" Target="../media/image20.gif"/><Relationship Id="rId24" Type="http://schemas.openxmlformats.org/officeDocument/2006/relationships/image" Target="../media/image33.png"/><Relationship Id="rId25" Type="http://schemas.openxmlformats.org/officeDocument/2006/relationships/image" Target="../media/image3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9.png"/><Relationship Id="rId14" Type="http://schemas.openxmlformats.org/officeDocument/2006/relationships/image" Target="../media/image23.png"/><Relationship Id="rId15" Type="http://schemas.openxmlformats.org/officeDocument/2006/relationships/image" Target="../media/image27.png"/><Relationship Id="rId16" Type="http://schemas.openxmlformats.org/officeDocument/2006/relationships/image" Target="../media/image26.png"/><Relationship Id="rId17" Type="http://schemas.openxmlformats.org/officeDocument/2006/relationships/image" Target="../media/image28.png"/><Relationship Id="rId18" Type="http://schemas.openxmlformats.org/officeDocument/2006/relationships/image" Target="../media/image22.png"/><Relationship Id="rId19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image" Target="../media/image10.gif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goo.gl/9xukB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metadata.org/dataforge" TargetMode="External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F 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745" y="770477"/>
            <a:ext cx="1655119" cy="1633783"/>
          </a:xfrm>
          <a:prstGeom prst="rect">
            <a:avLst/>
          </a:prstGeom>
        </p:spPr>
      </p:pic>
      <p:pic>
        <p:nvPicPr>
          <p:cNvPr id="5" name="Picture 4" descr="DFTex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087" y="2389563"/>
            <a:ext cx="2944466" cy="710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3170008"/>
            <a:ext cx="91439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EDDI 2013</a:t>
            </a:r>
          </a:p>
          <a:p>
            <a:pPr algn="ctr"/>
            <a:r>
              <a:rPr lang="en-US" dirty="0"/>
              <a:t>5th Annual European DDI User </a:t>
            </a:r>
            <a:r>
              <a:rPr lang="en-US" dirty="0" smtClean="0"/>
              <a:t>Conference</a:t>
            </a:r>
          </a:p>
          <a:p>
            <a:pPr algn="ctr"/>
            <a:r>
              <a:rPr lang="en-US" dirty="0"/>
              <a:t>December 3, 2013 – December 4, 2013</a:t>
            </a:r>
            <a:endParaRPr lang="en-US" dirty="0" smtClean="0"/>
          </a:p>
          <a:p>
            <a:pPr algn="ctr"/>
            <a:r>
              <a:rPr lang="en-US" dirty="0" smtClean="0"/>
              <a:t>Paris, France</a:t>
            </a:r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" y="4751318"/>
            <a:ext cx="9143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>
                    <a:lumMod val="50000"/>
                    <a:lumOff val="50000"/>
                  </a:schemeClr>
                </a:solidFill>
              </a:rPr>
              <a:t>Metadata Technology North America</a:t>
            </a:r>
          </a:p>
          <a:p>
            <a:pPr algn="ctr"/>
            <a:r>
              <a:rPr lang="en-US" dirty="0" smtClean="0">
                <a:solidFill>
                  <a:schemeClr val="bg2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dirty="0" err="1" smtClean="0">
                <a:solidFill>
                  <a:schemeClr val="bg2">
                    <a:lumMod val="50000"/>
                    <a:lumOff val="50000"/>
                  </a:schemeClr>
                </a:solidFill>
              </a:rPr>
              <a:t>www.mtna.us</a:t>
            </a:r>
            <a:r>
              <a:rPr lang="en-US" dirty="0" smtClean="0">
                <a:solidFill>
                  <a:schemeClr val="bg2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dirty="0" smtClean="0">
                <a:solidFill>
                  <a:schemeClr val="bg2">
                    <a:lumMod val="50000"/>
                    <a:lumOff val="50000"/>
                  </a:schemeClr>
                </a:solidFill>
              </a:rPr>
              <a:t>http://www.openmetadata.org</a:t>
            </a:r>
          </a:p>
          <a:p>
            <a:pPr algn="ctr"/>
            <a:r>
              <a:rPr lang="en-US" dirty="0" err="1" smtClean="0">
                <a:solidFill>
                  <a:schemeClr val="bg2">
                    <a:lumMod val="50000"/>
                    <a:lumOff val="50000"/>
                  </a:schemeClr>
                </a:solidFill>
              </a:rPr>
              <a:t>mtna@mtna.us</a:t>
            </a:r>
            <a:endParaRPr lang="en-US" dirty="0" smtClean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01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7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7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3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sstar_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114" y="4451958"/>
            <a:ext cx="609600" cy="609600"/>
          </a:xfrm>
          <a:prstGeom prst="rect">
            <a:avLst/>
          </a:prstGeom>
        </p:spPr>
      </p:pic>
      <p:pic>
        <p:nvPicPr>
          <p:cNvPr id="4" name="Picture 3" descr="logo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414" y="5386013"/>
            <a:ext cx="1931251" cy="646969"/>
          </a:xfrm>
          <a:prstGeom prst="rect">
            <a:avLst/>
          </a:prstGeom>
        </p:spPr>
      </p:pic>
      <p:pic>
        <p:nvPicPr>
          <p:cNvPr id="5" name="Picture 4" descr="stata_logo_blue_150x4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971" y="2355150"/>
            <a:ext cx="1440627" cy="457128"/>
          </a:xfrm>
          <a:prstGeom prst="rect">
            <a:avLst/>
          </a:prstGeom>
        </p:spPr>
      </p:pic>
      <p:pic>
        <p:nvPicPr>
          <p:cNvPr id="7" name="Picture 6" descr="SPSS_150x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521" y="3709590"/>
            <a:ext cx="1424292" cy="540031"/>
          </a:xfrm>
          <a:prstGeom prst="rect">
            <a:avLst/>
          </a:prstGeom>
        </p:spPr>
      </p:pic>
      <p:pic>
        <p:nvPicPr>
          <p:cNvPr id="8" name="Picture 7" descr="R-logo_250x189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210" y="1488075"/>
            <a:ext cx="997204" cy="756510"/>
          </a:xfrm>
          <a:prstGeom prst="rect">
            <a:avLst/>
          </a:prstGeom>
        </p:spPr>
      </p:pic>
      <p:pic>
        <p:nvPicPr>
          <p:cNvPr id="9" name="Picture 8" descr="SAS_Institute_250x11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51" y="2979443"/>
            <a:ext cx="1348098" cy="604388"/>
          </a:xfrm>
          <a:prstGeom prst="rect">
            <a:avLst/>
          </a:prstGeom>
        </p:spPr>
      </p:pic>
      <p:pic>
        <p:nvPicPr>
          <p:cNvPr id="10" name="Picture 9" descr="mssql_200x165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794" y="2074801"/>
            <a:ext cx="1291685" cy="1065640"/>
          </a:xfrm>
          <a:prstGeom prst="rect">
            <a:avLst/>
          </a:prstGeom>
        </p:spPr>
      </p:pic>
      <p:pic>
        <p:nvPicPr>
          <p:cNvPr id="11" name="Picture 10" descr="mysql_100x52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256" y="4267745"/>
            <a:ext cx="1270000" cy="660400"/>
          </a:xfrm>
          <a:prstGeom prst="rect">
            <a:avLst/>
          </a:prstGeom>
        </p:spPr>
      </p:pic>
      <p:pic>
        <p:nvPicPr>
          <p:cNvPr id="12" name="Picture 11" descr="oracle_150x31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87" y="3936655"/>
            <a:ext cx="1905000" cy="393700"/>
          </a:xfrm>
          <a:prstGeom prst="rect">
            <a:avLst/>
          </a:prstGeom>
        </p:spPr>
      </p:pic>
      <p:pic>
        <p:nvPicPr>
          <p:cNvPr id="13" name="Picture 12" descr="ddi-logo_150x70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640" y="4737103"/>
            <a:ext cx="1390521" cy="648910"/>
          </a:xfrm>
          <a:prstGeom prst="rect">
            <a:avLst/>
          </a:prstGeom>
        </p:spPr>
      </p:pic>
      <p:pic>
        <p:nvPicPr>
          <p:cNvPr id="14" name="Picture 13" descr="hypersql_logo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004" y="3367093"/>
            <a:ext cx="1471337" cy="310102"/>
          </a:xfrm>
          <a:prstGeom prst="rect">
            <a:avLst/>
          </a:prstGeom>
        </p:spPr>
      </p:pic>
      <p:pic>
        <p:nvPicPr>
          <p:cNvPr id="15" name="Picture 14" descr="xml_orange.gi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51" y="4968392"/>
            <a:ext cx="907846" cy="342964"/>
          </a:xfrm>
          <a:prstGeom prst="rect">
            <a:avLst/>
          </a:prstGeom>
        </p:spPr>
      </p:pic>
      <p:pic>
        <p:nvPicPr>
          <p:cNvPr id="16" name="Picture 15" descr="ascii_2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939" y="1332635"/>
            <a:ext cx="857906" cy="857906"/>
          </a:xfrm>
          <a:prstGeom prst="rect">
            <a:avLst/>
          </a:prstGeom>
        </p:spPr>
      </p:pic>
      <p:pic>
        <p:nvPicPr>
          <p:cNvPr id="17" name="Picture 16" descr="CSV_Large1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640" y="1377741"/>
            <a:ext cx="812800" cy="812800"/>
          </a:xfrm>
          <a:prstGeom prst="rect">
            <a:avLst/>
          </a:prstGeom>
        </p:spPr>
      </p:pic>
      <p:pic>
        <p:nvPicPr>
          <p:cNvPr id="18" name="Picture 17" descr="excel1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514" y="1619285"/>
            <a:ext cx="911031" cy="911031"/>
          </a:xfrm>
          <a:prstGeom prst="rect">
            <a:avLst/>
          </a:prstGeom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&lt;Meta&gt;Data Dance</a:t>
            </a:r>
            <a:endParaRPr lang="en-US" dirty="0"/>
          </a:p>
        </p:txBody>
      </p:sp>
      <p:pic>
        <p:nvPicPr>
          <p:cNvPr id="22" name="Picture 21" descr="MC900078731.WMF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732" y="2134310"/>
            <a:ext cx="1869437" cy="325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4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6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68" dur="6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70" dur="6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72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74" dur="6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76" dur="6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78" dur="6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0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2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4" dur="6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6" dur="6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8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0" dur="6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2" dur="6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4" dur="6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8" dur="6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0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2" dur="6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sstar_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114" y="4451958"/>
            <a:ext cx="609600" cy="609600"/>
          </a:xfrm>
          <a:prstGeom prst="rect">
            <a:avLst/>
          </a:prstGeom>
        </p:spPr>
      </p:pic>
      <p:pic>
        <p:nvPicPr>
          <p:cNvPr id="4" name="Picture 3" descr="logo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414" y="5386013"/>
            <a:ext cx="1931251" cy="646969"/>
          </a:xfrm>
          <a:prstGeom prst="rect">
            <a:avLst/>
          </a:prstGeom>
        </p:spPr>
      </p:pic>
      <p:pic>
        <p:nvPicPr>
          <p:cNvPr id="5" name="Picture 4" descr="stata_logo_blue_150x4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971" y="2355150"/>
            <a:ext cx="1440627" cy="457128"/>
          </a:xfrm>
          <a:prstGeom prst="rect">
            <a:avLst/>
          </a:prstGeom>
        </p:spPr>
      </p:pic>
      <p:pic>
        <p:nvPicPr>
          <p:cNvPr id="7" name="Picture 6" descr="SPSS_150x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521" y="3709590"/>
            <a:ext cx="1424292" cy="540031"/>
          </a:xfrm>
          <a:prstGeom prst="rect">
            <a:avLst/>
          </a:prstGeom>
        </p:spPr>
      </p:pic>
      <p:pic>
        <p:nvPicPr>
          <p:cNvPr id="8" name="Picture 7" descr="R-logo_250x189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210" y="1488075"/>
            <a:ext cx="997204" cy="756510"/>
          </a:xfrm>
          <a:prstGeom prst="rect">
            <a:avLst/>
          </a:prstGeom>
        </p:spPr>
      </p:pic>
      <p:pic>
        <p:nvPicPr>
          <p:cNvPr id="9" name="Picture 8" descr="SAS_Institute_250x11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51" y="2979443"/>
            <a:ext cx="1348098" cy="604388"/>
          </a:xfrm>
          <a:prstGeom prst="rect">
            <a:avLst/>
          </a:prstGeom>
        </p:spPr>
      </p:pic>
      <p:pic>
        <p:nvPicPr>
          <p:cNvPr id="10" name="Picture 9" descr="mssql_200x165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794" y="2074801"/>
            <a:ext cx="1291685" cy="1065640"/>
          </a:xfrm>
          <a:prstGeom prst="rect">
            <a:avLst/>
          </a:prstGeom>
        </p:spPr>
      </p:pic>
      <p:pic>
        <p:nvPicPr>
          <p:cNvPr id="11" name="Picture 10" descr="mysql_100x52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256" y="4267745"/>
            <a:ext cx="1270000" cy="660400"/>
          </a:xfrm>
          <a:prstGeom prst="rect">
            <a:avLst/>
          </a:prstGeom>
        </p:spPr>
      </p:pic>
      <p:pic>
        <p:nvPicPr>
          <p:cNvPr id="12" name="Picture 11" descr="oracle_150x31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87" y="3936655"/>
            <a:ext cx="1905000" cy="393700"/>
          </a:xfrm>
          <a:prstGeom prst="rect">
            <a:avLst/>
          </a:prstGeom>
        </p:spPr>
      </p:pic>
      <p:pic>
        <p:nvPicPr>
          <p:cNvPr id="13" name="Picture 12" descr="ddi-logo_150x70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640" y="4737103"/>
            <a:ext cx="1390521" cy="648910"/>
          </a:xfrm>
          <a:prstGeom prst="rect">
            <a:avLst/>
          </a:prstGeom>
        </p:spPr>
      </p:pic>
      <p:pic>
        <p:nvPicPr>
          <p:cNvPr id="14" name="Picture 13" descr="hypersql_logo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004" y="3367093"/>
            <a:ext cx="1471337" cy="310102"/>
          </a:xfrm>
          <a:prstGeom prst="rect">
            <a:avLst/>
          </a:prstGeom>
        </p:spPr>
      </p:pic>
      <p:pic>
        <p:nvPicPr>
          <p:cNvPr id="15" name="Picture 14" descr="xml_orange.gi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51" y="4968392"/>
            <a:ext cx="907846" cy="342964"/>
          </a:xfrm>
          <a:prstGeom prst="rect">
            <a:avLst/>
          </a:prstGeom>
        </p:spPr>
      </p:pic>
      <p:pic>
        <p:nvPicPr>
          <p:cNvPr id="16" name="Picture 15" descr="ascii_2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939" y="1332635"/>
            <a:ext cx="857906" cy="857906"/>
          </a:xfrm>
          <a:prstGeom prst="rect">
            <a:avLst/>
          </a:prstGeom>
        </p:spPr>
      </p:pic>
      <p:pic>
        <p:nvPicPr>
          <p:cNvPr id="17" name="Picture 16" descr="CSV_Large1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640" y="1377741"/>
            <a:ext cx="812800" cy="812800"/>
          </a:xfrm>
          <a:prstGeom prst="rect">
            <a:avLst/>
          </a:prstGeom>
        </p:spPr>
      </p:pic>
      <p:pic>
        <p:nvPicPr>
          <p:cNvPr id="18" name="Picture 17" descr="excel1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514" y="1619285"/>
            <a:ext cx="911031" cy="911031"/>
          </a:xfrm>
          <a:prstGeom prst="rect">
            <a:avLst/>
          </a:prstGeom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&lt;Meta/&gt;Data Dance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29275" y="2327451"/>
            <a:ext cx="1270220" cy="263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414" y="5386013"/>
            <a:ext cx="1931251" cy="646969"/>
          </a:xfrm>
          <a:prstGeom prst="rect">
            <a:avLst/>
          </a:prstGeom>
        </p:spPr>
      </p:pic>
      <p:pic>
        <p:nvPicPr>
          <p:cNvPr id="2" name="Picture 1" descr="nesstar_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114" y="4451958"/>
            <a:ext cx="609600" cy="609600"/>
          </a:xfrm>
          <a:prstGeom prst="rect">
            <a:avLst/>
          </a:prstGeom>
        </p:spPr>
      </p:pic>
      <p:pic>
        <p:nvPicPr>
          <p:cNvPr id="5" name="Picture 4" descr="stata_logo_blue_150x4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971" y="2355150"/>
            <a:ext cx="1440627" cy="457128"/>
          </a:xfrm>
          <a:prstGeom prst="rect">
            <a:avLst/>
          </a:prstGeom>
        </p:spPr>
      </p:pic>
      <p:pic>
        <p:nvPicPr>
          <p:cNvPr id="7" name="Picture 6" descr="SPSS_150x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521" y="3709590"/>
            <a:ext cx="1424292" cy="540031"/>
          </a:xfrm>
          <a:prstGeom prst="rect">
            <a:avLst/>
          </a:prstGeom>
        </p:spPr>
      </p:pic>
      <p:pic>
        <p:nvPicPr>
          <p:cNvPr id="8" name="Picture 7" descr="R-logo_250x189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210" y="1488075"/>
            <a:ext cx="997204" cy="756510"/>
          </a:xfrm>
          <a:prstGeom prst="rect">
            <a:avLst/>
          </a:prstGeom>
        </p:spPr>
      </p:pic>
      <p:pic>
        <p:nvPicPr>
          <p:cNvPr id="9" name="Picture 8" descr="SAS_Institute_250x11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51" y="2979443"/>
            <a:ext cx="1348098" cy="604388"/>
          </a:xfrm>
          <a:prstGeom prst="rect">
            <a:avLst/>
          </a:prstGeom>
        </p:spPr>
      </p:pic>
      <p:pic>
        <p:nvPicPr>
          <p:cNvPr id="10" name="Picture 9" descr="mssql_200x165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794" y="2074801"/>
            <a:ext cx="1291685" cy="1065640"/>
          </a:xfrm>
          <a:prstGeom prst="rect">
            <a:avLst/>
          </a:prstGeom>
        </p:spPr>
      </p:pic>
      <p:pic>
        <p:nvPicPr>
          <p:cNvPr id="11" name="Picture 10" descr="mysql_100x52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256" y="4267745"/>
            <a:ext cx="1270000" cy="660400"/>
          </a:xfrm>
          <a:prstGeom prst="rect">
            <a:avLst/>
          </a:prstGeom>
        </p:spPr>
      </p:pic>
      <p:pic>
        <p:nvPicPr>
          <p:cNvPr id="12" name="Picture 11" descr="oracle_150x31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87" y="3936655"/>
            <a:ext cx="1905000" cy="393700"/>
          </a:xfrm>
          <a:prstGeom prst="rect">
            <a:avLst/>
          </a:prstGeom>
        </p:spPr>
      </p:pic>
      <p:pic>
        <p:nvPicPr>
          <p:cNvPr id="13" name="Picture 12" descr="ddi-logo_150x70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640" y="4737103"/>
            <a:ext cx="1390521" cy="648910"/>
          </a:xfrm>
          <a:prstGeom prst="rect">
            <a:avLst/>
          </a:prstGeom>
        </p:spPr>
      </p:pic>
      <p:pic>
        <p:nvPicPr>
          <p:cNvPr id="14" name="Picture 13" descr="hypersql_logo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004" y="3367093"/>
            <a:ext cx="1471337" cy="310102"/>
          </a:xfrm>
          <a:prstGeom prst="rect">
            <a:avLst/>
          </a:prstGeom>
        </p:spPr>
      </p:pic>
      <p:pic>
        <p:nvPicPr>
          <p:cNvPr id="15" name="Picture 14" descr="xml_orange.gi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51" y="4968392"/>
            <a:ext cx="907846" cy="342964"/>
          </a:xfrm>
          <a:prstGeom prst="rect">
            <a:avLst/>
          </a:prstGeom>
        </p:spPr>
      </p:pic>
      <p:pic>
        <p:nvPicPr>
          <p:cNvPr id="16" name="Picture 15" descr="ascii_2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939" y="1332635"/>
            <a:ext cx="857906" cy="857906"/>
          </a:xfrm>
          <a:prstGeom prst="rect">
            <a:avLst/>
          </a:prstGeom>
        </p:spPr>
      </p:pic>
      <p:pic>
        <p:nvPicPr>
          <p:cNvPr id="17" name="Picture 16" descr="CSV_Large1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640" y="1377741"/>
            <a:ext cx="812800" cy="812800"/>
          </a:xfrm>
          <a:prstGeom prst="rect">
            <a:avLst/>
          </a:prstGeom>
        </p:spPr>
      </p:pic>
      <p:pic>
        <p:nvPicPr>
          <p:cNvPr id="18" name="Picture 17" descr="excel1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514" y="1619285"/>
            <a:ext cx="911031" cy="911031"/>
          </a:xfrm>
          <a:prstGeom prst="rect">
            <a:avLst/>
          </a:prstGeom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&lt;Meta&gt;Data Dance</a:t>
            </a:r>
            <a:endParaRPr lang="en-US" dirty="0"/>
          </a:p>
        </p:txBody>
      </p:sp>
      <p:pic>
        <p:nvPicPr>
          <p:cNvPr id="20" name="Picture 19" descr="DF Logo.p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981" y="2355150"/>
            <a:ext cx="1655119" cy="1633783"/>
          </a:xfrm>
          <a:prstGeom prst="rect">
            <a:avLst/>
          </a:prstGeom>
        </p:spPr>
      </p:pic>
      <p:pic>
        <p:nvPicPr>
          <p:cNvPr id="21" name="Picture 20" descr="DFText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3974236"/>
            <a:ext cx="2944466" cy="71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5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2973E-6 -3.91113E-6 L -3.62973E-6 -0.5487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447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2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2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F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Tools to facilitate </a:t>
            </a:r>
            <a:r>
              <a:rPr lang="en-US" dirty="0" smtClean="0"/>
              <a:t>statistical/scientific </a:t>
            </a:r>
            <a:r>
              <a:rPr lang="en-US" dirty="0"/>
              <a:t>data </a:t>
            </a:r>
            <a:r>
              <a:rPr lang="en-US" dirty="0" smtClean="0"/>
              <a:t>management</a:t>
            </a:r>
          </a:p>
          <a:p>
            <a:pPr lvl="1"/>
            <a:r>
              <a:rPr lang="en-US" dirty="0" smtClean="0"/>
              <a:t>Complement existing tools (not replace)</a:t>
            </a:r>
          </a:p>
          <a:p>
            <a:pPr lvl="1"/>
            <a:r>
              <a:rPr lang="en-US" dirty="0" smtClean="0"/>
              <a:t>Facilitate adoption of standards and promote best practices</a:t>
            </a:r>
          </a:p>
          <a:p>
            <a:pPr lvl="1"/>
            <a:r>
              <a:rPr lang="en-US" dirty="0" smtClean="0"/>
              <a:t>Alleviate the need to master complexities of metadata standards, technologies</a:t>
            </a:r>
            <a:endParaRPr lang="en-US" dirty="0"/>
          </a:p>
          <a:p>
            <a:r>
              <a:rPr lang="en-US" dirty="0"/>
              <a:t>Vision: </a:t>
            </a:r>
            <a:r>
              <a:rPr lang="en-US" dirty="0" smtClean="0"/>
              <a:t>web </a:t>
            </a:r>
            <a:r>
              <a:rPr lang="en-US" dirty="0"/>
              <a:t>based services (cloud users</a:t>
            </a:r>
            <a:r>
              <a:rPr lang="en-US" dirty="0" smtClean="0"/>
              <a:t>), stand </a:t>
            </a:r>
            <a:r>
              <a:rPr lang="en-US" dirty="0"/>
              <a:t>alone </a:t>
            </a:r>
            <a:r>
              <a:rPr lang="en-US" dirty="0" smtClean="0"/>
              <a:t>desktop /</a:t>
            </a:r>
            <a:r>
              <a:rPr lang="en-US" dirty="0"/>
              <a:t>server products (agencies/</a:t>
            </a:r>
            <a:r>
              <a:rPr lang="en-US" dirty="0" smtClean="0"/>
              <a:t>enclaves), libraries (developers) </a:t>
            </a:r>
            <a:endParaRPr lang="en-US" dirty="0"/>
          </a:p>
          <a:p>
            <a:r>
              <a:rPr lang="en-US" dirty="0" smtClean="0"/>
              <a:t>Broad </a:t>
            </a:r>
            <a:r>
              <a:rPr lang="en-US" dirty="0"/>
              <a:t>T</a:t>
            </a:r>
            <a:r>
              <a:rPr lang="en-US" dirty="0" smtClean="0"/>
              <a:t>arget audience</a:t>
            </a:r>
            <a:r>
              <a:rPr lang="en-US" dirty="0"/>
              <a:t>: Data Producers / Manager / Researchers / </a:t>
            </a:r>
            <a:r>
              <a:rPr lang="en-US" dirty="0" smtClean="0"/>
              <a:t>Users</a:t>
            </a:r>
            <a:endParaRPr lang="en-US" dirty="0"/>
          </a:p>
          <a:p>
            <a:r>
              <a:rPr lang="en-US" dirty="0" err="1"/>
              <a:t>DataForge</a:t>
            </a:r>
            <a:r>
              <a:rPr lang="en-US" dirty="0"/>
              <a:t> </a:t>
            </a:r>
            <a:r>
              <a:rPr lang="en-US" dirty="0" smtClean="0"/>
              <a:t>Today (lean model): </a:t>
            </a:r>
            <a:endParaRPr lang="en-US" dirty="0"/>
          </a:p>
          <a:p>
            <a:pPr lvl="1"/>
            <a:r>
              <a:rPr lang="en-US" dirty="0" smtClean="0"/>
              <a:t>Simple desktop </a:t>
            </a:r>
            <a:r>
              <a:rPr lang="en-US" dirty="0"/>
              <a:t>based </a:t>
            </a:r>
            <a:r>
              <a:rPr lang="en-US" dirty="0" smtClean="0"/>
              <a:t>tools</a:t>
            </a:r>
            <a:endParaRPr lang="en-US" dirty="0"/>
          </a:p>
          <a:p>
            <a:pPr lvl="1"/>
            <a:r>
              <a:rPr lang="en-US" b="1" dirty="0"/>
              <a:t>SledgeHammer</a:t>
            </a:r>
            <a:r>
              <a:rPr lang="en-US" dirty="0"/>
              <a:t> - Data/metadata </a:t>
            </a:r>
            <a:r>
              <a:rPr lang="en-US" dirty="0" smtClean="0"/>
              <a:t>transformation</a:t>
            </a:r>
            <a:endParaRPr lang="en-US" dirty="0"/>
          </a:p>
          <a:p>
            <a:pPr lvl="2"/>
            <a:r>
              <a:rPr lang="en-US" dirty="0" err="1"/>
              <a:t>LavaCore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/>
              <a:t>Java </a:t>
            </a:r>
            <a:r>
              <a:rPr lang="en-US" dirty="0" smtClean="0"/>
              <a:t>library</a:t>
            </a:r>
            <a:endParaRPr lang="en-US" dirty="0"/>
          </a:p>
          <a:p>
            <a:pPr lvl="1"/>
            <a:r>
              <a:rPr lang="en-US" b="1" dirty="0"/>
              <a:t>Caelum</a:t>
            </a:r>
            <a:r>
              <a:rPr lang="en-US" dirty="0"/>
              <a:t> - Reporting / </a:t>
            </a:r>
            <a:r>
              <a:rPr lang="en-US" dirty="0" smtClean="0"/>
              <a:t>Publication</a:t>
            </a:r>
          </a:p>
          <a:p>
            <a:pPr lvl="1"/>
            <a:r>
              <a:rPr lang="en-US" b="1" dirty="0" err="1" smtClean="0"/>
              <a:t>Asmurex</a:t>
            </a:r>
            <a:r>
              <a:rPr lang="en-US" dirty="0" smtClean="0"/>
              <a:t>: ASCII Multi-Record </a:t>
            </a:r>
            <a:r>
              <a:rPr lang="en-US" dirty="0" err="1" smtClean="0"/>
              <a:t>Exctraction</a:t>
            </a:r>
            <a:r>
              <a:rPr lang="en-US" dirty="0" smtClean="0"/>
              <a:t> tool</a:t>
            </a:r>
          </a:p>
          <a:p>
            <a:r>
              <a:rPr lang="en-US" dirty="0" err="1" smtClean="0"/>
              <a:t>DataForge</a:t>
            </a:r>
            <a:r>
              <a:rPr lang="en-US" dirty="0" smtClean="0"/>
              <a:t> Tomorrow: </a:t>
            </a:r>
          </a:p>
          <a:p>
            <a:pPr lvl="1"/>
            <a:r>
              <a:rPr lang="en-US" dirty="0" err="1" smtClean="0"/>
              <a:t>DataForge</a:t>
            </a:r>
            <a:r>
              <a:rPr lang="en-US" dirty="0" smtClean="0"/>
              <a:t> </a:t>
            </a:r>
            <a:r>
              <a:rPr lang="en-US" dirty="0"/>
              <a:t>Online, </a:t>
            </a:r>
            <a:r>
              <a:rPr lang="en-US" dirty="0" smtClean="0"/>
              <a:t>Web Services, </a:t>
            </a:r>
            <a:r>
              <a:rPr lang="en-US" dirty="0"/>
              <a:t>Desktop w/UI, Java </a:t>
            </a:r>
            <a:r>
              <a:rPr lang="en-US" dirty="0" smtClean="0"/>
              <a:t>Library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F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26403" y="3702149"/>
            <a:ext cx="8127631" cy="251652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Data Liberation</a:t>
            </a:r>
          </a:p>
          <a:p>
            <a:pPr lvl="1"/>
            <a:r>
              <a:rPr lang="en-US" dirty="0" smtClean="0"/>
              <a:t>Unlock from proprietary formats, turn into open data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roduce metadata </a:t>
            </a:r>
            <a:r>
              <a:rPr lang="en-US" dirty="0"/>
              <a:t>+</a:t>
            </a:r>
            <a:r>
              <a:rPr lang="en-US" dirty="0" smtClean="0"/>
              <a:t> convert data </a:t>
            </a:r>
            <a:r>
              <a:rPr lang="en-US" dirty="0"/>
              <a:t>into </a:t>
            </a:r>
            <a:r>
              <a:rPr lang="en-US" dirty="0" smtClean="0"/>
              <a:t>standard ASCII formats</a:t>
            </a:r>
          </a:p>
          <a:p>
            <a:r>
              <a:rPr lang="en-US" dirty="0" smtClean="0"/>
              <a:t>Open &lt;Meta&gt;Data Integration</a:t>
            </a:r>
          </a:p>
          <a:p>
            <a:pPr lvl="1"/>
            <a:r>
              <a:rPr lang="en-US" dirty="0" smtClean="0"/>
              <a:t>Generating </a:t>
            </a:r>
            <a:r>
              <a:rPr lang="en-US" dirty="0"/>
              <a:t>scripts for </a:t>
            </a:r>
            <a:r>
              <a:rPr lang="en-US" dirty="0" smtClean="0"/>
              <a:t>loading into stats packages, databases, big data engines, cloud</a:t>
            </a:r>
          </a:p>
          <a:p>
            <a:pPr lvl="1"/>
            <a:r>
              <a:rPr lang="en-US" dirty="0"/>
              <a:t>Use with open </a:t>
            </a:r>
            <a:r>
              <a:rPr lang="en-US" dirty="0" smtClean="0"/>
              <a:t>systems / environments</a:t>
            </a:r>
            <a:endParaRPr lang="en-US" dirty="0"/>
          </a:p>
        </p:txBody>
      </p:sp>
      <p:pic>
        <p:nvPicPr>
          <p:cNvPr id="4" name="Picture 3" descr="Sledgehamm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48" y="819298"/>
            <a:ext cx="1694745" cy="17831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5055" y="2311968"/>
            <a:ext cx="77970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z="1400" b="1" dirty="0" smtClean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ourier New"/>
                <a:cs typeface="Courier New"/>
              </a:rPr>
              <a:t> __  _          _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705055" y="2530994"/>
            <a:ext cx="77970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z="1400" b="1" dirty="0" smtClean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ourier New"/>
                <a:cs typeface="Courier New"/>
              </a:rPr>
              <a:t>/ _\| | ___  __| | __ _  ___  /\  /\__ _ _ __ ___  _ __ ___   ___ _ __ </a:t>
            </a:r>
          </a:p>
        </p:txBody>
      </p:sp>
      <p:sp>
        <p:nvSpPr>
          <p:cNvPr id="7" name="Rectangle 6"/>
          <p:cNvSpPr/>
          <p:nvPr/>
        </p:nvSpPr>
        <p:spPr>
          <a:xfrm>
            <a:off x="705055" y="2739132"/>
            <a:ext cx="77970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z="1400" b="1" dirty="0" smtClean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ourier New"/>
                <a:cs typeface="Courier New"/>
              </a:rPr>
              <a:t>\ \ | |/ _ \/ _` |/ _` |/ _ \/ /_/ / _` | '_ ` _ \| '_ ` _ \ / _ \ '__|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055" y="2918072"/>
            <a:ext cx="7797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 smtClean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ourier New"/>
                <a:cs typeface="Courier New"/>
              </a:rPr>
              <a:t>_\ \| |  __/ (_| | (_| |  __/ __  / (_| | | | | | | | | | | |  __/ |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5055" y="3123120"/>
            <a:ext cx="77970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z="1400" b="1" dirty="0" smtClean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ourier New"/>
                <a:cs typeface="Courier New"/>
              </a:rPr>
              <a:t>\__/|_|\___|\__,_|\__, |\___\/ /_/ \__,_|_| |_| |_|_| |_| |_|\___|_|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055" y="3340965"/>
            <a:ext cx="77970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fr-FR" sz="1400" b="1" dirty="0" smtClean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ourier New"/>
                <a:cs typeface="Courier New"/>
              </a:rPr>
              <a:t>                  |___/ </a:t>
            </a:r>
            <a:endParaRPr lang="en-US" sz="1400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5631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1" presetClass="entr" presetSubtype="0" fill="hold" grpId="0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1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1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1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8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00" tmFilter="0,0; .5, 1; 1, 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200" tmFilter="0,0; .5, 1; 1, 1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2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200" tmFilter="0,0; .5, 1; 1, 1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2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00" tmFilter="0,0; .5, 1; 1, 1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2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00" tmFilter="0,0; .5, 1; 1, 1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2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200" tmFilter="0,0; .5, 1; 1, 1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  <p:bldP spid="11" grpId="0"/>
      <p:bldP spid="11" grpId="1"/>
      <p:bldP spid="12" grpId="0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F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pic>
        <p:nvPicPr>
          <p:cNvPr id="5" name="Picture 4" descr="logo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840" y="1177697"/>
            <a:ext cx="1931251" cy="646969"/>
          </a:xfrm>
          <a:prstGeom prst="rect">
            <a:avLst/>
          </a:prstGeom>
        </p:spPr>
      </p:pic>
      <p:pic>
        <p:nvPicPr>
          <p:cNvPr id="6" name="Picture 5" descr="stata_logo_blue_150x4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465" y="1289375"/>
            <a:ext cx="1440627" cy="457128"/>
          </a:xfrm>
          <a:prstGeom prst="rect">
            <a:avLst/>
          </a:prstGeom>
        </p:spPr>
      </p:pic>
      <p:pic>
        <p:nvPicPr>
          <p:cNvPr id="7" name="Picture 6" descr="SPSS_150x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45" y="966971"/>
            <a:ext cx="1424292" cy="540031"/>
          </a:xfrm>
          <a:prstGeom prst="rect">
            <a:avLst/>
          </a:prstGeom>
        </p:spPr>
      </p:pic>
      <p:pic>
        <p:nvPicPr>
          <p:cNvPr id="8" name="Picture 7" descr="SAS_Institute_250x11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914" y="1370171"/>
            <a:ext cx="1348098" cy="604388"/>
          </a:xfrm>
          <a:prstGeom prst="rect">
            <a:avLst/>
          </a:prstGeom>
        </p:spPr>
      </p:pic>
      <p:pic>
        <p:nvPicPr>
          <p:cNvPr id="9" name="Picture 8" descr="ddi-logo_150x70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910" y="857925"/>
            <a:ext cx="1390521" cy="648910"/>
          </a:xfrm>
          <a:prstGeom prst="rect">
            <a:avLst/>
          </a:prstGeom>
        </p:spPr>
      </p:pic>
      <p:pic>
        <p:nvPicPr>
          <p:cNvPr id="11" name="Picture 10" descr="ascii_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528" y="3051562"/>
            <a:ext cx="933582" cy="933582"/>
          </a:xfrm>
          <a:prstGeom prst="rect">
            <a:avLst/>
          </a:prstGeom>
        </p:spPr>
      </p:pic>
      <p:pic>
        <p:nvPicPr>
          <p:cNvPr id="14" name="Picture 13" descr="stata_logo_blue_150x4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02" y="5600977"/>
            <a:ext cx="1440627" cy="457128"/>
          </a:xfrm>
          <a:prstGeom prst="rect">
            <a:avLst/>
          </a:prstGeom>
        </p:spPr>
      </p:pic>
      <p:pic>
        <p:nvPicPr>
          <p:cNvPr id="15" name="Picture 14" descr="SPSS_150x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784" y="5556257"/>
            <a:ext cx="1424292" cy="540031"/>
          </a:xfrm>
          <a:prstGeom prst="rect">
            <a:avLst/>
          </a:prstGeom>
        </p:spPr>
      </p:pic>
      <p:pic>
        <p:nvPicPr>
          <p:cNvPr id="16" name="Picture 15" descr="R-logo_250x189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148" y="4863706"/>
            <a:ext cx="855723" cy="649178"/>
          </a:xfrm>
          <a:prstGeom prst="rect">
            <a:avLst/>
          </a:prstGeom>
        </p:spPr>
      </p:pic>
      <p:pic>
        <p:nvPicPr>
          <p:cNvPr id="17" name="Picture 16" descr="SAS_Institute_250x11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612" y="4951869"/>
            <a:ext cx="1348098" cy="604388"/>
          </a:xfrm>
          <a:prstGeom prst="rect">
            <a:avLst/>
          </a:prstGeom>
        </p:spPr>
      </p:pic>
      <p:pic>
        <p:nvPicPr>
          <p:cNvPr id="18" name="Picture 17" descr="mssql_200x165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694" y="4608773"/>
            <a:ext cx="1291685" cy="1065640"/>
          </a:xfrm>
          <a:prstGeom prst="rect">
            <a:avLst/>
          </a:prstGeom>
        </p:spPr>
      </p:pic>
      <p:pic>
        <p:nvPicPr>
          <p:cNvPr id="19" name="Picture 18" descr="mysql_100x52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35" y="5188295"/>
            <a:ext cx="1270000" cy="660400"/>
          </a:xfrm>
          <a:prstGeom prst="rect">
            <a:avLst/>
          </a:prstGeom>
        </p:spPr>
      </p:pic>
      <p:pic>
        <p:nvPicPr>
          <p:cNvPr id="20" name="Picture 19" descr="oracle_150x31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202" y="5180609"/>
            <a:ext cx="1905000" cy="393700"/>
          </a:xfrm>
          <a:prstGeom prst="rect">
            <a:avLst/>
          </a:prstGeom>
        </p:spPr>
      </p:pic>
      <p:pic>
        <p:nvPicPr>
          <p:cNvPr id="21" name="Picture 20" descr="hypersql_logo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775" y="5933673"/>
            <a:ext cx="1471337" cy="310102"/>
          </a:xfrm>
          <a:prstGeom prst="rect">
            <a:avLst/>
          </a:prstGeom>
        </p:spPr>
      </p:pic>
      <p:pic>
        <p:nvPicPr>
          <p:cNvPr id="22" name="Picture 21" descr="excel1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739" y="5368433"/>
            <a:ext cx="843847" cy="8438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63951" y="3781607"/>
            <a:ext cx="1120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spc="100" dirty="0" smtClean="0">
                <a:solidFill>
                  <a:srgbClr val="006432"/>
                </a:solidFill>
                <a:effectLst>
                  <a:glow rad="63500">
                    <a:schemeClr val="tx1">
                      <a:alpha val="50000"/>
                    </a:schemeClr>
                  </a:glow>
                </a:effectLst>
                <a:latin typeface="Avenir Roman"/>
                <a:cs typeface="Avenir Roman"/>
              </a:rPr>
              <a:t>triple-s</a:t>
            </a:r>
            <a:endParaRPr lang="en-US" sz="2000" i="1" spc="100" dirty="0">
              <a:solidFill>
                <a:srgbClr val="006432"/>
              </a:solidFill>
              <a:effectLst>
                <a:glow rad="63500">
                  <a:schemeClr val="tx1">
                    <a:alpha val="50000"/>
                  </a:schemeClr>
                </a:glow>
              </a:effectLst>
              <a:latin typeface="Avenir Roman"/>
              <a:cs typeface="Avenir Roman"/>
            </a:endParaRPr>
          </a:p>
        </p:txBody>
      </p:sp>
      <p:pic>
        <p:nvPicPr>
          <p:cNvPr id="29" name="Picture 28" descr="script_editor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717" y="3450679"/>
            <a:ext cx="768149" cy="768149"/>
          </a:xfrm>
          <a:prstGeom prst="rect">
            <a:avLst/>
          </a:prstGeom>
        </p:spPr>
      </p:pic>
      <p:pic>
        <p:nvPicPr>
          <p:cNvPr id="30" name="Picture 29" descr="Sledgehamme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436" y="1988513"/>
            <a:ext cx="931402" cy="979981"/>
          </a:xfrm>
          <a:prstGeom prst="rect">
            <a:avLst/>
          </a:prstGeom>
        </p:spPr>
      </p:pic>
      <p:pic>
        <p:nvPicPr>
          <p:cNvPr id="28" name="Picture 27" descr="application_x_executable_script.p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474" y="2722246"/>
            <a:ext cx="696525" cy="696525"/>
          </a:xfrm>
          <a:prstGeom prst="rect">
            <a:avLst/>
          </a:prstGeom>
        </p:spPr>
      </p:pic>
      <p:pic>
        <p:nvPicPr>
          <p:cNvPr id="32" name="Picture 31" descr="CSV_Large1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819" y="3725890"/>
            <a:ext cx="375331" cy="375331"/>
          </a:xfrm>
          <a:prstGeom prst="rect">
            <a:avLst/>
          </a:prstGeom>
        </p:spPr>
      </p:pic>
      <p:pic>
        <p:nvPicPr>
          <p:cNvPr id="33" name="Picture 32" descr="logo_verticaH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273" y="5696440"/>
            <a:ext cx="1216628" cy="549221"/>
          </a:xfrm>
          <a:prstGeom prst="rect">
            <a:avLst/>
          </a:prstGeom>
          <a:ln w="12700" cmpd="sng">
            <a:noFill/>
          </a:ln>
          <a:effectLst/>
        </p:spPr>
      </p:pic>
      <p:pic>
        <p:nvPicPr>
          <p:cNvPr id="34" name="Picture 33" descr="Google_200x72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226" y="5887202"/>
            <a:ext cx="1317255" cy="474212"/>
          </a:xfrm>
          <a:prstGeom prst="rect">
            <a:avLst/>
          </a:prstGeom>
        </p:spPr>
      </p:pic>
      <p:pic>
        <p:nvPicPr>
          <p:cNvPr id="35" name="Picture 34" descr="CaelumLogo_150x157.pn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314" y="2896942"/>
            <a:ext cx="662276" cy="693183"/>
          </a:xfrm>
          <a:prstGeom prst="rect">
            <a:avLst/>
          </a:prstGeom>
        </p:spPr>
      </p:pic>
      <p:pic>
        <p:nvPicPr>
          <p:cNvPr id="37" name="Picture 36" descr="CaelumText_100x27.pn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787" y="3536506"/>
            <a:ext cx="1270000" cy="342900"/>
          </a:xfrm>
          <a:prstGeom prst="rect">
            <a:avLst/>
          </a:prstGeom>
        </p:spPr>
      </p:pic>
      <p:pic>
        <p:nvPicPr>
          <p:cNvPr id="39" name="Picture 38" descr="xml_orange.gif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726" y="3156322"/>
            <a:ext cx="534746" cy="202015"/>
          </a:xfrm>
          <a:prstGeom prst="rect">
            <a:avLst/>
          </a:prstGeom>
        </p:spPr>
      </p:pic>
      <p:pic>
        <p:nvPicPr>
          <p:cNvPr id="42" name="Picture 41" descr="SledgeHammerText_313x50.png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715" y="779904"/>
            <a:ext cx="2689784" cy="429678"/>
          </a:xfrm>
          <a:prstGeom prst="rect">
            <a:avLst/>
          </a:prstGeom>
        </p:spPr>
      </p:pic>
      <p:pic>
        <p:nvPicPr>
          <p:cNvPr id="10" name="Picture 9" descr="ddi-logo_150x70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508" y="3259249"/>
            <a:ext cx="1258281" cy="587198"/>
          </a:xfrm>
          <a:prstGeom prst="rect">
            <a:avLst/>
          </a:prstGeom>
        </p:spPr>
      </p:pic>
      <p:sp>
        <p:nvSpPr>
          <p:cNvPr id="51" name="Right Arrow 50"/>
          <p:cNvSpPr/>
          <p:nvPr/>
        </p:nvSpPr>
        <p:spPr>
          <a:xfrm rot="5400000">
            <a:off x="4163686" y="4507653"/>
            <a:ext cx="822960" cy="480695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ight Arrow 51"/>
          <p:cNvSpPr/>
          <p:nvPr/>
        </p:nvSpPr>
        <p:spPr>
          <a:xfrm rot="8100000">
            <a:off x="3304131" y="4352162"/>
            <a:ext cx="822960" cy="480695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3" name="Right Arrow 52"/>
          <p:cNvSpPr/>
          <p:nvPr/>
        </p:nvSpPr>
        <p:spPr>
          <a:xfrm rot="2700000">
            <a:off x="4988297" y="4357561"/>
            <a:ext cx="822960" cy="480695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Right Arrow 53"/>
          <p:cNvSpPr/>
          <p:nvPr/>
        </p:nvSpPr>
        <p:spPr>
          <a:xfrm>
            <a:off x="5813663" y="3028549"/>
            <a:ext cx="822960" cy="480695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10800000">
            <a:off x="2375260" y="2991740"/>
            <a:ext cx="822960" cy="480695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" name="Picture 61" descr="BU005259.png"/>
          <p:cNvPicPr>
            <a:picLocks noChangeAspect="1"/>
          </p:cNvPicPr>
          <p:nvPr/>
        </p:nvPicPr>
        <p:blipFill>
          <a:blip r:embed="rId25">
            <a:alphaModFix amt="7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01" y="2832513"/>
            <a:ext cx="954140" cy="85257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84455" y="1576643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script</a:t>
            </a:r>
            <a:endParaRPr lang="en-US" sz="1200" dirty="0">
              <a:solidFill>
                <a:schemeClr val="bg2">
                  <a:lumMod val="50000"/>
                  <a:lumOff val="50000"/>
                </a:schemeClr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6034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1" grpId="0" animBg="1"/>
      <p:bldP spid="52" grpId="0" animBg="1"/>
      <p:bldP spid="53" grpId="0" animBg="1"/>
      <p:bldP spid="54" grpId="0" animBg="1"/>
      <p:bldP spid="55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Challenges</a:t>
            </a:r>
          </a:p>
          <a:p>
            <a:pPr lvl="1"/>
            <a:r>
              <a:rPr lang="en-US" dirty="0" smtClean="0"/>
              <a:t>Read proprietary formats</a:t>
            </a:r>
          </a:p>
          <a:p>
            <a:pPr lvl="1"/>
            <a:r>
              <a:rPr lang="en-US" dirty="0" smtClean="0"/>
              <a:t>Data integrity</a:t>
            </a:r>
          </a:p>
          <a:p>
            <a:pPr lvl="1"/>
            <a:r>
              <a:rPr lang="en-US" dirty="0" smtClean="0"/>
              <a:t>ASCII optimization</a:t>
            </a:r>
          </a:p>
          <a:p>
            <a:pPr lvl="1"/>
            <a:r>
              <a:rPr lang="en-US" dirty="0" smtClean="0"/>
              <a:t>Cross package formatting issues</a:t>
            </a:r>
          </a:p>
          <a:p>
            <a:pPr lvl="1"/>
            <a:r>
              <a:rPr lang="en-US" dirty="0" smtClean="0"/>
              <a:t>SQL Database limits (columns, indexes, views)</a:t>
            </a:r>
          </a:p>
          <a:p>
            <a:pPr lvl="1"/>
            <a:r>
              <a:rPr lang="en-US" dirty="0" smtClean="0"/>
              <a:t>Performance (Timings, size, memory usage)</a:t>
            </a:r>
          </a:p>
          <a:p>
            <a:pPr lvl="1"/>
            <a:r>
              <a:rPr lang="en-US" dirty="0" smtClean="0"/>
              <a:t>…</a:t>
            </a:r>
          </a:p>
        </p:txBody>
      </p:sp>
      <p:pic>
        <p:nvPicPr>
          <p:cNvPr id="5" name="Picture 4" descr="DF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pic>
        <p:nvPicPr>
          <p:cNvPr id="6" name="Picture 5" descr="SledgeHammerText_313x5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715" y="779904"/>
            <a:ext cx="2689784" cy="4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7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Key Features</a:t>
            </a:r>
          </a:p>
          <a:p>
            <a:pPr lvl="1"/>
            <a:r>
              <a:rPr lang="en-US" dirty="0" smtClean="0"/>
              <a:t>Input: </a:t>
            </a:r>
            <a:r>
              <a:rPr lang="en-US" dirty="0"/>
              <a:t>SPSS, Stata, </a:t>
            </a:r>
            <a:r>
              <a:rPr lang="en-US" dirty="0" smtClean="0"/>
              <a:t>SAS/</a:t>
            </a:r>
            <a:r>
              <a:rPr lang="en-US" dirty="0" err="1" smtClean="0"/>
              <a:t>Syntax+ASCII</a:t>
            </a:r>
            <a:r>
              <a:rPr lang="en-US" dirty="0" smtClean="0"/>
              <a:t>, </a:t>
            </a:r>
            <a:r>
              <a:rPr lang="en-US" dirty="0"/>
              <a:t>ASCII+DDI-C / DDI-</a:t>
            </a:r>
            <a:r>
              <a:rPr lang="en-US" dirty="0" smtClean="0"/>
              <a:t>L, ASCII</a:t>
            </a:r>
            <a:r>
              <a:rPr lang="en-US" dirty="0"/>
              <a:t>+SSS 1.1/2.0, </a:t>
            </a:r>
            <a:r>
              <a:rPr lang="en-US" dirty="0" err="1"/>
              <a:t>ASCII+</a:t>
            </a:r>
            <a:r>
              <a:rPr lang="en-US" dirty="0" err="1" smtClean="0"/>
              <a:t>StatTransfer</a:t>
            </a:r>
            <a:endParaRPr lang="en-US" dirty="0" smtClean="0"/>
          </a:p>
          <a:p>
            <a:pPr lvl="1"/>
            <a:r>
              <a:rPr lang="en-US" dirty="0"/>
              <a:t>Data </a:t>
            </a:r>
            <a:r>
              <a:rPr lang="en-US" dirty="0" smtClean="0"/>
              <a:t>Out</a:t>
            </a:r>
            <a:r>
              <a:rPr lang="en-US" dirty="0"/>
              <a:t>: </a:t>
            </a:r>
            <a:r>
              <a:rPr lang="en-US" dirty="0" smtClean="0"/>
              <a:t>Fixed w/optimization, CSV, Delimited</a:t>
            </a:r>
          </a:p>
          <a:p>
            <a:pPr lvl="1"/>
            <a:r>
              <a:rPr lang="en-US" dirty="0" smtClean="0"/>
              <a:t>Metadata Out: DDI-C 1.2.2/Nesstar/2.1/2.5, DDI-L 3.1-RP/3.1-SU/</a:t>
            </a:r>
            <a:r>
              <a:rPr lang="en-US" dirty="0" err="1" smtClean="0"/>
              <a:t>Colectica</a:t>
            </a:r>
            <a:r>
              <a:rPr lang="en-US" dirty="0" smtClean="0"/>
              <a:t>, DDI-L 3.2-RP, DDI-L 3.2 SU, Triple-S 1.1/2.0</a:t>
            </a:r>
          </a:p>
          <a:p>
            <a:pPr lvl="1"/>
            <a:r>
              <a:rPr lang="en-US" dirty="0"/>
              <a:t>Summary Stats: Min / Max /Valid/Invalid /Mean, </a:t>
            </a:r>
            <a:r>
              <a:rPr lang="en-US" dirty="0" err="1"/>
              <a:t>StdDev</a:t>
            </a:r>
            <a:r>
              <a:rPr lang="en-US" dirty="0"/>
              <a:t> /Variance / Frequencies, </a:t>
            </a:r>
            <a:r>
              <a:rPr lang="en-US" i="1" dirty="0"/>
              <a:t>Weighted </a:t>
            </a:r>
            <a:r>
              <a:rPr lang="en-US" i="1" baseline="30000" dirty="0"/>
              <a:t>*</a:t>
            </a:r>
            <a:r>
              <a:rPr lang="en-US" i="1" dirty="0"/>
              <a:t>, Save in CSV</a:t>
            </a:r>
            <a:r>
              <a:rPr lang="en-US" i="1" baseline="30000" dirty="0"/>
              <a:t>*</a:t>
            </a:r>
            <a:r>
              <a:rPr lang="en-US" i="1" dirty="0"/>
              <a:t>.</a:t>
            </a:r>
          </a:p>
          <a:p>
            <a:pPr lvl="1"/>
            <a:r>
              <a:rPr lang="en-US" dirty="0" smtClean="0"/>
              <a:t>Scripts Generators: </a:t>
            </a:r>
            <a:r>
              <a:rPr lang="en-US" dirty="0"/>
              <a:t>SAS, SPSS, Stata, R, </a:t>
            </a:r>
            <a:r>
              <a:rPr lang="en-US" dirty="0" err="1"/>
              <a:t>Mysql</a:t>
            </a:r>
            <a:r>
              <a:rPr lang="en-US" dirty="0"/>
              <a:t>, </a:t>
            </a:r>
            <a:r>
              <a:rPr lang="en-US" i="1" dirty="0" smtClean="0"/>
              <a:t>Oracle</a:t>
            </a:r>
            <a:r>
              <a:rPr lang="en-US" i="1" baseline="30000" dirty="0" smtClean="0"/>
              <a:t>*</a:t>
            </a:r>
            <a:r>
              <a:rPr lang="en-US" i="1" dirty="0" smtClean="0"/>
              <a:t>, </a:t>
            </a:r>
            <a:r>
              <a:rPr lang="en-US" i="1" dirty="0"/>
              <a:t>MS-</a:t>
            </a:r>
            <a:r>
              <a:rPr lang="en-US" i="1" dirty="0" smtClean="0"/>
              <a:t>SQL</a:t>
            </a:r>
            <a:r>
              <a:rPr lang="en-US" i="1" baseline="30000" dirty="0" smtClean="0"/>
              <a:t>*</a:t>
            </a:r>
            <a:r>
              <a:rPr lang="en-US" i="1" dirty="0" smtClean="0"/>
              <a:t>, HSQL</a:t>
            </a:r>
            <a:r>
              <a:rPr lang="en-US" i="1" baseline="30000" dirty="0"/>
              <a:t>*</a:t>
            </a:r>
            <a:r>
              <a:rPr lang="en-US" i="1" dirty="0" smtClean="0"/>
              <a:t>, </a:t>
            </a:r>
            <a:r>
              <a:rPr lang="en-US" i="1" dirty="0"/>
              <a:t>Google </a:t>
            </a:r>
            <a:r>
              <a:rPr lang="en-US" i="1" dirty="0" err="1" smtClean="0"/>
              <a:t>BigQuery</a:t>
            </a:r>
            <a:r>
              <a:rPr lang="en-US" i="1" baseline="30000" dirty="0"/>
              <a:t>*</a:t>
            </a:r>
            <a:r>
              <a:rPr lang="en-US" i="1" dirty="0" smtClean="0"/>
              <a:t>, </a:t>
            </a:r>
            <a:r>
              <a:rPr lang="en-US" i="1" dirty="0"/>
              <a:t>HP/</a:t>
            </a:r>
            <a:r>
              <a:rPr lang="en-US" i="1" dirty="0" smtClean="0"/>
              <a:t>Vertica</a:t>
            </a:r>
            <a:r>
              <a:rPr lang="en-US" i="1" baseline="30000" dirty="0" smtClean="0"/>
              <a:t>*</a:t>
            </a:r>
            <a:r>
              <a:rPr lang="en-US" i="1" dirty="0" smtClean="0"/>
              <a:t> + dimension</a:t>
            </a:r>
            <a:r>
              <a:rPr lang="en-US" i="1" dirty="0"/>
              <a:t>/lookup </a:t>
            </a:r>
            <a:r>
              <a:rPr lang="en-US" i="1" dirty="0" smtClean="0"/>
              <a:t>tables, </a:t>
            </a:r>
            <a:r>
              <a:rPr lang="en-US" i="1" dirty="0"/>
              <a:t>indexes/foreign </a:t>
            </a:r>
            <a:r>
              <a:rPr lang="en-US" i="1" dirty="0" smtClean="0"/>
              <a:t>keys</a:t>
            </a:r>
            <a:r>
              <a:rPr lang="en-US" i="1" baseline="30000" dirty="0"/>
              <a:t>*</a:t>
            </a:r>
            <a:endParaRPr lang="en-US" i="1" dirty="0" smtClean="0"/>
          </a:p>
          <a:p>
            <a:pPr lvl="1"/>
            <a:r>
              <a:rPr lang="en-US" i="1" dirty="0" smtClean="0"/>
              <a:t>Command line interface</a:t>
            </a:r>
          </a:p>
          <a:p>
            <a:pPr lvl="1"/>
            <a:r>
              <a:rPr lang="en-US" dirty="0" smtClean="0"/>
              <a:t>See User’s Guide at </a:t>
            </a:r>
            <a:r>
              <a:rPr lang="en-US" dirty="0" smtClean="0">
                <a:hlinkClick r:id="rId2"/>
              </a:rPr>
              <a:t>http://goo.gl/9xukB</a:t>
            </a:r>
            <a:endParaRPr lang="en-US" dirty="0" smtClean="0"/>
          </a:p>
        </p:txBody>
      </p:sp>
      <p:pic>
        <p:nvPicPr>
          <p:cNvPr id="15" name="Picture 14" descr="DFTex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pic>
        <p:nvPicPr>
          <p:cNvPr id="16" name="Picture 15" descr="SledgeHammerText_313x5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715" y="779904"/>
            <a:ext cx="2689784" cy="4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Key changes since IASSIST 2013</a:t>
            </a:r>
          </a:p>
          <a:p>
            <a:pPr lvl="1"/>
            <a:r>
              <a:rPr lang="en-US" b="1" dirty="0" smtClean="0"/>
              <a:t>Desktop User Interface</a:t>
            </a:r>
          </a:p>
          <a:p>
            <a:pPr lvl="1"/>
            <a:r>
              <a:rPr lang="en-US" dirty="0" smtClean="0"/>
              <a:t>SAS (</a:t>
            </a:r>
            <a:r>
              <a:rPr lang="en-US" dirty="0" err="1" smtClean="0"/>
              <a:t>Win+DSRead</a:t>
            </a:r>
            <a:r>
              <a:rPr lang="en-US" dirty="0" smtClean="0"/>
              <a:t>), handling of missing values, DDI 3.2, lots of tweaks</a:t>
            </a:r>
          </a:p>
          <a:p>
            <a:r>
              <a:rPr lang="en-US" dirty="0" smtClean="0"/>
              <a:t>Editions</a:t>
            </a:r>
          </a:p>
          <a:p>
            <a:pPr lvl="1"/>
            <a:r>
              <a:rPr lang="en-US" dirty="0" smtClean="0"/>
              <a:t>Freeware</a:t>
            </a:r>
          </a:p>
          <a:p>
            <a:pPr lvl="2"/>
            <a:r>
              <a:rPr lang="en-US" dirty="0" smtClean="0"/>
              <a:t>Community: 100 variables / 1,000 obs.</a:t>
            </a:r>
          </a:p>
          <a:p>
            <a:pPr lvl="2"/>
            <a:r>
              <a:rPr lang="en-US" dirty="0" smtClean="0"/>
              <a:t>Registered (free): 500 variables / 5,000 obs. (or contact us)</a:t>
            </a:r>
          </a:p>
          <a:p>
            <a:pPr lvl="2"/>
            <a:r>
              <a:rPr lang="en-US" dirty="0" smtClean="0"/>
              <a:t>Available today (Candidate Release)</a:t>
            </a:r>
          </a:p>
          <a:p>
            <a:pPr lvl="1"/>
            <a:r>
              <a:rPr lang="en-US" dirty="0" smtClean="0"/>
              <a:t>Pro/Enterprise</a:t>
            </a:r>
            <a:r>
              <a:rPr lang="en-US" dirty="0"/>
              <a:t> </a:t>
            </a:r>
            <a:r>
              <a:rPr lang="en-US" dirty="0" smtClean="0"/>
              <a:t>(1Q2014)</a:t>
            </a:r>
          </a:p>
          <a:p>
            <a:pPr lvl="2"/>
            <a:r>
              <a:rPr lang="en-US" dirty="0" smtClean="0"/>
              <a:t>No data size limits</a:t>
            </a:r>
          </a:p>
          <a:p>
            <a:pPr lvl="2"/>
            <a:r>
              <a:rPr lang="en-US" dirty="0" smtClean="0"/>
              <a:t>Weighted stats, save stats, classification auto-harmonizer, batch mode, add database formats &amp; star schema</a:t>
            </a:r>
            <a:endParaRPr lang="en-US" dirty="0"/>
          </a:p>
          <a:p>
            <a:pPr lvl="2"/>
            <a:r>
              <a:rPr lang="en-US" dirty="0" smtClean="0"/>
              <a:t>Subscription: $29/3-month or $99/year , Perpetual: $279</a:t>
            </a:r>
          </a:p>
          <a:p>
            <a:pPr lvl="1"/>
            <a:r>
              <a:rPr lang="en-US" dirty="0" err="1" smtClean="0"/>
              <a:t>LavaCore</a:t>
            </a:r>
            <a:r>
              <a:rPr lang="en-US" dirty="0" smtClean="0"/>
              <a:t>: 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urrently internal only, planning for OEM</a:t>
            </a:r>
          </a:p>
          <a:p>
            <a:pPr lvl="1"/>
            <a:endParaRPr lang="en-US" dirty="0" smtClean="0"/>
          </a:p>
        </p:txBody>
      </p:sp>
      <p:pic>
        <p:nvPicPr>
          <p:cNvPr id="15" name="Picture 14" descr="DF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pic>
        <p:nvPicPr>
          <p:cNvPr id="16" name="Picture 15" descr="SledgeHammerText_313x5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715" y="779904"/>
            <a:ext cx="2689784" cy="4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4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Future Features (demand driven)</a:t>
            </a:r>
          </a:p>
          <a:p>
            <a:pPr lvl="1"/>
            <a:r>
              <a:rPr lang="en-US" dirty="0"/>
              <a:t>Support additional input/output formats</a:t>
            </a:r>
          </a:p>
          <a:p>
            <a:pPr lvl="1"/>
            <a:r>
              <a:rPr lang="en-US" dirty="0" smtClean="0"/>
              <a:t>Additional </a:t>
            </a:r>
            <a:r>
              <a:rPr lang="en-US" dirty="0"/>
              <a:t>ID generators</a:t>
            </a:r>
          </a:p>
          <a:p>
            <a:r>
              <a:rPr lang="en-US" dirty="0" err="1" smtClean="0"/>
              <a:t>DataWeaver</a:t>
            </a:r>
            <a:r>
              <a:rPr lang="en-US" dirty="0" smtClean="0"/>
              <a:t> (data transformation)</a:t>
            </a:r>
            <a:endParaRPr lang="en-US" dirty="0"/>
          </a:p>
          <a:p>
            <a:pPr lvl="1"/>
            <a:r>
              <a:rPr lang="en-US" dirty="0" smtClean="0"/>
              <a:t>Produce data subset</a:t>
            </a:r>
          </a:p>
          <a:p>
            <a:pPr lvl="1"/>
            <a:r>
              <a:rPr lang="en-US" dirty="0" smtClean="0"/>
              <a:t>Synthetic data generators</a:t>
            </a:r>
          </a:p>
          <a:p>
            <a:pPr lvl="1"/>
            <a:r>
              <a:rPr lang="en-US" dirty="0" smtClean="0"/>
              <a:t>Disclosure control</a:t>
            </a:r>
          </a:p>
          <a:p>
            <a:r>
              <a:rPr lang="en-US" dirty="0" err="1" smtClean="0"/>
              <a:t>DataForge</a:t>
            </a:r>
            <a:r>
              <a:rPr lang="en-US" dirty="0" smtClean="0"/>
              <a:t> Online (2014)</a:t>
            </a:r>
          </a:p>
          <a:p>
            <a:pPr lvl="1"/>
            <a:r>
              <a:rPr lang="en-US" dirty="0" smtClean="0"/>
              <a:t>Free and pay as you go services</a:t>
            </a:r>
          </a:p>
          <a:p>
            <a:r>
              <a:rPr lang="en-US" dirty="0" err="1" smtClean="0"/>
              <a:t>DataForge</a:t>
            </a:r>
            <a:r>
              <a:rPr lang="en-US" dirty="0" smtClean="0"/>
              <a:t> Services (available today)</a:t>
            </a:r>
          </a:p>
          <a:p>
            <a:pPr lvl="1"/>
            <a:r>
              <a:rPr lang="en-US" dirty="0" smtClean="0"/>
              <a:t>Community support in Google groups</a:t>
            </a:r>
          </a:p>
          <a:p>
            <a:pPr lvl="1"/>
            <a:r>
              <a:rPr lang="en-US" dirty="0" smtClean="0"/>
              <a:t>MTNA: pay as you go / annual support, custom developments</a:t>
            </a:r>
          </a:p>
          <a:p>
            <a:pPr lvl="1"/>
            <a:r>
              <a:rPr lang="en-US" dirty="0" smtClean="0"/>
              <a:t>IDMS: data/metadata management / processing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5" name="Picture 4" descr="DF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pic>
        <p:nvPicPr>
          <p:cNvPr id="6" name="Picture 5" descr="SledgeHammerText_313x5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715" y="779904"/>
            <a:ext cx="2689784" cy="4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4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ledgeHamm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97" y="1589196"/>
            <a:ext cx="3217471" cy="2190225"/>
          </a:xfrm>
          <a:prstGeom prst="rect">
            <a:avLst/>
          </a:prstGeom>
        </p:spPr>
      </p:pic>
      <p:pic>
        <p:nvPicPr>
          <p:cNvPr id="5" name="Picture 4" descr="DFTex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323" y="207910"/>
            <a:ext cx="2944466" cy="710208"/>
          </a:xfrm>
          <a:prstGeom prst="rect">
            <a:avLst/>
          </a:prstGeom>
        </p:spPr>
      </p:pic>
      <p:pic>
        <p:nvPicPr>
          <p:cNvPr id="6" name="Picture 5" descr="SledgeHammerText_313x5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715" y="779904"/>
            <a:ext cx="2689784" cy="429678"/>
          </a:xfrm>
          <a:prstGeom prst="rect">
            <a:avLst/>
          </a:prstGeom>
        </p:spPr>
      </p:pic>
      <p:pic>
        <p:nvPicPr>
          <p:cNvPr id="2" name="Picture 1" descr="SledgeHammer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19" y="1250075"/>
            <a:ext cx="3224715" cy="2195156"/>
          </a:xfrm>
          <a:prstGeom prst="rect">
            <a:avLst/>
          </a:prstGeom>
        </p:spPr>
      </p:pic>
      <p:pic>
        <p:nvPicPr>
          <p:cNvPr id="4" name="Picture 3" descr="SledgeHammer-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445" y="1255006"/>
            <a:ext cx="3217472" cy="2190225"/>
          </a:xfrm>
          <a:prstGeom prst="rect">
            <a:avLst/>
          </a:prstGeom>
        </p:spPr>
      </p:pic>
      <p:pic>
        <p:nvPicPr>
          <p:cNvPr id="7" name="Picture 6" descr="SledgeHammer-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0" y="2924819"/>
            <a:ext cx="3217471" cy="2190225"/>
          </a:xfrm>
          <a:prstGeom prst="rect">
            <a:avLst/>
          </a:prstGeom>
        </p:spPr>
      </p:pic>
      <p:pic>
        <p:nvPicPr>
          <p:cNvPr id="8" name="Picture 7" descr="SledgeHammer-4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21" y="4272260"/>
            <a:ext cx="3253073" cy="2214461"/>
          </a:xfrm>
          <a:prstGeom prst="rect">
            <a:avLst/>
          </a:prstGeom>
        </p:spPr>
      </p:pic>
      <p:pic>
        <p:nvPicPr>
          <p:cNvPr id="9" name="Picture 8" descr="SledgeHammer-5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644" y="2900583"/>
            <a:ext cx="3253075" cy="2214461"/>
          </a:xfrm>
          <a:prstGeom prst="rect">
            <a:avLst/>
          </a:prstGeom>
        </p:spPr>
      </p:pic>
      <p:pic>
        <p:nvPicPr>
          <p:cNvPr id="10" name="Picture 9" descr="SledgeHammer-6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557" y="4272260"/>
            <a:ext cx="3330795" cy="226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8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Products</a:t>
            </a:r>
            <a:endParaRPr lang="en-US" dirty="0"/>
          </a:p>
        </p:txBody>
      </p:sp>
      <p:pic>
        <p:nvPicPr>
          <p:cNvPr id="4" name="Picture 3" descr="dataweaver_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701" y="1127670"/>
            <a:ext cx="1388816" cy="1388816"/>
          </a:xfrm>
          <a:prstGeom prst="rect">
            <a:avLst/>
          </a:prstGeom>
        </p:spPr>
      </p:pic>
      <p:pic>
        <p:nvPicPr>
          <p:cNvPr id="5" name="Picture 4" descr="asmurex_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237" y="1127670"/>
            <a:ext cx="1388816" cy="1388816"/>
          </a:xfrm>
          <a:prstGeom prst="rect">
            <a:avLst/>
          </a:prstGeom>
        </p:spPr>
      </p:pic>
      <p:pic>
        <p:nvPicPr>
          <p:cNvPr id="6" name="Picture 5" descr="caelum_logo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539" y="1127670"/>
            <a:ext cx="1388816" cy="1388816"/>
          </a:xfrm>
          <a:prstGeom prst="rect">
            <a:avLst/>
          </a:prstGeom>
        </p:spPr>
      </p:pic>
      <p:pic>
        <p:nvPicPr>
          <p:cNvPr id="7" name="Picture 6" descr="sledgehammer_logo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12" y="1127670"/>
            <a:ext cx="1388816" cy="1388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695" y="2491873"/>
            <a:ext cx="21741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316EAD"/>
                </a:solidFill>
                <a:latin typeface="Century Gothic"/>
                <a:cs typeface="Century Gothic"/>
              </a:rPr>
              <a:t>SledgeHammer</a:t>
            </a:r>
            <a:endParaRPr lang="en-US" sz="1600" dirty="0" smtClean="0">
              <a:solidFill>
                <a:srgbClr val="316EAD"/>
              </a:solidFill>
              <a:latin typeface="Century Gothic"/>
              <a:cs typeface="Century Gothic"/>
            </a:endParaRPr>
          </a:p>
          <a:p>
            <a:pPr algn="ctr"/>
            <a:r>
              <a:rPr lang="en-US" sz="1600" dirty="0" smtClean="0"/>
              <a:t>Data/metadata</a:t>
            </a:r>
          </a:p>
          <a:p>
            <a:pPr algn="ctr"/>
            <a:r>
              <a:rPr lang="en-US" sz="1600" dirty="0" smtClean="0"/>
              <a:t>Management</a:t>
            </a:r>
          </a:p>
          <a:p>
            <a:pPr algn="ctr"/>
            <a:r>
              <a:rPr lang="en-US" sz="1600" dirty="0" smtClean="0"/>
              <a:t>(free/paid)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2290821" y="2512493"/>
            <a:ext cx="21741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316EAD"/>
                </a:solidFill>
                <a:latin typeface="Century Gothic"/>
                <a:cs typeface="Century Gothic"/>
              </a:rPr>
              <a:t>Caelum</a:t>
            </a:r>
          </a:p>
          <a:p>
            <a:pPr algn="ctr"/>
            <a:r>
              <a:rPr lang="en-US" sz="1600" dirty="0" smtClean="0"/>
              <a:t>Documentation</a:t>
            </a:r>
          </a:p>
          <a:p>
            <a:pPr algn="ctr"/>
            <a:r>
              <a:rPr lang="en-US" sz="1600" dirty="0" smtClean="0"/>
              <a:t>XML Transform</a:t>
            </a:r>
          </a:p>
          <a:p>
            <a:pPr algn="ctr"/>
            <a:r>
              <a:rPr lang="en-US" sz="1600" dirty="0" smtClean="0"/>
              <a:t>(free)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508413" y="2535859"/>
            <a:ext cx="21741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solidFill>
                  <a:srgbClr val="316EAD"/>
                </a:solidFill>
                <a:latin typeface="Century Gothic"/>
                <a:cs typeface="Century Gothic"/>
              </a:rPr>
              <a:t>DataWeaver</a:t>
            </a:r>
            <a:endParaRPr lang="en-US" sz="1600" dirty="0" smtClean="0">
              <a:solidFill>
                <a:srgbClr val="316EAD"/>
              </a:solidFill>
              <a:latin typeface="Century Gothic"/>
              <a:cs typeface="Century Gothic"/>
            </a:endParaRPr>
          </a:p>
          <a:p>
            <a:pPr algn="ctr"/>
            <a:r>
              <a:rPr lang="en-US" sz="1600" dirty="0" smtClean="0"/>
              <a:t>Data subsets, derivation, transforms</a:t>
            </a:r>
          </a:p>
          <a:p>
            <a:pPr algn="ctr"/>
            <a:r>
              <a:rPr lang="en-US" sz="1600" dirty="0" smtClean="0"/>
              <a:t>(internal/project)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682539" y="2515613"/>
            <a:ext cx="21741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solidFill>
                  <a:srgbClr val="316EAD"/>
                </a:solidFill>
                <a:latin typeface="Century Gothic"/>
                <a:cs typeface="Century Gothic"/>
              </a:rPr>
              <a:t>Asmurex</a:t>
            </a:r>
            <a:endParaRPr lang="en-US" sz="1600" dirty="0" smtClean="0">
              <a:solidFill>
                <a:srgbClr val="316EAD"/>
              </a:solidFill>
              <a:latin typeface="Century Gothic"/>
              <a:cs typeface="Century Gothic"/>
            </a:endParaRPr>
          </a:p>
          <a:p>
            <a:pPr algn="ctr"/>
            <a:r>
              <a:rPr lang="en-US" sz="1600" dirty="0" smtClean="0"/>
              <a:t>ASCII multi record</a:t>
            </a:r>
          </a:p>
          <a:p>
            <a:pPr algn="ctr"/>
            <a:r>
              <a:rPr lang="en-US" sz="1600" dirty="0" smtClean="0"/>
              <a:t>Extraction</a:t>
            </a:r>
          </a:p>
          <a:p>
            <a:pPr algn="ctr"/>
            <a:r>
              <a:rPr lang="en-US" sz="1600" dirty="0" smtClean="0"/>
              <a:t>(free)</a:t>
            </a:r>
            <a:endParaRPr lang="en-US" sz="1600" dirty="0"/>
          </a:p>
        </p:txBody>
      </p:sp>
      <p:pic>
        <p:nvPicPr>
          <p:cNvPr id="16" name="Picture 15" descr="sledgehammer_logo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12" y="3599869"/>
            <a:ext cx="1388816" cy="13888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-2004" y="4964072"/>
            <a:ext cx="24352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316EAD"/>
                </a:solidFill>
                <a:latin typeface="Century Gothic"/>
                <a:cs typeface="Century Gothic"/>
              </a:rPr>
              <a:t>SledgeHammer--BI</a:t>
            </a:r>
            <a:endParaRPr lang="en-US" sz="1600" dirty="0" smtClean="0">
              <a:solidFill>
                <a:srgbClr val="316EAD"/>
              </a:solidFill>
              <a:latin typeface="Century Gothic"/>
              <a:cs typeface="Century Gothic"/>
            </a:endParaRPr>
          </a:p>
          <a:p>
            <a:pPr algn="ctr"/>
            <a:r>
              <a:rPr lang="en-US" sz="1600" dirty="0" smtClean="0"/>
              <a:t>Integration with Business Intelligence</a:t>
            </a:r>
          </a:p>
          <a:p>
            <a:pPr algn="ctr"/>
            <a:r>
              <a:rPr lang="en-US" sz="1600" dirty="0" smtClean="0"/>
              <a:t>(internal/projects)</a:t>
            </a:r>
            <a:endParaRPr lang="en-US" sz="16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0312" y="3655725"/>
            <a:ext cx="2084635" cy="12608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90821" y="4964072"/>
            <a:ext cx="217412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316EAD"/>
                </a:solidFill>
                <a:latin typeface="Century Gothic"/>
                <a:cs typeface="Century Gothic"/>
              </a:rPr>
              <a:t>Survey Manager</a:t>
            </a:r>
          </a:p>
          <a:p>
            <a:pPr algn="ctr"/>
            <a:r>
              <a:rPr lang="en-US" sz="1600" dirty="0" smtClean="0"/>
              <a:t>DDI 3.1 Editor for simple </a:t>
            </a:r>
            <a:r>
              <a:rPr lang="en-US" sz="1600" dirty="0" smtClean="0"/>
              <a:t>projects </a:t>
            </a:r>
            <a:r>
              <a:rPr lang="en-US" sz="1600" dirty="0" smtClean="0"/>
              <a:t>or training</a:t>
            </a:r>
          </a:p>
          <a:p>
            <a:pPr algn="ctr"/>
            <a:r>
              <a:rPr lang="en-US" sz="1600" dirty="0" smtClean="0"/>
              <a:t>(OSS)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075" y="3655724"/>
            <a:ext cx="2084634" cy="126086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57997" y="4985902"/>
            <a:ext cx="217412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316EAD"/>
                </a:solidFill>
                <a:latin typeface="Century Gothic"/>
                <a:cs typeface="Century Gothic"/>
              </a:rPr>
              <a:t>DMP Editor</a:t>
            </a:r>
          </a:p>
          <a:p>
            <a:pPr algn="ctr"/>
            <a:r>
              <a:rPr lang="en-US" sz="1600" dirty="0" smtClean="0"/>
              <a:t>Simple editor for </a:t>
            </a:r>
            <a:br>
              <a:rPr lang="en-US" sz="1600" dirty="0" smtClean="0"/>
            </a:br>
            <a:r>
              <a:rPr lang="en-US" sz="1600" dirty="0" smtClean="0"/>
              <a:t>Data </a:t>
            </a:r>
            <a:r>
              <a:rPr lang="en-US" sz="1600" dirty="0"/>
              <a:t>M</a:t>
            </a:r>
            <a:r>
              <a:rPr lang="en-US" sz="1600" dirty="0" smtClean="0"/>
              <a:t>anagement Plan</a:t>
            </a:r>
          </a:p>
          <a:p>
            <a:pPr algn="ctr"/>
            <a:r>
              <a:rPr lang="en-US" sz="1600" dirty="0" smtClean="0"/>
              <a:t>(OSS)</a:t>
            </a:r>
            <a:endParaRPr lang="en-US" sz="1600" dirty="0"/>
          </a:p>
        </p:txBody>
      </p:sp>
      <p:pic>
        <p:nvPicPr>
          <p:cNvPr id="9" name="Picture 8" descr="cms_snz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44" y="3655724"/>
            <a:ext cx="1776001" cy="118400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82539" y="5003135"/>
            <a:ext cx="21741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316EAD"/>
                </a:solidFill>
                <a:latin typeface="Century Gothic"/>
                <a:cs typeface="Century Gothic"/>
              </a:rPr>
              <a:t>CMS</a:t>
            </a:r>
          </a:p>
          <a:p>
            <a:pPr algn="ctr"/>
            <a:r>
              <a:rPr lang="en-US" sz="1600" dirty="0" smtClean="0"/>
              <a:t>Classification Management System</a:t>
            </a:r>
          </a:p>
          <a:p>
            <a:pPr algn="ctr"/>
            <a:r>
              <a:rPr lang="en-US" sz="1600" dirty="0"/>
              <a:t>(2014Q3 / paid )</a:t>
            </a:r>
          </a:p>
        </p:txBody>
      </p:sp>
    </p:spTree>
    <p:extLst>
      <p:ext uri="{BB962C8B-B14F-4D97-AF65-F5344CB8AC3E}">
        <p14:creationId xmlns:p14="http://schemas.microsoft.com/office/powerpoint/2010/main" val="254644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8" y="757487"/>
            <a:ext cx="941105" cy="9411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372" y="828707"/>
            <a:ext cx="941105" cy="9411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98" y="3662900"/>
            <a:ext cx="941105" cy="9411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394" y="3662900"/>
            <a:ext cx="941105" cy="9411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20698" y="1358610"/>
            <a:ext cx="43015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Expert Advisory and Technical Assistance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Establishment of corporate data management strategies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Adoption of metadata standards and related best practices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Development of technical specifications for data management infrastructure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Statistical and scientific data management technologies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6758" y="1358610"/>
            <a:ext cx="40879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Application Development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Statistical and Scientific data management solutions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Solutions include production, archiving, dissemination, analysis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Web-based data delivery solutions (web services, portals, secure environments)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Standards-based data management tools/utilities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698" y="4379843"/>
            <a:ext cx="478824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Training in and Support for: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Data Documentation Initiative (DDI)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Statistical Data and Metadata Exchange (SDMX)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Generic Statistical Business Process Model (GSBPM)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Generic Statistical Information Model (GSIM)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General data  and metadata management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671" y="4390344"/>
            <a:ext cx="4087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Leverage New Technologies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Help introduce new state-of-the-art technologies to the community and customers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Deployment, hosting, and management of cloud-based infrastructures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1238" y="958500"/>
            <a:ext cx="12685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65000"/>
                  </a:schemeClr>
                </a:solidFill>
                <a:latin typeface="Century Gothic"/>
                <a:cs typeface="Century Gothic"/>
              </a:rPr>
              <a:t>Expertise</a:t>
            </a:r>
            <a:endParaRPr lang="en-US" sz="2000" dirty="0">
              <a:solidFill>
                <a:schemeClr val="tx1">
                  <a:lumMod val="65000"/>
                </a:schemeClr>
              </a:solidFill>
              <a:latin typeface="Century Gothic"/>
              <a:cs typeface="Century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57375" y="1009478"/>
            <a:ext cx="18958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65000"/>
                  </a:schemeClr>
                </a:solidFill>
                <a:latin typeface="Century Gothic"/>
                <a:cs typeface="Century Gothic"/>
              </a:rPr>
              <a:t>Development</a:t>
            </a:r>
            <a:endParaRPr lang="en-US" sz="2000" dirty="0">
              <a:solidFill>
                <a:schemeClr val="tx1">
                  <a:lumMod val="65000"/>
                </a:schemeClr>
              </a:solidFill>
              <a:latin typeface="Century Gothic"/>
              <a:cs typeface="Century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69008" y="3934381"/>
            <a:ext cx="1126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65000"/>
                  </a:schemeClr>
                </a:solidFill>
                <a:latin typeface="Century Gothic"/>
                <a:cs typeface="Century Gothic"/>
              </a:rPr>
              <a:t>Training</a:t>
            </a:r>
            <a:endParaRPr lang="en-US" sz="2000" dirty="0">
              <a:solidFill>
                <a:schemeClr val="tx1">
                  <a:lumMod val="65000"/>
                </a:schemeClr>
              </a:solidFill>
              <a:latin typeface="Century Gothic"/>
              <a:cs typeface="Century Gothi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79499" y="3949689"/>
            <a:ext cx="1804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65000"/>
                  </a:schemeClr>
                </a:solidFill>
                <a:latin typeface="Century Gothic"/>
                <a:cs typeface="Century Gothic"/>
              </a:rPr>
              <a:t>Technologies</a:t>
            </a:r>
            <a:endParaRPr lang="en-US" sz="2000" dirty="0">
              <a:solidFill>
                <a:schemeClr val="tx1">
                  <a:lumMod val="65000"/>
                </a:schemeClr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62487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DFTe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311" y="2389563"/>
            <a:ext cx="2944466" cy="710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5585" y="3515221"/>
            <a:ext cx="766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hlinkClick r:id="rId3"/>
              </a:rPr>
              <a:t>http://www.openmetadata.org/</a:t>
            </a:r>
            <a:r>
              <a:rPr lang="en-US" sz="2400" dirty="0" smtClean="0">
                <a:hlinkClick r:id="rId3"/>
              </a:rPr>
              <a:t>dataforge/sledgehammer</a:t>
            </a:r>
            <a:endParaRPr lang="en-US" sz="24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3844342" y="4267846"/>
            <a:ext cx="15147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DEMO</a:t>
            </a:r>
          </a:p>
        </p:txBody>
      </p:sp>
      <p:pic>
        <p:nvPicPr>
          <p:cNvPr id="7" name="Picture 6" descr="Sledgehammer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848" y="819298"/>
            <a:ext cx="1694745" cy="1783139"/>
          </a:xfrm>
          <a:prstGeom prst="rect">
            <a:avLst/>
          </a:prstGeom>
        </p:spPr>
      </p:pic>
      <p:pic>
        <p:nvPicPr>
          <p:cNvPr id="8" name="Picture 7" descr="SledgeHammerText_313x50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715" y="2999623"/>
            <a:ext cx="2689784" cy="4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6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Story">
  <a:themeElements>
    <a:clrScheme name="Story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Story">
      <a:maj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inorFont>
    </a:fontScheme>
    <a:fmtScheme name="Story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50000"/>
                <a:lumMod val="120000"/>
              </a:schemeClr>
              <a:schemeClr val="phClr">
                <a:satMod val="350000"/>
                <a:lumMod val="150000"/>
              </a:schemeClr>
            </a:duotone>
          </a:blip>
          <a:tile tx="0" ty="0" sx="20000" sy="20000" flip="none" algn="ctr"/>
        </a:blipFill>
        <a:gradFill rotWithShape="1">
          <a:gsLst>
            <a:gs pos="0">
              <a:schemeClr val="phClr">
                <a:shade val="20000"/>
                <a:satMod val="130000"/>
              </a:schemeClr>
            </a:gs>
            <a:gs pos="50000">
              <a:schemeClr val="phClr">
                <a:shade val="90000"/>
                <a:satMod val="130000"/>
              </a:schemeClr>
            </a:gs>
            <a:gs pos="100000">
              <a:schemeClr val="phClr">
                <a:shade val="100000"/>
                <a:satMod val="200000"/>
                <a:lumMod val="12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2100000" sx="104000" sy="104000" algn="br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127000" dist="63500" dir="5400000" sx="103000" sy="103000" rotWithShape="0">
              <a:srgbClr val="000000">
                <a:alpha val="75000"/>
              </a:srgbClr>
            </a:outerShdw>
          </a:effectLst>
          <a:scene3d>
            <a:camera prst="perspectiveFront" fov="3000000"/>
            <a:lightRig rig="balanced" dir="t">
              <a:rot lat="0" lon="0" rev="18000000"/>
            </a:lightRig>
          </a:scene3d>
          <a:sp3d prstMaterial="plastic">
            <a:bevelT w="254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50000"/>
              </a:schemeClr>
              <a:schemeClr val="phClr">
                <a:tint val="60000"/>
                <a:satMod val="4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Story.thmx</Template>
  <TotalTime>22972</TotalTime>
  <Words>1024</Words>
  <Application>Microsoft Macintosh PowerPoint</Application>
  <PresentationFormat>On-screen Show (4:3)</PresentationFormat>
  <Paragraphs>137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Story</vt:lpstr>
      <vt:lpstr>PowerPoint Presentation</vt:lpstr>
      <vt:lpstr>The &lt;Meta&gt;Data Dance</vt:lpstr>
      <vt:lpstr>The &lt;Meta/&gt;Data Dance</vt:lpstr>
      <vt:lpstr>The &lt;Meta&gt;Data Dance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Products</vt:lpstr>
      <vt:lpstr>Services</vt:lpstr>
      <vt:lpstr>PowerPoint Presentation</vt:lpstr>
    </vt:vector>
  </TitlesOfParts>
  <Company>Metadata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Pascal Heus</dc:creator>
  <cp:lastModifiedBy>Pascal Heus</cp:lastModifiedBy>
  <cp:revision>236</cp:revision>
  <dcterms:created xsi:type="dcterms:W3CDTF">2013-05-07T11:42:42Z</dcterms:created>
  <dcterms:modified xsi:type="dcterms:W3CDTF">2013-11-28T10:39:59Z</dcterms:modified>
</cp:coreProperties>
</file>