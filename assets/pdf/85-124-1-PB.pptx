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6"/>
  </p:notesMasterIdLst>
  <p:handoutMasterIdLst>
    <p:handoutMasterId r:id="rId117"/>
  </p:handoutMasterIdLst>
  <p:sldIdLst>
    <p:sldId id="256" r:id="rId2"/>
    <p:sldId id="418" r:id="rId3"/>
    <p:sldId id="413" r:id="rId4"/>
    <p:sldId id="354" r:id="rId5"/>
    <p:sldId id="409" r:id="rId6"/>
    <p:sldId id="258" r:id="rId7"/>
    <p:sldId id="276" r:id="rId8"/>
    <p:sldId id="404" r:id="rId9"/>
    <p:sldId id="405" r:id="rId10"/>
    <p:sldId id="355" r:id="rId11"/>
    <p:sldId id="351" r:id="rId12"/>
    <p:sldId id="352" r:id="rId13"/>
    <p:sldId id="356" r:id="rId14"/>
    <p:sldId id="326" r:id="rId15"/>
    <p:sldId id="269" r:id="rId16"/>
    <p:sldId id="349" r:id="rId17"/>
    <p:sldId id="261" r:id="rId18"/>
    <p:sldId id="263" r:id="rId19"/>
    <p:sldId id="262" r:id="rId20"/>
    <p:sldId id="264" r:id="rId21"/>
    <p:sldId id="410" r:id="rId22"/>
    <p:sldId id="357" r:id="rId23"/>
    <p:sldId id="390" r:id="rId24"/>
    <p:sldId id="403" r:id="rId25"/>
    <p:sldId id="368" r:id="rId26"/>
    <p:sldId id="369" r:id="rId27"/>
    <p:sldId id="370" r:id="rId28"/>
    <p:sldId id="371" r:id="rId29"/>
    <p:sldId id="372" r:id="rId30"/>
    <p:sldId id="358" r:id="rId31"/>
    <p:sldId id="407" r:id="rId32"/>
    <p:sldId id="408" r:id="rId33"/>
    <p:sldId id="497" r:id="rId34"/>
    <p:sldId id="359" r:id="rId35"/>
    <p:sldId id="417" r:id="rId36"/>
    <p:sldId id="415" r:id="rId37"/>
    <p:sldId id="421" r:id="rId38"/>
    <p:sldId id="416" r:id="rId39"/>
    <p:sldId id="400" r:id="rId40"/>
    <p:sldId id="401" r:id="rId41"/>
    <p:sldId id="422" r:id="rId42"/>
    <p:sldId id="423" r:id="rId43"/>
    <p:sldId id="420" r:id="rId44"/>
    <p:sldId id="425" r:id="rId45"/>
    <p:sldId id="426" r:id="rId46"/>
    <p:sldId id="427" r:id="rId47"/>
    <p:sldId id="428" r:id="rId48"/>
    <p:sldId id="429" r:id="rId49"/>
    <p:sldId id="430" r:id="rId50"/>
    <p:sldId id="431" r:id="rId51"/>
    <p:sldId id="432" r:id="rId52"/>
    <p:sldId id="433" r:id="rId53"/>
    <p:sldId id="434" r:id="rId54"/>
    <p:sldId id="435" r:id="rId55"/>
    <p:sldId id="436" r:id="rId56"/>
    <p:sldId id="437" r:id="rId57"/>
    <p:sldId id="438" r:id="rId58"/>
    <p:sldId id="439" r:id="rId59"/>
    <p:sldId id="440" r:id="rId60"/>
    <p:sldId id="441" r:id="rId61"/>
    <p:sldId id="442" r:id="rId62"/>
    <p:sldId id="443" r:id="rId63"/>
    <p:sldId id="444" r:id="rId64"/>
    <p:sldId id="445" r:id="rId65"/>
    <p:sldId id="446" r:id="rId66"/>
    <p:sldId id="447" r:id="rId67"/>
    <p:sldId id="448" r:id="rId68"/>
    <p:sldId id="449" r:id="rId69"/>
    <p:sldId id="450" r:id="rId70"/>
    <p:sldId id="451" r:id="rId71"/>
    <p:sldId id="452" r:id="rId72"/>
    <p:sldId id="453" r:id="rId73"/>
    <p:sldId id="454" r:id="rId74"/>
    <p:sldId id="455" r:id="rId75"/>
    <p:sldId id="456" r:id="rId76"/>
    <p:sldId id="457" r:id="rId77"/>
    <p:sldId id="458" r:id="rId78"/>
    <p:sldId id="459" r:id="rId79"/>
    <p:sldId id="460" r:id="rId80"/>
    <p:sldId id="461" r:id="rId81"/>
    <p:sldId id="462" r:id="rId82"/>
    <p:sldId id="463" r:id="rId83"/>
    <p:sldId id="464" r:id="rId84"/>
    <p:sldId id="465" r:id="rId85"/>
    <p:sldId id="466" r:id="rId86"/>
    <p:sldId id="467" r:id="rId87"/>
    <p:sldId id="468" r:id="rId88"/>
    <p:sldId id="469" r:id="rId89"/>
    <p:sldId id="470" r:id="rId90"/>
    <p:sldId id="471" r:id="rId91"/>
    <p:sldId id="472" r:id="rId92"/>
    <p:sldId id="473" r:id="rId93"/>
    <p:sldId id="474" r:id="rId94"/>
    <p:sldId id="475" r:id="rId95"/>
    <p:sldId id="476" r:id="rId96"/>
    <p:sldId id="477" r:id="rId97"/>
    <p:sldId id="478" r:id="rId98"/>
    <p:sldId id="479" r:id="rId99"/>
    <p:sldId id="481" r:id="rId100"/>
    <p:sldId id="482" r:id="rId101"/>
    <p:sldId id="483" r:id="rId102"/>
    <p:sldId id="484" r:id="rId103"/>
    <p:sldId id="485" r:id="rId104"/>
    <p:sldId id="486" r:id="rId105"/>
    <p:sldId id="487" r:id="rId106"/>
    <p:sldId id="488" r:id="rId107"/>
    <p:sldId id="489" r:id="rId108"/>
    <p:sldId id="490" r:id="rId109"/>
    <p:sldId id="491" r:id="rId110"/>
    <p:sldId id="492" r:id="rId111"/>
    <p:sldId id="493" r:id="rId112"/>
    <p:sldId id="494" r:id="rId113"/>
    <p:sldId id="495" r:id="rId114"/>
    <p:sldId id="496" r:id="rId115"/>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7FF53797-D2A2-4A2A-AD57-D8F1E32985C7}">
          <p14:sldIdLst>
            <p14:sldId id="256"/>
            <p14:sldId id="418"/>
          </p14:sldIdLst>
        </p14:section>
        <p14:section name="PART I" id="{ECC407D0-36C4-4195-B5A1-6572DB369EAC}">
          <p14:sldIdLst>
            <p14:sldId id="413"/>
          </p14:sldIdLst>
        </p14:section>
        <p14:section name="Welcome and Outline" id="{7196183B-C557-446A-88AD-B180B84988CA}">
          <p14:sldIdLst>
            <p14:sldId id="354"/>
            <p14:sldId id="409"/>
            <p14:sldId id="258"/>
            <p14:sldId id="276"/>
            <p14:sldId id="404"/>
            <p14:sldId id="405"/>
          </p14:sldIdLst>
        </p14:section>
        <p14:section name="DDI in 60 Seconds" id="{ECFCC608-1BB4-41EE-A245-75A5EEE5928B}">
          <p14:sldIdLst>
            <p14:sldId id="355"/>
            <p14:sldId id="351"/>
            <p14:sldId id="352"/>
          </p14:sldIdLst>
        </p14:section>
        <p14:section name="Processes" id="{CECC8ED7-CC77-41D5-A398-0C4FC27C20BF}">
          <p14:sldIdLst>
            <p14:sldId id="356"/>
            <p14:sldId id="326"/>
            <p14:sldId id="269"/>
            <p14:sldId id="349"/>
            <p14:sldId id="261"/>
            <p14:sldId id="263"/>
            <p14:sldId id="262"/>
            <p14:sldId id="264"/>
            <p14:sldId id="410"/>
          </p14:sldIdLst>
        </p14:section>
        <p14:section name="DDI Standard" id="{5268A8B5-AB67-4AD7-BFF4-ACDF464F4DD8}">
          <p14:sldIdLst>
            <p14:sldId id="357"/>
            <p14:sldId id="390"/>
            <p14:sldId id="403"/>
            <p14:sldId id="368"/>
            <p14:sldId id="369"/>
            <p14:sldId id="370"/>
            <p14:sldId id="371"/>
            <p14:sldId id="372"/>
          </p14:sldIdLst>
        </p14:section>
        <p14:section name="Tools" id="{8DBA7E9D-773D-484F-8BAD-7558E49F56BA}">
          <p14:sldIdLst>
            <p14:sldId id="358"/>
            <p14:sldId id="407"/>
            <p14:sldId id="408"/>
            <p14:sldId id="497"/>
          </p14:sldIdLst>
        </p14:section>
        <p14:section name="Codebook and Lifecycle" id="{00F5411B-179F-4776-A8CA-1B0B091F9A3D}">
          <p14:sldIdLst>
            <p14:sldId id="359"/>
            <p14:sldId id="417"/>
            <p14:sldId id="415"/>
            <p14:sldId id="421"/>
            <p14:sldId id="416"/>
            <p14:sldId id="400"/>
            <p14:sldId id="401"/>
            <p14:sldId id="422"/>
            <p14:sldId id="423"/>
            <p14:sldId id="420"/>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1"/>
            <p14:sldId id="482"/>
            <p14:sldId id="483"/>
            <p14:sldId id="484"/>
            <p14:sldId id="485"/>
            <p14:sldId id="486"/>
            <p14:sldId id="487"/>
            <p14:sldId id="488"/>
            <p14:sldId id="489"/>
            <p14:sldId id="490"/>
            <p14:sldId id="491"/>
            <p14:sldId id="492"/>
            <p14:sldId id="493"/>
            <p14:sldId id="494"/>
            <p14:sldId id="495"/>
            <p14:sldId id="496"/>
          </p14:sldIdLst>
        </p14:section>
        <p14:section name="PART II" id="{3F22505F-9246-426D-B313-C78F85014CB5}">
          <p14:sldIdLst/>
        </p14:section>
        <p14:section name="DDI Lifecycle in Detail" id="{04D49D7C-765D-4DAF-8190-8CFF09191B13}">
          <p14:sldIdLst/>
        </p14:section>
        <p14:section name="Schemes and Reuse" id="{08C5D418-DE99-4B32-858C-A18B587C8DB8}">
          <p14:sldIdLst/>
        </p14:section>
        <p14:section name="Questionnaire Example" id="{489685A1-AB5C-4AD8-B55F-5E581BCB129E}">
          <p14:sldIdLst/>
        </p14:section>
        <p14:section name="Comparison" id="{FE60EE95-5113-4904-B177-24E608227C34}">
          <p14:sldIdLst/>
        </p14:section>
        <p14:section name="Your Questions" id="{E06106BF-621B-4CB7-B986-1AC552E38B3E}">
          <p14:sldIdLst/>
        </p14:section>
        <p14:section name="Conclusion" id="{D58D8EC5-0C85-4D6C-9C54-D132C1BD7EC5}">
          <p14:sldIdLst/>
        </p14:section>
        <p14:section name="Backup" id="{ACA5E6E9-F3D3-44FB-BFC4-2F2FA64EB7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2" autoAdjust="0"/>
    <p:restoredTop sz="94620" autoAdjust="0"/>
  </p:normalViewPr>
  <p:slideViewPr>
    <p:cSldViewPr>
      <p:cViewPr>
        <p:scale>
          <a:sx n="91" d="100"/>
          <a:sy n="91" d="100"/>
        </p:scale>
        <p:origin x="-1566" y="-720"/>
      </p:cViewPr>
      <p:guideLst>
        <p:guide orient="horz" pos="2160"/>
        <p:guide pos="2880"/>
      </p:guideLst>
    </p:cSldViewPr>
  </p:slideViewPr>
  <p:outlineViewPr>
    <p:cViewPr>
      <p:scale>
        <a:sx n="33" d="100"/>
        <a:sy n="33" d="100"/>
      </p:scale>
      <p:origin x="0" y="77604"/>
    </p:cViewPr>
  </p:outlineViewPr>
  <p:notesTextViewPr>
    <p:cViewPr>
      <p:scale>
        <a:sx n="100" d="100"/>
        <a:sy n="100" d="100"/>
      </p:scale>
      <p:origin x="0" y="0"/>
    </p:cViewPr>
  </p:notesTextViewPr>
  <p:sorterViewPr>
    <p:cViewPr>
      <p:scale>
        <a:sx n="100" d="100"/>
        <a:sy n="100" d="100"/>
      </p:scale>
      <p:origin x="0" y="187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handoutMaster" Target="handoutMasters/handout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A063D632-E055-4548-89B4-82607B14EBB4}" type="datetimeFigureOut">
              <a:rPr lang="de-DE" smtClean="0"/>
              <a:pPr/>
              <a:t>10.12.2013</a:t>
            </a:fld>
            <a:endParaRPr lang="de-DE"/>
          </a:p>
        </p:txBody>
      </p:sp>
      <p:sp>
        <p:nvSpPr>
          <p:cNvPr id="4" name="Fußzeilenplatzhalt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B1843D9F-E809-4EF6-94FE-1B9DDF4C6A1F}" type="slidenum">
              <a:rPr lang="de-DE" smtClean="0"/>
              <a:pPr/>
              <a:t>‹#›</a:t>
            </a:fld>
            <a:endParaRPr lang="de-DE"/>
          </a:p>
        </p:txBody>
      </p:sp>
    </p:spTree>
    <p:extLst>
      <p:ext uri="{BB962C8B-B14F-4D97-AF65-F5344CB8AC3E}">
        <p14:creationId xmlns:p14="http://schemas.microsoft.com/office/powerpoint/2010/main" val="21855237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2C6A527D-D405-450D-A738-C3FAB38CD101}" type="datetimeFigureOut">
              <a:rPr lang="en-US" smtClean="0"/>
              <a:pPr/>
              <a:t>12/10/2013</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7D852CF6-CC57-45E3-B5C8-FD00190D357B}" type="slidenum">
              <a:rPr lang="en-US" smtClean="0"/>
              <a:pPr/>
              <a:t>‹#›</a:t>
            </a:fld>
            <a:endParaRPr lang="en-US"/>
          </a:p>
        </p:txBody>
      </p:sp>
    </p:spTree>
    <p:extLst>
      <p:ext uri="{BB962C8B-B14F-4D97-AF65-F5344CB8AC3E}">
        <p14:creationId xmlns:p14="http://schemas.microsoft.com/office/powerpoint/2010/main" val="3125669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8F4CA935-CF89-43A9-A992-5B69203F7FE4}" type="slidenum">
              <a:rPr lang="en-US" smtClean="0"/>
              <a:pPr/>
              <a:t>16</a:t>
            </a:fld>
            <a:endParaRPr lang="en-US" smtClean="0"/>
          </a:p>
        </p:txBody>
      </p:sp>
      <p:sp>
        <p:nvSpPr>
          <p:cNvPr id="28675"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B67E948D-2CF0-4B6A-9531-C2EB782C75E0}" type="slidenum">
              <a:rPr lang="en-US" sz="1200"/>
              <a:pPr algn="r"/>
              <a:t>16</a:t>
            </a:fld>
            <a:endParaRPr lang="en-US" sz="1200"/>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2A0E83-83A5-48D0-A691-BE3A66684242}" type="slidenum">
              <a:rPr lang="en-US" smtClean="0"/>
              <a:pPr/>
              <a:t>25</a:t>
            </a:fld>
            <a:endParaRPr lang="en-US"/>
          </a:p>
        </p:txBody>
      </p:sp>
    </p:spTree>
    <p:extLst>
      <p:ext uri="{BB962C8B-B14F-4D97-AF65-F5344CB8AC3E}">
        <p14:creationId xmlns:p14="http://schemas.microsoft.com/office/powerpoint/2010/main" val="946135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2A0E83-83A5-48D0-A691-BE3A66684242}" type="slidenum">
              <a:rPr lang="en-US" smtClean="0"/>
              <a:pPr/>
              <a:t>26</a:t>
            </a:fld>
            <a:endParaRPr lang="en-US"/>
          </a:p>
        </p:txBody>
      </p:sp>
    </p:spTree>
    <p:extLst>
      <p:ext uri="{BB962C8B-B14F-4D97-AF65-F5344CB8AC3E}">
        <p14:creationId xmlns:p14="http://schemas.microsoft.com/office/powerpoint/2010/main" val="4185291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2A0E83-83A5-48D0-A691-BE3A66684242}" type="slidenum">
              <a:rPr lang="en-US" smtClean="0"/>
              <a:pPr/>
              <a:t>27</a:t>
            </a:fld>
            <a:endParaRPr lang="en-US"/>
          </a:p>
        </p:txBody>
      </p:sp>
    </p:spTree>
    <p:extLst>
      <p:ext uri="{BB962C8B-B14F-4D97-AF65-F5344CB8AC3E}">
        <p14:creationId xmlns:p14="http://schemas.microsoft.com/office/powerpoint/2010/main" val="1558426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10"/>
          </p:nvPr>
        </p:nvSpPr>
        <p:spPr/>
        <p:txBody>
          <a:bodyPr/>
          <a:lstStyle/>
          <a:p>
            <a:fld id="{AC2A0E83-83A5-48D0-A691-BE3A66684242}" type="slidenum">
              <a:rPr lang="en-US" smtClean="0"/>
              <a:pPr/>
              <a:t>29</a:t>
            </a:fld>
            <a:endParaRPr lang="en-US"/>
          </a:p>
        </p:txBody>
      </p:sp>
    </p:spTree>
    <p:extLst>
      <p:ext uri="{BB962C8B-B14F-4D97-AF65-F5344CB8AC3E}">
        <p14:creationId xmlns:p14="http://schemas.microsoft.com/office/powerpoint/2010/main" val="21649929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852CF6-CC57-45E3-B5C8-FD00190D357B}" type="slidenum">
              <a:rPr lang="en-US" smtClean="0"/>
              <a:pPr/>
              <a:t>32</a:t>
            </a:fld>
            <a:endParaRPr lang="en-US"/>
          </a:p>
        </p:txBody>
      </p:sp>
    </p:spTree>
    <p:extLst>
      <p:ext uri="{BB962C8B-B14F-4D97-AF65-F5344CB8AC3E}">
        <p14:creationId xmlns:p14="http://schemas.microsoft.com/office/powerpoint/2010/main" val="3595658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8F4CA935-CF89-43A9-A992-5B69203F7FE4}" type="slidenum">
              <a:rPr lang="en-US" smtClean="0"/>
              <a:pPr/>
              <a:t>38</a:t>
            </a:fld>
            <a:endParaRPr lang="en-US" smtClean="0"/>
          </a:p>
        </p:txBody>
      </p:sp>
      <p:sp>
        <p:nvSpPr>
          <p:cNvPr id="28675"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B67E948D-2CF0-4B6A-9531-C2EB782C75E0}" type="slidenum">
              <a:rPr lang="en-US" sz="1200"/>
              <a:pPr algn="r"/>
              <a:t>38</a:t>
            </a:fld>
            <a:endParaRPr lang="en-US" sz="1200"/>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DC25C39-719F-493C-BF4E-455AC3DF50E9}" type="slidenum">
              <a:rPr lang="en-US" smtClean="0"/>
              <a:pPr eaLnBrk="1" hangingPunct="1"/>
              <a:t>57</a:t>
            </a:fld>
            <a:endParaRPr lang="en-US" smtClean="0"/>
          </a:p>
        </p:txBody>
      </p:sp>
      <p:sp>
        <p:nvSpPr>
          <p:cNvPr id="26627" name="Rectangle 7"/>
          <p:cNvSpPr txBox="1">
            <a:spLocks noGrp="1" noChangeArrowheads="1"/>
          </p:cNvSpPr>
          <p:nvPr/>
        </p:nvSpPr>
        <p:spPr bwMode="auto">
          <a:xfrm>
            <a:off x="3850443" y="9428583"/>
            <a:ext cx="2945659" cy="4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27B0B31D-7A30-498C-A5D0-3917F6A3BEBB}" type="slidenum">
              <a:rPr lang="en-US" sz="1200"/>
              <a:pPr algn="r" eaLnBrk="1" hangingPunct="1"/>
              <a:t>57</a:t>
            </a:fld>
            <a:endParaRPr lang="en-US" sz="120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1AF840B-4783-4856-9A85-D71717D93B49}" type="slidenum">
              <a:rPr lang="en-US" smtClean="0"/>
              <a:pPr eaLnBrk="1" hangingPunct="1"/>
              <a:t>58</a:t>
            </a:fld>
            <a:endParaRPr lang="en-US" smtClean="0"/>
          </a:p>
        </p:txBody>
      </p:sp>
      <p:sp>
        <p:nvSpPr>
          <p:cNvPr id="33795" name="Rectangle 7"/>
          <p:cNvSpPr txBox="1">
            <a:spLocks noGrp="1" noChangeArrowheads="1"/>
          </p:cNvSpPr>
          <p:nvPr/>
        </p:nvSpPr>
        <p:spPr bwMode="auto">
          <a:xfrm>
            <a:off x="3850443" y="9428583"/>
            <a:ext cx="2945659" cy="4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E226FC92-6314-40A5-BA0F-4912A153B7E5}" type="slidenum">
              <a:rPr lang="en-US" sz="1200"/>
              <a:pPr algn="r" eaLnBrk="1" hangingPunct="1"/>
              <a:t>58</a:t>
            </a:fld>
            <a:endParaRPr lang="en-US" sz="1200"/>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850444" y="9428583"/>
            <a:ext cx="2945659" cy="496332"/>
          </a:xfrm>
          <a:prstGeom prst="rect">
            <a:avLst/>
          </a:prstGeom>
          <a:noFill/>
          <a:ln w="9525">
            <a:noFill/>
            <a:miter lim="800000"/>
            <a:headEnd/>
            <a:tailEnd/>
          </a:ln>
        </p:spPr>
        <p:txBody>
          <a:bodyPr anchor="b"/>
          <a:lstStyle/>
          <a:p>
            <a:pPr algn="r"/>
            <a:fld id="{30A23C7B-A476-48D9-862C-2B7F155D512F}" type="slidenum">
              <a:rPr lang="en-US" sz="1200"/>
              <a:pPr algn="r"/>
              <a:t>70</a:t>
            </a:fld>
            <a:endParaRPr lang="en-US" sz="120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EE66D5-71DE-468B-9D71-094C046439E7}" type="datetimeFigureOut">
              <a:rPr lang="en-US" smtClean="0"/>
              <a:pPr/>
              <a:t>12/10/2013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EE66D5-71DE-468B-9D71-094C046439E7}" type="datetimeFigureOut">
              <a:rPr lang="en-US" smtClean="0"/>
              <a:pPr/>
              <a:t>12/10/2013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04FCB-2AD5-4516-ABCE-731AE03A9F0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creativecommons.org/licenses/by-nc-sa/3.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creativecommons.org/licenses/by-sa/3.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Data and Metadata Management: </a:t>
            </a:r>
            <a:br>
              <a:rPr lang="en-US" dirty="0" smtClean="0"/>
            </a:br>
            <a:r>
              <a:rPr lang="en-US" dirty="0" smtClean="0"/>
              <a:t>A Business Perspective</a:t>
            </a:r>
            <a:endParaRPr lang="en-US" dirty="0"/>
          </a:p>
        </p:txBody>
      </p:sp>
      <p:sp>
        <p:nvSpPr>
          <p:cNvPr id="3" name="Subtitle 2"/>
          <p:cNvSpPr>
            <a:spLocks noGrp="1"/>
          </p:cNvSpPr>
          <p:nvPr>
            <p:ph type="subTitle" idx="1"/>
          </p:nvPr>
        </p:nvSpPr>
        <p:spPr/>
        <p:txBody>
          <a:bodyPr>
            <a:normAutofit fontScale="47500" lnSpcReduction="20000"/>
          </a:bodyPr>
          <a:lstStyle/>
          <a:p>
            <a:r>
              <a:rPr lang="en-US" dirty="0" smtClean="0"/>
              <a:t>Wendy Thomas – Minnesota Population Center</a:t>
            </a:r>
          </a:p>
          <a:p>
            <a:r>
              <a:rPr lang="en-US" dirty="0" smtClean="0"/>
              <a:t>Marcel </a:t>
            </a:r>
            <a:r>
              <a:rPr lang="en-US" dirty="0" err="1" smtClean="0"/>
              <a:t>Hebing</a:t>
            </a:r>
            <a:r>
              <a:rPr lang="en-US" dirty="0" smtClean="0"/>
              <a:t> – German Socio-Economic Panel Study (SOEP), DIW Berlin</a:t>
            </a:r>
          </a:p>
          <a:p>
            <a:r>
              <a:rPr lang="en-US" dirty="0" smtClean="0"/>
              <a:t>EDDI 2013</a:t>
            </a:r>
          </a:p>
          <a:p>
            <a:r>
              <a:rPr lang="en-US" dirty="0" smtClean="0"/>
              <a:t>EDDI-2012_Business by Wendy Thomas and Marcel </a:t>
            </a:r>
            <a:r>
              <a:rPr lang="en-US" dirty="0" err="1" smtClean="0"/>
              <a:t>Hebing</a:t>
            </a:r>
            <a:r>
              <a:rPr lang="en-US" dirty="0" smtClean="0"/>
              <a:t> is licensed under a </a:t>
            </a:r>
            <a:r>
              <a:rPr lang="en-US" dirty="0" smtClean="0">
                <a:hlinkClick r:id="rId2"/>
              </a:rPr>
              <a:t>Creative Commons Attribution-</a:t>
            </a:r>
            <a:r>
              <a:rPr lang="en-US" dirty="0" err="1" smtClean="0">
                <a:hlinkClick r:id="rId2"/>
              </a:rPr>
              <a:t>NonCommercial</a:t>
            </a:r>
            <a:r>
              <a:rPr lang="en-US" dirty="0" smtClean="0">
                <a:hlinkClick r:id="rId2"/>
              </a:rPr>
              <a:t>\\\\-</a:t>
            </a:r>
            <a:r>
              <a:rPr lang="en-US" dirty="0" err="1" smtClean="0">
                <a:hlinkClick r:id="rId2"/>
              </a:rPr>
              <a:t>ShareAlike</a:t>
            </a:r>
            <a:r>
              <a:rPr lang="en-US" dirty="0" smtClean="0">
                <a:hlinkClick r:id="rId2"/>
              </a:rPr>
              <a:t> 3.0 </a:t>
            </a:r>
            <a:r>
              <a:rPr lang="en-US" dirty="0" err="1" smtClean="0">
                <a:hlinkClick r:id="rId2"/>
              </a:rPr>
              <a:t>Unported</a:t>
            </a:r>
            <a:r>
              <a:rPr lang="en-US" dirty="0" smtClean="0">
                <a:hlinkClick r:id="rId2"/>
              </a:rPr>
              <a:t> License</a:t>
            </a:r>
            <a:r>
              <a:rPr lang="en-US" dirty="0" smtClean="0"/>
              <a:t>.</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Credits</a:t>
            </a:r>
            <a:endParaRPr lang="en-US" dirty="0"/>
          </a:p>
        </p:txBody>
      </p:sp>
      <p:sp>
        <p:nvSpPr>
          <p:cNvPr id="5" name="Content Placeholder 4"/>
          <p:cNvSpPr>
            <a:spLocks noGrp="1"/>
          </p:cNvSpPr>
          <p:nvPr>
            <p:ph idx="1"/>
          </p:nvPr>
        </p:nvSpPr>
        <p:spPr/>
        <p:txBody>
          <a:bodyPr>
            <a:normAutofit fontScale="92500" lnSpcReduction="10000"/>
          </a:bodyPr>
          <a:lstStyle/>
          <a:p>
            <a:r>
              <a:rPr lang="en-US" dirty="0" smtClean="0"/>
              <a:t>Slides created by Wendy Thomas and Marcel </a:t>
            </a:r>
            <a:r>
              <a:rPr lang="en-US" dirty="0" err="1" smtClean="0"/>
              <a:t>Hebing</a:t>
            </a:r>
            <a:r>
              <a:rPr lang="en-US" dirty="0" smtClean="0"/>
              <a:t> </a:t>
            </a:r>
          </a:p>
          <a:p>
            <a:r>
              <a:rPr lang="en-US" dirty="0" smtClean="0"/>
              <a:t>Slides footnoted with a deck number (i.e., S11): </a:t>
            </a:r>
          </a:p>
          <a:p>
            <a:pPr lvl="1"/>
            <a:r>
              <a:rPr lang="de-DE" sz="2000" dirty="0" smtClean="0"/>
              <a:t>The slides were developed for several DDI workshops at IASSIST conferences and at GESIS training in Dagstuhl/Germany</a:t>
            </a:r>
          </a:p>
          <a:p>
            <a:pPr lvl="1"/>
            <a:r>
              <a:rPr lang="de-DE" sz="2000" dirty="0" smtClean="0"/>
              <a:t>Major contributors</a:t>
            </a:r>
          </a:p>
          <a:p>
            <a:pPr lvl="2"/>
            <a:r>
              <a:rPr lang="de-DE" sz="1600" dirty="0" smtClean="0"/>
              <a:t>Wendy Thomas, Minnesota Population Center</a:t>
            </a:r>
          </a:p>
          <a:p>
            <a:pPr lvl="2"/>
            <a:r>
              <a:rPr lang="de-DE" sz="1600" dirty="0" smtClean="0"/>
              <a:t>Arofan Gregory, Open Data Foundation</a:t>
            </a:r>
          </a:p>
          <a:p>
            <a:pPr lvl="1"/>
            <a:r>
              <a:rPr lang="de-DE" sz="2000" dirty="0" smtClean="0"/>
              <a:t>Further contributors</a:t>
            </a:r>
          </a:p>
          <a:p>
            <a:pPr lvl="2"/>
            <a:r>
              <a:rPr lang="de-DE" sz="1600" dirty="0" smtClean="0"/>
              <a:t>Joachim Wackerow, GESIS – Leibniz Institute for the Social Sciences</a:t>
            </a:r>
          </a:p>
          <a:p>
            <a:pPr lvl="2"/>
            <a:r>
              <a:rPr lang="de-DE" sz="1600" dirty="0" smtClean="0"/>
              <a:t>Pascal Heus, Open Data Foundation</a:t>
            </a:r>
          </a:p>
          <a:p>
            <a:pPr lvl="1"/>
            <a:r>
              <a:rPr lang="de-DE" dirty="0" smtClean="0"/>
              <a:t>Attribute: </a:t>
            </a:r>
            <a:r>
              <a:rPr lang="en-US" dirty="0" smtClean="0">
                <a:hlinkClick r:id="rId2"/>
              </a:rPr>
              <a:t>http://creativecommons.org/licenses/by-sa/3.0/legalcode</a:t>
            </a:r>
            <a:endParaRPr lang="de-DE" sz="2800"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PART I</a:t>
            </a:r>
            <a:endParaRPr lang="en-US" dirty="0"/>
          </a:p>
        </p:txBody>
      </p:sp>
      <p:sp>
        <p:nvSpPr>
          <p:cNvPr id="5" name="Subtitle 4"/>
          <p:cNvSpPr>
            <a:spLocks noGrp="1"/>
          </p:cNvSpPr>
          <p:nvPr>
            <p:ph type="subTitle" idx="1"/>
          </p:nvPr>
        </p:nvSpPr>
        <p:spPr/>
        <p:txBody>
          <a:bodyPr/>
          <a:lstStyle/>
          <a:p>
            <a:r>
              <a:rPr lang="en-US" dirty="0" smtClean="0"/>
              <a:t>Introduction to DDI</a:t>
            </a:r>
            <a:endParaRPr lang="en-US" dirty="0"/>
          </a:p>
        </p:txBody>
      </p:sp>
    </p:spTree>
    <p:extLst>
      <p:ext uri="{BB962C8B-B14F-4D97-AF65-F5344CB8AC3E}">
        <p14:creationId xmlns:p14="http://schemas.microsoft.com/office/powerpoint/2010/main" val="8681243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smtClean="0"/>
              <a:t>Welcome </a:t>
            </a:r>
            <a:r>
              <a:rPr lang="de-DE" dirty="0" err="1" smtClean="0"/>
              <a:t>and</a:t>
            </a:r>
            <a:r>
              <a:rPr lang="de-DE" dirty="0" smtClean="0"/>
              <a:t> </a:t>
            </a:r>
            <a:r>
              <a:rPr lang="de-DE" dirty="0" err="1" smtClean="0"/>
              <a:t>outline</a:t>
            </a:r>
            <a:endParaRPr lang="de-DE" dirty="0"/>
          </a:p>
        </p:txBody>
      </p:sp>
      <p:sp>
        <p:nvSpPr>
          <p:cNvPr id="5" name="Textplatzhalter 4"/>
          <p:cNvSpPr>
            <a:spLocks noGrp="1"/>
          </p:cNvSpPr>
          <p:nvPr>
            <p:ph type="body" idx="1"/>
          </p:nvPr>
        </p:nvSpPr>
        <p:spPr/>
        <p:txBody>
          <a:bodyPr/>
          <a:lstStyle/>
          <a:p>
            <a:r>
              <a:rPr lang="de-DE" dirty="0" err="1"/>
              <a:t>Introduction</a:t>
            </a:r>
            <a:r>
              <a:rPr lang="de-DE" dirty="0"/>
              <a:t> </a:t>
            </a:r>
            <a:r>
              <a:rPr lang="de-DE" dirty="0" err="1"/>
              <a:t>to</a:t>
            </a:r>
            <a:r>
              <a:rPr lang="de-DE" dirty="0"/>
              <a:t> DDI</a:t>
            </a:r>
          </a:p>
        </p:txBody>
      </p:sp>
    </p:spTree>
    <p:extLst>
      <p:ext uri="{BB962C8B-B14F-4D97-AF65-F5344CB8AC3E}">
        <p14:creationId xmlns:p14="http://schemas.microsoft.com/office/powerpoint/2010/main" val="21817191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Outline</a:t>
            </a:r>
            <a:endParaRPr lang="de-DE" dirty="0"/>
          </a:p>
        </p:txBody>
      </p:sp>
      <p:sp>
        <p:nvSpPr>
          <p:cNvPr id="4" name="Inhaltsplatzhalter 3"/>
          <p:cNvSpPr>
            <a:spLocks noGrp="1"/>
          </p:cNvSpPr>
          <p:nvPr>
            <p:ph sz="half" idx="1"/>
          </p:nvPr>
        </p:nvSpPr>
        <p:spPr/>
        <p:txBody>
          <a:bodyPr>
            <a:normAutofit/>
          </a:bodyPr>
          <a:lstStyle/>
          <a:p>
            <a:pPr marL="0" indent="0">
              <a:buNone/>
            </a:pPr>
            <a:r>
              <a:rPr lang="en-US" b="1" smtClean="0"/>
              <a:t>Introduction to DDI</a:t>
            </a:r>
          </a:p>
          <a:p>
            <a:r>
              <a:rPr lang="en-US" smtClean="0"/>
              <a:t>Welcome</a:t>
            </a:r>
          </a:p>
          <a:p>
            <a:r>
              <a:rPr lang="en-US" smtClean="0"/>
              <a:t>DDI in 60 Seconds</a:t>
            </a:r>
          </a:p>
          <a:p>
            <a:r>
              <a:rPr lang="en-US" smtClean="0"/>
              <a:t>Processes</a:t>
            </a:r>
          </a:p>
          <a:p>
            <a:r>
              <a:rPr lang="en-US" smtClean="0"/>
              <a:t>DDI-Standard</a:t>
            </a:r>
          </a:p>
          <a:p>
            <a:r>
              <a:rPr lang="en-US" smtClean="0"/>
              <a:t>Tools</a:t>
            </a:r>
          </a:p>
          <a:p>
            <a:r>
              <a:rPr lang="en-US" smtClean="0"/>
              <a:t>Codebook and Lifecycle</a:t>
            </a:r>
            <a:endParaRPr lang="en-US"/>
          </a:p>
        </p:txBody>
      </p:sp>
      <p:sp>
        <p:nvSpPr>
          <p:cNvPr id="5" name="Inhaltsplatzhalter 4"/>
          <p:cNvSpPr>
            <a:spLocks noGrp="1"/>
          </p:cNvSpPr>
          <p:nvPr>
            <p:ph sz="half" idx="2"/>
          </p:nvPr>
        </p:nvSpPr>
        <p:spPr>
          <a:xfrm>
            <a:off x="4648200" y="1600200"/>
            <a:ext cx="4191000" cy="4525963"/>
          </a:xfrm>
        </p:spPr>
        <p:txBody>
          <a:bodyPr>
            <a:normAutofit/>
          </a:bodyPr>
          <a:lstStyle/>
          <a:p>
            <a:pPr marL="0" indent="0">
              <a:buNone/>
            </a:pPr>
            <a:r>
              <a:rPr lang="en-US" b="1" dirty="0" smtClean="0"/>
              <a:t>Advanced Topics</a:t>
            </a:r>
          </a:p>
          <a:p>
            <a:r>
              <a:rPr lang="en-US" dirty="0" smtClean="0"/>
              <a:t>DDI-L in Detail</a:t>
            </a:r>
          </a:p>
          <a:p>
            <a:r>
              <a:rPr lang="en-US" dirty="0" smtClean="0"/>
              <a:t>Schemes and Reuse</a:t>
            </a:r>
          </a:p>
          <a:p>
            <a:r>
              <a:rPr lang="en-US" dirty="0" smtClean="0"/>
              <a:t>Building a codebook</a:t>
            </a:r>
          </a:p>
          <a:p>
            <a:r>
              <a:rPr lang="en-US" dirty="0" smtClean="0"/>
              <a:t>Capturing a process</a:t>
            </a:r>
          </a:p>
          <a:p>
            <a:pPr lvl="1"/>
            <a:r>
              <a:rPr lang="en-US" dirty="0" smtClean="0"/>
              <a:t>Questionnaire</a:t>
            </a:r>
          </a:p>
          <a:p>
            <a:r>
              <a:rPr lang="en-US" dirty="0" smtClean="0"/>
              <a:t>Discovery &amp; Comparison</a:t>
            </a:r>
          </a:p>
          <a:p>
            <a:r>
              <a:rPr lang="en-US" dirty="0" smtClean="0"/>
              <a:t>Questions &amp; Conclusion</a:t>
            </a:r>
            <a:endParaRPr lang="en-US" dirty="0"/>
          </a:p>
        </p:txBody>
      </p:sp>
    </p:spTree>
    <p:extLst>
      <p:ext uri="{BB962C8B-B14F-4D97-AF65-F5344CB8AC3E}">
        <p14:creationId xmlns:p14="http://schemas.microsoft.com/office/powerpoint/2010/main" val="10081192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Introductions</a:t>
            </a:r>
            <a:endParaRPr lang="en-US" dirty="0"/>
          </a:p>
        </p:txBody>
      </p:sp>
      <p:sp>
        <p:nvSpPr>
          <p:cNvPr id="3" name="Content Placeholder 2"/>
          <p:cNvSpPr>
            <a:spLocks noGrp="1"/>
          </p:cNvSpPr>
          <p:nvPr>
            <p:ph idx="1"/>
          </p:nvPr>
        </p:nvSpPr>
        <p:spPr/>
        <p:txBody>
          <a:bodyPr/>
          <a:lstStyle/>
          <a:p>
            <a:r>
              <a:rPr lang="en-US" dirty="0" smtClean="0"/>
              <a:t>Who are you?</a:t>
            </a:r>
          </a:p>
          <a:p>
            <a:r>
              <a:rPr lang="en-US" dirty="0" smtClean="0"/>
              <a:t>What does your organization do?</a:t>
            </a:r>
          </a:p>
          <a:p>
            <a:pPr lvl="1"/>
            <a:r>
              <a:rPr lang="en-US" dirty="0" smtClean="0"/>
              <a:t>Data collection</a:t>
            </a:r>
          </a:p>
          <a:p>
            <a:pPr lvl="1"/>
            <a:r>
              <a:rPr lang="en-US" dirty="0" smtClean="0"/>
              <a:t>Data production </a:t>
            </a:r>
          </a:p>
          <a:p>
            <a:pPr lvl="1"/>
            <a:r>
              <a:rPr lang="en-US" dirty="0" smtClean="0"/>
              <a:t>User access</a:t>
            </a:r>
          </a:p>
          <a:p>
            <a:pPr lvl="1"/>
            <a:r>
              <a:rPr lang="en-US" dirty="0" smtClean="0"/>
              <a:t>Preservation</a:t>
            </a:r>
          </a:p>
          <a:p>
            <a:r>
              <a:rPr lang="en-US" dirty="0" smtClean="0"/>
              <a:t>What is the scale of your operations?</a:t>
            </a:r>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the environment:</a:t>
            </a:r>
            <a:endParaRPr lang="en-US" dirty="0"/>
          </a:p>
        </p:txBody>
      </p:sp>
      <p:sp>
        <p:nvSpPr>
          <p:cNvPr id="3" name="Content Placeholder 2"/>
          <p:cNvSpPr>
            <a:spLocks noGrp="1"/>
          </p:cNvSpPr>
          <p:nvPr>
            <p:ph idx="1"/>
          </p:nvPr>
        </p:nvSpPr>
        <p:spPr/>
        <p:txBody>
          <a:bodyPr/>
          <a:lstStyle/>
          <a:p>
            <a:r>
              <a:rPr lang="en-US" dirty="0" smtClean="0"/>
              <a:t>Expanded access to data</a:t>
            </a:r>
          </a:p>
          <a:p>
            <a:r>
              <a:rPr lang="en-US" dirty="0" smtClean="0"/>
              <a:t>Data available through multiple portals</a:t>
            </a:r>
          </a:p>
          <a:p>
            <a:r>
              <a:rPr lang="en-US" dirty="0" smtClean="0"/>
              <a:t>Cross portal access</a:t>
            </a:r>
          </a:p>
          <a:p>
            <a:r>
              <a:rPr lang="en-US" dirty="0" smtClean="0"/>
              <a:t>Linking and layering of data from different sources and different disciplines</a:t>
            </a:r>
          </a:p>
          <a:p>
            <a:r>
              <a:rPr lang="en-US" dirty="0" smtClean="0"/>
              <a:t>Cost of developing system specific software</a:t>
            </a:r>
          </a:p>
          <a:p>
            <a:r>
              <a:rPr lang="en-US" dirty="0" smtClean="0"/>
              <a:t>Cost of non-interoperability over the life of the data</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Challenge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a large organization, there are many different streams of data production</a:t>
            </a:r>
          </a:p>
          <a:p>
            <a:r>
              <a:rPr lang="en-US" dirty="0" smtClean="0"/>
              <a:t>“Silos” tend to emerge, each with a different set of systems and processes</a:t>
            </a:r>
          </a:p>
          <a:p>
            <a:r>
              <a:rPr lang="en-US" dirty="0" smtClean="0"/>
              <a:t>This makes the management of data, metadata, and the production process very difficult – the different systems/silos don’t interoperate easily</a:t>
            </a:r>
          </a:p>
          <a:p>
            <a:r>
              <a:rPr lang="en-US" dirty="0" smtClean="0"/>
              <a:t>It is difficult to realize the vision of “industrialized” data production, with its attendant efficiencies</a:t>
            </a:r>
            <a:endParaRPr lang="en-US" dirty="0"/>
          </a:p>
        </p:txBody>
      </p:sp>
    </p:spTree>
    <p:extLst>
      <p:ext uri="{BB962C8B-B14F-4D97-AF65-F5344CB8AC3E}">
        <p14:creationId xmlns:p14="http://schemas.microsoft.com/office/powerpoint/2010/main" val="38673887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Such a Mess?</a:t>
            </a:r>
            <a:endParaRPr lang="en-US" dirty="0"/>
          </a:p>
        </p:txBody>
      </p:sp>
      <p:sp>
        <p:nvSpPr>
          <p:cNvPr id="3" name="Content Placeholder 2"/>
          <p:cNvSpPr>
            <a:spLocks noGrp="1"/>
          </p:cNvSpPr>
          <p:nvPr>
            <p:ph idx="1"/>
          </p:nvPr>
        </p:nvSpPr>
        <p:spPr/>
        <p:txBody>
          <a:bodyPr>
            <a:normAutofit fontScale="92500" lnSpcReduction="10000"/>
          </a:bodyPr>
          <a:lstStyle/>
          <a:p>
            <a:r>
              <a:rPr lang="en-US" dirty="0"/>
              <a:t>E</a:t>
            </a:r>
            <a:r>
              <a:rPr lang="en-US" dirty="0" smtClean="0"/>
              <a:t>veryone thinks their data are special</a:t>
            </a:r>
          </a:p>
          <a:p>
            <a:r>
              <a:rPr lang="en-US" dirty="0" smtClean="0"/>
              <a:t>And they are right – they are special…</a:t>
            </a:r>
          </a:p>
          <a:p>
            <a:r>
              <a:rPr lang="en-US" dirty="0" smtClean="0"/>
              <a:t>They’re just not as special as they think!</a:t>
            </a:r>
          </a:p>
          <a:p>
            <a:r>
              <a:rPr lang="en-US" dirty="0" smtClean="0"/>
              <a:t>The point is that good IT solutions for data management can be built on the basis of the </a:t>
            </a:r>
            <a:r>
              <a:rPr lang="en-US" i="1" dirty="0" smtClean="0"/>
              <a:t>similarities</a:t>
            </a:r>
            <a:r>
              <a:rPr lang="en-US" dirty="0" smtClean="0"/>
              <a:t> across the silos</a:t>
            </a:r>
          </a:p>
          <a:p>
            <a:pPr lvl="1"/>
            <a:r>
              <a:rPr lang="en-US" dirty="0" smtClean="0"/>
              <a:t>Computers can’t think!</a:t>
            </a:r>
          </a:p>
          <a:p>
            <a:pPr lvl="1"/>
            <a:r>
              <a:rPr lang="en-US" dirty="0" smtClean="0"/>
              <a:t>They manipulate the structural aspects of data</a:t>
            </a:r>
          </a:p>
          <a:p>
            <a:pPr lvl="1"/>
            <a:r>
              <a:rPr lang="en-US" dirty="0" smtClean="0"/>
              <a:t>The structural aspects of data are the same </a:t>
            </a:r>
          </a:p>
        </p:txBody>
      </p:sp>
    </p:spTree>
    <p:extLst>
      <p:ext uri="{BB962C8B-B14F-4D97-AF65-F5344CB8AC3E}">
        <p14:creationId xmlns:p14="http://schemas.microsoft.com/office/powerpoint/2010/main" val="193992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smtClean="0"/>
              <a:t>Ddi</a:t>
            </a:r>
            <a:r>
              <a:rPr lang="en-US" dirty="0" smtClean="0"/>
              <a:t> 3 in 60 seconds</a:t>
            </a:r>
            <a:endParaRPr lang="en-US" dirty="0"/>
          </a:p>
        </p:txBody>
      </p:sp>
      <p:sp>
        <p:nvSpPr>
          <p:cNvPr id="3" name="Textplatzhalter 2"/>
          <p:cNvSpPr>
            <a:spLocks noGrp="1"/>
          </p:cNvSpPr>
          <p:nvPr>
            <p:ph type="body" idx="1"/>
          </p:nvPr>
        </p:nvSpPr>
        <p:spPr/>
        <p:txBody>
          <a:bodyPr/>
          <a:lstStyle/>
          <a:p>
            <a:r>
              <a:rPr lang="en-US" smtClean="0"/>
              <a:t>Introduction to DDI</a:t>
            </a:r>
            <a:endParaRPr lang="en-US"/>
          </a:p>
        </p:txBody>
      </p:sp>
      <p:grpSp>
        <p:nvGrpSpPr>
          <p:cNvPr id="4" name="Group 8"/>
          <p:cNvGrpSpPr>
            <a:grpSpLocks/>
          </p:cNvGrpSpPr>
          <p:nvPr/>
        </p:nvGrpSpPr>
        <p:grpSpPr bwMode="auto">
          <a:xfrm>
            <a:off x="6705600" y="524681"/>
            <a:ext cx="1838325" cy="941387"/>
            <a:chOff x="3200397" y="1584087"/>
            <a:chExt cx="1828805" cy="1357788"/>
          </a:xfrm>
        </p:grpSpPr>
        <p:sp>
          <p:nvSpPr>
            <p:cNvPr id="5" name="Rounded Rectangle 4"/>
            <p:cNvSpPr/>
            <p:nvPr/>
          </p:nvSpPr>
          <p:spPr>
            <a:xfrm>
              <a:off x="3200397" y="1584087"/>
              <a:ext cx="1828805" cy="1357788"/>
            </a:xfrm>
            <a:prstGeom prst="roundRect">
              <a:avLst/>
            </a:prstGeom>
            <a:blipFill rotWithShape="0">
              <a:blip r:embed="rId2" cstate="prin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4"/>
            <p:cNvSpPr/>
            <p:nvPr/>
          </p:nvSpPr>
          <p:spPr>
            <a:xfrm>
              <a:off x="3266727" y="1650487"/>
              <a:ext cx="1696146" cy="1224987"/>
            </a:xfrm>
            <a:prstGeom prst="rect">
              <a:avLst/>
            </a:prstGeom>
          </p:spPr>
          <p:style>
            <a:lnRef idx="0">
              <a:scrgbClr r="0" g="0" b="0"/>
            </a:lnRef>
            <a:fillRef idx="0">
              <a:scrgbClr r="0" g="0" b="0"/>
            </a:fillRef>
            <a:effectRef idx="0">
              <a:scrgbClr r="0" g="0" b="0"/>
            </a:effectRef>
            <a:fontRef idx="minor">
              <a:schemeClr val="lt1"/>
            </a:fontRef>
          </p:style>
          <p:txBody>
            <a:bodyPr tIns="91440" bIns="91440" anchor="ctr"/>
            <a:lstStyle/>
            <a:p>
              <a:pPr algn="ctr" defTabSz="1600200">
                <a:lnSpc>
                  <a:spcPct val="90000"/>
                </a:lnSpc>
                <a:spcAft>
                  <a:spcPct val="35000"/>
                </a:spcAft>
                <a:defRPr/>
              </a:pPr>
              <a:endParaRPr lang="en-US" sz="3600">
                <a:solidFill>
                  <a:srgbClr val="FFFFFF"/>
                </a:solidFill>
              </a:endParaRPr>
            </a:p>
          </p:txBody>
        </p:sp>
      </p:grpSp>
    </p:spTree>
    <p:extLst>
      <p:ext uri="{BB962C8B-B14F-4D97-AF65-F5344CB8AC3E}">
        <p14:creationId xmlns:p14="http://schemas.microsoft.com/office/powerpoint/2010/main" val="33001251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4"/>
          <p:cNvSpPr>
            <a:spLocks noChangeArrowheads="1"/>
          </p:cNvSpPr>
          <p:nvPr/>
        </p:nvSpPr>
        <p:spPr bwMode="auto">
          <a:xfrm>
            <a:off x="2476500" y="609600"/>
            <a:ext cx="1295400" cy="1447800"/>
          </a:xfrm>
          <a:prstGeom prst="foldedCorner">
            <a:avLst>
              <a:gd name="adj" fmla="val 12500"/>
            </a:avLst>
          </a:prstGeom>
          <a:solidFill>
            <a:schemeClr val="bg1"/>
          </a:solidFill>
          <a:ln w="9525">
            <a:solidFill>
              <a:schemeClr val="tx1"/>
            </a:solidFill>
            <a:round/>
            <a:headEnd/>
            <a:tailEnd/>
          </a:ln>
        </p:spPr>
        <p:txBody>
          <a:bodyPr wrap="none" anchor="ctr"/>
          <a:lstStyle/>
          <a:p>
            <a:pPr algn="ctr"/>
            <a:r>
              <a:rPr lang="en-US"/>
              <a:t>Study</a:t>
            </a:r>
          </a:p>
        </p:txBody>
      </p:sp>
      <p:sp>
        <p:nvSpPr>
          <p:cNvPr id="6150" name="Cloud"/>
          <p:cNvSpPr>
            <a:spLocks noChangeAspect="1" noEditPoints="1" noChangeArrowheads="1"/>
          </p:cNvSpPr>
          <p:nvPr/>
        </p:nvSpPr>
        <p:spPr bwMode="auto">
          <a:xfrm>
            <a:off x="571500" y="3581400"/>
            <a:ext cx="2133600" cy="1219200"/>
          </a:xfrm>
          <a:custGeom>
            <a:avLst/>
            <a:gdLst>
              <a:gd name="T0" fmla="*/ 653711 w 21600"/>
              <a:gd name="T1" fmla="*/ 34408533 h 21600"/>
              <a:gd name="T2" fmla="*/ 105376133 w 21600"/>
              <a:gd name="T3" fmla="*/ 68743802 h 21600"/>
              <a:gd name="T4" fmla="*/ 210576640 w 21600"/>
              <a:gd name="T5" fmla="*/ 34408533 h 21600"/>
              <a:gd name="T6" fmla="*/ 105376133 w 21600"/>
              <a:gd name="T7" fmla="*/ 393468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r>
              <a:rPr lang="en-US"/>
              <a:t>      </a:t>
            </a:r>
          </a:p>
          <a:p>
            <a:r>
              <a:rPr lang="en-US"/>
              <a:t>    Concepts</a:t>
            </a:r>
          </a:p>
        </p:txBody>
      </p:sp>
      <p:sp>
        <p:nvSpPr>
          <p:cNvPr id="6152" name="Line 8"/>
          <p:cNvSpPr>
            <a:spLocks noChangeShapeType="1"/>
          </p:cNvSpPr>
          <p:nvPr/>
        </p:nvSpPr>
        <p:spPr bwMode="auto">
          <a:xfrm flipV="1">
            <a:off x="1790700" y="2133600"/>
            <a:ext cx="1219200" cy="13716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153" name="AutoShape 9"/>
          <p:cNvSpPr>
            <a:spLocks noChangeArrowheads="1"/>
          </p:cNvSpPr>
          <p:nvPr/>
        </p:nvSpPr>
        <p:spPr bwMode="auto">
          <a:xfrm>
            <a:off x="952500" y="2133600"/>
            <a:ext cx="1371600" cy="457200"/>
          </a:xfrm>
          <a:prstGeom prst="wedgeRectCallout">
            <a:avLst>
              <a:gd name="adj1" fmla="val 45833"/>
              <a:gd name="adj2" fmla="val 119792"/>
            </a:avLst>
          </a:prstGeom>
          <a:solidFill>
            <a:schemeClr val="bg1"/>
          </a:solidFill>
          <a:ln w="9525">
            <a:solidFill>
              <a:schemeClr val="tx1"/>
            </a:solidFill>
            <a:miter lim="800000"/>
            <a:headEnd/>
            <a:tailEnd/>
          </a:ln>
        </p:spPr>
        <p:txBody>
          <a:bodyPr/>
          <a:lstStyle/>
          <a:p>
            <a:pPr algn="ctr"/>
            <a:r>
              <a:rPr lang="en-US" i="1"/>
              <a:t>measures</a:t>
            </a:r>
          </a:p>
        </p:txBody>
      </p:sp>
      <p:sp>
        <p:nvSpPr>
          <p:cNvPr id="6154" name="AutoShape 10"/>
          <p:cNvSpPr>
            <a:spLocks noChangeArrowheads="1"/>
          </p:cNvSpPr>
          <p:nvPr/>
        </p:nvSpPr>
        <p:spPr bwMode="auto">
          <a:xfrm>
            <a:off x="5600700" y="609600"/>
            <a:ext cx="1295400" cy="1447800"/>
          </a:xfrm>
          <a:prstGeom prst="foldedCorner">
            <a:avLst>
              <a:gd name="adj" fmla="val 12500"/>
            </a:avLst>
          </a:prstGeom>
          <a:solidFill>
            <a:schemeClr val="bg1"/>
          </a:solidFill>
          <a:ln w="9525">
            <a:solidFill>
              <a:schemeClr val="tx1"/>
            </a:solidFill>
            <a:round/>
            <a:headEnd/>
            <a:tailEnd/>
          </a:ln>
        </p:spPr>
        <p:txBody>
          <a:bodyPr wrap="none" anchor="ctr"/>
          <a:lstStyle/>
          <a:p>
            <a:pPr algn="ctr"/>
            <a:r>
              <a:rPr lang="en-US"/>
              <a:t>Survey</a:t>
            </a:r>
          </a:p>
          <a:p>
            <a:pPr algn="ctr"/>
            <a:r>
              <a:rPr lang="en-US"/>
              <a:t>Instruments</a:t>
            </a:r>
          </a:p>
        </p:txBody>
      </p:sp>
      <p:sp>
        <p:nvSpPr>
          <p:cNvPr id="6156" name="Line 12"/>
          <p:cNvSpPr>
            <a:spLocks noChangeShapeType="1"/>
          </p:cNvSpPr>
          <p:nvPr/>
        </p:nvSpPr>
        <p:spPr bwMode="auto">
          <a:xfrm flipH="1">
            <a:off x="3848100" y="1219200"/>
            <a:ext cx="16764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157" name="AutoShape 13"/>
          <p:cNvSpPr>
            <a:spLocks noChangeArrowheads="1"/>
          </p:cNvSpPr>
          <p:nvPr/>
        </p:nvSpPr>
        <p:spPr bwMode="auto">
          <a:xfrm>
            <a:off x="4305300" y="381000"/>
            <a:ext cx="990600" cy="457200"/>
          </a:xfrm>
          <a:prstGeom prst="wedgeRectCallout">
            <a:avLst>
              <a:gd name="adj1" fmla="val -44389"/>
              <a:gd name="adj2" fmla="val 119792"/>
            </a:avLst>
          </a:prstGeom>
          <a:solidFill>
            <a:schemeClr val="bg1"/>
          </a:solidFill>
          <a:ln w="9525">
            <a:solidFill>
              <a:schemeClr val="tx1"/>
            </a:solidFill>
            <a:miter lim="800000"/>
            <a:headEnd/>
            <a:tailEnd/>
          </a:ln>
        </p:spPr>
        <p:txBody>
          <a:bodyPr/>
          <a:lstStyle/>
          <a:p>
            <a:pPr algn="ctr"/>
            <a:r>
              <a:rPr lang="en-US" i="1"/>
              <a:t>using</a:t>
            </a:r>
          </a:p>
        </p:txBody>
      </p:sp>
      <p:sp>
        <p:nvSpPr>
          <p:cNvPr id="6158" name="Rectangle 14"/>
          <p:cNvSpPr>
            <a:spLocks noChangeArrowheads="1"/>
          </p:cNvSpPr>
          <p:nvPr/>
        </p:nvSpPr>
        <p:spPr bwMode="auto">
          <a:xfrm>
            <a:off x="6515100" y="30480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59" name="Rectangle 15"/>
          <p:cNvSpPr>
            <a:spLocks noChangeArrowheads="1"/>
          </p:cNvSpPr>
          <p:nvPr/>
        </p:nvSpPr>
        <p:spPr bwMode="auto">
          <a:xfrm>
            <a:off x="6667500" y="32004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60" name="Rectangle 16"/>
          <p:cNvSpPr>
            <a:spLocks noChangeArrowheads="1"/>
          </p:cNvSpPr>
          <p:nvPr/>
        </p:nvSpPr>
        <p:spPr bwMode="auto">
          <a:xfrm>
            <a:off x="6819900" y="33528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61" name="Rectangle 17"/>
          <p:cNvSpPr>
            <a:spLocks noChangeArrowheads="1"/>
          </p:cNvSpPr>
          <p:nvPr/>
        </p:nvSpPr>
        <p:spPr bwMode="auto">
          <a:xfrm>
            <a:off x="6972300" y="35052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62" name="Rectangle 18"/>
          <p:cNvSpPr>
            <a:spLocks noChangeArrowheads="1"/>
          </p:cNvSpPr>
          <p:nvPr/>
        </p:nvSpPr>
        <p:spPr bwMode="auto">
          <a:xfrm>
            <a:off x="7124700" y="36576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63" name="Rectangle 19"/>
          <p:cNvSpPr>
            <a:spLocks noChangeArrowheads="1"/>
          </p:cNvSpPr>
          <p:nvPr/>
        </p:nvSpPr>
        <p:spPr bwMode="auto">
          <a:xfrm>
            <a:off x="7277100" y="3810000"/>
            <a:ext cx="1447800" cy="762000"/>
          </a:xfrm>
          <a:prstGeom prst="rect">
            <a:avLst/>
          </a:prstGeom>
          <a:solidFill>
            <a:schemeClr val="bg1"/>
          </a:solidFill>
          <a:ln w="9525">
            <a:solidFill>
              <a:schemeClr val="tx1"/>
            </a:solidFill>
            <a:miter lim="800000"/>
            <a:headEnd/>
            <a:tailEnd/>
          </a:ln>
        </p:spPr>
        <p:txBody>
          <a:bodyPr wrap="none" anchor="ctr"/>
          <a:lstStyle/>
          <a:p>
            <a:pPr algn="ctr"/>
            <a:r>
              <a:rPr lang="en-US"/>
              <a:t>Questions</a:t>
            </a:r>
          </a:p>
        </p:txBody>
      </p:sp>
      <p:sp>
        <p:nvSpPr>
          <p:cNvPr id="6165" name="Line 21"/>
          <p:cNvSpPr>
            <a:spLocks noChangeShapeType="1"/>
          </p:cNvSpPr>
          <p:nvPr/>
        </p:nvSpPr>
        <p:spPr bwMode="auto">
          <a:xfrm flipH="1" flipV="1">
            <a:off x="6591300" y="2133600"/>
            <a:ext cx="762000" cy="8382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166" name="AutoShape 22"/>
          <p:cNvSpPr>
            <a:spLocks noChangeArrowheads="1"/>
          </p:cNvSpPr>
          <p:nvPr/>
        </p:nvSpPr>
        <p:spPr bwMode="auto">
          <a:xfrm>
            <a:off x="7124700" y="2057400"/>
            <a:ext cx="1600200" cy="381000"/>
          </a:xfrm>
          <a:prstGeom prst="wedgeRectCallout">
            <a:avLst>
              <a:gd name="adj1" fmla="val -52481"/>
              <a:gd name="adj2" fmla="val 108750"/>
            </a:avLst>
          </a:prstGeom>
          <a:solidFill>
            <a:schemeClr val="bg1"/>
          </a:solidFill>
          <a:ln w="9525">
            <a:solidFill>
              <a:schemeClr val="tx1"/>
            </a:solidFill>
            <a:miter lim="800000"/>
            <a:headEnd/>
            <a:tailEnd/>
          </a:ln>
        </p:spPr>
        <p:txBody>
          <a:bodyPr/>
          <a:lstStyle/>
          <a:p>
            <a:pPr algn="ctr"/>
            <a:r>
              <a:rPr lang="en-US" i="1"/>
              <a:t>made up of</a:t>
            </a:r>
          </a:p>
        </p:txBody>
      </p:sp>
      <p:sp>
        <p:nvSpPr>
          <p:cNvPr id="6167" name="AutoShape 23"/>
          <p:cNvSpPr>
            <a:spLocks noChangeArrowheads="1"/>
          </p:cNvSpPr>
          <p:nvPr/>
        </p:nvSpPr>
        <p:spPr bwMode="auto">
          <a:xfrm>
            <a:off x="4381500" y="38862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68" name="AutoShape 24"/>
          <p:cNvSpPr>
            <a:spLocks noChangeArrowheads="1"/>
          </p:cNvSpPr>
          <p:nvPr/>
        </p:nvSpPr>
        <p:spPr bwMode="auto">
          <a:xfrm>
            <a:off x="4533900" y="40386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69" name="AutoShape 25"/>
          <p:cNvSpPr>
            <a:spLocks noChangeArrowheads="1"/>
          </p:cNvSpPr>
          <p:nvPr/>
        </p:nvSpPr>
        <p:spPr bwMode="auto">
          <a:xfrm>
            <a:off x="4686300" y="41910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0" name="AutoShape 26"/>
          <p:cNvSpPr>
            <a:spLocks noChangeArrowheads="1"/>
          </p:cNvSpPr>
          <p:nvPr/>
        </p:nvSpPr>
        <p:spPr bwMode="auto">
          <a:xfrm>
            <a:off x="4838700" y="43434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1" name="AutoShape 27"/>
          <p:cNvSpPr>
            <a:spLocks noChangeArrowheads="1"/>
          </p:cNvSpPr>
          <p:nvPr/>
        </p:nvSpPr>
        <p:spPr bwMode="auto">
          <a:xfrm>
            <a:off x="4991100" y="44958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2" name="AutoShape 28"/>
          <p:cNvSpPr>
            <a:spLocks noChangeArrowheads="1"/>
          </p:cNvSpPr>
          <p:nvPr/>
        </p:nvSpPr>
        <p:spPr bwMode="auto">
          <a:xfrm>
            <a:off x="3924300" y="38862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3" name="AutoShape 29"/>
          <p:cNvSpPr>
            <a:spLocks noChangeArrowheads="1"/>
          </p:cNvSpPr>
          <p:nvPr/>
        </p:nvSpPr>
        <p:spPr bwMode="auto">
          <a:xfrm>
            <a:off x="4076700" y="40386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4" name="AutoShape 30"/>
          <p:cNvSpPr>
            <a:spLocks noChangeArrowheads="1"/>
          </p:cNvSpPr>
          <p:nvPr/>
        </p:nvSpPr>
        <p:spPr bwMode="auto">
          <a:xfrm>
            <a:off x="4229100" y="41910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5" name="AutoShape 31"/>
          <p:cNvSpPr>
            <a:spLocks noChangeArrowheads="1"/>
          </p:cNvSpPr>
          <p:nvPr/>
        </p:nvSpPr>
        <p:spPr bwMode="auto">
          <a:xfrm>
            <a:off x="4381500" y="43434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6" name="AutoShape 32"/>
          <p:cNvSpPr>
            <a:spLocks noChangeArrowheads="1"/>
          </p:cNvSpPr>
          <p:nvPr/>
        </p:nvSpPr>
        <p:spPr bwMode="auto">
          <a:xfrm>
            <a:off x="4533900" y="44958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7" name="Oval 33"/>
          <p:cNvSpPr>
            <a:spLocks noChangeArrowheads="1"/>
          </p:cNvSpPr>
          <p:nvPr/>
        </p:nvSpPr>
        <p:spPr bwMode="auto">
          <a:xfrm>
            <a:off x="3619500" y="3505200"/>
            <a:ext cx="2133600" cy="2057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nl-NL"/>
          </a:p>
        </p:txBody>
      </p:sp>
      <p:sp>
        <p:nvSpPr>
          <p:cNvPr id="6178" name="Text Box 34"/>
          <p:cNvSpPr txBox="1">
            <a:spLocks noChangeArrowheads="1"/>
          </p:cNvSpPr>
          <p:nvPr/>
        </p:nvSpPr>
        <p:spPr bwMode="auto">
          <a:xfrm>
            <a:off x="4076700" y="4876800"/>
            <a:ext cx="1200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Universes</a:t>
            </a:r>
          </a:p>
        </p:txBody>
      </p:sp>
      <p:sp>
        <p:nvSpPr>
          <p:cNvPr id="6179" name="Line 35"/>
          <p:cNvSpPr>
            <a:spLocks noChangeShapeType="1"/>
          </p:cNvSpPr>
          <p:nvPr/>
        </p:nvSpPr>
        <p:spPr bwMode="auto">
          <a:xfrm flipH="1" flipV="1">
            <a:off x="3695700" y="2133600"/>
            <a:ext cx="609600" cy="13716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180" name="AutoShape 36"/>
          <p:cNvSpPr>
            <a:spLocks noChangeArrowheads="1"/>
          </p:cNvSpPr>
          <p:nvPr/>
        </p:nvSpPr>
        <p:spPr bwMode="auto">
          <a:xfrm>
            <a:off x="4610100" y="2667000"/>
            <a:ext cx="914400" cy="304800"/>
          </a:xfrm>
          <a:prstGeom prst="wedgeRectCallout">
            <a:avLst>
              <a:gd name="adj1" fmla="val -103648"/>
              <a:gd name="adj2" fmla="val 50000"/>
            </a:avLst>
          </a:prstGeom>
          <a:solidFill>
            <a:schemeClr val="bg1"/>
          </a:solidFill>
          <a:ln w="9525">
            <a:solidFill>
              <a:schemeClr val="tx1"/>
            </a:solidFill>
            <a:miter lim="800000"/>
            <a:headEnd/>
            <a:tailEnd/>
          </a:ln>
        </p:spPr>
        <p:txBody>
          <a:bodyPr/>
          <a:lstStyle/>
          <a:p>
            <a:pPr algn="ctr"/>
            <a:r>
              <a:rPr lang="en-US" i="1"/>
              <a:t>about</a:t>
            </a:r>
          </a:p>
        </p:txBody>
      </p:sp>
      <p:sp>
        <p:nvSpPr>
          <p:cNvPr id="11295" name="Text Box 6"/>
          <p:cNvSpPr txBox="1">
            <a:spLocks noChangeArrowheads="1"/>
          </p:cNvSpPr>
          <p:nvPr/>
        </p:nvSpPr>
        <p:spPr bwMode="auto">
          <a:xfrm>
            <a:off x="4267200" y="6221413"/>
            <a:ext cx="458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200">
                <a:latin typeface="Calibri" pitchFamily="34" charset="0"/>
              </a:rPr>
              <a:t>Copyright © GESIS – Leibniz Institute for the Social Sciences, 2010</a:t>
            </a:r>
          </a:p>
          <a:p>
            <a:pPr algn="ctr" eaLnBrk="1" hangingPunct="1"/>
            <a:r>
              <a:rPr lang="en-US" sz="1200">
                <a:latin typeface="Calibri" pitchFamily="34" charset="0"/>
              </a:rPr>
              <a:t>Published under Creative Commons Attribute-ShareAlike 3.0 Unported</a:t>
            </a:r>
          </a:p>
        </p:txBody>
      </p:sp>
    </p:spTree>
    <p:extLst>
      <p:ext uri="{BB962C8B-B14F-4D97-AF65-F5344CB8AC3E}">
        <p14:creationId xmlns:p14="http://schemas.microsoft.com/office/powerpoint/2010/main" val="11654475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5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7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7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7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7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7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7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7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7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8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15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5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15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15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15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6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16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6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6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16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animBg="1"/>
      <p:bldP spid="6152" grpId="0" animBg="1"/>
      <p:bldP spid="6153" grpId="0" animBg="1"/>
      <p:bldP spid="6154" grpId="0" animBg="1"/>
      <p:bldP spid="6156" grpId="0" animBg="1"/>
      <p:bldP spid="6157" grpId="0" animBg="1"/>
      <p:bldP spid="6158" grpId="0" animBg="1"/>
      <p:bldP spid="6159" grpId="0" animBg="1"/>
      <p:bldP spid="6160" grpId="0" animBg="1"/>
      <p:bldP spid="6161" grpId="0" animBg="1"/>
      <p:bldP spid="6162" grpId="0" animBg="1"/>
      <p:bldP spid="6163" grpId="0" animBg="1"/>
      <p:bldP spid="6165" grpId="0" animBg="1"/>
      <p:bldP spid="6166" grpId="0" animBg="1"/>
      <p:bldP spid="6167" grpId="0" animBg="1"/>
      <p:bldP spid="6168" grpId="0" animBg="1"/>
      <p:bldP spid="6169" grpId="0" animBg="1"/>
      <p:bldP spid="6170" grpId="0" animBg="1"/>
      <p:bldP spid="6171" grpId="0" animBg="1"/>
      <p:bldP spid="6172" grpId="0" animBg="1"/>
      <p:bldP spid="6173" grpId="0" animBg="1"/>
      <p:bldP spid="6174" grpId="0" animBg="1"/>
      <p:bldP spid="6175" grpId="0" animBg="1"/>
      <p:bldP spid="6176" grpId="0" animBg="1"/>
      <p:bldP spid="6177" grpId="0" animBg="1"/>
      <p:bldP spid="6178" grpId="0"/>
      <p:bldP spid="6179" grpId="0" animBg="1"/>
      <p:bldP spid="618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838200" y="6858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1" name="Rectangle 5"/>
          <p:cNvSpPr>
            <a:spLocks noChangeArrowheads="1"/>
          </p:cNvSpPr>
          <p:nvPr/>
        </p:nvSpPr>
        <p:spPr bwMode="auto">
          <a:xfrm>
            <a:off x="990600" y="8382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2" name="Rectangle 6"/>
          <p:cNvSpPr>
            <a:spLocks noChangeArrowheads="1"/>
          </p:cNvSpPr>
          <p:nvPr/>
        </p:nvSpPr>
        <p:spPr bwMode="auto">
          <a:xfrm>
            <a:off x="1143000" y="9906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3" name="Rectangle 7"/>
          <p:cNvSpPr>
            <a:spLocks noChangeArrowheads="1"/>
          </p:cNvSpPr>
          <p:nvPr/>
        </p:nvSpPr>
        <p:spPr bwMode="auto">
          <a:xfrm>
            <a:off x="1295400" y="11430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4" name="Rectangle 8"/>
          <p:cNvSpPr>
            <a:spLocks noChangeArrowheads="1"/>
          </p:cNvSpPr>
          <p:nvPr/>
        </p:nvSpPr>
        <p:spPr bwMode="auto">
          <a:xfrm>
            <a:off x="1447800" y="12954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5" name="Rectangle 9"/>
          <p:cNvSpPr>
            <a:spLocks noChangeArrowheads="1"/>
          </p:cNvSpPr>
          <p:nvPr/>
        </p:nvSpPr>
        <p:spPr bwMode="auto">
          <a:xfrm>
            <a:off x="1600200" y="1447800"/>
            <a:ext cx="1447800" cy="762000"/>
          </a:xfrm>
          <a:prstGeom prst="rect">
            <a:avLst/>
          </a:prstGeom>
          <a:solidFill>
            <a:schemeClr val="bg1"/>
          </a:solidFill>
          <a:ln w="9525">
            <a:solidFill>
              <a:schemeClr val="tx1"/>
            </a:solidFill>
            <a:miter lim="800000"/>
            <a:headEnd/>
            <a:tailEnd/>
          </a:ln>
        </p:spPr>
        <p:txBody>
          <a:bodyPr wrap="none" anchor="ctr"/>
          <a:lstStyle/>
          <a:p>
            <a:pPr algn="ctr"/>
            <a:r>
              <a:rPr lang="en-US"/>
              <a:t>Questions</a:t>
            </a:r>
          </a:p>
        </p:txBody>
      </p:sp>
      <p:sp>
        <p:nvSpPr>
          <p:cNvPr id="7179" name="Rectangle 11"/>
          <p:cNvSpPr>
            <a:spLocks noChangeArrowheads="1"/>
          </p:cNvSpPr>
          <p:nvPr/>
        </p:nvSpPr>
        <p:spPr bwMode="auto">
          <a:xfrm>
            <a:off x="990600" y="40386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0" name="Rectangle 12"/>
          <p:cNvSpPr>
            <a:spLocks noChangeArrowheads="1"/>
          </p:cNvSpPr>
          <p:nvPr/>
        </p:nvSpPr>
        <p:spPr bwMode="auto">
          <a:xfrm>
            <a:off x="1143000" y="41910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1" name="Rectangle 13"/>
          <p:cNvSpPr>
            <a:spLocks noChangeArrowheads="1"/>
          </p:cNvSpPr>
          <p:nvPr/>
        </p:nvSpPr>
        <p:spPr bwMode="auto">
          <a:xfrm>
            <a:off x="1295400" y="43434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2" name="Rectangle 14"/>
          <p:cNvSpPr>
            <a:spLocks noChangeArrowheads="1"/>
          </p:cNvSpPr>
          <p:nvPr/>
        </p:nvSpPr>
        <p:spPr bwMode="auto">
          <a:xfrm>
            <a:off x="1447800" y="44958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3" name="Rectangle 15"/>
          <p:cNvSpPr>
            <a:spLocks noChangeArrowheads="1"/>
          </p:cNvSpPr>
          <p:nvPr/>
        </p:nvSpPr>
        <p:spPr bwMode="auto">
          <a:xfrm>
            <a:off x="1600200" y="46482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4" name="Rectangle 16"/>
          <p:cNvSpPr>
            <a:spLocks noChangeArrowheads="1"/>
          </p:cNvSpPr>
          <p:nvPr/>
        </p:nvSpPr>
        <p:spPr bwMode="auto">
          <a:xfrm>
            <a:off x="1752600" y="4800600"/>
            <a:ext cx="1447800" cy="762000"/>
          </a:xfrm>
          <a:prstGeom prst="rect">
            <a:avLst/>
          </a:prstGeom>
          <a:solidFill>
            <a:schemeClr val="bg1"/>
          </a:solidFill>
          <a:ln w="9525">
            <a:solidFill>
              <a:schemeClr val="tx1"/>
            </a:solidFill>
            <a:miter lim="800000"/>
            <a:headEnd/>
            <a:tailEnd/>
          </a:ln>
        </p:spPr>
        <p:txBody>
          <a:bodyPr wrap="none" anchor="ctr"/>
          <a:lstStyle/>
          <a:p>
            <a:pPr algn="ctr"/>
            <a:r>
              <a:rPr lang="en-US"/>
              <a:t>Responses</a:t>
            </a:r>
          </a:p>
        </p:txBody>
      </p:sp>
      <p:sp>
        <p:nvSpPr>
          <p:cNvPr id="7185" name="Line 17"/>
          <p:cNvSpPr>
            <a:spLocks noChangeShapeType="1"/>
          </p:cNvSpPr>
          <p:nvPr/>
        </p:nvSpPr>
        <p:spPr bwMode="auto">
          <a:xfrm flipV="1">
            <a:off x="1828800" y="2286000"/>
            <a:ext cx="0" cy="16764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186" name="AutoShape 18"/>
          <p:cNvSpPr>
            <a:spLocks noChangeArrowheads="1"/>
          </p:cNvSpPr>
          <p:nvPr/>
        </p:nvSpPr>
        <p:spPr bwMode="auto">
          <a:xfrm>
            <a:off x="2209800" y="3048000"/>
            <a:ext cx="1143000" cy="457200"/>
          </a:xfrm>
          <a:prstGeom prst="wedgeRectCallout">
            <a:avLst>
              <a:gd name="adj1" fmla="val -81667"/>
              <a:gd name="adj2" fmla="val 56597"/>
            </a:avLst>
          </a:prstGeom>
          <a:solidFill>
            <a:schemeClr val="bg1"/>
          </a:solidFill>
          <a:ln w="9525">
            <a:solidFill>
              <a:schemeClr val="tx1"/>
            </a:solidFill>
            <a:miter lim="800000"/>
            <a:headEnd/>
            <a:tailEnd/>
          </a:ln>
        </p:spPr>
        <p:txBody>
          <a:bodyPr/>
          <a:lstStyle/>
          <a:p>
            <a:pPr algn="ctr"/>
            <a:r>
              <a:rPr lang="en-US" i="1"/>
              <a:t>collect</a:t>
            </a:r>
          </a:p>
        </p:txBody>
      </p:sp>
      <p:sp>
        <p:nvSpPr>
          <p:cNvPr id="7187" name="AutoShape 19" descr="Large grid"/>
          <p:cNvSpPr>
            <a:spLocks noChangeArrowheads="1"/>
          </p:cNvSpPr>
          <p:nvPr/>
        </p:nvSpPr>
        <p:spPr bwMode="auto">
          <a:xfrm>
            <a:off x="4495800" y="3810000"/>
            <a:ext cx="2133600" cy="1447800"/>
          </a:xfrm>
          <a:prstGeom prst="cube">
            <a:avLst>
              <a:gd name="adj" fmla="val 25000"/>
            </a:avLst>
          </a:prstGeom>
          <a:pattFill prst="lgGrid">
            <a:fgClr>
              <a:schemeClr val="tx1"/>
            </a:fgClr>
            <a:bgClr>
              <a:schemeClr val="bg1"/>
            </a:bgClr>
          </a:pattFill>
          <a:ln w="9525">
            <a:solidFill>
              <a:schemeClr val="tx1"/>
            </a:solidFill>
            <a:miter lim="800000"/>
            <a:headEnd/>
            <a:tailEnd/>
          </a:ln>
        </p:spPr>
        <p:txBody>
          <a:bodyPr wrap="none" anchor="ctr"/>
          <a:lstStyle/>
          <a:p>
            <a:pPr algn="ctr"/>
            <a:endParaRPr lang="nl-NL"/>
          </a:p>
        </p:txBody>
      </p:sp>
      <p:sp>
        <p:nvSpPr>
          <p:cNvPr id="7188" name="Line 20"/>
          <p:cNvSpPr>
            <a:spLocks noChangeShapeType="1"/>
          </p:cNvSpPr>
          <p:nvPr/>
        </p:nvSpPr>
        <p:spPr bwMode="auto">
          <a:xfrm flipH="1">
            <a:off x="3276600" y="5029200"/>
            <a:ext cx="11430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189" name="AutoShape 21"/>
          <p:cNvSpPr>
            <a:spLocks noChangeArrowheads="1"/>
          </p:cNvSpPr>
          <p:nvPr/>
        </p:nvSpPr>
        <p:spPr bwMode="auto">
          <a:xfrm>
            <a:off x="3429000" y="5715000"/>
            <a:ext cx="1447800" cy="381000"/>
          </a:xfrm>
          <a:prstGeom prst="wedgeRectCallout">
            <a:avLst>
              <a:gd name="adj1" fmla="val -25111"/>
              <a:gd name="adj2" fmla="val -225833"/>
            </a:avLst>
          </a:prstGeom>
          <a:solidFill>
            <a:schemeClr val="bg1"/>
          </a:solidFill>
          <a:ln w="9525">
            <a:solidFill>
              <a:schemeClr val="tx1"/>
            </a:solidFill>
            <a:miter lim="800000"/>
            <a:headEnd/>
            <a:tailEnd/>
          </a:ln>
        </p:spPr>
        <p:txBody>
          <a:bodyPr/>
          <a:lstStyle/>
          <a:p>
            <a:pPr algn="ctr"/>
            <a:r>
              <a:rPr lang="en-US" i="1"/>
              <a:t>resulting in</a:t>
            </a:r>
          </a:p>
        </p:txBody>
      </p:sp>
      <p:sp>
        <p:nvSpPr>
          <p:cNvPr id="7191" name="Text Box 23"/>
          <p:cNvSpPr txBox="1">
            <a:spLocks noChangeArrowheads="1"/>
          </p:cNvSpPr>
          <p:nvPr/>
        </p:nvSpPr>
        <p:spPr bwMode="auto">
          <a:xfrm>
            <a:off x="4724400" y="5257800"/>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a:t>Data Files</a:t>
            </a:r>
          </a:p>
        </p:txBody>
      </p:sp>
      <p:sp>
        <p:nvSpPr>
          <p:cNvPr id="7192" name="Rectangle 24"/>
          <p:cNvSpPr>
            <a:spLocks noChangeArrowheads="1"/>
          </p:cNvSpPr>
          <p:nvPr/>
        </p:nvSpPr>
        <p:spPr bwMode="auto">
          <a:xfrm>
            <a:off x="4191000" y="1676400"/>
            <a:ext cx="1676400" cy="6858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93" name="Rectangle 25"/>
          <p:cNvSpPr>
            <a:spLocks noChangeArrowheads="1"/>
          </p:cNvSpPr>
          <p:nvPr/>
        </p:nvSpPr>
        <p:spPr bwMode="auto">
          <a:xfrm>
            <a:off x="4343400" y="1828800"/>
            <a:ext cx="1676400" cy="6858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94" name="Rectangle 26"/>
          <p:cNvSpPr>
            <a:spLocks noChangeArrowheads="1"/>
          </p:cNvSpPr>
          <p:nvPr/>
        </p:nvSpPr>
        <p:spPr bwMode="auto">
          <a:xfrm>
            <a:off x="4495800" y="1981200"/>
            <a:ext cx="1676400" cy="6858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95" name="Rectangle 27"/>
          <p:cNvSpPr>
            <a:spLocks noChangeArrowheads="1"/>
          </p:cNvSpPr>
          <p:nvPr/>
        </p:nvSpPr>
        <p:spPr bwMode="auto">
          <a:xfrm>
            <a:off x="4648200" y="2133600"/>
            <a:ext cx="1676400" cy="6858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96" name="Rectangle 28"/>
          <p:cNvSpPr>
            <a:spLocks noChangeArrowheads="1"/>
          </p:cNvSpPr>
          <p:nvPr/>
        </p:nvSpPr>
        <p:spPr bwMode="auto">
          <a:xfrm>
            <a:off x="4800600" y="2286000"/>
            <a:ext cx="1676400" cy="685800"/>
          </a:xfrm>
          <a:prstGeom prst="rect">
            <a:avLst/>
          </a:prstGeom>
          <a:solidFill>
            <a:schemeClr val="bg1"/>
          </a:solidFill>
          <a:ln w="9525">
            <a:solidFill>
              <a:schemeClr val="tx1"/>
            </a:solidFill>
            <a:miter lim="800000"/>
            <a:headEnd/>
            <a:tailEnd/>
          </a:ln>
        </p:spPr>
        <p:txBody>
          <a:bodyPr wrap="none" anchor="ctr"/>
          <a:lstStyle/>
          <a:p>
            <a:pPr algn="ctr"/>
            <a:r>
              <a:rPr lang="en-US"/>
              <a:t>Variables</a:t>
            </a:r>
          </a:p>
        </p:txBody>
      </p:sp>
      <p:sp>
        <p:nvSpPr>
          <p:cNvPr id="7198" name="Line 30"/>
          <p:cNvSpPr>
            <a:spLocks noChangeShapeType="1"/>
          </p:cNvSpPr>
          <p:nvPr/>
        </p:nvSpPr>
        <p:spPr bwMode="auto">
          <a:xfrm>
            <a:off x="5486400" y="3048000"/>
            <a:ext cx="0" cy="6858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199" name="AutoShape 31"/>
          <p:cNvSpPr>
            <a:spLocks noChangeArrowheads="1"/>
          </p:cNvSpPr>
          <p:nvPr/>
        </p:nvSpPr>
        <p:spPr bwMode="auto">
          <a:xfrm>
            <a:off x="5791200" y="3124200"/>
            <a:ext cx="1371600" cy="381000"/>
          </a:xfrm>
          <a:prstGeom prst="wedgeRectCallout">
            <a:avLst>
              <a:gd name="adj1" fmla="val -70718"/>
              <a:gd name="adj2" fmla="val 58750"/>
            </a:avLst>
          </a:prstGeom>
          <a:solidFill>
            <a:schemeClr val="bg1"/>
          </a:solidFill>
          <a:ln w="9525">
            <a:solidFill>
              <a:schemeClr val="tx1"/>
            </a:solidFill>
            <a:miter lim="800000"/>
            <a:headEnd/>
            <a:tailEnd/>
          </a:ln>
        </p:spPr>
        <p:txBody>
          <a:bodyPr/>
          <a:lstStyle/>
          <a:p>
            <a:pPr algn="ctr"/>
            <a:r>
              <a:rPr lang="en-US" i="1"/>
              <a:t>made up of</a:t>
            </a:r>
          </a:p>
        </p:txBody>
      </p:sp>
      <p:sp>
        <p:nvSpPr>
          <p:cNvPr id="7200" name="AutoShape 32"/>
          <p:cNvSpPr>
            <a:spLocks noChangeArrowheads="1"/>
          </p:cNvSpPr>
          <p:nvPr/>
        </p:nvSpPr>
        <p:spPr bwMode="auto">
          <a:xfrm>
            <a:off x="7086600" y="304800"/>
            <a:ext cx="1600200" cy="1447800"/>
          </a:xfrm>
          <a:prstGeom prst="flowChartMultidocument">
            <a:avLst/>
          </a:prstGeom>
          <a:solidFill>
            <a:schemeClr val="bg1"/>
          </a:solidFill>
          <a:ln w="9525">
            <a:solidFill>
              <a:schemeClr val="tx1"/>
            </a:solidFill>
            <a:miter lim="800000"/>
            <a:headEnd/>
            <a:tailEnd/>
          </a:ln>
        </p:spPr>
        <p:txBody>
          <a:bodyPr wrap="none" anchor="ctr"/>
          <a:lstStyle/>
          <a:p>
            <a:pPr algn="ctr"/>
            <a:r>
              <a:rPr lang="en-US"/>
              <a:t>Categories/</a:t>
            </a:r>
          </a:p>
          <a:p>
            <a:pPr algn="ctr"/>
            <a:r>
              <a:rPr lang="en-US"/>
              <a:t>Codes,</a:t>
            </a:r>
          </a:p>
          <a:p>
            <a:pPr algn="ctr"/>
            <a:r>
              <a:rPr lang="en-US"/>
              <a:t>Numbers</a:t>
            </a:r>
          </a:p>
        </p:txBody>
      </p:sp>
      <p:sp>
        <p:nvSpPr>
          <p:cNvPr id="7202" name="Line 34"/>
          <p:cNvSpPr>
            <a:spLocks noChangeShapeType="1"/>
          </p:cNvSpPr>
          <p:nvPr/>
        </p:nvSpPr>
        <p:spPr bwMode="auto">
          <a:xfrm flipH="1">
            <a:off x="5791200" y="762000"/>
            <a:ext cx="1219200" cy="8382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203" name="AutoShape 35"/>
          <p:cNvSpPr>
            <a:spLocks noChangeArrowheads="1"/>
          </p:cNvSpPr>
          <p:nvPr/>
        </p:nvSpPr>
        <p:spPr bwMode="auto">
          <a:xfrm>
            <a:off x="4648200" y="533400"/>
            <a:ext cx="1676400" cy="381000"/>
          </a:xfrm>
          <a:prstGeom prst="wedgeRectCallout">
            <a:avLst>
              <a:gd name="adj1" fmla="val 41949"/>
              <a:gd name="adj2" fmla="val 131667"/>
            </a:avLst>
          </a:prstGeom>
          <a:solidFill>
            <a:schemeClr val="bg1"/>
          </a:solidFill>
          <a:ln w="9525">
            <a:solidFill>
              <a:schemeClr val="tx1"/>
            </a:solidFill>
            <a:miter lim="800000"/>
            <a:headEnd/>
            <a:tailEnd/>
          </a:ln>
        </p:spPr>
        <p:txBody>
          <a:bodyPr/>
          <a:lstStyle/>
          <a:p>
            <a:pPr algn="ctr"/>
            <a:r>
              <a:rPr lang="en-US" i="1"/>
              <a:t>with values of</a:t>
            </a:r>
          </a:p>
        </p:txBody>
      </p:sp>
      <p:sp>
        <p:nvSpPr>
          <p:cNvPr id="12318" name="Text Box 6"/>
          <p:cNvSpPr txBox="1">
            <a:spLocks noChangeArrowheads="1"/>
          </p:cNvSpPr>
          <p:nvPr/>
        </p:nvSpPr>
        <p:spPr bwMode="auto">
          <a:xfrm>
            <a:off x="4267200" y="6221413"/>
            <a:ext cx="458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200">
                <a:latin typeface="Calibri" pitchFamily="34" charset="0"/>
              </a:rPr>
              <a:t>Copyright © GESIS – Leibniz Institute for the Social Sciences, 2010</a:t>
            </a:r>
          </a:p>
          <a:p>
            <a:pPr algn="ctr" eaLnBrk="1" hangingPunct="1"/>
            <a:r>
              <a:rPr lang="en-US" sz="1200">
                <a:latin typeface="Calibri" pitchFamily="34" charset="0"/>
              </a:rPr>
              <a:t>Published under Creative Commons Attribute-ShareAlike 3.0 Unported</a:t>
            </a:r>
          </a:p>
        </p:txBody>
      </p:sp>
    </p:spTree>
    <p:extLst>
      <p:ext uri="{BB962C8B-B14F-4D97-AF65-F5344CB8AC3E}">
        <p14:creationId xmlns:p14="http://schemas.microsoft.com/office/powerpoint/2010/main" val="1266047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8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8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8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8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8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19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9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9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19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1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19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19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19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20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20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9" grpId="0" animBg="1"/>
      <p:bldP spid="7180" grpId="0" animBg="1"/>
      <p:bldP spid="7181" grpId="0" animBg="1"/>
      <p:bldP spid="7182" grpId="0" animBg="1"/>
      <p:bldP spid="7183" grpId="0" animBg="1"/>
      <p:bldP spid="7184" grpId="0" animBg="1"/>
      <p:bldP spid="7185" grpId="0" animBg="1"/>
      <p:bldP spid="7186" grpId="0" animBg="1"/>
      <p:bldP spid="7187" grpId="0" animBg="1"/>
      <p:bldP spid="7188" grpId="0" animBg="1"/>
      <p:bldP spid="7189" grpId="0" animBg="1"/>
      <p:bldP spid="7191" grpId="0"/>
      <p:bldP spid="7192" grpId="0" animBg="1"/>
      <p:bldP spid="7193" grpId="0" animBg="1"/>
      <p:bldP spid="7194" grpId="0" animBg="1"/>
      <p:bldP spid="7195" grpId="0" animBg="1"/>
      <p:bldP spid="7196" grpId="0" animBg="1"/>
      <p:bldP spid="7198" grpId="0" animBg="1"/>
      <p:bldP spid="7199" grpId="0" animBg="1"/>
      <p:bldP spid="7200" grpId="0" animBg="1"/>
      <p:bldP spid="7202" grpId="0" animBg="1"/>
      <p:bldP spid="720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processes</a:t>
            </a:r>
            <a:endParaRPr lang="en-US"/>
          </a:p>
        </p:txBody>
      </p:sp>
      <p:sp>
        <p:nvSpPr>
          <p:cNvPr id="3" name="Textplatzhalter 2"/>
          <p:cNvSpPr>
            <a:spLocks noGrp="1"/>
          </p:cNvSpPr>
          <p:nvPr>
            <p:ph type="body" idx="1"/>
          </p:nvPr>
        </p:nvSpPr>
        <p:spPr/>
        <p:txBody>
          <a:bodyPr/>
          <a:lstStyle/>
          <a:p>
            <a:r>
              <a:rPr lang="en-US" smtClean="0"/>
              <a:t>Introduction to DDI</a:t>
            </a:r>
            <a:endParaRPr lang="en-US"/>
          </a:p>
        </p:txBody>
      </p:sp>
    </p:spTree>
    <p:extLst>
      <p:ext uri="{BB962C8B-B14F-4D97-AF65-F5344CB8AC3E}">
        <p14:creationId xmlns:p14="http://schemas.microsoft.com/office/powerpoint/2010/main" val="37640908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Looking at your organization</a:t>
            </a:r>
            <a:endParaRPr lang="en-US" dirty="0"/>
          </a:p>
        </p:txBody>
      </p:sp>
      <p:sp>
        <p:nvSpPr>
          <p:cNvPr id="3" name="Content Placeholder 2"/>
          <p:cNvSpPr>
            <a:spLocks noGrp="1"/>
          </p:cNvSpPr>
          <p:nvPr>
            <p:ph idx="1"/>
          </p:nvPr>
        </p:nvSpPr>
        <p:spPr/>
        <p:txBody>
          <a:bodyPr/>
          <a:lstStyle/>
          <a:p>
            <a:r>
              <a:rPr lang="en-US" dirty="0" smtClean="0"/>
              <a:t>What activities take place and what materials do they involve?</a:t>
            </a:r>
          </a:p>
          <a:p>
            <a:r>
              <a:rPr lang="en-US" dirty="0" smtClean="0"/>
              <a:t>What specific processes take place and in what order?</a:t>
            </a:r>
          </a:p>
          <a:p>
            <a:r>
              <a:rPr lang="en-US" dirty="0" smtClean="0"/>
              <a:t>Which processes produce metadata of what type?</a:t>
            </a:r>
          </a:p>
          <a:p>
            <a:r>
              <a:rPr lang="en-US" dirty="0" smtClean="0"/>
              <a:t>What are the critical activities or processes?</a:t>
            </a:r>
          </a:p>
          <a:p>
            <a:r>
              <a:rPr lang="en-US" dirty="0" smtClean="0"/>
              <a:t>What do you control?</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Traditional Process Model</a:t>
            </a:r>
            <a:endParaRPr lang="en-US" dirty="0"/>
          </a:p>
        </p:txBody>
      </p:sp>
      <p:sp>
        <p:nvSpPr>
          <p:cNvPr id="4" name="Oval 3"/>
          <p:cNvSpPr/>
          <p:nvPr/>
        </p:nvSpPr>
        <p:spPr>
          <a:xfrm>
            <a:off x="2209800" y="2057400"/>
            <a:ext cx="5181600" cy="388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smtClean="0"/>
              <a:t>Process</a:t>
            </a:r>
            <a:endParaRPr lang="en-US" sz="4000" b="1" dirty="0"/>
          </a:p>
        </p:txBody>
      </p:sp>
      <p:sp>
        <p:nvSpPr>
          <p:cNvPr id="5" name="TextBox 4"/>
          <p:cNvSpPr txBox="1"/>
          <p:nvPr/>
        </p:nvSpPr>
        <p:spPr>
          <a:xfrm>
            <a:off x="457200" y="1676400"/>
            <a:ext cx="2923557" cy="707886"/>
          </a:xfrm>
          <a:prstGeom prst="rect">
            <a:avLst/>
          </a:prstGeom>
          <a:noFill/>
        </p:spPr>
        <p:txBody>
          <a:bodyPr wrap="none" rtlCol="0">
            <a:spAutoFit/>
          </a:bodyPr>
          <a:lstStyle/>
          <a:p>
            <a:r>
              <a:rPr lang="en-US" sz="4000" b="1" i="1" dirty="0" smtClean="0"/>
              <a:t>Environment</a:t>
            </a:r>
            <a:endParaRPr lang="en-US" sz="4000" b="1" i="1" dirty="0"/>
          </a:p>
        </p:txBody>
      </p:sp>
      <p:sp>
        <p:nvSpPr>
          <p:cNvPr id="6" name="TextBox 5"/>
          <p:cNvSpPr txBox="1"/>
          <p:nvPr/>
        </p:nvSpPr>
        <p:spPr>
          <a:xfrm>
            <a:off x="838200" y="3581400"/>
            <a:ext cx="1120820" cy="523220"/>
          </a:xfrm>
          <a:prstGeom prst="rect">
            <a:avLst/>
          </a:prstGeom>
          <a:noFill/>
        </p:spPr>
        <p:txBody>
          <a:bodyPr wrap="none" rtlCol="0">
            <a:spAutoFit/>
          </a:bodyPr>
          <a:lstStyle/>
          <a:p>
            <a:r>
              <a:rPr lang="en-US" sz="2800" b="1" dirty="0" smtClean="0"/>
              <a:t>INPUT</a:t>
            </a:r>
            <a:endParaRPr lang="en-US" sz="2800" b="1" dirty="0"/>
          </a:p>
        </p:txBody>
      </p:sp>
      <p:sp>
        <p:nvSpPr>
          <p:cNvPr id="7" name="TextBox 6"/>
          <p:cNvSpPr txBox="1"/>
          <p:nvPr/>
        </p:nvSpPr>
        <p:spPr>
          <a:xfrm>
            <a:off x="7620000" y="3581400"/>
            <a:ext cx="1441420" cy="523220"/>
          </a:xfrm>
          <a:prstGeom prst="rect">
            <a:avLst/>
          </a:prstGeom>
          <a:noFill/>
        </p:spPr>
        <p:txBody>
          <a:bodyPr wrap="none" rtlCol="0">
            <a:spAutoFit/>
          </a:bodyPr>
          <a:lstStyle/>
          <a:p>
            <a:r>
              <a:rPr lang="en-US" sz="2800" b="1" dirty="0" smtClean="0"/>
              <a:t>OUTPUT</a:t>
            </a:r>
            <a:endParaRPr 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pPr eaLnBrk="1" hangingPunct="1"/>
            <a:r>
              <a:rPr lang="en-US" dirty="0" smtClean="0"/>
              <a:t>DDI Lifecycle Model</a:t>
            </a:r>
          </a:p>
        </p:txBody>
      </p:sp>
      <p:pic>
        <p:nvPicPr>
          <p:cNvPr id="15363" name="Picture 3" descr="DDI_Lifecycle"/>
          <p:cNvPicPr>
            <a:picLocks noChangeAspect="1" noChangeArrowheads="1"/>
          </p:cNvPicPr>
          <p:nvPr/>
        </p:nvPicPr>
        <p:blipFill>
          <a:blip r:embed="rId3" cstate="print"/>
          <a:srcRect/>
          <a:stretch>
            <a:fillRect/>
          </a:stretch>
        </p:blipFill>
        <p:spPr bwMode="auto">
          <a:xfrm>
            <a:off x="457200" y="1371600"/>
            <a:ext cx="8686800" cy="4538663"/>
          </a:xfrm>
          <a:prstGeom prst="rect">
            <a:avLst/>
          </a:prstGeom>
          <a:noFill/>
          <a:ln w="9525">
            <a:noFill/>
            <a:miter lim="800000"/>
            <a:headEnd/>
            <a:tailEnd/>
          </a:ln>
        </p:spPr>
      </p:pic>
      <p:sp>
        <p:nvSpPr>
          <p:cNvPr id="52228" name="AutoShape 4"/>
          <p:cNvSpPr>
            <a:spLocks noChangeArrowheads="1"/>
          </p:cNvSpPr>
          <p:nvPr/>
        </p:nvSpPr>
        <p:spPr bwMode="auto">
          <a:xfrm rot="10800000">
            <a:off x="152400" y="4648200"/>
            <a:ext cx="7620000" cy="1219200"/>
          </a:xfrm>
          <a:prstGeom prst="curvedDownArrow">
            <a:avLst>
              <a:gd name="adj1" fmla="val 125000"/>
              <a:gd name="adj2" fmla="val 250000"/>
              <a:gd name="adj3" fmla="val 33333"/>
            </a:avLst>
          </a:prstGeom>
          <a:solidFill>
            <a:srgbClr val="FF0000"/>
          </a:solidFill>
          <a:ln w="9525">
            <a:solidFill>
              <a:schemeClr val="tx1"/>
            </a:solidFill>
            <a:miter lim="800000"/>
            <a:headEnd/>
            <a:tailEnd/>
          </a:ln>
        </p:spPr>
        <p:txBody>
          <a:bodyPr rot="10800000" wrap="none" anchor="ctr"/>
          <a:lstStyle/>
          <a:p>
            <a:pPr algn="ctr"/>
            <a:endParaRPr lang="en-US">
              <a:cs typeface="Arial" charset="0"/>
            </a:endParaRPr>
          </a:p>
        </p:txBody>
      </p:sp>
      <p:sp>
        <p:nvSpPr>
          <p:cNvPr id="52229" name="Text Box 5"/>
          <p:cNvSpPr txBox="1">
            <a:spLocks noChangeArrowheads="1"/>
          </p:cNvSpPr>
          <p:nvPr/>
        </p:nvSpPr>
        <p:spPr bwMode="auto">
          <a:xfrm>
            <a:off x="3048000" y="5943600"/>
            <a:ext cx="3101975" cy="457200"/>
          </a:xfrm>
          <a:prstGeom prst="rect">
            <a:avLst/>
          </a:prstGeom>
          <a:noFill/>
          <a:ln w="9525">
            <a:noFill/>
            <a:miter lim="800000"/>
            <a:headEnd/>
            <a:tailEnd/>
          </a:ln>
        </p:spPr>
        <p:txBody>
          <a:bodyPr>
            <a:spAutoFit/>
          </a:bodyPr>
          <a:lstStyle/>
          <a:p>
            <a:pPr>
              <a:spcBef>
                <a:spcPct val="50000"/>
              </a:spcBef>
            </a:pPr>
            <a:r>
              <a:rPr lang="en-US" sz="2400" b="1">
                <a:cs typeface="Arial" charset="0"/>
              </a:rPr>
              <a:t>Metadata Reuse</a:t>
            </a:r>
          </a:p>
        </p:txBody>
      </p:sp>
      <p:sp>
        <p:nvSpPr>
          <p:cNvPr id="15366" name="Date Placeholder 5"/>
          <p:cNvSpPr>
            <a:spLocks noGrp="1"/>
          </p:cNvSpPr>
          <p:nvPr>
            <p:ph type="dt" sz="quarter" idx="10"/>
          </p:nvPr>
        </p:nvSpPr>
        <p:spPr>
          <a:noFill/>
        </p:spPr>
        <p:txBody>
          <a:bodyPr/>
          <a:lstStyle/>
          <a:p>
            <a:r>
              <a:rPr lang="en-US" smtClean="0"/>
              <a:t>S03</a:t>
            </a:r>
          </a:p>
        </p:txBody>
      </p:sp>
      <p:sp>
        <p:nvSpPr>
          <p:cNvPr id="15367" name="Slide Number Placeholder 6"/>
          <p:cNvSpPr>
            <a:spLocks noGrp="1"/>
          </p:cNvSpPr>
          <p:nvPr>
            <p:ph type="sldNum" sz="quarter" idx="12"/>
          </p:nvPr>
        </p:nvSpPr>
        <p:spPr>
          <a:noFill/>
        </p:spPr>
        <p:txBody>
          <a:bodyPr/>
          <a:lstStyle/>
          <a:p>
            <a:fld id="{96307F89-FF65-4BE8-882F-C1176FB397C8}" type="slidenum">
              <a:rPr lang="en-US" smtClean="0"/>
              <a:pPr/>
              <a:t>16</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 calcmode="lin" valueType="num">
                                      <p:cBhvr additive="base">
                                        <p:cTn id="7" dur="500" fill="hold"/>
                                        <p:tgtEl>
                                          <p:spTgt spid="52228"/>
                                        </p:tgtEl>
                                        <p:attrNameLst>
                                          <p:attrName>ppt_x</p:attrName>
                                        </p:attrNameLst>
                                      </p:cBhvr>
                                      <p:tavLst>
                                        <p:tav tm="0">
                                          <p:val>
                                            <p:strVal val="#ppt_x"/>
                                          </p:val>
                                        </p:tav>
                                        <p:tav tm="100000">
                                          <p:val>
                                            <p:strVal val="#ppt_x"/>
                                          </p:val>
                                        </p:tav>
                                      </p:tavLst>
                                    </p:anim>
                                    <p:anim calcmode="lin" valueType="num">
                                      <p:cBhvr additive="base">
                                        <p:cTn id="8" dur="500" fill="hold"/>
                                        <p:tgtEl>
                                          <p:spTgt spid="522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229"/>
                                        </p:tgtEl>
                                        <p:attrNameLst>
                                          <p:attrName>style.visibility</p:attrName>
                                        </p:attrNameLst>
                                      </p:cBhvr>
                                      <p:to>
                                        <p:strVal val="visible"/>
                                      </p:to>
                                    </p:set>
                                    <p:anim calcmode="lin" valueType="num">
                                      <p:cBhvr additive="base">
                                        <p:cTn id="11" dur="500" fill="hold"/>
                                        <p:tgtEl>
                                          <p:spTgt spid="52229"/>
                                        </p:tgtEl>
                                        <p:attrNameLst>
                                          <p:attrName>ppt_x</p:attrName>
                                        </p:attrNameLst>
                                      </p:cBhvr>
                                      <p:tavLst>
                                        <p:tav tm="0">
                                          <p:val>
                                            <p:strVal val="#ppt_x"/>
                                          </p:val>
                                        </p:tav>
                                        <p:tav tm="100000">
                                          <p:val>
                                            <p:strVal val="#ppt_x"/>
                                          </p:val>
                                        </p:tav>
                                      </p:tavLst>
                                    </p:anim>
                                    <p:anim calcmode="lin" valueType="num">
                                      <p:cBhvr additive="base">
                                        <p:cTn id="12"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nimBg="1"/>
      <p:bldP spid="522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descr="GSBP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8686800" cy="629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mtClean="0"/>
              <a:t>S20</a:t>
            </a:r>
          </a:p>
        </p:txBody>
      </p:sp>
      <p:sp>
        <p:nvSpPr>
          <p:cNvPr id="573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053DA8C-64E5-409F-B80F-8EDBCDD126F7}" type="slidenum">
              <a:rPr lang="en-US" smtClean="0"/>
              <a:pPr eaLnBrk="1" hangingPunct="1"/>
              <a:t>17</a:t>
            </a:fld>
            <a:endParaRPr lang="en-US" smtClean="0"/>
          </a:p>
        </p:txBody>
      </p:sp>
    </p:spTree>
    <p:extLst>
      <p:ext uri="{BB962C8B-B14F-4D97-AF65-F5344CB8AC3E}">
        <p14:creationId xmlns:p14="http://schemas.microsoft.com/office/powerpoint/2010/main" val="26552082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mtClean="0"/>
              <a:t>S01</a:t>
            </a:r>
          </a:p>
        </p:txBody>
      </p:sp>
      <p:sp>
        <p:nvSpPr>
          <p:cNvPr id="2253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C936838-433C-4FB9-9866-1C100E89DFE6}" type="slidenum">
              <a:rPr lang="en-US" smtClean="0"/>
              <a:pPr eaLnBrk="1" hangingPunct="1"/>
              <a:t>18</a:t>
            </a:fld>
            <a:endParaRPr lang="en-US" smtClean="0"/>
          </a:p>
        </p:txBody>
      </p:sp>
      <p:pic>
        <p:nvPicPr>
          <p:cNvPr id="2253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163" y="228600"/>
            <a:ext cx="8712200" cy="565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80165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mtClean="0"/>
              <a:t>S01</a:t>
            </a:r>
          </a:p>
        </p:txBody>
      </p:sp>
      <p:sp>
        <p:nvSpPr>
          <p:cNvPr id="2150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B95E3DF-0A54-4952-9FDB-A9AF7E9A6ABE}" type="slidenum">
              <a:rPr lang="en-US" smtClean="0"/>
              <a:pPr eaLnBrk="1" hangingPunct="1"/>
              <a:t>19</a:t>
            </a:fld>
            <a:endParaRPr lang="en-US" smtClean="0"/>
          </a:p>
        </p:txBody>
      </p:sp>
      <p:pic>
        <p:nvPicPr>
          <p:cNvPr id="21508" name="Content Placeholder 5" descr="images-v05-04"/>
          <p:cNvPicPr>
            <a:picLocks noGrp="1"/>
          </p:cNvPicPr>
          <p:nvPr>
            <p:ph idx="4294967295"/>
          </p:nvPr>
        </p:nvPicPr>
        <p:blipFill>
          <a:blip r:embed="rId2" cstate="print">
            <a:extLst>
              <a:ext uri="{28A0092B-C50C-407E-A947-70E740481C1C}">
                <a14:useLocalDpi xmlns:a14="http://schemas.microsoft.com/office/drawing/2010/main" val="0"/>
              </a:ext>
            </a:extLst>
          </a:blip>
          <a:srcRect t="10397" b="12349"/>
          <a:stretch>
            <a:fillRect/>
          </a:stretch>
        </p:blipFill>
        <p:spPr>
          <a:xfrm>
            <a:off x="-38100" y="0"/>
            <a:ext cx="9398000" cy="2728913"/>
          </a:xfrm>
        </p:spPr>
      </p:pic>
      <p:sp>
        <p:nvSpPr>
          <p:cNvPr id="2" name="TextBox 1"/>
          <p:cNvSpPr txBox="1"/>
          <p:nvPr/>
        </p:nvSpPr>
        <p:spPr>
          <a:xfrm>
            <a:off x="1219200" y="3352800"/>
            <a:ext cx="7269619" cy="830997"/>
          </a:xfrm>
          <a:prstGeom prst="rect">
            <a:avLst/>
          </a:prstGeom>
          <a:noFill/>
        </p:spPr>
        <p:txBody>
          <a:bodyPr wrap="none" rtlCol="0">
            <a:spAutoFit/>
          </a:bodyPr>
          <a:lstStyle/>
          <a:p>
            <a:r>
              <a:rPr lang="en-US" sz="2400" dirty="0" smtClean="0"/>
              <a:t>Note the similarity to the DDI Combined Lifecycle Model </a:t>
            </a:r>
          </a:p>
          <a:p>
            <a:r>
              <a:rPr lang="en-US" sz="2400" dirty="0" smtClean="0"/>
              <a:t>and the top level of the GSBPM</a:t>
            </a:r>
            <a:endParaRPr lang="en-US" sz="2400" dirty="0"/>
          </a:p>
        </p:txBody>
      </p:sp>
    </p:spTree>
    <p:extLst>
      <p:ext uri="{BB962C8B-B14F-4D97-AF65-F5344CB8AC3E}">
        <p14:creationId xmlns:p14="http://schemas.microsoft.com/office/powerpoint/2010/main" val="12890362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mtClean="0"/>
              <a:t>S01</a:t>
            </a:r>
          </a:p>
        </p:txBody>
      </p:sp>
      <p:sp>
        <p:nvSpPr>
          <p:cNvPr id="2355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F223CBA-72D8-4700-8FDA-C6CC4EDC9DF9}" type="slidenum">
              <a:rPr lang="en-US" smtClean="0"/>
              <a:pPr eaLnBrk="1" hangingPunct="1"/>
              <a:t>20</a:t>
            </a:fld>
            <a:endParaRPr lang="en-US" smtClean="0"/>
          </a:p>
        </p:txBody>
      </p:sp>
      <p:pic>
        <p:nvPicPr>
          <p:cNvPr id="23556"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238" y="228600"/>
            <a:ext cx="8767762" cy="543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68737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7778" t="22767" r="15102" b="8779"/>
          <a:stretch/>
        </p:blipFill>
        <p:spPr bwMode="auto">
          <a:xfrm>
            <a:off x="152400" y="609600"/>
            <a:ext cx="8839200" cy="549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17702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The </a:t>
            </a:r>
            <a:r>
              <a:rPr lang="en-US" dirty="0" err="1" smtClean="0"/>
              <a:t>ddi</a:t>
            </a:r>
            <a:r>
              <a:rPr lang="en-US" dirty="0" smtClean="0"/>
              <a:t>-standard</a:t>
            </a:r>
            <a:endParaRPr lang="en-US" dirty="0"/>
          </a:p>
        </p:txBody>
      </p:sp>
      <p:sp>
        <p:nvSpPr>
          <p:cNvPr id="3" name="Textplatzhalter 2"/>
          <p:cNvSpPr>
            <a:spLocks noGrp="1"/>
          </p:cNvSpPr>
          <p:nvPr>
            <p:ph type="body" idx="1"/>
          </p:nvPr>
        </p:nvSpPr>
        <p:spPr/>
        <p:txBody>
          <a:bodyPr/>
          <a:lstStyle/>
          <a:p>
            <a:r>
              <a:rPr lang="en-US" smtClean="0"/>
              <a:t>Introduction to DDI</a:t>
            </a:r>
            <a:endParaRPr lang="en-US"/>
          </a:p>
        </p:txBody>
      </p:sp>
    </p:spTree>
    <p:extLst>
      <p:ext uri="{BB962C8B-B14F-4D97-AF65-F5344CB8AC3E}">
        <p14:creationId xmlns:p14="http://schemas.microsoft.com/office/powerpoint/2010/main" val="30326752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dirty="0" smtClean="0">
                <a:latin typeface="Calibri" pitchFamily="34" charset="0"/>
                <a:cs typeface="Calibri" pitchFamily="34" charset="0"/>
              </a:rPr>
              <a:t>What Is DDI?</a:t>
            </a:r>
          </a:p>
        </p:txBody>
      </p:sp>
      <p:sp>
        <p:nvSpPr>
          <p:cNvPr id="3" name="Content Placeholder 2"/>
          <p:cNvSpPr>
            <a:spLocks noGrp="1"/>
          </p:cNvSpPr>
          <p:nvPr>
            <p:ph idx="1"/>
          </p:nvPr>
        </p:nvSpPr>
        <p:spPr/>
        <p:txBody>
          <a:bodyPr rtlCol="0">
            <a:normAutofit fontScale="70000" lnSpcReduction="20000"/>
          </a:bodyPr>
          <a:lstStyle/>
          <a:p>
            <a:pPr eaLnBrk="1" fontAlgn="auto" hangingPunct="1">
              <a:lnSpc>
                <a:spcPct val="114000"/>
              </a:lnSpc>
              <a:spcBef>
                <a:spcPts val="600"/>
              </a:spcBef>
              <a:spcAft>
                <a:spcPts val="0"/>
              </a:spcAft>
              <a:buFont typeface="Arial"/>
              <a:buChar char="•"/>
              <a:defRPr/>
            </a:pPr>
            <a:r>
              <a:rPr lang="en-US" sz="3500" dirty="0" smtClean="0">
                <a:latin typeface="Calibri" pitchFamily="34" charset="0"/>
                <a:ea typeface="ＭＳ Ｐゴシック" pitchFamily="34" charset="-128"/>
                <a:cs typeface="Calibri" pitchFamily="34" charset="0"/>
              </a:rPr>
              <a:t>An international </a:t>
            </a:r>
            <a:r>
              <a:rPr lang="en-US" sz="3500" dirty="0">
                <a:latin typeface="Calibri" pitchFamily="34" charset="0"/>
                <a:ea typeface="ＭＳ Ｐゴシック" pitchFamily="34" charset="-128"/>
                <a:cs typeface="Calibri" pitchFamily="34" charset="0"/>
              </a:rPr>
              <a:t>specification for structured metadata describing social, behavioral, and economic data</a:t>
            </a:r>
          </a:p>
          <a:p>
            <a:pPr eaLnBrk="1" fontAlgn="auto" hangingPunct="1">
              <a:lnSpc>
                <a:spcPct val="114000"/>
              </a:lnSpc>
              <a:spcBef>
                <a:spcPts val="600"/>
              </a:spcBef>
              <a:spcAft>
                <a:spcPts val="0"/>
              </a:spcAft>
              <a:buFont typeface="Arial"/>
              <a:buChar char="•"/>
              <a:defRPr/>
            </a:pPr>
            <a:r>
              <a:rPr lang="en-US" sz="3500" dirty="0">
                <a:latin typeface="Calibri" pitchFamily="34" charset="0"/>
                <a:cs typeface="Calibri" pitchFamily="34" charset="0"/>
              </a:rPr>
              <a:t>A</a:t>
            </a:r>
            <a:r>
              <a:rPr lang="en-US" sz="3500" dirty="0" smtClean="0">
                <a:latin typeface="Calibri" pitchFamily="34" charset="0"/>
                <a:cs typeface="Calibri" pitchFamily="34" charset="0"/>
              </a:rPr>
              <a:t> standardized framework to maintain and exchange documentation/metadata</a:t>
            </a:r>
          </a:p>
          <a:p>
            <a:pPr>
              <a:lnSpc>
                <a:spcPct val="114000"/>
              </a:lnSpc>
              <a:spcBef>
                <a:spcPts val="600"/>
              </a:spcBef>
              <a:buFont typeface="Arial"/>
              <a:buChar char="•"/>
              <a:defRPr/>
            </a:pPr>
            <a:r>
              <a:rPr lang="en-US" sz="3600" dirty="0"/>
              <a:t>DDI metadata accompanies and enables data conceptualization, collection, processing, distribution, discovery, analysis, repurposing, and archiving.</a:t>
            </a:r>
          </a:p>
          <a:p>
            <a:pPr eaLnBrk="1" fontAlgn="auto" hangingPunct="1">
              <a:lnSpc>
                <a:spcPct val="114000"/>
              </a:lnSpc>
              <a:spcBef>
                <a:spcPts val="600"/>
              </a:spcBef>
              <a:spcAft>
                <a:spcPts val="0"/>
              </a:spcAft>
              <a:buFont typeface="Arial"/>
              <a:buChar char="•"/>
              <a:defRPr/>
            </a:pPr>
            <a:r>
              <a:rPr lang="en-US" sz="3500" dirty="0" smtClean="0">
                <a:latin typeface="Calibri" pitchFamily="34" charset="0"/>
                <a:cs typeface="Calibri" pitchFamily="34" charset="0"/>
              </a:rPr>
              <a:t>A basis on which to </a:t>
            </a:r>
            <a:r>
              <a:rPr lang="en-US" sz="3500" dirty="0">
                <a:latin typeface="Calibri" pitchFamily="34" charset="0"/>
                <a:cs typeface="Calibri" pitchFamily="34" charset="0"/>
              </a:rPr>
              <a:t>build software </a:t>
            </a:r>
            <a:r>
              <a:rPr lang="en-US" sz="3500" dirty="0" smtClean="0">
                <a:latin typeface="Calibri" pitchFamily="34" charset="0"/>
                <a:cs typeface="Calibri" pitchFamily="34" charset="0"/>
              </a:rPr>
              <a:t>tools</a:t>
            </a:r>
            <a:endParaRPr lang="en-US" sz="3500" dirty="0">
              <a:latin typeface="Calibri" pitchFamily="34" charset="0"/>
              <a:cs typeface="Calibri" pitchFamily="34" charset="0"/>
            </a:endParaRPr>
          </a:p>
          <a:p>
            <a:pPr eaLnBrk="1" fontAlgn="auto" hangingPunct="1">
              <a:lnSpc>
                <a:spcPct val="114000"/>
              </a:lnSpc>
              <a:spcBef>
                <a:spcPts val="600"/>
              </a:spcBef>
              <a:spcAft>
                <a:spcPts val="0"/>
              </a:spcAft>
              <a:buFont typeface="Arial"/>
              <a:buChar char="•"/>
              <a:defRPr/>
            </a:pPr>
            <a:r>
              <a:rPr lang="en-US" sz="3500" dirty="0" smtClean="0">
                <a:latin typeface="Calibri" pitchFamily="34" charset="0"/>
                <a:ea typeface="ＭＳ Ｐゴシック" pitchFamily="34" charset="-128"/>
                <a:cs typeface="Calibri" pitchFamily="34" charset="0"/>
              </a:rPr>
              <a:t>Currently </a:t>
            </a:r>
            <a:r>
              <a:rPr lang="en-US" sz="3500" dirty="0">
                <a:latin typeface="Calibri" pitchFamily="34" charset="0"/>
                <a:ea typeface="ＭＳ Ｐゴシック" pitchFamily="34" charset="-128"/>
                <a:cs typeface="Calibri" pitchFamily="34" charset="0"/>
              </a:rPr>
              <a:t>expressed in XML – </a:t>
            </a:r>
            <a:r>
              <a:rPr lang="en-US" sz="3500" dirty="0" err="1">
                <a:latin typeface="Calibri" pitchFamily="34" charset="0"/>
                <a:ea typeface="ＭＳ Ｐゴシック" pitchFamily="34" charset="-128"/>
                <a:cs typeface="Calibri" pitchFamily="34" charset="0"/>
              </a:rPr>
              <a:t>e</a:t>
            </a:r>
            <a:r>
              <a:rPr lang="en-US" sz="3500" b="1" dirty="0" err="1">
                <a:latin typeface="Calibri" pitchFamily="34" charset="0"/>
                <a:ea typeface="ＭＳ Ｐゴシック" pitchFamily="34" charset="-128"/>
                <a:cs typeface="Calibri" pitchFamily="34" charset="0"/>
              </a:rPr>
              <a:t>X</a:t>
            </a:r>
            <a:r>
              <a:rPr lang="en-US" sz="3500" dirty="0" err="1">
                <a:latin typeface="Calibri" pitchFamily="34" charset="0"/>
                <a:ea typeface="ＭＳ Ｐゴシック" pitchFamily="34" charset="-128"/>
                <a:cs typeface="Calibri" pitchFamily="34" charset="0"/>
              </a:rPr>
              <a:t>tensible</a:t>
            </a:r>
            <a:r>
              <a:rPr lang="en-US" sz="3500" dirty="0">
                <a:latin typeface="Calibri" pitchFamily="34" charset="0"/>
                <a:ea typeface="ＭＳ Ｐゴシック" pitchFamily="34" charset="-128"/>
                <a:cs typeface="Calibri" pitchFamily="34" charset="0"/>
              </a:rPr>
              <a:t> </a:t>
            </a:r>
            <a:r>
              <a:rPr lang="en-US" sz="3500" b="1" dirty="0">
                <a:latin typeface="Calibri" pitchFamily="34" charset="0"/>
                <a:ea typeface="ＭＳ Ｐゴシック" pitchFamily="34" charset="-128"/>
                <a:cs typeface="Calibri" pitchFamily="34" charset="0"/>
              </a:rPr>
              <a:t>M</a:t>
            </a:r>
            <a:r>
              <a:rPr lang="en-US" sz="3500" dirty="0">
                <a:latin typeface="Calibri" pitchFamily="34" charset="0"/>
                <a:ea typeface="ＭＳ Ｐゴシック" pitchFamily="34" charset="-128"/>
                <a:cs typeface="Calibri" pitchFamily="34" charset="0"/>
              </a:rPr>
              <a:t>arkup </a:t>
            </a:r>
            <a:r>
              <a:rPr lang="en-US" sz="3500" b="1" dirty="0">
                <a:latin typeface="Calibri" pitchFamily="34" charset="0"/>
                <a:ea typeface="ＭＳ Ｐゴシック" pitchFamily="34" charset="-128"/>
                <a:cs typeface="Calibri" pitchFamily="34" charset="0"/>
              </a:rPr>
              <a:t>L</a:t>
            </a:r>
            <a:r>
              <a:rPr lang="en-US" sz="3500" dirty="0">
                <a:latin typeface="Calibri" pitchFamily="34" charset="0"/>
                <a:ea typeface="ＭＳ Ｐゴシック" pitchFamily="34" charset="-128"/>
                <a:cs typeface="Calibri" pitchFamily="34" charset="0"/>
              </a:rPr>
              <a:t>anguage</a:t>
            </a:r>
          </a:p>
          <a:p>
            <a:pPr eaLnBrk="1" fontAlgn="auto" hangingPunct="1">
              <a:lnSpc>
                <a:spcPct val="90000"/>
              </a:lnSpc>
              <a:spcBef>
                <a:spcPct val="60000"/>
              </a:spcBef>
              <a:spcAft>
                <a:spcPts val="0"/>
              </a:spcAft>
              <a:buFont typeface="Arial"/>
              <a:buChar char="•"/>
              <a:defRPr/>
            </a:pPr>
            <a:endParaRPr lang="en-US" sz="3200" dirty="0">
              <a:solidFill>
                <a:srgbClr val="06428A"/>
              </a:solidFill>
              <a:ea typeface="ＭＳ Ｐゴシック" pitchFamily="34" charset="-128"/>
            </a:endParaRPr>
          </a:p>
        </p:txBody>
      </p:sp>
    </p:spTree>
    <p:extLst>
      <p:ext uri="{BB962C8B-B14F-4D97-AF65-F5344CB8AC3E}">
        <p14:creationId xmlns:p14="http://schemas.microsoft.com/office/powerpoint/2010/main" val="17418984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smtClean="0">
                <a:latin typeface="Calibri" pitchFamily="34" charset="0"/>
                <a:cs typeface="Calibri" pitchFamily="34" charset="0"/>
              </a:rPr>
              <a:t>History</a:t>
            </a:r>
          </a:p>
        </p:txBody>
      </p:sp>
      <p:sp>
        <p:nvSpPr>
          <p:cNvPr id="3" name="Content Placeholder 2"/>
          <p:cNvSpPr>
            <a:spLocks noGrp="1"/>
          </p:cNvSpPr>
          <p:nvPr>
            <p:ph idx="1"/>
          </p:nvPr>
        </p:nvSpPr>
        <p:spPr/>
        <p:txBody>
          <a:bodyPr/>
          <a:lstStyle/>
          <a:p>
            <a:pPr eaLnBrk="1" hangingPunct="1">
              <a:lnSpc>
                <a:spcPct val="114000"/>
              </a:lnSpc>
              <a:spcBef>
                <a:spcPct val="0"/>
              </a:spcBef>
              <a:spcAft>
                <a:spcPts val="600"/>
              </a:spcAft>
            </a:pPr>
            <a:r>
              <a:rPr lang="en-US" sz="2000" dirty="0" smtClean="0">
                <a:latin typeface="Calibri" pitchFamily="34" charset="0"/>
                <a:cs typeface="Calibri" pitchFamily="34" charset="0"/>
              </a:rPr>
              <a:t>1995 -- First international committee established</a:t>
            </a:r>
          </a:p>
          <a:p>
            <a:pPr eaLnBrk="1" hangingPunct="1">
              <a:lnSpc>
                <a:spcPct val="114000"/>
              </a:lnSpc>
              <a:spcBef>
                <a:spcPct val="0"/>
              </a:spcBef>
              <a:spcAft>
                <a:spcPts val="600"/>
              </a:spcAft>
            </a:pPr>
            <a:r>
              <a:rPr lang="en-US" sz="2000" dirty="0" smtClean="0">
                <a:latin typeface="Calibri" pitchFamily="34" charset="0"/>
                <a:cs typeface="Calibri" pitchFamily="34" charset="0"/>
              </a:rPr>
              <a:t>2000 -- First DDI version published (aligned with codebooks, XML DTD-based)</a:t>
            </a:r>
          </a:p>
          <a:p>
            <a:pPr eaLnBrk="1" hangingPunct="1">
              <a:lnSpc>
                <a:spcPct val="114000"/>
              </a:lnSpc>
              <a:spcBef>
                <a:spcPct val="0"/>
              </a:spcBef>
              <a:spcAft>
                <a:spcPts val="600"/>
              </a:spcAft>
            </a:pPr>
            <a:r>
              <a:rPr lang="en-US" sz="2000" dirty="0" smtClean="0">
                <a:latin typeface="Calibri" pitchFamily="34" charset="0"/>
                <a:cs typeface="Calibri" pitchFamily="34" charset="0"/>
              </a:rPr>
              <a:t>2003 – DDI 2 published (support for aggregate/tabular data and geography added)</a:t>
            </a:r>
          </a:p>
          <a:p>
            <a:pPr eaLnBrk="1" hangingPunct="1">
              <a:lnSpc>
                <a:spcPct val="114000"/>
              </a:lnSpc>
              <a:spcBef>
                <a:spcPct val="0"/>
              </a:spcBef>
              <a:spcAft>
                <a:spcPts val="600"/>
              </a:spcAft>
            </a:pPr>
            <a:r>
              <a:rPr lang="en-US" sz="2000" dirty="0" smtClean="0">
                <a:latin typeface="Calibri" pitchFamily="34" charset="0"/>
                <a:cs typeface="Calibri" pitchFamily="34" charset="0"/>
              </a:rPr>
              <a:t>2003 -- Formation of the DDI Alliance, a self-sustaining membership organization </a:t>
            </a:r>
          </a:p>
          <a:p>
            <a:pPr eaLnBrk="1" hangingPunct="1">
              <a:lnSpc>
                <a:spcPct val="114000"/>
              </a:lnSpc>
              <a:spcBef>
                <a:spcPct val="0"/>
              </a:spcBef>
              <a:spcAft>
                <a:spcPts val="600"/>
              </a:spcAft>
            </a:pPr>
            <a:r>
              <a:rPr lang="en-US" sz="2000" dirty="0" smtClean="0">
                <a:latin typeface="Calibri" pitchFamily="34" charset="0"/>
                <a:cs typeface="Calibri" pitchFamily="34" charset="0"/>
              </a:rPr>
              <a:t>2008 – DDI 3 published (aligned with data lifecycle, XML Schema-based)</a:t>
            </a:r>
          </a:p>
          <a:p>
            <a:pPr eaLnBrk="1" hangingPunct="1">
              <a:lnSpc>
                <a:spcPct val="114000"/>
              </a:lnSpc>
              <a:spcBef>
                <a:spcPct val="0"/>
              </a:spcBef>
              <a:spcAft>
                <a:spcPts val="600"/>
              </a:spcAft>
            </a:pPr>
            <a:r>
              <a:rPr lang="en-US" sz="2000" dirty="0" smtClean="0">
                <a:latin typeface="Calibri" pitchFamily="34" charset="0"/>
                <a:cs typeface="Calibri" pitchFamily="34" charset="0"/>
              </a:rPr>
              <a:t>2010 – DDI rebranding – DDI Codebook (DDI 2 branch) and DDI Lifecycle </a:t>
            </a:r>
            <a:br>
              <a:rPr lang="en-US" sz="2000" dirty="0" smtClean="0">
                <a:latin typeface="Calibri" pitchFamily="34" charset="0"/>
                <a:cs typeface="Calibri" pitchFamily="34" charset="0"/>
              </a:rPr>
            </a:br>
            <a:r>
              <a:rPr lang="en-US" sz="2000" dirty="0" smtClean="0">
                <a:latin typeface="Calibri" pitchFamily="34" charset="0"/>
                <a:cs typeface="Calibri" pitchFamily="34" charset="0"/>
              </a:rPr>
              <a:t>(DDI 3 branch) development lines</a:t>
            </a:r>
          </a:p>
          <a:p>
            <a:pPr eaLnBrk="1" hangingPunct="1">
              <a:lnSpc>
                <a:spcPct val="114000"/>
              </a:lnSpc>
              <a:spcBef>
                <a:spcPct val="0"/>
              </a:spcBef>
              <a:spcAft>
                <a:spcPts val="600"/>
              </a:spcAft>
            </a:pPr>
            <a:r>
              <a:rPr lang="en-US" sz="2000" dirty="0" smtClean="0">
                <a:latin typeface="Calibri" pitchFamily="34" charset="0"/>
                <a:cs typeface="Calibri" pitchFamily="34" charset="0"/>
              </a:rPr>
              <a:t>Today – DDI Moving Forward</a:t>
            </a:r>
          </a:p>
        </p:txBody>
      </p:sp>
    </p:spTree>
    <p:extLst>
      <p:ext uri="{BB962C8B-B14F-4D97-AF65-F5344CB8AC3E}">
        <p14:creationId xmlns:p14="http://schemas.microsoft.com/office/powerpoint/2010/main" val="11707713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XML Elements</a:t>
            </a:r>
            <a:endParaRPr lang="en-US" dirty="0"/>
          </a:p>
        </p:txBody>
      </p:sp>
      <p:sp>
        <p:nvSpPr>
          <p:cNvPr id="4" name="Rectangle 3"/>
          <p:cNvSpPr/>
          <p:nvPr/>
        </p:nvSpPr>
        <p:spPr>
          <a:xfrm>
            <a:off x="2541049" y="2133600"/>
            <a:ext cx="4316951" cy="446276"/>
          </a:xfrm>
          <a:prstGeom prst="rect">
            <a:avLst/>
          </a:prstGeom>
        </p:spPr>
        <p:txBody>
          <a:bodyPr wrap="none">
            <a:spAutoFit/>
          </a:bodyPr>
          <a:lstStyle/>
          <a:p>
            <a:r>
              <a:rPr lang="en-US" sz="2300" b="1" i="1" dirty="0"/>
              <a:t>The Hitchhiker's Guide to the Galaxy</a:t>
            </a:r>
            <a:endParaRPr lang="en-US" sz="2300" b="1" dirty="0"/>
          </a:p>
        </p:txBody>
      </p:sp>
      <p:sp>
        <p:nvSpPr>
          <p:cNvPr id="6" name="Rectangle 5"/>
          <p:cNvSpPr/>
          <p:nvPr/>
        </p:nvSpPr>
        <p:spPr>
          <a:xfrm>
            <a:off x="2541049" y="2514600"/>
            <a:ext cx="2010487" cy="446276"/>
          </a:xfrm>
          <a:prstGeom prst="rect">
            <a:avLst/>
          </a:prstGeom>
        </p:spPr>
        <p:txBody>
          <a:bodyPr wrap="none">
            <a:spAutoFit/>
          </a:bodyPr>
          <a:lstStyle/>
          <a:p>
            <a:r>
              <a:rPr lang="en-US" sz="2300" dirty="0"/>
              <a:t>Douglas Adams</a:t>
            </a:r>
          </a:p>
        </p:txBody>
      </p:sp>
      <p:sp>
        <p:nvSpPr>
          <p:cNvPr id="7" name="Rectangle 6"/>
          <p:cNvSpPr/>
          <p:nvPr/>
        </p:nvSpPr>
        <p:spPr>
          <a:xfrm>
            <a:off x="2535634" y="2906524"/>
            <a:ext cx="838691" cy="446276"/>
          </a:xfrm>
          <a:prstGeom prst="rect">
            <a:avLst/>
          </a:prstGeom>
        </p:spPr>
        <p:txBody>
          <a:bodyPr wrap="none">
            <a:spAutoFit/>
          </a:bodyPr>
          <a:lstStyle/>
          <a:p>
            <a:r>
              <a:rPr lang="en-US" sz="2300" dirty="0" smtClean="0"/>
              <a:t>1979</a:t>
            </a:r>
            <a:endParaRPr lang="en-US" sz="2300" dirty="0"/>
          </a:p>
        </p:txBody>
      </p:sp>
      <p:sp>
        <p:nvSpPr>
          <p:cNvPr id="8" name="TextBox 7"/>
          <p:cNvSpPr txBox="1"/>
          <p:nvPr/>
        </p:nvSpPr>
        <p:spPr>
          <a:xfrm>
            <a:off x="838200" y="1752600"/>
            <a:ext cx="1191352" cy="461665"/>
          </a:xfrm>
          <a:prstGeom prst="rect">
            <a:avLst/>
          </a:prstGeom>
          <a:noFill/>
        </p:spPr>
        <p:txBody>
          <a:bodyPr wrap="none" rtlCol="0">
            <a:spAutoFit/>
          </a:bodyPr>
          <a:lstStyle/>
          <a:p>
            <a:r>
              <a:rPr lang="en-US" sz="2400" dirty="0" smtClean="0">
                <a:solidFill>
                  <a:schemeClr val="accent2"/>
                </a:solidFill>
              </a:rPr>
              <a:t>&lt;Book&gt;</a:t>
            </a:r>
            <a:endParaRPr lang="en-US" sz="2400" dirty="0">
              <a:solidFill>
                <a:schemeClr val="accent2"/>
              </a:solidFill>
            </a:endParaRPr>
          </a:p>
        </p:txBody>
      </p:sp>
      <p:sp>
        <p:nvSpPr>
          <p:cNvPr id="9" name="TextBox 8"/>
          <p:cNvSpPr txBox="1"/>
          <p:nvPr/>
        </p:nvSpPr>
        <p:spPr>
          <a:xfrm>
            <a:off x="838200" y="3364468"/>
            <a:ext cx="1345240" cy="461665"/>
          </a:xfrm>
          <a:prstGeom prst="rect">
            <a:avLst/>
          </a:prstGeom>
          <a:noFill/>
        </p:spPr>
        <p:txBody>
          <a:bodyPr wrap="none" rtlCol="0">
            <a:spAutoFit/>
          </a:bodyPr>
          <a:lstStyle/>
          <a:p>
            <a:r>
              <a:rPr lang="en-US" sz="2400" dirty="0" smtClean="0">
                <a:solidFill>
                  <a:schemeClr val="accent2"/>
                </a:solidFill>
              </a:rPr>
              <a:t>&lt;/Book&gt;</a:t>
            </a:r>
            <a:endParaRPr lang="en-US" sz="2400" dirty="0">
              <a:solidFill>
                <a:schemeClr val="accent2"/>
              </a:solidFill>
            </a:endParaRPr>
          </a:p>
        </p:txBody>
      </p:sp>
      <p:sp>
        <p:nvSpPr>
          <p:cNvPr id="10" name="TextBox 9"/>
          <p:cNvSpPr txBox="1"/>
          <p:nvPr/>
        </p:nvSpPr>
        <p:spPr>
          <a:xfrm>
            <a:off x="1371600" y="2133600"/>
            <a:ext cx="1064715" cy="446276"/>
          </a:xfrm>
          <a:prstGeom prst="rect">
            <a:avLst/>
          </a:prstGeom>
          <a:noFill/>
        </p:spPr>
        <p:txBody>
          <a:bodyPr wrap="none" rtlCol="0">
            <a:spAutoFit/>
          </a:bodyPr>
          <a:lstStyle/>
          <a:p>
            <a:r>
              <a:rPr lang="en-US" sz="2300" dirty="0" smtClean="0">
                <a:solidFill>
                  <a:schemeClr val="accent2"/>
                </a:solidFill>
              </a:rPr>
              <a:t>&lt;Title&gt;</a:t>
            </a:r>
            <a:endParaRPr lang="en-US" sz="2300" dirty="0">
              <a:solidFill>
                <a:schemeClr val="accent2"/>
              </a:solidFill>
            </a:endParaRPr>
          </a:p>
        </p:txBody>
      </p:sp>
      <p:sp>
        <p:nvSpPr>
          <p:cNvPr id="11" name="TextBox 10"/>
          <p:cNvSpPr txBox="1"/>
          <p:nvPr/>
        </p:nvSpPr>
        <p:spPr>
          <a:xfrm>
            <a:off x="7086600" y="2144524"/>
            <a:ext cx="1212191" cy="446276"/>
          </a:xfrm>
          <a:prstGeom prst="rect">
            <a:avLst/>
          </a:prstGeom>
          <a:noFill/>
        </p:spPr>
        <p:txBody>
          <a:bodyPr wrap="none" rtlCol="0">
            <a:spAutoFit/>
          </a:bodyPr>
          <a:lstStyle/>
          <a:p>
            <a:r>
              <a:rPr lang="en-US" sz="2300" dirty="0" smtClean="0">
                <a:solidFill>
                  <a:schemeClr val="accent2"/>
                </a:solidFill>
              </a:rPr>
              <a:t>&lt;/Title&gt;</a:t>
            </a:r>
            <a:endParaRPr lang="en-US" sz="2300" dirty="0">
              <a:solidFill>
                <a:schemeClr val="accent2"/>
              </a:solidFill>
            </a:endParaRPr>
          </a:p>
        </p:txBody>
      </p:sp>
      <p:sp>
        <p:nvSpPr>
          <p:cNvPr id="12" name="TextBox 11"/>
          <p:cNvSpPr txBox="1"/>
          <p:nvPr/>
        </p:nvSpPr>
        <p:spPr>
          <a:xfrm>
            <a:off x="1371600" y="2514600"/>
            <a:ext cx="1342034" cy="446276"/>
          </a:xfrm>
          <a:prstGeom prst="rect">
            <a:avLst/>
          </a:prstGeom>
          <a:noFill/>
        </p:spPr>
        <p:txBody>
          <a:bodyPr wrap="none" rtlCol="0">
            <a:spAutoFit/>
          </a:bodyPr>
          <a:lstStyle/>
          <a:p>
            <a:r>
              <a:rPr lang="en-US" sz="2300" dirty="0" smtClean="0">
                <a:solidFill>
                  <a:schemeClr val="accent2"/>
                </a:solidFill>
              </a:rPr>
              <a:t>&lt;Author&gt;</a:t>
            </a:r>
            <a:endParaRPr lang="en-US" sz="2300" dirty="0">
              <a:solidFill>
                <a:schemeClr val="accent2"/>
              </a:solidFill>
            </a:endParaRPr>
          </a:p>
        </p:txBody>
      </p:sp>
      <p:sp>
        <p:nvSpPr>
          <p:cNvPr id="13" name="TextBox 12"/>
          <p:cNvSpPr txBox="1"/>
          <p:nvPr/>
        </p:nvSpPr>
        <p:spPr>
          <a:xfrm>
            <a:off x="4419600" y="2525524"/>
            <a:ext cx="1489510" cy="446276"/>
          </a:xfrm>
          <a:prstGeom prst="rect">
            <a:avLst/>
          </a:prstGeom>
          <a:noFill/>
        </p:spPr>
        <p:txBody>
          <a:bodyPr wrap="none" rtlCol="0">
            <a:spAutoFit/>
          </a:bodyPr>
          <a:lstStyle/>
          <a:p>
            <a:r>
              <a:rPr lang="en-US" sz="2300" dirty="0" smtClean="0">
                <a:solidFill>
                  <a:schemeClr val="accent2"/>
                </a:solidFill>
              </a:rPr>
              <a:t>&lt;/Author&gt;</a:t>
            </a:r>
            <a:endParaRPr lang="en-US" sz="2300" dirty="0">
              <a:solidFill>
                <a:schemeClr val="accent2"/>
              </a:solidFill>
            </a:endParaRPr>
          </a:p>
        </p:txBody>
      </p:sp>
      <p:sp>
        <p:nvSpPr>
          <p:cNvPr id="14" name="TextBox 13"/>
          <p:cNvSpPr txBox="1"/>
          <p:nvPr/>
        </p:nvSpPr>
        <p:spPr>
          <a:xfrm>
            <a:off x="1371600" y="2895600"/>
            <a:ext cx="1127681" cy="446276"/>
          </a:xfrm>
          <a:prstGeom prst="rect">
            <a:avLst/>
          </a:prstGeom>
          <a:noFill/>
        </p:spPr>
        <p:txBody>
          <a:bodyPr wrap="none" rtlCol="0">
            <a:spAutoFit/>
          </a:bodyPr>
          <a:lstStyle/>
          <a:p>
            <a:r>
              <a:rPr lang="en-US" sz="2300" dirty="0" smtClean="0">
                <a:solidFill>
                  <a:schemeClr val="accent2"/>
                </a:solidFill>
              </a:rPr>
              <a:t>&lt;Year&gt;</a:t>
            </a:r>
            <a:endParaRPr lang="en-US" sz="2300" dirty="0">
              <a:solidFill>
                <a:schemeClr val="accent2"/>
              </a:solidFill>
            </a:endParaRPr>
          </a:p>
        </p:txBody>
      </p:sp>
      <p:sp>
        <p:nvSpPr>
          <p:cNvPr id="15" name="TextBox 14"/>
          <p:cNvSpPr txBox="1"/>
          <p:nvPr/>
        </p:nvSpPr>
        <p:spPr>
          <a:xfrm>
            <a:off x="3232173" y="2906524"/>
            <a:ext cx="1275157" cy="446276"/>
          </a:xfrm>
          <a:prstGeom prst="rect">
            <a:avLst/>
          </a:prstGeom>
          <a:noFill/>
        </p:spPr>
        <p:txBody>
          <a:bodyPr wrap="none" rtlCol="0">
            <a:spAutoFit/>
          </a:bodyPr>
          <a:lstStyle/>
          <a:p>
            <a:r>
              <a:rPr lang="en-US" sz="2300" dirty="0" smtClean="0">
                <a:solidFill>
                  <a:schemeClr val="accent2"/>
                </a:solidFill>
              </a:rPr>
              <a:t>&lt;/Year&gt;</a:t>
            </a:r>
            <a:endParaRPr lang="en-US" sz="2300" dirty="0">
              <a:solidFill>
                <a:schemeClr val="accent2"/>
              </a:solidFill>
            </a:endParaRPr>
          </a:p>
        </p:txBody>
      </p:sp>
    </p:spTree>
    <p:extLst>
      <p:ext uri="{BB962C8B-B14F-4D97-AF65-F5344CB8AC3E}">
        <p14:creationId xmlns:p14="http://schemas.microsoft.com/office/powerpoint/2010/main" val="233496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XML Attributes</a:t>
            </a:r>
            <a:endParaRPr lang="en-US" dirty="0"/>
          </a:p>
        </p:txBody>
      </p:sp>
      <p:sp>
        <p:nvSpPr>
          <p:cNvPr id="5" name="Rectangle 4"/>
          <p:cNvSpPr/>
          <p:nvPr/>
        </p:nvSpPr>
        <p:spPr>
          <a:xfrm>
            <a:off x="2541049" y="2133600"/>
            <a:ext cx="4316951" cy="446276"/>
          </a:xfrm>
          <a:prstGeom prst="rect">
            <a:avLst/>
          </a:prstGeom>
        </p:spPr>
        <p:txBody>
          <a:bodyPr wrap="none">
            <a:spAutoFit/>
          </a:bodyPr>
          <a:lstStyle/>
          <a:p>
            <a:r>
              <a:rPr lang="en-US" sz="2300" b="1" i="1" dirty="0"/>
              <a:t>The Hitchhiker's Guide to the Galaxy</a:t>
            </a:r>
            <a:endParaRPr lang="en-US" sz="2300" b="1" dirty="0"/>
          </a:p>
        </p:txBody>
      </p:sp>
      <p:sp>
        <p:nvSpPr>
          <p:cNvPr id="6" name="Rectangle 5"/>
          <p:cNvSpPr/>
          <p:nvPr/>
        </p:nvSpPr>
        <p:spPr>
          <a:xfrm>
            <a:off x="2541049" y="2514600"/>
            <a:ext cx="2010487" cy="446276"/>
          </a:xfrm>
          <a:prstGeom prst="rect">
            <a:avLst/>
          </a:prstGeom>
        </p:spPr>
        <p:txBody>
          <a:bodyPr wrap="none">
            <a:spAutoFit/>
          </a:bodyPr>
          <a:lstStyle/>
          <a:p>
            <a:r>
              <a:rPr lang="en-US" sz="2300" dirty="0"/>
              <a:t>Douglas Adams</a:t>
            </a:r>
          </a:p>
        </p:txBody>
      </p:sp>
      <p:sp>
        <p:nvSpPr>
          <p:cNvPr id="7" name="Rectangle 6"/>
          <p:cNvSpPr/>
          <p:nvPr/>
        </p:nvSpPr>
        <p:spPr>
          <a:xfrm>
            <a:off x="2535634" y="2906524"/>
            <a:ext cx="838691" cy="446276"/>
          </a:xfrm>
          <a:prstGeom prst="rect">
            <a:avLst/>
          </a:prstGeom>
        </p:spPr>
        <p:txBody>
          <a:bodyPr wrap="none">
            <a:spAutoFit/>
          </a:bodyPr>
          <a:lstStyle/>
          <a:p>
            <a:r>
              <a:rPr lang="en-US" sz="2300" dirty="0" smtClean="0"/>
              <a:t>1979</a:t>
            </a:r>
            <a:endParaRPr lang="en-US" sz="2300" dirty="0"/>
          </a:p>
        </p:txBody>
      </p:sp>
      <p:sp>
        <p:nvSpPr>
          <p:cNvPr id="8" name="TextBox 7"/>
          <p:cNvSpPr txBox="1"/>
          <p:nvPr/>
        </p:nvSpPr>
        <p:spPr>
          <a:xfrm>
            <a:off x="838200" y="1752600"/>
            <a:ext cx="3684278" cy="461665"/>
          </a:xfrm>
          <a:prstGeom prst="rect">
            <a:avLst/>
          </a:prstGeom>
          <a:noFill/>
        </p:spPr>
        <p:txBody>
          <a:bodyPr wrap="none" rtlCol="0">
            <a:spAutoFit/>
          </a:bodyPr>
          <a:lstStyle/>
          <a:p>
            <a:r>
              <a:rPr lang="en-US" sz="2400" dirty="0" smtClean="0">
                <a:solidFill>
                  <a:schemeClr val="accent2"/>
                </a:solidFill>
              </a:rPr>
              <a:t>&lt;Book </a:t>
            </a:r>
            <a:r>
              <a:rPr lang="en-US" sz="2400" dirty="0" smtClean="0">
                <a:solidFill>
                  <a:schemeClr val="accent1"/>
                </a:solidFill>
              </a:rPr>
              <a:t>language=“English”</a:t>
            </a:r>
            <a:r>
              <a:rPr lang="en-US" sz="2400" dirty="0" smtClean="0">
                <a:solidFill>
                  <a:schemeClr val="accent2"/>
                </a:solidFill>
              </a:rPr>
              <a:t>&gt;</a:t>
            </a:r>
            <a:endParaRPr lang="en-US" sz="2400" dirty="0">
              <a:solidFill>
                <a:schemeClr val="accent2"/>
              </a:solidFill>
            </a:endParaRPr>
          </a:p>
        </p:txBody>
      </p:sp>
      <p:sp>
        <p:nvSpPr>
          <p:cNvPr id="9" name="TextBox 8"/>
          <p:cNvSpPr txBox="1"/>
          <p:nvPr/>
        </p:nvSpPr>
        <p:spPr>
          <a:xfrm>
            <a:off x="838200" y="3364468"/>
            <a:ext cx="1345240" cy="461665"/>
          </a:xfrm>
          <a:prstGeom prst="rect">
            <a:avLst/>
          </a:prstGeom>
          <a:noFill/>
        </p:spPr>
        <p:txBody>
          <a:bodyPr wrap="none" rtlCol="0">
            <a:spAutoFit/>
          </a:bodyPr>
          <a:lstStyle/>
          <a:p>
            <a:r>
              <a:rPr lang="en-US" sz="2400" dirty="0" smtClean="0">
                <a:solidFill>
                  <a:schemeClr val="accent2"/>
                </a:solidFill>
              </a:rPr>
              <a:t>&lt;/Book&gt;</a:t>
            </a:r>
            <a:endParaRPr lang="en-US" sz="2400" dirty="0">
              <a:solidFill>
                <a:schemeClr val="accent2"/>
              </a:solidFill>
            </a:endParaRPr>
          </a:p>
        </p:txBody>
      </p:sp>
      <p:sp>
        <p:nvSpPr>
          <p:cNvPr id="10" name="TextBox 9"/>
          <p:cNvSpPr txBox="1"/>
          <p:nvPr/>
        </p:nvSpPr>
        <p:spPr>
          <a:xfrm>
            <a:off x="1371600" y="2133600"/>
            <a:ext cx="1064715" cy="446276"/>
          </a:xfrm>
          <a:prstGeom prst="rect">
            <a:avLst/>
          </a:prstGeom>
          <a:noFill/>
        </p:spPr>
        <p:txBody>
          <a:bodyPr wrap="none" rtlCol="0">
            <a:spAutoFit/>
          </a:bodyPr>
          <a:lstStyle/>
          <a:p>
            <a:r>
              <a:rPr lang="en-US" sz="2300" dirty="0" smtClean="0">
                <a:solidFill>
                  <a:schemeClr val="accent2"/>
                </a:solidFill>
              </a:rPr>
              <a:t>&lt;Title&gt;</a:t>
            </a:r>
            <a:endParaRPr lang="en-US" sz="2300" dirty="0">
              <a:solidFill>
                <a:schemeClr val="accent2"/>
              </a:solidFill>
            </a:endParaRPr>
          </a:p>
        </p:txBody>
      </p:sp>
      <p:sp>
        <p:nvSpPr>
          <p:cNvPr id="11" name="TextBox 10"/>
          <p:cNvSpPr txBox="1"/>
          <p:nvPr/>
        </p:nvSpPr>
        <p:spPr>
          <a:xfrm>
            <a:off x="7086600" y="2144524"/>
            <a:ext cx="1212191" cy="446276"/>
          </a:xfrm>
          <a:prstGeom prst="rect">
            <a:avLst/>
          </a:prstGeom>
          <a:noFill/>
        </p:spPr>
        <p:txBody>
          <a:bodyPr wrap="none" rtlCol="0">
            <a:spAutoFit/>
          </a:bodyPr>
          <a:lstStyle/>
          <a:p>
            <a:r>
              <a:rPr lang="en-US" sz="2300" dirty="0" smtClean="0">
                <a:solidFill>
                  <a:schemeClr val="accent2"/>
                </a:solidFill>
              </a:rPr>
              <a:t>&lt;/Title&gt;</a:t>
            </a:r>
            <a:endParaRPr lang="en-US" sz="2300" dirty="0">
              <a:solidFill>
                <a:schemeClr val="accent2"/>
              </a:solidFill>
            </a:endParaRPr>
          </a:p>
        </p:txBody>
      </p:sp>
      <p:sp>
        <p:nvSpPr>
          <p:cNvPr id="12" name="TextBox 11"/>
          <p:cNvSpPr txBox="1"/>
          <p:nvPr/>
        </p:nvSpPr>
        <p:spPr>
          <a:xfrm>
            <a:off x="1371600" y="2514600"/>
            <a:ext cx="1342034" cy="446276"/>
          </a:xfrm>
          <a:prstGeom prst="rect">
            <a:avLst/>
          </a:prstGeom>
          <a:noFill/>
        </p:spPr>
        <p:txBody>
          <a:bodyPr wrap="none" rtlCol="0">
            <a:spAutoFit/>
          </a:bodyPr>
          <a:lstStyle/>
          <a:p>
            <a:r>
              <a:rPr lang="en-US" sz="2300" dirty="0" smtClean="0">
                <a:solidFill>
                  <a:schemeClr val="accent2"/>
                </a:solidFill>
              </a:rPr>
              <a:t>&lt;Author&gt;</a:t>
            </a:r>
            <a:endParaRPr lang="en-US" sz="2300" dirty="0">
              <a:solidFill>
                <a:schemeClr val="accent2"/>
              </a:solidFill>
            </a:endParaRPr>
          </a:p>
        </p:txBody>
      </p:sp>
      <p:sp>
        <p:nvSpPr>
          <p:cNvPr id="13" name="TextBox 12"/>
          <p:cNvSpPr txBox="1"/>
          <p:nvPr/>
        </p:nvSpPr>
        <p:spPr>
          <a:xfrm>
            <a:off x="4419600" y="2525524"/>
            <a:ext cx="1489510" cy="446276"/>
          </a:xfrm>
          <a:prstGeom prst="rect">
            <a:avLst/>
          </a:prstGeom>
          <a:noFill/>
        </p:spPr>
        <p:txBody>
          <a:bodyPr wrap="none" rtlCol="0">
            <a:spAutoFit/>
          </a:bodyPr>
          <a:lstStyle/>
          <a:p>
            <a:r>
              <a:rPr lang="en-US" sz="2300" dirty="0" smtClean="0">
                <a:solidFill>
                  <a:schemeClr val="accent2"/>
                </a:solidFill>
              </a:rPr>
              <a:t>&lt;/Author&gt;</a:t>
            </a:r>
            <a:endParaRPr lang="en-US" sz="2300" dirty="0">
              <a:solidFill>
                <a:schemeClr val="accent2"/>
              </a:solidFill>
            </a:endParaRPr>
          </a:p>
        </p:txBody>
      </p:sp>
      <p:sp>
        <p:nvSpPr>
          <p:cNvPr id="14" name="TextBox 13"/>
          <p:cNvSpPr txBox="1"/>
          <p:nvPr/>
        </p:nvSpPr>
        <p:spPr>
          <a:xfrm>
            <a:off x="1371600" y="2895600"/>
            <a:ext cx="1127681" cy="446276"/>
          </a:xfrm>
          <a:prstGeom prst="rect">
            <a:avLst/>
          </a:prstGeom>
          <a:noFill/>
        </p:spPr>
        <p:txBody>
          <a:bodyPr wrap="none" rtlCol="0">
            <a:spAutoFit/>
          </a:bodyPr>
          <a:lstStyle/>
          <a:p>
            <a:r>
              <a:rPr lang="en-US" sz="2300" dirty="0" smtClean="0">
                <a:solidFill>
                  <a:schemeClr val="accent2"/>
                </a:solidFill>
              </a:rPr>
              <a:t>&lt;Year&gt;</a:t>
            </a:r>
            <a:endParaRPr lang="en-US" sz="2300" dirty="0">
              <a:solidFill>
                <a:schemeClr val="accent2"/>
              </a:solidFill>
            </a:endParaRPr>
          </a:p>
        </p:txBody>
      </p:sp>
      <p:sp>
        <p:nvSpPr>
          <p:cNvPr id="15" name="TextBox 14"/>
          <p:cNvSpPr txBox="1"/>
          <p:nvPr/>
        </p:nvSpPr>
        <p:spPr>
          <a:xfrm>
            <a:off x="3232173" y="2906524"/>
            <a:ext cx="1275157" cy="446276"/>
          </a:xfrm>
          <a:prstGeom prst="rect">
            <a:avLst/>
          </a:prstGeom>
          <a:noFill/>
        </p:spPr>
        <p:txBody>
          <a:bodyPr wrap="none" rtlCol="0">
            <a:spAutoFit/>
          </a:bodyPr>
          <a:lstStyle/>
          <a:p>
            <a:r>
              <a:rPr lang="en-US" sz="2300" dirty="0" smtClean="0">
                <a:solidFill>
                  <a:schemeClr val="accent2"/>
                </a:solidFill>
              </a:rPr>
              <a:t>&lt;/Year&gt;</a:t>
            </a:r>
            <a:endParaRPr lang="en-US" sz="2300" dirty="0">
              <a:solidFill>
                <a:schemeClr val="accent2"/>
              </a:solidFill>
            </a:endParaRPr>
          </a:p>
        </p:txBody>
      </p:sp>
    </p:spTree>
    <p:extLst>
      <p:ext uri="{BB962C8B-B14F-4D97-AF65-F5344CB8AC3E}">
        <p14:creationId xmlns:p14="http://schemas.microsoft.com/office/powerpoint/2010/main" val="2045234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Conflicting Tag Names</a:t>
            </a:r>
            <a:endParaRPr lang="en-US" dirty="0"/>
          </a:p>
        </p:txBody>
      </p:sp>
      <p:sp>
        <p:nvSpPr>
          <p:cNvPr id="10" name="Rectangle 1"/>
          <p:cNvSpPr>
            <a:spLocks noChangeArrowheads="1"/>
          </p:cNvSpPr>
          <p:nvPr/>
        </p:nvSpPr>
        <p:spPr bwMode="auto">
          <a:xfrm>
            <a:off x="228600" y="1752600"/>
            <a:ext cx="8915400" cy="26776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MyData</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Legs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4</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Legs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Length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 </a:t>
            </a:r>
            <a:r>
              <a:rPr kumimoji="0" lang="en-US" sz="2400" b="0" i="0" u="none" strike="noStrike" cap="none" normalizeH="0" baseline="0" dirty="0" smtClean="0">
                <a:ln>
                  <a:noFill/>
                </a:ln>
                <a:solidFill>
                  <a:srgbClr val="FF0000"/>
                </a:solidFill>
                <a:effectLst/>
                <a:latin typeface="Consolas" pitchFamily="49" charset="0"/>
                <a:cs typeface="Consolas" pitchFamily="49" charset="0"/>
              </a:rPr>
              <a:t>units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feet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5</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Length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Width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 </a:t>
            </a:r>
            <a:r>
              <a:rPr kumimoji="0" lang="en-US" sz="2400" b="0" i="0" u="none" strike="noStrike" cap="none" normalizeH="0" baseline="0" dirty="0" smtClean="0">
                <a:ln>
                  <a:noFill/>
                </a:ln>
                <a:solidFill>
                  <a:srgbClr val="FF0000"/>
                </a:solidFill>
                <a:effectLst/>
                <a:latin typeface="Consolas" pitchFamily="49" charset="0"/>
                <a:cs typeface="Consolas" pitchFamily="49" charset="0"/>
              </a:rPr>
              <a:t>units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feet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3</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Width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	&lt;/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sz="2400" dirty="0">
              <a:solidFill>
                <a:srgbClr val="000000"/>
              </a:solidFill>
              <a:latin typeface="Consolas" pitchFamily="49" charset="0"/>
              <a:cs typeface="Consolas" pitchFamily="49" charset="0"/>
            </a:endParaRPr>
          </a:p>
        </p:txBody>
      </p:sp>
      <p:sp>
        <p:nvSpPr>
          <p:cNvPr id="11" name="Rectangle 10"/>
          <p:cNvSpPr/>
          <p:nvPr/>
        </p:nvSpPr>
        <p:spPr>
          <a:xfrm>
            <a:off x="228600" y="4267200"/>
            <a:ext cx="6781800" cy="1569660"/>
          </a:xfrm>
          <a:prstGeom prst="rect">
            <a:avLst/>
          </a:prstGeom>
        </p:spPr>
        <p:txBody>
          <a:bodyPr wrap="square">
            <a:spAutoFit/>
          </a:bodyPr>
          <a:lstStyle/>
          <a:p>
            <a:pPr lvl="0" fontAlgn="base">
              <a:spcBef>
                <a:spcPct val="0"/>
              </a:spcBef>
              <a:spcAft>
                <a:spcPct val="0"/>
              </a:spcAft>
            </a:pPr>
            <a:r>
              <a:rPr lang="en-US" sz="2400" dirty="0">
                <a:solidFill>
                  <a:srgbClr val="0000FF"/>
                </a:solidFill>
                <a:latin typeface="Consolas" pitchFamily="49" charset="0"/>
                <a:cs typeface="Consolas" pitchFamily="49" charset="0"/>
              </a:rPr>
              <a:t>	&lt;</a:t>
            </a:r>
            <a:r>
              <a:rPr lang="en-US" sz="2400" dirty="0">
                <a:solidFill>
                  <a:srgbClr val="A31515"/>
                </a:solidFill>
                <a:latin typeface="Consolas" pitchFamily="49" charset="0"/>
                <a:cs typeface="Consolas" pitchFamily="49" charset="0"/>
              </a:rPr>
              <a:t>Table</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 </a:t>
            </a:r>
          </a:p>
          <a:p>
            <a:pPr lvl="0"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a:solidFill>
                  <a:srgbClr val="0000FF"/>
                </a:solidFill>
                <a:latin typeface="Consolas" pitchFamily="49" charset="0"/>
                <a:cs typeface="Consolas" pitchFamily="49" charset="0"/>
              </a:rPr>
              <a:t>&lt;</a:t>
            </a:r>
            <a:r>
              <a:rPr lang="en-US" sz="2400" dirty="0">
                <a:solidFill>
                  <a:srgbClr val="A31515"/>
                </a:solidFill>
                <a:latin typeface="Consolas" pitchFamily="49" charset="0"/>
                <a:cs typeface="Consolas" pitchFamily="49" charset="0"/>
              </a:rPr>
              <a:t>Rows</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4</a:t>
            </a:r>
            <a:r>
              <a:rPr lang="en-US" sz="2400" dirty="0">
                <a:solidFill>
                  <a:srgbClr val="0000FF"/>
                </a:solidFill>
                <a:latin typeface="Consolas" pitchFamily="49" charset="0"/>
                <a:cs typeface="Consolas" pitchFamily="49" charset="0"/>
              </a:rPr>
              <a:t>&lt;/</a:t>
            </a:r>
            <a:r>
              <a:rPr lang="en-US" sz="2400" dirty="0">
                <a:solidFill>
                  <a:srgbClr val="A31515"/>
                </a:solidFill>
                <a:latin typeface="Consolas" pitchFamily="49" charset="0"/>
                <a:cs typeface="Consolas" pitchFamily="49" charset="0"/>
              </a:rPr>
              <a:t>Rows</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 </a:t>
            </a:r>
          </a:p>
          <a:p>
            <a:pPr lvl="0"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lang="en-US" sz="2400" dirty="0" smtClean="0">
                <a:solidFill>
                  <a:srgbClr val="0000FF"/>
                </a:solidFill>
                <a:latin typeface="Consolas" pitchFamily="49" charset="0"/>
                <a:cs typeface="Consolas" pitchFamily="49" charset="0"/>
              </a:rPr>
              <a:t>&lt;</a:t>
            </a:r>
            <a:r>
              <a:rPr lang="en-US" sz="2400" dirty="0">
                <a:solidFill>
                  <a:srgbClr val="A31515"/>
                </a:solidFill>
                <a:latin typeface="Consolas" pitchFamily="49" charset="0"/>
                <a:cs typeface="Consolas" pitchFamily="49" charset="0"/>
              </a:rPr>
              <a:t>Columns</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3</a:t>
            </a:r>
            <a:r>
              <a:rPr lang="en-US" sz="2400" dirty="0">
                <a:solidFill>
                  <a:srgbClr val="0000FF"/>
                </a:solidFill>
                <a:latin typeface="Consolas" pitchFamily="49" charset="0"/>
                <a:cs typeface="Consolas" pitchFamily="49" charset="0"/>
              </a:rPr>
              <a:t>&lt;/</a:t>
            </a:r>
            <a:r>
              <a:rPr lang="en-US" sz="2400" dirty="0">
                <a:solidFill>
                  <a:srgbClr val="A31515"/>
                </a:solidFill>
                <a:latin typeface="Consolas" pitchFamily="49" charset="0"/>
                <a:cs typeface="Consolas" pitchFamily="49" charset="0"/>
              </a:rPr>
              <a:t>Columns</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 </a:t>
            </a:r>
          </a:p>
          <a:p>
            <a:pPr lvl="0" fontAlgn="base">
              <a:spcBef>
                <a:spcPct val="0"/>
              </a:spcBef>
              <a:spcAft>
                <a:spcPct val="0"/>
              </a:spcAft>
            </a:pPr>
            <a:r>
              <a:rPr lang="en-US" sz="2400" dirty="0">
                <a:solidFill>
                  <a:srgbClr val="0000FF"/>
                </a:solidFill>
                <a:latin typeface="Consolas" pitchFamily="49" charset="0"/>
                <a:cs typeface="Consolas" pitchFamily="49" charset="0"/>
              </a:rPr>
              <a:t>	&lt;/</a:t>
            </a:r>
            <a:r>
              <a:rPr lang="en-US" sz="2400" dirty="0">
                <a:solidFill>
                  <a:srgbClr val="A31515"/>
                </a:solidFill>
                <a:latin typeface="Consolas" pitchFamily="49" charset="0"/>
                <a:cs typeface="Consolas" pitchFamily="49" charset="0"/>
              </a:rPr>
              <a:t>Table</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 </a:t>
            </a:r>
          </a:p>
        </p:txBody>
      </p:sp>
      <p:sp>
        <p:nvSpPr>
          <p:cNvPr id="12" name="Rectangle 11"/>
          <p:cNvSpPr/>
          <p:nvPr/>
        </p:nvSpPr>
        <p:spPr>
          <a:xfrm>
            <a:off x="304800" y="5867400"/>
            <a:ext cx="1713931" cy="461665"/>
          </a:xfrm>
          <a:prstGeom prst="rect">
            <a:avLst/>
          </a:prstGeom>
        </p:spPr>
        <p:txBody>
          <a:bodyPr wrap="none">
            <a:spAutoFit/>
          </a:bodyPr>
          <a:lstStyle/>
          <a:p>
            <a:pPr lvl="0" fontAlgn="base">
              <a:spcBef>
                <a:spcPct val="0"/>
              </a:spcBef>
              <a:spcAft>
                <a:spcPct val="0"/>
              </a:spcAft>
            </a:pPr>
            <a:r>
              <a:rPr lang="en-US" sz="2400" dirty="0">
                <a:solidFill>
                  <a:srgbClr val="0000FF"/>
                </a:solidFill>
                <a:latin typeface="Consolas" pitchFamily="49" charset="0"/>
                <a:cs typeface="Consolas" pitchFamily="49" charset="0"/>
              </a:rPr>
              <a:t>&lt;/</a:t>
            </a:r>
            <a:r>
              <a:rPr lang="en-US" sz="2400" dirty="0" err="1">
                <a:solidFill>
                  <a:srgbClr val="A31515"/>
                </a:solidFill>
                <a:latin typeface="Consolas" pitchFamily="49" charset="0"/>
                <a:cs typeface="Consolas" pitchFamily="49" charset="0"/>
              </a:rPr>
              <a:t>MyData</a:t>
            </a:r>
            <a:r>
              <a:rPr lang="en-US" sz="2400" dirty="0">
                <a:solidFill>
                  <a:srgbClr val="0000FF"/>
                </a:solidFill>
                <a:latin typeface="Consolas" pitchFamily="49" charset="0"/>
                <a:cs typeface="Consolas" pitchFamily="49" charset="0"/>
              </a:rPr>
              <a:t>&gt;</a:t>
            </a:r>
            <a:endParaRPr lang="en-US" sz="2400" dirty="0">
              <a:latin typeface="Arial" pitchFamily="34" charset="0"/>
              <a:cs typeface="Arial" pitchFamily="34" charset="0"/>
            </a:endParaRPr>
          </a:p>
        </p:txBody>
      </p:sp>
    </p:spTree>
    <p:extLst>
      <p:ext uri="{BB962C8B-B14F-4D97-AF65-F5344CB8AC3E}">
        <p14:creationId xmlns:p14="http://schemas.microsoft.com/office/powerpoint/2010/main" val="3403829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808080"/>
                                      </p:to>
                                    </p:animClr>
                                  </p:subTnLst>
                                </p:cTn>
                              </p:par>
                              <p:par>
                                <p:cTn id="7" presetID="1" presetClass="entr" presetSubtype="0" fill="hold" nodeType="withEffect">
                                  <p:stCondLst>
                                    <p:cond delay="0"/>
                                  </p:stCondLst>
                                  <p:childTnLst>
                                    <p:set>
                                      <p:cBhvr>
                                        <p:cTn id="8" dur="1" fill="hold">
                                          <p:stCondLst>
                                            <p:cond delay="0"/>
                                          </p:stCondLst>
                                        </p:cTn>
                                        <p:tgtEl>
                                          <p:spTgt spid="12">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2">
                                            <p:txEl>
                                              <p:pRg st="0" end="0"/>
                                            </p:txEl>
                                          </p:spTgt>
                                        </p:tgtEl>
                                        <p:attrNameLst>
                                          <p:attrName>ppt_c</p:attrName>
                                        </p:attrNameLst>
                                      </p:cBhvr>
                                      <p:to>
                                        <a:srgbClr val="808080"/>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808080"/>
                                      </p:to>
                                    </p:animClr>
                                  </p:subTnLst>
                                </p:cTn>
                              </p:par>
                              <p:par>
                                <p:cTn id="13" presetID="1" presetClass="entr" presetSubtype="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808080"/>
                                      </p:to>
                                    </p:animClr>
                                  </p:sub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808080"/>
                                      </p:to>
                                    </p:animClr>
                                  </p:subTnLst>
                                </p:cTn>
                              </p:par>
                              <p:par>
                                <p:cTn id="17" presetID="1"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808080"/>
                                      </p:to>
                                    </p:animClr>
                                  </p:subTnLst>
                                </p:cTn>
                              </p:par>
                              <p:par>
                                <p:cTn id="19" presetID="1" presetClass="entr" presetSubtype="0" fill="hold"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5" end="5"/>
                                            </p:txEl>
                                          </p:spTgt>
                                        </p:tgtEl>
                                        <p:attrNameLst>
                                          <p:attrName>ppt_c</p:attrName>
                                        </p:attrNameLst>
                                      </p:cBhvr>
                                      <p:to>
                                        <a:srgbClr val="808080"/>
                                      </p:to>
                                    </p:animClr>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52400" y="539889"/>
            <a:ext cx="8915400" cy="56323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MyData</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 </a:t>
            </a:r>
          </a:p>
          <a:p>
            <a:pPr lvl="0" fontAlgn="base">
              <a:spcBef>
                <a:spcPct val="0"/>
              </a:spcBef>
              <a:spcAft>
                <a:spcPct val="0"/>
              </a:spcAft>
            </a:pPr>
            <a:r>
              <a:rPr lang="en-US" sz="2400" dirty="0" smtClean="0">
                <a:solidFill>
                  <a:srgbClr val="A31515"/>
                </a:solidFill>
                <a:latin typeface="Consolas" pitchFamily="49" charset="0"/>
                <a:cs typeface="Consolas" pitchFamily="49" charset="0"/>
              </a:rPr>
              <a:t>	</a:t>
            </a:r>
            <a:r>
              <a:rPr lang="en-US" sz="2400" dirty="0" err="1">
                <a:solidFill>
                  <a:schemeClr val="bg1"/>
                </a:solidFill>
                <a:latin typeface="Consolas" pitchFamily="49" charset="0"/>
                <a:cs typeface="Consolas" pitchFamily="49" charset="0"/>
              </a:rPr>
              <a:t>xmlns:kitchen</a:t>
            </a:r>
            <a:r>
              <a:rPr lang="en-US" sz="2400" dirty="0" smtClean="0">
                <a:solidFill>
                  <a:schemeClr val="bg1"/>
                </a:solidFill>
                <a:latin typeface="Consolas" pitchFamily="49" charset="0"/>
                <a:cs typeface="Consolas" pitchFamily="49" charset="0"/>
              </a:rPr>
              <a:t>=“http</a:t>
            </a:r>
            <a:r>
              <a:rPr lang="en-US" sz="2400" dirty="0">
                <a:solidFill>
                  <a:schemeClr val="bg1"/>
                </a:solidFill>
                <a:latin typeface="Consolas" pitchFamily="49" charset="0"/>
                <a:cs typeface="Consolas" pitchFamily="49" charset="0"/>
              </a:rPr>
              <a:t>://</a:t>
            </a:r>
            <a:r>
              <a:rPr lang="en-US" sz="2400" dirty="0" smtClean="0">
                <a:solidFill>
                  <a:schemeClr val="bg1"/>
                </a:solidFill>
                <a:latin typeface="Consolas" pitchFamily="49" charset="0"/>
                <a:cs typeface="Consolas" pitchFamily="49" charset="0"/>
              </a:rPr>
              <a:t>www.example.org/kitchen”</a:t>
            </a:r>
            <a:endParaRPr kumimoji="0" lang="en-US" sz="2400" b="0" i="0" u="none" strike="noStrike" cap="none" normalizeH="0" baseline="0" dirty="0" smtClean="0">
              <a:ln>
                <a:noFill/>
              </a:ln>
              <a:solidFill>
                <a:schemeClr val="bg1"/>
              </a:solidFill>
              <a:effectLst/>
              <a:latin typeface="Consolas" pitchFamily="49" charset="0"/>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bg1"/>
                </a:solidFill>
                <a:effectLst/>
                <a:latin typeface="Consolas" pitchFamily="49" charset="0"/>
                <a:cs typeface="Consolas" pitchFamily="49" charset="0"/>
              </a:rPr>
              <a:t>	</a:t>
            </a:r>
            <a:r>
              <a:rPr kumimoji="0" lang="en-US" sz="2400" b="0" i="0" u="none" strike="noStrike" cap="none" normalizeH="0" baseline="0" dirty="0" err="1" smtClean="0">
                <a:ln>
                  <a:noFill/>
                </a:ln>
                <a:solidFill>
                  <a:schemeClr val="bg1"/>
                </a:solidFill>
                <a:effectLst/>
                <a:latin typeface="Consolas" pitchFamily="49" charset="0"/>
                <a:cs typeface="Consolas" pitchFamily="49" charset="0"/>
              </a:rPr>
              <a:t>xmlns:data</a:t>
            </a:r>
            <a:r>
              <a:rPr kumimoji="0" lang="en-US" sz="2400" b="0" i="0" u="none" strike="noStrike" cap="none" normalizeH="0" baseline="0" dirty="0" smtClean="0">
                <a:ln>
                  <a:noFill/>
                </a:ln>
                <a:solidFill>
                  <a:schemeClr val="bg1"/>
                </a:solidFill>
                <a:effectLst/>
                <a:latin typeface="Consolas" pitchFamily="49" charset="0"/>
                <a:cs typeface="Consolas" pitchFamily="49" charset="0"/>
              </a:rPr>
              <a:t>=“http://www.example.org/data”&gt; </a:t>
            </a:r>
          </a:p>
          <a:p>
            <a:pPr marL="0" marR="0" lvl="0" indent="0" algn="l" defTabSz="914400" rtl="0" eaLnBrk="1" fontAlgn="base" latinLnBrk="0" hangingPunct="1">
              <a:lnSpc>
                <a:spcPct val="100000"/>
              </a:lnSpc>
              <a:spcBef>
                <a:spcPct val="0"/>
              </a:spcBef>
              <a:spcAft>
                <a:spcPct val="0"/>
              </a:spcAft>
              <a:buClrTx/>
              <a:buSzTx/>
              <a:buFontTx/>
              <a:buNone/>
              <a:tabLst/>
            </a:pPr>
            <a:endParaRPr lang="en-US" sz="2400" dirty="0" smtClean="0">
              <a:solidFill>
                <a:srgbClr val="000000"/>
              </a:solidFill>
              <a:latin typeface="Consolas" pitchFamily="49" charset="0"/>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FFC000"/>
                </a:solidFill>
                <a:effectLst/>
                <a:latin typeface="Consolas" pitchFamily="49" charset="0"/>
                <a:cs typeface="Consolas" pitchFamily="49" charset="0"/>
              </a:rPr>
              <a:t>kitchen:</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Legs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4</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Legs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Length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 </a:t>
            </a:r>
            <a:r>
              <a:rPr kumimoji="0" lang="en-US" sz="2400" b="0" i="0" u="none" strike="noStrike" cap="none" normalizeH="0" baseline="0" dirty="0" smtClean="0">
                <a:ln>
                  <a:noFill/>
                </a:ln>
                <a:solidFill>
                  <a:srgbClr val="FF0000"/>
                </a:solidFill>
                <a:effectLst/>
                <a:latin typeface="Consolas" pitchFamily="49" charset="0"/>
                <a:cs typeface="Consolas" pitchFamily="49" charset="0"/>
              </a:rPr>
              <a:t>units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feet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5</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Length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Width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 </a:t>
            </a:r>
            <a:r>
              <a:rPr kumimoji="0" lang="en-US" sz="2400" b="0" i="0" u="none" strike="noStrike" cap="none" normalizeH="0" baseline="0" dirty="0" smtClean="0">
                <a:ln>
                  <a:noFill/>
                </a:ln>
                <a:solidFill>
                  <a:srgbClr val="FF0000"/>
                </a:solidFill>
                <a:effectLst/>
                <a:latin typeface="Consolas" pitchFamily="49" charset="0"/>
                <a:cs typeface="Consolas" pitchFamily="49" charset="0"/>
              </a:rPr>
              <a:t>units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feet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3</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Width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	&lt;/</a:t>
            </a:r>
            <a:r>
              <a:rPr kumimoji="0" lang="en-US" sz="2400" b="0" i="0" u="none" strike="noStrike" cap="none" normalizeH="0" baseline="0" dirty="0" err="1" smtClean="0">
                <a:ln>
                  <a:noFill/>
                </a:ln>
                <a:solidFill>
                  <a:srgbClr val="FFC000"/>
                </a:solidFill>
                <a:effectLst/>
                <a:latin typeface="Consolas" pitchFamily="49" charset="0"/>
                <a:cs typeface="Consolas" pitchFamily="49" charset="0"/>
              </a:rPr>
              <a:t>kitchen:</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sz="2400" dirty="0">
              <a:solidFill>
                <a:srgbClr val="000000"/>
              </a:solidFill>
              <a:latin typeface="Consolas" pitchFamily="49" charset="0"/>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	&lt;</a:t>
            </a:r>
            <a:r>
              <a:rPr kumimoji="0" lang="en-US" sz="2400" b="0" i="0" u="none" strike="noStrike" cap="none" normalizeH="0" baseline="0" dirty="0" err="1" smtClean="0">
                <a:ln>
                  <a:noFill/>
                </a:ln>
                <a:solidFill>
                  <a:srgbClr val="FFC000"/>
                </a:solidFill>
                <a:effectLst/>
                <a:latin typeface="Consolas" pitchFamily="49" charset="0"/>
                <a:cs typeface="Consolas" pitchFamily="49" charset="0"/>
              </a:rPr>
              <a:t>data:</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Rows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4</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Rows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smtClean="0">
                <a:solidFill>
                  <a:srgbClr val="000000"/>
                </a:solidFill>
                <a:latin typeface="Consolas" pitchFamily="49" charset="0"/>
                <a:cs typeface="Consolas" pitchFamily="49" charset="0"/>
              </a:rPr>
              <a:t>	</a:t>
            </a: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Columns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3</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Columns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	&lt;/</a:t>
            </a:r>
            <a:r>
              <a:rPr kumimoji="0" lang="en-US" sz="2400" b="0" i="0" u="none" strike="noStrike" cap="none" normalizeH="0" baseline="0" dirty="0" err="1" smtClean="0">
                <a:ln>
                  <a:noFill/>
                </a:ln>
                <a:solidFill>
                  <a:srgbClr val="FFC000"/>
                </a:solidFill>
                <a:effectLst/>
                <a:latin typeface="Consolas" pitchFamily="49" charset="0"/>
                <a:cs typeface="Consolas" pitchFamily="49" charset="0"/>
              </a:rPr>
              <a:t>data:</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MyData</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Rectangle 5"/>
          <p:cNvSpPr/>
          <p:nvPr/>
        </p:nvSpPr>
        <p:spPr>
          <a:xfrm>
            <a:off x="152400" y="575608"/>
            <a:ext cx="8915400" cy="1200329"/>
          </a:xfrm>
          <a:prstGeom prst="rect">
            <a:avLst/>
          </a:prstGeom>
        </p:spPr>
        <p:txBody>
          <a:bodyPr wrap="square">
            <a:spAutoFit/>
          </a:bodyPr>
          <a:lstStyle/>
          <a:p>
            <a:pPr lvl="0" fontAlgn="base">
              <a:spcBef>
                <a:spcPct val="0"/>
              </a:spcBef>
              <a:spcAft>
                <a:spcPct val="0"/>
              </a:spcAft>
            </a:pPr>
            <a:r>
              <a:rPr lang="en-US" sz="2400" dirty="0">
                <a:solidFill>
                  <a:srgbClr val="0000FF"/>
                </a:solidFill>
                <a:latin typeface="Consolas" pitchFamily="49" charset="0"/>
                <a:cs typeface="Consolas" pitchFamily="49" charset="0"/>
              </a:rPr>
              <a:t>&lt;</a:t>
            </a:r>
            <a:r>
              <a:rPr lang="en-US" sz="2400" dirty="0" err="1">
                <a:solidFill>
                  <a:srgbClr val="A31515"/>
                </a:solidFill>
                <a:latin typeface="Consolas" pitchFamily="49" charset="0"/>
                <a:cs typeface="Consolas" pitchFamily="49" charset="0"/>
              </a:rPr>
              <a:t>MyData</a:t>
            </a:r>
            <a:r>
              <a:rPr lang="en-US" sz="2400" dirty="0">
                <a:solidFill>
                  <a:srgbClr val="A31515"/>
                </a:solidFill>
                <a:latin typeface="Consolas" pitchFamily="49" charset="0"/>
                <a:cs typeface="Consolas" pitchFamily="49" charset="0"/>
              </a:rPr>
              <a:t> </a:t>
            </a:r>
          </a:p>
          <a:p>
            <a:pPr lvl="0" fontAlgn="base">
              <a:spcBef>
                <a:spcPct val="0"/>
              </a:spcBef>
              <a:spcAft>
                <a:spcPct val="0"/>
              </a:spcAft>
            </a:pPr>
            <a:r>
              <a:rPr lang="en-US" sz="2400" dirty="0">
                <a:solidFill>
                  <a:srgbClr val="A31515"/>
                </a:solidFill>
                <a:latin typeface="Consolas" pitchFamily="49" charset="0"/>
                <a:cs typeface="Consolas" pitchFamily="49" charset="0"/>
              </a:rPr>
              <a:t>	</a:t>
            </a:r>
            <a:r>
              <a:rPr lang="en-US" sz="2400" dirty="0" err="1">
                <a:solidFill>
                  <a:srgbClr val="FFC000"/>
                </a:solidFill>
                <a:latin typeface="Consolas" pitchFamily="49" charset="0"/>
                <a:cs typeface="Consolas" pitchFamily="49" charset="0"/>
              </a:rPr>
              <a:t>xmlns:kitchen</a:t>
            </a:r>
            <a:r>
              <a:rPr lang="en-US" sz="2400" dirty="0">
                <a:solidFill>
                  <a:srgbClr val="FFC000"/>
                </a:solidFill>
                <a:latin typeface="Consolas" pitchFamily="49" charset="0"/>
                <a:cs typeface="Consolas" pitchFamily="49" charset="0"/>
              </a:rPr>
              <a:t>=“http://www.example.org/kitchen”</a:t>
            </a:r>
          </a:p>
          <a:p>
            <a:pPr lvl="0" fontAlgn="base">
              <a:spcBef>
                <a:spcPct val="0"/>
              </a:spcBef>
              <a:spcAft>
                <a:spcPct val="0"/>
              </a:spcAft>
            </a:pPr>
            <a:r>
              <a:rPr lang="en-US" sz="2400" dirty="0">
                <a:solidFill>
                  <a:srgbClr val="FFC000"/>
                </a:solidFill>
                <a:latin typeface="Consolas" pitchFamily="49" charset="0"/>
                <a:cs typeface="Consolas" pitchFamily="49" charset="0"/>
              </a:rPr>
              <a:t>	</a:t>
            </a:r>
            <a:r>
              <a:rPr lang="en-US" sz="2400" dirty="0" err="1">
                <a:solidFill>
                  <a:srgbClr val="FFC000"/>
                </a:solidFill>
                <a:latin typeface="Consolas" pitchFamily="49" charset="0"/>
                <a:cs typeface="Consolas" pitchFamily="49" charset="0"/>
              </a:rPr>
              <a:t>xmlns:data</a:t>
            </a:r>
            <a:r>
              <a:rPr lang="en-US" sz="2400" dirty="0">
                <a:solidFill>
                  <a:srgbClr val="FFC000"/>
                </a:solidFill>
                <a:latin typeface="Consolas" pitchFamily="49" charset="0"/>
                <a:cs typeface="Consolas" pitchFamily="49" charset="0"/>
              </a:rPr>
              <a:t>=“http://www.example.org/data”&gt; </a:t>
            </a:r>
          </a:p>
        </p:txBody>
      </p:sp>
    </p:spTree>
    <p:extLst>
      <p:ext uri="{BB962C8B-B14F-4D97-AF65-F5344CB8AC3E}">
        <p14:creationId xmlns:p14="http://schemas.microsoft.com/office/powerpoint/2010/main" val="47396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 and XML</a:t>
            </a:r>
            <a:endParaRPr lang="en-US" dirty="0"/>
          </a:p>
        </p:txBody>
      </p:sp>
      <p:sp>
        <p:nvSpPr>
          <p:cNvPr id="5" name="Rectangle 1"/>
          <p:cNvSpPr>
            <a:spLocks noChangeArrowheads="1"/>
          </p:cNvSpPr>
          <p:nvPr/>
        </p:nvSpPr>
        <p:spPr bwMode="auto">
          <a:xfrm>
            <a:off x="489292" y="1894106"/>
            <a:ext cx="8475196" cy="41549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541338"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DDIInstance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541338"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StudyUnit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StudyUnit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541338"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endParaRPr lang="en-US" sz="2400" dirty="0" smtClean="0">
              <a:solidFill>
                <a:srgbClr val="000000"/>
              </a:solidFill>
              <a:latin typeface="Consolas" pitchFamily="49" charset="0"/>
              <a:cs typeface="Consolas" pitchFamily="49" charset="0"/>
            </a:endParaRPr>
          </a:p>
          <a:p>
            <a:pPr marL="0" marR="0" lvl="0" indent="0" algn="l" defTabSz="541338"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ResourcePackage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lvl="0" defTabSz="541338"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QuestionScheme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lang="en-US" sz="2400" dirty="0" smtClean="0">
                <a:solidFill>
                  <a:srgbClr val="000000"/>
                </a:solidFill>
                <a:latin typeface="Consolas" pitchFamily="49" charset="0"/>
                <a:cs typeface="Consolas" pitchFamily="49" charset="0"/>
              </a:rPr>
              <a:t>...</a:t>
            </a:r>
            <a:r>
              <a:rPr lang="en-US" sz="2400" dirty="0" smtClean="0">
                <a:solidFill>
                  <a:srgbClr val="0000FF"/>
                </a:solidFill>
                <a:latin typeface="Consolas" pitchFamily="49" charset="0"/>
                <a:cs typeface="Consolas" pitchFamily="49" charset="0"/>
              </a:rPr>
              <a:t>&lt;/</a:t>
            </a:r>
            <a:r>
              <a:rPr lang="en-US" sz="2400" dirty="0" err="1" smtClean="0">
                <a:solidFill>
                  <a:srgbClr val="A31515"/>
                </a:solidFill>
                <a:latin typeface="Consolas" pitchFamily="49" charset="0"/>
                <a:cs typeface="Consolas" pitchFamily="49" charset="0"/>
              </a:rPr>
              <a:t>QuestionScheme</a:t>
            </a:r>
            <a:r>
              <a:rPr lang="en-US" sz="2400" dirty="0" smtClean="0">
                <a:solidFill>
                  <a:srgbClr val="0000FF"/>
                </a:solidFill>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lvl="0" defTabSz="541338"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VariableScheme</a:t>
            </a:r>
            <a:r>
              <a:rPr lang="en-US" sz="2400" dirty="0" smtClean="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a:t>
            </a:r>
            <a:r>
              <a:rPr lang="en-US" sz="2400" dirty="0" smtClean="0">
                <a:solidFill>
                  <a:srgbClr val="0000FF"/>
                </a:solidFill>
                <a:latin typeface="Consolas" pitchFamily="49" charset="0"/>
                <a:cs typeface="Consolas" pitchFamily="49" charset="0"/>
              </a:rPr>
              <a:t>&lt;/</a:t>
            </a:r>
            <a:r>
              <a:rPr lang="en-US" sz="2400" dirty="0" err="1" smtClean="0">
                <a:solidFill>
                  <a:srgbClr val="A31515"/>
                </a:solidFill>
                <a:latin typeface="Consolas" pitchFamily="49" charset="0"/>
                <a:cs typeface="Consolas" pitchFamily="49" charset="0"/>
              </a:rPr>
              <a:t>VariableScheme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lvl="0" defTabSz="541338"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ConceptScheme</a:t>
            </a:r>
            <a:r>
              <a:rPr lang="en-US" sz="2400" dirty="0" smtClean="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a:t>
            </a:r>
            <a:r>
              <a:rPr lang="en-US" sz="2400" dirty="0" smtClean="0">
                <a:solidFill>
                  <a:srgbClr val="0000FF"/>
                </a:solidFill>
                <a:latin typeface="Consolas" pitchFamily="49" charset="0"/>
                <a:cs typeface="Consolas" pitchFamily="49" charset="0"/>
              </a:rPr>
              <a:t>&lt;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lang="en-US" sz="2400" dirty="0" err="1" smtClean="0">
                <a:solidFill>
                  <a:srgbClr val="A31515"/>
                </a:solidFill>
                <a:latin typeface="Consolas" pitchFamily="49" charset="0"/>
                <a:cs typeface="Consolas" pitchFamily="49" charset="0"/>
              </a:rPr>
              <a:t>ConceptScheme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lvl="0" defTabSz="541338"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PhysicalInstance</a:t>
            </a:r>
            <a:r>
              <a:rPr lang="en-US" sz="2400" dirty="0" smtClean="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a:t>
            </a:r>
            <a:r>
              <a:rPr lang="en-US" sz="2400" dirty="0" smtClean="0">
                <a:solidFill>
                  <a:srgbClr val="0000FF"/>
                </a:solidFill>
                <a:latin typeface="Consolas" pitchFamily="49" charset="0"/>
                <a:cs typeface="Consolas" pitchFamily="49" charset="0"/>
              </a:rPr>
              <a:t>&lt;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lang="en-US" sz="2400" dirty="0" err="1" smtClean="0">
                <a:solidFill>
                  <a:srgbClr val="A31515"/>
                </a:solidFill>
                <a:latin typeface="Consolas" pitchFamily="49" charset="0"/>
                <a:cs typeface="Consolas" pitchFamily="49" charset="0"/>
              </a:rPr>
              <a:t>PhysicalInstance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541338"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ResourcePackage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endParaRPr lang="en-US" sz="2400" dirty="0">
              <a:solidFill>
                <a:srgbClr val="000000"/>
              </a:solidFill>
              <a:latin typeface="Consolas" pitchFamily="49" charset="0"/>
              <a:cs typeface="Consolas" pitchFamily="49" charset="0"/>
            </a:endParaRPr>
          </a:p>
          <a:p>
            <a:pPr marL="0" marR="0" lvl="0" indent="0" algn="l" defTabSz="541338"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000000"/>
              </a:solidFill>
              <a:effectLst/>
              <a:latin typeface="Consolas" pitchFamily="49" charset="0"/>
              <a:cs typeface="Consolas" pitchFamily="49" charset="0"/>
            </a:endParaRPr>
          </a:p>
          <a:p>
            <a:pPr marL="0" marR="0" lvl="0" indent="0" algn="l" defTabSz="541338"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DDIInstance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28199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par>
                                <p:cTn id="7" presetID="1" presetClass="entr" presetSubtype="0" fill="hold" nodeType="withEffect">
                                  <p:stCondLst>
                                    <p:cond delay="0"/>
                                  </p:stCondLst>
                                  <p:childTnLst>
                                    <p:set>
                                      <p:cBhvr>
                                        <p:cTn id="8" dur="1" fill="hold">
                                          <p:stCondLst>
                                            <p:cond delay="0"/>
                                          </p:stCondLst>
                                        </p:cTn>
                                        <p:tgtEl>
                                          <p:spTgt spid="5">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0" end="10"/>
                                            </p:txEl>
                                          </p:spTgt>
                                        </p:tgtEl>
                                        <p:attrNameLst>
                                          <p:attrName>ppt_c</p:attrName>
                                        </p:attrNameLst>
                                      </p:cBhvr>
                                      <p:to>
                                        <a:srgbClr val="808080"/>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 end="1"/>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3" end="3"/>
                                            </p:txEl>
                                          </p:spTgt>
                                        </p:tgtEl>
                                        <p:attrNameLst>
                                          <p:attrName>ppt_c</p:attrName>
                                        </p:attrNameLst>
                                      </p:cBhvr>
                                      <p:to>
                                        <a:srgbClr val="808080"/>
                                      </p:to>
                                    </p:animClr>
                                  </p:sub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8" end="8"/>
                                            </p:txEl>
                                          </p:spTgt>
                                        </p:tgtEl>
                                        <p:attrNameLst>
                                          <p:attrName>ppt_c</p:attrName>
                                        </p:attrNameLst>
                                      </p:cBhvr>
                                      <p:to>
                                        <a:srgbClr val="808080"/>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4" end="4"/>
                                            </p:txEl>
                                          </p:spTgt>
                                        </p:tgtEl>
                                        <p:attrNameLst>
                                          <p:attrName>ppt_c</p:attrName>
                                        </p:attrNameLst>
                                      </p:cBhvr>
                                      <p:to>
                                        <a:srgbClr val="808080"/>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5" end="5"/>
                                            </p:txEl>
                                          </p:spTgt>
                                        </p:tgtEl>
                                        <p:attrNameLst>
                                          <p:attrName>ppt_c</p:attrName>
                                        </p:attrNameLst>
                                      </p:cBhvr>
                                      <p:to>
                                        <a:srgbClr val="808080"/>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6" end="6"/>
                                            </p:txEl>
                                          </p:spTgt>
                                        </p:tgtEl>
                                        <p:attrNameLst>
                                          <p:attrName>ppt_c</p:attrName>
                                        </p:attrNameLst>
                                      </p:cBhvr>
                                      <p:to>
                                        <a:srgbClr val="808080"/>
                                      </p:to>
                                    </p:animClr>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tools</a:t>
            </a:r>
            <a:endParaRPr lang="en-US"/>
          </a:p>
        </p:txBody>
      </p:sp>
      <p:sp>
        <p:nvSpPr>
          <p:cNvPr id="3" name="Textplatzhalter 2"/>
          <p:cNvSpPr>
            <a:spLocks noGrp="1"/>
          </p:cNvSpPr>
          <p:nvPr>
            <p:ph type="body" idx="1"/>
          </p:nvPr>
        </p:nvSpPr>
        <p:spPr/>
        <p:txBody>
          <a:bodyPr/>
          <a:lstStyle/>
          <a:p>
            <a:r>
              <a:rPr lang="en-US" smtClean="0"/>
              <a:t>Introduction to DDI</a:t>
            </a:r>
            <a:endParaRPr lang="en-US"/>
          </a:p>
        </p:txBody>
      </p:sp>
    </p:spTree>
    <p:extLst>
      <p:ext uri="{BB962C8B-B14F-4D97-AF65-F5344CB8AC3E}">
        <p14:creationId xmlns:p14="http://schemas.microsoft.com/office/powerpoint/2010/main" val="7820311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Tools </a:t>
            </a:r>
            <a:r>
              <a:rPr lang="de-DE" dirty="0" err="1" smtClean="0"/>
              <a:t>and</a:t>
            </a:r>
            <a:r>
              <a:rPr lang="de-DE" dirty="0" smtClean="0"/>
              <a:t> Standards</a:t>
            </a:r>
            <a:endParaRPr lang="de-DE" dirty="0"/>
          </a:p>
        </p:txBody>
      </p:sp>
      <p:sp>
        <p:nvSpPr>
          <p:cNvPr id="3" name="Rechteck 2"/>
          <p:cNvSpPr/>
          <p:nvPr/>
        </p:nvSpPr>
        <p:spPr>
          <a:xfrm>
            <a:off x="1447800" y="22860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A</a:t>
            </a:r>
            <a:endParaRPr lang="de-DE" dirty="0"/>
          </a:p>
        </p:txBody>
      </p:sp>
      <p:sp>
        <p:nvSpPr>
          <p:cNvPr id="4" name="Rechteck 3"/>
          <p:cNvSpPr/>
          <p:nvPr/>
        </p:nvSpPr>
        <p:spPr>
          <a:xfrm>
            <a:off x="5867400" y="22860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B</a:t>
            </a:r>
            <a:endParaRPr lang="de-DE" dirty="0"/>
          </a:p>
        </p:txBody>
      </p:sp>
      <p:sp>
        <p:nvSpPr>
          <p:cNvPr id="5" name="Rechteck 4"/>
          <p:cNvSpPr/>
          <p:nvPr/>
        </p:nvSpPr>
        <p:spPr>
          <a:xfrm>
            <a:off x="5867400" y="46482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D</a:t>
            </a:r>
            <a:endParaRPr lang="de-DE" dirty="0"/>
          </a:p>
        </p:txBody>
      </p:sp>
      <p:sp>
        <p:nvSpPr>
          <p:cNvPr id="6" name="Rechteck 5"/>
          <p:cNvSpPr/>
          <p:nvPr/>
        </p:nvSpPr>
        <p:spPr>
          <a:xfrm>
            <a:off x="1447800" y="46482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C</a:t>
            </a:r>
            <a:endParaRPr lang="de-DE" dirty="0"/>
          </a:p>
        </p:txBody>
      </p:sp>
      <p:cxnSp>
        <p:nvCxnSpPr>
          <p:cNvPr id="10" name="Gerade Verbindung 9"/>
          <p:cNvCxnSpPr/>
          <p:nvPr/>
        </p:nvCxnSpPr>
        <p:spPr>
          <a:xfrm>
            <a:off x="3352800" y="3048000"/>
            <a:ext cx="2514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Gerade Verbindung 11"/>
          <p:cNvCxnSpPr/>
          <p:nvPr/>
        </p:nvCxnSpPr>
        <p:spPr>
          <a:xfrm>
            <a:off x="3200400" y="3200400"/>
            <a:ext cx="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 Verbindung 13"/>
          <p:cNvCxnSpPr/>
          <p:nvPr/>
        </p:nvCxnSpPr>
        <p:spPr>
          <a:xfrm>
            <a:off x="6019800" y="3200400"/>
            <a:ext cx="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p:nvCxnSpPr>
        <p:spPr>
          <a:xfrm>
            <a:off x="3352800" y="4800600"/>
            <a:ext cx="2514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Gerade Verbindung 17"/>
          <p:cNvCxnSpPr/>
          <p:nvPr/>
        </p:nvCxnSpPr>
        <p:spPr>
          <a:xfrm>
            <a:off x="3352800" y="3200400"/>
            <a:ext cx="251460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p:nvCxnSpPr>
        <p:spPr>
          <a:xfrm flipV="1">
            <a:off x="3352800" y="3200400"/>
            <a:ext cx="2514600" cy="1447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129439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Tools </a:t>
            </a:r>
            <a:r>
              <a:rPr lang="de-DE" dirty="0" err="1" smtClean="0"/>
              <a:t>and</a:t>
            </a:r>
            <a:r>
              <a:rPr lang="de-DE" dirty="0" smtClean="0"/>
              <a:t> Standards</a:t>
            </a:r>
            <a:endParaRPr lang="de-DE" dirty="0"/>
          </a:p>
        </p:txBody>
      </p:sp>
      <p:sp>
        <p:nvSpPr>
          <p:cNvPr id="3" name="Rechteck 2"/>
          <p:cNvSpPr/>
          <p:nvPr/>
        </p:nvSpPr>
        <p:spPr>
          <a:xfrm>
            <a:off x="1447800" y="22860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A</a:t>
            </a:r>
            <a:endParaRPr lang="de-DE" dirty="0"/>
          </a:p>
        </p:txBody>
      </p:sp>
      <p:sp>
        <p:nvSpPr>
          <p:cNvPr id="4" name="Rechteck 3"/>
          <p:cNvSpPr/>
          <p:nvPr/>
        </p:nvSpPr>
        <p:spPr>
          <a:xfrm>
            <a:off x="5867400" y="22860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B</a:t>
            </a:r>
            <a:endParaRPr lang="de-DE" dirty="0"/>
          </a:p>
        </p:txBody>
      </p:sp>
      <p:sp>
        <p:nvSpPr>
          <p:cNvPr id="5" name="Rechteck 4"/>
          <p:cNvSpPr/>
          <p:nvPr/>
        </p:nvSpPr>
        <p:spPr>
          <a:xfrm>
            <a:off x="5867400" y="46482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D</a:t>
            </a:r>
            <a:endParaRPr lang="de-DE" dirty="0"/>
          </a:p>
        </p:txBody>
      </p:sp>
      <p:sp>
        <p:nvSpPr>
          <p:cNvPr id="6" name="Rechteck 5"/>
          <p:cNvSpPr/>
          <p:nvPr/>
        </p:nvSpPr>
        <p:spPr>
          <a:xfrm>
            <a:off x="1447800" y="46482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C</a:t>
            </a:r>
            <a:endParaRPr lang="de-DE" dirty="0"/>
          </a:p>
        </p:txBody>
      </p:sp>
      <p:cxnSp>
        <p:nvCxnSpPr>
          <p:cNvPr id="18" name="Gerade Verbindung 17"/>
          <p:cNvCxnSpPr/>
          <p:nvPr/>
        </p:nvCxnSpPr>
        <p:spPr>
          <a:xfrm>
            <a:off x="3352800" y="3200400"/>
            <a:ext cx="251460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p:nvCxnSpPr>
        <p:spPr>
          <a:xfrm flipV="1">
            <a:off x="3352800" y="3200400"/>
            <a:ext cx="2514600" cy="1447800"/>
          </a:xfrm>
          <a:prstGeom prst="line">
            <a:avLst/>
          </a:prstGeom>
        </p:spPr>
        <p:style>
          <a:lnRef idx="1">
            <a:schemeClr val="accent1"/>
          </a:lnRef>
          <a:fillRef idx="0">
            <a:schemeClr val="accent1"/>
          </a:fillRef>
          <a:effectRef idx="0">
            <a:schemeClr val="accent1"/>
          </a:effectRef>
          <a:fontRef idx="minor">
            <a:schemeClr val="tx1"/>
          </a:fontRef>
        </p:style>
      </p:cxnSp>
      <p:sp>
        <p:nvSpPr>
          <p:cNvPr id="7" name="Ellipse 6"/>
          <p:cNvSpPr/>
          <p:nvPr/>
        </p:nvSpPr>
        <p:spPr>
          <a:xfrm>
            <a:off x="3848100" y="3390900"/>
            <a:ext cx="1524000" cy="1066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Standard</a:t>
            </a:r>
            <a:endParaRPr lang="de-DE" dirty="0"/>
          </a:p>
        </p:txBody>
      </p:sp>
    </p:spTree>
    <p:extLst>
      <p:ext uri="{BB962C8B-B14F-4D97-AF65-F5344CB8AC3E}">
        <p14:creationId xmlns:p14="http://schemas.microsoft.com/office/powerpoint/2010/main" val="39228213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Examples</a:t>
            </a:r>
            <a:endParaRPr lang="en-US" dirty="0"/>
          </a:p>
        </p:txBody>
      </p:sp>
      <p:sp>
        <p:nvSpPr>
          <p:cNvPr id="4" name="Content Placeholder 3"/>
          <p:cNvSpPr>
            <a:spLocks noGrp="1"/>
          </p:cNvSpPr>
          <p:nvPr>
            <p:ph idx="1"/>
          </p:nvPr>
        </p:nvSpPr>
        <p:spPr/>
        <p:txBody>
          <a:bodyPr/>
          <a:lstStyle/>
          <a:p>
            <a:r>
              <a:rPr lang="en-US" dirty="0" smtClean="0"/>
              <a:t>Missy</a:t>
            </a:r>
          </a:p>
          <a:p>
            <a:r>
              <a:rPr lang="en-US" dirty="0" smtClean="0"/>
              <a:t>IHSN (NADA)</a:t>
            </a:r>
          </a:p>
          <a:p>
            <a:r>
              <a:rPr lang="en-US" dirty="0" err="1" smtClean="0"/>
              <a:t>Questasy</a:t>
            </a:r>
            <a:endParaRPr lang="en-US" dirty="0" smtClean="0"/>
          </a:p>
          <a:p>
            <a:r>
              <a:rPr lang="en-US" dirty="0" err="1" smtClean="0"/>
              <a:t>Nesstar</a:t>
            </a:r>
            <a:endParaRPr lang="en-US" dirty="0" smtClean="0"/>
          </a:p>
          <a:p>
            <a:r>
              <a:rPr lang="en-US" dirty="0" err="1" smtClean="0"/>
              <a:t>Colectica</a:t>
            </a:r>
            <a:endParaRPr lang="en-US" dirty="0" smtClean="0"/>
          </a:p>
          <a:p>
            <a:r>
              <a:rPr lang="en-US" dirty="0" smtClean="0"/>
              <a:t>Stat/Transfer</a:t>
            </a:r>
          </a:p>
          <a:p>
            <a:r>
              <a:rPr lang="en-US" dirty="0" smtClean="0"/>
              <a:t>DDI on Rails</a:t>
            </a:r>
          </a:p>
          <a:p>
            <a:endParaRPr lang="en-US" dirty="0"/>
          </a:p>
        </p:txBody>
      </p:sp>
    </p:spTree>
    <p:extLst>
      <p:ext uri="{BB962C8B-B14F-4D97-AF65-F5344CB8AC3E}">
        <p14:creationId xmlns:p14="http://schemas.microsoft.com/office/powerpoint/2010/main" val="2133696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85800" y="4419600"/>
            <a:ext cx="7772400" cy="914400"/>
          </a:xfrm>
        </p:spPr>
        <p:txBody>
          <a:bodyPr>
            <a:normAutofit/>
          </a:bodyPr>
          <a:lstStyle/>
          <a:p>
            <a:r>
              <a:rPr lang="en-US" dirty="0" smtClean="0"/>
              <a:t>Codebook and lifecycle</a:t>
            </a:r>
            <a:endParaRPr lang="en-US" dirty="0"/>
          </a:p>
        </p:txBody>
      </p:sp>
      <p:sp>
        <p:nvSpPr>
          <p:cNvPr id="3" name="Textplatzhalter 2"/>
          <p:cNvSpPr>
            <a:spLocks noGrp="1"/>
          </p:cNvSpPr>
          <p:nvPr>
            <p:ph type="body" idx="1"/>
          </p:nvPr>
        </p:nvSpPr>
        <p:spPr/>
        <p:txBody>
          <a:bodyPr/>
          <a:lstStyle/>
          <a:p>
            <a:r>
              <a:rPr lang="en-US" dirty="0" smtClean="0"/>
              <a:t>Introduction to DDI</a:t>
            </a:r>
            <a:endParaRPr lang="en-US" dirty="0"/>
          </a:p>
        </p:txBody>
      </p:sp>
      <p:sp>
        <p:nvSpPr>
          <p:cNvPr id="4" name="Titel 1"/>
          <p:cNvSpPr txBox="1">
            <a:spLocks/>
          </p:cNvSpPr>
          <p:nvPr/>
        </p:nvSpPr>
        <p:spPr>
          <a:xfrm>
            <a:off x="685800" y="5100637"/>
            <a:ext cx="7772400" cy="681038"/>
          </a:xfrm>
          <a:prstGeom prst="rect">
            <a:avLst/>
          </a:prstGeom>
        </p:spPr>
        <p:txBody>
          <a:bodyPr vert="horz" lIns="91440" tIns="45720" rIns="91440" bIns="45720" rtlCol="0" anchor="t">
            <a:normAutofit lnSpcReduction="10000"/>
          </a:bodyPr>
          <a:lstStyle>
            <a:lvl1pPr algn="l" defTabSz="914400" rtl="0" eaLnBrk="1" latinLnBrk="0" hangingPunct="1">
              <a:spcBef>
                <a:spcPct val="0"/>
              </a:spcBef>
              <a:buNone/>
              <a:defRPr sz="4000" b="1" kern="1200" cap="all">
                <a:solidFill>
                  <a:schemeClr val="tx1"/>
                </a:solidFill>
                <a:latin typeface="+mj-lt"/>
                <a:ea typeface="+mj-ea"/>
                <a:cs typeface="+mj-cs"/>
              </a:defRPr>
            </a:lvl1pPr>
          </a:lstStyle>
          <a:p>
            <a:pPr algn="r"/>
            <a:r>
              <a:rPr lang="en-US" dirty="0" smtClean="0"/>
              <a:t>… and moving forward</a:t>
            </a:r>
            <a:endParaRPr lang="en-US" dirty="0"/>
          </a:p>
        </p:txBody>
      </p:sp>
    </p:spTree>
    <p:extLst>
      <p:ext uri="{BB962C8B-B14F-4D97-AF65-F5344CB8AC3E}">
        <p14:creationId xmlns:p14="http://schemas.microsoft.com/office/powerpoint/2010/main" val="7135798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Formerly known as…</a:t>
            </a:r>
            <a:endParaRPr lang="en-US" dirty="0"/>
          </a:p>
        </p:txBody>
      </p:sp>
      <p:sp>
        <p:nvSpPr>
          <p:cNvPr id="5" name="Content Placeholder 4"/>
          <p:cNvSpPr>
            <a:spLocks noGrp="1"/>
          </p:cNvSpPr>
          <p:nvPr>
            <p:ph idx="1"/>
          </p:nvPr>
        </p:nvSpPr>
        <p:spPr/>
        <p:txBody>
          <a:bodyPr/>
          <a:lstStyle/>
          <a:p>
            <a:endParaRPr lang="en-US" dirty="0" smtClean="0"/>
          </a:p>
          <a:p>
            <a:endParaRPr lang="en-US" dirty="0"/>
          </a:p>
          <a:p>
            <a:r>
              <a:rPr lang="en-US" dirty="0" smtClean="0"/>
              <a:t>DDI 2 </a:t>
            </a:r>
            <a:r>
              <a:rPr lang="en-US" dirty="0" smtClean="0">
                <a:sym typeface="Wingdings" pitchFamily="2" charset="2"/>
              </a:rPr>
              <a:t> DDI Codebook  DDI-C</a:t>
            </a:r>
          </a:p>
          <a:p>
            <a:endParaRPr lang="en-US" dirty="0" smtClean="0">
              <a:sym typeface="Wingdings" pitchFamily="2" charset="2"/>
            </a:endParaRPr>
          </a:p>
          <a:p>
            <a:r>
              <a:rPr lang="en-US" dirty="0" smtClean="0">
                <a:sym typeface="Wingdings" pitchFamily="2" charset="2"/>
              </a:rPr>
              <a:t>DDI 3  DDI Lifecycle  DDI-L</a:t>
            </a:r>
          </a:p>
        </p:txBody>
      </p:sp>
    </p:spTree>
    <p:extLst>
      <p:ext uri="{BB962C8B-B14F-4D97-AF65-F5344CB8AC3E}">
        <p14:creationId xmlns:p14="http://schemas.microsoft.com/office/powerpoint/2010/main" val="164052296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DDI Codebook</a:t>
            </a:r>
            <a:endParaRPr lang="en-US" dirty="0"/>
          </a:p>
        </p:txBody>
      </p:sp>
      <p:sp>
        <p:nvSpPr>
          <p:cNvPr id="5" name="Content Placeholder 4"/>
          <p:cNvSpPr>
            <a:spLocks noGrp="1"/>
          </p:cNvSpPr>
          <p:nvPr>
            <p:ph idx="1"/>
          </p:nvPr>
        </p:nvSpPr>
        <p:spPr/>
        <p:txBody>
          <a:bodyPr/>
          <a:lstStyle/>
          <a:p>
            <a:pPr marL="0" indent="0">
              <a:buNone/>
            </a:pPr>
            <a:r>
              <a:rPr lang="en-US" b="1" dirty="0" smtClean="0"/>
              <a:t>Parts:</a:t>
            </a:r>
          </a:p>
          <a:p>
            <a:r>
              <a:rPr lang="en-US" dirty="0" smtClean="0"/>
              <a:t>Document Description</a:t>
            </a:r>
          </a:p>
          <a:p>
            <a:r>
              <a:rPr lang="en-US" dirty="0" smtClean="0"/>
              <a:t>Study Description</a:t>
            </a:r>
          </a:p>
          <a:p>
            <a:r>
              <a:rPr lang="en-US" dirty="0" smtClean="0"/>
              <a:t>File Description</a:t>
            </a:r>
          </a:p>
          <a:p>
            <a:r>
              <a:rPr lang="en-US" dirty="0" smtClean="0"/>
              <a:t>Variable Description</a:t>
            </a:r>
            <a:endParaRPr lang="en-US" dirty="0"/>
          </a:p>
        </p:txBody>
      </p:sp>
    </p:spTree>
    <p:extLst>
      <p:ext uri="{BB962C8B-B14F-4D97-AF65-F5344CB8AC3E}">
        <p14:creationId xmlns:p14="http://schemas.microsoft.com/office/powerpoint/2010/main" val="11705594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DDI </a:t>
            </a:r>
            <a:r>
              <a:rPr lang="de-DE" dirty="0" err="1" smtClean="0"/>
              <a:t>Codebook</a:t>
            </a:r>
            <a:endParaRPr lang="de-DE" dirty="0"/>
          </a:p>
        </p:txBody>
      </p:sp>
      <p:sp>
        <p:nvSpPr>
          <p:cNvPr id="3" name="Inhaltsplatzhalter 2"/>
          <p:cNvSpPr>
            <a:spLocks noGrp="1"/>
          </p:cNvSpPr>
          <p:nvPr>
            <p:ph idx="1"/>
          </p:nvPr>
        </p:nvSpPr>
        <p:spPr/>
        <p:txBody>
          <a:bodyPr/>
          <a:lstStyle/>
          <a:p>
            <a:endParaRPr lang="de-DE" dirty="0"/>
          </a:p>
          <a:p>
            <a:pPr marL="0" indent="0">
              <a:buNone/>
            </a:pPr>
            <a:r>
              <a:rPr lang="de-DE" dirty="0" err="1" smtClean="0"/>
              <a:t>From</a:t>
            </a:r>
            <a:r>
              <a:rPr lang="de-DE" dirty="0" smtClean="0"/>
              <a:t> a </a:t>
            </a:r>
            <a:r>
              <a:rPr lang="de-DE" dirty="0" err="1" smtClean="0"/>
              <a:t>developer`s</a:t>
            </a:r>
            <a:r>
              <a:rPr lang="de-DE" dirty="0" smtClean="0"/>
              <a:t> </a:t>
            </a:r>
            <a:r>
              <a:rPr lang="de-DE" dirty="0" err="1" smtClean="0"/>
              <a:t>perspective</a:t>
            </a:r>
            <a:r>
              <a:rPr lang="de-DE" dirty="0" smtClean="0"/>
              <a:t>:</a:t>
            </a:r>
          </a:p>
          <a:p>
            <a:r>
              <a:rPr lang="de-DE" dirty="0" smtClean="0"/>
              <a:t>Clear design</a:t>
            </a:r>
          </a:p>
          <a:p>
            <a:r>
              <a:rPr lang="de-DE" dirty="0" smtClean="0"/>
              <a:t>Easy </a:t>
            </a:r>
            <a:r>
              <a:rPr lang="de-DE" dirty="0" err="1" smtClean="0"/>
              <a:t>to</a:t>
            </a:r>
            <a:r>
              <a:rPr lang="de-DE" dirty="0" smtClean="0"/>
              <a:t> </a:t>
            </a:r>
            <a:r>
              <a:rPr lang="de-DE" dirty="0" err="1" smtClean="0"/>
              <a:t>implement</a:t>
            </a:r>
            <a:endParaRPr lang="de-DE" dirty="0" smtClean="0"/>
          </a:p>
          <a:p>
            <a:r>
              <a:rPr lang="de-DE" dirty="0" err="1" smtClean="0"/>
              <a:t>Interoperability</a:t>
            </a:r>
            <a:r>
              <a:rPr lang="de-DE" dirty="0" smtClean="0"/>
              <a:t> </a:t>
            </a:r>
            <a:r>
              <a:rPr lang="de-DE" dirty="0" err="1" smtClean="0"/>
              <a:t>is</a:t>
            </a:r>
            <a:r>
              <a:rPr lang="de-DE" dirty="0" smtClean="0"/>
              <a:t> </a:t>
            </a:r>
            <a:r>
              <a:rPr lang="de-DE" dirty="0" err="1" smtClean="0"/>
              <a:t>realistic</a:t>
            </a:r>
            <a:endParaRPr lang="de-DE" dirty="0"/>
          </a:p>
        </p:txBody>
      </p:sp>
    </p:spTree>
    <p:extLst>
      <p:ext uri="{BB962C8B-B14F-4D97-AF65-F5344CB8AC3E}">
        <p14:creationId xmlns:p14="http://schemas.microsoft.com/office/powerpoint/2010/main" val="88017486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pPr eaLnBrk="1" hangingPunct="1"/>
            <a:r>
              <a:rPr lang="en-US" dirty="0" smtClean="0"/>
              <a:t>DDI Lifecycle Model</a:t>
            </a:r>
          </a:p>
        </p:txBody>
      </p:sp>
      <p:pic>
        <p:nvPicPr>
          <p:cNvPr id="15363" name="Picture 3" descr="DDI_Lifecycle"/>
          <p:cNvPicPr>
            <a:picLocks noChangeAspect="1" noChangeArrowheads="1"/>
          </p:cNvPicPr>
          <p:nvPr/>
        </p:nvPicPr>
        <p:blipFill>
          <a:blip r:embed="rId3" cstate="print"/>
          <a:srcRect/>
          <a:stretch>
            <a:fillRect/>
          </a:stretch>
        </p:blipFill>
        <p:spPr bwMode="auto">
          <a:xfrm>
            <a:off x="457200" y="1371600"/>
            <a:ext cx="8686800" cy="4538663"/>
          </a:xfrm>
          <a:prstGeom prst="rect">
            <a:avLst/>
          </a:prstGeom>
          <a:noFill/>
          <a:ln w="9525">
            <a:noFill/>
            <a:miter lim="800000"/>
            <a:headEnd/>
            <a:tailEnd/>
          </a:ln>
        </p:spPr>
      </p:pic>
      <p:sp>
        <p:nvSpPr>
          <p:cNvPr id="52228" name="AutoShape 4"/>
          <p:cNvSpPr>
            <a:spLocks noChangeArrowheads="1"/>
          </p:cNvSpPr>
          <p:nvPr/>
        </p:nvSpPr>
        <p:spPr bwMode="auto">
          <a:xfrm rot="10800000">
            <a:off x="152400" y="4648200"/>
            <a:ext cx="7620000" cy="1219200"/>
          </a:xfrm>
          <a:prstGeom prst="curvedDownArrow">
            <a:avLst>
              <a:gd name="adj1" fmla="val 125000"/>
              <a:gd name="adj2" fmla="val 250000"/>
              <a:gd name="adj3" fmla="val 33333"/>
            </a:avLst>
          </a:prstGeom>
          <a:solidFill>
            <a:srgbClr val="FF0000"/>
          </a:solidFill>
          <a:ln w="9525">
            <a:solidFill>
              <a:schemeClr val="tx1"/>
            </a:solidFill>
            <a:miter lim="800000"/>
            <a:headEnd/>
            <a:tailEnd/>
          </a:ln>
        </p:spPr>
        <p:txBody>
          <a:bodyPr rot="10800000" wrap="none" anchor="ctr"/>
          <a:lstStyle/>
          <a:p>
            <a:pPr algn="ctr"/>
            <a:endParaRPr lang="en-US">
              <a:cs typeface="Arial" charset="0"/>
            </a:endParaRPr>
          </a:p>
        </p:txBody>
      </p:sp>
      <p:sp>
        <p:nvSpPr>
          <p:cNvPr id="52229" name="Text Box 5"/>
          <p:cNvSpPr txBox="1">
            <a:spLocks noChangeArrowheads="1"/>
          </p:cNvSpPr>
          <p:nvPr/>
        </p:nvSpPr>
        <p:spPr bwMode="auto">
          <a:xfrm>
            <a:off x="3048000" y="5943600"/>
            <a:ext cx="3101975" cy="457200"/>
          </a:xfrm>
          <a:prstGeom prst="rect">
            <a:avLst/>
          </a:prstGeom>
          <a:noFill/>
          <a:ln w="9525">
            <a:noFill/>
            <a:miter lim="800000"/>
            <a:headEnd/>
            <a:tailEnd/>
          </a:ln>
        </p:spPr>
        <p:txBody>
          <a:bodyPr>
            <a:spAutoFit/>
          </a:bodyPr>
          <a:lstStyle/>
          <a:p>
            <a:pPr>
              <a:spcBef>
                <a:spcPct val="50000"/>
              </a:spcBef>
            </a:pPr>
            <a:r>
              <a:rPr lang="en-US" sz="2400" b="1">
                <a:cs typeface="Arial" charset="0"/>
              </a:rPr>
              <a:t>Metadata Reuse</a:t>
            </a:r>
          </a:p>
        </p:txBody>
      </p:sp>
      <p:sp>
        <p:nvSpPr>
          <p:cNvPr id="15366" name="Date Placeholder 5"/>
          <p:cNvSpPr>
            <a:spLocks noGrp="1"/>
          </p:cNvSpPr>
          <p:nvPr>
            <p:ph type="dt" sz="quarter" idx="10"/>
          </p:nvPr>
        </p:nvSpPr>
        <p:spPr>
          <a:noFill/>
        </p:spPr>
        <p:txBody>
          <a:bodyPr/>
          <a:lstStyle/>
          <a:p>
            <a:r>
              <a:rPr lang="en-US" smtClean="0"/>
              <a:t>S03</a:t>
            </a:r>
          </a:p>
        </p:txBody>
      </p:sp>
      <p:sp>
        <p:nvSpPr>
          <p:cNvPr id="15367" name="Slide Number Placeholder 6"/>
          <p:cNvSpPr>
            <a:spLocks noGrp="1"/>
          </p:cNvSpPr>
          <p:nvPr>
            <p:ph type="sldNum" sz="quarter" idx="12"/>
          </p:nvPr>
        </p:nvSpPr>
        <p:spPr>
          <a:noFill/>
        </p:spPr>
        <p:txBody>
          <a:bodyPr/>
          <a:lstStyle/>
          <a:p>
            <a:fld id="{96307F89-FF65-4BE8-882F-C1176FB397C8}" type="slidenum">
              <a:rPr lang="en-US" smtClean="0"/>
              <a:pPr/>
              <a:t>38</a:t>
            </a:fld>
            <a:endParaRPr lang="en-US" smtClean="0"/>
          </a:p>
        </p:txBody>
      </p:sp>
    </p:spTree>
    <p:extLst>
      <p:ext uri="{BB962C8B-B14F-4D97-AF65-F5344CB8AC3E}">
        <p14:creationId xmlns:p14="http://schemas.microsoft.com/office/powerpoint/2010/main" val="70477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 calcmode="lin" valueType="num">
                                      <p:cBhvr additive="base">
                                        <p:cTn id="7" dur="500" fill="hold"/>
                                        <p:tgtEl>
                                          <p:spTgt spid="52228"/>
                                        </p:tgtEl>
                                        <p:attrNameLst>
                                          <p:attrName>ppt_x</p:attrName>
                                        </p:attrNameLst>
                                      </p:cBhvr>
                                      <p:tavLst>
                                        <p:tav tm="0">
                                          <p:val>
                                            <p:strVal val="#ppt_x"/>
                                          </p:val>
                                        </p:tav>
                                        <p:tav tm="100000">
                                          <p:val>
                                            <p:strVal val="#ppt_x"/>
                                          </p:val>
                                        </p:tav>
                                      </p:tavLst>
                                    </p:anim>
                                    <p:anim calcmode="lin" valueType="num">
                                      <p:cBhvr additive="base">
                                        <p:cTn id="8" dur="500" fill="hold"/>
                                        <p:tgtEl>
                                          <p:spTgt spid="522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229"/>
                                        </p:tgtEl>
                                        <p:attrNameLst>
                                          <p:attrName>style.visibility</p:attrName>
                                        </p:attrNameLst>
                                      </p:cBhvr>
                                      <p:to>
                                        <p:strVal val="visible"/>
                                      </p:to>
                                    </p:set>
                                    <p:anim calcmode="lin" valueType="num">
                                      <p:cBhvr additive="base">
                                        <p:cTn id="11" dur="500" fill="hold"/>
                                        <p:tgtEl>
                                          <p:spTgt spid="52229"/>
                                        </p:tgtEl>
                                        <p:attrNameLst>
                                          <p:attrName>ppt_x</p:attrName>
                                        </p:attrNameLst>
                                      </p:cBhvr>
                                      <p:tavLst>
                                        <p:tav tm="0">
                                          <p:val>
                                            <p:strVal val="#ppt_x"/>
                                          </p:val>
                                        </p:tav>
                                        <p:tav tm="100000">
                                          <p:val>
                                            <p:strVal val="#ppt_x"/>
                                          </p:val>
                                        </p:tav>
                                      </p:tavLst>
                                    </p:anim>
                                    <p:anim calcmode="lin" valueType="num">
                                      <p:cBhvr additive="base">
                                        <p:cTn id="12"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nimBg="1"/>
      <p:bldP spid="5222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smtClean="0">
                <a:latin typeface="Calibri" pitchFamily="34" charset="0"/>
                <a:cs typeface="Calibri" pitchFamily="34" charset="0"/>
              </a:rPr>
              <a:t>DDI Lifecycle Features</a:t>
            </a:r>
          </a:p>
        </p:txBody>
      </p:sp>
      <p:sp>
        <p:nvSpPr>
          <p:cNvPr id="3" name="Content Placeholder 2"/>
          <p:cNvSpPr>
            <a:spLocks noGrp="1"/>
          </p:cNvSpPr>
          <p:nvPr>
            <p:ph idx="1"/>
          </p:nvPr>
        </p:nvSpPr>
        <p:spPr/>
        <p:txBody>
          <a:bodyPr/>
          <a:lstStyle/>
          <a:p>
            <a:pPr eaLnBrk="1" hangingPunct="1">
              <a:lnSpc>
                <a:spcPct val="114000"/>
              </a:lnSpc>
              <a:buClr>
                <a:schemeClr val="tx1"/>
              </a:buClr>
            </a:pPr>
            <a:r>
              <a:rPr lang="en-US" sz="3200" smtClean="0">
                <a:latin typeface="Calibri" pitchFamily="34" charset="0"/>
                <a:cs typeface="Calibri" pitchFamily="34" charset="0"/>
              </a:rPr>
              <a:t>Machine-actionable</a:t>
            </a:r>
          </a:p>
          <a:p>
            <a:pPr eaLnBrk="1" hangingPunct="1">
              <a:lnSpc>
                <a:spcPct val="114000"/>
              </a:lnSpc>
              <a:buClr>
                <a:schemeClr val="tx1"/>
              </a:buClr>
            </a:pPr>
            <a:r>
              <a:rPr lang="en-US" sz="3200" smtClean="0">
                <a:latin typeface="Calibri" pitchFamily="34" charset="0"/>
                <a:cs typeface="Calibri" pitchFamily="34" charset="0"/>
              </a:rPr>
              <a:t>Modular and extensible</a:t>
            </a:r>
          </a:p>
          <a:p>
            <a:pPr eaLnBrk="1" hangingPunct="1">
              <a:lnSpc>
                <a:spcPct val="114000"/>
              </a:lnSpc>
              <a:buClr>
                <a:schemeClr val="tx1"/>
              </a:buClr>
            </a:pPr>
            <a:r>
              <a:rPr lang="en-US" sz="3200" smtClean="0">
                <a:latin typeface="Calibri" pitchFamily="34" charset="0"/>
                <a:cs typeface="Calibri" pitchFamily="34" charset="0"/>
              </a:rPr>
              <a:t>Multi-lingual </a:t>
            </a:r>
          </a:p>
          <a:p>
            <a:pPr eaLnBrk="1" hangingPunct="1">
              <a:lnSpc>
                <a:spcPct val="114000"/>
              </a:lnSpc>
              <a:buClr>
                <a:schemeClr val="tx1"/>
              </a:buClr>
            </a:pPr>
            <a:r>
              <a:rPr lang="en-US" sz="3200" smtClean="0">
                <a:latin typeface="Calibri" pitchFamily="34" charset="0"/>
                <a:cs typeface="Calibri" pitchFamily="34" charset="0"/>
              </a:rPr>
              <a:t>Aligned with other metadata standards</a:t>
            </a:r>
          </a:p>
          <a:p>
            <a:pPr eaLnBrk="1" hangingPunct="1">
              <a:lnSpc>
                <a:spcPct val="114000"/>
              </a:lnSpc>
              <a:buClr>
                <a:schemeClr val="tx1"/>
              </a:buClr>
            </a:pPr>
            <a:r>
              <a:rPr lang="en-US" sz="3200" smtClean="0">
                <a:latin typeface="Calibri" pitchFamily="34" charset="0"/>
                <a:cs typeface="Calibri" pitchFamily="34" charset="0"/>
              </a:rPr>
              <a:t>Can carry data in-line</a:t>
            </a:r>
          </a:p>
          <a:p>
            <a:pPr eaLnBrk="1" hangingPunct="1">
              <a:lnSpc>
                <a:spcPct val="114000"/>
              </a:lnSpc>
              <a:buClr>
                <a:schemeClr val="tx1"/>
              </a:buClr>
            </a:pPr>
            <a:r>
              <a:rPr lang="en-US" sz="3200" smtClean="0">
                <a:latin typeface="Calibri" pitchFamily="34" charset="0"/>
                <a:cs typeface="Calibri" pitchFamily="34" charset="0"/>
              </a:rPr>
              <a:t>Focused on metadata reuse</a:t>
            </a:r>
          </a:p>
          <a:p>
            <a:pPr lvl="1" eaLnBrk="1" hangingPunct="1">
              <a:buClr>
                <a:schemeClr val="tx1"/>
              </a:buClr>
            </a:pPr>
            <a:endParaRPr lang="en-US" sz="3200" smtClean="0">
              <a:latin typeface="Calibri" pitchFamily="34" charset="0"/>
              <a:cs typeface="Calibri" pitchFamily="34" charset="0"/>
            </a:endParaRPr>
          </a:p>
        </p:txBody>
      </p:sp>
    </p:spTree>
    <p:extLst>
      <p:ext uri="{BB962C8B-B14F-4D97-AF65-F5344CB8AC3E}">
        <p14:creationId xmlns:p14="http://schemas.microsoft.com/office/powerpoint/2010/main" val="245895024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smtClean="0">
                <a:latin typeface="Calibri" pitchFamily="34" charset="0"/>
                <a:cs typeface="Calibri" pitchFamily="34" charset="0"/>
              </a:rPr>
              <a:t>DDI Lifecycle Features</a:t>
            </a:r>
          </a:p>
        </p:txBody>
      </p:sp>
      <p:sp>
        <p:nvSpPr>
          <p:cNvPr id="3" name="Content Placeholder 2"/>
          <p:cNvSpPr>
            <a:spLocks noGrp="1"/>
          </p:cNvSpPr>
          <p:nvPr>
            <p:ph idx="1"/>
          </p:nvPr>
        </p:nvSpPr>
        <p:spPr/>
        <p:txBody>
          <a:bodyPr>
            <a:normAutofit fontScale="85000" lnSpcReduction="10000"/>
          </a:bodyPr>
          <a:lstStyle/>
          <a:p>
            <a:pPr eaLnBrk="1" hangingPunct="1">
              <a:lnSpc>
                <a:spcPct val="114000"/>
              </a:lnSpc>
              <a:spcBef>
                <a:spcPct val="0"/>
              </a:spcBef>
              <a:spcAft>
                <a:spcPts val="1200"/>
              </a:spcAft>
            </a:pPr>
            <a:r>
              <a:rPr lang="en-US" smtClean="0">
                <a:latin typeface="Calibri" pitchFamily="34" charset="0"/>
                <a:cs typeface="Calibri" pitchFamily="34" charset="0"/>
              </a:rPr>
              <a:t>Support for CAI instruments</a:t>
            </a:r>
          </a:p>
          <a:p>
            <a:pPr eaLnBrk="1" hangingPunct="1">
              <a:lnSpc>
                <a:spcPct val="114000"/>
              </a:lnSpc>
              <a:spcBef>
                <a:spcPct val="0"/>
              </a:spcBef>
              <a:spcAft>
                <a:spcPts val="1200"/>
              </a:spcAft>
            </a:pPr>
            <a:r>
              <a:rPr lang="en-US" smtClean="0">
                <a:latin typeface="Calibri" pitchFamily="34" charset="0"/>
                <a:cs typeface="Calibri" pitchFamily="34" charset="0"/>
              </a:rPr>
              <a:t>Support for longitudinal surveys</a:t>
            </a:r>
          </a:p>
          <a:p>
            <a:pPr eaLnBrk="1" hangingPunct="1">
              <a:lnSpc>
                <a:spcPct val="114000"/>
              </a:lnSpc>
              <a:spcBef>
                <a:spcPct val="0"/>
              </a:spcBef>
              <a:spcAft>
                <a:spcPts val="1200"/>
              </a:spcAft>
            </a:pPr>
            <a:r>
              <a:rPr lang="en-US" smtClean="0">
                <a:latin typeface="Calibri" pitchFamily="34" charset="0"/>
                <a:cs typeface="Calibri" pitchFamily="34" charset="0"/>
              </a:rPr>
              <a:t>Focus on comparison, both by design and after-the-fact (harmonization)</a:t>
            </a:r>
          </a:p>
          <a:p>
            <a:pPr eaLnBrk="1" hangingPunct="1">
              <a:lnSpc>
                <a:spcPct val="114000"/>
              </a:lnSpc>
              <a:spcBef>
                <a:spcPct val="0"/>
              </a:spcBef>
              <a:spcAft>
                <a:spcPts val="1200"/>
              </a:spcAft>
            </a:pPr>
            <a:r>
              <a:rPr lang="en-US" smtClean="0">
                <a:latin typeface="Calibri" pitchFamily="34" charset="0"/>
                <a:cs typeface="Calibri" pitchFamily="34" charset="0"/>
              </a:rPr>
              <a:t>Robust record and file linkages for complex data files</a:t>
            </a:r>
          </a:p>
          <a:p>
            <a:pPr eaLnBrk="1" hangingPunct="1">
              <a:lnSpc>
                <a:spcPct val="114000"/>
              </a:lnSpc>
              <a:spcBef>
                <a:spcPct val="0"/>
              </a:spcBef>
              <a:spcAft>
                <a:spcPts val="1200"/>
              </a:spcAft>
            </a:pPr>
            <a:r>
              <a:rPr lang="en-US" smtClean="0">
                <a:latin typeface="Calibri" pitchFamily="34" charset="0"/>
                <a:cs typeface="Calibri" pitchFamily="34" charset="0"/>
              </a:rPr>
              <a:t>Support for geographic content (shape and boundary files)</a:t>
            </a:r>
          </a:p>
          <a:p>
            <a:pPr eaLnBrk="1" hangingPunct="1">
              <a:lnSpc>
                <a:spcPct val="114000"/>
              </a:lnSpc>
              <a:spcBef>
                <a:spcPct val="0"/>
              </a:spcBef>
              <a:spcAft>
                <a:spcPts val="1200"/>
              </a:spcAft>
            </a:pPr>
            <a:r>
              <a:rPr lang="en-US" smtClean="0">
                <a:latin typeface="Calibri" pitchFamily="34" charset="0"/>
                <a:cs typeface="Calibri" pitchFamily="34" charset="0"/>
              </a:rPr>
              <a:t>Capability for registries and question banks</a:t>
            </a:r>
          </a:p>
        </p:txBody>
      </p:sp>
    </p:spTree>
    <p:extLst>
      <p:ext uri="{BB962C8B-B14F-4D97-AF65-F5344CB8AC3E}">
        <p14:creationId xmlns:p14="http://schemas.microsoft.com/office/powerpoint/2010/main" val="185503119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DDI </a:t>
            </a:r>
            <a:r>
              <a:rPr lang="de-DE" dirty="0" err="1" smtClean="0"/>
              <a:t>Codebook</a:t>
            </a:r>
            <a:endParaRPr lang="de-DE" dirty="0"/>
          </a:p>
        </p:txBody>
      </p:sp>
      <p:sp>
        <p:nvSpPr>
          <p:cNvPr id="3" name="Inhaltsplatzhalter 2"/>
          <p:cNvSpPr>
            <a:spLocks noGrp="1"/>
          </p:cNvSpPr>
          <p:nvPr>
            <p:ph idx="1"/>
          </p:nvPr>
        </p:nvSpPr>
        <p:spPr/>
        <p:txBody>
          <a:bodyPr/>
          <a:lstStyle/>
          <a:p>
            <a:pPr marL="0" indent="0">
              <a:buNone/>
            </a:pPr>
            <a:endParaRPr lang="de-DE" dirty="0" smtClean="0"/>
          </a:p>
          <a:p>
            <a:pPr marL="0" indent="0">
              <a:buNone/>
            </a:pPr>
            <a:endParaRPr lang="de-DE" dirty="0" smtClean="0"/>
          </a:p>
          <a:p>
            <a:pPr marL="0" indent="0" algn="ctr">
              <a:buNone/>
            </a:pPr>
            <a:r>
              <a:rPr lang="de-DE" dirty="0" smtClean="0"/>
              <a:t>Easy </a:t>
            </a:r>
            <a:r>
              <a:rPr lang="de-DE" dirty="0" err="1" smtClean="0"/>
              <a:t>to</a:t>
            </a:r>
            <a:r>
              <a:rPr lang="de-DE" dirty="0" smtClean="0"/>
              <a:t> </a:t>
            </a:r>
            <a:r>
              <a:rPr lang="de-DE" dirty="0" err="1" smtClean="0"/>
              <a:t>implement</a:t>
            </a:r>
            <a:endParaRPr lang="de-DE" dirty="0"/>
          </a:p>
        </p:txBody>
      </p:sp>
    </p:spTree>
    <p:extLst>
      <p:ext uri="{BB962C8B-B14F-4D97-AF65-F5344CB8AC3E}">
        <p14:creationId xmlns:p14="http://schemas.microsoft.com/office/powerpoint/2010/main" val="293460893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DDI </a:t>
            </a:r>
            <a:r>
              <a:rPr lang="de-DE" dirty="0" err="1" smtClean="0"/>
              <a:t>Lifecycle</a:t>
            </a:r>
            <a:endParaRPr lang="de-DE" dirty="0"/>
          </a:p>
        </p:txBody>
      </p:sp>
      <p:sp>
        <p:nvSpPr>
          <p:cNvPr id="3" name="Inhaltsplatzhalter 2"/>
          <p:cNvSpPr>
            <a:spLocks noGrp="1"/>
          </p:cNvSpPr>
          <p:nvPr>
            <p:ph idx="1"/>
          </p:nvPr>
        </p:nvSpPr>
        <p:spPr/>
        <p:txBody>
          <a:bodyPr/>
          <a:lstStyle/>
          <a:p>
            <a:pPr marL="0" indent="0">
              <a:buNone/>
            </a:pPr>
            <a:endParaRPr lang="de-DE" dirty="0" smtClean="0"/>
          </a:p>
          <a:p>
            <a:pPr marL="0" indent="0">
              <a:buNone/>
            </a:pPr>
            <a:endParaRPr lang="de-DE" dirty="0" smtClean="0"/>
          </a:p>
          <a:p>
            <a:pPr marL="0" indent="0" algn="ctr">
              <a:buNone/>
            </a:pPr>
            <a:r>
              <a:rPr lang="de-DE" dirty="0" smtClean="0"/>
              <a:t>Framework</a:t>
            </a:r>
            <a:endParaRPr lang="de-DE" dirty="0"/>
          </a:p>
        </p:txBody>
      </p:sp>
    </p:spTree>
    <p:extLst>
      <p:ext uri="{BB962C8B-B14F-4D97-AF65-F5344CB8AC3E}">
        <p14:creationId xmlns:p14="http://schemas.microsoft.com/office/powerpoint/2010/main" val="36254741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DDI </a:t>
            </a:r>
            <a:r>
              <a:rPr lang="de-DE" dirty="0" err="1" smtClean="0"/>
              <a:t>Moving</a:t>
            </a:r>
            <a:r>
              <a:rPr lang="de-DE" dirty="0" smtClean="0"/>
              <a:t> Forward</a:t>
            </a:r>
            <a:endParaRPr lang="de-DE" dirty="0"/>
          </a:p>
        </p:txBody>
      </p:sp>
      <p:sp>
        <p:nvSpPr>
          <p:cNvPr id="3" name="Inhaltsplatzhalter 2"/>
          <p:cNvSpPr>
            <a:spLocks noGrp="1"/>
          </p:cNvSpPr>
          <p:nvPr>
            <p:ph idx="1"/>
          </p:nvPr>
        </p:nvSpPr>
        <p:spPr/>
        <p:txBody>
          <a:bodyPr/>
          <a:lstStyle/>
          <a:p>
            <a:pPr marL="0" indent="0">
              <a:buNone/>
            </a:pPr>
            <a:endParaRPr lang="de-DE" dirty="0" smtClean="0"/>
          </a:p>
          <a:p>
            <a:pPr marL="0" indent="0">
              <a:buNone/>
            </a:pPr>
            <a:endParaRPr lang="de-DE" dirty="0"/>
          </a:p>
          <a:p>
            <a:pPr marL="0" indent="0" algn="ctr">
              <a:buNone/>
            </a:pPr>
            <a:r>
              <a:rPr lang="de-DE" dirty="0" smtClean="0"/>
              <a:t>Model </a:t>
            </a:r>
            <a:r>
              <a:rPr lang="de-DE" dirty="0" err="1" smtClean="0"/>
              <a:t>based</a:t>
            </a:r>
            <a:r>
              <a:rPr lang="de-DE" dirty="0" smtClean="0"/>
              <a:t> design</a:t>
            </a:r>
            <a:endParaRPr lang="de-DE" dirty="0"/>
          </a:p>
        </p:txBody>
      </p:sp>
    </p:spTree>
    <p:extLst>
      <p:ext uri="{BB962C8B-B14F-4D97-AF65-F5344CB8AC3E}">
        <p14:creationId xmlns:p14="http://schemas.microsoft.com/office/powerpoint/2010/main" val="8149208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PART II</a:t>
            </a:r>
            <a:endParaRPr lang="en-US" dirty="0"/>
          </a:p>
        </p:txBody>
      </p:sp>
      <p:sp>
        <p:nvSpPr>
          <p:cNvPr id="5" name="Subtitle 4"/>
          <p:cNvSpPr>
            <a:spLocks noGrp="1"/>
          </p:cNvSpPr>
          <p:nvPr>
            <p:ph type="subTitle" idx="1"/>
          </p:nvPr>
        </p:nvSpPr>
        <p:spPr/>
        <p:txBody>
          <a:bodyPr/>
          <a:lstStyle/>
          <a:p>
            <a:r>
              <a:rPr lang="en-US" dirty="0" smtClean="0"/>
              <a:t>Advanced Topics</a:t>
            </a:r>
            <a:endParaRPr lang="en-US" dirty="0"/>
          </a:p>
        </p:txBody>
      </p:sp>
    </p:spTree>
    <p:extLst>
      <p:ext uri="{BB962C8B-B14F-4D97-AF65-F5344CB8AC3E}">
        <p14:creationId xmlns:p14="http://schemas.microsoft.com/office/powerpoint/2010/main" val="102895166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DDI lifecycle in detail</a:t>
            </a:r>
            <a:endParaRPr lang="en-US"/>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212836974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DDI Objective: Organizing Information</a:t>
            </a:r>
            <a:endParaRPr lang="en-US" dirty="0"/>
          </a:p>
        </p:txBody>
      </p:sp>
      <p:sp>
        <p:nvSpPr>
          <p:cNvPr id="5" name="Subtitle 4"/>
          <p:cNvSpPr>
            <a:spLocks noGrp="1"/>
          </p:cNvSpPr>
          <p:nvPr>
            <p:ph idx="1"/>
          </p:nvPr>
        </p:nvSpPr>
        <p:spPr/>
        <p:txBody>
          <a:bodyPr>
            <a:normAutofit lnSpcReduction="10000"/>
          </a:bodyPr>
          <a:lstStyle/>
          <a:p>
            <a:r>
              <a:rPr lang="en-US" dirty="0" smtClean="0"/>
              <a:t>Capture information at point of origin</a:t>
            </a:r>
          </a:p>
          <a:p>
            <a:r>
              <a:rPr lang="en-US" dirty="0" smtClean="0"/>
              <a:t>Manage information of different types </a:t>
            </a:r>
          </a:p>
          <a:p>
            <a:r>
              <a:rPr lang="en-US" dirty="0" smtClean="0"/>
              <a:t>Tie together related pieces of information and  publish a coherent set of information about a data set, study, collection, or activity</a:t>
            </a:r>
          </a:p>
          <a:p>
            <a:r>
              <a:rPr lang="en-US" dirty="0" smtClean="0"/>
              <a:t>Understand how information from different data sets relate to each other </a:t>
            </a:r>
          </a:p>
          <a:p>
            <a:r>
              <a:rPr lang="en-US" dirty="0" smtClean="0"/>
              <a:t>Discover current and future relationships between data and metadata sources</a:t>
            </a:r>
          </a:p>
          <a:p>
            <a:pPr>
              <a:buNone/>
            </a:pP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am I doing this?</a:t>
            </a:r>
            <a:endParaRPr lang="en-US" dirty="0"/>
          </a:p>
        </p:txBody>
      </p:sp>
      <p:sp>
        <p:nvSpPr>
          <p:cNvPr id="3" name="Content Placeholder 2"/>
          <p:cNvSpPr>
            <a:spLocks noGrp="1"/>
          </p:cNvSpPr>
          <p:nvPr>
            <p:ph idx="1"/>
          </p:nvPr>
        </p:nvSpPr>
        <p:spPr/>
        <p:txBody>
          <a:bodyPr>
            <a:normAutofit lnSpcReduction="10000"/>
          </a:bodyPr>
          <a:lstStyle/>
          <a:p>
            <a:r>
              <a:rPr lang="en-US" dirty="0" smtClean="0"/>
              <a:t>I need to manage my processes/activities</a:t>
            </a:r>
          </a:p>
          <a:p>
            <a:pPr lvl="1"/>
            <a:r>
              <a:rPr lang="en-US" dirty="0" smtClean="0"/>
              <a:t>Quality control</a:t>
            </a:r>
          </a:p>
          <a:p>
            <a:pPr lvl="1"/>
            <a:r>
              <a:rPr lang="en-US" dirty="0" smtClean="0"/>
              <a:t>Replicate processes</a:t>
            </a:r>
          </a:p>
          <a:p>
            <a:pPr lvl="1"/>
            <a:r>
              <a:rPr lang="en-US" dirty="0" smtClean="0"/>
              <a:t>Tracking provenance</a:t>
            </a:r>
          </a:p>
          <a:p>
            <a:r>
              <a:rPr lang="en-US" dirty="0" smtClean="0"/>
              <a:t>I need to help analysts locate and use my data accurately (What, who, why, and how of the data)</a:t>
            </a:r>
          </a:p>
          <a:p>
            <a:r>
              <a:rPr lang="en-US" dirty="0" smtClean="0"/>
              <a:t>I need to interact with other statistical organizations; share metadata, data, and tools</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Schemes and Reuse</a:t>
            </a:r>
            <a:endParaRPr lang="en-US" dirty="0"/>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302568035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sz="4000" dirty="0" smtClean="0"/>
              <a:t>DDI Schemes and Modules</a:t>
            </a:r>
          </a:p>
        </p:txBody>
      </p:sp>
      <p:sp>
        <p:nvSpPr>
          <p:cNvPr id="15363" name="Rectangle 3"/>
          <p:cNvSpPr>
            <a:spLocks noGrp="1" noChangeArrowheads="1"/>
          </p:cNvSpPr>
          <p:nvPr>
            <p:ph type="body" idx="1"/>
          </p:nvPr>
        </p:nvSpPr>
        <p:spPr/>
        <p:txBody>
          <a:bodyPr/>
          <a:lstStyle/>
          <a:p>
            <a:pPr eaLnBrk="1" hangingPunct="1">
              <a:lnSpc>
                <a:spcPct val="90000"/>
              </a:lnSpc>
            </a:pPr>
            <a:r>
              <a:rPr lang="en-US" dirty="0" smtClean="0"/>
              <a:t>DDI has two important structures:</a:t>
            </a:r>
          </a:p>
          <a:p>
            <a:pPr lvl="1">
              <a:lnSpc>
                <a:spcPct val="90000"/>
              </a:lnSpc>
            </a:pPr>
            <a:r>
              <a:rPr lang="en-US" dirty="0" smtClean="0"/>
              <a:t>“Schemes”</a:t>
            </a:r>
          </a:p>
          <a:p>
            <a:pPr lvl="1" eaLnBrk="1" hangingPunct="1">
              <a:lnSpc>
                <a:spcPct val="90000"/>
              </a:lnSpc>
            </a:pPr>
            <a:r>
              <a:rPr lang="en-US" dirty="0" smtClean="0"/>
              <a:t>“Modules”</a:t>
            </a:r>
          </a:p>
          <a:p>
            <a:pPr>
              <a:lnSpc>
                <a:spcPct val="90000"/>
              </a:lnSpc>
            </a:pPr>
            <a:r>
              <a:rPr lang="en-US" dirty="0" smtClean="0"/>
              <a:t>A scheme is a list of reusable metadata items of a specific type</a:t>
            </a:r>
          </a:p>
          <a:p>
            <a:pPr eaLnBrk="1" hangingPunct="1">
              <a:lnSpc>
                <a:spcPct val="90000"/>
              </a:lnSpc>
            </a:pPr>
            <a:r>
              <a:rPr lang="en-US" dirty="0" smtClean="0"/>
              <a:t>A module is a package of metadata corresponding to a stage of the lifecycle or a specific structural function</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Metadata Captured in Schemas</a:t>
            </a:r>
            <a:endParaRPr lang="en-US" dirty="0"/>
          </a:p>
        </p:txBody>
      </p:sp>
      <p:sp>
        <p:nvSpPr>
          <p:cNvPr id="3" name="Content Placeholder 2"/>
          <p:cNvSpPr>
            <a:spLocks noGrp="1"/>
          </p:cNvSpPr>
          <p:nvPr>
            <p:ph sz="half" idx="1"/>
          </p:nvPr>
        </p:nvSpPr>
        <p:spPr>
          <a:xfrm>
            <a:off x="304800" y="1600200"/>
            <a:ext cx="4191000" cy="4525963"/>
          </a:xfrm>
        </p:spPr>
        <p:txBody>
          <a:bodyPr>
            <a:normAutofit lnSpcReduction="10000"/>
          </a:bodyPr>
          <a:lstStyle/>
          <a:p>
            <a:r>
              <a:rPr lang="en-US" dirty="0" smtClean="0"/>
              <a:t>Foundational objects</a:t>
            </a:r>
          </a:p>
          <a:p>
            <a:pPr lvl="1"/>
            <a:r>
              <a:rPr lang="en-US" dirty="0" smtClean="0"/>
              <a:t>Concepts</a:t>
            </a:r>
          </a:p>
          <a:p>
            <a:pPr lvl="1"/>
            <a:r>
              <a:rPr lang="en-US" dirty="0" smtClean="0"/>
              <a:t>Universe (population)</a:t>
            </a:r>
          </a:p>
          <a:p>
            <a:pPr lvl="1"/>
            <a:r>
              <a:rPr lang="en-US" dirty="0" smtClean="0"/>
              <a:t>Representations</a:t>
            </a:r>
          </a:p>
          <a:p>
            <a:pPr lvl="1"/>
            <a:r>
              <a:rPr lang="en-US" dirty="0" smtClean="0"/>
              <a:t>Categories / Code Lists</a:t>
            </a:r>
          </a:p>
          <a:p>
            <a:r>
              <a:rPr lang="en-US" dirty="0" smtClean="0"/>
              <a:t>Instantiations</a:t>
            </a:r>
          </a:p>
          <a:p>
            <a:pPr lvl="1"/>
            <a:r>
              <a:rPr lang="en-US" dirty="0" smtClean="0"/>
              <a:t>Variables (logical content)</a:t>
            </a:r>
          </a:p>
          <a:p>
            <a:pPr lvl="1"/>
            <a:r>
              <a:rPr lang="en-US" dirty="0" smtClean="0"/>
              <a:t>Physical structure</a:t>
            </a:r>
          </a:p>
          <a:p>
            <a:pPr lvl="1"/>
            <a:r>
              <a:rPr lang="en-US" dirty="0" smtClean="0"/>
              <a:t>Questions</a:t>
            </a:r>
          </a:p>
          <a:p>
            <a:pPr lvl="1"/>
            <a:r>
              <a:rPr lang="en-US" dirty="0" smtClean="0"/>
              <a:t>Instruments</a:t>
            </a:r>
            <a:endParaRPr lang="en-US" dirty="0"/>
          </a:p>
        </p:txBody>
      </p:sp>
      <p:sp>
        <p:nvSpPr>
          <p:cNvPr id="4" name="Content Placeholder 3"/>
          <p:cNvSpPr>
            <a:spLocks noGrp="1"/>
          </p:cNvSpPr>
          <p:nvPr>
            <p:ph sz="half" idx="2"/>
          </p:nvPr>
        </p:nvSpPr>
        <p:spPr>
          <a:xfrm>
            <a:off x="4648200" y="1600200"/>
            <a:ext cx="4267200" cy="4953000"/>
          </a:xfrm>
        </p:spPr>
        <p:txBody>
          <a:bodyPr>
            <a:normAutofit lnSpcReduction="10000"/>
          </a:bodyPr>
          <a:lstStyle/>
          <a:p>
            <a:r>
              <a:rPr lang="en-US" dirty="0" smtClean="0"/>
              <a:t>Processes</a:t>
            </a:r>
          </a:p>
          <a:p>
            <a:pPr lvl="1"/>
            <a:r>
              <a:rPr lang="en-US" dirty="0" smtClean="0"/>
              <a:t>Methodology</a:t>
            </a:r>
          </a:p>
          <a:p>
            <a:pPr lvl="1"/>
            <a:r>
              <a:rPr lang="en-US" dirty="0" smtClean="0"/>
              <a:t>Data capture</a:t>
            </a:r>
          </a:p>
          <a:p>
            <a:pPr lvl="1"/>
            <a:r>
              <a:rPr lang="en-US" dirty="0" smtClean="0"/>
              <a:t>Data processing</a:t>
            </a:r>
          </a:p>
          <a:p>
            <a:r>
              <a:rPr lang="en-US" dirty="0" smtClean="0"/>
              <a:t>Management</a:t>
            </a:r>
          </a:p>
          <a:p>
            <a:pPr lvl="1"/>
            <a:r>
              <a:rPr lang="en-US" dirty="0" smtClean="0"/>
              <a:t>Identification</a:t>
            </a:r>
          </a:p>
          <a:p>
            <a:pPr lvl="1"/>
            <a:r>
              <a:rPr lang="en-US" dirty="0" smtClean="0"/>
              <a:t>Access / Ownership</a:t>
            </a:r>
          </a:p>
          <a:p>
            <a:pPr lvl="1"/>
            <a:r>
              <a:rPr lang="en-US" dirty="0" smtClean="0"/>
              <a:t>Organization / Individual</a:t>
            </a:r>
          </a:p>
          <a:p>
            <a:pPr lvl="1"/>
            <a:r>
              <a:rPr lang="en-US" dirty="0" smtClean="0"/>
              <a:t>Coverage (topical, spatial, temporal)</a:t>
            </a:r>
          </a:p>
          <a:p>
            <a:pPr lvl="1"/>
            <a:r>
              <a:rPr lang="en-US" dirty="0" smtClean="0"/>
              <a:t>Lifecycle events</a:t>
            </a:r>
          </a:p>
          <a:p>
            <a:pPr lvl="1"/>
            <a:r>
              <a:rPr lang="en-US" dirty="0" smtClean="0"/>
              <a:t>Quality assessment</a:t>
            </a:r>
          </a:p>
          <a:p>
            <a:pPr lvl="1">
              <a:buNone/>
            </a:pPr>
            <a:endParaRPr lang="en-US" dirty="0" smtClean="0"/>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Schemes</a:t>
            </a:r>
            <a:endParaRPr lang="en-US" dirty="0"/>
          </a:p>
        </p:txBody>
      </p:sp>
      <p:sp>
        <p:nvSpPr>
          <p:cNvPr id="3" name="Content Placeholder 2"/>
          <p:cNvSpPr>
            <a:spLocks noGrp="1"/>
          </p:cNvSpPr>
          <p:nvPr>
            <p:ph sz="half" idx="1"/>
          </p:nvPr>
        </p:nvSpPr>
        <p:spPr/>
        <p:txBody>
          <a:bodyPr>
            <a:normAutofit fontScale="92500" lnSpcReduction="20000"/>
          </a:bodyPr>
          <a:lstStyle/>
          <a:p>
            <a:r>
              <a:rPr lang="en-US" dirty="0" smtClean="0"/>
              <a:t>Concept</a:t>
            </a:r>
          </a:p>
          <a:p>
            <a:r>
              <a:rPr lang="en-US" dirty="0" smtClean="0"/>
              <a:t>Universe</a:t>
            </a:r>
          </a:p>
          <a:p>
            <a:r>
              <a:rPr lang="en-US" dirty="0" smtClean="0"/>
              <a:t>Conceptual Variable</a:t>
            </a:r>
          </a:p>
          <a:p>
            <a:r>
              <a:rPr lang="en-US" dirty="0" smtClean="0"/>
              <a:t>Represented Variable</a:t>
            </a:r>
          </a:p>
          <a:p>
            <a:r>
              <a:rPr lang="en-US" dirty="0" smtClean="0"/>
              <a:t>Geographic Structure</a:t>
            </a:r>
          </a:p>
          <a:p>
            <a:r>
              <a:rPr lang="en-US" dirty="0" smtClean="0"/>
              <a:t>Geographic Location</a:t>
            </a:r>
          </a:p>
          <a:p>
            <a:r>
              <a:rPr lang="en-US" dirty="0" smtClean="0"/>
              <a:t>Managed Representation</a:t>
            </a:r>
          </a:p>
          <a:p>
            <a:r>
              <a:rPr lang="en-US" dirty="0" smtClean="0"/>
              <a:t>Category</a:t>
            </a:r>
          </a:p>
          <a:p>
            <a:r>
              <a:rPr lang="en-US" dirty="0" smtClean="0"/>
              <a:t>Code List</a:t>
            </a:r>
          </a:p>
          <a:p>
            <a:r>
              <a:rPr lang="en-US" dirty="0" smtClean="0"/>
              <a:t>Variable</a:t>
            </a:r>
          </a:p>
          <a:p>
            <a:r>
              <a:rPr lang="en-US" dirty="0" smtClean="0"/>
              <a:t>NCube</a:t>
            </a:r>
          </a:p>
          <a:p>
            <a:endParaRPr lang="en-US" dirty="0"/>
          </a:p>
        </p:txBody>
      </p:sp>
      <p:sp>
        <p:nvSpPr>
          <p:cNvPr id="4" name="Content Placeholder 3"/>
          <p:cNvSpPr>
            <a:spLocks noGrp="1"/>
          </p:cNvSpPr>
          <p:nvPr>
            <p:ph sz="half" idx="2"/>
          </p:nvPr>
        </p:nvSpPr>
        <p:spPr/>
        <p:txBody>
          <a:bodyPr>
            <a:normAutofit fontScale="92500" lnSpcReduction="20000"/>
          </a:bodyPr>
          <a:lstStyle/>
          <a:p>
            <a:r>
              <a:rPr lang="en-US" dirty="0" smtClean="0"/>
              <a:t>Physical Structure</a:t>
            </a:r>
          </a:p>
          <a:p>
            <a:r>
              <a:rPr lang="en-US" dirty="0" smtClean="0"/>
              <a:t>Record Layout</a:t>
            </a:r>
          </a:p>
          <a:p>
            <a:r>
              <a:rPr lang="en-US" dirty="0" smtClean="0"/>
              <a:t>Question</a:t>
            </a:r>
          </a:p>
          <a:p>
            <a:r>
              <a:rPr lang="en-US" dirty="0" smtClean="0"/>
              <a:t>Control Construct (flow)</a:t>
            </a:r>
          </a:p>
          <a:p>
            <a:r>
              <a:rPr lang="en-US" dirty="0" smtClean="0"/>
              <a:t>Interviewer Instructions</a:t>
            </a:r>
          </a:p>
          <a:p>
            <a:r>
              <a:rPr lang="en-US" dirty="0" smtClean="0"/>
              <a:t>Instrument</a:t>
            </a:r>
          </a:p>
          <a:p>
            <a:r>
              <a:rPr lang="en-US" dirty="0" smtClean="0"/>
              <a:t>Processing Events</a:t>
            </a:r>
          </a:p>
          <a:p>
            <a:r>
              <a:rPr lang="en-US" dirty="0" smtClean="0"/>
              <a:t>Processing Instructions</a:t>
            </a:r>
          </a:p>
          <a:p>
            <a:r>
              <a:rPr lang="en-US" dirty="0" smtClean="0"/>
              <a:t>Organization </a:t>
            </a:r>
          </a:p>
          <a:p>
            <a:r>
              <a:rPr lang="en-US" dirty="0" smtClean="0"/>
              <a:t>Quality Statement</a:t>
            </a:r>
          </a:p>
          <a:p>
            <a:pPr>
              <a:buNone/>
            </a:pP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Managed Content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Schemes are designed to manage content over time</a:t>
            </a:r>
          </a:p>
          <a:p>
            <a:r>
              <a:rPr lang="en-US" dirty="0" smtClean="0"/>
              <a:t>Including full or partial schemes or individual objects in a study by reference has the following advantages:</a:t>
            </a:r>
          </a:p>
          <a:p>
            <a:pPr lvl="1"/>
            <a:r>
              <a:rPr lang="en-US" dirty="0" smtClean="0"/>
              <a:t>Explicit comparability between multiple studies using the same object</a:t>
            </a:r>
          </a:p>
          <a:p>
            <a:pPr lvl="1"/>
            <a:r>
              <a:rPr lang="en-US" dirty="0" smtClean="0"/>
              <a:t>Retention of the relationship of a set of objects to a larger structure (levels of a hierarchical classification, subsets of geography, etc.)</a:t>
            </a:r>
          </a:p>
          <a:p>
            <a:pPr lvl="1"/>
            <a:r>
              <a:rPr lang="en-US" dirty="0" smtClean="0"/>
              <a:t>Retention of the information on how an object or set of objects changes over time</a:t>
            </a: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Managed Content (cont.)</a:t>
            </a:r>
            <a:endParaRPr lang="en-US" dirty="0"/>
          </a:p>
        </p:txBody>
      </p:sp>
      <p:sp>
        <p:nvSpPr>
          <p:cNvPr id="3" name="Content Placeholder 2"/>
          <p:cNvSpPr>
            <a:spLocks noGrp="1"/>
          </p:cNvSpPr>
          <p:nvPr>
            <p:ph idx="1"/>
          </p:nvPr>
        </p:nvSpPr>
        <p:spPr/>
        <p:txBody>
          <a:bodyPr/>
          <a:lstStyle/>
          <a:p>
            <a:r>
              <a:rPr lang="en-US" dirty="0" smtClean="0"/>
              <a:t>Multiple copies result in multiple variations</a:t>
            </a:r>
          </a:p>
          <a:p>
            <a:r>
              <a:rPr lang="en-US" dirty="0" smtClean="0"/>
              <a:t>Managed content within a registry can notify downstream users of coming changes</a:t>
            </a:r>
          </a:p>
          <a:p>
            <a:pPr lvl="1"/>
            <a:r>
              <a:rPr lang="en-US" dirty="0" smtClean="0"/>
              <a:t>Change in a Question Response Domain in an economic survey could effect the aggregated data that is used by another process downstream</a:t>
            </a:r>
          </a:p>
          <a:p>
            <a:pPr lvl="1"/>
            <a:r>
              <a:rPr lang="en-US" dirty="0" smtClean="0"/>
              <a:t>Early notification of the change allows evaluation and modeling of the impact the change may have on the data </a:t>
            </a: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Scheme structure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Name, label, description</a:t>
            </a:r>
          </a:p>
          <a:p>
            <a:r>
              <a:rPr lang="en-US" dirty="0" smtClean="0"/>
              <a:t>Inclusion of another scheme by reference</a:t>
            </a:r>
          </a:p>
          <a:p>
            <a:r>
              <a:rPr lang="en-US" dirty="0" smtClean="0"/>
              <a:t>List of included </a:t>
            </a:r>
            <a:r>
              <a:rPr lang="en-US" dirty="0" err="1" smtClean="0"/>
              <a:t>versionable</a:t>
            </a:r>
            <a:r>
              <a:rPr lang="en-US" dirty="0" smtClean="0"/>
              <a:t> objects (in-line or by reference)</a:t>
            </a:r>
          </a:p>
          <a:p>
            <a:r>
              <a:rPr lang="en-US" dirty="0" smtClean="0"/>
              <a:t>Grouping of objects </a:t>
            </a:r>
          </a:p>
          <a:p>
            <a:pPr lvl="1"/>
            <a:r>
              <a:rPr lang="en-US" dirty="0" smtClean="0"/>
              <a:t>Name, Label, Description, and Type</a:t>
            </a:r>
          </a:p>
          <a:p>
            <a:pPr lvl="1"/>
            <a:r>
              <a:rPr lang="en-US" dirty="0" smtClean="0"/>
              <a:t>Concept / Universe associated with the group</a:t>
            </a:r>
          </a:p>
          <a:p>
            <a:pPr lvl="1"/>
            <a:r>
              <a:rPr lang="en-US" dirty="0" smtClean="0"/>
              <a:t>Subject / Keyword classification of the group</a:t>
            </a:r>
          </a:p>
          <a:p>
            <a:pPr lvl="1"/>
            <a:r>
              <a:rPr lang="en-US" dirty="0" smtClean="0"/>
              <a:t>Inclusion of objects or groups by reference</a:t>
            </a:r>
          </a:p>
          <a:p>
            <a:pPr lvl="1"/>
            <a:r>
              <a:rPr lang="en-US" dirty="0" smtClean="0"/>
              <a:t>Can be ordered</a:t>
            </a:r>
          </a:p>
          <a:p>
            <a:pPr lvl="1"/>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Building a Codebook</a:t>
            </a:r>
            <a:endParaRPr lang="en-US" dirty="0"/>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302568035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Modules reflect the collection of metadata related to a specific stages of the lifecycle of a study or series of studies</a:t>
            </a:r>
          </a:p>
          <a:p>
            <a:r>
              <a:rPr lang="en-US" dirty="0" smtClean="0"/>
              <a:t>Contain reusable metadata (schemes) in-line or by reference</a:t>
            </a:r>
          </a:p>
          <a:p>
            <a:r>
              <a:rPr lang="en-US" dirty="0" smtClean="0"/>
              <a:t>Add information specific to the study</a:t>
            </a:r>
          </a:p>
          <a:p>
            <a:pPr lvl="1"/>
            <a:r>
              <a:rPr lang="en-US" dirty="0" smtClean="0"/>
              <a:t>Identification, abstract, purpose, ownership, access</a:t>
            </a:r>
          </a:p>
          <a:p>
            <a:pPr lvl="1"/>
            <a:r>
              <a:rPr lang="en-US" dirty="0" smtClean="0"/>
              <a:t>Lifecycle events, collection events, processing events (who, what, and when)</a:t>
            </a:r>
          </a:p>
          <a:p>
            <a:pPr lvl="1"/>
            <a:r>
              <a:rPr lang="en-US" dirty="0" smtClean="0"/>
              <a:t>Descriptive content, summary statistics, internal relationships, external relationships	</a:t>
            </a:r>
          </a:p>
          <a:p>
            <a:pPr>
              <a:buNone/>
            </a:pPr>
            <a:endParaRPr lang="en-US" dirty="0" smtClean="0"/>
          </a:p>
          <a:p>
            <a:pPr lvl="1"/>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457200" y="274638"/>
            <a:ext cx="8229600" cy="639762"/>
          </a:xfrm>
        </p:spPr>
        <p:txBody>
          <a:bodyPr/>
          <a:lstStyle/>
          <a:p>
            <a:pPr eaLnBrk="1" hangingPunct="1"/>
            <a:r>
              <a:rPr lang="en-US" sz="3200" dirty="0" smtClean="0"/>
              <a:t>DDI Lifecycle Model and Related Modules</a:t>
            </a:r>
          </a:p>
        </p:txBody>
      </p:sp>
      <p:pic>
        <p:nvPicPr>
          <p:cNvPr id="15363" name="Picture 3" descr="DDI_Lifecyc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914400"/>
            <a:ext cx="8686800" cy="453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4"/>
          <p:cNvSpPr>
            <a:spLocks noChangeArrowheads="1"/>
          </p:cNvSpPr>
          <p:nvPr/>
        </p:nvSpPr>
        <p:spPr bwMode="auto">
          <a:xfrm>
            <a:off x="381000" y="5181600"/>
            <a:ext cx="1219200" cy="91440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65" name="Rectangle 5"/>
          <p:cNvSpPr>
            <a:spLocks noChangeArrowheads="1"/>
          </p:cNvSpPr>
          <p:nvPr/>
        </p:nvSpPr>
        <p:spPr bwMode="auto">
          <a:xfrm>
            <a:off x="1752600" y="5181600"/>
            <a:ext cx="1219200" cy="91440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66" name="Rectangle 6"/>
          <p:cNvSpPr>
            <a:spLocks noChangeArrowheads="1"/>
          </p:cNvSpPr>
          <p:nvPr/>
        </p:nvSpPr>
        <p:spPr bwMode="auto">
          <a:xfrm>
            <a:off x="3124200" y="5181600"/>
            <a:ext cx="1219200" cy="91440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67" name="Rectangle 7"/>
          <p:cNvSpPr>
            <a:spLocks noChangeArrowheads="1"/>
          </p:cNvSpPr>
          <p:nvPr/>
        </p:nvSpPr>
        <p:spPr bwMode="auto">
          <a:xfrm>
            <a:off x="4495800" y="5181600"/>
            <a:ext cx="1219200" cy="91440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68" name="Rectangle 8"/>
          <p:cNvSpPr>
            <a:spLocks noChangeArrowheads="1"/>
          </p:cNvSpPr>
          <p:nvPr/>
        </p:nvSpPr>
        <p:spPr bwMode="auto">
          <a:xfrm>
            <a:off x="5867400" y="5181600"/>
            <a:ext cx="1143000" cy="91440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69" name="Rectangle 9"/>
          <p:cNvSpPr>
            <a:spLocks noChangeArrowheads="1"/>
          </p:cNvSpPr>
          <p:nvPr/>
        </p:nvSpPr>
        <p:spPr bwMode="auto">
          <a:xfrm>
            <a:off x="7239000" y="5181600"/>
            <a:ext cx="1143000" cy="91440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70" name="Text Box 10"/>
          <p:cNvSpPr txBox="1">
            <a:spLocks noChangeArrowheads="1"/>
          </p:cNvSpPr>
          <p:nvPr/>
        </p:nvSpPr>
        <p:spPr bwMode="auto">
          <a:xfrm>
            <a:off x="457200" y="5334000"/>
            <a:ext cx="768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Study</a:t>
            </a:r>
          </a:p>
          <a:p>
            <a:pPr eaLnBrk="1" hangingPunct="1"/>
            <a:r>
              <a:rPr lang="en-US"/>
              <a:t>Unit</a:t>
            </a:r>
          </a:p>
        </p:txBody>
      </p:sp>
      <p:sp>
        <p:nvSpPr>
          <p:cNvPr id="15371" name="Text Box 11"/>
          <p:cNvSpPr txBox="1">
            <a:spLocks noChangeArrowheads="1"/>
          </p:cNvSpPr>
          <p:nvPr/>
        </p:nvSpPr>
        <p:spPr bwMode="auto">
          <a:xfrm>
            <a:off x="1828800" y="5334000"/>
            <a:ext cx="1187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Data </a:t>
            </a:r>
          </a:p>
          <a:p>
            <a:pPr eaLnBrk="1" hangingPunct="1"/>
            <a:r>
              <a:rPr lang="en-US"/>
              <a:t>Collection</a:t>
            </a:r>
          </a:p>
        </p:txBody>
      </p:sp>
      <p:sp>
        <p:nvSpPr>
          <p:cNvPr id="15372" name="Text Box 12"/>
          <p:cNvSpPr txBox="1">
            <a:spLocks noChangeArrowheads="1"/>
          </p:cNvSpPr>
          <p:nvPr/>
        </p:nvSpPr>
        <p:spPr bwMode="auto">
          <a:xfrm>
            <a:off x="3200400" y="5257800"/>
            <a:ext cx="971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Logical</a:t>
            </a:r>
          </a:p>
          <a:p>
            <a:pPr eaLnBrk="1" hangingPunct="1"/>
            <a:r>
              <a:rPr lang="en-US"/>
              <a:t>Product</a:t>
            </a:r>
          </a:p>
        </p:txBody>
      </p:sp>
      <p:sp>
        <p:nvSpPr>
          <p:cNvPr id="15373" name="Text Box 13"/>
          <p:cNvSpPr txBox="1">
            <a:spLocks noChangeArrowheads="1"/>
          </p:cNvSpPr>
          <p:nvPr/>
        </p:nvSpPr>
        <p:spPr bwMode="auto">
          <a:xfrm>
            <a:off x="4572000" y="5181600"/>
            <a:ext cx="10350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Physical</a:t>
            </a:r>
          </a:p>
          <a:p>
            <a:pPr eaLnBrk="1" hangingPunct="1"/>
            <a:r>
              <a:rPr lang="en-US"/>
              <a:t>Data </a:t>
            </a:r>
          </a:p>
          <a:p>
            <a:pPr eaLnBrk="1" hangingPunct="1"/>
            <a:r>
              <a:rPr lang="en-US"/>
              <a:t>Product</a:t>
            </a:r>
          </a:p>
        </p:txBody>
      </p:sp>
      <p:sp>
        <p:nvSpPr>
          <p:cNvPr id="15374" name="Text Box 14"/>
          <p:cNvSpPr txBox="1">
            <a:spLocks noChangeArrowheads="1"/>
          </p:cNvSpPr>
          <p:nvPr/>
        </p:nvSpPr>
        <p:spPr bwMode="auto">
          <a:xfrm>
            <a:off x="5867400" y="5334000"/>
            <a:ext cx="1047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Physical</a:t>
            </a:r>
          </a:p>
          <a:p>
            <a:pPr eaLnBrk="1" hangingPunct="1"/>
            <a:r>
              <a:rPr lang="en-US"/>
              <a:t>Instance</a:t>
            </a:r>
          </a:p>
        </p:txBody>
      </p:sp>
      <p:sp>
        <p:nvSpPr>
          <p:cNvPr id="15375" name="Text Box 15"/>
          <p:cNvSpPr txBox="1">
            <a:spLocks noChangeArrowheads="1"/>
          </p:cNvSpPr>
          <p:nvPr/>
        </p:nvSpPr>
        <p:spPr bwMode="auto">
          <a:xfrm>
            <a:off x="7391400" y="5410200"/>
            <a:ext cx="946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Archive</a:t>
            </a:r>
          </a:p>
        </p:txBody>
      </p:sp>
      <p:sp>
        <p:nvSpPr>
          <p:cNvPr id="15376" name="Text Box 16"/>
          <p:cNvSpPr txBox="1">
            <a:spLocks noChangeArrowheads="1"/>
          </p:cNvSpPr>
          <p:nvPr/>
        </p:nvSpPr>
        <p:spPr bwMode="auto">
          <a:xfrm>
            <a:off x="152400" y="1143000"/>
            <a:ext cx="3505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solidFill>
                  <a:schemeClr val="hlink"/>
                </a:solidFill>
              </a:rPr>
              <a:t>Groups and Resource Packages are a means of publishing any portion or combination of sections of the life cycle</a:t>
            </a:r>
          </a:p>
        </p:txBody>
      </p:sp>
      <p:sp>
        <p:nvSpPr>
          <p:cNvPr id="15377" name="Rectangle 17"/>
          <p:cNvSpPr>
            <a:spLocks noChangeArrowheads="1"/>
          </p:cNvSpPr>
          <p:nvPr/>
        </p:nvSpPr>
        <p:spPr bwMode="auto">
          <a:xfrm>
            <a:off x="7086600" y="990600"/>
            <a:ext cx="1600200" cy="1219200"/>
          </a:xfrm>
          <a:prstGeom prst="rect">
            <a:avLst/>
          </a:prstGeom>
          <a:solidFill>
            <a:schemeClr val="tx2">
              <a:lumMod val="40000"/>
              <a:lumOff val="60000"/>
            </a:schemeClr>
          </a:solidFill>
          <a:ln w="28575">
            <a:solidFill>
              <a:schemeClr val="tx1"/>
            </a:solidFill>
            <a:miter lim="800000"/>
            <a:headEnd/>
            <a:tailEnd/>
          </a:ln>
        </p:spPr>
        <p:txBody>
          <a:bodyPr wrap="none" anchor="ctr"/>
          <a:lstStyle/>
          <a:p>
            <a:endParaRPr lang="en-US"/>
          </a:p>
        </p:txBody>
      </p:sp>
      <p:sp>
        <p:nvSpPr>
          <p:cNvPr id="15378" name="Text Box 18"/>
          <p:cNvSpPr txBox="1">
            <a:spLocks noChangeArrowheads="1"/>
          </p:cNvSpPr>
          <p:nvPr/>
        </p:nvSpPr>
        <p:spPr bwMode="auto">
          <a:xfrm>
            <a:off x="7391400" y="1143000"/>
            <a:ext cx="1073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Local </a:t>
            </a:r>
          </a:p>
          <a:p>
            <a:pPr eaLnBrk="1" hangingPunct="1"/>
            <a:r>
              <a:rPr lang="en-US"/>
              <a:t>Holding </a:t>
            </a:r>
          </a:p>
          <a:p>
            <a:pPr eaLnBrk="1" hangingPunct="1"/>
            <a:r>
              <a:rPr lang="en-US"/>
              <a:t>Package</a:t>
            </a:r>
          </a:p>
        </p:txBody>
      </p:sp>
      <p:sp>
        <p:nvSpPr>
          <p:cNvPr id="10259" name="Line 19"/>
          <p:cNvSpPr>
            <a:spLocks noChangeShapeType="1"/>
          </p:cNvSpPr>
          <p:nvPr/>
        </p:nvSpPr>
        <p:spPr bwMode="auto">
          <a:xfrm flipV="1">
            <a:off x="914400" y="3962400"/>
            <a:ext cx="304800" cy="1219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0" name="Line 20"/>
          <p:cNvSpPr>
            <a:spLocks noChangeShapeType="1"/>
          </p:cNvSpPr>
          <p:nvPr/>
        </p:nvSpPr>
        <p:spPr bwMode="auto">
          <a:xfrm flipV="1">
            <a:off x="2438400" y="3962400"/>
            <a:ext cx="0" cy="1219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1" name="Line 21"/>
          <p:cNvSpPr>
            <a:spLocks noChangeShapeType="1"/>
          </p:cNvSpPr>
          <p:nvPr/>
        </p:nvSpPr>
        <p:spPr bwMode="auto">
          <a:xfrm flipV="1">
            <a:off x="2438400" y="3962400"/>
            <a:ext cx="838200" cy="1219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2" name="Line 22"/>
          <p:cNvSpPr>
            <a:spLocks noChangeShapeType="1"/>
          </p:cNvSpPr>
          <p:nvPr/>
        </p:nvSpPr>
        <p:spPr bwMode="auto">
          <a:xfrm flipV="1">
            <a:off x="3657600" y="3962400"/>
            <a:ext cx="76200" cy="1219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3" name="Line 23"/>
          <p:cNvSpPr>
            <a:spLocks noChangeShapeType="1"/>
          </p:cNvSpPr>
          <p:nvPr/>
        </p:nvSpPr>
        <p:spPr bwMode="auto">
          <a:xfrm flipH="1" flipV="1">
            <a:off x="3962400" y="3886200"/>
            <a:ext cx="1066800" cy="1295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4" name="Line 24"/>
          <p:cNvSpPr>
            <a:spLocks noChangeShapeType="1"/>
          </p:cNvSpPr>
          <p:nvPr/>
        </p:nvSpPr>
        <p:spPr bwMode="auto">
          <a:xfrm flipH="1" flipV="1">
            <a:off x="4191000" y="3733800"/>
            <a:ext cx="2286000" cy="14478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5" name="Line 25"/>
          <p:cNvSpPr>
            <a:spLocks noChangeShapeType="1"/>
          </p:cNvSpPr>
          <p:nvPr/>
        </p:nvSpPr>
        <p:spPr bwMode="auto">
          <a:xfrm flipH="1" flipV="1">
            <a:off x="7543800" y="4648200"/>
            <a:ext cx="30480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6" name="AutoShape 26"/>
          <p:cNvSpPr>
            <a:spLocks noChangeArrowheads="1"/>
          </p:cNvSpPr>
          <p:nvPr/>
        </p:nvSpPr>
        <p:spPr bwMode="auto">
          <a:xfrm>
            <a:off x="838200" y="1447800"/>
            <a:ext cx="7315200" cy="3200400"/>
          </a:xfrm>
          <a:prstGeom prst="flowChartAlternateProcess">
            <a:avLst/>
          </a:prstGeom>
          <a:solidFill>
            <a:srgbClr val="6FC3B3">
              <a:alpha val="59999"/>
            </a:srgbClr>
          </a:solidFill>
          <a:ln w="9525">
            <a:solidFill>
              <a:schemeClr val="tx1"/>
            </a:solidFill>
            <a:miter lim="800000"/>
            <a:headEnd/>
            <a:tailEnd/>
          </a:ln>
        </p:spPr>
        <p:txBody>
          <a:bodyPr wrap="none" anchor="ctr"/>
          <a:lstStyle/>
          <a:p>
            <a:endParaRPr lang="en-US"/>
          </a:p>
        </p:txBody>
      </p:sp>
      <p:sp>
        <p:nvSpPr>
          <p:cNvPr id="10267" name="Line 27"/>
          <p:cNvSpPr>
            <a:spLocks noChangeShapeType="1"/>
          </p:cNvSpPr>
          <p:nvPr/>
        </p:nvSpPr>
        <p:spPr bwMode="auto">
          <a:xfrm flipH="1">
            <a:off x="5791200" y="1447800"/>
            <a:ext cx="1295400" cy="2286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376879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6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6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6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6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6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6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26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9" grpId="0" animBg="1"/>
      <p:bldP spid="10260" grpId="0" animBg="1"/>
      <p:bldP spid="10261" grpId="0" animBg="1"/>
      <p:bldP spid="10262" grpId="0" animBg="1"/>
      <p:bldP spid="10263" grpId="0" animBg="1"/>
      <p:bldP spid="10264" grpId="0" animBg="1"/>
      <p:bldP spid="10265" grpId="0" animBg="1"/>
      <p:bldP spid="10266" grpId="0" animBg="1"/>
      <p:bldP spid="1026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p:txBody>
          <a:bodyPr/>
          <a:lstStyle/>
          <a:p>
            <a:pPr eaLnBrk="1" hangingPunct="1"/>
            <a:r>
              <a:rPr lang="en-US" smtClean="0"/>
              <a:t>Building from Component Parts</a:t>
            </a:r>
          </a:p>
        </p:txBody>
      </p:sp>
      <p:sp>
        <p:nvSpPr>
          <p:cNvPr id="236547" name="Text Box 3"/>
          <p:cNvSpPr txBox="1">
            <a:spLocks noChangeArrowheads="1"/>
          </p:cNvSpPr>
          <p:nvPr/>
        </p:nvSpPr>
        <p:spPr bwMode="auto">
          <a:xfrm>
            <a:off x="381000" y="1295400"/>
            <a:ext cx="2176463" cy="4540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UniverseScheme</a:t>
            </a:r>
          </a:p>
        </p:txBody>
      </p:sp>
      <p:sp>
        <p:nvSpPr>
          <p:cNvPr id="236548" name="Text Box 4"/>
          <p:cNvSpPr txBox="1">
            <a:spLocks noChangeArrowheads="1"/>
          </p:cNvSpPr>
          <p:nvPr/>
        </p:nvSpPr>
        <p:spPr bwMode="auto">
          <a:xfrm>
            <a:off x="381000" y="2286000"/>
            <a:ext cx="2119313" cy="4540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ConceptScheme</a:t>
            </a:r>
          </a:p>
        </p:txBody>
      </p:sp>
      <p:sp>
        <p:nvSpPr>
          <p:cNvPr id="236549" name="Text Box 5"/>
          <p:cNvSpPr txBox="1">
            <a:spLocks noChangeArrowheads="1"/>
          </p:cNvSpPr>
          <p:nvPr/>
        </p:nvSpPr>
        <p:spPr bwMode="auto">
          <a:xfrm>
            <a:off x="3429000" y="1295400"/>
            <a:ext cx="2203450" cy="4540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CategoryScheme</a:t>
            </a:r>
          </a:p>
        </p:txBody>
      </p:sp>
      <p:sp>
        <p:nvSpPr>
          <p:cNvPr id="236550" name="Text Box 6"/>
          <p:cNvSpPr txBox="1">
            <a:spLocks noChangeArrowheads="1"/>
          </p:cNvSpPr>
          <p:nvPr/>
        </p:nvSpPr>
        <p:spPr bwMode="auto">
          <a:xfrm>
            <a:off x="4267200" y="2133600"/>
            <a:ext cx="1981200" cy="4540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CodeScheme</a:t>
            </a:r>
          </a:p>
        </p:txBody>
      </p:sp>
      <p:sp>
        <p:nvSpPr>
          <p:cNvPr id="236551" name="Text Box 7"/>
          <p:cNvSpPr txBox="1">
            <a:spLocks noChangeArrowheads="1"/>
          </p:cNvSpPr>
          <p:nvPr/>
        </p:nvSpPr>
        <p:spPr bwMode="auto">
          <a:xfrm>
            <a:off x="2057400" y="3276600"/>
            <a:ext cx="2189163" cy="4540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QuestionScheme</a:t>
            </a:r>
          </a:p>
        </p:txBody>
      </p:sp>
      <p:sp>
        <p:nvSpPr>
          <p:cNvPr id="236552" name="Text Box 8"/>
          <p:cNvSpPr txBox="1">
            <a:spLocks noChangeArrowheads="1"/>
          </p:cNvSpPr>
          <p:nvPr/>
        </p:nvSpPr>
        <p:spPr bwMode="auto">
          <a:xfrm>
            <a:off x="2286000" y="5334000"/>
            <a:ext cx="1438275" cy="4540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Instrument</a:t>
            </a:r>
          </a:p>
        </p:txBody>
      </p:sp>
      <p:sp>
        <p:nvSpPr>
          <p:cNvPr id="236553" name="Text Box 9"/>
          <p:cNvSpPr txBox="1">
            <a:spLocks noChangeArrowheads="1"/>
          </p:cNvSpPr>
          <p:nvPr/>
        </p:nvSpPr>
        <p:spPr bwMode="auto">
          <a:xfrm>
            <a:off x="5867400" y="3124200"/>
            <a:ext cx="1244600" cy="7588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Variable </a:t>
            </a:r>
          </a:p>
          <a:p>
            <a:r>
              <a:rPr lang="en-US" sz="2000"/>
              <a:t>Scheme</a:t>
            </a:r>
          </a:p>
        </p:txBody>
      </p:sp>
      <p:sp>
        <p:nvSpPr>
          <p:cNvPr id="236554" name="Text Box 10"/>
          <p:cNvSpPr txBox="1">
            <a:spLocks noChangeArrowheads="1"/>
          </p:cNvSpPr>
          <p:nvPr/>
        </p:nvSpPr>
        <p:spPr bwMode="auto">
          <a:xfrm>
            <a:off x="7696200" y="1752600"/>
            <a:ext cx="1173163" cy="7588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NCube </a:t>
            </a:r>
          </a:p>
          <a:p>
            <a:r>
              <a:rPr lang="en-US" sz="2000"/>
              <a:t>Scheme</a:t>
            </a:r>
          </a:p>
        </p:txBody>
      </p:sp>
      <p:sp>
        <p:nvSpPr>
          <p:cNvPr id="236555" name="Text Box 11"/>
          <p:cNvSpPr txBox="1">
            <a:spLocks noChangeArrowheads="1"/>
          </p:cNvSpPr>
          <p:nvPr/>
        </p:nvSpPr>
        <p:spPr bwMode="auto">
          <a:xfrm>
            <a:off x="1600200" y="4191000"/>
            <a:ext cx="3078163" cy="4540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ControlConstructScheme</a:t>
            </a:r>
          </a:p>
        </p:txBody>
      </p:sp>
      <p:sp>
        <p:nvSpPr>
          <p:cNvPr id="236556" name="Text Box 12"/>
          <p:cNvSpPr txBox="1">
            <a:spLocks noChangeArrowheads="1"/>
          </p:cNvSpPr>
          <p:nvPr/>
        </p:nvSpPr>
        <p:spPr bwMode="auto">
          <a:xfrm>
            <a:off x="5562600" y="5410200"/>
            <a:ext cx="1866900" cy="4540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LogicalRecord</a:t>
            </a:r>
          </a:p>
        </p:txBody>
      </p:sp>
      <p:sp>
        <p:nvSpPr>
          <p:cNvPr id="236557" name="Text Box 13"/>
          <p:cNvSpPr txBox="1">
            <a:spLocks noChangeArrowheads="1"/>
          </p:cNvSpPr>
          <p:nvPr/>
        </p:nvSpPr>
        <p:spPr bwMode="auto">
          <a:xfrm>
            <a:off x="7086600" y="4114800"/>
            <a:ext cx="1892300" cy="971550"/>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RecordLayout </a:t>
            </a:r>
          </a:p>
          <a:p>
            <a:r>
              <a:rPr lang="en-US" sz="2000"/>
              <a:t>Scheme </a:t>
            </a:r>
          </a:p>
          <a:p>
            <a:r>
              <a:rPr lang="en-US" sz="1400"/>
              <a:t>[Physical Location]</a:t>
            </a:r>
          </a:p>
        </p:txBody>
      </p:sp>
      <p:sp>
        <p:nvSpPr>
          <p:cNvPr id="236558" name="Line 14"/>
          <p:cNvSpPr>
            <a:spLocks noChangeShapeType="1"/>
          </p:cNvSpPr>
          <p:nvPr/>
        </p:nvSpPr>
        <p:spPr bwMode="auto">
          <a:xfrm flipH="1" flipV="1">
            <a:off x="4800600" y="1752600"/>
            <a:ext cx="228600" cy="3810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59" name="Line 15"/>
          <p:cNvSpPr>
            <a:spLocks noChangeShapeType="1"/>
          </p:cNvSpPr>
          <p:nvPr/>
        </p:nvSpPr>
        <p:spPr bwMode="auto">
          <a:xfrm flipV="1">
            <a:off x="3352800" y="2590800"/>
            <a:ext cx="1066800" cy="6858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60" name="Line 16"/>
          <p:cNvSpPr>
            <a:spLocks noChangeShapeType="1"/>
          </p:cNvSpPr>
          <p:nvPr/>
        </p:nvSpPr>
        <p:spPr bwMode="auto">
          <a:xfrm flipV="1">
            <a:off x="3352800" y="1752600"/>
            <a:ext cx="304800" cy="15240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61" name="Line 17"/>
          <p:cNvSpPr>
            <a:spLocks noChangeShapeType="1"/>
          </p:cNvSpPr>
          <p:nvPr/>
        </p:nvSpPr>
        <p:spPr bwMode="auto">
          <a:xfrm flipH="1" flipV="1">
            <a:off x="3048000" y="3733800"/>
            <a:ext cx="0" cy="4572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62" name="Line 18"/>
          <p:cNvSpPr>
            <a:spLocks noChangeShapeType="1"/>
          </p:cNvSpPr>
          <p:nvPr/>
        </p:nvSpPr>
        <p:spPr bwMode="auto">
          <a:xfrm flipH="1" flipV="1">
            <a:off x="2971800" y="4648200"/>
            <a:ext cx="0" cy="6858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63" name="Line 19"/>
          <p:cNvSpPr>
            <a:spLocks noChangeShapeType="1"/>
          </p:cNvSpPr>
          <p:nvPr/>
        </p:nvSpPr>
        <p:spPr bwMode="auto">
          <a:xfrm flipH="1" flipV="1">
            <a:off x="2514600" y="1752600"/>
            <a:ext cx="533400" cy="5334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64" name="Line 20"/>
          <p:cNvSpPr>
            <a:spLocks noChangeShapeType="1"/>
          </p:cNvSpPr>
          <p:nvPr/>
        </p:nvSpPr>
        <p:spPr bwMode="auto">
          <a:xfrm flipH="1">
            <a:off x="2514600" y="2286000"/>
            <a:ext cx="533400" cy="3048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65" name="Line 21"/>
          <p:cNvSpPr>
            <a:spLocks noChangeShapeType="1"/>
          </p:cNvSpPr>
          <p:nvPr/>
        </p:nvSpPr>
        <p:spPr bwMode="auto">
          <a:xfrm flipH="1" flipV="1">
            <a:off x="6096000" y="2590800"/>
            <a:ext cx="0" cy="5334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66" name="Line 22"/>
          <p:cNvSpPr>
            <a:spLocks noChangeShapeType="1"/>
          </p:cNvSpPr>
          <p:nvPr/>
        </p:nvSpPr>
        <p:spPr bwMode="auto">
          <a:xfrm>
            <a:off x="3048000" y="2286000"/>
            <a:ext cx="2819400" cy="1143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567" name="Line 23"/>
          <p:cNvSpPr>
            <a:spLocks noChangeShapeType="1"/>
          </p:cNvSpPr>
          <p:nvPr/>
        </p:nvSpPr>
        <p:spPr bwMode="auto">
          <a:xfrm flipH="1" flipV="1">
            <a:off x="4267200" y="3505200"/>
            <a:ext cx="1600200" cy="0"/>
          </a:xfrm>
          <a:prstGeom prst="line">
            <a:avLst/>
          </a:prstGeom>
          <a:noFill/>
          <a:ln w="28575">
            <a:solidFill>
              <a:schemeClr val="tx1"/>
            </a:solidFill>
            <a:prstDash val="sysDot"/>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68" name="Line 24"/>
          <p:cNvSpPr>
            <a:spLocks noChangeShapeType="1"/>
          </p:cNvSpPr>
          <p:nvPr/>
        </p:nvSpPr>
        <p:spPr bwMode="auto">
          <a:xfrm flipH="1" flipV="1">
            <a:off x="1219200" y="2743200"/>
            <a:ext cx="1219200" cy="533400"/>
          </a:xfrm>
          <a:prstGeom prst="line">
            <a:avLst/>
          </a:prstGeom>
          <a:noFill/>
          <a:ln w="28575">
            <a:solidFill>
              <a:schemeClr val="tx1"/>
            </a:solidFill>
            <a:prstDash val="sysDot"/>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69" name="Line 25"/>
          <p:cNvSpPr>
            <a:spLocks noChangeShapeType="1"/>
          </p:cNvSpPr>
          <p:nvPr/>
        </p:nvSpPr>
        <p:spPr bwMode="auto">
          <a:xfrm>
            <a:off x="152400" y="4343400"/>
            <a:ext cx="1447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570" name="Line 26"/>
          <p:cNvSpPr>
            <a:spLocks noChangeShapeType="1"/>
          </p:cNvSpPr>
          <p:nvPr/>
        </p:nvSpPr>
        <p:spPr bwMode="auto">
          <a:xfrm>
            <a:off x="152400" y="1676400"/>
            <a:ext cx="0" cy="2667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571" name="Line 27"/>
          <p:cNvSpPr>
            <a:spLocks noChangeShapeType="1"/>
          </p:cNvSpPr>
          <p:nvPr/>
        </p:nvSpPr>
        <p:spPr bwMode="auto">
          <a:xfrm flipV="1">
            <a:off x="152400" y="1676400"/>
            <a:ext cx="2286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72" name="Line 28"/>
          <p:cNvSpPr>
            <a:spLocks noChangeShapeType="1"/>
          </p:cNvSpPr>
          <p:nvPr/>
        </p:nvSpPr>
        <p:spPr bwMode="auto">
          <a:xfrm flipH="1">
            <a:off x="7162800" y="2514600"/>
            <a:ext cx="1066800" cy="685800"/>
          </a:xfrm>
          <a:prstGeom prst="line">
            <a:avLst/>
          </a:prstGeom>
          <a:noFill/>
          <a:ln w="28575">
            <a:solidFill>
              <a:schemeClr val="tx1"/>
            </a:solidFill>
            <a:prstDash val="sysDot"/>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73" name="Line 29"/>
          <p:cNvSpPr>
            <a:spLocks noChangeShapeType="1"/>
          </p:cNvSpPr>
          <p:nvPr/>
        </p:nvSpPr>
        <p:spPr bwMode="auto">
          <a:xfrm flipH="1" flipV="1">
            <a:off x="7086600" y="3810000"/>
            <a:ext cx="381000" cy="3048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74" name="Line 30"/>
          <p:cNvSpPr>
            <a:spLocks noChangeShapeType="1"/>
          </p:cNvSpPr>
          <p:nvPr/>
        </p:nvSpPr>
        <p:spPr bwMode="auto">
          <a:xfrm flipH="1">
            <a:off x="6934200" y="5105400"/>
            <a:ext cx="381000" cy="3048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75" name="Line 31"/>
          <p:cNvSpPr>
            <a:spLocks noChangeShapeType="1"/>
          </p:cNvSpPr>
          <p:nvPr/>
        </p:nvSpPr>
        <p:spPr bwMode="auto">
          <a:xfrm flipH="1" flipV="1">
            <a:off x="6248400" y="3886200"/>
            <a:ext cx="0" cy="15240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76" name="Line 32"/>
          <p:cNvSpPr>
            <a:spLocks noChangeShapeType="1"/>
          </p:cNvSpPr>
          <p:nvPr/>
        </p:nvSpPr>
        <p:spPr bwMode="auto">
          <a:xfrm flipH="1" flipV="1">
            <a:off x="8153400" y="5105400"/>
            <a:ext cx="0" cy="9906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6577" name="Text Box 33"/>
          <p:cNvSpPr txBox="1">
            <a:spLocks noChangeArrowheads="1"/>
          </p:cNvSpPr>
          <p:nvPr/>
        </p:nvSpPr>
        <p:spPr bwMode="auto">
          <a:xfrm>
            <a:off x="6781800" y="6096000"/>
            <a:ext cx="2147888" cy="4540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000"/>
              <a:t>PhysicalInstance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65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654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654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65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655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65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65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656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656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65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65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656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65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657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65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656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65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656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656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656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656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3656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3655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3657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3655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36575"/>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3655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3657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36574"/>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3657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365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animBg="1"/>
      <p:bldP spid="236548" grpId="0" animBg="1"/>
      <p:bldP spid="236549" grpId="0" animBg="1"/>
      <p:bldP spid="236550" grpId="0" animBg="1"/>
      <p:bldP spid="236551" grpId="0" animBg="1"/>
      <p:bldP spid="236552" grpId="0" animBg="1"/>
      <p:bldP spid="236553" grpId="0" animBg="1"/>
      <p:bldP spid="236554" grpId="0" animBg="1"/>
      <p:bldP spid="236555" grpId="0" animBg="1"/>
      <p:bldP spid="236556" grpId="0" animBg="1"/>
      <p:bldP spid="236557" grpId="0" animBg="1"/>
      <p:bldP spid="236558" grpId="0" animBg="1"/>
      <p:bldP spid="236559" grpId="0" animBg="1"/>
      <p:bldP spid="236560" grpId="0" animBg="1"/>
      <p:bldP spid="236561" grpId="0" animBg="1"/>
      <p:bldP spid="236562" grpId="0" animBg="1"/>
      <p:bldP spid="236563" grpId="0" animBg="1"/>
      <p:bldP spid="236564" grpId="0" animBg="1"/>
      <p:bldP spid="236565" grpId="0" animBg="1"/>
      <p:bldP spid="236566" grpId="0" animBg="1"/>
      <p:bldP spid="236567" grpId="0" animBg="1"/>
      <p:bldP spid="236568" grpId="0" animBg="1"/>
      <p:bldP spid="236569" grpId="0" animBg="1"/>
      <p:bldP spid="236570" grpId="0" animBg="1"/>
      <p:bldP spid="236571" grpId="0" animBg="1"/>
      <p:bldP spid="236572" grpId="0" animBg="1"/>
      <p:bldP spid="236573" grpId="0" animBg="1"/>
      <p:bldP spid="236574" grpId="0" animBg="1"/>
      <p:bldP spid="236575" grpId="0" animBg="1"/>
      <p:bldP spid="236576" grpId="0" animBg="1"/>
      <p:bldP spid="23657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Module added content</a:t>
            </a:r>
            <a:endParaRPr lang="en-US" dirty="0"/>
          </a:p>
        </p:txBody>
      </p:sp>
      <p:sp>
        <p:nvSpPr>
          <p:cNvPr id="5" name="Content Placeholder 4"/>
          <p:cNvSpPr>
            <a:spLocks noGrp="1"/>
          </p:cNvSpPr>
          <p:nvPr>
            <p:ph sz="half" idx="1"/>
          </p:nvPr>
        </p:nvSpPr>
        <p:spPr>
          <a:xfrm>
            <a:off x="304800" y="1600200"/>
            <a:ext cx="4191000" cy="4525963"/>
          </a:xfrm>
        </p:spPr>
        <p:txBody>
          <a:bodyPr/>
          <a:lstStyle/>
          <a:p>
            <a:r>
              <a:rPr lang="en-US" dirty="0" smtClean="0"/>
              <a:t>Citation</a:t>
            </a:r>
          </a:p>
          <a:p>
            <a:r>
              <a:rPr lang="en-US" dirty="0" smtClean="0"/>
              <a:t>Coverage</a:t>
            </a:r>
          </a:p>
          <a:p>
            <a:r>
              <a:rPr lang="en-US" dirty="0" smtClean="0"/>
              <a:t>Abstract / Purpose</a:t>
            </a:r>
          </a:p>
          <a:p>
            <a:r>
              <a:rPr lang="en-US" dirty="0" smtClean="0"/>
              <a:t>List of Resources Packages</a:t>
            </a:r>
          </a:p>
          <a:p>
            <a:r>
              <a:rPr lang="en-US" dirty="0" smtClean="0"/>
              <a:t>Methodology</a:t>
            </a:r>
          </a:p>
          <a:p>
            <a:r>
              <a:rPr lang="en-US" dirty="0" smtClean="0"/>
              <a:t>Data assessment</a:t>
            </a:r>
          </a:p>
          <a:p>
            <a:r>
              <a:rPr lang="en-US" dirty="0" smtClean="0"/>
              <a:t>Data relationship</a:t>
            </a:r>
            <a:endParaRPr lang="en-US" dirty="0"/>
          </a:p>
        </p:txBody>
      </p:sp>
      <p:sp>
        <p:nvSpPr>
          <p:cNvPr id="6" name="Content Placeholder 5"/>
          <p:cNvSpPr>
            <a:spLocks noGrp="1"/>
          </p:cNvSpPr>
          <p:nvPr>
            <p:ph sz="half" idx="2"/>
          </p:nvPr>
        </p:nvSpPr>
        <p:spPr>
          <a:xfrm>
            <a:off x="4648200" y="1600200"/>
            <a:ext cx="4191000" cy="4525963"/>
          </a:xfrm>
        </p:spPr>
        <p:txBody>
          <a:bodyPr/>
          <a:lstStyle/>
          <a:p>
            <a:r>
              <a:rPr lang="en-US" dirty="0" smtClean="0"/>
              <a:t>Collection content and relationships</a:t>
            </a:r>
          </a:p>
          <a:p>
            <a:r>
              <a:rPr lang="en-US" dirty="0" smtClean="0"/>
              <a:t>Access / Restrictions</a:t>
            </a:r>
          </a:p>
          <a:p>
            <a:r>
              <a:rPr lang="en-US" dirty="0" smtClean="0"/>
              <a:t>Archive / Library management details</a:t>
            </a:r>
          </a:p>
          <a:p>
            <a:r>
              <a:rPr lang="en-US" dirty="0" smtClean="0"/>
              <a:t>Comparison</a:t>
            </a:r>
          </a:p>
          <a:p>
            <a:r>
              <a:rPr lang="en-US" dirty="0" smtClean="0"/>
              <a:t>Other Material</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Packaging in XML for Publication</a:t>
            </a:r>
            <a:endParaRPr lang="en-US" dirty="0"/>
          </a:p>
        </p:txBody>
      </p:sp>
      <p:sp>
        <p:nvSpPr>
          <p:cNvPr id="5" name="Content Placeholder 4"/>
          <p:cNvSpPr>
            <a:spLocks noGrp="1"/>
          </p:cNvSpPr>
          <p:nvPr>
            <p:ph idx="1"/>
          </p:nvPr>
        </p:nvSpPr>
        <p:spPr/>
        <p:txBody>
          <a:bodyPr>
            <a:normAutofit fontScale="92500" lnSpcReduction="10000"/>
          </a:bodyPr>
          <a:lstStyle/>
          <a:p>
            <a:r>
              <a:rPr lang="en-US" dirty="0" smtClean="0"/>
              <a:t>There are five publication package modules in DDI and one exchange module</a:t>
            </a:r>
          </a:p>
          <a:p>
            <a:r>
              <a:rPr lang="en-US" dirty="0" smtClean="0"/>
              <a:t>DDI Instance is the top level packaging modules and serves as a consistent wrapper for the other four publication packages</a:t>
            </a:r>
          </a:p>
          <a:p>
            <a:pPr lvl="1"/>
            <a:r>
              <a:rPr lang="en-US" dirty="0" smtClean="0"/>
              <a:t>Study Unit, Group, Resource Package, Local Holding Package</a:t>
            </a:r>
          </a:p>
          <a:p>
            <a:r>
              <a:rPr lang="en-US" dirty="0" smtClean="0"/>
              <a:t>Fragment Instance is the exchange module used to respond to a query (i.e., resolve an external reference</a:t>
            </a:r>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1219200" y="762000"/>
            <a:ext cx="6781800" cy="510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244" name="Content Placeholder 3"/>
          <p:cNvSpPr>
            <a:spLocks noGrp="1"/>
          </p:cNvSpPr>
          <p:nvPr>
            <p:ph idx="4294967295"/>
          </p:nvPr>
        </p:nvSpPr>
        <p:spPr>
          <a:xfrm>
            <a:off x="457200" y="152400"/>
            <a:ext cx="8229600" cy="5851525"/>
          </a:xfrm>
        </p:spPr>
        <p:txBody>
          <a:bodyPr/>
          <a:lstStyle/>
          <a:p>
            <a:pPr eaLnBrk="1" hangingPunct="1">
              <a:buFontTx/>
              <a:buNone/>
            </a:pPr>
            <a:r>
              <a:rPr lang="en-US" smtClean="0"/>
              <a:t>DDI Instance</a:t>
            </a:r>
          </a:p>
        </p:txBody>
      </p:sp>
      <p:sp>
        <p:nvSpPr>
          <p:cNvPr id="10245" name="TextBox 8"/>
          <p:cNvSpPr txBox="1">
            <a:spLocks noChangeArrowheads="1"/>
          </p:cNvSpPr>
          <p:nvPr/>
        </p:nvSpPr>
        <p:spPr bwMode="auto">
          <a:xfrm>
            <a:off x="2971800" y="1143000"/>
            <a:ext cx="312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dirty="0"/>
              <a:t>Citation </a:t>
            </a:r>
          </a:p>
          <a:p>
            <a:pPr algn="ctr" eaLnBrk="1" hangingPunct="1"/>
            <a:r>
              <a:rPr lang="en-US" dirty="0"/>
              <a:t>Coverage</a:t>
            </a:r>
          </a:p>
          <a:p>
            <a:pPr algn="ctr" eaLnBrk="1" hangingPunct="1"/>
            <a:r>
              <a:rPr lang="en-US" dirty="0"/>
              <a:t>Other Material </a:t>
            </a:r>
          </a:p>
          <a:p>
            <a:pPr algn="ctr" eaLnBrk="1" hangingPunct="1"/>
            <a:r>
              <a:rPr lang="en-US" dirty="0"/>
              <a:t>Translation Information</a:t>
            </a:r>
          </a:p>
        </p:txBody>
      </p:sp>
      <p:sp>
        <p:nvSpPr>
          <p:cNvPr id="10" name="Rectangle 9"/>
          <p:cNvSpPr>
            <a:spLocks noChangeArrowheads="1"/>
          </p:cNvSpPr>
          <p:nvPr/>
        </p:nvSpPr>
        <p:spPr bwMode="auto">
          <a:xfrm>
            <a:off x="1981200" y="2514600"/>
            <a:ext cx="1143000" cy="914400"/>
          </a:xfrm>
          <a:prstGeom prst="rect">
            <a:avLst/>
          </a:prstGeom>
          <a:solidFill>
            <a:srgbClr val="6FB996"/>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2" name="Rectangle 11"/>
          <p:cNvSpPr>
            <a:spLocks noChangeArrowheads="1"/>
          </p:cNvSpPr>
          <p:nvPr/>
        </p:nvSpPr>
        <p:spPr bwMode="auto">
          <a:xfrm>
            <a:off x="4953000" y="4191000"/>
            <a:ext cx="1143000" cy="838200"/>
          </a:xfrm>
          <a:prstGeom prst="rect">
            <a:avLst/>
          </a:prstGeom>
          <a:solidFill>
            <a:srgbClr val="CCBD4C"/>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4" name="Rectangle 13"/>
          <p:cNvSpPr>
            <a:spLocks noChangeArrowheads="1"/>
          </p:cNvSpPr>
          <p:nvPr/>
        </p:nvSpPr>
        <p:spPr bwMode="auto">
          <a:xfrm>
            <a:off x="2362200" y="2819400"/>
            <a:ext cx="1143000" cy="914400"/>
          </a:xfrm>
          <a:prstGeom prst="rect">
            <a:avLst/>
          </a:prstGeom>
          <a:solidFill>
            <a:srgbClr val="6FB996"/>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1" name="Rectangle 10"/>
          <p:cNvSpPr>
            <a:spLocks noChangeArrowheads="1"/>
          </p:cNvSpPr>
          <p:nvPr/>
        </p:nvSpPr>
        <p:spPr bwMode="auto">
          <a:xfrm>
            <a:off x="4876800" y="2514600"/>
            <a:ext cx="1143000" cy="914400"/>
          </a:xfrm>
          <a:prstGeom prst="rect">
            <a:avLst/>
          </a:prstGeom>
          <a:solidFill>
            <a:srgbClr val="6769B9"/>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5" name="Rectangle 14"/>
          <p:cNvSpPr>
            <a:spLocks noChangeArrowheads="1"/>
          </p:cNvSpPr>
          <p:nvPr/>
        </p:nvSpPr>
        <p:spPr bwMode="auto">
          <a:xfrm>
            <a:off x="5181600" y="2819400"/>
            <a:ext cx="1219200" cy="914400"/>
          </a:xfrm>
          <a:prstGeom prst="rect">
            <a:avLst/>
          </a:prstGeom>
          <a:solidFill>
            <a:srgbClr val="6769B9"/>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3" name="Rectangle 12"/>
          <p:cNvSpPr>
            <a:spLocks noChangeArrowheads="1"/>
          </p:cNvSpPr>
          <p:nvPr/>
        </p:nvSpPr>
        <p:spPr bwMode="auto">
          <a:xfrm>
            <a:off x="5562600" y="3124200"/>
            <a:ext cx="1295400" cy="914400"/>
          </a:xfrm>
          <a:prstGeom prst="rect">
            <a:avLst/>
          </a:prstGeom>
          <a:solidFill>
            <a:srgbClr val="6769B9"/>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6" name="Rectangle 15"/>
          <p:cNvSpPr>
            <a:spLocks noChangeArrowheads="1"/>
          </p:cNvSpPr>
          <p:nvPr/>
        </p:nvSpPr>
        <p:spPr bwMode="auto">
          <a:xfrm>
            <a:off x="2667000" y="3124200"/>
            <a:ext cx="1295400" cy="914400"/>
          </a:xfrm>
          <a:prstGeom prst="rect">
            <a:avLst/>
          </a:prstGeom>
          <a:solidFill>
            <a:srgbClr val="6FB996"/>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8" name="Rectangle 17"/>
          <p:cNvSpPr>
            <a:spLocks noChangeArrowheads="1"/>
          </p:cNvSpPr>
          <p:nvPr/>
        </p:nvSpPr>
        <p:spPr bwMode="auto">
          <a:xfrm>
            <a:off x="5334000" y="4495800"/>
            <a:ext cx="1143000" cy="838200"/>
          </a:xfrm>
          <a:prstGeom prst="rect">
            <a:avLst/>
          </a:prstGeom>
          <a:solidFill>
            <a:srgbClr val="CCBD4C"/>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0254" name="TextBox 5"/>
          <p:cNvSpPr txBox="1">
            <a:spLocks noChangeArrowheads="1"/>
          </p:cNvSpPr>
          <p:nvPr/>
        </p:nvSpPr>
        <p:spPr bwMode="auto">
          <a:xfrm>
            <a:off x="2667000" y="327660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Study Unit</a:t>
            </a:r>
          </a:p>
        </p:txBody>
      </p:sp>
      <p:sp>
        <p:nvSpPr>
          <p:cNvPr id="10255" name="TextBox 6"/>
          <p:cNvSpPr txBox="1">
            <a:spLocks noChangeArrowheads="1"/>
          </p:cNvSpPr>
          <p:nvPr/>
        </p:nvSpPr>
        <p:spPr bwMode="auto">
          <a:xfrm>
            <a:off x="5562600" y="3276600"/>
            <a:ext cx="1295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Group</a:t>
            </a:r>
          </a:p>
        </p:txBody>
      </p:sp>
      <p:sp>
        <p:nvSpPr>
          <p:cNvPr id="21" name="Rectangle 20"/>
          <p:cNvSpPr>
            <a:spLocks noChangeArrowheads="1"/>
          </p:cNvSpPr>
          <p:nvPr/>
        </p:nvSpPr>
        <p:spPr bwMode="auto">
          <a:xfrm>
            <a:off x="1981200" y="4191000"/>
            <a:ext cx="1143000" cy="838200"/>
          </a:xfrm>
          <a:prstGeom prst="rect">
            <a:avLst/>
          </a:prstGeom>
          <a:solidFill>
            <a:srgbClr val="A8687A"/>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22" name="Rectangle 21"/>
          <p:cNvSpPr>
            <a:spLocks noChangeArrowheads="1"/>
          </p:cNvSpPr>
          <p:nvPr/>
        </p:nvSpPr>
        <p:spPr bwMode="auto">
          <a:xfrm>
            <a:off x="2362200" y="4419600"/>
            <a:ext cx="1143000" cy="838200"/>
          </a:xfrm>
          <a:prstGeom prst="rect">
            <a:avLst/>
          </a:prstGeom>
          <a:solidFill>
            <a:srgbClr val="A8687A"/>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23" name="Rectangle 22"/>
          <p:cNvSpPr>
            <a:spLocks noChangeArrowheads="1"/>
          </p:cNvSpPr>
          <p:nvPr/>
        </p:nvSpPr>
        <p:spPr bwMode="auto">
          <a:xfrm>
            <a:off x="5791200" y="4800600"/>
            <a:ext cx="1143000" cy="838200"/>
          </a:xfrm>
          <a:prstGeom prst="rect">
            <a:avLst/>
          </a:prstGeom>
          <a:solidFill>
            <a:srgbClr val="CCBD4C"/>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0259" name="TextBox 7"/>
          <p:cNvSpPr txBox="1">
            <a:spLocks noChangeArrowheads="1"/>
          </p:cNvSpPr>
          <p:nvPr/>
        </p:nvSpPr>
        <p:spPr bwMode="auto">
          <a:xfrm>
            <a:off x="5791200" y="4876800"/>
            <a:ext cx="1447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Resource Package</a:t>
            </a:r>
          </a:p>
        </p:txBody>
      </p:sp>
      <p:sp>
        <p:nvSpPr>
          <p:cNvPr id="20" name="Rectangle 19"/>
          <p:cNvSpPr>
            <a:spLocks noChangeArrowheads="1"/>
          </p:cNvSpPr>
          <p:nvPr/>
        </p:nvSpPr>
        <p:spPr bwMode="auto">
          <a:xfrm>
            <a:off x="2743200" y="4724400"/>
            <a:ext cx="1295400" cy="914400"/>
          </a:xfrm>
          <a:prstGeom prst="rect">
            <a:avLst/>
          </a:prstGeom>
          <a:solidFill>
            <a:srgbClr val="A8687A"/>
          </a:solidFill>
          <a:ln w="25400" algn="ctr">
            <a:solidFill>
              <a:srgbClr val="89A4A7"/>
            </a:solidFill>
            <a:miter lim="800000"/>
            <a:headEnd/>
            <a:tailEnd/>
          </a:ln>
        </p:spPr>
        <p:txBody>
          <a:bodyPr anchor="ctr"/>
          <a:lstStyle/>
          <a:p>
            <a:pPr algn="ctr">
              <a:defRPr/>
            </a:pPr>
            <a:endParaRPr lang="en-US">
              <a:solidFill>
                <a:schemeClr val="lt1"/>
              </a:solidFill>
              <a:latin typeface="+mn-lt"/>
            </a:endParaRPr>
          </a:p>
        </p:txBody>
      </p:sp>
      <p:sp>
        <p:nvSpPr>
          <p:cNvPr id="10261" name="TextBox 23"/>
          <p:cNvSpPr txBox="1">
            <a:spLocks noChangeArrowheads="1"/>
          </p:cNvSpPr>
          <p:nvPr/>
        </p:nvSpPr>
        <p:spPr bwMode="auto">
          <a:xfrm>
            <a:off x="2743200" y="4724400"/>
            <a:ext cx="12192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3.1 Local Holding Package</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267" name="Content Placeholder 3"/>
          <p:cNvSpPr>
            <a:spLocks noGrp="1"/>
          </p:cNvSpPr>
          <p:nvPr>
            <p:ph idx="4294967295"/>
          </p:nvPr>
        </p:nvSpPr>
        <p:spPr>
          <a:xfrm>
            <a:off x="914400" y="838200"/>
            <a:ext cx="7620000" cy="5470525"/>
          </a:xfrm>
          <a:solidFill>
            <a:srgbClr val="6FB996"/>
          </a:solidFill>
        </p:spPr>
        <p:txBody>
          <a:bodyPr/>
          <a:lstStyle/>
          <a:p>
            <a:pPr eaLnBrk="1" hangingPunct="1">
              <a:buFontTx/>
              <a:buNone/>
            </a:pPr>
            <a:endParaRPr lang="en-US" smtClean="0"/>
          </a:p>
        </p:txBody>
      </p:sp>
      <p:sp>
        <p:nvSpPr>
          <p:cNvPr id="11268" name="TextBox 8"/>
          <p:cNvSpPr txBox="1">
            <a:spLocks noChangeArrowheads="1"/>
          </p:cNvSpPr>
          <p:nvPr/>
        </p:nvSpPr>
        <p:spPr bwMode="auto">
          <a:xfrm>
            <a:off x="1752600" y="1143000"/>
            <a:ext cx="5562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dirty="0"/>
              <a:t>Citation / Series Statement</a:t>
            </a:r>
          </a:p>
          <a:p>
            <a:pPr algn="ctr" eaLnBrk="1" hangingPunct="1"/>
            <a:r>
              <a:rPr lang="en-US" dirty="0"/>
              <a:t>Abstract / Purpose</a:t>
            </a:r>
          </a:p>
          <a:p>
            <a:pPr algn="ctr" eaLnBrk="1" hangingPunct="1"/>
            <a:r>
              <a:rPr lang="en-US" dirty="0"/>
              <a:t>Coverage / Universe / Analysis Unit / Kind of Data</a:t>
            </a:r>
          </a:p>
          <a:p>
            <a:pPr algn="ctr" eaLnBrk="1" hangingPunct="1"/>
            <a:r>
              <a:rPr lang="en-US" dirty="0"/>
              <a:t>Other Material </a:t>
            </a:r>
            <a:r>
              <a:rPr lang="en-US" dirty="0" smtClean="0"/>
              <a:t>/ Quality Statement</a:t>
            </a:r>
            <a:endParaRPr lang="en-US" dirty="0"/>
          </a:p>
          <a:p>
            <a:pPr algn="ctr" eaLnBrk="1" hangingPunct="1"/>
            <a:r>
              <a:rPr lang="en-US" dirty="0"/>
              <a:t>Funding Information / Embargo</a:t>
            </a:r>
          </a:p>
        </p:txBody>
      </p:sp>
      <p:sp>
        <p:nvSpPr>
          <p:cNvPr id="12" name="Rectangle 11"/>
          <p:cNvSpPr/>
          <p:nvPr/>
        </p:nvSpPr>
        <p:spPr>
          <a:xfrm>
            <a:off x="1447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p:cNvSpPr/>
          <p:nvPr/>
        </p:nvSpPr>
        <p:spPr>
          <a:xfrm>
            <a:off x="2971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4724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Rectangle 20"/>
          <p:cNvSpPr/>
          <p:nvPr/>
        </p:nvSpPr>
        <p:spPr>
          <a:xfrm>
            <a:off x="1752600" y="41910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Rectangle 21"/>
          <p:cNvSpPr/>
          <p:nvPr/>
        </p:nvSpPr>
        <p:spPr>
          <a:xfrm>
            <a:off x="38100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Rectangle 22"/>
          <p:cNvSpPr/>
          <p:nvPr/>
        </p:nvSpPr>
        <p:spPr>
          <a:xfrm>
            <a:off x="57150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ectangle 23"/>
          <p:cNvSpPr/>
          <p:nvPr/>
        </p:nvSpPr>
        <p:spPr>
          <a:xfrm>
            <a:off x="1524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Rectangle 24"/>
          <p:cNvSpPr/>
          <p:nvPr/>
        </p:nvSpPr>
        <p:spPr>
          <a:xfrm>
            <a:off x="3048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ectangle 25"/>
          <p:cNvSpPr/>
          <p:nvPr/>
        </p:nvSpPr>
        <p:spPr>
          <a:xfrm>
            <a:off x="4800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ectangle 26"/>
          <p:cNvSpPr/>
          <p:nvPr/>
        </p:nvSpPr>
        <p:spPr>
          <a:xfrm>
            <a:off x="6248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ectangle 27"/>
          <p:cNvSpPr/>
          <p:nvPr/>
        </p:nvSpPr>
        <p:spPr>
          <a:xfrm>
            <a:off x="6324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ectangle 28"/>
          <p:cNvSpPr/>
          <p:nvPr/>
        </p:nvSpPr>
        <p:spPr>
          <a:xfrm>
            <a:off x="1600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p:cNvSpPr/>
          <p:nvPr/>
        </p:nvSpPr>
        <p:spPr>
          <a:xfrm>
            <a:off x="3124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ectangle 30"/>
          <p:cNvSpPr/>
          <p:nvPr/>
        </p:nvSpPr>
        <p:spPr>
          <a:xfrm>
            <a:off x="4876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ectangle 31"/>
          <p:cNvSpPr/>
          <p:nvPr/>
        </p:nvSpPr>
        <p:spPr>
          <a:xfrm>
            <a:off x="6400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ectangle 32"/>
          <p:cNvSpPr/>
          <p:nvPr/>
        </p:nvSpPr>
        <p:spPr>
          <a:xfrm>
            <a:off x="18288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ectangle 34"/>
          <p:cNvSpPr/>
          <p:nvPr/>
        </p:nvSpPr>
        <p:spPr>
          <a:xfrm>
            <a:off x="5791200" y="41910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 name="Rectangle 35"/>
          <p:cNvSpPr/>
          <p:nvPr/>
        </p:nvSpPr>
        <p:spPr>
          <a:xfrm>
            <a:off x="1905000" y="4343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 name="Rectangle 37"/>
          <p:cNvSpPr/>
          <p:nvPr/>
        </p:nvSpPr>
        <p:spPr>
          <a:xfrm>
            <a:off x="58674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288" name="TextBox 38"/>
          <p:cNvSpPr txBox="1">
            <a:spLocks noChangeArrowheads="1"/>
          </p:cNvSpPr>
          <p:nvPr/>
        </p:nvSpPr>
        <p:spPr bwMode="auto">
          <a:xfrm>
            <a:off x="1600200" y="3048000"/>
            <a:ext cx="1200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Conceptual </a:t>
            </a:r>
          </a:p>
          <a:p>
            <a:pPr eaLnBrk="1" hangingPunct="1"/>
            <a:r>
              <a:rPr lang="en-US" sz="1400"/>
              <a:t>Components</a:t>
            </a:r>
          </a:p>
        </p:txBody>
      </p:sp>
      <p:sp>
        <p:nvSpPr>
          <p:cNvPr id="11289" name="TextBox 40"/>
          <p:cNvSpPr txBox="1">
            <a:spLocks noChangeArrowheads="1"/>
          </p:cNvSpPr>
          <p:nvPr/>
        </p:nvSpPr>
        <p:spPr bwMode="auto">
          <a:xfrm>
            <a:off x="3124200" y="3048000"/>
            <a:ext cx="971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Data</a:t>
            </a:r>
          </a:p>
          <a:p>
            <a:pPr eaLnBrk="1" hangingPunct="1"/>
            <a:r>
              <a:rPr lang="en-US" sz="1400"/>
              <a:t>Collection</a:t>
            </a:r>
          </a:p>
        </p:txBody>
      </p:sp>
      <p:sp>
        <p:nvSpPr>
          <p:cNvPr id="11290" name="TextBox 41"/>
          <p:cNvSpPr txBox="1">
            <a:spLocks noChangeArrowheads="1"/>
          </p:cNvSpPr>
          <p:nvPr/>
        </p:nvSpPr>
        <p:spPr bwMode="auto">
          <a:xfrm>
            <a:off x="4876800" y="3048000"/>
            <a:ext cx="801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Logical</a:t>
            </a:r>
          </a:p>
          <a:p>
            <a:pPr eaLnBrk="1" hangingPunct="1"/>
            <a:r>
              <a:rPr lang="en-US" sz="1400"/>
              <a:t>Product</a:t>
            </a:r>
          </a:p>
        </p:txBody>
      </p:sp>
      <p:sp>
        <p:nvSpPr>
          <p:cNvPr id="11291" name="TextBox 42"/>
          <p:cNvSpPr txBox="1">
            <a:spLocks noChangeArrowheads="1"/>
          </p:cNvSpPr>
          <p:nvPr/>
        </p:nvSpPr>
        <p:spPr bwMode="auto">
          <a:xfrm>
            <a:off x="6400800" y="3048000"/>
            <a:ext cx="12763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Physical</a:t>
            </a:r>
          </a:p>
          <a:p>
            <a:pPr eaLnBrk="1" hangingPunct="1"/>
            <a:r>
              <a:rPr lang="en-US" sz="1400"/>
              <a:t>Data</a:t>
            </a:r>
          </a:p>
          <a:p>
            <a:pPr eaLnBrk="1" hangingPunct="1"/>
            <a:r>
              <a:rPr lang="en-US" sz="1400"/>
              <a:t>Product</a:t>
            </a:r>
          </a:p>
        </p:txBody>
      </p:sp>
      <p:sp>
        <p:nvSpPr>
          <p:cNvPr id="11292" name="TextBox 43"/>
          <p:cNvSpPr txBox="1">
            <a:spLocks noChangeArrowheads="1"/>
          </p:cNvSpPr>
          <p:nvPr/>
        </p:nvSpPr>
        <p:spPr bwMode="auto">
          <a:xfrm>
            <a:off x="1905000" y="4419600"/>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Physical </a:t>
            </a:r>
          </a:p>
          <a:p>
            <a:pPr eaLnBrk="1" hangingPunct="1"/>
            <a:r>
              <a:rPr lang="en-US" sz="1400"/>
              <a:t>Instance</a:t>
            </a:r>
          </a:p>
        </p:txBody>
      </p:sp>
      <p:sp>
        <p:nvSpPr>
          <p:cNvPr id="11293" name="TextBox 44"/>
          <p:cNvSpPr txBox="1">
            <a:spLocks noChangeArrowheads="1"/>
          </p:cNvSpPr>
          <p:nvPr/>
        </p:nvSpPr>
        <p:spPr bwMode="auto">
          <a:xfrm>
            <a:off x="3962400" y="4343400"/>
            <a:ext cx="782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Archive</a:t>
            </a:r>
          </a:p>
        </p:txBody>
      </p:sp>
      <p:sp>
        <p:nvSpPr>
          <p:cNvPr id="11294" name="TextBox 45"/>
          <p:cNvSpPr txBox="1">
            <a:spLocks noChangeArrowheads="1"/>
          </p:cNvSpPr>
          <p:nvPr/>
        </p:nvSpPr>
        <p:spPr bwMode="auto">
          <a:xfrm>
            <a:off x="5867400" y="4343400"/>
            <a:ext cx="692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DDI </a:t>
            </a:r>
          </a:p>
          <a:p>
            <a:pPr eaLnBrk="1" hangingPunct="1"/>
            <a:r>
              <a:rPr lang="en-US" sz="1400"/>
              <a:t>Profile</a:t>
            </a:r>
          </a:p>
        </p:txBody>
      </p:sp>
      <p:sp>
        <p:nvSpPr>
          <p:cNvPr id="11295" name="Text Box 32"/>
          <p:cNvSpPr txBox="1">
            <a:spLocks noChangeArrowheads="1"/>
          </p:cNvSpPr>
          <p:nvPr/>
        </p:nvSpPr>
        <p:spPr bwMode="auto">
          <a:xfrm>
            <a:off x="1050925" y="92075"/>
            <a:ext cx="2057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200"/>
              <a:t>Study Unit</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a:spLocks noChangeArrowheads="1"/>
          </p:cNvSpPr>
          <p:nvPr/>
        </p:nvSpPr>
        <p:spPr bwMode="auto">
          <a:xfrm>
            <a:off x="1219200" y="762000"/>
            <a:ext cx="6781800" cy="5105400"/>
          </a:xfrm>
          <a:prstGeom prst="rect">
            <a:avLst/>
          </a:prstGeom>
          <a:solidFill>
            <a:srgbClr val="6769B9"/>
          </a:solidFill>
          <a:ln w="25400" algn="ctr">
            <a:solidFill>
              <a:srgbClr val="89A4A7"/>
            </a:solidFill>
            <a:miter lim="800000"/>
            <a:headEnd/>
            <a:tailEnd/>
          </a:ln>
        </p:spPr>
        <p:txBody>
          <a:bodyPr anchor="ctr"/>
          <a:lstStyle/>
          <a:p>
            <a:pPr algn="ctr">
              <a:defRPr/>
            </a:pPr>
            <a:endParaRPr lang="en-US" dirty="0">
              <a:solidFill>
                <a:schemeClr val="lt1"/>
              </a:solidFill>
              <a:latin typeface="+mn-lt"/>
            </a:endParaRPr>
          </a:p>
        </p:txBody>
      </p:sp>
      <p:sp>
        <p:nvSpPr>
          <p:cNvPr id="12292" name="Content Placeholder 3"/>
          <p:cNvSpPr>
            <a:spLocks noGrp="1"/>
          </p:cNvSpPr>
          <p:nvPr>
            <p:ph idx="4294967295"/>
          </p:nvPr>
        </p:nvSpPr>
        <p:spPr>
          <a:xfrm>
            <a:off x="304800" y="152400"/>
            <a:ext cx="8229600" cy="5851525"/>
          </a:xfrm>
        </p:spPr>
        <p:txBody>
          <a:bodyPr/>
          <a:lstStyle/>
          <a:p>
            <a:pPr eaLnBrk="1" hangingPunct="1">
              <a:buFontTx/>
              <a:buNone/>
            </a:pPr>
            <a:r>
              <a:rPr lang="en-US" smtClean="0"/>
              <a:t>Group</a:t>
            </a:r>
          </a:p>
        </p:txBody>
      </p:sp>
      <p:sp>
        <p:nvSpPr>
          <p:cNvPr id="12" name="Rectangle 11"/>
          <p:cNvSpPr/>
          <p:nvPr/>
        </p:nvSpPr>
        <p:spPr>
          <a:xfrm>
            <a:off x="1447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p:cNvSpPr/>
          <p:nvPr/>
        </p:nvSpPr>
        <p:spPr>
          <a:xfrm>
            <a:off x="2971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4724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Rectangle 20"/>
          <p:cNvSpPr/>
          <p:nvPr/>
        </p:nvSpPr>
        <p:spPr>
          <a:xfrm>
            <a:off x="1371600" y="3962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Rectangle 21"/>
          <p:cNvSpPr/>
          <p:nvPr/>
        </p:nvSpPr>
        <p:spPr>
          <a:xfrm>
            <a:off x="4038600" y="5181600"/>
            <a:ext cx="1143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Rectangle 22"/>
          <p:cNvSpPr/>
          <p:nvPr/>
        </p:nvSpPr>
        <p:spPr>
          <a:xfrm>
            <a:off x="6248400" y="3962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ectangle 23"/>
          <p:cNvSpPr/>
          <p:nvPr/>
        </p:nvSpPr>
        <p:spPr>
          <a:xfrm>
            <a:off x="1524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Rectangle 24"/>
          <p:cNvSpPr/>
          <p:nvPr/>
        </p:nvSpPr>
        <p:spPr>
          <a:xfrm>
            <a:off x="3048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ectangle 25"/>
          <p:cNvSpPr/>
          <p:nvPr/>
        </p:nvSpPr>
        <p:spPr>
          <a:xfrm>
            <a:off x="4800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ectangle 26"/>
          <p:cNvSpPr/>
          <p:nvPr/>
        </p:nvSpPr>
        <p:spPr>
          <a:xfrm>
            <a:off x="6248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ectangle 27"/>
          <p:cNvSpPr/>
          <p:nvPr/>
        </p:nvSpPr>
        <p:spPr>
          <a:xfrm>
            <a:off x="6324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ectangle 28"/>
          <p:cNvSpPr/>
          <p:nvPr/>
        </p:nvSpPr>
        <p:spPr>
          <a:xfrm>
            <a:off x="1600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p:cNvSpPr/>
          <p:nvPr/>
        </p:nvSpPr>
        <p:spPr>
          <a:xfrm>
            <a:off x="3124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ectangle 30"/>
          <p:cNvSpPr/>
          <p:nvPr/>
        </p:nvSpPr>
        <p:spPr>
          <a:xfrm>
            <a:off x="4876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ectangle 31"/>
          <p:cNvSpPr/>
          <p:nvPr/>
        </p:nvSpPr>
        <p:spPr>
          <a:xfrm>
            <a:off x="6400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ectangle 32"/>
          <p:cNvSpPr/>
          <p:nvPr/>
        </p:nvSpPr>
        <p:spPr>
          <a:xfrm>
            <a:off x="14478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ectangle 34"/>
          <p:cNvSpPr/>
          <p:nvPr/>
        </p:nvSpPr>
        <p:spPr>
          <a:xfrm>
            <a:off x="63246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 name="Rectangle 35"/>
          <p:cNvSpPr/>
          <p:nvPr/>
        </p:nvSpPr>
        <p:spPr>
          <a:xfrm>
            <a:off x="16002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 name="Rectangle 37"/>
          <p:cNvSpPr/>
          <p:nvPr/>
        </p:nvSpPr>
        <p:spPr>
          <a:xfrm>
            <a:off x="64770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312" name="TextBox 38"/>
          <p:cNvSpPr txBox="1">
            <a:spLocks noChangeArrowheads="1"/>
          </p:cNvSpPr>
          <p:nvPr/>
        </p:nvSpPr>
        <p:spPr bwMode="auto">
          <a:xfrm>
            <a:off x="1600200" y="3048000"/>
            <a:ext cx="1200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Conceptual </a:t>
            </a:r>
          </a:p>
          <a:p>
            <a:pPr eaLnBrk="1" hangingPunct="1"/>
            <a:r>
              <a:rPr lang="en-US" sz="1400"/>
              <a:t>Components</a:t>
            </a:r>
          </a:p>
        </p:txBody>
      </p:sp>
      <p:sp>
        <p:nvSpPr>
          <p:cNvPr id="12313" name="TextBox 40"/>
          <p:cNvSpPr txBox="1">
            <a:spLocks noChangeArrowheads="1"/>
          </p:cNvSpPr>
          <p:nvPr/>
        </p:nvSpPr>
        <p:spPr bwMode="auto">
          <a:xfrm>
            <a:off x="3124200" y="3048000"/>
            <a:ext cx="971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Data</a:t>
            </a:r>
          </a:p>
          <a:p>
            <a:pPr eaLnBrk="1" hangingPunct="1"/>
            <a:r>
              <a:rPr lang="en-US" sz="1400"/>
              <a:t>Collection</a:t>
            </a:r>
          </a:p>
        </p:txBody>
      </p:sp>
      <p:sp>
        <p:nvSpPr>
          <p:cNvPr id="12314" name="TextBox 41"/>
          <p:cNvSpPr txBox="1">
            <a:spLocks noChangeArrowheads="1"/>
          </p:cNvSpPr>
          <p:nvPr/>
        </p:nvSpPr>
        <p:spPr bwMode="auto">
          <a:xfrm>
            <a:off x="4876800" y="3048000"/>
            <a:ext cx="801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Logical</a:t>
            </a:r>
          </a:p>
          <a:p>
            <a:pPr eaLnBrk="1" hangingPunct="1"/>
            <a:r>
              <a:rPr lang="en-US" sz="1400"/>
              <a:t>Product</a:t>
            </a:r>
          </a:p>
        </p:txBody>
      </p:sp>
      <p:sp>
        <p:nvSpPr>
          <p:cNvPr id="12315" name="TextBox 42"/>
          <p:cNvSpPr txBox="1">
            <a:spLocks noChangeArrowheads="1"/>
          </p:cNvSpPr>
          <p:nvPr/>
        </p:nvSpPr>
        <p:spPr bwMode="auto">
          <a:xfrm>
            <a:off x="6400800" y="3048000"/>
            <a:ext cx="12763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Physical</a:t>
            </a:r>
          </a:p>
          <a:p>
            <a:pPr eaLnBrk="1" hangingPunct="1"/>
            <a:r>
              <a:rPr lang="en-US" sz="1400"/>
              <a:t>Data</a:t>
            </a:r>
          </a:p>
          <a:p>
            <a:pPr eaLnBrk="1" hangingPunct="1"/>
            <a:r>
              <a:rPr lang="en-US" sz="1400"/>
              <a:t>Product</a:t>
            </a:r>
          </a:p>
        </p:txBody>
      </p:sp>
      <p:sp>
        <p:nvSpPr>
          <p:cNvPr id="12316" name="TextBox 43"/>
          <p:cNvSpPr txBox="1">
            <a:spLocks noChangeArrowheads="1"/>
          </p:cNvSpPr>
          <p:nvPr/>
        </p:nvSpPr>
        <p:spPr bwMode="auto">
          <a:xfrm>
            <a:off x="1600200" y="4343400"/>
            <a:ext cx="1050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Sub Group</a:t>
            </a:r>
          </a:p>
        </p:txBody>
      </p:sp>
      <p:sp>
        <p:nvSpPr>
          <p:cNvPr id="12317" name="TextBox 44"/>
          <p:cNvSpPr txBox="1">
            <a:spLocks noChangeArrowheads="1"/>
          </p:cNvSpPr>
          <p:nvPr/>
        </p:nvSpPr>
        <p:spPr bwMode="auto">
          <a:xfrm>
            <a:off x="4191000" y="5334000"/>
            <a:ext cx="782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Archive</a:t>
            </a:r>
          </a:p>
        </p:txBody>
      </p:sp>
      <p:sp>
        <p:nvSpPr>
          <p:cNvPr id="12318" name="TextBox 45"/>
          <p:cNvSpPr txBox="1">
            <a:spLocks noChangeArrowheads="1"/>
          </p:cNvSpPr>
          <p:nvPr/>
        </p:nvSpPr>
        <p:spPr bwMode="auto">
          <a:xfrm>
            <a:off x="6629400" y="4267200"/>
            <a:ext cx="692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DDI </a:t>
            </a:r>
          </a:p>
          <a:p>
            <a:pPr eaLnBrk="1" hangingPunct="1"/>
            <a:r>
              <a:rPr lang="en-US" sz="1400"/>
              <a:t>Profile</a:t>
            </a:r>
          </a:p>
        </p:txBody>
      </p:sp>
      <p:sp>
        <p:nvSpPr>
          <p:cNvPr id="12319" name="TextBox 33"/>
          <p:cNvSpPr txBox="1">
            <a:spLocks noChangeArrowheads="1"/>
          </p:cNvSpPr>
          <p:nvPr/>
        </p:nvSpPr>
        <p:spPr bwMode="auto">
          <a:xfrm>
            <a:off x="1905000" y="1143000"/>
            <a:ext cx="5562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dirty="0"/>
              <a:t>Citation / Series Statement</a:t>
            </a:r>
          </a:p>
          <a:p>
            <a:pPr algn="ctr" eaLnBrk="1" hangingPunct="1"/>
            <a:r>
              <a:rPr lang="en-US" dirty="0"/>
              <a:t>Abstract / Purpose</a:t>
            </a:r>
          </a:p>
          <a:p>
            <a:pPr algn="ctr" eaLnBrk="1" hangingPunct="1"/>
            <a:r>
              <a:rPr lang="en-US" dirty="0"/>
              <a:t>Coverage / Universe</a:t>
            </a:r>
          </a:p>
          <a:p>
            <a:pPr algn="ctr" eaLnBrk="1" hangingPunct="1"/>
            <a:r>
              <a:rPr lang="en-US" dirty="0"/>
              <a:t>Other Material / </a:t>
            </a:r>
            <a:r>
              <a:rPr lang="en-US" dirty="0" smtClean="0"/>
              <a:t>Quality Statement</a:t>
            </a:r>
            <a:endParaRPr lang="en-US" dirty="0"/>
          </a:p>
          <a:p>
            <a:pPr algn="ctr" eaLnBrk="1" hangingPunct="1"/>
            <a:r>
              <a:rPr lang="en-US" dirty="0"/>
              <a:t>Funding Information / Embargo</a:t>
            </a:r>
          </a:p>
        </p:txBody>
      </p:sp>
      <p:sp>
        <p:nvSpPr>
          <p:cNvPr id="37" name="Rectangle 36"/>
          <p:cNvSpPr/>
          <p:nvPr/>
        </p:nvSpPr>
        <p:spPr>
          <a:xfrm>
            <a:off x="2895600" y="3962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Rectangle 39"/>
          <p:cNvSpPr/>
          <p:nvPr/>
        </p:nvSpPr>
        <p:spPr>
          <a:xfrm>
            <a:off x="30480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7" name="Rectangle 46"/>
          <p:cNvSpPr/>
          <p:nvPr/>
        </p:nvSpPr>
        <p:spPr>
          <a:xfrm>
            <a:off x="32004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8" name="Rectangle 47"/>
          <p:cNvSpPr/>
          <p:nvPr/>
        </p:nvSpPr>
        <p:spPr>
          <a:xfrm>
            <a:off x="4648200" y="3962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9" name="Rectangle 48"/>
          <p:cNvSpPr/>
          <p:nvPr/>
        </p:nvSpPr>
        <p:spPr>
          <a:xfrm>
            <a:off x="48006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0" name="Rectangle 49"/>
          <p:cNvSpPr/>
          <p:nvPr/>
        </p:nvSpPr>
        <p:spPr>
          <a:xfrm>
            <a:off x="49530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326" name="TextBox 51"/>
          <p:cNvSpPr txBox="1">
            <a:spLocks noChangeArrowheads="1"/>
          </p:cNvSpPr>
          <p:nvPr/>
        </p:nvSpPr>
        <p:spPr bwMode="auto">
          <a:xfrm>
            <a:off x="3200400" y="4419600"/>
            <a:ext cx="10112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Study Unit</a:t>
            </a:r>
          </a:p>
        </p:txBody>
      </p:sp>
      <p:sp>
        <p:nvSpPr>
          <p:cNvPr id="12327" name="TextBox 52"/>
          <p:cNvSpPr txBox="1">
            <a:spLocks noChangeArrowheads="1"/>
          </p:cNvSpPr>
          <p:nvPr/>
        </p:nvSpPr>
        <p:spPr bwMode="auto">
          <a:xfrm>
            <a:off x="4953000" y="4419600"/>
            <a:ext cx="1149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t>Comparison</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a:spLocks noChangeArrowheads="1"/>
          </p:cNvSpPr>
          <p:nvPr/>
        </p:nvSpPr>
        <p:spPr bwMode="auto">
          <a:xfrm>
            <a:off x="1219200" y="762000"/>
            <a:ext cx="6781800" cy="5791200"/>
          </a:xfrm>
          <a:prstGeom prst="rect">
            <a:avLst/>
          </a:prstGeom>
          <a:solidFill>
            <a:srgbClr val="CCBD4C"/>
          </a:solidFill>
          <a:ln w="25400" algn="ctr">
            <a:solidFill>
              <a:srgbClr val="89A4A7"/>
            </a:solidFill>
            <a:miter lim="800000"/>
            <a:headEnd/>
            <a:tailEnd/>
          </a:ln>
        </p:spPr>
        <p:txBody>
          <a:bodyPr anchor="ctr"/>
          <a:lstStyle/>
          <a:p>
            <a:pPr algn="ctr">
              <a:defRPr/>
            </a:pPr>
            <a:endParaRPr lang="en-US" dirty="0">
              <a:solidFill>
                <a:schemeClr val="lt1"/>
              </a:solidFill>
              <a:latin typeface="+mn-lt"/>
            </a:endParaRPr>
          </a:p>
        </p:txBody>
      </p:sp>
      <p:sp>
        <p:nvSpPr>
          <p:cNvPr id="13316" name="Content Placeholder 3"/>
          <p:cNvSpPr>
            <a:spLocks noGrp="1"/>
          </p:cNvSpPr>
          <p:nvPr>
            <p:ph idx="4294967295"/>
          </p:nvPr>
        </p:nvSpPr>
        <p:spPr>
          <a:xfrm>
            <a:off x="609600" y="228600"/>
            <a:ext cx="8229600" cy="6324600"/>
          </a:xfrm>
        </p:spPr>
        <p:txBody>
          <a:bodyPr/>
          <a:lstStyle/>
          <a:p>
            <a:pPr eaLnBrk="1" hangingPunct="1">
              <a:buFontTx/>
              <a:buNone/>
            </a:pPr>
            <a:r>
              <a:rPr lang="en-US" dirty="0" smtClean="0"/>
              <a:t>Resource Package</a:t>
            </a:r>
          </a:p>
        </p:txBody>
      </p:sp>
      <p:sp>
        <p:nvSpPr>
          <p:cNvPr id="10" name="Rectangle 9"/>
          <p:cNvSpPr/>
          <p:nvPr/>
        </p:nvSpPr>
        <p:spPr>
          <a:xfrm>
            <a:off x="1524000" y="2438400"/>
            <a:ext cx="1981200" cy="297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4648200" y="2438400"/>
            <a:ext cx="2133600" cy="320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1676400" y="2590800"/>
            <a:ext cx="2057400" cy="320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p:cNvSpPr/>
          <p:nvPr/>
        </p:nvSpPr>
        <p:spPr>
          <a:xfrm>
            <a:off x="1828800" y="2743200"/>
            <a:ext cx="2209800" cy="3352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p:cNvSpPr/>
          <p:nvPr/>
        </p:nvSpPr>
        <p:spPr>
          <a:xfrm>
            <a:off x="4800600" y="2590800"/>
            <a:ext cx="2133600" cy="3429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4953000" y="2743200"/>
            <a:ext cx="2209800" cy="3657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323" name="TextBox 5"/>
          <p:cNvSpPr txBox="1">
            <a:spLocks noChangeArrowheads="1"/>
          </p:cNvSpPr>
          <p:nvPr/>
        </p:nvSpPr>
        <p:spPr bwMode="auto">
          <a:xfrm>
            <a:off x="1905000" y="2895600"/>
            <a:ext cx="18288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Any module </a:t>
            </a:r>
          </a:p>
          <a:p>
            <a:pPr eaLnBrk="1" hangingPunct="1"/>
            <a:r>
              <a:rPr lang="en-US" b="1"/>
              <a:t>EXCEPT</a:t>
            </a:r>
          </a:p>
          <a:p>
            <a:pPr eaLnBrk="1" hangingPunct="1"/>
            <a:r>
              <a:rPr lang="en-US"/>
              <a:t>Study Unit, </a:t>
            </a:r>
          </a:p>
          <a:p>
            <a:pPr eaLnBrk="1" hangingPunct="1"/>
            <a:r>
              <a:rPr lang="en-US"/>
              <a:t>Group</a:t>
            </a:r>
          </a:p>
          <a:p>
            <a:pPr eaLnBrk="1" hangingPunct="1"/>
            <a:r>
              <a:rPr lang="en-US"/>
              <a:t>Or</a:t>
            </a:r>
          </a:p>
          <a:p>
            <a:pPr eaLnBrk="1" hangingPunct="1"/>
            <a:r>
              <a:rPr lang="en-US"/>
              <a:t>Local Holding Package</a:t>
            </a:r>
          </a:p>
        </p:txBody>
      </p:sp>
      <p:sp>
        <p:nvSpPr>
          <p:cNvPr id="13324" name="TextBox 6"/>
          <p:cNvSpPr txBox="1">
            <a:spLocks noChangeArrowheads="1"/>
          </p:cNvSpPr>
          <p:nvPr/>
        </p:nvSpPr>
        <p:spPr bwMode="auto">
          <a:xfrm>
            <a:off x="4953000" y="2743200"/>
            <a:ext cx="21336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dirty="0"/>
              <a:t>Any Scheme:</a:t>
            </a:r>
          </a:p>
          <a:p>
            <a:pPr eaLnBrk="1" hangingPunct="1"/>
            <a:r>
              <a:rPr lang="en-US" sz="1200" dirty="0"/>
              <a:t>Organization</a:t>
            </a:r>
          </a:p>
          <a:p>
            <a:pPr eaLnBrk="1" hangingPunct="1"/>
            <a:r>
              <a:rPr lang="en-US" sz="1200" dirty="0"/>
              <a:t>Concept</a:t>
            </a:r>
          </a:p>
          <a:p>
            <a:pPr eaLnBrk="1" hangingPunct="1"/>
            <a:r>
              <a:rPr lang="en-US" sz="1200" dirty="0"/>
              <a:t>Universe</a:t>
            </a:r>
          </a:p>
          <a:p>
            <a:pPr eaLnBrk="1" hangingPunct="1"/>
            <a:r>
              <a:rPr lang="en-US" sz="1200" dirty="0"/>
              <a:t>Geographic Structure Geographic Location Question</a:t>
            </a:r>
          </a:p>
          <a:p>
            <a:pPr eaLnBrk="1" hangingPunct="1"/>
            <a:r>
              <a:rPr lang="en-US" sz="1200" dirty="0"/>
              <a:t>Interviewer Instruction</a:t>
            </a:r>
          </a:p>
          <a:p>
            <a:pPr eaLnBrk="1" hangingPunct="1"/>
            <a:r>
              <a:rPr lang="en-US" sz="1200" dirty="0"/>
              <a:t>Control Construct </a:t>
            </a:r>
          </a:p>
          <a:p>
            <a:pPr eaLnBrk="1" hangingPunct="1"/>
            <a:r>
              <a:rPr lang="en-US" sz="1200" dirty="0"/>
              <a:t>Category</a:t>
            </a:r>
          </a:p>
          <a:p>
            <a:pPr eaLnBrk="1" hangingPunct="1"/>
            <a:r>
              <a:rPr lang="en-US" sz="1200" dirty="0"/>
              <a:t>Code</a:t>
            </a:r>
          </a:p>
          <a:p>
            <a:pPr eaLnBrk="1" hangingPunct="1"/>
            <a:r>
              <a:rPr lang="en-US" sz="1200" dirty="0"/>
              <a:t>Variable</a:t>
            </a:r>
          </a:p>
          <a:p>
            <a:pPr eaLnBrk="1" hangingPunct="1"/>
            <a:r>
              <a:rPr lang="en-US" sz="1200" dirty="0"/>
              <a:t>NCube</a:t>
            </a:r>
          </a:p>
          <a:p>
            <a:pPr eaLnBrk="1" hangingPunct="1"/>
            <a:r>
              <a:rPr lang="en-US" sz="1200" dirty="0"/>
              <a:t>Physical Structure</a:t>
            </a:r>
          </a:p>
          <a:p>
            <a:pPr eaLnBrk="1" hangingPunct="1"/>
            <a:r>
              <a:rPr lang="en-US" sz="1200" dirty="0"/>
              <a:t>Record Layout </a:t>
            </a:r>
            <a:endParaRPr lang="en-US" sz="1200" dirty="0" smtClean="0"/>
          </a:p>
          <a:p>
            <a:pPr eaLnBrk="1" hangingPunct="1"/>
            <a:r>
              <a:rPr lang="en-US" sz="1200" dirty="0" smtClean="0"/>
              <a:t>Quality Statement </a:t>
            </a:r>
          </a:p>
          <a:p>
            <a:pPr eaLnBrk="1" hangingPunct="1"/>
            <a:r>
              <a:rPr lang="en-US" sz="1200" dirty="0" smtClean="0"/>
              <a:t>Processing Instruction</a:t>
            </a:r>
          </a:p>
          <a:p>
            <a:pPr eaLnBrk="1" hangingPunct="1"/>
            <a:r>
              <a:rPr lang="en-US" sz="1200" dirty="0" smtClean="0"/>
              <a:t>Processing Event</a:t>
            </a:r>
          </a:p>
          <a:p>
            <a:pPr eaLnBrk="1" hangingPunct="1"/>
            <a:r>
              <a:rPr lang="en-US" sz="1200" dirty="0" smtClean="0"/>
              <a:t>Managed Representations</a:t>
            </a:r>
            <a:endParaRPr lang="en-US" sz="1200" dirty="0"/>
          </a:p>
        </p:txBody>
      </p:sp>
      <p:sp>
        <p:nvSpPr>
          <p:cNvPr id="13325" name="TextBox 20"/>
          <p:cNvSpPr txBox="1">
            <a:spLocks noChangeArrowheads="1"/>
          </p:cNvSpPr>
          <p:nvPr/>
        </p:nvSpPr>
        <p:spPr bwMode="auto">
          <a:xfrm>
            <a:off x="1752600" y="990600"/>
            <a:ext cx="55626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dirty="0"/>
              <a:t>Citation / Series Statement</a:t>
            </a:r>
          </a:p>
          <a:p>
            <a:pPr algn="ctr" eaLnBrk="1" hangingPunct="1"/>
            <a:r>
              <a:rPr lang="en-US" dirty="0"/>
              <a:t>Abstract / Purpose</a:t>
            </a:r>
          </a:p>
          <a:p>
            <a:pPr algn="ctr" eaLnBrk="1" hangingPunct="1"/>
            <a:r>
              <a:rPr lang="en-US" dirty="0"/>
              <a:t>Coverage / Universe</a:t>
            </a:r>
          </a:p>
          <a:p>
            <a:pPr algn="ctr" eaLnBrk="1" hangingPunct="1"/>
            <a:r>
              <a:rPr lang="en-US" dirty="0"/>
              <a:t>Other Material / </a:t>
            </a:r>
            <a:r>
              <a:rPr lang="en-US" dirty="0" smtClean="0"/>
              <a:t>Quality Statement</a:t>
            </a:r>
            <a:endParaRPr lang="en-US" dirty="0"/>
          </a:p>
          <a:p>
            <a:pPr algn="ctr" eaLnBrk="1" hangingPunct="1"/>
            <a:r>
              <a:rPr lang="en-US" dirty="0"/>
              <a:t>Funding Information / Embargo</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a:spLocks noChangeArrowheads="1"/>
          </p:cNvSpPr>
          <p:nvPr/>
        </p:nvSpPr>
        <p:spPr bwMode="auto">
          <a:xfrm>
            <a:off x="1219200" y="762000"/>
            <a:ext cx="6781800" cy="4572000"/>
          </a:xfrm>
          <a:prstGeom prst="rect">
            <a:avLst/>
          </a:prstGeom>
          <a:solidFill>
            <a:srgbClr val="A8687A"/>
          </a:solidFill>
          <a:ln w="25400" algn="ctr">
            <a:solidFill>
              <a:srgbClr val="89A4A7"/>
            </a:solidFill>
            <a:miter lim="800000"/>
            <a:headEnd/>
            <a:tailEnd/>
          </a:ln>
        </p:spPr>
        <p:txBody>
          <a:bodyPr anchor="ctr"/>
          <a:lstStyle/>
          <a:p>
            <a:pPr algn="ctr">
              <a:defRPr/>
            </a:pPr>
            <a:endParaRPr lang="en-US" dirty="0">
              <a:solidFill>
                <a:schemeClr val="lt1"/>
              </a:solidFill>
              <a:latin typeface="+mn-lt"/>
            </a:endParaRPr>
          </a:p>
        </p:txBody>
      </p:sp>
      <p:sp>
        <p:nvSpPr>
          <p:cNvPr id="14340" name="Content Placeholder 3"/>
          <p:cNvSpPr>
            <a:spLocks noGrp="1"/>
          </p:cNvSpPr>
          <p:nvPr>
            <p:ph idx="4294967295"/>
          </p:nvPr>
        </p:nvSpPr>
        <p:spPr>
          <a:xfrm>
            <a:off x="533400" y="152400"/>
            <a:ext cx="8229600" cy="5851525"/>
          </a:xfrm>
        </p:spPr>
        <p:txBody>
          <a:bodyPr/>
          <a:lstStyle/>
          <a:p>
            <a:pPr eaLnBrk="1" hangingPunct="1">
              <a:buFontTx/>
              <a:buNone/>
            </a:pPr>
            <a:r>
              <a:rPr lang="en-US" dirty="0" smtClean="0"/>
              <a:t>Local Holding Package (3.1 and later)</a:t>
            </a:r>
          </a:p>
        </p:txBody>
      </p:sp>
      <p:sp>
        <p:nvSpPr>
          <p:cNvPr id="16" name="Rectangle 15"/>
          <p:cNvSpPr/>
          <p:nvPr/>
        </p:nvSpPr>
        <p:spPr>
          <a:xfrm>
            <a:off x="1752600" y="1295400"/>
            <a:ext cx="2133600" cy="3276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4953000" y="1371600"/>
            <a:ext cx="2209800" cy="289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343" name="TextBox 5"/>
          <p:cNvSpPr txBox="1">
            <a:spLocks noChangeArrowheads="1"/>
          </p:cNvSpPr>
          <p:nvPr/>
        </p:nvSpPr>
        <p:spPr bwMode="auto">
          <a:xfrm>
            <a:off x="1828800" y="1371600"/>
            <a:ext cx="19812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dirty="0"/>
              <a:t>Depository Study Unit </a:t>
            </a:r>
            <a:r>
              <a:rPr lang="en-US" b="1" dirty="0" smtClean="0"/>
              <a:t>, </a:t>
            </a:r>
            <a:r>
              <a:rPr lang="en-US" b="1" dirty="0"/>
              <a:t>Group </a:t>
            </a:r>
            <a:r>
              <a:rPr lang="en-US" b="1" dirty="0" smtClean="0"/>
              <a:t> Or Resource Package Reference</a:t>
            </a:r>
            <a:r>
              <a:rPr lang="en-US" b="1" dirty="0"/>
              <a:t>:</a:t>
            </a:r>
          </a:p>
          <a:p>
            <a:pPr eaLnBrk="1" hangingPunct="1"/>
            <a:r>
              <a:rPr lang="en-US" dirty="0"/>
              <a:t>[A reference to the stored version of the deposited study unit.]</a:t>
            </a:r>
          </a:p>
          <a:p>
            <a:pPr eaLnBrk="1" hangingPunct="1"/>
            <a:endParaRPr lang="en-US" dirty="0"/>
          </a:p>
        </p:txBody>
      </p:sp>
      <p:sp>
        <p:nvSpPr>
          <p:cNvPr id="14344" name="TextBox 6"/>
          <p:cNvSpPr txBox="1">
            <a:spLocks noChangeArrowheads="1"/>
          </p:cNvSpPr>
          <p:nvPr/>
        </p:nvSpPr>
        <p:spPr bwMode="auto">
          <a:xfrm>
            <a:off x="4953000" y="1447800"/>
            <a:ext cx="2133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dirty="0"/>
              <a:t>Local Added Content:</a:t>
            </a:r>
          </a:p>
          <a:p>
            <a:pPr eaLnBrk="1" hangingPunct="1"/>
            <a:r>
              <a:rPr lang="en-US" dirty="0" smtClean="0"/>
              <a:t>[Study Unit, Group, or Resource Package content, plus a map relating new content to deposited content]</a:t>
            </a:r>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Capturing processes</a:t>
            </a:r>
            <a:endParaRPr lang="en-US" dirty="0"/>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302568035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Focusing on Processes</a:t>
            </a:r>
            <a:endParaRPr lang="en-US" dirty="0"/>
          </a:p>
        </p:txBody>
      </p:sp>
      <p:sp>
        <p:nvSpPr>
          <p:cNvPr id="5" name="Content Placeholder 4"/>
          <p:cNvSpPr>
            <a:spLocks noGrp="1"/>
          </p:cNvSpPr>
          <p:nvPr>
            <p:ph idx="1"/>
          </p:nvPr>
        </p:nvSpPr>
        <p:spPr/>
        <p:txBody>
          <a:bodyPr>
            <a:normAutofit fontScale="92500" lnSpcReduction="20000"/>
          </a:bodyPr>
          <a:lstStyle/>
          <a:p>
            <a:r>
              <a:rPr lang="en-US" dirty="0" smtClean="0"/>
              <a:t>Frequently DDI is first used to document a specific process</a:t>
            </a:r>
          </a:p>
          <a:p>
            <a:r>
              <a:rPr lang="en-US" dirty="0" smtClean="0"/>
              <a:t>A single process may be all that is under a users control</a:t>
            </a:r>
          </a:p>
          <a:p>
            <a:r>
              <a:rPr lang="en-US" dirty="0" smtClean="0"/>
              <a:t>Processes are often repeated and benefit most from metadata reuse</a:t>
            </a:r>
          </a:p>
          <a:p>
            <a:r>
              <a:rPr lang="en-US" dirty="0" smtClean="0"/>
              <a:t>Content generated by capturing a process can be used to “seed” the use of DDI both upstream and downstream from the initial area of use</a:t>
            </a:r>
          </a:p>
          <a:p>
            <a:r>
              <a:rPr lang="en-US" dirty="0" smtClean="0"/>
              <a:t>You have to start somewhere</a:t>
            </a:r>
          </a:p>
          <a:p>
            <a:pPr>
              <a:buNone/>
            </a:pP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Creating a Questionnaire</a:t>
            </a:r>
            <a:endParaRPr lang="en-US" dirty="0"/>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302568035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Questions</a:t>
            </a:r>
            <a:endParaRPr lang="en-US" dirty="0"/>
          </a:p>
        </p:txBody>
      </p:sp>
      <p:sp>
        <p:nvSpPr>
          <p:cNvPr id="5" name="Content Placeholder 4"/>
          <p:cNvSpPr>
            <a:spLocks noGrp="1"/>
          </p:cNvSpPr>
          <p:nvPr>
            <p:ph idx="1"/>
          </p:nvPr>
        </p:nvSpPr>
        <p:spPr/>
        <p:txBody>
          <a:bodyPr>
            <a:normAutofit fontScale="85000" lnSpcReduction="10000"/>
          </a:bodyPr>
          <a:lstStyle/>
          <a:p>
            <a:r>
              <a:rPr lang="en-US" dirty="0" smtClean="0"/>
              <a:t>DDI separates the questions themselves from the </a:t>
            </a:r>
            <a:r>
              <a:rPr lang="en-US" i="1" dirty="0" smtClean="0"/>
              <a:t>use</a:t>
            </a:r>
            <a:r>
              <a:rPr lang="en-US" dirty="0" smtClean="0"/>
              <a:t> of the questions in the questionnaire flow</a:t>
            </a:r>
          </a:p>
          <a:p>
            <a:pPr lvl="1"/>
            <a:r>
              <a:rPr lang="en-US" dirty="0" smtClean="0"/>
              <a:t>This may seem odd, but there is a good reason for it!</a:t>
            </a:r>
          </a:p>
          <a:p>
            <a:r>
              <a:rPr lang="en-US" dirty="0" smtClean="0"/>
              <a:t>Questions can be reused!</a:t>
            </a:r>
          </a:p>
          <a:p>
            <a:r>
              <a:rPr lang="en-US" dirty="0" smtClean="0"/>
              <a:t>In DDI, the question itself is called a Question Item</a:t>
            </a:r>
          </a:p>
          <a:p>
            <a:pPr lvl="1"/>
            <a:r>
              <a:rPr lang="en-US" dirty="0" smtClean="0"/>
              <a:t>Question Items are held in </a:t>
            </a:r>
            <a:r>
              <a:rPr lang="en-US" dirty="0" err="1" smtClean="0"/>
              <a:t>QuestionScheme</a:t>
            </a:r>
            <a:endParaRPr lang="en-US" dirty="0" smtClean="0"/>
          </a:p>
          <a:p>
            <a:pPr lvl="1"/>
            <a:r>
              <a:rPr lang="en-US" dirty="0" smtClean="0"/>
              <a:t>The </a:t>
            </a:r>
            <a:r>
              <a:rPr lang="en-US" dirty="0" err="1" smtClean="0"/>
              <a:t>QuestionScheme</a:t>
            </a:r>
            <a:r>
              <a:rPr lang="en-US" dirty="0" smtClean="0"/>
              <a:t> appears in the Data Collection module, inside of a Study Unit</a:t>
            </a:r>
          </a:p>
          <a:p>
            <a:r>
              <a:rPr lang="en-US" dirty="0" smtClean="0"/>
              <a:t>Complex question structures include </a:t>
            </a:r>
            <a:r>
              <a:rPr lang="en-US" dirty="0" err="1" smtClean="0"/>
              <a:t>MultipleQuestionItem</a:t>
            </a:r>
            <a:r>
              <a:rPr lang="en-US" dirty="0" smtClean="0"/>
              <a:t> in DDI 3.1, and </a:t>
            </a:r>
            <a:r>
              <a:rPr lang="en-US" dirty="0" err="1" smtClean="0"/>
              <a:t>QuestionGrid</a:t>
            </a:r>
            <a:r>
              <a:rPr lang="en-US" dirty="0" smtClean="0"/>
              <a:t> and </a:t>
            </a:r>
            <a:r>
              <a:rPr lang="en-US" dirty="0" err="1" smtClean="0"/>
              <a:t>QuestionBlock</a:t>
            </a:r>
            <a:r>
              <a:rPr lang="en-US" dirty="0" smtClean="0"/>
              <a:t> in DDI 3.2</a:t>
            </a:r>
          </a:p>
        </p:txBody>
      </p:sp>
    </p:spTree>
    <p:extLst>
      <p:ext uri="{BB962C8B-B14F-4D97-AF65-F5344CB8AC3E}">
        <p14:creationId xmlns:p14="http://schemas.microsoft.com/office/powerpoint/2010/main" val="389772307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pPr eaLnBrk="1" hangingPunct="1"/>
            <a:r>
              <a:rPr lang="en-US" smtClean="0"/>
              <a:t>Questionnaires</a:t>
            </a:r>
          </a:p>
        </p:txBody>
      </p:sp>
      <p:sp>
        <p:nvSpPr>
          <p:cNvPr id="19459" name="Rectangle 3"/>
          <p:cNvSpPr>
            <a:spLocks noGrp="1" noChangeArrowheads="1"/>
          </p:cNvSpPr>
          <p:nvPr>
            <p:ph type="body" idx="4294967295"/>
          </p:nvPr>
        </p:nvSpPr>
        <p:spPr>
          <a:xfrm>
            <a:off x="457200" y="1295400"/>
            <a:ext cx="8229600" cy="4830763"/>
          </a:xfrm>
        </p:spPr>
        <p:txBody>
          <a:bodyPr>
            <a:normAutofit fontScale="77500" lnSpcReduction="20000"/>
          </a:bodyPr>
          <a:lstStyle/>
          <a:p>
            <a:pPr eaLnBrk="1" hangingPunct="1"/>
            <a:r>
              <a:rPr lang="en-US" dirty="0" smtClean="0"/>
              <a:t>Questions</a:t>
            </a:r>
          </a:p>
          <a:p>
            <a:pPr lvl="1" eaLnBrk="1" hangingPunct="1"/>
            <a:r>
              <a:rPr lang="en-US" dirty="0" smtClean="0"/>
              <a:t>Question Text</a:t>
            </a:r>
          </a:p>
          <a:p>
            <a:pPr lvl="1" eaLnBrk="1" hangingPunct="1"/>
            <a:r>
              <a:rPr lang="en-US" dirty="0" smtClean="0"/>
              <a:t>Response Domains</a:t>
            </a:r>
          </a:p>
          <a:p>
            <a:pPr lvl="1" eaLnBrk="1" hangingPunct="1"/>
            <a:r>
              <a:rPr lang="en-US" dirty="0" smtClean="0"/>
              <a:t>Relate to a Concept</a:t>
            </a:r>
          </a:p>
          <a:p>
            <a:pPr eaLnBrk="1" hangingPunct="1"/>
            <a:r>
              <a:rPr lang="en-US" dirty="0" smtClean="0"/>
              <a:t>Statements</a:t>
            </a:r>
          </a:p>
          <a:p>
            <a:pPr lvl="1" eaLnBrk="1" hangingPunct="1"/>
            <a:r>
              <a:rPr lang="en-US" dirty="0" smtClean="0"/>
              <a:t>Pre- Post-question text</a:t>
            </a:r>
          </a:p>
          <a:p>
            <a:pPr eaLnBrk="1" hangingPunct="1"/>
            <a:r>
              <a:rPr lang="en-US" dirty="0" smtClean="0"/>
              <a:t>Instructions</a:t>
            </a:r>
          </a:p>
          <a:p>
            <a:pPr lvl="1" eaLnBrk="1" hangingPunct="1"/>
            <a:r>
              <a:rPr lang="en-US" dirty="0" smtClean="0"/>
              <a:t>Routing information</a:t>
            </a:r>
          </a:p>
          <a:p>
            <a:pPr lvl="1" eaLnBrk="1" hangingPunct="1"/>
            <a:r>
              <a:rPr lang="en-US" dirty="0" smtClean="0"/>
              <a:t>Explanatory materials</a:t>
            </a:r>
          </a:p>
          <a:p>
            <a:pPr eaLnBrk="1" hangingPunct="1"/>
            <a:r>
              <a:rPr lang="en-US" dirty="0" smtClean="0"/>
              <a:t>Question Flow</a:t>
            </a:r>
          </a:p>
          <a:p>
            <a:pPr lvl="1"/>
            <a:r>
              <a:rPr lang="en-US" dirty="0" smtClean="0"/>
              <a:t>Conditional logic</a:t>
            </a:r>
          </a:p>
          <a:p>
            <a:pPr lvl="1"/>
            <a:r>
              <a:rPr lang="en-US" dirty="0" smtClean="0"/>
              <a:t>Question acquires a Universe</a:t>
            </a:r>
          </a:p>
          <a:p>
            <a:r>
              <a:rPr lang="en-US" dirty="0" smtClean="0"/>
              <a:t>Instrument</a:t>
            </a:r>
          </a:p>
          <a:p>
            <a:pPr eaLnBrk="1" hangingPunct="1"/>
            <a:endParaRPr lang="en-US" dirty="0" smtClean="0"/>
          </a:p>
        </p:txBody>
      </p:sp>
      <p:sp>
        <p:nvSpPr>
          <p:cNvPr id="19460" name="Date Placeholder 3"/>
          <p:cNvSpPr>
            <a:spLocks noGrp="1"/>
          </p:cNvSpPr>
          <p:nvPr>
            <p:ph type="dt" sz="quarter" idx="10"/>
          </p:nvPr>
        </p:nvSpPr>
        <p:spPr>
          <a:noFill/>
        </p:spPr>
        <p:txBody>
          <a:bodyPr/>
          <a:lstStyle/>
          <a:p>
            <a:r>
              <a:rPr lang="en-US" smtClean="0"/>
              <a:t>S11</a:t>
            </a:r>
          </a:p>
        </p:txBody>
      </p:sp>
      <p:sp>
        <p:nvSpPr>
          <p:cNvPr id="19461" name="Slide Number Placeholder 4"/>
          <p:cNvSpPr>
            <a:spLocks noGrp="1"/>
          </p:cNvSpPr>
          <p:nvPr>
            <p:ph type="sldNum" sz="quarter" idx="12"/>
          </p:nvPr>
        </p:nvSpPr>
        <p:spPr>
          <a:noFill/>
        </p:spPr>
        <p:txBody>
          <a:bodyPr/>
          <a:lstStyle/>
          <a:p>
            <a:fld id="{409CD63E-4162-46F8-BB07-9638010592A1}" type="slidenum">
              <a:rPr lang="en-US" smtClean="0"/>
              <a:pPr/>
              <a:t>70</a:t>
            </a:fld>
            <a:endParaRPr lang="en-US" smtClean="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Scheme Example</a:t>
            </a:r>
            <a:endParaRPr lang="en-US" dirty="0"/>
          </a:p>
        </p:txBody>
      </p:sp>
      <p:sp>
        <p:nvSpPr>
          <p:cNvPr id="3" name="Content Placeholder 2"/>
          <p:cNvSpPr>
            <a:spLocks noGrp="1"/>
          </p:cNvSpPr>
          <p:nvPr>
            <p:ph idx="1"/>
          </p:nvPr>
        </p:nvSpPr>
        <p:spPr/>
        <p:txBody>
          <a:bodyPr/>
          <a:lstStyle/>
          <a:p>
            <a:pPr marL="0" indent="0">
              <a:buNone/>
            </a:pPr>
            <a:r>
              <a:rPr lang="en-US" dirty="0" smtClean="0"/>
              <a:t>Look at the following questions:</a:t>
            </a:r>
          </a:p>
          <a:p>
            <a:pPr marL="0" indent="0">
              <a:buNone/>
            </a:pPr>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2286001"/>
            <a:ext cx="7010400" cy="4114800"/>
          </a:xfrm>
          <a:prstGeom prst="rect">
            <a:avLst/>
          </a:prstGeom>
          <a:noFill/>
          <a:ln>
            <a:noFill/>
          </a:ln>
        </p:spPr>
      </p:pic>
    </p:spTree>
    <p:extLst>
      <p:ext uri="{BB962C8B-B14F-4D97-AF65-F5344CB8AC3E}">
        <p14:creationId xmlns:p14="http://schemas.microsoft.com/office/powerpoint/2010/main" val="301652590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Item XML</a:t>
            </a:r>
            <a:endParaRPr lang="en-US" dirty="0"/>
          </a:p>
        </p:txBody>
      </p:sp>
      <p:sp>
        <p:nvSpPr>
          <p:cNvPr id="3" name="Content Placeholder 2"/>
          <p:cNvSpPr>
            <a:spLocks noGrp="1"/>
          </p:cNvSpPr>
          <p:nvPr>
            <p:ph idx="1"/>
          </p:nvPr>
        </p:nvSpPr>
        <p:spPr/>
        <p:txBody>
          <a:bodyPr>
            <a:normAutofit fontScale="55000" lnSpcReduction="20000"/>
          </a:bodyPr>
          <a:lstStyle/>
          <a:p>
            <a:pPr marL="0" indent="0" defTabSz="360363">
              <a:buNone/>
            </a:pP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QuestionItem</a:t>
            </a:r>
            <a:r>
              <a:rPr lang="en-US" dirty="0">
                <a:solidFill>
                  <a:srgbClr val="FF0000"/>
                </a:solidFill>
                <a:highlight>
                  <a:srgbClr val="FFFFFF"/>
                </a:highlight>
                <a:latin typeface="Lucida Console" panose="020B0609040504020204" pitchFamily="49" charset="0"/>
              </a:rPr>
              <a:t> id</a:t>
            </a:r>
            <a:r>
              <a:rPr lang="en-US" dirty="0">
                <a:solidFill>
                  <a:srgbClr val="0000FF"/>
                </a:solidFill>
                <a:highlight>
                  <a:srgbClr val="FFFFFF"/>
                </a:highlight>
                <a:latin typeface="Lucida Console" panose="020B0609040504020204" pitchFamily="49" charset="0"/>
              </a:rPr>
              <a:t>="</a:t>
            </a:r>
            <a:r>
              <a:rPr lang="en-US" dirty="0">
                <a:solidFill>
                  <a:srgbClr val="000000"/>
                </a:solidFill>
                <a:highlight>
                  <a:srgbClr val="FFFFFF"/>
                </a:highlight>
                <a:latin typeface="Lucida Console" panose="020B0609040504020204" pitchFamily="49" charset="0"/>
              </a:rPr>
              <a:t>B2</a:t>
            </a:r>
            <a:r>
              <a:rPr lang="en-US" dirty="0">
                <a:solidFill>
                  <a:srgbClr val="0000FF"/>
                </a:solidFill>
                <a:highlight>
                  <a:srgbClr val="FFFFFF"/>
                </a:highlight>
                <a:latin typeface="Lucida Console" panose="020B0609040504020204" pitchFamily="49" charset="0"/>
              </a:rPr>
              <a:t>"</a:t>
            </a:r>
            <a:r>
              <a:rPr lang="en-US" dirty="0">
                <a:solidFill>
                  <a:srgbClr val="FF0000"/>
                </a:solidFill>
                <a:highlight>
                  <a:srgbClr val="FFFFFF"/>
                </a:highlight>
                <a:latin typeface="Lucida Console" panose="020B0609040504020204" pitchFamily="49" charset="0"/>
              </a:rPr>
              <a:t> version</a:t>
            </a:r>
            <a:r>
              <a:rPr lang="en-US" dirty="0">
                <a:solidFill>
                  <a:srgbClr val="0000FF"/>
                </a:solidFill>
                <a:highlight>
                  <a:srgbClr val="FFFFFF"/>
                </a:highlight>
                <a:latin typeface="Lucida Console" panose="020B0609040504020204" pitchFamily="49" charset="0"/>
              </a:rPr>
              <a:t>="</a:t>
            </a:r>
            <a:r>
              <a:rPr lang="en-US" dirty="0">
                <a:solidFill>
                  <a:srgbClr val="000000"/>
                </a:solidFill>
                <a:highlight>
                  <a:srgbClr val="FFFFFF"/>
                </a:highlight>
                <a:latin typeface="Lucida Console" panose="020B0609040504020204" pitchFamily="49" charset="0"/>
              </a:rPr>
              <a:t>1.0.0</a:t>
            </a:r>
            <a:r>
              <a:rPr lang="en-US" dirty="0" smtClean="0">
                <a:solidFill>
                  <a:srgbClr val="0000FF"/>
                </a:solidFill>
                <a:highlight>
                  <a:srgbClr val="FFFFFF"/>
                </a:highlight>
                <a:latin typeface="Lucida Console" panose="020B0609040504020204" pitchFamily="49" charset="0"/>
              </a:rPr>
              <a:t>"&gt;</a:t>
            </a:r>
          </a:p>
          <a:p>
            <a:pPr marL="0" indent="0" defTabSz="360363">
              <a:buNone/>
            </a:pPr>
            <a:r>
              <a:rPr lang="en-US" dirty="0" smtClean="0">
                <a:solidFill>
                  <a:srgbClr val="0000FF"/>
                </a:solidFill>
                <a:highlight>
                  <a:srgbClr val="FFFFFF"/>
                </a:highlight>
                <a:latin typeface="Lucida Console" panose="020B0609040504020204" pitchFamily="49" charset="0"/>
              </a:rPr>
              <a:t>	</a:t>
            </a: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QuestionText</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it-IT" dirty="0">
                <a:solidFill>
                  <a:srgbClr val="000000"/>
                </a:solidFill>
                <a:highlight>
                  <a:srgbClr val="FFFFFF"/>
                </a:highlight>
                <a:latin typeface="Lucida Console" panose="020B0609040504020204" pitchFamily="49" charset="0"/>
              </a:rPr>
              <a:t>		</a:t>
            </a:r>
            <a:r>
              <a:rPr lang="it-IT" dirty="0">
                <a:solidFill>
                  <a:srgbClr val="0000FF"/>
                </a:solidFill>
                <a:highlight>
                  <a:srgbClr val="FFFFFF"/>
                </a:highlight>
                <a:latin typeface="Lucida Console" panose="020B0609040504020204" pitchFamily="49" charset="0"/>
              </a:rPr>
              <a:t>&lt;</a:t>
            </a:r>
            <a:r>
              <a:rPr lang="it-IT" dirty="0">
                <a:solidFill>
                  <a:srgbClr val="800000"/>
                </a:solidFill>
                <a:highlight>
                  <a:srgbClr val="FFFFFF"/>
                </a:highlight>
                <a:latin typeface="Lucida Console" panose="020B0609040504020204" pitchFamily="49" charset="0"/>
              </a:rPr>
              <a:t>Text</a:t>
            </a:r>
            <a:r>
              <a:rPr lang="it-IT" dirty="0">
                <a:solidFill>
                  <a:srgbClr val="0000FF"/>
                </a:solidFill>
                <a:highlight>
                  <a:srgbClr val="FFFFFF"/>
                </a:highlight>
                <a:latin typeface="Lucida Console" panose="020B0609040504020204" pitchFamily="49" charset="0"/>
              </a:rPr>
              <a:t>&gt;</a:t>
            </a:r>
            <a:r>
              <a:rPr lang="it-IT" dirty="0">
                <a:solidFill>
                  <a:srgbClr val="000000"/>
                </a:solidFill>
                <a:highlight>
                  <a:srgbClr val="FFFFFF"/>
                </a:highlight>
                <a:latin typeface="Lucida Console" panose="020B0609040504020204" pitchFamily="49" charset="0"/>
              </a:rPr>
              <a:t>Sempre nella settimana che va  “DA LUNEDI</a:t>
            </a:r>
            <a:r>
              <a:rPr lang="it-IT" dirty="0" smtClean="0">
                <a:solidFill>
                  <a:srgbClr val="000000"/>
                </a:solidFill>
                <a:highlight>
                  <a:srgbClr val="FFFFFF"/>
                </a:highlight>
                <a:latin typeface="Lucida Console" panose="020B0609040504020204" pitchFamily="49" charset="0"/>
              </a:rPr>
              <a:t>’ ... A DOMENICA..." </a:t>
            </a:r>
            <a:r>
              <a:rPr lang="it-IT" dirty="0">
                <a:solidFill>
                  <a:srgbClr val="000000"/>
                </a:solidFill>
                <a:highlight>
                  <a:srgbClr val="FFFFFF"/>
                </a:highlight>
                <a:latin typeface="Lucida Console" panose="020B0609040504020204" pitchFamily="49" charset="0"/>
              </a:rPr>
              <a:t>Lei  aveva comunque un lavoro che non ha svolto, ad esempio: per un periodo limitato di ridotta attività, per malattia, per vacanza, per cassa integrazione guadagni, etc.?</a:t>
            </a:r>
            <a:r>
              <a:rPr lang="it-IT" dirty="0">
                <a:solidFill>
                  <a:srgbClr val="0000FF"/>
                </a:solidFill>
                <a:highlight>
                  <a:srgbClr val="FFFFFF"/>
                </a:highlight>
                <a:latin typeface="Lucida Console" panose="020B0609040504020204" pitchFamily="49" charset="0"/>
              </a:rPr>
              <a:t>&lt;/</a:t>
            </a:r>
            <a:r>
              <a:rPr lang="it-IT" dirty="0">
                <a:solidFill>
                  <a:srgbClr val="800000"/>
                </a:solidFill>
                <a:highlight>
                  <a:srgbClr val="FFFFFF"/>
                </a:highlight>
                <a:latin typeface="Lucida Console" panose="020B0609040504020204" pitchFamily="49" charset="0"/>
              </a:rPr>
              <a:t>Text</a:t>
            </a:r>
            <a:r>
              <a:rPr lang="it-IT" dirty="0">
                <a:solidFill>
                  <a:srgbClr val="0000FF"/>
                </a:solidFill>
                <a:highlight>
                  <a:srgbClr val="FFFFFF"/>
                </a:highlight>
                <a:latin typeface="Lucida Console" panose="020B0609040504020204" pitchFamily="49" charset="0"/>
              </a:rPr>
              <a:t>&gt;</a:t>
            </a:r>
            <a:endParaRPr lang="it-IT"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QuestionText</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CodeRespresentation</a:t>
            </a:r>
            <a:r>
              <a:rPr lang="en-US" dirty="0">
                <a:solidFill>
                  <a:srgbClr val="FF0000"/>
                </a:solidFill>
                <a:highlight>
                  <a:srgbClr val="FFFFFF"/>
                </a:highlight>
                <a:latin typeface="Lucida Console" panose="020B0609040504020204" pitchFamily="49" charset="0"/>
              </a:rPr>
              <a:t> </a:t>
            </a:r>
            <a:r>
              <a:rPr lang="en-US" dirty="0" err="1">
                <a:solidFill>
                  <a:srgbClr val="FF0000"/>
                </a:solidFill>
                <a:highlight>
                  <a:srgbClr val="FFFFFF"/>
                </a:highlight>
                <a:latin typeface="Lucida Console" panose="020B0609040504020204" pitchFamily="49" charset="0"/>
              </a:rPr>
              <a:t>blankIsMissingValue</a:t>
            </a:r>
            <a:r>
              <a:rPr lang="en-US" dirty="0">
                <a:solidFill>
                  <a:srgbClr val="0000FF"/>
                </a:solidFill>
                <a:highlight>
                  <a:srgbClr val="FFFFFF"/>
                </a:highlight>
                <a:latin typeface="Lucida Console" panose="020B0609040504020204" pitchFamily="49" charset="0"/>
              </a:rPr>
              <a:t>="</a:t>
            </a:r>
            <a:r>
              <a:rPr lang="en-US" dirty="0">
                <a:solidFill>
                  <a:srgbClr val="000000"/>
                </a:solidFill>
                <a:highlight>
                  <a:srgbClr val="FFFFFF"/>
                </a:highlight>
                <a:latin typeface="Lucida Console" panose="020B0609040504020204" pitchFamily="49" charset="0"/>
              </a:rPr>
              <a:t>true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CodeSchemeReference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err="1">
                <a:solidFill>
                  <a:srgbClr val="000000"/>
                </a:solidFill>
                <a:highlight>
                  <a:srgbClr val="FFFFFF"/>
                </a:highlight>
                <a:latin typeface="Lucida Console" panose="020B0609040504020204" pitchFamily="49" charset="0"/>
              </a:rPr>
              <a:t>CodeSchemeYesNo</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CodeSchemeReference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CodeRespresentation</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smtClean="0">
                <a:solidFill>
                  <a:srgbClr val="0000FF"/>
                </a:solidFill>
                <a:highlight>
                  <a:srgbClr val="FFFFFF"/>
                </a:highlight>
                <a:latin typeface="Lucida Console" panose="020B0609040504020204" pitchFamily="49" charset="0"/>
              </a:rPr>
              <a:t>	&lt;</a:t>
            </a:r>
            <a:r>
              <a:rPr lang="en-US" dirty="0" err="1" smtClean="0">
                <a:solidFill>
                  <a:srgbClr val="800000"/>
                </a:solidFill>
                <a:highlight>
                  <a:srgbClr val="FFFFFF"/>
                </a:highlight>
                <a:latin typeface="Lucida Console" panose="020B0609040504020204" pitchFamily="49" charset="0"/>
              </a:rPr>
              <a:t>ConceptReference</a:t>
            </a:r>
            <a:r>
              <a:rPr lang="en-US" dirty="0" smtClean="0">
                <a:solidFill>
                  <a:srgbClr val="0000FF"/>
                </a:solidFill>
                <a:highlight>
                  <a:srgbClr val="FFFFFF"/>
                </a:highlight>
                <a:latin typeface="Lucida Console" panose="020B0609040504020204" pitchFamily="49" charset="0"/>
              </a:rPr>
              <a:t>&gt;</a:t>
            </a:r>
          </a:p>
          <a:p>
            <a:pPr marL="0" indent="0" defTabSz="360363">
              <a:buNone/>
            </a:pPr>
            <a:r>
              <a:rPr lang="en-US" dirty="0" smtClean="0">
                <a:solidFill>
                  <a:srgbClr val="0000FF"/>
                </a:solidFill>
                <a:highlight>
                  <a:srgbClr val="FFFFFF"/>
                </a:highlight>
                <a:latin typeface="Lucida Console" panose="020B0609040504020204" pitchFamily="49" charset="0"/>
              </a:rPr>
              <a:t>		&lt;</a:t>
            </a:r>
            <a:r>
              <a:rPr lang="en-US" dirty="0" smtClean="0">
                <a:solidFill>
                  <a:srgbClr val="800000"/>
                </a:solidFill>
                <a:highlight>
                  <a:srgbClr val="FFFFFF"/>
                </a:highlight>
                <a:latin typeface="Lucida Console" panose="020B0609040504020204" pitchFamily="49" charset="0"/>
              </a:rPr>
              <a:t>ID</a:t>
            </a:r>
            <a:r>
              <a:rPr lang="en-US" dirty="0" smtClean="0">
                <a:highlight>
                  <a:srgbClr val="FFFFFF"/>
                </a:highlight>
                <a:latin typeface="Lucida Console" panose="020B0609040504020204" pitchFamily="49" charset="0"/>
              </a:rPr>
              <a:t>&gt;Concept_1&lt;/</a:t>
            </a:r>
            <a:r>
              <a:rPr lang="en-US" dirty="0" smtClean="0">
                <a:solidFill>
                  <a:srgbClr val="800000"/>
                </a:solidFill>
                <a:highlight>
                  <a:srgbClr val="FFFFFF"/>
                </a:highlight>
                <a:latin typeface="Lucida Console" panose="020B0609040504020204" pitchFamily="49" charset="0"/>
              </a:rPr>
              <a:t>ID</a:t>
            </a:r>
            <a:r>
              <a:rPr lang="en-US" dirty="0" smtClean="0">
                <a:solidFill>
                  <a:srgbClr val="0000FF"/>
                </a:solidFill>
                <a:highlight>
                  <a:srgbClr val="FFFFFF"/>
                </a:highlight>
                <a:latin typeface="Lucida Console" panose="020B0609040504020204" pitchFamily="49" charset="0"/>
              </a:rPr>
              <a:t>&gt;</a:t>
            </a:r>
          </a:p>
          <a:p>
            <a:pPr marL="0" indent="0" defTabSz="360363">
              <a:buNone/>
            </a:pPr>
            <a:r>
              <a:rPr lang="en-US" dirty="0" smtClean="0">
                <a:solidFill>
                  <a:srgbClr val="0000FF"/>
                </a:solidFill>
                <a:highlight>
                  <a:srgbClr val="FFFFFF"/>
                </a:highlight>
                <a:latin typeface="Lucida Console" panose="020B0609040504020204" pitchFamily="49" charset="0"/>
              </a:rPr>
              <a:t>	&lt;/</a:t>
            </a:r>
            <a:r>
              <a:rPr lang="en-US" dirty="0" err="1" smtClean="0">
                <a:solidFill>
                  <a:srgbClr val="800000"/>
                </a:solidFill>
                <a:highlight>
                  <a:srgbClr val="FFFFFF"/>
                </a:highlight>
                <a:latin typeface="Lucida Console" panose="020B0609040504020204" pitchFamily="49" charset="0"/>
              </a:rPr>
              <a:t>ConceptReference</a:t>
            </a:r>
            <a:r>
              <a:rPr lang="en-US" dirty="0" smtClean="0">
                <a:solidFill>
                  <a:srgbClr val="0000FF"/>
                </a:solidFill>
                <a:highlight>
                  <a:srgbClr val="FFFFFF"/>
                </a:highlight>
                <a:latin typeface="Lucida Console" panose="020B0609040504020204" pitchFamily="49" charset="0"/>
              </a:rPr>
              <a:t>&gt;</a:t>
            </a:r>
            <a:endParaRPr lang="en-US" dirty="0" smtClean="0">
              <a:solidFill>
                <a:srgbClr val="000000"/>
              </a:solidFill>
              <a:highlight>
                <a:srgbClr val="FFFFFF"/>
              </a:highlight>
              <a:latin typeface="Lucida Console" panose="020B0609040504020204" pitchFamily="49" charset="0"/>
            </a:endParaRPr>
          </a:p>
          <a:p>
            <a:pPr marL="0" indent="0" defTabSz="360363">
              <a:buNone/>
            </a:pPr>
            <a:r>
              <a:rPr lang="en-US" dirty="0" smtClean="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QuestionItem</a:t>
            </a:r>
            <a:r>
              <a:rPr lang="en-US" dirty="0">
                <a:solidFill>
                  <a:srgbClr val="0000FF"/>
                </a:solidFill>
                <a:highlight>
                  <a:srgbClr val="FFFFFF"/>
                </a:highlight>
                <a:latin typeface="Lucida Console" panose="020B0609040504020204" pitchFamily="49" charset="0"/>
              </a:rPr>
              <a:t>&gt;</a:t>
            </a:r>
            <a:endParaRPr lang="en-US" dirty="0">
              <a:latin typeface="Lucida Console" panose="020B0609040504020204" pitchFamily="49" charset="0"/>
            </a:endParaRPr>
          </a:p>
        </p:txBody>
      </p:sp>
    </p:spTree>
    <p:extLst>
      <p:ext uri="{BB962C8B-B14F-4D97-AF65-F5344CB8AC3E}">
        <p14:creationId xmlns:p14="http://schemas.microsoft.com/office/powerpoint/2010/main" val="34818047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Response Domains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There are many possible types of response domains in the LFS:</a:t>
            </a:r>
          </a:p>
          <a:p>
            <a:pPr lvl="1"/>
            <a:r>
              <a:rPr lang="en-US" dirty="0" smtClean="0"/>
              <a:t>Coded responses (as in the earlier example)</a:t>
            </a:r>
          </a:p>
          <a:p>
            <a:pPr lvl="1"/>
            <a:r>
              <a:rPr lang="en-US" dirty="0" smtClean="0"/>
              <a:t>Date and Time responses</a:t>
            </a:r>
          </a:p>
          <a:p>
            <a:pPr lvl="1"/>
            <a:r>
              <a:rPr lang="en-US" dirty="0" smtClean="0"/>
              <a:t>Numeric responses</a:t>
            </a:r>
          </a:p>
          <a:p>
            <a:pPr lvl="1"/>
            <a:r>
              <a:rPr lang="en-US" dirty="0" smtClean="0"/>
              <a:t>Textual responses</a:t>
            </a:r>
          </a:p>
          <a:p>
            <a:pPr lvl="1"/>
            <a:r>
              <a:rPr lang="en-US" dirty="0" smtClean="0"/>
              <a:t>Mixed responses (more than one type)</a:t>
            </a:r>
          </a:p>
          <a:p>
            <a:r>
              <a:rPr lang="en-US" dirty="0" smtClean="0"/>
              <a:t>Additionally, DDI can describe others as well:</a:t>
            </a:r>
          </a:p>
          <a:p>
            <a:pPr lvl="1"/>
            <a:r>
              <a:rPr lang="en-US" dirty="0" smtClean="0"/>
              <a:t>Geographic responses</a:t>
            </a:r>
          </a:p>
          <a:p>
            <a:pPr lvl="1"/>
            <a:r>
              <a:rPr lang="en-US" dirty="0" smtClean="0"/>
              <a:t>Categorical responses</a:t>
            </a:r>
          </a:p>
          <a:p>
            <a:pPr lvl="1"/>
            <a:r>
              <a:rPr lang="en-US" dirty="0" smtClean="0"/>
              <a:t>Scales, Distribution, Ranking, and more (DDI 3.2)</a:t>
            </a:r>
          </a:p>
          <a:p>
            <a:pPr lvl="1">
              <a:buNone/>
            </a:pPr>
            <a:endParaRPr lang="en-US" dirty="0" smtClean="0"/>
          </a:p>
          <a:p>
            <a:endParaRPr lang="en-US" dirty="0" smtClean="0"/>
          </a:p>
          <a:p>
            <a:pPr marL="457200" lvl="1" indent="0">
              <a:buNone/>
            </a:pPr>
            <a:endParaRPr lang="en-US" dirty="0"/>
          </a:p>
        </p:txBody>
      </p:sp>
    </p:spTree>
    <p:extLst>
      <p:ext uri="{BB962C8B-B14F-4D97-AF65-F5344CB8AC3E}">
        <p14:creationId xmlns:p14="http://schemas.microsoft.com/office/powerpoint/2010/main" val="256892589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Interviewer Instructions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“RISERVATO ISTAT” is an instruction to the interviewer that they are asked to fill in the question, not the respondent.</a:t>
            </a:r>
          </a:p>
          <a:p>
            <a:r>
              <a:rPr lang="en-US" dirty="0" smtClean="0"/>
              <a:t>This is an example of an Interviewer Instruction – text which tells the interviewer to do something, but which the respondent doesn’t know about</a:t>
            </a:r>
          </a:p>
          <a:p>
            <a:r>
              <a:rPr lang="en-US" dirty="0" smtClean="0"/>
              <a:t>Interviewer Instructions are also used to express routing information, telling the interviewer or respondent which question to go to next</a:t>
            </a:r>
          </a:p>
          <a:p>
            <a:r>
              <a:rPr lang="en-US" dirty="0" smtClean="0"/>
              <a:t>Interviewer Instructions are found in Interviewer Instruction Schemes, in the Data Collection module</a:t>
            </a:r>
          </a:p>
          <a:p>
            <a:r>
              <a:rPr lang="en-US" dirty="0" smtClean="0"/>
              <a:t>DDI uses the term Instruction for the individual items in the scheme</a:t>
            </a:r>
            <a:endParaRPr lang="en-US" dirty="0"/>
          </a:p>
        </p:txBody>
      </p:sp>
    </p:spTree>
    <p:extLst>
      <p:ext uri="{BB962C8B-B14F-4D97-AF65-F5344CB8AC3E}">
        <p14:creationId xmlns:p14="http://schemas.microsoft.com/office/powerpoint/2010/main" val="89113170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Flow Logic</a:t>
            </a:r>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90763" y="1404937"/>
            <a:ext cx="6319837" cy="4843463"/>
          </a:xfrm>
          <a:prstGeom prst="rect">
            <a:avLst/>
          </a:prstGeom>
          <a:noFill/>
          <a:ln>
            <a:noFill/>
          </a:ln>
        </p:spPr>
      </p:pic>
      <p:sp>
        <p:nvSpPr>
          <p:cNvPr id="7" name="Rectangular Callout 6"/>
          <p:cNvSpPr/>
          <p:nvPr/>
        </p:nvSpPr>
        <p:spPr>
          <a:xfrm>
            <a:off x="533400" y="1143000"/>
            <a:ext cx="1600200" cy="1447800"/>
          </a:xfrm>
          <a:prstGeom prst="wedgeRectCallout">
            <a:avLst>
              <a:gd name="adj1" fmla="val 107966"/>
              <a:gd name="adj2" fmla="val 12104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p:cNvSpPr txBox="1"/>
          <p:nvPr/>
        </p:nvSpPr>
        <p:spPr>
          <a:xfrm>
            <a:off x="609600" y="1143000"/>
            <a:ext cx="1604962" cy="1477328"/>
          </a:xfrm>
          <a:prstGeom prst="rect">
            <a:avLst/>
          </a:prstGeom>
          <a:noFill/>
        </p:spPr>
        <p:txBody>
          <a:bodyPr wrap="square" rtlCol="0">
            <a:spAutoFit/>
          </a:bodyPr>
          <a:lstStyle/>
          <a:p>
            <a:r>
              <a:rPr lang="en-US" dirty="0" smtClean="0"/>
              <a:t>If you are employed, you answer sections C and D</a:t>
            </a:r>
            <a:endParaRPr lang="en-US" dirty="0"/>
          </a:p>
        </p:txBody>
      </p:sp>
      <p:sp>
        <p:nvSpPr>
          <p:cNvPr id="10" name="Rectangular Callout 9"/>
          <p:cNvSpPr/>
          <p:nvPr/>
        </p:nvSpPr>
        <p:spPr>
          <a:xfrm>
            <a:off x="533400" y="3810000"/>
            <a:ext cx="1600200" cy="1447800"/>
          </a:xfrm>
          <a:prstGeom prst="wedgeRectCallout">
            <a:avLst>
              <a:gd name="adj1" fmla="val 341073"/>
              <a:gd name="adj2" fmla="val -4436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p:cNvSpPr txBox="1"/>
          <p:nvPr/>
        </p:nvSpPr>
        <p:spPr>
          <a:xfrm>
            <a:off x="609600" y="3981271"/>
            <a:ext cx="1604962" cy="1200329"/>
          </a:xfrm>
          <a:prstGeom prst="rect">
            <a:avLst/>
          </a:prstGeom>
          <a:noFill/>
        </p:spPr>
        <p:txBody>
          <a:bodyPr wrap="square" rtlCol="0">
            <a:spAutoFit/>
          </a:bodyPr>
          <a:lstStyle/>
          <a:p>
            <a:r>
              <a:rPr lang="en-US" dirty="0" smtClean="0"/>
              <a:t>If you are unemployed, you go directly to section E</a:t>
            </a:r>
            <a:endParaRPr lang="en-US" dirty="0"/>
          </a:p>
        </p:txBody>
      </p:sp>
    </p:spTree>
    <p:extLst>
      <p:ext uri="{BB962C8B-B14F-4D97-AF65-F5344CB8AC3E}">
        <p14:creationId xmlns:p14="http://schemas.microsoft.com/office/powerpoint/2010/main" val="286602996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Flow Logic Example</a:t>
            </a:r>
            <a:endParaRPr lang="en-US" dirty="0"/>
          </a:p>
        </p:txBody>
      </p:sp>
      <p:sp>
        <p:nvSpPr>
          <p:cNvPr id="4" name="Content Placeholder 3"/>
          <p:cNvSpPr>
            <a:spLocks noGrp="1"/>
          </p:cNvSpPr>
          <p:nvPr>
            <p:ph idx="1"/>
          </p:nvPr>
        </p:nvSpPr>
        <p:spPr/>
        <p:txBody>
          <a:bodyPr/>
          <a:lstStyle/>
          <a:p>
            <a:pPr marL="0" indent="0">
              <a:buNone/>
            </a:pPr>
            <a:r>
              <a:rPr lang="en-US" dirty="0" smtClean="0"/>
              <a:t>Here, if you answer “No” to question SG16, you must answer question SG 17, but if you answer “Si”, you go directly to question SG19 (with some qualifications about earlier answers):</a:t>
            </a:r>
          </a:p>
          <a:p>
            <a:pPr marL="0" indent="0">
              <a:buNone/>
            </a:pPr>
            <a:endParaRPr lang="en-US" dirty="0"/>
          </a:p>
          <a:p>
            <a:pPr marL="0" indent="0">
              <a:buNone/>
            </a:pPr>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3633787"/>
            <a:ext cx="6858000" cy="2995613"/>
          </a:xfrm>
          <a:prstGeom prst="rect">
            <a:avLst/>
          </a:prstGeom>
          <a:noFill/>
          <a:ln>
            <a:noFill/>
          </a:ln>
        </p:spPr>
      </p:pic>
    </p:spTree>
    <p:extLst>
      <p:ext uri="{BB962C8B-B14F-4D97-AF65-F5344CB8AC3E}">
        <p14:creationId xmlns:p14="http://schemas.microsoft.com/office/powerpoint/2010/main" val="66034647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Flow Logic in DDI</a:t>
            </a:r>
            <a:endParaRPr lang="en-US" dirty="0"/>
          </a:p>
        </p:txBody>
      </p:sp>
      <p:sp>
        <p:nvSpPr>
          <p:cNvPr id="3" name="Content Placeholder 2"/>
          <p:cNvSpPr>
            <a:spLocks noGrp="1"/>
          </p:cNvSpPr>
          <p:nvPr>
            <p:ph idx="1"/>
          </p:nvPr>
        </p:nvSpPr>
        <p:spPr>
          <a:xfrm>
            <a:off x="457200" y="1143000"/>
            <a:ext cx="8382000" cy="5410200"/>
          </a:xfrm>
        </p:spPr>
        <p:txBody>
          <a:bodyPr>
            <a:normAutofit fontScale="70000" lnSpcReduction="20000"/>
          </a:bodyPr>
          <a:lstStyle/>
          <a:p>
            <a:r>
              <a:rPr lang="en-US" dirty="0" smtClean="0"/>
              <a:t>Flow logic is described in DDI using Control Constructs, found in Control Construct Schemes in the Data Collection module.</a:t>
            </a:r>
          </a:p>
          <a:p>
            <a:r>
              <a:rPr lang="en-US" dirty="0" smtClean="0"/>
              <a:t>Control Constructs can be of several different types:</a:t>
            </a:r>
          </a:p>
          <a:p>
            <a:pPr marL="0" indent="0">
              <a:buNone/>
            </a:pPr>
            <a:endParaRPr lang="en-US" dirty="0" smtClean="0"/>
          </a:p>
          <a:p>
            <a:pPr marL="0" indent="0">
              <a:buNone/>
            </a:pPr>
            <a:r>
              <a:rPr lang="en-US" dirty="0" smtClean="0"/>
              <a:t>Basic flow:</a:t>
            </a:r>
          </a:p>
          <a:p>
            <a:pPr lvl="1"/>
            <a:r>
              <a:rPr lang="en-US" dirty="0" smtClean="0"/>
              <a:t>Sequence</a:t>
            </a:r>
          </a:p>
          <a:p>
            <a:pPr lvl="1"/>
            <a:r>
              <a:rPr lang="en-US" dirty="0" smtClean="0"/>
              <a:t>Question Construct (the use of a Question Item)</a:t>
            </a:r>
          </a:p>
          <a:p>
            <a:pPr lvl="1"/>
            <a:r>
              <a:rPr lang="en-US" dirty="0" smtClean="0"/>
              <a:t>Statement Item</a:t>
            </a:r>
          </a:p>
          <a:p>
            <a:pPr lvl="1"/>
            <a:r>
              <a:rPr lang="en-US" dirty="0" smtClean="0"/>
              <a:t>Computation Item (for processing during administration)</a:t>
            </a:r>
          </a:p>
          <a:p>
            <a:pPr marL="0" indent="0">
              <a:buNone/>
            </a:pPr>
            <a:endParaRPr lang="en-US" dirty="0" smtClean="0"/>
          </a:p>
          <a:p>
            <a:pPr marL="0" indent="0">
              <a:buNone/>
            </a:pPr>
            <a:r>
              <a:rPr lang="en-US" dirty="0" smtClean="0"/>
              <a:t>Conditional logic:</a:t>
            </a:r>
          </a:p>
          <a:p>
            <a:pPr lvl="1"/>
            <a:r>
              <a:rPr lang="en-US" dirty="0" smtClean="0"/>
              <a:t>If Then Else</a:t>
            </a:r>
          </a:p>
          <a:p>
            <a:pPr lvl="1"/>
            <a:r>
              <a:rPr lang="en-US" dirty="0" smtClean="0"/>
              <a:t>Loop</a:t>
            </a:r>
          </a:p>
          <a:p>
            <a:pPr lvl="1"/>
            <a:r>
              <a:rPr lang="en-US" dirty="0" smtClean="0"/>
              <a:t>Repeat Until</a:t>
            </a:r>
          </a:p>
          <a:p>
            <a:pPr lvl="1"/>
            <a:r>
              <a:rPr lang="en-US" dirty="0" smtClean="0"/>
              <a:t>Repeat While</a:t>
            </a:r>
          </a:p>
          <a:p>
            <a:pPr lvl="1"/>
            <a:endParaRPr lang="en-US" dirty="0"/>
          </a:p>
        </p:txBody>
      </p:sp>
    </p:spTree>
    <p:extLst>
      <p:ext uri="{BB962C8B-B14F-4D97-AF65-F5344CB8AC3E}">
        <p14:creationId xmlns:p14="http://schemas.microsoft.com/office/powerpoint/2010/main" val="36718259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Sequences</a:t>
            </a:r>
            <a:endParaRPr lang="en-US" dirty="0"/>
          </a:p>
        </p:txBody>
      </p:sp>
      <p:sp>
        <p:nvSpPr>
          <p:cNvPr id="3" name="Content Placeholder 2"/>
          <p:cNvSpPr>
            <a:spLocks noGrp="1"/>
          </p:cNvSpPr>
          <p:nvPr>
            <p:ph idx="1"/>
          </p:nvPr>
        </p:nvSpPr>
        <p:spPr/>
        <p:txBody>
          <a:bodyPr/>
          <a:lstStyle/>
          <a:p>
            <a:r>
              <a:rPr lang="en-US" dirty="0" smtClean="0"/>
              <a:t>Every questionnaire starts with a top-level sequence</a:t>
            </a:r>
          </a:p>
          <a:p>
            <a:pPr lvl="1"/>
            <a:r>
              <a:rPr lang="en-US" dirty="0" smtClean="0"/>
              <a:t>It may begin to branch conditionally very quickly</a:t>
            </a:r>
          </a:p>
          <a:p>
            <a:r>
              <a:rPr lang="en-US" dirty="0" smtClean="0"/>
              <a:t>Sequences reference other Control Constructs</a:t>
            </a:r>
          </a:p>
          <a:p>
            <a:r>
              <a:rPr lang="en-US" dirty="0" smtClean="0"/>
              <a:t>LFS starts with a reference to a Statement Item:</a:t>
            </a:r>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4800600"/>
            <a:ext cx="7315200" cy="3048000"/>
          </a:xfrm>
          <a:prstGeom prst="rect">
            <a:avLst/>
          </a:prstGeom>
          <a:noFill/>
          <a:ln>
            <a:noFill/>
          </a:ln>
        </p:spPr>
      </p:pic>
    </p:spTree>
    <p:extLst>
      <p:ext uri="{BB962C8B-B14F-4D97-AF65-F5344CB8AC3E}">
        <p14:creationId xmlns:p14="http://schemas.microsoft.com/office/powerpoint/2010/main" val="70986436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Simple Example</a:t>
            </a:r>
            <a:endParaRPr lang="en-US" dirty="0"/>
          </a:p>
        </p:txBody>
      </p:sp>
      <p:sp>
        <p:nvSpPr>
          <p:cNvPr id="3" name="Content Placeholder 2"/>
          <p:cNvSpPr>
            <a:spLocks noGrp="1"/>
          </p:cNvSpPr>
          <p:nvPr>
            <p:ph idx="1"/>
          </p:nvPr>
        </p:nvSpPr>
        <p:spPr/>
        <p:txBody>
          <a:bodyPr/>
          <a:lstStyle/>
          <a:p>
            <a:pPr marL="0" indent="0">
              <a:buNone/>
            </a:pPr>
            <a:r>
              <a:rPr lang="en-US" dirty="0" smtClean="0"/>
              <a:t>Consider this simple example:</a:t>
            </a:r>
          </a:p>
          <a:p>
            <a:pPr marL="0" indent="0">
              <a:buNone/>
            </a:pPr>
            <a:endParaRPr lang="en-US" dirty="0"/>
          </a:p>
        </p:txBody>
      </p:sp>
      <p:pic>
        <p:nvPicPr>
          <p:cNvPr id="4" name="Picture 3"/>
          <p:cNvPicPr/>
          <p:nvPr/>
        </p:nvPicPr>
        <p:blipFill>
          <a:blip r:embed="rId2" cstate="print"/>
          <a:stretch>
            <a:fillRect/>
          </a:stretch>
        </p:blipFill>
        <p:spPr>
          <a:xfrm>
            <a:off x="1447800" y="2221865"/>
            <a:ext cx="5334000" cy="4178935"/>
          </a:xfrm>
          <a:prstGeom prst="rect">
            <a:avLst/>
          </a:prstGeom>
        </p:spPr>
      </p:pic>
    </p:spTree>
    <p:extLst>
      <p:ext uri="{BB962C8B-B14F-4D97-AF65-F5344CB8AC3E}">
        <p14:creationId xmlns:p14="http://schemas.microsoft.com/office/powerpoint/2010/main" val="234133244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Top-Level Sequence XML</a:t>
            </a:r>
            <a:endParaRPr lang="en-US" dirty="0"/>
          </a:p>
        </p:txBody>
      </p:sp>
      <p:sp>
        <p:nvSpPr>
          <p:cNvPr id="3" name="Content Placeholder 2"/>
          <p:cNvSpPr>
            <a:spLocks noGrp="1"/>
          </p:cNvSpPr>
          <p:nvPr>
            <p:ph idx="1"/>
          </p:nvPr>
        </p:nvSpPr>
        <p:spPr/>
        <p:txBody>
          <a:bodyPr>
            <a:normAutofit fontScale="77500" lnSpcReduction="20000"/>
          </a:bodyPr>
          <a:lstStyle/>
          <a:p>
            <a:pPr marL="0" indent="0" defTabSz="360363">
              <a:buNone/>
            </a:pP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Sequence</a:t>
            </a:r>
            <a:r>
              <a:rPr lang="en-US" dirty="0">
                <a:solidFill>
                  <a:srgbClr val="FF0000"/>
                </a:solidFill>
                <a:highlight>
                  <a:srgbClr val="FFFFFF"/>
                </a:highlight>
                <a:latin typeface="Lucida Console" panose="020B0609040504020204" pitchFamily="49" charset="0"/>
              </a:rPr>
              <a:t> id</a:t>
            </a:r>
            <a:r>
              <a:rPr lang="en-US" dirty="0">
                <a:solidFill>
                  <a:srgbClr val="0000FF"/>
                </a:solidFill>
                <a:highlight>
                  <a:srgbClr val="FFFFFF"/>
                </a:highlight>
                <a:latin typeface="Lucida Console" panose="020B0609040504020204" pitchFamily="49" charset="0"/>
              </a:rPr>
              <a:t>="</a:t>
            </a:r>
            <a:r>
              <a:rPr lang="en-US" dirty="0">
                <a:solidFill>
                  <a:srgbClr val="000000"/>
                </a:solidFill>
                <a:highlight>
                  <a:srgbClr val="FFFFFF"/>
                </a:highlight>
                <a:latin typeface="Lucida Console" panose="020B0609040504020204" pitchFamily="49" charset="0"/>
              </a:rPr>
              <a:t>S1</a:t>
            </a:r>
            <a:r>
              <a:rPr lang="en-US" dirty="0">
                <a:solidFill>
                  <a:srgbClr val="0000FF"/>
                </a:solidFill>
                <a:highlight>
                  <a:srgbClr val="FFFFFF"/>
                </a:highlight>
                <a:latin typeface="Lucida Console" panose="020B0609040504020204" pitchFamily="49" charset="0"/>
              </a:rPr>
              <a:t>"</a:t>
            </a:r>
            <a:r>
              <a:rPr lang="en-US" dirty="0">
                <a:solidFill>
                  <a:srgbClr val="FF0000"/>
                </a:solidFill>
                <a:highlight>
                  <a:srgbClr val="FFFFFF"/>
                </a:highlight>
                <a:latin typeface="Lucida Console" panose="020B0609040504020204" pitchFamily="49" charset="0"/>
              </a:rPr>
              <a:t> version</a:t>
            </a:r>
            <a:r>
              <a:rPr lang="en-US" dirty="0">
                <a:solidFill>
                  <a:srgbClr val="0000FF"/>
                </a:solidFill>
                <a:highlight>
                  <a:srgbClr val="FFFFFF"/>
                </a:highlight>
                <a:latin typeface="Lucida Console" panose="020B0609040504020204" pitchFamily="49" charset="0"/>
              </a:rPr>
              <a:t>="</a:t>
            </a:r>
            <a:r>
              <a:rPr lang="en-US" dirty="0">
                <a:solidFill>
                  <a:srgbClr val="000000"/>
                </a:solidFill>
                <a:highlight>
                  <a:srgbClr val="FFFFFF"/>
                </a:highlight>
                <a:latin typeface="Lucida Console" panose="020B0609040504020204" pitchFamily="49" charset="0"/>
              </a:rPr>
              <a:t>1.0.0</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ControlConstructReference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Q1</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ControlConstructReference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ControlConstructReference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Q2</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ControlConstructReference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ControlConstructReference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ITE1</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ControlConstructReference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Sequence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a:buNone/>
            </a:pPr>
            <a:endParaRPr lang="en-US" b="1" dirty="0">
              <a:latin typeface="Courier New" pitchFamily="49" charset="0"/>
              <a:cs typeface="Courier New" pitchFamily="49" charset="0"/>
            </a:endParaRPr>
          </a:p>
          <a:p>
            <a:endParaRPr lang="en-US" dirty="0"/>
          </a:p>
        </p:txBody>
      </p:sp>
      <p:sp>
        <p:nvSpPr>
          <p:cNvPr id="4" name="Rectangular Callout 3"/>
          <p:cNvSpPr/>
          <p:nvPr/>
        </p:nvSpPr>
        <p:spPr>
          <a:xfrm>
            <a:off x="7239000" y="1524000"/>
            <a:ext cx="1295400" cy="1066800"/>
          </a:xfrm>
          <a:prstGeom prst="wedgeRectCallout">
            <a:avLst>
              <a:gd name="adj1" fmla="val -338348"/>
              <a:gd name="adj2" fmla="val 4628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315200" y="1600200"/>
            <a:ext cx="1143001" cy="923330"/>
          </a:xfrm>
          <a:prstGeom prst="rect">
            <a:avLst/>
          </a:prstGeom>
          <a:noFill/>
        </p:spPr>
        <p:txBody>
          <a:bodyPr wrap="square" rtlCol="0">
            <a:spAutoFit/>
          </a:bodyPr>
          <a:lstStyle/>
          <a:p>
            <a:r>
              <a:rPr lang="en-US" dirty="0" smtClean="0"/>
              <a:t>Q1 is a Question Construct</a:t>
            </a:r>
            <a:endParaRPr lang="en-US" dirty="0"/>
          </a:p>
        </p:txBody>
      </p:sp>
      <p:sp>
        <p:nvSpPr>
          <p:cNvPr id="6" name="Rectangular Callout 5"/>
          <p:cNvSpPr/>
          <p:nvPr/>
        </p:nvSpPr>
        <p:spPr>
          <a:xfrm>
            <a:off x="7239000" y="2667000"/>
            <a:ext cx="1295400" cy="1066800"/>
          </a:xfrm>
          <a:prstGeom prst="wedgeRectCallout">
            <a:avLst>
              <a:gd name="adj1" fmla="val -338348"/>
              <a:gd name="adj2" fmla="val 4628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315200" y="2743200"/>
            <a:ext cx="1143001" cy="923330"/>
          </a:xfrm>
          <a:prstGeom prst="rect">
            <a:avLst/>
          </a:prstGeom>
          <a:noFill/>
        </p:spPr>
        <p:txBody>
          <a:bodyPr wrap="square" rtlCol="0">
            <a:spAutoFit/>
          </a:bodyPr>
          <a:lstStyle/>
          <a:p>
            <a:r>
              <a:rPr lang="en-US" dirty="0" smtClean="0"/>
              <a:t>Q2 is a Question Construct</a:t>
            </a:r>
            <a:endParaRPr lang="en-US" dirty="0"/>
          </a:p>
        </p:txBody>
      </p:sp>
      <p:sp>
        <p:nvSpPr>
          <p:cNvPr id="8" name="Rectangular Callout 7"/>
          <p:cNvSpPr/>
          <p:nvPr/>
        </p:nvSpPr>
        <p:spPr>
          <a:xfrm>
            <a:off x="7239000" y="3809999"/>
            <a:ext cx="1295400" cy="1276529"/>
          </a:xfrm>
          <a:prstGeom prst="wedgeRectCallout">
            <a:avLst>
              <a:gd name="adj1" fmla="val -336225"/>
              <a:gd name="adj2" fmla="val 3083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315200" y="3886200"/>
            <a:ext cx="1143001" cy="1200329"/>
          </a:xfrm>
          <a:prstGeom prst="rect">
            <a:avLst/>
          </a:prstGeom>
          <a:noFill/>
        </p:spPr>
        <p:txBody>
          <a:bodyPr wrap="square" rtlCol="0">
            <a:spAutoFit/>
          </a:bodyPr>
          <a:lstStyle/>
          <a:p>
            <a:r>
              <a:rPr lang="en-US" dirty="0" smtClean="0"/>
              <a:t>ITE1 is an IF Then Else </a:t>
            </a:r>
            <a:r>
              <a:rPr lang="en-US" dirty="0"/>
              <a:t>c</a:t>
            </a:r>
            <a:r>
              <a:rPr lang="en-US" dirty="0" smtClean="0"/>
              <a:t>onstruct</a:t>
            </a:r>
            <a:endParaRPr lang="en-US" dirty="0"/>
          </a:p>
        </p:txBody>
      </p:sp>
    </p:spTree>
    <p:extLst>
      <p:ext uri="{BB962C8B-B14F-4D97-AF65-F5344CB8AC3E}">
        <p14:creationId xmlns:p14="http://schemas.microsoft.com/office/powerpoint/2010/main" val="404121071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Conditional Logic</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Conditional Control Constructs state the conditions which will determine the flow of the questionnaire</a:t>
            </a:r>
          </a:p>
          <a:p>
            <a:pPr lvl="1"/>
            <a:r>
              <a:rPr lang="en-US" dirty="0" smtClean="0"/>
              <a:t>Conditions can be expressed using proprietary syntaxes, found in a Code element (</a:t>
            </a:r>
            <a:r>
              <a:rPr lang="en-US" dirty="0" err="1" smtClean="0"/>
              <a:t>ie</a:t>
            </a:r>
            <a:r>
              <a:rPr lang="en-US" dirty="0" smtClean="0"/>
              <a:t>, “if Q2 = 1”)</a:t>
            </a:r>
          </a:p>
          <a:p>
            <a:pPr lvl="1"/>
            <a:r>
              <a:rPr lang="en-US" dirty="0" smtClean="0"/>
              <a:t>Users determine which syntax is needed</a:t>
            </a:r>
          </a:p>
          <a:p>
            <a:r>
              <a:rPr lang="en-US" dirty="0" smtClean="0"/>
              <a:t>In our simple flow example, if the answer to Question 2 was “Yes”, you go to Question 3 – otherwise, you go to Question 4.</a:t>
            </a:r>
          </a:p>
          <a:p>
            <a:pPr lvl="1"/>
            <a:r>
              <a:rPr lang="en-US" dirty="0" smtClean="0"/>
              <a:t>This is an If Then Else construct </a:t>
            </a:r>
            <a:endParaRPr lang="en-US" dirty="0"/>
          </a:p>
        </p:txBody>
      </p:sp>
    </p:spTree>
    <p:extLst>
      <p:ext uri="{BB962C8B-B14F-4D97-AF65-F5344CB8AC3E}">
        <p14:creationId xmlns:p14="http://schemas.microsoft.com/office/powerpoint/2010/main" val="387357496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Conditional Logic XML</a:t>
            </a:r>
            <a:endParaRPr lang="en-US" dirty="0"/>
          </a:p>
        </p:txBody>
      </p:sp>
      <p:sp>
        <p:nvSpPr>
          <p:cNvPr id="3" name="Content Placeholder 2"/>
          <p:cNvSpPr>
            <a:spLocks noGrp="1"/>
          </p:cNvSpPr>
          <p:nvPr>
            <p:ph idx="1"/>
          </p:nvPr>
        </p:nvSpPr>
        <p:spPr/>
        <p:txBody>
          <a:bodyPr>
            <a:normAutofit fontScale="77500" lnSpcReduction="20000"/>
          </a:bodyPr>
          <a:lstStyle/>
          <a:p>
            <a:pPr marL="0" indent="0" defTabSz="360363">
              <a:buNone/>
            </a:pP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IfThenElse</a:t>
            </a:r>
            <a:r>
              <a:rPr lang="en-US" dirty="0">
                <a:solidFill>
                  <a:srgbClr val="FF0000"/>
                </a:solidFill>
                <a:highlight>
                  <a:srgbClr val="FFFFFF"/>
                </a:highlight>
                <a:latin typeface="Lucida Console" panose="020B0609040504020204" pitchFamily="49" charset="0"/>
              </a:rPr>
              <a:t> id</a:t>
            </a:r>
            <a:r>
              <a:rPr lang="en-US" dirty="0">
                <a:solidFill>
                  <a:srgbClr val="0000FF"/>
                </a:solidFill>
                <a:highlight>
                  <a:srgbClr val="FFFFFF"/>
                </a:highlight>
                <a:latin typeface="Lucida Console" panose="020B0609040504020204" pitchFamily="49" charset="0"/>
              </a:rPr>
              <a:t>="</a:t>
            </a:r>
            <a:r>
              <a:rPr lang="en-US" dirty="0">
                <a:solidFill>
                  <a:srgbClr val="000000"/>
                </a:solidFill>
                <a:highlight>
                  <a:srgbClr val="FFFFFF"/>
                </a:highlight>
                <a:latin typeface="Lucida Console" panose="020B0609040504020204" pitchFamily="49" charset="0"/>
              </a:rPr>
              <a:t>ITE1</a:t>
            </a:r>
            <a:r>
              <a:rPr lang="en-US" dirty="0">
                <a:solidFill>
                  <a:srgbClr val="0000FF"/>
                </a:solidFill>
                <a:highlight>
                  <a:srgbClr val="FFFFFF"/>
                </a:highlight>
                <a:latin typeface="Lucida Console" panose="020B0609040504020204" pitchFamily="49" charset="0"/>
              </a:rPr>
              <a:t>"</a:t>
            </a:r>
            <a:r>
              <a:rPr lang="en-US" dirty="0">
                <a:solidFill>
                  <a:srgbClr val="FF0000"/>
                </a:solidFill>
                <a:highlight>
                  <a:srgbClr val="FFFFFF"/>
                </a:highlight>
                <a:latin typeface="Lucida Console" panose="020B0609040504020204" pitchFamily="49" charset="0"/>
              </a:rPr>
              <a:t> version</a:t>
            </a:r>
            <a:r>
              <a:rPr lang="en-US" dirty="0">
                <a:solidFill>
                  <a:srgbClr val="0000FF"/>
                </a:solidFill>
                <a:highlight>
                  <a:srgbClr val="FFFFFF"/>
                </a:highlight>
                <a:latin typeface="Lucida Console" panose="020B0609040504020204" pitchFamily="49" charset="0"/>
              </a:rPr>
              <a:t>="</a:t>
            </a:r>
            <a:r>
              <a:rPr lang="en-US" dirty="0">
                <a:solidFill>
                  <a:srgbClr val="000000"/>
                </a:solidFill>
                <a:highlight>
                  <a:srgbClr val="FFFFFF"/>
                </a:highlight>
                <a:latin typeface="Lucida Console" panose="020B0609040504020204" pitchFamily="49" charset="0"/>
              </a:rPr>
              <a:t>1.0.0</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IfCondition</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Code</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Q2="Yes"</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Code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IfCondition</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ThenConstructReference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Q3</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ThenConstructReference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ElseConstructReference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Q4</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ElseConstructReference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IfThenElse</a:t>
            </a:r>
            <a:r>
              <a:rPr lang="en-US" dirty="0">
                <a:solidFill>
                  <a:srgbClr val="0000FF"/>
                </a:solidFill>
                <a:highlight>
                  <a:srgbClr val="FFFFFF"/>
                </a:highlight>
                <a:latin typeface="Lucida Console" panose="020B0609040504020204" pitchFamily="49" charset="0"/>
              </a:rPr>
              <a:t>&gt;</a:t>
            </a:r>
            <a:endParaRPr lang="en-US" dirty="0">
              <a:latin typeface="Lucida Console" panose="020B0609040504020204" pitchFamily="49" charset="0"/>
            </a:endParaRPr>
          </a:p>
        </p:txBody>
      </p:sp>
    </p:spTree>
    <p:extLst>
      <p:ext uri="{BB962C8B-B14F-4D97-AF65-F5344CB8AC3E}">
        <p14:creationId xmlns:p14="http://schemas.microsoft.com/office/powerpoint/2010/main" val="61110127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Questionnaire</a:t>
            </a:r>
            <a:endParaRPr lang="en-US" dirty="0"/>
          </a:p>
        </p:txBody>
      </p:sp>
      <p:sp>
        <p:nvSpPr>
          <p:cNvPr id="3" name="Content Placeholder 2"/>
          <p:cNvSpPr>
            <a:spLocks noGrp="1"/>
          </p:cNvSpPr>
          <p:nvPr>
            <p:ph idx="1"/>
          </p:nvPr>
        </p:nvSpPr>
        <p:spPr/>
        <p:txBody>
          <a:bodyPr/>
          <a:lstStyle/>
          <a:p>
            <a:r>
              <a:rPr lang="en-US" dirty="0" smtClean="0"/>
              <a:t>In DDI, the questionnaire itself is represented by the Instrument</a:t>
            </a:r>
          </a:p>
          <a:p>
            <a:r>
              <a:rPr lang="en-US" dirty="0" smtClean="0"/>
              <a:t>This is found in the Data Collection module</a:t>
            </a:r>
          </a:p>
          <a:p>
            <a:r>
              <a:rPr lang="en-US" dirty="0" smtClean="0"/>
              <a:t>Each Instrument references the top-level Sequence in the Control Construct Scheme</a:t>
            </a:r>
          </a:p>
          <a:p>
            <a:r>
              <a:rPr lang="en-US" dirty="0" smtClean="0"/>
              <a:t>There will be a separate Instrument for each survey administration mode</a:t>
            </a:r>
          </a:p>
          <a:p>
            <a:pPr lvl="1"/>
            <a:r>
              <a:rPr lang="en-US" dirty="0" smtClean="0"/>
              <a:t>But most of the other metadata will be reused</a:t>
            </a:r>
          </a:p>
        </p:txBody>
      </p:sp>
    </p:spTree>
    <p:extLst>
      <p:ext uri="{BB962C8B-B14F-4D97-AF65-F5344CB8AC3E}">
        <p14:creationId xmlns:p14="http://schemas.microsoft.com/office/powerpoint/2010/main" val="204519061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Instrument XML</a:t>
            </a:r>
            <a:endParaRPr lang="en-US" dirty="0"/>
          </a:p>
        </p:txBody>
      </p:sp>
      <p:sp>
        <p:nvSpPr>
          <p:cNvPr id="3" name="Content Placeholder 2"/>
          <p:cNvSpPr>
            <a:spLocks noGrp="1"/>
          </p:cNvSpPr>
          <p:nvPr>
            <p:ph idx="1"/>
          </p:nvPr>
        </p:nvSpPr>
        <p:spPr/>
        <p:txBody>
          <a:bodyPr>
            <a:normAutofit fontScale="62500" lnSpcReduction="20000"/>
          </a:bodyPr>
          <a:lstStyle/>
          <a:p>
            <a:pPr marL="0" indent="0" defTabSz="360363">
              <a:buNone/>
            </a:pP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Instrument</a:t>
            </a:r>
            <a:r>
              <a:rPr lang="en-US" dirty="0">
                <a:solidFill>
                  <a:srgbClr val="FF0000"/>
                </a:solidFill>
                <a:highlight>
                  <a:srgbClr val="FFFFFF"/>
                </a:highlight>
                <a:latin typeface="Lucida Console" panose="020B0609040504020204" pitchFamily="49" charset="0"/>
              </a:rPr>
              <a:t> id</a:t>
            </a:r>
            <a:r>
              <a:rPr lang="en-US" dirty="0">
                <a:solidFill>
                  <a:srgbClr val="0000FF"/>
                </a:solidFill>
                <a:highlight>
                  <a:srgbClr val="FFFFFF"/>
                </a:highlight>
                <a:latin typeface="Lucida Console" panose="020B0609040504020204" pitchFamily="49" charset="0"/>
              </a:rPr>
              <a:t>="</a:t>
            </a:r>
            <a:r>
              <a:rPr lang="en-US" dirty="0">
                <a:solidFill>
                  <a:srgbClr val="000000"/>
                </a:solidFill>
                <a:highlight>
                  <a:srgbClr val="FFFFFF"/>
                </a:highlight>
                <a:latin typeface="Lucida Console" panose="020B0609040504020204" pitchFamily="49" charset="0"/>
              </a:rPr>
              <a:t>LFS</a:t>
            </a:r>
            <a:r>
              <a:rPr lang="en-US" dirty="0">
                <a:solidFill>
                  <a:srgbClr val="0000FF"/>
                </a:solidFill>
                <a:highlight>
                  <a:srgbClr val="FFFFFF"/>
                </a:highlight>
                <a:latin typeface="Lucida Console" panose="020B0609040504020204" pitchFamily="49" charset="0"/>
              </a:rPr>
              <a:t>"</a:t>
            </a:r>
            <a:r>
              <a:rPr lang="en-US" dirty="0">
                <a:solidFill>
                  <a:srgbClr val="FF0000"/>
                </a:solidFill>
                <a:highlight>
                  <a:srgbClr val="FFFFFF"/>
                </a:highlight>
                <a:latin typeface="Lucida Console" panose="020B0609040504020204" pitchFamily="49" charset="0"/>
              </a:rPr>
              <a:t> agency</a:t>
            </a:r>
            <a:r>
              <a:rPr lang="en-US" dirty="0">
                <a:solidFill>
                  <a:srgbClr val="0000FF"/>
                </a:solidFill>
                <a:highlight>
                  <a:srgbClr val="FFFFFF"/>
                </a:highlight>
                <a:latin typeface="Lucida Console" panose="020B0609040504020204" pitchFamily="49" charset="0"/>
              </a:rPr>
              <a:t>="</a:t>
            </a:r>
            <a:r>
              <a:rPr lang="en-US" dirty="0" smtClean="0">
                <a:solidFill>
                  <a:srgbClr val="000000"/>
                </a:solidFill>
                <a:highlight>
                  <a:srgbClr val="FFFFFF"/>
                </a:highlight>
                <a:latin typeface="Lucida Console" panose="020B0609040504020204" pitchFamily="49" charset="0"/>
              </a:rPr>
              <a:t>ISTAT.IT</a:t>
            </a:r>
            <a:r>
              <a:rPr lang="en-US" dirty="0">
                <a:solidFill>
                  <a:srgbClr val="0000FF"/>
                </a:solidFill>
                <a:highlight>
                  <a:srgbClr val="FFFFFF"/>
                </a:highlight>
                <a:latin typeface="Lucida Console" panose="020B0609040504020204" pitchFamily="49" charset="0"/>
              </a:rPr>
              <a:t>"</a:t>
            </a:r>
            <a:r>
              <a:rPr lang="en-US" dirty="0" smtClean="0">
                <a:solidFill>
                  <a:srgbClr val="0000FF"/>
                </a:solidFill>
                <a:highlight>
                  <a:srgbClr val="FFFFFF"/>
                </a:highlight>
                <a:latin typeface="Lucida Console" panose="020B0609040504020204" pitchFamily="49" charset="0"/>
              </a:rPr>
              <a:t> </a:t>
            </a:r>
            <a:r>
              <a:rPr lang="fr-FR" b="1" dirty="0" smtClean="0">
                <a:solidFill>
                  <a:srgbClr val="000000"/>
                </a:solidFill>
                <a:highlight>
                  <a:srgbClr val="FFFFFF"/>
                </a:highlight>
                <a:latin typeface="Lucida Console" panose="020B0609040504020204" pitchFamily="49" charset="0"/>
              </a:rPr>
              <a:t>↵</a:t>
            </a:r>
            <a:endParaRPr lang="en-US" dirty="0" smtClean="0">
              <a:solidFill>
                <a:srgbClr val="0000FF"/>
              </a:solidFill>
              <a:highlight>
                <a:srgbClr val="FFFFFF"/>
              </a:highlight>
              <a:latin typeface="Lucida Console" panose="020B0609040504020204" pitchFamily="49" charset="0"/>
            </a:endParaRPr>
          </a:p>
          <a:p>
            <a:pPr marL="0" indent="0" defTabSz="360363">
              <a:buNone/>
            </a:pPr>
            <a:r>
              <a:rPr lang="en-US" dirty="0" smtClean="0">
                <a:solidFill>
                  <a:srgbClr val="FF0000"/>
                </a:solidFill>
                <a:highlight>
                  <a:srgbClr val="FFFFFF"/>
                </a:highlight>
                <a:latin typeface="Lucida Console" panose="020B0609040504020204" pitchFamily="49" charset="0"/>
              </a:rPr>
              <a:t>	version</a:t>
            </a:r>
            <a:r>
              <a:rPr lang="en-US" dirty="0">
                <a:solidFill>
                  <a:srgbClr val="0000FF"/>
                </a:solidFill>
                <a:highlight>
                  <a:srgbClr val="FFFFFF"/>
                </a:highlight>
                <a:latin typeface="Lucida Console" panose="020B0609040504020204" pitchFamily="49" charset="0"/>
              </a:rPr>
              <a:t>="</a:t>
            </a:r>
            <a:r>
              <a:rPr lang="en-US" dirty="0">
                <a:solidFill>
                  <a:srgbClr val="000000"/>
                </a:solidFill>
                <a:highlight>
                  <a:srgbClr val="FFFFFF"/>
                </a:highlight>
                <a:latin typeface="Lucida Console" panose="020B0609040504020204" pitchFamily="49" charset="0"/>
              </a:rPr>
              <a:t>3.0.2</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InstrumentName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fr-FR" dirty="0">
                <a:solidFill>
                  <a:srgbClr val="000000"/>
                </a:solidFill>
                <a:highlight>
                  <a:srgbClr val="FFFFFF"/>
                </a:highlight>
                <a:latin typeface="Lucida Console" panose="020B0609040504020204" pitchFamily="49" charset="0"/>
              </a:rPr>
              <a:t>		</a:t>
            </a:r>
            <a:r>
              <a:rPr lang="fr-FR" dirty="0">
                <a:solidFill>
                  <a:srgbClr val="0000FF"/>
                </a:solidFill>
                <a:highlight>
                  <a:srgbClr val="FFFFFF"/>
                </a:highlight>
                <a:latin typeface="Lucida Console" panose="020B0609040504020204" pitchFamily="49" charset="0"/>
              </a:rPr>
              <a:t>&lt;</a:t>
            </a:r>
            <a:r>
              <a:rPr lang="fr-FR" dirty="0">
                <a:solidFill>
                  <a:srgbClr val="800000"/>
                </a:solidFill>
                <a:highlight>
                  <a:srgbClr val="FFFFFF"/>
                </a:highlight>
                <a:latin typeface="Lucida Console" panose="020B0609040504020204" pitchFamily="49" charset="0"/>
              </a:rPr>
              <a:t>Name</a:t>
            </a:r>
            <a:r>
              <a:rPr lang="fr-FR" dirty="0">
                <a:solidFill>
                  <a:srgbClr val="0000FF"/>
                </a:solidFill>
                <a:highlight>
                  <a:srgbClr val="FFFFFF"/>
                </a:highlight>
                <a:latin typeface="Lucida Console" panose="020B0609040504020204" pitchFamily="49" charset="0"/>
              </a:rPr>
              <a:t>&gt;</a:t>
            </a:r>
            <a:r>
              <a:rPr lang="fr-FR" dirty="0">
                <a:solidFill>
                  <a:srgbClr val="000000"/>
                </a:solidFill>
                <a:highlight>
                  <a:srgbClr val="FFFFFF"/>
                </a:highlight>
                <a:latin typeface="Lucida Console" panose="020B0609040504020204" pitchFamily="49" charset="0"/>
              </a:rPr>
              <a:t>Labour Force Survey Questionnaire for </a:t>
            </a:r>
            <a:r>
              <a:rPr lang="fr-FR" b="1" dirty="0">
                <a:solidFill>
                  <a:srgbClr val="000000"/>
                </a:solidFill>
                <a:highlight>
                  <a:srgbClr val="FFFFFF"/>
                </a:highlight>
                <a:latin typeface="Lucida Console" panose="020B0609040504020204" pitchFamily="49" charset="0"/>
              </a:rPr>
              <a:t>↵</a:t>
            </a:r>
            <a:r>
              <a:rPr lang="fr-FR" dirty="0">
                <a:solidFill>
                  <a:srgbClr val="000000"/>
                </a:solidFill>
                <a:highlight>
                  <a:srgbClr val="FFFFFF"/>
                </a:highlight>
                <a:latin typeface="Lucida Console" panose="020B0609040504020204" pitchFamily="49" charset="0"/>
              </a:rPr>
              <a:t> </a:t>
            </a:r>
            <a:r>
              <a:rPr lang="en-US" dirty="0" smtClean="0">
                <a:solidFill>
                  <a:srgbClr val="000000"/>
                </a:solidFill>
                <a:highlight>
                  <a:srgbClr val="FFFFFF"/>
                </a:highlight>
                <a:latin typeface="Lucida Console" panose="020B0609040504020204" pitchFamily="49" charset="0"/>
              </a:rPr>
              <a:t>2012</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Name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InstrumentName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smtClean="0">
                <a:solidFill>
                  <a:srgbClr val="800000"/>
                </a:solidFill>
                <a:highlight>
                  <a:srgbClr val="FFFFFF"/>
                </a:highlight>
                <a:latin typeface="Lucida Console" panose="020B0609040504020204" pitchFamily="49" charset="0"/>
              </a:rPr>
              <a:t>Type</a:t>
            </a:r>
            <a:r>
              <a:rPr lang="en-US" dirty="0" smtClean="0">
                <a:solidFill>
                  <a:srgbClr val="0000FF"/>
                </a:solidFill>
                <a:highlight>
                  <a:srgbClr val="FFFFFF"/>
                </a:highlight>
                <a:latin typeface="Lucida Console" panose="020B0609040504020204" pitchFamily="49" charset="0"/>
              </a:rPr>
              <a:t>&gt;</a:t>
            </a:r>
            <a:r>
              <a:rPr lang="en-US" dirty="0" smtClean="0">
                <a:solidFill>
                  <a:srgbClr val="000000"/>
                </a:solidFill>
                <a:highlight>
                  <a:srgbClr val="FFFFFF"/>
                </a:highlight>
                <a:latin typeface="Lucida Console" panose="020B0609040504020204" pitchFamily="49" charset="0"/>
              </a:rPr>
              <a:t>Print </a:t>
            </a:r>
            <a:r>
              <a:rPr lang="en-US" dirty="0">
                <a:solidFill>
                  <a:srgbClr val="000000"/>
                </a:solidFill>
                <a:highlight>
                  <a:srgbClr val="FFFFFF"/>
                </a:highlight>
                <a:latin typeface="Lucida Console" panose="020B0609040504020204" pitchFamily="49" charset="0"/>
              </a:rPr>
              <a:t>questionnaire </a:t>
            </a:r>
            <a:r>
              <a:rPr lang="en-US" dirty="0" smtClean="0">
                <a:solidFill>
                  <a:srgbClr val="000000"/>
                </a:solidFill>
                <a:highlight>
                  <a:srgbClr val="FFFFFF"/>
                </a:highlight>
                <a:latin typeface="Lucida Console" panose="020B0609040504020204" pitchFamily="49" charset="0"/>
              </a:rPr>
              <a:t>form</a:t>
            </a:r>
            <a:r>
              <a:rPr lang="en-US" dirty="0" smtClean="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Type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ControlConstructReference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Scheme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ControlConstructScheme1</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Scheme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Seq1</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ControlConstructReference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Instrument</a:t>
            </a:r>
            <a:r>
              <a:rPr lang="en-US" dirty="0">
                <a:solidFill>
                  <a:srgbClr val="0000FF"/>
                </a:solidFill>
                <a:highlight>
                  <a:srgbClr val="FFFFFF"/>
                </a:highlight>
                <a:latin typeface="Lucida Console" panose="020B0609040504020204" pitchFamily="49" charset="0"/>
              </a:rPr>
              <a:t>&gt;</a:t>
            </a:r>
            <a:endParaRPr lang="en-US" dirty="0">
              <a:latin typeface="Lucida Console" panose="020B0609040504020204" pitchFamily="49" charset="0"/>
            </a:endParaRPr>
          </a:p>
        </p:txBody>
      </p:sp>
    </p:spTree>
    <p:extLst>
      <p:ext uri="{BB962C8B-B14F-4D97-AF65-F5344CB8AC3E}">
        <p14:creationId xmlns:p14="http://schemas.microsoft.com/office/powerpoint/2010/main" val="248859015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Bringing the Pieces Together</a:t>
            </a:r>
            <a:endParaRPr lang="en-US" dirty="0"/>
          </a:p>
        </p:txBody>
      </p:sp>
      <p:pic>
        <p:nvPicPr>
          <p:cNvPr id="4" name="Content Placeholder 3"/>
          <p:cNvPicPr>
            <a:picLocks noGrp="1"/>
          </p:cNvPicPr>
          <p:nvPr>
            <p:ph idx="1"/>
          </p:nvPr>
        </p:nvPicPr>
        <p:blipFill>
          <a:blip r:embed="rId2" cstate="print"/>
          <a:stretch>
            <a:fillRect/>
          </a:stretch>
        </p:blipFill>
        <p:spPr>
          <a:xfrm>
            <a:off x="990281" y="1676400"/>
            <a:ext cx="6934519" cy="4557158"/>
          </a:xfrm>
          <a:prstGeom prst="rect">
            <a:avLst/>
          </a:prstGeom>
        </p:spPr>
      </p:pic>
    </p:spTree>
    <p:extLst>
      <p:ext uri="{BB962C8B-B14F-4D97-AF65-F5344CB8AC3E}">
        <p14:creationId xmlns:p14="http://schemas.microsoft.com/office/powerpoint/2010/main" val="185402592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4953000"/>
            <a:ext cx="7772400" cy="1470025"/>
          </a:xfrm>
        </p:spPr>
        <p:txBody>
          <a:bodyPr>
            <a:normAutofit/>
          </a:bodyPr>
          <a:lstStyle/>
          <a:p>
            <a:pPr algn="l"/>
            <a:r>
              <a:rPr lang="en-US" sz="4000" b="1" cap="all" dirty="0" smtClean="0"/>
              <a:t>Document Data Processing and Life Cycle Events</a:t>
            </a:r>
            <a:endParaRPr lang="en-US" sz="4000" b="1" cap="all" dirty="0"/>
          </a:p>
        </p:txBody>
      </p:sp>
      <p:sp>
        <p:nvSpPr>
          <p:cNvPr id="3" name="Subtitle 2"/>
          <p:cNvSpPr>
            <a:spLocks noGrp="1"/>
          </p:cNvSpPr>
          <p:nvPr>
            <p:ph type="subTitle" idx="1"/>
          </p:nvPr>
        </p:nvSpPr>
        <p:spPr>
          <a:xfrm>
            <a:off x="533400" y="3200400"/>
            <a:ext cx="6400800" cy="1752600"/>
          </a:xfrm>
        </p:spPr>
        <p:txBody>
          <a:bodyPr anchor="b">
            <a:normAutofit/>
          </a:bodyPr>
          <a:lstStyle/>
          <a:p>
            <a:pPr algn="l"/>
            <a:r>
              <a:rPr lang="en-US" sz="2000" dirty="0" smtClean="0"/>
              <a:t>Functional Task 5</a:t>
            </a:r>
            <a:endParaRPr lang="en-US" sz="2000"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does processing take place?</a:t>
            </a:r>
            <a:endParaRPr lang="en-US" dirty="0"/>
          </a:p>
        </p:txBody>
      </p:sp>
      <p:sp>
        <p:nvSpPr>
          <p:cNvPr id="4" name="Rectangle 3"/>
          <p:cNvSpPr/>
          <p:nvPr/>
        </p:nvSpPr>
        <p:spPr>
          <a:xfrm>
            <a:off x="762000" y="1295400"/>
            <a:ext cx="1676400" cy="1676400"/>
          </a:xfrm>
          <a:prstGeom prst="rect">
            <a:avLst/>
          </a:prstGeom>
          <a:solidFill>
            <a:schemeClr val="bg2">
              <a:lumMod val="9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Data Collection </a:t>
            </a:r>
            <a:endParaRPr lang="en-US" dirty="0">
              <a:solidFill>
                <a:schemeClr val="tx1"/>
              </a:solidFill>
            </a:endParaRPr>
          </a:p>
        </p:txBody>
      </p:sp>
      <p:sp>
        <p:nvSpPr>
          <p:cNvPr id="5" name="Line Callout 1 4"/>
          <p:cNvSpPr/>
          <p:nvPr/>
        </p:nvSpPr>
        <p:spPr>
          <a:xfrm>
            <a:off x="3810000" y="1371600"/>
            <a:ext cx="1447800" cy="914400"/>
          </a:xfrm>
          <a:prstGeom prst="borderCallout1">
            <a:avLst>
              <a:gd name="adj1" fmla="val 45893"/>
              <a:gd name="adj2" fmla="val -2919"/>
              <a:gd name="adj3" fmla="val 76786"/>
              <a:gd name="adj4" fmla="val -95175"/>
            </a:avLst>
          </a:prstGeom>
          <a:solidFill>
            <a:schemeClr val="accent2">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Validation of Response</a:t>
            </a:r>
            <a:endParaRPr lang="en-US" dirty="0">
              <a:solidFill>
                <a:schemeClr val="tx1"/>
              </a:solidFill>
            </a:endParaRPr>
          </a:p>
        </p:txBody>
      </p:sp>
      <p:sp>
        <p:nvSpPr>
          <p:cNvPr id="7" name="Line Callout 1 6"/>
          <p:cNvSpPr/>
          <p:nvPr/>
        </p:nvSpPr>
        <p:spPr>
          <a:xfrm>
            <a:off x="3886200" y="2667000"/>
            <a:ext cx="1295400" cy="914400"/>
          </a:xfrm>
          <a:prstGeom prst="borderCallout1">
            <a:avLst>
              <a:gd name="adj1" fmla="val 50179"/>
              <a:gd name="adj2" fmla="val -1274"/>
              <a:gd name="adj3" fmla="val -63214"/>
              <a:gd name="adj4" fmla="val -113963"/>
            </a:avLst>
          </a:prstGeom>
          <a:solidFill>
            <a:schemeClr val="accent2">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Routing processes</a:t>
            </a:r>
            <a:endParaRPr lang="en-US" dirty="0">
              <a:solidFill>
                <a:schemeClr val="tx1"/>
              </a:solidFill>
            </a:endParaRPr>
          </a:p>
        </p:txBody>
      </p:sp>
      <p:sp>
        <p:nvSpPr>
          <p:cNvPr id="8" name="Rectangle 7"/>
          <p:cNvSpPr/>
          <p:nvPr/>
        </p:nvSpPr>
        <p:spPr>
          <a:xfrm>
            <a:off x="685800" y="4038600"/>
            <a:ext cx="1828800" cy="1066800"/>
          </a:xfrm>
          <a:prstGeom prst="rect">
            <a:avLst/>
          </a:prstGeom>
          <a:solidFill>
            <a:schemeClr val="bg2">
              <a:lumMod val="9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Raw Data</a:t>
            </a:r>
            <a:endParaRPr lang="en-US" dirty="0">
              <a:solidFill>
                <a:schemeClr val="tx1"/>
              </a:solidFill>
            </a:endParaRPr>
          </a:p>
        </p:txBody>
      </p:sp>
      <p:sp>
        <p:nvSpPr>
          <p:cNvPr id="9" name="Rectangle 8"/>
          <p:cNvSpPr/>
          <p:nvPr/>
        </p:nvSpPr>
        <p:spPr>
          <a:xfrm>
            <a:off x="3810000" y="4267200"/>
            <a:ext cx="1219200" cy="914400"/>
          </a:xfrm>
          <a:prstGeom prst="rect">
            <a:avLst/>
          </a:prstGeom>
          <a:solidFill>
            <a:schemeClr val="accent2">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Validation</a:t>
            </a:r>
            <a:endParaRPr lang="en-US" dirty="0">
              <a:solidFill>
                <a:schemeClr val="tx1"/>
              </a:solidFill>
            </a:endParaRPr>
          </a:p>
        </p:txBody>
      </p:sp>
      <p:sp>
        <p:nvSpPr>
          <p:cNvPr id="10" name="Rectangle 9"/>
          <p:cNvSpPr/>
          <p:nvPr/>
        </p:nvSpPr>
        <p:spPr>
          <a:xfrm>
            <a:off x="838200" y="5486400"/>
            <a:ext cx="1600200" cy="914400"/>
          </a:xfrm>
          <a:prstGeom prst="rect">
            <a:avLst/>
          </a:prstGeom>
          <a:solidFill>
            <a:schemeClr val="bg2">
              <a:lumMod val="9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Paradata (Process Data)</a:t>
            </a:r>
            <a:endParaRPr lang="en-US" dirty="0">
              <a:solidFill>
                <a:schemeClr val="tx1"/>
              </a:solidFill>
            </a:endParaRPr>
          </a:p>
        </p:txBody>
      </p:sp>
      <p:sp>
        <p:nvSpPr>
          <p:cNvPr id="11" name="Rectangle 10"/>
          <p:cNvSpPr/>
          <p:nvPr/>
        </p:nvSpPr>
        <p:spPr>
          <a:xfrm>
            <a:off x="3657600" y="5638800"/>
            <a:ext cx="1828800" cy="914400"/>
          </a:xfrm>
          <a:prstGeom prst="rect">
            <a:avLst/>
          </a:prstGeom>
          <a:solidFill>
            <a:schemeClr val="accent2">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Confidentiality</a:t>
            </a:r>
          </a:p>
          <a:p>
            <a:pPr algn="ctr"/>
            <a:r>
              <a:rPr lang="en-US" dirty="0" smtClean="0">
                <a:solidFill>
                  <a:schemeClr val="tx1"/>
                </a:solidFill>
              </a:rPr>
              <a:t>Processes</a:t>
            </a:r>
            <a:endParaRPr lang="en-US" dirty="0">
              <a:solidFill>
                <a:schemeClr val="tx1"/>
              </a:solidFill>
            </a:endParaRPr>
          </a:p>
        </p:txBody>
      </p:sp>
      <p:sp>
        <p:nvSpPr>
          <p:cNvPr id="12" name="Rectangle 11"/>
          <p:cNvSpPr/>
          <p:nvPr/>
        </p:nvSpPr>
        <p:spPr>
          <a:xfrm>
            <a:off x="6172200" y="4800600"/>
            <a:ext cx="2209800" cy="914400"/>
          </a:xfrm>
          <a:prstGeom prst="rect">
            <a:avLst/>
          </a:prstGeom>
          <a:solidFill>
            <a:schemeClr val="bg2">
              <a:lumMod val="9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Final Data Set</a:t>
            </a:r>
            <a:endParaRPr lang="en-US" dirty="0">
              <a:solidFill>
                <a:schemeClr val="tx1"/>
              </a:solidFill>
            </a:endParaRPr>
          </a:p>
        </p:txBody>
      </p:sp>
      <p:sp>
        <p:nvSpPr>
          <p:cNvPr id="13" name="Rectangle 12"/>
          <p:cNvSpPr/>
          <p:nvPr/>
        </p:nvSpPr>
        <p:spPr>
          <a:xfrm>
            <a:off x="6629400" y="3124200"/>
            <a:ext cx="1295400" cy="914400"/>
          </a:xfrm>
          <a:prstGeom prst="rect">
            <a:avLst/>
          </a:prstGeom>
          <a:solidFill>
            <a:schemeClr val="accent2">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Analysis</a:t>
            </a:r>
            <a:endParaRPr lang="en-US" dirty="0">
              <a:solidFill>
                <a:schemeClr val="tx1"/>
              </a:solidFill>
            </a:endParaRPr>
          </a:p>
        </p:txBody>
      </p:sp>
      <p:sp>
        <p:nvSpPr>
          <p:cNvPr id="14" name="Rectangle 13"/>
          <p:cNvSpPr/>
          <p:nvPr/>
        </p:nvSpPr>
        <p:spPr>
          <a:xfrm>
            <a:off x="6400800" y="1447800"/>
            <a:ext cx="1752600" cy="914400"/>
          </a:xfrm>
          <a:prstGeom prst="rect">
            <a:avLst/>
          </a:prstGeom>
          <a:solidFill>
            <a:schemeClr val="bg2">
              <a:lumMod val="9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Revised Data</a:t>
            </a:r>
            <a:endParaRPr lang="en-US" dirty="0">
              <a:solidFill>
                <a:schemeClr val="tx1"/>
              </a:solidFill>
            </a:endParaRPr>
          </a:p>
        </p:txBody>
      </p:sp>
      <p:cxnSp>
        <p:nvCxnSpPr>
          <p:cNvPr id="16" name="Straight Arrow Connector 15"/>
          <p:cNvCxnSpPr>
            <a:stCxn id="4" idx="2"/>
            <a:endCxn id="8" idx="0"/>
          </p:cNvCxnSpPr>
          <p:nvPr/>
        </p:nvCxnSpPr>
        <p:spPr>
          <a:xfrm>
            <a:off x="1600200" y="2971800"/>
            <a:ext cx="0" cy="1066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4" idx="1"/>
          </p:cNvCxnSpPr>
          <p:nvPr/>
        </p:nvCxnSpPr>
        <p:spPr>
          <a:xfrm flipH="1">
            <a:off x="304800" y="2133600"/>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04800" y="2133600"/>
            <a:ext cx="0" cy="381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10" idx="1"/>
          </p:cNvCxnSpPr>
          <p:nvPr/>
        </p:nvCxnSpPr>
        <p:spPr>
          <a:xfrm>
            <a:off x="304800" y="5943600"/>
            <a:ext cx="5334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3200400" y="4572000"/>
            <a:ext cx="0" cy="1524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endCxn id="9" idx="1"/>
          </p:cNvCxnSpPr>
          <p:nvPr/>
        </p:nvCxnSpPr>
        <p:spPr>
          <a:xfrm>
            <a:off x="3200400" y="4724400"/>
            <a:ext cx="609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11" idx="1"/>
          </p:cNvCxnSpPr>
          <p:nvPr/>
        </p:nvCxnSpPr>
        <p:spPr>
          <a:xfrm>
            <a:off x="3200400" y="6096000"/>
            <a:ext cx="457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0" idx="3"/>
          </p:cNvCxnSpPr>
          <p:nvPr/>
        </p:nvCxnSpPr>
        <p:spPr>
          <a:xfrm>
            <a:off x="2438400" y="5943600"/>
            <a:ext cx="76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8" idx="3"/>
          </p:cNvCxnSpPr>
          <p:nvPr/>
        </p:nvCxnSpPr>
        <p:spPr>
          <a:xfrm>
            <a:off x="2514600" y="4572000"/>
            <a:ext cx="685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9" idx="3"/>
          </p:cNvCxnSpPr>
          <p:nvPr/>
        </p:nvCxnSpPr>
        <p:spPr>
          <a:xfrm>
            <a:off x="5029200" y="4724400"/>
            <a:ext cx="76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11" idx="3"/>
          </p:cNvCxnSpPr>
          <p:nvPr/>
        </p:nvCxnSpPr>
        <p:spPr>
          <a:xfrm>
            <a:off x="5486400" y="6096000"/>
            <a:ext cx="304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791200" y="4724400"/>
            <a:ext cx="0" cy="1371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endCxn id="12" idx="1"/>
          </p:cNvCxnSpPr>
          <p:nvPr/>
        </p:nvCxnSpPr>
        <p:spPr>
          <a:xfrm>
            <a:off x="5791200" y="5257800"/>
            <a:ext cx="3810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2" idx="0"/>
            <a:endCxn id="13" idx="2"/>
          </p:cNvCxnSpPr>
          <p:nvPr/>
        </p:nvCxnSpPr>
        <p:spPr>
          <a:xfrm flipV="1">
            <a:off x="7277100" y="4038600"/>
            <a:ext cx="0" cy="76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0"/>
            <a:endCxn id="14" idx="2"/>
          </p:cNvCxnSpPr>
          <p:nvPr/>
        </p:nvCxnSpPr>
        <p:spPr>
          <a:xfrm flipV="1">
            <a:off x="7277100" y="2362200"/>
            <a:ext cx="0" cy="76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is this handled in DDI?</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Processing Events</a:t>
            </a:r>
          </a:p>
          <a:p>
            <a:r>
              <a:rPr lang="en-US" dirty="0" smtClean="0"/>
              <a:t>Processing Instructions</a:t>
            </a:r>
          </a:p>
          <a:p>
            <a:pPr lvl="1"/>
            <a:r>
              <a:rPr lang="en-US" dirty="0" smtClean="0"/>
              <a:t>Generation Instruction</a:t>
            </a:r>
          </a:p>
          <a:p>
            <a:pPr lvl="1"/>
            <a:r>
              <a:rPr lang="en-US" dirty="0" smtClean="0"/>
              <a:t>General Instruction</a:t>
            </a:r>
          </a:p>
          <a:p>
            <a:r>
              <a:rPr lang="en-US" dirty="0" smtClean="0"/>
              <a:t>General descriptions</a:t>
            </a:r>
          </a:p>
          <a:p>
            <a:pPr lvl="1"/>
            <a:r>
              <a:rPr lang="en-US" dirty="0" smtClean="0"/>
              <a:t>E.g. Collection Event/Action To Minimize Loss</a:t>
            </a:r>
          </a:p>
          <a:p>
            <a:r>
              <a:rPr lang="en-US" dirty="0" smtClean="0"/>
              <a:t>Life Cycle Event</a:t>
            </a:r>
          </a:p>
          <a:p>
            <a:pPr lvl="1"/>
            <a:r>
              <a:rPr lang="en-US" dirty="0" smtClean="0"/>
              <a:t>Provides Date, Actor, Event description, Relationship (links to a detailed event description, Other Material, Generation Instruction, etc.)</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Processing Event</a:t>
            </a:r>
            <a:endParaRPr lang="en-US" dirty="0"/>
          </a:p>
        </p:txBody>
      </p:sp>
      <p:sp>
        <p:nvSpPr>
          <p:cNvPr id="3" name="Content Placeholder 2"/>
          <p:cNvSpPr>
            <a:spLocks noGrp="1"/>
          </p:cNvSpPr>
          <p:nvPr>
            <p:ph idx="1"/>
          </p:nvPr>
        </p:nvSpPr>
        <p:spPr>
          <a:xfrm>
            <a:off x="457200" y="1371600"/>
            <a:ext cx="8229600" cy="4754563"/>
          </a:xfrm>
        </p:spPr>
        <p:txBody>
          <a:bodyPr>
            <a:normAutofit fontScale="85000" lnSpcReduction="10000"/>
          </a:bodyPr>
          <a:lstStyle/>
          <a:p>
            <a:r>
              <a:rPr lang="en-US" dirty="0" smtClean="0"/>
              <a:t>Processing Events bundle together information on a number of different events. These are bundled to reflect those activities which occur together:</a:t>
            </a:r>
          </a:p>
          <a:p>
            <a:pPr lvl="1"/>
            <a:r>
              <a:rPr lang="en-US" dirty="0" smtClean="0"/>
              <a:t>Control Operation (type, description)</a:t>
            </a:r>
          </a:p>
          <a:p>
            <a:pPr lvl="1"/>
            <a:r>
              <a:rPr lang="en-US" dirty="0" smtClean="0"/>
              <a:t>Cleaning Operation (type, description)</a:t>
            </a:r>
          </a:p>
          <a:p>
            <a:pPr lvl="1"/>
            <a:r>
              <a:rPr lang="en-US" dirty="0" smtClean="0"/>
              <a:t>Weighting (description, standard weight factor)</a:t>
            </a:r>
          </a:p>
          <a:p>
            <a:pPr lvl="1"/>
            <a:r>
              <a:rPr lang="en-US" dirty="0" smtClean="0"/>
              <a:t>Data Appraisal Information (Response, error, etc.)</a:t>
            </a:r>
          </a:p>
          <a:p>
            <a:pPr lvl="1"/>
            <a:r>
              <a:rPr lang="en-US" dirty="0" smtClean="0"/>
              <a:t>Processing Instruction Reference</a:t>
            </a:r>
          </a:p>
          <a:p>
            <a:pPr lvl="1"/>
            <a:r>
              <a:rPr lang="en-US" dirty="0" smtClean="0"/>
              <a:t>Quality Statement Reference</a:t>
            </a:r>
          </a:p>
          <a:p>
            <a:r>
              <a:rPr lang="en-US" dirty="0" smtClean="0"/>
              <a:t>DDI currently does not have a structured process model so Processing Event is descriptive only</a:t>
            </a:r>
          </a:p>
          <a:p>
            <a:pPr lvl="1"/>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Processing Instructions</a:t>
            </a:r>
            <a:endParaRPr lang="en-US" dirty="0"/>
          </a:p>
        </p:txBody>
      </p:sp>
      <p:sp>
        <p:nvSpPr>
          <p:cNvPr id="3" name="Content Placeholder 2"/>
          <p:cNvSpPr>
            <a:spLocks noGrp="1"/>
          </p:cNvSpPr>
          <p:nvPr>
            <p:ph idx="1"/>
          </p:nvPr>
        </p:nvSpPr>
        <p:spPr/>
        <p:txBody>
          <a:bodyPr>
            <a:normAutofit/>
          </a:bodyPr>
          <a:lstStyle/>
          <a:p>
            <a:r>
              <a:rPr lang="en-US" dirty="0" smtClean="0"/>
              <a:t>Processing Instructions are maintained in a scheme and are referenced from their point of use</a:t>
            </a:r>
          </a:p>
          <a:p>
            <a:pPr lvl="1"/>
            <a:r>
              <a:rPr lang="en-US" dirty="0" smtClean="0"/>
              <a:t>Representation Map (comparative)</a:t>
            </a:r>
          </a:p>
          <a:p>
            <a:pPr lvl="1"/>
            <a:r>
              <a:rPr lang="en-US" dirty="0" smtClean="0"/>
              <a:t>Processing Event</a:t>
            </a:r>
          </a:p>
          <a:p>
            <a:pPr lvl="1"/>
            <a:r>
              <a:rPr lang="en-US" dirty="0" smtClean="0"/>
              <a:t>Variable Representation</a:t>
            </a:r>
          </a:p>
          <a:p>
            <a:pPr lvl="1"/>
            <a:r>
              <a:rPr lang="en-US" dirty="0" smtClean="0"/>
              <a:t>Coverage / Restriction Process</a:t>
            </a:r>
          </a:p>
          <a:p>
            <a:pPr lvl="1"/>
            <a:r>
              <a:rPr lang="en-US" dirty="0" smtClean="0"/>
              <a:t>Missing Values Representation</a:t>
            </a:r>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Command Code</a:t>
            </a:r>
            <a:endParaRPr lang="en-US" dirty="0"/>
          </a:p>
        </p:txBody>
      </p:sp>
      <p:sp>
        <p:nvSpPr>
          <p:cNvPr id="3" name="Content Placeholder 2"/>
          <p:cNvSpPr>
            <a:spLocks noGrp="1"/>
          </p:cNvSpPr>
          <p:nvPr>
            <p:ph idx="1"/>
          </p:nvPr>
        </p:nvSpPr>
        <p:spPr/>
        <p:txBody>
          <a:bodyPr/>
          <a:lstStyle/>
          <a:p>
            <a:r>
              <a:rPr lang="en-US" dirty="0" smtClean="0"/>
              <a:t>Note that both General and Generation Instructions contain Command Code</a:t>
            </a:r>
          </a:p>
          <a:p>
            <a:r>
              <a:rPr lang="en-US" dirty="0" smtClean="0"/>
              <a:t>Command Code is also available in:</a:t>
            </a:r>
          </a:p>
          <a:p>
            <a:pPr lvl="1"/>
            <a:r>
              <a:rPr lang="en-US" dirty="0" smtClean="0"/>
              <a:t>Universe Generation Code</a:t>
            </a:r>
          </a:p>
          <a:p>
            <a:pPr lvl="1"/>
            <a:r>
              <a:rPr lang="en-US" dirty="0" smtClean="0"/>
              <a:t>Computation Item</a:t>
            </a:r>
          </a:p>
          <a:p>
            <a:pPr lvl="1"/>
            <a:r>
              <a:rPr lang="en-US" dirty="0" smtClean="0"/>
              <a:t>Condition for Continuation (of a loop or repeat)</a:t>
            </a:r>
          </a:p>
          <a:p>
            <a:pPr lvl="1"/>
            <a:r>
              <a:rPr lang="en-US" dirty="0" smtClean="0"/>
              <a:t>Alternate Sequence</a:t>
            </a:r>
          </a:p>
          <a:p>
            <a:pPr lvl="1"/>
            <a:r>
              <a:rPr lang="en-US" dirty="0" smtClean="0"/>
              <a:t>Conditions in routing with Control Constructs</a:t>
            </a:r>
          </a:p>
          <a:p>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82000" cy="5943600"/>
          </a:xfrm>
        </p:spPr>
        <p:txBody>
          <a:bodyPr>
            <a:normAutofit fontScale="62500" lnSpcReduction="20000"/>
          </a:bodyPr>
          <a:lstStyle/>
          <a:p>
            <a:pPr marL="0" indent="0" defTabSz="360363">
              <a:buNone/>
            </a:pP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GenerationInstruction</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GI_5to10</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Description</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Conversion of single year to </a:t>
            </a:r>
            <a:r>
              <a:rPr lang="en-US" dirty="0" smtClean="0">
                <a:solidFill>
                  <a:srgbClr val="000000"/>
                </a:solidFill>
                <a:highlight>
                  <a:srgbClr val="FFFFFF"/>
                </a:highlight>
                <a:latin typeface="Lucida Console" panose="020B0609040504020204" pitchFamily="49" charset="0"/>
              </a:rPr>
              <a:t>5			</a:t>
            </a:r>
            <a:r>
              <a:rPr lang="en-US" b="1" dirty="0" smtClean="0">
                <a:latin typeface="Lucida Console" panose="020B0609040504020204" pitchFamily="49" charset="0"/>
              </a:rPr>
              <a:t>↵</a:t>
            </a:r>
            <a:endParaRPr lang="en-US" dirty="0" smtClean="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smtClean="0">
                <a:solidFill>
                  <a:srgbClr val="000000"/>
                </a:solidFill>
                <a:highlight>
                  <a:srgbClr val="FFFFFF"/>
                </a:highlight>
                <a:latin typeface="Lucida Console" panose="020B0609040504020204" pitchFamily="49" charset="0"/>
              </a:rPr>
              <a:t>	year </a:t>
            </a:r>
            <a:r>
              <a:rPr lang="en-US" dirty="0">
                <a:solidFill>
                  <a:srgbClr val="000000"/>
                </a:solidFill>
                <a:highlight>
                  <a:srgbClr val="FFFFFF"/>
                </a:highlight>
                <a:latin typeface="Lucida Console" panose="020B0609040504020204" pitchFamily="49" charset="0"/>
              </a:rPr>
              <a:t>cohorts. Ages 0 to 20 plus. </a:t>
            </a:r>
            <a:r>
              <a:rPr lang="en-US" dirty="0" smtClean="0">
                <a:solidFill>
                  <a:srgbClr val="000000"/>
                </a:solidFill>
                <a:highlight>
                  <a:srgbClr val="FFFFFF"/>
                </a:highlight>
                <a:latin typeface="Lucida Console" panose="020B0609040504020204" pitchFamily="49" charset="0"/>
              </a:rPr>
              <a:t>Includes			</a:t>
            </a:r>
            <a:r>
              <a:rPr lang="en-US" b="1" dirty="0" smtClean="0">
                <a:latin typeface="Lucida Console" panose="020B0609040504020204" pitchFamily="49" charset="0"/>
              </a:rPr>
              <a:t>↵</a:t>
            </a:r>
            <a:endParaRPr lang="en-US" dirty="0" smtClean="0">
              <a:solidFill>
                <a:srgbClr val="000000"/>
              </a:solidFill>
              <a:highlight>
                <a:srgbClr val="FFFFFF"/>
              </a:highlight>
              <a:latin typeface="Lucida Console" panose="020B0609040504020204" pitchFamily="49" charset="0"/>
            </a:endParaRPr>
          </a:p>
          <a:p>
            <a:pPr marL="0" indent="0" defTabSz="360363">
              <a:buNone/>
            </a:pPr>
            <a:r>
              <a:rPr lang="en-US" dirty="0" smtClean="0">
                <a:solidFill>
                  <a:srgbClr val="000000"/>
                </a:solidFill>
                <a:highlight>
                  <a:srgbClr val="FFFFFF"/>
                </a:highlight>
                <a:latin typeface="Lucida Console" panose="020B0609040504020204" pitchFamily="49" charset="0"/>
              </a:rPr>
              <a:t>		inline </a:t>
            </a:r>
            <a:r>
              <a:rPr lang="en-US" dirty="0">
                <a:solidFill>
                  <a:srgbClr val="000000"/>
                </a:solidFill>
                <a:highlight>
                  <a:srgbClr val="FFFFFF"/>
                </a:highlight>
                <a:latin typeface="Lucida Console" panose="020B0609040504020204" pitchFamily="49" charset="0"/>
              </a:rPr>
              <a:t>command code and reference </a:t>
            </a:r>
            <a:r>
              <a:rPr lang="en-US" dirty="0" smtClean="0">
                <a:solidFill>
                  <a:srgbClr val="000000"/>
                </a:solidFill>
                <a:highlight>
                  <a:srgbClr val="FFFFFF"/>
                </a:highlight>
                <a:latin typeface="Lucida Console" panose="020B0609040504020204" pitchFamily="49" charset="0"/>
              </a:rPr>
              <a:t>to					</a:t>
            </a:r>
            <a:r>
              <a:rPr lang="en-US" b="1" dirty="0" smtClean="0">
                <a:latin typeface="Lucida Console" panose="020B0609040504020204" pitchFamily="49" charset="0"/>
              </a:rPr>
              <a:t>↵</a:t>
            </a:r>
            <a:endParaRPr lang="en-US" dirty="0" smtClean="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smtClean="0">
                <a:solidFill>
                  <a:srgbClr val="000000"/>
                </a:solidFill>
                <a:highlight>
                  <a:srgbClr val="FFFFFF"/>
                </a:highlight>
                <a:latin typeface="Lucida Console" panose="020B0609040504020204" pitchFamily="49" charset="0"/>
              </a:rPr>
              <a:t>	external </a:t>
            </a:r>
            <a:r>
              <a:rPr lang="en-US" dirty="0">
                <a:solidFill>
                  <a:srgbClr val="000000"/>
                </a:solidFill>
                <a:highlight>
                  <a:srgbClr val="FFFFFF"/>
                </a:highlight>
                <a:latin typeface="Lucida Console" panose="020B0609040504020204" pitchFamily="49" charset="0"/>
              </a:rPr>
              <a:t>SPSS program file.</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Description</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CommandCode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ProgramLanguage</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SPSS</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ProgramLanguage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CommandContent</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IF (SOURCE LT 3) THEN </a:t>
            </a:r>
            <a:r>
              <a:rPr lang="en-US" dirty="0" smtClean="0">
                <a:solidFill>
                  <a:srgbClr val="000000"/>
                </a:solidFill>
                <a:highlight>
                  <a:srgbClr val="FFFFFF"/>
                </a:highlight>
                <a:latin typeface="Lucida Console" panose="020B0609040504020204" pitchFamily="49" charset="0"/>
              </a:rPr>
              <a:t>1;				</a:t>
            </a:r>
            <a:r>
              <a:rPr lang="en-US" b="1" dirty="0" smtClean="0">
                <a:latin typeface="Lucida Console" panose="020B0609040504020204" pitchFamily="49" charset="0"/>
              </a:rPr>
              <a:t>↵</a:t>
            </a:r>
          </a:p>
          <a:p>
            <a:pPr marL="0" indent="0" defTabSz="360363">
              <a:buNone/>
            </a:pPr>
            <a:r>
              <a:rPr lang="en-US" b="1" dirty="0">
                <a:solidFill>
                  <a:srgbClr val="000000"/>
                </a:solidFill>
                <a:highlight>
                  <a:srgbClr val="FFFFFF"/>
                </a:highlight>
                <a:latin typeface="Lucida Console" panose="020B0609040504020204" pitchFamily="49" charset="0"/>
              </a:rPr>
              <a:t>	</a:t>
            </a:r>
            <a:r>
              <a:rPr lang="en-US" b="1" dirty="0" smtClean="0">
                <a:solidFill>
                  <a:srgbClr val="000000"/>
                </a:solidFill>
                <a:highlight>
                  <a:srgbClr val="FFFFFF"/>
                </a:highlight>
                <a:latin typeface="Lucida Console" panose="020B0609040504020204" pitchFamily="49" charset="0"/>
              </a:rPr>
              <a:t>		</a:t>
            </a:r>
            <a:r>
              <a:rPr lang="en-US" dirty="0" smtClean="0">
                <a:solidFill>
                  <a:srgbClr val="000000"/>
                </a:solidFill>
                <a:highlight>
                  <a:srgbClr val="FFFFFF"/>
                </a:highlight>
                <a:latin typeface="Lucida Console" panose="020B0609040504020204" pitchFamily="49" charset="0"/>
              </a:rPr>
              <a:t>IF </a:t>
            </a:r>
            <a:r>
              <a:rPr lang="en-US" dirty="0">
                <a:solidFill>
                  <a:srgbClr val="000000"/>
                </a:solidFill>
                <a:highlight>
                  <a:srgbClr val="FFFFFF"/>
                </a:highlight>
                <a:latin typeface="Lucida Console" panose="020B0609040504020204" pitchFamily="49" charset="0"/>
              </a:rPr>
              <a:t>((SOURCE GE 3) AND (SOURCE LT 4)) THEN 2</a:t>
            </a:r>
            <a:r>
              <a:rPr lang="en-US" dirty="0" smtClean="0">
                <a:solidFill>
                  <a:srgbClr val="000000"/>
                </a:solidFill>
                <a:highlight>
                  <a:srgbClr val="FFFFFF"/>
                </a:highlight>
                <a:latin typeface="Lucida Console" panose="020B0609040504020204" pitchFamily="49" charset="0"/>
              </a:rPr>
              <a:t>;	</a:t>
            </a:r>
            <a:r>
              <a:rPr lang="en-US" b="1" dirty="0" smtClean="0">
                <a:latin typeface="Lucida Console" panose="020B0609040504020204" pitchFamily="49" charset="0"/>
              </a:rPr>
              <a:t>↵</a:t>
            </a:r>
          </a:p>
          <a:p>
            <a:pPr marL="0" indent="0" defTabSz="360363">
              <a:buNone/>
            </a:pPr>
            <a:r>
              <a:rPr lang="en-US" dirty="0">
                <a:solidFill>
                  <a:srgbClr val="000000"/>
                </a:solidFill>
                <a:highlight>
                  <a:srgbClr val="FFFFFF"/>
                </a:highlight>
                <a:latin typeface="Lucida Console" panose="020B0609040504020204" pitchFamily="49" charset="0"/>
              </a:rPr>
              <a:t>	</a:t>
            </a:r>
            <a:r>
              <a:rPr lang="en-US" dirty="0" smtClean="0">
                <a:solidFill>
                  <a:srgbClr val="000000"/>
                </a:solidFill>
                <a:highlight>
                  <a:srgbClr val="FFFFFF"/>
                </a:highlight>
                <a:latin typeface="Lucida Console" panose="020B0609040504020204" pitchFamily="49" charset="0"/>
              </a:rPr>
              <a:t>		IF </a:t>
            </a:r>
            <a:r>
              <a:rPr lang="en-US" dirty="0">
                <a:solidFill>
                  <a:srgbClr val="000000"/>
                </a:solidFill>
                <a:highlight>
                  <a:srgbClr val="FFFFFF"/>
                </a:highlight>
                <a:latin typeface="Lucida Console" panose="020B0609040504020204" pitchFamily="49" charset="0"/>
              </a:rPr>
              <a:t>(SOURCE EQ 5) THEN 3;</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CommandContent</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CommandCode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CommandFile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ProgramLanguage</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SPSS</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ProgramLanguage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URI</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../Program/AgeConvert_1_5.sps</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URI</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CommandFile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GenerationInstruction</a:t>
            </a:r>
            <a:r>
              <a:rPr lang="en-US" dirty="0">
                <a:solidFill>
                  <a:srgbClr val="0000FF"/>
                </a:solidFill>
                <a:highlight>
                  <a:srgbClr val="FFFFFF"/>
                </a:highlight>
                <a:latin typeface="Lucida Console" panose="020B0609040504020204" pitchFamily="49" charset="0"/>
              </a:rPr>
              <a:t>&gt;</a:t>
            </a:r>
            <a:endParaRPr lang="en-US" dirty="0">
              <a:latin typeface="Lucida Console" panose="020B0609040504020204" pitchFamily="49" charset="0"/>
            </a:endParaRPr>
          </a:p>
        </p:txBody>
      </p:sp>
    </p:spTree>
    <p:extLst>
      <p:ext uri="{BB962C8B-B14F-4D97-AF65-F5344CB8AC3E}">
        <p14:creationId xmlns:p14="http://schemas.microsoft.com/office/powerpoint/2010/main" val="219932542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Cycle Event</a:t>
            </a:r>
            <a:endParaRPr lang="en-US" dirty="0"/>
          </a:p>
        </p:txBody>
      </p:sp>
      <p:sp>
        <p:nvSpPr>
          <p:cNvPr id="3" name="Content Placeholder 2"/>
          <p:cNvSpPr>
            <a:spLocks noGrp="1"/>
          </p:cNvSpPr>
          <p:nvPr>
            <p:ph idx="1"/>
          </p:nvPr>
        </p:nvSpPr>
        <p:spPr/>
        <p:txBody>
          <a:bodyPr/>
          <a:lstStyle/>
          <a:p>
            <a:r>
              <a:rPr lang="en-US" dirty="0" smtClean="0"/>
              <a:t>Life Cycle Event is a very general structure that was intended to capture significant events in the life cycle of the data and metadata</a:t>
            </a:r>
          </a:p>
          <a:p>
            <a:r>
              <a:rPr lang="en-US" dirty="0" smtClean="0"/>
              <a:t>It is currently the only place where we can capture the standard “process model” content of Object, Actor, and Event</a:t>
            </a:r>
          </a:p>
          <a:p>
            <a:r>
              <a:rPr lang="en-US" dirty="0" smtClean="0"/>
              <a:t>Located in the Archive module </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400800"/>
          </a:xfrm>
        </p:spPr>
        <p:txBody>
          <a:bodyPr>
            <a:noAutofit/>
          </a:bodyPr>
          <a:lstStyle/>
          <a:p>
            <a:pPr marL="0" indent="0" defTabSz="360363">
              <a:buNone/>
            </a:pP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LifecycleEvent</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ID</a:t>
            </a:r>
            <a:r>
              <a:rPr lang="en-US" sz="1500" dirty="0">
                <a:solidFill>
                  <a:srgbClr val="0000FF"/>
                </a:solidFill>
                <a:highlight>
                  <a:srgbClr val="FFFFFF"/>
                </a:highlight>
                <a:latin typeface="Lucida Console" panose="020B0609040504020204" pitchFamily="49" charset="0"/>
              </a:rPr>
              <a:t>&gt;</a:t>
            </a:r>
            <a:r>
              <a:rPr lang="en-US" sz="1500" dirty="0">
                <a:solidFill>
                  <a:srgbClr val="000000"/>
                </a:solidFill>
                <a:highlight>
                  <a:srgbClr val="FFFFFF"/>
                </a:highlight>
                <a:latin typeface="Lucida Console" panose="020B0609040504020204" pitchFamily="49" charset="0"/>
              </a:rPr>
              <a:t>LF_1</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ID</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Label</a:t>
            </a:r>
            <a:r>
              <a:rPr lang="en-US" sz="1500" dirty="0">
                <a:solidFill>
                  <a:srgbClr val="0000FF"/>
                </a:solidFill>
                <a:highlight>
                  <a:srgbClr val="FFFFFF"/>
                </a:highlight>
                <a:latin typeface="Lucida Console" panose="020B0609040504020204" pitchFamily="49" charset="0"/>
              </a:rPr>
              <a:t>&gt;</a:t>
            </a:r>
            <a:r>
              <a:rPr lang="en-US" sz="1500" dirty="0">
                <a:solidFill>
                  <a:srgbClr val="000000"/>
                </a:solidFill>
                <a:highlight>
                  <a:srgbClr val="FFFFFF"/>
                </a:highlight>
                <a:latin typeface="Lucida Console" panose="020B0609040504020204" pitchFamily="49" charset="0"/>
              </a:rPr>
              <a:t>Ingest of SIP to Archive</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Label</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EventType</a:t>
            </a:r>
            <a:r>
              <a:rPr lang="en-US" sz="1500" dirty="0">
                <a:solidFill>
                  <a:srgbClr val="0000FF"/>
                </a:solidFill>
                <a:highlight>
                  <a:srgbClr val="FFFFFF"/>
                </a:highlight>
                <a:latin typeface="Lucida Console" panose="020B0609040504020204" pitchFamily="49" charset="0"/>
              </a:rPr>
              <a:t>&gt;</a:t>
            </a:r>
            <a:r>
              <a:rPr lang="en-US" sz="1500" dirty="0" err="1">
                <a:solidFill>
                  <a:srgbClr val="000000"/>
                </a:solidFill>
                <a:highlight>
                  <a:srgbClr val="FFFFFF"/>
                </a:highlight>
                <a:latin typeface="Lucida Console" panose="020B0609040504020204" pitchFamily="49" charset="0"/>
              </a:rPr>
              <a:t>SIP.Validation</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EventType</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Date</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SimpleDate</a:t>
            </a:r>
            <a:r>
              <a:rPr lang="en-US" sz="1500" dirty="0">
                <a:solidFill>
                  <a:srgbClr val="0000FF"/>
                </a:solidFill>
                <a:highlight>
                  <a:srgbClr val="FFFFFF"/>
                </a:highlight>
                <a:latin typeface="Lucida Console" panose="020B0609040504020204" pitchFamily="49" charset="0"/>
              </a:rPr>
              <a:t>&gt;</a:t>
            </a:r>
            <a:r>
              <a:rPr lang="en-US" sz="1500" dirty="0">
                <a:solidFill>
                  <a:srgbClr val="000000"/>
                </a:solidFill>
                <a:highlight>
                  <a:srgbClr val="FFFFFF"/>
                </a:highlight>
                <a:latin typeface="Lucida Console" panose="020B0609040504020204" pitchFamily="49" charset="0"/>
              </a:rPr>
              <a:t>2012-07-06</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SimpleDate</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Date</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AgencyOrganizationReference</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ID</a:t>
            </a:r>
            <a:r>
              <a:rPr lang="en-US" sz="1500" dirty="0">
                <a:solidFill>
                  <a:srgbClr val="0000FF"/>
                </a:solidFill>
                <a:highlight>
                  <a:srgbClr val="FFFFFF"/>
                </a:highlight>
                <a:latin typeface="Lucida Console" panose="020B0609040504020204" pitchFamily="49" charset="0"/>
              </a:rPr>
              <a:t>&gt;</a:t>
            </a:r>
            <a:r>
              <a:rPr lang="en-US" sz="1500" dirty="0">
                <a:solidFill>
                  <a:srgbClr val="000000"/>
                </a:solidFill>
                <a:highlight>
                  <a:srgbClr val="FFFFFF"/>
                </a:highlight>
                <a:latin typeface="Lucida Console" panose="020B0609040504020204" pitchFamily="49" charset="0"/>
              </a:rPr>
              <a:t>IND_34</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ID</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AgencyOrganizationReference</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smtClean="0">
                <a:solidFill>
                  <a:srgbClr val="000000"/>
                </a:solidFill>
                <a:highlight>
                  <a:srgbClr val="FFFFFF"/>
                </a:highlight>
                <a:latin typeface="Lucida Console" panose="020B0609040504020204" pitchFamily="49" charset="0"/>
              </a:rPr>
              <a:t>	</a:t>
            </a:r>
            <a:r>
              <a:rPr lang="en-US" sz="1500" dirty="0" smtClean="0">
                <a:solidFill>
                  <a:srgbClr val="0000FF"/>
                </a:solidFill>
                <a:highlight>
                  <a:srgbClr val="FFFFFF"/>
                </a:highlight>
                <a:latin typeface="Lucida Console" panose="020B0609040504020204" pitchFamily="49" charset="0"/>
              </a:rPr>
              <a:t>&lt;</a:t>
            </a:r>
            <a:r>
              <a:rPr lang="en-US" sz="1500" dirty="0" smtClean="0">
                <a:solidFill>
                  <a:srgbClr val="800000"/>
                </a:solidFill>
                <a:highlight>
                  <a:srgbClr val="FFFFFF"/>
                </a:highlight>
                <a:latin typeface="Lucida Console" panose="020B0609040504020204" pitchFamily="49" charset="0"/>
              </a:rPr>
              <a:t>Description</a:t>
            </a:r>
            <a:r>
              <a:rPr lang="en-US" sz="1500" dirty="0" smtClean="0">
                <a:solidFill>
                  <a:srgbClr val="0000FF"/>
                </a:solidFill>
                <a:highlight>
                  <a:srgbClr val="FFFFFF"/>
                </a:highlight>
                <a:latin typeface="Lucida Console" panose="020B0609040504020204" pitchFamily="49" charset="0"/>
              </a:rPr>
              <a:t>&gt;</a:t>
            </a:r>
            <a:r>
              <a:rPr lang="en-US" sz="1500" dirty="0" smtClean="0">
                <a:solidFill>
                  <a:srgbClr val="000000"/>
                </a:solidFill>
                <a:highlight>
                  <a:srgbClr val="FFFFFF"/>
                </a:highlight>
                <a:latin typeface="Lucida Console" panose="020B0609040504020204" pitchFamily="49" charset="0"/>
              </a:rPr>
              <a:t>Validation of data against metadata provided in	</a:t>
            </a:r>
            <a:r>
              <a:rPr lang="en-US" sz="1500" b="1" dirty="0">
                <a:latin typeface="Lucida Console" panose="020B0609040504020204" pitchFamily="49" charset="0"/>
              </a:rPr>
              <a:t> ↵ </a:t>
            </a:r>
            <a:r>
              <a:rPr lang="en-US" sz="1500" dirty="0">
                <a:solidFill>
                  <a:srgbClr val="000000"/>
                </a:solidFill>
                <a:highlight>
                  <a:srgbClr val="FFFFFF"/>
                </a:highlight>
                <a:latin typeface="Lucida Console" panose="020B0609040504020204" pitchFamily="49" charset="0"/>
              </a:rPr>
              <a:t>	</a:t>
            </a:r>
            <a:r>
              <a:rPr lang="en-US" sz="1500" dirty="0" smtClean="0">
                <a:solidFill>
                  <a:srgbClr val="000000"/>
                </a:solidFill>
                <a:highlight>
                  <a:srgbClr val="FFFFFF"/>
                </a:highlight>
                <a:latin typeface="Lucida Console" panose="020B0609040504020204" pitchFamily="49" charset="0"/>
              </a:rPr>
              <a:t>		SIP</a:t>
            </a:r>
            <a:r>
              <a:rPr lang="en-US" sz="1500" dirty="0" smtClean="0">
                <a:solidFill>
                  <a:srgbClr val="0000FF"/>
                </a:solidFill>
                <a:highlight>
                  <a:srgbClr val="FFFFFF"/>
                </a:highlight>
                <a:latin typeface="Lucida Console" panose="020B0609040504020204" pitchFamily="49" charset="0"/>
              </a:rPr>
              <a:t>&lt;/</a:t>
            </a:r>
            <a:r>
              <a:rPr lang="en-US" sz="1500" dirty="0" smtClean="0">
                <a:solidFill>
                  <a:srgbClr val="800000"/>
                </a:solidFill>
                <a:highlight>
                  <a:srgbClr val="FFFFFF"/>
                </a:highlight>
                <a:latin typeface="Lucida Console" panose="020B0609040504020204" pitchFamily="49" charset="0"/>
              </a:rPr>
              <a:t>Description</a:t>
            </a:r>
            <a:r>
              <a:rPr lang="en-US" sz="1500" dirty="0" smtClean="0">
                <a:solidFill>
                  <a:srgbClr val="0000FF"/>
                </a:solidFill>
                <a:highlight>
                  <a:srgbClr val="FFFFFF"/>
                </a:highlight>
                <a:latin typeface="Lucida Console" panose="020B0609040504020204" pitchFamily="49" charset="0"/>
              </a:rPr>
              <a:t>&gt;</a:t>
            </a:r>
            <a:endParaRPr lang="en-US" sz="1500" dirty="0" smtClean="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Relationship</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RelatedToReference</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ID</a:t>
            </a:r>
            <a:r>
              <a:rPr lang="en-US" sz="1500" dirty="0">
                <a:solidFill>
                  <a:srgbClr val="0000FF"/>
                </a:solidFill>
                <a:highlight>
                  <a:srgbClr val="FFFFFF"/>
                </a:highlight>
                <a:latin typeface="Lucida Console" panose="020B0609040504020204" pitchFamily="49" charset="0"/>
              </a:rPr>
              <a:t>&gt;</a:t>
            </a:r>
            <a:r>
              <a:rPr lang="en-US" sz="1500" dirty="0">
                <a:solidFill>
                  <a:srgbClr val="000000"/>
                </a:solidFill>
                <a:highlight>
                  <a:srgbClr val="FFFFFF"/>
                </a:highlight>
                <a:latin typeface="Lucida Console" panose="020B0609040504020204" pitchFamily="49" charset="0"/>
              </a:rPr>
              <a:t>PROCEVENT_2</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ID</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RelatedToReference</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RelationshipDescription</a:t>
            </a:r>
            <a:r>
              <a:rPr lang="en-US" sz="1500" dirty="0">
                <a:solidFill>
                  <a:srgbClr val="0000FF"/>
                </a:solidFill>
                <a:highlight>
                  <a:srgbClr val="FFFFFF"/>
                </a:highlight>
                <a:latin typeface="Lucida Console" panose="020B0609040504020204" pitchFamily="49" charset="0"/>
              </a:rPr>
              <a:t>&gt;</a:t>
            </a:r>
            <a:r>
              <a:rPr lang="en-US" sz="1500" dirty="0">
                <a:solidFill>
                  <a:srgbClr val="000000"/>
                </a:solidFill>
                <a:highlight>
                  <a:srgbClr val="FFFFFF"/>
                </a:highlight>
                <a:latin typeface="Lucida Console" panose="020B0609040504020204" pitchFamily="49" charset="0"/>
              </a:rPr>
              <a:t>Process used to validate </a:t>
            </a:r>
            <a:r>
              <a:rPr lang="en-US" sz="1500" dirty="0" smtClean="0">
                <a:solidFill>
                  <a:srgbClr val="000000"/>
                </a:solidFill>
                <a:highlight>
                  <a:srgbClr val="FFFFFF"/>
                </a:highlight>
                <a:latin typeface="Lucida Console" panose="020B0609040504020204" pitchFamily="49" charset="0"/>
              </a:rPr>
              <a:t>incoming	</a:t>
            </a:r>
            <a:r>
              <a:rPr lang="en-US" sz="1500" b="1" dirty="0">
                <a:latin typeface="Lucida Console" panose="020B0609040504020204" pitchFamily="49" charset="0"/>
              </a:rPr>
              <a:t> ↵ </a:t>
            </a:r>
            <a:endParaRPr lang="en-US" sz="1500" b="1" dirty="0" smtClean="0">
              <a:latin typeface="Lucida Console" panose="020B0609040504020204" pitchFamily="49" charset="0"/>
            </a:endParaRPr>
          </a:p>
          <a:p>
            <a:pPr marL="0" indent="0" defTabSz="360363">
              <a:buNone/>
            </a:pPr>
            <a:r>
              <a:rPr lang="en-US" sz="1500" b="1" dirty="0">
                <a:solidFill>
                  <a:srgbClr val="000000"/>
                </a:solidFill>
                <a:highlight>
                  <a:srgbClr val="FFFFFF"/>
                </a:highlight>
                <a:latin typeface="Lucida Console" panose="020B0609040504020204" pitchFamily="49" charset="0"/>
              </a:rPr>
              <a:t>	</a:t>
            </a:r>
            <a:r>
              <a:rPr lang="en-US" sz="1500" b="1" dirty="0" smtClean="0">
                <a:solidFill>
                  <a:srgbClr val="000000"/>
                </a:solidFill>
                <a:highlight>
                  <a:srgbClr val="FFFFFF"/>
                </a:highlight>
                <a:latin typeface="Lucida Console" panose="020B0609040504020204" pitchFamily="49" charset="0"/>
              </a:rPr>
              <a:t>		</a:t>
            </a:r>
            <a:r>
              <a:rPr lang="en-US" sz="1500" dirty="0" smtClean="0">
                <a:solidFill>
                  <a:srgbClr val="000000"/>
                </a:solidFill>
                <a:highlight>
                  <a:srgbClr val="FFFFFF"/>
                </a:highlight>
                <a:latin typeface="Lucida Console" panose="020B0609040504020204" pitchFamily="49" charset="0"/>
              </a:rPr>
              <a:t>data </a:t>
            </a:r>
            <a:r>
              <a:rPr lang="en-US" sz="1500" dirty="0">
                <a:solidFill>
                  <a:srgbClr val="000000"/>
                </a:solidFill>
                <a:highlight>
                  <a:srgbClr val="FFFFFF"/>
                </a:highlight>
                <a:latin typeface="Lucida Console" panose="020B0609040504020204" pitchFamily="49" charset="0"/>
              </a:rPr>
              <a:t>against provided metadata.</a:t>
            </a: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RelationshipDescription</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00"/>
                </a:solidFill>
                <a:highlight>
                  <a:srgbClr val="FFFFFF"/>
                </a:highlight>
                <a:latin typeface="Lucida Console" panose="020B0609040504020204" pitchFamily="49" charset="0"/>
              </a:rPr>
              <a:t>	</a:t>
            </a:r>
            <a:r>
              <a:rPr lang="en-US" sz="1500" dirty="0">
                <a:solidFill>
                  <a:srgbClr val="0000FF"/>
                </a:solidFill>
                <a:highlight>
                  <a:srgbClr val="FFFFFF"/>
                </a:highlight>
                <a:latin typeface="Lucida Console" panose="020B0609040504020204" pitchFamily="49" charset="0"/>
              </a:rPr>
              <a:t>&lt;/</a:t>
            </a:r>
            <a:r>
              <a:rPr lang="en-US" sz="1500" dirty="0">
                <a:solidFill>
                  <a:srgbClr val="800000"/>
                </a:solidFill>
                <a:highlight>
                  <a:srgbClr val="FFFFFF"/>
                </a:highlight>
                <a:latin typeface="Lucida Console" panose="020B0609040504020204" pitchFamily="49" charset="0"/>
              </a:rPr>
              <a:t>Relationship</a:t>
            </a:r>
            <a:r>
              <a:rPr lang="en-US" sz="1500" dirty="0">
                <a:solidFill>
                  <a:srgbClr val="0000FF"/>
                </a:solidFill>
                <a:highlight>
                  <a:srgbClr val="FFFFFF"/>
                </a:highlight>
                <a:latin typeface="Lucida Console" panose="020B0609040504020204" pitchFamily="49" charset="0"/>
              </a:rPr>
              <a:t>&gt;</a:t>
            </a:r>
            <a:endParaRPr lang="en-US" sz="1500" dirty="0">
              <a:solidFill>
                <a:srgbClr val="000000"/>
              </a:solidFill>
              <a:highlight>
                <a:srgbClr val="FFFFFF"/>
              </a:highlight>
              <a:latin typeface="Lucida Console" panose="020B0609040504020204" pitchFamily="49" charset="0"/>
            </a:endParaRPr>
          </a:p>
          <a:p>
            <a:pPr marL="0" indent="0" defTabSz="360363">
              <a:buNone/>
            </a:pPr>
            <a:r>
              <a:rPr lang="en-US" sz="1500" dirty="0">
                <a:solidFill>
                  <a:srgbClr val="0000FF"/>
                </a:solidFill>
                <a:highlight>
                  <a:srgbClr val="FFFFFF"/>
                </a:highlight>
                <a:latin typeface="Lucida Console" panose="020B0609040504020204" pitchFamily="49" charset="0"/>
              </a:rPr>
              <a:t>&lt;/</a:t>
            </a:r>
            <a:r>
              <a:rPr lang="en-US" sz="1500" dirty="0" err="1">
                <a:solidFill>
                  <a:srgbClr val="800000"/>
                </a:solidFill>
                <a:highlight>
                  <a:srgbClr val="FFFFFF"/>
                </a:highlight>
                <a:latin typeface="Lucida Console" panose="020B0609040504020204" pitchFamily="49" charset="0"/>
              </a:rPr>
              <a:t>LifecycleEvent</a:t>
            </a:r>
            <a:r>
              <a:rPr lang="en-US" sz="1500" dirty="0">
                <a:solidFill>
                  <a:srgbClr val="0000FF"/>
                </a:solidFill>
                <a:highlight>
                  <a:srgbClr val="FFFFFF"/>
                </a:highlight>
                <a:latin typeface="Lucida Console" panose="020B0609040504020204" pitchFamily="49" charset="0"/>
              </a:rPr>
              <a:t>&gt;</a:t>
            </a:r>
            <a:endParaRPr lang="en-US" sz="1500" dirty="0">
              <a:latin typeface="Lucida Console" panose="020B0609040504020204" pitchFamily="49" charset="0"/>
            </a:endParaRPr>
          </a:p>
        </p:txBody>
      </p:sp>
    </p:spTree>
    <p:extLst>
      <p:ext uri="{BB962C8B-B14F-4D97-AF65-F5344CB8AC3E}">
        <p14:creationId xmlns:p14="http://schemas.microsoft.com/office/powerpoint/2010/main" val="278874549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Discovery &amp; comparison</a:t>
            </a:r>
            <a:endParaRPr lang="en-US" dirty="0"/>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302568035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Citation and Coverage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Five modules have citation and coverage sections</a:t>
            </a:r>
          </a:p>
          <a:p>
            <a:pPr lvl="1"/>
            <a:r>
              <a:rPr lang="en-US" dirty="0" smtClean="0"/>
              <a:t>DDI Instance, Study Unit, Group, Resource Package and Physical Instance</a:t>
            </a:r>
          </a:p>
          <a:p>
            <a:pPr lvl="1"/>
            <a:r>
              <a:rPr lang="en-US" dirty="0" smtClean="0"/>
              <a:t>The citation in Physical Instance is for the DATA FILE rather than the metadata</a:t>
            </a:r>
          </a:p>
          <a:p>
            <a:pPr lvl="1"/>
            <a:r>
              <a:rPr lang="en-US" dirty="0" smtClean="0"/>
              <a:t>All citations can contain native Dublin Core elements</a:t>
            </a:r>
          </a:p>
          <a:p>
            <a:r>
              <a:rPr lang="en-US" dirty="0" smtClean="0"/>
              <a:t>Coverage is assumed to be expressed in its broadest form at the highest level (e.g., Group) and restricted in contained modules</a:t>
            </a:r>
          </a:p>
          <a:p>
            <a:pPr lvl="1"/>
            <a:r>
              <a:rPr lang="en-US" dirty="0" smtClean="0"/>
              <a:t>Example: A Study Unit has a coverage of Resident Persons in the United States, 2000-2010</a:t>
            </a:r>
          </a:p>
          <a:p>
            <a:pPr lvl="1"/>
            <a:r>
              <a:rPr lang="en-US" dirty="0" smtClean="0"/>
              <a:t>A Physical Instance may restrict this to Female Resident Population of the United States in 2008</a:t>
            </a:r>
            <a:endParaRPr lang="en-US"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Coverage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Topical Coverage</a:t>
            </a:r>
          </a:p>
          <a:p>
            <a:pPr lvl="1"/>
            <a:r>
              <a:rPr lang="en-US" dirty="0" smtClean="0"/>
              <a:t>Subject and Keyword</a:t>
            </a:r>
          </a:p>
          <a:p>
            <a:r>
              <a:rPr lang="en-US" dirty="0" smtClean="0"/>
              <a:t>Temporal Coverage</a:t>
            </a:r>
          </a:p>
          <a:p>
            <a:pPr lvl="1"/>
            <a:r>
              <a:rPr lang="en-US" dirty="0" smtClean="0"/>
              <a:t>Reference Date with optional Subject </a:t>
            </a:r>
          </a:p>
          <a:p>
            <a:r>
              <a:rPr lang="en-US" dirty="0" smtClean="0"/>
              <a:t>Spatial Coverage</a:t>
            </a:r>
          </a:p>
          <a:p>
            <a:pPr lvl="1"/>
            <a:r>
              <a:rPr lang="en-US" dirty="0" smtClean="0"/>
              <a:t>Description, Bounding Box, Country Code, Spatial Object, Geographic Structure Reference, Geographic Location Reference, Top and lowest level object, Geographic Structure Variable Reference, and Summary </a:t>
            </a:r>
            <a:r>
              <a:rPr lang="en-US" dirty="0"/>
              <a:t>D</a:t>
            </a:r>
            <a:r>
              <a:rPr lang="en-US" dirty="0" smtClean="0"/>
              <a:t>ata Reference</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Discovery Metadata</a:t>
            </a:r>
            <a:endParaRPr lang="en-US" dirty="0"/>
          </a:p>
        </p:txBody>
      </p:sp>
      <p:sp>
        <p:nvSpPr>
          <p:cNvPr id="5" name="Text Placeholder 4"/>
          <p:cNvSpPr>
            <a:spLocks noGrp="1"/>
          </p:cNvSpPr>
          <p:nvPr>
            <p:ph type="body" idx="1"/>
          </p:nvPr>
        </p:nvSpPr>
        <p:spPr/>
        <p:txBody>
          <a:bodyPr/>
          <a:lstStyle/>
          <a:p>
            <a:r>
              <a:rPr lang="en-US" dirty="0" smtClean="0"/>
              <a:t>Common Items</a:t>
            </a:r>
            <a:endParaRPr lang="en-US" dirty="0"/>
          </a:p>
        </p:txBody>
      </p:sp>
      <p:sp>
        <p:nvSpPr>
          <p:cNvPr id="3" name="Content Placeholder 2"/>
          <p:cNvSpPr>
            <a:spLocks noGrp="1"/>
          </p:cNvSpPr>
          <p:nvPr>
            <p:ph sz="half" idx="2"/>
          </p:nvPr>
        </p:nvSpPr>
        <p:spPr/>
        <p:txBody>
          <a:bodyPr>
            <a:normAutofit fontScale="92500" lnSpcReduction="10000"/>
          </a:bodyPr>
          <a:lstStyle/>
          <a:p>
            <a:r>
              <a:rPr lang="en-US" dirty="0" smtClean="0"/>
              <a:t>Title</a:t>
            </a:r>
          </a:p>
          <a:p>
            <a:r>
              <a:rPr lang="en-US" dirty="0" smtClean="0"/>
              <a:t>Author</a:t>
            </a:r>
          </a:p>
          <a:p>
            <a:r>
              <a:rPr lang="en-US" dirty="0" smtClean="0"/>
              <a:t>Abstract</a:t>
            </a:r>
          </a:p>
          <a:p>
            <a:r>
              <a:rPr lang="en-US" dirty="0" smtClean="0"/>
              <a:t>Ownership</a:t>
            </a:r>
          </a:p>
          <a:p>
            <a:r>
              <a:rPr lang="en-US" dirty="0" smtClean="0"/>
              <a:t>Access requirements</a:t>
            </a:r>
          </a:p>
          <a:p>
            <a:r>
              <a:rPr lang="en-US" dirty="0" smtClean="0"/>
              <a:t>Link to object</a:t>
            </a:r>
          </a:p>
          <a:p>
            <a:r>
              <a:rPr lang="en-US" dirty="0" smtClean="0"/>
              <a:t>Topical Subject/Keyword</a:t>
            </a:r>
          </a:p>
          <a:p>
            <a:r>
              <a:rPr lang="en-US" dirty="0" smtClean="0"/>
              <a:t>Geographic coverage</a:t>
            </a:r>
          </a:p>
          <a:p>
            <a:r>
              <a:rPr lang="en-US" dirty="0" smtClean="0"/>
              <a:t>Temporal coverage</a:t>
            </a:r>
          </a:p>
          <a:p>
            <a:r>
              <a:rPr lang="en-US" dirty="0" smtClean="0"/>
              <a:t>Format information</a:t>
            </a:r>
          </a:p>
          <a:p>
            <a:endParaRPr lang="en-US" dirty="0" smtClean="0"/>
          </a:p>
          <a:p>
            <a:endParaRPr lang="en-US" dirty="0"/>
          </a:p>
        </p:txBody>
      </p:sp>
      <p:sp>
        <p:nvSpPr>
          <p:cNvPr id="6" name="Text Placeholder 5"/>
          <p:cNvSpPr>
            <a:spLocks noGrp="1"/>
          </p:cNvSpPr>
          <p:nvPr>
            <p:ph type="body" sz="quarter" idx="3"/>
          </p:nvPr>
        </p:nvSpPr>
        <p:spPr/>
        <p:txBody>
          <a:bodyPr/>
          <a:lstStyle/>
          <a:p>
            <a:r>
              <a:rPr lang="en-US" dirty="0" smtClean="0"/>
              <a:t>Specialized Items</a:t>
            </a:r>
            <a:endParaRPr lang="en-US" dirty="0"/>
          </a:p>
        </p:txBody>
      </p:sp>
      <p:sp>
        <p:nvSpPr>
          <p:cNvPr id="4" name="Content Placeholder 3"/>
          <p:cNvSpPr>
            <a:spLocks noGrp="1"/>
          </p:cNvSpPr>
          <p:nvPr>
            <p:ph sz="quarter" idx="4"/>
          </p:nvPr>
        </p:nvSpPr>
        <p:spPr/>
        <p:txBody>
          <a:bodyPr/>
          <a:lstStyle/>
          <a:p>
            <a:r>
              <a:rPr lang="en-US" dirty="0" smtClean="0"/>
              <a:t>Restricted subject list</a:t>
            </a:r>
          </a:p>
          <a:p>
            <a:r>
              <a:rPr lang="en-US" dirty="0" smtClean="0"/>
              <a:t>Information on the kind of data</a:t>
            </a:r>
          </a:p>
          <a:p>
            <a:r>
              <a:rPr lang="en-US" dirty="0" smtClean="0"/>
              <a:t>Geospatial coordinates</a:t>
            </a:r>
          </a:p>
          <a:p>
            <a:r>
              <a:rPr lang="en-US" dirty="0" smtClean="0"/>
              <a:t>Full variable/question description</a:t>
            </a:r>
          </a:p>
          <a:p>
            <a:r>
              <a:rPr lang="en-US" dirty="0" smtClean="0"/>
              <a:t>Collection detail</a:t>
            </a:r>
          </a:p>
          <a:p>
            <a:r>
              <a:rPr lang="en-US" dirty="0" smtClean="0"/>
              <a:t>Provenance chain</a:t>
            </a:r>
            <a:endParaRPr 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Metadata</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Accurate linking in the Linked Open Data world is facilitated by the use of common metadata resources</a:t>
            </a:r>
          </a:p>
          <a:p>
            <a:pPr lvl="1"/>
            <a:r>
              <a:rPr lang="en-US" dirty="0" smtClean="0"/>
              <a:t>There are DDI based RDF vocabularies for discovering datasets and describing statistical classifications</a:t>
            </a:r>
          </a:p>
          <a:p>
            <a:r>
              <a:rPr lang="en-US" dirty="0" smtClean="0"/>
              <a:t>Fewer assumptions regarding the comparability of data objects from different sources</a:t>
            </a:r>
          </a:p>
          <a:p>
            <a:r>
              <a:rPr lang="en-US" dirty="0" smtClean="0"/>
              <a:t>Clarifies relationships of two objects within a larger structure (Geography, Organizations, Standard Classifications, etc.)</a:t>
            </a:r>
          </a:p>
          <a:p>
            <a:pPr lvl="1"/>
            <a:r>
              <a:rPr lang="en-US" dirty="0" smtClean="0"/>
              <a:t>Immediately identifies if two data sets are using the same or different resources </a:t>
            </a:r>
            <a:endParaRPr lang="en-US"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in DDI</a:t>
            </a:r>
            <a:endParaRPr lang="en-US" dirty="0"/>
          </a:p>
        </p:txBody>
      </p:sp>
      <p:sp>
        <p:nvSpPr>
          <p:cNvPr id="3" name="Content Placeholder 2"/>
          <p:cNvSpPr>
            <a:spLocks noGrp="1"/>
          </p:cNvSpPr>
          <p:nvPr>
            <p:ph idx="1"/>
          </p:nvPr>
        </p:nvSpPr>
        <p:spPr/>
        <p:txBody>
          <a:bodyPr/>
          <a:lstStyle/>
          <a:p>
            <a:r>
              <a:rPr lang="en-US" dirty="0" smtClean="0"/>
              <a:t>Explicit comparison</a:t>
            </a:r>
          </a:p>
          <a:p>
            <a:pPr lvl="1"/>
            <a:r>
              <a:rPr lang="en-US" dirty="0" smtClean="0"/>
              <a:t>Reuse of published common metadata</a:t>
            </a:r>
          </a:p>
          <a:p>
            <a:pPr lvl="1"/>
            <a:r>
              <a:rPr lang="en-US" dirty="0" smtClean="0"/>
              <a:t>Grouping with inheritance</a:t>
            </a:r>
          </a:p>
          <a:p>
            <a:r>
              <a:rPr lang="en-US" dirty="0" smtClean="0"/>
              <a:t>Assertions of comparison</a:t>
            </a:r>
          </a:p>
          <a:p>
            <a:pPr lvl="1"/>
            <a:r>
              <a:rPr lang="en-US" dirty="0" smtClean="0"/>
              <a:t>Comparison maps</a:t>
            </a:r>
          </a:p>
          <a:p>
            <a:pPr lvl="1"/>
            <a:r>
              <a:rPr lang="en-US" dirty="0" smtClean="0"/>
              <a:t>Harmonization</a:t>
            </a:r>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Reusable Study-independent Information in Resource Package</a:t>
            </a:r>
            <a:endParaRPr lang="en-US" dirty="0"/>
          </a:p>
        </p:txBody>
      </p:sp>
      <p:sp>
        <p:nvSpPr>
          <p:cNvPr id="3" name="AutoShape 4"/>
          <p:cNvSpPr>
            <a:spLocks noChangeArrowheads="1"/>
          </p:cNvSpPr>
          <p:nvPr/>
        </p:nvSpPr>
        <p:spPr bwMode="auto">
          <a:xfrm>
            <a:off x="2819400" y="1568152"/>
            <a:ext cx="1371600" cy="1676400"/>
          </a:xfrm>
          <a:prstGeom prst="foldedCorner">
            <a:avLst>
              <a:gd name="adj" fmla="val 125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Study A</a:t>
            </a:r>
          </a:p>
        </p:txBody>
      </p:sp>
      <p:sp>
        <p:nvSpPr>
          <p:cNvPr id="4" name="Line 5"/>
          <p:cNvSpPr>
            <a:spLocks noChangeShapeType="1"/>
          </p:cNvSpPr>
          <p:nvPr/>
        </p:nvSpPr>
        <p:spPr bwMode="auto">
          <a:xfrm>
            <a:off x="3429000" y="3320752"/>
            <a:ext cx="0" cy="1981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 name="AutoShape 6"/>
          <p:cNvSpPr>
            <a:spLocks noChangeArrowheads="1"/>
          </p:cNvSpPr>
          <p:nvPr/>
        </p:nvSpPr>
        <p:spPr bwMode="auto">
          <a:xfrm>
            <a:off x="2209800" y="3625552"/>
            <a:ext cx="914400" cy="381000"/>
          </a:xfrm>
          <a:prstGeom prst="wedgeRectCallout">
            <a:avLst>
              <a:gd name="adj1" fmla="val 66843"/>
              <a:gd name="adj2" fmla="val 74583"/>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6" name="Rectangle 8"/>
          <p:cNvSpPr>
            <a:spLocks noChangeArrowheads="1"/>
          </p:cNvSpPr>
          <p:nvPr/>
        </p:nvSpPr>
        <p:spPr bwMode="auto">
          <a:xfrm>
            <a:off x="2743200" y="5378152"/>
            <a:ext cx="1600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Variable ID=“X”</a:t>
            </a:r>
          </a:p>
        </p:txBody>
      </p:sp>
      <p:sp>
        <p:nvSpPr>
          <p:cNvPr id="7" name="AutoShape 10"/>
          <p:cNvSpPr>
            <a:spLocks noChangeArrowheads="1"/>
          </p:cNvSpPr>
          <p:nvPr/>
        </p:nvSpPr>
        <p:spPr bwMode="auto">
          <a:xfrm>
            <a:off x="2514600" y="4387552"/>
            <a:ext cx="2209800" cy="2209800"/>
          </a:xfrm>
          <a:prstGeom prst="can">
            <a:avLst>
              <a:gd name="adj" fmla="val 25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 Box 11"/>
          <p:cNvSpPr txBox="1">
            <a:spLocks noChangeArrowheads="1"/>
          </p:cNvSpPr>
          <p:nvPr/>
        </p:nvSpPr>
        <p:spPr bwMode="auto">
          <a:xfrm>
            <a:off x="2574925" y="6063952"/>
            <a:ext cx="211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Resource Package</a:t>
            </a:r>
          </a:p>
        </p:txBody>
      </p:sp>
      <p:sp>
        <p:nvSpPr>
          <p:cNvPr id="9" name="AutoShape 12"/>
          <p:cNvSpPr>
            <a:spLocks noChangeArrowheads="1"/>
          </p:cNvSpPr>
          <p:nvPr/>
        </p:nvSpPr>
        <p:spPr bwMode="auto">
          <a:xfrm>
            <a:off x="5181600" y="5987752"/>
            <a:ext cx="1447800" cy="457200"/>
          </a:xfrm>
          <a:prstGeom prst="wedgeRectCallout">
            <a:avLst>
              <a:gd name="adj1" fmla="val -110856"/>
              <a:gd name="adj2"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10" name="Text Box 13"/>
          <p:cNvSpPr txBox="1">
            <a:spLocks noChangeArrowheads="1"/>
          </p:cNvSpPr>
          <p:nvPr/>
        </p:nvSpPr>
        <p:spPr bwMode="auto">
          <a:xfrm>
            <a:off x="5181600" y="6002040"/>
            <a:ext cx="1403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published in</a:t>
            </a:r>
          </a:p>
        </p:txBody>
      </p:sp>
      <p:sp>
        <p:nvSpPr>
          <p:cNvPr id="11" name="AutoShape 14"/>
          <p:cNvSpPr>
            <a:spLocks noChangeArrowheads="1"/>
          </p:cNvSpPr>
          <p:nvPr/>
        </p:nvSpPr>
        <p:spPr bwMode="auto">
          <a:xfrm>
            <a:off x="4953000" y="1796752"/>
            <a:ext cx="1447800" cy="1676400"/>
          </a:xfrm>
          <a:prstGeom prst="foldedCorner">
            <a:avLst>
              <a:gd name="adj" fmla="val 125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Study B</a:t>
            </a:r>
          </a:p>
        </p:txBody>
      </p:sp>
      <p:sp>
        <p:nvSpPr>
          <p:cNvPr id="12" name="Line 15"/>
          <p:cNvSpPr>
            <a:spLocks noChangeShapeType="1"/>
          </p:cNvSpPr>
          <p:nvPr/>
        </p:nvSpPr>
        <p:spPr bwMode="auto">
          <a:xfrm flipH="1">
            <a:off x="3886200" y="3549352"/>
            <a:ext cx="1295400" cy="1752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AutoShape 16"/>
          <p:cNvSpPr>
            <a:spLocks noChangeArrowheads="1"/>
          </p:cNvSpPr>
          <p:nvPr/>
        </p:nvSpPr>
        <p:spPr bwMode="auto">
          <a:xfrm>
            <a:off x="5029200" y="4006552"/>
            <a:ext cx="1295400" cy="609600"/>
          </a:xfrm>
          <a:prstGeom prst="wedgeRectCallout">
            <a:avLst>
              <a:gd name="adj1" fmla="val -77940"/>
              <a:gd name="adj2" fmla="val -1824"/>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re-uses by reference</a:t>
            </a:r>
          </a:p>
        </p:txBody>
      </p:sp>
      <p:sp>
        <p:nvSpPr>
          <p:cNvPr id="14" name="Text Box 17"/>
          <p:cNvSpPr txBox="1">
            <a:spLocks noChangeArrowheads="1"/>
          </p:cNvSpPr>
          <p:nvPr/>
        </p:nvSpPr>
        <p:spPr bwMode="auto">
          <a:xfrm>
            <a:off x="4937125" y="2747665"/>
            <a:ext cx="1390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Ref=</a:t>
            </a:r>
          </a:p>
          <a:p>
            <a:r>
              <a:rPr lang="en-US"/>
              <a:t>“Variable X”</a:t>
            </a:r>
          </a:p>
        </p:txBody>
      </p:sp>
      <p:sp>
        <p:nvSpPr>
          <p:cNvPr id="15" name="Line 37"/>
          <p:cNvSpPr>
            <a:spLocks noChangeShapeType="1"/>
          </p:cNvSpPr>
          <p:nvPr/>
        </p:nvSpPr>
        <p:spPr bwMode="auto">
          <a:xfrm>
            <a:off x="3429000" y="3320752"/>
            <a:ext cx="0" cy="1981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AutoShape 38"/>
          <p:cNvSpPr>
            <a:spLocks noChangeArrowheads="1"/>
          </p:cNvSpPr>
          <p:nvPr/>
        </p:nvSpPr>
        <p:spPr bwMode="auto">
          <a:xfrm>
            <a:off x="2209800" y="3625552"/>
            <a:ext cx="914400" cy="381000"/>
          </a:xfrm>
          <a:prstGeom prst="wedgeRectCallout">
            <a:avLst>
              <a:gd name="adj1" fmla="val 66843"/>
              <a:gd name="adj2" fmla="val 74583"/>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17" name="Rectangle 39"/>
          <p:cNvSpPr>
            <a:spLocks noChangeArrowheads="1"/>
          </p:cNvSpPr>
          <p:nvPr/>
        </p:nvSpPr>
        <p:spPr bwMode="auto">
          <a:xfrm>
            <a:off x="2743200" y="5378152"/>
            <a:ext cx="1600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Variable ID=“X”</a:t>
            </a:r>
          </a:p>
        </p:txBody>
      </p:sp>
      <p:sp>
        <p:nvSpPr>
          <p:cNvPr id="18" name="Line 40"/>
          <p:cNvSpPr>
            <a:spLocks noChangeShapeType="1"/>
          </p:cNvSpPr>
          <p:nvPr/>
        </p:nvSpPr>
        <p:spPr bwMode="auto">
          <a:xfrm>
            <a:off x="3429000" y="3320752"/>
            <a:ext cx="0" cy="1981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AutoShape 41"/>
          <p:cNvSpPr>
            <a:spLocks noChangeArrowheads="1"/>
          </p:cNvSpPr>
          <p:nvPr/>
        </p:nvSpPr>
        <p:spPr bwMode="auto">
          <a:xfrm>
            <a:off x="2209800" y="3625552"/>
            <a:ext cx="914400" cy="381000"/>
          </a:xfrm>
          <a:prstGeom prst="wedgeRectCallout">
            <a:avLst>
              <a:gd name="adj1" fmla="val 66843"/>
              <a:gd name="adj2" fmla="val 74583"/>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20" name="AutoShape 47"/>
          <p:cNvSpPr>
            <a:spLocks noChangeArrowheads="1"/>
          </p:cNvSpPr>
          <p:nvPr/>
        </p:nvSpPr>
        <p:spPr bwMode="auto">
          <a:xfrm>
            <a:off x="4953000" y="1796752"/>
            <a:ext cx="1447800" cy="1676400"/>
          </a:xfrm>
          <a:prstGeom prst="foldedCorner">
            <a:avLst>
              <a:gd name="adj" fmla="val 125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Study B</a:t>
            </a:r>
          </a:p>
        </p:txBody>
      </p:sp>
      <p:sp>
        <p:nvSpPr>
          <p:cNvPr id="21" name="Line 48"/>
          <p:cNvSpPr>
            <a:spLocks noChangeShapeType="1"/>
          </p:cNvSpPr>
          <p:nvPr/>
        </p:nvSpPr>
        <p:spPr bwMode="auto">
          <a:xfrm flipH="1">
            <a:off x="3886200" y="3549352"/>
            <a:ext cx="1295400" cy="1752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ext Box 50"/>
          <p:cNvSpPr txBox="1">
            <a:spLocks noChangeArrowheads="1"/>
          </p:cNvSpPr>
          <p:nvPr/>
        </p:nvSpPr>
        <p:spPr bwMode="auto">
          <a:xfrm>
            <a:off x="4937125" y="2747665"/>
            <a:ext cx="1390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Ref=</a:t>
            </a:r>
          </a:p>
          <a:p>
            <a:r>
              <a:rPr lang="en-US"/>
              <a:t>“Variable X”</a:t>
            </a:r>
          </a:p>
        </p:txBody>
      </p:sp>
    </p:spTree>
    <p:extLst>
      <p:ext uri="{BB962C8B-B14F-4D97-AF65-F5344CB8AC3E}">
        <p14:creationId xmlns:p14="http://schemas.microsoft.com/office/powerpoint/2010/main" val="282391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animBg="1"/>
      <p:bldP spid="10" grpId="0"/>
      <p:bldP spid="11" grpId="0" animBg="1"/>
      <p:bldP spid="12" grpId="0" animBg="1"/>
      <p:bldP spid="13" grpId="0" animBg="1"/>
      <p:bldP spid="14" grpId="0"/>
      <p:bldP spid="15" grpId="0" animBg="1"/>
      <p:bldP spid="16" grpId="0" animBg="1"/>
      <p:bldP spid="17" grpId="0" animBg="1"/>
      <p:bldP spid="18" grpId="0" animBg="1"/>
      <p:bldP spid="19" grpId="0" animBg="1"/>
      <p:bldP spid="20" grpId="0" animBg="1"/>
      <p:bldP spid="21" grpId="0" animBg="1"/>
      <p:bldP spid="2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Longitudinal (repeated) Studies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purpose of collecting the same data over time is to be able to make comparisons or evaluations of change</a:t>
            </a:r>
          </a:p>
          <a:p>
            <a:r>
              <a:rPr lang="en-US" dirty="0" smtClean="0"/>
              <a:t>These studies make extensive reuse of concepts, variables, questions, instruments, and even physical storage structures</a:t>
            </a:r>
          </a:p>
          <a:p>
            <a:r>
              <a:rPr lang="en-US" dirty="0" smtClean="0"/>
              <a:t>Rather than repeating content with each iteration, </a:t>
            </a:r>
            <a:r>
              <a:rPr lang="en-US" b="1" i="1" dirty="0" smtClean="0"/>
              <a:t>metadata is captured once and reused </a:t>
            </a:r>
            <a:r>
              <a:rPr lang="en-US" dirty="0" smtClean="0"/>
              <a:t>by each successive iteration. Reuse of an object implies comparability, changes are noted as they occur</a:t>
            </a:r>
          </a:p>
          <a:p>
            <a:r>
              <a:rPr lang="en-US" dirty="0" smtClean="0"/>
              <a:t>Statistical production is a very similar case</a:t>
            </a:r>
            <a:endParaRPr 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52400" y="152400"/>
            <a:ext cx="2286000" cy="3962400"/>
          </a:xfrm>
          <a:prstGeom prst="rect">
            <a:avLst/>
          </a:prstGeom>
          <a:noFill/>
          <a:ln w="9525">
            <a:solidFill>
              <a:schemeClr val="tx1"/>
            </a:solidFill>
            <a:miter lim="800000"/>
            <a:headEnd/>
            <a:tailEnd/>
          </a:ln>
          <a:effectLst/>
        </p:spPr>
        <p:txBody>
          <a:bodyPr wrap="none" anchor="ctr"/>
          <a:lstStyle/>
          <a:p>
            <a:endParaRPr lang="en-US"/>
          </a:p>
        </p:txBody>
      </p:sp>
      <p:sp>
        <p:nvSpPr>
          <p:cNvPr id="16387" name="Text Box 3"/>
          <p:cNvSpPr txBox="1">
            <a:spLocks noChangeArrowheads="1"/>
          </p:cNvSpPr>
          <p:nvPr/>
        </p:nvSpPr>
        <p:spPr bwMode="auto">
          <a:xfrm>
            <a:off x="768350" y="341313"/>
            <a:ext cx="984250" cy="366712"/>
          </a:xfrm>
          <a:prstGeom prst="rect">
            <a:avLst/>
          </a:prstGeom>
          <a:noFill/>
          <a:ln w="9525">
            <a:noFill/>
            <a:miter lim="800000"/>
            <a:headEnd/>
            <a:tailEnd/>
          </a:ln>
          <a:effectLst/>
        </p:spPr>
        <p:txBody>
          <a:bodyPr wrap="none">
            <a:spAutoFit/>
          </a:bodyPr>
          <a:lstStyle/>
          <a:p>
            <a:r>
              <a:rPr lang="en-US"/>
              <a:t>Study A</a:t>
            </a:r>
          </a:p>
        </p:txBody>
      </p:sp>
      <p:sp>
        <p:nvSpPr>
          <p:cNvPr id="16388" name="Rectangle 4"/>
          <p:cNvSpPr>
            <a:spLocks noChangeArrowheads="1"/>
          </p:cNvSpPr>
          <p:nvPr/>
        </p:nvSpPr>
        <p:spPr bwMode="auto">
          <a:xfrm>
            <a:off x="228600" y="19050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389" name="Text Box 5"/>
          <p:cNvSpPr txBox="1">
            <a:spLocks noChangeArrowheads="1"/>
          </p:cNvSpPr>
          <p:nvPr/>
        </p:nvSpPr>
        <p:spPr bwMode="auto">
          <a:xfrm>
            <a:off x="685800" y="1905000"/>
            <a:ext cx="1238250" cy="366713"/>
          </a:xfrm>
          <a:prstGeom prst="rect">
            <a:avLst/>
          </a:prstGeom>
          <a:noFill/>
          <a:ln w="9525">
            <a:noFill/>
            <a:miter lim="800000"/>
            <a:headEnd/>
            <a:tailEnd/>
          </a:ln>
          <a:effectLst/>
        </p:spPr>
        <p:txBody>
          <a:bodyPr wrap="none">
            <a:spAutoFit/>
          </a:bodyPr>
          <a:lstStyle/>
          <a:p>
            <a:r>
              <a:rPr lang="en-US"/>
              <a:t>Variable A</a:t>
            </a:r>
          </a:p>
        </p:txBody>
      </p:sp>
      <p:sp>
        <p:nvSpPr>
          <p:cNvPr id="16390" name="Rectangle 6"/>
          <p:cNvSpPr>
            <a:spLocks noChangeArrowheads="1"/>
          </p:cNvSpPr>
          <p:nvPr/>
        </p:nvSpPr>
        <p:spPr bwMode="auto">
          <a:xfrm>
            <a:off x="228600" y="24384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391" name="Text Box 7"/>
          <p:cNvSpPr txBox="1">
            <a:spLocks noChangeArrowheads="1"/>
          </p:cNvSpPr>
          <p:nvPr/>
        </p:nvSpPr>
        <p:spPr bwMode="auto">
          <a:xfrm>
            <a:off x="685800" y="2438400"/>
            <a:ext cx="1238250" cy="366713"/>
          </a:xfrm>
          <a:prstGeom prst="rect">
            <a:avLst/>
          </a:prstGeom>
          <a:noFill/>
          <a:ln w="9525">
            <a:noFill/>
            <a:miter lim="800000"/>
            <a:headEnd/>
            <a:tailEnd/>
          </a:ln>
          <a:effectLst/>
        </p:spPr>
        <p:txBody>
          <a:bodyPr wrap="none">
            <a:spAutoFit/>
          </a:bodyPr>
          <a:lstStyle/>
          <a:p>
            <a:r>
              <a:rPr lang="en-US"/>
              <a:t>Variable B</a:t>
            </a:r>
          </a:p>
        </p:txBody>
      </p:sp>
      <p:sp>
        <p:nvSpPr>
          <p:cNvPr id="16392" name="Rectangle 8"/>
          <p:cNvSpPr>
            <a:spLocks noChangeArrowheads="1"/>
          </p:cNvSpPr>
          <p:nvPr/>
        </p:nvSpPr>
        <p:spPr bwMode="auto">
          <a:xfrm>
            <a:off x="228600" y="29718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393" name="Text Box 9"/>
          <p:cNvSpPr txBox="1">
            <a:spLocks noChangeArrowheads="1"/>
          </p:cNvSpPr>
          <p:nvPr/>
        </p:nvSpPr>
        <p:spPr bwMode="auto">
          <a:xfrm>
            <a:off x="685800" y="2971800"/>
            <a:ext cx="1250950" cy="366713"/>
          </a:xfrm>
          <a:prstGeom prst="rect">
            <a:avLst/>
          </a:prstGeom>
          <a:noFill/>
          <a:ln w="9525">
            <a:noFill/>
            <a:miter lim="800000"/>
            <a:headEnd/>
            <a:tailEnd/>
          </a:ln>
          <a:effectLst/>
        </p:spPr>
        <p:txBody>
          <a:bodyPr wrap="none">
            <a:spAutoFit/>
          </a:bodyPr>
          <a:lstStyle/>
          <a:p>
            <a:r>
              <a:rPr lang="en-US"/>
              <a:t>Variable C</a:t>
            </a:r>
          </a:p>
        </p:txBody>
      </p:sp>
      <p:sp>
        <p:nvSpPr>
          <p:cNvPr id="16394" name="Rectangle 10"/>
          <p:cNvSpPr>
            <a:spLocks noChangeArrowheads="1"/>
          </p:cNvSpPr>
          <p:nvPr/>
        </p:nvSpPr>
        <p:spPr bwMode="auto">
          <a:xfrm>
            <a:off x="228600" y="35052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395" name="Text Box 11"/>
          <p:cNvSpPr txBox="1">
            <a:spLocks noChangeArrowheads="1"/>
          </p:cNvSpPr>
          <p:nvPr/>
        </p:nvSpPr>
        <p:spPr bwMode="auto">
          <a:xfrm>
            <a:off x="685800" y="3505200"/>
            <a:ext cx="1250950" cy="366713"/>
          </a:xfrm>
          <a:prstGeom prst="rect">
            <a:avLst/>
          </a:prstGeom>
          <a:noFill/>
          <a:ln w="9525">
            <a:noFill/>
            <a:miter lim="800000"/>
            <a:headEnd/>
            <a:tailEnd/>
          </a:ln>
          <a:effectLst/>
        </p:spPr>
        <p:txBody>
          <a:bodyPr wrap="none">
            <a:spAutoFit/>
          </a:bodyPr>
          <a:lstStyle/>
          <a:p>
            <a:r>
              <a:rPr lang="en-US"/>
              <a:t>Variable D</a:t>
            </a:r>
          </a:p>
        </p:txBody>
      </p:sp>
      <p:sp>
        <p:nvSpPr>
          <p:cNvPr id="16396" name="Line 12"/>
          <p:cNvSpPr>
            <a:spLocks noChangeShapeType="1"/>
          </p:cNvSpPr>
          <p:nvPr/>
        </p:nvSpPr>
        <p:spPr bwMode="auto">
          <a:xfrm>
            <a:off x="1219200" y="1066800"/>
            <a:ext cx="0" cy="762000"/>
          </a:xfrm>
          <a:prstGeom prst="line">
            <a:avLst/>
          </a:prstGeom>
          <a:noFill/>
          <a:ln w="38100">
            <a:solidFill>
              <a:schemeClr val="tx1"/>
            </a:solidFill>
            <a:round/>
            <a:headEnd/>
            <a:tailEnd type="triangle" w="med" len="med"/>
          </a:ln>
          <a:effectLst/>
        </p:spPr>
        <p:txBody>
          <a:bodyPr/>
          <a:lstStyle/>
          <a:p>
            <a:endParaRPr lang="en-US"/>
          </a:p>
        </p:txBody>
      </p:sp>
      <p:sp>
        <p:nvSpPr>
          <p:cNvPr id="16397" name="AutoShape 13"/>
          <p:cNvSpPr>
            <a:spLocks noChangeArrowheads="1"/>
          </p:cNvSpPr>
          <p:nvPr/>
        </p:nvSpPr>
        <p:spPr bwMode="auto">
          <a:xfrm>
            <a:off x="1600200" y="1295400"/>
            <a:ext cx="685800" cy="304800"/>
          </a:xfrm>
          <a:prstGeom prst="wedgeRectCallout">
            <a:avLst>
              <a:gd name="adj1" fmla="val -96991"/>
              <a:gd name="adj2" fmla="val 43750"/>
            </a:avLst>
          </a:prstGeom>
          <a:noFill/>
          <a:ln w="9525">
            <a:solidFill>
              <a:schemeClr val="tx1"/>
            </a:solidFill>
            <a:miter lim="800000"/>
            <a:headEnd/>
            <a:tailEnd/>
          </a:ln>
          <a:effectLst/>
        </p:spPr>
        <p:txBody>
          <a:bodyPr/>
          <a:lstStyle/>
          <a:p>
            <a:pPr algn="ctr"/>
            <a:r>
              <a:rPr lang="en-US" i="1"/>
              <a:t>uses</a:t>
            </a:r>
          </a:p>
        </p:txBody>
      </p:sp>
      <p:sp>
        <p:nvSpPr>
          <p:cNvPr id="16398" name="Rectangle 14"/>
          <p:cNvSpPr>
            <a:spLocks noChangeArrowheads="1"/>
          </p:cNvSpPr>
          <p:nvPr/>
        </p:nvSpPr>
        <p:spPr bwMode="auto">
          <a:xfrm>
            <a:off x="2590800" y="152400"/>
            <a:ext cx="2362200" cy="3962400"/>
          </a:xfrm>
          <a:prstGeom prst="rect">
            <a:avLst/>
          </a:prstGeom>
          <a:noFill/>
          <a:ln w="9525">
            <a:solidFill>
              <a:schemeClr val="tx1"/>
            </a:solidFill>
            <a:miter lim="800000"/>
            <a:headEnd/>
            <a:tailEnd/>
          </a:ln>
          <a:effectLst/>
        </p:spPr>
        <p:txBody>
          <a:bodyPr wrap="none" anchor="ctr"/>
          <a:lstStyle/>
          <a:p>
            <a:endParaRPr lang="en-US"/>
          </a:p>
        </p:txBody>
      </p:sp>
      <p:sp>
        <p:nvSpPr>
          <p:cNvPr id="16399" name="Text Box 15"/>
          <p:cNvSpPr txBox="1">
            <a:spLocks noChangeArrowheads="1"/>
          </p:cNvSpPr>
          <p:nvPr/>
        </p:nvSpPr>
        <p:spPr bwMode="auto">
          <a:xfrm>
            <a:off x="3282950" y="341313"/>
            <a:ext cx="984250" cy="366712"/>
          </a:xfrm>
          <a:prstGeom prst="rect">
            <a:avLst/>
          </a:prstGeom>
          <a:noFill/>
          <a:ln w="9525">
            <a:noFill/>
            <a:miter lim="800000"/>
            <a:headEnd/>
            <a:tailEnd/>
          </a:ln>
          <a:effectLst/>
        </p:spPr>
        <p:txBody>
          <a:bodyPr wrap="none">
            <a:spAutoFit/>
          </a:bodyPr>
          <a:lstStyle/>
          <a:p>
            <a:r>
              <a:rPr lang="en-US"/>
              <a:t>Study B</a:t>
            </a:r>
          </a:p>
        </p:txBody>
      </p:sp>
      <p:sp>
        <p:nvSpPr>
          <p:cNvPr id="16400" name="Rectangle 16"/>
          <p:cNvSpPr>
            <a:spLocks noChangeArrowheads="1"/>
          </p:cNvSpPr>
          <p:nvPr/>
        </p:nvSpPr>
        <p:spPr bwMode="auto">
          <a:xfrm>
            <a:off x="2743200" y="19050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401" name="Text Box 17"/>
          <p:cNvSpPr txBox="1">
            <a:spLocks noChangeArrowheads="1"/>
          </p:cNvSpPr>
          <p:nvPr/>
        </p:nvSpPr>
        <p:spPr bwMode="auto">
          <a:xfrm>
            <a:off x="3200400" y="1905000"/>
            <a:ext cx="1238250" cy="366713"/>
          </a:xfrm>
          <a:prstGeom prst="rect">
            <a:avLst/>
          </a:prstGeom>
          <a:noFill/>
          <a:ln w="9525">
            <a:noFill/>
            <a:miter lim="800000"/>
            <a:headEnd/>
            <a:tailEnd/>
          </a:ln>
          <a:effectLst/>
        </p:spPr>
        <p:txBody>
          <a:bodyPr wrap="none">
            <a:spAutoFit/>
          </a:bodyPr>
          <a:lstStyle/>
          <a:p>
            <a:r>
              <a:rPr lang="en-US"/>
              <a:t>Variable A</a:t>
            </a:r>
          </a:p>
        </p:txBody>
      </p:sp>
      <p:sp>
        <p:nvSpPr>
          <p:cNvPr id="16402" name="Rectangle 18"/>
          <p:cNvSpPr>
            <a:spLocks noChangeArrowheads="1"/>
          </p:cNvSpPr>
          <p:nvPr/>
        </p:nvSpPr>
        <p:spPr bwMode="auto">
          <a:xfrm>
            <a:off x="2743200" y="24384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403" name="Text Box 19"/>
          <p:cNvSpPr txBox="1">
            <a:spLocks noChangeArrowheads="1"/>
          </p:cNvSpPr>
          <p:nvPr/>
        </p:nvSpPr>
        <p:spPr bwMode="auto">
          <a:xfrm>
            <a:off x="3200400" y="2438400"/>
            <a:ext cx="1238250" cy="366713"/>
          </a:xfrm>
          <a:prstGeom prst="rect">
            <a:avLst/>
          </a:prstGeom>
          <a:noFill/>
          <a:ln w="9525">
            <a:noFill/>
            <a:miter lim="800000"/>
            <a:headEnd/>
            <a:tailEnd/>
          </a:ln>
          <a:effectLst/>
        </p:spPr>
        <p:txBody>
          <a:bodyPr wrap="none">
            <a:spAutoFit/>
          </a:bodyPr>
          <a:lstStyle/>
          <a:p>
            <a:r>
              <a:rPr lang="en-US"/>
              <a:t>Variable B</a:t>
            </a:r>
          </a:p>
        </p:txBody>
      </p:sp>
      <p:sp>
        <p:nvSpPr>
          <p:cNvPr id="16404" name="Rectangle 20"/>
          <p:cNvSpPr>
            <a:spLocks noChangeArrowheads="1"/>
          </p:cNvSpPr>
          <p:nvPr/>
        </p:nvSpPr>
        <p:spPr bwMode="auto">
          <a:xfrm>
            <a:off x="2743200" y="29718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405" name="Text Box 21"/>
          <p:cNvSpPr txBox="1">
            <a:spLocks noChangeArrowheads="1"/>
          </p:cNvSpPr>
          <p:nvPr/>
        </p:nvSpPr>
        <p:spPr bwMode="auto">
          <a:xfrm>
            <a:off x="3200400" y="2971800"/>
            <a:ext cx="1250950" cy="366713"/>
          </a:xfrm>
          <a:prstGeom prst="rect">
            <a:avLst/>
          </a:prstGeom>
          <a:noFill/>
          <a:ln w="9525">
            <a:noFill/>
            <a:miter lim="800000"/>
            <a:headEnd/>
            <a:tailEnd/>
          </a:ln>
          <a:effectLst/>
        </p:spPr>
        <p:txBody>
          <a:bodyPr wrap="none">
            <a:spAutoFit/>
          </a:bodyPr>
          <a:lstStyle/>
          <a:p>
            <a:r>
              <a:rPr lang="en-US"/>
              <a:t>Variable C</a:t>
            </a:r>
          </a:p>
        </p:txBody>
      </p:sp>
      <p:sp>
        <p:nvSpPr>
          <p:cNvPr id="16406" name="Rectangle 22"/>
          <p:cNvSpPr>
            <a:spLocks noChangeArrowheads="1"/>
          </p:cNvSpPr>
          <p:nvPr/>
        </p:nvSpPr>
        <p:spPr bwMode="auto">
          <a:xfrm>
            <a:off x="2743200" y="35052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407" name="Text Box 23"/>
          <p:cNvSpPr txBox="1">
            <a:spLocks noChangeArrowheads="1"/>
          </p:cNvSpPr>
          <p:nvPr/>
        </p:nvSpPr>
        <p:spPr bwMode="auto">
          <a:xfrm>
            <a:off x="3200400" y="3505200"/>
            <a:ext cx="1238250" cy="366713"/>
          </a:xfrm>
          <a:prstGeom prst="rect">
            <a:avLst/>
          </a:prstGeom>
          <a:noFill/>
          <a:ln w="9525">
            <a:noFill/>
            <a:miter lim="800000"/>
            <a:headEnd/>
            <a:tailEnd/>
          </a:ln>
          <a:effectLst/>
        </p:spPr>
        <p:txBody>
          <a:bodyPr wrap="none">
            <a:spAutoFit/>
          </a:bodyPr>
          <a:lstStyle/>
          <a:p>
            <a:r>
              <a:rPr lang="en-US"/>
              <a:t>Variable X</a:t>
            </a:r>
          </a:p>
        </p:txBody>
      </p:sp>
      <p:sp>
        <p:nvSpPr>
          <p:cNvPr id="16408" name="Line 24"/>
          <p:cNvSpPr>
            <a:spLocks noChangeShapeType="1"/>
          </p:cNvSpPr>
          <p:nvPr/>
        </p:nvSpPr>
        <p:spPr bwMode="auto">
          <a:xfrm>
            <a:off x="3733800" y="1066800"/>
            <a:ext cx="0" cy="762000"/>
          </a:xfrm>
          <a:prstGeom prst="line">
            <a:avLst/>
          </a:prstGeom>
          <a:noFill/>
          <a:ln w="38100">
            <a:solidFill>
              <a:schemeClr val="tx1"/>
            </a:solidFill>
            <a:round/>
            <a:headEnd/>
            <a:tailEnd type="triangle" w="med" len="med"/>
          </a:ln>
          <a:effectLst/>
        </p:spPr>
        <p:txBody>
          <a:bodyPr/>
          <a:lstStyle/>
          <a:p>
            <a:endParaRPr lang="en-US"/>
          </a:p>
        </p:txBody>
      </p:sp>
      <p:sp>
        <p:nvSpPr>
          <p:cNvPr id="16409" name="AutoShape 25"/>
          <p:cNvSpPr>
            <a:spLocks noChangeArrowheads="1"/>
          </p:cNvSpPr>
          <p:nvPr/>
        </p:nvSpPr>
        <p:spPr bwMode="auto">
          <a:xfrm>
            <a:off x="4114800" y="1295400"/>
            <a:ext cx="685800" cy="304800"/>
          </a:xfrm>
          <a:prstGeom prst="wedgeRectCallout">
            <a:avLst>
              <a:gd name="adj1" fmla="val -96991"/>
              <a:gd name="adj2" fmla="val 43750"/>
            </a:avLst>
          </a:prstGeom>
          <a:noFill/>
          <a:ln w="9525">
            <a:solidFill>
              <a:schemeClr val="tx1"/>
            </a:solidFill>
            <a:miter lim="800000"/>
            <a:headEnd/>
            <a:tailEnd/>
          </a:ln>
          <a:effectLst/>
        </p:spPr>
        <p:txBody>
          <a:bodyPr/>
          <a:lstStyle/>
          <a:p>
            <a:pPr algn="ctr"/>
            <a:r>
              <a:rPr lang="en-US" i="1"/>
              <a:t>uses</a:t>
            </a:r>
          </a:p>
        </p:txBody>
      </p:sp>
      <p:sp>
        <p:nvSpPr>
          <p:cNvPr id="16410" name="Rectangle 26"/>
          <p:cNvSpPr>
            <a:spLocks noChangeArrowheads="1"/>
          </p:cNvSpPr>
          <p:nvPr/>
        </p:nvSpPr>
        <p:spPr bwMode="auto">
          <a:xfrm>
            <a:off x="5715000" y="228600"/>
            <a:ext cx="1066800" cy="838200"/>
          </a:xfrm>
          <a:prstGeom prst="rect">
            <a:avLst/>
          </a:prstGeom>
          <a:noFill/>
          <a:ln w="9525">
            <a:solidFill>
              <a:schemeClr val="tx1"/>
            </a:solidFill>
            <a:miter lim="800000"/>
            <a:headEnd/>
            <a:tailEnd/>
          </a:ln>
          <a:effectLst/>
        </p:spPr>
        <p:txBody>
          <a:bodyPr wrap="none" anchor="ctr"/>
          <a:lstStyle/>
          <a:p>
            <a:endParaRPr lang="en-US"/>
          </a:p>
        </p:txBody>
      </p:sp>
      <p:sp>
        <p:nvSpPr>
          <p:cNvPr id="16411" name="Text Box 27"/>
          <p:cNvSpPr txBox="1">
            <a:spLocks noChangeArrowheads="1"/>
          </p:cNvSpPr>
          <p:nvPr/>
        </p:nvSpPr>
        <p:spPr bwMode="auto">
          <a:xfrm>
            <a:off x="5867400" y="471488"/>
            <a:ext cx="819150" cy="366712"/>
          </a:xfrm>
          <a:prstGeom prst="rect">
            <a:avLst/>
          </a:prstGeom>
          <a:noFill/>
          <a:ln w="9525">
            <a:noFill/>
            <a:miter lim="800000"/>
            <a:headEnd/>
            <a:tailEnd/>
          </a:ln>
          <a:effectLst/>
        </p:spPr>
        <p:txBody>
          <a:bodyPr wrap="none">
            <a:spAutoFit/>
          </a:bodyPr>
          <a:lstStyle/>
          <a:p>
            <a:r>
              <a:rPr lang="en-US"/>
              <a:t>Group</a:t>
            </a:r>
          </a:p>
        </p:txBody>
      </p:sp>
      <p:sp>
        <p:nvSpPr>
          <p:cNvPr id="16412" name="Rectangle 28"/>
          <p:cNvSpPr>
            <a:spLocks noChangeArrowheads="1"/>
          </p:cNvSpPr>
          <p:nvPr/>
        </p:nvSpPr>
        <p:spPr bwMode="auto">
          <a:xfrm>
            <a:off x="7315200" y="914400"/>
            <a:ext cx="1371600" cy="381000"/>
          </a:xfrm>
          <a:prstGeom prst="rect">
            <a:avLst/>
          </a:prstGeom>
          <a:noFill/>
          <a:ln w="9525">
            <a:solidFill>
              <a:schemeClr val="tx1"/>
            </a:solidFill>
            <a:miter lim="800000"/>
            <a:headEnd/>
            <a:tailEnd/>
          </a:ln>
          <a:effectLst/>
        </p:spPr>
        <p:txBody>
          <a:bodyPr wrap="none" anchor="ctr"/>
          <a:lstStyle/>
          <a:p>
            <a:endParaRPr lang="en-US"/>
          </a:p>
        </p:txBody>
      </p:sp>
      <p:sp>
        <p:nvSpPr>
          <p:cNvPr id="16413" name="Text Box 29"/>
          <p:cNvSpPr txBox="1">
            <a:spLocks noChangeArrowheads="1"/>
          </p:cNvSpPr>
          <p:nvPr/>
        </p:nvSpPr>
        <p:spPr bwMode="auto">
          <a:xfrm>
            <a:off x="7391400" y="914400"/>
            <a:ext cx="1238250" cy="366713"/>
          </a:xfrm>
          <a:prstGeom prst="rect">
            <a:avLst/>
          </a:prstGeom>
          <a:noFill/>
          <a:ln w="9525">
            <a:noFill/>
            <a:miter lim="800000"/>
            <a:headEnd/>
            <a:tailEnd/>
          </a:ln>
          <a:effectLst/>
        </p:spPr>
        <p:txBody>
          <a:bodyPr wrap="none">
            <a:spAutoFit/>
          </a:bodyPr>
          <a:lstStyle/>
          <a:p>
            <a:r>
              <a:rPr lang="en-US"/>
              <a:t>Variable A</a:t>
            </a:r>
          </a:p>
        </p:txBody>
      </p:sp>
      <p:sp>
        <p:nvSpPr>
          <p:cNvPr id="16414" name="Rectangle 30"/>
          <p:cNvSpPr>
            <a:spLocks noChangeArrowheads="1"/>
          </p:cNvSpPr>
          <p:nvPr/>
        </p:nvSpPr>
        <p:spPr bwMode="auto">
          <a:xfrm>
            <a:off x="7315200" y="1447800"/>
            <a:ext cx="1371600" cy="381000"/>
          </a:xfrm>
          <a:prstGeom prst="rect">
            <a:avLst/>
          </a:prstGeom>
          <a:noFill/>
          <a:ln w="9525">
            <a:solidFill>
              <a:schemeClr val="tx1"/>
            </a:solidFill>
            <a:miter lim="800000"/>
            <a:headEnd/>
            <a:tailEnd/>
          </a:ln>
          <a:effectLst/>
        </p:spPr>
        <p:txBody>
          <a:bodyPr wrap="none" anchor="ctr"/>
          <a:lstStyle/>
          <a:p>
            <a:endParaRPr lang="en-US"/>
          </a:p>
        </p:txBody>
      </p:sp>
      <p:sp>
        <p:nvSpPr>
          <p:cNvPr id="16415" name="Text Box 31"/>
          <p:cNvSpPr txBox="1">
            <a:spLocks noChangeArrowheads="1"/>
          </p:cNvSpPr>
          <p:nvPr/>
        </p:nvSpPr>
        <p:spPr bwMode="auto">
          <a:xfrm>
            <a:off x="7391400" y="1447800"/>
            <a:ext cx="1238250" cy="366713"/>
          </a:xfrm>
          <a:prstGeom prst="rect">
            <a:avLst/>
          </a:prstGeom>
          <a:noFill/>
          <a:ln w="9525">
            <a:noFill/>
            <a:miter lim="800000"/>
            <a:headEnd/>
            <a:tailEnd/>
          </a:ln>
          <a:effectLst/>
        </p:spPr>
        <p:txBody>
          <a:bodyPr wrap="none">
            <a:spAutoFit/>
          </a:bodyPr>
          <a:lstStyle/>
          <a:p>
            <a:r>
              <a:rPr lang="en-US"/>
              <a:t>Variable B</a:t>
            </a:r>
          </a:p>
        </p:txBody>
      </p:sp>
      <p:sp>
        <p:nvSpPr>
          <p:cNvPr id="16416" name="Rectangle 32"/>
          <p:cNvSpPr>
            <a:spLocks noChangeArrowheads="1"/>
          </p:cNvSpPr>
          <p:nvPr/>
        </p:nvSpPr>
        <p:spPr bwMode="auto">
          <a:xfrm>
            <a:off x="7315200" y="1981200"/>
            <a:ext cx="1371600" cy="381000"/>
          </a:xfrm>
          <a:prstGeom prst="rect">
            <a:avLst/>
          </a:prstGeom>
          <a:noFill/>
          <a:ln w="9525">
            <a:solidFill>
              <a:schemeClr val="tx1"/>
            </a:solidFill>
            <a:miter lim="800000"/>
            <a:headEnd/>
            <a:tailEnd/>
          </a:ln>
          <a:effectLst/>
        </p:spPr>
        <p:txBody>
          <a:bodyPr wrap="none" anchor="ctr"/>
          <a:lstStyle/>
          <a:p>
            <a:endParaRPr lang="en-US"/>
          </a:p>
        </p:txBody>
      </p:sp>
      <p:sp>
        <p:nvSpPr>
          <p:cNvPr id="16417" name="Text Box 33"/>
          <p:cNvSpPr txBox="1">
            <a:spLocks noChangeArrowheads="1"/>
          </p:cNvSpPr>
          <p:nvPr/>
        </p:nvSpPr>
        <p:spPr bwMode="auto">
          <a:xfrm>
            <a:off x="7391400" y="1981200"/>
            <a:ext cx="1250950" cy="366713"/>
          </a:xfrm>
          <a:prstGeom prst="rect">
            <a:avLst/>
          </a:prstGeom>
          <a:noFill/>
          <a:ln w="9525">
            <a:noFill/>
            <a:miter lim="800000"/>
            <a:headEnd/>
            <a:tailEnd/>
          </a:ln>
          <a:effectLst/>
        </p:spPr>
        <p:txBody>
          <a:bodyPr wrap="none">
            <a:spAutoFit/>
          </a:bodyPr>
          <a:lstStyle/>
          <a:p>
            <a:r>
              <a:rPr lang="en-US"/>
              <a:t>Variable C</a:t>
            </a:r>
          </a:p>
        </p:txBody>
      </p:sp>
      <p:sp>
        <p:nvSpPr>
          <p:cNvPr id="16418" name="Line 34"/>
          <p:cNvSpPr>
            <a:spLocks noChangeShapeType="1"/>
          </p:cNvSpPr>
          <p:nvPr/>
        </p:nvSpPr>
        <p:spPr bwMode="auto">
          <a:xfrm>
            <a:off x="6858000" y="685800"/>
            <a:ext cx="381000" cy="228600"/>
          </a:xfrm>
          <a:prstGeom prst="line">
            <a:avLst/>
          </a:prstGeom>
          <a:noFill/>
          <a:ln w="38100">
            <a:solidFill>
              <a:schemeClr val="tx1"/>
            </a:solidFill>
            <a:round/>
            <a:headEnd/>
            <a:tailEnd type="triangle" w="med" len="med"/>
          </a:ln>
          <a:effectLst/>
        </p:spPr>
        <p:txBody>
          <a:bodyPr/>
          <a:lstStyle/>
          <a:p>
            <a:endParaRPr lang="en-US"/>
          </a:p>
        </p:txBody>
      </p:sp>
      <p:sp>
        <p:nvSpPr>
          <p:cNvPr id="16419" name="AutoShape 35"/>
          <p:cNvSpPr>
            <a:spLocks noChangeArrowheads="1"/>
          </p:cNvSpPr>
          <p:nvPr/>
        </p:nvSpPr>
        <p:spPr bwMode="auto">
          <a:xfrm>
            <a:off x="7315200" y="381000"/>
            <a:ext cx="838200" cy="304800"/>
          </a:xfrm>
          <a:prstGeom prst="wedgeRectCallout">
            <a:avLst>
              <a:gd name="adj1" fmla="val -88449"/>
              <a:gd name="adj2" fmla="val 43750"/>
            </a:avLst>
          </a:prstGeom>
          <a:noFill/>
          <a:ln w="9525">
            <a:solidFill>
              <a:schemeClr val="tx1"/>
            </a:solidFill>
            <a:miter lim="800000"/>
            <a:headEnd/>
            <a:tailEnd/>
          </a:ln>
          <a:effectLst/>
        </p:spPr>
        <p:txBody>
          <a:bodyPr/>
          <a:lstStyle/>
          <a:p>
            <a:pPr algn="ctr"/>
            <a:r>
              <a:rPr lang="en-US" i="1"/>
              <a:t>uses</a:t>
            </a:r>
          </a:p>
        </p:txBody>
      </p:sp>
      <p:sp>
        <p:nvSpPr>
          <p:cNvPr id="16420" name="Line 36"/>
          <p:cNvSpPr>
            <a:spLocks noChangeShapeType="1"/>
          </p:cNvSpPr>
          <p:nvPr/>
        </p:nvSpPr>
        <p:spPr bwMode="auto">
          <a:xfrm flipH="1">
            <a:off x="5334000" y="1143000"/>
            <a:ext cx="457200" cy="3200400"/>
          </a:xfrm>
          <a:prstGeom prst="line">
            <a:avLst/>
          </a:prstGeom>
          <a:noFill/>
          <a:ln w="38100">
            <a:solidFill>
              <a:schemeClr val="tx1"/>
            </a:solidFill>
            <a:round/>
            <a:headEnd/>
            <a:tailEnd type="triangle" w="med" len="med"/>
          </a:ln>
          <a:effectLst/>
        </p:spPr>
        <p:txBody>
          <a:bodyPr/>
          <a:lstStyle/>
          <a:p>
            <a:endParaRPr lang="en-US"/>
          </a:p>
        </p:txBody>
      </p:sp>
      <p:sp>
        <p:nvSpPr>
          <p:cNvPr id="16421" name="Rectangle 37"/>
          <p:cNvSpPr>
            <a:spLocks noChangeArrowheads="1"/>
          </p:cNvSpPr>
          <p:nvPr/>
        </p:nvSpPr>
        <p:spPr bwMode="auto">
          <a:xfrm>
            <a:off x="3962400" y="4419600"/>
            <a:ext cx="2057400" cy="838200"/>
          </a:xfrm>
          <a:prstGeom prst="rect">
            <a:avLst/>
          </a:prstGeom>
          <a:noFill/>
          <a:ln w="9525">
            <a:solidFill>
              <a:schemeClr val="tx1"/>
            </a:solidFill>
            <a:miter lim="800000"/>
            <a:headEnd/>
            <a:tailEnd/>
          </a:ln>
          <a:effectLst/>
        </p:spPr>
        <p:txBody>
          <a:bodyPr wrap="none" anchor="ctr"/>
          <a:lstStyle/>
          <a:p>
            <a:endParaRPr lang="en-US"/>
          </a:p>
        </p:txBody>
      </p:sp>
      <p:sp>
        <p:nvSpPr>
          <p:cNvPr id="16422" name="Text Box 38"/>
          <p:cNvSpPr txBox="1">
            <a:spLocks noChangeArrowheads="1"/>
          </p:cNvSpPr>
          <p:nvPr/>
        </p:nvSpPr>
        <p:spPr bwMode="auto">
          <a:xfrm>
            <a:off x="4502150" y="4608513"/>
            <a:ext cx="984250" cy="366712"/>
          </a:xfrm>
          <a:prstGeom prst="rect">
            <a:avLst/>
          </a:prstGeom>
          <a:noFill/>
          <a:ln w="9525">
            <a:noFill/>
            <a:miter lim="800000"/>
            <a:headEnd/>
            <a:tailEnd/>
          </a:ln>
          <a:effectLst/>
        </p:spPr>
        <p:txBody>
          <a:bodyPr wrap="none">
            <a:spAutoFit/>
          </a:bodyPr>
          <a:lstStyle/>
          <a:p>
            <a:r>
              <a:rPr lang="en-US"/>
              <a:t>Study A</a:t>
            </a:r>
          </a:p>
        </p:txBody>
      </p:sp>
      <p:sp>
        <p:nvSpPr>
          <p:cNvPr id="16423" name="Rectangle 39"/>
          <p:cNvSpPr>
            <a:spLocks noChangeArrowheads="1"/>
          </p:cNvSpPr>
          <p:nvPr/>
        </p:nvSpPr>
        <p:spPr bwMode="auto">
          <a:xfrm>
            <a:off x="3962400" y="61722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424" name="Text Box 40"/>
          <p:cNvSpPr txBox="1">
            <a:spLocks noChangeArrowheads="1"/>
          </p:cNvSpPr>
          <p:nvPr/>
        </p:nvSpPr>
        <p:spPr bwMode="auto">
          <a:xfrm>
            <a:off x="4419600" y="6172200"/>
            <a:ext cx="1250950" cy="366713"/>
          </a:xfrm>
          <a:prstGeom prst="rect">
            <a:avLst/>
          </a:prstGeom>
          <a:noFill/>
          <a:ln w="9525">
            <a:noFill/>
            <a:miter lim="800000"/>
            <a:headEnd/>
            <a:tailEnd/>
          </a:ln>
          <a:effectLst/>
        </p:spPr>
        <p:txBody>
          <a:bodyPr wrap="none">
            <a:spAutoFit/>
          </a:bodyPr>
          <a:lstStyle/>
          <a:p>
            <a:r>
              <a:rPr lang="en-US"/>
              <a:t>Variable D</a:t>
            </a:r>
          </a:p>
        </p:txBody>
      </p:sp>
      <p:sp>
        <p:nvSpPr>
          <p:cNvPr id="16425" name="Line 41"/>
          <p:cNvSpPr>
            <a:spLocks noChangeShapeType="1"/>
          </p:cNvSpPr>
          <p:nvPr/>
        </p:nvSpPr>
        <p:spPr bwMode="auto">
          <a:xfrm>
            <a:off x="4953000" y="5334000"/>
            <a:ext cx="0" cy="762000"/>
          </a:xfrm>
          <a:prstGeom prst="line">
            <a:avLst/>
          </a:prstGeom>
          <a:noFill/>
          <a:ln w="38100">
            <a:solidFill>
              <a:schemeClr val="tx1"/>
            </a:solidFill>
            <a:round/>
            <a:headEnd/>
            <a:tailEnd type="triangle" w="med" len="med"/>
          </a:ln>
          <a:effectLst/>
        </p:spPr>
        <p:txBody>
          <a:bodyPr/>
          <a:lstStyle/>
          <a:p>
            <a:endParaRPr lang="en-US"/>
          </a:p>
        </p:txBody>
      </p:sp>
      <p:sp>
        <p:nvSpPr>
          <p:cNvPr id="16426" name="AutoShape 42"/>
          <p:cNvSpPr>
            <a:spLocks noChangeArrowheads="1"/>
          </p:cNvSpPr>
          <p:nvPr/>
        </p:nvSpPr>
        <p:spPr bwMode="auto">
          <a:xfrm>
            <a:off x="5334000" y="5562600"/>
            <a:ext cx="838200" cy="304800"/>
          </a:xfrm>
          <a:prstGeom prst="wedgeRectCallout">
            <a:avLst>
              <a:gd name="adj1" fmla="val -88449"/>
              <a:gd name="adj2" fmla="val 43750"/>
            </a:avLst>
          </a:prstGeom>
          <a:noFill/>
          <a:ln w="9525">
            <a:solidFill>
              <a:schemeClr val="tx1"/>
            </a:solidFill>
            <a:miter lim="800000"/>
            <a:headEnd/>
            <a:tailEnd/>
          </a:ln>
          <a:effectLst/>
        </p:spPr>
        <p:txBody>
          <a:bodyPr/>
          <a:lstStyle/>
          <a:p>
            <a:pPr algn="ctr"/>
            <a:r>
              <a:rPr lang="en-US" i="1"/>
              <a:t>uses</a:t>
            </a:r>
          </a:p>
        </p:txBody>
      </p:sp>
      <p:sp>
        <p:nvSpPr>
          <p:cNvPr id="16427" name="Line 43"/>
          <p:cNvSpPr>
            <a:spLocks noChangeShapeType="1"/>
          </p:cNvSpPr>
          <p:nvPr/>
        </p:nvSpPr>
        <p:spPr bwMode="auto">
          <a:xfrm>
            <a:off x="6629400" y="1143000"/>
            <a:ext cx="762000" cy="3124200"/>
          </a:xfrm>
          <a:prstGeom prst="line">
            <a:avLst/>
          </a:prstGeom>
          <a:noFill/>
          <a:ln w="38100">
            <a:solidFill>
              <a:schemeClr val="tx1"/>
            </a:solidFill>
            <a:round/>
            <a:headEnd/>
            <a:tailEnd type="triangle" w="med" len="med"/>
          </a:ln>
          <a:effectLst/>
        </p:spPr>
        <p:txBody>
          <a:bodyPr/>
          <a:lstStyle/>
          <a:p>
            <a:endParaRPr lang="en-US"/>
          </a:p>
        </p:txBody>
      </p:sp>
      <p:sp>
        <p:nvSpPr>
          <p:cNvPr id="16428" name="Rectangle 44"/>
          <p:cNvSpPr>
            <a:spLocks noChangeArrowheads="1"/>
          </p:cNvSpPr>
          <p:nvPr/>
        </p:nvSpPr>
        <p:spPr bwMode="auto">
          <a:xfrm>
            <a:off x="6705600" y="4419600"/>
            <a:ext cx="2057400" cy="838200"/>
          </a:xfrm>
          <a:prstGeom prst="rect">
            <a:avLst/>
          </a:prstGeom>
          <a:noFill/>
          <a:ln w="9525">
            <a:solidFill>
              <a:schemeClr val="tx1"/>
            </a:solidFill>
            <a:miter lim="800000"/>
            <a:headEnd/>
            <a:tailEnd/>
          </a:ln>
          <a:effectLst/>
        </p:spPr>
        <p:txBody>
          <a:bodyPr wrap="none" anchor="ctr"/>
          <a:lstStyle/>
          <a:p>
            <a:endParaRPr lang="en-US"/>
          </a:p>
        </p:txBody>
      </p:sp>
      <p:sp>
        <p:nvSpPr>
          <p:cNvPr id="16429" name="Text Box 45"/>
          <p:cNvSpPr txBox="1">
            <a:spLocks noChangeArrowheads="1"/>
          </p:cNvSpPr>
          <p:nvPr/>
        </p:nvSpPr>
        <p:spPr bwMode="auto">
          <a:xfrm>
            <a:off x="7245350" y="4608513"/>
            <a:ext cx="984250" cy="366712"/>
          </a:xfrm>
          <a:prstGeom prst="rect">
            <a:avLst/>
          </a:prstGeom>
          <a:noFill/>
          <a:ln w="9525">
            <a:noFill/>
            <a:miter lim="800000"/>
            <a:headEnd/>
            <a:tailEnd/>
          </a:ln>
          <a:effectLst/>
        </p:spPr>
        <p:txBody>
          <a:bodyPr wrap="none">
            <a:spAutoFit/>
          </a:bodyPr>
          <a:lstStyle/>
          <a:p>
            <a:r>
              <a:rPr lang="en-US"/>
              <a:t>Study B</a:t>
            </a:r>
          </a:p>
        </p:txBody>
      </p:sp>
      <p:sp>
        <p:nvSpPr>
          <p:cNvPr id="16430" name="Rectangle 46"/>
          <p:cNvSpPr>
            <a:spLocks noChangeArrowheads="1"/>
          </p:cNvSpPr>
          <p:nvPr/>
        </p:nvSpPr>
        <p:spPr bwMode="auto">
          <a:xfrm>
            <a:off x="6705600" y="6172200"/>
            <a:ext cx="2133600" cy="381000"/>
          </a:xfrm>
          <a:prstGeom prst="rect">
            <a:avLst/>
          </a:prstGeom>
          <a:noFill/>
          <a:ln w="9525">
            <a:solidFill>
              <a:schemeClr val="tx1"/>
            </a:solidFill>
            <a:miter lim="800000"/>
            <a:headEnd/>
            <a:tailEnd/>
          </a:ln>
          <a:effectLst/>
        </p:spPr>
        <p:txBody>
          <a:bodyPr wrap="none" anchor="ctr"/>
          <a:lstStyle/>
          <a:p>
            <a:endParaRPr lang="en-US"/>
          </a:p>
        </p:txBody>
      </p:sp>
      <p:sp>
        <p:nvSpPr>
          <p:cNvPr id="16431" name="Text Box 47"/>
          <p:cNvSpPr txBox="1">
            <a:spLocks noChangeArrowheads="1"/>
          </p:cNvSpPr>
          <p:nvPr/>
        </p:nvSpPr>
        <p:spPr bwMode="auto">
          <a:xfrm>
            <a:off x="7162800" y="6172200"/>
            <a:ext cx="1238250" cy="366713"/>
          </a:xfrm>
          <a:prstGeom prst="rect">
            <a:avLst/>
          </a:prstGeom>
          <a:noFill/>
          <a:ln w="9525">
            <a:noFill/>
            <a:miter lim="800000"/>
            <a:headEnd/>
            <a:tailEnd/>
          </a:ln>
          <a:effectLst/>
        </p:spPr>
        <p:txBody>
          <a:bodyPr wrap="none">
            <a:spAutoFit/>
          </a:bodyPr>
          <a:lstStyle/>
          <a:p>
            <a:r>
              <a:rPr lang="en-US"/>
              <a:t>Variable X</a:t>
            </a:r>
          </a:p>
        </p:txBody>
      </p:sp>
      <p:sp>
        <p:nvSpPr>
          <p:cNvPr id="16432" name="Line 48"/>
          <p:cNvSpPr>
            <a:spLocks noChangeShapeType="1"/>
          </p:cNvSpPr>
          <p:nvPr/>
        </p:nvSpPr>
        <p:spPr bwMode="auto">
          <a:xfrm>
            <a:off x="7696200" y="5334000"/>
            <a:ext cx="0" cy="762000"/>
          </a:xfrm>
          <a:prstGeom prst="line">
            <a:avLst/>
          </a:prstGeom>
          <a:noFill/>
          <a:ln w="38100">
            <a:solidFill>
              <a:schemeClr val="tx1"/>
            </a:solidFill>
            <a:round/>
            <a:headEnd/>
            <a:tailEnd type="triangle" w="med" len="med"/>
          </a:ln>
          <a:effectLst/>
        </p:spPr>
        <p:txBody>
          <a:bodyPr/>
          <a:lstStyle/>
          <a:p>
            <a:endParaRPr lang="en-US"/>
          </a:p>
        </p:txBody>
      </p:sp>
      <p:sp>
        <p:nvSpPr>
          <p:cNvPr id="16433" name="AutoShape 49"/>
          <p:cNvSpPr>
            <a:spLocks noChangeArrowheads="1"/>
          </p:cNvSpPr>
          <p:nvPr/>
        </p:nvSpPr>
        <p:spPr bwMode="auto">
          <a:xfrm>
            <a:off x="8077200" y="5562600"/>
            <a:ext cx="838200" cy="304800"/>
          </a:xfrm>
          <a:prstGeom prst="wedgeRectCallout">
            <a:avLst>
              <a:gd name="adj1" fmla="val -88449"/>
              <a:gd name="adj2" fmla="val 43750"/>
            </a:avLst>
          </a:prstGeom>
          <a:noFill/>
          <a:ln w="9525">
            <a:solidFill>
              <a:schemeClr val="tx1"/>
            </a:solidFill>
            <a:miter lim="800000"/>
            <a:headEnd/>
            <a:tailEnd/>
          </a:ln>
          <a:effectLst/>
        </p:spPr>
        <p:txBody>
          <a:bodyPr/>
          <a:lstStyle/>
          <a:p>
            <a:pPr algn="ctr"/>
            <a:r>
              <a:rPr lang="en-US" i="1"/>
              <a:t>uses</a:t>
            </a:r>
          </a:p>
        </p:txBody>
      </p:sp>
      <p:sp>
        <p:nvSpPr>
          <p:cNvPr id="16434" name="AutoShape 50"/>
          <p:cNvSpPr>
            <a:spLocks noChangeArrowheads="1"/>
          </p:cNvSpPr>
          <p:nvPr/>
        </p:nvSpPr>
        <p:spPr bwMode="auto">
          <a:xfrm>
            <a:off x="5791200" y="3657600"/>
            <a:ext cx="1066800" cy="304800"/>
          </a:xfrm>
          <a:prstGeom prst="wedgeRectCallout">
            <a:avLst>
              <a:gd name="adj1" fmla="val -80208"/>
              <a:gd name="adj2" fmla="val 43750"/>
            </a:avLst>
          </a:prstGeom>
          <a:noFill/>
          <a:ln w="9525">
            <a:solidFill>
              <a:schemeClr val="tx1"/>
            </a:solidFill>
            <a:miter lim="800000"/>
            <a:headEnd/>
            <a:tailEnd/>
          </a:ln>
          <a:effectLst/>
        </p:spPr>
        <p:txBody>
          <a:bodyPr/>
          <a:lstStyle/>
          <a:p>
            <a:pPr algn="ctr"/>
            <a:r>
              <a:rPr lang="en-US" i="1"/>
              <a:t>contains</a:t>
            </a:r>
          </a:p>
        </p:txBody>
      </p:sp>
      <p:sp>
        <p:nvSpPr>
          <p:cNvPr id="16435" name="AutoShape 51"/>
          <p:cNvSpPr>
            <a:spLocks noChangeArrowheads="1"/>
          </p:cNvSpPr>
          <p:nvPr/>
        </p:nvSpPr>
        <p:spPr bwMode="auto">
          <a:xfrm>
            <a:off x="7696200" y="3657600"/>
            <a:ext cx="1066800" cy="304800"/>
          </a:xfrm>
          <a:prstGeom prst="wedgeRectCallout">
            <a:avLst>
              <a:gd name="adj1" fmla="val -80208"/>
              <a:gd name="adj2" fmla="val 43750"/>
            </a:avLst>
          </a:prstGeom>
          <a:noFill/>
          <a:ln w="9525">
            <a:solidFill>
              <a:schemeClr val="tx1"/>
            </a:solidFill>
            <a:miter lim="800000"/>
            <a:headEnd/>
            <a:tailEnd/>
          </a:ln>
          <a:effectLst/>
        </p:spPr>
        <p:txBody>
          <a:bodyPr/>
          <a:lstStyle/>
          <a:p>
            <a:pPr algn="ctr"/>
            <a:r>
              <a:rPr lang="en-US" i="1"/>
              <a:t>contains</a:t>
            </a:r>
          </a:p>
        </p:txBody>
      </p:sp>
      <p:sp>
        <p:nvSpPr>
          <p:cNvPr id="16436" name="Rectangle 52"/>
          <p:cNvSpPr>
            <a:spLocks noChangeArrowheads="1"/>
          </p:cNvSpPr>
          <p:nvPr/>
        </p:nvSpPr>
        <p:spPr bwMode="auto">
          <a:xfrm>
            <a:off x="3810000" y="4267200"/>
            <a:ext cx="2438400" cy="2438400"/>
          </a:xfrm>
          <a:prstGeom prst="rect">
            <a:avLst/>
          </a:prstGeom>
          <a:noFill/>
          <a:ln w="9525">
            <a:solidFill>
              <a:schemeClr val="tx1"/>
            </a:solidFill>
            <a:miter lim="800000"/>
            <a:headEnd/>
            <a:tailEnd/>
          </a:ln>
          <a:effectLst/>
        </p:spPr>
        <p:txBody>
          <a:bodyPr wrap="none" anchor="ctr"/>
          <a:lstStyle/>
          <a:p>
            <a:endParaRPr lang="en-US"/>
          </a:p>
        </p:txBody>
      </p:sp>
      <p:sp>
        <p:nvSpPr>
          <p:cNvPr id="16437" name="Rectangle 53"/>
          <p:cNvSpPr>
            <a:spLocks noChangeArrowheads="1"/>
          </p:cNvSpPr>
          <p:nvPr/>
        </p:nvSpPr>
        <p:spPr bwMode="auto">
          <a:xfrm>
            <a:off x="6553200" y="4267200"/>
            <a:ext cx="2438400" cy="2438400"/>
          </a:xfrm>
          <a:prstGeom prst="rect">
            <a:avLst/>
          </a:prstGeom>
          <a:noFill/>
          <a:ln w="9525">
            <a:solidFill>
              <a:schemeClr val="tx1"/>
            </a:solidFill>
            <a:miter lim="800000"/>
            <a:headEnd/>
            <a:tailEnd/>
          </a:ln>
          <a:effectLst/>
        </p:spPr>
        <p:txBody>
          <a:bodyPr wrap="none" anchor="ctr"/>
          <a:lstStyle/>
          <a:p>
            <a:endParaRPr lang="en-US"/>
          </a:p>
        </p:txBody>
      </p:sp>
      <p:sp>
        <p:nvSpPr>
          <p:cNvPr id="16438" name="Rectangle 54"/>
          <p:cNvSpPr>
            <a:spLocks noChangeArrowheads="1"/>
          </p:cNvSpPr>
          <p:nvPr/>
        </p:nvSpPr>
        <p:spPr bwMode="auto">
          <a:xfrm>
            <a:off x="685800" y="304800"/>
            <a:ext cx="1219200" cy="685800"/>
          </a:xfrm>
          <a:prstGeom prst="rect">
            <a:avLst/>
          </a:prstGeom>
          <a:noFill/>
          <a:ln w="9525">
            <a:solidFill>
              <a:schemeClr val="tx1"/>
            </a:solidFill>
            <a:miter lim="800000"/>
            <a:headEnd/>
            <a:tailEnd/>
          </a:ln>
          <a:effectLst/>
        </p:spPr>
        <p:txBody>
          <a:bodyPr wrap="none" anchor="ctr"/>
          <a:lstStyle/>
          <a:p>
            <a:endParaRPr lang="en-US"/>
          </a:p>
        </p:txBody>
      </p:sp>
      <p:sp>
        <p:nvSpPr>
          <p:cNvPr id="16439" name="Rectangle 55"/>
          <p:cNvSpPr>
            <a:spLocks noChangeArrowheads="1"/>
          </p:cNvSpPr>
          <p:nvPr/>
        </p:nvSpPr>
        <p:spPr bwMode="auto">
          <a:xfrm>
            <a:off x="3124200" y="304800"/>
            <a:ext cx="1219200" cy="685800"/>
          </a:xfrm>
          <a:prstGeom prst="rect">
            <a:avLst/>
          </a:prstGeom>
          <a:noFill/>
          <a:ln w="9525">
            <a:solidFill>
              <a:schemeClr val="tx1"/>
            </a:solidFill>
            <a:miter lim="800000"/>
            <a:headEnd/>
            <a:tailEnd/>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39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4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40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4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40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40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40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40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40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40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40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4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4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4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4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4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4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4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4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4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4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4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4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4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4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4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4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642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642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642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642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642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643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643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643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643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643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643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643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64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8" grpId="0" animBg="1"/>
      <p:bldP spid="16399" grpId="0"/>
      <p:bldP spid="16400" grpId="0" animBg="1"/>
      <p:bldP spid="16401" grpId="0"/>
      <p:bldP spid="16402" grpId="0" animBg="1"/>
      <p:bldP spid="16403" grpId="0"/>
      <p:bldP spid="16404" grpId="0" animBg="1"/>
      <p:bldP spid="16405" grpId="0"/>
      <p:bldP spid="16406" grpId="0" animBg="1"/>
      <p:bldP spid="16407" grpId="0"/>
      <p:bldP spid="16408" grpId="0" animBg="1"/>
      <p:bldP spid="16409" grpId="0" animBg="1"/>
      <p:bldP spid="16410" grpId="0" animBg="1"/>
      <p:bldP spid="16411" grpId="0"/>
      <p:bldP spid="16412" grpId="0" animBg="1"/>
      <p:bldP spid="16413" grpId="0"/>
      <p:bldP spid="16414" grpId="0" animBg="1"/>
      <p:bldP spid="16415" grpId="0"/>
      <p:bldP spid="16416" grpId="0" animBg="1"/>
      <p:bldP spid="16417" grpId="0"/>
      <p:bldP spid="16418" grpId="0" animBg="1"/>
      <p:bldP spid="16419" grpId="0" animBg="1"/>
      <p:bldP spid="16420" grpId="0" animBg="1"/>
      <p:bldP spid="16421" grpId="0" animBg="1"/>
      <p:bldP spid="16422" grpId="0"/>
      <p:bldP spid="16423" grpId="0" animBg="1"/>
      <p:bldP spid="16424" grpId="0"/>
      <p:bldP spid="16425" grpId="0" animBg="1"/>
      <p:bldP spid="16426" grpId="0" animBg="1"/>
      <p:bldP spid="16427" grpId="0" animBg="1"/>
      <p:bldP spid="16428" grpId="0" animBg="1"/>
      <p:bldP spid="16429" grpId="0"/>
      <p:bldP spid="16430" grpId="0" animBg="1"/>
      <p:bldP spid="16431" grpId="0"/>
      <p:bldP spid="16432" grpId="0" animBg="1"/>
      <p:bldP spid="16433" grpId="0" animBg="1"/>
      <p:bldP spid="16434" grpId="0" animBg="1"/>
      <p:bldP spid="16435" grpId="0" animBg="1"/>
      <p:bldP spid="16436" grpId="0" animBg="1"/>
      <p:bldP spid="16437" grpId="0" animBg="1"/>
      <p:bldP spid="16439"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is comparison useful?</a:t>
            </a:r>
            <a:endParaRPr lang="en-US" dirty="0"/>
          </a:p>
        </p:txBody>
      </p:sp>
      <p:sp>
        <p:nvSpPr>
          <p:cNvPr id="3" name="Content Placeholder 2"/>
          <p:cNvSpPr>
            <a:spLocks noGrp="1"/>
          </p:cNvSpPr>
          <p:nvPr>
            <p:ph idx="1"/>
          </p:nvPr>
        </p:nvSpPr>
        <p:spPr>
          <a:xfrm>
            <a:off x="457200" y="1295400"/>
            <a:ext cx="8229600" cy="5257800"/>
          </a:xfrm>
        </p:spPr>
        <p:txBody>
          <a:bodyPr>
            <a:normAutofit fontScale="77500" lnSpcReduction="20000"/>
          </a:bodyPr>
          <a:lstStyle/>
          <a:p>
            <a:r>
              <a:rPr lang="en-US" dirty="0" smtClean="0"/>
              <a:t>Describing differences between general or complex structures</a:t>
            </a:r>
          </a:p>
          <a:p>
            <a:pPr lvl="1"/>
            <a:r>
              <a:rPr lang="en-US" dirty="0" smtClean="0"/>
              <a:t>Two concepts which are close but not exactly alike. Allows making assertions regarding the differences and similarities and lets the user decide if it is significant in terms of their research question.</a:t>
            </a:r>
          </a:p>
          <a:p>
            <a:r>
              <a:rPr lang="en-US" dirty="0" smtClean="0"/>
              <a:t>Explaining changes between versions of the metadata</a:t>
            </a:r>
          </a:p>
          <a:p>
            <a:pPr lvl="1"/>
            <a:r>
              <a:rPr lang="en-US" dirty="0" smtClean="0"/>
              <a:t>Can provide mapping in both directions (old-to-new as well as new-to-old) to assist users in managing the effect of a version change on data collected before and after the change. </a:t>
            </a:r>
          </a:p>
          <a:p>
            <a:pPr lvl="1"/>
            <a:r>
              <a:rPr lang="en-US" dirty="0" smtClean="0"/>
              <a:t>Mapping representation changes between versions</a:t>
            </a:r>
          </a:p>
          <a:p>
            <a:pPr lvl="1"/>
            <a:r>
              <a:rPr lang="en-US" dirty="0" smtClean="0"/>
              <a:t>Explaining series breaks between cycles of data collection</a:t>
            </a:r>
          </a:p>
          <a:p>
            <a:r>
              <a:rPr lang="en-US" dirty="0" smtClean="0"/>
              <a:t>Harmonization</a:t>
            </a:r>
          </a:p>
          <a:p>
            <a:pPr lvl="1"/>
            <a:r>
              <a:rPr lang="en-US" dirty="0" smtClean="0"/>
              <a:t>Mapping individual representation structures to a single unified structure (requires the creation of a unified structure which becomes the target structure of each map)</a:t>
            </a:r>
          </a:p>
          <a:p>
            <a:pPr lvl="1"/>
            <a:endParaRPr lang="en-US" dirty="0" smtClean="0"/>
          </a:p>
          <a:p>
            <a:pPr lvl="1"/>
            <a:endParaRPr lang="en-US" dirty="0" smtClean="0"/>
          </a:p>
          <a:p>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Comparison</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Concept Map, Universe Map, and Category Map normally express general comparisons (i.e. the comparison can be captured in a single mapping or at most a set of maps describing each direction of the comparison).</a:t>
            </a:r>
          </a:p>
          <a:p>
            <a:r>
              <a:rPr lang="en-US" dirty="0" smtClean="0"/>
              <a:t>General comparisons identify the source and target objects being mapped and make assertions regarding the similarities and differences between them.</a:t>
            </a:r>
          </a:p>
          <a:p>
            <a:r>
              <a:rPr lang="en-US" dirty="0" smtClean="0"/>
              <a:t>Comparisons are always Source to Target.</a:t>
            </a:r>
          </a:p>
          <a:p>
            <a:pPr lvl="1"/>
            <a:r>
              <a:rPr lang="en-US" dirty="0" smtClean="0"/>
              <a:t> If the direction of the comparison is immaterial, simply assign one to the source and one to the target. </a:t>
            </a:r>
          </a:p>
          <a:p>
            <a:pPr lvl="1"/>
            <a:r>
              <a:rPr lang="en-US" dirty="0" smtClean="0"/>
              <a:t>For bi-directional comparisons create two maps, one in each direction</a:t>
            </a:r>
          </a:p>
          <a:p>
            <a:pPr lvl="1"/>
            <a:r>
              <a:rPr lang="en-US" dirty="0" smtClean="0"/>
              <a:t>Bi-directional comparisons may or may not be meaningful</a:t>
            </a:r>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324600"/>
          </a:xfrm>
        </p:spPr>
        <p:txBody>
          <a:bodyPr>
            <a:normAutofit fontScale="47500" lnSpcReduction="20000"/>
          </a:bodyPr>
          <a:lstStyle/>
          <a:p>
            <a:pPr marL="0" indent="0" defTabSz="360363">
              <a:buNone/>
            </a:pP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UniverseMap</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UniMap_1</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MapName</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US Population Clarification</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MapName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SourceSchemeReference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US_1</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SourceSchemeReference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TargetSchemeReference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US_2</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TargetSchemeReference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ItemMap</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UniMap_1_1</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SourceItem</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U_1</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SourceItem</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TargetItem</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U_2</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ID</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TargetItem</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Correspondence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Commonality</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Both cover Population in the United States, </a:t>
            </a:r>
            <a:r>
              <a:rPr lang="en-US" b="1" dirty="0">
                <a:solidFill>
                  <a:srgbClr val="000000"/>
                </a:solidFill>
                <a:highlight>
                  <a:srgbClr val="FFFFFF"/>
                </a:highlight>
                <a:latin typeface="Lucida Console" panose="020B0609040504020204" pitchFamily="49" charset="0"/>
              </a:rPr>
              <a:t>↵</a:t>
            </a:r>
            <a:endParaRPr lang="en-US" b="1" dirty="0" smtClean="0">
              <a:solidFill>
                <a:srgbClr val="000000"/>
              </a:solidFill>
              <a:highlight>
                <a:srgbClr val="FFFFFF"/>
              </a:highlight>
              <a:latin typeface="Lucida Console" panose="020B0609040504020204" pitchFamily="49" charset="0"/>
            </a:endParaRPr>
          </a:p>
          <a:p>
            <a:pPr marL="0" indent="0" defTabSz="360363">
              <a:buNone/>
            </a:pPr>
            <a:r>
              <a:rPr lang="en-US" dirty="0" smtClean="0">
                <a:solidFill>
                  <a:srgbClr val="000000"/>
                </a:solidFill>
                <a:highlight>
                  <a:srgbClr val="FFFFFF"/>
                </a:highlight>
                <a:latin typeface="Lucida Console" panose="020B0609040504020204" pitchFamily="49" charset="0"/>
              </a:rPr>
              <a:t>				Territories </a:t>
            </a:r>
            <a:r>
              <a:rPr lang="en-US" dirty="0">
                <a:solidFill>
                  <a:srgbClr val="000000"/>
                </a:solidFill>
                <a:highlight>
                  <a:srgbClr val="FFFFFF"/>
                </a:highlight>
                <a:latin typeface="Lucida Console" panose="020B0609040504020204" pitchFamily="49" charset="0"/>
              </a:rPr>
              <a:t>and Trust Lands</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Commonality</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Difference</a:t>
            </a:r>
            <a:r>
              <a:rPr lang="en-US" dirty="0">
                <a:solidFill>
                  <a:srgbClr val="0000FF"/>
                </a:solidFill>
                <a:highlight>
                  <a:srgbClr val="FFFFFF"/>
                </a:highlight>
                <a:latin typeface="Lucida Console" panose="020B0609040504020204" pitchFamily="49" charset="0"/>
              </a:rPr>
              <a:t>&gt;</a:t>
            </a:r>
            <a:r>
              <a:rPr lang="en-US" dirty="0">
                <a:solidFill>
                  <a:srgbClr val="000000"/>
                </a:solidFill>
                <a:highlight>
                  <a:srgbClr val="FFFFFF"/>
                </a:highlight>
                <a:latin typeface="Lucida Console" panose="020B0609040504020204" pitchFamily="49" charset="0"/>
              </a:rPr>
              <a:t>The Source Universe explicitly states that it </a:t>
            </a:r>
            <a:r>
              <a:rPr lang="en-US" dirty="0" smtClean="0">
                <a:solidFill>
                  <a:srgbClr val="000000"/>
                </a:solidFill>
                <a:highlight>
                  <a:srgbClr val="FFFFFF"/>
                </a:highlight>
                <a:latin typeface="Lucida Console" panose="020B0609040504020204" pitchFamily="49" charset="0"/>
              </a:rPr>
              <a:t>is</a:t>
            </a:r>
            <a:r>
              <a:rPr lang="en-US" dirty="0">
                <a:solidFill>
                  <a:srgbClr val="000000"/>
                </a:solidFill>
                <a:highlight>
                  <a:srgbClr val="FFFFFF"/>
                </a:highlight>
                <a:latin typeface="Lucida Console" panose="020B0609040504020204" pitchFamily="49" charset="0"/>
              </a:rPr>
              <a:t> </a:t>
            </a:r>
            <a:r>
              <a:rPr lang="en-US" b="1" dirty="0" smtClean="0">
                <a:solidFill>
                  <a:srgbClr val="000000"/>
                </a:solidFill>
                <a:highlight>
                  <a:srgbClr val="FFFFFF"/>
                </a:highlight>
                <a:latin typeface="Lucida Console" panose="020B0609040504020204" pitchFamily="49" charset="0"/>
              </a:rPr>
              <a:t>↵</a:t>
            </a:r>
          </a:p>
          <a:p>
            <a:pPr marL="0" indent="0" defTabSz="360363">
              <a:buNone/>
            </a:pPr>
            <a:r>
              <a:rPr lang="en-US" dirty="0" smtClean="0">
                <a:solidFill>
                  <a:srgbClr val="000000"/>
                </a:solidFill>
                <a:highlight>
                  <a:srgbClr val="FFFFFF"/>
                </a:highlight>
                <a:latin typeface="Lucida Console" panose="020B0609040504020204" pitchFamily="49" charset="0"/>
              </a:rPr>
              <a:t>				the </a:t>
            </a:r>
            <a:r>
              <a:rPr lang="en-US" dirty="0">
                <a:solidFill>
                  <a:srgbClr val="000000"/>
                </a:solidFill>
                <a:highlight>
                  <a:srgbClr val="FFFFFF"/>
                </a:highlight>
                <a:latin typeface="Lucida Console" panose="020B0609040504020204" pitchFamily="49" charset="0"/>
              </a:rPr>
              <a:t>resident population. The Target Universe is </a:t>
            </a:r>
            <a:r>
              <a:rPr lang="en-US" dirty="0" smtClean="0">
                <a:solidFill>
                  <a:srgbClr val="000000"/>
                </a:solidFill>
                <a:highlight>
                  <a:srgbClr val="FFFFFF"/>
                </a:highlight>
                <a:latin typeface="Lucida Console" panose="020B0609040504020204" pitchFamily="49" charset="0"/>
              </a:rPr>
              <a:t>unclear</a:t>
            </a:r>
            <a:r>
              <a:rPr lang="en-US" dirty="0">
                <a:solidFill>
                  <a:srgbClr val="000000"/>
                </a:solidFill>
                <a:highlight>
                  <a:srgbClr val="FFFFFF"/>
                </a:highlight>
                <a:latin typeface="Lucida Console" panose="020B0609040504020204" pitchFamily="49" charset="0"/>
              </a:rPr>
              <a:t> </a:t>
            </a:r>
            <a:r>
              <a:rPr lang="en-US" b="1" dirty="0">
                <a:solidFill>
                  <a:srgbClr val="000000"/>
                </a:solidFill>
                <a:highlight>
                  <a:srgbClr val="FFFFFF"/>
                </a:highlight>
                <a:latin typeface="Lucida Console" panose="020B0609040504020204" pitchFamily="49" charset="0"/>
              </a:rPr>
              <a:t>↵</a:t>
            </a:r>
            <a:endParaRPr lang="en-US" dirty="0" smtClean="0">
              <a:solidFill>
                <a:srgbClr val="000000"/>
              </a:solidFill>
              <a:highlight>
                <a:srgbClr val="FFFFFF"/>
              </a:highlight>
              <a:latin typeface="Lucida Console" panose="020B0609040504020204" pitchFamily="49" charset="0"/>
            </a:endParaRPr>
          </a:p>
          <a:p>
            <a:pPr marL="0" indent="0" defTabSz="360363">
              <a:buNone/>
            </a:pPr>
            <a:r>
              <a:rPr lang="en-US" dirty="0" smtClean="0">
                <a:solidFill>
                  <a:srgbClr val="000000"/>
                </a:solidFill>
                <a:highlight>
                  <a:srgbClr val="FFFFFF"/>
                </a:highlight>
                <a:latin typeface="Lucida Console" panose="020B0609040504020204" pitchFamily="49" charset="0"/>
              </a:rPr>
              <a:t>				on this point.</a:t>
            </a:r>
            <a:r>
              <a:rPr lang="en-US" dirty="0" smtClean="0">
                <a:solidFill>
                  <a:srgbClr val="0000FF"/>
                </a:solidFill>
                <a:highlight>
                  <a:srgbClr val="FFFFFF"/>
                </a:highlight>
                <a:latin typeface="Lucida Console" panose="020B0609040504020204" pitchFamily="49" charset="0"/>
              </a:rPr>
              <a:t>&lt;/</a:t>
            </a:r>
            <a:r>
              <a:rPr lang="en-US" dirty="0" smtClean="0">
                <a:solidFill>
                  <a:srgbClr val="800000"/>
                </a:solidFill>
                <a:highlight>
                  <a:srgbClr val="FFFFFF"/>
                </a:highlight>
                <a:latin typeface="Lucida Console" panose="020B0609040504020204" pitchFamily="49" charset="0"/>
              </a:rPr>
              <a:t>Difference</a:t>
            </a:r>
            <a:r>
              <a:rPr lang="en-US" dirty="0" smtClean="0">
                <a:solidFill>
                  <a:srgbClr val="0000FF"/>
                </a:solidFill>
                <a:highlight>
                  <a:srgbClr val="FFFFFF"/>
                </a:highlight>
                <a:latin typeface="Lucida Console" panose="020B0609040504020204" pitchFamily="49" charset="0"/>
              </a:rPr>
              <a:t>&gt;</a:t>
            </a:r>
            <a:endParaRPr lang="en-US" dirty="0" smtClean="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a:solidFill>
                  <a:srgbClr val="800000"/>
                </a:solidFill>
                <a:highlight>
                  <a:srgbClr val="FFFFFF"/>
                </a:highlight>
                <a:latin typeface="Lucida Console" panose="020B0609040504020204" pitchFamily="49" charset="0"/>
              </a:rPr>
              <a:t>Correspondence</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00"/>
                </a:solidFill>
                <a:highlight>
                  <a:srgbClr val="FFFFFF"/>
                </a:highlight>
                <a:latin typeface="Lucida Console" panose="020B0609040504020204" pitchFamily="49" charset="0"/>
              </a:rPr>
              <a:t>	</a:t>
            </a: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ItemMap</a:t>
            </a:r>
            <a:r>
              <a:rPr lang="en-US" dirty="0">
                <a:solidFill>
                  <a:srgbClr val="0000FF"/>
                </a:solidFill>
                <a:highlight>
                  <a:srgbClr val="FFFFFF"/>
                </a:highlight>
                <a:latin typeface="Lucida Console" panose="020B0609040504020204" pitchFamily="49" charset="0"/>
              </a:rPr>
              <a:t>&gt;</a:t>
            </a:r>
            <a:endParaRPr lang="en-US" dirty="0">
              <a:solidFill>
                <a:srgbClr val="000000"/>
              </a:solidFill>
              <a:highlight>
                <a:srgbClr val="FFFFFF"/>
              </a:highlight>
              <a:latin typeface="Lucida Console" panose="020B0609040504020204" pitchFamily="49" charset="0"/>
            </a:endParaRPr>
          </a:p>
          <a:p>
            <a:pPr marL="0" indent="0" defTabSz="360363">
              <a:buNone/>
            </a:pPr>
            <a:r>
              <a:rPr lang="en-US" dirty="0">
                <a:solidFill>
                  <a:srgbClr val="0000FF"/>
                </a:solidFill>
                <a:highlight>
                  <a:srgbClr val="FFFFFF"/>
                </a:highlight>
                <a:latin typeface="Lucida Console" panose="020B0609040504020204" pitchFamily="49" charset="0"/>
              </a:rPr>
              <a:t>&lt;/</a:t>
            </a:r>
            <a:r>
              <a:rPr lang="en-US" dirty="0" err="1">
                <a:solidFill>
                  <a:srgbClr val="800000"/>
                </a:solidFill>
                <a:highlight>
                  <a:srgbClr val="FFFFFF"/>
                </a:highlight>
                <a:latin typeface="Lucida Console" panose="020B0609040504020204" pitchFamily="49" charset="0"/>
              </a:rPr>
              <a:t>UniverseMap</a:t>
            </a:r>
            <a:r>
              <a:rPr lang="en-US" dirty="0">
                <a:solidFill>
                  <a:srgbClr val="0000FF"/>
                </a:solidFill>
                <a:highlight>
                  <a:srgbClr val="FFFFFF"/>
                </a:highlight>
                <a:latin typeface="Lucida Console" panose="020B0609040504020204" pitchFamily="49" charset="0"/>
              </a:rPr>
              <a:t>&gt;</a:t>
            </a:r>
            <a:endParaRPr lang="en-US" dirty="0">
              <a:latin typeface="Lucida Console" panose="020B0609040504020204" pitchFamily="49" charset="0"/>
            </a:endParaRPr>
          </a:p>
        </p:txBody>
      </p:sp>
    </p:spTree>
    <p:extLst>
      <p:ext uri="{BB962C8B-B14F-4D97-AF65-F5344CB8AC3E}">
        <p14:creationId xmlns:p14="http://schemas.microsoft.com/office/powerpoint/2010/main" val="284719873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Complex Comparisons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Comparing complex structures like Variables and Questions may require multiple maps </a:t>
            </a:r>
          </a:p>
          <a:p>
            <a:r>
              <a:rPr lang="en-US" dirty="0" smtClean="0"/>
              <a:t>For example we will look at a comparison of a number of questions all related to Age but using different question text and/or different response domains. This example is in DDI 3.1. </a:t>
            </a:r>
          </a:p>
          <a:p>
            <a:r>
              <a:rPr lang="en-US" dirty="0" smtClean="0"/>
              <a:t>DDI 3.2 allows comparison between different types of response domains (representations)</a:t>
            </a:r>
          </a:p>
          <a:p>
            <a:r>
              <a:rPr lang="en-US" dirty="0" smtClean="0"/>
              <a:t>DDI 3.2 allows listing the related maps used to compare specific aspects of the content.  </a:t>
            </a:r>
            <a:endParaRPr 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idx="4294967295"/>
          </p:nvPr>
        </p:nvSpPr>
        <p:spPr/>
        <p:txBody>
          <a:bodyPr/>
          <a:lstStyle/>
          <a:p>
            <a:pPr eaLnBrk="1" hangingPunct="1"/>
            <a:r>
              <a:rPr lang="en-US" smtClean="0"/>
              <a:t>Detail of question comparability</a:t>
            </a:r>
          </a:p>
        </p:txBody>
      </p:sp>
      <p:graphicFrame>
        <p:nvGraphicFramePr>
          <p:cNvPr id="722008" name="Group 88"/>
          <p:cNvGraphicFramePr>
            <a:graphicFrameLocks noGrp="1"/>
          </p:cNvGraphicFramePr>
          <p:nvPr>
            <p:ph idx="4294967295"/>
          </p:nvPr>
        </p:nvGraphicFramePr>
        <p:xfrm>
          <a:off x="457200" y="1600200"/>
          <a:ext cx="8229600" cy="5026347"/>
        </p:xfrm>
        <a:graphic>
          <a:graphicData uri="http://schemas.openxmlformats.org/drawingml/2006/table">
            <a:tbl>
              <a:tblPr/>
              <a:tblGrid>
                <a:gridCol w="1600200"/>
                <a:gridCol w="990600"/>
                <a:gridCol w="1143000"/>
                <a:gridCol w="1143000"/>
                <a:gridCol w="1143000"/>
                <a:gridCol w="1033463"/>
                <a:gridCol w="1176337"/>
              </a:tblGrid>
              <a:tr h="487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Comparison Map</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Textual Content of   Main Body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Category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Code Scheme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hMerge="1">
                  <a:txBody>
                    <a:bodyPr/>
                    <a:lstStyle/>
                    <a:p>
                      <a:endParaRPr lang="en-US"/>
                    </a:p>
                  </a:txBody>
                  <a:tcPr/>
                </a:tc>
              </a:tr>
              <a:tr h="487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Similar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Similar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Different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rowSpan="8">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000000"/>
                          </a:solidFill>
                          <a:effectLst/>
                          <a:latin typeface="Arial" charset="0"/>
                        </a:rPr>
                        <a:t>Question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bl>
          </a:graphicData>
        </a:graphic>
      </p:graphicFrame>
      <p:sp>
        <p:nvSpPr>
          <p:cNvPr id="28755" name="Date Placeholder 3"/>
          <p:cNvSpPr>
            <a:spLocks noGrp="1"/>
          </p:cNvSpPr>
          <p:nvPr>
            <p:ph type="dt" sz="quarter" idx="10"/>
          </p:nvPr>
        </p:nvSpPr>
        <p:spPr>
          <a:xfrm>
            <a:off x="0" y="0"/>
            <a:ext cx="2133600" cy="476250"/>
          </a:xfrm>
          <a:noFill/>
        </p:spPr>
        <p:txBody>
          <a:bodyPr/>
          <a:lstStyle/>
          <a:p>
            <a:r>
              <a:rPr lang="en-US" smtClean="0"/>
              <a:t>S18</a:t>
            </a:r>
          </a:p>
        </p:txBody>
      </p:sp>
      <p:sp>
        <p:nvSpPr>
          <p:cNvPr id="28756" name="Slide Number Placeholder 4"/>
          <p:cNvSpPr>
            <a:spLocks noGrp="1"/>
          </p:cNvSpPr>
          <p:nvPr>
            <p:ph type="sldNum" sz="quarter" idx="12"/>
          </p:nvPr>
        </p:nvSpPr>
        <p:spPr>
          <a:xfrm>
            <a:off x="7010400" y="0"/>
            <a:ext cx="2133600" cy="476250"/>
          </a:xfrm>
          <a:noFill/>
        </p:spPr>
        <p:txBody>
          <a:bodyPr/>
          <a:lstStyle/>
          <a:p>
            <a:fld id="{E6B9AC37-9748-4CE2-BE45-1A1C4BECB06C}" type="slidenum">
              <a:rPr lang="en-US" smtClean="0"/>
              <a:pPr/>
              <a:t>108</a:t>
            </a:fld>
            <a:endParaRPr lang="en-US" smtClean="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Harmonization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Harmonization is the process of creating a common structure for coding so that data sets can be merged and analyzed as a single structure</a:t>
            </a:r>
          </a:p>
          <a:p>
            <a:r>
              <a:rPr lang="en-US" dirty="0" smtClean="0"/>
              <a:t>When harmonization results in a new data set with added “harmonized” variables the process is called “data fusion”</a:t>
            </a:r>
          </a:p>
          <a:p>
            <a:r>
              <a:rPr lang="en-US" dirty="0" smtClean="0"/>
              <a:t>When </a:t>
            </a:r>
            <a:r>
              <a:rPr lang="en-US" smtClean="0"/>
              <a:t>harmonization provides </a:t>
            </a:r>
            <a:r>
              <a:rPr lang="en-US" dirty="0" smtClean="0"/>
              <a:t>the information required to create a harmonized data set but does not take the step of creating the file is a process called “semantic integration”</a:t>
            </a:r>
            <a:endParaRPr 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Publishing Comparison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Comparison can be published within a Group or Sub Group if it is related to a grouped set of studies (e.g. Waves in a longitudinal study)</a:t>
            </a:r>
          </a:p>
          <a:p>
            <a:r>
              <a:rPr lang="en-US" dirty="0" smtClean="0"/>
              <a:t>Comparison can be published as part of </a:t>
            </a:r>
            <a:r>
              <a:rPr lang="en-US" smtClean="0"/>
              <a:t>a Resource Package </a:t>
            </a:r>
            <a:r>
              <a:rPr lang="en-US" dirty="0" smtClean="0"/>
              <a:t>if it is related to differences between separate studies or to the description of a “virtual” harmonized set of data</a:t>
            </a:r>
          </a:p>
          <a:p>
            <a:r>
              <a:rPr lang="en-US" dirty="0" smtClean="0"/>
              <a:t>Systems, such as MISSY, capture the mapping between representations when a version change occurs. The mapping contains processing instructions  which are “snippets” of statistical software programs used to create a harmonized variable.</a:t>
            </a:r>
            <a:endParaRPr lang="en-US"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conclusion</a:t>
            </a:r>
            <a:endParaRPr lang="en-US"/>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302568035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Points to remember</a:t>
            </a:r>
            <a:endParaRPr lang="en-US" dirty="0"/>
          </a:p>
        </p:txBody>
      </p:sp>
      <p:sp>
        <p:nvSpPr>
          <p:cNvPr id="3" name="Content Placeholder 2"/>
          <p:cNvSpPr>
            <a:spLocks noGrp="1"/>
          </p:cNvSpPr>
          <p:nvPr>
            <p:ph idx="1"/>
          </p:nvPr>
        </p:nvSpPr>
        <p:spPr/>
        <p:txBody>
          <a:bodyPr/>
          <a:lstStyle/>
          <a:p>
            <a:r>
              <a:rPr lang="en-US" dirty="0" smtClean="0"/>
              <a:t>Few are starting from scratch</a:t>
            </a:r>
          </a:p>
          <a:p>
            <a:r>
              <a:rPr lang="en-US" dirty="0" smtClean="0"/>
              <a:t>Ongoing processes cannot stop</a:t>
            </a:r>
          </a:p>
          <a:p>
            <a:r>
              <a:rPr lang="en-US" dirty="0" smtClean="0"/>
              <a:t>You can only act in areas you control</a:t>
            </a:r>
          </a:p>
          <a:p>
            <a:r>
              <a:rPr lang="en-US" dirty="0" smtClean="0"/>
              <a:t>DDI is not an all or nothing structure</a:t>
            </a:r>
          </a:p>
          <a:p>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list</a:t>
            </a:r>
            <a:endParaRPr lang="en-US" dirty="0"/>
          </a:p>
        </p:txBody>
      </p:sp>
      <p:sp>
        <p:nvSpPr>
          <p:cNvPr id="3" name="Content Placeholder 2"/>
          <p:cNvSpPr>
            <a:spLocks noGrp="1"/>
          </p:cNvSpPr>
          <p:nvPr>
            <p:ph idx="1"/>
          </p:nvPr>
        </p:nvSpPr>
        <p:spPr/>
        <p:txBody>
          <a:bodyPr/>
          <a:lstStyle/>
          <a:p>
            <a:r>
              <a:rPr lang="en-US" dirty="0" smtClean="0"/>
              <a:t>Who do you need to interact with in your environment INPUTS and OUTPUTS?</a:t>
            </a:r>
          </a:p>
          <a:p>
            <a:r>
              <a:rPr lang="en-US" dirty="0" smtClean="0"/>
              <a:t>Where is your focus (may be different for different parts of the organization)?</a:t>
            </a:r>
          </a:p>
          <a:p>
            <a:r>
              <a:rPr lang="en-US" dirty="0" smtClean="0"/>
              <a:t>What do you control?</a:t>
            </a:r>
          </a:p>
          <a:p>
            <a:r>
              <a:rPr lang="en-US" dirty="0" smtClean="0"/>
              <a:t>What is your process flow - how far upstream is it practical to insert DDI like structures?</a:t>
            </a:r>
            <a:endParaRPr lang="en-US"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Questions?</a:t>
            </a:r>
            <a:endParaRPr lang="en-US" dirty="0"/>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30256803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4051</Words>
  <Application>Microsoft Office PowerPoint</Application>
  <PresentationFormat>On-screen Show (4:3)</PresentationFormat>
  <Paragraphs>967</Paragraphs>
  <Slides>114</Slides>
  <Notes>10</Notes>
  <HiddenSlides>0</HiddenSlides>
  <MMClips>0</MMClips>
  <ScaleCrop>false</ScaleCrop>
  <HeadingPairs>
    <vt:vector size="4" baseType="variant">
      <vt:variant>
        <vt:lpstr>Theme</vt:lpstr>
      </vt:variant>
      <vt:variant>
        <vt:i4>1</vt:i4>
      </vt:variant>
      <vt:variant>
        <vt:lpstr>Slide Titles</vt:lpstr>
      </vt:variant>
      <vt:variant>
        <vt:i4>114</vt:i4>
      </vt:variant>
    </vt:vector>
  </HeadingPairs>
  <TitlesOfParts>
    <vt:vector size="115" baseType="lpstr">
      <vt:lpstr>Office Theme</vt:lpstr>
      <vt:lpstr>Data and Metadata Management:  A Business Perspective</vt:lpstr>
      <vt:lpstr>Credits</vt:lpstr>
      <vt:lpstr>PART I</vt:lpstr>
      <vt:lpstr>Welcome and outline</vt:lpstr>
      <vt:lpstr>Outline</vt:lpstr>
      <vt:lpstr>Introductions</vt:lpstr>
      <vt:lpstr>Changes in the environment:</vt:lpstr>
      <vt:lpstr>The Challenge</vt:lpstr>
      <vt:lpstr>Why Such a Mess?</vt:lpstr>
      <vt:lpstr>Ddi 3 in 60 seconds</vt:lpstr>
      <vt:lpstr>PowerPoint Presentation</vt:lpstr>
      <vt:lpstr>PowerPoint Presentation</vt:lpstr>
      <vt:lpstr>processes</vt:lpstr>
      <vt:lpstr>Looking at your organization</vt:lpstr>
      <vt:lpstr>Traditional Process Model</vt:lpstr>
      <vt:lpstr>DDI Lifecycle Model</vt:lpstr>
      <vt:lpstr>PowerPoint Presentation</vt:lpstr>
      <vt:lpstr>PowerPoint Presentation</vt:lpstr>
      <vt:lpstr>PowerPoint Presentation</vt:lpstr>
      <vt:lpstr>PowerPoint Presentation</vt:lpstr>
      <vt:lpstr>PowerPoint Presentation</vt:lpstr>
      <vt:lpstr>The ddi-standard</vt:lpstr>
      <vt:lpstr>What Is DDI?</vt:lpstr>
      <vt:lpstr>History</vt:lpstr>
      <vt:lpstr>XML Elements</vt:lpstr>
      <vt:lpstr>XML Attributes</vt:lpstr>
      <vt:lpstr>Conflicting Tag Names</vt:lpstr>
      <vt:lpstr>PowerPoint Presentation</vt:lpstr>
      <vt:lpstr>DDI and XML</vt:lpstr>
      <vt:lpstr>tools</vt:lpstr>
      <vt:lpstr>Tools and Standards</vt:lpstr>
      <vt:lpstr>Tools and Standards</vt:lpstr>
      <vt:lpstr>Examples</vt:lpstr>
      <vt:lpstr>Codebook and lifecycle</vt:lpstr>
      <vt:lpstr>Formerly known as…</vt:lpstr>
      <vt:lpstr>DDI Codebook</vt:lpstr>
      <vt:lpstr>DDI Codebook</vt:lpstr>
      <vt:lpstr>DDI Lifecycle Model</vt:lpstr>
      <vt:lpstr>DDI Lifecycle Features</vt:lpstr>
      <vt:lpstr>DDI Lifecycle Features</vt:lpstr>
      <vt:lpstr>DDI Codebook</vt:lpstr>
      <vt:lpstr>DDI Lifecycle</vt:lpstr>
      <vt:lpstr>DDI Moving Forward</vt:lpstr>
      <vt:lpstr>PART II</vt:lpstr>
      <vt:lpstr>DDI lifecycle in detail</vt:lpstr>
      <vt:lpstr>DDI Objective: Organizing Information</vt:lpstr>
      <vt:lpstr>Why am I doing this?</vt:lpstr>
      <vt:lpstr>Schemes and Reuse</vt:lpstr>
      <vt:lpstr>DDI Schemes and Modules</vt:lpstr>
      <vt:lpstr>Metadata Captured in Schemas</vt:lpstr>
      <vt:lpstr>Schemes</vt:lpstr>
      <vt:lpstr>Managed Content</vt:lpstr>
      <vt:lpstr>Managed Content (cont.)</vt:lpstr>
      <vt:lpstr>Scheme structure</vt:lpstr>
      <vt:lpstr>Building a Codebook</vt:lpstr>
      <vt:lpstr>Modules</vt:lpstr>
      <vt:lpstr>DDI Lifecycle Model and Related Modules</vt:lpstr>
      <vt:lpstr>Building from Component Parts</vt:lpstr>
      <vt:lpstr>Module added content</vt:lpstr>
      <vt:lpstr>Packaging in XML for Publication</vt:lpstr>
      <vt:lpstr>PowerPoint Presentation</vt:lpstr>
      <vt:lpstr>PowerPoint Presentation</vt:lpstr>
      <vt:lpstr>PowerPoint Presentation</vt:lpstr>
      <vt:lpstr>PowerPoint Presentation</vt:lpstr>
      <vt:lpstr>PowerPoint Presentation</vt:lpstr>
      <vt:lpstr>Capturing processes</vt:lpstr>
      <vt:lpstr>Focusing on Processes</vt:lpstr>
      <vt:lpstr>Creating a Questionnaire</vt:lpstr>
      <vt:lpstr>Questions</vt:lpstr>
      <vt:lpstr>Questionnaires</vt:lpstr>
      <vt:lpstr>Question Scheme Example</vt:lpstr>
      <vt:lpstr>Question Item XML</vt:lpstr>
      <vt:lpstr>Response Domains</vt:lpstr>
      <vt:lpstr>Interviewer Instructions</vt:lpstr>
      <vt:lpstr>Flow Logic</vt:lpstr>
      <vt:lpstr>Flow Logic Example</vt:lpstr>
      <vt:lpstr>Flow Logic in DDI</vt:lpstr>
      <vt:lpstr>Sequences</vt:lpstr>
      <vt:lpstr>A Simple Example</vt:lpstr>
      <vt:lpstr>The Top-Level Sequence XML</vt:lpstr>
      <vt:lpstr>Conditional Logic</vt:lpstr>
      <vt:lpstr>Conditional Logic XML</vt:lpstr>
      <vt:lpstr>The Questionnaire</vt:lpstr>
      <vt:lpstr>Instrument XML</vt:lpstr>
      <vt:lpstr>Bringing the Pieces Together</vt:lpstr>
      <vt:lpstr>Document Data Processing and Life Cycle Events</vt:lpstr>
      <vt:lpstr>Where does processing take place?</vt:lpstr>
      <vt:lpstr>How is this handled in DDI?</vt:lpstr>
      <vt:lpstr>Processing Event</vt:lpstr>
      <vt:lpstr>Processing Instructions</vt:lpstr>
      <vt:lpstr>Command Code</vt:lpstr>
      <vt:lpstr>PowerPoint Presentation</vt:lpstr>
      <vt:lpstr>Life Cycle Event</vt:lpstr>
      <vt:lpstr>PowerPoint Presentation</vt:lpstr>
      <vt:lpstr>Discovery &amp; comparison</vt:lpstr>
      <vt:lpstr>Citation and Coverage</vt:lpstr>
      <vt:lpstr>Coverage</vt:lpstr>
      <vt:lpstr>Discovery Metadata</vt:lpstr>
      <vt:lpstr>Common Metadata</vt:lpstr>
      <vt:lpstr>Comparison in DDI</vt:lpstr>
      <vt:lpstr>Reusable Study-independent Information in Resource Package</vt:lpstr>
      <vt:lpstr>Longitudinal (repeated) Studies</vt:lpstr>
      <vt:lpstr>PowerPoint Presentation</vt:lpstr>
      <vt:lpstr>Where is comparison useful?</vt:lpstr>
      <vt:lpstr>General Comparison</vt:lpstr>
      <vt:lpstr>PowerPoint Presentation</vt:lpstr>
      <vt:lpstr>Complex Comparisons</vt:lpstr>
      <vt:lpstr>Detail of question comparability</vt:lpstr>
      <vt:lpstr>Harmonization</vt:lpstr>
      <vt:lpstr>Publishing Comparison</vt:lpstr>
      <vt:lpstr>conclusion</vt:lpstr>
      <vt:lpstr>Points to remember</vt:lpstr>
      <vt:lpstr>Check list</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and Metadata Management:  A Business Perspective</dc:title>
  <dc:creator>wendy</dc:creator>
  <cp:lastModifiedBy>Hebing, Marcel</cp:lastModifiedBy>
  <cp:revision>51</cp:revision>
  <cp:lastPrinted>2012-11-30T14:02:28Z</cp:lastPrinted>
  <dcterms:created xsi:type="dcterms:W3CDTF">2012-06-03T22:01:05Z</dcterms:created>
  <dcterms:modified xsi:type="dcterms:W3CDTF">2013-12-10T17:00:22Z</dcterms:modified>
</cp:coreProperties>
</file>