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5" r:id="rId17"/>
    <p:sldId id="271" r:id="rId18"/>
    <p:sldId id="272" r:id="rId19"/>
    <p:sldId id="277" r:id="rId20"/>
    <p:sldId id="273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DF"/>
    <a:srgbClr val="F7F6C6"/>
    <a:srgbClr val="FFFF99"/>
    <a:srgbClr val="FEF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46" autoAdjust="0"/>
    <p:restoredTop sz="94660"/>
  </p:normalViewPr>
  <p:slideViewPr>
    <p:cSldViewPr>
      <p:cViewPr varScale="1">
        <p:scale>
          <a:sx n="68" d="100"/>
          <a:sy n="68" d="100"/>
        </p:scale>
        <p:origin x="-53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5E4F4-6C0C-432F-AE69-BE9FB8CAF309}" type="datetimeFigureOut">
              <a:rPr lang="en-US" smtClean="0"/>
              <a:t>11/24/2013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C6A56-527C-43E3-A8CB-ADA2FF475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1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7F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71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1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1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7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35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8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1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2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781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629400"/>
            <a:ext cx="2133600" cy="226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December, 2013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3800" y="6629399"/>
            <a:ext cx="2667000" cy="211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European Data Documentation Conference 2013, Paris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29400"/>
            <a:ext cx="2133600" cy="226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712F9-A404-46A1-8BF8-2940A9B3556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276" y="6511288"/>
            <a:ext cx="582613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220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hdl.handle.net/1808/1248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Extended Attributes in Data Analysis </a:t>
            </a:r>
            <a:r>
              <a:rPr lang="en-US" dirty="0" smtClean="0"/>
              <a:t>Software-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81400"/>
            <a:ext cx="6400800" cy="25146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Controlled Vocabularies, Tools and </a:t>
            </a:r>
            <a:r>
              <a:rPr lang="en-US" dirty="0" smtClean="0">
                <a:solidFill>
                  <a:schemeClr val="tx1"/>
                </a:solidFill>
              </a:rPr>
              <a:t>DDI</a:t>
            </a:r>
          </a:p>
          <a:p>
            <a:endParaRPr lang="en-US" dirty="0"/>
          </a:p>
          <a:p>
            <a:r>
              <a:rPr lang="en-US" dirty="0" smtClean="0"/>
              <a:t>Larry </a:t>
            </a:r>
            <a:r>
              <a:rPr lang="en-US" dirty="0"/>
              <a:t>Hoyle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Institute for Policy &amp; Social </a:t>
            </a:r>
            <a:r>
              <a:rPr lang="en-US" dirty="0" smtClean="0"/>
              <a:t>Research</a:t>
            </a:r>
          </a:p>
          <a:p>
            <a:r>
              <a:rPr lang="en-US" dirty="0" smtClean="0"/>
              <a:t>University </a:t>
            </a:r>
            <a:r>
              <a:rPr lang="en-US" dirty="0"/>
              <a:t>of Kansas</a:t>
            </a:r>
          </a:p>
          <a:p>
            <a:r>
              <a:rPr lang="en-US" dirty="0"/>
              <a:t>LarryHoyle@ku.edu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778042"/>
            <a:ext cx="2000885" cy="118894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1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Custom, or Extended,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r>
              <a:rPr lang="en-US" dirty="0" smtClean="0"/>
              <a:t>Excel with Colectica Plugin, R, SAS, SPSS, </a:t>
            </a:r>
            <a:r>
              <a:rPr lang="en-US" dirty="0" err="1" smtClean="0"/>
              <a:t>Stata</a:t>
            </a:r>
            <a:r>
              <a:rPr lang="en-US" dirty="0"/>
              <a:t> </a:t>
            </a:r>
            <a:r>
              <a:rPr lang="en-US" dirty="0" smtClean="0"/>
              <a:t>all have something in common</a:t>
            </a:r>
          </a:p>
          <a:p>
            <a:r>
              <a:rPr lang="en-US" dirty="0" smtClean="0"/>
              <a:t>User defined attributes for variables</a:t>
            </a:r>
          </a:p>
          <a:p>
            <a:pPr lvl="1"/>
            <a:r>
              <a:rPr lang="en-US" dirty="0" smtClean="0"/>
              <a:t>   (and sometimes datasets)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4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</a:t>
            </a:r>
            <a:br>
              <a:rPr lang="en-US" dirty="0" smtClean="0"/>
            </a:br>
            <a:r>
              <a:rPr lang="en-US" dirty="0" smtClean="0"/>
              <a:t>Excel with Colectica Plugin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6477000" cy="5301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703493" y="5181600"/>
            <a:ext cx="140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 Defined</a:t>
            </a:r>
          </a:p>
          <a:p>
            <a:r>
              <a:rPr lang="en-US" dirty="0" smtClean="0"/>
              <a:t> Attributes</a:t>
            </a:r>
            <a:endParaRPr lang="en-US" dirty="0"/>
          </a:p>
        </p:txBody>
      </p:sp>
      <p:cxnSp>
        <p:nvCxnSpPr>
          <p:cNvPr id="9" name="Straight Arrow Connector 8"/>
          <p:cNvCxnSpPr>
            <a:stCxn id="3" idx="1"/>
          </p:cNvCxnSpPr>
          <p:nvPr/>
        </p:nvCxnSpPr>
        <p:spPr>
          <a:xfrm flipH="1">
            <a:off x="5334000" y="5504766"/>
            <a:ext cx="2369493" cy="6674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75615" y="2057400"/>
            <a:ext cx="1213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Predefined</a:t>
            </a:r>
          </a:p>
          <a:p>
            <a:r>
              <a:rPr lang="en-US" dirty="0" smtClean="0"/>
              <a:t> Attributes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flipH="1">
            <a:off x="5306123" y="2380566"/>
            <a:ext cx="2369492" cy="6674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38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</a:t>
            </a:r>
            <a:br>
              <a:rPr lang="en-US" dirty="0" smtClean="0"/>
            </a:br>
            <a:r>
              <a:rPr lang="en-US" dirty="0" smtClean="0"/>
              <a:t>R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2" y="1447800"/>
            <a:ext cx="8862592" cy="25908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4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0" y="3200400"/>
            <a:ext cx="5715000" cy="9906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4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096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SPSS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228599" y="1262380"/>
            <a:ext cx="8730297" cy="24714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10400" y="1905000"/>
            <a:ext cx="2111644" cy="22860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8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096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SPSS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46" y="1142999"/>
            <a:ext cx="4287253" cy="53856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30"/>
          <a:stretch/>
        </p:blipFill>
        <p:spPr bwMode="auto">
          <a:xfrm>
            <a:off x="5029200" y="1142998"/>
            <a:ext cx="3657600" cy="218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790" y="3581400"/>
            <a:ext cx="3234011" cy="2947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081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</a:t>
            </a:r>
            <a:r>
              <a:rPr lang="en-US" dirty="0" err="1" smtClean="0"/>
              <a:t>Stata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10600" cy="50593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000" i="1" dirty="0"/>
              <a:t>. char define Height[</a:t>
            </a:r>
            <a:r>
              <a:rPr lang="en-US" sz="3000" i="1" dirty="0" err="1"/>
              <a:t>MeasurementUnits</a:t>
            </a:r>
            <a:r>
              <a:rPr lang="en-US" sz="3000" i="1" dirty="0"/>
              <a:t>]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"Centimeters"</a:t>
            </a:r>
          </a:p>
          <a:p>
            <a:pPr marL="0" indent="0">
              <a:buNone/>
            </a:pPr>
            <a:r>
              <a:rPr lang="en-US" sz="3000" i="1" dirty="0"/>
              <a:t>. char define _</a:t>
            </a:r>
            <a:r>
              <a:rPr lang="en-US" sz="3000" i="1" dirty="0" err="1"/>
              <a:t>dta</a:t>
            </a:r>
            <a:r>
              <a:rPr lang="en-US" sz="3000" i="1" dirty="0"/>
              <a:t>[Universe]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"Persons aged 65 and over"</a:t>
            </a:r>
          </a:p>
          <a:p>
            <a:pPr marL="0" indent="0">
              <a:buNone/>
            </a:pPr>
            <a:r>
              <a:rPr lang="en-US" sz="3000" i="1" dirty="0"/>
              <a:t>.  notes Height: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First note on Height</a:t>
            </a:r>
          </a:p>
          <a:p>
            <a:pPr marL="0" indent="0">
              <a:buNone/>
            </a:pPr>
            <a:r>
              <a:rPr lang="en-US" sz="3000" i="1" dirty="0"/>
              <a:t> </a:t>
            </a:r>
          </a:p>
          <a:p>
            <a:pPr marL="0" indent="0">
              <a:buNone/>
            </a:pPr>
            <a:r>
              <a:rPr lang="en-US" sz="3000" i="1" dirty="0"/>
              <a:t>. char list</a:t>
            </a:r>
          </a:p>
          <a:p>
            <a:pPr marL="0" indent="0">
              <a:buNone/>
            </a:pPr>
            <a:r>
              <a:rPr lang="en-US" sz="3000" i="1" dirty="0"/>
              <a:t>  _</a:t>
            </a:r>
            <a:r>
              <a:rPr lang="en-US" sz="3000" i="1" dirty="0" err="1"/>
              <a:t>dta</a:t>
            </a:r>
            <a:r>
              <a:rPr lang="en-US" sz="3000" i="1" dirty="0"/>
              <a:t>[Universe]:            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Persons aged 65 and over</a:t>
            </a:r>
          </a:p>
          <a:p>
            <a:pPr marL="0" indent="0">
              <a:buNone/>
            </a:pPr>
            <a:r>
              <a:rPr lang="en-US" sz="3000" i="1" dirty="0"/>
              <a:t>  Height[note1]:             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First note on Height</a:t>
            </a:r>
          </a:p>
          <a:p>
            <a:pPr marL="0" indent="0">
              <a:buNone/>
            </a:pPr>
            <a:r>
              <a:rPr lang="en-US" sz="3000" i="1" dirty="0"/>
              <a:t>  Height[note0]:             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  <a:p>
            <a:pPr marL="0" indent="0">
              <a:buNone/>
            </a:pPr>
            <a:r>
              <a:rPr lang="en-US" sz="3000" i="1" dirty="0"/>
              <a:t>  Height[</a:t>
            </a:r>
            <a:r>
              <a:rPr lang="en-US" sz="3000" i="1" dirty="0" err="1"/>
              <a:t>MeasurementUnits</a:t>
            </a:r>
            <a:r>
              <a:rPr lang="en-US" sz="3000" i="1" dirty="0"/>
              <a:t>]:   </a:t>
            </a:r>
            <a:r>
              <a:rPr lang="en-US" sz="3000" i="1" dirty="0">
                <a:solidFill>
                  <a:schemeClr val="accent2">
                    <a:lumMod val="75000"/>
                  </a:schemeClr>
                </a:solidFill>
              </a:rPr>
              <a:t>Centimeters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Q</a:t>
            </a:r>
            <a:r>
              <a:rPr lang="en-US" dirty="0" smtClean="0"/>
              <a:t>uick Tour – SAS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106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proc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datasets lib=work </a:t>
            </a: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nolist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;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modify sales;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xattr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set ds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Concept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="purpose"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                    </a:t>
            </a:r>
            <a:r>
              <a:rPr lang="en-US" sz="2800" i="1" dirty="0" smtClean="0">
                <a:solidFill>
                  <a:schemeClr val="accent2">
                    <a:lumMod val="75000"/>
                  </a:schemeClr>
                </a:solidFill>
              </a:rPr>
              <a:t>Description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="Testing Extended Attributes";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xattr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set </a:t>
            </a: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var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         purchase 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(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Role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="target"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                             </a:t>
            </a:r>
            <a:r>
              <a:rPr lang="en-US" sz="2800" i="1" dirty="0" err="1" smtClean="0">
                <a:solidFill>
                  <a:schemeClr val="accent2">
                    <a:lumMod val="75000"/>
                  </a:schemeClr>
                </a:solidFill>
              </a:rPr>
              <a:t>LevelOfMeasurement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="nominal" 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                         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Description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="A text description of the type of item purchased")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         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age (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</a:t>
            </a:r>
            <a:r>
              <a:rPr lang="en-US" sz="2800" i="1" dirty="0" smtClean="0">
                <a:solidFill>
                  <a:schemeClr val="accent2">
                    <a:lumMod val="75000"/>
                  </a:schemeClr>
                </a:solidFill>
              </a:rPr>
              <a:t>Role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="reject"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                       </a:t>
            </a:r>
            <a:r>
              <a:rPr lang="en-US" sz="2800" i="1" dirty="0" smtClean="0">
                <a:solidFill>
                  <a:schemeClr val="accent2">
                    <a:lumMod val="75000"/>
                  </a:schemeClr>
                </a:solidFill>
              </a:rPr>
              <a:t>Minimum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="0" </a:t>
            </a:r>
            <a:r>
              <a:rPr lang="en-US" sz="2800" i="1" dirty="0" err="1">
                <a:solidFill>
                  <a:schemeClr val="bg2">
                    <a:lumMod val="50000"/>
                  </a:schemeClr>
                </a:solidFill>
              </a:rPr>
              <a:t>MeasurementUnits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="years")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             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income ( 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Role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</a:t>
            </a: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input“</a:t>
            </a:r>
            <a:b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bg2">
                    <a:lumMod val="50000"/>
                  </a:schemeClr>
                </a:solidFill>
              </a:rPr>
              <a:t>                              </a:t>
            </a:r>
            <a:r>
              <a:rPr lang="en-US" sz="2800" i="1" dirty="0" err="1">
                <a:solidFill>
                  <a:schemeClr val="accent2">
                    <a:lumMod val="75000"/>
                  </a:schemeClr>
                </a:solidFill>
              </a:rPr>
              <a:t>LevelOfMeasurement</a:t>
            </a:r>
            <a:r>
              <a:rPr lang="en-US" sz="2800" i="1" dirty="0">
                <a:solidFill>
                  <a:schemeClr val="bg2">
                    <a:lumMod val="50000"/>
                  </a:schemeClr>
                </a:solidFill>
              </a:rPr>
              <a:t>="interval" 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8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067800" cy="678180"/>
          </a:xfrm>
        </p:spPr>
        <p:txBody>
          <a:bodyPr/>
          <a:lstStyle/>
          <a:p>
            <a:r>
              <a:rPr lang="en-US" dirty="0" smtClean="0"/>
              <a:t>Metadata in the Research Workflow,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Capture metadata when generated</a:t>
            </a:r>
          </a:p>
          <a:p>
            <a:pPr lvl="1"/>
            <a:r>
              <a:rPr lang="en-US" dirty="0" smtClean="0"/>
              <a:t>Recorded by those who understand the work</a:t>
            </a:r>
          </a:p>
          <a:p>
            <a:pPr lvl="1"/>
            <a:r>
              <a:rPr lang="en-US" dirty="0" smtClean="0"/>
              <a:t>Recorded while still in mind</a:t>
            </a:r>
          </a:p>
          <a:p>
            <a:r>
              <a:rPr lang="en-US" dirty="0" smtClean="0"/>
              <a:t>Minimize overhead to research</a:t>
            </a:r>
          </a:p>
          <a:p>
            <a:pPr lvl="1"/>
            <a:r>
              <a:rPr lang="en-US" dirty="0" smtClean="0"/>
              <a:t>Burdensome procedures won’t get done</a:t>
            </a:r>
          </a:p>
          <a:p>
            <a:pPr lvl="2"/>
            <a:r>
              <a:rPr lang="en-US" dirty="0" smtClean="0"/>
              <a:t>(or won’t get done well)</a:t>
            </a:r>
          </a:p>
          <a:p>
            <a:r>
              <a:rPr lang="en-US" dirty="0" smtClean="0"/>
              <a:t>Part of regular workflow</a:t>
            </a:r>
          </a:p>
          <a:p>
            <a:endParaRPr lang="en-US" dirty="0" smtClean="0"/>
          </a:p>
          <a:p>
            <a:r>
              <a:rPr lang="en-US" dirty="0" smtClean="0"/>
              <a:t>See for example Iverson (2009) or Long (2009)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Dilemma of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Structure makes data and metadata easier to use</a:t>
            </a:r>
          </a:p>
          <a:p>
            <a:pPr lvl="1"/>
            <a:r>
              <a:rPr lang="en-US" dirty="0" smtClean="0"/>
              <a:t>Searching</a:t>
            </a:r>
          </a:p>
          <a:p>
            <a:pPr lvl="1"/>
            <a:r>
              <a:rPr lang="en-US" dirty="0" smtClean="0"/>
              <a:t>Machine actionability</a:t>
            </a:r>
          </a:p>
          <a:p>
            <a:r>
              <a:rPr lang="en-US" dirty="0" smtClean="0"/>
              <a:t>Adding structure can be additional work for creators</a:t>
            </a:r>
          </a:p>
          <a:p>
            <a:pPr lvl="1"/>
            <a:r>
              <a:rPr lang="en-US" dirty="0" smtClean="0"/>
              <a:t>Knowledge of structure scheme</a:t>
            </a:r>
          </a:p>
          <a:p>
            <a:pPr lvl="1"/>
            <a:r>
              <a:rPr lang="en-US" dirty="0" smtClean="0"/>
              <a:t>Navigating large structures</a:t>
            </a:r>
          </a:p>
          <a:p>
            <a:r>
              <a:rPr lang="en-US" sz="4800" b="1" dirty="0" smtClean="0"/>
              <a:t>Tools can help</a:t>
            </a:r>
            <a:endParaRPr lang="en-US" sz="4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8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Controlled Vocabularies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Agreed upon attribute names</a:t>
            </a:r>
          </a:p>
          <a:p>
            <a:r>
              <a:rPr lang="en-US" dirty="0" smtClean="0"/>
              <a:t>Agreed upon values of some attributes</a:t>
            </a:r>
          </a:p>
          <a:p>
            <a:endParaRPr lang="en-US" dirty="0"/>
          </a:p>
          <a:p>
            <a:r>
              <a:rPr lang="en-US" dirty="0" smtClean="0"/>
              <a:t>E.g.   Attribute: “</a:t>
            </a:r>
            <a:r>
              <a:rPr lang="en-US" dirty="0" err="1" smtClean="0"/>
              <a:t>MeasurementUnits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Values from International </a:t>
            </a:r>
            <a:r>
              <a:rPr lang="en-US" dirty="0"/>
              <a:t>System of Units cf. http://physics.nist.gov/cuu/Units/current.html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8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Prototype Tool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038600"/>
            <a:ext cx="440749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57200" y="1600200"/>
            <a:ext cx="7162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Custom Add-in for SAS Enterprise Guide</a:t>
            </a:r>
          </a:p>
          <a:p>
            <a:endParaRPr lang="en-US" sz="3200" dirty="0"/>
          </a:p>
          <a:p>
            <a:r>
              <a:rPr lang="en-US" sz="3200" dirty="0" smtClean="0"/>
              <a:t>Becomes a node in a process flow diagram</a:t>
            </a:r>
            <a:endParaRPr lang="en-US" sz="32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895600" y="3352800"/>
            <a:ext cx="1600200" cy="6858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89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Pass at a User Interface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90600"/>
            <a:ext cx="6172200" cy="534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50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78180"/>
          </a:xfrm>
        </p:spPr>
        <p:txBody>
          <a:bodyPr/>
          <a:lstStyle/>
          <a:p>
            <a:r>
              <a:rPr lang="en-US" dirty="0" smtClean="0"/>
              <a:t>Enter, Change, or Delete Dataset Attributes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570758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90600" y="2362200"/>
            <a:ext cx="6324600" cy="3810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90600" y="3581400"/>
            <a:ext cx="6324600" cy="3810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4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Prompted From a List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" t="29014" r="54073" b="20433"/>
          <a:stretch/>
        </p:blipFill>
        <p:spPr bwMode="auto">
          <a:xfrm>
            <a:off x="3254644" y="990600"/>
            <a:ext cx="5736956" cy="555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1253961"/>
            <a:ext cx="281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list can be based on DDI or some other  source </a:t>
            </a:r>
            <a:br>
              <a:rPr lang="en-US" sz="3200" dirty="0" smtClean="0"/>
            </a:br>
            <a:r>
              <a:rPr lang="en-US" sz="3200" dirty="0" smtClean="0"/>
              <a:t>(or both)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5221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 User Defined Attributes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1253961"/>
            <a:ext cx="281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A user can also enter a new attribute name.</a:t>
            </a:r>
            <a:endParaRPr lang="en-US" sz="3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95" r="50000" b="39713"/>
          <a:stretch/>
        </p:blipFill>
        <p:spPr bwMode="auto">
          <a:xfrm>
            <a:off x="2923734" y="1371600"/>
            <a:ext cx="5986904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3276600" y="2362200"/>
            <a:ext cx="1524000" cy="381000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78180"/>
          </a:xfrm>
        </p:spPr>
        <p:txBody>
          <a:bodyPr/>
          <a:lstStyle/>
          <a:p>
            <a:r>
              <a:rPr lang="en-US" dirty="0" smtClean="0"/>
              <a:t>Runs SAS Procedure on Demand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85800"/>
            <a:ext cx="6700838" cy="5803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167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066800"/>
          </a:xfrm>
        </p:spPr>
        <p:txBody>
          <a:bodyPr/>
          <a:lstStyle/>
          <a:p>
            <a:r>
              <a:rPr lang="en-US" dirty="0" smtClean="0"/>
              <a:t>Generate DDI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74736"/>
            <a:ext cx="5938838" cy="5143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1129450"/>
            <a:ext cx="289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contain Extended </a:t>
            </a:r>
            <a:r>
              <a:rPr lang="en-US" sz="2800" dirty="0" smtClean="0"/>
              <a:t>Attributes</a:t>
            </a:r>
          </a:p>
          <a:p>
            <a:endParaRPr lang="en-US" sz="2800" dirty="0"/>
          </a:p>
          <a:p>
            <a:r>
              <a:rPr lang="en-US" sz="2800" dirty="0" smtClean="0"/>
              <a:t>Can also contain all other metadata extracted from the dataset  and current SAS environment (e.g. categories and codes)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958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Finishes by Running SAS Program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19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8" t="7992" r="4531" b="15971"/>
          <a:stretch/>
        </p:blipFill>
        <p:spPr bwMode="auto">
          <a:xfrm>
            <a:off x="1143000" y="1066799"/>
            <a:ext cx="6615193" cy="5376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334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Updated Process Flow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16"/>
          <a:stretch/>
        </p:blipFill>
        <p:spPr>
          <a:xfrm>
            <a:off x="381000" y="975146"/>
            <a:ext cx="6066295" cy="52413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7602" y="1600200"/>
            <a:ext cx="2996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Updated Dataset</a:t>
            </a:r>
            <a:endParaRPr lang="en-US" sz="32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147603" y="2184975"/>
            <a:ext cx="888628" cy="558225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181600" y="3886200"/>
            <a:ext cx="37338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Larry Hoyle</a:t>
            </a:r>
          </a:p>
          <a:p>
            <a:pPr marL="0" indent="0">
              <a:buNone/>
            </a:pPr>
            <a:r>
              <a:rPr lang="en-US" dirty="0" smtClean="0"/>
              <a:t>LarryHoyle@ku.edu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December, 2013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European Data Documentation Conference 2013, Paris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12F9-A404-46A1-8BF8-2940A9B35562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0" y="1905000"/>
            <a:ext cx="65523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Full Paper </a:t>
            </a:r>
            <a:r>
              <a:rPr lang="en-US" sz="2800" dirty="0" smtClean="0"/>
              <a:t>and </a:t>
            </a:r>
            <a:r>
              <a:rPr lang="en-US" sz="2800" dirty="0" smtClean="0"/>
              <a:t>sample </a:t>
            </a:r>
            <a:r>
              <a:rPr lang="en-US" sz="2800" dirty="0" smtClean="0"/>
              <a:t>code are available </a:t>
            </a:r>
            <a:r>
              <a:rPr lang="en-US" sz="2800" dirty="0" smtClean="0"/>
              <a:t>at:</a:t>
            </a:r>
          </a:p>
          <a:p>
            <a:r>
              <a:rPr lang="en-US" sz="2800" u="sng" dirty="0">
                <a:hlinkClick r:id="rId2"/>
              </a:rPr>
              <a:t>http://</a:t>
            </a:r>
            <a:r>
              <a:rPr lang="en-US" sz="2800" u="sng" dirty="0" smtClean="0">
                <a:hlinkClick r:id="rId2"/>
              </a:rPr>
              <a:t>hdl.handle.net/1808/12488</a:t>
            </a:r>
            <a:endParaRPr lang="en-US" sz="2800" u="sng" dirty="0" smtClean="0"/>
          </a:p>
          <a:p>
            <a:endParaRPr lang="en-US" sz="2800" u="sng" dirty="0"/>
          </a:p>
          <a:p>
            <a:r>
              <a:rPr lang="en-US" u="sng" dirty="0" smtClean="0"/>
              <a:t>(after 03-Dec- 2013)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0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616</Words>
  <Application>Microsoft Office PowerPoint</Application>
  <PresentationFormat>On-screen Show (4:3)</PresentationFormat>
  <Paragraphs>149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Using Extended Attributes in Data Analysis Software-</vt:lpstr>
      <vt:lpstr>Custom, or Extended, Attributes</vt:lpstr>
      <vt:lpstr>A Quick Tour –  Excel with Colectica Plugin</vt:lpstr>
      <vt:lpstr>A Quick Tour –  R</vt:lpstr>
      <vt:lpstr>A Quick Tour – SPSS</vt:lpstr>
      <vt:lpstr>A Quick Tour – SPSS</vt:lpstr>
      <vt:lpstr>A Quick Tour – Stata</vt:lpstr>
      <vt:lpstr>A Quick Tour – SAS</vt:lpstr>
      <vt:lpstr>Metadata in the Research Workflow, Goals</vt:lpstr>
      <vt:lpstr>The Dilemma of Structure</vt:lpstr>
      <vt:lpstr>Multiple Controlled Vocabularies</vt:lpstr>
      <vt:lpstr>A Prototype Tool</vt:lpstr>
      <vt:lpstr>First Pass at a User Interface</vt:lpstr>
      <vt:lpstr>Enter, Change, or Delete Dataset Attributes</vt:lpstr>
      <vt:lpstr>Attributes Prompted From a List</vt:lpstr>
      <vt:lpstr>Or User Defined Attributes</vt:lpstr>
      <vt:lpstr>Runs SAS Procedure on Demand</vt:lpstr>
      <vt:lpstr>Generate DDI</vt:lpstr>
      <vt:lpstr>Finishes by Running SAS Program</vt:lpstr>
      <vt:lpstr>Updated Process Flow</vt:lpstr>
      <vt:lpstr>Questions?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Extended Attributes in Data Analysis Software-</dc:title>
  <dc:creator>Larry Hoyle</dc:creator>
  <cp:lastModifiedBy>lhoyle</cp:lastModifiedBy>
  <cp:revision>30</cp:revision>
  <dcterms:created xsi:type="dcterms:W3CDTF">2013-11-04T06:58:38Z</dcterms:created>
  <dcterms:modified xsi:type="dcterms:W3CDTF">2013-11-24T15:51:54Z</dcterms:modified>
</cp:coreProperties>
</file>