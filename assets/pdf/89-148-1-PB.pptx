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5"/>
    <p:sldMasterId id="2147483668" r:id="rId6"/>
  </p:sldMasterIdLst>
  <p:notesMasterIdLst>
    <p:notesMasterId r:id="rId30"/>
  </p:notesMasterIdLst>
  <p:sldIdLst>
    <p:sldId id="256" r:id="rId7"/>
    <p:sldId id="275" r:id="rId8"/>
    <p:sldId id="259" r:id="rId9"/>
    <p:sldId id="286" r:id="rId10"/>
    <p:sldId id="261" r:id="rId11"/>
    <p:sldId id="287" r:id="rId12"/>
    <p:sldId id="262" r:id="rId13"/>
    <p:sldId id="288" r:id="rId14"/>
    <p:sldId id="263" r:id="rId15"/>
    <p:sldId id="289" r:id="rId16"/>
    <p:sldId id="264" r:id="rId17"/>
    <p:sldId id="290" r:id="rId18"/>
    <p:sldId id="267" r:id="rId19"/>
    <p:sldId id="291" r:id="rId20"/>
    <p:sldId id="268" r:id="rId21"/>
    <p:sldId id="292" r:id="rId22"/>
    <p:sldId id="270" r:id="rId23"/>
    <p:sldId id="293" r:id="rId24"/>
    <p:sldId id="271" r:id="rId25"/>
    <p:sldId id="294" r:id="rId26"/>
    <p:sldId id="273" r:id="rId27"/>
    <p:sldId id="258" r:id="rId28"/>
    <p:sldId id="295" r:id="rId29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99"/>
    <a:srgbClr val="558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930" autoAdjust="0"/>
  </p:normalViewPr>
  <p:slideViewPr>
    <p:cSldViewPr>
      <p:cViewPr>
        <p:scale>
          <a:sx n="75" d="100"/>
          <a:sy n="75" d="100"/>
        </p:scale>
        <p:origin x="-1014" y="-5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FF8A7-4C2E-4BBC-A072-ECD1AE07239F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197E9-CAEE-4794-8561-B4165D319F7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3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baseline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197E9-CAEE-4794-8561-B4165D319F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70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smtClean="0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197E9-CAEE-4794-8561-B4165D319F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6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smtClean="0"/>
              <a:t>Search for data in data collections / data catalogs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197E9-CAEE-4794-8561-B4165D319F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9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258719-CDB8-45E2-B905-DD706C21D5C9}" type="datetimeFigureOut">
              <a:rPr lang="de-DE" smtClean="0"/>
              <a:t>28.11.2013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9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3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98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44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13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15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36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42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403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43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4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9144000" cy="1066800"/>
          </a:xfrm>
          <a:prstGeom prst="rect">
            <a:avLst/>
          </a:prstGeom>
        </p:spPr>
      </p:pic>
      <p:pic>
        <p:nvPicPr>
          <p:cNvPr id="1026" name="Picture 2" descr="J:\Work\Kommunikation\PR\CorporateDesign\Logos\Leibniz_neueLogos\Member_WGL_4c_EN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000" y="5860800"/>
            <a:ext cx="1341431" cy="8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5B6A-1F08-4E6A-A8AE-69F589CC0F24}" type="datetimeFigureOut">
              <a:rPr lang="en-US" smtClean="0"/>
              <a:t>11/28/2013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9B30C-D193-430B-A832-7EAB5232F51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1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0" y="1598935"/>
            <a:ext cx="9144000" cy="1470025"/>
          </a:xfrm>
        </p:spPr>
        <p:txBody>
          <a:bodyPr>
            <a:noAutofit/>
          </a:bodyPr>
          <a:lstStyle/>
          <a:p>
            <a:r>
              <a:rPr lang="en-US" sz="4600" b="1" smtClean="0"/>
              <a:t>DDI-RDF </a:t>
            </a:r>
            <a:r>
              <a:rPr lang="en-US" sz="4600" b="1"/>
              <a:t>Discovery </a:t>
            </a:r>
            <a:r>
              <a:rPr lang="en-US" sz="4600" b="1" smtClean="0"/>
              <a:t>Vocabulary</a:t>
            </a:r>
            <a:r>
              <a:rPr lang="en-US" b="1" smtClean="0"/>
              <a:t/>
            </a:r>
            <a:br>
              <a:rPr lang="en-US" b="1" smtClean="0"/>
            </a:br>
            <a:r>
              <a:rPr lang="en-US" sz="1000" b="1" smtClean="0">
                <a:solidFill>
                  <a:schemeClr val="bg1"/>
                </a:solidFill>
              </a:rPr>
              <a:t>_</a:t>
            </a:r>
            <a:r>
              <a:rPr lang="en-US" b="1" smtClean="0"/>
              <a:t/>
            </a:r>
            <a:br>
              <a:rPr lang="en-US" b="1" smtClean="0"/>
            </a:br>
            <a:r>
              <a:rPr lang="en-US" sz="3600" b="1"/>
              <a:t>Use Cases and Vocabularies</a:t>
            </a:r>
            <a:r>
              <a:rPr lang="en-US" sz="3600" b="1" smtClean="0"/>
              <a:t> </a:t>
            </a:r>
            <a:endParaRPr lang="de-DE" sz="3600"/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>
          <a:xfrm>
            <a:off x="-36512" y="5373216"/>
            <a:ext cx="9180512" cy="504056"/>
          </a:xfrm>
        </p:spPr>
        <p:txBody>
          <a:bodyPr>
            <a:normAutofit/>
          </a:bodyPr>
          <a:lstStyle/>
          <a:p>
            <a:r>
              <a:rPr lang="en-US" sz="1800" smtClean="0">
                <a:latin typeface="+mj-lt"/>
              </a:rPr>
              <a:t>Thomas Bosch</a:t>
            </a:r>
            <a:endParaRPr lang="de-DE" sz="1800">
              <a:latin typeface="+mj-lt"/>
            </a:endParaRPr>
          </a:p>
        </p:txBody>
      </p:sp>
      <p:sp>
        <p:nvSpPr>
          <p:cNvPr id="4" name="Untertitel 6"/>
          <p:cNvSpPr txBox="1">
            <a:spLocks/>
          </p:cNvSpPr>
          <p:nvPr/>
        </p:nvSpPr>
        <p:spPr>
          <a:xfrm>
            <a:off x="1331640" y="5877272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smtClean="0">
                <a:latin typeface="+mj-lt"/>
              </a:rPr>
              <a:t> GESIS </a:t>
            </a:r>
            <a:r>
              <a:rPr lang="en-US" sz="1600">
                <a:latin typeface="+mj-lt"/>
              </a:rPr>
              <a:t>– Leibniz Institute for the Social Sciences, Germany </a:t>
            </a:r>
          </a:p>
          <a:p>
            <a:r>
              <a:rPr lang="en-US" sz="1400" smtClean="0">
                <a:latin typeface="Courier New" panose="02070309020205020404" pitchFamily="49" charset="0"/>
                <a:cs typeface="Courier New" panose="02070309020205020404" pitchFamily="49" charset="0"/>
              </a:rPr>
              <a:t>thomas.bosch@gesis.org</a:t>
            </a:r>
          </a:p>
          <a:p>
            <a:r>
              <a:rPr lang="de-DE" sz="1400" smtClean="0">
                <a:latin typeface="Courier New" panose="02070309020205020404" pitchFamily="49" charset="0"/>
                <a:cs typeface="Courier New" panose="02070309020205020404" pitchFamily="49" charset="0"/>
              </a:rPr>
              <a:t>boschthomas.blogspot.com</a:t>
            </a:r>
          </a:p>
          <a:p>
            <a:endParaRPr lang="en-US" sz="14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sz="1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Untertitel 6"/>
          <p:cNvSpPr txBox="1">
            <a:spLocks/>
          </p:cNvSpPr>
          <p:nvPr/>
        </p:nvSpPr>
        <p:spPr>
          <a:xfrm>
            <a:off x="0" y="3868459"/>
            <a:ext cx="9144000" cy="1216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3600" smtClean="0">
                <a:solidFill>
                  <a:srgbClr val="979797"/>
                </a:solidFill>
                <a:latin typeface="+mn-lt"/>
              </a:rPr>
              <a:t>5th European DDI User Conference </a:t>
            </a:r>
          </a:p>
          <a:p>
            <a:r>
              <a:rPr lang="de-DE" sz="2200" smtClean="0">
                <a:solidFill>
                  <a:srgbClr val="979797"/>
                </a:solidFill>
                <a:latin typeface="+mn-lt"/>
              </a:rPr>
              <a:t>04 December 2013, Paris, France</a:t>
            </a:r>
            <a:endParaRPr lang="de-DE" sz="1200" smtClean="0">
              <a:solidFill>
                <a:srgbClr val="97979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6000" b="1" smtClean="0"/>
              <a:t>Why DDI as Linked Data?</a:t>
            </a:r>
            <a:endParaRPr lang="en-US" sz="6000" b="1"/>
          </a:p>
        </p:txBody>
      </p:sp>
      <p:pic>
        <p:nvPicPr>
          <p:cNvPr id="4" name="Picture 2" descr="C:\Daten\Studium\Promotion\workshops\2013\SemStats\presentation\figures\Why DDI as Linked Data_200dp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7619"/>
            <a:ext cx="9144000" cy="516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91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Daten\Studium\Promotion\workshops\2013\LDOW\figures\overview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24744"/>
            <a:ext cx="8568952" cy="573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97" y="1052736"/>
            <a:ext cx="8867903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620579"/>
            <a:ext cx="8867903" cy="239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73" y="-9882"/>
            <a:ext cx="265479" cy="6829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025" y="-9882"/>
            <a:ext cx="265479" cy="6829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el 5"/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1143000"/>
          </a:xfrm>
        </p:spPr>
        <p:txBody>
          <a:bodyPr>
            <a:noAutofit/>
          </a:bodyPr>
          <a:lstStyle/>
          <a:p>
            <a:r>
              <a:rPr lang="de-DE" sz="7200" b="1" smtClean="0"/>
              <a:t>Overview</a:t>
            </a:r>
            <a:endParaRPr lang="en-US" sz="7200" b="1"/>
          </a:p>
        </p:txBody>
      </p:sp>
    </p:spTree>
    <p:extLst>
      <p:ext uri="{BB962C8B-B14F-4D97-AF65-F5344CB8AC3E}">
        <p14:creationId xmlns:p14="http://schemas.microsoft.com/office/powerpoint/2010/main" val="221781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6000"/>
              <a:t>Where</a:t>
            </a:r>
            <a:r>
              <a:rPr lang="de-DE" sz="6000" b="1"/>
              <a:t> </a:t>
            </a:r>
            <a:r>
              <a:rPr lang="de-DE" smtClean="0"/>
              <a:t/>
            </a:r>
            <a:br>
              <a:rPr lang="de-DE" smtClean="0"/>
            </a:br>
            <a:r>
              <a:rPr lang="de-DE" smtClean="0"/>
              <a:t>to </a:t>
            </a:r>
            <a:r>
              <a:rPr lang="de-DE" sz="8000" b="1"/>
              <a:t>search</a:t>
            </a:r>
            <a:r>
              <a:rPr lang="de-DE"/>
              <a:t> for </a:t>
            </a:r>
            <a:r>
              <a:rPr lang="de-DE" smtClean="0"/>
              <a:t> </a:t>
            </a:r>
            <a:br>
              <a:rPr lang="de-DE" smtClean="0"/>
            </a:br>
            <a:r>
              <a:rPr lang="de-DE" sz="13800" b="1" smtClean="0">
                <a:solidFill>
                  <a:srgbClr val="0000CC"/>
                </a:solidFill>
              </a:rPr>
              <a:t>data</a:t>
            </a:r>
            <a:r>
              <a:rPr lang="de-DE" sz="13800" b="1">
                <a:solidFill>
                  <a:srgbClr val="0000CC"/>
                </a:solidFill>
              </a:rPr>
              <a:t>?</a:t>
            </a:r>
            <a:endParaRPr lang="en-US" sz="138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7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aten\Studium\Promotion\workshops\2013\SemStats\presentation\figures\1_200dp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59248"/>
            <a:ext cx="4311401" cy="332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7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6000" smtClean="0"/>
              <a:t>Which </a:t>
            </a:r>
            <a:r>
              <a:rPr lang="de-DE" sz="6000" smtClean="0"/>
              <a:t/>
            </a:r>
            <a:br>
              <a:rPr lang="de-DE" sz="6000" smtClean="0"/>
            </a:br>
            <a:r>
              <a:rPr lang="de-DE" sz="11500" b="1" smtClean="0">
                <a:solidFill>
                  <a:srgbClr val="0000CC"/>
                </a:solidFill>
              </a:rPr>
              <a:t>microdata</a:t>
            </a:r>
            <a:r>
              <a:rPr lang="de-DE" sz="6000" smtClean="0"/>
              <a:t> </a:t>
            </a:r>
            <a:r>
              <a:rPr lang="de-DE" sz="4800" smtClean="0"/>
              <a:t>does exist</a:t>
            </a:r>
            <a:r>
              <a:rPr lang="de-DE" sz="6000" smtClean="0"/>
              <a:t/>
            </a:r>
            <a:br>
              <a:rPr lang="de-DE" sz="6000" smtClean="0"/>
            </a:br>
            <a:r>
              <a:rPr lang="de-DE" sz="6000" smtClean="0"/>
              <a:t>according </a:t>
            </a:r>
            <a:r>
              <a:rPr lang="de-DE" sz="6000"/>
              <a:t>to specific </a:t>
            </a:r>
            <a:r>
              <a:rPr lang="de-DE" sz="8000" b="1" smtClean="0"/>
              <a:t>metadata?</a:t>
            </a:r>
            <a:endParaRPr lang="en-US" sz="239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57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aten\Studium\Promotion\workshops\2013\SemStats\presentation\figures\2_200dp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916832"/>
            <a:ext cx="9042616" cy="308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66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6000" smtClean="0"/>
              <a:t>Which </a:t>
            </a:r>
            <a:r>
              <a:rPr lang="de-DE" sz="14400" b="1">
                <a:solidFill>
                  <a:srgbClr val="0000CC"/>
                </a:solidFill>
              </a:rPr>
              <a:t>datasets</a:t>
            </a:r>
            <a:r>
              <a:rPr lang="de-DE" sz="6000"/>
              <a:t> </a:t>
            </a:r>
            <a:r>
              <a:rPr lang="de-DE" sz="6000" smtClean="0"/>
              <a:t/>
            </a:r>
            <a:br>
              <a:rPr lang="de-DE" sz="6000" smtClean="0"/>
            </a:br>
            <a:r>
              <a:rPr lang="de-DE" sz="6000" smtClean="0"/>
              <a:t>are </a:t>
            </a:r>
            <a:r>
              <a:rPr lang="de-DE" sz="6600" b="1"/>
              <a:t>associated</a:t>
            </a:r>
            <a:r>
              <a:rPr lang="de-DE" sz="6000"/>
              <a:t> with the </a:t>
            </a:r>
            <a:r>
              <a:rPr lang="de-DE" sz="8800" b="1">
                <a:solidFill>
                  <a:srgbClr val="0000CC"/>
                </a:solidFill>
              </a:rPr>
              <a:t>microdata?</a:t>
            </a:r>
            <a:endParaRPr lang="en-US" sz="60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53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Daten\Studium\Promotion\workshops\2013\SemStats\presentation\figures\3_200dp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3" y="346893"/>
            <a:ext cx="9126711" cy="632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63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6000" smtClean="0"/>
              <a:t>Which </a:t>
            </a:r>
            <a:r>
              <a:rPr lang="de-DE" sz="6000" smtClean="0"/>
              <a:t/>
            </a:r>
            <a:br>
              <a:rPr lang="de-DE" sz="6000" smtClean="0"/>
            </a:br>
            <a:r>
              <a:rPr lang="de-DE" sz="10000" b="1" smtClean="0">
                <a:solidFill>
                  <a:srgbClr val="0000CC"/>
                </a:solidFill>
              </a:rPr>
              <a:t>aggregated </a:t>
            </a:r>
            <a:r>
              <a:rPr lang="de-DE" sz="10000" b="1">
                <a:solidFill>
                  <a:srgbClr val="0000CC"/>
                </a:solidFill>
              </a:rPr>
              <a:t>data </a:t>
            </a:r>
            <a:r>
              <a:rPr lang="de-DE" sz="6600" b="1" smtClean="0">
                <a:solidFill>
                  <a:srgbClr val="0000CC"/>
                </a:solidFill>
              </a:rPr>
              <a:t/>
            </a:r>
            <a:br>
              <a:rPr lang="de-DE" sz="6600" b="1" smtClean="0">
                <a:solidFill>
                  <a:srgbClr val="0000CC"/>
                </a:solidFill>
              </a:rPr>
            </a:br>
            <a:r>
              <a:rPr lang="de-DE" sz="5400" smtClean="0"/>
              <a:t>according </a:t>
            </a:r>
            <a:r>
              <a:rPr lang="de-DE" sz="5400"/>
              <a:t>to specific </a:t>
            </a:r>
            <a:r>
              <a:rPr lang="de-DE" sz="8000" b="1"/>
              <a:t>metadata</a:t>
            </a:r>
            <a:r>
              <a:rPr lang="de-DE" sz="6000"/>
              <a:t> </a:t>
            </a:r>
            <a:r>
              <a:rPr lang="de-DE" sz="6000" smtClean="0"/>
              <a:t>does exist?</a:t>
            </a:r>
            <a:endParaRPr lang="en-US" sz="60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67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Daten\Studium\Promotion\workshops\2013\SemStats\presentation\figures\4_200dp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93" y="1124744"/>
            <a:ext cx="9183246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21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6000" smtClean="0"/>
              <a:t>Which </a:t>
            </a:r>
            <a:r>
              <a:rPr lang="de-DE" sz="13800" b="1">
                <a:solidFill>
                  <a:srgbClr val="0000CC"/>
                </a:solidFill>
              </a:rPr>
              <a:t>datasets</a:t>
            </a:r>
            <a:r>
              <a:rPr lang="de-DE" sz="6000"/>
              <a:t> are </a:t>
            </a:r>
            <a:r>
              <a:rPr lang="de-DE" sz="6600" b="1"/>
              <a:t>associated</a:t>
            </a:r>
            <a:r>
              <a:rPr lang="de-DE" sz="6000"/>
              <a:t> </a:t>
            </a:r>
            <a:r>
              <a:rPr lang="de-DE" sz="6000" smtClean="0"/>
              <a:t>with </a:t>
            </a:r>
            <a:r>
              <a:rPr lang="de-DE" sz="8000" b="1">
                <a:solidFill>
                  <a:srgbClr val="0000CC"/>
                </a:solidFill>
              </a:rPr>
              <a:t>aggregated data?</a:t>
            </a:r>
            <a:endParaRPr lang="en-US" sz="80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45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Daten\Studium\Promotion\workshops\2013\SemStats\presentation\figures\5_200dp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76672"/>
            <a:ext cx="9081939" cy="607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5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9600" b="1">
                <a:solidFill>
                  <a:srgbClr val="0000CC"/>
                </a:solidFill>
              </a:rPr>
              <a:t>From</a:t>
            </a:r>
            <a:r>
              <a:rPr lang="de-DE" sz="6000"/>
              <a:t> which </a:t>
            </a:r>
            <a:r>
              <a:rPr lang="de-DE" sz="6000" smtClean="0"/>
              <a:t/>
            </a:r>
            <a:br>
              <a:rPr lang="de-DE" sz="6000" smtClean="0"/>
            </a:br>
            <a:r>
              <a:rPr lang="de-DE" sz="6000" b="1" smtClean="0"/>
              <a:t>microdata</a:t>
            </a:r>
            <a:r>
              <a:rPr lang="de-DE" sz="6000" smtClean="0"/>
              <a:t> </a:t>
            </a:r>
            <a:r>
              <a:rPr lang="de-DE" sz="6000"/>
              <a:t>datasets </a:t>
            </a:r>
            <a:r>
              <a:rPr lang="de-DE" sz="6000" smtClean="0"/>
              <a:t>is </a:t>
            </a:r>
            <a:r>
              <a:rPr lang="de-DE" sz="6000"/>
              <a:t>the </a:t>
            </a:r>
            <a:r>
              <a:rPr lang="de-DE" sz="6000" b="1"/>
              <a:t>aggregated</a:t>
            </a:r>
            <a:r>
              <a:rPr lang="de-DE" sz="6000"/>
              <a:t> dataset </a:t>
            </a:r>
            <a:r>
              <a:rPr lang="de-DE" sz="6000" smtClean="0"/>
              <a:t/>
            </a:r>
            <a:br>
              <a:rPr lang="de-DE" sz="6000" smtClean="0"/>
            </a:br>
            <a:r>
              <a:rPr lang="de-DE" sz="13800" b="1" smtClean="0">
                <a:solidFill>
                  <a:srgbClr val="0000CC"/>
                </a:solidFill>
              </a:rPr>
              <a:t>derived</a:t>
            </a:r>
            <a:r>
              <a:rPr lang="de-DE" sz="13800" b="1">
                <a:solidFill>
                  <a:srgbClr val="0000CC"/>
                </a:solidFill>
              </a:rPr>
              <a:t>?</a:t>
            </a:r>
            <a:endParaRPr lang="en-US" sz="60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43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aten\Studium\Promotion\workshops\2013\SemStats\presentation\6_200dp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68760"/>
            <a:ext cx="9240293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5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7200" smtClean="0"/>
              <a:t>Which</a:t>
            </a:r>
            <a:r>
              <a:rPr lang="de-DE" sz="9600" smtClean="0"/>
              <a:t> </a:t>
            </a:r>
            <a:r>
              <a:rPr lang="de-DE" sz="9600" smtClean="0"/>
              <a:t/>
            </a:r>
            <a:br>
              <a:rPr lang="de-DE" sz="9600" smtClean="0"/>
            </a:br>
            <a:r>
              <a:rPr lang="de-DE" sz="12000" b="1" smtClean="0">
                <a:solidFill>
                  <a:srgbClr val="0000CC"/>
                </a:solidFill>
              </a:rPr>
              <a:t>summary </a:t>
            </a:r>
            <a:r>
              <a:rPr lang="de-DE" sz="12000" b="1">
                <a:solidFill>
                  <a:srgbClr val="0000CC"/>
                </a:solidFill>
              </a:rPr>
              <a:t>statistics</a:t>
            </a:r>
            <a:r>
              <a:rPr lang="de-DE" sz="11800" b="1">
                <a:solidFill>
                  <a:srgbClr val="0000CC"/>
                </a:solidFill>
              </a:rPr>
              <a:t> </a:t>
            </a:r>
            <a:r>
              <a:rPr lang="de-DE" sz="7200" smtClean="0"/>
              <a:t>does a </a:t>
            </a:r>
            <a:r>
              <a:rPr lang="de-DE" sz="8800" b="1"/>
              <a:t>variable</a:t>
            </a:r>
            <a:r>
              <a:rPr lang="de-DE" sz="7200"/>
              <a:t> have? </a:t>
            </a:r>
            <a:endParaRPr lang="en-US" sz="60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90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aten\Studium\Promotion\workshops\2013\SemStats\presentation\summaryStatistics_200dp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" y="1700808"/>
            <a:ext cx="9133369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5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6000" smtClean="0"/>
              <a:t>Which </a:t>
            </a:r>
            <a:r>
              <a:rPr lang="de-DE" sz="9600" smtClean="0"/>
              <a:t/>
            </a:r>
            <a:br>
              <a:rPr lang="de-DE" sz="9600" smtClean="0"/>
            </a:br>
            <a:r>
              <a:rPr lang="de-DE" sz="11500" b="1" smtClean="0">
                <a:solidFill>
                  <a:srgbClr val="0000CC"/>
                </a:solidFill>
              </a:rPr>
              <a:t>category </a:t>
            </a:r>
            <a:br>
              <a:rPr lang="de-DE" sz="11500" b="1" smtClean="0">
                <a:solidFill>
                  <a:srgbClr val="0000CC"/>
                </a:solidFill>
              </a:rPr>
            </a:br>
            <a:r>
              <a:rPr lang="de-DE" sz="11500" b="1" smtClean="0">
                <a:solidFill>
                  <a:srgbClr val="0000CC"/>
                </a:solidFill>
              </a:rPr>
              <a:t>statistics </a:t>
            </a:r>
            <a:r>
              <a:rPr lang="de-DE" sz="6000"/>
              <a:t>does a </a:t>
            </a:r>
            <a:r>
              <a:rPr lang="de-DE" sz="7200" b="1"/>
              <a:t>variable</a:t>
            </a:r>
            <a:r>
              <a:rPr lang="de-DE" sz="6000"/>
              <a:t> </a:t>
            </a:r>
            <a:r>
              <a:rPr lang="de-DE" sz="4800"/>
              <a:t>representation have?</a:t>
            </a:r>
            <a:endParaRPr lang="en-US" sz="48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18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aten\Studium\Promotion\workshops\2013\SemStats\presentation\categoryStatistics_200dp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800"/>
            <a:ext cx="908807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5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de-DE" sz="6000" smtClean="0"/>
              <a:t>Which </a:t>
            </a:r>
            <a:r>
              <a:rPr lang="de-DE" sz="9600" b="1">
                <a:solidFill>
                  <a:srgbClr val="0000CC"/>
                </a:solidFill>
              </a:rPr>
              <a:t>microdata datasets</a:t>
            </a:r>
            <a:r>
              <a:rPr lang="de-DE" sz="9600" b="1"/>
              <a:t> </a:t>
            </a:r>
            <a:r>
              <a:rPr lang="de-DE" sz="6000"/>
              <a:t>are </a:t>
            </a:r>
            <a:r>
              <a:rPr lang="de-DE" sz="6000" b="1">
                <a:solidFill>
                  <a:srgbClr val="0000CC"/>
                </a:solidFill>
              </a:rPr>
              <a:t>created by</a:t>
            </a:r>
            <a:r>
              <a:rPr lang="de-DE" sz="6000" b="1"/>
              <a:t> </a:t>
            </a:r>
            <a:r>
              <a:rPr lang="de-DE" sz="6000"/>
              <a:t>the research institute </a:t>
            </a:r>
            <a:r>
              <a:rPr lang="de-DE" sz="6000" smtClean="0"/>
              <a:t>'GESIS'? </a:t>
            </a:r>
            <a:endParaRPr lang="en-US" sz="60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53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Daten\Studium\Promotion\workshops\2013\SemStats\presentation\figures\other studies and datasets_200dp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672"/>
            <a:ext cx="9156700" cy="615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51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aten\Studium\Promotion\workshops\2013\SemStats\presentation\figures\Conclusion_200dp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276872"/>
            <a:ext cx="9372600" cy="357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b="1"/>
              <a:t>Conclusion</a:t>
            </a:r>
            <a:endParaRPr lang="en-US" sz="4800" b="1"/>
          </a:p>
        </p:txBody>
      </p:sp>
    </p:spTree>
    <p:extLst>
      <p:ext uri="{BB962C8B-B14F-4D97-AF65-F5344CB8AC3E}">
        <p14:creationId xmlns:p14="http://schemas.microsoft.com/office/powerpoint/2010/main" val="377765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b="1" smtClean="0"/>
              <a:t>Thank you for your attention…</a:t>
            </a:r>
            <a:endParaRPr lang="en-US" sz="4800" b="1"/>
          </a:p>
        </p:txBody>
      </p:sp>
      <p:pic>
        <p:nvPicPr>
          <p:cNvPr id="7" name="Picture 2" descr="C:\Daten\Studium\Promotion\workshops\2013\SemStats\presentation\figures\Contact_200dp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356" y="2348880"/>
            <a:ext cx="9196087" cy="347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59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>
  <documentManagement>
    <_dlc_DocIdUrl xmlns="f90a23b0-552c-4f8d-b330-f53f4fcdfcf9">
      <Url>http://intranet.gesis.intra/pr/Vorlagen/_layouts/DocIdRedir.aspx?ID=GESISDOC-552-18</Url>
      <Description>GESISDOC-552-18</Description>
    </_dlc_DocIdUrl>
    <_dlc_DocId xmlns="f90a23b0-552c-4f8d-b330-f53f4fcdfcf9">GESISDOC-552-18</_dlc_DocId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1ACB0F0E4D8D847898BCFF327EAA86F" ma:contentTypeVersion="14" ma:contentTypeDescription="Ein neues Dokument erstellen." ma:contentTypeScope="" ma:versionID="076608a465e9f4abe123e33d8ae2290f">
  <xsd:schema xmlns:xsd="http://www.w3.org/2001/XMLSchema" xmlns:xs="http://www.w3.org/2001/XMLSchema" xmlns:p="http://schemas.microsoft.com/office/2006/metadata/properties" xmlns:ns2="f90a23b0-552c-4f8d-b330-f53f4fcdfcf9" targetNamespace="http://schemas.microsoft.com/office/2006/metadata/properties" ma:root="true" ma:fieldsID="9f72fafb60184820a38988fa3fe2d22b" ns2:_="">
    <xsd:import namespace="f90a23b0-552c-4f8d-b330-f53f4fcdfc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a23b0-552c-4f8d-b330-f53f4fcdfcf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2FFA55-C622-4F3D-AABF-4236B175EAD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4449D386-2FCB-4353-94CE-7C0896CF81B1}">
  <ds:schemaRefs>
    <ds:schemaRef ds:uri="http://purl.org/dc/terms/"/>
    <ds:schemaRef ds:uri="f90a23b0-552c-4f8d-b330-f53f4fcdfcf9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12E0BAE-FAF0-4E78-A2C3-2AAC064B5F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EA11C62-2FF4-41AB-AE80-7BB537528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a23b0-552c-4f8d-b330-f53f4fcdfc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</Words>
  <Application>Microsoft Office PowerPoint</Application>
  <PresentationFormat>Bildschirmpräsentation (4:3)</PresentationFormat>
  <Paragraphs>24</Paragraphs>
  <Slides>23</Slides>
  <Notes>3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23</vt:i4>
      </vt:variant>
    </vt:vector>
  </HeadingPairs>
  <TitlesOfParts>
    <vt:vector size="25" baseType="lpstr">
      <vt:lpstr>Benutzerdefiniertes Design</vt:lpstr>
      <vt:lpstr>1_Benutzerdefiniertes Design</vt:lpstr>
      <vt:lpstr>DDI-RDF Discovery Vocabulary _ Use Cases and Vocabularies </vt:lpstr>
      <vt:lpstr>Why DDI as Linked Data?</vt:lpstr>
      <vt:lpstr>Overview</vt:lpstr>
      <vt:lpstr>Where  to search for   data?</vt:lpstr>
      <vt:lpstr>PowerPoint-Präsentation</vt:lpstr>
      <vt:lpstr>Which  microdata does exist according to specific metadata?</vt:lpstr>
      <vt:lpstr>PowerPoint-Präsentation</vt:lpstr>
      <vt:lpstr>Which datasets  are associated with the microdata?</vt:lpstr>
      <vt:lpstr>PowerPoint-Präsentation</vt:lpstr>
      <vt:lpstr>Which  aggregated data  according to specific metadata does exist?</vt:lpstr>
      <vt:lpstr>PowerPoint-Präsentation</vt:lpstr>
      <vt:lpstr>Which datasets are associated with aggregated data?</vt:lpstr>
      <vt:lpstr>PowerPoint-Präsentation</vt:lpstr>
      <vt:lpstr>From which  microdata datasets is the aggregated dataset  derived?</vt:lpstr>
      <vt:lpstr>PowerPoint-Präsentation</vt:lpstr>
      <vt:lpstr>Which  summary statistics does a variable have? </vt:lpstr>
      <vt:lpstr>PowerPoint-Präsentation</vt:lpstr>
      <vt:lpstr>Which  category  statistics does a variable representation have?</vt:lpstr>
      <vt:lpstr>PowerPoint-Präsentation</vt:lpstr>
      <vt:lpstr>Which microdata datasets are created by the research institute 'GESIS'? </vt:lpstr>
      <vt:lpstr>PowerPoint-Präsentation</vt:lpstr>
      <vt:lpstr>Conclusion</vt:lpstr>
      <vt:lpstr>Thank you for your attention…</vt:lpstr>
    </vt:vector>
  </TitlesOfParts>
  <Company>IZ Sozialwissenschaften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Cases and Vocabularies Related to the  DDI-RDF Discovery Vocabulary </dc:title>
  <dc:creator>Thomas Bosch</dc:creator>
  <cp:lastModifiedBy>Thomas</cp:lastModifiedBy>
  <cp:revision>19</cp:revision>
  <dcterms:created xsi:type="dcterms:W3CDTF">2009-05-26T11:46:45Z</dcterms:created>
  <dcterms:modified xsi:type="dcterms:W3CDTF">2013-11-28T11:21:38Z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0x010100B1ACB0F0E4D8D847898BCFF327EAA86F</vt:lpwstr>
  </property>
  <property fmtid="{D5CDD505-2E9C-101B-9397-08002B2CF9AE}" pid="3" name="_dlc_DocIdItemGuid">
    <vt:lpwstr>ae7fdbd2-8fd7-45a0-880e-d54d7bab26b5</vt:lpwstr>
  </property>
</Properties>
</file>