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0" r:id="rId3"/>
    <p:sldId id="291" r:id="rId4"/>
    <p:sldId id="259" r:id="rId5"/>
    <p:sldId id="263" r:id="rId6"/>
    <p:sldId id="287" r:id="rId7"/>
    <p:sldId id="288" r:id="rId8"/>
    <p:sldId id="312" r:id="rId9"/>
    <p:sldId id="302" r:id="rId10"/>
    <p:sldId id="313" r:id="rId11"/>
    <p:sldId id="303" r:id="rId12"/>
    <p:sldId id="304" r:id="rId13"/>
    <p:sldId id="315" r:id="rId14"/>
    <p:sldId id="316" r:id="rId15"/>
    <p:sldId id="317" r:id="rId16"/>
    <p:sldId id="320" r:id="rId17"/>
    <p:sldId id="318" r:id="rId18"/>
    <p:sldId id="319" r:id="rId19"/>
    <p:sldId id="267" r:id="rId20"/>
  </p:sldIdLst>
  <p:sldSz cx="9144000" cy="6858000" type="screen4x3"/>
  <p:notesSz cx="6794500" cy="9906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5972"/>
    <a:srgbClr val="C0C0C0"/>
    <a:srgbClr val="1F497D"/>
    <a:srgbClr val="A5C4E9"/>
    <a:srgbClr val="5E7EA2"/>
    <a:srgbClr val="B2B2B2"/>
    <a:srgbClr val="4F93B1"/>
    <a:srgbClr val="7BA8DF"/>
    <a:srgbClr val="898989"/>
    <a:srgbClr val="7D7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5" autoAdjust="0"/>
    <p:restoredTop sz="86012" autoAdjust="0"/>
  </p:normalViewPr>
  <p:slideViewPr>
    <p:cSldViewPr>
      <p:cViewPr>
        <p:scale>
          <a:sx n="71" d="100"/>
          <a:sy n="71" d="100"/>
        </p:scale>
        <p:origin x="-1349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086" tIns="44043" rIns="88086" bIns="4404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100" y="0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086" tIns="44043" rIns="88086" bIns="4404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AD11B0CC-FA7B-4BC4-8C8D-DE93489FD82F}" type="datetimeFigureOut">
              <a:rPr lang="de-DE"/>
              <a:pPr>
                <a:defRPr/>
              </a:pPr>
              <a:t>28.11.2013</a:t>
            </a:fld>
            <a:endParaRPr lang="de-DE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086" tIns="44043" rIns="88086" bIns="4404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100" y="9409113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086" tIns="44043" rIns="88086" bIns="4404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2307B8-4601-4F2A-92B6-430901BB9EC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436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lIns="88093" tIns="44047" rIns="88093" bIns="44047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lIns="88093" tIns="44047" rIns="88093" bIns="44047" rtlCol="0"/>
          <a:lstStyle>
            <a:lvl1pPr algn="r">
              <a:defRPr sz="1200"/>
            </a:lvl1pPr>
          </a:lstStyle>
          <a:p>
            <a:pPr>
              <a:defRPr/>
            </a:pPr>
            <a:fld id="{8C7C5160-BA6D-49E6-8DDA-1BEF251F325C}" type="datetimeFigureOut">
              <a:rPr lang="de-DE"/>
              <a:pPr>
                <a:defRPr/>
              </a:pPr>
              <a:t>28.11.2013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093" tIns="44047" rIns="88093" bIns="44047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88093" tIns="44047" rIns="88093" bIns="44047" rtlCol="0"/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lIns="88093" tIns="44047" rIns="88093" bIns="44047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lIns="88093" tIns="44047" rIns="88093" bIns="44047" rtlCol="0" anchor="b"/>
          <a:lstStyle>
            <a:lvl1pPr algn="r">
              <a:defRPr sz="1200"/>
            </a:lvl1pPr>
          </a:lstStyle>
          <a:p>
            <a:pPr>
              <a:defRPr/>
            </a:pPr>
            <a:fld id="{52B9B98E-36A0-4D7F-99C6-3309AB0DE22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9925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5439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5439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8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3394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678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FB174D-43E1-41FA-8305-31CBA92E61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10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FB174D-43E1-41FA-8305-31CBA92E61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10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6037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FB174D-43E1-41FA-8305-31CBA92E61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10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250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9B98E-36A0-4D7F-99C6-3309AB0DE22E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177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9A20B-B165-4FD6-ACAB-2B71760F89DE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104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91EDD-3F72-4920-9A7D-3719A2B45669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091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13DB-3388-4D2C-9FDC-C92701CEC237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882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001DE-1DE3-401D-A14C-3C16A0B094F7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946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3ED4C-5289-4482-AE81-8215B09B0151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227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FB67E-DF54-4272-9A86-5DDAF0707DE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706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F355C-8C8B-4A30-B516-05D7DA4EDAFE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648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4C427-2D38-4BF4-BB58-76C1322B349F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5215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6BE16-E4BD-4456-B783-08A979E450D8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637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57200" y="12144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2500313"/>
            <a:ext cx="8229600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56E25BC-1CD1-45FB-8655-D17ADA2A9114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1031" name="Grafik 6" descr="GS_Kopf PPT_en.bmp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el 5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3988" cy="1803400"/>
          </a:xfrm>
        </p:spPr>
        <p:txBody>
          <a:bodyPr/>
          <a:lstStyle/>
          <a:p>
            <a:r>
              <a:rPr lang="de-DE" sz="3200" dirty="0"/>
              <a:t>The Next Generation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 smtClean="0"/>
              <a:t>the</a:t>
            </a:r>
            <a:r>
              <a:rPr lang="de-DE" sz="3200" dirty="0" smtClean="0"/>
              <a:t> </a:t>
            </a:r>
            <a:br>
              <a:rPr lang="de-DE" sz="3200" dirty="0" smtClean="0"/>
            </a:br>
            <a:r>
              <a:rPr lang="de-DE" sz="3200" dirty="0" err="1" smtClean="0"/>
              <a:t>Microdata</a:t>
            </a:r>
            <a:r>
              <a:rPr lang="de-DE" sz="3200" dirty="0" smtClean="0"/>
              <a:t> Information </a:t>
            </a:r>
            <a:r>
              <a:rPr lang="de-DE" sz="3200" dirty="0"/>
              <a:t>System MISSY: </a:t>
            </a:r>
            <a:r>
              <a:rPr lang="de-DE" sz="3200" dirty="0" smtClean="0"/>
              <a:t/>
            </a:r>
            <a:br>
              <a:rPr lang="de-DE" sz="3200" dirty="0" smtClean="0"/>
            </a:br>
            <a:r>
              <a:rPr lang="de-DE" sz="3200" dirty="0" smtClean="0"/>
              <a:t>An </a:t>
            </a:r>
            <a:r>
              <a:rPr lang="de-DE" sz="3200" dirty="0"/>
              <a:t>Integrated Solution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Documentation</a:t>
            </a:r>
            <a:r>
              <a:rPr lang="de-DE" sz="3200" dirty="0"/>
              <a:t> </a:t>
            </a:r>
            <a:r>
              <a:rPr lang="de-DE" sz="3200" dirty="0" err="1" smtClean="0"/>
              <a:t>of</a:t>
            </a:r>
            <a:r>
              <a:rPr lang="de-DE" sz="3200" dirty="0"/>
              <a:t> </a:t>
            </a:r>
            <a:r>
              <a:rPr lang="de-DE" sz="3200" dirty="0" smtClean="0"/>
              <a:t>European </a:t>
            </a:r>
            <a:r>
              <a:rPr lang="de-DE" sz="3200" dirty="0" err="1"/>
              <a:t>Microdata</a:t>
            </a:r>
            <a:r>
              <a:rPr lang="de-DE" sz="3200" dirty="0"/>
              <a:t> </a:t>
            </a:r>
            <a:endParaRPr lang="en-US" sz="3200" dirty="0" smtClean="0"/>
          </a:p>
        </p:txBody>
      </p:sp>
      <p:sp>
        <p:nvSpPr>
          <p:cNvPr id="2051" name="Untertitel 6"/>
          <p:cNvSpPr>
            <a:spLocks noGrp="1"/>
          </p:cNvSpPr>
          <p:nvPr>
            <p:ph type="subTitle" idx="1"/>
          </p:nvPr>
        </p:nvSpPr>
        <p:spPr>
          <a:xfrm>
            <a:off x="1116013" y="4724400"/>
            <a:ext cx="6985000" cy="1558925"/>
          </a:xfrm>
        </p:spPr>
        <p:txBody>
          <a:bodyPr/>
          <a:lstStyle/>
          <a:p>
            <a:pPr eaLnBrk="1" hangingPunct="1"/>
            <a:r>
              <a:rPr lang="en-US" sz="2400" dirty="0" smtClean="0">
                <a:solidFill>
                  <a:srgbClr val="7D7D7D"/>
                </a:solidFill>
              </a:rPr>
              <a:t>European DDI User Conference, Paris 2013</a:t>
            </a:r>
          </a:p>
          <a:p>
            <a:pPr eaLnBrk="1" hangingPunct="1"/>
            <a:r>
              <a:rPr lang="en-US" sz="2000" dirty="0" smtClean="0">
                <a:solidFill>
                  <a:srgbClr val="7D7D7D"/>
                </a:solidFill>
              </a:rPr>
              <a:t/>
            </a:r>
            <a:br>
              <a:rPr lang="en-US" sz="2000" dirty="0" smtClean="0">
                <a:solidFill>
                  <a:srgbClr val="7D7D7D"/>
                </a:solidFill>
              </a:rPr>
            </a:br>
            <a:r>
              <a:rPr lang="en-US" sz="1600" dirty="0" smtClean="0">
                <a:solidFill>
                  <a:srgbClr val="7D7D7D"/>
                </a:solidFill>
              </a:rPr>
              <a:t>Jeanette Bohr, Alexander Mack, Thomas Bosch &amp; Florian Thirolf</a:t>
            </a:r>
          </a:p>
          <a:p>
            <a:pPr eaLnBrk="1" hangingPunct="1"/>
            <a:r>
              <a:rPr lang="en-US" sz="1600" dirty="0" smtClean="0">
                <a:solidFill>
                  <a:srgbClr val="7D7D7D"/>
                </a:solidFill>
              </a:rPr>
              <a:t>GESIS – Leibniz Institute for the Social Sciences, Mannheim</a:t>
            </a:r>
          </a:p>
        </p:txBody>
      </p:sp>
      <p:pic>
        <p:nvPicPr>
          <p:cNvPr id="2052" name="Picture 6" descr="mis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el 5"/>
          <p:cNvSpPr>
            <a:spLocks noGrp="1"/>
          </p:cNvSpPr>
          <p:nvPr>
            <p:ph type="ctrTitle" idx="4294967295"/>
          </p:nvPr>
        </p:nvSpPr>
        <p:spPr>
          <a:xfrm>
            <a:off x="543371" y="1341438"/>
            <a:ext cx="8061077" cy="792162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4000" dirty="0" smtClean="0">
                <a:solidFill>
                  <a:schemeClr val="tx2"/>
                </a:solidFill>
                <a:latin typeface="+mn-lt"/>
              </a:rPr>
              <a:t>Overview</a:t>
            </a:r>
          </a:p>
        </p:txBody>
      </p:sp>
      <p:sp>
        <p:nvSpPr>
          <p:cNvPr id="7" name="Untertitel 6"/>
          <p:cNvSpPr>
            <a:spLocks noGrp="1"/>
          </p:cNvSpPr>
          <p:nvPr>
            <p:ph type="subTitle" idx="4294967295"/>
          </p:nvPr>
        </p:nvSpPr>
        <p:spPr>
          <a:xfrm>
            <a:off x="755576" y="2276872"/>
            <a:ext cx="7777163" cy="4105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 smtClean="0"/>
              <a:t>MISSY - Metadata for scientific research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 smtClean="0"/>
              <a:t>Development as a DDI use case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 smtClean="0"/>
              <a:t>MISSY III Project: Documentation of EU Data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 smtClean="0"/>
              <a:t>MISSY &amp; Data without Boundaries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 smtClean="0"/>
              <a:t>The new MISSY-Editor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endParaRPr lang="en-US" sz="2600" dirty="0" smtClean="0"/>
          </a:p>
          <a:p>
            <a:pPr marL="825500" lvl="1" eaLnBrk="1" hangingPunct="1">
              <a:lnSpc>
                <a:spcPct val="90000"/>
              </a:lnSpc>
              <a:spcBef>
                <a:spcPct val="50000"/>
              </a:spcBef>
              <a:buClr>
                <a:srgbClr val="898989"/>
              </a:buClr>
              <a:buFont typeface="Wingdings 3" pitchFamily="18" charset="2"/>
              <a:buNone/>
              <a:tabLst>
                <a:tab pos="273050" algn="l"/>
              </a:tabLst>
              <a:defRPr/>
            </a:pPr>
            <a:endParaRPr lang="en-US" sz="2600" dirty="0" smtClean="0"/>
          </a:p>
        </p:txBody>
      </p:sp>
      <p:pic>
        <p:nvPicPr>
          <p:cNvPr id="3076" name="Picture 6" descr="miss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04D7B3-0B86-4783-BC0C-ACAA0AEB0100}" type="slidenum">
              <a:rPr lang="de-DE"/>
              <a:pPr>
                <a:defRPr/>
              </a:pPr>
              <a:t>2</a:t>
            </a:fld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el 5"/>
          <p:cNvSpPr>
            <a:spLocks noGrp="1"/>
          </p:cNvSpPr>
          <p:nvPr>
            <p:ph type="ctrTitle" idx="4294967295"/>
          </p:nvPr>
        </p:nvSpPr>
        <p:spPr>
          <a:xfrm>
            <a:off x="543371" y="1341438"/>
            <a:ext cx="8061077" cy="792162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4000" dirty="0" smtClean="0">
                <a:solidFill>
                  <a:schemeClr val="tx2"/>
                </a:solidFill>
                <a:latin typeface="+mn-lt"/>
              </a:rPr>
              <a:t>Scientific service for official microdata </a:t>
            </a:r>
          </a:p>
        </p:txBody>
      </p:sp>
      <p:sp>
        <p:nvSpPr>
          <p:cNvPr id="7" name="Untertitel 6"/>
          <p:cNvSpPr>
            <a:spLocks noGrp="1"/>
          </p:cNvSpPr>
          <p:nvPr>
            <p:ph type="subTitle" idx="4294967295"/>
          </p:nvPr>
        </p:nvSpPr>
        <p:spPr>
          <a:xfrm>
            <a:off x="755576" y="2276872"/>
            <a:ext cx="8064896" cy="4105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 smtClean="0"/>
              <a:t>Increasing accessibility of individual data from official statistics for scientific research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 smtClean="0"/>
              <a:t>Scientific support for the use of official microdata is required</a:t>
            </a:r>
            <a:br>
              <a:rPr lang="en-US" sz="2600" dirty="0" smtClean="0"/>
            </a:br>
            <a:endParaRPr lang="en-US" sz="2600" dirty="0" smtClean="0"/>
          </a:p>
          <a:p>
            <a:pPr marL="539750" lvl="1" indent="0" eaLnBrk="1" hangingPunct="1">
              <a:lnSpc>
                <a:spcPct val="90000"/>
              </a:lnSpc>
              <a:spcBef>
                <a:spcPct val="50000"/>
              </a:spcBef>
              <a:buClr>
                <a:srgbClr val="898989"/>
              </a:buClr>
              <a:buNone/>
              <a:tabLst>
                <a:tab pos="273050" algn="l"/>
              </a:tabLst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sym typeface="Wingdings"/>
              </a:rPr>
              <a:t> </a:t>
            </a:r>
            <a:r>
              <a:rPr lang="en-US" sz="2600" dirty="0" err="1" smtClean="0">
                <a:sym typeface="Wingdings"/>
              </a:rPr>
              <a:t>Microdata</a:t>
            </a:r>
            <a:r>
              <a:rPr lang="en-US" sz="2600" dirty="0" smtClean="0">
                <a:sym typeface="Wingdings"/>
              </a:rPr>
              <a:t> Information System </a:t>
            </a:r>
            <a:r>
              <a:rPr lang="en-US" sz="2600" dirty="0" smtClean="0"/>
              <a:t>MISSY: </a:t>
            </a:r>
            <a:br>
              <a:rPr lang="en-US" sz="2600" dirty="0" smtClean="0"/>
            </a:br>
            <a:r>
              <a:rPr lang="en-US" sz="2600" dirty="0" smtClean="0"/>
              <a:t>	provides structured metadata for official statistics </a:t>
            </a:r>
          </a:p>
          <a:p>
            <a:pPr marL="825500" lvl="1" eaLnBrk="1" hangingPunct="1">
              <a:lnSpc>
                <a:spcPct val="90000"/>
              </a:lnSpc>
              <a:spcBef>
                <a:spcPct val="50000"/>
              </a:spcBef>
              <a:buClr>
                <a:srgbClr val="898989"/>
              </a:buClr>
              <a:buFont typeface="Wingdings 3" pitchFamily="18" charset="2"/>
              <a:buNone/>
              <a:tabLst>
                <a:tab pos="273050" algn="l"/>
              </a:tabLst>
              <a:defRPr/>
            </a:pPr>
            <a:endParaRPr lang="en-US" sz="2600" dirty="0" smtClean="0"/>
          </a:p>
        </p:txBody>
      </p:sp>
      <p:pic>
        <p:nvPicPr>
          <p:cNvPr id="3076" name="Picture 6" descr="miss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04D7B3-0B86-4783-BC0C-ACAA0AEB0100}" type="slidenum">
              <a:rPr lang="de-DE"/>
              <a:pPr>
                <a:defRPr/>
              </a:pPr>
              <a:t>3</a:t>
            </a:fld>
            <a:endParaRPr lang="de-DE" dirty="0"/>
          </a:p>
        </p:txBody>
      </p:sp>
      <p:pic>
        <p:nvPicPr>
          <p:cNvPr id="6" name="Grafi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775" y="5472126"/>
            <a:ext cx="2128962" cy="682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757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5"/>
          <p:cNvSpPr>
            <a:spLocks noGrp="1"/>
          </p:cNvSpPr>
          <p:nvPr>
            <p:ph type="ctrTitle" idx="4294967295"/>
          </p:nvPr>
        </p:nvSpPr>
        <p:spPr>
          <a:xfrm>
            <a:off x="539553" y="1341438"/>
            <a:ext cx="8496498" cy="792162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4000" dirty="0" smtClean="0">
                <a:solidFill>
                  <a:schemeClr val="tx2"/>
                </a:solidFill>
                <a:latin typeface="+mn-lt"/>
              </a:rPr>
              <a:t>MISSY - Metadata for scientific research</a:t>
            </a:r>
          </a:p>
        </p:txBody>
      </p:sp>
      <p:pic>
        <p:nvPicPr>
          <p:cNvPr id="4100" name="Picture 5" descr="mis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CC2DD-D0C5-4600-88C6-16E40772C671}" type="slidenum">
              <a:rPr lang="de-DE"/>
              <a:pPr>
                <a:defRPr/>
              </a:pPr>
              <a:t>4</a:t>
            </a:fld>
            <a:endParaRPr lang="de-DE" dirty="0"/>
          </a:p>
        </p:txBody>
      </p:sp>
      <p:sp>
        <p:nvSpPr>
          <p:cNvPr id="6" name="Untertitel 6"/>
          <p:cNvSpPr txBox="1">
            <a:spLocks/>
          </p:cNvSpPr>
          <p:nvPr/>
        </p:nvSpPr>
        <p:spPr bwMode="auto">
          <a:xfrm>
            <a:off x="755576" y="2276872"/>
            <a:ext cx="7777163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/>
              <a:t>Facilitates professional and efficient use of official  </a:t>
            </a:r>
            <a:r>
              <a:rPr lang="en-US" sz="2600" dirty="0" err="1"/>
              <a:t>microdata</a:t>
            </a:r>
            <a:r>
              <a:rPr lang="en-US" sz="2600" dirty="0"/>
              <a:t> for the social sciences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/>
              <a:t>Contains detailed metadata for all available German </a:t>
            </a:r>
            <a:r>
              <a:rPr lang="en-US" sz="2600" dirty="0" err="1"/>
              <a:t>Microcensus</a:t>
            </a:r>
            <a:r>
              <a:rPr lang="en-US" sz="2600" dirty="0"/>
              <a:t> Scientific Use Files (since 1973)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tabLst>
                <a:tab pos="273050" algn="l"/>
              </a:tabLst>
              <a:defRPr/>
            </a:pPr>
            <a:r>
              <a:rPr lang="en-US" sz="2600" dirty="0"/>
              <a:t>Documentation for integrated European </a:t>
            </a:r>
            <a:r>
              <a:rPr lang="en-US" sz="2600" dirty="0" err="1"/>
              <a:t>microdata</a:t>
            </a:r>
            <a:r>
              <a:rPr lang="en-US" sz="2600" dirty="0"/>
              <a:t> </a:t>
            </a:r>
            <a:r>
              <a:rPr lang="en-US" sz="2600" dirty="0" smtClean="0"/>
              <a:t>from official statistics is </a:t>
            </a:r>
            <a:r>
              <a:rPr lang="en-US" sz="2600" dirty="0"/>
              <a:t>underway  </a:t>
            </a:r>
            <a:endParaRPr lang="en-US" sz="2600" dirty="0" smtClean="0"/>
          </a:p>
          <a:p>
            <a:pPr marL="631825" indent="-631825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None/>
              <a:tabLst>
                <a:tab pos="273050" algn="l"/>
              </a:tabLst>
              <a:defRPr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  <a:sym typeface="Wingdings"/>
              </a:rPr>
              <a:t>	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sym typeface="Wingdings"/>
              </a:rPr>
              <a:t> </a:t>
            </a:r>
            <a:r>
              <a:rPr lang="en-US" sz="2600" dirty="0" smtClean="0"/>
              <a:t>in </a:t>
            </a:r>
            <a:r>
              <a:rPr lang="en-US" sz="2600" dirty="0"/>
              <a:t>cooperation with Data without Boundaries Project </a:t>
            </a:r>
            <a:r>
              <a:rPr lang="en-US" sz="2600" dirty="0" smtClean="0"/>
              <a:t>(</a:t>
            </a:r>
            <a:r>
              <a:rPr lang="en-US" sz="2600" dirty="0"/>
              <a:t>WP5, Task 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el 5"/>
          <p:cNvSpPr>
            <a:spLocks noGrp="1"/>
          </p:cNvSpPr>
          <p:nvPr>
            <p:ph type="ctrTitle" idx="4294967295"/>
          </p:nvPr>
        </p:nvSpPr>
        <p:spPr>
          <a:xfrm>
            <a:off x="539552" y="1341438"/>
            <a:ext cx="7772400" cy="792162"/>
          </a:xfrm>
        </p:spPr>
        <p:txBody>
          <a:bodyPr/>
          <a:lstStyle/>
          <a:p>
            <a:pPr algn="l" eaLnBrk="1" hangingPunct="1">
              <a:defRPr/>
            </a:pPr>
            <a:r>
              <a:rPr lang="de-DE" sz="4000" dirty="0" smtClean="0">
                <a:solidFill>
                  <a:schemeClr val="tx2"/>
                </a:solidFill>
                <a:latin typeface="+mn-lt"/>
              </a:rPr>
              <a:t>MISSY – </a:t>
            </a:r>
            <a:r>
              <a:rPr lang="de-DE" sz="4000" dirty="0" err="1" smtClean="0">
                <a:solidFill>
                  <a:schemeClr val="tx2"/>
                </a:solidFill>
                <a:latin typeface="+mn-lt"/>
              </a:rPr>
              <a:t>Scope</a:t>
            </a:r>
            <a:r>
              <a:rPr lang="de-DE" sz="4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de-DE" sz="4000" dirty="0" err="1" smtClean="0">
                <a:solidFill>
                  <a:schemeClr val="tx2"/>
                </a:solidFill>
                <a:latin typeface="+mn-lt"/>
              </a:rPr>
              <a:t>of</a:t>
            </a:r>
            <a:r>
              <a:rPr lang="de-DE" sz="4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de-DE" sz="4000" dirty="0" err="1" smtClean="0">
                <a:solidFill>
                  <a:schemeClr val="tx2"/>
                </a:solidFill>
                <a:latin typeface="+mn-lt"/>
              </a:rPr>
              <a:t>metadata</a:t>
            </a:r>
            <a:endParaRPr lang="en-US" sz="4000" dirty="0" smtClean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123" name="Untertitel 6"/>
          <p:cNvSpPr>
            <a:spLocks noGrp="1"/>
          </p:cNvSpPr>
          <p:nvPr>
            <p:ph type="subTitle" idx="4294967295"/>
          </p:nvPr>
        </p:nvSpPr>
        <p:spPr>
          <a:xfrm>
            <a:off x="755650" y="2276872"/>
            <a:ext cx="7777163" cy="3671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Detailed information on variable level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Comparability of variables over time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Study description and data collection materials</a:t>
            </a:r>
            <a:endParaRPr lang="de-DE" sz="2600" dirty="0" smtClean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Concepts, classifications and definitions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Setups and program routines (‘</a:t>
            </a:r>
            <a:r>
              <a:rPr lang="en-US" sz="2600" dirty="0" err="1" smtClean="0"/>
              <a:t>microdata</a:t>
            </a:r>
            <a:r>
              <a:rPr lang="en-US" sz="2600" dirty="0" smtClean="0"/>
              <a:t> tools’)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Literature database</a:t>
            </a:r>
          </a:p>
        </p:txBody>
      </p:sp>
      <p:pic>
        <p:nvPicPr>
          <p:cNvPr id="5124" name="Picture 6" descr="mis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86099F-7A07-49BB-A980-5DCE8DBB3A8F}" type="slidenum">
              <a:rPr lang="de-DE"/>
              <a:pPr>
                <a:defRPr/>
              </a:pPr>
              <a:t>5</a:t>
            </a:fld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F355C-8C8B-4A30-B516-05D7DA4EDAFE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387935"/>
              </p:ext>
            </p:extLst>
          </p:nvPr>
        </p:nvGraphicFramePr>
        <p:xfrm>
          <a:off x="520963" y="2420889"/>
          <a:ext cx="8064900" cy="331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75"/>
                <a:gridCol w="672075"/>
                <a:gridCol w="672075"/>
                <a:gridCol w="672075"/>
                <a:gridCol w="672075"/>
                <a:gridCol w="672075"/>
                <a:gridCol w="672075"/>
                <a:gridCol w="672075"/>
                <a:gridCol w="672075"/>
                <a:gridCol w="672075"/>
                <a:gridCol w="672075"/>
                <a:gridCol w="672075"/>
              </a:tblGrid>
              <a:tr h="415316"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2003</a:t>
                      </a:r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2014</a:t>
                      </a:r>
                      <a:endParaRPr lang="de-DE" dirty="0"/>
                    </a:p>
                  </a:txBody>
                  <a:tcPr>
                    <a:solidFill>
                      <a:srgbClr val="425972"/>
                    </a:solidFill>
                  </a:tcPr>
                </a:tc>
              </a:tr>
              <a:tr h="2897051">
                <a:tc gridSpan="12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Eingekerbter Richtungspfeil 36"/>
          <p:cNvSpPr/>
          <p:nvPr/>
        </p:nvSpPr>
        <p:spPr>
          <a:xfrm>
            <a:off x="953015" y="3068961"/>
            <a:ext cx="2376264" cy="1368152"/>
          </a:xfrm>
          <a:prstGeom prst="chevron">
            <a:avLst>
              <a:gd name="adj" fmla="val 25101"/>
            </a:avLst>
          </a:prstGeom>
          <a:solidFill>
            <a:srgbClr val="A5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Eingekerbter Richtungspfeil 37"/>
          <p:cNvSpPr/>
          <p:nvPr/>
        </p:nvSpPr>
        <p:spPr>
          <a:xfrm>
            <a:off x="3401287" y="3068961"/>
            <a:ext cx="2376264" cy="1368152"/>
          </a:xfrm>
          <a:prstGeom prst="chevron">
            <a:avLst>
              <a:gd name="adj" fmla="val 25101"/>
            </a:avLst>
          </a:prstGeom>
          <a:solidFill>
            <a:srgbClr val="A5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Eingekerbter Richtungspfeil 38"/>
          <p:cNvSpPr/>
          <p:nvPr/>
        </p:nvSpPr>
        <p:spPr>
          <a:xfrm>
            <a:off x="5849559" y="3068961"/>
            <a:ext cx="2376264" cy="1368152"/>
          </a:xfrm>
          <a:prstGeom prst="chevron">
            <a:avLst>
              <a:gd name="adj" fmla="val 25101"/>
            </a:avLst>
          </a:prstGeom>
          <a:solidFill>
            <a:srgbClr val="A5C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1415543" y="3212977"/>
            <a:ext cx="1481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smtClean="0">
                <a:latin typeface="+mj-lt"/>
              </a:rPr>
              <a:t>MISSY I</a:t>
            </a:r>
            <a:endParaRPr lang="de-DE" sz="3200" dirty="0">
              <a:latin typeface="+mj-lt"/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1169039" y="3789041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smtClean="0"/>
              <a:t>Pilot Project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3833335" y="322369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smtClean="0">
                <a:latin typeface="+mj-lt"/>
              </a:rPr>
              <a:t>MISSY II</a:t>
            </a:r>
            <a:endParaRPr lang="de-DE" sz="3200" dirty="0">
              <a:latin typeface="+mj-lt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3905343" y="3780330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smtClean="0"/>
              <a:t>German</a:t>
            </a:r>
          </a:p>
          <a:p>
            <a:pPr algn="ctr"/>
            <a:r>
              <a:rPr lang="de-DE" sz="1600" dirty="0" err="1" smtClean="0"/>
              <a:t>Microcensus</a:t>
            </a:r>
            <a:endParaRPr lang="de-DE" sz="1600" dirty="0" smtClean="0"/>
          </a:p>
        </p:txBody>
      </p:sp>
      <p:sp>
        <p:nvSpPr>
          <p:cNvPr id="28" name="Textfeld 27"/>
          <p:cNvSpPr txBox="1"/>
          <p:nvPr/>
        </p:nvSpPr>
        <p:spPr>
          <a:xfrm>
            <a:off x="6209599" y="3223698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smtClean="0">
                <a:latin typeface="+mj-lt"/>
              </a:rPr>
              <a:t>MISSY III</a:t>
            </a:r>
            <a:endParaRPr lang="de-DE" sz="3200" dirty="0">
              <a:latin typeface="+mj-lt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6137591" y="3780330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smtClean="0"/>
              <a:t>European </a:t>
            </a:r>
            <a:r>
              <a:rPr lang="de-DE" sz="1600" dirty="0" err="1" smtClean="0"/>
              <a:t>Microdata</a:t>
            </a:r>
            <a:endParaRPr lang="de-DE" sz="1600" dirty="0" smtClean="0"/>
          </a:p>
        </p:txBody>
      </p:sp>
      <p:sp>
        <p:nvSpPr>
          <p:cNvPr id="40" name="Textfeld 39"/>
          <p:cNvSpPr txBox="1"/>
          <p:nvPr/>
        </p:nvSpPr>
        <p:spPr>
          <a:xfrm>
            <a:off x="1763688" y="43651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41" name="Textfeld 40"/>
          <p:cNvSpPr txBox="1"/>
          <p:nvPr/>
        </p:nvSpPr>
        <p:spPr>
          <a:xfrm>
            <a:off x="1169039" y="4869161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&lt;DDI 2.1&gt;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3617311" y="4869161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&lt;DDI 2.1&gt;</a:t>
            </a:r>
          </a:p>
          <a:p>
            <a:pPr algn="ctr"/>
            <a:r>
              <a:rPr lang="de-DE" dirty="0" smtClean="0"/>
              <a:t>&lt;DDI 3.0&gt;</a:t>
            </a:r>
          </a:p>
        </p:txBody>
      </p:sp>
      <p:sp>
        <p:nvSpPr>
          <p:cNvPr id="43" name="Textfeld 42"/>
          <p:cNvSpPr txBox="1"/>
          <p:nvPr/>
        </p:nvSpPr>
        <p:spPr>
          <a:xfrm>
            <a:off x="5659217" y="4869161"/>
            <a:ext cx="279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&lt;DDI RDF Discovery&gt;</a:t>
            </a:r>
          </a:p>
        </p:txBody>
      </p:sp>
      <p:sp>
        <p:nvSpPr>
          <p:cNvPr id="44" name="Rechteck 43"/>
          <p:cNvSpPr/>
          <p:nvPr/>
        </p:nvSpPr>
        <p:spPr>
          <a:xfrm>
            <a:off x="5659217" y="5229201"/>
            <a:ext cx="25922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600" dirty="0" smtClean="0">
                <a:latin typeface="+mn-lt"/>
                <a:sym typeface="Wingdings"/>
              </a:rPr>
              <a:t> </a:t>
            </a:r>
            <a:r>
              <a:rPr lang="de-DE" sz="1600" dirty="0" smtClean="0">
                <a:latin typeface="+mn-lt"/>
              </a:rPr>
              <a:t>DDI-L &amp; DDI-C Export</a:t>
            </a:r>
            <a:endParaRPr lang="de-DE" sz="1600" dirty="0">
              <a:latin typeface="+mn-lt"/>
            </a:endParaRPr>
          </a:p>
        </p:txBody>
      </p:sp>
      <p:sp>
        <p:nvSpPr>
          <p:cNvPr id="46" name="Richtungspfeil 45"/>
          <p:cNvSpPr/>
          <p:nvPr/>
        </p:nvSpPr>
        <p:spPr>
          <a:xfrm>
            <a:off x="8604448" y="2420889"/>
            <a:ext cx="432048" cy="396000"/>
          </a:xfrm>
          <a:prstGeom prst="homePlate">
            <a:avLst/>
          </a:prstGeom>
          <a:solidFill>
            <a:srgbClr val="4259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itel 5"/>
          <p:cNvSpPr txBox="1">
            <a:spLocks/>
          </p:cNvSpPr>
          <p:nvPr/>
        </p:nvSpPr>
        <p:spPr bwMode="auto">
          <a:xfrm>
            <a:off x="539552" y="1341438"/>
            <a:ext cx="7772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defRPr/>
            </a:pPr>
            <a:r>
              <a:rPr lang="en-US" sz="4000" dirty="0" smtClean="0">
                <a:solidFill>
                  <a:schemeClr val="tx2"/>
                </a:solidFill>
                <a:latin typeface="+mn-lt"/>
              </a:rPr>
              <a:t>Development as a DDI use case</a:t>
            </a:r>
          </a:p>
        </p:txBody>
      </p:sp>
      <p:pic>
        <p:nvPicPr>
          <p:cNvPr id="21" name="Picture 6" descr="miss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788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Untertitel 6"/>
          <p:cNvSpPr>
            <a:spLocks/>
          </p:cNvSpPr>
          <p:nvPr/>
        </p:nvSpPr>
        <p:spPr bwMode="auto">
          <a:xfrm>
            <a:off x="755650" y="2276475"/>
            <a:ext cx="77771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  <a:tabLst>
                <a:tab pos="273050" algn="l"/>
              </a:tabLst>
            </a:pPr>
            <a:endParaRPr lang="en-US" sz="2800"/>
          </a:p>
        </p:txBody>
      </p:sp>
      <p:pic>
        <p:nvPicPr>
          <p:cNvPr id="9219" name="Picture 6" descr="mis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5"/>
          <p:cNvSpPr txBox="1">
            <a:spLocks/>
          </p:cNvSpPr>
          <p:nvPr/>
        </p:nvSpPr>
        <p:spPr bwMode="auto">
          <a:xfrm>
            <a:off x="539552" y="1341438"/>
            <a:ext cx="806489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sz="4000" dirty="0" smtClean="0">
                <a:solidFill>
                  <a:schemeClr val="tx2"/>
                </a:solidFill>
                <a:latin typeface="+mn-lt"/>
              </a:rPr>
              <a:t>Project MISSY III </a:t>
            </a:r>
            <a:endParaRPr lang="de-DE" sz="4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50C438-FE0C-49DB-8D6D-19B4E373E2E9}" type="slidenum">
              <a:rPr lang="de-DE"/>
              <a:pPr>
                <a:defRPr/>
              </a:pPr>
              <a:t>7</a:t>
            </a:fld>
            <a:endParaRPr lang="de-DE" dirty="0"/>
          </a:p>
        </p:txBody>
      </p:sp>
      <p:sp>
        <p:nvSpPr>
          <p:cNvPr id="7" name="Untertitel 6"/>
          <p:cNvSpPr txBox="1">
            <a:spLocks/>
          </p:cNvSpPr>
          <p:nvPr/>
        </p:nvSpPr>
        <p:spPr bwMode="auto">
          <a:xfrm>
            <a:off x="755650" y="2276872"/>
            <a:ext cx="7777163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Central, systematic and user-friendly access </a:t>
            </a:r>
            <a:r>
              <a:rPr lang="en-US" sz="2600" dirty="0" smtClean="0"/>
              <a:t>to </a:t>
            </a:r>
            <a:r>
              <a:rPr lang="en-US" sz="2600" dirty="0"/>
              <a:t>information about official EU </a:t>
            </a:r>
            <a:r>
              <a:rPr lang="en-US" sz="2600" dirty="0" err="1"/>
              <a:t>microdata</a:t>
            </a:r>
            <a:r>
              <a:rPr lang="en-US" sz="2600" dirty="0"/>
              <a:t> via MISSY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Potential to conduct thematic searches over multiple studies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 smtClean="0"/>
              <a:t>Support </a:t>
            </a:r>
            <a:r>
              <a:rPr lang="en-US" sz="2600" dirty="0"/>
              <a:t>for cross-cultural and inter-temporal </a:t>
            </a:r>
            <a:br>
              <a:rPr lang="en-US" sz="2600" dirty="0"/>
            </a:br>
            <a:r>
              <a:rPr lang="en-US" sz="2600" dirty="0" smtClean="0"/>
              <a:t>analysis</a:t>
            </a:r>
            <a:endParaRPr lang="en-US" sz="26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Re-use of metadata in other systems </a:t>
            </a:r>
            <a:r>
              <a:rPr lang="en-US" sz="2600" dirty="0" smtClean="0"/>
              <a:t>(</a:t>
            </a:r>
            <a:r>
              <a:rPr lang="en-US" sz="2600" dirty="0"/>
              <a:t>export to multiple formats </a:t>
            </a:r>
            <a:r>
              <a:rPr lang="en-US" sz="2600" dirty="0" smtClean="0"/>
              <a:t>such as </a:t>
            </a:r>
            <a:r>
              <a:rPr lang="en-US" sz="2600" dirty="0"/>
              <a:t>DDI-L, DDI-C, DDI-RDF)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None/>
              <a:tabLst>
                <a:tab pos="273050" algn="l"/>
              </a:tabLst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7466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Untertitel 6"/>
          <p:cNvSpPr>
            <a:spLocks/>
          </p:cNvSpPr>
          <p:nvPr/>
        </p:nvSpPr>
        <p:spPr bwMode="auto">
          <a:xfrm>
            <a:off x="755650" y="2276475"/>
            <a:ext cx="77771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  <a:tabLst>
                <a:tab pos="273050" algn="l"/>
              </a:tabLst>
            </a:pPr>
            <a:endParaRPr lang="en-US" sz="2800"/>
          </a:p>
        </p:txBody>
      </p:sp>
      <p:pic>
        <p:nvPicPr>
          <p:cNvPr id="9219" name="Picture 6" descr="miss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5"/>
          <p:cNvSpPr txBox="1">
            <a:spLocks/>
          </p:cNvSpPr>
          <p:nvPr/>
        </p:nvSpPr>
        <p:spPr bwMode="auto">
          <a:xfrm>
            <a:off x="539552" y="1341438"/>
            <a:ext cx="806489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sz="4000" dirty="0">
                <a:solidFill>
                  <a:schemeClr val="tx2"/>
                </a:solidFill>
              </a:rPr>
              <a:t>MISSY III – Back-End</a:t>
            </a:r>
            <a:endParaRPr lang="de-DE" sz="4000" dirty="0">
              <a:solidFill>
                <a:schemeClr val="tx2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50C438-FE0C-49DB-8D6D-19B4E373E2E9}" type="slidenum">
              <a:rPr lang="de-DE"/>
              <a:pPr>
                <a:defRPr/>
              </a:pPr>
              <a:t>8</a:t>
            </a:fld>
            <a:endParaRPr lang="de-DE" dirty="0"/>
          </a:p>
        </p:txBody>
      </p:sp>
      <p:sp>
        <p:nvSpPr>
          <p:cNvPr id="7" name="Untertitel 6"/>
          <p:cNvSpPr txBox="1">
            <a:spLocks/>
          </p:cNvSpPr>
          <p:nvPr/>
        </p:nvSpPr>
        <p:spPr bwMode="auto">
          <a:xfrm>
            <a:off x="755650" y="2276872"/>
            <a:ext cx="7777163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Implementation of the new MISSY-Editor (Web-Application)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Metadata </a:t>
            </a:r>
            <a:r>
              <a:rPr lang="en-US" sz="2600" dirty="0" smtClean="0"/>
              <a:t>import </a:t>
            </a:r>
            <a:r>
              <a:rPr lang="en-US" sz="2600" dirty="0"/>
              <a:t>(from SPSS, XML, .</a:t>
            </a:r>
            <a:r>
              <a:rPr lang="en-US" sz="2600" dirty="0" err="1"/>
              <a:t>csv</a:t>
            </a:r>
            <a:r>
              <a:rPr lang="en-US" sz="2600" dirty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Documentation of EU </a:t>
            </a:r>
            <a:r>
              <a:rPr lang="en-US" sz="2600" dirty="0" err="1"/>
              <a:t>microdata</a:t>
            </a:r>
            <a:r>
              <a:rPr lang="en-US" sz="2600" dirty="0"/>
              <a:t>  via MISSY-Editor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Open source software </a:t>
            </a:r>
            <a:br>
              <a:rPr lang="en-US" sz="2600" dirty="0"/>
            </a:br>
            <a:r>
              <a:rPr lang="en-US" sz="2600" dirty="0"/>
              <a:t>https://github.com/missy-project/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0867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Untertitel 6"/>
          <p:cNvSpPr>
            <a:spLocks/>
          </p:cNvSpPr>
          <p:nvPr/>
        </p:nvSpPr>
        <p:spPr bwMode="auto">
          <a:xfrm>
            <a:off x="755650" y="2276475"/>
            <a:ext cx="77771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  <a:tabLst>
                <a:tab pos="273050" algn="l"/>
              </a:tabLst>
            </a:pPr>
            <a:endParaRPr lang="en-US" sz="2800"/>
          </a:p>
        </p:txBody>
      </p:sp>
      <p:pic>
        <p:nvPicPr>
          <p:cNvPr id="9219" name="Picture 6" descr="miss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/>
          </p:cNvSpPr>
          <p:nvPr/>
        </p:nvSpPr>
        <p:spPr>
          <a:xfrm>
            <a:off x="755650" y="2347913"/>
            <a:ext cx="8229600" cy="381793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1200"/>
              </a:spcBef>
              <a:buNone/>
              <a:defRPr/>
            </a:pPr>
            <a:endParaRPr lang="en-US" sz="2600" dirty="0" smtClean="0">
              <a:latin typeface="+mn-lt"/>
            </a:endParaRPr>
          </a:p>
        </p:txBody>
      </p:sp>
      <p:sp>
        <p:nvSpPr>
          <p:cNvPr id="8" name="Titel 5"/>
          <p:cNvSpPr txBox="1">
            <a:spLocks/>
          </p:cNvSpPr>
          <p:nvPr/>
        </p:nvSpPr>
        <p:spPr bwMode="auto">
          <a:xfrm>
            <a:off x="539552" y="1341438"/>
            <a:ext cx="806489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sz="4000" dirty="0">
                <a:solidFill>
                  <a:schemeClr val="tx2"/>
                </a:solidFill>
              </a:rPr>
              <a:t>MISSY III – Data model architecture</a:t>
            </a:r>
            <a:endParaRPr lang="de-DE" sz="4000" dirty="0">
              <a:solidFill>
                <a:schemeClr val="tx2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50C438-FE0C-49DB-8D6D-19B4E373E2E9}" type="slidenum">
              <a:rPr lang="de-DE"/>
              <a:pPr>
                <a:defRPr/>
              </a:pPr>
              <a:t>9</a:t>
            </a:fld>
            <a:endParaRPr lang="de-DE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037" y="2254695"/>
            <a:ext cx="6510337" cy="349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781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Untertitel 6"/>
          <p:cNvSpPr>
            <a:spLocks/>
          </p:cNvSpPr>
          <p:nvPr/>
        </p:nvSpPr>
        <p:spPr bwMode="auto">
          <a:xfrm>
            <a:off x="755650" y="2276475"/>
            <a:ext cx="77771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  <a:tabLst>
                <a:tab pos="273050" algn="l"/>
              </a:tabLst>
            </a:pPr>
            <a:endParaRPr lang="en-US" sz="2800"/>
          </a:p>
        </p:txBody>
      </p:sp>
      <p:pic>
        <p:nvPicPr>
          <p:cNvPr id="9219" name="Picture 6" descr="mis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5"/>
          <p:cNvSpPr txBox="1">
            <a:spLocks/>
          </p:cNvSpPr>
          <p:nvPr/>
        </p:nvSpPr>
        <p:spPr bwMode="auto">
          <a:xfrm>
            <a:off x="539552" y="1341438"/>
            <a:ext cx="806489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sz="4000" dirty="0">
                <a:solidFill>
                  <a:schemeClr val="tx2"/>
                </a:solidFill>
              </a:rPr>
              <a:t>Cooperation </a:t>
            </a:r>
            <a:r>
              <a:rPr lang="en-US" sz="4000" dirty="0" err="1">
                <a:solidFill>
                  <a:schemeClr val="tx2"/>
                </a:solidFill>
              </a:rPr>
              <a:t>DwB</a:t>
            </a:r>
            <a:r>
              <a:rPr lang="en-US" sz="4000" dirty="0">
                <a:solidFill>
                  <a:schemeClr val="tx2"/>
                </a:solidFill>
              </a:rPr>
              <a:t> - MISSY</a:t>
            </a:r>
            <a:endParaRPr lang="de-DE" sz="4000" dirty="0">
              <a:solidFill>
                <a:schemeClr val="tx2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50C438-FE0C-49DB-8D6D-19B4E373E2E9}" type="slidenum">
              <a:rPr lang="de-DE"/>
              <a:pPr>
                <a:defRPr/>
              </a:pPr>
              <a:t>10</a:t>
            </a:fld>
            <a:endParaRPr lang="de-DE" dirty="0"/>
          </a:p>
        </p:txBody>
      </p:sp>
      <p:sp>
        <p:nvSpPr>
          <p:cNvPr id="7" name="Untertitel 6"/>
          <p:cNvSpPr txBox="1">
            <a:spLocks/>
          </p:cNvSpPr>
          <p:nvPr/>
        </p:nvSpPr>
        <p:spPr bwMode="auto">
          <a:xfrm>
            <a:off x="755650" y="2276872"/>
            <a:ext cx="7777163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Metadata schema and controlled vocabularies (WP5)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Data documentation of SILC and LFS covered by GESIS; AES, SES and CIS by </a:t>
            </a:r>
            <a:r>
              <a:rPr lang="en-US" sz="2600" dirty="0" err="1"/>
              <a:t>DwB</a:t>
            </a:r>
            <a:r>
              <a:rPr lang="en-US" sz="2600" dirty="0"/>
              <a:t> partners (WP5)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The new web-based MISSY III-Editor was implemented as a web application in order to allow external users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Data export from MISSY into </a:t>
            </a:r>
            <a:r>
              <a:rPr lang="en-US" sz="2600" dirty="0" err="1"/>
              <a:t>DwB</a:t>
            </a:r>
            <a:r>
              <a:rPr lang="en-US" sz="2600" dirty="0"/>
              <a:t> Portal in DDI 3.2 format (WP8/12)</a:t>
            </a:r>
            <a:endParaRPr lang="en-US" sz="2600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1268760"/>
            <a:ext cx="2283296" cy="65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2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2" y="-3448"/>
            <a:ext cx="1944687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el 5"/>
          <p:cNvSpPr txBox="1">
            <a:spLocks/>
          </p:cNvSpPr>
          <p:nvPr/>
        </p:nvSpPr>
        <p:spPr bwMode="auto">
          <a:xfrm>
            <a:off x="539552" y="1341438"/>
            <a:ext cx="806489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de-DE" sz="4000" dirty="0" err="1">
                <a:solidFill>
                  <a:schemeClr val="tx2"/>
                </a:solidFill>
              </a:rPr>
              <a:t>Steps</a:t>
            </a:r>
            <a:r>
              <a:rPr lang="de-DE" sz="4000" dirty="0">
                <a:solidFill>
                  <a:schemeClr val="tx2"/>
                </a:solidFill>
              </a:rPr>
              <a:t> in </a:t>
            </a:r>
            <a:r>
              <a:rPr lang="de-DE" sz="4000" dirty="0" err="1">
                <a:solidFill>
                  <a:schemeClr val="tx2"/>
                </a:solidFill>
              </a:rPr>
              <a:t>Metadata</a:t>
            </a:r>
            <a:r>
              <a:rPr lang="de-DE" sz="4000" dirty="0">
                <a:solidFill>
                  <a:schemeClr val="tx2"/>
                </a:solidFill>
              </a:rPr>
              <a:t> </a:t>
            </a:r>
            <a:r>
              <a:rPr lang="de-DE" sz="4000" dirty="0" err="1">
                <a:solidFill>
                  <a:schemeClr val="tx2"/>
                </a:solidFill>
              </a:rPr>
              <a:t>Preparation</a:t>
            </a:r>
            <a:endParaRPr lang="de-DE" sz="4000" dirty="0">
              <a:solidFill>
                <a:schemeClr val="tx2"/>
              </a:solidFill>
            </a:endParaRPr>
          </a:p>
        </p:txBody>
      </p:sp>
      <p:sp>
        <p:nvSpPr>
          <p:cNvPr id="7" name="Untertitel 6"/>
          <p:cNvSpPr txBox="1">
            <a:spLocks/>
          </p:cNvSpPr>
          <p:nvPr/>
        </p:nvSpPr>
        <p:spPr bwMode="auto">
          <a:xfrm>
            <a:off x="755650" y="2276872"/>
            <a:ext cx="7777163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Read variable information into system from SPSS files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Customize data input forms </a:t>
            </a:r>
            <a:r>
              <a:rPr lang="en-US" sz="2600" dirty="0" smtClean="0"/>
              <a:t>and controlled vocabularies for </a:t>
            </a:r>
            <a:r>
              <a:rPr lang="en-US" sz="2600" dirty="0"/>
              <a:t>each series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Structure variables according to thematic classification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r>
              <a:rPr lang="en-US" sz="2600" dirty="0"/>
              <a:t>Manually input and/or import </a:t>
            </a:r>
            <a:r>
              <a:rPr lang="en-US" sz="2600" dirty="0" smtClean="0"/>
              <a:t>metadata at variable and study level</a:t>
            </a:r>
            <a:endParaRPr lang="en-US" sz="26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tabLst>
                <a:tab pos="273050" algn="l"/>
              </a:tabLst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899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1143000"/>
          </a:xfrm>
        </p:spPr>
        <p:txBody>
          <a:bodyPr/>
          <a:lstStyle/>
          <a:p>
            <a:pPr algn="l"/>
            <a:r>
              <a:rPr lang="de-DE" sz="4000" dirty="0" err="1">
                <a:solidFill>
                  <a:schemeClr val="tx2"/>
                </a:solidFill>
              </a:rPr>
              <a:t>Metadata</a:t>
            </a:r>
            <a:r>
              <a:rPr lang="de-DE" sz="4000" dirty="0">
                <a:solidFill>
                  <a:schemeClr val="tx2"/>
                </a:solidFill>
              </a:rPr>
              <a:t> </a:t>
            </a:r>
            <a:r>
              <a:rPr lang="de-DE" sz="4000" dirty="0" err="1">
                <a:solidFill>
                  <a:schemeClr val="tx2"/>
                </a:solidFill>
              </a:rPr>
              <a:t>Scheme</a:t>
            </a:r>
            <a:r>
              <a:rPr lang="de-DE" sz="4000" dirty="0">
                <a:solidFill>
                  <a:schemeClr val="tx2"/>
                </a:solidFill>
              </a:rPr>
              <a:t> – Study </a:t>
            </a:r>
            <a:r>
              <a:rPr lang="de-DE" sz="4000" dirty="0" err="1">
                <a:solidFill>
                  <a:schemeClr val="tx2"/>
                </a:solidFill>
              </a:rPr>
              <a:t>level</a:t>
            </a:r>
            <a:endParaRPr lang="en-US" sz="4000" dirty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2" y="-3448"/>
            <a:ext cx="1944687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550" y="1988840"/>
            <a:ext cx="6120680" cy="4583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036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F355C-8C8B-4A30-B516-05D7DA4EDAFE}" type="slidenum">
              <a:rPr lang="de-DE" smtClean="0"/>
              <a:pPr>
                <a:defRPr/>
              </a:pPr>
              <a:t>13</a:t>
            </a:fld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" y="0"/>
            <a:ext cx="9142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5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2" y="-3448"/>
            <a:ext cx="1944687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2" y="-12772"/>
            <a:ext cx="9142026" cy="67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4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F355C-8C8B-4A30-B516-05D7DA4EDAFE}" type="slidenum">
              <a:rPr lang="de-DE" smtClean="0"/>
              <a:pPr>
                <a:defRPr/>
              </a:pPr>
              <a:t>15</a:t>
            </a:fld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54758" cy="68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2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F355C-8C8B-4A30-B516-05D7DA4EDAFE}" type="slidenum">
              <a:rPr lang="de-DE" smtClean="0"/>
              <a:pPr>
                <a:defRPr/>
              </a:pPr>
              <a:t>16</a:t>
            </a:fld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69754" cy="567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9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F355C-8C8B-4A30-B516-05D7DA4EDAFE}" type="slidenum">
              <a:rPr lang="de-DE" smtClean="0"/>
              <a:pPr>
                <a:defRPr/>
              </a:pPr>
              <a:t>17</a:t>
            </a:fld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" y="0"/>
            <a:ext cx="9142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0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F355C-8C8B-4A30-B516-05D7DA4EDAFE}" type="slidenum">
              <a:rPr lang="de-DE" smtClean="0"/>
              <a:pPr>
                <a:defRPr/>
              </a:pPr>
              <a:t>18</a:t>
            </a:fld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3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el 5"/>
          <p:cNvSpPr>
            <a:spLocks noGrp="1"/>
          </p:cNvSpPr>
          <p:nvPr>
            <p:ph type="ctrTitle" idx="4294967295"/>
          </p:nvPr>
        </p:nvSpPr>
        <p:spPr>
          <a:xfrm>
            <a:off x="1437088" y="2348880"/>
            <a:ext cx="6260232" cy="2016224"/>
          </a:xfrm>
        </p:spPr>
        <p:txBody>
          <a:bodyPr/>
          <a:lstStyle/>
          <a:p>
            <a:pPr eaLnBrk="1" hangingPunct="1">
              <a:defRPr/>
            </a:pPr>
            <a:r>
              <a:rPr lang="de-DE" sz="4000" dirty="0" smtClean="0">
                <a:latin typeface="+mn-lt"/>
              </a:rPr>
              <a:t>Poster </a:t>
            </a:r>
            <a:r>
              <a:rPr lang="en-US" sz="4000" dirty="0" smtClean="0">
                <a:latin typeface="+mn-lt"/>
              </a:rPr>
              <a:t>Presentation</a:t>
            </a:r>
            <a:br>
              <a:rPr lang="en-US" sz="4000" dirty="0" smtClean="0">
                <a:latin typeface="+mn-lt"/>
              </a:rPr>
            </a:br>
            <a:r>
              <a:rPr lang="en-US" sz="2800" dirty="0" smtClean="0">
                <a:latin typeface="+mn-lt"/>
              </a:rPr>
              <a:t>with live demo of the new MISSY Editor</a:t>
            </a:r>
          </a:p>
        </p:txBody>
      </p:sp>
      <p:pic>
        <p:nvPicPr>
          <p:cNvPr id="13316" name="Picture 64" descr="mis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r="34137"/>
          <a:stretch>
            <a:fillRect/>
          </a:stretch>
        </p:blipFill>
        <p:spPr bwMode="auto">
          <a:xfrm>
            <a:off x="7199313" y="-3175"/>
            <a:ext cx="19446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240634-8C62-4963-BB86-5EE8C10B24B6}" type="slidenum">
              <a:rPr lang="de-DE"/>
              <a:pPr>
                <a:defRPr/>
              </a:pPr>
              <a:t>19</a:t>
            </a:fld>
            <a:endParaRPr lang="de-DE" dirty="0"/>
          </a:p>
        </p:txBody>
      </p:sp>
      <p:sp>
        <p:nvSpPr>
          <p:cNvPr id="3" name="Rechteck 2"/>
          <p:cNvSpPr/>
          <p:nvPr/>
        </p:nvSpPr>
        <p:spPr>
          <a:xfrm>
            <a:off x="3225364" y="4725144"/>
            <a:ext cx="2653354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273050" algn="ctr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  <a:tabLst>
                <a:tab pos="273050" algn="l"/>
              </a:tabLst>
            </a:pPr>
            <a:r>
              <a:rPr lang="en-US" u="sng" dirty="0" smtClean="0">
                <a:solidFill>
                  <a:srgbClr val="898989"/>
                </a:solidFill>
              </a:rPr>
              <a:t>www.gesis.org/missy</a:t>
            </a:r>
          </a:p>
          <a:p>
            <a:pPr marL="0" indent="273050" algn="ctr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  <a:tabLst>
                <a:tab pos="273050" algn="l"/>
              </a:tabLst>
            </a:pPr>
            <a:r>
              <a:rPr lang="en-US" u="sng" dirty="0" smtClean="0">
                <a:solidFill>
                  <a:srgbClr val="898989"/>
                </a:solidFill>
              </a:rPr>
              <a:t>www.dwbproject.org</a:t>
            </a:r>
            <a:endParaRPr lang="en-US" u="sng" dirty="0">
              <a:solidFill>
                <a:srgbClr val="898989"/>
              </a:solidFill>
            </a:endParaRPr>
          </a:p>
        </p:txBody>
      </p:sp>
      <p:sp>
        <p:nvSpPr>
          <p:cNvPr id="8" name="Titel 5"/>
          <p:cNvSpPr txBox="1">
            <a:spLocks/>
          </p:cNvSpPr>
          <p:nvPr/>
        </p:nvSpPr>
        <p:spPr bwMode="auto">
          <a:xfrm>
            <a:off x="683568" y="1412776"/>
            <a:ext cx="7772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defRPr/>
            </a:pPr>
            <a:r>
              <a:rPr lang="en-US" sz="2400" dirty="0" smtClean="0">
                <a:solidFill>
                  <a:schemeClr val="tx2"/>
                </a:solidFill>
                <a:latin typeface="+mn-lt"/>
              </a:rPr>
              <a:t>for more information…</a:t>
            </a:r>
          </a:p>
        </p:txBody>
      </p:sp>
      <p:sp>
        <p:nvSpPr>
          <p:cNvPr id="9" name="Titel 5"/>
          <p:cNvSpPr txBox="1">
            <a:spLocks/>
          </p:cNvSpPr>
          <p:nvPr/>
        </p:nvSpPr>
        <p:spPr bwMode="auto">
          <a:xfrm>
            <a:off x="682508" y="2060848"/>
            <a:ext cx="7772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400" dirty="0" smtClean="0">
                <a:latin typeface="+mn-lt"/>
              </a:rPr>
              <a:t>please visit our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053" y="5202856"/>
            <a:ext cx="1470387" cy="117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49" y="5897029"/>
            <a:ext cx="2664296" cy="340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400</Words>
  <Application>Microsoft Office PowerPoint</Application>
  <PresentationFormat>Bildschirmpräsentation (4:3)</PresentationFormat>
  <Paragraphs>94</Paragraphs>
  <Slides>19</Slides>
  <Notes>11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0" baseType="lpstr">
      <vt:lpstr>Benutzerdefiniertes Design</vt:lpstr>
      <vt:lpstr>The Next Generation of the  Microdata Information System MISSY:  An Integrated Solution for the Documentation of European Microdata </vt:lpstr>
      <vt:lpstr>Overview</vt:lpstr>
      <vt:lpstr>Scientific service for official microdata </vt:lpstr>
      <vt:lpstr>MISSY - Metadata for scientific research</vt:lpstr>
      <vt:lpstr>MISSY – Scope of metadata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Metadata Scheme – Study level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Poster Presentation with live demo of the new MISSY Editor</vt:lpstr>
    </vt:vector>
  </TitlesOfParts>
  <Company>IZ Sozialwissenschaften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Heuser</dc:creator>
  <cp:lastModifiedBy>admin</cp:lastModifiedBy>
  <cp:revision>232</cp:revision>
  <cp:lastPrinted>2013-02-22T11:51:38Z</cp:lastPrinted>
  <dcterms:created xsi:type="dcterms:W3CDTF">2009-05-26T11:46:45Z</dcterms:created>
  <dcterms:modified xsi:type="dcterms:W3CDTF">2013-11-28T14:41:40Z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Dokument</vt:lpwstr>
  </property>
</Properties>
</file>