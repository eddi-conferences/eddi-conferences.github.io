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94" r:id="rId3"/>
    <p:sldId id="271" r:id="rId4"/>
    <p:sldId id="304" r:id="rId5"/>
    <p:sldId id="274" r:id="rId6"/>
    <p:sldId id="285" r:id="rId7"/>
    <p:sldId id="315" r:id="rId8"/>
    <p:sldId id="286" r:id="rId9"/>
    <p:sldId id="295" r:id="rId10"/>
    <p:sldId id="288" r:id="rId11"/>
    <p:sldId id="293" r:id="rId12"/>
    <p:sldId id="314" r:id="rId13"/>
    <p:sldId id="296" r:id="rId14"/>
    <p:sldId id="297" r:id="rId15"/>
    <p:sldId id="305" r:id="rId16"/>
    <p:sldId id="292" r:id="rId17"/>
    <p:sldId id="306" r:id="rId18"/>
    <p:sldId id="299" r:id="rId19"/>
    <p:sldId id="302" r:id="rId20"/>
    <p:sldId id="303" r:id="rId21"/>
    <p:sldId id="307" r:id="rId22"/>
    <p:sldId id="308" r:id="rId23"/>
    <p:sldId id="309" r:id="rId24"/>
    <p:sldId id="310" r:id="rId25"/>
    <p:sldId id="311" r:id="rId26"/>
    <p:sldId id="313" r:id="rId27"/>
    <p:sldId id="26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975" autoAdjust="0"/>
  </p:normalViewPr>
  <p:slideViewPr>
    <p:cSldViewPr>
      <p:cViewPr varScale="1">
        <p:scale>
          <a:sx n="71" d="100"/>
          <a:sy n="71" d="100"/>
        </p:scale>
        <p:origin x="-19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13DF9F-80D3-49C7-B9C1-CA07E7BAC134}" type="datetimeFigureOut">
              <a:rPr lang="en-US" smtClean="0"/>
              <a:t>12/3/2013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EBE89EF-5441-4C3B-BCBD-F6E66646ACCB}" type="slidenum">
              <a:rPr lang="en-US" smtClean="0"/>
              <a:t>‹#›</a:t>
            </a:fld>
            <a:endParaRPr lang="en-US"/>
          </a:p>
        </p:txBody>
      </p:sp>
    </p:spTree>
    <p:extLst>
      <p:ext uri="{BB962C8B-B14F-4D97-AF65-F5344CB8AC3E}">
        <p14:creationId xmlns:p14="http://schemas.microsoft.com/office/powerpoint/2010/main" val="67426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Project</a:t>
            </a:r>
            <a:r>
              <a:rPr lang="en-US" baseline="0" dirty="0" smtClean="0"/>
              <a:t> that MIDUS is working on with </a:t>
            </a:r>
            <a:r>
              <a:rPr lang="en-US" baseline="0" dirty="0" err="1" smtClean="0"/>
              <a:t>Colectica</a:t>
            </a:r>
            <a:r>
              <a:rPr lang="en-US" baseline="0" dirty="0" smtClean="0"/>
              <a:t> using </a:t>
            </a:r>
            <a:r>
              <a:rPr lang="en-US" baseline="0" dirty="0" smtClean="0"/>
              <a:t>DDI </a:t>
            </a:r>
            <a:r>
              <a:rPr lang="en-US" baseline="0" dirty="0" smtClean="0"/>
              <a:t>3.2 to </a:t>
            </a:r>
            <a:r>
              <a:rPr lang="en-US" baseline="0" dirty="0" smtClean="0"/>
              <a:t>deliver harmonized datasets.</a:t>
            </a:r>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1</a:t>
            </a:fld>
            <a:endParaRPr lang="en-US"/>
          </a:p>
        </p:txBody>
      </p:sp>
    </p:spTree>
    <p:extLst>
      <p:ext uri="{BB962C8B-B14F-4D97-AF65-F5344CB8AC3E}">
        <p14:creationId xmlns:p14="http://schemas.microsoft.com/office/powerpoint/2010/main" val="368142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MIDUS acronym.</a:t>
            </a:r>
          </a:p>
          <a:p>
            <a:r>
              <a:rPr lang="en-US" dirty="0" smtClean="0"/>
              <a:t>Read Green text.</a:t>
            </a:r>
          </a:p>
          <a:p>
            <a:r>
              <a:rPr lang="en-US" dirty="0" smtClean="0"/>
              <a:t>MIDUS</a:t>
            </a:r>
            <a:r>
              <a:rPr lang="en-US" baseline="0" dirty="0" smtClean="0"/>
              <a:t> began in 1995 with funding from the MacArthur Foundation.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5EBE89EF-5441-4C3B-BCBD-F6E66646ACCB}" type="slidenum">
              <a:rPr lang="en-US" smtClean="0"/>
              <a:t>3</a:t>
            </a:fld>
            <a:endParaRPr lang="en-US"/>
          </a:p>
        </p:txBody>
      </p:sp>
    </p:spTree>
    <p:extLst>
      <p:ext uri="{BB962C8B-B14F-4D97-AF65-F5344CB8AC3E}">
        <p14:creationId xmlns:p14="http://schemas.microsoft.com/office/powerpoint/2010/main" val="2033525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Since its inception, it has expanded considerably and become much more complex.</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MIDUS is a unique study</a:t>
            </a:r>
            <a:r>
              <a:rPr lang="en-US" baseline="0" dirty="0" smtClean="0"/>
              <a:t> – what are it’s strengths to researchers are at the same time it’s complexities to data managers. Make it a good case study for Data Management in general, and DDI Lifecycle in particular. We’re unlike many NSAs or archives that are implementing DDI, but we need good documentation and can be more nimble and demonstrate DDI’s capabilities.</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a:defRPr/>
            </a:pPr>
            <a:r>
              <a:rPr lang="en-US" dirty="0" smtClean="0"/>
              <a:t>In 2004 MIDUS received funds from National Institute on Aging to conduct a followup study of the original respondents, transforming it into a longitudinal study with a 9-10 year interval between waves.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4</a:t>
            </a:fld>
            <a:endParaRPr lang="en-US"/>
          </a:p>
        </p:txBody>
      </p:sp>
    </p:spTree>
    <p:extLst>
      <p:ext uri="{BB962C8B-B14F-4D97-AF65-F5344CB8AC3E}">
        <p14:creationId xmlns:p14="http://schemas.microsoft.com/office/powerpoint/2010/main" val="85650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smtClean="0"/>
              <a:t>This series of slides show</a:t>
            </a:r>
            <a:r>
              <a:rPr lang="en-US" baseline="0" dirty="0" smtClean="0"/>
              <a:t> the MIDUS samples and timelines. </a:t>
            </a:r>
          </a:p>
          <a:p>
            <a:pPr>
              <a:defRPr/>
            </a:pPr>
            <a:r>
              <a:rPr lang="en-US" baseline="0" dirty="0" smtClean="0"/>
              <a:t>Baseline.</a:t>
            </a:r>
            <a:endParaRPr lang="en-US" dirty="0" smtClean="0"/>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09EC61B-5FD0-466D-BB8D-DA98151B8FCB}" type="slidenum">
              <a:rPr lang="en-US" smtClean="0"/>
              <a:pPr eaLnBrk="1" hangingPunct="1"/>
              <a:t>5</a:t>
            </a:fld>
            <a:endParaRPr lang="en-US" smtClean="0"/>
          </a:p>
        </p:txBody>
      </p:sp>
    </p:spTree>
    <p:extLst>
      <p:ext uri="{BB962C8B-B14F-4D97-AF65-F5344CB8AC3E}">
        <p14:creationId xmlns:p14="http://schemas.microsoft.com/office/powerpoint/2010/main" val="452735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smtClean="0"/>
              <a:t>Followed by</a:t>
            </a:r>
            <a:r>
              <a:rPr lang="en-US" baseline="0" dirty="0" smtClean="0"/>
              <a:t> 2</a:t>
            </a:r>
            <a:r>
              <a:rPr lang="en-US" baseline="30000" dirty="0" smtClean="0"/>
              <a:t>nd</a:t>
            </a:r>
            <a:r>
              <a:rPr lang="en-US" baseline="0" dirty="0" smtClean="0"/>
              <a:t> wave in 2004.</a:t>
            </a:r>
            <a:endParaRPr lang="en-US" dirty="0" smtClean="0"/>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09EC61B-5FD0-466D-BB8D-DA98151B8FCB}" type="slidenum">
              <a:rPr lang="en-US" smtClean="0"/>
              <a:pPr eaLnBrk="1" hangingPunct="1"/>
              <a:t>6</a:t>
            </a:fld>
            <a:endParaRPr lang="en-US" smtClean="0"/>
          </a:p>
        </p:txBody>
      </p:sp>
    </p:spTree>
    <p:extLst>
      <p:ext uri="{BB962C8B-B14F-4D97-AF65-F5344CB8AC3E}">
        <p14:creationId xmlns:p14="http://schemas.microsoft.com/office/powerpoint/2010/main" val="344244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the</a:t>
            </a:r>
            <a:r>
              <a:rPr lang="en-US" baseline="0" dirty="0" smtClean="0"/>
              <a:t> same time in 2004-05, MIDUS expanded to include multiple cohorts.</a:t>
            </a:r>
            <a:endParaRPr lang="en-US" dirty="0" smtClean="0"/>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7</a:t>
            </a:fld>
            <a:endParaRPr lang="en-US"/>
          </a:p>
        </p:txBody>
      </p:sp>
    </p:spTree>
    <p:extLst>
      <p:ext uri="{BB962C8B-B14F-4D97-AF65-F5344CB8AC3E}">
        <p14:creationId xmlns:p14="http://schemas.microsoft.com/office/powerpoint/2010/main" val="856500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MIDUS fielded new cohorts in Milwaukee, WI (a racially specific sample of African Americans) and Japan (nationally, ethnically specific).</a:t>
            </a:r>
          </a:p>
          <a:p>
            <a:pPr>
              <a:defRPr/>
            </a:pPr>
            <a:endParaRPr lang="en-US" dirty="0" smtClean="0"/>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09EC61B-5FD0-466D-BB8D-DA98151B8FCB}" type="slidenum">
              <a:rPr lang="en-US" smtClean="0"/>
              <a:pPr eaLnBrk="1" hangingPunct="1"/>
              <a:t>8</a:t>
            </a:fld>
            <a:endParaRPr lang="en-US" smtClean="0"/>
          </a:p>
        </p:txBody>
      </p:sp>
    </p:spTree>
    <p:extLst>
      <p:ext uri="{BB962C8B-B14F-4D97-AF65-F5344CB8AC3E}">
        <p14:creationId xmlns:p14="http://schemas.microsoft.com/office/powerpoint/2010/main" val="2271073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smtClean="0"/>
              <a:t>Most recently, a 3</a:t>
            </a:r>
            <a:r>
              <a:rPr lang="en-US" baseline="30000" dirty="0" smtClean="0"/>
              <a:t>rd</a:t>
            </a:r>
            <a:r>
              <a:rPr lang="en-US" dirty="0" smtClean="0"/>
              <a:t> wave</a:t>
            </a:r>
            <a:r>
              <a:rPr lang="en-US" baseline="0" dirty="0" smtClean="0"/>
              <a:t> of the original MIDUS cohort and a second wave of MIDJA has been fielded.</a:t>
            </a:r>
            <a:endParaRPr lang="en-US" dirty="0" smtClean="0"/>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09EC61B-5FD0-466D-BB8D-DA98151B8FCB}" type="slidenum">
              <a:rPr lang="en-US" smtClean="0"/>
              <a:pPr eaLnBrk="1" hangingPunct="1"/>
              <a:t>9</a:t>
            </a:fld>
            <a:endParaRPr lang="en-US" smtClean="0"/>
          </a:p>
        </p:txBody>
      </p:sp>
    </p:spTree>
    <p:extLst>
      <p:ext uri="{BB962C8B-B14F-4D97-AF65-F5344CB8AC3E}">
        <p14:creationId xmlns:p14="http://schemas.microsoft.com/office/powerpoint/2010/main" val="956698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 also added 2 new cohorts since 2012 , a new national</a:t>
            </a:r>
            <a:r>
              <a:rPr lang="en-US" baseline="0" dirty="0" smtClean="0"/>
              <a:t> “Refresher” cohort and a new sample of Milwaukee African Americans.</a:t>
            </a: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09EC61B-5FD0-466D-BB8D-DA98151B8FCB}" type="slidenum">
              <a:rPr lang="en-US" smtClean="0"/>
              <a:pPr eaLnBrk="1" hangingPunct="1"/>
              <a:t>10</a:t>
            </a:fld>
            <a:endParaRPr lang="en-US" smtClean="0"/>
          </a:p>
        </p:txBody>
      </p:sp>
    </p:spTree>
    <p:extLst>
      <p:ext uri="{BB962C8B-B14F-4D97-AF65-F5344CB8AC3E}">
        <p14:creationId xmlns:p14="http://schemas.microsoft.com/office/powerpoint/2010/main" val="2753542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baseline="0" dirty="0" smtClean="0"/>
              <a:t>So there are 5 distinct cohorts or samples proceeding longitudinally into the future (every 9-10 years if the funding gods will it). Each of these cohorts receives a survey protocol, but there are differences in the data collection mode and fielding operations (MKE is CAPI interview, MIDJA is truncated mail survey).</a:t>
            </a:r>
          </a:p>
          <a:p>
            <a:pPr>
              <a:defRPr/>
            </a:pPr>
            <a:endParaRPr lang="en-US" dirty="0" smtClean="0"/>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B09EC61B-5FD0-466D-BB8D-DA98151B8FCB}" type="slidenum">
              <a:rPr lang="en-US" smtClean="0"/>
              <a:pPr eaLnBrk="1" hangingPunct="1"/>
              <a:t>11</a:t>
            </a:fld>
            <a:endParaRPr lang="en-US" smtClean="0"/>
          </a:p>
        </p:txBody>
      </p:sp>
    </p:spTree>
    <p:extLst>
      <p:ext uri="{BB962C8B-B14F-4D97-AF65-F5344CB8AC3E}">
        <p14:creationId xmlns:p14="http://schemas.microsoft.com/office/powerpoint/2010/main" val="1770790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Another</a:t>
            </a:r>
            <a:r>
              <a:rPr lang="en-US" baseline="0" dirty="0" smtClean="0"/>
              <a:t> unique characteristic of MIDUS is its focus on aging as an integrated process. </a:t>
            </a:r>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12</a:t>
            </a:fld>
            <a:endParaRPr lang="en-US"/>
          </a:p>
        </p:txBody>
      </p:sp>
    </p:spTree>
    <p:extLst>
      <p:ext uri="{BB962C8B-B14F-4D97-AF65-F5344CB8AC3E}">
        <p14:creationId xmlns:p14="http://schemas.microsoft.com/office/powerpoint/2010/main" val="693880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To accomplish</a:t>
            </a:r>
            <a:r>
              <a:rPr lang="en-US" baseline="0" dirty="0" smtClean="0"/>
              <a:t> this, MIDUS includes multiple research protocols designed to obtain different types of data on our participants. This entails separate data collection sites and results in separate datasets; a situation which greatly benefits from a standard documentation system.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MIDUS</a:t>
            </a:r>
            <a:r>
              <a:rPr lang="en-US" baseline="0" dirty="0" smtClean="0"/>
              <a:t> is organized around survey project at UW-Madison. All respondents participate in survey: socio-demographics, psycho-social constructs, mental and physical health.</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Participants then become eligible for participation in satellite projects.</a:t>
            </a:r>
            <a:endParaRPr lang="en-US" dirty="0" smtClean="0"/>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13</a:t>
            </a:fld>
            <a:endParaRPr lang="en-US"/>
          </a:p>
        </p:txBody>
      </p:sp>
    </p:spTree>
    <p:extLst>
      <p:ext uri="{BB962C8B-B14F-4D97-AF65-F5344CB8AC3E}">
        <p14:creationId xmlns:p14="http://schemas.microsoft.com/office/powerpoint/2010/main" val="2743556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Venn</a:t>
            </a:r>
            <a:r>
              <a:rPr lang="en-US" baseline="0" dirty="0" smtClean="0"/>
              <a:t> diagram just illustrates the complexity of longitudinal multi-project participation; each of the circles represents its own dataset and they are related at the case and variable level. This illustrates only 2 waves of the Core MIDUS sample/cohort. Imagine how complex it can get with multiple longitudinal cohorts/samples.</a:t>
            </a:r>
            <a:endParaRPr lang="en-US" dirty="0" smtClean="0"/>
          </a:p>
          <a:p>
            <a:endParaRPr lang="en-US" dirty="0" smtClean="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3DEF76D4-6CF8-4622-9904-1B718C330281}" type="slidenum">
              <a:rPr lang="en-US" smtClean="0"/>
              <a:pPr eaLnBrk="1" hangingPunct="1"/>
              <a:t>14</a:t>
            </a:fld>
            <a:endParaRPr lang="en-US" smtClean="0"/>
          </a:p>
        </p:txBody>
      </p:sp>
    </p:spTree>
    <p:extLst>
      <p:ext uri="{BB962C8B-B14F-4D97-AF65-F5344CB8AC3E}">
        <p14:creationId xmlns:p14="http://schemas.microsoft.com/office/powerpoint/2010/main" val="3352902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Finally,</a:t>
            </a:r>
            <a:r>
              <a:rPr lang="en-US" baseline="0" dirty="0" smtClean="0"/>
              <a:t> MIDUS is NIA-sponsored and we are mandated to share MIDUS data publicly.</a:t>
            </a:r>
          </a:p>
          <a:p>
            <a:pPr marL="171450" indent="-171450">
              <a:buFont typeface="Arial" panose="020B0604020202020204" pitchFamily="34" charset="0"/>
              <a:buChar char="•"/>
            </a:pPr>
            <a:r>
              <a:rPr lang="en-US" baseline="0" dirty="0" smtClean="0"/>
              <a:t>We embrace an Open Data philosophy</a:t>
            </a:r>
          </a:p>
          <a:p>
            <a:pPr marL="171450" indent="-171450">
              <a:buFont typeface="Arial" panose="020B0604020202020204" pitchFamily="34" charset="0"/>
              <a:buChar char="•"/>
            </a:pPr>
            <a:r>
              <a:rPr lang="en-US" baseline="0" dirty="0" smtClean="0"/>
              <a:t>Resulted in widespread secondary usage of MIDUS</a:t>
            </a:r>
          </a:p>
          <a:p>
            <a:pPr marL="628650" lvl="1" indent="-171450">
              <a:buFont typeface="Arial" panose="020B0604020202020204" pitchFamily="34" charset="0"/>
              <a:buChar char="•"/>
            </a:pPr>
            <a:r>
              <a:rPr lang="en-US" baseline="0" dirty="0" smtClean="0"/>
              <a:t>#1 data download at aging archive in ICPSR (our official archive) </a:t>
            </a:r>
          </a:p>
          <a:p>
            <a:pPr marL="628650" lvl="1" indent="-171450">
              <a:buFont typeface="Arial" panose="020B0604020202020204" pitchFamily="34" charset="0"/>
              <a:buChar char="•"/>
            </a:pPr>
            <a:r>
              <a:rPr lang="en-US" baseline="0" dirty="0" smtClean="0"/>
              <a:t>Single dataset (M2 P1) is one of the most popular data downloads at ICPSR.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smtClean="0"/>
              <a:t>Recently 500 pubs</a:t>
            </a:r>
          </a:p>
          <a:p>
            <a:pPr marL="0" lvl="0" indent="0">
              <a:buFont typeface="Arial" panose="020B0604020202020204" pitchFamily="34" charset="0"/>
              <a:buNone/>
            </a:pPr>
            <a:r>
              <a:rPr lang="en-US" baseline="0" dirty="0" smtClean="0"/>
              <a:t>This widespread secondary use of the data requires clear documentation for secondary researchers.</a:t>
            </a:r>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15</a:t>
            </a:fld>
            <a:endParaRPr lang="en-US"/>
          </a:p>
        </p:txBody>
      </p:sp>
    </p:spTree>
    <p:extLst>
      <p:ext uri="{BB962C8B-B14F-4D97-AF65-F5344CB8AC3E}">
        <p14:creationId xmlns:p14="http://schemas.microsoft.com/office/powerpoint/2010/main" val="693880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All of these characteristics required a robust documentation system,</a:t>
            </a:r>
            <a:r>
              <a:rPr lang="en-US" baseline="0" dirty="0" smtClean="0"/>
              <a:t> one we found in DDI and one that </a:t>
            </a:r>
            <a:r>
              <a:rPr lang="en-US" baseline="0" dirty="0" err="1" smtClean="0"/>
              <a:t>Colectica</a:t>
            </a:r>
            <a:r>
              <a:rPr lang="en-US" baseline="0" dirty="0" smtClean="0"/>
              <a:t> helped us create and organize [CLICK ON LINK]</a:t>
            </a:r>
          </a:p>
          <a:p>
            <a:r>
              <a:rPr lang="en-US" baseline="0" dirty="0" smtClean="0"/>
              <a:t>Result of our current efforts is a </a:t>
            </a:r>
            <a:r>
              <a:rPr lang="en-US" dirty="0" err="1" smtClean="0"/>
              <a:t>Colecitca</a:t>
            </a:r>
            <a:r>
              <a:rPr lang="en-US" dirty="0" smtClean="0"/>
              <a:t>-supported</a:t>
            </a:r>
            <a:r>
              <a:rPr lang="en-US" baseline="0" dirty="0" smtClean="0"/>
              <a:t> </a:t>
            </a:r>
            <a:r>
              <a:rPr lang="en-US" i="1" baseline="0" dirty="0" smtClean="0"/>
              <a:t>metadata</a:t>
            </a:r>
            <a:r>
              <a:rPr lang="en-US" baseline="0" dirty="0" smtClean="0"/>
              <a:t> repository using DDI 3.1.</a:t>
            </a:r>
          </a:p>
          <a:p>
            <a:r>
              <a:rPr lang="en-US" baseline="0" dirty="0" smtClean="0"/>
              <a:t>All e-codebooks in 3.1</a:t>
            </a:r>
          </a:p>
          <a:p>
            <a:pPr marL="171450" indent="-171450">
              <a:buFont typeface="Arial" panose="020B0604020202020204" pitchFamily="34" charset="0"/>
              <a:buChar char="•"/>
            </a:pPr>
            <a:r>
              <a:rPr lang="en-US" baseline="0" dirty="0" smtClean="0"/>
              <a:t>Same place</a:t>
            </a:r>
          </a:p>
          <a:p>
            <a:pPr marL="171450" indent="-171450">
              <a:buFont typeface="Arial" panose="020B0604020202020204" pitchFamily="34" charset="0"/>
              <a:buChar char="•"/>
            </a:pPr>
            <a:r>
              <a:rPr lang="en-US" baseline="0" dirty="0" smtClean="0"/>
              <a:t>Searchable</a:t>
            </a: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C51A10D5-C430-4578-A455-0332AFA0824E}" type="slidenum">
              <a:rPr lang="en-US" smtClean="0"/>
              <a:pPr eaLnBrk="1" hangingPunct="1"/>
              <a:t>16</a:t>
            </a:fld>
            <a:endParaRPr lang="en-US" smtClean="0"/>
          </a:p>
        </p:txBody>
      </p:sp>
    </p:spTree>
    <p:extLst>
      <p:ext uri="{BB962C8B-B14F-4D97-AF65-F5344CB8AC3E}">
        <p14:creationId xmlns:p14="http://schemas.microsoft.com/office/powerpoint/2010/main" val="40369586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was</a:t>
            </a:r>
            <a:r>
              <a:rPr lang="en-US" baseline="0" dirty="0" smtClean="0"/>
              <a:t> recently awarded a grant to improve the repository and accomplish t</a:t>
            </a:r>
            <a:r>
              <a:rPr lang="en-US" dirty="0" smtClean="0"/>
              <a:t>wo primary goals to that end.</a:t>
            </a:r>
          </a:p>
          <a:p>
            <a:r>
              <a:rPr lang="en-US" dirty="0" smtClean="0"/>
              <a:t>BTW, the</a:t>
            </a:r>
            <a:r>
              <a:rPr lang="en-US" baseline="0" dirty="0" smtClean="0"/>
              <a:t> audience that I am addressing with these efforts is a researcher one, not a librarian, nor a data manager, nor a programmer.  </a:t>
            </a:r>
          </a:p>
          <a:p>
            <a:r>
              <a:rPr lang="en-US" baseline="0" dirty="0" smtClean="0"/>
              <a:t>I use DDI to help researchers use MIDUS data.</a:t>
            </a:r>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17</a:t>
            </a:fld>
            <a:endParaRPr lang="en-US"/>
          </a:p>
        </p:txBody>
      </p:sp>
    </p:spTree>
    <p:extLst>
      <p:ext uri="{BB962C8B-B14F-4D97-AF65-F5344CB8AC3E}">
        <p14:creationId xmlns:p14="http://schemas.microsoft.com/office/powerpoint/2010/main" val="693880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Harmonization</a:t>
            </a:r>
            <a:r>
              <a:rPr lang="en-US" baseline="0" dirty="0" smtClean="0"/>
              <a:t> efforts will be largely informed by a </a:t>
            </a:r>
            <a:r>
              <a:rPr lang="en-US" dirty="0" smtClean="0"/>
              <a:t>Concordance</a:t>
            </a:r>
            <a:r>
              <a:rPr lang="en-US" baseline="0" dirty="0" smtClean="0"/>
              <a:t> table that has a record of each survey variable and it’s longitudinal and cross-cohort versions.</a:t>
            </a:r>
          </a:p>
          <a:p>
            <a:r>
              <a:rPr lang="en-US" baseline="0" dirty="0" smtClean="0"/>
              <a:t>Also includes notes and descriptions of how the variables differ.</a:t>
            </a:r>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18</a:t>
            </a:fld>
            <a:endParaRPr lang="en-US"/>
          </a:p>
        </p:txBody>
      </p:sp>
    </p:spTree>
    <p:extLst>
      <p:ext uri="{BB962C8B-B14F-4D97-AF65-F5344CB8AC3E}">
        <p14:creationId xmlns:p14="http://schemas.microsoft.com/office/powerpoint/2010/main" val="37374267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a:t>
            </a:r>
            <a:r>
              <a:rPr lang="en-US" baseline="0" dirty="0" smtClean="0"/>
              <a:t> example.</a:t>
            </a:r>
          </a:p>
          <a:p>
            <a:endParaRPr lang="en-US" baseline="0" dirty="0" smtClean="0"/>
          </a:p>
          <a:p>
            <a:r>
              <a:rPr lang="en-US" baseline="0" dirty="0" smtClean="0"/>
              <a:t>Point will be to integrate this information in DDI codebooks.</a:t>
            </a:r>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19</a:t>
            </a:fld>
            <a:endParaRPr lang="en-US"/>
          </a:p>
        </p:txBody>
      </p:sp>
    </p:spTree>
    <p:extLst>
      <p:ext uri="{BB962C8B-B14F-4D97-AF65-F5344CB8AC3E}">
        <p14:creationId xmlns:p14="http://schemas.microsoft.com/office/powerpoint/2010/main" val="2548704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Ultimate</a:t>
            </a:r>
            <a:r>
              <a:rPr lang="en-US" baseline="0" dirty="0" smtClean="0"/>
              <a:t> deliverable/output from CDE: ability to create custom datasets across multiple waves, projects, cohorts. </a:t>
            </a:r>
          </a:p>
          <a:p>
            <a:r>
              <a:rPr lang="en-US" baseline="0" dirty="0" smtClean="0"/>
              <a:t>Again, my audience is Researchers – they love this capability! Finding and merging variables across multiple datasets can be very time-consuming and difficult. This function will result in a tighter relationship between data and metadata.</a:t>
            </a:r>
          </a:p>
          <a:p>
            <a:endParaRPr lang="en-US" baseline="0" dirty="0" smtClean="0"/>
          </a:p>
          <a:p>
            <a:r>
              <a:rPr lang="en-US" baseline="0" dirty="0" smtClean="0"/>
              <a:t>The DDI piece: Document the custom dataset (source data files, dates, programming syntax or code, harmonization information or algorithms, etc.) via DDI.</a:t>
            </a:r>
            <a:endParaRPr lang="en-US" dirty="0" smtClean="0"/>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20</a:t>
            </a:fld>
            <a:endParaRPr lang="en-US"/>
          </a:p>
        </p:txBody>
      </p:sp>
    </p:spTree>
    <p:extLst>
      <p:ext uri="{BB962C8B-B14F-4D97-AF65-F5344CB8AC3E}">
        <p14:creationId xmlns:p14="http://schemas.microsoft.com/office/powerpoint/2010/main" val="25487048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A4E3265-14E3-499D-A250-3990DD3FB2C1}" type="slidenum">
              <a:rPr lang="en-US" smtClean="0"/>
              <a:pPr/>
              <a:t>27</a:t>
            </a:fld>
            <a:endParaRPr lang="en-US"/>
          </a:p>
        </p:txBody>
      </p:sp>
    </p:spTree>
    <p:extLst>
      <p:ext uri="{BB962C8B-B14F-4D97-AF65-F5344CB8AC3E}">
        <p14:creationId xmlns:p14="http://schemas.microsoft.com/office/powerpoint/2010/main" val="3794949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12/3/2013</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12/3/2013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12/3/2013</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12/3/2013</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12/3/2013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12/3/2013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12/3/2013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12/3/2013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12/3/2013</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12/3/2013</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midus.colectica.org/"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hyperlink" Target="http://www.colectica.com/" TargetMode="External"/><Relationship Id="rId4" Type="http://schemas.openxmlformats.org/officeDocument/2006/relationships/hyperlink" Target="http://midus.wisc.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9250" y="2362200"/>
            <a:ext cx="6477000" cy="1447800"/>
          </a:xfrm>
        </p:spPr>
        <p:txBody>
          <a:bodyPr>
            <a:normAutofit fontScale="90000"/>
          </a:bodyPr>
          <a:lstStyle/>
          <a:p>
            <a:pPr algn="ctr"/>
            <a:r>
              <a:rPr lang="en-US" cap="none" dirty="0"/>
              <a:t>Building a Harmonized Data Market for Longitudinal Data with MIDUS and </a:t>
            </a:r>
            <a:r>
              <a:rPr lang="en-US" cap="none" dirty="0" smtClean="0"/>
              <a:t>DDI (3.2)</a:t>
            </a:r>
            <a:endParaRPr lang="en-US" cap="none" dirty="0"/>
          </a:p>
        </p:txBody>
      </p:sp>
      <p:sp>
        <p:nvSpPr>
          <p:cNvPr id="3" name="Subtitle 2"/>
          <p:cNvSpPr>
            <a:spLocks noGrp="1"/>
          </p:cNvSpPr>
          <p:nvPr>
            <p:ph type="subTitle" idx="1"/>
          </p:nvPr>
        </p:nvSpPr>
        <p:spPr/>
        <p:txBody>
          <a:bodyPr/>
          <a:lstStyle/>
          <a:p>
            <a:r>
              <a:rPr lang="en-US" dirty="0" smtClean="0"/>
              <a:t>European DDI Conference</a:t>
            </a:r>
            <a:endParaRPr lang="en-US" dirty="0"/>
          </a:p>
        </p:txBody>
      </p:sp>
      <p:pic>
        <p:nvPicPr>
          <p:cNvPr id="5" name="Picture 4" descr="C:\Users\jeremy\svn\admin\PR\Assets\colectica\custom\colectica-green-web.png"/>
          <p:cNvPicPr>
            <a:picLocks noChangeAspect="1" noChangeArrowheads="1"/>
          </p:cNvPicPr>
          <p:nvPr/>
        </p:nvPicPr>
        <p:blipFill>
          <a:blip r:embed="rId3" cstate="print"/>
          <a:srcRect/>
          <a:stretch>
            <a:fillRect/>
          </a:stretch>
        </p:blipFill>
        <p:spPr bwMode="auto">
          <a:xfrm>
            <a:off x="5181600" y="4400550"/>
            <a:ext cx="3211512" cy="762000"/>
          </a:xfrm>
          <a:prstGeom prst="rect">
            <a:avLst/>
          </a:prstGeom>
          <a:noFill/>
        </p:spPr>
      </p:pic>
      <p:pic>
        <p:nvPicPr>
          <p:cNvPr id="1026" name="Picture 2" descr="http://www.ddialliance.org/sites/default/files/ddi-log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24200" y="685800"/>
            <a:ext cx="1737905" cy="806388"/>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4191000"/>
            <a:ext cx="1895475"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37086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of Presentation</a:t>
            </a:r>
            <a:endParaRPr lang="en-US" dirty="0"/>
          </a:p>
        </p:txBody>
      </p:sp>
      <p:sp>
        <p:nvSpPr>
          <p:cNvPr id="3" name="Content Placeholder 2"/>
          <p:cNvSpPr>
            <a:spLocks noGrp="1"/>
          </p:cNvSpPr>
          <p:nvPr>
            <p:ph sz="quarter" idx="1"/>
          </p:nvPr>
        </p:nvSpPr>
        <p:spPr/>
        <p:txBody>
          <a:bodyPr/>
          <a:lstStyle/>
          <a:p>
            <a:r>
              <a:rPr lang="en-US" dirty="0" smtClean="0"/>
              <a:t>Background on MIDUS</a:t>
            </a:r>
          </a:p>
          <a:p>
            <a:pPr lvl="1"/>
            <a:r>
              <a:rPr lang="en-US" dirty="0" smtClean="0"/>
              <a:t>Importance of DDI for</a:t>
            </a:r>
          </a:p>
          <a:p>
            <a:pPr lvl="2"/>
            <a:r>
              <a:rPr lang="en-US" dirty="0" smtClean="0"/>
              <a:t>Harmonization</a:t>
            </a:r>
          </a:p>
          <a:p>
            <a:pPr lvl="2"/>
            <a:r>
              <a:rPr lang="en-US" dirty="0" smtClean="0"/>
              <a:t>Facilitating complex analysis</a:t>
            </a:r>
          </a:p>
          <a:p>
            <a:r>
              <a:rPr lang="en-US" dirty="0" smtClean="0"/>
              <a:t>Current Project’s Goals</a:t>
            </a:r>
          </a:p>
          <a:p>
            <a:r>
              <a:rPr lang="en-US" dirty="0" smtClean="0"/>
              <a:t>Implementation of Project Goals</a:t>
            </a:r>
          </a:p>
          <a:p>
            <a:pPr lvl="1"/>
            <a:r>
              <a:rPr lang="en-US" dirty="0" smtClean="0"/>
              <a:t>Creating MIDUS DDI 3.2 Instances</a:t>
            </a:r>
          </a:p>
          <a:p>
            <a:pPr lvl="1"/>
            <a:r>
              <a:rPr lang="en-US" dirty="0" smtClean="0"/>
              <a:t>Upgrading MIDUS-</a:t>
            </a:r>
            <a:r>
              <a:rPr lang="en-US" dirty="0" err="1" smtClean="0"/>
              <a:t>Colectica</a:t>
            </a:r>
            <a:r>
              <a:rPr lang="en-US" dirty="0" smtClean="0"/>
              <a:t> Repository/Portal</a:t>
            </a:r>
          </a:p>
          <a:p>
            <a:pPr lvl="1"/>
            <a:endParaRPr lang="en-US" dirty="0" smtClean="0"/>
          </a:p>
          <a:p>
            <a:pPr lvl="1"/>
            <a:endParaRPr lang="en-US" dirty="0"/>
          </a:p>
        </p:txBody>
      </p:sp>
    </p:spTree>
    <p:extLst>
      <p:ext uri="{BB962C8B-B14F-4D97-AF65-F5344CB8AC3E}">
        <p14:creationId xmlns:p14="http://schemas.microsoft.com/office/powerpoint/2010/main" val="25153766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MIDUS</a:t>
            </a:r>
            <a:endParaRPr lang="en-US" dirty="0"/>
          </a:p>
        </p:txBody>
      </p:sp>
      <p:pic>
        <p:nvPicPr>
          <p:cNvPr id="4" name="Picture 2" descr="MIDUS_Brochure_Cover"/>
          <p:cNvPicPr>
            <a:picLocks noChangeAspect="1" noChangeArrowheads="1"/>
          </p:cNvPicPr>
          <p:nvPr/>
        </p:nvPicPr>
        <p:blipFill>
          <a:blip r:embed="rId3" cstate="print"/>
          <a:srcRect b="38570"/>
          <a:stretch>
            <a:fillRect/>
          </a:stretch>
        </p:blipFill>
        <p:spPr bwMode="auto">
          <a:xfrm>
            <a:off x="0" y="1571624"/>
            <a:ext cx="6858000" cy="5286376"/>
          </a:xfrm>
          <a:prstGeom prst="rect">
            <a:avLst/>
          </a:prstGeom>
          <a:noFill/>
        </p:spPr>
      </p:pic>
      <p:sp>
        <p:nvSpPr>
          <p:cNvPr id="3" name="TextBox 2"/>
          <p:cNvSpPr txBox="1"/>
          <p:nvPr/>
        </p:nvSpPr>
        <p:spPr>
          <a:xfrm>
            <a:off x="6934200" y="1828800"/>
            <a:ext cx="2086597" cy="1754326"/>
          </a:xfrm>
          <a:prstGeom prst="rect">
            <a:avLst/>
          </a:prstGeom>
          <a:noFill/>
          <a:ln>
            <a:solidFill>
              <a:schemeClr val="tx1"/>
            </a:solidFill>
          </a:ln>
        </p:spPr>
        <p:txBody>
          <a:bodyPr wrap="none" rtlCol="0">
            <a:spAutoFit/>
          </a:bodyPr>
          <a:lstStyle/>
          <a:p>
            <a:r>
              <a:rPr lang="en-US" i="1" dirty="0" smtClean="0"/>
              <a:t>Baseline</a:t>
            </a:r>
            <a:r>
              <a:rPr lang="en-US" dirty="0" smtClean="0"/>
              <a:t>: 1995-96</a:t>
            </a:r>
          </a:p>
          <a:p>
            <a:pPr marL="285750" indent="-285750">
              <a:buFont typeface="Arial" pitchFamily="34" charset="0"/>
              <a:buChar char="•"/>
            </a:pPr>
            <a:r>
              <a:rPr lang="en-US" dirty="0" smtClean="0"/>
              <a:t>Harvard</a:t>
            </a:r>
          </a:p>
          <a:p>
            <a:pPr marL="285750" indent="-285750">
              <a:buFont typeface="Arial" pitchFamily="34" charset="0"/>
              <a:buChar char="•"/>
            </a:pPr>
            <a:r>
              <a:rPr lang="en-US" dirty="0" smtClean="0"/>
              <a:t>MacArthur Found.</a:t>
            </a:r>
          </a:p>
          <a:p>
            <a:pPr marL="285750" indent="-285750">
              <a:buFont typeface="Arial" pitchFamily="34" charset="0"/>
              <a:buChar char="•"/>
            </a:pPr>
            <a:r>
              <a:rPr lang="en-US" dirty="0" smtClean="0"/>
              <a:t>N=7,108</a:t>
            </a:r>
          </a:p>
          <a:p>
            <a:pPr marL="285750" indent="-285750">
              <a:buFont typeface="Arial" pitchFamily="34" charset="0"/>
              <a:buChar char="•"/>
            </a:pPr>
            <a:r>
              <a:rPr lang="en-US" dirty="0" smtClean="0"/>
              <a:t>Ages 25-74</a:t>
            </a:r>
          </a:p>
          <a:p>
            <a:pPr marL="285750" indent="-285750">
              <a:buFont typeface="Arial" pitchFamily="34" charset="0"/>
              <a:buChar char="•"/>
            </a:pPr>
            <a:r>
              <a:rPr lang="en-US" dirty="0" smtClean="0"/>
              <a:t>Twins/Siblings</a:t>
            </a:r>
          </a:p>
        </p:txBody>
      </p:sp>
    </p:spTree>
    <p:extLst>
      <p:ext uri="{BB962C8B-B14F-4D97-AF65-F5344CB8AC3E}">
        <p14:creationId xmlns:p14="http://schemas.microsoft.com/office/powerpoint/2010/main" val="3861853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MIDUS: Strengths and Complexities</a:t>
            </a:r>
          </a:p>
        </p:txBody>
      </p:sp>
      <p:sp>
        <p:nvSpPr>
          <p:cNvPr id="3" name="Content Placeholder 2"/>
          <p:cNvSpPr>
            <a:spLocks noGrp="1"/>
          </p:cNvSpPr>
          <p:nvPr>
            <p:ph sz="quarter" idx="1"/>
          </p:nvPr>
        </p:nvSpPr>
        <p:spPr/>
        <p:txBody>
          <a:bodyPr>
            <a:normAutofit/>
          </a:bodyPr>
          <a:lstStyle/>
          <a:p>
            <a:r>
              <a:rPr lang="en-US" b="1" dirty="0">
                <a:solidFill>
                  <a:schemeClr val="tx1">
                    <a:lumMod val="75000"/>
                  </a:schemeClr>
                </a:solidFill>
                <a:latin typeface="Helvetica" pitchFamily="34" charset="0"/>
              </a:rPr>
              <a:t>Multiple sample waves (longitudinal)</a:t>
            </a:r>
            <a:endParaRPr lang="en-US" dirty="0"/>
          </a:p>
          <a:p>
            <a:pPr lvl="1"/>
            <a:endParaRPr lang="en-US" dirty="0"/>
          </a:p>
        </p:txBody>
      </p:sp>
    </p:spTree>
    <p:extLst>
      <p:ext uri="{BB962C8B-B14F-4D97-AF65-F5344CB8AC3E}">
        <p14:creationId xmlns:p14="http://schemas.microsoft.com/office/powerpoint/2010/main" val="6616219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Group 53"/>
          <p:cNvGrpSpPr>
            <a:grpSpLocks/>
          </p:cNvGrpSpPr>
          <p:nvPr/>
        </p:nvGrpSpPr>
        <p:grpSpPr bwMode="auto">
          <a:xfrm>
            <a:off x="381000" y="152400"/>
            <a:ext cx="2438400" cy="1828800"/>
            <a:chOff x="54843" y="533400"/>
            <a:chExt cx="3121827" cy="1758260"/>
          </a:xfrm>
        </p:grpSpPr>
        <p:grpSp>
          <p:nvGrpSpPr>
            <p:cNvPr id="41006" name="Group 24"/>
            <p:cNvGrpSpPr>
              <a:grpSpLocks/>
            </p:cNvGrpSpPr>
            <p:nvPr/>
          </p:nvGrpSpPr>
          <p:grpSpPr bwMode="auto">
            <a:xfrm>
              <a:off x="54843" y="533400"/>
              <a:ext cx="3121827" cy="1758260"/>
              <a:chOff x="54843" y="533400"/>
              <a:chExt cx="3121827" cy="1758260"/>
            </a:xfrm>
          </p:grpSpPr>
          <p:sp>
            <p:nvSpPr>
              <p:cNvPr id="12" name="Rounded Rectangle 11"/>
              <p:cNvSpPr/>
              <p:nvPr/>
            </p:nvSpPr>
            <p:spPr>
              <a:xfrm>
                <a:off x="54843" y="533400"/>
                <a:ext cx="3121827" cy="1758260"/>
              </a:xfrm>
              <a:prstGeom prst="roundRect">
                <a:avLst/>
              </a:prstGeom>
              <a:ln/>
            </p:spPr>
            <p:style>
              <a:lnRef idx="2">
                <a:schemeClr val="dk1"/>
              </a:lnRef>
              <a:fillRef idx="1">
                <a:schemeClr val="lt1"/>
              </a:fillRef>
              <a:effectRef idx="0">
                <a:schemeClr val="dk1"/>
              </a:effectRef>
              <a:fontRef idx="minor">
                <a:schemeClr val="dk1"/>
              </a:fontRef>
            </p:style>
            <p:txBody>
              <a:bodyPr lIns="73736" tIns="36868" rIns="73736" bIns="36868" anchor="ctr"/>
              <a:lstStyle/>
              <a:p>
                <a:pPr algn="ctr">
                  <a:defRPr/>
                </a:pPr>
                <a:endParaRPr lang="en-US">
                  <a:cs typeface="Arial" pitchFamily="34" charset="0"/>
                </a:endParaRPr>
              </a:p>
            </p:txBody>
          </p:sp>
          <p:grpSp>
            <p:nvGrpSpPr>
              <p:cNvPr id="41011" name="Group 23"/>
              <p:cNvGrpSpPr>
                <a:grpSpLocks/>
              </p:cNvGrpSpPr>
              <p:nvPr/>
            </p:nvGrpSpPr>
            <p:grpSpPr bwMode="auto">
              <a:xfrm>
                <a:off x="203314" y="685801"/>
                <a:ext cx="2832790" cy="1459338"/>
                <a:chOff x="203314" y="685801"/>
                <a:chExt cx="2832790" cy="1459338"/>
              </a:xfrm>
            </p:grpSpPr>
            <p:sp>
              <p:nvSpPr>
                <p:cNvPr id="17" name="Freeform 1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40000"/>
                    <a:lumOff val="6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MIDUS 1</a:t>
                  </a:r>
                  <a:endParaRPr lang="en-US" sz="1100" b="1" dirty="0">
                    <a:solidFill>
                      <a:schemeClr val="tx1"/>
                    </a:solidFill>
                  </a:endParaRPr>
                </a:p>
                <a:p>
                  <a:pPr algn="ctr">
                    <a:defRPr/>
                  </a:pPr>
                  <a:r>
                    <a:rPr lang="en-US" sz="1100" b="1" dirty="0">
                      <a:solidFill>
                        <a:schemeClr val="tx1"/>
                      </a:solidFill>
                    </a:rPr>
                    <a:t>Sample</a:t>
                  </a:r>
                </a:p>
                <a:p>
                  <a:pPr algn="ctr">
                    <a:defRPr/>
                  </a:pPr>
                  <a:r>
                    <a:rPr lang="en-US" sz="1100" b="1" dirty="0">
                      <a:solidFill>
                        <a:schemeClr val="tx1"/>
                      </a:solidFill>
                    </a:rPr>
                    <a:t>(N=7,108)</a:t>
                  </a:r>
                </a:p>
              </p:txBody>
            </p:sp>
            <p:sp>
              <p:nvSpPr>
                <p:cNvPr id="18" name="Freeform 17"/>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19" name="Freeform 18"/>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20" name="Freeform 19"/>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40" name="Straight Arrow Connector 39"/>
            <p:cNvCxnSpPr/>
            <p:nvPr/>
          </p:nvCxnSpPr>
          <p:spPr>
            <a:xfrm rot="10800000" flipV="1">
              <a:off x="577181" y="1447635"/>
              <a:ext cx="534531" cy="3052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1416130" y="1600008"/>
              <a:ext cx="303728" cy="203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949077" y="1447635"/>
              <a:ext cx="382099" cy="2289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0964" name="TextBox 45"/>
          <p:cNvSpPr txBox="1">
            <a:spLocks noChangeArrowheads="1"/>
          </p:cNvSpPr>
          <p:nvPr/>
        </p:nvSpPr>
        <p:spPr bwMode="auto">
          <a:xfrm>
            <a:off x="457200" y="2971800"/>
            <a:ext cx="2286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600" b="1"/>
              <a:t>MIDUS Samples </a:t>
            </a:r>
          </a:p>
          <a:p>
            <a:pPr eaLnBrk="1" hangingPunct="1"/>
            <a:r>
              <a:rPr lang="en-US" sz="3600" b="1"/>
              <a:t>and Timelines</a:t>
            </a:r>
          </a:p>
        </p:txBody>
      </p:sp>
      <p:grpSp>
        <p:nvGrpSpPr>
          <p:cNvPr id="40971" name="Group 59"/>
          <p:cNvGrpSpPr>
            <a:grpSpLocks/>
          </p:cNvGrpSpPr>
          <p:nvPr/>
        </p:nvGrpSpPr>
        <p:grpSpPr bwMode="auto">
          <a:xfrm>
            <a:off x="152400" y="6172200"/>
            <a:ext cx="8839200" cy="685800"/>
            <a:chOff x="228600" y="3733800"/>
            <a:chExt cx="9372600" cy="685800"/>
          </a:xfrm>
        </p:grpSpPr>
        <p:sp>
          <p:nvSpPr>
            <p:cNvPr id="61" name="Right Arrow 60"/>
            <p:cNvSpPr/>
            <p:nvPr/>
          </p:nvSpPr>
          <p:spPr>
            <a:xfrm>
              <a:off x="6477000" y="3733800"/>
              <a:ext cx="3124200" cy="685800"/>
            </a:xfrm>
            <a:prstGeom prst="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2015</a:t>
              </a:r>
            </a:p>
          </p:txBody>
        </p:sp>
        <p:sp>
          <p:nvSpPr>
            <p:cNvPr id="63" name="TextBox 62"/>
            <p:cNvSpPr txBox="1"/>
            <p:nvPr/>
          </p:nvSpPr>
          <p:spPr>
            <a:xfrm>
              <a:off x="228600" y="3886200"/>
              <a:ext cx="3124200" cy="369888"/>
            </a:xfrm>
            <a:prstGeom prst="rect">
              <a:avLst/>
            </a:prstGeom>
            <a:solidFill>
              <a:schemeClr val="tx2">
                <a:lumMod val="60000"/>
                <a:lumOff val="40000"/>
              </a:schemeClr>
            </a:solidFill>
            <a:ln>
              <a:noFill/>
            </a:ln>
          </p:spPr>
          <p:txBody>
            <a:bodyPr>
              <a:spAutoFit/>
            </a:bodyPr>
            <a:lstStyle/>
            <a:p>
              <a:pPr algn="ctr">
                <a:defRPr/>
              </a:pPr>
              <a:r>
                <a:rPr lang="en-US" b="1" dirty="0"/>
                <a:t>1995</a:t>
              </a:r>
            </a:p>
          </p:txBody>
        </p:sp>
        <p:sp>
          <p:nvSpPr>
            <p:cNvPr id="65" name="TextBox 64"/>
            <p:cNvSpPr txBox="1"/>
            <p:nvPr/>
          </p:nvSpPr>
          <p:spPr>
            <a:xfrm>
              <a:off x="3352800" y="3886200"/>
              <a:ext cx="3124200" cy="369888"/>
            </a:xfrm>
            <a:prstGeom prst="rect">
              <a:avLst/>
            </a:prstGeom>
            <a:solidFill>
              <a:schemeClr val="tx2">
                <a:lumMod val="20000"/>
                <a:lumOff val="80000"/>
              </a:schemeClr>
            </a:solidFill>
            <a:ln w="25400">
              <a:noFill/>
            </a:ln>
          </p:spPr>
          <p:txBody>
            <a:bodyPr>
              <a:spAutoFit/>
            </a:bodyPr>
            <a:lstStyle/>
            <a:p>
              <a:pPr algn="ctr">
                <a:defRPr/>
              </a:pPr>
              <a:r>
                <a:rPr lang="en-US" b="1" dirty="0"/>
                <a:t>2005</a:t>
              </a:r>
            </a:p>
          </p:txBody>
        </p:sp>
      </p:grpSp>
    </p:spTree>
    <p:extLst>
      <p:ext uri="{BB962C8B-B14F-4D97-AF65-F5344CB8AC3E}">
        <p14:creationId xmlns:p14="http://schemas.microsoft.com/office/powerpoint/2010/main" val="11592606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Group 53"/>
          <p:cNvGrpSpPr>
            <a:grpSpLocks/>
          </p:cNvGrpSpPr>
          <p:nvPr/>
        </p:nvGrpSpPr>
        <p:grpSpPr bwMode="auto">
          <a:xfrm>
            <a:off x="381000" y="152400"/>
            <a:ext cx="2438400" cy="1828800"/>
            <a:chOff x="54843" y="533400"/>
            <a:chExt cx="3121827" cy="1758260"/>
          </a:xfrm>
        </p:grpSpPr>
        <p:grpSp>
          <p:nvGrpSpPr>
            <p:cNvPr id="41006" name="Group 24"/>
            <p:cNvGrpSpPr>
              <a:grpSpLocks/>
            </p:cNvGrpSpPr>
            <p:nvPr/>
          </p:nvGrpSpPr>
          <p:grpSpPr bwMode="auto">
            <a:xfrm>
              <a:off x="54843" y="533400"/>
              <a:ext cx="3121827" cy="1758260"/>
              <a:chOff x="54843" y="533400"/>
              <a:chExt cx="3121827" cy="1758260"/>
            </a:xfrm>
          </p:grpSpPr>
          <p:sp>
            <p:nvSpPr>
              <p:cNvPr id="12" name="Rounded Rectangle 11"/>
              <p:cNvSpPr/>
              <p:nvPr/>
            </p:nvSpPr>
            <p:spPr>
              <a:xfrm>
                <a:off x="54843" y="533400"/>
                <a:ext cx="3121827" cy="1758260"/>
              </a:xfrm>
              <a:prstGeom prst="roundRect">
                <a:avLst/>
              </a:prstGeom>
              <a:ln/>
            </p:spPr>
            <p:style>
              <a:lnRef idx="2">
                <a:schemeClr val="dk1"/>
              </a:lnRef>
              <a:fillRef idx="1">
                <a:schemeClr val="lt1"/>
              </a:fillRef>
              <a:effectRef idx="0">
                <a:schemeClr val="dk1"/>
              </a:effectRef>
              <a:fontRef idx="minor">
                <a:schemeClr val="dk1"/>
              </a:fontRef>
            </p:style>
            <p:txBody>
              <a:bodyPr lIns="73736" tIns="36868" rIns="73736" bIns="36868" anchor="ctr"/>
              <a:lstStyle/>
              <a:p>
                <a:pPr algn="ctr">
                  <a:defRPr/>
                </a:pPr>
                <a:endParaRPr lang="en-US">
                  <a:cs typeface="Arial" pitchFamily="34" charset="0"/>
                </a:endParaRPr>
              </a:p>
            </p:txBody>
          </p:sp>
          <p:grpSp>
            <p:nvGrpSpPr>
              <p:cNvPr id="41011" name="Group 23"/>
              <p:cNvGrpSpPr>
                <a:grpSpLocks/>
              </p:cNvGrpSpPr>
              <p:nvPr/>
            </p:nvGrpSpPr>
            <p:grpSpPr bwMode="auto">
              <a:xfrm>
                <a:off x="203314" y="685801"/>
                <a:ext cx="2832790" cy="1459338"/>
                <a:chOff x="203314" y="685801"/>
                <a:chExt cx="2832790" cy="1459338"/>
              </a:xfrm>
            </p:grpSpPr>
            <p:sp>
              <p:nvSpPr>
                <p:cNvPr id="17" name="Freeform 1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40000"/>
                    <a:lumOff val="6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MIDUS 1</a:t>
                  </a:r>
                  <a:endParaRPr lang="en-US" sz="1100" b="1" dirty="0">
                    <a:solidFill>
                      <a:schemeClr val="tx1"/>
                    </a:solidFill>
                  </a:endParaRPr>
                </a:p>
                <a:p>
                  <a:pPr algn="ctr">
                    <a:defRPr/>
                  </a:pPr>
                  <a:r>
                    <a:rPr lang="en-US" sz="1100" b="1" dirty="0">
                      <a:solidFill>
                        <a:schemeClr val="tx1"/>
                      </a:solidFill>
                    </a:rPr>
                    <a:t>Sample</a:t>
                  </a:r>
                </a:p>
                <a:p>
                  <a:pPr algn="ctr">
                    <a:defRPr/>
                  </a:pPr>
                  <a:r>
                    <a:rPr lang="en-US" sz="1100" b="1" dirty="0">
                      <a:solidFill>
                        <a:schemeClr val="tx1"/>
                      </a:solidFill>
                    </a:rPr>
                    <a:t>(N=7,108)</a:t>
                  </a:r>
                </a:p>
              </p:txBody>
            </p:sp>
            <p:sp>
              <p:nvSpPr>
                <p:cNvPr id="18" name="Freeform 17"/>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19" name="Freeform 18"/>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20" name="Freeform 19"/>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40" name="Straight Arrow Connector 39"/>
            <p:cNvCxnSpPr/>
            <p:nvPr/>
          </p:nvCxnSpPr>
          <p:spPr>
            <a:xfrm rot="10800000" flipV="1">
              <a:off x="577181" y="1447635"/>
              <a:ext cx="534531" cy="3052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1416130" y="1600008"/>
              <a:ext cx="303728" cy="203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949077" y="1447635"/>
              <a:ext cx="382099" cy="2289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0964" name="TextBox 45"/>
          <p:cNvSpPr txBox="1">
            <a:spLocks noChangeArrowheads="1"/>
          </p:cNvSpPr>
          <p:nvPr/>
        </p:nvSpPr>
        <p:spPr bwMode="auto">
          <a:xfrm>
            <a:off x="457200" y="2971800"/>
            <a:ext cx="2286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600" b="1"/>
              <a:t>MIDUS Samples </a:t>
            </a:r>
          </a:p>
          <a:p>
            <a:pPr eaLnBrk="1" hangingPunct="1"/>
            <a:r>
              <a:rPr lang="en-US" sz="3600" b="1"/>
              <a:t>and Timelines</a:t>
            </a:r>
          </a:p>
        </p:txBody>
      </p:sp>
      <p:grpSp>
        <p:nvGrpSpPr>
          <p:cNvPr id="3" name="Group 2"/>
          <p:cNvGrpSpPr/>
          <p:nvPr/>
        </p:nvGrpSpPr>
        <p:grpSpPr>
          <a:xfrm>
            <a:off x="3276600" y="152400"/>
            <a:ext cx="2438400" cy="2438400"/>
            <a:chOff x="3276600" y="152400"/>
            <a:chExt cx="2438400" cy="2438400"/>
          </a:xfrm>
        </p:grpSpPr>
        <p:grpSp>
          <p:nvGrpSpPr>
            <p:cNvPr id="40992" name="Group 24"/>
            <p:cNvGrpSpPr>
              <a:grpSpLocks/>
            </p:cNvGrpSpPr>
            <p:nvPr/>
          </p:nvGrpSpPr>
          <p:grpSpPr bwMode="auto">
            <a:xfrm>
              <a:off x="3276600" y="152400"/>
              <a:ext cx="2438400" cy="2438400"/>
              <a:chOff x="54843" y="533400"/>
              <a:chExt cx="3121827" cy="2479706"/>
            </a:xfrm>
          </p:grpSpPr>
          <p:sp>
            <p:nvSpPr>
              <p:cNvPr id="55" name="Rounded Rectangle 54"/>
              <p:cNvSpPr/>
              <p:nvPr/>
            </p:nvSpPr>
            <p:spPr>
              <a:xfrm>
                <a:off x="54843" y="533400"/>
                <a:ext cx="3121827" cy="247970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0997" name="Group 23"/>
              <p:cNvGrpSpPr>
                <a:grpSpLocks/>
              </p:cNvGrpSpPr>
              <p:nvPr/>
            </p:nvGrpSpPr>
            <p:grpSpPr bwMode="auto">
              <a:xfrm>
                <a:off x="203314" y="685801"/>
                <a:ext cx="2832790" cy="1459338"/>
                <a:chOff x="203314" y="685801"/>
                <a:chExt cx="2832790" cy="1459338"/>
              </a:xfrm>
            </p:grpSpPr>
            <p:sp>
              <p:nvSpPr>
                <p:cNvPr id="57" name="Freeform 5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20000"/>
                    <a:lumOff val="8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MIDUS </a:t>
                  </a:r>
                  <a:r>
                    <a:rPr lang="en-US" sz="1100" b="1" dirty="0" smtClean="0">
                      <a:solidFill>
                        <a:schemeClr val="tx1"/>
                      </a:solidFill>
                    </a:rPr>
                    <a:t>2</a:t>
                  </a:r>
                  <a:endParaRPr lang="en-US" sz="1100" b="1" dirty="0">
                    <a:solidFill>
                      <a:schemeClr val="tx1"/>
                    </a:solidFill>
                  </a:endParaRPr>
                </a:p>
              </p:txBody>
            </p:sp>
            <p:sp>
              <p:nvSpPr>
                <p:cNvPr id="59" name="Freeform 58"/>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62" name="Freeform 61"/>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64" name="Freeform 63"/>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52" name="Straight Arrow Connector 51"/>
            <p:cNvCxnSpPr/>
            <p:nvPr/>
          </p:nvCxnSpPr>
          <p:spPr bwMode="auto">
            <a:xfrm rot="10800000" flipV="1">
              <a:off x="3684588" y="1103313"/>
              <a:ext cx="417512" cy="3175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bwMode="auto">
            <a:xfrm rot="5400000">
              <a:off x="4300537" y="1262063"/>
              <a:ext cx="315913"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auto">
            <a:xfrm>
              <a:off x="4756150" y="1103313"/>
              <a:ext cx="298450" cy="2381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40971" name="Group 59"/>
          <p:cNvGrpSpPr>
            <a:grpSpLocks/>
          </p:cNvGrpSpPr>
          <p:nvPr/>
        </p:nvGrpSpPr>
        <p:grpSpPr bwMode="auto">
          <a:xfrm>
            <a:off x="152400" y="6172200"/>
            <a:ext cx="8839200" cy="685800"/>
            <a:chOff x="228600" y="3733800"/>
            <a:chExt cx="9372600" cy="685800"/>
          </a:xfrm>
        </p:grpSpPr>
        <p:sp>
          <p:nvSpPr>
            <p:cNvPr id="61" name="Right Arrow 60"/>
            <p:cNvSpPr/>
            <p:nvPr/>
          </p:nvSpPr>
          <p:spPr>
            <a:xfrm>
              <a:off x="6477000" y="3733800"/>
              <a:ext cx="3124200" cy="685800"/>
            </a:xfrm>
            <a:prstGeom prst="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2015</a:t>
              </a:r>
            </a:p>
          </p:txBody>
        </p:sp>
        <p:sp>
          <p:nvSpPr>
            <p:cNvPr id="63" name="TextBox 62"/>
            <p:cNvSpPr txBox="1"/>
            <p:nvPr/>
          </p:nvSpPr>
          <p:spPr>
            <a:xfrm>
              <a:off x="228600" y="3886200"/>
              <a:ext cx="3124200" cy="369888"/>
            </a:xfrm>
            <a:prstGeom prst="rect">
              <a:avLst/>
            </a:prstGeom>
            <a:solidFill>
              <a:schemeClr val="tx2">
                <a:lumMod val="60000"/>
                <a:lumOff val="40000"/>
              </a:schemeClr>
            </a:solidFill>
            <a:ln>
              <a:noFill/>
            </a:ln>
          </p:spPr>
          <p:txBody>
            <a:bodyPr>
              <a:spAutoFit/>
            </a:bodyPr>
            <a:lstStyle/>
            <a:p>
              <a:pPr algn="ctr">
                <a:defRPr/>
              </a:pPr>
              <a:r>
                <a:rPr lang="en-US" b="1" dirty="0"/>
                <a:t>1995</a:t>
              </a:r>
            </a:p>
          </p:txBody>
        </p:sp>
        <p:sp>
          <p:nvSpPr>
            <p:cNvPr id="65" name="TextBox 64"/>
            <p:cNvSpPr txBox="1"/>
            <p:nvPr/>
          </p:nvSpPr>
          <p:spPr>
            <a:xfrm>
              <a:off x="3352800" y="3886200"/>
              <a:ext cx="3124200" cy="369888"/>
            </a:xfrm>
            <a:prstGeom prst="rect">
              <a:avLst/>
            </a:prstGeom>
            <a:solidFill>
              <a:schemeClr val="tx2">
                <a:lumMod val="20000"/>
                <a:lumOff val="80000"/>
              </a:schemeClr>
            </a:solidFill>
            <a:ln w="25400">
              <a:noFill/>
            </a:ln>
          </p:spPr>
          <p:txBody>
            <a:bodyPr>
              <a:spAutoFit/>
            </a:bodyPr>
            <a:lstStyle/>
            <a:p>
              <a:pPr algn="ctr">
                <a:defRPr/>
              </a:pPr>
              <a:r>
                <a:rPr lang="en-US" b="1" dirty="0"/>
                <a:t>2005</a:t>
              </a:r>
            </a:p>
          </p:txBody>
        </p:sp>
      </p:grpSp>
      <p:cxnSp>
        <p:nvCxnSpPr>
          <p:cNvPr id="73" name="Straight Arrow Connector 72"/>
          <p:cNvCxnSpPr/>
          <p:nvPr/>
        </p:nvCxnSpPr>
        <p:spPr>
          <a:xfrm>
            <a:off x="2895600" y="1141413"/>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61676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MIDUS: Strengths and Complexities</a:t>
            </a:r>
          </a:p>
        </p:txBody>
      </p:sp>
      <p:sp>
        <p:nvSpPr>
          <p:cNvPr id="3" name="Content Placeholder 2"/>
          <p:cNvSpPr>
            <a:spLocks noGrp="1"/>
          </p:cNvSpPr>
          <p:nvPr>
            <p:ph sz="quarter" idx="1"/>
          </p:nvPr>
        </p:nvSpPr>
        <p:spPr/>
        <p:txBody>
          <a:bodyPr>
            <a:normAutofit/>
          </a:bodyPr>
          <a:lstStyle/>
          <a:p>
            <a:r>
              <a:rPr lang="en-US" b="1" dirty="0">
                <a:solidFill>
                  <a:schemeClr val="tx1">
                    <a:lumMod val="75000"/>
                  </a:schemeClr>
                </a:solidFill>
                <a:latin typeface="Helvetica" pitchFamily="34" charset="0"/>
              </a:rPr>
              <a:t>Multiple sample waves (longitudinal)</a:t>
            </a:r>
            <a:endParaRPr lang="en-US" dirty="0"/>
          </a:p>
          <a:p>
            <a:r>
              <a:rPr lang="en-US" b="1" dirty="0" smtClean="0">
                <a:solidFill>
                  <a:schemeClr val="tx1">
                    <a:lumMod val="75000"/>
                  </a:schemeClr>
                </a:solidFill>
                <a:latin typeface="Helvetica" pitchFamily="34" charset="0"/>
              </a:rPr>
              <a:t>Multiple </a:t>
            </a:r>
            <a:r>
              <a:rPr lang="en-US" b="1" dirty="0">
                <a:solidFill>
                  <a:schemeClr val="tx1">
                    <a:lumMod val="75000"/>
                  </a:schemeClr>
                </a:solidFill>
                <a:latin typeface="Helvetica" pitchFamily="34" charset="0"/>
              </a:rPr>
              <a:t>cohorts </a:t>
            </a:r>
          </a:p>
          <a:p>
            <a:pPr lvl="1"/>
            <a:endParaRPr lang="en-US" dirty="0"/>
          </a:p>
        </p:txBody>
      </p:sp>
    </p:spTree>
    <p:extLst>
      <p:ext uri="{BB962C8B-B14F-4D97-AF65-F5344CB8AC3E}">
        <p14:creationId xmlns:p14="http://schemas.microsoft.com/office/powerpoint/2010/main" val="12094337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Group 53"/>
          <p:cNvGrpSpPr>
            <a:grpSpLocks/>
          </p:cNvGrpSpPr>
          <p:nvPr/>
        </p:nvGrpSpPr>
        <p:grpSpPr bwMode="auto">
          <a:xfrm>
            <a:off x="381000" y="152400"/>
            <a:ext cx="2438400" cy="1828800"/>
            <a:chOff x="54843" y="533400"/>
            <a:chExt cx="3121827" cy="1758260"/>
          </a:xfrm>
        </p:grpSpPr>
        <p:grpSp>
          <p:nvGrpSpPr>
            <p:cNvPr id="41006" name="Group 24"/>
            <p:cNvGrpSpPr>
              <a:grpSpLocks/>
            </p:cNvGrpSpPr>
            <p:nvPr/>
          </p:nvGrpSpPr>
          <p:grpSpPr bwMode="auto">
            <a:xfrm>
              <a:off x="54843" y="533400"/>
              <a:ext cx="3121827" cy="1758260"/>
              <a:chOff x="54843" y="533400"/>
              <a:chExt cx="3121827" cy="1758260"/>
            </a:xfrm>
          </p:grpSpPr>
          <p:sp>
            <p:nvSpPr>
              <p:cNvPr id="12" name="Rounded Rectangle 11"/>
              <p:cNvSpPr/>
              <p:nvPr/>
            </p:nvSpPr>
            <p:spPr>
              <a:xfrm>
                <a:off x="54843" y="533400"/>
                <a:ext cx="3121827" cy="1758260"/>
              </a:xfrm>
              <a:prstGeom prst="roundRect">
                <a:avLst/>
              </a:prstGeom>
              <a:ln/>
            </p:spPr>
            <p:style>
              <a:lnRef idx="2">
                <a:schemeClr val="dk1"/>
              </a:lnRef>
              <a:fillRef idx="1">
                <a:schemeClr val="lt1"/>
              </a:fillRef>
              <a:effectRef idx="0">
                <a:schemeClr val="dk1"/>
              </a:effectRef>
              <a:fontRef idx="minor">
                <a:schemeClr val="dk1"/>
              </a:fontRef>
            </p:style>
            <p:txBody>
              <a:bodyPr lIns="73736" tIns="36868" rIns="73736" bIns="36868" anchor="ctr"/>
              <a:lstStyle/>
              <a:p>
                <a:pPr algn="ctr">
                  <a:defRPr/>
                </a:pPr>
                <a:endParaRPr lang="en-US">
                  <a:cs typeface="Arial" pitchFamily="34" charset="0"/>
                </a:endParaRPr>
              </a:p>
            </p:txBody>
          </p:sp>
          <p:grpSp>
            <p:nvGrpSpPr>
              <p:cNvPr id="41011" name="Group 23"/>
              <p:cNvGrpSpPr>
                <a:grpSpLocks/>
              </p:cNvGrpSpPr>
              <p:nvPr/>
            </p:nvGrpSpPr>
            <p:grpSpPr bwMode="auto">
              <a:xfrm>
                <a:off x="203314" y="685801"/>
                <a:ext cx="2832790" cy="1459338"/>
                <a:chOff x="203314" y="685801"/>
                <a:chExt cx="2832790" cy="1459338"/>
              </a:xfrm>
            </p:grpSpPr>
            <p:sp>
              <p:nvSpPr>
                <p:cNvPr id="17" name="Freeform 1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40000"/>
                    <a:lumOff val="6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MIDUS 1</a:t>
                  </a:r>
                  <a:endParaRPr lang="en-US" sz="1100" b="1" dirty="0">
                    <a:solidFill>
                      <a:schemeClr val="tx1"/>
                    </a:solidFill>
                  </a:endParaRPr>
                </a:p>
                <a:p>
                  <a:pPr algn="ctr">
                    <a:defRPr/>
                  </a:pPr>
                  <a:r>
                    <a:rPr lang="en-US" sz="1100" b="1" dirty="0">
                      <a:solidFill>
                        <a:schemeClr val="tx1"/>
                      </a:solidFill>
                    </a:rPr>
                    <a:t>Sample</a:t>
                  </a:r>
                </a:p>
                <a:p>
                  <a:pPr algn="ctr">
                    <a:defRPr/>
                  </a:pPr>
                  <a:r>
                    <a:rPr lang="en-US" sz="1100" b="1" dirty="0">
                      <a:solidFill>
                        <a:schemeClr val="tx1"/>
                      </a:solidFill>
                    </a:rPr>
                    <a:t>(N=7,108)</a:t>
                  </a:r>
                </a:p>
              </p:txBody>
            </p:sp>
            <p:sp>
              <p:nvSpPr>
                <p:cNvPr id="18" name="Freeform 17"/>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19" name="Freeform 18"/>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20" name="Freeform 19"/>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40" name="Straight Arrow Connector 39"/>
            <p:cNvCxnSpPr/>
            <p:nvPr/>
          </p:nvCxnSpPr>
          <p:spPr>
            <a:xfrm rot="10800000" flipV="1">
              <a:off x="577181" y="1447635"/>
              <a:ext cx="534531" cy="3052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1416130" y="1600008"/>
              <a:ext cx="303728" cy="203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949077" y="1447635"/>
              <a:ext cx="382099" cy="2289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0964" name="TextBox 45"/>
          <p:cNvSpPr txBox="1">
            <a:spLocks noChangeArrowheads="1"/>
          </p:cNvSpPr>
          <p:nvPr/>
        </p:nvSpPr>
        <p:spPr bwMode="auto">
          <a:xfrm>
            <a:off x="457200" y="2971800"/>
            <a:ext cx="2286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600" b="1"/>
              <a:t>MIDUS Samples </a:t>
            </a:r>
          </a:p>
          <a:p>
            <a:pPr eaLnBrk="1" hangingPunct="1"/>
            <a:r>
              <a:rPr lang="en-US" sz="3600" b="1"/>
              <a:t>and Timelines</a:t>
            </a:r>
          </a:p>
        </p:txBody>
      </p:sp>
      <p:grpSp>
        <p:nvGrpSpPr>
          <p:cNvPr id="40992" name="Group 24"/>
          <p:cNvGrpSpPr>
            <a:grpSpLocks/>
          </p:cNvGrpSpPr>
          <p:nvPr/>
        </p:nvGrpSpPr>
        <p:grpSpPr bwMode="auto">
          <a:xfrm>
            <a:off x="3276600" y="152400"/>
            <a:ext cx="2438400" cy="2438400"/>
            <a:chOff x="54843" y="533400"/>
            <a:chExt cx="3121827" cy="2479706"/>
          </a:xfrm>
        </p:grpSpPr>
        <p:sp>
          <p:nvSpPr>
            <p:cNvPr id="55" name="Rounded Rectangle 54"/>
            <p:cNvSpPr/>
            <p:nvPr/>
          </p:nvSpPr>
          <p:spPr>
            <a:xfrm>
              <a:off x="54843" y="533400"/>
              <a:ext cx="3121827" cy="247970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0997" name="Group 23"/>
            <p:cNvGrpSpPr>
              <a:grpSpLocks/>
            </p:cNvGrpSpPr>
            <p:nvPr/>
          </p:nvGrpSpPr>
          <p:grpSpPr bwMode="auto">
            <a:xfrm>
              <a:off x="203314" y="685801"/>
              <a:ext cx="2832790" cy="1459338"/>
              <a:chOff x="203314" y="685801"/>
              <a:chExt cx="2832790" cy="1459338"/>
            </a:xfrm>
          </p:grpSpPr>
          <p:sp>
            <p:nvSpPr>
              <p:cNvPr id="57" name="Freeform 5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20000"/>
                  <a:lumOff val="8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MIDUS </a:t>
                </a:r>
                <a:r>
                  <a:rPr lang="en-US" sz="1100" b="1" dirty="0" smtClean="0">
                    <a:solidFill>
                      <a:schemeClr val="tx1"/>
                    </a:solidFill>
                  </a:rPr>
                  <a:t>2</a:t>
                </a:r>
                <a:endParaRPr lang="en-US" sz="1100" b="1" dirty="0">
                  <a:solidFill>
                    <a:schemeClr val="tx1"/>
                  </a:solidFill>
                </a:endParaRPr>
              </a:p>
            </p:txBody>
          </p:sp>
          <p:sp>
            <p:nvSpPr>
              <p:cNvPr id="59" name="Freeform 58"/>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62" name="Freeform 61"/>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64" name="Freeform 63"/>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52" name="Straight Arrow Connector 51"/>
          <p:cNvCxnSpPr/>
          <p:nvPr/>
        </p:nvCxnSpPr>
        <p:spPr bwMode="auto">
          <a:xfrm rot="10800000" flipV="1">
            <a:off x="3684588" y="1103313"/>
            <a:ext cx="417512" cy="3175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bwMode="auto">
          <a:xfrm rot="5400000">
            <a:off x="4300537" y="1262063"/>
            <a:ext cx="315913"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auto">
          <a:xfrm>
            <a:off x="4756150" y="1103313"/>
            <a:ext cx="298450" cy="2381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0971" name="Group 59"/>
          <p:cNvGrpSpPr>
            <a:grpSpLocks/>
          </p:cNvGrpSpPr>
          <p:nvPr/>
        </p:nvGrpSpPr>
        <p:grpSpPr bwMode="auto">
          <a:xfrm>
            <a:off x="152400" y="6172200"/>
            <a:ext cx="8839200" cy="685800"/>
            <a:chOff x="228600" y="3733800"/>
            <a:chExt cx="9372600" cy="685800"/>
          </a:xfrm>
        </p:grpSpPr>
        <p:sp>
          <p:nvSpPr>
            <p:cNvPr id="61" name="Right Arrow 60"/>
            <p:cNvSpPr/>
            <p:nvPr/>
          </p:nvSpPr>
          <p:spPr>
            <a:xfrm>
              <a:off x="6477000" y="3733800"/>
              <a:ext cx="3124200" cy="685800"/>
            </a:xfrm>
            <a:prstGeom prst="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2015</a:t>
              </a:r>
            </a:p>
          </p:txBody>
        </p:sp>
        <p:sp>
          <p:nvSpPr>
            <p:cNvPr id="63" name="TextBox 62"/>
            <p:cNvSpPr txBox="1"/>
            <p:nvPr/>
          </p:nvSpPr>
          <p:spPr>
            <a:xfrm>
              <a:off x="228600" y="3886200"/>
              <a:ext cx="3124200" cy="369888"/>
            </a:xfrm>
            <a:prstGeom prst="rect">
              <a:avLst/>
            </a:prstGeom>
            <a:solidFill>
              <a:schemeClr val="tx2">
                <a:lumMod val="60000"/>
                <a:lumOff val="40000"/>
              </a:schemeClr>
            </a:solidFill>
            <a:ln>
              <a:noFill/>
            </a:ln>
          </p:spPr>
          <p:txBody>
            <a:bodyPr>
              <a:spAutoFit/>
            </a:bodyPr>
            <a:lstStyle/>
            <a:p>
              <a:pPr algn="ctr">
                <a:defRPr/>
              </a:pPr>
              <a:r>
                <a:rPr lang="en-US" b="1" dirty="0"/>
                <a:t>1995</a:t>
              </a:r>
            </a:p>
          </p:txBody>
        </p:sp>
        <p:sp>
          <p:nvSpPr>
            <p:cNvPr id="65" name="TextBox 64"/>
            <p:cNvSpPr txBox="1"/>
            <p:nvPr/>
          </p:nvSpPr>
          <p:spPr>
            <a:xfrm>
              <a:off x="3352800" y="3886200"/>
              <a:ext cx="3124200" cy="369888"/>
            </a:xfrm>
            <a:prstGeom prst="rect">
              <a:avLst/>
            </a:prstGeom>
            <a:solidFill>
              <a:schemeClr val="tx2">
                <a:lumMod val="20000"/>
                <a:lumOff val="80000"/>
              </a:schemeClr>
            </a:solidFill>
            <a:ln w="25400">
              <a:noFill/>
            </a:ln>
          </p:spPr>
          <p:txBody>
            <a:bodyPr>
              <a:spAutoFit/>
            </a:bodyPr>
            <a:lstStyle/>
            <a:p>
              <a:pPr algn="ctr">
                <a:defRPr/>
              </a:pPr>
              <a:r>
                <a:rPr lang="en-US" b="1" dirty="0"/>
                <a:t>2005</a:t>
              </a:r>
            </a:p>
          </p:txBody>
        </p:sp>
      </p:grpSp>
      <p:cxnSp>
        <p:nvCxnSpPr>
          <p:cNvPr id="73" name="Straight Arrow Connector 72"/>
          <p:cNvCxnSpPr/>
          <p:nvPr/>
        </p:nvCxnSpPr>
        <p:spPr>
          <a:xfrm>
            <a:off x="2895600" y="1141413"/>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3511550" y="1981200"/>
            <a:ext cx="1441450" cy="533400"/>
            <a:chOff x="3505200" y="1981200"/>
            <a:chExt cx="1441450" cy="533400"/>
          </a:xfrm>
        </p:grpSpPr>
        <p:sp>
          <p:nvSpPr>
            <p:cNvPr id="66" name="_s1036"/>
            <p:cNvSpPr>
              <a:spLocks noChangeArrowheads="1"/>
            </p:cNvSpPr>
            <p:nvPr/>
          </p:nvSpPr>
          <p:spPr bwMode="auto">
            <a:xfrm>
              <a:off x="4067172" y="1981200"/>
              <a:ext cx="879478" cy="533400"/>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a:latin typeface="Arial" pitchFamily="34" charset="0"/>
                  <a:cs typeface="Arial" pitchFamily="34" charset="0"/>
                </a:rPr>
                <a:t>Milwaukee </a:t>
              </a:r>
            </a:p>
            <a:p>
              <a:pPr algn="ctr">
                <a:defRPr/>
              </a:pPr>
              <a:r>
                <a:rPr lang="en-US" sz="1100" b="1" dirty="0" smtClean="0">
                  <a:latin typeface="Arial" pitchFamily="34" charset="0"/>
                  <a:cs typeface="Arial" pitchFamily="34" charset="0"/>
                </a:rPr>
                <a:t>(</a:t>
              </a:r>
              <a:r>
                <a:rPr lang="en-US" sz="1100" b="1" dirty="0">
                  <a:latin typeface="Arial" pitchFamily="34" charset="0"/>
                  <a:cs typeface="Arial" pitchFamily="34" charset="0"/>
                </a:rPr>
                <a:t>N=592)</a:t>
              </a:r>
            </a:p>
          </p:txBody>
        </p:sp>
        <p:sp>
          <p:nvSpPr>
            <p:cNvPr id="2" name="TextBox 1"/>
            <p:cNvSpPr txBox="1"/>
            <p:nvPr/>
          </p:nvSpPr>
          <p:spPr>
            <a:xfrm>
              <a:off x="3505200" y="2130623"/>
              <a:ext cx="553357" cy="307777"/>
            </a:xfrm>
            <a:prstGeom prst="rect">
              <a:avLst/>
            </a:prstGeom>
            <a:noFill/>
          </p:spPr>
          <p:txBody>
            <a:bodyPr wrap="none" rtlCol="0">
              <a:spAutoFit/>
            </a:bodyPr>
            <a:lstStyle/>
            <a:p>
              <a:r>
                <a:rPr lang="en-US" sz="1400" b="1" dirty="0" smtClean="0">
                  <a:latin typeface="Arial" pitchFamily="34" charset="0"/>
                  <a:cs typeface="Arial" pitchFamily="34" charset="0"/>
                </a:rPr>
                <a:t>New</a:t>
              </a:r>
              <a:endParaRPr lang="en-US" sz="1400" b="1" dirty="0">
                <a:latin typeface="Arial" pitchFamily="34" charset="0"/>
                <a:cs typeface="Arial" pitchFamily="34" charset="0"/>
              </a:endParaRPr>
            </a:p>
          </p:txBody>
        </p:sp>
      </p:grpSp>
      <p:cxnSp>
        <p:nvCxnSpPr>
          <p:cNvPr id="4" name="Elbow Connector 3"/>
          <p:cNvCxnSpPr/>
          <p:nvPr/>
        </p:nvCxnSpPr>
        <p:spPr>
          <a:xfrm rot="5400000">
            <a:off x="3798491" y="1383109"/>
            <a:ext cx="990600" cy="205582"/>
          </a:xfrm>
          <a:prstGeom prst="bentConnector3">
            <a:avLst>
              <a:gd name="adj1" fmla="val 29578"/>
            </a:avLst>
          </a:prstGeom>
        </p:spPr>
        <p:style>
          <a:lnRef idx="1">
            <a:schemeClr val="dk1"/>
          </a:lnRef>
          <a:fillRef idx="0">
            <a:schemeClr val="dk1"/>
          </a:fillRef>
          <a:effectRef idx="0">
            <a:schemeClr val="dk1"/>
          </a:effectRef>
          <a:fontRef idx="minor">
            <a:schemeClr val="tx1"/>
          </a:fontRef>
        </p:style>
      </p:cxnSp>
      <p:grpSp>
        <p:nvGrpSpPr>
          <p:cNvPr id="10" name="Group 9"/>
          <p:cNvGrpSpPr/>
          <p:nvPr/>
        </p:nvGrpSpPr>
        <p:grpSpPr>
          <a:xfrm>
            <a:off x="3806749" y="2819400"/>
            <a:ext cx="1908251" cy="914400"/>
            <a:chOff x="3375742" y="3048000"/>
            <a:chExt cx="1908251" cy="914400"/>
          </a:xfrm>
        </p:grpSpPr>
        <p:grpSp>
          <p:nvGrpSpPr>
            <p:cNvPr id="40976" name="Group 54"/>
            <p:cNvGrpSpPr>
              <a:grpSpLocks/>
            </p:cNvGrpSpPr>
            <p:nvPr/>
          </p:nvGrpSpPr>
          <p:grpSpPr bwMode="auto">
            <a:xfrm>
              <a:off x="3392488" y="3048000"/>
              <a:ext cx="1891505" cy="914400"/>
              <a:chOff x="3422730" y="2743199"/>
              <a:chExt cx="1835071" cy="943898"/>
            </a:xfrm>
          </p:grpSpPr>
          <p:sp>
            <p:nvSpPr>
              <p:cNvPr id="68" name="_s1036"/>
              <p:cNvSpPr>
                <a:spLocks noChangeArrowheads="1"/>
              </p:cNvSpPr>
              <p:nvPr/>
            </p:nvSpPr>
            <p:spPr bwMode="auto">
              <a:xfrm>
                <a:off x="3997992" y="2895601"/>
                <a:ext cx="1142672" cy="577952"/>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a:latin typeface="Arial" pitchFamily="34" charset="0"/>
                    <a:cs typeface="Arial" pitchFamily="34" charset="0"/>
                  </a:rPr>
                  <a:t>Midlife in Japan</a:t>
                </a:r>
              </a:p>
              <a:p>
                <a:pPr algn="ctr">
                  <a:defRPr/>
                </a:pPr>
                <a:r>
                  <a:rPr lang="en-US" sz="1100" b="1" dirty="0" smtClean="0">
                    <a:latin typeface="Arial" pitchFamily="34" charset="0"/>
                    <a:cs typeface="Arial" pitchFamily="34" charset="0"/>
                  </a:rPr>
                  <a:t>(</a:t>
                </a:r>
                <a:r>
                  <a:rPr lang="en-US" sz="1100" b="1" dirty="0">
                    <a:latin typeface="Arial" pitchFamily="34" charset="0"/>
                    <a:cs typeface="Arial" pitchFamily="34" charset="0"/>
                  </a:rPr>
                  <a:t>N=1,032)</a:t>
                </a:r>
              </a:p>
            </p:txBody>
          </p:sp>
          <p:sp>
            <p:nvSpPr>
              <p:cNvPr id="69" name="Rounded Rectangle 68"/>
              <p:cNvSpPr/>
              <p:nvPr/>
            </p:nvSpPr>
            <p:spPr>
              <a:xfrm>
                <a:off x="3422730" y="2743199"/>
                <a:ext cx="1835071" cy="9438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sp>
          <p:nvSpPr>
            <p:cNvPr id="74" name="TextBox 73"/>
            <p:cNvSpPr txBox="1"/>
            <p:nvPr/>
          </p:nvSpPr>
          <p:spPr>
            <a:xfrm>
              <a:off x="3375742" y="3276600"/>
              <a:ext cx="553357" cy="307777"/>
            </a:xfrm>
            <a:prstGeom prst="rect">
              <a:avLst/>
            </a:prstGeom>
            <a:noFill/>
          </p:spPr>
          <p:txBody>
            <a:bodyPr wrap="none" rtlCol="0">
              <a:spAutoFit/>
            </a:bodyPr>
            <a:lstStyle/>
            <a:p>
              <a:r>
                <a:rPr lang="en-US" sz="1400" b="1" dirty="0" smtClean="0">
                  <a:latin typeface="Arial" pitchFamily="34" charset="0"/>
                  <a:cs typeface="Arial" pitchFamily="34" charset="0"/>
                </a:rPr>
                <a:t>New</a:t>
              </a:r>
              <a:endParaRPr lang="en-US" sz="1400" b="1" dirty="0">
                <a:latin typeface="Arial" pitchFamily="34" charset="0"/>
                <a:cs typeface="Arial" pitchFamily="34" charset="0"/>
              </a:endParaRPr>
            </a:p>
          </p:txBody>
        </p:sp>
      </p:grpSp>
    </p:spTree>
    <p:extLst>
      <p:ext uri="{BB962C8B-B14F-4D97-AF65-F5344CB8AC3E}">
        <p14:creationId xmlns:p14="http://schemas.microsoft.com/office/powerpoint/2010/main" val="7561676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Group 53"/>
          <p:cNvGrpSpPr>
            <a:grpSpLocks/>
          </p:cNvGrpSpPr>
          <p:nvPr/>
        </p:nvGrpSpPr>
        <p:grpSpPr bwMode="auto">
          <a:xfrm>
            <a:off x="381000" y="152400"/>
            <a:ext cx="2438400" cy="1828800"/>
            <a:chOff x="54843" y="533400"/>
            <a:chExt cx="3121827" cy="1758260"/>
          </a:xfrm>
        </p:grpSpPr>
        <p:grpSp>
          <p:nvGrpSpPr>
            <p:cNvPr id="41006" name="Group 24"/>
            <p:cNvGrpSpPr>
              <a:grpSpLocks/>
            </p:cNvGrpSpPr>
            <p:nvPr/>
          </p:nvGrpSpPr>
          <p:grpSpPr bwMode="auto">
            <a:xfrm>
              <a:off x="54843" y="533400"/>
              <a:ext cx="3121827" cy="1758260"/>
              <a:chOff x="54843" y="533400"/>
              <a:chExt cx="3121827" cy="1758260"/>
            </a:xfrm>
          </p:grpSpPr>
          <p:sp>
            <p:nvSpPr>
              <p:cNvPr id="12" name="Rounded Rectangle 11"/>
              <p:cNvSpPr/>
              <p:nvPr/>
            </p:nvSpPr>
            <p:spPr>
              <a:xfrm>
                <a:off x="54843" y="533400"/>
                <a:ext cx="3121827" cy="1758260"/>
              </a:xfrm>
              <a:prstGeom prst="roundRect">
                <a:avLst/>
              </a:prstGeom>
              <a:ln/>
            </p:spPr>
            <p:style>
              <a:lnRef idx="2">
                <a:schemeClr val="dk1"/>
              </a:lnRef>
              <a:fillRef idx="1">
                <a:schemeClr val="lt1"/>
              </a:fillRef>
              <a:effectRef idx="0">
                <a:schemeClr val="dk1"/>
              </a:effectRef>
              <a:fontRef idx="minor">
                <a:schemeClr val="dk1"/>
              </a:fontRef>
            </p:style>
            <p:txBody>
              <a:bodyPr lIns="73736" tIns="36868" rIns="73736" bIns="36868" anchor="ctr"/>
              <a:lstStyle/>
              <a:p>
                <a:pPr algn="ctr">
                  <a:defRPr/>
                </a:pPr>
                <a:endParaRPr lang="en-US">
                  <a:cs typeface="Arial" pitchFamily="34" charset="0"/>
                </a:endParaRPr>
              </a:p>
            </p:txBody>
          </p:sp>
          <p:grpSp>
            <p:nvGrpSpPr>
              <p:cNvPr id="41011" name="Group 23"/>
              <p:cNvGrpSpPr>
                <a:grpSpLocks/>
              </p:cNvGrpSpPr>
              <p:nvPr/>
            </p:nvGrpSpPr>
            <p:grpSpPr bwMode="auto">
              <a:xfrm>
                <a:off x="203314" y="685801"/>
                <a:ext cx="2832790" cy="1459338"/>
                <a:chOff x="203314" y="685801"/>
                <a:chExt cx="2832790" cy="1459338"/>
              </a:xfrm>
            </p:grpSpPr>
            <p:sp>
              <p:nvSpPr>
                <p:cNvPr id="17" name="Freeform 1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40000"/>
                    <a:lumOff val="6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MIDUS 1</a:t>
                  </a:r>
                  <a:endParaRPr lang="en-US" sz="1100" b="1" dirty="0">
                    <a:solidFill>
                      <a:schemeClr val="tx1"/>
                    </a:solidFill>
                  </a:endParaRPr>
                </a:p>
                <a:p>
                  <a:pPr algn="ctr">
                    <a:defRPr/>
                  </a:pPr>
                  <a:r>
                    <a:rPr lang="en-US" sz="1100" b="1" dirty="0">
                      <a:solidFill>
                        <a:schemeClr val="tx1"/>
                      </a:solidFill>
                    </a:rPr>
                    <a:t>Sample</a:t>
                  </a:r>
                </a:p>
                <a:p>
                  <a:pPr algn="ctr">
                    <a:defRPr/>
                  </a:pPr>
                  <a:r>
                    <a:rPr lang="en-US" sz="1100" b="1" dirty="0">
                      <a:solidFill>
                        <a:schemeClr val="tx1"/>
                      </a:solidFill>
                    </a:rPr>
                    <a:t>(N=7,108)</a:t>
                  </a:r>
                </a:p>
              </p:txBody>
            </p:sp>
            <p:sp>
              <p:nvSpPr>
                <p:cNvPr id="18" name="Freeform 17"/>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19" name="Freeform 18"/>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20" name="Freeform 19"/>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40" name="Straight Arrow Connector 39"/>
            <p:cNvCxnSpPr/>
            <p:nvPr/>
          </p:nvCxnSpPr>
          <p:spPr>
            <a:xfrm rot="10800000" flipV="1">
              <a:off x="577181" y="1447635"/>
              <a:ext cx="534531" cy="3052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1416130" y="1600008"/>
              <a:ext cx="303728" cy="203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949077" y="1447635"/>
              <a:ext cx="382099" cy="2289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0964" name="TextBox 45"/>
          <p:cNvSpPr txBox="1">
            <a:spLocks noChangeArrowheads="1"/>
          </p:cNvSpPr>
          <p:nvPr/>
        </p:nvSpPr>
        <p:spPr bwMode="auto">
          <a:xfrm>
            <a:off x="457200" y="2971800"/>
            <a:ext cx="2286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600" b="1"/>
              <a:t>MIDUS Samples </a:t>
            </a:r>
          </a:p>
          <a:p>
            <a:pPr eaLnBrk="1" hangingPunct="1"/>
            <a:r>
              <a:rPr lang="en-US" sz="3600" b="1"/>
              <a:t>and Timelines</a:t>
            </a:r>
          </a:p>
        </p:txBody>
      </p:sp>
      <p:grpSp>
        <p:nvGrpSpPr>
          <p:cNvPr id="40992" name="Group 24"/>
          <p:cNvGrpSpPr>
            <a:grpSpLocks/>
          </p:cNvGrpSpPr>
          <p:nvPr/>
        </p:nvGrpSpPr>
        <p:grpSpPr bwMode="auto">
          <a:xfrm>
            <a:off x="3276600" y="152400"/>
            <a:ext cx="2438400" cy="2438400"/>
            <a:chOff x="54843" y="533400"/>
            <a:chExt cx="3121827" cy="2479706"/>
          </a:xfrm>
        </p:grpSpPr>
        <p:sp>
          <p:nvSpPr>
            <p:cNvPr id="55" name="Rounded Rectangle 54"/>
            <p:cNvSpPr/>
            <p:nvPr/>
          </p:nvSpPr>
          <p:spPr>
            <a:xfrm>
              <a:off x="54843" y="533400"/>
              <a:ext cx="3121827" cy="247970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0997" name="Group 23"/>
            <p:cNvGrpSpPr>
              <a:grpSpLocks/>
            </p:cNvGrpSpPr>
            <p:nvPr/>
          </p:nvGrpSpPr>
          <p:grpSpPr bwMode="auto">
            <a:xfrm>
              <a:off x="203314" y="685801"/>
              <a:ext cx="2832790" cy="1459338"/>
              <a:chOff x="203314" y="685801"/>
              <a:chExt cx="2832790" cy="1459338"/>
            </a:xfrm>
          </p:grpSpPr>
          <p:sp>
            <p:nvSpPr>
              <p:cNvPr id="57" name="Freeform 5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20000"/>
                  <a:lumOff val="8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MIDUS </a:t>
                </a:r>
                <a:r>
                  <a:rPr lang="en-US" sz="1100" b="1" dirty="0" smtClean="0">
                    <a:solidFill>
                      <a:schemeClr val="tx1"/>
                    </a:solidFill>
                  </a:rPr>
                  <a:t>2</a:t>
                </a:r>
                <a:endParaRPr lang="en-US" sz="1100" b="1" dirty="0">
                  <a:solidFill>
                    <a:schemeClr val="tx1"/>
                  </a:solidFill>
                </a:endParaRPr>
              </a:p>
            </p:txBody>
          </p:sp>
          <p:sp>
            <p:nvSpPr>
              <p:cNvPr id="59" name="Freeform 58"/>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62" name="Freeform 61"/>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64" name="Freeform 63"/>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52" name="Straight Arrow Connector 51"/>
          <p:cNvCxnSpPr/>
          <p:nvPr/>
        </p:nvCxnSpPr>
        <p:spPr bwMode="auto">
          <a:xfrm rot="10800000" flipV="1">
            <a:off x="3684588" y="1103313"/>
            <a:ext cx="417512" cy="3175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bwMode="auto">
          <a:xfrm rot="5400000">
            <a:off x="4300537" y="1262063"/>
            <a:ext cx="315913"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auto">
          <a:xfrm>
            <a:off x="4756150" y="1103313"/>
            <a:ext cx="298450" cy="2381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0969" name="Group 53"/>
          <p:cNvGrpSpPr>
            <a:grpSpLocks/>
          </p:cNvGrpSpPr>
          <p:nvPr/>
        </p:nvGrpSpPr>
        <p:grpSpPr bwMode="auto">
          <a:xfrm>
            <a:off x="6248400" y="152400"/>
            <a:ext cx="2438400" cy="1828800"/>
            <a:chOff x="54843" y="533400"/>
            <a:chExt cx="3121827" cy="1758260"/>
          </a:xfrm>
        </p:grpSpPr>
        <p:grpSp>
          <p:nvGrpSpPr>
            <p:cNvPr id="40982" name="Group 24"/>
            <p:cNvGrpSpPr>
              <a:grpSpLocks/>
            </p:cNvGrpSpPr>
            <p:nvPr/>
          </p:nvGrpSpPr>
          <p:grpSpPr bwMode="auto">
            <a:xfrm>
              <a:off x="54843" y="533400"/>
              <a:ext cx="3121827" cy="1758260"/>
              <a:chOff x="54843" y="533400"/>
              <a:chExt cx="3121827" cy="1758260"/>
            </a:xfrm>
          </p:grpSpPr>
          <p:sp>
            <p:nvSpPr>
              <p:cNvPr id="78" name="Rounded Rectangle 77"/>
              <p:cNvSpPr/>
              <p:nvPr/>
            </p:nvSpPr>
            <p:spPr>
              <a:xfrm>
                <a:off x="54843" y="533400"/>
                <a:ext cx="3121827" cy="1758260"/>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0987" name="Group 23"/>
              <p:cNvGrpSpPr>
                <a:grpSpLocks/>
              </p:cNvGrpSpPr>
              <p:nvPr/>
            </p:nvGrpSpPr>
            <p:grpSpPr bwMode="auto">
              <a:xfrm>
                <a:off x="203212" y="686027"/>
                <a:ext cx="2833220" cy="1239329"/>
                <a:chOff x="203212" y="686027"/>
                <a:chExt cx="2833220" cy="1239329"/>
              </a:xfrm>
            </p:grpSpPr>
            <p:sp>
              <p:nvSpPr>
                <p:cNvPr id="80" name="Freeform 79"/>
                <p:cNvSpPr/>
                <p:nvPr/>
              </p:nvSpPr>
              <p:spPr>
                <a:xfrm>
                  <a:off x="932857" y="686027"/>
                  <a:ext cx="1172718" cy="506721"/>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MIDUS </a:t>
                  </a:r>
                  <a:r>
                    <a:rPr lang="en-US" sz="1100" b="1" dirty="0" smtClean="0">
                      <a:solidFill>
                        <a:schemeClr val="tx1"/>
                      </a:solidFill>
                    </a:rPr>
                    <a:t>3</a:t>
                  </a:r>
                  <a:endParaRPr lang="en-US" sz="1100" b="1" dirty="0">
                    <a:solidFill>
                      <a:schemeClr val="tx1"/>
                    </a:solidFill>
                  </a:endParaRPr>
                </a:p>
                <a:p>
                  <a:pPr algn="ctr">
                    <a:defRPr/>
                  </a:pPr>
                  <a:r>
                    <a:rPr lang="en-US" sz="1100" b="1" dirty="0" smtClean="0">
                      <a:solidFill>
                        <a:schemeClr val="tx1"/>
                      </a:solidFill>
                      <a:cs typeface="Arial" pitchFamily="34" charset="0"/>
                    </a:rPr>
                    <a:t>(2013)</a:t>
                  </a:r>
                  <a:endParaRPr lang="en-US" sz="1100" b="1" dirty="0">
                    <a:solidFill>
                      <a:schemeClr val="tx1"/>
                    </a:solidFill>
                    <a:cs typeface="Arial" pitchFamily="34" charset="0"/>
                  </a:endParaRPr>
                </a:p>
                <a:p>
                  <a:pPr algn="ctr">
                    <a:defRPr/>
                  </a:pPr>
                  <a:endParaRPr lang="en-US" sz="1100" b="1" dirty="0">
                    <a:solidFill>
                      <a:schemeClr val="tx1"/>
                    </a:solidFill>
                  </a:endParaRPr>
                </a:p>
              </p:txBody>
            </p:sp>
            <p:sp>
              <p:nvSpPr>
                <p:cNvPr id="81" name="Freeform 80"/>
                <p:cNvSpPr/>
                <p:nvPr/>
              </p:nvSpPr>
              <p:spPr>
                <a:xfrm>
                  <a:off x="203212" y="1592630"/>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RDD</a:t>
                  </a:r>
                </a:p>
              </p:txBody>
            </p:sp>
            <p:sp>
              <p:nvSpPr>
                <p:cNvPr id="82" name="Freeform 81"/>
                <p:cNvSpPr/>
                <p:nvPr/>
              </p:nvSpPr>
              <p:spPr>
                <a:xfrm>
                  <a:off x="1256015" y="1592630"/>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Siblings</a:t>
                  </a:r>
                </a:p>
              </p:txBody>
            </p:sp>
            <p:sp>
              <p:nvSpPr>
                <p:cNvPr id="83" name="Freeform 82"/>
                <p:cNvSpPr/>
                <p:nvPr/>
              </p:nvSpPr>
              <p:spPr>
                <a:xfrm>
                  <a:off x="2192969" y="1592629"/>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Twins</a:t>
                  </a:r>
                </a:p>
              </p:txBody>
            </p:sp>
          </p:grpSp>
        </p:grpSp>
        <p:cxnSp>
          <p:nvCxnSpPr>
            <p:cNvPr id="70" name="Straight Arrow Connector 69"/>
            <p:cNvCxnSpPr/>
            <p:nvPr/>
          </p:nvCxnSpPr>
          <p:spPr>
            <a:xfrm rot="10800000" flipV="1">
              <a:off x="577181" y="1227853"/>
              <a:ext cx="534531" cy="30525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rot="5400000">
              <a:off x="1416130" y="1380226"/>
              <a:ext cx="303728" cy="203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1949077" y="1227853"/>
              <a:ext cx="382099" cy="22894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84" name="Straight Arrow Connector 83"/>
          <p:cNvCxnSpPr/>
          <p:nvPr/>
        </p:nvCxnSpPr>
        <p:spPr>
          <a:xfrm>
            <a:off x="5791200" y="1141413"/>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0971" name="Group 59"/>
          <p:cNvGrpSpPr>
            <a:grpSpLocks/>
          </p:cNvGrpSpPr>
          <p:nvPr/>
        </p:nvGrpSpPr>
        <p:grpSpPr bwMode="auto">
          <a:xfrm>
            <a:off x="152400" y="6172200"/>
            <a:ext cx="8839200" cy="685800"/>
            <a:chOff x="228600" y="3733800"/>
            <a:chExt cx="9372600" cy="685800"/>
          </a:xfrm>
        </p:grpSpPr>
        <p:sp>
          <p:nvSpPr>
            <p:cNvPr id="61" name="Right Arrow 60"/>
            <p:cNvSpPr/>
            <p:nvPr/>
          </p:nvSpPr>
          <p:spPr>
            <a:xfrm>
              <a:off x="6477000" y="3733800"/>
              <a:ext cx="3124200" cy="685800"/>
            </a:xfrm>
            <a:prstGeom prst="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2015</a:t>
              </a:r>
            </a:p>
          </p:txBody>
        </p:sp>
        <p:sp>
          <p:nvSpPr>
            <p:cNvPr id="63" name="TextBox 62"/>
            <p:cNvSpPr txBox="1"/>
            <p:nvPr/>
          </p:nvSpPr>
          <p:spPr>
            <a:xfrm>
              <a:off x="228600" y="3886200"/>
              <a:ext cx="3124200" cy="369888"/>
            </a:xfrm>
            <a:prstGeom prst="rect">
              <a:avLst/>
            </a:prstGeom>
            <a:solidFill>
              <a:schemeClr val="tx2">
                <a:lumMod val="60000"/>
                <a:lumOff val="40000"/>
              </a:schemeClr>
            </a:solidFill>
            <a:ln>
              <a:noFill/>
            </a:ln>
          </p:spPr>
          <p:txBody>
            <a:bodyPr>
              <a:spAutoFit/>
            </a:bodyPr>
            <a:lstStyle/>
            <a:p>
              <a:pPr algn="ctr">
                <a:defRPr/>
              </a:pPr>
              <a:r>
                <a:rPr lang="en-US" b="1" dirty="0"/>
                <a:t>1995</a:t>
              </a:r>
            </a:p>
          </p:txBody>
        </p:sp>
        <p:sp>
          <p:nvSpPr>
            <p:cNvPr id="65" name="TextBox 64"/>
            <p:cNvSpPr txBox="1"/>
            <p:nvPr/>
          </p:nvSpPr>
          <p:spPr>
            <a:xfrm>
              <a:off x="3352800" y="3886200"/>
              <a:ext cx="3124200" cy="369888"/>
            </a:xfrm>
            <a:prstGeom prst="rect">
              <a:avLst/>
            </a:prstGeom>
            <a:solidFill>
              <a:schemeClr val="tx2">
                <a:lumMod val="20000"/>
                <a:lumOff val="80000"/>
              </a:schemeClr>
            </a:solidFill>
            <a:ln w="25400">
              <a:noFill/>
            </a:ln>
          </p:spPr>
          <p:txBody>
            <a:bodyPr>
              <a:spAutoFit/>
            </a:bodyPr>
            <a:lstStyle/>
            <a:p>
              <a:pPr algn="ctr">
                <a:defRPr/>
              </a:pPr>
              <a:r>
                <a:rPr lang="en-US" b="1" dirty="0"/>
                <a:t>2005</a:t>
              </a:r>
            </a:p>
          </p:txBody>
        </p:sp>
      </p:grpSp>
      <p:cxnSp>
        <p:nvCxnSpPr>
          <p:cNvPr id="73" name="Straight Arrow Connector 72"/>
          <p:cNvCxnSpPr/>
          <p:nvPr/>
        </p:nvCxnSpPr>
        <p:spPr>
          <a:xfrm>
            <a:off x="2895600" y="1141413"/>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8763000" y="1143000"/>
            <a:ext cx="304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5791200" y="3295482"/>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3511550" y="1981200"/>
            <a:ext cx="1441450" cy="533400"/>
            <a:chOff x="3505200" y="1981200"/>
            <a:chExt cx="1441450" cy="533400"/>
          </a:xfrm>
        </p:grpSpPr>
        <p:sp>
          <p:nvSpPr>
            <p:cNvPr id="66" name="_s1036"/>
            <p:cNvSpPr>
              <a:spLocks noChangeArrowheads="1"/>
            </p:cNvSpPr>
            <p:nvPr/>
          </p:nvSpPr>
          <p:spPr bwMode="auto">
            <a:xfrm>
              <a:off x="4067172" y="1981200"/>
              <a:ext cx="879478" cy="533400"/>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a:latin typeface="Arial" pitchFamily="34" charset="0"/>
                  <a:cs typeface="Arial" pitchFamily="34" charset="0"/>
                </a:rPr>
                <a:t>Milwaukee </a:t>
              </a:r>
            </a:p>
            <a:p>
              <a:pPr algn="ctr">
                <a:defRPr/>
              </a:pPr>
              <a:r>
                <a:rPr lang="en-US" sz="1100" b="1" dirty="0" smtClean="0">
                  <a:latin typeface="Arial" pitchFamily="34" charset="0"/>
                  <a:cs typeface="Arial" pitchFamily="34" charset="0"/>
                </a:rPr>
                <a:t>(</a:t>
              </a:r>
              <a:r>
                <a:rPr lang="en-US" sz="1100" b="1" dirty="0">
                  <a:latin typeface="Arial" pitchFamily="34" charset="0"/>
                  <a:cs typeface="Arial" pitchFamily="34" charset="0"/>
                </a:rPr>
                <a:t>N=592)</a:t>
              </a:r>
            </a:p>
          </p:txBody>
        </p:sp>
        <p:sp>
          <p:nvSpPr>
            <p:cNvPr id="2" name="TextBox 1"/>
            <p:cNvSpPr txBox="1"/>
            <p:nvPr/>
          </p:nvSpPr>
          <p:spPr>
            <a:xfrm>
              <a:off x="3505200" y="2130623"/>
              <a:ext cx="553357" cy="307777"/>
            </a:xfrm>
            <a:prstGeom prst="rect">
              <a:avLst/>
            </a:prstGeom>
            <a:noFill/>
          </p:spPr>
          <p:txBody>
            <a:bodyPr wrap="none" rtlCol="0">
              <a:spAutoFit/>
            </a:bodyPr>
            <a:lstStyle/>
            <a:p>
              <a:r>
                <a:rPr lang="en-US" sz="1400" b="1" dirty="0" smtClean="0">
                  <a:latin typeface="Arial" pitchFamily="34" charset="0"/>
                  <a:cs typeface="Arial" pitchFamily="34" charset="0"/>
                </a:rPr>
                <a:t>New</a:t>
              </a:r>
              <a:endParaRPr lang="en-US" sz="1400" b="1" dirty="0">
                <a:latin typeface="Arial" pitchFamily="34" charset="0"/>
                <a:cs typeface="Arial" pitchFamily="34" charset="0"/>
              </a:endParaRPr>
            </a:p>
          </p:txBody>
        </p:sp>
      </p:grpSp>
      <p:cxnSp>
        <p:nvCxnSpPr>
          <p:cNvPr id="4" name="Elbow Connector 3"/>
          <p:cNvCxnSpPr/>
          <p:nvPr/>
        </p:nvCxnSpPr>
        <p:spPr>
          <a:xfrm rot="5400000">
            <a:off x="3798491" y="1383109"/>
            <a:ext cx="990600" cy="205582"/>
          </a:xfrm>
          <a:prstGeom prst="bentConnector3">
            <a:avLst>
              <a:gd name="adj1" fmla="val 29578"/>
            </a:avLst>
          </a:prstGeom>
        </p:spPr>
        <p:style>
          <a:lnRef idx="1">
            <a:schemeClr val="dk1"/>
          </a:lnRef>
          <a:fillRef idx="0">
            <a:schemeClr val="dk1"/>
          </a:fillRef>
          <a:effectRef idx="0">
            <a:schemeClr val="dk1"/>
          </a:effectRef>
          <a:fontRef idx="minor">
            <a:schemeClr val="tx1"/>
          </a:fontRef>
        </p:style>
      </p:cxnSp>
      <p:grpSp>
        <p:nvGrpSpPr>
          <p:cNvPr id="10" name="Group 9"/>
          <p:cNvGrpSpPr/>
          <p:nvPr/>
        </p:nvGrpSpPr>
        <p:grpSpPr>
          <a:xfrm>
            <a:off x="3806749" y="2819400"/>
            <a:ext cx="1908251" cy="914400"/>
            <a:chOff x="3375742" y="3048000"/>
            <a:chExt cx="1908251" cy="914400"/>
          </a:xfrm>
        </p:grpSpPr>
        <p:grpSp>
          <p:nvGrpSpPr>
            <p:cNvPr id="40976" name="Group 54"/>
            <p:cNvGrpSpPr>
              <a:grpSpLocks/>
            </p:cNvGrpSpPr>
            <p:nvPr/>
          </p:nvGrpSpPr>
          <p:grpSpPr bwMode="auto">
            <a:xfrm>
              <a:off x="3392488" y="3048000"/>
              <a:ext cx="1891505" cy="914400"/>
              <a:chOff x="3422730" y="2743199"/>
              <a:chExt cx="1835071" cy="943898"/>
            </a:xfrm>
          </p:grpSpPr>
          <p:sp>
            <p:nvSpPr>
              <p:cNvPr id="68" name="_s1036"/>
              <p:cNvSpPr>
                <a:spLocks noChangeArrowheads="1"/>
              </p:cNvSpPr>
              <p:nvPr/>
            </p:nvSpPr>
            <p:spPr bwMode="auto">
              <a:xfrm>
                <a:off x="3997992" y="2895601"/>
                <a:ext cx="1142672" cy="577952"/>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a:latin typeface="Arial" pitchFamily="34" charset="0"/>
                    <a:cs typeface="Arial" pitchFamily="34" charset="0"/>
                  </a:rPr>
                  <a:t>Midlife in Japan</a:t>
                </a:r>
              </a:p>
              <a:p>
                <a:pPr algn="ctr">
                  <a:defRPr/>
                </a:pPr>
                <a:r>
                  <a:rPr lang="en-US" sz="1100" b="1" dirty="0" smtClean="0">
                    <a:latin typeface="Arial" pitchFamily="34" charset="0"/>
                    <a:cs typeface="Arial" pitchFamily="34" charset="0"/>
                  </a:rPr>
                  <a:t>(</a:t>
                </a:r>
                <a:r>
                  <a:rPr lang="en-US" sz="1100" b="1" dirty="0">
                    <a:latin typeface="Arial" pitchFamily="34" charset="0"/>
                    <a:cs typeface="Arial" pitchFamily="34" charset="0"/>
                  </a:rPr>
                  <a:t>N=1,032)</a:t>
                </a:r>
              </a:p>
            </p:txBody>
          </p:sp>
          <p:sp>
            <p:nvSpPr>
              <p:cNvPr id="69" name="Rounded Rectangle 68"/>
              <p:cNvSpPr/>
              <p:nvPr/>
            </p:nvSpPr>
            <p:spPr>
              <a:xfrm>
                <a:off x="3422730" y="2743199"/>
                <a:ext cx="1835071" cy="9438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sp>
          <p:nvSpPr>
            <p:cNvPr id="74" name="TextBox 73"/>
            <p:cNvSpPr txBox="1"/>
            <p:nvPr/>
          </p:nvSpPr>
          <p:spPr>
            <a:xfrm>
              <a:off x="3375742" y="3276600"/>
              <a:ext cx="553357" cy="307777"/>
            </a:xfrm>
            <a:prstGeom prst="rect">
              <a:avLst/>
            </a:prstGeom>
            <a:noFill/>
          </p:spPr>
          <p:txBody>
            <a:bodyPr wrap="none" rtlCol="0">
              <a:spAutoFit/>
            </a:bodyPr>
            <a:lstStyle/>
            <a:p>
              <a:r>
                <a:rPr lang="en-US" sz="1400" b="1" dirty="0" smtClean="0">
                  <a:latin typeface="Arial" pitchFamily="34" charset="0"/>
                  <a:cs typeface="Arial" pitchFamily="34" charset="0"/>
                </a:rPr>
                <a:t>New</a:t>
              </a:r>
              <a:endParaRPr lang="en-US" sz="1400" b="1" dirty="0">
                <a:latin typeface="Arial" pitchFamily="34" charset="0"/>
                <a:cs typeface="Arial" pitchFamily="34" charset="0"/>
              </a:endParaRPr>
            </a:p>
          </p:txBody>
        </p:sp>
      </p:grpSp>
      <p:grpSp>
        <p:nvGrpSpPr>
          <p:cNvPr id="76" name="Group 54"/>
          <p:cNvGrpSpPr>
            <a:grpSpLocks/>
          </p:cNvGrpSpPr>
          <p:nvPr/>
        </p:nvGrpSpPr>
        <p:grpSpPr bwMode="auto">
          <a:xfrm>
            <a:off x="6410087" y="2819400"/>
            <a:ext cx="1438513" cy="914400"/>
            <a:chOff x="3862207" y="2743199"/>
            <a:chExt cx="1395594" cy="943898"/>
          </a:xfrm>
        </p:grpSpPr>
        <p:sp>
          <p:nvSpPr>
            <p:cNvPr id="88" name="_s1036"/>
            <p:cNvSpPr>
              <a:spLocks noChangeArrowheads="1"/>
            </p:cNvSpPr>
            <p:nvPr/>
          </p:nvSpPr>
          <p:spPr bwMode="auto">
            <a:xfrm>
              <a:off x="3997992" y="2895601"/>
              <a:ext cx="1142672" cy="577952"/>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smtClean="0">
                  <a:latin typeface="Arial" pitchFamily="34" charset="0"/>
                  <a:cs typeface="Arial" pitchFamily="34" charset="0"/>
                </a:rPr>
                <a:t>MIDJA 2</a:t>
              </a:r>
              <a:endParaRPr lang="en-US" sz="1100" b="1" dirty="0">
                <a:latin typeface="Arial" pitchFamily="34" charset="0"/>
                <a:cs typeface="Arial" pitchFamily="34" charset="0"/>
              </a:endParaRPr>
            </a:p>
            <a:p>
              <a:pPr algn="ctr">
                <a:defRPr/>
              </a:pPr>
              <a:r>
                <a:rPr lang="en-US" sz="1100" b="1" dirty="0" smtClean="0">
                  <a:latin typeface="Arial" pitchFamily="34" charset="0"/>
                  <a:cs typeface="Arial" pitchFamily="34" charset="0"/>
                </a:rPr>
                <a:t>(2013)</a:t>
              </a:r>
              <a:endParaRPr lang="en-US" sz="1100" b="1" dirty="0">
                <a:latin typeface="Arial" pitchFamily="34" charset="0"/>
                <a:cs typeface="Arial" pitchFamily="34" charset="0"/>
              </a:endParaRPr>
            </a:p>
          </p:txBody>
        </p:sp>
        <p:sp>
          <p:nvSpPr>
            <p:cNvPr id="89" name="Rounded Rectangle 88"/>
            <p:cNvSpPr/>
            <p:nvPr/>
          </p:nvSpPr>
          <p:spPr>
            <a:xfrm>
              <a:off x="3862207" y="2743199"/>
              <a:ext cx="1395594" cy="9438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cxnSp>
        <p:nvCxnSpPr>
          <p:cNvPr id="91" name="Straight Arrow Connector 90"/>
          <p:cNvCxnSpPr/>
          <p:nvPr/>
        </p:nvCxnSpPr>
        <p:spPr>
          <a:xfrm flipV="1">
            <a:off x="5105400" y="2284511"/>
            <a:ext cx="990600" cy="148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075070" y="2069068"/>
            <a:ext cx="325730" cy="369332"/>
          </a:xfrm>
          <a:prstGeom prst="rect">
            <a:avLst/>
          </a:prstGeom>
          <a:noFill/>
        </p:spPr>
        <p:txBody>
          <a:bodyPr wrap="none" rtlCol="0">
            <a:spAutoFit/>
          </a:bodyPr>
          <a:lstStyle/>
          <a:p>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cxnSp>
        <p:nvCxnSpPr>
          <p:cNvPr id="92" name="Straight Arrow Connector 91"/>
          <p:cNvCxnSpPr/>
          <p:nvPr/>
        </p:nvCxnSpPr>
        <p:spPr>
          <a:xfrm>
            <a:off x="8001000" y="3276600"/>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7688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Group 53"/>
          <p:cNvGrpSpPr>
            <a:grpSpLocks/>
          </p:cNvGrpSpPr>
          <p:nvPr/>
        </p:nvGrpSpPr>
        <p:grpSpPr bwMode="auto">
          <a:xfrm>
            <a:off x="381000" y="152400"/>
            <a:ext cx="2438400" cy="1828800"/>
            <a:chOff x="54843" y="533400"/>
            <a:chExt cx="3121827" cy="1758260"/>
          </a:xfrm>
        </p:grpSpPr>
        <p:grpSp>
          <p:nvGrpSpPr>
            <p:cNvPr id="41006" name="Group 24"/>
            <p:cNvGrpSpPr>
              <a:grpSpLocks/>
            </p:cNvGrpSpPr>
            <p:nvPr/>
          </p:nvGrpSpPr>
          <p:grpSpPr bwMode="auto">
            <a:xfrm>
              <a:off x="54843" y="533400"/>
              <a:ext cx="3121827" cy="1758260"/>
              <a:chOff x="54843" y="533400"/>
              <a:chExt cx="3121827" cy="1758260"/>
            </a:xfrm>
          </p:grpSpPr>
          <p:sp>
            <p:nvSpPr>
              <p:cNvPr id="12" name="Rounded Rectangle 11"/>
              <p:cNvSpPr/>
              <p:nvPr/>
            </p:nvSpPr>
            <p:spPr>
              <a:xfrm>
                <a:off x="54843" y="533400"/>
                <a:ext cx="3121827" cy="1758260"/>
              </a:xfrm>
              <a:prstGeom prst="roundRect">
                <a:avLst/>
              </a:prstGeom>
              <a:ln/>
            </p:spPr>
            <p:style>
              <a:lnRef idx="2">
                <a:schemeClr val="dk1"/>
              </a:lnRef>
              <a:fillRef idx="1">
                <a:schemeClr val="lt1"/>
              </a:fillRef>
              <a:effectRef idx="0">
                <a:schemeClr val="dk1"/>
              </a:effectRef>
              <a:fontRef idx="minor">
                <a:schemeClr val="dk1"/>
              </a:fontRef>
            </p:style>
            <p:txBody>
              <a:bodyPr lIns="73736" tIns="36868" rIns="73736" bIns="36868" anchor="ctr"/>
              <a:lstStyle/>
              <a:p>
                <a:pPr algn="ctr">
                  <a:defRPr/>
                </a:pPr>
                <a:endParaRPr lang="en-US">
                  <a:cs typeface="Arial" pitchFamily="34" charset="0"/>
                </a:endParaRPr>
              </a:p>
            </p:txBody>
          </p:sp>
          <p:grpSp>
            <p:nvGrpSpPr>
              <p:cNvPr id="41011" name="Group 23"/>
              <p:cNvGrpSpPr>
                <a:grpSpLocks/>
              </p:cNvGrpSpPr>
              <p:nvPr/>
            </p:nvGrpSpPr>
            <p:grpSpPr bwMode="auto">
              <a:xfrm>
                <a:off x="203314" y="685801"/>
                <a:ext cx="2832790" cy="1459338"/>
                <a:chOff x="203314" y="685801"/>
                <a:chExt cx="2832790" cy="1459338"/>
              </a:xfrm>
            </p:grpSpPr>
            <p:sp>
              <p:nvSpPr>
                <p:cNvPr id="17" name="Freeform 1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40000"/>
                    <a:lumOff val="6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MIDUS 1</a:t>
                  </a:r>
                  <a:endParaRPr lang="en-US" sz="1100" b="1" dirty="0">
                    <a:solidFill>
                      <a:schemeClr val="tx1"/>
                    </a:solidFill>
                  </a:endParaRPr>
                </a:p>
                <a:p>
                  <a:pPr algn="ctr">
                    <a:defRPr/>
                  </a:pPr>
                  <a:r>
                    <a:rPr lang="en-US" sz="1100" b="1" dirty="0">
                      <a:solidFill>
                        <a:schemeClr val="tx1"/>
                      </a:solidFill>
                    </a:rPr>
                    <a:t>Sample</a:t>
                  </a:r>
                </a:p>
                <a:p>
                  <a:pPr algn="ctr">
                    <a:defRPr/>
                  </a:pPr>
                  <a:r>
                    <a:rPr lang="en-US" sz="1100" b="1" dirty="0">
                      <a:solidFill>
                        <a:schemeClr val="tx1"/>
                      </a:solidFill>
                    </a:rPr>
                    <a:t>(N=7,108)</a:t>
                  </a:r>
                </a:p>
              </p:txBody>
            </p:sp>
            <p:sp>
              <p:nvSpPr>
                <p:cNvPr id="18" name="Freeform 17"/>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19" name="Freeform 18"/>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20" name="Freeform 19"/>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40" name="Straight Arrow Connector 39"/>
            <p:cNvCxnSpPr/>
            <p:nvPr/>
          </p:nvCxnSpPr>
          <p:spPr>
            <a:xfrm rot="10800000" flipV="1">
              <a:off x="577181" y="1447635"/>
              <a:ext cx="534531" cy="3052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1416130" y="1600008"/>
              <a:ext cx="303728" cy="203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949077" y="1447635"/>
              <a:ext cx="382099" cy="2289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0964" name="TextBox 45"/>
          <p:cNvSpPr txBox="1">
            <a:spLocks noChangeArrowheads="1"/>
          </p:cNvSpPr>
          <p:nvPr/>
        </p:nvSpPr>
        <p:spPr bwMode="auto">
          <a:xfrm>
            <a:off x="457200" y="2971800"/>
            <a:ext cx="2286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600" b="1"/>
              <a:t>MIDUS Samples </a:t>
            </a:r>
          </a:p>
          <a:p>
            <a:pPr eaLnBrk="1" hangingPunct="1"/>
            <a:r>
              <a:rPr lang="en-US" sz="3600" b="1"/>
              <a:t>and Timelines</a:t>
            </a:r>
          </a:p>
        </p:txBody>
      </p:sp>
      <p:grpSp>
        <p:nvGrpSpPr>
          <p:cNvPr id="40992" name="Group 24"/>
          <p:cNvGrpSpPr>
            <a:grpSpLocks/>
          </p:cNvGrpSpPr>
          <p:nvPr/>
        </p:nvGrpSpPr>
        <p:grpSpPr bwMode="auto">
          <a:xfrm>
            <a:off x="3276600" y="152400"/>
            <a:ext cx="2438400" cy="2438400"/>
            <a:chOff x="54843" y="533400"/>
            <a:chExt cx="3121827" cy="2479706"/>
          </a:xfrm>
        </p:grpSpPr>
        <p:sp>
          <p:nvSpPr>
            <p:cNvPr id="55" name="Rounded Rectangle 54"/>
            <p:cNvSpPr/>
            <p:nvPr/>
          </p:nvSpPr>
          <p:spPr>
            <a:xfrm>
              <a:off x="54843" y="533400"/>
              <a:ext cx="3121827" cy="247970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0997" name="Group 23"/>
            <p:cNvGrpSpPr>
              <a:grpSpLocks/>
            </p:cNvGrpSpPr>
            <p:nvPr/>
          </p:nvGrpSpPr>
          <p:grpSpPr bwMode="auto">
            <a:xfrm>
              <a:off x="203314" y="685801"/>
              <a:ext cx="2832790" cy="1459338"/>
              <a:chOff x="203314" y="685801"/>
              <a:chExt cx="2832790" cy="1459338"/>
            </a:xfrm>
          </p:grpSpPr>
          <p:sp>
            <p:nvSpPr>
              <p:cNvPr id="57" name="Freeform 5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20000"/>
                  <a:lumOff val="8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MIDUS </a:t>
                </a:r>
                <a:r>
                  <a:rPr lang="en-US" sz="1100" b="1" dirty="0" smtClean="0">
                    <a:solidFill>
                      <a:schemeClr val="tx1"/>
                    </a:solidFill>
                  </a:rPr>
                  <a:t>2</a:t>
                </a:r>
                <a:endParaRPr lang="en-US" sz="1100" b="1" dirty="0">
                  <a:solidFill>
                    <a:schemeClr val="tx1"/>
                  </a:solidFill>
                </a:endParaRPr>
              </a:p>
            </p:txBody>
          </p:sp>
          <p:sp>
            <p:nvSpPr>
              <p:cNvPr id="59" name="Freeform 58"/>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62" name="Freeform 61"/>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64" name="Freeform 63"/>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52" name="Straight Arrow Connector 51"/>
          <p:cNvCxnSpPr/>
          <p:nvPr/>
        </p:nvCxnSpPr>
        <p:spPr bwMode="auto">
          <a:xfrm rot="10800000" flipV="1">
            <a:off x="3684588" y="1103313"/>
            <a:ext cx="417512" cy="3175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bwMode="auto">
          <a:xfrm rot="5400000">
            <a:off x="4300537" y="1262063"/>
            <a:ext cx="315913"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auto">
          <a:xfrm>
            <a:off x="4756150" y="1103313"/>
            <a:ext cx="298450" cy="2381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0969" name="Group 53"/>
          <p:cNvGrpSpPr>
            <a:grpSpLocks/>
          </p:cNvGrpSpPr>
          <p:nvPr/>
        </p:nvGrpSpPr>
        <p:grpSpPr bwMode="auto">
          <a:xfrm>
            <a:off x="6248400" y="152400"/>
            <a:ext cx="2438400" cy="1828800"/>
            <a:chOff x="54843" y="533400"/>
            <a:chExt cx="3121827" cy="1758260"/>
          </a:xfrm>
        </p:grpSpPr>
        <p:grpSp>
          <p:nvGrpSpPr>
            <p:cNvPr id="40982" name="Group 24"/>
            <p:cNvGrpSpPr>
              <a:grpSpLocks/>
            </p:cNvGrpSpPr>
            <p:nvPr/>
          </p:nvGrpSpPr>
          <p:grpSpPr bwMode="auto">
            <a:xfrm>
              <a:off x="54843" y="533400"/>
              <a:ext cx="3121827" cy="1758260"/>
              <a:chOff x="54843" y="533400"/>
              <a:chExt cx="3121827" cy="1758260"/>
            </a:xfrm>
          </p:grpSpPr>
          <p:sp>
            <p:nvSpPr>
              <p:cNvPr id="78" name="Rounded Rectangle 77"/>
              <p:cNvSpPr/>
              <p:nvPr/>
            </p:nvSpPr>
            <p:spPr>
              <a:xfrm>
                <a:off x="54843" y="533400"/>
                <a:ext cx="3121827" cy="1758260"/>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0987" name="Group 23"/>
              <p:cNvGrpSpPr>
                <a:grpSpLocks/>
              </p:cNvGrpSpPr>
              <p:nvPr/>
            </p:nvGrpSpPr>
            <p:grpSpPr bwMode="auto">
              <a:xfrm>
                <a:off x="203212" y="686027"/>
                <a:ext cx="2833220" cy="1239329"/>
                <a:chOff x="203212" y="686027"/>
                <a:chExt cx="2833220" cy="1239329"/>
              </a:xfrm>
            </p:grpSpPr>
            <p:sp>
              <p:nvSpPr>
                <p:cNvPr id="80" name="Freeform 79"/>
                <p:cNvSpPr/>
                <p:nvPr/>
              </p:nvSpPr>
              <p:spPr>
                <a:xfrm>
                  <a:off x="932857" y="686027"/>
                  <a:ext cx="1172718" cy="506721"/>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MIDUS </a:t>
                  </a:r>
                  <a:r>
                    <a:rPr lang="en-US" sz="1100" b="1" dirty="0" smtClean="0">
                      <a:solidFill>
                        <a:schemeClr val="tx1"/>
                      </a:solidFill>
                    </a:rPr>
                    <a:t>3</a:t>
                  </a:r>
                  <a:endParaRPr lang="en-US" sz="1100" b="1" dirty="0">
                    <a:solidFill>
                      <a:schemeClr val="tx1"/>
                    </a:solidFill>
                  </a:endParaRPr>
                </a:p>
                <a:p>
                  <a:pPr algn="ctr">
                    <a:defRPr/>
                  </a:pPr>
                  <a:r>
                    <a:rPr lang="en-US" sz="1100" b="1" dirty="0" smtClean="0">
                      <a:solidFill>
                        <a:schemeClr val="tx1"/>
                      </a:solidFill>
                      <a:cs typeface="Arial" pitchFamily="34" charset="0"/>
                    </a:rPr>
                    <a:t>(2013)</a:t>
                  </a:r>
                  <a:endParaRPr lang="en-US" sz="1100" b="1" dirty="0">
                    <a:solidFill>
                      <a:schemeClr val="tx1"/>
                    </a:solidFill>
                    <a:cs typeface="Arial" pitchFamily="34" charset="0"/>
                  </a:endParaRPr>
                </a:p>
                <a:p>
                  <a:pPr algn="ctr">
                    <a:defRPr/>
                  </a:pPr>
                  <a:endParaRPr lang="en-US" sz="1100" b="1" dirty="0">
                    <a:solidFill>
                      <a:schemeClr val="tx1"/>
                    </a:solidFill>
                  </a:endParaRPr>
                </a:p>
              </p:txBody>
            </p:sp>
            <p:sp>
              <p:nvSpPr>
                <p:cNvPr id="81" name="Freeform 80"/>
                <p:cNvSpPr/>
                <p:nvPr/>
              </p:nvSpPr>
              <p:spPr>
                <a:xfrm>
                  <a:off x="203212" y="1592630"/>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RDD</a:t>
                  </a:r>
                </a:p>
              </p:txBody>
            </p:sp>
            <p:sp>
              <p:nvSpPr>
                <p:cNvPr id="82" name="Freeform 81"/>
                <p:cNvSpPr/>
                <p:nvPr/>
              </p:nvSpPr>
              <p:spPr>
                <a:xfrm>
                  <a:off x="1256015" y="1592630"/>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Siblings</a:t>
                  </a:r>
                </a:p>
              </p:txBody>
            </p:sp>
            <p:sp>
              <p:nvSpPr>
                <p:cNvPr id="83" name="Freeform 82"/>
                <p:cNvSpPr/>
                <p:nvPr/>
              </p:nvSpPr>
              <p:spPr>
                <a:xfrm>
                  <a:off x="2192969" y="1592629"/>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Twins</a:t>
                  </a:r>
                </a:p>
              </p:txBody>
            </p:sp>
          </p:grpSp>
        </p:grpSp>
        <p:cxnSp>
          <p:nvCxnSpPr>
            <p:cNvPr id="70" name="Straight Arrow Connector 69"/>
            <p:cNvCxnSpPr/>
            <p:nvPr/>
          </p:nvCxnSpPr>
          <p:spPr>
            <a:xfrm rot="10800000" flipV="1">
              <a:off x="577181" y="1227853"/>
              <a:ext cx="534531" cy="30525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rot="5400000">
              <a:off x="1416130" y="1380226"/>
              <a:ext cx="303728" cy="203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1949077" y="1227853"/>
              <a:ext cx="382099" cy="22894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84" name="Straight Arrow Connector 83"/>
          <p:cNvCxnSpPr/>
          <p:nvPr/>
        </p:nvCxnSpPr>
        <p:spPr>
          <a:xfrm>
            <a:off x="5791200" y="1141413"/>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0971" name="Group 59"/>
          <p:cNvGrpSpPr>
            <a:grpSpLocks/>
          </p:cNvGrpSpPr>
          <p:nvPr/>
        </p:nvGrpSpPr>
        <p:grpSpPr bwMode="auto">
          <a:xfrm>
            <a:off x="152400" y="6172200"/>
            <a:ext cx="8839200" cy="685800"/>
            <a:chOff x="228600" y="3733800"/>
            <a:chExt cx="9372600" cy="685800"/>
          </a:xfrm>
        </p:grpSpPr>
        <p:sp>
          <p:nvSpPr>
            <p:cNvPr id="61" name="Right Arrow 60"/>
            <p:cNvSpPr/>
            <p:nvPr/>
          </p:nvSpPr>
          <p:spPr>
            <a:xfrm>
              <a:off x="6477000" y="3733800"/>
              <a:ext cx="3124200" cy="685800"/>
            </a:xfrm>
            <a:prstGeom prst="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2015</a:t>
              </a:r>
            </a:p>
          </p:txBody>
        </p:sp>
        <p:sp>
          <p:nvSpPr>
            <p:cNvPr id="63" name="TextBox 62"/>
            <p:cNvSpPr txBox="1"/>
            <p:nvPr/>
          </p:nvSpPr>
          <p:spPr>
            <a:xfrm>
              <a:off x="228600" y="3886200"/>
              <a:ext cx="3124200" cy="369888"/>
            </a:xfrm>
            <a:prstGeom prst="rect">
              <a:avLst/>
            </a:prstGeom>
            <a:solidFill>
              <a:schemeClr val="tx2">
                <a:lumMod val="60000"/>
                <a:lumOff val="40000"/>
              </a:schemeClr>
            </a:solidFill>
            <a:ln>
              <a:noFill/>
            </a:ln>
          </p:spPr>
          <p:txBody>
            <a:bodyPr>
              <a:spAutoFit/>
            </a:bodyPr>
            <a:lstStyle/>
            <a:p>
              <a:pPr algn="ctr">
                <a:defRPr/>
              </a:pPr>
              <a:r>
                <a:rPr lang="en-US" b="1" dirty="0"/>
                <a:t>1995</a:t>
              </a:r>
            </a:p>
          </p:txBody>
        </p:sp>
        <p:sp>
          <p:nvSpPr>
            <p:cNvPr id="65" name="TextBox 64"/>
            <p:cNvSpPr txBox="1"/>
            <p:nvPr/>
          </p:nvSpPr>
          <p:spPr>
            <a:xfrm>
              <a:off x="3352800" y="3886200"/>
              <a:ext cx="3124200" cy="369888"/>
            </a:xfrm>
            <a:prstGeom prst="rect">
              <a:avLst/>
            </a:prstGeom>
            <a:solidFill>
              <a:schemeClr val="tx2">
                <a:lumMod val="20000"/>
                <a:lumOff val="80000"/>
              </a:schemeClr>
            </a:solidFill>
            <a:ln w="25400">
              <a:noFill/>
            </a:ln>
          </p:spPr>
          <p:txBody>
            <a:bodyPr>
              <a:spAutoFit/>
            </a:bodyPr>
            <a:lstStyle/>
            <a:p>
              <a:pPr algn="ctr">
                <a:defRPr/>
              </a:pPr>
              <a:r>
                <a:rPr lang="en-US" b="1" dirty="0"/>
                <a:t>2005</a:t>
              </a:r>
            </a:p>
          </p:txBody>
        </p:sp>
      </p:grpSp>
      <p:cxnSp>
        <p:nvCxnSpPr>
          <p:cNvPr id="73" name="Straight Arrow Connector 72"/>
          <p:cNvCxnSpPr/>
          <p:nvPr/>
        </p:nvCxnSpPr>
        <p:spPr>
          <a:xfrm>
            <a:off x="2895600" y="1141413"/>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8763000" y="1143000"/>
            <a:ext cx="304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8229600" y="5029200"/>
            <a:ext cx="7620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5791200" y="3295482"/>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a:off x="3511550" y="1981200"/>
            <a:ext cx="1441450" cy="533400"/>
            <a:chOff x="3505200" y="1981200"/>
            <a:chExt cx="1441450" cy="533400"/>
          </a:xfrm>
        </p:grpSpPr>
        <p:sp>
          <p:nvSpPr>
            <p:cNvPr id="66" name="_s1036"/>
            <p:cNvSpPr>
              <a:spLocks noChangeArrowheads="1"/>
            </p:cNvSpPr>
            <p:nvPr/>
          </p:nvSpPr>
          <p:spPr bwMode="auto">
            <a:xfrm>
              <a:off x="4067172" y="1981200"/>
              <a:ext cx="879478" cy="533400"/>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a:latin typeface="Arial" pitchFamily="34" charset="0"/>
                  <a:cs typeface="Arial" pitchFamily="34" charset="0"/>
                </a:rPr>
                <a:t>Milwaukee </a:t>
              </a:r>
            </a:p>
            <a:p>
              <a:pPr algn="ctr">
                <a:defRPr/>
              </a:pPr>
              <a:r>
                <a:rPr lang="en-US" sz="1100" b="1" dirty="0" smtClean="0">
                  <a:latin typeface="Arial" pitchFamily="34" charset="0"/>
                  <a:cs typeface="Arial" pitchFamily="34" charset="0"/>
                </a:rPr>
                <a:t>(</a:t>
              </a:r>
              <a:r>
                <a:rPr lang="en-US" sz="1100" b="1" dirty="0">
                  <a:latin typeface="Arial" pitchFamily="34" charset="0"/>
                  <a:cs typeface="Arial" pitchFamily="34" charset="0"/>
                </a:rPr>
                <a:t>N=592)</a:t>
              </a:r>
            </a:p>
          </p:txBody>
        </p:sp>
        <p:sp>
          <p:nvSpPr>
            <p:cNvPr id="2" name="TextBox 1"/>
            <p:cNvSpPr txBox="1"/>
            <p:nvPr/>
          </p:nvSpPr>
          <p:spPr>
            <a:xfrm>
              <a:off x="3505200" y="2130623"/>
              <a:ext cx="553357" cy="307777"/>
            </a:xfrm>
            <a:prstGeom prst="rect">
              <a:avLst/>
            </a:prstGeom>
            <a:noFill/>
          </p:spPr>
          <p:txBody>
            <a:bodyPr wrap="none" rtlCol="0">
              <a:spAutoFit/>
            </a:bodyPr>
            <a:lstStyle/>
            <a:p>
              <a:r>
                <a:rPr lang="en-US" sz="1400" b="1" dirty="0" smtClean="0">
                  <a:latin typeface="Arial" pitchFamily="34" charset="0"/>
                  <a:cs typeface="Arial" pitchFamily="34" charset="0"/>
                </a:rPr>
                <a:t>New</a:t>
              </a:r>
              <a:endParaRPr lang="en-US" sz="1400" b="1" dirty="0">
                <a:latin typeface="Arial" pitchFamily="34" charset="0"/>
                <a:cs typeface="Arial" pitchFamily="34" charset="0"/>
              </a:endParaRPr>
            </a:p>
          </p:txBody>
        </p:sp>
      </p:grpSp>
      <p:cxnSp>
        <p:nvCxnSpPr>
          <p:cNvPr id="4" name="Elbow Connector 3"/>
          <p:cNvCxnSpPr/>
          <p:nvPr/>
        </p:nvCxnSpPr>
        <p:spPr>
          <a:xfrm rot="5400000">
            <a:off x="3798491" y="1383109"/>
            <a:ext cx="990600" cy="205582"/>
          </a:xfrm>
          <a:prstGeom prst="bentConnector3">
            <a:avLst>
              <a:gd name="adj1" fmla="val 29578"/>
            </a:avLst>
          </a:prstGeom>
        </p:spPr>
        <p:style>
          <a:lnRef idx="1">
            <a:schemeClr val="dk1"/>
          </a:lnRef>
          <a:fillRef idx="0">
            <a:schemeClr val="dk1"/>
          </a:fillRef>
          <a:effectRef idx="0">
            <a:schemeClr val="dk1"/>
          </a:effectRef>
          <a:fontRef idx="minor">
            <a:schemeClr val="tx1"/>
          </a:fontRef>
        </p:style>
      </p:cxnSp>
      <p:grpSp>
        <p:nvGrpSpPr>
          <p:cNvPr id="10" name="Group 9"/>
          <p:cNvGrpSpPr/>
          <p:nvPr/>
        </p:nvGrpSpPr>
        <p:grpSpPr>
          <a:xfrm>
            <a:off x="3806749" y="2819400"/>
            <a:ext cx="1908251" cy="914400"/>
            <a:chOff x="3375742" y="3048000"/>
            <a:chExt cx="1908251" cy="914400"/>
          </a:xfrm>
        </p:grpSpPr>
        <p:grpSp>
          <p:nvGrpSpPr>
            <p:cNvPr id="40976" name="Group 54"/>
            <p:cNvGrpSpPr>
              <a:grpSpLocks/>
            </p:cNvGrpSpPr>
            <p:nvPr/>
          </p:nvGrpSpPr>
          <p:grpSpPr bwMode="auto">
            <a:xfrm>
              <a:off x="3392488" y="3048000"/>
              <a:ext cx="1891505" cy="914400"/>
              <a:chOff x="3422730" y="2743199"/>
              <a:chExt cx="1835071" cy="943898"/>
            </a:xfrm>
          </p:grpSpPr>
          <p:sp>
            <p:nvSpPr>
              <p:cNvPr id="68" name="_s1036"/>
              <p:cNvSpPr>
                <a:spLocks noChangeArrowheads="1"/>
              </p:cNvSpPr>
              <p:nvPr/>
            </p:nvSpPr>
            <p:spPr bwMode="auto">
              <a:xfrm>
                <a:off x="3997992" y="2895601"/>
                <a:ext cx="1142672" cy="577952"/>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a:latin typeface="Arial" pitchFamily="34" charset="0"/>
                    <a:cs typeface="Arial" pitchFamily="34" charset="0"/>
                  </a:rPr>
                  <a:t>Midlife in Japan</a:t>
                </a:r>
              </a:p>
              <a:p>
                <a:pPr algn="ctr">
                  <a:defRPr/>
                </a:pPr>
                <a:r>
                  <a:rPr lang="en-US" sz="1100" b="1" dirty="0" smtClean="0">
                    <a:latin typeface="Arial" pitchFamily="34" charset="0"/>
                    <a:cs typeface="Arial" pitchFamily="34" charset="0"/>
                  </a:rPr>
                  <a:t>(</a:t>
                </a:r>
                <a:r>
                  <a:rPr lang="en-US" sz="1100" b="1" dirty="0">
                    <a:latin typeface="Arial" pitchFamily="34" charset="0"/>
                    <a:cs typeface="Arial" pitchFamily="34" charset="0"/>
                  </a:rPr>
                  <a:t>N=1,032)</a:t>
                </a:r>
              </a:p>
            </p:txBody>
          </p:sp>
          <p:sp>
            <p:nvSpPr>
              <p:cNvPr id="69" name="Rounded Rectangle 68"/>
              <p:cNvSpPr/>
              <p:nvPr/>
            </p:nvSpPr>
            <p:spPr>
              <a:xfrm>
                <a:off x="3422730" y="2743199"/>
                <a:ext cx="1835071" cy="9438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sp>
          <p:nvSpPr>
            <p:cNvPr id="74" name="TextBox 73"/>
            <p:cNvSpPr txBox="1"/>
            <p:nvPr/>
          </p:nvSpPr>
          <p:spPr>
            <a:xfrm>
              <a:off x="3375742" y="3276600"/>
              <a:ext cx="553357" cy="307777"/>
            </a:xfrm>
            <a:prstGeom prst="rect">
              <a:avLst/>
            </a:prstGeom>
            <a:noFill/>
          </p:spPr>
          <p:txBody>
            <a:bodyPr wrap="none" rtlCol="0">
              <a:spAutoFit/>
            </a:bodyPr>
            <a:lstStyle/>
            <a:p>
              <a:r>
                <a:rPr lang="en-US" sz="1400" b="1" dirty="0" smtClean="0">
                  <a:latin typeface="Arial" pitchFamily="34" charset="0"/>
                  <a:cs typeface="Arial" pitchFamily="34" charset="0"/>
                </a:rPr>
                <a:t>New</a:t>
              </a:r>
              <a:endParaRPr lang="en-US" sz="1400" b="1" dirty="0">
                <a:latin typeface="Arial" pitchFamily="34" charset="0"/>
                <a:cs typeface="Arial" pitchFamily="34" charset="0"/>
              </a:endParaRPr>
            </a:p>
          </p:txBody>
        </p:sp>
      </p:grpSp>
      <p:grpSp>
        <p:nvGrpSpPr>
          <p:cNvPr id="76" name="Group 54"/>
          <p:cNvGrpSpPr>
            <a:grpSpLocks/>
          </p:cNvGrpSpPr>
          <p:nvPr/>
        </p:nvGrpSpPr>
        <p:grpSpPr bwMode="auto">
          <a:xfrm>
            <a:off x="6410087" y="2819400"/>
            <a:ext cx="1438513" cy="914400"/>
            <a:chOff x="3862207" y="2743199"/>
            <a:chExt cx="1395594" cy="943898"/>
          </a:xfrm>
        </p:grpSpPr>
        <p:sp>
          <p:nvSpPr>
            <p:cNvPr id="88" name="_s1036"/>
            <p:cNvSpPr>
              <a:spLocks noChangeArrowheads="1"/>
            </p:cNvSpPr>
            <p:nvPr/>
          </p:nvSpPr>
          <p:spPr bwMode="auto">
            <a:xfrm>
              <a:off x="3997992" y="2895601"/>
              <a:ext cx="1142672" cy="577952"/>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smtClean="0">
                  <a:latin typeface="Arial" pitchFamily="34" charset="0"/>
                  <a:cs typeface="Arial" pitchFamily="34" charset="0"/>
                </a:rPr>
                <a:t>MIDJA 2</a:t>
              </a:r>
              <a:endParaRPr lang="en-US" sz="1100" b="1" dirty="0">
                <a:latin typeface="Arial" pitchFamily="34" charset="0"/>
                <a:cs typeface="Arial" pitchFamily="34" charset="0"/>
              </a:endParaRPr>
            </a:p>
            <a:p>
              <a:pPr algn="ctr">
                <a:defRPr/>
              </a:pPr>
              <a:r>
                <a:rPr lang="en-US" sz="1100" b="1" dirty="0" smtClean="0">
                  <a:latin typeface="Arial" pitchFamily="34" charset="0"/>
                  <a:cs typeface="Arial" pitchFamily="34" charset="0"/>
                </a:rPr>
                <a:t>(2013)</a:t>
              </a:r>
              <a:endParaRPr lang="en-US" sz="1100" b="1" dirty="0">
                <a:latin typeface="Arial" pitchFamily="34" charset="0"/>
                <a:cs typeface="Arial" pitchFamily="34" charset="0"/>
              </a:endParaRPr>
            </a:p>
          </p:txBody>
        </p:sp>
        <p:sp>
          <p:nvSpPr>
            <p:cNvPr id="89" name="Rounded Rectangle 88"/>
            <p:cNvSpPr/>
            <p:nvPr/>
          </p:nvSpPr>
          <p:spPr>
            <a:xfrm>
              <a:off x="3862207" y="2743199"/>
              <a:ext cx="1395594" cy="9438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grpSp>
        <p:nvGrpSpPr>
          <p:cNvPr id="13" name="Group 12"/>
          <p:cNvGrpSpPr/>
          <p:nvPr/>
        </p:nvGrpSpPr>
        <p:grpSpPr>
          <a:xfrm>
            <a:off x="5605464" y="4114801"/>
            <a:ext cx="2457211" cy="1600199"/>
            <a:chOff x="5605464" y="3962400"/>
            <a:chExt cx="2457211" cy="1600199"/>
          </a:xfrm>
        </p:grpSpPr>
        <p:grpSp>
          <p:nvGrpSpPr>
            <p:cNvPr id="40962" name="Group 55"/>
            <p:cNvGrpSpPr>
              <a:grpSpLocks/>
            </p:cNvGrpSpPr>
            <p:nvPr/>
          </p:nvGrpSpPr>
          <p:grpSpPr bwMode="auto">
            <a:xfrm>
              <a:off x="5605464" y="3962400"/>
              <a:ext cx="2457211" cy="1600199"/>
              <a:chOff x="6078952" y="3962401"/>
              <a:chExt cx="2226847" cy="1592781"/>
            </a:xfrm>
          </p:grpSpPr>
          <p:grpSp>
            <p:nvGrpSpPr>
              <p:cNvPr id="41016" name="Group 25"/>
              <p:cNvGrpSpPr>
                <a:grpSpLocks/>
              </p:cNvGrpSpPr>
              <p:nvPr/>
            </p:nvGrpSpPr>
            <p:grpSpPr bwMode="auto">
              <a:xfrm>
                <a:off x="6078952" y="3962401"/>
                <a:ext cx="2226847" cy="1592781"/>
                <a:chOff x="135353" y="685801"/>
                <a:chExt cx="2226847" cy="1592781"/>
              </a:xfrm>
            </p:grpSpPr>
            <p:sp>
              <p:nvSpPr>
                <p:cNvPr id="27" name="Rounded Rectangle 26"/>
                <p:cNvSpPr/>
                <p:nvPr/>
              </p:nvSpPr>
              <p:spPr>
                <a:xfrm>
                  <a:off x="135353" y="685801"/>
                  <a:ext cx="2226847" cy="1592781"/>
                </a:xfrm>
                <a:prstGeom prst="roundRect">
                  <a:avLst/>
                </a:prstGeom>
                <a:noFill/>
                <a:ln w="476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1020" name="Group 23"/>
                <p:cNvGrpSpPr>
                  <a:grpSpLocks/>
                </p:cNvGrpSpPr>
                <p:nvPr/>
              </p:nvGrpSpPr>
              <p:grpSpPr bwMode="auto">
                <a:xfrm>
                  <a:off x="481160" y="761987"/>
                  <a:ext cx="1756091" cy="1364901"/>
                  <a:chOff x="481160" y="761987"/>
                  <a:chExt cx="1756091" cy="1364901"/>
                </a:xfrm>
              </p:grpSpPr>
              <p:sp>
                <p:nvSpPr>
                  <p:cNvPr id="32" name="Freeform 31"/>
                  <p:cNvSpPr/>
                  <p:nvPr/>
                </p:nvSpPr>
                <p:spPr>
                  <a:xfrm>
                    <a:off x="718015" y="761987"/>
                    <a:ext cx="1074686" cy="60643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accent2">
                      <a:lumMod val="40000"/>
                      <a:lumOff val="60000"/>
                    </a:schemeClr>
                  </a:solidFill>
                  <a:ln w="47625">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Refresher</a:t>
                    </a:r>
                  </a:p>
                  <a:p>
                    <a:pPr algn="ctr">
                      <a:defRPr/>
                    </a:pPr>
                    <a:r>
                      <a:rPr lang="en-US" sz="1100" b="1" dirty="0">
                        <a:solidFill>
                          <a:schemeClr val="tx1"/>
                        </a:solidFill>
                      </a:rPr>
                      <a:t>Sample</a:t>
                    </a:r>
                  </a:p>
                  <a:p>
                    <a:pPr algn="ctr">
                      <a:defRPr/>
                    </a:pPr>
                    <a:r>
                      <a:rPr lang="en-US" sz="1100" b="1" dirty="0" smtClean="0">
                        <a:solidFill>
                          <a:schemeClr val="tx1"/>
                        </a:solidFill>
                      </a:rPr>
                      <a:t>(N</a:t>
                    </a:r>
                    <a:r>
                      <a:rPr lang="en-US" sz="1100" b="1" dirty="0">
                        <a:solidFill>
                          <a:schemeClr val="tx1"/>
                        </a:solidFill>
                      </a:rPr>
                      <a:t>≈</a:t>
                    </a:r>
                    <a:r>
                      <a:rPr lang="en-US" sz="1100" b="1" dirty="0" smtClean="0">
                        <a:solidFill>
                          <a:schemeClr val="tx1"/>
                        </a:solidFill>
                      </a:rPr>
                      <a:t>2,659)</a:t>
                    </a:r>
                    <a:endParaRPr lang="en-US" sz="1100" b="1" dirty="0">
                      <a:solidFill>
                        <a:schemeClr val="tx1"/>
                      </a:solidFill>
                    </a:endParaRPr>
                  </a:p>
                </p:txBody>
              </p:sp>
              <p:sp>
                <p:nvSpPr>
                  <p:cNvPr id="33" name="Freeform 32"/>
                  <p:cNvSpPr/>
                  <p:nvPr/>
                </p:nvSpPr>
                <p:spPr>
                  <a:xfrm>
                    <a:off x="481160" y="1690488"/>
                    <a:ext cx="770911" cy="431717"/>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accent2">
                      <a:lumMod val="40000"/>
                      <a:lumOff val="60000"/>
                    </a:schemeClr>
                  </a:solidFill>
                  <a:ln w="47625">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RDD</a:t>
                    </a:r>
                  </a:p>
                  <a:p>
                    <a:pPr algn="ctr">
                      <a:defRPr/>
                    </a:pPr>
                    <a:r>
                      <a:rPr lang="en-US" sz="1100" b="1" dirty="0" smtClean="0">
                        <a:solidFill>
                          <a:schemeClr val="tx1"/>
                        </a:solidFill>
                      </a:rPr>
                      <a:t>(N</a:t>
                    </a:r>
                    <a:r>
                      <a:rPr lang="en-US" sz="1100" b="1" dirty="0">
                        <a:solidFill>
                          <a:schemeClr val="tx1"/>
                        </a:solidFill>
                      </a:rPr>
                      <a:t>≈</a:t>
                    </a:r>
                    <a:r>
                      <a:rPr lang="en-US" sz="1100" b="1" dirty="0" smtClean="0">
                        <a:solidFill>
                          <a:schemeClr val="tx1"/>
                        </a:solidFill>
                      </a:rPr>
                      <a:t>2,152)</a:t>
                    </a:r>
                    <a:endParaRPr lang="en-US" sz="1100" b="1" dirty="0">
                      <a:solidFill>
                        <a:schemeClr val="tx1"/>
                      </a:solidFill>
                    </a:endParaRPr>
                  </a:p>
                </p:txBody>
              </p:sp>
              <p:sp>
                <p:nvSpPr>
                  <p:cNvPr id="34" name="Freeform 33"/>
                  <p:cNvSpPr/>
                  <p:nvPr/>
                </p:nvSpPr>
                <p:spPr>
                  <a:xfrm>
                    <a:off x="1460584" y="1695171"/>
                    <a:ext cx="776667" cy="431717"/>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accent2">
                      <a:lumMod val="40000"/>
                      <a:lumOff val="60000"/>
                    </a:schemeClr>
                  </a:solidFill>
                  <a:ln w="47625">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Milwaukee</a:t>
                    </a:r>
                  </a:p>
                  <a:p>
                    <a:pPr algn="ctr">
                      <a:defRPr/>
                    </a:pPr>
                    <a:r>
                      <a:rPr lang="en-US" sz="1100" b="1" dirty="0" smtClean="0">
                        <a:solidFill>
                          <a:schemeClr val="tx1"/>
                        </a:solidFill>
                      </a:rPr>
                      <a:t>(N</a:t>
                    </a:r>
                    <a:r>
                      <a:rPr lang="en-US" sz="1100" b="1" dirty="0">
                        <a:solidFill>
                          <a:schemeClr val="tx1"/>
                        </a:solidFill>
                      </a:rPr>
                      <a:t>≈</a:t>
                    </a:r>
                    <a:r>
                      <a:rPr lang="en-US" sz="1100" b="1" dirty="0" smtClean="0">
                        <a:solidFill>
                          <a:schemeClr val="tx1"/>
                        </a:solidFill>
                      </a:rPr>
                      <a:t>507)</a:t>
                    </a:r>
                    <a:endParaRPr lang="en-US" sz="1100" b="1" dirty="0">
                      <a:solidFill>
                        <a:schemeClr val="tx1"/>
                      </a:solidFill>
                    </a:endParaRPr>
                  </a:p>
                </p:txBody>
              </p:sp>
            </p:grpSp>
          </p:grpSp>
          <p:cxnSp>
            <p:nvCxnSpPr>
              <p:cNvPr id="37" name="Straight Arrow Connector 36"/>
              <p:cNvCxnSpPr/>
              <p:nvPr/>
            </p:nvCxnSpPr>
            <p:spPr>
              <a:xfrm>
                <a:off x="7362245" y="4700890"/>
                <a:ext cx="304998" cy="22855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a:off x="6838665" y="4700795"/>
                <a:ext cx="228556" cy="22874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90" name="TextBox 89"/>
            <p:cNvSpPr txBox="1"/>
            <p:nvPr/>
          </p:nvSpPr>
          <p:spPr>
            <a:xfrm>
              <a:off x="5638800" y="4191000"/>
              <a:ext cx="553357" cy="307777"/>
            </a:xfrm>
            <a:prstGeom prst="rect">
              <a:avLst/>
            </a:prstGeom>
            <a:noFill/>
          </p:spPr>
          <p:txBody>
            <a:bodyPr wrap="none" rtlCol="0">
              <a:spAutoFit/>
            </a:bodyPr>
            <a:lstStyle/>
            <a:p>
              <a:r>
                <a:rPr lang="en-US" sz="1400" b="1" dirty="0" smtClean="0">
                  <a:latin typeface="Arial" pitchFamily="34" charset="0"/>
                  <a:cs typeface="Arial" pitchFamily="34" charset="0"/>
                </a:rPr>
                <a:t>New</a:t>
              </a:r>
              <a:endParaRPr lang="en-US" sz="1400" b="1" dirty="0">
                <a:latin typeface="Arial" pitchFamily="34" charset="0"/>
                <a:cs typeface="Arial" pitchFamily="34" charset="0"/>
              </a:endParaRPr>
            </a:p>
          </p:txBody>
        </p:sp>
      </p:grpSp>
      <p:cxnSp>
        <p:nvCxnSpPr>
          <p:cNvPr id="91" name="Straight Arrow Connector 90"/>
          <p:cNvCxnSpPr/>
          <p:nvPr/>
        </p:nvCxnSpPr>
        <p:spPr>
          <a:xfrm flipV="1">
            <a:off x="5105400" y="2284511"/>
            <a:ext cx="990600" cy="148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075070" y="2069068"/>
            <a:ext cx="325730" cy="369332"/>
          </a:xfrm>
          <a:prstGeom prst="rect">
            <a:avLst/>
          </a:prstGeom>
          <a:noFill/>
        </p:spPr>
        <p:txBody>
          <a:bodyPr wrap="none" rtlCol="0">
            <a:spAutoFit/>
          </a:bodyPr>
          <a:lstStyle/>
          <a:p>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cxnSp>
        <p:nvCxnSpPr>
          <p:cNvPr id="92" name="Straight Arrow Connector 91"/>
          <p:cNvCxnSpPr/>
          <p:nvPr/>
        </p:nvCxnSpPr>
        <p:spPr>
          <a:xfrm>
            <a:off x="8001000" y="3276600"/>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322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3" name="Group 53"/>
          <p:cNvGrpSpPr>
            <a:grpSpLocks/>
          </p:cNvGrpSpPr>
          <p:nvPr/>
        </p:nvGrpSpPr>
        <p:grpSpPr bwMode="auto">
          <a:xfrm>
            <a:off x="381000" y="152400"/>
            <a:ext cx="2438400" cy="1828800"/>
            <a:chOff x="54843" y="533400"/>
            <a:chExt cx="3121827" cy="1758260"/>
          </a:xfrm>
        </p:grpSpPr>
        <p:grpSp>
          <p:nvGrpSpPr>
            <p:cNvPr id="41006" name="Group 24"/>
            <p:cNvGrpSpPr>
              <a:grpSpLocks/>
            </p:cNvGrpSpPr>
            <p:nvPr/>
          </p:nvGrpSpPr>
          <p:grpSpPr bwMode="auto">
            <a:xfrm>
              <a:off x="54843" y="533400"/>
              <a:ext cx="3121827" cy="1758260"/>
              <a:chOff x="54843" y="533400"/>
              <a:chExt cx="3121827" cy="1758260"/>
            </a:xfrm>
          </p:grpSpPr>
          <p:sp>
            <p:nvSpPr>
              <p:cNvPr id="12" name="Rounded Rectangle 11"/>
              <p:cNvSpPr/>
              <p:nvPr/>
            </p:nvSpPr>
            <p:spPr>
              <a:xfrm>
                <a:off x="54843" y="533400"/>
                <a:ext cx="3121827" cy="1758260"/>
              </a:xfrm>
              <a:prstGeom prst="roundRect">
                <a:avLst/>
              </a:prstGeom>
              <a:ln/>
            </p:spPr>
            <p:style>
              <a:lnRef idx="2">
                <a:schemeClr val="dk1"/>
              </a:lnRef>
              <a:fillRef idx="1">
                <a:schemeClr val="lt1"/>
              </a:fillRef>
              <a:effectRef idx="0">
                <a:schemeClr val="dk1"/>
              </a:effectRef>
              <a:fontRef idx="minor">
                <a:schemeClr val="dk1"/>
              </a:fontRef>
            </p:style>
            <p:txBody>
              <a:bodyPr lIns="73736" tIns="36868" rIns="73736" bIns="36868" anchor="ctr"/>
              <a:lstStyle/>
              <a:p>
                <a:pPr algn="ctr">
                  <a:defRPr/>
                </a:pPr>
                <a:endParaRPr lang="en-US">
                  <a:cs typeface="Arial" pitchFamily="34" charset="0"/>
                </a:endParaRPr>
              </a:p>
            </p:txBody>
          </p:sp>
          <p:grpSp>
            <p:nvGrpSpPr>
              <p:cNvPr id="41011" name="Group 23"/>
              <p:cNvGrpSpPr>
                <a:grpSpLocks/>
              </p:cNvGrpSpPr>
              <p:nvPr/>
            </p:nvGrpSpPr>
            <p:grpSpPr bwMode="auto">
              <a:xfrm>
                <a:off x="203314" y="685801"/>
                <a:ext cx="2832790" cy="1459338"/>
                <a:chOff x="203314" y="685801"/>
                <a:chExt cx="2832790" cy="1459338"/>
              </a:xfrm>
            </p:grpSpPr>
            <p:sp>
              <p:nvSpPr>
                <p:cNvPr id="17" name="Freeform 1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40000"/>
                    <a:lumOff val="6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MIDUS 1</a:t>
                  </a:r>
                  <a:endParaRPr lang="en-US" sz="1100" b="1" dirty="0">
                    <a:solidFill>
                      <a:schemeClr val="tx1"/>
                    </a:solidFill>
                  </a:endParaRPr>
                </a:p>
                <a:p>
                  <a:pPr algn="ctr">
                    <a:defRPr/>
                  </a:pPr>
                  <a:r>
                    <a:rPr lang="en-US" sz="1100" b="1" dirty="0">
                      <a:solidFill>
                        <a:schemeClr val="tx1"/>
                      </a:solidFill>
                    </a:rPr>
                    <a:t>Sample</a:t>
                  </a:r>
                </a:p>
                <a:p>
                  <a:pPr algn="ctr">
                    <a:defRPr/>
                  </a:pPr>
                  <a:r>
                    <a:rPr lang="en-US" sz="1100" b="1" dirty="0">
                      <a:solidFill>
                        <a:schemeClr val="tx1"/>
                      </a:solidFill>
                    </a:rPr>
                    <a:t>(N=7,108)</a:t>
                  </a:r>
                </a:p>
              </p:txBody>
            </p:sp>
            <p:sp>
              <p:nvSpPr>
                <p:cNvPr id="18" name="Freeform 17"/>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19" name="Freeform 18"/>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20" name="Freeform 19"/>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40" name="Straight Arrow Connector 39"/>
            <p:cNvCxnSpPr/>
            <p:nvPr/>
          </p:nvCxnSpPr>
          <p:spPr>
            <a:xfrm rot="10800000" flipV="1">
              <a:off x="577181" y="1447635"/>
              <a:ext cx="534531" cy="3052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1416130" y="1600008"/>
              <a:ext cx="303728" cy="203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1949077" y="1447635"/>
              <a:ext cx="382099" cy="22894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0964" name="TextBox 45"/>
          <p:cNvSpPr txBox="1">
            <a:spLocks noChangeArrowheads="1"/>
          </p:cNvSpPr>
          <p:nvPr/>
        </p:nvSpPr>
        <p:spPr bwMode="auto">
          <a:xfrm>
            <a:off x="457200" y="2971800"/>
            <a:ext cx="3075174"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3600" b="1" dirty="0" smtClean="0"/>
              <a:t>Multiple</a:t>
            </a:r>
          </a:p>
          <a:p>
            <a:pPr eaLnBrk="1" hangingPunct="1"/>
            <a:r>
              <a:rPr lang="en-US" sz="3600" b="1" dirty="0" smtClean="0"/>
              <a:t>Longitudinal</a:t>
            </a:r>
          </a:p>
          <a:p>
            <a:pPr eaLnBrk="1" hangingPunct="1"/>
            <a:r>
              <a:rPr lang="en-US" sz="3600" b="1" dirty="0" smtClean="0"/>
              <a:t>Sample</a:t>
            </a:r>
          </a:p>
          <a:p>
            <a:pPr eaLnBrk="1" hangingPunct="1"/>
            <a:r>
              <a:rPr lang="en-US" sz="3600" b="1" dirty="0" smtClean="0"/>
              <a:t>Cohorts</a:t>
            </a:r>
            <a:endParaRPr lang="en-US" sz="3600" b="1" dirty="0"/>
          </a:p>
        </p:txBody>
      </p:sp>
      <p:grpSp>
        <p:nvGrpSpPr>
          <p:cNvPr id="40992" name="Group 24"/>
          <p:cNvGrpSpPr>
            <a:grpSpLocks/>
          </p:cNvGrpSpPr>
          <p:nvPr/>
        </p:nvGrpSpPr>
        <p:grpSpPr bwMode="auto">
          <a:xfrm>
            <a:off x="3276600" y="152400"/>
            <a:ext cx="2438400" cy="2438400"/>
            <a:chOff x="54843" y="533400"/>
            <a:chExt cx="3121827" cy="2479706"/>
          </a:xfrm>
        </p:grpSpPr>
        <p:sp>
          <p:nvSpPr>
            <p:cNvPr id="55" name="Rounded Rectangle 54"/>
            <p:cNvSpPr/>
            <p:nvPr/>
          </p:nvSpPr>
          <p:spPr>
            <a:xfrm>
              <a:off x="54843" y="533400"/>
              <a:ext cx="3121827" cy="247970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0997" name="Group 23"/>
            <p:cNvGrpSpPr>
              <a:grpSpLocks/>
            </p:cNvGrpSpPr>
            <p:nvPr/>
          </p:nvGrpSpPr>
          <p:grpSpPr bwMode="auto">
            <a:xfrm>
              <a:off x="203314" y="685801"/>
              <a:ext cx="2832790" cy="1459338"/>
              <a:chOff x="203314" y="685801"/>
              <a:chExt cx="2832790" cy="1459338"/>
            </a:xfrm>
          </p:grpSpPr>
          <p:sp>
            <p:nvSpPr>
              <p:cNvPr id="57" name="Freeform 56"/>
              <p:cNvSpPr/>
              <p:nvPr/>
            </p:nvSpPr>
            <p:spPr>
              <a:xfrm>
                <a:off x="932857" y="686027"/>
                <a:ext cx="1172718" cy="65324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tx2">
                  <a:lumMod val="20000"/>
                  <a:lumOff val="80000"/>
                </a:schemeClr>
              </a:solidFill>
              <a:ln w="9525">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MIDUS </a:t>
                </a:r>
                <a:r>
                  <a:rPr lang="en-US" sz="1100" b="1" dirty="0" smtClean="0">
                    <a:solidFill>
                      <a:schemeClr val="tx1"/>
                    </a:solidFill>
                  </a:rPr>
                  <a:t>2</a:t>
                </a:r>
                <a:endParaRPr lang="en-US" sz="1100" b="1" dirty="0">
                  <a:solidFill>
                    <a:schemeClr val="tx1"/>
                  </a:solidFill>
                </a:endParaRPr>
              </a:p>
            </p:txBody>
          </p:sp>
          <p:sp>
            <p:nvSpPr>
              <p:cNvPr id="59" name="Freeform 58"/>
              <p:cNvSpPr/>
              <p:nvPr/>
            </p:nvSpPr>
            <p:spPr>
              <a:xfrm>
                <a:off x="203212" y="1812413"/>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a:t>
                </a:r>
                <a:r>
                  <a:rPr lang="en-US" sz="1100" b="1" dirty="0" smtClean="0">
                    <a:solidFill>
                      <a:schemeClr val="tx1"/>
                    </a:solidFill>
                  </a:rPr>
                  <a:t>RDD</a:t>
                </a:r>
                <a:endParaRPr lang="en-US" sz="1100" b="1" dirty="0">
                  <a:solidFill>
                    <a:schemeClr val="tx1"/>
                  </a:solidFill>
                </a:endParaRPr>
              </a:p>
            </p:txBody>
          </p:sp>
          <p:sp>
            <p:nvSpPr>
              <p:cNvPr id="62" name="Freeform 61"/>
              <p:cNvSpPr/>
              <p:nvPr/>
            </p:nvSpPr>
            <p:spPr>
              <a:xfrm>
                <a:off x="1256015" y="1812413"/>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Siblings</a:t>
                </a:r>
                <a:endParaRPr lang="en-US" sz="1100" b="1" dirty="0">
                  <a:solidFill>
                    <a:schemeClr val="tx1"/>
                  </a:solidFill>
                </a:endParaRPr>
              </a:p>
            </p:txBody>
          </p:sp>
          <p:sp>
            <p:nvSpPr>
              <p:cNvPr id="64" name="Freeform 63"/>
              <p:cNvSpPr/>
              <p:nvPr/>
            </p:nvSpPr>
            <p:spPr>
              <a:xfrm>
                <a:off x="2192969" y="1812413"/>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tx2">
                  <a:lumMod val="20000"/>
                  <a:lumOff val="8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smtClean="0">
                    <a:solidFill>
                      <a:schemeClr val="tx1"/>
                    </a:solidFill>
                  </a:rPr>
                  <a:t>Twins</a:t>
                </a:r>
                <a:endParaRPr lang="en-US" sz="1100" b="1" dirty="0">
                  <a:solidFill>
                    <a:schemeClr val="tx1"/>
                  </a:solidFill>
                </a:endParaRPr>
              </a:p>
            </p:txBody>
          </p:sp>
        </p:grpSp>
      </p:grpSp>
      <p:cxnSp>
        <p:nvCxnSpPr>
          <p:cNvPr id="52" name="Straight Arrow Connector 51"/>
          <p:cNvCxnSpPr/>
          <p:nvPr/>
        </p:nvCxnSpPr>
        <p:spPr bwMode="auto">
          <a:xfrm rot="10800000" flipV="1">
            <a:off x="3684588" y="1103313"/>
            <a:ext cx="417512" cy="3175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bwMode="auto">
          <a:xfrm rot="5400000">
            <a:off x="4300537" y="1262063"/>
            <a:ext cx="315913"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auto">
          <a:xfrm>
            <a:off x="4756150" y="1103313"/>
            <a:ext cx="298450" cy="2381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0969" name="Group 53"/>
          <p:cNvGrpSpPr>
            <a:grpSpLocks/>
          </p:cNvGrpSpPr>
          <p:nvPr/>
        </p:nvGrpSpPr>
        <p:grpSpPr bwMode="auto">
          <a:xfrm>
            <a:off x="6248400" y="152400"/>
            <a:ext cx="2438400" cy="1828800"/>
            <a:chOff x="54843" y="533400"/>
            <a:chExt cx="3121827" cy="1758260"/>
          </a:xfrm>
        </p:grpSpPr>
        <p:grpSp>
          <p:nvGrpSpPr>
            <p:cNvPr id="40982" name="Group 24"/>
            <p:cNvGrpSpPr>
              <a:grpSpLocks/>
            </p:cNvGrpSpPr>
            <p:nvPr/>
          </p:nvGrpSpPr>
          <p:grpSpPr bwMode="auto">
            <a:xfrm>
              <a:off x="54843" y="533400"/>
              <a:ext cx="3121827" cy="1758260"/>
              <a:chOff x="54843" y="533400"/>
              <a:chExt cx="3121827" cy="1758260"/>
            </a:xfrm>
          </p:grpSpPr>
          <p:sp>
            <p:nvSpPr>
              <p:cNvPr id="78" name="Rounded Rectangle 77"/>
              <p:cNvSpPr/>
              <p:nvPr/>
            </p:nvSpPr>
            <p:spPr>
              <a:xfrm>
                <a:off x="54843" y="533400"/>
                <a:ext cx="3121827" cy="1758260"/>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0987" name="Group 23"/>
              <p:cNvGrpSpPr>
                <a:grpSpLocks/>
              </p:cNvGrpSpPr>
              <p:nvPr/>
            </p:nvGrpSpPr>
            <p:grpSpPr bwMode="auto">
              <a:xfrm>
                <a:off x="203212" y="686027"/>
                <a:ext cx="2833220" cy="1239329"/>
                <a:chOff x="203212" y="686027"/>
                <a:chExt cx="2833220" cy="1239329"/>
              </a:xfrm>
            </p:grpSpPr>
            <p:sp>
              <p:nvSpPr>
                <p:cNvPr id="80" name="Freeform 79"/>
                <p:cNvSpPr/>
                <p:nvPr/>
              </p:nvSpPr>
              <p:spPr>
                <a:xfrm>
                  <a:off x="932857" y="686027"/>
                  <a:ext cx="1172718" cy="506721"/>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MIDUS </a:t>
                  </a:r>
                  <a:r>
                    <a:rPr lang="en-US" sz="1100" b="1" dirty="0" smtClean="0">
                      <a:solidFill>
                        <a:schemeClr val="tx1"/>
                      </a:solidFill>
                    </a:rPr>
                    <a:t>3</a:t>
                  </a:r>
                  <a:endParaRPr lang="en-US" sz="1100" b="1" dirty="0">
                    <a:solidFill>
                      <a:schemeClr val="tx1"/>
                    </a:solidFill>
                  </a:endParaRPr>
                </a:p>
                <a:p>
                  <a:pPr algn="ctr">
                    <a:defRPr/>
                  </a:pPr>
                  <a:r>
                    <a:rPr lang="en-US" sz="1100" b="1" dirty="0" smtClean="0">
                      <a:solidFill>
                        <a:schemeClr val="tx1"/>
                      </a:solidFill>
                      <a:cs typeface="Arial" pitchFamily="34" charset="0"/>
                    </a:rPr>
                    <a:t>(2013)</a:t>
                  </a:r>
                  <a:endParaRPr lang="en-US" sz="1100" b="1" dirty="0">
                    <a:solidFill>
                      <a:schemeClr val="tx1"/>
                    </a:solidFill>
                    <a:cs typeface="Arial" pitchFamily="34" charset="0"/>
                  </a:endParaRPr>
                </a:p>
                <a:p>
                  <a:pPr algn="ctr">
                    <a:defRPr/>
                  </a:pPr>
                  <a:endParaRPr lang="en-US" sz="1100" b="1" dirty="0">
                    <a:solidFill>
                      <a:schemeClr val="tx1"/>
                    </a:solidFill>
                  </a:endParaRPr>
                </a:p>
              </p:txBody>
            </p:sp>
            <p:sp>
              <p:nvSpPr>
                <p:cNvPr id="81" name="Freeform 80"/>
                <p:cNvSpPr/>
                <p:nvPr/>
              </p:nvSpPr>
              <p:spPr>
                <a:xfrm>
                  <a:off x="203212" y="1592630"/>
                  <a:ext cx="969473" cy="332726"/>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Main RDD</a:t>
                  </a:r>
                </a:p>
              </p:txBody>
            </p:sp>
            <p:sp>
              <p:nvSpPr>
                <p:cNvPr id="82" name="Freeform 81"/>
                <p:cNvSpPr/>
                <p:nvPr/>
              </p:nvSpPr>
              <p:spPr>
                <a:xfrm>
                  <a:off x="1256015" y="1592630"/>
                  <a:ext cx="853624"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Siblings</a:t>
                  </a:r>
                </a:p>
              </p:txBody>
            </p:sp>
            <p:sp>
              <p:nvSpPr>
                <p:cNvPr id="83" name="Freeform 82"/>
                <p:cNvSpPr/>
                <p:nvPr/>
              </p:nvSpPr>
              <p:spPr>
                <a:xfrm>
                  <a:off x="2192969" y="1592629"/>
                  <a:ext cx="843463" cy="332726"/>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accent2">
                    <a:lumMod val="40000"/>
                    <a:lumOff val="60000"/>
                  </a:schemeClr>
                </a:solidFill>
                <a:ln w="38100">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Twins</a:t>
                  </a:r>
                </a:p>
              </p:txBody>
            </p:sp>
          </p:grpSp>
        </p:grpSp>
        <p:cxnSp>
          <p:nvCxnSpPr>
            <p:cNvPr id="70" name="Straight Arrow Connector 69"/>
            <p:cNvCxnSpPr/>
            <p:nvPr/>
          </p:nvCxnSpPr>
          <p:spPr>
            <a:xfrm rot="10800000" flipV="1">
              <a:off x="577181" y="1227853"/>
              <a:ext cx="534531" cy="30525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rot="5400000">
              <a:off x="1416130" y="1380226"/>
              <a:ext cx="303728" cy="203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1949077" y="1227853"/>
              <a:ext cx="382099" cy="22894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84" name="Straight Arrow Connector 83"/>
          <p:cNvCxnSpPr/>
          <p:nvPr/>
        </p:nvCxnSpPr>
        <p:spPr>
          <a:xfrm>
            <a:off x="5791200" y="1141413"/>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40971" name="Group 59"/>
          <p:cNvGrpSpPr>
            <a:grpSpLocks/>
          </p:cNvGrpSpPr>
          <p:nvPr/>
        </p:nvGrpSpPr>
        <p:grpSpPr bwMode="auto">
          <a:xfrm>
            <a:off x="152400" y="6172200"/>
            <a:ext cx="8839200" cy="685800"/>
            <a:chOff x="228600" y="3733800"/>
            <a:chExt cx="9372600" cy="685800"/>
          </a:xfrm>
        </p:grpSpPr>
        <p:sp>
          <p:nvSpPr>
            <p:cNvPr id="61" name="Right Arrow 60"/>
            <p:cNvSpPr/>
            <p:nvPr/>
          </p:nvSpPr>
          <p:spPr>
            <a:xfrm>
              <a:off x="6477000" y="3733800"/>
              <a:ext cx="3124200" cy="685800"/>
            </a:xfrm>
            <a:prstGeom prst="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rPr>
                <a:t>2015</a:t>
              </a:r>
            </a:p>
          </p:txBody>
        </p:sp>
        <p:sp>
          <p:nvSpPr>
            <p:cNvPr id="63" name="TextBox 62"/>
            <p:cNvSpPr txBox="1"/>
            <p:nvPr/>
          </p:nvSpPr>
          <p:spPr>
            <a:xfrm>
              <a:off x="228600" y="3886200"/>
              <a:ext cx="3124200" cy="369888"/>
            </a:xfrm>
            <a:prstGeom prst="rect">
              <a:avLst/>
            </a:prstGeom>
            <a:solidFill>
              <a:schemeClr val="tx2">
                <a:lumMod val="60000"/>
                <a:lumOff val="40000"/>
              </a:schemeClr>
            </a:solidFill>
            <a:ln>
              <a:noFill/>
            </a:ln>
          </p:spPr>
          <p:txBody>
            <a:bodyPr>
              <a:spAutoFit/>
            </a:bodyPr>
            <a:lstStyle/>
            <a:p>
              <a:pPr algn="ctr">
                <a:defRPr/>
              </a:pPr>
              <a:r>
                <a:rPr lang="en-US" b="1" dirty="0"/>
                <a:t>1995</a:t>
              </a:r>
            </a:p>
          </p:txBody>
        </p:sp>
        <p:sp>
          <p:nvSpPr>
            <p:cNvPr id="65" name="TextBox 64"/>
            <p:cNvSpPr txBox="1"/>
            <p:nvPr/>
          </p:nvSpPr>
          <p:spPr>
            <a:xfrm>
              <a:off x="3352800" y="3886200"/>
              <a:ext cx="3124200" cy="369888"/>
            </a:xfrm>
            <a:prstGeom prst="rect">
              <a:avLst/>
            </a:prstGeom>
            <a:solidFill>
              <a:schemeClr val="tx2">
                <a:lumMod val="20000"/>
                <a:lumOff val="80000"/>
              </a:schemeClr>
            </a:solidFill>
            <a:ln w="25400">
              <a:noFill/>
            </a:ln>
          </p:spPr>
          <p:txBody>
            <a:bodyPr>
              <a:spAutoFit/>
            </a:bodyPr>
            <a:lstStyle/>
            <a:p>
              <a:pPr algn="ctr">
                <a:defRPr/>
              </a:pPr>
              <a:r>
                <a:rPr lang="en-US" b="1" dirty="0"/>
                <a:t>2005</a:t>
              </a:r>
            </a:p>
          </p:txBody>
        </p:sp>
      </p:grpSp>
      <p:cxnSp>
        <p:nvCxnSpPr>
          <p:cNvPr id="73" name="Straight Arrow Connector 72"/>
          <p:cNvCxnSpPr/>
          <p:nvPr/>
        </p:nvCxnSpPr>
        <p:spPr>
          <a:xfrm>
            <a:off x="2895600" y="1141413"/>
            <a:ext cx="304800" cy="317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8763000" y="1143000"/>
            <a:ext cx="304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8229600" y="5029200"/>
            <a:ext cx="7620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5791200" y="3295482"/>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_s1036"/>
          <p:cNvSpPr>
            <a:spLocks noChangeArrowheads="1"/>
          </p:cNvSpPr>
          <p:nvPr/>
        </p:nvSpPr>
        <p:spPr bwMode="auto">
          <a:xfrm>
            <a:off x="4073522" y="1981200"/>
            <a:ext cx="879478" cy="533400"/>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a:latin typeface="Arial" pitchFamily="34" charset="0"/>
                <a:cs typeface="Arial" pitchFamily="34" charset="0"/>
              </a:rPr>
              <a:t>Milwaukee </a:t>
            </a:r>
          </a:p>
          <a:p>
            <a:pPr algn="ctr">
              <a:defRPr/>
            </a:pPr>
            <a:r>
              <a:rPr lang="en-US" sz="1100" b="1" dirty="0" smtClean="0">
                <a:latin typeface="Arial" pitchFamily="34" charset="0"/>
                <a:cs typeface="Arial" pitchFamily="34" charset="0"/>
              </a:rPr>
              <a:t>(</a:t>
            </a:r>
            <a:r>
              <a:rPr lang="en-US" sz="1100" b="1" dirty="0">
                <a:latin typeface="Arial" pitchFamily="34" charset="0"/>
                <a:cs typeface="Arial" pitchFamily="34" charset="0"/>
              </a:rPr>
              <a:t>N=592)</a:t>
            </a:r>
          </a:p>
        </p:txBody>
      </p:sp>
      <p:cxnSp>
        <p:nvCxnSpPr>
          <p:cNvPr id="4" name="Elbow Connector 3"/>
          <p:cNvCxnSpPr/>
          <p:nvPr/>
        </p:nvCxnSpPr>
        <p:spPr>
          <a:xfrm rot="5400000">
            <a:off x="3798491" y="1383109"/>
            <a:ext cx="990600" cy="205582"/>
          </a:xfrm>
          <a:prstGeom prst="bentConnector3">
            <a:avLst>
              <a:gd name="adj1" fmla="val 29578"/>
            </a:avLst>
          </a:prstGeom>
        </p:spPr>
        <p:style>
          <a:lnRef idx="1">
            <a:schemeClr val="dk1"/>
          </a:lnRef>
          <a:fillRef idx="0">
            <a:schemeClr val="dk1"/>
          </a:fillRef>
          <a:effectRef idx="0">
            <a:schemeClr val="dk1"/>
          </a:effectRef>
          <a:fontRef idx="minor">
            <a:schemeClr val="tx1"/>
          </a:fontRef>
        </p:style>
      </p:cxnSp>
      <p:grpSp>
        <p:nvGrpSpPr>
          <p:cNvPr id="40976" name="Group 54"/>
          <p:cNvGrpSpPr>
            <a:grpSpLocks/>
          </p:cNvGrpSpPr>
          <p:nvPr/>
        </p:nvGrpSpPr>
        <p:grpSpPr bwMode="auto">
          <a:xfrm>
            <a:off x="3823495" y="2819400"/>
            <a:ext cx="1891505" cy="914400"/>
            <a:chOff x="3422730" y="2743199"/>
            <a:chExt cx="1835071" cy="943898"/>
          </a:xfrm>
        </p:grpSpPr>
        <p:sp>
          <p:nvSpPr>
            <p:cNvPr id="68" name="_s1036"/>
            <p:cNvSpPr>
              <a:spLocks noChangeArrowheads="1"/>
            </p:cNvSpPr>
            <p:nvPr/>
          </p:nvSpPr>
          <p:spPr bwMode="auto">
            <a:xfrm>
              <a:off x="3997992" y="2895601"/>
              <a:ext cx="1142672" cy="577952"/>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a:latin typeface="Arial" pitchFamily="34" charset="0"/>
                  <a:cs typeface="Arial" pitchFamily="34" charset="0"/>
                </a:rPr>
                <a:t>Midlife in Japan</a:t>
              </a:r>
            </a:p>
            <a:p>
              <a:pPr algn="ctr">
                <a:defRPr/>
              </a:pPr>
              <a:r>
                <a:rPr lang="en-US" sz="1100" b="1" dirty="0" smtClean="0">
                  <a:latin typeface="Arial" pitchFamily="34" charset="0"/>
                  <a:cs typeface="Arial" pitchFamily="34" charset="0"/>
                </a:rPr>
                <a:t>(</a:t>
              </a:r>
              <a:r>
                <a:rPr lang="en-US" sz="1100" b="1" dirty="0">
                  <a:latin typeface="Arial" pitchFamily="34" charset="0"/>
                  <a:cs typeface="Arial" pitchFamily="34" charset="0"/>
                </a:rPr>
                <a:t>N=1,032)</a:t>
              </a:r>
            </a:p>
          </p:txBody>
        </p:sp>
        <p:sp>
          <p:nvSpPr>
            <p:cNvPr id="69" name="Rounded Rectangle 68"/>
            <p:cNvSpPr/>
            <p:nvPr/>
          </p:nvSpPr>
          <p:spPr>
            <a:xfrm>
              <a:off x="3422730" y="2743199"/>
              <a:ext cx="1835071" cy="9438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grpSp>
        <p:nvGrpSpPr>
          <p:cNvPr id="76" name="Group 54"/>
          <p:cNvGrpSpPr>
            <a:grpSpLocks/>
          </p:cNvGrpSpPr>
          <p:nvPr/>
        </p:nvGrpSpPr>
        <p:grpSpPr bwMode="auto">
          <a:xfrm>
            <a:off x="6410087" y="2819400"/>
            <a:ext cx="1438513" cy="914400"/>
            <a:chOff x="3862207" y="2743199"/>
            <a:chExt cx="1395594" cy="943898"/>
          </a:xfrm>
        </p:grpSpPr>
        <p:sp>
          <p:nvSpPr>
            <p:cNvPr id="88" name="_s1036"/>
            <p:cNvSpPr>
              <a:spLocks noChangeArrowheads="1"/>
            </p:cNvSpPr>
            <p:nvPr/>
          </p:nvSpPr>
          <p:spPr bwMode="auto">
            <a:xfrm>
              <a:off x="3997992" y="2895601"/>
              <a:ext cx="1142672" cy="577952"/>
            </a:xfrm>
            <a:prstGeom prst="rect">
              <a:avLst/>
            </a:prstGeom>
            <a:solidFill>
              <a:schemeClr val="tx2">
                <a:lumMod val="20000"/>
                <a:lumOff val="80000"/>
              </a:schemeClr>
            </a:solidFill>
            <a:ln w="9525">
              <a:solidFill>
                <a:schemeClr val="tx1"/>
              </a:solidFill>
              <a:round/>
              <a:headEnd/>
              <a:tailEnd/>
            </a:ln>
          </p:spPr>
          <p:txBody>
            <a:bodyPr wrap="none" lIns="0" tIns="0" rIns="0" bIns="0" anchor="ctr"/>
            <a:lstStyle/>
            <a:p>
              <a:pPr algn="ctr">
                <a:defRPr/>
              </a:pPr>
              <a:r>
                <a:rPr lang="en-US" sz="1100" b="1" dirty="0" smtClean="0">
                  <a:latin typeface="Arial" pitchFamily="34" charset="0"/>
                  <a:cs typeface="Arial" pitchFamily="34" charset="0"/>
                </a:rPr>
                <a:t>MIDJA 2</a:t>
              </a:r>
              <a:endParaRPr lang="en-US" sz="1100" b="1" dirty="0">
                <a:latin typeface="Arial" pitchFamily="34" charset="0"/>
                <a:cs typeface="Arial" pitchFamily="34" charset="0"/>
              </a:endParaRPr>
            </a:p>
            <a:p>
              <a:pPr algn="ctr">
                <a:defRPr/>
              </a:pPr>
              <a:r>
                <a:rPr lang="en-US" sz="1100" b="1" dirty="0" smtClean="0">
                  <a:latin typeface="Arial" pitchFamily="34" charset="0"/>
                  <a:cs typeface="Arial" pitchFamily="34" charset="0"/>
                </a:rPr>
                <a:t>(2013)</a:t>
              </a:r>
              <a:endParaRPr lang="en-US" sz="1100" b="1" dirty="0">
                <a:latin typeface="Arial" pitchFamily="34" charset="0"/>
                <a:cs typeface="Arial" pitchFamily="34" charset="0"/>
              </a:endParaRPr>
            </a:p>
          </p:txBody>
        </p:sp>
        <p:sp>
          <p:nvSpPr>
            <p:cNvPr id="89" name="Rounded Rectangle 88"/>
            <p:cNvSpPr/>
            <p:nvPr/>
          </p:nvSpPr>
          <p:spPr>
            <a:xfrm>
              <a:off x="3862207" y="2743199"/>
              <a:ext cx="1395594" cy="94389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grpSp>
        <p:nvGrpSpPr>
          <p:cNvPr id="40962" name="Group 55"/>
          <p:cNvGrpSpPr>
            <a:grpSpLocks/>
          </p:cNvGrpSpPr>
          <p:nvPr/>
        </p:nvGrpSpPr>
        <p:grpSpPr bwMode="auto">
          <a:xfrm>
            <a:off x="5605464" y="4114801"/>
            <a:ext cx="2457211" cy="1600199"/>
            <a:chOff x="6078952" y="3962401"/>
            <a:chExt cx="2226847" cy="1592781"/>
          </a:xfrm>
        </p:grpSpPr>
        <p:grpSp>
          <p:nvGrpSpPr>
            <p:cNvPr id="41016" name="Group 25"/>
            <p:cNvGrpSpPr>
              <a:grpSpLocks/>
            </p:cNvGrpSpPr>
            <p:nvPr/>
          </p:nvGrpSpPr>
          <p:grpSpPr bwMode="auto">
            <a:xfrm>
              <a:off x="6078952" y="3962401"/>
              <a:ext cx="2226847" cy="1592781"/>
              <a:chOff x="135353" y="685801"/>
              <a:chExt cx="2226847" cy="1592781"/>
            </a:xfrm>
          </p:grpSpPr>
          <p:sp>
            <p:nvSpPr>
              <p:cNvPr id="27" name="Rounded Rectangle 26"/>
              <p:cNvSpPr/>
              <p:nvPr/>
            </p:nvSpPr>
            <p:spPr>
              <a:xfrm>
                <a:off x="135353" y="685801"/>
                <a:ext cx="2226847" cy="1592781"/>
              </a:xfrm>
              <a:prstGeom prst="roundRect">
                <a:avLst/>
              </a:prstGeom>
              <a:noFill/>
              <a:ln w="476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73736" tIns="36868" rIns="73736" bIns="36868" anchor="ctr"/>
              <a:lstStyle/>
              <a:p>
                <a:pPr algn="ctr">
                  <a:defRPr/>
                </a:pPr>
                <a:endParaRPr lang="en-US">
                  <a:cs typeface="Arial" pitchFamily="34" charset="0"/>
                </a:endParaRPr>
              </a:p>
            </p:txBody>
          </p:sp>
          <p:grpSp>
            <p:nvGrpSpPr>
              <p:cNvPr id="41020" name="Group 23"/>
              <p:cNvGrpSpPr>
                <a:grpSpLocks/>
              </p:cNvGrpSpPr>
              <p:nvPr/>
            </p:nvGrpSpPr>
            <p:grpSpPr bwMode="auto">
              <a:xfrm>
                <a:off x="481160" y="761987"/>
                <a:ext cx="1756091" cy="1364901"/>
                <a:chOff x="481160" y="761987"/>
                <a:chExt cx="1756091" cy="1364901"/>
              </a:xfrm>
            </p:grpSpPr>
            <p:sp>
              <p:nvSpPr>
                <p:cNvPr id="32" name="Freeform 31"/>
                <p:cNvSpPr/>
                <p:nvPr/>
              </p:nvSpPr>
              <p:spPr>
                <a:xfrm>
                  <a:off x="718015" y="761987"/>
                  <a:ext cx="1074686" cy="606433"/>
                </a:xfrm>
                <a:custGeom>
                  <a:avLst/>
                  <a:gdLst>
                    <a:gd name="connsiteX0" fmla="*/ 0 w 1017892"/>
                    <a:gd name="connsiteY0" fmla="*/ 0 h 693235"/>
                    <a:gd name="connsiteX1" fmla="*/ 1017892 w 1017892"/>
                    <a:gd name="connsiteY1" fmla="*/ 0 h 693235"/>
                    <a:gd name="connsiteX2" fmla="*/ 1017892 w 1017892"/>
                    <a:gd name="connsiteY2" fmla="*/ 693235 h 693235"/>
                    <a:gd name="connsiteX3" fmla="*/ 0 w 1017892"/>
                    <a:gd name="connsiteY3" fmla="*/ 693235 h 693235"/>
                    <a:gd name="connsiteX4" fmla="*/ 0 w 1017892"/>
                    <a:gd name="connsiteY4" fmla="*/ 0 h 693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892" h="693235">
                      <a:moveTo>
                        <a:pt x="0" y="0"/>
                      </a:moveTo>
                      <a:lnTo>
                        <a:pt x="1017892" y="0"/>
                      </a:lnTo>
                      <a:lnTo>
                        <a:pt x="1017892" y="693235"/>
                      </a:lnTo>
                      <a:lnTo>
                        <a:pt x="0" y="693235"/>
                      </a:lnTo>
                      <a:lnTo>
                        <a:pt x="0" y="0"/>
                      </a:lnTo>
                      <a:close/>
                    </a:path>
                  </a:pathLst>
                </a:custGeom>
                <a:solidFill>
                  <a:schemeClr val="accent2">
                    <a:lumMod val="40000"/>
                    <a:lumOff val="60000"/>
                  </a:schemeClr>
                </a:solidFill>
                <a:ln w="47625">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Refresher</a:t>
                  </a:r>
                </a:p>
                <a:p>
                  <a:pPr algn="ctr">
                    <a:defRPr/>
                  </a:pPr>
                  <a:r>
                    <a:rPr lang="en-US" sz="1100" b="1" dirty="0">
                      <a:solidFill>
                        <a:schemeClr val="tx1"/>
                      </a:solidFill>
                    </a:rPr>
                    <a:t>Sample</a:t>
                  </a:r>
                </a:p>
                <a:p>
                  <a:pPr algn="ctr">
                    <a:defRPr/>
                  </a:pPr>
                  <a:r>
                    <a:rPr lang="en-US" sz="1100" b="1" dirty="0" smtClean="0">
                      <a:solidFill>
                        <a:schemeClr val="tx1"/>
                      </a:solidFill>
                    </a:rPr>
                    <a:t>(N</a:t>
                  </a:r>
                  <a:r>
                    <a:rPr lang="en-US" sz="1100" b="1" dirty="0">
                      <a:solidFill>
                        <a:schemeClr val="tx1"/>
                      </a:solidFill>
                    </a:rPr>
                    <a:t>≈</a:t>
                  </a:r>
                  <a:r>
                    <a:rPr lang="en-US" sz="1100" b="1" dirty="0" smtClean="0">
                      <a:solidFill>
                        <a:schemeClr val="tx1"/>
                      </a:solidFill>
                    </a:rPr>
                    <a:t>2,659)</a:t>
                  </a:r>
                  <a:endParaRPr lang="en-US" sz="1100" b="1" dirty="0">
                    <a:solidFill>
                      <a:schemeClr val="tx1"/>
                    </a:solidFill>
                  </a:endParaRPr>
                </a:p>
              </p:txBody>
            </p:sp>
            <p:sp>
              <p:nvSpPr>
                <p:cNvPr id="33" name="Freeform 32"/>
                <p:cNvSpPr/>
                <p:nvPr/>
              </p:nvSpPr>
              <p:spPr>
                <a:xfrm>
                  <a:off x="481160" y="1690488"/>
                  <a:ext cx="770911" cy="431717"/>
                </a:xfrm>
                <a:custGeom>
                  <a:avLst/>
                  <a:gdLst>
                    <a:gd name="connsiteX0" fmla="*/ 0 w 945095"/>
                    <a:gd name="connsiteY0" fmla="*/ 0 h 631909"/>
                    <a:gd name="connsiteX1" fmla="*/ 945095 w 945095"/>
                    <a:gd name="connsiteY1" fmla="*/ 0 h 631909"/>
                    <a:gd name="connsiteX2" fmla="*/ 945095 w 945095"/>
                    <a:gd name="connsiteY2" fmla="*/ 631909 h 631909"/>
                    <a:gd name="connsiteX3" fmla="*/ 0 w 945095"/>
                    <a:gd name="connsiteY3" fmla="*/ 631909 h 631909"/>
                    <a:gd name="connsiteX4" fmla="*/ 0 w 945095"/>
                    <a:gd name="connsiteY4" fmla="*/ 0 h 631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095" h="631909">
                      <a:moveTo>
                        <a:pt x="0" y="0"/>
                      </a:moveTo>
                      <a:lnTo>
                        <a:pt x="945095" y="0"/>
                      </a:lnTo>
                      <a:lnTo>
                        <a:pt x="945095" y="631909"/>
                      </a:lnTo>
                      <a:lnTo>
                        <a:pt x="0" y="631909"/>
                      </a:lnTo>
                      <a:lnTo>
                        <a:pt x="0" y="0"/>
                      </a:lnTo>
                      <a:close/>
                    </a:path>
                  </a:pathLst>
                </a:custGeom>
                <a:solidFill>
                  <a:schemeClr val="accent2">
                    <a:lumMod val="40000"/>
                    <a:lumOff val="60000"/>
                  </a:schemeClr>
                </a:solidFill>
                <a:ln w="47625">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RDD</a:t>
                  </a:r>
                </a:p>
                <a:p>
                  <a:pPr algn="ctr">
                    <a:defRPr/>
                  </a:pPr>
                  <a:r>
                    <a:rPr lang="en-US" sz="1100" b="1" dirty="0" smtClean="0">
                      <a:solidFill>
                        <a:schemeClr val="tx1"/>
                      </a:solidFill>
                    </a:rPr>
                    <a:t>(N</a:t>
                  </a:r>
                  <a:r>
                    <a:rPr lang="en-US" sz="1100" b="1" dirty="0">
                      <a:solidFill>
                        <a:schemeClr val="tx1"/>
                      </a:solidFill>
                    </a:rPr>
                    <a:t>≈</a:t>
                  </a:r>
                  <a:r>
                    <a:rPr lang="en-US" sz="1100" b="1" dirty="0" smtClean="0">
                      <a:solidFill>
                        <a:schemeClr val="tx1"/>
                      </a:solidFill>
                    </a:rPr>
                    <a:t>2,152)</a:t>
                  </a:r>
                  <a:endParaRPr lang="en-US" sz="1100" b="1" dirty="0">
                    <a:solidFill>
                      <a:schemeClr val="tx1"/>
                    </a:solidFill>
                  </a:endParaRPr>
                </a:p>
              </p:txBody>
            </p:sp>
            <p:sp>
              <p:nvSpPr>
                <p:cNvPr id="34" name="Freeform 33"/>
                <p:cNvSpPr/>
                <p:nvPr/>
              </p:nvSpPr>
              <p:spPr>
                <a:xfrm>
                  <a:off x="1460584" y="1695171"/>
                  <a:ext cx="776667" cy="431717"/>
                </a:xfrm>
                <a:custGeom>
                  <a:avLst/>
                  <a:gdLst>
                    <a:gd name="connsiteX0" fmla="*/ 0 w 921352"/>
                    <a:gd name="connsiteY0" fmla="*/ 0 h 460676"/>
                    <a:gd name="connsiteX1" fmla="*/ 921352 w 921352"/>
                    <a:gd name="connsiteY1" fmla="*/ 0 h 460676"/>
                    <a:gd name="connsiteX2" fmla="*/ 921352 w 921352"/>
                    <a:gd name="connsiteY2" fmla="*/ 460676 h 460676"/>
                    <a:gd name="connsiteX3" fmla="*/ 0 w 921352"/>
                    <a:gd name="connsiteY3" fmla="*/ 460676 h 460676"/>
                    <a:gd name="connsiteX4" fmla="*/ 0 w 921352"/>
                    <a:gd name="connsiteY4" fmla="*/ 0 h 460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352" h="460676">
                      <a:moveTo>
                        <a:pt x="0" y="0"/>
                      </a:moveTo>
                      <a:lnTo>
                        <a:pt x="921352" y="0"/>
                      </a:lnTo>
                      <a:lnTo>
                        <a:pt x="921352" y="460676"/>
                      </a:lnTo>
                      <a:lnTo>
                        <a:pt x="0" y="460676"/>
                      </a:lnTo>
                      <a:lnTo>
                        <a:pt x="0" y="0"/>
                      </a:lnTo>
                      <a:close/>
                    </a:path>
                  </a:pathLst>
                </a:custGeom>
                <a:solidFill>
                  <a:schemeClr val="accent2">
                    <a:lumMod val="40000"/>
                    <a:lumOff val="60000"/>
                  </a:schemeClr>
                </a:solidFill>
                <a:ln w="47625">
                  <a:solidFill>
                    <a:srgbClr val="00B050"/>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6985" tIns="6985" rIns="6985" bIns="6985" spcCol="1270" anchor="ctr"/>
                <a:lstStyle/>
                <a:p>
                  <a:pPr algn="ctr">
                    <a:defRPr/>
                  </a:pPr>
                  <a:r>
                    <a:rPr lang="en-US" sz="1100" b="1" dirty="0">
                      <a:solidFill>
                        <a:schemeClr val="tx1"/>
                      </a:solidFill>
                    </a:rPr>
                    <a:t>Milwaukee</a:t>
                  </a:r>
                </a:p>
                <a:p>
                  <a:pPr algn="ctr">
                    <a:defRPr/>
                  </a:pPr>
                  <a:r>
                    <a:rPr lang="en-US" sz="1100" b="1" dirty="0" smtClean="0">
                      <a:solidFill>
                        <a:schemeClr val="tx1"/>
                      </a:solidFill>
                    </a:rPr>
                    <a:t>(N</a:t>
                  </a:r>
                  <a:r>
                    <a:rPr lang="en-US" sz="1100" b="1" dirty="0">
                      <a:solidFill>
                        <a:schemeClr val="tx1"/>
                      </a:solidFill>
                    </a:rPr>
                    <a:t>≈</a:t>
                  </a:r>
                  <a:r>
                    <a:rPr lang="en-US" sz="1100" b="1" dirty="0" smtClean="0">
                      <a:solidFill>
                        <a:schemeClr val="tx1"/>
                      </a:solidFill>
                    </a:rPr>
                    <a:t>507)</a:t>
                  </a:r>
                  <a:endParaRPr lang="en-US" sz="1100" b="1" dirty="0">
                    <a:solidFill>
                      <a:schemeClr val="tx1"/>
                    </a:solidFill>
                  </a:endParaRPr>
                </a:p>
              </p:txBody>
            </p:sp>
          </p:grpSp>
        </p:grpSp>
        <p:cxnSp>
          <p:nvCxnSpPr>
            <p:cNvPr id="37" name="Straight Arrow Connector 36"/>
            <p:cNvCxnSpPr/>
            <p:nvPr/>
          </p:nvCxnSpPr>
          <p:spPr>
            <a:xfrm>
              <a:off x="7362245" y="4700890"/>
              <a:ext cx="304998" cy="22855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a:off x="6838665" y="4700795"/>
              <a:ext cx="228556" cy="228749"/>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91" name="Straight Arrow Connector 90"/>
          <p:cNvCxnSpPr/>
          <p:nvPr/>
        </p:nvCxnSpPr>
        <p:spPr>
          <a:xfrm flipV="1">
            <a:off x="5105400" y="2284511"/>
            <a:ext cx="990600" cy="148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075070" y="2069068"/>
            <a:ext cx="325730" cy="369332"/>
          </a:xfrm>
          <a:prstGeom prst="rect">
            <a:avLst/>
          </a:prstGeom>
          <a:noFill/>
        </p:spPr>
        <p:txBody>
          <a:bodyPr wrap="none" rtlCol="0">
            <a:spAutoFit/>
          </a:bodyPr>
          <a:lstStyle/>
          <a:p>
            <a:r>
              <a:rPr lang="en-US" b="1" dirty="0" smtClean="0">
                <a:latin typeface="Arial" pitchFamily="34" charset="0"/>
                <a:cs typeface="Arial" pitchFamily="34" charset="0"/>
              </a:rPr>
              <a:t>?</a:t>
            </a:r>
            <a:endParaRPr lang="en-US" b="1" dirty="0">
              <a:latin typeface="Arial" pitchFamily="34" charset="0"/>
              <a:cs typeface="Arial" pitchFamily="34" charset="0"/>
            </a:endParaRPr>
          </a:p>
        </p:txBody>
      </p:sp>
      <p:cxnSp>
        <p:nvCxnSpPr>
          <p:cNvPr id="92" name="Straight Arrow Connector 91"/>
          <p:cNvCxnSpPr/>
          <p:nvPr/>
        </p:nvCxnSpPr>
        <p:spPr>
          <a:xfrm>
            <a:off x="8001000" y="3276600"/>
            <a:ext cx="5334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6" name="Group 5"/>
          <p:cNvGrpSpPr/>
          <p:nvPr/>
        </p:nvGrpSpPr>
        <p:grpSpPr>
          <a:xfrm>
            <a:off x="432321" y="335459"/>
            <a:ext cx="565945" cy="769441"/>
            <a:chOff x="958055" y="2209800"/>
            <a:chExt cx="565945" cy="769441"/>
          </a:xfrm>
        </p:grpSpPr>
        <p:sp>
          <p:nvSpPr>
            <p:cNvPr id="3" name="TextBox 2"/>
            <p:cNvSpPr txBox="1"/>
            <p:nvPr/>
          </p:nvSpPr>
          <p:spPr>
            <a:xfrm>
              <a:off x="993203" y="2209800"/>
              <a:ext cx="495649" cy="769441"/>
            </a:xfrm>
            <a:prstGeom prst="rect">
              <a:avLst/>
            </a:prstGeom>
            <a:noFill/>
          </p:spPr>
          <p:txBody>
            <a:bodyPr wrap="none" rtlCol="0">
              <a:spAutoFit/>
            </a:bodyPr>
            <a:lstStyle/>
            <a:p>
              <a:r>
                <a:rPr lang="en-US" sz="4400" b="1" dirty="0" smtClean="0"/>
                <a:t>1</a:t>
              </a:r>
              <a:endParaRPr lang="en-US" sz="4400" b="1" dirty="0"/>
            </a:p>
          </p:txBody>
        </p:sp>
        <p:sp>
          <p:nvSpPr>
            <p:cNvPr id="5" name="Oval 4"/>
            <p:cNvSpPr/>
            <p:nvPr/>
          </p:nvSpPr>
          <p:spPr>
            <a:xfrm>
              <a:off x="958055" y="2330201"/>
              <a:ext cx="565945" cy="52863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p:cNvGrpSpPr/>
          <p:nvPr/>
        </p:nvGrpSpPr>
        <p:grpSpPr>
          <a:xfrm>
            <a:off x="3497226" y="1828800"/>
            <a:ext cx="565945" cy="769441"/>
            <a:chOff x="958055" y="2209800"/>
            <a:chExt cx="565945" cy="769441"/>
          </a:xfrm>
        </p:grpSpPr>
        <p:sp>
          <p:nvSpPr>
            <p:cNvPr id="85" name="TextBox 84"/>
            <p:cNvSpPr txBox="1"/>
            <p:nvPr/>
          </p:nvSpPr>
          <p:spPr>
            <a:xfrm>
              <a:off x="993203" y="2209800"/>
              <a:ext cx="484428" cy="769441"/>
            </a:xfrm>
            <a:prstGeom prst="rect">
              <a:avLst/>
            </a:prstGeom>
            <a:noFill/>
          </p:spPr>
          <p:txBody>
            <a:bodyPr wrap="none" rtlCol="0">
              <a:spAutoFit/>
            </a:bodyPr>
            <a:lstStyle/>
            <a:p>
              <a:r>
                <a:rPr lang="en-US" sz="4400" b="1" dirty="0" smtClean="0"/>
                <a:t>2</a:t>
              </a:r>
              <a:endParaRPr lang="en-US" sz="4400" b="1" dirty="0"/>
            </a:p>
          </p:txBody>
        </p:sp>
        <p:sp>
          <p:nvSpPr>
            <p:cNvPr id="93" name="Oval 92"/>
            <p:cNvSpPr/>
            <p:nvPr/>
          </p:nvSpPr>
          <p:spPr>
            <a:xfrm>
              <a:off x="958055" y="2330201"/>
              <a:ext cx="565945" cy="52863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p:nvGrpSpPr>
        <p:grpSpPr>
          <a:xfrm>
            <a:off x="3827665" y="2891879"/>
            <a:ext cx="565945" cy="769441"/>
            <a:chOff x="958055" y="2209800"/>
            <a:chExt cx="565945" cy="769441"/>
          </a:xfrm>
        </p:grpSpPr>
        <p:sp>
          <p:nvSpPr>
            <p:cNvPr id="95" name="TextBox 94"/>
            <p:cNvSpPr txBox="1"/>
            <p:nvPr/>
          </p:nvSpPr>
          <p:spPr>
            <a:xfrm>
              <a:off x="993203" y="2209800"/>
              <a:ext cx="484428" cy="769441"/>
            </a:xfrm>
            <a:prstGeom prst="rect">
              <a:avLst/>
            </a:prstGeom>
            <a:noFill/>
          </p:spPr>
          <p:txBody>
            <a:bodyPr wrap="none" rtlCol="0">
              <a:spAutoFit/>
            </a:bodyPr>
            <a:lstStyle/>
            <a:p>
              <a:r>
                <a:rPr lang="en-US" sz="4400" b="1" dirty="0" smtClean="0"/>
                <a:t>3</a:t>
              </a:r>
              <a:endParaRPr lang="en-US" sz="4400" b="1" dirty="0"/>
            </a:p>
          </p:txBody>
        </p:sp>
        <p:sp>
          <p:nvSpPr>
            <p:cNvPr id="96" name="Oval 95"/>
            <p:cNvSpPr/>
            <p:nvPr/>
          </p:nvSpPr>
          <p:spPr>
            <a:xfrm>
              <a:off x="958055" y="2330201"/>
              <a:ext cx="565945" cy="52863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 96"/>
          <p:cNvGrpSpPr/>
          <p:nvPr/>
        </p:nvGrpSpPr>
        <p:grpSpPr>
          <a:xfrm>
            <a:off x="4996655" y="5021759"/>
            <a:ext cx="565945" cy="769441"/>
            <a:chOff x="958055" y="2209800"/>
            <a:chExt cx="565945" cy="769441"/>
          </a:xfrm>
        </p:grpSpPr>
        <p:sp>
          <p:nvSpPr>
            <p:cNvPr id="98" name="TextBox 97"/>
            <p:cNvSpPr txBox="1"/>
            <p:nvPr/>
          </p:nvSpPr>
          <p:spPr>
            <a:xfrm>
              <a:off x="993203" y="2209800"/>
              <a:ext cx="484428" cy="769441"/>
            </a:xfrm>
            <a:prstGeom prst="rect">
              <a:avLst/>
            </a:prstGeom>
            <a:noFill/>
          </p:spPr>
          <p:txBody>
            <a:bodyPr wrap="none" rtlCol="0">
              <a:spAutoFit/>
            </a:bodyPr>
            <a:lstStyle/>
            <a:p>
              <a:r>
                <a:rPr lang="en-US" sz="4400" b="1" dirty="0" smtClean="0"/>
                <a:t>4</a:t>
              </a:r>
              <a:endParaRPr lang="en-US" sz="4400" b="1" dirty="0"/>
            </a:p>
          </p:txBody>
        </p:sp>
        <p:sp>
          <p:nvSpPr>
            <p:cNvPr id="99" name="Oval 98"/>
            <p:cNvSpPr/>
            <p:nvPr/>
          </p:nvSpPr>
          <p:spPr>
            <a:xfrm>
              <a:off x="958055" y="2330201"/>
              <a:ext cx="565945" cy="52863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0" name="Group 89"/>
          <p:cNvGrpSpPr/>
          <p:nvPr/>
        </p:nvGrpSpPr>
        <p:grpSpPr>
          <a:xfrm>
            <a:off x="8120855" y="5021759"/>
            <a:ext cx="565945" cy="769441"/>
            <a:chOff x="958055" y="2209800"/>
            <a:chExt cx="565945" cy="769441"/>
          </a:xfrm>
        </p:grpSpPr>
        <p:sp>
          <p:nvSpPr>
            <p:cNvPr id="100" name="TextBox 99"/>
            <p:cNvSpPr txBox="1"/>
            <p:nvPr/>
          </p:nvSpPr>
          <p:spPr>
            <a:xfrm>
              <a:off x="993203" y="2209800"/>
              <a:ext cx="484428" cy="769441"/>
            </a:xfrm>
            <a:prstGeom prst="rect">
              <a:avLst/>
            </a:prstGeom>
            <a:noFill/>
          </p:spPr>
          <p:txBody>
            <a:bodyPr wrap="none" rtlCol="0">
              <a:spAutoFit/>
            </a:bodyPr>
            <a:lstStyle/>
            <a:p>
              <a:r>
                <a:rPr lang="en-US" sz="4400" b="1" dirty="0" smtClean="0"/>
                <a:t>5</a:t>
              </a:r>
              <a:endParaRPr lang="en-US" sz="4400" b="1" dirty="0"/>
            </a:p>
          </p:txBody>
        </p:sp>
        <p:sp>
          <p:nvSpPr>
            <p:cNvPr id="101" name="Oval 100"/>
            <p:cNvSpPr/>
            <p:nvPr/>
          </p:nvSpPr>
          <p:spPr>
            <a:xfrm>
              <a:off x="958055" y="2330201"/>
              <a:ext cx="565945" cy="52863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94698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MIDUS: Strengths and Complexities</a:t>
            </a:r>
          </a:p>
        </p:txBody>
      </p:sp>
      <p:sp>
        <p:nvSpPr>
          <p:cNvPr id="3" name="Content Placeholder 2"/>
          <p:cNvSpPr>
            <a:spLocks noGrp="1"/>
          </p:cNvSpPr>
          <p:nvPr>
            <p:ph sz="quarter" idx="1"/>
          </p:nvPr>
        </p:nvSpPr>
        <p:spPr/>
        <p:txBody>
          <a:bodyPr>
            <a:normAutofit/>
          </a:bodyPr>
          <a:lstStyle/>
          <a:p>
            <a:r>
              <a:rPr lang="en-US" b="1" dirty="0">
                <a:solidFill>
                  <a:schemeClr val="tx1">
                    <a:lumMod val="75000"/>
                  </a:schemeClr>
                </a:solidFill>
                <a:latin typeface="Helvetica" pitchFamily="34" charset="0"/>
              </a:rPr>
              <a:t>Multiple sample waves (longitudinal)</a:t>
            </a:r>
          </a:p>
          <a:p>
            <a:r>
              <a:rPr lang="en-US" b="1" dirty="0">
                <a:solidFill>
                  <a:schemeClr val="tx1">
                    <a:lumMod val="75000"/>
                  </a:schemeClr>
                </a:solidFill>
                <a:latin typeface="Helvetica" pitchFamily="34" charset="0"/>
              </a:rPr>
              <a:t>Multiple cohorts </a:t>
            </a:r>
            <a:endParaRPr lang="en-US" b="1" dirty="0" smtClean="0">
              <a:solidFill>
                <a:schemeClr val="tx1">
                  <a:lumMod val="75000"/>
                </a:schemeClr>
              </a:solidFill>
              <a:latin typeface="Helvetica" pitchFamily="34" charset="0"/>
            </a:endParaRPr>
          </a:p>
          <a:p>
            <a:r>
              <a:rPr lang="en-US" b="1" dirty="0" smtClean="0">
                <a:latin typeface="Helvetica" pitchFamily="34" charset="0"/>
              </a:rPr>
              <a:t>Multidisciplinary design</a:t>
            </a:r>
            <a:endParaRPr lang="en-US" b="1" i="1" dirty="0" smtClean="0">
              <a:latin typeface="Helvetica" pitchFamily="34" charset="0"/>
            </a:endParaRPr>
          </a:p>
          <a:p>
            <a:pPr lvl="1"/>
            <a:r>
              <a:rPr lang="en-US" b="1" dirty="0" smtClean="0">
                <a:latin typeface="Helvetica" pitchFamily="34" charset="0"/>
              </a:rPr>
              <a:t>Aging </a:t>
            </a:r>
            <a:r>
              <a:rPr lang="en-US" b="1" dirty="0">
                <a:latin typeface="Helvetica" pitchFamily="34" charset="0"/>
              </a:rPr>
              <a:t>as integrated bio-psycho-social </a:t>
            </a:r>
            <a:r>
              <a:rPr lang="en-US" b="1" dirty="0" smtClean="0">
                <a:latin typeface="Helvetica" pitchFamily="34" charset="0"/>
              </a:rPr>
              <a:t>process</a:t>
            </a:r>
          </a:p>
          <a:p>
            <a:pPr marL="0" indent="0">
              <a:buNone/>
            </a:pPr>
            <a:endParaRPr lang="en-US" b="1" i="1" dirty="0">
              <a:solidFill>
                <a:srgbClr val="00FFFF"/>
              </a:solidFill>
              <a:latin typeface="Helvetica" pitchFamily="34" charset="0"/>
            </a:endParaRPr>
          </a:p>
        </p:txBody>
      </p:sp>
    </p:spTree>
    <p:extLst>
      <p:ext uri="{BB962C8B-B14F-4D97-AF65-F5344CB8AC3E}">
        <p14:creationId xmlns:p14="http://schemas.microsoft.com/office/powerpoint/2010/main" val="17997997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6946" name="Picture 2" descr="midus_content_proj1"/>
          <p:cNvPicPr>
            <a:picLocks noChangeAspect="1" noChangeArrowheads="1"/>
          </p:cNvPicPr>
          <p:nvPr/>
        </p:nvPicPr>
        <p:blipFill>
          <a:blip r:embed="rId3" cstate="print"/>
          <a:srcRect/>
          <a:stretch>
            <a:fillRect/>
          </a:stretch>
        </p:blipFill>
        <p:spPr bwMode="auto">
          <a:xfrm>
            <a:off x="0" y="11464"/>
            <a:ext cx="9144000" cy="6846536"/>
          </a:xfrm>
          <a:prstGeom prst="rect">
            <a:avLst/>
          </a:prstGeom>
          <a:noFill/>
        </p:spPr>
      </p:pic>
    </p:spTree>
    <p:extLst>
      <p:ext uri="{BB962C8B-B14F-4D97-AF65-F5344CB8AC3E}">
        <p14:creationId xmlns:p14="http://schemas.microsoft.com/office/powerpoint/2010/main" val="41539473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4" name="TextBox 12"/>
          <p:cNvSpPr txBox="1">
            <a:spLocks noChangeArrowheads="1"/>
          </p:cNvSpPr>
          <p:nvPr/>
        </p:nvSpPr>
        <p:spPr bwMode="auto">
          <a:xfrm>
            <a:off x="152400" y="284036"/>
            <a:ext cx="22098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400" b="1" dirty="0" smtClean="0"/>
              <a:t>MIDUS Core</a:t>
            </a:r>
          </a:p>
          <a:p>
            <a:pPr algn="ctr" eaLnBrk="1" hangingPunct="1"/>
            <a:r>
              <a:rPr lang="en-US" sz="2400" b="1" dirty="0"/>
              <a:t>-</a:t>
            </a:r>
            <a:endParaRPr lang="en-US" sz="2400" b="1" dirty="0" smtClean="0"/>
          </a:p>
          <a:p>
            <a:pPr eaLnBrk="1" hangingPunct="1"/>
            <a:r>
              <a:rPr lang="en-US" sz="2400" b="1" dirty="0" smtClean="0"/>
              <a:t>Longitudinal</a:t>
            </a:r>
            <a:endParaRPr lang="en-US" sz="2400" b="1" dirty="0"/>
          </a:p>
          <a:p>
            <a:pPr eaLnBrk="1" hangingPunct="1"/>
            <a:r>
              <a:rPr lang="en-US" sz="2400" b="1" dirty="0"/>
              <a:t>Multi-project</a:t>
            </a:r>
          </a:p>
          <a:p>
            <a:pPr eaLnBrk="1" hangingPunct="1"/>
            <a:r>
              <a:rPr lang="en-US" sz="2400" b="1" dirty="0" smtClean="0"/>
              <a:t>Participation</a:t>
            </a:r>
            <a:endParaRPr lang="en-US" sz="2400" b="1" dirty="0"/>
          </a:p>
        </p:txBody>
      </p:sp>
      <p:grpSp>
        <p:nvGrpSpPr>
          <p:cNvPr id="9" name="Group 8"/>
          <p:cNvGrpSpPr/>
          <p:nvPr/>
        </p:nvGrpSpPr>
        <p:grpSpPr>
          <a:xfrm>
            <a:off x="1828800" y="0"/>
            <a:ext cx="7086600" cy="6858000"/>
            <a:chOff x="1828800" y="0"/>
            <a:chExt cx="7086600" cy="6858000"/>
          </a:xfrm>
        </p:grpSpPr>
        <p:sp>
          <p:nvSpPr>
            <p:cNvPr id="17" name="Oval 16"/>
            <p:cNvSpPr/>
            <p:nvPr/>
          </p:nvSpPr>
          <p:spPr>
            <a:xfrm>
              <a:off x="1828800" y="0"/>
              <a:ext cx="7086600" cy="6858000"/>
            </a:xfrm>
            <a:prstGeom prst="ellipse">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Oval 2"/>
            <p:cNvSpPr/>
            <p:nvPr/>
          </p:nvSpPr>
          <p:spPr>
            <a:xfrm>
              <a:off x="2514600" y="685800"/>
              <a:ext cx="5943600" cy="563880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Oval 6"/>
            <p:cNvSpPr/>
            <p:nvPr/>
          </p:nvSpPr>
          <p:spPr>
            <a:xfrm>
              <a:off x="4343400" y="2667000"/>
              <a:ext cx="3405188" cy="31702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Oval 4"/>
            <p:cNvSpPr/>
            <p:nvPr/>
          </p:nvSpPr>
          <p:spPr>
            <a:xfrm>
              <a:off x="5715000" y="4267200"/>
              <a:ext cx="1703388" cy="1387475"/>
            </a:xfrm>
            <a:prstGeom prst="ellipse">
              <a:avLst/>
            </a:prstGeom>
            <a:solidFill>
              <a:srgbClr val="FFC000">
                <a:alpha val="37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389" name="TextBox 7"/>
            <p:cNvSpPr txBox="1">
              <a:spLocks noChangeArrowheads="1"/>
            </p:cNvSpPr>
            <p:nvPr/>
          </p:nvSpPr>
          <p:spPr bwMode="auto">
            <a:xfrm>
              <a:off x="4648200" y="762000"/>
              <a:ext cx="1524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000" b="1" dirty="0"/>
                <a:t>M2 Survey</a:t>
              </a:r>
            </a:p>
            <a:p>
              <a:pPr eaLnBrk="1" hangingPunct="1"/>
              <a:r>
                <a:rPr lang="en-US" sz="2000" b="1" dirty="0"/>
                <a:t>N=5,555</a:t>
              </a:r>
            </a:p>
          </p:txBody>
        </p:sp>
        <p:sp>
          <p:nvSpPr>
            <p:cNvPr id="6" name="Oval 5"/>
            <p:cNvSpPr/>
            <p:nvPr/>
          </p:nvSpPr>
          <p:spPr bwMode="auto">
            <a:xfrm>
              <a:off x="4191000" y="1371600"/>
              <a:ext cx="2286000" cy="2286000"/>
            </a:xfrm>
            <a:prstGeom prst="ellipse">
              <a:avLst/>
            </a:prstGeom>
            <a:solidFill>
              <a:srgbClr val="FFC000">
                <a:alpha val="29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6403" name="TextBox 8"/>
            <p:cNvSpPr txBox="1">
              <a:spLocks noChangeArrowheads="1"/>
            </p:cNvSpPr>
            <p:nvPr/>
          </p:nvSpPr>
          <p:spPr bwMode="auto">
            <a:xfrm>
              <a:off x="4630615" y="1710267"/>
              <a:ext cx="1563780" cy="828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dirty="0"/>
                <a:t>Cognition</a:t>
              </a:r>
            </a:p>
            <a:p>
              <a:pPr eaLnBrk="1" hangingPunct="1"/>
              <a:r>
                <a:rPr lang="en-US" b="1" dirty="0"/>
                <a:t>N=4,512</a:t>
              </a:r>
            </a:p>
          </p:txBody>
        </p:sp>
        <p:sp>
          <p:nvSpPr>
            <p:cNvPr id="16391" name="TextBox 9"/>
            <p:cNvSpPr txBox="1">
              <a:spLocks noChangeArrowheads="1"/>
            </p:cNvSpPr>
            <p:nvPr/>
          </p:nvSpPr>
          <p:spPr bwMode="auto">
            <a:xfrm>
              <a:off x="5791200" y="4648200"/>
              <a:ext cx="1752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dirty="0"/>
                <a:t>Neuroscience</a:t>
              </a:r>
            </a:p>
            <a:p>
              <a:pPr eaLnBrk="1" hangingPunct="1"/>
              <a:r>
                <a:rPr lang="en-US" b="1" dirty="0"/>
                <a:t>n=332</a:t>
              </a:r>
            </a:p>
          </p:txBody>
        </p:sp>
        <p:sp>
          <p:nvSpPr>
            <p:cNvPr id="16392" name="TextBox 10"/>
            <p:cNvSpPr txBox="1">
              <a:spLocks noChangeArrowheads="1"/>
            </p:cNvSpPr>
            <p:nvPr/>
          </p:nvSpPr>
          <p:spPr bwMode="auto">
            <a:xfrm>
              <a:off x="5105400" y="3733800"/>
              <a:ext cx="1600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dirty="0"/>
                <a:t>Biomarker</a:t>
              </a:r>
            </a:p>
            <a:p>
              <a:pPr eaLnBrk="1" hangingPunct="1"/>
              <a:r>
                <a:rPr lang="en-US" b="1" dirty="0"/>
                <a:t>n=1,255</a:t>
              </a:r>
            </a:p>
          </p:txBody>
        </p:sp>
        <p:sp>
          <p:nvSpPr>
            <p:cNvPr id="4" name="Oval 3"/>
            <p:cNvSpPr/>
            <p:nvPr/>
          </p:nvSpPr>
          <p:spPr bwMode="auto">
            <a:xfrm>
              <a:off x="3505200" y="4114800"/>
              <a:ext cx="1844675" cy="1782763"/>
            </a:xfrm>
            <a:prstGeom prst="ellipse">
              <a:avLst/>
            </a:prstGeom>
            <a:solidFill>
              <a:srgbClr val="FFC000">
                <a:alpha val="3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401" name="TextBox 11"/>
            <p:cNvSpPr txBox="1">
              <a:spLocks noChangeArrowheads="1"/>
            </p:cNvSpPr>
            <p:nvPr/>
          </p:nvSpPr>
          <p:spPr bwMode="auto">
            <a:xfrm>
              <a:off x="3647098" y="4709054"/>
              <a:ext cx="106311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b="1" dirty="0"/>
                <a:t>Daily </a:t>
              </a:r>
            </a:p>
            <a:p>
              <a:pPr eaLnBrk="1" hangingPunct="1"/>
              <a:r>
                <a:rPr lang="en-US" b="1" dirty="0"/>
                <a:t>Stress</a:t>
              </a:r>
            </a:p>
            <a:p>
              <a:pPr eaLnBrk="1" hangingPunct="1"/>
              <a:r>
                <a:rPr lang="en-US" b="1" dirty="0"/>
                <a:t>N=2,022</a:t>
              </a:r>
            </a:p>
          </p:txBody>
        </p:sp>
        <p:sp>
          <p:nvSpPr>
            <p:cNvPr id="16395" name="TextBox 15"/>
            <p:cNvSpPr txBox="1">
              <a:spLocks noChangeArrowheads="1"/>
            </p:cNvSpPr>
            <p:nvPr/>
          </p:nvSpPr>
          <p:spPr bwMode="auto">
            <a:xfrm>
              <a:off x="4419600" y="4572000"/>
              <a:ext cx="1066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600" dirty="0"/>
                <a:t>n=1,011</a:t>
              </a:r>
            </a:p>
          </p:txBody>
        </p:sp>
        <p:sp>
          <p:nvSpPr>
            <p:cNvPr id="16396" name="TextBox 17"/>
            <p:cNvSpPr txBox="1">
              <a:spLocks noChangeArrowheads="1"/>
            </p:cNvSpPr>
            <p:nvPr/>
          </p:nvSpPr>
          <p:spPr bwMode="auto">
            <a:xfrm>
              <a:off x="5257800" y="2743200"/>
              <a:ext cx="1066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t>n=1,152</a:t>
              </a:r>
            </a:p>
          </p:txBody>
        </p:sp>
        <p:sp>
          <p:nvSpPr>
            <p:cNvPr id="16398" name="TextBox 18"/>
            <p:cNvSpPr txBox="1">
              <a:spLocks noChangeArrowheads="1"/>
            </p:cNvSpPr>
            <p:nvPr/>
          </p:nvSpPr>
          <p:spPr bwMode="auto">
            <a:xfrm>
              <a:off x="4419600" y="0"/>
              <a:ext cx="1600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2000" b="1" dirty="0"/>
                <a:t>M1 Survey</a:t>
              </a:r>
            </a:p>
            <a:p>
              <a:pPr eaLnBrk="1" hangingPunct="1"/>
              <a:r>
                <a:rPr lang="en-US" sz="2000" b="1" dirty="0"/>
                <a:t>N=7,108</a:t>
              </a:r>
            </a:p>
          </p:txBody>
        </p:sp>
      </p:grpSp>
    </p:spTree>
    <p:extLst>
      <p:ext uri="{BB962C8B-B14F-4D97-AF65-F5344CB8AC3E}">
        <p14:creationId xmlns:p14="http://schemas.microsoft.com/office/powerpoint/2010/main" val="27109294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MIDUS: Strengths and Complexities</a:t>
            </a:r>
          </a:p>
        </p:txBody>
      </p:sp>
      <p:sp>
        <p:nvSpPr>
          <p:cNvPr id="3" name="Content Placeholder 2"/>
          <p:cNvSpPr>
            <a:spLocks noGrp="1"/>
          </p:cNvSpPr>
          <p:nvPr>
            <p:ph sz="quarter" idx="1"/>
          </p:nvPr>
        </p:nvSpPr>
        <p:spPr/>
        <p:txBody>
          <a:bodyPr>
            <a:normAutofit lnSpcReduction="10000"/>
          </a:bodyPr>
          <a:lstStyle/>
          <a:p>
            <a:r>
              <a:rPr lang="en-US" b="1" dirty="0">
                <a:solidFill>
                  <a:schemeClr val="tx1">
                    <a:lumMod val="75000"/>
                  </a:schemeClr>
                </a:solidFill>
                <a:latin typeface="Helvetica" pitchFamily="34" charset="0"/>
              </a:rPr>
              <a:t>Multiple sample waves (longitudinal)</a:t>
            </a:r>
          </a:p>
          <a:p>
            <a:r>
              <a:rPr lang="en-US" b="1" dirty="0">
                <a:solidFill>
                  <a:schemeClr val="tx1">
                    <a:lumMod val="75000"/>
                  </a:schemeClr>
                </a:solidFill>
                <a:latin typeface="Helvetica" pitchFamily="34" charset="0"/>
              </a:rPr>
              <a:t>Multiple cohorts </a:t>
            </a:r>
            <a:endParaRPr lang="en-US" b="1" dirty="0" smtClean="0">
              <a:solidFill>
                <a:schemeClr val="tx1">
                  <a:lumMod val="75000"/>
                </a:schemeClr>
              </a:solidFill>
              <a:latin typeface="Helvetica" pitchFamily="34" charset="0"/>
            </a:endParaRPr>
          </a:p>
          <a:p>
            <a:r>
              <a:rPr lang="en-US" b="1" dirty="0" smtClean="0">
                <a:latin typeface="Helvetica" pitchFamily="34" charset="0"/>
              </a:rPr>
              <a:t>Multidisciplinary design</a:t>
            </a:r>
            <a:endParaRPr lang="en-US" b="1" i="1" dirty="0" smtClean="0">
              <a:latin typeface="Helvetica" pitchFamily="34" charset="0"/>
            </a:endParaRPr>
          </a:p>
          <a:p>
            <a:pPr lvl="1"/>
            <a:r>
              <a:rPr lang="en-US" b="1" dirty="0" smtClean="0">
                <a:latin typeface="Helvetica" pitchFamily="34" charset="0"/>
              </a:rPr>
              <a:t>Aging </a:t>
            </a:r>
            <a:r>
              <a:rPr lang="en-US" b="1" dirty="0">
                <a:latin typeface="Helvetica" pitchFamily="34" charset="0"/>
              </a:rPr>
              <a:t>as integrated bio-psycho-social </a:t>
            </a:r>
            <a:r>
              <a:rPr lang="en-US" b="1" dirty="0" smtClean="0">
                <a:latin typeface="Helvetica" pitchFamily="34" charset="0"/>
              </a:rPr>
              <a:t>process</a:t>
            </a:r>
          </a:p>
          <a:p>
            <a:r>
              <a:rPr lang="en-US" b="1" dirty="0" smtClean="0">
                <a:latin typeface="Helvetica" pitchFamily="34" charset="0"/>
              </a:rPr>
              <a:t>Wide </a:t>
            </a:r>
            <a:r>
              <a:rPr lang="en-US" b="1" dirty="0">
                <a:latin typeface="Helvetica" pitchFamily="34" charset="0"/>
              </a:rPr>
              <a:t>use of MIDUS – Open Data philosophy  </a:t>
            </a:r>
            <a:endParaRPr lang="en-US" b="1" dirty="0" smtClean="0">
              <a:latin typeface="Helvetica" pitchFamily="34" charset="0"/>
            </a:endParaRPr>
          </a:p>
          <a:p>
            <a:pPr lvl="1"/>
            <a:r>
              <a:rPr lang="en-US" b="1" dirty="0" smtClean="0">
                <a:latin typeface="Helvetica" pitchFamily="34" charset="0"/>
              </a:rPr>
              <a:t>#1 data download at NACDA</a:t>
            </a:r>
          </a:p>
          <a:p>
            <a:pPr lvl="1"/>
            <a:r>
              <a:rPr lang="en-US" b="1" dirty="0" smtClean="0">
                <a:latin typeface="Helvetica" pitchFamily="34" charset="0"/>
              </a:rPr>
              <a:t>Top </a:t>
            </a:r>
            <a:r>
              <a:rPr lang="en-US" b="1" dirty="0">
                <a:latin typeface="Helvetica" pitchFamily="34" charset="0"/>
              </a:rPr>
              <a:t>10 </a:t>
            </a:r>
            <a:r>
              <a:rPr lang="en-US" b="1" dirty="0" smtClean="0">
                <a:latin typeface="Helvetica" pitchFamily="34" charset="0"/>
              </a:rPr>
              <a:t>data download at ICPSR</a:t>
            </a:r>
            <a:endParaRPr lang="en-US" b="1" i="1" dirty="0">
              <a:solidFill>
                <a:srgbClr val="00FFFF"/>
              </a:solidFill>
              <a:latin typeface="Helvetica" pitchFamily="34" charset="0"/>
            </a:endParaRPr>
          </a:p>
          <a:p>
            <a:pPr lvl="1"/>
            <a:r>
              <a:rPr lang="en-US" b="1" dirty="0" smtClean="0">
                <a:latin typeface="Helvetica" pitchFamily="34" charset="0"/>
              </a:rPr>
              <a:t>500 publications</a:t>
            </a:r>
          </a:p>
        </p:txBody>
      </p:sp>
    </p:spTree>
    <p:extLst>
      <p:ext uri="{BB962C8B-B14F-4D97-AF65-F5344CB8AC3E}">
        <p14:creationId xmlns:p14="http://schemas.microsoft.com/office/powerpoint/2010/main" val="31305426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152400" y="2438400"/>
            <a:ext cx="9144000" cy="1371600"/>
          </a:xfrm>
        </p:spPr>
        <p:txBody>
          <a:bodyPr>
            <a:noAutofit/>
          </a:bodyPr>
          <a:lstStyle/>
          <a:p>
            <a:pPr marL="0" indent="0">
              <a:buNone/>
            </a:pPr>
            <a:r>
              <a:rPr lang="en-US" sz="5400" b="1" dirty="0" smtClean="0">
                <a:hlinkClick r:id="rId3"/>
              </a:rPr>
              <a:t>http</a:t>
            </a:r>
            <a:r>
              <a:rPr lang="en-US" sz="5400" b="1" dirty="0">
                <a:hlinkClick r:id="rId3"/>
              </a:rPr>
              <a:t>://</a:t>
            </a:r>
            <a:r>
              <a:rPr lang="en-US" sz="5400" b="1" dirty="0" smtClean="0">
                <a:hlinkClick r:id="rId3"/>
              </a:rPr>
              <a:t>midus.colectica.org/</a:t>
            </a:r>
            <a:endParaRPr lang="en-US" sz="5400" b="1" dirty="0" smtClean="0">
              <a:hlinkClick r:id=""/>
            </a:endParaRPr>
          </a:p>
        </p:txBody>
      </p:sp>
      <p:sp>
        <p:nvSpPr>
          <p:cNvPr id="2" name="Title 1"/>
          <p:cNvSpPr>
            <a:spLocks noGrp="1"/>
          </p:cNvSpPr>
          <p:nvPr>
            <p:ph type="title"/>
          </p:nvPr>
        </p:nvSpPr>
        <p:spPr/>
        <p:txBody>
          <a:bodyPr>
            <a:normAutofit/>
          </a:bodyPr>
          <a:lstStyle/>
          <a:p>
            <a:r>
              <a:rPr lang="en-US" dirty="0" smtClean="0"/>
              <a:t>Current DDI Efforts</a:t>
            </a:r>
            <a:endParaRPr lang="en-US" dirty="0"/>
          </a:p>
        </p:txBody>
      </p:sp>
      <p:sp>
        <p:nvSpPr>
          <p:cNvPr id="3" name="Rectangle 2"/>
          <p:cNvSpPr/>
          <p:nvPr/>
        </p:nvSpPr>
        <p:spPr>
          <a:xfrm>
            <a:off x="228600" y="1752600"/>
            <a:ext cx="8763000" cy="769441"/>
          </a:xfrm>
          <a:prstGeom prst="rect">
            <a:avLst/>
          </a:prstGeom>
        </p:spPr>
        <p:txBody>
          <a:bodyPr wrap="square">
            <a:spAutoFit/>
          </a:bodyPr>
          <a:lstStyle/>
          <a:p>
            <a:r>
              <a:rPr lang="en-US" sz="4400" b="1" dirty="0" smtClean="0"/>
              <a:t>MIDUS </a:t>
            </a:r>
            <a:r>
              <a:rPr lang="en-US" sz="4400" b="1"/>
              <a:t>Metadata </a:t>
            </a:r>
            <a:r>
              <a:rPr lang="en-US" sz="4400" b="1" smtClean="0"/>
              <a:t>Repository/Portal</a:t>
            </a:r>
            <a:endParaRPr lang="en-US" sz="4400" b="1" dirty="0"/>
          </a:p>
        </p:txBody>
      </p:sp>
    </p:spTree>
    <p:extLst>
      <p:ext uri="{BB962C8B-B14F-4D97-AF65-F5344CB8AC3E}">
        <p14:creationId xmlns:p14="http://schemas.microsoft.com/office/powerpoint/2010/main" val="25663751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Project goals</a:t>
            </a:r>
          </a:p>
        </p:txBody>
      </p:sp>
      <p:sp>
        <p:nvSpPr>
          <p:cNvPr id="3" name="Content Placeholder 2"/>
          <p:cNvSpPr>
            <a:spLocks noGrp="1"/>
          </p:cNvSpPr>
          <p:nvPr>
            <p:ph sz="quarter" idx="1"/>
          </p:nvPr>
        </p:nvSpPr>
        <p:spPr/>
        <p:txBody>
          <a:bodyPr>
            <a:normAutofit/>
          </a:bodyPr>
          <a:lstStyle/>
          <a:p>
            <a:pPr marL="0" indent="0">
              <a:buClr>
                <a:schemeClr val="accent1">
                  <a:lumMod val="50000"/>
                </a:schemeClr>
              </a:buClr>
              <a:buSzPct val="100000"/>
              <a:buNone/>
            </a:pPr>
            <a:r>
              <a:rPr lang="en-US" sz="3600" b="1" dirty="0"/>
              <a:t>Under a DDI </a:t>
            </a:r>
            <a:r>
              <a:rPr lang="en-US" sz="3600" b="1" dirty="0" smtClean="0"/>
              <a:t>rubric…</a:t>
            </a:r>
            <a:endParaRPr lang="en-US" sz="3600" b="1" dirty="0"/>
          </a:p>
          <a:p>
            <a:pPr marL="514350" indent="-514350">
              <a:buClr>
                <a:schemeClr val="accent1">
                  <a:lumMod val="50000"/>
                </a:schemeClr>
              </a:buClr>
              <a:buSzPct val="100000"/>
              <a:buFont typeface="+mj-lt"/>
              <a:buAutoNum type="arabicPeriod"/>
            </a:pPr>
            <a:r>
              <a:rPr lang="en-US" b="1" dirty="0" smtClean="0"/>
              <a:t>Harmonization (internal)</a:t>
            </a:r>
            <a:endParaRPr lang="en-US" b="1" dirty="0"/>
          </a:p>
          <a:p>
            <a:pPr marL="834390" lvl="1" indent="-514350">
              <a:buClr>
                <a:schemeClr val="accent1">
                  <a:lumMod val="50000"/>
                </a:schemeClr>
              </a:buClr>
              <a:buSzPct val="100000"/>
              <a:buFont typeface="Courier New" panose="02070309020205020404" pitchFamily="49" charset="0"/>
              <a:buChar char="o"/>
            </a:pPr>
            <a:r>
              <a:rPr lang="en-US" dirty="0"/>
              <a:t>Clarify related nature of longitudinal and cross-cohort </a:t>
            </a:r>
            <a:r>
              <a:rPr lang="en-US" dirty="0" smtClean="0"/>
              <a:t>variables (improving search function)</a:t>
            </a:r>
            <a:endParaRPr lang="en-US" dirty="0"/>
          </a:p>
          <a:p>
            <a:pPr marL="834390" lvl="1" indent="-514350">
              <a:buClr>
                <a:schemeClr val="accent1">
                  <a:lumMod val="50000"/>
                </a:schemeClr>
              </a:buClr>
              <a:buSzPct val="100000"/>
              <a:buFont typeface="Courier New" panose="02070309020205020404" pitchFamily="49" charset="0"/>
              <a:buChar char="o"/>
            </a:pPr>
            <a:r>
              <a:rPr lang="en-US" dirty="0" smtClean="0"/>
              <a:t>Provide </a:t>
            </a:r>
            <a:r>
              <a:rPr lang="en-US" dirty="0"/>
              <a:t>information/procedures for reconciliation</a:t>
            </a:r>
          </a:p>
          <a:p>
            <a:pPr marL="514350" indent="-514350">
              <a:buClr>
                <a:schemeClr val="accent1">
                  <a:lumMod val="50000"/>
                </a:schemeClr>
              </a:buClr>
              <a:buSzPct val="100000"/>
              <a:buFont typeface="+mj-lt"/>
              <a:buAutoNum type="arabicPeriod"/>
            </a:pPr>
            <a:r>
              <a:rPr lang="en-US" b="1" dirty="0"/>
              <a:t>Customized Data Extract (CDE)</a:t>
            </a:r>
          </a:p>
          <a:p>
            <a:pPr marL="834390" lvl="1" indent="-514350">
              <a:buClr>
                <a:schemeClr val="accent1">
                  <a:lumMod val="50000"/>
                </a:schemeClr>
              </a:buClr>
              <a:buSzPct val="100000"/>
              <a:buFont typeface="Courier New" panose="02070309020205020404" pitchFamily="49" charset="0"/>
              <a:buChar char="o"/>
            </a:pPr>
            <a:r>
              <a:rPr lang="en-US" dirty="0"/>
              <a:t>Allow researchers to focus on variables of interest</a:t>
            </a:r>
          </a:p>
          <a:p>
            <a:pPr marL="834390" lvl="1" indent="-514350">
              <a:buClr>
                <a:schemeClr val="accent1">
                  <a:lumMod val="50000"/>
                </a:schemeClr>
              </a:buClr>
              <a:buSzPct val="100000"/>
              <a:buFont typeface="Courier New" panose="02070309020205020404" pitchFamily="49" charset="0"/>
              <a:buChar char="o"/>
            </a:pPr>
            <a:r>
              <a:rPr lang="en-US" dirty="0"/>
              <a:t>Facilitate accurate merges across numerous datasets</a:t>
            </a:r>
          </a:p>
        </p:txBody>
      </p:sp>
    </p:spTree>
    <p:extLst>
      <p:ext uri="{BB962C8B-B14F-4D97-AF65-F5344CB8AC3E}">
        <p14:creationId xmlns:p14="http://schemas.microsoft.com/office/powerpoint/2010/main" val="3768580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Harmonization</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8" y="1219201"/>
            <a:ext cx="9136332" cy="54969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237161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Harmonization</a:t>
            </a:r>
            <a:endParaRPr lang="en-US" dirty="0"/>
          </a:p>
        </p:txBody>
      </p:sp>
      <p:sp>
        <p:nvSpPr>
          <p:cNvPr id="3" name="Content Placeholder 2"/>
          <p:cNvSpPr>
            <a:spLocks noGrp="1"/>
          </p:cNvSpPr>
          <p:nvPr>
            <p:ph sz="quarter" idx="1"/>
          </p:nvPr>
        </p:nvSpPr>
        <p:spPr/>
        <p:txBody>
          <a:bodyPr/>
          <a:lstStyle/>
          <a:p>
            <a:r>
              <a:rPr lang="en-US" dirty="0" smtClean="0"/>
              <a:t>Concordance table </a:t>
            </a:r>
          </a:p>
          <a:p>
            <a:pPr lvl="1"/>
            <a:r>
              <a:rPr lang="en-US" dirty="0" smtClean="0"/>
              <a:t>Includes “Comparability notes” and “Comparability class”</a:t>
            </a:r>
          </a:p>
          <a:p>
            <a:pPr lvl="1"/>
            <a:r>
              <a:rPr lang="en-US" dirty="0" smtClean="0"/>
              <a:t>Example: Variable A1PA30 “time since last BP test”</a:t>
            </a:r>
          </a:p>
          <a:p>
            <a:pPr lvl="2"/>
            <a:r>
              <a:rPr lang="en-US" dirty="0" smtClean="0"/>
              <a:t>“</a:t>
            </a:r>
            <a:r>
              <a:rPr lang="en-US" dirty="0"/>
              <a:t>M1 is not directly comparable with M2, MKE, MR, MKER, M3: M1 responses were coded as number of months, while other waves broke out number and unit separately</a:t>
            </a:r>
            <a:r>
              <a:rPr lang="en-US" dirty="0" smtClean="0"/>
              <a:t>.”</a:t>
            </a:r>
          </a:p>
          <a:p>
            <a:pPr lvl="2"/>
            <a:r>
              <a:rPr lang="en-US" dirty="0" smtClean="0"/>
              <a:t>Offer code/algorithm for </a:t>
            </a:r>
            <a:r>
              <a:rPr lang="en-US" dirty="0" err="1" smtClean="0"/>
              <a:t>reconcilation</a:t>
            </a:r>
            <a:endParaRPr lang="en-US" dirty="0"/>
          </a:p>
          <a:p>
            <a:pPr lvl="1"/>
            <a:endParaRPr lang="en-US" dirty="0"/>
          </a:p>
        </p:txBody>
      </p:sp>
    </p:spTree>
    <p:extLst>
      <p:ext uri="{BB962C8B-B14F-4D97-AF65-F5344CB8AC3E}">
        <p14:creationId xmlns:p14="http://schemas.microsoft.com/office/powerpoint/2010/main" val="25615236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Data Extract</a:t>
            </a:r>
            <a:endParaRPr lang="en-US" dirty="0"/>
          </a:p>
        </p:txBody>
      </p:sp>
      <p:sp>
        <p:nvSpPr>
          <p:cNvPr id="3" name="Content Placeholder 2"/>
          <p:cNvSpPr>
            <a:spLocks noGrp="1"/>
          </p:cNvSpPr>
          <p:nvPr>
            <p:ph sz="quarter" idx="1"/>
          </p:nvPr>
        </p:nvSpPr>
        <p:spPr/>
        <p:txBody>
          <a:bodyPr/>
          <a:lstStyle/>
          <a:p>
            <a:r>
              <a:rPr lang="en-US" dirty="0" smtClean="0"/>
              <a:t>Customized dataset </a:t>
            </a:r>
          </a:p>
          <a:p>
            <a:pPr lvl="1"/>
            <a:r>
              <a:rPr lang="en-US" dirty="0" smtClean="0"/>
              <a:t>Search variables, use shopping basket</a:t>
            </a:r>
          </a:p>
          <a:p>
            <a:pPr lvl="1"/>
            <a:r>
              <a:rPr lang="en-US" dirty="0" smtClean="0"/>
              <a:t>Allow variables from across MIDUS</a:t>
            </a:r>
          </a:p>
          <a:p>
            <a:pPr lvl="2"/>
            <a:r>
              <a:rPr lang="en-US" dirty="0" smtClean="0"/>
              <a:t>Merge different datasets</a:t>
            </a:r>
          </a:p>
          <a:p>
            <a:pPr lvl="2"/>
            <a:r>
              <a:rPr lang="en-US" dirty="0" smtClean="0"/>
              <a:t>Different formats (csv, SPSS, SAS, Stata)</a:t>
            </a:r>
          </a:p>
          <a:p>
            <a:pPr lvl="2"/>
            <a:r>
              <a:rPr lang="en-US" dirty="0" smtClean="0"/>
              <a:t>Associated DDI codebook</a:t>
            </a:r>
            <a:endParaRPr lang="en-US" dirty="0"/>
          </a:p>
        </p:txBody>
      </p:sp>
    </p:spTree>
    <p:extLst>
      <p:ext uri="{BB962C8B-B14F-4D97-AF65-F5344CB8AC3E}">
        <p14:creationId xmlns:p14="http://schemas.microsoft.com/office/powerpoint/2010/main" val="38742637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Development Milestones</a:t>
            </a:r>
            <a:endParaRPr lang="en-US" dirty="0"/>
          </a:p>
        </p:txBody>
      </p:sp>
      <p:sp>
        <p:nvSpPr>
          <p:cNvPr id="3" name="Content Placeholder 2"/>
          <p:cNvSpPr>
            <a:spLocks noGrp="1"/>
          </p:cNvSpPr>
          <p:nvPr>
            <p:ph sz="quarter" idx="1"/>
          </p:nvPr>
        </p:nvSpPr>
        <p:spPr/>
        <p:txBody>
          <a:bodyPr/>
          <a:lstStyle/>
          <a:p>
            <a:pPr marL="0" indent="0">
              <a:buNone/>
            </a:pPr>
            <a:r>
              <a:rPr lang="en-US" dirty="0" smtClean="0"/>
              <a:t>1. Metadata Quality Report</a:t>
            </a:r>
          </a:p>
          <a:p>
            <a:pPr marL="0" indent="0">
              <a:buNone/>
            </a:pPr>
            <a:r>
              <a:rPr lang="en-US" dirty="0" smtClean="0"/>
              <a:t>2. Harmonization</a:t>
            </a:r>
          </a:p>
          <a:p>
            <a:pPr marL="0" indent="0">
              <a:buNone/>
            </a:pPr>
            <a:r>
              <a:rPr lang="en-US" dirty="0" smtClean="0"/>
              <a:t>3. Web-based Discoverability </a:t>
            </a:r>
          </a:p>
          <a:p>
            <a:pPr marL="0" indent="0">
              <a:buNone/>
            </a:pPr>
            <a:r>
              <a:rPr lang="en-US" dirty="0" smtClean="0"/>
              <a:t>4. Data Extraction</a:t>
            </a:r>
          </a:p>
        </p:txBody>
      </p:sp>
    </p:spTree>
    <p:extLst>
      <p:ext uri="{BB962C8B-B14F-4D97-AF65-F5344CB8AC3E}">
        <p14:creationId xmlns:p14="http://schemas.microsoft.com/office/powerpoint/2010/main" val="141504342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1. Metadata Quality Report</a:t>
            </a:r>
            <a:endParaRPr lang="en-US" dirty="0"/>
          </a:p>
        </p:txBody>
      </p:sp>
      <p:sp>
        <p:nvSpPr>
          <p:cNvPr id="3" name="Content Placeholder 2"/>
          <p:cNvSpPr>
            <a:spLocks noGrp="1"/>
          </p:cNvSpPr>
          <p:nvPr>
            <p:ph sz="quarter" idx="1"/>
          </p:nvPr>
        </p:nvSpPr>
        <p:spPr/>
        <p:txBody>
          <a:bodyPr/>
          <a:lstStyle/>
          <a:p>
            <a:r>
              <a:rPr lang="en-US" dirty="0" smtClean="0"/>
              <a:t>Compare the harmonization spreadsheet to the Repository</a:t>
            </a:r>
          </a:p>
          <a:p>
            <a:r>
              <a:rPr lang="en-US" dirty="0" smtClean="0"/>
              <a:t>Check for:</a:t>
            </a:r>
          </a:p>
          <a:p>
            <a:pPr lvl="1"/>
            <a:r>
              <a:rPr lang="en-US" dirty="0" smtClean="0"/>
              <a:t>Missing information</a:t>
            </a:r>
          </a:p>
          <a:p>
            <a:pPr lvl="1"/>
            <a:r>
              <a:rPr lang="en-US" dirty="0" smtClean="0"/>
              <a:t>Inconsistent labels</a:t>
            </a:r>
          </a:p>
          <a:p>
            <a:pPr lvl="1"/>
            <a:r>
              <a:rPr lang="en-US" dirty="0" smtClean="0"/>
              <a:t>Inconsistent data types</a:t>
            </a:r>
          </a:p>
          <a:p>
            <a:r>
              <a:rPr lang="en-US" dirty="0" smtClean="0"/>
              <a:t>Update the metadata to improve quality</a:t>
            </a:r>
          </a:p>
        </p:txBody>
      </p:sp>
    </p:spTree>
    <p:extLst>
      <p:ext uri="{BB962C8B-B14F-4D97-AF65-F5344CB8AC3E}">
        <p14:creationId xmlns:p14="http://schemas.microsoft.com/office/powerpoint/2010/main" val="38906105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2. Harmonization</a:t>
            </a:r>
            <a:endParaRPr lang="en-US" dirty="0"/>
          </a:p>
        </p:txBody>
      </p:sp>
      <p:sp>
        <p:nvSpPr>
          <p:cNvPr id="3" name="Content Placeholder 2"/>
          <p:cNvSpPr>
            <a:spLocks noGrp="1"/>
          </p:cNvSpPr>
          <p:nvPr>
            <p:ph sz="quarter" idx="1"/>
          </p:nvPr>
        </p:nvSpPr>
        <p:spPr/>
        <p:txBody>
          <a:bodyPr/>
          <a:lstStyle/>
          <a:p>
            <a:r>
              <a:rPr lang="en-US" dirty="0" smtClean="0"/>
              <a:t>Use the harmonization spreadsheet</a:t>
            </a:r>
          </a:p>
          <a:p>
            <a:r>
              <a:rPr lang="en-US" dirty="0" smtClean="0"/>
              <a:t>Create a </a:t>
            </a:r>
            <a:r>
              <a:rPr lang="en-US" dirty="0" err="1" smtClean="0">
                <a:latin typeface="Courier New" panose="02070309020205020404" pitchFamily="49" charset="0"/>
                <a:cs typeface="Courier New" panose="02070309020205020404" pitchFamily="49" charset="0"/>
              </a:rPr>
              <a:t>RepresentedVariable</a:t>
            </a:r>
            <a:r>
              <a:rPr lang="en-US" dirty="0" smtClean="0"/>
              <a:t> for each row</a:t>
            </a:r>
          </a:p>
          <a:p>
            <a:r>
              <a:rPr lang="en-US" dirty="0" smtClean="0"/>
              <a:t>Store these in the repository</a:t>
            </a: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200400"/>
            <a:ext cx="5715000" cy="343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398200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 Web-based Discoverability</a:t>
            </a:r>
            <a:endParaRPr lang="en-US" dirty="0"/>
          </a:p>
        </p:txBody>
      </p:sp>
      <p:sp>
        <p:nvSpPr>
          <p:cNvPr id="3" name="Content Placeholder 2"/>
          <p:cNvSpPr>
            <a:spLocks noGrp="1"/>
          </p:cNvSpPr>
          <p:nvPr>
            <p:ph sz="quarter" idx="1"/>
          </p:nvPr>
        </p:nvSpPr>
        <p:spPr/>
        <p:txBody>
          <a:bodyPr/>
          <a:lstStyle/>
          <a:p>
            <a:r>
              <a:rPr lang="en-US" dirty="0" smtClean="0"/>
              <a:t>Build on top of Colectica Portal</a:t>
            </a:r>
          </a:p>
          <a:p>
            <a:pPr lvl="1"/>
            <a:r>
              <a:rPr lang="en-US" dirty="0" smtClean="0"/>
              <a:t>Searching and information retrieval out-of-the-box </a:t>
            </a:r>
          </a:p>
          <a:p>
            <a:r>
              <a:rPr lang="en-US" dirty="0" smtClean="0"/>
              <a:t>Add cross-reference tables for easy discoverability </a:t>
            </a:r>
          </a:p>
          <a:p>
            <a:r>
              <a:rPr lang="en-US" dirty="0" smtClean="0"/>
              <a:t>Choose variables or groups of variables to include in the data extract </a:t>
            </a:r>
            <a:endParaRPr lang="en-US" dirty="0"/>
          </a:p>
        </p:txBody>
      </p:sp>
    </p:spTree>
    <p:extLst>
      <p:ext uri="{BB962C8B-B14F-4D97-AF65-F5344CB8AC3E}">
        <p14:creationId xmlns:p14="http://schemas.microsoft.com/office/powerpoint/2010/main" val="175666622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4. Data Extraction</a:t>
            </a:r>
            <a:endParaRPr lang="en-US" dirty="0"/>
          </a:p>
        </p:txBody>
      </p:sp>
      <p:sp>
        <p:nvSpPr>
          <p:cNvPr id="3" name="Content Placeholder 2"/>
          <p:cNvSpPr>
            <a:spLocks noGrp="1"/>
          </p:cNvSpPr>
          <p:nvPr>
            <p:ph sz="quarter" idx="1"/>
          </p:nvPr>
        </p:nvSpPr>
        <p:spPr/>
        <p:txBody>
          <a:bodyPr/>
          <a:lstStyle/>
          <a:p>
            <a:r>
              <a:rPr lang="en-US" dirty="0" smtClean="0"/>
              <a:t>Store master data in Colectica Repository</a:t>
            </a:r>
          </a:p>
          <a:p>
            <a:r>
              <a:rPr lang="en-US" dirty="0" smtClean="0"/>
              <a:t>Based on a user’s selected variables, generate:</a:t>
            </a:r>
          </a:p>
          <a:p>
            <a:pPr lvl="1"/>
            <a:r>
              <a:rPr lang="en-US" dirty="0" smtClean="0"/>
              <a:t>Datasets</a:t>
            </a:r>
          </a:p>
          <a:p>
            <a:pPr lvl="2"/>
            <a:r>
              <a:rPr lang="en-US" dirty="0" smtClean="0"/>
              <a:t>CSV, R, SAS, SPSS, </a:t>
            </a:r>
            <a:r>
              <a:rPr lang="en-US" dirty="0" err="1" smtClean="0"/>
              <a:t>Stata</a:t>
            </a:r>
            <a:endParaRPr lang="en-US" dirty="0" smtClean="0"/>
          </a:p>
          <a:p>
            <a:pPr lvl="1"/>
            <a:r>
              <a:rPr lang="en-US" dirty="0" smtClean="0"/>
              <a:t>HTML and PDF codebooks</a:t>
            </a:r>
          </a:p>
          <a:p>
            <a:pPr lvl="1"/>
            <a:r>
              <a:rPr lang="en-US" dirty="0" smtClean="0"/>
              <a:t>DDI XML</a:t>
            </a:r>
          </a:p>
          <a:p>
            <a:pPr lvl="1"/>
            <a:endParaRPr lang="en-US" dirty="0" smtClean="0"/>
          </a:p>
        </p:txBody>
      </p:sp>
    </p:spTree>
    <p:extLst>
      <p:ext uri="{BB962C8B-B14F-4D97-AF65-F5344CB8AC3E}">
        <p14:creationId xmlns:p14="http://schemas.microsoft.com/office/powerpoint/2010/main" val="32921100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Progress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45237311"/>
              </p:ext>
            </p:extLst>
          </p:nvPr>
        </p:nvGraphicFramePr>
        <p:xfrm>
          <a:off x="612648" y="2057400"/>
          <a:ext cx="7932904" cy="2381252"/>
        </p:xfrm>
        <a:graphic>
          <a:graphicData uri="http://schemas.openxmlformats.org/drawingml/2006/table">
            <a:tbl>
              <a:tblPr firstRow="1" bandRow="1">
                <a:tableStyleId>{2D5ABB26-0587-4C30-8999-92F81FD0307C}</a:tableStyleId>
              </a:tblPr>
              <a:tblGrid>
                <a:gridCol w="1697513"/>
                <a:gridCol w="6235391"/>
              </a:tblGrid>
              <a:tr h="595313">
                <a:tc>
                  <a:txBody>
                    <a:bodyPr/>
                    <a:lstStyle/>
                    <a:p>
                      <a:pPr algn="r"/>
                      <a:r>
                        <a:rPr lang="en-US" dirty="0" smtClean="0">
                          <a:sym typeface="Wingdings" panose="05000000000000000000" pitchFamily="2" charset="2"/>
                        </a:rPr>
                        <a:t></a:t>
                      </a:r>
                      <a:r>
                        <a:rPr lang="en-US" dirty="0" smtClean="0"/>
                        <a:t> Complete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r>
                        <a:rPr lang="en-US" dirty="0" smtClean="0"/>
                        <a:t>Metadata</a:t>
                      </a:r>
                      <a:r>
                        <a:rPr lang="en-US" baseline="0" dirty="0" smtClean="0"/>
                        <a:t> Quality Report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5313">
                <a:tc>
                  <a:txBody>
                    <a:bodyPr/>
                    <a:lstStyle/>
                    <a:p>
                      <a:pPr algn="r"/>
                      <a:r>
                        <a:rPr lang="en-US" dirty="0" smtClean="0"/>
                        <a:t>In Progress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40000"/>
                        <a:lumOff val="60000"/>
                      </a:schemeClr>
                    </a:solidFill>
                  </a:tcPr>
                </a:tc>
                <a:tc>
                  <a:txBody>
                    <a:bodyPr/>
                    <a:lstStyle/>
                    <a:p>
                      <a:r>
                        <a:rPr lang="en-US" dirty="0" smtClean="0"/>
                        <a:t>Harmonization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5313">
                <a:tc>
                  <a:txBody>
                    <a:bodyPr/>
                    <a:lstStyle/>
                    <a:p>
                      <a:pPr algn="r"/>
                      <a:r>
                        <a:rPr lang="en-US" dirty="0" smtClean="0"/>
                        <a:t>Upcoming</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Web-based Discoverability</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95313">
                <a:tc>
                  <a:txBody>
                    <a:bodyPr/>
                    <a:lstStyle/>
                    <a:p>
                      <a:pPr algn="r"/>
                      <a:r>
                        <a:rPr lang="en-US" dirty="0" smtClean="0"/>
                        <a:t>Upcoming</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smtClean="0"/>
                        <a:t>Data Extraction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9731557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762000"/>
          </a:xfrm>
        </p:spPr>
        <p:txBody>
          <a:bodyPr>
            <a:normAutofit/>
          </a:bodyPr>
          <a:lstStyle/>
          <a:p>
            <a:pPr algn="ctr"/>
            <a:r>
              <a:rPr lang="en-US" cap="none" dirty="0" smtClean="0"/>
              <a:t>Thank you</a:t>
            </a:r>
            <a:endParaRPr lang="en-US" cap="none" dirty="0"/>
          </a:p>
        </p:txBody>
      </p:sp>
      <p:pic>
        <p:nvPicPr>
          <p:cNvPr id="7" name="Picture 6" descr="C:\Users\jeremy\svn\admin\PR\Assets\colectica\custom\colectica-green-web.png"/>
          <p:cNvPicPr>
            <a:picLocks noChangeAspect="1" noChangeArrowheads="1"/>
          </p:cNvPicPr>
          <p:nvPr/>
        </p:nvPicPr>
        <p:blipFill>
          <a:blip r:embed="rId3" cstate="print"/>
          <a:srcRect/>
          <a:stretch>
            <a:fillRect/>
          </a:stretch>
        </p:blipFill>
        <p:spPr bwMode="auto">
          <a:xfrm>
            <a:off x="6422393" y="6096000"/>
            <a:ext cx="2569207" cy="609600"/>
          </a:xfrm>
          <a:prstGeom prst="rect">
            <a:avLst/>
          </a:prstGeom>
          <a:noFill/>
        </p:spPr>
      </p:pic>
      <p:sp>
        <p:nvSpPr>
          <p:cNvPr id="3" name="Rectangle 2"/>
          <p:cNvSpPr/>
          <p:nvPr/>
        </p:nvSpPr>
        <p:spPr>
          <a:xfrm>
            <a:off x="228600" y="1371600"/>
            <a:ext cx="7469609" cy="1384995"/>
          </a:xfrm>
          <a:prstGeom prst="rect">
            <a:avLst/>
          </a:prstGeom>
        </p:spPr>
        <p:txBody>
          <a:bodyPr wrap="none">
            <a:spAutoFit/>
          </a:bodyPr>
          <a:lstStyle/>
          <a:p>
            <a:pPr algn="r"/>
            <a:r>
              <a:rPr lang="en-US" sz="2800" dirty="0" smtClean="0"/>
              <a:t>Barry Radler – UW-Madison (bradler@wisc.edu)</a:t>
            </a:r>
          </a:p>
          <a:p>
            <a:pPr algn="r"/>
            <a:r>
              <a:rPr lang="en-US" sz="2800" dirty="0" smtClean="0"/>
              <a:t>Jeremy Iverson – Colectica (jeremy@colectica.com)</a:t>
            </a:r>
          </a:p>
          <a:p>
            <a:pPr algn="r"/>
            <a:r>
              <a:rPr lang="en-US" sz="2800" dirty="0" smtClean="0"/>
              <a:t>Dan Smith-Colectica (dan@colectica.com)</a:t>
            </a:r>
            <a:endParaRPr lang="en-US" sz="2800" dirty="0"/>
          </a:p>
        </p:txBody>
      </p:sp>
      <p:sp>
        <p:nvSpPr>
          <p:cNvPr id="5" name="Rectangle 4"/>
          <p:cNvSpPr/>
          <p:nvPr/>
        </p:nvSpPr>
        <p:spPr>
          <a:xfrm>
            <a:off x="2286000" y="2888159"/>
            <a:ext cx="5715000" cy="76944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4400" b="1" i="0" u="none" strike="noStrike" kern="0" cap="none" spc="0" normalizeH="0" baseline="0" noProof="0" dirty="0" smtClean="0">
                <a:ln>
                  <a:noFill/>
                </a:ln>
                <a:solidFill>
                  <a:srgbClr val="FFFF00"/>
                </a:solidFill>
                <a:effectLst/>
                <a:uLnTx/>
                <a:uFillTx/>
                <a:latin typeface="Calibri"/>
                <a:ea typeface="+mj-ea"/>
                <a:cs typeface="+mj-cs"/>
                <a:hlinkClick r:id="rId4"/>
              </a:rPr>
              <a:t>midus.wisc.edu</a:t>
            </a:r>
            <a:endParaRPr kumimoji="0" lang="en-US" sz="1800" b="0" i="0" u="none" strike="noStrike" kern="0" cap="none" spc="0" normalizeH="0" baseline="0" noProof="0" dirty="0" smtClean="0">
              <a:ln>
                <a:noFill/>
              </a:ln>
              <a:solidFill>
                <a:sysClr val="windowText" lastClr="000000"/>
              </a:solidFill>
              <a:effectLst/>
              <a:uLnTx/>
              <a:uFillTx/>
            </a:endParaRPr>
          </a:p>
        </p:txBody>
      </p:sp>
      <p:sp>
        <p:nvSpPr>
          <p:cNvPr id="9" name="Rectangle 8"/>
          <p:cNvSpPr/>
          <p:nvPr/>
        </p:nvSpPr>
        <p:spPr>
          <a:xfrm>
            <a:off x="2286000" y="3726359"/>
            <a:ext cx="5715000" cy="769441"/>
          </a:xfrm>
          <a:prstGeom prst="rect">
            <a:avLst/>
          </a:prstGeom>
        </p:spPr>
        <p:txBody>
          <a:bodyPr wrap="square">
            <a:spAutoFit/>
          </a:bodyPr>
          <a:lstStyle/>
          <a:p>
            <a:pPr lvl="0"/>
            <a:r>
              <a:rPr lang="en-US" sz="4400" b="1" kern="0" dirty="0" smtClean="0">
                <a:solidFill>
                  <a:srgbClr val="FFFF00"/>
                </a:solidFill>
                <a:latin typeface="Calibri"/>
                <a:ea typeface="+mj-ea"/>
                <a:cs typeface="+mj-cs"/>
                <a:hlinkClick r:id="rId5"/>
              </a:rPr>
              <a:t>www.colectica.com</a:t>
            </a:r>
            <a:endParaRPr kumimoji="0" lang="en-US" sz="1800" b="0" i="0" u="none" strike="noStrike" kern="0" cap="none" spc="0" normalizeH="0" baseline="0" noProof="0" dirty="0" smtClean="0">
              <a:ln>
                <a:noFill/>
              </a:ln>
              <a:solidFill>
                <a:sysClr val="windowText" lastClr="000000"/>
              </a:solidFill>
              <a:effectLst/>
              <a:uLnTx/>
              <a:uFillTx/>
            </a:endParaRPr>
          </a:p>
        </p:txBody>
      </p:sp>
    </p:spTree>
    <p:extLst>
      <p:ext uri="{BB962C8B-B14F-4D97-AF65-F5344CB8AC3E}">
        <p14:creationId xmlns:p14="http://schemas.microsoft.com/office/powerpoint/2010/main" val="11322774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4069</TotalTime>
  <Words>1564</Words>
  <Application>Microsoft Office PowerPoint</Application>
  <PresentationFormat>On-screen Show (4:3)</PresentationFormat>
  <Paragraphs>344</Paragraphs>
  <Slides>27</Slides>
  <Notes>20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Median</vt:lpstr>
      <vt:lpstr>Building a Harmonized Data Market for Longitudinal Data with MIDUS and DDI (3.2)</vt:lpstr>
      <vt:lpstr>Overview of Presentation</vt:lpstr>
      <vt:lpstr>MIDUS</vt:lpstr>
      <vt:lpstr>MIDUS: Strengths and Complexities</vt:lpstr>
      <vt:lpstr>PowerPoint Presentation</vt:lpstr>
      <vt:lpstr>PowerPoint Presentation</vt:lpstr>
      <vt:lpstr>MIDUS: Strengths and Complexities</vt:lpstr>
      <vt:lpstr>PowerPoint Presentation</vt:lpstr>
      <vt:lpstr>PowerPoint Presentation</vt:lpstr>
      <vt:lpstr>PowerPoint Presentation</vt:lpstr>
      <vt:lpstr>PowerPoint Presentation</vt:lpstr>
      <vt:lpstr>MIDUS: Strengths and Complexities</vt:lpstr>
      <vt:lpstr>PowerPoint Presentation</vt:lpstr>
      <vt:lpstr>PowerPoint Presentation</vt:lpstr>
      <vt:lpstr>MIDUS: Strengths and Complexities</vt:lpstr>
      <vt:lpstr>Current DDI Efforts</vt:lpstr>
      <vt:lpstr>Current Project goals</vt:lpstr>
      <vt:lpstr>Harmonization</vt:lpstr>
      <vt:lpstr>Harmonization</vt:lpstr>
      <vt:lpstr>Custom Data Extract</vt:lpstr>
      <vt:lpstr>Development Milestones</vt:lpstr>
      <vt:lpstr>Step 1. Metadata Quality Report</vt:lpstr>
      <vt:lpstr>Step 2. Harmonization</vt:lpstr>
      <vt:lpstr>Step 3. Web-based Discoverability</vt:lpstr>
      <vt:lpstr>Step 4. Data Extraction</vt:lpstr>
      <vt:lpstr>Progress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Documenting and Harmonizing MIDUS with DDI 3 and Colectica</dc:title>
  <dc:creator>jeremy</dc:creator>
  <cp:lastModifiedBy>bradler</cp:lastModifiedBy>
  <cp:revision>125</cp:revision>
  <dcterms:created xsi:type="dcterms:W3CDTF">2006-08-16T00:00:00Z</dcterms:created>
  <dcterms:modified xsi:type="dcterms:W3CDTF">2013-12-03T09:46:15Z</dcterms:modified>
</cp:coreProperties>
</file>