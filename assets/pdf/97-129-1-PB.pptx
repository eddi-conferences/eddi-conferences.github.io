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8"/>
  </p:notesMasterIdLst>
  <p:sldIdLst>
    <p:sldId id="256" r:id="rId2"/>
    <p:sldId id="318" r:id="rId3"/>
    <p:sldId id="319" r:id="rId4"/>
    <p:sldId id="320" r:id="rId5"/>
    <p:sldId id="294" r:id="rId6"/>
    <p:sldId id="315" r:id="rId7"/>
    <p:sldId id="330" r:id="rId8"/>
    <p:sldId id="328" r:id="rId9"/>
    <p:sldId id="296" r:id="rId10"/>
    <p:sldId id="326" r:id="rId11"/>
    <p:sldId id="329" r:id="rId12"/>
    <p:sldId id="333" r:id="rId13"/>
    <p:sldId id="314" r:id="rId14"/>
    <p:sldId id="308" r:id="rId15"/>
    <p:sldId id="297" r:id="rId16"/>
    <p:sldId id="324" r:id="rId17"/>
    <p:sldId id="301" r:id="rId18"/>
    <p:sldId id="334" r:id="rId19"/>
    <p:sldId id="298" r:id="rId20"/>
    <p:sldId id="310" r:id="rId21"/>
    <p:sldId id="299" r:id="rId22"/>
    <p:sldId id="311" r:id="rId23"/>
    <p:sldId id="307" r:id="rId24"/>
    <p:sldId id="302" r:id="rId25"/>
    <p:sldId id="313" r:id="rId26"/>
    <p:sldId id="305" r:id="rId27"/>
    <p:sldId id="300" r:id="rId28"/>
    <p:sldId id="304" r:id="rId29"/>
    <p:sldId id="306" r:id="rId30"/>
    <p:sldId id="312" r:id="rId31"/>
    <p:sldId id="323" r:id="rId32"/>
    <p:sldId id="303" r:id="rId33"/>
    <p:sldId id="317" r:id="rId34"/>
    <p:sldId id="316" r:id="rId35"/>
    <p:sldId id="335" r:id="rId36"/>
    <p:sldId id="295" r:id="rId3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44" autoAdjust="0"/>
    <p:restoredTop sz="77975" autoAdjust="0"/>
  </p:normalViewPr>
  <p:slideViewPr>
    <p:cSldViewPr>
      <p:cViewPr varScale="1">
        <p:scale>
          <a:sx n="69" d="100"/>
          <a:sy n="69" d="100"/>
        </p:scale>
        <p:origin x="183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CF21884-9D21-40F0-8905-CDBFC5C97352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33E89CC-1FA8-43F2-92B3-76DA8F20762D}">
      <dgm:prSet custT="1"/>
      <dgm:spPr/>
      <dgm:t>
        <a:bodyPr/>
        <a:lstStyle/>
        <a:p>
          <a:pPr rtl="0"/>
          <a:r>
            <a:rPr lang="en-US" sz="3200" dirty="0" smtClean="0"/>
            <a:t>Colectica Designer</a:t>
          </a:r>
          <a:endParaRPr lang="en-US" sz="3200" dirty="0"/>
        </a:p>
      </dgm:t>
    </dgm:pt>
    <dgm:pt modelId="{E377BF39-4FDA-4833-952B-ED9CBDAE745E}" type="parTrans" cxnId="{302C169B-0378-4B7B-B8A2-7907AC2FD76B}">
      <dgm:prSet/>
      <dgm:spPr/>
      <dgm:t>
        <a:bodyPr/>
        <a:lstStyle/>
        <a:p>
          <a:endParaRPr lang="en-US"/>
        </a:p>
      </dgm:t>
    </dgm:pt>
    <dgm:pt modelId="{4A08F862-A397-47AF-B4FC-2FE49634C460}" type="sibTrans" cxnId="{302C169B-0378-4B7B-B8A2-7907AC2FD76B}">
      <dgm:prSet/>
      <dgm:spPr/>
      <dgm:t>
        <a:bodyPr/>
        <a:lstStyle/>
        <a:p>
          <a:endParaRPr lang="en-US"/>
        </a:p>
      </dgm:t>
    </dgm:pt>
    <dgm:pt modelId="{F9E10F5D-8097-4C3F-BC37-ECA2000299B2}">
      <dgm:prSet/>
      <dgm:spPr/>
      <dgm:t>
        <a:bodyPr/>
        <a:lstStyle/>
        <a:p>
          <a:pPr rtl="0"/>
          <a:r>
            <a:rPr lang="en-US" dirty="0" smtClean="0"/>
            <a:t>Create, ingest, manage, and edit metadata</a:t>
          </a:r>
          <a:endParaRPr lang="en-US" dirty="0"/>
        </a:p>
      </dgm:t>
    </dgm:pt>
    <dgm:pt modelId="{5700E19E-B968-4A1C-8CE6-0C31F148D030}" type="parTrans" cxnId="{C7E25D31-5FC1-4F06-AC18-7BF43134973A}">
      <dgm:prSet/>
      <dgm:spPr/>
      <dgm:t>
        <a:bodyPr/>
        <a:lstStyle/>
        <a:p>
          <a:endParaRPr lang="en-US"/>
        </a:p>
      </dgm:t>
    </dgm:pt>
    <dgm:pt modelId="{D1241195-CC96-4731-8F78-05B2EA80A0B7}" type="sibTrans" cxnId="{C7E25D31-5FC1-4F06-AC18-7BF43134973A}">
      <dgm:prSet/>
      <dgm:spPr/>
      <dgm:t>
        <a:bodyPr/>
        <a:lstStyle/>
        <a:p>
          <a:endParaRPr lang="en-US"/>
        </a:p>
      </dgm:t>
    </dgm:pt>
    <dgm:pt modelId="{9E78A887-EF59-443A-AB24-FAA99613645C}">
      <dgm:prSet custT="1"/>
      <dgm:spPr/>
      <dgm:t>
        <a:bodyPr/>
        <a:lstStyle/>
        <a:p>
          <a:pPr rtl="0"/>
          <a:r>
            <a:rPr lang="en-US" sz="3200" dirty="0" smtClean="0"/>
            <a:t>Colectica Repository</a:t>
          </a:r>
          <a:endParaRPr lang="en-US" sz="3200" dirty="0"/>
        </a:p>
      </dgm:t>
    </dgm:pt>
    <dgm:pt modelId="{035DAEC1-5C5F-42FA-A255-2E82699DE3BF}" type="parTrans" cxnId="{CD5FA65A-C501-4EAB-9A66-0F9E8FC1BE4B}">
      <dgm:prSet/>
      <dgm:spPr/>
      <dgm:t>
        <a:bodyPr/>
        <a:lstStyle/>
        <a:p>
          <a:endParaRPr lang="en-US"/>
        </a:p>
      </dgm:t>
    </dgm:pt>
    <dgm:pt modelId="{F72A41EE-EA37-4EE6-97E1-4E3491C03419}" type="sibTrans" cxnId="{CD5FA65A-C501-4EAB-9A66-0F9E8FC1BE4B}">
      <dgm:prSet/>
      <dgm:spPr/>
      <dgm:t>
        <a:bodyPr/>
        <a:lstStyle/>
        <a:p>
          <a:endParaRPr lang="en-US"/>
        </a:p>
      </dgm:t>
    </dgm:pt>
    <dgm:pt modelId="{ABBC3FCA-535E-4181-BBDA-2C9ED2C43942}">
      <dgm:prSet/>
      <dgm:spPr/>
      <dgm:t>
        <a:bodyPr/>
        <a:lstStyle/>
        <a:p>
          <a:pPr rtl="0"/>
          <a:r>
            <a:rPr lang="en-US" dirty="0" smtClean="0"/>
            <a:t>Centralized, authoritative, metadata store built on DDI 3, ISO 11179, and Web Service standards</a:t>
          </a:r>
          <a:endParaRPr lang="en-US" dirty="0"/>
        </a:p>
      </dgm:t>
    </dgm:pt>
    <dgm:pt modelId="{ECF03BF2-CA59-42AF-989A-E0B72B36F1B2}" type="parTrans" cxnId="{4C59B68A-11FE-4173-8ED1-6FB027983C32}">
      <dgm:prSet/>
      <dgm:spPr/>
      <dgm:t>
        <a:bodyPr/>
        <a:lstStyle/>
        <a:p>
          <a:endParaRPr lang="en-US"/>
        </a:p>
      </dgm:t>
    </dgm:pt>
    <dgm:pt modelId="{9EB81647-33C7-4906-B209-C7AFF85D7A1F}" type="sibTrans" cxnId="{4C59B68A-11FE-4173-8ED1-6FB027983C32}">
      <dgm:prSet/>
      <dgm:spPr/>
      <dgm:t>
        <a:bodyPr/>
        <a:lstStyle/>
        <a:p>
          <a:endParaRPr lang="en-US"/>
        </a:p>
      </dgm:t>
    </dgm:pt>
    <dgm:pt modelId="{C827FA02-B7A5-4723-B41C-6FE41C6149B7}">
      <dgm:prSet custT="1"/>
      <dgm:spPr/>
      <dgm:t>
        <a:bodyPr/>
        <a:lstStyle/>
        <a:p>
          <a:pPr rtl="0"/>
          <a:r>
            <a:rPr lang="en-US" sz="3200" dirty="0" smtClean="0"/>
            <a:t>Colectica Portal</a:t>
          </a:r>
          <a:endParaRPr lang="en-US" sz="3200" dirty="0"/>
        </a:p>
      </dgm:t>
    </dgm:pt>
    <dgm:pt modelId="{8540A69B-22FB-403B-BBCC-A96418BCF60E}" type="parTrans" cxnId="{6697620F-1718-471E-888E-26BCB7C7068A}">
      <dgm:prSet/>
      <dgm:spPr/>
      <dgm:t>
        <a:bodyPr/>
        <a:lstStyle/>
        <a:p>
          <a:endParaRPr lang="en-US"/>
        </a:p>
      </dgm:t>
    </dgm:pt>
    <dgm:pt modelId="{D0247631-FBB1-4FA4-A4F0-64345AF0F0E9}" type="sibTrans" cxnId="{6697620F-1718-471E-888E-26BCB7C7068A}">
      <dgm:prSet/>
      <dgm:spPr/>
      <dgm:t>
        <a:bodyPr/>
        <a:lstStyle/>
        <a:p>
          <a:endParaRPr lang="en-US"/>
        </a:p>
      </dgm:t>
    </dgm:pt>
    <dgm:pt modelId="{80642C6B-5051-4948-A9BB-1A1765A2F884}">
      <dgm:prSet/>
      <dgm:spPr/>
      <dgm:t>
        <a:bodyPr/>
        <a:lstStyle/>
        <a:p>
          <a:pPr rtl="0"/>
          <a:r>
            <a:rPr lang="en-US" dirty="0" smtClean="0"/>
            <a:t>Search and browse metadata from Colectica Repository</a:t>
          </a:r>
          <a:endParaRPr lang="en-US" dirty="0"/>
        </a:p>
      </dgm:t>
    </dgm:pt>
    <dgm:pt modelId="{459C1608-6CAE-4ACB-94AE-E3B943FA94FA}" type="parTrans" cxnId="{B6D54B4B-96A8-42C6-AC91-592170FA65A8}">
      <dgm:prSet/>
      <dgm:spPr/>
      <dgm:t>
        <a:bodyPr/>
        <a:lstStyle/>
        <a:p>
          <a:endParaRPr lang="en-US"/>
        </a:p>
      </dgm:t>
    </dgm:pt>
    <dgm:pt modelId="{5685E1DD-706E-486E-9A06-7783ACDFD747}" type="sibTrans" cxnId="{B6D54B4B-96A8-42C6-AC91-592170FA65A8}">
      <dgm:prSet/>
      <dgm:spPr/>
      <dgm:t>
        <a:bodyPr/>
        <a:lstStyle/>
        <a:p>
          <a:endParaRPr lang="en-US"/>
        </a:p>
      </dgm:t>
    </dgm:pt>
    <dgm:pt modelId="{F26900C1-E035-43FF-A75D-D13B8C55AFE6}">
      <dgm:prSet/>
      <dgm:spPr/>
      <dgm:t>
        <a:bodyPr/>
        <a:lstStyle/>
        <a:p>
          <a:pPr rtl="0"/>
          <a:r>
            <a:rPr lang="en-US" dirty="0" smtClean="0"/>
            <a:t>Usable DDI 3 for end-users</a:t>
          </a:r>
          <a:endParaRPr lang="en-US" dirty="0"/>
        </a:p>
      </dgm:t>
    </dgm:pt>
    <dgm:pt modelId="{30F31460-E3F3-4F5A-8E96-A57BCEF9DC91}" type="parTrans" cxnId="{65B4F70A-E2B9-4E2F-8C2A-81294CCAA1EC}">
      <dgm:prSet/>
      <dgm:spPr/>
      <dgm:t>
        <a:bodyPr/>
        <a:lstStyle/>
        <a:p>
          <a:endParaRPr lang="en-US"/>
        </a:p>
      </dgm:t>
    </dgm:pt>
    <dgm:pt modelId="{2717C6FC-B4E4-4E22-B3EE-C6C71468D37E}" type="sibTrans" cxnId="{65B4F70A-E2B9-4E2F-8C2A-81294CCAA1EC}">
      <dgm:prSet/>
      <dgm:spPr/>
      <dgm:t>
        <a:bodyPr/>
        <a:lstStyle/>
        <a:p>
          <a:endParaRPr lang="en-US"/>
        </a:p>
      </dgm:t>
    </dgm:pt>
    <dgm:pt modelId="{331F4C37-A1EB-42E8-9648-8B22FC870FC3}" type="pres">
      <dgm:prSet presAssocID="{6CF21884-9D21-40F0-8905-CDBFC5C97352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790B6CA-8D62-40FE-89EA-01500D5E49C4}" type="pres">
      <dgm:prSet presAssocID="{333E89CC-1FA8-43F2-92B3-76DA8F20762D}" presName="linNode" presStyleCnt="0"/>
      <dgm:spPr/>
    </dgm:pt>
    <dgm:pt modelId="{3809B5A6-ABBA-473C-B271-7F2DAADB5A24}" type="pres">
      <dgm:prSet presAssocID="{333E89CC-1FA8-43F2-92B3-76DA8F20762D}" presName="parentText" presStyleLbl="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F24853B-6DC9-4A37-BA69-1B2637D69240}" type="pres">
      <dgm:prSet presAssocID="{333E89CC-1FA8-43F2-92B3-76DA8F20762D}" presName="descendantText" presStyleLbl="alignAccFollow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26B14D4-B924-4719-AF23-B538CA8B6BAA}" type="pres">
      <dgm:prSet presAssocID="{4A08F862-A397-47AF-B4FC-2FE49634C460}" presName="sp" presStyleCnt="0"/>
      <dgm:spPr/>
    </dgm:pt>
    <dgm:pt modelId="{5A9506F7-DFF9-44F2-AF58-36F8E62BCE97}" type="pres">
      <dgm:prSet presAssocID="{9E78A887-EF59-443A-AB24-FAA99613645C}" presName="linNode" presStyleCnt="0"/>
      <dgm:spPr/>
    </dgm:pt>
    <dgm:pt modelId="{65026A2B-FF57-4BBF-A932-FC2E8561BDE3}" type="pres">
      <dgm:prSet presAssocID="{9E78A887-EF59-443A-AB24-FAA99613645C}" presName="parentText" presStyleLbl="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6E56480-8B63-4811-8AB1-D3EB6D29AC2E}" type="pres">
      <dgm:prSet presAssocID="{9E78A887-EF59-443A-AB24-FAA99613645C}" presName="descendantText" presStyleLbl="alignAccFollow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D7FF2EE-F44E-492F-8B1B-F7B00E390C95}" type="pres">
      <dgm:prSet presAssocID="{F72A41EE-EA37-4EE6-97E1-4E3491C03419}" presName="sp" presStyleCnt="0"/>
      <dgm:spPr/>
    </dgm:pt>
    <dgm:pt modelId="{FAB4F9AE-8395-406B-936B-098FAA744101}" type="pres">
      <dgm:prSet presAssocID="{C827FA02-B7A5-4723-B41C-6FE41C6149B7}" presName="linNode" presStyleCnt="0"/>
      <dgm:spPr/>
    </dgm:pt>
    <dgm:pt modelId="{2736EA82-7963-4B54-A7A1-21C65E3E4F2C}" type="pres">
      <dgm:prSet presAssocID="{C827FA02-B7A5-4723-B41C-6FE41C6149B7}" presName="parentText" presStyleLbl="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B564720-CB11-48DA-BE98-009DC5064BA6}" type="pres">
      <dgm:prSet presAssocID="{C827FA02-B7A5-4723-B41C-6FE41C6149B7}" presName="descendantText" presStyleLbl="align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FC12DFA-EBFC-46D6-8341-603D8AB9458F}" type="presOf" srcId="{ABBC3FCA-535E-4181-BBDA-2C9ED2C43942}" destId="{76E56480-8B63-4811-8AB1-D3EB6D29AC2E}" srcOrd="0" destOrd="0" presId="urn:microsoft.com/office/officeart/2005/8/layout/vList5"/>
    <dgm:cxn modelId="{65B4F70A-E2B9-4E2F-8C2A-81294CCAA1EC}" srcId="{333E89CC-1FA8-43F2-92B3-76DA8F20762D}" destId="{F26900C1-E035-43FF-A75D-D13B8C55AFE6}" srcOrd="1" destOrd="0" parTransId="{30F31460-E3F3-4F5A-8E96-A57BCEF9DC91}" sibTransId="{2717C6FC-B4E4-4E22-B3EE-C6C71468D37E}"/>
    <dgm:cxn modelId="{E05EFF62-7A00-494D-A587-3189F166D9BE}" type="presOf" srcId="{C827FA02-B7A5-4723-B41C-6FE41C6149B7}" destId="{2736EA82-7963-4B54-A7A1-21C65E3E4F2C}" srcOrd="0" destOrd="0" presId="urn:microsoft.com/office/officeart/2005/8/layout/vList5"/>
    <dgm:cxn modelId="{28343AC6-B5DC-48FF-88B1-C01F2779BBC8}" type="presOf" srcId="{F26900C1-E035-43FF-A75D-D13B8C55AFE6}" destId="{1F24853B-6DC9-4A37-BA69-1B2637D69240}" srcOrd="0" destOrd="1" presId="urn:microsoft.com/office/officeart/2005/8/layout/vList5"/>
    <dgm:cxn modelId="{302C169B-0378-4B7B-B8A2-7907AC2FD76B}" srcId="{6CF21884-9D21-40F0-8905-CDBFC5C97352}" destId="{333E89CC-1FA8-43F2-92B3-76DA8F20762D}" srcOrd="0" destOrd="0" parTransId="{E377BF39-4FDA-4833-952B-ED9CBDAE745E}" sibTransId="{4A08F862-A397-47AF-B4FC-2FE49634C460}"/>
    <dgm:cxn modelId="{E0C90744-DF86-48A0-9488-98EAA3E4B18A}" type="presOf" srcId="{80642C6B-5051-4948-A9BB-1A1765A2F884}" destId="{8B564720-CB11-48DA-BE98-009DC5064BA6}" srcOrd="0" destOrd="0" presId="urn:microsoft.com/office/officeart/2005/8/layout/vList5"/>
    <dgm:cxn modelId="{D177C3AA-4B4B-4463-845E-8D198FF23FA7}" type="presOf" srcId="{6CF21884-9D21-40F0-8905-CDBFC5C97352}" destId="{331F4C37-A1EB-42E8-9648-8B22FC870FC3}" srcOrd="0" destOrd="0" presId="urn:microsoft.com/office/officeart/2005/8/layout/vList5"/>
    <dgm:cxn modelId="{102DE0F3-858D-4D7F-BA43-C8D88982537A}" type="presOf" srcId="{333E89CC-1FA8-43F2-92B3-76DA8F20762D}" destId="{3809B5A6-ABBA-473C-B271-7F2DAADB5A24}" srcOrd="0" destOrd="0" presId="urn:microsoft.com/office/officeart/2005/8/layout/vList5"/>
    <dgm:cxn modelId="{C7E25D31-5FC1-4F06-AC18-7BF43134973A}" srcId="{333E89CC-1FA8-43F2-92B3-76DA8F20762D}" destId="{F9E10F5D-8097-4C3F-BC37-ECA2000299B2}" srcOrd="0" destOrd="0" parTransId="{5700E19E-B968-4A1C-8CE6-0C31F148D030}" sibTransId="{D1241195-CC96-4731-8F78-05B2EA80A0B7}"/>
    <dgm:cxn modelId="{4C59B68A-11FE-4173-8ED1-6FB027983C32}" srcId="{9E78A887-EF59-443A-AB24-FAA99613645C}" destId="{ABBC3FCA-535E-4181-BBDA-2C9ED2C43942}" srcOrd="0" destOrd="0" parTransId="{ECF03BF2-CA59-42AF-989A-E0B72B36F1B2}" sibTransId="{9EB81647-33C7-4906-B209-C7AFF85D7A1F}"/>
    <dgm:cxn modelId="{6697620F-1718-471E-888E-26BCB7C7068A}" srcId="{6CF21884-9D21-40F0-8905-CDBFC5C97352}" destId="{C827FA02-B7A5-4723-B41C-6FE41C6149B7}" srcOrd="2" destOrd="0" parTransId="{8540A69B-22FB-403B-BBCC-A96418BCF60E}" sibTransId="{D0247631-FBB1-4FA4-A4F0-64345AF0F0E9}"/>
    <dgm:cxn modelId="{0634D62F-FEB1-433D-BCB4-F51FE198EA44}" type="presOf" srcId="{9E78A887-EF59-443A-AB24-FAA99613645C}" destId="{65026A2B-FF57-4BBF-A932-FC2E8561BDE3}" srcOrd="0" destOrd="0" presId="urn:microsoft.com/office/officeart/2005/8/layout/vList5"/>
    <dgm:cxn modelId="{71A4463A-C74C-4A61-B92C-694694382139}" type="presOf" srcId="{F9E10F5D-8097-4C3F-BC37-ECA2000299B2}" destId="{1F24853B-6DC9-4A37-BA69-1B2637D69240}" srcOrd="0" destOrd="0" presId="urn:microsoft.com/office/officeart/2005/8/layout/vList5"/>
    <dgm:cxn modelId="{B6D54B4B-96A8-42C6-AC91-592170FA65A8}" srcId="{C827FA02-B7A5-4723-B41C-6FE41C6149B7}" destId="{80642C6B-5051-4948-A9BB-1A1765A2F884}" srcOrd="0" destOrd="0" parTransId="{459C1608-6CAE-4ACB-94AE-E3B943FA94FA}" sibTransId="{5685E1DD-706E-486E-9A06-7783ACDFD747}"/>
    <dgm:cxn modelId="{CD5FA65A-C501-4EAB-9A66-0F9E8FC1BE4B}" srcId="{6CF21884-9D21-40F0-8905-CDBFC5C97352}" destId="{9E78A887-EF59-443A-AB24-FAA99613645C}" srcOrd="1" destOrd="0" parTransId="{035DAEC1-5C5F-42FA-A255-2E82699DE3BF}" sibTransId="{F72A41EE-EA37-4EE6-97E1-4E3491C03419}"/>
    <dgm:cxn modelId="{669A2DE3-725D-4BA9-BA44-C0D3CAEFB257}" type="presParOf" srcId="{331F4C37-A1EB-42E8-9648-8B22FC870FC3}" destId="{6790B6CA-8D62-40FE-89EA-01500D5E49C4}" srcOrd="0" destOrd="0" presId="urn:microsoft.com/office/officeart/2005/8/layout/vList5"/>
    <dgm:cxn modelId="{D85531CE-CBA0-45C4-81B7-0C81255C1179}" type="presParOf" srcId="{6790B6CA-8D62-40FE-89EA-01500D5E49C4}" destId="{3809B5A6-ABBA-473C-B271-7F2DAADB5A24}" srcOrd="0" destOrd="0" presId="urn:microsoft.com/office/officeart/2005/8/layout/vList5"/>
    <dgm:cxn modelId="{7E29F9AB-3B98-4AD7-823D-A566CED351F7}" type="presParOf" srcId="{6790B6CA-8D62-40FE-89EA-01500D5E49C4}" destId="{1F24853B-6DC9-4A37-BA69-1B2637D69240}" srcOrd="1" destOrd="0" presId="urn:microsoft.com/office/officeart/2005/8/layout/vList5"/>
    <dgm:cxn modelId="{778F5F73-0AE7-42D7-90E0-04DAFBCC753B}" type="presParOf" srcId="{331F4C37-A1EB-42E8-9648-8B22FC870FC3}" destId="{426B14D4-B924-4719-AF23-B538CA8B6BAA}" srcOrd="1" destOrd="0" presId="urn:microsoft.com/office/officeart/2005/8/layout/vList5"/>
    <dgm:cxn modelId="{9820DA53-66A1-4463-95AD-92C953F52469}" type="presParOf" srcId="{331F4C37-A1EB-42E8-9648-8B22FC870FC3}" destId="{5A9506F7-DFF9-44F2-AF58-36F8E62BCE97}" srcOrd="2" destOrd="0" presId="urn:microsoft.com/office/officeart/2005/8/layout/vList5"/>
    <dgm:cxn modelId="{F355C379-0F7E-4CFF-9916-8A4F798A42B6}" type="presParOf" srcId="{5A9506F7-DFF9-44F2-AF58-36F8E62BCE97}" destId="{65026A2B-FF57-4BBF-A932-FC2E8561BDE3}" srcOrd="0" destOrd="0" presId="urn:microsoft.com/office/officeart/2005/8/layout/vList5"/>
    <dgm:cxn modelId="{6400F0BF-2DBB-4E92-ABB2-6F579FF471A2}" type="presParOf" srcId="{5A9506F7-DFF9-44F2-AF58-36F8E62BCE97}" destId="{76E56480-8B63-4811-8AB1-D3EB6D29AC2E}" srcOrd="1" destOrd="0" presId="urn:microsoft.com/office/officeart/2005/8/layout/vList5"/>
    <dgm:cxn modelId="{6498E7AC-B875-4FF5-80FA-4805D7C9607A}" type="presParOf" srcId="{331F4C37-A1EB-42E8-9648-8B22FC870FC3}" destId="{4D7FF2EE-F44E-492F-8B1B-F7B00E390C95}" srcOrd="3" destOrd="0" presId="urn:microsoft.com/office/officeart/2005/8/layout/vList5"/>
    <dgm:cxn modelId="{FE69B1ED-849B-4CF1-8D94-2F43733E6B74}" type="presParOf" srcId="{331F4C37-A1EB-42E8-9648-8B22FC870FC3}" destId="{FAB4F9AE-8395-406B-936B-098FAA744101}" srcOrd="4" destOrd="0" presId="urn:microsoft.com/office/officeart/2005/8/layout/vList5"/>
    <dgm:cxn modelId="{04DBE17B-933D-4B35-82F3-158E0B9079EA}" type="presParOf" srcId="{FAB4F9AE-8395-406B-936B-098FAA744101}" destId="{2736EA82-7963-4B54-A7A1-21C65E3E4F2C}" srcOrd="0" destOrd="0" presId="urn:microsoft.com/office/officeart/2005/8/layout/vList5"/>
    <dgm:cxn modelId="{7F9D07BB-83F3-4043-8081-51A99E64B5BE}" type="presParOf" srcId="{FAB4F9AE-8395-406B-936B-098FAA744101}" destId="{8B564720-CB11-48DA-BE98-009DC5064BA6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A840972-2382-4E66-9ECD-2249C9A5D715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ECF096B-EF95-4E1F-9BCA-3F9BE36F5852}">
      <dgm:prSet custT="1"/>
      <dgm:spPr/>
      <dgm:t>
        <a:bodyPr/>
        <a:lstStyle/>
        <a:p>
          <a:pPr rtl="0"/>
          <a:r>
            <a:rPr lang="en-US" sz="3200" dirty="0" smtClean="0"/>
            <a:t>Colectica SDK</a:t>
          </a:r>
          <a:endParaRPr lang="en-US" sz="3200" dirty="0"/>
        </a:p>
      </dgm:t>
    </dgm:pt>
    <dgm:pt modelId="{B7BA6D0C-6BB9-45FD-A17A-244912E94CFF}" type="parTrans" cxnId="{81D41F99-1E5E-48EF-91CB-D700B7D0793A}">
      <dgm:prSet/>
      <dgm:spPr/>
      <dgm:t>
        <a:bodyPr/>
        <a:lstStyle/>
        <a:p>
          <a:endParaRPr lang="en-US"/>
        </a:p>
      </dgm:t>
    </dgm:pt>
    <dgm:pt modelId="{3BF9034B-429C-4DED-8BA0-219A7BBB4297}" type="sibTrans" cxnId="{81D41F99-1E5E-48EF-91CB-D700B7D0793A}">
      <dgm:prSet/>
      <dgm:spPr/>
      <dgm:t>
        <a:bodyPr/>
        <a:lstStyle/>
        <a:p>
          <a:endParaRPr lang="en-US"/>
        </a:p>
      </dgm:t>
    </dgm:pt>
    <dgm:pt modelId="{A706F349-0D0F-4852-B252-5268BB7F12D7}">
      <dgm:prSet/>
      <dgm:spPr/>
      <dgm:t>
        <a:bodyPr/>
        <a:lstStyle/>
        <a:p>
          <a:pPr rtl="0"/>
          <a:r>
            <a:rPr lang="en-US" dirty="0" smtClean="0"/>
            <a:t>Allows programmers to work with DDI 3 and interact with Colectica Repository</a:t>
          </a:r>
          <a:endParaRPr lang="en-US" dirty="0"/>
        </a:p>
      </dgm:t>
    </dgm:pt>
    <dgm:pt modelId="{9516EF8B-7622-4ACD-8C2E-50D7CB1CA1CD}" type="parTrans" cxnId="{0390DFFA-3DFF-4EC4-91E6-608F686F6603}">
      <dgm:prSet/>
      <dgm:spPr/>
      <dgm:t>
        <a:bodyPr/>
        <a:lstStyle/>
        <a:p>
          <a:endParaRPr lang="en-US"/>
        </a:p>
      </dgm:t>
    </dgm:pt>
    <dgm:pt modelId="{04070FAD-FDD9-42BA-9363-B82CC97922A5}" type="sibTrans" cxnId="{0390DFFA-3DFF-4EC4-91E6-608F686F6603}">
      <dgm:prSet/>
      <dgm:spPr/>
      <dgm:t>
        <a:bodyPr/>
        <a:lstStyle/>
        <a:p>
          <a:endParaRPr lang="en-US"/>
        </a:p>
      </dgm:t>
    </dgm:pt>
    <dgm:pt modelId="{53425EB4-7F24-465B-BA83-121A18DDA892}">
      <dgm:prSet custT="1"/>
      <dgm:spPr/>
      <dgm:t>
        <a:bodyPr/>
        <a:lstStyle/>
        <a:p>
          <a:pPr rtl="0"/>
          <a:r>
            <a:rPr lang="en-US" sz="3200" dirty="0" smtClean="0"/>
            <a:t>Colectica Toolkit</a:t>
          </a:r>
          <a:endParaRPr lang="en-US" sz="3200" dirty="0"/>
        </a:p>
      </dgm:t>
    </dgm:pt>
    <dgm:pt modelId="{18F93445-E37E-4826-9B92-324689DD78C7}" type="parTrans" cxnId="{9735D5E2-79F2-4719-8CA8-AD147906312C}">
      <dgm:prSet/>
      <dgm:spPr/>
      <dgm:t>
        <a:bodyPr/>
        <a:lstStyle/>
        <a:p>
          <a:endParaRPr lang="en-US"/>
        </a:p>
      </dgm:t>
    </dgm:pt>
    <dgm:pt modelId="{F6D6AEC6-C2B9-4031-B8CD-02FD90F3A263}" type="sibTrans" cxnId="{9735D5E2-79F2-4719-8CA8-AD147906312C}">
      <dgm:prSet/>
      <dgm:spPr/>
      <dgm:t>
        <a:bodyPr/>
        <a:lstStyle/>
        <a:p>
          <a:endParaRPr lang="en-US"/>
        </a:p>
      </dgm:t>
    </dgm:pt>
    <dgm:pt modelId="{65AC981A-66F5-4459-A909-A3D341DDDA01}">
      <dgm:prSet/>
      <dgm:spPr/>
      <dgm:t>
        <a:bodyPr/>
        <a:lstStyle/>
        <a:p>
          <a:pPr rtl="0"/>
          <a:r>
            <a:rPr lang="en-US" dirty="0" smtClean="0"/>
            <a:t>Command line utilities to perform specific tasks</a:t>
          </a:r>
          <a:endParaRPr lang="en-US" dirty="0"/>
        </a:p>
      </dgm:t>
    </dgm:pt>
    <dgm:pt modelId="{A9B38874-C2FA-463B-8C5D-FB695441DFE8}" type="parTrans" cxnId="{1628101B-F824-4CBD-A95C-62C65EE08017}">
      <dgm:prSet/>
      <dgm:spPr/>
      <dgm:t>
        <a:bodyPr/>
        <a:lstStyle/>
        <a:p>
          <a:endParaRPr lang="en-US"/>
        </a:p>
      </dgm:t>
    </dgm:pt>
    <dgm:pt modelId="{FDF32110-FA43-49F9-BD17-D45557E79B1C}" type="sibTrans" cxnId="{1628101B-F824-4CBD-A95C-62C65EE08017}">
      <dgm:prSet/>
      <dgm:spPr/>
      <dgm:t>
        <a:bodyPr/>
        <a:lstStyle/>
        <a:p>
          <a:endParaRPr lang="en-US"/>
        </a:p>
      </dgm:t>
    </dgm:pt>
    <dgm:pt modelId="{7F641CDA-94E8-4DB9-93F1-9EB612AB1209}" type="pres">
      <dgm:prSet presAssocID="{7A840972-2382-4E66-9ECD-2249C9A5D715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BCF3E065-004D-4402-A602-920CE4CC0A62}" type="pres">
      <dgm:prSet presAssocID="{CECF096B-EF95-4E1F-9BCA-3F9BE36F5852}" presName="linNode" presStyleCnt="0"/>
      <dgm:spPr/>
    </dgm:pt>
    <dgm:pt modelId="{04016B0B-E1E0-484C-89CD-3C21A1CDA027}" type="pres">
      <dgm:prSet presAssocID="{CECF096B-EF95-4E1F-9BCA-3F9BE36F5852}" presName="parentText" presStyleLbl="node1" presStyleIdx="0" presStyleCnt="2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179AE83-F7CE-4126-AAF7-8D10F2E722AE}" type="pres">
      <dgm:prSet presAssocID="{CECF096B-EF95-4E1F-9BCA-3F9BE36F5852}" presName="descendantText" presStyleLbl="align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8D61F3B-BB18-47E1-9921-52EF2904FBAB}" type="pres">
      <dgm:prSet presAssocID="{3BF9034B-429C-4DED-8BA0-219A7BBB4297}" presName="sp" presStyleCnt="0"/>
      <dgm:spPr/>
    </dgm:pt>
    <dgm:pt modelId="{C37EA3E9-9C9D-4FB9-A57A-6A07FE52F2BB}" type="pres">
      <dgm:prSet presAssocID="{53425EB4-7F24-465B-BA83-121A18DDA892}" presName="linNode" presStyleCnt="0"/>
      <dgm:spPr/>
    </dgm:pt>
    <dgm:pt modelId="{6402A5B4-F2EB-40D1-A74D-BBE80D8A87AD}" type="pres">
      <dgm:prSet presAssocID="{53425EB4-7F24-465B-BA83-121A18DDA892}" presName="parentText" presStyleLbl="node1" presStyleIdx="1" presStyleCnt="2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5D4454F-0488-4551-A279-BD0935136B2F}" type="pres">
      <dgm:prSet presAssocID="{53425EB4-7F24-465B-BA83-121A18DDA892}" presName="descendantText" presStyleLbl="align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DDF2BF9B-27B6-4DBF-9428-7CA1756E0EBC}" type="presOf" srcId="{53425EB4-7F24-465B-BA83-121A18DDA892}" destId="{6402A5B4-F2EB-40D1-A74D-BBE80D8A87AD}" srcOrd="0" destOrd="0" presId="urn:microsoft.com/office/officeart/2005/8/layout/vList5"/>
    <dgm:cxn modelId="{9735D5E2-79F2-4719-8CA8-AD147906312C}" srcId="{7A840972-2382-4E66-9ECD-2249C9A5D715}" destId="{53425EB4-7F24-465B-BA83-121A18DDA892}" srcOrd="1" destOrd="0" parTransId="{18F93445-E37E-4826-9B92-324689DD78C7}" sibTransId="{F6D6AEC6-C2B9-4031-B8CD-02FD90F3A263}"/>
    <dgm:cxn modelId="{0390DFFA-3DFF-4EC4-91E6-608F686F6603}" srcId="{CECF096B-EF95-4E1F-9BCA-3F9BE36F5852}" destId="{A706F349-0D0F-4852-B252-5268BB7F12D7}" srcOrd="0" destOrd="0" parTransId="{9516EF8B-7622-4ACD-8C2E-50D7CB1CA1CD}" sibTransId="{04070FAD-FDD9-42BA-9363-B82CC97922A5}"/>
    <dgm:cxn modelId="{34907E95-F72A-4E52-820A-9F727DC6D540}" type="presOf" srcId="{A706F349-0D0F-4852-B252-5268BB7F12D7}" destId="{2179AE83-F7CE-4126-AAF7-8D10F2E722AE}" srcOrd="0" destOrd="0" presId="urn:microsoft.com/office/officeart/2005/8/layout/vList5"/>
    <dgm:cxn modelId="{37C84F72-42BA-4074-B422-92CE3E2081CA}" type="presOf" srcId="{65AC981A-66F5-4459-A909-A3D341DDDA01}" destId="{35D4454F-0488-4551-A279-BD0935136B2F}" srcOrd="0" destOrd="0" presId="urn:microsoft.com/office/officeart/2005/8/layout/vList5"/>
    <dgm:cxn modelId="{1628101B-F824-4CBD-A95C-62C65EE08017}" srcId="{53425EB4-7F24-465B-BA83-121A18DDA892}" destId="{65AC981A-66F5-4459-A909-A3D341DDDA01}" srcOrd="0" destOrd="0" parTransId="{A9B38874-C2FA-463B-8C5D-FB695441DFE8}" sibTransId="{FDF32110-FA43-49F9-BD17-D45557E79B1C}"/>
    <dgm:cxn modelId="{6F886BC3-C067-4A84-BE91-A1B35BC522B9}" type="presOf" srcId="{7A840972-2382-4E66-9ECD-2249C9A5D715}" destId="{7F641CDA-94E8-4DB9-93F1-9EB612AB1209}" srcOrd="0" destOrd="0" presId="urn:microsoft.com/office/officeart/2005/8/layout/vList5"/>
    <dgm:cxn modelId="{4038F31F-63C9-491F-B772-D5EF5A4F460F}" type="presOf" srcId="{CECF096B-EF95-4E1F-9BCA-3F9BE36F5852}" destId="{04016B0B-E1E0-484C-89CD-3C21A1CDA027}" srcOrd="0" destOrd="0" presId="urn:microsoft.com/office/officeart/2005/8/layout/vList5"/>
    <dgm:cxn modelId="{81D41F99-1E5E-48EF-91CB-D700B7D0793A}" srcId="{7A840972-2382-4E66-9ECD-2249C9A5D715}" destId="{CECF096B-EF95-4E1F-9BCA-3F9BE36F5852}" srcOrd="0" destOrd="0" parTransId="{B7BA6D0C-6BB9-45FD-A17A-244912E94CFF}" sibTransId="{3BF9034B-429C-4DED-8BA0-219A7BBB4297}"/>
    <dgm:cxn modelId="{BE582C38-0DA5-4F69-BFC3-C91BA7D1FA7B}" type="presParOf" srcId="{7F641CDA-94E8-4DB9-93F1-9EB612AB1209}" destId="{BCF3E065-004D-4402-A602-920CE4CC0A62}" srcOrd="0" destOrd="0" presId="urn:microsoft.com/office/officeart/2005/8/layout/vList5"/>
    <dgm:cxn modelId="{A64EE622-A4FF-458A-9513-5F91574E8677}" type="presParOf" srcId="{BCF3E065-004D-4402-A602-920CE4CC0A62}" destId="{04016B0B-E1E0-484C-89CD-3C21A1CDA027}" srcOrd="0" destOrd="0" presId="urn:microsoft.com/office/officeart/2005/8/layout/vList5"/>
    <dgm:cxn modelId="{AEC4BAB8-B3DE-4C31-80C0-F8548AC1C209}" type="presParOf" srcId="{BCF3E065-004D-4402-A602-920CE4CC0A62}" destId="{2179AE83-F7CE-4126-AAF7-8D10F2E722AE}" srcOrd="1" destOrd="0" presId="urn:microsoft.com/office/officeart/2005/8/layout/vList5"/>
    <dgm:cxn modelId="{B60A0015-00CB-4D98-88E8-90D4DAF19232}" type="presParOf" srcId="{7F641CDA-94E8-4DB9-93F1-9EB612AB1209}" destId="{E8D61F3B-BB18-47E1-9921-52EF2904FBAB}" srcOrd="1" destOrd="0" presId="urn:microsoft.com/office/officeart/2005/8/layout/vList5"/>
    <dgm:cxn modelId="{5587D3C6-2E11-45C6-87BF-006529A7BAB6}" type="presParOf" srcId="{7F641CDA-94E8-4DB9-93F1-9EB612AB1209}" destId="{C37EA3E9-9C9D-4FB9-A57A-6A07FE52F2BB}" srcOrd="2" destOrd="0" presId="urn:microsoft.com/office/officeart/2005/8/layout/vList5"/>
    <dgm:cxn modelId="{F025D4AF-F70B-4D0C-A4F0-BB79B16906AE}" type="presParOf" srcId="{C37EA3E9-9C9D-4FB9-A57A-6A07FE52F2BB}" destId="{6402A5B4-F2EB-40D1-A74D-BBE80D8A87AD}" srcOrd="0" destOrd="0" presId="urn:microsoft.com/office/officeart/2005/8/layout/vList5"/>
    <dgm:cxn modelId="{8FCC4EE6-5F43-447B-A817-EC9CF26B9021}" type="presParOf" srcId="{C37EA3E9-9C9D-4FB9-A57A-6A07FE52F2BB}" destId="{35D4454F-0488-4551-A279-BD0935136B2F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24853B-6DC9-4A37-BA69-1B2637D69240}">
      <dsp:nvSpPr>
        <dsp:cNvPr id="0" name=""/>
        <dsp:cNvSpPr/>
      </dsp:nvSpPr>
      <dsp:spPr>
        <a:xfrm rot="5400000">
          <a:off x="4964775" y="-1882471"/>
          <a:ext cx="1159073" cy="521817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228600" lvl="1" indent="-228600" algn="l" defTabSz="10668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kern="1200" dirty="0" smtClean="0"/>
            <a:t>Create, ingest, manage, and edit metadata</a:t>
          </a:r>
          <a:endParaRPr lang="en-US" sz="2400" kern="1200" dirty="0"/>
        </a:p>
        <a:p>
          <a:pPr marL="228600" lvl="1" indent="-228600" algn="l" defTabSz="10668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kern="1200" dirty="0" smtClean="0"/>
            <a:t>Usable DDI 3 for end-users</a:t>
          </a:r>
          <a:endParaRPr lang="en-US" sz="2400" kern="1200" dirty="0"/>
        </a:p>
      </dsp:txBody>
      <dsp:txXfrm rot="-5400000">
        <a:off x="2935224" y="203661"/>
        <a:ext cx="5161595" cy="1045911"/>
      </dsp:txXfrm>
    </dsp:sp>
    <dsp:sp modelId="{3809B5A6-ABBA-473C-B271-7F2DAADB5A24}">
      <dsp:nvSpPr>
        <dsp:cNvPr id="0" name=""/>
        <dsp:cNvSpPr/>
      </dsp:nvSpPr>
      <dsp:spPr>
        <a:xfrm>
          <a:off x="0" y="2195"/>
          <a:ext cx="2935224" cy="144884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lvl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/>
            <a:t>Colectica Designer</a:t>
          </a:r>
          <a:endParaRPr lang="en-US" sz="3200" kern="1200" dirty="0"/>
        </a:p>
      </dsp:txBody>
      <dsp:txXfrm>
        <a:off x="70727" y="72922"/>
        <a:ext cx="2793770" cy="1307387"/>
      </dsp:txXfrm>
    </dsp:sp>
    <dsp:sp modelId="{76E56480-8B63-4811-8AB1-D3EB6D29AC2E}">
      <dsp:nvSpPr>
        <dsp:cNvPr id="0" name=""/>
        <dsp:cNvSpPr/>
      </dsp:nvSpPr>
      <dsp:spPr>
        <a:xfrm rot="5400000">
          <a:off x="4964775" y="-361188"/>
          <a:ext cx="1159073" cy="521817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228600" lvl="1" indent="-228600" algn="l" defTabSz="10668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kern="1200" dirty="0" smtClean="0"/>
            <a:t>Centralized, authoritative, metadata store built on DDI 3, ISO 11179, and Web Service standards</a:t>
          </a:r>
          <a:endParaRPr lang="en-US" sz="2400" kern="1200" dirty="0"/>
        </a:p>
      </dsp:txBody>
      <dsp:txXfrm rot="-5400000">
        <a:off x="2935224" y="1724944"/>
        <a:ext cx="5161595" cy="1045911"/>
      </dsp:txXfrm>
    </dsp:sp>
    <dsp:sp modelId="{65026A2B-FF57-4BBF-A932-FC2E8561BDE3}">
      <dsp:nvSpPr>
        <dsp:cNvPr id="0" name=""/>
        <dsp:cNvSpPr/>
      </dsp:nvSpPr>
      <dsp:spPr>
        <a:xfrm>
          <a:off x="0" y="1523479"/>
          <a:ext cx="2935224" cy="144884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lvl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/>
            <a:t>Colectica Repository</a:t>
          </a:r>
          <a:endParaRPr lang="en-US" sz="3200" kern="1200" dirty="0"/>
        </a:p>
      </dsp:txBody>
      <dsp:txXfrm>
        <a:off x="70727" y="1594206"/>
        <a:ext cx="2793770" cy="1307387"/>
      </dsp:txXfrm>
    </dsp:sp>
    <dsp:sp modelId="{8B564720-CB11-48DA-BE98-009DC5064BA6}">
      <dsp:nvSpPr>
        <dsp:cNvPr id="0" name=""/>
        <dsp:cNvSpPr/>
      </dsp:nvSpPr>
      <dsp:spPr>
        <a:xfrm rot="5400000">
          <a:off x="4964775" y="1160095"/>
          <a:ext cx="1159073" cy="521817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228600" lvl="1" indent="-228600" algn="l" defTabSz="10668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kern="1200" dirty="0" smtClean="0"/>
            <a:t>Search and browse metadata from Colectica Repository</a:t>
          </a:r>
          <a:endParaRPr lang="en-US" sz="2400" kern="1200" dirty="0"/>
        </a:p>
      </dsp:txBody>
      <dsp:txXfrm rot="-5400000">
        <a:off x="2935224" y="3246228"/>
        <a:ext cx="5161595" cy="1045911"/>
      </dsp:txXfrm>
    </dsp:sp>
    <dsp:sp modelId="{2736EA82-7963-4B54-A7A1-21C65E3E4F2C}">
      <dsp:nvSpPr>
        <dsp:cNvPr id="0" name=""/>
        <dsp:cNvSpPr/>
      </dsp:nvSpPr>
      <dsp:spPr>
        <a:xfrm>
          <a:off x="0" y="3044762"/>
          <a:ext cx="2935224" cy="144884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lvl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/>
            <a:t>Colectica Portal</a:t>
          </a:r>
          <a:endParaRPr lang="en-US" sz="3200" kern="1200" dirty="0"/>
        </a:p>
      </dsp:txBody>
      <dsp:txXfrm>
        <a:off x="70727" y="3115489"/>
        <a:ext cx="2793770" cy="130738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79AE83-F7CE-4126-AAF7-8D10F2E722AE}">
      <dsp:nvSpPr>
        <dsp:cNvPr id="0" name=""/>
        <dsp:cNvSpPr/>
      </dsp:nvSpPr>
      <dsp:spPr>
        <a:xfrm rot="5400000">
          <a:off x="4667104" y="-1512523"/>
          <a:ext cx="1754415" cy="521817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59055" rIns="118110" bIns="59055" numCol="1" spcCol="1270" anchor="ctr" anchorCtr="0">
          <a:noAutofit/>
        </a:bodyPr>
        <a:lstStyle/>
        <a:p>
          <a:pPr marL="285750" lvl="1" indent="-285750" algn="l" defTabSz="13779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100" kern="1200" dirty="0" smtClean="0"/>
            <a:t>Allows programmers to work with DDI 3 and interact with Colectica Repository</a:t>
          </a:r>
          <a:endParaRPr lang="en-US" sz="3100" kern="1200" dirty="0"/>
        </a:p>
      </dsp:txBody>
      <dsp:txXfrm rot="-5400000">
        <a:off x="2935224" y="305000"/>
        <a:ext cx="5132533" cy="1583129"/>
      </dsp:txXfrm>
    </dsp:sp>
    <dsp:sp modelId="{04016B0B-E1E0-484C-89CD-3C21A1CDA027}">
      <dsp:nvSpPr>
        <dsp:cNvPr id="0" name=""/>
        <dsp:cNvSpPr/>
      </dsp:nvSpPr>
      <dsp:spPr>
        <a:xfrm>
          <a:off x="0" y="54"/>
          <a:ext cx="2935224" cy="21930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lvl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/>
            <a:t>Colectica SDK</a:t>
          </a:r>
          <a:endParaRPr lang="en-US" sz="3200" kern="1200" dirty="0"/>
        </a:p>
      </dsp:txBody>
      <dsp:txXfrm>
        <a:off x="107054" y="107108"/>
        <a:ext cx="2721116" cy="1978911"/>
      </dsp:txXfrm>
    </dsp:sp>
    <dsp:sp modelId="{35D4454F-0488-4551-A279-BD0935136B2F}">
      <dsp:nvSpPr>
        <dsp:cNvPr id="0" name=""/>
        <dsp:cNvSpPr/>
      </dsp:nvSpPr>
      <dsp:spPr>
        <a:xfrm rot="5400000">
          <a:off x="4667104" y="790147"/>
          <a:ext cx="1754415" cy="521817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59055" rIns="118110" bIns="59055" numCol="1" spcCol="1270" anchor="ctr" anchorCtr="0">
          <a:noAutofit/>
        </a:bodyPr>
        <a:lstStyle/>
        <a:p>
          <a:pPr marL="285750" lvl="1" indent="-285750" algn="l" defTabSz="13779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100" kern="1200" dirty="0" smtClean="0"/>
            <a:t>Command line utilities to perform specific tasks</a:t>
          </a:r>
          <a:endParaRPr lang="en-US" sz="3100" kern="1200" dirty="0"/>
        </a:p>
      </dsp:txBody>
      <dsp:txXfrm rot="-5400000">
        <a:off x="2935224" y="2607671"/>
        <a:ext cx="5132533" cy="1583129"/>
      </dsp:txXfrm>
    </dsp:sp>
    <dsp:sp modelId="{6402A5B4-F2EB-40D1-A74D-BBE80D8A87AD}">
      <dsp:nvSpPr>
        <dsp:cNvPr id="0" name=""/>
        <dsp:cNvSpPr/>
      </dsp:nvSpPr>
      <dsp:spPr>
        <a:xfrm>
          <a:off x="0" y="2302725"/>
          <a:ext cx="2935224" cy="21930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lvl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/>
            <a:t>Colectica Toolkit</a:t>
          </a:r>
          <a:endParaRPr lang="en-US" sz="3200" kern="1200" dirty="0"/>
        </a:p>
      </dsp:txBody>
      <dsp:txXfrm>
        <a:off x="107054" y="2409779"/>
        <a:ext cx="2721116" cy="197891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13DF9F-80D3-49C7-B9C1-CA07E7BAC134}" type="datetimeFigureOut">
              <a:rPr lang="en-US" smtClean="0"/>
              <a:t>12/3/2013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BE89EF-5441-4C3B-BCBD-F6E66646AC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260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BE89EF-5441-4C3B-BCBD-F6E66646AC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4249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BE89EF-5441-4C3B-BCBD-F6E66646ACC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2361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BE89EF-5441-4C3B-BCBD-F6E66646ACC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3124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4E3265-14E3-499D-A250-3990DD3FB2C1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302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12/3/2013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12/3/2013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  <a:pPr/>
              <a:t>12/3/2013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  <a:pPr/>
              <a:t>12/3/2013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1D8BD707-D9CF-40AE-B4C6-C98DA3205C09}" type="datetimeFigureOut">
              <a:rPr lang="en-US" smtClean="0"/>
              <a:pPr/>
              <a:t>12/3/2013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12/3/2013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12/3/2013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github.com/Colectica/ColecticaSampleAddins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09250" y="2362200"/>
            <a:ext cx="6477000" cy="1447800"/>
          </a:xfrm>
        </p:spPr>
        <p:txBody>
          <a:bodyPr>
            <a:normAutofit fontScale="90000"/>
          </a:bodyPr>
          <a:lstStyle/>
          <a:p>
            <a:pPr algn="ctr"/>
            <a:r>
              <a:rPr lang="en-US" cap="none" dirty="0" smtClean="0"/>
              <a:t>Colectica 5</a:t>
            </a:r>
            <a:br>
              <a:rPr lang="en-US" cap="none" dirty="0" smtClean="0"/>
            </a:br>
            <a:r>
              <a:rPr lang="en-US" cap="none" dirty="0" smtClean="0"/>
              <a:t/>
            </a:r>
            <a:br>
              <a:rPr lang="en-US" cap="none" dirty="0" smtClean="0"/>
            </a:br>
            <a:r>
              <a:rPr lang="en-US" cap="none" dirty="0" smtClean="0"/>
              <a:t>A New Generation of Open Metadata Tools</a:t>
            </a:r>
            <a:endParaRPr lang="en-US" cap="non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C:\Users\jeremy\svn\admin\PR\Assets\colectica\custom\colectica-green-web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1994" y="4495800"/>
            <a:ext cx="3211512" cy="762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83708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3124200"/>
          </a:xfrm>
        </p:spPr>
        <p:txBody>
          <a:bodyPr/>
          <a:lstStyle/>
          <a:p>
            <a:r>
              <a:rPr lang="en-US" dirty="0"/>
              <a:t>Standards-based metadata management</a:t>
            </a:r>
          </a:p>
          <a:p>
            <a:pPr lvl="1"/>
            <a:r>
              <a:rPr lang="en-US" sz="2800" dirty="0"/>
              <a:t>Survey design</a:t>
            </a:r>
          </a:p>
          <a:p>
            <a:pPr lvl="1"/>
            <a:r>
              <a:rPr lang="en-US" sz="2800" dirty="0"/>
              <a:t>Data documentation</a:t>
            </a:r>
          </a:p>
          <a:p>
            <a:pPr lvl="1"/>
            <a:r>
              <a:rPr lang="en-US" sz="2800" dirty="0"/>
              <a:t>Data lifecycle documentation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Colectica Overview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4322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</p:spPr>
        <p:txBody>
          <a:bodyPr/>
          <a:lstStyle/>
          <a:p>
            <a:r>
              <a:rPr lang="en-US" dirty="0" smtClean="0"/>
              <a:t>The Colectica Platform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7001C82C-A011-4758-B95D-86304D9DA0A2}" type="slidenum">
              <a:rPr lang="en-US" smtClean="0"/>
              <a:pPr/>
              <a:t>3</a:t>
            </a:fld>
            <a:endParaRPr lang="en-US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sz="quarter" idx="1"/>
            <p:extLst/>
          </p:nvPr>
        </p:nvGraphicFramePr>
        <p:xfrm>
          <a:off x="612648" y="1600200"/>
          <a:ext cx="8153400" cy="4495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49888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Colectica Platform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7001C82C-A011-4758-B95D-86304D9DA0A2}" type="slidenum">
              <a:rPr lang="en-US" smtClean="0"/>
              <a:pPr/>
              <a:t>4</a:t>
            </a:fld>
            <a:endParaRPr lang="en-US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855497509"/>
              </p:ext>
            </p:extLst>
          </p:nvPr>
        </p:nvGraphicFramePr>
        <p:xfrm>
          <a:off x="612648" y="1600200"/>
          <a:ext cx="8153400" cy="4495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11604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3505200"/>
          </a:xfrm>
        </p:spPr>
        <p:txBody>
          <a:bodyPr>
            <a:normAutofit/>
          </a:bodyPr>
          <a:lstStyle/>
          <a:p>
            <a:r>
              <a:rPr lang="en-US" dirty="0" smtClean="0"/>
              <a:t>1. Aggregate data</a:t>
            </a:r>
          </a:p>
          <a:p>
            <a:r>
              <a:rPr lang="en-US" dirty="0" smtClean="0"/>
              <a:t>2. Surveys and data collection</a:t>
            </a:r>
          </a:p>
          <a:p>
            <a:r>
              <a:rPr lang="en-US" dirty="0" smtClean="0"/>
              <a:t>3. Eurostat data quality reporting</a:t>
            </a:r>
          </a:p>
          <a:p>
            <a:r>
              <a:rPr lang="en-US" dirty="0" smtClean="0"/>
              <a:t>4. DDI 3.2</a:t>
            </a:r>
          </a:p>
          <a:p>
            <a:r>
              <a:rPr lang="en-US" dirty="0" smtClean="0"/>
              <a:t>5. Translatable </a:t>
            </a:r>
            <a:r>
              <a:rPr lang="en-US" dirty="0"/>
              <a:t>user interface</a:t>
            </a:r>
            <a:endParaRPr lang="en-US" dirty="0" smtClean="0"/>
          </a:p>
          <a:p>
            <a:r>
              <a:rPr lang="en-US" dirty="0" smtClean="0"/>
              <a:t>6. </a:t>
            </a:r>
            <a:r>
              <a:rPr lang="en-US" dirty="0" err="1" smtClean="0"/>
              <a:t>Addins</a:t>
            </a:r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New in Colectica 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5376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Aggregate Data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167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Microdata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885338203"/>
              </p:ext>
            </p:extLst>
          </p:nvPr>
        </p:nvGraphicFramePr>
        <p:xfrm>
          <a:off x="609600" y="2133600"/>
          <a:ext cx="81534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8350"/>
                <a:gridCol w="2038350"/>
                <a:gridCol w="2038350"/>
                <a:gridCol w="203835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Case 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Gender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Married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Has Car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Yes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Yes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Yes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Yes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00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Aggregate Data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  <p:extLst/>
          </p:nvPr>
        </p:nvGraphicFramePr>
        <p:xfrm>
          <a:off x="609600" y="2133600"/>
          <a:ext cx="81534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8350"/>
                <a:gridCol w="2038350"/>
                <a:gridCol w="2038350"/>
                <a:gridCol w="203835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Gender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Is</a:t>
                      </a:r>
                      <a:r>
                        <a:rPr lang="en-US" baseline="0" dirty="0" smtClean="0"/>
                        <a:t> Married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Has Car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Count()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16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13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22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33400" y="2094411"/>
            <a:ext cx="2057400" cy="457200"/>
          </a:xfrm>
          <a:prstGeom prst="roundRect">
            <a:avLst>
              <a:gd name="adj" fmla="val 23096"/>
            </a:avLst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2667000" y="2079170"/>
            <a:ext cx="1828800" cy="457200"/>
          </a:xfrm>
          <a:prstGeom prst="roundRect">
            <a:avLst>
              <a:gd name="adj" fmla="val 23096"/>
            </a:avLst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4572000" y="2066108"/>
            <a:ext cx="1828800" cy="457200"/>
          </a:xfrm>
          <a:prstGeom prst="roundRect">
            <a:avLst>
              <a:gd name="adj" fmla="val 23096"/>
            </a:avLst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774484" y="1595735"/>
            <a:ext cx="1492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C00000"/>
                </a:solidFill>
              </a:rPr>
              <a:t>Dimensions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705600" y="2079170"/>
            <a:ext cx="1828800" cy="457200"/>
          </a:xfrm>
          <a:prstGeom prst="roundRect">
            <a:avLst>
              <a:gd name="adj" fmla="val 23096"/>
            </a:avLst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705600" y="1517302"/>
            <a:ext cx="12394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00B050"/>
                </a:solidFill>
              </a:rPr>
              <a:t>Measure</a:t>
            </a: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12" name="Line Callout 2 (Border and Accent Bar) 11"/>
          <p:cNvSpPr/>
          <p:nvPr/>
        </p:nvSpPr>
        <p:spPr>
          <a:xfrm>
            <a:off x="7620000" y="3121152"/>
            <a:ext cx="1198958" cy="612648"/>
          </a:xfrm>
          <a:prstGeom prst="accentBorderCallout2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Footnotes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3857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/>
      <p:bldP spid="10" grpId="0" animBg="1"/>
      <p:bldP spid="11" grpId="0"/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Aggregate Data (</a:t>
            </a:r>
            <a:r>
              <a:rPr lang="en-US" dirty="0" err="1" smtClean="0"/>
              <a:t>NCubes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Two approaches</a:t>
            </a:r>
          </a:p>
          <a:p>
            <a:pPr lvl="1"/>
            <a:r>
              <a:rPr lang="en-US" dirty="0" smtClean="0"/>
              <a:t>Describe an existing aggregate dataset</a:t>
            </a:r>
          </a:p>
          <a:p>
            <a:pPr lvl="1"/>
            <a:r>
              <a:rPr lang="en-US" dirty="0" smtClean="0"/>
              <a:t>Create an aggregate dataset from </a:t>
            </a:r>
            <a:r>
              <a:rPr lang="en-US" dirty="0" err="1" smtClean="0"/>
              <a:t>microdata</a:t>
            </a:r>
            <a:endParaRPr lang="en-US" dirty="0" smtClean="0"/>
          </a:p>
          <a:p>
            <a:pPr lvl="2"/>
            <a:r>
              <a:rPr lang="en-US" dirty="0" smtClean="0"/>
              <a:t>Automatically link back to </a:t>
            </a:r>
            <a:r>
              <a:rPr lang="en-US" dirty="0" err="1" smtClean="0"/>
              <a:t>microdata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8196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Presentation of Cubes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  <p:extLst/>
          </p:nvPr>
        </p:nvGraphicFramePr>
        <p:xfrm>
          <a:off x="1447800" y="2133600"/>
          <a:ext cx="611505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8350"/>
                <a:gridCol w="2038350"/>
                <a:gridCol w="203835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Gender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Is</a:t>
                      </a:r>
                      <a:r>
                        <a:rPr lang="en-US" baseline="0" dirty="0" smtClean="0"/>
                        <a:t> Married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Count()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27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25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29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28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Content Placeholder 3"/>
          <p:cNvGraphicFramePr>
            <a:graphicFrameLocks/>
          </p:cNvGraphicFramePr>
          <p:nvPr>
            <p:extLst/>
          </p:nvPr>
        </p:nvGraphicFramePr>
        <p:xfrm>
          <a:off x="1447800" y="4678680"/>
          <a:ext cx="611505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8350"/>
                <a:gridCol w="2038350"/>
                <a:gridCol w="2038350"/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Married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Not Married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25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28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38200" y="1600200"/>
            <a:ext cx="12466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Normal</a:t>
            </a:r>
            <a:endParaRPr lang="en-US" sz="2800" dirty="0"/>
          </a:p>
        </p:txBody>
      </p:sp>
      <p:sp>
        <p:nvSpPr>
          <p:cNvPr id="7" name="TextBox 6"/>
          <p:cNvSpPr txBox="1"/>
          <p:nvPr/>
        </p:nvSpPr>
        <p:spPr>
          <a:xfrm>
            <a:off x="838200" y="4201180"/>
            <a:ext cx="12652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Tabular</a:t>
            </a:r>
            <a:endParaRPr lang="en-US" sz="2800" dirty="0"/>
          </a:p>
        </p:txBody>
      </p:sp>
      <p:sp>
        <p:nvSpPr>
          <p:cNvPr id="8" name="Rounded Rectangle 7"/>
          <p:cNvSpPr/>
          <p:nvPr/>
        </p:nvSpPr>
        <p:spPr>
          <a:xfrm>
            <a:off x="1424500" y="5029200"/>
            <a:ext cx="1852100" cy="838200"/>
          </a:xfrm>
          <a:prstGeom prst="roundRect">
            <a:avLst>
              <a:gd name="adj" fmla="val 23096"/>
            </a:avLst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3481900" y="4698274"/>
            <a:ext cx="3985700" cy="304800"/>
          </a:xfrm>
          <a:prstGeom prst="roundRect">
            <a:avLst>
              <a:gd name="adj" fmla="val 23096"/>
            </a:avLst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3481900" y="5103222"/>
            <a:ext cx="3985700" cy="685800"/>
          </a:xfrm>
          <a:prstGeom prst="roundRect">
            <a:avLst>
              <a:gd name="adj" fmla="val 23096"/>
            </a:avLst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902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Previewing Cubes in Colectica 5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2667000"/>
            <a:ext cx="8615363" cy="290118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04800" y="1792069"/>
            <a:ext cx="15711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/>
              <a:t>Tabular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124049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Previewing Cubes in Colectica 5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04800" y="1792069"/>
            <a:ext cx="8675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/>
              <a:t>Flat</a:t>
            </a:r>
            <a:endParaRPr lang="en-US" sz="36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2590800"/>
            <a:ext cx="8556991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153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New Question Types</a:t>
            </a:r>
          </a:p>
          <a:p>
            <a:r>
              <a:rPr lang="en-US" dirty="0" smtClean="0"/>
              <a:t>Surveys with Data Flows</a:t>
            </a:r>
          </a:p>
          <a:p>
            <a:r>
              <a:rPr lang="en-US" dirty="0" smtClean="0"/>
              <a:t>DDI Parameters and Bindings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Surveys and Data Collection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0292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New Question Types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Question Grids</a:t>
            </a:r>
          </a:p>
          <a:p>
            <a:pPr lvl="1"/>
            <a:r>
              <a:rPr lang="en-US" dirty="0" smtClean="0"/>
              <a:t>Dynamic Rosters </a:t>
            </a:r>
            <a:r>
              <a:rPr lang="en-US" dirty="0" smtClean="0"/>
              <a:t>or </a:t>
            </a:r>
            <a:r>
              <a:rPr lang="en-US" dirty="0" smtClean="0"/>
              <a:t>Predetermined</a:t>
            </a:r>
          </a:p>
          <a:p>
            <a:pPr lvl="1"/>
            <a:r>
              <a:rPr lang="en-US" dirty="0" smtClean="0"/>
              <a:t>Rankings</a:t>
            </a:r>
          </a:p>
          <a:p>
            <a:pPr lvl="1"/>
            <a:r>
              <a:rPr lang="en-US" dirty="0" smtClean="0"/>
              <a:t>Distributions</a:t>
            </a:r>
            <a:endParaRPr lang="en-US" dirty="0" smtClean="0"/>
          </a:p>
          <a:p>
            <a:r>
              <a:rPr lang="en-US" dirty="0" smtClean="0"/>
              <a:t>Question Blocks</a:t>
            </a:r>
          </a:p>
          <a:p>
            <a:r>
              <a:rPr lang="en-US" dirty="0" smtClean="0"/>
              <a:t>Other – Specify (</a:t>
            </a:r>
            <a:r>
              <a:rPr lang="en-US" dirty="0" err="1" smtClean="0"/>
              <a:t>AttachmentLocation</a:t>
            </a:r>
            <a:r>
              <a:rPr lang="en-US" dirty="0" smtClean="0"/>
              <a:t>)</a:t>
            </a:r>
            <a:endParaRPr lang="en-US" dirty="0"/>
          </a:p>
          <a:p>
            <a:r>
              <a:rPr lang="en-US" dirty="0" smtClean="0"/>
              <a:t>Scales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143021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Surveys with Data Flows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ln>
            <a:solidFill>
              <a:srgbClr val="002060"/>
            </a:solidFill>
          </a:ln>
        </p:spPr>
        <p:txBody>
          <a:bodyPr/>
          <a:lstStyle/>
          <a:p>
            <a:pPr marL="514350" indent="-514350">
              <a:buAutoNum type="arabicPeriod"/>
            </a:pPr>
            <a:r>
              <a:rPr lang="en-US" dirty="0" smtClean="0"/>
              <a:t>What is your name?    </a:t>
            </a:r>
            <a:r>
              <a:rPr lang="en-US" u="sng" dirty="0" smtClean="0"/>
              <a:t>        Jeremy             . </a:t>
            </a:r>
          </a:p>
          <a:p>
            <a:pPr marL="514350" indent="-514350">
              <a:buAutoNum type="arabicPeriod"/>
            </a:pPr>
            <a:r>
              <a:rPr lang="en-US" dirty="0" smtClean="0"/>
              <a:t>How did you get to EDDI?</a:t>
            </a:r>
          </a:p>
          <a:p>
            <a:pPr marL="834390" lvl="1" indent="-514350">
              <a:buFont typeface="Wingdings" panose="05000000000000000000" pitchFamily="2" charset="2"/>
              <a:buChar char="q"/>
            </a:pPr>
            <a:r>
              <a:rPr lang="en-US" dirty="0" smtClean="0"/>
              <a:t>Plane</a:t>
            </a:r>
          </a:p>
          <a:p>
            <a:pPr marL="834390" lvl="1" indent="-514350">
              <a:buFont typeface="Wingdings" panose="05000000000000000000" pitchFamily="2" charset="2"/>
              <a:buChar char="q"/>
            </a:pPr>
            <a:r>
              <a:rPr lang="en-US" dirty="0" smtClean="0"/>
              <a:t>Train</a:t>
            </a:r>
          </a:p>
          <a:p>
            <a:pPr marL="834390" lvl="1" indent="-514350">
              <a:buFont typeface="Wingdings" panose="05000000000000000000" pitchFamily="2" charset="2"/>
              <a:buChar char="q"/>
            </a:pPr>
            <a:r>
              <a:rPr lang="en-US" dirty="0" smtClean="0"/>
              <a:t>Automobile</a:t>
            </a:r>
          </a:p>
          <a:p>
            <a:pPr marL="514350" indent="-514350">
              <a:buAutoNum type="arabicPeriod"/>
            </a:pPr>
            <a:r>
              <a:rPr lang="en-US" dirty="0" smtClean="0"/>
              <a:t>Thanks for taking the survey, </a:t>
            </a:r>
            <a:r>
              <a:rPr lang="en-US" i="1" dirty="0" smtClean="0"/>
              <a:t>Jeremy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84232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DDI Parameters and Bindings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276600" y="1828799"/>
            <a:ext cx="2590800" cy="10555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505200" y="1981200"/>
            <a:ext cx="236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What is your name?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096000" y="3345685"/>
            <a:ext cx="26289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Binding</a:t>
            </a:r>
          </a:p>
          <a:p>
            <a:r>
              <a:rPr lang="en-US" dirty="0"/>
              <a:t> </a:t>
            </a:r>
            <a:r>
              <a:rPr lang="en-US" dirty="0" smtClean="0"/>
              <a:t> Source: Name (above)</a:t>
            </a:r>
          </a:p>
          <a:p>
            <a:r>
              <a:rPr lang="en-US" dirty="0"/>
              <a:t> </a:t>
            </a:r>
            <a:r>
              <a:rPr lang="en-US" dirty="0" smtClean="0"/>
              <a:t> Target: Name (below)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3276600" y="4703802"/>
            <a:ext cx="2514600" cy="7063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3429000" y="4743271"/>
            <a:ext cx="2362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/>
            </a:r>
            <a:br>
              <a:rPr lang="en-US" dirty="0" smtClean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>Thank you, {</a:t>
            </a:r>
            <a:r>
              <a:rPr lang="en-US" i="1" dirty="0" smtClean="0">
                <a:solidFill>
                  <a:schemeClr val="bg1"/>
                </a:solidFill>
              </a:rPr>
              <a:t>Name}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53025" y="2602260"/>
            <a:ext cx="1447800" cy="30777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smtClean="0"/>
              <a:t>Output: Name</a:t>
            </a:r>
            <a:endParaRPr lang="en-US" sz="1400" dirty="0"/>
          </a:p>
        </p:txBody>
      </p:sp>
      <p:sp>
        <p:nvSpPr>
          <p:cNvPr id="13" name="TextBox 12"/>
          <p:cNvSpPr txBox="1"/>
          <p:nvPr/>
        </p:nvSpPr>
        <p:spPr>
          <a:xfrm>
            <a:off x="5029200" y="4569023"/>
            <a:ext cx="1447800" cy="30777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smtClean="0"/>
              <a:t>Input: Name</a:t>
            </a:r>
            <a:endParaRPr lang="en-US" sz="1400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5934075" y="2884398"/>
            <a:ext cx="9525" cy="1684625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2886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  <p:bldP spid="1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Survey Visualizations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Live question preview</a:t>
            </a:r>
          </a:p>
          <a:p>
            <a:r>
              <a:rPr lang="en-US" dirty="0" smtClean="0"/>
              <a:t>Flowcharts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2291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Flowchart Visualization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2163" y="1600200"/>
            <a:ext cx="4872037" cy="4597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023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Collection System Integration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Deep integration with data collection systems</a:t>
            </a:r>
          </a:p>
          <a:p>
            <a:pPr lvl="1"/>
            <a:r>
              <a:rPr lang="en-US" dirty="0"/>
              <a:t>SPSS Dimensions</a:t>
            </a:r>
          </a:p>
          <a:p>
            <a:pPr lvl="1"/>
            <a:r>
              <a:rPr lang="en-US" dirty="0" smtClean="0"/>
              <a:t>Blaise</a:t>
            </a:r>
            <a:endParaRPr lang="en-US" dirty="0" smtClean="0"/>
          </a:p>
          <a:p>
            <a:pPr lvl="1"/>
            <a:r>
              <a:rPr lang="en-US" dirty="0" smtClean="0"/>
              <a:t>CASES</a:t>
            </a:r>
          </a:p>
          <a:p>
            <a:pPr lvl="1"/>
            <a:r>
              <a:rPr lang="en-US" dirty="0" err="1" smtClean="0"/>
              <a:t>CSPro</a:t>
            </a:r>
            <a:endParaRPr lang="en-US" dirty="0" smtClean="0"/>
          </a:p>
          <a:p>
            <a:pPr lvl="1"/>
            <a:r>
              <a:rPr lang="en-US" dirty="0" err="1" smtClean="0"/>
              <a:t>REDCap</a:t>
            </a:r>
            <a:endParaRPr lang="en-US" dirty="0" smtClean="0"/>
          </a:p>
          <a:p>
            <a:pPr lvl="1"/>
            <a:r>
              <a:rPr lang="en-US" dirty="0" err="1" smtClean="0"/>
              <a:t>QueXML</a:t>
            </a:r>
            <a:endParaRPr lang="en-US" dirty="0" smtClean="0"/>
          </a:p>
          <a:p>
            <a:pPr lvl="1"/>
            <a:r>
              <a:rPr lang="en-US" dirty="0" err="1" smtClean="0"/>
              <a:t>LimeSurvey</a:t>
            </a:r>
            <a:endParaRPr lang="en-US" dirty="0" smtClean="0"/>
          </a:p>
          <a:p>
            <a:pPr lvl="1"/>
            <a:r>
              <a:rPr lang="en-US" dirty="0" smtClean="0"/>
              <a:t>More…</a:t>
            </a:r>
          </a:p>
        </p:txBody>
      </p:sp>
    </p:spTree>
    <p:extLst>
      <p:ext uri="{BB962C8B-B14F-4D97-AF65-F5344CB8AC3E}">
        <p14:creationId xmlns:p14="http://schemas.microsoft.com/office/powerpoint/2010/main" val="3679477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Eurostat Quality Reporting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3190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Eurostat Data Quality Reporting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DDI 3.2 </a:t>
            </a:r>
            <a:r>
              <a:rPr lang="en-US" dirty="0" err="1" smtClean="0"/>
              <a:t>QualityStatements</a:t>
            </a:r>
            <a:endParaRPr lang="en-US" dirty="0" smtClean="0"/>
          </a:p>
          <a:p>
            <a:r>
              <a:rPr lang="en-US" dirty="0" smtClean="0"/>
              <a:t>Export Eurostat-compliant SDMX reporting formats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8302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DDI 3.2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0588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Colectica and DDI 3.2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Support DDI 3.1 and DDI 3.2 simultaneously</a:t>
            </a:r>
          </a:p>
          <a:p>
            <a:r>
              <a:rPr lang="en-US" dirty="0" smtClean="0"/>
              <a:t>Import and export both versions</a:t>
            </a:r>
          </a:p>
          <a:p>
            <a:pPr lvl="1"/>
            <a:r>
              <a:rPr lang="en-US" dirty="0" smtClean="0"/>
              <a:t>(DDI 2 and other formats, too)</a:t>
            </a:r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6477000" y="350399"/>
            <a:ext cx="1457721" cy="747001"/>
            <a:chOff x="3200397" y="1584087"/>
            <a:chExt cx="1828805" cy="1357788"/>
          </a:xfrm>
        </p:grpSpPr>
        <p:sp>
          <p:nvSpPr>
            <p:cNvPr id="5" name="Rounded Rectangle 4"/>
            <p:cNvSpPr/>
            <p:nvPr/>
          </p:nvSpPr>
          <p:spPr>
            <a:xfrm>
              <a:off x="3200397" y="1584087"/>
              <a:ext cx="1828805" cy="1357788"/>
            </a:xfrm>
            <a:prstGeom prst="roundRect">
              <a:avLst/>
            </a:prstGeom>
            <a:blipFill rotWithShape="0">
              <a:blip r:embed="rId3"/>
              <a:stretch>
                <a:fillRect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Rounded Rectangle 4"/>
            <p:cNvSpPr/>
            <p:nvPr/>
          </p:nvSpPr>
          <p:spPr>
            <a:xfrm>
              <a:off x="3266679" y="1650369"/>
              <a:ext cx="1696241" cy="122522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1440" tIns="91440" rIns="91440" bIns="91440" numCol="1" spcCol="1270" anchor="ctr" anchorCtr="0">
              <a:noAutofit/>
            </a:bodyPr>
            <a:lstStyle/>
            <a:p>
              <a:pPr lvl="0" algn="ctr" defTabSz="16002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36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62127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DDI 3.2 Advantages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Improved packaging for Web Services</a:t>
            </a:r>
          </a:p>
          <a:p>
            <a:r>
              <a:rPr lang="en-US" dirty="0" smtClean="0"/>
              <a:t>The simple things are simple</a:t>
            </a:r>
          </a:p>
          <a:p>
            <a:r>
              <a:rPr lang="en-US" dirty="0" smtClean="0"/>
              <a:t>Data flows for surveys/data collection instruments</a:t>
            </a:r>
          </a:p>
          <a:p>
            <a:r>
              <a:rPr lang="en-US" dirty="0" smtClean="0"/>
              <a:t>Improved semantics for modeling data </a:t>
            </a:r>
          </a:p>
          <a:p>
            <a:r>
              <a:rPr lang="en-US" dirty="0" smtClean="0"/>
              <a:t>Quality statements</a:t>
            </a:r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6477000" y="350399"/>
            <a:ext cx="1457721" cy="747001"/>
            <a:chOff x="3200397" y="1584087"/>
            <a:chExt cx="1828805" cy="1357788"/>
          </a:xfrm>
        </p:grpSpPr>
        <p:sp>
          <p:nvSpPr>
            <p:cNvPr id="5" name="Rounded Rectangle 4"/>
            <p:cNvSpPr/>
            <p:nvPr/>
          </p:nvSpPr>
          <p:spPr>
            <a:xfrm>
              <a:off x="3200397" y="1584087"/>
              <a:ext cx="1828805" cy="1357788"/>
            </a:xfrm>
            <a:prstGeom prst="roundRect">
              <a:avLst/>
            </a:prstGeom>
            <a:blipFill rotWithShape="0">
              <a:blip r:embed="rId2"/>
              <a:stretch>
                <a:fillRect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Rounded Rectangle 4"/>
            <p:cNvSpPr/>
            <p:nvPr/>
          </p:nvSpPr>
          <p:spPr>
            <a:xfrm>
              <a:off x="3266679" y="1650369"/>
              <a:ext cx="1696241" cy="122522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1440" tIns="91440" rIns="91440" bIns="91440" numCol="1" spcCol="1270" anchor="ctr" anchorCtr="0">
              <a:noAutofit/>
            </a:bodyPr>
            <a:lstStyle/>
            <a:p>
              <a:pPr lvl="0" algn="ctr" defTabSz="16002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36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572911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Translatable User Interface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4739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Translatable User Interface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750+ pieces of text</a:t>
            </a:r>
          </a:p>
          <a:p>
            <a:r>
              <a:rPr lang="en-US" dirty="0" smtClean="0"/>
              <a:t>Until now, all of this is English-only</a:t>
            </a:r>
          </a:p>
          <a:p>
            <a:r>
              <a:rPr lang="en-US" dirty="0" smtClean="0"/>
              <a:t>Solution: User-driven translation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6896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Translator Web Application</a:t>
            </a:r>
            <a:endParaRPr lang="en-US" dirty="0"/>
          </a:p>
        </p:txBody>
      </p:sp>
      <p:pic>
        <p:nvPicPr>
          <p:cNvPr id="2050" name="Picture 2" descr="Image of the Colectica Translat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1435" y="1600200"/>
            <a:ext cx="4695825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505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Translator Web Application</a:t>
            </a:r>
            <a:endParaRPr lang="en-US" dirty="0"/>
          </a:p>
        </p:txBody>
      </p:sp>
      <p:pic>
        <p:nvPicPr>
          <p:cNvPr id="3074" name="Picture 2" descr="Track progress of translati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828800"/>
            <a:ext cx="6096000" cy="3324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9525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Translated User Interface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 descr="Colectica, translate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648" y="1613210"/>
            <a:ext cx="7083552" cy="4839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4946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Addins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896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Colectica </a:t>
            </a:r>
            <a:r>
              <a:rPr lang="en-US" dirty="0" err="1" smtClean="0"/>
              <a:t>Addins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Customize Colectica’s appearance and behavior</a:t>
            </a:r>
          </a:p>
          <a:p>
            <a:r>
              <a:rPr lang="en-US" dirty="0" smtClean="0"/>
              <a:t>Add new functionality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308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Colectica </a:t>
            </a:r>
            <a:r>
              <a:rPr lang="en-US" dirty="0" err="1" smtClean="0"/>
              <a:t>Addins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378952" cy="4495800"/>
          </a:xfrm>
        </p:spPr>
        <p:txBody>
          <a:bodyPr/>
          <a:lstStyle/>
          <a:p>
            <a:pPr marL="0" indent="0">
              <a:buNone/>
            </a:pPr>
            <a:endParaRPr lang="en-US" dirty="0" smtClean="0">
              <a:hlinkClick r:id="rId2"/>
            </a:endParaRPr>
          </a:p>
          <a:p>
            <a:pPr marL="0" indent="0">
              <a:buNone/>
            </a:pPr>
            <a:endParaRPr lang="en-US" dirty="0">
              <a:hlinkClick r:id="rId2"/>
            </a:endParaRPr>
          </a:p>
          <a:p>
            <a:pPr marL="0" indent="0">
              <a:buNone/>
            </a:pPr>
            <a:endParaRPr lang="en-US" dirty="0" smtClean="0">
              <a:hlinkClick r:id="rId2"/>
            </a:endParaRPr>
          </a:p>
          <a:p>
            <a:pPr marL="0" indent="0">
              <a:buNone/>
            </a:pPr>
            <a:r>
              <a:rPr lang="en-US" dirty="0" smtClean="0">
                <a:hlinkClick r:id="rId2"/>
              </a:rPr>
              <a:t>https</a:t>
            </a:r>
            <a:r>
              <a:rPr lang="en-US" dirty="0">
                <a:hlinkClick r:id="rId2"/>
              </a:rPr>
              <a:t>://github.com/Colectica/ColecticaSampleAddins</a:t>
            </a:r>
            <a:endParaRPr lang="en-US" dirty="0"/>
          </a:p>
        </p:txBody>
      </p:sp>
      <p:pic>
        <p:nvPicPr>
          <p:cNvPr id="1026" name="Picture 2" descr="Github-mark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2057400"/>
            <a:ext cx="946277" cy="946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1910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Availability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7134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Colectica 5 Availability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After official DDI 3.2 </a:t>
            </a:r>
            <a:r>
              <a:rPr lang="en-US" dirty="0" smtClean="0"/>
              <a:t>approval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812901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See More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Stop by our Poster Session for more information </a:t>
            </a:r>
            <a:r>
              <a:rPr lang="en-US" smtClean="0"/>
              <a:t>and demonstrations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607539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Thank you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>
            <a:normAutofit/>
          </a:bodyPr>
          <a:lstStyle/>
          <a:p>
            <a:fld id="{7001C82C-A011-4758-B95D-86304D9DA0A2}" type="slidenum">
              <a:rPr lang="en-US" smtClean="0"/>
              <a:pPr/>
              <a:t>36</a:t>
            </a:fld>
            <a:endParaRPr lang="en-US"/>
          </a:p>
        </p:txBody>
      </p:sp>
      <p:pic>
        <p:nvPicPr>
          <p:cNvPr id="4098" name="Picture 2" descr="C:\Users\jeremy\svn\admin\PR\Assets\colectica\custom\colectica-green-web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95600" y="381000"/>
            <a:ext cx="3211513" cy="762000"/>
          </a:xfrm>
          <a:prstGeom prst="rect">
            <a:avLst/>
          </a:prstGeom>
          <a:noFill/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/>
          </p:nvPr>
        </p:nvGraphicFramePr>
        <p:xfrm>
          <a:off x="1371600" y="3124200"/>
          <a:ext cx="7010401" cy="2560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"/>
                <a:gridCol w="1828800"/>
                <a:gridCol w="4572001"/>
              </a:tblGrid>
              <a:tr h="495300">
                <a:tc>
                  <a:txBody>
                    <a:bodyPr/>
                    <a:lstStyle/>
                    <a:p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 smtClean="0"/>
                        <a:t>Web</a:t>
                      </a:r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 smtClean="0"/>
                        <a:t>colectica.com</a:t>
                      </a:r>
                      <a:endParaRPr lang="en-US" sz="3600" dirty="0"/>
                    </a:p>
                  </a:txBody>
                  <a:tcPr/>
                </a:tc>
              </a:tr>
              <a:tr h="495300">
                <a:tc>
                  <a:txBody>
                    <a:bodyPr/>
                    <a:lstStyle/>
                    <a:p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 smtClean="0"/>
                        <a:t>Blog</a:t>
                      </a:r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 smtClean="0"/>
                        <a:t>blogs.colectica.com</a:t>
                      </a:r>
                      <a:endParaRPr lang="en-US" sz="3600" dirty="0"/>
                    </a:p>
                  </a:txBody>
                  <a:tcPr/>
                </a:tc>
              </a:tr>
              <a:tr h="495300">
                <a:tc>
                  <a:txBody>
                    <a:bodyPr/>
                    <a:lstStyle/>
                    <a:p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 smtClean="0"/>
                        <a:t>Twitter</a:t>
                      </a:r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 smtClean="0"/>
                        <a:t>@Colectica</a:t>
                      </a:r>
                      <a:endParaRPr lang="en-US" sz="3600" dirty="0"/>
                    </a:p>
                  </a:txBody>
                  <a:tcPr/>
                </a:tc>
              </a:tr>
              <a:tr h="495300">
                <a:tc>
                  <a:txBody>
                    <a:bodyPr/>
                    <a:lstStyle/>
                    <a:p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 smtClean="0"/>
                        <a:t>YouTube</a:t>
                      </a:r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 smtClean="0"/>
                        <a:t>youtube.com/</a:t>
                      </a:r>
                      <a:r>
                        <a:rPr lang="en-US" sz="3600" dirty="0" err="1" smtClean="0"/>
                        <a:t>colectica</a:t>
                      </a:r>
                      <a:endParaRPr lang="en-US" sz="3600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9" name="Picture 2" descr="D:\Downloads\twitter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2550" y="4521200"/>
            <a:ext cx="431800" cy="43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3" descr="D:\Downloads\youtube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2550" y="5156200"/>
            <a:ext cx="406400" cy="40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3337" y="3886200"/>
            <a:ext cx="411013" cy="41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82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5395</TotalTime>
  <Words>548</Words>
  <Application>Microsoft Office PowerPoint</Application>
  <PresentationFormat>On-screen Show (4:3)</PresentationFormat>
  <Paragraphs>233</Paragraphs>
  <Slides>36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Calibri</vt:lpstr>
      <vt:lpstr>Tw Cen MT</vt:lpstr>
      <vt:lpstr>Wingdings</vt:lpstr>
      <vt:lpstr>Wingdings 2</vt:lpstr>
      <vt:lpstr>Median</vt:lpstr>
      <vt:lpstr>Colectica 5  A New Generation of Open Metadata Tools</vt:lpstr>
      <vt:lpstr>Colectica Overview</vt:lpstr>
      <vt:lpstr>The Colectica Platform</vt:lpstr>
      <vt:lpstr>The Colectica Platform</vt:lpstr>
      <vt:lpstr>New in Colectica 5</vt:lpstr>
      <vt:lpstr>Aggregate Data</vt:lpstr>
      <vt:lpstr>Microdata</vt:lpstr>
      <vt:lpstr>Aggregate Data</vt:lpstr>
      <vt:lpstr>Aggregate Data (NCubes)</vt:lpstr>
      <vt:lpstr>Presentation of Cubes</vt:lpstr>
      <vt:lpstr>Previewing Cubes in Colectica 5</vt:lpstr>
      <vt:lpstr>Previewing Cubes in Colectica 5</vt:lpstr>
      <vt:lpstr>Surveys and Data Collection</vt:lpstr>
      <vt:lpstr>New Question Types</vt:lpstr>
      <vt:lpstr>Surveys with Data Flows</vt:lpstr>
      <vt:lpstr>DDI Parameters and Bindings</vt:lpstr>
      <vt:lpstr>Survey Visualizations</vt:lpstr>
      <vt:lpstr>Flowchart Visualization</vt:lpstr>
      <vt:lpstr>Data Collection System Integration</vt:lpstr>
      <vt:lpstr>Eurostat Quality Reporting</vt:lpstr>
      <vt:lpstr>Eurostat Data Quality Reporting</vt:lpstr>
      <vt:lpstr>DDI 3.2</vt:lpstr>
      <vt:lpstr>Colectica and DDI 3.2</vt:lpstr>
      <vt:lpstr>DDI 3.2 Advantages</vt:lpstr>
      <vt:lpstr>Translatable User Interface</vt:lpstr>
      <vt:lpstr>Translatable User Interface</vt:lpstr>
      <vt:lpstr>Translator Web Application</vt:lpstr>
      <vt:lpstr>Translator Web Application</vt:lpstr>
      <vt:lpstr>Translated User Interface</vt:lpstr>
      <vt:lpstr>Addins</vt:lpstr>
      <vt:lpstr>Colectica Addins</vt:lpstr>
      <vt:lpstr>Colectica Addins</vt:lpstr>
      <vt:lpstr>Availability</vt:lpstr>
      <vt:lpstr>Colectica 5 Availability</vt:lpstr>
      <vt:lpstr>See More</vt:lpstr>
      <vt:lpstr>Thank you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Documenting and Harmonizing MIDUS with DDI 3 and Colectica</dc:title>
  <dc:creator>jeremy</dc:creator>
  <cp:lastModifiedBy>Jeremy Iverson</cp:lastModifiedBy>
  <cp:revision>135</cp:revision>
  <dcterms:created xsi:type="dcterms:W3CDTF">2006-08-16T00:00:00Z</dcterms:created>
  <dcterms:modified xsi:type="dcterms:W3CDTF">2013-12-03T12:53:08Z</dcterms:modified>
</cp:coreProperties>
</file>