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756" r:id="rId1"/>
  </p:sldMasterIdLst>
  <p:notesMasterIdLst>
    <p:notesMasterId r:id="rId20"/>
  </p:notesMasterIdLst>
  <p:sldIdLst>
    <p:sldId id="256" r:id="rId2"/>
    <p:sldId id="286" r:id="rId3"/>
    <p:sldId id="303" r:id="rId4"/>
    <p:sldId id="288" r:id="rId5"/>
    <p:sldId id="304" r:id="rId6"/>
    <p:sldId id="305" r:id="rId7"/>
    <p:sldId id="306" r:id="rId8"/>
    <p:sldId id="307" r:id="rId9"/>
    <p:sldId id="308" r:id="rId10"/>
    <p:sldId id="309" r:id="rId11"/>
    <p:sldId id="310" r:id="rId12"/>
    <p:sldId id="311" r:id="rId13"/>
    <p:sldId id="312" r:id="rId14"/>
    <p:sldId id="316" r:id="rId15"/>
    <p:sldId id="313" r:id="rId16"/>
    <p:sldId id="314" r:id="rId17"/>
    <p:sldId id="315" r:id="rId18"/>
    <p:sldId id="292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87844" autoAdjust="0"/>
  </p:normalViewPr>
  <p:slideViewPr>
    <p:cSldViewPr>
      <p:cViewPr varScale="1">
        <p:scale>
          <a:sx n="99" d="100"/>
          <a:sy n="99" d="100"/>
        </p:scale>
        <p:origin x="133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5" d="100"/>
          <a:sy n="85" d="100"/>
        </p:scale>
        <p:origin x="-3150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A9217-AC5D-4611-8D5D-762E705E32A8}" type="datetimeFigureOut">
              <a:rPr lang="en-US" smtClean="0"/>
              <a:pPr/>
              <a:t>12/4/2013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4E3265-14E3-499D-A250-3990DD3FB2C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07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4209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608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A4E3265-14E3-499D-A250-3990DD3FB2C1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4546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5335342C-9DE7-4576-84B4-66DBAA25DBA3}" type="datetime1">
              <a:rPr lang="en-US" smtClean="0"/>
              <a:pPr/>
              <a:t>12/4/2013</a:t>
            </a:fld>
            <a:endParaRPr lang="en-US" dirty="0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8400"/>
            <a:ext cx="1371600" cy="365125"/>
          </a:xfrm>
        </p:spPr>
        <p:txBody>
          <a:bodyPr/>
          <a:lstStyle/>
          <a:p>
            <a:fld id="{BD821A40-E5F1-42C9-B5AC-56200B498016}" type="datetime1">
              <a:rPr lang="en-US" smtClean="0"/>
              <a:pPr/>
              <a:t>12/4/2013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934200" y="6248400"/>
            <a:ext cx="1839683" cy="365125"/>
          </a:xfrm>
        </p:spPr>
        <p:txBody>
          <a:bodyPr/>
          <a:lstStyle/>
          <a:p>
            <a:r>
              <a:rPr lang="en-US" dirty="0" smtClean="0"/>
              <a:t>Algenta Confidential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pic>
        <p:nvPicPr>
          <p:cNvPr id="3074" name="Picture 2" descr="C:\Users\jeremy\svn\admin\PR\Assets\colectica\custom\colectica43x2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6314016"/>
            <a:ext cx="433387" cy="222250"/>
          </a:xfrm>
          <a:prstGeom prst="rect">
            <a:avLst/>
          </a:prstGeom>
          <a:noFill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Rectangle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E58D6-12C4-40DE-9A9E-9AD82EBF105B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FCA2AEB-BE29-41D7-8DD4-2824D5AAA15F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62CF48B9-8E54-4ECC-8D6F-35F471D3CFE8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D7708-62B9-48C7-A148-8A601CF8A00E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1CEAF-66CB-469F-84AC-3F1C8182DB42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6FED5-581D-4E74-BD00-6014CC3587D4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Rectangle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Rectangle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EBBA60A9-1E57-4270-9B08-37645341F174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368BAE-CDFA-4DEE-BD5A-2D153E55F028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9A6EA884-5F18-44A8-95F2-4CB935A25D55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D821A40-E5F1-42C9-B5AC-56200B498016}" type="datetime1">
              <a:rPr lang="en-US" smtClean="0"/>
              <a:pPr/>
              <a:t>12/4/2013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Algenta Confidential</a:t>
            </a:r>
            <a:endParaRPr lang="en-US"/>
          </a:p>
        </p:txBody>
      </p:sp>
      <p:sp>
        <p:nvSpPr>
          <p:cNvPr id="7" name="Rectangle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7001C82C-A011-4758-B95D-86304D9DA0A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hf hdr="0"/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600200"/>
            <a:ext cx="7696200" cy="2895600"/>
          </a:xfrm>
        </p:spPr>
        <p:txBody>
          <a:bodyPr>
            <a:normAutofit/>
          </a:bodyPr>
          <a:lstStyle/>
          <a:p>
            <a:pPr algn="ctr"/>
            <a:r>
              <a:rPr lang="en-US" b="1" dirty="0" smtClean="0"/>
              <a:t>Generating </a:t>
            </a:r>
            <a:r>
              <a:rPr lang="en-US" b="1" dirty="0"/>
              <a:t>Blaise Surveys from </a:t>
            </a:r>
            <a:r>
              <a:rPr lang="en-US" b="1" dirty="0" smtClean="0"/>
              <a:t>DDI Lifecycle using Colectica</a:t>
            </a:r>
            <a:endParaRPr lang="en-US" b="1" dirty="0"/>
          </a:p>
        </p:txBody>
      </p:sp>
      <p:pic>
        <p:nvPicPr>
          <p:cNvPr id="1028" name="Picture 4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95600" y="609600"/>
            <a:ext cx="3211512" cy="762000"/>
          </a:xfrm>
          <a:prstGeom prst="rect">
            <a:avLst/>
          </a:prstGeom>
          <a:noFill/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EDDI 2013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 This Talk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19600"/>
          </a:xfrm>
        </p:spPr>
        <p:txBody>
          <a:bodyPr>
            <a:normAutofit/>
          </a:bodyPr>
          <a:lstStyle/>
          <a:p>
            <a:r>
              <a:rPr lang="en-US" sz="3600" dirty="0" smtClean="0"/>
              <a:t>Overview of DDI Survey Documentation</a:t>
            </a:r>
          </a:p>
          <a:p>
            <a:r>
              <a:rPr lang="en-US" sz="4000" dirty="0" smtClean="0"/>
              <a:t>DDI 2</a:t>
            </a:r>
          </a:p>
          <a:p>
            <a:r>
              <a:rPr lang="en-US" sz="4000" dirty="0" smtClean="0"/>
              <a:t>DDI 3.0, 3.1</a:t>
            </a:r>
          </a:p>
          <a:p>
            <a:pPr lvl="1"/>
            <a:r>
              <a:rPr lang="en-US" sz="3700" dirty="0" smtClean="0"/>
              <a:t>partial OWL-S process model</a:t>
            </a:r>
          </a:p>
          <a:p>
            <a:r>
              <a:rPr lang="en-US" sz="4000" dirty="0" smtClean="0"/>
              <a:t>DDI 3.2</a:t>
            </a:r>
          </a:p>
          <a:p>
            <a:pPr lvl="1"/>
            <a:r>
              <a:rPr lang="en-US" sz="3700" dirty="0" smtClean="0"/>
              <a:t>complete OWL-S process model</a:t>
            </a:r>
          </a:p>
          <a:p>
            <a:endParaRPr lang="en-US" sz="4100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6343220" y="152400"/>
            <a:ext cx="1838721" cy="942242"/>
            <a:chOff x="3200397" y="1584087"/>
            <a:chExt cx="1828805" cy="1357788"/>
          </a:xfrm>
        </p:grpSpPr>
        <p:sp>
          <p:nvSpPr>
            <p:cNvPr id="10" name="Rounded Rectangle 9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220972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In This Talk – II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302752" cy="44196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Use Cases</a:t>
            </a:r>
          </a:p>
          <a:p>
            <a:r>
              <a:rPr lang="en-US" sz="4000" dirty="0" smtClean="0"/>
              <a:t>Specifying Survey Instruments in DDI-L</a:t>
            </a:r>
          </a:p>
          <a:p>
            <a:r>
              <a:rPr lang="en-US" sz="4000" dirty="0" smtClean="0"/>
              <a:t>Mapping DDI-L to Blaise</a:t>
            </a:r>
          </a:p>
          <a:p>
            <a:r>
              <a:rPr lang="en-US" sz="4000" dirty="0" smtClean="0"/>
              <a:t>Generating Blaise Source Code</a:t>
            </a:r>
          </a:p>
          <a:p>
            <a:endParaRPr lang="en-US" sz="4100" dirty="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6343220" y="152400"/>
            <a:ext cx="1838721" cy="942242"/>
            <a:chOff x="3200397" y="1584087"/>
            <a:chExt cx="1828805" cy="1357788"/>
          </a:xfrm>
        </p:grpSpPr>
        <p:sp>
          <p:nvSpPr>
            <p:cNvPr id="10" name="Rounded Rectangle 9"/>
            <p:cNvSpPr/>
            <p:nvPr/>
          </p:nvSpPr>
          <p:spPr>
            <a:xfrm>
              <a:off x="3200397" y="1584087"/>
              <a:ext cx="1828805" cy="1357788"/>
            </a:xfrm>
            <a:prstGeom prst="roundRect">
              <a:avLst/>
            </a:prstGeom>
            <a:blipFill rotWithShape="0">
              <a:blip r:embed="rId3"/>
              <a:stretch>
                <a:fillRect/>
              </a:stretch>
            </a:blip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1" name="Rounded Rectangle 4"/>
            <p:cNvSpPr/>
            <p:nvPr/>
          </p:nvSpPr>
          <p:spPr>
            <a:xfrm>
              <a:off x="3266679" y="1650369"/>
              <a:ext cx="1696241" cy="1225224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lvl="0" algn="ctr" defTabSz="160020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endParaRPr lang="en-US" sz="3600" kern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738338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#1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 smtClean="0"/>
              <a:t>Wisconsin Longitudinal Survey in 2006</a:t>
            </a:r>
          </a:p>
          <a:p>
            <a:pPr lvl="1"/>
            <a:r>
              <a:rPr lang="en-US" sz="3700" dirty="0" smtClean="0"/>
              <a:t>Jeremy Iverson – WLS</a:t>
            </a:r>
          </a:p>
          <a:p>
            <a:pPr lvl="1"/>
            <a:r>
              <a:rPr lang="en-US" sz="3700" dirty="0" smtClean="0"/>
              <a:t>Dan Smith – IBM </a:t>
            </a:r>
            <a:r>
              <a:rPr lang="en-US" sz="3700" dirty="0" err="1" smtClean="0"/>
              <a:t>AdTech</a:t>
            </a:r>
            <a:endParaRPr lang="en-US" sz="3700" dirty="0" smtClean="0"/>
          </a:p>
          <a:p>
            <a:r>
              <a:rPr lang="en-US" sz="4000" dirty="0" smtClean="0"/>
              <a:t>Create Flow Charts for documentation</a:t>
            </a:r>
          </a:p>
          <a:p>
            <a:pPr lvl="1"/>
            <a:r>
              <a:rPr lang="en-US" sz="3700" dirty="0" smtClean="0"/>
              <a:t>Parse CATI Code</a:t>
            </a:r>
          </a:p>
          <a:p>
            <a:pPr lvl="1"/>
            <a:r>
              <a:rPr lang="en-US" sz="3700" dirty="0" smtClean="0"/>
              <a:t>Automate Manual Flowchart Drawing</a:t>
            </a:r>
          </a:p>
          <a:p>
            <a:r>
              <a:rPr lang="en-US" sz="4000" dirty="0" smtClean="0"/>
              <a:t>Store information in some standard format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97016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 smtClean="0"/>
              <a:t>Documents variables in a dataset</a:t>
            </a:r>
          </a:p>
          <a:p>
            <a:r>
              <a:rPr lang="en-US" sz="4000" dirty="0" smtClean="0"/>
              <a:t>Question text from a survey is associated with a single variable</a:t>
            </a:r>
          </a:p>
          <a:p>
            <a:r>
              <a:rPr lang="en-US" sz="4000" dirty="0" smtClean="0"/>
              <a:t>No detailed description of the question or response options</a:t>
            </a:r>
          </a:p>
          <a:p>
            <a:r>
              <a:rPr lang="en-US" sz="4000" dirty="0" smtClean="0"/>
              <a:t>No question flow, only simple forward and backward links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3479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 </a:t>
            </a:r>
            <a:r>
              <a:rPr lang="en-US" dirty="0" smtClean="0"/>
              <a:t>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DDI 2 fails</a:t>
            </a:r>
          </a:p>
          <a:p>
            <a:r>
              <a:rPr lang="en-US" sz="4000" dirty="0" smtClean="0"/>
              <a:t>Not descriptive enough for creating flow charts (use case #1)</a:t>
            </a:r>
          </a:p>
          <a:p>
            <a:pPr lvl="1"/>
            <a:r>
              <a:rPr lang="en-US" sz="3700" dirty="0" smtClean="0"/>
              <a:t>Need flow control logic</a:t>
            </a:r>
            <a:endParaRPr lang="en-US" sz="3700" dirty="0"/>
          </a:p>
        </p:txBody>
      </p:sp>
    </p:spTree>
    <p:extLst>
      <p:ext uri="{BB962C8B-B14F-4D97-AF65-F5344CB8AC3E}">
        <p14:creationId xmlns:p14="http://schemas.microsoft.com/office/powerpoint/2010/main" val="29218679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 </a:t>
            </a:r>
            <a:r>
              <a:rPr lang="en-US" dirty="0" smtClean="0"/>
              <a:t>3.0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Join DDI Instrument Documentation Committee</a:t>
            </a:r>
          </a:p>
          <a:p>
            <a:r>
              <a:rPr lang="en-US" sz="4000" dirty="0" smtClean="0"/>
              <a:t>Recommend OWL-S process model to describe instrument flow</a:t>
            </a:r>
          </a:p>
          <a:p>
            <a:r>
              <a:rPr lang="en-US" sz="4000" dirty="0" smtClean="0"/>
              <a:t>Only import control flow portion, to meet use case #1</a:t>
            </a:r>
          </a:p>
        </p:txBody>
      </p:sp>
    </p:spTree>
    <p:extLst>
      <p:ext uri="{BB962C8B-B14F-4D97-AF65-F5344CB8AC3E}">
        <p14:creationId xmlns:p14="http://schemas.microsoft.com/office/powerpoint/2010/main" val="3919053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OWL-S – Part 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1" y="1828800"/>
            <a:ext cx="1636816" cy="38100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3" y="1923584"/>
            <a:ext cx="406349" cy="406349"/>
          </a:xfrm>
        </p:spPr>
      </p:pic>
      <p:sp>
        <p:nvSpPr>
          <p:cNvPr id="7" name="TextBox 6"/>
          <p:cNvSpPr txBox="1"/>
          <p:nvPr/>
        </p:nvSpPr>
        <p:spPr>
          <a:xfrm>
            <a:off x="954160" y="1943273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Sequence 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43200" y="2164244"/>
            <a:ext cx="1469461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63" y="2208312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04950" y="2144568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1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743200" y="2812588"/>
            <a:ext cx="1469461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63" y="2856656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04950" y="279291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2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743200" y="3422188"/>
            <a:ext cx="1469461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63" y="3466256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04950" y="3402512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3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719491" y="4180105"/>
            <a:ext cx="1538675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254" y="4224173"/>
            <a:ext cx="304800" cy="3048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081241" y="4160429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4</a:t>
            </a:r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2743200" y="5212944"/>
            <a:ext cx="1469461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4963" y="5257012"/>
            <a:ext cx="304800" cy="3048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3104950" y="5193268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6</a:t>
            </a:r>
            <a:endParaRPr lang="en-US" dirty="0"/>
          </a:p>
        </p:txBody>
      </p:sp>
      <p:sp>
        <p:nvSpPr>
          <p:cNvPr id="25" name="Rectangle 24"/>
          <p:cNvSpPr/>
          <p:nvPr/>
        </p:nvSpPr>
        <p:spPr>
          <a:xfrm>
            <a:off x="2752542" y="4096320"/>
            <a:ext cx="1469461" cy="72232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3114292" y="4076644"/>
            <a:ext cx="8022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If Then</a:t>
            </a:r>
            <a:endParaRPr lang="en-US" dirty="0"/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510" y="4133428"/>
            <a:ext cx="245705" cy="271123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4724400" y="3659296"/>
            <a:ext cx="1600200" cy="1493219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Content Placeholder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77282" y="3754080"/>
            <a:ext cx="406349" cy="40634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5145159" y="3773769"/>
            <a:ext cx="12426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Sequence B</a:t>
            </a:r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6719491" y="4803647"/>
            <a:ext cx="1538675" cy="348868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1254" y="4847715"/>
            <a:ext cx="304800" cy="3048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081241" y="4783971"/>
            <a:ext cx="11769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Question 5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1252947" y="2678534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252947" y="3287112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252947" y="3895690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1252947" y="4504268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/>
          <p:cNvSpPr/>
          <p:nvPr/>
        </p:nvSpPr>
        <p:spPr>
          <a:xfrm>
            <a:off x="1252947" y="5112847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5489688" y="4416624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/>
          <p:cNvSpPr/>
          <p:nvPr/>
        </p:nvSpPr>
        <p:spPr>
          <a:xfrm>
            <a:off x="5489688" y="4866152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/>
          <p:cNvSpPr/>
          <p:nvPr/>
        </p:nvSpPr>
        <p:spPr>
          <a:xfrm>
            <a:off x="3413104" y="4528973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urved Connector 46"/>
          <p:cNvCxnSpPr>
            <a:stCxn id="38" idx="6"/>
            <a:endCxn id="8" idx="1"/>
          </p:cNvCxnSpPr>
          <p:nvPr/>
        </p:nvCxnSpPr>
        <p:spPr>
          <a:xfrm flipV="1">
            <a:off x="1401283" y="2338678"/>
            <a:ext cx="1341917" cy="41754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endCxn id="13" idx="1"/>
          </p:cNvCxnSpPr>
          <p:nvPr/>
        </p:nvCxnSpPr>
        <p:spPr>
          <a:xfrm flipV="1">
            <a:off x="1463046" y="2987022"/>
            <a:ext cx="1280154" cy="372916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0" idx="6"/>
            <a:endCxn id="16" idx="1"/>
          </p:cNvCxnSpPr>
          <p:nvPr/>
        </p:nvCxnSpPr>
        <p:spPr>
          <a:xfrm flipV="1">
            <a:off x="1401283" y="3596622"/>
            <a:ext cx="1341917" cy="37675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41" idx="6"/>
            <a:endCxn id="25" idx="1"/>
          </p:cNvCxnSpPr>
          <p:nvPr/>
        </p:nvCxnSpPr>
        <p:spPr>
          <a:xfrm flipV="1">
            <a:off x="1401283" y="4457480"/>
            <a:ext cx="1351259" cy="12447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urved Connector 58"/>
          <p:cNvCxnSpPr>
            <a:stCxn id="42" idx="6"/>
            <a:endCxn id="22" idx="1"/>
          </p:cNvCxnSpPr>
          <p:nvPr/>
        </p:nvCxnSpPr>
        <p:spPr>
          <a:xfrm>
            <a:off x="1401283" y="5190535"/>
            <a:ext cx="1341917" cy="19684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45" idx="6"/>
            <a:endCxn id="29" idx="1"/>
          </p:cNvCxnSpPr>
          <p:nvPr/>
        </p:nvCxnSpPr>
        <p:spPr>
          <a:xfrm flipV="1">
            <a:off x="3561440" y="4405906"/>
            <a:ext cx="1162960" cy="200755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43" idx="7"/>
            <a:endCxn id="19" idx="1"/>
          </p:cNvCxnSpPr>
          <p:nvPr/>
        </p:nvCxnSpPr>
        <p:spPr>
          <a:xfrm rot="5400000" flipH="1" flipV="1">
            <a:off x="6125477" y="3845364"/>
            <a:ext cx="84839" cy="110319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urved Connector 67"/>
          <p:cNvCxnSpPr>
            <a:stCxn id="44" idx="6"/>
            <a:endCxn id="32" idx="1"/>
          </p:cNvCxnSpPr>
          <p:nvPr/>
        </p:nvCxnSpPr>
        <p:spPr>
          <a:xfrm>
            <a:off x="5638024" y="4943840"/>
            <a:ext cx="1081467" cy="3424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4930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DDI </a:t>
            </a:r>
            <a:r>
              <a:rPr lang="en-US" dirty="0" smtClean="0"/>
              <a:t>3.0 and 3.1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DDI 3.0 a success</a:t>
            </a:r>
          </a:p>
          <a:p>
            <a:pPr lvl="1"/>
            <a:r>
              <a:rPr lang="en-US" sz="3700" dirty="0" smtClean="0"/>
              <a:t>Flow model stays the same in DDI 3.1</a:t>
            </a:r>
          </a:p>
          <a:p>
            <a:r>
              <a:rPr lang="en-US" sz="4000" dirty="0" smtClean="0"/>
              <a:t>Describes instrument flow</a:t>
            </a:r>
          </a:p>
          <a:p>
            <a:r>
              <a:rPr lang="en-US" sz="4000" dirty="0" smtClean="0"/>
              <a:t>Textual description of conditions for if/then, loops,  and dynamic text</a:t>
            </a:r>
          </a:p>
          <a:p>
            <a:r>
              <a:rPr lang="en-US" sz="4000" dirty="0" smtClean="0"/>
              <a:t>Use case #1 is implemented</a:t>
            </a:r>
          </a:p>
          <a:p>
            <a:endParaRPr lang="en-US" sz="4000" dirty="0" smtClean="0"/>
          </a:p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1014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Use Case #2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Create surveys using a Question Bank and Generate Blaise from DDI</a:t>
            </a:r>
          </a:p>
          <a:p>
            <a:pPr lvl="1"/>
            <a:r>
              <a:rPr lang="en-US" sz="3700" dirty="0" smtClean="0"/>
              <a:t>DDI 3.0 and 3.1 are not enough</a:t>
            </a:r>
          </a:p>
          <a:p>
            <a:r>
              <a:rPr lang="en-US" sz="4000" dirty="0" smtClean="0"/>
              <a:t>Can not share questions and sequences across surveys due to lack of scope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449065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OWL-S – Part 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33401" y="1828800"/>
            <a:ext cx="1636816" cy="4495800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283" y="1923584"/>
            <a:ext cx="406349" cy="406349"/>
          </a:xfrm>
        </p:spPr>
      </p:pic>
      <p:sp>
        <p:nvSpPr>
          <p:cNvPr id="7" name="TextBox 6"/>
          <p:cNvSpPr txBox="1"/>
          <p:nvPr/>
        </p:nvSpPr>
        <p:spPr>
          <a:xfrm>
            <a:off x="954160" y="1943273"/>
            <a:ext cx="1266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Sequence A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801387" y="2053542"/>
            <a:ext cx="3048000" cy="610799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3150" y="2097610"/>
            <a:ext cx="304800" cy="304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138402" y="2291207"/>
            <a:ext cx="2422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your first name?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2801387" y="5237845"/>
            <a:ext cx="3048000" cy="837763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4380" y="5281914"/>
            <a:ext cx="304800" cy="3048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174367" y="5218170"/>
            <a:ext cx="13195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TRANSPORT</a:t>
            </a:r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2801387" y="3690408"/>
            <a:ext cx="3048000" cy="883056"/>
          </a:xfrm>
          <a:prstGeom prst="rect">
            <a:avLst/>
          </a:prstGeom>
          <a:ln w="5715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9137" y="3734476"/>
            <a:ext cx="304800" cy="30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199124" y="3670732"/>
            <a:ext cx="596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AGE</a:t>
            </a:r>
            <a:endParaRPr lang="en-US" dirty="0"/>
          </a:p>
        </p:txBody>
      </p:sp>
      <p:sp>
        <p:nvSpPr>
          <p:cNvPr id="38" name="Oval 37"/>
          <p:cNvSpPr/>
          <p:nvPr/>
        </p:nvSpPr>
        <p:spPr>
          <a:xfrm>
            <a:off x="1252947" y="2678534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262836" y="5610142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1310052" y="4223808"/>
            <a:ext cx="148336" cy="15537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urved Connector 46"/>
          <p:cNvCxnSpPr>
            <a:stCxn id="38" idx="6"/>
            <a:endCxn id="8" idx="1"/>
          </p:cNvCxnSpPr>
          <p:nvPr/>
        </p:nvCxnSpPr>
        <p:spPr>
          <a:xfrm flipV="1">
            <a:off x="1401283" y="2358942"/>
            <a:ext cx="1400104" cy="39728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urved Connector 49"/>
          <p:cNvCxnSpPr>
            <a:stCxn id="39" idx="6"/>
            <a:endCxn id="13" idx="1"/>
          </p:cNvCxnSpPr>
          <p:nvPr/>
        </p:nvCxnSpPr>
        <p:spPr>
          <a:xfrm flipV="1">
            <a:off x="1411172" y="5656727"/>
            <a:ext cx="1390215" cy="31103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urved Connector 52"/>
          <p:cNvCxnSpPr>
            <a:stCxn id="40" idx="6"/>
            <a:endCxn id="16" idx="1"/>
          </p:cNvCxnSpPr>
          <p:nvPr/>
        </p:nvCxnSpPr>
        <p:spPr>
          <a:xfrm flipV="1">
            <a:off x="1458388" y="4131936"/>
            <a:ext cx="1342999" cy="16956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3138402" y="2017237"/>
            <a:ext cx="8579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FNAME</a:t>
            </a:r>
            <a:endParaRPr lang="en-US" dirty="0"/>
          </a:p>
        </p:txBody>
      </p:sp>
      <p:sp>
        <p:nvSpPr>
          <p:cNvPr id="57" name="TextBox 56"/>
          <p:cNvSpPr txBox="1"/>
          <p:nvPr/>
        </p:nvSpPr>
        <p:spPr>
          <a:xfrm>
            <a:off x="2981006" y="5613663"/>
            <a:ext cx="2040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How did you arrive?</a:t>
            </a:r>
            <a:endParaRPr lang="en-US" dirty="0"/>
          </a:p>
        </p:txBody>
      </p:sp>
      <p:sp>
        <p:nvSpPr>
          <p:cNvPr id="61" name="TextBox 60"/>
          <p:cNvSpPr txBox="1"/>
          <p:nvPr/>
        </p:nvSpPr>
        <p:spPr>
          <a:xfrm>
            <a:off x="2883095" y="4133108"/>
            <a:ext cx="2918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{</a:t>
            </a:r>
            <a:r>
              <a:rPr lang="en-US" dirty="0" err="1" smtClean="0"/>
              <a:t>personName</a:t>
            </a:r>
            <a:r>
              <a:rPr lang="en-US" dirty="0" smtClean="0"/>
              <a:t>}’s age?</a:t>
            </a:r>
            <a:endParaRPr lang="en-US" dirty="0"/>
          </a:p>
        </p:txBody>
      </p:sp>
      <p:sp>
        <p:nvSpPr>
          <p:cNvPr id="63" name="Rectangle 62"/>
          <p:cNvSpPr/>
          <p:nvPr/>
        </p:nvSpPr>
        <p:spPr>
          <a:xfrm>
            <a:off x="6111248" y="2046792"/>
            <a:ext cx="1828800" cy="34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 : FNAME</a:t>
            </a:r>
            <a:endParaRPr lang="en-US" dirty="0"/>
          </a:p>
        </p:txBody>
      </p:sp>
      <p:sp>
        <p:nvSpPr>
          <p:cNvPr id="66" name="Rectangle 65"/>
          <p:cNvSpPr/>
          <p:nvPr/>
        </p:nvSpPr>
        <p:spPr>
          <a:xfrm>
            <a:off x="6111248" y="4205217"/>
            <a:ext cx="1828800" cy="34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 : AGE</a:t>
            </a:r>
            <a:endParaRPr lang="en-US" dirty="0"/>
          </a:p>
        </p:txBody>
      </p:sp>
      <p:sp>
        <p:nvSpPr>
          <p:cNvPr id="67" name="Rectangle 66"/>
          <p:cNvSpPr/>
          <p:nvPr/>
        </p:nvSpPr>
        <p:spPr>
          <a:xfrm>
            <a:off x="6111248" y="5508541"/>
            <a:ext cx="2270751" cy="3479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OUTPUT : TRANSPORT</a:t>
            </a:r>
            <a:endParaRPr lang="en-US" dirty="0"/>
          </a:p>
        </p:txBody>
      </p:sp>
      <p:cxnSp>
        <p:nvCxnSpPr>
          <p:cNvPr id="69" name="Straight Arrow Connector 68"/>
          <p:cNvCxnSpPr>
            <a:stCxn id="8" idx="3"/>
            <a:endCxn id="63" idx="1"/>
          </p:cNvCxnSpPr>
          <p:nvPr/>
        </p:nvCxnSpPr>
        <p:spPr>
          <a:xfrm flipV="1">
            <a:off x="5849387" y="2220759"/>
            <a:ext cx="261861" cy="1381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6" idx="3"/>
            <a:endCxn id="66" idx="1"/>
          </p:cNvCxnSpPr>
          <p:nvPr/>
        </p:nvCxnSpPr>
        <p:spPr>
          <a:xfrm>
            <a:off x="5849387" y="4131936"/>
            <a:ext cx="261861" cy="2472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>
            <a:stCxn id="13" idx="3"/>
            <a:endCxn id="67" idx="1"/>
          </p:cNvCxnSpPr>
          <p:nvPr/>
        </p:nvCxnSpPr>
        <p:spPr>
          <a:xfrm>
            <a:off x="5849387" y="5656727"/>
            <a:ext cx="261861" cy="257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6111248" y="3616566"/>
            <a:ext cx="2042152" cy="34793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INPUT: </a:t>
            </a:r>
            <a:r>
              <a:rPr lang="en-US" dirty="0" err="1" smtClean="0"/>
              <a:t>personName</a:t>
            </a:r>
            <a:endParaRPr lang="en-US" dirty="0"/>
          </a:p>
        </p:txBody>
      </p:sp>
      <p:cxnSp>
        <p:nvCxnSpPr>
          <p:cNvPr id="75" name="Straight Arrow Connector 74"/>
          <p:cNvCxnSpPr>
            <a:endCxn id="74" idx="1"/>
          </p:cNvCxnSpPr>
          <p:nvPr/>
        </p:nvCxnSpPr>
        <p:spPr>
          <a:xfrm flipV="1">
            <a:off x="5849387" y="3790533"/>
            <a:ext cx="261861" cy="138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832472" y="3095310"/>
            <a:ext cx="1221965" cy="347934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Binding</a:t>
            </a:r>
            <a:endParaRPr lang="en-US" dirty="0"/>
          </a:p>
        </p:txBody>
      </p:sp>
      <p:cxnSp>
        <p:nvCxnSpPr>
          <p:cNvPr id="80" name="Curved Connector 79"/>
          <p:cNvCxnSpPr>
            <a:endCxn id="63" idx="2"/>
          </p:cNvCxnSpPr>
          <p:nvPr/>
        </p:nvCxnSpPr>
        <p:spPr>
          <a:xfrm flipV="1">
            <a:off x="2054437" y="2394726"/>
            <a:ext cx="4971211" cy="80419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/>
          <p:cNvCxnSpPr>
            <a:stCxn id="79" idx="3"/>
            <a:endCxn id="74" idx="0"/>
          </p:cNvCxnSpPr>
          <p:nvPr/>
        </p:nvCxnSpPr>
        <p:spPr>
          <a:xfrm>
            <a:off x="2054437" y="3269277"/>
            <a:ext cx="5077887" cy="34728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6988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66" grpId="0" animBg="1"/>
      <p:bldP spid="67" grpId="0" animBg="1"/>
      <p:bldP spid="74" grpId="0" animBg="1"/>
      <p:bldP spid="7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DDI 3.2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 smtClean="0"/>
              <a:t>DDI 3.2 includes full OWL-S process model</a:t>
            </a:r>
          </a:p>
          <a:p>
            <a:r>
              <a:rPr lang="en-US" sz="4000" dirty="0" smtClean="0"/>
              <a:t>Questions and sequences can be reused directly across studies</a:t>
            </a:r>
          </a:p>
          <a:p>
            <a:r>
              <a:rPr lang="en-US" sz="4000" dirty="0" smtClean="0"/>
              <a:t>Scoping is well defined</a:t>
            </a:r>
          </a:p>
          <a:p>
            <a:pPr lvl="1"/>
            <a:r>
              <a:rPr lang="en-US" sz="3700" dirty="0" smtClean="0"/>
              <a:t>No longer a monolithic instrument</a:t>
            </a:r>
          </a:p>
          <a:p>
            <a:r>
              <a:rPr lang="en-US" sz="4000" dirty="0" smtClean="0"/>
              <a:t>Use case #2 is achievable</a:t>
            </a:r>
          </a:p>
          <a:p>
            <a:endParaRPr lang="en-US" sz="4000" dirty="0" smtClean="0"/>
          </a:p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9877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DDI 3.2 instruments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4000" dirty="0" smtClean="0"/>
              <a:t>Full support in Colectica Designer</a:t>
            </a:r>
          </a:p>
          <a:p>
            <a:r>
              <a:rPr lang="en-US" sz="4000" dirty="0" smtClean="0"/>
              <a:t>Drag and Drop Questions and Sequences from repository onto new instruments</a:t>
            </a:r>
          </a:p>
          <a:p>
            <a:r>
              <a:rPr lang="en-US" sz="4000" dirty="0" smtClean="0"/>
              <a:t>Automatically create Out-Parameters</a:t>
            </a:r>
            <a:endParaRPr lang="en-US" sz="3700" dirty="0" smtClean="0"/>
          </a:p>
          <a:p>
            <a:r>
              <a:rPr lang="en-US" sz="4000" dirty="0" smtClean="0"/>
              <a:t>Show all possible in scope In-Parameters, </a:t>
            </a:r>
            <a:r>
              <a:rPr lang="en-US" sz="3700" dirty="0" smtClean="0"/>
              <a:t>add them along with parent bindings when used</a:t>
            </a:r>
          </a:p>
          <a:p>
            <a:endParaRPr lang="en-US" sz="4000" dirty="0" smtClean="0"/>
          </a:p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3953821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Generating CATI Code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4000" dirty="0" smtClean="0"/>
              <a:t>Colectica Generates CATI Code</a:t>
            </a:r>
          </a:p>
          <a:p>
            <a:pPr lvl="1"/>
            <a:r>
              <a:rPr lang="en-US" sz="3400" dirty="0" smtClean="0"/>
              <a:t>Blaise</a:t>
            </a:r>
          </a:p>
          <a:p>
            <a:pPr lvl="1"/>
            <a:r>
              <a:rPr lang="en-US" sz="3400" dirty="0" smtClean="0"/>
              <a:t>SPSS Dimensions</a:t>
            </a:r>
          </a:p>
          <a:p>
            <a:pPr lvl="1"/>
            <a:r>
              <a:rPr lang="en-US" sz="3400" dirty="0" smtClean="0"/>
              <a:t>Cases</a:t>
            </a:r>
          </a:p>
          <a:p>
            <a:pPr lvl="1"/>
            <a:r>
              <a:rPr lang="en-US" sz="3400" dirty="0" smtClean="0"/>
              <a:t>CS Pro</a:t>
            </a:r>
          </a:p>
          <a:p>
            <a:pPr lvl="1"/>
            <a:r>
              <a:rPr lang="en-US" sz="3400" dirty="0" err="1" smtClean="0"/>
              <a:t>QueXML</a:t>
            </a:r>
            <a:endParaRPr lang="en-US" sz="3400" dirty="0" smtClean="0"/>
          </a:p>
          <a:p>
            <a:pPr lvl="1"/>
            <a:r>
              <a:rPr lang="en-US" sz="3400" dirty="0" err="1" smtClean="0"/>
              <a:t>LimeSurvey</a:t>
            </a:r>
            <a:endParaRPr lang="en-US" sz="3400" dirty="0" smtClean="0"/>
          </a:p>
          <a:p>
            <a:pPr lvl="1"/>
            <a:r>
              <a:rPr lang="en-US" sz="3400" dirty="0" err="1" smtClean="0"/>
              <a:t>REDCap</a:t>
            </a:r>
            <a:endParaRPr lang="en-US" sz="3400" dirty="0" smtClean="0"/>
          </a:p>
          <a:p>
            <a:endParaRPr lang="en-US" sz="4000" dirty="0" smtClean="0"/>
          </a:p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413029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Blaise Code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4000" dirty="0" smtClean="0"/>
          </a:p>
          <a:p>
            <a:endParaRPr lang="en-US" sz="4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258"/>
          <a:stretch/>
        </p:blipFill>
        <p:spPr>
          <a:xfrm>
            <a:off x="1295400" y="1609234"/>
            <a:ext cx="5333333" cy="4520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3461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Generate Blaise Code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sz="4000" dirty="0" smtClean="0"/>
          </a:p>
          <a:p>
            <a:endParaRPr lang="en-US" sz="4000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1609824"/>
            <a:ext cx="6781800" cy="5148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4736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Main Take Away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 fontScale="85000" lnSpcReduction="20000"/>
          </a:bodyPr>
          <a:lstStyle/>
          <a:p>
            <a:fld id="{7001C82C-A011-4758-B95D-86304D9DA0A2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Use DDI 3.2</a:t>
            </a:r>
          </a:p>
          <a:p>
            <a:r>
              <a:rPr lang="en-US" sz="4000" dirty="0" smtClean="0"/>
              <a:t>Generate your CATI code</a:t>
            </a:r>
          </a:p>
          <a:p>
            <a:pPr lvl="1"/>
            <a:r>
              <a:rPr lang="en-US" sz="3700" dirty="0" smtClean="0"/>
              <a:t>Eliminate </a:t>
            </a:r>
            <a:r>
              <a:rPr lang="en-US" sz="3700" dirty="0" smtClean="0"/>
              <a:t>errors, save time, and enable </a:t>
            </a:r>
            <a:r>
              <a:rPr lang="en-US" sz="3700" dirty="0" smtClean="0"/>
              <a:t>harmonization</a:t>
            </a:r>
          </a:p>
          <a:p>
            <a:r>
              <a:rPr lang="en-US" sz="4300" dirty="0" smtClean="0"/>
              <a:t>Get in touch with us for </a:t>
            </a:r>
            <a:r>
              <a:rPr lang="en-US" sz="4300" smtClean="0"/>
              <a:t>Collaboration Opportunities</a:t>
            </a:r>
            <a:endParaRPr lang="en-US" sz="4300" dirty="0" smtClean="0"/>
          </a:p>
          <a:p>
            <a:endParaRPr lang="en-US" sz="4000" dirty="0" smtClean="0"/>
          </a:p>
        </p:txBody>
      </p:sp>
    </p:spTree>
    <p:extLst>
      <p:ext uri="{BB962C8B-B14F-4D97-AF65-F5344CB8AC3E}">
        <p14:creationId xmlns:p14="http://schemas.microsoft.com/office/powerpoint/2010/main" val="20227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>
            <a:normAutofit/>
          </a:bodyPr>
          <a:lstStyle/>
          <a:p>
            <a:fld id="{7001C82C-A011-4758-B95D-86304D9DA0A2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098" name="Picture 2" descr="C:\Users\jeremy\svn\admin\PR\Assets\colectica\custom\colectica-green-web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895600" y="381000"/>
            <a:ext cx="3211513" cy="762000"/>
          </a:xfrm>
          <a:prstGeom prst="rect">
            <a:avLst/>
          </a:prstGeom>
          <a:noFill/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8943040"/>
              </p:ext>
            </p:extLst>
          </p:nvPr>
        </p:nvGraphicFramePr>
        <p:xfrm>
          <a:off x="1371600" y="3124200"/>
          <a:ext cx="7010401" cy="25603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09600"/>
                <a:gridCol w="1828800"/>
                <a:gridCol w="4572001"/>
              </a:tblGrid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Web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blogs.colectica.com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Twitter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@Colectica</a:t>
                      </a:r>
                      <a:endParaRPr lang="en-US" sz="3600" dirty="0"/>
                    </a:p>
                  </a:txBody>
                  <a:tcPr/>
                </a:tc>
              </a:tr>
              <a:tr h="495300">
                <a:tc>
                  <a:txBody>
                    <a:bodyPr/>
                    <a:lstStyle/>
                    <a:p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</a:t>
                      </a:r>
                      <a:endParaRPr lang="en-US" sz="3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3600" dirty="0" smtClean="0"/>
                        <a:t>youtube.com/</a:t>
                      </a:r>
                      <a:r>
                        <a:rPr lang="en-US" sz="3600" dirty="0" err="1" smtClean="0"/>
                        <a:t>colectica</a:t>
                      </a:r>
                      <a:endParaRPr lang="en-US" sz="3600" dirty="0"/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9" name="Picture 2" descr="D:\Downloads\twitter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4521200"/>
            <a:ext cx="431800" cy="43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3" descr="D:\Downloads\youtube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2550" y="5156200"/>
            <a:ext cx="406400" cy="40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3337" y="3886200"/>
            <a:ext cx="411013" cy="41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157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0</TotalTime>
  <Words>462</Words>
  <Application>Microsoft Office PowerPoint</Application>
  <PresentationFormat>On-screen Show (4:3)</PresentationFormat>
  <Paragraphs>124</Paragraphs>
  <Slides>18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Tw Cen MT</vt:lpstr>
      <vt:lpstr>Wingdings</vt:lpstr>
      <vt:lpstr>Wingdings 2</vt:lpstr>
      <vt:lpstr>Median</vt:lpstr>
      <vt:lpstr>Generating Blaise Surveys from DDI Lifecycle using Colectica</vt:lpstr>
      <vt:lpstr>In This Talk</vt:lpstr>
      <vt:lpstr>In This Talk – II</vt:lpstr>
      <vt:lpstr>Use Case #1</vt:lpstr>
      <vt:lpstr>DDI 2</vt:lpstr>
      <vt:lpstr>DDI 2</vt:lpstr>
      <vt:lpstr>DDI 3.0</vt:lpstr>
      <vt:lpstr>OWL-S – Part 1</vt:lpstr>
      <vt:lpstr>DDI 3.0 and 3.1</vt:lpstr>
      <vt:lpstr>Use Case #2</vt:lpstr>
      <vt:lpstr>OWL-S – Part 2</vt:lpstr>
      <vt:lpstr>DDI 3.2</vt:lpstr>
      <vt:lpstr>Creating DDI 3.2 instruments</vt:lpstr>
      <vt:lpstr>Generating CATI Code</vt:lpstr>
      <vt:lpstr>Generate Blaise Code</vt:lpstr>
      <vt:lpstr>Generate Blaise Code</vt:lpstr>
      <vt:lpstr>Main Take Away</vt:lpstr>
      <vt:lpstr>Thank you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Accessing DDI 3 as Linked Data - Colectica RDF Services</dc:title>
  <dc:creator/>
  <cp:lastModifiedBy/>
  <cp:revision>1</cp:revision>
  <dcterms:created xsi:type="dcterms:W3CDTF">2012-06-05T17:15:01Z</dcterms:created>
  <dcterms:modified xsi:type="dcterms:W3CDTF">2013-12-04T02:35:37Z</dcterms:modified>
</cp:coreProperties>
</file>