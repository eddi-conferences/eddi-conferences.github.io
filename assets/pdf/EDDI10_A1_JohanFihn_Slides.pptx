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5" r:id="rId4"/>
    <p:sldId id="264" r:id="rId5"/>
    <p:sldId id="266" r:id="rId6"/>
    <p:sldId id="272" r:id="rId7"/>
    <p:sldId id="267" r:id="rId8"/>
    <p:sldId id="268" r:id="rId9"/>
    <p:sldId id="269" r:id="rId10"/>
    <p:sldId id="270" r:id="rId11"/>
    <p:sldId id="271" r:id="rId12"/>
  </p:sldIdLst>
  <p:sldSz cx="9144000" cy="6858000" type="screen4x3"/>
  <p:notesSz cx="6834188" cy="9979025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B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86" autoAdjust="0"/>
    <p:restoredTop sz="94660"/>
  </p:normalViewPr>
  <p:slideViewPr>
    <p:cSldViewPr>
      <p:cViewPr>
        <p:scale>
          <a:sx n="100" d="100"/>
          <a:sy n="100" d="100"/>
        </p:scale>
        <p:origin x="-1944" y="-4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71913" y="0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12D0B-9628-4688-AC6D-CAC00C97CCD0}" type="datetimeFigureOut">
              <a:rPr lang="sv-SE" smtClean="0"/>
              <a:pPr/>
              <a:t>2010-12-03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922338" y="747713"/>
            <a:ext cx="4991100" cy="3743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4213" y="4740275"/>
            <a:ext cx="5467350" cy="4491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9478963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8B1FA-B40F-4ED5-B028-8FF8B6C75463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89042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08B1FA-B40F-4ED5-B028-8FF8B6C75463}" type="slidenum">
              <a:rPr lang="sv-SE" smtClean="0"/>
              <a:pPr/>
              <a:t>1</a:t>
            </a:fld>
            <a:endParaRPr lang="sv-S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smtClean="0"/>
              <a:t>Klicka här för att ändra format på underrubrik i bakgrunden</a:t>
            </a:r>
            <a:endParaRPr lang="sv-SE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2010-06-01</a:t>
            </a:r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www.snd.se</a:t>
            </a:r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0437-37F5-428D-94D3-0C0AB0DAEFDC}" type="slidenum">
              <a:rPr lang="sv-SE" smtClean="0"/>
              <a:pPr/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2010-06-01</a:t>
            </a:r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www.snd.se</a:t>
            </a:r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0437-37F5-428D-94D3-0C0AB0DAEFDC}" type="slidenum">
              <a:rPr lang="sv-SE" smtClean="0"/>
              <a:pPr/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2010-06-01</a:t>
            </a:r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www.snd.se</a:t>
            </a:r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0437-37F5-428D-94D3-0C0AB0DAEFDC}" type="slidenum">
              <a:rPr lang="sv-SE" smtClean="0"/>
              <a:pPr/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2010-06-01</a:t>
            </a:r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www.snd.se</a:t>
            </a:r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0437-37F5-428D-94D3-0C0AB0DAEFDC}" type="slidenum">
              <a:rPr lang="sv-SE" smtClean="0"/>
              <a:pPr/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2010-06-01</a:t>
            </a:r>
            <a:endParaRPr lang="sv-SE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www.snd.se</a:t>
            </a:r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0437-37F5-428D-94D3-0C0AB0DAEFDC}" type="slidenum">
              <a:rPr lang="sv-SE" smtClean="0"/>
              <a:pPr/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2010-06-01</a:t>
            </a:r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www.snd.se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0437-37F5-428D-94D3-0C0AB0DAEFDC}" type="slidenum">
              <a:rPr lang="sv-SE" smtClean="0"/>
              <a:pPr/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2010-06-01</a:t>
            </a:r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www.snd.se</a:t>
            </a:r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0437-37F5-428D-94D3-0C0AB0DAEFDC}" type="slidenum">
              <a:rPr lang="sv-SE" smtClean="0"/>
              <a:pPr/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2010-06-01</a:t>
            </a:r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www.snd.se</a:t>
            </a:r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0437-37F5-428D-94D3-0C0AB0DAEFDC}" type="slidenum">
              <a:rPr lang="sv-SE" smtClean="0"/>
              <a:pPr/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2010-06-01</a:t>
            </a:r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www.snd.se</a:t>
            </a:r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0437-37F5-428D-94D3-0C0AB0DAEFDC}" type="slidenum">
              <a:rPr lang="sv-SE" smtClean="0"/>
              <a:pPr/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2010-06-01</a:t>
            </a:r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www.snd.se</a:t>
            </a:r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0437-37F5-428D-94D3-0C0AB0DAEFDC}" type="slidenum">
              <a:rPr lang="sv-SE" smtClean="0"/>
              <a:pPr/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2010-06-01</a:t>
            </a:r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www.snd.se</a:t>
            </a:r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0437-37F5-428D-94D3-0C0AB0DAEFDC}" type="slidenum">
              <a:rPr lang="sv-SE" smtClean="0"/>
              <a:pPr/>
              <a:t>‹#›</a:t>
            </a:fld>
            <a:endParaRPr lang="sv-S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 smtClean="0"/>
              <a:t>2010-06-01</a:t>
            </a:r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 smtClean="0"/>
              <a:t>www.snd.se</a:t>
            </a:r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30437-37F5-428D-94D3-0C0AB0DAEFDC}" type="slidenum">
              <a:rPr lang="sv-SE" smtClean="0"/>
              <a:pPr/>
              <a:t>‹#›</a:t>
            </a:fld>
            <a:endParaRPr lang="sv-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/>
          <p:cNvSpPr/>
          <p:nvPr/>
        </p:nvSpPr>
        <p:spPr>
          <a:xfrm>
            <a:off x="6000760" y="0"/>
            <a:ext cx="3143240" cy="714356"/>
          </a:xfrm>
          <a:prstGeom prst="rect">
            <a:avLst/>
          </a:prstGeom>
          <a:solidFill>
            <a:srgbClr val="004B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6" name="Bildobjekt 5" descr="VR_LOGO_CMYK_STAEND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" y="5904540"/>
            <a:ext cx="1000132" cy="953484"/>
          </a:xfrm>
          <a:prstGeom prst="rect">
            <a:avLst/>
          </a:prstGeom>
        </p:spPr>
      </p:pic>
      <p:pic>
        <p:nvPicPr>
          <p:cNvPr id="10" name="Bildobjekt 9" descr="snd_logo_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2" y="43421"/>
            <a:ext cx="5286412" cy="670935"/>
          </a:xfrm>
          <a:prstGeom prst="rect">
            <a:avLst/>
          </a:prstGeom>
        </p:spPr>
      </p:pic>
      <p:pic>
        <p:nvPicPr>
          <p:cNvPr id="12" name="Bildobjekt 11" descr="LO_GUeng_leftNEG.ep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74" y="185725"/>
            <a:ext cx="2643206" cy="360745"/>
          </a:xfrm>
          <a:prstGeom prst="rect">
            <a:avLst/>
          </a:prstGeom>
        </p:spPr>
      </p:pic>
      <p:pic>
        <p:nvPicPr>
          <p:cNvPr id="13" name="Bildobjekt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613400" y="3683000"/>
            <a:ext cx="2235200" cy="223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Rectangle 2"/>
          <p:cNvSpPr txBox="1">
            <a:spLocks/>
          </p:cNvSpPr>
          <p:nvPr/>
        </p:nvSpPr>
        <p:spPr>
          <a:xfrm>
            <a:off x="1143000" y="2209800"/>
            <a:ext cx="6705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 smtClean="0"/>
              <a:t>DDI </a:t>
            </a:r>
            <a:r>
              <a:rPr lang="en-US" sz="2400" b="1" dirty="0"/>
              <a:t>at the Swedish National Data Service</a:t>
            </a:r>
            <a:r>
              <a:rPr lang="en-US" sz="2400" dirty="0"/>
              <a:t>	</a:t>
            </a:r>
          </a:p>
        </p:txBody>
      </p:sp>
      <p:sp>
        <p:nvSpPr>
          <p:cNvPr id="14" name="Platshållare för sidfot 13"/>
          <p:cNvSpPr>
            <a:spLocks noGrp="1"/>
          </p:cNvSpPr>
          <p:nvPr>
            <p:ph type="ftr" sz="quarter" idx="11"/>
          </p:nvPr>
        </p:nvSpPr>
        <p:spPr>
          <a:xfrm>
            <a:off x="8072462" y="6492875"/>
            <a:ext cx="1071538" cy="365125"/>
          </a:xfrm>
        </p:spPr>
        <p:txBody>
          <a:bodyPr/>
          <a:lstStyle/>
          <a:p>
            <a:r>
              <a:rPr lang="sv-SE" dirty="0" err="1" smtClean="0"/>
              <a:t>www.snd.se</a:t>
            </a:r>
            <a:endParaRPr lang="sv-SE" dirty="0"/>
          </a:p>
        </p:txBody>
      </p:sp>
      <p:sp>
        <p:nvSpPr>
          <p:cNvPr id="17" name="Platshållare för datum 16"/>
          <p:cNvSpPr>
            <a:spLocks noGrp="1"/>
          </p:cNvSpPr>
          <p:nvPr>
            <p:ph type="dt" sz="half" idx="10"/>
          </p:nvPr>
        </p:nvSpPr>
        <p:spPr>
          <a:xfrm>
            <a:off x="7143768" y="6492875"/>
            <a:ext cx="971528" cy="365125"/>
          </a:xfrm>
        </p:spPr>
        <p:txBody>
          <a:bodyPr/>
          <a:lstStyle/>
          <a:p>
            <a:pPr lvl="0">
              <a:defRPr/>
            </a:pPr>
            <a:r>
              <a:rPr lang="sv-SE" dirty="0"/>
              <a:t>2010-12-08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objekt 5" descr="VR_LOGO_CMYK_STAEND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" y="5904540"/>
            <a:ext cx="1000132" cy="953484"/>
          </a:xfrm>
          <a:prstGeom prst="rect">
            <a:avLst/>
          </a:prstGeom>
        </p:spPr>
      </p:pic>
      <p:pic>
        <p:nvPicPr>
          <p:cNvPr id="10" name="Bildobjekt 9" descr="snd_logo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" y="43421"/>
            <a:ext cx="5286412" cy="670935"/>
          </a:xfrm>
          <a:prstGeom prst="rect">
            <a:avLst/>
          </a:prstGeom>
        </p:spPr>
      </p:pic>
      <p:sp>
        <p:nvSpPr>
          <p:cNvPr id="9" name="Rubrik 1"/>
          <p:cNvSpPr txBox="1">
            <a:spLocks/>
          </p:cNvSpPr>
          <p:nvPr/>
        </p:nvSpPr>
        <p:spPr>
          <a:xfrm>
            <a:off x="1143000" y="1219200"/>
            <a:ext cx="6705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old"/>
                <a:ea typeface="+mj-ea"/>
                <a:cs typeface="+mj-cs"/>
              </a:rPr>
              <a:t>Agenda</a:t>
            </a:r>
            <a:endParaRPr kumimoji="0" lang="en-US" sz="2000" i="0" u="none" strike="noStrike" kern="120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old"/>
              <a:ea typeface="+mj-ea"/>
              <a:cs typeface="+mj-cs"/>
            </a:endParaRPr>
          </a:p>
        </p:txBody>
      </p:sp>
      <p:sp>
        <p:nvSpPr>
          <p:cNvPr id="19" name="Platshållare för sidfot 13"/>
          <p:cNvSpPr txBox="1">
            <a:spLocks/>
          </p:cNvSpPr>
          <p:nvPr/>
        </p:nvSpPr>
        <p:spPr>
          <a:xfrm>
            <a:off x="8072462" y="6492875"/>
            <a:ext cx="1071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www.snd.se</a:t>
            </a:r>
            <a:endParaRPr kumimoji="0" lang="sv-SE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Platshållare för datum 16"/>
          <p:cNvSpPr txBox="1">
            <a:spLocks/>
          </p:cNvSpPr>
          <p:nvPr/>
        </p:nvSpPr>
        <p:spPr>
          <a:xfrm>
            <a:off x="7143768" y="6492875"/>
            <a:ext cx="971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2010-12-08</a:t>
            </a:r>
          </a:p>
        </p:txBody>
      </p:sp>
      <p:sp>
        <p:nvSpPr>
          <p:cNvPr id="21" name="Rektangel 20"/>
          <p:cNvSpPr/>
          <p:nvPr/>
        </p:nvSpPr>
        <p:spPr>
          <a:xfrm>
            <a:off x="6000760" y="0"/>
            <a:ext cx="3143240" cy="714356"/>
          </a:xfrm>
          <a:prstGeom prst="rect">
            <a:avLst/>
          </a:prstGeom>
          <a:solidFill>
            <a:srgbClr val="004B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22" name="Bildobjekt 21" descr="LO_GUeng_leftNEG.ep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74" y="185725"/>
            <a:ext cx="2643206" cy="360745"/>
          </a:xfrm>
          <a:prstGeom prst="rect">
            <a:avLst/>
          </a:prstGeom>
        </p:spPr>
      </p:pic>
      <p:sp>
        <p:nvSpPr>
          <p:cNvPr id="12" name="Platshållare för text 2"/>
          <p:cNvSpPr txBox="1">
            <a:spLocks/>
          </p:cNvSpPr>
          <p:nvPr/>
        </p:nvSpPr>
        <p:spPr>
          <a:xfrm>
            <a:off x="1143000" y="2286000"/>
            <a:ext cx="6705600" cy="3581400"/>
          </a:xfrm>
          <a:prstGeom prst="rect">
            <a:avLst/>
          </a:prstGeom>
        </p:spPr>
        <p:txBody>
          <a:bodyPr vert="horz" lIns="91440" tIns="45720" rIns="91440" bIns="45720" rtlCol="0" anchor="t"/>
          <a:lstStyle/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sv-SE" sz="140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</a:rPr>
              <a:t>About</a:t>
            </a:r>
            <a:r>
              <a:rPr kumimoji="0" lang="sv-SE" sz="140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</a:rPr>
              <a:t> SND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sv-SE" sz="1400" dirty="0" err="1" smtClean="0"/>
              <a:t>Current</a:t>
            </a:r>
            <a:r>
              <a:rPr lang="sv-SE" sz="1400" dirty="0" smtClean="0"/>
              <a:t> </a:t>
            </a:r>
            <a:r>
              <a:rPr lang="sv-SE" sz="1400" dirty="0" err="1" smtClean="0"/>
              <a:t>capturing</a:t>
            </a:r>
            <a:r>
              <a:rPr lang="sv-SE" sz="1400" dirty="0" smtClean="0"/>
              <a:t> </a:t>
            </a:r>
            <a:r>
              <a:rPr lang="sv-SE" sz="1400" dirty="0" err="1" smtClean="0"/>
              <a:t>of</a:t>
            </a:r>
            <a:r>
              <a:rPr lang="sv-SE" sz="1400" dirty="0" smtClean="0"/>
              <a:t> metadata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sv-SE" sz="1400" dirty="0" smtClean="0"/>
              <a:t>Metadata </a:t>
            </a:r>
            <a:r>
              <a:rPr lang="sv-SE" sz="1400" dirty="0" err="1" smtClean="0"/>
              <a:t>flow</a:t>
            </a:r>
            <a:r>
              <a:rPr lang="sv-SE" sz="1400" dirty="0" smtClean="0"/>
              <a:t> </a:t>
            </a:r>
            <a:r>
              <a:rPr lang="sv-SE" sz="1400" dirty="0" err="1" smtClean="0"/>
              <a:t>within</a:t>
            </a:r>
            <a:r>
              <a:rPr lang="sv-SE" sz="1400" dirty="0" smtClean="0"/>
              <a:t> SND – </a:t>
            </a:r>
            <a:r>
              <a:rPr lang="sv-SE" sz="1400" dirty="0" err="1" smtClean="0"/>
              <a:t>Today</a:t>
            </a:r>
            <a:endParaRPr lang="sv-SE" sz="1400" dirty="0" smtClean="0"/>
          </a:p>
          <a:p>
            <a:pPr marL="171450" indent="-171450">
              <a:buFontTx/>
              <a:buChar char="-"/>
              <a:defRPr/>
            </a:pPr>
            <a:r>
              <a:rPr lang="sv-SE" sz="1400" dirty="0" smtClean="0"/>
              <a:t>Metadata </a:t>
            </a:r>
            <a:r>
              <a:rPr lang="sv-SE" sz="1400" dirty="0" err="1" smtClean="0"/>
              <a:t>flow</a:t>
            </a:r>
            <a:r>
              <a:rPr lang="sv-SE" sz="1400" dirty="0" smtClean="0"/>
              <a:t> </a:t>
            </a:r>
            <a:r>
              <a:rPr lang="sv-SE" sz="1400" dirty="0" err="1" smtClean="0"/>
              <a:t>within</a:t>
            </a:r>
            <a:r>
              <a:rPr lang="sv-SE" sz="1400" dirty="0" smtClean="0"/>
              <a:t> SND – </a:t>
            </a:r>
            <a:r>
              <a:rPr lang="sv-SE" sz="1400" dirty="0" err="1" smtClean="0"/>
              <a:t>Future</a:t>
            </a:r>
            <a:r>
              <a:rPr lang="sv-SE" sz="1400" dirty="0" smtClean="0"/>
              <a:t> plans</a:t>
            </a:r>
          </a:p>
          <a:p>
            <a:pPr marL="171450" indent="-171450">
              <a:buFontTx/>
              <a:buChar char="-"/>
              <a:defRPr/>
            </a:pPr>
            <a:r>
              <a:rPr lang="sv-SE" sz="1400" dirty="0" smtClean="0"/>
              <a:t>XSLT </a:t>
            </a:r>
            <a:r>
              <a:rPr lang="sv-SE" sz="1400" dirty="0" err="1" smtClean="0"/>
              <a:t>Stylesheets</a:t>
            </a:r>
            <a:r>
              <a:rPr lang="sv-SE" sz="1400" dirty="0" smtClean="0"/>
              <a:t> for </a:t>
            </a:r>
            <a:r>
              <a:rPr lang="sv-SE" sz="1400" dirty="0" err="1" smtClean="0"/>
              <a:t>creation</a:t>
            </a:r>
            <a:r>
              <a:rPr lang="sv-SE" sz="1400" dirty="0" smtClean="0"/>
              <a:t> </a:t>
            </a:r>
            <a:r>
              <a:rPr lang="sv-SE" sz="1400" dirty="0" err="1" smtClean="0"/>
              <a:t>of</a:t>
            </a:r>
            <a:r>
              <a:rPr lang="sv-SE" sz="1400" dirty="0" smtClean="0"/>
              <a:t> </a:t>
            </a:r>
            <a:r>
              <a:rPr lang="sv-SE" sz="1400" dirty="0" err="1" smtClean="0"/>
              <a:t>codebooks</a:t>
            </a:r>
            <a:endParaRPr lang="sv-SE" sz="1400" dirty="0" smtClean="0"/>
          </a:p>
          <a:p>
            <a:pPr marL="171450" indent="-171450">
              <a:buFontTx/>
              <a:buChar char="-"/>
              <a:defRPr/>
            </a:pPr>
            <a:r>
              <a:rPr lang="sv-SE" sz="1400" dirty="0" err="1" smtClean="0"/>
              <a:t>Using</a:t>
            </a:r>
            <a:r>
              <a:rPr lang="sv-SE" sz="1400" dirty="0" smtClean="0"/>
              <a:t> DDI for metadata </a:t>
            </a:r>
            <a:r>
              <a:rPr lang="sv-SE" sz="1400" dirty="0" err="1" smtClean="0"/>
              <a:t>harvesting</a:t>
            </a:r>
            <a:r>
              <a:rPr lang="sv-SE" sz="1400" dirty="0" smtClean="0"/>
              <a:t> from </a:t>
            </a:r>
            <a:r>
              <a:rPr lang="sv-SE" sz="1400" dirty="0" err="1" smtClean="0"/>
              <a:t>external</a:t>
            </a:r>
            <a:r>
              <a:rPr lang="sv-SE" sz="1400" dirty="0" smtClean="0"/>
              <a:t> </a:t>
            </a:r>
            <a:r>
              <a:rPr lang="sv-SE" sz="1400" dirty="0" err="1" smtClean="0"/>
              <a:t>agencies</a:t>
            </a:r>
            <a:endParaRPr lang="sv-SE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objekt 5" descr="VR_LOGO_CMYK_STAEND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" y="5904540"/>
            <a:ext cx="1000132" cy="953484"/>
          </a:xfrm>
          <a:prstGeom prst="rect">
            <a:avLst/>
          </a:prstGeom>
        </p:spPr>
      </p:pic>
      <p:pic>
        <p:nvPicPr>
          <p:cNvPr id="10" name="Bildobjekt 9" descr="snd_logo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" y="43421"/>
            <a:ext cx="5286412" cy="670935"/>
          </a:xfrm>
          <a:prstGeom prst="rect">
            <a:avLst/>
          </a:prstGeom>
        </p:spPr>
      </p:pic>
      <p:sp>
        <p:nvSpPr>
          <p:cNvPr id="15" name="Platshållare för sidfot 13"/>
          <p:cNvSpPr txBox="1">
            <a:spLocks/>
          </p:cNvSpPr>
          <p:nvPr/>
        </p:nvSpPr>
        <p:spPr>
          <a:xfrm>
            <a:off x="8072462" y="6492875"/>
            <a:ext cx="1071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www.snd.se</a:t>
            </a:r>
            <a:endParaRPr kumimoji="0" lang="sv-SE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Rektangel 16"/>
          <p:cNvSpPr/>
          <p:nvPr/>
        </p:nvSpPr>
        <p:spPr>
          <a:xfrm>
            <a:off x="6000760" y="0"/>
            <a:ext cx="3143240" cy="714356"/>
          </a:xfrm>
          <a:prstGeom prst="rect">
            <a:avLst/>
          </a:prstGeom>
          <a:solidFill>
            <a:srgbClr val="004B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18" name="Bildobjekt 17" descr="LO_GUeng_leftNEG.ep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74" y="185725"/>
            <a:ext cx="2643206" cy="360745"/>
          </a:xfrm>
          <a:prstGeom prst="rect">
            <a:avLst/>
          </a:prstGeom>
        </p:spPr>
      </p:pic>
      <p:sp>
        <p:nvSpPr>
          <p:cNvPr id="11" name="Rektangel 10"/>
          <p:cNvSpPr/>
          <p:nvPr/>
        </p:nvSpPr>
        <p:spPr>
          <a:xfrm>
            <a:off x="1115616" y="1516722"/>
            <a:ext cx="32147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Arial Bold"/>
                <a:ea typeface="ＭＳ Ｐゴシック" pitchFamily="-65" charset="-128"/>
                <a:cs typeface="Arial Bold"/>
              </a:rPr>
              <a:t>About SND</a:t>
            </a:r>
          </a:p>
        </p:txBody>
      </p:sp>
      <p:sp>
        <p:nvSpPr>
          <p:cNvPr id="12" name="Platshållare för text 2"/>
          <p:cNvSpPr txBox="1">
            <a:spLocks/>
          </p:cNvSpPr>
          <p:nvPr/>
        </p:nvSpPr>
        <p:spPr>
          <a:xfrm>
            <a:off x="1143000" y="2286000"/>
            <a:ext cx="6705600" cy="3581400"/>
          </a:xfrm>
          <a:prstGeom prst="rect">
            <a:avLst/>
          </a:prstGeom>
        </p:spPr>
        <p:txBody>
          <a:bodyPr vert="horz" lIns="91440" tIns="45720" rIns="91440" bIns="45720" rtlCol="0" anchor="t"/>
          <a:lstStyle/>
          <a:p>
            <a:r>
              <a:rPr lang="en-US" sz="1400" dirty="0"/>
              <a:t>SND is an initiative of the Swedish research council, it is situated at University of Gothenburg and financed jointly by the research council and the university</a:t>
            </a:r>
          </a:p>
          <a:p>
            <a:pPr marL="171450" indent="-171450">
              <a:buFont typeface="Arial" pitchFamily="34" charset="0"/>
              <a:buChar char="•"/>
            </a:pPr>
            <a:endParaRPr lang="en-US" sz="1400" dirty="0"/>
          </a:p>
          <a:p>
            <a:r>
              <a:rPr lang="en-US" sz="1400" dirty="0"/>
              <a:t>SND focuses on:</a:t>
            </a:r>
          </a:p>
          <a:p>
            <a:pPr marL="285750" indent="-285750">
              <a:buFontTx/>
              <a:buChar char="-"/>
            </a:pPr>
            <a:r>
              <a:rPr lang="en-US" sz="1400" dirty="0" smtClean="0"/>
              <a:t>Data </a:t>
            </a:r>
            <a:r>
              <a:rPr lang="en-US" sz="1400" dirty="0"/>
              <a:t>collection and dissemination </a:t>
            </a:r>
            <a:endParaRPr lang="en-US" sz="1400" dirty="0" smtClean="0"/>
          </a:p>
          <a:p>
            <a:pPr marL="285750" indent="-285750">
              <a:buFontTx/>
              <a:buChar char="-"/>
            </a:pPr>
            <a:r>
              <a:rPr lang="en-US" sz="1400" dirty="0" smtClean="0"/>
              <a:t>Data </a:t>
            </a:r>
            <a:r>
              <a:rPr lang="en-US" sz="1400" dirty="0"/>
              <a:t>protection, documentation and availability </a:t>
            </a:r>
          </a:p>
          <a:p>
            <a:pPr marL="285750" indent="-285750">
              <a:buFontTx/>
              <a:buChar char="-"/>
            </a:pPr>
            <a:r>
              <a:rPr lang="en-US" sz="1400" dirty="0" smtClean="0"/>
              <a:t>The </a:t>
            </a:r>
            <a:r>
              <a:rPr lang="en-US" sz="1400" dirty="0"/>
              <a:t>development of standards and tools used for documentation and making data available </a:t>
            </a:r>
          </a:p>
          <a:p>
            <a:pPr marL="285750" indent="-285750">
              <a:buFontTx/>
              <a:buChar char="-"/>
            </a:pPr>
            <a:r>
              <a:rPr lang="en-US" sz="1400" dirty="0" smtClean="0"/>
              <a:t>Legal </a:t>
            </a:r>
            <a:r>
              <a:rPr lang="en-US" sz="1400" dirty="0"/>
              <a:t>and ethical aspects when databases are established and also in the management of data and its availability </a:t>
            </a:r>
            <a:endParaRPr lang="en-US" sz="1400" dirty="0" smtClean="0"/>
          </a:p>
          <a:p>
            <a:pPr marL="285750" indent="-285750">
              <a:buFontTx/>
              <a:buChar char="-"/>
            </a:pPr>
            <a:r>
              <a:rPr lang="en-US" sz="1400" dirty="0" smtClean="0"/>
              <a:t>Support </a:t>
            </a:r>
            <a:r>
              <a:rPr lang="en-US" sz="1400" dirty="0"/>
              <a:t>and guidance during the research process </a:t>
            </a:r>
            <a:endParaRPr lang="en-US" sz="1400" dirty="0" smtClean="0"/>
          </a:p>
          <a:p>
            <a:pPr marL="285750" indent="-285750">
              <a:buFontTx/>
              <a:buChar char="-"/>
            </a:pPr>
            <a:r>
              <a:rPr lang="en-US" sz="1400" dirty="0" smtClean="0"/>
              <a:t>Participation </a:t>
            </a:r>
            <a:r>
              <a:rPr lang="en-US" sz="1400" dirty="0"/>
              <a:t>in and support for the establishment of competence within secondary analysis of the data </a:t>
            </a:r>
            <a:endParaRPr lang="en-US" sz="1400" dirty="0" smtClean="0"/>
          </a:p>
          <a:p>
            <a:endParaRPr lang="en-US" sz="1400" i="1" dirty="0"/>
          </a:p>
        </p:txBody>
      </p:sp>
      <p:sp>
        <p:nvSpPr>
          <p:cNvPr id="13" name="Platshållare för datum 16"/>
          <p:cNvSpPr txBox="1">
            <a:spLocks/>
          </p:cNvSpPr>
          <p:nvPr/>
        </p:nvSpPr>
        <p:spPr>
          <a:xfrm>
            <a:off x="7143768" y="6492875"/>
            <a:ext cx="971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2010-12-08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objekt 5" descr="VR_LOGO_CMYK_STAEND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" y="5904540"/>
            <a:ext cx="1000132" cy="953484"/>
          </a:xfrm>
          <a:prstGeom prst="rect">
            <a:avLst/>
          </a:prstGeom>
        </p:spPr>
      </p:pic>
      <p:pic>
        <p:nvPicPr>
          <p:cNvPr id="10" name="Bildobjekt 9" descr="snd_logo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" y="43421"/>
            <a:ext cx="5286412" cy="670935"/>
          </a:xfrm>
          <a:prstGeom prst="rect">
            <a:avLst/>
          </a:prstGeom>
        </p:spPr>
      </p:pic>
      <p:sp>
        <p:nvSpPr>
          <p:cNvPr id="8" name="Platshållare för text 2"/>
          <p:cNvSpPr txBox="1">
            <a:spLocks/>
          </p:cNvSpPr>
          <p:nvPr/>
        </p:nvSpPr>
        <p:spPr>
          <a:xfrm>
            <a:off x="1143000" y="2286000"/>
            <a:ext cx="6705600" cy="3581400"/>
          </a:xfrm>
          <a:prstGeom prst="rect">
            <a:avLst/>
          </a:prstGeom>
        </p:spPr>
        <p:txBody>
          <a:bodyPr vert="horz" lIns="91440" tIns="45720" rIns="91440" bIns="45720"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1400" b="1" dirty="0" err="1" smtClean="0"/>
              <a:t>Study</a:t>
            </a:r>
            <a:r>
              <a:rPr lang="sv-SE" sz="1400" b="1" dirty="0" smtClean="0"/>
              <a:t> </a:t>
            </a:r>
            <a:r>
              <a:rPr lang="sv-SE" sz="1400" b="1" dirty="0" err="1" smtClean="0"/>
              <a:t>level</a:t>
            </a:r>
            <a:r>
              <a:rPr lang="sv-SE" sz="1400" b="1" dirty="0" smtClean="0"/>
              <a:t> </a:t>
            </a:r>
            <a:r>
              <a:rPr lang="sv-SE" sz="1400" b="1" dirty="0" err="1" smtClean="0"/>
              <a:t>documentation</a:t>
            </a:r>
            <a:endParaRPr kumimoji="0" lang="sv-SE" sz="1400" b="1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v-SE" sz="1400" b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400" b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</a:rPr>
              <a:t>SIMS</a:t>
            </a:r>
            <a:r>
              <a:rPr kumimoji="0" lang="sv-SE" sz="1400" b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</a:rPr>
              <a:t> – </a:t>
            </a:r>
            <a:r>
              <a:rPr kumimoji="0" lang="sv-SE" sz="1400" b="0" u="none" strike="noStrike" kern="1200" cap="none" spc="0" normalizeH="0" noProof="0" dirty="0" err="1" smtClean="0">
                <a:ln>
                  <a:noFill/>
                </a:ln>
                <a:effectLst/>
                <a:uLnTx/>
                <a:uFillTx/>
              </a:rPr>
              <a:t>SND’s</a:t>
            </a:r>
            <a:r>
              <a:rPr kumimoji="0" lang="sv-SE" sz="1400" b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sv-SE" sz="1400" b="0" u="none" strike="noStrike" kern="1200" cap="none" spc="0" normalizeH="0" noProof="0" dirty="0" err="1" smtClean="0">
                <a:ln>
                  <a:noFill/>
                </a:ln>
                <a:effectLst/>
                <a:uLnTx/>
                <a:uFillTx/>
              </a:rPr>
              <a:t>Internal</a:t>
            </a:r>
            <a:r>
              <a:rPr kumimoji="0" lang="sv-SE" sz="1400" b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</a:rPr>
              <a:t> Management System</a:t>
            </a:r>
          </a:p>
          <a:p>
            <a:pPr marL="628650" lvl="1" indent="-171450">
              <a:buFontTx/>
              <a:buChar char="-"/>
              <a:defRPr/>
            </a:pPr>
            <a:r>
              <a:rPr lang="sv-SE" sz="1400" noProof="0" dirty="0" smtClean="0"/>
              <a:t>In-house </a:t>
            </a:r>
            <a:r>
              <a:rPr lang="sv-SE" sz="1400" noProof="0" dirty="0" err="1" smtClean="0"/>
              <a:t>developed</a:t>
            </a:r>
            <a:r>
              <a:rPr lang="sv-SE" sz="1400" noProof="0" dirty="0" smtClean="0"/>
              <a:t> system</a:t>
            </a:r>
            <a:endParaRPr kumimoji="0" lang="sv-SE" sz="1400" b="0" u="none" strike="noStrike" kern="1200" cap="none" spc="0" normalizeH="0" noProof="0" dirty="0" smtClean="0">
              <a:ln>
                <a:noFill/>
              </a:ln>
              <a:effectLst/>
              <a:uLnTx/>
              <a:uFillTx/>
            </a:endParaRPr>
          </a:p>
          <a:p>
            <a:pPr marL="628650" lvl="1" indent="-171450">
              <a:buFontTx/>
              <a:buChar char="-"/>
              <a:defRPr/>
            </a:pPr>
            <a:r>
              <a:rPr lang="sv-SE" sz="1400" noProof="0" dirty="0" smtClean="0"/>
              <a:t>DDI </a:t>
            </a:r>
            <a:r>
              <a:rPr lang="sv-SE" sz="1400" noProof="0" dirty="0" err="1" smtClean="0"/>
              <a:t>based</a:t>
            </a:r>
            <a:r>
              <a:rPr lang="sv-SE" sz="1400" noProof="0" dirty="0" smtClean="0"/>
              <a:t> (combination </a:t>
            </a:r>
            <a:r>
              <a:rPr lang="sv-SE" sz="1400" noProof="0" dirty="0" err="1" smtClean="0"/>
              <a:t>of</a:t>
            </a:r>
            <a:r>
              <a:rPr lang="sv-SE" sz="1400" noProof="0" dirty="0" smtClean="0"/>
              <a:t> versions 2 and 3)</a:t>
            </a:r>
          </a:p>
          <a:p>
            <a:pPr marL="628650" lvl="1" indent="-171450">
              <a:buFontTx/>
              <a:buChar char="-"/>
              <a:defRPr/>
            </a:pPr>
            <a:r>
              <a:rPr lang="sv-SE" sz="1400" noProof="0" dirty="0" smtClean="0"/>
              <a:t>Exports and imports DDI 2, </a:t>
            </a:r>
            <a:r>
              <a:rPr lang="sv-SE" sz="1400" dirty="0" smtClean="0"/>
              <a:t>Exports parts </a:t>
            </a:r>
            <a:r>
              <a:rPr lang="sv-SE" sz="1400" dirty="0" err="1" smtClean="0"/>
              <a:t>of</a:t>
            </a:r>
            <a:r>
              <a:rPr lang="sv-SE" sz="1400" dirty="0" smtClean="0"/>
              <a:t> DDI 3</a:t>
            </a:r>
          </a:p>
          <a:p>
            <a:pPr marL="628650" lvl="1" indent="-171450">
              <a:buFontTx/>
              <a:buChar char="-"/>
              <a:defRPr/>
            </a:pPr>
            <a:r>
              <a:rPr lang="sv-SE" sz="1400" noProof="0" dirty="0" err="1" smtClean="0"/>
              <a:t>Contains</a:t>
            </a:r>
            <a:r>
              <a:rPr lang="sv-SE" sz="1400" noProof="0" dirty="0" smtClean="0"/>
              <a:t> </a:t>
            </a:r>
            <a:r>
              <a:rPr lang="sv-SE" sz="1400" noProof="0" dirty="0" err="1" smtClean="0"/>
              <a:t>documentation</a:t>
            </a:r>
            <a:r>
              <a:rPr lang="sv-SE" sz="1400" noProof="0" dirty="0" smtClean="0"/>
              <a:t> </a:t>
            </a:r>
            <a:r>
              <a:rPr lang="sv-SE" sz="1400" noProof="0" dirty="0" err="1" smtClean="0"/>
              <a:t>of</a:t>
            </a:r>
            <a:r>
              <a:rPr lang="sv-SE" sz="1400" noProof="0" dirty="0" smtClean="0"/>
              <a:t> </a:t>
            </a:r>
            <a:r>
              <a:rPr lang="sv-SE" sz="1400" noProof="0" dirty="0" err="1" smtClean="0"/>
              <a:t>study</a:t>
            </a:r>
            <a:r>
              <a:rPr lang="sv-SE" sz="1400" noProof="0" dirty="0" smtClean="0"/>
              <a:t> and </a:t>
            </a:r>
            <a:r>
              <a:rPr lang="sv-SE" sz="1400" noProof="0" dirty="0" err="1" smtClean="0"/>
              <a:t>variable</a:t>
            </a:r>
            <a:r>
              <a:rPr lang="sv-SE" sz="1400" noProof="0" dirty="0" smtClean="0"/>
              <a:t> </a:t>
            </a:r>
            <a:r>
              <a:rPr lang="sv-SE" sz="1400" noProof="0" dirty="0" err="1" smtClean="0"/>
              <a:t>level</a:t>
            </a:r>
            <a:r>
              <a:rPr lang="sv-SE" sz="1400" noProof="0" dirty="0" smtClean="0"/>
              <a:t> elements, </a:t>
            </a:r>
            <a:r>
              <a:rPr lang="sv-SE" sz="1400" noProof="0" dirty="0" err="1" smtClean="0"/>
              <a:t>other</a:t>
            </a:r>
            <a:r>
              <a:rPr lang="sv-SE" sz="1400" noProof="0" dirty="0" smtClean="0"/>
              <a:t> materials, </a:t>
            </a:r>
            <a:r>
              <a:rPr lang="sv-SE" sz="1400" noProof="0" dirty="0" err="1" smtClean="0"/>
              <a:t>publications</a:t>
            </a:r>
            <a:r>
              <a:rPr lang="sv-SE" sz="1400" noProof="0" dirty="0" smtClean="0"/>
              <a:t>, </a:t>
            </a:r>
            <a:r>
              <a:rPr lang="sv-SE" sz="1400" noProof="0" dirty="0" err="1" smtClean="0"/>
              <a:t>projects</a:t>
            </a:r>
            <a:r>
              <a:rPr lang="sv-SE" sz="1400" noProof="0" dirty="0" smtClean="0"/>
              <a:t>, series, </a:t>
            </a:r>
            <a:r>
              <a:rPr lang="sv-SE" sz="1400" noProof="0" dirty="0" err="1" smtClean="0"/>
              <a:t>contacts</a:t>
            </a:r>
            <a:r>
              <a:rPr lang="sv-SE" sz="1400" noProof="0" dirty="0" smtClean="0"/>
              <a:t>, organisations, disseminations and </a:t>
            </a:r>
            <a:r>
              <a:rPr lang="sv-SE" sz="1400" noProof="0" dirty="0" err="1" smtClean="0"/>
              <a:t>more</a:t>
            </a:r>
            <a:endParaRPr lang="sv-SE" sz="1400" noProof="0" dirty="0" smtClean="0"/>
          </a:p>
          <a:p>
            <a:pPr marL="628650" lvl="1" indent="-171450">
              <a:buFontTx/>
              <a:buChar char="-"/>
              <a:defRPr/>
            </a:pPr>
            <a:endParaRPr lang="sv-SE" sz="1400" dirty="0"/>
          </a:p>
          <a:p>
            <a:pPr marL="628650" lvl="1" indent="-171450">
              <a:buFontTx/>
              <a:buChar char="-"/>
              <a:defRPr/>
            </a:pPr>
            <a:r>
              <a:rPr lang="sv-SE" sz="1400" noProof="0" dirty="0" smtClean="0"/>
              <a:t>Drawback. </a:t>
            </a:r>
            <a:r>
              <a:rPr lang="sv-SE" sz="1400" noProof="0" dirty="0" err="1" smtClean="0"/>
              <a:t>Can’t</a:t>
            </a:r>
            <a:r>
              <a:rPr lang="sv-SE" sz="1400" noProof="0" dirty="0" smtClean="0"/>
              <a:t> import metadata from SPSS</a:t>
            </a:r>
          </a:p>
          <a:p>
            <a:pPr marL="171450" indent="-171450">
              <a:buFontTx/>
              <a:buChar char="-"/>
              <a:defRPr/>
            </a:pPr>
            <a:endParaRPr lang="sv-SE" sz="1400" dirty="0"/>
          </a:p>
          <a:p>
            <a:pPr>
              <a:defRPr/>
            </a:pPr>
            <a:r>
              <a:rPr lang="sv-SE" sz="1400" b="1" noProof="0" dirty="0" err="1" smtClean="0"/>
              <a:t>Variable</a:t>
            </a:r>
            <a:r>
              <a:rPr lang="sv-SE" sz="1400" b="1" noProof="0" dirty="0" smtClean="0"/>
              <a:t> </a:t>
            </a:r>
            <a:r>
              <a:rPr lang="sv-SE" sz="1400" b="1" noProof="0" dirty="0" err="1" smtClean="0"/>
              <a:t>level</a:t>
            </a:r>
            <a:r>
              <a:rPr lang="sv-SE" sz="1400" b="1" noProof="0" dirty="0" smtClean="0"/>
              <a:t> </a:t>
            </a:r>
            <a:r>
              <a:rPr lang="sv-SE" sz="1400" b="1" noProof="0" dirty="0" err="1" smtClean="0"/>
              <a:t>documentation</a:t>
            </a:r>
            <a:endParaRPr lang="sv-SE" sz="1400" noProof="0" dirty="0"/>
          </a:p>
          <a:p>
            <a:pPr>
              <a:defRPr/>
            </a:pPr>
            <a:endParaRPr lang="sv-SE" sz="1400" b="1" dirty="0"/>
          </a:p>
          <a:p>
            <a:pPr>
              <a:defRPr/>
            </a:pPr>
            <a:r>
              <a:rPr lang="sv-SE" sz="1400" dirty="0" err="1" smtClean="0"/>
              <a:t>Nesstar</a:t>
            </a:r>
            <a:endParaRPr lang="sv-SE" sz="1400" noProof="0" dirty="0" smtClean="0"/>
          </a:p>
        </p:txBody>
      </p:sp>
      <p:sp>
        <p:nvSpPr>
          <p:cNvPr id="27" name="Platshållare för sidfot 13"/>
          <p:cNvSpPr txBox="1">
            <a:spLocks/>
          </p:cNvSpPr>
          <p:nvPr/>
        </p:nvSpPr>
        <p:spPr>
          <a:xfrm>
            <a:off x="8072462" y="6492875"/>
            <a:ext cx="1071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www.snd.se</a:t>
            </a:r>
            <a:endParaRPr kumimoji="0" lang="sv-SE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" name="Rektangel 28"/>
          <p:cNvSpPr/>
          <p:nvPr/>
        </p:nvSpPr>
        <p:spPr>
          <a:xfrm>
            <a:off x="6000760" y="0"/>
            <a:ext cx="3143240" cy="714356"/>
          </a:xfrm>
          <a:prstGeom prst="rect">
            <a:avLst/>
          </a:prstGeom>
          <a:solidFill>
            <a:srgbClr val="004B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30" name="Bildobjekt 29" descr="LO_GUeng_leftNEG.ep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74" y="185725"/>
            <a:ext cx="2643206" cy="360745"/>
          </a:xfrm>
          <a:prstGeom prst="rect">
            <a:avLst/>
          </a:prstGeom>
        </p:spPr>
      </p:pic>
      <p:sp>
        <p:nvSpPr>
          <p:cNvPr id="24" name="Rektangel 23"/>
          <p:cNvSpPr/>
          <p:nvPr/>
        </p:nvSpPr>
        <p:spPr>
          <a:xfrm>
            <a:off x="1115615" y="1516722"/>
            <a:ext cx="509945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Arial Bold"/>
                <a:ea typeface="ＭＳ Ｐゴシック" pitchFamily="-65" charset="-128"/>
                <a:cs typeface="Arial Bold"/>
              </a:rPr>
              <a:t>Current capturing of metadata</a:t>
            </a:r>
          </a:p>
        </p:txBody>
      </p:sp>
      <p:sp>
        <p:nvSpPr>
          <p:cNvPr id="12" name="Platshållare för datum 16"/>
          <p:cNvSpPr txBox="1">
            <a:spLocks/>
          </p:cNvSpPr>
          <p:nvPr/>
        </p:nvSpPr>
        <p:spPr>
          <a:xfrm>
            <a:off x="7143768" y="6492875"/>
            <a:ext cx="971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2010-12-08</a:t>
            </a:r>
          </a:p>
        </p:txBody>
      </p:sp>
      <p:pic>
        <p:nvPicPr>
          <p:cNvPr id="1027" name="Picture 3" descr="Z:\bildbank\person som jobbar med SPSS\Leveransklar\JPEG\SPSS 2(mindre)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4356860"/>
            <a:ext cx="2276326" cy="1681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objekt 5" descr="VR_LOGO_CMYK_STAEND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" y="5904540"/>
            <a:ext cx="1000132" cy="953484"/>
          </a:xfrm>
          <a:prstGeom prst="rect">
            <a:avLst/>
          </a:prstGeom>
        </p:spPr>
      </p:pic>
      <p:pic>
        <p:nvPicPr>
          <p:cNvPr id="10" name="Bildobjekt 9" descr="snd_logo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" y="43421"/>
            <a:ext cx="5286412" cy="670935"/>
          </a:xfrm>
          <a:prstGeom prst="rect">
            <a:avLst/>
          </a:prstGeom>
        </p:spPr>
      </p:pic>
      <p:sp>
        <p:nvSpPr>
          <p:cNvPr id="15" name="Platshållare för sidfot 13"/>
          <p:cNvSpPr txBox="1">
            <a:spLocks/>
          </p:cNvSpPr>
          <p:nvPr/>
        </p:nvSpPr>
        <p:spPr>
          <a:xfrm>
            <a:off x="8072462" y="6492875"/>
            <a:ext cx="1071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www.snd.se</a:t>
            </a:r>
            <a:endParaRPr kumimoji="0" lang="sv-SE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Rektangel 16"/>
          <p:cNvSpPr/>
          <p:nvPr/>
        </p:nvSpPr>
        <p:spPr>
          <a:xfrm>
            <a:off x="6000760" y="0"/>
            <a:ext cx="3143240" cy="714356"/>
          </a:xfrm>
          <a:prstGeom prst="rect">
            <a:avLst/>
          </a:prstGeom>
          <a:solidFill>
            <a:srgbClr val="004B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18" name="Bildobjekt 17" descr="LO_GUeng_leftNEG.ep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74" y="185725"/>
            <a:ext cx="2643206" cy="360745"/>
          </a:xfrm>
          <a:prstGeom prst="rect">
            <a:avLst/>
          </a:prstGeom>
        </p:spPr>
      </p:pic>
      <p:sp>
        <p:nvSpPr>
          <p:cNvPr id="11" name="Rektangel 10"/>
          <p:cNvSpPr/>
          <p:nvPr/>
        </p:nvSpPr>
        <p:spPr>
          <a:xfrm>
            <a:off x="1115616" y="1516722"/>
            <a:ext cx="51845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Arial Bold"/>
                <a:ea typeface="ＭＳ Ｐゴシック" pitchFamily="-65" charset="-128"/>
                <a:cs typeface="Arial Bold"/>
              </a:rPr>
              <a:t>Metadata flow within SND – Today</a:t>
            </a:r>
          </a:p>
        </p:txBody>
      </p:sp>
      <p:sp>
        <p:nvSpPr>
          <p:cNvPr id="13" name="Platshållare för datum 16"/>
          <p:cNvSpPr txBox="1">
            <a:spLocks/>
          </p:cNvSpPr>
          <p:nvPr/>
        </p:nvSpPr>
        <p:spPr>
          <a:xfrm>
            <a:off x="7143768" y="6492875"/>
            <a:ext cx="971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2010-12-08</a:t>
            </a:r>
          </a:p>
        </p:txBody>
      </p:sp>
      <p:sp>
        <p:nvSpPr>
          <p:cNvPr id="2" name="Rektangel med rundade hörn 1"/>
          <p:cNvSpPr/>
          <p:nvPr/>
        </p:nvSpPr>
        <p:spPr>
          <a:xfrm>
            <a:off x="2339753" y="2348880"/>
            <a:ext cx="1224136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 smtClean="0"/>
              <a:t>Nesstar</a:t>
            </a:r>
            <a:endParaRPr lang="sv-SE" dirty="0" smtClean="0"/>
          </a:p>
        </p:txBody>
      </p:sp>
      <p:sp>
        <p:nvSpPr>
          <p:cNvPr id="14" name="Rektangel med rundade hörn 13"/>
          <p:cNvSpPr/>
          <p:nvPr/>
        </p:nvSpPr>
        <p:spPr>
          <a:xfrm>
            <a:off x="5312597" y="2348880"/>
            <a:ext cx="1224136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smtClean="0"/>
              <a:t>SIMS</a:t>
            </a:r>
          </a:p>
        </p:txBody>
      </p:sp>
      <p:cxnSp>
        <p:nvCxnSpPr>
          <p:cNvPr id="4" name="Rak pil 3"/>
          <p:cNvCxnSpPr>
            <a:stCxn id="2" idx="3"/>
            <a:endCxn id="14" idx="1"/>
          </p:cNvCxnSpPr>
          <p:nvPr/>
        </p:nvCxnSpPr>
        <p:spPr>
          <a:xfrm>
            <a:off x="3563889" y="2636912"/>
            <a:ext cx="1748708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ruta 4"/>
          <p:cNvSpPr txBox="1"/>
          <p:nvPr/>
        </p:nvSpPr>
        <p:spPr>
          <a:xfrm>
            <a:off x="4283968" y="2575937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dirty="0" smtClean="0">
                <a:solidFill>
                  <a:schemeClr val="tx2"/>
                </a:solidFill>
              </a:rPr>
              <a:t>DDI2</a:t>
            </a:r>
            <a:endParaRPr lang="sv-SE" sz="1200" dirty="0">
              <a:solidFill>
                <a:schemeClr val="tx2"/>
              </a:solidFill>
            </a:endParaRPr>
          </a:p>
        </p:txBody>
      </p:sp>
      <p:sp>
        <p:nvSpPr>
          <p:cNvPr id="16" name="Rektangel med rundade hörn 15"/>
          <p:cNvSpPr/>
          <p:nvPr/>
        </p:nvSpPr>
        <p:spPr>
          <a:xfrm>
            <a:off x="5312596" y="3717032"/>
            <a:ext cx="1224137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 smtClean="0"/>
              <a:t>eXist</a:t>
            </a:r>
            <a:endParaRPr lang="sv-SE" dirty="0" smtClean="0"/>
          </a:p>
        </p:txBody>
      </p:sp>
      <p:cxnSp>
        <p:nvCxnSpPr>
          <p:cNvPr id="9" name="Rak pil 8"/>
          <p:cNvCxnSpPr>
            <a:stCxn id="14" idx="2"/>
            <a:endCxn id="16" idx="0"/>
          </p:cNvCxnSpPr>
          <p:nvPr/>
        </p:nvCxnSpPr>
        <p:spPr>
          <a:xfrm>
            <a:off x="5924665" y="2924944"/>
            <a:ext cx="0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ruta 21"/>
          <p:cNvSpPr txBox="1"/>
          <p:nvPr/>
        </p:nvSpPr>
        <p:spPr>
          <a:xfrm>
            <a:off x="5868144" y="3182488"/>
            <a:ext cx="1737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dirty="0" smtClean="0">
                <a:solidFill>
                  <a:schemeClr val="tx2"/>
                </a:solidFill>
              </a:rPr>
              <a:t>DDI3 (</a:t>
            </a:r>
            <a:r>
              <a:rPr lang="sv-SE" sz="1200" dirty="0" err="1" smtClean="0">
                <a:solidFill>
                  <a:schemeClr val="tx2"/>
                </a:solidFill>
              </a:rPr>
              <a:t>Resource</a:t>
            </a:r>
            <a:r>
              <a:rPr lang="sv-SE" sz="1200" dirty="0" smtClean="0">
                <a:solidFill>
                  <a:schemeClr val="tx2"/>
                </a:solidFill>
              </a:rPr>
              <a:t> </a:t>
            </a:r>
            <a:r>
              <a:rPr lang="sv-SE" sz="1200" dirty="0" err="1">
                <a:solidFill>
                  <a:schemeClr val="tx2"/>
                </a:solidFill>
              </a:rPr>
              <a:t>p</a:t>
            </a:r>
            <a:r>
              <a:rPr lang="sv-SE" sz="1200" dirty="0" err="1" smtClean="0">
                <a:solidFill>
                  <a:schemeClr val="tx2"/>
                </a:solidFill>
              </a:rPr>
              <a:t>ackage</a:t>
            </a:r>
            <a:r>
              <a:rPr lang="sv-SE" sz="1200" dirty="0" smtClean="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23" name="Rektangel med rundade hörn 22"/>
          <p:cNvSpPr/>
          <p:nvPr/>
        </p:nvSpPr>
        <p:spPr>
          <a:xfrm>
            <a:off x="2339752" y="5013176"/>
            <a:ext cx="1224137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300" dirty="0" smtClean="0"/>
              <a:t>SND Online </a:t>
            </a:r>
            <a:r>
              <a:rPr lang="sv-SE" sz="1300" dirty="0" err="1" smtClean="0"/>
              <a:t>Catalogue</a:t>
            </a:r>
            <a:endParaRPr lang="sv-SE" sz="1300" dirty="0" smtClean="0"/>
          </a:p>
        </p:txBody>
      </p:sp>
      <p:cxnSp>
        <p:nvCxnSpPr>
          <p:cNvPr id="26" name="Rak pil 25"/>
          <p:cNvCxnSpPr>
            <a:stCxn id="14" idx="2"/>
            <a:endCxn id="23" idx="0"/>
          </p:cNvCxnSpPr>
          <p:nvPr/>
        </p:nvCxnSpPr>
        <p:spPr>
          <a:xfrm flipH="1">
            <a:off x="2951821" y="2924944"/>
            <a:ext cx="2972844" cy="20882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ktangel med rundade hörn 26"/>
          <p:cNvSpPr/>
          <p:nvPr/>
        </p:nvSpPr>
        <p:spPr>
          <a:xfrm>
            <a:off x="5312597" y="5013176"/>
            <a:ext cx="1224137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300" dirty="0" smtClean="0"/>
              <a:t>SND </a:t>
            </a:r>
            <a:r>
              <a:rPr lang="sv-SE" sz="1300" dirty="0" err="1" smtClean="0"/>
              <a:t>Question</a:t>
            </a:r>
            <a:r>
              <a:rPr lang="sv-SE" sz="1300" dirty="0" smtClean="0"/>
              <a:t> Bank</a:t>
            </a:r>
          </a:p>
        </p:txBody>
      </p:sp>
      <p:cxnSp>
        <p:nvCxnSpPr>
          <p:cNvPr id="32" name="Rak pil 31"/>
          <p:cNvCxnSpPr>
            <a:stCxn id="16" idx="2"/>
            <a:endCxn id="27" idx="0"/>
          </p:cNvCxnSpPr>
          <p:nvPr/>
        </p:nvCxnSpPr>
        <p:spPr>
          <a:xfrm>
            <a:off x="5924665" y="4293096"/>
            <a:ext cx="1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ruta 32"/>
          <p:cNvSpPr txBox="1"/>
          <p:nvPr/>
        </p:nvSpPr>
        <p:spPr>
          <a:xfrm>
            <a:off x="5868144" y="4520153"/>
            <a:ext cx="471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200" dirty="0" err="1">
                <a:solidFill>
                  <a:schemeClr val="tx2"/>
                </a:solidFill>
              </a:rPr>
              <a:t>wsdl</a:t>
            </a:r>
            <a:endParaRPr lang="sv-SE" sz="1200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997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 animBg="1"/>
      <p:bldP spid="22" grpId="0"/>
      <p:bldP spid="23" grpId="0" animBg="1"/>
      <p:bldP spid="27" grpId="0" animBg="1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objekt 5" descr="VR_LOGO_CMYK_STAEND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" y="5904540"/>
            <a:ext cx="1000132" cy="953484"/>
          </a:xfrm>
          <a:prstGeom prst="rect">
            <a:avLst/>
          </a:prstGeom>
        </p:spPr>
      </p:pic>
      <p:pic>
        <p:nvPicPr>
          <p:cNvPr id="10" name="Bildobjekt 9" descr="snd_logo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" y="43421"/>
            <a:ext cx="5286412" cy="670935"/>
          </a:xfrm>
          <a:prstGeom prst="rect">
            <a:avLst/>
          </a:prstGeom>
        </p:spPr>
      </p:pic>
      <p:sp>
        <p:nvSpPr>
          <p:cNvPr id="8" name="Platshållare för text 2"/>
          <p:cNvSpPr txBox="1">
            <a:spLocks/>
          </p:cNvSpPr>
          <p:nvPr/>
        </p:nvSpPr>
        <p:spPr>
          <a:xfrm>
            <a:off x="1143000" y="2286000"/>
            <a:ext cx="6705600" cy="3581400"/>
          </a:xfrm>
          <a:prstGeom prst="rect">
            <a:avLst/>
          </a:prstGeom>
        </p:spPr>
        <p:txBody>
          <a:bodyPr vert="horz" lIns="91440" tIns="45720" rIns="91440" bIns="45720" rtlCol="0" anchor="t"/>
          <a:lstStyle/>
          <a:p>
            <a:pPr marL="285750" indent="-285750">
              <a:buFontTx/>
              <a:buChar char="-"/>
            </a:pPr>
            <a:r>
              <a:rPr lang="en-US" sz="1400" dirty="0" smtClean="0"/>
              <a:t>Open </a:t>
            </a:r>
            <a:r>
              <a:rPr lang="en-US" sz="1400" dirty="0"/>
              <a:t>source database management system built using XML technology. </a:t>
            </a:r>
            <a:endParaRPr lang="en-US" sz="1400" dirty="0" smtClean="0"/>
          </a:p>
          <a:p>
            <a:pPr marL="285750" indent="-285750">
              <a:buFontTx/>
              <a:buChar char="-"/>
            </a:pPr>
            <a:r>
              <a:rPr lang="en-US" sz="1400" dirty="0" smtClean="0"/>
              <a:t>Stores </a:t>
            </a:r>
            <a:r>
              <a:rPr lang="en-US" sz="1400" dirty="0"/>
              <a:t>XML data according to the XML data model</a:t>
            </a:r>
            <a:r>
              <a:rPr lang="en-US" sz="1400" dirty="0" smtClean="0"/>
              <a:t>.</a:t>
            </a:r>
          </a:p>
          <a:p>
            <a:pPr marL="285750" indent="-285750">
              <a:buFontTx/>
              <a:buChar char="-"/>
            </a:pPr>
            <a:r>
              <a:rPr lang="en-US" sz="1400" dirty="0" smtClean="0"/>
              <a:t>Features </a:t>
            </a:r>
            <a:r>
              <a:rPr lang="en-US" sz="1400" dirty="0"/>
              <a:t>efficient, index-based XQuery processing</a:t>
            </a:r>
            <a:r>
              <a:rPr lang="en-US" sz="1400" dirty="0" smtClean="0"/>
              <a:t>.</a:t>
            </a:r>
          </a:p>
          <a:p>
            <a:pPr marL="285750" indent="-285750">
              <a:buFontTx/>
              <a:buChar char="-"/>
            </a:pPr>
            <a:r>
              <a:rPr lang="en-US" sz="1400" dirty="0" smtClean="0"/>
              <a:t>Easy </a:t>
            </a:r>
            <a:r>
              <a:rPr lang="en-US" sz="1400" dirty="0"/>
              <a:t>to access using </a:t>
            </a:r>
            <a:r>
              <a:rPr lang="en-US" sz="1400" dirty="0" err="1" smtClean="0"/>
              <a:t>wsdl</a:t>
            </a:r>
            <a:endParaRPr lang="en-US" sz="1400" dirty="0" smtClean="0"/>
          </a:p>
          <a:p>
            <a:pPr marL="285750" indent="-285750">
              <a:buFontTx/>
              <a:buChar char="-"/>
            </a:pPr>
            <a:r>
              <a:rPr lang="en-US" sz="1400" dirty="0" smtClean="0"/>
              <a:t>Good </a:t>
            </a:r>
            <a:r>
              <a:rPr lang="en-US" sz="1400" dirty="0"/>
              <a:t>base for building web services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 sz="1400" i="1" noProof="0" dirty="0" smtClean="0"/>
          </a:p>
        </p:txBody>
      </p:sp>
      <p:sp>
        <p:nvSpPr>
          <p:cNvPr id="27" name="Platshållare för sidfot 13"/>
          <p:cNvSpPr txBox="1">
            <a:spLocks/>
          </p:cNvSpPr>
          <p:nvPr/>
        </p:nvSpPr>
        <p:spPr>
          <a:xfrm>
            <a:off x="8072462" y="6492875"/>
            <a:ext cx="1071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www.snd.se</a:t>
            </a:r>
            <a:endParaRPr kumimoji="0" lang="sv-SE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" name="Rektangel 28"/>
          <p:cNvSpPr/>
          <p:nvPr/>
        </p:nvSpPr>
        <p:spPr>
          <a:xfrm>
            <a:off x="6000760" y="0"/>
            <a:ext cx="3143240" cy="714356"/>
          </a:xfrm>
          <a:prstGeom prst="rect">
            <a:avLst/>
          </a:prstGeom>
          <a:solidFill>
            <a:srgbClr val="004B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30" name="Bildobjekt 29" descr="LO_GUeng_leftNEG.ep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74" y="185725"/>
            <a:ext cx="2643206" cy="360745"/>
          </a:xfrm>
          <a:prstGeom prst="rect">
            <a:avLst/>
          </a:prstGeom>
        </p:spPr>
      </p:pic>
      <p:sp>
        <p:nvSpPr>
          <p:cNvPr id="24" name="Rektangel 23"/>
          <p:cNvSpPr/>
          <p:nvPr/>
        </p:nvSpPr>
        <p:spPr>
          <a:xfrm>
            <a:off x="1115615" y="1516722"/>
            <a:ext cx="509945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Arial Bold"/>
                <a:ea typeface="ＭＳ Ｐゴシック" pitchFamily="-65" charset="-128"/>
                <a:cs typeface="Arial Bold"/>
              </a:rPr>
              <a:t>Some info about </a:t>
            </a:r>
            <a:r>
              <a:rPr lang="en-US" sz="2000" dirty="0" err="1" smtClean="0">
                <a:latin typeface="Arial Bold"/>
                <a:ea typeface="ＭＳ Ｐゴシック" pitchFamily="-65" charset="-128"/>
                <a:cs typeface="Arial Bold"/>
              </a:rPr>
              <a:t>eXist</a:t>
            </a:r>
            <a:endParaRPr lang="en-US" sz="2000" dirty="0" smtClean="0">
              <a:latin typeface="Arial Bold"/>
              <a:ea typeface="ＭＳ Ｐゴシック" pitchFamily="-65" charset="-128"/>
              <a:cs typeface="Arial Bold"/>
            </a:endParaRPr>
          </a:p>
        </p:txBody>
      </p:sp>
      <p:sp>
        <p:nvSpPr>
          <p:cNvPr id="12" name="Platshållare för datum 16"/>
          <p:cNvSpPr txBox="1">
            <a:spLocks/>
          </p:cNvSpPr>
          <p:nvPr/>
        </p:nvSpPr>
        <p:spPr>
          <a:xfrm>
            <a:off x="7143768" y="6492875"/>
            <a:ext cx="971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2010-12-08</a:t>
            </a:r>
          </a:p>
        </p:txBody>
      </p:sp>
      <p:pic>
        <p:nvPicPr>
          <p:cNvPr id="11" name="Bildobjekt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016" y="4650539"/>
            <a:ext cx="3509020" cy="139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204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objekt 5" descr="VR_LOGO_CMYK_STAEND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" y="5904540"/>
            <a:ext cx="1000132" cy="953484"/>
          </a:xfrm>
          <a:prstGeom prst="rect">
            <a:avLst/>
          </a:prstGeom>
        </p:spPr>
      </p:pic>
      <p:pic>
        <p:nvPicPr>
          <p:cNvPr id="10" name="Bildobjekt 9" descr="snd_logo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" y="43421"/>
            <a:ext cx="5286412" cy="670935"/>
          </a:xfrm>
          <a:prstGeom prst="rect">
            <a:avLst/>
          </a:prstGeom>
        </p:spPr>
      </p:pic>
      <p:sp>
        <p:nvSpPr>
          <p:cNvPr id="15" name="Platshållare för sidfot 13"/>
          <p:cNvSpPr txBox="1">
            <a:spLocks/>
          </p:cNvSpPr>
          <p:nvPr/>
        </p:nvSpPr>
        <p:spPr>
          <a:xfrm>
            <a:off x="8072462" y="6492875"/>
            <a:ext cx="1071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www.snd.se</a:t>
            </a:r>
            <a:endParaRPr kumimoji="0" lang="sv-SE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Rektangel 16"/>
          <p:cNvSpPr/>
          <p:nvPr/>
        </p:nvSpPr>
        <p:spPr>
          <a:xfrm>
            <a:off x="6000760" y="0"/>
            <a:ext cx="3143240" cy="714356"/>
          </a:xfrm>
          <a:prstGeom prst="rect">
            <a:avLst/>
          </a:prstGeom>
          <a:solidFill>
            <a:srgbClr val="004B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18" name="Bildobjekt 17" descr="LO_GUeng_leftNEG.ep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74" y="185725"/>
            <a:ext cx="2643206" cy="360745"/>
          </a:xfrm>
          <a:prstGeom prst="rect">
            <a:avLst/>
          </a:prstGeom>
        </p:spPr>
      </p:pic>
      <p:sp>
        <p:nvSpPr>
          <p:cNvPr id="11" name="Rektangel 10"/>
          <p:cNvSpPr/>
          <p:nvPr/>
        </p:nvSpPr>
        <p:spPr>
          <a:xfrm>
            <a:off x="1115616" y="1516722"/>
            <a:ext cx="54211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Arial Bold"/>
                <a:ea typeface="ＭＳ Ｐゴシック" pitchFamily="-65" charset="-128"/>
                <a:cs typeface="Arial Bold"/>
              </a:rPr>
              <a:t>Metadata flow within SND – Future plans</a:t>
            </a:r>
          </a:p>
        </p:txBody>
      </p:sp>
      <p:sp>
        <p:nvSpPr>
          <p:cNvPr id="13" name="Platshållare för datum 16"/>
          <p:cNvSpPr txBox="1">
            <a:spLocks/>
          </p:cNvSpPr>
          <p:nvPr/>
        </p:nvSpPr>
        <p:spPr>
          <a:xfrm>
            <a:off x="7143768" y="6492875"/>
            <a:ext cx="971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2010-12-08</a:t>
            </a:r>
          </a:p>
        </p:txBody>
      </p:sp>
      <p:sp>
        <p:nvSpPr>
          <p:cNvPr id="2" name="Rektangel med rundade hörn 1"/>
          <p:cNvSpPr/>
          <p:nvPr/>
        </p:nvSpPr>
        <p:spPr>
          <a:xfrm>
            <a:off x="2339752" y="2348880"/>
            <a:ext cx="1224136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 smtClean="0"/>
              <a:t>Nesstar</a:t>
            </a:r>
            <a:endParaRPr lang="sv-SE" dirty="0" smtClean="0"/>
          </a:p>
        </p:txBody>
      </p:sp>
      <p:sp>
        <p:nvSpPr>
          <p:cNvPr id="14" name="Rektangel med rundade hörn 13"/>
          <p:cNvSpPr/>
          <p:nvPr/>
        </p:nvSpPr>
        <p:spPr>
          <a:xfrm>
            <a:off x="5312597" y="2348880"/>
            <a:ext cx="1224136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smtClean="0"/>
              <a:t>SIMS</a:t>
            </a:r>
          </a:p>
        </p:txBody>
      </p:sp>
      <p:sp>
        <p:nvSpPr>
          <p:cNvPr id="5" name="textruta 4"/>
          <p:cNvSpPr txBox="1"/>
          <p:nvPr/>
        </p:nvSpPr>
        <p:spPr>
          <a:xfrm>
            <a:off x="3995936" y="2575937"/>
            <a:ext cx="9957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dirty="0" smtClean="0">
                <a:solidFill>
                  <a:schemeClr val="tx2"/>
                </a:solidFill>
              </a:rPr>
              <a:t>DDI2 (DDI3?)</a:t>
            </a:r>
            <a:endParaRPr lang="sv-SE" sz="1200" dirty="0">
              <a:solidFill>
                <a:schemeClr val="tx2"/>
              </a:solidFill>
            </a:endParaRPr>
          </a:p>
        </p:txBody>
      </p:sp>
      <p:sp>
        <p:nvSpPr>
          <p:cNvPr id="16" name="Rektangel med rundade hörn 15"/>
          <p:cNvSpPr/>
          <p:nvPr/>
        </p:nvSpPr>
        <p:spPr>
          <a:xfrm>
            <a:off x="5312596" y="3717032"/>
            <a:ext cx="1224137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 smtClean="0"/>
              <a:t>eXist</a:t>
            </a:r>
            <a:endParaRPr lang="sv-SE" dirty="0" smtClean="0"/>
          </a:p>
        </p:txBody>
      </p:sp>
      <p:cxnSp>
        <p:nvCxnSpPr>
          <p:cNvPr id="9" name="Rak pil 8"/>
          <p:cNvCxnSpPr>
            <a:stCxn id="14" idx="2"/>
            <a:endCxn id="16" idx="0"/>
          </p:cNvCxnSpPr>
          <p:nvPr/>
        </p:nvCxnSpPr>
        <p:spPr>
          <a:xfrm>
            <a:off x="5924665" y="2924944"/>
            <a:ext cx="0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ruta 21"/>
          <p:cNvSpPr txBox="1"/>
          <p:nvPr/>
        </p:nvSpPr>
        <p:spPr>
          <a:xfrm>
            <a:off x="5868144" y="3182488"/>
            <a:ext cx="2524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dirty="0" smtClean="0">
                <a:solidFill>
                  <a:schemeClr val="tx2"/>
                </a:solidFill>
              </a:rPr>
              <a:t>DDI3 (</a:t>
            </a:r>
            <a:r>
              <a:rPr lang="sv-SE" sz="1200" dirty="0" err="1" smtClean="0">
                <a:solidFill>
                  <a:schemeClr val="tx2"/>
                </a:solidFill>
              </a:rPr>
              <a:t>Resource</a:t>
            </a:r>
            <a:r>
              <a:rPr lang="sv-SE" sz="1200" dirty="0" smtClean="0">
                <a:solidFill>
                  <a:schemeClr val="tx2"/>
                </a:solidFill>
              </a:rPr>
              <a:t> </a:t>
            </a:r>
            <a:r>
              <a:rPr lang="sv-SE" sz="1200" dirty="0" err="1" smtClean="0">
                <a:solidFill>
                  <a:schemeClr val="tx2"/>
                </a:solidFill>
              </a:rPr>
              <a:t>package</a:t>
            </a:r>
            <a:r>
              <a:rPr lang="sv-SE" sz="1200" dirty="0" smtClean="0">
                <a:solidFill>
                  <a:schemeClr val="tx2"/>
                </a:solidFill>
              </a:rPr>
              <a:t>, </a:t>
            </a:r>
            <a:r>
              <a:rPr lang="sv-SE" sz="1200" dirty="0" err="1" smtClean="0">
                <a:solidFill>
                  <a:schemeClr val="tx2"/>
                </a:solidFill>
              </a:rPr>
              <a:t>Study</a:t>
            </a:r>
            <a:r>
              <a:rPr lang="sv-SE" sz="1200" dirty="0" smtClean="0">
                <a:solidFill>
                  <a:schemeClr val="tx2"/>
                </a:solidFill>
              </a:rPr>
              <a:t> </a:t>
            </a:r>
            <a:r>
              <a:rPr lang="sv-SE" sz="1200" dirty="0" err="1" smtClean="0">
                <a:solidFill>
                  <a:schemeClr val="tx2"/>
                </a:solidFill>
              </a:rPr>
              <a:t>Units</a:t>
            </a:r>
            <a:r>
              <a:rPr lang="sv-SE" sz="1200" dirty="0" smtClean="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23" name="Rektangel med rundade hörn 22"/>
          <p:cNvSpPr/>
          <p:nvPr/>
        </p:nvSpPr>
        <p:spPr>
          <a:xfrm>
            <a:off x="4457380" y="5013176"/>
            <a:ext cx="1224137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300" dirty="0" smtClean="0"/>
              <a:t>SND Online </a:t>
            </a:r>
            <a:r>
              <a:rPr lang="sv-SE" sz="1300" dirty="0" err="1" smtClean="0"/>
              <a:t>Catalogue</a:t>
            </a:r>
            <a:endParaRPr lang="sv-SE" sz="1300" dirty="0" smtClean="0"/>
          </a:p>
        </p:txBody>
      </p:sp>
      <p:cxnSp>
        <p:nvCxnSpPr>
          <p:cNvPr id="26" name="Rak pil 25"/>
          <p:cNvCxnSpPr>
            <a:stCxn id="16" idx="2"/>
            <a:endCxn id="23" idx="0"/>
          </p:cNvCxnSpPr>
          <p:nvPr/>
        </p:nvCxnSpPr>
        <p:spPr>
          <a:xfrm flipH="1">
            <a:off x="5069449" y="4293096"/>
            <a:ext cx="855216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ktangel med rundade hörn 26"/>
          <p:cNvSpPr/>
          <p:nvPr/>
        </p:nvSpPr>
        <p:spPr>
          <a:xfrm>
            <a:off x="6113564" y="5013176"/>
            <a:ext cx="1224137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300" dirty="0" smtClean="0"/>
              <a:t>SND </a:t>
            </a:r>
            <a:r>
              <a:rPr lang="sv-SE" sz="1300" dirty="0" err="1" smtClean="0"/>
              <a:t>Question</a:t>
            </a:r>
            <a:r>
              <a:rPr lang="sv-SE" sz="1300" dirty="0" smtClean="0"/>
              <a:t> Bank</a:t>
            </a:r>
          </a:p>
        </p:txBody>
      </p:sp>
      <p:cxnSp>
        <p:nvCxnSpPr>
          <p:cNvPr id="32" name="Rak pil 31"/>
          <p:cNvCxnSpPr>
            <a:stCxn id="16" idx="2"/>
            <a:endCxn id="27" idx="0"/>
          </p:cNvCxnSpPr>
          <p:nvPr/>
        </p:nvCxnSpPr>
        <p:spPr>
          <a:xfrm>
            <a:off x="5924665" y="4293096"/>
            <a:ext cx="800968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ruta 32"/>
          <p:cNvSpPr txBox="1"/>
          <p:nvPr/>
        </p:nvSpPr>
        <p:spPr>
          <a:xfrm>
            <a:off x="6325149" y="4520153"/>
            <a:ext cx="639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dirty="0" err="1" smtClean="0">
                <a:solidFill>
                  <a:schemeClr val="tx2"/>
                </a:solidFill>
              </a:rPr>
              <a:t>xForms</a:t>
            </a:r>
            <a:endParaRPr lang="sv-SE" sz="1200" dirty="0" smtClean="0">
              <a:solidFill>
                <a:schemeClr val="tx2"/>
              </a:solidFill>
            </a:endParaRPr>
          </a:p>
        </p:txBody>
      </p:sp>
      <p:sp>
        <p:nvSpPr>
          <p:cNvPr id="24" name="textruta 23"/>
          <p:cNvSpPr txBox="1"/>
          <p:nvPr/>
        </p:nvSpPr>
        <p:spPr>
          <a:xfrm>
            <a:off x="4848082" y="4520153"/>
            <a:ext cx="639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dirty="0" err="1" smtClean="0">
                <a:solidFill>
                  <a:schemeClr val="tx2"/>
                </a:solidFill>
              </a:rPr>
              <a:t>xForms</a:t>
            </a:r>
            <a:endParaRPr lang="sv-SE" sz="1200" dirty="0" smtClean="0">
              <a:solidFill>
                <a:schemeClr val="tx2"/>
              </a:solidFill>
            </a:endParaRPr>
          </a:p>
        </p:txBody>
      </p:sp>
      <p:sp>
        <p:nvSpPr>
          <p:cNvPr id="28" name="Rektangel med rundade hörn 27"/>
          <p:cNvSpPr/>
          <p:nvPr/>
        </p:nvSpPr>
        <p:spPr>
          <a:xfrm>
            <a:off x="2339752" y="5013176"/>
            <a:ext cx="1224136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300" dirty="0" err="1" smtClean="0"/>
              <a:t>Dataverse</a:t>
            </a:r>
            <a:endParaRPr lang="sv-SE" sz="1300" dirty="0" smtClean="0"/>
          </a:p>
        </p:txBody>
      </p:sp>
      <p:cxnSp>
        <p:nvCxnSpPr>
          <p:cNvPr id="21" name="Rak pil 20"/>
          <p:cNvCxnSpPr>
            <a:stCxn id="14" idx="2"/>
            <a:endCxn id="28" idx="0"/>
          </p:cNvCxnSpPr>
          <p:nvPr/>
        </p:nvCxnSpPr>
        <p:spPr>
          <a:xfrm flipH="1">
            <a:off x="2951820" y="2924944"/>
            <a:ext cx="2972845" cy="20882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ruta 29"/>
          <p:cNvSpPr txBox="1"/>
          <p:nvPr/>
        </p:nvSpPr>
        <p:spPr>
          <a:xfrm>
            <a:off x="4055104" y="3728065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dirty="0" smtClean="0">
                <a:solidFill>
                  <a:schemeClr val="tx2"/>
                </a:solidFill>
              </a:rPr>
              <a:t>DDI2</a:t>
            </a:r>
            <a:endParaRPr lang="sv-SE" sz="1200" dirty="0">
              <a:solidFill>
                <a:schemeClr val="tx2"/>
              </a:solidFill>
            </a:endParaRPr>
          </a:p>
        </p:txBody>
      </p:sp>
      <p:cxnSp>
        <p:nvCxnSpPr>
          <p:cNvPr id="39" name="Rak pil 38"/>
          <p:cNvCxnSpPr>
            <a:stCxn id="14" idx="1"/>
            <a:endCxn id="2" idx="3"/>
          </p:cNvCxnSpPr>
          <p:nvPr/>
        </p:nvCxnSpPr>
        <p:spPr>
          <a:xfrm flipH="1">
            <a:off x="3563888" y="2636912"/>
            <a:ext cx="174870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019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  <p:bldP spid="5" grpId="0"/>
      <p:bldP spid="16" grpId="0" animBg="1"/>
      <p:bldP spid="22" grpId="0"/>
      <p:bldP spid="23" grpId="0" animBg="1"/>
      <p:bldP spid="27" grpId="0" animBg="1"/>
      <p:bldP spid="33" grpId="0"/>
      <p:bldP spid="24" grpId="0"/>
      <p:bldP spid="28" grpId="0" animBg="1"/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objekt 5" descr="VR_LOGO_CMYK_STAEND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" y="5904540"/>
            <a:ext cx="1000132" cy="953484"/>
          </a:xfrm>
          <a:prstGeom prst="rect">
            <a:avLst/>
          </a:prstGeom>
        </p:spPr>
      </p:pic>
      <p:pic>
        <p:nvPicPr>
          <p:cNvPr id="10" name="Bildobjekt 9" descr="snd_logo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" y="43421"/>
            <a:ext cx="5286412" cy="670935"/>
          </a:xfrm>
          <a:prstGeom prst="rect">
            <a:avLst/>
          </a:prstGeom>
        </p:spPr>
      </p:pic>
      <p:sp>
        <p:nvSpPr>
          <p:cNvPr id="8" name="Platshållare för text 2"/>
          <p:cNvSpPr txBox="1">
            <a:spLocks/>
          </p:cNvSpPr>
          <p:nvPr/>
        </p:nvSpPr>
        <p:spPr>
          <a:xfrm>
            <a:off x="1143000" y="2286000"/>
            <a:ext cx="6705600" cy="3581400"/>
          </a:xfrm>
          <a:prstGeom prst="rect">
            <a:avLst/>
          </a:prstGeom>
        </p:spPr>
        <p:txBody>
          <a:bodyPr vert="horz" lIns="91440" tIns="45720" rIns="91440" bIns="45720" rtlCol="0" anchor="t"/>
          <a:lstStyle/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sv-SE" sz="1400" noProof="0" dirty="0" err="1" smtClean="0"/>
              <a:t>Currently</a:t>
            </a:r>
            <a:r>
              <a:rPr lang="sv-SE" sz="1400" dirty="0"/>
              <a:t> </a:t>
            </a:r>
            <a:r>
              <a:rPr lang="sv-SE" sz="1400" dirty="0" err="1" smtClean="0"/>
              <a:t>only</a:t>
            </a:r>
            <a:r>
              <a:rPr lang="sv-SE" sz="1400" noProof="0" dirty="0" smtClean="0"/>
              <a:t> DDI2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sv-SE" sz="1400" noProof="0" dirty="0" err="1" smtClean="0"/>
              <a:t>Planned</a:t>
            </a:r>
            <a:r>
              <a:rPr lang="sv-SE" sz="1400" noProof="0" dirty="0" smtClean="0"/>
              <a:t> for DDI3 </a:t>
            </a:r>
            <a:r>
              <a:rPr lang="sv-SE" sz="1400" noProof="0" dirty="0" err="1" smtClean="0"/>
              <a:t>first</a:t>
            </a:r>
            <a:r>
              <a:rPr lang="sv-SE" sz="1400" noProof="0" dirty="0" smtClean="0"/>
              <a:t> </a:t>
            </a:r>
            <a:r>
              <a:rPr lang="sv-SE" sz="1400" noProof="0" dirty="0" err="1" smtClean="0"/>
              <a:t>half</a:t>
            </a:r>
            <a:r>
              <a:rPr lang="sv-SE" sz="1400" noProof="0" dirty="0" smtClean="0"/>
              <a:t> 2011</a:t>
            </a:r>
          </a:p>
        </p:txBody>
      </p:sp>
      <p:sp>
        <p:nvSpPr>
          <p:cNvPr id="27" name="Platshållare för sidfot 13"/>
          <p:cNvSpPr txBox="1">
            <a:spLocks/>
          </p:cNvSpPr>
          <p:nvPr/>
        </p:nvSpPr>
        <p:spPr>
          <a:xfrm>
            <a:off x="8072462" y="6492875"/>
            <a:ext cx="1071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www.snd.se</a:t>
            </a:r>
            <a:endParaRPr kumimoji="0" lang="sv-SE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" name="Rektangel 28"/>
          <p:cNvSpPr/>
          <p:nvPr/>
        </p:nvSpPr>
        <p:spPr>
          <a:xfrm>
            <a:off x="6000760" y="0"/>
            <a:ext cx="3143240" cy="714356"/>
          </a:xfrm>
          <a:prstGeom prst="rect">
            <a:avLst/>
          </a:prstGeom>
          <a:solidFill>
            <a:srgbClr val="004B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30" name="Bildobjekt 29" descr="LO_GUeng_leftNEG.ep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74" y="185725"/>
            <a:ext cx="2643206" cy="360745"/>
          </a:xfrm>
          <a:prstGeom prst="rect">
            <a:avLst/>
          </a:prstGeom>
        </p:spPr>
      </p:pic>
      <p:sp>
        <p:nvSpPr>
          <p:cNvPr id="24" name="Rektangel 23"/>
          <p:cNvSpPr/>
          <p:nvPr/>
        </p:nvSpPr>
        <p:spPr>
          <a:xfrm>
            <a:off x="1115615" y="1516722"/>
            <a:ext cx="509945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Arial Bold"/>
                <a:ea typeface="ＭＳ Ｐゴシック" pitchFamily="-65" charset="-128"/>
                <a:cs typeface="Arial Bold"/>
              </a:rPr>
              <a:t>XSLT </a:t>
            </a:r>
            <a:r>
              <a:rPr lang="en-US" sz="2000" dirty="0" err="1" smtClean="0">
                <a:latin typeface="Arial Bold"/>
                <a:ea typeface="ＭＳ Ｐゴシック" pitchFamily="-65" charset="-128"/>
                <a:cs typeface="Arial Bold"/>
              </a:rPr>
              <a:t>Stylesheets</a:t>
            </a:r>
            <a:r>
              <a:rPr lang="en-US" sz="2000" dirty="0" smtClean="0">
                <a:latin typeface="Arial Bold"/>
                <a:ea typeface="ＭＳ Ｐゴシック" pitchFamily="-65" charset="-128"/>
                <a:cs typeface="Arial Bold"/>
              </a:rPr>
              <a:t> for creation of codebooks</a:t>
            </a:r>
          </a:p>
        </p:txBody>
      </p:sp>
      <p:pic>
        <p:nvPicPr>
          <p:cNvPr id="1026" name="Picture 2" descr="Z:\bildbank\Kodbok\Leveransklar\JPEG\Kodbok_1(mindre)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595" y="4159321"/>
            <a:ext cx="2968005" cy="171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latshållare för datum 16"/>
          <p:cNvSpPr txBox="1">
            <a:spLocks/>
          </p:cNvSpPr>
          <p:nvPr/>
        </p:nvSpPr>
        <p:spPr>
          <a:xfrm>
            <a:off x="7143768" y="6492875"/>
            <a:ext cx="971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2010-12-08</a:t>
            </a:r>
          </a:p>
        </p:txBody>
      </p:sp>
    </p:spTree>
    <p:extLst>
      <p:ext uri="{BB962C8B-B14F-4D97-AF65-F5344CB8AC3E}">
        <p14:creationId xmlns:p14="http://schemas.microsoft.com/office/powerpoint/2010/main" val="352798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objekt 5" descr="VR_LOGO_CMYK_STAEND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" y="5904540"/>
            <a:ext cx="1000132" cy="953484"/>
          </a:xfrm>
          <a:prstGeom prst="rect">
            <a:avLst/>
          </a:prstGeom>
        </p:spPr>
      </p:pic>
      <p:pic>
        <p:nvPicPr>
          <p:cNvPr id="10" name="Bildobjekt 9" descr="snd_logo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" y="43421"/>
            <a:ext cx="5286412" cy="670935"/>
          </a:xfrm>
          <a:prstGeom prst="rect">
            <a:avLst/>
          </a:prstGeom>
        </p:spPr>
      </p:pic>
      <p:sp>
        <p:nvSpPr>
          <p:cNvPr id="9" name="Rubrik 1"/>
          <p:cNvSpPr txBox="1">
            <a:spLocks/>
          </p:cNvSpPr>
          <p:nvPr/>
        </p:nvSpPr>
        <p:spPr>
          <a:xfrm>
            <a:off x="1143000" y="1219200"/>
            <a:ext cx="6705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sv-SE" sz="2000" dirty="0" err="1"/>
              <a:t>Using</a:t>
            </a:r>
            <a:r>
              <a:rPr lang="sv-SE" sz="2000" dirty="0"/>
              <a:t> DDI for metadata </a:t>
            </a:r>
            <a:r>
              <a:rPr lang="sv-SE" sz="2000" dirty="0" err="1"/>
              <a:t>harvesting</a:t>
            </a:r>
            <a:r>
              <a:rPr lang="sv-SE" sz="2000" dirty="0"/>
              <a:t> from </a:t>
            </a:r>
            <a:r>
              <a:rPr lang="sv-SE" sz="2000" dirty="0" err="1"/>
              <a:t>external</a:t>
            </a:r>
            <a:r>
              <a:rPr lang="sv-SE" sz="2000" dirty="0"/>
              <a:t> </a:t>
            </a:r>
            <a:r>
              <a:rPr lang="sv-SE" sz="2000" dirty="0" err="1"/>
              <a:t>agencies</a:t>
            </a:r>
            <a:endParaRPr lang="sv-SE" sz="2000" dirty="0"/>
          </a:p>
        </p:txBody>
      </p:sp>
      <p:pic>
        <p:nvPicPr>
          <p:cNvPr id="17" name="Bildobjekt 16" descr="Bil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6410" y="4149080"/>
            <a:ext cx="2249763" cy="1752007"/>
          </a:xfrm>
          <a:prstGeom prst="rect">
            <a:avLst/>
          </a:prstGeom>
        </p:spPr>
      </p:pic>
      <p:sp>
        <p:nvSpPr>
          <p:cNvPr id="19" name="Platshållare för sidfot 13"/>
          <p:cNvSpPr txBox="1">
            <a:spLocks/>
          </p:cNvSpPr>
          <p:nvPr/>
        </p:nvSpPr>
        <p:spPr>
          <a:xfrm>
            <a:off x="8072462" y="6492875"/>
            <a:ext cx="1071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www.snd.se</a:t>
            </a:r>
            <a:endParaRPr kumimoji="0" lang="sv-SE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Platshållare för datum 16"/>
          <p:cNvSpPr txBox="1">
            <a:spLocks/>
          </p:cNvSpPr>
          <p:nvPr/>
        </p:nvSpPr>
        <p:spPr>
          <a:xfrm>
            <a:off x="7143768" y="6492875"/>
            <a:ext cx="971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2010-12-08</a:t>
            </a:r>
          </a:p>
        </p:txBody>
      </p:sp>
      <p:sp>
        <p:nvSpPr>
          <p:cNvPr id="21" name="Rektangel 20"/>
          <p:cNvSpPr/>
          <p:nvPr/>
        </p:nvSpPr>
        <p:spPr>
          <a:xfrm>
            <a:off x="6000760" y="0"/>
            <a:ext cx="3143240" cy="714356"/>
          </a:xfrm>
          <a:prstGeom prst="rect">
            <a:avLst/>
          </a:prstGeom>
          <a:solidFill>
            <a:srgbClr val="004B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22" name="Bildobjekt 21" descr="LO_GUeng_leftNEG.ep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74" y="185725"/>
            <a:ext cx="2643206" cy="360745"/>
          </a:xfrm>
          <a:prstGeom prst="rect">
            <a:avLst/>
          </a:prstGeom>
        </p:spPr>
      </p:pic>
      <p:sp>
        <p:nvSpPr>
          <p:cNvPr id="12" name="Platshållare för text 2"/>
          <p:cNvSpPr txBox="1">
            <a:spLocks/>
          </p:cNvSpPr>
          <p:nvPr/>
        </p:nvSpPr>
        <p:spPr>
          <a:xfrm>
            <a:off x="1143000" y="2286000"/>
            <a:ext cx="6705600" cy="3581400"/>
          </a:xfrm>
          <a:prstGeom prst="rect">
            <a:avLst/>
          </a:prstGeom>
        </p:spPr>
        <p:txBody>
          <a:bodyPr vert="horz" lIns="91440" tIns="45720" rIns="91440" bIns="45720" rtlCol="0" anchor="t"/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sv-SE" sz="1400" b="1" dirty="0" err="1" smtClean="0"/>
              <a:t>SND’s</a:t>
            </a:r>
            <a:r>
              <a:rPr lang="sv-SE" sz="1400" b="1" dirty="0" smtClean="0"/>
              <a:t> mission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sv-SE" sz="1400" b="1" dirty="0"/>
          </a:p>
          <a:p>
            <a:pPr lvl="0">
              <a:defRPr/>
            </a:pPr>
            <a:r>
              <a:rPr lang="en-GB" sz="1400" dirty="0"/>
              <a:t>SND should have a overview of which research materials that are available for researchers in Sweden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sv-SE" sz="1400" dirty="0"/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sv-SE" sz="1400" dirty="0" smtClean="0"/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sv-SE" sz="1400" b="1" dirty="0" smtClean="0"/>
              <a:t>Project </a:t>
            </a:r>
            <a:r>
              <a:rPr lang="sv-SE" sz="1400" b="1" dirty="0" err="1" smtClean="0"/>
              <a:t>with</a:t>
            </a:r>
            <a:r>
              <a:rPr lang="sv-SE" sz="1400" b="1" dirty="0" smtClean="0"/>
              <a:t> </a:t>
            </a:r>
            <a:r>
              <a:rPr lang="sv-SE" sz="1400" b="1" dirty="0" err="1" smtClean="0"/>
              <a:t>Statistics</a:t>
            </a:r>
            <a:r>
              <a:rPr lang="sv-SE" sz="1400" b="1" dirty="0" smtClean="0"/>
              <a:t> Sweden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sv-SE" sz="1400" b="1" dirty="0"/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sv-SE" sz="1400" dirty="0" err="1" smtClean="0"/>
              <a:t>Mapping</a:t>
            </a:r>
            <a:r>
              <a:rPr lang="sv-SE" sz="1400" dirty="0" smtClean="0"/>
              <a:t> ISO 11179 </a:t>
            </a:r>
            <a:r>
              <a:rPr lang="sv-SE" sz="1400" dirty="0" err="1" smtClean="0"/>
              <a:t>to</a:t>
            </a:r>
            <a:r>
              <a:rPr lang="sv-SE" sz="1400" dirty="0" smtClean="0"/>
              <a:t> DDI3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sv-SE" sz="1400" dirty="0" smtClean="0"/>
              <a:t>Plans </a:t>
            </a:r>
            <a:r>
              <a:rPr lang="sv-SE" sz="1400" dirty="0" err="1" smtClean="0"/>
              <a:t>to</a:t>
            </a:r>
            <a:r>
              <a:rPr lang="sv-SE" sz="1400" dirty="0" smtClean="0"/>
              <a:t> </a:t>
            </a:r>
            <a:r>
              <a:rPr lang="sv-SE" sz="1400" dirty="0" err="1" smtClean="0"/>
              <a:t>also</a:t>
            </a:r>
            <a:r>
              <a:rPr lang="sv-SE" sz="1400" dirty="0" smtClean="0"/>
              <a:t> </a:t>
            </a:r>
            <a:r>
              <a:rPr lang="sv-SE" sz="1400" dirty="0" err="1" smtClean="0"/>
              <a:t>include</a:t>
            </a:r>
            <a:r>
              <a:rPr lang="sv-SE" sz="1400" dirty="0" smtClean="0"/>
              <a:t> </a:t>
            </a:r>
            <a:r>
              <a:rPr lang="sv-SE" sz="1400" dirty="0" err="1" smtClean="0"/>
              <a:t>other</a:t>
            </a:r>
            <a:r>
              <a:rPr lang="sv-SE" sz="1400" dirty="0" smtClean="0"/>
              <a:t> organisations, </a:t>
            </a:r>
            <a:r>
              <a:rPr lang="sv-SE" sz="1400" dirty="0" err="1" smtClean="0"/>
              <a:t>e.g</a:t>
            </a:r>
            <a:r>
              <a:rPr lang="sv-SE" sz="1400" dirty="0" smtClean="0"/>
              <a:t>. Board </a:t>
            </a:r>
            <a:r>
              <a:rPr lang="sv-SE" sz="1400" dirty="0" err="1" smtClean="0"/>
              <a:t>of</a:t>
            </a:r>
            <a:r>
              <a:rPr lang="sv-SE" sz="1400" dirty="0" smtClean="0"/>
              <a:t> Health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sv-SE" sz="1200" dirty="0"/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sv-SE" sz="1200" dirty="0" smtClean="0"/>
          </a:p>
        </p:txBody>
      </p:sp>
    </p:spTree>
    <p:extLst>
      <p:ext uri="{BB962C8B-B14F-4D97-AF65-F5344CB8AC3E}">
        <p14:creationId xmlns:p14="http://schemas.microsoft.com/office/powerpoint/2010/main" val="500767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objekt 5" descr="VR_LOGO_CMYK_STAEND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" y="5904540"/>
            <a:ext cx="1000132" cy="953484"/>
          </a:xfrm>
          <a:prstGeom prst="rect">
            <a:avLst/>
          </a:prstGeom>
        </p:spPr>
      </p:pic>
      <p:pic>
        <p:nvPicPr>
          <p:cNvPr id="10" name="Bildobjekt 9" descr="snd_logo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" y="43421"/>
            <a:ext cx="5286412" cy="670935"/>
          </a:xfrm>
          <a:prstGeom prst="rect">
            <a:avLst/>
          </a:prstGeom>
        </p:spPr>
      </p:pic>
      <p:sp>
        <p:nvSpPr>
          <p:cNvPr id="9" name="Rubrik 1"/>
          <p:cNvSpPr txBox="1">
            <a:spLocks/>
          </p:cNvSpPr>
          <p:nvPr/>
        </p:nvSpPr>
        <p:spPr>
          <a:xfrm>
            <a:off x="1143000" y="1219200"/>
            <a:ext cx="6705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sv-SE" sz="2000" dirty="0" smtClean="0"/>
              <a:t>Contact</a:t>
            </a:r>
            <a:endParaRPr lang="sv-SE" sz="2000" dirty="0"/>
          </a:p>
        </p:txBody>
      </p:sp>
      <p:sp>
        <p:nvSpPr>
          <p:cNvPr id="19" name="Platshållare för sidfot 13"/>
          <p:cNvSpPr txBox="1">
            <a:spLocks/>
          </p:cNvSpPr>
          <p:nvPr/>
        </p:nvSpPr>
        <p:spPr>
          <a:xfrm>
            <a:off x="8072462" y="6492875"/>
            <a:ext cx="1071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www.snd.se</a:t>
            </a:r>
            <a:endParaRPr kumimoji="0" lang="sv-SE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Platshållare för datum 16"/>
          <p:cNvSpPr txBox="1">
            <a:spLocks/>
          </p:cNvSpPr>
          <p:nvPr/>
        </p:nvSpPr>
        <p:spPr>
          <a:xfrm>
            <a:off x="7143768" y="6492875"/>
            <a:ext cx="971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2010-12-08</a:t>
            </a:r>
          </a:p>
        </p:txBody>
      </p:sp>
      <p:sp>
        <p:nvSpPr>
          <p:cNvPr id="21" name="Rektangel 20"/>
          <p:cNvSpPr/>
          <p:nvPr/>
        </p:nvSpPr>
        <p:spPr>
          <a:xfrm>
            <a:off x="6000760" y="0"/>
            <a:ext cx="3143240" cy="714356"/>
          </a:xfrm>
          <a:prstGeom prst="rect">
            <a:avLst/>
          </a:prstGeom>
          <a:solidFill>
            <a:srgbClr val="004B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22" name="Bildobjekt 21" descr="LO_GUeng_leftNEG.ep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74" y="185725"/>
            <a:ext cx="2643206" cy="360745"/>
          </a:xfrm>
          <a:prstGeom prst="rect">
            <a:avLst/>
          </a:prstGeom>
        </p:spPr>
      </p:pic>
      <p:sp>
        <p:nvSpPr>
          <p:cNvPr id="12" name="Platshållare för text 2"/>
          <p:cNvSpPr txBox="1">
            <a:spLocks/>
          </p:cNvSpPr>
          <p:nvPr/>
        </p:nvSpPr>
        <p:spPr>
          <a:xfrm>
            <a:off x="1143000" y="2286000"/>
            <a:ext cx="6705600" cy="3581400"/>
          </a:xfrm>
          <a:prstGeom prst="rect">
            <a:avLst/>
          </a:prstGeom>
        </p:spPr>
        <p:txBody>
          <a:bodyPr vert="horz" lIns="91440" tIns="45720" rIns="91440" bIns="45720" rtlCol="0" anchor="t"/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sv-SE" sz="1600" dirty="0" smtClean="0"/>
              <a:t>http://www.snd.gu.se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sv-SE" sz="1600" dirty="0" smtClean="0"/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sv-SE" sz="1600" dirty="0" smtClean="0"/>
              <a:t>Hans </a:t>
            </a:r>
            <a:r>
              <a:rPr lang="sv-SE" sz="1600" dirty="0" err="1" smtClean="0"/>
              <a:t>Jørgen</a:t>
            </a:r>
            <a:r>
              <a:rPr lang="sv-SE" sz="1600" dirty="0" smtClean="0"/>
              <a:t> Marker – h.j.marker@snd.gu.se</a:t>
            </a:r>
            <a:endParaRPr lang="sv-SE" sz="1600" dirty="0"/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sv-SE" sz="1600" dirty="0" smtClean="0"/>
              <a:t>Iris Alfredsson – iris.alfredsson@snd.gu.se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sv-SE" sz="1600" dirty="0" smtClean="0"/>
              <a:t>Johan Fihn – johan.fihn@snd.gu.se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sv-SE" sz="1600" dirty="0" smtClean="0"/>
              <a:t>Olof Olsson – olof.olsson@snd.gu.se</a:t>
            </a:r>
            <a:endParaRPr lang="sv-SE" sz="1200" dirty="0"/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sv-SE" sz="1200" dirty="0" smtClean="0"/>
          </a:p>
        </p:txBody>
      </p:sp>
    </p:spTree>
    <p:extLst>
      <p:ext uri="{BB962C8B-B14F-4D97-AF65-F5344CB8AC3E}">
        <p14:creationId xmlns:p14="http://schemas.microsoft.com/office/powerpoint/2010/main" val="392435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objekt 5" descr="VR_LOGO_CMYK_STAEND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" y="5904540"/>
            <a:ext cx="1000132" cy="953484"/>
          </a:xfrm>
          <a:prstGeom prst="rect">
            <a:avLst/>
          </a:prstGeom>
        </p:spPr>
      </p:pic>
      <p:pic>
        <p:nvPicPr>
          <p:cNvPr id="10" name="Bildobjekt 9" descr="snd_logo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" y="43421"/>
            <a:ext cx="5286412" cy="670935"/>
          </a:xfrm>
          <a:prstGeom prst="rect">
            <a:avLst/>
          </a:prstGeom>
        </p:spPr>
      </p:pic>
      <p:sp>
        <p:nvSpPr>
          <p:cNvPr id="9" name="Rubrik 1"/>
          <p:cNvSpPr txBox="1">
            <a:spLocks/>
          </p:cNvSpPr>
          <p:nvPr/>
        </p:nvSpPr>
        <p:spPr>
          <a:xfrm>
            <a:off x="1143000" y="1219200"/>
            <a:ext cx="6705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sv-SE" sz="2000" dirty="0" err="1" smtClean="0"/>
              <a:t>Questions</a:t>
            </a:r>
            <a:r>
              <a:rPr lang="sv-SE" sz="2000" dirty="0" smtClean="0"/>
              <a:t>?</a:t>
            </a:r>
            <a:endParaRPr lang="sv-SE" sz="2000" dirty="0"/>
          </a:p>
        </p:txBody>
      </p:sp>
      <p:sp>
        <p:nvSpPr>
          <p:cNvPr id="19" name="Platshållare för sidfot 13"/>
          <p:cNvSpPr txBox="1">
            <a:spLocks/>
          </p:cNvSpPr>
          <p:nvPr/>
        </p:nvSpPr>
        <p:spPr>
          <a:xfrm>
            <a:off x="8072462" y="6492875"/>
            <a:ext cx="1071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www.snd.se</a:t>
            </a:r>
            <a:endParaRPr kumimoji="0" lang="sv-SE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Platshållare för datum 16"/>
          <p:cNvSpPr txBox="1">
            <a:spLocks/>
          </p:cNvSpPr>
          <p:nvPr/>
        </p:nvSpPr>
        <p:spPr>
          <a:xfrm>
            <a:off x="7143768" y="6492875"/>
            <a:ext cx="971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2010-12-08</a:t>
            </a:r>
          </a:p>
        </p:txBody>
      </p:sp>
      <p:sp>
        <p:nvSpPr>
          <p:cNvPr id="21" name="Rektangel 20"/>
          <p:cNvSpPr/>
          <p:nvPr/>
        </p:nvSpPr>
        <p:spPr>
          <a:xfrm>
            <a:off x="6000760" y="0"/>
            <a:ext cx="3143240" cy="714356"/>
          </a:xfrm>
          <a:prstGeom prst="rect">
            <a:avLst/>
          </a:prstGeom>
          <a:solidFill>
            <a:srgbClr val="004B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22" name="Bildobjekt 21" descr="LO_GUeng_leftNEG.ep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74" y="185725"/>
            <a:ext cx="2643206" cy="360745"/>
          </a:xfrm>
          <a:prstGeom prst="rect">
            <a:avLst/>
          </a:prstGeom>
        </p:spPr>
      </p:pic>
      <p:sp>
        <p:nvSpPr>
          <p:cNvPr id="12" name="Platshållare för text 2"/>
          <p:cNvSpPr txBox="1">
            <a:spLocks/>
          </p:cNvSpPr>
          <p:nvPr/>
        </p:nvSpPr>
        <p:spPr>
          <a:xfrm>
            <a:off x="1143000" y="2286000"/>
            <a:ext cx="6705600" cy="3581400"/>
          </a:xfrm>
          <a:prstGeom prst="rect">
            <a:avLst/>
          </a:prstGeom>
        </p:spPr>
        <p:txBody>
          <a:bodyPr vert="horz" lIns="91440" tIns="45720" rIns="91440" bIns="45720" rtlCol="0" anchor="t"/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sv-SE" sz="1200" dirty="0" smtClean="0"/>
          </a:p>
        </p:txBody>
      </p:sp>
    </p:spTree>
    <p:extLst>
      <p:ext uri="{BB962C8B-B14F-4D97-AF65-F5344CB8AC3E}">
        <p14:creationId xmlns:p14="http://schemas.microsoft.com/office/powerpoint/2010/main" val="2124795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3472</TotalTime>
  <Words>414</Words>
  <Application>Microsoft Office PowerPoint</Application>
  <PresentationFormat>Bildspel på skärmen (4:3)</PresentationFormat>
  <Paragraphs>103</Paragraphs>
  <Slides>11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Bildrubriker</vt:lpstr>
      </vt:variant>
      <vt:variant>
        <vt:i4>11</vt:i4>
      </vt:variant>
    </vt:vector>
  </HeadingPairs>
  <TitlesOfParts>
    <vt:vector size="12" baseType="lpstr">
      <vt:lpstr>Office-tema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Bild 1</dc:title>
  <dc:creator>Ulf</dc:creator>
  <cp:lastModifiedBy>johan</cp:lastModifiedBy>
  <cp:revision>78</cp:revision>
  <dcterms:created xsi:type="dcterms:W3CDTF">2010-05-27T11:43:54Z</dcterms:created>
  <dcterms:modified xsi:type="dcterms:W3CDTF">2010-12-03T15:35:09Z</dcterms:modified>
</cp:coreProperties>
</file>