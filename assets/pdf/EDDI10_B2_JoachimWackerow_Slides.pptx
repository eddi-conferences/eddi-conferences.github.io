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Default Extension="sldx" ContentType="application/vnd.openxmlformats-officedocument.presentationml.slide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83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3" r:id="rId14"/>
    <p:sldId id="274" r:id="rId15"/>
    <p:sldId id="275" r:id="rId16"/>
    <p:sldId id="276" r:id="rId17"/>
    <p:sldId id="284" r:id="rId18"/>
    <p:sldId id="277" r:id="rId19"/>
    <p:sldId id="278" r:id="rId20"/>
    <p:sldId id="285" r:id="rId21"/>
    <p:sldId id="279" r:id="rId22"/>
    <p:sldId id="281" r:id="rId23"/>
  </p:sldIdLst>
  <p:sldSz cx="9144000" cy="6858000" type="screen4x3"/>
  <p:notesSz cx="6794500" cy="99187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24" autoAdjust="0"/>
    <p:restoredTop sz="94660"/>
  </p:normalViewPr>
  <p:slideViewPr>
    <p:cSldViewPr>
      <p:cViewPr varScale="1">
        <p:scale>
          <a:sx n="51" d="100"/>
          <a:sy n="51" d="100"/>
        </p:scale>
        <p:origin x="-389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86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A766C-6679-4F1F-8C78-B94C12A8A749}" type="datetimeFigureOut">
              <a:rPr lang="en-US" smtClean="0"/>
              <a:pPr/>
              <a:t>12/9/2010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1044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21044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39C6A-E26E-44BB-94F2-B24DC50C97F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B2AAC-81FF-4E40-86C2-C9549EA23AA7}" type="datetimeFigureOut">
              <a:rPr lang="de-DE" smtClean="0"/>
              <a:pPr/>
              <a:t>09.12.2010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59350" cy="37195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1383"/>
            <a:ext cx="5435600" cy="4463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1044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21044"/>
            <a:ext cx="2944283" cy="4959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E35B2-D043-4D1D-A42A-A9A85439C66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09.12.2010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09.12.2010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09.12.2010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09.12.2010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09.12.2010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09.12.2010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09.12.2010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09.12.2010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09.12.2010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09.12.2010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 durch Klicken hinzufügen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50D42-C9CD-4801-B293-61D1F53EC57E}" type="datetimeFigureOut">
              <a:rPr lang="de-DE" smtClean="0"/>
              <a:pPr/>
              <a:t>09.12.2010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50D42-C9CD-4801-B293-61D1F53EC57E}" type="datetimeFigureOut">
              <a:rPr lang="de-DE" smtClean="0"/>
              <a:pPr/>
              <a:t>09.12.2010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PowerPoint-Folie1.sl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PowerPoint-Folie2.sl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PowerPoint-Folie3.sl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PowerPoint-Folie4.sl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43050"/>
            <a:ext cx="7772400" cy="1714512"/>
          </a:xfrm>
        </p:spPr>
        <p:txBody>
          <a:bodyPr>
            <a:normAutofit/>
          </a:bodyPr>
          <a:lstStyle/>
          <a:p>
            <a:r>
              <a:rPr lang="en-US" b="1" dirty="0" smtClean="0"/>
              <a:t>Locating objects identified by DDI3 Uniform Resource Names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034" y="3886200"/>
            <a:ext cx="8072494" cy="1752600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 smtClean="0"/>
              <a:t>Part of Session: </a:t>
            </a:r>
            <a:r>
              <a:rPr lang="en-US" sz="2400" dirty="0" smtClean="0"/>
              <a:t>Concurrent B2: Reports and Updates on DDI activities</a:t>
            </a:r>
            <a:endParaRPr lang="en-US" sz="2200" dirty="0" smtClean="0"/>
          </a:p>
          <a:p>
            <a:r>
              <a:rPr lang="en-US" sz="2200" dirty="0" smtClean="0"/>
              <a:t>2nd Annual European DDI Users Group Meeting</a:t>
            </a:r>
          </a:p>
          <a:p>
            <a:r>
              <a:rPr lang="en-US" sz="2200" dirty="0" err="1" smtClean="0"/>
              <a:t>SURFfoundation</a:t>
            </a:r>
            <a:r>
              <a:rPr lang="en-US" sz="2200" dirty="0" smtClean="0"/>
              <a:t>, Utrecht, December 8-9, 2010</a:t>
            </a:r>
          </a:p>
          <a:p>
            <a:endParaRPr lang="en-US" sz="2200" dirty="0" smtClean="0"/>
          </a:p>
          <a:p>
            <a:r>
              <a:rPr lang="en-US" sz="2200" dirty="0" smtClean="0"/>
              <a:t>Joachim </a:t>
            </a:r>
            <a:r>
              <a:rPr lang="en-US" sz="2200" dirty="0" err="1" smtClean="0"/>
              <a:t>Wackerow</a:t>
            </a:r>
            <a:r>
              <a:rPr lang="en-US" sz="2200" dirty="0" smtClean="0"/>
              <a:t>, GESIS – Leibniz Institute for the Social Sciences</a:t>
            </a:r>
          </a:p>
          <a:p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pPr lvl="1"/>
            <a:r>
              <a:rPr lang="en-US" dirty="0" smtClean="0"/>
              <a:t>Background in DDI</a:t>
            </a:r>
          </a:p>
          <a:p>
            <a:pPr lvl="1"/>
            <a:r>
              <a:rPr lang="en-US" dirty="0" smtClean="0"/>
              <a:t>Relationship URI / URN / URL</a:t>
            </a:r>
          </a:p>
          <a:p>
            <a:r>
              <a:rPr lang="en-US" dirty="0" smtClean="0"/>
              <a:t>URN Resolution</a:t>
            </a:r>
          </a:p>
          <a:p>
            <a:pPr lvl="1"/>
            <a:r>
              <a:rPr lang="en-US" dirty="0" smtClean="0"/>
              <a:t>DNS-based approach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Introduction: Background in DDI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DDI is expressed in XML</a:t>
            </a:r>
          </a:p>
          <a:p>
            <a:r>
              <a:rPr lang="en-US" dirty="0" smtClean="0"/>
              <a:t>120 elements/objects can be identified by IDs</a:t>
            </a:r>
          </a:p>
          <a:p>
            <a:r>
              <a:rPr lang="en-US" dirty="0" smtClean="0"/>
              <a:t>This adds reusability of these objects to the hierarchical structure of a DDI instance</a:t>
            </a:r>
          </a:p>
          <a:p>
            <a:r>
              <a:rPr lang="en-US" dirty="0" smtClean="0"/>
              <a:t>The IDs have a local scope, often related to a DDI scheme</a:t>
            </a:r>
          </a:p>
          <a:p>
            <a:r>
              <a:rPr lang="en-US" dirty="0" smtClean="0"/>
              <a:t>A DDI scheme is an list of items which is maintained by a DDI agency</a:t>
            </a:r>
          </a:p>
          <a:p>
            <a:pPr lvl="1"/>
            <a:r>
              <a:rPr lang="en-US" dirty="0" smtClean="0"/>
              <a:t>altogether 31 maintainable objects, the most important ones are 14 DDI schemes</a:t>
            </a:r>
          </a:p>
          <a:p>
            <a:r>
              <a:rPr lang="en-US" dirty="0" smtClean="0"/>
              <a:t>The IDs and the information about the maintainable object build the basis to construct DDI URNs</a:t>
            </a:r>
          </a:p>
          <a:p>
            <a:r>
              <a:rPr lang="en-US" dirty="0" smtClean="0"/>
              <a:t>URNs are globally unique identifiers and can be seen as persistent identifiers</a:t>
            </a:r>
          </a:p>
          <a:p>
            <a:r>
              <a:rPr lang="en-US" dirty="0" smtClean="0"/>
              <a:t>DDI URNs add reusability of DDI objects in a network of DDI instances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Use cases of distributed DDI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57428"/>
          </a:xfrm>
        </p:spPr>
        <p:txBody>
          <a:bodyPr/>
          <a:lstStyle/>
          <a:p>
            <a:r>
              <a:rPr lang="en-US" dirty="0" smtClean="0"/>
              <a:t>Examples of possible main usage as reusable resource package</a:t>
            </a:r>
          </a:p>
          <a:p>
            <a:pPr lvl="1"/>
            <a:r>
              <a:rPr lang="en-US" dirty="0" smtClean="0"/>
              <a:t>Question bank</a:t>
            </a:r>
          </a:p>
          <a:p>
            <a:pPr lvl="1"/>
            <a:r>
              <a:rPr lang="en-US" dirty="0" smtClean="0"/>
              <a:t>Standard demographic variables</a:t>
            </a:r>
          </a:p>
          <a:p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928662" y="4572008"/>
            <a:ext cx="2500330" cy="175432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DDI Instance</a:t>
            </a:r>
          </a:p>
          <a:p>
            <a:r>
              <a:rPr lang="en-US" dirty="0" smtClean="0"/>
              <a:t>  Study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DataCollection</a:t>
            </a:r>
            <a:endParaRPr lang="en-US" dirty="0" smtClean="0"/>
          </a:p>
          <a:p>
            <a:r>
              <a:rPr lang="en-US" dirty="0" smtClean="0"/>
              <a:t>      </a:t>
            </a:r>
            <a:r>
              <a:rPr lang="en-US" dirty="0" err="1" smtClean="0"/>
              <a:t>QuestionScheme</a:t>
            </a:r>
            <a:endParaRPr lang="en-US" dirty="0" smtClean="0"/>
          </a:p>
          <a:p>
            <a:r>
              <a:rPr lang="en-US" dirty="0" smtClean="0"/>
              <a:t>        </a:t>
            </a:r>
            <a:r>
              <a:rPr lang="en-US" dirty="0" err="1" smtClean="0"/>
              <a:t>QuestionReference</a:t>
            </a:r>
            <a:endParaRPr lang="en-US" dirty="0" smtClean="0"/>
          </a:p>
          <a:p>
            <a:r>
              <a:rPr lang="en-US" dirty="0" smtClean="0"/>
              <a:t>          </a:t>
            </a:r>
            <a:r>
              <a:rPr lang="en-US" b="1" dirty="0" smtClean="0"/>
              <a:t>URN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429256" y="3857628"/>
            <a:ext cx="2500330" cy="258532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DDI Instance</a:t>
            </a:r>
          </a:p>
          <a:p>
            <a:r>
              <a:rPr lang="en-US" dirty="0" smtClean="0"/>
              <a:t>  </a:t>
            </a:r>
            <a:r>
              <a:rPr lang="en-US" dirty="0" err="1" smtClean="0"/>
              <a:t>ResourcePackage</a:t>
            </a:r>
            <a:endParaRPr lang="en-US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DataCollection</a:t>
            </a:r>
            <a:endParaRPr lang="en-US" dirty="0" smtClean="0"/>
          </a:p>
          <a:p>
            <a:r>
              <a:rPr lang="en-US" dirty="0" smtClean="0"/>
              <a:t>      </a:t>
            </a:r>
            <a:r>
              <a:rPr lang="en-US" dirty="0" err="1" smtClean="0"/>
              <a:t>QuestionScheme</a:t>
            </a:r>
            <a:endParaRPr lang="en-US" dirty="0" smtClean="0"/>
          </a:p>
          <a:p>
            <a:r>
              <a:rPr lang="en-US" dirty="0" smtClean="0"/>
              <a:t>        </a:t>
            </a:r>
            <a:r>
              <a:rPr lang="en-US" dirty="0" err="1" smtClean="0"/>
              <a:t>QuestionItem</a:t>
            </a:r>
            <a:r>
              <a:rPr lang="en-US" dirty="0" smtClean="0"/>
              <a:t>/@urn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QuestionItem</a:t>
            </a:r>
            <a:r>
              <a:rPr lang="en-US" dirty="0" smtClean="0"/>
              <a:t>/@</a:t>
            </a:r>
            <a:r>
              <a:rPr lang="en-US" b="1" dirty="0" smtClean="0"/>
              <a:t>urn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QuestionItem</a:t>
            </a:r>
            <a:r>
              <a:rPr lang="en-US" dirty="0" smtClean="0"/>
              <a:t>/@urn</a:t>
            </a:r>
          </a:p>
          <a:p>
            <a:r>
              <a:rPr lang="en-US" dirty="0" smtClean="0"/>
              <a:t>      .</a:t>
            </a:r>
          </a:p>
          <a:p>
            <a:r>
              <a:rPr lang="en-US" dirty="0" smtClean="0"/>
              <a:t>      .</a:t>
            </a:r>
          </a:p>
        </p:txBody>
      </p:sp>
      <p:cxnSp>
        <p:nvCxnSpPr>
          <p:cNvPr id="7" name="Curved Connector 6"/>
          <p:cNvCxnSpPr/>
          <p:nvPr/>
        </p:nvCxnSpPr>
        <p:spPr>
          <a:xfrm flipV="1">
            <a:off x="2051720" y="5445224"/>
            <a:ext cx="3816424" cy="72008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3.1 URN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00306"/>
            <a:ext cx="8229600" cy="1071570"/>
          </a:xfrm>
        </p:spPr>
        <p:txBody>
          <a:bodyPr/>
          <a:lstStyle/>
          <a:p>
            <a:r>
              <a:rPr lang="en-US" dirty="0" smtClean="0"/>
              <a:t>The DDI element </a:t>
            </a:r>
            <a:r>
              <a:rPr lang="en-US" b="1" dirty="0" smtClean="0"/>
              <a:t>Variable</a:t>
            </a:r>
            <a:r>
              <a:rPr lang="en-US" dirty="0" smtClean="0"/>
              <a:t> with the ID “</a:t>
            </a:r>
            <a:r>
              <a:rPr lang="en-US" b="1" dirty="0" smtClean="0"/>
              <a:t>age</a:t>
            </a:r>
            <a:r>
              <a:rPr lang="en-US" dirty="0" smtClean="0"/>
              <a:t>” and the version “</a:t>
            </a:r>
            <a:r>
              <a:rPr lang="en-US" b="1" dirty="0" smtClean="0"/>
              <a:t>1.0.0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461430" y="1643050"/>
            <a:ext cx="26111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600" dirty="0" smtClean="0"/>
              <a:t>Variable.age.1.0.0</a:t>
            </a:r>
            <a:endParaRPr lang="en-US" sz="26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2339752" y="1643050"/>
            <a:ext cx="4236182" cy="492443"/>
            <a:chOff x="2412531" y="1643050"/>
            <a:chExt cx="4236182" cy="492443"/>
          </a:xfrm>
        </p:grpSpPr>
        <p:sp>
          <p:nvSpPr>
            <p:cNvPr id="12" name="TextBox 11"/>
            <p:cNvSpPr txBox="1"/>
            <p:nvPr/>
          </p:nvSpPr>
          <p:spPr>
            <a:xfrm>
              <a:off x="2412531" y="1643050"/>
              <a:ext cx="422692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600" dirty="0" smtClean="0"/>
                <a:t>VariableScheme.vs1786.4.2.3</a:t>
              </a:r>
              <a:endParaRPr lang="en-US" sz="26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74279" y="1643050"/>
              <a:ext cx="27443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600" dirty="0" smtClean="0"/>
                <a:t>:</a:t>
              </a:r>
              <a:endParaRPr lang="en-US" sz="26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17205" y="1643050"/>
            <a:ext cx="1277524" cy="492443"/>
            <a:chOff x="189984" y="1643050"/>
            <a:chExt cx="1277524" cy="492443"/>
          </a:xfrm>
        </p:grpSpPr>
        <p:sp>
          <p:nvSpPr>
            <p:cNvPr id="14" name="TextBox 13"/>
            <p:cNvSpPr txBox="1"/>
            <p:nvPr/>
          </p:nvSpPr>
          <p:spPr>
            <a:xfrm>
              <a:off x="189984" y="1643050"/>
              <a:ext cx="116730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600" dirty="0" err="1" smtClean="0"/>
                <a:t>urn:ddi</a:t>
              </a:r>
              <a:endParaRPr lang="en-US" sz="26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193074" y="1643050"/>
              <a:ext cx="27443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600" dirty="0" smtClean="0"/>
                <a:t>:</a:t>
              </a:r>
              <a:endParaRPr lang="en-US" sz="26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229828" y="1643050"/>
            <a:ext cx="1361907" cy="500066"/>
            <a:chOff x="1302607" y="1643050"/>
            <a:chExt cx="1361907" cy="500066"/>
          </a:xfrm>
        </p:grpSpPr>
        <p:sp>
          <p:nvSpPr>
            <p:cNvPr id="13" name="TextBox 12"/>
            <p:cNvSpPr txBox="1"/>
            <p:nvPr/>
          </p:nvSpPr>
          <p:spPr>
            <a:xfrm>
              <a:off x="1302607" y="1643050"/>
              <a:ext cx="126912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600" dirty="0" err="1" smtClean="0"/>
                <a:t>de.gesis</a:t>
              </a:r>
              <a:endParaRPr lang="en-US" sz="26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390080" y="1650673"/>
              <a:ext cx="27443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600" dirty="0" smtClean="0"/>
                <a:t>:</a:t>
              </a:r>
              <a:endParaRPr lang="en-US" sz="2600" dirty="0"/>
            </a:p>
          </p:txBody>
        </p:sp>
      </p:grpSp>
      <p:sp>
        <p:nvSpPr>
          <p:cNvPr id="19" name="Content Placeholder 2"/>
          <p:cNvSpPr txBox="1">
            <a:spLocks/>
          </p:cNvSpPr>
          <p:nvPr/>
        </p:nvSpPr>
        <p:spPr>
          <a:xfrm>
            <a:off x="500034" y="3517918"/>
            <a:ext cx="8229600" cy="10540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is contained in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VariableScheme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with the ID “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vs1786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 and the version “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4.2.3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500034" y="4429132"/>
            <a:ext cx="8229600" cy="1143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smtClean="0"/>
              <a:t>which is maintained by the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DDI agency identified by “</a:t>
            </a: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de.gesis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500034" y="5500702"/>
            <a:ext cx="8229600" cy="785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the URN namespace “</a:t>
            </a: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ddi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4427984" y="2060848"/>
            <a:ext cx="4176464" cy="1224136"/>
            <a:chOff x="4427984" y="2060848"/>
            <a:chExt cx="4176464" cy="1224136"/>
          </a:xfrm>
        </p:grpSpPr>
        <p:cxnSp>
          <p:nvCxnSpPr>
            <p:cNvPr id="25" name="Straight Arrow Connector 24"/>
            <p:cNvCxnSpPr/>
            <p:nvPr/>
          </p:nvCxnSpPr>
          <p:spPr>
            <a:xfrm rot="5400000" flipH="1" flipV="1">
              <a:off x="7488324" y="2240868"/>
              <a:ext cx="504056" cy="28803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/>
            <p:cNvCxnSpPr/>
            <p:nvPr/>
          </p:nvCxnSpPr>
          <p:spPr>
            <a:xfrm flipV="1">
              <a:off x="4644008" y="2132856"/>
              <a:ext cx="3960440" cy="1152128"/>
            </a:xfrm>
            <a:prstGeom prst="curvedConnector3">
              <a:avLst>
                <a:gd name="adj1" fmla="val 100102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4427984" y="2060848"/>
              <a:ext cx="2664296" cy="5760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2411760" y="2060848"/>
            <a:ext cx="3744416" cy="2088232"/>
            <a:chOff x="2411760" y="2060848"/>
            <a:chExt cx="3744416" cy="2088232"/>
          </a:xfrm>
        </p:grpSpPr>
        <p:cxnSp>
          <p:nvCxnSpPr>
            <p:cNvPr id="34" name="Straight Connector 33"/>
            <p:cNvCxnSpPr/>
            <p:nvPr/>
          </p:nvCxnSpPr>
          <p:spPr>
            <a:xfrm rot="16200000" flipV="1">
              <a:off x="3311860" y="2456892"/>
              <a:ext cx="1512168" cy="720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 flipH="1" flipV="1">
              <a:off x="5040052" y="2960948"/>
              <a:ext cx="1944216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urved Connector 38"/>
            <p:cNvCxnSpPr/>
            <p:nvPr/>
          </p:nvCxnSpPr>
          <p:spPr>
            <a:xfrm flipV="1">
              <a:off x="2411760" y="2132856"/>
              <a:ext cx="3024336" cy="2016224"/>
            </a:xfrm>
            <a:prstGeom prst="curvedConnector3">
              <a:avLst>
                <a:gd name="adj1" fmla="val 9928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Connector 41"/>
          <p:cNvCxnSpPr>
            <a:endCxn id="13" idx="2"/>
          </p:cNvCxnSpPr>
          <p:nvPr/>
        </p:nvCxnSpPr>
        <p:spPr>
          <a:xfrm rot="16200000" flipV="1">
            <a:off x="1346922" y="2652965"/>
            <a:ext cx="2949691" cy="1914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10800000">
            <a:off x="1043608" y="2132856"/>
            <a:ext cx="4176464" cy="3456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 URI / URN / URL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104456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Uniform Resource Identifier (URI) identifies a name or a resource on the Internet</a:t>
            </a:r>
          </a:p>
          <a:p>
            <a:r>
              <a:rPr lang="en-US" dirty="0" smtClean="0"/>
              <a:t>The Uniform Resource Name (URN) defines an item's identity</a:t>
            </a:r>
          </a:p>
          <a:p>
            <a:r>
              <a:rPr lang="de-DE" dirty="0" smtClean="0"/>
              <a:t>An URN </a:t>
            </a:r>
            <a:r>
              <a:rPr lang="de-DE" dirty="0" err="1" smtClean="0"/>
              <a:t>is</a:t>
            </a:r>
            <a:r>
              <a:rPr lang="de-DE" dirty="0" smtClean="0"/>
              <a:t> a persistent, </a:t>
            </a:r>
            <a:r>
              <a:rPr lang="de-DE" dirty="0" err="1" smtClean="0"/>
              <a:t>location-independent</a:t>
            </a:r>
            <a:r>
              <a:rPr lang="de-DE" dirty="0" smtClean="0"/>
              <a:t> </a:t>
            </a:r>
            <a:r>
              <a:rPr lang="de-DE" dirty="0" err="1" smtClean="0"/>
              <a:t>resource</a:t>
            </a:r>
            <a:r>
              <a:rPr lang="de-DE" dirty="0" smtClean="0"/>
              <a:t> </a:t>
            </a:r>
            <a:r>
              <a:rPr lang="de-DE" dirty="0" err="1" smtClean="0"/>
              <a:t>identifier</a:t>
            </a:r>
            <a:endParaRPr lang="de-DE" dirty="0" smtClean="0"/>
          </a:p>
          <a:p>
            <a:r>
              <a:rPr lang="en-US" dirty="0" smtClean="0"/>
              <a:t>The Uniform Resource Locator (URL) specifies where an identified resource is available and the mechanism for retrieving it.</a:t>
            </a:r>
          </a:p>
          <a:p>
            <a:r>
              <a:rPr lang="en-US" dirty="0" smtClean="0"/>
              <a:t>Both, URN and URL are URIs</a:t>
            </a:r>
          </a:p>
        </p:txBody>
      </p:sp>
      <p:cxnSp>
        <p:nvCxnSpPr>
          <p:cNvPr id="6" name="Straight Connector 5"/>
          <p:cNvCxnSpPr>
            <a:stCxn id="10" idx="2"/>
            <a:endCxn id="9" idx="0"/>
          </p:cNvCxnSpPr>
          <p:nvPr/>
        </p:nvCxnSpPr>
        <p:spPr>
          <a:xfrm rot="5400000">
            <a:off x="3660730" y="5213952"/>
            <a:ext cx="402431" cy="1356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2803744" y="5229200"/>
            <a:ext cx="3496448" cy="1325761"/>
            <a:chOff x="2803744" y="5373216"/>
            <a:chExt cx="3496448" cy="1325761"/>
          </a:xfrm>
        </p:grpSpPr>
        <p:cxnSp>
          <p:nvCxnSpPr>
            <p:cNvPr id="5" name="Straight Connector 4"/>
            <p:cNvCxnSpPr>
              <a:stCxn id="10" idx="2"/>
              <a:endCxn id="11" idx="0"/>
            </p:cNvCxnSpPr>
            <p:nvPr/>
          </p:nvCxnSpPr>
          <p:spPr>
            <a:xfrm rot="16200000" flipH="1">
              <a:off x="5046915" y="5328038"/>
              <a:ext cx="402431" cy="14161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803744" y="6237312"/>
              <a:ext cx="7601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URN</a:t>
              </a:r>
              <a:endParaRPr lang="en-US" sz="24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20113" y="5373216"/>
              <a:ext cx="6399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URI</a:t>
              </a:r>
              <a:endParaRPr lang="en-US" sz="2400" b="1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612183" y="6237312"/>
              <a:ext cx="6880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URL</a:t>
              </a:r>
              <a:endParaRPr lang="en-US" sz="24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URN Resolution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DDI object is identified by a DDI URN</a:t>
            </a:r>
          </a:p>
          <a:p>
            <a:r>
              <a:rPr lang="en-US" dirty="0" smtClean="0"/>
              <a:t>The DDI URN is a globally unique identifier</a:t>
            </a:r>
          </a:p>
          <a:p>
            <a:r>
              <a:rPr lang="en-US" dirty="0" smtClean="0"/>
              <a:t>The DDI URN must be resolved to an URL to find the identified object on the Internet</a:t>
            </a:r>
          </a:p>
          <a:p>
            <a:r>
              <a:rPr lang="en-US" dirty="0" smtClean="0"/>
              <a:t>A DDI object with an unique URN can have multiple locations identified by multiple URLs (identical copies of the object)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URN Resolution Service</a:t>
            </a:r>
            <a:br>
              <a:rPr lang="en-US" dirty="0" smtClean="0"/>
            </a:br>
            <a:r>
              <a:rPr lang="en-US" dirty="0" smtClean="0"/>
              <a:t>Different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Specialized resolution services for persistent identifiers</a:t>
            </a:r>
          </a:p>
          <a:p>
            <a:pPr lvl="1"/>
            <a:r>
              <a:rPr lang="en-US" dirty="0" smtClean="0"/>
              <a:t>Examples Handle, DOI, PURL</a:t>
            </a:r>
          </a:p>
          <a:p>
            <a:pPr lvl="1"/>
            <a:r>
              <a:rPr lang="en-US" dirty="0" smtClean="0"/>
              <a:t>Not URN compliant, can only be used by an application on top of it</a:t>
            </a:r>
          </a:p>
          <a:p>
            <a:pPr lvl="1"/>
            <a:r>
              <a:rPr lang="en-US" dirty="0" smtClean="0"/>
              <a:t>Dependency from additional framework, possible costs</a:t>
            </a:r>
          </a:p>
          <a:p>
            <a:r>
              <a:rPr lang="en-US" dirty="0" smtClean="0"/>
              <a:t>DNS-based resolution</a:t>
            </a:r>
          </a:p>
          <a:p>
            <a:pPr lvl="1"/>
            <a:r>
              <a:rPr lang="en-US" dirty="0" smtClean="0"/>
              <a:t>hierarchical naming system for computers on the Internet, "phone book" for the Internet </a:t>
            </a:r>
          </a:p>
          <a:p>
            <a:pPr lvl="1"/>
            <a:r>
              <a:rPr lang="en-US" dirty="0" smtClean="0"/>
              <a:t>existing, well maintained infrastructure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DNS-based URN Resolution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Approach focuses on simplicity and uses existing infrastructure</a:t>
            </a:r>
          </a:p>
          <a:p>
            <a:r>
              <a:rPr lang="en-US" dirty="0" smtClean="0"/>
              <a:t>DNS can be used for URN resolution with additional preparation steps</a:t>
            </a:r>
          </a:p>
          <a:p>
            <a:pPr lvl="1"/>
            <a:r>
              <a:rPr lang="en-US" dirty="0" smtClean="0"/>
              <a:t>No out-of-the-box resolution for URNs available</a:t>
            </a:r>
          </a:p>
          <a:p>
            <a:r>
              <a:rPr lang="en-US" dirty="0" smtClean="0"/>
              <a:t>Assumption: all DDI objects of a DDI agency or sub-agency are provided by services with a single entry point</a:t>
            </a:r>
          </a:p>
          <a:p>
            <a:pPr lvl="1"/>
            <a:r>
              <a:rPr lang="en-US" dirty="0" smtClean="0"/>
              <a:t>Example: HTTP-based service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82726"/>
          </a:xfrm>
        </p:spPr>
        <p:txBody>
          <a:bodyPr>
            <a:normAutofit/>
          </a:bodyPr>
          <a:lstStyle/>
          <a:p>
            <a:r>
              <a:rPr lang="en-US" dirty="0" smtClean="0"/>
              <a:t>DNS-based URN Resolution Service</a:t>
            </a:r>
            <a:br>
              <a:rPr lang="en-US" dirty="0" smtClean="0"/>
            </a:br>
            <a:r>
              <a:rPr lang="en-US" dirty="0" smtClean="0"/>
              <a:t>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14620"/>
            <a:ext cx="8229600" cy="414338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Focusing just on the agency id</a:t>
            </a:r>
          </a:p>
          <a:p>
            <a:r>
              <a:rPr lang="en-US" dirty="0" smtClean="0"/>
              <a:t>Application queries DNS: which services are available for DDI objects maintained by a specific agency?</a:t>
            </a:r>
          </a:p>
          <a:p>
            <a:r>
              <a:rPr lang="en-US" dirty="0" smtClean="0"/>
              <a:t>Response from DNS: list of available services for this agency</a:t>
            </a:r>
          </a:p>
          <a:p>
            <a:r>
              <a:rPr lang="en-US" dirty="0" smtClean="0"/>
              <a:t>Application selects a service (e.g. a DDI repository) and queries this service</a:t>
            </a:r>
          </a:p>
          <a:p>
            <a:pPr lvl="1"/>
            <a:r>
              <a:rPr lang="de-DE" dirty="0" smtClean="0"/>
              <a:t>http://ddirepository.gesis.org/</a:t>
            </a:r>
          </a:p>
          <a:p>
            <a:pPr lvl="1"/>
            <a:r>
              <a:rPr lang="de-DE" sz="1900" dirty="0" smtClean="0"/>
              <a:t>http://ddirepository.gesis.org/?URN=urn:ddi:de.gesis:VariableScheme.vs1786.4.2.3:</a:t>
            </a:r>
          </a:p>
          <a:p>
            <a:pPr lvl="1">
              <a:buNone/>
            </a:pPr>
            <a:r>
              <a:rPr lang="de-DE" sz="1900" dirty="0" smtClean="0"/>
              <a:t>		Variable.age.1.0.0</a:t>
            </a:r>
            <a:endParaRPr lang="en-US" sz="1900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337464" y="2007863"/>
            <a:ext cx="674319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600" dirty="0" smtClean="0"/>
              <a:t>:VariableScheme.vs1786.4.2.3:Variable.age.1.0.0</a:t>
            </a:r>
            <a:endParaRPr lang="en-US" sz="2600" dirty="0"/>
          </a:p>
        </p:txBody>
      </p:sp>
      <p:sp>
        <p:nvSpPr>
          <p:cNvPr id="14" name="TextBox 13"/>
          <p:cNvSpPr txBox="1"/>
          <p:nvPr/>
        </p:nvSpPr>
        <p:spPr>
          <a:xfrm>
            <a:off x="214282" y="2007863"/>
            <a:ext cx="234153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600" dirty="0" err="1" smtClean="0"/>
              <a:t>urn:ddi:de.gesis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357850"/>
          </a:xfrm>
        </p:spPr>
        <p:txBody>
          <a:bodyPr>
            <a:noAutofit/>
          </a:bodyPr>
          <a:lstStyle/>
          <a:p>
            <a:r>
              <a:rPr lang="en-US" sz="2400" dirty="0" smtClean="0"/>
              <a:t>Input is complete URN. Example: </a:t>
            </a:r>
            <a:r>
              <a:rPr lang="en-US" sz="2200" dirty="0" smtClean="0"/>
              <a:t>urn:ddi:</a:t>
            </a:r>
            <a:r>
              <a:rPr lang="en-US" sz="2200" b="1" dirty="0" smtClean="0"/>
              <a:t>de.gesis</a:t>
            </a:r>
            <a:r>
              <a:rPr lang="en-US" sz="2200" dirty="0" smtClean="0"/>
              <a:t>:VariableScheme.vs1786.4.2.3:Variable.age.1.0.0</a:t>
            </a:r>
          </a:p>
          <a:p>
            <a:r>
              <a:rPr lang="en-US" sz="2400" dirty="0" smtClean="0"/>
              <a:t>Extraction of the maintaining agency id. Example: </a:t>
            </a:r>
            <a:r>
              <a:rPr lang="en-US" sz="2400" b="1" dirty="0" err="1" smtClean="0"/>
              <a:t>de.gesis</a:t>
            </a:r>
            <a:endParaRPr lang="en-US" sz="2400" b="1" dirty="0" smtClean="0"/>
          </a:p>
          <a:p>
            <a:r>
              <a:rPr lang="en-US" sz="2400" dirty="0" smtClean="0"/>
              <a:t>Transformation of the agency id to an Internet domain name. Example: </a:t>
            </a:r>
            <a:r>
              <a:rPr lang="en-US" sz="2400" b="1" dirty="0" err="1" smtClean="0"/>
              <a:t>gesis.de</a:t>
            </a:r>
            <a:r>
              <a:rPr lang="en-US" sz="2400" dirty="0" err="1" smtClean="0"/>
              <a:t>.ddi.urn.arpa</a:t>
            </a:r>
            <a:r>
              <a:rPr lang="en-US" sz="2400" dirty="0" smtClean="0"/>
              <a:t>. (URN is below "</a:t>
            </a:r>
            <a:r>
              <a:rPr lang="en-US" sz="2400" dirty="0" err="1" smtClean="0"/>
              <a:t>arpa</a:t>
            </a:r>
            <a:r>
              <a:rPr lang="en-US" sz="2400" dirty="0" smtClean="0"/>
              <a:t>“)</a:t>
            </a:r>
          </a:p>
          <a:p>
            <a:r>
              <a:rPr lang="en-US" sz="2400" dirty="0" smtClean="0"/>
              <a:t>Sending the agency id (in this format) as request to the DNS.</a:t>
            </a:r>
          </a:p>
          <a:p>
            <a:r>
              <a:rPr lang="en-US" sz="2400" dirty="0" smtClean="0"/>
              <a:t>The DNS response is a list of available services for DDI objects of this agency. Example: DDI repository providing DDI objects by a </a:t>
            </a:r>
            <a:r>
              <a:rPr lang="en-US" sz="2400" dirty="0" err="1" smtClean="0"/>
              <a:t>RESTful</a:t>
            </a:r>
            <a:r>
              <a:rPr lang="en-US" sz="2400" dirty="0" smtClean="0"/>
              <a:t> interface.</a:t>
            </a:r>
          </a:p>
          <a:p>
            <a:r>
              <a:rPr lang="en-US" sz="2400" dirty="0" smtClean="0"/>
              <a:t>The response should be cached by the resolution middleware.</a:t>
            </a:r>
          </a:p>
          <a:p>
            <a:r>
              <a:rPr lang="en-US" sz="2400" dirty="0" smtClean="0"/>
              <a:t>The application selects an appropriate service from the list of services.</a:t>
            </a:r>
          </a:p>
          <a:p>
            <a:r>
              <a:rPr lang="en-US" sz="2400" dirty="0" smtClean="0"/>
              <a:t>The application queries the service.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32" y="252793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32" y="-2184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097" name="Object 1"/>
          <p:cNvGraphicFramePr>
            <a:graphicFrameLocks noChangeAspect="1"/>
          </p:cNvGraphicFramePr>
          <p:nvPr/>
        </p:nvGraphicFramePr>
        <p:xfrm>
          <a:off x="0" y="0"/>
          <a:ext cx="9138454" cy="6836155"/>
        </p:xfrm>
        <a:graphic>
          <a:graphicData uri="http://schemas.openxmlformats.org/presentationml/2006/ole">
            <p:oleObj spid="_x0000_s7170" name="Folie" r:id="rId3" imgW="614081" imgH="460111" progId="PowerPoint.Slide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32" y="252793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32" y="-2184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097" name="Object 1"/>
          <p:cNvGraphicFramePr>
            <a:graphicFrameLocks noChangeAspect="1"/>
          </p:cNvGraphicFramePr>
          <p:nvPr/>
        </p:nvGraphicFramePr>
        <p:xfrm>
          <a:off x="0" y="0"/>
          <a:ext cx="9138454" cy="6836155"/>
        </p:xfrm>
        <a:graphic>
          <a:graphicData uri="http://schemas.openxmlformats.org/presentationml/2006/ole">
            <p:oleObj spid="_x0000_s8194" name="Folie" r:id="rId3" imgW="614081" imgH="460111" progId="PowerPoint.Slide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32" y="252793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32" y="-2184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097" name="Object 1"/>
          <p:cNvGraphicFramePr>
            <a:graphicFrameLocks noChangeAspect="1"/>
          </p:cNvGraphicFramePr>
          <p:nvPr/>
        </p:nvGraphicFramePr>
        <p:xfrm>
          <a:off x="0" y="0"/>
          <a:ext cx="9138454" cy="6836155"/>
        </p:xfrm>
        <a:graphic>
          <a:graphicData uri="http://schemas.openxmlformats.org/presentationml/2006/ole">
            <p:oleObj spid="_x0000_s9218" name="Folie" r:id="rId3" imgW="614081" imgH="460111" progId="PowerPoint.Slide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32" y="252793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32" y="-2184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097" name="Object 1"/>
          <p:cNvGraphicFramePr>
            <a:graphicFrameLocks noChangeAspect="1"/>
          </p:cNvGraphicFramePr>
          <p:nvPr/>
        </p:nvGraphicFramePr>
        <p:xfrm>
          <a:off x="0" y="0"/>
          <a:ext cx="9138454" cy="6836155"/>
        </p:xfrm>
        <a:graphic>
          <a:graphicData uri="http://schemas.openxmlformats.org/presentationml/2006/ole">
            <p:oleObj spid="_x0000_s10242" name="Folie" r:id="rId3" imgW="614081" imgH="460111" progId="PowerPoint.Slide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DNS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Delegation to name servers of DDI agencies by NS records</a:t>
            </a:r>
          </a:p>
          <a:p>
            <a:r>
              <a:rPr lang="en-US" dirty="0" smtClean="0"/>
              <a:t>Resolution of an DDI agency id to a DDI service by</a:t>
            </a:r>
          </a:p>
          <a:p>
            <a:pPr lvl="1"/>
            <a:r>
              <a:rPr lang="en-US" dirty="0" smtClean="0"/>
              <a:t>NAPTR records (base URL can be specified)</a:t>
            </a:r>
          </a:p>
          <a:p>
            <a:pPr lvl="1"/>
            <a:r>
              <a:rPr lang="en-US" dirty="0" smtClean="0"/>
              <a:t>Combination of NAPTR and SRV records (flexible protocol specification)</a:t>
            </a:r>
          </a:p>
          <a:p>
            <a:r>
              <a:rPr lang="en-US" dirty="0" smtClean="0"/>
              <a:t>Properties of DDI service can be specified in a detailed way</a:t>
            </a:r>
          </a:p>
          <a:p>
            <a:pPr lvl="1"/>
            <a:r>
              <a:rPr lang="en-US" dirty="0" smtClean="0"/>
              <a:t>host name, Internet protocol, port, base URL, type of service, priority, replication </a:t>
            </a:r>
            <a:r>
              <a:rPr lang="en-US" smtClean="0"/>
              <a:t>of services, load </a:t>
            </a:r>
            <a:r>
              <a:rPr lang="en-US" dirty="0" smtClean="0"/>
              <a:t>balancing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Organizational Requirements for</a:t>
            </a:r>
            <a:br>
              <a:rPr lang="en-US" dirty="0" smtClean="0"/>
            </a:br>
            <a:r>
              <a:rPr lang="en-US" dirty="0" smtClean="0"/>
              <a:t>DNS-based DDI URN Resolution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Application for the URN namespace “</a:t>
            </a:r>
            <a:r>
              <a:rPr lang="en-US" b="1" dirty="0" err="1" smtClean="0"/>
              <a:t>ddi</a:t>
            </a:r>
            <a:r>
              <a:rPr lang="en-US" dirty="0" smtClean="0"/>
              <a:t>” by a formal Request for Comments (RFC) document</a:t>
            </a:r>
          </a:p>
          <a:p>
            <a:r>
              <a:rPr lang="en-US" dirty="0" smtClean="0"/>
              <a:t>DDI agencies are required to apply for agency IDs at the DDI Alliance </a:t>
            </a:r>
          </a:p>
          <a:p>
            <a:pPr lvl="1"/>
            <a:r>
              <a:rPr lang="en-US" dirty="0" smtClean="0"/>
              <a:t>Agency ids are unique and must have a country code like “de”, international organizations use “</a:t>
            </a:r>
            <a:r>
              <a:rPr lang="en-US" dirty="0" err="1" smtClean="0"/>
              <a:t>int</a:t>
            </a:r>
            <a:r>
              <a:rPr lang="en-US" dirty="0" smtClean="0"/>
              <a:t>”.</a:t>
            </a:r>
          </a:p>
          <a:p>
            <a:r>
              <a:rPr lang="en-US" dirty="0" smtClean="0"/>
              <a:t>DDI agencies manage their DDI ids below the given DDI agency id</a:t>
            </a:r>
          </a:p>
          <a:p>
            <a:pPr lvl="1"/>
            <a:r>
              <a:rPr lang="en-US" dirty="0" smtClean="0"/>
              <a:t>Definition of an own identification structure (within the rules of the DDI URN structure)</a:t>
            </a:r>
          </a:p>
          <a:p>
            <a:pPr lvl="1"/>
            <a:r>
              <a:rPr lang="en-US" dirty="0" smtClean="0"/>
              <a:t>Assignment of possible sub-agencies</a:t>
            </a:r>
          </a:p>
          <a:p>
            <a:pPr lvl="1"/>
            <a:r>
              <a:rPr lang="en-US" dirty="0" smtClean="0"/>
              <a:t>Assignment of DDI ids according to this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Technical Requirements for</a:t>
            </a:r>
            <a:br>
              <a:rPr lang="en-US" dirty="0" smtClean="0"/>
            </a:br>
            <a:r>
              <a:rPr lang="en-US" dirty="0" smtClean="0"/>
              <a:t>DNS-based DDI URN Resolution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DNS servers at ddialliance.org as central entry point for DDI URN resolution</a:t>
            </a:r>
          </a:p>
          <a:p>
            <a:r>
              <a:rPr lang="en-US" dirty="0" smtClean="0"/>
              <a:t>Few configuration records (ca. 3) for each DDI agency</a:t>
            </a:r>
          </a:p>
          <a:p>
            <a:r>
              <a:rPr lang="en-US" dirty="0" smtClean="0"/>
              <a:t>DNS configuration for DDI services in the DNS servers of each DDI agency</a:t>
            </a:r>
          </a:p>
          <a:p>
            <a:r>
              <a:rPr lang="en-US" dirty="0" smtClean="0"/>
              <a:t>Management tool for agency registration and </a:t>
            </a:r>
            <a:r>
              <a:rPr lang="en-US" dirty="0" smtClean="0"/>
              <a:t>DNS configuration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Delegation to DNS servers of sub-agencies is possible</a:t>
            </a:r>
          </a:p>
          <a:p>
            <a:pPr lvl="1"/>
            <a:r>
              <a:rPr lang="en-US" dirty="0" smtClean="0"/>
              <a:t>For DDI objects below urn:ddi:project1.de.gesis: dns.gesis.org can delegate to dns.project1.gesis.org</a:t>
            </a:r>
          </a:p>
          <a:p>
            <a:r>
              <a:rPr lang="en-US" dirty="0" smtClean="0"/>
              <a:t>An additional delegation level can be introduced on the country level, when the amount of DDI agencies increases</a:t>
            </a:r>
          </a:p>
          <a:p>
            <a:r>
              <a:rPr lang="en-US" dirty="0" smtClean="0"/>
              <a:t>For specific purposes, a resolution for the URN of single DDI objects can be configured</a:t>
            </a:r>
          </a:p>
          <a:p>
            <a:pPr lvl="1"/>
            <a:r>
              <a:rPr lang="en-US" dirty="0" smtClean="0"/>
              <a:t>The DNS-based resolution is actually providing services for DDI objects of a DDI agency, it is not a URN resolution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Availability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Finalization of framework expected in the first half of 2011, including:</a:t>
            </a:r>
          </a:p>
          <a:p>
            <a:pPr lvl="1"/>
            <a:r>
              <a:rPr lang="en-US" dirty="0" smtClean="0"/>
              <a:t>Acceptance of URN namespace</a:t>
            </a:r>
          </a:p>
          <a:p>
            <a:pPr lvl="1"/>
            <a:r>
              <a:rPr lang="en-US" dirty="0" smtClean="0"/>
              <a:t>Management tool for agency registration and DNS </a:t>
            </a:r>
            <a:r>
              <a:rPr lang="en-US" dirty="0" smtClean="0"/>
              <a:t>configuration</a:t>
            </a:r>
          </a:p>
          <a:p>
            <a:pPr lvl="1"/>
            <a:r>
              <a:rPr lang="en-US" dirty="0" smtClean="0"/>
              <a:t>Middleware libraries  for usage in applications</a:t>
            </a:r>
          </a:p>
          <a:p>
            <a:pPr lvl="2"/>
            <a:r>
              <a:rPr lang="en-US" smtClean="0"/>
              <a:t>Provide a </a:t>
            </a:r>
            <a:r>
              <a:rPr lang="en-US" dirty="0" smtClean="0"/>
              <a:t>list of available DDI services for the agency id related to a given DDI URN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DNS-based DDI URN Resolution</a:t>
            </a:r>
            <a:br>
              <a:rPr lang="en-US" dirty="0" smtClean="0"/>
            </a:br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Lightweight approach</a:t>
            </a:r>
          </a:p>
          <a:p>
            <a:r>
              <a:rPr lang="en-US" dirty="0" smtClean="0"/>
              <a:t>Main focus is the level of the </a:t>
            </a:r>
            <a:r>
              <a:rPr lang="en-US" smtClean="0"/>
              <a:t>DDI agency</a:t>
            </a:r>
            <a:endParaRPr lang="en-US" dirty="0" smtClean="0"/>
          </a:p>
          <a:p>
            <a:r>
              <a:rPr lang="en-US" dirty="0" smtClean="0"/>
              <a:t>Can point to different DDI services in a flexible way </a:t>
            </a:r>
          </a:p>
          <a:p>
            <a:r>
              <a:rPr lang="en-US" dirty="0" smtClean="0"/>
              <a:t>Existing DNS infrastructure is used</a:t>
            </a:r>
          </a:p>
          <a:p>
            <a:r>
              <a:rPr lang="en-US" dirty="0" smtClean="0"/>
              <a:t>Efficient processing possible, because DNS cache structure is used, and the resolution middleware can additionally cache the query results.</a:t>
            </a:r>
          </a:p>
          <a:p>
            <a:r>
              <a:rPr lang="en-US" dirty="0" smtClean="0"/>
              <a:t>Extension possible: additional delegation on country level, resolution for single DDI objects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Peter Koch from DENIC (central registry for all domains under the top level Domain .de) </a:t>
            </a:r>
          </a:p>
          <a:p>
            <a:r>
              <a:rPr lang="en-US" dirty="0" smtClean="0"/>
              <a:t>Ad-hoc group at IASSIST 2009 in Tampere</a:t>
            </a:r>
          </a:p>
          <a:p>
            <a:r>
              <a:rPr lang="en-US" dirty="0" smtClean="0"/>
              <a:t>Dan Smith from </a:t>
            </a:r>
            <a:r>
              <a:rPr lang="en-US" dirty="0" err="1" smtClean="0"/>
              <a:t>Algenta</a:t>
            </a:r>
            <a:r>
              <a:rPr lang="en-US" dirty="0" smtClean="0"/>
              <a:t> Technologies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Microsoft Office PowerPoint</Application>
  <PresentationFormat>On-screen Show (4:3)</PresentationFormat>
  <Paragraphs>144</Paragraphs>
  <Slides>22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Larissa-Design</vt:lpstr>
      <vt:lpstr>Folie</vt:lpstr>
      <vt:lpstr>Locating objects identified by DDI3 Uniform Resource Names</vt:lpstr>
      <vt:lpstr>Overview</vt:lpstr>
      <vt:lpstr>Introduction: Background in DDI </vt:lpstr>
      <vt:lpstr>Use cases of distributed DDI resources</vt:lpstr>
      <vt:lpstr>DDI 3.1 URN Example</vt:lpstr>
      <vt:lpstr>Relationship URI / URN / URL</vt:lpstr>
      <vt:lpstr>DDI URN Resolution</vt:lpstr>
      <vt:lpstr>URN Resolution Service Different approaches</vt:lpstr>
      <vt:lpstr>DNS-based URN Resolution Service</vt:lpstr>
      <vt:lpstr>DNS-based URN Resolution Service Structure</vt:lpstr>
      <vt:lpstr>Algorithm</vt:lpstr>
      <vt:lpstr>Slide 12</vt:lpstr>
      <vt:lpstr>Slide 13</vt:lpstr>
      <vt:lpstr>Slide 14</vt:lpstr>
      <vt:lpstr>Slide 15</vt:lpstr>
      <vt:lpstr>DNS Details</vt:lpstr>
      <vt:lpstr>Organizational Requirements for DNS-based DDI URN Resolution</vt:lpstr>
      <vt:lpstr>Technical Requirements for DNS-based DDI URN Resolution</vt:lpstr>
      <vt:lpstr>Extensibility</vt:lpstr>
      <vt:lpstr>Availability</vt:lpstr>
      <vt:lpstr>DNS-based DDI URN Resolution Summary</vt:lpstr>
      <vt:lpstr>Acknowledgements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DDI3 Uniform Resource Names: Locating and Providing the Related DDI3 Objects</dc:title>
  <dc:creator>wackerow</dc:creator>
  <cp:lastModifiedBy>Joachim Wackerow</cp:lastModifiedBy>
  <cp:revision>189</cp:revision>
  <dcterms:created xsi:type="dcterms:W3CDTF">2010-05-31T01:10:04Z</dcterms:created>
  <dcterms:modified xsi:type="dcterms:W3CDTF">2010-12-09T13:50:20Z</dcterms:modified>
</cp:coreProperties>
</file>