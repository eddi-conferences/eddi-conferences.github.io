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 r:id="rId2"/>
    <p:sldId id="257" r:id="rId3"/>
    <p:sldId id="258" r:id="rId4"/>
    <p:sldId id="268" r:id="rId5"/>
    <p:sldId id="259" r:id="rId6"/>
    <p:sldId id="263" r:id="rId7"/>
    <p:sldId id="264" r:id="rId8"/>
    <p:sldId id="265" r:id="rId9"/>
    <p:sldId id="266" r:id="rId10"/>
    <p:sldId id="267" r:id="rId11"/>
    <p:sldId id="260" r:id="rId12"/>
    <p:sldId id="261"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8994" autoAdjust="0"/>
  </p:normalViewPr>
  <p:slideViewPr>
    <p:cSldViewPr>
      <p:cViewPr varScale="1">
        <p:scale>
          <a:sx n="77" d="100"/>
          <a:sy n="77" d="100"/>
        </p:scale>
        <p:origin x="-1956"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513DF9F-80D3-49C7-B9C1-CA07E7BAC134}" type="datetimeFigureOut">
              <a:rPr lang="en-US" smtClean="0"/>
              <a:t>12/14/2011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EBE89EF-5441-4C3B-BCBD-F6E66646ACCB}" type="slidenum">
              <a:rPr lang="en-US" smtClean="0"/>
              <a:t>‹#›</a:t>
            </a:fld>
            <a:endParaRPr lang="en-US"/>
          </a:p>
        </p:txBody>
      </p:sp>
    </p:spTree>
    <p:extLst>
      <p:ext uri="{BB962C8B-B14F-4D97-AF65-F5344CB8AC3E}">
        <p14:creationId xmlns:p14="http://schemas.microsoft.com/office/powerpoint/2010/main" val="67426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MIDUS is a large, longitudinal study operated by the University of Wisconsin.</a:t>
            </a:r>
          </a:p>
          <a:p>
            <a:endParaRPr lang="en-US" sz="1200" b="0" i="0" kern="1200" dirty="0" smtClean="0">
              <a:solidFill>
                <a:schemeClr val="tx1"/>
              </a:solidFill>
              <a:effectLst/>
              <a:latin typeface="+mn-lt"/>
              <a:ea typeface="+mn-ea"/>
              <a:cs typeface="+mn-cs"/>
            </a:endParaRPr>
          </a:p>
          <a:p>
            <a:r>
              <a:rPr lang="en-US" dirty="0" smtClean="0">
                <a:effectLst/>
              </a:rPr>
              <a:t>The first MIDUS investigation was conducted in 1994/95 with a sample of over 7000 Americans, aged 25 to 74. It was funded by the John D. and Catherine T. MacArthur Foundation. In 2002, the National Institute on Aging provided a grant to the Institute on Aging at the University of Wisconsin, Madison to carry out a longitudinal follow-up. Data collection for this second wave began in 2004 and was completed in 2009.</a:t>
            </a:r>
          </a:p>
          <a:p>
            <a:endParaRPr lang="en-US" dirty="0" smtClean="0">
              <a:effectLst/>
            </a:endParaRPr>
          </a:p>
          <a:p>
            <a:r>
              <a:rPr lang="en-US" dirty="0" smtClean="0">
                <a:effectLst/>
              </a:rPr>
              <a:t>Biomarkers</a:t>
            </a:r>
            <a:r>
              <a:rPr lang="en-US" baseline="0" dirty="0" smtClean="0">
                <a:effectLst/>
              </a:rPr>
              <a:t> from </a:t>
            </a:r>
            <a:r>
              <a:rPr lang="en-US" dirty="0" smtClean="0">
                <a:effectLst/>
              </a:rPr>
              <a:t>1200 respondents. Blood, saliva</a:t>
            </a:r>
          </a:p>
          <a:p>
            <a:endParaRPr lang="en-US" dirty="0" smtClean="0">
              <a:effectLst/>
            </a:endParaRPr>
          </a:p>
          <a:p>
            <a:r>
              <a:rPr lang="en-US" dirty="0" smtClean="0">
                <a:effectLst/>
              </a:rPr>
              <a:t>Neuroimaging </a:t>
            </a:r>
            <a:r>
              <a:rPr lang="en-US" dirty="0" smtClean="0">
                <a:effectLst/>
              </a:rPr>
              <a:t>from 330 </a:t>
            </a:r>
            <a:r>
              <a:rPr lang="en-US" dirty="0" smtClean="0">
                <a:effectLst/>
              </a:rPr>
              <a:t>respondents. MRI, fMRI, and EEG</a:t>
            </a:r>
          </a:p>
          <a:p>
            <a:endParaRPr lang="en-US" dirty="0" smtClean="0">
              <a:effectLst/>
            </a:endParaRPr>
          </a:p>
          <a:p>
            <a:r>
              <a:rPr lang="en-US" sz="1200" b="0" i="0" kern="1200" dirty="0" smtClean="0">
                <a:solidFill>
                  <a:schemeClr val="tx1"/>
                </a:solidFill>
                <a:effectLst/>
                <a:latin typeface="+mn-lt"/>
                <a:ea typeface="+mn-ea"/>
                <a:cs typeface="+mn-cs"/>
              </a:rPr>
              <a:t>A new round of data collection started this year.</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MIDUS data are used by social science researchers throughout the world, and an important goal of the project is to make its data easily accessible and understandable by these researchers.</a:t>
            </a:r>
          </a:p>
          <a:p>
            <a:endParaRPr lang="en-US" dirty="0"/>
          </a:p>
        </p:txBody>
      </p:sp>
      <p:sp>
        <p:nvSpPr>
          <p:cNvPr id="4" name="Slide Number Placeholder 3"/>
          <p:cNvSpPr>
            <a:spLocks noGrp="1"/>
          </p:cNvSpPr>
          <p:nvPr>
            <p:ph type="sldNum" sz="quarter" idx="10"/>
          </p:nvPr>
        </p:nvSpPr>
        <p:spPr/>
        <p:txBody>
          <a:bodyPr/>
          <a:lstStyle/>
          <a:p>
            <a:fld id="{5EBE89EF-5441-4C3B-BCBD-F6E66646ACCB}" type="slidenum">
              <a:rPr lang="en-US" smtClean="0"/>
              <a:t>2</a:t>
            </a:fld>
            <a:endParaRPr lang="en-US"/>
          </a:p>
        </p:txBody>
      </p:sp>
    </p:spTree>
    <p:extLst>
      <p:ext uri="{BB962C8B-B14F-4D97-AF65-F5344CB8AC3E}">
        <p14:creationId xmlns:p14="http://schemas.microsoft.com/office/powerpoint/2010/main" val="4309313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Data Files</a:t>
            </a:r>
          </a:p>
          <a:p>
            <a:r>
              <a:rPr lang="en-US" sz="1200" b="0" i="0" kern="1200" dirty="0" smtClean="0">
                <a:solidFill>
                  <a:schemeClr val="tx1"/>
                </a:solidFill>
                <a:effectLst/>
                <a:latin typeface="+mn-lt"/>
                <a:ea typeface="+mn-ea"/>
                <a:cs typeface="+mn-cs"/>
              </a:rPr>
              <a:t>MIDUS data are made available in SAS, SPSS, and </a:t>
            </a:r>
            <a:r>
              <a:rPr lang="en-US" sz="1200" b="0" i="0" kern="1200" dirty="0" err="1" smtClean="0">
                <a:solidFill>
                  <a:schemeClr val="tx1"/>
                </a:solidFill>
                <a:effectLst/>
                <a:latin typeface="+mn-lt"/>
                <a:ea typeface="+mn-ea"/>
                <a:cs typeface="+mn-cs"/>
              </a:rPr>
              <a:t>Stata</a:t>
            </a:r>
            <a:r>
              <a:rPr lang="en-US" sz="1200" b="0" i="0" kern="1200" dirty="0" smtClean="0">
                <a:solidFill>
                  <a:schemeClr val="tx1"/>
                </a:solidFill>
                <a:effectLst/>
                <a:latin typeface="+mn-lt"/>
                <a:ea typeface="+mn-ea"/>
                <a:cs typeface="+mn-cs"/>
              </a:rPr>
              <a:t> formats both through the MIDUS web site and through ICPSR. These files contain variable and value labels, and of course they can be used to calculate summary statistics and frequencies.</a:t>
            </a:r>
          </a:p>
          <a:p>
            <a:endParaRPr lang="en-US" sz="1200" b="1"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Web Documents and Codebooks</a:t>
            </a:r>
          </a:p>
          <a:p>
            <a:r>
              <a:rPr lang="en-US" sz="1200" b="0" i="0" kern="1200" dirty="0" smtClean="0">
                <a:solidFill>
                  <a:schemeClr val="tx1"/>
                </a:solidFill>
                <a:effectLst/>
                <a:latin typeface="+mn-lt"/>
                <a:ea typeface="+mn-ea"/>
                <a:cs typeface="+mn-cs"/>
              </a:rPr>
              <a:t>The MIDUS web site provides detailed descriptions for each of its sub-projects, funding sources, links to related materials, and codebooks that contain more extended labels than are found in the SPSS data files. We will want to maintain all this information in the new, standardized documentation.</a:t>
            </a:r>
          </a:p>
          <a:p>
            <a:endParaRPr lang="en-US" sz="1200" b="1"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DDI 2</a:t>
            </a:r>
          </a:p>
          <a:p>
            <a:r>
              <a:rPr lang="en-US" sz="1200" b="0" i="0" kern="1200" dirty="0" smtClean="0">
                <a:solidFill>
                  <a:schemeClr val="tx1"/>
                </a:solidFill>
                <a:effectLst/>
                <a:latin typeface="+mn-lt"/>
                <a:ea typeface="+mn-ea"/>
                <a:cs typeface="+mn-cs"/>
              </a:rPr>
              <a:t>Many of these web documents are automatically generated from DDI 2. The MIDUS DDI 2 describes codebook level details such as dataset contents, variable labels, summary statistics, and frequencies. It also has the question text that was used to collect data for each variable.</a:t>
            </a:r>
          </a:p>
          <a:p>
            <a:endParaRPr lang="en-US" sz="1200" b="1"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Spreadsheets</a:t>
            </a:r>
          </a:p>
          <a:p>
            <a:r>
              <a:rPr lang="en-US" sz="1200" b="0" i="0" kern="1200" dirty="0" smtClean="0">
                <a:solidFill>
                  <a:schemeClr val="tx1"/>
                </a:solidFill>
                <a:effectLst/>
                <a:latin typeface="+mn-lt"/>
                <a:ea typeface="+mn-ea"/>
                <a:cs typeface="+mn-cs"/>
              </a:rPr>
              <a:t>MIDUS staff use several spreadsheets to document their data and internal processes.</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Extended Metadata:</a:t>
            </a:r>
            <a:r>
              <a:rPr 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These spreadsheets list variables found in the data and provide longer labels, text of source questions, and other related information.</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Concept Mapping:</a:t>
            </a:r>
            <a:r>
              <a:rPr 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These spreadsheets define concepts studied by MIDUS, and associate the concepts with the related variables found in the MIDUS datasets.</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Translations:</a:t>
            </a:r>
            <a:r>
              <a:rPr 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These spreadsheets list variables from the main MIDUS studies along with Japanese language question text for the corresponding variables in the MIDUS Japan project.</a:t>
            </a:r>
          </a:p>
          <a:p>
            <a:endParaRPr lang="en-US" sz="1200" b="1"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Computer Assisted Interviewing Source Code (CASES)</a:t>
            </a:r>
          </a:p>
          <a:p>
            <a:r>
              <a:rPr lang="en-US" sz="1200" b="0" i="0" kern="1200" dirty="0" smtClean="0">
                <a:solidFill>
                  <a:schemeClr val="tx1"/>
                </a:solidFill>
                <a:effectLst/>
                <a:latin typeface="+mn-lt"/>
                <a:ea typeface="+mn-ea"/>
                <a:cs typeface="+mn-cs"/>
              </a:rPr>
              <a:t>The surveys used to collect the MIDUS data were administered by interviewers using the CASES computer assisted interviewing system. The CASES source code for these surveys is still available, and provides the one true representation of the survey respondents answered, with precise question text and routing instructions.</a:t>
            </a:r>
          </a:p>
          <a:p>
            <a:endParaRPr lang="en-US" sz="1200" b="1"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PDF Documents</a:t>
            </a:r>
          </a:p>
          <a:p>
            <a:r>
              <a:rPr lang="en-US" sz="1200" b="0" i="0" kern="1200" dirty="0" smtClean="0">
                <a:solidFill>
                  <a:schemeClr val="tx1"/>
                </a:solidFill>
                <a:effectLst/>
                <a:latin typeface="+mn-lt"/>
                <a:ea typeface="+mn-ea"/>
                <a:cs typeface="+mn-cs"/>
              </a:rPr>
              <a:t>MIDUS makes available many documents as PDF downloads. These include information about classification systems, methodological decisions, and more.</a:t>
            </a:r>
          </a:p>
          <a:p>
            <a:endParaRPr lang="en-US" dirty="0" smtClean="0"/>
          </a:p>
          <a:p>
            <a:r>
              <a:rPr lang="en-US" sz="1200" b="1" i="0" kern="1200" dirty="0" smtClean="0">
                <a:solidFill>
                  <a:schemeClr val="tx1"/>
                </a:solidFill>
                <a:effectLst/>
                <a:latin typeface="+mn-lt"/>
                <a:ea typeface="+mn-ea"/>
                <a:cs typeface="+mn-cs"/>
              </a:rPr>
              <a:t>Putting it all Together</a:t>
            </a:r>
            <a:endParaRPr lang="en-US" dirty="0" smtClean="0"/>
          </a:p>
          <a:p>
            <a:r>
              <a:rPr lang="en-US" sz="1200" b="0" i="0" kern="1200" dirty="0" smtClean="0">
                <a:solidFill>
                  <a:schemeClr val="tx1"/>
                </a:solidFill>
                <a:effectLst/>
                <a:latin typeface="+mn-lt"/>
                <a:ea typeface="+mn-ea"/>
                <a:cs typeface="+mn-cs"/>
              </a:rPr>
              <a:t>This is a lot of stuff, and it’s spread widely across different web sites and organizations. There’s also information</a:t>
            </a:r>
            <a:r>
              <a:rPr lang="en-US" sz="1200" b="0" i="0" kern="1200" baseline="0" dirty="0" smtClean="0">
                <a:solidFill>
                  <a:schemeClr val="tx1"/>
                </a:solidFill>
                <a:effectLst/>
                <a:latin typeface="+mn-lt"/>
                <a:ea typeface="+mn-ea"/>
                <a:cs typeface="+mn-cs"/>
              </a:rPr>
              <a:t> that is repeated in different places.</a:t>
            </a:r>
            <a:r>
              <a:rPr lang="en-US" sz="1200" b="0" i="0" kern="1200" dirty="0" smtClean="0">
                <a:solidFill>
                  <a:schemeClr val="tx1"/>
                </a:solidFill>
                <a:effectLst/>
                <a:latin typeface="+mn-lt"/>
                <a:ea typeface="+mn-ea"/>
                <a:cs typeface="+mn-cs"/>
              </a:rPr>
              <a:t> There isn’t one source where MIDUS data users can access everything. The goal of this project is to wrap all this information into one package using a standardized metadata model.</a:t>
            </a:r>
          </a:p>
          <a:p>
            <a:endParaRPr lang="en-US" sz="12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EBE89EF-5441-4C3B-BCBD-F6E66646ACCB}" type="slidenum">
              <a:rPr lang="en-US" smtClean="0"/>
              <a:t>3</a:t>
            </a:fld>
            <a:endParaRPr lang="en-US"/>
          </a:p>
        </p:txBody>
      </p:sp>
    </p:spTree>
    <p:extLst>
      <p:ext uri="{BB962C8B-B14F-4D97-AF65-F5344CB8AC3E}">
        <p14:creationId xmlns:p14="http://schemas.microsoft.com/office/powerpoint/2010/main" val="4125094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This was approximately a one month project.</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The main tool used to manage the MIDUS DDI 3 upgrade project is Colectica. A MIDUS-specific deployment of Colectica Repository is used as the authoritative source of metadata. Colectica Designer is used to import, create, edit, and synchronize the metadata with the repository.</a:t>
            </a:r>
            <a:endParaRPr lang="en-US" dirty="0"/>
          </a:p>
        </p:txBody>
      </p:sp>
      <p:sp>
        <p:nvSpPr>
          <p:cNvPr id="4" name="Slide Number Placeholder 3"/>
          <p:cNvSpPr>
            <a:spLocks noGrp="1"/>
          </p:cNvSpPr>
          <p:nvPr>
            <p:ph type="sldNum" sz="quarter" idx="10"/>
          </p:nvPr>
        </p:nvSpPr>
        <p:spPr/>
        <p:txBody>
          <a:bodyPr/>
          <a:lstStyle/>
          <a:p>
            <a:fld id="{5EBE89EF-5441-4C3B-BCBD-F6E66646ACCB}" type="slidenum">
              <a:rPr lang="en-US" smtClean="0"/>
              <a:t>4</a:t>
            </a:fld>
            <a:endParaRPr lang="en-US"/>
          </a:p>
        </p:txBody>
      </p:sp>
    </p:spTree>
    <p:extLst>
      <p:ext uri="{BB962C8B-B14F-4D97-AF65-F5344CB8AC3E}">
        <p14:creationId xmlns:p14="http://schemas.microsoft.com/office/powerpoint/2010/main" val="27711513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MIDUS is currently broken up into two waves: MIDUS 1 and MIDUS 2. MIDUS 1 contains two sub-projects, and MIDUS 2 contains 5 sub-projects. There is also a study called MIDUS Japan (MIDJA), which is a comparable study conducted in Japan.</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Each of these projects has its own data file, and most of them had existing DDI 2 documentation. This made it very easy to bring in all the data-related information quickly.</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First, for the projects that did not have DDI 2 file, we created one. This is a two step process using Colectica.</a:t>
            </a:r>
          </a:p>
          <a:p>
            <a:pPr lvl="1"/>
            <a:r>
              <a:rPr lang="en-US" sz="1200" b="0" i="0" kern="1200" dirty="0" smtClean="0">
                <a:solidFill>
                  <a:schemeClr val="tx1"/>
                </a:solidFill>
                <a:effectLst/>
                <a:latin typeface="+mn-lt"/>
                <a:ea typeface="+mn-ea"/>
                <a:cs typeface="+mn-cs"/>
              </a:rPr>
              <a:t>Use the Import SPSS feature to load the dataset in Colectica.</a:t>
            </a:r>
          </a:p>
          <a:p>
            <a:pPr lvl="1"/>
            <a:r>
              <a:rPr lang="en-US" sz="1200" b="0" i="0" kern="1200" dirty="0" smtClean="0">
                <a:solidFill>
                  <a:schemeClr val="tx1"/>
                </a:solidFill>
                <a:effectLst/>
                <a:latin typeface="+mn-lt"/>
                <a:ea typeface="+mn-ea"/>
                <a:cs typeface="+mn-cs"/>
              </a:rPr>
              <a:t>Use the Export to DDI 2 feature to create the DDI 2 file.</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Next, we wanted to bring each study’s dataset description into DDI 3. This is another two step process for each project.</a:t>
            </a:r>
          </a:p>
          <a:p>
            <a:pPr lvl="1"/>
            <a:r>
              <a:rPr lang="en-US" sz="1200" b="0" i="0" kern="1200" dirty="0" smtClean="0">
                <a:solidFill>
                  <a:schemeClr val="tx1"/>
                </a:solidFill>
                <a:effectLst/>
                <a:latin typeface="+mn-lt"/>
                <a:ea typeface="+mn-ea"/>
                <a:cs typeface="+mn-cs"/>
              </a:rPr>
              <a:t>In Colectica Designer, we used the Import DDI 2 feature to automatically create the corresponding information in DDI 3.</a:t>
            </a:r>
          </a:p>
          <a:p>
            <a:pPr lvl="1"/>
            <a:r>
              <a:rPr lang="en-US" sz="1200" b="0" i="0" kern="1200" dirty="0" smtClean="0">
                <a:solidFill>
                  <a:schemeClr val="tx1"/>
                </a:solidFill>
                <a:effectLst/>
                <a:latin typeface="+mn-lt"/>
                <a:ea typeface="+mn-ea"/>
                <a:cs typeface="+mn-cs"/>
              </a:rPr>
              <a:t>Navigate to the dataset view and use the Calculate Summary Statistics feature. As you might guess, this calculates descriptive statistics and frequencies for the entire dataset, and stores them in the DDI 3 metadata.</a:t>
            </a:r>
          </a:p>
          <a:p>
            <a:endParaRPr lang="en-US" dirty="0"/>
          </a:p>
        </p:txBody>
      </p:sp>
      <p:sp>
        <p:nvSpPr>
          <p:cNvPr id="4" name="Slide Number Placeholder 3"/>
          <p:cNvSpPr>
            <a:spLocks noGrp="1"/>
          </p:cNvSpPr>
          <p:nvPr>
            <p:ph type="sldNum" sz="quarter" idx="10"/>
          </p:nvPr>
        </p:nvSpPr>
        <p:spPr/>
        <p:txBody>
          <a:bodyPr/>
          <a:lstStyle/>
          <a:p>
            <a:fld id="{5EBE89EF-5441-4C3B-BCBD-F6E66646ACCB}" type="slidenum">
              <a:rPr lang="en-US" smtClean="0"/>
              <a:t>5</a:t>
            </a:fld>
            <a:endParaRPr lang="en-US"/>
          </a:p>
        </p:txBody>
      </p:sp>
    </p:spTree>
    <p:extLst>
      <p:ext uri="{BB962C8B-B14F-4D97-AF65-F5344CB8AC3E}">
        <p14:creationId xmlns:p14="http://schemas.microsoft.com/office/powerpoint/2010/main" val="7678446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 MIDUS web site contains abstracts, funding information, citation information, and more details that give a broad overview of the MIDUS study. DDI 3 provides fields for this information, so we simply copied and pasted the information from the web site into the corresponding fields in Colectica Designer.</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The advantage of managing this information in Colectica instead of as simple HTML files is that from now on, changes to the information will be tracked as new versions. This results in a full audit log and version history for the MIDUS documentation.</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The MIDUS web site also linked to codebooks describing each of the MIDUS datasets. These codebooks don’t contain any information that isn’t also found in the DDI 2, data files, or spreadsheets. That makes the codebooks easy to deal with: we just ignored them. A future article will describe how we automatically generated new, more interactive codebooks from the DDI 3 metadata.</a:t>
            </a:r>
          </a:p>
        </p:txBody>
      </p:sp>
      <p:sp>
        <p:nvSpPr>
          <p:cNvPr id="4" name="Slide Number Placeholder 3"/>
          <p:cNvSpPr>
            <a:spLocks noGrp="1"/>
          </p:cNvSpPr>
          <p:nvPr>
            <p:ph type="sldNum" sz="quarter" idx="10"/>
          </p:nvPr>
        </p:nvSpPr>
        <p:spPr/>
        <p:txBody>
          <a:bodyPr/>
          <a:lstStyle/>
          <a:p>
            <a:fld id="{5EBE89EF-5441-4C3B-BCBD-F6E66646ACCB}" type="slidenum">
              <a:rPr lang="en-US" smtClean="0"/>
              <a:t>6</a:t>
            </a:fld>
            <a:endParaRPr lang="en-US"/>
          </a:p>
        </p:txBody>
      </p:sp>
    </p:spTree>
    <p:extLst>
      <p:ext uri="{BB962C8B-B14F-4D97-AF65-F5344CB8AC3E}">
        <p14:creationId xmlns:p14="http://schemas.microsoft.com/office/powerpoint/2010/main" val="9398038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While the SPSS files and DDI 2 contain a decent amount of metadata, MIDUS also has spreadsheets that hold lengthier variable labels, question text, and notes. These are highly structured files where each row has a column for the variable’s name, followed by columns holding the extended information.</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Since there isn’t an off-the-shelf tool that can merge these custom spreadsheets with the DDI 3 metadata, this step required some custom programming. Using </a:t>
            </a:r>
          </a:p>
          <a:p>
            <a:r>
              <a:rPr lang="en-US" sz="1200" b="0" i="0" kern="1200" dirty="0" smtClean="0">
                <a:solidFill>
                  <a:schemeClr val="tx1"/>
                </a:solidFill>
                <a:effectLst/>
                <a:latin typeface="+mn-lt"/>
                <a:ea typeface="+mn-ea"/>
                <a:cs typeface="+mn-cs"/>
              </a:rPr>
              <a:t>Colectica SDK this was a fairly quick task. Here is a rough outline of the custom program:</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For each row in the spreadsheet:</a:t>
            </a:r>
          </a:p>
          <a:p>
            <a:pPr lvl="1"/>
            <a:r>
              <a:rPr lang="en-US" sz="1200" b="0" i="0" kern="1200" dirty="0" smtClean="0">
                <a:solidFill>
                  <a:schemeClr val="tx1"/>
                </a:solidFill>
                <a:effectLst/>
                <a:latin typeface="+mn-lt"/>
                <a:ea typeface="+mn-ea"/>
                <a:cs typeface="+mn-cs"/>
              </a:rPr>
              <a:t>Read the variable name and retrieve the variable from Colectica Repository</a:t>
            </a:r>
          </a:p>
          <a:p>
            <a:pPr lvl="1"/>
            <a:r>
              <a:rPr lang="en-US" sz="1200" b="0" i="0" kern="1200" dirty="0" smtClean="0">
                <a:solidFill>
                  <a:schemeClr val="tx1"/>
                </a:solidFill>
                <a:effectLst/>
                <a:latin typeface="+mn-lt"/>
                <a:ea typeface="+mn-ea"/>
                <a:cs typeface="+mn-cs"/>
              </a:rPr>
              <a:t>If an extended label is specified for the variable, update the variable’s label</a:t>
            </a:r>
          </a:p>
          <a:p>
            <a:pPr lvl="1"/>
            <a:r>
              <a:rPr lang="en-US" sz="1200" b="0" i="0" kern="1200" dirty="0" smtClean="0">
                <a:solidFill>
                  <a:schemeClr val="tx1"/>
                </a:solidFill>
                <a:effectLst/>
                <a:latin typeface="+mn-lt"/>
                <a:ea typeface="+mn-ea"/>
                <a:cs typeface="+mn-cs"/>
              </a:rPr>
              <a:t>If a description is specified for the variable, set the variable’s description</a:t>
            </a:r>
          </a:p>
          <a:p>
            <a:pPr lvl="1"/>
            <a:r>
              <a:rPr lang="en-US" sz="1200" b="0" i="0" kern="1200" dirty="0" smtClean="0">
                <a:solidFill>
                  <a:schemeClr val="tx1"/>
                </a:solidFill>
                <a:effectLst/>
                <a:latin typeface="+mn-lt"/>
                <a:ea typeface="+mn-ea"/>
                <a:cs typeface="+mn-cs"/>
              </a:rPr>
              <a:t>If question text is specified:</a:t>
            </a:r>
          </a:p>
          <a:p>
            <a:pPr lvl="2"/>
            <a:r>
              <a:rPr lang="en-US" sz="1200" b="0" i="0" kern="1200" dirty="0" smtClean="0">
                <a:solidFill>
                  <a:schemeClr val="tx1"/>
                </a:solidFill>
                <a:effectLst/>
                <a:latin typeface="+mn-lt"/>
                <a:ea typeface="+mn-ea"/>
                <a:cs typeface="+mn-cs"/>
              </a:rPr>
              <a:t>Create a new DDI 3 question item with the appropriate text</a:t>
            </a:r>
          </a:p>
          <a:p>
            <a:pPr lvl="2"/>
            <a:r>
              <a:rPr lang="en-US" sz="1200" b="0" i="0" kern="1200" dirty="0" smtClean="0">
                <a:solidFill>
                  <a:schemeClr val="tx1"/>
                </a:solidFill>
                <a:effectLst/>
                <a:latin typeface="+mn-lt"/>
                <a:ea typeface="+mn-ea"/>
                <a:cs typeface="+mn-cs"/>
              </a:rPr>
              <a:t>Add the question to the repository</a:t>
            </a:r>
          </a:p>
          <a:p>
            <a:pPr lvl="2"/>
            <a:r>
              <a:rPr lang="en-US" sz="1200" b="0" i="0" kern="1200" dirty="0" smtClean="0">
                <a:solidFill>
                  <a:schemeClr val="tx1"/>
                </a:solidFill>
                <a:effectLst/>
                <a:latin typeface="+mn-lt"/>
                <a:ea typeface="+mn-ea"/>
                <a:cs typeface="+mn-cs"/>
              </a:rPr>
              <a:t>Associate the variable with the new question</a:t>
            </a:r>
          </a:p>
          <a:p>
            <a:pPr lvl="1"/>
            <a:r>
              <a:rPr lang="en-US" sz="1200" b="0" i="0" kern="1200" dirty="0" smtClean="0">
                <a:solidFill>
                  <a:schemeClr val="tx1"/>
                </a:solidFill>
                <a:effectLst/>
                <a:latin typeface="+mn-lt"/>
                <a:ea typeface="+mn-ea"/>
                <a:cs typeface="+mn-cs"/>
              </a:rPr>
              <a:t>Finally, save the updated variable and continue to the next row</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After processing the spreadsheet, synchronize the changes with the repository</a:t>
            </a:r>
          </a:p>
          <a:p>
            <a:endParaRPr lang="en-US" dirty="0"/>
          </a:p>
        </p:txBody>
      </p:sp>
      <p:sp>
        <p:nvSpPr>
          <p:cNvPr id="4" name="Slide Number Placeholder 3"/>
          <p:cNvSpPr>
            <a:spLocks noGrp="1"/>
          </p:cNvSpPr>
          <p:nvPr>
            <p:ph type="sldNum" sz="quarter" idx="10"/>
          </p:nvPr>
        </p:nvSpPr>
        <p:spPr/>
        <p:txBody>
          <a:bodyPr/>
          <a:lstStyle/>
          <a:p>
            <a:fld id="{5EBE89EF-5441-4C3B-BCBD-F6E66646ACCB}" type="slidenum">
              <a:rPr lang="en-US" smtClean="0"/>
              <a:t>8</a:t>
            </a:fld>
            <a:endParaRPr lang="en-US"/>
          </a:p>
        </p:txBody>
      </p:sp>
    </p:spTree>
    <p:extLst>
      <p:ext uri="{BB962C8B-B14F-4D97-AF65-F5344CB8AC3E}">
        <p14:creationId xmlns:p14="http://schemas.microsoft.com/office/powerpoint/2010/main" val="8832814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 MIDUS surveys were conducted using the CASES computer assisted interviewing (CAI) system. Since Colectica Designer supports importing CASES source code, this was a simple step. We just used the Import CASES feature to bring in all the questions and the flow logic of the survey.</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But what about the questions that were created when we imported from DDI 2 and merged the information from the custom spreadsheets? MIDUS researchers decided that the CAI source code should be canonical when question text differed, since it is the language respondents actually heard or saw. </a:t>
            </a:r>
          </a:p>
        </p:txBody>
      </p:sp>
      <p:sp>
        <p:nvSpPr>
          <p:cNvPr id="4" name="Slide Number Placeholder 3"/>
          <p:cNvSpPr>
            <a:spLocks noGrp="1"/>
          </p:cNvSpPr>
          <p:nvPr>
            <p:ph type="sldNum" sz="quarter" idx="10"/>
          </p:nvPr>
        </p:nvSpPr>
        <p:spPr/>
        <p:txBody>
          <a:bodyPr/>
          <a:lstStyle/>
          <a:p>
            <a:fld id="{5EBE89EF-5441-4C3B-BCBD-F6E66646ACCB}" type="slidenum">
              <a:rPr lang="en-US" smtClean="0"/>
              <a:t>9</a:t>
            </a:fld>
            <a:endParaRPr lang="en-US"/>
          </a:p>
        </p:txBody>
      </p:sp>
    </p:spTree>
    <p:extLst>
      <p:ext uri="{BB962C8B-B14F-4D97-AF65-F5344CB8AC3E}">
        <p14:creationId xmlns:p14="http://schemas.microsoft.com/office/powerpoint/2010/main" val="5363138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 MIDUS web site also links to many PDF documents that contain additional information useful to researchers. Adding these links to the DDI 3 was straightforward with Colectica Designer.</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Enter the document title, documentation type, and URL in each study’s Related Materials section</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Use the Detect MIME Type feature to automatically set the content type of each document</a:t>
            </a:r>
          </a:p>
        </p:txBody>
      </p:sp>
      <p:sp>
        <p:nvSpPr>
          <p:cNvPr id="4" name="Slide Number Placeholder 3"/>
          <p:cNvSpPr>
            <a:spLocks noGrp="1"/>
          </p:cNvSpPr>
          <p:nvPr>
            <p:ph type="sldNum" sz="quarter" idx="10"/>
          </p:nvPr>
        </p:nvSpPr>
        <p:spPr/>
        <p:txBody>
          <a:bodyPr/>
          <a:lstStyle/>
          <a:p>
            <a:fld id="{5EBE89EF-5441-4C3B-BCBD-F6E66646ACCB}" type="slidenum">
              <a:rPr lang="en-US" smtClean="0"/>
              <a:t>10</a:t>
            </a:fld>
            <a:endParaRPr lang="en-US"/>
          </a:p>
        </p:txBody>
      </p:sp>
    </p:spTree>
    <p:extLst>
      <p:ext uri="{BB962C8B-B14F-4D97-AF65-F5344CB8AC3E}">
        <p14:creationId xmlns:p14="http://schemas.microsoft.com/office/powerpoint/2010/main" val="21806175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Demonstration</a:t>
            </a:r>
            <a:r>
              <a:rPr lang="en-US" baseline="0" dirty="0" smtClean="0"/>
              <a:t> of http://</a:t>
            </a:r>
            <a:r>
              <a:rPr lang="en-US" dirty="0" smtClean="0"/>
              <a:t>midus.colectica.org</a:t>
            </a:r>
            <a:endParaRPr lang="en-US" dirty="0" smtClean="0"/>
          </a:p>
          <a:p>
            <a:endParaRPr lang="en-US" dirty="0" smtClean="0"/>
          </a:p>
          <a:p>
            <a:r>
              <a:rPr lang="en-US" dirty="0" smtClean="0"/>
              <a:t>Demonstration of http://</a:t>
            </a:r>
            <a:r>
              <a:rPr lang="en-US" baseline="0" dirty="0" smtClean="0"/>
              <a:t>dev.midus.colectica.org - prototype from NIH </a:t>
            </a:r>
            <a:r>
              <a:rPr lang="en-US" baseline="0" dirty="0" smtClean="0"/>
              <a:t>DDI longitudinal data extraction project</a:t>
            </a:r>
            <a:endParaRPr lang="en-US" dirty="0"/>
          </a:p>
        </p:txBody>
      </p:sp>
      <p:sp>
        <p:nvSpPr>
          <p:cNvPr id="4" name="Slide Number Placeholder 3"/>
          <p:cNvSpPr>
            <a:spLocks noGrp="1"/>
          </p:cNvSpPr>
          <p:nvPr>
            <p:ph type="sldNum" sz="quarter" idx="10"/>
          </p:nvPr>
        </p:nvSpPr>
        <p:spPr/>
        <p:txBody>
          <a:bodyPr/>
          <a:lstStyle/>
          <a:p>
            <a:fld id="{5EBE89EF-5441-4C3B-BCBD-F6E66646ACCB}" type="slidenum">
              <a:rPr lang="en-US" smtClean="0"/>
              <a:t>11</a:t>
            </a:fld>
            <a:endParaRPr lang="en-US"/>
          </a:p>
        </p:txBody>
      </p:sp>
    </p:spTree>
    <p:extLst>
      <p:ext uri="{BB962C8B-B14F-4D97-AF65-F5344CB8AC3E}">
        <p14:creationId xmlns:p14="http://schemas.microsoft.com/office/powerpoint/2010/main" val="33653629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A4E3265-14E3-499D-A250-3990DD3FB2C1}" type="slidenum">
              <a:rPr lang="en-US" smtClean="0"/>
              <a:pPr/>
              <a:t>12</a:t>
            </a:fld>
            <a:endParaRPr lang="en-US"/>
          </a:p>
        </p:txBody>
      </p:sp>
    </p:spTree>
    <p:extLst>
      <p:ext uri="{BB962C8B-B14F-4D97-AF65-F5344CB8AC3E}">
        <p14:creationId xmlns:p14="http://schemas.microsoft.com/office/powerpoint/2010/main" val="37949498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1D8BD707-D9CF-40AE-B4C6-C98DA3205C09}" type="datetimeFigureOut">
              <a:rPr lang="en-US" smtClean="0"/>
              <a:pPr/>
              <a:t>12/14/2011</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12/14/2011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1D8BD707-D9CF-40AE-B4C6-C98DA3205C09}" type="datetimeFigureOut">
              <a:rPr lang="en-US" smtClean="0"/>
              <a:pPr/>
              <a:t>12/14/2011</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1D8BD707-D9CF-40AE-B4C6-C98DA3205C09}" type="datetimeFigureOut">
              <a:rPr lang="en-US" smtClean="0"/>
              <a:pPr/>
              <a:t>12/14/2011</a:t>
            </a:fld>
            <a:endParaRPr lang="en-US"/>
          </a:p>
        </p:txBody>
      </p:sp>
      <p:sp>
        <p:nvSpPr>
          <p:cNvPr id="10" name="Slide Number Placeholder 9"/>
          <p:cNvSpPr>
            <a:spLocks noGrp="1"/>
          </p:cNvSpPr>
          <p:nvPr>
            <p:ph type="sldNum" sz="quarter" idx="16"/>
          </p:nvPr>
        </p:nvSpPr>
        <p:spPr/>
        <p:txBody>
          <a:bodyPr rtlCol="0"/>
          <a:lstStyle/>
          <a:p>
            <a:fld id="{B6F15528-21DE-4FAA-801E-634DDDAF4B2B}"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1D8BD707-D9CF-40AE-B4C6-C98DA3205C09}" type="datetimeFigureOut">
              <a:rPr lang="en-US" smtClean="0"/>
              <a:pPr/>
              <a:t>12/14/2011</a:t>
            </a:fld>
            <a:endParaRPr lang="en-US"/>
          </a:p>
        </p:txBody>
      </p:sp>
      <p:sp>
        <p:nvSpPr>
          <p:cNvPr id="12" name="Slide Number Placeholder 11"/>
          <p:cNvSpPr>
            <a:spLocks noGrp="1"/>
          </p:cNvSpPr>
          <p:nvPr>
            <p:ph type="sldNum" sz="quarter" idx="16"/>
          </p:nvPr>
        </p:nvSpPr>
        <p:spPr/>
        <p:txBody>
          <a:bodyPr rtlCol="0"/>
          <a:lstStyle/>
          <a:p>
            <a:fld id="{B6F15528-21DE-4FAA-801E-634DDDAF4B2B}"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12/14/2011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12/14/2011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12/14/2011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1D8BD707-D9CF-40AE-B4C6-C98DA3205C09}" type="datetimeFigureOut">
              <a:rPr lang="en-US" smtClean="0"/>
              <a:pPr/>
              <a:t>12/14/2011</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12/14/2011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1D8BD707-D9CF-40AE-B4C6-C98DA3205C09}" type="datetimeFigureOut">
              <a:rPr lang="en-US" smtClean="0"/>
              <a:pPr/>
              <a:t>12/14/2011</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1D8BD707-D9CF-40AE-B4C6-C98DA3205C09}" type="datetimeFigureOut">
              <a:rPr lang="en-US" smtClean="0"/>
              <a:pPr/>
              <a:t>12/14/2011</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62200" y="4038600"/>
            <a:ext cx="6477000" cy="1828800"/>
          </a:xfrm>
        </p:spPr>
        <p:txBody>
          <a:bodyPr>
            <a:normAutofit fontScale="90000"/>
          </a:bodyPr>
          <a:lstStyle/>
          <a:p>
            <a:r>
              <a:rPr lang="en-US" cap="none" dirty="0"/>
              <a:t>Documenting and Harmonizing MIDUS with DDI 3 and </a:t>
            </a:r>
            <a:r>
              <a:rPr lang="en-US" cap="none" dirty="0" smtClean="0"/>
              <a:t>Colectica</a:t>
            </a:r>
            <a:endParaRPr lang="en-US" cap="none" dirty="0"/>
          </a:p>
        </p:txBody>
      </p:sp>
      <p:sp>
        <p:nvSpPr>
          <p:cNvPr id="3" name="Subtitle 2"/>
          <p:cNvSpPr>
            <a:spLocks noGrp="1"/>
          </p:cNvSpPr>
          <p:nvPr>
            <p:ph type="subTitle" idx="1"/>
          </p:nvPr>
        </p:nvSpPr>
        <p:spPr/>
        <p:txBody>
          <a:bodyPr/>
          <a:lstStyle/>
          <a:p>
            <a:endParaRPr lang="en-US"/>
          </a:p>
        </p:txBody>
      </p:sp>
      <p:pic>
        <p:nvPicPr>
          <p:cNvPr id="5" name="Picture 4" descr="C:\Users\jeremy\svn\admin\PR\Assets\colectica\custom\colectica-green-web.png"/>
          <p:cNvPicPr>
            <a:picLocks noChangeAspect="1" noChangeArrowheads="1"/>
          </p:cNvPicPr>
          <p:nvPr/>
        </p:nvPicPr>
        <p:blipFill>
          <a:blip r:embed="rId2" cstate="print"/>
          <a:srcRect/>
          <a:stretch>
            <a:fillRect/>
          </a:stretch>
        </p:blipFill>
        <p:spPr bwMode="auto">
          <a:xfrm>
            <a:off x="2796451" y="2438400"/>
            <a:ext cx="3211512" cy="762000"/>
          </a:xfrm>
          <a:prstGeom prst="rect">
            <a:avLst/>
          </a:prstGeom>
          <a:noFill/>
        </p:spPr>
      </p:pic>
      <p:pic>
        <p:nvPicPr>
          <p:cNvPr id="1026" name="Picture 2" descr="http://www.ddialliance.org/sites/default/files/ddi-logo.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86400" y="873156"/>
            <a:ext cx="1737905" cy="806388"/>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685800"/>
            <a:ext cx="1895475" cy="118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837086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MIDUS Overview</a:t>
            </a:r>
            <a:endParaRPr lang="en-US" dirty="0"/>
          </a:p>
        </p:txBody>
      </p:sp>
      <p:sp>
        <p:nvSpPr>
          <p:cNvPr id="6" name="Freeform 5"/>
          <p:cNvSpPr/>
          <p:nvPr/>
        </p:nvSpPr>
        <p:spPr>
          <a:xfrm>
            <a:off x="617646" y="2620226"/>
            <a:ext cx="2858467" cy="1143386"/>
          </a:xfrm>
          <a:custGeom>
            <a:avLst/>
            <a:gdLst>
              <a:gd name="connsiteX0" fmla="*/ 0 w 2858467"/>
              <a:gd name="connsiteY0" fmla="*/ 0 h 1143386"/>
              <a:gd name="connsiteX1" fmla="*/ 2286774 w 2858467"/>
              <a:gd name="connsiteY1" fmla="*/ 0 h 1143386"/>
              <a:gd name="connsiteX2" fmla="*/ 2858467 w 2858467"/>
              <a:gd name="connsiteY2" fmla="*/ 571693 h 1143386"/>
              <a:gd name="connsiteX3" fmla="*/ 2286774 w 2858467"/>
              <a:gd name="connsiteY3" fmla="*/ 1143386 h 1143386"/>
              <a:gd name="connsiteX4" fmla="*/ 0 w 2858467"/>
              <a:gd name="connsiteY4" fmla="*/ 1143386 h 1143386"/>
              <a:gd name="connsiteX5" fmla="*/ 571693 w 2858467"/>
              <a:gd name="connsiteY5" fmla="*/ 571693 h 1143386"/>
              <a:gd name="connsiteX6" fmla="*/ 0 w 2858467"/>
              <a:gd name="connsiteY6" fmla="*/ 0 h 1143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58467" h="1143386">
                <a:moveTo>
                  <a:pt x="0" y="0"/>
                </a:moveTo>
                <a:lnTo>
                  <a:pt x="2286774" y="0"/>
                </a:lnTo>
                <a:lnTo>
                  <a:pt x="2858467" y="571693"/>
                </a:lnTo>
                <a:lnTo>
                  <a:pt x="2286774" y="1143386"/>
                </a:lnTo>
                <a:lnTo>
                  <a:pt x="0" y="1143386"/>
                </a:lnTo>
                <a:lnTo>
                  <a:pt x="571693" y="571693"/>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3707" tIns="37338" rIns="609031" bIns="37338" numCol="1" spcCol="1270" anchor="ctr" anchorCtr="0">
            <a:noAutofit/>
          </a:bodyPr>
          <a:lstStyle/>
          <a:p>
            <a:pPr lvl="0" algn="ctr" defTabSz="1244600" rtl="0">
              <a:lnSpc>
                <a:spcPct val="90000"/>
              </a:lnSpc>
              <a:spcBef>
                <a:spcPct val="0"/>
              </a:spcBef>
              <a:spcAft>
                <a:spcPct val="35000"/>
              </a:spcAft>
            </a:pPr>
            <a:r>
              <a:rPr lang="en-US" sz="2800" kern="1200" dirty="0" smtClean="0"/>
              <a:t>1994</a:t>
            </a:r>
            <a:endParaRPr lang="en-US" sz="2800" kern="1200" dirty="0"/>
          </a:p>
        </p:txBody>
      </p:sp>
      <p:sp>
        <p:nvSpPr>
          <p:cNvPr id="7" name="Freeform 6"/>
          <p:cNvSpPr/>
          <p:nvPr/>
        </p:nvSpPr>
        <p:spPr>
          <a:xfrm>
            <a:off x="617646" y="3906536"/>
            <a:ext cx="2286773" cy="1169437"/>
          </a:xfrm>
          <a:custGeom>
            <a:avLst/>
            <a:gdLst>
              <a:gd name="connsiteX0" fmla="*/ 0 w 2286773"/>
              <a:gd name="connsiteY0" fmla="*/ 0 h 1169437"/>
              <a:gd name="connsiteX1" fmla="*/ 2286773 w 2286773"/>
              <a:gd name="connsiteY1" fmla="*/ 0 h 1169437"/>
              <a:gd name="connsiteX2" fmla="*/ 2286773 w 2286773"/>
              <a:gd name="connsiteY2" fmla="*/ 1169437 h 1169437"/>
              <a:gd name="connsiteX3" fmla="*/ 0 w 2286773"/>
              <a:gd name="connsiteY3" fmla="*/ 1169437 h 1169437"/>
              <a:gd name="connsiteX4" fmla="*/ 0 w 2286773"/>
              <a:gd name="connsiteY4" fmla="*/ 0 h 11694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773" h="1169437">
                <a:moveTo>
                  <a:pt x="0" y="0"/>
                </a:moveTo>
                <a:lnTo>
                  <a:pt x="2286773" y="0"/>
                </a:lnTo>
                <a:lnTo>
                  <a:pt x="2286773" y="1169437"/>
                </a:lnTo>
                <a:lnTo>
                  <a:pt x="0" y="116943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285750" lvl="1" indent="-285750" algn="l" defTabSz="1244600" rtl="0">
              <a:lnSpc>
                <a:spcPct val="90000"/>
              </a:lnSpc>
              <a:spcBef>
                <a:spcPct val="0"/>
              </a:spcBef>
              <a:spcAft>
                <a:spcPct val="15000"/>
              </a:spcAft>
              <a:buChar char="••"/>
            </a:pPr>
            <a:r>
              <a:rPr lang="en-US" sz="2800" kern="1200" dirty="0" smtClean="0"/>
              <a:t>MIDUS 1</a:t>
            </a:r>
            <a:endParaRPr lang="en-US" sz="2800" kern="1200" dirty="0"/>
          </a:p>
          <a:p>
            <a:pPr marL="285750" lvl="1" indent="-285750" algn="l" defTabSz="1244600" rtl="0">
              <a:lnSpc>
                <a:spcPct val="90000"/>
              </a:lnSpc>
              <a:spcBef>
                <a:spcPct val="0"/>
              </a:spcBef>
              <a:spcAft>
                <a:spcPct val="15000"/>
              </a:spcAft>
              <a:buChar char="••"/>
            </a:pPr>
            <a:r>
              <a:rPr lang="en-US" sz="2800" kern="1200" dirty="0" smtClean="0"/>
              <a:t>Phone and Mail surveys</a:t>
            </a:r>
            <a:endParaRPr lang="en-US" sz="2800" kern="1200" dirty="0"/>
          </a:p>
        </p:txBody>
      </p:sp>
      <p:sp>
        <p:nvSpPr>
          <p:cNvPr id="8" name="Freeform 7"/>
          <p:cNvSpPr/>
          <p:nvPr/>
        </p:nvSpPr>
        <p:spPr>
          <a:xfrm>
            <a:off x="3260114" y="2620226"/>
            <a:ext cx="2858467" cy="1143386"/>
          </a:xfrm>
          <a:custGeom>
            <a:avLst/>
            <a:gdLst>
              <a:gd name="connsiteX0" fmla="*/ 0 w 2858467"/>
              <a:gd name="connsiteY0" fmla="*/ 0 h 1143386"/>
              <a:gd name="connsiteX1" fmla="*/ 2286774 w 2858467"/>
              <a:gd name="connsiteY1" fmla="*/ 0 h 1143386"/>
              <a:gd name="connsiteX2" fmla="*/ 2858467 w 2858467"/>
              <a:gd name="connsiteY2" fmla="*/ 571693 h 1143386"/>
              <a:gd name="connsiteX3" fmla="*/ 2286774 w 2858467"/>
              <a:gd name="connsiteY3" fmla="*/ 1143386 h 1143386"/>
              <a:gd name="connsiteX4" fmla="*/ 0 w 2858467"/>
              <a:gd name="connsiteY4" fmla="*/ 1143386 h 1143386"/>
              <a:gd name="connsiteX5" fmla="*/ 571693 w 2858467"/>
              <a:gd name="connsiteY5" fmla="*/ 571693 h 1143386"/>
              <a:gd name="connsiteX6" fmla="*/ 0 w 2858467"/>
              <a:gd name="connsiteY6" fmla="*/ 0 h 1143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58467" h="1143386">
                <a:moveTo>
                  <a:pt x="0" y="0"/>
                </a:moveTo>
                <a:lnTo>
                  <a:pt x="2286774" y="0"/>
                </a:lnTo>
                <a:lnTo>
                  <a:pt x="2858467" y="571693"/>
                </a:lnTo>
                <a:lnTo>
                  <a:pt x="2286774" y="1143386"/>
                </a:lnTo>
                <a:lnTo>
                  <a:pt x="0" y="1143386"/>
                </a:lnTo>
                <a:lnTo>
                  <a:pt x="571693" y="571693"/>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3707" tIns="37338" rIns="609031" bIns="37338" numCol="1" spcCol="1270" anchor="ctr" anchorCtr="0">
            <a:noAutofit/>
          </a:bodyPr>
          <a:lstStyle/>
          <a:p>
            <a:pPr lvl="0" algn="ctr" defTabSz="1244600" rtl="0">
              <a:lnSpc>
                <a:spcPct val="90000"/>
              </a:lnSpc>
              <a:spcBef>
                <a:spcPct val="0"/>
              </a:spcBef>
              <a:spcAft>
                <a:spcPct val="35000"/>
              </a:spcAft>
            </a:pPr>
            <a:r>
              <a:rPr lang="en-US" sz="2800" kern="1200" dirty="0" smtClean="0"/>
              <a:t>2004</a:t>
            </a:r>
            <a:endParaRPr lang="en-US" sz="2800" kern="1200" dirty="0"/>
          </a:p>
        </p:txBody>
      </p:sp>
      <p:sp>
        <p:nvSpPr>
          <p:cNvPr id="9" name="Freeform 8"/>
          <p:cNvSpPr/>
          <p:nvPr/>
        </p:nvSpPr>
        <p:spPr>
          <a:xfrm>
            <a:off x="3260114" y="3906536"/>
            <a:ext cx="2286773" cy="1169437"/>
          </a:xfrm>
          <a:custGeom>
            <a:avLst/>
            <a:gdLst>
              <a:gd name="connsiteX0" fmla="*/ 0 w 2286773"/>
              <a:gd name="connsiteY0" fmla="*/ 0 h 1169437"/>
              <a:gd name="connsiteX1" fmla="*/ 2286773 w 2286773"/>
              <a:gd name="connsiteY1" fmla="*/ 0 h 1169437"/>
              <a:gd name="connsiteX2" fmla="*/ 2286773 w 2286773"/>
              <a:gd name="connsiteY2" fmla="*/ 1169437 h 1169437"/>
              <a:gd name="connsiteX3" fmla="*/ 0 w 2286773"/>
              <a:gd name="connsiteY3" fmla="*/ 1169437 h 1169437"/>
              <a:gd name="connsiteX4" fmla="*/ 0 w 2286773"/>
              <a:gd name="connsiteY4" fmla="*/ 0 h 11694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773" h="1169437">
                <a:moveTo>
                  <a:pt x="0" y="0"/>
                </a:moveTo>
                <a:lnTo>
                  <a:pt x="2286773" y="0"/>
                </a:lnTo>
                <a:lnTo>
                  <a:pt x="2286773" y="1169437"/>
                </a:lnTo>
                <a:lnTo>
                  <a:pt x="0" y="116943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285750" lvl="1" indent="-285750" algn="l" defTabSz="1244600" rtl="0">
              <a:lnSpc>
                <a:spcPct val="90000"/>
              </a:lnSpc>
              <a:spcBef>
                <a:spcPct val="0"/>
              </a:spcBef>
              <a:spcAft>
                <a:spcPct val="15000"/>
              </a:spcAft>
              <a:buChar char="••"/>
            </a:pPr>
            <a:r>
              <a:rPr lang="en-US" sz="2800" kern="1200" dirty="0" smtClean="0"/>
              <a:t>MIDUS 2</a:t>
            </a:r>
            <a:endParaRPr lang="en-US" sz="2800" kern="1200" dirty="0"/>
          </a:p>
          <a:p>
            <a:pPr marL="285750" lvl="1" indent="-285750" algn="l" defTabSz="1244600" rtl="0">
              <a:lnSpc>
                <a:spcPct val="90000"/>
              </a:lnSpc>
              <a:spcBef>
                <a:spcPct val="0"/>
              </a:spcBef>
              <a:spcAft>
                <a:spcPct val="15000"/>
              </a:spcAft>
              <a:buChar char="••"/>
            </a:pPr>
            <a:r>
              <a:rPr lang="en-US" sz="2800" kern="1200" dirty="0" smtClean="0"/>
              <a:t>Biomarkers</a:t>
            </a:r>
            <a:endParaRPr lang="en-US" sz="2800" kern="1200" dirty="0"/>
          </a:p>
          <a:p>
            <a:pPr marL="285750" lvl="1" indent="-285750" algn="l" defTabSz="1244600" rtl="0">
              <a:lnSpc>
                <a:spcPct val="90000"/>
              </a:lnSpc>
              <a:spcBef>
                <a:spcPct val="0"/>
              </a:spcBef>
              <a:spcAft>
                <a:spcPct val="15000"/>
              </a:spcAft>
              <a:buChar char="••"/>
            </a:pPr>
            <a:r>
              <a:rPr lang="en-US" sz="2800" kern="1200" dirty="0" smtClean="0"/>
              <a:t>Neuroimaging</a:t>
            </a:r>
            <a:endParaRPr lang="en-US" sz="2800" kern="1200" dirty="0"/>
          </a:p>
        </p:txBody>
      </p:sp>
      <p:sp>
        <p:nvSpPr>
          <p:cNvPr id="10" name="Freeform 9"/>
          <p:cNvSpPr/>
          <p:nvPr/>
        </p:nvSpPr>
        <p:spPr>
          <a:xfrm>
            <a:off x="5902581" y="2620226"/>
            <a:ext cx="2858467" cy="1143386"/>
          </a:xfrm>
          <a:custGeom>
            <a:avLst/>
            <a:gdLst>
              <a:gd name="connsiteX0" fmla="*/ 0 w 2858467"/>
              <a:gd name="connsiteY0" fmla="*/ 0 h 1143386"/>
              <a:gd name="connsiteX1" fmla="*/ 2286774 w 2858467"/>
              <a:gd name="connsiteY1" fmla="*/ 0 h 1143386"/>
              <a:gd name="connsiteX2" fmla="*/ 2858467 w 2858467"/>
              <a:gd name="connsiteY2" fmla="*/ 571693 h 1143386"/>
              <a:gd name="connsiteX3" fmla="*/ 2286774 w 2858467"/>
              <a:gd name="connsiteY3" fmla="*/ 1143386 h 1143386"/>
              <a:gd name="connsiteX4" fmla="*/ 0 w 2858467"/>
              <a:gd name="connsiteY4" fmla="*/ 1143386 h 1143386"/>
              <a:gd name="connsiteX5" fmla="*/ 571693 w 2858467"/>
              <a:gd name="connsiteY5" fmla="*/ 571693 h 1143386"/>
              <a:gd name="connsiteX6" fmla="*/ 0 w 2858467"/>
              <a:gd name="connsiteY6" fmla="*/ 0 h 1143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58467" h="1143386">
                <a:moveTo>
                  <a:pt x="0" y="0"/>
                </a:moveTo>
                <a:lnTo>
                  <a:pt x="2286774" y="0"/>
                </a:lnTo>
                <a:lnTo>
                  <a:pt x="2858467" y="571693"/>
                </a:lnTo>
                <a:lnTo>
                  <a:pt x="2286774" y="1143386"/>
                </a:lnTo>
                <a:lnTo>
                  <a:pt x="0" y="1143386"/>
                </a:lnTo>
                <a:lnTo>
                  <a:pt x="571693" y="571693"/>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3707" tIns="37338" rIns="609031" bIns="37338" numCol="1" spcCol="1270" anchor="ctr" anchorCtr="0">
            <a:noAutofit/>
          </a:bodyPr>
          <a:lstStyle/>
          <a:p>
            <a:pPr lvl="0" algn="ctr" defTabSz="1244600" rtl="0">
              <a:lnSpc>
                <a:spcPct val="90000"/>
              </a:lnSpc>
              <a:spcBef>
                <a:spcPct val="0"/>
              </a:spcBef>
              <a:spcAft>
                <a:spcPct val="35000"/>
              </a:spcAft>
            </a:pPr>
            <a:r>
              <a:rPr lang="en-US" sz="2800" kern="1200" dirty="0" smtClean="0"/>
              <a:t>2011 - …</a:t>
            </a:r>
            <a:endParaRPr lang="en-US" sz="2800" kern="1200" dirty="0"/>
          </a:p>
        </p:txBody>
      </p:sp>
      <p:sp>
        <p:nvSpPr>
          <p:cNvPr id="11" name="Freeform 10"/>
          <p:cNvSpPr/>
          <p:nvPr/>
        </p:nvSpPr>
        <p:spPr>
          <a:xfrm>
            <a:off x="5902581" y="3906536"/>
            <a:ext cx="2286773" cy="1169437"/>
          </a:xfrm>
          <a:custGeom>
            <a:avLst/>
            <a:gdLst>
              <a:gd name="connsiteX0" fmla="*/ 0 w 2286773"/>
              <a:gd name="connsiteY0" fmla="*/ 0 h 1169437"/>
              <a:gd name="connsiteX1" fmla="*/ 2286773 w 2286773"/>
              <a:gd name="connsiteY1" fmla="*/ 0 h 1169437"/>
              <a:gd name="connsiteX2" fmla="*/ 2286773 w 2286773"/>
              <a:gd name="connsiteY2" fmla="*/ 1169437 h 1169437"/>
              <a:gd name="connsiteX3" fmla="*/ 0 w 2286773"/>
              <a:gd name="connsiteY3" fmla="*/ 1169437 h 1169437"/>
              <a:gd name="connsiteX4" fmla="*/ 0 w 2286773"/>
              <a:gd name="connsiteY4" fmla="*/ 0 h 11694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773" h="1169437">
                <a:moveTo>
                  <a:pt x="0" y="0"/>
                </a:moveTo>
                <a:lnTo>
                  <a:pt x="2286773" y="0"/>
                </a:lnTo>
                <a:lnTo>
                  <a:pt x="2286773" y="1169437"/>
                </a:lnTo>
                <a:lnTo>
                  <a:pt x="0" y="116943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285750" lvl="1" indent="-285750" algn="l" defTabSz="1244600" rtl="0">
              <a:lnSpc>
                <a:spcPct val="90000"/>
              </a:lnSpc>
              <a:spcBef>
                <a:spcPct val="0"/>
              </a:spcBef>
              <a:spcAft>
                <a:spcPct val="15000"/>
              </a:spcAft>
              <a:buChar char="••"/>
            </a:pPr>
            <a:r>
              <a:rPr lang="en-US" sz="2800" kern="1200" dirty="0" smtClean="0"/>
              <a:t>New round of data collection</a:t>
            </a:r>
            <a:endParaRPr lang="en-US" sz="2800" kern="1200" dirty="0"/>
          </a:p>
        </p:txBody>
      </p:sp>
    </p:spTree>
    <p:extLst>
      <p:ext uri="{BB962C8B-B14F-4D97-AF65-F5344CB8AC3E}">
        <p14:creationId xmlns:p14="http://schemas.microsoft.com/office/powerpoint/2010/main" val="1290960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9" grpId="0"/>
      <p:bldP spid="10" grpId="0" animBg="1"/>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MIDUS Documentation</a:t>
            </a:r>
            <a:endParaRPr lang="en-US" dirty="0"/>
          </a:p>
        </p:txBody>
      </p:sp>
      <p:sp>
        <p:nvSpPr>
          <p:cNvPr id="9" name="Freeform 8"/>
          <p:cNvSpPr/>
          <p:nvPr/>
        </p:nvSpPr>
        <p:spPr>
          <a:xfrm>
            <a:off x="3197352" y="2109375"/>
            <a:ext cx="4956048" cy="570375"/>
          </a:xfrm>
          <a:custGeom>
            <a:avLst/>
            <a:gdLst>
              <a:gd name="connsiteX0" fmla="*/ 0 w 4956048"/>
              <a:gd name="connsiteY0" fmla="*/ 95064 h 570375"/>
              <a:gd name="connsiteX1" fmla="*/ 95064 w 4956048"/>
              <a:gd name="connsiteY1" fmla="*/ 0 h 570375"/>
              <a:gd name="connsiteX2" fmla="*/ 4860984 w 4956048"/>
              <a:gd name="connsiteY2" fmla="*/ 0 h 570375"/>
              <a:gd name="connsiteX3" fmla="*/ 4956048 w 4956048"/>
              <a:gd name="connsiteY3" fmla="*/ 95064 h 570375"/>
              <a:gd name="connsiteX4" fmla="*/ 4956048 w 4956048"/>
              <a:gd name="connsiteY4" fmla="*/ 475311 h 570375"/>
              <a:gd name="connsiteX5" fmla="*/ 4860984 w 4956048"/>
              <a:gd name="connsiteY5" fmla="*/ 570375 h 570375"/>
              <a:gd name="connsiteX6" fmla="*/ 95064 w 4956048"/>
              <a:gd name="connsiteY6" fmla="*/ 570375 h 570375"/>
              <a:gd name="connsiteX7" fmla="*/ 0 w 4956048"/>
              <a:gd name="connsiteY7" fmla="*/ 475311 h 570375"/>
              <a:gd name="connsiteX8" fmla="*/ 0 w 4956048"/>
              <a:gd name="connsiteY8" fmla="*/ 95064 h 570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6048" h="570375">
                <a:moveTo>
                  <a:pt x="0" y="95064"/>
                </a:moveTo>
                <a:cubicBezTo>
                  <a:pt x="0" y="42562"/>
                  <a:pt x="42562" y="0"/>
                  <a:pt x="95064" y="0"/>
                </a:cubicBezTo>
                <a:lnTo>
                  <a:pt x="4860984" y="0"/>
                </a:lnTo>
                <a:cubicBezTo>
                  <a:pt x="4913486" y="0"/>
                  <a:pt x="4956048" y="42562"/>
                  <a:pt x="4956048" y="95064"/>
                </a:cubicBezTo>
                <a:lnTo>
                  <a:pt x="4956048" y="475311"/>
                </a:lnTo>
                <a:cubicBezTo>
                  <a:pt x="4956048" y="527813"/>
                  <a:pt x="4913486" y="570375"/>
                  <a:pt x="4860984" y="570375"/>
                </a:cubicBezTo>
                <a:lnTo>
                  <a:pt x="95064" y="570375"/>
                </a:lnTo>
                <a:cubicBezTo>
                  <a:pt x="42562" y="570375"/>
                  <a:pt x="0" y="527813"/>
                  <a:pt x="0" y="475311"/>
                </a:cubicBezTo>
                <a:lnTo>
                  <a:pt x="0" y="95064"/>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3093" tIns="123093" rIns="123093" bIns="123093" numCol="1" spcCol="1270" anchor="ctr" anchorCtr="0">
            <a:noAutofit/>
          </a:bodyPr>
          <a:lstStyle/>
          <a:p>
            <a:pPr lvl="0" algn="l" defTabSz="1111250" rtl="0">
              <a:lnSpc>
                <a:spcPct val="90000"/>
              </a:lnSpc>
              <a:spcBef>
                <a:spcPct val="0"/>
              </a:spcBef>
              <a:spcAft>
                <a:spcPct val="35000"/>
              </a:spcAft>
            </a:pPr>
            <a:r>
              <a:rPr lang="en-US" sz="2500" kern="1200" dirty="0" smtClean="0"/>
              <a:t>Data Files</a:t>
            </a:r>
            <a:endParaRPr lang="en-US" sz="2500" kern="1200" dirty="0"/>
          </a:p>
        </p:txBody>
      </p:sp>
      <p:sp>
        <p:nvSpPr>
          <p:cNvPr id="10" name="Freeform 9"/>
          <p:cNvSpPr/>
          <p:nvPr/>
        </p:nvSpPr>
        <p:spPr>
          <a:xfrm>
            <a:off x="3197352" y="2751750"/>
            <a:ext cx="4956048" cy="570375"/>
          </a:xfrm>
          <a:custGeom>
            <a:avLst/>
            <a:gdLst>
              <a:gd name="connsiteX0" fmla="*/ 0 w 4956048"/>
              <a:gd name="connsiteY0" fmla="*/ 95064 h 570375"/>
              <a:gd name="connsiteX1" fmla="*/ 95064 w 4956048"/>
              <a:gd name="connsiteY1" fmla="*/ 0 h 570375"/>
              <a:gd name="connsiteX2" fmla="*/ 4860984 w 4956048"/>
              <a:gd name="connsiteY2" fmla="*/ 0 h 570375"/>
              <a:gd name="connsiteX3" fmla="*/ 4956048 w 4956048"/>
              <a:gd name="connsiteY3" fmla="*/ 95064 h 570375"/>
              <a:gd name="connsiteX4" fmla="*/ 4956048 w 4956048"/>
              <a:gd name="connsiteY4" fmla="*/ 475311 h 570375"/>
              <a:gd name="connsiteX5" fmla="*/ 4860984 w 4956048"/>
              <a:gd name="connsiteY5" fmla="*/ 570375 h 570375"/>
              <a:gd name="connsiteX6" fmla="*/ 95064 w 4956048"/>
              <a:gd name="connsiteY6" fmla="*/ 570375 h 570375"/>
              <a:gd name="connsiteX7" fmla="*/ 0 w 4956048"/>
              <a:gd name="connsiteY7" fmla="*/ 475311 h 570375"/>
              <a:gd name="connsiteX8" fmla="*/ 0 w 4956048"/>
              <a:gd name="connsiteY8" fmla="*/ 95064 h 570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6048" h="570375">
                <a:moveTo>
                  <a:pt x="0" y="95064"/>
                </a:moveTo>
                <a:cubicBezTo>
                  <a:pt x="0" y="42562"/>
                  <a:pt x="42562" y="0"/>
                  <a:pt x="95064" y="0"/>
                </a:cubicBezTo>
                <a:lnTo>
                  <a:pt x="4860984" y="0"/>
                </a:lnTo>
                <a:cubicBezTo>
                  <a:pt x="4913486" y="0"/>
                  <a:pt x="4956048" y="42562"/>
                  <a:pt x="4956048" y="95064"/>
                </a:cubicBezTo>
                <a:lnTo>
                  <a:pt x="4956048" y="475311"/>
                </a:lnTo>
                <a:cubicBezTo>
                  <a:pt x="4956048" y="527813"/>
                  <a:pt x="4913486" y="570375"/>
                  <a:pt x="4860984" y="570375"/>
                </a:cubicBezTo>
                <a:lnTo>
                  <a:pt x="95064" y="570375"/>
                </a:lnTo>
                <a:cubicBezTo>
                  <a:pt x="42562" y="570375"/>
                  <a:pt x="0" y="527813"/>
                  <a:pt x="0" y="475311"/>
                </a:cubicBezTo>
                <a:lnTo>
                  <a:pt x="0" y="95064"/>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3093" tIns="123093" rIns="123093" bIns="123093" numCol="1" spcCol="1270" anchor="ctr" anchorCtr="0">
            <a:noAutofit/>
          </a:bodyPr>
          <a:lstStyle/>
          <a:p>
            <a:pPr lvl="0" algn="l" defTabSz="1111250" rtl="0">
              <a:lnSpc>
                <a:spcPct val="90000"/>
              </a:lnSpc>
              <a:spcBef>
                <a:spcPct val="0"/>
              </a:spcBef>
              <a:spcAft>
                <a:spcPct val="35000"/>
              </a:spcAft>
            </a:pPr>
            <a:r>
              <a:rPr lang="en-US" sz="2500" kern="1200" dirty="0" smtClean="0"/>
              <a:t>Web Codebooks and Documentation</a:t>
            </a:r>
            <a:endParaRPr lang="en-US" sz="2500" kern="1200" dirty="0"/>
          </a:p>
        </p:txBody>
      </p:sp>
      <p:sp>
        <p:nvSpPr>
          <p:cNvPr id="11" name="Freeform 10"/>
          <p:cNvSpPr/>
          <p:nvPr/>
        </p:nvSpPr>
        <p:spPr>
          <a:xfrm>
            <a:off x="3197352" y="3429001"/>
            <a:ext cx="4956048" cy="570375"/>
          </a:xfrm>
          <a:custGeom>
            <a:avLst/>
            <a:gdLst>
              <a:gd name="connsiteX0" fmla="*/ 0 w 4956048"/>
              <a:gd name="connsiteY0" fmla="*/ 95064 h 570375"/>
              <a:gd name="connsiteX1" fmla="*/ 95064 w 4956048"/>
              <a:gd name="connsiteY1" fmla="*/ 0 h 570375"/>
              <a:gd name="connsiteX2" fmla="*/ 4860984 w 4956048"/>
              <a:gd name="connsiteY2" fmla="*/ 0 h 570375"/>
              <a:gd name="connsiteX3" fmla="*/ 4956048 w 4956048"/>
              <a:gd name="connsiteY3" fmla="*/ 95064 h 570375"/>
              <a:gd name="connsiteX4" fmla="*/ 4956048 w 4956048"/>
              <a:gd name="connsiteY4" fmla="*/ 475311 h 570375"/>
              <a:gd name="connsiteX5" fmla="*/ 4860984 w 4956048"/>
              <a:gd name="connsiteY5" fmla="*/ 570375 h 570375"/>
              <a:gd name="connsiteX6" fmla="*/ 95064 w 4956048"/>
              <a:gd name="connsiteY6" fmla="*/ 570375 h 570375"/>
              <a:gd name="connsiteX7" fmla="*/ 0 w 4956048"/>
              <a:gd name="connsiteY7" fmla="*/ 475311 h 570375"/>
              <a:gd name="connsiteX8" fmla="*/ 0 w 4956048"/>
              <a:gd name="connsiteY8" fmla="*/ 95064 h 570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6048" h="570375">
                <a:moveTo>
                  <a:pt x="0" y="95064"/>
                </a:moveTo>
                <a:cubicBezTo>
                  <a:pt x="0" y="42562"/>
                  <a:pt x="42562" y="0"/>
                  <a:pt x="95064" y="0"/>
                </a:cubicBezTo>
                <a:lnTo>
                  <a:pt x="4860984" y="0"/>
                </a:lnTo>
                <a:cubicBezTo>
                  <a:pt x="4913486" y="0"/>
                  <a:pt x="4956048" y="42562"/>
                  <a:pt x="4956048" y="95064"/>
                </a:cubicBezTo>
                <a:lnTo>
                  <a:pt x="4956048" y="475311"/>
                </a:lnTo>
                <a:cubicBezTo>
                  <a:pt x="4956048" y="527813"/>
                  <a:pt x="4913486" y="570375"/>
                  <a:pt x="4860984" y="570375"/>
                </a:cubicBezTo>
                <a:lnTo>
                  <a:pt x="95064" y="570375"/>
                </a:lnTo>
                <a:cubicBezTo>
                  <a:pt x="42562" y="570375"/>
                  <a:pt x="0" y="527813"/>
                  <a:pt x="0" y="475311"/>
                </a:cubicBezTo>
                <a:lnTo>
                  <a:pt x="0" y="95064"/>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3093" tIns="123093" rIns="123093" bIns="123093" numCol="1" spcCol="1270" anchor="ctr" anchorCtr="0">
            <a:noAutofit/>
          </a:bodyPr>
          <a:lstStyle/>
          <a:p>
            <a:pPr lvl="0" algn="l" defTabSz="1111250" rtl="0">
              <a:lnSpc>
                <a:spcPct val="90000"/>
              </a:lnSpc>
              <a:spcBef>
                <a:spcPct val="0"/>
              </a:spcBef>
              <a:spcAft>
                <a:spcPct val="35000"/>
              </a:spcAft>
            </a:pPr>
            <a:r>
              <a:rPr lang="en-US" sz="2500" kern="1200" dirty="0" smtClean="0"/>
              <a:t>DDI 2</a:t>
            </a:r>
            <a:endParaRPr lang="en-US" sz="2500" kern="1200" dirty="0"/>
          </a:p>
        </p:txBody>
      </p:sp>
      <p:sp>
        <p:nvSpPr>
          <p:cNvPr id="12" name="Freeform 11"/>
          <p:cNvSpPr/>
          <p:nvPr/>
        </p:nvSpPr>
        <p:spPr>
          <a:xfrm>
            <a:off x="3197352" y="4036500"/>
            <a:ext cx="4956048" cy="570375"/>
          </a:xfrm>
          <a:custGeom>
            <a:avLst/>
            <a:gdLst>
              <a:gd name="connsiteX0" fmla="*/ 0 w 4956048"/>
              <a:gd name="connsiteY0" fmla="*/ 95064 h 570375"/>
              <a:gd name="connsiteX1" fmla="*/ 95064 w 4956048"/>
              <a:gd name="connsiteY1" fmla="*/ 0 h 570375"/>
              <a:gd name="connsiteX2" fmla="*/ 4860984 w 4956048"/>
              <a:gd name="connsiteY2" fmla="*/ 0 h 570375"/>
              <a:gd name="connsiteX3" fmla="*/ 4956048 w 4956048"/>
              <a:gd name="connsiteY3" fmla="*/ 95064 h 570375"/>
              <a:gd name="connsiteX4" fmla="*/ 4956048 w 4956048"/>
              <a:gd name="connsiteY4" fmla="*/ 475311 h 570375"/>
              <a:gd name="connsiteX5" fmla="*/ 4860984 w 4956048"/>
              <a:gd name="connsiteY5" fmla="*/ 570375 h 570375"/>
              <a:gd name="connsiteX6" fmla="*/ 95064 w 4956048"/>
              <a:gd name="connsiteY6" fmla="*/ 570375 h 570375"/>
              <a:gd name="connsiteX7" fmla="*/ 0 w 4956048"/>
              <a:gd name="connsiteY7" fmla="*/ 475311 h 570375"/>
              <a:gd name="connsiteX8" fmla="*/ 0 w 4956048"/>
              <a:gd name="connsiteY8" fmla="*/ 95064 h 570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6048" h="570375">
                <a:moveTo>
                  <a:pt x="0" y="95064"/>
                </a:moveTo>
                <a:cubicBezTo>
                  <a:pt x="0" y="42562"/>
                  <a:pt x="42562" y="0"/>
                  <a:pt x="95064" y="0"/>
                </a:cubicBezTo>
                <a:lnTo>
                  <a:pt x="4860984" y="0"/>
                </a:lnTo>
                <a:cubicBezTo>
                  <a:pt x="4913486" y="0"/>
                  <a:pt x="4956048" y="42562"/>
                  <a:pt x="4956048" y="95064"/>
                </a:cubicBezTo>
                <a:lnTo>
                  <a:pt x="4956048" y="475311"/>
                </a:lnTo>
                <a:cubicBezTo>
                  <a:pt x="4956048" y="527813"/>
                  <a:pt x="4913486" y="570375"/>
                  <a:pt x="4860984" y="570375"/>
                </a:cubicBezTo>
                <a:lnTo>
                  <a:pt x="95064" y="570375"/>
                </a:lnTo>
                <a:cubicBezTo>
                  <a:pt x="42562" y="570375"/>
                  <a:pt x="0" y="527813"/>
                  <a:pt x="0" y="475311"/>
                </a:cubicBezTo>
                <a:lnTo>
                  <a:pt x="0" y="95064"/>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3093" tIns="123093" rIns="123093" bIns="123093" numCol="1" spcCol="1270" anchor="ctr" anchorCtr="0">
            <a:noAutofit/>
          </a:bodyPr>
          <a:lstStyle/>
          <a:p>
            <a:pPr lvl="0" algn="l" defTabSz="1111250" rtl="0">
              <a:lnSpc>
                <a:spcPct val="90000"/>
              </a:lnSpc>
              <a:spcBef>
                <a:spcPct val="0"/>
              </a:spcBef>
              <a:spcAft>
                <a:spcPct val="35000"/>
              </a:spcAft>
            </a:pPr>
            <a:r>
              <a:rPr lang="en-US" sz="2500" kern="1200" dirty="0" smtClean="0"/>
              <a:t>Spreadsheets</a:t>
            </a:r>
            <a:endParaRPr lang="en-US" sz="2500" kern="1200" dirty="0"/>
          </a:p>
        </p:txBody>
      </p:sp>
      <p:sp>
        <p:nvSpPr>
          <p:cNvPr id="13" name="Freeform 12"/>
          <p:cNvSpPr/>
          <p:nvPr/>
        </p:nvSpPr>
        <p:spPr>
          <a:xfrm>
            <a:off x="3197352" y="4678875"/>
            <a:ext cx="4956048" cy="570375"/>
          </a:xfrm>
          <a:custGeom>
            <a:avLst/>
            <a:gdLst>
              <a:gd name="connsiteX0" fmla="*/ 0 w 4956048"/>
              <a:gd name="connsiteY0" fmla="*/ 95064 h 570375"/>
              <a:gd name="connsiteX1" fmla="*/ 95064 w 4956048"/>
              <a:gd name="connsiteY1" fmla="*/ 0 h 570375"/>
              <a:gd name="connsiteX2" fmla="*/ 4860984 w 4956048"/>
              <a:gd name="connsiteY2" fmla="*/ 0 h 570375"/>
              <a:gd name="connsiteX3" fmla="*/ 4956048 w 4956048"/>
              <a:gd name="connsiteY3" fmla="*/ 95064 h 570375"/>
              <a:gd name="connsiteX4" fmla="*/ 4956048 w 4956048"/>
              <a:gd name="connsiteY4" fmla="*/ 475311 h 570375"/>
              <a:gd name="connsiteX5" fmla="*/ 4860984 w 4956048"/>
              <a:gd name="connsiteY5" fmla="*/ 570375 h 570375"/>
              <a:gd name="connsiteX6" fmla="*/ 95064 w 4956048"/>
              <a:gd name="connsiteY6" fmla="*/ 570375 h 570375"/>
              <a:gd name="connsiteX7" fmla="*/ 0 w 4956048"/>
              <a:gd name="connsiteY7" fmla="*/ 475311 h 570375"/>
              <a:gd name="connsiteX8" fmla="*/ 0 w 4956048"/>
              <a:gd name="connsiteY8" fmla="*/ 95064 h 570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6048" h="570375">
                <a:moveTo>
                  <a:pt x="0" y="95064"/>
                </a:moveTo>
                <a:cubicBezTo>
                  <a:pt x="0" y="42562"/>
                  <a:pt x="42562" y="0"/>
                  <a:pt x="95064" y="0"/>
                </a:cubicBezTo>
                <a:lnTo>
                  <a:pt x="4860984" y="0"/>
                </a:lnTo>
                <a:cubicBezTo>
                  <a:pt x="4913486" y="0"/>
                  <a:pt x="4956048" y="42562"/>
                  <a:pt x="4956048" y="95064"/>
                </a:cubicBezTo>
                <a:lnTo>
                  <a:pt x="4956048" y="475311"/>
                </a:lnTo>
                <a:cubicBezTo>
                  <a:pt x="4956048" y="527813"/>
                  <a:pt x="4913486" y="570375"/>
                  <a:pt x="4860984" y="570375"/>
                </a:cubicBezTo>
                <a:lnTo>
                  <a:pt x="95064" y="570375"/>
                </a:lnTo>
                <a:cubicBezTo>
                  <a:pt x="42562" y="570375"/>
                  <a:pt x="0" y="527813"/>
                  <a:pt x="0" y="475311"/>
                </a:cubicBezTo>
                <a:lnTo>
                  <a:pt x="0" y="95064"/>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3093" tIns="123093" rIns="123093" bIns="123093" numCol="1" spcCol="1270" anchor="ctr" anchorCtr="0">
            <a:noAutofit/>
          </a:bodyPr>
          <a:lstStyle/>
          <a:p>
            <a:pPr lvl="0" algn="l" defTabSz="1111250" rtl="0">
              <a:lnSpc>
                <a:spcPct val="90000"/>
              </a:lnSpc>
              <a:spcBef>
                <a:spcPct val="0"/>
              </a:spcBef>
              <a:spcAft>
                <a:spcPct val="35000"/>
              </a:spcAft>
            </a:pPr>
            <a:r>
              <a:rPr lang="en-US" sz="2500" kern="1200" dirty="0" smtClean="0"/>
              <a:t>Survey Source Code</a:t>
            </a:r>
            <a:endParaRPr lang="en-US" sz="2500" kern="1200" dirty="0"/>
          </a:p>
        </p:txBody>
      </p:sp>
      <p:sp>
        <p:nvSpPr>
          <p:cNvPr id="14" name="Freeform 13"/>
          <p:cNvSpPr/>
          <p:nvPr/>
        </p:nvSpPr>
        <p:spPr>
          <a:xfrm>
            <a:off x="3197352" y="5321250"/>
            <a:ext cx="4956048" cy="570375"/>
          </a:xfrm>
          <a:custGeom>
            <a:avLst/>
            <a:gdLst>
              <a:gd name="connsiteX0" fmla="*/ 0 w 4956048"/>
              <a:gd name="connsiteY0" fmla="*/ 95064 h 570375"/>
              <a:gd name="connsiteX1" fmla="*/ 95064 w 4956048"/>
              <a:gd name="connsiteY1" fmla="*/ 0 h 570375"/>
              <a:gd name="connsiteX2" fmla="*/ 4860984 w 4956048"/>
              <a:gd name="connsiteY2" fmla="*/ 0 h 570375"/>
              <a:gd name="connsiteX3" fmla="*/ 4956048 w 4956048"/>
              <a:gd name="connsiteY3" fmla="*/ 95064 h 570375"/>
              <a:gd name="connsiteX4" fmla="*/ 4956048 w 4956048"/>
              <a:gd name="connsiteY4" fmla="*/ 475311 h 570375"/>
              <a:gd name="connsiteX5" fmla="*/ 4860984 w 4956048"/>
              <a:gd name="connsiteY5" fmla="*/ 570375 h 570375"/>
              <a:gd name="connsiteX6" fmla="*/ 95064 w 4956048"/>
              <a:gd name="connsiteY6" fmla="*/ 570375 h 570375"/>
              <a:gd name="connsiteX7" fmla="*/ 0 w 4956048"/>
              <a:gd name="connsiteY7" fmla="*/ 475311 h 570375"/>
              <a:gd name="connsiteX8" fmla="*/ 0 w 4956048"/>
              <a:gd name="connsiteY8" fmla="*/ 95064 h 570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6048" h="570375">
                <a:moveTo>
                  <a:pt x="0" y="95064"/>
                </a:moveTo>
                <a:cubicBezTo>
                  <a:pt x="0" y="42562"/>
                  <a:pt x="42562" y="0"/>
                  <a:pt x="95064" y="0"/>
                </a:cubicBezTo>
                <a:lnTo>
                  <a:pt x="4860984" y="0"/>
                </a:lnTo>
                <a:cubicBezTo>
                  <a:pt x="4913486" y="0"/>
                  <a:pt x="4956048" y="42562"/>
                  <a:pt x="4956048" y="95064"/>
                </a:cubicBezTo>
                <a:lnTo>
                  <a:pt x="4956048" y="475311"/>
                </a:lnTo>
                <a:cubicBezTo>
                  <a:pt x="4956048" y="527813"/>
                  <a:pt x="4913486" y="570375"/>
                  <a:pt x="4860984" y="570375"/>
                </a:cubicBezTo>
                <a:lnTo>
                  <a:pt x="95064" y="570375"/>
                </a:lnTo>
                <a:cubicBezTo>
                  <a:pt x="42562" y="570375"/>
                  <a:pt x="0" y="527813"/>
                  <a:pt x="0" y="475311"/>
                </a:cubicBezTo>
                <a:lnTo>
                  <a:pt x="0" y="95064"/>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3093" tIns="123093" rIns="123093" bIns="123093" numCol="1" spcCol="1270" anchor="ctr" anchorCtr="0">
            <a:noAutofit/>
          </a:bodyPr>
          <a:lstStyle/>
          <a:p>
            <a:pPr lvl="0" algn="l" defTabSz="1111250" rtl="0">
              <a:lnSpc>
                <a:spcPct val="90000"/>
              </a:lnSpc>
              <a:spcBef>
                <a:spcPct val="0"/>
              </a:spcBef>
              <a:spcAft>
                <a:spcPct val="35000"/>
              </a:spcAft>
            </a:pPr>
            <a:r>
              <a:rPr lang="en-US" sz="2500" kern="1200" dirty="0" smtClean="0"/>
              <a:t>PDFs</a:t>
            </a:r>
            <a:endParaRPr lang="en-US" sz="2500" kern="1200" dirty="0"/>
          </a:p>
        </p:txBody>
      </p:sp>
      <p:pic>
        <p:nvPicPr>
          <p:cNvPr id="6" name="Picture 2" descr="http://www.ddialliance.org/sites/default/files/ddi-logo.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9495" y="3537012"/>
            <a:ext cx="1737905" cy="806388"/>
          </a:xfrm>
          <a:prstGeom prst="rect">
            <a:avLst/>
          </a:prstGeom>
          <a:noFill/>
          <a:extLst>
            <a:ext uri="{909E8E84-426E-40DD-AFC4-6F175D3DCCD1}">
              <a14:hiddenFill xmlns:a14="http://schemas.microsoft.com/office/drawing/2010/main">
                <a:solidFill>
                  <a:srgbClr val="FFFFFF"/>
                </a:solidFill>
              </a14:hiddenFill>
            </a:ext>
          </a:extLst>
        </p:spPr>
      </p:pic>
      <p:sp>
        <p:nvSpPr>
          <p:cNvPr id="7" name="Double Brace 6"/>
          <p:cNvSpPr/>
          <p:nvPr/>
        </p:nvSpPr>
        <p:spPr>
          <a:xfrm>
            <a:off x="2286000" y="1600200"/>
            <a:ext cx="6705600" cy="4876800"/>
          </a:xfrm>
          <a:prstGeom prst="bracePair">
            <a:avLst>
              <a:gd name="adj" fmla="val 8069"/>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125293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Mapping MIDUS to DDI 3</a:t>
            </a:r>
            <a:endParaRPr lang="en-US" dirty="0"/>
          </a:p>
        </p:txBody>
      </p:sp>
      <p:sp>
        <p:nvSpPr>
          <p:cNvPr id="3" name="Content Placeholder 2"/>
          <p:cNvSpPr>
            <a:spLocks noGrp="1"/>
          </p:cNvSpPr>
          <p:nvPr>
            <p:ph sz="quarter" idx="1"/>
          </p:nvPr>
        </p:nvSpPr>
        <p:spPr/>
        <p:txBody>
          <a:bodyPr/>
          <a:lstStyle/>
          <a:p>
            <a:r>
              <a:rPr lang="en-US" dirty="0" smtClean="0"/>
              <a:t>Joint project between MIDUS and Colectica</a:t>
            </a:r>
          </a:p>
          <a:p>
            <a:r>
              <a:rPr lang="en-US" dirty="0" smtClean="0"/>
              <a:t>Approximately 1 month timeframe</a:t>
            </a:r>
          </a:p>
          <a:p>
            <a:r>
              <a:rPr lang="en-US" dirty="0" smtClean="0"/>
              <a:t>Main tool: Colectica</a:t>
            </a:r>
          </a:p>
          <a:p>
            <a:pPr lvl="1"/>
            <a:r>
              <a:rPr lang="en-US" dirty="0" smtClean="0"/>
              <a:t>Repository</a:t>
            </a:r>
          </a:p>
          <a:p>
            <a:pPr lvl="1"/>
            <a:r>
              <a:rPr lang="en-US" dirty="0" smtClean="0"/>
              <a:t>Designer</a:t>
            </a:r>
          </a:p>
          <a:p>
            <a:pPr lvl="1"/>
            <a:r>
              <a:rPr lang="en-US" dirty="0" smtClean="0"/>
              <a:t>SDK</a:t>
            </a:r>
            <a:endParaRPr lang="en-US" dirty="0"/>
          </a:p>
        </p:txBody>
      </p:sp>
    </p:spTree>
    <p:extLst>
      <p:ext uri="{BB962C8B-B14F-4D97-AF65-F5344CB8AC3E}">
        <p14:creationId xmlns:p14="http://schemas.microsoft.com/office/powerpoint/2010/main" val="1821804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0" end="0"/>
                                            </p:txEl>
                                          </p:spTgt>
                                        </p:tgtEl>
                                        <p:attrNameLst>
                                          <p:attrName>ppt_c</p:attrName>
                                        </p:attrNameLst>
                                      </p:cBhvr>
                                      <p:to>
                                        <a:schemeClr val="bg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1" end="1"/>
                                            </p:txEl>
                                          </p:spTgt>
                                        </p:tgtEl>
                                        <p:attrNameLst>
                                          <p:attrName>ppt_c</p:attrName>
                                        </p:attrNameLst>
                                      </p:cBhvr>
                                      <p:to>
                                        <a:schemeClr val="bg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Mapping MIDUS to DDI 3</a:t>
            </a: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2899220471"/>
              </p:ext>
            </p:extLst>
          </p:nvPr>
        </p:nvGraphicFramePr>
        <p:xfrm>
          <a:off x="762000" y="1828800"/>
          <a:ext cx="7924800" cy="1200265"/>
        </p:xfrm>
        <a:graphic>
          <a:graphicData uri="http://schemas.openxmlformats.org/drawingml/2006/table">
            <a:tbl>
              <a:tblPr firstRow="1">
                <a:tableStyleId>{0660B408-B3CF-4A94-85FC-2B1E0A45F4A2}</a:tableStyleId>
              </a:tblPr>
              <a:tblGrid>
                <a:gridCol w="2743200"/>
                <a:gridCol w="5181600"/>
              </a:tblGrid>
              <a:tr h="419558">
                <a:tc>
                  <a:txBody>
                    <a:bodyPr/>
                    <a:lstStyle/>
                    <a:p>
                      <a:pPr algn="l"/>
                      <a:r>
                        <a:rPr lang="en-US" dirty="0">
                          <a:effectLst/>
                        </a:rPr>
                        <a:t>Source</a:t>
                      </a:r>
                    </a:p>
                  </a:txBody>
                  <a:tcPr marL="57150" marR="57150" marT="57150" marB="57150" anchor="ctr"/>
                </a:tc>
                <a:tc>
                  <a:txBody>
                    <a:bodyPr/>
                    <a:lstStyle/>
                    <a:p>
                      <a:pPr algn="l"/>
                      <a:r>
                        <a:rPr lang="en-US" dirty="0">
                          <a:effectLst/>
                        </a:rPr>
                        <a:t>DDI 3 Mapping</a:t>
                      </a:r>
                    </a:p>
                  </a:txBody>
                  <a:tcPr marL="57150" marR="57150" marT="57150" marB="57150" anchor="ctr"/>
                </a:tc>
              </a:tr>
              <a:tr h="780707">
                <a:tc>
                  <a:txBody>
                    <a:bodyPr/>
                    <a:lstStyle/>
                    <a:p>
                      <a:r>
                        <a:rPr lang="en-US" dirty="0">
                          <a:effectLst/>
                        </a:rPr>
                        <a:t>Data Files</a:t>
                      </a:r>
                    </a:p>
                  </a:txBody>
                  <a:tcPr marL="57150" marR="57150" marT="57150" marB="57150" anchor="ctr"/>
                </a:tc>
                <a:tc>
                  <a:txBody>
                    <a:bodyPr/>
                    <a:lstStyle/>
                    <a:p>
                      <a:r>
                        <a:rPr lang="en-US" dirty="0" err="1">
                          <a:effectLst/>
                        </a:rPr>
                        <a:t>PhysicalInstance</a:t>
                      </a:r>
                      <a:r>
                        <a:rPr lang="en-US" dirty="0">
                          <a:effectLst/>
                        </a:rPr>
                        <a:t>, Variable, </a:t>
                      </a:r>
                      <a:r>
                        <a:rPr lang="en-US" dirty="0" err="1">
                          <a:effectLst/>
                        </a:rPr>
                        <a:t>VariableStatistics</a:t>
                      </a:r>
                      <a:endParaRPr lang="en-US" dirty="0">
                        <a:effectLst/>
                      </a:endParaRPr>
                    </a:p>
                  </a:txBody>
                  <a:tcPr marL="57150" marR="57150" marT="57150" marB="57150" anchor="ctr"/>
                </a:tc>
              </a:tr>
            </a:tbl>
          </a:graphicData>
        </a:graphic>
      </p:graphicFrame>
    </p:spTree>
    <p:extLst>
      <p:ext uri="{BB962C8B-B14F-4D97-AF65-F5344CB8AC3E}">
        <p14:creationId xmlns:p14="http://schemas.microsoft.com/office/powerpoint/2010/main" val="26958846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Mapping MIDUS to DDI 3</a:t>
            </a: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1758474108"/>
              </p:ext>
            </p:extLst>
          </p:nvPr>
        </p:nvGraphicFramePr>
        <p:xfrm>
          <a:off x="762000" y="1828800"/>
          <a:ext cx="7924800" cy="1980972"/>
        </p:xfrm>
        <a:graphic>
          <a:graphicData uri="http://schemas.openxmlformats.org/drawingml/2006/table">
            <a:tbl>
              <a:tblPr firstRow="1">
                <a:tableStyleId>{0660B408-B3CF-4A94-85FC-2B1E0A45F4A2}</a:tableStyleId>
              </a:tblPr>
              <a:tblGrid>
                <a:gridCol w="2743200"/>
                <a:gridCol w="5181600"/>
              </a:tblGrid>
              <a:tr h="419558">
                <a:tc>
                  <a:txBody>
                    <a:bodyPr/>
                    <a:lstStyle/>
                    <a:p>
                      <a:pPr algn="l"/>
                      <a:r>
                        <a:rPr lang="en-US" dirty="0">
                          <a:effectLst/>
                        </a:rPr>
                        <a:t>Source</a:t>
                      </a:r>
                    </a:p>
                  </a:txBody>
                  <a:tcPr marL="57150" marR="57150" marT="57150" marB="57150" anchor="ctr"/>
                </a:tc>
                <a:tc>
                  <a:txBody>
                    <a:bodyPr/>
                    <a:lstStyle/>
                    <a:p>
                      <a:pPr algn="l"/>
                      <a:r>
                        <a:rPr lang="en-US" dirty="0">
                          <a:effectLst/>
                        </a:rPr>
                        <a:t>DDI 3 Mapping</a:t>
                      </a:r>
                    </a:p>
                  </a:txBody>
                  <a:tcPr marL="57150" marR="57150" marT="57150" marB="57150" anchor="ctr"/>
                </a:tc>
              </a:tr>
              <a:tr h="780707">
                <a:tc>
                  <a:txBody>
                    <a:bodyPr/>
                    <a:lstStyle/>
                    <a:p>
                      <a:r>
                        <a:rPr lang="en-US" dirty="0">
                          <a:effectLst/>
                        </a:rPr>
                        <a:t>Data Files</a:t>
                      </a:r>
                    </a:p>
                  </a:txBody>
                  <a:tcPr marL="57150" marR="57150" marT="57150" marB="57150" anchor="ctr"/>
                </a:tc>
                <a:tc>
                  <a:txBody>
                    <a:bodyPr/>
                    <a:lstStyle/>
                    <a:p>
                      <a:r>
                        <a:rPr lang="en-US" dirty="0" err="1">
                          <a:effectLst/>
                        </a:rPr>
                        <a:t>PhysicalInstance</a:t>
                      </a:r>
                      <a:r>
                        <a:rPr lang="en-US" dirty="0">
                          <a:effectLst/>
                        </a:rPr>
                        <a:t>, Variable, </a:t>
                      </a:r>
                      <a:r>
                        <a:rPr lang="en-US" dirty="0" err="1">
                          <a:effectLst/>
                        </a:rPr>
                        <a:t>VariableStatistics</a:t>
                      </a:r>
                      <a:endParaRPr lang="en-US" dirty="0">
                        <a:effectLst/>
                      </a:endParaRPr>
                    </a:p>
                  </a:txBody>
                  <a:tcPr marL="57150" marR="57150" marT="57150" marB="57150" anchor="ctr"/>
                </a:tc>
              </a:tr>
              <a:tr h="780707">
                <a:tc>
                  <a:txBody>
                    <a:bodyPr/>
                    <a:lstStyle/>
                    <a:p>
                      <a:r>
                        <a:rPr lang="en-US" dirty="0">
                          <a:effectLst/>
                        </a:rPr>
                        <a:t>Web documents and Codebooks</a:t>
                      </a:r>
                    </a:p>
                  </a:txBody>
                  <a:tcPr marL="57150" marR="57150" marT="57150" marB="57150" anchor="ctr"/>
                </a:tc>
                <a:tc>
                  <a:txBody>
                    <a:bodyPr/>
                    <a:lstStyle/>
                    <a:p>
                      <a:r>
                        <a:rPr lang="en-US" dirty="0" err="1">
                          <a:effectLst/>
                        </a:rPr>
                        <a:t>StudyUnit</a:t>
                      </a:r>
                      <a:r>
                        <a:rPr lang="en-US" dirty="0">
                          <a:effectLst/>
                        </a:rPr>
                        <a:t>, </a:t>
                      </a:r>
                      <a:r>
                        <a:rPr lang="en-US" dirty="0" err="1">
                          <a:effectLst/>
                        </a:rPr>
                        <a:t>FundingInformation</a:t>
                      </a:r>
                      <a:r>
                        <a:rPr lang="en-US" dirty="0">
                          <a:effectLst/>
                        </a:rPr>
                        <a:t>, </a:t>
                      </a:r>
                      <a:r>
                        <a:rPr lang="en-US" dirty="0" err="1">
                          <a:effectLst/>
                        </a:rPr>
                        <a:t>OtherMaterial</a:t>
                      </a:r>
                      <a:endParaRPr lang="en-US" dirty="0">
                        <a:effectLst/>
                      </a:endParaRPr>
                    </a:p>
                  </a:txBody>
                  <a:tcPr marL="57150" marR="57150" marT="57150" marB="57150" anchor="ctr"/>
                </a:tc>
              </a:tr>
            </a:tbl>
          </a:graphicData>
        </a:graphic>
      </p:graphicFrame>
    </p:spTree>
    <p:extLst>
      <p:ext uri="{BB962C8B-B14F-4D97-AF65-F5344CB8AC3E}">
        <p14:creationId xmlns:p14="http://schemas.microsoft.com/office/powerpoint/2010/main" val="182180447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Mapping MIDUS to DDI 3</a:t>
            </a: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3669729956"/>
              </p:ext>
            </p:extLst>
          </p:nvPr>
        </p:nvGraphicFramePr>
        <p:xfrm>
          <a:off x="762000" y="1828800"/>
          <a:ext cx="7924800" cy="2761679"/>
        </p:xfrm>
        <a:graphic>
          <a:graphicData uri="http://schemas.openxmlformats.org/drawingml/2006/table">
            <a:tbl>
              <a:tblPr firstRow="1">
                <a:tableStyleId>{0660B408-B3CF-4A94-85FC-2B1E0A45F4A2}</a:tableStyleId>
              </a:tblPr>
              <a:tblGrid>
                <a:gridCol w="2743200"/>
                <a:gridCol w="5181600"/>
              </a:tblGrid>
              <a:tr h="419558">
                <a:tc>
                  <a:txBody>
                    <a:bodyPr/>
                    <a:lstStyle/>
                    <a:p>
                      <a:pPr algn="l"/>
                      <a:r>
                        <a:rPr lang="en-US" dirty="0">
                          <a:effectLst/>
                        </a:rPr>
                        <a:t>Source</a:t>
                      </a:r>
                    </a:p>
                  </a:txBody>
                  <a:tcPr marL="57150" marR="57150" marT="57150" marB="57150" anchor="ctr"/>
                </a:tc>
                <a:tc>
                  <a:txBody>
                    <a:bodyPr/>
                    <a:lstStyle/>
                    <a:p>
                      <a:pPr algn="l"/>
                      <a:r>
                        <a:rPr lang="en-US" dirty="0">
                          <a:effectLst/>
                        </a:rPr>
                        <a:t>DDI 3 Mapping</a:t>
                      </a:r>
                    </a:p>
                  </a:txBody>
                  <a:tcPr marL="57150" marR="57150" marT="57150" marB="57150" anchor="ctr"/>
                </a:tc>
              </a:tr>
              <a:tr h="780707">
                <a:tc>
                  <a:txBody>
                    <a:bodyPr/>
                    <a:lstStyle/>
                    <a:p>
                      <a:r>
                        <a:rPr lang="en-US" dirty="0">
                          <a:effectLst/>
                        </a:rPr>
                        <a:t>Data Files</a:t>
                      </a:r>
                    </a:p>
                  </a:txBody>
                  <a:tcPr marL="57150" marR="57150" marT="57150" marB="57150" anchor="ctr"/>
                </a:tc>
                <a:tc>
                  <a:txBody>
                    <a:bodyPr/>
                    <a:lstStyle/>
                    <a:p>
                      <a:r>
                        <a:rPr lang="en-US" dirty="0" err="1">
                          <a:effectLst/>
                        </a:rPr>
                        <a:t>PhysicalInstance</a:t>
                      </a:r>
                      <a:r>
                        <a:rPr lang="en-US" dirty="0">
                          <a:effectLst/>
                        </a:rPr>
                        <a:t>, Variable, </a:t>
                      </a:r>
                      <a:r>
                        <a:rPr lang="en-US" dirty="0" err="1">
                          <a:effectLst/>
                        </a:rPr>
                        <a:t>VariableStatistics</a:t>
                      </a:r>
                      <a:endParaRPr lang="en-US" dirty="0">
                        <a:effectLst/>
                      </a:endParaRPr>
                    </a:p>
                  </a:txBody>
                  <a:tcPr marL="57150" marR="57150" marT="57150" marB="57150" anchor="ctr"/>
                </a:tc>
              </a:tr>
              <a:tr h="780707">
                <a:tc>
                  <a:txBody>
                    <a:bodyPr/>
                    <a:lstStyle/>
                    <a:p>
                      <a:r>
                        <a:rPr lang="en-US" dirty="0">
                          <a:effectLst/>
                        </a:rPr>
                        <a:t>Web documents and Codebooks</a:t>
                      </a:r>
                    </a:p>
                  </a:txBody>
                  <a:tcPr marL="57150" marR="57150" marT="57150" marB="57150" anchor="ctr"/>
                </a:tc>
                <a:tc>
                  <a:txBody>
                    <a:bodyPr/>
                    <a:lstStyle/>
                    <a:p>
                      <a:r>
                        <a:rPr lang="en-US" dirty="0" err="1">
                          <a:effectLst/>
                        </a:rPr>
                        <a:t>StudyUnit</a:t>
                      </a:r>
                      <a:r>
                        <a:rPr lang="en-US" dirty="0">
                          <a:effectLst/>
                        </a:rPr>
                        <a:t>, </a:t>
                      </a:r>
                      <a:r>
                        <a:rPr lang="en-US" dirty="0" err="1">
                          <a:effectLst/>
                        </a:rPr>
                        <a:t>FundingInformation</a:t>
                      </a:r>
                      <a:r>
                        <a:rPr lang="en-US" dirty="0">
                          <a:effectLst/>
                        </a:rPr>
                        <a:t>, </a:t>
                      </a:r>
                      <a:r>
                        <a:rPr lang="en-US" dirty="0" err="1">
                          <a:effectLst/>
                        </a:rPr>
                        <a:t>OtherMaterial</a:t>
                      </a:r>
                      <a:endParaRPr lang="en-US" dirty="0">
                        <a:effectLst/>
                      </a:endParaRPr>
                    </a:p>
                  </a:txBody>
                  <a:tcPr marL="57150" marR="57150" marT="57150" marB="57150" anchor="ctr"/>
                </a:tc>
              </a:tr>
              <a:tr h="780707">
                <a:tc>
                  <a:txBody>
                    <a:bodyPr/>
                    <a:lstStyle/>
                    <a:p>
                      <a:r>
                        <a:rPr lang="en-US" dirty="0" smtClean="0">
                          <a:effectLst/>
                        </a:rPr>
                        <a:t>DDI 2</a:t>
                      </a:r>
                      <a:endParaRPr lang="en-US" dirty="0">
                        <a:effectLst/>
                      </a:endParaRPr>
                    </a:p>
                  </a:txBody>
                  <a:tcPr marL="57150" marR="57150" marT="57150" marB="57150" anchor="ctr"/>
                </a:tc>
                <a:tc>
                  <a:txBody>
                    <a:bodyPr/>
                    <a:lstStyle/>
                    <a:p>
                      <a:r>
                        <a:rPr lang="en-US" dirty="0" err="1" smtClean="0">
                          <a:effectLst/>
                        </a:rPr>
                        <a:t>PhysicalInstance</a:t>
                      </a:r>
                      <a:r>
                        <a:rPr lang="en-US" dirty="0" smtClean="0">
                          <a:effectLst/>
                        </a:rPr>
                        <a:t>, Variable, </a:t>
                      </a:r>
                      <a:r>
                        <a:rPr lang="en-US" dirty="0" err="1" smtClean="0">
                          <a:effectLst/>
                        </a:rPr>
                        <a:t>QuestionItem</a:t>
                      </a:r>
                      <a:r>
                        <a:rPr lang="en-US" dirty="0" smtClean="0">
                          <a:effectLst/>
                        </a:rPr>
                        <a:t>, </a:t>
                      </a:r>
                      <a:r>
                        <a:rPr lang="en-US" dirty="0" err="1" smtClean="0">
                          <a:effectLst/>
                        </a:rPr>
                        <a:t>VariableStatistics</a:t>
                      </a:r>
                      <a:endParaRPr lang="en-US" dirty="0">
                        <a:effectLst/>
                      </a:endParaRPr>
                    </a:p>
                  </a:txBody>
                  <a:tcPr marL="57150" marR="57150" marT="57150" marB="57150" anchor="ctr"/>
                </a:tc>
              </a:tr>
            </a:tbl>
          </a:graphicData>
        </a:graphic>
      </p:graphicFrame>
    </p:spTree>
    <p:extLst>
      <p:ext uri="{BB962C8B-B14F-4D97-AF65-F5344CB8AC3E}">
        <p14:creationId xmlns:p14="http://schemas.microsoft.com/office/powerpoint/2010/main" val="18218044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Mapping MIDUS to DDI 3</a:t>
            </a: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2795847710"/>
              </p:ext>
            </p:extLst>
          </p:nvPr>
        </p:nvGraphicFramePr>
        <p:xfrm>
          <a:off x="762000" y="1828800"/>
          <a:ext cx="7924800" cy="3219335"/>
        </p:xfrm>
        <a:graphic>
          <a:graphicData uri="http://schemas.openxmlformats.org/drawingml/2006/table">
            <a:tbl>
              <a:tblPr firstRow="1">
                <a:tableStyleId>{0660B408-B3CF-4A94-85FC-2B1E0A45F4A2}</a:tableStyleId>
              </a:tblPr>
              <a:tblGrid>
                <a:gridCol w="2743200"/>
                <a:gridCol w="5181600"/>
              </a:tblGrid>
              <a:tr h="419558">
                <a:tc>
                  <a:txBody>
                    <a:bodyPr/>
                    <a:lstStyle/>
                    <a:p>
                      <a:pPr algn="l"/>
                      <a:r>
                        <a:rPr lang="en-US" dirty="0">
                          <a:effectLst/>
                        </a:rPr>
                        <a:t>Source</a:t>
                      </a:r>
                    </a:p>
                  </a:txBody>
                  <a:tcPr marL="57150" marR="57150" marT="57150" marB="57150" anchor="ctr"/>
                </a:tc>
                <a:tc>
                  <a:txBody>
                    <a:bodyPr/>
                    <a:lstStyle/>
                    <a:p>
                      <a:pPr algn="l"/>
                      <a:r>
                        <a:rPr lang="en-US" dirty="0">
                          <a:effectLst/>
                        </a:rPr>
                        <a:t>DDI 3 Mapping</a:t>
                      </a:r>
                    </a:p>
                  </a:txBody>
                  <a:tcPr marL="57150" marR="57150" marT="57150" marB="57150" anchor="ctr"/>
                </a:tc>
              </a:tr>
              <a:tr h="780707">
                <a:tc>
                  <a:txBody>
                    <a:bodyPr/>
                    <a:lstStyle/>
                    <a:p>
                      <a:r>
                        <a:rPr lang="en-US" dirty="0">
                          <a:effectLst/>
                        </a:rPr>
                        <a:t>Data Files</a:t>
                      </a:r>
                    </a:p>
                  </a:txBody>
                  <a:tcPr marL="57150" marR="57150" marT="57150" marB="57150" anchor="ctr"/>
                </a:tc>
                <a:tc>
                  <a:txBody>
                    <a:bodyPr/>
                    <a:lstStyle/>
                    <a:p>
                      <a:r>
                        <a:rPr lang="en-US" dirty="0" err="1">
                          <a:effectLst/>
                        </a:rPr>
                        <a:t>PhysicalInstance</a:t>
                      </a:r>
                      <a:r>
                        <a:rPr lang="en-US" dirty="0">
                          <a:effectLst/>
                        </a:rPr>
                        <a:t>, Variable, </a:t>
                      </a:r>
                      <a:r>
                        <a:rPr lang="en-US" dirty="0" err="1">
                          <a:effectLst/>
                        </a:rPr>
                        <a:t>VariableStatistics</a:t>
                      </a:r>
                      <a:endParaRPr lang="en-US" dirty="0">
                        <a:effectLst/>
                      </a:endParaRPr>
                    </a:p>
                  </a:txBody>
                  <a:tcPr marL="57150" marR="57150" marT="57150" marB="57150" anchor="ctr"/>
                </a:tc>
              </a:tr>
              <a:tr h="780707">
                <a:tc>
                  <a:txBody>
                    <a:bodyPr/>
                    <a:lstStyle/>
                    <a:p>
                      <a:r>
                        <a:rPr lang="en-US" dirty="0">
                          <a:effectLst/>
                        </a:rPr>
                        <a:t>Web documents and Codebooks</a:t>
                      </a:r>
                    </a:p>
                  </a:txBody>
                  <a:tcPr marL="57150" marR="57150" marT="57150" marB="57150" anchor="ctr"/>
                </a:tc>
                <a:tc>
                  <a:txBody>
                    <a:bodyPr/>
                    <a:lstStyle/>
                    <a:p>
                      <a:r>
                        <a:rPr lang="en-US" dirty="0" err="1">
                          <a:effectLst/>
                        </a:rPr>
                        <a:t>StudyUnit</a:t>
                      </a:r>
                      <a:r>
                        <a:rPr lang="en-US" dirty="0">
                          <a:effectLst/>
                        </a:rPr>
                        <a:t>, </a:t>
                      </a:r>
                      <a:r>
                        <a:rPr lang="en-US" dirty="0" err="1">
                          <a:effectLst/>
                        </a:rPr>
                        <a:t>FundingInformation</a:t>
                      </a:r>
                      <a:r>
                        <a:rPr lang="en-US" dirty="0">
                          <a:effectLst/>
                        </a:rPr>
                        <a:t>, </a:t>
                      </a:r>
                      <a:r>
                        <a:rPr lang="en-US" dirty="0" err="1">
                          <a:effectLst/>
                        </a:rPr>
                        <a:t>OtherMaterial</a:t>
                      </a:r>
                      <a:endParaRPr lang="en-US" dirty="0">
                        <a:effectLst/>
                      </a:endParaRPr>
                    </a:p>
                  </a:txBody>
                  <a:tcPr marL="57150" marR="57150" marT="57150" marB="57150" anchor="ctr"/>
                </a:tc>
              </a:tr>
              <a:tr h="780707">
                <a:tc>
                  <a:txBody>
                    <a:bodyPr/>
                    <a:lstStyle/>
                    <a:p>
                      <a:r>
                        <a:rPr lang="en-US" dirty="0" smtClean="0">
                          <a:effectLst/>
                        </a:rPr>
                        <a:t>DDI 2</a:t>
                      </a:r>
                      <a:endParaRPr lang="en-US" dirty="0">
                        <a:effectLst/>
                      </a:endParaRPr>
                    </a:p>
                  </a:txBody>
                  <a:tcPr marL="57150" marR="57150" marT="57150" marB="57150" anchor="ctr"/>
                </a:tc>
                <a:tc>
                  <a:txBody>
                    <a:bodyPr/>
                    <a:lstStyle/>
                    <a:p>
                      <a:r>
                        <a:rPr lang="en-US" dirty="0" err="1" smtClean="0">
                          <a:effectLst/>
                        </a:rPr>
                        <a:t>PhysicalInstance</a:t>
                      </a:r>
                      <a:r>
                        <a:rPr lang="en-US" dirty="0" smtClean="0">
                          <a:effectLst/>
                        </a:rPr>
                        <a:t>, Variable, </a:t>
                      </a:r>
                      <a:r>
                        <a:rPr lang="en-US" dirty="0" err="1" smtClean="0">
                          <a:effectLst/>
                        </a:rPr>
                        <a:t>QuestionItem</a:t>
                      </a:r>
                      <a:r>
                        <a:rPr lang="en-US" dirty="0" smtClean="0">
                          <a:effectLst/>
                        </a:rPr>
                        <a:t>, </a:t>
                      </a:r>
                      <a:r>
                        <a:rPr lang="en-US" dirty="0" err="1" smtClean="0">
                          <a:effectLst/>
                        </a:rPr>
                        <a:t>VariableStatistics</a:t>
                      </a:r>
                      <a:endParaRPr lang="en-US" dirty="0">
                        <a:effectLst/>
                      </a:endParaRPr>
                    </a:p>
                  </a:txBody>
                  <a:tcPr marL="57150" marR="57150" marT="57150" marB="57150" anchor="ctr"/>
                </a:tc>
              </a:tr>
              <a:tr h="457656">
                <a:tc>
                  <a:txBody>
                    <a:bodyPr/>
                    <a:lstStyle/>
                    <a:p>
                      <a:r>
                        <a:rPr lang="en-US">
                          <a:effectLst/>
                        </a:rPr>
                        <a:t>Spreadsheets</a:t>
                      </a:r>
                    </a:p>
                  </a:txBody>
                  <a:tcPr marL="57150" marR="57150" marT="57150" marB="57150" anchor="ctr"/>
                </a:tc>
                <a:tc>
                  <a:txBody>
                    <a:bodyPr/>
                    <a:lstStyle/>
                    <a:p>
                      <a:r>
                        <a:rPr lang="en-US" dirty="0">
                          <a:effectLst/>
                        </a:rPr>
                        <a:t>Variable, </a:t>
                      </a:r>
                      <a:r>
                        <a:rPr lang="en-US" dirty="0" err="1">
                          <a:effectLst/>
                        </a:rPr>
                        <a:t>QuestionItem</a:t>
                      </a:r>
                      <a:endParaRPr lang="en-US" dirty="0">
                        <a:effectLst/>
                      </a:endParaRPr>
                    </a:p>
                  </a:txBody>
                  <a:tcPr marL="57150" marR="57150" marT="57150" marB="57150" anchor="ctr"/>
                </a:tc>
              </a:tr>
            </a:tbl>
          </a:graphicData>
        </a:graphic>
      </p:graphicFrame>
    </p:spTree>
    <p:extLst>
      <p:ext uri="{BB962C8B-B14F-4D97-AF65-F5344CB8AC3E}">
        <p14:creationId xmlns:p14="http://schemas.microsoft.com/office/powerpoint/2010/main" val="182180447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Mapping MIDUS to DDI 3</a:t>
            </a: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3065040070"/>
              </p:ext>
            </p:extLst>
          </p:nvPr>
        </p:nvGraphicFramePr>
        <p:xfrm>
          <a:off x="762000" y="1828800"/>
          <a:ext cx="7924800" cy="4000042"/>
        </p:xfrm>
        <a:graphic>
          <a:graphicData uri="http://schemas.openxmlformats.org/drawingml/2006/table">
            <a:tbl>
              <a:tblPr firstRow="1">
                <a:tableStyleId>{0660B408-B3CF-4A94-85FC-2B1E0A45F4A2}</a:tableStyleId>
              </a:tblPr>
              <a:tblGrid>
                <a:gridCol w="2743200"/>
                <a:gridCol w="5181600"/>
              </a:tblGrid>
              <a:tr h="419558">
                <a:tc>
                  <a:txBody>
                    <a:bodyPr/>
                    <a:lstStyle/>
                    <a:p>
                      <a:pPr algn="l"/>
                      <a:r>
                        <a:rPr lang="en-US" dirty="0">
                          <a:effectLst/>
                        </a:rPr>
                        <a:t>Source</a:t>
                      </a:r>
                    </a:p>
                  </a:txBody>
                  <a:tcPr marL="57150" marR="57150" marT="57150" marB="57150" anchor="ctr"/>
                </a:tc>
                <a:tc>
                  <a:txBody>
                    <a:bodyPr/>
                    <a:lstStyle/>
                    <a:p>
                      <a:pPr algn="l"/>
                      <a:r>
                        <a:rPr lang="en-US" dirty="0">
                          <a:effectLst/>
                        </a:rPr>
                        <a:t>DDI 3 Mapping</a:t>
                      </a:r>
                    </a:p>
                  </a:txBody>
                  <a:tcPr marL="57150" marR="57150" marT="57150" marB="57150" anchor="ctr"/>
                </a:tc>
              </a:tr>
              <a:tr h="780707">
                <a:tc>
                  <a:txBody>
                    <a:bodyPr/>
                    <a:lstStyle/>
                    <a:p>
                      <a:r>
                        <a:rPr lang="en-US" dirty="0">
                          <a:effectLst/>
                        </a:rPr>
                        <a:t>Data Files</a:t>
                      </a:r>
                    </a:p>
                  </a:txBody>
                  <a:tcPr marL="57150" marR="57150" marT="57150" marB="57150" anchor="ctr"/>
                </a:tc>
                <a:tc>
                  <a:txBody>
                    <a:bodyPr/>
                    <a:lstStyle/>
                    <a:p>
                      <a:r>
                        <a:rPr lang="en-US" dirty="0" err="1">
                          <a:effectLst/>
                        </a:rPr>
                        <a:t>PhysicalInstance</a:t>
                      </a:r>
                      <a:r>
                        <a:rPr lang="en-US" dirty="0">
                          <a:effectLst/>
                        </a:rPr>
                        <a:t>, Variable, </a:t>
                      </a:r>
                      <a:r>
                        <a:rPr lang="en-US" dirty="0" err="1">
                          <a:effectLst/>
                        </a:rPr>
                        <a:t>VariableStatistics</a:t>
                      </a:r>
                      <a:endParaRPr lang="en-US" dirty="0">
                        <a:effectLst/>
                      </a:endParaRPr>
                    </a:p>
                  </a:txBody>
                  <a:tcPr marL="57150" marR="57150" marT="57150" marB="57150" anchor="ctr"/>
                </a:tc>
              </a:tr>
              <a:tr h="780707">
                <a:tc>
                  <a:txBody>
                    <a:bodyPr/>
                    <a:lstStyle/>
                    <a:p>
                      <a:r>
                        <a:rPr lang="en-US" dirty="0">
                          <a:effectLst/>
                        </a:rPr>
                        <a:t>Web documents and Codebooks</a:t>
                      </a:r>
                    </a:p>
                  </a:txBody>
                  <a:tcPr marL="57150" marR="57150" marT="57150" marB="57150" anchor="ctr"/>
                </a:tc>
                <a:tc>
                  <a:txBody>
                    <a:bodyPr/>
                    <a:lstStyle/>
                    <a:p>
                      <a:r>
                        <a:rPr lang="en-US" dirty="0" err="1">
                          <a:effectLst/>
                        </a:rPr>
                        <a:t>StudyUnit</a:t>
                      </a:r>
                      <a:r>
                        <a:rPr lang="en-US" dirty="0">
                          <a:effectLst/>
                        </a:rPr>
                        <a:t>, </a:t>
                      </a:r>
                      <a:r>
                        <a:rPr lang="en-US" dirty="0" err="1">
                          <a:effectLst/>
                        </a:rPr>
                        <a:t>FundingInformation</a:t>
                      </a:r>
                      <a:r>
                        <a:rPr lang="en-US" dirty="0">
                          <a:effectLst/>
                        </a:rPr>
                        <a:t>, </a:t>
                      </a:r>
                      <a:r>
                        <a:rPr lang="en-US" dirty="0" err="1">
                          <a:effectLst/>
                        </a:rPr>
                        <a:t>OtherMaterial</a:t>
                      </a:r>
                      <a:endParaRPr lang="en-US" dirty="0">
                        <a:effectLst/>
                      </a:endParaRPr>
                    </a:p>
                  </a:txBody>
                  <a:tcPr marL="57150" marR="57150" marT="57150" marB="57150" anchor="ctr"/>
                </a:tc>
              </a:tr>
              <a:tr h="780707">
                <a:tc>
                  <a:txBody>
                    <a:bodyPr/>
                    <a:lstStyle/>
                    <a:p>
                      <a:r>
                        <a:rPr lang="en-US" dirty="0" smtClean="0">
                          <a:effectLst/>
                        </a:rPr>
                        <a:t>DDI 2</a:t>
                      </a:r>
                      <a:endParaRPr lang="en-US" dirty="0">
                        <a:effectLst/>
                      </a:endParaRPr>
                    </a:p>
                  </a:txBody>
                  <a:tcPr marL="57150" marR="57150" marT="57150" marB="57150" anchor="ctr"/>
                </a:tc>
                <a:tc>
                  <a:txBody>
                    <a:bodyPr/>
                    <a:lstStyle/>
                    <a:p>
                      <a:r>
                        <a:rPr lang="en-US" dirty="0" err="1" smtClean="0">
                          <a:effectLst/>
                        </a:rPr>
                        <a:t>PhysicalInstance</a:t>
                      </a:r>
                      <a:r>
                        <a:rPr lang="en-US" dirty="0" smtClean="0">
                          <a:effectLst/>
                        </a:rPr>
                        <a:t>, Variable, </a:t>
                      </a:r>
                      <a:r>
                        <a:rPr lang="en-US" dirty="0" err="1" smtClean="0">
                          <a:effectLst/>
                        </a:rPr>
                        <a:t>QuestionItem</a:t>
                      </a:r>
                      <a:r>
                        <a:rPr lang="en-US" dirty="0" smtClean="0">
                          <a:effectLst/>
                        </a:rPr>
                        <a:t>, </a:t>
                      </a:r>
                      <a:r>
                        <a:rPr lang="en-US" dirty="0" err="1" smtClean="0">
                          <a:effectLst/>
                        </a:rPr>
                        <a:t>VariableStatistics</a:t>
                      </a:r>
                      <a:endParaRPr lang="en-US" dirty="0">
                        <a:effectLst/>
                      </a:endParaRPr>
                    </a:p>
                  </a:txBody>
                  <a:tcPr marL="57150" marR="57150" marT="57150" marB="57150" anchor="ctr"/>
                </a:tc>
              </a:tr>
              <a:tr h="457656">
                <a:tc>
                  <a:txBody>
                    <a:bodyPr/>
                    <a:lstStyle/>
                    <a:p>
                      <a:r>
                        <a:rPr lang="en-US">
                          <a:effectLst/>
                        </a:rPr>
                        <a:t>Spreadsheets</a:t>
                      </a:r>
                    </a:p>
                  </a:txBody>
                  <a:tcPr marL="57150" marR="57150" marT="57150" marB="57150" anchor="ctr"/>
                </a:tc>
                <a:tc>
                  <a:txBody>
                    <a:bodyPr/>
                    <a:lstStyle/>
                    <a:p>
                      <a:r>
                        <a:rPr lang="en-US">
                          <a:effectLst/>
                        </a:rPr>
                        <a:t>Variable, QuestionItem</a:t>
                      </a:r>
                    </a:p>
                  </a:txBody>
                  <a:tcPr marL="57150" marR="57150" marT="57150" marB="57150" anchor="ctr"/>
                </a:tc>
              </a:tr>
              <a:tr h="780707">
                <a:tc>
                  <a:txBody>
                    <a:bodyPr/>
                    <a:lstStyle/>
                    <a:p>
                      <a:r>
                        <a:rPr lang="en-US">
                          <a:effectLst/>
                        </a:rPr>
                        <a:t>CAI Source Code</a:t>
                      </a:r>
                    </a:p>
                  </a:txBody>
                  <a:tcPr marL="57150" marR="57150" marT="57150" marB="57150" anchor="ctr"/>
                </a:tc>
                <a:tc>
                  <a:txBody>
                    <a:bodyPr/>
                    <a:lstStyle/>
                    <a:p>
                      <a:r>
                        <a:rPr lang="en-US" dirty="0">
                          <a:effectLst/>
                        </a:rPr>
                        <a:t>Instrument, </a:t>
                      </a:r>
                      <a:r>
                        <a:rPr lang="en-US" dirty="0" err="1">
                          <a:effectLst/>
                        </a:rPr>
                        <a:t>QuestionItem</a:t>
                      </a:r>
                      <a:r>
                        <a:rPr lang="en-US" dirty="0">
                          <a:effectLst/>
                        </a:rPr>
                        <a:t>, </a:t>
                      </a:r>
                      <a:r>
                        <a:rPr lang="en-US" dirty="0" err="1">
                          <a:effectLst/>
                        </a:rPr>
                        <a:t>ControlConstructSequence</a:t>
                      </a:r>
                      <a:endParaRPr lang="en-US" dirty="0">
                        <a:effectLst/>
                      </a:endParaRPr>
                    </a:p>
                  </a:txBody>
                  <a:tcPr marL="57150" marR="57150" marT="57150" marB="57150" anchor="ctr"/>
                </a:tc>
              </a:tr>
            </a:tbl>
          </a:graphicData>
        </a:graphic>
      </p:graphicFrame>
    </p:spTree>
    <p:extLst>
      <p:ext uri="{BB962C8B-B14F-4D97-AF65-F5344CB8AC3E}">
        <p14:creationId xmlns:p14="http://schemas.microsoft.com/office/powerpoint/2010/main" val="182180447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Mapping MIDUS to DDI 3</a:t>
            </a: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394781601"/>
              </p:ext>
            </p:extLst>
          </p:nvPr>
        </p:nvGraphicFramePr>
        <p:xfrm>
          <a:off x="762000" y="1828800"/>
          <a:ext cx="7924800" cy="4457698"/>
        </p:xfrm>
        <a:graphic>
          <a:graphicData uri="http://schemas.openxmlformats.org/drawingml/2006/table">
            <a:tbl>
              <a:tblPr firstRow="1">
                <a:tableStyleId>{0660B408-B3CF-4A94-85FC-2B1E0A45F4A2}</a:tableStyleId>
              </a:tblPr>
              <a:tblGrid>
                <a:gridCol w="2743200"/>
                <a:gridCol w="5181600"/>
              </a:tblGrid>
              <a:tr h="419558">
                <a:tc>
                  <a:txBody>
                    <a:bodyPr/>
                    <a:lstStyle/>
                    <a:p>
                      <a:pPr algn="l"/>
                      <a:r>
                        <a:rPr lang="en-US" dirty="0">
                          <a:effectLst/>
                        </a:rPr>
                        <a:t>Source</a:t>
                      </a:r>
                    </a:p>
                  </a:txBody>
                  <a:tcPr marL="57150" marR="57150" marT="57150" marB="57150" anchor="ctr"/>
                </a:tc>
                <a:tc>
                  <a:txBody>
                    <a:bodyPr/>
                    <a:lstStyle/>
                    <a:p>
                      <a:pPr algn="l"/>
                      <a:r>
                        <a:rPr lang="en-US" dirty="0">
                          <a:effectLst/>
                        </a:rPr>
                        <a:t>DDI 3 Mapping</a:t>
                      </a:r>
                    </a:p>
                  </a:txBody>
                  <a:tcPr marL="57150" marR="57150" marT="57150" marB="57150" anchor="ctr"/>
                </a:tc>
              </a:tr>
              <a:tr h="780707">
                <a:tc>
                  <a:txBody>
                    <a:bodyPr/>
                    <a:lstStyle/>
                    <a:p>
                      <a:r>
                        <a:rPr lang="en-US" dirty="0">
                          <a:effectLst/>
                        </a:rPr>
                        <a:t>Data Files</a:t>
                      </a:r>
                    </a:p>
                  </a:txBody>
                  <a:tcPr marL="57150" marR="57150" marT="57150" marB="57150" anchor="ctr"/>
                </a:tc>
                <a:tc>
                  <a:txBody>
                    <a:bodyPr/>
                    <a:lstStyle/>
                    <a:p>
                      <a:r>
                        <a:rPr lang="en-US" dirty="0" err="1">
                          <a:effectLst/>
                        </a:rPr>
                        <a:t>PhysicalInstance</a:t>
                      </a:r>
                      <a:r>
                        <a:rPr lang="en-US" dirty="0">
                          <a:effectLst/>
                        </a:rPr>
                        <a:t>, Variable, </a:t>
                      </a:r>
                      <a:r>
                        <a:rPr lang="en-US" dirty="0" err="1">
                          <a:effectLst/>
                        </a:rPr>
                        <a:t>VariableStatistics</a:t>
                      </a:r>
                      <a:endParaRPr lang="en-US" dirty="0">
                        <a:effectLst/>
                      </a:endParaRPr>
                    </a:p>
                  </a:txBody>
                  <a:tcPr marL="57150" marR="57150" marT="57150" marB="57150" anchor="ctr"/>
                </a:tc>
              </a:tr>
              <a:tr h="780707">
                <a:tc>
                  <a:txBody>
                    <a:bodyPr/>
                    <a:lstStyle/>
                    <a:p>
                      <a:r>
                        <a:rPr lang="en-US" dirty="0">
                          <a:effectLst/>
                        </a:rPr>
                        <a:t>Web documents and Codebooks</a:t>
                      </a:r>
                    </a:p>
                  </a:txBody>
                  <a:tcPr marL="57150" marR="57150" marT="57150" marB="57150" anchor="ctr"/>
                </a:tc>
                <a:tc>
                  <a:txBody>
                    <a:bodyPr/>
                    <a:lstStyle/>
                    <a:p>
                      <a:r>
                        <a:rPr lang="en-US" dirty="0" err="1">
                          <a:effectLst/>
                        </a:rPr>
                        <a:t>StudyUnit</a:t>
                      </a:r>
                      <a:r>
                        <a:rPr lang="en-US" dirty="0">
                          <a:effectLst/>
                        </a:rPr>
                        <a:t>, </a:t>
                      </a:r>
                      <a:r>
                        <a:rPr lang="en-US" dirty="0" err="1">
                          <a:effectLst/>
                        </a:rPr>
                        <a:t>FundingInformation</a:t>
                      </a:r>
                      <a:r>
                        <a:rPr lang="en-US" dirty="0">
                          <a:effectLst/>
                        </a:rPr>
                        <a:t>, </a:t>
                      </a:r>
                      <a:r>
                        <a:rPr lang="en-US" dirty="0" err="1">
                          <a:effectLst/>
                        </a:rPr>
                        <a:t>OtherMaterial</a:t>
                      </a:r>
                      <a:endParaRPr lang="en-US" dirty="0">
                        <a:effectLst/>
                      </a:endParaRPr>
                    </a:p>
                  </a:txBody>
                  <a:tcPr marL="57150" marR="57150" marT="57150" marB="57150" anchor="ctr"/>
                </a:tc>
              </a:tr>
              <a:tr h="780707">
                <a:tc>
                  <a:txBody>
                    <a:bodyPr/>
                    <a:lstStyle/>
                    <a:p>
                      <a:r>
                        <a:rPr lang="en-US" dirty="0" smtClean="0">
                          <a:effectLst/>
                        </a:rPr>
                        <a:t>DDI 2</a:t>
                      </a:r>
                      <a:endParaRPr lang="en-US" dirty="0">
                        <a:effectLst/>
                      </a:endParaRPr>
                    </a:p>
                  </a:txBody>
                  <a:tcPr marL="57150" marR="57150" marT="57150" marB="57150" anchor="ctr"/>
                </a:tc>
                <a:tc>
                  <a:txBody>
                    <a:bodyPr/>
                    <a:lstStyle/>
                    <a:p>
                      <a:r>
                        <a:rPr lang="en-US" dirty="0" err="1" smtClean="0">
                          <a:effectLst/>
                        </a:rPr>
                        <a:t>PhysicalInstance</a:t>
                      </a:r>
                      <a:r>
                        <a:rPr lang="en-US" dirty="0" smtClean="0">
                          <a:effectLst/>
                        </a:rPr>
                        <a:t>, Variable, </a:t>
                      </a:r>
                      <a:r>
                        <a:rPr lang="en-US" dirty="0" err="1" smtClean="0">
                          <a:effectLst/>
                        </a:rPr>
                        <a:t>QuestionItem</a:t>
                      </a:r>
                      <a:r>
                        <a:rPr lang="en-US" dirty="0" smtClean="0">
                          <a:effectLst/>
                        </a:rPr>
                        <a:t>, </a:t>
                      </a:r>
                      <a:r>
                        <a:rPr lang="en-US" dirty="0" err="1" smtClean="0">
                          <a:effectLst/>
                        </a:rPr>
                        <a:t>VariableStatistics</a:t>
                      </a:r>
                      <a:endParaRPr lang="en-US" dirty="0">
                        <a:effectLst/>
                      </a:endParaRPr>
                    </a:p>
                  </a:txBody>
                  <a:tcPr marL="57150" marR="57150" marT="57150" marB="57150" anchor="ctr"/>
                </a:tc>
              </a:tr>
              <a:tr h="457656">
                <a:tc>
                  <a:txBody>
                    <a:bodyPr/>
                    <a:lstStyle/>
                    <a:p>
                      <a:r>
                        <a:rPr lang="en-US">
                          <a:effectLst/>
                        </a:rPr>
                        <a:t>Spreadsheets</a:t>
                      </a:r>
                    </a:p>
                  </a:txBody>
                  <a:tcPr marL="57150" marR="57150" marT="57150" marB="57150" anchor="ctr"/>
                </a:tc>
                <a:tc>
                  <a:txBody>
                    <a:bodyPr/>
                    <a:lstStyle/>
                    <a:p>
                      <a:r>
                        <a:rPr lang="en-US">
                          <a:effectLst/>
                        </a:rPr>
                        <a:t>Variable, QuestionItem</a:t>
                      </a:r>
                    </a:p>
                  </a:txBody>
                  <a:tcPr marL="57150" marR="57150" marT="57150" marB="57150" anchor="ctr"/>
                </a:tc>
              </a:tr>
              <a:tr h="780707">
                <a:tc>
                  <a:txBody>
                    <a:bodyPr/>
                    <a:lstStyle/>
                    <a:p>
                      <a:r>
                        <a:rPr lang="en-US">
                          <a:effectLst/>
                        </a:rPr>
                        <a:t>CAI Source Code</a:t>
                      </a:r>
                    </a:p>
                  </a:txBody>
                  <a:tcPr marL="57150" marR="57150" marT="57150" marB="57150" anchor="ctr"/>
                </a:tc>
                <a:tc>
                  <a:txBody>
                    <a:bodyPr/>
                    <a:lstStyle/>
                    <a:p>
                      <a:r>
                        <a:rPr lang="en-US">
                          <a:effectLst/>
                        </a:rPr>
                        <a:t>Instrument, QuestionItem, ControlConstructSequence</a:t>
                      </a:r>
                    </a:p>
                  </a:txBody>
                  <a:tcPr marL="57150" marR="57150" marT="57150" marB="57150" anchor="ctr"/>
                </a:tc>
              </a:tr>
              <a:tr h="457656">
                <a:tc>
                  <a:txBody>
                    <a:bodyPr/>
                    <a:lstStyle/>
                    <a:p>
                      <a:r>
                        <a:rPr lang="en-US">
                          <a:effectLst/>
                        </a:rPr>
                        <a:t>PDF Documents</a:t>
                      </a:r>
                    </a:p>
                  </a:txBody>
                  <a:tcPr marL="57150" marR="57150" marT="57150" marB="57150" anchor="ctr"/>
                </a:tc>
                <a:tc>
                  <a:txBody>
                    <a:bodyPr/>
                    <a:lstStyle/>
                    <a:p>
                      <a:r>
                        <a:rPr lang="en-US" dirty="0" err="1">
                          <a:effectLst/>
                        </a:rPr>
                        <a:t>OtherMaterial</a:t>
                      </a:r>
                      <a:endParaRPr lang="en-US" dirty="0">
                        <a:effectLst/>
                      </a:endParaRPr>
                    </a:p>
                  </a:txBody>
                  <a:tcPr marL="57150" marR="57150" marT="57150" marB="57150" anchor="ctr"/>
                </a:tc>
              </a:tr>
            </a:tbl>
          </a:graphicData>
        </a:graphic>
      </p:graphicFrame>
    </p:spTree>
    <p:extLst>
      <p:ext uri="{BB962C8B-B14F-4D97-AF65-F5344CB8AC3E}">
        <p14:creationId xmlns:p14="http://schemas.microsoft.com/office/powerpoint/2010/main" val="182180447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p:txBody>
          <a:bodyPr/>
          <a:lstStyle/>
          <a:p>
            <a:endParaRPr lang="en-US"/>
          </a:p>
        </p:txBody>
      </p:sp>
      <p:sp>
        <p:nvSpPr>
          <p:cNvPr id="2" name="Title 1"/>
          <p:cNvSpPr>
            <a:spLocks noGrp="1"/>
          </p:cNvSpPr>
          <p:nvPr>
            <p:ph type="title"/>
          </p:nvPr>
        </p:nvSpPr>
        <p:spPr/>
        <p:txBody>
          <a:bodyPr/>
          <a:lstStyle/>
          <a:p>
            <a:r>
              <a:rPr lang="en-US" dirty="0" smtClean="0"/>
              <a:t>Resulting Documentation</a:t>
            </a:r>
            <a:endParaRPr lang="en-US" dirty="0"/>
          </a:p>
        </p:txBody>
      </p:sp>
    </p:spTree>
    <p:extLst>
      <p:ext uri="{BB962C8B-B14F-4D97-AF65-F5344CB8AC3E}">
        <p14:creationId xmlns:p14="http://schemas.microsoft.com/office/powerpoint/2010/main" val="405378088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762000"/>
          </a:xfrm>
        </p:spPr>
        <p:txBody>
          <a:bodyPr>
            <a:normAutofit/>
          </a:bodyPr>
          <a:lstStyle/>
          <a:p>
            <a:pPr algn="ctr"/>
            <a:r>
              <a:rPr lang="en-US" cap="none" dirty="0" smtClean="0"/>
              <a:t>Thank you</a:t>
            </a:r>
            <a:endParaRPr lang="en-US" cap="none" dirty="0"/>
          </a:p>
        </p:txBody>
      </p:sp>
      <p:graphicFrame>
        <p:nvGraphicFramePr>
          <p:cNvPr id="11" name="Table 10"/>
          <p:cNvGraphicFramePr>
            <a:graphicFrameLocks noGrp="1"/>
          </p:cNvGraphicFramePr>
          <p:nvPr>
            <p:extLst>
              <p:ext uri="{D42A27DB-BD31-4B8C-83A1-F6EECF244321}">
                <p14:modId xmlns:p14="http://schemas.microsoft.com/office/powerpoint/2010/main" val="949802976"/>
              </p:ext>
            </p:extLst>
          </p:nvPr>
        </p:nvGraphicFramePr>
        <p:xfrm>
          <a:off x="1600323" y="2590800"/>
          <a:ext cx="6045078" cy="3200400"/>
        </p:xfrm>
        <a:graphic>
          <a:graphicData uri="http://schemas.openxmlformats.org/drawingml/2006/table">
            <a:tbl>
              <a:tblPr firstRow="1" bandRow="1">
                <a:tableStyleId>{2D5ABB26-0587-4C30-8999-92F81FD0307C}</a:tableStyleId>
              </a:tblPr>
              <a:tblGrid>
                <a:gridCol w="525659"/>
                <a:gridCol w="1511269"/>
                <a:gridCol w="4008150"/>
              </a:tblGrid>
              <a:tr h="533400">
                <a:tc>
                  <a:txBody>
                    <a:bodyPr/>
                    <a:lstStyle/>
                    <a:p>
                      <a:endParaRPr lang="en-US" sz="3600" dirty="0"/>
                    </a:p>
                  </a:txBody>
                  <a:tcPr/>
                </a:tc>
                <a:tc>
                  <a:txBody>
                    <a:bodyPr/>
                    <a:lstStyle/>
                    <a:p>
                      <a:r>
                        <a:rPr lang="en-US" sz="2800" dirty="0" smtClean="0"/>
                        <a:t>Email</a:t>
                      </a:r>
                      <a:endParaRPr lang="en-US" sz="2800" dirty="0"/>
                    </a:p>
                  </a:txBody>
                  <a:tcPr/>
                </a:tc>
                <a:tc>
                  <a:txBody>
                    <a:bodyPr/>
                    <a:lstStyle/>
                    <a:p>
                      <a:pPr algn="r"/>
                      <a:r>
                        <a:rPr lang="en-US" sz="2800" dirty="0" smtClean="0"/>
                        <a:t>jeremy@colectica.com</a:t>
                      </a:r>
                      <a:endParaRPr lang="en-US" sz="2800" dirty="0"/>
                    </a:p>
                  </a:txBody>
                  <a:tcPr/>
                </a:tc>
              </a:tr>
              <a:tr h="533400">
                <a:tc>
                  <a:txBody>
                    <a:bodyPr/>
                    <a:lstStyle/>
                    <a:p>
                      <a:endParaRPr lang="en-US" sz="3600" dirty="0"/>
                    </a:p>
                  </a:txBody>
                  <a:tcPr/>
                </a:tc>
                <a:tc>
                  <a:txBody>
                    <a:bodyPr/>
                    <a:lstStyle/>
                    <a:p>
                      <a:r>
                        <a:rPr lang="en-US" sz="2800" dirty="0" smtClean="0"/>
                        <a:t>Web</a:t>
                      </a:r>
                      <a:endParaRPr lang="en-US" sz="2800" dirty="0"/>
                    </a:p>
                  </a:txBody>
                  <a:tcPr/>
                </a:tc>
                <a:tc>
                  <a:txBody>
                    <a:bodyPr/>
                    <a:lstStyle/>
                    <a:p>
                      <a:pPr algn="r"/>
                      <a:r>
                        <a:rPr lang="en-US" sz="2800" dirty="0" smtClean="0"/>
                        <a:t>colectica.com</a:t>
                      </a:r>
                      <a:endParaRPr lang="en-US" sz="2800" dirty="0"/>
                    </a:p>
                  </a:txBody>
                  <a:tcPr/>
                </a:tc>
              </a:tr>
              <a:tr h="533400">
                <a:tc>
                  <a:txBody>
                    <a:bodyPr/>
                    <a:lstStyle/>
                    <a:p>
                      <a:endParaRPr lang="en-US" sz="3600" dirty="0"/>
                    </a:p>
                  </a:txBody>
                  <a:tcPr/>
                </a:tc>
                <a:tc>
                  <a:txBody>
                    <a:bodyPr/>
                    <a:lstStyle/>
                    <a:p>
                      <a:r>
                        <a:rPr lang="en-US" sz="2800" dirty="0" smtClean="0"/>
                        <a:t>Blog</a:t>
                      </a:r>
                      <a:endParaRPr lang="en-US" sz="2800" dirty="0"/>
                    </a:p>
                  </a:txBody>
                  <a:tcPr/>
                </a:tc>
                <a:tc>
                  <a:txBody>
                    <a:bodyPr/>
                    <a:lstStyle/>
                    <a:p>
                      <a:pPr algn="r"/>
                      <a:r>
                        <a:rPr lang="en-US" sz="2800" dirty="0" smtClean="0"/>
                        <a:t>blogs.colectica.com</a:t>
                      </a:r>
                      <a:endParaRPr lang="en-US" sz="2800" dirty="0"/>
                    </a:p>
                  </a:txBody>
                  <a:tcPr/>
                </a:tc>
              </a:tr>
              <a:tr h="533400">
                <a:tc>
                  <a:txBody>
                    <a:bodyPr/>
                    <a:lstStyle/>
                    <a:p>
                      <a:endParaRPr lang="en-US" sz="3600" dirty="0"/>
                    </a:p>
                  </a:txBody>
                  <a:tcPr/>
                </a:tc>
                <a:tc>
                  <a:txBody>
                    <a:bodyPr/>
                    <a:lstStyle/>
                    <a:p>
                      <a:r>
                        <a:rPr lang="en-US" sz="2800" dirty="0" smtClean="0"/>
                        <a:t>Twitter</a:t>
                      </a:r>
                      <a:endParaRPr lang="en-US" sz="2800" dirty="0"/>
                    </a:p>
                  </a:txBody>
                  <a:tcPr/>
                </a:tc>
                <a:tc>
                  <a:txBody>
                    <a:bodyPr/>
                    <a:lstStyle/>
                    <a:p>
                      <a:pPr algn="r"/>
                      <a:r>
                        <a:rPr lang="en-US" sz="2800" dirty="0" smtClean="0"/>
                        <a:t>@Colectica</a:t>
                      </a:r>
                      <a:endParaRPr lang="en-US" sz="2800" dirty="0"/>
                    </a:p>
                  </a:txBody>
                  <a:tcPr/>
                </a:tc>
              </a:tr>
              <a:tr h="533400">
                <a:tc>
                  <a:txBody>
                    <a:bodyPr/>
                    <a:lstStyle/>
                    <a:p>
                      <a:endParaRPr lang="en-US" sz="3600" dirty="0"/>
                    </a:p>
                  </a:txBody>
                  <a:tcPr/>
                </a:tc>
                <a:tc>
                  <a:txBody>
                    <a:bodyPr/>
                    <a:lstStyle/>
                    <a:p>
                      <a:endParaRPr lang="en-US" sz="2800" dirty="0"/>
                    </a:p>
                  </a:txBody>
                  <a:tcPr/>
                </a:tc>
                <a:tc>
                  <a:txBody>
                    <a:bodyPr/>
                    <a:lstStyle/>
                    <a:p>
                      <a:endParaRPr lang="en-US" sz="2800" dirty="0"/>
                    </a:p>
                  </a:txBody>
                  <a:tcPr/>
                </a:tc>
              </a:tr>
            </a:tbl>
          </a:graphicData>
        </a:graphic>
      </p:graphicFrame>
      <p:pic>
        <p:nvPicPr>
          <p:cNvPr id="12" name="Picture 2" descr="D:\Downloads\twitt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5600" y="4597400"/>
            <a:ext cx="431800" cy="4318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C:\Users\jeremy\svn\admin\PR\Assets\colectica\custom\colectica-green-web.png"/>
          <p:cNvPicPr>
            <a:picLocks noChangeAspect="1" noChangeArrowheads="1"/>
          </p:cNvPicPr>
          <p:nvPr/>
        </p:nvPicPr>
        <p:blipFill>
          <a:blip r:embed="rId4" cstate="print"/>
          <a:srcRect/>
          <a:stretch>
            <a:fillRect/>
          </a:stretch>
        </p:blipFill>
        <p:spPr bwMode="auto">
          <a:xfrm>
            <a:off x="6422393" y="6096000"/>
            <a:ext cx="2569207" cy="609600"/>
          </a:xfrm>
          <a:prstGeom prst="rect">
            <a:avLst/>
          </a:prstGeom>
          <a:noFill/>
        </p:spPr>
      </p:pic>
      <p:sp>
        <p:nvSpPr>
          <p:cNvPr id="3" name="Rectangle 2"/>
          <p:cNvSpPr/>
          <p:nvPr/>
        </p:nvSpPr>
        <p:spPr>
          <a:xfrm>
            <a:off x="3423256" y="1371600"/>
            <a:ext cx="2297488" cy="523220"/>
          </a:xfrm>
          <a:prstGeom prst="rect">
            <a:avLst/>
          </a:prstGeom>
        </p:spPr>
        <p:txBody>
          <a:bodyPr wrap="none">
            <a:spAutoFit/>
          </a:bodyPr>
          <a:lstStyle/>
          <a:p>
            <a:pPr algn="r"/>
            <a:r>
              <a:rPr lang="en-US" sz="2800" dirty="0"/>
              <a:t>Jeremy Iverson</a:t>
            </a:r>
          </a:p>
        </p:txBody>
      </p:sp>
    </p:spTree>
    <p:extLst>
      <p:ext uri="{BB962C8B-B14F-4D97-AF65-F5344CB8AC3E}">
        <p14:creationId xmlns:p14="http://schemas.microsoft.com/office/powerpoint/2010/main" val="11322774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70</TotalTime>
  <Words>1453</Words>
  <Application>Microsoft Office PowerPoint</Application>
  <PresentationFormat>On-screen Show (4:3)</PresentationFormat>
  <Paragraphs>189</Paragraphs>
  <Slides>12</Slides>
  <Notes>10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Median</vt:lpstr>
      <vt:lpstr>Documenting and Harmonizing MIDUS with DDI 3 and Colectica</vt:lpstr>
      <vt:lpstr>MIDUS Overview</vt:lpstr>
      <vt:lpstr>MIDUS Documentation</vt:lpstr>
      <vt:lpstr>Mapping MIDUS to DDI 3</vt:lpstr>
      <vt:lpstr>Mapping MIDUS to DDI 3</vt:lpstr>
      <vt:lpstr>Mapping MIDUS to DDI 3</vt:lpstr>
      <vt:lpstr>Mapping MIDUS to DDI 3</vt:lpstr>
      <vt:lpstr>Mapping MIDUS to DDI 3</vt:lpstr>
      <vt:lpstr>Mapping MIDUS to DDI 3</vt:lpstr>
      <vt:lpstr>Mapping MIDUS to DDI 3</vt:lpstr>
      <vt:lpstr>Resulting Documentation</vt:lpstr>
      <vt:lpstr>Thank you</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Documenting and Harmonizing MIDUS with DDI 3 and Colectica</dc:title>
  <dc:creator>jeremy</dc:creator>
  <cp:lastModifiedBy>jeremy</cp:lastModifiedBy>
  <cp:revision>32</cp:revision>
  <dcterms:created xsi:type="dcterms:W3CDTF">2006-08-16T00:00:00Z</dcterms:created>
  <dcterms:modified xsi:type="dcterms:W3CDTF">2011-12-14T14:56:54Z</dcterms:modified>
</cp:coreProperties>
</file>