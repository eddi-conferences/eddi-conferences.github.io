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handoutMasterIdLst>
    <p:handoutMasterId r:id="rId17"/>
  </p:handoutMasterIdLst>
  <p:sldIdLst>
    <p:sldId id="256" r:id="rId2"/>
    <p:sldId id="257" r:id="rId3"/>
    <p:sldId id="258" r:id="rId4"/>
    <p:sldId id="270" r:id="rId5"/>
    <p:sldId id="259" r:id="rId6"/>
    <p:sldId id="264" r:id="rId7"/>
    <p:sldId id="260" r:id="rId8"/>
    <p:sldId id="261" r:id="rId9"/>
    <p:sldId id="262" r:id="rId10"/>
    <p:sldId id="263" r:id="rId11"/>
    <p:sldId id="268" r:id="rId12"/>
    <p:sldId id="269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 pitchFamily="1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464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403" autoAdjust="0"/>
  </p:normalViewPr>
  <p:slideViewPr>
    <p:cSldViewPr>
      <p:cViewPr>
        <p:scale>
          <a:sx n="100" d="100"/>
          <a:sy n="100" d="100"/>
        </p:scale>
        <p:origin x="-122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28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3.xml"/><Relationship Id="rId2" Type="http://schemas.openxmlformats.org/officeDocument/2006/relationships/slide" Target="slides/slide12.xml"/><Relationship Id="rId1" Type="http://schemas.openxmlformats.org/officeDocument/2006/relationships/slide" Target="slides/slide11.xml"/><Relationship Id="rId4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99CF7-CA42-4691-BEE8-260F266A3D0F}" type="datetimeFigureOut">
              <a:rPr lang="en-GB" smtClean="0"/>
              <a:t>28/11/2011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389B2-2EDA-47BF-89CF-59EBE2A00DA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2" name="Picture 14" descr="Powerpoint_title_slid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3048000"/>
            <a:ext cx="8382000" cy="1066800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185" name="Picture 17" descr="The_li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5715000"/>
            <a:ext cx="5181600" cy="960438"/>
          </a:xfrm>
          <a:prstGeom prst="rect">
            <a:avLst/>
          </a:prstGeom>
          <a:noFill/>
        </p:spPr>
      </p:pic>
      <p:pic>
        <p:nvPicPr>
          <p:cNvPr id="7187" name="Picture 19" descr="Logo_stra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304800"/>
            <a:ext cx="4103688" cy="17494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Ø"/>
              <a:defRPr sz="2000"/>
            </a:lvl2pPr>
            <a:lvl4pPr>
              <a:buFont typeface="Arial" pitchFamily="34" charset="0"/>
              <a:buChar char="›"/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324600"/>
            <a:ext cx="7147520" cy="381000"/>
          </a:xfrm>
        </p:spPr>
        <p:txBody>
          <a:bodyPr/>
          <a:lstStyle>
            <a:lvl1pPr>
              <a:defRPr/>
            </a:lvl1pPr>
          </a:lstStyle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981200"/>
            <a:ext cx="3467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0" y="1981200"/>
            <a:ext cx="3467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95950" y="457200"/>
            <a:ext cx="177165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516255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| Date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Picture 21" descr="Background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457200"/>
            <a:ext cx="7086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981200"/>
            <a:ext cx="7086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324600"/>
            <a:ext cx="721952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626464"/>
                </a:solidFill>
              </a:defRPr>
            </a:lvl1pPr>
          </a:lstStyle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‹#›</a:t>
            </a:fld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381000" y="6324600"/>
            <a:ext cx="8382000" cy="0"/>
          </a:xfrm>
          <a:prstGeom prst="line">
            <a:avLst/>
          </a:prstGeom>
          <a:noFill/>
          <a:ln w="6350">
            <a:solidFill>
              <a:srgbClr val="626464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ヒラギノ角ゴ Pro W3" pitchFamily="1" charset="-128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ヒラギノ角ゴ Pro W3" pitchFamily="1" charset="-128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ヒラギノ角ゴ Pro W3" pitchFamily="1" charset="-128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ヒラギノ角ゴ Pro W3" pitchFamily="1" charset="-128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ヒラギノ角ゴ Pro W3" pitchFamily="1" charset="-128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ヒラギノ角ゴ Pro W3" pitchFamily="1" charset="-128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ヒラギノ角ゴ Pro W3" pitchFamily="1" charset="-128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ヒラギノ角ゴ Pro W3" pitchFamily="1" charset="-128"/>
        </a:defRPr>
      </a:lvl9pPr>
    </p:titleStyle>
    <p:bodyStyle>
      <a:lvl1pPr marL="342900" indent="-342900" algn="l" rtl="0" fontAlgn="base">
        <a:lnSpc>
          <a:spcPct val="110000"/>
        </a:lnSpc>
        <a:spcBef>
          <a:spcPct val="20000"/>
        </a:spcBef>
        <a:spcAft>
          <a:spcPct val="0"/>
        </a:spcAft>
        <a:buClr>
          <a:srgbClr val="0095D3"/>
        </a:buClr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1776B2"/>
        </a:buClr>
        <a:defRPr sz="2200">
          <a:solidFill>
            <a:srgbClr val="626464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–"/>
        <a:defRPr sz="1600">
          <a:solidFill>
            <a:srgbClr val="626464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sz="2200">
          <a:solidFill>
            <a:srgbClr val="626464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rgbClr val="626464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rgbClr val="626464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rgbClr val="626464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rgbClr val="626464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200">
          <a:solidFill>
            <a:srgbClr val="626464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andy@esse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iserwww.essex.ac.uk/home/randy/ddi/events/2011-12-05-eddi11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rveynet.ac.uk/sms/srn_objective_5_final_report.pdf" TargetMode="External"/><Relationship Id="rId2" Type="http://schemas.openxmlformats.org/officeDocument/2006/relationships/hyperlink" Target="http://www.iser.essex.ac.uk/bhp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understandingsociety.org.uk/" TargetMode="External"/><Relationship Id="rId4" Type="http://schemas.openxmlformats.org/officeDocument/2006/relationships/hyperlink" Target="http://www.triple-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51520" y="1988840"/>
            <a:ext cx="8382000" cy="1066800"/>
          </a:xfrm>
        </p:spPr>
        <p:txBody>
          <a:bodyPr/>
          <a:lstStyle/>
          <a:p>
            <a:r>
              <a:rPr lang="en-GB" sz="4000" dirty="0" smtClean="0"/>
              <a:t>Understanding Society, Processing Data, Challenging DDI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284984"/>
            <a:ext cx="5976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A presentation to 3rd Annual European DDI Users Group Meeting (EDDI11): DDI - The Basis of Managing the Data Life Cycle, Gothenburg. 5-6 Dec 2011.</a:t>
            </a:r>
            <a:endParaRPr lang="en-GB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395537" y="4365104"/>
            <a:ext cx="5472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 smtClean="0"/>
              <a:t>Randy Banks (</a:t>
            </a:r>
            <a:r>
              <a:rPr lang="en-GB" sz="1800" dirty="0" smtClean="0">
                <a:hlinkClick r:id="rId2"/>
              </a:rPr>
              <a:t>randy@essex.ac.uk</a:t>
            </a:r>
            <a:r>
              <a:rPr lang="en-GB" sz="1800" dirty="0" smtClean="0"/>
              <a:t>)</a:t>
            </a:r>
          </a:p>
          <a:p>
            <a:r>
              <a:rPr lang="en-GB" sz="1800" dirty="0" smtClean="0"/>
              <a:t>ISER, University of Essex</a:t>
            </a:r>
          </a:p>
          <a:p>
            <a:r>
              <a:rPr lang="en-GB" sz="1800" dirty="0" smtClean="0"/>
              <a:t>Colchester</a:t>
            </a:r>
          </a:p>
          <a:p>
            <a:r>
              <a:rPr lang="en-GB" sz="1800" dirty="0" smtClean="0"/>
              <a:t>UK</a:t>
            </a:r>
          </a:p>
          <a:p>
            <a:r>
              <a:rPr lang="en-GB" sz="1800" dirty="0" smtClean="0"/>
              <a:t>CO4 3SQ</a:t>
            </a:r>
            <a:endParaRPr lang="en-GB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Objectives</a:t>
            </a:r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776"/>
            <a:ext cx="7086600" cy="4683224"/>
          </a:xfrm>
        </p:spPr>
        <p:txBody>
          <a:bodyPr/>
          <a:lstStyle/>
          <a:p>
            <a:r>
              <a:rPr lang="en-GB" dirty="0" smtClean="0"/>
              <a:t>Case Study – Understanding Society (UKHLS)</a:t>
            </a:r>
          </a:p>
          <a:p>
            <a:pPr lvl="1"/>
            <a:r>
              <a:rPr lang="en-GB" dirty="0" smtClean="0"/>
              <a:t>Capture and reuse of metadata</a:t>
            </a:r>
          </a:p>
          <a:p>
            <a:pPr lvl="1"/>
            <a:r>
              <a:rPr lang="en-GB" dirty="0" smtClean="0"/>
              <a:t>Important, but limited use of DDI-Codebook</a:t>
            </a:r>
          </a:p>
          <a:p>
            <a:r>
              <a:rPr lang="en-GB" dirty="0" smtClean="0"/>
              <a:t>Question</a:t>
            </a:r>
            <a:endParaRPr lang="en-GB" dirty="0"/>
          </a:p>
          <a:p>
            <a:pPr lvl="1"/>
            <a:r>
              <a:rPr lang="en-GB" dirty="0" smtClean="0"/>
              <a:t>ISER is long-term supporter of DDI and objectives, e.g. SRN (2009)</a:t>
            </a:r>
          </a:p>
          <a:p>
            <a:pPr lvl="1"/>
            <a:r>
              <a:rPr lang="en-GB" dirty="0" smtClean="0"/>
              <a:t>UKHLS should have provided unique opportunity to implement </a:t>
            </a:r>
            <a:r>
              <a:rPr lang="en-GB" dirty="0" smtClean="0"/>
              <a:t>DDI-Lifecycle</a:t>
            </a:r>
          </a:p>
          <a:p>
            <a:pPr lvl="1"/>
            <a:r>
              <a:rPr lang="en-GB" i="1" dirty="0" smtClean="0"/>
              <a:t>Why has ISER not done so?</a:t>
            </a:r>
            <a:endParaRPr lang="en-GB" i="1" dirty="0" smtClean="0"/>
          </a:p>
          <a:p>
            <a:r>
              <a:rPr lang="en-GB" dirty="0" smtClean="0"/>
              <a:t>Generalise lessons learned and consider challenges they raise for DDI-Lifecycle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 smtClean="0"/>
              <a:t>Understanding Society (UKHLS)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96752"/>
            <a:ext cx="7086600" cy="4899248"/>
          </a:xfrm>
        </p:spPr>
        <p:txBody>
          <a:bodyPr/>
          <a:lstStyle/>
          <a:p>
            <a:r>
              <a:rPr lang="en-GB" sz="2000" dirty="0" smtClean="0"/>
              <a:t>Household panel study designed to be largest of its kind</a:t>
            </a:r>
          </a:p>
          <a:p>
            <a:r>
              <a:rPr lang="en-GB" sz="2000" dirty="0" smtClean="0"/>
              <a:t>Conducted by Institute for Social and Economic Research (ISER)</a:t>
            </a:r>
          </a:p>
          <a:p>
            <a:r>
              <a:rPr lang="en-GB" sz="2000" dirty="0" smtClean="0"/>
              <a:t>Core funded by Economic and Social Research Council (ESRC) and Government’s Large Facilities Capital Fund</a:t>
            </a:r>
          </a:p>
          <a:p>
            <a:pPr lvl="1"/>
            <a:r>
              <a:rPr lang="en-GB" sz="1800" dirty="0" smtClean="0"/>
              <a:t>Largest single investment by ESRC</a:t>
            </a:r>
          </a:p>
          <a:p>
            <a:pPr lvl="1"/>
            <a:r>
              <a:rPr lang="en-GB" sz="1800" dirty="0" smtClean="0"/>
              <a:t>Additional funding from government departments</a:t>
            </a:r>
          </a:p>
          <a:p>
            <a:r>
              <a:rPr lang="en-GB" sz="2000" dirty="0" smtClean="0"/>
              <a:t>Grant  awarded April 2007. Fieldwork commenced Jan 2008.</a:t>
            </a:r>
          </a:p>
          <a:p>
            <a:r>
              <a:rPr lang="en-GB" sz="2000" dirty="0" smtClean="0"/>
              <a:t>Replaces British Household Panel Study (BHPS)</a:t>
            </a:r>
          </a:p>
          <a:p>
            <a:pPr lvl="1"/>
            <a:r>
              <a:rPr lang="en-GB" sz="1800" dirty="0" smtClean="0"/>
              <a:t>18 waves between 1991 and 2008.</a:t>
            </a:r>
          </a:p>
          <a:p>
            <a:pPr lvl="1"/>
            <a:r>
              <a:rPr lang="en-GB" sz="1800" dirty="0" smtClean="0"/>
              <a:t>BHPS sample incorporated into UKHLS at wave 2</a:t>
            </a:r>
          </a:p>
          <a:p>
            <a:endParaRPr lang="en-GB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US" dirty="0" smtClean="0"/>
              <a:t>T</a:t>
            </a: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BHPS v UKHLS. Similarities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7086600" cy="4896544"/>
          </a:xfrm>
        </p:spPr>
        <p:txBody>
          <a:bodyPr/>
          <a:lstStyle/>
          <a:p>
            <a:r>
              <a:rPr lang="en-GB" dirty="0" smtClean="0"/>
              <a:t>Annual household </a:t>
            </a:r>
            <a:r>
              <a:rPr lang="en-GB" dirty="0" smtClean="0"/>
              <a:t>panel</a:t>
            </a:r>
          </a:p>
          <a:p>
            <a:pPr lvl="1"/>
            <a:r>
              <a:rPr lang="en-GB" dirty="0" smtClean="0"/>
              <a:t>Panel of individuals in changing household context</a:t>
            </a:r>
          </a:p>
          <a:p>
            <a:pPr lvl="1"/>
            <a:r>
              <a:rPr lang="en-GB" dirty="0" smtClean="0"/>
              <a:t>All household members may be followed subject to following rules</a:t>
            </a:r>
          </a:p>
          <a:p>
            <a:r>
              <a:rPr lang="en-GB" dirty="0" smtClean="0"/>
              <a:t>UK-wide coverage</a:t>
            </a:r>
          </a:p>
          <a:p>
            <a:pPr lvl="1"/>
            <a:r>
              <a:rPr lang="en-GB" dirty="0" smtClean="0"/>
              <a:t>England, Scotland, Wales (Great Britain). Northern Ireland</a:t>
            </a:r>
          </a:p>
          <a:p>
            <a:r>
              <a:rPr lang="en-GB" dirty="0" smtClean="0"/>
              <a:t>ISER manages </a:t>
            </a:r>
            <a:r>
              <a:rPr lang="en-GB" dirty="0" smtClean="0"/>
              <a:t>project and </a:t>
            </a:r>
            <a:r>
              <a:rPr lang="en-GB" dirty="0" smtClean="0"/>
              <a:t>data post-field, but competitively </a:t>
            </a:r>
            <a:r>
              <a:rPr lang="en-GB" dirty="0" smtClean="0"/>
              <a:t>contracts </a:t>
            </a:r>
            <a:r>
              <a:rPr lang="en-GB" dirty="0" smtClean="0"/>
              <a:t>questionnaire implementation and </a:t>
            </a:r>
            <a:r>
              <a:rPr lang="en-GB" dirty="0" smtClean="0"/>
              <a:t>fieldwork to external provider</a:t>
            </a:r>
            <a:endParaRPr lang="en-GB" dirty="0" smtClean="0"/>
          </a:p>
          <a:p>
            <a:pPr lvl="1"/>
            <a:r>
              <a:rPr lang="en-GB" dirty="0" smtClean="0"/>
              <a:t>BHPS - </a:t>
            </a:r>
            <a:r>
              <a:rPr lang="en-GB" dirty="0" err="1" smtClean="0"/>
              <a:t>GfK</a:t>
            </a:r>
            <a:r>
              <a:rPr lang="en-GB" dirty="0" smtClean="0"/>
              <a:t> NOP (GB) and NISRA (NI)</a:t>
            </a:r>
          </a:p>
          <a:p>
            <a:pPr lvl="1"/>
            <a:r>
              <a:rPr lang="en-GB" dirty="0" smtClean="0"/>
              <a:t>UKHLS – </a:t>
            </a:r>
            <a:r>
              <a:rPr lang="en-GB" dirty="0" err="1" smtClean="0"/>
              <a:t>NatCen</a:t>
            </a:r>
            <a:r>
              <a:rPr lang="en-GB" dirty="0" smtClean="0"/>
              <a:t>, in consortium with NISRA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BHPS v UKHLS. Differences</a:t>
            </a:r>
            <a:endParaRPr lang="en-GB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95536" y="1196754"/>
          <a:ext cx="7086600" cy="5080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2362200"/>
                <a:gridCol w="2362200"/>
              </a:tblGrid>
              <a:tr h="327725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BHPS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UKHLS</a:t>
                      </a:r>
                      <a:endParaRPr lang="en-GB" sz="1400" dirty="0"/>
                    </a:p>
                  </a:txBody>
                  <a:tcPr/>
                </a:tc>
              </a:tr>
              <a:tr h="56607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Surveys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 (Innovation Panel and </a:t>
                      </a:r>
                      <a:r>
                        <a:rPr lang="en-GB" sz="1400" dirty="0" err="1" smtClean="0"/>
                        <a:t>mainstage</a:t>
                      </a:r>
                      <a:r>
                        <a:rPr lang="en-GB" sz="1400" dirty="0" smtClean="0"/>
                        <a:t>)</a:t>
                      </a:r>
                      <a:endParaRPr lang="en-GB" sz="1400" dirty="0"/>
                    </a:p>
                  </a:txBody>
                  <a:tcPr/>
                </a:tc>
              </a:tr>
              <a:tr h="56607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Initial Sample </a:t>
                      </a:r>
                      <a:r>
                        <a:rPr lang="en-GB" sz="1400" dirty="0" smtClean="0"/>
                        <a:t>Size (Target)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5,000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40,000</a:t>
                      </a:r>
                      <a:r>
                        <a:rPr lang="en-GB" sz="1400" baseline="0" dirty="0" smtClean="0"/>
                        <a:t> (In total)</a:t>
                      </a:r>
                      <a:endParaRPr lang="en-GB" sz="1400" dirty="0"/>
                    </a:p>
                  </a:txBody>
                  <a:tcPr/>
                </a:tc>
              </a:tr>
              <a:tr h="711473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Sample</a:t>
                      </a:r>
                      <a:r>
                        <a:rPr lang="en-GB" sz="1400" baseline="0" dirty="0" smtClean="0"/>
                        <a:t> composition (</a:t>
                      </a:r>
                      <a:r>
                        <a:rPr lang="en-GB" sz="1400" baseline="0" dirty="0" err="1" smtClean="0"/>
                        <a:t>mainstage</a:t>
                      </a:r>
                      <a:r>
                        <a:rPr lang="en-GB" sz="1400" baseline="0" dirty="0" smtClean="0"/>
                        <a:t>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General population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General population +</a:t>
                      </a:r>
                      <a:r>
                        <a:rPr lang="en-GB" sz="1400" baseline="0" dirty="0" smtClean="0"/>
                        <a:t> ethnic minority boost + BHPS (at wave 2)</a:t>
                      </a:r>
                      <a:endParaRPr lang="en-GB" sz="1400" dirty="0"/>
                    </a:p>
                  </a:txBody>
                  <a:tcPr/>
                </a:tc>
              </a:tr>
              <a:tr h="711473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Fieldwork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 months,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dirty="0" smtClean="0"/>
                        <a:t>September</a:t>
                      </a:r>
                      <a:r>
                        <a:rPr lang="en-GB" sz="1400" baseline="0" dirty="0" smtClean="0"/>
                        <a:t> to December 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aseline="0" dirty="0" smtClean="0"/>
                        <a:t>24 months, January to </a:t>
                      </a:r>
                      <a:r>
                        <a:rPr lang="en-GB" sz="1400" baseline="0" dirty="0" smtClean="0"/>
                        <a:t>December (</a:t>
                      </a:r>
                      <a:r>
                        <a:rPr lang="en-GB" sz="1400" baseline="0" dirty="0" err="1" smtClean="0"/>
                        <a:t>mainstage</a:t>
                      </a:r>
                      <a:r>
                        <a:rPr lang="en-GB" sz="1400" baseline="0" dirty="0" smtClean="0"/>
                        <a:t>), April (Innovation Panel)</a:t>
                      </a:r>
                      <a:endParaRPr lang="en-GB" sz="1400" dirty="0"/>
                    </a:p>
                  </a:txBody>
                  <a:tcPr/>
                </a:tc>
              </a:tr>
              <a:tr h="32772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Sample allocation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Block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Monthly</a:t>
                      </a:r>
                      <a:endParaRPr lang="en-GB" sz="1400" dirty="0"/>
                    </a:p>
                  </a:txBody>
                  <a:tcPr/>
                </a:tc>
              </a:tr>
              <a:tr h="327725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Coverage</a:t>
                      </a:r>
                      <a:r>
                        <a:rPr lang="en-GB" sz="1400" baseline="0" dirty="0" smtClean="0"/>
                        <a:t> at start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Great Britain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United Kingdom</a:t>
                      </a:r>
                      <a:endParaRPr lang="en-GB" sz="1400" dirty="0"/>
                    </a:p>
                  </a:txBody>
                  <a:tcPr/>
                </a:tc>
              </a:tr>
              <a:tr h="56607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W1 lead</a:t>
                      </a:r>
                      <a:r>
                        <a:rPr lang="en-GB" sz="1400" baseline="0" dirty="0" smtClean="0"/>
                        <a:t> </a:t>
                      </a:r>
                      <a:r>
                        <a:rPr lang="en-GB" sz="1400" baseline="0" dirty="0" smtClean="0"/>
                        <a:t>time (excluding pilots)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28 </a:t>
                      </a:r>
                      <a:r>
                        <a:rPr lang="en-GB" sz="1400" dirty="0" smtClean="0"/>
                        <a:t>months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8 months (to Innovation Panel)</a:t>
                      </a:r>
                      <a:endParaRPr lang="en-GB" sz="1400" dirty="0"/>
                    </a:p>
                  </a:txBody>
                  <a:tcPr/>
                </a:tc>
              </a:tr>
              <a:tr h="608501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Biomarker collection?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No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Yes (</a:t>
                      </a:r>
                      <a:r>
                        <a:rPr lang="en-GB" sz="1400" dirty="0" err="1" smtClean="0"/>
                        <a:t>mainstage</a:t>
                      </a:r>
                      <a:r>
                        <a:rPr lang="en-GB" sz="1400" dirty="0" smtClean="0"/>
                        <a:t>, as of wave 2)</a:t>
                      </a:r>
                      <a:endParaRPr lang="en-GB" sz="1400" dirty="0"/>
                    </a:p>
                  </a:txBody>
                  <a:tcPr/>
                </a:tc>
              </a:tr>
              <a:tr h="327725">
                <a:tc>
                  <a:txBody>
                    <a:bodyPr/>
                    <a:lstStyle/>
                    <a:p>
                      <a:r>
                        <a:rPr lang="en-GB" sz="1400" baseline="0" dirty="0" smtClean="0"/>
                        <a:t>Funder expectations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High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Higher</a:t>
                      </a:r>
                      <a:endParaRPr lang="en-GB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086600" cy="811560"/>
          </a:xfrm>
        </p:spPr>
        <p:txBody>
          <a:bodyPr/>
          <a:lstStyle/>
          <a:p>
            <a:r>
              <a:rPr lang="en-GB" dirty="0" smtClean="0"/>
              <a:t>Data Processing. Challenges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96752"/>
            <a:ext cx="7086600" cy="4899248"/>
          </a:xfrm>
        </p:spPr>
        <p:txBody>
          <a:bodyPr/>
          <a:lstStyle/>
          <a:p>
            <a:r>
              <a:rPr lang="en-GB" dirty="0" smtClean="0"/>
              <a:t>Hire new staff</a:t>
            </a:r>
          </a:p>
          <a:p>
            <a:r>
              <a:rPr lang="en-GB" dirty="0" smtClean="0"/>
              <a:t>Complete re-write of data processing and sample management systems to meet new and, compared to BHPS, more extensive requirements of UKHLS</a:t>
            </a:r>
          </a:p>
          <a:p>
            <a:pPr lvl="1"/>
            <a:r>
              <a:rPr lang="en-GB" dirty="0" smtClean="0"/>
              <a:t>Maximise </a:t>
            </a:r>
            <a:r>
              <a:rPr lang="en-GB" dirty="0"/>
              <a:t>m</a:t>
            </a:r>
            <a:r>
              <a:rPr lang="en-GB" dirty="0" smtClean="0"/>
              <a:t>etadata capture for process control and documentation</a:t>
            </a:r>
          </a:p>
          <a:p>
            <a:r>
              <a:rPr lang="en-GB" dirty="0" smtClean="0"/>
              <a:t>Establish working relationship with new fieldwork agency</a:t>
            </a:r>
          </a:p>
          <a:p>
            <a:r>
              <a:rPr lang="en-GB" dirty="0" smtClean="0"/>
              <a:t>Bring BHPS to a close and incorporate sample</a:t>
            </a:r>
          </a:p>
          <a:p>
            <a:r>
              <a:rPr lang="en-GB" dirty="0" smtClean="0"/>
              <a:t>Maintain sanity</a:t>
            </a:r>
          </a:p>
          <a:p>
            <a:r>
              <a:rPr lang="en-GB" i="1" dirty="0" smtClean="0"/>
              <a:t>etc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086600" cy="523528"/>
          </a:xfrm>
        </p:spPr>
        <p:txBody>
          <a:bodyPr/>
          <a:lstStyle/>
          <a:p>
            <a:r>
              <a:rPr lang="en-GB" sz="3200" dirty="0" smtClean="0"/>
              <a:t>Data Lifecycle. The short version.</a:t>
            </a:r>
            <a:endParaRPr lang="en-GB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7</a:t>
            </a:fld>
            <a:endParaRPr lang="en-US" dirty="0"/>
          </a:p>
        </p:txBody>
      </p:sp>
      <p:pic>
        <p:nvPicPr>
          <p:cNvPr id="922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211" t="4836" r="2053" b="3833"/>
          <a:stretch>
            <a:fillRect/>
          </a:stretch>
        </p:blipFill>
        <p:spPr bwMode="auto">
          <a:xfrm>
            <a:off x="911240" y="1052736"/>
            <a:ext cx="6685096" cy="5225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Metadata Creation. ‘QSL’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7086600" cy="51152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50"/>
              </a:spcBef>
            </a:pPr>
            <a:r>
              <a:rPr lang="en-GB" sz="1600" dirty="0" smtClean="0"/>
              <a:t>Questionnaires specified using in-house ‘Questionnaire Specification Language’ (QSL)</a:t>
            </a:r>
          </a:p>
          <a:p>
            <a:pPr lvl="1">
              <a:spcBef>
                <a:spcPts val="250"/>
              </a:spcBef>
            </a:pPr>
            <a:r>
              <a:rPr lang="en-GB" sz="1400" dirty="0" smtClean="0"/>
              <a:t>See </a:t>
            </a:r>
            <a:r>
              <a:rPr lang="en-GB" sz="1400" dirty="0" err="1" smtClean="0"/>
              <a:t>Costigan</a:t>
            </a:r>
            <a:r>
              <a:rPr lang="en-GB" sz="1400" dirty="0" smtClean="0"/>
              <a:t> and Elder (2003) for importance of and difficulties in achieving specification of electronic instruments</a:t>
            </a:r>
            <a:endParaRPr lang="en-GB" sz="1400" dirty="0" smtClean="0"/>
          </a:p>
          <a:p>
            <a:pPr lvl="1">
              <a:spcBef>
                <a:spcPts val="250"/>
              </a:spcBef>
            </a:pPr>
            <a:r>
              <a:rPr lang="en-GB" sz="1400" dirty="0" smtClean="0"/>
              <a:t>Modelled  (loosely) on </a:t>
            </a:r>
            <a:r>
              <a:rPr lang="en-GB" sz="1400" dirty="0" err="1" smtClean="0"/>
              <a:t>Blaise</a:t>
            </a:r>
            <a:r>
              <a:rPr lang="en-GB" sz="1400" dirty="0" smtClean="0"/>
              <a:t>, but </a:t>
            </a:r>
            <a:r>
              <a:rPr lang="en-GB" sz="1400" dirty="0" smtClean="0"/>
              <a:t>CAI-independent</a:t>
            </a:r>
            <a:endParaRPr lang="en-GB" sz="1400" dirty="0" smtClean="0"/>
          </a:p>
          <a:p>
            <a:pPr lvl="1">
              <a:spcBef>
                <a:spcPts val="250"/>
              </a:spcBef>
            </a:pPr>
            <a:r>
              <a:rPr lang="en-GB" sz="1400" dirty="0" smtClean="0"/>
              <a:t>As ISER competitively contracts questionnaire implementation, can’t guarantee the system(s) to be used</a:t>
            </a:r>
          </a:p>
          <a:p>
            <a:pPr lvl="1">
              <a:spcBef>
                <a:spcPts val="250"/>
              </a:spcBef>
            </a:pPr>
            <a:r>
              <a:rPr lang="en-GB" sz="1400" dirty="0" smtClean="0"/>
              <a:t>Semantics based on language of questionnaire designers </a:t>
            </a:r>
          </a:p>
          <a:p>
            <a:pPr lvl="1">
              <a:spcBef>
                <a:spcPts val="250"/>
              </a:spcBef>
            </a:pPr>
            <a:r>
              <a:rPr lang="en-GB" sz="1400" dirty="0" smtClean="0"/>
              <a:t>Plain-text, procedural for development speed</a:t>
            </a:r>
          </a:p>
          <a:p>
            <a:pPr lvl="1">
              <a:spcBef>
                <a:spcPts val="250"/>
              </a:spcBef>
            </a:pPr>
            <a:r>
              <a:rPr lang="en-GB" sz="1400" dirty="0" smtClean="0"/>
              <a:t>Modular, use of inheritance for development efficiency</a:t>
            </a: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lang="en-GB" sz="1600" dirty="0" smtClean="0"/>
              <a:t>QSL scripts parsed and translated to XML and then repurposed as required</a:t>
            </a:r>
          </a:p>
          <a:p>
            <a:pPr lvl="1">
              <a:spcBef>
                <a:spcPts val="250"/>
              </a:spcBef>
            </a:pPr>
            <a:r>
              <a:rPr lang="en-GB" sz="1400" dirty="0" smtClean="0"/>
              <a:t>For consultation, specification, documentation, process </a:t>
            </a:r>
            <a:r>
              <a:rPr lang="en-GB" sz="1400" dirty="0" smtClean="0"/>
              <a:t>control</a:t>
            </a:r>
          </a:p>
          <a:p>
            <a:pPr lvl="1">
              <a:spcBef>
                <a:spcPts val="250"/>
              </a:spcBef>
            </a:pPr>
            <a:r>
              <a:rPr lang="en-GB" sz="1400" dirty="0" smtClean="0"/>
              <a:t>Could generate (draft) code, but not yet</a:t>
            </a:r>
            <a:endParaRPr lang="en-GB" sz="1400" dirty="0" smtClean="0"/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lang="en-GB" sz="1600" dirty="0" smtClean="0"/>
              <a:t>Gradually </a:t>
            </a:r>
            <a:r>
              <a:rPr lang="en-GB" sz="1600" dirty="0" smtClean="0"/>
              <a:t>came on stream as of </a:t>
            </a:r>
            <a:r>
              <a:rPr lang="en-GB" sz="1600" dirty="0" err="1" smtClean="0"/>
              <a:t>Mainstage</a:t>
            </a:r>
            <a:r>
              <a:rPr lang="en-GB" sz="1600" dirty="0" smtClean="0"/>
              <a:t> wave 1</a:t>
            </a: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lang="en-GB" sz="1600" dirty="0" smtClean="0"/>
              <a:t>Continuing ‘work-in-progress’</a:t>
            </a:r>
          </a:p>
          <a:p>
            <a:pPr lvl="1">
              <a:spcBef>
                <a:spcPts val="250"/>
              </a:spcBef>
            </a:pPr>
            <a:r>
              <a:rPr lang="en-GB" sz="1400" dirty="0" smtClean="0"/>
              <a:t>Additional functionality incorporated according to need and practicality(not necessarily in that order</a:t>
            </a:r>
            <a:r>
              <a:rPr lang="en-GB" sz="1400" dirty="0" smtClean="0"/>
              <a:t>)</a:t>
            </a:r>
          </a:p>
          <a:p>
            <a:pPr>
              <a:spcBef>
                <a:spcPts val="250"/>
              </a:spcBef>
            </a:pPr>
            <a:r>
              <a:rPr lang="en-GB" sz="1600" dirty="0" smtClean="0"/>
              <a:t>Examples at </a:t>
            </a:r>
            <a:r>
              <a:rPr lang="en-GB" sz="1600" dirty="0" smtClean="0">
                <a:hlinkClick r:id="rId2"/>
              </a:rPr>
              <a:t>http://iserwww.essex.ac.uk/home/randy/ddi/events/2011-12-05-eddi11/</a:t>
            </a:r>
            <a:endParaRPr lang="en-GB" sz="16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Exchange. Triple-S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776"/>
            <a:ext cx="7086600" cy="4683224"/>
          </a:xfrm>
        </p:spPr>
        <p:txBody>
          <a:bodyPr/>
          <a:lstStyle/>
          <a:p>
            <a:r>
              <a:rPr lang="en-GB" dirty="0" smtClean="0"/>
              <a:t>Triple-S is simple XML-based data and metadata exchange format</a:t>
            </a:r>
          </a:p>
          <a:p>
            <a:r>
              <a:rPr lang="en-GB" dirty="0" smtClean="0"/>
              <a:t>Originated in the market research community</a:t>
            </a:r>
          </a:p>
          <a:p>
            <a:r>
              <a:rPr lang="en-GB" dirty="0" smtClean="0"/>
              <a:t>Provides interface between fieldwork agency and in-house systems</a:t>
            </a:r>
          </a:p>
          <a:p>
            <a:r>
              <a:rPr lang="en-GB" dirty="0" smtClean="0"/>
              <a:t>SPSS outputs from field agency are transformed into Triple-S using third-party, open-source converter</a:t>
            </a:r>
          </a:p>
          <a:p>
            <a:r>
              <a:rPr lang="en-GB" dirty="0" smtClean="0"/>
              <a:t>In-house transformation script transforms (and enhances) Triple-S metadata into schema and import commands for loading into SIR/DBMS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Metadata Transfer. DDI-Codebook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72816"/>
            <a:ext cx="7086600" cy="4323184"/>
          </a:xfrm>
        </p:spPr>
        <p:txBody>
          <a:bodyPr/>
          <a:lstStyle/>
          <a:p>
            <a:r>
              <a:rPr lang="en-GB" dirty="0" smtClean="0"/>
              <a:t>Transfer dataset metadata from data processing to documentation system</a:t>
            </a:r>
          </a:p>
          <a:p>
            <a:r>
              <a:rPr lang="en-GB" dirty="0" smtClean="0"/>
              <a:t>In-house application exports SIR/DBMS metadata into (slightly </a:t>
            </a:r>
            <a:r>
              <a:rPr lang="en-GB" dirty="0" err="1" smtClean="0"/>
              <a:t>tweeked</a:t>
            </a:r>
            <a:r>
              <a:rPr lang="en-GB" dirty="0" smtClean="0"/>
              <a:t>) DDI 2.1 format</a:t>
            </a:r>
          </a:p>
          <a:p>
            <a:pPr lvl="1"/>
            <a:r>
              <a:rPr lang="en-GB" dirty="0" smtClean="0"/>
              <a:t>‘long’ and ‘short’ labels in &lt;</a:t>
            </a:r>
            <a:r>
              <a:rPr lang="en-GB" dirty="0" err="1" smtClean="0"/>
              <a:t>recgrp</a:t>
            </a:r>
            <a:r>
              <a:rPr lang="en-GB" dirty="0" smtClean="0"/>
              <a:t>&gt;</a:t>
            </a:r>
          </a:p>
          <a:p>
            <a:pPr lvl="1"/>
            <a:r>
              <a:rPr lang="en-GB" dirty="0" smtClean="0"/>
              <a:t>‘units’ attributes for string variables</a:t>
            </a:r>
          </a:p>
          <a:p>
            <a:pPr lvl="1"/>
            <a:r>
              <a:rPr lang="en-GB" dirty="0" smtClean="0"/>
              <a:t>Conditional interpretation of  ‘</a:t>
            </a:r>
            <a:r>
              <a:rPr lang="en-GB" dirty="0" err="1" smtClean="0"/>
              <a:t>fileid</a:t>
            </a:r>
            <a:r>
              <a:rPr lang="en-GB" dirty="0" smtClean="0"/>
              <a:t>’ </a:t>
            </a:r>
          </a:p>
          <a:p>
            <a:pPr lvl="1"/>
            <a:r>
              <a:rPr lang="en-GB" dirty="0" smtClean="0"/>
              <a:t>Generation of &lt;</a:t>
            </a:r>
            <a:r>
              <a:rPr lang="en-GB" dirty="0" err="1" smtClean="0"/>
              <a:t>recgrp</a:t>
            </a:r>
            <a:r>
              <a:rPr lang="en-GB" dirty="0" smtClean="0"/>
              <a:t>&gt;s when documenting rectangular files</a:t>
            </a:r>
          </a:p>
          <a:p>
            <a:pPr lvl="1"/>
            <a:r>
              <a:rPr lang="en-GB" dirty="0" smtClean="0"/>
              <a:t>List of ‘</a:t>
            </a:r>
            <a:r>
              <a:rPr lang="en-GB" dirty="0" err="1" smtClean="0"/>
              <a:t>keyvar’s</a:t>
            </a:r>
            <a:r>
              <a:rPr lang="en-GB" dirty="0" smtClean="0"/>
              <a:t> rather than single value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Why not DDI-Lifecycle?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7086600" cy="4968552"/>
          </a:xfrm>
        </p:spPr>
        <p:txBody>
          <a:bodyPr/>
          <a:lstStyle/>
          <a:p>
            <a:r>
              <a:rPr lang="en-GB" sz="2000" dirty="0" smtClean="0"/>
              <a:t>Originally, a matter of timing</a:t>
            </a:r>
          </a:p>
          <a:p>
            <a:pPr lvl="1"/>
            <a:r>
              <a:rPr lang="en-GB" sz="1800" dirty="0" smtClean="0"/>
              <a:t>DDI 3.0 published in April 2008; UKHLS started April 2007</a:t>
            </a:r>
          </a:p>
          <a:p>
            <a:pPr lvl="1"/>
            <a:r>
              <a:rPr lang="en-GB" sz="1800" dirty="0" smtClean="0"/>
              <a:t>Had to create our own questionnaire metadata definition and capture tool</a:t>
            </a:r>
          </a:p>
          <a:p>
            <a:r>
              <a:rPr lang="en-GB" sz="2000" dirty="0" smtClean="0"/>
              <a:t>Subsequently, a matter of doing what had to be done as quickly and efficiently as possible in response to rapidly-changing circumstances and requirements</a:t>
            </a:r>
          </a:p>
          <a:p>
            <a:pPr lvl="1"/>
            <a:r>
              <a:rPr lang="en-GB" sz="1800" dirty="0" smtClean="0"/>
              <a:t>DDI lifecycle has high cost of entry with both long learning and implementation curve</a:t>
            </a:r>
          </a:p>
          <a:p>
            <a:pPr lvl="1"/>
            <a:r>
              <a:rPr lang="en-GB" sz="1800" dirty="0" smtClean="0"/>
              <a:t>Needed operational systems quickly</a:t>
            </a:r>
          </a:p>
          <a:p>
            <a:pPr lvl="1"/>
            <a:r>
              <a:rPr lang="en-GB" sz="1800" dirty="0" smtClean="0"/>
              <a:t>Made use of what was available</a:t>
            </a:r>
          </a:p>
          <a:p>
            <a:pPr lvl="2"/>
            <a:r>
              <a:rPr lang="en-GB" sz="1400" dirty="0" smtClean="0"/>
              <a:t>Triple S is relatively simple by design and had existing SPSS conversion tools</a:t>
            </a:r>
          </a:p>
          <a:p>
            <a:pPr lvl="2"/>
            <a:r>
              <a:rPr lang="en-GB" sz="1400" dirty="0" smtClean="0"/>
              <a:t>Could’ve used Triple-S to transfer dataset metadata, but already had alpha version of SIR to DDI 2.1 converter – could bring it up to operational status relatively quickly</a:t>
            </a:r>
          </a:p>
          <a:p>
            <a:pPr lvl="1"/>
            <a:endParaRPr lang="en-GB" sz="1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32656"/>
            <a:ext cx="7086600" cy="648072"/>
          </a:xfrm>
        </p:spPr>
        <p:txBody>
          <a:bodyPr/>
          <a:lstStyle/>
          <a:p>
            <a:r>
              <a:rPr lang="en-GB" dirty="0" smtClean="0"/>
              <a:t>DDI-Lifecycle for the future?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08720"/>
            <a:ext cx="7086600" cy="5187280"/>
          </a:xfrm>
        </p:spPr>
        <p:txBody>
          <a:bodyPr/>
          <a:lstStyle/>
          <a:p>
            <a:r>
              <a:rPr lang="en-GB" dirty="0" smtClean="0"/>
              <a:t>No concrete plans as yet</a:t>
            </a:r>
          </a:p>
          <a:p>
            <a:r>
              <a:rPr lang="en-GB" dirty="0" smtClean="0"/>
              <a:t>Two main strategic questions</a:t>
            </a:r>
          </a:p>
          <a:p>
            <a:r>
              <a:rPr lang="en-GB" dirty="0" smtClean="0"/>
              <a:t>Where and how to start?</a:t>
            </a:r>
          </a:p>
          <a:p>
            <a:pPr lvl="1"/>
            <a:r>
              <a:rPr lang="en-GB" dirty="0" smtClean="0"/>
              <a:t>DDI-Lifecycle will have to be gradually integrated into operational </a:t>
            </a:r>
            <a:r>
              <a:rPr lang="en-GB" dirty="0" smtClean="0"/>
              <a:t>systems</a:t>
            </a:r>
            <a:endParaRPr lang="en-GB" dirty="0" smtClean="0"/>
          </a:p>
          <a:p>
            <a:pPr lvl="2"/>
            <a:r>
              <a:rPr lang="en-GB" dirty="0" smtClean="0"/>
              <a:t>lack of tools and guidance as to how best to integrate into ongoing system</a:t>
            </a:r>
          </a:p>
          <a:p>
            <a:pPr lvl="2"/>
            <a:r>
              <a:rPr lang="en-GB" dirty="0" smtClean="0"/>
              <a:t>DDI tends to be presented as an all-or-nothing package, e.g. section 9 in (DDI, 2009): ‘Step-by-Step Sequence to Create a DDI File for a Simple Instance</a:t>
            </a:r>
            <a:r>
              <a:rPr lang="en-GB" dirty="0" smtClean="0"/>
              <a:t>’</a:t>
            </a:r>
            <a:endParaRPr lang="en-GB" dirty="0" smtClean="0"/>
          </a:p>
          <a:p>
            <a:r>
              <a:rPr lang="en-GB" dirty="0" smtClean="0"/>
              <a:t>How to make the business case?</a:t>
            </a:r>
          </a:p>
          <a:p>
            <a:pPr lvl="1"/>
            <a:r>
              <a:rPr lang="en-GB" dirty="0" smtClean="0"/>
              <a:t>Entry level costs will be high and front-loaded</a:t>
            </a:r>
          </a:p>
          <a:p>
            <a:pPr lvl="2"/>
            <a:r>
              <a:rPr lang="en-GB" dirty="0" smtClean="0"/>
              <a:t>funding is severely constrained in current economic climate</a:t>
            </a:r>
          </a:p>
          <a:p>
            <a:pPr lvl="1"/>
            <a:r>
              <a:rPr lang="en-GB" dirty="0" smtClean="0"/>
              <a:t>Benefits will be long term</a:t>
            </a:r>
          </a:p>
          <a:p>
            <a:pPr lvl="2"/>
            <a:r>
              <a:rPr lang="en-GB" dirty="0" smtClean="0"/>
              <a:t>difficult to persuade business leaders in the abstract when second best is ‘good enough’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Lessons for DDI-Lifecycle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24744"/>
            <a:ext cx="7086600" cy="4971256"/>
          </a:xfrm>
        </p:spPr>
        <p:txBody>
          <a:bodyPr/>
          <a:lstStyle/>
          <a:p>
            <a:r>
              <a:rPr lang="en-GB" sz="2000" dirty="0" smtClean="0"/>
              <a:t>To (</a:t>
            </a:r>
            <a:r>
              <a:rPr lang="en-GB" sz="2000" dirty="0" err="1" smtClean="0"/>
              <a:t>mis</a:t>
            </a:r>
            <a:r>
              <a:rPr lang="en-GB" sz="2000" dirty="0" smtClean="0"/>
              <a:t>-) quote von </a:t>
            </a:r>
            <a:r>
              <a:rPr lang="en-GB" sz="2000" dirty="0" err="1" smtClean="0"/>
              <a:t>Moltke</a:t>
            </a:r>
            <a:r>
              <a:rPr lang="en-GB" sz="2000" dirty="0" smtClean="0"/>
              <a:t>:</a:t>
            </a:r>
          </a:p>
          <a:p>
            <a:pPr lvl="1"/>
            <a:r>
              <a:rPr lang="en-GB" sz="1800" dirty="0" smtClean="0"/>
              <a:t>No DP strategy survives the first encounter with the data</a:t>
            </a:r>
          </a:p>
          <a:p>
            <a:pPr lvl="1"/>
            <a:r>
              <a:rPr lang="en-GB" sz="1800" dirty="0" smtClean="0"/>
              <a:t>DP strategy is a system of expedients</a:t>
            </a:r>
          </a:p>
          <a:p>
            <a:pPr lvl="1"/>
            <a:r>
              <a:rPr lang="en-GB" sz="1800" i="1" dirty="0" smtClean="0"/>
              <a:t>Must be able to incorporate components of DDI-Lifecycle  as required and into on-going systems </a:t>
            </a:r>
          </a:p>
          <a:p>
            <a:r>
              <a:rPr lang="en-GB" sz="2000" dirty="0" smtClean="0"/>
              <a:t>Business requirements have only local plateaus</a:t>
            </a:r>
            <a:endParaRPr lang="en-GB" sz="2000" dirty="0" smtClean="0"/>
          </a:p>
          <a:p>
            <a:pPr lvl="1"/>
            <a:r>
              <a:rPr lang="en-GB" sz="1800" dirty="0" smtClean="0"/>
              <a:t>Will want more, more quickly and at lower cost</a:t>
            </a:r>
          </a:p>
          <a:p>
            <a:pPr lvl="1"/>
            <a:r>
              <a:rPr lang="en-GB" sz="1800" i="1" dirty="0" smtClean="0"/>
              <a:t>Costs of implementing DDI-Lifecycle must be reduced</a:t>
            </a:r>
          </a:p>
          <a:p>
            <a:r>
              <a:rPr lang="en-GB" sz="2000" dirty="0" smtClean="0"/>
              <a:t>DDI Lifecycle may be the best standard for metadata capture and exchange, </a:t>
            </a:r>
            <a:r>
              <a:rPr lang="en-GB" sz="2000" dirty="0" smtClean="0"/>
              <a:t>but not </a:t>
            </a:r>
            <a:r>
              <a:rPr lang="en-GB" sz="2000" dirty="0" smtClean="0"/>
              <a:t>the only one</a:t>
            </a:r>
          </a:p>
          <a:p>
            <a:pPr lvl="1"/>
            <a:r>
              <a:rPr lang="en-GB" sz="1800" dirty="0" smtClean="0"/>
              <a:t>Decision to implement it depends on factors other than intrinsic merits</a:t>
            </a:r>
          </a:p>
          <a:p>
            <a:pPr lvl="1"/>
            <a:r>
              <a:rPr lang="en-GB" sz="1800" i="1" dirty="0" smtClean="0"/>
              <a:t>Decision makers must be sold on DDI-Lifecycle’s Unique Selling Point  </a:t>
            </a:r>
          </a:p>
          <a:p>
            <a:endParaRPr lang="en-GB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DDI-Lifecycle</a:t>
            </a:r>
            <a:r>
              <a:rPr lang="en-GB" dirty="0" smtClean="0"/>
              <a:t>. Challenges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7086600" cy="4968552"/>
          </a:xfrm>
        </p:spPr>
        <p:txBody>
          <a:bodyPr/>
          <a:lstStyle/>
          <a:p>
            <a:r>
              <a:rPr lang="en-GB" sz="2000" dirty="0" smtClean="0"/>
              <a:t>Technical</a:t>
            </a:r>
          </a:p>
          <a:p>
            <a:pPr lvl="1"/>
            <a:r>
              <a:rPr lang="en-GB" sz="1800" dirty="0" smtClean="0"/>
              <a:t>More training materials</a:t>
            </a:r>
          </a:p>
          <a:p>
            <a:pPr lvl="1"/>
            <a:r>
              <a:rPr lang="en-GB" sz="1800" dirty="0" smtClean="0"/>
              <a:t>Guidance on how DDI components can be independently used and integrated into on-going systems</a:t>
            </a:r>
          </a:p>
          <a:p>
            <a:pPr lvl="2"/>
            <a:r>
              <a:rPr lang="en-GB" sz="1400" dirty="0" smtClean="0"/>
              <a:t>Enable practitioners to start with a snack rather than a 10-course meal</a:t>
            </a:r>
          </a:p>
          <a:p>
            <a:pPr lvl="2"/>
            <a:r>
              <a:rPr lang="en-GB" sz="1400" dirty="0" smtClean="0"/>
              <a:t>address not only ‘best’, but ‘actual’ practice</a:t>
            </a:r>
          </a:p>
          <a:p>
            <a:pPr lvl="1"/>
            <a:r>
              <a:rPr lang="en-GB" sz="1800" dirty="0" smtClean="0"/>
              <a:t>More and more flexible functional tools</a:t>
            </a:r>
          </a:p>
          <a:p>
            <a:pPr lvl="2"/>
            <a:r>
              <a:rPr lang="en-GB" sz="1400" dirty="0" smtClean="0"/>
              <a:t>to support disaggregated use</a:t>
            </a:r>
          </a:p>
          <a:p>
            <a:r>
              <a:rPr lang="en-GB" sz="2000" dirty="0" smtClean="0"/>
              <a:t>Business</a:t>
            </a:r>
          </a:p>
          <a:p>
            <a:pPr lvl="1"/>
            <a:r>
              <a:rPr lang="en-GB" sz="1800" dirty="0" smtClean="0"/>
              <a:t>Sell the lifecycle </a:t>
            </a:r>
            <a:r>
              <a:rPr lang="en-GB" sz="1800" i="1" dirty="0" smtClean="0"/>
              <a:t>concept</a:t>
            </a:r>
            <a:endParaRPr lang="en-GB" sz="1800" dirty="0" smtClean="0"/>
          </a:p>
          <a:p>
            <a:pPr lvl="2"/>
            <a:r>
              <a:rPr lang="en-GB" sz="1400" dirty="0" smtClean="0"/>
              <a:t>DDI as the best platform for achieving integration</a:t>
            </a:r>
          </a:p>
          <a:p>
            <a:pPr lvl="1"/>
            <a:r>
              <a:rPr lang="en-GB" sz="1800" dirty="0" smtClean="0"/>
              <a:t>... to data producers</a:t>
            </a:r>
          </a:p>
          <a:p>
            <a:pPr lvl="2"/>
            <a:r>
              <a:rPr lang="en-GB" sz="1400" dirty="0" smtClean="0"/>
              <a:t>DDI initiated by </a:t>
            </a:r>
            <a:r>
              <a:rPr lang="en-GB" sz="1400" dirty="0" smtClean="0"/>
              <a:t>archives; DDI/Codebook reflects </a:t>
            </a:r>
            <a:r>
              <a:rPr lang="en-GB" sz="1400" dirty="0" smtClean="0"/>
              <a:t>downstream positioning</a:t>
            </a:r>
          </a:p>
          <a:p>
            <a:pPr lvl="2"/>
            <a:r>
              <a:rPr lang="en-GB" sz="1400" dirty="0" smtClean="0"/>
              <a:t>DDI/Lifecycle must be embedded at the point of production</a:t>
            </a:r>
          </a:p>
          <a:p>
            <a:pPr lvl="1"/>
            <a:r>
              <a:rPr lang="en-GB" sz="1800" dirty="0" smtClean="0"/>
              <a:t>... focussing on funders and research leaders</a:t>
            </a:r>
          </a:p>
          <a:p>
            <a:pPr lvl="2"/>
            <a:r>
              <a:rPr lang="en-GB" sz="1400" dirty="0" smtClean="0"/>
              <a:t>Follow the money!</a:t>
            </a:r>
          </a:p>
          <a:p>
            <a:pPr lvl="1"/>
            <a:endParaRPr lang="en-GB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96752"/>
            <a:ext cx="7086600" cy="4899248"/>
          </a:xfrm>
        </p:spPr>
        <p:txBody>
          <a:bodyPr/>
          <a:lstStyle/>
          <a:p>
            <a:r>
              <a:rPr lang="en-GB" sz="1600" dirty="0" smtClean="0"/>
              <a:t>BHPS - </a:t>
            </a:r>
            <a:r>
              <a:rPr lang="en-GB" sz="1600" dirty="0" smtClean="0">
                <a:hlinkClick r:id="rId2"/>
              </a:rPr>
              <a:t>http://www.iser.essex.ac.uk/bhps</a:t>
            </a:r>
            <a:r>
              <a:rPr lang="en-GB" sz="1600" dirty="0" smtClean="0"/>
              <a:t>.</a:t>
            </a:r>
          </a:p>
          <a:p>
            <a:r>
              <a:rPr lang="en-GB" sz="1600" dirty="0" smtClean="0"/>
              <a:t>P </a:t>
            </a:r>
            <a:r>
              <a:rPr lang="en-GB" sz="1600" dirty="0" err="1" smtClean="0"/>
              <a:t>Costigan</a:t>
            </a:r>
            <a:r>
              <a:rPr lang="en-GB" sz="1600" dirty="0" smtClean="0"/>
              <a:t> and S Elder. ‘Does the Questionnaire Implement the Specification? Who Knows? ‘In R Banks </a:t>
            </a:r>
            <a:r>
              <a:rPr lang="en-GB" sz="1600" i="1" dirty="0" smtClean="0"/>
              <a:t>et al</a:t>
            </a:r>
            <a:r>
              <a:rPr lang="en-GB" sz="1600" dirty="0" smtClean="0"/>
              <a:t> (</a:t>
            </a:r>
            <a:r>
              <a:rPr lang="en-GB" sz="1600" dirty="0" err="1" smtClean="0"/>
              <a:t>eds</a:t>
            </a:r>
            <a:r>
              <a:rPr lang="en-GB" sz="1600" dirty="0" smtClean="0"/>
              <a:t>). </a:t>
            </a:r>
            <a:r>
              <a:rPr lang="en-GB" sz="1600" i="1" dirty="0" smtClean="0"/>
              <a:t>The Impact of Technology on the Survey Process. Proceedings of the </a:t>
            </a:r>
            <a:r>
              <a:rPr lang="en-GB" sz="1600" i="1" dirty="0" err="1" smtClean="0"/>
              <a:t>ASC’s</a:t>
            </a:r>
            <a:r>
              <a:rPr lang="en-GB" sz="1600" i="1" dirty="0" smtClean="0"/>
              <a:t> Fourth International Conference on Survey and Statistical Computing.</a:t>
            </a:r>
            <a:r>
              <a:rPr lang="en-GB" sz="1600" dirty="0" smtClean="0"/>
              <a:t> ASC. 2003</a:t>
            </a:r>
            <a:endParaRPr lang="en-GB" sz="1600" dirty="0" smtClean="0"/>
          </a:p>
          <a:p>
            <a:r>
              <a:rPr lang="en-GB" sz="1600" dirty="0" smtClean="0"/>
              <a:t>DDI (2009) </a:t>
            </a:r>
            <a:r>
              <a:rPr lang="en-GB" sz="1600" dirty="0" smtClean="0"/>
              <a:t>- Technical Specification User Guide. Part II, Version 3.1. Data Documentation Initiative (DDI), Oct </a:t>
            </a:r>
            <a:r>
              <a:rPr lang="en-GB" sz="1600" dirty="0" smtClean="0"/>
              <a:t>2009</a:t>
            </a:r>
            <a:endParaRPr lang="en-GB" sz="1600" dirty="0" smtClean="0"/>
          </a:p>
          <a:p>
            <a:r>
              <a:rPr lang="en-GB" sz="1600" dirty="0" smtClean="0"/>
              <a:t>SRN (2009) – Banks et al. </a:t>
            </a:r>
            <a:r>
              <a:rPr lang="en-GB" sz="1600" i="1" dirty="0" smtClean="0"/>
              <a:t>A Feasibility Study to Investigate Integrated Survey Data Collection, Fieldwork Management and Survey Data Processing Systems for Longitudinal Studies. Final Report</a:t>
            </a:r>
            <a:r>
              <a:rPr lang="en-GB" sz="1600" dirty="0" smtClean="0"/>
              <a:t>. (</a:t>
            </a:r>
            <a:r>
              <a:rPr lang="en-GB" sz="1600" dirty="0" smtClean="0">
                <a:hlinkClick r:id="rId3"/>
              </a:rPr>
              <a:t>http://www.surveynet.ac.uk/sms/srn_objective_5_final_report.pdf</a:t>
            </a:r>
            <a:r>
              <a:rPr lang="en-GB" sz="1600" dirty="0" smtClean="0"/>
              <a:t>)</a:t>
            </a:r>
          </a:p>
          <a:p>
            <a:r>
              <a:rPr lang="en-GB" sz="1600" dirty="0" smtClean="0"/>
              <a:t>Triple-S - </a:t>
            </a:r>
            <a:r>
              <a:rPr lang="en-GB" sz="1600" dirty="0" smtClean="0">
                <a:hlinkClick r:id="rId4"/>
              </a:rPr>
              <a:t>http://www.triple-s.org/</a:t>
            </a:r>
            <a:endParaRPr lang="en-GB" sz="1600" dirty="0" smtClean="0"/>
          </a:p>
          <a:p>
            <a:r>
              <a:rPr lang="en-GB" sz="1600" dirty="0" smtClean="0"/>
              <a:t>Understanding Society - </a:t>
            </a:r>
            <a:r>
              <a:rPr lang="en-GB" sz="1600" dirty="0" smtClean="0">
                <a:hlinkClick r:id="rId5"/>
              </a:rPr>
              <a:t>http://www.understandingsociety.org.uk/</a:t>
            </a:r>
            <a:endParaRPr lang="en-GB" sz="16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tabLst>
                <a:tab pos="6818313" algn="r"/>
              </a:tabLst>
            </a:pPr>
            <a:r>
              <a:rPr lang="en-GB" dirty="0" smtClean="0"/>
              <a:t>Understanding Society, Processing Data, Challenging DDI</a:t>
            </a:r>
            <a:r>
              <a:rPr lang="en-US" dirty="0" smtClean="0"/>
              <a:t>. EDDI/11. </a:t>
            </a:r>
            <a:r>
              <a:rPr lang="en-GB" dirty="0" smtClean="0"/>
              <a:t>Gothenburg. 5-6 Dec 2011.	</a:t>
            </a:r>
            <a:fld id="{482F40BC-8E5F-41D5-9ED6-6A790DC47256}" type="slidenum">
              <a:rPr lang="en-GB" smtClean="0"/>
              <a:pPr>
                <a:tabLst>
                  <a:tab pos="6818313" algn="r"/>
                </a:tabLst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derstanding_Society_v2_tagline">
  <a:themeElements>
    <a:clrScheme name="Understanding_Society_v2_taglin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nderstanding_Society_v2_tagline">
      <a:majorFont>
        <a:latin typeface="Arial"/>
        <a:ea typeface="ヒラギノ角ゴ Pro W3"/>
        <a:cs typeface=""/>
      </a:majorFont>
      <a:minorFont>
        <a:latin typeface="Arial"/>
        <a:ea typeface="ヒラギノ角ゴ Pro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1" charset="-128"/>
          </a:defRPr>
        </a:defPPr>
      </a:lstStyle>
    </a:lnDef>
  </a:objectDefaults>
  <a:extraClrSchemeLst>
    <a:extraClrScheme>
      <a:clrScheme name="Understanding_Society_v2_taglin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derstanding_Society_v2_taglin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derstanding_Society_v2_taglin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derstanding_Society_v2_taglin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derstanding_Society_v2_taglin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derstanding_Society_v2_taglin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nderstanding_Society_v2_taglin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nderstanding_Society_v2_taglin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nderstanding_Society_v2_taglin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nderstanding_Society_v2_taglin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nderstanding_Society_v2_taglin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nderstanding_Society_v2_taglin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MelonPublic:_Current projects:Understanding Society:Template design:Powerpoint:Understanding_Society_v2_tagline.pot</Template>
  <TotalTime>878</TotalTime>
  <Words>1542</Words>
  <Application>Microsoft Office PowerPoint</Application>
  <PresentationFormat>On-screen Show (4:3)</PresentationFormat>
  <Paragraphs>173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Understanding_Society_v2_tagline</vt:lpstr>
      <vt:lpstr>Understanding Society, Processing Data, Challenging DDI</vt:lpstr>
      <vt:lpstr>Objectives</vt:lpstr>
      <vt:lpstr>Understanding Society (UKHLS)</vt:lpstr>
      <vt:lpstr>BHPS v UKHLS. Similarities</vt:lpstr>
      <vt:lpstr>BHPS v UKHLS. Differences</vt:lpstr>
      <vt:lpstr>Data Processing. Challenges</vt:lpstr>
      <vt:lpstr>Data Lifecycle. The short version.</vt:lpstr>
      <vt:lpstr>Metadata Creation. ‘QSL’</vt:lpstr>
      <vt:lpstr>Data Exchange. Triple-S</vt:lpstr>
      <vt:lpstr>Metadata Transfer. DDI-Codebook</vt:lpstr>
      <vt:lpstr>Why not DDI-Lifecycle?</vt:lpstr>
      <vt:lpstr>DDI-Lifecycle for the future?</vt:lpstr>
      <vt:lpstr>Lessons for DDI-Lifecycle</vt:lpstr>
      <vt:lpstr>DDI-Lifecycle. Challenges</vt:lpstr>
      <vt:lpstr>References</vt:lpstr>
    </vt:vector>
  </TitlesOfParts>
  <Company>Public Zone Ltd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in here</dc:title>
  <dc:creator>Amanda Prosser</dc:creator>
  <cp:lastModifiedBy>Randy Banks</cp:lastModifiedBy>
  <cp:revision>91</cp:revision>
  <dcterms:created xsi:type="dcterms:W3CDTF">2008-07-23T14:25:57Z</dcterms:created>
  <dcterms:modified xsi:type="dcterms:W3CDTF">2011-11-28T16:30:14Z</dcterms:modified>
</cp:coreProperties>
</file>