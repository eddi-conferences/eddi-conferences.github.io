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60" r:id="rId2"/>
    <p:sldId id="276" r:id="rId3"/>
    <p:sldId id="298" r:id="rId4"/>
    <p:sldId id="303" r:id="rId5"/>
    <p:sldId id="310" r:id="rId6"/>
    <p:sldId id="277" r:id="rId7"/>
    <p:sldId id="306" r:id="rId8"/>
    <p:sldId id="297" r:id="rId9"/>
    <p:sldId id="301" r:id="rId10"/>
    <p:sldId id="302" r:id="rId11"/>
    <p:sldId id="308" r:id="rId12"/>
    <p:sldId id="309" r:id="rId13"/>
    <p:sldId id="311" r:id="rId14"/>
    <p:sldId id="271" r:id="rId15"/>
    <p:sldId id="313" r:id="rId16"/>
    <p:sldId id="314" r:id="rId17"/>
    <p:sldId id="279" r:id="rId18"/>
  </p:sldIdLst>
  <p:sldSz cx="9144000" cy="6858000" type="screen4x3"/>
  <p:notesSz cx="6735763" cy="9866313"/>
  <p:defaultTextStyle>
    <a:defPPr>
      <a:defRPr lang="fi-FI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6666FF"/>
    <a:srgbClr val="0066FF"/>
    <a:srgbClr val="008000"/>
    <a:srgbClr val="800080"/>
    <a:srgbClr val="333399"/>
    <a:srgbClr val="FFFF99"/>
    <a:srgbClr val="CC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Normaali tyyli 2 - Korostu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78" autoAdjust="0"/>
    <p:restoredTop sz="94633" autoAdjust="0"/>
  </p:normalViewPr>
  <p:slideViewPr>
    <p:cSldViewPr>
      <p:cViewPr varScale="1">
        <p:scale>
          <a:sx n="68" d="100"/>
          <a:sy n="68" d="100"/>
        </p:scale>
        <p:origin x="-120" y="-1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1013"/>
            <a:ext cx="29178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71013"/>
            <a:ext cx="29178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0958DF4-4D17-4F46-8965-405ABDA65346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7825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100" y="4684713"/>
            <a:ext cx="5389563" cy="444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 smtClean="0"/>
              <a:t>Muokkaa tekstin perustyylejä napsauttamalla</a:t>
            </a:r>
          </a:p>
          <a:p>
            <a:pPr lvl="1"/>
            <a:r>
              <a:rPr lang="fi-FI" noProof="0" smtClean="0"/>
              <a:t>toinen taso</a:t>
            </a:r>
          </a:p>
          <a:p>
            <a:pPr lvl="2"/>
            <a:r>
              <a:rPr lang="fi-FI" noProof="0" smtClean="0"/>
              <a:t>kolmas taso</a:t>
            </a:r>
          </a:p>
          <a:p>
            <a:pPr lvl="3"/>
            <a:r>
              <a:rPr lang="fi-FI" noProof="0" smtClean="0"/>
              <a:t>neljäs taso</a:t>
            </a:r>
          </a:p>
          <a:p>
            <a:pPr lvl="4"/>
            <a:r>
              <a:rPr lang="fi-FI" noProof="0" smtClean="0"/>
              <a:t>viides taso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9178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1013"/>
            <a:ext cx="29178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7F658F2-8F11-4524-AE77-770E12853C10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i-FI" smtClean="0"/>
              <a:t>Muokkaa alaotsikon perustyyliä napsautt.</a:t>
            </a:r>
            <a:endParaRPr lang="fi-FI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EACD8-7CAB-4372-9675-9E4AECFA190F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0F0C6-42B8-49C6-AEBC-38372D7CB5C5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Osan ylätunni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942A01-20A0-4D56-A651-E2D5C6418D5C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4A01C-8914-4C5B-AA28-C25D01369601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F11E4-70E5-4A26-82FD-BEA4232803DC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3F883-2407-4A01-8C33-503A3323175C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4B8A1-7127-496C-BB3D-4E51D854A25F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E28DC-59BF-466A-AE8A-24C99702DC57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tsikollinen ku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Kuvan paikkamerkki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i-FI" noProof="0" smtClean="0"/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 smtClean="0"/>
              <a:t>Muokkaa tekstin perustyylejä napsauttamalla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15EA02-1BDA-4045-B787-2AF766280FD6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or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41547-460B-45CD-989B-EC41378AFA14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Pystysuora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ystysuora otsikko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i-FI" smtClean="0"/>
              <a:t>Muokkaa perustyyl. napsautt.</a:t>
            </a:r>
            <a:endParaRPr lang="fi-FI"/>
          </a:p>
        </p:txBody>
      </p:sp>
      <p:sp>
        <p:nvSpPr>
          <p:cNvPr id="3" name="Pystysuoran tekstin paikkamerkki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  <a:endParaRPr lang="fi-FI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99D1E-3517-4B34-8D8F-875CDF7FF15E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i-FI" smtClean="0"/>
              <a:t>Muokkaa perustyyl. napsautt.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smtClean="0"/>
              <a:t>Muokkaa tekstin perustyylejä napsauttamalla</a:t>
            </a:r>
          </a:p>
          <a:p>
            <a:pPr lvl="1"/>
            <a:r>
              <a:rPr lang="fi-FI" smtClean="0"/>
              <a:t>toinen taso</a:t>
            </a:r>
          </a:p>
          <a:p>
            <a:pPr lvl="2"/>
            <a:r>
              <a:rPr lang="fi-FI" smtClean="0"/>
              <a:t>kolmas taso</a:t>
            </a:r>
          </a:p>
          <a:p>
            <a:pPr lvl="3"/>
            <a:r>
              <a:rPr lang="fi-FI" smtClean="0"/>
              <a:t>neljäs taso</a:t>
            </a:r>
          </a:p>
          <a:p>
            <a:pPr lvl="4"/>
            <a:r>
              <a:rPr lang="fi-FI" smtClean="0"/>
              <a:t>viides taso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i-FI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fi-FI"/>
              <a:t>15/09/2011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CEED0F0-353C-4C92-ADF7-8D173725661A}" type="slidenum">
              <a:rPr lang="fi-FI"/>
              <a:pPr>
                <a:defRPr/>
              </a:pPr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rekisteritutkimus.f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7"/>
          <p:cNvSpPr>
            <a:spLocks noGrp="1" noChangeArrowheads="1"/>
          </p:cNvSpPr>
          <p:nvPr>
            <p:ph type="title"/>
          </p:nvPr>
        </p:nvSpPr>
        <p:spPr>
          <a:xfrm>
            <a:off x="457200" y="1052513"/>
            <a:ext cx="8229600" cy="1871662"/>
          </a:xfrm>
        </p:spPr>
        <p:txBody>
          <a:bodyPr/>
          <a:lstStyle/>
          <a:p>
            <a:pPr eaLnBrk="1" hangingPunct="1"/>
            <a:r>
              <a:rPr lang="fi-FI" sz="3200" b="1" smtClean="0">
                <a:latin typeface="Verdana" pitchFamily="34" charset="0"/>
              </a:rPr>
              <a:t/>
            </a:r>
            <a:br>
              <a:rPr lang="fi-FI" sz="3200" b="1" smtClean="0">
                <a:latin typeface="Verdana" pitchFamily="34" charset="0"/>
              </a:rPr>
            </a:br>
            <a:r>
              <a:rPr lang="fi-FI" sz="3200" b="1" smtClean="0">
                <a:latin typeface="Verdana" pitchFamily="34" charset="0"/>
              </a:rPr>
              <a:t>Documenting Register Data for Research Purposes</a:t>
            </a:r>
            <a:r>
              <a:rPr lang="fi-FI" sz="2800" b="1" smtClean="0">
                <a:latin typeface="Verdana" pitchFamily="34" charset="0"/>
              </a:rPr>
              <a:t/>
            </a:r>
            <a:br>
              <a:rPr lang="fi-FI" sz="2800" b="1" smtClean="0">
                <a:latin typeface="Verdana" pitchFamily="34" charset="0"/>
              </a:rPr>
            </a:br>
            <a:r>
              <a:rPr lang="fi-FI" sz="2000" b="1" smtClean="0">
                <a:latin typeface="Verdana" pitchFamily="34" charset="0"/>
              </a:rPr>
              <a:t/>
            </a:r>
            <a:br>
              <a:rPr lang="fi-FI" sz="2000" b="1" smtClean="0">
                <a:latin typeface="Verdana" pitchFamily="34" charset="0"/>
              </a:rPr>
            </a:br>
            <a:endParaRPr lang="fi-FI" sz="2000" b="1" smtClean="0">
              <a:latin typeface="Verdana" pitchFamily="34" charset="0"/>
            </a:endParaRPr>
          </a:p>
        </p:txBody>
      </p:sp>
      <p:sp>
        <p:nvSpPr>
          <p:cNvPr id="2051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Finnish Information Centre for Register  Research</a:t>
            </a:r>
          </a:p>
        </p:txBody>
      </p:sp>
      <p:sp>
        <p:nvSpPr>
          <p:cNvPr id="2052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pic>
        <p:nvPicPr>
          <p:cNvPr id="2053" name="Picture 6" descr="ReTkimerkkipien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59563" y="188913"/>
            <a:ext cx="2160587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" name="Text Box 10"/>
          <p:cNvSpPr txBox="1">
            <a:spLocks noChangeArrowheads="1"/>
          </p:cNvSpPr>
          <p:nvPr/>
        </p:nvSpPr>
        <p:spPr bwMode="auto">
          <a:xfrm>
            <a:off x="2916238" y="5516563"/>
            <a:ext cx="3600450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i-FI" b="1">
                <a:solidFill>
                  <a:schemeClr val="tx2"/>
                </a:solidFill>
                <a:latin typeface="Verdana" pitchFamily="34" charset="0"/>
              </a:rPr>
              <a:t>Marianne Johnson</a:t>
            </a:r>
          </a:p>
          <a:p>
            <a:pPr algn="ctr"/>
            <a:r>
              <a:rPr lang="fi-FI" b="1">
                <a:solidFill>
                  <a:schemeClr val="tx2"/>
                </a:solidFill>
                <a:latin typeface="Verdana" pitchFamily="34" charset="0"/>
              </a:rPr>
              <a:t>Irma-Leena Notkola</a:t>
            </a:r>
          </a:p>
          <a:p>
            <a:pPr algn="ctr"/>
            <a:r>
              <a:rPr lang="fi-FI" sz="1600" b="1">
                <a:solidFill>
                  <a:schemeClr val="tx2"/>
                </a:solidFill>
                <a:latin typeface="Verdana" pitchFamily="34" charset="0"/>
              </a:rPr>
              <a:t>www.rekisteritutkimus.fi</a:t>
            </a:r>
          </a:p>
        </p:txBody>
      </p:sp>
      <p:pic>
        <p:nvPicPr>
          <p:cNvPr id="2055" name="Picture 12" descr="retki_kielet_iso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739900" y="2819400"/>
            <a:ext cx="5662613" cy="23622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52513"/>
            <a:ext cx="8229600" cy="792162"/>
          </a:xfrm>
        </p:spPr>
        <p:txBody>
          <a:bodyPr/>
          <a:lstStyle/>
          <a:p>
            <a:pPr eaLnBrk="1" hangingPunct="1"/>
            <a:r>
              <a:rPr lang="en-US" sz="2600" b="1" smtClean="0">
                <a:solidFill>
                  <a:srgbClr val="7030A0"/>
                </a:solidFill>
                <a:latin typeface="Verdana" pitchFamily="34" charset="0"/>
              </a:rPr>
              <a:t>Finnish administrative registers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8229600" cy="4021137"/>
          </a:xfrm>
        </p:spPr>
        <p:txBody>
          <a:bodyPr/>
          <a:lstStyle/>
          <a:p>
            <a:pPr eaLnBrk="1" hangingPunct="1"/>
            <a:r>
              <a:rPr lang="en-US" sz="2000" smtClean="0">
                <a:latin typeface="Verdana" pitchFamily="34" charset="0"/>
              </a:rPr>
              <a:t>several comprehensive national registers</a:t>
            </a:r>
          </a:p>
          <a:p>
            <a:pPr eaLnBrk="1" hangingPunct="1"/>
            <a:r>
              <a:rPr lang="en-US" sz="2000" smtClean="0">
                <a:latin typeface="Verdana" pitchFamily="34" charset="0"/>
              </a:rPr>
              <a:t>contain data on </a:t>
            </a:r>
            <a:r>
              <a:rPr lang="en-US" sz="2000" b="1" smtClean="0">
                <a:solidFill>
                  <a:srgbClr val="6666FF"/>
                </a:solidFill>
                <a:latin typeface="Verdana" pitchFamily="34" charset="0"/>
              </a:rPr>
              <a:t>individuals, families, housing, enterprises</a:t>
            </a:r>
          </a:p>
          <a:p>
            <a:pPr eaLnBrk="1" hangingPunct="1"/>
            <a:r>
              <a:rPr lang="en-US" sz="2000" smtClean="0">
                <a:latin typeface="Verdana" pitchFamily="34" charset="0"/>
              </a:rPr>
              <a:t>compiled and maintained for administrative or statistical purposes, 	e.g. </a:t>
            </a:r>
          </a:p>
          <a:p>
            <a:pPr lvl="1" eaLnBrk="1" hangingPunct="1"/>
            <a:r>
              <a:rPr lang="en-US" sz="1800" b="1" i="1" smtClean="0">
                <a:latin typeface="Verdana" pitchFamily="34" charset="0"/>
              </a:rPr>
              <a:t>Social Insurance Institution</a:t>
            </a:r>
            <a:r>
              <a:rPr lang="en-US" sz="1800" b="1" smtClean="0">
                <a:latin typeface="Verdana" pitchFamily="34" charset="0"/>
              </a:rPr>
              <a:t> </a:t>
            </a:r>
            <a:r>
              <a:rPr lang="en-US" sz="1800" b="1" i="1" smtClean="0">
                <a:latin typeface="Verdana" pitchFamily="34" charset="0"/>
              </a:rPr>
              <a:t>(KELA)</a:t>
            </a:r>
            <a:r>
              <a:rPr lang="en-US" sz="1800" smtClean="0">
                <a:latin typeface="Verdana" pitchFamily="34" charset="0"/>
              </a:rPr>
              <a:t> pays social benefits to Finnish citizens and needs registers with data on individuals for this purpose</a:t>
            </a:r>
          </a:p>
          <a:p>
            <a:pPr lvl="1" eaLnBrk="1" hangingPunct="1"/>
            <a:r>
              <a:rPr lang="en-US" sz="1800" b="1" i="1" smtClean="0">
                <a:latin typeface="Verdana" pitchFamily="34" charset="0"/>
              </a:rPr>
              <a:t>National Institute for Health and Welfare (THL) </a:t>
            </a:r>
            <a:r>
              <a:rPr lang="en-US" sz="1800" smtClean="0">
                <a:latin typeface="Verdana" pitchFamily="34" charset="0"/>
              </a:rPr>
              <a:t>is a register and statistical authority and collects individual based data from local registers for compiling statistics and for research purposes </a:t>
            </a:r>
          </a:p>
          <a:p>
            <a:pPr lvl="1" eaLnBrk="1" hangingPunct="1"/>
            <a:r>
              <a:rPr lang="en-US" sz="1800" b="1" i="1" smtClean="0">
                <a:latin typeface="Verdana" pitchFamily="34" charset="0"/>
              </a:rPr>
              <a:t>Statistics Finland</a:t>
            </a:r>
            <a:r>
              <a:rPr lang="en-US" sz="1800" b="1" smtClean="0">
                <a:latin typeface="Verdana" pitchFamily="34" charset="0"/>
              </a:rPr>
              <a:t> </a:t>
            </a:r>
            <a:r>
              <a:rPr lang="en-US" sz="1800" b="1" i="1" smtClean="0">
                <a:latin typeface="Verdana" pitchFamily="34" charset="0"/>
              </a:rPr>
              <a:t>(Tilastokeskus)</a:t>
            </a:r>
            <a:r>
              <a:rPr lang="en-US" sz="1800" smtClean="0">
                <a:latin typeface="Verdana" pitchFamily="34" charset="0"/>
              </a:rPr>
              <a:t> is a statistical authority and collects data on individuals mostly from administrative registers for compilation of different statistics</a:t>
            </a:r>
          </a:p>
          <a:p>
            <a:pPr lvl="1" eaLnBrk="1" hangingPunct="1"/>
            <a:endParaRPr lang="en-US" sz="1800" smtClean="0">
              <a:latin typeface="Verdana" pitchFamily="34" charset="0"/>
            </a:endParaRPr>
          </a:p>
          <a:p>
            <a:pPr lvl="1" eaLnBrk="1" hangingPunct="1"/>
            <a:endParaRPr lang="en-US" sz="1800" smtClean="0">
              <a:latin typeface="Verdana" pitchFamily="34" charset="0"/>
            </a:endParaRPr>
          </a:p>
          <a:p>
            <a:pPr lvl="1" eaLnBrk="1" hangingPunct="1"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lvl="1" eaLnBrk="1" hangingPunct="1"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lvl="1" eaLnBrk="1" hangingPunct="1">
              <a:buFontTx/>
              <a:buNone/>
            </a:pPr>
            <a:r>
              <a:rPr lang="en-US" sz="1800" smtClean="0">
                <a:latin typeface="Verdana" pitchFamily="34" charset="0"/>
              </a:rPr>
              <a:t>	</a:t>
            </a: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52513"/>
            <a:ext cx="8229600" cy="647700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Secondary usage of administrative registers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8229600" cy="4751387"/>
          </a:xfrm>
        </p:spPr>
        <p:txBody>
          <a:bodyPr/>
          <a:lstStyle/>
          <a:p>
            <a:pPr eaLnBrk="1" hangingPunct="1"/>
            <a:r>
              <a:rPr lang="en-US" sz="2000" smtClean="0">
                <a:latin typeface="Verdana" pitchFamily="34" charset="0"/>
              </a:rPr>
              <a:t>Production of official statistics is almost totally based on registers in Finland </a:t>
            </a:r>
          </a:p>
          <a:p>
            <a:pPr eaLnBrk="1" hangingPunct="1">
              <a:buFontTx/>
              <a:buNone/>
            </a:pPr>
            <a:r>
              <a:rPr lang="en-US" sz="2000" smtClean="0">
                <a:latin typeface="Verdana" pitchFamily="34" charset="0"/>
              </a:rPr>
              <a:t>		- </a:t>
            </a:r>
            <a:r>
              <a:rPr lang="en-US" sz="2000" i="1" smtClean="0">
                <a:latin typeface="Verdana" pitchFamily="34" charset="0"/>
              </a:rPr>
              <a:t>the vast majority of data (over 95%) come from 	  administrative registers</a:t>
            </a:r>
          </a:p>
          <a:p>
            <a:pPr eaLnBrk="1" hangingPunct="1">
              <a:buFontTx/>
              <a:buNone/>
            </a:pPr>
            <a:r>
              <a:rPr lang="en-US" sz="2000" i="1" smtClean="0">
                <a:latin typeface="Verdana" pitchFamily="34" charset="0"/>
              </a:rPr>
              <a:t>		- the population and housing census has been 	  	  based totally on register sources since 1990</a:t>
            </a:r>
          </a:p>
          <a:p>
            <a:pPr eaLnBrk="1" hangingPunct="1">
              <a:buFontTx/>
              <a:buNone/>
            </a:pPr>
            <a:r>
              <a:rPr lang="en-US" sz="2000" i="1" smtClean="0">
                <a:latin typeface="Verdana" pitchFamily="34" charset="0"/>
              </a:rPr>
              <a:t>		- Handbook: Use of Registers and Administrative Data 	  Sources for Statistical Purposes – Best Practices of 	  Statistics Finland </a:t>
            </a:r>
          </a:p>
          <a:p>
            <a:pPr eaLnBrk="1" hangingPunct="1"/>
            <a:endParaRPr lang="en-US" sz="2000" smtClean="0">
              <a:latin typeface="Verdana" pitchFamily="34" charset="0"/>
            </a:endParaRPr>
          </a:p>
          <a:p>
            <a:pPr eaLnBrk="1" hangingPunct="1"/>
            <a:r>
              <a:rPr lang="en-US" sz="2000" smtClean="0">
                <a:latin typeface="Verdana" pitchFamily="34" charset="0"/>
              </a:rPr>
              <a:t>Register-based research</a:t>
            </a:r>
          </a:p>
          <a:p>
            <a:pPr lvl="1" eaLnBrk="1" hangingPunct="1"/>
            <a:r>
              <a:rPr lang="en-US" sz="2000" i="1" smtClean="0">
                <a:latin typeface="Verdana" pitchFamily="34" charset="0"/>
              </a:rPr>
              <a:t>20 % of doctoral thesis’ within medicine in Finland include data from national registers</a:t>
            </a:r>
          </a:p>
          <a:p>
            <a:pPr lvl="1" eaLnBrk="1" hangingPunct="1"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lvl="1" eaLnBrk="1" hangingPunct="1"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lvl="1" eaLnBrk="1" hangingPunct="1"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lvl="1" eaLnBrk="1" hangingPunct="1">
              <a:buFontTx/>
              <a:buNone/>
            </a:pPr>
            <a:r>
              <a:rPr lang="en-US" sz="1800" smtClean="0">
                <a:latin typeface="Verdana" pitchFamily="34" charset="0"/>
              </a:rPr>
              <a:t>	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525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Prerequisites for register-based research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844675"/>
            <a:ext cx="8229600" cy="4310063"/>
          </a:xfrm>
        </p:spPr>
        <p:txBody>
          <a:bodyPr/>
          <a:lstStyle/>
          <a:p>
            <a:pPr eaLnBrk="1" hangingPunct="1"/>
            <a:endParaRPr lang="en-US" sz="2000" smtClean="0">
              <a:latin typeface="Verdana" pitchFamily="34" charset="0"/>
            </a:endParaRPr>
          </a:p>
          <a:p>
            <a:pPr eaLnBrk="1" hangingPunct="1"/>
            <a:r>
              <a:rPr lang="en-US" sz="2000" smtClean="0">
                <a:latin typeface="Verdana" pitchFamily="34" charset="0"/>
              </a:rPr>
              <a:t>Common personal identification number in all registers</a:t>
            </a:r>
          </a:p>
          <a:p>
            <a:pPr lvl="1" eaLnBrk="1" hangingPunct="1">
              <a:lnSpc>
                <a:spcPct val="101000"/>
              </a:lnSpc>
            </a:pPr>
            <a:r>
              <a:rPr lang="en-GB" sz="1800" smtClean="0">
                <a:latin typeface="Verdana" pitchFamily="34" charset="0"/>
              </a:rPr>
              <a:t>first used in 1964 ( between 1964-1970 two different systems) </a:t>
            </a:r>
          </a:p>
          <a:p>
            <a:pPr lvl="1" eaLnBrk="1" hangingPunct="1">
              <a:lnSpc>
                <a:spcPct val="101000"/>
              </a:lnSpc>
            </a:pPr>
            <a:r>
              <a:rPr lang="en-GB" sz="1800" smtClean="0">
                <a:latin typeface="Verdana" pitchFamily="34" charset="0"/>
              </a:rPr>
              <a:t>since 1971 a digital population register  </a:t>
            </a:r>
          </a:p>
          <a:p>
            <a:pPr lvl="1" eaLnBrk="1" hangingPunct="1">
              <a:lnSpc>
                <a:spcPct val="101000"/>
              </a:lnSpc>
            </a:pPr>
            <a:r>
              <a:rPr lang="en-GB" sz="1800" smtClean="0">
                <a:latin typeface="Verdana" pitchFamily="34" charset="0"/>
              </a:rPr>
              <a:t>all Finns have a PIN</a:t>
            </a:r>
          </a:p>
          <a:p>
            <a:pPr lvl="1" eaLnBrk="1" hangingPunct="1">
              <a:lnSpc>
                <a:spcPct val="101000"/>
              </a:lnSpc>
              <a:buFont typeface="Wingdings" pitchFamily="2" charset="2"/>
              <a:buChar char="è"/>
            </a:pPr>
            <a:r>
              <a:rPr lang="en-GB" sz="1800" b="1" i="1" smtClean="0">
                <a:solidFill>
                  <a:srgbClr val="333399"/>
                </a:solidFill>
                <a:latin typeface="Verdana" pitchFamily="34" charset="0"/>
                <a:sym typeface="Wingdings" pitchFamily="2" charset="2"/>
              </a:rPr>
              <a:t>data from different registers can be linked by PIN e.g.</a:t>
            </a:r>
          </a:p>
          <a:p>
            <a:pPr lvl="1" eaLnBrk="1" hangingPunct="1">
              <a:lnSpc>
                <a:spcPct val="101000"/>
              </a:lnSpc>
              <a:buFont typeface="Wingdings" pitchFamily="2" charset="2"/>
              <a:buNone/>
            </a:pPr>
            <a:r>
              <a:rPr lang="en-GB" sz="1800" b="1" i="1" smtClean="0">
                <a:solidFill>
                  <a:srgbClr val="333399"/>
                </a:solidFill>
                <a:latin typeface="Verdana" pitchFamily="34" charset="0"/>
                <a:sym typeface="Wingdings" pitchFamily="2" charset="2"/>
              </a:rPr>
              <a:t>	for research purposes</a:t>
            </a:r>
          </a:p>
          <a:p>
            <a:pPr eaLnBrk="1" hangingPunct="1">
              <a:buFontTx/>
              <a:buNone/>
            </a:pPr>
            <a:endParaRPr lang="en-US" sz="2000" smtClean="0">
              <a:latin typeface="Verdana" pitchFamily="34" charset="0"/>
            </a:endParaRPr>
          </a:p>
          <a:p>
            <a:pPr eaLnBrk="1" hangingPunct="1"/>
            <a:r>
              <a:rPr lang="en-US" sz="2000" smtClean="0">
                <a:latin typeface="Verdana" pitchFamily="34" charset="0"/>
              </a:rPr>
              <a:t>Legislation that allows the use of confidential personal data for scientific research</a:t>
            </a:r>
          </a:p>
          <a:p>
            <a:pPr eaLnBrk="1" hangingPunct="1"/>
            <a:endParaRPr lang="en-US" sz="2000" smtClean="0">
              <a:latin typeface="Verdana" pitchFamily="34" charset="0"/>
            </a:endParaRPr>
          </a:p>
          <a:p>
            <a:pPr eaLnBrk="1" hangingPunct="1"/>
            <a:r>
              <a:rPr lang="en-US" sz="2000" smtClean="0">
                <a:latin typeface="Verdana" pitchFamily="34" charset="0"/>
              </a:rPr>
              <a:t>Comprehensive, well documented registers</a:t>
            </a:r>
          </a:p>
          <a:p>
            <a:pPr eaLnBrk="1" hangingPunct="1"/>
            <a:endParaRPr lang="en-US" sz="2000" smtClean="0">
              <a:latin typeface="Verdana" pitchFamily="34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8366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Current state of register metadata in Finland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84313"/>
            <a:ext cx="8229600" cy="4886325"/>
          </a:xfrm>
        </p:spPr>
        <p:txBody>
          <a:bodyPr/>
          <a:lstStyle/>
          <a:p>
            <a:pPr eaLnBrk="1" hangingPunct="1"/>
            <a:r>
              <a:rPr lang="en-US" sz="2000" smtClean="0">
                <a:latin typeface="Verdana" pitchFamily="34" charset="0"/>
              </a:rPr>
              <a:t>Description of data file for files containing personal data</a:t>
            </a:r>
          </a:p>
          <a:p>
            <a:pPr lvl="1" eaLnBrk="1" hangingPunct="1"/>
            <a:r>
              <a:rPr lang="en-US" sz="1800" smtClean="0">
                <a:latin typeface="Verdana" pitchFamily="34" charset="0"/>
              </a:rPr>
              <a:t>Required by law (Personal Data Act)</a:t>
            </a:r>
            <a:endParaRPr lang="en-US" sz="2000" smtClean="0">
              <a:latin typeface="Verdana" pitchFamily="34" charset="0"/>
            </a:endParaRPr>
          </a:p>
          <a:p>
            <a:pPr eaLnBrk="1" hangingPunct="1"/>
            <a:r>
              <a:rPr lang="en-US" sz="2000" smtClean="0">
                <a:latin typeface="Verdana" pitchFamily="34" charset="0"/>
              </a:rPr>
              <a:t>Handbooks</a:t>
            </a:r>
          </a:p>
          <a:p>
            <a:pPr lvl="1" eaLnBrk="1" hangingPunct="1">
              <a:lnSpc>
                <a:spcPct val="101000"/>
              </a:lnSpc>
            </a:pPr>
            <a:r>
              <a:rPr lang="en-GB" sz="1800" smtClean="0">
                <a:latin typeface="Verdana" pitchFamily="34" charset="0"/>
              </a:rPr>
              <a:t>Statistics Finland Handbook on population census </a:t>
            </a:r>
          </a:p>
          <a:p>
            <a:pPr lvl="2" eaLnBrk="1" hangingPunct="1">
              <a:lnSpc>
                <a:spcPct val="101000"/>
              </a:lnSpc>
            </a:pPr>
            <a:r>
              <a:rPr lang="en-GB" sz="1400" smtClean="0">
                <a:latin typeface="Verdana" pitchFamily="34" charset="0"/>
              </a:rPr>
              <a:t>http://www.stat.fi/tk/he/vaestolaskenta/vaestolask_opas2000_en.pdf</a:t>
            </a:r>
          </a:p>
          <a:p>
            <a:pPr lvl="1" eaLnBrk="1" hangingPunct="1">
              <a:lnSpc>
                <a:spcPct val="101000"/>
              </a:lnSpc>
            </a:pPr>
            <a:r>
              <a:rPr lang="en-GB" sz="1800" smtClean="0">
                <a:latin typeface="Verdana" pitchFamily="34" charset="0"/>
              </a:rPr>
              <a:t>Guidebook for collecting and sending data to the hospital discharge register </a:t>
            </a:r>
          </a:p>
          <a:p>
            <a:pPr lvl="2" eaLnBrk="1" hangingPunct="1">
              <a:lnSpc>
                <a:spcPct val="101000"/>
              </a:lnSpc>
            </a:pPr>
            <a:r>
              <a:rPr lang="en-GB" sz="1400" smtClean="0">
                <a:latin typeface="Verdana" pitchFamily="34" charset="0"/>
              </a:rPr>
              <a:t>Compiling data from hospital registers to national register</a:t>
            </a:r>
          </a:p>
          <a:p>
            <a:pPr lvl="1" eaLnBrk="1" hangingPunct="1">
              <a:lnSpc>
                <a:spcPct val="101000"/>
              </a:lnSpc>
            </a:pPr>
            <a:r>
              <a:rPr lang="en-GB" sz="1800" smtClean="0">
                <a:latin typeface="Verdana" pitchFamily="34" charset="0"/>
              </a:rPr>
              <a:t>The IT-registers of the Social Insurance institute and data included into them (  pdf-file, 260 pages)</a:t>
            </a:r>
          </a:p>
          <a:p>
            <a:pPr eaLnBrk="1" hangingPunct="1">
              <a:lnSpc>
                <a:spcPct val="101000"/>
              </a:lnSpc>
            </a:pPr>
            <a:r>
              <a:rPr lang="en-GB" sz="2000" smtClean="0">
                <a:latin typeface="Verdana" pitchFamily="34" charset="0"/>
              </a:rPr>
              <a:t>Definition of concepts, national classifications (eg. classification of education) and international classification standards (eg. ICD10, ISCO) on internet</a:t>
            </a:r>
          </a:p>
          <a:p>
            <a:pPr eaLnBrk="1" hangingPunct="1"/>
            <a:r>
              <a:rPr lang="en-US" sz="2000" smtClean="0">
                <a:latin typeface="Verdana" pitchFamily="34" charset="0"/>
              </a:rPr>
              <a:t>Technical specifications of data file</a:t>
            </a:r>
          </a:p>
          <a:p>
            <a:pPr lvl="1" eaLnBrk="1" hangingPunct="1"/>
            <a:r>
              <a:rPr lang="en-US" sz="1800" smtClean="0">
                <a:latin typeface="Verdana" pitchFamily="34" charset="0"/>
              </a:rPr>
              <a:t>Only for internal use at the register keepers</a:t>
            </a:r>
            <a:endParaRPr lang="en-US" sz="2000" smtClean="0">
              <a:latin typeface="Verdana" pitchFamily="34" charset="0"/>
            </a:endParaRPr>
          </a:p>
          <a:p>
            <a:pPr eaLnBrk="1" hangingPunct="1"/>
            <a:r>
              <a:rPr lang="en-US" sz="2000" smtClean="0">
                <a:latin typeface="Verdana" pitchFamily="34" charset="0"/>
              </a:rPr>
              <a:t>No metadata standards in use</a:t>
            </a:r>
            <a:endParaRPr lang="en-US" sz="1800" smtClean="0">
              <a:latin typeface="Verdana" pitchFamily="34" charset="0"/>
            </a:endParaRP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52513"/>
            <a:ext cx="8229600" cy="720725"/>
          </a:xfrm>
        </p:spPr>
        <p:txBody>
          <a:bodyPr/>
          <a:lstStyle/>
          <a:p>
            <a:pPr eaLnBrk="1" hangingPunct="1"/>
            <a:r>
              <a:rPr lang="en-US" sz="2800" b="1" smtClean="0">
                <a:solidFill>
                  <a:srgbClr val="7030A0"/>
                </a:solidFill>
                <a:latin typeface="Verdana" pitchFamily="34" charset="0"/>
              </a:rPr>
              <a:t>Description of personal data file</a:t>
            </a:r>
            <a:br>
              <a:rPr lang="en-US" sz="2800" b="1" smtClean="0">
                <a:solidFill>
                  <a:srgbClr val="7030A0"/>
                </a:solidFill>
                <a:latin typeface="Verdana" pitchFamily="34" charset="0"/>
              </a:rPr>
            </a:br>
            <a:r>
              <a:rPr lang="en-US" sz="2800" smtClean="0">
                <a:solidFill>
                  <a:srgbClr val="7030A0"/>
                </a:solidFill>
                <a:latin typeface="Verdana" pitchFamily="34" charset="0"/>
              </a:rPr>
              <a:t>(section 10 of Personal Data Act)</a:t>
            </a:r>
            <a:endParaRPr lang="en-US" sz="2800" b="1" smtClean="0">
              <a:solidFill>
                <a:srgbClr val="7030A0"/>
              </a:solidFill>
              <a:latin typeface="Verdana" pitchFamily="34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989138"/>
            <a:ext cx="8229600" cy="4537075"/>
          </a:xfrm>
        </p:spPr>
        <p:txBody>
          <a:bodyPr/>
          <a:lstStyle/>
          <a:p>
            <a:pPr eaLnBrk="1" hangingPunct="1"/>
            <a:r>
              <a:rPr lang="en-US" sz="2400" smtClean="0">
                <a:latin typeface="Verdana" pitchFamily="34" charset="0"/>
              </a:rPr>
              <a:t>Content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Registrar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Person responsible of the register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Name of register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Purpose of the register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Contents of the register </a:t>
            </a:r>
          </a:p>
          <a:p>
            <a:pPr lvl="2" eaLnBrk="1" hangingPunct="1"/>
            <a:r>
              <a:rPr lang="en-US" sz="1600" smtClean="0">
                <a:latin typeface="Verdana" pitchFamily="34" charset="0"/>
              </a:rPr>
              <a:t>Description of group or groups of data subjects and the data relating to them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Regular sources of information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Regular disclosure of information</a:t>
            </a:r>
          </a:p>
          <a:p>
            <a:pPr lvl="1" eaLnBrk="1" hangingPunct="1"/>
            <a:r>
              <a:rPr lang="en-US" sz="2000" smtClean="0">
                <a:latin typeface="Verdana" pitchFamily="34" charset="0"/>
              </a:rPr>
              <a:t>Register protection principles</a:t>
            </a:r>
          </a:p>
          <a:p>
            <a:pPr eaLnBrk="1" hangingPunct="1"/>
            <a:r>
              <a:rPr lang="en-US" sz="2400" smtClean="0">
                <a:latin typeface="Verdana" pitchFamily="34" charset="0"/>
              </a:rPr>
              <a:t>The Register description should be kept available </a:t>
            </a:r>
          </a:p>
          <a:p>
            <a:pPr eaLnBrk="1" hangingPunct="1">
              <a:buFontTx/>
              <a:buNone/>
            </a:pPr>
            <a:endParaRPr lang="en-US" sz="2000" smtClean="0">
              <a:latin typeface="Verdana" pitchFamily="34" charset="0"/>
            </a:endParaRPr>
          </a:p>
          <a:p>
            <a:pPr eaLnBrk="1" hangingPunct="1">
              <a:buFontTx/>
              <a:buNone/>
            </a:pPr>
            <a:endParaRPr lang="en-US" sz="2000" i="1" smtClean="0">
              <a:latin typeface="Verdana" pitchFamily="34" charset="0"/>
            </a:endParaRPr>
          </a:p>
          <a:p>
            <a:pPr eaLnBrk="1" hangingPunct="1">
              <a:buFontTx/>
              <a:buNone/>
            </a:pPr>
            <a:endParaRPr lang="en-US" sz="2000" b="1" i="1" smtClean="0">
              <a:latin typeface="Verdana" pitchFamily="34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tsikko 1"/>
          <p:cNvSpPr>
            <a:spLocks noGrp="1"/>
          </p:cNvSpPr>
          <p:nvPr>
            <p:ph type="title"/>
          </p:nvPr>
        </p:nvSpPr>
        <p:spPr>
          <a:xfrm>
            <a:off x="468313" y="765175"/>
            <a:ext cx="8229600" cy="1143000"/>
          </a:xfrm>
        </p:spPr>
        <p:txBody>
          <a:bodyPr/>
          <a:lstStyle/>
          <a:p>
            <a:r>
              <a:rPr lang="fi-FI" sz="2400" b="1" smtClean="0">
                <a:solidFill>
                  <a:srgbClr val="7030A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Example of list of data items in the Finnish population census data file</a:t>
            </a:r>
          </a:p>
        </p:txBody>
      </p:sp>
      <p:sp>
        <p:nvSpPr>
          <p:cNvPr id="8195" name="Sisällön paikkamerkki 2"/>
          <p:cNvSpPr>
            <a:spLocks noGrp="1"/>
          </p:cNvSpPr>
          <p:nvPr>
            <p:ph idx="1"/>
          </p:nvPr>
        </p:nvSpPr>
        <p:spPr>
          <a:xfrm>
            <a:off x="395288" y="1844675"/>
            <a:ext cx="3898900" cy="4525963"/>
          </a:xfrm>
        </p:spPr>
        <p:txBody>
          <a:bodyPr/>
          <a:lstStyle/>
          <a:p>
            <a:r>
              <a:rPr lang="fi-FI" sz="1800" b="1" smtClean="0"/>
              <a:t>Identity code</a:t>
            </a:r>
          </a:p>
          <a:p>
            <a:r>
              <a:rPr lang="fi-FI" sz="1800" b="1" smtClean="0"/>
              <a:t>Age</a:t>
            </a:r>
          </a:p>
          <a:p>
            <a:pPr>
              <a:buFontTx/>
              <a:buNone/>
            </a:pPr>
            <a:r>
              <a:rPr lang="en-US" sz="1800" smtClean="0"/>
              <a:t>	Age in years at 31 Dec 2000</a:t>
            </a:r>
          </a:p>
          <a:p>
            <a:r>
              <a:rPr lang="fi-FI" sz="1800" b="1" smtClean="0"/>
              <a:t>Sex</a:t>
            </a:r>
          </a:p>
          <a:p>
            <a:pPr>
              <a:buFontTx/>
              <a:buNone/>
            </a:pPr>
            <a:r>
              <a:rPr lang="fi-FI" sz="1800" smtClean="0"/>
              <a:t>	− male</a:t>
            </a:r>
          </a:p>
          <a:p>
            <a:pPr>
              <a:buFontTx/>
              <a:buNone/>
            </a:pPr>
            <a:r>
              <a:rPr lang="fi-FI" sz="1800" smtClean="0"/>
              <a:t>	− female</a:t>
            </a:r>
          </a:p>
          <a:p>
            <a:r>
              <a:rPr lang="fi-FI" sz="1800" b="1" smtClean="0"/>
              <a:t>Marital status</a:t>
            </a:r>
          </a:p>
          <a:p>
            <a:pPr>
              <a:buFontTx/>
              <a:buNone/>
            </a:pPr>
            <a:r>
              <a:rPr lang="fi-FI" sz="1800" smtClean="0"/>
              <a:t>	− unmarried</a:t>
            </a:r>
          </a:p>
          <a:p>
            <a:pPr>
              <a:buFontTx/>
              <a:buNone/>
            </a:pPr>
            <a:r>
              <a:rPr lang="fi-FI" sz="1800" smtClean="0"/>
              <a:t>	− married</a:t>
            </a:r>
          </a:p>
          <a:p>
            <a:pPr>
              <a:buFontTx/>
              <a:buNone/>
            </a:pPr>
            <a:r>
              <a:rPr lang="fi-FI" sz="1800" smtClean="0"/>
              <a:t>	− widowed</a:t>
            </a:r>
          </a:p>
          <a:p>
            <a:pPr>
              <a:buFontTx/>
              <a:buNone/>
            </a:pPr>
            <a:r>
              <a:rPr lang="fi-FI" sz="1800" smtClean="0"/>
              <a:t>	− divorced</a:t>
            </a:r>
          </a:p>
          <a:p>
            <a:r>
              <a:rPr lang="fi-FI" sz="1800" b="1" smtClean="0"/>
              <a:t>Language</a:t>
            </a:r>
          </a:p>
          <a:p>
            <a:r>
              <a:rPr lang="fi-FI" sz="1800" b="1" smtClean="0"/>
              <a:t>Nationality</a:t>
            </a:r>
          </a:p>
          <a:p>
            <a:r>
              <a:rPr lang="fi-FI" sz="1800" b="1" smtClean="0"/>
              <a:t>Religion</a:t>
            </a:r>
          </a:p>
        </p:txBody>
      </p:sp>
      <p:sp>
        <p:nvSpPr>
          <p:cNvPr id="8196" name="Tekstikehys 4"/>
          <p:cNvSpPr txBox="1">
            <a:spLocks noChangeArrowheads="1"/>
          </p:cNvSpPr>
          <p:nvPr/>
        </p:nvSpPr>
        <p:spPr bwMode="auto">
          <a:xfrm>
            <a:off x="4572000" y="1844675"/>
            <a:ext cx="3816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Main type of activity (LF)</a:t>
            </a:r>
          </a:p>
          <a:p>
            <a:r>
              <a:rPr lang="fi-FI"/>
              <a:t>Labour force</a:t>
            </a:r>
          </a:p>
          <a:p>
            <a:r>
              <a:rPr lang="fi-FI"/>
              <a:t>− employed</a:t>
            </a:r>
          </a:p>
          <a:p>
            <a:r>
              <a:rPr lang="fi-FI"/>
              <a:t>− unemployed</a:t>
            </a:r>
          </a:p>
          <a:p>
            <a:r>
              <a:rPr lang="fi-FI"/>
              <a:t>Outside labour force</a:t>
            </a:r>
          </a:p>
          <a:p>
            <a:r>
              <a:rPr lang="fi-FI"/>
              <a:t>− 0-14-year-old</a:t>
            </a:r>
          </a:p>
          <a:p>
            <a:r>
              <a:rPr lang="fi-FI"/>
              <a:t>− student</a:t>
            </a:r>
          </a:p>
          <a:p>
            <a:r>
              <a:rPr lang="fi-FI"/>
              <a:t>− pensioner</a:t>
            </a:r>
          </a:p>
          <a:p>
            <a:r>
              <a:rPr lang="fi-FI"/>
              <a:t>− conscript, conscientious objector</a:t>
            </a:r>
          </a:p>
          <a:p>
            <a:r>
              <a:rPr lang="fi-FI"/>
              <a:t>− other</a:t>
            </a:r>
          </a:p>
          <a:p>
            <a:r>
              <a:rPr lang="fi-FI" b="1"/>
              <a:t>Occupational status</a:t>
            </a:r>
          </a:p>
          <a:p>
            <a:r>
              <a:rPr lang="fi-FI"/>
              <a:t>− wage earner</a:t>
            </a:r>
          </a:p>
          <a:p>
            <a:r>
              <a:rPr lang="fi-FI"/>
              <a:t>− self-employed</a:t>
            </a:r>
          </a:p>
          <a:p>
            <a:r>
              <a:rPr lang="fi-FI" b="1"/>
              <a:t>Occupation</a:t>
            </a:r>
          </a:p>
          <a:p>
            <a:r>
              <a:rPr lang="en-US"/>
              <a:t>Code according to Statistics Finland’s 1997 and</a:t>
            </a:r>
          </a:p>
          <a:p>
            <a:r>
              <a:rPr lang="fi-FI"/>
              <a:t>2001 classifications of occupations.</a:t>
            </a:r>
            <a:endParaRPr lang="fi-FI" b="1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sp>
        <p:nvSpPr>
          <p:cNvPr id="8198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orakulmio 10"/>
          <p:cNvSpPr/>
          <p:nvPr/>
        </p:nvSpPr>
        <p:spPr>
          <a:xfrm>
            <a:off x="4427538" y="2133600"/>
            <a:ext cx="1800225" cy="358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600" dirty="0">
                <a:solidFill>
                  <a:schemeClr val="tx1"/>
                </a:solidFill>
              </a:rPr>
              <a:t>HOSPITALS</a:t>
            </a:r>
          </a:p>
        </p:txBody>
      </p:sp>
      <p:sp>
        <p:nvSpPr>
          <p:cNvPr id="10" name="Suorakulmio 9"/>
          <p:cNvSpPr/>
          <p:nvPr/>
        </p:nvSpPr>
        <p:spPr>
          <a:xfrm>
            <a:off x="2627313" y="2133600"/>
            <a:ext cx="1584325" cy="358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600" dirty="0">
                <a:solidFill>
                  <a:schemeClr val="tx1"/>
                </a:solidFill>
              </a:rPr>
              <a:t>PARISHES</a:t>
            </a:r>
          </a:p>
        </p:txBody>
      </p:sp>
      <p:sp>
        <p:nvSpPr>
          <p:cNvPr id="9" name="Suorakulmio 8"/>
          <p:cNvSpPr/>
          <p:nvPr/>
        </p:nvSpPr>
        <p:spPr>
          <a:xfrm>
            <a:off x="755650" y="2133600"/>
            <a:ext cx="1655763" cy="358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600" dirty="0">
                <a:solidFill>
                  <a:schemeClr val="tx1"/>
                </a:solidFill>
              </a:rPr>
              <a:t>CITIZEN</a:t>
            </a:r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525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latin typeface="Verdana" pitchFamily="34" charset="0"/>
              </a:rPr>
              <a:t/>
            </a:r>
            <a:br>
              <a:rPr lang="en-US" sz="2400" b="1" smtClean="0">
                <a:latin typeface="Verdana" pitchFamily="34" charset="0"/>
              </a:rPr>
            </a:br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Authorities responsible for updating the population information system</a:t>
            </a:r>
            <a:r>
              <a:rPr lang="en-US" sz="2400" b="1" smtClean="0">
                <a:latin typeface="Verdana" pitchFamily="34" charset="0"/>
              </a:rPr>
              <a:t/>
            </a:r>
            <a:br>
              <a:rPr lang="en-US" sz="2400" b="1" smtClean="0">
                <a:latin typeface="Verdana" pitchFamily="34" charset="0"/>
              </a:rPr>
            </a:br>
            <a:r>
              <a:rPr lang="en-US" sz="2400" b="1" smtClean="0">
                <a:latin typeface="Verdana" pitchFamily="34" charset="0"/>
              </a:rPr>
              <a:t/>
            </a:r>
            <a:br>
              <a:rPr lang="en-US" sz="2400" b="1" smtClean="0">
                <a:latin typeface="Verdana" pitchFamily="34" charset="0"/>
              </a:rPr>
            </a:br>
            <a:endParaRPr lang="en-US" sz="2400" b="1" smtClean="0">
              <a:latin typeface="Verdana" pitchFamily="34" charset="0"/>
            </a:endParaRPr>
          </a:p>
        </p:txBody>
      </p:sp>
      <p:sp>
        <p:nvSpPr>
          <p:cNvPr id="9222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9223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sp>
        <p:nvSpPr>
          <p:cNvPr id="12" name="Suorakulmio 11"/>
          <p:cNvSpPr/>
          <p:nvPr/>
        </p:nvSpPr>
        <p:spPr>
          <a:xfrm>
            <a:off x="6443663" y="2133600"/>
            <a:ext cx="1584325" cy="358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600" dirty="0">
                <a:solidFill>
                  <a:schemeClr val="tx1"/>
                </a:solidFill>
              </a:rPr>
              <a:t>COURTS</a:t>
            </a:r>
          </a:p>
        </p:txBody>
      </p:sp>
      <p:sp>
        <p:nvSpPr>
          <p:cNvPr id="13" name="Tasakylkinen kolmio 12"/>
          <p:cNvSpPr/>
          <p:nvPr/>
        </p:nvSpPr>
        <p:spPr>
          <a:xfrm rot="10800000">
            <a:off x="1116013" y="2708275"/>
            <a:ext cx="863600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14" name="Tasakylkinen kolmio 13"/>
          <p:cNvSpPr/>
          <p:nvPr/>
        </p:nvSpPr>
        <p:spPr>
          <a:xfrm rot="10800000">
            <a:off x="2987675" y="2708275"/>
            <a:ext cx="863600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15" name="Tasakylkinen kolmio 14"/>
          <p:cNvSpPr/>
          <p:nvPr/>
        </p:nvSpPr>
        <p:spPr>
          <a:xfrm rot="10800000">
            <a:off x="4859338" y="2708275"/>
            <a:ext cx="865187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16" name="Tasakylkinen kolmio 15"/>
          <p:cNvSpPr/>
          <p:nvPr/>
        </p:nvSpPr>
        <p:spPr>
          <a:xfrm rot="10800000">
            <a:off x="6804025" y="2708275"/>
            <a:ext cx="863600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17" name="Suorakulmio 16"/>
          <p:cNvSpPr/>
          <p:nvPr/>
        </p:nvSpPr>
        <p:spPr>
          <a:xfrm>
            <a:off x="684213" y="5589588"/>
            <a:ext cx="1655762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>
                <a:solidFill>
                  <a:schemeClr val="tx1"/>
                </a:solidFill>
              </a:rPr>
              <a:t>PROVINCIAL</a:t>
            </a:r>
          </a:p>
          <a:p>
            <a:pPr algn="ctr">
              <a:defRPr/>
            </a:pPr>
            <a:r>
              <a:rPr lang="fi-FI" sz="1400" dirty="0">
                <a:solidFill>
                  <a:schemeClr val="tx1"/>
                </a:solidFill>
              </a:rPr>
              <a:t>OFFICES</a:t>
            </a:r>
          </a:p>
        </p:txBody>
      </p:sp>
      <p:sp>
        <p:nvSpPr>
          <p:cNvPr id="18" name="Suorakulmio 17"/>
          <p:cNvSpPr/>
          <p:nvPr/>
        </p:nvSpPr>
        <p:spPr>
          <a:xfrm>
            <a:off x="2555875" y="5589588"/>
            <a:ext cx="1655763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>
                <a:solidFill>
                  <a:schemeClr val="tx1"/>
                </a:solidFill>
              </a:rPr>
              <a:t>DIRECTORATE </a:t>
            </a:r>
          </a:p>
          <a:p>
            <a:pPr algn="ctr">
              <a:defRPr/>
            </a:pPr>
            <a:r>
              <a:rPr lang="fi-FI" sz="1400" dirty="0">
                <a:solidFill>
                  <a:schemeClr val="tx1"/>
                </a:solidFill>
              </a:rPr>
              <a:t>OF MIGRATION</a:t>
            </a:r>
          </a:p>
        </p:txBody>
      </p:sp>
      <p:sp>
        <p:nvSpPr>
          <p:cNvPr id="19" name="Suorakulmio 18"/>
          <p:cNvSpPr/>
          <p:nvPr/>
        </p:nvSpPr>
        <p:spPr>
          <a:xfrm>
            <a:off x="4427538" y="5589588"/>
            <a:ext cx="1657350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>
                <a:solidFill>
                  <a:schemeClr val="tx1"/>
                </a:solidFill>
              </a:rPr>
              <a:t>BUILDING INSPECTORS</a:t>
            </a:r>
          </a:p>
        </p:txBody>
      </p:sp>
      <p:sp>
        <p:nvSpPr>
          <p:cNvPr id="20" name="Suorakulmio 19"/>
          <p:cNvSpPr/>
          <p:nvPr/>
        </p:nvSpPr>
        <p:spPr>
          <a:xfrm>
            <a:off x="6372225" y="5589588"/>
            <a:ext cx="1655763" cy="5032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>
                <a:solidFill>
                  <a:schemeClr val="tx1"/>
                </a:solidFill>
              </a:rPr>
              <a:t>REAL ESTATE AUTHORITIES</a:t>
            </a:r>
          </a:p>
        </p:txBody>
      </p:sp>
      <p:sp>
        <p:nvSpPr>
          <p:cNvPr id="21" name="Tasakylkinen kolmio 20"/>
          <p:cNvSpPr/>
          <p:nvPr/>
        </p:nvSpPr>
        <p:spPr>
          <a:xfrm>
            <a:off x="1187450" y="5229225"/>
            <a:ext cx="863600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22" name="Tasakylkinen kolmio 21"/>
          <p:cNvSpPr/>
          <p:nvPr/>
        </p:nvSpPr>
        <p:spPr>
          <a:xfrm>
            <a:off x="2987675" y="5229225"/>
            <a:ext cx="863600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23" name="Tasakylkinen kolmio 22"/>
          <p:cNvSpPr/>
          <p:nvPr/>
        </p:nvSpPr>
        <p:spPr>
          <a:xfrm>
            <a:off x="4859338" y="5229225"/>
            <a:ext cx="865187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24" name="Tasakylkinen kolmio 23"/>
          <p:cNvSpPr/>
          <p:nvPr/>
        </p:nvSpPr>
        <p:spPr>
          <a:xfrm>
            <a:off x="6804025" y="5229225"/>
            <a:ext cx="863600" cy="2159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9237" name="Tekstikehys 25"/>
          <p:cNvSpPr txBox="1">
            <a:spLocks noChangeArrowheads="1"/>
          </p:cNvSpPr>
          <p:nvPr/>
        </p:nvSpPr>
        <p:spPr bwMode="auto">
          <a:xfrm>
            <a:off x="1042988" y="2997200"/>
            <a:ext cx="1012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200"/>
              <a:t>changes of </a:t>
            </a:r>
          </a:p>
          <a:p>
            <a:r>
              <a:rPr lang="fi-FI" sz="1200"/>
              <a:t>address</a:t>
            </a:r>
          </a:p>
        </p:txBody>
      </p:sp>
      <p:sp>
        <p:nvSpPr>
          <p:cNvPr id="9238" name="Tekstikehys 27"/>
          <p:cNvSpPr txBox="1">
            <a:spLocks noChangeArrowheads="1"/>
          </p:cNvSpPr>
          <p:nvPr/>
        </p:nvSpPr>
        <p:spPr bwMode="auto">
          <a:xfrm>
            <a:off x="2987675" y="2997200"/>
            <a:ext cx="9096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200"/>
              <a:t>marriages,</a:t>
            </a:r>
          </a:p>
          <a:p>
            <a:r>
              <a:rPr lang="fi-FI" sz="1200"/>
              <a:t>names</a:t>
            </a:r>
          </a:p>
        </p:txBody>
      </p:sp>
      <p:sp>
        <p:nvSpPr>
          <p:cNvPr id="9239" name="Tekstikehys 28"/>
          <p:cNvSpPr txBox="1">
            <a:spLocks noChangeArrowheads="1"/>
          </p:cNvSpPr>
          <p:nvPr/>
        </p:nvSpPr>
        <p:spPr bwMode="auto">
          <a:xfrm>
            <a:off x="4932363" y="2997200"/>
            <a:ext cx="6873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i-FI" sz="1200"/>
              <a:t>births,</a:t>
            </a:r>
          </a:p>
          <a:p>
            <a:r>
              <a:rPr lang="fi-FI" sz="1200"/>
              <a:t> deaths</a:t>
            </a:r>
          </a:p>
        </p:txBody>
      </p:sp>
      <p:sp>
        <p:nvSpPr>
          <p:cNvPr id="9240" name="Tekstikehys 29"/>
          <p:cNvSpPr txBox="1">
            <a:spLocks noChangeArrowheads="1"/>
          </p:cNvSpPr>
          <p:nvPr/>
        </p:nvSpPr>
        <p:spPr bwMode="auto">
          <a:xfrm>
            <a:off x="6804025" y="2997200"/>
            <a:ext cx="93503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i-FI" sz="1200"/>
              <a:t>divorces,</a:t>
            </a:r>
          </a:p>
          <a:p>
            <a:r>
              <a:rPr lang="fi-FI" sz="1200"/>
              <a:t> adoptions,</a:t>
            </a:r>
          </a:p>
          <a:p>
            <a:r>
              <a:rPr lang="fi-FI" sz="1200"/>
              <a:t>peternity</a:t>
            </a:r>
          </a:p>
        </p:txBody>
      </p:sp>
      <p:sp>
        <p:nvSpPr>
          <p:cNvPr id="9241" name="Tekstikehys 31"/>
          <p:cNvSpPr txBox="1">
            <a:spLocks noChangeArrowheads="1"/>
          </p:cNvSpPr>
          <p:nvPr/>
        </p:nvSpPr>
        <p:spPr bwMode="auto">
          <a:xfrm>
            <a:off x="1116013" y="4724400"/>
            <a:ext cx="977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i-FI" sz="1200"/>
              <a:t>changes of </a:t>
            </a:r>
          </a:p>
          <a:p>
            <a:r>
              <a:rPr lang="fi-FI" sz="1200"/>
              <a:t>names</a:t>
            </a:r>
          </a:p>
        </p:txBody>
      </p:sp>
      <p:sp>
        <p:nvSpPr>
          <p:cNvPr id="9242" name="Tekstikehys 32"/>
          <p:cNvSpPr txBox="1">
            <a:spLocks noChangeArrowheads="1"/>
          </p:cNvSpPr>
          <p:nvPr/>
        </p:nvSpPr>
        <p:spPr bwMode="auto">
          <a:xfrm>
            <a:off x="2987675" y="4868863"/>
            <a:ext cx="900113" cy="277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i-FI" sz="1200"/>
              <a:t>citizenship</a:t>
            </a:r>
          </a:p>
        </p:txBody>
      </p:sp>
      <p:sp>
        <p:nvSpPr>
          <p:cNvPr id="9243" name="Tekstikehys 33"/>
          <p:cNvSpPr txBox="1">
            <a:spLocks noChangeArrowheads="1"/>
          </p:cNvSpPr>
          <p:nvPr/>
        </p:nvSpPr>
        <p:spPr bwMode="auto">
          <a:xfrm>
            <a:off x="4787900" y="4724400"/>
            <a:ext cx="13414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i-FI" sz="1200"/>
              <a:t>data on buildings</a:t>
            </a:r>
          </a:p>
          <a:p>
            <a:r>
              <a:rPr lang="fi-FI" sz="1200"/>
              <a:t>and dwellings</a:t>
            </a:r>
          </a:p>
        </p:txBody>
      </p:sp>
      <p:sp>
        <p:nvSpPr>
          <p:cNvPr id="9244" name="Tekstikehys 34"/>
          <p:cNvSpPr txBox="1">
            <a:spLocks noChangeArrowheads="1"/>
          </p:cNvSpPr>
          <p:nvPr/>
        </p:nvSpPr>
        <p:spPr bwMode="auto">
          <a:xfrm>
            <a:off x="6804025" y="4724400"/>
            <a:ext cx="993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fi-FI" sz="1200"/>
              <a:t>data on real</a:t>
            </a:r>
          </a:p>
          <a:p>
            <a:r>
              <a:rPr lang="fi-FI" sz="1200"/>
              <a:t>estates</a:t>
            </a:r>
          </a:p>
        </p:txBody>
      </p:sp>
      <p:sp>
        <p:nvSpPr>
          <p:cNvPr id="36" name="Suorakulmio 35"/>
          <p:cNvSpPr/>
          <p:nvPr/>
        </p:nvSpPr>
        <p:spPr>
          <a:xfrm>
            <a:off x="2195513" y="3716338"/>
            <a:ext cx="4392612" cy="9366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b="1" dirty="0">
                <a:solidFill>
                  <a:schemeClr val="tx1"/>
                </a:solidFill>
              </a:rPr>
              <a:t>POPULATION INFORMATION SYSTEM</a:t>
            </a:r>
          </a:p>
          <a:p>
            <a:pPr algn="ctr">
              <a:defRPr/>
            </a:pPr>
            <a:r>
              <a:rPr lang="fi-FI" dirty="0" err="1">
                <a:solidFill>
                  <a:schemeClr val="tx1"/>
                </a:solidFill>
              </a:rPr>
              <a:t>Population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Register</a:t>
            </a:r>
            <a:r>
              <a:rPr lang="fi-FI" dirty="0">
                <a:solidFill>
                  <a:schemeClr val="tx1"/>
                </a:solidFill>
              </a:rPr>
              <a:t> Centre</a:t>
            </a:r>
          </a:p>
          <a:p>
            <a:pPr algn="ctr">
              <a:defRPr/>
            </a:pPr>
            <a:r>
              <a:rPr lang="fi-FI" dirty="0" err="1">
                <a:solidFill>
                  <a:schemeClr val="tx1"/>
                </a:solidFill>
              </a:rPr>
              <a:t>Local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Register</a:t>
            </a:r>
            <a:r>
              <a:rPr lang="fi-FI" dirty="0">
                <a:solidFill>
                  <a:schemeClr val="tx1"/>
                </a:solidFill>
              </a:rPr>
              <a:t> </a:t>
            </a:r>
            <a:r>
              <a:rPr lang="fi-FI" dirty="0" err="1">
                <a:solidFill>
                  <a:schemeClr val="tx1"/>
                </a:solidFill>
              </a:rPr>
              <a:t>Offices</a:t>
            </a:r>
            <a:endParaRPr lang="fi-FI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8229600" cy="1295400"/>
          </a:xfrm>
        </p:spPr>
        <p:txBody>
          <a:bodyPr/>
          <a:lstStyle/>
          <a:p>
            <a:r>
              <a:rPr lang="fi-FI" sz="2400" b="1" smtClean="0">
                <a:solidFill>
                  <a:srgbClr val="7030A0"/>
                </a:solidFill>
                <a:latin typeface="Verdana" pitchFamily="34" charset="0"/>
              </a:rPr>
              <a:t>Present process for obtaining register data for research</a:t>
            </a:r>
            <a:r>
              <a:rPr lang="fi-FI" sz="2400" smtClean="0">
                <a:latin typeface="Verdana" pitchFamily="34" charset="0"/>
              </a:rPr>
              <a:t/>
            </a:r>
            <a:br>
              <a:rPr lang="fi-FI" sz="2400" smtClean="0">
                <a:latin typeface="Verdana" pitchFamily="34" charset="0"/>
              </a:rPr>
            </a:br>
            <a:r>
              <a:rPr lang="fi-FI" sz="2400" smtClean="0">
                <a:latin typeface="Verdana" pitchFamily="34" charset="0"/>
              </a:rPr>
              <a:t>	</a:t>
            </a:r>
            <a:br>
              <a:rPr lang="fi-FI" sz="2400" smtClean="0">
                <a:latin typeface="Verdana" pitchFamily="34" charset="0"/>
              </a:rPr>
            </a:br>
            <a:endParaRPr lang="en-US" sz="2400" smtClean="0">
              <a:latin typeface="Verdana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229600" cy="4751387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800" b="1" smtClean="0">
                <a:latin typeface="Verdana" pitchFamily="34" charset="0"/>
              </a:rPr>
              <a:t> 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1800" b="1" smtClean="0">
              <a:latin typeface="Verdana" pitchFamily="34" charset="0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sp>
        <p:nvSpPr>
          <p:cNvPr id="10" name="Ellipsi 9"/>
          <p:cNvSpPr/>
          <p:nvPr/>
        </p:nvSpPr>
        <p:spPr>
          <a:xfrm>
            <a:off x="3348038" y="1773238"/>
            <a:ext cx="2376487" cy="100806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defPPr>
              <a:defRPr lang="fi-FI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i-FI" sz="1400" b="1" dirty="0" smtClean="0">
                <a:solidFill>
                  <a:srgbClr val="000000"/>
                </a:solidFill>
              </a:rPr>
              <a:t>   RESEARCHER</a:t>
            </a:r>
            <a:endParaRPr lang="fi-FI" sz="1400" b="1" dirty="0">
              <a:solidFill>
                <a:srgbClr val="000000"/>
              </a:solidFill>
            </a:endParaRPr>
          </a:p>
        </p:txBody>
      </p:sp>
      <p:grpSp>
        <p:nvGrpSpPr>
          <p:cNvPr id="10247" name="Ryhmä 44"/>
          <p:cNvGrpSpPr>
            <a:grpSpLocks/>
          </p:cNvGrpSpPr>
          <p:nvPr/>
        </p:nvGrpSpPr>
        <p:grpSpPr bwMode="auto">
          <a:xfrm>
            <a:off x="611188" y="2205038"/>
            <a:ext cx="8137525" cy="4486275"/>
            <a:chOff x="503548" y="1516345"/>
            <a:chExt cx="8136904" cy="4377643"/>
          </a:xfrm>
        </p:grpSpPr>
        <p:sp>
          <p:nvSpPr>
            <p:cNvPr id="7" name="Pyöristetty suorakulmio 6"/>
            <p:cNvSpPr/>
            <p:nvPr/>
          </p:nvSpPr>
          <p:spPr>
            <a:xfrm>
              <a:off x="679747" y="3748540"/>
              <a:ext cx="1000049" cy="91394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i-FI" sz="1400" dirty="0" err="1" smtClean="0">
                  <a:solidFill>
                    <a:srgbClr val="000000"/>
                  </a:solidFill>
                </a:rPr>
                <a:t>Authority</a:t>
              </a:r>
              <a:endParaRPr lang="fi-FI" sz="1400" dirty="0">
                <a:solidFill>
                  <a:srgbClr val="000000"/>
                </a:solidFill>
              </a:endParaRPr>
            </a:p>
          </p:txBody>
        </p:sp>
        <p:sp>
          <p:nvSpPr>
            <p:cNvPr id="8" name="Pyöristetty suorakulmio 7"/>
            <p:cNvSpPr/>
            <p:nvPr/>
          </p:nvSpPr>
          <p:spPr>
            <a:xfrm>
              <a:off x="3108436" y="3748540"/>
              <a:ext cx="1071481" cy="91394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i-FI" sz="1400" dirty="0" err="1" smtClean="0">
                  <a:solidFill>
                    <a:srgbClr val="000000"/>
                  </a:solidFill>
                </a:rPr>
                <a:t>Authority</a:t>
              </a:r>
              <a:endParaRPr lang="fi-FI" sz="1400" dirty="0">
                <a:solidFill>
                  <a:srgbClr val="000000"/>
                </a:solidFill>
              </a:endParaRPr>
            </a:p>
          </p:txBody>
        </p:sp>
        <p:sp>
          <p:nvSpPr>
            <p:cNvPr id="9" name="Pyöristetty suorakulmio 8"/>
            <p:cNvSpPr/>
            <p:nvPr/>
          </p:nvSpPr>
          <p:spPr>
            <a:xfrm>
              <a:off x="7467379" y="3677283"/>
              <a:ext cx="1057194" cy="91394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i-FI" sz="1400" dirty="0" err="1" smtClean="0">
                  <a:solidFill>
                    <a:srgbClr val="000000"/>
                  </a:solidFill>
                </a:rPr>
                <a:t>Authority</a:t>
              </a:r>
              <a:endParaRPr lang="fi-FI" sz="1400" dirty="0">
                <a:solidFill>
                  <a:srgbClr val="000000"/>
                </a:solidFill>
              </a:endParaRPr>
            </a:p>
          </p:txBody>
        </p:sp>
        <p:sp>
          <p:nvSpPr>
            <p:cNvPr id="11" name="Pyöristetty suorakulmio 10"/>
            <p:cNvSpPr/>
            <p:nvPr/>
          </p:nvSpPr>
          <p:spPr>
            <a:xfrm>
              <a:off x="5184728" y="3748540"/>
              <a:ext cx="1071481" cy="91394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i-FI" sz="1400" dirty="0" err="1" smtClean="0">
                  <a:solidFill>
                    <a:srgbClr val="000000"/>
                  </a:solidFill>
                </a:rPr>
                <a:t>Authority</a:t>
              </a:r>
              <a:endParaRPr lang="fi-FI" sz="1400" dirty="0">
                <a:solidFill>
                  <a:srgbClr val="000000"/>
                </a:solidFill>
              </a:endParaRPr>
            </a:p>
          </p:txBody>
        </p:sp>
        <p:cxnSp>
          <p:nvCxnSpPr>
            <p:cNvPr id="12" name="Suora yhdysviiva 11"/>
            <p:cNvCxnSpPr/>
            <p:nvPr/>
          </p:nvCxnSpPr>
          <p:spPr>
            <a:xfrm rot="16200000" flipH="1">
              <a:off x="4643903" y="2855318"/>
              <a:ext cx="1000693" cy="78575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59" name="Tekstikehys 43"/>
            <p:cNvSpPr txBox="1">
              <a:spLocks noChangeArrowheads="1"/>
            </p:cNvSpPr>
            <p:nvPr/>
          </p:nvSpPr>
          <p:spPr bwMode="auto">
            <a:xfrm>
              <a:off x="2823208" y="2677031"/>
              <a:ext cx="384175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>
                  <a:solidFill>
                    <a:srgbClr val="000000"/>
                  </a:solidFill>
                </a:rPr>
                <a:t>§</a:t>
              </a:r>
            </a:p>
          </p:txBody>
        </p:sp>
        <p:sp>
          <p:nvSpPr>
            <p:cNvPr id="10260" name="Tekstikehys 45"/>
            <p:cNvSpPr txBox="1">
              <a:spLocks noChangeArrowheads="1"/>
            </p:cNvSpPr>
            <p:nvPr/>
          </p:nvSpPr>
          <p:spPr bwMode="auto">
            <a:xfrm>
              <a:off x="3527884" y="3132535"/>
              <a:ext cx="3841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>
                  <a:solidFill>
                    <a:srgbClr val="000000"/>
                  </a:solidFill>
                </a:rPr>
                <a:t>§</a:t>
              </a:r>
            </a:p>
          </p:txBody>
        </p:sp>
        <p:sp>
          <p:nvSpPr>
            <p:cNvPr id="10261" name="Tekstikehys 47"/>
            <p:cNvSpPr txBox="1">
              <a:spLocks noChangeArrowheads="1"/>
            </p:cNvSpPr>
            <p:nvPr/>
          </p:nvSpPr>
          <p:spPr bwMode="auto">
            <a:xfrm>
              <a:off x="4966333" y="3105656"/>
              <a:ext cx="384175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>
                  <a:solidFill>
                    <a:srgbClr val="000000"/>
                  </a:solidFill>
                </a:rPr>
                <a:t>§</a:t>
              </a:r>
            </a:p>
          </p:txBody>
        </p:sp>
        <p:sp>
          <p:nvSpPr>
            <p:cNvPr id="10262" name="Tekstikehys 49"/>
            <p:cNvSpPr txBox="1">
              <a:spLocks noChangeArrowheads="1"/>
            </p:cNvSpPr>
            <p:nvPr/>
          </p:nvSpPr>
          <p:spPr bwMode="auto">
            <a:xfrm>
              <a:off x="6768244" y="2884497"/>
              <a:ext cx="3841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>
                  <a:solidFill>
                    <a:srgbClr val="000000"/>
                  </a:solidFill>
                </a:rPr>
                <a:t>§</a:t>
              </a:r>
            </a:p>
          </p:txBody>
        </p:sp>
        <p:cxnSp>
          <p:nvCxnSpPr>
            <p:cNvPr id="17" name="Suora nuoliyhdysviiva 16"/>
            <p:cNvCxnSpPr/>
            <p:nvPr/>
          </p:nvCxnSpPr>
          <p:spPr>
            <a:xfrm rot="10800000" flipV="1">
              <a:off x="1151199" y="2740102"/>
              <a:ext cx="2449325" cy="999143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uora nuoliyhdysviiva 17"/>
            <p:cNvCxnSpPr/>
            <p:nvPr/>
          </p:nvCxnSpPr>
          <p:spPr>
            <a:xfrm rot="5400000">
              <a:off x="3423897" y="3099694"/>
              <a:ext cx="927886" cy="43176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uora nuoliyhdysviiva 18"/>
            <p:cNvCxnSpPr/>
            <p:nvPr/>
          </p:nvCxnSpPr>
          <p:spPr>
            <a:xfrm rot="16200000" flipH="1">
              <a:off x="4643109" y="2854524"/>
              <a:ext cx="1000693" cy="78734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uora nuoliyhdysviiva 19"/>
            <p:cNvCxnSpPr/>
            <p:nvPr/>
          </p:nvCxnSpPr>
          <p:spPr>
            <a:xfrm>
              <a:off x="5616495" y="2668845"/>
              <a:ext cx="2208044" cy="1008437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267" name="Tekstikehys 78"/>
            <p:cNvSpPr txBox="1">
              <a:spLocks noChangeArrowheads="1"/>
            </p:cNvSpPr>
            <p:nvPr/>
          </p:nvSpPr>
          <p:spPr bwMode="auto">
            <a:xfrm>
              <a:off x="3037520" y="4963031"/>
              <a:ext cx="3010644" cy="9309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Font typeface="Arial" charset="0"/>
                <a:buChar char="•"/>
              </a:pPr>
              <a:r>
                <a:rPr lang="fi-FI" sz="1400">
                  <a:solidFill>
                    <a:srgbClr val="000000"/>
                  </a:solidFill>
                </a:rPr>
                <a:t>Handling permit applications</a:t>
              </a:r>
            </a:p>
            <a:p>
              <a:pPr>
                <a:buFont typeface="Arial" charset="0"/>
                <a:buChar char="•"/>
              </a:pPr>
              <a:r>
                <a:rPr lang="fi-FI" sz="1400">
                  <a:solidFill>
                    <a:srgbClr val="000000"/>
                  </a:solidFill>
                </a:rPr>
                <a:t>Control and specification</a:t>
              </a:r>
            </a:p>
            <a:p>
              <a:pPr>
                <a:buFont typeface="Arial" charset="0"/>
                <a:buChar char="•"/>
              </a:pPr>
              <a:r>
                <a:rPr lang="fi-FI" sz="1400">
                  <a:solidFill>
                    <a:srgbClr val="000000"/>
                  </a:solidFill>
                </a:rPr>
                <a:t>Compiling data-sets</a:t>
              </a:r>
            </a:p>
            <a:p>
              <a:pPr>
                <a:buFont typeface="Arial" charset="0"/>
                <a:buChar char="•"/>
              </a:pPr>
              <a:r>
                <a:rPr lang="fi-FI" sz="1400">
                  <a:solidFill>
                    <a:srgbClr val="000000"/>
                  </a:solidFill>
                </a:rPr>
                <a:t>Meta data</a:t>
              </a:r>
              <a:endParaRPr lang="fi-FI" sz="1200">
                <a:solidFill>
                  <a:srgbClr val="000000"/>
                </a:solidFill>
              </a:endParaRPr>
            </a:p>
          </p:txBody>
        </p:sp>
        <p:cxnSp>
          <p:nvCxnSpPr>
            <p:cNvPr id="22" name="Suora yhdysviiva 21"/>
            <p:cNvCxnSpPr/>
            <p:nvPr/>
          </p:nvCxnSpPr>
          <p:spPr>
            <a:xfrm rot="16200000" flipH="1">
              <a:off x="3465859" y="4749145"/>
              <a:ext cx="213770" cy="71433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uora yhdysviiva 22"/>
            <p:cNvCxnSpPr/>
            <p:nvPr/>
          </p:nvCxnSpPr>
          <p:spPr>
            <a:xfrm>
              <a:off x="3608461" y="4891746"/>
              <a:ext cx="4430374" cy="0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uora nuoliyhdysviiva 23"/>
            <p:cNvCxnSpPr/>
            <p:nvPr/>
          </p:nvCxnSpPr>
          <p:spPr>
            <a:xfrm rot="5400000" flipH="1" flipV="1">
              <a:off x="7931351" y="4641397"/>
              <a:ext cx="357832" cy="142864"/>
            </a:xfrm>
            <a:prstGeom prst="straightConnector1">
              <a:avLst/>
            </a:prstGeom>
            <a:ln w="12700"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uora yhdysviiva 24"/>
            <p:cNvCxnSpPr/>
            <p:nvPr/>
          </p:nvCxnSpPr>
          <p:spPr>
            <a:xfrm rot="16200000" flipH="1">
              <a:off x="5823117" y="4749145"/>
              <a:ext cx="213770" cy="7143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272" name="Picture 10" descr="kirjekuori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364420" y="2891343"/>
              <a:ext cx="336550" cy="212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3" name="Picture 10" descr="kirjekuori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527884" y="2956505"/>
              <a:ext cx="306388" cy="193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4" name="Picture 10" descr="kirjekuori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680583" y="3034218"/>
              <a:ext cx="306387" cy="193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5" name="Picture 10" descr="kirjekuori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832140" y="2884497"/>
              <a:ext cx="285750" cy="212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6" name="Picture 6" descr="C:\Users\johnson_marianne\AppData\Local\Microsoft\Windows\Temporary Internet Files\Content.IE5\B8XWUS7X\MCj04260700000[1]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192180" y="2596465"/>
              <a:ext cx="327025" cy="357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7" name="Picture 6" descr="C:\Users\johnson_marianne\AppData\Local\Microsoft\Windows\Temporary Internet Files\Content.IE5\B8XWUS7X\MCj04260700000[1]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59932" y="3343343"/>
              <a:ext cx="327025" cy="357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8" name="Picture 6" descr="C:\Users\johnson_marianne\AppData\Local\Microsoft\Windows\Temporary Internet Files\Content.IE5\B8XWUS7X\MCj04260700000[1]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66333" y="2819906"/>
              <a:ext cx="327025" cy="357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79" name="Picture 6" descr="C:\Users\johnson_marianne\AppData\Local\Microsoft\Windows\Temporary Internet Files\Content.IE5\B8XWUS7X\MCj04260700000[1].wmf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47764" y="3316545"/>
              <a:ext cx="327025" cy="357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80" name="Tekstikehys 47"/>
            <p:cNvSpPr txBox="1">
              <a:spLocks noChangeArrowheads="1"/>
            </p:cNvSpPr>
            <p:nvPr/>
          </p:nvSpPr>
          <p:spPr bwMode="auto">
            <a:xfrm>
              <a:off x="4966333" y="3105656"/>
              <a:ext cx="384175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>
                  <a:solidFill>
                    <a:srgbClr val="000000"/>
                  </a:solidFill>
                </a:rPr>
                <a:t>§</a:t>
              </a:r>
            </a:p>
          </p:txBody>
        </p:sp>
        <p:sp>
          <p:nvSpPr>
            <p:cNvPr id="10281" name="Tekstikehys 47"/>
            <p:cNvSpPr txBox="1">
              <a:spLocks noChangeArrowheads="1"/>
            </p:cNvSpPr>
            <p:nvPr/>
          </p:nvSpPr>
          <p:spPr bwMode="auto">
            <a:xfrm>
              <a:off x="5472100" y="5260761"/>
              <a:ext cx="3841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>
                  <a:solidFill>
                    <a:srgbClr val="000000"/>
                  </a:solidFill>
                </a:rPr>
                <a:t>§</a:t>
              </a:r>
            </a:p>
          </p:txBody>
        </p:sp>
        <p:sp>
          <p:nvSpPr>
            <p:cNvPr id="10282" name="Tekstikehys 51"/>
            <p:cNvSpPr txBox="1">
              <a:spLocks noChangeArrowheads="1"/>
            </p:cNvSpPr>
            <p:nvPr/>
          </p:nvSpPr>
          <p:spPr bwMode="auto">
            <a:xfrm>
              <a:off x="2751770" y="3034218"/>
              <a:ext cx="39370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fi-FI" sz="1600">
                  <a:solidFill>
                    <a:srgbClr val="000000"/>
                  </a:solidFill>
                </a:rPr>
                <a:t>@</a:t>
              </a:r>
            </a:p>
          </p:txBody>
        </p:sp>
        <p:sp>
          <p:nvSpPr>
            <p:cNvPr id="10283" name="Tekstikehys 52"/>
            <p:cNvSpPr txBox="1">
              <a:spLocks noChangeArrowheads="1"/>
            </p:cNvSpPr>
            <p:nvPr/>
          </p:nvSpPr>
          <p:spPr bwMode="auto">
            <a:xfrm>
              <a:off x="4031940" y="2851459"/>
              <a:ext cx="39370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 sz="1600">
                  <a:solidFill>
                    <a:srgbClr val="000000"/>
                  </a:solidFill>
                </a:rPr>
                <a:t>@</a:t>
              </a:r>
            </a:p>
          </p:txBody>
        </p:sp>
        <p:sp>
          <p:nvSpPr>
            <p:cNvPr id="10284" name="Tekstikehys 53"/>
            <p:cNvSpPr txBox="1">
              <a:spLocks noChangeArrowheads="1"/>
            </p:cNvSpPr>
            <p:nvPr/>
          </p:nvSpPr>
          <p:spPr bwMode="auto">
            <a:xfrm>
              <a:off x="5109208" y="3034218"/>
              <a:ext cx="393700" cy="338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 sz="1600">
                  <a:solidFill>
                    <a:srgbClr val="000000"/>
                  </a:solidFill>
                </a:rPr>
                <a:t>@</a:t>
              </a:r>
            </a:p>
          </p:txBody>
        </p:sp>
        <p:sp>
          <p:nvSpPr>
            <p:cNvPr id="10285" name="Tekstikehys 54"/>
            <p:cNvSpPr txBox="1">
              <a:spLocks noChangeArrowheads="1"/>
            </p:cNvSpPr>
            <p:nvPr/>
          </p:nvSpPr>
          <p:spPr bwMode="auto">
            <a:xfrm>
              <a:off x="6264188" y="3244537"/>
              <a:ext cx="393700" cy="3381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 sz="1600">
                  <a:solidFill>
                    <a:srgbClr val="000000"/>
                  </a:solidFill>
                </a:rPr>
                <a:t>@</a:t>
              </a:r>
            </a:p>
          </p:txBody>
        </p:sp>
        <p:sp>
          <p:nvSpPr>
            <p:cNvPr id="40" name="Suorakulmio 39"/>
            <p:cNvSpPr/>
            <p:nvPr/>
          </p:nvSpPr>
          <p:spPr>
            <a:xfrm>
              <a:off x="503548" y="1516345"/>
              <a:ext cx="2015971" cy="9356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i-FI" sz="1400" dirty="0" err="1" smtClean="0"/>
                <a:t>Researcher</a:t>
              </a:r>
              <a:r>
                <a:rPr lang="fi-FI" sz="1400" dirty="0" smtClean="0"/>
                <a:t> </a:t>
              </a:r>
              <a:r>
                <a:rPr lang="fi-FI" sz="1400" dirty="0" err="1" smtClean="0"/>
                <a:t>responsible</a:t>
              </a:r>
              <a:r>
                <a:rPr lang="fi-FI" sz="1400" dirty="0" smtClean="0"/>
                <a:t> of data </a:t>
              </a:r>
              <a:r>
                <a:rPr lang="fi-FI" sz="1400" dirty="0" err="1" smtClean="0"/>
                <a:t>security</a:t>
              </a:r>
              <a:r>
                <a:rPr lang="fi-FI" sz="1400" dirty="0" smtClean="0"/>
                <a:t> and </a:t>
              </a:r>
              <a:r>
                <a:rPr lang="fi-FI" sz="1400" dirty="0" err="1" smtClean="0"/>
                <a:t>disposal</a:t>
              </a:r>
              <a:r>
                <a:rPr lang="fi-FI" sz="1400" dirty="0" smtClean="0"/>
                <a:t> of data </a:t>
              </a:r>
              <a:r>
                <a:rPr lang="fi-FI" sz="1400" dirty="0" err="1" smtClean="0"/>
                <a:t>sets</a:t>
              </a:r>
              <a:endParaRPr lang="fi-FI" sz="1400" dirty="0"/>
            </a:p>
          </p:txBody>
        </p:sp>
        <p:sp>
          <p:nvSpPr>
            <p:cNvPr id="41" name="Suorakulmio 40"/>
            <p:cNvSpPr/>
            <p:nvPr/>
          </p:nvSpPr>
          <p:spPr>
            <a:xfrm>
              <a:off x="6624481" y="1660407"/>
              <a:ext cx="2015971" cy="11525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400" dirty="0" smtClean="0"/>
                <a:t>Searching for data sets and applying for permits from several different authorities, with varying practices</a:t>
              </a:r>
              <a:endParaRPr lang="fi-FI" sz="1400" dirty="0" smtClean="0"/>
            </a:p>
            <a:p>
              <a:pPr>
                <a:defRPr/>
              </a:pPr>
              <a:endParaRPr lang="fi-FI" sz="1400" dirty="0"/>
            </a:p>
          </p:txBody>
        </p:sp>
        <p:sp>
          <p:nvSpPr>
            <p:cNvPr id="42" name="Suorakulmio 41"/>
            <p:cNvSpPr/>
            <p:nvPr/>
          </p:nvSpPr>
          <p:spPr>
            <a:xfrm>
              <a:off x="3600524" y="2236657"/>
              <a:ext cx="2015971" cy="432188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i-FI" sz="1400" dirty="0" err="1" smtClean="0"/>
                <a:t>Delivering</a:t>
              </a:r>
              <a:r>
                <a:rPr lang="fi-FI" sz="1400" dirty="0" smtClean="0"/>
                <a:t> data </a:t>
              </a:r>
              <a:r>
                <a:rPr lang="fi-FI" sz="1400" dirty="0" err="1" smtClean="0"/>
                <a:t>using</a:t>
              </a:r>
              <a:r>
                <a:rPr lang="fi-FI" sz="1400" dirty="0" smtClean="0"/>
                <a:t> </a:t>
              </a:r>
              <a:r>
                <a:rPr lang="fi-FI" sz="1400" dirty="0" err="1" smtClean="0"/>
                <a:t>varying</a:t>
              </a:r>
              <a:r>
                <a:rPr lang="fi-FI" sz="1400" dirty="0" smtClean="0"/>
                <a:t> </a:t>
              </a:r>
              <a:r>
                <a:rPr lang="fi-FI" sz="1400" dirty="0" err="1" smtClean="0"/>
                <a:t>practices</a:t>
              </a:r>
              <a:r>
                <a:rPr lang="fi-FI" sz="1400" dirty="0" smtClean="0"/>
                <a:t> </a:t>
              </a:r>
              <a:endParaRPr lang="fi-FI" sz="1400" dirty="0"/>
            </a:p>
          </p:txBody>
        </p:sp>
        <p:sp>
          <p:nvSpPr>
            <p:cNvPr id="10289" name="Tekstikehys 47"/>
            <p:cNvSpPr txBox="1">
              <a:spLocks noChangeArrowheads="1"/>
            </p:cNvSpPr>
            <p:nvPr/>
          </p:nvSpPr>
          <p:spPr bwMode="auto">
            <a:xfrm>
              <a:off x="2519772" y="5188753"/>
              <a:ext cx="384175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fi-FI">
                  <a:solidFill>
                    <a:srgbClr val="000000"/>
                  </a:solidFill>
                </a:rPr>
                <a:t>§</a:t>
              </a:r>
            </a:p>
          </p:txBody>
        </p:sp>
        <p:sp>
          <p:nvSpPr>
            <p:cNvPr id="44" name="Suorakulmio 43"/>
            <p:cNvSpPr/>
            <p:nvPr/>
          </p:nvSpPr>
          <p:spPr>
            <a:xfrm>
              <a:off x="503548" y="2596039"/>
              <a:ext cx="1439752" cy="7931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fi-FI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fi-FI" sz="1400" dirty="0" err="1" smtClean="0"/>
                <a:t>Possible</a:t>
              </a:r>
              <a:r>
                <a:rPr lang="fi-FI" sz="1400" dirty="0" smtClean="0"/>
                <a:t> </a:t>
              </a:r>
              <a:r>
                <a:rPr lang="fi-FI" sz="1400" dirty="0" err="1" smtClean="0"/>
                <a:t>corrections</a:t>
              </a:r>
              <a:r>
                <a:rPr lang="fi-FI" sz="1400" dirty="0" smtClean="0"/>
                <a:t> and </a:t>
              </a:r>
              <a:r>
                <a:rPr lang="fi-FI" sz="1400" dirty="0" err="1" smtClean="0"/>
                <a:t>re-sending</a:t>
              </a:r>
              <a:endParaRPr lang="fi-FI" sz="1400" dirty="0"/>
            </a:p>
          </p:txBody>
        </p:sp>
      </p:grpSp>
      <p:sp>
        <p:nvSpPr>
          <p:cNvPr id="46" name="Pyöristetty suorakulmio 45"/>
          <p:cNvSpPr/>
          <p:nvPr/>
        </p:nvSpPr>
        <p:spPr>
          <a:xfrm>
            <a:off x="1979613" y="4941888"/>
            <a:ext cx="936625" cy="71913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>
            <a:defPPr>
              <a:defRPr lang="fi-FI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i-FI" sz="1100" dirty="0" smtClean="0">
                <a:solidFill>
                  <a:srgbClr val="000000"/>
                </a:solidFill>
              </a:rPr>
              <a:t>Data </a:t>
            </a:r>
            <a:r>
              <a:rPr lang="fi-FI" sz="1100" dirty="0" err="1" smtClean="0">
                <a:solidFill>
                  <a:srgbClr val="000000"/>
                </a:solidFill>
              </a:rPr>
              <a:t>protection</a:t>
            </a:r>
            <a:r>
              <a:rPr lang="fi-FI" sz="1100" dirty="0" smtClean="0">
                <a:solidFill>
                  <a:srgbClr val="000000"/>
                </a:solidFill>
              </a:rPr>
              <a:t> </a:t>
            </a:r>
            <a:r>
              <a:rPr lang="fi-FI" sz="1100" dirty="0" err="1" smtClean="0">
                <a:solidFill>
                  <a:srgbClr val="000000"/>
                </a:solidFill>
              </a:rPr>
              <a:t>Authority</a:t>
            </a:r>
            <a:endParaRPr lang="fi-FI" sz="1100" dirty="0">
              <a:solidFill>
                <a:srgbClr val="000000"/>
              </a:solidFill>
            </a:endParaRPr>
          </a:p>
        </p:txBody>
      </p:sp>
      <p:cxnSp>
        <p:nvCxnSpPr>
          <p:cNvPr id="47" name="Suora nuoliyhdysviiva 46"/>
          <p:cNvCxnSpPr/>
          <p:nvPr/>
        </p:nvCxnSpPr>
        <p:spPr>
          <a:xfrm rot="10800000">
            <a:off x="1835150" y="5013325"/>
            <a:ext cx="144463" cy="27305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Pyöristetty suorakulmio 48"/>
          <p:cNvSpPr/>
          <p:nvPr/>
        </p:nvSpPr>
        <p:spPr>
          <a:xfrm>
            <a:off x="2051720" y="3717032"/>
            <a:ext cx="288032" cy="28803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dirty="0">
                <a:ln>
                  <a:solidFill>
                    <a:schemeClr val="tx1"/>
                  </a:solidFill>
                </a:ln>
              </a:rPr>
              <a:t>€</a:t>
            </a:r>
          </a:p>
        </p:txBody>
      </p:sp>
      <p:sp>
        <p:nvSpPr>
          <p:cNvPr id="50" name="Suorakulmio 49"/>
          <p:cNvSpPr/>
          <p:nvPr/>
        </p:nvSpPr>
        <p:spPr>
          <a:xfrm>
            <a:off x="5500216" y="3861049"/>
            <a:ext cx="29592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i-FI" dirty="0">
                <a:ln>
                  <a:solidFill>
                    <a:schemeClr val="tx1"/>
                  </a:solidFill>
                </a:ln>
              </a:rPr>
              <a:t>€</a:t>
            </a:r>
          </a:p>
          <a:p>
            <a:pPr algn="ctr">
              <a:defRPr/>
            </a:pPr>
            <a:endParaRPr lang="fi-FI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1" name="Pyöristetty suorakulmio 50"/>
          <p:cNvSpPr/>
          <p:nvPr/>
        </p:nvSpPr>
        <p:spPr>
          <a:xfrm>
            <a:off x="3491880" y="4077072"/>
            <a:ext cx="216024" cy="28803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dirty="0">
                <a:ln>
                  <a:solidFill>
                    <a:schemeClr val="tx1"/>
                  </a:solidFill>
                </a:ln>
              </a:rPr>
              <a:t>€</a:t>
            </a:r>
          </a:p>
        </p:txBody>
      </p:sp>
      <p:sp>
        <p:nvSpPr>
          <p:cNvPr id="52" name="Pyöristetty suorakulmio 51"/>
          <p:cNvSpPr/>
          <p:nvPr/>
        </p:nvSpPr>
        <p:spPr>
          <a:xfrm>
            <a:off x="7020272" y="4149080"/>
            <a:ext cx="288032" cy="28803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dirty="0">
                <a:ln>
                  <a:solidFill>
                    <a:schemeClr val="tx1"/>
                  </a:solidFill>
                </a:ln>
              </a:rPr>
              <a:t>€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i 13"/>
          <p:cNvSpPr/>
          <p:nvPr/>
        </p:nvSpPr>
        <p:spPr>
          <a:xfrm>
            <a:off x="3635375" y="476250"/>
            <a:ext cx="1944688" cy="504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9" name="Suorakulmio 8"/>
          <p:cNvSpPr/>
          <p:nvPr/>
        </p:nvSpPr>
        <p:spPr>
          <a:xfrm>
            <a:off x="250825" y="1169988"/>
            <a:ext cx="8497888" cy="287972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b="1" dirty="0" err="1"/>
              <a:t>MIDRAS-remote</a:t>
            </a:r>
            <a:r>
              <a:rPr lang="fi-FI" b="1" dirty="0"/>
              <a:t> </a:t>
            </a:r>
            <a:r>
              <a:rPr lang="fi-FI" b="1" dirty="0" err="1"/>
              <a:t>access</a:t>
            </a:r>
            <a:r>
              <a:rPr lang="fi-FI" b="1" dirty="0"/>
              <a:t> </a:t>
            </a:r>
            <a:r>
              <a:rPr lang="fi-FI" b="1" dirty="0" err="1"/>
              <a:t>system</a:t>
            </a:r>
            <a:endParaRPr lang="fi-FI" b="1" dirty="0"/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b="1" dirty="0">
              <a:latin typeface="Verdana" pitchFamily="34" charset="0"/>
            </a:endParaRPr>
          </a:p>
          <a:p>
            <a:pPr algn="ctr">
              <a:defRPr/>
            </a:pPr>
            <a:endParaRPr lang="fi-FI" dirty="0"/>
          </a:p>
        </p:txBody>
      </p:sp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468313" y="3933825"/>
            <a:ext cx="8229600" cy="491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endParaRPr lang="fi-FI" sz="2000" kern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eaLnBrk="0" fontAlgn="auto" hangingPunct="0">
              <a:spcBef>
                <a:spcPct val="20000"/>
              </a:spcBef>
              <a:spcAft>
                <a:spcPts val="0"/>
              </a:spcAft>
              <a:buFontTx/>
              <a:buAutoNum type="arabicPlain" startAt="4"/>
              <a:defRPr/>
            </a:pPr>
            <a:endParaRPr lang="fi-FI" sz="2000" kern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eaLnBrk="0" fontAlgn="auto" hangingPunct="0">
              <a:spcBef>
                <a:spcPct val="20000"/>
              </a:spcBef>
              <a:spcAft>
                <a:spcPts val="0"/>
              </a:spcAft>
              <a:buFontTx/>
              <a:buAutoNum type="arabicPlain" startAt="4"/>
              <a:defRPr/>
            </a:pPr>
            <a:endParaRPr lang="fi-FI" sz="2000" kern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342900" indent="-342900" eaLnBrk="0" fontAlgn="auto" hangingPunct="0">
              <a:spcBef>
                <a:spcPct val="20000"/>
              </a:spcBef>
              <a:spcAft>
                <a:spcPts val="0"/>
              </a:spcAft>
              <a:defRPr/>
            </a:pPr>
            <a:r>
              <a:rPr lang="fi-FI" sz="2000" kern="0">
                <a:solidFill>
                  <a:prstClr val="black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</a:p>
          <a:p>
            <a:pPr marL="342900" indent="-342900" fontAlgn="auto">
              <a:spcBef>
                <a:spcPct val="20000"/>
              </a:spcBef>
              <a:spcAft>
                <a:spcPts val="0"/>
              </a:spcAft>
              <a:defRPr/>
            </a:pPr>
            <a:endParaRPr lang="fi-FI" sz="2000" kern="0" dirty="0">
              <a:solidFill>
                <a:prstClr val="black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0" name="Suorakulmio 9"/>
          <p:cNvSpPr/>
          <p:nvPr/>
        </p:nvSpPr>
        <p:spPr>
          <a:xfrm>
            <a:off x="539750" y="1673225"/>
            <a:ext cx="2376488" cy="226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fi-FI" sz="1400" dirty="0"/>
              <a:t>Services </a:t>
            </a:r>
            <a:r>
              <a:rPr lang="fi-FI" sz="1400" dirty="0" err="1"/>
              <a:t>that</a:t>
            </a:r>
            <a:r>
              <a:rPr lang="fi-FI" sz="1400" dirty="0"/>
              <a:t> </a:t>
            </a:r>
            <a:r>
              <a:rPr lang="fi-FI" sz="1400" dirty="0" err="1"/>
              <a:t>require</a:t>
            </a:r>
            <a:r>
              <a:rPr lang="fi-FI" sz="1400" dirty="0"/>
              <a:t> permit</a:t>
            </a:r>
          </a:p>
          <a:p>
            <a:pPr>
              <a:defRPr/>
            </a:pP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r>
              <a:rPr lang="fi-FI" sz="1400" dirty="0" err="1"/>
              <a:t>Remote</a:t>
            </a:r>
            <a:r>
              <a:rPr lang="fi-FI" sz="1400" dirty="0"/>
              <a:t> desktop for </a:t>
            </a:r>
            <a:r>
              <a:rPr lang="fi-FI" sz="1400" dirty="0" err="1"/>
              <a:t>analysing</a:t>
            </a:r>
            <a:r>
              <a:rPr lang="fi-FI" sz="1400" dirty="0"/>
              <a:t> data (</a:t>
            </a:r>
            <a:r>
              <a:rPr lang="fi-FI" sz="1400" dirty="0" err="1"/>
              <a:t>programs</a:t>
            </a:r>
            <a:r>
              <a:rPr lang="fi-FI" sz="1400" dirty="0"/>
              <a:t> and </a:t>
            </a:r>
            <a:r>
              <a:rPr lang="fi-FI" sz="1400" dirty="0" err="1"/>
              <a:t>tools</a:t>
            </a:r>
            <a:r>
              <a:rPr lang="fi-FI" sz="1400" dirty="0"/>
              <a:t>)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fi-FI" sz="1400" dirty="0" err="1"/>
              <a:t>Separated</a:t>
            </a:r>
            <a:r>
              <a:rPr lang="fi-FI" sz="1400" dirty="0"/>
              <a:t> </a:t>
            </a:r>
            <a:r>
              <a:rPr lang="fi-FI" sz="1400" dirty="0" err="1"/>
              <a:t>server</a:t>
            </a:r>
            <a:r>
              <a:rPr lang="fi-FI" sz="1400" dirty="0"/>
              <a:t> </a:t>
            </a:r>
            <a:r>
              <a:rPr lang="fi-FI" sz="1400" dirty="0" err="1"/>
              <a:t>space</a:t>
            </a:r>
            <a:r>
              <a:rPr lang="fi-FI" sz="1400" dirty="0"/>
              <a:t> for data and metadata </a:t>
            </a:r>
          </a:p>
          <a:p>
            <a:pPr>
              <a:buFont typeface="Arial" pitchFamily="34" charset="0"/>
              <a:buChar char="•"/>
              <a:defRPr/>
            </a:pPr>
            <a:r>
              <a:rPr lang="fi-FI" sz="1400" dirty="0"/>
              <a:t>Output </a:t>
            </a:r>
            <a:r>
              <a:rPr lang="fi-FI" sz="1400" dirty="0" err="1"/>
              <a:t>service</a:t>
            </a:r>
            <a:r>
              <a:rPr lang="fi-FI" sz="1400" dirty="0"/>
              <a:t> for </a:t>
            </a:r>
            <a:r>
              <a:rPr lang="fi-FI" sz="1400" dirty="0" err="1"/>
              <a:t>results</a:t>
            </a:r>
            <a:r>
              <a:rPr lang="fi-FI" sz="1400" dirty="0"/>
              <a:t>, Input </a:t>
            </a:r>
            <a:r>
              <a:rPr lang="fi-FI" sz="1400" dirty="0" err="1"/>
              <a:t>service</a:t>
            </a:r>
            <a:r>
              <a:rPr lang="fi-FI" sz="1400" dirty="0"/>
              <a:t> for </a:t>
            </a:r>
            <a:r>
              <a:rPr lang="fi-FI" sz="1400" dirty="0" err="1"/>
              <a:t>researcher’s</a:t>
            </a:r>
            <a:r>
              <a:rPr lang="fi-FI" sz="1400" dirty="0"/>
              <a:t> data</a:t>
            </a:r>
          </a:p>
        </p:txBody>
      </p:sp>
      <p:sp>
        <p:nvSpPr>
          <p:cNvPr id="11" name="Suorakulmio 10"/>
          <p:cNvSpPr/>
          <p:nvPr/>
        </p:nvSpPr>
        <p:spPr>
          <a:xfrm>
            <a:off x="3276600" y="1673225"/>
            <a:ext cx="2447925" cy="2232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fi-FI" sz="1400" dirty="0"/>
              <a:t>Services </a:t>
            </a:r>
            <a:r>
              <a:rPr lang="fi-FI" sz="1400" dirty="0" err="1"/>
              <a:t>that</a:t>
            </a:r>
            <a:r>
              <a:rPr lang="fi-FI" sz="1400" dirty="0"/>
              <a:t> </a:t>
            </a:r>
            <a:r>
              <a:rPr lang="fi-FI" sz="1400" dirty="0" err="1"/>
              <a:t>require</a:t>
            </a:r>
            <a:r>
              <a:rPr lang="fi-FI" sz="1400" dirty="0"/>
              <a:t> </a:t>
            </a:r>
            <a:r>
              <a:rPr lang="fi-FI" sz="1400" dirty="0" err="1"/>
              <a:t>registration</a:t>
            </a:r>
            <a:endParaRPr lang="fi-FI" sz="1400" dirty="0"/>
          </a:p>
          <a:p>
            <a:pPr>
              <a:defRPr/>
            </a:pP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r>
              <a:rPr lang="fi-FI" sz="1400" dirty="0" err="1"/>
              <a:t>Centralized</a:t>
            </a:r>
            <a:r>
              <a:rPr lang="fi-FI" sz="1400" dirty="0"/>
              <a:t> </a:t>
            </a:r>
            <a:r>
              <a:rPr lang="fi-FI" sz="1400" dirty="0" err="1"/>
              <a:t>digital</a:t>
            </a:r>
            <a:r>
              <a:rPr lang="fi-FI" sz="1400" dirty="0"/>
              <a:t> permit </a:t>
            </a:r>
            <a:r>
              <a:rPr lang="fi-FI" sz="1400" dirty="0" err="1"/>
              <a:t>application</a:t>
            </a:r>
            <a:r>
              <a:rPr lang="fi-FI" sz="1400" dirty="0"/>
              <a:t> </a:t>
            </a:r>
            <a:r>
              <a:rPr lang="fi-FI" sz="1400" dirty="0" err="1"/>
              <a:t>service</a:t>
            </a: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endParaRPr lang="fi-FI" sz="1400" dirty="0"/>
          </a:p>
        </p:txBody>
      </p:sp>
      <p:sp>
        <p:nvSpPr>
          <p:cNvPr id="12" name="Suorakulmio 11"/>
          <p:cNvSpPr/>
          <p:nvPr/>
        </p:nvSpPr>
        <p:spPr>
          <a:xfrm>
            <a:off x="6084888" y="1673225"/>
            <a:ext cx="2447925" cy="22320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defRPr/>
            </a:pPr>
            <a:r>
              <a:rPr lang="fi-FI" sz="1400" dirty="0"/>
              <a:t>Public </a:t>
            </a:r>
            <a:r>
              <a:rPr lang="fi-FI" sz="1400" dirty="0" err="1"/>
              <a:t>services</a:t>
            </a:r>
            <a:endParaRPr lang="fi-FI" sz="1400" dirty="0"/>
          </a:p>
          <a:p>
            <a:pPr>
              <a:defRPr/>
            </a:pP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r>
              <a:rPr lang="fi-FI" sz="1400" dirty="0"/>
              <a:t>Metadata </a:t>
            </a:r>
            <a:r>
              <a:rPr lang="fi-FI" sz="1400" dirty="0" err="1"/>
              <a:t>catalogue</a:t>
            </a:r>
            <a:endParaRPr lang="fi-FI" sz="1400" dirty="0"/>
          </a:p>
          <a:p>
            <a:pPr>
              <a:buFont typeface="Arial" pitchFamily="34" charset="0"/>
              <a:buChar char="•"/>
              <a:defRPr/>
            </a:pPr>
            <a:r>
              <a:rPr lang="fi-FI" sz="1400" dirty="0" err="1"/>
              <a:t>Helpdesk</a:t>
            </a:r>
            <a:r>
              <a:rPr lang="fi-FI" sz="1400" dirty="0"/>
              <a:t> for </a:t>
            </a:r>
            <a:r>
              <a:rPr lang="fi-FI" sz="1400" dirty="0" err="1"/>
              <a:t>research</a:t>
            </a:r>
            <a:r>
              <a:rPr lang="fi-FI" sz="1400" dirty="0"/>
              <a:t> and </a:t>
            </a:r>
            <a:r>
              <a:rPr lang="fi-FI" sz="1400" dirty="0" err="1"/>
              <a:t>tuition</a:t>
            </a:r>
            <a:endParaRPr lang="fi-FI" sz="1400" dirty="0"/>
          </a:p>
          <a:p>
            <a:pPr algn="ctr">
              <a:defRPr/>
            </a:pPr>
            <a:endParaRPr lang="fi-FI" sz="1400" dirty="0"/>
          </a:p>
          <a:p>
            <a:pPr algn="ctr">
              <a:defRPr/>
            </a:pPr>
            <a:endParaRPr lang="fi-FI" sz="1400" dirty="0"/>
          </a:p>
          <a:p>
            <a:pPr algn="ctr">
              <a:defRPr/>
            </a:pPr>
            <a:endParaRPr lang="fi-FI" sz="1400" dirty="0"/>
          </a:p>
          <a:p>
            <a:pPr algn="ctr">
              <a:defRPr/>
            </a:pPr>
            <a:endParaRPr lang="fi-FI" sz="1400" dirty="0"/>
          </a:p>
          <a:p>
            <a:pPr algn="ctr">
              <a:defRPr/>
            </a:pPr>
            <a:endParaRPr lang="fi-FI" sz="1400" dirty="0"/>
          </a:p>
        </p:txBody>
      </p:sp>
      <p:sp>
        <p:nvSpPr>
          <p:cNvPr id="18" name="Nuoli ylös ja alas 17"/>
          <p:cNvSpPr/>
          <p:nvPr/>
        </p:nvSpPr>
        <p:spPr>
          <a:xfrm rot="3255876">
            <a:off x="3280569" y="677069"/>
            <a:ext cx="200025" cy="46831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20" name="Nuoli ylös ja alas 19"/>
          <p:cNvSpPr/>
          <p:nvPr/>
        </p:nvSpPr>
        <p:spPr>
          <a:xfrm rot="18870015">
            <a:off x="5715000" y="696913"/>
            <a:ext cx="204788" cy="46196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i-FI"/>
          </a:p>
        </p:txBody>
      </p:sp>
      <p:sp>
        <p:nvSpPr>
          <p:cNvPr id="21" name="Suorakulmio 20"/>
          <p:cNvSpPr/>
          <p:nvPr/>
        </p:nvSpPr>
        <p:spPr>
          <a:xfrm>
            <a:off x="1835150" y="4481513"/>
            <a:ext cx="2160588" cy="7207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 err="1"/>
              <a:t>Interface</a:t>
            </a:r>
            <a:r>
              <a:rPr lang="fi-FI" sz="1400" dirty="0"/>
              <a:t> </a:t>
            </a:r>
            <a:r>
              <a:rPr lang="fi-FI" sz="1400" dirty="0" err="1"/>
              <a:t>service</a:t>
            </a:r>
            <a:r>
              <a:rPr lang="fi-FI" sz="1400" dirty="0"/>
              <a:t> for data and </a:t>
            </a:r>
            <a:r>
              <a:rPr lang="fi-FI" sz="1400" dirty="0" err="1"/>
              <a:t>meta</a:t>
            </a:r>
            <a:r>
              <a:rPr lang="fi-FI" sz="1400" dirty="0"/>
              <a:t> data, </a:t>
            </a:r>
          </a:p>
        </p:txBody>
      </p:sp>
      <p:sp>
        <p:nvSpPr>
          <p:cNvPr id="22" name="Suorakulmio 21"/>
          <p:cNvSpPr/>
          <p:nvPr/>
        </p:nvSpPr>
        <p:spPr>
          <a:xfrm>
            <a:off x="4859338" y="4481513"/>
            <a:ext cx="2160587" cy="7207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 err="1"/>
              <a:t>Administration</a:t>
            </a:r>
            <a:r>
              <a:rPr lang="fi-FI" sz="1400" dirty="0"/>
              <a:t> </a:t>
            </a:r>
            <a:r>
              <a:rPr lang="fi-FI" sz="1400" dirty="0" err="1"/>
              <a:t>services</a:t>
            </a:r>
            <a:r>
              <a:rPr lang="fi-FI" sz="1400" dirty="0"/>
              <a:t> for </a:t>
            </a:r>
            <a:r>
              <a:rPr lang="fi-FI" sz="1400" dirty="0" err="1"/>
              <a:t>user</a:t>
            </a:r>
            <a:r>
              <a:rPr lang="fi-FI" sz="1400" dirty="0"/>
              <a:t> </a:t>
            </a:r>
            <a:r>
              <a:rPr lang="fi-FI" sz="1400" dirty="0" err="1"/>
              <a:t>rights</a:t>
            </a:r>
            <a:endParaRPr lang="fi-FI" sz="1400" dirty="0"/>
          </a:p>
        </p:txBody>
      </p:sp>
      <p:sp>
        <p:nvSpPr>
          <p:cNvPr id="23" name="Vuokaaviosymboli: Magneettilevy 22"/>
          <p:cNvSpPr/>
          <p:nvPr/>
        </p:nvSpPr>
        <p:spPr>
          <a:xfrm>
            <a:off x="1476375" y="5589588"/>
            <a:ext cx="914400" cy="61277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 err="1">
                <a:solidFill>
                  <a:schemeClr val="tx1"/>
                </a:solidFill>
              </a:rPr>
              <a:t>Organiza-tion</a:t>
            </a:r>
            <a:r>
              <a:rPr lang="fi-FI" sz="1400" dirty="0">
                <a:solidFill>
                  <a:schemeClr val="tx1"/>
                </a:solidFill>
              </a:rPr>
              <a:t> A</a:t>
            </a:r>
            <a:endParaRPr lang="fi-FI" dirty="0">
              <a:solidFill>
                <a:schemeClr val="tx1"/>
              </a:solidFill>
            </a:endParaRPr>
          </a:p>
        </p:txBody>
      </p:sp>
      <p:sp>
        <p:nvSpPr>
          <p:cNvPr id="25" name="Vuokaaviosymboli: Magneettilevy 24"/>
          <p:cNvSpPr/>
          <p:nvPr/>
        </p:nvSpPr>
        <p:spPr>
          <a:xfrm>
            <a:off x="3995738" y="5589588"/>
            <a:ext cx="914400" cy="61277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 err="1">
                <a:solidFill>
                  <a:schemeClr val="tx1"/>
                </a:solidFill>
              </a:rPr>
              <a:t>Organiza-tion</a:t>
            </a:r>
            <a:r>
              <a:rPr lang="fi-FI" sz="1400" dirty="0">
                <a:solidFill>
                  <a:schemeClr val="tx1"/>
                </a:solidFill>
              </a:rPr>
              <a:t> C</a:t>
            </a:r>
          </a:p>
        </p:txBody>
      </p:sp>
      <p:sp>
        <p:nvSpPr>
          <p:cNvPr id="26" name="Vuokaaviosymboli: Magneettilevy 25"/>
          <p:cNvSpPr/>
          <p:nvPr/>
        </p:nvSpPr>
        <p:spPr>
          <a:xfrm>
            <a:off x="7019925" y="5589588"/>
            <a:ext cx="914400" cy="61277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 err="1">
                <a:solidFill>
                  <a:schemeClr val="tx1"/>
                </a:solidFill>
              </a:rPr>
              <a:t>Organiza-tion</a:t>
            </a:r>
            <a:r>
              <a:rPr lang="fi-FI" sz="1400" dirty="0">
                <a:solidFill>
                  <a:schemeClr val="tx1"/>
                </a:solidFill>
              </a:rPr>
              <a:t> E</a:t>
            </a:r>
          </a:p>
        </p:txBody>
      </p:sp>
      <p:sp>
        <p:nvSpPr>
          <p:cNvPr id="27" name="Suorakulmio 26"/>
          <p:cNvSpPr/>
          <p:nvPr/>
        </p:nvSpPr>
        <p:spPr>
          <a:xfrm>
            <a:off x="468313" y="6237288"/>
            <a:ext cx="7991475" cy="4048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dirty="0"/>
              <a:t>- </a:t>
            </a:r>
            <a:r>
              <a:rPr lang="fi-FI" sz="1400" dirty="0" err="1"/>
              <a:t>Commonly</a:t>
            </a:r>
            <a:r>
              <a:rPr lang="fi-FI" sz="1400" dirty="0"/>
              <a:t> </a:t>
            </a:r>
            <a:r>
              <a:rPr lang="fi-FI" sz="1400" dirty="0" err="1"/>
              <a:t>agreed</a:t>
            </a:r>
            <a:r>
              <a:rPr lang="fi-FI" sz="1400" dirty="0"/>
              <a:t> metadata </a:t>
            </a:r>
            <a:r>
              <a:rPr lang="fi-FI" sz="1400" dirty="0" err="1"/>
              <a:t>standards</a:t>
            </a:r>
            <a:r>
              <a:rPr lang="fi-FI" sz="1400" dirty="0"/>
              <a:t>     – Data </a:t>
            </a:r>
            <a:r>
              <a:rPr lang="fi-FI" sz="1400" dirty="0" err="1"/>
              <a:t>warehouse</a:t>
            </a:r>
            <a:r>
              <a:rPr lang="fi-FI" sz="1400" dirty="0"/>
              <a:t>        - </a:t>
            </a:r>
            <a:r>
              <a:rPr lang="fi-FI" sz="1400" dirty="0" err="1"/>
              <a:t>Archive</a:t>
            </a:r>
            <a:r>
              <a:rPr lang="fi-FI" sz="1400" dirty="0"/>
              <a:t> of </a:t>
            </a:r>
            <a:r>
              <a:rPr lang="fi-FI" sz="1400" dirty="0" err="1"/>
              <a:t>multiple</a:t>
            </a:r>
            <a:r>
              <a:rPr lang="fi-FI" sz="1400" dirty="0"/>
              <a:t> </a:t>
            </a:r>
            <a:r>
              <a:rPr lang="fi-FI" sz="1400" dirty="0" err="1"/>
              <a:t>user</a:t>
            </a:r>
            <a:r>
              <a:rPr lang="fi-FI" sz="1400" dirty="0"/>
              <a:t> </a:t>
            </a:r>
            <a:r>
              <a:rPr lang="fi-FI" sz="1400" dirty="0" err="1"/>
              <a:t>files</a:t>
            </a:r>
            <a:r>
              <a:rPr lang="fi-FI" sz="1400" dirty="0"/>
              <a:t>  </a:t>
            </a:r>
          </a:p>
        </p:txBody>
      </p:sp>
      <p:cxnSp>
        <p:nvCxnSpPr>
          <p:cNvPr id="29" name="Suora nuoliyhdysviiva 28"/>
          <p:cNvCxnSpPr/>
          <p:nvPr/>
        </p:nvCxnSpPr>
        <p:spPr>
          <a:xfrm>
            <a:off x="2124075" y="4121150"/>
            <a:ext cx="719138" cy="28892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uora nuoliyhdysviiva 32"/>
          <p:cNvCxnSpPr/>
          <p:nvPr/>
        </p:nvCxnSpPr>
        <p:spPr>
          <a:xfrm>
            <a:off x="5003800" y="4121150"/>
            <a:ext cx="720725" cy="28892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uora nuoliyhdysviiva 35"/>
          <p:cNvCxnSpPr/>
          <p:nvPr/>
        </p:nvCxnSpPr>
        <p:spPr>
          <a:xfrm>
            <a:off x="2700338" y="5229225"/>
            <a:ext cx="647700" cy="360363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uora nuoliyhdysviiva 36"/>
          <p:cNvCxnSpPr/>
          <p:nvPr/>
        </p:nvCxnSpPr>
        <p:spPr>
          <a:xfrm flipV="1">
            <a:off x="5076825" y="5300663"/>
            <a:ext cx="790575" cy="28892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orakulmio 12"/>
          <p:cNvSpPr/>
          <p:nvPr/>
        </p:nvSpPr>
        <p:spPr>
          <a:xfrm>
            <a:off x="3779838" y="476250"/>
            <a:ext cx="1728787" cy="3698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fi-FI" b="1" dirty="0" err="1">
                <a:solidFill>
                  <a:prstClr val="black"/>
                </a:solidFill>
                <a:ea typeface="+mj-ea"/>
                <a:cs typeface="+mj-cs"/>
              </a:rPr>
              <a:t>Researcher</a:t>
            </a:r>
            <a:endParaRPr lang="fi-FI" b="1" dirty="0">
              <a:solidFill>
                <a:prstClr val="black"/>
              </a:solidFill>
              <a:ea typeface="+mj-ea"/>
              <a:cs typeface="+mj-cs"/>
            </a:endParaRPr>
          </a:p>
        </p:txBody>
      </p:sp>
      <p:sp>
        <p:nvSpPr>
          <p:cNvPr id="11285" name="Rectangle 5"/>
          <p:cNvSpPr>
            <a:spLocks noChangeArrowheads="1"/>
          </p:cNvSpPr>
          <p:nvPr/>
        </p:nvSpPr>
        <p:spPr bwMode="auto">
          <a:xfrm>
            <a:off x="500063" y="1682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sp>
        <p:nvSpPr>
          <p:cNvPr id="11286" name="Text Box 4"/>
          <p:cNvSpPr txBox="1">
            <a:spLocks noChangeArrowheads="1"/>
          </p:cNvSpPr>
          <p:nvPr/>
        </p:nvSpPr>
        <p:spPr bwMode="auto">
          <a:xfrm>
            <a:off x="2000250" y="1682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50825" y="7316788"/>
            <a:ext cx="8229600" cy="5113337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Tx/>
              <a:buNone/>
              <a:defRPr/>
            </a:pPr>
            <a:endParaRPr lang="fi-FI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fontAlgn="auto">
              <a:spcAft>
                <a:spcPts val="0"/>
              </a:spcAft>
              <a:buFontTx/>
              <a:buAutoNum type="arabicPlain" startAt="4"/>
              <a:defRPr/>
            </a:pPr>
            <a:endParaRPr lang="fi-FI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457200" indent="-457200" fontAlgn="auto">
              <a:spcAft>
                <a:spcPts val="0"/>
              </a:spcAft>
              <a:buFontTx/>
              <a:buAutoNum type="arabicPlain" startAt="4"/>
              <a:defRPr/>
            </a:pPr>
            <a:endParaRPr lang="fi-FI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fi-FI" sz="20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 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endParaRPr lang="fi-FI" sz="20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0" name="Vuokaaviosymboli: Magneettilevy 29"/>
          <p:cNvSpPr/>
          <p:nvPr/>
        </p:nvSpPr>
        <p:spPr>
          <a:xfrm>
            <a:off x="2700338" y="5589588"/>
            <a:ext cx="914400" cy="61277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 err="1">
                <a:solidFill>
                  <a:schemeClr val="tx1"/>
                </a:solidFill>
              </a:rPr>
              <a:t>Organiza-tion</a:t>
            </a:r>
            <a:r>
              <a:rPr lang="fi-FI" sz="1400" dirty="0">
                <a:solidFill>
                  <a:schemeClr val="tx1"/>
                </a:solidFill>
              </a:rPr>
              <a:t> B</a:t>
            </a:r>
            <a:endParaRPr lang="fi-FI" dirty="0">
              <a:solidFill>
                <a:schemeClr val="tx1"/>
              </a:solidFill>
            </a:endParaRPr>
          </a:p>
        </p:txBody>
      </p:sp>
      <p:sp>
        <p:nvSpPr>
          <p:cNvPr id="34" name="Vuokaaviosymboli: Magneettilevy 33"/>
          <p:cNvSpPr/>
          <p:nvPr/>
        </p:nvSpPr>
        <p:spPr>
          <a:xfrm>
            <a:off x="5508625" y="5589588"/>
            <a:ext cx="914400" cy="61277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i-FI" sz="1400" dirty="0" err="1">
                <a:solidFill>
                  <a:schemeClr val="tx1"/>
                </a:solidFill>
              </a:rPr>
              <a:t>Organiza-tion</a:t>
            </a:r>
            <a:r>
              <a:rPr lang="fi-FI" sz="1400" dirty="0">
                <a:solidFill>
                  <a:schemeClr val="tx1"/>
                </a:solidFill>
              </a:rPr>
              <a:t> D</a:t>
            </a:r>
            <a:endParaRPr lang="fi-FI" dirty="0">
              <a:solidFill>
                <a:schemeClr val="tx1"/>
              </a:solidFill>
            </a:endParaRPr>
          </a:p>
        </p:txBody>
      </p:sp>
      <p:sp>
        <p:nvSpPr>
          <p:cNvPr id="47" name="Otsikko 46"/>
          <p:cNvSpPr>
            <a:spLocks noGrp="1"/>
          </p:cNvSpPr>
          <p:nvPr>
            <p:ph type="title"/>
          </p:nvPr>
        </p:nvSpPr>
        <p:spPr>
          <a:xfrm>
            <a:off x="385763" y="5013325"/>
            <a:ext cx="8229600" cy="1223963"/>
          </a:xfrm>
        </p:spPr>
        <p:txBody>
          <a:bodyPr/>
          <a:lstStyle/>
          <a:p>
            <a:pPr>
              <a:defRPr/>
            </a:pPr>
            <a:r>
              <a:rPr lang="fi-FI" sz="1400" dirty="0" smtClean="0">
                <a:latin typeface="+mn-lt"/>
              </a:rPr>
              <a:t> </a:t>
            </a:r>
            <a:endParaRPr lang="fi-FI" sz="1400" dirty="0">
              <a:latin typeface="+mn-lt"/>
            </a:endParaRPr>
          </a:p>
        </p:txBody>
      </p:sp>
      <p:sp>
        <p:nvSpPr>
          <p:cNvPr id="35" name="Suorakulmio 34"/>
          <p:cNvSpPr/>
          <p:nvPr/>
        </p:nvSpPr>
        <p:spPr>
          <a:xfrm>
            <a:off x="3775075" y="5280025"/>
            <a:ext cx="1520825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fi-FI" sz="1400" dirty="0" err="1">
                <a:solidFill>
                  <a:prstClr val="black"/>
                </a:solidFill>
                <a:ea typeface="+mj-ea"/>
                <a:cs typeface="+mj-cs"/>
              </a:rPr>
              <a:t>Pseudonymization</a:t>
            </a:r>
            <a:endParaRPr lang="fi-FI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Metadata requirement specifications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229600" cy="46799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000" b="1" smtClean="0">
              <a:solidFill>
                <a:schemeClr val="hlink"/>
              </a:solidFill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Four levels</a:t>
            </a:r>
          </a:p>
          <a:p>
            <a:pPr eaLnBrk="1" hangingPunct="1">
              <a:lnSpc>
                <a:spcPct val="80000"/>
              </a:lnSpc>
            </a:pPr>
            <a:endParaRPr lang="en-US" sz="2000" smtClean="0">
              <a:latin typeface="Verdana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Description of the metadata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400" smtClean="0">
                <a:latin typeface="Verdana" pitchFamily="34" charset="0"/>
              </a:rPr>
              <a:t>Eg, standards, date of change, version, source, language, openness</a:t>
            </a:r>
          </a:p>
          <a:p>
            <a:pPr lvl="2" eaLnBrk="1" hangingPunct="1">
              <a:lnSpc>
                <a:spcPct val="80000"/>
              </a:lnSpc>
            </a:pPr>
            <a:endParaRPr lang="en-US" sz="1200" smtClean="0">
              <a:latin typeface="Verdana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Description of the data file or register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400" smtClean="0">
                <a:latin typeface="Verdana" pitchFamily="34" charset="0"/>
              </a:rPr>
              <a:t>Eg. Name, organization, contact information, subject unit, coverage, sample, size, variable quantity, abstract, time, frequency, changes, processing, format, data source, version date, version, id, primary use</a:t>
            </a:r>
          </a:p>
          <a:p>
            <a:pPr lvl="2" eaLnBrk="1" hangingPunct="1">
              <a:lnSpc>
                <a:spcPct val="80000"/>
              </a:lnSpc>
            </a:pPr>
            <a:endParaRPr lang="en-US" sz="1200" smtClean="0">
              <a:latin typeface="Verdana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Description of the variables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400" smtClean="0">
                <a:latin typeface="Verdana" pitchFamily="34" charset="0"/>
              </a:rPr>
              <a:t>Variable name/label, definition, type, code, version date, processing, missing value, source, date, coverage, right to use, safety class, obligatoriness, </a:t>
            </a: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Description of classifications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400" smtClean="0">
                <a:latin typeface="Verdana" pitchFamily="34" charset="0"/>
              </a:rPr>
              <a:t>Code name, code value, code definition, reference, version date</a:t>
            </a:r>
          </a:p>
          <a:p>
            <a:pPr lvl="2" eaLnBrk="1" hangingPunct="1">
              <a:lnSpc>
                <a:spcPct val="80000"/>
              </a:lnSpc>
            </a:pPr>
            <a:endParaRPr lang="en-US" sz="1200" smtClean="0">
              <a:latin typeface="Verdana" pitchFamily="34" charset="0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Metadata requirement specifications (listing)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2133600"/>
            <a:ext cx="8229600" cy="40211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000" b="1" smtClean="0">
              <a:solidFill>
                <a:schemeClr val="hlink"/>
              </a:solidFill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000" smtClean="0">
              <a:latin typeface="Verdana" pitchFamily="34" charset="0"/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graphicFrame>
        <p:nvGraphicFramePr>
          <p:cNvPr id="7" name="Taulukko 6"/>
          <p:cNvGraphicFramePr>
            <a:graphicFrameLocks noGrp="1"/>
          </p:cNvGraphicFramePr>
          <p:nvPr/>
        </p:nvGraphicFramePr>
        <p:xfrm>
          <a:off x="539750" y="1844675"/>
          <a:ext cx="8208910" cy="4061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18"/>
                <a:gridCol w="1728192"/>
                <a:gridCol w="2117036"/>
                <a:gridCol w="1843404"/>
                <a:gridCol w="1440160"/>
              </a:tblGrid>
              <a:tr h="522058"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Number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Metadata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Explanation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Example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Importance</a:t>
                      </a:r>
                      <a:endParaRPr lang="fi-FI" dirty="0"/>
                    </a:p>
                  </a:txBody>
                  <a:tcPr/>
                </a:tc>
              </a:tr>
              <a:tr h="522058">
                <a:tc>
                  <a:txBody>
                    <a:bodyPr/>
                    <a:lstStyle/>
                    <a:p>
                      <a:r>
                        <a:rPr lang="fi-FI" dirty="0" smtClean="0"/>
                        <a:t>M1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Variable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Name</a:t>
                      </a:r>
                      <a:r>
                        <a:rPr lang="fi-FI" dirty="0" smtClean="0"/>
                        <a:t> of </a:t>
                      </a:r>
                      <a:r>
                        <a:rPr lang="fi-FI" dirty="0" err="1" smtClean="0"/>
                        <a:t>variable</a:t>
                      </a:r>
                      <a:r>
                        <a:rPr lang="fi-FI" dirty="0" smtClean="0"/>
                        <a:t> </a:t>
                      </a:r>
                      <a:r>
                        <a:rPr lang="fi-FI" baseline="0" dirty="0" smtClean="0"/>
                        <a:t> in the </a:t>
                      </a:r>
                      <a:r>
                        <a:rPr lang="fi-FI" baseline="0" dirty="0" err="1" smtClean="0"/>
                        <a:t>register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HTIKA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Must</a:t>
                      </a:r>
                      <a:r>
                        <a:rPr lang="fi-FI" dirty="0" smtClean="0"/>
                        <a:t> (A)</a:t>
                      </a:r>
                      <a:endParaRPr lang="fi-FI" dirty="0"/>
                    </a:p>
                  </a:txBody>
                  <a:tcPr/>
                </a:tc>
              </a:tr>
              <a:tr h="522058">
                <a:tc>
                  <a:txBody>
                    <a:bodyPr/>
                    <a:lstStyle/>
                    <a:p>
                      <a:r>
                        <a:rPr lang="fi-FI" dirty="0" smtClean="0"/>
                        <a:t>M2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Definition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Description</a:t>
                      </a:r>
                      <a:r>
                        <a:rPr lang="fi-FI" dirty="0" smtClean="0"/>
                        <a:t> of </a:t>
                      </a:r>
                      <a:r>
                        <a:rPr lang="fi-FI" dirty="0" err="1" smtClean="0"/>
                        <a:t>what</a:t>
                      </a:r>
                      <a:r>
                        <a:rPr lang="fi-FI" dirty="0" smtClean="0"/>
                        <a:t> </a:t>
                      </a:r>
                      <a:r>
                        <a:rPr lang="fi-FI" dirty="0" err="1" smtClean="0"/>
                        <a:t>has</a:t>
                      </a:r>
                      <a:r>
                        <a:rPr lang="fi-FI" dirty="0" smtClean="0"/>
                        <a:t> </a:t>
                      </a:r>
                      <a:r>
                        <a:rPr lang="fi-FI" dirty="0" err="1" smtClean="0"/>
                        <a:t>been</a:t>
                      </a:r>
                      <a:r>
                        <a:rPr lang="fi-FI" dirty="0" smtClean="0"/>
                        <a:t> </a:t>
                      </a:r>
                      <a:r>
                        <a:rPr lang="fi-FI" dirty="0" err="1" smtClean="0"/>
                        <a:t>stored</a:t>
                      </a:r>
                      <a:r>
                        <a:rPr lang="fi-FI" dirty="0" smtClean="0"/>
                        <a:t> in the </a:t>
                      </a:r>
                      <a:r>
                        <a:rPr lang="fi-FI" dirty="0" err="1" smtClean="0"/>
                        <a:t>variable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The </a:t>
                      </a:r>
                      <a:r>
                        <a:rPr lang="fi-FI" dirty="0" err="1" smtClean="0"/>
                        <a:t>parent’s</a:t>
                      </a:r>
                      <a:r>
                        <a:rPr lang="fi-FI" dirty="0" smtClean="0"/>
                        <a:t> </a:t>
                      </a:r>
                      <a:r>
                        <a:rPr lang="fi-FI" dirty="0" err="1" smtClean="0"/>
                        <a:t>age</a:t>
                      </a:r>
                      <a:r>
                        <a:rPr lang="fi-FI" dirty="0" smtClean="0"/>
                        <a:t> at the </a:t>
                      </a:r>
                      <a:r>
                        <a:rPr lang="fi-FI" dirty="0" err="1" smtClean="0"/>
                        <a:t>beginning</a:t>
                      </a:r>
                      <a:r>
                        <a:rPr lang="fi-FI" dirty="0" smtClean="0"/>
                        <a:t> of the </a:t>
                      </a:r>
                      <a:r>
                        <a:rPr lang="fi-FI" dirty="0" err="1" smtClean="0"/>
                        <a:t>year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Must</a:t>
                      </a:r>
                      <a:endParaRPr lang="fi-FI" dirty="0"/>
                    </a:p>
                  </a:txBody>
                  <a:tcPr/>
                </a:tc>
              </a:tr>
              <a:tr h="522058">
                <a:tc>
                  <a:txBody>
                    <a:bodyPr/>
                    <a:lstStyle/>
                    <a:p>
                      <a:r>
                        <a:rPr lang="fi-FI" dirty="0" smtClean="0"/>
                        <a:t>M3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Type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Possible</a:t>
                      </a:r>
                      <a:r>
                        <a:rPr lang="fi-FI" dirty="0" smtClean="0"/>
                        <a:t> </a:t>
                      </a:r>
                      <a:r>
                        <a:rPr lang="fi-FI" dirty="0" err="1" smtClean="0"/>
                        <a:t>values</a:t>
                      </a:r>
                      <a:r>
                        <a:rPr lang="fi-FI" dirty="0" smtClean="0"/>
                        <a:t> of </a:t>
                      </a:r>
                      <a:r>
                        <a:rPr lang="fi-FI" dirty="0" err="1" smtClean="0"/>
                        <a:t>variable</a:t>
                      </a:r>
                      <a:r>
                        <a:rPr lang="fi-FI" baseline="0" dirty="0" smtClean="0"/>
                        <a:t> </a:t>
                      </a:r>
                      <a:r>
                        <a:rPr lang="fi-FI" baseline="0" dirty="0" err="1" smtClean="0"/>
                        <a:t>or</a:t>
                      </a:r>
                      <a:r>
                        <a:rPr lang="fi-FI" baseline="0" dirty="0" smtClean="0"/>
                        <a:t> </a:t>
                      </a:r>
                      <a:r>
                        <a:rPr lang="fi-FI" baseline="0" dirty="0" err="1" smtClean="0"/>
                        <a:t>presentation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Number</a:t>
                      </a:r>
                      <a:r>
                        <a:rPr lang="fi-FI" dirty="0" smtClean="0"/>
                        <a:t> </a:t>
                      </a:r>
                      <a:r>
                        <a:rPr lang="fi-FI" dirty="0" err="1" smtClean="0"/>
                        <a:t>between</a:t>
                      </a:r>
                      <a:r>
                        <a:rPr lang="fi-FI" dirty="0" smtClean="0"/>
                        <a:t> 0-120 / </a:t>
                      </a:r>
                      <a:r>
                        <a:rPr lang="fi-FI" dirty="0" err="1" smtClean="0"/>
                        <a:t>date</a:t>
                      </a:r>
                      <a:r>
                        <a:rPr lang="fi-FI" dirty="0" smtClean="0"/>
                        <a:t> as</a:t>
                      </a:r>
                      <a:r>
                        <a:rPr lang="fi-FI" baseline="0" dirty="0" smtClean="0"/>
                        <a:t> </a:t>
                      </a:r>
                      <a:r>
                        <a:rPr lang="fi-FI" baseline="0" dirty="0" err="1" smtClean="0"/>
                        <a:t>yymmdd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err="1" smtClean="0"/>
                        <a:t>Must</a:t>
                      </a:r>
                      <a:endParaRPr lang="fi-FI" dirty="0"/>
                    </a:p>
                  </a:txBody>
                  <a:tcPr/>
                </a:tc>
              </a:tr>
              <a:tr h="522058">
                <a:tc>
                  <a:txBody>
                    <a:bodyPr/>
                    <a:lstStyle/>
                    <a:p>
                      <a:r>
                        <a:rPr lang="fi-FI" dirty="0" smtClean="0"/>
                        <a:t>….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dirty="0" smtClean="0"/>
                        <a:t>…….</a:t>
                      </a:r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i-FI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To take into consideration for registers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229600" cy="48974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000" b="1" smtClean="0">
              <a:solidFill>
                <a:schemeClr val="hlink"/>
              </a:solidFill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Collected over a long time span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Content changes over time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Classification changes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Collection mode changes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Laws / grounds for collecting data changes</a:t>
            </a:r>
            <a:br>
              <a:rPr lang="en-US" sz="1600" smtClean="0">
                <a:latin typeface="Verdana" pitchFamily="34" charset="0"/>
              </a:rPr>
            </a:br>
            <a:endParaRPr lang="en-US" sz="16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Many separate parties involved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Collection on local level into local registers 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Compilation into national registers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(Processing into statistical registers)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Extraction of research data file</a:t>
            </a:r>
            <a:br>
              <a:rPr lang="en-US" sz="1600" smtClean="0">
                <a:latin typeface="Verdana" pitchFamily="34" charset="0"/>
              </a:rPr>
            </a:br>
            <a:endParaRPr lang="en-US" sz="16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Same variables and classifications in different registers</a:t>
            </a:r>
            <a:br>
              <a:rPr lang="en-US" sz="2000" smtClean="0">
                <a:latin typeface="Verdana" pitchFamily="34" charset="0"/>
              </a:rPr>
            </a:br>
            <a:endParaRPr lang="en-US" sz="20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Stored either in relational databases or as sequential files </a:t>
            </a:r>
          </a:p>
          <a:p>
            <a:pPr lvl="2" eaLnBrk="1" hangingPunct="1">
              <a:lnSpc>
                <a:spcPct val="80000"/>
              </a:lnSpc>
            </a:pPr>
            <a:endParaRPr lang="en-US" sz="2000" smtClean="0">
              <a:latin typeface="Verdana" pitchFamily="34" charset="0"/>
            </a:endParaRPr>
          </a:p>
          <a:p>
            <a:pPr lvl="3" eaLnBrk="1" hangingPunct="1">
              <a:lnSpc>
                <a:spcPct val="80000"/>
              </a:lnSpc>
            </a:pPr>
            <a:endParaRPr lang="en-US" sz="1800" smtClean="0">
              <a:latin typeface="Verdana" pitchFamily="34" charset="0"/>
            </a:endParaRP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8229600" cy="1008063"/>
          </a:xfrm>
        </p:spPr>
        <p:txBody>
          <a:bodyPr/>
          <a:lstStyle/>
          <a:p>
            <a:pPr eaLnBrk="1" hangingPunct="1"/>
            <a:r>
              <a:rPr lang="fi-FI" sz="2400" b="1" smtClean="0">
                <a:latin typeface="Verdana" pitchFamily="34" charset="0"/>
              </a:rPr>
              <a:t>Search for metadata standard, -model,-format</a:t>
            </a:r>
            <a:r>
              <a:rPr lang="fi-FI" sz="2400" smtClean="0">
                <a:latin typeface="Verdana" pitchFamily="34" charset="0"/>
              </a:rPr>
              <a:t/>
            </a:r>
            <a:br>
              <a:rPr lang="fi-FI" sz="2400" smtClean="0">
                <a:latin typeface="Verdana" pitchFamily="34" charset="0"/>
              </a:rPr>
            </a:br>
            <a:r>
              <a:rPr lang="fi-FI" sz="2400" smtClean="0">
                <a:latin typeface="Verdana" pitchFamily="34" charset="0"/>
              </a:rPr>
              <a:t/>
            </a:r>
            <a:br>
              <a:rPr lang="fi-FI" sz="2400" smtClean="0">
                <a:latin typeface="Verdana" pitchFamily="34" charset="0"/>
              </a:rPr>
            </a:br>
            <a:endParaRPr lang="en-US" sz="2400" smtClean="0">
              <a:latin typeface="Verdana" pitchFamily="34" charset="0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16113"/>
            <a:ext cx="8229600" cy="40211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sp>
        <p:nvSpPr>
          <p:cNvPr id="8" name="Suorakulmio 7"/>
          <p:cNvSpPr/>
          <p:nvPr/>
        </p:nvSpPr>
        <p:spPr>
          <a:xfrm rot="19939760">
            <a:off x="5597525" y="2870200"/>
            <a:ext cx="21590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Verdana" pitchFamily="34" charset="0"/>
              </a:rPr>
              <a:t>ISO 11179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  <a:latin typeface="Verdana" pitchFamily="34" charset="0"/>
              </a:rPr>
              <a:t>Metadata Registries</a:t>
            </a:r>
            <a:endParaRPr lang="fi-FI" dirty="0">
              <a:solidFill>
                <a:schemeClr val="tx1"/>
              </a:solidFill>
            </a:endParaRPr>
          </a:p>
        </p:txBody>
      </p:sp>
      <p:sp>
        <p:nvSpPr>
          <p:cNvPr id="9" name="Suorakulmio 8"/>
          <p:cNvSpPr/>
          <p:nvPr/>
        </p:nvSpPr>
        <p:spPr>
          <a:xfrm>
            <a:off x="3492500" y="1989138"/>
            <a:ext cx="1511300" cy="93503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2800" dirty="0">
              <a:latin typeface="Aharoni" pitchFamily="2" charset="-79"/>
              <a:cs typeface="Aharoni" pitchFamily="2" charset="-79"/>
            </a:endParaRPr>
          </a:p>
          <a:p>
            <a:pPr algn="ctr">
              <a:defRPr/>
            </a:pPr>
            <a:r>
              <a:rPr lang="en-US" sz="2800" dirty="0">
                <a:latin typeface="Aharoni" pitchFamily="2" charset="-79"/>
                <a:cs typeface="Aharoni" pitchFamily="2" charset="-79"/>
              </a:rPr>
              <a:t>Dublin core</a:t>
            </a:r>
          </a:p>
          <a:p>
            <a:pPr algn="ctr">
              <a:defRPr/>
            </a:pPr>
            <a:endParaRPr lang="fi-FI" dirty="0"/>
          </a:p>
        </p:txBody>
      </p:sp>
      <p:sp>
        <p:nvSpPr>
          <p:cNvPr id="10" name="Suorakulmio 9"/>
          <p:cNvSpPr/>
          <p:nvPr/>
        </p:nvSpPr>
        <p:spPr>
          <a:xfrm rot="631720">
            <a:off x="1044575" y="2174875"/>
            <a:ext cx="1325563" cy="9144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accent6"/>
                </a:solidFill>
                <a:latin typeface="Lucida Handwriting" pitchFamily="66" charset="0"/>
              </a:rPr>
              <a:t>SDMX</a:t>
            </a:r>
          </a:p>
          <a:p>
            <a:pPr algn="ctr">
              <a:defRPr/>
            </a:pPr>
            <a:endParaRPr lang="fi-FI" dirty="0">
              <a:solidFill>
                <a:schemeClr val="accent6"/>
              </a:solidFill>
            </a:endParaRPr>
          </a:p>
        </p:txBody>
      </p:sp>
      <p:sp>
        <p:nvSpPr>
          <p:cNvPr id="11" name="Suorakulmio 10"/>
          <p:cNvSpPr/>
          <p:nvPr/>
        </p:nvSpPr>
        <p:spPr>
          <a:xfrm>
            <a:off x="1835150" y="4724400"/>
            <a:ext cx="2232025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n-US" sz="2800" dirty="0">
                <a:solidFill>
                  <a:srgbClr val="FF0000"/>
                </a:solidFill>
                <a:latin typeface="Rockwell Extra Bold" pitchFamily="18" charset="0"/>
              </a:rPr>
              <a:t>DDI Lifecycle</a:t>
            </a:r>
          </a:p>
        </p:txBody>
      </p:sp>
      <p:sp>
        <p:nvSpPr>
          <p:cNvPr id="12" name="Suorakulmio 11"/>
          <p:cNvSpPr/>
          <p:nvPr/>
        </p:nvSpPr>
        <p:spPr>
          <a:xfrm rot="19737519">
            <a:off x="2438400" y="2447925"/>
            <a:ext cx="914400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800080"/>
                </a:solidFill>
                <a:latin typeface="Albertus" pitchFamily="18" charset="0"/>
              </a:rPr>
              <a:t>ICA</a:t>
            </a:r>
          </a:p>
        </p:txBody>
      </p:sp>
      <p:sp>
        <p:nvSpPr>
          <p:cNvPr id="14" name="Suorakulmio 13"/>
          <p:cNvSpPr/>
          <p:nvPr/>
        </p:nvSpPr>
        <p:spPr>
          <a:xfrm rot="17760398">
            <a:off x="124619" y="4320382"/>
            <a:ext cx="1912937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n-US" sz="3200" dirty="0" err="1">
                <a:latin typeface="Ravie" pitchFamily="82" charset="0"/>
              </a:rPr>
              <a:t>CoSSI</a:t>
            </a:r>
            <a:endParaRPr lang="en-US" sz="3200" dirty="0">
              <a:latin typeface="Ravie" pitchFamily="82" charset="0"/>
            </a:endParaRPr>
          </a:p>
        </p:txBody>
      </p:sp>
      <p:sp>
        <p:nvSpPr>
          <p:cNvPr id="15" name="Suorakulmio 14"/>
          <p:cNvSpPr/>
          <p:nvPr/>
        </p:nvSpPr>
        <p:spPr>
          <a:xfrm rot="310722">
            <a:off x="4972050" y="4187825"/>
            <a:ext cx="914400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800" dirty="0">
                <a:solidFill>
                  <a:srgbClr val="C00000"/>
                </a:solidFill>
                <a:latin typeface="Algerian" pitchFamily="82" charset="0"/>
              </a:rPr>
              <a:t>RDA</a:t>
            </a:r>
          </a:p>
        </p:txBody>
      </p:sp>
      <p:sp>
        <p:nvSpPr>
          <p:cNvPr id="16" name="Suorakulmio 15"/>
          <p:cNvSpPr/>
          <p:nvPr/>
        </p:nvSpPr>
        <p:spPr>
          <a:xfrm>
            <a:off x="6372225" y="5661025"/>
            <a:ext cx="914400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</a:rPr>
              <a:t>ISAF</a:t>
            </a:r>
          </a:p>
        </p:txBody>
      </p:sp>
      <p:sp>
        <p:nvSpPr>
          <p:cNvPr id="17" name="Suorakulmio 16"/>
          <p:cNvSpPr/>
          <p:nvPr/>
        </p:nvSpPr>
        <p:spPr>
          <a:xfrm rot="351876">
            <a:off x="7164388" y="1844675"/>
            <a:ext cx="1295400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b="1" dirty="0">
                <a:solidFill>
                  <a:srgbClr val="008000"/>
                </a:solidFill>
              </a:rPr>
              <a:t>MODS</a:t>
            </a:r>
          </a:p>
        </p:txBody>
      </p:sp>
      <p:sp>
        <p:nvSpPr>
          <p:cNvPr id="18" name="Suorakulmio 17"/>
          <p:cNvSpPr/>
          <p:nvPr/>
        </p:nvSpPr>
        <p:spPr>
          <a:xfrm rot="351876">
            <a:off x="7272338" y="1981200"/>
            <a:ext cx="1296987" cy="7826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b="1" dirty="0">
                <a:solidFill>
                  <a:srgbClr val="008000"/>
                </a:solidFill>
              </a:rPr>
              <a:t>MODS</a:t>
            </a:r>
          </a:p>
        </p:txBody>
      </p:sp>
      <p:sp>
        <p:nvSpPr>
          <p:cNvPr id="19" name="Suorakulmio 18"/>
          <p:cNvSpPr/>
          <p:nvPr/>
        </p:nvSpPr>
        <p:spPr>
          <a:xfrm rot="351876">
            <a:off x="7316788" y="1997075"/>
            <a:ext cx="1295400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b="1" dirty="0">
                <a:solidFill>
                  <a:srgbClr val="008000"/>
                </a:solidFill>
              </a:rPr>
              <a:t>MODS</a:t>
            </a:r>
          </a:p>
        </p:txBody>
      </p:sp>
      <p:sp>
        <p:nvSpPr>
          <p:cNvPr id="20" name="Suorakulmio 19"/>
          <p:cNvSpPr/>
          <p:nvPr/>
        </p:nvSpPr>
        <p:spPr>
          <a:xfrm rot="18994268">
            <a:off x="7423150" y="2916238"/>
            <a:ext cx="1296988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b="1" dirty="0">
                <a:solidFill>
                  <a:srgbClr val="008000"/>
                </a:solidFill>
              </a:rPr>
              <a:t>MADS</a:t>
            </a:r>
          </a:p>
        </p:txBody>
      </p:sp>
      <p:sp>
        <p:nvSpPr>
          <p:cNvPr id="21" name="Suorakulmio 20"/>
          <p:cNvSpPr/>
          <p:nvPr/>
        </p:nvSpPr>
        <p:spPr>
          <a:xfrm>
            <a:off x="1258888" y="6021388"/>
            <a:ext cx="1728787" cy="57626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dirty="0">
                <a:solidFill>
                  <a:srgbClr val="92D050"/>
                </a:solidFill>
                <a:latin typeface="Lucida Handwriting" pitchFamily="66" charset="0"/>
              </a:rPr>
              <a:t>PREMIS</a:t>
            </a:r>
          </a:p>
        </p:txBody>
      </p:sp>
      <p:sp>
        <p:nvSpPr>
          <p:cNvPr id="22" name="Suorakulmio 21"/>
          <p:cNvSpPr/>
          <p:nvPr/>
        </p:nvSpPr>
        <p:spPr>
          <a:xfrm rot="1364285">
            <a:off x="6251575" y="4589463"/>
            <a:ext cx="2089150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800" b="1" dirty="0">
                <a:solidFill>
                  <a:srgbClr val="C00000"/>
                </a:solidFill>
              </a:rPr>
              <a:t>DDI </a:t>
            </a:r>
            <a:r>
              <a:rPr lang="fi-FI" sz="2800" b="1" dirty="0" err="1">
                <a:solidFill>
                  <a:srgbClr val="C00000"/>
                </a:solidFill>
              </a:rPr>
              <a:t>Codebook</a:t>
            </a:r>
            <a:endParaRPr lang="fi-FI" sz="2800" b="1" dirty="0">
              <a:solidFill>
                <a:srgbClr val="C00000"/>
              </a:solidFill>
            </a:endParaRPr>
          </a:p>
        </p:txBody>
      </p:sp>
      <p:sp>
        <p:nvSpPr>
          <p:cNvPr id="23" name="Suorakulmio 22"/>
          <p:cNvSpPr/>
          <p:nvPr/>
        </p:nvSpPr>
        <p:spPr>
          <a:xfrm>
            <a:off x="3276600" y="4005263"/>
            <a:ext cx="1079500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dirty="0">
                <a:solidFill>
                  <a:srgbClr val="0066FF"/>
                </a:solidFill>
                <a:latin typeface="Aharoni" pitchFamily="2" charset="-79"/>
                <a:cs typeface="Aharoni" pitchFamily="2" charset="-79"/>
              </a:rPr>
              <a:t>Meta</a:t>
            </a:r>
          </a:p>
          <a:p>
            <a:pPr algn="ctr">
              <a:defRPr/>
            </a:pPr>
            <a:r>
              <a:rPr lang="fi-FI" sz="2400" dirty="0">
                <a:solidFill>
                  <a:srgbClr val="0066FF"/>
                </a:solidFill>
                <a:latin typeface="Aharoni" pitchFamily="2" charset="-79"/>
                <a:cs typeface="Aharoni" pitchFamily="2" charset="-79"/>
              </a:rPr>
              <a:t>Plus</a:t>
            </a:r>
          </a:p>
        </p:txBody>
      </p:sp>
      <p:sp>
        <p:nvSpPr>
          <p:cNvPr id="24" name="Suorakulmio 23"/>
          <p:cNvSpPr/>
          <p:nvPr/>
        </p:nvSpPr>
        <p:spPr>
          <a:xfrm rot="20744696">
            <a:off x="4735513" y="4951413"/>
            <a:ext cx="1368425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000" dirty="0">
                <a:solidFill>
                  <a:srgbClr val="6666FF"/>
                </a:solidFill>
                <a:latin typeface="Showcard Gothic" pitchFamily="82" charset="0"/>
              </a:rPr>
              <a:t>Times</a:t>
            </a:r>
          </a:p>
        </p:txBody>
      </p:sp>
      <p:sp>
        <p:nvSpPr>
          <p:cNvPr id="25" name="Suorakulmio 24"/>
          <p:cNvSpPr/>
          <p:nvPr/>
        </p:nvSpPr>
        <p:spPr>
          <a:xfrm rot="20759549">
            <a:off x="6045200" y="1905000"/>
            <a:ext cx="1157288" cy="57626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3600" dirty="0">
                <a:solidFill>
                  <a:srgbClr val="FFC000"/>
                </a:solidFill>
                <a:latin typeface="Playbill" pitchFamily="82" charset="0"/>
              </a:rPr>
              <a:t>AGLS</a:t>
            </a:r>
          </a:p>
        </p:txBody>
      </p:sp>
      <p:sp>
        <p:nvSpPr>
          <p:cNvPr id="26" name="Suorakulmio 25"/>
          <p:cNvSpPr/>
          <p:nvPr/>
        </p:nvSpPr>
        <p:spPr>
          <a:xfrm rot="21145838">
            <a:off x="449263" y="2967038"/>
            <a:ext cx="1604962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b="1" i="1" dirty="0">
                <a:solidFill>
                  <a:srgbClr val="FFC000"/>
                </a:solidFill>
                <a:latin typeface="Albertus" pitchFamily="18" charset="0"/>
              </a:rPr>
              <a:t>SCORM</a:t>
            </a:r>
          </a:p>
        </p:txBody>
      </p:sp>
      <p:sp>
        <p:nvSpPr>
          <p:cNvPr id="27" name="Suorakulmio 26"/>
          <p:cNvSpPr/>
          <p:nvPr/>
        </p:nvSpPr>
        <p:spPr>
          <a:xfrm rot="21172573">
            <a:off x="3992563" y="3130550"/>
            <a:ext cx="1042987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000" dirty="0">
                <a:solidFill>
                  <a:srgbClr val="6600FF"/>
                </a:solidFill>
                <a:latin typeface="ZapfChancery" pitchFamily="18" charset="0"/>
              </a:rPr>
              <a:t>EAC-CPF</a:t>
            </a:r>
          </a:p>
        </p:txBody>
      </p:sp>
      <p:sp>
        <p:nvSpPr>
          <p:cNvPr id="28" name="Suorakulmio 27"/>
          <p:cNvSpPr/>
          <p:nvPr/>
        </p:nvSpPr>
        <p:spPr>
          <a:xfrm rot="20041390">
            <a:off x="1884363" y="3370263"/>
            <a:ext cx="1584325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i-FI" sz="2400" b="1" dirty="0">
                <a:solidFill>
                  <a:srgbClr val="92D050"/>
                </a:solidFill>
              </a:rPr>
              <a:t>ISO 2146</a:t>
            </a:r>
            <a:r>
              <a:rPr lang="fi-FI" dirty="0"/>
              <a:t> </a:t>
            </a:r>
          </a:p>
        </p:txBody>
      </p:sp>
      <p:sp>
        <p:nvSpPr>
          <p:cNvPr id="13" name="Suorakulmio 12"/>
          <p:cNvSpPr/>
          <p:nvPr/>
        </p:nvSpPr>
        <p:spPr>
          <a:xfrm>
            <a:off x="3635375" y="5732463"/>
            <a:ext cx="1800225" cy="91440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80000"/>
              </a:lnSpc>
              <a:defRPr/>
            </a:pPr>
            <a:r>
              <a:rPr lang="en-US" sz="2800" b="1" i="1" dirty="0">
                <a:solidFill>
                  <a:srgbClr val="800080"/>
                </a:solidFill>
                <a:latin typeface="Verdana" pitchFamily="34" charset="0"/>
              </a:rPr>
              <a:t>RIF-CS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Current metadata work in Finland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000" b="1" smtClean="0">
              <a:solidFill>
                <a:schemeClr val="hlink"/>
              </a:solidFill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Statistics Finland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CoSSI (Common Structure of Statistical Information)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Developed and used within Statistics Finland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Tools: Metadata editor </a:t>
            </a:r>
          </a:p>
          <a:p>
            <a:pPr lvl="2" eaLnBrk="1" hangingPunct="1">
              <a:lnSpc>
                <a:spcPct val="80000"/>
              </a:lnSpc>
            </a:pPr>
            <a:endParaRPr lang="en-US" sz="14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National Archives of Finland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Project SÄHKE3</a:t>
            </a:r>
          </a:p>
          <a:p>
            <a:pPr lvl="2"/>
            <a:r>
              <a:rPr lang="fi-FI" sz="160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Project </a:t>
            </a:r>
            <a:r>
              <a:rPr lang="en-US" sz="1600" smtClean="0">
                <a:latin typeface="Verdana" pitchFamily="34" charset="0"/>
                <a:ea typeface="Verdana" pitchFamily="34" charset="0"/>
                <a:cs typeface="Verdana" pitchFamily="34" charset="0"/>
              </a:rPr>
              <a:t>for developing electronic information management and long–term preservation of register data and databases</a:t>
            </a:r>
          </a:p>
          <a:p>
            <a:pPr lvl="2"/>
            <a:r>
              <a:rPr lang="en-US" sz="1600" smtClean="0">
                <a:latin typeface="Verdana" pitchFamily="34" charset="0"/>
                <a:ea typeface="Verdana" pitchFamily="34" charset="0"/>
                <a:cs typeface="Verdana" pitchFamily="34" charset="0"/>
              </a:rPr>
              <a:t>SÄHKE3–norm to be implemented in 2013-2014</a:t>
            </a:r>
          </a:p>
          <a:p>
            <a:pPr lvl="2"/>
            <a:endParaRPr lang="en-US" sz="160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Finnish Social Science Data Archive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Presently using DDI -C, studying DDI -L</a:t>
            </a:r>
          </a:p>
          <a:p>
            <a:pPr lvl="2">
              <a:buFontTx/>
              <a:buNone/>
            </a:pPr>
            <a:endParaRPr lang="en-US" sz="14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And many others ……</a:t>
            </a:r>
            <a:endParaRPr lang="en-US" sz="18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</a:pPr>
            <a:endParaRPr lang="en-US" sz="14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en-US" sz="14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</a:pPr>
            <a:endParaRPr lang="en-US" sz="12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6389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8229600" cy="792162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7030A0"/>
                </a:solidFill>
                <a:latin typeface="Verdana" pitchFamily="34" charset="0"/>
              </a:rPr>
              <a:t>Challenges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22960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000" b="1" smtClean="0">
              <a:solidFill>
                <a:schemeClr val="hlink"/>
              </a:solidFill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Find a suitable metadata standard(s) for registers</a:t>
            </a:r>
          </a:p>
          <a:p>
            <a:pPr eaLnBrk="1" hangingPunct="1">
              <a:lnSpc>
                <a:spcPct val="80000"/>
              </a:lnSpc>
            </a:pPr>
            <a:endParaRPr lang="en-US" sz="20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Reach consensus</a:t>
            </a:r>
          </a:p>
          <a:p>
            <a:pPr lvl="2" eaLnBrk="1" hangingPunct="1">
              <a:lnSpc>
                <a:spcPct val="80000"/>
              </a:lnSpc>
            </a:pPr>
            <a:endParaRPr lang="en-US" sz="1400" smtClean="0">
              <a:latin typeface="Verdan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Implement the standard at all levels of data collection and processing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What’s in it for the register keepers?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Shouldn’t be too much work!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>
                <a:latin typeface="Verdana" pitchFamily="34" charset="0"/>
              </a:rPr>
              <a:t>National standards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JUHTA (Advisory committee on Information Management in Public Authorities)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JHS (Public Administration Recommendation)</a:t>
            </a:r>
          </a:p>
          <a:p>
            <a:pPr lvl="3" eaLnBrk="1" hangingPunct="1">
              <a:lnSpc>
                <a:spcPct val="80000"/>
              </a:lnSpc>
            </a:pPr>
            <a:r>
              <a:rPr lang="en-US" sz="1600" smtClean="0">
                <a:latin typeface="Verdana" pitchFamily="34" charset="0"/>
              </a:rPr>
              <a:t>Plans to appoint a group for register recommendations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800" smtClean="0">
                <a:latin typeface="Verdana" pitchFamily="34" charset="0"/>
              </a:rPr>
              <a:t>SÄHKE3 </a:t>
            </a:r>
          </a:p>
          <a:p>
            <a:pPr lvl="2">
              <a:buFontTx/>
              <a:buNone/>
            </a:pPr>
            <a:endParaRPr lang="en-US" sz="14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en-US" sz="14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en-US" sz="14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</a:pPr>
            <a:endParaRPr lang="en-US" sz="1200" smtClean="0">
              <a:latin typeface="Verdana" pitchFamily="34" charset="0"/>
            </a:endParaRPr>
          </a:p>
          <a:p>
            <a:pPr lvl="2" eaLnBrk="1" hangingPunct="1">
              <a:lnSpc>
                <a:spcPct val="80000"/>
              </a:lnSpc>
              <a:buFontTx/>
              <a:buNone/>
            </a:pPr>
            <a:endParaRPr lang="en-US" sz="1800" smtClean="0">
              <a:latin typeface="Verdana" pitchFamily="34" charset="0"/>
            </a:endParaRP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52513"/>
            <a:ext cx="8229600" cy="144462"/>
          </a:xfrm>
        </p:spPr>
        <p:txBody>
          <a:bodyPr/>
          <a:lstStyle/>
          <a:p>
            <a:pPr eaLnBrk="1" hangingPunct="1"/>
            <a:endParaRPr lang="en-US" sz="2400" smtClean="0">
              <a:latin typeface="Verdana" pitchFamily="34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08721"/>
            <a:ext cx="8229600" cy="5246018"/>
          </a:xfrm>
          <a:solidFill>
            <a:srgbClr val="FFFF99"/>
          </a:solidFill>
        </p:spPr>
        <p:txBody>
          <a:bodyPr/>
          <a:lstStyle/>
          <a:p>
            <a:pPr eaLnBrk="1" hangingPunct="1"/>
            <a:endParaRPr lang="fi-FI" sz="2400" b="1" smtClean="0">
              <a:latin typeface="Comic Sans MS" pitchFamily="66" charset="0"/>
            </a:endParaRPr>
          </a:p>
          <a:p>
            <a:pPr algn="ctr" eaLnBrk="1" hangingPunct="1">
              <a:buFontTx/>
              <a:buNone/>
            </a:pPr>
            <a:endParaRPr lang="fi-FI" sz="2400" b="1" smtClean="0">
              <a:latin typeface="Comic Sans MS" pitchFamily="66" charset="0"/>
            </a:endParaRPr>
          </a:p>
          <a:p>
            <a:pPr algn="ctr" eaLnBrk="1" hangingPunct="1">
              <a:buFontTx/>
              <a:buNone/>
            </a:pPr>
            <a:r>
              <a:rPr lang="fi-FI" sz="2400" b="1" smtClean="0">
                <a:latin typeface="Comic Sans MS" pitchFamily="66" charset="0"/>
              </a:rPr>
              <a:t>Thank you!</a:t>
            </a:r>
          </a:p>
          <a:p>
            <a:pPr algn="ctr" eaLnBrk="1" hangingPunct="1">
              <a:buFontTx/>
              <a:buNone/>
            </a:pPr>
            <a:endParaRPr lang="fi-FI" sz="2400" b="1" smtClean="0">
              <a:latin typeface="Comic Sans MS" pitchFamily="66" charset="0"/>
            </a:endParaRPr>
          </a:p>
          <a:p>
            <a:pPr algn="ctr" eaLnBrk="1" hangingPunct="1">
              <a:buFontTx/>
              <a:buNone/>
            </a:pPr>
            <a:endParaRPr lang="fi-FI" sz="2400" b="1" smtClean="0">
              <a:latin typeface="Comic Sans MS" pitchFamily="66" charset="0"/>
            </a:endParaRPr>
          </a:p>
          <a:p>
            <a:pPr algn="ctr" eaLnBrk="1" hangingPunct="1">
              <a:buFontTx/>
              <a:buNone/>
            </a:pPr>
            <a:r>
              <a:rPr lang="fi-FI" sz="2000" b="1" smtClean="0">
                <a:hlinkClick r:id="rId2"/>
              </a:rPr>
              <a:t>http://www.rekisteritutkimus.fi</a:t>
            </a:r>
            <a:endParaRPr lang="fi-FI" sz="2000" b="1" smtClean="0"/>
          </a:p>
          <a:p>
            <a:pPr algn="ctr" eaLnBrk="1" hangingPunct="1"/>
            <a:endParaRPr lang="fi-FI" sz="2000" b="1" smtClean="0"/>
          </a:p>
          <a:p>
            <a:pPr eaLnBrk="1" hangingPunct="1"/>
            <a:endParaRPr lang="en-US" sz="2000" b="1" smtClean="0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979613" y="333375"/>
            <a:ext cx="4429125" cy="304800"/>
          </a:xfrm>
          <a:prstGeom prst="rect">
            <a:avLst/>
          </a:prstGeom>
          <a:solidFill>
            <a:srgbClr val="6666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fi-FI" sz="1400">
                <a:solidFill>
                  <a:schemeClr val="bg1"/>
                </a:solidFill>
              </a:rPr>
              <a:t>Finnish Information Centre for Register Research</a:t>
            </a:r>
          </a:p>
        </p:txBody>
      </p:sp>
      <p:sp>
        <p:nvSpPr>
          <p:cNvPr id="18437" name="Rectangle 5"/>
          <p:cNvSpPr>
            <a:spLocks noChangeArrowheads="1"/>
          </p:cNvSpPr>
          <p:nvPr/>
        </p:nvSpPr>
        <p:spPr bwMode="auto">
          <a:xfrm>
            <a:off x="468313" y="333375"/>
            <a:ext cx="1511300" cy="287338"/>
          </a:xfrm>
          <a:prstGeom prst="rect">
            <a:avLst/>
          </a:prstGeom>
          <a:solidFill>
            <a:srgbClr val="0099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i-FI"/>
          </a:p>
        </p:txBody>
      </p:sp>
      <p:pic>
        <p:nvPicPr>
          <p:cNvPr id="18439" name="Picture 9" descr="retki_kielet_is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975" y="4076700"/>
            <a:ext cx="4319588" cy="180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letusrakenne">
  <a:themeElements>
    <a:clrScheme name="Oletusrakenn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letusrakenn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letusraken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letusraken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letusraken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letusraken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letusraken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letusraken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letusraken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letusraken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letusraken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letusraken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letusraken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letusraken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4349</TotalTime>
  <Words>1048</Words>
  <Application>Microsoft Office PowerPoint</Application>
  <PresentationFormat>Näytössä katseltava diaesitys (4:3)</PresentationFormat>
  <Paragraphs>344</Paragraphs>
  <Slides>17</Slides>
  <Notes>0</Notes>
  <HiddenSlides>0</HiddenSlides>
  <MMClips>0</MMClips>
  <ScaleCrop>false</ScaleCrop>
  <HeadingPairs>
    <vt:vector size="4" baseType="variant">
      <vt:variant>
        <vt:lpstr>Teema</vt:lpstr>
      </vt:variant>
      <vt:variant>
        <vt:i4>1</vt:i4>
      </vt:variant>
      <vt:variant>
        <vt:lpstr>Dian otsikot</vt:lpstr>
      </vt:variant>
      <vt:variant>
        <vt:i4>17</vt:i4>
      </vt:variant>
    </vt:vector>
  </HeadingPairs>
  <TitlesOfParts>
    <vt:vector size="18" baseType="lpstr">
      <vt:lpstr>Oletusrakenne</vt:lpstr>
      <vt:lpstr> Documenting Register Data for Research Purposes  </vt:lpstr>
      <vt:lpstr>Finnish administrative registers</vt:lpstr>
      <vt:lpstr>Secondary usage of administrative registers</vt:lpstr>
      <vt:lpstr>Prerequisites for register-based research</vt:lpstr>
      <vt:lpstr>Current state of register metadata in Finland</vt:lpstr>
      <vt:lpstr>Description of personal data file (section 10 of Personal Data Act)</vt:lpstr>
      <vt:lpstr>Example of list of data items in the Finnish population census data file</vt:lpstr>
      <vt:lpstr> Authorities responsible for updating the population information system  </vt:lpstr>
      <vt:lpstr>Present process for obtaining register data for research   </vt:lpstr>
      <vt:lpstr> </vt:lpstr>
      <vt:lpstr>Metadata requirement specifications</vt:lpstr>
      <vt:lpstr>Metadata requirement specifications (listing)</vt:lpstr>
      <vt:lpstr>To take into consideration for registers</vt:lpstr>
      <vt:lpstr>Search for metadata standard, -model,-format  </vt:lpstr>
      <vt:lpstr>Current metadata work in Finland</vt:lpstr>
      <vt:lpstr>Challenges</vt:lpstr>
      <vt:lpstr>Dia 17</vt:lpstr>
    </vt:vector>
  </TitlesOfParts>
  <Company>Stakes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Irma-Leena Notkola</dc:creator>
  <cp:lastModifiedBy>Johnson Marianne</cp:lastModifiedBy>
  <cp:revision>202</cp:revision>
  <dcterms:created xsi:type="dcterms:W3CDTF">2006-05-09T12:59:59Z</dcterms:created>
  <dcterms:modified xsi:type="dcterms:W3CDTF">2011-12-02T09:34:36Z</dcterms:modified>
</cp:coreProperties>
</file>