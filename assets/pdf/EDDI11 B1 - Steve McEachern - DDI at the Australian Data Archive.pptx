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Default Extension="pict" ContentType="image/pict"/>
  <Override PartName="/ppt/slides/slide9.xml" ContentType="application/vnd.openxmlformats-officedocument.presentationml.slide+xml"/>
  <Override PartName="/ppt/slides/slide14.xml" ContentType="application/vnd.openxmlformats-officedocument.presentationml.slide+xml"/>
  <Default Extension="rels" ContentType="application/vnd.openxmlformats-package.relationships+xml"/>
  <Override PartName="/ppt/slides/slide5.xml" ContentType="application/vnd.openxmlformats-officedocument.presentationml.slide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docProps/app.xml" ContentType="application/vnd.openxmlformats-officedocument.extended-properties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Default Extension="vml" ContentType="application/vnd.openxmlformats-officedocument.vmlDrawi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58" r:id="rId1"/>
  </p:sldMasterIdLst>
  <p:notesMasterIdLst>
    <p:notesMasterId r:id="rId28"/>
  </p:notesMasterIdLst>
  <p:handoutMasterIdLst>
    <p:handoutMasterId r:id="rId29"/>
  </p:handoutMasterIdLst>
  <p:sldIdLst>
    <p:sldId id="260" r:id="rId2"/>
    <p:sldId id="261" r:id="rId3"/>
    <p:sldId id="262" r:id="rId4"/>
    <p:sldId id="263" r:id="rId5"/>
    <p:sldId id="344" r:id="rId6"/>
    <p:sldId id="308" r:id="rId7"/>
    <p:sldId id="350" r:id="rId8"/>
    <p:sldId id="345" r:id="rId9"/>
    <p:sldId id="351" r:id="rId10"/>
    <p:sldId id="309" r:id="rId11"/>
    <p:sldId id="267" r:id="rId12"/>
    <p:sldId id="310" r:id="rId13"/>
    <p:sldId id="315" r:id="rId14"/>
    <p:sldId id="319" r:id="rId15"/>
    <p:sldId id="323" r:id="rId16"/>
    <p:sldId id="322" r:id="rId17"/>
    <p:sldId id="341" r:id="rId18"/>
    <p:sldId id="340" r:id="rId19"/>
    <p:sldId id="346" r:id="rId20"/>
    <p:sldId id="353" r:id="rId21"/>
    <p:sldId id="343" r:id="rId22"/>
    <p:sldId id="352" r:id="rId23"/>
    <p:sldId id="347" r:id="rId24"/>
    <p:sldId id="354" r:id="rId25"/>
    <p:sldId id="349" r:id="rId26"/>
    <p:sldId id="27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 prnWhat="handouts2" clrMode="gray" frameSlides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9" autoAdjust="0"/>
    <p:restoredTop sz="94598" autoAdjust="0"/>
  </p:normalViewPr>
  <p:slideViewPr>
    <p:cSldViewPr snapToGrid="0" snapToObjects="1">
      <p:cViewPr varScale="1">
        <p:scale>
          <a:sx n="103" d="100"/>
          <a:sy n="103" d="100"/>
        </p:scale>
        <p:origin x="-352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4" Type="http://schemas.openxmlformats.org/officeDocument/2006/relationships/slide" Target="slides/slide11.xml"/><Relationship Id="rId5" Type="http://schemas.openxmlformats.org/officeDocument/2006/relationships/slide" Target="slides/slide26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ict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ict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20078-CA2B-9B48-924C-DCA65B839316}" type="datetimeFigureOut">
              <a:rPr lang="en-US" smtClean="0"/>
              <a:pPr/>
              <a:t>12/6/11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56C98-145B-F248-BA6D-C96A59EE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A6715-972C-E547-A210-E3CD01F1D89A}" type="datetimeFigureOut">
              <a:rPr lang="en-US" smtClean="0"/>
              <a:pPr/>
              <a:t>12/6/11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38D86-95EF-1641-9445-8E19F85F578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BF9460-7E69-45ED-B0BA-DA2F0C5B1062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ＭＳ Ｐゴシック" pitchFamily="27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7F4A52-F2AB-4CED-B295-FE0BA44A59DF}" type="slidenum">
              <a:rPr lang="en-US"/>
              <a:pPr/>
              <a:t>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ＭＳ Ｐゴシック" pitchFamily="27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0184" y="2978129"/>
            <a:ext cx="6068015" cy="885726"/>
          </a:xfrm>
        </p:spPr>
        <p:txBody>
          <a:bodyPr/>
          <a:lstStyle>
            <a:lvl1pPr algn="l">
              <a:defRPr/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0184" y="3863855"/>
            <a:ext cx="6068016" cy="1752600"/>
          </a:xfrm>
        </p:spPr>
        <p:txBody>
          <a:bodyPr>
            <a:normAutofit/>
          </a:bodyPr>
          <a:lstStyle>
            <a:lvl1pPr marL="0" indent="0" algn="l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ext Page Level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/>
              </a:buClr>
              <a:defRPr sz="2500"/>
            </a:lvl1pPr>
            <a:lvl2pPr>
              <a:buClr>
                <a:schemeClr val="accent3"/>
              </a:buClr>
              <a:defRPr sz="2000"/>
            </a:lvl2pPr>
            <a:lvl3pPr>
              <a:buClr>
                <a:schemeClr val="accent3"/>
              </a:buClr>
              <a:defRPr sz="2000"/>
            </a:lvl3pPr>
            <a:lvl4pPr>
              <a:buClr>
                <a:schemeClr val="accent3"/>
              </a:buClr>
              <a:defRPr sz="2000"/>
            </a:lvl4pPr>
            <a:lvl5pPr>
              <a:buClr>
                <a:schemeClr val="accent3"/>
              </a:buClr>
              <a:defRPr sz="2000"/>
            </a:lvl5pPr>
          </a:lstStyle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Text Page Level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962024" y="2840038"/>
            <a:ext cx="7724775" cy="37979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961366" y="2840210"/>
            <a:ext cx="77254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AU" sz="2000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1_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326309"/>
            <a:ext cx="4727136" cy="133073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62024" y="1657048"/>
            <a:ext cx="7724775" cy="462013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2_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961366" y="326309"/>
            <a:ext cx="7725433" cy="749629"/>
          </a:xfrm>
        </p:spPr>
        <p:txBody>
          <a:bodyPr>
            <a:normAutofit/>
          </a:bodyPr>
          <a:lstStyle>
            <a:lvl1pPr>
              <a:defRPr sz="2500"/>
            </a:lvl1pPr>
          </a:lstStyle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025" y="1076324"/>
            <a:ext cx="7724774" cy="53884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1366" y="1697210"/>
            <a:ext cx="772543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366" y="2840210"/>
            <a:ext cx="7725434" cy="3382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dirty="0" smtClean="0"/>
              <a:t>Click to edit Master text styles</a:t>
            </a:r>
          </a:p>
          <a:p>
            <a:pPr lvl="1"/>
            <a:r>
              <a:rPr lang="en-AU" dirty="0" smtClean="0"/>
              <a:t>Second level</a:t>
            </a:r>
          </a:p>
          <a:p>
            <a:pPr lvl="2"/>
            <a:r>
              <a:rPr lang="en-AU" dirty="0" smtClean="0"/>
              <a:t>Third level</a:t>
            </a:r>
          </a:p>
          <a:p>
            <a:pPr lvl="3"/>
            <a:r>
              <a:rPr lang="en-AU" dirty="0" smtClean="0"/>
              <a:t>Fourth level</a:t>
            </a:r>
          </a:p>
          <a:p>
            <a:pPr lvl="4"/>
            <a:r>
              <a:rPr lang="en-AU" dirty="0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4" r:id="rId3"/>
    <p:sldLayoutId id="2147483666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35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5"/>
        </a:buClr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3"/>
        </a:buClr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da.edu.au/indigenous/home" TargetMode="External"/><Relationship Id="rId4" Type="http://schemas.openxmlformats.org/officeDocument/2006/relationships/hyperlink" Target="http://gis-test.ada.edu.au" TargetMode="External"/><Relationship Id="rId5" Type="http://schemas.openxmlformats.org/officeDocument/2006/relationships/hyperlink" Target="http://hccda.ada.edu.au" TargetMode="External"/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da.edu.au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5.xml"/><Relationship Id="rId3" Type="http://schemas.openxmlformats.org/officeDocument/2006/relationships/oleObject" Target="Macintosh%20HD:Users:stevenmceachern:Documents:Steve:ASSDA%20Strategy:ASSDA%20Review%202011%20-%20ANUSF%20report.doc!OLE_LINK1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5.xml"/><Relationship Id="rId3" Type="http://schemas.openxmlformats.org/officeDocument/2006/relationships/oleObject" Target="Macintosh%20HD:Users:stevenmceachern:Documents:Steve:ADA_website:user-guides:User%20Guide%20No%202_28072011.doc!OLE_LINK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5.xml"/><Relationship Id="rId3" Type="http://schemas.openxmlformats.org/officeDocument/2006/relationships/oleObject" Target="!OLE_LINK2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5.xml"/><Relationship Id="rId3" Type="http://schemas.openxmlformats.org/officeDocument/2006/relationships/oleObject" Target="!OLE_LINK5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5.xml"/><Relationship Id="rId3" Type="http://schemas.openxmlformats.org/officeDocument/2006/relationships/oleObject" Target="!OLE_LINK6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5.xml"/><Relationship Id="rId3" Type="http://schemas.openxmlformats.org/officeDocument/2006/relationships/oleObject" Target="Macintosh%20HD:Users:stevenmceachern:Documents:Steve:ASSDA%20Strategy:ASSDA%20Review%202011%20-%20ANUSF%20report.doc!OLE_LINK2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ada.edu.au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steven.mceachern@anu.edu.a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56332" y="2387603"/>
            <a:ext cx="6563818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800" dirty="0" smtClean="0"/>
              <a:t>DDI at the Australian Data Archive </a:t>
            </a:r>
            <a:br>
              <a:rPr lang="en-US" sz="4800" dirty="0" smtClean="0"/>
            </a:b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2800" dirty="0" smtClean="0"/>
              <a:t>Steve </a:t>
            </a:r>
            <a:r>
              <a:rPr lang="en-US" sz="2800" dirty="0" smtClean="0"/>
              <a:t>McEachern</a:t>
            </a:r>
            <a:br>
              <a:rPr lang="en-US" sz="2800" dirty="0" smtClean="0"/>
            </a:br>
            <a:r>
              <a:rPr lang="en-US" sz="2800" dirty="0" smtClean="0"/>
              <a:t>Deputy Director, </a:t>
            </a:r>
            <a:r>
              <a:rPr lang="en-US" sz="2800" dirty="0" smtClean="0"/>
              <a:t>ADA</a:t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with Deborah Mitchell</a:t>
            </a:r>
            <a:r>
              <a:rPr lang="en-US" sz="2800" dirty="0" smtClean="0"/>
              <a:t> (ADA), Ben Evans and Olaf Delgado-</a:t>
            </a:r>
            <a:r>
              <a:rPr lang="en-US" sz="2800" dirty="0" err="1" smtClean="0"/>
              <a:t>Friedrichs</a:t>
            </a:r>
            <a:r>
              <a:rPr lang="en-US" sz="2800" smtClean="0"/>
              <a:t> (ANUSF)</a:t>
            </a:r>
            <a:endParaRPr lang="en-US" sz="2000" dirty="0" smtClean="0">
              <a:ea typeface="ＭＳ Ｐゴシック" pitchFamily="27" charset="-128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5334000"/>
            <a:ext cx="6400800" cy="838200"/>
          </a:xfrm>
        </p:spPr>
        <p:txBody>
          <a:bodyPr/>
          <a:lstStyle/>
          <a:p>
            <a:pPr eaLnBrk="1" hangingPunct="1"/>
            <a:r>
              <a:rPr lang="en-US" sz="1600" b="1" dirty="0" smtClean="0"/>
              <a:t>EDDI Conference</a:t>
            </a:r>
          </a:p>
          <a:p>
            <a:pPr eaLnBrk="1" hangingPunct="1"/>
            <a:r>
              <a:rPr lang="en-US" sz="1600" b="1" dirty="0" smtClean="0"/>
              <a:t>December 2011</a:t>
            </a:r>
            <a:endParaRPr lang="en-AU" sz="16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>
                <a:ea typeface="ＭＳ Ｐゴシック" pitchFamily="27" charset="-128"/>
              </a:rPr>
              <a:t>Presentation Overview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962025" y="1076324"/>
            <a:ext cx="3855409" cy="5388449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dirty="0" smtClean="0"/>
              <a:t>About ADA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sz="2400" dirty="0" smtClean="0"/>
              <a:t>ADA in brief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sz="2400" dirty="0" smtClean="0"/>
              <a:t>The ADA sub-archive system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 smtClean="0"/>
              <a:t>ADA website and DDI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sz="2400" dirty="0" smtClean="0"/>
              <a:t>Browsing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sz="2400" dirty="0" smtClean="0"/>
              <a:t>Searching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sz="2400" dirty="0" smtClean="0"/>
              <a:t>Viewing data and metadata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105400" y="1076324"/>
            <a:ext cx="4038600" cy="504983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AU" dirty="0" smtClean="0"/>
              <a:t>New tools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dirty="0" smtClean="0"/>
              <a:t>Data visualisation: </a:t>
            </a:r>
            <a:r>
              <a:rPr lang="en-AU" sz="2400" dirty="0" smtClean="0"/>
              <a:t>GIS, Longitudinal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AU" sz="2400" dirty="0" smtClean="0"/>
              <a:t>Data deposit: ADAPT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AU" dirty="0" smtClean="0"/>
              <a:t>Current experiences with DDI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AU" dirty="0" smtClean="0"/>
              <a:t>Future directions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08719" y="2781300"/>
            <a:ext cx="6467038" cy="1470025"/>
          </a:xfrm>
        </p:spPr>
        <p:txBody>
          <a:bodyPr/>
          <a:lstStyle/>
          <a:p>
            <a:pPr eaLnBrk="1" hangingPunct="1"/>
            <a:r>
              <a:rPr lang="en-US" sz="4000" dirty="0" smtClean="0"/>
              <a:t>1. About ADA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ADA in Brief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715315" y="1103876"/>
            <a:ext cx="8095309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 typeface="Arial"/>
              <a:buChar char="•"/>
            </a:pPr>
            <a:r>
              <a:rPr lang="en-US" sz="2400" dirty="0" smtClean="0"/>
              <a:t> The Social Science Data Archive (now ADA) </a:t>
            </a:r>
            <a:r>
              <a:rPr lang="en-US" sz="2400" dirty="0"/>
              <a:t>was set up in 1981, housed in the </a:t>
            </a:r>
            <a:r>
              <a:rPr lang="en-US" sz="2400" dirty="0" smtClean="0"/>
              <a:t>Research School of Social Sciences, Australian National University, with a mission </a:t>
            </a:r>
            <a:r>
              <a:rPr lang="en-US" sz="2400" dirty="0"/>
              <a:t>to collect and preserve Australian</a:t>
            </a:r>
            <a:r>
              <a:rPr lang="en-US" sz="2400" dirty="0" smtClean="0"/>
              <a:t> social science </a:t>
            </a:r>
            <a:r>
              <a:rPr lang="en-US" sz="2400" dirty="0"/>
              <a:t>d</a:t>
            </a:r>
            <a:r>
              <a:rPr lang="en-US" sz="2400" dirty="0" smtClean="0"/>
              <a:t>ata </a:t>
            </a:r>
            <a:r>
              <a:rPr lang="en-US" sz="2400" dirty="0"/>
              <a:t>on behalf of the social science research </a:t>
            </a:r>
            <a:r>
              <a:rPr lang="en-US" sz="2400" dirty="0" smtClean="0"/>
              <a:t>community</a:t>
            </a:r>
          </a:p>
          <a:p>
            <a:pPr>
              <a:spcBef>
                <a:spcPct val="50000"/>
              </a:spcBef>
              <a:buFont typeface="Arial"/>
              <a:buChar char="•"/>
            </a:pPr>
            <a:r>
              <a:rPr lang="en-US" sz="2400" dirty="0" smtClean="0"/>
              <a:t> Now </a:t>
            </a:r>
            <a:r>
              <a:rPr lang="en-US" sz="2400" dirty="0"/>
              <a:t>includes nodes at </a:t>
            </a:r>
            <a:r>
              <a:rPr lang="en-US" sz="2400" dirty="0" smtClean="0"/>
              <a:t>University </a:t>
            </a:r>
            <a:r>
              <a:rPr lang="en-US" sz="2400" dirty="0"/>
              <a:t>of Melbourne, </a:t>
            </a:r>
            <a:r>
              <a:rPr lang="en-US" sz="2400" dirty="0" smtClean="0"/>
              <a:t>University </a:t>
            </a:r>
            <a:r>
              <a:rPr lang="en-US" sz="2400" dirty="0"/>
              <a:t>of Queensland, </a:t>
            </a:r>
            <a:r>
              <a:rPr lang="en-US" sz="2400" dirty="0" smtClean="0"/>
              <a:t>University </a:t>
            </a:r>
            <a:r>
              <a:rPr lang="en-US" sz="2400" dirty="0"/>
              <a:t>of </a:t>
            </a:r>
            <a:r>
              <a:rPr lang="en-US" sz="2400" dirty="0" smtClean="0"/>
              <a:t>Western Australia, </a:t>
            </a:r>
            <a:r>
              <a:rPr lang="en-US" sz="2400" dirty="0"/>
              <a:t>University of Technology Sydney, with infrastructure provided by the ANU Supercomputer Facility</a:t>
            </a:r>
            <a:endParaRPr lang="en-US" sz="2400" dirty="0" smtClean="0"/>
          </a:p>
          <a:p>
            <a:pPr>
              <a:spcBef>
                <a:spcPct val="50000"/>
              </a:spcBef>
              <a:buFont typeface="Arial"/>
              <a:buChar char="•"/>
            </a:pPr>
            <a:r>
              <a:rPr lang="en-US" sz="2400" dirty="0" smtClean="0"/>
              <a:t> The </a:t>
            </a:r>
            <a:r>
              <a:rPr lang="en-US" sz="2400" dirty="0"/>
              <a:t>Archive holds some </a:t>
            </a:r>
            <a:r>
              <a:rPr lang="en-US" sz="2400" dirty="0" smtClean="0"/>
              <a:t>2400 </a:t>
            </a:r>
            <a:r>
              <a:rPr lang="en-US" sz="2400" dirty="0"/>
              <a:t>data sets,</a:t>
            </a:r>
            <a:r>
              <a:rPr lang="en-US" sz="2400" dirty="0" smtClean="0"/>
              <a:t> including </a:t>
            </a:r>
            <a:r>
              <a:rPr lang="en-US" sz="2400" dirty="0"/>
              <a:t>national election studies; public opinion polls; social attitudes </a:t>
            </a:r>
            <a:r>
              <a:rPr lang="en-US" sz="2400" dirty="0" smtClean="0"/>
              <a:t>surveys. Data </a:t>
            </a:r>
            <a:r>
              <a:rPr lang="en-US" sz="2400" dirty="0"/>
              <a:t>holdings are sourced from academic, government and private sectors.</a:t>
            </a:r>
            <a:r>
              <a:rPr lang="en-US" sz="2400" dirty="0" smtClean="0"/>
              <a:t>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190690"/>
            <a:ext cx="4727136" cy="1066867"/>
          </a:xfrm>
        </p:spPr>
        <p:txBody>
          <a:bodyPr/>
          <a:lstStyle/>
          <a:p>
            <a:r>
              <a:rPr lang="en-US" dirty="0" smtClean="0"/>
              <a:t>ADA NCRIS/</a:t>
            </a:r>
            <a:r>
              <a:rPr lang="en-US" dirty="0" err="1" smtClean="0"/>
              <a:t>NeAT</a:t>
            </a:r>
            <a:r>
              <a:rPr lang="en-US" dirty="0" smtClean="0"/>
              <a:t> development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4550" y="1134267"/>
            <a:ext cx="8292249" cy="5612772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The original research community needs identified by the ASSDA Advisory Panel to be addressed by the </a:t>
            </a:r>
            <a:r>
              <a:rPr lang="en-US" dirty="0" err="1" smtClean="0"/>
              <a:t>ASeSS</a:t>
            </a:r>
            <a:r>
              <a:rPr lang="en-US" dirty="0" smtClean="0"/>
              <a:t> project were as follows: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coherent single point of access for nationally significant social science and associated humanities resources, including access for researchers, students, government bodies, and other external agencies.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Reliable access to the major national social surveys.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Management of a diverse range of data forms needed to help answer research questions across these different forms: </a:t>
            </a:r>
            <a:r>
              <a:rPr lang="en-US" dirty="0" err="1" smtClean="0"/>
              <a:t>eg</a:t>
            </a:r>
            <a:r>
              <a:rPr lang="en-US" dirty="0" smtClean="0"/>
              <a:t>: unit record data, qualitative data, economics data, including a high level of data documentation that allows researchers to quickly identify its relevance and quality for research purposes.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Easy access to </a:t>
            </a:r>
            <a:r>
              <a:rPr lang="en-US" dirty="0" err="1" smtClean="0"/>
              <a:t>specialised</a:t>
            </a:r>
            <a:r>
              <a:rPr lang="en-US" dirty="0" smtClean="0"/>
              <a:t> collections, </a:t>
            </a:r>
            <a:r>
              <a:rPr lang="en-US" dirty="0" err="1" smtClean="0"/>
              <a:t>eg</a:t>
            </a:r>
            <a:r>
              <a:rPr lang="en-US" dirty="0" smtClean="0"/>
              <a:t>: topic based data, such as data relating to ageing; colonial data; indigenous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Provide fast search across all this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Easy access to data analysis tools, including the development of advanced analytical and </a:t>
            </a:r>
            <a:r>
              <a:rPr lang="en-US" dirty="0" err="1" smtClean="0"/>
              <a:t>visualisation</a:t>
            </a:r>
            <a:r>
              <a:rPr lang="en-US" dirty="0" smtClean="0"/>
              <a:t> tools and capability (outside of commercially available products) that provide additional value to the data archives and support the ‘unlocking’ of otherwise inaccessible data sets of national significance.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Computational </a:t>
            </a:r>
            <a:r>
              <a:rPr lang="en-US" dirty="0" err="1" smtClean="0"/>
              <a:t>modelling</a:t>
            </a:r>
            <a:r>
              <a:rPr lang="en-US" dirty="0" smtClean="0"/>
              <a:t>, expertise and resources including computationally expensive statistical packages.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 </a:t>
            </a:r>
            <a:r>
              <a:rPr lang="en-US" dirty="0" err="1" smtClean="0"/>
              <a:t>Subarchives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Social Science – predominantly survey or polling based quantitative social science data</a:t>
            </a:r>
          </a:p>
          <a:p>
            <a:r>
              <a:rPr lang="en-US" dirty="0" smtClean="0"/>
              <a:t>Historical – an archive of Australian census data tables from 1834 to the present day</a:t>
            </a:r>
          </a:p>
          <a:p>
            <a:r>
              <a:rPr lang="en-US" dirty="0" smtClean="0"/>
              <a:t>Indigenous – A thematic archive bringing together research data about Aboriginal and Torres Strait Islanders</a:t>
            </a:r>
          </a:p>
          <a:p>
            <a:r>
              <a:rPr lang="en-US" dirty="0" smtClean="0"/>
              <a:t>Longitudinal –major longitudinal cohort and panel surveys of the Australian population</a:t>
            </a:r>
          </a:p>
          <a:p>
            <a:r>
              <a:rPr lang="en-US" dirty="0" smtClean="0"/>
              <a:t>Qualitative – a new collection which provides specialist data archiving and access services to qualitative researchers</a:t>
            </a:r>
          </a:p>
          <a:p>
            <a:r>
              <a:rPr lang="en-US" dirty="0" smtClean="0"/>
              <a:t>Crime &amp; Justice – major collections of data in crime, law and justice, including criminal justice administrative data</a:t>
            </a:r>
          </a:p>
          <a:p>
            <a:r>
              <a:rPr lang="en-US" dirty="0" smtClean="0"/>
              <a:t>International – a central point of access for links to international data sources around the world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ADA Website and DDI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Core archive website: </a:t>
            </a:r>
          </a:p>
          <a:p>
            <a:pPr lvl="1"/>
            <a:r>
              <a:rPr lang="en-US" dirty="0" smtClean="0">
                <a:hlinkClick r:id="rId2"/>
              </a:rPr>
              <a:t>http://www.ada.edu.au</a:t>
            </a:r>
            <a:endParaRPr lang="en-US" dirty="0" smtClean="0"/>
          </a:p>
          <a:p>
            <a:r>
              <a:rPr lang="en-US" dirty="0" smtClean="0"/>
              <a:t>Sub-archives </a:t>
            </a:r>
            <a:r>
              <a:rPr lang="en-US" dirty="0" err="1" smtClean="0"/>
              <a:t>focussed</a:t>
            </a:r>
            <a:r>
              <a:rPr lang="en-US" dirty="0" smtClean="0"/>
              <a:t> on </a:t>
            </a:r>
            <a:r>
              <a:rPr lang="en-US" dirty="0" err="1" smtClean="0"/>
              <a:t>specialised</a:t>
            </a:r>
            <a:r>
              <a:rPr lang="en-US" dirty="0" smtClean="0"/>
              <a:t> thematic or methodological areas</a:t>
            </a:r>
          </a:p>
          <a:p>
            <a:pPr lvl="1">
              <a:buFontTx/>
              <a:buChar char="-"/>
            </a:pPr>
            <a:r>
              <a:rPr lang="en-US" dirty="0" err="1" smtClean="0"/>
              <a:t>eg</a:t>
            </a:r>
            <a:r>
              <a:rPr lang="en-US" dirty="0" smtClean="0"/>
              <a:t>. </a:t>
            </a:r>
            <a:r>
              <a:rPr lang="en-US" dirty="0" smtClean="0">
                <a:hlinkClick r:id="rId3"/>
              </a:rPr>
              <a:t>http://www.ada.edu.au/indigenous/home</a:t>
            </a:r>
            <a:r>
              <a:rPr lang="en-US" dirty="0" smtClean="0"/>
              <a:t> </a:t>
            </a:r>
          </a:p>
          <a:p>
            <a:r>
              <a:rPr lang="en-US" dirty="0" smtClean="0"/>
              <a:t>“Add-on” systems for complex analysis or </a:t>
            </a:r>
            <a:r>
              <a:rPr lang="en-US" dirty="0" err="1" smtClean="0"/>
              <a:t>visualisation</a:t>
            </a:r>
            <a:r>
              <a:rPr lang="en-US" dirty="0" smtClean="0"/>
              <a:t> tasks:</a:t>
            </a:r>
          </a:p>
          <a:p>
            <a:pPr lvl="1"/>
            <a:r>
              <a:rPr lang="en-US" dirty="0" err="1" smtClean="0"/>
              <a:t>Nesstar</a:t>
            </a:r>
            <a:endParaRPr lang="en-US" dirty="0" smtClean="0"/>
          </a:p>
          <a:p>
            <a:pPr lvl="1"/>
            <a:r>
              <a:rPr lang="en-US" dirty="0" smtClean="0"/>
              <a:t>GIS: </a:t>
            </a:r>
            <a:r>
              <a:rPr lang="en-US" dirty="0" smtClean="0">
                <a:hlinkClick r:id="rId4"/>
              </a:rPr>
              <a:t>http://gis-test.ada.edu.au</a:t>
            </a:r>
            <a:endParaRPr lang="en-US" dirty="0" smtClean="0"/>
          </a:p>
          <a:p>
            <a:pPr lvl="1"/>
            <a:r>
              <a:rPr lang="en-US" dirty="0" smtClean="0"/>
              <a:t>Longitudinal </a:t>
            </a:r>
            <a:r>
              <a:rPr lang="en-US" dirty="0" err="1" smtClean="0"/>
              <a:t>visualisation</a:t>
            </a:r>
            <a:r>
              <a:rPr lang="en-US" dirty="0" smtClean="0"/>
              <a:t>: </a:t>
            </a:r>
            <a:r>
              <a:rPr lang="en-US" dirty="0" err="1" smtClean="0"/>
              <a:t>Panemalia</a:t>
            </a:r>
            <a:endParaRPr lang="en-US" dirty="0" smtClean="0"/>
          </a:p>
          <a:p>
            <a:pPr lvl="1"/>
            <a:r>
              <a:rPr lang="en-US" dirty="0" smtClean="0"/>
              <a:t>Historical census data: </a:t>
            </a:r>
            <a:r>
              <a:rPr lang="en-US" dirty="0" smtClean="0">
                <a:hlinkClick r:id="rId5"/>
              </a:rPr>
              <a:t>http://hccda.ada.edu.au</a:t>
            </a:r>
            <a:endParaRPr lang="en-US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210845"/>
            <a:ext cx="4727136" cy="660867"/>
          </a:xfrm>
        </p:spPr>
        <p:txBody>
          <a:bodyPr/>
          <a:lstStyle/>
          <a:p>
            <a:r>
              <a:rPr lang="en-US" dirty="0" smtClean="0"/>
              <a:t>New OAIS architecture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40290" name="Object 2"/>
          <p:cNvGraphicFramePr>
            <a:graphicFrameLocks noChangeAspect="1"/>
          </p:cNvGraphicFramePr>
          <p:nvPr/>
        </p:nvGraphicFramePr>
        <p:xfrm>
          <a:off x="448950" y="987176"/>
          <a:ext cx="8237849" cy="5736116"/>
        </p:xfrm>
        <a:graphic>
          <a:graphicData uri="http://schemas.openxmlformats.org/presentationml/2006/ole">
            <p:oleObj spid="_x0000_s140290" name="Document" r:id="rId3" imgW="5854700" imgH="40767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ADA website</a:t>
            </a:r>
            <a:endParaRPr lang="en-US" dirty="0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341802" y="1372327"/>
          <a:ext cx="8529541" cy="4963747"/>
        </p:xfrm>
        <a:graphic>
          <a:graphicData uri="http://schemas.openxmlformats.org/presentationml/2006/ole">
            <p:oleObj spid="_x0000_s68610" name="Document" r:id="rId3" imgW="5346700" imgH="31115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37920" y="2781300"/>
            <a:ext cx="6530353" cy="1470025"/>
          </a:xfrm>
        </p:spPr>
        <p:txBody>
          <a:bodyPr/>
          <a:lstStyle/>
          <a:p>
            <a:pPr eaLnBrk="1" hangingPunct="1"/>
            <a:r>
              <a:rPr lang="en-US" sz="4000" dirty="0" smtClean="0"/>
              <a:t>Data Access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data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There are two methods for finding data in the Australian Data Archive: </a:t>
            </a:r>
          </a:p>
          <a:p>
            <a:r>
              <a:rPr lang="en-US" dirty="0" smtClean="0"/>
              <a:t>Browsing the ADA Data Catalogue</a:t>
            </a:r>
          </a:p>
          <a:p>
            <a:r>
              <a:rPr lang="en-US" dirty="0" smtClean="0"/>
              <a:t>Searching for data using the ADA search engine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Searching or browsing from within one of the ADA </a:t>
            </a:r>
            <a:r>
              <a:rPr lang="en-US" dirty="0" err="1" smtClean="0"/>
              <a:t>subarchives</a:t>
            </a:r>
            <a:r>
              <a:rPr lang="en-US" dirty="0" smtClean="0"/>
              <a:t> automatically limits the results to data from within that </a:t>
            </a:r>
            <a:r>
              <a:rPr lang="en-US" dirty="0" err="1" smtClean="0"/>
              <a:t>subarchive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189798"/>
            <a:ext cx="4727136" cy="1029280"/>
          </a:xfrm>
        </p:spPr>
        <p:txBody>
          <a:bodyPr/>
          <a:lstStyle/>
          <a:p>
            <a:r>
              <a:rPr lang="en-US" dirty="0" smtClean="0"/>
              <a:t>Search results</a:t>
            </a:r>
            <a:endParaRPr lang="en-US" dirty="0"/>
          </a:p>
        </p:txBody>
      </p:sp>
      <p:graphicFrame>
        <p:nvGraphicFramePr>
          <p:cNvPr id="74754" name="Object 2"/>
          <p:cNvGraphicFramePr>
            <a:graphicFrameLocks noChangeAspect="1"/>
          </p:cNvGraphicFramePr>
          <p:nvPr/>
        </p:nvGraphicFramePr>
        <p:xfrm>
          <a:off x="458587" y="1255535"/>
          <a:ext cx="8168996" cy="5433061"/>
        </p:xfrm>
        <a:graphic>
          <a:graphicData uri="http://schemas.openxmlformats.org/presentationml/2006/ole">
            <p:oleObj spid="_x0000_s74754" name="Document" r:id="rId3" imgW="5346700" imgH="35560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326310"/>
            <a:ext cx="4727136" cy="1016822"/>
          </a:xfrm>
        </p:spPr>
        <p:txBody>
          <a:bodyPr/>
          <a:lstStyle/>
          <a:p>
            <a:r>
              <a:rPr lang="en-US" dirty="0" smtClean="0"/>
              <a:t>Browsing the catalogue</a:t>
            </a:r>
            <a:endParaRPr lang="en-US" dirty="0"/>
          </a:p>
        </p:txBody>
      </p:sp>
      <p:graphicFrame>
        <p:nvGraphicFramePr>
          <p:cNvPr id="78850" name="Object 2"/>
          <p:cNvGraphicFramePr>
            <a:graphicFrameLocks noChangeAspect="1"/>
          </p:cNvGraphicFramePr>
          <p:nvPr/>
        </p:nvGraphicFramePr>
        <p:xfrm>
          <a:off x="228600" y="1085850"/>
          <a:ext cx="8667750" cy="5157788"/>
        </p:xfrm>
        <a:graphic>
          <a:graphicData uri="http://schemas.openxmlformats.org/presentationml/2006/ole">
            <p:oleObj spid="_x0000_s78850" name="Document" r:id="rId3" imgW="5486400" imgH="32639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282512"/>
            <a:ext cx="4727136" cy="885429"/>
          </a:xfrm>
        </p:spPr>
        <p:txBody>
          <a:bodyPr/>
          <a:lstStyle/>
          <a:p>
            <a:r>
              <a:rPr lang="en-US" dirty="0" smtClean="0"/>
              <a:t>The ADA study page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8752" y="1657048"/>
            <a:ext cx="8278047" cy="4620131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GB" dirty="0" smtClean="0"/>
              <a:t>Study information is available through the tabs at the top of the study:</a:t>
            </a:r>
            <a:endParaRPr lang="en-AU" dirty="0" smtClean="0"/>
          </a:p>
          <a:p>
            <a:pPr lvl="0"/>
            <a:r>
              <a:rPr lang="en-GB" dirty="0" smtClean="0"/>
              <a:t>Study: information including the investigators, abstract, sample, data collection methods, and access requirements.</a:t>
            </a:r>
            <a:endParaRPr lang="en-AU" dirty="0" smtClean="0"/>
          </a:p>
          <a:p>
            <a:pPr lvl="0"/>
            <a:r>
              <a:rPr lang="en-GB" dirty="0" smtClean="0"/>
              <a:t>Variables: a list of variables available in a quantitative dataset</a:t>
            </a:r>
            <a:endParaRPr lang="en-AU" dirty="0" smtClean="0"/>
          </a:p>
          <a:p>
            <a:pPr lvl="0"/>
            <a:r>
              <a:rPr lang="en-GB" dirty="0" smtClean="0"/>
              <a:t>Related Materials: additional documentation, links and other related studies (</a:t>
            </a:r>
            <a:r>
              <a:rPr lang="en-GB" dirty="0" err="1" smtClean="0"/>
              <a:t>eg</a:t>
            </a:r>
            <a:r>
              <a:rPr lang="en-GB" dirty="0" smtClean="0"/>
              <a:t>. others in the series) that may interest you</a:t>
            </a:r>
            <a:endParaRPr lang="en-AU" dirty="0" smtClean="0"/>
          </a:p>
          <a:p>
            <a:pPr>
              <a:buNone/>
            </a:pPr>
            <a:r>
              <a:rPr lang="en-AU" dirty="0" smtClean="0"/>
              <a:t>The study page is also the access point for the ADA </a:t>
            </a:r>
            <a:r>
              <a:rPr lang="en-AU" dirty="0" err="1" smtClean="0"/>
              <a:t>Nesstar</a:t>
            </a:r>
            <a:r>
              <a:rPr lang="en-AU" dirty="0" smtClean="0"/>
              <a:t> system, for:</a:t>
            </a:r>
          </a:p>
          <a:p>
            <a:r>
              <a:rPr lang="en-AU" dirty="0" smtClean="0"/>
              <a:t>Analysis of quantitative data online, </a:t>
            </a:r>
          </a:p>
          <a:p>
            <a:r>
              <a:rPr lang="en-AU" dirty="0" smtClean="0"/>
              <a:t>Download of data to your own computer.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238715"/>
            <a:ext cx="4727136" cy="929227"/>
          </a:xfrm>
        </p:spPr>
        <p:txBody>
          <a:bodyPr/>
          <a:lstStyle/>
          <a:p>
            <a:r>
              <a:rPr lang="en-US" dirty="0" smtClean="0"/>
              <a:t>The ADA Study Page</a:t>
            </a:r>
            <a:endParaRPr lang="en-US" dirty="0"/>
          </a:p>
        </p:txBody>
      </p:sp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291003" y="1372327"/>
          <a:ext cx="8583142" cy="4846951"/>
        </p:xfrm>
        <a:graphic>
          <a:graphicData uri="http://schemas.openxmlformats.org/presentationml/2006/ole">
            <p:oleObj spid="_x0000_s81922" name="Document" r:id="rId3" imgW="5397500" imgH="30480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Other ADA functions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238716"/>
            <a:ext cx="4727136" cy="1031422"/>
          </a:xfrm>
        </p:spPr>
        <p:txBody>
          <a:bodyPr/>
          <a:lstStyle/>
          <a:p>
            <a:r>
              <a:rPr lang="en-US" dirty="0" smtClean="0"/>
              <a:t>GIS </a:t>
            </a:r>
            <a:r>
              <a:rPr lang="en-US" dirty="0" err="1" smtClean="0"/>
              <a:t>visualisation</a:t>
            </a:r>
            <a:endParaRPr lang="en-US" dirty="0"/>
          </a:p>
        </p:txBody>
      </p:sp>
      <p:pic>
        <p:nvPicPr>
          <p:cNvPr id="4" name="Picture 3" descr="gis_viz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0" y="1313935"/>
            <a:ext cx="9014637" cy="4973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50210" y="1503723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gis.ada.edu.au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Longitudinal </a:t>
            </a:r>
            <a:r>
              <a:rPr lang="en-US" dirty="0" err="1" smtClean="0"/>
              <a:t>visualisation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0" y="1259763"/>
            <a:ext cx="8565332" cy="53787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615" y="0"/>
            <a:ext cx="4727136" cy="1330739"/>
          </a:xfrm>
        </p:spPr>
        <p:txBody>
          <a:bodyPr/>
          <a:lstStyle/>
          <a:p>
            <a:r>
              <a:rPr lang="en-US" dirty="0" smtClean="0"/>
              <a:t>Data deposit: ADAPT</a:t>
            </a:r>
            <a:endParaRPr lang="en-US" dirty="0"/>
          </a:p>
        </p:txBody>
      </p:sp>
      <p:graphicFrame>
        <p:nvGraphicFramePr>
          <p:cNvPr id="143362" name="Object 2"/>
          <p:cNvGraphicFramePr>
            <a:graphicFrameLocks noChangeAspect="1"/>
          </p:cNvGraphicFramePr>
          <p:nvPr/>
        </p:nvGraphicFramePr>
        <p:xfrm>
          <a:off x="2104017" y="931801"/>
          <a:ext cx="4552800" cy="5831847"/>
        </p:xfrm>
        <a:graphic>
          <a:graphicData uri="http://schemas.openxmlformats.org/presentationml/2006/ole">
            <p:oleObj spid="_x0000_s143362" name="Document" r:id="rId3" imgW="3797300" imgH="4864100" progId="Word.Document.12">
              <p:link updateAutomatic="1"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67" y="209518"/>
            <a:ext cx="4727136" cy="1016822"/>
          </a:xfrm>
        </p:spPr>
        <p:txBody>
          <a:bodyPr/>
          <a:lstStyle/>
          <a:p>
            <a:r>
              <a:rPr lang="en-US" dirty="0" smtClean="0"/>
              <a:t>Historical Census data</a:t>
            </a:r>
            <a:endParaRPr lang="en-US" dirty="0"/>
          </a:p>
        </p:txBody>
      </p:sp>
      <p:pic>
        <p:nvPicPr>
          <p:cNvPr id="5" name="Picture 4" descr="hccda_p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2" y="1286029"/>
            <a:ext cx="8837436" cy="49844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49080" y="1678913"/>
            <a:ext cx="268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</a:t>
            </a:r>
            <a:r>
              <a:rPr lang="en-US" dirty="0" err="1" smtClean="0"/>
              <a:t>hccda.ada.edu.au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Current experiences and future directions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are we now?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New archive interface: </a:t>
            </a:r>
            <a:r>
              <a:rPr lang="en-US" dirty="0" smtClean="0">
                <a:hlinkClick r:id="rId2"/>
              </a:rPr>
              <a:t>http://www.ada.edu.au</a:t>
            </a:r>
            <a:endParaRPr lang="en-US" dirty="0" smtClean="0"/>
          </a:p>
          <a:p>
            <a:r>
              <a:rPr lang="en-US" dirty="0" smtClean="0"/>
              <a:t>New thematic collections (indigenous, crime and justice, historical census, international)</a:t>
            </a:r>
          </a:p>
          <a:p>
            <a:r>
              <a:rPr lang="en-US" dirty="0" smtClean="0"/>
              <a:t>New methodological collections (longitudinal, qualitative)</a:t>
            </a:r>
          </a:p>
          <a:p>
            <a:r>
              <a:rPr lang="en-US" dirty="0" smtClean="0"/>
              <a:t>New analytical tools (particularly in </a:t>
            </a:r>
            <a:r>
              <a:rPr lang="en-US" dirty="0" err="1" smtClean="0"/>
              <a:t>visualisation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experiences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 smtClean="0"/>
              <a:t>Ingest and archiving</a:t>
            </a:r>
          </a:p>
          <a:p>
            <a:r>
              <a:rPr lang="en-US" dirty="0" smtClean="0"/>
              <a:t>DDI provides core of all of our data deposit and archival processes</a:t>
            </a:r>
          </a:p>
          <a:p>
            <a:r>
              <a:rPr lang="en-US" dirty="0" err="1" smtClean="0"/>
              <a:t>Nesstar</a:t>
            </a:r>
            <a:r>
              <a:rPr lang="en-US" dirty="0" smtClean="0"/>
              <a:t> provides storage foundation</a:t>
            </a:r>
          </a:p>
          <a:p>
            <a:pPr>
              <a:buNone/>
            </a:pPr>
            <a:r>
              <a:rPr lang="en-US" dirty="0" smtClean="0"/>
              <a:t>Access</a:t>
            </a:r>
          </a:p>
          <a:p>
            <a:r>
              <a:rPr lang="en-US" dirty="0" smtClean="0"/>
              <a:t>Access services involve various transformations for data discovery and access</a:t>
            </a:r>
          </a:p>
          <a:p>
            <a:r>
              <a:rPr lang="en-US" dirty="0" smtClean="0"/>
              <a:t>CMS consumes DDI metadata</a:t>
            </a:r>
          </a:p>
          <a:p>
            <a:r>
              <a:rPr lang="en-US" dirty="0" smtClean="0"/>
              <a:t>Longitudinal and GIS </a:t>
            </a:r>
            <a:r>
              <a:rPr lang="en-US" dirty="0" err="1" smtClean="0"/>
              <a:t>viz</a:t>
            </a:r>
            <a:r>
              <a:rPr lang="en-US" dirty="0" smtClean="0"/>
              <a:t> systems require further processing:</a:t>
            </a:r>
          </a:p>
          <a:p>
            <a:pPr lvl="1"/>
            <a:r>
              <a:rPr lang="en-US" dirty="0" smtClean="0"/>
              <a:t>ADA’s use of geographic attributes are inconsistent over time</a:t>
            </a:r>
          </a:p>
          <a:p>
            <a:pPr lvl="1"/>
            <a:r>
              <a:rPr lang="en-US" dirty="0" smtClean="0"/>
              <a:t>Longitudinal data management not suited to DDI2/DDI-C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from here?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81014" y="1347064"/>
            <a:ext cx="8234887" cy="5118844"/>
          </a:xfrm>
        </p:spPr>
        <p:txBody>
          <a:bodyPr>
            <a:normAutofit/>
          </a:bodyPr>
          <a:lstStyle/>
          <a:p>
            <a:r>
              <a:rPr lang="en-US" dirty="0" smtClean="0"/>
              <a:t>Audio-visual (LIEF 2011-12)</a:t>
            </a:r>
          </a:p>
          <a:p>
            <a:r>
              <a:rPr lang="en-US" dirty="0" err="1" smtClean="0"/>
              <a:t>NeCTAR</a:t>
            </a:r>
            <a:r>
              <a:rPr lang="en-US" dirty="0" smtClean="0"/>
              <a:t> program: Data integration</a:t>
            </a:r>
          </a:p>
          <a:p>
            <a:pPr lvl="1"/>
            <a:r>
              <a:rPr lang="en-US" dirty="0" smtClean="0"/>
              <a:t>Secure data access (administrative data, data linkage)</a:t>
            </a:r>
          </a:p>
          <a:p>
            <a:pPr lvl="1"/>
            <a:r>
              <a:rPr lang="en-US" dirty="0" smtClean="0"/>
              <a:t>Qualitative data documentation and analysis</a:t>
            </a:r>
          </a:p>
          <a:p>
            <a:pPr lvl="1"/>
            <a:r>
              <a:rPr lang="en-US" dirty="0" smtClean="0"/>
              <a:t>Historical/time series spatial analysis</a:t>
            </a:r>
          </a:p>
          <a:p>
            <a:pPr lvl="1"/>
            <a:r>
              <a:rPr lang="en-US" dirty="0" smtClean="0"/>
              <a:t>Geospatial and temporal data integration</a:t>
            </a:r>
          </a:p>
          <a:p>
            <a:pPr lvl="1"/>
            <a:r>
              <a:rPr lang="en-US" dirty="0" smtClean="0"/>
              <a:t>Integration across content types – </a:t>
            </a:r>
            <a:r>
              <a:rPr lang="en-US" dirty="0" err="1" smtClean="0"/>
              <a:t>eg</a:t>
            </a:r>
            <a:r>
              <a:rPr lang="en-US" dirty="0" smtClean="0"/>
              <a:t>. </a:t>
            </a:r>
          </a:p>
          <a:p>
            <a:pPr lvl="2"/>
            <a:r>
              <a:rPr lang="en-US" dirty="0" smtClean="0"/>
              <a:t>Election results, poll results, candidate surveys</a:t>
            </a:r>
          </a:p>
          <a:p>
            <a:pPr lvl="2"/>
            <a:r>
              <a:rPr lang="en-US" dirty="0" smtClean="0"/>
              <a:t>Census, survey and administrative data on a topic (</a:t>
            </a:r>
            <a:r>
              <a:rPr lang="en-US" dirty="0" err="1" smtClean="0"/>
              <a:t>eg</a:t>
            </a:r>
            <a:r>
              <a:rPr lang="en-US" dirty="0" smtClean="0"/>
              <a:t>. crime)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609600" indent="-609600"/>
            <a:r>
              <a:rPr lang="en-US" sz="4400" dirty="0" smtClean="0"/>
              <a:t>Questions or comments?</a:t>
            </a:r>
            <a:br>
              <a:rPr lang="en-US" sz="4400" dirty="0" smtClean="0"/>
            </a:b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3600" dirty="0" smtClean="0"/>
              <a:t>For further information</a:t>
            </a:r>
            <a:br>
              <a:rPr lang="en-US" sz="3600" dirty="0" smtClean="0"/>
            </a:br>
            <a:r>
              <a:rPr lang="en-US" sz="3600" dirty="0" smtClean="0"/>
              <a:t>Web: http://</a:t>
            </a:r>
            <a:r>
              <a:rPr lang="en-US" sz="3600" dirty="0" err="1" smtClean="0"/>
              <a:t>www.ada.edu.au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Email: </a:t>
            </a:r>
            <a:r>
              <a:rPr lang="en-US" sz="3600" dirty="0" smtClean="0">
                <a:hlinkClick r:id="rId2"/>
              </a:rPr>
              <a:t>ada@anu.edu.au</a:t>
            </a:r>
            <a:r>
              <a:rPr lang="en-US" sz="3600" dirty="0" smtClean="0"/>
              <a:t> </a:t>
            </a:r>
            <a:br>
              <a:rPr lang="en-US" sz="36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xt Page Level 1a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0E3C1C"/>
      </a:accent4>
      <a:accent5>
        <a:srgbClr val="1A4E26"/>
      </a:accent5>
      <a:accent6>
        <a:srgbClr val="245E2E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Aspect.thmx</Template>
  <TotalTime>1589</TotalTime>
  <Words>998</Words>
  <Application>Microsoft Macintosh PowerPoint</Application>
  <PresentationFormat>On-screen Show (4:3)</PresentationFormat>
  <Paragraphs>106</Paragraphs>
  <Slides>26</Slides>
  <Notes>2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Links</vt:lpstr>
      </vt:variant>
      <vt:variant>
        <vt:i4>6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Text Page Level 1a</vt:lpstr>
      <vt:lpstr>Macintosh HD:Users:stevenmceachern:Documents:Steve:ASSDA Strategy:ASSDA Review 2011 - ANUSF report.doc!OLE_LINK1</vt:lpstr>
      <vt:lpstr>Macintosh HD:Users:stevenmceachern:Documents:Steve:ADA_website:user-guides:User Guide No 2_28072011.doc!OLE_LINK1</vt:lpstr>
      <vt:lpstr>!OLE_LINK2</vt:lpstr>
      <vt:lpstr>!OLE_LINK5</vt:lpstr>
      <vt:lpstr>!OLE_LINK6</vt:lpstr>
      <vt:lpstr>Macintosh HD:Users:stevenmceachern:Documents:Steve:ASSDA Strategy:ASSDA Review 2011 - ANUSF report.doc!OLE_LINK2</vt:lpstr>
      <vt:lpstr>DDI at the Australian Data Archive   Steve McEachern Deputy Director, ADA  with Deborah Mitchell (ADA), Ben Evans and Olaf Delgado-Friedrichs (ANUSF)</vt:lpstr>
      <vt:lpstr>Presentation Overview</vt:lpstr>
      <vt:lpstr>1. About ADA</vt:lpstr>
      <vt:lpstr>ADA in Brief</vt:lpstr>
      <vt:lpstr>ADA NCRIS/NeAT development</vt:lpstr>
      <vt:lpstr>ADA Subarchives</vt:lpstr>
      <vt:lpstr>The ADA Website and DDI</vt:lpstr>
      <vt:lpstr>Approach</vt:lpstr>
      <vt:lpstr>New OAIS architecture</vt:lpstr>
      <vt:lpstr>The ADA website</vt:lpstr>
      <vt:lpstr>Data Access</vt:lpstr>
      <vt:lpstr>Finding data</vt:lpstr>
      <vt:lpstr>Search results</vt:lpstr>
      <vt:lpstr>Browsing the catalogue</vt:lpstr>
      <vt:lpstr>The ADA study page</vt:lpstr>
      <vt:lpstr>The ADA Study Page</vt:lpstr>
      <vt:lpstr>Other ADA functions</vt:lpstr>
      <vt:lpstr>GIS visualisation</vt:lpstr>
      <vt:lpstr>Longitudinal visualisation</vt:lpstr>
      <vt:lpstr>Data deposit: ADAPT</vt:lpstr>
      <vt:lpstr>Historical Census data</vt:lpstr>
      <vt:lpstr>Current experiences and future directions</vt:lpstr>
      <vt:lpstr>Where are we now?</vt:lpstr>
      <vt:lpstr>Current experiences</vt:lpstr>
      <vt:lpstr>Where to from here?</vt:lpstr>
      <vt:lpstr>Questions or comments?  For further information Web: http://www.ada.edu.au Email: ada@anu.edu.au   </vt:lpstr>
    </vt:vector>
  </TitlesOfParts>
  <Company>Swell Design Group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Liam Adamaitys</dc:creator>
  <cp:lastModifiedBy>Steven McEachern</cp:lastModifiedBy>
  <cp:revision>36</cp:revision>
  <cp:lastPrinted>2011-10-04T03:58:33Z</cp:lastPrinted>
  <dcterms:created xsi:type="dcterms:W3CDTF">2011-12-06T08:06:39Z</dcterms:created>
  <dcterms:modified xsi:type="dcterms:W3CDTF">2011-12-06T08:07:38Z</dcterms:modified>
</cp:coreProperties>
</file>