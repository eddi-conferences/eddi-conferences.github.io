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</p:sldMasterIdLst>
  <p:notesMasterIdLst>
    <p:notesMasterId r:id="rId30"/>
  </p:notesMasterIdLst>
  <p:handoutMasterIdLst>
    <p:handoutMasterId r:id="rId31"/>
  </p:handoutMasterIdLst>
  <p:sldIdLst>
    <p:sldId id="256" r:id="rId15"/>
    <p:sldId id="257" r:id="rId16"/>
    <p:sldId id="270" r:id="rId17"/>
    <p:sldId id="271" r:id="rId18"/>
    <p:sldId id="281" r:id="rId19"/>
    <p:sldId id="272" r:id="rId20"/>
    <p:sldId id="277" r:id="rId21"/>
    <p:sldId id="274" r:id="rId22"/>
    <p:sldId id="278" r:id="rId23"/>
    <p:sldId id="275" r:id="rId24"/>
    <p:sldId id="279" r:id="rId25"/>
    <p:sldId id="276" r:id="rId26"/>
    <p:sldId id="280" r:id="rId27"/>
    <p:sldId id="273" r:id="rId28"/>
    <p:sldId id="269" r:id="rId29"/>
  </p:sldIdLst>
  <p:sldSz cx="9144000" cy="6858000" type="screen4x3"/>
  <p:notesSz cx="6797675" cy="9926638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charset="0"/>
        <a:ea typeface="DejaVu Sans" charset="0"/>
        <a:cs typeface="DejaVu Sans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illerd008" initials="D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-1278" y="17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7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EFC0B-FB27-4B56-8815-A9E3ED0B63E6}" type="datetimeFigureOut">
              <a:rPr lang="en-US" smtClean="0"/>
              <a:t>12/5/2011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9CDBF-EA38-43AD-8EE0-35FC6F2760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7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1"/>
          <p:cNvSpPr>
            <a:spLocks noChangeArrowheads="1"/>
          </p:cNvSpPr>
          <p:nvPr/>
        </p:nvSpPr>
        <p:spPr bwMode="auto">
          <a:xfrm>
            <a:off x="0" y="0"/>
            <a:ext cx="6797675" cy="992663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3" name="AutoShape 2"/>
          <p:cNvSpPr>
            <a:spLocks noChangeArrowheads="1"/>
          </p:cNvSpPr>
          <p:nvPr/>
        </p:nvSpPr>
        <p:spPr bwMode="auto">
          <a:xfrm>
            <a:off x="0" y="0"/>
            <a:ext cx="6797675" cy="992663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4" name="AutoShape 3"/>
          <p:cNvSpPr>
            <a:spLocks noChangeArrowheads="1"/>
          </p:cNvSpPr>
          <p:nvPr/>
        </p:nvSpPr>
        <p:spPr bwMode="auto">
          <a:xfrm>
            <a:off x="0" y="0"/>
            <a:ext cx="6797675" cy="992663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5" name="AutoShape 4"/>
          <p:cNvSpPr>
            <a:spLocks noChangeArrowheads="1"/>
          </p:cNvSpPr>
          <p:nvPr/>
        </p:nvSpPr>
        <p:spPr bwMode="auto">
          <a:xfrm>
            <a:off x="0" y="0"/>
            <a:ext cx="6797675" cy="992663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6" name="AutoShape 5"/>
          <p:cNvSpPr>
            <a:spLocks noChangeArrowheads="1"/>
          </p:cNvSpPr>
          <p:nvPr/>
        </p:nvSpPr>
        <p:spPr bwMode="auto">
          <a:xfrm>
            <a:off x="0" y="0"/>
            <a:ext cx="6797675" cy="9926638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40969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20750" y="744538"/>
            <a:ext cx="4948238" cy="371316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79768" y="4715153"/>
            <a:ext cx="5430273" cy="4458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 smtClean="0"/>
          </a:p>
        </p:txBody>
      </p:sp>
      <p:sp>
        <p:nvSpPr>
          <p:cNvPr id="15370" name="Rectangle 10"/>
          <p:cNvSpPr>
            <a:spLocks noGrp="1" noChangeArrowheads="1"/>
          </p:cNvSpPr>
          <p:nvPr>
            <p:ph type="ftr"/>
          </p:nvPr>
        </p:nvSpPr>
        <p:spPr bwMode="auto">
          <a:xfrm>
            <a:off x="0" y="9428584"/>
            <a:ext cx="2937792" cy="487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smtClean="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r>
              <a:rPr lang="de-DE"/>
              <a:t>DIPF PowerPoint-Präsentation</a:t>
            </a:r>
          </a:p>
        </p:txBody>
      </p:sp>
      <p:sp>
        <p:nvSpPr>
          <p:cNvPr id="1537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3850443" y="9428584"/>
            <a:ext cx="2937791" cy="487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 smtClean="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5086AEA6-7B37-49DD-94F0-CCC0A155595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18021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"/>
          <p:cNvSpPr>
            <a:spLocks noGrp="1" noChangeArrowheads="1"/>
          </p:cNvSpPr>
          <p:nvPr>
            <p:ph type="ftr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de-DE"/>
              <a:t>DIPF PowerPoint-Präsentation</a:t>
            </a:r>
          </a:p>
        </p:txBody>
      </p:sp>
      <p:sp>
        <p:nvSpPr>
          <p:cNvPr id="41987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A6607044-EECB-4D4B-8F63-5CD443E79BFF}" type="slidenum">
              <a:rPr lang="de-DE"/>
              <a:pPr/>
              <a:t>1</a:t>
            </a:fld>
            <a:endParaRPr lang="de-DE"/>
          </a:p>
        </p:txBody>
      </p:sp>
      <p:sp>
        <p:nvSpPr>
          <p:cNvPr id="4198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solidFill>
            <a:srgbClr val="FFFFFF"/>
          </a:solidFill>
          <a:ln/>
        </p:spPr>
      </p:sp>
      <p:sp>
        <p:nvSpPr>
          <p:cNvPr id="4198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79767" y="4715153"/>
            <a:ext cx="5431846" cy="4460094"/>
          </a:xfrm>
          <a:noFill/>
        </p:spPr>
        <p:txBody>
          <a:bodyPr wrap="none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"/>
          <p:cNvSpPr>
            <a:spLocks noGrp="1" noChangeArrowheads="1"/>
          </p:cNvSpPr>
          <p:nvPr>
            <p:ph type="ftr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de-DE"/>
              <a:t>DIPF PowerPoint-Präsentation</a:t>
            </a:r>
          </a:p>
        </p:txBody>
      </p:sp>
      <p:sp>
        <p:nvSpPr>
          <p:cNvPr id="43011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F8DEBDF1-59AE-426C-A7CB-15BC1D0A6C42}" type="slidenum">
              <a:rPr lang="de-DE"/>
              <a:pPr/>
              <a:t>2</a:t>
            </a:fld>
            <a:endParaRPr lang="de-DE"/>
          </a:p>
        </p:txBody>
      </p:sp>
      <p:sp>
        <p:nvSpPr>
          <p:cNvPr id="4301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solidFill>
            <a:srgbClr val="FFFFFF"/>
          </a:solidFill>
          <a:ln/>
        </p:spPr>
      </p:sp>
      <p:sp>
        <p:nvSpPr>
          <p:cNvPr id="4301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79767" y="4715153"/>
            <a:ext cx="5431846" cy="4460094"/>
          </a:xfrm>
          <a:noFill/>
        </p:spPr>
        <p:txBody>
          <a:bodyPr wrap="none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"/>
          <p:cNvSpPr>
            <a:spLocks noGrp="1" noChangeArrowheads="1"/>
          </p:cNvSpPr>
          <p:nvPr>
            <p:ph type="ftr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de-DE"/>
              <a:t>DIPF PowerPoint-Präsentation</a:t>
            </a:r>
          </a:p>
        </p:txBody>
      </p:sp>
      <p:sp>
        <p:nvSpPr>
          <p:cNvPr id="44035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B715475F-7478-4604-AD21-B7B313390A1E}" type="slidenum">
              <a:rPr lang="de-DE"/>
              <a:pPr/>
              <a:t>15</a:t>
            </a:fld>
            <a:endParaRPr lang="de-DE"/>
          </a:p>
        </p:txBody>
      </p:sp>
      <p:sp>
        <p:nvSpPr>
          <p:cNvPr id="4403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solidFill>
            <a:srgbClr val="FFFFFF"/>
          </a:solidFill>
          <a:ln/>
        </p:spPr>
      </p:sp>
      <p:sp>
        <p:nvSpPr>
          <p:cNvPr id="4403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79767" y="4715153"/>
            <a:ext cx="5431846" cy="4460094"/>
          </a:xfrm>
          <a:noFill/>
        </p:spPr>
        <p:txBody>
          <a:bodyPr wrap="none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5E4A48-FE2E-476E-9C02-E8376950158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91D519-4F83-4C17-9CF0-07E201CC9CE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51F016-3824-4D97-9F91-58A7BE71298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911AD54-3618-43EB-B62A-88DC0033C9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C7232B-04B3-46F8-8C92-FBAC33BB9F2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4C4114-B61C-4822-93B7-6546CCBD468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9A4B33-04D7-483C-B702-24A8910519C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EB759E9-2C9C-4FD1-94C0-9F9DF68005C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B26BFA-D7C9-45CA-9BF3-03DEA7E7BDC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03176F-56E0-416A-A7B6-1C110D9E8C8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B699EA-5901-4199-8F75-5685B0A95D7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15557687-D521-4E94-A6CD-C3E0BCA7447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FE746FCF-953E-4A78-B0AB-AEE811C21EF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5899F03-BCBB-4952-8946-5FC091E5C92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BF504F4-8C3C-4563-9912-133A2A510E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989D3FBC-2903-4E20-9D37-627EDCD8A27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7A1EECDB-7916-4D1F-A822-45D05640E8D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1F64886B-ABE0-4ED7-B91B-606D7E0BA5C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EF420052-15BC-49C4-B32F-0E209CF9487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A1CC9AB8-C3B5-4CE8-B716-3B21BE5C679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1D9CFF29-BE10-44DA-B760-32EB944EFF4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95CF079D-C667-4DDE-9319-9B01A73C476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7C28E-2E66-444C-940D-2D7D5897459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3181B-B803-4632-8379-5732413C14F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428F9-9F85-4BFC-BE4C-A8CA072FF76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695EF-2ABE-4AF3-97BB-93B0AEBCB9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79F92-AE26-40F4-B6F0-1846395BCBC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8393A-7128-4DD1-970C-81E4792C6AC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de-DE"/>
              <a:t>Göteborg, 29.11.2011 | Ingo </a:t>
            </a:r>
            <a:r>
              <a:rPr lang="de-DE" err="1"/>
              <a:t>Barkow</a:t>
            </a:r>
            <a:r>
              <a:rPr lang="de-DE"/>
              <a:t> &amp; David Schiller | European DDI Users Group Meeting (EDDI) 2011</a:t>
            </a:r>
          </a:p>
          <a:p>
            <a:pPr>
              <a:defRPr/>
            </a:pP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dirty="0" err="1" smtClean="0"/>
            </a:lvl1pPr>
          </a:lstStyle>
          <a:p>
            <a:pPr>
              <a:defRPr/>
            </a:pPr>
            <a:r>
              <a:rPr lang="de-DE"/>
              <a:t>Representing and utilizing DDI in relational databases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BAEC58-6A04-46F4-98B2-47F91865347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1DBAD-AB6A-433A-97F4-565F3FF8E61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3C08B-1DBF-4D44-963F-E1C44FC504F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dirty="0" err="1" smtClean="0"/>
            </a:lvl1pPr>
          </a:lstStyle>
          <a:p>
            <a:pPr>
              <a:defRPr/>
            </a:pPr>
            <a:r>
              <a:rPr lang="de-DE"/>
              <a:t>Representing and utilizing DDI in relational databases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A1C5BB-7C47-4803-97FA-FAD19828174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dirty="0" err="1" smtClean="0"/>
            </a:lvl1pPr>
          </a:lstStyle>
          <a:p>
            <a:pPr>
              <a:defRPr/>
            </a:pPr>
            <a:r>
              <a:rPr lang="de-DE"/>
              <a:t>Representing and utilizing DDI in relational databases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87F3EE-7E61-4182-8D84-108C2281581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121BD-F91A-479E-B1B3-800E6D31278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90BD6-EBA4-4492-9BF9-5A0F451627A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C05CB-5B14-48DC-8C52-0686AEE4510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1753-CD8C-498A-9374-03480D1DFAE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EB849-20DC-4968-ACED-9F4CED580D8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9A90D-C0B4-4612-9551-C0B97500C77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2C55A-FF00-4E10-9667-5440BBF201C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BBA85-F381-49DF-82EC-0E1349208AB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CB420-8F39-489E-BC01-3E8DCAEB4FF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13B6B-02ED-4E4F-8BCC-F5A7179B341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60C5B-CB47-4266-989C-26EE66E0A80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65DF5-298A-4064-9F59-104AF756DB0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AA07F-A63E-4902-B762-2686A7D4777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35CEF-42A3-4430-94CC-21D23D50307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737D0-2F22-4D45-8461-95D9488F203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28951-BBCD-47BE-84B2-5BD978A2D16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A1EB4-5013-46C5-AED5-43F0A597686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CDE32-4A0E-4A35-93DD-DF6301B93C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5B8A2-152F-4D5A-A712-02ED3052853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44A31-A67E-4ABE-BDE1-2288BC9DAAB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B3DE0-44C3-4255-A365-AA24018946B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A1D5D-9018-43C7-959D-A4DDB23306E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2DBEF-3BDC-417A-A2B1-9BF2869AC80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F9DBF-C1C3-428F-9EA9-D7E1CE0824D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6E7B4-99A6-446F-85B1-ADA971BAD2D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FD04F-7CE6-442C-B736-9D9458911C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AEC78-BDB6-474C-B101-AF808255BF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75851-B03E-44EC-82F7-E457D248A8B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BDE46-58F7-4B29-B080-5EC6DF0B605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2781E-272A-41E0-913F-771CF077BEA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0D6FC-775A-48FC-BB04-009483C07A5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317AD-4831-43DA-A85C-12A030CC7FD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A6280-7763-48B7-A1AE-FCDB609962F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998CB-0098-4FFB-B5F3-500E738357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3DF1C-72DC-416F-BAF7-4C0CA0EFE08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EE77D-9105-4646-A5DC-85A44C1145F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B7F7B-4F6B-4A1B-A196-465DDB7718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31537-D9B5-4684-9A35-F0B46C99273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FA563-E723-436A-B8FA-7A09682BBFA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1ADF2-3D87-4DD3-9BD7-5E766778A40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1CB8B-0BDA-44F0-A8D6-9E69CAED01E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7ED94-432E-4B42-878D-68EBF114A4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C49FD-EDFC-4D47-A2CD-89CACEA4022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FB5D8-F6F1-4061-876C-04B7782A445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52929-DAF7-481B-9E2D-9157316B02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018B0-4B0B-46E7-AA99-D8A5CF06E0A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C23E5-9AFA-4679-8B54-BF753C37FCC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6F1AD-525E-4698-BB5B-AE565A3A910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756C3-1D77-4D30-BF5B-6AE0A1047AC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9C26C-7326-4A02-83D1-D7A391C0E7A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9CFD7-8243-4480-88BA-24A8BC9621A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5FB01-F9F0-4FA0-B202-1EDF56E1762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DCC64-9884-4FA4-880B-B4E2B74C323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9C9D-4E90-4BF0-A38A-685D8EE655A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C9ED4-A6A6-4E6C-975E-E7F2D7AC9F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733FE-473E-481C-A35D-438183518B6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4079E-6C0C-4F93-A399-AE9E7414706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61B33-95D9-4B76-A25E-9B5DDBF6490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B328C-CF2C-46A8-AFEF-0F559E99EF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7C912-19E6-443F-B826-3DB83296000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FC017-32E7-4524-8C43-F697C465150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B82DB-D644-41BE-9496-C4C7F491A63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73EEC-4D01-41AC-A3F8-B43A118596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C0322-A74A-4837-A1DE-2223DF2F643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4B894-4A72-451F-BB47-8EC25BA6A81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357BFA-0B32-48B6-B8E2-045B0BC3507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D9BF3-CA1D-4C4C-AB16-26EE7C4144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30937-1C63-46B4-8275-85DB776EFDC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C222F-50CA-4FC6-B00D-4DD5812AF7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1DD19-8A75-4C4F-BB9A-7A08585325D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2E567-5554-46EE-AA43-F5339483AC9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E1B7A4-EABC-403F-8688-F4D1A4579BF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AB828-65F5-4F64-A395-FA412C4EFA4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0D457-9104-49B1-A2BC-E173038E3E6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D8EFC-55F9-4B66-8B65-B4936B3A93C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43AFD-D68D-4188-842D-858AF7E5A70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91051-8D8F-4ED5-8C47-B145CB86D8A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40400-5C22-4B57-941E-9EDB39E8213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CDB1A-2E20-4D5A-A2B0-12716AE5057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03A58-0166-4F96-9B94-64F4F002D60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66B18-CFF3-46DD-8F56-952170EECC2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226CC-4EA0-4CAF-9DDD-82DD1D19907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E7BA2-A0E7-4274-B4BA-68B98915FB5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B9EAE-A1A7-4349-AA82-77CADBF32C5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FC0BC-46A9-486A-BB0C-0EA639400B2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5C9683-74A3-41C0-8680-283C45DA18C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46F13-429B-409E-93F3-B1BB94622E7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9F52E-FCFA-4709-9326-E9A31C39F4D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8BBA2-6558-466C-9756-4E5D8F8D3CD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52712-D979-4761-8464-1B183D4DAD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6CCCD-8CB5-434C-9CE7-5B7D20B4909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82095-FEF0-4E78-A308-DEA708E11F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C94F9-E0C9-4BDB-9E4B-6EFF2DC935C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D74F1-EE34-41C9-9BCB-2F1230DFB5E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E9E89-9DB3-4747-B615-CE1959D2B98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BC9F0-1048-4344-B2BD-9094F1FD8CF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6C77-EA4D-4F34-B3F6-20A5CC3CAF3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48A84-0174-4870-842B-478314C9FC1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D2400-174B-4DE1-A714-0EA4F2E53B9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04E72-5DAD-46EC-BD14-B4FF5726826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015AD-FBAE-4561-8BEC-5A3EED96ED9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59D98-D822-4A4C-85B0-B7610B2CE9F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DA825-AA7E-45B2-B7DE-7740E6E7143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74860-32FE-469A-9BE0-3134DD84E2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0E4FA-B766-4D22-9757-180D34BE80E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E5CC7-7306-4231-8E07-D769F0E7FFC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11BD7-FA57-4034-8E10-632077B74BC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C80BC-8D8E-4951-8775-84CCA4181D2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3EFB6-2966-4858-BB72-96116117DE9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0D72A-AACE-4EEE-9FE9-DB1A9E6D86D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7302C-19A3-452D-A0EB-40FF8338CFF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E39F3-150D-4CAB-89B3-9AEB106CEC7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6E9ED-41B4-4B52-BBC8-CAFA5D4EF21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79500" y="2159000"/>
            <a:ext cx="3843338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75238" y="2159000"/>
            <a:ext cx="3844925" cy="39544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B1815-3089-4F17-90D5-12678098F9E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FF5FF-1796-4E84-A632-3D4330D54B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414D-F64C-4F68-9B52-DFAA6C6BC49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0887F-26E9-4203-B4A3-6B92533A241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CBB25-396D-421C-9716-D2BE42EB635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F4AAC-20C0-411C-A626-C8DD19CD66F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919E2-5D02-4D5A-B0C7-82C8DF43F76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61188" y="1370013"/>
            <a:ext cx="1958975" cy="474345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079500" y="1370013"/>
            <a:ext cx="5729288" cy="4743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567F8-9D66-486B-A584-00ADF2DD608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 dirty="0" err="1" smtClean="0">
                <a:solidFill>
                  <a:srgbClr val="4A4A4A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Representing and utilizing DDI in relational databases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dirty="0" smtClean="0">
                <a:solidFill>
                  <a:srgbClr val="4A4A4A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NEPS </a:t>
            </a:r>
            <a:r>
              <a:rPr lang="de-DE" err="1"/>
              <a:t>Metadata</a:t>
            </a:r>
            <a:r>
              <a:rPr lang="de-DE"/>
              <a:t> Editor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mtClean="0">
                <a:solidFill>
                  <a:srgbClr val="4A4A4A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fld id="{E25510D7-B003-41AC-BB2D-8BD6D27C7B2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03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005513" y="179388"/>
            <a:ext cx="3062287" cy="1528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205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0FB1CF9D-F07A-4F1D-8AD2-040D7F49CBA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307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Szeged, 15.04.2010 | Ingo Barkow | 2nd Szeged Workshop on Educational Evaluation  (SWEE)</a:t>
            </a:r>
          </a:p>
          <a:p>
            <a:pPr>
              <a:defRPr/>
            </a:pPr>
            <a:endParaRPr lang="de-DE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7782372-721B-4339-93DC-0862C3FDAD4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981" r:id="rId7"/>
    <p:sldLayoutId id="2147483847" r:id="rId8"/>
    <p:sldLayoutId id="2147483848" r:id="rId9"/>
    <p:sldLayoutId id="2147483982" r:id="rId10"/>
    <p:sldLayoutId id="214748398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4099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BB46C176-8D72-4B62-A7D6-F9C86076607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5123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D3D683FB-1C33-4979-83BD-95EAE537CF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614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717B8B58-4824-4A3A-B7CF-BC1E156EE12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717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DD33F94-D0D6-41D2-979E-7ADA818701C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819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0F5EB09B-D4ED-4770-9886-D3F2283EAAC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9219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922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820371A-7E88-401A-B4BB-6D952EE71B7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10245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0A7F7BE-F874-4746-888A-150791BA5F6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1126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F2C2A3C-5405-45CF-9F3D-92F71A9AF8B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12293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Ort, Datum | Name Referent | Name der Veranstaltung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Titel der PowerPoint-Präsentation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A8FE8DC0-0EF4-4797-9EF1-436B5B98D82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8B1D2B53-C1D4-48B2-BFA5-2E54FF4E7DF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ChangeArrowheads="1"/>
          </p:cNvSpPr>
          <p:nvPr/>
        </p:nvSpPr>
        <p:spPr bwMode="auto">
          <a:xfrm>
            <a:off x="0" y="0"/>
            <a:ext cx="179388" cy="6859588"/>
          </a:xfrm>
          <a:prstGeom prst="rect">
            <a:avLst/>
          </a:prstGeom>
          <a:solidFill>
            <a:srgbClr val="FF99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686550" y="219075"/>
            <a:ext cx="2306638" cy="11509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2159000"/>
            <a:ext cx="7840663" cy="3954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1370013"/>
            <a:ext cx="6369050" cy="9128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  <p:sp>
        <p:nvSpPr>
          <p:cNvPr id="2" name="Rectangle 5"/>
          <p:cNvSpPr>
            <a:spLocks noGrp="1" noChangeArrowheads="1"/>
          </p:cNvSpPr>
          <p:nvPr>
            <p:ph type="dt"/>
          </p:nvPr>
        </p:nvSpPr>
        <p:spPr bwMode="auto">
          <a:xfrm>
            <a:off x="1079500" y="6297613"/>
            <a:ext cx="65452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Ithaca, 02.06.2010 | Ingo Barkow | IASSIST 2010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1079500" y="455613"/>
            <a:ext cx="485775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100" smtClean="0">
                <a:solidFill>
                  <a:srgbClr val="000000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de-DE"/>
              <a:t>NEPS Metadata Editor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7700963" y="6297613"/>
            <a:ext cx="10572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</a:tabLst>
              <a:defRPr sz="1100" smtClean="0">
                <a:solidFill>
                  <a:srgbClr val="4A4A4A"/>
                </a:solidFill>
                <a:latin typeface="Times New Roman" pitchFamily="16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89D0FB7-8B20-499E-A55C-0AD422C6694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</p:sldLayoutIdLst>
  <p:hf sldNum="0"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000">
          <a:solidFill>
            <a:srgbClr val="000000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3886/DDIOtherTopics02" TargetMode="External"/><Relationship Id="rId2" Type="http://schemas.openxmlformats.org/officeDocument/2006/relationships/hyperlink" Target="http://www.ddialliance.org/resources/publications/working/othertopics/RepresentingAndUtilizingDDIInRelationalDatabases.pdf" TargetMode="Externa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barkow@dipf.de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://fdz.iab.de/" TargetMode="External"/><Relationship Id="rId5" Type="http://schemas.openxmlformats.org/officeDocument/2006/relationships/hyperlink" Target="mailto:david.schiller@iab.de" TargetMode="External"/><Relationship Id="rId4" Type="http://schemas.openxmlformats.org/officeDocument/2006/relationships/hyperlink" Target="http://www.dipf.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"/>
          <p:cNvSpPr txBox="1">
            <a:spLocks noChangeArrowheads="1"/>
          </p:cNvSpPr>
          <p:nvPr/>
        </p:nvSpPr>
        <p:spPr bwMode="auto">
          <a:xfrm>
            <a:off x="1079500" y="3429000"/>
            <a:ext cx="6376988" cy="12033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lnSpc>
                <a:spcPct val="14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sz="2400">
              <a:solidFill>
                <a:srgbClr val="4A4A4A"/>
              </a:solidFill>
            </a:endParaRPr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079500" y="2403475"/>
            <a:ext cx="637698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de-DE" sz="3200" b="1" dirty="0" err="1" smtClean="0">
                <a:solidFill>
                  <a:srgbClr val="000000"/>
                </a:solidFill>
              </a:rPr>
              <a:t>Representing</a:t>
            </a:r>
            <a:r>
              <a:rPr lang="de-DE" sz="3200" b="1" dirty="0" smtClean="0">
                <a:solidFill>
                  <a:srgbClr val="000000"/>
                </a:solidFill>
              </a:rPr>
              <a:t> </a:t>
            </a:r>
            <a:r>
              <a:rPr lang="de-DE" sz="3200" b="1" dirty="0" err="1" smtClean="0">
                <a:solidFill>
                  <a:srgbClr val="000000"/>
                </a:solidFill>
              </a:rPr>
              <a:t>and</a:t>
            </a:r>
            <a:r>
              <a:rPr lang="de-DE" sz="3200" b="1" dirty="0" smtClean="0">
                <a:solidFill>
                  <a:srgbClr val="000000"/>
                </a:solidFill>
              </a:rPr>
              <a:t> </a:t>
            </a:r>
            <a:r>
              <a:rPr lang="de-DE" sz="3200" b="1" dirty="0" err="1" smtClean="0">
                <a:solidFill>
                  <a:srgbClr val="000000"/>
                </a:solidFill>
              </a:rPr>
              <a:t>utilizing</a:t>
            </a:r>
            <a:r>
              <a:rPr lang="de-DE" sz="3200" b="1" dirty="0" smtClean="0">
                <a:solidFill>
                  <a:srgbClr val="000000"/>
                </a:solidFill>
              </a:rPr>
              <a:t> DDI</a:t>
            </a:r>
          </a:p>
          <a:p>
            <a:pPr>
              <a:buClrTx/>
              <a:buFontTx/>
              <a:buNone/>
              <a:defRPr/>
            </a:pPr>
            <a:r>
              <a:rPr lang="de-DE" sz="3200" b="1" dirty="0" smtClean="0">
                <a:solidFill>
                  <a:srgbClr val="000000"/>
                </a:solidFill>
              </a:rPr>
              <a:t>in relational </a:t>
            </a:r>
            <a:r>
              <a:rPr lang="de-DE" sz="3200" b="1" dirty="0" err="1" smtClean="0">
                <a:solidFill>
                  <a:srgbClr val="000000"/>
                </a:solidFill>
              </a:rPr>
              <a:t>databases</a:t>
            </a:r>
            <a:endParaRPr lang="de-DE" sz="3200" b="1" dirty="0" smtClean="0">
              <a:solidFill>
                <a:srgbClr val="000000"/>
              </a:solidFill>
            </a:endParaRPr>
          </a:p>
          <a:p>
            <a:pPr>
              <a:buClrTx/>
              <a:buFontTx/>
              <a:buNone/>
              <a:defRPr/>
            </a:pPr>
            <a:endParaRPr lang="de-DE" sz="3200" b="1" dirty="0" smtClean="0">
              <a:solidFill>
                <a:srgbClr val="000000"/>
              </a:solidFill>
            </a:endParaRPr>
          </a:p>
          <a:p>
            <a:pPr>
              <a:buClrTx/>
              <a:buFontTx/>
              <a:buNone/>
              <a:defRPr/>
            </a:pPr>
            <a:r>
              <a:rPr lang="de-DE" sz="2400" b="1" dirty="0" smtClean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de-DE" sz="2400" b="1" dirty="0" err="1" smtClean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de-DE" sz="2400" b="1" dirty="0" smtClean="0">
                <a:solidFill>
                  <a:schemeClr val="bg1">
                    <a:lumMod val="50000"/>
                  </a:schemeClr>
                </a:solidFill>
              </a:rPr>
              <a:t> DDI </a:t>
            </a:r>
            <a:r>
              <a:rPr lang="de-DE" sz="2400" b="1" dirty="0" err="1" smtClean="0">
                <a:solidFill>
                  <a:schemeClr val="bg1">
                    <a:lumMod val="50000"/>
                  </a:schemeClr>
                </a:solidFill>
              </a:rPr>
              <a:t>best</a:t>
            </a:r>
            <a:r>
              <a:rPr lang="de-DE" sz="24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2400" b="1" dirty="0" err="1" smtClean="0">
                <a:solidFill>
                  <a:schemeClr val="bg1">
                    <a:lumMod val="50000"/>
                  </a:schemeClr>
                </a:solidFill>
              </a:rPr>
              <a:t>practices</a:t>
            </a:r>
            <a:r>
              <a:rPr lang="de-DE" sz="24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2400" b="1" dirty="0" err="1" smtClean="0">
                <a:solidFill>
                  <a:schemeClr val="bg1">
                    <a:lumMod val="50000"/>
                  </a:schemeClr>
                </a:solidFill>
              </a:rPr>
              <a:t>working</a:t>
            </a:r>
            <a:r>
              <a:rPr lang="de-DE" sz="24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2400" b="1" dirty="0" err="1" smtClean="0">
                <a:solidFill>
                  <a:schemeClr val="bg1">
                    <a:lumMod val="50000"/>
                  </a:schemeClr>
                </a:solidFill>
              </a:rPr>
              <a:t>paper</a:t>
            </a:r>
            <a:endParaRPr lang="de-DE" sz="24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  <a:buFontTx/>
              <a:buNone/>
              <a:defRPr/>
            </a:pPr>
            <a:endParaRPr lang="de-DE" sz="32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  <a:buFontTx/>
              <a:buNone/>
              <a:defRPr/>
            </a:pP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Ingo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Barkow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, Senior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researcher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Leibniz Institute for Educational Research and Educational Information (DIPF)</a:t>
            </a:r>
          </a:p>
          <a:p>
            <a:pPr>
              <a:buClrTx/>
              <a:buFontTx/>
              <a:buNone/>
              <a:defRPr/>
            </a:pPr>
            <a:endParaRPr lang="de-DE" dirty="0" smtClean="0">
              <a:solidFill>
                <a:schemeClr val="bg1">
                  <a:lumMod val="50000"/>
                </a:schemeClr>
              </a:solidFill>
            </a:endParaRPr>
          </a:p>
          <a:p>
            <a:pPr>
              <a:buClrTx/>
              <a:buFontTx/>
              <a:buNone/>
              <a:defRPr/>
            </a:pP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David Schiller, Senior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researcher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, Institute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bg1">
                    <a:lumMod val="50000"/>
                  </a:schemeClr>
                </a:solidFill>
              </a:rPr>
              <a:t>Employment</a:t>
            </a:r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 Research (IAB)</a:t>
            </a:r>
          </a:p>
          <a:p>
            <a:pPr>
              <a:buClrTx/>
              <a:buFontTx/>
              <a:buNone/>
              <a:defRPr/>
            </a:pPr>
            <a:endParaRPr lang="de-DE" sz="3200" b="1" dirty="0" smtClean="0">
              <a:solidFill>
                <a:srgbClr val="000000"/>
              </a:solidFill>
            </a:endParaRPr>
          </a:p>
          <a:p>
            <a:pPr>
              <a:buClrTx/>
              <a:buFontTx/>
              <a:buNone/>
              <a:defRPr/>
            </a:pPr>
            <a:endParaRPr lang="de-DE" sz="3200" b="1" dirty="0" smtClean="0">
              <a:solidFill>
                <a:srgbClr val="000000"/>
              </a:solidFill>
            </a:endParaRPr>
          </a:p>
        </p:txBody>
      </p:sp>
      <p:pic>
        <p:nvPicPr>
          <p:cNvPr id="2970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813" y="6072188"/>
            <a:ext cx="1214437" cy="647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313" y="349250"/>
            <a:ext cx="2179637" cy="99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1079500" y="1370013"/>
            <a:ext cx="6376988" cy="687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3000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079500" y="2159000"/>
            <a:ext cx="7848600" cy="3962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Contributors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Introduction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Pros and cons of DDI in relational database systems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Modeling DDI in relational databases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Advanced cases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Ensuring application </a:t>
            </a:r>
            <a:r>
              <a:rPr lang="en-US" dirty="0" smtClean="0">
                <a:solidFill>
                  <a:srgbClr val="4A4A4A"/>
                </a:solidFill>
              </a:rPr>
              <a:t>compatibility</a:t>
            </a: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 smtClean="0">
                <a:solidFill>
                  <a:srgbClr val="4A4A4A"/>
                </a:solidFill>
              </a:rPr>
              <a:t>An outlook to the future</a:t>
            </a:r>
            <a:endParaRPr lang="en-US" dirty="0">
              <a:solidFill>
                <a:srgbClr val="4A4A4A"/>
              </a:solidFill>
            </a:endParaRPr>
          </a:p>
          <a:p>
            <a:pPr marL="177800" indent="-177800">
              <a:lnSpc>
                <a:spcPct val="140000"/>
              </a:lnSpc>
              <a:buClr>
                <a:srgbClr val="4A4A4A"/>
              </a:buClr>
              <a:buFont typeface="Arial" charset="0"/>
              <a:buChar char="•"/>
              <a:tabLst>
                <a:tab pos="177800" algn="l"/>
                <a:tab pos="625475" algn="l"/>
                <a:tab pos="1074738" algn="l"/>
                <a:tab pos="1524000" algn="l"/>
                <a:tab pos="1973263" algn="l"/>
                <a:tab pos="2422525" algn="l"/>
                <a:tab pos="2871788" algn="l"/>
                <a:tab pos="3321050" algn="l"/>
                <a:tab pos="3770313" algn="l"/>
                <a:tab pos="4219575" algn="l"/>
                <a:tab pos="4668838" algn="l"/>
                <a:tab pos="5118100" algn="l"/>
                <a:tab pos="5567363" algn="l"/>
                <a:tab pos="6016625" algn="l"/>
                <a:tab pos="6465888" algn="l"/>
                <a:tab pos="6915150" algn="l"/>
                <a:tab pos="7364413" algn="l"/>
                <a:tab pos="7813675" algn="l"/>
                <a:tab pos="8262938" algn="l"/>
                <a:tab pos="8712200" algn="l"/>
                <a:tab pos="9161463" algn="l"/>
              </a:tabLst>
            </a:pPr>
            <a:r>
              <a:rPr lang="en-US" dirty="0">
                <a:solidFill>
                  <a:srgbClr val="4A4A4A"/>
                </a:solidFill>
              </a:rPr>
              <a:t>Q&amp;A</a:t>
            </a: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1079500" y="455613"/>
            <a:ext cx="4865688" cy="306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100">
                <a:solidFill>
                  <a:srgbClr val="4A4A4A"/>
                </a:solidFill>
              </a:rPr>
              <a:t>Representing and utilizing DDI in relational databases</a:t>
            </a: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Contributors</a:t>
            </a:r>
          </a:p>
        </p:txBody>
      </p:sp>
      <p:sp>
        <p:nvSpPr>
          <p:cNvPr id="3174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smtClean="0"/>
              <a:t>The </a:t>
            </a:r>
            <a:r>
              <a:rPr lang="de-DE" dirty="0" err="1" smtClean="0"/>
              <a:t>idea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paper</a:t>
            </a:r>
            <a:r>
              <a:rPr lang="de-DE" dirty="0" smtClean="0"/>
              <a:t> was </a:t>
            </a:r>
            <a:r>
              <a:rPr lang="de-DE" dirty="0" err="1" smtClean="0"/>
              <a:t>formed</a:t>
            </a:r>
            <a:r>
              <a:rPr lang="de-DE" dirty="0" smtClean="0"/>
              <a:t> </a:t>
            </a:r>
            <a:r>
              <a:rPr lang="de-DE" dirty="0" err="1" smtClean="0"/>
              <a:t>at</a:t>
            </a:r>
            <a:r>
              <a:rPr lang="de-DE" dirty="0" smtClean="0"/>
              <a:t> a </a:t>
            </a:r>
            <a:r>
              <a:rPr lang="de-DE" dirty="0" err="1" smtClean="0"/>
              <a:t>workshop</a:t>
            </a:r>
            <a:r>
              <a:rPr lang="de-DE" dirty="0" smtClean="0"/>
              <a:t> on </a:t>
            </a:r>
            <a:r>
              <a:rPr lang="de-DE" dirty="0" err="1" smtClean="0"/>
              <a:t>mapping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 </a:t>
            </a:r>
            <a:r>
              <a:rPr lang="de-DE" dirty="0" err="1" smtClean="0"/>
              <a:t>to</a:t>
            </a:r>
            <a:r>
              <a:rPr lang="de-DE" dirty="0" smtClean="0"/>
              <a:t> relational </a:t>
            </a:r>
            <a:r>
              <a:rPr lang="de-DE" dirty="0" err="1" smtClean="0"/>
              <a:t>databases</a:t>
            </a:r>
            <a:r>
              <a:rPr lang="de-DE" dirty="0" smtClean="0"/>
              <a:t> in Frankfurt / Main </a:t>
            </a:r>
            <a:r>
              <a:rPr lang="de-DE" smtClean="0"/>
              <a:t>in April </a:t>
            </a:r>
            <a:r>
              <a:rPr lang="de-DE" dirty="0" smtClean="0"/>
              <a:t>2011</a:t>
            </a:r>
          </a:p>
          <a:p>
            <a:pPr>
              <a:buFont typeface="Arial" charset="0"/>
              <a:buChar char="•"/>
            </a:pPr>
            <a:r>
              <a:rPr lang="de-DE" dirty="0" err="1" smtClean="0"/>
              <a:t>Contributors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: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Alerk Amin, </a:t>
            </a:r>
            <a:r>
              <a:rPr lang="en-US" dirty="0" err="1" smtClean="0"/>
              <a:t>CentERdata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en-US" dirty="0" smtClean="0"/>
              <a:t>Ingo Barkow, Leibniz Institute for Educational Research and Educational Information (DIPF)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en-US" dirty="0" smtClean="0"/>
              <a:t>Stefan Kramer, Cornell Institute for Social and Economic Research (CISER)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en-US" dirty="0" smtClean="0"/>
              <a:t>David Schiller, Institute for Employment Research (IAB)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en-US" dirty="0" smtClean="0"/>
              <a:t>Jeremy Williams, Cornell Institute for Social and Economic Research (CISER)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Thanks to Jeremy Iverson (</a:t>
            </a:r>
            <a:r>
              <a:rPr lang="en-US" dirty="0" err="1" smtClean="0"/>
              <a:t>Colectica</a:t>
            </a:r>
            <a:r>
              <a:rPr lang="en-US" dirty="0" smtClean="0"/>
              <a:t>), </a:t>
            </a:r>
            <a:r>
              <a:rPr lang="en-US" dirty="0" err="1" smtClean="0"/>
              <a:t>Sansa</a:t>
            </a:r>
            <a:r>
              <a:rPr lang="en-US" dirty="0" smtClean="0"/>
              <a:t> </a:t>
            </a:r>
            <a:r>
              <a:rPr lang="en-US" dirty="0" err="1" smtClean="0"/>
              <a:t>Ionescu</a:t>
            </a:r>
            <a:r>
              <a:rPr lang="en-US" dirty="0" smtClean="0"/>
              <a:t> (University of Michigan) and Johanna </a:t>
            </a:r>
            <a:r>
              <a:rPr lang="en-US" dirty="0" err="1" smtClean="0"/>
              <a:t>Vompras</a:t>
            </a:r>
            <a:r>
              <a:rPr lang="en-US" dirty="0" smtClean="0"/>
              <a:t> (University of Bielefeld) for additional input</a:t>
            </a:r>
            <a:endParaRPr lang="de-DE" dirty="0" smtClean="0"/>
          </a:p>
          <a:p>
            <a:pPr>
              <a:buFont typeface="Arial" charset="0"/>
              <a:buChar char="•"/>
            </a:pP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smtClean="0">
                <a:latin typeface="+mn-lt"/>
              </a:rPr>
              <a:t>Göteborg, 06.12.2011</a:t>
            </a:r>
            <a:r>
              <a:rPr lang="de-DE" dirty="0">
                <a:latin typeface="+mn-lt"/>
              </a:rPr>
              <a:t>| </a:t>
            </a:r>
            <a:r>
              <a:rPr lang="de-DE" dirty="0" err="1">
                <a:latin typeface="+mn-lt"/>
              </a:rPr>
              <a:t>Barkow</a:t>
            </a:r>
            <a:r>
              <a:rPr lang="de-DE" dirty="0">
                <a:latin typeface="+mn-lt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17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Introduction</a:t>
            </a:r>
          </a:p>
        </p:txBody>
      </p:sp>
      <p:sp>
        <p:nvSpPr>
          <p:cNvPr id="3277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endParaRPr lang="de-DE" dirty="0" smtClean="0"/>
          </a:p>
          <a:p>
            <a:pPr>
              <a:buFont typeface="Arial" charset="0"/>
              <a:buChar char="•"/>
            </a:pPr>
            <a:r>
              <a:rPr lang="de-DE" dirty="0" smtClean="0"/>
              <a:t>Modern </a:t>
            </a:r>
            <a:r>
              <a:rPr lang="de-DE" dirty="0" err="1" smtClean="0"/>
              <a:t>research</a:t>
            </a:r>
            <a:r>
              <a:rPr lang="de-DE" dirty="0" smtClean="0"/>
              <a:t> </a:t>
            </a:r>
            <a:r>
              <a:rPr lang="de-DE" dirty="0" err="1" smtClean="0"/>
              <a:t>needs</a:t>
            </a:r>
            <a:r>
              <a:rPr lang="de-DE" dirty="0" smtClean="0"/>
              <a:t> a </a:t>
            </a:r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documentation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endParaRPr lang="de-DE" dirty="0"/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reuse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merging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international </a:t>
            </a:r>
            <a:r>
              <a:rPr lang="de-DE" dirty="0" err="1" smtClean="0"/>
              <a:t>comparison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datasets</a:t>
            </a:r>
            <a:endParaRPr lang="de-DE" dirty="0"/>
          </a:p>
          <a:p>
            <a:pPr marL="457200" lvl="1" indent="0"/>
            <a:endParaRPr lang="de-DE" dirty="0" smtClean="0"/>
          </a:p>
          <a:p>
            <a:pPr>
              <a:buFont typeface="Arial" charset="0"/>
              <a:buChar char="•"/>
            </a:pPr>
            <a:r>
              <a:rPr lang="de-DE" dirty="0" smtClean="0"/>
              <a:t>DDI </a:t>
            </a:r>
            <a:r>
              <a:rPr lang="de-DE" dirty="0" err="1" smtClean="0"/>
              <a:t>seems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most</a:t>
            </a:r>
            <a:r>
              <a:rPr lang="de-DE" dirty="0" smtClean="0"/>
              <a:t> promising </a:t>
            </a:r>
            <a:r>
              <a:rPr lang="de-DE" dirty="0" err="1" smtClean="0"/>
              <a:t>solution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standardized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documentation</a:t>
            </a:r>
            <a:endParaRPr lang="de-DE" dirty="0" smtClean="0"/>
          </a:p>
          <a:p>
            <a:pPr>
              <a:buFont typeface="Arial" charset="0"/>
              <a:buChar char="•"/>
            </a:pPr>
            <a:endParaRPr lang="de-DE" dirty="0" smtClean="0"/>
          </a:p>
          <a:p>
            <a:pPr>
              <a:buFont typeface="Arial" charset="0"/>
              <a:buChar char="•"/>
            </a:pPr>
            <a:r>
              <a:rPr lang="de-DE" dirty="0" smtClean="0"/>
              <a:t>But DDI </a:t>
            </a:r>
            <a:r>
              <a:rPr lang="de-DE" dirty="0" err="1" smtClean="0"/>
              <a:t>needs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practically</a:t>
            </a:r>
            <a:r>
              <a:rPr lang="de-DE" dirty="0" smtClean="0"/>
              <a:t> (not </a:t>
            </a:r>
            <a:r>
              <a:rPr lang="de-DE" dirty="0" err="1" smtClean="0"/>
              <a:t>only</a:t>
            </a:r>
            <a:r>
              <a:rPr lang="de-DE" dirty="0" smtClean="0"/>
              <a:t> </a:t>
            </a:r>
            <a:r>
              <a:rPr lang="de-DE" dirty="0" err="1" smtClean="0"/>
              <a:t>developed</a:t>
            </a:r>
            <a:r>
              <a:rPr lang="de-DE" dirty="0"/>
              <a:t>)</a:t>
            </a:r>
            <a:endParaRPr lang="de-DE" dirty="0" smtClean="0"/>
          </a:p>
          <a:p>
            <a:pPr>
              <a:buFont typeface="Arial" charset="0"/>
              <a:buChar char="•"/>
            </a:pPr>
            <a:endParaRPr lang="de-DE" dirty="0" smtClean="0"/>
          </a:p>
          <a:p>
            <a:pPr>
              <a:buFont typeface="Arial" charset="0"/>
              <a:buChar char="•"/>
            </a:pP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27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Introduction</a:t>
            </a:r>
          </a:p>
        </p:txBody>
      </p:sp>
      <p:sp>
        <p:nvSpPr>
          <p:cNvPr id="3277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endParaRPr lang="de-DE" dirty="0" smtClean="0"/>
          </a:p>
          <a:p>
            <a:pPr>
              <a:buFont typeface="Arial" charset="0"/>
              <a:buChar char="•"/>
            </a:pPr>
            <a:r>
              <a:rPr lang="de-DE" dirty="0" err="1" smtClean="0"/>
              <a:t>Therefore</a:t>
            </a:r>
            <a:r>
              <a:rPr lang="de-DE" dirty="0" smtClean="0"/>
              <a:t> DDI must </a:t>
            </a:r>
            <a:r>
              <a:rPr lang="de-DE" dirty="0" err="1" smtClean="0"/>
              <a:t>be</a:t>
            </a:r>
            <a:r>
              <a:rPr lang="de-DE" dirty="0" smtClean="0"/>
              <a:t> easy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implement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proof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future</a:t>
            </a:r>
            <a:r>
              <a:rPr lang="de-DE" dirty="0" smtClean="0"/>
              <a:t> </a:t>
            </a:r>
            <a:r>
              <a:rPr lang="de-DE" dirty="0" err="1" smtClean="0"/>
              <a:t>developments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areas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 smtClean="0"/>
              <a:t>storage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 smtClean="0"/>
              <a:t>analysis</a:t>
            </a:r>
            <a:endParaRPr lang="de-DE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Relational </a:t>
            </a:r>
            <a:r>
              <a:rPr lang="en-US" dirty="0"/>
              <a:t>databases are a widely used and flexible solution for data </a:t>
            </a:r>
            <a:r>
              <a:rPr lang="en-US" dirty="0" smtClean="0"/>
              <a:t>storage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Bringing </a:t>
            </a:r>
            <a:r>
              <a:rPr lang="en-US" dirty="0"/>
              <a:t>DDI together with the capability of relational database systems will promote both data storage for the purpose of scientific research and the DDI standard </a:t>
            </a:r>
            <a:r>
              <a:rPr lang="en-US" dirty="0" smtClean="0"/>
              <a:t>itself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This presentation and the underlying paper </a:t>
            </a:r>
            <a:r>
              <a:rPr lang="en-US" dirty="0"/>
              <a:t>outlines the advantages and disadvantages of representing DDI in relational databases as an alternative to an XML </a:t>
            </a:r>
            <a:r>
              <a:rPr lang="en-US" dirty="0" smtClean="0"/>
              <a:t>structure.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27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973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DDI in RDBs – pros and cons</a:t>
            </a:r>
          </a:p>
        </p:txBody>
      </p:sp>
      <p:sp>
        <p:nvSpPr>
          <p:cNvPr id="3379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smtClean="0"/>
              <a:t>Pros of relational databases in regards to DDI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Structure is very good for rectangular files (e.g. SPSS or Stata)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Easier combination between metadata and microdata by using the same storage structure (e.g. by referential integrity)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Very common structure with high degree of optimization (e.g. indexes, file groups, stored procedures)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Capability to store multiple studies in one database system (more opportunity for harmonization between studies)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Internal independence of DDI version (can be adapted in the import and export processes on each individual version)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37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DDI in RDBs – pros and cons</a:t>
            </a:r>
          </a:p>
        </p:txBody>
      </p:sp>
      <p:sp>
        <p:nvSpPr>
          <p:cNvPr id="348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smtClean="0"/>
              <a:t>Pros of XML structures in regards to DDI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XML is native to DDI therefore no compatibility issues (e.g. unknown nodes do not have necessarily to be processed)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Hierarchical structure is difficult to model in relational databases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Full set of DDI leads to a very complex relational database with heavy response times due to complex joins (nevertheless most DDI-XML implementations only use a subset)</a:t>
            </a:r>
          </a:p>
          <a:p>
            <a:pPr lvl="1">
              <a:buFont typeface="Arial" charset="0"/>
              <a:buChar char="•"/>
            </a:pPr>
            <a:r>
              <a:rPr lang="de-DE" smtClean="0"/>
              <a:t>DDI-XML can easier be verified against the DDI schema</a:t>
            </a:r>
          </a:p>
          <a:p>
            <a:pPr>
              <a:buFont typeface="Arial" charset="0"/>
              <a:buChar char="•"/>
            </a:pPr>
            <a:r>
              <a:rPr lang="de-DE" smtClean="0"/>
              <a:t>An interesting approach is to use a hybrid relational database with XML acceleration or processing (e.g. enterprise databases like SQL Server or Oracle)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48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Modelling DDI in RDBs</a:t>
            </a:r>
          </a:p>
        </p:txBody>
      </p:sp>
      <p:sp>
        <p:nvSpPr>
          <p:cNvPr id="3584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smtClean="0"/>
              <a:t>The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r>
              <a:rPr lang="de-DE" dirty="0" err="1" smtClean="0"/>
              <a:t>does</a:t>
            </a:r>
            <a:r>
              <a:rPr lang="de-DE" dirty="0" smtClean="0"/>
              <a:t> not </a:t>
            </a:r>
            <a:r>
              <a:rPr lang="de-DE" dirty="0" err="1" smtClean="0"/>
              <a:t>include</a:t>
            </a:r>
            <a:r>
              <a:rPr lang="de-DE" dirty="0" smtClean="0"/>
              <a:t> a </a:t>
            </a:r>
            <a:r>
              <a:rPr lang="de-DE" dirty="0" err="1" smtClean="0"/>
              <a:t>model</a:t>
            </a:r>
            <a:r>
              <a:rPr lang="de-DE" dirty="0" smtClean="0"/>
              <a:t> relational </a:t>
            </a:r>
            <a:r>
              <a:rPr lang="de-DE" dirty="0" err="1" smtClean="0"/>
              <a:t>database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DDI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direct</a:t>
            </a:r>
            <a:r>
              <a:rPr lang="de-DE" dirty="0" smtClean="0"/>
              <a:t> </a:t>
            </a:r>
            <a:r>
              <a:rPr lang="de-DE" dirty="0" err="1" smtClean="0"/>
              <a:t>implementation</a:t>
            </a:r>
            <a:r>
              <a:rPr lang="de-DE" dirty="0" smtClean="0"/>
              <a:t> </a:t>
            </a:r>
            <a:r>
              <a:rPr lang="de-DE" dirty="0" err="1" smtClean="0"/>
              <a:t>examples</a:t>
            </a:r>
            <a:r>
              <a:rPr lang="de-DE" dirty="0" smtClean="0"/>
              <a:t>, </a:t>
            </a:r>
            <a:r>
              <a:rPr lang="de-DE" dirty="0" err="1" smtClean="0"/>
              <a:t>because</a:t>
            </a:r>
            <a:r>
              <a:rPr lang="de-DE" dirty="0" smtClean="0"/>
              <a:t> </a:t>
            </a:r>
            <a:r>
              <a:rPr lang="de-DE" dirty="0" err="1" smtClean="0"/>
              <a:t>there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too</a:t>
            </a:r>
            <a:r>
              <a:rPr lang="de-DE" dirty="0" smtClean="0"/>
              <a:t> </a:t>
            </a:r>
            <a:r>
              <a:rPr lang="de-DE" dirty="0" err="1" smtClean="0"/>
              <a:t>many</a:t>
            </a:r>
            <a:r>
              <a:rPr lang="de-DE" dirty="0" smtClean="0"/>
              <a:t> </a:t>
            </a:r>
            <a:r>
              <a:rPr lang="de-DE" dirty="0" err="1" smtClean="0"/>
              <a:t>surrounding</a:t>
            </a:r>
            <a:r>
              <a:rPr lang="de-DE" dirty="0" smtClean="0"/>
              <a:t> </a:t>
            </a:r>
            <a:r>
              <a:rPr lang="de-DE" dirty="0" err="1" smtClean="0"/>
              <a:t>factors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give</a:t>
            </a:r>
            <a:r>
              <a:rPr lang="de-DE" dirty="0" smtClean="0"/>
              <a:t> a </a:t>
            </a:r>
            <a:r>
              <a:rPr lang="de-DE" dirty="0" err="1" smtClean="0"/>
              <a:t>complete</a:t>
            </a:r>
            <a:r>
              <a:rPr lang="de-DE" dirty="0" smtClean="0"/>
              <a:t> </a:t>
            </a:r>
            <a:r>
              <a:rPr lang="de-DE" dirty="0" err="1" smtClean="0"/>
              <a:t>model</a:t>
            </a:r>
            <a:r>
              <a:rPr lang="de-DE" dirty="0" smtClean="0"/>
              <a:t>, e.g.</a:t>
            </a:r>
          </a:p>
          <a:p>
            <a:pPr lvl="1">
              <a:buFont typeface="Arial" charset="0"/>
              <a:buChar char="•"/>
            </a:pPr>
            <a:r>
              <a:rPr lang="de-DE" dirty="0" smtClean="0"/>
              <a:t>Database </a:t>
            </a:r>
            <a:r>
              <a:rPr lang="de-DE" dirty="0" err="1" smtClean="0"/>
              <a:t>engine</a:t>
            </a:r>
            <a:r>
              <a:rPr lang="de-DE" dirty="0" smtClean="0"/>
              <a:t> (e.g. MySQL, Oracle, SQL Server)</a:t>
            </a:r>
          </a:p>
          <a:p>
            <a:pPr lvl="1">
              <a:buFont typeface="Arial" charset="0"/>
              <a:buChar char="•"/>
            </a:pPr>
            <a:r>
              <a:rPr lang="de-DE" dirty="0" smtClean="0"/>
              <a:t>Agency </a:t>
            </a:r>
            <a:r>
              <a:rPr lang="de-DE" dirty="0" err="1" smtClean="0"/>
              <a:t>requirements</a:t>
            </a:r>
            <a:r>
              <a:rPr lang="de-DE" dirty="0" smtClean="0"/>
              <a:t> (e.g. DDI </a:t>
            </a:r>
            <a:r>
              <a:rPr lang="de-DE" dirty="0" err="1" smtClean="0"/>
              <a:t>elements</a:t>
            </a:r>
            <a:r>
              <a:rPr lang="de-DE" dirty="0" smtClean="0"/>
              <a:t> </a:t>
            </a:r>
            <a:r>
              <a:rPr lang="de-DE" dirty="0" err="1" smtClean="0"/>
              <a:t>needed</a:t>
            </a:r>
            <a:r>
              <a:rPr lang="de-DE" dirty="0" smtClean="0"/>
              <a:t>)</a:t>
            </a:r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Programming</a:t>
            </a:r>
            <a:r>
              <a:rPr lang="de-DE" dirty="0" smtClean="0"/>
              <a:t> </a:t>
            </a:r>
            <a:r>
              <a:rPr lang="de-DE" dirty="0" err="1" smtClean="0"/>
              <a:t>environment</a:t>
            </a:r>
            <a:r>
              <a:rPr lang="de-DE" dirty="0" smtClean="0"/>
              <a:t> (e.g. PHP, Java, C#/.NET)</a:t>
            </a:r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Previous</a:t>
            </a:r>
            <a:r>
              <a:rPr lang="de-DE" dirty="0" smtClean="0"/>
              <a:t> </a:t>
            </a:r>
            <a:r>
              <a:rPr lang="de-DE" dirty="0" err="1" smtClean="0"/>
              <a:t>database</a:t>
            </a:r>
            <a:r>
              <a:rPr lang="de-DE" dirty="0" smtClean="0"/>
              <a:t> </a:t>
            </a:r>
            <a:r>
              <a:rPr lang="de-DE" dirty="0" err="1" smtClean="0"/>
              <a:t>knowledge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structures</a:t>
            </a:r>
            <a:r>
              <a:rPr lang="de-DE" dirty="0" smtClean="0"/>
              <a:t> </a:t>
            </a:r>
            <a:r>
              <a:rPr lang="de-DE" dirty="0" err="1" smtClean="0"/>
              <a:t>within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agency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Old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migrated</a:t>
            </a:r>
            <a:endParaRPr lang="de-DE" dirty="0" smtClean="0"/>
          </a:p>
          <a:p>
            <a:pPr marL="457200" lvl="1" indent="0"/>
            <a:endParaRPr lang="de-DE" dirty="0"/>
          </a:p>
          <a:p>
            <a:pPr>
              <a:buFont typeface="Arial" charset="0"/>
              <a:buChar char="•"/>
            </a:pPr>
            <a:r>
              <a:rPr lang="de-DE" dirty="0" err="1" smtClean="0"/>
              <a:t>Therefore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designed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a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practice</a:t>
            </a:r>
            <a:r>
              <a:rPr lang="de-DE" dirty="0" smtClean="0"/>
              <a:t> </a:t>
            </a:r>
            <a:r>
              <a:rPr lang="de-DE" dirty="0" err="1" smtClean="0"/>
              <a:t>guidebook</a:t>
            </a:r>
            <a:r>
              <a:rPr lang="de-DE" dirty="0" smtClean="0"/>
              <a:t> </a:t>
            </a:r>
            <a:r>
              <a:rPr lang="de-DE" dirty="0" err="1" smtClean="0"/>
              <a:t>derived</a:t>
            </a:r>
            <a:r>
              <a:rPr lang="de-DE" dirty="0" smtClean="0"/>
              <a:t> out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experiences</a:t>
            </a:r>
            <a:r>
              <a:rPr lang="de-DE" dirty="0" smtClean="0"/>
              <a:t> in </a:t>
            </a:r>
            <a:r>
              <a:rPr lang="de-DE" dirty="0" err="1" smtClean="0"/>
              <a:t>respective</a:t>
            </a:r>
            <a:r>
              <a:rPr lang="de-DE" dirty="0" smtClean="0"/>
              <a:t> </a:t>
            </a:r>
            <a:r>
              <a:rPr lang="de-DE" dirty="0" err="1" smtClean="0"/>
              <a:t>agencies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58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Modelling DDI in RDBs</a:t>
            </a:r>
          </a:p>
        </p:txBody>
      </p:sp>
      <p:sp>
        <p:nvSpPr>
          <p:cNvPr id="3584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smtClean="0"/>
              <a:t>The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r>
              <a:rPr lang="de-DE" dirty="0" err="1" smtClean="0"/>
              <a:t>includes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following</a:t>
            </a:r>
            <a:r>
              <a:rPr lang="de-DE" dirty="0" smtClean="0"/>
              <a:t> design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practices</a:t>
            </a:r>
            <a:r>
              <a:rPr lang="de-DE" dirty="0" smtClean="0"/>
              <a:t>:</a:t>
            </a:r>
          </a:p>
          <a:p>
            <a:pPr marL="0" indent="0"/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DDI Elements</a:t>
            </a:r>
          </a:p>
          <a:p>
            <a:pPr lvl="1">
              <a:buFont typeface="Arial" charset="0"/>
              <a:buChar char="•"/>
            </a:pPr>
            <a:r>
              <a:rPr lang="de-DE" dirty="0" smtClean="0"/>
              <a:t>XML Hierarchie</a:t>
            </a:r>
          </a:p>
          <a:p>
            <a:pPr lvl="1">
              <a:buFont typeface="Arial" charset="0"/>
              <a:buChar char="•"/>
            </a:pPr>
            <a:r>
              <a:rPr lang="de-DE" dirty="0" smtClean="0"/>
              <a:t>References</a:t>
            </a:r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Recursive</a:t>
            </a:r>
            <a:r>
              <a:rPr lang="de-DE" dirty="0" smtClean="0"/>
              <a:t> </a:t>
            </a:r>
            <a:r>
              <a:rPr lang="de-DE" dirty="0" err="1" smtClean="0"/>
              <a:t>structures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Substitution </a:t>
            </a:r>
            <a:r>
              <a:rPr lang="de-DE" dirty="0" err="1" smtClean="0"/>
              <a:t>groups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Controlled</a:t>
            </a:r>
            <a:r>
              <a:rPr lang="de-DE" dirty="0" smtClean="0"/>
              <a:t> </a:t>
            </a:r>
            <a:r>
              <a:rPr lang="de-DE" dirty="0" err="1" smtClean="0"/>
              <a:t>vocabularies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Database </a:t>
            </a:r>
            <a:r>
              <a:rPr lang="de-DE" dirty="0" err="1" smtClean="0"/>
              <a:t>Ids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58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9895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Advanced Cases</a:t>
            </a:r>
          </a:p>
        </p:txBody>
      </p:sp>
      <p:sp>
        <p:nvSpPr>
          <p:cNvPr id="3686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err="1" smtClean="0"/>
              <a:t>Versioning</a:t>
            </a:r>
            <a:r>
              <a:rPr lang="de-DE" dirty="0" smtClean="0"/>
              <a:t> (</a:t>
            </a:r>
            <a:r>
              <a:rPr lang="de-DE" dirty="0" err="1" smtClean="0"/>
              <a:t>including</a:t>
            </a:r>
            <a:r>
              <a:rPr lang="de-DE" dirty="0" smtClean="0"/>
              <a:t> </a:t>
            </a:r>
            <a:r>
              <a:rPr lang="de-DE" dirty="0" err="1" smtClean="0"/>
              <a:t>late</a:t>
            </a:r>
            <a:r>
              <a:rPr lang="de-DE" dirty="0" smtClean="0"/>
              <a:t> </a:t>
            </a:r>
            <a:r>
              <a:rPr lang="de-DE" dirty="0" err="1" smtClean="0"/>
              <a:t>bound</a:t>
            </a:r>
            <a:r>
              <a:rPr lang="de-DE" dirty="0" smtClean="0"/>
              <a:t> </a:t>
            </a:r>
            <a:r>
              <a:rPr lang="de-DE" dirty="0" err="1" smtClean="0"/>
              <a:t>references</a:t>
            </a:r>
            <a:r>
              <a:rPr lang="de-DE" dirty="0" smtClean="0"/>
              <a:t>)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established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following</a:t>
            </a:r>
            <a:r>
              <a:rPr lang="de-DE" dirty="0" smtClean="0"/>
              <a:t> </a:t>
            </a:r>
            <a:r>
              <a:rPr lang="de-DE" dirty="0" err="1" smtClean="0"/>
              <a:t>way</a:t>
            </a:r>
            <a:r>
              <a:rPr lang="de-DE" dirty="0" smtClean="0"/>
              <a:t> in a relational </a:t>
            </a:r>
            <a:r>
              <a:rPr lang="de-DE" dirty="0" err="1" smtClean="0"/>
              <a:t>database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Array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triggers</a:t>
            </a:r>
            <a:r>
              <a:rPr lang="de-DE" dirty="0" smtClean="0"/>
              <a:t> on </a:t>
            </a:r>
            <a:r>
              <a:rPr lang="de-DE" dirty="0" err="1" smtClean="0"/>
              <a:t>fitting</a:t>
            </a:r>
            <a:r>
              <a:rPr lang="de-DE" dirty="0" smtClean="0"/>
              <a:t> </a:t>
            </a:r>
            <a:r>
              <a:rPr lang="de-DE" dirty="0" err="1" smtClean="0"/>
              <a:t>tables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Managed</a:t>
            </a:r>
            <a:r>
              <a:rPr lang="de-DE" dirty="0" smtClean="0"/>
              <a:t> </a:t>
            </a:r>
            <a:r>
              <a:rPr lang="de-DE" dirty="0" err="1" smtClean="0"/>
              <a:t>code</a:t>
            </a:r>
            <a:r>
              <a:rPr lang="de-DE" dirty="0" smtClean="0"/>
              <a:t> / </a:t>
            </a:r>
            <a:r>
              <a:rPr lang="de-DE" dirty="0" err="1" smtClean="0"/>
              <a:t>external</a:t>
            </a:r>
            <a:r>
              <a:rPr lang="de-DE" dirty="0" smtClean="0"/>
              <a:t> </a:t>
            </a:r>
            <a:r>
              <a:rPr lang="de-DE" dirty="0" err="1" smtClean="0"/>
              <a:t>programming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Data </a:t>
            </a:r>
            <a:r>
              <a:rPr lang="de-DE" dirty="0" err="1" smtClean="0"/>
              <a:t>warehouse</a:t>
            </a:r>
            <a:r>
              <a:rPr lang="de-DE" dirty="0" smtClean="0"/>
              <a:t> </a:t>
            </a:r>
            <a:r>
              <a:rPr lang="de-DE" dirty="0" err="1" smtClean="0"/>
              <a:t>technology</a:t>
            </a:r>
            <a:r>
              <a:rPr lang="de-DE" dirty="0" smtClean="0"/>
              <a:t> (</a:t>
            </a:r>
            <a:r>
              <a:rPr lang="de-DE" dirty="0" err="1" smtClean="0"/>
              <a:t>slowly</a:t>
            </a:r>
            <a:r>
              <a:rPr lang="de-DE" dirty="0" smtClean="0"/>
              <a:t> </a:t>
            </a:r>
            <a:r>
              <a:rPr lang="de-DE" dirty="0" err="1" smtClean="0"/>
              <a:t>changing</a:t>
            </a:r>
            <a:r>
              <a:rPr lang="de-DE" dirty="0" smtClean="0"/>
              <a:t> </a:t>
            </a:r>
            <a:r>
              <a:rPr lang="de-DE" dirty="0" err="1" smtClean="0"/>
              <a:t>dimensions</a:t>
            </a:r>
            <a:r>
              <a:rPr lang="de-DE" dirty="0" smtClean="0"/>
              <a:t>)</a:t>
            </a:r>
          </a:p>
          <a:p>
            <a:pPr>
              <a:buFont typeface="Arial" charset="0"/>
              <a:buChar char="•"/>
            </a:pPr>
            <a:r>
              <a:rPr lang="de-DE" dirty="0" err="1" smtClean="0"/>
              <a:t>Modelling</a:t>
            </a:r>
            <a:r>
              <a:rPr lang="de-DE" dirty="0" smtClean="0"/>
              <a:t> </a:t>
            </a:r>
            <a:r>
              <a:rPr lang="de-DE" dirty="0" err="1" smtClean="0"/>
              <a:t>schemes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include</a:t>
            </a:r>
            <a:r>
              <a:rPr lang="de-DE" dirty="0" smtClean="0"/>
              <a:t> </a:t>
            </a:r>
            <a:r>
              <a:rPr lang="de-DE" dirty="0" err="1" smtClean="0"/>
              <a:t>another</a:t>
            </a:r>
            <a:r>
              <a:rPr lang="de-DE" dirty="0" smtClean="0"/>
              <a:t> </a:t>
            </a:r>
            <a:r>
              <a:rPr lang="de-DE" dirty="0" err="1" smtClean="0"/>
              <a:t>scheme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Model relational </a:t>
            </a:r>
            <a:r>
              <a:rPr lang="de-DE" dirty="0" err="1" smtClean="0"/>
              <a:t>database</a:t>
            </a:r>
            <a:r>
              <a:rPr lang="de-DE" dirty="0" smtClean="0"/>
              <a:t> </a:t>
            </a:r>
            <a:r>
              <a:rPr lang="de-DE" dirty="0" err="1" smtClean="0"/>
              <a:t>very</a:t>
            </a:r>
            <a:r>
              <a:rPr lang="de-DE" dirty="0" smtClean="0"/>
              <a:t> </a:t>
            </a:r>
            <a:r>
              <a:rPr lang="de-DE" dirty="0" err="1" smtClean="0"/>
              <a:t>similar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DDI-XML </a:t>
            </a:r>
            <a:r>
              <a:rPr lang="de-DE" dirty="0" err="1" smtClean="0"/>
              <a:t>structure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„</a:t>
            </a:r>
            <a:r>
              <a:rPr lang="de-DE" dirty="0" err="1" smtClean="0"/>
              <a:t>Resolve</a:t>
            </a:r>
            <a:r>
              <a:rPr lang="de-DE" dirty="0" smtClean="0"/>
              <a:t>“ all </a:t>
            </a:r>
            <a:r>
              <a:rPr lang="de-DE" dirty="0" err="1" smtClean="0"/>
              <a:t>included</a:t>
            </a:r>
            <a:r>
              <a:rPr lang="de-DE" dirty="0" smtClean="0"/>
              <a:t> </a:t>
            </a:r>
            <a:r>
              <a:rPr lang="de-DE" dirty="0" err="1" smtClean="0"/>
              <a:t>schemes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only</a:t>
            </a:r>
            <a:r>
              <a:rPr lang="de-DE" dirty="0" smtClean="0"/>
              <a:t> </a:t>
            </a:r>
            <a:r>
              <a:rPr lang="de-DE" dirty="0" err="1" smtClean="0"/>
              <a:t>store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„</a:t>
            </a:r>
            <a:r>
              <a:rPr lang="de-DE" dirty="0" err="1" smtClean="0"/>
              <a:t>complete</a:t>
            </a:r>
            <a:r>
              <a:rPr lang="de-DE" dirty="0" smtClean="0"/>
              <a:t>“ </a:t>
            </a:r>
            <a:r>
              <a:rPr lang="de-DE" dirty="0" err="1" smtClean="0"/>
              <a:t>version</a:t>
            </a:r>
            <a:r>
              <a:rPr lang="de-DE" dirty="0" smtClean="0"/>
              <a:t> </a:t>
            </a:r>
          </a:p>
          <a:p>
            <a:pPr>
              <a:buFont typeface="Arial" charset="0"/>
              <a:buChar char="•"/>
            </a:pPr>
            <a:r>
              <a:rPr lang="de-DE" dirty="0" err="1" smtClean="0"/>
              <a:t>Two</a:t>
            </a:r>
            <a:r>
              <a:rPr lang="de-DE" dirty="0" smtClean="0"/>
              <a:t> </a:t>
            </a:r>
            <a:r>
              <a:rPr lang="de-DE" dirty="0" err="1" smtClean="0"/>
              <a:t>ways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multi</a:t>
            </a:r>
            <a:r>
              <a:rPr lang="de-DE" dirty="0" smtClean="0"/>
              <a:t> </a:t>
            </a:r>
            <a:r>
              <a:rPr lang="de-DE" dirty="0" err="1" smtClean="0"/>
              <a:t>language</a:t>
            </a:r>
            <a:r>
              <a:rPr lang="de-DE" dirty="0" smtClean="0"/>
              <a:t> </a:t>
            </a:r>
            <a:r>
              <a:rPr lang="de-DE" dirty="0" err="1" smtClean="0"/>
              <a:t>support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Exporting</a:t>
            </a:r>
            <a:r>
              <a:rPr lang="de-DE" dirty="0" smtClean="0"/>
              <a:t> </a:t>
            </a:r>
            <a:r>
              <a:rPr lang="de-DE" dirty="0" err="1" smtClean="0"/>
              <a:t>translations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XLIFF </a:t>
            </a:r>
            <a:r>
              <a:rPr lang="de-DE" dirty="0" err="1" smtClean="0"/>
              <a:t>files</a:t>
            </a:r>
            <a:r>
              <a:rPr lang="de-DE" dirty="0" smtClean="0"/>
              <a:t> (XML </a:t>
            </a:r>
            <a:r>
              <a:rPr lang="de-DE" dirty="0" err="1" smtClean="0"/>
              <a:t>translation</a:t>
            </a:r>
            <a:r>
              <a:rPr lang="de-DE" dirty="0" smtClean="0"/>
              <a:t> </a:t>
            </a:r>
            <a:r>
              <a:rPr lang="de-DE" dirty="0" err="1" smtClean="0"/>
              <a:t>standard</a:t>
            </a:r>
            <a:r>
              <a:rPr lang="de-DE" dirty="0" smtClean="0"/>
              <a:t>)</a:t>
            </a:r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Direct</a:t>
            </a:r>
            <a:r>
              <a:rPr lang="de-DE" dirty="0" smtClean="0"/>
              <a:t> </a:t>
            </a:r>
            <a:r>
              <a:rPr lang="de-DE" dirty="0" err="1" smtClean="0"/>
              <a:t>injection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tables</a:t>
            </a:r>
            <a:r>
              <a:rPr lang="de-DE" dirty="0" smtClean="0"/>
              <a:t> </a:t>
            </a:r>
            <a:r>
              <a:rPr lang="de-DE" dirty="0" err="1" smtClean="0"/>
              <a:t>into</a:t>
            </a:r>
            <a:r>
              <a:rPr lang="de-DE" dirty="0" smtClean="0"/>
              <a:t> DDI-XML </a:t>
            </a:r>
            <a:r>
              <a:rPr lang="de-DE" dirty="0" err="1" smtClean="0"/>
              <a:t>files</a:t>
            </a:r>
            <a:r>
              <a:rPr lang="de-DE" dirty="0" smtClean="0"/>
              <a:t> </a:t>
            </a:r>
            <a:r>
              <a:rPr lang="de-DE" dirty="0" err="1" smtClean="0"/>
              <a:t>while</a:t>
            </a:r>
            <a:r>
              <a:rPr lang="de-DE" dirty="0" smtClean="0"/>
              <a:t> </a:t>
            </a:r>
            <a:r>
              <a:rPr lang="de-DE" dirty="0" err="1" smtClean="0"/>
              <a:t>exporting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68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Advanced Cases</a:t>
            </a:r>
          </a:p>
        </p:txBody>
      </p:sp>
      <p:sp>
        <p:nvSpPr>
          <p:cNvPr id="3686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smtClean="0"/>
              <a:t>Handling </a:t>
            </a:r>
            <a:r>
              <a:rPr lang="de-DE" dirty="0" err="1" smtClean="0"/>
              <a:t>unknown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external</a:t>
            </a:r>
            <a:r>
              <a:rPr lang="de-DE" dirty="0" smtClean="0"/>
              <a:t> </a:t>
            </a:r>
            <a:r>
              <a:rPr lang="de-DE" dirty="0" err="1" smtClean="0"/>
              <a:t>elements</a:t>
            </a:r>
            <a:r>
              <a:rPr lang="de-DE" dirty="0" smtClean="0"/>
              <a:t> in DDI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constructed</a:t>
            </a:r>
            <a:r>
              <a:rPr lang="de-DE" dirty="0" smtClean="0"/>
              <a:t> in </a:t>
            </a:r>
            <a:r>
              <a:rPr lang="de-DE" dirty="0" err="1" smtClean="0"/>
              <a:t>several</a:t>
            </a:r>
            <a:r>
              <a:rPr lang="de-DE" dirty="0" smtClean="0"/>
              <a:t> </a:t>
            </a:r>
            <a:r>
              <a:rPr lang="de-DE" dirty="0" err="1" smtClean="0"/>
              <a:t>ways</a:t>
            </a:r>
            <a:r>
              <a:rPr lang="de-DE" dirty="0" smtClean="0"/>
              <a:t>, e.g.</a:t>
            </a:r>
          </a:p>
          <a:p>
            <a:pPr lvl="1">
              <a:buFont typeface="Arial" charset="0"/>
              <a:buChar char="•"/>
            </a:pPr>
            <a:r>
              <a:rPr lang="de-DE" dirty="0" smtClean="0"/>
              <a:t>RDB </a:t>
            </a:r>
            <a:r>
              <a:rPr lang="de-DE" dirty="0" err="1" smtClean="0"/>
              <a:t>has</a:t>
            </a:r>
            <a:r>
              <a:rPr lang="de-DE" dirty="0" smtClean="0"/>
              <a:t> a </a:t>
            </a:r>
            <a:r>
              <a:rPr lang="de-DE" dirty="0" err="1" smtClean="0"/>
              <a:t>full</a:t>
            </a:r>
            <a:r>
              <a:rPr lang="de-DE" dirty="0" smtClean="0"/>
              <a:t> </a:t>
            </a:r>
            <a:r>
              <a:rPr lang="de-DE" dirty="0" err="1" smtClean="0"/>
              <a:t>set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 (</a:t>
            </a:r>
            <a:r>
              <a:rPr lang="de-DE" dirty="0" err="1" smtClean="0"/>
              <a:t>therefore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problem</a:t>
            </a:r>
            <a:r>
              <a:rPr lang="de-DE" dirty="0" smtClean="0"/>
              <a:t> </a:t>
            </a:r>
            <a:r>
              <a:rPr lang="de-DE" dirty="0" err="1" smtClean="0"/>
              <a:t>does</a:t>
            </a:r>
            <a:r>
              <a:rPr lang="de-DE" dirty="0" smtClean="0"/>
              <a:t> not </a:t>
            </a:r>
            <a:r>
              <a:rPr lang="de-DE" dirty="0" err="1" smtClean="0"/>
              <a:t>occur</a:t>
            </a:r>
            <a:r>
              <a:rPr lang="de-DE" dirty="0" smtClean="0"/>
              <a:t>)</a:t>
            </a:r>
          </a:p>
          <a:p>
            <a:pPr lvl="1">
              <a:buFont typeface="Arial" charset="0"/>
              <a:buChar char="•"/>
            </a:pPr>
            <a:r>
              <a:rPr lang="de-DE" dirty="0" err="1" smtClean="0"/>
              <a:t>Discarding</a:t>
            </a:r>
            <a:r>
              <a:rPr lang="de-DE" dirty="0" smtClean="0"/>
              <a:t> </a:t>
            </a:r>
            <a:r>
              <a:rPr lang="de-DE" dirty="0" err="1" smtClean="0"/>
              <a:t>unknown</a:t>
            </a:r>
            <a:r>
              <a:rPr lang="de-DE" dirty="0" smtClean="0"/>
              <a:t> </a:t>
            </a:r>
            <a:r>
              <a:rPr lang="de-DE" dirty="0" err="1" smtClean="0"/>
              <a:t>elements</a:t>
            </a:r>
            <a:r>
              <a:rPr lang="de-DE" dirty="0" smtClean="0"/>
              <a:t> </a:t>
            </a:r>
            <a:r>
              <a:rPr lang="de-DE" dirty="0" err="1" smtClean="0"/>
              <a:t>while</a:t>
            </a:r>
            <a:r>
              <a:rPr lang="de-DE" dirty="0" smtClean="0"/>
              <a:t> </a:t>
            </a:r>
            <a:r>
              <a:rPr lang="de-DE" dirty="0" err="1" smtClean="0"/>
              <a:t>importing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XML-DDI </a:t>
            </a:r>
            <a:r>
              <a:rPr lang="de-DE" dirty="0" err="1" smtClean="0"/>
              <a:t>structure</a:t>
            </a:r>
            <a:endParaRPr lang="de-DE" dirty="0" smtClean="0"/>
          </a:p>
          <a:p>
            <a:pPr lvl="1">
              <a:buFont typeface="Arial" charset="0"/>
              <a:buChar char="•"/>
            </a:pPr>
            <a:r>
              <a:rPr lang="de-DE" dirty="0" smtClean="0"/>
              <a:t>RDB </a:t>
            </a:r>
            <a:r>
              <a:rPr lang="de-DE" dirty="0" err="1" smtClean="0"/>
              <a:t>buffers</a:t>
            </a:r>
            <a:r>
              <a:rPr lang="de-DE" dirty="0" smtClean="0"/>
              <a:t> </a:t>
            </a:r>
            <a:r>
              <a:rPr lang="de-DE" dirty="0" err="1" smtClean="0"/>
              <a:t>unknown</a:t>
            </a:r>
            <a:r>
              <a:rPr lang="de-DE" dirty="0" smtClean="0"/>
              <a:t> </a:t>
            </a:r>
            <a:r>
              <a:rPr lang="de-DE" dirty="0" err="1" smtClean="0"/>
              <a:t>elements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strings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native XML (ideal </a:t>
            </a:r>
            <a:r>
              <a:rPr lang="de-DE" dirty="0" err="1" smtClean="0"/>
              <a:t>solution</a:t>
            </a:r>
            <a:r>
              <a:rPr lang="de-DE" dirty="0" smtClean="0"/>
              <a:t> in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case</a:t>
            </a:r>
            <a:r>
              <a:rPr lang="de-DE" dirty="0" smtClean="0"/>
              <a:t> </a:t>
            </a:r>
            <a:r>
              <a:rPr lang="de-DE" dirty="0" err="1" smtClean="0"/>
              <a:t>would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a </a:t>
            </a:r>
            <a:r>
              <a:rPr lang="de-DE" dirty="0" err="1" smtClean="0"/>
              <a:t>database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handle XML </a:t>
            </a:r>
            <a:r>
              <a:rPr lang="de-DE" dirty="0" err="1" smtClean="0"/>
              <a:t>natively</a:t>
            </a:r>
            <a:r>
              <a:rPr lang="de-DE" dirty="0" smtClean="0"/>
              <a:t>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68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83306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Ensuring application compatibility</a:t>
            </a:r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err="1" smtClean="0"/>
              <a:t>Improving</a:t>
            </a:r>
            <a:r>
              <a:rPr lang="de-DE" dirty="0" smtClean="0"/>
              <a:t> DDI-XML </a:t>
            </a:r>
            <a:r>
              <a:rPr lang="de-DE" dirty="0" err="1" smtClean="0"/>
              <a:t>import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export</a:t>
            </a:r>
            <a:r>
              <a:rPr lang="de-DE" dirty="0" smtClean="0"/>
              <a:t> </a:t>
            </a:r>
            <a:r>
              <a:rPr lang="de-DE" dirty="0" err="1" smtClean="0"/>
              <a:t>mechanism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 </a:t>
            </a:r>
            <a:r>
              <a:rPr lang="de-DE" dirty="0" err="1"/>
              <a:t>P</a:t>
            </a:r>
            <a:r>
              <a:rPr lang="de-DE" dirty="0" err="1" smtClean="0"/>
              <a:t>rofiles</a:t>
            </a:r>
            <a:endParaRPr lang="de-DE" dirty="0" smtClean="0"/>
          </a:p>
          <a:p>
            <a:pPr>
              <a:buFont typeface="Arial" charset="0"/>
              <a:buChar char="•"/>
            </a:pPr>
            <a:r>
              <a:rPr lang="de-DE" dirty="0" smtClean="0"/>
              <a:t>Topic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important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DDI </a:t>
            </a:r>
            <a:r>
              <a:rPr lang="de-DE" dirty="0" err="1" smtClean="0"/>
              <a:t>related</a:t>
            </a:r>
            <a:r>
              <a:rPr lang="de-DE" dirty="0" smtClean="0"/>
              <a:t> </a:t>
            </a:r>
            <a:r>
              <a:rPr lang="de-DE" dirty="0" err="1" smtClean="0"/>
              <a:t>exchange</a:t>
            </a:r>
            <a:r>
              <a:rPr lang="de-DE" dirty="0" smtClean="0"/>
              <a:t> </a:t>
            </a:r>
            <a:r>
              <a:rPr lang="de-DE" dirty="0" err="1" smtClean="0"/>
              <a:t>processes</a:t>
            </a:r>
            <a:r>
              <a:rPr lang="de-DE" dirty="0" smtClean="0"/>
              <a:t> (e.g. also </a:t>
            </a:r>
            <a:r>
              <a:rPr lang="de-DE" dirty="0" err="1" smtClean="0"/>
              <a:t>between</a:t>
            </a:r>
            <a:r>
              <a:rPr lang="de-DE" dirty="0" smtClean="0"/>
              <a:t> DDI-XML </a:t>
            </a:r>
            <a:r>
              <a:rPr lang="de-DE" dirty="0" err="1" smtClean="0"/>
              <a:t>databases</a:t>
            </a:r>
            <a:r>
              <a:rPr lang="de-DE" dirty="0" smtClean="0"/>
              <a:t>)</a:t>
            </a:r>
          </a:p>
          <a:p>
            <a:pPr>
              <a:buFont typeface="Arial" charset="0"/>
              <a:buChar char="•"/>
            </a:pPr>
            <a:r>
              <a:rPr lang="de-DE" dirty="0" smtClean="0"/>
              <a:t>DDI Profile </a:t>
            </a:r>
            <a:r>
              <a:rPr lang="de-DE" dirty="0" err="1" smtClean="0"/>
              <a:t>is</a:t>
            </a:r>
            <a:r>
              <a:rPr lang="de-DE" dirty="0" smtClean="0"/>
              <a:t> a </a:t>
            </a:r>
            <a:r>
              <a:rPr lang="de-DE" dirty="0" err="1" smtClean="0"/>
              <a:t>collection</a:t>
            </a:r>
            <a:r>
              <a:rPr lang="de-DE" dirty="0" smtClean="0"/>
              <a:t> </a:t>
            </a:r>
            <a:r>
              <a:rPr lang="en-US" dirty="0"/>
              <a:t>of </a:t>
            </a:r>
            <a:r>
              <a:rPr lang="en-US" dirty="0" err="1"/>
              <a:t>XPaths</a:t>
            </a:r>
            <a:r>
              <a:rPr lang="en-US" dirty="0"/>
              <a:t> that describe the objects within DDI that are either used or not used for particular </a:t>
            </a:r>
            <a:r>
              <a:rPr lang="en-US" dirty="0" smtClean="0"/>
              <a:t>purposes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U</a:t>
            </a:r>
            <a:r>
              <a:rPr lang="en-US" dirty="0" smtClean="0"/>
              <a:t>se </a:t>
            </a:r>
            <a:r>
              <a:rPr lang="en-US" dirty="0"/>
              <a:t>of </a:t>
            </a:r>
            <a:r>
              <a:rPr lang="en-US" dirty="0" smtClean="0"/>
              <a:t>a DDI </a:t>
            </a:r>
            <a:r>
              <a:rPr lang="en-US" dirty="0"/>
              <a:t>Profile is not mandatory, but when one is being used, it should be referenced in all of the DDI instances that conform to it 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Paper includes an XML example of this structure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Structure is very useful for communication of applications between or within agencies</a:t>
            </a:r>
          </a:p>
          <a:p>
            <a:pPr>
              <a:buFont typeface="Arial" charset="0"/>
              <a:buChar char="•"/>
            </a:pP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 </a:t>
            </a:r>
            <a:r>
              <a:rPr lang="de-DE" dirty="0" err="1" smtClean="0"/>
              <a:t>outlook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future</a:t>
            </a:r>
            <a:endParaRPr lang="de-DE" dirty="0" smtClean="0"/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DDI </a:t>
            </a:r>
            <a:r>
              <a:rPr lang="en-US" dirty="0"/>
              <a:t>does not need to rely upon a particular technical representation, but is valuable as an abstract </a:t>
            </a:r>
            <a:r>
              <a:rPr lang="en-US" dirty="0" smtClean="0"/>
              <a:t>model</a:t>
            </a:r>
            <a:r>
              <a:rPr lang="en-US" dirty="0"/>
              <a:t> </a:t>
            </a:r>
            <a:r>
              <a:rPr lang="en-US" dirty="0" smtClean="0"/>
              <a:t>as can be seen from previous experiences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DDI 2 (until 2.5) was modeled as DTD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DDI 3 (all versions) are modeled as XSD</a:t>
            </a:r>
          </a:p>
          <a:p>
            <a:pPr lvl="1">
              <a:buFont typeface="Arial" charset="0"/>
              <a:buChar char="•"/>
            </a:pPr>
            <a:r>
              <a:rPr lang="en-US" dirty="0" smtClean="0"/>
              <a:t>Many agencies support DDI as an import and export model, but internally use something different (e.g. relational databases or other repositories)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Idea: </a:t>
            </a:r>
            <a:r>
              <a:rPr lang="en-US" dirty="0"/>
              <a:t>the manifestation </a:t>
            </a:r>
            <a:r>
              <a:rPr lang="en-US" dirty="0" smtClean="0"/>
              <a:t>can </a:t>
            </a:r>
            <a:r>
              <a:rPr lang="en-US" dirty="0"/>
              <a:t>be in different </a:t>
            </a:r>
            <a:r>
              <a:rPr lang="en-US" dirty="0" smtClean="0"/>
              <a:t>representations like UML or RDF</a:t>
            </a:r>
          </a:p>
          <a:p>
            <a:pPr>
              <a:buFont typeface="Arial" charset="0"/>
              <a:buChar char="•"/>
            </a:pPr>
            <a:r>
              <a:rPr lang="en-US" dirty="0"/>
              <a:t>A</a:t>
            </a:r>
            <a:r>
              <a:rPr lang="en-US" dirty="0" smtClean="0"/>
              <a:t>dvantage</a:t>
            </a:r>
            <a:r>
              <a:rPr lang="en-US" dirty="0"/>
              <a:t>:</a:t>
            </a:r>
            <a:r>
              <a:rPr lang="en-US" dirty="0" smtClean="0"/>
              <a:t> </a:t>
            </a:r>
            <a:r>
              <a:rPr lang="en-US" dirty="0"/>
              <a:t>a technical representation can be generated out of the abstract model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Maybe a possible preparation for “DDI 4”?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478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working</a:t>
            </a:r>
            <a:r>
              <a:rPr lang="de-DE" dirty="0" smtClean="0"/>
              <a:t> </a:t>
            </a:r>
            <a:r>
              <a:rPr lang="de-DE" dirty="0" err="1" smtClean="0"/>
              <a:t>paper</a:t>
            </a:r>
            <a:endParaRPr lang="de-DE" dirty="0" smtClean="0"/>
          </a:p>
        </p:txBody>
      </p:sp>
      <p:sp>
        <p:nvSpPr>
          <p:cNvPr id="3891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de-DE" dirty="0" smtClean="0"/>
              <a:t>The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r>
              <a:rPr lang="de-DE" dirty="0" err="1" smtClean="0"/>
              <a:t>has</a:t>
            </a:r>
            <a:r>
              <a:rPr lang="de-DE" dirty="0" smtClean="0"/>
              <a:t> </a:t>
            </a:r>
            <a:r>
              <a:rPr lang="de-DE" dirty="0" err="1" smtClean="0"/>
              <a:t>been</a:t>
            </a:r>
            <a:r>
              <a:rPr lang="de-DE" dirty="0" smtClean="0"/>
              <a:t> </a:t>
            </a:r>
            <a:r>
              <a:rPr lang="de-DE" dirty="0" err="1" smtClean="0"/>
              <a:t>released</a:t>
            </a:r>
            <a:r>
              <a:rPr lang="de-DE" dirty="0" smtClean="0"/>
              <a:t> on </a:t>
            </a:r>
            <a:r>
              <a:rPr lang="de-DE" dirty="0" err="1" smtClean="0"/>
              <a:t>Friday</a:t>
            </a:r>
            <a:r>
              <a:rPr lang="de-DE" dirty="0" smtClean="0"/>
              <a:t>, </a:t>
            </a:r>
            <a:r>
              <a:rPr lang="de-DE" dirty="0" err="1" smtClean="0"/>
              <a:t>December</a:t>
            </a:r>
            <a:r>
              <a:rPr lang="de-DE" dirty="0" smtClean="0"/>
              <a:t> 2nd, 2011 on </a:t>
            </a:r>
            <a:r>
              <a:rPr lang="de-DE" dirty="0" err="1" smtClean="0"/>
              <a:t>the</a:t>
            </a:r>
            <a:r>
              <a:rPr lang="de-DE" dirty="0" smtClean="0"/>
              <a:t> DDI </a:t>
            </a:r>
            <a:r>
              <a:rPr lang="de-DE" dirty="0" err="1" smtClean="0"/>
              <a:t>website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part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working</a:t>
            </a:r>
            <a:r>
              <a:rPr lang="de-DE" dirty="0" smtClean="0"/>
              <a:t> </a:t>
            </a:r>
            <a:r>
              <a:rPr lang="de-DE" dirty="0" err="1" smtClean="0"/>
              <a:t>paper</a:t>
            </a:r>
            <a:r>
              <a:rPr lang="de-DE" dirty="0" smtClean="0"/>
              <a:t> </a:t>
            </a:r>
            <a:r>
              <a:rPr lang="de-DE" dirty="0" err="1" smtClean="0"/>
              <a:t>series</a:t>
            </a:r>
            <a:endParaRPr lang="de-DE" dirty="0"/>
          </a:p>
          <a:p>
            <a:pPr>
              <a:buFont typeface="Arial" charset="0"/>
              <a:buChar char="•"/>
            </a:pPr>
            <a:r>
              <a:rPr lang="de-DE" dirty="0" err="1" smtClean="0"/>
              <a:t>Please</a:t>
            </a:r>
            <a:r>
              <a:rPr lang="de-DE" dirty="0" smtClean="0"/>
              <a:t> </a:t>
            </a:r>
            <a:r>
              <a:rPr lang="de-DE" dirty="0" err="1" smtClean="0"/>
              <a:t>download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here</a:t>
            </a:r>
            <a:r>
              <a:rPr lang="de-DE" dirty="0" smtClean="0"/>
              <a:t>: </a:t>
            </a:r>
            <a:r>
              <a:rPr lang="de-DE" u="sng" dirty="0">
                <a:hlinkClick r:id="rId2"/>
              </a:rPr>
              <a:t>http://</a:t>
            </a:r>
            <a:r>
              <a:rPr lang="de-DE" u="sng" dirty="0" smtClean="0">
                <a:hlinkClick r:id="rId2"/>
              </a:rPr>
              <a:t>www.ddialliance.org/resources/publications/working/othertopics/Re</a:t>
            </a:r>
            <a:r>
              <a:rPr lang="de-DE" dirty="0" smtClean="0">
                <a:hlinkClick r:id="rId2"/>
              </a:rPr>
              <a:t>presentingAndUtilizingDDIInRelationalDatabases.pdf</a:t>
            </a:r>
            <a:endParaRPr lang="de-DE" dirty="0"/>
          </a:p>
          <a:p>
            <a:pPr>
              <a:buFont typeface="Arial" charset="0"/>
              <a:buChar char="•"/>
            </a:pPr>
            <a:r>
              <a:rPr lang="de-DE" dirty="0" smtClean="0"/>
              <a:t>DOI: </a:t>
            </a:r>
            <a:r>
              <a:rPr lang="de-DE" dirty="0" smtClean="0">
                <a:hlinkClick r:id="rId3"/>
              </a:rPr>
              <a:t>http</a:t>
            </a:r>
            <a:r>
              <a:rPr lang="de-DE" dirty="0">
                <a:hlinkClick r:id="rId3"/>
              </a:rPr>
              <a:t>://</a:t>
            </a:r>
            <a:r>
              <a:rPr lang="de-DE" dirty="0" smtClean="0">
                <a:hlinkClick r:id="rId3"/>
              </a:rPr>
              <a:t>dx.doi.org/10.3886/DDIOtherTopics02</a:t>
            </a:r>
            <a:r>
              <a:rPr lang="de-DE" dirty="0" smtClean="0"/>
              <a:t>  </a:t>
            </a:r>
          </a:p>
          <a:p>
            <a:pPr>
              <a:buFont typeface="Arial" charset="0"/>
              <a:buChar char="•"/>
            </a:pP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would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happy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reviews</a:t>
            </a:r>
            <a:r>
              <a:rPr lang="de-DE" dirty="0" smtClean="0"/>
              <a:t>, </a:t>
            </a:r>
            <a:r>
              <a:rPr lang="de-DE" dirty="0" err="1" smtClean="0"/>
              <a:t>comments</a:t>
            </a:r>
            <a:r>
              <a:rPr lang="de-DE" dirty="0" smtClean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other</a:t>
            </a:r>
            <a:r>
              <a:rPr lang="de-DE" dirty="0" smtClean="0"/>
              <a:t> </a:t>
            </a:r>
            <a:r>
              <a:rPr lang="de-DE" dirty="0" err="1" smtClean="0"/>
              <a:t>scientific</a:t>
            </a:r>
            <a:r>
              <a:rPr lang="de-DE" dirty="0" smtClean="0"/>
              <a:t> </a:t>
            </a:r>
            <a:r>
              <a:rPr lang="de-DE" dirty="0" err="1" smtClean="0"/>
              <a:t>discussions</a:t>
            </a: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>
              <a:defRPr/>
            </a:pPr>
            <a:r>
              <a:rPr lang="de-DE" dirty="0">
                <a:latin typeface="Arial"/>
              </a:rPr>
              <a:t>Göteborg, 06.12.2011| </a:t>
            </a:r>
            <a:r>
              <a:rPr lang="de-DE" dirty="0" err="1">
                <a:latin typeface="Arial"/>
              </a:rPr>
              <a:t>Barkow</a:t>
            </a:r>
            <a:r>
              <a:rPr lang="de-DE" dirty="0">
                <a:latin typeface="Arial"/>
              </a:rPr>
              <a:t> &amp; Schiller | 3rd European DDI Users Group Meeting (EDDI) 2011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de-DE" dirty="0" err="1">
                <a:latin typeface="+mn-lt"/>
              </a:rPr>
              <a:t>Representing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and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utilizing</a:t>
            </a:r>
            <a:r>
              <a:rPr lang="de-DE" dirty="0">
                <a:latin typeface="+mn-lt"/>
              </a:rPr>
              <a:t> DDI in relational </a:t>
            </a:r>
            <a:r>
              <a:rPr lang="de-DE" dirty="0" err="1">
                <a:latin typeface="+mn-lt"/>
              </a:rPr>
              <a:t>databases</a:t>
            </a:r>
            <a:endParaRPr lang="de-DE" dirty="0">
              <a:latin typeface="+mn-lt"/>
            </a:endParaRPr>
          </a:p>
        </p:txBody>
      </p:sp>
      <p:pic>
        <p:nvPicPr>
          <p:cNvPr id="389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1"/>
          <p:cNvSpPr txBox="1">
            <a:spLocks noChangeArrowheads="1"/>
          </p:cNvSpPr>
          <p:nvPr/>
        </p:nvSpPr>
        <p:spPr bwMode="auto">
          <a:xfrm>
            <a:off x="1643063" y="3071813"/>
            <a:ext cx="6376987" cy="15541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3000" b="1" dirty="0" err="1">
                <a:solidFill>
                  <a:srgbClr val="000000"/>
                </a:solidFill>
              </a:rPr>
              <a:t>Any</a:t>
            </a:r>
            <a:r>
              <a:rPr lang="de-DE" sz="3000" b="1" dirty="0">
                <a:solidFill>
                  <a:srgbClr val="000000"/>
                </a:solidFill>
              </a:rPr>
              <a:t> </a:t>
            </a:r>
            <a:r>
              <a:rPr lang="de-DE" sz="3000" b="1" dirty="0" err="1">
                <a:solidFill>
                  <a:srgbClr val="000000"/>
                </a:solidFill>
              </a:rPr>
              <a:t>Questions</a:t>
            </a:r>
            <a:r>
              <a:rPr lang="de-DE" sz="3000" b="1" dirty="0">
                <a:solidFill>
                  <a:srgbClr val="000000"/>
                </a:solidFill>
              </a:rPr>
              <a:t>?</a:t>
            </a:r>
            <a:br>
              <a:rPr lang="de-DE" sz="3000" b="1" dirty="0">
                <a:solidFill>
                  <a:srgbClr val="000000"/>
                </a:solidFill>
              </a:rPr>
            </a:br>
            <a:r>
              <a:rPr lang="de-DE" sz="3000" b="1" dirty="0">
                <a:solidFill>
                  <a:srgbClr val="000000"/>
                </a:solidFill>
              </a:rPr>
              <a:t/>
            </a:r>
            <a:br>
              <a:rPr lang="de-DE" sz="3000" b="1" dirty="0">
                <a:solidFill>
                  <a:srgbClr val="000000"/>
                </a:solidFill>
              </a:rPr>
            </a:br>
            <a:r>
              <a:rPr lang="de-DE" sz="1400" b="1" dirty="0">
                <a:solidFill>
                  <a:srgbClr val="CCCCFF"/>
                </a:solidFill>
                <a:hlinkClick r:id="rId3"/>
              </a:rPr>
              <a:t>barkow@dipf.de</a:t>
            </a:r>
            <a:r>
              <a:rPr lang="de-DE" sz="1400" b="1" dirty="0">
                <a:solidFill>
                  <a:srgbClr val="000000"/>
                </a:solidFill>
              </a:rPr>
              <a:t/>
            </a:r>
            <a:br>
              <a:rPr lang="de-DE" sz="1400" b="1" dirty="0">
                <a:solidFill>
                  <a:srgbClr val="000000"/>
                </a:solidFill>
              </a:rPr>
            </a:br>
            <a:r>
              <a:rPr lang="de-DE" sz="1400" b="1" dirty="0">
                <a:solidFill>
                  <a:srgbClr val="CCCCFF"/>
                </a:solidFill>
                <a:hlinkClick r:id="rId4"/>
              </a:rPr>
              <a:t>http://www.dipf.de</a:t>
            </a:r>
            <a:endParaRPr lang="de-DE" sz="1400" b="1" dirty="0">
              <a:solidFill>
                <a:srgbClr val="CCCCFF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sz="1400" b="1" dirty="0">
              <a:solidFill>
                <a:srgbClr val="CCCCFF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400" b="1" dirty="0" smtClean="0">
                <a:solidFill>
                  <a:srgbClr val="CCCCFF"/>
                </a:solidFill>
                <a:hlinkClick r:id="rId5"/>
              </a:rPr>
              <a:t>david.schiller@iab.de</a:t>
            </a:r>
            <a:endParaRPr lang="de-DE" sz="1400" b="1" dirty="0">
              <a:solidFill>
                <a:srgbClr val="CCCCFF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400" b="1" dirty="0">
                <a:solidFill>
                  <a:srgbClr val="CCCCFF"/>
                </a:solidFill>
                <a:hlinkClick r:id="rId6"/>
              </a:rPr>
              <a:t>http</a:t>
            </a:r>
            <a:r>
              <a:rPr lang="de-DE" sz="1400" b="1" dirty="0" smtClean="0">
                <a:solidFill>
                  <a:srgbClr val="CCCCFF"/>
                </a:solidFill>
                <a:hlinkClick r:id="rId6"/>
              </a:rPr>
              <a:t>://fdz.iab.de</a:t>
            </a:r>
            <a:endParaRPr lang="de-DE" sz="1400" b="1" dirty="0">
              <a:solidFill>
                <a:srgbClr val="CCCCFF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400" b="1" dirty="0">
                <a:solidFill>
                  <a:srgbClr val="000000"/>
                </a:solidFill>
              </a:rPr>
              <a:t/>
            </a:r>
            <a:br>
              <a:rPr lang="de-DE" sz="1400" b="1" dirty="0">
                <a:solidFill>
                  <a:srgbClr val="000000"/>
                </a:solidFill>
              </a:rPr>
            </a:br>
            <a:endParaRPr lang="de-DE" sz="1400" b="1" dirty="0">
              <a:solidFill>
                <a:srgbClr val="000000"/>
              </a:solidFill>
            </a:endParaRPr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1079500" y="455613"/>
            <a:ext cx="4865688" cy="3063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100">
                <a:solidFill>
                  <a:srgbClr val="4A4A4A"/>
                </a:solidFill>
              </a:rPr>
              <a:t>Representing and utilizing DDI in relational databases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de-DE" sz="1100">
              <a:solidFill>
                <a:srgbClr val="4A4A4A"/>
              </a:solidFill>
            </a:endParaRPr>
          </a:p>
        </p:txBody>
      </p:sp>
      <p:pic>
        <p:nvPicPr>
          <p:cNvPr id="39941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03800" y="404813"/>
            <a:ext cx="16954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Larissa">
  <a:themeElements>
    <a:clrScheme name="Lariss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riss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Office PowerPoint</Application>
  <PresentationFormat>Bildschirmpräsentation (4:3)</PresentationFormat>
  <Paragraphs>149</Paragraphs>
  <Slides>15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14</vt:i4>
      </vt:variant>
      <vt:variant>
        <vt:lpstr>Folientitel</vt:lpstr>
      </vt:variant>
      <vt:variant>
        <vt:i4>15</vt:i4>
      </vt:variant>
    </vt:vector>
  </HeadingPairs>
  <TitlesOfParts>
    <vt:vector size="29" baseType="lpstr">
      <vt:lpstr>Larissa</vt:lpstr>
      <vt:lpstr>1_Larissa</vt:lpstr>
      <vt:lpstr>2_Larissa</vt:lpstr>
      <vt:lpstr>3_Larissa</vt:lpstr>
      <vt:lpstr>4_Larissa</vt:lpstr>
      <vt:lpstr>5_Larissa</vt:lpstr>
      <vt:lpstr>6_Larissa</vt:lpstr>
      <vt:lpstr>7_Larissa</vt:lpstr>
      <vt:lpstr>8_Larissa</vt:lpstr>
      <vt:lpstr>9_Larissa</vt:lpstr>
      <vt:lpstr>10_Larissa</vt:lpstr>
      <vt:lpstr>11_Larissa</vt:lpstr>
      <vt:lpstr>12_Larissa</vt:lpstr>
      <vt:lpstr>13_Larissa</vt:lpstr>
      <vt:lpstr>PowerPoint-Präsentation</vt:lpstr>
      <vt:lpstr>PowerPoint-Präsentation</vt:lpstr>
      <vt:lpstr>Contributors</vt:lpstr>
      <vt:lpstr>Introduction</vt:lpstr>
      <vt:lpstr>Introduction</vt:lpstr>
      <vt:lpstr>DDI in RDBs – pros and cons</vt:lpstr>
      <vt:lpstr>DDI in RDBs – pros and cons</vt:lpstr>
      <vt:lpstr>Modelling DDI in RDBs</vt:lpstr>
      <vt:lpstr>Modelling DDI in RDBs</vt:lpstr>
      <vt:lpstr>Advanced Cases</vt:lpstr>
      <vt:lpstr>Advanced Cases</vt:lpstr>
      <vt:lpstr>Ensuring application compatibility</vt:lpstr>
      <vt:lpstr>An outlook to the future</vt:lpstr>
      <vt:lpstr>The working paper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Barkow, Ingo</dc:creator>
  <cp:lastModifiedBy>Barkow, Ingo</cp:lastModifiedBy>
  <cp:revision>134</cp:revision>
  <cp:lastPrinted>1601-01-01T00:00:00Z</cp:lastPrinted>
  <dcterms:created xsi:type="dcterms:W3CDTF">2009-09-21T14:05:52Z</dcterms:created>
  <dcterms:modified xsi:type="dcterms:W3CDTF">2011-12-05T22:55:22Z</dcterms:modified>
</cp:coreProperties>
</file>