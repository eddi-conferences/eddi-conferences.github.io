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  <p:sldMasterId id="2147483668" r:id="rId5"/>
  </p:sldMasterIdLst>
  <p:notesMasterIdLst>
    <p:notesMasterId r:id="rId61"/>
  </p:notesMasterIdLst>
  <p:handoutMasterIdLst>
    <p:handoutMasterId r:id="rId62"/>
  </p:handoutMasterIdLst>
  <p:sldIdLst>
    <p:sldId id="364" r:id="rId6"/>
    <p:sldId id="440" r:id="rId7"/>
    <p:sldId id="523" r:id="rId8"/>
    <p:sldId id="516" r:id="rId9"/>
    <p:sldId id="517" r:id="rId10"/>
    <p:sldId id="444" r:id="rId11"/>
    <p:sldId id="445" r:id="rId12"/>
    <p:sldId id="515" r:id="rId13"/>
    <p:sldId id="447" r:id="rId14"/>
    <p:sldId id="448" r:id="rId15"/>
    <p:sldId id="449" r:id="rId16"/>
    <p:sldId id="450" r:id="rId17"/>
    <p:sldId id="451" r:id="rId18"/>
    <p:sldId id="452" r:id="rId19"/>
    <p:sldId id="467" r:id="rId20"/>
    <p:sldId id="519" r:id="rId21"/>
    <p:sldId id="514" r:id="rId22"/>
    <p:sldId id="513" r:id="rId23"/>
    <p:sldId id="512" r:id="rId24"/>
    <p:sldId id="511" r:id="rId25"/>
    <p:sldId id="510" r:id="rId26"/>
    <p:sldId id="509" r:id="rId27"/>
    <p:sldId id="508" r:id="rId28"/>
    <p:sldId id="507" r:id="rId29"/>
    <p:sldId id="506" r:id="rId30"/>
    <p:sldId id="505" r:id="rId31"/>
    <p:sldId id="504" r:id="rId32"/>
    <p:sldId id="503" r:id="rId33"/>
    <p:sldId id="520" r:id="rId34"/>
    <p:sldId id="518" r:id="rId35"/>
    <p:sldId id="522" r:id="rId36"/>
    <p:sldId id="521" r:id="rId37"/>
    <p:sldId id="502" r:id="rId38"/>
    <p:sldId id="501" r:id="rId39"/>
    <p:sldId id="526" r:id="rId40"/>
    <p:sldId id="531" r:id="rId41"/>
    <p:sldId id="524" r:id="rId42"/>
    <p:sldId id="473" r:id="rId43"/>
    <p:sldId id="474" r:id="rId44"/>
    <p:sldId id="475" r:id="rId45"/>
    <p:sldId id="476" r:id="rId46"/>
    <p:sldId id="477" r:id="rId47"/>
    <p:sldId id="478" r:id="rId48"/>
    <p:sldId id="479" r:id="rId49"/>
    <p:sldId id="480" r:id="rId50"/>
    <p:sldId id="481" r:id="rId51"/>
    <p:sldId id="487" r:id="rId52"/>
    <p:sldId id="482" r:id="rId53"/>
    <p:sldId id="486" r:id="rId54"/>
    <p:sldId id="492" r:id="rId55"/>
    <p:sldId id="491" r:id="rId56"/>
    <p:sldId id="493" r:id="rId57"/>
    <p:sldId id="494" r:id="rId58"/>
    <p:sldId id="495" r:id="rId59"/>
    <p:sldId id="498" r:id="rId60"/>
  </p:sldIdLst>
  <p:sldSz cx="9144000" cy="6858000" type="screen4x3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A6F"/>
    <a:srgbClr val="979797"/>
    <a:srgbClr val="294465"/>
    <a:srgbClr val="7F7F7F"/>
    <a:srgbClr val="9AAEC2"/>
    <a:srgbClr val="7590AB"/>
    <a:srgbClr val="869DB4"/>
    <a:srgbClr val="AABACA"/>
    <a:srgbClr val="6C88A4"/>
    <a:srgbClr val="D65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gitternetz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33287" autoAdjust="0"/>
  </p:normalViewPr>
  <p:slideViewPr>
    <p:cSldViewPr>
      <p:cViewPr varScale="1">
        <p:scale>
          <a:sx n="95" d="100"/>
          <a:sy n="95" d="100"/>
        </p:scale>
        <p:origin x="-468" y="-108"/>
      </p:cViewPr>
      <p:guideLst>
        <p:guide orient="horz" pos="2886"/>
        <p:guide pos="2880"/>
      </p:guideLst>
    </p:cSldViewPr>
  </p:slideViewPr>
  <p:outlineViewPr>
    <p:cViewPr>
      <p:scale>
        <a:sx n="33" d="100"/>
        <a:sy n="33" d="100"/>
      </p:scale>
      <p:origin x="0" y="46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664" y="-67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917" cy="511731"/>
          </a:xfrm>
          <a:prstGeom prst="rect">
            <a:avLst/>
          </a:prstGeom>
        </p:spPr>
        <p:txBody>
          <a:bodyPr vert="horz" lIns="94906" tIns="47453" rIns="94906" bIns="47453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0725" y="0"/>
            <a:ext cx="3076917" cy="511731"/>
          </a:xfrm>
          <a:prstGeom prst="rect">
            <a:avLst/>
          </a:prstGeom>
        </p:spPr>
        <p:txBody>
          <a:bodyPr vert="horz" lIns="94906" tIns="47453" rIns="94906" bIns="47453" rtlCol="0"/>
          <a:lstStyle>
            <a:lvl1pPr algn="r">
              <a:defRPr sz="1200"/>
            </a:lvl1pPr>
          </a:lstStyle>
          <a:p>
            <a:fld id="{278A9578-9F5C-4F98-8A03-E646E98F018E}" type="datetimeFigureOut">
              <a:rPr lang="de-DE" smtClean="0"/>
              <a:t>29.11.2011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243"/>
            <a:ext cx="3076917" cy="511731"/>
          </a:xfrm>
          <a:prstGeom prst="rect">
            <a:avLst/>
          </a:prstGeom>
        </p:spPr>
        <p:txBody>
          <a:bodyPr vert="horz" lIns="94906" tIns="47453" rIns="94906" bIns="47453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0725" y="9721243"/>
            <a:ext cx="3076917" cy="511731"/>
          </a:xfrm>
          <a:prstGeom prst="rect">
            <a:avLst/>
          </a:prstGeom>
        </p:spPr>
        <p:txBody>
          <a:bodyPr vert="horz" lIns="94906" tIns="47453" rIns="94906" bIns="47453" rtlCol="0" anchor="b"/>
          <a:lstStyle>
            <a:lvl1pPr algn="r">
              <a:defRPr sz="1200"/>
            </a:lvl1pPr>
          </a:lstStyle>
          <a:p>
            <a:fld id="{01912A1E-96A6-48E9-9927-D98D0F95C0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2251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906" tIns="47453" rIns="94906" bIns="47453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906" tIns="47453" rIns="94906" bIns="47453" rtlCol="0"/>
          <a:lstStyle>
            <a:lvl1pPr algn="r">
              <a:defRPr sz="1200"/>
            </a:lvl1pPr>
          </a:lstStyle>
          <a:p>
            <a:fld id="{EF3A433C-71CC-48C2-BAA0-8A18FD7D1E90}" type="datetimeFigureOut">
              <a:rPr lang="de-DE" smtClean="0"/>
              <a:pPr/>
              <a:t>29.11.2011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906" tIns="47453" rIns="94906" bIns="47453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4906" tIns="47453" rIns="94906" bIns="47453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906" tIns="47453" rIns="94906" bIns="47453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906" tIns="47453" rIns="94906" bIns="47453" rtlCol="0" anchor="b"/>
          <a:lstStyle>
            <a:lvl1pPr algn="r">
              <a:defRPr sz="1200"/>
            </a:lvl1pPr>
          </a:lstStyle>
          <a:p>
            <a:fld id="{34871B19-C85A-4D7E-BA9B-B7E385602DC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405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e-DE" b="0" baseline="0" smtClean="0"/>
          </a:p>
          <a:p>
            <a:pPr marL="171450" indent="-171450">
              <a:buFontTx/>
              <a:buChar char="-"/>
            </a:pPr>
            <a:endParaRPr lang="de-DE" b="0" baseline="0" smtClean="0"/>
          </a:p>
          <a:p>
            <a:pPr marL="171450" indent="-171450">
              <a:buFontTx/>
              <a:buChar char="-"/>
            </a:pPr>
            <a:endParaRPr lang="de-DE" b="0" baseline="0" smtClean="0">
              <a:solidFill>
                <a:srgbClr val="FF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526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e-DE" b="0" baseline="0" smtClean="0">
              <a:solidFill>
                <a:srgbClr val="FF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526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7777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mtClean="0"/>
          </a:p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7669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de-DE" b="0" baseline="0" smtClean="0">
              <a:solidFill>
                <a:srgbClr val="FF0000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5269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7955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71B19-C85A-4D7E-BA9B-B7E385602DCD}" type="slidenum">
              <a:rPr lang="de-DE" smtClean="0"/>
              <a:pPr/>
              <a:t>55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526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700808"/>
            <a:ext cx="7772400" cy="147002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C188D-CD4A-4025-B3B9-34145511EE3E}" type="datetime1">
              <a:rPr lang="de-DE" smtClean="0"/>
              <a:t>29.11.2011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000">
                <a:solidFill>
                  <a:srgbClr val="445A6F"/>
                </a:solidFill>
                <a:latin typeface="+mj-lt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+mj-lt"/>
              </a:defRPr>
            </a:lvl1pPr>
            <a:lvl2pPr marL="742950" indent="-285750">
              <a:buFont typeface="Arial" pitchFamily="34" charset="0"/>
              <a:buChar char="•"/>
              <a:defRPr sz="2000">
                <a:latin typeface="+mj-lt"/>
              </a:defRPr>
            </a:lvl2pPr>
            <a:lvl3pPr>
              <a:defRPr sz="1600">
                <a:latin typeface="+mj-lt"/>
              </a:defRPr>
            </a:lvl3pPr>
            <a:lvl4pPr marL="1600200" indent="-228600">
              <a:buFont typeface="Arial" pitchFamily="34" charset="0"/>
              <a:buChar char="•"/>
              <a:defRPr sz="1600">
                <a:latin typeface="+mj-lt"/>
              </a:defRPr>
            </a:lvl4pPr>
            <a:lvl5pPr marL="2057400" indent="-228600">
              <a:buFont typeface="Arial" pitchFamily="34" charset="0"/>
              <a:buChar char="•"/>
              <a:defRPr sz="1600">
                <a:latin typeface="+mj-lt"/>
              </a:defRPr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0236-DD03-412C-A2D6-703F8F349152}" type="datetime1">
              <a:rPr lang="de-DE" smtClean="0"/>
              <a:t>29.11.2011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902896" y="6448251"/>
            <a:ext cx="2133600" cy="365125"/>
          </a:xfrm>
        </p:spPr>
        <p:txBody>
          <a:bodyPr/>
          <a:lstStyle>
            <a:lvl1pPr>
              <a:defRPr sz="1400"/>
            </a:lvl1pPr>
          </a:lstStyle>
          <a:p>
            <a:fld id="{EA11F0A9-7B41-4B3D-A4E1-5AEA8E3E3D00}" type="slidenum">
              <a:rPr lang="de-DE" smtClean="0"/>
              <a:t>‹Nr.›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D219-9E76-4395-B54C-D92866FD0B10}" type="datetime1">
              <a:rPr lang="de-DE" smtClean="0"/>
              <a:t>29.11.2011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CF6DE-FB85-45EB-AE30-D6797A0164EB}" type="datetime1">
              <a:rPr lang="de-DE" smtClean="0"/>
              <a:t>29.11.2011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214687"/>
            <a:ext cx="4040188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250030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3214687"/>
            <a:ext cx="4041775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2D0B-F643-41CE-92BA-28EC06A07CC5}" type="datetime1">
              <a:rPr lang="de-DE" smtClean="0"/>
              <a:t>29.11.2011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8231-6846-4CC5-AA90-14FCEFA76EA4}" type="datetime1">
              <a:rPr lang="de-DE" smtClean="0"/>
              <a:t>29.11.2011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852B-A5DA-4A58-8F38-694A6CBE98C2}" type="datetime1">
              <a:rPr lang="de-DE" smtClean="0"/>
              <a:t>29.11.2011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1214422"/>
            <a:ext cx="5111750" cy="49117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500306"/>
            <a:ext cx="3008313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30AC2-DF67-4CAD-AD49-871C59C73CA9}" type="datetime1">
              <a:rPr lang="de-DE" smtClean="0"/>
              <a:t>29.11.2011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E452-B678-42E2-9633-A8A5A95B7329}" type="datetime1">
              <a:rPr lang="de-DE" smtClean="0"/>
              <a:t>29.11.2011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700808"/>
            <a:ext cx="7772400" cy="147002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C188D-CD4A-4025-B3B9-34145511EE3E}" type="datetime1">
              <a:rPr lang="de-DE" smtClean="0"/>
              <a:t>29.11.2011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28249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000">
                <a:solidFill>
                  <a:srgbClr val="445A6F"/>
                </a:solidFill>
                <a:latin typeface="+mj-lt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+mj-lt"/>
              </a:defRPr>
            </a:lvl1pPr>
            <a:lvl2pPr marL="742950" indent="-285750">
              <a:buFont typeface="Arial" pitchFamily="34" charset="0"/>
              <a:buChar char="•"/>
              <a:defRPr sz="2000">
                <a:latin typeface="+mj-lt"/>
              </a:defRPr>
            </a:lvl2pPr>
            <a:lvl3pPr>
              <a:defRPr sz="1600">
                <a:latin typeface="+mj-lt"/>
              </a:defRPr>
            </a:lvl3pPr>
            <a:lvl4pPr marL="1600200" indent="-228600">
              <a:buFont typeface="Arial" pitchFamily="34" charset="0"/>
              <a:buChar char="•"/>
              <a:defRPr sz="1600">
                <a:latin typeface="+mj-lt"/>
              </a:defRPr>
            </a:lvl4pPr>
            <a:lvl5pPr marL="2057400" indent="-228600">
              <a:buFont typeface="Arial" pitchFamily="34" charset="0"/>
              <a:buChar char="•"/>
              <a:defRPr sz="1600">
                <a:latin typeface="+mj-lt"/>
              </a:defRPr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F0236-DD03-412C-A2D6-703F8F349152}" type="datetime1">
              <a:rPr lang="de-DE" smtClean="0"/>
              <a:t>29.11.2011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902896" y="6448251"/>
            <a:ext cx="2133600" cy="365125"/>
          </a:xfrm>
        </p:spPr>
        <p:txBody>
          <a:bodyPr/>
          <a:lstStyle>
            <a:lvl1pPr>
              <a:defRPr sz="1400"/>
            </a:lvl1pPr>
          </a:lstStyle>
          <a:p>
            <a:fld id="{EA11F0A9-7B41-4B3D-A4E1-5AEA8E3E3D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7311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D219-9E76-4395-B54C-D92866FD0B10}" type="datetime1">
              <a:rPr lang="de-DE" smtClean="0"/>
              <a:t>29.11.2011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CF6DE-FB85-45EB-AE30-D6797A0164EB}" type="datetime1">
              <a:rPr lang="de-DE" smtClean="0"/>
              <a:t>29.11.2011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4133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214687"/>
            <a:ext cx="4040188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250030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3214687"/>
            <a:ext cx="4041775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2D0B-F643-41CE-92BA-28EC06A07CC5}" type="datetime1">
              <a:rPr lang="de-DE" smtClean="0"/>
              <a:t>29.11.2011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6605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A8231-6846-4CC5-AA90-14FCEFA76EA4}" type="datetime1">
              <a:rPr lang="de-DE" smtClean="0"/>
              <a:t>29.11.2011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831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852B-A5DA-4A58-8F38-694A6CBE98C2}" type="datetime1">
              <a:rPr lang="de-DE" smtClean="0"/>
              <a:t>29.11.2011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381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1214422"/>
            <a:ext cx="5111750" cy="49117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500306"/>
            <a:ext cx="3008313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30AC2-DF67-4CAD-AD49-871C59C73CA9}" type="datetime1">
              <a:rPr lang="de-DE" smtClean="0"/>
              <a:t>29.11.2011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0981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E452-B678-42E2-9633-A8A5A95B7329}" type="datetime1">
              <a:rPr lang="de-DE" smtClean="0"/>
              <a:t>29.11.2011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9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8229600" cy="3625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C247D7FE-B787-428B-8BBB-5DB253C9FE94}" type="datetime1">
              <a:rPr lang="de-DE" smtClean="0"/>
              <a:t>29.11.2011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407C1131-679B-4DD1-802F-23CB41FA8BDC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Grafik 6" descr="GS_Kopf PPT_en.bmp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0" y="0"/>
            <a:ext cx="9144000" cy="1066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8229600" cy="3625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C247D7FE-B787-428B-8BBB-5DB253C9FE94}" type="datetime1">
              <a:rPr lang="de-DE" smtClean="0"/>
              <a:t>29.11.2011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407C1131-679B-4DD1-802F-23CB41FA8BDC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237312"/>
            <a:ext cx="22574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960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>
          <a:xfrm>
            <a:off x="0" y="1310903"/>
            <a:ext cx="9144000" cy="1470025"/>
          </a:xfrm>
        </p:spPr>
        <p:txBody>
          <a:bodyPr>
            <a:noAutofit/>
          </a:bodyPr>
          <a:lstStyle/>
          <a:p>
            <a:r>
              <a:rPr lang="de-DE" sz="3600" smtClean="0">
                <a:solidFill>
                  <a:srgbClr val="445A6F"/>
                </a:solidFill>
                <a:latin typeface="+mn-lt"/>
              </a:rPr>
              <a:t>A Generic Multilevel Approach for Designing Domain Ontologies Based on XML Schemas</a:t>
            </a:r>
            <a:endParaRPr lang="de-DE" sz="4000" dirty="0">
              <a:latin typeface="+mn-lt"/>
            </a:endParaRPr>
          </a:p>
        </p:txBody>
      </p:sp>
      <p:sp>
        <p:nvSpPr>
          <p:cNvPr id="7" name="Untertitel 6"/>
          <p:cNvSpPr>
            <a:spLocks noGrp="1"/>
          </p:cNvSpPr>
          <p:nvPr>
            <p:ph type="subTitle" idx="1"/>
          </p:nvPr>
        </p:nvSpPr>
        <p:spPr>
          <a:xfrm>
            <a:off x="0" y="3068960"/>
            <a:ext cx="9144000" cy="3789040"/>
          </a:xfrm>
        </p:spPr>
        <p:txBody>
          <a:bodyPr>
            <a:normAutofit fontScale="77500" lnSpcReduction="20000"/>
          </a:bodyPr>
          <a:lstStyle/>
          <a:p>
            <a:r>
              <a:rPr lang="de-DE" sz="3000" smtClean="0">
                <a:solidFill>
                  <a:srgbClr val="979797"/>
                </a:solidFill>
                <a:latin typeface="+mn-lt"/>
              </a:rPr>
              <a:t>3rd Annual European DDI Users Group Meeting </a:t>
            </a:r>
          </a:p>
          <a:p>
            <a:r>
              <a:rPr lang="de-DE" sz="2600" smtClean="0">
                <a:solidFill>
                  <a:srgbClr val="979797"/>
                </a:solidFill>
                <a:latin typeface="+mn-lt"/>
              </a:rPr>
              <a:t>(EDDI 2011)</a:t>
            </a:r>
          </a:p>
          <a:p>
            <a:endParaRPr lang="de-DE" sz="2200" smtClean="0">
              <a:solidFill>
                <a:srgbClr val="979797"/>
              </a:solidFill>
              <a:latin typeface="+mn-lt"/>
            </a:endParaRPr>
          </a:p>
          <a:p>
            <a:r>
              <a:rPr lang="de-DE" sz="2200" smtClean="0">
                <a:solidFill>
                  <a:srgbClr val="979797"/>
                </a:solidFill>
              </a:rPr>
              <a:t>06.12.2011</a:t>
            </a:r>
            <a:endParaRPr lang="de-DE" sz="2200">
              <a:solidFill>
                <a:srgbClr val="979797"/>
              </a:solidFill>
            </a:endParaRPr>
          </a:p>
          <a:p>
            <a:endParaRPr lang="de-DE" smtClean="0">
              <a:latin typeface="+mn-lt"/>
            </a:endParaRPr>
          </a:p>
          <a:p>
            <a:endParaRPr lang="de-DE" smtClean="0">
              <a:latin typeface="+mn-lt"/>
            </a:endParaRPr>
          </a:p>
          <a:p>
            <a:r>
              <a:rPr lang="de-DE" sz="2600" smtClean="0">
                <a:solidFill>
                  <a:schemeClr val="tx1"/>
                </a:solidFill>
                <a:latin typeface="+mn-lt"/>
              </a:rPr>
              <a:t>Thomas Bosch</a:t>
            </a:r>
          </a:p>
          <a:p>
            <a:endParaRPr lang="de-DE" sz="2600" smtClean="0">
              <a:solidFill>
                <a:schemeClr val="tx1"/>
              </a:solidFill>
              <a:latin typeface="+mn-lt"/>
            </a:endParaRPr>
          </a:p>
          <a:p>
            <a:r>
              <a:rPr lang="de-DE" sz="2000" smtClean="0">
                <a:solidFill>
                  <a:schemeClr val="tx1"/>
                </a:solidFill>
                <a:latin typeface="+mn-lt"/>
              </a:rPr>
              <a:t>M.Sc. (TUM)</a:t>
            </a:r>
          </a:p>
          <a:p>
            <a:r>
              <a:rPr lang="de-DE" sz="2000" smtClean="0">
                <a:solidFill>
                  <a:schemeClr val="tx1"/>
                </a:solidFill>
                <a:latin typeface="+mn-lt"/>
              </a:rPr>
              <a:t>postgraduate student</a:t>
            </a:r>
          </a:p>
          <a:p>
            <a:r>
              <a:rPr lang="de-DE" sz="2000" smtClean="0">
                <a:solidFill>
                  <a:schemeClr val="tx1"/>
                </a:solidFill>
                <a:latin typeface="+mn-lt"/>
              </a:rPr>
              <a:t>http</a:t>
            </a:r>
            <a:r>
              <a:rPr lang="de-DE" sz="2000">
                <a:solidFill>
                  <a:schemeClr val="tx1"/>
                </a:solidFill>
                <a:latin typeface="+mn-lt"/>
              </a:rPr>
              <a:t>://</a:t>
            </a:r>
            <a:r>
              <a:rPr lang="de-DE" sz="2000" smtClean="0">
                <a:solidFill>
                  <a:schemeClr val="tx1"/>
                </a:solidFill>
                <a:latin typeface="+mn-lt"/>
              </a:rPr>
              <a:t>boschthomas.blogspot.com</a:t>
            </a:r>
          </a:p>
          <a:p>
            <a:r>
              <a:rPr lang="de-DE" sz="2000">
                <a:solidFill>
                  <a:schemeClr val="tx1"/>
                </a:solidFill>
              </a:rPr>
              <a:t>GESIS - Leibniz Institute for the Social Sciences</a:t>
            </a:r>
          </a:p>
          <a:p>
            <a:endParaRPr lang="de-DE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149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2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3347863" y="3573016"/>
            <a:ext cx="2577600" cy="720080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Generated Ontologies (OWL)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251520" y="3573016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XML Schemas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Ellipse 6"/>
          <p:cNvSpPr/>
          <p:nvPr/>
        </p:nvSpPr>
        <p:spPr>
          <a:xfrm>
            <a:off x="6444208" y="2564904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External Ontologies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8" name="Gerade Verbindung mit Pfeil 7"/>
          <p:cNvCxnSpPr/>
          <p:nvPr/>
        </p:nvCxnSpPr>
        <p:spPr>
          <a:xfrm>
            <a:off x="251520" y="2348880"/>
            <a:ext cx="8640960" cy="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>
            <a:off x="251520" y="5661248"/>
            <a:ext cx="8640960" cy="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lipse 9"/>
          <p:cNvSpPr/>
          <p:nvPr/>
        </p:nvSpPr>
        <p:spPr>
          <a:xfrm>
            <a:off x="6444208" y="3573016"/>
            <a:ext cx="2577600" cy="720080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Domain Ontologies (OWL)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251520" y="5949280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XML Document Instances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3347864" y="5949280"/>
            <a:ext cx="2577600" cy="720080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Generated Ontologies (RDF)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251520" y="1340768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XML Schema </a:t>
            </a:r>
            <a:r>
              <a:rPr lang="en-US" sz="1600" err="1" smtClean="0">
                <a:solidFill>
                  <a:schemeClr val="tx1"/>
                </a:solidFill>
              </a:rPr>
              <a:t>Metamodel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3347864" y="1340768"/>
            <a:ext cx="2577600" cy="720080"/>
          </a:xfrm>
          <a:prstGeom prst="ellipse">
            <a:avLst/>
          </a:prstGeom>
          <a:solidFill>
            <a:srgbClr val="294465">
              <a:alpha val="25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000" smtClean="0">
              <a:solidFill>
                <a:schemeClr val="tx1"/>
              </a:solidFill>
            </a:endParaRPr>
          </a:p>
          <a:p>
            <a:pPr algn="ctr"/>
            <a:r>
              <a:rPr lang="en-US" sz="1600" smtClean="0">
                <a:solidFill>
                  <a:schemeClr val="tx1"/>
                </a:solidFill>
              </a:rPr>
              <a:t>XML Schema </a:t>
            </a:r>
            <a:r>
              <a:rPr lang="en-US" sz="1600" err="1" smtClean="0">
                <a:solidFill>
                  <a:schemeClr val="tx1"/>
                </a:solidFill>
              </a:rPr>
              <a:t>Metamodel</a:t>
            </a:r>
            <a:endParaRPr lang="en-US" sz="1600">
              <a:solidFill>
                <a:schemeClr val="tx1"/>
              </a:solidFill>
            </a:endParaRPr>
          </a:p>
          <a:p>
            <a:pPr algn="ctr"/>
            <a:r>
              <a:rPr lang="en-US" sz="1600" smtClean="0">
                <a:solidFill>
                  <a:schemeClr val="tx1"/>
                </a:solidFill>
              </a:rPr>
              <a:t>Ontology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15" name="Gerade Verbindung mit Pfeil 14"/>
          <p:cNvCxnSpPr>
            <a:stCxn id="14" idx="2"/>
            <a:endCxn id="13" idx="6"/>
          </p:cNvCxnSpPr>
          <p:nvPr/>
        </p:nvCxnSpPr>
        <p:spPr>
          <a:xfrm flipH="1">
            <a:off x="2829120" y="1700808"/>
            <a:ext cx="51874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/>
          <p:cNvSpPr txBox="1"/>
          <p:nvPr/>
        </p:nvSpPr>
        <p:spPr>
          <a:xfrm>
            <a:off x="2839391" y="1393031"/>
            <a:ext cx="508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map</a:t>
            </a:r>
            <a:endParaRPr lang="en-US" sz="1400"/>
          </a:p>
        </p:txBody>
      </p:sp>
      <p:cxnSp>
        <p:nvCxnSpPr>
          <p:cNvPr id="17" name="Gerade Verbindung mit Pfeil 16"/>
          <p:cNvCxnSpPr>
            <a:stCxn id="14" idx="4"/>
            <a:endCxn id="5" idx="0"/>
          </p:cNvCxnSpPr>
          <p:nvPr/>
        </p:nvCxnSpPr>
        <p:spPr>
          <a:xfrm flipH="1">
            <a:off x="4636663" y="2060848"/>
            <a:ext cx="1" cy="151216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/>
          <p:cNvSpPr txBox="1"/>
          <p:nvPr/>
        </p:nvSpPr>
        <p:spPr>
          <a:xfrm>
            <a:off x="4156656" y="2493476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⊑</a:t>
            </a:r>
          </a:p>
        </p:txBody>
      </p:sp>
      <p:cxnSp>
        <p:nvCxnSpPr>
          <p:cNvPr id="19" name="Gerade Verbindung mit Pfeil 18"/>
          <p:cNvCxnSpPr>
            <a:stCxn id="6" idx="4"/>
            <a:endCxn id="11" idx="0"/>
          </p:cNvCxnSpPr>
          <p:nvPr/>
        </p:nvCxnSpPr>
        <p:spPr>
          <a:xfrm>
            <a:off x="1540320" y="4293096"/>
            <a:ext cx="0" cy="16561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/>
          <p:cNvSpPr txBox="1"/>
          <p:nvPr/>
        </p:nvSpPr>
        <p:spPr>
          <a:xfrm>
            <a:off x="462615" y="5075311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cxnSp>
        <p:nvCxnSpPr>
          <p:cNvPr id="21" name="Gerade Verbindung mit Pfeil 20"/>
          <p:cNvCxnSpPr>
            <a:stCxn id="13" idx="4"/>
            <a:endCxn id="6" idx="0"/>
          </p:cNvCxnSpPr>
          <p:nvPr/>
        </p:nvCxnSpPr>
        <p:spPr>
          <a:xfrm>
            <a:off x="1540320" y="2060848"/>
            <a:ext cx="0" cy="151216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462614" y="2555031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cxnSp>
        <p:nvCxnSpPr>
          <p:cNvPr id="23" name="Gerade Verbindung mit Pfeil 22"/>
          <p:cNvCxnSpPr>
            <a:stCxn id="5" idx="2"/>
            <a:endCxn id="6" idx="6"/>
          </p:cNvCxnSpPr>
          <p:nvPr/>
        </p:nvCxnSpPr>
        <p:spPr>
          <a:xfrm flipH="1">
            <a:off x="2829120" y="3933056"/>
            <a:ext cx="518743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/>
          <p:cNvSpPr txBox="1"/>
          <p:nvPr/>
        </p:nvSpPr>
        <p:spPr>
          <a:xfrm>
            <a:off x="2839391" y="3625279"/>
            <a:ext cx="508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map</a:t>
            </a:r>
            <a:endParaRPr lang="en-US" sz="1400"/>
          </a:p>
        </p:txBody>
      </p:sp>
      <p:sp>
        <p:nvSpPr>
          <p:cNvPr id="25" name="Textfeld 24"/>
          <p:cNvSpPr txBox="1"/>
          <p:nvPr/>
        </p:nvSpPr>
        <p:spPr>
          <a:xfrm>
            <a:off x="2771800" y="3933056"/>
            <a:ext cx="6170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[XSLT]</a:t>
            </a:r>
            <a:endParaRPr lang="en-US" sz="1400"/>
          </a:p>
        </p:txBody>
      </p:sp>
      <p:cxnSp>
        <p:nvCxnSpPr>
          <p:cNvPr id="26" name="Gerade Verbindung mit Pfeil 25"/>
          <p:cNvCxnSpPr>
            <a:stCxn id="12" idx="2"/>
            <a:endCxn id="11" idx="6"/>
          </p:cNvCxnSpPr>
          <p:nvPr/>
        </p:nvCxnSpPr>
        <p:spPr>
          <a:xfrm flipH="1">
            <a:off x="2829120" y="6309320"/>
            <a:ext cx="51874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/>
          <p:cNvSpPr txBox="1"/>
          <p:nvPr/>
        </p:nvSpPr>
        <p:spPr>
          <a:xfrm>
            <a:off x="2839391" y="5986661"/>
            <a:ext cx="508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map</a:t>
            </a:r>
            <a:endParaRPr lang="en-US" sz="1400"/>
          </a:p>
        </p:txBody>
      </p:sp>
      <p:sp>
        <p:nvSpPr>
          <p:cNvPr id="28" name="Textfeld 27"/>
          <p:cNvSpPr txBox="1"/>
          <p:nvPr/>
        </p:nvSpPr>
        <p:spPr>
          <a:xfrm>
            <a:off x="2771800" y="6319374"/>
            <a:ext cx="6170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[XSLT]</a:t>
            </a:r>
            <a:endParaRPr lang="en-US" sz="1400"/>
          </a:p>
        </p:txBody>
      </p:sp>
      <p:cxnSp>
        <p:nvCxnSpPr>
          <p:cNvPr id="29" name="Gerade Verbindung mit Pfeil 28"/>
          <p:cNvCxnSpPr>
            <a:stCxn id="5" idx="4"/>
            <a:endCxn id="12" idx="0"/>
          </p:cNvCxnSpPr>
          <p:nvPr/>
        </p:nvCxnSpPr>
        <p:spPr>
          <a:xfrm>
            <a:off x="4636663" y="4293096"/>
            <a:ext cx="1" cy="16561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/>
          <p:cNvSpPr txBox="1"/>
          <p:nvPr/>
        </p:nvSpPr>
        <p:spPr>
          <a:xfrm>
            <a:off x="3546873" y="5075311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cxnSp>
        <p:nvCxnSpPr>
          <p:cNvPr id="31" name="Gerade Verbindung mit Pfeil 30"/>
          <p:cNvCxnSpPr>
            <a:stCxn id="10" idx="2"/>
            <a:endCxn id="5" idx="6"/>
          </p:cNvCxnSpPr>
          <p:nvPr/>
        </p:nvCxnSpPr>
        <p:spPr>
          <a:xfrm flipH="1">
            <a:off x="5925463" y="3933056"/>
            <a:ext cx="518745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7" idx="4"/>
            <a:endCxn id="10" idx="0"/>
          </p:cNvCxnSpPr>
          <p:nvPr/>
        </p:nvCxnSpPr>
        <p:spPr>
          <a:xfrm>
            <a:off x="7733008" y="3284984"/>
            <a:ext cx="0" cy="288032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/>
          <p:cNvSpPr txBox="1"/>
          <p:nvPr/>
        </p:nvSpPr>
        <p:spPr>
          <a:xfrm>
            <a:off x="7747410" y="3183359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>
                <a:sym typeface="Symbol"/>
              </a:rPr>
              <a:t></a:t>
            </a:r>
            <a:endParaRPr lang="en-US" sz="2400"/>
          </a:p>
        </p:txBody>
      </p:sp>
      <p:sp>
        <p:nvSpPr>
          <p:cNvPr id="36" name="Ellipse 35"/>
          <p:cNvSpPr/>
          <p:nvPr/>
        </p:nvSpPr>
        <p:spPr>
          <a:xfrm>
            <a:off x="6444208" y="5949280"/>
            <a:ext cx="2577600" cy="720080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Domain Ontologies (RDF)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3" name="Gerade Verbindung mit Pfeil 52"/>
          <p:cNvCxnSpPr>
            <a:stCxn id="36" idx="2"/>
            <a:endCxn id="12" idx="6"/>
          </p:cNvCxnSpPr>
          <p:nvPr/>
        </p:nvCxnSpPr>
        <p:spPr>
          <a:xfrm flipH="1">
            <a:off x="5925464" y="6309320"/>
            <a:ext cx="518744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/>
          <p:cNvCxnSpPr>
            <a:stCxn id="10" idx="4"/>
            <a:endCxn id="36" idx="0"/>
          </p:cNvCxnSpPr>
          <p:nvPr/>
        </p:nvCxnSpPr>
        <p:spPr>
          <a:xfrm>
            <a:off x="7733008" y="4293096"/>
            <a:ext cx="0" cy="16561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/>
          <p:cNvSpPr txBox="1"/>
          <p:nvPr/>
        </p:nvSpPr>
        <p:spPr>
          <a:xfrm>
            <a:off x="6628763" y="5065439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sp>
        <p:nvSpPr>
          <p:cNvPr id="2" name="Pfeil nach rechts 1"/>
          <p:cNvSpPr/>
          <p:nvPr/>
        </p:nvSpPr>
        <p:spPr>
          <a:xfrm>
            <a:off x="6051693" y="3645024"/>
            <a:ext cx="288032" cy="153889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feld 37"/>
          <p:cNvSpPr txBox="1"/>
          <p:nvPr/>
        </p:nvSpPr>
        <p:spPr>
          <a:xfrm>
            <a:off x="6019218" y="5847655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>
                <a:sym typeface="Symbol"/>
              </a:rPr>
              <a:t>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83676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hteck 42"/>
          <p:cNvSpPr/>
          <p:nvPr/>
        </p:nvSpPr>
        <p:spPr>
          <a:xfrm>
            <a:off x="0" y="936104"/>
            <a:ext cx="9180512" cy="2060848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hteck 39"/>
          <p:cNvSpPr/>
          <p:nvPr/>
        </p:nvSpPr>
        <p:spPr>
          <a:xfrm>
            <a:off x="6192688" y="1052736"/>
            <a:ext cx="2987824" cy="3744416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hteck 37"/>
          <p:cNvSpPr/>
          <p:nvPr/>
        </p:nvSpPr>
        <p:spPr>
          <a:xfrm>
            <a:off x="0" y="4797152"/>
            <a:ext cx="9180512" cy="2060848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3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3347863" y="3573016"/>
            <a:ext cx="2577600" cy="720080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Generated Ontologies (OWL)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251520" y="3573016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XML Schemas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Ellipse 6"/>
          <p:cNvSpPr/>
          <p:nvPr/>
        </p:nvSpPr>
        <p:spPr>
          <a:xfrm>
            <a:off x="6444208" y="2564904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External Ontologies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8" name="Gerade Verbindung mit Pfeil 7"/>
          <p:cNvCxnSpPr/>
          <p:nvPr/>
        </p:nvCxnSpPr>
        <p:spPr>
          <a:xfrm>
            <a:off x="251520" y="2348880"/>
            <a:ext cx="8640960" cy="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>
            <a:off x="251520" y="5661248"/>
            <a:ext cx="8640960" cy="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lipse 9"/>
          <p:cNvSpPr/>
          <p:nvPr/>
        </p:nvSpPr>
        <p:spPr>
          <a:xfrm>
            <a:off x="6444208" y="3573016"/>
            <a:ext cx="2577600" cy="720080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Domain Ontologies (OWL)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251520" y="5949280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XML Document Instances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3347864" y="5949280"/>
            <a:ext cx="2577600" cy="720080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Generated Ontologies (RDF)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251520" y="1340768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XML Schema </a:t>
            </a:r>
            <a:r>
              <a:rPr lang="en-US" sz="1600" err="1" smtClean="0">
                <a:solidFill>
                  <a:schemeClr val="tx1"/>
                </a:solidFill>
              </a:rPr>
              <a:t>Metamodel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3347864" y="1340768"/>
            <a:ext cx="2577600" cy="720080"/>
          </a:xfrm>
          <a:prstGeom prst="ellipse">
            <a:avLst/>
          </a:prstGeom>
          <a:solidFill>
            <a:srgbClr val="294465">
              <a:alpha val="25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000" smtClean="0">
              <a:solidFill>
                <a:schemeClr val="tx1"/>
              </a:solidFill>
            </a:endParaRPr>
          </a:p>
          <a:p>
            <a:pPr algn="ctr"/>
            <a:r>
              <a:rPr lang="en-US" sz="1600" smtClean="0">
                <a:solidFill>
                  <a:schemeClr val="tx1"/>
                </a:solidFill>
              </a:rPr>
              <a:t>XML Schema </a:t>
            </a:r>
            <a:r>
              <a:rPr lang="en-US" sz="1600" err="1" smtClean="0">
                <a:solidFill>
                  <a:schemeClr val="tx1"/>
                </a:solidFill>
              </a:rPr>
              <a:t>Metamodel</a:t>
            </a:r>
            <a:endParaRPr lang="en-US" sz="1600">
              <a:solidFill>
                <a:schemeClr val="tx1"/>
              </a:solidFill>
            </a:endParaRPr>
          </a:p>
          <a:p>
            <a:pPr algn="ctr"/>
            <a:r>
              <a:rPr lang="en-US" sz="1600" smtClean="0">
                <a:solidFill>
                  <a:schemeClr val="tx1"/>
                </a:solidFill>
              </a:rPr>
              <a:t>Ontology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15" name="Gerade Verbindung mit Pfeil 14"/>
          <p:cNvCxnSpPr>
            <a:stCxn id="14" idx="2"/>
            <a:endCxn id="13" idx="6"/>
          </p:cNvCxnSpPr>
          <p:nvPr/>
        </p:nvCxnSpPr>
        <p:spPr>
          <a:xfrm flipH="1">
            <a:off x="2829120" y="1700808"/>
            <a:ext cx="51874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/>
          <p:cNvSpPr txBox="1"/>
          <p:nvPr/>
        </p:nvSpPr>
        <p:spPr>
          <a:xfrm>
            <a:off x="2839391" y="1393031"/>
            <a:ext cx="508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map</a:t>
            </a:r>
            <a:endParaRPr lang="en-US" sz="1400"/>
          </a:p>
        </p:txBody>
      </p:sp>
      <p:cxnSp>
        <p:nvCxnSpPr>
          <p:cNvPr id="17" name="Gerade Verbindung mit Pfeil 16"/>
          <p:cNvCxnSpPr>
            <a:stCxn id="14" idx="4"/>
            <a:endCxn id="5" idx="0"/>
          </p:cNvCxnSpPr>
          <p:nvPr/>
        </p:nvCxnSpPr>
        <p:spPr>
          <a:xfrm flipH="1">
            <a:off x="4636663" y="2060848"/>
            <a:ext cx="1" cy="151216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/>
          <p:cNvSpPr txBox="1"/>
          <p:nvPr/>
        </p:nvSpPr>
        <p:spPr>
          <a:xfrm>
            <a:off x="4156656" y="2493476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⊑</a:t>
            </a:r>
          </a:p>
        </p:txBody>
      </p:sp>
      <p:cxnSp>
        <p:nvCxnSpPr>
          <p:cNvPr id="19" name="Gerade Verbindung mit Pfeil 18"/>
          <p:cNvCxnSpPr>
            <a:stCxn id="6" idx="4"/>
            <a:endCxn id="11" idx="0"/>
          </p:cNvCxnSpPr>
          <p:nvPr/>
        </p:nvCxnSpPr>
        <p:spPr>
          <a:xfrm>
            <a:off x="1540320" y="4293096"/>
            <a:ext cx="0" cy="16561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/>
          <p:cNvSpPr txBox="1"/>
          <p:nvPr/>
        </p:nvSpPr>
        <p:spPr>
          <a:xfrm>
            <a:off x="462615" y="5075311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cxnSp>
        <p:nvCxnSpPr>
          <p:cNvPr id="21" name="Gerade Verbindung mit Pfeil 20"/>
          <p:cNvCxnSpPr>
            <a:stCxn id="13" idx="4"/>
            <a:endCxn id="6" idx="0"/>
          </p:cNvCxnSpPr>
          <p:nvPr/>
        </p:nvCxnSpPr>
        <p:spPr>
          <a:xfrm>
            <a:off x="1540320" y="2060848"/>
            <a:ext cx="0" cy="151216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462614" y="2555031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cxnSp>
        <p:nvCxnSpPr>
          <p:cNvPr id="23" name="Gerade Verbindung mit Pfeil 22"/>
          <p:cNvCxnSpPr>
            <a:stCxn id="5" idx="2"/>
            <a:endCxn id="6" idx="6"/>
          </p:cNvCxnSpPr>
          <p:nvPr/>
        </p:nvCxnSpPr>
        <p:spPr>
          <a:xfrm flipH="1">
            <a:off x="2829120" y="3933056"/>
            <a:ext cx="518743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/>
          <p:cNvSpPr txBox="1"/>
          <p:nvPr/>
        </p:nvSpPr>
        <p:spPr>
          <a:xfrm>
            <a:off x="2839391" y="3625279"/>
            <a:ext cx="508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map</a:t>
            </a:r>
            <a:endParaRPr lang="en-US" sz="1400"/>
          </a:p>
        </p:txBody>
      </p:sp>
      <p:sp>
        <p:nvSpPr>
          <p:cNvPr id="25" name="Textfeld 24"/>
          <p:cNvSpPr txBox="1"/>
          <p:nvPr/>
        </p:nvSpPr>
        <p:spPr>
          <a:xfrm>
            <a:off x="2771800" y="3933056"/>
            <a:ext cx="6170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[XSLT]</a:t>
            </a:r>
            <a:endParaRPr lang="en-US" sz="1400"/>
          </a:p>
        </p:txBody>
      </p:sp>
      <p:cxnSp>
        <p:nvCxnSpPr>
          <p:cNvPr id="26" name="Gerade Verbindung mit Pfeil 25"/>
          <p:cNvCxnSpPr>
            <a:stCxn id="12" idx="2"/>
            <a:endCxn id="11" idx="6"/>
          </p:cNvCxnSpPr>
          <p:nvPr/>
        </p:nvCxnSpPr>
        <p:spPr>
          <a:xfrm flipH="1">
            <a:off x="2829120" y="6309320"/>
            <a:ext cx="51874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/>
          <p:cNvSpPr txBox="1"/>
          <p:nvPr/>
        </p:nvSpPr>
        <p:spPr>
          <a:xfrm>
            <a:off x="2839391" y="5986661"/>
            <a:ext cx="508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map</a:t>
            </a:r>
            <a:endParaRPr lang="en-US" sz="1400"/>
          </a:p>
        </p:txBody>
      </p:sp>
      <p:sp>
        <p:nvSpPr>
          <p:cNvPr id="28" name="Textfeld 27"/>
          <p:cNvSpPr txBox="1"/>
          <p:nvPr/>
        </p:nvSpPr>
        <p:spPr>
          <a:xfrm>
            <a:off x="2771800" y="6319374"/>
            <a:ext cx="6170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[XSLT]</a:t>
            </a:r>
            <a:endParaRPr lang="en-US" sz="1400"/>
          </a:p>
        </p:txBody>
      </p:sp>
      <p:cxnSp>
        <p:nvCxnSpPr>
          <p:cNvPr id="29" name="Gerade Verbindung mit Pfeil 28"/>
          <p:cNvCxnSpPr>
            <a:stCxn id="5" idx="4"/>
            <a:endCxn id="12" idx="0"/>
          </p:cNvCxnSpPr>
          <p:nvPr/>
        </p:nvCxnSpPr>
        <p:spPr>
          <a:xfrm>
            <a:off x="4636663" y="4293096"/>
            <a:ext cx="1" cy="16561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/>
          <p:cNvSpPr txBox="1"/>
          <p:nvPr/>
        </p:nvSpPr>
        <p:spPr>
          <a:xfrm>
            <a:off x="3546873" y="5075311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cxnSp>
        <p:nvCxnSpPr>
          <p:cNvPr id="31" name="Gerade Verbindung mit Pfeil 30"/>
          <p:cNvCxnSpPr>
            <a:stCxn id="10" idx="2"/>
            <a:endCxn id="5" idx="6"/>
          </p:cNvCxnSpPr>
          <p:nvPr/>
        </p:nvCxnSpPr>
        <p:spPr>
          <a:xfrm flipH="1">
            <a:off x="5925463" y="3933056"/>
            <a:ext cx="518745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7" idx="4"/>
            <a:endCxn id="10" idx="0"/>
          </p:cNvCxnSpPr>
          <p:nvPr/>
        </p:nvCxnSpPr>
        <p:spPr>
          <a:xfrm>
            <a:off x="7733008" y="3284984"/>
            <a:ext cx="0" cy="288032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/>
          <p:cNvSpPr txBox="1"/>
          <p:nvPr/>
        </p:nvSpPr>
        <p:spPr>
          <a:xfrm>
            <a:off x="7747410" y="3183359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>
                <a:sym typeface="Symbol"/>
              </a:rPr>
              <a:t></a:t>
            </a:r>
            <a:endParaRPr lang="en-US" sz="2400"/>
          </a:p>
        </p:txBody>
      </p:sp>
      <p:sp>
        <p:nvSpPr>
          <p:cNvPr id="36" name="Ellipse 35"/>
          <p:cNvSpPr/>
          <p:nvPr/>
        </p:nvSpPr>
        <p:spPr>
          <a:xfrm>
            <a:off x="6444208" y="5949280"/>
            <a:ext cx="2577600" cy="720080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Domain Ontologies (RDF)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3" name="Gerade Verbindung mit Pfeil 52"/>
          <p:cNvCxnSpPr>
            <a:stCxn id="36" idx="2"/>
            <a:endCxn id="12" idx="6"/>
          </p:cNvCxnSpPr>
          <p:nvPr/>
        </p:nvCxnSpPr>
        <p:spPr>
          <a:xfrm flipH="1">
            <a:off x="5925464" y="6309320"/>
            <a:ext cx="518744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/>
          <p:cNvCxnSpPr>
            <a:stCxn id="10" idx="4"/>
            <a:endCxn id="36" idx="0"/>
          </p:cNvCxnSpPr>
          <p:nvPr/>
        </p:nvCxnSpPr>
        <p:spPr>
          <a:xfrm>
            <a:off x="7733008" y="4293096"/>
            <a:ext cx="0" cy="16561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/>
          <p:cNvSpPr txBox="1"/>
          <p:nvPr/>
        </p:nvSpPr>
        <p:spPr>
          <a:xfrm>
            <a:off x="6628763" y="5065439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sp>
        <p:nvSpPr>
          <p:cNvPr id="41" name="Pfeil nach rechts 40"/>
          <p:cNvSpPr/>
          <p:nvPr/>
        </p:nvSpPr>
        <p:spPr>
          <a:xfrm>
            <a:off x="6051693" y="3645024"/>
            <a:ext cx="288032" cy="153889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feld 43"/>
          <p:cNvSpPr txBox="1"/>
          <p:nvPr/>
        </p:nvSpPr>
        <p:spPr>
          <a:xfrm>
            <a:off x="6019218" y="5847655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>
                <a:sym typeface="Symbol"/>
              </a:rPr>
              <a:t>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5121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</a:t>
            </a:fld>
            <a:endParaRPr lang="de-DE"/>
          </a:p>
        </p:txBody>
      </p:sp>
      <p:sp>
        <p:nvSpPr>
          <p:cNvPr id="5" name="Inhaltsplatzhalter 2"/>
          <p:cNvSpPr txBox="1">
            <a:spLocks/>
          </p:cNvSpPr>
          <p:nvPr/>
        </p:nvSpPr>
        <p:spPr>
          <a:xfrm>
            <a:off x="0" y="3212976"/>
            <a:ext cx="7058512" cy="4320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de-DE" smtClean="0"/>
              <a:t>Variable: Age</a:t>
            </a:r>
          </a:p>
        </p:txBody>
      </p:sp>
    </p:spTree>
    <p:extLst>
      <p:ext uri="{BB962C8B-B14F-4D97-AF65-F5344CB8AC3E}">
        <p14:creationId xmlns:p14="http://schemas.microsoft.com/office/powerpoint/2010/main" val="163788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</a:t>
            </a:fld>
            <a:endParaRPr lang="de-DE"/>
          </a:p>
        </p:txBody>
      </p:sp>
      <p:sp>
        <p:nvSpPr>
          <p:cNvPr id="11" name="Ellipse 10"/>
          <p:cNvSpPr/>
          <p:nvPr/>
        </p:nvSpPr>
        <p:spPr>
          <a:xfrm>
            <a:off x="7058512" y="2204864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7058512" y="4648546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7278112" y="5350365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14" name="Gerade Verbindung mit Pfeil 13"/>
          <p:cNvCxnSpPr/>
          <p:nvPr/>
        </p:nvCxnSpPr>
        <p:spPr>
          <a:xfrm flipV="1">
            <a:off x="8019712" y="4994780"/>
            <a:ext cx="0" cy="35558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Inhaltsplatzhalter 2"/>
          <p:cNvSpPr>
            <a:spLocks noGrp="1"/>
          </p:cNvSpPr>
          <p:nvPr>
            <p:ph idx="1"/>
          </p:nvPr>
        </p:nvSpPr>
        <p:spPr>
          <a:xfrm>
            <a:off x="0" y="3212976"/>
            <a:ext cx="7058512" cy="43204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de-DE" smtClean="0"/>
              <a:t>Variable: Age</a:t>
            </a:r>
          </a:p>
        </p:txBody>
      </p:sp>
      <p:sp>
        <p:nvSpPr>
          <p:cNvPr id="16" name="Inhaltsplatzhalter 2"/>
          <p:cNvSpPr txBox="1">
            <a:spLocks/>
          </p:cNvSpPr>
          <p:nvPr/>
        </p:nvSpPr>
        <p:spPr>
          <a:xfrm>
            <a:off x="7058512" y="1340768"/>
            <a:ext cx="192240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de-DE" smtClean="0"/>
              <a:t>XML</a:t>
            </a:r>
          </a:p>
        </p:txBody>
      </p:sp>
    </p:spTree>
    <p:extLst>
      <p:ext uri="{BB962C8B-B14F-4D97-AF65-F5344CB8AC3E}">
        <p14:creationId xmlns:p14="http://schemas.microsoft.com/office/powerpoint/2010/main" val="1620254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6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298022" y="121960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4055925" y="1857533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698159" y="2469600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5846027" y="1861839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5436096" y="2469600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67544" y="2492896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11234" y="322154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53468" y="3818141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630580" y="3233259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630580" y="38680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630580" y="4509120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630580" y="5157192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7" name="Ellipse 16"/>
          <p:cNvSpPr/>
          <p:nvPr/>
        </p:nvSpPr>
        <p:spPr>
          <a:xfrm>
            <a:off x="2260580" y="5769282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1850721" y="631770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298022" y="49388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492786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451816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6" name="Gerade Verbindung mit Pfeil 25"/>
          <p:cNvCxnSpPr>
            <a:stCxn id="19" idx="2"/>
            <a:endCxn id="18" idx="3"/>
          </p:cNvCxnSpPr>
          <p:nvPr/>
        </p:nvCxnSpPr>
        <p:spPr>
          <a:xfrm flipH="1">
            <a:off x="3332840" y="5111990"/>
            <a:ext cx="965182" cy="140152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>
            <a:stCxn id="6" idx="0"/>
            <a:endCxn id="5" idx="3"/>
          </p:cNvCxnSpPr>
          <p:nvPr/>
        </p:nvCxnSpPr>
        <p:spPr>
          <a:xfrm flipV="1">
            <a:off x="4387282" y="1515132"/>
            <a:ext cx="192269" cy="342401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058512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7058512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7278112" y="5642987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220422" y="139272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/>
          <p:nvPr/>
        </p:nvCxnSpPr>
        <p:spPr>
          <a:xfrm>
            <a:off x="6220422" y="511199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56"/>
          <p:cNvCxnSpPr>
            <a:stCxn id="7" idx="1"/>
            <a:endCxn id="10" idx="6"/>
          </p:cNvCxnSpPr>
          <p:nvPr/>
        </p:nvCxnSpPr>
        <p:spPr>
          <a:xfrm rot="10800000" flipV="1">
            <a:off x="2389945" y="2665413"/>
            <a:ext cx="1308215" cy="599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8" idx="0"/>
            <a:endCxn id="5" idx="5"/>
          </p:cNvCxnSpPr>
          <p:nvPr/>
        </p:nvCxnSpPr>
        <p:spPr>
          <a:xfrm flipH="1" flipV="1">
            <a:off x="5938893" y="1515132"/>
            <a:ext cx="238491" cy="346707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7" idx="0"/>
            <a:endCxn id="6" idx="4"/>
          </p:cNvCxnSpPr>
          <p:nvPr/>
        </p:nvCxnSpPr>
        <p:spPr>
          <a:xfrm flipV="1">
            <a:off x="4387281" y="2203767"/>
            <a:ext cx="1" cy="26583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/>
          <p:cNvCxnSpPr>
            <a:stCxn id="9" idx="0"/>
            <a:endCxn id="8" idx="4"/>
          </p:cNvCxnSpPr>
          <p:nvPr/>
        </p:nvCxnSpPr>
        <p:spPr>
          <a:xfrm flipH="1" flipV="1">
            <a:off x="6177384" y="2208073"/>
            <a:ext cx="312" cy="261527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/>
          <p:cNvCxnSpPr>
            <a:stCxn id="11" idx="0"/>
            <a:endCxn id="10" idx="3"/>
          </p:cNvCxnSpPr>
          <p:nvPr/>
        </p:nvCxnSpPr>
        <p:spPr>
          <a:xfrm flipV="1">
            <a:off x="742591" y="2788425"/>
            <a:ext cx="6482" cy="43311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12" idx="0"/>
            <a:endCxn id="11" idx="4"/>
          </p:cNvCxnSpPr>
          <p:nvPr/>
        </p:nvCxnSpPr>
        <p:spPr>
          <a:xfrm flipV="1">
            <a:off x="742590" y="3567775"/>
            <a:ext cx="1" cy="25036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>
            <a:stCxn id="13" idx="0"/>
            <a:endCxn id="10" idx="5"/>
          </p:cNvCxnSpPr>
          <p:nvPr/>
        </p:nvCxnSpPr>
        <p:spPr>
          <a:xfrm flipH="1" flipV="1">
            <a:off x="2108415" y="2788425"/>
            <a:ext cx="483365" cy="44483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2591780" y="3579493"/>
            <a:ext cx="0" cy="28858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2591780" y="4214307"/>
            <a:ext cx="0" cy="29481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2591780" y="4855354"/>
            <a:ext cx="0" cy="30183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/>
          <p:nvPr/>
        </p:nvCxnSpPr>
        <p:spPr>
          <a:xfrm flipV="1">
            <a:off x="2591780" y="5503426"/>
            <a:ext cx="0" cy="26585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/>
          <p:nvPr/>
        </p:nvCxnSpPr>
        <p:spPr>
          <a:xfrm flipH="1" flipV="1">
            <a:off x="2591780" y="6115516"/>
            <a:ext cx="1" cy="20218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/>
          <p:cNvCxnSpPr>
            <a:stCxn id="20" idx="0"/>
            <a:endCxn id="19" idx="4"/>
          </p:cNvCxnSpPr>
          <p:nvPr/>
        </p:nvCxnSpPr>
        <p:spPr>
          <a:xfrm flipH="1" flipV="1">
            <a:off x="525922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stCxn id="21" idx="0"/>
            <a:endCxn id="20" idx="4"/>
          </p:cNvCxnSpPr>
          <p:nvPr/>
        </p:nvCxnSpPr>
        <p:spPr>
          <a:xfrm flipV="1">
            <a:off x="5259223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/>
          <p:nvPr/>
        </p:nvCxnSpPr>
        <p:spPr>
          <a:xfrm flipV="1">
            <a:off x="8019712" y="5287402"/>
            <a:ext cx="0" cy="35558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nhaltsplatzhalter 2"/>
          <p:cNvSpPr txBox="1">
            <a:spLocks/>
          </p:cNvSpPr>
          <p:nvPr/>
        </p:nvSpPr>
        <p:spPr>
          <a:xfrm>
            <a:off x="6680997" y="355507"/>
            <a:ext cx="2463003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de-DE" smtClean="0"/>
              <a:t>XML</a:t>
            </a:r>
          </a:p>
        </p:txBody>
      </p:sp>
      <p:sp>
        <p:nvSpPr>
          <p:cNvPr id="48" name="Inhaltsplatzhalter 2"/>
          <p:cNvSpPr txBox="1">
            <a:spLocks/>
          </p:cNvSpPr>
          <p:nvPr/>
        </p:nvSpPr>
        <p:spPr>
          <a:xfrm>
            <a:off x="-1" y="332656"/>
            <a:ext cx="6927499" cy="526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de-DE" smtClean="0"/>
              <a:t>XML Schema</a:t>
            </a:r>
          </a:p>
        </p:txBody>
      </p:sp>
      <p:cxnSp>
        <p:nvCxnSpPr>
          <p:cNvPr id="52" name="Gerade Verbindung mit Pfeil 51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24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7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298022" y="121960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4055925" y="1857533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698159" y="2469600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5846027" y="1861839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5436096" y="2469600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67544" y="2492896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11234" y="322154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53468" y="3818141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630580" y="3233259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630580" y="38680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630580" y="4509120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630580" y="5157192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7" name="Ellipse 16"/>
          <p:cNvSpPr/>
          <p:nvPr/>
        </p:nvSpPr>
        <p:spPr>
          <a:xfrm>
            <a:off x="2260580" y="5769282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1850721" y="631770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298022" y="49388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492786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451816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6" name="Gerade Verbindung mit Pfeil 25"/>
          <p:cNvCxnSpPr>
            <a:stCxn id="19" idx="2"/>
            <a:endCxn id="18" idx="3"/>
          </p:cNvCxnSpPr>
          <p:nvPr/>
        </p:nvCxnSpPr>
        <p:spPr>
          <a:xfrm flipH="1">
            <a:off x="3332840" y="5111990"/>
            <a:ext cx="965182" cy="140152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>
            <a:stCxn id="6" idx="0"/>
            <a:endCxn id="5" idx="3"/>
          </p:cNvCxnSpPr>
          <p:nvPr/>
        </p:nvCxnSpPr>
        <p:spPr>
          <a:xfrm flipV="1">
            <a:off x="4387282" y="1515132"/>
            <a:ext cx="192269" cy="342401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058512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7058512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7278112" y="5642987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220422" y="139272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/>
          <p:nvPr/>
        </p:nvCxnSpPr>
        <p:spPr>
          <a:xfrm>
            <a:off x="6220422" y="511199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56"/>
          <p:cNvCxnSpPr>
            <a:stCxn id="7" idx="1"/>
            <a:endCxn id="10" idx="6"/>
          </p:cNvCxnSpPr>
          <p:nvPr/>
        </p:nvCxnSpPr>
        <p:spPr>
          <a:xfrm rot="10800000" flipV="1">
            <a:off x="2389945" y="2665413"/>
            <a:ext cx="1308215" cy="599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8" idx="0"/>
            <a:endCxn id="5" idx="5"/>
          </p:cNvCxnSpPr>
          <p:nvPr/>
        </p:nvCxnSpPr>
        <p:spPr>
          <a:xfrm flipH="1" flipV="1">
            <a:off x="5938893" y="1515132"/>
            <a:ext cx="238491" cy="346707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7" idx="0"/>
            <a:endCxn id="6" idx="4"/>
          </p:cNvCxnSpPr>
          <p:nvPr/>
        </p:nvCxnSpPr>
        <p:spPr>
          <a:xfrm flipV="1">
            <a:off x="4387281" y="2203767"/>
            <a:ext cx="1" cy="26583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/>
          <p:cNvCxnSpPr>
            <a:stCxn id="9" idx="0"/>
            <a:endCxn id="8" idx="4"/>
          </p:cNvCxnSpPr>
          <p:nvPr/>
        </p:nvCxnSpPr>
        <p:spPr>
          <a:xfrm flipH="1" flipV="1">
            <a:off x="6177384" y="2208073"/>
            <a:ext cx="312" cy="261527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/>
          <p:cNvCxnSpPr>
            <a:stCxn id="11" idx="0"/>
            <a:endCxn id="10" idx="3"/>
          </p:cNvCxnSpPr>
          <p:nvPr/>
        </p:nvCxnSpPr>
        <p:spPr>
          <a:xfrm flipV="1">
            <a:off x="742591" y="2788425"/>
            <a:ext cx="6482" cy="43311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12" idx="0"/>
            <a:endCxn id="11" idx="4"/>
          </p:cNvCxnSpPr>
          <p:nvPr/>
        </p:nvCxnSpPr>
        <p:spPr>
          <a:xfrm flipV="1">
            <a:off x="742590" y="3567775"/>
            <a:ext cx="1" cy="25036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>
            <a:stCxn id="13" idx="0"/>
            <a:endCxn id="10" idx="5"/>
          </p:cNvCxnSpPr>
          <p:nvPr/>
        </p:nvCxnSpPr>
        <p:spPr>
          <a:xfrm flipH="1" flipV="1">
            <a:off x="2108415" y="2788425"/>
            <a:ext cx="483365" cy="44483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2591780" y="3579493"/>
            <a:ext cx="0" cy="28858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2591780" y="4214307"/>
            <a:ext cx="0" cy="29481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2591780" y="4855354"/>
            <a:ext cx="0" cy="30183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/>
          <p:nvPr/>
        </p:nvCxnSpPr>
        <p:spPr>
          <a:xfrm flipV="1">
            <a:off x="2591780" y="5503426"/>
            <a:ext cx="0" cy="26585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/>
          <p:nvPr/>
        </p:nvCxnSpPr>
        <p:spPr>
          <a:xfrm flipH="1" flipV="1">
            <a:off x="2591780" y="6115516"/>
            <a:ext cx="1" cy="20218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/>
          <p:cNvCxnSpPr>
            <a:stCxn id="20" idx="0"/>
            <a:endCxn id="19" idx="4"/>
          </p:cNvCxnSpPr>
          <p:nvPr/>
        </p:nvCxnSpPr>
        <p:spPr>
          <a:xfrm flipH="1" flipV="1">
            <a:off x="525922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stCxn id="21" idx="0"/>
            <a:endCxn id="20" idx="4"/>
          </p:cNvCxnSpPr>
          <p:nvPr/>
        </p:nvCxnSpPr>
        <p:spPr>
          <a:xfrm flipV="1">
            <a:off x="5259223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/>
          <p:nvPr/>
        </p:nvCxnSpPr>
        <p:spPr>
          <a:xfrm flipV="1">
            <a:off x="8019712" y="5287402"/>
            <a:ext cx="0" cy="35558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nhaltsplatzhalter 2"/>
          <p:cNvSpPr txBox="1">
            <a:spLocks/>
          </p:cNvSpPr>
          <p:nvPr/>
        </p:nvSpPr>
        <p:spPr>
          <a:xfrm>
            <a:off x="6680997" y="355507"/>
            <a:ext cx="2463003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de-DE" smtClean="0"/>
              <a:t>XML</a:t>
            </a:r>
          </a:p>
        </p:txBody>
      </p:sp>
      <p:sp>
        <p:nvSpPr>
          <p:cNvPr id="48" name="Inhaltsplatzhalter 2"/>
          <p:cNvSpPr txBox="1">
            <a:spLocks/>
          </p:cNvSpPr>
          <p:nvPr/>
        </p:nvSpPr>
        <p:spPr>
          <a:xfrm>
            <a:off x="-1" y="332656"/>
            <a:ext cx="6927499" cy="526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de-DE" smtClean="0"/>
              <a:t>XML Schema</a:t>
            </a:r>
          </a:p>
        </p:txBody>
      </p:sp>
      <p:cxnSp>
        <p:nvCxnSpPr>
          <p:cNvPr id="49" name="Gerade Verbindung mit Pfeil 48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11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8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301903" y="121960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4055925" y="1857533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698159" y="2469600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5846027" y="1861839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5436096" y="2469600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67544" y="2492896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11234" y="322154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53468" y="3818141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630580" y="3233259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630580" y="38680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630580" y="4509120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630580" y="5157192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7" name="Ellipse 16"/>
          <p:cNvSpPr/>
          <p:nvPr/>
        </p:nvSpPr>
        <p:spPr>
          <a:xfrm>
            <a:off x="2260580" y="5769282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1850721" y="631770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298022" y="49388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492786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451816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6" name="Gerade Verbindung mit Pfeil 25"/>
          <p:cNvCxnSpPr>
            <a:stCxn id="19" idx="2"/>
            <a:endCxn id="18" idx="3"/>
          </p:cNvCxnSpPr>
          <p:nvPr/>
        </p:nvCxnSpPr>
        <p:spPr>
          <a:xfrm flipH="1">
            <a:off x="3332840" y="5111990"/>
            <a:ext cx="965182" cy="140152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>
            <a:stCxn id="6" idx="0"/>
            <a:endCxn id="5" idx="3"/>
          </p:cNvCxnSpPr>
          <p:nvPr/>
        </p:nvCxnSpPr>
        <p:spPr>
          <a:xfrm flipV="1">
            <a:off x="4387282" y="1515132"/>
            <a:ext cx="196150" cy="342401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058512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7058512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7278112" y="5642987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224303" y="1392720"/>
            <a:ext cx="834209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/>
          <p:nvPr/>
        </p:nvCxnSpPr>
        <p:spPr>
          <a:xfrm>
            <a:off x="6220422" y="511199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56"/>
          <p:cNvCxnSpPr>
            <a:stCxn id="7" idx="1"/>
            <a:endCxn id="10" idx="6"/>
          </p:cNvCxnSpPr>
          <p:nvPr/>
        </p:nvCxnSpPr>
        <p:spPr>
          <a:xfrm rot="10800000" flipV="1">
            <a:off x="2389945" y="2665413"/>
            <a:ext cx="1308215" cy="599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8" idx="0"/>
            <a:endCxn id="5" idx="5"/>
          </p:cNvCxnSpPr>
          <p:nvPr/>
        </p:nvCxnSpPr>
        <p:spPr>
          <a:xfrm flipH="1" flipV="1">
            <a:off x="5942774" y="1515132"/>
            <a:ext cx="234610" cy="346707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7" idx="0"/>
            <a:endCxn id="6" idx="4"/>
          </p:cNvCxnSpPr>
          <p:nvPr/>
        </p:nvCxnSpPr>
        <p:spPr>
          <a:xfrm flipV="1">
            <a:off x="4387281" y="2203767"/>
            <a:ext cx="1" cy="26583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/>
          <p:cNvCxnSpPr>
            <a:stCxn id="9" idx="0"/>
            <a:endCxn id="8" idx="4"/>
          </p:cNvCxnSpPr>
          <p:nvPr/>
        </p:nvCxnSpPr>
        <p:spPr>
          <a:xfrm flipH="1" flipV="1">
            <a:off x="6177384" y="2208073"/>
            <a:ext cx="312" cy="261527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/>
          <p:cNvCxnSpPr>
            <a:stCxn id="11" idx="0"/>
            <a:endCxn id="10" idx="3"/>
          </p:cNvCxnSpPr>
          <p:nvPr/>
        </p:nvCxnSpPr>
        <p:spPr>
          <a:xfrm flipV="1">
            <a:off x="742591" y="2788425"/>
            <a:ext cx="6482" cy="43311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12" idx="0"/>
            <a:endCxn id="11" idx="4"/>
          </p:cNvCxnSpPr>
          <p:nvPr/>
        </p:nvCxnSpPr>
        <p:spPr>
          <a:xfrm flipV="1">
            <a:off x="742590" y="3567775"/>
            <a:ext cx="1" cy="25036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>
            <a:stCxn id="13" idx="0"/>
            <a:endCxn id="10" idx="5"/>
          </p:cNvCxnSpPr>
          <p:nvPr/>
        </p:nvCxnSpPr>
        <p:spPr>
          <a:xfrm flipH="1" flipV="1">
            <a:off x="2108415" y="2788425"/>
            <a:ext cx="483365" cy="44483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2591780" y="3579493"/>
            <a:ext cx="0" cy="28858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2591780" y="4214307"/>
            <a:ext cx="0" cy="29481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2591780" y="4855354"/>
            <a:ext cx="0" cy="30183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/>
          <p:nvPr/>
        </p:nvCxnSpPr>
        <p:spPr>
          <a:xfrm flipV="1">
            <a:off x="2591780" y="5503426"/>
            <a:ext cx="0" cy="26585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/>
          <p:nvPr/>
        </p:nvCxnSpPr>
        <p:spPr>
          <a:xfrm flipH="1" flipV="1">
            <a:off x="2591780" y="6115516"/>
            <a:ext cx="1" cy="20218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/>
          <p:cNvCxnSpPr>
            <a:stCxn id="20" idx="0"/>
            <a:endCxn id="19" idx="4"/>
          </p:cNvCxnSpPr>
          <p:nvPr/>
        </p:nvCxnSpPr>
        <p:spPr>
          <a:xfrm flipH="1" flipV="1">
            <a:off x="525922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stCxn id="21" idx="0"/>
            <a:endCxn id="20" idx="4"/>
          </p:cNvCxnSpPr>
          <p:nvPr/>
        </p:nvCxnSpPr>
        <p:spPr>
          <a:xfrm flipV="1">
            <a:off x="5259223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/>
          <p:nvPr/>
        </p:nvCxnSpPr>
        <p:spPr>
          <a:xfrm flipV="1">
            <a:off x="8019712" y="5287402"/>
            <a:ext cx="0" cy="35558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lipse 44"/>
          <p:cNvSpPr/>
          <p:nvPr/>
        </p:nvSpPr>
        <p:spPr>
          <a:xfrm>
            <a:off x="4301903" y="404664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8" name="Textfeld 47"/>
          <p:cNvSpPr txBox="1"/>
          <p:nvPr/>
        </p:nvSpPr>
        <p:spPr>
          <a:xfrm>
            <a:off x="5292080" y="827420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⊑</a:t>
            </a:r>
          </a:p>
        </p:txBody>
      </p:sp>
      <p:cxnSp>
        <p:nvCxnSpPr>
          <p:cNvPr id="49" name="Gerade Verbindung mit Pfeil 48"/>
          <p:cNvCxnSpPr>
            <a:stCxn id="45" idx="4"/>
            <a:endCxn id="5" idx="0"/>
          </p:cNvCxnSpPr>
          <p:nvPr/>
        </p:nvCxnSpPr>
        <p:spPr>
          <a:xfrm>
            <a:off x="5263103" y="750898"/>
            <a:ext cx="0" cy="468705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58" name="Inhaltsplatzhalter 2"/>
          <p:cNvSpPr txBox="1">
            <a:spLocks/>
          </p:cNvSpPr>
          <p:nvPr/>
        </p:nvSpPr>
        <p:spPr>
          <a:xfrm>
            <a:off x="0" y="332656"/>
            <a:ext cx="4298022" cy="5269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264538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9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298022" y="121960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4055925" y="1857533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698159" y="2469600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Ellipse 7"/>
          <p:cNvSpPr/>
          <p:nvPr/>
        </p:nvSpPr>
        <p:spPr>
          <a:xfrm>
            <a:off x="5846027" y="1861839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5436096" y="2469600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67544" y="2492896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11234" y="322154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53468" y="3818141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630580" y="3233259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630580" y="38680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630580" y="4509120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630580" y="5157192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7" name="Ellipse 16"/>
          <p:cNvSpPr/>
          <p:nvPr/>
        </p:nvSpPr>
        <p:spPr>
          <a:xfrm>
            <a:off x="2260580" y="5769282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1850721" y="631770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298022" y="49388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492786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451816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6" name="Gerade Verbindung mit Pfeil 25"/>
          <p:cNvCxnSpPr>
            <a:stCxn id="19" idx="2"/>
            <a:endCxn id="18" idx="3"/>
          </p:cNvCxnSpPr>
          <p:nvPr/>
        </p:nvCxnSpPr>
        <p:spPr>
          <a:xfrm flipH="1">
            <a:off x="3332840" y="5111990"/>
            <a:ext cx="965182" cy="140152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>
            <a:stCxn id="6" idx="0"/>
            <a:endCxn id="5" idx="3"/>
          </p:cNvCxnSpPr>
          <p:nvPr/>
        </p:nvCxnSpPr>
        <p:spPr>
          <a:xfrm flipV="1">
            <a:off x="4387282" y="1515132"/>
            <a:ext cx="192269" cy="342401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058512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7058512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7278112" y="5642987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220422" y="139272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/>
          <p:nvPr/>
        </p:nvCxnSpPr>
        <p:spPr>
          <a:xfrm>
            <a:off x="6220422" y="511199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56"/>
          <p:cNvCxnSpPr>
            <a:stCxn id="7" idx="1"/>
            <a:endCxn id="10" idx="6"/>
          </p:cNvCxnSpPr>
          <p:nvPr/>
        </p:nvCxnSpPr>
        <p:spPr>
          <a:xfrm rot="10800000" flipV="1">
            <a:off x="2389945" y="2665413"/>
            <a:ext cx="1308215" cy="599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8" idx="0"/>
            <a:endCxn id="5" idx="5"/>
          </p:cNvCxnSpPr>
          <p:nvPr/>
        </p:nvCxnSpPr>
        <p:spPr>
          <a:xfrm flipH="1" flipV="1">
            <a:off x="5938893" y="1515132"/>
            <a:ext cx="238491" cy="346707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7" idx="0"/>
            <a:endCxn id="6" idx="4"/>
          </p:cNvCxnSpPr>
          <p:nvPr/>
        </p:nvCxnSpPr>
        <p:spPr>
          <a:xfrm flipV="1">
            <a:off x="4387281" y="2203767"/>
            <a:ext cx="1" cy="26583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/>
          <p:cNvCxnSpPr>
            <a:stCxn id="9" idx="0"/>
            <a:endCxn id="8" idx="4"/>
          </p:cNvCxnSpPr>
          <p:nvPr/>
        </p:nvCxnSpPr>
        <p:spPr>
          <a:xfrm flipH="1" flipV="1">
            <a:off x="6177384" y="2208073"/>
            <a:ext cx="312" cy="261527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/>
          <p:cNvCxnSpPr>
            <a:stCxn id="11" idx="0"/>
            <a:endCxn id="10" idx="3"/>
          </p:cNvCxnSpPr>
          <p:nvPr/>
        </p:nvCxnSpPr>
        <p:spPr>
          <a:xfrm flipV="1">
            <a:off x="742591" y="2788425"/>
            <a:ext cx="6482" cy="43311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12" idx="0"/>
            <a:endCxn id="11" idx="4"/>
          </p:cNvCxnSpPr>
          <p:nvPr/>
        </p:nvCxnSpPr>
        <p:spPr>
          <a:xfrm flipV="1">
            <a:off x="742590" y="3567775"/>
            <a:ext cx="1" cy="25036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>
            <a:stCxn id="13" idx="0"/>
            <a:endCxn id="10" idx="5"/>
          </p:cNvCxnSpPr>
          <p:nvPr/>
        </p:nvCxnSpPr>
        <p:spPr>
          <a:xfrm flipH="1" flipV="1">
            <a:off x="2108415" y="2788425"/>
            <a:ext cx="483365" cy="44483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2591780" y="3579493"/>
            <a:ext cx="0" cy="28858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2591780" y="4214307"/>
            <a:ext cx="0" cy="29481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2591780" y="4855354"/>
            <a:ext cx="0" cy="30183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/>
          <p:nvPr/>
        </p:nvCxnSpPr>
        <p:spPr>
          <a:xfrm flipV="1">
            <a:off x="2591780" y="5503426"/>
            <a:ext cx="0" cy="26585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/>
          <p:nvPr/>
        </p:nvCxnSpPr>
        <p:spPr>
          <a:xfrm flipH="1" flipV="1">
            <a:off x="2591780" y="6115516"/>
            <a:ext cx="1" cy="20218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/>
          <p:cNvCxnSpPr>
            <a:stCxn id="20" idx="0"/>
            <a:endCxn id="19" idx="4"/>
          </p:cNvCxnSpPr>
          <p:nvPr/>
        </p:nvCxnSpPr>
        <p:spPr>
          <a:xfrm flipH="1" flipV="1">
            <a:off x="525922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stCxn id="21" idx="0"/>
            <a:endCxn id="20" idx="4"/>
          </p:cNvCxnSpPr>
          <p:nvPr/>
        </p:nvCxnSpPr>
        <p:spPr>
          <a:xfrm flipV="1">
            <a:off x="5259223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/>
          <p:nvPr/>
        </p:nvCxnSpPr>
        <p:spPr>
          <a:xfrm flipV="1">
            <a:off x="8019712" y="5287402"/>
            <a:ext cx="0" cy="35558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55" name="Inhaltsplatzhalter 2"/>
          <p:cNvSpPr txBox="1">
            <a:spLocks/>
          </p:cNvSpPr>
          <p:nvPr/>
        </p:nvSpPr>
        <p:spPr>
          <a:xfrm>
            <a:off x="0" y="332656"/>
            <a:ext cx="6711476" cy="526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263229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10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298022" y="121960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4055925" y="1857533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698159" y="2469600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5436096" y="2469600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67544" y="2492896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11234" y="322154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53468" y="3818141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630580" y="3233259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630580" y="38680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630580" y="4509120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630580" y="5157192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7" name="Ellipse 16"/>
          <p:cNvSpPr/>
          <p:nvPr/>
        </p:nvSpPr>
        <p:spPr>
          <a:xfrm>
            <a:off x="2260580" y="5769282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1850721" y="631770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298022" y="49388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492786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451816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6" name="Gerade Verbindung mit Pfeil 25"/>
          <p:cNvCxnSpPr>
            <a:stCxn id="19" idx="2"/>
            <a:endCxn id="18" idx="3"/>
          </p:cNvCxnSpPr>
          <p:nvPr/>
        </p:nvCxnSpPr>
        <p:spPr>
          <a:xfrm flipH="1">
            <a:off x="3332840" y="5111990"/>
            <a:ext cx="965182" cy="140152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>
            <a:stCxn id="6" idx="0"/>
            <a:endCxn id="5" idx="3"/>
          </p:cNvCxnSpPr>
          <p:nvPr/>
        </p:nvCxnSpPr>
        <p:spPr>
          <a:xfrm flipV="1">
            <a:off x="4387282" y="1515132"/>
            <a:ext cx="192269" cy="342401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058512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7058512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7278112" y="5642987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220422" y="139272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/>
          <p:nvPr/>
        </p:nvCxnSpPr>
        <p:spPr>
          <a:xfrm>
            <a:off x="6220422" y="511199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56"/>
          <p:cNvCxnSpPr>
            <a:stCxn id="7" idx="1"/>
            <a:endCxn id="10" idx="6"/>
          </p:cNvCxnSpPr>
          <p:nvPr/>
        </p:nvCxnSpPr>
        <p:spPr>
          <a:xfrm rot="10800000" flipV="1">
            <a:off x="2389945" y="2665413"/>
            <a:ext cx="1308215" cy="599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9" idx="0"/>
            <a:endCxn id="5" idx="5"/>
          </p:cNvCxnSpPr>
          <p:nvPr/>
        </p:nvCxnSpPr>
        <p:spPr>
          <a:xfrm flipH="1" flipV="1">
            <a:off x="5938893" y="1515132"/>
            <a:ext cx="238803" cy="954468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7" idx="0"/>
            <a:endCxn id="6" idx="4"/>
          </p:cNvCxnSpPr>
          <p:nvPr/>
        </p:nvCxnSpPr>
        <p:spPr>
          <a:xfrm flipV="1">
            <a:off x="4387281" y="2203767"/>
            <a:ext cx="1" cy="26583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/>
          <p:cNvCxnSpPr>
            <a:stCxn id="11" idx="0"/>
            <a:endCxn id="10" idx="3"/>
          </p:cNvCxnSpPr>
          <p:nvPr/>
        </p:nvCxnSpPr>
        <p:spPr>
          <a:xfrm flipV="1">
            <a:off x="742591" y="2788425"/>
            <a:ext cx="6482" cy="43311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12" idx="0"/>
            <a:endCxn id="11" idx="4"/>
          </p:cNvCxnSpPr>
          <p:nvPr/>
        </p:nvCxnSpPr>
        <p:spPr>
          <a:xfrm flipV="1">
            <a:off x="742590" y="3567775"/>
            <a:ext cx="1" cy="25036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>
            <a:stCxn id="13" idx="0"/>
            <a:endCxn id="10" idx="5"/>
          </p:cNvCxnSpPr>
          <p:nvPr/>
        </p:nvCxnSpPr>
        <p:spPr>
          <a:xfrm flipH="1" flipV="1">
            <a:off x="2108415" y="2788425"/>
            <a:ext cx="483365" cy="44483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2591780" y="3579493"/>
            <a:ext cx="0" cy="28858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2591780" y="4214307"/>
            <a:ext cx="0" cy="29481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2591780" y="4855354"/>
            <a:ext cx="0" cy="30183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/>
          <p:nvPr/>
        </p:nvCxnSpPr>
        <p:spPr>
          <a:xfrm flipV="1">
            <a:off x="2591780" y="5503426"/>
            <a:ext cx="0" cy="26585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/>
          <p:nvPr/>
        </p:nvCxnSpPr>
        <p:spPr>
          <a:xfrm flipH="1" flipV="1">
            <a:off x="2591780" y="6115516"/>
            <a:ext cx="1" cy="20218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/>
          <p:cNvCxnSpPr>
            <a:stCxn id="20" idx="0"/>
            <a:endCxn id="19" idx="4"/>
          </p:cNvCxnSpPr>
          <p:nvPr/>
        </p:nvCxnSpPr>
        <p:spPr>
          <a:xfrm flipH="1" flipV="1">
            <a:off x="525922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stCxn id="21" idx="0"/>
            <a:endCxn id="20" idx="4"/>
          </p:cNvCxnSpPr>
          <p:nvPr/>
        </p:nvCxnSpPr>
        <p:spPr>
          <a:xfrm flipV="1">
            <a:off x="5259223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/>
          <p:nvPr/>
        </p:nvCxnSpPr>
        <p:spPr>
          <a:xfrm flipV="1">
            <a:off x="8019712" y="5287402"/>
            <a:ext cx="0" cy="35558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6111303" y="1870409"/>
            <a:ext cx="1810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name_Element_String</a:t>
            </a:r>
            <a:endParaRPr lang="en-US" sz="1400">
              <a:solidFill>
                <a:srgbClr val="FF0000"/>
              </a:solidFill>
            </a:endParaRPr>
          </a:p>
        </p:txBody>
      </p:sp>
      <p:cxnSp>
        <p:nvCxnSpPr>
          <p:cNvPr id="45" name="Gerade Verbindung mit Pfeil 44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54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323573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11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298022" y="121960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4055925" y="1857533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698159" y="2469600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5436000" y="2469600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rgbClr val="FF0000"/>
                </a:solidFill>
              </a:rPr>
              <a:t>"Variable"</a:t>
            </a:r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67544" y="2492896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11234" y="322154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53468" y="3818141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630580" y="3233259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630580" y="38680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630580" y="4509120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630580" y="5157192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7" name="Ellipse 16"/>
          <p:cNvSpPr/>
          <p:nvPr/>
        </p:nvSpPr>
        <p:spPr>
          <a:xfrm>
            <a:off x="2260580" y="5769282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1850721" y="631770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298022" y="49388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492786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451816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6" name="Gerade Verbindung mit Pfeil 25"/>
          <p:cNvCxnSpPr>
            <a:stCxn id="19" idx="2"/>
            <a:endCxn id="18" idx="3"/>
          </p:cNvCxnSpPr>
          <p:nvPr/>
        </p:nvCxnSpPr>
        <p:spPr>
          <a:xfrm flipH="1">
            <a:off x="3332840" y="5111990"/>
            <a:ext cx="965182" cy="140152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>
            <a:stCxn id="6" idx="0"/>
            <a:endCxn id="5" idx="3"/>
          </p:cNvCxnSpPr>
          <p:nvPr/>
        </p:nvCxnSpPr>
        <p:spPr>
          <a:xfrm flipV="1">
            <a:off x="4387282" y="1515132"/>
            <a:ext cx="192269" cy="342401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058512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7058512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7278112" y="5642987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220422" y="139272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/>
          <p:nvPr/>
        </p:nvCxnSpPr>
        <p:spPr>
          <a:xfrm>
            <a:off x="6220422" y="511199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56"/>
          <p:cNvCxnSpPr>
            <a:stCxn id="7" idx="1"/>
            <a:endCxn id="10" idx="6"/>
          </p:cNvCxnSpPr>
          <p:nvPr/>
        </p:nvCxnSpPr>
        <p:spPr>
          <a:xfrm rot="10800000" flipV="1">
            <a:off x="2389945" y="2665413"/>
            <a:ext cx="1308215" cy="599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9" idx="0"/>
            <a:endCxn id="5" idx="5"/>
          </p:cNvCxnSpPr>
          <p:nvPr/>
        </p:nvCxnSpPr>
        <p:spPr>
          <a:xfrm flipH="1" flipV="1">
            <a:off x="5938893" y="1515132"/>
            <a:ext cx="238707" cy="95446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7" idx="0"/>
            <a:endCxn id="6" idx="4"/>
          </p:cNvCxnSpPr>
          <p:nvPr/>
        </p:nvCxnSpPr>
        <p:spPr>
          <a:xfrm flipV="1">
            <a:off x="4387281" y="2203767"/>
            <a:ext cx="1" cy="26583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/>
          <p:cNvCxnSpPr>
            <a:stCxn id="11" idx="0"/>
            <a:endCxn id="10" idx="3"/>
          </p:cNvCxnSpPr>
          <p:nvPr/>
        </p:nvCxnSpPr>
        <p:spPr>
          <a:xfrm flipV="1">
            <a:off x="742591" y="2788425"/>
            <a:ext cx="6482" cy="43311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12" idx="0"/>
            <a:endCxn id="11" idx="4"/>
          </p:cNvCxnSpPr>
          <p:nvPr/>
        </p:nvCxnSpPr>
        <p:spPr>
          <a:xfrm flipV="1">
            <a:off x="742590" y="3567775"/>
            <a:ext cx="1" cy="25036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>
            <a:stCxn id="13" idx="0"/>
            <a:endCxn id="10" idx="5"/>
          </p:cNvCxnSpPr>
          <p:nvPr/>
        </p:nvCxnSpPr>
        <p:spPr>
          <a:xfrm flipH="1" flipV="1">
            <a:off x="2108415" y="2788425"/>
            <a:ext cx="483365" cy="44483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2591780" y="3579493"/>
            <a:ext cx="0" cy="28858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2591780" y="4214307"/>
            <a:ext cx="0" cy="29481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2591780" y="4855354"/>
            <a:ext cx="0" cy="30183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/>
          <p:nvPr/>
        </p:nvCxnSpPr>
        <p:spPr>
          <a:xfrm flipV="1">
            <a:off x="2591780" y="5503426"/>
            <a:ext cx="0" cy="26585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/>
          <p:nvPr/>
        </p:nvCxnSpPr>
        <p:spPr>
          <a:xfrm flipH="1" flipV="1">
            <a:off x="2591780" y="6115516"/>
            <a:ext cx="1" cy="20218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/>
          <p:cNvCxnSpPr>
            <a:stCxn id="20" idx="0"/>
            <a:endCxn id="19" idx="4"/>
          </p:cNvCxnSpPr>
          <p:nvPr/>
        </p:nvCxnSpPr>
        <p:spPr>
          <a:xfrm flipH="1" flipV="1">
            <a:off x="525922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stCxn id="21" idx="0"/>
            <a:endCxn id="20" idx="4"/>
          </p:cNvCxnSpPr>
          <p:nvPr/>
        </p:nvCxnSpPr>
        <p:spPr>
          <a:xfrm flipV="1">
            <a:off x="5259223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/>
          <p:nvPr/>
        </p:nvCxnSpPr>
        <p:spPr>
          <a:xfrm flipV="1">
            <a:off x="8019712" y="5287402"/>
            <a:ext cx="0" cy="35558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6111303" y="1870409"/>
            <a:ext cx="1810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name_Element_String</a:t>
            </a:r>
            <a:endParaRPr lang="en-US" sz="1400"/>
          </a:p>
        </p:txBody>
      </p:sp>
      <p:cxnSp>
        <p:nvCxnSpPr>
          <p:cNvPr id="51" name="Gerade Verbindung mit Pfeil 50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54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53455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12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298022" y="121960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4055925" y="1857533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698159" y="2469600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5436096" y="2469600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67544" y="2492896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11234" y="322154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53468" y="3818141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630580" y="3233259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630580" y="38680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630580" y="4509120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630580" y="5157192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7" name="Ellipse 16"/>
          <p:cNvSpPr/>
          <p:nvPr/>
        </p:nvSpPr>
        <p:spPr>
          <a:xfrm>
            <a:off x="2260580" y="5769282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1850721" y="631770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298022" y="49388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492786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451816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6" name="Gerade Verbindung mit Pfeil 25"/>
          <p:cNvCxnSpPr>
            <a:stCxn id="19" idx="2"/>
            <a:endCxn id="18" idx="3"/>
          </p:cNvCxnSpPr>
          <p:nvPr/>
        </p:nvCxnSpPr>
        <p:spPr>
          <a:xfrm flipH="1">
            <a:off x="3332840" y="5111990"/>
            <a:ext cx="965182" cy="140152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>
            <a:stCxn id="6" idx="0"/>
            <a:endCxn id="5" idx="3"/>
          </p:cNvCxnSpPr>
          <p:nvPr/>
        </p:nvCxnSpPr>
        <p:spPr>
          <a:xfrm flipV="1">
            <a:off x="4387282" y="1515132"/>
            <a:ext cx="192269" cy="342401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058512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7058512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7278112" y="5642987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220422" y="139272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/>
          <p:nvPr/>
        </p:nvCxnSpPr>
        <p:spPr>
          <a:xfrm>
            <a:off x="6220422" y="511199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56"/>
          <p:cNvCxnSpPr>
            <a:stCxn id="7" idx="1"/>
            <a:endCxn id="10" idx="6"/>
          </p:cNvCxnSpPr>
          <p:nvPr/>
        </p:nvCxnSpPr>
        <p:spPr>
          <a:xfrm rot="10800000" flipV="1">
            <a:off x="2389945" y="2665413"/>
            <a:ext cx="1308215" cy="599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9" idx="0"/>
            <a:endCxn id="5" idx="5"/>
          </p:cNvCxnSpPr>
          <p:nvPr/>
        </p:nvCxnSpPr>
        <p:spPr>
          <a:xfrm flipH="1" flipV="1">
            <a:off x="5938893" y="1515132"/>
            <a:ext cx="238803" cy="95446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/>
          <p:cNvCxnSpPr>
            <a:stCxn id="7" idx="0"/>
            <a:endCxn id="6" idx="4"/>
          </p:cNvCxnSpPr>
          <p:nvPr/>
        </p:nvCxnSpPr>
        <p:spPr>
          <a:xfrm flipV="1">
            <a:off x="4387281" y="2203767"/>
            <a:ext cx="1" cy="265833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/>
          <p:cNvCxnSpPr>
            <a:stCxn id="11" idx="0"/>
            <a:endCxn id="10" idx="3"/>
          </p:cNvCxnSpPr>
          <p:nvPr/>
        </p:nvCxnSpPr>
        <p:spPr>
          <a:xfrm flipV="1">
            <a:off x="742591" y="2788425"/>
            <a:ext cx="6482" cy="43311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12" idx="0"/>
            <a:endCxn id="11" idx="4"/>
          </p:cNvCxnSpPr>
          <p:nvPr/>
        </p:nvCxnSpPr>
        <p:spPr>
          <a:xfrm flipV="1">
            <a:off x="742590" y="3567775"/>
            <a:ext cx="1" cy="25036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>
            <a:stCxn id="13" idx="0"/>
            <a:endCxn id="10" idx="5"/>
          </p:cNvCxnSpPr>
          <p:nvPr/>
        </p:nvCxnSpPr>
        <p:spPr>
          <a:xfrm flipH="1" flipV="1">
            <a:off x="2108415" y="2788425"/>
            <a:ext cx="483365" cy="44483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2591780" y="3579493"/>
            <a:ext cx="0" cy="28858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2591780" y="4214307"/>
            <a:ext cx="0" cy="29481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2591780" y="4855354"/>
            <a:ext cx="0" cy="30183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/>
          <p:nvPr/>
        </p:nvCxnSpPr>
        <p:spPr>
          <a:xfrm flipV="1">
            <a:off x="2591780" y="5503426"/>
            <a:ext cx="0" cy="26585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/>
          <p:nvPr/>
        </p:nvCxnSpPr>
        <p:spPr>
          <a:xfrm flipH="1" flipV="1">
            <a:off x="2591780" y="6115516"/>
            <a:ext cx="1" cy="20218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/>
          <p:cNvCxnSpPr>
            <a:stCxn id="20" idx="0"/>
            <a:endCxn id="19" idx="4"/>
          </p:cNvCxnSpPr>
          <p:nvPr/>
        </p:nvCxnSpPr>
        <p:spPr>
          <a:xfrm flipH="1" flipV="1">
            <a:off x="525922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stCxn id="21" idx="0"/>
            <a:endCxn id="20" idx="4"/>
          </p:cNvCxnSpPr>
          <p:nvPr/>
        </p:nvCxnSpPr>
        <p:spPr>
          <a:xfrm flipV="1">
            <a:off x="5259223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/>
          <p:nvPr/>
        </p:nvCxnSpPr>
        <p:spPr>
          <a:xfrm flipV="1">
            <a:off x="8019712" y="5287402"/>
            <a:ext cx="0" cy="35558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6111303" y="1870409"/>
            <a:ext cx="1810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name_Element_String</a:t>
            </a:r>
            <a:endParaRPr lang="en-US" sz="1400"/>
          </a:p>
        </p:txBody>
      </p:sp>
      <p:cxnSp>
        <p:nvCxnSpPr>
          <p:cNvPr id="45" name="Gerade Verbindung mit Pfeil 44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54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08964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13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298022" y="121960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698159" y="2469600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5436096" y="2469600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67544" y="2492896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11234" y="322154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53468" y="3818141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630580" y="3233259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630580" y="38680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630580" y="4509120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630580" y="5157192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7" name="Ellipse 16"/>
          <p:cNvSpPr/>
          <p:nvPr/>
        </p:nvSpPr>
        <p:spPr>
          <a:xfrm>
            <a:off x="2260580" y="5769282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1850721" y="631770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298022" y="49388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492786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451816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6" name="Gerade Verbindung mit Pfeil 25"/>
          <p:cNvCxnSpPr>
            <a:stCxn id="19" idx="2"/>
            <a:endCxn id="18" idx="3"/>
          </p:cNvCxnSpPr>
          <p:nvPr/>
        </p:nvCxnSpPr>
        <p:spPr>
          <a:xfrm flipH="1">
            <a:off x="3332840" y="5111990"/>
            <a:ext cx="965182" cy="140152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>
            <a:stCxn id="7" idx="0"/>
            <a:endCxn id="5" idx="3"/>
          </p:cNvCxnSpPr>
          <p:nvPr/>
        </p:nvCxnSpPr>
        <p:spPr>
          <a:xfrm flipV="1">
            <a:off x="4387281" y="1515132"/>
            <a:ext cx="192270" cy="954468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058512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7058512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7278112" y="5642987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220422" y="139272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/>
          <p:nvPr/>
        </p:nvCxnSpPr>
        <p:spPr>
          <a:xfrm>
            <a:off x="6220422" y="511199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56"/>
          <p:cNvCxnSpPr>
            <a:stCxn id="7" idx="1"/>
            <a:endCxn id="10" idx="6"/>
          </p:cNvCxnSpPr>
          <p:nvPr/>
        </p:nvCxnSpPr>
        <p:spPr>
          <a:xfrm rot="10800000" flipV="1">
            <a:off x="2389945" y="2665413"/>
            <a:ext cx="1308215" cy="599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9" idx="0"/>
            <a:endCxn id="5" idx="5"/>
          </p:cNvCxnSpPr>
          <p:nvPr/>
        </p:nvCxnSpPr>
        <p:spPr>
          <a:xfrm flipH="1" flipV="1">
            <a:off x="5938893" y="1515132"/>
            <a:ext cx="238803" cy="95446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/>
          <p:cNvCxnSpPr>
            <a:stCxn id="11" idx="0"/>
            <a:endCxn id="10" idx="3"/>
          </p:cNvCxnSpPr>
          <p:nvPr/>
        </p:nvCxnSpPr>
        <p:spPr>
          <a:xfrm flipV="1">
            <a:off x="742591" y="2788425"/>
            <a:ext cx="6482" cy="43311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12" idx="0"/>
            <a:endCxn id="11" idx="4"/>
          </p:cNvCxnSpPr>
          <p:nvPr/>
        </p:nvCxnSpPr>
        <p:spPr>
          <a:xfrm flipV="1">
            <a:off x="742590" y="3567775"/>
            <a:ext cx="1" cy="25036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>
            <a:stCxn id="13" idx="0"/>
            <a:endCxn id="10" idx="5"/>
          </p:cNvCxnSpPr>
          <p:nvPr/>
        </p:nvCxnSpPr>
        <p:spPr>
          <a:xfrm flipH="1" flipV="1">
            <a:off x="2108415" y="2788425"/>
            <a:ext cx="483365" cy="44483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2591780" y="3579493"/>
            <a:ext cx="0" cy="28858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2591780" y="4214307"/>
            <a:ext cx="0" cy="29481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2591780" y="4855354"/>
            <a:ext cx="0" cy="30183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/>
          <p:nvPr/>
        </p:nvCxnSpPr>
        <p:spPr>
          <a:xfrm flipV="1">
            <a:off x="2591780" y="5503426"/>
            <a:ext cx="0" cy="26585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/>
          <p:nvPr/>
        </p:nvCxnSpPr>
        <p:spPr>
          <a:xfrm flipH="1" flipV="1">
            <a:off x="2591780" y="6115516"/>
            <a:ext cx="1" cy="20218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/>
          <p:cNvCxnSpPr>
            <a:stCxn id="20" idx="0"/>
            <a:endCxn id="19" idx="4"/>
          </p:cNvCxnSpPr>
          <p:nvPr/>
        </p:nvCxnSpPr>
        <p:spPr>
          <a:xfrm flipH="1" flipV="1">
            <a:off x="525922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stCxn id="21" idx="0"/>
            <a:endCxn id="20" idx="4"/>
          </p:cNvCxnSpPr>
          <p:nvPr/>
        </p:nvCxnSpPr>
        <p:spPr>
          <a:xfrm flipV="1">
            <a:off x="5259223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/>
          <p:nvPr/>
        </p:nvCxnSpPr>
        <p:spPr>
          <a:xfrm flipV="1">
            <a:off x="8019712" y="5287402"/>
            <a:ext cx="0" cy="35558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6111303" y="1870409"/>
            <a:ext cx="1810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name_Element_String</a:t>
            </a:r>
            <a:endParaRPr lang="en-US" sz="1400"/>
          </a:p>
        </p:txBody>
      </p:sp>
      <p:sp>
        <p:nvSpPr>
          <p:cNvPr id="45" name="Textfeld 44"/>
          <p:cNvSpPr txBox="1"/>
          <p:nvPr/>
        </p:nvSpPr>
        <p:spPr>
          <a:xfrm>
            <a:off x="2784777" y="1870408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type_Element_Type</a:t>
            </a:r>
            <a:endParaRPr lang="en-US" sz="1400">
              <a:solidFill>
                <a:srgbClr val="FF0000"/>
              </a:solidFill>
            </a:endParaRPr>
          </a:p>
        </p:txBody>
      </p:sp>
      <p:cxnSp>
        <p:nvCxnSpPr>
          <p:cNvPr id="52" name="Gerade Verbindung mit Pfeil 51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55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633563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14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298022" y="121960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698159" y="2469600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5436096" y="2469600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67544" y="2492896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11234" y="322154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53468" y="3818141"/>
            <a:ext cx="1378244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630580" y="3233259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630580" y="38680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630580" y="4509120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630580" y="5157192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7" name="Ellipse 16"/>
          <p:cNvSpPr/>
          <p:nvPr/>
        </p:nvSpPr>
        <p:spPr>
          <a:xfrm>
            <a:off x="2260580" y="5769282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1850721" y="631770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298022" y="4938873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492786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451816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6" name="Gerade Verbindung mit Pfeil 25"/>
          <p:cNvCxnSpPr>
            <a:stCxn id="19" idx="2"/>
            <a:endCxn id="18" idx="3"/>
          </p:cNvCxnSpPr>
          <p:nvPr/>
        </p:nvCxnSpPr>
        <p:spPr>
          <a:xfrm flipH="1">
            <a:off x="3332840" y="5111990"/>
            <a:ext cx="965182" cy="140152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/>
          <p:cNvCxnSpPr>
            <a:stCxn id="7" idx="0"/>
            <a:endCxn id="5" idx="3"/>
          </p:cNvCxnSpPr>
          <p:nvPr/>
        </p:nvCxnSpPr>
        <p:spPr>
          <a:xfrm flipV="1">
            <a:off x="4387281" y="1515132"/>
            <a:ext cx="192270" cy="95446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058512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7058512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7278112" y="5642987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220422" y="139272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/>
          <p:nvPr/>
        </p:nvCxnSpPr>
        <p:spPr>
          <a:xfrm>
            <a:off x="6220422" y="5111990"/>
            <a:ext cx="83809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winkelte Verbindung 56"/>
          <p:cNvCxnSpPr>
            <a:stCxn id="7" idx="1"/>
            <a:endCxn id="10" idx="6"/>
          </p:cNvCxnSpPr>
          <p:nvPr/>
        </p:nvCxnSpPr>
        <p:spPr>
          <a:xfrm rot="10800000" flipV="1">
            <a:off x="2389945" y="2665413"/>
            <a:ext cx="1308215" cy="599"/>
          </a:xfrm>
          <a:prstGeom prst="bentConnector3">
            <a:avLst>
              <a:gd name="adj1" fmla="val 50000"/>
            </a:avLst>
          </a:prstGeom>
          <a:ln w="15875">
            <a:solidFill>
              <a:srgbClr val="FF0000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>
            <a:stCxn id="9" idx="0"/>
            <a:endCxn id="5" idx="5"/>
          </p:cNvCxnSpPr>
          <p:nvPr/>
        </p:nvCxnSpPr>
        <p:spPr>
          <a:xfrm flipH="1" flipV="1">
            <a:off x="5938893" y="1515132"/>
            <a:ext cx="238803" cy="95446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/>
          <p:cNvCxnSpPr>
            <a:stCxn id="11" idx="0"/>
            <a:endCxn id="10" idx="3"/>
          </p:cNvCxnSpPr>
          <p:nvPr/>
        </p:nvCxnSpPr>
        <p:spPr>
          <a:xfrm flipV="1">
            <a:off x="742591" y="2788425"/>
            <a:ext cx="6482" cy="433116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/>
          <p:cNvCxnSpPr>
            <a:stCxn id="12" idx="0"/>
            <a:endCxn id="11" idx="4"/>
          </p:cNvCxnSpPr>
          <p:nvPr/>
        </p:nvCxnSpPr>
        <p:spPr>
          <a:xfrm flipV="1">
            <a:off x="742590" y="3567775"/>
            <a:ext cx="1" cy="250366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>
            <a:stCxn id="13" idx="0"/>
            <a:endCxn id="10" idx="5"/>
          </p:cNvCxnSpPr>
          <p:nvPr/>
        </p:nvCxnSpPr>
        <p:spPr>
          <a:xfrm flipH="1" flipV="1">
            <a:off x="2108415" y="2788425"/>
            <a:ext cx="483365" cy="44483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2591780" y="3579493"/>
            <a:ext cx="0" cy="28858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2591780" y="4214307"/>
            <a:ext cx="0" cy="29481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2591780" y="4855354"/>
            <a:ext cx="0" cy="30183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/>
          <p:nvPr/>
        </p:nvCxnSpPr>
        <p:spPr>
          <a:xfrm flipV="1">
            <a:off x="2591780" y="5503426"/>
            <a:ext cx="0" cy="26585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/>
          <p:nvPr/>
        </p:nvCxnSpPr>
        <p:spPr>
          <a:xfrm flipH="1" flipV="1">
            <a:off x="2591780" y="6115516"/>
            <a:ext cx="1" cy="20218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/>
          <p:cNvCxnSpPr>
            <a:stCxn id="20" idx="0"/>
            <a:endCxn id="19" idx="4"/>
          </p:cNvCxnSpPr>
          <p:nvPr/>
        </p:nvCxnSpPr>
        <p:spPr>
          <a:xfrm flipH="1" flipV="1">
            <a:off x="525922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stCxn id="21" idx="0"/>
            <a:endCxn id="20" idx="4"/>
          </p:cNvCxnSpPr>
          <p:nvPr/>
        </p:nvCxnSpPr>
        <p:spPr>
          <a:xfrm flipV="1">
            <a:off x="5259223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/>
          <p:nvPr/>
        </p:nvCxnSpPr>
        <p:spPr>
          <a:xfrm flipV="1">
            <a:off x="8019712" y="5287402"/>
            <a:ext cx="0" cy="35558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6111303" y="1870409"/>
            <a:ext cx="1810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name_Element_String</a:t>
            </a:r>
            <a:endParaRPr lang="en-US" sz="1400"/>
          </a:p>
        </p:txBody>
      </p:sp>
      <p:sp>
        <p:nvSpPr>
          <p:cNvPr id="45" name="Textfeld 44"/>
          <p:cNvSpPr txBox="1"/>
          <p:nvPr/>
        </p:nvSpPr>
        <p:spPr>
          <a:xfrm>
            <a:off x="2784777" y="1870408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cxnSp>
        <p:nvCxnSpPr>
          <p:cNvPr id="52" name="Gerade Verbindung mit Pfeil 51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55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400863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15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e</a:t>
            </a:r>
            <a:r>
              <a:rPr lang="de-DE" sz="1600" smtClean="0">
                <a:solidFill>
                  <a:schemeClr val="tx1"/>
                </a:solidFill>
              </a:rPr>
              <a:t>xtension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type_Element_Type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1130640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8" name="Gerade Verbindung mit Pfeil 57"/>
          <p:cNvCxnSpPr>
            <a:endCxn id="54" idx="3"/>
          </p:cNvCxnSpPr>
          <p:nvPr/>
        </p:nvCxnSpPr>
        <p:spPr>
          <a:xfrm flipH="1">
            <a:off x="2612759" y="5111990"/>
            <a:ext cx="1398201" cy="137136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lipse 62"/>
          <p:cNvSpPr/>
          <p:nvPr/>
        </p:nvSpPr>
        <p:spPr>
          <a:xfrm>
            <a:off x="1547664" y="5624591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64" name="Gerade Verbindung mit Pfeil 63"/>
          <p:cNvCxnSpPr>
            <a:stCxn id="63" idx="0"/>
          </p:cNvCxnSpPr>
          <p:nvPr/>
        </p:nvCxnSpPr>
        <p:spPr>
          <a:xfrm flipH="1" flipV="1">
            <a:off x="1873746" y="5287402"/>
            <a:ext cx="5118" cy="33718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endCxn id="63" idx="4"/>
          </p:cNvCxnSpPr>
          <p:nvPr/>
        </p:nvCxnSpPr>
        <p:spPr>
          <a:xfrm flipV="1">
            <a:off x="1878864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272414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16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e</a:t>
            </a:r>
            <a:r>
              <a:rPr lang="de-DE" sz="1600" smtClean="0">
                <a:solidFill>
                  <a:schemeClr val="tx1"/>
                </a:solidFill>
              </a:rPr>
              <a:t>xtension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54" name="Rechteck 53"/>
          <p:cNvSpPr/>
          <p:nvPr/>
        </p:nvSpPr>
        <p:spPr>
          <a:xfrm>
            <a:off x="1130640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8" name="Gerade Verbindung mit Pfeil 57"/>
          <p:cNvCxnSpPr>
            <a:endCxn id="54" idx="3"/>
          </p:cNvCxnSpPr>
          <p:nvPr/>
        </p:nvCxnSpPr>
        <p:spPr>
          <a:xfrm flipH="1">
            <a:off x="2612759" y="5111990"/>
            <a:ext cx="1398201" cy="137136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lipse 62"/>
          <p:cNvSpPr/>
          <p:nvPr/>
        </p:nvSpPr>
        <p:spPr>
          <a:xfrm>
            <a:off x="1547664" y="5624591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64" name="Gerade Verbindung mit Pfeil 63"/>
          <p:cNvCxnSpPr>
            <a:stCxn id="63" idx="0"/>
          </p:cNvCxnSpPr>
          <p:nvPr/>
        </p:nvCxnSpPr>
        <p:spPr>
          <a:xfrm flipH="1" flipV="1">
            <a:off x="1873746" y="5287402"/>
            <a:ext cx="5118" cy="33718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endCxn id="63" idx="4"/>
          </p:cNvCxnSpPr>
          <p:nvPr/>
        </p:nvCxnSpPr>
        <p:spPr>
          <a:xfrm flipV="1">
            <a:off x="1878864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hteck 65"/>
          <p:cNvSpPr/>
          <p:nvPr/>
        </p:nvSpPr>
        <p:spPr>
          <a:xfrm>
            <a:off x="4503600" y="116632"/>
            <a:ext cx="14832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"VariableType"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67" name="Gerade Verbindung mit Pfeil 66"/>
          <p:cNvCxnSpPr>
            <a:stCxn id="66" idx="1"/>
            <a:endCxn id="10" idx="0"/>
          </p:cNvCxnSpPr>
          <p:nvPr/>
        </p:nvCxnSpPr>
        <p:spPr>
          <a:xfrm flipH="1">
            <a:off x="1868202" y="312446"/>
            <a:ext cx="2635398" cy="907157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feld 68"/>
          <p:cNvSpPr txBox="1"/>
          <p:nvPr/>
        </p:nvSpPr>
        <p:spPr>
          <a:xfrm>
            <a:off x="3682546" y="548680"/>
            <a:ext cx="21855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name_ComplexType_String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70" name="Ellipse 69"/>
          <p:cNvSpPr/>
          <p:nvPr/>
        </p:nvSpPr>
        <p:spPr>
          <a:xfrm>
            <a:off x="273336" y="117285"/>
            <a:ext cx="19224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ComplexType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1" name="Textfeld 70"/>
          <p:cNvSpPr txBox="1"/>
          <p:nvPr/>
        </p:nvSpPr>
        <p:spPr>
          <a:xfrm>
            <a:off x="1547664" y="548680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⊑</a:t>
            </a:r>
          </a:p>
        </p:txBody>
      </p:sp>
      <p:cxnSp>
        <p:nvCxnSpPr>
          <p:cNvPr id="72" name="Gerade Verbindung mit Pfeil 71"/>
          <p:cNvCxnSpPr>
            <a:stCxn id="70" idx="4"/>
            <a:endCxn id="10" idx="0"/>
          </p:cNvCxnSpPr>
          <p:nvPr/>
        </p:nvCxnSpPr>
        <p:spPr>
          <a:xfrm>
            <a:off x="1234536" y="463519"/>
            <a:ext cx="633666" cy="756084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16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17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e</a:t>
            </a:r>
            <a:r>
              <a:rPr lang="de-DE" sz="1600" smtClean="0">
                <a:solidFill>
                  <a:schemeClr val="tx1"/>
                </a:solidFill>
              </a:rPr>
              <a:t>xtension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54" name="Rechteck 53"/>
          <p:cNvSpPr/>
          <p:nvPr/>
        </p:nvSpPr>
        <p:spPr>
          <a:xfrm>
            <a:off x="1130640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8" name="Gerade Verbindung mit Pfeil 57"/>
          <p:cNvCxnSpPr>
            <a:endCxn id="54" idx="3"/>
          </p:cNvCxnSpPr>
          <p:nvPr/>
        </p:nvCxnSpPr>
        <p:spPr>
          <a:xfrm flipH="1">
            <a:off x="2612759" y="5111990"/>
            <a:ext cx="1398201" cy="137136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lipse 62"/>
          <p:cNvSpPr/>
          <p:nvPr/>
        </p:nvSpPr>
        <p:spPr>
          <a:xfrm>
            <a:off x="1547664" y="5624591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64" name="Gerade Verbindung mit Pfeil 63"/>
          <p:cNvCxnSpPr>
            <a:stCxn id="63" idx="0"/>
          </p:cNvCxnSpPr>
          <p:nvPr/>
        </p:nvCxnSpPr>
        <p:spPr>
          <a:xfrm flipH="1" flipV="1">
            <a:off x="1873746" y="5287402"/>
            <a:ext cx="5118" cy="33718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endCxn id="63" idx="4"/>
          </p:cNvCxnSpPr>
          <p:nvPr/>
        </p:nvCxnSpPr>
        <p:spPr>
          <a:xfrm flipV="1">
            <a:off x="1878864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93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18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e</a:t>
            </a:r>
            <a:r>
              <a:rPr lang="de-DE" sz="1600" smtClean="0">
                <a:solidFill>
                  <a:schemeClr val="tx1"/>
                </a:solidFill>
              </a:rPr>
              <a:t>xtension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contains_ComplexType_ComplexContent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1130640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8" name="Gerade Verbindung mit Pfeil 57"/>
          <p:cNvCxnSpPr>
            <a:endCxn id="54" idx="3"/>
          </p:cNvCxnSpPr>
          <p:nvPr/>
        </p:nvCxnSpPr>
        <p:spPr>
          <a:xfrm flipH="1">
            <a:off x="2612759" y="5111990"/>
            <a:ext cx="1398201" cy="137136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lipse 62"/>
          <p:cNvSpPr/>
          <p:nvPr/>
        </p:nvSpPr>
        <p:spPr>
          <a:xfrm>
            <a:off x="1547664" y="5624591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64" name="Gerade Verbindung mit Pfeil 63"/>
          <p:cNvCxnSpPr>
            <a:stCxn id="63" idx="0"/>
          </p:cNvCxnSpPr>
          <p:nvPr/>
        </p:nvCxnSpPr>
        <p:spPr>
          <a:xfrm flipH="1" flipV="1">
            <a:off x="1873746" y="5287402"/>
            <a:ext cx="5118" cy="33718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endCxn id="63" idx="4"/>
          </p:cNvCxnSpPr>
          <p:nvPr/>
        </p:nvCxnSpPr>
        <p:spPr>
          <a:xfrm flipV="1">
            <a:off x="1878864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30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19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e</a:t>
            </a:r>
            <a:r>
              <a:rPr lang="de-DE" sz="1600" smtClean="0">
                <a:solidFill>
                  <a:schemeClr val="tx1"/>
                </a:solidFill>
              </a:rPr>
              <a:t>xtension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54" name="Rechteck 53"/>
          <p:cNvSpPr/>
          <p:nvPr/>
        </p:nvSpPr>
        <p:spPr>
          <a:xfrm>
            <a:off x="1130640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8" name="Gerade Verbindung mit Pfeil 57"/>
          <p:cNvCxnSpPr>
            <a:endCxn id="54" idx="3"/>
          </p:cNvCxnSpPr>
          <p:nvPr/>
        </p:nvCxnSpPr>
        <p:spPr>
          <a:xfrm flipH="1">
            <a:off x="2612759" y="5111990"/>
            <a:ext cx="1398201" cy="137136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lipse 62"/>
          <p:cNvSpPr/>
          <p:nvPr/>
        </p:nvSpPr>
        <p:spPr>
          <a:xfrm>
            <a:off x="1547664" y="5624591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64" name="Gerade Verbindung mit Pfeil 63"/>
          <p:cNvCxnSpPr>
            <a:stCxn id="63" idx="0"/>
          </p:cNvCxnSpPr>
          <p:nvPr/>
        </p:nvCxnSpPr>
        <p:spPr>
          <a:xfrm flipH="1" flipV="1">
            <a:off x="1873746" y="5287402"/>
            <a:ext cx="5118" cy="33718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endCxn id="63" idx="4"/>
          </p:cNvCxnSpPr>
          <p:nvPr/>
        </p:nvCxnSpPr>
        <p:spPr>
          <a:xfrm flipV="1">
            <a:off x="1878864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530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20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contains_ComplexContent_Extension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1130640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8" name="Gerade Verbindung mit Pfeil 57"/>
          <p:cNvCxnSpPr>
            <a:endCxn id="54" idx="3"/>
          </p:cNvCxnSpPr>
          <p:nvPr/>
        </p:nvCxnSpPr>
        <p:spPr>
          <a:xfrm flipH="1">
            <a:off x="2612759" y="5111990"/>
            <a:ext cx="1398201" cy="137136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lipse 62"/>
          <p:cNvSpPr/>
          <p:nvPr/>
        </p:nvSpPr>
        <p:spPr>
          <a:xfrm>
            <a:off x="1547664" y="5624591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64" name="Gerade Verbindung mit Pfeil 63"/>
          <p:cNvCxnSpPr>
            <a:stCxn id="63" idx="0"/>
          </p:cNvCxnSpPr>
          <p:nvPr/>
        </p:nvCxnSpPr>
        <p:spPr>
          <a:xfrm flipH="1" flipV="1">
            <a:off x="1873746" y="5287402"/>
            <a:ext cx="5118" cy="33718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endCxn id="63" idx="4"/>
          </p:cNvCxnSpPr>
          <p:nvPr/>
        </p:nvCxnSpPr>
        <p:spPr>
          <a:xfrm flipV="1">
            <a:off x="1878864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82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21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54" name="Rechteck 53"/>
          <p:cNvSpPr/>
          <p:nvPr/>
        </p:nvSpPr>
        <p:spPr>
          <a:xfrm>
            <a:off x="1130640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8" name="Gerade Verbindung mit Pfeil 57"/>
          <p:cNvCxnSpPr>
            <a:endCxn id="54" idx="3"/>
          </p:cNvCxnSpPr>
          <p:nvPr/>
        </p:nvCxnSpPr>
        <p:spPr>
          <a:xfrm flipH="1">
            <a:off x="2612759" y="5111990"/>
            <a:ext cx="1398201" cy="137136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lipse 62"/>
          <p:cNvSpPr/>
          <p:nvPr/>
        </p:nvSpPr>
        <p:spPr>
          <a:xfrm>
            <a:off x="1547664" y="5624591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64" name="Gerade Verbindung mit Pfeil 63"/>
          <p:cNvCxnSpPr>
            <a:stCxn id="63" idx="0"/>
          </p:cNvCxnSpPr>
          <p:nvPr/>
        </p:nvCxnSpPr>
        <p:spPr>
          <a:xfrm flipH="1" flipV="1">
            <a:off x="1873746" y="5287402"/>
            <a:ext cx="5118" cy="33718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endCxn id="63" idx="4"/>
          </p:cNvCxnSpPr>
          <p:nvPr/>
        </p:nvCxnSpPr>
        <p:spPr>
          <a:xfrm flipV="1">
            <a:off x="1878864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710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22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contains_Extension_Sequence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1130640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8" name="Gerade Verbindung mit Pfeil 57"/>
          <p:cNvCxnSpPr>
            <a:endCxn id="54" idx="3"/>
          </p:cNvCxnSpPr>
          <p:nvPr/>
        </p:nvCxnSpPr>
        <p:spPr>
          <a:xfrm flipH="1">
            <a:off x="2612759" y="5111990"/>
            <a:ext cx="1398201" cy="137136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lipse 62"/>
          <p:cNvSpPr/>
          <p:nvPr/>
        </p:nvSpPr>
        <p:spPr>
          <a:xfrm>
            <a:off x="1547664" y="5624591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64" name="Gerade Verbindung mit Pfeil 63"/>
          <p:cNvCxnSpPr>
            <a:stCxn id="63" idx="0"/>
          </p:cNvCxnSpPr>
          <p:nvPr/>
        </p:nvCxnSpPr>
        <p:spPr>
          <a:xfrm flipH="1" flipV="1">
            <a:off x="1873746" y="5287402"/>
            <a:ext cx="5118" cy="33718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endCxn id="63" idx="4"/>
          </p:cNvCxnSpPr>
          <p:nvPr/>
        </p:nvCxnSpPr>
        <p:spPr>
          <a:xfrm flipV="1">
            <a:off x="1878864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14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23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54" name="Rechteck 53"/>
          <p:cNvSpPr/>
          <p:nvPr/>
        </p:nvSpPr>
        <p:spPr>
          <a:xfrm>
            <a:off x="1130640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8" name="Gerade Verbindung mit Pfeil 57"/>
          <p:cNvCxnSpPr>
            <a:endCxn id="54" idx="3"/>
          </p:cNvCxnSpPr>
          <p:nvPr/>
        </p:nvCxnSpPr>
        <p:spPr>
          <a:xfrm flipH="1">
            <a:off x="2612759" y="5111990"/>
            <a:ext cx="1398201" cy="137136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lipse 62"/>
          <p:cNvSpPr/>
          <p:nvPr/>
        </p:nvSpPr>
        <p:spPr>
          <a:xfrm>
            <a:off x="1547664" y="5624591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64" name="Gerade Verbindung mit Pfeil 63"/>
          <p:cNvCxnSpPr>
            <a:stCxn id="63" idx="0"/>
          </p:cNvCxnSpPr>
          <p:nvPr/>
        </p:nvCxnSpPr>
        <p:spPr>
          <a:xfrm flipH="1" flipV="1">
            <a:off x="1873746" y="5287402"/>
            <a:ext cx="5118" cy="33718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endCxn id="63" idx="4"/>
          </p:cNvCxnSpPr>
          <p:nvPr/>
        </p:nvCxnSpPr>
        <p:spPr>
          <a:xfrm flipV="1">
            <a:off x="1878864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62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24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contains_Sequence_Element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1130640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8" name="Gerade Verbindung mit Pfeil 57"/>
          <p:cNvCxnSpPr>
            <a:endCxn id="54" idx="3"/>
          </p:cNvCxnSpPr>
          <p:nvPr/>
        </p:nvCxnSpPr>
        <p:spPr>
          <a:xfrm flipH="1">
            <a:off x="2612759" y="5111990"/>
            <a:ext cx="1398201" cy="137136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lipse 62"/>
          <p:cNvSpPr/>
          <p:nvPr/>
        </p:nvSpPr>
        <p:spPr>
          <a:xfrm>
            <a:off x="1547664" y="5624591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64" name="Gerade Verbindung mit Pfeil 63"/>
          <p:cNvCxnSpPr>
            <a:stCxn id="63" idx="0"/>
          </p:cNvCxnSpPr>
          <p:nvPr/>
        </p:nvCxnSpPr>
        <p:spPr>
          <a:xfrm flipH="1" flipV="1">
            <a:off x="1873746" y="5287402"/>
            <a:ext cx="5118" cy="33718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endCxn id="63" idx="4"/>
          </p:cNvCxnSpPr>
          <p:nvPr/>
        </p:nvCxnSpPr>
        <p:spPr>
          <a:xfrm flipV="1">
            <a:off x="1878864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18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25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contains_Sequence_Element</a:t>
            </a:r>
            <a:endParaRPr lang="en-US" sz="1400"/>
          </a:p>
        </p:txBody>
      </p:sp>
      <p:sp>
        <p:nvSpPr>
          <p:cNvPr id="54" name="Rechteck 53"/>
          <p:cNvSpPr/>
          <p:nvPr/>
        </p:nvSpPr>
        <p:spPr>
          <a:xfrm>
            <a:off x="1130640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8" name="Gerade Verbindung mit Pfeil 57"/>
          <p:cNvCxnSpPr>
            <a:endCxn id="54" idx="3"/>
          </p:cNvCxnSpPr>
          <p:nvPr/>
        </p:nvCxnSpPr>
        <p:spPr>
          <a:xfrm flipH="1">
            <a:off x="2612759" y="5111990"/>
            <a:ext cx="1398201" cy="137136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lipse 62"/>
          <p:cNvSpPr/>
          <p:nvPr/>
        </p:nvSpPr>
        <p:spPr>
          <a:xfrm>
            <a:off x="1547664" y="5624591"/>
            <a:ext cx="66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ref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64" name="Gerade Verbindung mit Pfeil 63"/>
          <p:cNvCxnSpPr>
            <a:stCxn id="63" idx="0"/>
          </p:cNvCxnSpPr>
          <p:nvPr/>
        </p:nvCxnSpPr>
        <p:spPr>
          <a:xfrm flipH="1" flipV="1">
            <a:off x="1873746" y="5287402"/>
            <a:ext cx="5118" cy="337189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>
            <a:endCxn id="63" idx="4"/>
          </p:cNvCxnSpPr>
          <p:nvPr/>
        </p:nvCxnSpPr>
        <p:spPr>
          <a:xfrm flipV="1">
            <a:off x="1878864" y="5970825"/>
            <a:ext cx="0" cy="316719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998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26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contains_Sequence_Element</a:t>
            </a:r>
            <a:endParaRPr lang="en-US" sz="1400"/>
          </a:p>
        </p:txBody>
      </p:sp>
      <p:sp>
        <p:nvSpPr>
          <p:cNvPr id="54" name="Rechteck 53"/>
          <p:cNvSpPr/>
          <p:nvPr/>
        </p:nvSpPr>
        <p:spPr>
          <a:xfrm>
            <a:off x="1130640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8" name="Gerade Verbindung mit Pfeil 57"/>
          <p:cNvCxnSpPr>
            <a:endCxn id="54" idx="3"/>
          </p:cNvCxnSpPr>
          <p:nvPr/>
        </p:nvCxnSpPr>
        <p:spPr>
          <a:xfrm flipH="1">
            <a:off x="2612759" y="5111990"/>
            <a:ext cx="1398201" cy="1371368"/>
          </a:xfrm>
          <a:prstGeom prst="straightConnector1">
            <a:avLst/>
          </a:prstGeom>
          <a:ln w="15875">
            <a:solidFill>
              <a:schemeClr val="tx1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>
            <a:stCxn id="54" idx="0"/>
          </p:cNvCxnSpPr>
          <p:nvPr/>
        </p:nvCxnSpPr>
        <p:spPr>
          <a:xfrm flipH="1" flipV="1">
            <a:off x="1866582" y="5287402"/>
            <a:ext cx="5118" cy="1000142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/>
          <p:cNvSpPr txBox="1"/>
          <p:nvPr/>
        </p:nvSpPr>
        <p:spPr>
          <a:xfrm>
            <a:off x="1872163" y="5589240"/>
            <a:ext cx="1778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rgbClr val="FF0000"/>
                </a:solidFill>
              </a:rPr>
              <a:t>r</a:t>
            </a:r>
            <a:r>
              <a:rPr lang="de-DE" sz="1400" smtClean="0">
                <a:solidFill>
                  <a:srgbClr val="FF0000"/>
                </a:solidFill>
              </a:rPr>
              <a:t>ef_Element_Element</a:t>
            </a:r>
            <a:endParaRPr 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66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27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contains_Sequence_Element</a:t>
            </a:r>
            <a:endParaRPr lang="en-US" sz="1400"/>
          </a:p>
        </p:txBody>
      </p:sp>
      <p:sp>
        <p:nvSpPr>
          <p:cNvPr id="54" name="Rechteck 53"/>
          <p:cNvSpPr/>
          <p:nvPr/>
        </p:nvSpPr>
        <p:spPr>
          <a:xfrm>
            <a:off x="1130640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8" name="Gerade Verbindung mit Pfeil 57"/>
          <p:cNvCxnSpPr>
            <a:endCxn id="54" idx="3"/>
          </p:cNvCxnSpPr>
          <p:nvPr/>
        </p:nvCxnSpPr>
        <p:spPr>
          <a:xfrm flipH="1">
            <a:off x="2612759" y="5111990"/>
            <a:ext cx="1398201" cy="1371368"/>
          </a:xfrm>
          <a:prstGeom prst="straightConnector1">
            <a:avLst/>
          </a:prstGeom>
          <a:ln w="15875">
            <a:solidFill>
              <a:srgbClr val="FF0000"/>
            </a:solidFill>
            <a:prstDash val="lg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>
            <a:stCxn id="54" idx="0"/>
          </p:cNvCxnSpPr>
          <p:nvPr/>
        </p:nvCxnSpPr>
        <p:spPr>
          <a:xfrm flipH="1" flipV="1">
            <a:off x="1866582" y="5287402"/>
            <a:ext cx="5118" cy="1000142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/>
          <p:cNvSpPr txBox="1"/>
          <p:nvPr/>
        </p:nvSpPr>
        <p:spPr>
          <a:xfrm>
            <a:off x="1872163" y="5589240"/>
            <a:ext cx="1778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r</a:t>
            </a:r>
            <a:r>
              <a:rPr lang="de-DE" sz="1400" smtClean="0"/>
              <a:t>ef_Element_Element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73498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28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contains_Sequence_Element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932460" y="5281463"/>
            <a:ext cx="1778757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rgbClr val="FF0000"/>
                </a:solidFill>
              </a:rPr>
              <a:t>r</a:t>
            </a:r>
            <a:r>
              <a:rPr lang="de-DE" sz="1400" smtClean="0">
                <a:solidFill>
                  <a:srgbClr val="FF0000"/>
                </a:solidFill>
              </a:rPr>
              <a:t>ef_Element_Element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4" name="Ellipse 53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Rechteck 54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7" name="Gerade Verbindung mit Pfeil 56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36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29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contains_Sequence_Element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932460" y="5281463"/>
            <a:ext cx="1778757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400"/>
              <a:t>r</a:t>
            </a:r>
            <a:r>
              <a:rPr lang="de-DE" sz="1400" smtClean="0"/>
              <a:t>ef_Element_Element</a:t>
            </a:r>
            <a:endParaRPr lang="en-US" sz="1400"/>
          </a:p>
        </p:txBody>
      </p:sp>
      <p:sp>
        <p:nvSpPr>
          <p:cNvPr id="54" name="Ellipse 53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Rechteck 54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7" name="Gerade Verbindung mit Pfeil 56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39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30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contains_Sequence_Element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932460" y="5281463"/>
            <a:ext cx="1778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r</a:t>
            </a:r>
            <a:r>
              <a:rPr lang="de-DE" sz="1400" smtClean="0"/>
              <a:t>ef_Element_Element</a:t>
            </a:r>
            <a:endParaRPr lang="en-US" sz="1400"/>
          </a:p>
        </p:txBody>
      </p:sp>
      <p:sp>
        <p:nvSpPr>
          <p:cNvPr id="33" name="Ellipse 32"/>
          <p:cNvSpPr/>
          <p:nvPr/>
        </p:nvSpPr>
        <p:spPr>
          <a:xfrm>
            <a:off x="3995936" y="4005064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8" name="Gerade Verbindung mit Pfeil 47"/>
          <p:cNvCxnSpPr>
            <a:stCxn id="33" idx="4"/>
          </p:cNvCxnSpPr>
          <p:nvPr/>
        </p:nvCxnSpPr>
        <p:spPr>
          <a:xfrm>
            <a:off x="5184068" y="4351298"/>
            <a:ext cx="0" cy="587575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feld 51"/>
          <p:cNvSpPr txBox="1"/>
          <p:nvPr/>
        </p:nvSpPr>
        <p:spPr>
          <a:xfrm>
            <a:off x="5148064" y="4458597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⊑</a:t>
            </a:r>
          </a:p>
        </p:txBody>
      </p:sp>
      <p:sp>
        <p:nvSpPr>
          <p:cNvPr id="54" name="Ellipse 53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Rechteck 54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7" name="Gerade Verbindung mit Pfeil 56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65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31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contains_Sequence_Element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932460" y="5281463"/>
            <a:ext cx="1778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r</a:t>
            </a:r>
            <a:r>
              <a:rPr lang="de-DE" sz="1400" smtClean="0"/>
              <a:t>ef_Element_Element</a:t>
            </a:r>
            <a:endParaRPr lang="en-US" sz="1400"/>
          </a:p>
        </p:txBody>
      </p:sp>
      <p:sp>
        <p:nvSpPr>
          <p:cNvPr id="33" name="Ellipse 32"/>
          <p:cNvSpPr/>
          <p:nvPr/>
        </p:nvSpPr>
        <p:spPr>
          <a:xfrm>
            <a:off x="3995936" y="4005064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8" name="Gerade Verbindung mit Pfeil 47"/>
          <p:cNvCxnSpPr>
            <a:stCxn id="33" idx="4"/>
          </p:cNvCxnSpPr>
          <p:nvPr/>
        </p:nvCxnSpPr>
        <p:spPr>
          <a:xfrm>
            <a:off x="5184068" y="4351298"/>
            <a:ext cx="0" cy="58757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feld 51"/>
          <p:cNvSpPr txBox="1"/>
          <p:nvPr/>
        </p:nvSpPr>
        <p:spPr>
          <a:xfrm>
            <a:off x="5148064" y="4458597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⊑</a:t>
            </a:r>
          </a:p>
        </p:txBody>
      </p:sp>
      <p:sp>
        <p:nvSpPr>
          <p:cNvPr id="54" name="Ellipse 53"/>
          <p:cNvSpPr/>
          <p:nvPr/>
        </p:nvSpPr>
        <p:spPr>
          <a:xfrm>
            <a:off x="4867736" y="5624591"/>
            <a:ext cx="662713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5" name="Rechteck 54"/>
          <p:cNvSpPr/>
          <p:nvPr/>
        </p:nvSpPr>
        <p:spPr>
          <a:xfrm>
            <a:off x="4458033" y="6287544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7" name="Gerade Verbindung mit Pfeil 56"/>
          <p:cNvCxnSpPr/>
          <p:nvPr/>
        </p:nvCxnSpPr>
        <p:spPr>
          <a:xfrm flipH="1" flipV="1">
            <a:off x="5199092" y="5285107"/>
            <a:ext cx="1" cy="339484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/>
          <p:cNvCxnSpPr/>
          <p:nvPr/>
        </p:nvCxnSpPr>
        <p:spPr>
          <a:xfrm flipV="1">
            <a:off x="5199092" y="5970825"/>
            <a:ext cx="0" cy="316719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580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32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contains_Sequence_Element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932460" y="5281463"/>
            <a:ext cx="1778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r</a:t>
            </a:r>
            <a:r>
              <a:rPr lang="de-DE" sz="1400" smtClean="0"/>
              <a:t>ef_Element_Element</a:t>
            </a:r>
            <a:endParaRPr lang="en-US" sz="1400"/>
          </a:p>
        </p:txBody>
      </p:sp>
      <p:sp>
        <p:nvSpPr>
          <p:cNvPr id="31" name="Rechteck 30"/>
          <p:cNvSpPr/>
          <p:nvPr/>
        </p:nvSpPr>
        <p:spPr>
          <a:xfrm>
            <a:off x="4443009" y="5940000"/>
            <a:ext cx="1482119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"VariableName"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stCxn id="31" idx="0"/>
          </p:cNvCxnSpPr>
          <p:nvPr/>
        </p:nvCxnSpPr>
        <p:spPr>
          <a:xfrm flipH="1" flipV="1">
            <a:off x="5184068" y="5285107"/>
            <a:ext cx="1" cy="654893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lipse 32"/>
          <p:cNvSpPr/>
          <p:nvPr/>
        </p:nvSpPr>
        <p:spPr>
          <a:xfrm>
            <a:off x="3995936" y="4005064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Element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4" name="Textfeld 33"/>
          <p:cNvSpPr txBox="1"/>
          <p:nvPr/>
        </p:nvSpPr>
        <p:spPr>
          <a:xfrm>
            <a:off x="5169507" y="5445224"/>
            <a:ext cx="1810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name_Element_String</a:t>
            </a:r>
            <a:endParaRPr lang="en-US" sz="1400">
              <a:solidFill>
                <a:srgbClr val="FF0000"/>
              </a:solidFill>
            </a:endParaRPr>
          </a:p>
        </p:txBody>
      </p:sp>
      <p:cxnSp>
        <p:nvCxnSpPr>
          <p:cNvPr id="48" name="Gerade Verbindung mit Pfeil 47"/>
          <p:cNvCxnSpPr>
            <a:stCxn id="33" idx="4"/>
          </p:cNvCxnSpPr>
          <p:nvPr/>
        </p:nvCxnSpPr>
        <p:spPr>
          <a:xfrm>
            <a:off x="5184068" y="4351298"/>
            <a:ext cx="0" cy="58757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feld 51"/>
          <p:cNvSpPr txBox="1"/>
          <p:nvPr/>
        </p:nvSpPr>
        <p:spPr>
          <a:xfrm>
            <a:off x="5148064" y="4458597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⊑</a:t>
            </a:r>
          </a:p>
        </p:txBody>
      </p:sp>
    </p:spTree>
    <p:extLst>
      <p:ext uri="{BB962C8B-B14F-4D97-AF65-F5344CB8AC3E}">
        <p14:creationId xmlns:p14="http://schemas.microsoft.com/office/powerpoint/2010/main" val="384126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33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contains_Sequence_Element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932460" y="5281463"/>
            <a:ext cx="1778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r</a:t>
            </a:r>
            <a:r>
              <a:rPr lang="de-DE" sz="1400" smtClean="0"/>
              <a:t>ef_Element_Element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0231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775524" y="6448251"/>
            <a:ext cx="2133600" cy="365125"/>
          </a:xfrm>
        </p:spPr>
        <p:txBody>
          <a:bodyPr/>
          <a:lstStyle/>
          <a:p>
            <a:fld id="{EA11F0A9-7B41-4B3D-A4E1-5AEA8E3E3D00}" type="slidenum">
              <a:rPr lang="de-DE" smtClean="0"/>
              <a:t>34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6931140" y="121960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6" name="Ellipse 35"/>
          <p:cNvSpPr/>
          <p:nvPr/>
        </p:nvSpPr>
        <p:spPr>
          <a:xfrm>
            <a:off x="6931140" y="4938873"/>
            <a:ext cx="1922400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542512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/>
          <p:cNvCxnSpPr>
            <a:stCxn id="19" idx="6"/>
            <a:endCxn id="36" idx="2"/>
          </p:cNvCxnSpPr>
          <p:nvPr/>
        </p:nvCxnSpPr>
        <p:spPr>
          <a:xfrm>
            <a:off x="6388844" y="5111990"/>
            <a:ext cx="542296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/>
          <p:cNvCxnSpPr>
            <a:stCxn id="37" idx="0"/>
            <a:endCxn id="36" idx="4"/>
          </p:cNvCxnSpPr>
          <p:nvPr/>
        </p:nvCxnSpPr>
        <p:spPr>
          <a:xfrm flipH="1" flipV="1">
            <a:off x="7892340" y="5285107"/>
            <a:ext cx="4688" cy="65489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3.1 - XML </a:t>
            </a:r>
            <a:r>
              <a:rPr lang="en-US" smtClean="0"/>
              <a:t>| 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3004468" y="908720"/>
            <a:ext cx="1643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type_Element_Type</a:t>
            </a:r>
            <a:endParaRPr lang="en-US" sz="1400"/>
          </a:p>
        </p:txBody>
      </p:sp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0" y="332656"/>
            <a:ext cx="6711476" cy="526907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3.1 - XML Schema </a:t>
            </a:r>
            <a:r>
              <a:rPr lang="en-US" smtClean="0"/>
              <a:t>| Ontology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contains_Sequence_Element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932460" y="5281463"/>
            <a:ext cx="1778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r</a:t>
            </a:r>
            <a:r>
              <a:rPr lang="de-DE" sz="1400" smtClean="0"/>
              <a:t>ef_Element_Element</a:t>
            </a:r>
            <a:endParaRPr lang="en-US" sz="1400"/>
          </a:p>
        </p:txBody>
      </p:sp>
      <p:sp>
        <p:nvSpPr>
          <p:cNvPr id="59" name="Ellipse 58"/>
          <p:cNvSpPr/>
          <p:nvPr/>
        </p:nvSpPr>
        <p:spPr>
          <a:xfrm>
            <a:off x="4012580" y="5963086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String-Type…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stCxn id="59" idx="0"/>
            <a:endCxn id="19" idx="4"/>
          </p:cNvCxnSpPr>
          <p:nvPr/>
        </p:nvCxnSpPr>
        <p:spPr>
          <a:xfrm flipV="1">
            <a:off x="5200712" y="5285107"/>
            <a:ext cx="0" cy="677979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5186151" y="5445224"/>
            <a:ext cx="1788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value_Element_String</a:t>
            </a:r>
            <a:endParaRPr lang="en-US" sz="1400">
              <a:solidFill>
                <a:srgbClr val="FF0000"/>
              </a:solidFill>
            </a:endParaRPr>
          </a:p>
        </p:txBody>
      </p:sp>
      <p:cxnSp>
        <p:nvCxnSpPr>
          <p:cNvPr id="52" name="Gerade Verbindung mit Pfeil 51"/>
          <p:cNvCxnSpPr>
            <a:stCxn id="59" idx="6"/>
            <a:endCxn id="37" idx="1"/>
          </p:cNvCxnSpPr>
          <p:nvPr/>
        </p:nvCxnSpPr>
        <p:spPr>
          <a:xfrm flipV="1">
            <a:off x="6388844" y="6135814"/>
            <a:ext cx="546984" cy="389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24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hteck 42"/>
          <p:cNvSpPr/>
          <p:nvPr/>
        </p:nvSpPr>
        <p:spPr>
          <a:xfrm>
            <a:off x="0" y="936104"/>
            <a:ext cx="9180512" cy="2348880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hteck 39"/>
          <p:cNvSpPr/>
          <p:nvPr/>
        </p:nvSpPr>
        <p:spPr>
          <a:xfrm>
            <a:off x="-1" y="1052736"/>
            <a:ext cx="3093627" cy="3744416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hteck 37"/>
          <p:cNvSpPr/>
          <p:nvPr/>
        </p:nvSpPr>
        <p:spPr>
          <a:xfrm>
            <a:off x="0" y="4653136"/>
            <a:ext cx="9180512" cy="2204864"/>
          </a:xfrm>
          <a:prstGeom prst="rect">
            <a:avLst/>
          </a:pr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35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3347863" y="3573016"/>
            <a:ext cx="2577600" cy="720080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Generated Ontologies (OWL)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251520" y="3573016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XML Schemas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Ellipse 6"/>
          <p:cNvSpPr/>
          <p:nvPr/>
        </p:nvSpPr>
        <p:spPr>
          <a:xfrm>
            <a:off x="6444208" y="2564904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External Ontologies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8" name="Gerade Verbindung mit Pfeil 7"/>
          <p:cNvCxnSpPr/>
          <p:nvPr/>
        </p:nvCxnSpPr>
        <p:spPr>
          <a:xfrm>
            <a:off x="251520" y="2348880"/>
            <a:ext cx="8640960" cy="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>
            <a:off x="251520" y="5661248"/>
            <a:ext cx="8640960" cy="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lipse 9"/>
          <p:cNvSpPr/>
          <p:nvPr/>
        </p:nvSpPr>
        <p:spPr>
          <a:xfrm>
            <a:off x="6444208" y="3573016"/>
            <a:ext cx="2577600" cy="720080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Domain Ontologies (OWL)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251520" y="5949280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XML Document Instances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3347864" y="5949280"/>
            <a:ext cx="2577600" cy="720080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Generated Ontologies (RDF)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251520" y="1340768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XML Schema </a:t>
            </a:r>
            <a:r>
              <a:rPr lang="en-US" sz="1600" err="1" smtClean="0">
                <a:solidFill>
                  <a:schemeClr val="tx1"/>
                </a:solidFill>
              </a:rPr>
              <a:t>Metamodel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3347864" y="1340768"/>
            <a:ext cx="2577600" cy="720080"/>
          </a:xfrm>
          <a:prstGeom prst="ellipse">
            <a:avLst/>
          </a:prstGeom>
          <a:solidFill>
            <a:srgbClr val="294465">
              <a:alpha val="25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000" smtClean="0">
              <a:solidFill>
                <a:schemeClr val="tx1"/>
              </a:solidFill>
            </a:endParaRPr>
          </a:p>
          <a:p>
            <a:pPr algn="ctr"/>
            <a:r>
              <a:rPr lang="en-US" sz="1600" smtClean="0">
                <a:solidFill>
                  <a:schemeClr val="tx1"/>
                </a:solidFill>
              </a:rPr>
              <a:t>XML Schema </a:t>
            </a:r>
            <a:r>
              <a:rPr lang="en-US" sz="1600" err="1" smtClean="0">
                <a:solidFill>
                  <a:schemeClr val="tx1"/>
                </a:solidFill>
              </a:rPr>
              <a:t>Metamodel</a:t>
            </a:r>
            <a:endParaRPr lang="en-US" sz="1600">
              <a:solidFill>
                <a:schemeClr val="tx1"/>
              </a:solidFill>
            </a:endParaRPr>
          </a:p>
          <a:p>
            <a:pPr algn="ctr"/>
            <a:r>
              <a:rPr lang="en-US" sz="1600" smtClean="0">
                <a:solidFill>
                  <a:schemeClr val="tx1"/>
                </a:solidFill>
              </a:rPr>
              <a:t>Ontology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15" name="Gerade Verbindung mit Pfeil 14"/>
          <p:cNvCxnSpPr>
            <a:stCxn id="14" idx="2"/>
            <a:endCxn id="13" idx="6"/>
          </p:cNvCxnSpPr>
          <p:nvPr/>
        </p:nvCxnSpPr>
        <p:spPr>
          <a:xfrm flipH="1">
            <a:off x="2829120" y="1700808"/>
            <a:ext cx="51874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/>
          <p:cNvSpPr txBox="1"/>
          <p:nvPr/>
        </p:nvSpPr>
        <p:spPr>
          <a:xfrm>
            <a:off x="2839391" y="1393031"/>
            <a:ext cx="508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map</a:t>
            </a:r>
            <a:endParaRPr lang="en-US" sz="1400"/>
          </a:p>
        </p:txBody>
      </p:sp>
      <p:cxnSp>
        <p:nvCxnSpPr>
          <p:cNvPr id="17" name="Gerade Verbindung mit Pfeil 16"/>
          <p:cNvCxnSpPr>
            <a:stCxn id="14" idx="4"/>
            <a:endCxn id="5" idx="0"/>
          </p:cNvCxnSpPr>
          <p:nvPr/>
        </p:nvCxnSpPr>
        <p:spPr>
          <a:xfrm flipH="1">
            <a:off x="4636663" y="2060848"/>
            <a:ext cx="1" cy="151216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/>
          <p:cNvSpPr txBox="1"/>
          <p:nvPr/>
        </p:nvSpPr>
        <p:spPr>
          <a:xfrm>
            <a:off x="4156656" y="2493476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⊑</a:t>
            </a:r>
          </a:p>
        </p:txBody>
      </p:sp>
      <p:cxnSp>
        <p:nvCxnSpPr>
          <p:cNvPr id="19" name="Gerade Verbindung mit Pfeil 18"/>
          <p:cNvCxnSpPr>
            <a:stCxn id="6" idx="4"/>
            <a:endCxn id="11" idx="0"/>
          </p:cNvCxnSpPr>
          <p:nvPr/>
        </p:nvCxnSpPr>
        <p:spPr>
          <a:xfrm>
            <a:off x="1540320" y="4293096"/>
            <a:ext cx="0" cy="16561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/>
          <p:cNvSpPr txBox="1"/>
          <p:nvPr/>
        </p:nvSpPr>
        <p:spPr>
          <a:xfrm>
            <a:off x="462615" y="5075311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cxnSp>
        <p:nvCxnSpPr>
          <p:cNvPr id="21" name="Gerade Verbindung mit Pfeil 20"/>
          <p:cNvCxnSpPr>
            <a:stCxn id="13" idx="4"/>
            <a:endCxn id="6" idx="0"/>
          </p:cNvCxnSpPr>
          <p:nvPr/>
        </p:nvCxnSpPr>
        <p:spPr>
          <a:xfrm>
            <a:off x="1540320" y="2060848"/>
            <a:ext cx="0" cy="151216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462614" y="2555031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cxnSp>
        <p:nvCxnSpPr>
          <p:cNvPr id="23" name="Gerade Verbindung mit Pfeil 22"/>
          <p:cNvCxnSpPr>
            <a:stCxn id="5" idx="2"/>
            <a:endCxn id="6" idx="6"/>
          </p:cNvCxnSpPr>
          <p:nvPr/>
        </p:nvCxnSpPr>
        <p:spPr>
          <a:xfrm flipH="1">
            <a:off x="2829120" y="3933056"/>
            <a:ext cx="518743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/>
          <p:cNvSpPr txBox="1"/>
          <p:nvPr/>
        </p:nvSpPr>
        <p:spPr>
          <a:xfrm>
            <a:off x="2839391" y="3625279"/>
            <a:ext cx="508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map</a:t>
            </a:r>
            <a:endParaRPr lang="en-US" sz="1400"/>
          </a:p>
        </p:txBody>
      </p:sp>
      <p:sp>
        <p:nvSpPr>
          <p:cNvPr id="25" name="Textfeld 24"/>
          <p:cNvSpPr txBox="1"/>
          <p:nvPr/>
        </p:nvSpPr>
        <p:spPr>
          <a:xfrm>
            <a:off x="2771800" y="3933056"/>
            <a:ext cx="6170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[XSLT]</a:t>
            </a:r>
            <a:endParaRPr lang="en-US" sz="1400"/>
          </a:p>
        </p:txBody>
      </p:sp>
      <p:cxnSp>
        <p:nvCxnSpPr>
          <p:cNvPr id="26" name="Gerade Verbindung mit Pfeil 25"/>
          <p:cNvCxnSpPr>
            <a:stCxn id="12" idx="2"/>
            <a:endCxn id="11" idx="6"/>
          </p:cNvCxnSpPr>
          <p:nvPr/>
        </p:nvCxnSpPr>
        <p:spPr>
          <a:xfrm flipH="1">
            <a:off x="2829120" y="6309320"/>
            <a:ext cx="51874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/>
          <p:cNvSpPr txBox="1"/>
          <p:nvPr/>
        </p:nvSpPr>
        <p:spPr>
          <a:xfrm>
            <a:off x="2839391" y="5986661"/>
            <a:ext cx="508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map</a:t>
            </a:r>
            <a:endParaRPr lang="en-US" sz="1400"/>
          </a:p>
        </p:txBody>
      </p:sp>
      <p:sp>
        <p:nvSpPr>
          <p:cNvPr id="28" name="Textfeld 27"/>
          <p:cNvSpPr txBox="1"/>
          <p:nvPr/>
        </p:nvSpPr>
        <p:spPr>
          <a:xfrm>
            <a:off x="2771800" y="6319374"/>
            <a:ext cx="6170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[XSLT]</a:t>
            </a:r>
            <a:endParaRPr lang="en-US" sz="1400"/>
          </a:p>
        </p:txBody>
      </p:sp>
      <p:cxnSp>
        <p:nvCxnSpPr>
          <p:cNvPr id="29" name="Gerade Verbindung mit Pfeil 28"/>
          <p:cNvCxnSpPr>
            <a:stCxn id="5" idx="4"/>
            <a:endCxn id="12" idx="0"/>
          </p:cNvCxnSpPr>
          <p:nvPr/>
        </p:nvCxnSpPr>
        <p:spPr>
          <a:xfrm>
            <a:off x="4636663" y="4293096"/>
            <a:ext cx="1" cy="16561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/>
          <p:cNvSpPr txBox="1"/>
          <p:nvPr/>
        </p:nvSpPr>
        <p:spPr>
          <a:xfrm>
            <a:off x="3546873" y="5075311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cxnSp>
        <p:nvCxnSpPr>
          <p:cNvPr id="31" name="Gerade Verbindung mit Pfeil 30"/>
          <p:cNvCxnSpPr>
            <a:stCxn id="10" idx="2"/>
            <a:endCxn id="5" idx="6"/>
          </p:cNvCxnSpPr>
          <p:nvPr/>
        </p:nvCxnSpPr>
        <p:spPr>
          <a:xfrm flipH="1">
            <a:off x="5925463" y="3933056"/>
            <a:ext cx="518745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7" idx="4"/>
            <a:endCxn id="10" idx="0"/>
          </p:cNvCxnSpPr>
          <p:nvPr/>
        </p:nvCxnSpPr>
        <p:spPr>
          <a:xfrm>
            <a:off x="7733008" y="3284984"/>
            <a:ext cx="0" cy="288032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/>
          <p:cNvSpPr txBox="1"/>
          <p:nvPr/>
        </p:nvSpPr>
        <p:spPr>
          <a:xfrm>
            <a:off x="7747410" y="3183359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>
                <a:sym typeface="Symbol"/>
              </a:rPr>
              <a:t></a:t>
            </a:r>
            <a:endParaRPr lang="en-US" sz="2400"/>
          </a:p>
        </p:txBody>
      </p:sp>
      <p:sp>
        <p:nvSpPr>
          <p:cNvPr id="36" name="Ellipse 35"/>
          <p:cNvSpPr/>
          <p:nvPr/>
        </p:nvSpPr>
        <p:spPr>
          <a:xfrm>
            <a:off x="6444208" y="5949280"/>
            <a:ext cx="2577600" cy="720080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Domain Ontologies (RDF)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3" name="Gerade Verbindung mit Pfeil 52"/>
          <p:cNvCxnSpPr>
            <a:stCxn id="36" idx="2"/>
            <a:endCxn id="12" idx="6"/>
          </p:cNvCxnSpPr>
          <p:nvPr/>
        </p:nvCxnSpPr>
        <p:spPr>
          <a:xfrm flipH="1">
            <a:off x="5925464" y="6309320"/>
            <a:ext cx="518744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/>
          <p:cNvCxnSpPr>
            <a:stCxn id="10" idx="4"/>
            <a:endCxn id="36" idx="0"/>
          </p:cNvCxnSpPr>
          <p:nvPr/>
        </p:nvCxnSpPr>
        <p:spPr>
          <a:xfrm>
            <a:off x="7733008" y="4293096"/>
            <a:ext cx="0" cy="16561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/>
          <p:cNvSpPr txBox="1"/>
          <p:nvPr/>
        </p:nvSpPr>
        <p:spPr>
          <a:xfrm>
            <a:off x="6628763" y="5065439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sp>
        <p:nvSpPr>
          <p:cNvPr id="41" name="Pfeil nach rechts 40"/>
          <p:cNvSpPr/>
          <p:nvPr/>
        </p:nvSpPr>
        <p:spPr>
          <a:xfrm>
            <a:off x="6051693" y="3645024"/>
            <a:ext cx="288032" cy="153889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feld 43"/>
          <p:cNvSpPr txBox="1"/>
          <p:nvPr/>
        </p:nvSpPr>
        <p:spPr>
          <a:xfrm>
            <a:off x="6019218" y="5847655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>
                <a:sym typeface="Symbol"/>
              </a:rPr>
              <a:t>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40754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36</a:t>
            </a:fld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855462" y="2420888"/>
            <a:ext cx="1872208" cy="504056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b="1" smtClean="0">
                <a:solidFill>
                  <a:schemeClr val="tx1"/>
                </a:solidFill>
              </a:rPr>
              <a:t>Variable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6572247" y="3124257"/>
            <a:ext cx="1872208" cy="504056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b="1">
                <a:solidFill>
                  <a:schemeClr val="tx1"/>
                </a:solidFill>
              </a:rPr>
              <a:t>Question</a:t>
            </a: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6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</p:spPr>
        <p:txBody>
          <a:bodyPr/>
          <a:lstStyle/>
          <a:p>
            <a:r>
              <a:rPr lang="de-DE" smtClean="0"/>
              <a:t>DDI Ontology</a:t>
            </a:r>
            <a:endParaRPr lang="en-US"/>
          </a:p>
        </p:txBody>
      </p:sp>
      <p:cxnSp>
        <p:nvCxnSpPr>
          <p:cNvPr id="20" name="Gerade Verbindung mit Pfeil 19"/>
          <p:cNvCxnSpPr>
            <a:stCxn id="10" idx="0"/>
            <a:endCxn id="40" idx="3"/>
          </p:cNvCxnSpPr>
          <p:nvPr/>
        </p:nvCxnSpPr>
        <p:spPr>
          <a:xfrm flipV="1">
            <a:off x="1259528" y="4291287"/>
            <a:ext cx="922563" cy="102419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40" idx="6"/>
            <a:endCxn id="41" idx="2"/>
          </p:cNvCxnSpPr>
          <p:nvPr/>
        </p:nvCxnSpPr>
        <p:spPr>
          <a:xfrm>
            <a:off x="3780120" y="4113076"/>
            <a:ext cx="1423517" cy="7154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>
            <a:stCxn id="35" idx="0"/>
            <a:endCxn id="41" idx="4"/>
          </p:cNvCxnSpPr>
          <p:nvPr/>
        </p:nvCxnSpPr>
        <p:spPr>
          <a:xfrm flipV="1">
            <a:off x="5604678" y="5080523"/>
            <a:ext cx="535063" cy="94774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/>
          <p:cNvSpPr txBox="1"/>
          <p:nvPr/>
        </p:nvSpPr>
        <p:spPr>
          <a:xfrm>
            <a:off x="6012160" y="5400504"/>
            <a:ext cx="1400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hasQuestionText</a:t>
            </a:r>
            <a:endParaRPr lang="en-US" sz="1400"/>
          </a:p>
        </p:txBody>
      </p:sp>
      <p:sp>
        <p:nvSpPr>
          <p:cNvPr id="55" name="Textfeld 54"/>
          <p:cNvSpPr txBox="1"/>
          <p:nvPr/>
        </p:nvSpPr>
        <p:spPr>
          <a:xfrm>
            <a:off x="1872852" y="4653136"/>
            <a:ext cx="1466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hasVariableName</a:t>
            </a:r>
            <a:endParaRPr lang="en-US" sz="1400"/>
          </a:p>
        </p:txBody>
      </p:sp>
      <p:sp>
        <p:nvSpPr>
          <p:cNvPr id="56" name="Textfeld 55"/>
          <p:cNvSpPr txBox="1"/>
          <p:nvPr/>
        </p:nvSpPr>
        <p:spPr>
          <a:xfrm>
            <a:off x="4387930" y="4129335"/>
            <a:ext cx="1408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resultsInVariable</a:t>
            </a:r>
            <a:endParaRPr lang="en-US" sz="1400"/>
          </a:p>
        </p:txBody>
      </p:sp>
      <p:sp>
        <p:nvSpPr>
          <p:cNvPr id="40" name="Ellipse 39"/>
          <p:cNvSpPr/>
          <p:nvPr/>
        </p:nvSpPr>
        <p:spPr>
          <a:xfrm>
            <a:off x="1907912" y="3861048"/>
            <a:ext cx="1872208" cy="504056"/>
          </a:xfrm>
          <a:prstGeom prst="ellipse">
            <a:avLst/>
          </a:prstGeom>
          <a:solidFill>
            <a:srgbClr val="445A6F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1" name="Ellipse 40"/>
          <p:cNvSpPr/>
          <p:nvPr/>
        </p:nvSpPr>
        <p:spPr>
          <a:xfrm>
            <a:off x="5203637" y="4576467"/>
            <a:ext cx="1872208" cy="504056"/>
          </a:xfrm>
          <a:prstGeom prst="ellipse">
            <a:avLst/>
          </a:prstGeom>
          <a:solidFill>
            <a:srgbClr val="445A6F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Question-Age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5" name="Gerade Verbindung mit Pfeil 24"/>
          <p:cNvCxnSpPr>
            <a:stCxn id="8" idx="4"/>
            <a:endCxn id="40" idx="0"/>
          </p:cNvCxnSpPr>
          <p:nvPr/>
        </p:nvCxnSpPr>
        <p:spPr>
          <a:xfrm>
            <a:off x="1791566" y="2924944"/>
            <a:ext cx="1052450" cy="936104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/>
          <p:cNvSpPr/>
          <p:nvPr/>
        </p:nvSpPr>
        <p:spPr>
          <a:xfrm>
            <a:off x="323528" y="5315483"/>
            <a:ext cx="1872000" cy="504000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5" name="Rechteck 34"/>
          <p:cNvSpPr/>
          <p:nvPr/>
        </p:nvSpPr>
        <p:spPr>
          <a:xfrm>
            <a:off x="4668678" y="6028263"/>
            <a:ext cx="1872000" cy="504000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"Age?"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7" name="Gerade Verbindung mit Pfeil 36"/>
          <p:cNvCxnSpPr>
            <a:stCxn id="12" idx="4"/>
            <a:endCxn id="41" idx="0"/>
          </p:cNvCxnSpPr>
          <p:nvPr/>
        </p:nvCxnSpPr>
        <p:spPr>
          <a:xfrm flipH="1">
            <a:off x="6139741" y="3628313"/>
            <a:ext cx="1368610" cy="948154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99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37</a:t>
            </a:fld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855462" y="2420888"/>
            <a:ext cx="1872208" cy="504056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b="1" smtClean="0">
                <a:solidFill>
                  <a:schemeClr val="tx1"/>
                </a:solidFill>
              </a:rPr>
              <a:t>Variable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6572247" y="3124257"/>
            <a:ext cx="1872208" cy="504056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b="1">
                <a:solidFill>
                  <a:schemeClr val="tx1"/>
                </a:solidFill>
              </a:rPr>
              <a:t>Question</a:t>
            </a: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6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</p:spPr>
        <p:txBody>
          <a:bodyPr/>
          <a:lstStyle/>
          <a:p>
            <a:r>
              <a:rPr lang="de-DE" smtClean="0"/>
              <a:t>DDI Ontology</a:t>
            </a:r>
            <a:endParaRPr lang="en-US"/>
          </a:p>
        </p:txBody>
      </p:sp>
      <p:cxnSp>
        <p:nvCxnSpPr>
          <p:cNvPr id="20" name="Gerade Verbindung mit Pfeil 19"/>
          <p:cNvCxnSpPr>
            <a:stCxn id="10" idx="0"/>
            <a:endCxn id="40" idx="3"/>
          </p:cNvCxnSpPr>
          <p:nvPr/>
        </p:nvCxnSpPr>
        <p:spPr>
          <a:xfrm flipV="1">
            <a:off x="1259528" y="4291287"/>
            <a:ext cx="922563" cy="1024196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40" idx="6"/>
            <a:endCxn id="41" idx="2"/>
          </p:cNvCxnSpPr>
          <p:nvPr/>
        </p:nvCxnSpPr>
        <p:spPr>
          <a:xfrm>
            <a:off x="3780120" y="4113076"/>
            <a:ext cx="1423517" cy="7154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>
            <a:stCxn id="35" idx="0"/>
            <a:endCxn id="41" idx="4"/>
          </p:cNvCxnSpPr>
          <p:nvPr/>
        </p:nvCxnSpPr>
        <p:spPr>
          <a:xfrm flipV="1">
            <a:off x="5604678" y="5080523"/>
            <a:ext cx="535063" cy="94774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/>
          <p:cNvSpPr txBox="1"/>
          <p:nvPr/>
        </p:nvSpPr>
        <p:spPr>
          <a:xfrm>
            <a:off x="6012160" y="5400504"/>
            <a:ext cx="1400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hasQuestionText</a:t>
            </a:r>
            <a:endParaRPr lang="en-US" sz="1400"/>
          </a:p>
        </p:txBody>
      </p:sp>
      <p:sp>
        <p:nvSpPr>
          <p:cNvPr id="55" name="Textfeld 54"/>
          <p:cNvSpPr txBox="1"/>
          <p:nvPr/>
        </p:nvSpPr>
        <p:spPr>
          <a:xfrm>
            <a:off x="1872852" y="4653136"/>
            <a:ext cx="1466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hasVariableName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6" name="Textfeld 55"/>
          <p:cNvSpPr txBox="1"/>
          <p:nvPr/>
        </p:nvSpPr>
        <p:spPr>
          <a:xfrm>
            <a:off x="4387930" y="4129335"/>
            <a:ext cx="1408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resultsInVariable</a:t>
            </a:r>
            <a:endParaRPr lang="en-US" sz="1400"/>
          </a:p>
        </p:txBody>
      </p:sp>
      <p:sp>
        <p:nvSpPr>
          <p:cNvPr id="40" name="Ellipse 39"/>
          <p:cNvSpPr/>
          <p:nvPr/>
        </p:nvSpPr>
        <p:spPr>
          <a:xfrm>
            <a:off x="1907912" y="3861048"/>
            <a:ext cx="1872208" cy="504056"/>
          </a:xfrm>
          <a:prstGeom prst="ellipse">
            <a:avLst/>
          </a:prstGeom>
          <a:solidFill>
            <a:srgbClr val="445A6F">
              <a:alpha val="14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1" name="Ellipse 40"/>
          <p:cNvSpPr/>
          <p:nvPr/>
        </p:nvSpPr>
        <p:spPr>
          <a:xfrm>
            <a:off x="5203637" y="4576467"/>
            <a:ext cx="1872208" cy="504056"/>
          </a:xfrm>
          <a:prstGeom prst="ellipse">
            <a:avLst/>
          </a:prstGeom>
          <a:solidFill>
            <a:srgbClr val="445A6F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Question-Age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5" name="Gerade Verbindung mit Pfeil 24"/>
          <p:cNvCxnSpPr>
            <a:stCxn id="8" idx="4"/>
            <a:endCxn id="40" idx="0"/>
          </p:cNvCxnSpPr>
          <p:nvPr/>
        </p:nvCxnSpPr>
        <p:spPr>
          <a:xfrm>
            <a:off x="1791566" y="2924944"/>
            <a:ext cx="1052450" cy="936104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/>
          <p:cNvSpPr/>
          <p:nvPr/>
        </p:nvSpPr>
        <p:spPr>
          <a:xfrm>
            <a:off x="323528" y="5315483"/>
            <a:ext cx="1872000" cy="504000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5" name="Rechteck 34"/>
          <p:cNvSpPr/>
          <p:nvPr/>
        </p:nvSpPr>
        <p:spPr>
          <a:xfrm>
            <a:off x="4668678" y="6028263"/>
            <a:ext cx="1872000" cy="504000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"Age?"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7" name="Gerade Verbindung mit Pfeil 36"/>
          <p:cNvCxnSpPr>
            <a:stCxn id="12" idx="4"/>
            <a:endCxn id="41" idx="0"/>
          </p:cNvCxnSpPr>
          <p:nvPr/>
        </p:nvCxnSpPr>
        <p:spPr>
          <a:xfrm flipH="1">
            <a:off x="6139741" y="3628313"/>
            <a:ext cx="1368610" cy="948154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28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348" y="332656"/>
            <a:ext cx="6659884" cy="548680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Ontology</a:t>
            </a:r>
            <a:endParaRPr lang="de-DE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38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150958" y="1219603"/>
            <a:ext cx="1482765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762330" cy="0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RDF</a:t>
            </a:r>
            <a:endParaRPr lang="de-DE" smtClean="0"/>
          </a:p>
        </p:txBody>
      </p:sp>
      <p:sp>
        <p:nvSpPr>
          <p:cNvPr id="45" name="Textfeld 44"/>
          <p:cNvSpPr txBox="1"/>
          <p:nvPr/>
        </p:nvSpPr>
        <p:spPr>
          <a:xfrm>
            <a:off x="2843808" y="908720"/>
            <a:ext cx="1984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rgbClr val="FF0000"/>
                </a:solidFill>
              </a:rPr>
              <a:t>a</a:t>
            </a:r>
            <a:r>
              <a:rPr lang="de-DE" sz="1400" smtClean="0">
                <a:solidFill>
                  <a:srgbClr val="FF0000"/>
                </a:solidFill>
              </a:rPr>
              <a:t>  type_Element_Type  b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180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contains_ComplexType_ComplexContent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contains_Sequence_Element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932460" y="5281463"/>
            <a:ext cx="1778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r</a:t>
            </a:r>
            <a:r>
              <a:rPr lang="de-DE" sz="1400" smtClean="0"/>
              <a:t>ef_Element_Element</a:t>
            </a:r>
            <a:endParaRPr lang="en-US" sz="1400"/>
          </a:p>
        </p:txBody>
      </p:sp>
      <p:sp>
        <p:nvSpPr>
          <p:cNvPr id="59" name="Ellipse 58"/>
          <p:cNvSpPr/>
          <p:nvPr/>
        </p:nvSpPr>
        <p:spPr>
          <a:xfrm>
            <a:off x="4012580" y="5963086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String-Type…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stCxn id="59" idx="0"/>
            <a:endCxn id="19" idx="4"/>
          </p:cNvCxnSpPr>
          <p:nvPr/>
        </p:nvCxnSpPr>
        <p:spPr>
          <a:xfrm flipV="1">
            <a:off x="5200712" y="5285107"/>
            <a:ext cx="0" cy="67797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5186151" y="5445224"/>
            <a:ext cx="1788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value_Element_String</a:t>
            </a:r>
            <a:endParaRPr lang="en-US" sz="1400"/>
          </a:p>
        </p:txBody>
      </p:sp>
      <p:cxnSp>
        <p:nvCxnSpPr>
          <p:cNvPr id="52" name="Gerade Verbindung mit Pfeil 51"/>
          <p:cNvCxnSpPr>
            <a:stCxn id="59" idx="6"/>
            <a:endCxn id="37" idx="1"/>
          </p:cNvCxnSpPr>
          <p:nvPr/>
        </p:nvCxnSpPr>
        <p:spPr>
          <a:xfrm flipV="1">
            <a:off x="6388844" y="6135814"/>
            <a:ext cx="546984" cy="389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/>
          <p:cNvSpPr txBox="1"/>
          <p:nvPr/>
        </p:nvSpPr>
        <p:spPr>
          <a:xfrm>
            <a:off x="6100972" y="901974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a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179802" y="91949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b</a:t>
            </a:r>
            <a:endParaRPr 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03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348" y="332656"/>
            <a:ext cx="6659884" cy="548680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Ontology</a:t>
            </a:r>
            <a:endParaRPr lang="de-DE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39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150958" y="1219603"/>
            <a:ext cx="1482765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76233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RDF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51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rgbClr val="FF0000"/>
                </a:solidFill>
              </a:rPr>
              <a:t>b</a:t>
            </a:r>
            <a:r>
              <a:rPr lang="de-DE" sz="1400" smtClean="0">
                <a:solidFill>
                  <a:srgbClr val="FF0000"/>
                </a:solidFill>
              </a:rPr>
              <a:t>  contains_ComplexType_ComplexContent  c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2911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contains_ComplexContent_Extension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contains_Sequence_Element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932460" y="5281463"/>
            <a:ext cx="1778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r</a:t>
            </a:r>
            <a:r>
              <a:rPr lang="de-DE" sz="1400" smtClean="0"/>
              <a:t>ef_Element_Element</a:t>
            </a:r>
            <a:endParaRPr lang="en-US" sz="1400"/>
          </a:p>
        </p:txBody>
      </p:sp>
      <p:sp>
        <p:nvSpPr>
          <p:cNvPr id="59" name="Ellipse 58"/>
          <p:cNvSpPr/>
          <p:nvPr/>
        </p:nvSpPr>
        <p:spPr>
          <a:xfrm>
            <a:off x="4012580" y="5963086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String-Type…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stCxn id="59" idx="0"/>
            <a:endCxn id="19" idx="4"/>
          </p:cNvCxnSpPr>
          <p:nvPr/>
        </p:nvCxnSpPr>
        <p:spPr>
          <a:xfrm flipV="1">
            <a:off x="5200712" y="5285107"/>
            <a:ext cx="0" cy="67797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5186151" y="5445224"/>
            <a:ext cx="1788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value_Element_String</a:t>
            </a:r>
            <a:endParaRPr lang="en-US" sz="1400"/>
          </a:p>
        </p:txBody>
      </p:sp>
      <p:cxnSp>
        <p:nvCxnSpPr>
          <p:cNvPr id="52" name="Gerade Verbindung mit Pfeil 51"/>
          <p:cNvCxnSpPr>
            <a:stCxn id="59" idx="6"/>
            <a:endCxn id="37" idx="1"/>
          </p:cNvCxnSpPr>
          <p:nvPr/>
        </p:nvCxnSpPr>
        <p:spPr>
          <a:xfrm flipV="1">
            <a:off x="6388844" y="6135814"/>
            <a:ext cx="546984" cy="389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6100972" y="901974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a</a:t>
            </a:r>
            <a:endParaRPr lang="en-US" sz="1400"/>
          </a:p>
        </p:txBody>
      </p:sp>
      <p:sp>
        <p:nvSpPr>
          <p:cNvPr id="34" name="Textfeld 33"/>
          <p:cNvSpPr txBox="1"/>
          <p:nvPr/>
        </p:nvSpPr>
        <p:spPr>
          <a:xfrm>
            <a:off x="179802" y="91949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b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36" name="Textfeld 35"/>
          <p:cNvSpPr txBox="1"/>
          <p:nvPr/>
        </p:nvSpPr>
        <p:spPr>
          <a:xfrm>
            <a:off x="179802" y="184934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c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2843808" y="908720"/>
            <a:ext cx="1984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a</a:t>
            </a:r>
            <a:r>
              <a:rPr lang="de-DE" sz="1400" smtClean="0"/>
              <a:t>  type_Element_Type  b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92935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348" y="332656"/>
            <a:ext cx="6659884" cy="548680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Ontology</a:t>
            </a:r>
            <a:endParaRPr lang="de-DE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40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150958" y="1219603"/>
            <a:ext cx="1482765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76233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RDF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51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b</a:t>
            </a:r>
            <a:r>
              <a:rPr lang="de-DE" sz="1400" smtClean="0"/>
              <a:t>  contains_ComplexType_ComplexContent  c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3241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rgbClr val="FF0000"/>
                </a:solidFill>
              </a:rPr>
              <a:t>c</a:t>
            </a:r>
            <a:r>
              <a:rPr lang="de-DE" sz="1400" smtClean="0">
                <a:solidFill>
                  <a:srgbClr val="FF0000"/>
                </a:solidFill>
              </a:rPr>
              <a:t>  contains_ComplexContent_Extension  d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39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contains_Extension_Sequence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contains_Sequence_Element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932460" y="5281463"/>
            <a:ext cx="1778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r</a:t>
            </a:r>
            <a:r>
              <a:rPr lang="de-DE" sz="1400" smtClean="0"/>
              <a:t>ef_Element_Element</a:t>
            </a:r>
            <a:endParaRPr lang="en-US" sz="1400"/>
          </a:p>
        </p:txBody>
      </p:sp>
      <p:sp>
        <p:nvSpPr>
          <p:cNvPr id="59" name="Ellipse 58"/>
          <p:cNvSpPr/>
          <p:nvPr/>
        </p:nvSpPr>
        <p:spPr>
          <a:xfrm>
            <a:off x="4012580" y="5963086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String-Type…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stCxn id="59" idx="0"/>
            <a:endCxn id="19" idx="4"/>
          </p:cNvCxnSpPr>
          <p:nvPr/>
        </p:nvCxnSpPr>
        <p:spPr>
          <a:xfrm flipV="1">
            <a:off x="5200712" y="5285107"/>
            <a:ext cx="0" cy="67797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5186151" y="5445224"/>
            <a:ext cx="1788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value_Element_String</a:t>
            </a:r>
            <a:endParaRPr lang="en-US" sz="1400"/>
          </a:p>
        </p:txBody>
      </p:sp>
      <p:cxnSp>
        <p:nvCxnSpPr>
          <p:cNvPr id="52" name="Gerade Verbindung mit Pfeil 51"/>
          <p:cNvCxnSpPr>
            <a:stCxn id="59" idx="6"/>
            <a:endCxn id="37" idx="1"/>
          </p:cNvCxnSpPr>
          <p:nvPr/>
        </p:nvCxnSpPr>
        <p:spPr>
          <a:xfrm flipV="1">
            <a:off x="6388844" y="6135814"/>
            <a:ext cx="546984" cy="389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6100972" y="901974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a</a:t>
            </a:r>
            <a:endParaRPr lang="en-US" sz="1400"/>
          </a:p>
        </p:txBody>
      </p:sp>
      <p:sp>
        <p:nvSpPr>
          <p:cNvPr id="34" name="Textfeld 33"/>
          <p:cNvSpPr txBox="1"/>
          <p:nvPr/>
        </p:nvSpPr>
        <p:spPr>
          <a:xfrm>
            <a:off x="179802" y="91949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b</a:t>
            </a:r>
            <a:endParaRPr lang="en-US" sz="1400"/>
          </a:p>
        </p:txBody>
      </p:sp>
      <p:sp>
        <p:nvSpPr>
          <p:cNvPr id="36" name="Textfeld 35"/>
          <p:cNvSpPr txBox="1"/>
          <p:nvPr/>
        </p:nvSpPr>
        <p:spPr>
          <a:xfrm>
            <a:off x="179802" y="184934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c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179512" y="278092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d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4" name="Textfeld 53"/>
          <p:cNvSpPr txBox="1"/>
          <p:nvPr/>
        </p:nvSpPr>
        <p:spPr>
          <a:xfrm>
            <a:off x="2843808" y="908720"/>
            <a:ext cx="1984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a</a:t>
            </a:r>
            <a:r>
              <a:rPr lang="de-DE" sz="1400" smtClean="0"/>
              <a:t>  type_Element_Type  b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15866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348" y="332656"/>
            <a:ext cx="6659884" cy="548680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Ontology</a:t>
            </a:r>
            <a:endParaRPr lang="de-DE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41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150958" y="1219603"/>
            <a:ext cx="1482765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76233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RDF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51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b</a:t>
            </a:r>
            <a:r>
              <a:rPr lang="de-DE" sz="1400" smtClean="0"/>
              <a:t>  contains_ComplexType_ComplexContent  c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3241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c</a:t>
            </a:r>
            <a:r>
              <a:rPr lang="de-DE" sz="1400" smtClean="0"/>
              <a:t>  contains_ComplexContent_Extension  d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744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d  contains_Extension_Sequence  e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293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contains_Sequence_Element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932460" y="5281463"/>
            <a:ext cx="1778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r</a:t>
            </a:r>
            <a:r>
              <a:rPr lang="de-DE" sz="1400" smtClean="0"/>
              <a:t>ef_Element_Element</a:t>
            </a:r>
            <a:endParaRPr lang="en-US" sz="1400"/>
          </a:p>
        </p:txBody>
      </p:sp>
      <p:sp>
        <p:nvSpPr>
          <p:cNvPr id="59" name="Ellipse 58"/>
          <p:cNvSpPr/>
          <p:nvPr/>
        </p:nvSpPr>
        <p:spPr>
          <a:xfrm>
            <a:off x="4012580" y="5963086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String-Type…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stCxn id="59" idx="0"/>
            <a:endCxn id="19" idx="4"/>
          </p:cNvCxnSpPr>
          <p:nvPr/>
        </p:nvCxnSpPr>
        <p:spPr>
          <a:xfrm flipV="1">
            <a:off x="5200712" y="5285107"/>
            <a:ext cx="0" cy="67797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5186151" y="5445224"/>
            <a:ext cx="1788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value_Element_String</a:t>
            </a:r>
            <a:endParaRPr lang="en-US" sz="1400"/>
          </a:p>
        </p:txBody>
      </p:sp>
      <p:cxnSp>
        <p:nvCxnSpPr>
          <p:cNvPr id="52" name="Gerade Verbindung mit Pfeil 51"/>
          <p:cNvCxnSpPr>
            <a:stCxn id="59" idx="6"/>
            <a:endCxn id="37" idx="1"/>
          </p:cNvCxnSpPr>
          <p:nvPr/>
        </p:nvCxnSpPr>
        <p:spPr>
          <a:xfrm flipV="1">
            <a:off x="6388844" y="6135814"/>
            <a:ext cx="546984" cy="389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6100972" y="901974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a</a:t>
            </a:r>
            <a:endParaRPr lang="en-US" sz="1400"/>
          </a:p>
        </p:txBody>
      </p:sp>
      <p:sp>
        <p:nvSpPr>
          <p:cNvPr id="34" name="Textfeld 33"/>
          <p:cNvSpPr txBox="1"/>
          <p:nvPr/>
        </p:nvSpPr>
        <p:spPr>
          <a:xfrm>
            <a:off x="179802" y="91949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b</a:t>
            </a:r>
            <a:endParaRPr lang="en-US" sz="1400"/>
          </a:p>
        </p:txBody>
      </p:sp>
      <p:sp>
        <p:nvSpPr>
          <p:cNvPr id="36" name="Textfeld 35"/>
          <p:cNvSpPr txBox="1"/>
          <p:nvPr/>
        </p:nvSpPr>
        <p:spPr>
          <a:xfrm>
            <a:off x="179802" y="184934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</a:t>
            </a:r>
            <a:endParaRPr lang="en-US" sz="1400"/>
          </a:p>
        </p:txBody>
      </p:sp>
      <p:sp>
        <p:nvSpPr>
          <p:cNvPr id="43" name="Textfeld 42"/>
          <p:cNvSpPr txBox="1"/>
          <p:nvPr/>
        </p:nvSpPr>
        <p:spPr>
          <a:xfrm>
            <a:off x="179512" y="278092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d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4" name="Textfeld 53"/>
          <p:cNvSpPr txBox="1"/>
          <p:nvPr/>
        </p:nvSpPr>
        <p:spPr>
          <a:xfrm>
            <a:off x="179512" y="371703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e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5" name="Textfeld 54"/>
          <p:cNvSpPr txBox="1"/>
          <p:nvPr/>
        </p:nvSpPr>
        <p:spPr>
          <a:xfrm>
            <a:off x="2843808" y="908720"/>
            <a:ext cx="1984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a</a:t>
            </a:r>
            <a:r>
              <a:rPr lang="de-DE" sz="1400" smtClean="0"/>
              <a:t>  type_Element_Type  b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7163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348" y="332656"/>
            <a:ext cx="6659884" cy="548680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Ontology</a:t>
            </a:r>
            <a:endParaRPr lang="de-DE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42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150958" y="1219603"/>
            <a:ext cx="1482765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76233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RDF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51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b</a:t>
            </a:r>
            <a:r>
              <a:rPr lang="de-DE" sz="1400" smtClean="0"/>
              <a:t>  contains_ComplexType_ComplexContent  c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3241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c</a:t>
            </a:r>
            <a:r>
              <a:rPr lang="de-DE" sz="1400" smtClean="0"/>
              <a:t>  contains_ComplexContent_Extension  d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744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  contains_Extension_Sequence  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598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e  contains_Sequence_Element  f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1" name="Textfeld 50"/>
          <p:cNvSpPr txBox="1"/>
          <p:nvPr/>
        </p:nvSpPr>
        <p:spPr>
          <a:xfrm>
            <a:off x="2932460" y="5281463"/>
            <a:ext cx="1778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r</a:t>
            </a:r>
            <a:r>
              <a:rPr lang="de-DE" sz="1400" smtClean="0"/>
              <a:t>ef_Element_Element</a:t>
            </a:r>
            <a:endParaRPr lang="en-US" sz="1400"/>
          </a:p>
        </p:txBody>
      </p:sp>
      <p:sp>
        <p:nvSpPr>
          <p:cNvPr id="59" name="Ellipse 58"/>
          <p:cNvSpPr/>
          <p:nvPr/>
        </p:nvSpPr>
        <p:spPr>
          <a:xfrm>
            <a:off x="4012580" y="5963086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String-Type…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stCxn id="59" idx="0"/>
            <a:endCxn id="19" idx="4"/>
          </p:cNvCxnSpPr>
          <p:nvPr/>
        </p:nvCxnSpPr>
        <p:spPr>
          <a:xfrm flipV="1">
            <a:off x="5200712" y="5285107"/>
            <a:ext cx="0" cy="67797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5186151" y="5445224"/>
            <a:ext cx="1788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value_Element_String</a:t>
            </a:r>
            <a:endParaRPr lang="en-US" sz="1400"/>
          </a:p>
        </p:txBody>
      </p:sp>
      <p:cxnSp>
        <p:nvCxnSpPr>
          <p:cNvPr id="52" name="Gerade Verbindung mit Pfeil 51"/>
          <p:cNvCxnSpPr>
            <a:stCxn id="59" idx="6"/>
            <a:endCxn id="37" idx="1"/>
          </p:cNvCxnSpPr>
          <p:nvPr/>
        </p:nvCxnSpPr>
        <p:spPr>
          <a:xfrm flipV="1">
            <a:off x="6388844" y="6135814"/>
            <a:ext cx="546984" cy="389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6100972" y="901974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a</a:t>
            </a:r>
            <a:endParaRPr lang="en-US" sz="1400"/>
          </a:p>
        </p:txBody>
      </p:sp>
      <p:sp>
        <p:nvSpPr>
          <p:cNvPr id="34" name="Textfeld 33"/>
          <p:cNvSpPr txBox="1"/>
          <p:nvPr/>
        </p:nvSpPr>
        <p:spPr>
          <a:xfrm>
            <a:off x="179802" y="91949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b</a:t>
            </a:r>
            <a:endParaRPr lang="en-US" sz="1400"/>
          </a:p>
        </p:txBody>
      </p:sp>
      <p:sp>
        <p:nvSpPr>
          <p:cNvPr id="36" name="Textfeld 35"/>
          <p:cNvSpPr txBox="1"/>
          <p:nvPr/>
        </p:nvSpPr>
        <p:spPr>
          <a:xfrm>
            <a:off x="179802" y="184934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</a:t>
            </a:r>
            <a:endParaRPr lang="en-US" sz="1400"/>
          </a:p>
        </p:txBody>
      </p:sp>
      <p:sp>
        <p:nvSpPr>
          <p:cNvPr id="43" name="Textfeld 42"/>
          <p:cNvSpPr txBox="1"/>
          <p:nvPr/>
        </p:nvSpPr>
        <p:spPr>
          <a:xfrm>
            <a:off x="179512" y="278092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</a:t>
            </a:r>
            <a:endParaRPr lang="en-US" sz="1400"/>
          </a:p>
        </p:txBody>
      </p:sp>
      <p:sp>
        <p:nvSpPr>
          <p:cNvPr id="54" name="Textfeld 53"/>
          <p:cNvSpPr txBox="1"/>
          <p:nvPr/>
        </p:nvSpPr>
        <p:spPr>
          <a:xfrm>
            <a:off x="179512" y="371703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e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5" name="Textfeld 54"/>
          <p:cNvSpPr txBox="1"/>
          <p:nvPr/>
        </p:nvSpPr>
        <p:spPr>
          <a:xfrm>
            <a:off x="179512" y="4653136"/>
            <a:ext cx="23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f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7" name="Textfeld 56"/>
          <p:cNvSpPr txBox="1"/>
          <p:nvPr/>
        </p:nvSpPr>
        <p:spPr>
          <a:xfrm>
            <a:off x="2843808" y="908720"/>
            <a:ext cx="1984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a</a:t>
            </a:r>
            <a:r>
              <a:rPr lang="de-DE" sz="1400" smtClean="0"/>
              <a:t>  type_Element_Type  b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97109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348" y="332656"/>
            <a:ext cx="6659884" cy="548680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Ontology</a:t>
            </a:r>
            <a:endParaRPr lang="de-DE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43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150958" y="1219603"/>
            <a:ext cx="1482765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76233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RDF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51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b</a:t>
            </a:r>
            <a:r>
              <a:rPr lang="de-DE" sz="1400" smtClean="0"/>
              <a:t>  contains_ComplexType_ComplexContent  c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3241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c</a:t>
            </a:r>
            <a:r>
              <a:rPr lang="de-DE" sz="1400" smtClean="0"/>
              <a:t>  contains_ComplexContent_Extension  d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744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  contains_Extension_Sequence  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598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e  contains_Sequence_Element  f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771800" y="5281463"/>
            <a:ext cx="2038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rgbClr val="FF0000"/>
                </a:solidFill>
              </a:rPr>
              <a:t>f</a:t>
            </a:r>
            <a:r>
              <a:rPr lang="de-DE" sz="1400" smtClean="0">
                <a:solidFill>
                  <a:srgbClr val="FF0000"/>
                </a:solidFill>
              </a:rPr>
              <a:t>  ref_Element_Element g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9" name="Ellipse 58"/>
          <p:cNvSpPr/>
          <p:nvPr/>
        </p:nvSpPr>
        <p:spPr>
          <a:xfrm>
            <a:off x="4012580" y="5963086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String-Type…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stCxn id="59" idx="0"/>
            <a:endCxn id="19" idx="4"/>
          </p:cNvCxnSpPr>
          <p:nvPr/>
        </p:nvCxnSpPr>
        <p:spPr>
          <a:xfrm flipV="1">
            <a:off x="5200712" y="5285107"/>
            <a:ext cx="0" cy="67797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5186151" y="5445224"/>
            <a:ext cx="1788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value_Element_String</a:t>
            </a:r>
            <a:endParaRPr lang="en-US" sz="1400"/>
          </a:p>
        </p:txBody>
      </p:sp>
      <p:cxnSp>
        <p:nvCxnSpPr>
          <p:cNvPr id="52" name="Gerade Verbindung mit Pfeil 51"/>
          <p:cNvCxnSpPr>
            <a:stCxn id="59" idx="6"/>
            <a:endCxn id="37" idx="1"/>
          </p:cNvCxnSpPr>
          <p:nvPr/>
        </p:nvCxnSpPr>
        <p:spPr>
          <a:xfrm flipV="1">
            <a:off x="6388844" y="6135814"/>
            <a:ext cx="546984" cy="389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6100972" y="901974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a</a:t>
            </a:r>
            <a:endParaRPr lang="en-US" sz="1400"/>
          </a:p>
        </p:txBody>
      </p:sp>
      <p:sp>
        <p:nvSpPr>
          <p:cNvPr id="34" name="Textfeld 33"/>
          <p:cNvSpPr txBox="1"/>
          <p:nvPr/>
        </p:nvSpPr>
        <p:spPr>
          <a:xfrm>
            <a:off x="179802" y="91949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b</a:t>
            </a:r>
            <a:endParaRPr lang="en-US" sz="1400"/>
          </a:p>
        </p:txBody>
      </p:sp>
      <p:sp>
        <p:nvSpPr>
          <p:cNvPr id="36" name="Textfeld 35"/>
          <p:cNvSpPr txBox="1"/>
          <p:nvPr/>
        </p:nvSpPr>
        <p:spPr>
          <a:xfrm>
            <a:off x="179802" y="184934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</a:t>
            </a:r>
            <a:endParaRPr lang="en-US" sz="1400"/>
          </a:p>
        </p:txBody>
      </p:sp>
      <p:sp>
        <p:nvSpPr>
          <p:cNvPr id="43" name="Textfeld 42"/>
          <p:cNvSpPr txBox="1"/>
          <p:nvPr/>
        </p:nvSpPr>
        <p:spPr>
          <a:xfrm>
            <a:off x="179512" y="278092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</a:t>
            </a:r>
            <a:endParaRPr lang="en-US" sz="1400"/>
          </a:p>
        </p:txBody>
      </p:sp>
      <p:sp>
        <p:nvSpPr>
          <p:cNvPr id="54" name="Textfeld 53"/>
          <p:cNvSpPr txBox="1"/>
          <p:nvPr/>
        </p:nvSpPr>
        <p:spPr>
          <a:xfrm>
            <a:off x="179512" y="371703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e</a:t>
            </a:r>
            <a:endParaRPr lang="en-US" sz="1400"/>
          </a:p>
        </p:txBody>
      </p:sp>
      <p:sp>
        <p:nvSpPr>
          <p:cNvPr id="55" name="Textfeld 54"/>
          <p:cNvSpPr txBox="1"/>
          <p:nvPr/>
        </p:nvSpPr>
        <p:spPr>
          <a:xfrm>
            <a:off x="179512" y="4653136"/>
            <a:ext cx="23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f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7" name="Textfeld 56"/>
          <p:cNvSpPr txBox="1"/>
          <p:nvPr/>
        </p:nvSpPr>
        <p:spPr>
          <a:xfrm>
            <a:off x="2843808" y="908720"/>
            <a:ext cx="1984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a</a:t>
            </a:r>
            <a:r>
              <a:rPr lang="de-DE" sz="1400" smtClean="0"/>
              <a:t>  type_Element_Type  b</a:t>
            </a:r>
            <a:endParaRPr lang="en-US" sz="1400"/>
          </a:p>
        </p:txBody>
      </p:sp>
      <p:sp>
        <p:nvSpPr>
          <p:cNvPr id="45" name="Textfeld 44"/>
          <p:cNvSpPr txBox="1"/>
          <p:nvPr/>
        </p:nvSpPr>
        <p:spPr>
          <a:xfrm>
            <a:off x="6133032" y="4653136"/>
            <a:ext cx="269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rgbClr val="FF0000"/>
                </a:solidFill>
              </a:rPr>
              <a:t>g</a:t>
            </a:r>
            <a:endParaRPr 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011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348" y="332656"/>
            <a:ext cx="6659884" cy="548680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Ontology</a:t>
            </a:r>
            <a:endParaRPr lang="de-DE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44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150958" y="1219603"/>
            <a:ext cx="1482765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76233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RDF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51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b</a:t>
            </a:r>
            <a:r>
              <a:rPr lang="de-DE" sz="1400" smtClean="0"/>
              <a:t>  contains_ComplexType_ComplexContent  c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3241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c</a:t>
            </a:r>
            <a:r>
              <a:rPr lang="de-DE" sz="1400" smtClean="0"/>
              <a:t>  contains_ComplexContent_Extension  d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744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  contains_Extension_Sequence  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598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e  contains_Sequence_Element  f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771800" y="5281463"/>
            <a:ext cx="2038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f</a:t>
            </a:r>
            <a:r>
              <a:rPr lang="de-DE" sz="1400" smtClean="0"/>
              <a:t>  ref_Element_Element g</a:t>
            </a:r>
            <a:endParaRPr lang="en-US" sz="1400"/>
          </a:p>
        </p:txBody>
      </p:sp>
      <p:sp>
        <p:nvSpPr>
          <p:cNvPr id="59" name="Ellipse 58"/>
          <p:cNvSpPr/>
          <p:nvPr/>
        </p:nvSpPr>
        <p:spPr>
          <a:xfrm>
            <a:off x="4012580" y="5963086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String-Type…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stCxn id="59" idx="0"/>
            <a:endCxn id="19" idx="4"/>
          </p:cNvCxnSpPr>
          <p:nvPr/>
        </p:nvCxnSpPr>
        <p:spPr>
          <a:xfrm flipV="1">
            <a:off x="5200712" y="5285107"/>
            <a:ext cx="0" cy="67797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5186151" y="5445224"/>
            <a:ext cx="1788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value_Element_String</a:t>
            </a:r>
            <a:endParaRPr lang="en-US" sz="1400"/>
          </a:p>
        </p:txBody>
      </p:sp>
      <p:cxnSp>
        <p:nvCxnSpPr>
          <p:cNvPr id="52" name="Gerade Verbindung mit Pfeil 51"/>
          <p:cNvCxnSpPr>
            <a:stCxn id="59" idx="6"/>
            <a:endCxn id="37" idx="1"/>
          </p:cNvCxnSpPr>
          <p:nvPr/>
        </p:nvCxnSpPr>
        <p:spPr>
          <a:xfrm flipV="1">
            <a:off x="6388844" y="6135814"/>
            <a:ext cx="546984" cy="389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6100972" y="901974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a</a:t>
            </a:r>
            <a:endParaRPr lang="en-US" sz="1400"/>
          </a:p>
        </p:txBody>
      </p:sp>
      <p:sp>
        <p:nvSpPr>
          <p:cNvPr id="34" name="Textfeld 33"/>
          <p:cNvSpPr txBox="1"/>
          <p:nvPr/>
        </p:nvSpPr>
        <p:spPr>
          <a:xfrm>
            <a:off x="179802" y="91949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b</a:t>
            </a:r>
            <a:endParaRPr lang="en-US" sz="1400"/>
          </a:p>
        </p:txBody>
      </p:sp>
      <p:sp>
        <p:nvSpPr>
          <p:cNvPr id="36" name="Textfeld 35"/>
          <p:cNvSpPr txBox="1"/>
          <p:nvPr/>
        </p:nvSpPr>
        <p:spPr>
          <a:xfrm>
            <a:off x="179802" y="184934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</a:t>
            </a:r>
            <a:endParaRPr lang="en-US" sz="1400"/>
          </a:p>
        </p:txBody>
      </p:sp>
      <p:sp>
        <p:nvSpPr>
          <p:cNvPr id="43" name="Textfeld 42"/>
          <p:cNvSpPr txBox="1"/>
          <p:nvPr/>
        </p:nvSpPr>
        <p:spPr>
          <a:xfrm>
            <a:off x="179512" y="278092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</a:t>
            </a:r>
            <a:endParaRPr lang="en-US" sz="1400"/>
          </a:p>
        </p:txBody>
      </p:sp>
      <p:sp>
        <p:nvSpPr>
          <p:cNvPr id="54" name="Textfeld 53"/>
          <p:cNvSpPr txBox="1"/>
          <p:nvPr/>
        </p:nvSpPr>
        <p:spPr>
          <a:xfrm>
            <a:off x="179512" y="371703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e</a:t>
            </a:r>
            <a:endParaRPr lang="en-US" sz="1400"/>
          </a:p>
        </p:txBody>
      </p:sp>
      <p:sp>
        <p:nvSpPr>
          <p:cNvPr id="55" name="Textfeld 54"/>
          <p:cNvSpPr txBox="1"/>
          <p:nvPr/>
        </p:nvSpPr>
        <p:spPr>
          <a:xfrm>
            <a:off x="179512" y="4653136"/>
            <a:ext cx="23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f</a:t>
            </a:r>
            <a:endParaRPr lang="en-US" sz="1400"/>
          </a:p>
        </p:txBody>
      </p:sp>
      <p:sp>
        <p:nvSpPr>
          <p:cNvPr id="57" name="Textfeld 56"/>
          <p:cNvSpPr txBox="1"/>
          <p:nvPr/>
        </p:nvSpPr>
        <p:spPr>
          <a:xfrm>
            <a:off x="2843808" y="908720"/>
            <a:ext cx="1984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a</a:t>
            </a:r>
            <a:r>
              <a:rPr lang="de-DE" sz="1400" smtClean="0"/>
              <a:t>  type_Element_Type  b</a:t>
            </a:r>
            <a:endParaRPr lang="en-US" sz="1400"/>
          </a:p>
        </p:txBody>
      </p:sp>
      <p:sp>
        <p:nvSpPr>
          <p:cNvPr id="45" name="Textfeld 44"/>
          <p:cNvSpPr txBox="1"/>
          <p:nvPr/>
        </p:nvSpPr>
        <p:spPr>
          <a:xfrm>
            <a:off x="6133032" y="4653136"/>
            <a:ext cx="269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rgbClr val="FF0000"/>
                </a:solidFill>
              </a:rPr>
              <a:t>g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8" name="Textfeld 57"/>
          <p:cNvSpPr txBox="1"/>
          <p:nvPr/>
        </p:nvSpPr>
        <p:spPr>
          <a:xfrm>
            <a:off x="6763566" y="4941168"/>
            <a:ext cx="2313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VariableName-Element… ( g )</a:t>
            </a:r>
            <a:endParaRPr 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74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348" y="332656"/>
            <a:ext cx="6659884" cy="548680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Ontology</a:t>
            </a:r>
            <a:endParaRPr lang="de-DE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45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150958" y="1219603"/>
            <a:ext cx="1482765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76233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RDF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51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b</a:t>
            </a:r>
            <a:r>
              <a:rPr lang="de-DE" sz="1400" smtClean="0"/>
              <a:t>  contains_ComplexType_ComplexContent  c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3241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c</a:t>
            </a:r>
            <a:r>
              <a:rPr lang="de-DE" sz="1400" smtClean="0"/>
              <a:t>  contains_ComplexContent_Extension  d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744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  contains_Extension_Sequence  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598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e  contains_Sequence_Element  f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771800" y="5281463"/>
            <a:ext cx="2038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f</a:t>
            </a:r>
            <a:r>
              <a:rPr lang="de-DE" sz="1400" smtClean="0"/>
              <a:t>  ref_Element_Element g</a:t>
            </a:r>
            <a:endParaRPr lang="en-US" sz="1400"/>
          </a:p>
        </p:txBody>
      </p:sp>
      <p:sp>
        <p:nvSpPr>
          <p:cNvPr id="59" name="Ellipse 58"/>
          <p:cNvSpPr/>
          <p:nvPr/>
        </p:nvSpPr>
        <p:spPr>
          <a:xfrm>
            <a:off x="4012580" y="5963086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String-Type…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stCxn id="59" idx="0"/>
            <a:endCxn id="19" idx="4"/>
          </p:cNvCxnSpPr>
          <p:nvPr/>
        </p:nvCxnSpPr>
        <p:spPr>
          <a:xfrm flipV="1">
            <a:off x="5200712" y="5285107"/>
            <a:ext cx="0" cy="677979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5186151" y="5445224"/>
            <a:ext cx="21280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rgbClr val="FF0000"/>
                </a:solidFill>
              </a:rPr>
              <a:t>g</a:t>
            </a:r>
            <a:r>
              <a:rPr lang="de-DE" sz="1400" smtClean="0">
                <a:solidFill>
                  <a:srgbClr val="FF0000"/>
                </a:solidFill>
              </a:rPr>
              <a:t>  value_Element_String  h</a:t>
            </a:r>
            <a:endParaRPr lang="en-US" sz="1400">
              <a:solidFill>
                <a:srgbClr val="FF0000"/>
              </a:solidFill>
            </a:endParaRPr>
          </a:p>
        </p:txBody>
      </p:sp>
      <p:cxnSp>
        <p:nvCxnSpPr>
          <p:cNvPr id="52" name="Gerade Verbindung mit Pfeil 51"/>
          <p:cNvCxnSpPr>
            <a:stCxn id="59" idx="6"/>
            <a:endCxn id="37" idx="1"/>
          </p:cNvCxnSpPr>
          <p:nvPr/>
        </p:nvCxnSpPr>
        <p:spPr>
          <a:xfrm flipV="1">
            <a:off x="6388844" y="6135814"/>
            <a:ext cx="546984" cy="389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6100972" y="901974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a</a:t>
            </a:r>
            <a:endParaRPr lang="en-US" sz="1400"/>
          </a:p>
        </p:txBody>
      </p:sp>
      <p:sp>
        <p:nvSpPr>
          <p:cNvPr id="34" name="Textfeld 33"/>
          <p:cNvSpPr txBox="1"/>
          <p:nvPr/>
        </p:nvSpPr>
        <p:spPr>
          <a:xfrm>
            <a:off x="179802" y="91949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b</a:t>
            </a:r>
            <a:endParaRPr lang="en-US" sz="1400"/>
          </a:p>
        </p:txBody>
      </p:sp>
      <p:sp>
        <p:nvSpPr>
          <p:cNvPr id="36" name="Textfeld 35"/>
          <p:cNvSpPr txBox="1"/>
          <p:nvPr/>
        </p:nvSpPr>
        <p:spPr>
          <a:xfrm>
            <a:off x="179802" y="184934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</a:t>
            </a:r>
            <a:endParaRPr lang="en-US" sz="1400"/>
          </a:p>
        </p:txBody>
      </p:sp>
      <p:sp>
        <p:nvSpPr>
          <p:cNvPr id="43" name="Textfeld 42"/>
          <p:cNvSpPr txBox="1"/>
          <p:nvPr/>
        </p:nvSpPr>
        <p:spPr>
          <a:xfrm>
            <a:off x="179512" y="278092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</a:t>
            </a:r>
            <a:endParaRPr lang="en-US" sz="1400"/>
          </a:p>
        </p:txBody>
      </p:sp>
      <p:sp>
        <p:nvSpPr>
          <p:cNvPr id="54" name="Textfeld 53"/>
          <p:cNvSpPr txBox="1"/>
          <p:nvPr/>
        </p:nvSpPr>
        <p:spPr>
          <a:xfrm>
            <a:off x="179512" y="371703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e</a:t>
            </a:r>
            <a:endParaRPr lang="en-US" sz="1400"/>
          </a:p>
        </p:txBody>
      </p:sp>
      <p:sp>
        <p:nvSpPr>
          <p:cNvPr id="55" name="Textfeld 54"/>
          <p:cNvSpPr txBox="1"/>
          <p:nvPr/>
        </p:nvSpPr>
        <p:spPr>
          <a:xfrm>
            <a:off x="179512" y="4653136"/>
            <a:ext cx="23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f</a:t>
            </a:r>
            <a:endParaRPr lang="en-US" sz="1400"/>
          </a:p>
        </p:txBody>
      </p:sp>
      <p:sp>
        <p:nvSpPr>
          <p:cNvPr id="57" name="Textfeld 56"/>
          <p:cNvSpPr txBox="1"/>
          <p:nvPr/>
        </p:nvSpPr>
        <p:spPr>
          <a:xfrm>
            <a:off x="2843808" y="908720"/>
            <a:ext cx="1984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a</a:t>
            </a:r>
            <a:r>
              <a:rPr lang="de-DE" sz="1400" smtClean="0"/>
              <a:t>  type_Element_Type  b</a:t>
            </a:r>
            <a:endParaRPr lang="en-US" sz="1400"/>
          </a:p>
        </p:txBody>
      </p:sp>
      <p:sp>
        <p:nvSpPr>
          <p:cNvPr id="45" name="Textfeld 44"/>
          <p:cNvSpPr txBox="1"/>
          <p:nvPr/>
        </p:nvSpPr>
        <p:spPr>
          <a:xfrm>
            <a:off x="6133032" y="4653136"/>
            <a:ext cx="269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rgbClr val="FF0000"/>
                </a:solidFill>
              </a:rPr>
              <a:t>g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8" name="Textfeld 57"/>
          <p:cNvSpPr txBox="1"/>
          <p:nvPr/>
        </p:nvSpPr>
        <p:spPr>
          <a:xfrm>
            <a:off x="6763566" y="4941168"/>
            <a:ext cx="2313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VariableName-Element… ( g )</a:t>
            </a:r>
            <a:endParaRPr lang="en-US" sz="1400"/>
          </a:p>
        </p:txBody>
      </p:sp>
      <p:sp>
        <p:nvSpPr>
          <p:cNvPr id="60" name="Textfeld 59"/>
          <p:cNvSpPr txBox="1"/>
          <p:nvPr/>
        </p:nvSpPr>
        <p:spPr>
          <a:xfrm>
            <a:off x="6156176" y="571351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h</a:t>
            </a:r>
            <a:endParaRPr 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42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348" y="332656"/>
            <a:ext cx="6659884" cy="548680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Ontology</a:t>
            </a:r>
            <a:endParaRPr lang="de-DE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46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150958" y="1219603"/>
            <a:ext cx="1482765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76233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RDF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51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b</a:t>
            </a:r>
            <a:r>
              <a:rPr lang="de-DE" sz="1400" smtClean="0"/>
              <a:t>  contains_ComplexType_ComplexContent  c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3241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c</a:t>
            </a:r>
            <a:r>
              <a:rPr lang="de-DE" sz="1400" smtClean="0"/>
              <a:t>  contains_ComplexContent_Extension  d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744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  contains_Extension_Sequence  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598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e  contains_Sequence_Element  f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771800" y="5281463"/>
            <a:ext cx="2038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f</a:t>
            </a:r>
            <a:r>
              <a:rPr lang="de-DE" sz="1400" smtClean="0"/>
              <a:t>  ref_Element_Element g</a:t>
            </a:r>
            <a:endParaRPr lang="en-US" sz="1400"/>
          </a:p>
        </p:txBody>
      </p:sp>
      <p:sp>
        <p:nvSpPr>
          <p:cNvPr id="59" name="Ellipse 58"/>
          <p:cNvSpPr/>
          <p:nvPr/>
        </p:nvSpPr>
        <p:spPr>
          <a:xfrm>
            <a:off x="4012580" y="5963086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String-Type…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stCxn id="59" idx="0"/>
            <a:endCxn id="19" idx="4"/>
          </p:cNvCxnSpPr>
          <p:nvPr/>
        </p:nvCxnSpPr>
        <p:spPr>
          <a:xfrm flipV="1">
            <a:off x="5200712" y="5285107"/>
            <a:ext cx="0" cy="67797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/>
          <p:cNvCxnSpPr>
            <a:stCxn id="59" idx="6"/>
            <a:endCxn id="37" idx="1"/>
          </p:cNvCxnSpPr>
          <p:nvPr/>
        </p:nvCxnSpPr>
        <p:spPr>
          <a:xfrm flipV="1">
            <a:off x="6388844" y="6135814"/>
            <a:ext cx="546984" cy="389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6100972" y="901974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a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34" name="Textfeld 33"/>
          <p:cNvSpPr txBox="1"/>
          <p:nvPr/>
        </p:nvSpPr>
        <p:spPr>
          <a:xfrm>
            <a:off x="179802" y="91949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b</a:t>
            </a:r>
            <a:endParaRPr lang="en-US" sz="1400"/>
          </a:p>
        </p:txBody>
      </p:sp>
      <p:sp>
        <p:nvSpPr>
          <p:cNvPr id="36" name="Textfeld 35"/>
          <p:cNvSpPr txBox="1"/>
          <p:nvPr/>
        </p:nvSpPr>
        <p:spPr>
          <a:xfrm>
            <a:off x="179802" y="184934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</a:t>
            </a:r>
            <a:endParaRPr lang="en-US" sz="1400"/>
          </a:p>
        </p:txBody>
      </p:sp>
      <p:sp>
        <p:nvSpPr>
          <p:cNvPr id="43" name="Textfeld 42"/>
          <p:cNvSpPr txBox="1"/>
          <p:nvPr/>
        </p:nvSpPr>
        <p:spPr>
          <a:xfrm>
            <a:off x="179512" y="278092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</a:t>
            </a:r>
            <a:endParaRPr lang="en-US" sz="1400"/>
          </a:p>
        </p:txBody>
      </p:sp>
      <p:sp>
        <p:nvSpPr>
          <p:cNvPr id="54" name="Textfeld 53"/>
          <p:cNvSpPr txBox="1"/>
          <p:nvPr/>
        </p:nvSpPr>
        <p:spPr>
          <a:xfrm>
            <a:off x="179512" y="371703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e</a:t>
            </a:r>
            <a:endParaRPr lang="en-US" sz="1400"/>
          </a:p>
        </p:txBody>
      </p:sp>
      <p:sp>
        <p:nvSpPr>
          <p:cNvPr id="55" name="Textfeld 54"/>
          <p:cNvSpPr txBox="1"/>
          <p:nvPr/>
        </p:nvSpPr>
        <p:spPr>
          <a:xfrm>
            <a:off x="179512" y="4653136"/>
            <a:ext cx="23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f</a:t>
            </a:r>
            <a:endParaRPr lang="en-US" sz="1400"/>
          </a:p>
        </p:txBody>
      </p:sp>
      <p:sp>
        <p:nvSpPr>
          <p:cNvPr id="57" name="Textfeld 56"/>
          <p:cNvSpPr txBox="1"/>
          <p:nvPr/>
        </p:nvSpPr>
        <p:spPr>
          <a:xfrm>
            <a:off x="2843808" y="908720"/>
            <a:ext cx="1984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a</a:t>
            </a:r>
            <a:r>
              <a:rPr lang="de-DE" sz="1400" smtClean="0"/>
              <a:t>  type_Element_Type  b</a:t>
            </a:r>
            <a:endParaRPr lang="en-US" sz="1400"/>
          </a:p>
        </p:txBody>
      </p:sp>
      <p:sp>
        <p:nvSpPr>
          <p:cNvPr id="45" name="Textfeld 44"/>
          <p:cNvSpPr txBox="1"/>
          <p:nvPr/>
        </p:nvSpPr>
        <p:spPr>
          <a:xfrm>
            <a:off x="6133032" y="4653136"/>
            <a:ext cx="269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g</a:t>
            </a:r>
            <a:endParaRPr lang="en-US" sz="1400"/>
          </a:p>
        </p:txBody>
      </p:sp>
      <p:sp>
        <p:nvSpPr>
          <p:cNvPr id="58" name="Textfeld 57"/>
          <p:cNvSpPr txBox="1"/>
          <p:nvPr/>
        </p:nvSpPr>
        <p:spPr>
          <a:xfrm>
            <a:off x="6763566" y="4941168"/>
            <a:ext cx="2313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VariableName-Element… ( g )</a:t>
            </a:r>
            <a:endParaRPr lang="en-US" sz="1400"/>
          </a:p>
        </p:txBody>
      </p:sp>
      <p:sp>
        <p:nvSpPr>
          <p:cNvPr id="60" name="Textfeld 59"/>
          <p:cNvSpPr txBox="1"/>
          <p:nvPr/>
        </p:nvSpPr>
        <p:spPr>
          <a:xfrm>
            <a:off x="6156176" y="571351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h</a:t>
            </a:r>
            <a:endParaRPr lang="en-US" sz="1400">
              <a:solidFill>
                <a:srgbClr val="FF0000"/>
              </a:solidFill>
            </a:endParaRPr>
          </a:p>
        </p:txBody>
      </p:sp>
      <p:cxnSp>
        <p:nvCxnSpPr>
          <p:cNvPr id="61" name="Gerade Verbindung mit Pfeil 60"/>
          <p:cNvCxnSpPr/>
          <p:nvPr/>
        </p:nvCxnSpPr>
        <p:spPr>
          <a:xfrm flipH="1" flipV="1">
            <a:off x="7892341" y="1565837"/>
            <a:ext cx="4687" cy="4374163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/>
          <p:cNvSpPr txBox="1"/>
          <p:nvPr/>
        </p:nvSpPr>
        <p:spPr>
          <a:xfrm>
            <a:off x="6148252" y="3140968"/>
            <a:ext cx="1808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>
                <a:solidFill>
                  <a:srgbClr val="FF0000"/>
                </a:solidFill>
              </a:rPr>
              <a:t>a</a:t>
            </a:r>
            <a:r>
              <a:rPr lang="de-DE" sz="1400" smtClean="0">
                <a:solidFill>
                  <a:srgbClr val="FF0000"/>
                </a:solidFill>
              </a:rPr>
              <a:t>  hasVariableName  h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77" name="Textfeld 76"/>
          <p:cNvSpPr txBox="1"/>
          <p:nvPr/>
        </p:nvSpPr>
        <p:spPr>
          <a:xfrm>
            <a:off x="5186151" y="5445224"/>
            <a:ext cx="21280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g</a:t>
            </a:r>
            <a:r>
              <a:rPr lang="de-DE" sz="1400" smtClean="0"/>
              <a:t>  value_Element_String  h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05384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348" y="332656"/>
            <a:ext cx="6659884" cy="548680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Ontology</a:t>
            </a:r>
            <a:endParaRPr lang="de-DE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47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150958" y="1219603"/>
            <a:ext cx="1482765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76233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RDF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51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b</a:t>
            </a:r>
            <a:r>
              <a:rPr lang="de-DE" sz="1400" smtClean="0"/>
              <a:t>  contains_ComplexType_ComplexContent  c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3241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c</a:t>
            </a:r>
            <a:r>
              <a:rPr lang="de-DE" sz="1400" smtClean="0"/>
              <a:t>  contains_ComplexContent_Extension  d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744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  contains_Extension_Sequence  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598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e  contains_Sequence_Element  f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771800" y="5281463"/>
            <a:ext cx="2038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f</a:t>
            </a:r>
            <a:r>
              <a:rPr lang="de-DE" sz="1400" smtClean="0"/>
              <a:t>  ref_Element_Element g</a:t>
            </a:r>
            <a:endParaRPr lang="en-US" sz="1400"/>
          </a:p>
        </p:txBody>
      </p:sp>
      <p:sp>
        <p:nvSpPr>
          <p:cNvPr id="59" name="Ellipse 58"/>
          <p:cNvSpPr/>
          <p:nvPr/>
        </p:nvSpPr>
        <p:spPr>
          <a:xfrm>
            <a:off x="4012580" y="5963086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String-Type…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stCxn id="59" idx="0"/>
            <a:endCxn id="19" idx="4"/>
          </p:cNvCxnSpPr>
          <p:nvPr/>
        </p:nvCxnSpPr>
        <p:spPr>
          <a:xfrm flipV="1">
            <a:off x="5200712" y="5285107"/>
            <a:ext cx="0" cy="67797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/>
          <p:cNvCxnSpPr>
            <a:stCxn id="59" idx="6"/>
            <a:endCxn id="37" idx="1"/>
          </p:cNvCxnSpPr>
          <p:nvPr/>
        </p:nvCxnSpPr>
        <p:spPr>
          <a:xfrm flipV="1">
            <a:off x="6388844" y="6135814"/>
            <a:ext cx="546984" cy="389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6100972" y="901974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a</a:t>
            </a:r>
            <a:endParaRPr lang="en-US" sz="1400"/>
          </a:p>
        </p:txBody>
      </p:sp>
      <p:sp>
        <p:nvSpPr>
          <p:cNvPr id="34" name="Textfeld 33"/>
          <p:cNvSpPr txBox="1"/>
          <p:nvPr/>
        </p:nvSpPr>
        <p:spPr>
          <a:xfrm>
            <a:off x="179802" y="91949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b</a:t>
            </a:r>
            <a:endParaRPr lang="en-US" sz="1400"/>
          </a:p>
        </p:txBody>
      </p:sp>
      <p:sp>
        <p:nvSpPr>
          <p:cNvPr id="36" name="Textfeld 35"/>
          <p:cNvSpPr txBox="1"/>
          <p:nvPr/>
        </p:nvSpPr>
        <p:spPr>
          <a:xfrm>
            <a:off x="179802" y="184934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</a:t>
            </a:r>
            <a:endParaRPr lang="en-US" sz="1400"/>
          </a:p>
        </p:txBody>
      </p:sp>
      <p:sp>
        <p:nvSpPr>
          <p:cNvPr id="43" name="Textfeld 42"/>
          <p:cNvSpPr txBox="1"/>
          <p:nvPr/>
        </p:nvSpPr>
        <p:spPr>
          <a:xfrm>
            <a:off x="179512" y="278092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</a:t>
            </a:r>
            <a:endParaRPr lang="en-US" sz="1400"/>
          </a:p>
        </p:txBody>
      </p:sp>
      <p:sp>
        <p:nvSpPr>
          <p:cNvPr id="54" name="Textfeld 53"/>
          <p:cNvSpPr txBox="1"/>
          <p:nvPr/>
        </p:nvSpPr>
        <p:spPr>
          <a:xfrm>
            <a:off x="179512" y="371703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e</a:t>
            </a:r>
            <a:endParaRPr lang="en-US" sz="1400"/>
          </a:p>
        </p:txBody>
      </p:sp>
      <p:sp>
        <p:nvSpPr>
          <p:cNvPr id="55" name="Textfeld 54"/>
          <p:cNvSpPr txBox="1"/>
          <p:nvPr/>
        </p:nvSpPr>
        <p:spPr>
          <a:xfrm>
            <a:off x="179512" y="4653136"/>
            <a:ext cx="23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f</a:t>
            </a:r>
            <a:endParaRPr lang="en-US" sz="1400"/>
          </a:p>
        </p:txBody>
      </p:sp>
      <p:sp>
        <p:nvSpPr>
          <p:cNvPr id="57" name="Textfeld 56"/>
          <p:cNvSpPr txBox="1"/>
          <p:nvPr/>
        </p:nvSpPr>
        <p:spPr>
          <a:xfrm>
            <a:off x="2843808" y="908720"/>
            <a:ext cx="1984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a</a:t>
            </a:r>
            <a:r>
              <a:rPr lang="de-DE" sz="1400" smtClean="0"/>
              <a:t>  type_Element_Type  b</a:t>
            </a:r>
            <a:endParaRPr lang="en-US" sz="1400"/>
          </a:p>
        </p:txBody>
      </p:sp>
      <p:sp>
        <p:nvSpPr>
          <p:cNvPr id="45" name="Textfeld 44"/>
          <p:cNvSpPr txBox="1"/>
          <p:nvPr/>
        </p:nvSpPr>
        <p:spPr>
          <a:xfrm>
            <a:off x="6133032" y="4653136"/>
            <a:ext cx="269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g</a:t>
            </a:r>
            <a:endParaRPr lang="en-US" sz="1400"/>
          </a:p>
        </p:txBody>
      </p:sp>
      <p:sp>
        <p:nvSpPr>
          <p:cNvPr id="58" name="Textfeld 57"/>
          <p:cNvSpPr txBox="1"/>
          <p:nvPr/>
        </p:nvSpPr>
        <p:spPr>
          <a:xfrm>
            <a:off x="6763566" y="4941168"/>
            <a:ext cx="2313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VariableName-Element… ( g )</a:t>
            </a:r>
            <a:endParaRPr lang="en-US" sz="1400"/>
          </a:p>
        </p:txBody>
      </p:sp>
      <p:sp>
        <p:nvSpPr>
          <p:cNvPr id="60" name="Textfeld 59"/>
          <p:cNvSpPr txBox="1"/>
          <p:nvPr/>
        </p:nvSpPr>
        <p:spPr>
          <a:xfrm>
            <a:off x="6156176" y="571351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h</a:t>
            </a:r>
            <a:endParaRPr lang="en-US" sz="1400"/>
          </a:p>
        </p:txBody>
      </p:sp>
      <p:cxnSp>
        <p:nvCxnSpPr>
          <p:cNvPr id="61" name="Gerade Verbindung mit Pfeil 60"/>
          <p:cNvCxnSpPr/>
          <p:nvPr/>
        </p:nvCxnSpPr>
        <p:spPr>
          <a:xfrm flipH="1" flipV="1">
            <a:off x="7892341" y="1565837"/>
            <a:ext cx="4687" cy="4374163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/>
          <p:cNvSpPr txBox="1"/>
          <p:nvPr/>
        </p:nvSpPr>
        <p:spPr>
          <a:xfrm>
            <a:off x="6148252" y="3140968"/>
            <a:ext cx="1808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a</a:t>
            </a:r>
            <a:r>
              <a:rPr lang="de-DE" sz="1400" smtClean="0"/>
              <a:t>  hasVariableName  h</a:t>
            </a:r>
            <a:endParaRPr lang="en-US" sz="1400"/>
          </a:p>
        </p:txBody>
      </p:sp>
      <p:sp>
        <p:nvSpPr>
          <p:cNvPr id="77" name="Textfeld 76"/>
          <p:cNvSpPr txBox="1"/>
          <p:nvPr/>
        </p:nvSpPr>
        <p:spPr>
          <a:xfrm>
            <a:off x="5186151" y="5445224"/>
            <a:ext cx="21280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g</a:t>
            </a:r>
            <a:r>
              <a:rPr lang="de-DE" sz="1400" smtClean="0"/>
              <a:t>  value_Element_String  h</a:t>
            </a:r>
            <a:endParaRPr lang="en-US" sz="1400"/>
          </a:p>
        </p:txBody>
      </p:sp>
      <p:sp>
        <p:nvSpPr>
          <p:cNvPr id="48" name="Textfeld 47"/>
          <p:cNvSpPr txBox="1"/>
          <p:nvPr/>
        </p:nvSpPr>
        <p:spPr>
          <a:xfrm>
            <a:off x="4218622" y="4026550"/>
            <a:ext cx="3737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smtClean="0">
                <a:solidFill>
                  <a:srgbClr val="FF0000"/>
                </a:solidFill>
              </a:rPr>
              <a:t>--&gt; Variable-Age  hasVariabeName  "Age"</a:t>
            </a:r>
            <a:endParaRPr lang="en-US" sz="1600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86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348" y="332656"/>
            <a:ext cx="6659884" cy="548680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Ontology</a:t>
            </a:r>
            <a:endParaRPr lang="de-DE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48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150958" y="1219603"/>
            <a:ext cx="1482765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76233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RDF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51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b</a:t>
            </a:r>
            <a:r>
              <a:rPr lang="de-DE" sz="1400" smtClean="0"/>
              <a:t>  contains_ComplexType_ComplexContent  c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3241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c</a:t>
            </a:r>
            <a:r>
              <a:rPr lang="de-DE" sz="1400" smtClean="0"/>
              <a:t>  contains_ComplexContent_Extension  d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744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  contains_Extension_Sequence  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598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e  contains_Sequence_Element  f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771800" y="5281463"/>
            <a:ext cx="2038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f</a:t>
            </a:r>
            <a:r>
              <a:rPr lang="de-DE" sz="1400" smtClean="0"/>
              <a:t>  ref_Element_Element g</a:t>
            </a:r>
            <a:endParaRPr lang="en-US" sz="1400"/>
          </a:p>
        </p:txBody>
      </p:sp>
      <p:sp>
        <p:nvSpPr>
          <p:cNvPr id="59" name="Ellipse 58"/>
          <p:cNvSpPr/>
          <p:nvPr/>
        </p:nvSpPr>
        <p:spPr>
          <a:xfrm>
            <a:off x="4012580" y="5963086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String-Type…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stCxn id="59" idx="0"/>
            <a:endCxn id="19" idx="4"/>
          </p:cNvCxnSpPr>
          <p:nvPr/>
        </p:nvCxnSpPr>
        <p:spPr>
          <a:xfrm flipV="1">
            <a:off x="5200712" y="5285107"/>
            <a:ext cx="0" cy="67797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5186151" y="5445224"/>
            <a:ext cx="21280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g</a:t>
            </a:r>
            <a:r>
              <a:rPr lang="de-DE" sz="1400" smtClean="0"/>
              <a:t>  value_Element_String  h</a:t>
            </a:r>
            <a:endParaRPr lang="en-US" sz="1400"/>
          </a:p>
        </p:txBody>
      </p:sp>
      <p:cxnSp>
        <p:nvCxnSpPr>
          <p:cNvPr id="52" name="Gerade Verbindung mit Pfeil 51"/>
          <p:cNvCxnSpPr>
            <a:stCxn id="59" idx="6"/>
            <a:endCxn id="37" idx="1"/>
          </p:cNvCxnSpPr>
          <p:nvPr/>
        </p:nvCxnSpPr>
        <p:spPr>
          <a:xfrm flipV="1">
            <a:off x="6388844" y="6135814"/>
            <a:ext cx="546984" cy="389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6100972" y="901974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a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34" name="Textfeld 33"/>
          <p:cNvSpPr txBox="1"/>
          <p:nvPr/>
        </p:nvSpPr>
        <p:spPr>
          <a:xfrm>
            <a:off x="179802" y="91949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b</a:t>
            </a:r>
            <a:endParaRPr lang="en-US" sz="1400"/>
          </a:p>
        </p:txBody>
      </p:sp>
      <p:sp>
        <p:nvSpPr>
          <p:cNvPr id="36" name="Textfeld 35"/>
          <p:cNvSpPr txBox="1"/>
          <p:nvPr/>
        </p:nvSpPr>
        <p:spPr>
          <a:xfrm>
            <a:off x="179802" y="184934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</a:t>
            </a:r>
            <a:endParaRPr lang="en-US" sz="1400"/>
          </a:p>
        </p:txBody>
      </p:sp>
      <p:sp>
        <p:nvSpPr>
          <p:cNvPr id="43" name="Textfeld 42"/>
          <p:cNvSpPr txBox="1"/>
          <p:nvPr/>
        </p:nvSpPr>
        <p:spPr>
          <a:xfrm>
            <a:off x="179512" y="278092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</a:t>
            </a:r>
            <a:endParaRPr lang="en-US" sz="1400"/>
          </a:p>
        </p:txBody>
      </p:sp>
      <p:sp>
        <p:nvSpPr>
          <p:cNvPr id="54" name="Textfeld 53"/>
          <p:cNvSpPr txBox="1"/>
          <p:nvPr/>
        </p:nvSpPr>
        <p:spPr>
          <a:xfrm>
            <a:off x="179512" y="371703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e</a:t>
            </a:r>
            <a:endParaRPr lang="en-US" sz="1400"/>
          </a:p>
        </p:txBody>
      </p:sp>
      <p:sp>
        <p:nvSpPr>
          <p:cNvPr id="55" name="Textfeld 54"/>
          <p:cNvSpPr txBox="1"/>
          <p:nvPr/>
        </p:nvSpPr>
        <p:spPr>
          <a:xfrm>
            <a:off x="179512" y="4653136"/>
            <a:ext cx="23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f</a:t>
            </a:r>
            <a:endParaRPr lang="en-US" sz="1400"/>
          </a:p>
        </p:txBody>
      </p:sp>
      <p:sp>
        <p:nvSpPr>
          <p:cNvPr id="57" name="Textfeld 56"/>
          <p:cNvSpPr txBox="1"/>
          <p:nvPr/>
        </p:nvSpPr>
        <p:spPr>
          <a:xfrm>
            <a:off x="2843808" y="908720"/>
            <a:ext cx="1984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a</a:t>
            </a:r>
            <a:r>
              <a:rPr lang="de-DE" sz="1400" smtClean="0"/>
              <a:t>  type_Element_Type  b</a:t>
            </a:r>
            <a:endParaRPr lang="en-US" sz="1400"/>
          </a:p>
        </p:txBody>
      </p:sp>
      <p:sp>
        <p:nvSpPr>
          <p:cNvPr id="45" name="Textfeld 44"/>
          <p:cNvSpPr txBox="1"/>
          <p:nvPr/>
        </p:nvSpPr>
        <p:spPr>
          <a:xfrm>
            <a:off x="6133032" y="4653136"/>
            <a:ext cx="269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g</a:t>
            </a:r>
            <a:endParaRPr lang="en-US" sz="1400"/>
          </a:p>
        </p:txBody>
      </p:sp>
      <p:sp>
        <p:nvSpPr>
          <p:cNvPr id="58" name="Textfeld 57"/>
          <p:cNvSpPr txBox="1"/>
          <p:nvPr/>
        </p:nvSpPr>
        <p:spPr>
          <a:xfrm>
            <a:off x="6763566" y="4941168"/>
            <a:ext cx="2313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VariableName-Element… ( g )</a:t>
            </a:r>
            <a:endParaRPr lang="en-US" sz="1400"/>
          </a:p>
        </p:txBody>
      </p:sp>
      <p:sp>
        <p:nvSpPr>
          <p:cNvPr id="60" name="Textfeld 59"/>
          <p:cNvSpPr txBox="1"/>
          <p:nvPr/>
        </p:nvSpPr>
        <p:spPr>
          <a:xfrm>
            <a:off x="6156176" y="571351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h</a:t>
            </a:r>
            <a:endParaRPr lang="en-US" sz="1400"/>
          </a:p>
        </p:txBody>
      </p:sp>
      <p:cxnSp>
        <p:nvCxnSpPr>
          <p:cNvPr id="61" name="Gerade Verbindung mit Pfeil 60"/>
          <p:cNvCxnSpPr/>
          <p:nvPr/>
        </p:nvCxnSpPr>
        <p:spPr>
          <a:xfrm flipH="1" flipV="1">
            <a:off x="7892341" y="1565837"/>
            <a:ext cx="4687" cy="437416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/>
          <p:cNvSpPr txBox="1"/>
          <p:nvPr/>
        </p:nvSpPr>
        <p:spPr>
          <a:xfrm>
            <a:off x="6148252" y="3140968"/>
            <a:ext cx="1808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a</a:t>
            </a:r>
            <a:r>
              <a:rPr lang="de-DE" sz="1400" smtClean="0"/>
              <a:t>  hasVariableName  h</a:t>
            </a:r>
            <a:endParaRPr lang="en-US" sz="1400"/>
          </a:p>
        </p:txBody>
      </p:sp>
      <p:sp>
        <p:nvSpPr>
          <p:cNvPr id="63" name="Ellipse 62"/>
          <p:cNvSpPr/>
          <p:nvPr/>
        </p:nvSpPr>
        <p:spPr>
          <a:xfrm>
            <a:off x="3995936" y="2134800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64" name="Gerade Verbindung mit Pfeil 63"/>
          <p:cNvCxnSpPr/>
          <p:nvPr/>
        </p:nvCxnSpPr>
        <p:spPr>
          <a:xfrm flipV="1">
            <a:off x="6371936" y="1515132"/>
            <a:ext cx="996168" cy="792785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/>
          <p:cNvSpPr txBox="1"/>
          <p:nvPr/>
        </p:nvSpPr>
        <p:spPr>
          <a:xfrm>
            <a:off x="6876256" y="1825079"/>
            <a:ext cx="10963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Variable ( a )</a:t>
            </a:r>
            <a:endParaRPr 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71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nhaltsplatzhalter 2"/>
          <p:cNvSpPr>
            <a:spLocks noGrp="1"/>
          </p:cNvSpPr>
          <p:nvPr>
            <p:ph idx="1"/>
          </p:nvPr>
        </p:nvSpPr>
        <p:spPr>
          <a:xfrm>
            <a:off x="348" y="332656"/>
            <a:ext cx="6659884" cy="548680"/>
          </a:xfrm>
        </p:spPr>
        <p:txBody>
          <a:bodyPr/>
          <a:lstStyle/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Ontology</a:t>
            </a:r>
            <a:endParaRPr lang="de-DE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49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4012628" y="1219603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Variable-Element…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179802" y="1219603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VariableType-Type…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79802" y="2132856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ComplexContent…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179802" y="3068960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Extension…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179802" y="4005064"/>
            <a:ext cx="33768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Sequence…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79512" y="4941168"/>
            <a:ext cx="337738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VariableName-Element-Reference…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Ellipse 18"/>
          <p:cNvSpPr/>
          <p:nvPr/>
        </p:nvSpPr>
        <p:spPr>
          <a:xfrm>
            <a:off x="4012580" y="4938873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VariableName-Element…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/>
          <p:cNvCxnSpPr>
            <a:stCxn id="10" idx="6"/>
            <a:endCxn id="5" idx="2"/>
          </p:cNvCxnSpPr>
          <p:nvPr/>
        </p:nvCxnSpPr>
        <p:spPr>
          <a:xfrm>
            <a:off x="3556602" y="1392720"/>
            <a:ext cx="456026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lipse 34"/>
          <p:cNvSpPr/>
          <p:nvPr/>
        </p:nvSpPr>
        <p:spPr>
          <a:xfrm>
            <a:off x="7150958" y="1219603"/>
            <a:ext cx="1482765" cy="346234"/>
          </a:xfrm>
          <a:prstGeom prst="ellipse">
            <a:avLst/>
          </a:prstGeom>
          <a:solidFill>
            <a:srgbClr val="294465">
              <a:alpha val="14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6935828" y="5940000"/>
            <a:ext cx="1922400" cy="391628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72000" rIns="72000" bIns="72000" rtlCol="0" anchor="ctr">
            <a:sp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0" name="Gerade Verbindung mit Pfeil 39"/>
          <p:cNvCxnSpPr>
            <a:stCxn id="5" idx="6"/>
            <a:endCxn id="35" idx="2"/>
          </p:cNvCxnSpPr>
          <p:nvPr/>
        </p:nvCxnSpPr>
        <p:spPr>
          <a:xfrm>
            <a:off x="6388628" y="1392720"/>
            <a:ext cx="762330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/>
          <p:cNvCxnSpPr/>
          <p:nvPr/>
        </p:nvCxnSpPr>
        <p:spPr>
          <a:xfrm>
            <a:off x="6660232" y="0"/>
            <a:ext cx="20765" cy="685800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/>
          <p:cNvCxnSpPr/>
          <p:nvPr/>
        </p:nvCxnSpPr>
        <p:spPr>
          <a:xfrm flipV="1">
            <a:off x="1868202" y="1565837"/>
            <a:ext cx="0" cy="5670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/>
          <p:cNvCxnSpPr/>
          <p:nvPr/>
        </p:nvCxnSpPr>
        <p:spPr>
          <a:xfrm flipV="1">
            <a:off x="1868202" y="2479090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/>
          <p:cNvCxnSpPr/>
          <p:nvPr/>
        </p:nvCxnSpPr>
        <p:spPr>
          <a:xfrm flipV="1">
            <a:off x="1868202" y="3415194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 flipV="1">
            <a:off x="1868202" y="4351298"/>
            <a:ext cx="0" cy="58987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>
            <a:stCxn id="19" idx="2"/>
            <a:endCxn id="16" idx="6"/>
          </p:cNvCxnSpPr>
          <p:nvPr/>
        </p:nvCxnSpPr>
        <p:spPr>
          <a:xfrm flipH="1">
            <a:off x="3556892" y="5111990"/>
            <a:ext cx="455688" cy="2295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nhaltsplatzhalter 2"/>
          <p:cNvSpPr txBox="1">
            <a:spLocks/>
          </p:cNvSpPr>
          <p:nvPr/>
        </p:nvSpPr>
        <p:spPr>
          <a:xfrm>
            <a:off x="6711475" y="355507"/>
            <a:ext cx="2432525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mtClean="0"/>
              <a:t>DDI 3.1 </a:t>
            </a:r>
            <a:r>
              <a:rPr lang="en-US" smtClean="0"/>
              <a:t>RDF</a:t>
            </a:r>
            <a:endParaRPr lang="de-DE" smtClean="0"/>
          </a:p>
        </p:txBody>
      </p:sp>
      <p:sp>
        <p:nvSpPr>
          <p:cNvPr id="38" name="Textfeld 37"/>
          <p:cNvSpPr txBox="1"/>
          <p:nvPr/>
        </p:nvSpPr>
        <p:spPr>
          <a:xfrm>
            <a:off x="1852340" y="1681063"/>
            <a:ext cx="351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b</a:t>
            </a:r>
            <a:r>
              <a:rPr lang="de-DE" sz="1400" smtClean="0"/>
              <a:t>  contains_ComplexType_ComplexContent  c</a:t>
            </a:r>
            <a:endParaRPr lang="en-US" sz="1400"/>
          </a:p>
        </p:txBody>
      </p:sp>
      <p:sp>
        <p:nvSpPr>
          <p:cNvPr id="39" name="Textfeld 38"/>
          <p:cNvSpPr txBox="1"/>
          <p:nvPr/>
        </p:nvSpPr>
        <p:spPr>
          <a:xfrm>
            <a:off x="1852340" y="2617167"/>
            <a:ext cx="3241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c</a:t>
            </a:r>
            <a:r>
              <a:rPr lang="de-DE" sz="1400" smtClean="0"/>
              <a:t>  contains_ComplexContent_Extension  d</a:t>
            </a:r>
            <a:endParaRPr lang="en-US" sz="1400"/>
          </a:p>
        </p:txBody>
      </p:sp>
      <p:sp>
        <p:nvSpPr>
          <p:cNvPr id="41" name="Textfeld 40"/>
          <p:cNvSpPr txBox="1"/>
          <p:nvPr/>
        </p:nvSpPr>
        <p:spPr>
          <a:xfrm>
            <a:off x="1852340" y="3553271"/>
            <a:ext cx="2744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  contains_Extension_Sequence  e</a:t>
            </a:r>
            <a:endParaRPr lang="en-US" sz="1400"/>
          </a:p>
        </p:txBody>
      </p:sp>
      <p:sp>
        <p:nvSpPr>
          <p:cNvPr id="49" name="Textfeld 48"/>
          <p:cNvSpPr txBox="1"/>
          <p:nvPr/>
        </p:nvSpPr>
        <p:spPr>
          <a:xfrm>
            <a:off x="1852340" y="4489375"/>
            <a:ext cx="25982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e  contains_Sequence_Element  f</a:t>
            </a:r>
            <a:endParaRPr lang="en-US" sz="1400"/>
          </a:p>
        </p:txBody>
      </p:sp>
      <p:sp>
        <p:nvSpPr>
          <p:cNvPr id="51" name="Textfeld 50"/>
          <p:cNvSpPr txBox="1"/>
          <p:nvPr/>
        </p:nvSpPr>
        <p:spPr>
          <a:xfrm>
            <a:off x="2771800" y="5281463"/>
            <a:ext cx="2038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f</a:t>
            </a:r>
            <a:r>
              <a:rPr lang="de-DE" sz="1400" smtClean="0"/>
              <a:t>  ref_Element_Element g</a:t>
            </a:r>
            <a:endParaRPr lang="en-US" sz="1400"/>
          </a:p>
        </p:txBody>
      </p:sp>
      <p:sp>
        <p:nvSpPr>
          <p:cNvPr id="59" name="Ellipse 58"/>
          <p:cNvSpPr/>
          <p:nvPr/>
        </p:nvSpPr>
        <p:spPr>
          <a:xfrm>
            <a:off x="4012580" y="5963086"/>
            <a:ext cx="2376264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String-Type…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2" name="Gerade Verbindung mit Pfeil 31"/>
          <p:cNvCxnSpPr>
            <a:stCxn id="59" idx="0"/>
            <a:endCxn id="19" idx="4"/>
          </p:cNvCxnSpPr>
          <p:nvPr/>
        </p:nvCxnSpPr>
        <p:spPr>
          <a:xfrm flipV="1">
            <a:off x="5200712" y="5285107"/>
            <a:ext cx="0" cy="67797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5186151" y="5445224"/>
            <a:ext cx="21280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g</a:t>
            </a:r>
            <a:r>
              <a:rPr lang="de-DE" sz="1400" smtClean="0"/>
              <a:t>  value_Element_String  h</a:t>
            </a:r>
            <a:endParaRPr lang="en-US" sz="1400"/>
          </a:p>
        </p:txBody>
      </p:sp>
      <p:cxnSp>
        <p:nvCxnSpPr>
          <p:cNvPr id="52" name="Gerade Verbindung mit Pfeil 51"/>
          <p:cNvCxnSpPr>
            <a:stCxn id="59" idx="6"/>
            <a:endCxn id="37" idx="1"/>
          </p:cNvCxnSpPr>
          <p:nvPr/>
        </p:nvCxnSpPr>
        <p:spPr>
          <a:xfrm flipV="1">
            <a:off x="6388844" y="6135814"/>
            <a:ext cx="546984" cy="389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/>
          <p:cNvSpPr txBox="1"/>
          <p:nvPr/>
        </p:nvSpPr>
        <p:spPr>
          <a:xfrm>
            <a:off x="6100972" y="901974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a</a:t>
            </a:r>
            <a:endParaRPr lang="en-US" sz="1400"/>
          </a:p>
        </p:txBody>
      </p:sp>
      <p:sp>
        <p:nvSpPr>
          <p:cNvPr id="34" name="Textfeld 33"/>
          <p:cNvSpPr txBox="1"/>
          <p:nvPr/>
        </p:nvSpPr>
        <p:spPr>
          <a:xfrm>
            <a:off x="179802" y="91949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b</a:t>
            </a:r>
            <a:endParaRPr lang="en-US" sz="1400"/>
          </a:p>
        </p:txBody>
      </p:sp>
      <p:sp>
        <p:nvSpPr>
          <p:cNvPr id="36" name="Textfeld 35"/>
          <p:cNvSpPr txBox="1"/>
          <p:nvPr/>
        </p:nvSpPr>
        <p:spPr>
          <a:xfrm>
            <a:off x="179802" y="184934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c</a:t>
            </a:r>
            <a:endParaRPr lang="en-US" sz="1400"/>
          </a:p>
        </p:txBody>
      </p:sp>
      <p:sp>
        <p:nvSpPr>
          <p:cNvPr id="43" name="Textfeld 42"/>
          <p:cNvSpPr txBox="1"/>
          <p:nvPr/>
        </p:nvSpPr>
        <p:spPr>
          <a:xfrm>
            <a:off x="179512" y="278092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d</a:t>
            </a:r>
            <a:endParaRPr lang="en-US" sz="1400"/>
          </a:p>
        </p:txBody>
      </p:sp>
      <p:sp>
        <p:nvSpPr>
          <p:cNvPr id="54" name="Textfeld 53"/>
          <p:cNvSpPr txBox="1"/>
          <p:nvPr/>
        </p:nvSpPr>
        <p:spPr>
          <a:xfrm>
            <a:off x="179512" y="371703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e</a:t>
            </a:r>
            <a:endParaRPr lang="en-US" sz="1400"/>
          </a:p>
        </p:txBody>
      </p:sp>
      <p:sp>
        <p:nvSpPr>
          <p:cNvPr id="55" name="Textfeld 54"/>
          <p:cNvSpPr txBox="1"/>
          <p:nvPr/>
        </p:nvSpPr>
        <p:spPr>
          <a:xfrm>
            <a:off x="179512" y="4653136"/>
            <a:ext cx="239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f</a:t>
            </a:r>
            <a:endParaRPr lang="en-US" sz="1400"/>
          </a:p>
        </p:txBody>
      </p:sp>
      <p:sp>
        <p:nvSpPr>
          <p:cNvPr id="57" name="Textfeld 56"/>
          <p:cNvSpPr txBox="1"/>
          <p:nvPr/>
        </p:nvSpPr>
        <p:spPr>
          <a:xfrm>
            <a:off x="2843808" y="908720"/>
            <a:ext cx="1984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a</a:t>
            </a:r>
            <a:r>
              <a:rPr lang="de-DE" sz="1400" smtClean="0"/>
              <a:t>  type_Element_Type  b</a:t>
            </a:r>
            <a:endParaRPr lang="en-US" sz="1400"/>
          </a:p>
        </p:txBody>
      </p:sp>
      <p:sp>
        <p:nvSpPr>
          <p:cNvPr id="45" name="Textfeld 44"/>
          <p:cNvSpPr txBox="1"/>
          <p:nvPr/>
        </p:nvSpPr>
        <p:spPr>
          <a:xfrm>
            <a:off x="6133032" y="4653136"/>
            <a:ext cx="269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g</a:t>
            </a:r>
            <a:endParaRPr lang="en-US" sz="1400"/>
          </a:p>
        </p:txBody>
      </p:sp>
      <p:sp>
        <p:nvSpPr>
          <p:cNvPr id="58" name="Textfeld 57"/>
          <p:cNvSpPr txBox="1"/>
          <p:nvPr/>
        </p:nvSpPr>
        <p:spPr>
          <a:xfrm>
            <a:off x="6763566" y="4941168"/>
            <a:ext cx="23130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VariableName-Element… ( g )</a:t>
            </a:r>
            <a:endParaRPr lang="en-US" sz="1400"/>
          </a:p>
        </p:txBody>
      </p:sp>
      <p:sp>
        <p:nvSpPr>
          <p:cNvPr id="60" name="Textfeld 59"/>
          <p:cNvSpPr txBox="1"/>
          <p:nvPr/>
        </p:nvSpPr>
        <p:spPr>
          <a:xfrm>
            <a:off x="6156176" y="571351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h</a:t>
            </a:r>
            <a:endParaRPr lang="en-US" sz="1400"/>
          </a:p>
        </p:txBody>
      </p:sp>
      <p:cxnSp>
        <p:nvCxnSpPr>
          <p:cNvPr id="61" name="Gerade Verbindung mit Pfeil 60"/>
          <p:cNvCxnSpPr/>
          <p:nvPr/>
        </p:nvCxnSpPr>
        <p:spPr>
          <a:xfrm flipH="1" flipV="1">
            <a:off x="7892341" y="1565837"/>
            <a:ext cx="4687" cy="4374163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/>
          <p:cNvSpPr txBox="1"/>
          <p:nvPr/>
        </p:nvSpPr>
        <p:spPr>
          <a:xfrm>
            <a:off x="6148252" y="3140968"/>
            <a:ext cx="1808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a</a:t>
            </a:r>
            <a:r>
              <a:rPr lang="de-DE" sz="1400" smtClean="0"/>
              <a:t>  hasVariableName  h</a:t>
            </a:r>
            <a:endParaRPr lang="en-US" sz="1400"/>
          </a:p>
        </p:txBody>
      </p:sp>
      <p:sp>
        <p:nvSpPr>
          <p:cNvPr id="63" name="Ellipse 62"/>
          <p:cNvSpPr/>
          <p:nvPr/>
        </p:nvSpPr>
        <p:spPr>
          <a:xfrm>
            <a:off x="3995936" y="2134800"/>
            <a:ext cx="2376000" cy="346234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64" name="Gerade Verbindung mit Pfeil 63"/>
          <p:cNvCxnSpPr/>
          <p:nvPr/>
        </p:nvCxnSpPr>
        <p:spPr>
          <a:xfrm flipV="1">
            <a:off x="6371936" y="1515132"/>
            <a:ext cx="996168" cy="792785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/>
          <p:cNvSpPr txBox="1"/>
          <p:nvPr/>
        </p:nvSpPr>
        <p:spPr>
          <a:xfrm>
            <a:off x="6876256" y="1825079"/>
            <a:ext cx="10963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Variable ( a )</a:t>
            </a:r>
            <a:endParaRPr lang="en-US" sz="1400"/>
          </a:p>
        </p:txBody>
      </p:sp>
      <p:sp>
        <p:nvSpPr>
          <p:cNvPr id="66" name="Textfeld 65"/>
          <p:cNvSpPr txBox="1"/>
          <p:nvPr/>
        </p:nvSpPr>
        <p:spPr>
          <a:xfrm>
            <a:off x="6633789" y="2420888"/>
            <a:ext cx="2546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i="1" smtClean="0">
                <a:solidFill>
                  <a:srgbClr val="FF0000"/>
                </a:solidFill>
              </a:rPr>
              <a:t>--&gt; Variable ( Variable-Age )</a:t>
            </a:r>
            <a:endParaRPr lang="en-US" sz="1600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12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50</a:t>
            </a:fld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855462" y="2420888"/>
            <a:ext cx="1872208" cy="504056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b="1" smtClean="0">
                <a:solidFill>
                  <a:schemeClr val="tx1"/>
                </a:solidFill>
              </a:rPr>
              <a:t>Variable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6572247" y="3124257"/>
            <a:ext cx="1872208" cy="504056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b="1">
                <a:solidFill>
                  <a:schemeClr val="tx1"/>
                </a:solidFill>
              </a:rPr>
              <a:t>Question</a:t>
            </a: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6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</p:spPr>
        <p:txBody>
          <a:bodyPr/>
          <a:lstStyle/>
          <a:p>
            <a:r>
              <a:rPr lang="de-DE" smtClean="0"/>
              <a:t>DDI Ontology</a:t>
            </a:r>
            <a:endParaRPr lang="en-US"/>
          </a:p>
        </p:txBody>
      </p:sp>
      <p:cxnSp>
        <p:nvCxnSpPr>
          <p:cNvPr id="20" name="Gerade Verbindung mit Pfeil 19"/>
          <p:cNvCxnSpPr>
            <a:stCxn id="10" idx="0"/>
            <a:endCxn id="40" idx="3"/>
          </p:cNvCxnSpPr>
          <p:nvPr/>
        </p:nvCxnSpPr>
        <p:spPr>
          <a:xfrm flipV="1">
            <a:off x="1259528" y="4291287"/>
            <a:ext cx="922563" cy="1024196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40" idx="6"/>
            <a:endCxn id="41" idx="2"/>
          </p:cNvCxnSpPr>
          <p:nvPr/>
        </p:nvCxnSpPr>
        <p:spPr>
          <a:xfrm>
            <a:off x="3780120" y="4113076"/>
            <a:ext cx="1423517" cy="7154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>
            <a:stCxn id="35" idx="0"/>
            <a:endCxn id="41" idx="4"/>
          </p:cNvCxnSpPr>
          <p:nvPr/>
        </p:nvCxnSpPr>
        <p:spPr>
          <a:xfrm flipV="1">
            <a:off x="5604678" y="5080523"/>
            <a:ext cx="535063" cy="94774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/>
          <p:cNvSpPr txBox="1"/>
          <p:nvPr/>
        </p:nvSpPr>
        <p:spPr>
          <a:xfrm>
            <a:off x="6012160" y="5400504"/>
            <a:ext cx="1400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hasQuestionText</a:t>
            </a:r>
            <a:endParaRPr lang="en-US" sz="1400"/>
          </a:p>
        </p:txBody>
      </p:sp>
      <p:sp>
        <p:nvSpPr>
          <p:cNvPr id="55" name="Textfeld 54"/>
          <p:cNvSpPr txBox="1"/>
          <p:nvPr/>
        </p:nvSpPr>
        <p:spPr>
          <a:xfrm>
            <a:off x="1872852" y="4653136"/>
            <a:ext cx="1466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hasVariableName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6" name="Textfeld 55"/>
          <p:cNvSpPr txBox="1"/>
          <p:nvPr/>
        </p:nvSpPr>
        <p:spPr>
          <a:xfrm>
            <a:off x="4387930" y="4129335"/>
            <a:ext cx="1408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resultsInVariable</a:t>
            </a:r>
            <a:endParaRPr lang="en-US" sz="1400"/>
          </a:p>
        </p:txBody>
      </p:sp>
      <p:sp>
        <p:nvSpPr>
          <p:cNvPr id="40" name="Ellipse 39"/>
          <p:cNvSpPr/>
          <p:nvPr/>
        </p:nvSpPr>
        <p:spPr>
          <a:xfrm>
            <a:off x="1907912" y="3861048"/>
            <a:ext cx="1872208" cy="504056"/>
          </a:xfrm>
          <a:prstGeom prst="ellipse">
            <a:avLst/>
          </a:prstGeom>
          <a:solidFill>
            <a:srgbClr val="445A6F">
              <a:alpha val="14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1" name="Ellipse 40"/>
          <p:cNvSpPr/>
          <p:nvPr/>
        </p:nvSpPr>
        <p:spPr>
          <a:xfrm>
            <a:off x="5203637" y="4576467"/>
            <a:ext cx="1872208" cy="504056"/>
          </a:xfrm>
          <a:prstGeom prst="ellipse">
            <a:avLst/>
          </a:prstGeom>
          <a:solidFill>
            <a:srgbClr val="445A6F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Question-Age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5" name="Gerade Verbindung mit Pfeil 24"/>
          <p:cNvCxnSpPr>
            <a:stCxn id="8" idx="4"/>
            <a:endCxn id="40" idx="0"/>
          </p:cNvCxnSpPr>
          <p:nvPr/>
        </p:nvCxnSpPr>
        <p:spPr>
          <a:xfrm>
            <a:off x="1791566" y="2924944"/>
            <a:ext cx="1052450" cy="936104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/>
          <p:cNvSpPr/>
          <p:nvPr/>
        </p:nvSpPr>
        <p:spPr>
          <a:xfrm>
            <a:off x="323528" y="5315483"/>
            <a:ext cx="1872000" cy="504000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"Age"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5" name="Rechteck 34"/>
          <p:cNvSpPr/>
          <p:nvPr/>
        </p:nvSpPr>
        <p:spPr>
          <a:xfrm>
            <a:off x="4668678" y="6028263"/>
            <a:ext cx="1872000" cy="504000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"Age?"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7" name="Gerade Verbindung mit Pfeil 36"/>
          <p:cNvCxnSpPr>
            <a:stCxn id="12" idx="4"/>
            <a:endCxn id="41" idx="0"/>
          </p:cNvCxnSpPr>
          <p:nvPr/>
        </p:nvCxnSpPr>
        <p:spPr>
          <a:xfrm flipH="1">
            <a:off x="6139741" y="3628313"/>
            <a:ext cx="1368610" cy="948154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3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51</a:t>
            </a:fld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855462" y="2420888"/>
            <a:ext cx="1872208" cy="504056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b="1" smtClean="0">
                <a:solidFill>
                  <a:schemeClr val="tx1"/>
                </a:solidFill>
              </a:rPr>
              <a:t>Variable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6572247" y="3124257"/>
            <a:ext cx="1872208" cy="504056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b="1">
                <a:solidFill>
                  <a:schemeClr val="tx1"/>
                </a:solidFill>
              </a:rPr>
              <a:t>Question</a:t>
            </a: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6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</p:spPr>
        <p:txBody>
          <a:bodyPr/>
          <a:lstStyle/>
          <a:p>
            <a:r>
              <a:rPr lang="de-DE" smtClean="0"/>
              <a:t>DDI Ontology</a:t>
            </a:r>
            <a:endParaRPr lang="en-US"/>
          </a:p>
        </p:txBody>
      </p:sp>
      <p:cxnSp>
        <p:nvCxnSpPr>
          <p:cNvPr id="20" name="Gerade Verbindung mit Pfeil 19"/>
          <p:cNvCxnSpPr>
            <a:stCxn id="10" idx="0"/>
            <a:endCxn id="40" idx="3"/>
          </p:cNvCxnSpPr>
          <p:nvPr/>
        </p:nvCxnSpPr>
        <p:spPr>
          <a:xfrm flipV="1">
            <a:off x="1259528" y="4291287"/>
            <a:ext cx="922563" cy="102419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40" idx="6"/>
            <a:endCxn id="41" idx="2"/>
          </p:cNvCxnSpPr>
          <p:nvPr/>
        </p:nvCxnSpPr>
        <p:spPr>
          <a:xfrm>
            <a:off x="3780120" y="4113076"/>
            <a:ext cx="1423517" cy="7154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>
            <a:stCxn id="35" idx="0"/>
            <a:endCxn id="41" idx="4"/>
          </p:cNvCxnSpPr>
          <p:nvPr/>
        </p:nvCxnSpPr>
        <p:spPr>
          <a:xfrm flipV="1">
            <a:off x="5604678" y="5080523"/>
            <a:ext cx="535063" cy="94774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/>
          <p:cNvSpPr txBox="1"/>
          <p:nvPr/>
        </p:nvSpPr>
        <p:spPr>
          <a:xfrm>
            <a:off x="6012160" y="5400504"/>
            <a:ext cx="1400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hasQuestionText</a:t>
            </a:r>
            <a:endParaRPr lang="en-US" sz="1400"/>
          </a:p>
        </p:txBody>
      </p:sp>
      <p:sp>
        <p:nvSpPr>
          <p:cNvPr id="55" name="Textfeld 54"/>
          <p:cNvSpPr txBox="1"/>
          <p:nvPr/>
        </p:nvSpPr>
        <p:spPr>
          <a:xfrm>
            <a:off x="1872852" y="4653136"/>
            <a:ext cx="1466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hasVariableName</a:t>
            </a:r>
            <a:endParaRPr lang="en-US" sz="1400"/>
          </a:p>
        </p:txBody>
      </p:sp>
      <p:sp>
        <p:nvSpPr>
          <p:cNvPr id="56" name="Textfeld 55"/>
          <p:cNvSpPr txBox="1"/>
          <p:nvPr/>
        </p:nvSpPr>
        <p:spPr>
          <a:xfrm>
            <a:off x="4387930" y="4129335"/>
            <a:ext cx="1408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resultsInVariable</a:t>
            </a:r>
            <a:endParaRPr lang="en-US" sz="1400"/>
          </a:p>
        </p:txBody>
      </p:sp>
      <p:sp>
        <p:nvSpPr>
          <p:cNvPr id="40" name="Ellipse 39"/>
          <p:cNvSpPr/>
          <p:nvPr/>
        </p:nvSpPr>
        <p:spPr>
          <a:xfrm>
            <a:off x="1907912" y="3861048"/>
            <a:ext cx="1872208" cy="504056"/>
          </a:xfrm>
          <a:prstGeom prst="ellipse">
            <a:avLst/>
          </a:prstGeom>
          <a:solidFill>
            <a:srgbClr val="445A6F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1" name="Ellipse 40"/>
          <p:cNvSpPr/>
          <p:nvPr/>
        </p:nvSpPr>
        <p:spPr>
          <a:xfrm>
            <a:off x="5203637" y="4576467"/>
            <a:ext cx="1872208" cy="504056"/>
          </a:xfrm>
          <a:prstGeom prst="ellipse">
            <a:avLst/>
          </a:prstGeom>
          <a:solidFill>
            <a:srgbClr val="445A6F">
              <a:alpha val="14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Question-Age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5" name="Gerade Verbindung mit Pfeil 24"/>
          <p:cNvCxnSpPr>
            <a:stCxn id="8" idx="4"/>
            <a:endCxn id="40" idx="0"/>
          </p:cNvCxnSpPr>
          <p:nvPr/>
        </p:nvCxnSpPr>
        <p:spPr>
          <a:xfrm>
            <a:off x="1791566" y="2924944"/>
            <a:ext cx="1052450" cy="936104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/>
          <p:cNvSpPr/>
          <p:nvPr/>
        </p:nvSpPr>
        <p:spPr>
          <a:xfrm>
            <a:off x="323528" y="5315483"/>
            <a:ext cx="1872000" cy="504000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5" name="Rechteck 34"/>
          <p:cNvSpPr/>
          <p:nvPr/>
        </p:nvSpPr>
        <p:spPr>
          <a:xfrm>
            <a:off x="4668678" y="6028263"/>
            <a:ext cx="1872000" cy="504000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Age?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7" name="Gerade Verbindung mit Pfeil 36"/>
          <p:cNvCxnSpPr>
            <a:stCxn id="12" idx="4"/>
            <a:endCxn id="41" idx="0"/>
          </p:cNvCxnSpPr>
          <p:nvPr/>
        </p:nvCxnSpPr>
        <p:spPr>
          <a:xfrm flipH="1">
            <a:off x="6139741" y="3628313"/>
            <a:ext cx="1368610" cy="948154"/>
          </a:xfrm>
          <a:prstGeom prst="straightConnector1">
            <a:avLst/>
          </a:prstGeom>
          <a:ln w="15875">
            <a:solidFill>
              <a:srgbClr val="FF0000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71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52</a:t>
            </a:fld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855462" y="2420888"/>
            <a:ext cx="1872208" cy="504056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b="1" smtClean="0">
                <a:solidFill>
                  <a:schemeClr val="tx1"/>
                </a:solidFill>
              </a:rPr>
              <a:t>Variable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6572247" y="3124257"/>
            <a:ext cx="1872208" cy="504056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b="1">
                <a:solidFill>
                  <a:schemeClr val="tx1"/>
                </a:solidFill>
              </a:rPr>
              <a:t>Question</a:t>
            </a: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6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</p:spPr>
        <p:txBody>
          <a:bodyPr/>
          <a:lstStyle/>
          <a:p>
            <a:r>
              <a:rPr lang="de-DE" smtClean="0"/>
              <a:t>DDI Ontology</a:t>
            </a:r>
            <a:endParaRPr lang="en-US"/>
          </a:p>
        </p:txBody>
      </p:sp>
      <p:cxnSp>
        <p:nvCxnSpPr>
          <p:cNvPr id="20" name="Gerade Verbindung mit Pfeil 19"/>
          <p:cNvCxnSpPr>
            <a:stCxn id="10" idx="0"/>
            <a:endCxn id="40" idx="3"/>
          </p:cNvCxnSpPr>
          <p:nvPr/>
        </p:nvCxnSpPr>
        <p:spPr>
          <a:xfrm flipV="1">
            <a:off x="1259528" y="4291287"/>
            <a:ext cx="922563" cy="102419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40" idx="6"/>
            <a:endCxn id="41" idx="2"/>
          </p:cNvCxnSpPr>
          <p:nvPr/>
        </p:nvCxnSpPr>
        <p:spPr>
          <a:xfrm>
            <a:off x="3780120" y="4113076"/>
            <a:ext cx="1423517" cy="7154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>
            <a:stCxn id="35" idx="0"/>
            <a:endCxn id="41" idx="4"/>
          </p:cNvCxnSpPr>
          <p:nvPr/>
        </p:nvCxnSpPr>
        <p:spPr>
          <a:xfrm flipV="1">
            <a:off x="5604678" y="5080523"/>
            <a:ext cx="535063" cy="947740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/>
          <p:cNvSpPr txBox="1"/>
          <p:nvPr/>
        </p:nvSpPr>
        <p:spPr>
          <a:xfrm>
            <a:off x="6012160" y="5400504"/>
            <a:ext cx="1400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hasQuestionText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55" name="Textfeld 54"/>
          <p:cNvSpPr txBox="1"/>
          <p:nvPr/>
        </p:nvSpPr>
        <p:spPr>
          <a:xfrm>
            <a:off x="1872852" y="4653136"/>
            <a:ext cx="1466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hasVariableName</a:t>
            </a:r>
            <a:endParaRPr lang="en-US" sz="1400"/>
          </a:p>
        </p:txBody>
      </p:sp>
      <p:sp>
        <p:nvSpPr>
          <p:cNvPr id="56" name="Textfeld 55"/>
          <p:cNvSpPr txBox="1"/>
          <p:nvPr/>
        </p:nvSpPr>
        <p:spPr>
          <a:xfrm>
            <a:off x="4387930" y="4129335"/>
            <a:ext cx="1408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resultsInVariable</a:t>
            </a:r>
            <a:endParaRPr lang="en-US" sz="1400"/>
          </a:p>
        </p:txBody>
      </p:sp>
      <p:sp>
        <p:nvSpPr>
          <p:cNvPr id="40" name="Ellipse 39"/>
          <p:cNvSpPr/>
          <p:nvPr/>
        </p:nvSpPr>
        <p:spPr>
          <a:xfrm>
            <a:off x="1907912" y="3861048"/>
            <a:ext cx="1872208" cy="504056"/>
          </a:xfrm>
          <a:prstGeom prst="ellipse">
            <a:avLst/>
          </a:prstGeom>
          <a:solidFill>
            <a:srgbClr val="445A6F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1" name="Ellipse 40"/>
          <p:cNvSpPr/>
          <p:nvPr/>
        </p:nvSpPr>
        <p:spPr>
          <a:xfrm>
            <a:off x="5203637" y="4576467"/>
            <a:ext cx="1872208" cy="504056"/>
          </a:xfrm>
          <a:prstGeom prst="ellipse">
            <a:avLst/>
          </a:prstGeom>
          <a:solidFill>
            <a:srgbClr val="445A6F">
              <a:alpha val="14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Question-Age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5" name="Gerade Verbindung mit Pfeil 24"/>
          <p:cNvCxnSpPr>
            <a:stCxn id="8" idx="4"/>
            <a:endCxn id="40" idx="0"/>
          </p:cNvCxnSpPr>
          <p:nvPr/>
        </p:nvCxnSpPr>
        <p:spPr>
          <a:xfrm>
            <a:off x="1791566" y="2924944"/>
            <a:ext cx="1052450" cy="936104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/>
          <p:cNvSpPr/>
          <p:nvPr/>
        </p:nvSpPr>
        <p:spPr>
          <a:xfrm>
            <a:off x="323528" y="5315483"/>
            <a:ext cx="1872000" cy="504000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5" name="Rechteck 34"/>
          <p:cNvSpPr/>
          <p:nvPr/>
        </p:nvSpPr>
        <p:spPr>
          <a:xfrm>
            <a:off x="4668678" y="6028263"/>
            <a:ext cx="1872000" cy="504000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Age?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7" name="Gerade Verbindung mit Pfeil 36"/>
          <p:cNvCxnSpPr>
            <a:stCxn id="12" idx="4"/>
            <a:endCxn id="41" idx="0"/>
          </p:cNvCxnSpPr>
          <p:nvPr/>
        </p:nvCxnSpPr>
        <p:spPr>
          <a:xfrm flipH="1">
            <a:off x="6139741" y="3628313"/>
            <a:ext cx="1368610" cy="948154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654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53</a:t>
            </a:fld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855462" y="2420888"/>
            <a:ext cx="1872208" cy="504056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b="1" smtClean="0">
                <a:solidFill>
                  <a:schemeClr val="tx1"/>
                </a:solidFill>
              </a:rPr>
              <a:t>Variable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6572247" y="3124257"/>
            <a:ext cx="1872208" cy="504056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b="1">
                <a:solidFill>
                  <a:schemeClr val="tx1"/>
                </a:solidFill>
              </a:rPr>
              <a:t>Question</a:t>
            </a: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6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</p:spPr>
        <p:txBody>
          <a:bodyPr/>
          <a:lstStyle/>
          <a:p>
            <a:r>
              <a:rPr lang="de-DE" smtClean="0"/>
              <a:t>DDI Ontology</a:t>
            </a:r>
            <a:endParaRPr lang="en-US"/>
          </a:p>
        </p:txBody>
      </p:sp>
      <p:cxnSp>
        <p:nvCxnSpPr>
          <p:cNvPr id="20" name="Gerade Verbindung mit Pfeil 19"/>
          <p:cNvCxnSpPr>
            <a:stCxn id="10" idx="0"/>
            <a:endCxn id="40" idx="3"/>
          </p:cNvCxnSpPr>
          <p:nvPr/>
        </p:nvCxnSpPr>
        <p:spPr>
          <a:xfrm flipV="1">
            <a:off x="1259528" y="4291287"/>
            <a:ext cx="922563" cy="102419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40" idx="6"/>
            <a:endCxn id="41" idx="2"/>
          </p:cNvCxnSpPr>
          <p:nvPr/>
        </p:nvCxnSpPr>
        <p:spPr>
          <a:xfrm>
            <a:off x="3780120" y="4113076"/>
            <a:ext cx="1423517" cy="715419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>
            <a:stCxn id="35" idx="0"/>
            <a:endCxn id="41" idx="4"/>
          </p:cNvCxnSpPr>
          <p:nvPr/>
        </p:nvCxnSpPr>
        <p:spPr>
          <a:xfrm flipV="1">
            <a:off x="5604678" y="5080523"/>
            <a:ext cx="535063" cy="94774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/>
          <p:cNvSpPr txBox="1"/>
          <p:nvPr/>
        </p:nvSpPr>
        <p:spPr>
          <a:xfrm>
            <a:off x="6012160" y="5400504"/>
            <a:ext cx="1400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hasQuestionText</a:t>
            </a:r>
            <a:endParaRPr lang="en-US" sz="1400"/>
          </a:p>
        </p:txBody>
      </p:sp>
      <p:sp>
        <p:nvSpPr>
          <p:cNvPr id="55" name="Textfeld 54"/>
          <p:cNvSpPr txBox="1"/>
          <p:nvPr/>
        </p:nvSpPr>
        <p:spPr>
          <a:xfrm>
            <a:off x="1872852" y="4653136"/>
            <a:ext cx="1466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hasVariableName</a:t>
            </a:r>
            <a:endParaRPr lang="en-US" sz="1400"/>
          </a:p>
        </p:txBody>
      </p:sp>
      <p:sp>
        <p:nvSpPr>
          <p:cNvPr id="56" name="Textfeld 55"/>
          <p:cNvSpPr txBox="1"/>
          <p:nvPr/>
        </p:nvSpPr>
        <p:spPr>
          <a:xfrm>
            <a:off x="4387930" y="4129335"/>
            <a:ext cx="1408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resultsInVariable</a:t>
            </a: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40" name="Ellipse 39"/>
          <p:cNvSpPr/>
          <p:nvPr/>
        </p:nvSpPr>
        <p:spPr>
          <a:xfrm>
            <a:off x="1907912" y="3861048"/>
            <a:ext cx="1872208" cy="504056"/>
          </a:xfrm>
          <a:prstGeom prst="ellipse">
            <a:avLst/>
          </a:prstGeom>
          <a:solidFill>
            <a:srgbClr val="445A6F">
              <a:alpha val="14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1" name="Ellipse 40"/>
          <p:cNvSpPr/>
          <p:nvPr/>
        </p:nvSpPr>
        <p:spPr>
          <a:xfrm>
            <a:off x="5203637" y="4576467"/>
            <a:ext cx="1872208" cy="504056"/>
          </a:xfrm>
          <a:prstGeom prst="ellipse">
            <a:avLst/>
          </a:prstGeom>
          <a:solidFill>
            <a:srgbClr val="445A6F">
              <a:alpha val="14000"/>
            </a:srgbClr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Question-Age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5" name="Gerade Verbindung mit Pfeil 24"/>
          <p:cNvCxnSpPr>
            <a:stCxn id="8" idx="4"/>
            <a:endCxn id="40" idx="0"/>
          </p:cNvCxnSpPr>
          <p:nvPr/>
        </p:nvCxnSpPr>
        <p:spPr>
          <a:xfrm>
            <a:off x="1791566" y="2924944"/>
            <a:ext cx="1052450" cy="936104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/>
          <p:cNvSpPr/>
          <p:nvPr/>
        </p:nvSpPr>
        <p:spPr>
          <a:xfrm>
            <a:off x="323528" y="5315483"/>
            <a:ext cx="1872000" cy="504000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5" name="Rechteck 34"/>
          <p:cNvSpPr/>
          <p:nvPr/>
        </p:nvSpPr>
        <p:spPr>
          <a:xfrm>
            <a:off x="4668678" y="6028263"/>
            <a:ext cx="1872000" cy="504000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Age?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7" name="Gerade Verbindung mit Pfeil 36"/>
          <p:cNvCxnSpPr>
            <a:stCxn id="12" idx="4"/>
            <a:endCxn id="41" idx="0"/>
          </p:cNvCxnSpPr>
          <p:nvPr/>
        </p:nvCxnSpPr>
        <p:spPr>
          <a:xfrm flipH="1">
            <a:off x="6139741" y="3628313"/>
            <a:ext cx="1368610" cy="948154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7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54</a:t>
            </a:fld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855462" y="2420888"/>
            <a:ext cx="1872208" cy="504056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b="1" smtClean="0">
                <a:solidFill>
                  <a:schemeClr val="tx1"/>
                </a:solidFill>
              </a:rPr>
              <a:t>Variable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6572247" y="3124257"/>
            <a:ext cx="1872208" cy="504056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b="1">
                <a:solidFill>
                  <a:schemeClr val="tx1"/>
                </a:solidFill>
              </a:rPr>
              <a:t>Question</a:t>
            </a: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6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</p:spPr>
        <p:txBody>
          <a:bodyPr/>
          <a:lstStyle/>
          <a:p>
            <a:r>
              <a:rPr lang="de-DE" smtClean="0"/>
              <a:t>DDI Ontology</a:t>
            </a:r>
            <a:endParaRPr lang="en-US"/>
          </a:p>
        </p:txBody>
      </p:sp>
      <p:cxnSp>
        <p:nvCxnSpPr>
          <p:cNvPr id="20" name="Gerade Verbindung mit Pfeil 19"/>
          <p:cNvCxnSpPr>
            <a:stCxn id="10" idx="0"/>
            <a:endCxn id="40" idx="3"/>
          </p:cNvCxnSpPr>
          <p:nvPr/>
        </p:nvCxnSpPr>
        <p:spPr>
          <a:xfrm flipV="1">
            <a:off x="1259528" y="4291287"/>
            <a:ext cx="922563" cy="1024196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>
            <a:stCxn id="40" idx="6"/>
            <a:endCxn id="41" idx="2"/>
          </p:cNvCxnSpPr>
          <p:nvPr/>
        </p:nvCxnSpPr>
        <p:spPr>
          <a:xfrm>
            <a:off x="3780120" y="4113076"/>
            <a:ext cx="1423517" cy="715419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/>
          <p:cNvCxnSpPr>
            <a:stCxn id="35" idx="0"/>
            <a:endCxn id="41" idx="4"/>
          </p:cNvCxnSpPr>
          <p:nvPr/>
        </p:nvCxnSpPr>
        <p:spPr>
          <a:xfrm flipV="1">
            <a:off x="5604678" y="5080523"/>
            <a:ext cx="535063" cy="94774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/>
          <p:cNvSpPr txBox="1"/>
          <p:nvPr/>
        </p:nvSpPr>
        <p:spPr>
          <a:xfrm>
            <a:off x="6012160" y="5400504"/>
            <a:ext cx="1400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hasQuestionText</a:t>
            </a:r>
            <a:endParaRPr lang="en-US" sz="1400"/>
          </a:p>
        </p:txBody>
      </p:sp>
      <p:sp>
        <p:nvSpPr>
          <p:cNvPr id="55" name="Textfeld 54"/>
          <p:cNvSpPr txBox="1"/>
          <p:nvPr/>
        </p:nvSpPr>
        <p:spPr>
          <a:xfrm>
            <a:off x="1872852" y="4653136"/>
            <a:ext cx="1466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hasVariableName</a:t>
            </a:r>
            <a:endParaRPr lang="en-US" sz="1400"/>
          </a:p>
        </p:txBody>
      </p:sp>
      <p:sp>
        <p:nvSpPr>
          <p:cNvPr id="56" name="Textfeld 55"/>
          <p:cNvSpPr txBox="1"/>
          <p:nvPr/>
        </p:nvSpPr>
        <p:spPr>
          <a:xfrm>
            <a:off x="4387930" y="4129335"/>
            <a:ext cx="1408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smtClean="0"/>
              <a:t>resultsInVariable</a:t>
            </a:r>
            <a:endParaRPr lang="en-US" sz="1400"/>
          </a:p>
        </p:txBody>
      </p:sp>
      <p:sp>
        <p:nvSpPr>
          <p:cNvPr id="40" name="Ellipse 39"/>
          <p:cNvSpPr/>
          <p:nvPr/>
        </p:nvSpPr>
        <p:spPr>
          <a:xfrm>
            <a:off x="1907912" y="3861048"/>
            <a:ext cx="1872208" cy="504056"/>
          </a:xfrm>
          <a:prstGeom prst="ellipse">
            <a:avLst/>
          </a:prstGeom>
          <a:solidFill>
            <a:srgbClr val="445A6F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Variable-Age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1" name="Ellipse 40"/>
          <p:cNvSpPr/>
          <p:nvPr/>
        </p:nvSpPr>
        <p:spPr>
          <a:xfrm>
            <a:off x="5203637" y="4576467"/>
            <a:ext cx="1872208" cy="504056"/>
          </a:xfrm>
          <a:prstGeom prst="ellipse">
            <a:avLst/>
          </a:prstGeom>
          <a:solidFill>
            <a:srgbClr val="445A6F">
              <a:alpha val="14000"/>
            </a:srgb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Question-Age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5" name="Gerade Verbindung mit Pfeil 24"/>
          <p:cNvCxnSpPr>
            <a:stCxn id="8" idx="4"/>
            <a:endCxn id="40" idx="0"/>
          </p:cNvCxnSpPr>
          <p:nvPr/>
        </p:nvCxnSpPr>
        <p:spPr>
          <a:xfrm>
            <a:off x="1791566" y="2924944"/>
            <a:ext cx="1052450" cy="936104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/>
          <p:cNvSpPr/>
          <p:nvPr/>
        </p:nvSpPr>
        <p:spPr>
          <a:xfrm>
            <a:off x="323528" y="5315483"/>
            <a:ext cx="1872000" cy="504000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Age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5" name="Rechteck 34"/>
          <p:cNvSpPr/>
          <p:nvPr/>
        </p:nvSpPr>
        <p:spPr>
          <a:xfrm>
            <a:off x="4668678" y="6028263"/>
            <a:ext cx="1872000" cy="504000"/>
          </a:xfrm>
          <a:prstGeom prst="rect">
            <a:avLst/>
          </a:prstGeom>
          <a:solidFill>
            <a:schemeClr val="bg1">
              <a:alpha val="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600" smtClean="0">
                <a:solidFill>
                  <a:schemeClr val="tx1"/>
                </a:solidFill>
              </a:rPr>
              <a:t>Age?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37" name="Gerade Verbindung mit Pfeil 36"/>
          <p:cNvCxnSpPr>
            <a:stCxn id="12" idx="4"/>
            <a:endCxn id="41" idx="0"/>
          </p:cNvCxnSpPr>
          <p:nvPr/>
        </p:nvCxnSpPr>
        <p:spPr>
          <a:xfrm flipH="1">
            <a:off x="6139741" y="3628313"/>
            <a:ext cx="1368610" cy="948154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45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1F0A9-7B41-4B3D-A4E1-5AEA8E3E3D00}" type="slidenum">
              <a:rPr lang="de-DE" smtClean="0"/>
              <a:t>55</a:t>
            </a:fld>
            <a:endParaRPr lang="de-DE"/>
          </a:p>
        </p:txBody>
      </p:sp>
      <p:sp>
        <p:nvSpPr>
          <p:cNvPr id="5" name="Ellipse 4"/>
          <p:cNvSpPr/>
          <p:nvPr/>
        </p:nvSpPr>
        <p:spPr>
          <a:xfrm>
            <a:off x="3347863" y="3573016"/>
            <a:ext cx="2577600" cy="720080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Generated Ontologies (OWL)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251520" y="3573016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XML Schemas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Ellipse 6"/>
          <p:cNvSpPr/>
          <p:nvPr/>
        </p:nvSpPr>
        <p:spPr>
          <a:xfrm>
            <a:off x="6444208" y="2564904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External Ontologies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8" name="Gerade Verbindung mit Pfeil 7"/>
          <p:cNvCxnSpPr/>
          <p:nvPr/>
        </p:nvCxnSpPr>
        <p:spPr>
          <a:xfrm>
            <a:off x="251520" y="2348880"/>
            <a:ext cx="8640960" cy="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>
            <a:off x="251520" y="5661248"/>
            <a:ext cx="8640960" cy="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lipse 9"/>
          <p:cNvSpPr/>
          <p:nvPr/>
        </p:nvSpPr>
        <p:spPr>
          <a:xfrm>
            <a:off x="6444208" y="3573016"/>
            <a:ext cx="2577600" cy="720080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Domain Ontologies (OWL)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251520" y="5949280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XML Document Instances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3347864" y="5949280"/>
            <a:ext cx="2577600" cy="720080"/>
          </a:xfrm>
          <a:prstGeom prst="ellipse">
            <a:avLst/>
          </a:prstGeom>
          <a:solidFill>
            <a:srgbClr val="294465">
              <a:alpha val="1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Generated Ontologies (RDF)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251520" y="1340768"/>
            <a:ext cx="2577600" cy="720080"/>
          </a:xfrm>
          <a:prstGeom prst="ellipse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XML Schema </a:t>
            </a:r>
            <a:r>
              <a:rPr lang="en-US" sz="1600" err="1" smtClean="0">
                <a:solidFill>
                  <a:schemeClr val="tx1"/>
                </a:solidFill>
              </a:rPr>
              <a:t>Metamodel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3347864" y="1340768"/>
            <a:ext cx="2577600" cy="720080"/>
          </a:xfrm>
          <a:prstGeom prst="ellipse">
            <a:avLst/>
          </a:prstGeom>
          <a:solidFill>
            <a:srgbClr val="294465">
              <a:alpha val="25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1000" smtClean="0">
              <a:solidFill>
                <a:schemeClr val="tx1"/>
              </a:solidFill>
            </a:endParaRPr>
          </a:p>
          <a:p>
            <a:pPr algn="ctr"/>
            <a:r>
              <a:rPr lang="en-US" sz="1600" smtClean="0">
                <a:solidFill>
                  <a:schemeClr val="tx1"/>
                </a:solidFill>
              </a:rPr>
              <a:t>XML Schema </a:t>
            </a:r>
            <a:r>
              <a:rPr lang="en-US" sz="1600" err="1" smtClean="0">
                <a:solidFill>
                  <a:schemeClr val="tx1"/>
                </a:solidFill>
              </a:rPr>
              <a:t>Metamodel</a:t>
            </a:r>
            <a:endParaRPr lang="en-US" sz="1600">
              <a:solidFill>
                <a:schemeClr val="tx1"/>
              </a:solidFill>
            </a:endParaRPr>
          </a:p>
          <a:p>
            <a:pPr algn="ctr"/>
            <a:r>
              <a:rPr lang="en-US" sz="1600" smtClean="0">
                <a:solidFill>
                  <a:schemeClr val="tx1"/>
                </a:solidFill>
              </a:rPr>
              <a:t>Ontology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15" name="Gerade Verbindung mit Pfeil 14"/>
          <p:cNvCxnSpPr>
            <a:stCxn id="14" idx="2"/>
            <a:endCxn id="13" idx="6"/>
          </p:cNvCxnSpPr>
          <p:nvPr/>
        </p:nvCxnSpPr>
        <p:spPr>
          <a:xfrm flipH="1">
            <a:off x="2829120" y="1700808"/>
            <a:ext cx="51874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/>
          <p:cNvSpPr txBox="1"/>
          <p:nvPr/>
        </p:nvSpPr>
        <p:spPr>
          <a:xfrm>
            <a:off x="2839391" y="1393031"/>
            <a:ext cx="508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map</a:t>
            </a:r>
            <a:endParaRPr lang="en-US" sz="1400"/>
          </a:p>
        </p:txBody>
      </p:sp>
      <p:cxnSp>
        <p:nvCxnSpPr>
          <p:cNvPr id="17" name="Gerade Verbindung mit Pfeil 16"/>
          <p:cNvCxnSpPr>
            <a:stCxn id="14" idx="4"/>
            <a:endCxn id="5" idx="0"/>
          </p:cNvCxnSpPr>
          <p:nvPr/>
        </p:nvCxnSpPr>
        <p:spPr>
          <a:xfrm flipH="1">
            <a:off x="4636663" y="2060848"/>
            <a:ext cx="1" cy="151216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/>
          <p:cNvSpPr txBox="1"/>
          <p:nvPr/>
        </p:nvSpPr>
        <p:spPr>
          <a:xfrm>
            <a:off x="4156656" y="2843644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⊑</a:t>
            </a:r>
          </a:p>
        </p:txBody>
      </p:sp>
      <p:cxnSp>
        <p:nvCxnSpPr>
          <p:cNvPr id="19" name="Gerade Verbindung mit Pfeil 18"/>
          <p:cNvCxnSpPr>
            <a:stCxn id="6" idx="4"/>
            <a:endCxn id="11" idx="0"/>
          </p:cNvCxnSpPr>
          <p:nvPr/>
        </p:nvCxnSpPr>
        <p:spPr>
          <a:xfrm>
            <a:off x="1540320" y="4293096"/>
            <a:ext cx="0" cy="16561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/>
          <p:cNvSpPr txBox="1"/>
          <p:nvPr/>
        </p:nvSpPr>
        <p:spPr>
          <a:xfrm>
            <a:off x="462615" y="5075311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cxnSp>
        <p:nvCxnSpPr>
          <p:cNvPr id="21" name="Gerade Verbindung mit Pfeil 20"/>
          <p:cNvCxnSpPr>
            <a:stCxn id="13" idx="4"/>
            <a:endCxn id="6" idx="0"/>
          </p:cNvCxnSpPr>
          <p:nvPr/>
        </p:nvCxnSpPr>
        <p:spPr>
          <a:xfrm>
            <a:off x="1540320" y="2060848"/>
            <a:ext cx="0" cy="1512168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462614" y="2555031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cxnSp>
        <p:nvCxnSpPr>
          <p:cNvPr id="23" name="Gerade Verbindung mit Pfeil 22"/>
          <p:cNvCxnSpPr>
            <a:stCxn id="5" idx="2"/>
            <a:endCxn id="6" idx="6"/>
          </p:cNvCxnSpPr>
          <p:nvPr/>
        </p:nvCxnSpPr>
        <p:spPr>
          <a:xfrm flipH="1">
            <a:off x="2829120" y="3933056"/>
            <a:ext cx="518743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/>
          <p:cNvSpPr txBox="1"/>
          <p:nvPr/>
        </p:nvSpPr>
        <p:spPr>
          <a:xfrm>
            <a:off x="2839391" y="3625279"/>
            <a:ext cx="508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map</a:t>
            </a:r>
            <a:endParaRPr lang="en-US" sz="1400"/>
          </a:p>
        </p:txBody>
      </p:sp>
      <p:sp>
        <p:nvSpPr>
          <p:cNvPr id="25" name="Textfeld 24"/>
          <p:cNvSpPr txBox="1"/>
          <p:nvPr/>
        </p:nvSpPr>
        <p:spPr>
          <a:xfrm>
            <a:off x="2771800" y="3933056"/>
            <a:ext cx="6170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[XSLT]</a:t>
            </a:r>
            <a:endParaRPr lang="en-US" sz="1400"/>
          </a:p>
        </p:txBody>
      </p:sp>
      <p:cxnSp>
        <p:nvCxnSpPr>
          <p:cNvPr id="26" name="Gerade Verbindung mit Pfeil 25"/>
          <p:cNvCxnSpPr>
            <a:stCxn id="12" idx="2"/>
            <a:endCxn id="11" idx="6"/>
          </p:cNvCxnSpPr>
          <p:nvPr/>
        </p:nvCxnSpPr>
        <p:spPr>
          <a:xfrm flipH="1">
            <a:off x="2829120" y="6309320"/>
            <a:ext cx="51874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/>
          <p:cNvSpPr txBox="1"/>
          <p:nvPr/>
        </p:nvSpPr>
        <p:spPr>
          <a:xfrm>
            <a:off x="2839391" y="5986661"/>
            <a:ext cx="508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map</a:t>
            </a:r>
            <a:endParaRPr lang="en-US" sz="1400"/>
          </a:p>
        </p:txBody>
      </p:sp>
      <p:sp>
        <p:nvSpPr>
          <p:cNvPr id="28" name="Textfeld 27"/>
          <p:cNvSpPr txBox="1"/>
          <p:nvPr/>
        </p:nvSpPr>
        <p:spPr>
          <a:xfrm>
            <a:off x="2771800" y="6319374"/>
            <a:ext cx="6170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/>
              <a:t>[XSLT]</a:t>
            </a:r>
            <a:endParaRPr lang="en-US" sz="1400"/>
          </a:p>
        </p:txBody>
      </p:sp>
      <p:cxnSp>
        <p:nvCxnSpPr>
          <p:cNvPr id="29" name="Gerade Verbindung mit Pfeil 28"/>
          <p:cNvCxnSpPr>
            <a:stCxn id="5" idx="4"/>
            <a:endCxn id="12" idx="0"/>
          </p:cNvCxnSpPr>
          <p:nvPr/>
        </p:nvCxnSpPr>
        <p:spPr>
          <a:xfrm>
            <a:off x="4636663" y="4293096"/>
            <a:ext cx="1" cy="16561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/>
          <p:cNvSpPr txBox="1"/>
          <p:nvPr/>
        </p:nvSpPr>
        <p:spPr>
          <a:xfrm>
            <a:off x="3546873" y="5075311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cxnSp>
        <p:nvCxnSpPr>
          <p:cNvPr id="31" name="Gerade Verbindung mit Pfeil 30"/>
          <p:cNvCxnSpPr>
            <a:stCxn id="10" idx="2"/>
            <a:endCxn id="5" idx="6"/>
          </p:cNvCxnSpPr>
          <p:nvPr/>
        </p:nvCxnSpPr>
        <p:spPr>
          <a:xfrm flipH="1">
            <a:off x="5925463" y="3933056"/>
            <a:ext cx="518745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>
            <a:stCxn id="7" idx="4"/>
            <a:endCxn id="10" idx="0"/>
          </p:cNvCxnSpPr>
          <p:nvPr/>
        </p:nvCxnSpPr>
        <p:spPr>
          <a:xfrm>
            <a:off x="7733008" y="3284984"/>
            <a:ext cx="0" cy="288032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/>
          <p:cNvSpPr txBox="1"/>
          <p:nvPr/>
        </p:nvSpPr>
        <p:spPr>
          <a:xfrm>
            <a:off x="7747410" y="3183359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>
                <a:sym typeface="Symbol"/>
              </a:rPr>
              <a:t></a:t>
            </a:r>
            <a:endParaRPr lang="en-US" sz="2400"/>
          </a:p>
        </p:txBody>
      </p:sp>
      <p:sp>
        <p:nvSpPr>
          <p:cNvPr id="36" name="Ellipse 35"/>
          <p:cNvSpPr/>
          <p:nvPr/>
        </p:nvSpPr>
        <p:spPr>
          <a:xfrm>
            <a:off x="6444208" y="5949280"/>
            <a:ext cx="2577600" cy="720080"/>
          </a:xfrm>
          <a:prstGeom prst="ellipse">
            <a:avLst/>
          </a:prstGeom>
          <a:solidFill>
            <a:srgbClr val="294465">
              <a:alpha val="53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smtClean="0">
                <a:solidFill>
                  <a:schemeClr val="tx1"/>
                </a:solidFill>
              </a:rPr>
              <a:t>Domain Ontologies (RDF)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53" name="Gerade Verbindung mit Pfeil 52"/>
          <p:cNvCxnSpPr>
            <a:stCxn id="36" idx="2"/>
            <a:endCxn id="12" idx="6"/>
          </p:cNvCxnSpPr>
          <p:nvPr/>
        </p:nvCxnSpPr>
        <p:spPr>
          <a:xfrm flipH="1">
            <a:off x="5925464" y="6309320"/>
            <a:ext cx="518744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/>
          <p:cNvCxnSpPr>
            <a:stCxn id="10" idx="4"/>
            <a:endCxn id="36" idx="0"/>
          </p:cNvCxnSpPr>
          <p:nvPr/>
        </p:nvCxnSpPr>
        <p:spPr>
          <a:xfrm>
            <a:off x="7733008" y="4293096"/>
            <a:ext cx="0" cy="1656184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/>
          <p:cNvSpPr txBox="1"/>
          <p:nvPr/>
        </p:nvSpPr>
        <p:spPr>
          <a:xfrm>
            <a:off x="6628763" y="5065439"/>
            <a:ext cx="967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err="1" smtClean="0"/>
              <a:t>instanceOf</a:t>
            </a:r>
            <a:endParaRPr lang="en-US" sz="1400"/>
          </a:p>
        </p:txBody>
      </p:sp>
      <p:sp>
        <p:nvSpPr>
          <p:cNvPr id="40" name="Titel 1"/>
          <p:cNvSpPr>
            <a:spLocks noGrp="1"/>
          </p:cNvSpPr>
          <p:nvPr>
            <p:ph type="title"/>
          </p:nvPr>
        </p:nvSpPr>
        <p:spPr>
          <a:xfrm rot="21014225">
            <a:off x="-79126" y="1935774"/>
            <a:ext cx="9324079" cy="1143000"/>
          </a:xfrm>
        </p:spPr>
        <p:txBody>
          <a:bodyPr>
            <a:noAutofit/>
          </a:bodyPr>
          <a:lstStyle/>
          <a:p>
            <a:r>
              <a:rPr lang="de-DE" sz="4300" smtClean="0">
                <a:latin typeface="+mn-lt"/>
              </a:rPr>
              <a:t>http://boschthomas.blogspot.com</a:t>
            </a:r>
            <a:endParaRPr lang="de-DE" sz="4300" dirty="0">
              <a:solidFill>
                <a:srgbClr val="445A6F"/>
              </a:solidFill>
              <a:latin typeface="+mn-lt"/>
            </a:endParaRPr>
          </a:p>
        </p:txBody>
      </p:sp>
      <p:sp>
        <p:nvSpPr>
          <p:cNvPr id="41" name="Pfeil nach rechts 40"/>
          <p:cNvSpPr/>
          <p:nvPr/>
        </p:nvSpPr>
        <p:spPr>
          <a:xfrm>
            <a:off x="6051693" y="3645024"/>
            <a:ext cx="288032" cy="153889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feld 42"/>
          <p:cNvSpPr txBox="1"/>
          <p:nvPr/>
        </p:nvSpPr>
        <p:spPr>
          <a:xfrm>
            <a:off x="6019218" y="5847655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>
                <a:sym typeface="Symbol"/>
              </a:rPr>
              <a:t>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1097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294465">
            <a:alpha val="53000"/>
          </a:srgbClr>
        </a:solidFill>
        <a:ln w="19050">
          <a:solidFill>
            <a:schemeClr val="tx1"/>
          </a:solidFill>
        </a:ln>
      </a:spPr>
      <a:bodyPr wrap="none" lIns="0" tIns="0" rIns="0" bIns="0" rtlCol="0" anchor="ctr"/>
      <a:lstStyle>
        <a:defPPr algn="ctr">
          <a:defRPr sz="16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1ACB0F0E4D8D847898BCFF327EAA86F" ma:contentTypeVersion="14" ma:contentTypeDescription="Ein neues Dokument erstellen." ma:contentTypeScope="" ma:versionID="c3906471eff8a0c11d583148b8fd5ea5">
  <xsd:schema xmlns:xsd="http://www.w3.org/2001/XMLSchema" xmlns:p="http://schemas.microsoft.com/office/2006/metadata/properties" targetNamespace="http://schemas.microsoft.com/office/2006/metadata/properties" ma:root="true" ma:fieldsID="85271c6f9fc6062c6ecdd2a74b471b5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 ma:readOnly="tru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D12E0BAE-FAF0-4E78-A2C3-2AAC064B5F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49D386-2FCB-4353-94CE-7C0896CF81B1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BF6130E-553D-4838-98BE-5679003509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2321</Words>
  <Application>Microsoft Office PowerPoint</Application>
  <PresentationFormat>Bildschirmpräsentation (4:3)</PresentationFormat>
  <Paragraphs>1198</Paragraphs>
  <Slides>55</Slides>
  <Notes>46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55</vt:i4>
      </vt:variant>
    </vt:vector>
  </HeadingPairs>
  <TitlesOfParts>
    <vt:vector size="57" baseType="lpstr">
      <vt:lpstr>Benutzerdefiniertes Design</vt:lpstr>
      <vt:lpstr>1_Benutzerdefiniertes Design</vt:lpstr>
      <vt:lpstr>A Generic Multilevel Approach for Designing Domain Ontologies Based on XML Schemas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DDI Ontology</vt:lpstr>
      <vt:lpstr>DDI Ontology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DDI Ontology</vt:lpstr>
      <vt:lpstr>DDI Ontology</vt:lpstr>
      <vt:lpstr>DDI Ontology</vt:lpstr>
      <vt:lpstr>DDI Ontology</vt:lpstr>
      <vt:lpstr>DDI Ontology</vt:lpstr>
      <vt:lpstr>http://boschthomas.blogspot.com</vt:lpstr>
    </vt:vector>
  </TitlesOfParts>
  <Company>IZ Sozialwissenschaften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Heuser</dc:creator>
  <cp:lastModifiedBy>Thomas</cp:lastModifiedBy>
  <cp:revision>986</cp:revision>
  <cp:lastPrinted>2011-05-27T11:02:03Z</cp:lastPrinted>
  <dcterms:created xsi:type="dcterms:W3CDTF">2009-05-26T11:46:45Z</dcterms:created>
  <dcterms:modified xsi:type="dcterms:W3CDTF">2011-11-29T10:42:01Z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0x010100B1ACB0F0E4D8D847898BCFF327EAA86F</vt:lpwstr>
  </property>
</Properties>
</file>