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handoutMasterIdLst>
    <p:handoutMasterId r:id="rId25"/>
  </p:handoutMasterIdLst>
  <p:sldIdLst>
    <p:sldId id="276" r:id="rId2"/>
    <p:sldId id="281" r:id="rId3"/>
    <p:sldId id="259" r:id="rId4"/>
    <p:sldId id="264" r:id="rId5"/>
    <p:sldId id="267" r:id="rId6"/>
    <p:sldId id="265" r:id="rId7"/>
    <p:sldId id="266" r:id="rId8"/>
    <p:sldId id="268" r:id="rId9"/>
    <p:sldId id="271" r:id="rId10"/>
    <p:sldId id="270" r:id="rId11"/>
    <p:sldId id="269" r:id="rId12"/>
    <p:sldId id="284" r:id="rId13"/>
    <p:sldId id="260" r:id="rId14"/>
    <p:sldId id="273" r:id="rId15"/>
    <p:sldId id="278" r:id="rId16"/>
    <p:sldId id="277" r:id="rId17"/>
    <p:sldId id="283" r:id="rId18"/>
    <p:sldId id="274" r:id="rId19"/>
    <p:sldId id="282" r:id="rId20"/>
    <p:sldId id="285" r:id="rId21"/>
    <p:sldId id="275" r:id="rId22"/>
    <p:sldId id="279" r:id="rId23"/>
  </p:sldIdLst>
  <p:sldSz cx="9144000" cy="6858000" type="screen4x3"/>
  <p:notesSz cx="6858000" cy="9144000"/>
  <p:defaultTextStyle>
    <a:defPPr>
      <a:defRPr lang="nb-NO"/>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iddels stil 2 - aks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9098" autoAdjust="0"/>
  </p:normalViewPr>
  <p:slideViewPr>
    <p:cSldViewPr>
      <p:cViewPr varScale="1">
        <p:scale>
          <a:sx n="51" d="100"/>
          <a:sy n="51" d="100"/>
        </p:scale>
        <p:origin x="-1301" y="-86"/>
      </p:cViewPr>
      <p:guideLst>
        <p:guide orient="horz" pos="2160"/>
        <p:guide pos="2880"/>
      </p:guideLst>
    </p:cSldViewPr>
  </p:slideViewPr>
  <p:notesTextViewPr>
    <p:cViewPr>
      <p:scale>
        <a:sx n="1" d="1"/>
        <a:sy n="1" d="1"/>
      </p:scale>
      <p:origin x="0" y="0"/>
    </p:cViewPr>
  </p:notesTextViewPr>
  <p:sorterViewPr>
    <p:cViewPr>
      <p:scale>
        <a:sx n="200" d="100"/>
        <a:sy n="200" d="100"/>
      </p:scale>
      <p:origin x="0" y="957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93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atin typeface="Calibri" pitchFamily="34" charset="0"/>
              </a:defRPr>
            </a:lvl1pPr>
          </a:lstStyle>
          <a:p>
            <a:pPr>
              <a:defRPr/>
            </a:pPr>
            <a:endParaRPr lang="nb-NO"/>
          </a:p>
        </p:txBody>
      </p:sp>
      <p:sp>
        <p:nvSpPr>
          <p:cNvPr id="39939"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atin typeface="Calibri" pitchFamily="34" charset="0"/>
              </a:defRPr>
            </a:lvl1pPr>
          </a:lstStyle>
          <a:p>
            <a:pPr>
              <a:defRPr/>
            </a:pPr>
            <a:fld id="{257FACD1-6FEF-4084-AB26-1CABA76C93B5}" type="datetimeFigureOut">
              <a:rPr lang="nb-NO"/>
              <a:pPr>
                <a:defRPr/>
              </a:pPr>
              <a:t>06.12.2011</a:t>
            </a:fld>
            <a:endParaRPr lang="nb-NO"/>
          </a:p>
        </p:txBody>
      </p:sp>
      <p:sp>
        <p:nvSpPr>
          <p:cNvPr id="39940"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atin typeface="Calibri" pitchFamily="34" charset="0"/>
              </a:defRPr>
            </a:lvl1pPr>
          </a:lstStyle>
          <a:p>
            <a:pPr>
              <a:defRPr/>
            </a:pPr>
            <a:endParaRPr lang="nb-NO"/>
          </a:p>
        </p:txBody>
      </p:sp>
      <p:sp>
        <p:nvSpPr>
          <p:cNvPr id="39941"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atin typeface="Calibri" pitchFamily="34" charset="0"/>
              </a:defRPr>
            </a:lvl1pPr>
          </a:lstStyle>
          <a:p>
            <a:pPr>
              <a:defRPr/>
            </a:pPr>
            <a:fld id="{264400D6-F493-4C2B-9D8C-F731B49AC531}" type="slidenum">
              <a:rPr lang="nb-NO"/>
              <a:pPr>
                <a:defRPr/>
              </a:pPr>
              <a:t>‹#›</a:t>
            </a:fld>
            <a:endParaRPr lang="nb-NO"/>
          </a:p>
        </p:txBody>
      </p:sp>
    </p:spTree>
    <p:extLst>
      <p:ext uri="{BB962C8B-B14F-4D97-AF65-F5344CB8AC3E}">
        <p14:creationId xmlns:p14="http://schemas.microsoft.com/office/powerpoint/2010/main" val="109993467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opptekst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defRPr>
            </a:lvl1pPr>
          </a:lstStyle>
          <a:p>
            <a:pPr>
              <a:defRPr/>
            </a:pPr>
            <a:endParaRPr lang="nb-NO"/>
          </a:p>
        </p:txBody>
      </p:sp>
      <p:sp>
        <p:nvSpPr>
          <p:cNvPr id="3" name="Plassholder for dato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defRPr>
            </a:lvl1pPr>
          </a:lstStyle>
          <a:p>
            <a:pPr>
              <a:defRPr/>
            </a:pPr>
            <a:fld id="{1235B40D-6EA2-40F8-9EBA-2C205282D676}" type="datetimeFigureOut">
              <a:rPr lang="nb-NO"/>
              <a:pPr>
                <a:defRPr/>
              </a:pPr>
              <a:t>06.12.2011</a:t>
            </a:fld>
            <a:endParaRPr lang="nb-NO"/>
          </a:p>
        </p:txBody>
      </p:sp>
      <p:sp>
        <p:nvSpPr>
          <p:cNvPr id="4" name="Plassholder for lysbilde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nb-NO" noProof="0"/>
          </a:p>
        </p:txBody>
      </p:sp>
      <p:sp>
        <p:nvSpPr>
          <p:cNvPr id="5" name="Plassholder for notat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nb-NO" noProof="0" smtClean="0"/>
              <a:t>Klikk for å redigere tekststiler i malen</a:t>
            </a:r>
          </a:p>
          <a:p>
            <a:pPr lvl="1"/>
            <a:r>
              <a:rPr lang="nb-NO" noProof="0" smtClean="0"/>
              <a:t>Andre nivå</a:t>
            </a:r>
          </a:p>
          <a:p>
            <a:pPr lvl="2"/>
            <a:r>
              <a:rPr lang="nb-NO" noProof="0" smtClean="0"/>
              <a:t>Tredje nivå</a:t>
            </a:r>
          </a:p>
          <a:p>
            <a:pPr lvl="3"/>
            <a:r>
              <a:rPr lang="nb-NO" noProof="0" smtClean="0"/>
              <a:t>Fjerde nivå</a:t>
            </a:r>
          </a:p>
          <a:p>
            <a:pPr lvl="4"/>
            <a:r>
              <a:rPr lang="nb-NO" noProof="0" smtClean="0"/>
              <a:t>Femte nivå</a:t>
            </a:r>
            <a:endParaRPr lang="nb-NO" noProof="0"/>
          </a:p>
        </p:txBody>
      </p:sp>
      <p:sp>
        <p:nvSpPr>
          <p:cNvPr id="6" name="Plassholder for bunntekst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defRPr>
            </a:lvl1pPr>
          </a:lstStyle>
          <a:p>
            <a:pPr>
              <a:defRPr/>
            </a:pPr>
            <a:endParaRPr lang="nb-NO"/>
          </a:p>
        </p:txBody>
      </p:sp>
      <p:sp>
        <p:nvSpPr>
          <p:cNvPr id="7" name="Plassholder for lysbildenumm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defRPr>
            </a:lvl1pPr>
          </a:lstStyle>
          <a:p>
            <a:pPr>
              <a:defRPr/>
            </a:pPr>
            <a:fld id="{9C49E392-B775-45CD-80A9-0C2B92C1D1B5}" type="slidenum">
              <a:rPr lang="nb-NO"/>
              <a:pPr>
                <a:defRPr/>
              </a:pPr>
              <a:t>‹#›</a:t>
            </a:fld>
            <a:endParaRPr lang="nb-NO"/>
          </a:p>
        </p:txBody>
      </p:sp>
    </p:spTree>
    <p:extLst>
      <p:ext uri="{BB962C8B-B14F-4D97-AF65-F5344CB8AC3E}">
        <p14:creationId xmlns:p14="http://schemas.microsoft.com/office/powerpoint/2010/main" val="82805574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Plassholder for lysbilde 1"/>
          <p:cNvSpPr>
            <a:spLocks noGrp="1" noRot="1" noChangeAspect="1"/>
          </p:cNvSpPr>
          <p:nvPr>
            <p:ph type="sldImg"/>
          </p:nvPr>
        </p:nvSpPr>
        <p:spPr bwMode="auto">
          <a:noFill/>
          <a:ln>
            <a:solidFill>
              <a:srgbClr val="000000"/>
            </a:solidFill>
            <a:miter lim="800000"/>
            <a:headEnd/>
            <a:tailEnd/>
          </a:ln>
        </p:spPr>
      </p:sp>
      <p:sp>
        <p:nvSpPr>
          <p:cNvPr id="17410" name="Plassholder for notater 2"/>
          <p:cNvSpPr>
            <a:spLocks noGrp="1"/>
          </p:cNvSpPr>
          <p:nvPr>
            <p:ph type="body" idx="1"/>
          </p:nvPr>
        </p:nvSpPr>
        <p:spPr bwMode="auto">
          <a:noFill/>
        </p:spPr>
        <p:txBody>
          <a:bodyPr wrap="square" numCol="1" anchor="t" anchorCtr="0" compatLnSpc="1">
            <a:prstTxWarp prst="textNoShape">
              <a:avLst/>
            </a:prstTxWarp>
          </a:bodyPr>
          <a:lstStyle/>
          <a:p>
            <a:pPr eaLnBrk="1" hangingPunct="1"/>
            <a:r>
              <a:rPr lang="nb-NO" smtClean="0"/>
              <a:t>This autumn two events of importance for cross-national data collection on education took place. </a:t>
            </a:r>
          </a:p>
          <a:p>
            <a:pPr eaLnBrk="1" hangingPunct="1"/>
            <a:endParaRPr lang="nb-NO" smtClean="0"/>
          </a:p>
          <a:p>
            <a:pPr eaLnBrk="1" hangingPunct="1"/>
            <a:r>
              <a:rPr lang="nb-NO" smtClean="0"/>
              <a:t>In November, a new version of the International for Classification, ISCED 2011 was approved by the UNESCO’s 36th General conference. </a:t>
            </a:r>
          </a:p>
          <a:p>
            <a:pPr eaLnBrk="1" hangingPunct="1"/>
            <a:endParaRPr lang="nb-NO" smtClean="0"/>
          </a:p>
          <a:p>
            <a:pPr eaLnBrk="1" hangingPunct="1"/>
            <a:r>
              <a:rPr lang="nb-NO" smtClean="0"/>
              <a:t>In October, the European Social Survey (ESS) released their data and metadata from round 5, which include a major upgrade of the measurement of educational attainment based on ISCED.</a:t>
            </a:r>
          </a:p>
          <a:p>
            <a:pPr eaLnBrk="1" hangingPunct="1"/>
            <a:endParaRPr lang="nb-NO" smtClean="0"/>
          </a:p>
          <a:p>
            <a:pPr eaLnBrk="1" hangingPunct="1"/>
            <a:r>
              <a:rPr lang="nb-NO" smtClean="0"/>
              <a:t>Both the new ISCED version, as well as questions, variables and codings (bridgings) from the new education variables in the ESS represents material that typically can be reused.</a:t>
            </a:r>
          </a:p>
          <a:p>
            <a:pPr eaLnBrk="1" hangingPunct="1"/>
            <a:endParaRPr lang="nb-NO" smtClean="0"/>
          </a:p>
          <a:p>
            <a:pPr eaLnBrk="1" hangingPunct="1"/>
            <a:r>
              <a:rPr lang="nb-NO" smtClean="0"/>
              <a:t>This presentation is the result of some first steps of thinking of ISCED in terms of metadata structured for reuse in the DDI.</a:t>
            </a:r>
          </a:p>
          <a:p>
            <a:pPr eaLnBrk="1" hangingPunct="1"/>
            <a:r>
              <a:rPr lang="nb-NO" smtClean="0"/>
              <a:t>ISCED is a complex standard when it comes to metadata. First the standard will be explained and the relationship between metadata components based on ISCED explored.</a:t>
            </a:r>
          </a:p>
          <a:p>
            <a:pPr eaLnBrk="1" hangingPunct="1"/>
            <a:r>
              <a:rPr lang="nb-NO" smtClean="0"/>
              <a:t>Focus will then move to possible DDI usage as a resource package for ISCED.</a:t>
            </a:r>
          </a:p>
        </p:txBody>
      </p:sp>
      <p:sp>
        <p:nvSpPr>
          <p:cNvPr id="4" name="Plassholder for lysbildenummer 3"/>
          <p:cNvSpPr>
            <a:spLocks noGrp="1"/>
          </p:cNvSpPr>
          <p:nvPr>
            <p:ph type="sldNum" sz="quarter" idx="5"/>
          </p:nvPr>
        </p:nvSpPr>
        <p:spPr/>
        <p:txBody>
          <a:bodyPr/>
          <a:lstStyle/>
          <a:p>
            <a:pPr>
              <a:defRPr/>
            </a:pPr>
            <a:fld id="{CD3AA912-8CE1-44A8-B176-C10FD2DDEB6E}" type="slidenum">
              <a:rPr lang="nb-NO" smtClean="0"/>
              <a:pPr>
                <a:defRPr/>
              </a:pPr>
              <a:t>2</a:t>
            </a:fld>
            <a:endParaRPr lang="nb-NO"/>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p:cNvSpPr>
            <a:spLocks noGrp="1" noRot="1" noChangeAspect="1" noTextEdit="1"/>
          </p:cNvSpPr>
          <p:nvPr>
            <p:ph type="sldImg"/>
          </p:nvPr>
        </p:nvSpPr>
        <p:spPr bwMode="auto">
          <a:noFill/>
          <a:ln>
            <a:solidFill>
              <a:srgbClr val="000000"/>
            </a:solidFill>
            <a:miter lim="800000"/>
            <a:headEnd/>
            <a:tailEnd/>
          </a:ln>
        </p:spPr>
      </p:sp>
      <p:sp>
        <p:nvSpPr>
          <p:cNvPr id="19458"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nb-NO"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p:cNvSpPr>
            <a:spLocks noGrp="1" noRot="1" noChangeAspect="1" noTextEdit="1"/>
          </p:cNvSpPr>
          <p:nvPr>
            <p:ph type="sldImg"/>
          </p:nvPr>
        </p:nvSpPr>
        <p:spPr bwMode="auto">
          <a:noFill/>
          <a:ln>
            <a:solidFill>
              <a:srgbClr val="000000"/>
            </a:solidFill>
            <a:miter lim="800000"/>
            <a:headEnd/>
            <a:tailEnd/>
          </a:ln>
        </p:spPr>
      </p:sp>
      <p:sp>
        <p:nvSpPr>
          <p:cNvPr id="22530"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nb-NO" smtClean="0"/>
              <a:t>ISCED is a classification system on an abstract level designed to allow for comparable measurement of education related information.</a:t>
            </a:r>
          </a:p>
          <a:p>
            <a:pPr eaLnBrk="1" hangingPunct="1"/>
            <a:r>
              <a:rPr lang="nb-NO" smtClean="0"/>
              <a:t>Originally designed for use in large-scale statistical reporting, ISCED has increased in importance when it comes to cross-national collection of survey data.</a:t>
            </a:r>
          </a:p>
          <a:p>
            <a:pPr eaLnBrk="1" hangingPunct="1"/>
            <a:endParaRPr lang="nb-NO" smtClean="0"/>
          </a:p>
          <a:p>
            <a:pPr eaLnBrk="1" hangingPunct="1"/>
            <a:r>
              <a:rPr lang="nb-NO" smtClean="0"/>
              <a:t>Several larger official and non-official surveys like the EU-Labour Force Survey, EU-SILC, the European Social Survey as well as the European Values Study have implemented more or less detailed versions of ISCED (1997).</a:t>
            </a:r>
          </a:p>
          <a:p>
            <a:pPr eaLnBrk="1" hangingPunct="1"/>
            <a:endParaRPr lang="nb-NO" smtClean="0"/>
          </a:p>
          <a:p>
            <a:pPr eaLnBrk="1" hangingPunct="1"/>
            <a:r>
              <a:rPr lang="nb-NO" smtClean="0"/>
              <a:t>The unit of classification is educational programmes and their related qualifications. </a:t>
            </a:r>
          </a:p>
          <a:p>
            <a:pPr eaLnBrk="1" hangingPunct="1"/>
            <a:r>
              <a:rPr lang="nb-NO" smtClean="0"/>
              <a:t>As educational systems and their measurement may vary to a large extent both between countries, as well as over time, the purpose of ISCED is to capture the variance of the national educational programmes.</a:t>
            </a:r>
          </a:p>
          <a:p>
            <a:pPr eaLnBrk="1" hangingPunct="1"/>
            <a:endParaRPr lang="nb-NO" smtClean="0"/>
          </a:p>
          <a:p>
            <a:pPr eaLnBrk="1" hangingPunct="1"/>
            <a:endParaRPr lang="nb-NO" smtClean="0"/>
          </a:p>
          <a:p>
            <a:pPr eaLnBrk="1" hangingPunct="1"/>
            <a:endParaRPr lang="nb-NO"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Plassholder for lysbilde 1"/>
          <p:cNvSpPr>
            <a:spLocks noGrp="1" noRot="1" noChangeAspect="1"/>
          </p:cNvSpPr>
          <p:nvPr>
            <p:ph type="sldImg"/>
          </p:nvPr>
        </p:nvSpPr>
        <p:spPr bwMode="auto">
          <a:noFill/>
          <a:ln>
            <a:solidFill>
              <a:srgbClr val="000000"/>
            </a:solidFill>
            <a:miter lim="800000"/>
            <a:headEnd/>
            <a:tailEnd/>
          </a:ln>
        </p:spPr>
      </p:sp>
      <p:sp>
        <p:nvSpPr>
          <p:cNvPr id="24578" name="Plassholder for notat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nb-NO" dirty="0" smtClean="0"/>
              <a:t>ISCED 2011 classifies Levels and </a:t>
            </a:r>
            <a:r>
              <a:rPr lang="nb-NO" smtClean="0"/>
              <a:t>Fields of  education</a:t>
            </a:r>
            <a:r>
              <a:rPr lang="nb-NO" dirty="0" smtClean="0"/>
              <a:t>. In this presentation focus will be put on the classification of ISCED Levels which is in the heart of statistical reporting on education and an important variable in survey research.</a:t>
            </a:r>
          </a:p>
          <a:p>
            <a:pPr eaLnBrk="1" hangingPunct="1">
              <a:spcBef>
                <a:spcPct val="0"/>
              </a:spcBef>
            </a:pPr>
            <a:endParaRPr lang="nb-NO" dirty="0" smtClean="0"/>
          </a:p>
          <a:p>
            <a:pPr eaLnBrk="1" hangingPunct="1">
              <a:spcBef>
                <a:spcPct val="0"/>
              </a:spcBef>
            </a:pPr>
            <a:r>
              <a:rPr lang="nb-NO" dirty="0" smtClean="0"/>
              <a:t>ISCED 2011 Levels has two classification varianrts: </a:t>
            </a:r>
          </a:p>
          <a:p>
            <a:pPr eaLnBrk="1" hangingPunct="1">
              <a:spcBef>
                <a:spcPct val="0"/>
              </a:spcBef>
            </a:pPr>
            <a:r>
              <a:rPr lang="nb-NO" dirty="0" smtClean="0"/>
              <a:t>The coding of educational programmes (Annex 2 in the ISCED 2011 standard), and </a:t>
            </a:r>
          </a:p>
          <a:p>
            <a:pPr eaLnBrk="1" hangingPunct="1">
              <a:spcBef>
                <a:spcPct val="0"/>
              </a:spcBef>
            </a:pPr>
            <a:r>
              <a:rPr lang="nb-NO" dirty="0" smtClean="0"/>
              <a:t>The coding of educational attainmnet ((Annex 3 in the ISCED 2011 standard).</a:t>
            </a:r>
          </a:p>
        </p:txBody>
      </p:sp>
      <p:sp>
        <p:nvSpPr>
          <p:cNvPr id="19459" name="Plassholder for lysbildenumm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3AB15C78-2505-4729-A6A5-A8A6D7B37AC6}" type="slidenum">
              <a:rPr lang="nb-NO"/>
              <a:pPr fontAlgn="base">
                <a:spcBef>
                  <a:spcPct val="0"/>
                </a:spcBef>
                <a:spcAft>
                  <a:spcPct val="0"/>
                </a:spcAft>
                <a:defRPr/>
              </a:pPr>
              <a:t>6</a:t>
            </a:fld>
            <a:endParaRPr lang="nb-NO"/>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p:cNvSpPr>
            <a:spLocks noGrp="1" noRot="1" noChangeAspect="1" noTextEdit="1"/>
          </p:cNvSpPr>
          <p:nvPr>
            <p:ph type="sldImg"/>
          </p:nvPr>
        </p:nvSpPr>
        <p:spPr bwMode="auto">
          <a:noFill/>
          <a:ln>
            <a:solidFill>
              <a:srgbClr val="000000"/>
            </a:solidFill>
            <a:miter lim="800000"/>
            <a:headEnd/>
            <a:tailEnd/>
          </a:ln>
        </p:spPr>
      </p:sp>
      <p:sp>
        <p:nvSpPr>
          <p:cNvPr id="26626" name="Rectangle 3"/>
          <p:cNvSpPr>
            <a:spLocks noGrp="1"/>
          </p:cNvSpPr>
          <p:nvPr>
            <p:ph type="body" idx="1"/>
          </p:nvPr>
        </p:nvSpPr>
        <p:spPr bwMode="auto">
          <a:noFill/>
        </p:spPr>
        <p:txBody>
          <a:bodyPr wrap="square" numCol="1" anchor="t" anchorCtr="0" compatLnSpc="1">
            <a:prstTxWarp prst="textNoShape">
              <a:avLst/>
            </a:prstTxWarp>
          </a:bodyPr>
          <a:lstStyle/>
          <a:p>
            <a:pPr eaLnBrk="1" hangingPunct="1"/>
            <a:r>
              <a:rPr lang="nb-NO" smtClean="0"/>
              <a:t>This slide shows an extract of the ISCED 2011 coding of educational attainment (ISCED11A).</a:t>
            </a:r>
          </a:p>
          <a:p>
            <a:pPr eaLnBrk="1" hangingPunct="1"/>
            <a:endParaRPr lang="nb-NO" smtClean="0"/>
          </a:p>
          <a:p>
            <a:pPr eaLnBrk="1" hangingPunct="1"/>
            <a:r>
              <a:rPr lang="nb-NO" smtClean="0"/>
              <a:t>The first level (digit) defines the 9 ISCED levels</a:t>
            </a:r>
          </a:p>
          <a:p>
            <a:pPr eaLnBrk="1" hangingPunct="1"/>
            <a:r>
              <a:rPr lang="nb-NO" smtClean="0"/>
              <a:t>Main and subsidiary classification criteria distinguish national educational programmes between levels.</a:t>
            </a:r>
          </a:p>
          <a:p>
            <a:pPr eaLnBrk="1" hangingPunct="1"/>
            <a:endParaRPr lang="nb-NO" smtClean="0"/>
          </a:p>
          <a:p>
            <a:pPr eaLnBrk="1" hangingPunct="1"/>
            <a:r>
              <a:rPr lang="nb-NO" smtClean="0"/>
              <a:t>The second and the third level distinguish educational programmes within levels according to a set of </a:t>
            </a:r>
            <a:r>
              <a:rPr lang="nb-NO" i="1" smtClean="0"/>
              <a:t>cross-classification variables</a:t>
            </a:r>
            <a:r>
              <a:rPr lang="nb-NO" smtClean="0"/>
              <a:t>.</a:t>
            </a:r>
          </a:p>
          <a:p>
            <a:pPr eaLnBrk="1" hangingPunct="1"/>
            <a:r>
              <a:rPr lang="nb-NO" smtClean="0"/>
              <a:t>The second level represents the categories where programmes are distinguished according to programme </a:t>
            </a:r>
            <a:r>
              <a:rPr lang="nb-NO" i="1" smtClean="0"/>
              <a:t>orientetion </a:t>
            </a:r>
            <a:r>
              <a:rPr lang="nb-NO" smtClean="0"/>
              <a:t>(general and vocational) at ISCED 2011 levels 2 – 8.</a:t>
            </a:r>
          </a:p>
          <a:p>
            <a:pPr eaLnBrk="1" hangingPunct="1"/>
            <a:r>
              <a:rPr lang="nb-NO" smtClean="0"/>
              <a:t>The third level represents the sub-categories where programmes are further distinguished according to </a:t>
            </a:r>
            <a:r>
              <a:rPr lang="nb-NO" i="1" smtClean="0"/>
              <a:t>level completion and/or access to higher level programmes</a:t>
            </a:r>
            <a:r>
              <a:rPr lang="nb-NO" smtClean="0"/>
              <a:t> (ISCED 2011 level 2 – 5) </a:t>
            </a:r>
          </a:p>
          <a:p>
            <a:pPr eaLnBrk="1" hangingPunct="1"/>
            <a:r>
              <a:rPr lang="nb-NO" smtClean="0"/>
              <a:t>and </a:t>
            </a:r>
            <a:r>
              <a:rPr lang="nb-NO" i="1" smtClean="0"/>
              <a:t>programme duration in and position in the national degree structure</a:t>
            </a:r>
            <a:r>
              <a:rPr lang="nb-NO" smtClean="0"/>
              <a:t> (ISCED 2011 level 6 and 7).</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Rot="1" noChangeAspect="1" noTextEdit="1"/>
          </p:cNvSpPr>
          <p:nvPr>
            <p:ph type="sldImg"/>
          </p:nvPr>
        </p:nvSpPr>
        <p:spPr bwMode="auto">
          <a:noFill/>
          <a:ln>
            <a:solidFill>
              <a:srgbClr val="000000"/>
            </a:solidFill>
            <a:miter lim="800000"/>
            <a:headEnd/>
            <a:tailEnd/>
          </a:ln>
        </p:spPr>
      </p:sp>
      <p:sp>
        <p:nvSpPr>
          <p:cNvPr id="52227" name="Rectangle 3"/>
          <p:cNvSpPr>
            <a:spLocks noGrp="1"/>
          </p:cNvSpPr>
          <p:nvPr>
            <p:ph type="body" idx="1"/>
          </p:nvPr>
        </p:nvSpPr>
        <p:spPr bwMode="auto">
          <a:noFill/>
        </p:spPr>
        <p:txBody>
          <a:bodyPr wrap="square" numCol="1" anchor="t" anchorCtr="0" compatLnSpc="1">
            <a:prstTxWarp prst="textNoShape">
              <a:avLst/>
            </a:prstTxWarp>
          </a:bodyPr>
          <a:lstStyle/>
          <a:p>
            <a:pPr marL="247650" indent="-247650"/>
            <a:r>
              <a:rPr lang="nb-NO" smtClean="0"/>
              <a:t>The ISCED 2011 does not consist in the classification alone.</a:t>
            </a:r>
          </a:p>
          <a:p>
            <a:pPr marL="247650" indent="-247650"/>
            <a:endParaRPr lang="nb-NO" smtClean="0"/>
          </a:p>
          <a:p>
            <a:pPr marL="247650" indent="-247650"/>
            <a:r>
              <a:rPr lang="nb-NO" smtClean="0"/>
              <a:t>Basically, the ISCED 2011 standard rest on three components (ISCED standard p. 3):</a:t>
            </a:r>
          </a:p>
          <a:p>
            <a:pPr marL="247650" indent="-247650">
              <a:buFontTx/>
              <a:buAutoNum type="romanLcParenR"/>
            </a:pPr>
            <a:r>
              <a:rPr lang="nb-NO" smtClean="0"/>
              <a:t>The classification</a:t>
            </a:r>
          </a:p>
          <a:p>
            <a:pPr marL="247650" indent="-247650">
              <a:buFontTx/>
              <a:buAutoNum type="romanLcParenR"/>
            </a:pPr>
            <a:r>
              <a:rPr lang="nb-NO" smtClean="0"/>
              <a:t> Concepts and definitions</a:t>
            </a:r>
          </a:p>
          <a:p>
            <a:pPr marL="247650" indent="-247650">
              <a:buFontTx/>
              <a:buAutoNum type="romanLcParenR"/>
            </a:pPr>
            <a:r>
              <a:rPr lang="nb-NO" smtClean="0"/>
              <a:t> The mappings of educational programmes into ISCED, which will document the crosswalks between national educational programmes and 2011 codes. Mappings for ISCED 2011 are not yet available.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Rot="1" noChangeAspect="1" noTextEdit="1"/>
          </p:cNvSpPr>
          <p:nvPr>
            <p:ph type="sldImg"/>
          </p:nvPr>
        </p:nvSpPr>
        <p:spPr bwMode="auto">
          <a:noFill/>
          <a:ln>
            <a:solidFill>
              <a:srgbClr val="000000"/>
            </a:solidFill>
            <a:miter lim="800000"/>
            <a:headEnd/>
            <a:tailEnd/>
          </a:ln>
        </p:spPr>
      </p:sp>
      <p:sp>
        <p:nvSpPr>
          <p:cNvPr id="53251" name="Rectangle 3"/>
          <p:cNvSpPr>
            <a:spLocks noGrp="1"/>
          </p:cNvSpPr>
          <p:nvPr>
            <p:ph type="body" idx="1"/>
          </p:nvPr>
        </p:nvSpPr>
        <p:spPr bwMode="auto">
          <a:noFill/>
        </p:spPr>
        <p:txBody>
          <a:bodyPr wrap="square" numCol="1" anchor="t" anchorCtr="0" compatLnSpc="1">
            <a:prstTxWarp prst="textNoShape">
              <a:avLst/>
            </a:prstTxWarp>
          </a:bodyPr>
          <a:lstStyle/>
          <a:p>
            <a:r>
              <a:rPr lang="nb-NO" smtClean="0"/>
              <a:t>Operational concepts and definitions make up an important part of the ISCED 2011 standard.</a:t>
            </a:r>
          </a:p>
          <a:p>
            <a:endParaRPr lang="nb-NO" smtClean="0"/>
          </a:p>
          <a:p>
            <a:r>
              <a:rPr lang="nb-NO" smtClean="0"/>
              <a:t>This example shows the classification criteria used to distinguish educational programmes between ISCED levels for ISCED 2011 level 5.</a:t>
            </a:r>
          </a:p>
          <a:p>
            <a:r>
              <a:rPr lang="nb-NO" smtClean="0"/>
              <a:t>The complementary dimensions shown refers to cross-classification variables used to distinguish programmes within ISCED levels at level 5.</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Plassholder for lysbilde 1"/>
          <p:cNvSpPr>
            <a:spLocks noGrp="1" noRot="1" noChangeAspect="1"/>
          </p:cNvSpPr>
          <p:nvPr>
            <p:ph type="sldImg"/>
          </p:nvPr>
        </p:nvSpPr>
        <p:spPr bwMode="auto">
          <a:noFill/>
          <a:ln>
            <a:solidFill>
              <a:srgbClr val="000000"/>
            </a:solidFill>
            <a:miter lim="800000"/>
            <a:headEnd/>
            <a:tailEnd/>
          </a:ln>
        </p:spPr>
      </p:sp>
      <p:sp>
        <p:nvSpPr>
          <p:cNvPr id="30722" name="Plassholder for notat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nb-NO" dirty="0" smtClean="0"/>
              <a:t>The ISCED mappings of national educational programmes into ISCED are a part of the ISCED 2011 standard. However, mappings for the ISCED 2011 standard are not yet constructed.</a:t>
            </a:r>
          </a:p>
          <a:p>
            <a:pPr eaLnBrk="1" hangingPunct="1">
              <a:spcBef>
                <a:spcPct val="0"/>
              </a:spcBef>
            </a:pPr>
            <a:endParaRPr lang="nb-NO" dirty="0" smtClean="0"/>
          </a:p>
          <a:p>
            <a:pPr eaLnBrk="1" hangingPunct="1">
              <a:spcBef>
                <a:spcPct val="0"/>
              </a:spcBef>
            </a:pPr>
            <a:r>
              <a:rPr lang="nb-NO" dirty="0" smtClean="0"/>
              <a:t>The existing ISCED97 based mappings document the coding of national educational programmes into ISCED97. Since educational systems and programmes undergo changes, the mappings are updated regularly in the UOE data collection. They also contain information about the national programmes in relation to a set of cross-classification variables that are used to distinguish between programmes </a:t>
            </a:r>
            <a:r>
              <a:rPr lang="nb-NO" i="1" dirty="0" smtClean="0"/>
              <a:t>between </a:t>
            </a:r>
            <a:r>
              <a:rPr lang="nb-NO" dirty="0" smtClean="0"/>
              <a:t>and</a:t>
            </a:r>
            <a:r>
              <a:rPr lang="nb-NO" i="1" dirty="0" smtClean="0"/>
              <a:t> within </a:t>
            </a:r>
            <a:r>
              <a:rPr lang="nb-NO" dirty="0" smtClean="0"/>
              <a:t>levels of education.</a:t>
            </a:r>
          </a:p>
          <a:p>
            <a:pPr eaLnBrk="1" hangingPunct="1">
              <a:spcBef>
                <a:spcPct val="0"/>
              </a:spcBef>
            </a:pPr>
            <a:endParaRPr lang="nb-NO" dirty="0" smtClean="0"/>
          </a:p>
          <a:p>
            <a:pPr eaLnBrk="1" hangingPunct="1">
              <a:spcBef>
                <a:spcPct val="0"/>
              </a:spcBef>
            </a:pPr>
            <a:r>
              <a:rPr lang="nb-NO" dirty="0" smtClean="0"/>
              <a:t>Even if the information in the ISCED97 mappings more represent qualitative descriptions, it makes sense to represent the mapping of educational programmes into ISCED by a 4-digit alphanumeric code, as displayed in the example above.</a:t>
            </a:r>
          </a:p>
          <a:p>
            <a:pPr eaLnBrk="1" hangingPunct="1">
              <a:spcBef>
                <a:spcPct val="0"/>
              </a:spcBef>
            </a:pPr>
            <a:endParaRPr lang="nb-NO" dirty="0" smtClean="0"/>
          </a:p>
          <a:p>
            <a:pPr eaLnBrk="1" hangingPunct="1">
              <a:spcBef>
                <a:spcPct val="0"/>
              </a:spcBef>
            </a:pPr>
            <a:r>
              <a:rPr lang="nb-NO" dirty="0" smtClean="0"/>
              <a:t>The three first digits are represented by single characters, while the fourth digit is represented by two characters.</a:t>
            </a:r>
          </a:p>
          <a:p>
            <a:pPr eaLnBrk="1" hangingPunct="1">
              <a:spcBef>
                <a:spcPct val="0"/>
              </a:spcBef>
            </a:pPr>
            <a:r>
              <a:rPr lang="nb-NO" dirty="0" smtClean="0"/>
              <a:t>Sometimes the ISCED97 mappings of national programmes into ISCED are not detailed enough to distinguish programmes at a four digit level.</a:t>
            </a:r>
          </a:p>
          <a:p>
            <a:pPr eaLnBrk="1" hangingPunct="1">
              <a:spcBef>
                <a:spcPct val="0"/>
              </a:spcBef>
            </a:pPr>
            <a:endParaRPr lang="nb-NO" dirty="0" smtClean="0"/>
          </a:p>
          <a:p>
            <a:pPr eaLnBrk="1" hangingPunct="1">
              <a:spcBef>
                <a:spcPct val="0"/>
              </a:spcBef>
            </a:pPr>
            <a:r>
              <a:rPr lang="nb-NO" dirty="0" smtClean="0"/>
              <a:t>For ISCED97, level 5 refers to first stage of tertiary education (e.g. University education including Master’s degrees). This is a much broader category than category 5 in ISCED 2011.</a:t>
            </a:r>
          </a:p>
          <a:p>
            <a:pPr eaLnBrk="1" hangingPunct="1">
              <a:spcBef>
                <a:spcPct val="0"/>
              </a:spcBef>
            </a:pPr>
            <a:r>
              <a:rPr lang="nb-NO" dirty="0" smtClean="0"/>
              <a:t>The A and Bs stands for type of education: B = vocational and A = general at ISCED97 level 5</a:t>
            </a:r>
            <a:r>
              <a:rPr lang="nb-NO" smtClean="0"/>
              <a:t>. Value  i</a:t>
            </a:r>
            <a:r>
              <a:rPr lang="nb-NO" dirty="0" smtClean="0"/>
              <a:t>, 1 or 2 at the third digit stands for intermadiate, 1st and 2nd degree in the national degree structure, and the cumulative duration of the programme since the beginning of level 5, short, medium etc.</a:t>
            </a:r>
          </a:p>
          <a:p>
            <a:pPr eaLnBrk="1" hangingPunct="1">
              <a:spcBef>
                <a:spcPct val="0"/>
              </a:spcBef>
            </a:pPr>
            <a:endParaRPr lang="nb-NO" dirty="0" smtClean="0"/>
          </a:p>
          <a:p>
            <a:pPr eaLnBrk="1" hangingPunct="1">
              <a:spcBef>
                <a:spcPct val="0"/>
              </a:spcBef>
            </a:pPr>
            <a:r>
              <a:rPr lang="nb-NO" dirty="0" smtClean="0"/>
              <a:t>The ISCED coding used in the national UOE mappings follow the specification of the UOE data collection manuals, maintained by the OECD. The meaning of the codes deviates sometimes intendedly from the ISCED97 standard.</a:t>
            </a:r>
          </a:p>
          <a:p>
            <a:pPr eaLnBrk="1" hangingPunct="1">
              <a:spcBef>
                <a:spcPct val="0"/>
              </a:spcBef>
            </a:pPr>
            <a:r>
              <a:rPr lang="nb-NO" smtClean="0"/>
              <a:t>  </a:t>
            </a:r>
            <a:endParaRPr lang="nb-NO" dirty="0" smtClean="0"/>
          </a:p>
          <a:p>
            <a:pPr eaLnBrk="1" hangingPunct="1">
              <a:spcBef>
                <a:spcPct val="0"/>
              </a:spcBef>
            </a:pPr>
            <a:r>
              <a:rPr lang="nb-NO" dirty="0" smtClean="0">
                <a:solidFill>
                  <a:srgbClr val="000000"/>
                </a:solidFill>
                <a:latin typeface="Arial" charset="0"/>
              </a:rPr>
              <a:t>To build alternative variables based on ISCED, more </a:t>
            </a:r>
            <a:r>
              <a:rPr lang="nb-NO" dirty="0" smtClean="0"/>
              <a:t>cross-classification variables found in the mappings can be taken into account in the generation.</a:t>
            </a:r>
            <a:endParaRPr lang="nb-NO" dirty="0" smtClean="0">
              <a:solidFill>
                <a:srgbClr val="000000"/>
              </a:solidFill>
              <a:latin typeface="Arial" charset="0"/>
            </a:endParaRPr>
          </a:p>
          <a:p>
            <a:pPr eaLnBrk="1" hangingPunct="1">
              <a:spcBef>
                <a:spcPct val="0"/>
              </a:spcBef>
            </a:pPr>
            <a:endParaRPr lang="de-DE" dirty="0" smtClean="0">
              <a:solidFill>
                <a:srgbClr val="000000"/>
              </a:solidFill>
            </a:endParaRPr>
          </a:p>
          <a:p>
            <a:pPr eaLnBrk="1" hangingPunct="1">
              <a:spcBef>
                <a:spcPct val="0"/>
              </a:spcBef>
            </a:pPr>
            <a:endParaRPr lang="nb-NO" dirty="0" smtClean="0">
              <a:solidFill>
                <a:srgbClr val="000000"/>
              </a:solidFill>
            </a:endParaRPr>
          </a:p>
          <a:p>
            <a:pPr eaLnBrk="1" hangingPunct="1">
              <a:spcBef>
                <a:spcPct val="0"/>
              </a:spcBef>
            </a:pPr>
            <a:endParaRPr lang="nb-NO" dirty="0" smtClean="0"/>
          </a:p>
          <a:p>
            <a:pPr eaLnBrk="1" hangingPunct="1">
              <a:spcBef>
                <a:spcPct val="0"/>
              </a:spcBef>
            </a:pPr>
            <a:endParaRPr lang="nb-NO" dirty="0" smtClean="0"/>
          </a:p>
        </p:txBody>
      </p:sp>
      <p:sp>
        <p:nvSpPr>
          <p:cNvPr id="26627" name="Plassholder for lysbildenumm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CC7B8E4E-F42F-4F3D-9046-39C8084B26BF}" type="slidenum">
              <a:rPr lang="nb-NO"/>
              <a:pPr fontAlgn="base">
                <a:spcBef>
                  <a:spcPct val="0"/>
                </a:spcBef>
                <a:spcAft>
                  <a:spcPct val="0"/>
                </a:spcAft>
                <a:defRPr/>
              </a:pPr>
              <a:t>10</a:t>
            </a:fld>
            <a:endParaRPr lang="nb-NO"/>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Plassholder for lysbilde 1"/>
          <p:cNvSpPr>
            <a:spLocks noGrp="1" noRot="1" noChangeAspect="1"/>
          </p:cNvSpPr>
          <p:nvPr>
            <p:ph type="sldImg"/>
          </p:nvPr>
        </p:nvSpPr>
        <p:spPr bwMode="auto">
          <a:noFill/>
          <a:ln>
            <a:solidFill>
              <a:srgbClr val="000000"/>
            </a:solidFill>
            <a:miter lim="800000"/>
            <a:headEnd/>
            <a:tailEnd/>
          </a:ln>
        </p:spPr>
      </p:sp>
      <p:sp>
        <p:nvSpPr>
          <p:cNvPr id="33794" name="Plassholder for notat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nb-NO" smtClean="0"/>
              <a:t>For ISCED97 operational manuals are produced by UNESCO and the OECD. Manuals used in the UOE data collections are maintained by the OECD, and contains mappings of national educational programmes into ISCED since 1999.</a:t>
            </a:r>
          </a:p>
          <a:p>
            <a:pPr eaLnBrk="1" hangingPunct="1">
              <a:spcBef>
                <a:spcPct val="0"/>
              </a:spcBef>
            </a:pPr>
            <a:r>
              <a:rPr lang="nb-NO" smtClean="0"/>
              <a:t>In ISCED 2011 mappings are part of the ISCED standard, but not the manuals.</a:t>
            </a:r>
          </a:p>
          <a:p>
            <a:pPr eaLnBrk="1" hangingPunct="1">
              <a:spcBef>
                <a:spcPct val="0"/>
              </a:spcBef>
            </a:pPr>
            <a:endParaRPr lang="nb-NO" smtClean="0"/>
          </a:p>
          <a:p>
            <a:pPr eaLnBrk="1" hangingPunct="1">
              <a:spcBef>
                <a:spcPct val="0"/>
              </a:spcBef>
            </a:pPr>
            <a:r>
              <a:rPr lang="nb-NO" smtClean="0"/>
              <a:t>In ISCED97 a numeric coding framework is not available, but an alphanumeric coding frame can be produced on the basis of the standard.</a:t>
            </a:r>
          </a:p>
          <a:p>
            <a:pPr eaLnBrk="1" hangingPunct="1">
              <a:spcBef>
                <a:spcPct val="0"/>
              </a:spcBef>
            </a:pPr>
            <a:r>
              <a:rPr lang="nb-NO" smtClean="0"/>
              <a:t>As the structure and content of the ISCED97 standard is complicated, an issue is related to structuring of the concept and definition of the standard. </a:t>
            </a:r>
          </a:p>
          <a:p>
            <a:pPr eaLnBrk="1" hangingPunct="1">
              <a:spcBef>
                <a:spcPct val="0"/>
              </a:spcBef>
            </a:pPr>
            <a:endParaRPr lang="nb-NO" smtClean="0"/>
          </a:p>
          <a:p>
            <a:pPr eaLnBrk="1" hangingPunct="1">
              <a:spcBef>
                <a:spcPct val="0"/>
              </a:spcBef>
            </a:pPr>
            <a:endParaRPr lang="nb-NO" smtClean="0"/>
          </a:p>
        </p:txBody>
      </p:sp>
      <p:sp>
        <p:nvSpPr>
          <p:cNvPr id="28675" name="Plassholder for lysbildenumm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0DA8BFDE-FA31-4759-810F-4D8346944665}" type="slidenum">
              <a:rPr lang="nb-NO"/>
              <a:pPr fontAlgn="base">
                <a:spcBef>
                  <a:spcPct val="0"/>
                </a:spcBef>
                <a:spcAft>
                  <a:spcPct val="0"/>
                </a:spcAft>
                <a:defRPr/>
              </a:pPr>
              <a:t>11</a:t>
            </a:fld>
            <a:endParaRPr lang="nb-NO"/>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Plassholder for lysbilde 1"/>
          <p:cNvSpPr>
            <a:spLocks noGrp="1" noRot="1" noChangeAspect="1" noTextEdit="1"/>
          </p:cNvSpPr>
          <p:nvPr>
            <p:ph type="sldImg"/>
          </p:nvPr>
        </p:nvSpPr>
        <p:spPr bwMode="auto">
          <a:noFill/>
          <a:ln>
            <a:solidFill>
              <a:srgbClr val="000000"/>
            </a:solidFill>
            <a:miter lim="800000"/>
            <a:headEnd/>
            <a:tailEnd/>
          </a:ln>
        </p:spPr>
      </p:sp>
      <p:sp>
        <p:nvSpPr>
          <p:cNvPr id="55299" name="Plassholder for notat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nb-NO" smtClean="0"/>
              <a:t>Dr. Silke Schneider acted as an expert consultant for the ESS in the construction and implementation of the new variables EDULVLB and EISCED (ES-ISCED European Survey version of ISCED).</a:t>
            </a:r>
          </a:p>
        </p:txBody>
      </p:sp>
      <p:sp>
        <p:nvSpPr>
          <p:cNvPr id="32771" name="Plassholder for lysbildenummer 3"/>
          <p:cNvSpPr txBox="1">
            <a:spLocks noGrp="1"/>
          </p:cNvSpPr>
          <p:nvPr/>
        </p:nvSpPr>
        <p:spPr bwMode="auto">
          <a:xfrm>
            <a:off x="3884613" y="8685213"/>
            <a:ext cx="2971800" cy="457200"/>
          </a:xfrm>
          <a:prstGeom prst="rect">
            <a:avLst/>
          </a:prstGeom>
          <a:noFill/>
          <a:ln>
            <a:miter lim="800000"/>
            <a:headEnd/>
            <a:tailEnd/>
          </a:ln>
        </p:spPr>
        <p:txBody>
          <a:bodyPr anchor="b"/>
          <a:lstStyle/>
          <a:p>
            <a:pPr algn="r">
              <a:defRPr/>
            </a:pPr>
            <a:fld id="{A761103C-797C-4D02-8A56-3A6AD7118F62}" type="slidenum">
              <a:rPr lang="nb-NO" sz="1200">
                <a:latin typeface="+mn-lt"/>
              </a:rPr>
              <a:pPr algn="r">
                <a:defRPr/>
              </a:pPr>
              <a:t>12</a:t>
            </a:fld>
            <a:endParaRPr lang="nb-NO" sz="1200">
              <a:latin typeface="+mn-lt"/>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Plassholder for lysbilde 1"/>
          <p:cNvSpPr>
            <a:spLocks noGrp="1" noRot="1" noChangeAspect="1"/>
          </p:cNvSpPr>
          <p:nvPr>
            <p:ph type="sldImg"/>
          </p:nvPr>
        </p:nvSpPr>
        <p:spPr bwMode="auto">
          <a:noFill/>
          <a:ln>
            <a:solidFill>
              <a:srgbClr val="000000"/>
            </a:solidFill>
            <a:miter lim="800000"/>
            <a:headEnd/>
            <a:tailEnd/>
          </a:ln>
        </p:spPr>
      </p:sp>
      <p:sp>
        <p:nvSpPr>
          <p:cNvPr id="35842" name="Plassholder for notat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r>
              <a:rPr lang="nb-NO" dirty="0" smtClean="0"/>
              <a:t>This slide shows the relationship between a set of ISCED based components applying to the latest revision of ISCED, ISCED 2011, ISCED 1997 and the ESS.</a:t>
            </a:r>
          </a:p>
          <a:p>
            <a:pPr eaLnBrk="1" hangingPunct="1">
              <a:spcBef>
                <a:spcPct val="0"/>
              </a:spcBef>
            </a:pPr>
            <a:endParaRPr lang="nb-NO" dirty="0" smtClean="0"/>
          </a:p>
          <a:p>
            <a:pPr eaLnBrk="1" hangingPunct="1">
              <a:spcBef>
                <a:spcPct val="0"/>
              </a:spcBef>
            </a:pPr>
            <a:r>
              <a:rPr lang="nb-NO" dirty="0" smtClean="0"/>
              <a:t>Boxes:</a:t>
            </a:r>
          </a:p>
          <a:p>
            <a:pPr eaLnBrk="1" hangingPunct="1">
              <a:spcBef>
                <a:spcPct val="0"/>
              </a:spcBef>
            </a:pPr>
            <a:r>
              <a:rPr lang="nb-NO" dirty="0" smtClean="0"/>
              <a:t>Boxes represent some important ISCED based components.</a:t>
            </a:r>
          </a:p>
          <a:p>
            <a:pPr eaLnBrk="1" hangingPunct="1">
              <a:spcBef>
                <a:spcPct val="0"/>
              </a:spcBef>
            </a:pPr>
            <a:r>
              <a:rPr lang="nb-NO" dirty="0" smtClean="0"/>
              <a:t>Dark blue boxes represent cross-national variables, or classifications realised as variables in DDI.</a:t>
            </a:r>
          </a:p>
          <a:p>
            <a:pPr eaLnBrk="1" hangingPunct="1">
              <a:spcBef>
                <a:spcPct val="0"/>
              </a:spcBef>
            </a:pPr>
            <a:r>
              <a:rPr lang="nb-NO" dirty="0" smtClean="0"/>
              <a:t>Grey boxes represent national variables, or content from official national ISCED mappings realised as variables.</a:t>
            </a:r>
          </a:p>
          <a:p>
            <a:pPr eaLnBrk="1" hangingPunct="1">
              <a:spcBef>
                <a:spcPct val="0"/>
              </a:spcBef>
            </a:pPr>
            <a:r>
              <a:rPr lang="nb-NO" dirty="0" smtClean="0"/>
              <a:t>Green boxes represent questions.</a:t>
            </a:r>
          </a:p>
          <a:p>
            <a:pPr eaLnBrk="1" hangingPunct="1">
              <a:spcBef>
                <a:spcPct val="0"/>
              </a:spcBef>
            </a:pPr>
            <a:endParaRPr lang="nb-NO" dirty="0" smtClean="0"/>
          </a:p>
          <a:p>
            <a:pPr eaLnBrk="1" hangingPunct="1">
              <a:spcBef>
                <a:spcPct val="0"/>
              </a:spcBef>
            </a:pPr>
            <a:r>
              <a:rPr lang="nb-NO" dirty="0" smtClean="0"/>
              <a:t>Arrows:</a:t>
            </a:r>
          </a:p>
          <a:p>
            <a:pPr eaLnBrk="1" hangingPunct="1">
              <a:spcBef>
                <a:spcPct val="0"/>
              </a:spcBef>
            </a:pPr>
            <a:r>
              <a:rPr lang="nb-NO" dirty="0" smtClean="0"/>
              <a:t>Green and thick arrows represent relationships considered to be straightforward and easy to establish.</a:t>
            </a:r>
          </a:p>
          <a:p>
            <a:pPr eaLnBrk="1" hangingPunct="1">
              <a:spcBef>
                <a:spcPct val="0"/>
              </a:spcBef>
            </a:pPr>
            <a:r>
              <a:rPr lang="nb-NO" dirty="0" smtClean="0"/>
              <a:t>Blue and thin arrows represent relationships that are possible, but where additions are needed.</a:t>
            </a:r>
          </a:p>
          <a:p>
            <a:pPr eaLnBrk="1" hangingPunct="1">
              <a:spcBef>
                <a:spcPct val="0"/>
              </a:spcBef>
            </a:pPr>
            <a:endParaRPr lang="nb-NO" dirty="0" smtClean="0"/>
          </a:p>
          <a:p>
            <a:pPr eaLnBrk="1" hangingPunct="1">
              <a:spcBef>
                <a:spcPct val="0"/>
              </a:spcBef>
            </a:pPr>
            <a:r>
              <a:rPr lang="nb-NO" dirty="0" smtClean="0"/>
              <a:t>Circles:</a:t>
            </a:r>
          </a:p>
          <a:p>
            <a:pPr eaLnBrk="1" hangingPunct="1">
              <a:spcBef>
                <a:spcPct val="0"/>
              </a:spcBef>
            </a:pPr>
            <a:r>
              <a:rPr lang="nb-NO" smtClean="0"/>
              <a:t>Big  unfilled </a:t>
            </a:r>
            <a:r>
              <a:rPr lang="nb-NO" dirty="0" smtClean="0"/>
              <a:t>ellipse covers ISCED 2011 components.</a:t>
            </a:r>
          </a:p>
          <a:p>
            <a:pPr eaLnBrk="1" hangingPunct="1">
              <a:spcBef>
                <a:spcPct val="0"/>
              </a:spcBef>
            </a:pPr>
            <a:r>
              <a:rPr lang="nb-NO" dirty="0" smtClean="0"/>
              <a:t>Small unfilled ellipse covers ISCED 1997 components.</a:t>
            </a:r>
          </a:p>
          <a:p>
            <a:pPr eaLnBrk="1" hangingPunct="1">
              <a:spcBef>
                <a:spcPct val="0"/>
              </a:spcBef>
            </a:pPr>
            <a:r>
              <a:rPr lang="nb-NO" dirty="0" smtClean="0"/>
              <a:t>Light blue ellipse covers ESS components and their relationship.</a:t>
            </a:r>
          </a:p>
          <a:p>
            <a:pPr eaLnBrk="1" hangingPunct="1">
              <a:spcBef>
                <a:spcPct val="0"/>
              </a:spcBef>
            </a:pPr>
            <a:r>
              <a:rPr lang="nb-NO" dirty="0" smtClean="0"/>
              <a:t>Questions, national variables and cross-national variables EDULVLB and EISCED are based on the developments of ISCED 2011 till May 2010 and new for round 5. </a:t>
            </a:r>
          </a:p>
          <a:p>
            <a:pPr eaLnBrk="1" hangingPunct="1">
              <a:spcBef>
                <a:spcPct val="0"/>
              </a:spcBef>
            </a:pPr>
            <a:r>
              <a:rPr lang="nb-NO" dirty="0" smtClean="0"/>
              <a:t>EDULVLA was used in earlier rounds and is based on ISCED97. EDULVLA represents a link between ESS data from round 5 and data from earlier rounds of the ESS.</a:t>
            </a:r>
          </a:p>
          <a:p>
            <a:pPr eaLnBrk="1" hangingPunct="1">
              <a:spcBef>
                <a:spcPct val="0"/>
              </a:spcBef>
            </a:pPr>
            <a:endParaRPr lang="nb-NO" dirty="0" smtClean="0"/>
          </a:p>
          <a:p>
            <a:pPr eaLnBrk="1" hangingPunct="1">
              <a:spcBef>
                <a:spcPct val="0"/>
              </a:spcBef>
            </a:pPr>
            <a:endParaRPr lang="nb-NO" dirty="0" smtClean="0"/>
          </a:p>
          <a:p>
            <a:pPr eaLnBrk="1" hangingPunct="1">
              <a:spcBef>
                <a:spcPct val="0"/>
              </a:spcBef>
            </a:pPr>
            <a:endParaRPr lang="nb-NO" dirty="0" smtClean="0"/>
          </a:p>
          <a:p>
            <a:pPr eaLnBrk="1" hangingPunct="1">
              <a:spcBef>
                <a:spcPct val="0"/>
              </a:spcBef>
            </a:pPr>
            <a:endParaRPr lang="nb-NO" dirty="0" smtClean="0"/>
          </a:p>
          <a:p>
            <a:pPr eaLnBrk="1" hangingPunct="1">
              <a:spcBef>
                <a:spcPct val="0"/>
              </a:spcBef>
            </a:pPr>
            <a:endParaRPr lang="nb-NO" dirty="0" smtClean="0"/>
          </a:p>
          <a:p>
            <a:pPr eaLnBrk="1" hangingPunct="1">
              <a:spcBef>
                <a:spcPct val="0"/>
              </a:spcBef>
            </a:pPr>
            <a:endParaRPr lang="nb-NO" dirty="0" smtClean="0"/>
          </a:p>
        </p:txBody>
      </p:sp>
      <p:sp>
        <p:nvSpPr>
          <p:cNvPr id="30723" name="Plassholder for lysbildenumm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B8B5117A-779D-49DE-A93F-82B1905F8144}" type="slidenum">
              <a:rPr lang="nb-NO"/>
              <a:pPr fontAlgn="base">
                <a:spcBef>
                  <a:spcPct val="0"/>
                </a:spcBef>
                <a:spcAft>
                  <a:spcPct val="0"/>
                </a:spcAft>
                <a:defRPr/>
              </a:pPr>
              <a:t>13</a:t>
            </a:fld>
            <a:endParaRPr lang="nb-NO"/>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Plassholder for lysbilde 1"/>
          <p:cNvSpPr>
            <a:spLocks noGrp="1" noRot="1" noChangeAspect="1"/>
          </p:cNvSpPr>
          <p:nvPr>
            <p:ph type="sldImg"/>
          </p:nvPr>
        </p:nvSpPr>
        <p:spPr bwMode="auto">
          <a:noFill/>
          <a:ln>
            <a:solidFill>
              <a:srgbClr val="000000"/>
            </a:solidFill>
            <a:miter lim="800000"/>
            <a:headEnd/>
            <a:tailEnd/>
          </a:ln>
        </p:spPr>
      </p:sp>
      <p:sp>
        <p:nvSpPr>
          <p:cNvPr id="39938" name="Plassholder for notater 2"/>
          <p:cNvSpPr>
            <a:spLocks noGrp="1"/>
          </p:cNvSpPr>
          <p:nvPr>
            <p:ph type="body" idx="1"/>
          </p:nvPr>
        </p:nvSpPr>
        <p:spPr bwMode="auto">
          <a:noFill/>
        </p:spPr>
        <p:txBody>
          <a:bodyPr wrap="square" numCol="1" anchor="t" anchorCtr="0" compatLnSpc="1">
            <a:prstTxWarp prst="textNoShape">
              <a:avLst/>
            </a:prstTxWarp>
          </a:bodyPr>
          <a:lstStyle/>
          <a:p>
            <a:pPr eaLnBrk="1" hangingPunct="1"/>
            <a:endParaRPr lang="nb-NO" smtClean="0"/>
          </a:p>
        </p:txBody>
      </p:sp>
      <p:sp>
        <p:nvSpPr>
          <p:cNvPr id="4" name="Plassholder for lysbildenummer 3"/>
          <p:cNvSpPr>
            <a:spLocks noGrp="1"/>
          </p:cNvSpPr>
          <p:nvPr>
            <p:ph type="sldNum" sz="quarter" idx="5"/>
          </p:nvPr>
        </p:nvSpPr>
        <p:spPr/>
        <p:txBody>
          <a:bodyPr/>
          <a:lstStyle/>
          <a:p>
            <a:pPr>
              <a:defRPr/>
            </a:pPr>
            <a:fld id="{82A7415A-28D8-424F-8821-51DD49271A08}" type="slidenum">
              <a:rPr lang="nb-NO" smtClean="0"/>
              <a:pPr>
                <a:defRPr/>
              </a:pPr>
              <a:t>14</a:t>
            </a:fld>
            <a:endParaRPr lang="nb-NO"/>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Plassholder for lysbilde 1"/>
          <p:cNvSpPr>
            <a:spLocks noGrp="1" noRot="1" noChangeAspect="1"/>
          </p:cNvSpPr>
          <p:nvPr>
            <p:ph type="sldImg"/>
          </p:nvPr>
        </p:nvSpPr>
        <p:spPr bwMode="auto">
          <a:noFill/>
          <a:ln>
            <a:solidFill>
              <a:srgbClr val="000000"/>
            </a:solidFill>
            <a:miter lim="800000"/>
            <a:headEnd/>
            <a:tailEnd/>
          </a:ln>
        </p:spPr>
      </p:sp>
      <p:sp>
        <p:nvSpPr>
          <p:cNvPr id="44034" name="Plassholder for notater 2"/>
          <p:cNvSpPr>
            <a:spLocks noGrp="1"/>
          </p:cNvSpPr>
          <p:nvPr>
            <p:ph type="body" idx="1"/>
          </p:nvPr>
        </p:nvSpPr>
        <p:spPr bwMode="auto">
          <a:noFill/>
        </p:spPr>
        <p:txBody>
          <a:bodyPr wrap="square" numCol="1" anchor="t" anchorCtr="0" compatLnSpc="1">
            <a:prstTxWarp prst="textNoShape">
              <a:avLst/>
            </a:prstTxWarp>
          </a:bodyPr>
          <a:lstStyle/>
          <a:p>
            <a:r>
              <a:rPr lang="nb-NO" smtClean="0"/>
              <a:t>Example of possible output from DDI Life-cycle category map. </a:t>
            </a:r>
          </a:p>
          <a:p>
            <a:r>
              <a:rPr lang="nb-NO" smtClean="0"/>
              <a:t>The information in this table displays codes of the ISCED 2011 ISCED11P (Programmes) and ISCED11A (ATTAINMENT) coding frameworks , as well as the correspondance between the category descriptions of ISCED11P and ISCED11A. </a:t>
            </a:r>
          </a:p>
          <a:p>
            <a:r>
              <a:rPr lang="nb-NO" smtClean="0"/>
              <a:t>The descriptions rather than the categories have been chosen for the comparison, as the meaning carrier of the category.</a:t>
            </a:r>
          </a:p>
          <a:p>
            <a:endParaRPr lang="nb-NO" smtClean="0"/>
          </a:p>
          <a:p>
            <a:r>
              <a:rPr lang="nb-NO" smtClean="0"/>
              <a:t>The descriptions are compiled from Table 1 – 3 at p. 17 and 18 in the ISCED 2011 manual.</a:t>
            </a:r>
          </a:p>
          <a:p>
            <a:endParaRPr lang="nb-NO" smtClean="0"/>
          </a:p>
          <a:p>
            <a:r>
              <a:rPr lang="nb-NO" smtClean="0"/>
              <a:t>A category map in the DDI provides possibilities for identifying and mapping source and target schemes, a description of the correspondence between source and target, a CommonalityTypeCoded that allows for a controlled vocabulary or UserDefinedCorrespondenceProperty, as well as a commonality weight (0 -1).</a:t>
            </a:r>
          </a:p>
        </p:txBody>
      </p:sp>
      <p:sp>
        <p:nvSpPr>
          <p:cNvPr id="4" name="Plassholder for lysbildenummer 3"/>
          <p:cNvSpPr>
            <a:spLocks noGrp="1"/>
          </p:cNvSpPr>
          <p:nvPr>
            <p:ph type="sldNum" sz="quarter" idx="5"/>
          </p:nvPr>
        </p:nvSpPr>
        <p:spPr/>
        <p:txBody>
          <a:bodyPr/>
          <a:lstStyle/>
          <a:p>
            <a:pPr>
              <a:defRPr/>
            </a:pPr>
            <a:fld id="{C0FD2AFA-F66C-4071-B553-A3E85BA97C07}" type="slidenum">
              <a:rPr lang="nb-NO" smtClean="0"/>
              <a:pPr>
                <a:defRPr/>
              </a:pPr>
              <a:t>17</a:t>
            </a:fld>
            <a:endParaRPr lang="nb-NO"/>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Plassholder for lysbilde 1"/>
          <p:cNvSpPr>
            <a:spLocks noGrp="1" noRot="1" noChangeAspect="1"/>
          </p:cNvSpPr>
          <p:nvPr>
            <p:ph type="sldImg"/>
          </p:nvPr>
        </p:nvSpPr>
        <p:spPr bwMode="auto">
          <a:noFill/>
          <a:ln>
            <a:solidFill>
              <a:srgbClr val="000000"/>
            </a:solidFill>
            <a:miter lim="800000"/>
            <a:headEnd/>
            <a:tailEnd/>
          </a:ln>
        </p:spPr>
      </p:sp>
      <p:sp>
        <p:nvSpPr>
          <p:cNvPr id="47106" name="Plassholder for notater 2"/>
          <p:cNvSpPr>
            <a:spLocks noGrp="1"/>
          </p:cNvSpPr>
          <p:nvPr>
            <p:ph type="body" idx="1"/>
          </p:nvPr>
        </p:nvSpPr>
        <p:spPr bwMode="auto">
          <a:noFill/>
        </p:spPr>
        <p:txBody>
          <a:bodyPr wrap="square" numCol="1" anchor="t" anchorCtr="0" compatLnSpc="1">
            <a:prstTxWarp prst="textNoShape">
              <a:avLst/>
            </a:prstTxWarp>
          </a:bodyPr>
          <a:lstStyle/>
          <a:p>
            <a:r>
              <a:rPr lang="nb-NO" dirty="0" smtClean="0"/>
              <a:t>CodeMap in DDI allows the use of GenerationInstruction to define the item level of correspondence between s source and a target item. </a:t>
            </a:r>
          </a:p>
          <a:p>
            <a:r>
              <a:rPr lang="nb-NO" dirty="0" smtClean="0"/>
              <a:t>GenerationInstruction in DDI LifeCycle allows for entering a machine-actionable </a:t>
            </a:r>
            <a:r>
              <a:rPr lang="nb-NO" smtClean="0"/>
              <a:t>syntax.  The </a:t>
            </a:r>
            <a:r>
              <a:rPr lang="nb-NO" dirty="0" smtClean="0"/>
              <a:t>example shows a syntax in the SAS software. </a:t>
            </a:r>
          </a:p>
          <a:p>
            <a:endParaRPr lang="nb-NO" dirty="0" smtClean="0"/>
          </a:p>
          <a:p>
            <a:r>
              <a:rPr lang="nb-NO" dirty="0" smtClean="0"/>
              <a:t>EDULVLB represents the new detailed ISCED based variable in the ESS, while EDULVLA is the variable used in earlier ESS rounds. EDULVLB can usefully be coded to EDULVLA to provide comparability over time. </a:t>
            </a:r>
          </a:p>
        </p:txBody>
      </p:sp>
      <p:sp>
        <p:nvSpPr>
          <p:cNvPr id="4" name="Plassholder for lysbildenummer 3"/>
          <p:cNvSpPr>
            <a:spLocks noGrp="1"/>
          </p:cNvSpPr>
          <p:nvPr>
            <p:ph type="sldNum" sz="quarter" idx="5"/>
          </p:nvPr>
        </p:nvSpPr>
        <p:spPr/>
        <p:txBody>
          <a:bodyPr/>
          <a:lstStyle/>
          <a:p>
            <a:pPr>
              <a:defRPr/>
            </a:pPr>
            <a:fld id="{31615D1A-1A03-413D-9F26-2335D5508B6F}" type="slidenum">
              <a:rPr lang="nb-NO" smtClean="0"/>
              <a:pPr>
                <a:defRPr/>
              </a:pPr>
              <a:t>19</a:t>
            </a:fld>
            <a:endParaRPr lang="nb-NO"/>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Plassholder for lysbilde 1"/>
          <p:cNvSpPr>
            <a:spLocks noGrp="1" noRot="1" noChangeAspect="1"/>
          </p:cNvSpPr>
          <p:nvPr>
            <p:ph type="sldImg"/>
          </p:nvPr>
        </p:nvSpPr>
        <p:spPr bwMode="auto">
          <a:noFill/>
          <a:ln>
            <a:solidFill>
              <a:srgbClr val="000000"/>
            </a:solidFill>
            <a:miter lim="800000"/>
            <a:headEnd/>
            <a:tailEnd/>
          </a:ln>
        </p:spPr>
      </p:sp>
      <p:sp>
        <p:nvSpPr>
          <p:cNvPr id="3" name="Plassholder for notater 2"/>
          <p:cNvSpPr>
            <a:spLocks noGrp="1"/>
          </p:cNvSpPr>
          <p:nvPr>
            <p:ph type="body" idx="1"/>
          </p:nvPr>
        </p:nvSpPr>
        <p:spPr/>
        <p:txBody>
          <a:bodyPr wrap="square" numCol="1" anchor="t" anchorCtr="0" compatLnSpc="1">
            <a:prstTxWarp prst="textNoShape">
              <a:avLst/>
            </a:prstTxWarp>
          </a:bodyPr>
          <a:lstStyle/>
          <a:p>
            <a:pPr eaLnBrk="1" hangingPunct="1"/>
            <a:r>
              <a:rPr lang="nb-NO" dirty="0" smtClean="0"/>
              <a:t>The next steps consist in developing a DDI resource package for ISCED 2011. </a:t>
            </a:r>
          </a:p>
          <a:p>
            <a:pPr eaLnBrk="1" hangingPunct="1">
              <a:buFontTx/>
              <a:buAutoNum type="arabicParenR"/>
            </a:pPr>
            <a:r>
              <a:rPr lang="nb-NO" dirty="0" smtClean="0"/>
              <a:t>Start with a multilingual </a:t>
            </a:r>
            <a:r>
              <a:rPr lang="nb-NO" smtClean="0"/>
              <a:t>realisation of  the </a:t>
            </a:r>
            <a:r>
              <a:rPr lang="nb-NO" dirty="0" smtClean="0"/>
              <a:t>classification variants ISCEDA and ISCEDP , and include operational concepts and definitions.</a:t>
            </a:r>
          </a:p>
          <a:p>
            <a:pPr eaLnBrk="1" hangingPunct="1">
              <a:buFontTx/>
              <a:buAutoNum type="arabicParenR"/>
            </a:pPr>
            <a:r>
              <a:rPr lang="nb-NO" dirty="0" smtClean="0"/>
              <a:t>When available, include details from the mappings as variables. Display coding of ISCED11P and A, as well as other purpose built measures in comparison tables and generation instruction.</a:t>
            </a:r>
          </a:p>
          <a:p>
            <a:pPr eaLnBrk="1" hangingPunct="1"/>
            <a:endParaRPr lang="nb-NO" dirty="0" smtClean="0"/>
          </a:p>
          <a:p>
            <a:pPr eaLnBrk="1" hangingPunct="1"/>
            <a:r>
              <a:rPr lang="nb-NO" dirty="0" smtClean="0"/>
              <a:t>Outlook: Ohter ideas of ISCED-based resource packages.</a:t>
            </a:r>
          </a:p>
        </p:txBody>
      </p:sp>
      <p:sp>
        <p:nvSpPr>
          <p:cNvPr id="4" name="Plassholder for lysbildenummer 3"/>
          <p:cNvSpPr>
            <a:spLocks noGrp="1"/>
          </p:cNvSpPr>
          <p:nvPr>
            <p:ph type="sldNum" sz="quarter" idx="5"/>
          </p:nvPr>
        </p:nvSpPr>
        <p:spPr/>
        <p:txBody>
          <a:bodyPr/>
          <a:lstStyle/>
          <a:p>
            <a:pPr>
              <a:defRPr/>
            </a:pPr>
            <a:fld id="{A44D2611-BAA7-4317-AACE-FA00BFC5C9F6}" type="slidenum">
              <a:rPr lang="nb-NO" smtClean="0"/>
              <a:pPr>
                <a:defRPr/>
              </a:pPr>
              <a:t>21</a:t>
            </a:fld>
            <a:endParaRPr lang="nb-NO"/>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Plassholder for lysbilde 1"/>
          <p:cNvSpPr>
            <a:spLocks noGrp="1" noRot="1" noChangeAspect="1"/>
          </p:cNvSpPr>
          <p:nvPr>
            <p:ph type="sldImg"/>
          </p:nvPr>
        </p:nvSpPr>
        <p:spPr bwMode="auto">
          <a:noFill/>
          <a:ln>
            <a:solidFill>
              <a:srgbClr val="000000"/>
            </a:solidFill>
            <a:miter lim="800000"/>
            <a:headEnd/>
            <a:tailEnd/>
          </a:ln>
        </p:spPr>
      </p:sp>
      <p:sp>
        <p:nvSpPr>
          <p:cNvPr id="51202" name="Plassholder for notater 2"/>
          <p:cNvSpPr>
            <a:spLocks noGrp="1"/>
          </p:cNvSpPr>
          <p:nvPr>
            <p:ph type="body" idx="1"/>
          </p:nvPr>
        </p:nvSpPr>
        <p:spPr bwMode="auto">
          <a:noFill/>
        </p:spPr>
        <p:txBody>
          <a:bodyPr wrap="square" numCol="1" anchor="t" anchorCtr="0" compatLnSpc="1">
            <a:prstTxWarp prst="textNoShape">
              <a:avLst/>
            </a:prstTxWarp>
          </a:bodyPr>
          <a:lstStyle/>
          <a:p>
            <a:endParaRPr lang="nb-NO" smtClean="0"/>
          </a:p>
        </p:txBody>
      </p:sp>
      <p:sp>
        <p:nvSpPr>
          <p:cNvPr id="4" name="Plassholder for lysbildenummer 3"/>
          <p:cNvSpPr>
            <a:spLocks noGrp="1"/>
          </p:cNvSpPr>
          <p:nvPr>
            <p:ph type="sldNum" sz="quarter" idx="5"/>
          </p:nvPr>
        </p:nvSpPr>
        <p:spPr/>
        <p:txBody>
          <a:bodyPr/>
          <a:lstStyle/>
          <a:p>
            <a:pPr>
              <a:defRPr/>
            </a:pPr>
            <a:fld id="{D39EE51D-75E8-4C80-AD38-ECB9B32C28D1}" type="slidenum">
              <a:rPr lang="nb-NO" smtClean="0"/>
              <a:pPr>
                <a:defRPr/>
              </a:pPr>
              <a:t>22</a:t>
            </a:fld>
            <a:endParaRPr lang="nb-NO"/>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tellysbilde">
    <p:spTree>
      <p:nvGrpSpPr>
        <p:cNvPr id="1" name=""/>
        <p:cNvGrpSpPr/>
        <p:nvPr/>
      </p:nvGrpSpPr>
      <p:grpSpPr>
        <a:xfrm>
          <a:off x="0" y="0"/>
          <a:ext cx="0" cy="0"/>
          <a:chOff x="0" y="0"/>
          <a:chExt cx="0" cy="0"/>
        </a:xfrm>
      </p:grpSpPr>
      <p:sp>
        <p:nvSpPr>
          <p:cNvPr id="2" name="Tittel 1"/>
          <p:cNvSpPr>
            <a:spLocks noGrp="1"/>
          </p:cNvSpPr>
          <p:nvPr>
            <p:ph type="ctrTitle"/>
          </p:nvPr>
        </p:nvSpPr>
        <p:spPr>
          <a:xfrm>
            <a:off x="685800" y="2130425"/>
            <a:ext cx="7772400" cy="1470025"/>
          </a:xfrm>
        </p:spPr>
        <p:txBody>
          <a:bodyPr/>
          <a:lstStyle/>
          <a:p>
            <a:r>
              <a:rPr lang="nb-NO" smtClean="0"/>
              <a:t>Klikk for å redigere tittelstil</a:t>
            </a:r>
            <a:endParaRPr lang="nb-NO"/>
          </a:p>
        </p:txBody>
      </p:sp>
      <p:sp>
        <p:nvSpPr>
          <p:cNvPr id="3" name="Undertittel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nb-NO" smtClean="0"/>
              <a:t>Klikk for å redigere undertittelstil i malen</a:t>
            </a:r>
            <a:endParaRPr lang="nb-NO"/>
          </a:p>
        </p:txBody>
      </p:sp>
      <p:sp>
        <p:nvSpPr>
          <p:cNvPr id="4" name="Plassholder for dato 3"/>
          <p:cNvSpPr>
            <a:spLocks noGrp="1"/>
          </p:cNvSpPr>
          <p:nvPr>
            <p:ph type="dt" sz="half" idx="10"/>
          </p:nvPr>
        </p:nvSpPr>
        <p:spPr/>
        <p:txBody>
          <a:bodyPr/>
          <a:lstStyle>
            <a:lvl1pPr>
              <a:defRPr/>
            </a:lvl1pPr>
          </a:lstStyle>
          <a:p>
            <a:pPr>
              <a:defRPr/>
            </a:pPr>
            <a:fld id="{90E33D21-8F49-4615-AE5B-AEF78D1A04E0}" type="datetimeFigureOut">
              <a:rPr lang="nb-NO"/>
              <a:pPr>
                <a:defRPr/>
              </a:pPr>
              <a:t>06.12.2011</a:t>
            </a:fld>
            <a:endParaRPr lang="nb-NO"/>
          </a:p>
        </p:txBody>
      </p:sp>
      <p:sp>
        <p:nvSpPr>
          <p:cNvPr id="5" name="Plassholder for bunntekst 4"/>
          <p:cNvSpPr>
            <a:spLocks noGrp="1"/>
          </p:cNvSpPr>
          <p:nvPr>
            <p:ph type="ftr" sz="quarter" idx="11"/>
          </p:nvPr>
        </p:nvSpPr>
        <p:spPr/>
        <p:txBody>
          <a:bodyPr/>
          <a:lstStyle>
            <a:lvl1pPr>
              <a:defRPr/>
            </a:lvl1pPr>
          </a:lstStyle>
          <a:p>
            <a:pPr>
              <a:defRPr/>
            </a:pPr>
            <a:endParaRPr lang="nb-NO"/>
          </a:p>
        </p:txBody>
      </p:sp>
      <p:sp>
        <p:nvSpPr>
          <p:cNvPr id="6" name="Plassholder for lysbildenummer 5"/>
          <p:cNvSpPr>
            <a:spLocks noGrp="1"/>
          </p:cNvSpPr>
          <p:nvPr>
            <p:ph type="sldNum" sz="quarter" idx="12"/>
          </p:nvPr>
        </p:nvSpPr>
        <p:spPr/>
        <p:txBody>
          <a:bodyPr/>
          <a:lstStyle>
            <a:lvl1pPr>
              <a:defRPr/>
            </a:lvl1pPr>
          </a:lstStyle>
          <a:p>
            <a:pPr>
              <a:defRPr/>
            </a:pPr>
            <a:fld id="{B9914065-7ACF-40B9-B069-77F971D20091}" type="slidenum">
              <a:rPr lang="nb-NO"/>
              <a:pPr>
                <a:defRPr/>
              </a:pPr>
              <a:t>‹#›</a:t>
            </a:fld>
            <a:endParaRPr lang="nb-NO"/>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Klikk for å redigere tittelstil</a:t>
            </a:r>
            <a:endParaRPr lang="nb-NO"/>
          </a:p>
        </p:txBody>
      </p:sp>
      <p:sp>
        <p:nvSpPr>
          <p:cNvPr id="3" name="Plassholder for innhold 2"/>
          <p:cNvSpPr>
            <a:spLocks noGrp="1"/>
          </p:cNvSpPr>
          <p:nvPr>
            <p:ph idx="1"/>
          </p:nvPr>
        </p:nvSpPr>
        <p:spPr/>
        <p:txBody>
          <a:body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4" name="Plassholder for dato 3"/>
          <p:cNvSpPr>
            <a:spLocks noGrp="1"/>
          </p:cNvSpPr>
          <p:nvPr>
            <p:ph type="dt" sz="half" idx="10"/>
          </p:nvPr>
        </p:nvSpPr>
        <p:spPr/>
        <p:txBody>
          <a:bodyPr/>
          <a:lstStyle>
            <a:lvl1pPr>
              <a:defRPr/>
            </a:lvl1pPr>
          </a:lstStyle>
          <a:p>
            <a:pPr>
              <a:defRPr/>
            </a:pPr>
            <a:fld id="{411A607D-1F8C-4F1E-9545-540764D36DE6}" type="datetimeFigureOut">
              <a:rPr lang="nb-NO"/>
              <a:pPr>
                <a:defRPr/>
              </a:pPr>
              <a:t>06.12.2011</a:t>
            </a:fld>
            <a:endParaRPr lang="nb-NO"/>
          </a:p>
        </p:txBody>
      </p:sp>
      <p:sp>
        <p:nvSpPr>
          <p:cNvPr id="5" name="Plassholder for bunntekst 4"/>
          <p:cNvSpPr>
            <a:spLocks noGrp="1"/>
          </p:cNvSpPr>
          <p:nvPr>
            <p:ph type="ftr" sz="quarter" idx="11"/>
          </p:nvPr>
        </p:nvSpPr>
        <p:spPr/>
        <p:txBody>
          <a:bodyPr/>
          <a:lstStyle>
            <a:lvl1pPr>
              <a:defRPr/>
            </a:lvl1pPr>
          </a:lstStyle>
          <a:p>
            <a:pPr>
              <a:defRPr/>
            </a:pPr>
            <a:endParaRPr lang="nb-NO"/>
          </a:p>
        </p:txBody>
      </p:sp>
      <p:sp>
        <p:nvSpPr>
          <p:cNvPr id="6" name="Plassholder for lysbildenummer 5"/>
          <p:cNvSpPr>
            <a:spLocks noGrp="1"/>
          </p:cNvSpPr>
          <p:nvPr>
            <p:ph type="sldNum" sz="quarter" idx="12"/>
          </p:nvPr>
        </p:nvSpPr>
        <p:spPr/>
        <p:txBody>
          <a:bodyPr/>
          <a:lstStyle>
            <a:lvl1pPr>
              <a:defRPr/>
            </a:lvl1pPr>
          </a:lstStyle>
          <a:p>
            <a:pPr>
              <a:defRPr/>
            </a:pPr>
            <a:fld id="{5C17466A-50FC-437A-B708-22713D8F352C}" type="slidenum">
              <a:rPr lang="nb-NO"/>
              <a:pPr>
                <a:defRPr/>
              </a:pPr>
              <a:t>‹#›</a:t>
            </a:fld>
            <a:endParaRPr lang="nb-NO"/>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Deloverskrift">
    <p:spTree>
      <p:nvGrpSpPr>
        <p:cNvPr id="1" name=""/>
        <p:cNvGrpSpPr/>
        <p:nvPr/>
      </p:nvGrpSpPr>
      <p:grpSpPr>
        <a:xfrm>
          <a:off x="0" y="0"/>
          <a:ext cx="0" cy="0"/>
          <a:chOff x="0" y="0"/>
          <a:chExt cx="0" cy="0"/>
        </a:xfrm>
      </p:grpSpPr>
      <p:sp>
        <p:nvSpPr>
          <p:cNvPr id="2" name="Tittel 1"/>
          <p:cNvSpPr>
            <a:spLocks noGrp="1"/>
          </p:cNvSpPr>
          <p:nvPr>
            <p:ph type="title"/>
          </p:nvPr>
        </p:nvSpPr>
        <p:spPr>
          <a:xfrm>
            <a:off x="722313" y="4406900"/>
            <a:ext cx="7772400" cy="1362075"/>
          </a:xfrm>
        </p:spPr>
        <p:txBody>
          <a:bodyPr anchor="t"/>
          <a:lstStyle>
            <a:lvl1pPr algn="l">
              <a:defRPr sz="4000" b="1" cap="all"/>
            </a:lvl1pPr>
          </a:lstStyle>
          <a:p>
            <a:r>
              <a:rPr lang="nb-NO" smtClean="0"/>
              <a:t>Klikk for å redigere tittelstil</a:t>
            </a:r>
            <a:endParaRPr lang="nb-NO"/>
          </a:p>
        </p:txBody>
      </p:sp>
      <p:sp>
        <p:nvSpPr>
          <p:cNvPr id="3" name="Plassholder for tekst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nb-NO" smtClean="0"/>
              <a:t>Klikk for å redigere tekststiler i malen</a:t>
            </a:r>
          </a:p>
        </p:txBody>
      </p:sp>
      <p:sp>
        <p:nvSpPr>
          <p:cNvPr id="4" name="Plassholder for dato 3"/>
          <p:cNvSpPr>
            <a:spLocks noGrp="1"/>
          </p:cNvSpPr>
          <p:nvPr>
            <p:ph type="dt" sz="half" idx="10"/>
          </p:nvPr>
        </p:nvSpPr>
        <p:spPr/>
        <p:txBody>
          <a:bodyPr/>
          <a:lstStyle>
            <a:lvl1pPr>
              <a:defRPr/>
            </a:lvl1pPr>
          </a:lstStyle>
          <a:p>
            <a:pPr>
              <a:defRPr/>
            </a:pPr>
            <a:fld id="{ED45A9C9-3C03-4B08-A664-C08F23A5A5BC}" type="datetimeFigureOut">
              <a:rPr lang="nb-NO"/>
              <a:pPr>
                <a:defRPr/>
              </a:pPr>
              <a:t>06.12.2011</a:t>
            </a:fld>
            <a:endParaRPr lang="nb-NO"/>
          </a:p>
        </p:txBody>
      </p:sp>
      <p:sp>
        <p:nvSpPr>
          <p:cNvPr id="5" name="Plassholder for bunntekst 4"/>
          <p:cNvSpPr>
            <a:spLocks noGrp="1"/>
          </p:cNvSpPr>
          <p:nvPr>
            <p:ph type="ftr" sz="quarter" idx="11"/>
          </p:nvPr>
        </p:nvSpPr>
        <p:spPr/>
        <p:txBody>
          <a:bodyPr/>
          <a:lstStyle>
            <a:lvl1pPr>
              <a:defRPr/>
            </a:lvl1pPr>
          </a:lstStyle>
          <a:p>
            <a:pPr>
              <a:defRPr/>
            </a:pPr>
            <a:endParaRPr lang="nb-NO"/>
          </a:p>
        </p:txBody>
      </p:sp>
      <p:sp>
        <p:nvSpPr>
          <p:cNvPr id="6" name="Plassholder for lysbildenummer 5"/>
          <p:cNvSpPr>
            <a:spLocks noGrp="1"/>
          </p:cNvSpPr>
          <p:nvPr>
            <p:ph type="sldNum" sz="quarter" idx="12"/>
          </p:nvPr>
        </p:nvSpPr>
        <p:spPr/>
        <p:txBody>
          <a:bodyPr/>
          <a:lstStyle>
            <a:lvl1pPr>
              <a:defRPr/>
            </a:lvl1pPr>
          </a:lstStyle>
          <a:p>
            <a:pPr>
              <a:defRPr/>
            </a:pPr>
            <a:fld id="{5E44823F-9470-4CF3-AF65-3143E8EA152C}" type="slidenum">
              <a:rPr lang="nb-NO"/>
              <a:pPr>
                <a:defRPr/>
              </a:pPr>
              <a:t>‹#›</a:t>
            </a:fld>
            <a:endParaRPr lang="nb-NO"/>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Klikk for å redigere tittelstil</a:t>
            </a:r>
            <a:endParaRPr lang="nb-NO"/>
          </a:p>
        </p:txBody>
      </p:sp>
      <p:sp>
        <p:nvSpPr>
          <p:cNvPr id="3" name="Plassholder for innhold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4" name="Plassholder for innhold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5" name="Plassholder for dato 3"/>
          <p:cNvSpPr>
            <a:spLocks noGrp="1"/>
          </p:cNvSpPr>
          <p:nvPr>
            <p:ph type="dt" sz="half" idx="10"/>
          </p:nvPr>
        </p:nvSpPr>
        <p:spPr/>
        <p:txBody>
          <a:bodyPr/>
          <a:lstStyle>
            <a:lvl1pPr>
              <a:defRPr/>
            </a:lvl1pPr>
          </a:lstStyle>
          <a:p>
            <a:pPr>
              <a:defRPr/>
            </a:pPr>
            <a:fld id="{72E3904F-BB1D-43DD-AF32-11BA861129ED}" type="datetimeFigureOut">
              <a:rPr lang="nb-NO"/>
              <a:pPr>
                <a:defRPr/>
              </a:pPr>
              <a:t>06.12.2011</a:t>
            </a:fld>
            <a:endParaRPr lang="nb-NO"/>
          </a:p>
        </p:txBody>
      </p:sp>
      <p:sp>
        <p:nvSpPr>
          <p:cNvPr id="6" name="Plassholder for bunntekst 4"/>
          <p:cNvSpPr>
            <a:spLocks noGrp="1"/>
          </p:cNvSpPr>
          <p:nvPr>
            <p:ph type="ftr" sz="quarter" idx="11"/>
          </p:nvPr>
        </p:nvSpPr>
        <p:spPr/>
        <p:txBody>
          <a:bodyPr/>
          <a:lstStyle>
            <a:lvl1pPr>
              <a:defRPr/>
            </a:lvl1pPr>
          </a:lstStyle>
          <a:p>
            <a:pPr>
              <a:defRPr/>
            </a:pPr>
            <a:endParaRPr lang="nb-NO"/>
          </a:p>
        </p:txBody>
      </p:sp>
      <p:sp>
        <p:nvSpPr>
          <p:cNvPr id="7" name="Plassholder for lysbildenummer 5"/>
          <p:cNvSpPr>
            <a:spLocks noGrp="1"/>
          </p:cNvSpPr>
          <p:nvPr>
            <p:ph type="sldNum" sz="quarter" idx="12"/>
          </p:nvPr>
        </p:nvSpPr>
        <p:spPr/>
        <p:txBody>
          <a:bodyPr/>
          <a:lstStyle>
            <a:lvl1pPr>
              <a:defRPr/>
            </a:lvl1pPr>
          </a:lstStyle>
          <a:p>
            <a:pPr>
              <a:defRPr/>
            </a:pPr>
            <a:fld id="{0D4CB91B-6725-4F6A-BA33-E56ABE5166C6}" type="slidenum">
              <a:rPr lang="nb-NO"/>
              <a:pPr>
                <a:defRPr/>
              </a:pPr>
              <a:t>‹#›</a:t>
            </a:fld>
            <a:endParaRPr lang="nb-NO"/>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Sammenligning">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lvl1pPr>
              <a:defRPr/>
            </a:lvl1pPr>
          </a:lstStyle>
          <a:p>
            <a:r>
              <a:rPr lang="nb-NO" smtClean="0"/>
              <a:t>Klikk for å redigere tittelstil</a:t>
            </a:r>
            <a:endParaRPr lang="nb-NO"/>
          </a:p>
        </p:txBody>
      </p:sp>
      <p:sp>
        <p:nvSpPr>
          <p:cNvPr id="3" name="Plassholder for tekst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smtClean="0"/>
              <a:t>Klikk for å redigere tekststiler i malen</a:t>
            </a:r>
          </a:p>
        </p:txBody>
      </p:sp>
      <p:sp>
        <p:nvSpPr>
          <p:cNvPr id="4" name="Plassholder for innhold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5" name="Plassholder for tekst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nb-NO" smtClean="0"/>
              <a:t>Klikk for å redigere tekststiler i malen</a:t>
            </a:r>
          </a:p>
        </p:txBody>
      </p:sp>
      <p:sp>
        <p:nvSpPr>
          <p:cNvPr id="6" name="Plassholder for innhold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7" name="Plassholder for dato 3"/>
          <p:cNvSpPr>
            <a:spLocks noGrp="1"/>
          </p:cNvSpPr>
          <p:nvPr>
            <p:ph type="dt" sz="half" idx="10"/>
          </p:nvPr>
        </p:nvSpPr>
        <p:spPr/>
        <p:txBody>
          <a:bodyPr/>
          <a:lstStyle>
            <a:lvl1pPr>
              <a:defRPr/>
            </a:lvl1pPr>
          </a:lstStyle>
          <a:p>
            <a:pPr>
              <a:defRPr/>
            </a:pPr>
            <a:fld id="{0BBE34D2-04B8-4C71-95A4-50FF4E9159B2}" type="datetimeFigureOut">
              <a:rPr lang="nb-NO"/>
              <a:pPr>
                <a:defRPr/>
              </a:pPr>
              <a:t>06.12.2011</a:t>
            </a:fld>
            <a:endParaRPr lang="nb-NO"/>
          </a:p>
        </p:txBody>
      </p:sp>
      <p:sp>
        <p:nvSpPr>
          <p:cNvPr id="8" name="Plassholder for bunntekst 4"/>
          <p:cNvSpPr>
            <a:spLocks noGrp="1"/>
          </p:cNvSpPr>
          <p:nvPr>
            <p:ph type="ftr" sz="quarter" idx="11"/>
          </p:nvPr>
        </p:nvSpPr>
        <p:spPr/>
        <p:txBody>
          <a:bodyPr/>
          <a:lstStyle>
            <a:lvl1pPr>
              <a:defRPr/>
            </a:lvl1pPr>
          </a:lstStyle>
          <a:p>
            <a:pPr>
              <a:defRPr/>
            </a:pPr>
            <a:endParaRPr lang="nb-NO"/>
          </a:p>
        </p:txBody>
      </p:sp>
      <p:sp>
        <p:nvSpPr>
          <p:cNvPr id="9" name="Plassholder for lysbildenummer 5"/>
          <p:cNvSpPr>
            <a:spLocks noGrp="1"/>
          </p:cNvSpPr>
          <p:nvPr>
            <p:ph type="sldNum" sz="quarter" idx="12"/>
          </p:nvPr>
        </p:nvSpPr>
        <p:spPr/>
        <p:txBody>
          <a:bodyPr/>
          <a:lstStyle>
            <a:lvl1pPr>
              <a:defRPr/>
            </a:lvl1pPr>
          </a:lstStyle>
          <a:p>
            <a:pPr>
              <a:defRPr/>
            </a:pPr>
            <a:fld id="{3393D057-825E-43A1-B451-6D60AF49D93E}" type="slidenum">
              <a:rPr lang="nb-NO"/>
              <a:pPr>
                <a:defRPr/>
              </a:pPr>
              <a:t>‹#›</a:t>
            </a:fld>
            <a:endParaRPr lang="nb-NO"/>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Klikk for å redigere tittelstil</a:t>
            </a:r>
            <a:endParaRPr lang="nb-NO"/>
          </a:p>
        </p:txBody>
      </p:sp>
      <p:sp>
        <p:nvSpPr>
          <p:cNvPr id="3" name="Plassholder for dato 3"/>
          <p:cNvSpPr>
            <a:spLocks noGrp="1"/>
          </p:cNvSpPr>
          <p:nvPr>
            <p:ph type="dt" sz="half" idx="10"/>
          </p:nvPr>
        </p:nvSpPr>
        <p:spPr/>
        <p:txBody>
          <a:bodyPr/>
          <a:lstStyle>
            <a:lvl1pPr>
              <a:defRPr/>
            </a:lvl1pPr>
          </a:lstStyle>
          <a:p>
            <a:pPr>
              <a:defRPr/>
            </a:pPr>
            <a:fld id="{D5B5CF01-AC00-4A9B-902A-9645B032EF3E}" type="datetimeFigureOut">
              <a:rPr lang="nb-NO"/>
              <a:pPr>
                <a:defRPr/>
              </a:pPr>
              <a:t>06.12.2011</a:t>
            </a:fld>
            <a:endParaRPr lang="nb-NO"/>
          </a:p>
        </p:txBody>
      </p:sp>
      <p:sp>
        <p:nvSpPr>
          <p:cNvPr id="4" name="Plassholder for bunntekst 4"/>
          <p:cNvSpPr>
            <a:spLocks noGrp="1"/>
          </p:cNvSpPr>
          <p:nvPr>
            <p:ph type="ftr" sz="quarter" idx="11"/>
          </p:nvPr>
        </p:nvSpPr>
        <p:spPr/>
        <p:txBody>
          <a:bodyPr/>
          <a:lstStyle>
            <a:lvl1pPr>
              <a:defRPr/>
            </a:lvl1pPr>
          </a:lstStyle>
          <a:p>
            <a:pPr>
              <a:defRPr/>
            </a:pPr>
            <a:endParaRPr lang="nb-NO"/>
          </a:p>
        </p:txBody>
      </p:sp>
      <p:sp>
        <p:nvSpPr>
          <p:cNvPr id="5" name="Plassholder for lysbildenummer 5"/>
          <p:cNvSpPr>
            <a:spLocks noGrp="1"/>
          </p:cNvSpPr>
          <p:nvPr>
            <p:ph type="sldNum" sz="quarter" idx="12"/>
          </p:nvPr>
        </p:nvSpPr>
        <p:spPr/>
        <p:txBody>
          <a:bodyPr/>
          <a:lstStyle>
            <a:lvl1pPr>
              <a:defRPr/>
            </a:lvl1pPr>
          </a:lstStyle>
          <a:p>
            <a:pPr>
              <a:defRPr/>
            </a:pPr>
            <a:fld id="{E75EF88B-E71E-4C8A-930C-2D63CC20D39F}" type="slidenum">
              <a:rPr lang="nb-NO"/>
              <a:pPr>
                <a:defRPr/>
              </a:pPr>
              <a:t>‹#›</a:t>
            </a:fld>
            <a:endParaRPr lang="nb-NO"/>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3"/>
          <p:cNvSpPr>
            <a:spLocks noGrp="1"/>
          </p:cNvSpPr>
          <p:nvPr>
            <p:ph type="dt" sz="half" idx="10"/>
          </p:nvPr>
        </p:nvSpPr>
        <p:spPr/>
        <p:txBody>
          <a:bodyPr/>
          <a:lstStyle>
            <a:lvl1pPr>
              <a:defRPr/>
            </a:lvl1pPr>
          </a:lstStyle>
          <a:p>
            <a:pPr>
              <a:defRPr/>
            </a:pPr>
            <a:fld id="{70C24B8C-AAEE-40CE-9F3C-FA31199F948A}" type="datetimeFigureOut">
              <a:rPr lang="nb-NO"/>
              <a:pPr>
                <a:defRPr/>
              </a:pPr>
              <a:t>06.12.2011</a:t>
            </a:fld>
            <a:endParaRPr lang="nb-NO"/>
          </a:p>
        </p:txBody>
      </p:sp>
      <p:sp>
        <p:nvSpPr>
          <p:cNvPr id="3" name="Plassholder for bunntekst 4"/>
          <p:cNvSpPr>
            <a:spLocks noGrp="1"/>
          </p:cNvSpPr>
          <p:nvPr>
            <p:ph type="ftr" sz="quarter" idx="11"/>
          </p:nvPr>
        </p:nvSpPr>
        <p:spPr/>
        <p:txBody>
          <a:bodyPr/>
          <a:lstStyle>
            <a:lvl1pPr>
              <a:defRPr/>
            </a:lvl1pPr>
          </a:lstStyle>
          <a:p>
            <a:pPr>
              <a:defRPr/>
            </a:pPr>
            <a:endParaRPr lang="nb-NO"/>
          </a:p>
        </p:txBody>
      </p:sp>
      <p:sp>
        <p:nvSpPr>
          <p:cNvPr id="4" name="Plassholder for lysbildenummer 5"/>
          <p:cNvSpPr>
            <a:spLocks noGrp="1"/>
          </p:cNvSpPr>
          <p:nvPr>
            <p:ph type="sldNum" sz="quarter" idx="12"/>
          </p:nvPr>
        </p:nvSpPr>
        <p:spPr/>
        <p:txBody>
          <a:bodyPr/>
          <a:lstStyle>
            <a:lvl1pPr>
              <a:defRPr/>
            </a:lvl1pPr>
          </a:lstStyle>
          <a:p>
            <a:pPr>
              <a:defRPr/>
            </a:pPr>
            <a:fld id="{C8872CC8-4831-4C6A-9323-1D5031DC7121}" type="slidenum">
              <a:rPr lang="nb-NO"/>
              <a:pPr>
                <a:defRPr/>
              </a:pPr>
              <a:t>‹#›</a:t>
            </a:fld>
            <a:endParaRPr lang="nb-NO"/>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nhold med tekst">
    <p:spTree>
      <p:nvGrpSpPr>
        <p:cNvPr id="1" name=""/>
        <p:cNvGrpSpPr/>
        <p:nvPr/>
      </p:nvGrpSpPr>
      <p:grpSpPr>
        <a:xfrm>
          <a:off x="0" y="0"/>
          <a:ext cx="0" cy="0"/>
          <a:chOff x="0" y="0"/>
          <a:chExt cx="0" cy="0"/>
        </a:xfrm>
      </p:grpSpPr>
      <p:sp>
        <p:nvSpPr>
          <p:cNvPr id="2" name="Tittel 1"/>
          <p:cNvSpPr>
            <a:spLocks noGrp="1"/>
          </p:cNvSpPr>
          <p:nvPr>
            <p:ph type="title"/>
          </p:nvPr>
        </p:nvSpPr>
        <p:spPr>
          <a:xfrm>
            <a:off x="457200" y="273050"/>
            <a:ext cx="3008313" cy="1162050"/>
          </a:xfrm>
        </p:spPr>
        <p:txBody>
          <a:bodyPr anchor="b"/>
          <a:lstStyle>
            <a:lvl1pPr algn="l">
              <a:defRPr sz="2000" b="1"/>
            </a:lvl1pPr>
          </a:lstStyle>
          <a:p>
            <a:r>
              <a:rPr lang="nb-NO" smtClean="0"/>
              <a:t>Klikk for å redigere tittelstil</a:t>
            </a:r>
            <a:endParaRPr lang="nb-NO"/>
          </a:p>
        </p:txBody>
      </p:sp>
      <p:sp>
        <p:nvSpPr>
          <p:cNvPr id="3" name="Plassholder for innhold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4" name="Plassholder for tekst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b-NO" smtClean="0"/>
              <a:t>Klikk for å redigere tekststiler i malen</a:t>
            </a:r>
          </a:p>
        </p:txBody>
      </p:sp>
      <p:sp>
        <p:nvSpPr>
          <p:cNvPr id="5" name="Plassholder for dato 3"/>
          <p:cNvSpPr>
            <a:spLocks noGrp="1"/>
          </p:cNvSpPr>
          <p:nvPr>
            <p:ph type="dt" sz="half" idx="10"/>
          </p:nvPr>
        </p:nvSpPr>
        <p:spPr/>
        <p:txBody>
          <a:bodyPr/>
          <a:lstStyle>
            <a:lvl1pPr>
              <a:defRPr/>
            </a:lvl1pPr>
          </a:lstStyle>
          <a:p>
            <a:pPr>
              <a:defRPr/>
            </a:pPr>
            <a:fld id="{25BD8B86-CBB5-4595-BEBB-04E0B186CF72}" type="datetimeFigureOut">
              <a:rPr lang="nb-NO"/>
              <a:pPr>
                <a:defRPr/>
              </a:pPr>
              <a:t>06.12.2011</a:t>
            </a:fld>
            <a:endParaRPr lang="nb-NO"/>
          </a:p>
        </p:txBody>
      </p:sp>
      <p:sp>
        <p:nvSpPr>
          <p:cNvPr id="6" name="Plassholder for bunntekst 4"/>
          <p:cNvSpPr>
            <a:spLocks noGrp="1"/>
          </p:cNvSpPr>
          <p:nvPr>
            <p:ph type="ftr" sz="quarter" idx="11"/>
          </p:nvPr>
        </p:nvSpPr>
        <p:spPr/>
        <p:txBody>
          <a:bodyPr/>
          <a:lstStyle>
            <a:lvl1pPr>
              <a:defRPr/>
            </a:lvl1pPr>
          </a:lstStyle>
          <a:p>
            <a:pPr>
              <a:defRPr/>
            </a:pPr>
            <a:endParaRPr lang="nb-NO"/>
          </a:p>
        </p:txBody>
      </p:sp>
      <p:sp>
        <p:nvSpPr>
          <p:cNvPr id="7" name="Plassholder for lysbildenummer 5"/>
          <p:cNvSpPr>
            <a:spLocks noGrp="1"/>
          </p:cNvSpPr>
          <p:nvPr>
            <p:ph type="sldNum" sz="quarter" idx="12"/>
          </p:nvPr>
        </p:nvSpPr>
        <p:spPr/>
        <p:txBody>
          <a:bodyPr/>
          <a:lstStyle>
            <a:lvl1pPr>
              <a:defRPr/>
            </a:lvl1pPr>
          </a:lstStyle>
          <a:p>
            <a:pPr>
              <a:defRPr/>
            </a:pPr>
            <a:fld id="{CE1DF117-611C-4C7C-805F-ED2C83F64094}" type="slidenum">
              <a:rPr lang="nb-NO"/>
              <a:pPr>
                <a:defRPr/>
              </a:pPr>
              <a:t>‹#›</a:t>
            </a:fld>
            <a:endParaRPr lang="nb-NO"/>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e med tekst">
    <p:spTree>
      <p:nvGrpSpPr>
        <p:cNvPr id="1" name=""/>
        <p:cNvGrpSpPr/>
        <p:nvPr/>
      </p:nvGrpSpPr>
      <p:grpSpPr>
        <a:xfrm>
          <a:off x="0" y="0"/>
          <a:ext cx="0" cy="0"/>
          <a:chOff x="0" y="0"/>
          <a:chExt cx="0" cy="0"/>
        </a:xfrm>
      </p:grpSpPr>
      <p:sp>
        <p:nvSpPr>
          <p:cNvPr id="2" name="Tittel 1"/>
          <p:cNvSpPr>
            <a:spLocks noGrp="1"/>
          </p:cNvSpPr>
          <p:nvPr>
            <p:ph type="title"/>
          </p:nvPr>
        </p:nvSpPr>
        <p:spPr>
          <a:xfrm>
            <a:off x="1792288" y="4800600"/>
            <a:ext cx="5486400" cy="566738"/>
          </a:xfrm>
        </p:spPr>
        <p:txBody>
          <a:bodyPr anchor="b"/>
          <a:lstStyle>
            <a:lvl1pPr algn="l">
              <a:defRPr sz="2000" b="1"/>
            </a:lvl1pPr>
          </a:lstStyle>
          <a:p>
            <a:r>
              <a:rPr lang="nb-NO" smtClean="0"/>
              <a:t>Klikk for å redigere tittelstil</a:t>
            </a:r>
            <a:endParaRPr lang="nb-NO"/>
          </a:p>
        </p:txBody>
      </p:sp>
      <p:sp>
        <p:nvSpPr>
          <p:cNvPr id="3" name="Plassholder for bilde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nb-NO" noProof="0"/>
          </a:p>
        </p:txBody>
      </p:sp>
      <p:sp>
        <p:nvSpPr>
          <p:cNvPr id="4" name="Plassholder for tekst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nb-NO" smtClean="0"/>
              <a:t>Klikk for å redigere tekststiler i malen</a:t>
            </a:r>
          </a:p>
        </p:txBody>
      </p:sp>
      <p:sp>
        <p:nvSpPr>
          <p:cNvPr id="5" name="Plassholder for dato 3"/>
          <p:cNvSpPr>
            <a:spLocks noGrp="1"/>
          </p:cNvSpPr>
          <p:nvPr>
            <p:ph type="dt" sz="half" idx="10"/>
          </p:nvPr>
        </p:nvSpPr>
        <p:spPr/>
        <p:txBody>
          <a:bodyPr/>
          <a:lstStyle>
            <a:lvl1pPr>
              <a:defRPr/>
            </a:lvl1pPr>
          </a:lstStyle>
          <a:p>
            <a:pPr>
              <a:defRPr/>
            </a:pPr>
            <a:fld id="{A4BFA297-E817-4D86-84F1-00D54274CF02}" type="datetimeFigureOut">
              <a:rPr lang="nb-NO"/>
              <a:pPr>
                <a:defRPr/>
              </a:pPr>
              <a:t>06.12.2011</a:t>
            </a:fld>
            <a:endParaRPr lang="nb-NO"/>
          </a:p>
        </p:txBody>
      </p:sp>
      <p:sp>
        <p:nvSpPr>
          <p:cNvPr id="6" name="Plassholder for bunntekst 4"/>
          <p:cNvSpPr>
            <a:spLocks noGrp="1"/>
          </p:cNvSpPr>
          <p:nvPr>
            <p:ph type="ftr" sz="quarter" idx="11"/>
          </p:nvPr>
        </p:nvSpPr>
        <p:spPr/>
        <p:txBody>
          <a:bodyPr/>
          <a:lstStyle>
            <a:lvl1pPr>
              <a:defRPr/>
            </a:lvl1pPr>
          </a:lstStyle>
          <a:p>
            <a:pPr>
              <a:defRPr/>
            </a:pPr>
            <a:endParaRPr lang="nb-NO"/>
          </a:p>
        </p:txBody>
      </p:sp>
      <p:sp>
        <p:nvSpPr>
          <p:cNvPr id="7" name="Plassholder for lysbildenummer 5"/>
          <p:cNvSpPr>
            <a:spLocks noGrp="1"/>
          </p:cNvSpPr>
          <p:nvPr>
            <p:ph type="sldNum" sz="quarter" idx="12"/>
          </p:nvPr>
        </p:nvSpPr>
        <p:spPr/>
        <p:txBody>
          <a:bodyPr/>
          <a:lstStyle>
            <a:lvl1pPr>
              <a:defRPr/>
            </a:lvl1pPr>
          </a:lstStyle>
          <a:p>
            <a:pPr>
              <a:defRPr/>
            </a:pPr>
            <a:fld id="{17D6EA96-2546-41A5-B898-FE3321CB6517}" type="slidenum">
              <a:rPr lang="nb-NO"/>
              <a:pPr>
                <a:defRPr/>
              </a:pPr>
              <a:t>‹#›</a:t>
            </a:fld>
            <a:endParaRPr lang="nb-NO"/>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Loddrett tekst">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nb-NO" smtClean="0"/>
              <a:t>Klikk for å redigere tittelstil</a:t>
            </a:r>
            <a:endParaRPr lang="nb-NO"/>
          </a:p>
        </p:txBody>
      </p:sp>
      <p:sp>
        <p:nvSpPr>
          <p:cNvPr id="3" name="Plassholder for loddrett tekst 2"/>
          <p:cNvSpPr>
            <a:spLocks noGrp="1"/>
          </p:cNvSpPr>
          <p:nvPr>
            <p:ph type="body" orient="vert" idx="1"/>
          </p:nvPr>
        </p:nvSpPr>
        <p:spPr/>
        <p:txBody>
          <a:bodyPr vert="eaVert"/>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4" name="Plassholder for dato 3"/>
          <p:cNvSpPr>
            <a:spLocks noGrp="1"/>
          </p:cNvSpPr>
          <p:nvPr>
            <p:ph type="dt" sz="half" idx="10"/>
          </p:nvPr>
        </p:nvSpPr>
        <p:spPr/>
        <p:txBody>
          <a:bodyPr/>
          <a:lstStyle>
            <a:lvl1pPr>
              <a:defRPr/>
            </a:lvl1pPr>
          </a:lstStyle>
          <a:p>
            <a:pPr>
              <a:defRPr/>
            </a:pPr>
            <a:fld id="{DDA5273E-A043-4E4B-A6D6-AAC8E1F73664}" type="datetimeFigureOut">
              <a:rPr lang="nb-NO"/>
              <a:pPr>
                <a:defRPr/>
              </a:pPr>
              <a:t>06.12.2011</a:t>
            </a:fld>
            <a:endParaRPr lang="nb-NO"/>
          </a:p>
        </p:txBody>
      </p:sp>
      <p:sp>
        <p:nvSpPr>
          <p:cNvPr id="5" name="Plassholder for bunntekst 4"/>
          <p:cNvSpPr>
            <a:spLocks noGrp="1"/>
          </p:cNvSpPr>
          <p:nvPr>
            <p:ph type="ftr" sz="quarter" idx="11"/>
          </p:nvPr>
        </p:nvSpPr>
        <p:spPr/>
        <p:txBody>
          <a:bodyPr/>
          <a:lstStyle>
            <a:lvl1pPr>
              <a:defRPr/>
            </a:lvl1pPr>
          </a:lstStyle>
          <a:p>
            <a:pPr>
              <a:defRPr/>
            </a:pPr>
            <a:endParaRPr lang="nb-NO"/>
          </a:p>
        </p:txBody>
      </p:sp>
      <p:sp>
        <p:nvSpPr>
          <p:cNvPr id="6" name="Plassholder for lysbildenummer 5"/>
          <p:cNvSpPr>
            <a:spLocks noGrp="1"/>
          </p:cNvSpPr>
          <p:nvPr>
            <p:ph type="sldNum" sz="quarter" idx="12"/>
          </p:nvPr>
        </p:nvSpPr>
        <p:spPr/>
        <p:txBody>
          <a:bodyPr/>
          <a:lstStyle>
            <a:lvl1pPr>
              <a:defRPr/>
            </a:lvl1pPr>
          </a:lstStyle>
          <a:p>
            <a:pPr>
              <a:defRPr/>
            </a:pPr>
            <a:fld id="{66E7F786-8575-4D5E-8A34-FA82B45A3991}" type="slidenum">
              <a:rPr lang="nb-NO"/>
              <a:pPr>
                <a:defRPr/>
              </a:pPr>
              <a:t>‹#›</a:t>
            </a:fld>
            <a:endParaRPr lang="nb-NO"/>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drett tittel og tekst">
    <p:spTree>
      <p:nvGrpSpPr>
        <p:cNvPr id="1" name=""/>
        <p:cNvGrpSpPr/>
        <p:nvPr/>
      </p:nvGrpSpPr>
      <p:grpSpPr>
        <a:xfrm>
          <a:off x="0" y="0"/>
          <a:ext cx="0" cy="0"/>
          <a:chOff x="0" y="0"/>
          <a:chExt cx="0" cy="0"/>
        </a:xfrm>
      </p:grpSpPr>
      <p:sp>
        <p:nvSpPr>
          <p:cNvPr id="2" name="Loddrett tittel 1"/>
          <p:cNvSpPr>
            <a:spLocks noGrp="1"/>
          </p:cNvSpPr>
          <p:nvPr>
            <p:ph type="title" orient="vert"/>
          </p:nvPr>
        </p:nvSpPr>
        <p:spPr>
          <a:xfrm>
            <a:off x="6629400" y="274638"/>
            <a:ext cx="2057400" cy="5851525"/>
          </a:xfrm>
        </p:spPr>
        <p:txBody>
          <a:bodyPr vert="eaVert"/>
          <a:lstStyle/>
          <a:p>
            <a:r>
              <a:rPr lang="nb-NO" smtClean="0"/>
              <a:t>Klikk for å redigere tittelstil</a:t>
            </a:r>
            <a:endParaRPr lang="nb-NO"/>
          </a:p>
        </p:txBody>
      </p:sp>
      <p:sp>
        <p:nvSpPr>
          <p:cNvPr id="3" name="Plassholder for loddrett tekst 2"/>
          <p:cNvSpPr>
            <a:spLocks noGrp="1"/>
          </p:cNvSpPr>
          <p:nvPr>
            <p:ph type="body" orient="vert" idx="1"/>
          </p:nvPr>
        </p:nvSpPr>
        <p:spPr>
          <a:xfrm>
            <a:off x="457200" y="274638"/>
            <a:ext cx="6019800" cy="5851525"/>
          </a:xfrm>
        </p:spPr>
        <p:txBody>
          <a:bodyPr vert="eaVert"/>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endParaRPr lang="nb-NO"/>
          </a:p>
        </p:txBody>
      </p:sp>
      <p:sp>
        <p:nvSpPr>
          <p:cNvPr id="4" name="Plassholder for dato 3"/>
          <p:cNvSpPr>
            <a:spLocks noGrp="1"/>
          </p:cNvSpPr>
          <p:nvPr>
            <p:ph type="dt" sz="half" idx="10"/>
          </p:nvPr>
        </p:nvSpPr>
        <p:spPr/>
        <p:txBody>
          <a:bodyPr/>
          <a:lstStyle>
            <a:lvl1pPr>
              <a:defRPr/>
            </a:lvl1pPr>
          </a:lstStyle>
          <a:p>
            <a:pPr>
              <a:defRPr/>
            </a:pPr>
            <a:fld id="{1D9038A3-4FC9-468F-AE1D-5B0B4F3B33E9}" type="datetimeFigureOut">
              <a:rPr lang="nb-NO"/>
              <a:pPr>
                <a:defRPr/>
              </a:pPr>
              <a:t>06.12.2011</a:t>
            </a:fld>
            <a:endParaRPr lang="nb-NO"/>
          </a:p>
        </p:txBody>
      </p:sp>
      <p:sp>
        <p:nvSpPr>
          <p:cNvPr id="5" name="Plassholder for bunntekst 4"/>
          <p:cNvSpPr>
            <a:spLocks noGrp="1"/>
          </p:cNvSpPr>
          <p:nvPr>
            <p:ph type="ftr" sz="quarter" idx="11"/>
          </p:nvPr>
        </p:nvSpPr>
        <p:spPr/>
        <p:txBody>
          <a:bodyPr/>
          <a:lstStyle>
            <a:lvl1pPr>
              <a:defRPr/>
            </a:lvl1pPr>
          </a:lstStyle>
          <a:p>
            <a:pPr>
              <a:defRPr/>
            </a:pPr>
            <a:endParaRPr lang="nb-NO"/>
          </a:p>
        </p:txBody>
      </p:sp>
      <p:sp>
        <p:nvSpPr>
          <p:cNvPr id="6" name="Plassholder for lysbildenummer 5"/>
          <p:cNvSpPr>
            <a:spLocks noGrp="1"/>
          </p:cNvSpPr>
          <p:nvPr>
            <p:ph type="sldNum" sz="quarter" idx="12"/>
          </p:nvPr>
        </p:nvSpPr>
        <p:spPr/>
        <p:txBody>
          <a:bodyPr/>
          <a:lstStyle>
            <a:lvl1pPr>
              <a:defRPr/>
            </a:lvl1pPr>
          </a:lstStyle>
          <a:p>
            <a:pPr>
              <a:defRPr/>
            </a:pPr>
            <a:fld id="{8234CB73-08FA-40D3-B0CE-E29CAD96C9EE}" type="slidenum">
              <a:rPr lang="nb-NO"/>
              <a:pPr>
                <a:defRPr/>
              </a:pPr>
              <a:t>‹#›</a:t>
            </a:fld>
            <a:endParaRPr lang="nb-NO"/>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Plassholder for tittel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nb-NO" smtClean="0"/>
              <a:t>Klikk for å redigere tittelstil</a:t>
            </a:r>
          </a:p>
        </p:txBody>
      </p:sp>
      <p:sp>
        <p:nvSpPr>
          <p:cNvPr id="1027" name="Plassholder for tekst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nb-NO" smtClean="0"/>
              <a:t>Klikk for å redigere tekststiler i malen</a:t>
            </a:r>
          </a:p>
          <a:p>
            <a:pPr lvl="1"/>
            <a:r>
              <a:rPr lang="nb-NO" smtClean="0"/>
              <a:t>Andre nivå</a:t>
            </a:r>
          </a:p>
          <a:p>
            <a:pPr lvl="2"/>
            <a:r>
              <a:rPr lang="nb-NO" smtClean="0"/>
              <a:t>Tredje nivå</a:t>
            </a:r>
          </a:p>
          <a:p>
            <a:pPr lvl="3"/>
            <a:r>
              <a:rPr lang="nb-NO" smtClean="0"/>
              <a:t>Fjerde nivå</a:t>
            </a:r>
          </a:p>
          <a:p>
            <a:pPr lvl="4"/>
            <a:r>
              <a:rPr lang="nb-NO" smtClean="0"/>
              <a:t>Femte nivå</a:t>
            </a:r>
          </a:p>
        </p:txBody>
      </p:sp>
      <p:sp>
        <p:nvSpPr>
          <p:cNvPr id="4" name="Plassholder for dato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4DFE4F4B-E650-400E-A2F2-6BCF0012D72C}" type="datetimeFigureOut">
              <a:rPr lang="nb-NO"/>
              <a:pPr>
                <a:defRPr/>
              </a:pPr>
              <a:t>06.12.2011</a:t>
            </a:fld>
            <a:endParaRPr lang="nb-NO"/>
          </a:p>
        </p:txBody>
      </p:sp>
      <p:sp>
        <p:nvSpPr>
          <p:cNvPr id="5" name="Plassholder for bunntekst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nb-NO"/>
          </a:p>
        </p:txBody>
      </p:sp>
      <p:sp>
        <p:nvSpPr>
          <p:cNvPr id="6" name="Plassholder for lysbildenumm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9A74333B-71A7-447F-8343-34E6F33F74A4}" type="slidenum">
              <a:rPr lang="nb-NO"/>
              <a:pPr>
                <a:defRPr/>
              </a:pPr>
              <a:t>‹#›</a:t>
            </a:fld>
            <a:endParaRPr lang="nb-NO"/>
          </a:p>
        </p:txBody>
      </p:sp>
    </p:spTree>
  </p:cSld>
  <p:clrMap bg1="lt1" tx1="dk1" bg2="lt2" tx2="dk2" accent1="accent1" accent2="accent2" accent3="accent3" accent4="accent4" accent5="accent5" accent6="accent6" hlink="hlink" folHlink="folHlink"/>
  <p:sldLayoutIdLst>
    <p:sldLayoutId id="2147483659" r:id="rId1"/>
    <p:sldLayoutId id="2147483658" r:id="rId2"/>
    <p:sldLayoutId id="2147483657" r:id="rId3"/>
    <p:sldLayoutId id="2147483656" r:id="rId4"/>
    <p:sldLayoutId id="2147483655" r:id="rId5"/>
    <p:sldLayoutId id="2147483654" r:id="rId6"/>
    <p:sldLayoutId id="2147483653" r:id="rId7"/>
    <p:sldLayoutId id="2147483652" r:id="rId8"/>
    <p:sldLayoutId id="2147483651" r:id="rId9"/>
    <p:sldLayoutId id="2147483650" r:id="rId10"/>
    <p:sldLayoutId id="214748364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nb-N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hyperlink" Target="mailto:joachim.wackerow@gesis.org" TargetMode="External"/><Relationship Id="rId4" Type="http://schemas.openxmlformats.org/officeDocument/2006/relationships/hyperlink" Target="mailto:hilde.orten@nsd.uib.no"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tel 1"/>
          <p:cNvSpPr>
            <a:spLocks noGrp="1"/>
          </p:cNvSpPr>
          <p:nvPr>
            <p:ph type="ctrTitle"/>
          </p:nvPr>
        </p:nvSpPr>
        <p:spPr>
          <a:xfrm>
            <a:off x="685800" y="1773238"/>
            <a:ext cx="7772400" cy="1470025"/>
          </a:xfrm>
        </p:spPr>
        <p:txBody>
          <a:bodyPr/>
          <a:lstStyle/>
          <a:p>
            <a:pPr eaLnBrk="1" hangingPunct="1"/>
            <a:r>
              <a:rPr lang="nb-NO" smtClean="0"/>
              <a:t>The ISCED Standard for Coding of Education and DDI-Lifecycle</a:t>
            </a:r>
          </a:p>
        </p:txBody>
      </p:sp>
      <p:sp>
        <p:nvSpPr>
          <p:cNvPr id="3" name="Undertittel 2"/>
          <p:cNvSpPr>
            <a:spLocks noGrp="1"/>
          </p:cNvSpPr>
          <p:nvPr>
            <p:ph type="subTitle" idx="1"/>
          </p:nvPr>
        </p:nvSpPr>
        <p:spPr/>
        <p:txBody>
          <a:bodyPr rtlCol="0">
            <a:normAutofit fontScale="47500" lnSpcReduction="20000"/>
          </a:bodyPr>
          <a:lstStyle/>
          <a:p>
            <a:pPr algn="l" eaLnBrk="1" fontAlgn="auto" hangingPunct="1">
              <a:spcAft>
                <a:spcPts val="0"/>
              </a:spcAft>
              <a:buFont typeface="Arial" pitchFamily="34" charset="0"/>
              <a:buNone/>
              <a:defRPr/>
            </a:pPr>
            <a:r>
              <a:rPr lang="nb-NO" dirty="0" smtClean="0"/>
              <a:t>Hilde Orten</a:t>
            </a:r>
          </a:p>
          <a:p>
            <a:pPr algn="l" eaLnBrk="1" fontAlgn="auto" hangingPunct="1">
              <a:spcAft>
                <a:spcPts val="0"/>
              </a:spcAft>
              <a:buFont typeface="Arial" pitchFamily="34" charset="0"/>
              <a:buNone/>
              <a:defRPr/>
            </a:pPr>
            <a:r>
              <a:rPr lang="nb-NO" dirty="0" smtClean="0"/>
              <a:t>	NSD - Norwegian </a:t>
            </a:r>
            <a:r>
              <a:rPr lang="nb-NO" dirty="0" err="1" smtClean="0"/>
              <a:t>Social</a:t>
            </a:r>
            <a:r>
              <a:rPr lang="nb-NO" dirty="0" smtClean="0"/>
              <a:t> </a:t>
            </a:r>
            <a:r>
              <a:rPr lang="nb-NO" dirty="0" err="1" smtClean="0"/>
              <a:t>Science</a:t>
            </a:r>
            <a:r>
              <a:rPr lang="nb-NO" dirty="0" smtClean="0"/>
              <a:t> Data Services</a:t>
            </a:r>
          </a:p>
          <a:p>
            <a:pPr algn="l" eaLnBrk="1" fontAlgn="auto" hangingPunct="1">
              <a:spcAft>
                <a:spcPts val="0"/>
              </a:spcAft>
              <a:buFont typeface="Arial" pitchFamily="34" charset="0"/>
              <a:buNone/>
              <a:defRPr/>
            </a:pPr>
            <a:r>
              <a:rPr lang="nb-NO" dirty="0" smtClean="0"/>
              <a:t>Joachim </a:t>
            </a:r>
            <a:r>
              <a:rPr lang="nb-NO" dirty="0" err="1" smtClean="0"/>
              <a:t>Wackerow</a:t>
            </a:r>
            <a:endParaRPr lang="nb-NO" dirty="0"/>
          </a:p>
          <a:p>
            <a:pPr algn="l" eaLnBrk="1" fontAlgn="auto" hangingPunct="1">
              <a:spcAft>
                <a:spcPts val="0"/>
              </a:spcAft>
              <a:buFont typeface="Arial" pitchFamily="34" charset="0"/>
              <a:buNone/>
              <a:defRPr/>
            </a:pPr>
            <a:r>
              <a:rPr lang="nb-NO" dirty="0" smtClean="0"/>
              <a:t>	GESIS - </a:t>
            </a:r>
            <a:r>
              <a:rPr lang="nb-NO" dirty="0" err="1" smtClean="0"/>
              <a:t>Leibniz</a:t>
            </a:r>
            <a:r>
              <a:rPr lang="nb-NO" dirty="0" smtClean="0"/>
              <a:t> </a:t>
            </a:r>
            <a:r>
              <a:rPr lang="nb-NO" dirty="0" err="1" smtClean="0"/>
              <a:t>Institute</a:t>
            </a:r>
            <a:r>
              <a:rPr lang="nb-NO" dirty="0" smtClean="0"/>
              <a:t> for </a:t>
            </a:r>
            <a:r>
              <a:rPr lang="nb-NO" dirty="0" err="1" smtClean="0"/>
              <a:t>the</a:t>
            </a:r>
            <a:r>
              <a:rPr lang="nb-NO" dirty="0" smtClean="0"/>
              <a:t> </a:t>
            </a:r>
            <a:r>
              <a:rPr lang="nb-NO" dirty="0" err="1" smtClean="0"/>
              <a:t>Social</a:t>
            </a:r>
            <a:r>
              <a:rPr lang="nb-NO" dirty="0" smtClean="0"/>
              <a:t> Sciences</a:t>
            </a:r>
          </a:p>
          <a:p>
            <a:pPr algn="l" eaLnBrk="1" fontAlgn="auto" hangingPunct="1">
              <a:spcAft>
                <a:spcPts val="0"/>
              </a:spcAft>
              <a:buFont typeface="Arial" pitchFamily="34" charset="0"/>
              <a:buNone/>
              <a:defRPr/>
            </a:pPr>
            <a:endParaRPr lang="en-US" dirty="0" smtClean="0"/>
          </a:p>
          <a:p>
            <a:pPr algn="l" eaLnBrk="1" fontAlgn="auto" hangingPunct="1">
              <a:spcAft>
                <a:spcPts val="0"/>
              </a:spcAft>
              <a:buFont typeface="Arial" pitchFamily="34" charset="0"/>
              <a:buNone/>
              <a:defRPr/>
            </a:pPr>
            <a:endParaRPr lang="en-US" dirty="0" smtClean="0"/>
          </a:p>
          <a:p>
            <a:pPr algn="l" eaLnBrk="1" fontAlgn="auto" hangingPunct="1">
              <a:spcAft>
                <a:spcPts val="0"/>
              </a:spcAft>
              <a:buFont typeface="Arial" pitchFamily="34" charset="0"/>
              <a:buNone/>
              <a:defRPr/>
            </a:pPr>
            <a:r>
              <a:rPr lang="en-US" dirty="0" smtClean="0"/>
              <a:t>3rd </a:t>
            </a:r>
            <a:r>
              <a:rPr lang="en-US" dirty="0"/>
              <a:t>Annual European DDI Users Group </a:t>
            </a:r>
            <a:r>
              <a:rPr lang="en-US" dirty="0" smtClean="0"/>
              <a:t>Meeting, Gothenburg, Dec 5/6 2011</a:t>
            </a:r>
            <a:endParaRPr lang="en-US" dirty="0"/>
          </a:p>
          <a:p>
            <a:pPr algn="l" eaLnBrk="1" fontAlgn="auto" hangingPunct="1">
              <a:spcAft>
                <a:spcPts val="0"/>
              </a:spcAft>
              <a:buFont typeface="Arial" pitchFamily="34" charset="0"/>
              <a:buNone/>
              <a:defRPr/>
            </a:pPr>
            <a:endParaRPr lang="nb-NO" dirty="0"/>
          </a:p>
        </p:txBody>
      </p:sp>
      <p:pic>
        <p:nvPicPr>
          <p:cNvPr id="15363" name="Picture 2" descr="http://fr.academic.ru/pictures/frwiki/65/Aiguille_du_Midi_12.jpg"/>
          <p:cNvPicPr>
            <a:picLocks noChangeAspect="1" noChangeArrowheads="1"/>
          </p:cNvPicPr>
          <p:nvPr/>
        </p:nvPicPr>
        <p:blipFill>
          <a:blip r:embed="rId2"/>
          <a:srcRect/>
          <a:stretch>
            <a:fillRect/>
          </a:stretch>
        </p:blipFill>
        <p:spPr bwMode="auto">
          <a:xfrm>
            <a:off x="1588" y="-26988"/>
            <a:ext cx="9164637" cy="98107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p:cNvSpPr>
            <a:spLocks noGrp="1"/>
          </p:cNvSpPr>
          <p:nvPr>
            <p:ph type="title"/>
          </p:nvPr>
        </p:nvSpPr>
        <p:spPr>
          <a:xfrm>
            <a:off x="457200" y="620713"/>
            <a:ext cx="8229600" cy="1143000"/>
          </a:xfrm>
        </p:spPr>
        <p:txBody>
          <a:bodyPr/>
          <a:lstStyle/>
          <a:p>
            <a:pPr eaLnBrk="1" hangingPunct="1"/>
            <a:r>
              <a:rPr lang="nb-NO" smtClean="0"/>
              <a:t>Outline</a:t>
            </a:r>
          </a:p>
        </p:txBody>
      </p:sp>
      <p:sp>
        <p:nvSpPr>
          <p:cNvPr id="16386" name="Rectangle 3"/>
          <p:cNvSpPr>
            <a:spLocks noGrp="1"/>
          </p:cNvSpPr>
          <p:nvPr>
            <p:ph type="body" idx="1"/>
          </p:nvPr>
        </p:nvSpPr>
        <p:spPr>
          <a:xfrm>
            <a:off x="468313" y="1844675"/>
            <a:ext cx="8229600" cy="4525963"/>
          </a:xfrm>
        </p:spPr>
        <p:txBody>
          <a:bodyPr/>
          <a:lstStyle/>
          <a:p>
            <a:pPr eaLnBrk="1" hangingPunct="1"/>
            <a:r>
              <a:rPr lang="nb-NO" sz="2500" smtClean="0"/>
              <a:t>Challenges in measuring education cross-nationally</a:t>
            </a:r>
          </a:p>
          <a:p>
            <a:pPr eaLnBrk="1" hangingPunct="1"/>
            <a:endParaRPr lang="nb-NO" sz="2500" smtClean="0"/>
          </a:p>
          <a:p>
            <a:pPr eaLnBrk="1" hangingPunct="1"/>
            <a:r>
              <a:rPr lang="nb-NO" sz="2500" smtClean="0"/>
              <a:t> The International Standard for Classification of Education (ISCED), why and what?</a:t>
            </a:r>
          </a:p>
          <a:p>
            <a:pPr eaLnBrk="1" hangingPunct="1">
              <a:buFont typeface="Arial" charset="0"/>
              <a:buNone/>
            </a:pPr>
            <a:endParaRPr lang="nb-NO" sz="2500" smtClean="0"/>
          </a:p>
          <a:p>
            <a:pPr eaLnBrk="1" hangingPunct="1"/>
            <a:r>
              <a:rPr lang="nb-NO" sz="2500" smtClean="0"/>
              <a:t>Possible DDI usage – resource packages for ISCED.</a:t>
            </a:r>
          </a:p>
          <a:p>
            <a:pPr eaLnBrk="1" hangingPunct="1"/>
            <a:endParaRPr lang="nb-NO" sz="2500" smtClean="0"/>
          </a:p>
          <a:p>
            <a:pPr eaLnBrk="1" hangingPunct="1">
              <a:buFont typeface="Arial" charset="0"/>
              <a:buNone/>
            </a:pPr>
            <a:endParaRPr lang="nb-NO" sz="250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2"/>
          <p:cNvSpPr>
            <a:spLocks noGrp="1" noChangeArrowheads="1"/>
          </p:cNvSpPr>
          <p:nvPr>
            <p:ph type="title"/>
          </p:nvPr>
        </p:nvSpPr>
        <p:spPr>
          <a:xfrm>
            <a:off x="755650" y="549275"/>
            <a:ext cx="7772400" cy="990600"/>
          </a:xfrm>
        </p:spPr>
        <p:txBody>
          <a:bodyPr rtlCol="0">
            <a:normAutofit fontScale="90000"/>
          </a:bodyPr>
          <a:lstStyle/>
          <a:p>
            <a:pPr eaLnBrk="1" fontAlgn="auto" hangingPunct="1">
              <a:spcAft>
                <a:spcPts val="0"/>
              </a:spcAft>
              <a:defRPr/>
            </a:pPr>
            <a:r>
              <a:rPr lang="en-US" dirty="0" smtClean="0"/>
              <a:t>Challenges in Measuring Education Cross-nationally</a:t>
            </a:r>
            <a:endParaRPr lang="nb-NO" dirty="0" smtClean="0"/>
          </a:p>
        </p:txBody>
      </p:sp>
      <p:sp>
        <p:nvSpPr>
          <p:cNvPr id="18434" name="Rectangle 3"/>
          <p:cNvSpPr txBox="1">
            <a:spLocks noChangeArrowheads="1"/>
          </p:cNvSpPr>
          <p:nvPr/>
        </p:nvSpPr>
        <p:spPr bwMode="auto">
          <a:xfrm>
            <a:off x="900113" y="1700213"/>
            <a:ext cx="7543800" cy="4708525"/>
          </a:xfrm>
          <a:prstGeom prst="rect">
            <a:avLst/>
          </a:prstGeom>
          <a:noFill/>
          <a:ln w="9525">
            <a:noFill/>
            <a:miter lim="800000"/>
            <a:headEnd/>
            <a:tailEnd/>
          </a:ln>
        </p:spPr>
        <p:txBody>
          <a:bodyPr/>
          <a:lstStyle/>
          <a:p>
            <a:pPr marL="342900" indent="-342900">
              <a:spcBef>
                <a:spcPct val="20000"/>
              </a:spcBef>
              <a:buFont typeface="Arial" charset="0"/>
              <a:buChar char="•"/>
            </a:pPr>
            <a:r>
              <a:rPr lang="en-US" sz="2500" dirty="0">
                <a:latin typeface="Calibri" pitchFamily="34" charset="0"/>
              </a:rPr>
              <a:t>Education is a widely used variable in social research as a core explanatory factor or as a control variable</a:t>
            </a:r>
          </a:p>
          <a:p>
            <a:pPr marL="342900" indent="-342900">
              <a:spcBef>
                <a:spcPct val="20000"/>
              </a:spcBef>
              <a:buFont typeface="Arial" charset="0"/>
              <a:buChar char="•"/>
            </a:pPr>
            <a:r>
              <a:rPr lang="en-US" sz="2500" dirty="0">
                <a:latin typeface="Calibri" pitchFamily="34" charset="0"/>
              </a:rPr>
              <a:t>Education is a social institution that differ strongly between countries</a:t>
            </a:r>
          </a:p>
          <a:p>
            <a:pPr marL="342900" indent="-342900">
              <a:spcBef>
                <a:spcPct val="20000"/>
              </a:spcBef>
              <a:buFont typeface="Arial" charset="0"/>
              <a:buChar char="•"/>
            </a:pPr>
            <a:r>
              <a:rPr lang="en-US" sz="2500" dirty="0">
                <a:latin typeface="Calibri" pitchFamily="34" charset="0"/>
              </a:rPr>
              <a:t>Qualifications differs over time</a:t>
            </a:r>
          </a:p>
          <a:p>
            <a:pPr marL="342900" indent="-342900">
              <a:spcBef>
                <a:spcPct val="20000"/>
              </a:spcBef>
              <a:buFont typeface="Arial" charset="0"/>
              <a:buChar char="•"/>
            </a:pPr>
            <a:r>
              <a:rPr lang="en-US" sz="2500" dirty="0">
                <a:latin typeface="Calibri" pitchFamily="34" charset="0"/>
              </a:rPr>
              <a:t>Challenge: Cross-nationally comparable measurement of educational attainment, enrollment and other education related information</a:t>
            </a:r>
          </a:p>
          <a:p>
            <a:pPr marL="342900" indent="-342900">
              <a:spcBef>
                <a:spcPct val="20000"/>
              </a:spcBef>
              <a:buFont typeface="Arial" charset="0"/>
              <a:buChar char="•"/>
            </a:pPr>
            <a:r>
              <a:rPr lang="en-US" sz="2500" dirty="0">
                <a:latin typeface="Calibri" pitchFamily="34" charset="0"/>
              </a:rPr>
              <a:t>Education affects many aspects of an individual’s </a:t>
            </a:r>
            <a:r>
              <a:rPr lang="en-US" sz="2500" dirty="0" err="1">
                <a:latin typeface="Calibri" pitchFamily="34" charset="0"/>
              </a:rPr>
              <a:t>lifechances</a:t>
            </a:r>
            <a:r>
              <a:rPr lang="en-US" sz="2500" dirty="0">
                <a:latin typeface="Calibri" pitchFamily="34" charset="0"/>
              </a:rPr>
              <a:t>, </a:t>
            </a:r>
            <a:r>
              <a:rPr lang="en-US" sz="2500" dirty="0" err="1">
                <a:latin typeface="Calibri" pitchFamily="34" charset="0"/>
              </a:rPr>
              <a:t>behaviours</a:t>
            </a:r>
            <a:r>
              <a:rPr lang="en-US" sz="2500" dirty="0">
                <a:latin typeface="Calibri" pitchFamily="34" charset="0"/>
              </a:rPr>
              <a:t>, attitudes and values </a:t>
            </a:r>
          </a:p>
          <a:p>
            <a:pPr marL="342900" indent="-342900">
              <a:spcBef>
                <a:spcPct val="20000"/>
              </a:spcBef>
              <a:buFont typeface="Arial" charset="0"/>
              <a:buNone/>
            </a:pPr>
            <a:r>
              <a:rPr lang="en-US" sz="2500" smtClean="0">
                <a:latin typeface="Calibri" pitchFamily="34" charset="0"/>
              </a:rPr>
              <a:t>     </a:t>
            </a:r>
            <a:r>
              <a:rPr lang="en-US" sz="2500" dirty="0">
                <a:latin typeface="Calibri" pitchFamily="34" charset="0"/>
              </a:rPr>
              <a:t>(Walter Müller 2008)</a:t>
            </a:r>
          </a:p>
          <a:p>
            <a:pPr marL="342900" indent="-342900">
              <a:spcBef>
                <a:spcPct val="20000"/>
              </a:spcBef>
              <a:buFont typeface="Arial" charset="0"/>
              <a:buChar char="•"/>
            </a:pPr>
            <a:endParaRPr lang="nb-NO" sz="2500" dirty="0">
              <a:latin typeface="Calibri" pitchFamily="34"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tel 1"/>
          <p:cNvSpPr>
            <a:spLocks noGrp="1"/>
          </p:cNvSpPr>
          <p:nvPr>
            <p:ph type="title"/>
          </p:nvPr>
        </p:nvSpPr>
        <p:spPr/>
        <p:txBody>
          <a:bodyPr/>
          <a:lstStyle/>
          <a:p>
            <a:pPr eaLnBrk="1" hangingPunct="1"/>
            <a:r>
              <a:rPr lang="en-US" smtClean="0"/>
              <a:t>ISCED – What is it, Developments</a:t>
            </a:r>
            <a:endParaRPr lang="nb-NO" smtClean="0"/>
          </a:p>
        </p:txBody>
      </p:sp>
      <p:sp>
        <p:nvSpPr>
          <p:cNvPr id="20482" name="Plassholder for innhold 2"/>
          <p:cNvSpPr>
            <a:spLocks noGrp="1"/>
          </p:cNvSpPr>
          <p:nvPr>
            <p:ph idx="1"/>
          </p:nvPr>
        </p:nvSpPr>
        <p:spPr>
          <a:xfrm>
            <a:off x="457200" y="1340768"/>
            <a:ext cx="8229600" cy="5256584"/>
          </a:xfrm>
        </p:spPr>
        <p:txBody>
          <a:bodyPr/>
          <a:lstStyle/>
          <a:p>
            <a:pPr eaLnBrk="1" hangingPunct="1">
              <a:lnSpc>
                <a:spcPct val="70000"/>
              </a:lnSpc>
            </a:pPr>
            <a:r>
              <a:rPr lang="en-US" sz="2600" dirty="0" smtClean="0"/>
              <a:t>The International Standard for Classification of Education (ISCED) is the most advanced attempt at creating a systematic international framework for classification of educational programs and qualifications.</a:t>
            </a:r>
          </a:p>
          <a:p>
            <a:pPr eaLnBrk="1" hangingPunct="1">
              <a:lnSpc>
                <a:spcPct val="70000"/>
              </a:lnSpc>
            </a:pPr>
            <a:r>
              <a:rPr lang="en-US" sz="2600" dirty="0" smtClean="0"/>
              <a:t>UNESCO is responsible</a:t>
            </a:r>
          </a:p>
          <a:p>
            <a:pPr eaLnBrk="1" hangingPunct="1">
              <a:lnSpc>
                <a:spcPct val="70000"/>
              </a:lnSpc>
            </a:pPr>
            <a:r>
              <a:rPr lang="en-US" sz="2600" dirty="0" smtClean="0"/>
              <a:t>First version: 1976, was developed for own use, as well as for the use of other statistical agencies, e.g. the OECD. Classifies education levels.</a:t>
            </a:r>
          </a:p>
          <a:p>
            <a:pPr eaLnBrk="1" hangingPunct="1">
              <a:lnSpc>
                <a:spcPct val="70000"/>
              </a:lnSpc>
            </a:pPr>
            <a:r>
              <a:rPr lang="en-US" sz="2600" dirty="0" smtClean="0"/>
              <a:t>Second version: 1997 – allows for measuring education and training in more detail within levels. </a:t>
            </a:r>
          </a:p>
          <a:p>
            <a:pPr eaLnBrk="1" hangingPunct="1">
              <a:lnSpc>
                <a:spcPct val="70000"/>
              </a:lnSpc>
            </a:pPr>
            <a:r>
              <a:rPr lang="en-US" sz="2600" dirty="0" smtClean="0"/>
              <a:t>Third version: 2011 – released the 10</a:t>
            </a:r>
            <a:r>
              <a:rPr lang="en-US" sz="2600" baseline="30000" dirty="0" smtClean="0"/>
              <a:t>th</a:t>
            </a:r>
            <a:r>
              <a:rPr lang="en-US" sz="2600" dirty="0" smtClean="0"/>
              <a:t> of November this year. More differentiation at tertiary level. Simplification of allocation criteria. 3-digit numeric coding frames for coding of educational enrollment and educational attainment.</a:t>
            </a:r>
          </a:p>
          <a:p>
            <a:pPr eaLnBrk="1" hangingPunct="1">
              <a:lnSpc>
                <a:spcPct val="80000"/>
              </a:lnSpc>
            </a:pPr>
            <a:endParaRPr lang="nb-NO" sz="2600" dirty="0" smtClean="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rtlCol="0">
            <a:normAutofit fontScale="90000"/>
          </a:bodyPr>
          <a:lstStyle/>
          <a:p>
            <a:pPr eaLnBrk="1" fontAlgn="auto" hangingPunct="1">
              <a:spcAft>
                <a:spcPts val="0"/>
              </a:spcAft>
              <a:defRPr/>
            </a:pPr>
            <a:r>
              <a:rPr lang="nb-NO" dirty="0" err="1" smtClean="0"/>
              <a:t>Classification</a:t>
            </a:r>
            <a:r>
              <a:rPr lang="nb-NO" dirty="0" smtClean="0"/>
              <a:t> </a:t>
            </a:r>
            <a:r>
              <a:rPr lang="nb-NO" dirty="0" err="1" smtClean="0"/>
              <a:t>of</a:t>
            </a:r>
            <a:r>
              <a:rPr lang="nb-NO" dirty="0" smtClean="0"/>
              <a:t> ISCED 2011 - Purpose</a:t>
            </a:r>
            <a:endParaRPr lang="nb-NO" dirty="0"/>
          </a:p>
        </p:txBody>
      </p:sp>
      <p:sp>
        <p:nvSpPr>
          <p:cNvPr id="21506" name="Plassholder for innhold 2"/>
          <p:cNvSpPr>
            <a:spLocks noGrp="1"/>
          </p:cNvSpPr>
          <p:nvPr>
            <p:ph idx="1"/>
          </p:nvPr>
        </p:nvSpPr>
        <p:spPr>
          <a:xfrm>
            <a:off x="457200" y="1341438"/>
            <a:ext cx="8229600" cy="4525962"/>
          </a:xfrm>
        </p:spPr>
        <p:txBody>
          <a:bodyPr/>
          <a:lstStyle/>
          <a:p>
            <a:pPr eaLnBrk="1" hangingPunct="1"/>
            <a:r>
              <a:rPr lang="nb-NO" smtClean="0"/>
              <a:t>System on an abstract level</a:t>
            </a:r>
          </a:p>
          <a:p>
            <a:pPr eaLnBrk="1" hangingPunct="1"/>
            <a:r>
              <a:rPr lang="nb-NO" smtClean="0"/>
              <a:t>Captures the variance of national programmes</a:t>
            </a:r>
          </a:p>
          <a:p>
            <a:pPr eaLnBrk="1" hangingPunct="1"/>
            <a:r>
              <a:rPr lang="nb-NO" smtClean="0"/>
              <a:t>Goal: </a:t>
            </a:r>
          </a:p>
          <a:p>
            <a:pPr eaLnBrk="1" hangingPunct="1">
              <a:buFont typeface="Arial" charset="0"/>
              <a:buNone/>
            </a:pPr>
            <a:r>
              <a:rPr lang="nb-NO" smtClean="0"/>
              <a:t>	Comparability between countries</a:t>
            </a:r>
          </a:p>
          <a:p>
            <a:pPr lvl="1" eaLnBrk="1" hangingPunct="1"/>
            <a:r>
              <a:rPr lang="nb-NO" sz="3200" smtClean="0"/>
              <a:t>Heterogenity of programme systems and measurement systems </a:t>
            </a:r>
            <a:r>
              <a:rPr lang="nb-NO" sz="3200" i="1" smtClean="0"/>
              <a:t>between countries</a:t>
            </a:r>
          </a:p>
          <a:p>
            <a:pPr lvl="1" eaLnBrk="1" hangingPunct="1">
              <a:buFont typeface="Arial" charset="0"/>
              <a:buNone/>
            </a:pPr>
            <a:r>
              <a:rPr lang="nb-NO" sz="3200" smtClean="0"/>
              <a:t>Comparability within countries over time</a:t>
            </a:r>
          </a:p>
          <a:p>
            <a:pPr lvl="1" eaLnBrk="1" hangingPunct="1"/>
            <a:r>
              <a:rPr lang="nb-NO" sz="3200" smtClean="0"/>
              <a:t>Heterogenity of programme systems and measurement systems </a:t>
            </a:r>
            <a:r>
              <a:rPr lang="nb-NO" sz="3200" i="1" smtClean="0"/>
              <a:t>over time</a:t>
            </a:r>
          </a:p>
          <a:p>
            <a:pPr lvl="1" eaLnBrk="1" hangingPunct="1">
              <a:buFont typeface="Arial" charset="0"/>
              <a:buNone/>
            </a:pPr>
            <a:endParaRPr lang="nb-NO" sz="3200" smtClean="0"/>
          </a:p>
          <a:p>
            <a:pPr eaLnBrk="1" hangingPunct="1"/>
            <a:endParaRPr lang="nb-NO"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tel 1"/>
          <p:cNvSpPr>
            <a:spLocks noGrp="1"/>
          </p:cNvSpPr>
          <p:nvPr>
            <p:ph type="title"/>
          </p:nvPr>
        </p:nvSpPr>
        <p:spPr/>
        <p:txBody>
          <a:bodyPr/>
          <a:lstStyle/>
          <a:p>
            <a:pPr eaLnBrk="1" hangingPunct="1"/>
            <a:r>
              <a:rPr lang="nb-NO" smtClean="0"/>
              <a:t>Classification of ISCED 2011</a:t>
            </a:r>
          </a:p>
        </p:txBody>
      </p:sp>
      <p:sp>
        <p:nvSpPr>
          <p:cNvPr id="23554" name="Plassholder for innhold 2"/>
          <p:cNvSpPr>
            <a:spLocks noGrp="1"/>
          </p:cNvSpPr>
          <p:nvPr>
            <p:ph idx="1"/>
          </p:nvPr>
        </p:nvSpPr>
        <p:spPr/>
        <p:txBody>
          <a:bodyPr/>
          <a:lstStyle/>
          <a:p>
            <a:pPr eaLnBrk="1" hangingPunct="1">
              <a:lnSpc>
                <a:spcPct val="80000"/>
              </a:lnSpc>
            </a:pPr>
            <a:r>
              <a:rPr lang="nb-NO" sz="3000" smtClean="0"/>
              <a:t>Variants</a:t>
            </a:r>
          </a:p>
          <a:p>
            <a:pPr lvl="1" eaLnBrk="1" hangingPunct="1">
              <a:lnSpc>
                <a:spcPct val="80000"/>
              </a:lnSpc>
            </a:pPr>
            <a:r>
              <a:rPr lang="nb-NO" sz="2600" smtClean="0"/>
              <a:t>Educational programmes</a:t>
            </a:r>
          </a:p>
          <a:p>
            <a:pPr lvl="1" eaLnBrk="1" hangingPunct="1">
              <a:lnSpc>
                <a:spcPct val="80000"/>
              </a:lnSpc>
            </a:pPr>
            <a:r>
              <a:rPr lang="nb-NO" sz="2600" smtClean="0"/>
              <a:t>Educational attainment</a:t>
            </a:r>
          </a:p>
          <a:p>
            <a:pPr eaLnBrk="1" hangingPunct="1">
              <a:lnSpc>
                <a:spcPct val="80000"/>
              </a:lnSpc>
            </a:pPr>
            <a:r>
              <a:rPr lang="nb-NO" sz="3000" smtClean="0"/>
              <a:t>Numeric coding framework</a:t>
            </a:r>
          </a:p>
          <a:p>
            <a:pPr eaLnBrk="1" hangingPunct="1">
              <a:lnSpc>
                <a:spcPct val="80000"/>
              </a:lnSpc>
            </a:pPr>
            <a:r>
              <a:rPr lang="nb-NO" sz="3000" smtClean="0"/>
              <a:t>Strictly hierarchical</a:t>
            </a:r>
          </a:p>
          <a:p>
            <a:pPr lvl="1" eaLnBrk="1" hangingPunct="1">
              <a:lnSpc>
                <a:spcPct val="80000"/>
              </a:lnSpc>
            </a:pPr>
            <a:r>
              <a:rPr lang="nb-NO" sz="2600" smtClean="0"/>
              <a:t>sub-levels add to the next upper level</a:t>
            </a:r>
          </a:p>
          <a:p>
            <a:pPr eaLnBrk="1" hangingPunct="1">
              <a:lnSpc>
                <a:spcPct val="80000"/>
              </a:lnSpc>
            </a:pPr>
            <a:r>
              <a:rPr lang="nb-NO" sz="3000" smtClean="0"/>
              <a:t>3 levels (digits)</a:t>
            </a:r>
          </a:p>
          <a:p>
            <a:pPr lvl="1" eaLnBrk="1" hangingPunct="1">
              <a:lnSpc>
                <a:spcPct val="80000"/>
              </a:lnSpc>
            </a:pPr>
            <a:r>
              <a:rPr lang="nb-NO" sz="2600" smtClean="0"/>
              <a:t>Level of education</a:t>
            </a:r>
          </a:p>
          <a:p>
            <a:pPr lvl="1" eaLnBrk="1" hangingPunct="1">
              <a:lnSpc>
                <a:spcPct val="80000"/>
              </a:lnSpc>
            </a:pPr>
            <a:r>
              <a:rPr lang="nb-NO" sz="2600" smtClean="0"/>
              <a:t>Categories</a:t>
            </a:r>
          </a:p>
          <a:p>
            <a:pPr lvl="1" eaLnBrk="1" hangingPunct="1">
              <a:lnSpc>
                <a:spcPct val="80000"/>
              </a:lnSpc>
            </a:pPr>
            <a:r>
              <a:rPr lang="nb-NO" sz="2600" smtClean="0"/>
              <a:t>Sub-categories</a:t>
            </a:r>
          </a:p>
          <a:p>
            <a:pPr lvl="1" eaLnBrk="1" hangingPunct="1">
              <a:lnSpc>
                <a:spcPct val="80000"/>
              </a:lnSpc>
            </a:pPr>
            <a:endParaRPr lang="nb-NO" sz="2600" smtClean="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Plassholder for innhold 2"/>
          <p:cNvSpPr>
            <a:spLocks noGrp="1"/>
          </p:cNvSpPr>
          <p:nvPr>
            <p:ph idx="1"/>
          </p:nvPr>
        </p:nvSpPr>
        <p:spPr>
          <a:xfrm>
            <a:off x="457200" y="1600200"/>
            <a:ext cx="8229600" cy="4853136"/>
          </a:xfrm>
        </p:spPr>
        <p:txBody>
          <a:bodyPr>
            <a:normAutofit fontScale="40000" lnSpcReduction="20000"/>
          </a:bodyPr>
          <a:lstStyle/>
          <a:p>
            <a:pPr marL="400050" lvl="1" indent="0" eaLnBrk="1" hangingPunct="1">
              <a:buFont typeface="Arial" charset="0"/>
              <a:buNone/>
              <a:defRPr/>
            </a:pPr>
            <a:r>
              <a:rPr lang="en-US" dirty="0" smtClean="0"/>
              <a:t>0 Less than primary</a:t>
            </a:r>
          </a:p>
          <a:p>
            <a:pPr marL="400050" lvl="1" indent="0" eaLnBrk="1" hangingPunct="1">
              <a:buFont typeface="Arial" charset="0"/>
              <a:buNone/>
              <a:defRPr/>
            </a:pPr>
            <a:r>
              <a:rPr lang="en-US" dirty="0" smtClean="0"/>
              <a:t>…</a:t>
            </a:r>
          </a:p>
          <a:p>
            <a:pPr marL="400050" lvl="1" indent="0" eaLnBrk="1" hangingPunct="1">
              <a:buFont typeface="Arial" charset="0"/>
              <a:buNone/>
              <a:defRPr/>
            </a:pPr>
            <a:r>
              <a:rPr lang="en-US" dirty="0" smtClean="0"/>
              <a:t>1 Primary</a:t>
            </a:r>
          </a:p>
          <a:p>
            <a:pPr marL="400050" lvl="1" indent="0" eaLnBrk="1" hangingPunct="1">
              <a:buFont typeface="Arial" charset="0"/>
              <a:buNone/>
              <a:defRPr/>
            </a:pPr>
            <a:r>
              <a:rPr lang="en-US" dirty="0" smtClean="0"/>
              <a:t>…</a:t>
            </a:r>
          </a:p>
          <a:p>
            <a:pPr marL="400050" lvl="1" indent="0" eaLnBrk="1" hangingPunct="1">
              <a:buFont typeface="Arial" charset="0"/>
              <a:buNone/>
              <a:defRPr/>
            </a:pPr>
            <a:r>
              <a:rPr lang="en-US" sz="3500" b="1" dirty="0" smtClean="0"/>
              <a:t>2 Lower secondary</a:t>
            </a:r>
          </a:p>
          <a:p>
            <a:pPr marL="400050" lvl="1" indent="0" eaLnBrk="1" hangingPunct="1">
              <a:buFont typeface="Arial" charset="0"/>
              <a:buNone/>
              <a:defRPr/>
            </a:pPr>
            <a:r>
              <a:rPr lang="en-US" sz="3500" b="1" dirty="0" smtClean="0"/>
              <a:t>	24</a:t>
            </a:r>
            <a:r>
              <a:rPr lang="en-US" sz="3500" b="1" dirty="0"/>
              <a:t> </a:t>
            </a:r>
            <a:r>
              <a:rPr lang="en-US" sz="3500" b="1" dirty="0" smtClean="0"/>
              <a:t>general</a:t>
            </a:r>
          </a:p>
          <a:p>
            <a:pPr marL="400050" lvl="1" indent="0" eaLnBrk="1" hangingPunct="1">
              <a:buFont typeface="Arial" charset="0"/>
              <a:buNone/>
              <a:defRPr/>
            </a:pPr>
            <a:r>
              <a:rPr lang="en-US" sz="3500" b="1" dirty="0" smtClean="0"/>
              <a:t>		242 partial level completion and without direct access to upper secondary</a:t>
            </a:r>
          </a:p>
          <a:p>
            <a:pPr marL="400050" lvl="1" indent="0" eaLnBrk="1" hangingPunct="1">
              <a:buFont typeface="Arial" charset="0"/>
              <a:buNone/>
              <a:defRPr/>
            </a:pPr>
            <a:r>
              <a:rPr lang="en-US" sz="3500" b="1" dirty="0" smtClean="0"/>
              <a:t>		243 level completion, without direct access to upper secondary</a:t>
            </a:r>
          </a:p>
          <a:p>
            <a:pPr marL="400050" lvl="1" indent="0" eaLnBrk="1" hangingPunct="1">
              <a:buFont typeface="Arial" charset="0"/>
              <a:buNone/>
              <a:defRPr/>
            </a:pPr>
            <a:r>
              <a:rPr lang="en-US" sz="3500" b="1" dirty="0" smtClean="0"/>
              <a:t>		244 level completion, with direct access to upper secondary</a:t>
            </a:r>
          </a:p>
          <a:p>
            <a:pPr marL="400050" lvl="1" indent="0" eaLnBrk="1" hangingPunct="1">
              <a:buFont typeface="Arial" charset="0"/>
              <a:buNone/>
              <a:defRPr/>
            </a:pPr>
            <a:r>
              <a:rPr lang="en-US" sz="3500" b="1" dirty="0" smtClean="0"/>
              <a:t>	25 vocational</a:t>
            </a:r>
          </a:p>
          <a:p>
            <a:pPr marL="400050" lvl="1" indent="0" eaLnBrk="1" hangingPunct="1">
              <a:buFont typeface="Arial" charset="0"/>
              <a:buNone/>
              <a:defRPr/>
            </a:pPr>
            <a:r>
              <a:rPr lang="en-US" sz="3500" b="1" dirty="0" smtClean="0"/>
              <a:t>		252 partial level completion and without direct access to upper secondary</a:t>
            </a:r>
          </a:p>
          <a:p>
            <a:pPr marL="400050" lvl="1" indent="0" eaLnBrk="1" hangingPunct="1">
              <a:buFont typeface="Arial" charset="0"/>
              <a:buNone/>
              <a:defRPr/>
            </a:pPr>
            <a:r>
              <a:rPr lang="en-US" sz="3500" b="1" dirty="0" smtClean="0"/>
              <a:t>		253 level completion, without direct access to upper secondary</a:t>
            </a:r>
          </a:p>
          <a:p>
            <a:pPr marL="400050" lvl="1" indent="0" eaLnBrk="1" hangingPunct="1">
              <a:buFont typeface="Arial" charset="0"/>
              <a:buNone/>
              <a:defRPr/>
            </a:pPr>
            <a:r>
              <a:rPr lang="en-US" sz="3500" b="1" dirty="0" smtClean="0"/>
              <a:t>		254 level completion, with direct access to upper secondary</a:t>
            </a:r>
          </a:p>
          <a:p>
            <a:pPr marL="400050" lvl="1" indent="0" eaLnBrk="1" hangingPunct="1">
              <a:buFont typeface="Arial" charset="0"/>
              <a:buNone/>
              <a:defRPr/>
            </a:pPr>
            <a:r>
              <a:rPr lang="en-US" dirty="0" smtClean="0"/>
              <a:t>3 Upper secondary</a:t>
            </a:r>
          </a:p>
          <a:p>
            <a:pPr marL="400050" lvl="1" indent="0" eaLnBrk="1" hangingPunct="1">
              <a:buFont typeface="Arial" charset="0"/>
              <a:buNone/>
              <a:defRPr/>
            </a:pPr>
            <a:r>
              <a:rPr lang="en-US" dirty="0" smtClean="0"/>
              <a:t>…</a:t>
            </a:r>
          </a:p>
          <a:p>
            <a:pPr marL="400050" lvl="1" indent="0" eaLnBrk="1" hangingPunct="1">
              <a:buFont typeface="Arial" charset="0"/>
              <a:buNone/>
              <a:defRPr/>
            </a:pPr>
            <a:r>
              <a:rPr lang="en-US" dirty="0" smtClean="0"/>
              <a:t>4 Post-secondary non-tertiary</a:t>
            </a:r>
          </a:p>
          <a:p>
            <a:pPr marL="400050" lvl="1" indent="0" eaLnBrk="1" hangingPunct="1">
              <a:buFont typeface="Arial" charset="0"/>
              <a:buNone/>
              <a:defRPr/>
            </a:pPr>
            <a:r>
              <a:rPr lang="en-US" dirty="0" smtClean="0"/>
              <a:t>…</a:t>
            </a:r>
          </a:p>
          <a:p>
            <a:pPr marL="400050" lvl="1" indent="0" eaLnBrk="1" hangingPunct="1">
              <a:buFont typeface="Arial" charset="0"/>
              <a:buNone/>
              <a:defRPr/>
            </a:pPr>
            <a:r>
              <a:rPr lang="en-US" dirty="0" smtClean="0"/>
              <a:t>5 Short-cycle tertiary</a:t>
            </a:r>
          </a:p>
          <a:p>
            <a:pPr marL="400050" lvl="1" indent="0" eaLnBrk="1" hangingPunct="1">
              <a:buFont typeface="Arial" charset="0"/>
              <a:buNone/>
              <a:defRPr/>
            </a:pPr>
            <a:r>
              <a:rPr lang="en-US" dirty="0" smtClean="0"/>
              <a:t>…</a:t>
            </a:r>
          </a:p>
          <a:p>
            <a:pPr marL="400050" lvl="1" indent="0" eaLnBrk="1" hangingPunct="1">
              <a:buFont typeface="Arial" charset="0"/>
              <a:buNone/>
              <a:defRPr/>
            </a:pPr>
            <a:r>
              <a:rPr lang="en-US" dirty="0" smtClean="0"/>
              <a:t>6 Bachelor or equivalent</a:t>
            </a:r>
          </a:p>
          <a:p>
            <a:pPr marL="400050" lvl="1" indent="0" eaLnBrk="1" hangingPunct="1">
              <a:buFont typeface="Arial" charset="0"/>
              <a:buNone/>
              <a:defRPr/>
            </a:pPr>
            <a:r>
              <a:rPr lang="en-US" dirty="0" smtClean="0"/>
              <a:t>…</a:t>
            </a:r>
          </a:p>
          <a:p>
            <a:pPr marL="400050" lvl="1" indent="0" eaLnBrk="1" hangingPunct="1">
              <a:buFont typeface="Arial" charset="0"/>
              <a:buNone/>
              <a:defRPr/>
            </a:pPr>
            <a:r>
              <a:rPr lang="en-US" dirty="0" smtClean="0"/>
              <a:t>7 Master or equivalent</a:t>
            </a:r>
          </a:p>
          <a:p>
            <a:pPr marL="400050" lvl="1" indent="0" eaLnBrk="1" hangingPunct="1">
              <a:buFont typeface="Arial" charset="0"/>
              <a:buNone/>
              <a:defRPr/>
            </a:pPr>
            <a:r>
              <a:rPr lang="en-US" dirty="0" smtClean="0"/>
              <a:t>…</a:t>
            </a:r>
          </a:p>
          <a:p>
            <a:pPr marL="400050" lvl="1" indent="0" eaLnBrk="1" hangingPunct="1">
              <a:buFont typeface="Arial" charset="0"/>
              <a:buNone/>
              <a:defRPr/>
            </a:pPr>
            <a:r>
              <a:rPr lang="en-US" dirty="0" smtClean="0"/>
              <a:t>8 Doctoral or equivalent</a:t>
            </a:r>
          </a:p>
          <a:p>
            <a:pPr marL="400050" lvl="1" indent="0" eaLnBrk="1" hangingPunct="1">
              <a:buFont typeface="Arial" charset="0"/>
              <a:buNone/>
              <a:defRPr/>
            </a:pPr>
            <a:r>
              <a:rPr lang="en-US" dirty="0" smtClean="0"/>
              <a:t>…</a:t>
            </a:r>
          </a:p>
          <a:p>
            <a:pPr marL="400050" lvl="1" indent="0" eaLnBrk="1" hangingPunct="1">
              <a:buFont typeface="Arial" charset="0"/>
              <a:buNone/>
              <a:defRPr/>
            </a:pPr>
            <a:r>
              <a:rPr lang="en-US" dirty="0" smtClean="0"/>
              <a:t>9 Not elsewhere classified</a:t>
            </a:r>
            <a:endParaRPr lang="nb-NO" dirty="0" smtClean="0"/>
          </a:p>
          <a:p>
            <a:pPr marL="0" indent="0" eaLnBrk="1" hangingPunct="1">
              <a:buFont typeface="Arial" charset="0"/>
              <a:buNone/>
              <a:defRPr/>
            </a:pPr>
            <a:endParaRPr lang="nb-NO" dirty="0"/>
          </a:p>
        </p:txBody>
      </p:sp>
      <p:sp>
        <p:nvSpPr>
          <p:cNvPr id="2" name="Tittel 1"/>
          <p:cNvSpPr>
            <a:spLocks noGrp="1"/>
          </p:cNvSpPr>
          <p:nvPr>
            <p:ph type="title"/>
          </p:nvPr>
        </p:nvSpPr>
        <p:spPr/>
        <p:txBody>
          <a:bodyPr rtlCol="0">
            <a:normAutofit fontScale="90000"/>
          </a:bodyPr>
          <a:lstStyle/>
          <a:p>
            <a:pPr eaLnBrk="1" fontAlgn="auto" hangingPunct="1">
              <a:spcAft>
                <a:spcPts val="0"/>
              </a:spcAft>
              <a:defRPr/>
            </a:pPr>
            <a:r>
              <a:rPr lang="nb-NO" dirty="0" err="1" smtClean="0"/>
              <a:t>Classification</a:t>
            </a:r>
            <a:r>
              <a:rPr lang="nb-NO" dirty="0" smtClean="0"/>
              <a:t> </a:t>
            </a:r>
            <a:r>
              <a:rPr lang="nb-NO" dirty="0" err="1" smtClean="0"/>
              <a:t>of</a:t>
            </a:r>
            <a:r>
              <a:rPr lang="nb-NO" dirty="0" smtClean="0"/>
              <a:t> ISCED 2011 - </a:t>
            </a:r>
            <a:r>
              <a:rPr lang="nb-NO" dirty="0" err="1"/>
              <a:t>E</a:t>
            </a:r>
            <a:r>
              <a:rPr lang="nb-NO" dirty="0" err="1" smtClean="0"/>
              <a:t>xtract</a:t>
            </a:r>
            <a:endParaRPr lang="nb-NO"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Tittel 1"/>
          <p:cNvSpPr>
            <a:spLocks noGrp="1"/>
          </p:cNvSpPr>
          <p:nvPr>
            <p:ph type="title"/>
          </p:nvPr>
        </p:nvSpPr>
        <p:spPr/>
        <p:txBody>
          <a:bodyPr/>
          <a:lstStyle/>
          <a:p>
            <a:pPr eaLnBrk="1" hangingPunct="1"/>
            <a:r>
              <a:rPr lang="nb-NO" smtClean="0"/>
              <a:t>ISCED 2011 - Complete Standard</a:t>
            </a:r>
          </a:p>
        </p:txBody>
      </p:sp>
      <p:sp>
        <p:nvSpPr>
          <p:cNvPr id="27650" name="Plassholder for innhold 2"/>
          <p:cNvSpPr>
            <a:spLocks noGrp="1"/>
          </p:cNvSpPr>
          <p:nvPr>
            <p:ph idx="1"/>
          </p:nvPr>
        </p:nvSpPr>
        <p:spPr/>
        <p:txBody>
          <a:bodyPr/>
          <a:lstStyle/>
          <a:p>
            <a:pPr eaLnBrk="1" hangingPunct="1"/>
            <a:r>
              <a:rPr lang="nb-NO" smtClean="0"/>
              <a:t>Three components:</a:t>
            </a:r>
          </a:p>
          <a:p>
            <a:pPr lvl="1" eaLnBrk="1" hangingPunct="1"/>
            <a:r>
              <a:rPr lang="nb-NO" smtClean="0"/>
              <a:t>Classification</a:t>
            </a:r>
          </a:p>
          <a:p>
            <a:pPr lvl="1" eaLnBrk="1" hangingPunct="1"/>
            <a:r>
              <a:rPr lang="nb-NO" smtClean="0"/>
              <a:t>Operational concepts and definitions as structured text</a:t>
            </a:r>
          </a:p>
          <a:p>
            <a:pPr lvl="1" eaLnBrk="1" hangingPunct="1"/>
            <a:r>
              <a:rPr lang="nb-NO" smtClean="0"/>
              <a:t>Mappings of national programs to classification</a:t>
            </a:r>
          </a:p>
          <a:p>
            <a:pPr lvl="2" eaLnBrk="1" hangingPunct="1"/>
            <a:r>
              <a:rPr lang="nb-NO" smtClean="0"/>
              <a:t>Required for usage in official statistics and surveys, especially to achieve comparability</a:t>
            </a:r>
          </a:p>
          <a:p>
            <a:pPr lvl="2" eaLnBrk="1" hangingPunct="1"/>
            <a:r>
              <a:rPr lang="nb-NO" smtClean="0"/>
              <a:t>Not available yet, planned for the next few years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rtlCol="0">
            <a:normAutofit fontScale="90000"/>
          </a:bodyPr>
          <a:lstStyle/>
          <a:p>
            <a:pPr eaLnBrk="1" fontAlgn="auto" hangingPunct="1">
              <a:spcAft>
                <a:spcPts val="0"/>
              </a:spcAft>
              <a:defRPr/>
            </a:pPr>
            <a:r>
              <a:rPr lang="nb-NO" dirty="0" smtClean="0"/>
              <a:t>ISCED 2011 Definitions – </a:t>
            </a:r>
            <a:r>
              <a:rPr lang="nb-NO" dirty="0" err="1" smtClean="0"/>
              <a:t>Example</a:t>
            </a:r>
            <a:r>
              <a:rPr lang="nb-NO" dirty="0" smtClean="0"/>
              <a:t/>
            </a:r>
            <a:br>
              <a:rPr lang="nb-NO" dirty="0" smtClean="0"/>
            </a:br>
            <a:r>
              <a:rPr lang="nb-NO" dirty="0" smtClean="0"/>
              <a:t>Level 5 – </a:t>
            </a:r>
            <a:r>
              <a:rPr lang="nb-NO" dirty="0" err="1" smtClean="0"/>
              <a:t>short-cycle</a:t>
            </a:r>
            <a:r>
              <a:rPr lang="nb-NO" dirty="0" smtClean="0"/>
              <a:t> </a:t>
            </a:r>
            <a:r>
              <a:rPr lang="nb-NO" dirty="0" err="1" smtClean="0"/>
              <a:t>tertiary</a:t>
            </a:r>
            <a:endParaRPr lang="nb-NO" dirty="0"/>
          </a:p>
        </p:txBody>
      </p:sp>
      <p:sp>
        <p:nvSpPr>
          <p:cNvPr id="3" name="Plassholder for innhold 2"/>
          <p:cNvSpPr>
            <a:spLocks noGrp="1"/>
          </p:cNvSpPr>
          <p:nvPr>
            <p:ph idx="1"/>
          </p:nvPr>
        </p:nvSpPr>
        <p:spPr/>
        <p:txBody>
          <a:bodyPr rtlCol="0">
            <a:normAutofit fontScale="77500" lnSpcReduction="20000"/>
          </a:bodyPr>
          <a:lstStyle/>
          <a:p>
            <a:pPr eaLnBrk="1" fontAlgn="auto" hangingPunct="1">
              <a:spcAft>
                <a:spcPts val="0"/>
              </a:spcAft>
              <a:buFont typeface="Arial" pitchFamily="34" charset="0"/>
              <a:buChar char="•"/>
              <a:defRPr/>
            </a:pPr>
            <a:r>
              <a:rPr lang="en-US" dirty="0" smtClean="0"/>
              <a:t>B. CLASSIFICATION CRITERIA</a:t>
            </a:r>
          </a:p>
          <a:p>
            <a:pPr lvl="1" eaLnBrk="1" fontAlgn="auto" hangingPunct="1">
              <a:spcAft>
                <a:spcPts val="0"/>
              </a:spcAft>
              <a:buFont typeface="Arial" pitchFamily="34" charset="0"/>
              <a:buChar char="–"/>
              <a:defRPr/>
            </a:pPr>
            <a:r>
              <a:rPr lang="en-US" dirty="0" smtClean="0"/>
              <a:t>211. For the definition of short-cycle tertiary, the following criteria are relevant:</a:t>
            </a:r>
          </a:p>
          <a:p>
            <a:pPr lvl="1" eaLnBrk="1" fontAlgn="auto" hangingPunct="1">
              <a:spcAft>
                <a:spcPts val="0"/>
              </a:spcAft>
              <a:buFont typeface="Arial" pitchFamily="34" charset="0"/>
              <a:buChar char="–"/>
              <a:defRPr/>
            </a:pPr>
            <a:r>
              <a:rPr lang="en-US" dirty="0" smtClean="0"/>
              <a:t>Main criteria</a:t>
            </a:r>
          </a:p>
          <a:p>
            <a:pPr lvl="2" eaLnBrk="1" fontAlgn="auto" hangingPunct="1">
              <a:spcAft>
                <a:spcPts val="0"/>
              </a:spcAft>
              <a:buFont typeface="Arial" pitchFamily="34" charset="0"/>
              <a:buChar char="•"/>
              <a:defRPr/>
            </a:pPr>
            <a:r>
              <a:rPr lang="en-US" dirty="0" smtClean="0"/>
              <a:t>a. Content of short-cycle tertiary </a:t>
            </a:r>
            <a:r>
              <a:rPr lang="en-US" dirty="0" err="1" smtClean="0"/>
              <a:t>programmes</a:t>
            </a:r>
            <a:r>
              <a:rPr lang="en-US" dirty="0" smtClean="0"/>
              <a:t> (see Paragraph 212);</a:t>
            </a:r>
          </a:p>
          <a:p>
            <a:pPr lvl="2" eaLnBrk="1" fontAlgn="auto" hangingPunct="1">
              <a:spcAft>
                <a:spcPts val="0"/>
              </a:spcAft>
              <a:buFont typeface="Arial" pitchFamily="34" charset="0"/>
              <a:buChar char="•"/>
              <a:defRPr/>
            </a:pPr>
            <a:r>
              <a:rPr lang="en-US" dirty="0" smtClean="0"/>
              <a:t>b. Entry requirements (see Paragraph 208); and</a:t>
            </a:r>
          </a:p>
          <a:p>
            <a:pPr lvl="2" eaLnBrk="1" fontAlgn="auto" hangingPunct="1">
              <a:spcAft>
                <a:spcPts val="0"/>
              </a:spcAft>
              <a:buFont typeface="Arial" pitchFamily="34" charset="0"/>
              <a:buChar char="•"/>
              <a:defRPr/>
            </a:pPr>
            <a:r>
              <a:rPr lang="en-US" dirty="0" smtClean="0"/>
              <a:t>c. Minimum duration of </a:t>
            </a:r>
            <a:r>
              <a:rPr lang="en-US" dirty="0" err="1" smtClean="0"/>
              <a:t>programme</a:t>
            </a:r>
            <a:r>
              <a:rPr lang="en-US" dirty="0" smtClean="0"/>
              <a:t> (see Paragraph 213).</a:t>
            </a:r>
          </a:p>
          <a:p>
            <a:pPr marL="457200" lvl="1" indent="0" eaLnBrk="1" fontAlgn="auto" hangingPunct="1">
              <a:spcAft>
                <a:spcPts val="0"/>
              </a:spcAft>
              <a:buFont typeface="Arial" pitchFamily="34" charset="0"/>
              <a:buNone/>
              <a:defRPr/>
            </a:pPr>
            <a:r>
              <a:rPr lang="en-US" dirty="0" smtClean="0"/>
              <a:t>…</a:t>
            </a:r>
          </a:p>
          <a:p>
            <a:pPr eaLnBrk="1" fontAlgn="auto" hangingPunct="1">
              <a:spcAft>
                <a:spcPts val="0"/>
              </a:spcAft>
              <a:buFont typeface="Arial" pitchFamily="34" charset="0"/>
              <a:buChar char="•"/>
              <a:defRPr/>
            </a:pPr>
            <a:r>
              <a:rPr lang="en-US" dirty="0" smtClean="0"/>
              <a:t>D. COMPLEMENTARY DIMENSIONS</a:t>
            </a:r>
          </a:p>
          <a:p>
            <a:pPr lvl="1" eaLnBrk="1" fontAlgn="auto" hangingPunct="1">
              <a:spcAft>
                <a:spcPts val="0"/>
              </a:spcAft>
              <a:buFont typeface="Arial" pitchFamily="34" charset="0"/>
              <a:buChar char="–"/>
              <a:defRPr/>
            </a:pPr>
            <a:r>
              <a:rPr lang="en-US" dirty="0" smtClean="0"/>
              <a:t>216. Two dimensions differentiate educational </a:t>
            </a:r>
            <a:r>
              <a:rPr lang="en-US" dirty="0" err="1" smtClean="0"/>
              <a:t>programmes</a:t>
            </a:r>
            <a:r>
              <a:rPr lang="en-US" dirty="0" smtClean="0"/>
              <a:t> at ISCED level 5:</a:t>
            </a:r>
          </a:p>
          <a:p>
            <a:pPr lvl="2" eaLnBrk="1" fontAlgn="auto" hangingPunct="1">
              <a:spcAft>
                <a:spcPts val="0"/>
              </a:spcAft>
              <a:buFont typeface="Arial" pitchFamily="34" charset="0"/>
              <a:buChar char="•"/>
              <a:defRPr/>
            </a:pPr>
            <a:r>
              <a:rPr lang="en-US" dirty="0" err="1" smtClean="0"/>
              <a:t>Programme</a:t>
            </a:r>
            <a:r>
              <a:rPr lang="en-US" dirty="0" smtClean="0"/>
              <a:t> orientation (see Paragraph 217); and</a:t>
            </a:r>
          </a:p>
          <a:p>
            <a:pPr lvl="2" eaLnBrk="1" fontAlgn="auto" hangingPunct="1">
              <a:spcAft>
                <a:spcPts val="0"/>
              </a:spcAft>
              <a:buFont typeface="Arial" pitchFamily="34" charset="0"/>
              <a:buChar char="•"/>
              <a:defRPr/>
            </a:pPr>
            <a:r>
              <a:rPr lang="en-US" dirty="0" smtClean="0"/>
              <a:t>Level completion (see Paragraph 218).</a:t>
            </a:r>
          </a:p>
          <a:p>
            <a:pPr marL="457200" lvl="1" indent="0" eaLnBrk="1" fontAlgn="auto" hangingPunct="1">
              <a:spcAft>
                <a:spcPts val="0"/>
              </a:spcAft>
              <a:buFont typeface="Arial" pitchFamily="34" charset="0"/>
              <a:buNone/>
              <a:defRPr/>
            </a:pPr>
            <a:r>
              <a:rPr lang="en-US" dirty="0" smtClean="0"/>
              <a:t>…</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tel 1"/>
          <p:cNvSpPr>
            <a:spLocks noGrp="1"/>
          </p:cNvSpPr>
          <p:nvPr>
            <p:ph type="title"/>
          </p:nvPr>
        </p:nvSpPr>
        <p:spPr>
          <a:xfrm>
            <a:off x="457200" y="-26988"/>
            <a:ext cx="8229600" cy="1143001"/>
          </a:xfrm>
        </p:spPr>
        <p:txBody>
          <a:bodyPr/>
          <a:lstStyle/>
          <a:p>
            <a:pPr eaLnBrk="1" hangingPunct="1"/>
            <a:r>
              <a:rPr lang="nb-NO" smtClean="0"/>
              <a:t>Mapping Example of ISCED 1997</a:t>
            </a:r>
          </a:p>
        </p:txBody>
      </p:sp>
      <p:graphicFrame>
        <p:nvGraphicFramePr>
          <p:cNvPr id="3" name="Tabell 2"/>
          <p:cNvGraphicFramePr>
            <a:graphicFrameLocks noGrp="1"/>
          </p:cNvGraphicFramePr>
          <p:nvPr/>
        </p:nvGraphicFramePr>
        <p:xfrm>
          <a:off x="468313" y="981075"/>
          <a:ext cx="8208912" cy="5749290"/>
        </p:xfrm>
        <a:graphic>
          <a:graphicData uri="http://schemas.openxmlformats.org/drawingml/2006/table">
            <a:tbl>
              <a:tblPr firstRow="1" bandRow="1">
                <a:tableStyleId>{5C22544A-7EE6-4342-B048-85BDC9FD1C3A}</a:tableStyleId>
              </a:tblPr>
              <a:tblGrid>
                <a:gridCol w="2736304"/>
                <a:gridCol w="2736304"/>
                <a:gridCol w="2736304"/>
              </a:tblGrid>
              <a:tr h="0">
                <a:tc>
                  <a:txBody>
                    <a:bodyPr/>
                    <a:lstStyle/>
                    <a:p>
                      <a:r>
                        <a:rPr lang="nb-NO" dirty="0" smtClean="0"/>
                        <a:t>ISCED</a:t>
                      </a:r>
                      <a:r>
                        <a:rPr lang="nb-NO" baseline="0" dirty="0" smtClean="0"/>
                        <a:t> alpha-</a:t>
                      </a:r>
                      <a:r>
                        <a:rPr lang="nb-NO" baseline="0" dirty="0" err="1" smtClean="0"/>
                        <a:t>numeric</a:t>
                      </a:r>
                      <a:r>
                        <a:rPr lang="nb-NO" baseline="0" dirty="0" smtClean="0"/>
                        <a:t> </a:t>
                      </a:r>
                      <a:r>
                        <a:rPr lang="nb-NO" baseline="0" dirty="0" err="1" smtClean="0"/>
                        <a:t>code</a:t>
                      </a:r>
                      <a:endParaRPr lang="nb-NO" dirty="0"/>
                    </a:p>
                  </a:txBody>
                  <a:tcPr/>
                </a:tc>
                <a:tc>
                  <a:txBody>
                    <a:bodyPr/>
                    <a:lstStyle/>
                    <a:p>
                      <a:r>
                        <a:rPr lang="nb-NO" dirty="0" smtClean="0"/>
                        <a:t>Germany</a:t>
                      </a:r>
                      <a:endParaRPr lang="nb-NO" dirty="0"/>
                    </a:p>
                  </a:txBody>
                  <a:tcPr/>
                </a:tc>
                <a:tc>
                  <a:txBody>
                    <a:bodyPr/>
                    <a:lstStyle/>
                    <a:p>
                      <a:r>
                        <a:rPr lang="nb-NO" dirty="0" smtClean="0"/>
                        <a:t>USA</a:t>
                      </a:r>
                      <a:endParaRPr lang="nb-NO" dirty="0"/>
                    </a:p>
                  </a:txBody>
                  <a:tcPr/>
                </a:tc>
              </a:tr>
              <a:tr h="252000">
                <a:tc>
                  <a:txBody>
                    <a:bodyPr/>
                    <a:lstStyle/>
                    <a:p>
                      <a:r>
                        <a:rPr lang="nb-NO" sz="1400" dirty="0" smtClean="0"/>
                        <a:t>5</a:t>
                      </a:r>
                      <a:endParaRPr lang="nb-NO" sz="1400" dirty="0"/>
                    </a:p>
                  </a:txBody>
                  <a:tcPr/>
                </a:tc>
                <a:tc>
                  <a:txBody>
                    <a:bodyPr/>
                    <a:lstStyle/>
                    <a:p>
                      <a:pPr algn="l" fontAlgn="ctr"/>
                      <a:endParaRPr lang="nb-NO" sz="1300" b="0" i="0" u="none" strike="noStrike" dirty="0">
                        <a:solidFill>
                          <a:srgbClr val="000000"/>
                        </a:solidFill>
                        <a:effectLst/>
                        <a:latin typeface="+mj-lt"/>
                      </a:endParaRPr>
                    </a:p>
                  </a:txBody>
                  <a:tcPr marL="428625" marR="9525" marT="9525" marB="0" anchor="ctr"/>
                </a:tc>
                <a:tc>
                  <a:txBody>
                    <a:bodyPr/>
                    <a:lstStyle/>
                    <a:p>
                      <a:endParaRPr lang="nb-NO" dirty="0"/>
                    </a:p>
                  </a:txBody>
                  <a:tcPr/>
                </a:tc>
              </a:tr>
              <a:tr h="252000">
                <a:tc>
                  <a:txBody>
                    <a:bodyPr/>
                    <a:lstStyle/>
                    <a:p>
                      <a:r>
                        <a:rPr lang="nb-NO" sz="1400" smtClean="0"/>
                        <a:t>     </a:t>
                      </a:r>
                      <a:r>
                        <a:rPr lang="nb-NO" sz="1400" dirty="0" smtClean="0"/>
                        <a:t>5B</a:t>
                      </a:r>
                      <a:endParaRPr lang="nb-NO" sz="1400" dirty="0"/>
                    </a:p>
                  </a:txBody>
                  <a:tcPr/>
                </a:tc>
                <a:tc>
                  <a:txBody>
                    <a:bodyPr/>
                    <a:lstStyle/>
                    <a:p>
                      <a:pPr algn="l" fontAlgn="ctr"/>
                      <a:endParaRPr lang="nb-NO" sz="1300" b="0" i="0" u="none" strike="noStrike" dirty="0">
                        <a:solidFill>
                          <a:srgbClr val="000000"/>
                        </a:solidFill>
                        <a:effectLst/>
                        <a:latin typeface="+mj-lt"/>
                      </a:endParaRPr>
                    </a:p>
                  </a:txBody>
                  <a:tcPr marL="428625" marR="9525" marT="9525" marB="0" anchor="ctr"/>
                </a:tc>
                <a:tc>
                  <a:txBody>
                    <a:bodyPr/>
                    <a:lstStyle/>
                    <a:p>
                      <a:pPr algn="l"/>
                      <a:endParaRPr lang="nb-NO" dirty="0"/>
                    </a:p>
                  </a:txBody>
                  <a:tcPr/>
                </a:tc>
              </a:tr>
              <a:tr h="252000">
                <a:tc>
                  <a:txBody>
                    <a:bodyPr/>
                    <a:lstStyle/>
                    <a:p>
                      <a:r>
                        <a:rPr lang="nb-NO" sz="1400" smtClean="0"/>
                        <a:t>          5B1</a:t>
                      </a:r>
                      <a:endParaRPr lang="nb-NO" sz="1400" dirty="0"/>
                    </a:p>
                  </a:txBody>
                  <a:tcPr/>
                </a:tc>
                <a:tc>
                  <a:txBody>
                    <a:bodyPr/>
                    <a:lstStyle/>
                    <a:p>
                      <a:pPr algn="l" fontAlgn="ctr"/>
                      <a:endParaRPr lang="nb-NO" sz="1300" b="0" i="0" u="none" strike="noStrike" dirty="0">
                        <a:solidFill>
                          <a:srgbClr val="000000"/>
                        </a:solidFill>
                        <a:effectLst/>
                        <a:latin typeface="+mj-lt"/>
                      </a:endParaRPr>
                    </a:p>
                  </a:txBody>
                  <a:tcPr marL="428625" marR="9525" marT="9525" marB="0" anchor="ctr"/>
                </a:tc>
                <a:tc>
                  <a:txBody>
                    <a:bodyPr/>
                    <a:lstStyle/>
                    <a:p>
                      <a:endParaRPr lang="nb-NO" sz="1300" dirty="0">
                        <a:latin typeface="+mj-lt"/>
                      </a:endParaRPr>
                    </a:p>
                  </a:txBody>
                  <a:tcPr/>
                </a:tc>
              </a:tr>
              <a:tr h="252000">
                <a:tc>
                  <a:txBody>
                    <a:bodyPr/>
                    <a:lstStyle/>
                    <a:p>
                      <a:r>
                        <a:rPr lang="nb-NO" sz="1400" smtClean="0"/>
                        <a:t>               </a:t>
                      </a:r>
                      <a:r>
                        <a:rPr lang="nb-NO" sz="1400" dirty="0" smtClean="0"/>
                        <a:t>5B1sh or 5B1me</a:t>
                      </a:r>
                      <a:endParaRPr lang="nb-NO" sz="1400" dirty="0"/>
                    </a:p>
                  </a:txBody>
                  <a:tcPr/>
                </a:tc>
                <a:tc>
                  <a:txBody>
                    <a:bodyPr/>
                    <a:lstStyle/>
                    <a:p>
                      <a:pPr algn="l" fontAlgn="ctr"/>
                      <a:r>
                        <a:rPr lang="nb-NO" sz="1300" b="0" i="0" u="none" strike="noStrike" dirty="0">
                          <a:solidFill>
                            <a:srgbClr val="000000"/>
                          </a:solidFill>
                          <a:effectLst/>
                          <a:latin typeface="+mj-lt"/>
                        </a:rPr>
                        <a:t>29 </a:t>
                      </a:r>
                      <a:r>
                        <a:rPr lang="nb-NO" sz="1300" b="0" i="0" u="none" strike="noStrike" dirty="0" err="1">
                          <a:solidFill>
                            <a:srgbClr val="000000"/>
                          </a:solidFill>
                          <a:effectLst/>
                          <a:latin typeface="+mj-lt"/>
                        </a:rPr>
                        <a:t>Fachakademien</a:t>
                      </a:r>
                      <a:r>
                        <a:rPr lang="nb-NO" sz="1300" b="0" i="0" u="none" strike="noStrike" dirty="0">
                          <a:solidFill>
                            <a:srgbClr val="000000"/>
                          </a:solidFill>
                          <a:effectLst/>
                          <a:latin typeface="+mj-lt"/>
                        </a:rPr>
                        <a:t> (Bayern)</a:t>
                      </a:r>
                    </a:p>
                  </a:txBody>
                  <a:tcPr marL="428625" marR="9525" marT="9525" marB="0" anchor="ctr"/>
                </a:tc>
                <a:tc>
                  <a:txBody>
                    <a:bodyPr/>
                    <a:lstStyle/>
                    <a:p>
                      <a:endParaRPr lang="nb-NO" sz="1300" dirty="0">
                        <a:latin typeface="+mj-lt"/>
                      </a:endParaRPr>
                    </a:p>
                  </a:txBody>
                  <a:tcPr/>
                </a:tc>
              </a:tr>
              <a:tr h="252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b-NO" sz="1400" smtClean="0"/>
                        <a:t>               </a:t>
                      </a:r>
                      <a:r>
                        <a:rPr lang="nb-NO" sz="1400" dirty="0" smtClean="0"/>
                        <a:t>5B1sh or 5B1me</a:t>
                      </a:r>
                    </a:p>
                  </a:txBody>
                  <a:tcPr/>
                </a:tc>
                <a:tc>
                  <a:txBody>
                    <a:bodyPr/>
                    <a:lstStyle/>
                    <a:p>
                      <a:pPr algn="l" fontAlgn="ctr"/>
                      <a:r>
                        <a:rPr lang="de-DE" sz="1300" b="0" i="0" u="none" strike="noStrike">
                          <a:solidFill>
                            <a:srgbClr val="000000"/>
                          </a:solidFill>
                          <a:effectLst/>
                          <a:latin typeface="+mj-lt"/>
                        </a:rPr>
                        <a:t>30 Schulen des Gesundheitswesens, 2+3 jährig</a:t>
                      </a:r>
                    </a:p>
                  </a:txBody>
                  <a:tcPr marL="428625" marR="9525" marT="9525" marB="0" anchor="ctr"/>
                </a:tc>
                <a:tc>
                  <a:txBody>
                    <a:bodyPr/>
                    <a:lstStyle/>
                    <a:p>
                      <a:endParaRPr lang="nb-NO" sz="1300" dirty="0">
                        <a:latin typeface="+mj-lt"/>
                      </a:endParaRPr>
                    </a:p>
                  </a:txBody>
                  <a:tcPr/>
                </a:tc>
              </a:tr>
              <a:tr h="252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b-NO" sz="1400" smtClean="0"/>
                        <a:t>               </a:t>
                      </a:r>
                      <a:r>
                        <a:rPr lang="nb-NO" sz="1400" dirty="0" smtClean="0"/>
                        <a:t>5B1sh </a:t>
                      </a:r>
                      <a:endParaRPr lang="nb-NO" sz="1400" dirty="0"/>
                    </a:p>
                  </a:txBody>
                  <a:tcPr/>
                </a:tc>
                <a:tc>
                  <a:txBody>
                    <a:bodyPr/>
                    <a:lstStyle/>
                    <a:p>
                      <a:pPr algn="l" fontAlgn="ctr"/>
                      <a:r>
                        <a:rPr lang="nb-NO" sz="1300" b="0" i="0" u="none" strike="noStrike" dirty="0">
                          <a:solidFill>
                            <a:srgbClr val="000000"/>
                          </a:solidFill>
                          <a:effectLst/>
                          <a:latin typeface="+mj-lt"/>
                        </a:rPr>
                        <a:t>31 </a:t>
                      </a:r>
                      <a:r>
                        <a:rPr lang="nb-NO" sz="1300" b="0" i="0" u="none" strike="noStrike" dirty="0" err="1">
                          <a:solidFill>
                            <a:srgbClr val="000000"/>
                          </a:solidFill>
                          <a:effectLst/>
                          <a:latin typeface="+mj-lt"/>
                        </a:rPr>
                        <a:t>Fachschulen</a:t>
                      </a:r>
                      <a:r>
                        <a:rPr lang="nb-NO" sz="1300" b="0" i="0" u="none" strike="noStrike" dirty="0">
                          <a:solidFill>
                            <a:srgbClr val="000000"/>
                          </a:solidFill>
                          <a:effectLst/>
                          <a:latin typeface="+mj-lt"/>
                        </a:rPr>
                        <a:t>, 2 </a:t>
                      </a:r>
                      <a:r>
                        <a:rPr lang="nb-NO" sz="1300" b="0" i="0" u="none" strike="noStrike" dirty="0" err="1">
                          <a:solidFill>
                            <a:srgbClr val="000000"/>
                          </a:solidFill>
                          <a:effectLst/>
                          <a:latin typeface="+mj-lt"/>
                        </a:rPr>
                        <a:t>jährig</a:t>
                      </a:r>
                      <a:endParaRPr lang="nb-NO" sz="1300" b="0" i="0" u="none" strike="noStrike" dirty="0">
                        <a:solidFill>
                          <a:srgbClr val="000000"/>
                        </a:solidFill>
                        <a:effectLst/>
                        <a:latin typeface="+mj-lt"/>
                      </a:endParaRPr>
                    </a:p>
                  </a:txBody>
                  <a:tcPr marL="428625" marR="9525" marT="9525" marB="0" anchor="ctr"/>
                </a:tc>
                <a:tc>
                  <a:txBody>
                    <a:bodyPr/>
                    <a:lstStyle/>
                    <a:p>
                      <a:pPr algn="l" fontAlgn="t"/>
                      <a:r>
                        <a:rPr lang="nb-NO" sz="1300" b="0" i="0" u="none" strike="noStrike" smtClean="0">
                          <a:solidFill>
                            <a:srgbClr val="000000"/>
                          </a:solidFill>
                          <a:effectLst/>
                          <a:latin typeface="+mj-lt"/>
                        </a:rPr>
                        <a:t>   </a:t>
                      </a:r>
                      <a:r>
                        <a:rPr lang="nb-NO" sz="1300" b="0" i="0" u="none" strike="noStrike" dirty="0" smtClean="0">
                          <a:solidFill>
                            <a:srgbClr val="000000"/>
                          </a:solidFill>
                          <a:effectLst/>
                          <a:latin typeface="+mj-lt"/>
                        </a:rPr>
                        <a:t>Vocational </a:t>
                      </a:r>
                      <a:r>
                        <a:rPr lang="nb-NO" sz="1300" b="0" i="0" u="none" strike="noStrike">
                          <a:solidFill>
                            <a:srgbClr val="000000"/>
                          </a:solidFill>
                          <a:effectLst/>
                          <a:latin typeface="+mj-lt"/>
                        </a:rPr>
                        <a:t>Associate's </a:t>
                      </a:r>
                      <a:r>
                        <a:rPr lang="nb-NO" sz="1300" b="0" i="0" u="none" strike="noStrike" smtClean="0">
                          <a:solidFill>
                            <a:srgbClr val="000000"/>
                          </a:solidFill>
                          <a:effectLst/>
                          <a:latin typeface="+mj-lt"/>
                        </a:rPr>
                        <a:t>Degree  </a:t>
                      </a:r>
                      <a:endParaRPr lang="nb-NO" sz="1300" b="0" i="0" u="none" strike="noStrike" dirty="0" smtClean="0">
                        <a:solidFill>
                          <a:srgbClr val="000000"/>
                        </a:solidFill>
                        <a:effectLst/>
                        <a:latin typeface="+mj-lt"/>
                      </a:endParaRPr>
                    </a:p>
                    <a:p>
                      <a:pPr algn="l" fontAlgn="t"/>
                      <a:r>
                        <a:rPr lang="nb-NO" sz="1300" b="0" i="0" u="none" strike="noStrike" smtClean="0">
                          <a:solidFill>
                            <a:srgbClr val="000000"/>
                          </a:solidFill>
                          <a:effectLst/>
                          <a:latin typeface="+mj-lt"/>
                        </a:rPr>
                        <a:t>   </a:t>
                      </a:r>
                      <a:r>
                        <a:rPr lang="nb-NO" sz="1300" b="0" i="0" u="none" strike="noStrike" dirty="0" smtClean="0">
                          <a:solidFill>
                            <a:srgbClr val="000000"/>
                          </a:solidFill>
                          <a:effectLst/>
                          <a:latin typeface="+mj-lt"/>
                        </a:rPr>
                        <a:t>Programme</a:t>
                      </a:r>
                      <a:endParaRPr lang="nb-NO" sz="1300" b="0" i="0" u="none" strike="noStrike" dirty="0">
                        <a:solidFill>
                          <a:srgbClr val="000000"/>
                        </a:solidFill>
                        <a:effectLst/>
                        <a:latin typeface="+mj-lt"/>
                      </a:endParaRPr>
                    </a:p>
                  </a:txBody>
                  <a:tcPr marL="9525" marR="9525" marT="9525" marB="0"/>
                </a:tc>
              </a:tr>
              <a:tr h="252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b-NO" sz="1400" smtClean="0"/>
                        <a:t>               </a:t>
                      </a:r>
                      <a:r>
                        <a:rPr lang="nb-NO" sz="1400" dirty="0" smtClean="0"/>
                        <a:t>5B1me</a:t>
                      </a:r>
                    </a:p>
                  </a:txBody>
                  <a:tcPr/>
                </a:tc>
                <a:tc>
                  <a:txBody>
                    <a:bodyPr/>
                    <a:lstStyle/>
                    <a:p>
                      <a:pPr algn="l" fontAlgn="ctr"/>
                      <a:r>
                        <a:rPr lang="nb-NO" sz="1300" b="0" i="0" u="none" strike="noStrike" dirty="0">
                          <a:solidFill>
                            <a:srgbClr val="000000"/>
                          </a:solidFill>
                          <a:effectLst/>
                          <a:latin typeface="+mj-lt"/>
                        </a:rPr>
                        <a:t>32 </a:t>
                      </a:r>
                      <a:r>
                        <a:rPr lang="nb-NO" sz="1300" b="0" i="0" u="none" strike="noStrike" dirty="0" err="1">
                          <a:solidFill>
                            <a:srgbClr val="000000"/>
                          </a:solidFill>
                          <a:effectLst/>
                          <a:latin typeface="+mj-lt"/>
                        </a:rPr>
                        <a:t>Fachschulen</a:t>
                      </a:r>
                      <a:r>
                        <a:rPr lang="nb-NO" sz="1300" b="0" i="0" u="none" strike="noStrike" dirty="0">
                          <a:solidFill>
                            <a:srgbClr val="000000"/>
                          </a:solidFill>
                          <a:effectLst/>
                          <a:latin typeface="+mj-lt"/>
                        </a:rPr>
                        <a:t>, 3+4 </a:t>
                      </a:r>
                      <a:r>
                        <a:rPr lang="nb-NO" sz="1300" b="0" i="0" u="none" strike="noStrike" dirty="0" err="1">
                          <a:solidFill>
                            <a:srgbClr val="000000"/>
                          </a:solidFill>
                          <a:effectLst/>
                          <a:latin typeface="+mj-lt"/>
                        </a:rPr>
                        <a:t>jährig</a:t>
                      </a:r>
                      <a:endParaRPr lang="nb-NO" sz="1300" b="0" i="0" u="none" strike="noStrike" dirty="0">
                        <a:solidFill>
                          <a:srgbClr val="000000"/>
                        </a:solidFill>
                        <a:effectLst/>
                        <a:latin typeface="+mj-lt"/>
                      </a:endParaRPr>
                    </a:p>
                  </a:txBody>
                  <a:tcPr marL="428625" marR="9525" marT="9525" marB="0" anchor="ctr"/>
                </a:tc>
                <a:tc>
                  <a:txBody>
                    <a:bodyPr/>
                    <a:lstStyle/>
                    <a:p>
                      <a:endParaRPr lang="nb-NO" sz="1300" dirty="0">
                        <a:latin typeface="+mj-lt"/>
                      </a:endParaRPr>
                    </a:p>
                  </a:txBody>
                  <a:tcPr/>
                </a:tc>
              </a:tr>
              <a:tr h="252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b-NO" sz="1400" smtClean="0"/>
                        <a:t>               </a:t>
                      </a:r>
                      <a:r>
                        <a:rPr lang="nb-NO" sz="1400" dirty="0" smtClean="0"/>
                        <a:t>5B1me</a:t>
                      </a:r>
                    </a:p>
                  </a:txBody>
                  <a:tcPr/>
                </a:tc>
                <a:tc>
                  <a:txBody>
                    <a:bodyPr/>
                    <a:lstStyle/>
                    <a:p>
                      <a:pPr algn="l" fontAlgn="ctr"/>
                      <a:r>
                        <a:rPr lang="nb-NO" sz="1300" b="0" i="0" u="none" strike="noStrike" dirty="0">
                          <a:solidFill>
                            <a:srgbClr val="000000"/>
                          </a:solidFill>
                          <a:effectLst/>
                          <a:latin typeface="+mj-lt"/>
                        </a:rPr>
                        <a:t>36 </a:t>
                      </a:r>
                      <a:r>
                        <a:rPr lang="nb-NO" sz="1300" b="0" i="0" u="none" strike="noStrike" dirty="0" err="1">
                          <a:solidFill>
                            <a:srgbClr val="000000"/>
                          </a:solidFill>
                          <a:effectLst/>
                          <a:latin typeface="+mj-lt"/>
                        </a:rPr>
                        <a:t>Berufsakademien</a:t>
                      </a:r>
                      <a:r>
                        <a:rPr lang="nb-NO" sz="1300" b="0" i="0" u="none" strike="noStrike" dirty="0">
                          <a:solidFill>
                            <a:srgbClr val="000000"/>
                          </a:solidFill>
                          <a:effectLst/>
                          <a:latin typeface="+mj-lt"/>
                        </a:rPr>
                        <a:t> </a:t>
                      </a:r>
                    </a:p>
                  </a:txBody>
                  <a:tcPr marL="428625" marR="9525" marT="9525" marB="0" anchor="ctr"/>
                </a:tc>
                <a:tc>
                  <a:txBody>
                    <a:bodyPr/>
                    <a:lstStyle/>
                    <a:p>
                      <a:endParaRPr lang="nb-NO"/>
                    </a:p>
                  </a:txBody>
                  <a:tcPr/>
                </a:tc>
              </a:tr>
              <a:tr h="2520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b-NO" sz="1400" smtClean="0"/>
                        <a:t>               </a:t>
                      </a:r>
                      <a:r>
                        <a:rPr lang="nb-NO" sz="1400" dirty="0" smtClean="0"/>
                        <a:t>5B1me</a:t>
                      </a:r>
                    </a:p>
                  </a:txBody>
                  <a:tcPr/>
                </a:tc>
                <a:tc>
                  <a:txBody>
                    <a:bodyPr/>
                    <a:lstStyle/>
                    <a:p>
                      <a:pPr algn="l" fontAlgn="ctr"/>
                      <a:r>
                        <a:rPr lang="nb-NO" sz="1300" b="0" i="0" u="none" strike="noStrike" dirty="0" smtClean="0">
                          <a:solidFill>
                            <a:srgbClr val="000000"/>
                          </a:solidFill>
                          <a:effectLst/>
                          <a:latin typeface="+mj-lt"/>
                        </a:rPr>
                        <a:t>37</a:t>
                      </a:r>
                      <a:r>
                        <a:rPr lang="nb-NO" sz="1300" b="0" i="0" u="none" strike="noStrike" baseline="0" dirty="0" smtClean="0">
                          <a:solidFill>
                            <a:srgbClr val="000000"/>
                          </a:solidFill>
                          <a:effectLst/>
                          <a:latin typeface="+mj-lt"/>
                        </a:rPr>
                        <a:t> </a:t>
                      </a:r>
                      <a:r>
                        <a:rPr lang="nb-NO" sz="1300" b="0" i="0" u="none" strike="noStrike" dirty="0" err="1" smtClean="0">
                          <a:solidFill>
                            <a:srgbClr val="000000"/>
                          </a:solidFill>
                          <a:effectLst/>
                          <a:latin typeface="+mj-lt"/>
                        </a:rPr>
                        <a:t>Verwaltungsfachhochschulen</a:t>
                      </a:r>
                      <a:endParaRPr lang="nb-NO" sz="1300" b="0" i="0" u="none" strike="noStrike" dirty="0">
                        <a:solidFill>
                          <a:srgbClr val="000000"/>
                        </a:solidFill>
                        <a:effectLst/>
                        <a:latin typeface="+mj-lt"/>
                      </a:endParaRPr>
                    </a:p>
                  </a:txBody>
                  <a:tcPr marL="428625" marR="9525" marT="9525" marB="0" anchor="ctr"/>
                </a:tc>
                <a:tc>
                  <a:txBody>
                    <a:bodyPr/>
                    <a:lstStyle/>
                    <a:p>
                      <a:endParaRPr lang="nb-NO" dirty="0"/>
                    </a:p>
                  </a:txBody>
                  <a:tcPr/>
                </a:tc>
              </a:tr>
              <a:tr h="252000">
                <a:tc>
                  <a:txBody>
                    <a:bodyPr/>
                    <a:lstStyle/>
                    <a:p>
                      <a:r>
                        <a:rPr lang="nb-NO" sz="1400" smtClean="0"/>
                        <a:t>     </a:t>
                      </a:r>
                      <a:r>
                        <a:rPr lang="nb-NO" sz="1400" dirty="0" smtClean="0"/>
                        <a:t>5A</a:t>
                      </a:r>
                      <a:endParaRPr lang="nb-NO" sz="1400" dirty="0"/>
                    </a:p>
                  </a:txBody>
                  <a:tcPr/>
                </a:tc>
                <a:tc>
                  <a:txBody>
                    <a:bodyPr/>
                    <a:lstStyle/>
                    <a:p>
                      <a:pPr algn="l" fontAlgn="b"/>
                      <a:endParaRPr lang="nb-NO" sz="1300" b="0" i="0" u="none" strike="noStrike" dirty="0">
                        <a:solidFill>
                          <a:srgbClr val="000000"/>
                        </a:solidFill>
                        <a:effectLst/>
                        <a:latin typeface="+mj-lt"/>
                      </a:endParaRPr>
                    </a:p>
                  </a:txBody>
                  <a:tcPr marL="9525" marR="9525" marT="9525" marB="0" anchor="b"/>
                </a:tc>
                <a:tc>
                  <a:txBody>
                    <a:bodyPr/>
                    <a:lstStyle/>
                    <a:p>
                      <a:pPr algn="l" fontAlgn="t"/>
                      <a:endParaRPr lang="nb-NO" sz="1000" b="0" i="0" u="none" strike="noStrike" dirty="0">
                        <a:solidFill>
                          <a:srgbClr val="000000"/>
                        </a:solidFill>
                        <a:effectLst/>
                        <a:latin typeface="Arial"/>
                      </a:endParaRPr>
                    </a:p>
                  </a:txBody>
                  <a:tcPr marL="9525" marR="9525" marT="9525" marB="0"/>
                </a:tc>
              </a:tr>
              <a:tr h="252000">
                <a:tc>
                  <a:txBody>
                    <a:bodyPr/>
                    <a:lstStyle/>
                    <a:p>
                      <a:r>
                        <a:rPr lang="nb-NO" sz="1400" smtClean="0"/>
                        <a:t>          5A1</a:t>
                      </a:r>
                      <a:endParaRPr lang="nb-NO" sz="1400" dirty="0"/>
                    </a:p>
                  </a:txBody>
                  <a:tcPr/>
                </a:tc>
                <a:tc>
                  <a:txBody>
                    <a:bodyPr/>
                    <a:lstStyle/>
                    <a:p>
                      <a:pPr algn="l" fontAlgn="ctr"/>
                      <a:endParaRPr lang="nb-NO" sz="1300" b="0" i="0" u="none" strike="noStrike" dirty="0">
                        <a:solidFill>
                          <a:srgbClr val="000000"/>
                        </a:solidFill>
                        <a:effectLst/>
                        <a:latin typeface="+mj-lt"/>
                      </a:endParaRPr>
                    </a:p>
                  </a:txBody>
                  <a:tcPr marL="428625" marR="9525" marT="9525" marB="0" anchor="ctr"/>
                </a:tc>
                <a:tc>
                  <a:txBody>
                    <a:bodyPr/>
                    <a:lstStyle/>
                    <a:p>
                      <a:endParaRPr lang="nb-NO" dirty="0"/>
                    </a:p>
                  </a:txBody>
                  <a:tcPr/>
                </a:tc>
              </a:tr>
              <a:tr h="252000">
                <a:tc>
                  <a:txBody>
                    <a:bodyPr/>
                    <a:lstStyle/>
                    <a:p>
                      <a:pPr algn="l"/>
                      <a:r>
                        <a:rPr lang="nb-NO" sz="1400" smtClean="0"/>
                        <a:t>               </a:t>
                      </a:r>
                      <a:r>
                        <a:rPr lang="nb-NO" sz="1400" dirty="0" smtClean="0"/>
                        <a:t>5Aish</a:t>
                      </a:r>
                      <a:endParaRPr lang="nb-NO" sz="1400" dirty="0"/>
                    </a:p>
                  </a:txBody>
                  <a:tcPr/>
                </a:tc>
                <a:tc>
                  <a:txBody>
                    <a:bodyPr/>
                    <a:lstStyle/>
                    <a:p>
                      <a:pPr algn="l" fontAlgn="ctr"/>
                      <a:endParaRPr lang="nb-NO" sz="1300" b="0" i="0" u="none" strike="noStrike" dirty="0">
                        <a:solidFill>
                          <a:srgbClr val="000000"/>
                        </a:solidFill>
                        <a:effectLst/>
                        <a:latin typeface="+mj-lt"/>
                      </a:endParaRPr>
                    </a:p>
                  </a:txBody>
                  <a:tcPr marL="428625" marR="9525" marT="9525"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nb-NO" sz="1300" b="0" i="0" u="none" strike="noStrike" dirty="0" err="1" smtClean="0">
                          <a:solidFill>
                            <a:srgbClr val="000000"/>
                          </a:solidFill>
                          <a:effectLst/>
                          <a:latin typeface="+mj-lt"/>
                        </a:rPr>
                        <a:t>Academic</a:t>
                      </a:r>
                      <a:r>
                        <a:rPr lang="nb-NO" sz="1300" b="0" i="0" u="none" strike="noStrike" dirty="0" smtClean="0">
                          <a:solidFill>
                            <a:srgbClr val="000000"/>
                          </a:solidFill>
                          <a:effectLst/>
                          <a:latin typeface="+mj-lt"/>
                        </a:rPr>
                        <a:t> </a:t>
                      </a:r>
                      <a:r>
                        <a:rPr lang="nb-NO" sz="1300" b="0" i="0" u="none" strike="noStrike" dirty="0" err="1" smtClean="0">
                          <a:solidFill>
                            <a:srgbClr val="000000"/>
                          </a:solidFill>
                          <a:effectLst/>
                          <a:latin typeface="+mj-lt"/>
                        </a:rPr>
                        <a:t>Associate's</a:t>
                      </a:r>
                      <a:r>
                        <a:rPr lang="nb-NO" sz="1300" b="0" i="0" u="none" strike="noStrike" dirty="0" smtClean="0">
                          <a:solidFill>
                            <a:srgbClr val="000000"/>
                          </a:solidFill>
                          <a:effectLst/>
                          <a:latin typeface="+mj-lt"/>
                        </a:rPr>
                        <a:t> </a:t>
                      </a:r>
                      <a:r>
                        <a:rPr lang="nb-NO" sz="1300" b="0" i="0" u="none" strike="noStrike" dirty="0" err="1" smtClean="0">
                          <a:solidFill>
                            <a:srgbClr val="000000"/>
                          </a:solidFill>
                          <a:effectLst/>
                          <a:latin typeface="+mj-lt"/>
                        </a:rPr>
                        <a:t>Degree</a:t>
                      </a:r>
                      <a:r>
                        <a:rPr lang="nb-NO" sz="1300" b="0" i="0" u="none" strike="noStrike" dirty="0" smtClean="0">
                          <a:solidFill>
                            <a:srgbClr val="000000"/>
                          </a:solidFill>
                          <a:effectLst/>
                          <a:latin typeface="+mj-lt"/>
                        </a:rPr>
                        <a:t> </a:t>
                      </a:r>
                      <a:r>
                        <a:rPr lang="nb-NO" sz="1300" b="0" i="0" u="none" strike="noStrike" dirty="0" err="1" smtClean="0">
                          <a:solidFill>
                            <a:srgbClr val="000000"/>
                          </a:solidFill>
                          <a:effectLst/>
                          <a:latin typeface="+mj-lt"/>
                        </a:rPr>
                        <a:t>Programme</a:t>
                      </a:r>
                      <a:endParaRPr lang="nb-NO" sz="1300" b="0" i="0" u="none" strike="noStrike" dirty="0" smtClean="0">
                        <a:solidFill>
                          <a:srgbClr val="000000"/>
                        </a:solidFill>
                        <a:effectLst/>
                        <a:latin typeface="+mj-lt"/>
                      </a:endParaRPr>
                    </a:p>
                  </a:txBody>
                  <a:tcPr/>
                </a:tc>
              </a:tr>
              <a:tr h="252000">
                <a:tc>
                  <a:txBody>
                    <a:bodyPr/>
                    <a:lstStyle/>
                    <a:p>
                      <a:r>
                        <a:rPr lang="nb-NO" sz="1400" smtClean="0"/>
                        <a:t>               </a:t>
                      </a:r>
                      <a:r>
                        <a:rPr lang="nb-NO" sz="1400" dirty="0" smtClean="0"/>
                        <a:t>5A1me</a:t>
                      </a:r>
                      <a:endParaRPr lang="nb-NO" sz="1400" dirty="0"/>
                    </a:p>
                  </a:txBody>
                  <a:tcPr/>
                </a:tc>
                <a:tc>
                  <a:txBody>
                    <a:bodyPr/>
                    <a:lstStyle/>
                    <a:p>
                      <a:pPr algn="l" fontAlgn="ctr"/>
                      <a:endParaRPr lang="nb-NO" sz="1300" b="0" i="0" u="none" strike="noStrike" dirty="0">
                        <a:solidFill>
                          <a:srgbClr val="000000"/>
                        </a:solidFill>
                        <a:effectLst/>
                        <a:latin typeface="+mj-lt"/>
                      </a:endParaRPr>
                    </a:p>
                  </a:txBody>
                  <a:tcPr marL="428625" marR="9525" marT="9525" marB="0" anchor="ctr"/>
                </a:tc>
                <a:tc>
                  <a:txBody>
                    <a:bodyPr/>
                    <a:lstStyle/>
                    <a:p>
                      <a:r>
                        <a:rPr lang="nb-NO" sz="1300" dirty="0" err="1" smtClean="0"/>
                        <a:t>Bachelor's</a:t>
                      </a:r>
                      <a:r>
                        <a:rPr lang="nb-NO" sz="1300" dirty="0" smtClean="0"/>
                        <a:t> </a:t>
                      </a:r>
                      <a:r>
                        <a:rPr lang="nb-NO" sz="1300" dirty="0" err="1" smtClean="0"/>
                        <a:t>Degree</a:t>
                      </a:r>
                      <a:r>
                        <a:rPr lang="nb-NO" sz="1300" dirty="0" smtClean="0"/>
                        <a:t> </a:t>
                      </a:r>
                      <a:r>
                        <a:rPr lang="nb-NO" sz="1300" dirty="0" err="1" smtClean="0"/>
                        <a:t>Programme</a:t>
                      </a:r>
                      <a:endParaRPr lang="nb-NO" sz="1300" dirty="0"/>
                    </a:p>
                  </a:txBody>
                  <a:tcPr/>
                </a:tc>
              </a:tr>
              <a:tr h="252000">
                <a:tc>
                  <a:txBody>
                    <a:bodyPr/>
                    <a:lstStyle/>
                    <a:p>
                      <a:r>
                        <a:rPr lang="nb-NO" sz="1400" smtClean="0"/>
                        <a:t>               </a:t>
                      </a:r>
                      <a:r>
                        <a:rPr lang="nb-NO" sz="1400" dirty="0" smtClean="0"/>
                        <a:t>5A1me or 5A1lo</a:t>
                      </a:r>
                      <a:endParaRPr lang="nb-NO" sz="1400" dirty="0"/>
                    </a:p>
                  </a:txBody>
                  <a:tcPr/>
                </a:tc>
                <a:tc>
                  <a:txBody>
                    <a:bodyPr/>
                    <a:lstStyle/>
                    <a:p>
                      <a:pPr algn="l" fontAlgn="ctr"/>
                      <a:r>
                        <a:rPr lang="nb-NO" sz="1300" b="0" i="0" u="none" strike="noStrike" dirty="0">
                          <a:solidFill>
                            <a:srgbClr val="000000"/>
                          </a:solidFill>
                          <a:effectLst/>
                          <a:latin typeface="+mj-lt"/>
                        </a:rPr>
                        <a:t>38 </a:t>
                      </a:r>
                      <a:r>
                        <a:rPr lang="nb-NO" sz="1300" b="0" i="0" u="none" strike="noStrike" dirty="0" err="1">
                          <a:solidFill>
                            <a:srgbClr val="000000"/>
                          </a:solidFill>
                          <a:effectLst/>
                          <a:latin typeface="+mj-lt"/>
                        </a:rPr>
                        <a:t>Fachhochschulen</a:t>
                      </a:r>
                      <a:endParaRPr lang="nb-NO" sz="1300" b="0" i="0" u="none" strike="noStrike" dirty="0">
                        <a:solidFill>
                          <a:srgbClr val="000000"/>
                        </a:solidFill>
                        <a:effectLst/>
                        <a:latin typeface="+mj-lt"/>
                      </a:endParaRPr>
                    </a:p>
                  </a:txBody>
                  <a:tcPr marL="428625" marR="9525" marT="9525" marB="0" anchor="ctr"/>
                </a:tc>
                <a:tc>
                  <a:txBody>
                    <a:bodyPr/>
                    <a:lstStyle/>
                    <a:p>
                      <a:endParaRPr lang="nb-NO" dirty="0"/>
                    </a:p>
                  </a:txBody>
                  <a:tcPr/>
                </a:tc>
              </a:tr>
              <a:tr h="252000">
                <a:tc>
                  <a:txBody>
                    <a:bodyPr/>
                    <a:lstStyle/>
                    <a:p>
                      <a:r>
                        <a:rPr lang="nb-NO" sz="1400" smtClean="0"/>
                        <a:t>               </a:t>
                      </a:r>
                      <a:r>
                        <a:rPr lang="nb-NO" sz="1400" dirty="0" smtClean="0"/>
                        <a:t>5A1lo or 5A1vl</a:t>
                      </a:r>
                      <a:endParaRPr lang="nb-NO" sz="1400" dirty="0"/>
                    </a:p>
                  </a:txBody>
                  <a:tcPr/>
                </a:tc>
                <a:tc>
                  <a:txBody>
                    <a:bodyPr/>
                    <a:lstStyle/>
                    <a:p>
                      <a:pPr algn="l" fontAlgn="ctr"/>
                      <a:r>
                        <a:rPr lang="nb-NO" sz="1300" b="0" i="0" u="none" strike="noStrike" dirty="0">
                          <a:solidFill>
                            <a:srgbClr val="000000"/>
                          </a:solidFill>
                          <a:effectLst/>
                          <a:latin typeface="+mj-lt"/>
                        </a:rPr>
                        <a:t>39 </a:t>
                      </a:r>
                      <a:r>
                        <a:rPr lang="nb-NO" sz="1300" b="0" i="0" u="none" strike="noStrike" dirty="0" err="1">
                          <a:solidFill>
                            <a:srgbClr val="000000"/>
                          </a:solidFill>
                          <a:effectLst/>
                          <a:latin typeface="+mj-lt"/>
                        </a:rPr>
                        <a:t>Universitäten</a:t>
                      </a:r>
                      <a:endParaRPr lang="nb-NO" sz="1300" b="0" i="0" u="none" strike="noStrike" dirty="0">
                        <a:solidFill>
                          <a:srgbClr val="000000"/>
                        </a:solidFill>
                        <a:effectLst/>
                        <a:latin typeface="+mj-lt"/>
                      </a:endParaRPr>
                    </a:p>
                  </a:txBody>
                  <a:tcPr marL="428625" marR="9525" marT="9525" marB="0" anchor="ctr"/>
                </a:tc>
                <a:tc>
                  <a:txBody>
                    <a:bodyPr/>
                    <a:lstStyle/>
                    <a:p>
                      <a:r>
                        <a:rPr lang="nb-NO" dirty="0" smtClean="0"/>
                        <a:t>…...</a:t>
                      </a:r>
                      <a:endParaRPr lang="nb-NO" dirty="0"/>
                    </a:p>
                  </a:txBody>
                  <a:tcPr/>
                </a:tc>
              </a:tr>
            </a:tbl>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tel 1"/>
          <p:cNvSpPr>
            <a:spLocks noGrp="1"/>
          </p:cNvSpPr>
          <p:nvPr>
            <p:ph type="title"/>
          </p:nvPr>
        </p:nvSpPr>
        <p:spPr>
          <a:xfrm>
            <a:off x="457200" y="274638"/>
            <a:ext cx="8229600" cy="850900"/>
          </a:xfrm>
        </p:spPr>
        <p:txBody>
          <a:bodyPr/>
          <a:lstStyle/>
          <a:p>
            <a:pPr eaLnBrk="1" hangingPunct="1"/>
            <a:r>
              <a:rPr lang="nb-NO" smtClean="0"/>
              <a:t>ISCED 1997</a:t>
            </a:r>
          </a:p>
        </p:txBody>
      </p:sp>
      <p:sp>
        <p:nvSpPr>
          <p:cNvPr id="32770" name="Plassholder for innhold 2"/>
          <p:cNvSpPr>
            <a:spLocks noGrp="1"/>
          </p:cNvSpPr>
          <p:nvPr>
            <p:ph idx="1"/>
          </p:nvPr>
        </p:nvSpPr>
        <p:spPr>
          <a:xfrm>
            <a:off x="468313" y="1123950"/>
            <a:ext cx="8496300" cy="6697663"/>
          </a:xfrm>
        </p:spPr>
        <p:txBody>
          <a:bodyPr/>
          <a:lstStyle/>
          <a:p>
            <a:pPr eaLnBrk="1" hangingPunct="1"/>
            <a:r>
              <a:rPr lang="nb-NO" sz="2500" dirty="0" smtClean="0"/>
              <a:t>The ISCED 1997 standard consists in:</a:t>
            </a:r>
          </a:p>
          <a:p>
            <a:pPr eaLnBrk="1" hangingPunct="1">
              <a:buFont typeface="Arial" charset="0"/>
              <a:buNone/>
            </a:pPr>
            <a:r>
              <a:rPr lang="nb-NO" sz="2500" dirty="0" smtClean="0"/>
              <a:t>		- Classification</a:t>
            </a:r>
          </a:p>
          <a:p>
            <a:pPr eaLnBrk="1" hangingPunct="1">
              <a:buFont typeface="Arial" charset="0"/>
              <a:buNone/>
            </a:pPr>
            <a:r>
              <a:rPr lang="nb-NO" sz="2500" dirty="0" smtClean="0"/>
              <a:t>		- Operational concepts and definitions</a:t>
            </a:r>
          </a:p>
          <a:p>
            <a:pPr eaLnBrk="1" hangingPunct="1">
              <a:buFont typeface="Arial" charset="0"/>
              <a:buNone/>
            </a:pPr>
            <a:r>
              <a:rPr lang="nb-NO" sz="2500" dirty="0" smtClean="0"/>
              <a:t>		- Manuals</a:t>
            </a:r>
          </a:p>
          <a:p>
            <a:pPr eaLnBrk="1" hangingPunct="1"/>
            <a:r>
              <a:rPr lang="nb-NO" sz="2500" dirty="0" smtClean="0"/>
              <a:t>No codes available</a:t>
            </a:r>
          </a:p>
          <a:p>
            <a:pPr lvl="1" eaLnBrk="1" hangingPunct="1">
              <a:buFont typeface="Arial" charset="0"/>
              <a:buNone/>
            </a:pPr>
            <a:r>
              <a:rPr lang="nb-NO" sz="2500" dirty="0" smtClean="0"/>
              <a:t>		- Alpha-numeric codes can be constructed 	</a:t>
            </a:r>
          </a:p>
          <a:p>
            <a:pPr lvl="1" eaLnBrk="1" hangingPunct="1">
              <a:buFont typeface="Arial" charset="0"/>
              <a:buNone/>
            </a:pPr>
            <a:r>
              <a:rPr lang="nb-NO" sz="2500" smtClean="0"/>
              <a:t>     </a:t>
            </a:r>
            <a:r>
              <a:rPr lang="nb-NO" sz="2500" dirty="0" smtClean="0"/>
              <a:t>	 according to the text</a:t>
            </a:r>
          </a:p>
          <a:p>
            <a:pPr eaLnBrk="1" hangingPunct="1"/>
            <a:r>
              <a:rPr lang="nb-NO" sz="2500" dirty="0" smtClean="0"/>
              <a:t>No separate coding for attainment</a:t>
            </a:r>
          </a:p>
          <a:p>
            <a:pPr eaLnBrk="1" hangingPunct="1"/>
            <a:r>
              <a:rPr lang="nb-NO" sz="2500" dirty="0" smtClean="0"/>
              <a:t>Less detailed below primary and above secondary level compared to ISCED 2011</a:t>
            </a:r>
          </a:p>
          <a:p>
            <a:pPr eaLnBrk="1" hangingPunct="1"/>
            <a:r>
              <a:rPr lang="nb-NO" sz="2500" dirty="0" smtClean="0"/>
              <a:t>More complicated classification criteria (clarification and simplification in ISCED 2011)</a:t>
            </a:r>
          </a:p>
          <a:p>
            <a:pPr eaLnBrk="1" hangingPunct="1"/>
            <a:endParaRPr lang="nb-NO" sz="2500" dirty="0" smtClean="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ittel 1"/>
          <p:cNvSpPr>
            <a:spLocks noGrp="1"/>
          </p:cNvSpPr>
          <p:nvPr>
            <p:ph type="title" idx="4294967295"/>
          </p:nvPr>
        </p:nvSpPr>
        <p:spPr/>
        <p:txBody>
          <a:bodyPr/>
          <a:lstStyle/>
          <a:p>
            <a:pPr eaLnBrk="1" hangingPunct="1"/>
            <a:r>
              <a:rPr lang="nb-NO" smtClean="0"/>
              <a:t>European Social Survey Round 5</a:t>
            </a:r>
          </a:p>
        </p:txBody>
      </p:sp>
      <p:sp>
        <p:nvSpPr>
          <p:cNvPr id="3" name="Plassholder for innhold 2"/>
          <p:cNvSpPr>
            <a:spLocks noGrp="1"/>
          </p:cNvSpPr>
          <p:nvPr>
            <p:ph idx="4294967295"/>
          </p:nvPr>
        </p:nvSpPr>
        <p:spPr/>
        <p:txBody>
          <a:bodyPr>
            <a:normAutofit lnSpcReduction="10000"/>
          </a:bodyPr>
          <a:lstStyle/>
          <a:p>
            <a:pPr eaLnBrk="1" hangingPunct="1">
              <a:lnSpc>
                <a:spcPct val="80000"/>
              </a:lnSpc>
            </a:pPr>
            <a:r>
              <a:rPr lang="nb-NO" sz="2500" smtClean="0"/>
              <a:t>EDULVLB – Motivation</a:t>
            </a:r>
          </a:p>
          <a:p>
            <a:pPr lvl="1" eaLnBrk="1" hangingPunct="1">
              <a:lnSpc>
                <a:spcPct val="80000"/>
              </a:lnSpc>
            </a:pPr>
            <a:r>
              <a:rPr lang="nb-NO" sz="2200" smtClean="0"/>
              <a:t>More detailed and better coding framework for educational attainment</a:t>
            </a:r>
          </a:p>
          <a:p>
            <a:pPr lvl="1" eaLnBrk="1" hangingPunct="1">
              <a:lnSpc>
                <a:spcPct val="80000"/>
              </a:lnSpc>
            </a:pPr>
            <a:r>
              <a:rPr lang="nb-NO" sz="2200" smtClean="0"/>
              <a:t>Allows for the construction of purpose built measures, e.g. EISCED and EDULVLA</a:t>
            </a:r>
          </a:p>
          <a:p>
            <a:pPr lvl="1" eaLnBrk="1" hangingPunct="1">
              <a:lnSpc>
                <a:spcPct val="80000"/>
              </a:lnSpc>
            </a:pPr>
            <a:r>
              <a:rPr lang="nb-NO" sz="2200" smtClean="0"/>
              <a:t>Improvement of tertiary level, useful for European countries</a:t>
            </a:r>
          </a:p>
          <a:p>
            <a:pPr lvl="1" eaLnBrk="1" hangingPunct="1">
              <a:lnSpc>
                <a:spcPct val="80000"/>
              </a:lnSpc>
            </a:pPr>
            <a:r>
              <a:rPr lang="nb-NO" sz="2200" smtClean="0"/>
              <a:t>Improvement of some simplifications in ISCED</a:t>
            </a:r>
          </a:p>
          <a:p>
            <a:pPr lvl="1" eaLnBrk="1" hangingPunct="1">
              <a:lnSpc>
                <a:spcPct val="80000"/>
              </a:lnSpc>
            </a:pPr>
            <a:r>
              <a:rPr lang="nb-NO" sz="2200" smtClean="0"/>
              <a:t>Based on developments of ISCED 2011 till May 2010</a:t>
            </a:r>
          </a:p>
          <a:p>
            <a:pPr eaLnBrk="1" hangingPunct="1">
              <a:lnSpc>
                <a:spcPct val="80000"/>
              </a:lnSpc>
            </a:pPr>
            <a:r>
              <a:rPr lang="nb-NO" sz="2500" smtClean="0"/>
              <a:t>EDULVLA</a:t>
            </a:r>
          </a:p>
          <a:p>
            <a:pPr lvl="1" eaLnBrk="1" hangingPunct="1">
              <a:lnSpc>
                <a:spcPct val="80000"/>
              </a:lnSpc>
            </a:pPr>
            <a:r>
              <a:rPr lang="nb-NO" sz="2200" smtClean="0"/>
              <a:t>5-category system, based on ISCED 1997</a:t>
            </a:r>
          </a:p>
          <a:p>
            <a:pPr lvl="1" eaLnBrk="1" hangingPunct="1">
              <a:lnSpc>
                <a:spcPct val="80000"/>
              </a:lnSpc>
            </a:pPr>
            <a:r>
              <a:rPr lang="nb-NO" sz="2200" smtClean="0"/>
              <a:t>Can be used as simple link between EDULVLB and ISCED 1997, useful for comparison with former rounds</a:t>
            </a:r>
          </a:p>
          <a:p>
            <a:pPr eaLnBrk="1" hangingPunct="1">
              <a:lnSpc>
                <a:spcPct val="80000"/>
              </a:lnSpc>
            </a:pPr>
            <a:r>
              <a:rPr lang="nb-NO" sz="2500" smtClean="0"/>
              <a:t>EISCED</a:t>
            </a:r>
          </a:p>
          <a:p>
            <a:pPr lvl="1" eaLnBrk="1" hangingPunct="1">
              <a:lnSpc>
                <a:spcPct val="80000"/>
              </a:lnSpc>
            </a:pPr>
            <a:r>
              <a:rPr lang="nb-NO" sz="2200" smtClean="0"/>
              <a:t>7-category system, of better analytical value than EDULVLA, useful for European countries</a:t>
            </a:r>
          </a:p>
          <a:p>
            <a:pPr lvl="1" eaLnBrk="1" hangingPunct="1">
              <a:lnSpc>
                <a:spcPct val="80000"/>
              </a:lnSpc>
            </a:pPr>
            <a:endParaRPr lang="nb-NO" sz="2200" smtClean="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 name="Ellipse 39"/>
          <p:cNvSpPr/>
          <p:nvPr/>
        </p:nvSpPr>
        <p:spPr>
          <a:xfrm>
            <a:off x="107950" y="1700213"/>
            <a:ext cx="8785225" cy="2665412"/>
          </a:xfrm>
          <a:prstGeom prst="ellipse">
            <a:avLst/>
          </a:prstGeom>
          <a:solidFill>
            <a:schemeClr val="accent1">
              <a:alpha val="18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a:p>
        </p:txBody>
      </p:sp>
      <p:sp>
        <p:nvSpPr>
          <p:cNvPr id="34819" name="Tittel 1"/>
          <p:cNvSpPr>
            <a:spLocks noGrp="1"/>
          </p:cNvSpPr>
          <p:nvPr>
            <p:ph type="title"/>
          </p:nvPr>
        </p:nvSpPr>
        <p:spPr>
          <a:xfrm>
            <a:off x="457200" y="44450"/>
            <a:ext cx="8229600" cy="1143000"/>
          </a:xfrm>
        </p:spPr>
        <p:txBody>
          <a:bodyPr/>
          <a:lstStyle/>
          <a:p>
            <a:pPr eaLnBrk="1" hangingPunct="1"/>
            <a:r>
              <a:rPr lang="nb-NO" sz="3200" smtClean="0"/>
              <a:t>Relationship between ISCED based components</a:t>
            </a:r>
          </a:p>
        </p:txBody>
      </p:sp>
      <p:sp>
        <p:nvSpPr>
          <p:cNvPr id="5" name="Rektangel 4"/>
          <p:cNvSpPr/>
          <p:nvPr/>
        </p:nvSpPr>
        <p:spPr>
          <a:xfrm>
            <a:off x="5867400" y="5300663"/>
            <a:ext cx="938213" cy="57626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nb-NO" sz="1500">
                <a:solidFill>
                  <a:schemeClr val="accent1"/>
                </a:solidFill>
              </a:rPr>
              <a:t>Mapping</a:t>
            </a:r>
          </a:p>
          <a:p>
            <a:pPr algn="ctr"/>
            <a:r>
              <a:rPr lang="nb-NO" sz="1500">
                <a:solidFill>
                  <a:schemeClr val="accent1"/>
                </a:solidFill>
              </a:rPr>
              <a:t>DK</a:t>
            </a:r>
          </a:p>
        </p:txBody>
      </p:sp>
      <p:sp>
        <p:nvSpPr>
          <p:cNvPr id="15" name="Rektangel 14"/>
          <p:cNvSpPr/>
          <p:nvPr/>
        </p:nvSpPr>
        <p:spPr>
          <a:xfrm>
            <a:off x="6732588" y="4486275"/>
            <a:ext cx="1368425" cy="4572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nb-NO" dirty="0"/>
              <a:t>ISCED97</a:t>
            </a:r>
          </a:p>
        </p:txBody>
      </p:sp>
      <p:cxnSp>
        <p:nvCxnSpPr>
          <p:cNvPr id="21" name="Rett pil 20"/>
          <p:cNvCxnSpPr>
            <a:endCxn id="15" idx="2"/>
          </p:cNvCxnSpPr>
          <p:nvPr/>
        </p:nvCxnSpPr>
        <p:spPr>
          <a:xfrm flipH="1" flipV="1">
            <a:off x="7416800" y="4943475"/>
            <a:ext cx="1133475" cy="357188"/>
          </a:xfrm>
          <a:prstGeom prst="straightConnector1">
            <a:avLst/>
          </a:prstGeom>
          <a:ln>
            <a:solidFill>
              <a:schemeClr val="accent1"/>
            </a:solidFill>
            <a:prstDash val="solid"/>
            <a:tailEnd type="triangle" w="med" len="lg"/>
          </a:ln>
        </p:spPr>
        <p:style>
          <a:lnRef idx="1">
            <a:schemeClr val="accent1"/>
          </a:lnRef>
          <a:fillRef idx="0">
            <a:schemeClr val="accent1"/>
          </a:fillRef>
          <a:effectRef idx="0">
            <a:schemeClr val="accent1"/>
          </a:effectRef>
          <a:fontRef idx="minor">
            <a:schemeClr val="tx1"/>
          </a:fontRef>
        </p:style>
      </p:cxnSp>
      <p:cxnSp>
        <p:nvCxnSpPr>
          <p:cNvPr id="22" name="Rett pil 21"/>
          <p:cNvCxnSpPr>
            <a:endCxn id="15" idx="2"/>
          </p:cNvCxnSpPr>
          <p:nvPr/>
        </p:nvCxnSpPr>
        <p:spPr>
          <a:xfrm flipV="1">
            <a:off x="7397750" y="4943475"/>
            <a:ext cx="19050" cy="357188"/>
          </a:xfrm>
          <a:prstGeom prst="straightConnector1">
            <a:avLst/>
          </a:prstGeom>
          <a:ln>
            <a:solidFill>
              <a:schemeClr val="accent1"/>
            </a:solidFill>
            <a:prstDash val="solid"/>
            <a:tailEnd type="triangle" w="med" len="lg"/>
          </a:ln>
        </p:spPr>
        <p:style>
          <a:lnRef idx="1">
            <a:schemeClr val="accent1"/>
          </a:lnRef>
          <a:fillRef idx="0">
            <a:schemeClr val="accent1"/>
          </a:fillRef>
          <a:effectRef idx="0">
            <a:schemeClr val="accent1"/>
          </a:effectRef>
          <a:fontRef idx="minor">
            <a:schemeClr val="tx1"/>
          </a:fontRef>
        </p:style>
      </p:cxnSp>
      <p:cxnSp>
        <p:nvCxnSpPr>
          <p:cNvPr id="23" name="Rett pil 22"/>
          <p:cNvCxnSpPr>
            <a:stCxn id="5" idx="0"/>
            <a:endCxn id="15" idx="2"/>
          </p:cNvCxnSpPr>
          <p:nvPr/>
        </p:nvCxnSpPr>
        <p:spPr>
          <a:xfrm flipV="1">
            <a:off x="6337300" y="4943475"/>
            <a:ext cx="1079500" cy="357188"/>
          </a:xfrm>
          <a:prstGeom prst="straightConnector1">
            <a:avLst/>
          </a:prstGeom>
          <a:ln>
            <a:solidFill>
              <a:schemeClr val="accent1"/>
            </a:solidFill>
            <a:prstDash val="solid"/>
            <a:tailEnd type="triangle" w="med" len="lg"/>
          </a:ln>
        </p:spPr>
        <p:style>
          <a:lnRef idx="1">
            <a:schemeClr val="accent1"/>
          </a:lnRef>
          <a:fillRef idx="0">
            <a:schemeClr val="accent1"/>
          </a:fillRef>
          <a:effectRef idx="0">
            <a:schemeClr val="accent1"/>
          </a:effectRef>
          <a:fontRef idx="minor">
            <a:schemeClr val="tx1"/>
          </a:fontRef>
        </p:style>
      </p:cxnSp>
      <p:sp>
        <p:nvSpPr>
          <p:cNvPr id="33" name="Ellipse 32"/>
          <p:cNvSpPr/>
          <p:nvPr/>
        </p:nvSpPr>
        <p:spPr>
          <a:xfrm>
            <a:off x="0" y="1123950"/>
            <a:ext cx="6753225" cy="4465638"/>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a:p>
        </p:txBody>
      </p:sp>
      <p:sp>
        <p:nvSpPr>
          <p:cNvPr id="34" name="Ellipse 33"/>
          <p:cNvSpPr/>
          <p:nvPr/>
        </p:nvSpPr>
        <p:spPr>
          <a:xfrm>
            <a:off x="5724525" y="4292600"/>
            <a:ext cx="3344863" cy="2305050"/>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a:p>
        </p:txBody>
      </p:sp>
      <p:sp>
        <p:nvSpPr>
          <p:cNvPr id="36" name="TekstSylinder 35"/>
          <p:cNvSpPr txBox="1">
            <a:spLocks noChangeArrowheads="1"/>
          </p:cNvSpPr>
          <p:nvPr/>
        </p:nvSpPr>
        <p:spPr bwMode="auto">
          <a:xfrm>
            <a:off x="6370638" y="6083300"/>
            <a:ext cx="2159000" cy="369888"/>
          </a:xfrm>
          <a:prstGeom prst="rect">
            <a:avLst/>
          </a:prstGeom>
          <a:noFill/>
          <a:ln w="9525">
            <a:noFill/>
            <a:miter lim="800000"/>
            <a:headEnd/>
            <a:tailEnd/>
          </a:ln>
        </p:spPr>
        <p:txBody>
          <a:bodyPr>
            <a:spAutoFit/>
          </a:bodyPr>
          <a:lstStyle/>
          <a:p>
            <a:pPr algn="ctr"/>
            <a:r>
              <a:rPr lang="nb-NO">
                <a:latin typeface="Calibri" pitchFamily="34" charset="0"/>
              </a:rPr>
              <a:t>Based on ISCED 1997</a:t>
            </a:r>
          </a:p>
        </p:txBody>
      </p:sp>
      <p:sp>
        <p:nvSpPr>
          <p:cNvPr id="3" name="Rektangel 2"/>
          <p:cNvSpPr/>
          <p:nvPr/>
        </p:nvSpPr>
        <p:spPr>
          <a:xfrm>
            <a:off x="6864350" y="2268538"/>
            <a:ext cx="1163638" cy="34607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nb-NO" dirty="0"/>
              <a:t>EDULVLA</a:t>
            </a:r>
          </a:p>
        </p:txBody>
      </p:sp>
      <p:sp>
        <p:nvSpPr>
          <p:cNvPr id="4" name="Rektangel 3"/>
          <p:cNvSpPr/>
          <p:nvPr/>
        </p:nvSpPr>
        <p:spPr>
          <a:xfrm>
            <a:off x="2847975" y="2851150"/>
            <a:ext cx="1165225" cy="373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nb-NO" dirty="0"/>
              <a:t>EDULVLB</a:t>
            </a:r>
          </a:p>
        </p:txBody>
      </p:sp>
      <p:sp>
        <p:nvSpPr>
          <p:cNvPr id="8" name="Rektangel 7"/>
          <p:cNvSpPr/>
          <p:nvPr/>
        </p:nvSpPr>
        <p:spPr>
          <a:xfrm>
            <a:off x="4389438" y="3192463"/>
            <a:ext cx="1165225" cy="34448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nb-NO" dirty="0"/>
              <a:t>EISCED</a:t>
            </a:r>
          </a:p>
        </p:txBody>
      </p:sp>
      <p:cxnSp>
        <p:nvCxnSpPr>
          <p:cNvPr id="9" name="Rett pil 8"/>
          <p:cNvCxnSpPr>
            <a:stCxn id="4" idx="3"/>
            <a:endCxn id="3" idx="1"/>
          </p:cNvCxnSpPr>
          <p:nvPr/>
        </p:nvCxnSpPr>
        <p:spPr>
          <a:xfrm flipV="1">
            <a:off x="4013200" y="2441575"/>
            <a:ext cx="2851150" cy="595313"/>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0" name="Rett pil 9"/>
          <p:cNvCxnSpPr>
            <a:stCxn id="4" idx="3"/>
            <a:endCxn id="8" idx="1"/>
          </p:cNvCxnSpPr>
          <p:nvPr/>
        </p:nvCxnSpPr>
        <p:spPr>
          <a:xfrm>
            <a:off x="4013200" y="3036888"/>
            <a:ext cx="376238" cy="328612"/>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sp>
        <p:nvSpPr>
          <p:cNvPr id="11" name="Rektangel 10"/>
          <p:cNvSpPr/>
          <p:nvPr/>
        </p:nvSpPr>
        <p:spPr>
          <a:xfrm>
            <a:off x="4389438" y="4568825"/>
            <a:ext cx="1165225" cy="373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nb-NO" dirty="0"/>
              <a:t>ISCED11P</a:t>
            </a:r>
          </a:p>
        </p:txBody>
      </p:sp>
      <p:sp>
        <p:nvSpPr>
          <p:cNvPr id="12" name="Rektangel 11"/>
          <p:cNvSpPr/>
          <p:nvPr/>
        </p:nvSpPr>
        <p:spPr>
          <a:xfrm>
            <a:off x="2857500" y="4568825"/>
            <a:ext cx="1163638" cy="3730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nb-NO" dirty="0"/>
              <a:t>ISCED11A</a:t>
            </a:r>
          </a:p>
        </p:txBody>
      </p:sp>
      <p:cxnSp>
        <p:nvCxnSpPr>
          <p:cNvPr id="13" name="Rett pil 12"/>
          <p:cNvCxnSpPr>
            <a:stCxn id="4" idx="2"/>
            <a:endCxn id="12" idx="0"/>
          </p:cNvCxnSpPr>
          <p:nvPr/>
        </p:nvCxnSpPr>
        <p:spPr>
          <a:xfrm>
            <a:off x="3430588" y="3224213"/>
            <a:ext cx="9525" cy="1344612"/>
          </a:xfrm>
          <a:prstGeom prst="straightConnector1">
            <a:avLst/>
          </a:prstGeom>
          <a:ln>
            <a:solidFill>
              <a:schemeClr val="accent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4" name="Rett pil 13"/>
          <p:cNvCxnSpPr/>
          <p:nvPr/>
        </p:nvCxnSpPr>
        <p:spPr>
          <a:xfrm flipH="1">
            <a:off x="4021138" y="4724400"/>
            <a:ext cx="368300" cy="0"/>
          </a:xfrm>
          <a:prstGeom prst="straightConnector1">
            <a:avLst/>
          </a:prstGeom>
          <a:ln w="9525">
            <a:solidFill>
              <a:schemeClr val="accent1"/>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17" name="Rett pil 16"/>
          <p:cNvCxnSpPr>
            <a:stCxn id="12" idx="0"/>
            <a:endCxn id="8" idx="1"/>
          </p:cNvCxnSpPr>
          <p:nvPr/>
        </p:nvCxnSpPr>
        <p:spPr>
          <a:xfrm flipV="1">
            <a:off x="3440113" y="3365500"/>
            <a:ext cx="949325" cy="1203325"/>
          </a:xfrm>
          <a:prstGeom prst="straightConnector1">
            <a:avLst/>
          </a:prstGeom>
          <a:ln>
            <a:solidFill>
              <a:schemeClr val="accent1"/>
            </a:solidFill>
            <a:prstDash val="solid"/>
            <a:tailEnd type="triangle" w="med" len="lg"/>
          </a:ln>
        </p:spPr>
        <p:style>
          <a:lnRef idx="1">
            <a:schemeClr val="accent1"/>
          </a:lnRef>
          <a:fillRef idx="0">
            <a:schemeClr val="accent1"/>
          </a:fillRef>
          <a:effectRef idx="0">
            <a:schemeClr val="accent1"/>
          </a:effectRef>
          <a:fontRef idx="minor">
            <a:schemeClr val="tx1"/>
          </a:fontRef>
        </p:style>
      </p:cxnSp>
      <p:sp>
        <p:nvSpPr>
          <p:cNvPr id="18" name="Rektangel 17"/>
          <p:cNvSpPr/>
          <p:nvPr/>
        </p:nvSpPr>
        <p:spPr>
          <a:xfrm>
            <a:off x="1500188" y="2206625"/>
            <a:ext cx="582612" cy="4699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nb-NO" dirty="0">
                <a:solidFill>
                  <a:schemeClr val="accent1"/>
                </a:solidFill>
              </a:rPr>
              <a:t>DK</a:t>
            </a:r>
          </a:p>
        </p:txBody>
      </p:sp>
      <p:sp>
        <p:nvSpPr>
          <p:cNvPr id="19" name="Rektangel 18"/>
          <p:cNvSpPr/>
          <p:nvPr/>
        </p:nvSpPr>
        <p:spPr>
          <a:xfrm>
            <a:off x="1500188" y="2794000"/>
            <a:ext cx="582612" cy="4699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nb-NO" dirty="0">
                <a:solidFill>
                  <a:schemeClr val="accent1"/>
                </a:solidFill>
              </a:rPr>
              <a:t>DE</a:t>
            </a:r>
          </a:p>
        </p:txBody>
      </p:sp>
      <p:sp>
        <p:nvSpPr>
          <p:cNvPr id="20" name="Rektangel 19"/>
          <p:cNvSpPr/>
          <p:nvPr/>
        </p:nvSpPr>
        <p:spPr>
          <a:xfrm>
            <a:off x="1516063" y="3379788"/>
            <a:ext cx="582612" cy="469900"/>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nb-NO" dirty="0">
                <a:solidFill>
                  <a:schemeClr val="accent1"/>
                </a:solidFill>
              </a:rPr>
              <a:t>FI</a:t>
            </a:r>
          </a:p>
        </p:txBody>
      </p:sp>
      <p:cxnSp>
        <p:nvCxnSpPr>
          <p:cNvPr id="24" name="Rett pil 23"/>
          <p:cNvCxnSpPr>
            <a:stCxn id="18" idx="3"/>
            <a:endCxn id="4" idx="1"/>
          </p:cNvCxnSpPr>
          <p:nvPr/>
        </p:nvCxnSpPr>
        <p:spPr>
          <a:xfrm>
            <a:off x="2082800" y="2441575"/>
            <a:ext cx="765175" cy="595313"/>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5" name="Rett pil 24"/>
          <p:cNvCxnSpPr>
            <a:stCxn id="20" idx="3"/>
            <a:endCxn id="4" idx="1"/>
          </p:cNvCxnSpPr>
          <p:nvPr/>
        </p:nvCxnSpPr>
        <p:spPr>
          <a:xfrm flipV="1">
            <a:off x="2098675" y="3036888"/>
            <a:ext cx="749300" cy="577850"/>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26" name="Rett pil 25"/>
          <p:cNvCxnSpPr>
            <a:stCxn id="19" idx="3"/>
            <a:endCxn id="4" idx="1"/>
          </p:cNvCxnSpPr>
          <p:nvPr/>
        </p:nvCxnSpPr>
        <p:spPr>
          <a:xfrm>
            <a:off x="2082800" y="3028950"/>
            <a:ext cx="765175" cy="7938"/>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sp>
        <p:nvSpPr>
          <p:cNvPr id="27" name="Rektangel 26"/>
          <p:cNvSpPr>
            <a:spLocks noChangeArrowheads="1"/>
          </p:cNvSpPr>
          <p:nvPr/>
        </p:nvSpPr>
        <p:spPr bwMode="auto">
          <a:xfrm>
            <a:off x="611188" y="2206625"/>
            <a:ext cx="582612" cy="469900"/>
          </a:xfrm>
          <a:prstGeom prst="rect">
            <a:avLst/>
          </a:prstGeom>
          <a:solidFill>
            <a:srgbClr val="CCFFFF"/>
          </a:solidFill>
          <a:ln w="25400" algn="ctr">
            <a:solidFill>
              <a:srgbClr val="385D8A"/>
            </a:solidFill>
            <a:miter lim="800000"/>
            <a:headEnd/>
            <a:tailEnd/>
          </a:ln>
        </p:spPr>
        <p:txBody>
          <a:bodyPr anchor="ctr"/>
          <a:lstStyle/>
          <a:p>
            <a:pPr algn="ctr" fontAlgn="auto">
              <a:spcBef>
                <a:spcPts val="0"/>
              </a:spcBef>
              <a:spcAft>
                <a:spcPts val="0"/>
              </a:spcAft>
              <a:defRPr/>
            </a:pPr>
            <a:r>
              <a:rPr lang="nb-NO" dirty="0">
                <a:solidFill>
                  <a:schemeClr val="accent1"/>
                </a:solidFill>
                <a:latin typeface="+mn-lt"/>
              </a:rPr>
              <a:t>Q</a:t>
            </a:r>
          </a:p>
          <a:p>
            <a:pPr algn="ctr" fontAlgn="auto">
              <a:spcBef>
                <a:spcPts val="0"/>
              </a:spcBef>
              <a:spcAft>
                <a:spcPts val="0"/>
              </a:spcAft>
              <a:defRPr/>
            </a:pPr>
            <a:r>
              <a:rPr lang="nb-NO" dirty="0">
                <a:solidFill>
                  <a:schemeClr val="accent1"/>
                </a:solidFill>
                <a:latin typeface="+mn-lt"/>
              </a:rPr>
              <a:t>DK</a:t>
            </a:r>
          </a:p>
        </p:txBody>
      </p:sp>
      <p:sp>
        <p:nvSpPr>
          <p:cNvPr id="28" name="Rektangel 27"/>
          <p:cNvSpPr>
            <a:spLocks noChangeArrowheads="1"/>
          </p:cNvSpPr>
          <p:nvPr/>
        </p:nvSpPr>
        <p:spPr bwMode="auto">
          <a:xfrm>
            <a:off x="611188" y="2794000"/>
            <a:ext cx="582612" cy="469900"/>
          </a:xfrm>
          <a:prstGeom prst="rect">
            <a:avLst/>
          </a:prstGeom>
          <a:solidFill>
            <a:srgbClr val="CCFFFF"/>
          </a:solidFill>
          <a:ln w="25400" algn="ctr">
            <a:solidFill>
              <a:srgbClr val="385D8A"/>
            </a:solidFill>
            <a:miter lim="800000"/>
            <a:headEnd/>
            <a:tailEnd/>
          </a:ln>
        </p:spPr>
        <p:txBody>
          <a:bodyPr anchor="ctr"/>
          <a:lstStyle/>
          <a:p>
            <a:pPr algn="ctr" fontAlgn="auto">
              <a:spcBef>
                <a:spcPts val="0"/>
              </a:spcBef>
              <a:spcAft>
                <a:spcPts val="0"/>
              </a:spcAft>
              <a:defRPr/>
            </a:pPr>
            <a:r>
              <a:rPr lang="nb-NO" dirty="0">
                <a:solidFill>
                  <a:schemeClr val="accent1"/>
                </a:solidFill>
                <a:latin typeface="+mn-lt"/>
              </a:rPr>
              <a:t>Q</a:t>
            </a:r>
          </a:p>
          <a:p>
            <a:pPr algn="ctr" fontAlgn="auto">
              <a:spcBef>
                <a:spcPts val="0"/>
              </a:spcBef>
              <a:spcAft>
                <a:spcPts val="0"/>
              </a:spcAft>
              <a:defRPr/>
            </a:pPr>
            <a:r>
              <a:rPr lang="nb-NO" dirty="0">
                <a:solidFill>
                  <a:schemeClr val="accent1"/>
                </a:solidFill>
                <a:latin typeface="+mn-lt"/>
              </a:rPr>
              <a:t>DE</a:t>
            </a:r>
          </a:p>
        </p:txBody>
      </p:sp>
      <p:sp>
        <p:nvSpPr>
          <p:cNvPr id="29" name="Rektangel 28"/>
          <p:cNvSpPr>
            <a:spLocks noChangeArrowheads="1"/>
          </p:cNvSpPr>
          <p:nvPr/>
        </p:nvSpPr>
        <p:spPr bwMode="auto">
          <a:xfrm>
            <a:off x="611188" y="3387725"/>
            <a:ext cx="582612" cy="469900"/>
          </a:xfrm>
          <a:prstGeom prst="rect">
            <a:avLst/>
          </a:prstGeom>
          <a:solidFill>
            <a:srgbClr val="CCFFFF"/>
          </a:solidFill>
          <a:ln w="25400" algn="ctr">
            <a:solidFill>
              <a:srgbClr val="385D8A"/>
            </a:solidFill>
            <a:miter lim="800000"/>
            <a:headEnd/>
            <a:tailEnd/>
          </a:ln>
        </p:spPr>
        <p:txBody>
          <a:bodyPr anchor="ctr"/>
          <a:lstStyle/>
          <a:p>
            <a:pPr algn="ctr" fontAlgn="auto">
              <a:spcBef>
                <a:spcPts val="0"/>
              </a:spcBef>
              <a:spcAft>
                <a:spcPts val="0"/>
              </a:spcAft>
              <a:defRPr/>
            </a:pPr>
            <a:r>
              <a:rPr lang="nb-NO" dirty="0">
                <a:solidFill>
                  <a:schemeClr val="accent1"/>
                </a:solidFill>
                <a:latin typeface="+mn-lt"/>
              </a:rPr>
              <a:t>Q</a:t>
            </a:r>
          </a:p>
          <a:p>
            <a:pPr algn="ctr" fontAlgn="auto">
              <a:spcBef>
                <a:spcPts val="0"/>
              </a:spcBef>
              <a:spcAft>
                <a:spcPts val="0"/>
              </a:spcAft>
              <a:defRPr/>
            </a:pPr>
            <a:r>
              <a:rPr lang="nb-NO" dirty="0">
                <a:solidFill>
                  <a:schemeClr val="accent1"/>
                </a:solidFill>
                <a:latin typeface="+mn-lt"/>
              </a:rPr>
              <a:t>FI</a:t>
            </a:r>
          </a:p>
        </p:txBody>
      </p:sp>
      <p:cxnSp>
        <p:nvCxnSpPr>
          <p:cNvPr id="30" name="Rett pil 29"/>
          <p:cNvCxnSpPr>
            <a:stCxn id="27" idx="3"/>
            <a:endCxn id="18" idx="1"/>
          </p:cNvCxnSpPr>
          <p:nvPr/>
        </p:nvCxnSpPr>
        <p:spPr>
          <a:xfrm>
            <a:off x="1193800" y="2441575"/>
            <a:ext cx="306388" cy="0"/>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1" name="Rett pil 30"/>
          <p:cNvCxnSpPr>
            <a:stCxn id="28" idx="3"/>
            <a:endCxn id="19" idx="1"/>
          </p:cNvCxnSpPr>
          <p:nvPr/>
        </p:nvCxnSpPr>
        <p:spPr>
          <a:xfrm>
            <a:off x="1193800" y="3028950"/>
            <a:ext cx="306388" cy="0"/>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2" name="Rett pil 31"/>
          <p:cNvCxnSpPr>
            <a:stCxn id="29" idx="3"/>
            <a:endCxn id="20" idx="1"/>
          </p:cNvCxnSpPr>
          <p:nvPr/>
        </p:nvCxnSpPr>
        <p:spPr>
          <a:xfrm flipV="1">
            <a:off x="1193800" y="3614738"/>
            <a:ext cx="322263" cy="7937"/>
          </a:xfrm>
          <a:prstGeom prst="straightConnector1">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sp>
        <p:nvSpPr>
          <p:cNvPr id="35" name="TekstSylinder 34"/>
          <p:cNvSpPr txBox="1">
            <a:spLocks noChangeArrowheads="1"/>
          </p:cNvSpPr>
          <p:nvPr/>
        </p:nvSpPr>
        <p:spPr bwMode="auto">
          <a:xfrm>
            <a:off x="1908175" y="1300163"/>
            <a:ext cx="2520950" cy="369887"/>
          </a:xfrm>
          <a:prstGeom prst="rect">
            <a:avLst/>
          </a:prstGeom>
          <a:noFill/>
          <a:ln w="9525">
            <a:noFill/>
            <a:miter lim="800000"/>
            <a:headEnd/>
            <a:tailEnd/>
          </a:ln>
        </p:spPr>
        <p:txBody>
          <a:bodyPr>
            <a:spAutoFit/>
          </a:bodyPr>
          <a:lstStyle/>
          <a:p>
            <a:pPr algn="ctr"/>
            <a:r>
              <a:rPr lang="nb-NO">
                <a:latin typeface="Calibri" pitchFamily="34" charset="0"/>
              </a:rPr>
              <a:t>Based </a:t>
            </a:r>
            <a:r>
              <a:rPr lang="nb-NO" smtClean="0">
                <a:latin typeface="Calibri" pitchFamily="34" charset="0"/>
              </a:rPr>
              <a:t>on  ISCED </a:t>
            </a:r>
            <a:r>
              <a:rPr lang="nb-NO" dirty="0">
                <a:latin typeface="Calibri" pitchFamily="34" charset="0"/>
              </a:rPr>
              <a:t>2011</a:t>
            </a:r>
          </a:p>
        </p:txBody>
      </p:sp>
      <p:sp>
        <p:nvSpPr>
          <p:cNvPr id="37" name="Rektangel 36"/>
          <p:cNvSpPr/>
          <p:nvPr/>
        </p:nvSpPr>
        <p:spPr>
          <a:xfrm>
            <a:off x="1258888" y="4221163"/>
            <a:ext cx="1425575" cy="792162"/>
          </a:xfrm>
          <a:prstGeom prst="rect">
            <a:avLst/>
          </a:prstGeom>
          <a:solidFill>
            <a:schemeClr val="bg2"/>
          </a:solidFill>
          <a:ln>
            <a:prstDash val="sysDot"/>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nb-NO" sz="1600" dirty="0">
              <a:solidFill>
                <a:schemeClr val="accent1"/>
              </a:solidFill>
            </a:endParaRPr>
          </a:p>
          <a:p>
            <a:pPr algn="ctr" fontAlgn="auto">
              <a:spcBef>
                <a:spcPts val="0"/>
              </a:spcBef>
              <a:spcAft>
                <a:spcPts val="0"/>
              </a:spcAft>
              <a:defRPr/>
            </a:pPr>
            <a:r>
              <a:rPr lang="nb-NO" sz="1600" dirty="0" err="1">
                <a:solidFill>
                  <a:schemeClr val="accent1"/>
                </a:solidFill>
              </a:rPr>
              <a:t>Mapping</a:t>
            </a:r>
            <a:r>
              <a:rPr lang="nb-NO" sz="1600" dirty="0">
                <a:solidFill>
                  <a:schemeClr val="accent1"/>
                </a:solidFill>
              </a:rPr>
              <a:t> </a:t>
            </a:r>
            <a:r>
              <a:rPr lang="nb-NO" sz="1600" dirty="0" err="1">
                <a:solidFill>
                  <a:schemeClr val="accent1"/>
                </a:solidFill>
              </a:rPr>
              <a:t>of</a:t>
            </a:r>
            <a:r>
              <a:rPr lang="nb-NO" sz="1600" dirty="0">
                <a:solidFill>
                  <a:schemeClr val="accent1"/>
                </a:solidFill>
              </a:rPr>
              <a:t> </a:t>
            </a:r>
          </a:p>
          <a:p>
            <a:pPr algn="ctr" fontAlgn="auto">
              <a:spcBef>
                <a:spcPts val="0"/>
              </a:spcBef>
              <a:spcAft>
                <a:spcPts val="0"/>
              </a:spcAft>
              <a:defRPr/>
            </a:pPr>
            <a:r>
              <a:rPr lang="nb-NO" sz="1600" dirty="0">
                <a:solidFill>
                  <a:schemeClr val="accent1"/>
                </a:solidFill>
              </a:rPr>
              <a:t>National </a:t>
            </a:r>
          </a:p>
          <a:p>
            <a:pPr algn="ctr" fontAlgn="auto">
              <a:spcBef>
                <a:spcPts val="0"/>
              </a:spcBef>
              <a:spcAft>
                <a:spcPts val="0"/>
              </a:spcAft>
              <a:defRPr/>
            </a:pPr>
            <a:r>
              <a:rPr lang="nb-NO" sz="1600" dirty="0">
                <a:solidFill>
                  <a:schemeClr val="accent1"/>
                </a:solidFill>
              </a:rPr>
              <a:t>Programs</a:t>
            </a:r>
          </a:p>
          <a:p>
            <a:pPr algn="ctr" fontAlgn="auto">
              <a:spcBef>
                <a:spcPts val="0"/>
              </a:spcBef>
              <a:spcAft>
                <a:spcPts val="0"/>
              </a:spcAft>
              <a:defRPr/>
            </a:pPr>
            <a:endParaRPr lang="nb-NO" sz="1600" dirty="0">
              <a:solidFill>
                <a:schemeClr val="accent1"/>
              </a:solidFill>
            </a:endParaRPr>
          </a:p>
        </p:txBody>
      </p:sp>
      <p:cxnSp>
        <p:nvCxnSpPr>
          <p:cNvPr id="38" name="Buet linje 37"/>
          <p:cNvCxnSpPr/>
          <p:nvPr/>
        </p:nvCxnSpPr>
        <p:spPr>
          <a:xfrm rot="5400000" flipH="1" flipV="1">
            <a:off x="2553494" y="4296569"/>
            <a:ext cx="96837" cy="1387475"/>
          </a:xfrm>
          <a:prstGeom prst="curvedConnector3">
            <a:avLst>
              <a:gd name="adj1" fmla="val -235921"/>
            </a:avLst>
          </a:prstGeom>
          <a:ln w="9525">
            <a:solidFill>
              <a:srgbClr val="0070C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39" name="Buet linje 38"/>
          <p:cNvCxnSpPr/>
          <p:nvPr/>
        </p:nvCxnSpPr>
        <p:spPr>
          <a:xfrm rot="5400000" flipH="1" flipV="1">
            <a:off x="3319463" y="3530600"/>
            <a:ext cx="96837" cy="2919413"/>
          </a:xfrm>
          <a:prstGeom prst="curvedConnector3">
            <a:avLst>
              <a:gd name="adj1" fmla="val -455160"/>
            </a:avLst>
          </a:prstGeom>
          <a:ln w="25400">
            <a:solidFill>
              <a:srgbClr val="00B050"/>
            </a:solidFill>
            <a:tailEnd type="triangle" w="med" len="lg"/>
          </a:ln>
        </p:spPr>
        <p:style>
          <a:lnRef idx="1">
            <a:schemeClr val="accent1"/>
          </a:lnRef>
          <a:fillRef idx="0">
            <a:schemeClr val="accent1"/>
          </a:fillRef>
          <a:effectRef idx="0">
            <a:schemeClr val="accent1"/>
          </a:effectRef>
          <a:fontRef idx="minor">
            <a:schemeClr val="tx1"/>
          </a:fontRef>
        </p:style>
      </p:cxnSp>
      <p:cxnSp>
        <p:nvCxnSpPr>
          <p:cNvPr id="51" name="Rett pil 50"/>
          <p:cNvCxnSpPr>
            <a:stCxn id="3" idx="2"/>
            <a:endCxn id="15" idx="0"/>
          </p:cNvCxnSpPr>
          <p:nvPr/>
        </p:nvCxnSpPr>
        <p:spPr>
          <a:xfrm flipH="1">
            <a:off x="7416800" y="2614613"/>
            <a:ext cx="28575" cy="1871662"/>
          </a:xfrm>
          <a:prstGeom prst="straightConnector1">
            <a:avLst/>
          </a:prstGeom>
          <a:ln w="2540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59" name="Rett pil 58"/>
          <p:cNvCxnSpPr>
            <a:stCxn id="15" idx="1"/>
            <a:endCxn id="11" idx="3"/>
          </p:cNvCxnSpPr>
          <p:nvPr/>
        </p:nvCxnSpPr>
        <p:spPr>
          <a:xfrm flipH="1">
            <a:off x="5554663" y="4714875"/>
            <a:ext cx="1177925" cy="3968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60" name="TekstSylinder 59"/>
          <p:cNvSpPr txBox="1">
            <a:spLocks noChangeArrowheads="1"/>
          </p:cNvSpPr>
          <p:nvPr/>
        </p:nvSpPr>
        <p:spPr bwMode="auto">
          <a:xfrm>
            <a:off x="5867400" y="4437063"/>
            <a:ext cx="268288" cy="307975"/>
          </a:xfrm>
          <a:prstGeom prst="rect">
            <a:avLst/>
          </a:prstGeom>
          <a:noFill/>
          <a:ln w="9525">
            <a:noFill/>
            <a:miter lim="800000"/>
            <a:headEnd/>
            <a:tailEnd/>
          </a:ln>
        </p:spPr>
        <p:txBody>
          <a:bodyPr wrap="none">
            <a:spAutoFit/>
          </a:bodyPr>
          <a:lstStyle/>
          <a:p>
            <a:r>
              <a:rPr lang="nb-NO" sz="1400">
                <a:latin typeface="Calibri" pitchFamily="34" charset="0"/>
              </a:rPr>
              <a:t>?</a:t>
            </a:r>
          </a:p>
        </p:txBody>
      </p:sp>
      <p:sp>
        <p:nvSpPr>
          <p:cNvPr id="63" name="Rektangel 62"/>
          <p:cNvSpPr/>
          <p:nvPr/>
        </p:nvSpPr>
        <p:spPr>
          <a:xfrm>
            <a:off x="6948488" y="5300663"/>
            <a:ext cx="938212" cy="57626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nb-NO" sz="1500">
                <a:solidFill>
                  <a:schemeClr val="accent1"/>
                </a:solidFill>
              </a:rPr>
              <a:t>Mapping</a:t>
            </a:r>
          </a:p>
          <a:p>
            <a:pPr algn="ctr"/>
            <a:r>
              <a:rPr lang="nb-NO" sz="1500">
                <a:solidFill>
                  <a:schemeClr val="accent1"/>
                </a:solidFill>
              </a:rPr>
              <a:t>DE</a:t>
            </a:r>
          </a:p>
        </p:txBody>
      </p:sp>
      <p:sp>
        <p:nvSpPr>
          <p:cNvPr id="64" name="Rektangel 63"/>
          <p:cNvSpPr/>
          <p:nvPr/>
        </p:nvSpPr>
        <p:spPr>
          <a:xfrm>
            <a:off x="7956550" y="5300663"/>
            <a:ext cx="936625" cy="576262"/>
          </a:xfrm>
          <a:prstGeom prst="rect">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r>
              <a:rPr lang="nb-NO" sz="1500">
                <a:solidFill>
                  <a:schemeClr val="accent1"/>
                </a:solidFill>
              </a:rPr>
              <a:t>Mapping</a:t>
            </a:r>
          </a:p>
          <a:p>
            <a:pPr algn="ctr"/>
            <a:r>
              <a:rPr lang="nb-NO" sz="1500">
                <a:solidFill>
                  <a:schemeClr val="accent1"/>
                </a:solidFill>
              </a:rPr>
              <a:t>FI</a:t>
            </a:r>
          </a:p>
        </p:txBody>
      </p:sp>
      <p:sp>
        <p:nvSpPr>
          <p:cNvPr id="86" name="TekstSylinder 85"/>
          <p:cNvSpPr txBox="1">
            <a:spLocks noChangeArrowheads="1"/>
          </p:cNvSpPr>
          <p:nvPr/>
        </p:nvSpPr>
        <p:spPr bwMode="auto">
          <a:xfrm>
            <a:off x="2601913" y="2060575"/>
            <a:ext cx="3400425" cy="369888"/>
          </a:xfrm>
          <a:prstGeom prst="rect">
            <a:avLst/>
          </a:prstGeom>
          <a:noFill/>
          <a:ln w="9525">
            <a:noFill/>
            <a:miter lim="800000"/>
            <a:headEnd/>
            <a:tailEnd/>
          </a:ln>
        </p:spPr>
        <p:txBody>
          <a:bodyPr>
            <a:spAutoFit/>
          </a:bodyPr>
          <a:lstStyle/>
          <a:p>
            <a:pPr algn="ctr"/>
            <a:r>
              <a:rPr lang="nb-NO">
                <a:latin typeface="Calibri" pitchFamily="34" charset="0"/>
              </a:rPr>
              <a:t>European Social Survey Round 5</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59"/>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6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63"/>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64"/>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4"/>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9"/>
                                        </p:tgtEl>
                                        <p:attrNameLst>
                                          <p:attrName>style.visibility</p:attrName>
                                        </p:attrNameLst>
                                      </p:cBhvr>
                                      <p:to>
                                        <p:strVal val="visible"/>
                                      </p:to>
                                    </p:set>
                                  </p:childTnLst>
                                </p:cTn>
                              </p:par>
                              <p:par>
                                <p:cTn id="57" presetID="1" presetClass="entr" presetSubtype="0" fill="hold" nodeType="withEffect">
                                  <p:stCondLst>
                                    <p:cond delay="0"/>
                                  </p:stCondLst>
                                  <p:childTnLst>
                                    <p:set>
                                      <p:cBhvr>
                                        <p:cTn id="58" dur="1" fill="hold">
                                          <p:stCondLst>
                                            <p:cond delay="0"/>
                                          </p:stCondLst>
                                        </p:cTn>
                                        <p:tgtEl>
                                          <p:spTgt spid="10"/>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8"/>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par>
                                <p:cTn id="65" presetID="1" presetClass="entr" presetSubtype="0" fill="hold" nodeType="withEffect">
                                  <p:stCondLst>
                                    <p:cond delay="0"/>
                                  </p:stCondLst>
                                  <p:childTnLst>
                                    <p:set>
                                      <p:cBhvr>
                                        <p:cTn id="66" dur="1" fill="hold">
                                          <p:stCondLst>
                                            <p:cond delay="0"/>
                                          </p:stCondLst>
                                        </p:cTn>
                                        <p:tgtEl>
                                          <p:spTgt spid="24"/>
                                        </p:tgtEl>
                                        <p:attrNameLst>
                                          <p:attrName>style.visibility</p:attrName>
                                        </p:attrNameLst>
                                      </p:cBhvr>
                                      <p:to>
                                        <p:strVal val="visible"/>
                                      </p:to>
                                    </p:set>
                                  </p:childTnLst>
                                </p:cTn>
                              </p:par>
                              <p:par>
                                <p:cTn id="67" presetID="1" presetClass="entr" presetSubtype="0" fill="hold" nodeType="withEffect">
                                  <p:stCondLst>
                                    <p:cond delay="0"/>
                                  </p:stCondLst>
                                  <p:childTnLst>
                                    <p:set>
                                      <p:cBhvr>
                                        <p:cTn id="68" dur="1" fill="hold">
                                          <p:stCondLst>
                                            <p:cond delay="0"/>
                                          </p:stCondLst>
                                        </p:cTn>
                                        <p:tgtEl>
                                          <p:spTgt spid="25"/>
                                        </p:tgtEl>
                                        <p:attrNameLst>
                                          <p:attrName>style.visibility</p:attrName>
                                        </p:attrNameLst>
                                      </p:cBhvr>
                                      <p:to>
                                        <p:strVal val="visible"/>
                                      </p:to>
                                    </p:set>
                                  </p:childTnLst>
                                </p:cTn>
                              </p:par>
                              <p:par>
                                <p:cTn id="69" presetID="1" presetClass="entr" presetSubtype="0" fill="hold" nodeType="withEffect">
                                  <p:stCondLst>
                                    <p:cond delay="0"/>
                                  </p:stCondLst>
                                  <p:childTnLst>
                                    <p:set>
                                      <p:cBhvr>
                                        <p:cTn id="70" dur="1" fill="hold">
                                          <p:stCondLst>
                                            <p:cond delay="0"/>
                                          </p:stCondLst>
                                        </p:cTn>
                                        <p:tgtEl>
                                          <p:spTgt spid="26"/>
                                        </p:tgtEl>
                                        <p:attrNameLst>
                                          <p:attrName>style.visibility</p:attrName>
                                        </p:attrNameLst>
                                      </p:cBhvr>
                                      <p:to>
                                        <p:strVal val="visible"/>
                                      </p:to>
                                    </p:set>
                                  </p:childTnLst>
                                </p:cTn>
                              </p:par>
                              <p:par>
                                <p:cTn id="71" presetID="1" presetClass="entr" presetSubtype="0" fill="hold" grpId="0" nodeType="withEffect">
                                  <p:stCondLst>
                                    <p:cond delay="0"/>
                                  </p:stCondLst>
                                  <p:childTnLst>
                                    <p:set>
                                      <p:cBhvr>
                                        <p:cTn id="72" dur="1" fill="hold">
                                          <p:stCondLst>
                                            <p:cond delay="0"/>
                                          </p:stCondLst>
                                        </p:cTn>
                                        <p:tgtEl>
                                          <p:spTgt spid="27"/>
                                        </p:tgtEl>
                                        <p:attrNameLst>
                                          <p:attrName>style.visibility</p:attrName>
                                        </p:attrNameLst>
                                      </p:cBhvr>
                                      <p:to>
                                        <p:strVal val="visible"/>
                                      </p:to>
                                    </p:set>
                                  </p:childTnLst>
                                </p:cTn>
                              </p:par>
                              <p:par>
                                <p:cTn id="73" presetID="1"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childTnLst>
                                </p:cTn>
                              </p:par>
                              <p:par>
                                <p:cTn id="75" presetID="1" presetClass="entr" presetSubtype="0" fill="hold" grpId="0" nodeType="withEffect">
                                  <p:stCondLst>
                                    <p:cond delay="0"/>
                                  </p:stCondLst>
                                  <p:childTnLst>
                                    <p:set>
                                      <p:cBhvr>
                                        <p:cTn id="76" dur="1" fill="hold">
                                          <p:stCondLst>
                                            <p:cond delay="0"/>
                                          </p:stCondLst>
                                        </p:cTn>
                                        <p:tgtEl>
                                          <p:spTgt spid="29"/>
                                        </p:tgtEl>
                                        <p:attrNameLst>
                                          <p:attrName>style.visibility</p:attrName>
                                        </p:attrNameLst>
                                      </p:cBhvr>
                                      <p:to>
                                        <p:strVal val="visible"/>
                                      </p:to>
                                    </p:set>
                                  </p:childTnLst>
                                </p:cTn>
                              </p:par>
                              <p:par>
                                <p:cTn id="77" presetID="1" presetClass="entr" presetSubtype="0" fill="hold" nodeType="withEffect">
                                  <p:stCondLst>
                                    <p:cond delay="0"/>
                                  </p:stCondLst>
                                  <p:childTnLst>
                                    <p:set>
                                      <p:cBhvr>
                                        <p:cTn id="78" dur="1" fill="hold">
                                          <p:stCondLst>
                                            <p:cond delay="0"/>
                                          </p:stCondLst>
                                        </p:cTn>
                                        <p:tgtEl>
                                          <p:spTgt spid="30"/>
                                        </p:tgtEl>
                                        <p:attrNameLst>
                                          <p:attrName>style.visibility</p:attrName>
                                        </p:attrNameLst>
                                      </p:cBhvr>
                                      <p:to>
                                        <p:strVal val="visible"/>
                                      </p:to>
                                    </p:set>
                                  </p:childTnLst>
                                </p:cTn>
                              </p:par>
                              <p:par>
                                <p:cTn id="79" presetID="1" presetClass="entr" presetSubtype="0" fill="hold" nodeType="withEffect">
                                  <p:stCondLst>
                                    <p:cond delay="0"/>
                                  </p:stCondLst>
                                  <p:childTnLst>
                                    <p:set>
                                      <p:cBhvr>
                                        <p:cTn id="80" dur="1" fill="hold">
                                          <p:stCondLst>
                                            <p:cond delay="0"/>
                                          </p:stCondLst>
                                        </p:cTn>
                                        <p:tgtEl>
                                          <p:spTgt spid="31"/>
                                        </p:tgtEl>
                                        <p:attrNameLst>
                                          <p:attrName>style.visibility</p:attrName>
                                        </p:attrNameLst>
                                      </p:cBhvr>
                                      <p:to>
                                        <p:strVal val="visible"/>
                                      </p:to>
                                    </p:set>
                                  </p:childTnLst>
                                </p:cTn>
                              </p:par>
                              <p:par>
                                <p:cTn id="81" presetID="1" presetClass="entr" presetSubtype="0" fill="hold" nodeType="withEffect">
                                  <p:stCondLst>
                                    <p:cond delay="0"/>
                                  </p:stCondLst>
                                  <p:childTnLst>
                                    <p:set>
                                      <p:cBhvr>
                                        <p:cTn id="82" dur="1" fill="hold">
                                          <p:stCondLst>
                                            <p:cond delay="0"/>
                                          </p:stCondLst>
                                        </p:cTn>
                                        <p:tgtEl>
                                          <p:spTgt spid="32"/>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86"/>
                                        </p:tgtEl>
                                        <p:attrNameLst>
                                          <p:attrName>style.visibility</p:attrName>
                                        </p:attrNameLst>
                                      </p:cBhvr>
                                      <p:to>
                                        <p:strVal val="visible"/>
                                      </p:to>
                                    </p:set>
                                  </p:childTnLst>
                                </p:cTn>
                              </p:par>
                              <p:par>
                                <p:cTn id="85" presetID="1" presetClass="entr" presetSubtype="0" fill="hold" nodeType="withEffect">
                                  <p:stCondLst>
                                    <p:cond delay="0"/>
                                  </p:stCondLst>
                                  <p:childTnLst>
                                    <p:set>
                                      <p:cBhvr>
                                        <p:cTn id="86" dur="1" fill="hold">
                                          <p:stCondLst>
                                            <p:cond delay="0"/>
                                          </p:stCondLst>
                                        </p:cTn>
                                        <p:tgtEl>
                                          <p:spTgt spid="13"/>
                                        </p:tgtEl>
                                        <p:attrNameLst>
                                          <p:attrName>style.visibility</p:attrName>
                                        </p:attrNameLst>
                                      </p:cBhvr>
                                      <p:to>
                                        <p:strVal val="visible"/>
                                      </p:to>
                                    </p:set>
                                  </p:childTnLst>
                                </p:cTn>
                              </p:par>
                              <p:par>
                                <p:cTn id="87" presetID="1" presetClass="entr" presetSubtype="0" fill="hold" nodeType="withEffect">
                                  <p:stCondLst>
                                    <p:cond delay="0"/>
                                  </p:stCondLst>
                                  <p:childTnLst>
                                    <p:set>
                                      <p:cBhvr>
                                        <p:cTn id="88" dur="1" fill="hold">
                                          <p:stCondLst>
                                            <p:cond delay="0"/>
                                          </p:stCondLst>
                                        </p:cTn>
                                        <p:tgtEl>
                                          <p:spTgt spid="17"/>
                                        </p:tgtEl>
                                        <p:attrNameLst>
                                          <p:attrName>style.visibility</p:attrName>
                                        </p:attrNameLst>
                                      </p:cBhvr>
                                      <p:to>
                                        <p:strVal val="visible"/>
                                      </p:to>
                                    </p:set>
                                  </p:childTnLst>
                                </p:cTn>
                              </p:par>
                              <p:par>
                                <p:cTn id="89" presetID="1" presetClass="entr" presetSubtype="0" fill="hold" nodeType="withEffect">
                                  <p:stCondLst>
                                    <p:cond delay="0"/>
                                  </p:stCondLst>
                                  <p:childTnLst>
                                    <p:set>
                                      <p:cBhvr>
                                        <p:cTn id="90" dur="1" fill="hold">
                                          <p:stCondLst>
                                            <p:cond delay="0"/>
                                          </p:stCondLst>
                                        </p:cTn>
                                        <p:tgtEl>
                                          <p:spTgt spid="51"/>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5" grpId="0" animBg="1"/>
      <p:bldP spid="15" grpId="0" animBg="1"/>
      <p:bldP spid="33" grpId="0" animBg="1"/>
      <p:bldP spid="34" grpId="0" animBg="1"/>
      <p:bldP spid="36" grpId="0"/>
      <p:bldP spid="3" grpId="0" animBg="1"/>
      <p:bldP spid="4" grpId="0" animBg="1"/>
      <p:bldP spid="8" grpId="0" animBg="1"/>
      <p:bldP spid="11" grpId="0" animBg="1"/>
      <p:bldP spid="12" grpId="0" animBg="1"/>
      <p:bldP spid="18" grpId="0" animBg="1"/>
      <p:bldP spid="19" grpId="0" animBg="1"/>
      <p:bldP spid="20" grpId="0" animBg="1"/>
      <p:bldP spid="27" grpId="0" animBg="1"/>
      <p:bldP spid="28" grpId="0" animBg="1"/>
      <p:bldP spid="29" grpId="0" animBg="1"/>
      <p:bldP spid="35" grpId="0"/>
      <p:bldP spid="37" grpId="0" animBg="1"/>
      <p:bldP spid="60" grpId="0"/>
      <p:bldP spid="63" grpId="0" animBg="1"/>
      <p:bldP spid="64" grpId="0" animBg="1"/>
      <p:bldP spid="8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tel 1"/>
          <p:cNvSpPr>
            <a:spLocks noGrp="1"/>
          </p:cNvSpPr>
          <p:nvPr>
            <p:ph type="title"/>
          </p:nvPr>
        </p:nvSpPr>
        <p:spPr/>
        <p:txBody>
          <a:bodyPr/>
          <a:lstStyle/>
          <a:p>
            <a:pPr eaLnBrk="1" hangingPunct="1"/>
            <a:r>
              <a:rPr lang="nb-NO" dirty="0" smtClean="0"/>
              <a:t>Possible DDI Usage:</a:t>
            </a:r>
            <a:br>
              <a:rPr lang="nb-NO" dirty="0" smtClean="0"/>
            </a:br>
            <a:r>
              <a:rPr lang="nb-NO" dirty="0" smtClean="0"/>
              <a:t>Resource </a:t>
            </a:r>
            <a:r>
              <a:rPr lang="nb-NO" dirty="0"/>
              <a:t>Package for ISCED 2011</a:t>
            </a:r>
            <a:endParaRPr lang="nb-NO" dirty="0" smtClean="0"/>
          </a:p>
        </p:txBody>
      </p:sp>
      <p:sp>
        <p:nvSpPr>
          <p:cNvPr id="3" name="Plassholder for innhold 2"/>
          <p:cNvSpPr>
            <a:spLocks noGrp="1"/>
          </p:cNvSpPr>
          <p:nvPr>
            <p:ph idx="1"/>
          </p:nvPr>
        </p:nvSpPr>
        <p:spPr>
          <a:xfrm>
            <a:off x="457200" y="1600200"/>
            <a:ext cx="8229600" cy="4853136"/>
          </a:xfrm>
        </p:spPr>
        <p:txBody>
          <a:bodyPr rtlCol="0">
            <a:normAutofit fontScale="85000" lnSpcReduction="20000"/>
          </a:bodyPr>
          <a:lstStyle/>
          <a:p>
            <a:pPr eaLnBrk="1" fontAlgn="auto" hangingPunct="1">
              <a:spcAft>
                <a:spcPts val="0"/>
              </a:spcAft>
              <a:defRPr/>
            </a:pPr>
            <a:r>
              <a:rPr lang="nb-NO" dirty="0" smtClean="0"/>
              <a:t>Programme and Attainment as two variables (with codes and categories)</a:t>
            </a:r>
          </a:p>
          <a:p>
            <a:pPr eaLnBrk="1" fontAlgn="auto" hangingPunct="1">
              <a:spcAft>
                <a:spcPts val="0"/>
              </a:spcAft>
              <a:defRPr/>
            </a:pPr>
            <a:r>
              <a:rPr lang="nb-NO" dirty="0" smtClean="0"/>
              <a:t>Relationship between programme and attainment variant, realised in comparison</a:t>
            </a:r>
          </a:p>
          <a:p>
            <a:pPr eaLnBrk="1" fontAlgn="auto" hangingPunct="1">
              <a:spcAft>
                <a:spcPts val="0"/>
              </a:spcAft>
              <a:defRPr/>
            </a:pPr>
            <a:r>
              <a:rPr lang="nb-NO" dirty="0" smtClean="0"/>
              <a:t>Operational concepts and definitions as collection of notes (or as external other material with identifiable sections)</a:t>
            </a:r>
          </a:p>
          <a:p>
            <a:pPr lvl="1" eaLnBrk="1" fontAlgn="auto" hangingPunct="1">
              <a:spcAft>
                <a:spcPts val="0"/>
              </a:spcAft>
              <a:defRPr/>
            </a:pPr>
            <a:r>
              <a:rPr lang="nb-NO" i="1" dirty="0" smtClean="0"/>
              <a:t>Issue: identification of each paragraph, cross-reference between paragraphs, integration of structured text</a:t>
            </a:r>
          </a:p>
          <a:p>
            <a:pPr eaLnBrk="1" fontAlgn="auto" hangingPunct="1">
              <a:spcAft>
                <a:spcPts val="0"/>
              </a:spcAft>
              <a:defRPr/>
            </a:pPr>
            <a:r>
              <a:rPr lang="nb-NO" dirty="0" smtClean="0"/>
              <a:t>Future </a:t>
            </a:r>
            <a:r>
              <a:rPr lang="en-US" dirty="0" smtClean="0"/>
              <a:t>mappings from national variables to ISCED11, </a:t>
            </a:r>
            <a:r>
              <a:rPr lang="en-US" dirty="0" err="1" smtClean="0"/>
              <a:t>realised</a:t>
            </a:r>
            <a:r>
              <a:rPr lang="en-US" dirty="0" smtClean="0"/>
              <a:t> in comparison and generation instruction</a:t>
            </a:r>
          </a:p>
          <a:p>
            <a:pPr eaLnBrk="1" fontAlgn="auto" hangingPunct="1">
              <a:spcAft>
                <a:spcPts val="0"/>
              </a:spcAft>
              <a:defRPr/>
            </a:pPr>
            <a:r>
              <a:rPr lang="de-DE" i="1" dirty="0" err="1" smtClean="0"/>
              <a:t>Issue</a:t>
            </a:r>
            <a:r>
              <a:rPr lang="de-DE" i="1" dirty="0" smtClean="0"/>
              <a:t>: </a:t>
            </a:r>
            <a:r>
              <a:rPr lang="de-DE" i="1" dirty="0" err="1" smtClean="0"/>
              <a:t>current</a:t>
            </a:r>
            <a:r>
              <a:rPr lang="de-DE" i="1" dirty="0" smtClean="0"/>
              <a:t> </a:t>
            </a:r>
            <a:r>
              <a:rPr lang="de-DE" i="1" dirty="0" err="1" smtClean="0"/>
              <a:t>solution</a:t>
            </a:r>
            <a:r>
              <a:rPr lang="de-DE" i="1" dirty="0" smtClean="0"/>
              <a:t> </a:t>
            </a:r>
            <a:r>
              <a:rPr lang="de-DE" i="1" dirty="0" err="1" smtClean="0"/>
              <a:t>of</a:t>
            </a:r>
            <a:r>
              <a:rPr lang="de-DE" i="1" dirty="0" smtClean="0"/>
              <a:t> </a:t>
            </a:r>
            <a:r>
              <a:rPr lang="de-DE" i="1" dirty="0" err="1" smtClean="0"/>
              <a:t>extracting</a:t>
            </a:r>
            <a:r>
              <a:rPr lang="de-DE" i="1" dirty="0" smtClean="0"/>
              <a:t>/</a:t>
            </a:r>
            <a:r>
              <a:rPr lang="de-DE" i="1" dirty="0" err="1" smtClean="0"/>
              <a:t>adding</a:t>
            </a:r>
            <a:r>
              <a:rPr lang="de-DE" i="1" dirty="0" smtClean="0"/>
              <a:t> </a:t>
            </a:r>
            <a:r>
              <a:rPr lang="de-DE" i="1" dirty="0" err="1" smtClean="0"/>
              <a:t>parts</a:t>
            </a:r>
            <a:r>
              <a:rPr lang="de-DE" i="1" dirty="0" smtClean="0"/>
              <a:t> </a:t>
            </a:r>
            <a:r>
              <a:rPr lang="de-DE" i="1" dirty="0" err="1" smtClean="0"/>
              <a:t>of</a:t>
            </a:r>
            <a:r>
              <a:rPr lang="de-DE" i="1" dirty="0" smtClean="0"/>
              <a:t>/</a:t>
            </a:r>
            <a:r>
              <a:rPr lang="de-DE" i="1" dirty="0" err="1" smtClean="0"/>
              <a:t>to</a:t>
            </a:r>
            <a:r>
              <a:rPr lang="de-DE" i="1" dirty="0" smtClean="0"/>
              <a:t> </a:t>
            </a:r>
            <a:r>
              <a:rPr lang="de-DE" i="1" dirty="0" err="1" smtClean="0"/>
              <a:t>existing</a:t>
            </a:r>
            <a:r>
              <a:rPr lang="de-DE" i="1" dirty="0" smtClean="0"/>
              <a:t> </a:t>
            </a:r>
            <a:r>
              <a:rPr lang="de-DE" i="1" dirty="0" err="1" smtClean="0"/>
              <a:t>code</a:t>
            </a:r>
            <a:r>
              <a:rPr lang="de-DE" i="1" dirty="0" smtClean="0"/>
              <a:t> list </a:t>
            </a:r>
            <a:r>
              <a:rPr lang="de-DE" i="1" dirty="0" err="1" smtClean="0"/>
              <a:t>is</a:t>
            </a:r>
            <a:r>
              <a:rPr lang="de-DE" i="1" dirty="0" smtClean="0"/>
              <a:t> </a:t>
            </a:r>
            <a:r>
              <a:rPr lang="de-DE" i="1" dirty="0" err="1" smtClean="0"/>
              <a:t>probably</a:t>
            </a:r>
            <a:r>
              <a:rPr lang="de-DE" i="1" dirty="0" smtClean="0"/>
              <a:t> not flexible </a:t>
            </a:r>
            <a:r>
              <a:rPr lang="de-DE" i="1" dirty="0" err="1" smtClean="0"/>
              <a:t>enough</a:t>
            </a:r>
            <a:endParaRPr lang="en-US" i="1" dirty="0" smtClean="0"/>
          </a:p>
          <a:p>
            <a:pPr lvl="1" eaLnBrk="1" fontAlgn="auto" hangingPunct="1">
              <a:spcAft>
                <a:spcPts val="0"/>
              </a:spcAft>
              <a:buFont typeface="Arial" pitchFamily="34" charset="0"/>
              <a:buChar char="–"/>
              <a:defRPr/>
            </a:pPr>
            <a:endParaRPr lang="nb-NO" dirty="0" smtClean="0"/>
          </a:p>
          <a:p>
            <a:pPr lvl="1" eaLnBrk="1" fontAlgn="auto" hangingPunct="1">
              <a:spcAft>
                <a:spcPts val="0"/>
              </a:spcAft>
              <a:buFont typeface="Arial" pitchFamily="34" charset="0"/>
              <a:buChar char="–"/>
              <a:defRPr/>
            </a:pPr>
            <a:endParaRPr lang="nb-NO" dirty="0" smtClean="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a:xfrm>
            <a:off x="457200" y="561975"/>
            <a:ext cx="8229600" cy="706438"/>
          </a:xfrm>
        </p:spPr>
        <p:txBody>
          <a:bodyPr rtlCol="0">
            <a:normAutofit fontScale="90000"/>
          </a:bodyPr>
          <a:lstStyle/>
          <a:p>
            <a:pPr eaLnBrk="1" fontAlgn="auto" hangingPunct="1">
              <a:spcAft>
                <a:spcPts val="0"/>
              </a:spcAft>
              <a:defRPr/>
            </a:pPr>
            <a:r>
              <a:rPr lang="en-US" sz="3600" dirty="0" smtClean="0"/>
              <a:t>ISCED</a:t>
            </a:r>
            <a:r>
              <a:rPr lang="en-US" sz="3600" dirty="0" smtClean="0">
                <a:latin typeface="Verdana" pitchFamily="34" charset="0"/>
              </a:rPr>
              <a:t> in a DDI Resource </a:t>
            </a:r>
            <a:r>
              <a:rPr lang="en-US" sz="3600" dirty="0">
                <a:latin typeface="Verdana" pitchFamily="34" charset="0"/>
              </a:rPr>
              <a:t>P</a:t>
            </a:r>
            <a:r>
              <a:rPr lang="en-US" sz="3600" dirty="0" smtClean="0">
                <a:latin typeface="Verdana" pitchFamily="34" charset="0"/>
              </a:rPr>
              <a:t>ackage</a:t>
            </a:r>
            <a:r>
              <a:rPr lang="nb-NO" b="1" dirty="0" smtClean="0">
                <a:solidFill>
                  <a:srgbClr val="336699"/>
                </a:solidFill>
                <a:latin typeface="Verdana" pitchFamily="34" charset="0"/>
              </a:rPr>
              <a:t/>
            </a:r>
            <a:br>
              <a:rPr lang="nb-NO" b="1" dirty="0" smtClean="0">
                <a:solidFill>
                  <a:srgbClr val="336699"/>
                </a:solidFill>
                <a:latin typeface="Verdana" pitchFamily="34" charset="0"/>
              </a:rPr>
            </a:br>
            <a:endParaRPr lang="nb-NO" dirty="0"/>
          </a:p>
        </p:txBody>
      </p:sp>
      <p:sp>
        <p:nvSpPr>
          <p:cNvPr id="39938" name="Rectangle 10"/>
          <p:cNvSpPr>
            <a:spLocks noGrp="1" noChangeArrowheads="1"/>
          </p:cNvSpPr>
          <p:nvPr>
            <p:ph idx="1"/>
          </p:nvPr>
        </p:nvSpPr>
        <p:spPr>
          <a:xfrm>
            <a:off x="468313" y="908050"/>
            <a:ext cx="8589962" cy="904875"/>
          </a:xfrm>
        </p:spPr>
        <p:txBody>
          <a:bodyPr>
            <a:spAutoFit/>
          </a:bodyPr>
          <a:lstStyle/>
          <a:p>
            <a:pPr marL="0" indent="0" eaLnBrk="1" hangingPunct="1">
              <a:buFont typeface="Arial" charset="0"/>
              <a:buNone/>
              <a:defRPr/>
            </a:pPr>
            <a:r>
              <a:rPr lang="nb-NO" sz="2400" dirty="0" err="1" smtClean="0">
                <a:latin typeface="+mj-lt"/>
              </a:rPr>
              <a:t>Study-independent</a:t>
            </a:r>
            <a:r>
              <a:rPr lang="nb-NO" sz="2400" dirty="0" smtClean="0">
                <a:latin typeface="+mj-lt"/>
              </a:rPr>
              <a:t> Metadata </a:t>
            </a:r>
            <a:r>
              <a:rPr lang="nb-NO" sz="2400" dirty="0" err="1" smtClean="0">
                <a:latin typeface="+mj-lt"/>
              </a:rPr>
              <a:t>stored</a:t>
            </a:r>
            <a:r>
              <a:rPr lang="nb-NO" sz="2400" dirty="0" smtClean="0">
                <a:latin typeface="+mj-lt"/>
              </a:rPr>
              <a:t> in a DDI Resource </a:t>
            </a:r>
          </a:p>
          <a:p>
            <a:pPr marL="0" indent="0" eaLnBrk="1" hangingPunct="1">
              <a:buFont typeface="Arial" charset="0"/>
              <a:buNone/>
              <a:defRPr/>
            </a:pPr>
            <a:r>
              <a:rPr lang="nb-NO" sz="2400" dirty="0" err="1" smtClean="0">
                <a:latin typeface="+mj-lt"/>
              </a:rPr>
              <a:t>package</a:t>
            </a:r>
            <a:r>
              <a:rPr lang="nb-NO" sz="2400" dirty="0" smtClean="0">
                <a:latin typeface="+mj-lt"/>
              </a:rPr>
              <a:t> </a:t>
            </a:r>
            <a:r>
              <a:rPr lang="nb-NO" sz="2400" dirty="0" err="1" smtClean="0">
                <a:latin typeface="+mj-lt"/>
              </a:rPr>
              <a:t>can</a:t>
            </a:r>
            <a:r>
              <a:rPr lang="nb-NO" sz="2400" dirty="0" smtClean="0">
                <a:latin typeface="+mj-lt"/>
              </a:rPr>
              <a:t> be </a:t>
            </a:r>
            <a:r>
              <a:rPr lang="nb-NO" sz="2400" dirty="0" err="1" smtClean="0">
                <a:latin typeface="+mj-lt"/>
              </a:rPr>
              <a:t>reused</a:t>
            </a:r>
            <a:r>
              <a:rPr lang="nb-NO" sz="2400" dirty="0" smtClean="0">
                <a:latin typeface="+mj-lt"/>
              </a:rPr>
              <a:t> by different studies, </a:t>
            </a:r>
            <a:r>
              <a:rPr lang="nb-NO" sz="2400" dirty="0" err="1" smtClean="0">
                <a:latin typeface="+mj-lt"/>
              </a:rPr>
              <a:t>waves</a:t>
            </a:r>
            <a:r>
              <a:rPr lang="nb-NO" sz="2400" dirty="0" smtClean="0">
                <a:latin typeface="+mj-lt"/>
              </a:rPr>
              <a:t>, or </a:t>
            </a:r>
            <a:r>
              <a:rPr lang="nb-NO" sz="2400" dirty="0" err="1" smtClean="0">
                <a:latin typeface="+mj-lt"/>
              </a:rPr>
              <a:t>agencies</a:t>
            </a:r>
            <a:r>
              <a:rPr lang="nb-NO" sz="2400" dirty="0" smtClean="0">
                <a:latin typeface="+mj-lt"/>
              </a:rPr>
              <a:t> </a:t>
            </a:r>
          </a:p>
        </p:txBody>
      </p:sp>
      <p:sp>
        <p:nvSpPr>
          <p:cNvPr id="34819" name="AutoShape 18"/>
          <p:cNvSpPr>
            <a:spLocks noChangeArrowheads="1"/>
          </p:cNvSpPr>
          <p:nvPr/>
        </p:nvSpPr>
        <p:spPr bwMode="auto">
          <a:xfrm>
            <a:off x="4787900" y="2133600"/>
            <a:ext cx="2663825" cy="3816350"/>
          </a:xfrm>
          <a:prstGeom prst="can">
            <a:avLst>
              <a:gd name="adj" fmla="val 25007"/>
            </a:avLst>
          </a:prstGeom>
          <a:solidFill>
            <a:schemeClr val="accent5">
              <a:alpha val="70000"/>
            </a:schemeClr>
          </a:solidFill>
          <a:ln w="9525">
            <a:solidFill>
              <a:schemeClr val="tx1"/>
            </a:solidFill>
            <a:round/>
            <a:headEnd/>
            <a:tailEnd/>
          </a:ln>
        </p:spPr>
        <p:txBody>
          <a:bodyPr wrap="none" anchor="ctr"/>
          <a:lstStyle/>
          <a:p>
            <a:pPr algn="ctr">
              <a:defRPr/>
            </a:pPr>
            <a:r>
              <a:rPr lang="nb-NO" b="1" dirty="0">
                <a:latin typeface="+mj-lt"/>
                <a:cs typeface="Shonar Bangla" pitchFamily="34" charset="0"/>
              </a:rPr>
              <a:t>DDI Resource </a:t>
            </a:r>
            <a:r>
              <a:rPr lang="nb-NO" b="1" dirty="0" err="1">
                <a:latin typeface="+mj-lt"/>
                <a:cs typeface="Shonar Bangla" pitchFamily="34" charset="0"/>
              </a:rPr>
              <a:t>Package</a:t>
            </a:r>
            <a:endParaRPr lang="nb-NO" b="1" dirty="0">
              <a:latin typeface="+mj-lt"/>
              <a:cs typeface="Shonar Bangla" pitchFamily="34" charset="0"/>
            </a:endParaRPr>
          </a:p>
          <a:p>
            <a:pPr algn="ctr">
              <a:defRPr/>
            </a:pPr>
            <a:endParaRPr lang="nb-NO" b="1" dirty="0">
              <a:latin typeface="+mj-lt"/>
              <a:cs typeface="Shonar Bangla" pitchFamily="34" charset="0"/>
            </a:endParaRPr>
          </a:p>
          <a:p>
            <a:pPr algn="ctr">
              <a:defRPr/>
            </a:pPr>
            <a:r>
              <a:rPr lang="nb-NO" b="1" dirty="0" err="1">
                <a:latin typeface="+mj-lt"/>
                <a:cs typeface="Shonar Bangla" pitchFamily="34" charset="0"/>
              </a:rPr>
              <a:t>Education</a:t>
            </a:r>
            <a:r>
              <a:rPr lang="nb-NO" b="1" dirty="0">
                <a:latin typeface="+mj-lt"/>
                <a:cs typeface="Shonar Bangla" pitchFamily="34" charset="0"/>
              </a:rPr>
              <a:t>/</a:t>
            </a:r>
          </a:p>
          <a:p>
            <a:pPr algn="ctr">
              <a:defRPr/>
            </a:pPr>
            <a:r>
              <a:rPr lang="nb-NO" b="1" dirty="0">
                <a:latin typeface="+mj-lt"/>
                <a:cs typeface="Shonar Bangla" pitchFamily="34" charset="0"/>
              </a:rPr>
              <a:t>ISCED</a:t>
            </a:r>
          </a:p>
          <a:p>
            <a:pPr algn="ctr">
              <a:defRPr/>
            </a:pPr>
            <a:r>
              <a:rPr lang="nb-NO" b="1" dirty="0" err="1">
                <a:latin typeface="+mj-lt"/>
                <a:cs typeface="Shonar Bangla" pitchFamily="34" charset="0"/>
              </a:rPr>
              <a:t>question</a:t>
            </a:r>
            <a:r>
              <a:rPr lang="nb-NO" b="1" dirty="0">
                <a:latin typeface="+mj-lt"/>
                <a:cs typeface="Shonar Bangla" pitchFamily="34" charset="0"/>
              </a:rPr>
              <a:t> bank</a:t>
            </a:r>
          </a:p>
        </p:txBody>
      </p:sp>
      <p:sp>
        <p:nvSpPr>
          <p:cNvPr id="6" name="Rectangle 18"/>
          <p:cNvSpPr/>
          <p:nvPr/>
        </p:nvSpPr>
        <p:spPr>
          <a:xfrm>
            <a:off x="1558925" y="1844675"/>
            <a:ext cx="1655763" cy="115252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de-DE" b="1" dirty="0">
              <a:solidFill>
                <a:schemeClr val="tx1"/>
              </a:solidFill>
            </a:endParaRPr>
          </a:p>
          <a:p>
            <a:pPr fontAlgn="auto">
              <a:spcBef>
                <a:spcPts val="0"/>
              </a:spcBef>
              <a:spcAft>
                <a:spcPts val="0"/>
              </a:spcAft>
              <a:defRPr/>
            </a:pPr>
            <a:r>
              <a:rPr lang="de-DE" b="1" dirty="0">
                <a:solidFill>
                  <a:schemeClr val="tx1"/>
                </a:solidFill>
              </a:rPr>
              <a:t>Study1</a:t>
            </a:r>
          </a:p>
          <a:p>
            <a:pPr fontAlgn="auto">
              <a:spcBef>
                <a:spcPts val="0"/>
              </a:spcBef>
              <a:spcAft>
                <a:spcPts val="0"/>
              </a:spcAft>
              <a:defRPr/>
            </a:pPr>
            <a:r>
              <a:rPr lang="de-DE" smtClean="0">
                <a:solidFill>
                  <a:schemeClr val="tx1"/>
                </a:solidFill>
              </a:rPr>
              <a:t>       </a:t>
            </a:r>
            <a:r>
              <a:rPr lang="de-DE" dirty="0">
                <a:solidFill>
                  <a:schemeClr val="tx1"/>
                </a:solidFill>
              </a:rPr>
              <a:t>Round 1</a:t>
            </a:r>
          </a:p>
          <a:p>
            <a:pPr fontAlgn="auto">
              <a:spcBef>
                <a:spcPts val="0"/>
              </a:spcBef>
              <a:spcAft>
                <a:spcPts val="0"/>
              </a:spcAft>
              <a:defRPr/>
            </a:pPr>
            <a:r>
              <a:rPr lang="de-DE" smtClean="0">
                <a:solidFill>
                  <a:schemeClr val="tx1"/>
                </a:solidFill>
              </a:rPr>
              <a:t>       </a:t>
            </a:r>
            <a:r>
              <a:rPr lang="de-DE" dirty="0">
                <a:solidFill>
                  <a:schemeClr val="tx1"/>
                </a:solidFill>
              </a:rPr>
              <a:t>Round n</a:t>
            </a:r>
          </a:p>
          <a:p>
            <a:pPr fontAlgn="auto">
              <a:spcBef>
                <a:spcPts val="0"/>
              </a:spcBef>
              <a:spcAft>
                <a:spcPts val="0"/>
              </a:spcAft>
              <a:defRPr/>
            </a:pPr>
            <a:r>
              <a:rPr lang="en-US" smtClean="0">
                <a:solidFill>
                  <a:schemeClr val="tx1"/>
                </a:solidFill>
              </a:rPr>
              <a:t>           </a:t>
            </a:r>
            <a:endParaRPr lang="en-US" dirty="0">
              <a:solidFill>
                <a:schemeClr val="tx1"/>
              </a:solidFill>
            </a:endParaRPr>
          </a:p>
        </p:txBody>
      </p:sp>
      <p:sp>
        <p:nvSpPr>
          <p:cNvPr id="8" name="Rectangle 20"/>
          <p:cNvSpPr/>
          <p:nvPr/>
        </p:nvSpPr>
        <p:spPr>
          <a:xfrm>
            <a:off x="1547813" y="4437063"/>
            <a:ext cx="1655762" cy="107950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DE" dirty="0">
              <a:solidFill>
                <a:schemeClr val="tx1"/>
              </a:solidFill>
            </a:endParaRPr>
          </a:p>
          <a:p>
            <a:pPr algn="ctr" fontAlgn="auto">
              <a:spcBef>
                <a:spcPts val="0"/>
              </a:spcBef>
              <a:spcAft>
                <a:spcPts val="0"/>
              </a:spcAft>
              <a:defRPr/>
            </a:pPr>
            <a:endParaRPr lang="de-DE" dirty="0">
              <a:solidFill>
                <a:schemeClr val="tx1"/>
              </a:solidFill>
            </a:endParaRPr>
          </a:p>
          <a:p>
            <a:pPr algn="ctr" fontAlgn="auto">
              <a:spcBef>
                <a:spcPts val="0"/>
              </a:spcBef>
              <a:spcAft>
                <a:spcPts val="0"/>
              </a:spcAft>
              <a:defRPr/>
            </a:pPr>
            <a:endParaRPr lang="de-DE" b="1" dirty="0">
              <a:solidFill>
                <a:schemeClr val="tx1"/>
              </a:solidFill>
            </a:endParaRPr>
          </a:p>
          <a:p>
            <a:pPr fontAlgn="auto">
              <a:spcBef>
                <a:spcPts val="0"/>
              </a:spcBef>
              <a:spcAft>
                <a:spcPts val="0"/>
              </a:spcAft>
              <a:defRPr/>
            </a:pPr>
            <a:r>
              <a:rPr lang="de-DE" b="1" dirty="0">
                <a:solidFill>
                  <a:schemeClr val="tx1"/>
                </a:solidFill>
              </a:rPr>
              <a:t>Agency 1</a:t>
            </a:r>
          </a:p>
          <a:p>
            <a:pPr algn="ctr" fontAlgn="auto">
              <a:spcBef>
                <a:spcPts val="0"/>
              </a:spcBef>
              <a:spcAft>
                <a:spcPts val="0"/>
              </a:spcAft>
              <a:defRPr/>
            </a:pPr>
            <a:r>
              <a:rPr lang="de-DE" dirty="0" err="1">
                <a:solidFill>
                  <a:schemeClr val="tx1"/>
                </a:solidFill>
              </a:rPr>
              <a:t>Collection</a:t>
            </a:r>
            <a:r>
              <a:rPr lang="de-DE" dirty="0">
                <a:solidFill>
                  <a:schemeClr val="tx1"/>
                </a:solidFill>
              </a:rPr>
              <a:t> A</a:t>
            </a:r>
          </a:p>
          <a:p>
            <a:pPr algn="ctr" fontAlgn="auto">
              <a:spcBef>
                <a:spcPts val="0"/>
              </a:spcBef>
              <a:spcAft>
                <a:spcPts val="0"/>
              </a:spcAft>
              <a:defRPr/>
            </a:pPr>
            <a:r>
              <a:rPr lang="nb-NO" dirty="0">
                <a:solidFill>
                  <a:schemeClr val="tx1"/>
                </a:solidFill>
              </a:rPr>
              <a:t>Collection N</a:t>
            </a: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p:txBody>
      </p:sp>
      <p:cxnSp>
        <p:nvCxnSpPr>
          <p:cNvPr id="9" name="Straight Arrow Connector 21"/>
          <p:cNvCxnSpPr>
            <a:stCxn id="6" idx="3"/>
            <a:endCxn id="34819" idx="2"/>
          </p:cNvCxnSpPr>
          <p:nvPr/>
        </p:nvCxnSpPr>
        <p:spPr>
          <a:xfrm>
            <a:off x="3227388" y="2420938"/>
            <a:ext cx="1560512" cy="1620837"/>
          </a:xfrm>
          <a:prstGeom prst="straightConnector1">
            <a:avLst/>
          </a:prstGeom>
          <a:ln w="1905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40967" name="Straight Arrow Connector 24"/>
          <p:cNvCxnSpPr>
            <a:cxnSpLocks noChangeShapeType="1"/>
            <a:stCxn id="39" idx="3"/>
            <a:endCxn id="34819" idx="2"/>
          </p:cNvCxnSpPr>
          <p:nvPr/>
        </p:nvCxnSpPr>
        <p:spPr bwMode="auto">
          <a:xfrm>
            <a:off x="3216275" y="3717925"/>
            <a:ext cx="1571625" cy="323850"/>
          </a:xfrm>
          <a:prstGeom prst="straightConnector1">
            <a:avLst/>
          </a:prstGeom>
          <a:noFill/>
          <a:ln w="19050" algn="ctr">
            <a:solidFill>
              <a:srgbClr val="7F7F7F"/>
            </a:solidFill>
            <a:round/>
            <a:headEnd/>
            <a:tailEnd type="triangle" w="lg" len="lg"/>
          </a:ln>
        </p:spPr>
      </p:cxnSp>
      <p:cxnSp>
        <p:nvCxnSpPr>
          <p:cNvPr id="11" name="Straight Arrow Connector 27"/>
          <p:cNvCxnSpPr>
            <a:stCxn id="8" idx="3"/>
            <a:endCxn id="34819" idx="2"/>
          </p:cNvCxnSpPr>
          <p:nvPr/>
        </p:nvCxnSpPr>
        <p:spPr>
          <a:xfrm flipV="1">
            <a:off x="3216275" y="4041775"/>
            <a:ext cx="1571625" cy="935038"/>
          </a:xfrm>
          <a:prstGeom prst="straightConnector1">
            <a:avLst/>
          </a:prstGeom>
          <a:ln w="1905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3" name="Straight Arrow Connector 27"/>
          <p:cNvCxnSpPr>
            <a:stCxn id="50" idx="3"/>
            <a:endCxn id="34819" idx="2"/>
          </p:cNvCxnSpPr>
          <p:nvPr/>
        </p:nvCxnSpPr>
        <p:spPr>
          <a:xfrm flipV="1">
            <a:off x="3216275" y="4041775"/>
            <a:ext cx="1571625" cy="2160588"/>
          </a:xfrm>
          <a:prstGeom prst="straightConnector1">
            <a:avLst/>
          </a:prstGeom>
          <a:ln w="19050">
            <a:solidFill>
              <a:schemeClr val="tx1">
                <a:lumMod val="50000"/>
                <a:lumOff val="50000"/>
              </a:schemeClr>
            </a:solidFill>
            <a:tailEnd type="triangle" w="lg" len="lg"/>
          </a:ln>
        </p:spPr>
        <p:style>
          <a:lnRef idx="1">
            <a:schemeClr val="accent1"/>
          </a:lnRef>
          <a:fillRef idx="0">
            <a:schemeClr val="accent1"/>
          </a:fillRef>
          <a:effectRef idx="0">
            <a:schemeClr val="accent1"/>
          </a:effectRef>
          <a:fontRef idx="minor">
            <a:schemeClr val="tx1"/>
          </a:fontRef>
        </p:style>
      </p:cxnSp>
      <p:sp>
        <p:nvSpPr>
          <p:cNvPr id="39" name="Rectangle 18"/>
          <p:cNvSpPr/>
          <p:nvPr/>
        </p:nvSpPr>
        <p:spPr>
          <a:xfrm>
            <a:off x="1547813" y="3141663"/>
            <a:ext cx="1655762" cy="115093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fontAlgn="auto">
              <a:spcBef>
                <a:spcPts val="0"/>
              </a:spcBef>
              <a:spcAft>
                <a:spcPts val="0"/>
              </a:spcAft>
              <a:defRPr/>
            </a:pPr>
            <a:endParaRPr lang="de-DE" b="1" dirty="0">
              <a:solidFill>
                <a:schemeClr val="tx1"/>
              </a:solidFill>
            </a:endParaRPr>
          </a:p>
          <a:p>
            <a:pPr fontAlgn="auto">
              <a:spcBef>
                <a:spcPts val="0"/>
              </a:spcBef>
              <a:spcAft>
                <a:spcPts val="0"/>
              </a:spcAft>
              <a:defRPr/>
            </a:pPr>
            <a:r>
              <a:rPr lang="de-DE" b="1" dirty="0">
                <a:solidFill>
                  <a:schemeClr val="tx1"/>
                </a:solidFill>
              </a:rPr>
              <a:t>Study2</a:t>
            </a:r>
          </a:p>
          <a:p>
            <a:pPr fontAlgn="auto">
              <a:spcBef>
                <a:spcPts val="0"/>
              </a:spcBef>
              <a:spcAft>
                <a:spcPts val="0"/>
              </a:spcAft>
              <a:defRPr/>
            </a:pPr>
            <a:r>
              <a:rPr lang="de-DE" smtClean="0">
                <a:solidFill>
                  <a:schemeClr val="tx1"/>
                </a:solidFill>
              </a:rPr>
              <a:t>       </a:t>
            </a:r>
            <a:r>
              <a:rPr lang="de-DE" dirty="0">
                <a:solidFill>
                  <a:schemeClr val="tx1"/>
                </a:solidFill>
              </a:rPr>
              <a:t>Round 1</a:t>
            </a:r>
          </a:p>
          <a:p>
            <a:pPr fontAlgn="auto">
              <a:spcBef>
                <a:spcPts val="0"/>
              </a:spcBef>
              <a:spcAft>
                <a:spcPts val="0"/>
              </a:spcAft>
              <a:defRPr/>
            </a:pPr>
            <a:r>
              <a:rPr lang="de-DE" smtClean="0">
                <a:solidFill>
                  <a:schemeClr val="tx1"/>
                </a:solidFill>
              </a:rPr>
              <a:t>       </a:t>
            </a:r>
            <a:r>
              <a:rPr lang="de-DE" dirty="0">
                <a:solidFill>
                  <a:schemeClr val="tx1"/>
                </a:solidFill>
              </a:rPr>
              <a:t>Round n</a:t>
            </a:r>
          </a:p>
          <a:p>
            <a:pPr fontAlgn="auto">
              <a:spcBef>
                <a:spcPts val="0"/>
              </a:spcBef>
              <a:spcAft>
                <a:spcPts val="0"/>
              </a:spcAft>
              <a:defRPr/>
            </a:pPr>
            <a:r>
              <a:rPr lang="en-US" smtClean="0">
                <a:solidFill>
                  <a:schemeClr val="tx1"/>
                </a:solidFill>
              </a:rPr>
              <a:t>           </a:t>
            </a:r>
            <a:endParaRPr lang="en-US" dirty="0">
              <a:solidFill>
                <a:schemeClr val="tx1"/>
              </a:solidFill>
            </a:endParaRPr>
          </a:p>
        </p:txBody>
      </p:sp>
      <p:sp>
        <p:nvSpPr>
          <p:cNvPr id="50" name="Rectangle 20"/>
          <p:cNvSpPr/>
          <p:nvPr/>
        </p:nvSpPr>
        <p:spPr>
          <a:xfrm>
            <a:off x="1547813" y="5661025"/>
            <a:ext cx="1655762" cy="1081088"/>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de-DE" dirty="0">
              <a:solidFill>
                <a:schemeClr val="tx1"/>
              </a:solidFill>
            </a:endParaRPr>
          </a:p>
          <a:p>
            <a:pPr algn="ctr" fontAlgn="auto">
              <a:spcBef>
                <a:spcPts val="0"/>
              </a:spcBef>
              <a:spcAft>
                <a:spcPts val="0"/>
              </a:spcAft>
              <a:defRPr/>
            </a:pPr>
            <a:endParaRPr lang="de-DE" dirty="0">
              <a:solidFill>
                <a:schemeClr val="tx1"/>
              </a:solidFill>
            </a:endParaRPr>
          </a:p>
          <a:p>
            <a:pPr algn="ctr" fontAlgn="auto">
              <a:spcBef>
                <a:spcPts val="0"/>
              </a:spcBef>
              <a:spcAft>
                <a:spcPts val="0"/>
              </a:spcAft>
              <a:defRPr/>
            </a:pPr>
            <a:endParaRPr lang="de-DE" b="1" dirty="0">
              <a:solidFill>
                <a:schemeClr val="tx1"/>
              </a:solidFill>
            </a:endParaRPr>
          </a:p>
          <a:p>
            <a:pPr fontAlgn="auto">
              <a:spcBef>
                <a:spcPts val="0"/>
              </a:spcBef>
              <a:spcAft>
                <a:spcPts val="0"/>
              </a:spcAft>
              <a:defRPr/>
            </a:pPr>
            <a:r>
              <a:rPr lang="de-DE" b="1" dirty="0">
                <a:solidFill>
                  <a:schemeClr val="tx1"/>
                </a:solidFill>
              </a:rPr>
              <a:t>Agency 2</a:t>
            </a:r>
          </a:p>
          <a:p>
            <a:pPr algn="ctr" fontAlgn="auto">
              <a:spcBef>
                <a:spcPts val="0"/>
              </a:spcBef>
              <a:spcAft>
                <a:spcPts val="0"/>
              </a:spcAft>
              <a:defRPr/>
            </a:pPr>
            <a:r>
              <a:rPr lang="de-DE" dirty="0" err="1">
                <a:solidFill>
                  <a:schemeClr val="tx1"/>
                </a:solidFill>
              </a:rPr>
              <a:t>Collection</a:t>
            </a:r>
            <a:r>
              <a:rPr lang="de-DE" dirty="0">
                <a:solidFill>
                  <a:schemeClr val="tx1"/>
                </a:solidFill>
              </a:rPr>
              <a:t> A</a:t>
            </a:r>
          </a:p>
          <a:p>
            <a:pPr algn="ctr" fontAlgn="auto">
              <a:spcBef>
                <a:spcPts val="0"/>
              </a:spcBef>
              <a:spcAft>
                <a:spcPts val="0"/>
              </a:spcAft>
              <a:defRPr/>
            </a:pPr>
            <a:r>
              <a:rPr lang="nb-NO" dirty="0">
                <a:solidFill>
                  <a:schemeClr val="tx1"/>
                </a:solidFill>
              </a:rPr>
              <a:t>Collection N</a:t>
            </a: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a:p>
            <a:pPr algn="ctr" fontAlgn="auto">
              <a:spcBef>
                <a:spcPts val="0"/>
              </a:spcBef>
              <a:spcAft>
                <a:spcPts val="0"/>
              </a:spcAft>
              <a:defRPr/>
            </a:pPr>
            <a:endParaRPr lang="en-US" dirty="0">
              <a:solidFill>
                <a:schemeClr val="tx1"/>
              </a:solidFil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title"/>
          </p:nvPr>
        </p:nvSpPr>
        <p:spPr/>
        <p:txBody>
          <a:bodyPr rtlCol="0">
            <a:normAutofit fontScale="90000"/>
          </a:bodyPr>
          <a:lstStyle/>
          <a:p>
            <a:pPr eaLnBrk="1" fontAlgn="auto" hangingPunct="1">
              <a:spcAft>
                <a:spcPts val="0"/>
              </a:spcAft>
              <a:defRPr/>
            </a:pPr>
            <a:r>
              <a:rPr lang="nb-NO" dirty="0" err="1" smtClean="0"/>
              <a:t>Structural</a:t>
            </a:r>
            <a:r>
              <a:rPr lang="nb-NO" dirty="0" smtClean="0"/>
              <a:t> </a:t>
            </a:r>
            <a:r>
              <a:rPr lang="nb-NO" dirty="0" err="1" smtClean="0"/>
              <a:t>Outline</a:t>
            </a:r>
            <a:r>
              <a:rPr lang="nb-NO" dirty="0" smtClean="0"/>
              <a:t> </a:t>
            </a:r>
            <a:r>
              <a:rPr lang="nb-NO" dirty="0" err="1" smtClean="0"/>
              <a:t>of</a:t>
            </a:r>
            <a:r>
              <a:rPr lang="nb-NO" dirty="0" smtClean="0"/>
              <a:t> Resource </a:t>
            </a:r>
            <a:r>
              <a:rPr lang="nb-NO" dirty="0" err="1" smtClean="0"/>
              <a:t>Package</a:t>
            </a:r>
            <a:endParaRPr lang="nb-NO" dirty="0"/>
          </a:p>
        </p:txBody>
      </p:sp>
      <p:sp>
        <p:nvSpPr>
          <p:cNvPr id="41986" name="Plassholder for innhold 2"/>
          <p:cNvSpPr>
            <a:spLocks noGrp="1"/>
          </p:cNvSpPr>
          <p:nvPr>
            <p:ph idx="1"/>
          </p:nvPr>
        </p:nvSpPr>
        <p:spPr>
          <a:xfrm>
            <a:off x="827584" y="1196752"/>
            <a:ext cx="7859216" cy="5544616"/>
          </a:xfrm>
        </p:spPr>
        <p:txBody>
          <a:bodyPr/>
          <a:lstStyle/>
          <a:p>
            <a:pPr marL="0" indent="0" eaLnBrk="1" hangingPunct="1">
              <a:buNone/>
            </a:pPr>
            <a:r>
              <a:rPr lang="nb-NO" sz="1400" dirty="0"/>
              <a:t>DDIInstance</a:t>
            </a:r>
          </a:p>
          <a:p>
            <a:pPr marL="0" indent="0" eaLnBrk="1" hangingPunct="1">
              <a:buNone/>
            </a:pPr>
            <a:r>
              <a:rPr lang="nb-NO" sz="1400" dirty="0"/>
              <a:t>  ResourcePackage</a:t>
            </a:r>
          </a:p>
          <a:p>
            <a:pPr marL="0" indent="0" eaLnBrk="1" hangingPunct="1">
              <a:buNone/>
            </a:pPr>
            <a:r>
              <a:rPr lang="nb-NO" sz="1400" dirty="0"/>
              <a:t>        Purpose</a:t>
            </a:r>
          </a:p>
          <a:p>
            <a:pPr marL="0" indent="0" eaLnBrk="1" hangingPunct="1">
              <a:buNone/>
            </a:pPr>
            <a:r>
              <a:rPr lang="nb-NO" sz="1400" b="1" i="1" dirty="0"/>
              <a:t>        DataElementScheme</a:t>
            </a:r>
          </a:p>
          <a:p>
            <a:pPr marL="0" indent="0" eaLnBrk="1" hangingPunct="1">
              <a:buNone/>
            </a:pPr>
            <a:r>
              <a:rPr lang="nb-NO" sz="1400" b="1" i="1" dirty="0"/>
              <a:t>            DataElement</a:t>
            </a:r>
          </a:p>
          <a:p>
            <a:pPr marL="0" indent="0" eaLnBrk="1" hangingPunct="1">
              <a:buNone/>
            </a:pPr>
            <a:r>
              <a:rPr lang="nb-NO" sz="1400" dirty="0"/>
              <a:t>        LogicalProduct</a:t>
            </a:r>
          </a:p>
          <a:p>
            <a:pPr marL="0" indent="0" eaLnBrk="1" hangingPunct="1">
              <a:buNone/>
            </a:pPr>
            <a:r>
              <a:rPr lang="nb-NO" sz="1400" dirty="0"/>
              <a:t>            LogicalProduct</a:t>
            </a:r>
          </a:p>
          <a:p>
            <a:pPr marL="0" indent="0" eaLnBrk="1" hangingPunct="1">
              <a:buNone/>
            </a:pPr>
            <a:r>
              <a:rPr lang="nb-NO" sz="1400" dirty="0"/>
              <a:t>                OtherMaterial</a:t>
            </a:r>
          </a:p>
          <a:p>
            <a:pPr marL="0" indent="0" eaLnBrk="1" hangingPunct="1">
              <a:buNone/>
            </a:pPr>
            <a:r>
              <a:rPr lang="nb-NO" sz="1400" dirty="0"/>
              <a:t>                Note</a:t>
            </a:r>
          </a:p>
          <a:p>
            <a:pPr marL="0" indent="0" eaLnBrk="1" hangingPunct="1">
              <a:buNone/>
            </a:pPr>
            <a:r>
              <a:rPr lang="nb-NO" sz="1600" b="1" dirty="0"/>
              <a:t>                CategoryScheme</a:t>
            </a:r>
          </a:p>
          <a:p>
            <a:pPr marL="0" indent="0" eaLnBrk="1" hangingPunct="1">
              <a:buNone/>
            </a:pPr>
            <a:r>
              <a:rPr lang="nb-NO" sz="1600" b="1" dirty="0"/>
              <a:t>                    Category</a:t>
            </a:r>
          </a:p>
          <a:p>
            <a:pPr marL="0" indent="0" eaLnBrk="1" hangingPunct="1">
              <a:buNone/>
            </a:pPr>
            <a:r>
              <a:rPr lang="nb-NO" sz="1600" b="1" dirty="0"/>
              <a:t>                    ...</a:t>
            </a:r>
          </a:p>
          <a:p>
            <a:pPr marL="0" indent="0" eaLnBrk="1" hangingPunct="1">
              <a:buNone/>
            </a:pPr>
            <a:r>
              <a:rPr lang="nb-NO" sz="1600" b="1" dirty="0"/>
              <a:t>                </a:t>
            </a:r>
            <a:r>
              <a:rPr lang="nb-NO" sz="1600" b="1" dirty="0" smtClean="0"/>
              <a:t>CodeScheme ISCED2011</a:t>
            </a:r>
            <a:endParaRPr lang="nb-NO" sz="1600" b="1" dirty="0"/>
          </a:p>
          <a:p>
            <a:pPr marL="0" indent="0" eaLnBrk="1" hangingPunct="1">
              <a:buNone/>
            </a:pPr>
            <a:r>
              <a:rPr lang="nb-NO" sz="1600" b="1" dirty="0"/>
              <a:t>                    Code</a:t>
            </a:r>
          </a:p>
          <a:p>
            <a:pPr marL="0" indent="0" eaLnBrk="1" hangingPunct="1">
              <a:buNone/>
            </a:pPr>
            <a:r>
              <a:rPr lang="nb-NO" sz="1600" b="1" dirty="0"/>
              <a:t>                        CategoryReference</a:t>
            </a:r>
          </a:p>
          <a:p>
            <a:pPr marL="0" indent="0" eaLnBrk="1" hangingPunct="1">
              <a:buNone/>
            </a:pPr>
            <a:r>
              <a:rPr lang="nb-NO" sz="1600" b="1" dirty="0"/>
              <a:t>                        Value 1</a:t>
            </a:r>
          </a:p>
          <a:p>
            <a:pPr marL="0" indent="0" eaLnBrk="1" hangingPunct="1">
              <a:buNone/>
            </a:pPr>
            <a:r>
              <a:rPr lang="nb-NO" sz="1600" b="1" dirty="0"/>
              <a:t>                        </a:t>
            </a:r>
            <a:r>
              <a:rPr lang="nb-NO" sz="1600" b="1" dirty="0" smtClean="0"/>
              <a:t>Code</a:t>
            </a:r>
            <a:endParaRPr lang="nb-NO" sz="1600" b="1" dirty="0"/>
          </a:p>
          <a:p>
            <a:pPr marL="0" indent="0" eaLnBrk="1" hangingPunct="1">
              <a:buNone/>
            </a:pPr>
            <a:r>
              <a:rPr lang="nb-NO" sz="1600" b="1" dirty="0"/>
              <a:t>                            CategoryReference</a:t>
            </a:r>
          </a:p>
          <a:p>
            <a:pPr marL="0" indent="0" eaLnBrk="1" hangingPunct="1">
              <a:buNone/>
            </a:pPr>
            <a:r>
              <a:rPr lang="nb-NO" sz="1600" b="1" dirty="0"/>
              <a:t>                            Value 11</a:t>
            </a:r>
          </a:p>
          <a:p>
            <a:pPr marL="0" indent="0" eaLnBrk="1" hangingPunct="1">
              <a:buNone/>
            </a:pPr>
            <a:r>
              <a:rPr lang="nb-NO" sz="1600" b="1" dirty="0"/>
              <a:t>                            ...</a:t>
            </a:r>
          </a:p>
          <a:p>
            <a:pPr marL="0" indent="0" eaLnBrk="1" hangingPunct="1">
              <a:buNone/>
            </a:pPr>
            <a:endParaRPr lang="nb-NO" sz="1400" dirty="0"/>
          </a:p>
        </p:txBody>
      </p:sp>
      <p:sp>
        <p:nvSpPr>
          <p:cNvPr id="3" name="Line Callout 2 2"/>
          <p:cNvSpPr/>
          <p:nvPr/>
        </p:nvSpPr>
        <p:spPr>
          <a:xfrm>
            <a:off x="3851920" y="1772816"/>
            <a:ext cx="1224136" cy="432048"/>
          </a:xfrm>
          <a:prstGeom prst="borderCallout2">
            <a:avLst>
              <a:gd name="adj1" fmla="val 18750"/>
              <a:gd name="adj2" fmla="val -8333"/>
              <a:gd name="adj3" fmla="val 18750"/>
              <a:gd name="adj4" fmla="val -16667"/>
              <a:gd name="adj5" fmla="val 104254"/>
              <a:gd name="adj6" fmla="val -8644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de-DE" dirty="0" smtClean="0"/>
              <a:t>DDI 3.2</a:t>
            </a:r>
            <a:endParaRPr lang="en-US" dirty="0"/>
          </a:p>
        </p:txBody>
      </p:sp>
      <p:cxnSp>
        <p:nvCxnSpPr>
          <p:cNvPr id="7" name="Straight Arrow Connector 6"/>
          <p:cNvCxnSpPr/>
          <p:nvPr/>
        </p:nvCxnSpPr>
        <p:spPr>
          <a:xfrm>
            <a:off x="251520" y="4486260"/>
            <a:ext cx="1296144" cy="72008"/>
          </a:xfrm>
          <a:prstGeom prst="straightConnector1">
            <a:avLst/>
          </a:prstGeom>
          <a:ln w="19050">
            <a:tailEnd type="triangle" w="lg" len="lg"/>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98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1986">
                                            <p:txEl>
                                              <p:pRg st="4" end="4"/>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tel 1"/>
          <p:cNvSpPr>
            <a:spLocks noGrp="1"/>
          </p:cNvSpPr>
          <p:nvPr>
            <p:ph type="title"/>
          </p:nvPr>
        </p:nvSpPr>
        <p:spPr>
          <a:xfrm>
            <a:off x="179388" y="44450"/>
            <a:ext cx="8785225" cy="1143000"/>
          </a:xfrm>
        </p:spPr>
        <p:txBody>
          <a:bodyPr/>
          <a:lstStyle/>
          <a:p>
            <a:r>
              <a:rPr lang="nb-NO" sz="3200" smtClean="0"/>
              <a:t>DDI Category Map - Example</a:t>
            </a:r>
            <a:br>
              <a:rPr lang="nb-NO" sz="3200" smtClean="0"/>
            </a:br>
            <a:r>
              <a:rPr lang="nb-NO" sz="3200" smtClean="0"/>
              <a:t>ISCED11P vs. ISCED11A category descriptions </a:t>
            </a:r>
          </a:p>
        </p:txBody>
      </p:sp>
      <p:graphicFrame>
        <p:nvGraphicFramePr>
          <p:cNvPr id="43044" name="Group 36"/>
          <p:cNvGraphicFramePr>
            <a:graphicFrameLocks noGrp="1"/>
          </p:cNvGraphicFramePr>
          <p:nvPr/>
        </p:nvGraphicFramePr>
        <p:xfrm>
          <a:off x="468313" y="1268413"/>
          <a:ext cx="8207375" cy="5174298"/>
        </p:xfrm>
        <a:graphic>
          <a:graphicData uri="http://schemas.openxmlformats.org/drawingml/2006/table">
            <a:tbl>
              <a:tblPr/>
              <a:tblGrid>
                <a:gridCol w="947737"/>
                <a:gridCol w="3011488"/>
                <a:gridCol w="2908300"/>
                <a:gridCol w="1339850"/>
              </a:tblGrid>
              <a:tr h="360363">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nb-NO" sz="1800" b="1" i="0" u="none" strike="noStrike" cap="none" normalizeH="0" baseline="0" dirty="0" smtClean="0">
                          <a:ln>
                            <a:noFill/>
                          </a:ln>
                          <a:solidFill>
                            <a:srgbClr val="FFFFFF"/>
                          </a:solidFill>
                          <a:effectLst/>
                          <a:latin typeface="Calibri" pitchFamily="34" charset="0"/>
                        </a:rPr>
                        <a:t>Code</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nb-NO" sz="1800" b="1" i="0" u="none" strike="noStrike" cap="none" normalizeH="0" baseline="0" smtClean="0">
                          <a:ln>
                            <a:noFill/>
                          </a:ln>
                          <a:solidFill>
                            <a:srgbClr val="FFFFFF"/>
                          </a:solidFill>
                          <a:effectLst/>
                          <a:latin typeface="Calibri" pitchFamily="34" charset="0"/>
                        </a:rPr>
                        <a:t>ISCED11P</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b-NO" sz="1800" b="1" i="0" u="none" strike="noStrike" cap="none" normalizeH="0" baseline="0" smtClean="0">
                          <a:ln>
                            <a:noFill/>
                          </a:ln>
                          <a:solidFill>
                            <a:srgbClr val="FFFFFF"/>
                          </a:solidFill>
                          <a:effectLst/>
                          <a:latin typeface="Calibri" pitchFamily="34" charset="0"/>
                        </a:rPr>
                        <a:t>ISCED11A</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b-NO" sz="1800" b="1" i="0" u="none" strike="noStrike" cap="none" normalizeH="0" baseline="0" smtClean="0">
                          <a:ln>
                            <a:noFill/>
                          </a:ln>
                          <a:solidFill>
                            <a:srgbClr val="FFFFFF"/>
                          </a:solidFill>
                          <a:effectLst/>
                          <a:latin typeface="Calibri" pitchFamily="34" charset="0"/>
                        </a:rPr>
                        <a:t>Similarity</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r>
              <a:tr h="312738">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b-NO" sz="1800" b="0" i="0" u="none" strike="noStrike" cap="none" normalizeH="0" baseline="0" smtClean="0">
                          <a:ln>
                            <a:noFill/>
                          </a:ln>
                          <a:solidFill>
                            <a:srgbClr val="000000"/>
                          </a:solidFill>
                          <a:effectLst/>
                          <a:latin typeface="Calibri" pitchFamily="34" charset="0"/>
                        </a:rPr>
                        <a:t>3</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Upper secondary</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Upper secondary</a:t>
                      </a:r>
                      <a:endParaRPr kumimoji="0" lang="en-US" sz="1700" b="0" i="0" u="none" strike="noStrike" cap="none" normalizeH="0" baseline="0" smtClean="0">
                        <a:ln>
                          <a:noFill/>
                        </a:ln>
                        <a:solidFill>
                          <a:srgbClr val="000000"/>
                        </a:solidFill>
                        <a:effectLst/>
                        <a:latin typeface="Calibri"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Identical</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360363">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b-NO" sz="1800" b="0" i="0" u="none" strike="noStrike" cap="none" normalizeH="0" baseline="0" smtClean="0">
                          <a:ln>
                            <a:noFill/>
                          </a:ln>
                          <a:solidFill>
                            <a:srgbClr val="000000"/>
                          </a:solidFill>
                          <a:effectLst/>
                          <a:latin typeface="Calibri" pitchFamily="34" charset="0"/>
                        </a:rPr>
                        <a:t>  34</a:t>
                      </a:r>
                      <a:endParaRPr kumimoji="0" lang="nb-NO" sz="1800" b="0" i="0" u="none" strike="noStrike" cap="none" normalizeH="0" baseline="0" dirty="0" smtClean="0">
                        <a:ln>
                          <a:noFill/>
                        </a:ln>
                        <a:solidFill>
                          <a:srgbClr val="000000"/>
                        </a:solidFill>
                        <a:effectLst/>
                        <a:latin typeface="Calibri"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Upper secondary</a:t>
                      </a:r>
                      <a:endParaRPr kumimoji="0" lang="en-US" sz="1700" b="0" i="0" u="none" strike="noStrike" cap="none" normalizeH="0" baseline="0" smtClean="0">
                        <a:ln>
                          <a:noFill/>
                        </a:ln>
                        <a:solidFill>
                          <a:srgbClr val="000000"/>
                        </a:solidFill>
                        <a:effectLst/>
                        <a:latin typeface="Calibri" pitchFamily="34" charset="0"/>
                      </a:endParaRPr>
                    </a:p>
                    <a:p>
                      <a:pPr marL="0" marR="0" lvl="0" indent="0" algn="l"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general / academic</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Upper secondary</a:t>
                      </a:r>
                      <a:endParaRPr kumimoji="0" lang="en-US" sz="1700" b="0" i="0" u="none" strike="noStrike" cap="none" normalizeH="0" baseline="0" smtClean="0">
                        <a:ln>
                          <a:noFill/>
                        </a:ln>
                        <a:solidFill>
                          <a:srgbClr val="000000"/>
                        </a:solidFill>
                        <a:effectLst/>
                        <a:latin typeface="Calibri"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general / academic</a:t>
                      </a:r>
                      <a:endParaRPr kumimoji="0" lang="en-US" sz="1700" b="0" i="0" u="none" strike="noStrike" cap="none" normalizeH="0" baseline="0" smtClean="0">
                        <a:ln>
                          <a:noFill/>
                        </a:ln>
                        <a:solidFill>
                          <a:srgbClr val="000000"/>
                        </a:solidFill>
                        <a:effectLst/>
                        <a:latin typeface="Calibri"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Identical</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nb-NO" sz="1700" b="0" i="0" u="none" strike="noStrike" cap="none" normalizeH="0" baseline="0" smtClean="0">
                        <a:ln>
                          <a:noFill/>
                        </a:ln>
                        <a:solidFill>
                          <a:srgbClr val="000000"/>
                        </a:solidFill>
                        <a:effectLst/>
                        <a:latin typeface="Calibri" pitchFamily="34" charset="0"/>
                      </a:endParaRP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r h="52705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nb-NO" sz="1800" b="0" i="0" u="none" strike="noStrike" cap="none" normalizeH="0" baseline="0" smtClean="0">
                          <a:ln>
                            <a:noFill/>
                          </a:ln>
                          <a:solidFill>
                            <a:srgbClr val="000000"/>
                          </a:solidFill>
                          <a:effectLst/>
                          <a:latin typeface="Calibri" pitchFamily="34" charset="0"/>
                        </a:rPr>
                        <a:t>341</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Upper secondary</a:t>
                      </a:r>
                      <a:r>
                        <a:rPr kumimoji="0" lang="en-US" sz="1700" b="0" i="0" u="none" strike="noStrike" cap="none" normalizeH="0" baseline="0" smtClean="0">
                          <a:ln>
                            <a:noFill/>
                          </a:ln>
                          <a:solidFill>
                            <a:srgbClr val="000000"/>
                          </a:solidFill>
                          <a:effectLst/>
                          <a:latin typeface="Calibri" pitchFamily="34" charset="0"/>
                        </a:rPr>
                        <a:t> </a:t>
                      </a:r>
                      <a:r>
                        <a:rPr kumimoji="0" lang="nb-NO" sz="1700" b="0" i="0" u="none" strike="noStrike" cap="none" normalizeH="0" baseline="0" smtClean="0">
                          <a:ln>
                            <a:noFill/>
                          </a:ln>
                          <a:solidFill>
                            <a:srgbClr val="000000"/>
                          </a:solidFill>
                          <a:effectLst/>
                          <a:latin typeface="Calibri" pitchFamily="34" charset="0"/>
                        </a:rPr>
                        <a:t>general/</a:t>
                      </a:r>
                    </a:p>
                    <a:p>
                      <a:pPr marL="0" marR="0" lvl="0" indent="0" algn="l"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academic. Recognized successful completion of programme is insufficient for </a:t>
                      </a:r>
                      <a:r>
                        <a:rPr kumimoji="0" lang="en-US" sz="1700" b="0" i="0" u="none" strike="noStrike" cap="none" normalizeH="0" baseline="0" smtClean="0">
                          <a:ln>
                            <a:noFill/>
                          </a:ln>
                          <a:solidFill>
                            <a:srgbClr val="000000"/>
                          </a:solidFill>
                          <a:effectLst/>
                          <a:latin typeface="Calibri" pitchFamily="34" charset="0"/>
                        </a:rPr>
                        <a:t>completion or partial completion of ISCED level (and thus without direct access to programmes at a higher</a:t>
                      </a:r>
                    </a:p>
                    <a:p>
                      <a:pPr marL="0" marR="0" lvl="0" indent="0" algn="l"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ISCED level)</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1700" b="0" i="0" u="none" strike="noStrike" cap="none" normalizeH="0" baseline="0" smtClean="0">
                          <a:ln>
                            <a:noFill/>
                          </a:ln>
                          <a:solidFill>
                            <a:srgbClr val="000000"/>
                          </a:solidFill>
                          <a:effectLst/>
                          <a:latin typeface="Calibri" pitchFamily="34" charset="0"/>
                        </a:rPr>
                        <a:t>Not used</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None</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r>
              <a:tr h="630238">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nb-NO" sz="1800" b="0" i="0" u="none" strike="noStrike" cap="none" normalizeH="0" baseline="0" smtClean="0">
                          <a:ln>
                            <a:noFill/>
                          </a:ln>
                          <a:solidFill>
                            <a:srgbClr val="000000"/>
                          </a:solidFill>
                          <a:effectLst/>
                          <a:latin typeface="Calibri" pitchFamily="34" charset="0"/>
                        </a:rPr>
                        <a:t>342</a:t>
                      </a: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Upper secondary</a:t>
                      </a:r>
                      <a:r>
                        <a:rPr kumimoji="0" lang="en-US" sz="1700" b="0" i="0" u="none" strike="noStrike" cap="none" normalizeH="0" baseline="0" smtClean="0">
                          <a:ln>
                            <a:noFill/>
                          </a:ln>
                          <a:solidFill>
                            <a:srgbClr val="000000"/>
                          </a:solidFill>
                          <a:effectLst/>
                          <a:latin typeface="Calibri" pitchFamily="34" charset="0"/>
                        </a:rPr>
                        <a:t> </a:t>
                      </a:r>
                      <a:r>
                        <a:rPr kumimoji="0" lang="nb-NO" sz="1700" b="0" i="0" u="none" strike="noStrike" cap="none" normalizeH="0" baseline="0" smtClean="0">
                          <a:ln>
                            <a:noFill/>
                          </a:ln>
                          <a:solidFill>
                            <a:srgbClr val="000000"/>
                          </a:solidFill>
                          <a:effectLst/>
                          <a:latin typeface="Calibri" pitchFamily="34" charset="0"/>
                        </a:rPr>
                        <a:t>general / academic.</a:t>
                      </a:r>
                      <a:r>
                        <a:rPr kumimoji="0" lang="en-US" sz="1700" b="0" i="0" u="none" strike="noStrike" cap="none" normalizeH="0" baseline="0" smtClean="0">
                          <a:ln>
                            <a:noFill/>
                          </a:ln>
                          <a:solidFill>
                            <a:srgbClr val="000000"/>
                          </a:solidFill>
                          <a:effectLst/>
                          <a:latin typeface="Calibri" pitchFamily="34" charset="0"/>
                        </a:rPr>
                        <a:t> </a:t>
                      </a:r>
                      <a:r>
                        <a:rPr kumimoji="0" lang="nb-NO" sz="1700" b="0" i="0" u="none" strike="noStrike" cap="none" normalizeH="0" baseline="0" smtClean="0">
                          <a:ln>
                            <a:noFill/>
                          </a:ln>
                          <a:solidFill>
                            <a:srgbClr val="000000"/>
                          </a:solidFill>
                          <a:effectLst/>
                          <a:latin typeface="Calibri" pitchFamily="34" charset="0"/>
                        </a:rPr>
                        <a:t>Recognized successful completion of programme is sufficient for partial </a:t>
                      </a:r>
                      <a:r>
                        <a:rPr kumimoji="0" lang="en-US" sz="1700" b="0" i="0" u="none" strike="noStrike" cap="none" normalizeH="0" baseline="0" smtClean="0">
                          <a:ln>
                            <a:noFill/>
                          </a:ln>
                          <a:solidFill>
                            <a:srgbClr val="000000"/>
                          </a:solidFill>
                          <a:effectLst/>
                          <a:latin typeface="Calibri" pitchFamily="34" charset="0"/>
                        </a:rPr>
                        <a:t>completion of ISCED level but without direct access to programmes at a higher ISCED level</a:t>
                      </a:r>
                      <a:endParaRPr kumimoji="0" lang="nb-NO" sz="1700" b="0" i="0" u="none" strike="noStrike" cap="none" normalizeH="0" baseline="0" smtClean="0">
                        <a:ln>
                          <a:noFill/>
                        </a:ln>
                        <a:solidFill>
                          <a:srgbClr val="000000"/>
                        </a:solidFill>
                        <a:effectLst/>
                        <a:latin typeface="Calibri"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Upper secondary</a:t>
                      </a:r>
                      <a:r>
                        <a:rPr kumimoji="0" lang="en-US" sz="1700" b="0" i="0" u="none" strike="noStrike" cap="none" normalizeH="0" baseline="0" smtClean="0">
                          <a:ln>
                            <a:noFill/>
                          </a:ln>
                          <a:solidFill>
                            <a:srgbClr val="000000"/>
                          </a:solidFill>
                          <a:effectLst/>
                          <a:latin typeface="Calibri" pitchFamily="34" charset="0"/>
                        </a:rPr>
                        <a:t> </a:t>
                      </a:r>
                      <a:r>
                        <a:rPr kumimoji="0" lang="nb-NO" sz="1700" b="0" i="0" u="none" strike="noStrike" cap="none" normalizeH="0" baseline="0" smtClean="0">
                          <a:ln>
                            <a:noFill/>
                          </a:ln>
                          <a:solidFill>
                            <a:srgbClr val="000000"/>
                          </a:solidFill>
                          <a:effectLst/>
                          <a:latin typeface="Calibri" pitchFamily="34" charset="0"/>
                        </a:rPr>
                        <a:t>general / academic</a:t>
                      </a:r>
                      <a:r>
                        <a:rPr kumimoji="0" lang="en-US" sz="1700" b="0" i="0" u="none" strike="noStrike" cap="none" normalizeH="0" baseline="0" smtClean="0">
                          <a:ln>
                            <a:noFill/>
                          </a:ln>
                          <a:solidFill>
                            <a:srgbClr val="000000"/>
                          </a:solidFill>
                          <a:effectLst/>
                          <a:latin typeface="Calibri" pitchFamily="34" charset="0"/>
                        </a:rPr>
                        <a:t>. Partial level completion – without direct access to programmes at a higher ISCED </a:t>
                      </a:r>
                      <a:r>
                        <a:rPr kumimoji="0" lang="nb-NO" sz="1700" b="0" i="0" u="none" strike="noStrike" cap="none" normalizeH="0" baseline="0" smtClean="0">
                          <a:ln>
                            <a:noFill/>
                          </a:ln>
                          <a:solidFill>
                            <a:srgbClr val="000000"/>
                          </a:solidFill>
                          <a:effectLst/>
                          <a:latin typeface="Calibri" pitchFamily="34" charset="0"/>
                        </a:rPr>
                        <a:t>level</a:t>
                      </a:r>
                    </a:p>
                    <a:p>
                      <a:pPr marL="0" marR="0" lvl="0" indent="0" algn="l" defTabSz="914400" rtl="0" eaLnBrk="1" fontAlgn="base" latinLnBrk="0" hangingPunct="1">
                        <a:lnSpc>
                          <a:spcPct val="100000"/>
                        </a:lnSpc>
                        <a:spcBef>
                          <a:spcPct val="0"/>
                        </a:spcBef>
                        <a:spcAft>
                          <a:spcPct val="0"/>
                        </a:spcAft>
                        <a:buClrTx/>
                        <a:buSzTx/>
                        <a:buFontTx/>
                        <a:buNone/>
                        <a:tabLst/>
                      </a:pPr>
                      <a:endParaRPr kumimoji="0" lang="nb-NO" sz="1700" b="0" i="0" u="none" strike="noStrike" cap="none" normalizeH="0" baseline="0" smtClean="0">
                        <a:ln>
                          <a:noFill/>
                        </a:ln>
                        <a:solidFill>
                          <a:srgbClr val="000000"/>
                        </a:solidFill>
                        <a:effectLst/>
                        <a:latin typeface="Calibri" pitchFamily="34" charset="0"/>
                      </a:endParaRPr>
                    </a:p>
                  </a:txBody>
                  <a:tcPr marL="0" marR="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nb-NO" sz="1700" b="0" i="0" u="none" strike="noStrike" cap="none" normalizeH="0" baseline="0" smtClean="0">
                        <a:ln>
                          <a:noFill/>
                        </a:ln>
                        <a:solidFill>
                          <a:srgbClr val="000000"/>
                        </a:solidFill>
                        <a:effectLst/>
                        <a:latin typeface="Calibri"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pPr>
                      <a:r>
                        <a:rPr kumimoji="0" lang="nb-NO" sz="1700" b="0" i="0" u="none" strike="noStrike" cap="none" normalizeH="0" baseline="0" smtClean="0">
                          <a:ln>
                            <a:noFill/>
                          </a:ln>
                          <a:solidFill>
                            <a:srgbClr val="000000"/>
                          </a:solidFill>
                          <a:effectLst/>
                          <a:latin typeface="Calibri" pitchFamily="34" charset="0"/>
                        </a:rPr>
                        <a:t>High</a:t>
                      </a:r>
                    </a:p>
                  </a:txBody>
                  <a:tcP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r>
            </a:tbl>
          </a:graphicData>
        </a:graphic>
      </p:graphicFrame>
      <p:sp>
        <p:nvSpPr>
          <p:cNvPr id="5" name="TekstSylinder 4"/>
          <p:cNvSpPr txBox="1">
            <a:spLocks noChangeArrowheads="1"/>
          </p:cNvSpPr>
          <p:nvPr/>
        </p:nvSpPr>
        <p:spPr bwMode="auto">
          <a:xfrm>
            <a:off x="3563938" y="4076700"/>
            <a:ext cx="4968875" cy="2170113"/>
          </a:xfrm>
          <a:prstGeom prst="rect">
            <a:avLst/>
          </a:prstGeom>
          <a:solidFill>
            <a:schemeClr val="bg1"/>
          </a:solidFill>
          <a:ln w="9525">
            <a:solidFill>
              <a:schemeClr val="accent1"/>
            </a:solidFill>
            <a:miter lim="800000"/>
            <a:headEnd/>
            <a:tailEnd/>
          </a:ln>
        </p:spPr>
        <p:txBody>
          <a:bodyPr>
            <a:spAutoFit/>
          </a:bodyPr>
          <a:lstStyle/>
          <a:p>
            <a:endParaRPr lang="nb-NO" sz="1500" b="1" dirty="0">
              <a:cs typeface="Arial" charset="0"/>
            </a:endParaRPr>
          </a:p>
          <a:p>
            <a:r>
              <a:rPr lang="nb-NO" sz="1500" b="1" dirty="0">
                <a:cs typeface="Arial" charset="0"/>
              </a:rPr>
              <a:t>Description: </a:t>
            </a:r>
            <a:r>
              <a:rPr lang="nb-NO" sz="1500" dirty="0">
                <a:cs typeface="Arial" charset="0"/>
              </a:rPr>
              <a:t>The categories of ISCED11P and ISCED11A at ISCED level 3 have higly similar meanings. Codes with 1 in the third digit in ISCED11P represent programmes insufficient for level completion or partial level completion, and should </a:t>
            </a:r>
            <a:r>
              <a:rPr lang="nb-NO" sz="1500">
                <a:cs typeface="Arial" charset="0"/>
              </a:rPr>
              <a:t>be </a:t>
            </a:r>
            <a:r>
              <a:rPr lang="nb-NO" sz="1500" smtClean="0">
                <a:cs typeface="Arial" charset="0"/>
              </a:rPr>
              <a:t>classified  at </a:t>
            </a:r>
            <a:r>
              <a:rPr lang="nb-NO" sz="1500" dirty="0">
                <a:cs typeface="Arial" charset="0"/>
              </a:rPr>
              <a:t>ISCED level 2 in ISCED11A</a:t>
            </a:r>
          </a:p>
          <a:p>
            <a:endParaRPr lang="nb-NO" sz="1500" dirty="0">
              <a:cs typeface="Arial" charset="0"/>
            </a:endParaRPr>
          </a:p>
          <a:p>
            <a:endParaRPr lang="nb-NO" sz="1500" dirty="0">
              <a:cs typeface="Arial"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tel 1"/>
          <p:cNvSpPr>
            <a:spLocks noGrp="1"/>
          </p:cNvSpPr>
          <p:nvPr>
            <p:ph type="title"/>
          </p:nvPr>
        </p:nvSpPr>
        <p:spPr/>
        <p:txBody>
          <a:bodyPr/>
          <a:lstStyle/>
          <a:p>
            <a:pPr eaLnBrk="1" hangingPunct="1"/>
            <a:r>
              <a:rPr lang="nb-NO" smtClean="0"/>
              <a:t>Possible DDI Usage II</a:t>
            </a:r>
          </a:p>
        </p:txBody>
      </p:sp>
      <p:sp>
        <p:nvSpPr>
          <p:cNvPr id="3" name="Plassholder for innhold 2"/>
          <p:cNvSpPr>
            <a:spLocks noGrp="1"/>
          </p:cNvSpPr>
          <p:nvPr>
            <p:ph idx="1"/>
          </p:nvPr>
        </p:nvSpPr>
        <p:spPr/>
        <p:txBody>
          <a:bodyPr rtlCol="0">
            <a:normAutofit fontScale="77500" lnSpcReduction="20000"/>
          </a:bodyPr>
          <a:lstStyle/>
          <a:p>
            <a:pPr eaLnBrk="1" fontAlgn="auto" hangingPunct="1">
              <a:spcAft>
                <a:spcPts val="0"/>
              </a:spcAft>
              <a:buFont typeface="Arial" pitchFamily="34" charset="0"/>
              <a:buChar char="•"/>
              <a:defRPr/>
            </a:pPr>
            <a:r>
              <a:rPr lang="nb-NO" dirty="0" smtClean="0"/>
              <a:t>Resource </a:t>
            </a:r>
            <a:r>
              <a:rPr lang="nb-NO" dirty="0" err="1" smtClean="0"/>
              <a:t>Package</a:t>
            </a:r>
            <a:r>
              <a:rPr lang="nb-NO" dirty="0" smtClean="0"/>
              <a:t> for ESS </a:t>
            </a:r>
            <a:r>
              <a:rPr lang="nb-NO" dirty="0" err="1" smtClean="0"/>
              <a:t>education</a:t>
            </a:r>
            <a:r>
              <a:rPr lang="nb-NO" dirty="0" smtClean="0"/>
              <a:t> variables</a:t>
            </a:r>
          </a:p>
          <a:p>
            <a:pPr lvl="1" eaLnBrk="1" fontAlgn="auto" hangingPunct="1">
              <a:spcAft>
                <a:spcPts val="0"/>
              </a:spcAft>
              <a:buFont typeface="Arial" pitchFamily="34" charset="0"/>
              <a:buChar char="–"/>
              <a:defRPr/>
            </a:pPr>
            <a:r>
              <a:rPr lang="nb-NO" dirty="0" smtClean="0"/>
              <a:t>EDULVLB, EDULVLA, EISCED as variables</a:t>
            </a:r>
          </a:p>
          <a:p>
            <a:pPr lvl="1" eaLnBrk="1" fontAlgn="auto" hangingPunct="1">
              <a:spcAft>
                <a:spcPts val="0"/>
              </a:spcAft>
              <a:buFont typeface="Arial" pitchFamily="34" charset="0"/>
              <a:buChar char="–"/>
              <a:defRPr/>
            </a:pPr>
            <a:r>
              <a:rPr lang="nb-NO" dirty="0" smtClean="0"/>
              <a:t>National variables and questions</a:t>
            </a:r>
          </a:p>
          <a:p>
            <a:pPr lvl="1" eaLnBrk="1" fontAlgn="auto" hangingPunct="1">
              <a:spcAft>
                <a:spcPts val="0"/>
              </a:spcAft>
              <a:buFont typeface="Arial" pitchFamily="34" charset="0"/>
              <a:buChar char="–"/>
              <a:defRPr/>
            </a:pPr>
            <a:r>
              <a:rPr lang="nb-NO" dirty="0" err="1" smtClean="0"/>
              <a:t>Mappings</a:t>
            </a:r>
            <a:r>
              <a:rPr lang="nb-NO" dirty="0" smtClean="0"/>
              <a:t> from </a:t>
            </a:r>
            <a:r>
              <a:rPr lang="nb-NO" dirty="0" err="1" smtClean="0"/>
              <a:t>national</a:t>
            </a:r>
            <a:r>
              <a:rPr lang="nb-NO" dirty="0" smtClean="0"/>
              <a:t> variables to EDULVLB, </a:t>
            </a:r>
            <a:r>
              <a:rPr lang="nb-NO" dirty="0" err="1" smtClean="0"/>
              <a:t>realised</a:t>
            </a:r>
            <a:r>
              <a:rPr lang="nb-NO" dirty="0" smtClean="0"/>
              <a:t> in </a:t>
            </a:r>
            <a:r>
              <a:rPr lang="nb-NO" dirty="0" err="1" smtClean="0"/>
              <a:t>comparison</a:t>
            </a:r>
            <a:r>
              <a:rPr lang="nb-NO" dirty="0" smtClean="0"/>
              <a:t> and </a:t>
            </a:r>
            <a:r>
              <a:rPr lang="nb-NO" dirty="0" err="1" smtClean="0"/>
              <a:t>generation</a:t>
            </a:r>
            <a:r>
              <a:rPr lang="nb-NO" dirty="0" smtClean="0"/>
              <a:t> </a:t>
            </a:r>
            <a:r>
              <a:rPr lang="nb-NO" dirty="0" err="1" smtClean="0"/>
              <a:t>instruction</a:t>
            </a:r>
            <a:endParaRPr lang="nb-NO" dirty="0" smtClean="0"/>
          </a:p>
          <a:p>
            <a:pPr lvl="1" eaLnBrk="1" fontAlgn="auto" hangingPunct="1">
              <a:spcAft>
                <a:spcPts val="0"/>
              </a:spcAft>
              <a:buFont typeface="Arial" pitchFamily="34" charset="0"/>
              <a:buChar char="–"/>
              <a:defRPr/>
            </a:pPr>
            <a:r>
              <a:rPr lang="nb-NO" dirty="0" err="1" smtClean="0"/>
              <a:t>Relationship</a:t>
            </a:r>
            <a:r>
              <a:rPr lang="nb-NO" dirty="0" smtClean="0"/>
              <a:t> </a:t>
            </a:r>
            <a:r>
              <a:rPr lang="nb-NO" dirty="0" err="1" smtClean="0"/>
              <a:t>of</a:t>
            </a:r>
            <a:r>
              <a:rPr lang="nb-NO" dirty="0" smtClean="0"/>
              <a:t> EDULVLB, EDULVLA, EISCED, </a:t>
            </a:r>
            <a:r>
              <a:rPr lang="nb-NO" dirty="0" err="1" smtClean="0"/>
              <a:t>realised</a:t>
            </a:r>
            <a:r>
              <a:rPr lang="nb-NO" dirty="0" smtClean="0"/>
              <a:t> in </a:t>
            </a:r>
            <a:r>
              <a:rPr lang="nb-NO" dirty="0" err="1" smtClean="0"/>
              <a:t>comparison</a:t>
            </a:r>
            <a:r>
              <a:rPr lang="nb-NO" dirty="0" smtClean="0"/>
              <a:t> and </a:t>
            </a:r>
            <a:r>
              <a:rPr lang="nb-NO" dirty="0" err="1" smtClean="0"/>
              <a:t>generation</a:t>
            </a:r>
            <a:r>
              <a:rPr lang="nb-NO" dirty="0" smtClean="0"/>
              <a:t> </a:t>
            </a:r>
            <a:r>
              <a:rPr lang="nb-NO" dirty="0" err="1" smtClean="0"/>
              <a:t>instruction</a:t>
            </a:r>
            <a:endParaRPr lang="nb-NO" dirty="0" smtClean="0"/>
          </a:p>
          <a:p>
            <a:pPr lvl="1" eaLnBrk="1" fontAlgn="auto" hangingPunct="1">
              <a:spcAft>
                <a:spcPts val="0"/>
              </a:spcAft>
              <a:buFont typeface="Arial" pitchFamily="34" charset="0"/>
              <a:buChar char="–"/>
              <a:defRPr/>
            </a:pPr>
            <a:r>
              <a:rPr lang="nb-NO" dirty="0" err="1" smtClean="0"/>
              <a:t>Explanations</a:t>
            </a:r>
            <a:r>
              <a:rPr lang="nb-NO" dirty="0" smtClean="0"/>
              <a:t> and </a:t>
            </a:r>
            <a:r>
              <a:rPr lang="nb-NO" dirty="0" err="1" smtClean="0"/>
              <a:t>definitions</a:t>
            </a:r>
            <a:r>
              <a:rPr lang="nb-NO" dirty="0" smtClean="0"/>
              <a:t> for EDULVLB, </a:t>
            </a:r>
            <a:r>
              <a:rPr lang="nb-NO" dirty="0" err="1" smtClean="0"/>
              <a:t>realised</a:t>
            </a:r>
            <a:r>
              <a:rPr lang="nb-NO" dirty="0" smtClean="0"/>
              <a:t> as notes</a:t>
            </a:r>
          </a:p>
          <a:p>
            <a:pPr eaLnBrk="1" fontAlgn="auto" hangingPunct="1">
              <a:spcAft>
                <a:spcPts val="0"/>
              </a:spcAft>
              <a:buFont typeface="Arial" pitchFamily="34" charset="0"/>
              <a:buChar char="•"/>
              <a:defRPr/>
            </a:pPr>
            <a:r>
              <a:rPr lang="nb-NO" dirty="0" smtClean="0"/>
              <a:t>Resource </a:t>
            </a:r>
            <a:r>
              <a:rPr lang="nb-NO" dirty="0" err="1" smtClean="0"/>
              <a:t>Package</a:t>
            </a:r>
            <a:r>
              <a:rPr lang="nb-NO" dirty="0" smtClean="0"/>
              <a:t> for ISCED 1997</a:t>
            </a:r>
          </a:p>
          <a:p>
            <a:pPr lvl="1" eaLnBrk="1" fontAlgn="auto" hangingPunct="1">
              <a:spcAft>
                <a:spcPts val="0"/>
              </a:spcAft>
              <a:buFont typeface="Arial" pitchFamily="34" charset="0"/>
              <a:buChar char="–"/>
              <a:defRPr/>
            </a:pPr>
            <a:r>
              <a:rPr lang="nb-NO" dirty="0" smtClean="0"/>
              <a:t>Variable ISCED97 </a:t>
            </a:r>
            <a:r>
              <a:rPr lang="nb-NO" dirty="0" err="1" smtClean="0"/>
              <a:t>with</a:t>
            </a:r>
            <a:r>
              <a:rPr lang="nb-NO" dirty="0" smtClean="0"/>
              <a:t> alpha-</a:t>
            </a:r>
            <a:r>
              <a:rPr lang="nb-NO" dirty="0" err="1" smtClean="0"/>
              <a:t>numeric</a:t>
            </a:r>
            <a:r>
              <a:rPr lang="nb-NO" dirty="0" smtClean="0"/>
              <a:t> </a:t>
            </a:r>
            <a:r>
              <a:rPr lang="nb-NO" dirty="0" err="1" smtClean="0"/>
              <a:t>codes</a:t>
            </a:r>
            <a:endParaRPr lang="nb-NO" dirty="0"/>
          </a:p>
          <a:p>
            <a:pPr lvl="1" eaLnBrk="1" fontAlgn="auto" hangingPunct="1">
              <a:spcAft>
                <a:spcPts val="0"/>
              </a:spcAft>
              <a:buFont typeface="Arial" pitchFamily="34" charset="0"/>
              <a:buChar char="–"/>
              <a:defRPr/>
            </a:pPr>
            <a:r>
              <a:rPr lang="nb-NO" dirty="0" smtClean="0"/>
              <a:t>National variables </a:t>
            </a:r>
            <a:r>
              <a:rPr lang="nb-NO" dirty="0" err="1" smtClean="0"/>
              <a:t>based</a:t>
            </a:r>
            <a:r>
              <a:rPr lang="nb-NO" dirty="0" smtClean="0"/>
              <a:t> </a:t>
            </a:r>
            <a:r>
              <a:rPr lang="nb-NO" dirty="0" err="1" smtClean="0"/>
              <a:t>on</a:t>
            </a:r>
            <a:r>
              <a:rPr lang="nb-NO" dirty="0" smtClean="0"/>
              <a:t> </a:t>
            </a:r>
            <a:r>
              <a:rPr lang="nb-NO" dirty="0" err="1" smtClean="0"/>
              <a:t>the</a:t>
            </a:r>
            <a:r>
              <a:rPr lang="nb-NO" dirty="0" smtClean="0"/>
              <a:t> ISCED </a:t>
            </a:r>
            <a:r>
              <a:rPr lang="nb-NO" dirty="0" err="1" smtClean="0"/>
              <a:t>mappings</a:t>
            </a:r>
            <a:endParaRPr lang="nb-NO" dirty="0" smtClean="0"/>
          </a:p>
          <a:p>
            <a:pPr lvl="1" eaLnBrk="1" fontAlgn="auto" hangingPunct="1">
              <a:spcAft>
                <a:spcPts val="0"/>
              </a:spcAft>
              <a:buFont typeface="Arial" pitchFamily="34" charset="0"/>
              <a:buChar char="–"/>
              <a:defRPr/>
            </a:pPr>
            <a:r>
              <a:rPr lang="nb-NO" dirty="0" err="1" smtClean="0"/>
              <a:t>Mappings</a:t>
            </a:r>
            <a:r>
              <a:rPr lang="nb-NO" dirty="0" smtClean="0"/>
              <a:t> from </a:t>
            </a:r>
            <a:r>
              <a:rPr lang="nb-NO" dirty="0" err="1" smtClean="0"/>
              <a:t>national</a:t>
            </a:r>
            <a:r>
              <a:rPr lang="nb-NO" dirty="0" smtClean="0"/>
              <a:t> variables to ISCED97, </a:t>
            </a:r>
            <a:r>
              <a:rPr lang="nb-NO" dirty="0" err="1" smtClean="0"/>
              <a:t>realised</a:t>
            </a:r>
            <a:r>
              <a:rPr lang="nb-NO" dirty="0" smtClean="0"/>
              <a:t> in </a:t>
            </a:r>
            <a:r>
              <a:rPr lang="nb-NO" dirty="0" err="1" smtClean="0"/>
              <a:t>comparison</a:t>
            </a:r>
            <a:r>
              <a:rPr lang="nb-NO" dirty="0" smtClean="0"/>
              <a:t> and </a:t>
            </a:r>
            <a:r>
              <a:rPr lang="nb-NO" dirty="0" err="1" smtClean="0"/>
              <a:t>generation</a:t>
            </a:r>
            <a:r>
              <a:rPr lang="nb-NO" dirty="0" smtClean="0"/>
              <a:t> </a:t>
            </a:r>
            <a:r>
              <a:rPr lang="nb-NO" dirty="0" err="1" smtClean="0"/>
              <a:t>instruction</a:t>
            </a:r>
            <a:endParaRPr lang="nb-NO" dirty="0" smtClean="0"/>
          </a:p>
          <a:p>
            <a:pPr eaLnBrk="1" fontAlgn="auto" hangingPunct="1">
              <a:spcAft>
                <a:spcPts val="0"/>
              </a:spcAft>
              <a:buFont typeface="Arial" pitchFamily="34" charset="0"/>
              <a:buChar char="•"/>
              <a:defRPr/>
            </a:pPr>
            <a:endParaRPr lang="nb-NO"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ell 1"/>
          <p:cNvGraphicFramePr>
            <a:graphicFrameLocks noGrp="1"/>
          </p:cNvGraphicFramePr>
          <p:nvPr/>
        </p:nvGraphicFramePr>
        <p:xfrm>
          <a:off x="827088" y="1454150"/>
          <a:ext cx="7488832" cy="4916757"/>
        </p:xfrm>
        <a:graphic>
          <a:graphicData uri="http://schemas.openxmlformats.org/drawingml/2006/table">
            <a:tbl>
              <a:tblPr firstRow="1" bandRow="1">
                <a:tableStyleId>{5C22544A-7EE6-4342-B048-85BDC9FD1C3A}</a:tableStyleId>
              </a:tblPr>
              <a:tblGrid>
                <a:gridCol w="1440161"/>
                <a:gridCol w="1296144"/>
                <a:gridCol w="4752527"/>
              </a:tblGrid>
              <a:tr h="360314">
                <a:tc>
                  <a:txBody>
                    <a:bodyPr/>
                    <a:lstStyle/>
                    <a:p>
                      <a:pPr algn="ctr"/>
                      <a:r>
                        <a:rPr lang="nb-NO" dirty="0" smtClean="0"/>
                        <a:t>EDULVLB</a:t>
                      </a:r>
                      <a:endParaRPr lang="nb-NO" dirty="0"/>
                    </a:p>
                  </a:txBody>
                  <a:tcPr/>
                </a:tc>
                <a:tc>
                  <a:txBody>
                    <a:bodyPr/>
                    <a:lstStyle/>
                    <a:p>
                      <a:r>
                        <a:rPr lang="nb-NO" dirty="0" smtClean="0"/>
                        <a:t>EDULVLA</a:t>
                      </a:r>
                      <a:endParaRPr lang="nb-NO" dirty="0"/>
                    </a:p>
                  </a:txBody>
                  <a:tcPr/>
                </a:tc>
                <a:tc>
                  <a:txBody>
                    <a:bodyPr/>
                    <a:lstStyle/>
                    <a:p>
                      <a:r>
                        <a:rPr lang="nb-NO" dirty="0" err="1" smtClean="0"/>
                        <a:t>Category</a:t>
                      </a:r>
                      <a:endParaRPr lang="nb-NO" dirty="0"/>
                    </a:p>
                  </a:txBody>
                  <a:tcPr/>
                </a:tc>
              </a:tr>
              <a:tr h="313102">
                <a:tc>
                  <a:txBody>
                    <a:bodyPr/>
                    <a:lstStyle/>
                    <a:p>
                      <a:pPr algn="ctr"/>
                      <a:r>
                        <a:rPr lang="nb-NO" smtClean="0"/>
                        <a:t>   </a:t>
                      </a:r>
                      <a:r>
                        <a:rPr lang="nb-NO" dirty="0" smtClean="0"/>
                        <a:t>0 - </a:t>
                      </a:r>
                      <a:r>
                        <a:rPr lang="nb-NO" baseline="0" dirty="0" smtClean="0"/>
                        <a:t>129</a:t>
                      </a:r>
                      <a:endParaRPr lang="nb-NO" dirty="0"/>
                    </a:p>
                  </a:txBody>
                  <a:tcPr marL="0" marR="0" marT="0" marB="0" anchor="ctr"/>
                </a:tc>
                <a:tc>
                  <a:txBody>
                    <a:bodyPr/>
                    <a:lstStyle/>
                    <a:p>
                      <a:pPr algn="ctr"/>
                      <a:r>
                        <a:rPr lang="en-US" dirty="0" smtClean="0"/>
                        <a:t>1</a:t>
                      </a:r>
                      <a:endParaRPr lang="en-US" dirty="0"/>
                    </a:p>
                  </a:txBody>
                  <a:tcPr marL="0" marR="0" marT="0" marB="0" anchor="ctr"/>
                </a:tc>
                <a:tc>
                  <a:txBody>
                    <a:bodyPr/>
                    <a:lstStyle/>
                    <a:p>
                      <a:r>
                        <a:rPr lang="en-US" dirty="0" smtClean="0">
                          <a:effectLst/>
                        </a:rPr>
                        <a:t> Less than lower secondary education (ISCED 0-1)</a:t>
                      </a:r>
                      <a:endParaRPr lang="nb-NO" dirty="0"/>
                    </a:p>
                  </a:txBody>
                  <a:tcPr marL="0" marR="0" marT="0" marB="0" anchor="ctr"/>
                </a:tc>
              </a:tr>
              <a:tr h="36031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nb-NO" dirty="0" smtClean="0"/>
                        <a:t>212 - 229</a:t>
                      </a:r>
                    </a:p>
                  </a:txBody>
                  <a:tcPr marL="0" marR="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2</a:t>
                      </a:r>
                    </a:p>
                  </a:txBody>
                  <a:tcPr marL="0" marR="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Lower secondary education completed (ISCED 2)</a:t>
                      </a:r>
                      <a:endParaRPr lang="nb-NO" dirty="0" smtClean="0"/>
                    </a:p>
                  </a:txBody>
                  <a:tcPr/>
                </a:tc>
              </a:tr>
              <a:tr h="527499">
                <a:tc>
                  <a:txBody>
                    <a:bodyPr/>
                    <a:lstStyle/>
                    <a:p>
                      <a:pPr algn="ctr"/>
                      <a:r>
                        <a:rPr lang="nb-NO" dirty="0" smtClean="0"/>
                        <a:t>311 - </a:t>
                      </a:r>
                      <a:r>
                        <a:rPr lang="nb-NO" dirty="0" smtClean="0">
                          <a:effectLst/>
                        </a:rPr>
                        <a:t>323</a:t>
                      </a:r>
                      <a:endParaRPr lang="nb-NO" dirty="0"/>
                    </a:p>
                  </a:txBody>
                  <a:tcPr marL="0" marR="0" marT="0" marB="0"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smtClean="0"/>
                        <a:t>3</a:t>
                      </a:r>
                    </a:p>
                  </a:txBody>
                  <a:tcPr marL="0" marR="0" marT="0" marB="0" anchor="ct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effectLst/>
                        </a:rPr>
                        <a:t> Upper secondary education completed (ISCED 3)</a:t>
                      </a:r>
                      <a:endParaRPr lang="nb-NO" dirty="0" smtClean="0"/>
                    </a:p>
                  </a:txBody>
                  <a:tcPr marL="0" marR="0" marT="0" marB="0" anchor="ctr"/>
                </a:tc>
              </a:tr>
              <a:tr h="630550">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nb-NO" dirty="0" smtClean="0">
                          <a:effectLst/>
                        </a:rPr>
                        <a:t>412 - 423</a:t>
                      </a:r>
                      <a:endParaRPr lang="nb-NO" dirty="0" smtClean="0"/>
                    </a:p>
                  </a:txBody>
                  <a:tcPr marL="0" marR="0" marT="0" marB="0" anchor="ctr"/>
                </a:tc>
                <a:tc>
                  <a:txBody>
                    <a:bodyPr/>
                    <a:lstStyle/>
                    <a:p>
                      <a:pPr algn="ctr"/>
                      <a:r>
                        <a:rPr lang="nb-NO" dirty="0" smtClean="0"/>
                        <a:t>4</a:t>
                      </a:r>
                      <a:endParaRPr lang="nb-NO" dirty="0"/>
                    </a:p>
                  </a:txBody>
                  <a:tcPr marL="0" marR="0" marT="0" marB="0" anchor="ctr"/>
                </a:tc>
                <a:tc>
                  <a:txBody>
                    <a:bodyPr/>
                    <a:lstStyle/>
                    <a:p>
                      <a:r>
                        <a:rPr lang="en-US" dirty="0" smtClean="0">
                          <a:effectLst/>
                        </a:rPr>
                        <a:t>Post-secondary non-tertiary education completed (ISCED 4)</a:t>
                      </a:r>
                      <a:endParaRPr lang="nb-NO" dirty="0"/>
                    </a:p>
                  </a:txBody>
                  <a:tcPr/>
                </a:tc>
              </a:tr>
              <a:tr h="313102">
                <a:tc>
                  <a:txBody>
                    <a:bodyPr/>
                    <a:lstStyle/>
                    <a:p>
                      <a:pPr algn="ctr"/>
                      <a:r>
                        <a:rPr lang="nb-NO" dirty="0" smtClean="0">
                          <a:effectLst/>
                        </a:rPr>
                        <a:t>510 - 800</a:t>
                      </a:r>
                      <a:endParaRPr lang="nb-NO" dirty="0"/>
                    </a:p>
                  </a:txBody>
                  <a:tcPr marL="0" marR="0" marT="0" marB="0" anchor="ctr"/>
                </a:tc>
                <a:tc>
                  <a:txBody>
                    <a:bodyPr/>
                    <a:lstStyle/>
                    <a:p>
                      <a:pPr algn="ctr"/>
                      <a:r>
                        <a:rPr lang="en-US" dirty="0" smtClean="0"/>
                        <a:t>5</a:t>
                      </a:r>
                      <a:endParaRPr lang="en-US" dirty="0"/>
                    </a:p>
                  </a:txBody>
                  <a:tcPr marL="0" marR="0" marT="0" marB="0" anchor="ctr"/>
                </a:tc>
                <a:tc>
                  <a:txBody>
                    <a:bodyPr/>
                    <a:lstStyle/>
                    <a:p>
                      <a:r>
                        <a:rPr lang="en-US" dirty="0" smtClean="0">
                          <a:effectLst/>
                        </a:rPr>
                        <a:t>Tertiary education completed (ISCED 5-6)</a:t>
                      </a:r>
                      <a:endParaRPr lang="nb-NO" dirty="0"/>
                    </a:p>
                  </a:txBody>
                  <a:tcPr marL="0" marR="0" marT="0" marB="0" anchor="ctr"/>
                </a:tc>
              </a:tr>
              <a:tr h="360314">
                <a:tc>
                  <a:txBody>
                    <a:bodyPr/>
                    <a:lstStyle/>
                    <a:p>
                      <a:pPr algn="ctr"/>
                      <a:r>
                        <a:rPr lang="nb-NO" dirty="0" smtClean="0"/>
                        <a:t>5555</a:t>
                      </a:r>
                      <a:endParaRPr lang="nb-NO" dirty="0"/>
                    </a:p>
                  </a:txBody>
                  <a:tcPr marL="0" marR="0" marT="0" marB="0" anchor="ctr"/>
                </a:tc>
                <a:tc>
                  <a:txBody>
                    <a:bodyPr/>
                    <a:lstStyle/>
                    <a:p>
                      <a:pPr algn="ctr"/>
                      <a:r>
                        <a:rPr lang="nb-NO" dirty="0" smtClean="0"/>
                        <a:t>55</a:t>
                      </a:r>
                      <a:endParaRPr lang="nb-NO" dirty="0"/>
                    </a:p>
                  </a:txBody>
                  <a:tcPr marL="0" marR="0" marT="0" marB="0" anchor="ctr"/>
                </a:tc>
                <a:tc>
                  <a:txBody>
                    <a:bodyPr/>
                    <a:lstStyle/>
                    <a:p>
                      <a:r>
                        <a:rPr lang="nb-NO" dirty="0" err="1" smtClean="0"/>
                        <a:t>Other</a:t>
                      </a:r>
                      <a:endParaRPr lang="nb-NO" dirty="0"/>
                    </a:p>
                  </a:txBody>
                  <a:tcPr/>
                </a:tc>
              </a:tr>
              <a:tr h="313102">
                <a:tc>
                  <a:txBody>
                    <a:bodyPr/>
                    <a:lstStyle/>
                    <a:p>
                      <a:pPr algn="ctr"/>
                      <a:r>
                        <a:rPr lang="nb-NO" dirty="0" smtClean="0"/>
                        <a:t>7777</a:t>
                      </a:r>
                      <a:endParaRPr lang="nb-NO" dirty="0"/>
                    </a:p>
                  </a:txBody>
                  <a:tcPr marL="0" marR="0" marT="0" marB="0" anchor="ctr"/>
                </a:tc>
                <a:tc>
                  <a:txBody>
                    <a:bodyPr/>
                    <a:lstStyle/>
                    <a:p>
                      <a:pPr algn="ctr"/>
                      <a:r>
                        <a:rPr lang="en-US" dirty="0" smtClean="0"/>
                        <a:t>77</a:t>
                      </a:r>
                      <a:endParaRPr lang="en-US" dirty="0"/>
                    </a:p>
                  </a:txBody>
                  <a:tcPr marL="0" marR="0" marT="0" marB="0" anchor="ctr"/>
                </a:tc>
                <a:tc>
                  <a:txBody>
                    <a:bodyPr/>
                    <a:lstStyle/>
                    <a:p>
                      <a:r>
                        <a:rPr lang="nb-NO" dirty="0" smtClean="0"/>
                        <a:t> </a:t>
                      </a:r>
                      <a:r>
                        <a:rPr lang="nb-NO" dirty="0" err="1" smtClean="0"/>
                        <a:t>Refusal</a:t>
                      </a:r>
                      <a:endParaRPr lang="nb-NO" dirty="0"/>
                    </a:p>
                  </a:txBody>
                  <a:tcPr marL="0" marR="0" marT="0" marB="0" anchor="ctr"/>
                </a:tc>
              </a:tr>
              <a:tr h="360314">
                <a:tc>
                  <a:txBody>
                    <a:bodyPr/>
                    <a:lstStyle/>
                    <a:p>
                      <a:pPr algn="ctr"/>
                      <a:r>
                        <a:rPr lang="nb-NO" dirty="0" smtClean="0"/>
                        <a:t>8888</a:t>
                      </a:r>
                      <a:endParaRPr lang="nb-NO" dirty="0"/>
                    </a:p>
                  </a:txBody>
                  <a:tcPr marL="0" marR="0" marT="0" marB="0" anchor="ctr"/>
                </a:tc>
                <a:tc>
                  <a:txBody>
                    <a:bodyPr/>
                    <a:lstStyle/>
                    <a:p>
                      <a:pPr algn="ctr"/>
                      <a:r>
                        <a:rPr lang="nb-NO" dirty="0" smtClean="0"/>
                        <a:t>88</a:t>
                      </a:r>
                      <a:endParaRPr lang="nb-NO" dirty="0"/>
                    </a:p>
                  </a:txBody>
                  <a:tcPr marL="0" marR="0" marT="0" marB="0" anchor="ctr"/>
                </a:tc>
                <a:tc>
                  <a:txBody>
                    <a:bodyPr/>
                    <a:lstStyle/>
                    <a:p>
                      <a:r>
                        <a:rPr lang="nb-NO" dirty="0" err="1" smtClean="0"/>
                        <a:t>Don’t</a:t>
                      </a:r>
                      <a:r>
                        <a:rPr lang="nb-NO" dirty="0" smtClean="0"/>
                        <a:t> </a:t>
                      </a:r>
                      <a:r>
                        <a:rPr lang="nb-NO" dirty="0" err="1" smtClean="0"/>
                        <a:t>know</a:t>
                      </a:r>
                      <a:endParaRPr lang="nb-NO" dirty="0"/>
                    </a:p>
                  </a:txBody>
                  <a:tcPr/>
                </a:tc>
              </a:tr>
              <a:tr h="313102">
                <a:tc>
                  <a:txBody>
                    <a:bodyPr/>
                    <a:lstStyle/>
                    <a:p>
                      <a:pPr algn="ctr"/>
                      <a:r>
                        <a:rPr lang="nb-NO" dirty="0" smtClean="0"/>
                        <a:t>9999</a:t>
                      </a:r>
                      <a:endParaRPr lang="nb-NO" dirty="0"/>
                    </a:p>
                  </a:txBody>
                  <a:tcPr marL="0" marR="0" marT="0" marB="0" anchor="ctr"/>
                </a:tc>
                <a:tc>
                  <a:txBody>
                    <a:bodyPr/>
                    <a:lstStyle/>
                    <a:p>
                      <a:pPr algn="ctr"/>
                      <a:r>
                        <a:rPr lang="en-US" dirty="0" smtClean="0"/>
                        <a:t>99</a:t>
                      </a:r>
                      <a:endParaRPr lang="en-US" dirty="0"/>
                    </a:p>
                  </a:txBody>
                  <a:tcPr marL="0" marR="0" marT="0" marB="0" anchor="ctr"/>
                </a:tc>
                <a:tc>
                  <a:txBody>
                    <a:bodyPr/>
                    <a:lstStyle/>
                    <a:p>
                      <a:r>
                        <a:rPr lang="nb-NO" dirty="0" smtClean="0"/>
                        <a:t> No </a:t>
                      </a:r>
                      <a:r>
                        <a:rPr lang="nb-NO" dirty="0" err="1" smtClean="0"/>
                        <a:t>answer</a:t>
                      </a:r>
                      <a:endParaRPr lang="nb-NO" dirty="0"/>
                    </a:p>
                  </a:txBody>
                  <a:tcPr marL="0" marR="0" marT="0" marB="0" anchor="ctr"/>
                </a:tc>
              </a:tr>
              <a:tr h="1033730">
                <a:tc gridSpan="3">
                  <a:txBody>
                    <a:bodyPr/>
                    <a:lstStyle/>
                    <a:p>
                      <a:r>
                        <a:rPr lang="nb-NO" b="1" dirty="0" err="1" smtClean="0"/>
                        <a:t>Description</a:t>
                      </a:r>
                      <a:r>
                        <a:rPr lang="nb-NO" b="1" dirty="0" smtClean="0"/>
                        <a:t>: </a:t>
                      </a:r>
                      <a:r>
                        <a:rPr lang="nb-NO" dirty="0" smtClean="0"/>
                        <a:t>EDULVLA is a 5-category variable </a:t>
                      </a:r>
                      <a:r>
                        <a:rPr lang="nb-NO" dirty="0" err="1" smtClean="0"/>
                        <a:t>based</a:t>
                      </a:r>
                      <a:r>
                        <a:rPr lang="nb-NO" dirty="0" smtClean="0"/>
                        <a:t> </a:t>
                      </a:r>
                      <a:r>
                        <a:rPr lang="nb-NO" dirty="0" err="1" smtClean="0"/>
                        <a:t>on</a:t>
                      </a:r>
                      <a:r>
                        <a:rPr lang="nb-NO" dirty="0" smtClean="0"/>
                        <a:t> ISCED97 </a:t>
                      </a:r>
                      <a:r>
                        <a:rPr lang="nb-NO" dirty="0" err="1" smtClean="0"/>
                        <a:t>levels</a:t>
                      </a:r>
                      <a:r>
                        <a:rPr lang="nb-NO" dirty="0" smtClean="0"/>
                        <a:t> </a:t>
                      </a:r>
                      <a:r>
                        <a:rPr lang="nb-NO" dirty="0" err="1" smtClean="0"/>
                        <a:t>where</a:t>
                      </a:r>
                      <a:r>
                        <a:rPr lang="nb-NO" dirty="0" smtClean="0"/>
                        <a:t> </a:t>
                      </a:r>
                      <a:r>
                        <a:rPr lang="nb-NO" dirty="0" err="1" smtClean="0"/>
                        <a:t>code</a:t>
                      </a:r>
                      <a:r>
                        <a:rPr lang="nb-NO" dirty="0" smtClean="0"/>
                        <a:t> 0-1 and 5-6 </a:t>
                      </a:r>
                      <a:r>
                        <a:rPr lang="nb-NO" dirty="0" err="1" smtClean="0"/>
                        <a:t>are</a:t>
                      </a:r>
                      <a:r>
                        <a:rPr lang="nb-NO" dirty="0" smtClean="0"/>
                        <a:t> </a:t>
                      </a:r>
                      <a:r>
                        <a:rPr lang="nb-NO" dirty="0" err="1" smtClean="0"/>
                        <a:t>collapsed</a:t>
                      </a:r>
                      <a:r>
                        <a:rPr lang="nb-NO" dirty="0" smtClean="0"/>
                        <a:t>. EDULVLB is a 26</a:t>
                      </a:r>
                      <a:r>
                        <a:rPr lang="nb-NO" baseline="0" dirty="0" smtClean="0"/>
                        <a:t> </a:t>
                      </a:r>
                      <a:r>
                        <a:rPr lang="nb-NO" baseline="0" dirty="0" err="1" smtClean="0"/>
                        <a:t>category</a:t>
                      </a:r>
                      <a:r>
                        <a:rPr lang="nb-NO" baseline="0" dirty="0" smtClean="0"/>
                        <a:t> </a:t>
                      </a:r>
                      <a:r>
                        <a:rPr lang="nb-NO" baseline="0" dirty="0" err="1" smtClean="0"/>
                        <a:t>harmonised</a:t>
                      </a:r>
                      <a:r>
                        <a:rPr lang="nb-NO" baseline="0" dirty="0" smtClean="0"/>
                        <a:t> variable </a:t>
                      </a:r>
                      <a:r>
                        <a:rPr lang="nb-NO" baseline="0" dirty="0" err="1" smtClean="0"/>
                        <a:t>based</a:t>
                      </a:r>
                      <a:r>
                        <a:rPr lang="nb-NO" baseline="0" dirty="0" smtClean="0"/>
                        <a:t> </a:t>
                      </a:r>
                      <a:r>
                        <a:rPr lang="nb-NO" baseline="0" dirty="0" err="1" smtClean="0"/>
                        <a:t>on</a:t>
                      </a:r>
                      <a:r>
                        <a:rPr lang="nb-NO" baseline="0" dirty="0" smtClean="0"/>
                        <a:t> </a:t>
                      </a:r>
                      <a:r>
                        <a:rPr lang="nb-NO" baseline="0" dirty="0" err="1" smtClean="0"/>
                        <a:t>the</a:t>
                      </a:r>
                      <a:r>
                        <a:rPr lang="nb-NO" baseline="0" dirty="0" smtClean="0"/>
                        <a:t> </a:t>
                      </a:r>
                      <a:r>
                        <a:rPr lang="nb-NO" baseline="0" dirty="0" err="1" smtClean="0"/>
                        <a:t>developments</a:t>
                      </a:r>
                      <a:r>
                        <a:rPr lang="nb-NO" baseline="0" dirty="0" smtClean="0"/>
                        <a:t> </a:t>
                      </a:r>
                      <a:r>
                        <a:rPr lang="nb-NO" baseline="0" dirty="0" err="1" smtClean="0"/>
                        <a:t>of</a:t>
                      </a:r>
                      <a:r>
                        <a:rPr lang="nb-NO" baseline="0" dirty="0" smtClean="0"/>
                        <a:t> ISCED11 as </a:t>
                      </a:r>
                      <a:r>
                        <a:rPr lang="nb-NO" baseline="0" dirty="0" err="1" smtClean="0"/>
                        <a:t>of</a:t>
                      </a:r>
                      <a:r>
                        <a:rPr lang="nb-NO" baseline="0" dirty="0" smtClean="0"/>
                        <a:t> May 2010. </a:t>
                      </a:r>
                      <a:endParaRPr lang="nb-NO" dirty="0"/>
                    </a:p>
                  </a:txBody>
                  <a:tcPr marL="0" marR="0" marT="0" marB="0" anchor="ctr"/>
                </a:tc>
                <a:tc hMerge="1">
                  <a:txBody>
                    <a:bodyPr/>
                    <a:lstStyle/>
                    <a:p>
                      <a:pPr algn="ctr"/>
                      <a:endParaRPr lang="nb-NO" dirty="0"/>
                    </a:p>
                  </a:txBody>
                  <a:tcPr marL="0" marR="0" marT="0" marB="0" anchor="ctr"/>
                </a:tc>
                <a:tc hMerge="1">
                  <a:txBody>
                    <a:bodyPr/>
                    <a:lstStyle/>
                    <a:p>
                      <a:endParaRPr lang="nb-NO" dirty="0"/>
                    </a:p>
                  </a:txBody>
                  <a:tcPr/>
                </a:tc>
              </a:tr>
            </a:tbl>
          </a:graphicData>
        </a:graphic>
      </p:graphicFrame>
      <p:sp>
        <p:nvSpPr>
          <p:cNvPr id="46129" name="Tittel 1"/>
          <p:cNvSpPr txBox="1">
            <a:spLocks/>
          </p:cNvSpPr>
          <p:nvPr/>
        </p:nvSpPr>
        <p:spPr bwMode="auto">
          <a:xfrm>
            <a:off x="-142875" y="198438"/>
            <a:ext cx="9323388" cy="1143000"/>
          </a:xfrm>
          <a:prstGeom prst="rect">
            <a:avLst/>
          </a:prstGeom>
          <a:noFill/>
          <a:ln w="9525">
            <a:noFill/>
            <a:miter lim="800000"/>
            <a:headEnd/>
            <a:tailEnd/>
          </a:ln>
        </p:spPr>
        <p:txBody>
          <a:bodyPr/>
          <a:lstStyle/>
          <a:p>
            <a:pPr algn="ctr"/>
            <a:r>
              <a:rPr lang="nb-NO" sz="3400">
                <a:latin typeface="Calibri" pitchFamily="34" charset="0"/>
              </a:rPr>
              <a:t>DDI Code Map based on ESS variables </a:t>
            </a:r>
            <a:r>
              <a:rPr lang="nb-NO" sz="3400"/>
              <a:t>- </a:t>
            </a:r>
            <a:r>
              <a:rPr lang="nb-NO" sz="3400">
                <a:latin typeface="Calibri" pitchFamily="34" charset="0"/>
              </a:rPr>
              <a:t>Example</a:t>
            </a:r>
          </a:p>
          <a:p>
            <a:pPr algn="ctr"/>
            <a:r>
              <a:rPr lang="nb-NO" sz="3400">
                <a:latin typeface="Calibri" pitchFamily="34" charset="0"/>
              </a:rPr>
              <a:t>EDULVLB (source)/EDULVLA (target)</a:t>
            </a:r>
          </a:p>
        </p:txBody>
      </p:sp>
      <p:sp>
        <p:nvSpPr>
          <p:cNvPr id="5" name="TekstSylinder 4"/>
          <p:cNvSpPr txBox="1">
            <a:spLocks noChangeArrowheads="1"/>
          </p:cNvSpPr>
          <p:nvPr/>
        </p:nvSpPr>
        <p:spPr bwMode="auto">
          <a:xfrm>
            <a:off x="2916238" y="3068638"/>
            <a:ext cx="5975350" cy="3646487"/>
          </a:xfrm>
          <a:prstGeom prst="rect">
            <a:avLst/>
          </a:prstGeom>
          <a:solidFill>
            <a:schemeClr val="bg1"/>
          </a:solidFill>
          <a:ln w="9525">
            <a:solidFill>
              <a:schemeClr val="accent1"/>
            </a:solidFill>
            <a:miter lim="800000"/>
            <a:headEnd/>
            <a:tailEnd/>
          </a:ln>
        </p:spPr>
        <p:txBody>
          <a:bodyPr>
            <a:spAutoFit/>
          </a:bodyPr>
          <a:lstStyle/>
          <a:p>
            <a:r>
              <a:rPr lang="nb-NO" sz="1500" b="1">
                <a:cs typeface="Arial" charset="0"/>
              </a:rPr>
              <a:t>Generation instruction EDULVLB (source) to EDULVLA (target):</a:t>
            </a:r>
          </a:p>
          <a:p>
            <a:endParaRPr lang="nb-NO" sz="1600" b="1">
              <a:cs typeface="Arial" charset="0"/>
            </a:endParaRPr>
          </a:p>
          <a:p>
            <a:r>
              <a:rPr lang="nb-NO" sz="2000">
                <a:solidFill>
                  <a:srgbClr val="92D050"/>
                </a:solidFill>
                <a:latin typeface="Aparajita"/>
                <a:ea typeface="AngsanaUPC"/>
                <a:cs typeface="Aparajita"/>
              </a:rPr>
              <a:t>* SAS command;</a:t>
            </a:r>
          </a:p>
          <a:p>
            <a:r>
              <a:rPr lang="nb-NO" b="1"/>
              <a:t>if 0</a:t>
            </a:r>
            <a:r>
              <a:rPr lang="nb-NO"/>
              <a:t> &lt;= EDULVLB &lt;=</a:t>
            </a:r>
            <a:r>
              <a:rPr lang="nb-NO" b="1"/>
              <a:t>129</a:t>
            </a:r>
            <a:r>
              <a:rPr lang="nb-NO"/>
              <a:t> then EDULVLA = </a:t>
            </a:r>
            <a:r>
              <a:rPr lang="nb-NO" b="1"/>
              <a:t>1</a:t>
            </a:r>
            <a:r>
              <a:rPr lang="nb-NO"/>
              <a:t>;</a:t>
            </a:r>
          </a:p>
          <a:p>
            <a:r>
              <a:rPr lang="nb-NO"/>
              <a:t>else if </a:t>
            </a:r>
            <a:r>
              <a:rPr lang="nb-NO" b="1"/>
              <a:t>212</a:t>
            </a:r>
            <a:r>
              <a:rPr lang="nb-NO"/>
              <a:t> &lt;= EDULVLB &lt;= </a:t>
            </a:r>
            <a:r>
              <a:rPr lang="nb-NO" b="1"/>
              <a:t>229</a:t>
            </a:r>
            <a:r>
              <a:rPr lang="nb-NO"/>
              <a:t> then EDULVLA = </a:t>
            </a:r>
            <a:r>
              <a:rPr lang="nb-NO" b="1"/>
              <a:t>2</a:t>
            </a:r>
            <a:r>
              <a:rPr lang="nb-NO"/>
              <a:t>;</a:t>
            </a:r>
          </a:p>
          <a:p>
            <a:r>
              <a:rPr lang="nb-NO"/>
              <a:t>else if </a:t>
            </a:r>
            <a:r>
              <a:rPr lang="nb-NO" b="1"/>
              <a:t>311</a:t>
            </a:r>
            <a:r>
              <a:rPr lang="nb-NO"/>
              <a:t> &lt;= EDULVLB &lt;= </a:t>
            </a:r>
            <a:r>
              <a:rPr lang="nb-NO" b="1"/>
              <a:t>323</a:t>
            </a:r>
            <a:r>
              <a:rPr lang="nb-NO"/>
              <a:t> then EDULVLA = </a:t>
            </a:r>
            <a:r>
              <a:rPr lang="nb-NO" b="1"/>
              <a:t>3</a:t>
            </a:r>
            <a:r>
              <a:rPr lang="nb-NO"/>
              <a:t>;</a:t>
            </a:r>
          </a:p>
          <a:p>
            <a:r>
              <a:rPr lang="nb-NO"/>
              <a:t>else if </a:t>
            </a:r>
            <a:r>
              <a:rPr lang="nb-NO" b="1"/>
              <a:t>412</a:t>
            </a:r>
            <a:r>
              <a:rPr lang="nb-NO"/>
              <a:t> &lt;= EDULVLB &lt;= </a:t>
            </a:r>
            <a:r>
              <a:rPr lang="nb-NO" b="1"/>
              <a:t>423</a:t>
            </a:r>
            <a:r>
              <a:rPr lang="nb-NO"/>
              <a:t> then EDULVLA = </a:t>
            </a:r>
            <a:r>
              <a:rPr lang="nb-NO" b="1"/>
              <a:t>4</a:t>
            </a:r>
            <a:r>
              <a:rPr lang="nb-NO"/>
              <a:t>;</a:t>
            </a:r>
          </a:p>
          <a:p>
            <a:r>
              <a:rPr lang="nb-NO"/>
              <a:t>else if </a:t>
            </a:r>
            <a:r>
              <a:rPr lang="nb-NO" b="1"/>
              <a:t>510</a:t>
            </a:r>
            <a:r>
              <a:rPr lang="nb-NO"/>
              <a:t> &lt;= EDULVLB = </a:t>
            </a:r>
            <a:r>
              <a:rPr lang="nb-NO" b="1"/>
              <a:t>800</a:t>
            </a:r>
            <a:r>
              <a:rPr lang="nb-NO"/>
              <a:t> then EDULVLA = </a:t>
            </a:r>
            <a:r>
              <a:rPr lang="nb-NO" b="1"/>
              <a:t>5</a:t>
            </a:r>
            <a:r>
              <a:rPr lang="nb-NO"/>
              <a:t>;</a:t>
            </a:r>
          </a:p>
          <a:p>
            <a:r>
              <a:rPr lang="nb-NO"/>
              <a:t>else if EDULVLB = </a:t>
            </a:r>
            <a:r>
              <a:rPr lang="nb-NO" b="1"/>
              <a:t>5555</a:t>
            </a:r>
            <a:r>
              <a:rPr lang="nb-NO"/>
              <a:t> then EDULVLA = </a:t>
            </a:r>
            <a:r>
              <a:rPr lang="nb-NO" b="1"/>
              <a:t>55</a:t>
            </a:r>
            <a:r>
              <a:rPr lang="nb-NO"/>
              <a:t>;</a:t>
            </a:r>
          </a:p>
          <a:p>
            <a:r>
              <a:rPr lang="nb-NO"/>
              <a:t>else if EDULVLB = </a:t>
            </a:r>
            <a:r>
              <a:rPr lang="nb-NO" b="1"/>
              <a:t>7777</a:t>
            </a:r>
            <a:r>
              <a:rPr lang="nb-NO"/>
              <a:t> then EDULVLA = </a:t>
            </a:r>
            <a:r>
              <a:rPr lang="nb-NO" b="1"/>
              <a:t>77</a:t>
            </a:r>
            <a:r>
              <a:rPr lang="nb-NO"/>
              <a:t>;</a:t>
            </a:r>
          </a:p>
          <a:p>
            <a:r>
              <a:rPr lang="nb-NO"/>
              <a:t>else if EDULVLB = </a:t>
            </a:r>
            <a:r>
              <a:rPr lang="nb-NO" b="1"/>
              <a:t>8888</a:t>
            </a:r>
            <a:r>
              <a:rPr lang="nb-NO"/>
              <a:t> then EDULVLA = </a:t>
            </a:r>
            <a:r>
              <a:rPr lang="nb-NO" b="1"/>
              <a:t>88</a:t>
            </a:r>
            <a:r>
              <a:rPr lang="nb-NO"/>
              <a:t>;</a:t>
            </a:r>
          </a:p>
          <a:p>
            <a:r>
              <a:rPr lang="nb-NO"/>
              <a:t>else if EDULVLB = </a:t>
            </a:r>
            <a:r>
              <a:rPr lang="nb-NO" b="1"/>
              <a:t>9999</a:t>
            </a:r>
            <a:r>
              <a:rPr lang="nb-NO"/>
              <a:t> then EDULVLA = </a:t>
            </a:r>
            <a:r>
              <a:rPr lang="nb-NO" b="1"/>
              <a:t>99</a:t>
            </a:r>
            <a:r>
              <a:rPr lang="nb-NO"/>
              <a:t>;</a:t>
            </a:r>
          </a:p>
          <a:p>
            <a:r>
              <a:rPr lang="nb-NO" b="1"/>
              <a:t>run</a:t>
            </a:r>
            <a:r>
              <a:rPr lang="nb-NO"/>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tel 1"/>
          <p:cNvSpPr>
            <a:spLocks noGrp="1"/>
          </p:cNvSpPr>
          <p:nvPr>
            <p:ph type="ctrTitle"/>
          </p:nvPr>
        </p:nvSpPr>
        <p:spPr>
          <a:xfrm>
            <a:off x="611560" y="332656"/>
            <a:ext cx="7772400" cy="1470025"/>
          </a:xfrm>
        </p:spPr>
        <p:txBody>
          <a:bodyPr>
            <a:normAutofit/>
          </a:bodyPr>
          <a:lstStyle/>
          <a:p>
            <a:r>
              <a:rPr lang="nb-NO" sz="4000" dirty="0" smtClean="0"/>
              <a:t>Possible </a:t>
            </a:r>
            <a:r>
              <a:rPr lang="nb-NO" sz="4000" dirty="0" smtClean="0"/>
              <a:t>DDI resource packages based on ISCED and potential use</a:t>
            </a:r>
            <a:endParaRPr lang="nb-NO" sz="4000" dirty="0"/>
          </a:p>
        </p:txBody>
      </p:sp>
      <p:sp>
        <p:nvSpPr>
          <p:cNvPr id="5" name="Ellipse 4"/>
          <p:cNvSpPr/>
          <p:nvPr/>
        </p:nvSpPr>
        <p:spPr>
          <a:xfrm>
            <a:off x="611560" y="3933056"/>
            <a:ext cx="2354560" cy="22322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1700" dirty="0" err="1" smtClean="0"/>
              <a:t>Officia</a:t>
            </a:r>
            <a:r>
              <a:rPr lang="nb-NO" dirty="0" err="1" smtClean="0"/>
              <a:t>l</a:t>
            </a:r>
            <a:endParaRPr lang="nb-NO" dirty="0"/>
          </a:p>
        </p:txBody>
      </p:sp>
      <p:sp>
        <p:nvSpPr>
          <p:cNvPr id="6" name="Ellipse 5"/>
          <p:cNvSpPr/>
          <p:nvPr/>
        </p:nvSpPr>
        <p:spPr>
          <a:xfrm>
            <a:off x="2001416" y="4005064"/>
            <a:ext cx="2354560" cy="2160240"/>
          </a:xfrm>
          <a:prstGeom prst="ellipse">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1700" dirty="0" smtClean="0"/>
              <a:t>               Non-</a:t>
            </a:r>
          </a:p>
          <a:p>
            <a:r>
              <a:rPr lang="nb-NO" sz="1700" dirty="0" smtClean="0"/>
              <a:t>               </a:t>
            </a:r>
            <a:r>
              <a:rPr lang="nb-NO" sz="1700" dirty="0" err="1" smtClean="0"/>
              <a:t>official</a:t>
            </a:r>
            <a:endParaRPr lang="nb-NO" sz="1700" dirty="0"/>
          </a:p>
        </p:txBody>
      </p:sp>
      <p:sp>
        <p:nvSpPr>
          <p:cNvPr id="9" name="TekstSylinder 8"/>
          <p:cNvSpPr txBox="1"/>
          <p:nvPr/>
        </p:nvSpPr>
        <p:spPr>
          <a:xfrm>
            <a:off x="1968250" y="4837802"/>
            <a:ext cx="930319" cy="338554"/>
          </a:xfrm>
          <a:prstGeom prst="rect">
            <a:avLst/>
          </a:prstGeom>
          <a:noFill/>
        </p:spPr>
        <p:txBody>
          <a:bodyPr wrap="none" rtlCol="0">
            <a:spAutoFit/>
          </a:bodyPr>
          <a:lstStyle/>
          <a:p>
            <a:r>
              <a:rPr lang="nb-NO" sz="1600" dirty="0" smtClean="0"/>
              <a:t>SURVEYS</a:t>
            </a:r>
            <a:endParaRPr lang="nb-NO" sz="1600" dirty="0"/>
          </a:p>
        </p:txBody>
      </p:sp>
      <p:sp>
        <p:nvSpPr>
          <p:cNvPr id="11" name="Ellipse 10"/>
          <p:cNvSpPr/>
          <p:nvPr/>
        </p:nvSpPr>
        <p:spPr>
          <a:xfrm>
            <a:off x="4716016" y="4005064"/>
            <a:ext cx="2354560" cy="223224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1700" dirty="0" smtClean="0"/>
              <a:t>National</a:t>
            </a:r>
            <a:endParaRPr lang="nb-NO" dirty="0"/>
          </a:p>
        </p:txBody>
      </p:sp>
      <p:sp>
        <p:nvSpPr>
          <p:cNvPr id="12" name="Ellipse 11"/>
          <p:cNvSpPr/>
          <p:nvPr/>
        </p:nvSpPr>
        <p:spPr>
          <a:xfrm>
            <a:off x="5961856" y="4077072"/>
            <a:ext cx="2354560" cy="2160240"/>
          </a:xfrm>
          <a:prstGeom prst="ellipse">
            <a:avLst/>
          </a:prstGeom>
          <a:solidFill>
            <a:schemeClr val="accent1">
              <a:alpha val="4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nb-NO" sz="1700" dirty="0" smtClean="0"/>
              <a:t>               Inter-</a:t>
            </a:r>
          </a:p>
          <a:p>
            <a:r>
              <a:rPr lang="nb-NO" sz="1700" dirty="0" smtClean="0"/>
              <a:t>               </a:t>
            </a:r>
            <a:r>
              <a:rPr lang="nb-NO" sz="1700" dirty="0" err="1" smtClean="0"/>
              <a:t>national</a:t>
            </a:r>
            <a:endParaRPr lang="nb-NO" sz="1700" dirty="0"/>
          </a:p>
        </p:txBody>
      </p:sp>
      <p:sp>
        <p:nvSpPr>
          <p:cNvPr id="14" name="TekstSylinder 13"/>
          <p:cNvSpPr txBox="1"/>
          <p:nvPr/>
        </p:nvSpPr>
        <p:spPr>
          <a:xfrm>
            <a:off x="5932168" y="4869160"/>
            <a:ext cx="1304128" cy="584775"/>
          </a:xfrm>
          <a:prstGeom prst="rect">
            <a:avLst/>
          </a:prstGeom>
          <a:noFill/>
        </p:spPr>
        <p:txBody>
          <a:bodyPr wrap="square" rtlCol="0">
            <a:spAutoFit/>
          </a:bodyPr>
          <a:lstStyle/>
          <a:p>
            <a:r>
              <a:rPr lang="nb-NO" sz="1600" dirty="0" smtClean="0"/>
              <a:t>STATISTICAL</a:t>
            </a:r>
          </a:p>
          <a:p>
            <a:r>
              <a:rPr lang="nb-NO" sz="1600" dirty="0" smtClean="0"/>
              <a:t>REPORTING</a:t>
            </a:r>
            <a:endParaRPr lang="nb-NO" sz="1600" dirty="0"/>
          </a:p>
        </p:txBody>
      </p:sp>
      <p:sp>
        <p:nvSpPr>
          <p:cNvPr id="19" name="Sylinder 18"/>
          <p:cNvSpPr/>
          <p:nvPr/>
        </p:nvSpPr>
        <p:spPr>
          <a:xfrm>
            <a:off x="5949280" y="1957482"/>
            <a:ext cx="2511152" cy="720080"/>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smtClean="0"/>
              <a:t>RP: ISCED  1997</a:t>
            </a:r>
            <a:endParaRPr lang="nb-NO" dirty="0"/>
          </a:p>
        </p:txBody>
      </p:sp>
      <p:sp>
        <p:nvSpPr>
          <p:cNvPr id="21" name="Sylinder 20"/>
          <p:cNvSpPr/>
          <p:nvPr/>
        </p:nvSpPr>
        <p:spPr>
          <a:xfrm>
            <a:off x="3140968" y="1957482"/>
            <a:ext cx="2511152" cy="720080"/>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smtClean="0"/>
              <a:t> RP: ISCED  2011</a:t>
            </a:r>
            <a:endParaRPr lang="nb-NO" dirty="0"/>
          </a:p>
        </p:txBody>
      </p:sp>
      <p:sp>
        <p:nvSpPr>
          <p:cNvPr id="22" name="Sylinder 21"/>
          <p:cNvSpPr/>
          <p:nvPr/>
        </p:nvSpPr>
        <p:spPr>
          <a:xfrm>
            <a:off x="467544" y="2780928"/>
            <a:ext cx="2511152" cy="720080"/>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nb-NO" dirty="0" smtClean="0"/>
              <a:t> RP: ESS</a:t>
            </a:r>
            <a:endParaRPr lang="nb-NO" dirty="0"/>
          </a:p>
        </p:txBody>
      </p:sp>
      <p:sp>
        <p:nvSpPr>
          <p:cNvPr id="26" name="Frihåndsform 25"/>
          <p:cNvSpPr/>
          <p:nvPr/>
        </p:nvSpPr>
        <p:spPr>
          <a:xfrm>
            <a:off x="1609618" y="3487783"/>
            <a:ext cx="946158" cy="722497"/>
          </a:xfrm>
          <a:custGeom>
            <a:avLst/>
            <a:gdLst>
              <a:gd name="connsiteX0" fmla="*/ 16227 w 946158"/>
              <a:gd name="connsiteY0" fmla="*/ 0 h 722497"/>
              <a:gd name="connsiteX1" fmla="*/ 107667 w 946158"/>
              <a:gd name="connsiteY1" fmla="*/ 195943 h 722497"/>
              <a:gd name="connsiteX2" fmla="*/ 826124 w 946158"/>
              <a:gd name="connsiteY2" fmla="*/ 378823 h 722497"/>
              <a:gd name="connsiteX3" fmla="*/ 930627 w 946158"/>
              <a:gd name="connsiteY3" fmla="*/ 692331 h 722497"/>
              <a:gd name="connsiteX4" fmla="*/ 943690 w 946158"/>
              <a:gd name="connsiteY4" fmla="*/ 692331 h 7224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46158" h="722497">
                <a:moveTo>
                  <a:pt x="16227" y="0"/>
                </a:moveTo>
                <a:cubicBezTo>
                  <a:pt x="-5545" y="66403"/>
                  <a:pt x="-27316" y="132806"/>
                  <a:pt x="107667" y="195943"/>
                </a:cubicBezTo>
                <a:cubicBezTo>
                  <a:pt x="242650" y="259080"/>
                  <a:pt x="688964" y="296092"/>
                  <a:pt x="826124" y="378823"/>
                </a:cubicBezTo>
                <a:cubicBezTo>
                  <a:pt x="963284" y="461554"/>
                  <a:pt x="911033" y="640080"/>
                  <a:pt x="930627" y="692331"/>
                </a:cubicBezTo>
                <a:cubicBezTo>
                  <a:pt x="950221" y="744582"/>
                  <a:pt x="946955" y="718456"/>
                  <a:pt x="943690" y="692331"/>
                </a:cubicBezTo>
              </a:path>
            </a:pathLst>
          </a:custGeom>
          <a:noFill/>
          <a:ln w="1905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27" name="Frihåndsform 26"/>
          <p:cNvSpPr/>
          <p:nvPr/>
        </p:nvSpPr>
        <p:spPr>
          <a:xfrm>
            <a:off x="2534194" y="2664823"/>
            <a:ext cx="1945947" cy="1528354"/>
          </a:xfrm>
          <a:custGeom>
            <a:avLst/>
            <a:gdLst>
              <a:gd name="connsiteX0" fmla="*/ 1920240 w 1982171"/>
              <a:gd name="connsiteY0" fmla="*/ 0 h 1528354"/>
              <a:gd name="connsiteX1" fmla="*/ 1933303 w 1982171"/>
              <a:gd name="connsiteY1" fmla="*/ 522514 h 1528354"/>
              <a:gd name="connsiteX2" fmla="*/ 1933303 w 1982171"/>
              <a:gd name="connsiteY2" fmla="*/ 875211 h 1528354"/>
              <a:gd name="connsiteX3" fmla="*/ 1280160 w 1982171"/>
              <a:gd name="connsiteY3" fmla="*/ 1058091 h 1528354"/>
              <a:gd name="connsiteX4" fmla="*/ 404949 w 1982171"/>
              <a:gd name="connsiteY4" fmla="*/ 1097280 h 1528354"/>
              <a:gd name="connsiteX5" fmla="*/ 0 w 1982171"/>
              <a:gd name="connsiteY5" fmla="*/ 1528354 h 1528354"/>
              <a:gd name="connsiteX6" fmla="*/ 0 w 1982171"/>
              <a:gd name="connsiteY6" fmla="*/ 1528354 h 1528354"/>
              <a:gd name="connsiteX0" fmla="*/ 1920240 w 1945947"/>
              <a:gd name="connsiteY0" fmla="*/ 0 h 1528354"/>
              <a:gd name="connsiteX1" fmla="*/ 1933303 w 1945947"/>
              <a:gd name="connsiteY1" fmla="*/ 522514 h 1528354"/>
              <a:gd name="connsiteX2" fmla="*/ 1724297 w 1945947"/>
              <a:gd name="connsiteY2" fmla="*/ 849086 h 1528354"/>
              <a:gd name="connsiteX3" fmla="*/ 1280160 w 1945947"/>
              <a:gd name="connsiteY3" fmla="*/ 1058091 h 1528354"/>
              <a:gd name="connsiteX4" fmla="*/ 404949 w 1945947"/>
              <a:gd name="connsiteY4" fmla="*/ 1097280 h 1528354"/>
              <a:gd name="connsiteX5" fmla="*/ 0 w 1945947"/>
              <a:gd name="connsiteY5" fmla="*/ 1528354 h 1528354"/>
              <a:gd name="connsiteX6" fmla="*/ 0 w 1945947"/>
              <a:gd name="connsiteY6" fmla="*/ 1528354 h 15283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45947" h="1528354">
                <a:moveTo>
                  <a:pt x="1920240" y="0"/>
                </a:moveTo>
                <a:cubicBezTo>
                  <a:pt x="1925683" y="188323"/>
                  <a:pt x="1965960" y="381000"/>
                  <a:pt x="1933303" y="522514"/>
                </a:cubicBezTo>
                <a:cubicBezTo>
                  <a:pt x="1900646" y="664028"/>
                  <a:pt x="1833154" y="759823"/>
                  <a:pt x="1724297" y="849086"/>
                </a:cubicBezTo>
                <a:cubicBezTo>
                  <a:pt x="1615440" y="938349"/>
                  <a:pt x="1500051" y="1016725"/>
                  <a:pt x="1280160" y="1058091"/>
                </a:cubicBezTo>
                <a:cubicBezTo>
                  <a:pt x="1060269" y="1099457"/>
                  <a:pt x="618309" y="1018903"/>
                  <a:pt x="404949" y="1097280"/>
                </a:cubicBezTo>
                <a:cubicBezTo>
                  <a:pt x="191589" y="1175657"/>
                  <a:pt x="0" y="1528354"/>
                  <a:pt x="0" y="1528354"/>
                </a:cubicBezTo>
                <a:lnTo>
                  <a:pt x="0" y="1528354"/>
                </a:lnTo>
              </a:path>
            </a:pathLst>
          </a:custGeom>
          <a:noFill/>
          <a:ln w="1905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0" name="Frihåndsform 29"/>
          <p:cNvSpPr/>
          <p:nvPr/>
        </p:nvSpPr>
        <p:spPr>
          <a:xfrm>
            <a:off x="4453276" y="2690949"/>
            <a:ext cx="2130404" cy="1557300"/>
          </a:xfrm>
          <a:custGeom>
            <a:avLst/>
            <a:gdLst>
              <a:gd name="connsiteX0" fmla="*/ 14221 w 2130404"/>
              <a:gd name="connsiteY0" fmla="*/ 0 h 1559202"/>
              <a:gd name="connsiteX1" fmla="*/ 1158 w 2130404"/>
              <a:gd name="connsiteY1" fmla="*/ 91440 h 1559202"/>
              <a:gd name="connsiteX2" fmla="*/ 40347 w 2130404"/>
              <a:gd name="connsiteY2" fmla="*/ 431074 h 1559202"/>
              <a:gd name="connsiteX3" fmla="*/ 131787 w 2130404"/>
              <a:gd name="connsiteY3" fmla="*/ 744582 h 1559202"/>
              <a:gd name="connsiteX4" fmla="*/ 562861 w 2130404"/>
              <a:gd name="connsiteY4" fmla="*/ 1045028 h 1559202"/>
              <a:gd name="connsiteX5" fmla="*/ 1503387 w 2130404"/>
              <a:gd name="connsiteY5" fmla="*/ 1058091 h 1559202"/>
              <a:gd name="connsiteX6" fmla="*/ 1921398 w 2130404"/>
              <a:gd name="connsiteY6" fmla="*/ 1097280 h 1559202"/>
              <a:gd name="connsiteX7" fmla="*/ 2065090 w 2130404"/>
              <a:gd name="connsiteY7" fmla="*/ 1254034 h 1559202"/>
              <a:gd name="connsiteX8" fmla="*/ 2104278 w 2130404"/>
              <a:gd name="connsiteY8" fmla="*/ 1541417 h 1559202"/>
              <a:gd name="connsiteX9" fmla="*/ 2117341 w 2130404"/>
              <a:gd name="connsiteY9" fmla="*/ 1528354 h 1559202"/>
              <a:gd name="connsiteX10" fmla="*/ 2130404 w 2130404"/>
              <a:gd name="connsiteY10" fmla="*/ 1528354 h 1559202"/>
              <a:gd name="connsiteX0" fmla="*/ 14221 w 2130404"/>
              <a:gd name="connsiteY0" fmla="*/ 0 h 1559202"/>
              <a:gd name="connsiteX1" fmla="*/ 1158 w 2130404"/>
              <a:gd name="connsiteY1" fmla="*/ 91440 h 1559202"/>
              <a:gd name="connsiteX2" fmla="*/ 40347 w 2130404"/>
              <a:gd name="connsiteY2" fmla="*/ 431074 h 1559202"/>
              <a:gd name="connsiteX3" fmla="*/ 131787 w 2130404"/>
              <a:gd name="connsiteY3" fmla="*/ 744582 h 1559202"/>
              <a:gd name="connsiteX4" fmla="*/ 562861 w 2130404"/>
              <a:gd name="connsiteY4" fmla="*/ 1045028 h 1559202"/>
              <a:gd name="connsiteX5" fmla="*/ 1503387 w 2130404"/>
              <a:gd name="connsiteY5" fmla="*/ 1058091 h 1559202"/>
              <a:gd name="connsiteX6" fmla="*/ 1869147 w 2130404"/>
              <a:gd name="connsiteY6" fmla="*/ 1149531 h 1559202"/>
              <a:gd name="connsiteX7" fmla="*/ 2065090 w 2130404"/>
              <a:gd name="connsiteY7" fmla="*/ 1254034 h 1559202"/>
              <a:gd name="connsiteX8" fmla="*/ 2104278 w 2130404"/>
              <a:gd name="connsiteY8" fmla="*/ 1541417 h 1559202"/>
              <a:gd name="connsiteX9" fmla="*/ 2117341 w 2130404"/>
              <a:gd name="connsiteY9" fmla="*/ 1528354 h 1559202"/>
              <a:gd name="connsiteX10" fmla="*/ 2130404 w 2130404"/>
              <a:gd name="connsiteY10" fmla="*/ 1528354 h 1559202"/>
              <a:gd name="connsiteX0" fmla="*/ 14221 w 2130404"/>
              <a:gd name="connsiteY0" fmla="*/ 0 h 1558250"/>
              <a:gd name="connsiteX1" fmla="*/ 1158 w 2130404"/>
              <a:gd name="connsiteY1" fmla="*/ 91440 h 1558250"/>
              <a:gd name="connsiteX2" fmla="*/ 40347 w 2130404"/>
              <a:gd name="connsiteY2" fmla="*/ 431074 h 1558250"/>
              <a:gd name="connsiteX3" fmla="*/ 131787 w 2130404"/>
              <a:gd name="connsiteY3" fmla="*/ 744582 h 1558250"/>
              <a:gd name="connsiteX4" fmla="*/ 562861 w 2130404"/>
              <a:gd name="connsiteY4" fmla="*/ 1045028 h 1558250"/>
              <a:gd name="connsiteX5" fmla="*/ 1503387 w 2130404"/>
              <a:gd name="connsiteY5" fmla="*/ 1058091 h 1558250"/>
              <a:gd name="connsiteX6" fmla="*/ 1869147 w 2130404"/>
              <a:gd name="connsiteY6" fmla="*/ 1149531 h 1558250"/>
              <a:gd name="connsiteX7" fmla="*/ 2038964 w 2130404"/>
              <a:gd name="connsiteY7" fmla="*/ 1267097 h 1558250"/>
              <a:gd name="connsiteX8" fmla="*/ 2104278 w 2130404"/>
              <a:gd name="connsiteY8" fmla="*/ 1541417 h 1558250"/>
              <a:gd name="connsiteX9" fmla="*/ 2117341 w 2130404"/>
              <a:gd name="connsiteY9" fmla="*/ 1528354 h 1558250"/>
              <a:gd name="connsiteX10" fmla="*/ 2130404 w 2130404"/>
              <a:gd name="connsiteY10" fmla="*/ 1528354 h 1558250"/>
              <a:gd name="connsiteX0" fmla="*/ 14221 w 2130404"/>
              <a:gd name="connsiteY0" fmla="*/ 0 h 1557300"/>
              <a:gd name="connsiteX1" fmla="*/ 1158 w 2130404"/>
              <a:gd name="connsiteY1" fmla="*/ 91440 h 1557300"/>
              <a:gd name="connsiteX2" fmla="*/ 40347 w 2130404"/>
              <a:gd name="connsiteY2" fmla="*/ 431074 h 1557300"/>
              <a:gd name="connsiteX3" fmla="*/ 131787 w 2130404"/>
              <a:gd name="connsiteY3" fmla="*/ 744582 h 1557300"/>
              <a:gd name="connsiteX4" fmla="*/ 562861 w 2130404"/>
              <a:gd name="connsiteY4" fmla="*/ 1045028 h 1557300"/>
              <a:gd name="connsiteX5" fmla="*/ 1503387 w 2130404"/>
              <a:gd name="connsiteY5" fmla="*/ 1058091 h 1557300"/>
              <a:gd name="connsiteX6" fmla="*/ 1869147 w 2130404"/>
              <a:gd name="connsiteY6" fmla="*/ 1149531 h 1557300"/>
              <a:gd name="connsiteX7" fmla="*/ 1986713 w 2130404"/>
              <a:gd name="connsiteY7" fmla="*/ 1280160 h 1557300"/>
              <a:gd name="connsiteX8" fmla="*/ 2104278 w 2130404"/>
              <a:gd name="connsiteY8" fmla="*/ 1541417 h 1557300"/>
              <a:gd name="connsiteX9" fmla="*/ 2117341 w 2130404"/>
              <a:gd name="connsiteY9" fmla="*/ 1528354 h 1557300"/>
              <a:gd name="connsiteX10" fmla="*/ 2130404 w 2130404"/>
              <a:gd name="connsiteY10" fmla="*/ 1528354 h 1557300"/>
              <a:gd name="connsiteX0" fmla="*/ 14221 w 2130404"/>
              <a:gd name="connsiteY0" fmla="*/ 0 h 1557300"/>
              <a:gd name="connsiteX1" fmla="*/ 1158 w 2130404"/>
              <a:gd name="connsiteY1" fmla="*/ 91440 h 1557300"/>
              <a:gd name="connsiteX2" fmla="*/ 40347 w 2130404"/>
              <a:gd name="connsiteY2" fmla="*/ 431074 h 1557300"/>
              <a:gd name="connsiteX3" fmla="*/ 131787 w 2130404"/>
              <a:gd name="connsiteY3" fmla="*/ 744582 h 1557300"/>
              <a:gd name="connsiteX4" fmla="*/ 562861 w 2130404"/>
              <a:gd name="connsiteY4" fmla="*/ 1045028 h 1557300"/>
              <a:gd name="connsiteX5" fmla="*/ 1503387 w 2130404"/>
              <a:gd name="connsiteY5" fmla="*/ 1058091 h 1557300"/>
              <a:gd name="connsiteX6" fmla="*/ 1869147 w 2130404"/>
              <a:gd name="connsiteY6" fmla="*/ 1175657 h 1557300"/>
              <a:gd name="connsiteX7" fmla="*/ 1986713 w 2130404"/>
              <a:gd name="connsiteY7" fmla="*/ 1280160 h 1557300"/>
              <a:gd name="connsiteX8" fmla="*/ 2104278 w 2130404"/>
              <a:gd name="connsiteY8" fmla="*/ 1541417 h 1557300"/>
              <a:gd name="connsiteX9" fmla="*/ 2117341 w 2130404"/>
              <a:gd name="connsiteY9" fmla="*/ 1528354 h 1557300"/>
              <a:gd name="connsiteX10" fmla="*/ 2130404 w 2130404"/>
              <a:gd name="connsiteY10" fmla="*/ 1528354 h 1557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30404" h="1557300">
                <a:moveTo>
                  <a:pt x="14221" y="0"/>
                </a:moveTo>
                <a:cubicBezTo>
                  <a:pt x="5512" y="9797"/>
                  <a:pt x="-3196" y="19594"/>
                  <a:pt x="1158" y="91440"/>
                </a:cubicBezTo>
                <a:cubicBezTo>
                  <a:pt x="5512" y="163286"/>
                  <a:pt x="18576" y="322217"/>
                  <a:pt x="40347" y="431074"/>
                </a:cubicBezTo>
                <a:cubicBezTo>
                  <a:pt x="62118" y="539931"/>
                  <a:pt x="44701" y="642256"/>
                  <a:pt x="131787" y="744582"/>
                </a:cubicBezTo>
                <a:cubicBezTo>
                  <a:pt x="218873" y="846908"/>
                  <a:pt x="334261" y="992777"/>
                  <a:pt x="562861" y="1045028"/>
                </a:cubicBezTo>
                <a:cubicBezTo>
                  <a:pt x="791461" y="1097279"/>
                  <a:pt x="1285673" y="1036320"/>
                  <a:pt x="1503387" y="1058091"/>
                </a:cubicBezTo>
                <a:cubicBezTo>
                  <a:pt x="1721101" y="1079862"/>
                  <a:pt x="1788593" y="1138646"/>
                  <a:pt x="1869147" y="1175657"/>
                </a:cubicBezTo>
                <a:cubicBezTo>
                  <a:pt x="1949701" y="1212669"/>
                  <a:pt x="1947525" y="1219200"/>
                  <a:pt x="1986713" y="1280160"/>
                </a:cubicBezTo>
                <a:cubicBezTo>
                  <a:pt x="2025901" y="1341120"/>
                  <a:pt x="2082507" y="1500051"/>
                  <a:pt x="2104278" y="1541417"/>
                </a:cubicBezTo>
                <a:cubicBezTo>
                  <a:pt x="2126049" y="1582783"/>
                  <a:pt x="2112987" y="1530531"/>
                  <a:pt x="2117341" y="1528354"/>
                </a:cubicBezTo>
                <a:cubicBezTo>
                  <a:pt x="2121695" y="1526177"/>
                  <a:pt x="2126049" y="1527265"/>
                  <a:pt x="2130404" y="1528354"/>
                </a:cubicBezTo>
              </a:path>
            </a:pathLst>
          </a:custGeom>
          <a:noFill/>
          <a:ln w="1905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1" name="Frihåndsform 30"/>
          <p:cNvSpPr/>
          <p:nvPr/>
        </p:nvSpPr>
        <p:spPr>
          <a:xfrm>
            <a:off x="2969839" y="2708920"/>
            <a:ext cx="1515719" cy="484786"/>
          </a:xfrm>
          <a:custGeom>
            <a:avLst/>
            <a:gdLst>
              <a:gd name="connsiteX0" fmla="*/ 1476103 w 1530152"/>
              <a:gd name="connsiteY0" fmla="*/ 0 h 574765"/>
              <a:gd name="connsiteX1" fmla="*/ 1476103 w 1530152"/>
              <a:gd name="connsiteY1" fmla="*/ 391885 h 574765"/>
              <a:gd name="connsiteX2" fmla="*/ 914400 w 1530152"/>
              <a:gd name="connsiteY2" fmla="*/ 522514 h 574765"/>
              <a:gd name="connsiteX3" fmla="*/ 0 w 1530152"/>
              <a:gd name="connsiteY3" fmla="*/ 574765 h 574765"/>
              <a:gd name="connsiteX4" fmla="*/ 0 w 1530152"/>
              <a:gd name="connsiteY4" fmla="*/ 574765 h 574765"/>
              <a:gd name="connsiteX0" fmla="*/ 1476103 w 1515719"/>
              <a:gd name="connsiteY0" fmla="*/ 0 h 574765"/>
              <a:gd name="connsiteX1" fmla="*/ 1449977 w 1515719"/>
              <a:gd name="connsiteY1" fmla="*/ 407373 h 574765"/>
              <a:gd name="connsiteX2" fmla="*/ 914400 w 1515719"/>
              <a:gd name="connsiteY2" fmla="*/ 522514 h 574765"/>
              <a:gd name="connsiteX3" fmla="*/ 0 w 1515719"/>
              <a:gd name="connsiteY3" fmla="*/ 574765 h 574765"/>
              <a:gd name="connsiteX4" fmla="*/ 0 w 1515719"/>
              <a:gd name="connsiteY4" fmla="*/ 574765 h 5747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15719" h="574765">
                <a:moveTo>
                  <a:pt x="1476103" y="0"/>
                </a:moveTo>
                <a:cubicBezTo>
                  <a:pt x="1522911" y="152399"/>
                  <a:pt x="1543594" y="320287"/>
                  <a:pt x="1449977" y="407373"/>
                </a:cubicBezTo>
                <a:cubicBezTo>
                  <a:pt x="1356360" y="494459"/>
                  <a:pt x="1156063" y="494615"/>
                  <a:pt x="914400" y="522514"/>
                </a:cubicBezTo>
                <a:cubicBezTo>
                  <a:pt x="672737" y="550413"/>
                  <a:pt x="0" y="574765"/>
                  <a:pt x="0" y="574765"/>
                </a:cubicBezTo>
                <a:lnTo>
                  <a:pt x="0" y="574765"/>
                </a:lnTo>
              </a:path>
            </a:pathLst>
          </a:custGeom>
          <a:noFill/>
          <a:ln w="1905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3" name="Frihåndsform 32"/>
          <p:cNvSpPr/>
          <p:nvPr/>
        </p:nvSpPr>
        <p:spPr>
          <a:xfrm>
            <a:off x="6544491" y="2677886"/>
            <a:ext cx="734762" cy="1567543"/>
          </a:xfrm>
          <a:custGeom>
            <a:avLst/>
            <a:gdLst>
              <a:gd name="connsiteX0" fmla="*/ 705395 w 734762"/>
              <a:gd name="connsiteY0" fmla="*/ 0 h 1567543"/>
              <a:gd name="connsiteX1" fmla="*/ 731520 w 734762"/>
              <a:gd name="connsiteY1" fmla="*/ 522514 h 1567543"/>
              <a:gd name="connsiteX2" fmla="*/ 640080 w 734762"/>
              <a:gd name="connsiteY2" fmla="*/ 1005840 h 1567543"/>
              <a:gd name="connsiteX3" fmla="*/ 313509 w 734762"/>
              <a:gd name="connsiteY3" fmla="*/ 1162594 h 1567543"/>
              <a:gd name="connsiteX4" fmla="*/ 130629 w 734762"/>
              <a:gd name="connsiteY4" fmla="*/ 1175657 h 1567543"/>
              <a:gd name="connsiteX5" fmla="*/ 0 w 734762"/>
              <a:gd name="connsiteY5" fmla="*/ 1567543 h 1567543"/>
              <a:gd name="connsiteX6" fmla="*/ 0 w 734762"/>
              <a:gd name="connsiteY6" fmla="*/ 1567543 h 1567543"/>
              <a:gd name="connsiteX0" fmla="*/ 705395 w 734762"/>
              <a:gd name="connsiteY0" fmla="*/ 0 h 1567543"/>
              <a:gd name="connsiteX1" fmla="*/ 731520 w 734762"/>
              <a:gd name="connsiteY1" fmla="*/ 522514 h 1567543"/>
              <a:gd name="connsiteX2" fmla="*/ 640080 w 734762"/>
              <a:gd name="connsiteY2" fmla="*/ 1005840 h 1567543"/>
              <a:gd name="connsiteX3" fmla="*/ 313509 w 734762"/>
              <a:gd name="connsiteY3" fmla="*/ 1162594 h 1567543"/>
              <a:gd name="connsiteX4" fmla="*/ 182881 w 734762"/>
              <a:gd name="connsiteY4" fmla="*/ 1267097 h 1567543"/>
              <a:gd name="connsiteX5" fmla="*/ 0 w 734762"/>
              <a:gd name="connsiteY5" fmla="*/ 1567543 h 1567543"/>
              <a:gd name="connsiteX6" fmla="*/ 0 w 734762"/>
              <a:gd name="connsiteY6" fmla="*/ 1567543 h 156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34762" h="1567543">
                <a:moveTo>
                  <a:pt x="705395" y="0"/>
                </a:moveTo>
                <a:cubicBezTo>
                  <a:pt x="723900" y="177437"/>
                  <a:pt x="742406" y="354874"/>
                  <a:pt x="731520" y="522514"/>
                </a:cubicBezTo>
                <a:cubicBezTo>
                  <a:pt x="720634" y="690154"/>
                  <a:pt x="709748" y="899160"/>
                  <a:pt x="640080" y="1005840"/>
                </a:cubicBezTo>
                <a:cubicBezTo>
                  <a:pt x="570412" y="1112520"/>
                  <a:pt x="389709" y="1119051"/>
                  <a:pt x="313509" y="1162594"/>
                </a:cubicBezTo>
                <a:cubicBezTo>
                  <a:pt x="237309" y="1206137"/>
                  <a:pt x="235132" y="1199606"/>
                  <a:pt x="182881" y="1267097"/>
                </a:cubicBezTo>
                <a:cubicBezTo>
                  <a:pt x="130630" y="1334588"/>
                  <a:pt x="30480" y="1517469"/>
                  <a:pt x="0" y="1567543"/>
                </a:cubicBezTo>
                <a:lnTo>
                  <a:pt x="0" y="1567543"/>
                </a:lnTo>
              </a:path>
            </a:pathLst>
          </a:custGeom>
          <a:noFill/>
          <a:ln w="19050">
            <a:solidFill>
              <a:srgbClr val="FF0000"/>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35" name="TekstSylinder 34"/>
          <p:cNvSpPr txBox="1"/>
          <p:nvPr/>
        </p:nvSpPr>
        <p:spPr>
          <a:xfrm>
            <a:off x="3203848" y="3270175"/>
            <a:ext cx="891591" cy="461665"/>
          </a:xfrm>
          <a:prstGeom prst="rect">
            <a:avLst/>
          </a:prstGeom>
          <a:noFill/>
        </p:spPr>
        <p:txBody>
          <a:bodyPr wrap="none" rtlCol="0">
            <a:spAutoFit/>
          </a:bodyPr>
          <a:lstStyle/>
          <a:p>
            <a:r>
              <a:rPr lang="nb-NO" sz="2400" b="1" dirty="0">
                <a:solidFill>
                  <a:schemeClr val="accent5">
                    <a:lumMod val="75000"/>
                  </a:schemeClr>
                </a:solidFill>
              </a:rPr>
              <a:t>&lt;</a:t>
            </a:r>
            <a:r>
              <a:rPr lang="nb-NO" sz="2400" b="1" i="1" dirty="0" err="1" smtClean="0">
                <a:solidFill>
                  <a:schemeClr val="accent5">
                    <a:lumMod val="75000"/>
                  </a:schemeClr>
                </a:solidFill>
              </a:rPr>
              <a:t>ddi</a:t>
            </a:r>
            <a:r>
              <a:rPr lang="nb-NO" sz="2400" b="1" i="1" dirty="0" smtClean="0">
                <a:solidFill>
                  <a:schemeClr val="accent5">
                    <a:lumMod val="75000"/>
                  </a:schemeClr>
                </a:solidFill>
              </a:rPr>
              <a:t>&gt;</a:t>
            </a:r>
            <a:endParaRPr lang="nb-NO" sz="2400" b="1" dirty="0">
              <a:solidFill>
                <a:schemeClr val="accent5">
                  <a:lumMod val="75000"/>
                </a:schemeClr>
              </a:solidFill>
            </a:endParaRPr>
          </a:p>
        </p:txBody>
      </p:sp>
      <p:sp>
        <p:nvSpPr>
          <p:cNvPr id="36" name="TekstSylinder 35"/>
          <p:cNvSpPr txBox="1"/>
          <p:nvPr/>
        </p:nvSpPr>
        <p:spPr>
          <a:xfrm>
            <a:off x="6444208" y="2967335"/>
            <a:ext cx="891591" cy="461665"/>
          </a:xfrm>
          <a:prstGeom prst="rect">
            <a:avLst/>
          </a:prstGeom>
          <a:noFill/>
        </p:spPr>
        <p:txBody>
          <a:bodyPr wrap="none" rtlCol="0">
            <a:spAutoFit/>
          </a:bodyPr>
          <a:lstStyle/>
          <a:p>
            <a:r>
              <a:rPr lang="nb-NO" sz="2400" b="1" dirty="0">
                <a:solidFill>
                  <a:schemeClr val="accent5">
                    <a:lumMod val="75000"/>
                  </a:schemeClr>
                </a:solidFill>
              </a:rPr>
              <a:t>&lt;</a:t>
            </a:r>
            <a:r>
              <a:rPr lang="nb-NO" sz="2400" b="1" i="1" dirty="0" err="1" smtClean="0">
                <a:solidFill>
                  <a:schemeClr val="accent5">
                    <a:lumMod val="75000"/>
                  </a:schemeClr>
                </a:solidFill>
              </a:rPr>
              <a:t>ddi</a:t>
            </a:r>
            <a:r>
              <a:rPr lang="nb-NO" sz="2400" b="1" i="1" dirty="0" smtClean="0">
                <a:solidFill>
                  <a:schemeClr val="accent5">
                    <a:lumMod val="75000"/>
                  </a:schemeClr>
                </a:solidFill>
              </a:rPr>
              <a:t>&gt;</a:t>
            </a:r>
            <a:endParaRPr lang="nb-NO" sz="2400" b="1" dirty="0">
              <a:solidFill>
                <a:schemeClr val="accent5">
                  <a:lumMod val="75000"/>
                </a:schemeClr>
              </a:solidFill>
            </a:endParaRPr>
          </a:p>
        </p:txBody>
      </p:sp>
      <p:sp>
        <p:nvSpPr>
          <p:cNvPr id="37" name="TekstSylinder 36"/>
          <p:cNvSpPr txBox="1"/>
          <p:nvPr/>
        </p:nvSpPr>
        <p:spPr>
          <a:xfrm>
            <a:off x="4544505" y="2924944"/>
            <a:ext cx="891591" cy="461665"/>
          </a:xfrm>
          <a:prstGeom prst="rect">
            <a:avLst/>
          </a:prstGeom>
          <a:noFill/>
        </p:spPr>
        <p:txBody>
          <a:bodyPr wrap="none" rtlCol="0">
            <a:spAutoFit/>
          </a:bodyPr>
          <a:lstStyle/>
          <a:p>
            <a:r>
              <a:rPr lang="nb-NO" sz="2400" b="1" dirty="0">
                <a:solidFill>
                  <a:schemeClr val="accent5">
                    <a:lumMod val="75000"/>
                  </a:schemeClr>
                </a:solidFill>
              </a:rPr>
              <a:t>&lt;</a:t>
            </a:r>
            <a:r>
              <a:rPr lang="nb-NO" sz="2400" b="1" i="1" dirty="0" err="1" smtClean="0">
                <a:solidFill>
                  <a:schemeClr val="accent5">
                    <a:lumMod val="75000"/>
                  </a:schemeClr>
                </a:solidFill>
              </a:rPr>
              <a:t>ddi</a:t>
            </a:r>
            <a:r>
              <a:rPr lang="nb-NO" sz="2400" b="1" i="1" dirty="0" smtClean="0">
                <a:solidFill>
                  <a:schemeClr val="accent5">
                    <a:lumMod val="75000"/>
                  </a:schemeClr>
                </a:solidFill>
              </a:rPr>
              <a:t>&gt;</a:t>
            </a:r>
            <a:endParaRPr lang="nb-NO" sz="2400" b="1" dirty="0">
              <a:solidFill>
                <a:schemeClr val="accent5">
                  <a:lumMod val="75000"/>
                </a:schemeClr>
              </a:solidFill>
            </a:endParaRPr>
          </a:p>
        </p:txBody>
      </p:sp>
      <p:sp>
        <p:nvSpPr>
          <p:cNvPr id="38" name="TekstSylinder 37"/>
          <p:cNvSpPr txBox="1"/>
          <p:nvPr/>
        </p:nvSpPr>
        <p:spPr>
          <a:xfrm>
            <a:off x="3203848" y="2708920"/>
            <a:ext cx="891591" cy="461665"/>
          </a:xfrm>
          <a:prstGeom prst="rect">
            <a:avLst/>
          </a:prstGeom>
          <a:noFill/>
        </p:spPr>
        <p:txBody>
          <a:bodyPr wrap="none" rtlCol="0">
            <a:spAutoFit/>
          </a:bodyPr>
          <a:lstStyle/>
          <a:p>
            <a:r>
              <a:rPr lang="nb-NO" sz="2400" b="1" dirty="0">
                <a:solidFill>
                  <a:schemeClr val="accent5">
                    <a:lumMod val="75000"/>
                  </a:schemeClr>
                </a:solidFill>
              </a:rPr>
              <a:t>&lt;</a:t>
            </a:r>
            <a:r>
              <a:rPr lang="nb-NO" sz="2400" b="1" i="1" dirty="0" err="1" smtClean="0">
                <a:solidFill>
                  <a:schemeClr val="accent5">
                    <a:lumMod val="75000"/>
                  </a:schemeClr>
                </a:solidFill>
              </a:rPr>
              <a:t>ddi</a:t>
            </a:r>
            <a:r>
              <a:rPr lang="nb-NO" sz="2400" b="1" i="1" dirty="0" smtClean="0">
                <a:solidFill>
                  <a:schemeClr val="accent5">
                    <a:lumMod val="75000"/>
                  </a:schemeClr>
                </a:solidFill>
              </a:rPr>
              <a:t>&gt;</a:t>
            </a:r>
            <a:endParaRPr lang="nb-NO" sz="2400" b="1" dirty="0">
              <a:solidFill>
                <a:schemeClr val="accent5">
                  <a:lumMod val="75000"/>
                </a:schemeClr>
              </a:solidFill>
            </a:endParaRPr>
          </a:p>
        </p:txBody>
      </p:sp>
      <p:sp>
        <p:nvSpPr>
          <p:cNvPr id="39" name="TekstSylinder 38"/>
          <p:cNvSpPr txBox="1"/>
          <p:nvPr/>
        </p:nvSpPr>
        <p:spPr>
          <a:xfrm>
            <a:off x="827584" y="3471391"/>
            <a:ext cx="891591" cy="461665"/>
          </a:xfrm>
          <a:prstGeom prst="rect">
            <a:avLst/>
          </a:prstGeom>
          <a:noFill/>
        </p:spPr>
        <p:txBody>
          <a:bodyPr wrap="none" rtlCol="0">
            <a:spAutoFit/>
          </a:bodyPr>
          <a:lstStyle/>
          <a:p>
            <a:r>
              <a:rPr lang="nb-NO" sz="2400" b="1" dirty="0">
                <a:solidFill>
                  <a:schemeClr val="accent5">
                    <a:lumMod val="75000"/>
                  </a:schemeClr>
                </a:solidFill>
              </a:rPr>
              <a:t>&lt;</a:t>
            </a:r>
            <a:r>
              <a:rPr lang="nb-NO" sz="2400" b="1" i="1" dirty="0" err="1" smtClean="0">
                <a:solidFill>
                  <a:schemeClr val="accent5">
                    <a:lumMod val="75000"/>
                  </a:schemeClr>
                </a:solidFill>
              </a:rPr>
              <a:t>ddi</a:t>
            </a:r>
            <a:r>
              <a:rPr lang="nb-NO" sz="2400" b="1" i="1" dirty="0" smtClean="0">
                <a:solidFill>
                  <a:schemeClr val="accent5">
                    <a:lumMod val="75000"/>
                  </a:schemeClr>
                </a:solidFill>
              </a:rPr>
              <a:t>&gt;</a:t>
            </a:r>
            <a:endParaRPr lang="nb-NO" sz="2400" b="1" dirty="0">
              <a:solidFill>
                <a:schemeClr val="accent5">
                  <a:lumMod val="75000"/>
                </a:schemeClr>
              </a:solidFill>
            </a:endParaRPr>
          </a:p>
        </p:txBody>
      </p:sp>
    </p:spTree>
    <p:extLst>
      <p:ext uri="{BB962C8B-B14F-4D97-AF65-F5344CB8AC3E}">
        <p14:creationId xmlns:p14="http://schemas.microsoft.com/office/powerpoint/2010/main" val="2344020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30" grpId="0" animBg="1"/>
      <p:bldP spid="31" grpId="0" animBg="1"/>
      <p:bldP spid="33" grpId="0" animBg="1"/>
      <p:bldP spid="35" grpId="0"/>
      <p:bldP spid="36" grpId="0"/>
      <p:bldP spid="37" grpId="0"/>
      <p:bldP spid="38" grpId="0"/>
      <p:bldP spid="39"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tel 1"/>
          <p:cNvSpPr>
            <a:spLocks noGrp="1"/>
          </p:cNvSpPr>
          <p:nvPr>
            <p:ph type="title"/>
          </p:nvPr>
        </p:nvSpPr>
        <p:spPr/>
        <p:txBody>
          <a:bodyPr/>
          <a:lstStyle/>
          <a:p>
            <a:pPr eaLnBrk="1" hangingPunct="1"/>
            <a:r>
              <a:rPr lang="nb-NO" smtClean="0"/>
              <a:t>Next Steps</a:t>
            </a:r>
          </a:p>
        </p:txBody>
      </p:sp>
      <p:sp>
        <p:nvSpPr>
          <p:cNvPr id="37890" name="Plassholder for innhold 2"/>
          <p:cNvSpPr>
            <a:spLocks noGrp="1"/>
          </p:cNvSpPr>
          <p:nvPr>
            <p:ph idx="1"/>
          </p:nvPr>
        </p:nvSpPr>
        <p:spPr>
          <a:xfrm>
            <a:off x="323850" y="1600200"/>
            <a:ext cx="8640763" cy="4525963"/>
          </a:xfrm>
        </p:spPr>
        <p:txBody>
          <a:bodyPr/>
          <a:lstStyle/>
          <a:p>
            <a:pPr eaLnBrk="1" hangingPunct="1"/>
            <a:r>
              <a:rPr lang="nb-NO" sz="2800" dirty="0" smtClean="0"/>
              <a:t>Resource Package for ISCED </a:t>
            </a:r>
            <a:r>
              <a:rPr lang="nb-NO" sz="2800" dirty="0" smtClean="0"/>
              <a:t>2011</a:t>
            </a:r>
          </a:p>
          <a:p>
            <a:pPr lvl="1" eaLnBrk="1" hangingPunct="1"/>
            <a:r>
              <a:rPr lang="nb-NO" sz="2400" dirty="0" smtClean="0"/>
              <a:t>Motivation: latest version, most structured version</a:t>
            </a:r>
          </a:p>
          <a:p>
            <a:pPr lvl="1" eaLnBrk="1" hangingPunct="1"/>
            <a:r>
              <a:rPr lang="nb-NO" sz="2400" smtClean="0"/>
              <a:t>Challenge: ISCED 2011 is a complete package not just a classification</a:t>
            </a:r>
            <a:endParaRPr lang="nb-NO" sz="2400" dirty="0" smtClean="0"/>
          </a:p>
          <a:p>
            <a:pPr eaLnBrk="1" hangingPunct="1"/>
            <a:r>
              <a:rPr lang="nb-NO" sz="2800" dirty="0" smtClean="0"/>
              <a:t>Realised in two steps:</a:t>
            </a:r>
          </a:p>
          <a:p>
            <a:pPr eaLnBrk="1" hangingPunct="1">
              <a:buFont typeface="Arial" charset="0"/>
              <a:buNone/>
            </a:pPr>
            <a:r>
              <a:rPr lang="nb-NO" sz="2800" dirty="0" smtClean="0"/>
              <a:t>	1) The classification variants ISCEDA and ISCEDP</a:t>
            </a:r>
          </a:p>
          <a:p>
            <a:pPr eaLnBrk="1" hangingPunct="1">
              <a:buFont typeface="Arial" charset="0"/>
              <a:buNone/>
            </a:pPr>
            <a:r>
              <a:rPr lang="nb-NO" sz="2800" dirty="0" smtClean="0"/>
              <a:t>	     Terminology and definitions</a:t>
            </a:r>
          </a:p>
          <a:p>
            <a:pPr eaLnBrk="1" hangingPunct="1">
              <a:buFont typeface="Arial" charset="0"/>
              <a:buNone/>
            </a:pPr>
            <a:r>
              <a:rPr lang="nb-NO" sz="2800" dirty="0" smtClean="0"/>
              <a:t>	2) Mapping of educational programmes into ISCED.</a:t>
            </a:r>
          </a:p>
          <a:p>
            <a:pPr eaLnBrk="1" hangingPunct="1">
              <a:buFont typeface="Arial" charset="0"/>
              <a:buNone/>
            </a:pPr>
            <a:r>
              <a:rPr lang="nb-NO" sz="2800" dirty="0" smtClean="0"/>
              <a:t>	</a:t>
            </a:r>
          </a:p>
          <a:p>
            <a:pPr eaLnBrk="1" hangingPunct="1"/>
            <a:endParaRPr lang="nb-NO" sz="2800" dirty="0" smtClean="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0177" name="Picture 2" descr="http://fr.academic.ru/pictures/frwiki/65/Aiguille_du_Midi_12.jpg"/>
          <p:cNvPicPr>
            <a:picLocks noChangeAspect="1" noChangeArrowheads="1"/>
          </p:cNvPicPr>
          <p:nvPr/>
        </p:nvPicPr>
        <p:blipFill>
          <a:blip r:embed="rId3"/>
          <a:srcRect/>
          <a:stretch>
            <a:fillRect/>
          </a:stretch>
        </p:blipFill>
        <p:spPr bwMode="auto">
          <a:xfrm>
            <a:off x="0" y="3573463"/>
            <a:ext cx="9164638" cy="3284537"/>
          </a:xfrm>
          <a:prstGeom prst="rect">
            <a:avLst/>
          </a:prstGeom>
          <a:noFill/>
          <a:ln w="9525">
            <a:noFill/>
            <a:miter lim="800000"/>
            <a:headEnd/>
            <a:tailEnd/>
          </a:ln>
        </p:spPr>
      </p:pic>
      <p:sp>
        <p:nvSpPr>
          <p:cNvPr id="50178" name="Plassholder for innhold 2"/>
          <p:cNvSpPr>
            <a:spLocks noGrp="1"/>
          </p:cNvSpPr>
          <p:nvPr>
            <p:ph idx="1"/>
          </p:nvPr>
        </p:nvSpPr>
        <p:spPr>
          <a:xfrm>
            <a:off x="539750" y="620713"/>
            <a:ext cx="8229600" cy="5102225"/>
          </a:xfrm>
        </p:spPr>
        <p:txBody>
          <a:bodyPr/>
          <a:lstStyle/>
          <a:p>
            <a:pPr marL="0" indent="0" algn="ctr" eaLnBrk="1" hangingPunct="1">
              <a:buFont typeface="Arial" charset="0"/>
              <a:buNone/>
            </a:pPr>
            <a:r>
              <a:rPr lang="nb-NO" sz="4400" smtClean="0"/>
              <a:t>Thank you for your attention!</a:t>
            </a:r>
          </a:p>
          <a:p>
            <a:pPr marL="0" indent="0" algn="ctr" eaLnBrk="1" hangingPunct="1">
              <a:buFont typeface="Arial" charset="0"/>
              <a:buNone/>
            </a:pPr>
            <a:endParaRPr lang="nb-NO" sz="4400" smtClean="0"/>
          </a:p>
          <a:p>
            <a:pPr marL="0" indent="0" algn="ctr" eaLnBrk="1" hangingPunct="1">
              <a:buFont typeface="Arial" charset="0"/>
              <a:buNone/>
            </a:pPr>
            <a:r>
              <a:rPr lang="nb-NO" sz="2000" smtClean="0">
                <a:hlinkClick r:id="rId4"/>
              </a:rPr>
              <a:t>hilde.orten@nsd.uib.no</a:t>
            </a:r>
            <a:endParaRPr lang="nb-NO" sz="2000" smtClean="0"/>
          </a:p>
          <a:p>
            <a:pPr marL="0" indent="0" algn="ctr" eaLnBrk="1" hangingPunct="1">
              <a:buFont typeface="Arial" charset="0"/>
              <a:buNone/>
            </a:pPr>
            <a:r>
              <a:rPr lang="nb-NO" sz="2000" smtClean="0">
                <a:hlinkClick r:id="rId5"/>
              </a:rPr>
              <a:t>joachim.wackerow@gesis.org</a:t>
            </a:r>
            <a:endParaRPr lang="nb-NO" sz="2000" smtClean="0"/>
          </a:p>
          <a:p>
            <a:pPr marL="0" indent="0" algn="ctr" eaLnBrk="1" hangingPunct="1">
              <a:buFont typeface="Arial" charset="0"/>
              <a:buNone/>
            </a:pPr>
            <a:endParaRPr lang="nb-NO" sz="440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4841</TotalTime>
  <Words>3080</Words>
  <Application>Microsoft Office PowerPoint</Application>
  <PresentationFormat>On-screen Show (4:3)</PresentationFormat>
  <Paragraphs>470</Paragraphs>
  <Slides>22</Slides>
  <Notes>16</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Office-tema</vt:lpstr>
      <vt:lpstr>The ISCED Standard for Coding of Education and DDI-Lifecycle</vt:lpstr>
      <vt:lpstr>Outline</vt:lpstr>
      <vt:lpstr>Challenges in Measuring Education Cross-nationally</vt:lpstr>
      <vt:lpstr>ISCED – What is it, Developments</vt:lpstr>
      <vt:lpstr>Classification of ISCED 2011 - Purpose</vt:lpstr>
      <vt:lpstr>Classification of ISCED 2011</vt:lpstr>
      <vt:lpstr>Classification of ISCED 2011 - Extract</vt:lpstr>
      <vt:lpstr>ISCED 2011 - Complete Standard</vt:lpstr>
      <vt:lpstr>ISCED 2011 Definitions – Example Level 5 – short-cycle tertiary</vt:lpstr>
      <vt:lpstr>Mapping Example of ISCED 1997</vt:lpstr>
      <vt:lpstr>ISCED 1997</vt:lpstr>
      <vt:lpstr>European Social Survey Round 5</vt:lpstr>
      <vt:lpstr>Relationship between ISCED based components</vt:lpstr>
      <vt:lpstr>Possible DDI Usage: Resource Package for ISCED 2011</vt:lpstr>
      <vt:lpstr>ISCED in a DDI Resource Package </vt:lpstr>
      <vt:lpstr>Structural Outline of Resource Package</vt:lpstr>
      <vt:lpstr>DDI Category Map - Example ISCED11P vs. ISCED11A category descriptions </vt:lpstr>
      <vt:lpstr>Possible DDI Usage II</vt:lpstr>
      <vt:lpstr>PowerPoint Presentation</vt:lpstr>
      <vt:lpstr>Possible DDI resource packages based on ISCED and potential use</vt:lpstr>
      <vt:lpstr>Next Steps</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PowerPoint-presentasjon</dc:title>
  <dc:creator>Erik Orten</dc:creator>
  <cp:lastModifiedBy>Joachim Wackerow</cp:lastModifiedBy>
  <cp:revision>255</cp:revision>
  <dcterms:created xsi:type="dcterms:W3CDTF">2011-11-21T11:34:34Z</dcterms:created>
  <dcterms:modified xsi:type="dcterms:W3CDTF">2011-12-06T07:27:47Z</dcterms:modified>
</cp:coreProperties>
</file>