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19"/>
  </p:notes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69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88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E962D-3D7C-4F70-92D1-C5333006B76C}" type="datetimeFigureOut">
              <a:rPr lang="nl-NL" smtClean="0"/>
              <a:pPr/>
              <a:t>6-12-2011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6596D-9150-4981-8D01-424698992AD6}" type="slidenum">
              <a:rPr lang="nl-NL" smtClean="0"/>
              <a:pPr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endParaRPr lang="nl-NL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GB" smtClean="0"/>
              <a:t>EDDI Gothenburg 5-6 December 2011 </a:t>
            </a:r>
            <a:endParaRPr lang="nl-NL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5708AF0-D55A-4323-AEE8-968D9535CE5E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20072" y="6407944"/>
            <a:ext cx="3528392" cy="365125"/>
          </a:xfrm>
        </p:spPr>
        <p:txBody>
          <a:bodyPr/>
          <a:lstStyle>
            <a:extLst/>
          </a:lstStyle>
          <a:p>
            <a:pPr algn="l"/>
            <a:r>
              <a:rPr lang="en-GB" sz="800" cap="all" smtClean="0"/>
              <a:t>EDDI Gothenburg 5-6 December 2011 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endParaRPr lang="nl-NL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pic>
        <p:nvPicPr>
          <p:cNvPr id="8" name="Content Placeholder 3" descr="ddi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6021288"/>
            <a:ext cx="1583404" cy="930250"/>
          </a:xfrm>
          <a:prstGeom prst="rect">
            <a:avLst/>
          </a:prstGeom>
        </p:spPr>
      </p:pic>
      <p:pic>
        <p:nvPicPr>
          <p:cNvPr id="9" name="Picture 8" descr="Dagstuhl Lion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ve="http://schemas.openxmlformats.org/markup-compatibility/2006" xmlns:m="http://schemas.openxmlformats.org/officeDocument/2006/math" xmlns:wp="http://schemas.openxmlformats.org/drawingml/2006/wordprocessingDrawing" xmlns:wne="http://schemas.microsoft.com/office/word/2006/wordml" xmlns:a14="http://schemas.microsoft.com/office/drawing/2010/main" xmlns:wps="http://schemas.microsoft.com/office/word/2010/wordprocessingShape" xmlns:wpi="http://schemas.microsoft.com/office/word/2010/wordprocessingInk" xmlns:wpg="http://schemas.microsoft.com/office/word/2010/wordprocessingGroup" xmlns:w14="http://schemas.microsoft.com/office/word/2010/wordml" xmlns:w="http://schemas.openxmlformats.org/wordprocessingml/2006/main" xmlns:w10="urn:schemas-microsoft-com:office:word" xmlns:wp14="http://schemas.microsoft.com/office/word/2010/wordprocessingDrawing" xmlns:v="urn:schemas-microsoft-com:vml" xmlns:o="urn:schemas-microsoft-com:office:office" xmlns:mc="http://schemas.openxmlformats.org/markup-compatibility/2006" xmlns:wpc="http://schemas.microsoft.com/office/word/2010/wordprocessingCanvas" xmlns="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7236296" y="5013176"/>
            <a:ext cx="1907704" cy="1210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GB" smtClean="0"/>
              <a:t>EDDI Gothenburg 5-6 December 2011 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708AF0-D55A-4323-AEE8-968D9535CE5E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GB" smtClean="0"/>
              <a:t>EDDI Gothenburg 5-6 December 2011 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708AF0-D55A-4323-AEE8-968D9535CE5E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GB" smtClean="0"/>
              <a:t>EDDI Gothenburg 5-6 December 2011 </a:t>
            </a: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708AF0-D55A-4323-AEE8-968D9535CE5E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GB" smtClean="0"/>
              <a:t>EDDI Gothenburg 5-6 December 2011 </a:t>
            </a: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708AF0-D55A-4323-AEE8-968D9535CE5E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GB" smtClean="0"/>
              <a:t>EDDI Gothenburg 5-6 December 2011 </a:t>
            </a: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708AF0-D55A-4323-AEE8-968D9535CE5E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GB" smtClean="0"/>
              <a:t>EDDI Gothenburg 5-6 December 2011 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708AF0-D55A-4323-AEE8-968D9535CE5E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GB" smtClean="0"/>
              <a:t>EDDI Gothenburg 5-6 December 2011 </a:t>
            </a: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5708AF0-D55A-4323-AEE8-968D9535CE5E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GB" smtClean="0"/>
              <a:t>EDDI Gothenburg 5-6 December 2011 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708AF0-D55A-4323-AEE8-968D9535CE5E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GB" smtClean="0"/>
              <a:t>EDDI Gothenburg 5-6 December 2011 </a:t>
            </a: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708AF0-D55A-4323-AEE8-968D9535CE5E}" type="slidenum">
              <a:rPr lang="nl-NL" smtClean="0"/>
              <a:pPr/>
              <a:t>‹#›</a:t>
            </a:fld>
            <a:endParaRPr lang="nl-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nl-NL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GB" smtClean="0"/>
              <a:t>EDDI Gothenburg 5-6 December 2011 </a:t>
            </a:r>
            <a:endParaRPr lang="nl-NL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5708AF0-D55A-4323-AEE8-968D9535CE5E}" type="slidenum">
              <a:rPr lang="nl-NL" smtClean="0"/>
              <a:pPr/>
              <a:t>‹#›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Structuring Metadata for Reuse  </a:t>
            </a:r>
            <a:br>
              <a:rPr lang="en-US" smtClean="0"/>
            </a:br>
            <a:r>
              <a:rPr lang="en-US" smtClean="0"/>
              <a:t>Building Foundational Metadata</a:t>
            </a:r>
            <a:endParaRPr lang="nl-N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nl-NL" dirty="0" smtClean="0"/>
          </a:p>
          <a:p>
            <a:r>
              <a:rPr lang="nl-NL" dirty="0" smtClean="0"/>
              <a:t>Marion Wittenberg </a:t>
            </a:r>
            <a:r>
              <a:rPr lang="nl-NL" dirty="0" smtClean="0"/>
              <a:t>– DANS</a:t>
            </a:r>
          </a:p>
          <a:p>
            <a:r>
              <a:rPr lang="nl-NL" smtClean="0"/>
              <a:t>Merja Karjalainen – SND  </a:t>
            </a:r>
          </a:p>
          <a:p>
            <a:endParaRPr lang="nl-NL" dirty="0"/>
          </a:p>
        </p:txBody>
      </p:sp>
      <p:pic>
        <p:nvPicPr>
          <p:cNvPr id="4" name="Picture 3" descr="ddi_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92726"/>
            <a:ext cx="2664296" cy="15652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EDDI Gothenburg 5-6 December 2011 </a:t>
            </a:r>
            <a:endParaRPr lang="nl-NL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nl-NL" sz="4400" dirty="0" err="1" smtClean="0"/>
              <a:t>Contributors</a:t>
            </a:r>
            <a:endParaRPr lang="nl-NL" sz="44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Alerk Amin - </a:t>
            </a:r>
            <a:r>
              <a:rPr lang="en-US" dirty="0" err="1" smtClean="0"/>
              <a:t>Centerdata</a:t>
            </a:r>
            <a:endParaRPr lang="en-US" dirty="0" smtClean="0"/>
          </a:p>
          <a:p>
            <a:r>
              <a:rPr lang="en-US" dirty="0" smtClean="0"/>
              <a:t>Johan Fihn - SND</a:t>
            </a:r>
          </a:p>
          <a:p>
            <a:r>
              <a:rPr lang="en-US" dirty="0" smtClean="0"/>
              <a:t>Larry Hoyle - </a:t>
            </a:r>
            <a:r>
              <a:rPr lang="en-GB" dirty="0" smtClean="0"/>
              <a:t>University of Kansas</a:t>
            </a:r>
            <a:endParaRPr lang="en-US" dirty="0" smtClean="0"/>
          </a:p>
          <a:p>
            <a:r>
              <a:rPr lang="en-US" dirty="0" smtClean="0"/>
              <a:t>Merja Karjalainen - SND</a:t>
            </a:r>
          </a:p>
          <a:p>
            <a:r>
              <a:rPr lang="en-US" dirty="0" smtClean="0"/>
              <a:t>Hilde Orten - NSD</a:t>
            </a:r>
          </a:p>
          <a:p>
            <a:r>
              <a:rPr lang="en-US" dirty="0" err="1" smtClean="0"/>
              <a:t>Bodil</a:t>
            </a:r>
            <a:r>
              <a:rPr lang="en-US" dirty="0" smtClean="0"/>
              <a:t> </a:t>
            </a:r>
            <a:r>
              <a:rPr lang="en-US" dirty="0" err="1" smtClean="0"/>
              <a:t>Stenvig</a:t>
            </a:r>
            <a:r>
              <a:rPr lang="en-US" dirty="0" smtClean="0"/>
              <a:t> _ DDA</a:t>
            </a:r>
          </a:p>
          <a:p>
            <a:r>
              <a:rPr lang="en-US" dirty="0" smtClean="0"/>
              <a:t>Joachim Wackerow - GESIS</a:t>
            </a:r>
          </a:p>
          <a:p>
            <a:r>
              <a:rPr lang="en-US" dirty="0" smtClean="0"/>
              <a:t>Marion Wittenberg - DANS</a:t>
            </a:r>
            <a:endParaRPr lang="nl-NL" dirty="0" smtClean="0"/>
          </a:p>
          <a:p>
            <a:endParaRPr lang="en-US" dirty="0" smtClean="0"/>
          </a:p>
          <a:p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Work in progress</a:t>
            </a:r>
          </a:p>
          <a:p>
            <a:endParaRPr lang="en-US" dirty="0" smtClean="0"/>
          </a:p>
          <a:p>
            <a:r>
              <a:rPr lang="en-US" dirty="0" smtClean="0"/>
              <a:t>DDI Working Paper Series – Longitudinal Best Practice II, No. 2</a:t>
            </a:r>
          </a:p>
          <a:p>
            <a:r>
              <a:rPr lang="en-US" sz="1800" dirty="0" smtClean="0"/>
              <a:t>This paper is part of a series that focuses on DDI usage and how the metadata specification should be applied in a variety of settings by a variety of organizations and individuals. Support for this working paper series was provided by the authors’ home institutions; by GESIS - Leibniz Institute for the Social Sciences; by </a:t>
            </a:r>
            <a:r>
              <a:rPr lang="en-US" sz="1800" dirty="0" err="1" smtClean="0"/>
              <a:t>Schloss</a:t>
            </a:r>
            <a:r>
              <a:rPr lang="en-US" sz="1800" dirty="0" smtClean="0"/>
              <a:t> </a:t>
            </a:r>
            <a:r>
              <a:rPr lang="en-US" sz="1800" dirty="0" err="1" smtClean="0"/>
              <a:t>Dagstuhl</a:t>
            </a:r>
            <a:r>
              <a:rPr lang="en-US" sz="1800" dirty="0" smtClean="0"/>
              <a:t> - Leibniz Center for Informatics; and by the DDI Alliance. </a:t>
            </a:r>
            <a:endParaRPr lang="en-GB" sz="1800" dirty="0" smtClean="0"/>
          </a:p>
          <a:p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cap="all" dirty="0" smtClean="0"/>
              <a:t>Structuring Metadata for Reuse  </a:t>
            </a:r>
            <a:r>
              <a:rPr lang="en-US" cap="all" dirty="0" smtClean="0"/>
              <a:t/>
            </a:r>
            <a:br>
              <a:rPr lang="en-US" cap="all" dirty="0" smtClean="0"/>
            </a:br>
            <a:r>
              <a:rPr lang="en-US" sz="2400" cap="all" dirty="0" smtClean="0"/>
              <a:t>Building Foundational Metadata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better support for comparability between different studies </a:t>
            </a:r>
          </a:p>
          <a:p>
            <a:r>
              <a:rPr lang="en-US" dirty="0" smtClean="0"/>
              <a:t>facilitating the management of references to classifications and other resources</a:t>
            </a:r>
          </a:p>
          <a:p>
            <a:endParaRPr lang="en-US" dirty="0" smtClean="0"/>
          </a:p>
          <a:p>
            <a:r>
              <a:rPr lang="en-US" dirty="0" smtClean="0"/>
              <a:t>Foundational Metadata - metadata that are agreed as </a:t>
            </a:r>
            <a:r>
              <a:rPr lang="en-US" i="1" dirty="0" smtClean="0"/>
              <a:t>de facto</a:t>
            </a:r>
            <a:r>
              <a:rPr lang="en-US" dirty="0" smtClean="0"/>
              <a:t> standards </a:t>
            </a:r>
            <a:endParaRPr lang="en-GB" dirty="0" smtClean="0"/>
          </a:p>
          <a:p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Reuse</a:t>
            </a:r>
            <a:r>
              <a:rPr lang="nl-NL" dirty="0" smtClean="0"/>
              <a:t> of metadata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Exclusive publication of reusable items outside the context of a study</a:t>
            </a:r>
          </a:p>
          <a:p>
            <a:r>
              <a:rPr lang="en-US" sz="3000" dirty="0" smtClean="0"/>
              <a:t>All identifiable items can be reused </a:t>
            </a:r>
          </a:p>
          <a:p>
            <a:r>
              <a:rPr lang="en-US" sz="3000" dirty="0" smtClean="0"/>
              <a:t>Elements that use a scheme are better candidates for reuse. </a:t>
            </a:r>
          </a:p>
          <a:p>
            <a:r>
              <a:rPr lang="en-US" sz="3000" dirty="0" smtClean="0"/>
              <a:t>Examples:</a:t>
            </a:r>
          </a:p>
          <a:p>
            <a:pPr lvl="1"/>
            <a:r>
              <a:rPr lang="en-US" dirty="0" smtClean="0"/>
              <a:t>Category</a:t>
            </a:r>
          </a:p>
          <a:p>
            <a:pPr lvl="1"/>
            <a:r>
              <a:rPr lang="en-US" dirty="0" smtClean="0"/>
              <a:t>Code</a:t>
            </a:r>
          </a:p>
          <a:p>
            <a:pPr lvl="1"/>
            <a:r>
              <a:rPr lang="en-US" dirty="0" smtClean="0"/>
              <a:t>Concept</a:t>
            </a:r>
          </a:p>
          <a:p>
            <a:pPr lvl="1"/>
            <a:r>
              <a:rPr lang="en-US" dirty="0" smtClean="0"/>
              <a:t>Question</a:t>
            </a:r>
          </a:p>
          <a:p>
            <a:pPr lvl="1"/>
            <a:r>
              <a:rPr lang="en-US" dirty="0" smtClean="0"/>
              <a:t>Universe</a:t>
            </a:r>
          </a:p>
          <a:p>
            <a:pPr lvl="1"/>
            <a:r>
              <a:rPr lang="en-US" dirty="0" smtClean="0"/>
              <a:t>Variable</a:t>
            </a:r>
            <a:endParaRPr lang="en-GB" dirty="0" smtClean="0"/>
          </a:p>
          <a:p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Publishing Metadata using Resource Packages</a:t>
            </a:r>
            <a:r>
              <a:rPr lang="en-GB" dirty="0" smtClean="0"/>
              <a:t/>
            </a:r>
            <a:br>
              <a:rPr lang="en-GB" dirty="0" smtClean="0"/>
            </a:b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Reuse of a combination of Variable, Code and Categories</a:t>
            </a:r>
          </a:p>
          <a:p>
            <a:endParaRPr lang="en-US" dirty="0" smtClean="0"/>
          </a:p>
          <a:p>
            <a:r>
              <a:rPr lang="en-US" dirty="0" smtClean="0"/>
              <a:t>Separate presentation of Hilde Orten and Joachim Wackerow </a:t>
            </a:r>
          </a:p>
          <a:p>
            <a:pPr>
              <a:buNone/>
            </a:pPr>
            <a:r>
              <a:rPr lang="en-GB" sz="2400" b="1" i="1" dirty="0" smtClean="0"/>
              <a:t>	The ISCED Standard for Coding of Education and DDI-Lifecycle	</a:t>
            </a:r>
          </a:p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sz="800" cap="all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 smtClean="0"/>
              <a:t>Classifications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the reusable item/element can be referenced by the user to be used in the original form</a:t>
            </a:r>
          </a:p>
          <a:p>
            <a:endParaRPr lang="en-US" dirty="0" smtClean="0"/>
          </a:p>
          <a:p>
            <a:pPr algn="ctr">
              <a:buNone/>
            </a:pPr>
            <a:r>
              <a:rPr lang="en-US" dirty="0" smtClean="0"/>
              <a:t>or</a:t>
            </a:r>
          </a:p>
          <a:p>
            <a:r>
              <a:rPr lang="en-US" dirty="0" smtClean="0"/>
              <a:t>it can be customized to fit into the purpose of the user</a:t>
            </a:r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sz="800" cap="all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Customization of Published Items</a:t>
            </a:r>
            <a:r>
              <a:rPr lang="en-GB" dirty="0" smtClean="0"/>
              <a:t/>
            </a:r>
            <a:br>
              <a:rPr lang="en-GB" dirty="0" smtClean="0"/>
            </a:b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Two different mechanisms for doing this: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One mechanism applies to Categories, Concepts, Questions, Universes, and Variables  </a:t>
            </a:r>
          </a:p>
          <a:p>
            <a:r>
              <a:rPr lang="en-US" dirty="0" smtClean="0"/>
              <a:t>The other mechanism applies only to Codes, as DDI implements the </a:t>
            </a:r>
            <a:r>
              <a:rPr lang="en-US" dirty="0" err="1" smtClean="0"/>
              <a:t>CodeMap</a:t>
            </a:r>
            <a:r>
              <a:rPr lang="en-US" dirty="0" smtClean="0"/>
              <a:t> differently than the other maps.</a:t>
            </a:r>
            <a:endParaRPr lang="en-GB" dirty="0" smtClean="0"/>
          </a:p>
          <a:p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sz="800" cap="all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all" dirty="0" smtClean="0"/>
              <a:t/>
            </a:r>
            <a:br>
              <a:rPr lang="en-US" cap="all" dirty="0" smtClean="0"/>
            </a:br>
            <a:r>
              <a:rPr lang="en-US" sz="3800" cap="all" dirty="0" smtClean="0"/>
              <a:t>Steps to Customize a DDI Scheme</a:t>
            </a:r>
            <a:r>
              <a:rPr lang="en-GB" cap="all" dirty="0" smtClean="0"/>
              <a:t/>
            </a:r>
            <a:br>
              <a:rPr lang="en-GB" cap="all" dirty="0" smtClean="0"/>
            </a:br>
            <a:endParaRPr lang="nl-N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4078" lvl="0" indent="-514350">
              <a:buFont typeface="+mj-lt"/>
              <a:buAutoNum type="arabicPeriod"/>
            </a:pPr>
            <a:r>
              <a:rPr lang="en-US" sz="2400" dirty="0" smtClean="0"/>
              <a:t>Create a new Scheme of the appropriate type</a:t>
            </a:r>
          </a:p>
          <a:p>
            <a:pPr marL="624078" indent="-514350">
              <a:buFont typeface="+mj-lt"/>
              <a:buAutoNum type="arabicPeriod"/>
            </a:pPr>
            <a:r>
              <a:rPr lang="en-US" sz="2400" dirty="0" smtClean="0"/>
              <a:t>Use a </a:t>
            </a:r>
            <a:r>
              <a:rPr lang="en-US" sz="2400" dirty="0" err="1" smtClean="0"/>
              <a:t>SchemeReference</a:t>
            </a:r>
            <a:r>
              <a:rPr lang="en-US" sz="2400" dirty="0" smtClean="0"/>
              <a:t> to include the original scheme</a:t>
            </a:r>
            <a:endParaRPr lang="en-GB" sz="2400" dirty="0" smtClean="0"/>
          </a:p>
          <a:p>
            <a:pPr marL="624078" indent="-514350">
              <a:buFont typeface="+mj-lt"/>
              <a:buAutoNum type="arabicPeriod"/>
            </a:pPr>
            <a:r>
              <a:rPr lang="en-US" sz="2400" dirty="0" smtClean="0"/>
              <a:t>Use Exclude for items that are removed</a:t>
            </a:r>
            <a:endParaRPr lang="en-GB" sz="2400" dirty="0" smtClean="0"/>
          </a:p>
          <a:p>
            <a:pPr marL="624078" indent="-514350">
              <a:buFont typeface="+mj-lt"/>
              <a:buAutoNum type="arabicPeriod"/>
            </a:pPr>
            <a:r>
              <a:rPr lang="en-US" sz="2400" dirty="0" smtClean="0"/>
              <a:t>Add new items to the customized scheme</a:t>
            </a:r>
            <a:endParaRPr lang="en-GB" sz="2400" dirty="0" smtClean="0"/>
          </a:p>
          <a:p>
            <a:pPr marL="624078" indent="-514350">
              <a:buFont typeface="+mj-lt"/>
              <a:buAutoNum type="arabicPeriod"/>
            </a:pPr>
            <a:r>
              <a:rPr lang="en-US" sz="2400" dirty="0" smtClean="0"/>
              <a:t>Modify items.  </a:t>
            </a:r>
            <a:r>
              <a:rPr lang="en-US" sz="1400" dirty="0" smtClean="0"/>
              <a:t>As there is no explicit way to document a modification in DDI, the solution is to exclude the original item, add the customized item, and document the modifications between these two elements.</a:t>
            </a:r>
          </a:p>
          <a:p>
            <a:pPr marL="624078" indent="-514350">
              <a:buFont typeface="+mj-lt"/>
              <a:buAutoNum type="arabicPeriod"/>
            </a:pPr>
            <a:r>
              <a:rPr lang="en-US" sz="2400" dirty="0" smtClean="0"/>
              <a:t>Create Comparison elements to document items that are excluded/added/modified</a:t>
            </a:r>
            <a:endParaRPr lang="en-GB" sz="2400" dirty="0" smtClean="0"/>
          </a:p>
          <a:p>
            <a:pPr marL="624078" lvl="0" indent="-514350">
              <a:buFont typeface="+mj-lt"/>
              <a:buAutoNum type="arabicPeriod"/>
            </a:pPr>
            <a:endParaRPr lang="en-GB" sz="2400" dirty="0" smtClean="0"/>
          </a:p>
          <a:p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sz="800" cap="all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dirty="0" smtClean="0"/>
              <a:t>Customizing a </a:t>
            </a:r>
            <a:r>
              <a:rPr lang="en-US" sz="2700" dirty="0" err="1" smtClean="0"/>
              <a:t>CategoryScheme</a:t>
            </a:r>
            <a:r>
              <a:rPr lang="en-US" sz="2700" dirty="0" smtClean="0"/>
              <a:t>, </a:t>
            </a:r>
            <a:r>
              <a:rPr lang="en-US" sz="2700" dirty="0" err="1" smtClean="0"/>
              <a:t>ConceptScheme</a:t>
            </a:r>
            <a:r>
              <a:rPr lang="en-US" sz="2700" dirty="0" smtClean="0"/>
              <a:t>, </a:t>
            </a:r>
            <a:r>
              <a:rPr lang="en-US" sz="2700" dirty="0" err="1" smtClean="0"/>
              <a:t>QuestionScheme</a:t>
            </a:r>
            <a:r>
              <a:rPr lang="en-US" sz="2700" dirty="0" smtClean="0"/>
              <a:t>, </a:t>
            </a:r>
            <a:r>
              <a:rPr lang="en-US" sz="2700" dirty="0" err="1" smtClean="0"/>
              <a:t>UniverseScheme</a:t>
            </a:r>
            <a:r>
              <a:rPr lang="en-US" sz="2700" dirty="0" smtClean="0"/>
              <a:t>, or </a:t>
            </a:r>
            <a:r>
              <a:rPr lang="en-US" sz="2700" dirty="0" err="1" smtClean="0"/>
              <a:t>VariableScheme</a:t>
            </a:r>
            <a:r>
              <a:rPr lang="en-GB" dirty="0" smtClean="0"/>
              <a:t/>
            </a:r>
            <a:br>
              <a:rPr lang="en-GB" dirty="0" smtClean="0"/>
            </a:br>
            <a:endParaRPr lang="nl-NL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4078" lvl="0" indent="-514350">
              <a:buFont typeface="+mj-lt"/>
              <a:buAutoNum type="arabicPeriod"/>
            </a:pPr>
            <a:r>
              <a:rPr lang="en-US" sz="2400" dirty="0" smtClean="0"/>
              <a:t>Create a new </a:t>
            </a:r>
            <a:r>
              <a:rPr lang="en-US" sz="2400" dirty="0" err="1" smtClean="0"/>
              <a:t>CodeScheme</a:t>
            </a:r>
            <a:r>
              <a:rPr lang="en-US" sz="2400" dirty="0" smtClean="0"/>
              <a:t> of the appropriate type</a:t>
            </a:r>
          </a:p>
          <a:p>
            <a:pPr marL="624078" indent="-514350">
              <a:buFont typeface="+mj-lt"/>
              <a:buAutoNum type="arabicPeriod"/>
            </a:pPr>
            <a:r>
              <a:rPr lang="en-US" sz="2400" dirty="0" smtClean="0"/>
              <a:t>Use a </a:t>
            </a:r>
            <a:r>
              <a:rPr lang="en-US" sz="2400" dirty="0" err="1" smtClean="0"/>
              <a:t>CodeSchemeReference</a:t>
            </a:r>
            <a:r>
              <a:rPr lang="en-US" sz="2400" dirty="0" smtClean="0"/>
              <a:t> to include the original scheme</a:t>
            </a:r>
          </a:p>
          <a:p>
            <a:pPr marL="624078" indent="-514350">
              <a:buFont typeface="+mj-lt"/>
              <a:buAutoNum type="arabicPeriod"/>
            </a:pPr>
            <a:r>
              <a:rPr lang="en-US" sz="2400" dirty="0" smtClean="0"/>
              <a:t>List the items that are reused without modification in the customized scheme</a:t>
            </a:r>
          </a:p>
          <a:p>
            <a:pPr marL="624078" lvl="0" indent="-514350">
              <a:buFont typeface="+mj-lt"/>
              <a:buAutoNum type="arabicPeriod"/>
            </a:pPr>
            <a:r>
              <a:rPr lang="en-US" sz="2400" dirty="0" smtClean="0"/>
              <a:t>Add new items to the customized scheme</a:t>
            </a:r>
            <a:endParaRPr lang="en-GB" sz="2400" dirty="0" smtClean="0"/>
          </a:p>
          <a:p>
            <a:pPr marL="624078" indent="-514350">
              <a:buFont typeface="+mj-lt"/>
              <a:buAutoNum type="arabicPeriod"/>
            </a:pPr>
            <a:r>
              <a:rPr lang="en-GB" sz="2400" dirty="0" smtClean="0"/>
              <a:t>Modify items.  </a:t>
            </a:r>
            <a:r>
              <a:rPr lang="en-GB" sz="1400" dirty="0" smtClean="0"/>
              <a:t>As there is no explicit way to document a modification in DDI, the solution is to exclude the original item, add the customized item, and document the modifications between these two elements.</a:t>
            </a:r>
          </a:p>
          <a:p>
            <a:pPr marL="624078" indent="-514350">
              <a:buFont typeface="+mj-lt"/>
              <a:buAutoNum type="arabicPeriod"/>
            </a:pPr>
            <a:r>
              <a:rPr lang="en-US" sz="2400" dirty="0" smtClean="0"/>
              <a:t>Create Comparison elements to document items that are excluded/added/modified</a:t>
            </a:r>
            <a:endParaRPr lang="en-GB" sz="2400" dirty="0" smtClean="0"/>
          </a:p>
          <a:p>
            <a:pPr marL="624078" indent="-514350">
              <a:buFont typeface="+mj-lt"/>
              <a:buAutoNum type="arabicPeriod"/>
            </a:pPr>
            <a:endParaRPr lang="en-GB" sz="2400" dirty="0" smtClean="0"/>
          </a:p>
          <a:p>
            <a:pPr marL="624078" lvl="0" indent="-514350">
              <a:buFont typeface="+mj-lt"/>
              <a:buAutoNum type="arabicPeriod"/>
            </a:pPr>
            <a:endParaRPr lang="en-GB" sz="2400" dirty="0" smtClean="0"/>
          </a:p>
          <a:p>
            <a:pPr marL="624078" indent="-514350">
              <a:buFont typeface="+mj-lt"/>
              <a:buAutoNum type="arabicPeriod"/>
            </a:pPr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sz="800" cap="all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Customizing a </a:t>
            </a:r>
            <a:r>
              <a:rPr lang="en-US" dirty="0" err="1" smtClean="0"/>
              <a:t>CodeScheme</a:t>
            </a:r>
            <a:r>
              <a:rPr lang="en-GB" dirty="0" smtClean="0"/>
              <a:t/>
            </a:r>
            <a:br>
              <a:rPr lang="en-GB" dirty="0" smtClean="0"/>
            </a:br>
            <a:endParaRPr lang="nl-NL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400" dirty="0" smtClean="0"/>
              <a:t>Customized scheme can contain a mix of unmodified elements from the original scheme, and the new/modified elements. </a:t>
            </a:r>
          </a:p>
          <a:p>
            <a:endParaRPr lang="en-US" sz="2400" dirty="0" smtClean="0"/>
          </a:p>
          <a:p>
            <a:r>
              <a:rPr lang="en-US" sz="2400" dirty="0" smtClean="0"/>
              <a:t>Unmodified elements &gt; refer to the ID/URN in the original scheme</a:t>
            </a:r>
          </a:p>
          <a:p>
            <a:r>
              <a:rPr lang="en-US" sz="2400" dirty="0" smtClean="0"/>
              <a:t>New/modified element &gt; refer to the ID/URN in the customized scheme, with the new agency.  </a:t>
            </a:r>
            <a:endParaRPr lang="en-GB" sz="2400" dirty="0" smtClean="0"/>
          </a:p>
          <a:p>
            <a:endParaRPr lang="en-US" sz="2400" dirty="0" smtClean="0"/>
          </a:p>
          <a:p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sz="800" cap="all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3600" dirty="0" smtClean="0"/>
              <a:t>How to Reference Elements in a Customized Scheme</a:t>
            </a:r>
            <a:r>
              <a:rPr lang="en-GB" dirty="0" smtClean="0"/>
              <a:t/>
            </a:r>
            <a:br>
              <a:rPr lang="en-GB" dirty="0" smtClean="0"/>
            </a:br>
            <a:endParaRPr lang="nl-NL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nl-NL" sz="2400" dirty="0" smtClean="0"/>
          </a:p>
          <a:p>
            <a:r>
              <a:rPr lang="nl-NL" sz="2400" dirty="0" err="1" smtClean="0"/>
              <a:t>Reuse</a:t>
            </a:r>
            <a:r>
              <a:rPr lang="nl-NL" sz="2400" dirty="0" smtClean="0"/>
              <a:t> of </a:t>
            </a:r>
            <a:r>
              <a:rPr lang="nl-NL" sz="2400" dirty="0" err="1" smtClean="0"/>
              <a:t>individual</a:t>
            </a:r>
            <a:r>
              <a:rPr lang="nl-NL" sz="2400" dirty="0" smtClean="0"/>
              <a:t> </a:t>
            </a:r>
            <a:r>
              <a:rPr lang="nl-NL" sz="2400" dirty="0" err="1" smtClean="0"/>
              <a:t>questions</a:t>
            </a:r>
            <a:endParaRPr lang="nl-NL" sz="2400" dirty="0" smtClean="0"/>
          </a:p>
          <a:p>
            <a:pPr lvl="1"/>
            <a:r>
              <a:rPr lang="en-US" sz="2000" dirty="0" smtClean="0"/>
              <a:t>reuse without any customizations</a:t>
            </a:r>
          </a:p>
          <a:p>
            <a:pPr lvl="1"/>
            <a:r>
              <a:rPr lang="en-US" sz="2000" dirty="0" smtClean="0"/>
              <a:t>re-use with customizations</a:t>
            </a:r>
          </a:p>
          <a:p>
            <a:pPr lvl="1"/>
            <a:endParaRPr lang="en-US" sz="2000" dirty="0" smtClean="0"/>
          </a:p>
          <a:p>
            <a:r>
              <a:rPr lang="en-US" sz="2400" dirty="0" smtClean="0"/>
              <a:t>Reuse of a battery of questions</a:t>
            </a:r>
            <a:endParaRPr lang="en-GB" sz="2400" dirty="0" smtClean="0"/>
          </a:p>
          <a:p>
            <a:endParaRPr lang="nl-NL" sz="2400" dirty="0" smtClean="0"/>
          </a:p>
          <a:p>
            <a:pPr lvl="1"/>
            <a:endParaRPr lang="en-US" sz="2000" dirty="0" smtClean="0"/>
          </a:p>
          <a:p>
            <a:pPr lvl="1"/>
            <a:endParaRPr lang="en-US" sz="2000" dirty="0" smtClean="0"/>
          </a:p>
          <a:p>
            <a:pPr lvl="1"/>
            <a:endParaRPr lang="nl-NL" sz="2000" dirty="0" smtClean="0"/>
          </a:p>
          <a:p>
            <a:pPr lvl="1"/>
            <a:endParaRPr lang="nl-NL" sz="1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sz="800" cap="all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smtClean="0"/>
              <a:t/>
            </a:r>
            <a:br>
              <a:rPr lang="nl-NL" dirty="0" smtClean="0"/>
            </a:br>
            <a:r>
              <a:rPr lang="nl-NL" sz="3800" dirty="0" err="1" smtClean="0"/>
              <a:t>Example</a:t>
            </a:r>
            <a:r>
              <a:rPr lang="nl-NL" sz="3800" dirty="0" smtClean="0"/>
              <a:t>: </a:t>
            </a:r>
            <a:r>
              <a:rPr lang="nl-NL" sz="3800" dirty="0" err="1" smtClean="0"/>
              <a:t>Use</a:t>
            </a:r>
            <a:r>
              <a:rPr lang="nl-NL" sz="3800" dirty="0" smtClean="0"/>
              <a:t> of a </a:t>
            </a:r>
            <a:r>
              <a:rPr lang="en-US" sz="3800" cap="all" dirty="0" smtClean="0"/>
              <a:t>Question Bank </a:t>
            </a:r>
            <a:r>
              <a:rPr lang="en-GB" cap="all" dirty="0" smtClean="0"/>
              <a:t/>
            </a:r>
            <a:br>
              <a:rPr lang="en-GB" cap="all" dirty="0" smtClean="0"/>
            </a:br>
            <a:endParaRPr lang="nl-NL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400" dirty="0" smtClean="0"/>
              <a:t>Without </a:t>
            </a:r>
            <a:r>
              <a:rPr lang="nl-NL" sz="2400" dirty="0" err="1" smtClean="0"/>
              <a:t>any</a:t>
            </a:r>
            <a:r>
              <a:rPr lang="nl-NL" sz="2400" dirty="0" smtClean="0"/>
              <a:t> </a:t>
            </a:r>
            <a:r>
              <a:rPr lang="en-US" sz="2400" dirty="0" smtClean="0"/>
              <a:t>customizations</a:t>
            </a:r>
            <a:r>
              <a:rPr lang="nl-NL" sz="2400" dirty="0" smtClean="0"/>
              <a:t> &gt; </a:t>
            </a:r>
            <a:r>
              <a:rPr lang="en-US" sz="2400" dirty="0" smtClean="0"/>
              <a:t>reference the </a:t>
            </a:r>
            <a:r>
              <a:rPr lang="en-US" sz="2400" dirty="0" err="1" smtClean="0"/>
              <a:t>QuestionItem</a:t>
            </a:r>
            <a:r>
              <a:rPr lang="en-US" sz="2400" dirty="0" smtClean="0"/>
              <a:t> directly from his </a:t>
            </a:r>
            <a:r>
              <a:rPr lang="en-US" sz="2400" dirty="0" err="1" smtClean="0"/>
              <a:t>QuestionConstruct</a:t>
            </a:r>
            <a:endParaRPr lang="en-US" sz="2400" dirty="0" smtClean="0"/>
          </a:p>
          <a:p>
            <a:r>
              <a:rPr lang="en-US" sz="2400" dirty="0" smtClean="0"/>
              <a:t>Re-use with customizations &gt;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GB" sz="2000" dirty="0" smtClean="0"/>
              <a:t>Create a new </a:t>
            </a:r>
            <a:r>
              <a:rPr lang="en-GB" sz="2000" dirty="0" err="1" smtClean="0"/>
              <a:t>QuestionScheme</a:t>
            </a:r>
            <a:endParaRPr lang="en-GB" sz="2000" dirty="0" smtClean="0"/>
          </a:p>
          <a:p>
            <a:pPr marL="850392" lvl="1" indent="-457200">
              <a:buFont typeface="+mj-lt"/>
              <a:buAutoNum type="arabicPeriod"/>
            </a:pPr>
            <a:r>
              <a:rPr lang="en-GB" sz="2000" dirty="0" smtClean="0"/>
              <a:t>Add a new </a:t>
            </a:r>
            <a:r>
              <a:rPr lang="en-GB" sz="2000" dirty="0" err="1" smtClean="0"/>
              <a:t>QuestionItem</a:t>
            </a:r>
            <a:r>
              <a:rPr lang="en-GB" sz="2000" dirty="0" smtClean="0"/>
              <a:t> using the same metadata as the original </a:t>
            </a:r>
            <a:r>
              <a:rPr lang="en-GB" sz="2000" dirty="0" err="1" smtClean="0"/>
              <a:t>QuestionItem</a:t>
            </a:r>
            <a:r>
              <a:rPr lang="en-GB" sz="2000" dirty="0" smtClean="0"/>
              <a:t>, but add the translation. This new </a:t>
            </a:r>
            <a:r>
              <a:rPr lang="en-GB" sz="2000" dirty="0" err="1" smtClean="0"/>
              <a:t>QuestionItem</a:t>
            </a:r>
            <a:r>
              <a:rPr lang="en-GB" sz="2000" dirty="0" smtClean="0"/>
              <a:t> will be a customized copy of the original </a:t>
            </a:r>
            <a:r>
              <a:rPr lang="en-GB" sz="2000" dirty="0" err="1" smtClean="0"/>
              <a:t>QuestionItem</a:t>
            </a:r>
            <a:r>
              <a:rPr lang="en-GB" sz="2000" dirty="0" smtClean="0"/>
              <a:t>, but have a new ID.</a:t>
            </a:r>
          </a:p>
          <a:p>
            <a:pPr marL="850392" lvl="1" indent="-457200">
              <a:buFont typeface="+mj-lt"/>
              <a:buAutoNum type="arabicPeriod"/>
            </a:pPr>
            <a:r>
              <a:rPr lang="en-GB" sz="2000" dirty="0" smtClean="0"/>
              <a:t>Create Comparison elements to document the new customized </a:t>
            </a:r>
            <a:r>
              <a:rPr lang="en-GB" sz="2000" dirty="0" err="1" smtClean="0"/>
              <a:t>QuestionItem</a:t>
            </a:r>
            <a:endParaRPr lang="en-GB" sz="2000" dirty="0" smtClean="0"/>
          </a:p>
          <a:p>
            <a:pPr lvl="1"/>
            <a:endParaRPr lang="nl-NL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sz="800" cap="all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sz="4400" dirty="0" smtClean="0"/>
              <a:t/>
            </a:r>
            <a:br>
              <a:rPr lang="nl-NL" sz="4400" dirty="0" smtClean="0"/>
            </a:br>
            <a:r>
              <a:rPr lang="nl-NL" sz="4400" dirty="0" smtClean="0"/>
              <a:t/>
            </a:r>
            <a:br>
              <a:rPr lang="nl-NL" sz="4400" dirty="0" smtClean="0"/>
            </a:br>
            <a:r>
              <a:rPr lang="nl-NL" sz="4400" dirty="0" err="1" smtClean="0"/>
              <a:t>Reuse</a:t>
            </a:r>
            <a:r>
              <a:rPr lang="nl-NL" sz="4400" dirty="0" smtClean="0"/>
              <a:t> of </a:t>
            </a:r>
            <a:r>
              <a:rPr lang="nl-NL" sz="4400" dirty="0" err="1" smtClean="0"/>
              <a:t>individual</a:t>
            </a:r>
            <a:r>
              <a:rPr lang="nl-NL" sz="4400" dirty="0" smtClean="0"/>
              <a:t> </a:t>
            </a:r>
            <a:r>
              <a:rPr lang="nl-NL" sz="4400" dirty="0" err="1" smtClean="0"/>
              <a:t>questions</a:t>
            </a:r>
            <a:r>
              <a:rPr lang="nl-NL" sz="4400" dirty="0" smtClean="0"/>
              <a:t/>
            </a:r>
            <a:br>
              <a:rPr lang="nl-NL" sz="4400" dirty="0" smtClean="0"/>
            </a:br>
            <a:r>
              <a:rPr lang="en-GB" cap="all" dirty="0" smtClean="0"/>
              <a:t/>
            </a:r>
            <a:br>
              <a:rPr lang="en-GB" cap="all" dirty="0" smtClean="0"/>
            </a:br>
            <a:endParaRPr lang="nl-NL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624078" lvl="0" indent="-514350">
              <a:buFont typeface="+mj-lt"/>
              <a:buAutoNum type="arabicPeriod"/>
            </a:pPr>
            <a:r>
              <a:rPr lang="en-US" sz="2600" dirty="0" smtClean="0"/>
              <a:t>Create a new </a:t>
            </a:r>
            <a:r>
              <a:rPr lang="en-US" sz="2600" dirty="0" err="1" smtClean="0"/>
              <a:t>QuestionScheme</a:t>
            </a:r>
            <a:r>
              <a:rPr lang="en-US" sz="2600" dirty="0" smtClean="0"/>
              <a:t>, a new </a:t>
            </a:r>
            <a:r>
              <a:rPr lang="en-US" sz="2600" dirty="0" err="1" smtClean="0"/>
              <a:t>ControlConstructScheme</a:t>
            </a:r>
            <a:r>
              <a:rPr lang="en-US" sz="2600" dirty="0" smtClean="0"/>
              <a:t> and a new </a:t>
            </a:r>
            <a:r>
              <a:rPr lang="en-US" sz="2600" dirty="0" err="1" smtClean="0"/>
              <a:t>InterviewerInstructionScheme</a:t>
            </a:r>
            <a:endParaRPr lang="en-GB" sz="2600" dirty="0" smtClean="0"/>
          </a:p>
          <a:p>
            <a:pPr marL="624078" lvl="0" indent="-514350">
              <a:buFont typeface="+mj-lt"/>
              <a:buAutoNum type="arabicPeriod"/>
            </a:pPr>
            <a:r>
              <a:rPr lang="en-US" sz="2600" dirty="0" smtClean="0"/>
              <a:t>Use </a:t>
            </a:r>
            <a:r>
              <a:rPr lang="en-US" sz="2600" dirty="0" err="1" smtClean="0"/>
              <a:t>QuestionSchemeReference</a:t>
            </a:r>
            <a:r>
              <a:rPr lang="en-US" sz="2600" dirty="0" smtClean="0"/>
              <a:t>, </a:t>
            </a:r>
            <a:r>
              <a:rPr lang="en-US" sz="2600" dirty="0" err="1" smtClean="0"/>
              <a:t>ControlConstructSchemeReference</a:t>
            </a:r>
            <a:r>
              <a:rPr lang="en-US" sz="2600" dirty="0" smtClean="0"/>
              <a:t> and </a:t>
            </a:r>
            <a:r>
              <a:rPr lang="en-US" sz="2600" dirty="0" err="1" smtClean="0"/>
              <a:t>InterviewerInstructionSchemeReference</a:t>
            </a:r>
            <a:r>
              <a:rPr lang="en-US" sz="2600" dirty="0" smtClean="0"/>
              <a:t> to include the original schemes</a:t>
            </a:r>
            <a:endParaRPr lang="en-GB" sz="2600" dirty="0" smtClean="0"/>
          </a:p>
          <a:p>
            <a:pPr marL="624078" lvl="0" indent="-514350">
              <a:buFont typeface="+mj-lt"/>
              <a:buAutoNum type="arabicPeriod"/>
            </a:pPr>
            <a:r>
              <a:rPr lang="en-US" sz="2600" dirty="0" smtClean="0"/>
              <a:t>Use Exclude for any </a:t>
            </a:r>
            <a:r>
              <a:rPr lang="en-US" sz="2600" dirty="0" err="1" smtClean="0"/>
              <a:t>QuestionItems</a:t>
            </a:r>
            <a:r>
              <a:rPr lang="en-US" sz="2600" dirty="0" smtClean="0"/>
              <a:t>, </a:t>
            </a:r>
            <a:r>
              <a:rPr lang="en-US" sz="2600" dirty="0" err="1" smtClean="0"/>
              <a:t>QuestionConstructs</a:t>
            </a:r>
            <a:r>
              <a:rPr lang="en-US" sz="2600" dirty="0" smtClean="0"/>
              <a:t> or Instructions that are removed</a:t>
            </a:r>
            <a:endParaRPr lang="en-GB" sz="2600" dirty="0" smtClean="0"/>
          </a:p>
          <a:p>
            <a:pPr marL="624078" lvl="0" indent="-514350">
              <a:buFont typeface="+mj-lt"/>
              <a:buAutoNum type="arabicPeriod"/>
            </a:pPr>
            <a:r>
              <a:rPr lang="en-US" sz="2600" dirty="0" smtClean="0"/>
              <a:t>Add any additional </a:t>
            </a:r>
            <a:r>
              <a:rPr lang="en-US" sz="2600" dirty="0" err="1" smtClean="0"/>
              <a:t>QuestionItems</a:t>
            </a:r>
            <a:r>
              <a:rPr lang="en-US" sz="2600" dirty="0" smtClean="0"/>
              <a:t>, </a:t>
            </a:r>
            <a:r>
              <a:rPr lang="en-US" sz="2600" dirty="0" err="1" smtClean="0"/>
              <a:t>QuestionConstructs</a:t>
            </a:r>
            <a:r>
              <a:rPr lang="en-US" sz="2600" dirty="0" smtClean="0"/>
              <a:t> or Instructions to the new schemes.</a:t>
            </a:r>
            <a:endParaRPr lang="en-GB" sz="2600" dirty="0" smtClean="0"/>
          </a:p>
          <a:p>
            <a:pPr marL="624078" lvl="0" indent="-514350">
              <a:buFont typeface="+mj-lt"/>
              <a:buAutoNum type="arabicPeriod"/>
            </a:pPr>
            <a:r>
              <a:rPr lang="en-US" sz="2600" dirty="0" smtClean="0"/>
              <a:t>Modify the items which should be translated, e.g. </a:t>
            </a:r>
            <a:r>
              <a:rPr lang="en-US" sz="2600" dirty="0" err="1" smtClean="0"/>
              <a:t>QuestionItem</a:t>
            </a:r>
            <a:r>
              <a:rPr lang="en-US" sz="2600" dirty="0" smtClean="0"/>
              <a:t> or Instruction</a:t>
            </a:r>
            <a:endParaRPr lang="en-GB" sz="2600" dirty="0" smtClean="0"/>
          </a:p>
          <a:p>
            <a:pPr marL="850392" lvl="1" indent="-457200">
              <a:buFont typeface="+mj-lt"/>
              <a:buAutoNum type="alphaLcPeriod"/>
            </a:pPr>
            <a:r>
              <a:rPr lang="en-US" sz="2600" dirty="0" smtClean="0"/>
              <a:t>Exclude the original </a:t>
            </a:r>
            <a:r>
              <a:rPr lang="en-US" sz="2600" dirty="0" err="1" smtClean="0"/>
              <a:t>QuestionItem</a:t>
            </a:r>
            <a:r>
              <a:rPr lang="en-US" sz="2600" dirty="0" smtClean="0"/>
              <a:t> or Instruction as described above</a:t>
            </a:r>
            <a:endParaRPr lang="en-GB" sz="2600" dirty="0" smtClean="0"/>
          </a:p>
          <a:p>
            <a:pPr marL="850392" lvl="1" indent="-457200">
              <a:buFont typeface="+mj-lt"/>
              <a:buAutoNum type="alphaLcPeriod"/>
            </a:pPr>
            <a:r>
              <a:rPr lang="en-US" sz="2600" dirty="0" smtClean="0"/>
              <a:t>Add new </a:t>
            </a:r>
            <a:r>
              <a:rPr lang="en-US" sz="2600" dirty="0" err="1" smtClean="0"/>
              <a:t>QuestionItems</a:t>
            </a:r>
            <a:r>
              <a:rPr lang="en-US" sz="2600" dirty="0" smtClean="0"/>
              <a:t> or Instructions with the new translations as described in step 4 of the generic model.</a:t>
            </a:r>
            <a:endParaRPr lang="en-GB" sz="2600" dirty="0" smtClean="0"/>
          </a:p>
          <a:p>
            <a:pPr marL="850392" lvl="1" indent="-457200">
              <a:buFont typeface="+mj-lt"/>
              <a:buAutoNum type="alphaLcPeriod"/>
            </a:pPr>
            <a:r>
              <a:rPr lang="en-US" sz="2600" dirty="0" smtClean="0"/>
              <a:t>Use the Comparison element to document the modifications. This is described in the following step.</a:t>
            </a:r>
            <a:endParaRPr lang="en-GB" sz="2600" dirty="0" smtClean="0"/>
          </a:p>
          <a:p>
            <a:pPr marL="624078" lvl="0" indent="-514350">
              <a:buFont typeface="+mj-lt"/>
              <a:buAutoNum type="arabicPeriod"/>
            </a:pPr>
            <a:r>
              <a:rPr lang="en-US" sz="2600" dirty="0" smtClean="0"/>
              <a:t>Create Comparison elements to document the </a:t>
            </a:r>
            <a:r>
              <a:rPr lang="en-US" sz="2600" dirty="0" err="1" smtClean="0"/>
              <a:t>QuestionItems</a:t>
            </a:r>
            <a:r>
              <a:rPr lang="en-US" sz="2600" dirty="0" smtClean="0"/>
              <a:t> or Instructions that have been modified.</a:t>
            </a:r>
            <a:endParaRPr lang="en-GB" sz="2600" dirty="0" smtClean="0"/>
          </a:p>
          <a:p>
            <a:pPr marL="624078" indent="-514350">
              <a:buNone/>
            </a:pPr>
            <a:r>
              <a:rPr lang="en-US" sz="2800" dirty="0" smtClean="0"/>
              <a:t> </a:t>
            </a:r>
            <a:endParaRPr lang="en-GB" sz="2800" dirty="0" smtClean="0"/>
          </a:p>
          <a:p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sz="800" cap="all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Reuse a battery of questions</a:t>
            </a:r>
            <a:r>
              <a:rPr lang="en-GB" dirty="0" smtClean="0"/>
              <a:t/>
            </a:r>
            <a:br>
              <a:rPr lang="en-GB" dirty="0" smtClean="0"/>
            </a:br>
            <a:endParaRPr lang="nl-NL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/>
          </a:p>
          <a:p>
            <a:r>
              <a:rPr lang="en-US" sz="2000" dirty="0" smtClean="0"/>
              <a:t>No support in DDI for referencing Concepts for an entire </a:t>
            </a:r>
            <a:r>
              <a:rPr lang="en-US" sz="2000" dirty="0" err="1" smtClean="0"/>
              <a:t>ControlConstructScheme</a:t>
            </a:r>
            <a:r>
              <a:rPr lang="en-US" sz="2000" dirty="0" smtClean="0"/>
              <a:t>  (block of questions)</a:t>
            </a:r>
          </a:p>
          <a:p>
            <a:r>
              <a:rPr lang="en-US" sz="2000" dirty="0" smtClean="0"/>
              <a:t>There is no Include element in </a:t>
            </a:r>
            <a:r>
              <a:rPr lang="en-US" sz="2000" dirty="0" err="1" smtClean="0"/>
              <a:t>QuestionSchemeReference</a:t>
            </a:r>
            <a:endParaRPr lang="en-US" sz="2000" dirty="0" smtClean="0"/>
          </a:p>
          <a:p>
            <a:r>
              <a:rPr lang="en-US" sz="2000" dirty="0" smtClean="0"/>
              <a:t>There is no Exclude element in </a:t>
            </a:r>
            <a:r>
              <a:rPr lang="en-US" sz="2000" dirty="0" err="1" smtClean="0"/>
              <a:t>CodeSchemeReference</a:t>
            </a:r>
            <a:endParaRPr lang="en-US" sz="2000" dirty="0" smtClean="0"/>
          </a:p>
          <a:p>
            <a:r>
              <a:rPr lang="en-US" sz="2000" dirty="0" smtClean="0"/>
              <a:t>The definition of a </a:t>
            </a:r>
            <a:r>
              <a:rPr lang="en-US" sz="2000" dirty="0" err="1" smtClean="0"/>
              <a:t>QuestionScheme</a:t>
            </a:r>
            <a:r>
              <a:rPr lang="en-US" sz="2000" dirty="0" smtClean="0"/>
              <a:t> should change from (</a:t>
            </a:r>
            <a:r>
              <a:rPr lang="en-US" sz="2000" dirty="0" err="1" smtClean="0"/>
              <a:t>QuestionItem</a:t>
            </a:r>
            <a:r>
              <a:rPr lang="en-US" sz="2000" dirty="0" smtClean="0"/>
              <a:t> | </a:t>
            </a:r>
            <a:r>
              <a:rPr lang="en-US" sz="2000" dirty="0" err="1" smtClean="0"/>
              <a:t>MultipleQuestionItem</a:t>
            </a:r>
            <a:r>
              <a:rPr lang="en-US" sz="2000" dirty="0" smtClean="0"/>
              <a:t>)+  to</a:t>
            </a:r>
          </a:p>
          <a:p>
            <a:pPr>
              <a:buNone/>
            </a:pPr>
            <a:r>
              <a:rPr lang="en-US" sz="2000" dirty="0" smtClean="0"/>
              <a:t>	(</a:t>
            </a:r>
            <a:r>
              <a:rPr lang="en-US" sz="2000" dirty="0" err="1" smtClean="0"/>
              <a:t>QuestionItem</a:t>
            </a:r>
            <a:r>
              <a:rPr lang="en-US" sz="2000" dirty="0" smtClean="0"/>
              <a:t> | </a:t>
            </a:r>
            <a:r>
              <a:rPr lang="en-US" sz="2000" dirty="0" err="1" smtClean="0"/>
              <a:t>MultipleQuestionItem</a:t>
            </a:r>
            <a:r>
              <a:rPr lang="en-US" sz="2000" dirty="0" smtClean="0"/>
              <a:t>)*</a:t>
            </a:r>
          </a:p>
          <a:p>
            <a:pPr>
              <a:buFont typeface="Wingdings" pitchFamily="2" charset="2"/>
              <a:buChar char="Ø"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GB" sz="2000" dirty="0" smtClean="0"/>
          </a:p>
          <a:p>
            <a:endParaRPr lang="en-GB" sz="2000" dirty="0" smtClean="0"/>
          </a:p>
          <a:p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sz="800" cap="all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3800" dirty="0" smtClean="0"/>
              <a:t>Limitations in DDI regarding the use of Question Banks (1)</a:t>
            </a:r>
            <a:r>
              <a:rPr lang="en-GB" dirty="0" smtClean="0"/>
              <a:t/>
            </a:r>
            <a:br>
              <a:rPr lang="en-GB" dirty="0" smtClean="0"/>
            </a:br>
            <a:endParaRPr lang="nl-NL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 smtClean="0"/>
          </a:p>
          <a:p>
            <a:r>
              <a:rPr lang="en-US" sz="2000" dirty="0" smtClean="0"/>
              <a:t>In </a:t>
            </a:r>
            <a:r>
              <a:rPr lang="en-US" sz="2000" dirty="0" err="1" smtClean="0"/>
              <a:t>ItemMap</a:t>
            </a:r>
            <a:r>
              <a:rPr lang="en-US" sz="2000" dirty="0" smtClean="0"/>
              <a:t>, the </a:t>
            </a:r>
            <a:r>
              <a:rPr lang="en-US" sz="2000" dirty="0" err="1" smtClean="0"/>
              <a:t>SourceItem</a:t>
            </a:r>
            <a:r>
              <a:rPr lang="en-US" sz="2000" dirty="0" smtClean="0"/>
              <a:t> and </a:t>
            </a:r>
            <a:r>
              <a:rPr lang="en-US" sz="2000" dirty="0" err="1" smtClean="0"/>
              <a:t>TargetItem</a:t>
            </a:r>
            <a:r>
              <a:rPr lang="en-US" sz="2000" dirty="0" smtClean="0"/>
              <a:t> should be references (including a version)</a:t>
            </a:r>
          </a:p>
          <a:p>
            <a:r>
              <a:rPr lang="en-US" sz="2000" dirty="0" smtClean="0"/>
              <a:t>It is not possible to include a Comparison element in a </a:t>
            </a:r>
            <a:r>
              <a:rPr lang="en-US" sz="2000" dirty="0" err="1" smtClean="0"/>
              <a:t>StudyUnit</a:t>
            </a:r>
            <a:r>
              <a:rPr lang="en-US" sz="2000" dirty="0" smtClean="0"/>
              <a:t>.  Ideally, you would also include a </a:t>
            </a:r>
            <a:r>
              <a:rPr lang="en-US" sz="2000" dirty="0" err="1" smtClean="0"/>
              <a:t>QuestionMap</a:t>
            </a:r>
            <a:r>
              <a:rPr lang="en-US" sz="2000" dirty="0" smtClean="0"/>
              <a:t> in a </a:t>
            </a:r>
            <a:r>
              <a:rPr lang="en-US" sz="2000" dirty="0" err="1" smtClean="0"/>
              <a:t>QuestionScheme</a:t>
            </a:r>
            <a:endParaRPr lang="en-US" sz="2000" dirty="0" smtClean="0"/>
          </a:p>
          <a:p>
            <a:r>
              <a:rPr lang="en-US" sz="2000" dirty="0" err="1" smtClean="0"/>
              <a:t>IncludedCodeReference</a:t>
            </a:r>
            <a:r>
              <a:rPr lang="en-US" sz="2000" dirty="0" smtClean="0"/>
              <a:t> is currently a string, but it should be something better for referring to a specific item/version.</a:t>
            </a:r>
            <a:endParaRPr lang="en-GB" sz="2000" dirty="0" smtClean="0"/>
          </a:p>
          <a:p>
            <a:r>
              <a:rPr lang="en-US" sz="2000" dirty="0" smtClean="0"/>
              <a:t>It is not possible to “extend”/”modify” elements</a:t>
            </a:r>
            <a:endParaRPr lang="nl-NL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 sz="800" cap="all" smtClean="0"/>
              <a:t>EDDI Gothenburg 5-6 December 2011 </a:t>
            </a:r>
            <a:endParaRPr lang="nl-NL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 smtClean="0"/>
              <a:t>Limitations in DDI regarding the use of Question Banks (2)</a:t>
            </a:r>
            <a:endParaRPr lang="nl-NL" sz="3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EDDI Gothenburg 5-6 December 2011 </a:t>
            </a:r>
            <a:endParaRPr lang="nl-NL"/>
          </a:p>
        </p:txBody>
      </p:sp>
      <p:sp>
        <p:nvSpPr>
          <p:cNvPr id="3" name="Rectangle 2"/>
          <p:cNvSpPr/>
          <p:nvPr/>
        </p:nvSpPr>
        <p:spPr>
          <a:xfrm>
            <a:off x="251520" y="188640"/>
            <a:ext cx="4572000" cy="15081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nl-NL" sz="3700" b="1" dirty="0" err="1" smtClean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ea typeface="+mj-ea"/>
                <a:cs typeface="+mj-cs"/>
              </a:rPr>
              <a:t>Thank</a:t>
            </a:r>
            <a:r>
              <a:rPr lang="nl-NL" sz="3700" b="1" dirty="0" smtClean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ea typeface="+mj-ea"/>
                <a:cs typeface="+mj-cs"/>
              </a:rPr>
              <a:t> </a:t>
            </a:r>
            <a:r>
              <a:rPr lang="nl-NL" sz="3700" b="1" dirty="0" err="1" smtClean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ea typeface="+mj-ea"/>
                <a:cs typeface="+mj-cs"/>
              </a:rPr>
              <a:t>you</a:t>
            </a:r>
            <a:r>
              <a:rPr lang="nl-NL" sz="3700" b="1" dirty="0" smtClean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ea typeface="+mj-ea"/>
                <a:cs typeface="+mj-cs"/>
              </a:rPr>
              <a:t>!</a:t>
            </a:r>
            <a:br>
              <a:rPr lang="nl-NL" sz="3700" b="1" dirty="0" smtClean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ea typeface="+mj-ea"/>
                <a:cs typeface="+mj-cs"/>
              </a:rPr>
            </a:br>
            <a:r>
              <a:rPr lang="nl-NL" sz="3700" b="1" dirty="0" err="1" smtClean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ea typeface="+mj-ea"/>
                <a:cs typeface="+mj-cs"/>
              </a:rPr>
              <a:t>Any</a:t>
            </a:r>
            <a:r>
              <a:rPr lang="nl-NL" sz="3700" b="1" dirty="0" smtClean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ea typeface="+mj-ea"/>
                <a:cs typeface="+mj-cs"/>
              </a:rPr>
              <a:t> </a:t>
            </a:r>
            <a:r>
              <a:rPr lang="nl-NL" sz="3700" b="1" dirty="0" err="1" smtClean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ea typeface="+mj-ea"/>
                <a:cs typeface="+mj-cs"/>
              </a:rPr>
              <a:t>questions</a:t>
            </a:r>
            <a:r>
              <a:rPr lang="nl-NL" sz="3700" b="1" dirty="0" smtClean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ea typeface="+mj-ea"/>
                <a:cs typeface="+mj-cs"/>
              </a:rPr>
              <a:t>?</a:t>
            </a:r>
            <a:br>
              <a:rPr lang="nl-NL" sz="3700" b="1" dirty="0" smtClean="0">
                <a:solidFill>
                  <a:srgbClr val="464646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ea typeface="+mj-ea"/>
                <a:cs typeface="+mj-cs"/>
              </a:rPr>
            </a:br>
            <a:endParaRPr lang="nl-NL" dirty="0"/>
          </a:p>
        </p:txBody>
      </p:sp>
      <p:pic>
        <p:nvPicPr>
          <p:cNvPr id="4" name="Picture 3" descr="Dagstuhl Lion"/>
          <p:cNvPicPr/>
          <p:nvPr/>
        </p:nvPicPr>
        <p:blipFill>
          <a:blip r:embed="rId2" cstate="print">
            <a:extLst>
              <a:ext uri="{28A0092B-C50C-407E-A947-70E740481C1C}">
                <a14:useLocalDpi xmlns:lc="http://schemas.openxmlformats.org/drawingml/2006/lockedCanvas" xmlns:pic="http://schemas.openxmlformats.org/drawingml/2006/picture" xmlns="" xmlns:wpc="http://schemas.microsoft.com/office/word/2010/wordprocessingCanvas" xmlns:mc="http://schemas.openxmlformats.org/markup-compatibility/2006" xmlns:o="urn:schemas-microsoft-com:office:office" xmlns:v="urn:schemas-microsoft-com:vml" xmlns:wp14="http://schemas.microsoft.com/office/word/2010/wordprocessingDrawing" xmlns:w10="urn:schemas-microsoft-com:office:word" xmlns:w="http://schemas.openxmlformats.org/wordprocessingml/2006/main" xmlns:w14="http://schemas.microsoft.com/office/word/2010/wordml" xmlns:wpg="http://schemas.microsoft.com/office/word/2010/wordprocessingGroup" xmlns:wpi="http://schemas.microsoft.com/office/word/2010/wordprocessingInk" xmlns:wps="http://schemas.microsoft.com/office/word/2010/wordprocessingShape" xmlns:a14="http://schemas.microsoft.com/office/drawing/2010/main" xmlns:wne="http://schemas.microsoft.com/office/word/2006/wordml" xmlns:wp="http://schemas.openxmlformats.org/drawingml/2006/wordprocessingDrawing" xmlns:m="http://schemas.openxmlformats.org/officeDocument/2006/math" xmlns:ve="http://schemas.openxmlformats.org/markup-compatibility/2006" val="0"/>
              </a:ext>
            </a:extLst>
          </a:blip>
          <a:srcRect/>
          <a:stretch>
            <a:fillRect/>
          </a:stretch>
        </p:blipFill>
        <p:spPr bwMode="auto">
          <a:xfrm>
            <a:off x="2110422" y="1642745"/>
            <a:ext cx="4923155" cy="3572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913</Words>
  <Application>Microsoft Office PowerPoint</Application>
  <PresentationFormat>On-screen Show (4:3)</PresentationFormat>
  <Paragraphs>131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Concourse</vt:lpstr>
      <vt:lpstr>Structuring Metadata for Reuse   Building Foundational Metadata</vt:lpstr>
      <vt:lpstr>Contributors</vt:lpstr>
      <vt:lpstr>Structuring Metadata for Reuse   Building Foundational Metadata</vt:lpstr>
      <vt:lpstr>Reuse of metadata</vt:lpstr>
      <vt:lpstr> Publishing Metadata using Resource Packages </vt:lpstr>
      <vt:lpstr>Classifications</vt:lpstr>
      <vt:lpstr>  Customization of Published Items </vt:lpstr>
      <vt:lpstr> Steps to Customize a DDI Scheme </vt:lpstr>
      <vt:lpstr> Customizing a CategoryScheme, ConceptScheme, QuestionScheme, UniverseScheme, or VariableScheme </vt:lpstr>
      <vt:lpstr> Customizing a CodeScheme </vt:lpstr>
      <vt:lpstr> How to Reference Elements in a Customized Scheme </vt:lpstr>
      <vt:lpstr> Example: Use of a Question Bank  </vt:lpstr>
      <vt:lpstr>  Reuse of individual questions  </vt:lpstr>
      <vt:lpstr> Reuse a battery of questions </vt:lpstr>
      <vt:lpstr> Limitations in DDI regarding the use of Question Banks (1) </vt:lpstr>
      <vt:lpstr>Limitations in DDI regarding the use of Question Banks (2)</vt:lpstr>
      <vt:lpstr>Slide 17</vt:lpstr>
    </vt:vector>
  </TitlesOfParts>
  <Company>KNAW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Structuring Metadata for Reuse   Building Foundational Metadata</dc:title>
  <dc:creator>Marion Wittenberg</dc:creator>
  <cp:lastModifiedBy>Marion Wittenberg</cp:lastModifiedBy>
  <cp:revision>40</cp:revision>
  <dcterms:created xsi:type="dcterms:W3CDTF">2011-11-29T16:40:48Z</dcterms:created>
  <dcterms:modified xsi:type="dcterms:W3CDTF">2011-12-06T09:19:59Z</dcterms:modified>
</cp:coreProperties>
</file>