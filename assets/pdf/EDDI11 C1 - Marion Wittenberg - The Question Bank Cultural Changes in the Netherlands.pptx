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1" r:id="rId2"/>
    <p:sldId id="383" r:id="rId3"/>
    <p:sldId id="403" r:id="rId4"/>
    <p:sldId id="384" r:id="rId5"/>
    <p:sldId id="385" r:id="rId6"/>
    <p:sldId id="386" r:id="rId7"/>
    <p:sldId id="387" r:id="rId8"/>
    <p:sldId id="393" r:id="rId9"/>
    <p:sldId id="394" r:id="rId10"/>
    <p:sldId id="405" r:id="rId11"/>
    <p:sldId id="406" r:id="rId12"/>
    <p:sldId id="407" r:id="rId13"/>
    <p:sldId id="408" r:id="rId14"/>
    <p:sldId id="409" r:id="rId15"/>
    <p:sldId id="399" r:id="rId16"/>
    <p:sldId id="404" r:id="rId17"/>
    <p:sldId id="260" r:id="rId1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A7D4"/>
    <a:srgbClr val="DC241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18" y="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-3126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2D76B6E-5CE4-164A-BE3B-57676BD9A07A}" type="datetimeFigureOut">
              <a:rPr lang="nl-NL"/>
              <a:pPr>
                <a:defRPr/>
              </a:pPr>
              <a:t>6-12-2011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1A6A351-9C7E-3847-9899-0BA8D16DB10B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="" xmlns:p14="http://schemas.microsoft.com/office/powerpoint/2010/main" val="4209928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6979FAE-DF18-2A41-A8AA-9ABF1E1277FB}" type="datetimeFigureOut">
              <a:rPr lang="nl-NL"/>
              <a:pPr>
                <a:defRPr/>
              </a:pPr>
              <a:t>6-12-2011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NL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505F575-FC29-1042-B739-38143C73CC98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="" xmlns:p14="http://schemas.microsoft.com/office/powerpoint/2010/main" val="3909653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>
              <a:latin typeface="Calibri" charset="0"/>
            </a:endParaRPr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49C55B-269B-1E42-8944-B8B2BFB371F5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>
              <a:latin typeface="Calibri" charset="0"/>
            </a:endParaRP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5B0F85-5E8E-084C-8408-2158170ED748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dans.knaw.nl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Logo 2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615406" y="2564606"/>
            <a:ext cx="68738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/>
          <p:cNvSpPr txBox="1">
            <a:spLocks noChangeArrowheads="1"/>
          </p:cNvSpPr>
          <p:nvPr userDrawn="1"/>
        </p:nvSpPr>
        <p:spPr bwMode="auto">
          <a:xfrm>
            <a:off x="2049463" y="6345238"/>
            <a:ext cx="299417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100" dirty="0">
                <a:latin typeface="Verdana" charset="0"/>
                <a:cs typeface="Verdana" charset="0"/>
              </a:rPr>
              <a:t>DANS is </a:t>
            </a:r>
            <a:r>
              <a:rPr lang="en-US" sz="1100" dirty="0" smtClean="0">
                <a:latin typeface="Verdana" charset="0"/>
                <a:cs typeface="Verdana" charset="0"/>
              </a:rPr>
              <a:t>an institute of </a:t>
            </a:r>
            <a:r>
              <a:rPr lang="en-US" sz="1100" dirty="0">
                <a:latin typeface="Verdana" charset="0"/>
                <a:cs typeface="Verdana" charset="0"/>
              </a:rPr>
              <a:t>KNAW </a:t>
            </a:r>
            <a:r>
              <a:rPr lang="en-US" sz="1100" dirty="0" smtClean="0">
                <a:latin typeface="Verdana" charset="0"/>
                <a:cs typeface="Verdana" charset="0"/>
              </a:rPr>
              <a:t>and </a:t>
            </a:r>
            <a:r>
              <a:rPr lang="en-US" sz="1100" dirty="0">
                <a:latin typeface="Verdana" charset="0"/>
                <a:cs typeface="Verdana" charset="0"/>
              </a:rPr>
              <a:t>NWO</a:t>
            </a:r>
          </a:p>
        </p:txBody>
      </p: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6907213" y="6211888"/>
            <a:ext cx="2236787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nl-NL"/>
              <a:t> </a:t>
            </a:r>
          </a:p>
          <a:p>
            <a:r>
              <a:rPr lang="nl-NL"/>
              <a:t> </a:t>
            </a:r>
          </a:p>
        </p:txBody>
      </p:sp>
      <p:sp>
        <p:nvSpPr>
          <p:cNvPr id="6" name="TextBox 8"/>
          <p:cNvSpPr txBox="1">
            <a:spLocks noChangeArrowheads="1"/>
          </p:cNvSpPr>
          <p:nvPr userDrawn="1"/>
        </p:nvSpPr>
        <p:spPr bwMode="auto">
          <a:xfrm>
            <a:off x="1943100" y="-12700"/>
            <a:ext cx="720090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endParaRPr lang="en-US"/>
          </a:p>
          <a:p>
            <a:r>
              <a:rPr lang="en-US" sz="2400" i="1">
                <a:solidFill>
                  <a:srgbClr val="FF0000"/>
                </a:solidFill>
                <a:latin typeface="Verdana" charset="0"/>
                <a:cs typeface="Verdana" charset="0"/>
              </a:rPr>
              <a:t>Data Archiving and Networked Services</a:t>
            </a:r>
          </a:p>
          <a:p>
            <a:endParaRPr lang="en-US" sz="2000">
              <a:solidFill>
                <a:srgbClr val="FF0000"/>
              </a:solidFill>
              <a:latin typeface="Verdana" charset="0"/>
              <a:cs typeface="Verdana" charset="0"/>
            </a:endParaRPr>
          </a:p>
        </p:txBody>
      </p:sp>
      <p:pic>
        <p:nvPicPr>
          <p:cNvPr id="7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638" y="6289675"/>
            <a:ext cx="237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1981200" y="1504950"/>
            <a:ext cx="6781800" cy="3194050"/>
          </a:xfrm>
        </p:spPr>
        <p:txBody>
          <a:bodyPr>
            <a:normAutofit fontScale="90000"/>
          </a:bodyPr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nl-NL" dirty="0" smtClean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B38AA-4C0E-4EC7-B17D-2D4B934F88ED}" type="datetime1">
              <a:rPr lang="en-US" smtClean="0"/>
              <a:pPr>
                <a:defRPr/>
              </a:pPr>
              <a:t>12/6/2011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32FF-7FAC-C045-9D6C-1F4E85C68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898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7476"/>
            <a:ext cx="8229600" cy="92890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2579"/>
            <a:ext cx="8229600" cy="4013584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24931-CE27-472B-9730-1D1862F536F6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B7E43-AC2A-D147-BDA1-6920908EB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300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atste slid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 userDrawn="1"/>
        </p:nvSpPr>
        <p:spPr>
          <a:xfrm>
            <a:off x="0" y="6273800"/>
            <a:ext cx="9296400" cy="623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nl-NL" sz="1000" b="1" dirty="0" smtClean="0">
                <a:solidFill>
                  <a:schemeClr val="tx1"/>
                </a:solidFill>
                <a:latin typeface="Verdana"/>
                <a:cs typeface="Verdana"/>
              </a:rPr>
              <a:t>Data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Archiving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and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Networked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smtClean="0">
                <a:solidFill>
                  <a:schemeClr val="tx1"/>
                </a:solidFill>
                <a:latin typeface="Verdana"/>
                <a:cs typeface="Verdana"/>
              </a:rPr>
              <a:t>Services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Anna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van Saksenlaan 10, 2593 HT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The</a:t>
            </a:r>
            <a:r>
              <a:rPr lang="nl-NL" sz="1000" baseline="0" dirty="0" smtClean="0">
                <a:solidFill>
                  <a:schemeClr val="tx1"/>
                </a:solidFill>
                <a:latin typeface="Verdana"/>
                <a:cs typeface="Verdana"/>
              </a:rPr>
              <a:t> Hague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. P.O. Box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93067, 2509 AB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The</a:t>
            </a:r>
            <a:r>
              <a:rPr lang="nl-NL" sz="1000" baseline="0" dirty="0" smtClean="0">
                <a:solidFill>
                  <a:schemeClr val="tx1"/>
                </a:solidFill>
                <a:latin typeface="Verdana"/>
                <a:cs typeface="Verdana"/>
              </a:rPr>
              <a:t> Hague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en-US" sz="1000" dirty="0">
              <a:solidFill>
                <a:schemeClr val="tx1"/>
              </a:solidFill>
              <a:latin typeface="Verdana"/>
              <a:cs typeface="Verdana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T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+31 (0)70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3446 484, F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+31 (0)70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3446 482, E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  <a:hlinkClick r:id="rId3"/>
              </a:rPr>
              <a:t>info@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  <a:hlinkClick r:id="rId3"/>
              </a:rPr>
              <a:t>dans.knaw.nl</a:t>
            </a:r>
            <a:endParaRPr lang="en-US" sz="28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6383"/>
            <a:ext cx="8229600" cy="928907"/>
          </a:xfrm>
        </p:spPr>
        <p:txBody>
          <a:bodyPr>
            <a:no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483" y="3673365"/>
            <a:ext cx="8702565" cy="2452797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400"/>
            </a:lvl1pPr>
            <a:lvl2pPr marL="457200" indent="0" algn="ctr">
              <a:buFontTx/>
              <a:buNone/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72D98-9244-4CFB-8900-B50FA538A8AA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5C4D9-B747-FD4E-8D99-458C2DDD44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190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6E844-8B38-469F-B9EC-8C31C61CDD6C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608AE-2E4D-8A44-9F60-FAEE5C011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9989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B5003-D584-489C-8411-62067F14F675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10E66-0658-1247-9915-32155D1E9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1174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5128F-20FB-4E74-A322-537E290D8C62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66647-1CF8-8743-AEBB-3B236941D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5725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E2A77-51EA-4345-BA9D-311D907227D3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C414D-8D35-F74B-AFF5-C3BA41C4F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9146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1246188" y="2192338"/>
            <a:ext cx="72628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latin typeface="Verdana" charset="0"/>
                <a:cs typeface="Verdana" charset="0"/>
              </a:rPr>
              <a:t>Only use this slide to present a screenshot of an application. As no style is applied, the screenshot can take up the whole slide. For all other information please use the slide with preset style!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4E876-C0CD-4DB0-B051-BB24926F86CE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D6838-065E-BB41-BB13-0C8BC9739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7400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19A41-9FF1-4CD0-949E-B2F1A8842495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C2E42-AC15-564A-979E-BE0F02AA3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5052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1CCA5-EB55-4FA0-8AB6-242D6140686D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9415E-8004-2945-95CB-D3D10B7F8B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4748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C74A2-C0D7-4F43-870C-00884330F410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89C31-EF1B-B749-BCA1-321E28BB7D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2658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EBAE6-FE16-4663-ACF3-85641BB62166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FDFB0-880F-A54A-AC4E-953B3A110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5133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ige driehoek 9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Afbeelding 5" descr="titeldiarood_eng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el 8"/>
          <p:cNvSpPr>
            <a:spLocks noGrp="1"/>
          </p:cNvSpPr>
          <p:nvPr>
            <p:ph type="ctrTitle"/>
          </p:nvPr>
        </p:nvSpPr>
        <p:spPr>
          <a:xfrm>
            <a:off x="1835696" y="908721"/>
            <a:ext cx="6622504" cy="2673642"/>
          </a:xfrm>
        </p:spPr>
        <p:txBody>
          <a:bodyPr anchor="b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7" name="Ondertitel 16"/>
          <p:cNvSpPr>
            <a:spLocks noGrp="1"/>
          </p:cNvSpPr>
          <p:nvPr>
            <p:ph type="subTitle" idx="1"/>
          </p:nvPr>
        </p:nvSpPr>
        <p:spPr>
          <a:xfrm>
            <a:off x="1835696" y="3611606"/>
            <a:ext cx="6622504" cy="2049641"/>
          </a:xfrm>
          <a:ln>
            <a:noFill/>
          </a:ln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B031C5E-07D5-4D33-9252-8029E25A2CED}" type="datetime1">
              <a:rPr lang="en-US" smtClean="0"/>
              <a:pPr>
                <a:defRPr/>
              </a:pPr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B637B53-C177-094B-90DA-0399484299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6" descr="logo 2.eps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288" y="6403975"/>
            <a:ext cx="15430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65" r:id="rId4"/>
    <p:sldLayoutId id="2147483666" r:id="rId5"/>
    <p:sldLayoutId id="2147483667" r:id="rId6"/>
    <p:sldLayoutId id="2147483668" r:id="rId7"/>
    <p:sldLayoutId id="2147483676" r:id="rId8"/>
    <p:sldLayoutId id="2147483669" r:id="rId9"/>
    <p:sldLayoutId id="2147483670" r:id="rId10"/>
    <p:sldLayoutId id="2147483671" r:id="rId11"/>
    <p:sldLayoutId id="2147483672" r:id="rId12"/>
    <p:sldLayoutId id="2147483678" r:id="rId13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Verdana"/>
          <a:ea typeface="ＭＳ Ｐゴシック" charset="0"/>
          <a:cs typeface="Verdan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Verdana"/>
          <a:ea typeface="ＭＳ Ｐゴシック" charset="0"/>
          <a:cs typeface="Verdana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cid:image001.gif@01CB9880.0FA7EB90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7" descr="Logo 2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-2615406" y="2564606"/>
            <a:ext cx="68738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8"/>
          <p:cNvSpPr txBox="1">
            <a:spLocks noChangeArrowheads="1"/>
          </p:cNvSpPr>
          <p:nvPr/>
        </p:nvSpPr>
        <p:spPr bwMode="auto">
          <a:xfrm>
            <a:off x="1943100" y="-12700"/>
            <a:ext cx="720090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endParaRPr lang="en-US" dirty="0"/>
          </a:p>
          <a:p>
            <a:r>
              <a:rPr lang="en-US" sz="2400" i="1" dirty="0">
                <a:solidFill>
                  <a:srgbClr val="FF0000"/>
                </a:solidFill>
                <a:latin typeface="Verdana" charset="0"/>
                <a:cs typeface="Verdana" charset="0"/>
              </a:rPr>
              <a:t>Data Archiving and Networked Services</a:t>
            </a:r>
          </a:p>
          <a:p>
            <a:endParaRPr lang="en-US" sz="2000" dirty="0">
              <a:solidFill>
                <a:srgbClr val="FF0000"/>
              </a:solidFill>
              <a:latin typeface="Verdana" charset="0"/>
              <a:cs typeface="Verdana" charset="0"/>
            </a:endParaRPr>
          </a:p>
        </p:txBody>
      </p:sp>
      <p:sp>
        <p:nvSpPr>
          <p:cNvPr id="13317" name="Titel 1"/>
          <p:cNvSpPr>
            <a:spLocks noGrp="1"/>
          </p:cNvSpPr>
          <p:nvPr>
            <p:ph type="ctrTitle"/>
          </p:nvPr>
        </p:nvSpPr>
        <p:spPr>
          <a:xfrm>
            <a:off x="1981200" y="1800224"/>
            <a:ext cx="6781800" cy="4267201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/>
              <a:t>The Question Bank</a:t>
            </a:r>
            <a:br>
              <a:rPr lang="en-US" sz="4000" dirty="0" smtClean="0"/>
            </a:br>
            <a:r>
              <a:rPr lang="en-US" sz="4000" dirty="0" smtClean="0"/>
              <a:t>Cultural Changes </a:t>
            </a:r>
            <a:br>
              <a:rPr lang="en-US" sz="4000" dirty="0" smtClean="0"/>
            </a:br>
            <a:r>
              <a:rPr lang="en-US" sz="4000" dirty="0" smtClean="0"/>
              <a:t>in the Netherlands</a:t>
            </a:r>
            <a:br>
              <a:rPr lang="en-US" sz="4000" dirty="0" smtClean="0"/>
            </a:br>
            <a:r>
              <a:rPr lang="en-US" sz="2667" dirty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667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Marion Wittenberg</a:t>
            </a:r>
            <a:br>
              <a:rPr lang="en-US" sz="22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Project manager Social Sciences DANS</a:t>
            </a:r>
            <a:r>
              <a:rPr lang="en-US" sz="2200" dirty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2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200" dirty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200" dirty="0">
                <a:latin typeface="Verdana" charset="0"/>
                <a:ea typeface="Verdana" charset="0"/>
                <a:cs typeface="Verdana" charset="0"/>
              </a:rPr>
            </a:br>
            <a:r>
              <a:rPr lang="nl-NL" sz="2200" dirty="0" smtClean="0"/>
              <a:t/>
            </a:r>
            <a:br>
              <a:rPr lang="nl-NL" sz="2200" dirty="0" smtClean="0"/>
            </a:br>
            <a:endParaRPr lang="nl-NL" sz="1600" dirty="0" smtClean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5" name="Picture 3" descr="plaatj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33569" y="2171700"/>
            <a:ext cx="2110431" cy="1581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DANS collections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Background of the study Cultural Changes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The Question database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The new Question databank 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DDI issues</a:t>
            </a: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Outline of my presentation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7172" name="Picture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06958" y="5181600"/>
            <a:ext cx="223704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A7D4"/>
                </a:solidFill>
              </a:rPr>
              <a:t>DANS collections</a:t>
            </a:r>
            <a:endParaRPr lang="en-GB" dirty="0">
              <a:solidFill>
                <a:srgbClr val="00A7D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906383"/>
            <a:ext cx="8610600" cy="4013584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GB" sz="2000" dirty="0" smtClean="0"/>
              <a:t>DANS Electronic Archiving System – EASY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2000" dirty="0" smtClean="0"/>
              <a:t>Social sciences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Archaeology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Oral History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History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Language and Literature Studies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Geo spatial sciences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In the future:</a:t>
            </a:r>
          </a:p>
          <a:p>
            <a:pPr lvl="2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sz="1400" dirty="0" smtClean="0"/>
              <a:t>Biology</a:t>
            </a:r>
          </a:p>
          <a:p>
            <a:pPr>
              <a:buClr>
                <a:srgbClr val="FF0000"/>
              </a:buClr>
            </a:pPr>
            <a:r>
              <a:rPr lang="en-GB" sz="2000" dirty="0" smtClean="0"/>
              <a:t>Metadata of the whole collection in </a:t>
            </a:r>
            <a:r>
              <a:rPr lang="en-GB" sz="2000" dirty="0" smtClean="0"/>
              <a:t>DC</a:t>
            </a:r>
          </a:p>
          <a:p>
            <a:pPr>
              <a:buClr>
                <a:srgbClr val="FF0000"/>
              </a:buClr>
            </a:pPr>
            <a:r>
              <a:rPr lang="en-GB" sz="2000" dirty="0" smtClean="0"/>
              <a:t>Subsets of the collection in discipline dedicated metadata</a:t>
            </a:r>
            <a:endParaRPr lang="en-GB" sz="2000" dirty="0" smtClean="0"/>
          </a:p>
          <a:p>
            <a:pPr>
              <a:buClr>
                <a:srgbClr val="FF0000"/>
              </a:buClr>
            </a:pPr>
            <a:r>
              <a:rPr lang="en-GB" sz="2000" dirty="0" smtClean="0"/>
              <a:t>Social Sciences: DDI codebook (NESSTAR)</a:t>
            </a:r>
            <a:endParaRPr lang="en-GB" sz="2000" dirty="0" smtClean="0"/>
          </a:p>
          <a:p>
            <a:pPr>
              <a:buClr>
                <a:srgbClr val="FF0000"/>
              </a:buClr>
            </a:pPr>
            <a:r>
              <a:rPr lang="en-GB" sz="2000" dirty="0" smtClean="0"/>
              <a:t>New project: Question bank Cultural Changes </a:t>
            </a:r>
            <a:r>
              <a:rPr lang="en-GB" sz="2000" dirty="0" smtClean="0"/>
              <a:t>–DDI </a:t>
            </a:r>
            <a:r>
              <a:rPr lang="en-GB" sz="2000" dirty="0" err="1" smtClean="0"/>
              <a:t>Lifcycle</a:t>
            </a:r>
            <a:endParaRPr lang="en-GB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The Survey Cultural Changes</a:t>
            </a:r>
            <a:endParaRPr lang="en-GB" dirty="0">
              <a:solidFill>
                <a:srgbClr val="00A7D4"/>
              </a:solidFill>
            </a:endParaRPr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The Netherlands Institute for Social Research (SCP)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Trend study since 1975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It measures changes in general opinions and attitudes of the Dutch population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Annual till 1999, biannual since then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Face to face and drop-off questionnaire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Until 2002 International Social Survey Programme (ISSP) part of questionnaire</a:t>
            </a:r>
          </a:p>
          <a:p>
            <a:pPr>
              <a:buFont typeface="Wingdings 3" pitchFamily="18" charset="2"/>
              <a:buNone/>
            </a:pPr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</p:txBody>
      </p:sp>
      <p:pic>
        <p:nvPicPr>
          <p:cNvPr id="11269" name="Picture 6" descr="logo sc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6649" y="5921375"/>
            <a:ext cx="3456507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Content Placeholder 3" descr="schriftje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28688" y="4685507"/>
            <a:ext cx="1976437" cy="14779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625" y="1057275"/>
            <a:ext cx="8229600" cy="7969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2001: Request to (predecessor) of DANS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12292" name="Picture 4" descr="hersene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87" y="2678906"/>
            <a:ext cx="1976437" cy="197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 descr="database.gi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4113" y="3265488"/>
            <a:ext cx="2716212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3143250" y="3095625"/>
            <a:ext cx="3286125" cy="2786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Save the knowledge about the survey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>
          <a:xfrm>
            <a:off x="457200" y="2009775"/>
            <a:ext cx="8229600" cy="4149725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Documentation of every round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Variables keep their variable name over time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Variables can be part of blocks / sets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Emphasis on question wordings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Small changes in wordings can occur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Answer categories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Sample / routing information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Interview instructions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Concepts, keywords and notes</a:t>
            </a: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624" y="933450"/>
            <a:ext cx="8520113" cy="7969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500" dirty="0" smtClean="0">
                <a:solidFill>
                  <a:srgbClr val="00A7D4"/>
                </a:solidFill>
              </a:rPr>
              <a:t>Question databank Cultural changes</a:t>
            </a:r>
            <a:endParaRPr lang="en-GB" sz="3500" dirty="0">
              <a:solidFill>
                <a:srgbClr val="00A7D4"/>
              </a:solidFill>
            </a:endParaRPr>
          </a:p>
        </p:txBody>
      </p:sp>
      <p:pic>
        <p:nvPicPr>
          <p:cNvPr id="13316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0464" y="5162550"/>
            <a:ext cx="2263536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Document question wordings of variables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Document questionnaires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Give an overview of the history of a variable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Select variables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Create a new questionnaire</a:t>
            </a: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Functionality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14340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9925" y="5267010"/>
            <a:ext cx="2124075" cy="159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Back office system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Only available for researchers of the SCP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No other variable information available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File information in other system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System needs update</a:t>
            </a: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803275"/>
            <a:ext cx="8229600" cy="1228725"/>
          </a:xfrm>
        </p:spPr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Disadvantages of this system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20484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2196" y="5238750"/>
            <a:ext cx="2161804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sz="2800" dirty="0" smtClean="0">
                <a:ea typeface="ＭＳ Ｐゴシック" pitchFamily="34" charset="-128"/>
              </a:rPr>
              <a:t>SCP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sz="2800" dirty="0" err="1" smtClean="0">
                <a:ea typeface="ＭＳ Ｐゴシック" pitchFamily="34" charset="-128"/>
              </a:rPr>
              <a:t>Centerdata</a:t>
            </a:r>
            <a:endParaRPr lang="en-GB" sz="2800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sz="2800" dirty="0" smtClean="0">
                <a:ea typeface="ＭＳ Ｐゴシック" pitchFamily="34" charset="-128"/>
              </a:rPr>
              <a:t>DANS</a:t>
            </a:r>
          </a:p>
          <a:p>
            <a:pPr>
              <a:buFont typeface="Wingdings 3" pitchFamily="18" charset="2"/>
              <a:buNone/>
            </a:pPr>
            <a:endParaRPr lang="en-GB" sz="2800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Conversion of Question Databank Cultural Changes in an instance of </a:t>
            </a:r>
            <a:r>
              <a:rPr lang="en-GB" sz="2800" dirty="0" err="1" smtClean="0">
                <a:ea typeface="ＭＳ Ｐゴシック" pitchFamily="34" charset="-128"/>
              </a:rPr>
              <a:t>Questacy</a:t>
            </a:r>
            <a:r>
              <a:rPr lang="en-GB" sz="2800" dirty="0" smtClean="0">
                <a:ea typeface="ＭＳ Ｐゴシック" pitchFamily="34" charset="-128"/>
              </a:rPr>
              <a:t> (databank of </a:t>
            </a:r>
            <a:r>
              <a:rPr lang="en-GB" sz="2800" dirty="0" err="1" smtClean="0">
                <a:ea typeface="ＭＳ Ｐゴシック" pitchFamily="34" charset="-128"/>
              </a:rPr>
              <a:t>Centerdata</a:t>
            </a:r>
            <a:r>
              <a:rPr lang="en-GB" sz="2800" dirty="0" smtClean="0">
                <a:ea typeface="ＭＳ Ｐゴシック" pitchFamily="34" charset="-128"/>
              </a:rPr>
              <a:t>)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Project will start in 2012</a:t>
            </a:r>
          </a:p>
          <a:p>
            <a:pPr lvl="1">
              <a:buFont typeface="Verdana" pitchFamily="34" charset="0"/>
              <a:buNone/>
            </a:pPr>
            <a:endParaRPr lang="en-GB" sz="2800" dirty="0" smtClean="0">
              <a:ea typeface="ＭＳ Ｐゴシック" pitchFamily="34" charset="-128"/>
            </a:endParaRPr>
          </a:p>
          <a:p>
            <a:pPr lvl="1">
              <a:buFont typeface="Verdana" pitchFamily="34" charset="0"/>
              <a:buNone/>
            </a:pPr>
            <a:endParaRPr lang="en-GB" sz="2800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Cooperation of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21508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5778" y="5286374"/>
            <a:ext cx="2098222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2" descr="CentERdata logo"/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6463506" y="2357438"/>
            <a:ext cx="7143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5" descr="dans.bmp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63506" y="3157537"/>
            <a:ext cx="14287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6" descr="logo scp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63506" y="1238250"/>
            <a:ext cx="3497263" cy="111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CESSDA expert seminar  October  2011 Lausanne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CESSDA expert seminar  October  2011 Lausanne</a:t>
            </a:r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457200" y="2071688"/>
            <a:ext cx="8229600" cy="3935412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Web application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Online resource for a more general public 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Same functionality and more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dirty="0" smtClean="0">
                <a:ea typeface="ＭＳ Ｐゴシック" pitchFamily="34" charset="-128"/>
              </a:rPr>
              <a:t>Basket to select variables for analyses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dirty="0" smtClean="0">
                <a:ea typeface="ＭＳ Ｐゴシック" pitchFamily="34" charset="-128"/>
              </a:rPr>
              <a:t>Link to the data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dirty="0" smtClean="0">
                <a:ea typeface="ＭＳ Ｐゴシック" pitchFamily="34" charset="-128"/>
              </a:rPr>
              <a:t>Multi lingual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And in the future: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dirty="0" smtClean="0">
                <a:ea typeface="ＭＳ Ｐゴシック" pitchFamily="34" charset="-128"/>
              </a:rPr>
              <a:t>More longitudinal surveys of SCP</a:t>
            </a:r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r>
              <a:rPr lang="en-GB" dirty="0" smtClean="0">
                <a:ea typeface="ＭＳ Ｐゴシック" pitchFamily="34" charset="-128"/>
              </a:rPr>
              <a:t>More major Dutch longitudinal surveys</a:t>
            </a:r>
          </a:p>
          <a:p>
            <a:pPr lvl="1"/>
            <a:endParaRPr lang="en-GB" dirty="0" smtClean="0">
              <a:ea typeface="ＭＳ Ｐゴシック" pitchFamily="34" charset="-128"/>
            </a:endParaRPr>
          </a:p>
          <a:p>
            <a:pPr lvl="1"/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12144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/>
            </a:r>
            <a:br>
              <a:rPr lang="en-GB" dirty="0" smtClean="0">
                <a:solidFill>
                  <a:srgbClr val="00A7D4"/>
                </a:solidFill>
              </a:rPr>
            </a:br>
            <a:r>
              <a:rPr lang="en-GB" dirty="0" smtClean="0">
                <a:solidFill>
                  <a:srgbClr val="00A7D4"/>
                </a:solidFill>
              </a:rPr>
              <a:t>Next Question Databank Cultural Changes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CESSDA expert seminar  October  2011 Lausanne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CESSDA expert seminar  October  2011 Lausanne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CESSDA expert seminar  October  2011 Lausanne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smtClean="0">
                <a:solidFill>
                  <a:srgbClr val="00A7D4"/>
                </a:solidFill>
              </a:rPr>
              <a:t>The new SCP question databank</a:t>
            </a:r>
            <a:endParaRPr lang="en-GB" sz="3600" dirty="0">
              <a:solidFill>
                <a:srgbClr val="00A7D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6383"/>
            <a:ext cx="8667750" cy="4013584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GB" sz="2100" dirty="0" smtClean="0"/>
              <a:t>Content of SCP question bank will be moved towards DDI 3.0</a:t>
            </a:r>
          </a:p>
          <a:p>
            <a:pPr>
              <a:buClr>
                <a:srgbClr val="FF0000"/>
              </a:buClr>
            </a:pPr>
            <a:r>
              <a:rPr lang="en-GB" sz="2100" dirty="0" smtClean="0"/>
              <a:t>Online </a:t>
            </a:r>
            <a:r>
              <a:rPr lang="en-GB" sz="2100" dirty="0" smtClean="0"/>
              <a:t>resource, also available for wider research </a:t>
            </a:r>
            <a:r>
              <a:rPr lang="en-GB" sz="2100" dirty="0" smtClean="0"/>
              <a:t>community</a:t>
            </a:r>
          </a:p>
          <a:p>
            <a:pPr>
              <a:buClr>
                <a:srgbClr val="FF0000"/>
              </a:buClr>
            </a:pPr>
            <a:r>
              <a:rPr lang="en-GB" sz="2100" dirty="0" smtClean="0"/>
              <a:t>Admin interface, SCP interface, Research interface</a:t>
            </a:r>
            <a:endParaRPr lang="en-GB" sz="2100" dirty="0" smtClean="0"/>
          </a:p>
          <a:p>
            <a:pPr>
              <a:buClr>
                <a:srgbClr val="FF0000"/>
              </a:buClr>
            </a:pPr>
            <a:r>
              <a:rPr lang="en-GB" sz="2100" dirty="0" smtClean="0"/>
              <a:t>Combination </a:t>
            </a:r>
            <a:r>
              <a:rPr lang="en-GB" sz="2100" dirty="0" smtClean="0"/>
              <a:t>of question wordings, other metadata and </a:t>
            </a:r>
            <a:r>
              <a:rPr lang="en-GB" sz="2100" dirty="0" smtClean="0"/>
              <a:t>data</a:t>
            </a:r>
          </a:p>
          <a:p>
            <a:pPr>
              <a:buClr>
                <a:srgbClr val="FF0000"/>
              </a:buClr>
            </a:pPr>
            <a:r>
              <a:rPr lang="en-GB" sz="2100" dirty="0" err="1" smtClean="0"/>
              <a:t>D</a:t>
            </a:r>
            <a:r>
              <a:rPr lang="en-GB" sz="2100" dirty="0" err="1" smtClean="0"/>
              <a:t>atawarehouse</a:t>
            </a:r>
            <a:endParaRPr lang="en-GB" sz="2100" dirty="0" smtClean="0"/>
          </a:p>
          <a:p>
            <a:pPr>
              <a:buClr>
                <a:srgbClr val="FF0000"/>
              </a:buClr>
            </a:pPr>
            <a:r>
              <a:rPr lang="en-GB" sz="2100" dirty="0" smtClean="0"/>
              <a:t>In the future probably other surveys</a:t>
            </a:r>
          </a:p>
          <a:p>
            <a:pPr>
              <a:buClr>
                <a:srgbClr val="FF0000"/>
              </a:buClr>
            </a:pPr>
            <a:r>
              <a:rPr lang="en-GB" sz="2100" dirty="0" smtClean="0"/>
              <a:t>Pilot in April 2011, Project will start in 2012</a:t>
            </a:r>
          </a:p>
          <a:p>
            <a:pPr>
              <a:buClr>
                <a:srgbClr val="FF0000"/>
              </a:buClr>
            </a:pPr>
            <a:r>
              <a:rPr lang="en-GB" sz="2100" dirty="0" smtClean="0"/>
              <a:t>Shopping </a:t>
            </a:r>
            <a:r>
              <a:rPr lang="en-GB" sz="2100" dirty="0" smtClean="0"/>
              <a:t>basket for variables, design tool for questionnaires</a:t>
            </a:r>
          </a:p>
          <a:p>
            <a:pPr lvl="1">
              <a:buClr>
                <a:srgbClr val="FF0000"/>
              </a:buClr>
              <a:buNone/>
            </a:pPr>
            <a:endParaRPr lang="en-GB" dirty="0" smtClean="0"/>
          </a:p>
          <a:p>
            <a:pPr lvl="1">
              <a:buClr>
                <a:srgbClr val="FF0000"/>
              </a:buClr>
              <a:buFont typeface="Courier New" pitchFamily="49" charset="0"/>
              <a:buChar char="o"/>
            </a:pPr>
            <a:endParaRPr lang="en-GB" dirty="0" smtClean="0"/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>
                <a:solidFill>
                  <a:srgbClr val="00A7D4"/>
                </a:solidFill>
              </a:rPr>
              <a:t>DDI issues</a:t>
            </a:r>
            <a:endParaRPr lang="nl-NL" dirty="0">
              <a:solidFill>
                <a:srgbClr val="00A7D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DC241F"/>
              </a:buClr>
            </a:pPr>
            <a:r>
              <a:rPr lang="en-US" dirty="0" smtClean="0"/>
              <a:t>Versioning in </a:t>
            </a:r>
            <a:r>
              <a:rPr lang="en-US" dirty="0" err="1" smtClean="0"/>
              <a:t>Questacy</a:t>
            </a:r>
            <a:endParaRPr lang="en-US" dirty="0" smtClean="0"/>
          </a:p>
          <a:p>
            <a:pPr>
              <a:buClr>
                <a:srgbClr val="DC241F"/>
              </a:buClr>
            </a:pPr>
            <a:r>
              <a:rPr lang="en-US" smtClean="0"/>
              <a:t>Conversion</a:t>
            </a:r>
            <a:endParaRPr lang="en-US" dirty="0" smtClean="0"/>
          </a:p>
          <a:p>
            <a:pPr lvl="1">
              <a:buClr>
                <a:srgbClr val="DC241F"/>
              </a:buClr>
            </a:pPr>
            <a:r>
              <a:rPr lang="en-US" dirty="0" smtClean="0"/>
              <a:t>Moving content of several databases into </a:t>
            </a:r>
            <a:r>
              <a:rPr lang="en-US" dirty="0" err="1" smtClean="0"/>
              <a:t>Questacy</a:t>
            </a:r>
            <a:endParaRPr lang="en-US" dirty="0" smtClean="0"/>
          </a:p>
          <a:p>
            <a:pPr lvl="1">
              <a:buClr>
                <a:srgbClr val="DC241F"/>
              </a:buClr>
            </a:pPr>
            <a:r>
              <a:rPr lang="en-US" dirty="0" smtClean="0"/>
              <a:t>Conversion of NESSTAR DDI into DDI3</a:t>
            </a:r>
          </a:p>
          <a:p>
            <a:pPr lvl="1">
              <a:buClr>
                <a:srgbClr val="DC241F"/>
              </a:buClr>
            </a:pPr>
            <a:r>
              <a:rPr lang="en-US" dirty="0" smtClean="0"/>
              <a:t>Combination of </a:t>
            </a:r>
            <a:r>
              <a:rPr lang="en-US" dirty="0" smtClean="0"/>
              <a:t>information</a:t>
            </a:r>
          </a:p>
          <a:p>
            <a:pPr lvl="1">
              <a:buClr>
                <a:srgbClr val="DC241F"/>
              </a:buClr>
            </a:pPr>
            <a:r>
              <a:rPr lang="en-US" dirty="0" smtClean="0"/>
              <a:t>Advantage: variables have kept their name over time</a:t>
            </a:r>
            <a:endParaRPr lang="en-US" dirty="0" smtClean="0"/>
          </a:p>
          <a:p>
            <a:pPr lvl="1">
              <a:buClr>
                <a:srgbClr val="DC241F"/>
              </a:buClr>
            </a:pPr>
            <a:endParaRPr lang="en-US" dirty="0" smtClean="0"/>
          </a:p>
          <a:p>
            <a:pPr lvl="1"/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906588"/>
            <a:ext cx="8229600" cy="928687"/>
          </a:xfrm>
        </p:spPr>
        <p:txBody>
          <a:bodyPr/>
          <a:lstStyle/>
          <a:p>
            <a:r>
              <a:rPr lang="en-US">
                <a:latin typeface="Verdana" charset="0"/>
              </a:rPr>
              <a:t>Thank you for your attention</a:t>
            </a:r>
          </a:p>
        </p:txBody>
      </p:sp>
      <p:sp>
        <p:nvSpPr>
          <p:cNvPr id="9219" name="Subtitle 2"/>
          <p:cNvSpPr>
            <a:spLocks noGrp="1"/>
          </p:cNvSpPr>
          <p:nvPr>
            <p:ph idx="1"/>
          </p:nvPr>
        </p:nvSpPr>
        <p:spPr>
          <a:xfrm>
            <a:off x="236538" y="3673475"/>
            <a:ext cx="8702675" cy="2452688"/>
          </a:xfrm>
        </p:spPr>
        <p:txBody>
          <a:bodyPr/>
          <a:lstStyle/>
          <a:p>
            <a:r>
              <a:rPr lang="en-US" dirty="0">
                <a:latin typeface="Verdana" charset="0"/>
              </a:rPr>
              <a:t>For more information please contact </a:t>
            </a:r>
          </a:p>
          <a:p>
            <a:r>
              <a:rPr lang="en-US" dirty="0" smtClean="0">
                <a:latin typeface="Verdana" charset="0"/>
              </a:rPr>
              <a:t>marion.wittenberg@dans.knaw.nl</a:t>
            </a:r>
            <a:endParaRPr lang="en-US" dirty="0">
              <a:latin typeface="Verdana" charset="0"/>
            </a:endParaRPr>
          </a:p>
          <a:p>
            <a:endParaRPr lang="en-US" dirty="0">
              <a:latin typeface="Verdana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 PPT UK DEF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UK DEF</Template>
  <TotalTime>0</TotalTime>
  <Words>505</Words>
  <Application>Microsoft Office PowerPoint</Application>
  <PresentationFormat>On-screen Show (4:3)</PresentationFormat>
  <Paragraphs>116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Template PPT UK DEF</vt:lpstr>
      <vt:lpstr>The Question Bank Cultural Changes  in the Netherlands  Marion Wittenberg Project manager Social Sciences DANS   </vt:lpstr>
      <vt:lpstr>Outline of my presentation</vt:lpstr>
      <vt:lpstr>DANS collections</vt:lpstr>
      <vt:lpstr>The Survey Cultural Changes</vt:lpstr>
      <vt:lpstr>2001: Request to (predecessor) of DANS</vt:lpstr>
      <vt:lpstr>Question databank Cultural changes</vt:lpstr>
      <vt:lpstr>Functionality</vt:lpstr>
      <vt:lpstr>Disadvantages of this system</vt:lpstr>
      <vt:lpstr>Cooperation of</vt:lpstr>
      <vt:lpstr>Slide 10</vt:lpstr>
      <vt:lpstr>Slide 11</vt:lpstr>
      <vt:lpstr> Next Question Databank Cultural Changes  </vt:lpstr>
      <vt:lpstr>Slide 13</vt:lpstr>
      <vt:lpstr>Slide 14</vt:lpstr>
      <vt:lpstr>The new SCP question databank</vt:lpstr>
      <vt:lpstr>DDI issues</vt:lpstr>
      <vt:lpstr>Thank you for your attention</vt:lpstr>
    </vt:vector>
  </TitlesOfParts>
  <Manager/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Question Bank Cultural Changes in the Netherlands</dc:title>
  <dc:subject>question bank</dc:subject>
  <dc:creator/>
  <cp:keywords/>
  <cp:lastModifiedBy/>
  <cp:revision>1</cp:revision>
  <dcterms:created xsi:type="dcterms:W3CDTF">2011-05-12T14:52:43Z</dcterms:created>
  <dcterms:modified xsi:type="dcterms:W3CDTF">2011-12-06T01:29:07Z</dcterms:modified>
</cp:coreProperties>
</file>