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6" r:id="rId13"/>
    <p:sldId id="267" r:id="rId14"/>
    <p:sldId id="268" r:id="rId15"/>
    <p:sldId id="269" r:id="rId16"/>
    <p:sldId id="272" r:id="rId17"/>
    <p:sldId id="271" r:id="rId18"/>
    <p:sldId id="273" r:id="rId19"/>
    <p:sldId id="274" r:id="rId20"/>
    <p:sldId id="276" r:id="rId21"/>
    <p:sldId id="275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8" r:id="rId33"/>
    <p:sldId id="289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listair M Hamilton" initials="AMH" lastIdx="10" clrIdx="0"/>
  <p:cmAuthor id="1" name="agregory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8" d="100"/>
          <a:sy n="78" d="100"/>
        </p:scale>
        <p:origin x="-114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8E6884-8B7A-44C5-A8E3-31C2FDBAEF12}" type="datetimeFigureOut">
              <a:rPr lang="en-US" smtClean="0"/>
              <a:t>12/6/2011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E2294-2873-45D3-A4C1-C61BB8484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575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0E2294-2873-45D3-A4C1-C61BB8484C9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63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3BB7-4B3E-4B8C-93B2-4D0BE9191442}" type="datetimeFigureOut">
              <a:rPr lang="en-US" smtClean="0"/>
              <a:t>12/6/2011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4412-90DF-4CF6-97E5-D250F510A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62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3BB7-4B3E-4B8C-93B2-4D0BE9191442}" type="datetimeFigureOut">
              <a:rPr lang="en-US" smtClean="0"/>
              <a:t>12/6/2011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4412-90DF-4CF6-97E5-D250F510A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53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3BB7-4B3E-4B8C-93B2-4D0BE9191442}" type="datetimeFigureOut">
              <a:rPr lang="en-US" smtClean="0"/>
              <a:t>12/6/2011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4412-90DF-4CF6-97E5-D250F510A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15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3BB7-4B3E-4B8C-93B2-4D0BE9191442}" type="datetimeFigureOut">
              <a:rPr lang="en-US" smtClean="0"/>
              <a:t>12/6/2011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4412-90DF-4CF6-97E5-D250F510A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293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3BB7-4B3E-4B8C-93B2-4D0BE9191442}" type="datetimeFigureOut">
              <a:rPr lang="en-US" smtClean="0"/>
              <a:t>12/6/2011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4412-90DF-4CF6-97E5-D250F510A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619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3BB7-4B3E-4B8C-93B2-4D0BE9191442}" type="datetimeFigureOut">
              <a:rPr lang="en-US" smtClean="0"/>
              <a:t>12/6/2011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4412-90DF-4CF6-97E5-D250F510A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190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3BB7-4B3E-4B8C-93B2-4D0BE9191442}" type="datetimeFigureOut">
              <a:rPr lang="en-US" smtClean="0"/>
              <a:t>12/6/2011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4412-90DF-4CF6-97E5-D250F510A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17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3BB7-4B3E-4B8C-93B2-4D0BE9191442}" type="datetimeFigureOut">
              <a:rPr lang="en-US" smtClean="0"/>
              <a:t>12/6/2011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4412-90DF-4CF6-97E5-D250F510A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039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3BB7-4B3E-4B8C-93B2-4D0BE9191442}" type="datetimeFigureOut">
              <a:rPr lang="en-US" smtClean="0"/>
              <a:t>12/6/2011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4412-90DF-4CF6-97E5-D250F510A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124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3BB7-4B3E-4B8C-93B2-4D0BE9191442}" type="datetimeFigureOut">
              <a:rPr lang="en-US" smtClean="0"/>
              <a:t>12/6/2011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4412-90DF-4CF6-97E5-D250F510A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813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3BB7-4B3E-4B8C-93B2-4D0BE9191442}" type="datetimeFigureOut">
              <a:rPr lang="en-US" smtClean="0"/>
              <a:t>12/6/2011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4412-90DF-4CF6-97E5-D250F510A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49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803BB7-4B3E-4B8C-93B2-4D0BE9191442}" type="datetimeFigureOut">
              <a:rPr lang="en-US" smtClean="0"/>
              <a:t>12/6/2011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54412-90DF-4CF6-97E5-D250F510A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355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SDMX and DDI: How Do They Fit Together in Practical Terms?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Arofan Gregory</a:t>
            </a:r>
          </a:p>
          <a:p>
            <a:r>
              <a:rPr lang="en-US" dirty="0" smtClean="0"/>
              <a:t>The Open Data Foundation</a:t>
            </a:r>
          </a:p>
          <a:p>
            <a:r>
              <a:rPr lang="en-US" dirty="0" smtClean="0"/>
              <a:t>European DDI User’s Group 2011</a:t>
            </a:r>
          </a:p>
          <a:p>
            <a:r>
              <a:rPr lang="en-US" dirty="0" smtClean="0"/>
              <a:t>Gothenburg, Sweden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539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Background</a:t>
            </a:r>
          </a:p>
          <a:p>
            <a:r>
              <a:rPr lang="en-US" dirty="0" smtClean="0"/>
              <a:t>Characterizing the Standards</a:t>
            </a:r>
          </a:p>
          <a:p>
            <a:pPr lvl="1"/>
            <a:r>
              <a:rPr lang="en-US" dirty="0" smtClean="0"/>
              <a:t>DDI</a:t>
            </a:r>
          </a:p>
          <a:p>
            <a:pPr lvl="1"/>
            <a:r>
              <a:rPr lang="en-US" dirty="0" smtClean="0"/>
              <a:t>SDMX</a:t>
            </a:r>
          </a:p>
          <a:p>
            <a:pPr lvl="1"/>
            <a:r>
              <a:rPr lang="en-US" dirty="0" smtClean="0"/>
              <a:t>Similarities and Differences</a:t>
            </a:r>
          </a:p>
          <a:p>
            <a:pPr lvl="1"/>
            <a:r>
              <a:rPr lang="en-US" dirty="0" smtClean="0"/>
              <a:t>Other Relevant Standards</a:t>
            </a:r>
          </a:p>
          <a:p>
            <a:r>
              <a:rPr lang="en-US" dirty="0" smtClean="0"/>
              <a:t>Implementation Approaches</a:t>
            </a:r>
          </a:p>
          <a:p>
            <a:pPr lvl="1"/>
            <a:r>
              <a:rPr lang="en-US" dirty="0" smtClean="0"/>
              <a:t>DDI In, SDMX Out</a:t>
            </a:r>
          </a:p>
          <a:p>
            <a:pPr lvl="1"/>
            <a:r>
              <a:rPr lang="en-US" dirty="0" smtClean="0"/>
              <a:t>SDMX-Centric</a:t>
            </a:r>
          </a:p>
          <a:p>
            <a:pPr lvl="1"/>
            <a:r>
              <a:rPr lang="en-US" dirty="0" smtClean="0"/>
              <a:t>Standards Agnostic</a:t>
            </a:r>
          </a:p>
          <a:p>
            <a:r>
              <a:rPr lang="en-US" dirty="0" smtClean="0"/>
              <a:t>Future Possibilities: The SDMX-DDI Dialogue Proposal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67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Background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presentation intends to examine the different </a:t>
            </a:r>
            <a:r>
              <a:rPr lang="en-US" i="1" dirty="0" smtClean="0"/>
              <a:t>architectural approaches </a:t>
            </a:r>
            <a:r>
              <a:rPr lang="en-US" dirty="0" smtClean="0"/>
              <a:t>to implementations of SDMX and DDI together</a:t>
            </a:r>
          </a:p>
          <a:p>
            <a:pPr lvl="1"/>
            <a:r>
              <a:rPr lang="en-US" dirty="0" smtClean="0"/>
              <a:t>While several organizations are mentioned, it is not a report on the status of prototypes or implementations</a:t>
            </a:r>
          </a:p>
          <a:p>
            <a:r>
              <a:rPr lang="en-US" dirty="0" smtClean="0"/>
              <a:t>This presentation does </a:t>
            </a:r>
            <a:r>
              <a:rPr lang="en-US" i="1" dirty="0" smtClean="0"/>
              <a:t>not</a:t>
            </a:r>
            <a:r>
              <a:rPr lang="en-US" dirty="0" smtClean="0"/>
              <a:t> intend to introduce DDI or SDMX to an unfamiliar audience</a:t>
            </a:r>
          </a:p>
          <a:p>
            <a:pPr lvl="1"/>
            <a:r>
              <a:rPr lang="en-US" dirty="0" smtClean="0"/>
              <a:t>Familiarity with the standards is assumed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304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Background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When people think about using SDMX and DDI together, they make assumptions</a:t>
            </a:r>
          </a:p>
          <a:p>
            <a:pPr lvl="1"/>
            <a:r>
              <a:rPr lang="en-US" dirty="0" err="1" smtClean="0"/>
              <a:t>Microdata</a:t>
            </a:r>
            <a:r>
              <a:rPr lang="en-US" dirty="0" smtClean="0"/>
              <a:t> (</a:t>
            </a:r>
            <a:r>
              <a:rPr lang="en-US" dirty="0" smtClean="0"/>
              <a:t>and </a:t>
            </a:r>
            <a:r>
              <a:rPr lang="en-US" dirty="0" smtClean="0"/>
              <a:t>tabulations) can be described using DDI</a:t>
            </a:r>
          </a:p>
          <a:p>
            <a:pPr lvl="1"/>
            <a:r>
              <a:rPr lang="en-US" dirty="0" smtClean="0"/>
              <a:t>A transformation could be applied to produce SDMX to describe the aggregates/tables</a:t>
            </a:r>
          </a:p>
          <a:p>
            <a:pPr lvl="1"/>
            <a:r>
              <a:rPr lang="en-US" dirty="0" smtClean="0"/>
              <a:t>There is a straight mapping from DDI to SDMX</a:t>
            </a:r>
          </a:p>
          <a:p>
            <a:r>
              <a:rPr lang="en-US" dirty="0" smtClean="0"/>
              <a:t>Interestingly, this conceptual model is not how the use of DDI and SDMX together is being approached in reality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D</a:t>
            </a:r>
            <a:r>
              <a:rPr lang="en-US" dirty="0" smtClean="0"/>
              <a:t>evil is in the details! (Or is it </a:t>
            </a:r>
            <a:r>
              <a:rPr lang="en-US" dirty="0" smtClean="0"/>
              <a:t>“The </a:t>
            </a:r>
            <a:r>
              <a:rPr lang="en-US" dirty="0" err="1" smtClean="0"/>
              <a:t>Tomten</a:t>
            </a:r>
            <a:r>
              <a:rPr lang="en-US" dirty="0" smtClean="0"/>
              <a:t> is in the details” ?)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538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Background (3)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People have been discussing the use of SDMX and DDI together for some time</a:t>
            </a:r>
          </a:p>
          <a:p>
            <a:r>
              <a:rPr lang="en-US" dirty="0" smtClean="0"/>
              <a:t>Now, we are at the stage where implementations are being investigated and </a:t>
            </a:r>
            <a:r>
              <a:rPr lang="en-US" dirty="0" smtClean="0"/>
              <a:t>prototyped</a:t>
            </a:r>
            <a:endParaRPr lang="en-US" dirty="0" smtClean="0"/>
          </a:p>
          <a:p>
            <a:pPr lvl="1"/>
            <a:r>
              <a:rPr lang="en-US" dirty="0" smtClean="0"/>
              <a:t>Not “if”, but “how”</a:t>
            </a:r>
          </a:p>
          <a:p>
            <a:r>
              <a:rPr lang="en-US" dirty="0" smtClean="0"/>
              <a:t>Most often, this is done in the context of the </a:t>
            </a:r>
            <a:r>
              <a:rPr lang="en-US" dirty="0" smtClean="0"/>
              <a:t>Generic Statistical Business Process Model (GSBPM), </a:t>
            </a:r>
            <a:r>
              <a:rPr lang="en-US" dirty="0" smtClean="0"/>
              <a:t>by data producers</a:t>
            </a:r>
          </a:p>
          <a:p>
            <a:pPr lvl="1"/>
            <a:r>
              <a:rPr lang="en-US" dirty="0" smtClean="0"/>
              <a:t>The idea of “industrialized” statistical production</a:t>
            </a:r>
          </a:p>
          <a:p>
            <a:pPr lvl="1"/>
            <a:r>
              <a:rPr lang="en-US" dirty="0" smtClean="0"/>
              <a:t>Strong emphasis on process 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179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Characterizing the Standards: DDI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DDI Lifecycle can provide a very detailed set of metadata, covering:</a:t>
            </a:r>
          </a:p>
          <a:p>
            <a:pPr lvl="1"/>
            <a:r>
              <a:rPr lang="en-US" dirty="0" smtClean="0"/>
              <a:t>The study or series of studies</a:t>
            </a:r>
          </a:p>
          <a:p>
            <a:pPr lvl="1"/>
            <a:r>
              <a:rPr lang="en-US" dirty="0" smtClean="0"/>
              <a:t>Many aspects of data collection, including surveys and processing of </a:t>
            </a:r>
            <a:r>
              <a:rPr lang="en-US" dirty="0" err="1" smtClean="0"/>
              <a:t>microdata</a:t>
            </a:r>
            <a:endParaRPr lang="en-US" dirty="0" smtClean="0"/>
          </a:p>
          <a:p>
            <a:pPr lvl="1"/>
            <a:r>
              <a:rPr lang="en-US" dirty="0" smtClean="0"/>
              <a:t>The structure of data files, including hierarchical files and those with complex relationships</a:t>
            </a:r>
          </a:p>
          <a:p>
            <a:pPr lvl="1"/>
            <a:r>
              <a:rPr lang="en-US" dirty="0" smtClean="0"/>
              <a:t>The lifecycle events and archiving of data files and their metadata</a:t>
            </a:r>
          </a:p>
          <a:p>
            <a:pPr lvl="1"/>
            <a:r>
              <a:rPr lang="en-US" dirty="0" smtClean="0"/>
              <a:t>The tabulation and processing of data into tables (</a:t>
            </a:r>
            <a:r>
              <a:rPr lang="en-US" dirty="0" err="1" smtClean="0"/>
              <a:t>Ncubes</a:t>
            </a:r>
            <a:r>
              <a:rPr lang="en-US" dirty="0" smtClean="0"/>
              <a:t>)</a:t>
            </a:r>
          </a:p>
          <a:p>
            <a:pPr lvl="2"/>
            <a:r>
              <a:rPr lang="en-US" dirty="0" smtClean="0"/>
              <a:t>Allows for a link between the </a:t>
            </a:r>
            <a:r>
              <a:rPr lang="en-US" dirty="0" err="1" smtClean="0"/>
              <a:t>microdata</a:t>
            </a:r>
            <a:r>
              <a:rPr lang="en-US" dirty="0" smtClean="0"/>
              <a:t> variables and the resulting aggregates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83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Characterizing the Standards: SDMX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906963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Describes the structure of aggregate/dimensional data (“structural metadata”)</a:t>
            </a:r>
          </a:p>
          <a:p>
            <a:r>
              <a:rPr lang="en-US" dirty="0" smtClean="0"/>
              <a:t>Provides formats for the dimensional data</a:t>
            </a:r>
          </a:p>
          <a:p>
            <a:r>
              <a:rPr lang="en-US" dirty="0" smtClean="0"/>
              <a:t>Provides a model of data reporting/collection and dissemination</a:t>
            </a:r>
          </a:p>
          <a:p>
            <a:r>
              <a:rPr lang="en-US" dirty="0" smtClean="0"/>
              <a:t>Provides a way of describing the structures of arbitrary metadata sets (“reference metadata”)</a:t>
            </a:r>
          </a:p>
          <a:p>
            <a:r>
              <a:rPr lang="en-US" dirty="0" smtClean="0"/>
              <a:t>Provides formats for the arbitrary metadata sets</a:t>
            </a:r>
          </a:p>
          <a:p>
            <a:r>
              <a:rPr lang="en-US" dirty="0" smtClean="0"/>
              <a:t>Provides a set of standard registry interfaces, providing a catalog of resources</a:t>
            </a:r>
          </a:p>
          <a:p>
            <a:r>
              <a:rPr lang="en-US" dirty="0" smtClean="0"/>
              <a:t>Provides guidelines for deploying standard web services for SDMX resources</a:t>
            </a:r>
          </a:p>
          <a:p>
            <a:r>
              <a:rPr lang="en-US" dirty="0" smtClean="0"/>
              <a:t>Provides a way of describing statistical processes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790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DDI has much more detailed metadata at the level of the study, because it is intended to describe the full process of data production (the data lifecycle)</a:t>
            </a:r>
          </a:p>
          <a:p>
            <a:r>
              <a:rPr lang="en-US" dirty="0" smtClean="0"/>
              <a:t>DDI provides more complete descriptions of the processing of data</a:t>
            </a:r>
          </a:p>
          <a:p>
            <a:r>
              <a:rPr lang="en-US" dirty="0" smtClean="0"/>
              <a:t>SDMX provides more architectural components, to support reporting/collecting and exchange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957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Similarities: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Both standards use a similar mechanism for structuring URN identifiers</a:t>
            </a:r>
          </a:p>
          <a:p>
            <a:r>
              <a:rPr lang="en-US" dirty="0" smtClean="0"/>
              <a:t>Both standards use a similar model for identifiable, </a:t>
            </a:r>
            <a:r>
              <a:rPr lang="en-US" dirty="0" err="1" smtClean="0"/>
              <a:t>versionable</a:t>
            </a:r>
            <a:r>
              <a:rPr lang="en-US" dirty="0" smtClean="0"/>
              <a:t>, and maintainable things</a:t>
            </a:r>
          </a:p>
          <a:p>
            <a:pPr lvl="1"/>
            <a:r>
              <a:rPr lang="en-US" dirty="0" smtClean="0"/>
              <a:t>Both have a concept of an owning agency</a:t>
            </a:r>
          </a:p>
          <a:p>
            <a:pPr lvl="1"/>
            <a:r>
              <a:rPr lang="en-US" dirty="0" smtClean="0"/>
              <a:t>There is a very similar set of rules about versioning and maintenance</a:t>
            </a:r>
          </a:p>
          <a:p>
            <a:r>
              <a:rPr lang="en-US" dirty="0" smtClean="0"/>
              <a:t>Both standards use “schemes” as packages for lists of like items</a:t>
            </a:r>
          </a:p>
          <a:p>
            <a:r>
              <a:rPr lang="en-US" dirty="0" smtClean="0"/>
              <a:t>Both standards are designed to support reuse, and have similar referencing models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64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Similarities: Specific Metadata Items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Concept Schemes</a:t>
            </a:r>
          </a:p>
          <a:p>
            <a:r>
              <a:rPr lang="en-US" dirty="0" smtClean="0"/>
              <a:t>SDMX </a:t>
            </a:r>
            <a:r>
              <a:rPr lang="en-US" dirty="0" err="1" smtClean="0"/>
              <a:t>Codelists</a:t>
            </a:r>
            <a:r>
              <a:rPr lang="en-US" dirty="0" smtClean="0"/>
              <a:t>/DDI Codes and Categories</a:t>
            </a:r>
          </a:p>
          <a:p>
            <a:r>
              <a:rPr lang="en-US" dirty="0" smtClean="0"/>
              <a:t>Dimensional data structures (</a:t>
            </a:r>
            <a:r>
              <a:rPr lang="en-US" dirty="0" err="1" smtClean="0"/>
              <a:t>Ncubes</a:t>
            </a:r>
            <a:r>
              <a:rPr lang="en-US" dirty="0" smtClean="0"/>
              <a:t>/DSDs)</a:t>
            </a:r>
          </a:p>
          <a:p>
            <a:r>
              <a:rPr lang="en-US" dirty="0" smtClean="0"/>
              <a:t>Organization Schemes</a:t>
            </a:r>
          </a:p>
          <a:p>
            <a:endParaRPr lang="en-US" dirty="0"/>
          </a:p>
          <a:p>
            <a:r>
              <a:rPr lang="en-US" dirty="0" smtClean="0"/>
              <a:t>There is an effort as part of the SDMX-DDI Dialogue to produce a common vocabulary of terms, describing </a:t>
            </a:r>
            <a:r>
              <a:rPr lang="en-US" dirty="0" smtClean="0"/>
              <a:t>similarities </a:t>
            </a:r>
            <a:r>
              <a:rPr lang="en-US" dirty="0" smtClean="0"/>
              <a:t>and </a:t>
            </a:r>
            <a:r>
              <a:rPr lang="en-US" dirty="0" smtClean="0"/>
              <a:t>differences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93508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Relevant Standards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Some things are not covered well by either SDMX or DDI, particularly classification management</a:t>
            </a:r>
          </a:p>
          <a:p>
            <a:pPr lvl="1"/>
            <a:r>
              <a:rPr lang="en-US" dirty="0" smtClean="0"/>
              <a:t>The Neuchatel model is probably a better standard, but it has no standard XML </a:t>
            </a:r>
            <a:r>
              <a:rPr lang="en-US" dirty="0" smtClean="0"/>
              <a:t>representation </a:t>
            </a:r>
          </a:p>
          <a:p>
            <a:pPr lvl="1"/>
            <a:r>
              <a:rPr lang="en-US" dirty="0" smtClean="0"/>
              <a:t>The older (and similar) CLASET model is also potentially useful, and does have an XML representation</a:t>
            </a:r>
            <a:endParaRPr lang="en-US" dirty="0" smtClean="0"/>
          </a:p>
          <a:p>
            <a:r>
              <a:rPr lang="en-US" dirty="0" smtClean="0"/>
              <a:t>The GSBPM gives us a generic model for describing business processes, but to implement process management you will use other standards such as BPMN (specific process </a:t>
            </a:r>
            <a:r>
              <a:rPr lang="en-US" dirty="0" err="1" smtClean="0"/>
              <a:t>modelling</a:t>
            </a:r>
            <a:r>
              <a:rPr lang="en-US" dirty="0" smtClean="0"/>
              <a:t>) and BPEL (for executing processes)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344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Implementation Approach: DDI In, SDMX 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is an approach used by the Australian Bureau of Statistics (ABS) in one part of their </a:t>
            </a:r>
            <a:r>
              <a:rPr lang="en-US" dirty="0" err="1" smtClean="0"/>
              <a:t>microdata</a:t>
            </a:r>
            <a:r>
              <a:rPr lang="en-US" dirty="0" smtClean="0"/>
              <a:t> access facility, REEM</a:t>
            </a:r>
          </a:p>
          <a:p>
            <a:r>
              <a:rPr lang="en-US" dirty="0" smtClean="0"/>
              <a:t>It is based on a set of software tools developed and sold by Space-Time Research (“</a:t>
            </a:r>
            <a:r>
              <a:rPr lang="en-US" dirty="0" err="1" smtClean="0"/>
              <a:t>SuperCross</a:t>
            </a:r>
            <a:r>
              <a:rPr lang="en-US" dirty="0" smtClean="0"/>
              <a:t>”) to support tabulations from </a:t>
            </a:r>
            <a:r>
              <a:rPr lang="en-US" dirty="0" err="1" smtClean="0"/>
              <a:t>microdata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159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DDI In, SDMX Out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52400" y="2209800"/>
            <a:ext cx="1447800" cy="1600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&lt;DDI 3.1&gt;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1676400" y="2819400"/>
            <a:ext cx="685800" cy="30480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n 5"/>
          <p:cNvSpPr/>
          <p:nvPr/>
        </p:nvSpPr>
        <p:spPr>
          <a:xfrm>
            <a:off x="2514600" y="2362200"/>
            <a:ext cx="1905000" cy="2362200"/>
          </a:xfrm>
          <a:prstGeom prst="can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STR Database Format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4495800" y="3352800"/>
            <a:ext cx="685800" cy="30480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257800" y="2057400"/>
            <a:ext cx="1371600" cy="297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REEM Tabulation Tool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miley Face 8"/>
          <p:cNvSpPr/>
          <p:nvPr/>
        </p:nvSpPr>
        <p:spPr>
          <a:xfrm>
            <a:off x="8077200" y="2362200"/>
            <a:ext cx="762000" cy="762000"/>
          </a:xfrm>
          <a:prstGeom prst="smileyFac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Arrow 9"/>
          <p:cNvSpPr/>
          <p:nvPr/>
        </p:nvSpPr>
        <p:spPr>
          <a:xfrm>
            <a:off x="6781800" y="2514600"/>
            <a:ext cx="914400" cy="2286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Arrow 10"/>
          <p:cNvSpPr/>
          <p:nvPr/>
        </p:nvSpPr>
        <p:spPr>
          <a:xfrm rot="10800000">
            <a:off x="6934200" y="2667000"/>
            <a:ext cx="914400" cy="2286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Arrow 11"/>
          <p:cNvSpPr/>
          <p:nvPr/>
        </p:nvSpPr>
        <p:spPr>
          <a:xfrm>
            <a:off x="6858000" y="3657600"/>
            <a:ext cx="914400" cy="2286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 Arrow 12"/>
          <p:cNvSpPr/>
          <p:nvPr/>
        </p:nvSpPr>
        <p:spPr>
          <a:xfrm rot="10800000">
            <a:off x="7010400" y="3810000"/>
            <a:ext cx="914400" cy="2286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olded Corner 13"/>
          <p:cNvSpPr/>
          <p:nvPr/>
        </p:nvSpPr>
        <p:spPr>
          <a:xfrm>
            <a:off x="7467599" y="4267200"/>
            <a:ext cx="1143001" cy="762000"/>
          </a:xfrm>
          <a:prstGeom prst="foldedCorne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&lt;SDMX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2.0&gt;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1676400" y="4191000"/>
            <a:ext cx="685800" cy="30480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olded Corner 15"/>
          <p:cNvSpPr/>
          <p:nvPr/>
        </p:nvSpPr>
        <p:spPr>
          <a:xfrm>
            <a:off x="228600" y="4038600"/>
            <a:ext cx="1371600" cy="1295400"/>
          </a:xfrm>
          <a:prstGeom prst="foldedCorne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ASCII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M</a:t>
            </a:r>
            <a:r>
              <a:rPr lang="en-US" dirty="0" err="1" smtClean="0">
                <a:solidFill>
                  <a:schemeClr val="tx1"/>
                </a:solidFill>
              </a:rPr>
              <a:t>icrodata</a:t>
            </a:r>
            <a:endParaRPr lang="en-US" dirty="0" smtClean="0">
              <a:solidFill>
                <a:schemeClr val="tx1"/>
              </a:solidFill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File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Line Callout 1 16"/>
          <p:cNvSpPr/>
          <p:nvPr/>
        </p:nvSpPr>
        <p:spPr>
          <a:xfrm>
            <a:off x="2019300" y="1295400"/>
            <a:ext cx="1447800" cy="876300"/>
          </a:xfrm>
          <a:prstGeom prst="borderCallout1">
            <a:avLst>
              <a:gd name="adj1" fmla="val 99818"/>
              <a:gd name="adj2" fmla="val 18061"/>
              <a:gd name="adj3" fmla="val 193568"/>
              <a:gd name="adj4" fmla="val -218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chemeClr val="tx1"/>
                </a:solidFill>
              </a:rPr>
              <a:t>Production</a:t>
            </a:r>
          </a:p>
          <a:p>
            <a:pPr algn="ctr"/>
            <a:r>
              <a:rPr lang="en-US" i="1" dirty="0" smtClean="0">
                <a:solidFill>
                  <a:schemeClr val="tx1"/>
                </a:solidFill>
              </a:rPr>
              <a:t>Time</a:t>
            </a:r>
          </a:p>
          <a:p>
            <a:pPr algn="ctr"/>
            <a:r>
              <a:rPr lang="en-US" i="1" dirty="0" smtClean="0">
                <a:solidFill>
                  <a:schemeClr val="tx1"/>
                </a:solidFill>
              </a:rPr>
              <a:t>Process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18" name="Line Callout 1 17"/>
          <p:cNvSpPr/>
          <p:nvPr/>
        </p:nvSpPr>
        <p:spPr>
          <a:xfrm>
            <a:off x="7467600" y="876300"/>
            <a:ext cx="1447800" cy="876300"/>
          </a:xfrm>
          <a:prstGeom prst="borderCallout1">
            <a:avLst>
              <a:gd name="adj1" fmla="val 99818"/>
              <a:gd name="adj2" fmla="val 18061"/>
              <a:gd name="adj3" fmla="val 193568"/>
              <a:gd name="adj4" fmla="val -218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chemeClr val="tx1"/>
                </a:solidFill>
              </a:rPr>
              <a:t>Run</a:t>
            </a:r>
          </a:p>
          <a:p>
            <a:pPr algn="ctr"/>
            <a:r>
              <a:rPr lang="en-US" i="1" dirty="0" smtClean="0">
                <a:solidFill>
                  <a:schemeClr val="tx1"/>
                </a:solidFill>
              </a:rPr>
              <a:t>Time</a:t>
            </a:r>
          </a:p>
          <a:p>
            <a:pPr algn="ctr"/>
            <a:r>
              <a:rPr lang="en-US" i="1" dirty="0" smtClean="0">
                <a:solidFill>
                  <a:schemeClr val="tx1"/>
                </a:solidFill>
              </a:rPr>
              <a:t>Process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19" name="Line Callout 1 18"/>
          <p:cNvSpPr/>
          <p:nvPr/>
        </p:nvSpPr>
        <p:spPr>
          <a:xfrm>
            <a:off x="6096000" y="5524500"/>
            <a:ext cx="1447800" cy="876300"/>
          </a:xfrm>
          <a:prstGeom prst="borderCallout1">
            <a:avLst>
              <a:gd name="adj1" fmla="val -6087"/>
              <a:gd name="adj2" fmla="val 68022"/>
              <a:gd name="adj3" fmla="val -173986"/>
              <a:gd name="adj4" fmla="val 8283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chemeClr val="tx1"/>
                </a:solidFill>
              </a:rPr>
              <a:t>Run</a:t>
            </a:r>
          </a:p>
          <a:p>
            <a:pPr algn="ctr"/>
            <a:r>
              <a:rPr lang="en-US" i="1" dirty="0" smtClean="0">
                <a:solidFill>
                  <a:schemeClr val="tx1"/>
                </a:solidFill>
              </a:rPr>
              <a:t>Time</a:t>
            </a:r>
          </a:p>
          <a:p>
            <a:pPr algn="ctr"/>
            <a:r>
              <a:rPr lang="en-US" i="1" dirty="0" smtClean="0">
                <a:solidFill>
                  <a:schemeClr val="tx1"/>
                </a:solidFill>
              </a:rPr>
              <a:t>Process</a:t>
            </a:r>
            <a:endParaRPr 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740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Considerations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This is a limited implementation, providing secure access to </a:t>
            </a:r>
            <a:r>
              <a:rPr lang="en-US" dirty="0" err="1" smtClean="0"/>
              <a:t>microdata</a:t>
            </a:r>
            <a:r>
              <a:rPr lang="en-US" dirty="0" smtClean="0"/>
              <a:t> in the form of user-defined tabulations</a:t>
            </a:r>
          </a:p>
          <a:p>
            <a:pPr lvl="1"/>
            <a:r>
              <a:rPr lang="en-US" dirty="0" smtClean="0"/>
              <a:t>It is only a limited dissemination scenario</a:t>
            </a:r>
          </a:p>
          <a:p>
            <a:pPr lvl="1"/>
            <a:r>
              <a:rPr lang="en-US" dirty="0" smtClean="0"/>
              <a:t>It relies on run-time </a:t>
            </a:r>
            <a:r>
              <a:rPr lang="en-US" dirty="0" err="1" smtClean="0"/>
              <a:t>confidentialization</a:t>
            </a:r>
            <a:r>
              <a:rPr lang="en-US" dirty="0" smtClean="0"/>
              <a:t>, which limits the data that can be made available (only data and tabulations for which robust automated </a:t>
            </a:r>
            <a:r>
              <a:rPr lang="en-US" dirty="0" err="1" smtClean="0"/>
              <a:t>confidentialisation</a:t>
            </a:r>
            <a:r>
              <a:rPr lang="en-US" dirty="0" smtClean="0"/>
              <a:t> can be assured)</a:t>
            </a:r>
            <a:endParaRPr lang="en-US" strike="sngStrike" dirty="0" smtClean="0"/>
          </a:p>
          <a:p>
            <a:r>
              <a:rPr lang="en-US" dirty="0" smtClean="0"/>
              <a:t>The internal formats are proprietary, and lack some of the richness of the DDI-L model</a:t>
            </a:r>
          </a:p>
          <a:p>
            <a:pPr lvl="1"/>
            <a:r>
              <a:rPr lang="en-US" dirty="0" smtClean="0"/>
              <a:t>We also identified some bugs in DDI 3.1</a:t>
            </a:r>
          </a:p>
          <a:p>
            <a:r>
              <a:rPr lang="en-US" dirty="0" smtClean="0"/>
              <a:t> Not sufficient for users who wish to perform statistical analysis of the microdata rather than produce tabulations</a:t>
            </a:r>
            <a:endParaRPr lang="en-US" strike="sngStrike" dirty="0" smtClean="0"/>
          </a:p>
          <a:p>
            <a:pPr lvl="1"/>
            <a:r>
              <a:rPr lang="en-US" dirty="0" smtClean="0"/>
              <a:t>That need will be met by another part of the overall REEM solution in future</a:t>
            </a:r>
          </a:p>
          <a:p>
            <a:r>
              <a:rPr lang="en-US" dirty="0" smtClean="0"/>
              <a:t>There is no direct mapping from DDI to SDMX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535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Implementation Approach: </a:t>
            </a:r>
            <a:br>
              <a:rPr lang="en-US" dirty="0" smtClean="0"/>
            </a:br>
            <a:r>
              <a:rPr lang="en-US" dirty="0" smtClean="0"/>
              <a:t>SDMX-Centric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This approach came out of discussions within INSEE, as they considered designs for the new metadata repository they are developing</a:t>
            </a:r>
          </a:p>
          <a:p>
            <a:r>
              <a:rPr lang="en-US" dirty="0" smtClean="0"/>
              <a:t>Similar approaches have been considered by other organizations</a:t>
            </a:r>
          </a:p>
          <a:p>
            <a:r>
              <a:rPr lang="en-US" dirty="0" smtClean="0"/>
              <a:t>This relies heavily on the use of the SDMX architectural components and model, especially the SDMX Registry </a:t>
            </a:r>
          </a:p>
          <a:p>
            <a:r>
              <a:rPr lang="en-US" dirty="0" smtClean="0"/>
              <a:t>There is an idea of GSBPM-based process management, but no process-management tool</a:t>
            </a:r>
          </a:p>
        </p:txBody>
      </p:sp>
    </p:spTree>
    <p:extLst>
      <p:ext uri="{BB962C8B-B14F-4D97-AF65-F5344CB8AC3E}">
        <p14:creationId xmlns:p14="http://schemas.microsoft.com/office/powerpoint/2010/main" val="3893061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AutoShape 4"/>
          <p:cNvSpPr>
            <a:spLocks noChangeArrowheads="1"/>
          </p:cNvSpPr>
          <p:nvPr/>
        </p:nvSpPr>
        <p:spPr bwMode="auto">
          <a:xfrm>
            <a:off x="3733800" y="1828800"/>
            <a:ext cx="1295400" cy="1371600"/>
          </a:xfrm>
          <a:prstGeom prst="can">
            <a:avLst>
              <a:gd name="adj" fmla="val 26471"/>
            </a:avLst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SDMX</a:t>
            </a:r>
          </a:p>
          <a:p>
            <a:pPr algn="ctr"/>
            <a:r>
              <a:rPr lang="en-US"/>
              <a:t>Registry</a:t>
            </a: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685800" y="4572000"/>
            <a:ext cx="1905000" cy="1219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Classification</a:t>
            </a:r>
          </a:p>
          <a:p>
            <a:pPr algn="ctr"/>
            <a:r>
              <a:rPr lang="en-US"/>
              <a:t>Management</a:t>
            </a:r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3048000" y="5257800"/>
            <a:ext cx="1905000" cy="1219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Concept</a:t>
            </a:r>
          </a:p>
          <a:p>
            <a:pPr algn="ctr"/>
            <a:r>
              <a:rPr lang="en-US"/>
              <a:t>Management</a:t>
            </a:r>
          </a:p>
        </p:txBody>
      </p:sp>
      <p:sp>
        <p:nvSpPr>
          <p:cNvPr id="2057" name="Rectangle 9"/>
          <p:cNvSpPr>
            <a:spLocks noChangeArrowheads="1"/>
          </p:cNvSpPr>
          <p:nvPr/>
        </p:nvSpPr>
        <p:spPr bwMode="auto">
          <a:xfrm>
            <a:off x="5715000" y="4724400"/>
            <a:ext cx="1905000" cy="1219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Study Unit</a:t>
            </a:r>
          </a:p>
          <a:p>
            <a:pPr algn="ctr"/>
            <a:r>
              <a:rPr lang="en-US"/>
              <a:t>Management</a:t>
            </a:r>
          </a:p>
          <a:p>
            <a:pPr algn="ctr"/>
            <a:r>
              <a:rPr lang="en-US"/>
              <a:t>(Instruments, </a:t>
            </a:r>
          </a:p>
          <a:p>
            <a:pPr algn="ctr"/>
            <a:r>
              <a:rPr lang="en-US"/>
              <a:t>Groups)</a:t>
            </a:r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838200" y="228600"/>
            <a:ext cx="1905000" cy="1219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Process </a:t>
            </a:r>
          </a:p>
          <a:p>
            <a:pPr algn="ctr"/>
            <a:r>
              <a:rPr lang="en-US"/>
              <a:t>Metadata</a:t>
            </a:r>
          </a:p>
          <a:p>
            <a:pPr algn="ctr"/>
            <a:r>
              <a:rPr lang="en-US"/>
              <a:t>Management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152400" y="1828800"/>
            <a:ext cx="1905000" cy="1219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Quality</a:t>
            </a:r>
          </a:p>
          <a:p>
            <a:pPr algn="ctr"/>
            <a:r>
              <a:rPr lang="en-US"/>
              <a:t>Metadata</a:t>
            </a:r>
          </a:p>
          <a:p>
            <a:pPr algn="ctr"/>
            <a:r>
              <a:rPr lang="en-US"/>
              <a:t>Management</a:t>
            </a:r>
          </a:p>
        </p:txBody>
      </p:sp>
      <p:sp>
        <p:nvSpPr>
          <p:cNvPr id="2060" name="AutoShape 12"/>
          <p:cNvSpPr>
            <a:spLocks noChangeArrowheads="1"/>
          </p:cNvSpPr>
          <p:nvPr/>
        </p:nvSpPr>
        <p:spPr bwMode="auto">
          <a:xfrm>
            <a:off x="5334000" y="2209800"/>
            <a:ext cx="990600" cy="381000"/>
          </a:xfrm>
          <a:prstGeom prst="rightArrow">
            <a:avLst>
              <a:gd name="adj1" fmla="val 50000"/>
              <a:gd name="adj2" fmla="val 6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1" name="AutoShape 13"/>
          <p:cNvSpPr>
            <a:spLocks noChangeArrowheads="1"/>
          </p:cNvSpPr>
          <p:nvPr/>
        </p:nvSpPr>
        <p:spPr bwMode="auto">
          <a:xfrm>
            <a:off x="6781800" y="1600200"/>
            <a:ext cx="1447800" cy="1600200"/>
          </a:xfrm>
          <a:prstGeom prst="can">
            <a:avLst>
              <a:gd name="adj" fmla="val 27632"/>
            </a:avLst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Dissemination</a:t>
            </a:r>
          </a:p>
          <a:p>
            <a:pPr algn="ctr"/>
            <a:r>
              <a:rPr lang="en-US"/>
              <a:t>SDMX</a:t>
            </a:r>
          </a:p>
          <a:p>
            <a:pPr algn="ctr"/>
            <a:r>
              <a:rPr lang="en-US"/>
              <a:t>Registry</a:t>
            </a:r>
          </a:p>
        </p:txBody>
      </p:sp>
      <p:sp>
        <p:nvSpPr>
          <p:cNvPr id="2062" name="Line 14"/>
          <p:cNvSpPr>
            <a:spLocks noChangeShapeType="1"/>
          </p:cNvSpPr>
          <p:nvPr/>
        </p:nvSpPr>
        <p:spPr bwMode="auto">
          <a:xfrm>
            <a:off x="5715000" y="0"/>
            <a:ext cx="0" cy="403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3" name="Line 15"/>
          <p:cNvSpPr>
            <a:spLocks noChangeShapeType="1"/>
          </p:cNvSpPr>
          <p:nvPr/>
        </p:nvSpPr>
        <p:spPr bwMode="auto">
          <a:xfrm>
            <a:off x="5715000" y="4038600"/>
            <a:ext cx="3429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6705600" y="152400"/>
            <a:ext cx="1905000" cy="1295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Dissemination </a:t>
            </a:r>
          </a:p>
          <a:p>
            <a:pPr algn="ctr"/>
            <a:r>
              <a:rPr lang="en-US"/>
              <a:t>Database(s)</a:t>
            </a:r>
          </a:p>
        </p:txBody>
      </p:sp>
      <p:sp>
        <p:nvSpPr>
          <p:cNvPr id="2066" name="Line 18"/>
          <p:cNvSpPr>
            <a:spLocks noChangeShapeType="1"/>
          </p:cNvSpPr>
          <p:nvPr/>
        </p:nvSpPr>
        <p:spPr bwMode="auto">
          <a:xfrm>
            <a:off x="2743200" y="1447800"/>
            <a:ext cx="9906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7" name="AutoShape 19"/>
          <p:cNvSpPr>
            <a:spLocks noChangeArrowheads="1"/>
          </p:cNvSpPr>
          <p:nvPr/>
        </p:nvSpPr>
        <p:spPr bwMode="auto">
          <a:xfrm>
            <a:off x="2971800" y="838200"/>
            <a:ext cx="990600" cy="685800"/>
          </a:xfrm>
          <a:prstGeom prst="wedgeRectCallout">
            <a:avLst>
              <a:gd name="adj1" fmla="val -33171"/>
              <a:gd name="adj2" fmla="val 8657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400"/>
              <a:t>SDMX</a:t>
            </a:r>
          </a:p>
          <a:p>
            <a:pPr algn="ctr"/>
            <a:r>
              <a:rPr lang="en-US" sz="1400"/>
              <a:t>Metadata</a:t>
            </a:r>
          </a:p>
          <a:p>
            <a:pPr algn="ctr"/>
            <a:r>
              <a:rPr lang="en-US" sz="1400"/>
              <a:t>Reports</a:t>
            </a:r>
          </a:p>
        </p:txBody>
      </p:sp>
      <p:sp>
        <p:nvSpPr>
          <p:cNvPr id="2069" name="Line 21"/>
          <p:cNvSpPr>
            <a:spLocks noChangeShapeType="1"/>
          </p:cNvSpPr>
          <p:nvPr/>
        </p:nvSpPr>
        <p:spPr bwMode="auto">
          <a:xfrm>
            <a:off x="2057400" y="2209800"/>
            <a:ext cx="16764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71" name="AutoShape 23"/>
          <p:cNvSpPr>
            <a:spLocks noChangeArrowheads="1"/>
          </p:cNvSpPr>
          <p:nvPr/>
        </p:nvSpPr>
        <p:spPr bwMode="auto">
          <a:xfrm>
            <a:off x="2133600" y="2514600"/>
            <a:ext cx="1143000" cy="685800"/>
          </a:xfrm>
          <a:prstGeom prst="wedgeRectCallout">
            <a:avLst>
              <a:gd name="adj1" fmla="val -33472"/>
              <a:gd name="adj2" fmla="val -8379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400"/>
              <a:t>SDMX</a:t>
            </a:r>
          </a:p>
          <a:p>
            <a:pPr algn="ctr"/>
            <a:r>
              <a:rPr lang="en-US" sz="1400"/>
              <a:t>Metadata</a:t>
            </a:r>
          </a:p>
          <a:p>
            <a:pPr algn="ctr"/>
            <a:r>
              <a:rPr lang="en-US" sz="1400"/>
              <a:t>Reports</a:t>
            </a:r>
          </a:p>
        </p:txBody>
      </p:sp>
      <p:sp>
        <p:nvSpPr>
          <p:cNvPr id="2072" name="Line 24"/>
          <p:cNvSpPr>
            <a:spLocks noChangeShapeType="1"/>
          </p:cNvSpPr>
          <p:nvPr/>
        </p:nvSpPr>
        <p:spPr bwMode="auto">
          <a:xfrm flipV="1">
            <a:off x="2590800" y="3124200"/>
            <a:ext cx="1295400" cy="1524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73" name="AutoShape 25"/>
          <p:cNvSpPr>
            <a:spLocks noChangeArrowheads="1"/>
          </p:cNvSpPr>
          <p:nvPr/>
        </p:nvSpPr>
        <p:spPr bwMode="auto">
          <a:xfrm>
            <a:off x="152400" y="3352800"/>
            <a:ext cx="2209800" cy="1143000"/>
          </a:xfrm>
          <a:prstGeom prst="wedgeRectCallout">
            <a:avLst>
              <a:gd name="adj1" fmla="val 84986"/>
              <a:gd name="adj2" fmla="val 152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074" name="Text Box 26"/>
          <p:cNvSpPr txBox="1">
            <a:spLocks noChangeArrowheads="1"/>
          </p:cNvSpPr>
          <p:nvPr/>
        </p:nvSpPr>
        <p:spPr bwMode="auto">
          <a:xfrm>
            <a:off x="214313" y="3352800"/>
            <a:ext cx="2225675" cy="115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400"/>
              <a:t>5 different things:</a:t>
            </a:r>
          </a:p>
          <a:p>
            <a:r>
              <a:rPr lang="en-US" sz="1400"/>
              <a:t>DDI Categories &amp; Codes; </a:t>
            </a:r>
          </a:p>
          <a:p>
            <a:r>
              <a:rPr lang="en-US" sz="1400"/>
              <a:t>SDMX Codelists, </a:t>
            </a:r>
          </a:p>
          <a:p>
            <a:r>
              <a:rPr lang="en-US" sz="1400"/>
              <a:t>Hierarchical Codelists, </a:t>
            </a:r>
          </a:p>
          <a:p>
            <a:r>
              <a:rPr lang="en-US" sz="1400"/>
              <a:t>Categories</a:t>
            </a:r>
          </a:p>
        </p:txBody>
      </p:sp>
      <p:sp>
        <p:nvSpPr>
          <p:cNvPr id="2076" name="Line 28"/>
          <p:cNvSpPr>
            <a:spLocks noChangeShapeType="1"/>
          </p:cNvSpPr>
          <p:nvPr/>
        </p:nvSpPr>
        <p:spPr bwMode="auto">
          <a:xfrm flipV="1">
            <a:off x="4191000" y="3200400"/>
            <a:ext cx="0" cy="2057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77" name="AutoShape 29"/>
          <p:cNvSpPr>
            <a:spLocks noChangeArrowheads="1"/>
          </p:cNvSpPr>
          <p:nvPr/>
        </p:nvSpPr>
        <p:spPr bwMode="auto">
          <a:xfrm>
            <a:off x="2971800" y="4343400"/>
            <a:ext cx="1143000" cy="685800"/>
          </a:xfrm>
          <a:prstGeom prst="wedgeRectCallout">
            <a:avLst>
              <a:gd name="adj1" fmla="val 54861"/>
              <a:gd name="adj2" fmla="val -13657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400"/>
              <a:t>SDMX</a:t>
            </a:r>
          </a:p>
          <a:p>
            <a:pPr algn="ctr"/>
            <a:r>
              <a:rPr lang="en-US" sz="1400"/>
              <a:t>And DDI</a:t>
            </a:r>
          </a:p>
          <a:p>
            <a:pPr algn="ctr"/>
            <a:r>
              <a:rPr lang="en-US" sz="1400"/>
              <a:t>Concepts</a:t>
            </a:r>
          </a:p>
        </p:txBody>
      </p:sp>
      <p:sp>
        <p:nvSpPr>
          <p:cNvPr id="2078" name="Line 30"/>
          <p:cNvSpPr>
            <a:spLocks noChangeShapeType="1"/>
          </p:cNvSpPr>
          <p:nvPr/>
        </p:nvSpPr>
        <p:spPr bwMode="auto">
          <a:xfrm flipH="1" flipV="1">
            <a:off x="4800600" y="3124200"/>
            <a:ext cx="144780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79" name="AutoShape 31"/>
          <p:cNvSpPr>
            <a:spLocks noChangeArrowheads="1"/>
          </p:cNvSpPr>
          <p:nvPr/>
        </p:nvSpPr>
        <p:spPr bwMode="auto">
          <a:xfrm>
            <a:off x="4267200" y="3962400"/>
            <a:ext cx="1143000" cy="990600"/>
          </a:xfrm>
          <a:prstGeom prst="wedgeRectCallout">
            <a:avLst>
              <a:gd name="adj1" fmla="val 17639"/>
              <a:gd name="adj2" fmla="val -10448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400"/>
              <a:t>SDMX MD Reports, DDI Instances</a:t>
            </a:r>
          </a:p>
        </p:txBody>
      </p:sp>
      <p:sp>
        <p:nvSpPr>
          <p:cNvPr id="2080" name="Rectangle 32"/>
          <p:cNvSpPr>
            <a:spLocks noChangeArrowheads="1"/>
          </p:cNvSpPr>
          <p:nvPr/>
        </p:nvSpPr>
        <p:spPr bwMode="auto">
          <a:xfrm>
            <a:off x="4038600" y="152400"/>
            <a:ext cx="1524000" cy="11430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Resource</a:t>
            </a:r>
          </a:p>
          <a:p>
            <a:pPr algn="ctr"/>
            <a:r>
              <a:rPr lang="en-US"/>
              <a:t>Coordinator</a:t>
            </a:r>
          </a:p>
        </p:txBody>
      </p:sp>
      <p:sp>
        <p:nvSpPr>
          <p:cNvPr id="2082" name="Line 34"/>
          <p:cNvSpPr>
            <a:spLocks noChangeShapeType="1"/>
          </p:cNvSpPr>
          <p:nvPr/>
        </p:nvSpPr>
        <p:spPr bwMode="auto">
          <a:xfrm flipH="1">
            <a:off x="4572000" y="1295400"/>
            <a:ext cx="7620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864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MSD for DDI</a:t>
            </a:r>
            <a:endParaRPr lang="en-US" dirty="0"/>
          </a:p>
        </p:txBody>
      </p:sp>
      <p:sp>
        <p:nvSpPr>
          <p:cNvPr id="4" name="Flowchart: Magnetic Disk 3"/>
          <p:cNvSpPr/>
          <p:nvPr/>
        </p:nvSpPr>
        <p:spPr>
          <a:xfrm>
            <a:off x="5410200" y="2740152"/>
            <a:ext cx="1981200" cy="3432048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SDMX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Registry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20871" y="2259478"/>
            <a:ext cx="1524000" cy="1143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SDMX</a:t>
            </a:r>
          </a:p>
          <a:p>
            <a:pPr algn="ctr"/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Metadata</a:t>
            </a:r>
          </a:p>
          <a:p>
            <a:pPr algn="ctr"/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Report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876800" y="2590800"/>
            <a:ext cx="533400" cy="24017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648200" y="1828800"/>
            <a:ext cx="1374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Is Registered</a:t>
            </a:r>
            <a:endParaRPr lang="en-US" dirty="0"/>
          </a:p>
        </p:txBody>
      </p:sp>
      <p:sp>
        <p:nvSpPr>
          <p:cNvPr id="9" name="Rectangular Callout 8"/>
          <p:cNvSpPr/>
          <p:nvPr/>
        </p:nvSpPr>
        <p:spPr>
          <a:xfrm>
            <a:off x="1219200" y="990600"/>
            <a:ext cx="1752600" cy="1002178"/>
          </a:xfrm>
          <a:prstGeom prst="wedgeRectCallout">
            <a:avLst>
              <a:gd name="adj1" fmla="val 61154"/>
              <a:gd name="adj2" fmla="val 78842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  <a:solidFill>
                  <a:schemeClr val="tx1"/>
                </a:solidFill>
              </a:rPr>
              <a:t>This represents a DDI instance</a:t>
            </a:r>
            <a:endParaRPr lang="en-US" i="1" dirty="0"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04800" y="2013466"/>
            <a:ext cx="1143000" cy="13890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&lt;DDI&gt;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3619500" y="3733800"/>
            <a:ext cx="1524000" cy="3810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429000" y="4114800"/>
            <a:ext cx="1714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Query is made</a:t>
            </a:r>
          </a:p>
          <a:p>
            <a:r>
              <a:rPr lang="en-US" dirty="0"/>
              <a:t>o</a:t>
            </a:r>
            <a:r>
              <a:rPr lang="en-US" dirty="0" smtClean="0"/>
              <a:t>n the</a:t>
            </a:r>
          </a:p>
          <a:p>
            <a:r>
              <a:rPr lang="en-US" dirty="0" smtClean="0"/>
              <a:t>MD Report (not the DDI) 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524000" y="3849624"/>
            <a:ext cx="1905000" cy="188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524000" y="4038600"/>
            <a:ext cx="1905000" cy="12573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Application</a:t>
            </a:r>
            <a:endParaRPr lang="en-US" dirty="0"/>
          </a:p>
        </p:txBody>
      </p:sp>
      <p:sp>
        <p:nvSpPr>
          <p:cNvPr id="15" name="Left Arrow 14"/>
          <p:cNvSpPr/>
          <p:nvPr/>
        </p:nvSpPr>
        <p:spPr>
          <a:xfrm>
            <a:off x="3619500" y="5410200"/>
            <a:ext cx="1524000" cy="30480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667000" y="5638800"/>
            <a:ext cx="27460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Response contains pointers</a:t>
            </a:r>
          </a:p>
          <a:p>
            <a:r>
              <a:rPr lang="en-US" dirty="0" smtClean="0"/>
              <a:t>to the DDI resource </a:t>
            </a:r>
            <a:endParaRPr lang="en-US" dirty="0"/>
          </a:p>
        </p:txBody>
      </p:sp>
      <p:sp>
        <p:nvSpPr>
          <p:cNvPr id="17" name="Right Arrow 16"/>
          <p:cNvSpPr/>
          <p:nvPr/>
        </p:nvSpPr>
        <p:spPr>
          <a:xfrm rot="3752649">
            <a:off x="644566" y="3752571"/>
            <a:ext cx="914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228600" y="5276671"/>
            <a:ext cx="20458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Application reads</a:t>
            </a:r>
          </a:p>
          <a:p>
            <a:r>
              <a:rPr lang="en-US" dirty="0" smtClean="0"/>
              <a:t>the MD Report </a:t>
            </a:r>
          </a:p>
          <a:p>
            <a:r>
              <a:rPr lang="en-US" dirty="0" smtClean="0"/>
              <a:t>and can then  </a:t>
            </a:r>
          </a:p>
          <a:p>
            <a:r>
              <a:rPr lang="en-US" dirty="0" smtClean="0"/>
              <a:t>go and get the DDI, </a:t>
            </a:r>
          </a:p>
        </p:txBody>
      </p:sp>
    </p:spTree>
    <p:extLst>
      <p:ext uri="{BB962C8B-B14F-4D97-AF65-F5344CB8AC3E}">
        <p14:creationId xmlns:p14="http://schemas.microsoft.com/office/powerpoint/2010/main" val="2725293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Considerations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The SDMX Registry is available as a free tool, reducing the amount of development needed to deploy such a system</a:t>
            </a:r>
          </a:p>
          <a:p>
            <a:pPr lvl="1"/>
            <a:r>
              <a:rPr lang="en-US" dirty="0" smtClean="0"/>
              <a:t>Other SDMX tools are also available for free</a:t>
            </a:r>
          </a:p>
          <a:p>
            <a:r>
              <a:rPr lang="en-US" dirty="0" smtClean="0"/>
              <a:t>Applications are coded against specific versions of the standards, coming with fairly high maintenance costs if future versions need to be supported</a:t>
            </a:r>
          </a:p>
          <a:p>
            <a:r>
              <a:rPr lang="en-US" dirty="0" smtClean="0"/>
              <a:t>Access to non-SDMX resources (DDI) involves a level of indirection</a:t>
            </a:r>
          </a:p>
          <a:p>
            <a:pPr lvl="1"/>
            <a:r>
              <a:rPr lang="en-US" dirty="0" smtClean="0"/>
              <a:t>Retrieval is a two-step process: first get the “placeholder” SDMX Metadata Report, process it, and then retrieve the non-SDMX resource (DDI)</a:t>
            </a:r>
          </a:p>
          <a:p>
            <a:r>
              <a:rPr lang="en-US" dirty="0" smtClean="0"/>
              <a:t>The GSBPM was described as a set of SDMX Processes, and these are held in the registry to help organize and manage the statistical production process</a:t>
            </a:r>
          </a:p>
        </p:txBody>
      </p:sp>
    </p:spTree>
    <p:extLst>
      <p:ext uri="{BB962C8B-B14F-4D97-AF65-F5344CB8AC3E}">
        <p14:creationId xmlns:p14="http://schemas.microsoft.com/office/powerpoint/2010/main" val="2133086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Implementation Approach: Standards Agnostic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This approach is currently being prototyped by the ABS, as part of a major re-development of their IT infrastructure to “industrialize” their production processes</a:t>
            </a:r>
          </a:p>
          <a:p>
            <a:r>
              <a:rPr lang="en-US" dirty="0" smtClean="0"/>
              <a:t>It is a registry-based, distributed model, but it does not rely on the SDMX Registry, but on a standards-agnostic registry</a:t>
            </a:r>
          </a:p>
          <a:p>
            <a:r>
              <a:rPr lang="en-US" dirty="0" smtClean="0"/>
              <a:t>It is also based on the GSBPM, and on the emergent sibling to it, the Generic Statistical Information Model (GSIM)</a:t>
            </a:r>
          </a:p>
          <a:p>
            <a:r>
              <a:rPr lang="en-US" dirty="0" smtClean="0"/>
              <a:t>There is a major component of process management and automation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914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" name="Line 51"/>
          <p:cNvSpPr>
            <a:spLocks noChangeShapeType="1"/>
          </p:cNvSpPr>
          <p:nvPr/>
        </p:nvSpPr>
        <p:spPr bwMode="auto">
          <a:xfrm flipV="1">
            <a:off x="2819400" y="3886200"/>
            <a:ext cx="1066800" cy="1600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2" name="Line 46"/>
          <p:cNvSpPr>
            <a:spLocks noChangeShapeType="1"/>
          </p:cNvSpPr>
          <p:nvPr/>
        </p:nvSpPr>
        <p:spPr bwMode="auto">
          <a:xfrm>
            <a:off x="2514600" y="1143000"/>
            <a:ext cx="0" cy="434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39" name="Line 43"/>
          <p:cNvSpPr>
            <a:spLocks noChangeShapeType="1"/>
          </p:cNvSpPr>
          <p:nvPr/>
        </p:nvSpPr>
        <p:spPr bwMode="auto">
          <a:xfrm flipV="1">
            <a:off x="3429000" y="1981200"/>
            <a:ext cx="1524000" cy="1447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38" name="Line 42"/>
          <p:cNvSpPr>
            <a:spLocks noChangeShapeType="1"/>
          </p:cNvSpPr>
          <p:nvPr/>
        </p:nvSpPr>
        <p:spPr bwMode="auto">
          <a:xfrm flipV="1">
            <a:off x="3276600" y="1066800"/>
            <a:ext cx="1676400" cy="2286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37" name="Line 41"/>
          <p:cNvSpPr>
            <a:spLocks noChangeShapeType="1"/>
          </p:cNvSpPr>
          <p:nvPr/>
        </p:nvSpPr>
        <p:spPr bwMode="auto">
          <a:xfrm flipV="1">
            <a:off x="3733800" y="1676400"/>
            <a:ext cx="3581400" cy="2590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31" name="AutoShape 35"/>
          <p:cNvSpPr>
            <a:spLocks noChangeArrowheads="1"/>
          </p:cNvSpPr>
          <p:nvPr/>
        </p:nvSpPr>
        <p:spPr bwMode="auto">
          <a:xfrm>
            <a:off x="2819400" y="3429000"/>
            <a:ext cx="914400" cy="1143000"/>
          </a:xfrm>
          <a:prstGeom prst="can">
            <a:avLst>
              <a:gd name="adj" fmla="val 31250"/>
            </a:avLst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Services</a:t>
            </a:r>
          </a:p>
          <a:p>
            <a:pPr algn="ctr"/>
            <a:r>
              <a:rPr lang="en-US"/>
              <a:t>Registry</a:t>
            </a:r>
          </a:p>
        </p:txBody>
      </p:sp>
      <p:sp>
        <p:nvSpPr>
          <p:cNvPr id="4100" name="AutoShape 4"/>
          <p:cNvSpPr>
            <a:spLocks noChangeArrowheads="1"/>
          </p:cNvSpPr>
          <p:nvPr/>
        </p:nvSpPr>
        <p:spPr bwMode="auto">
          <a:xfrm>
            <a:off x="3581400" y="2514600"/>
            <a:ext cx="1600200" cy="1447800"/>
          </a:xfrm>
          <a:prstGeom prst="can">
            <a:avLst>
              <a:gd name="adj" fmla="val 25000"/>
            </a:avLst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Metadata</a:t>
            </a:r>
          </a:p>
          <a:p>
            <a:pPr algn="ctr"/>
            <a:r>
              <a:rPr lang="en-US"/>
              <a:t>Registry</a:t>
            </a:r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381000" y="228600"/>
            <a:ext cx="2667000" cy="9144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Business Process</a:t>
            </a:r>
          </a:p>
          <a:p>
            <a:pPr algn="ctr"/>
            <a:r>
              <a:rPr lang="en-US"/>
              <a:t>Management</a:t>
            </a:r>
          </a:p>
        </p:txBody>
      </p:sp>
      <p:sp>
        <p:nvSpPr>
          <p:cNvPr id="4103" name="AutoShape 7"/>
          <p:cNvSpPr>
            <a:spLocks noChangeArrowheads="1"/>
          </p:cNvSpPr>
          <p:nvPr/>
        </p:nvSpPr>
        <p:spPr bwMode="auto">
          <a:xfrm>
            <a:off x="6629400" y="2438400"/>
            <a:ext cx="1066800" cy="9906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4" name="AutoShape 8"/>
          <p:cNvSpPr>
            <a:spLocks noChangeArrowheads="1"/>
          </p:cNvSpPr>
          <p:nvPr/>
        </p:nvSpPr>
        <p:spPr bwMode="auto">
          <a:xfrm>
            <a:off x="6781800" y="2590800"/>
            <a:ext cx="1066800" cy="9906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5" name="AutoShape 9"/>
          <p:cNvSpPr>
            <a:spLocks noChangeArrowheads="1"/>
          </p:cNvSpPr>
          <p:nvPr/>
        </p:nvSpPr>
        <p:spPr bwMode="auto">
          <a:xfrm>
            <a:off x="6934200" y="2743200"/>
            <a:ext cx="1066800" cy="9906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6" name="AutoShape 10"/>
          <p:cNvSpPr>
            <a:spLocks noChangeArrowheads="1"/>
          </p:cNvSpPr>
          <p:nvPr/>
        </p:nvSpPr>
        <p:spPr bwMode="auto">
          <a:xfrm>
            <a:off x="7086600" y="2895600"/>
            <a:ext cx="1066800" cy="9906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7" name="Text Box 11"/>
          <p:cNvSpPr txBox="1">
            <a:spLocks noChangeArrowheads="1"/>
          </p:cNvSpPr>
          <p:nvPr/>
        </p:nvSpPr>
        <p:spPr bwMode="auto">
          <a:xfrm>
            <a:off x="6613525" y="3922713"/>
            <a:ext cx="1454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Metadata</a:t>
            </a:r>
          </a:p>
          <a:p>
            <a:r>
              <a:rPr lang="en-US"/>
              <a:t>Repositories</a:t>
            </a:r>
          </a:p>
        </p:txBody>
      </p:sp>
      <p:sp>
        <p:nvSpPr>
          <p:cNvPr id="4108" name="AutoShape 12"/>
          <p:cNvSpPr>
            <a:spLocks noChangeArrowheads="1"/>
          </p:cNvSpPr>
          <p:nvPr/>
        </p:nvSpPr>
        <p:spPr bwMode="auto">
          <a:xfrm>
            <a:off x="6781800" y="4572000"/>
            <a:ext cx="1066800" cy="9906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9" name="AutoShape 13"/>
          <p:cNvSpPr>
            <a:spLocks noChangeArrowheads="1"/>
          </p:cNvSpPr>
          <p:nvPr/>
        </p:nvSpPr>
        <p:spPr bwMode="auto">
          <a:xfrm>
            <a:off x="6934200" y="4724400"/>
            <a:ext cx="1066800" cy="9906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AutoShape 14"/>
          <p:cNvSpPr>
            <a:spLocks noChangeArrowheads="1"/>
          </p:cNvSpPr>
          <p:nvPr/>
        </p:nvSpPr>
        <p:spPr bwMode="auto">
          <a:xfrm>
            <a:off x="7086600" y="4876800"/>
            <a:ext cx="1066800" cy="9906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AutoShape 15"/>
          <p:cNvSpPr>
            <a:spLocks noChangeArrowheads="1"/>
          </p:cNvSpPr>
          <p:nvPr/>
        </p:nvSpPr>
        <p:spPr bwMode="auto">
          <a:xfrm>
            <a:off x="7239000" y="5029200"/>
            <a:ext cx="1066800" cy="9906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Text Box 16"/>
          <p:cNvSpPr txBox="1">
            <a:spLocks noChangeArrowheads="1"/>
          </p:cNvSpPr>
          <p:nvPr/>
        </p:nvSpPr>
        <p:spPr bwMode="auto">
          <a:xfrm>
            <a:off x="6765925" y="6056313"/>
            <a:ext cx="1454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Data</a:t>
            </a:r>
          </a:p>
          <a:p>
            <a:r>
              <a:rPr lang="en-US"/>
              <a:t>Repositories</a:t>
            </a:r>
          </a:p>
        </p:txBody>
      </p:sp>
      <p:sp>
        <p:nvSpPr>
          <p:cNvPr id="4113" name="AutoShape 17"/>
          <p:cNvSpPr>
            <a:spLocks noChangeArrowheads="1"/>
          </p:cNvSpPr>
          <p:nvPr/>
        </p:nvSpPr>
        <p:spPr bwMode="auto">
          <a:xfrm>
            <a:off x="76200" y="1447800"/>
            <a:ext cx="1752600" cy="1066800"/>
          </a:xfrm>
          <a:prstGeom prst="cube">
            <a:avLst>
              <a:gd name="adj" fmla="val 25000"/>
            </a:avLst>
          </a:prstGeom>
          <a:solidFill>
            <a:srgbClr val="00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4" name="Text Box 18"/>
          <p:cNvSpPr txBox="1">
            <a:spLocks noChangeArrowheads="1"/>
          </p:cNvSpPr>
          <p:nvPr/>
        </p:nvSpPr>
        <p:spPr bwMode="auto">
          <a:xfrm>
            <a:off x="120650" y="1828800"/>
            <a:ext cx="1479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BP Instance </a:t>
            </a:r>
          </a:p>
          <a:p>
            <a:r>
              <a:rPr lang="en-US"/>
              <a:t>Repository</a:t>
            </a:r>
          </a:p>
        </p:txBody>
      </p:sp>
      <p:sp>
        <p:nvSpPr>
          <p:cNvPr id="4115" name="AutoShape 19"/>
          <p:cNvSpPr>
            <a:spLocks noChangeArrowheads="1"/>
          </p:cNvSpPr>
          <p:nvPr/>
        </p:nvSpPr>
        <p:spPr bwMode="auto">
          <a:xfrm>
            <a:off x="3505200" y="4419600"/>
            <a:ext cx="1600200" cy="1447800"/>
          </a:xfrm>
          <a:prstGeom prst="cube">
            <a:avLst>
              <a:gd name="adj" fmla="val 25000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Centralized</a:t>
            </a:r>
          </a:p>
          <a:p>
            <a:pPr algn="ctr"/>
            <a:r>
              <a:rPr lang="en-US"/>
              <a:t>Metadata</a:t>
            </a:r>
          </a:p>
          <a:p>
            <a:pPr algn="ctr"/>
            <a:r>
              <a:rPr lang="en-US"/>
              <a:t>Repository</a:t>
            </a:r>
          </a:p>
        </p:txBody>
      </p:sp>
      <p:sp>
        <p:nvSpPr>
          <p:cNvPr id="4116" name="Rectangle 20"/>
          <p:cNvSpPr>
            <a:spLocks noChangeArrowheads="1"/>
          </p:cNvSpPr>
          <p:nvPr/>
        </p:nvSpPr>
        <p:spPr bwMode="auto">
          <a:xfrm>
            <a:off x="0" y="5791200"/>
            <a:ext cx="12954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Corporate</a:t>
            </a:r>
          </a:p>
          <a:p>
            <a:pPr algn="ctr"/>
            <a:r>
              <a:rPr lang="en-US"/>
              <a:t>Directory</a:t>
            </a:r>
          </a:p>
        </p:txBody>
      </p:sp>
      <p:sp>
        <p:nvSpPr>
          <p:cNvPr id="4118" name="AutoShape 22"/>
          <p:cNvSpPr>
            <a:spLocks noChangeArrowheads="1"/>
          </p:cNvSpPr>
          <p:nvPr/>
        </p:nvSpPr>
        <p:spPr bwMode="auto">
          <a:xfrm>
            <a:off x="1676400" y="5486400"/>
            <a:ext cx="1676400" cy="1219200"/>
          </a:xfrm>
          <a:prstGeom prst="cube">
            <a:avLst>
              <a:gd name="adj" fmla="val 25000"/>
            </a:avLst>
          </a:prstGeom>
          <a:solidFill>
            <a:srgbClr val="00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  <a:p>
            <a:pPr algn="ctr"/>
            <a:r>
              <a:rPr lang="en-US"/>
              <a:t>Access/</a:t>
            </a:r>
          </a:p>
          <a:p>
            <a:pPr algn="ctr"/>
            <a:r>
              <a:rPr lang="en-US"/>
              <a:t>User</a:t>
            </a:r>
          </a:p>
          <a:p>
            <a:pPr algn="ctr"/>
            <a:r>
              <a:rPr lang="en-US"/>
              <a:t>Management</a:t>
            </a:r>
          </a:p>
          <a:p>
            <a:pPr algn="ctr"/>
            <a:endParaRPr lang="en-US"/>
          </a:p>
        </p:txBody>
      </p:sp>
      <p:sp>
        <p:nvSpPr>
          <p:cNvPr id="4119" name="Rectangle 23"/>
          <p:cNvSpPr>
            <a:spLocks noChangeArrowheads="1"/>
          </p:cNvSpPr>
          <p:nvPr/>
        </p:nvSpPr>
        <p:spPr bwMode="auto">
          <a:xfrm>
            <a:off x="3429000" y="304800"/>
            <a:ext cx="12954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Rules</a:t>
            </a:r>
          </a:p>
          <a:p>
            <a:pPr algn="ctr"/>
            <a:r>
              <a:rPr lang="en-US"/>
              <a:t>Engine</a:t>
            </a:r>
          </a:p>
        </p:txBody>
      </p:sp>
      <p:sp>
        <p:nvSpPr>
          <p:cNvPr id="4121" name="Rectangle 25"/>
          <p:cNvSpPr>
            <a:spLocks noChangeArrowheads="1"/>
          </p:cNvSpPr>
          <p:nvPr/>
        </p:nvSpPr>
        <p:spPr bwMode="auto">
          <a:xfrm>
            <a:off x="6781800" y="304800"/>
            <a:ext cx="16002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2" name="Rectangle 26"/>
          <p:cNvSpPr>
            <a:spLocks noChangeArrowheads="1"/>
          </p:cNvSpPr>
          <p:nvPr/>
        </p:nvSpPr>
        <p:spPr bwMode="auto">
          <a:xfrm>
            <a:off x="6934200" y="457200"/>
            <a:ext cx="16002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3" name="Rectangle 27"/>
          <p:cNvSpPr>
            <a:spLocks noChangeArrowheads="1"/>
          </p:cNvSpPr>
          <p:nvPr/>
        </p:nvSpPr>
        <p:spPr bwMode="auto">
          <a:xfrm>
            <a:off x="7086600" y="609600"/>
            <a:ext cx="16002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4" name="Rectangle 28"/>
          <p:cNvSpPr>
            <a:spLocks noChangeArrowheads="1"/>
          </p:cNvSpPr>
          <p:nvPr/>
        </p:nvSpPr>
        <p:spPr bwMode="auto">
          <a:xfrm>
            <a:off x="7239000" y="762000"/>
            <a:ext cx="16002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Other</a:t>
            </a:r>
          </a:p>
          <a:p>
            <a:pPr algn="ctr"/>
            <a:r>
              <a:rPr lang="en-US"/>
              <a:t>Services</a:t>
            </a:r>
          </a:p>
        </p:txBody>
      </p:sp>
      <p:sp>
        <p:nvSpPr>
          <p:cNvPr id="4126" name="Rectangle 30"/>
          <p:cNvSpPr>
            <a:spLocks noChangeArrowheads="1"/>
          </p:cNvSpPr>
          <p:nvPr/>
        </p:nvSpPr>
        <p:spPr bwMode="auto">
          <a:xfrm>
            <a:off x="5029200" y="304800"/>
            <a:ext cx="1600200" cy="838200"/>
          </a:xfrm>
          <a:prstGeom prst="rect">
            <a:avLst/>
          </a:prstGeom>
          <a:solidFill>
            <a:srgbClr val="00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ID Service</a:t>
            </a:r>
          </a:p>
        </p:txBody>
      </p:sp>
      <p:sp>
        <p:nvSpPr>
          <p:cNvPr id="4128" name="Rectangle 32"/>
          <p:cNvSpPr>
            <a:spLocks noChangeArrowheads="1"/>
          </p:cNvSpPr>
          <p:nvPr/>
        </p:nvSpPr>
        <p:spPr bwMode="auto">
          <a:xfrm>
            <a:off x="5029200" y="1295400"/>
            <a:ext cx="1600200" cy="838200"/>
          </a:xfrm>
          <a:prstGeom prst="rect">
            <a:avLst/>
          </a:prstGeom>
          <a:solidFill>
            <a:srgbClr val="00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Resolution</a:t>
            </a:r>
          </a:p>
          <a:p>
            <a:pPr algn="ctr"/>
            <a:r>
              <a:rPr lang="en-US"/>
              <a:t> Service</a:t>
            </a:r>
          </a:p>
        </p:txBody>
      </p:sp>
      <p:sp>
        <p:nvSpPr>
          <p:cNvPr id="4129" name="AutoShape 33"/>
          <p:cNvSpPr>
            <a:spLocks noChangeArrowheads="1"/>
          </p:cNvSpPr>
          <p:nvPr/>
        </p:nvSpPr>
        <p:spPr bwMode="auto">
          <a:xfrm>
            <a:off x="1981200" y="1676400"/>
            <a:ext cx="1371600" cy="990600"/>
          </a:xfrm>
          <a:prstGeom prst="cube">
            <a:avLst>
              <a:gd name="adj" fmla="val 25000"/>
            </a:avLst>
          </a:prstGeom>
          <a:solidFill>
            <a:srgbClr val="00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30" name="Text Box 34"/>
          <p:cNvSpPr txBox="1">
            <a:spLocks noChangeArrowheads="1"/>
          </p:cNvSpPr>
          <p:nvPr/>
        </p:nvSpPr>
        <p:spPr bwMode="auto">
          <a:xfrm>
            <a:off x="1905000" y="1981200"/>
            <a:ext cx="1276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Rules</a:t>
            </a:r>
          </a:p>
          <a:p>
            <a:r>
              <a:rPr lang="en-US"/>
              <a:t>Repository</a:t>
            </a:r>
          </a:p>
        </p:txBody>
      </p:sp>
      <p:sp>
        <p:nvSpPr>
          <p:cNvPr id="4132" name="AutoShape 36"/>
          <p:cNvSpPr>
            <a:spLocks noChangeArrowheads="1"/>
          </p:cNvSpPr>
          <p:nvPr/>
        </p:nvSpPr>
        <p:spPr bwMode="auto">
          <a:xfrm>
            <a:off x="457200" y="4267200"/>
            <a:ext cx="1371600" cy="914400"/>
          </a:xfrm>
          <a:prstGeom prst="cube">
            <a:avLst>
              <a:gd name="adj" fmla="val 25000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Schema </a:t>
            </a:r>
          </a:p>
          <a:p>
            <a:pPr algn="ctr"/>
            <a:r>
              <a:rPr lang="en-US"/>
              <a:t>Repository</a:t>
            </a:r>
          </a:p>
        </p:txBody>
      </p:sp>
      <p:sp>
        <p:nvSpPr>
          <p:cNvPr id="4134" name="Line 38"/>
          <p:cNvSpPr>
            <a:spLocks noChangeShapeType="1"/>
          </p:cNvSpPr>
          <p:nvPr/>
        </p:nvSpPr>
        <p:spPr bwMode="auto">
          <a:xfrm>
            <a:off x="914400" y="11430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35" name="Line 39"/>
          <p:cNvSpPr>
            <a:spLocks noChangeShapeType="1"/>
          </p:cNvSpPr>
          <p:nvPr/>
        </p:nvSpPr>
        <p:spPr bwMode="auto">
          <a:xfrm>
            <a:off x="3048000" y="6096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36" name="Line 40"/>
          <p:cNvSpPr>
            <a:spLocks noChangeShapeType="1"/>
          </p:cNvSpPr>
          <p:nvPr/>
        </p:nvSpPr>
        <p:spPr bwMode="auto">
          <a:xfrm flipH="1" flipV="1">
            <a:off x="2057400" y="1143000"/>
            <a:ext cx="228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0" name="Line 44"/>
          <p:cNvSpPr>
            <a:spLocks noChangeShapeType="1"/>
          </p:cNvSpPr>
          <p:nvPr/>
        </p:nvSpPr>
        <p:spPr bwMode="auto">
          <a:xfrm flipV="1">
            <a:off x="1905000" y="4038600"/>
            <a:ext cx="838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1" name="Line 45"/>
          <p:cNvSpPr>
            <a:spLocks noChangeShapeType="1"/>
          </p:cNvSpPr>
          <p:nvPr/>
        </p:nvSpPr>
        <p:spPr bwMode="auto">
          <a:xfrm flipV="1">
            <a:off x="4267200" y="3962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3" name="Line 47"/>
          <p:cNvSpPr>
            <a:spLocks noChangeShapeType="1"/>
          </p:cNvSpPr>
          <p:nvPr/>
        </p:nvSpPr>
        <p:spPr bwMode="auto">
          <a:xfrm>
            <a:off x="5181600" y="3352800"/>
            <a:ext cx="1447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4" name="Line 48"/>
          <p:cNvSpPr>
            <a:spLocks noChangeShapeType="1"/>
          </p:cNvSpPr>
          <p:nvPr/>
        </p:nvSpPr>
        <p:spPr bwMode="auto">
          <a:xfrm>
            <a:off x="5181600" y="3581400"/>
            <a:ext cx="160020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5" name="Line 49"/>
          <p:cNvSpPr>
            <a:spLocks noChangeShapeType="1"/>
          </p:cNvSpPr>
          <p:nvPr/>
        </p:nvSpPr>
        <p:spPr bwMode="auto">
          <a:xfrm>
            <a:off x="2971800" y="1143000"/>
            <a:ext cx="685800" cy="1447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6" name="Line 50"/>
          <p:cNvSpPr>
            <a:spLocks noChangeShapeType="1"/>
          </p:cNvSpPr>
          <p:nvPr/>
        </p:nvSpPr>
        <p:spPr bwMode="auto">
          <a:xfrm>
            <a:off x="1295400" y="64008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8" name="AutoShape 52"/>
          <p:cNvSpPr>
            <a:spLocks noChangeArrowheads="1"/>
          </p:cNvSpPr>
          <p:nvPr/>
        </p:nvSpPr>
        <p:spPr bwMode="auto">
          <a:xfrm>
            <a:off x="4876800" y="5181600"/>
            <a:ext cx="1600200" cy="1447800"/>
          </a:xfrm>
          <a:prstGeom prst="cube">
            <a:avLst>
              <a:gd name="adj" fmla="val 25000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Centralized</a:t>
            </a:r>
          </a:p>
          <a:p>
            <a:pPr algn="ctr"/>
            <a:r>
              <a:rPr lang="en-US"/>
              <a:t>Data</a:t>
            </a:r>
          </a:p>
          <a:p>
            <a:pPr algn="ctr"/>
            <a:r>
              <a:rPr lang="en-US"/>
              <a:t>Repository</a:t>
            </a:r>
          </a:p>
        </p:txBody>
      </p:sp>
      <p:sp>
        <p:nvSpPr>
          <p:cNvPr id="4149" name="Line 53"/>
          <p:cNvSpPr>
            <a:spLocks noChangeShapeType="1"/>
          </p:cNvSpPr>
          <p:nvPr/>
        </p:nvSpPr>
        <p:spPr bwMode="auto">
          <a:xfrm flipH="1" flipV="1">
            <a:off x="4800600" y="3962400"/>
            <a:ext cx="1066800" cy="121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639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76200" y="76200"/>
            <a:ext cx="26812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/>
              <a:t>Registration of a New </a:t>
            </a:r>
          </a:p>
          <a:p>
            <a:r>
              <a:rPr lang="en-US" sz="2000"/>
              <a:t>Metadata Object</a:t>
            </a:r>
          </a:p>
        </p:txBody>
      </p:sp>
      <p:sp>
        <p:nvSpPr>
          <p:cNvPr id="2054" name="AutoShape 6"/>
          <p:cNvSpPr>
            <a:spLocks noChangeArrowheads="1"/>
          </p:cNvSpPr>
          <p:nvPr/>
        </p:nvSpPr>
        <p:spPr bwMode="auto">
          <a:xfrm>
            <a:off x="533400" y="3276600"/>
            <a:ext cx="457200" cy="381000"/>
          </a:xfrm>
          <a:prstGeom prst="smileyFace">
            <a:avLst>
              <a:gd name="adj" fmla="val 4653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762000" y="36576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762000" y="4038600"/>
            <a:ext cx="2286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 flipH="1">
            <a:off x="533400" y="4038600"/>
            <a:ext cx="2286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8" name="Line 10"/>
          <p:cNvSpPr>
            <a:spLocks noChangeShapeType="1"/>
          </p:cNvSpPr>
          <p:nvPr/>
        </p:nvSpPr>
        <p:spPr bwMode="auto">
          <a:xfrm>
            <a:off x="533400" y="38100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9" name="AutoShape 11"/>
          <p:cNvSpPr>
            <a:spLocks noChangeArrowheads="1"/>
          </p:cNvSpPr>
          <p:nvPr/>
        </p:nvSpPr>
        <p:spPr bwMode="auto">
          <a:xfrm>
            <a:off x="1295400" y="3429000"/>
            <a:ext cx="685800" cy="609600"/>
          </a:xfrm>
          <a:prstGeom prst="cube">
            <a:avLst>
              <a:gd name="adj" fmla="val 25000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0" name="AutoShape 12" descr="Small grid"/>
          <p:cNvSpPr>
            <a:spLocks noChangeArrowheads="1"/>
          </p:cNvSpPr>
          <p:nvPr/>
        </p:nvSpPr>
        <p:spPr bwMode="auto">
          <a:xfrm>
            <a:off x="1143000" y="4038600"/>
            <a:ext cx="685800" cy="152400"/>
          </a:xfrm>
          <a:prstGeom prst="parallelogram">
            <a:avLst>
              <a:gd name="adj" fmla="val 112500"/>
            </a:avLst>
          </a:prstGeom>
          <a:pattFill prst="smGrid">
            <a:fgClr>
              <a:schemeClr val="bg2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1371600" y="3657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2" name="Text Box 14"/>
          <p:cNvSpPr txBox="1">
            <a:spLocks noChangeArrowheads="1"/>
          </p:cNvSpPr>
          <p:nvPr/>
        </p:nvSpPr>
        <p:spPr bwMode="auto">
          <a:xfrm>
            <a:off x="1066800" y="4205288"/>
            <a:ext cx="831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BPMS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2209800" y="914400"/>
            <a:ext cx="1143000" cy="1600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Metadata</a:t>
            </a:r>
          </a:p>
          <a:p>
            <a:pPr algn="ctr"/>
            <a:r>
              <a:rPr lang="en-US"/>
              <a:t>Repository</a:t>
            </a:r>
          </a:p>
        </p:txBody>
      </p:sp>
      <p:sp>
        <p:nvSpPr>
          <p:cNvPr id="2065" name="AutoShape 17"/>
          <p:cNvSpPr>
            <a:spLocks noChangeArrowheads="1"/>
          </p:cNvSpPr>
          <p:nvPr/>
        </p:nvSpPr>
        <p:spPr bwMode="auto">
          <a:xfrm>
            <a:off x="1295400" y="2286000"/>
            <a:ext cx="381000" cy="533400"/>
          </a:xfrm>
          <a:prstGeom prst="foldedCorner">
            <a:avLst>
              <a:gd name="adj" fmla="val 125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6" name="Line 18"/>
          <p:cNvSpPr>
            <a:spLocks noChangeShapeType="1"/>
          </p:cNvSpPr>
          <p:nvPr/>
        </p:nvSpPr>
        <p:spPr bwMode="auto">
          <a:xfrm flipV="1">
            <a:off x="1600200" y="2057400"/>
            <a:ext cx="53340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7" name="Text Box 19"/>
          <p:cNvSpPr txBox="1">
            <a:spLocks noChangeArrowheads="1"/>
          </p:cNvSpPr>
          <p:nvPr/>
        </p:nvSpPr>
        <p:spPr bwMode="auto">
          <a:xfrm>
            <a:off x="609600" y="1447800"/>
            <a:ext cx="1374775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buFontTx/>
              <a:buAutoNum type="arabicParenBoth"/>
            </a:pPr>
            <a:r>
              <a:rPr lang="en-US" sz="1400" i="1"/>
              <a:t>MD object </a:t>
            </a:r>
          </a:p>
          <a:p>
            <a:r>
              <a:rPr lang="en-US" sz="1400" i="1"/>
              <a:t>published to </a:t>
            </a:r>
          </a:p>
          <a:p>
            <a:r>
              <a:rPr lang="en-US" sz="1400" i="1"/>
              <a:t>repository</a:t>
            </a:r>
          </a:p>
        </p:txBody>
      </p:sp>
      <p:sp>
        <p:nvSpPr>
          <p:cNvPr id="2068" name="Line 20"/>
          <p:cNvSpPr>
            <a:spLocks noChangeShapeType="1"/>
          </p:cNvSpPr>
          <p:nvPr/>
        </p:nvSpPr>
        <p:spPr bwMode="auto">
          <a:xfrm flipV="1">
            <a:off x="2057400" y="3810000"/>
            <a:ext cx="1905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5105400" y="5943600"/>
            <a:ext cx="1981200" cy="5334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Resolution service</a:t>
            </a:r>
          </a:p>
        </p:txBody>
      </p:sp>
      <p:sp>
        <p:nvSpPr>
          <p:cNvPr id="2070" name="Rectangle 22"/>
          <p:cNvSpPr>
            <a:spLocks noChangeArrowheads="1"/>
          </p:cNvSpPr>
          <p:nvPr/>
        </p:nvSpPr>
        <p:spPr bwMode="auto">
          <a:xfrm>
            <a:off x="4038600" y="3429000"/>
            <a:ext cx="1981200" cy="5334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Registration</a:t>
            </a:r>
          </a:p>
          <a:p>
            <a:pPr algn="ctr"/>
            <a:r>
              <a:rPr lang="en-US"/>
              <a:t>service</a:t>
            </a:r>
          </a:p>
        </p:txBody>
      </p:sp>
      <p:sp>
        <p:nvSpPr>
          <p:cNvPr id="2071" name="AutoShape 23"/>
          <p:cNvSpPr>
            <a:spLocks noChangeArrowheads="1"/>
          </p:cNvSpPr>
          <p:nvPr/>
        </p:nvSpPr>
        <p:spPr bwMode="auto">
          <a:xfrm>
            <a:off x="7086600" y="457200"/>
            <a:ext cx="1524000" cy="1981200"/>
          </a:xfrm>
          <a:prstGeom prst="can">
            <a:avLst>
              <a:gd name="adj" fmla="val 32500"/>
            </a:avLst>
          </a:prstGeom>
          <a:solidFill>
            <a:srgbClr val="CC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7315200" y="1219200"/>
            <a:ext cx="1136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Metadata</a:t>
            </a:r>
          </a:p>
          <a:p>
            <a:r>
              <a:rPr lang="en-US"/>
              <a:t>Registry</a:t>
            </a:r>
          </a:p>
        </p:txBody>
      </p:sp>
      <p:sp>
        <p:nvSpPr>
          <p:cNvPr id="2075" name="Rectangle 27"/>
          <p:cNvSpPr>
            <a:spLocks noChangeArrowheads="1"/>
          </p:cNvSpPr>
          <p:nvPr/>
        </p:nvSpPr>
        <p:spPr bwMode="auto">
          <a:xfrm>
            <a:off x="4191000" y="76200"/>
            <a:ext cx="2209800" cy="6096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Access control </a:t>
            </a:r>
          </a:p>
          <a:p>
            <a:pPr algn="ctr"/>
            <a:r>
              <a:rPr lang="en-US"/>
              <a:t>service</a:t>
            </a:r>
          </a:p>
        </p:txBody>
      </p:sp>
      <p:sp>
        <p:nvSpPr>
          <p:cNvPr id="2077" name="Line 29"/>
          <p:cNvSpPr>
            <a:spLocks noChangeShapeType="1"/>
          </p:cNvSpPr>
          <p:nvPr/>
        </p:nvSpPr>
        <p:spPr bwMode="auto">
          <a:xfrm flipV="1">
            <a:off x="3429000" y="533400"/>
            <a:ext cx="6858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78" name="Line 30"/>
          <p:cNvSpPr>
            <a:spLocks noChangeShapeType="1"/>
          </p:cNvSpPr>
          <p:nvPr/>
        </p:nvSpPr>
        <p:spPr bwMode="auto">
          <a:xfrm flipH="1">
            <a:off x="3505200" y="685800"/>
            <a:ext cx="6096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79" name="Text Box 31"/>
          <p:cNvSpPr txBox="1">
            <a:spLocks noChangeArrowheads="1"/>
          </p:cNvSpPr>
          <p:nvPr/>
        </p:nvSpPr>
        <p:spPr bwMode="auto">
          <a:xfrm>
            <a:off x="3614738" y="990600"/>
            <a:ext cx="2409825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1400" i="1"/>
              <a:t>(2) Write access</a:t>
            </a:r>
          </a:p>
          <a:p>
            <a:r>
              <a:rPr lang="en-US" sz="1400" i="1"/>
              <a:t>Is determined for MD object </a:t>
            </a:r>
          </a:p>
        </p:txBody>
      </p:sp>
      <p:sp>
        <p:nvSpPr>
          <p:cNvPr id="2081" name="Rectangle 33"/>
          <p:cNvSpPr>
            <a:spLocks noChangeArrowheads="1"/>
          </p:cNvSpPr>
          <p:nvPr/>
        </p:nvSpPr>
        <p:spPr bwMode="auto">
          <a:xfrm>
            <a:off x="2895600" y="5943600"/>
            <a:ext cx="1981200" cy="5334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ID service</a:t>
            </a:r>
          </a:p>
        </p:txBody>
      </p:sp>
      <p:sp>
        <p:nvSpPr>
          <p:cNvPr id="2082" name="Rectangle 34"/>
          <p:cNvSpPr>
            <a:spLocks noChangeArrowheads="1"/>
          </p:cNvSpPr>
          <p:nvPr/>
        </p:nvSpPr>
        <p:spPr bwMode="auto">
          <a:xfrm>
            <a:off x="6934200" y="4495800"/>
            <a:ext cx="2057400" cy="5334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Object-type-specific</a:t>
            </a:r>
          </a:p>
          <a:p>
            <a:pPr algn="ctr"/>
            <a:r>
              <a:rPr lang="en-US"/>
              <a:t>indexing service</a:t>
            </a:r>
          </a:p>
        </p:txBody>
      </p:sp>
      <p:sp>
        <p:nvSpPr>
          <p:cNvPr id="2083" name="Line 35"/>
          <p:cNvSpPr>
            <a:spLocks noChangeShapeType="1"/>
          </p:cNvSpPr>
          <p:nvPr/>
        </p:nvSpPr>
        <p:spPr bwMode="auto">
          <a:xfrm>
            <a:off x="3429000" y="2057400"/>
            <a:ext cx="990600" cy="121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84" name="AutoShape 36"/>
          <p:cNvSpPr>
            <a:spLocks noChangeArrowheads="1"/>
          </p:cNvSpPr>
          <p:nvPr/>
        </p:nvSpPr>
        <p:spPr bwMode="auto">
          <a:xfrm>
            <a:off x="3810000" y="2590800"/>
            <a:ext cx="381000" cy="533400"/>
          </a:xfrm>
          <a:prstGeom prst="foldedCorner">
            <a:avLst>
              <a:gd name="adj" fmla="val 125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85" name="Text Box 37"/>
          <p:cNvSpPr txBox="1">
            <a:spLocks noChangeArrowheads="1"/>
          </p:cNvSpPr>
          <p:nvPr/>
        </p:nvSpPr>
        <p:spPr bwMode="auto">
          <a:xfrm>
            <a:off x="2057400" y="3048000"/>
            <a:ext cx="1654175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1400" i="1"/>
              <a:t>(3) BPMS invokes </a:t>
            </a:r>
          </a:p>
          <a:p>
            <a:r>
              <a:rPr lang="en-US" sz="1400" i="1"/>
              <a:t>the registration</a:t>
            </a:r>
          </a:p>
          <a:p>
            <a:r>
              <a:rPr lang="en-US" sz="1400" i="1"/>
              <a:t>service</a:t>
            </a:r>
          </a:p>
        </p:txBody>
      </p:sp>
      <p:sp>
        <p:nvSpPr>
          <p:cNvPr id="2086" name="Text Box 38"/>
          <p:cNvSpPr txBox="1">
            <a:spLocks noChangeArrowheads="1"/>
          </p:cNvSpPr>
          <p:nvPr/>
        </p:nvSpPr>
        <p:spPr bwMode="auto">
          <a:xfrm>
            <a:off x="3730625" y="1784350"/>
            <a:ext cx="1296988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1400" i="1"/>
              <a:t>(4) MD object </a:t>
            </a:r>
          </a:p>
          <a:p>
            <a:r>
              <a:rPr lang="en-US" sz="1400" i="1"/>
              <a:t>(and location)</a:t>
            </a:r>
          </a:p>
          <a:p>
            <a:r>
              <a:rPr lang="en-US" sz="1400" i="1"/>
              <a:t>obtained</a:t>
            </a:r>
          </a:p>
          <a:p>
            <a:endParaRPr lang="en-US" sz="1400" i="1"/>
          </a:p>
        </p:txBody>
      </p:sp>
      <p:sp>
        <p:nvSpPr>
          <p:cNvPr id="2087" name="Line 39"/>
          <p:cNvSpPr>
            <a:spLocks noChangeShapeType="1"/>
          </p:cNvSpPr>
          <p:nvPr/>
        </p:nvSpPr>
        <p:spPr bwMode="auto">
          <a:xfrm flipH="1">
            <a:off x="3962400" y="4038600"/>
            <a:ext cx="685800" cy="1828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88" name="Line 40"/>
          <p:cNvSpPr>
            <a:spLocks noChangeShapeType="1"/>
          </p:cNvSpPr>
          <p:nvPr/>
        </p:nvSpPr>
        <p:spPr bwMode="auto">
          <a:xfrm flipV="1">
            <a:off x="4114800" y="4038600"/>
            <a:ext cx="685800" cy="1828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89" name="Text Box 41"/>
          <p:cNvSpPr txBox="1">
            <a:spLocks noChangeArrowheads="1"/>
          </p:cNvSpPr>
          <p:nvPr/>
        </p:nvSpPr>
        <p:spPr bwMode="auto">
          <a:xfrm>
            <a:off x="2819400" y="5213350"/>
            <a:ext cx="1287463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1400" i="1"/>
              <a:t>(5) Valid ID</a:t>
            </a:r>
          </a:p>
          <a:p>
            <a:r>
              <a:rPr lang="en-US" sz="1400" i="1"/>
              <a:t>for MD object </a:t>
            </a:r>
          </a:p>
          <a:p>
            <a:r>
              <a:rPr lang="en-US" sz="1400" i="1"/>
              <a:t>obtained</a:t>
            </a:r>
          </a:p>
        </p:txBody>
      </p:sp>
      <p:sp>
        <p:nvSpPr>
          <p:cNvPr id="2090" name="Line 42"/>
          <p:cNvSpPr>
            <a:spLocks noChangeShapeType="1"/>
          </p:cNvSpPr>
          <p:nvPr/>
        </p:nvSpPr>
        <p:spPr bwMode="auto">
          <a:xfrm flipH="1">
            <a:off x="5715000" y="4038600"/>
            <a:ext cx="0" cy="1828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91" name="Line 43"/>
          <p:cNvSpPr>
            <a:spLocks noChangeShapeType="1"/>
          </p:cNvSpPr>
          <p:nvPr/>
        </p:nvSpPr>
        <p:spPr bwMode="auto">
          <a:xfrm flipV="1">
            <a:off x="5867400" y="4038600"/>
            <a:ext cx="0" cy="1828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92" name="Text Box 44"/>
          <p:cNvSpPr txBox="1">
            <a:spLocks noChangeArrowheads="1"/>
          </p:cNvSpPr>
          <p:nvPr/>
        </p:nvSpPr>
        <p:spPr bwMode="auto">
          <a:xfrm>
            <a:off x="4595813" y="4756150"/>
            <a:ext cx="1119187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1400" i="1"/>
              <a:t>(6) Location</a:t>
            </a:r>
          </a:p>
          <a:p>
            <a:r>
              <a:rPr lang="en-US" sz="1400" i="1"/>
              <a:t>and ID are</a:t>
            </a:r>
          </a:p>
          <a:p>
            <a:r>
              <a:rPr lang="en-US" sz="1400" i="1"/>
              <a:t>stored </a:t>
            </a:r>
          </a:p>
        </p:txBody>
      </p:sp>
      <p:sp>
        <p:nvSpPr>
          <p:cNvPr id="2093" name="AutoShape 45"/>
          <p:cNvSpPr>
            <a:spLocks noChangeArrowheads="1"/>
          </p:cNvSpPr>
          <p:nvPr/>
        </p:nvSpPr>
        <p:spPr bwMode="auto">
          <a:xfrm>
            <a:off x="6477000" y="3886200"/>
            <a:ext cx="381000" cy="533400"/>
          </a:xfrm>
          <a:prstGeom prst="foldedCorner">
            <a:avLst>
              <a:gd name="adj" fmla="val 125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94" name="Line 46"/>
          <p:cNvSpPr>
            <a:spLocks noChangeShapeType="1"/>
          </p:cNvSpPr>
          <p:nvPr/>
        </p:nvSpPr>
        <p:spPr bwMode="auto">
          <a:xfrm>
            <a:off x="6096000" y="3886200"/>
            <a:ext cx="10668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95" name="Line 47"/>
          <p:cNvSpPr>
            <a:spLocks noChangeShapeType="1"/>
          </p:cNvSpPr>
          <p:nvPr/>
        </p:nvSpPr>
        <p:spPr bwMode="auto">
          <a:xfrm>
            <a:off x="6172200" y="3810000"/>
            <a:ext cx="10668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96" name="Text Box 48"/>
          <p:cNvSpPr txBox="1">
            <a:spLocks noChangeArrowheads="1"/>
          </p:cNvSpPr>
          <p:nvPr/>
        </p:nvSpPr>
        <p:spPr bwMode="auto">
          <a:xfrm>
            <a:off x="7186613" y="3536950"/>
            <a:ext cx="1119187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1400" i="1"/>
              <a:t>(7) Indexing</a:t>
            </a:r>
          </a:p>
          <a:p>
            <a:r>
              <a:rPr lang="en-US" sz="1400" i="1"/>
              <a:t>service is</a:t>
            </a:r>
          </a:p>
          <a:p>
            <a:r>
              <a:rPr lang="en-US" sz="1400" i="1"/>
              <a:t>invoked</a:t>
            </a:r>
          </a:p>
        </p:txBody>
      </p:sp>
      <p:sp>
        <p:nvSpPr>
          <p:cNvPr id="2097" name="Line 49"/>
          <p:cNvSpPr>
            <a:spLocks noChangeShapeType="1"/>
          </p:cNvSpPr>
          <p:nvPr/>
        </p:nvSpPr>
        <p:spPr bwMode="auto">
          <a:xfrm flipV="1">
            <a:off x="5791200" y="2362200"/>
            <a:ext cx="12192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98" name="Line 50"/>
          <p:cNvSpPr>
            <a:spLocks noChangeShapeType="1"/>
          </p:cNvSpPr>
          <p:nvPr/>
        </p:nvSpPr>
        <p:spPr bwMode="auto">
          <a:xfrm flipV="1">
            <a:off x="5943600" y="2438400"/>
            <a:ext cx="12192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99" name="Text Box 51"/>
          <p:cNvSpPr txBox="1">
            <a:spLocks noChangeArrowheads="1"/>
          </p:cNvSpPr>
          <p:nvPr/>
        </p:nvSpPr>
        <p:spPr bwMode="auto">
          <a:xfrm>
            <a:off x="5334000" y="1600200"/>
            <a:ext cx="1744663" cy="136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1400" i="1"/>
              <a:t>(8) Properties</a:t>
            </a:r>
          </a:p>
          <a:p>
            <a:r>
              <a:rPr lang="en-US" sz="1400" i="1"/>
              <a:t>and relationships</a:t>
            </a:r>
          </a:p>
          <a:p>
            <a:r>
              <a:rPr lang="en-US" sz="1400" i="1"/>
              <a:t>stored in registry; </a:t>
            </a:r>
          </a:p>
          <a:p>
            <a:r>
              <a:rPr lang="en-US" sz="1400" i="1"/>
              <a:t>BP instance </a:t>
            </a:r>
          </a:p>
          <a:p>
            <a:r>
              <a:rPr lang="en-US" sz="1400" i="1"/>
              <a:t>status</a:t>
            </a:r>
          </a:p>
          <a:p>
            <a:r>
              <a:rPr lang="en-US" sz="1400" i="1"/>
              <a:t>updated</a:t>
            </a:r>
          </a:p>
        </p:txBody>
      </p:sp>
      <p:sp>
        <p:nvSpPr>
          <p:cNvPr id="2100" name="Line 52"/>
          <p:cNvSpPr>
            <a:spLocks noChangeShapeType="1"/>
          </p:cNvSpPr>
          <p:nvPr/>
        </p:nvSpPr>
        <p:spPr bwMode="auto">
          <a:xfrm flipV="1">
            <a:off x="2057400" y="3962400"/>
            <a:ext cx="1905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01" name="Text Box 53"/>
          <p:cNvSpPr txBox="1">
            <a:spLocks noChangeArrowheads="1"/>
          </p:cNvSpPr>
          <p:nvPr/>
        </p:nvSpPr>
        <p:spPr bwMode="auto">
          <a:xfrm>
            <a:off x="1919288" y="4038600"/>
            <a:ext cx="1662112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1400" i="1"/>
              <a:t>(9)Registration</a:t>
            </a:r>
          </a:p>
          <a:p>
            <a:r>
              <a:rPr lang="en-US" sz="1400" i="1"/>
              <a:t>response sent with</a:t>
            </a:r>
          </a:p>
          <a:p>
            <a:r>
              <a:rPr lang="en-US" sz="1400" i="1"/>
              <a:t>errors/warnings</a:t>
            </a:r>
          </a:p>
          <a:p>
            <a:r>
              <a:rPr lang="en-US" sz="1400" i="1"/>
              <a:t>and/or success</a:t>
            </a:r>
          </a:p>
        </p:txBody>
      </p:sp>
    </p:spTree>
    <p:extLst>
      <p:ext uri="{BB962C8B-B14F-4D97-AF65-F5344CB8AC3E}">
        <p14:creationId xmlns:p14="http://schemas.microsoft.com/office/powerpoint/2010/main" val="1264734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Standards Agnosticism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The term “standards-agnostic” means that the standards themselves are represented as metadata objects within the registry</a:t>
            </a:r>
          </a:p>
          <a:p>
            <a:pPr lvl="1"/>
            <a:r>
              <a:rPr lang="en-US" dirty="0" smtClean="0"/>
              <a:t>Each version of each relevant standard is described as either a read-only or a sufficient read-write format for any type of object</a:t>
            </a:r>
          </a:p>
          <a:p>
            <a:pPr lvl="1"/>
            <a:r>
              <a:rPr lang="en-US" dirty="0" smtClean="0"/>
              <a:t>Every metadata object describes which versions of which standards are supported</a:t>
            </a:r>
          </a:p>
          <a:p>
            <a:pPr lvl="1"/>
            <a:r>
              <a:rPr lang="en-US" dirty="0" smtClean="0"/>
              <a:t>Transformation services between standards and versions are also registered resources</a:t>
            </a:r>
          </a:p>
          <a:p>
            <a:pPr lvl="1"/>
            <a:r>
              <a:rPr lang="en-US" dirty="0" smtClean="0"/>
              <a:t>Introducing new standards or new versions of new standards has a minimal impact on existing applications</a:t>
            </a:r>
          </a:p>
          <a:p>
            <a:pPr lvl="1"/>
            <a:r>
              <a:rPr lang="en-US" dirty="0" smtClean="0"/>
              <a:t>Some “standards” could be agreed organization-wide standards, not necessarily public standards such as DDI and SDMX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238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Considerations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There is a huge emphasis on process automation and management</a:t>
            </a:r>
          </a:p>
          <a:p>
            <a:pPr lvl="1"/>
            <a:r>
              <a:rPr lang="en-US" dirty="0" smtClean="0"/>
              <a:t>All functionality is exposed as web services – this is an “SOA” architecture which works well with existing process management tools</a:t>
            </a:r>
          </a:p>
          <a:p>
            <a:r>
              <a:rPr lang="en-US" dirty="0" smtClean="0"/>
              <a:t>The cost of developing and deploying the new infrastructure will be very high</a:t>
            </a:r>
          </a:p>
          <a:p>
            <a:pPr lvl="1"/>
            <a:r>
              <a:rPr lang="en-US" dirty="0" smtClean="0"/>
              <a:t>Migration from legacy systems will be challenging</a:t>
            </a:r>
          </a:p>
          <a:p>
            <a:pPr lvl="1"/>
            <a:r>
              <a:rPr lang="en-US" dirty="0" smtClean="0"/>
              <a:t>Organizational change issues will need to be overcome</a:t>
            </a:r>
          </a:p>
          <a:p>
            <a:r>
              <a:rPr lang="en-US" dirty="0" smtClean="0"/>
              <a:t>The value of deploying such a system will be immense</a:t>
            </a:r>
          </a:p>
          <a:p>
            <a:pPr lvl="1"/>
            <a:r>
              <a:rPr lang="en-US" dirty="0" smtClean="0"/>
              <a:t>Flexibility and speed will be greatly increased for statistical production</a:t>
            </a:r>
          </a:p>
          <a:p>
            <a:pPr lvl="1"/>
            <a:r>
              <a:rPr lang="en-US" dirty="0" smtClean="0"/>
              <a:t>Management of the statistical production process will be easier and more effective</a:t>
            </a:r>
          </a:p>
          <a:p>
            <a:pPr lvl="1"/>
            <a:r>
              <a:rPr lang="en-US" dirty="0" smtClean="0"/>
              <a:t>Consistency and quality of the data products will be enhanced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667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Future Possibilities: The SDMX-DDI Dialogue Proposal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There has been a set of informal meetings between </a:t>
            </a:r>
            <a:r>
              <a:rPr lang="en-US" dirty="0" smtClean="0"/>
              <a:t>members (and prospective members) </a:t>
            </a:r>
            <a:r>
              <a:rPr lang="en-US" dirty="0" smtClean="0"/>
              <a:t>of the SDMX community and the DDI community, looking for ways in which the standards can be used together effectively</a:t>
            </a:r>
          </a:p>
          <a:p>
            <a:pPr lvl="1"/>
            <a:r>
              <a:rPr lang="en-US" dirty="0" smtClean="0"/>
              <a:t>The first meeting was held at EDDI 2010</a:t>
            </a:r>
          </a:p>
          <a:p>
            <a:pPr lvl="1"/>
            <a:r>
              <a:rPr lang="en-US" dirty="0" smtClean="0"/>
              <a:t>There have been several other meetings since</a:t>
            </a:r>
          </a:p>
          <a:p>
            <a:r>
              <a:rPr lang="en-US" dirty="0" smtClean="0"/>
              <a:t>One proposal is now being discussed which outlines an approach to using SDMX and DDI interchangeably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966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Simple Fact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Its not about which flavor of XML you use – XML doesn’t really matter</a:t>
            </a:r>
          </a:p>
          <a:p>
            <a:r>
              <a:rPr lang="en-US" dirty="0" smtClean="0"/>
              <a:t>It’s about the </a:t>
            </a:r>
            <a:r>
              <a:rPr lang="en-US" i="1" dirty="0" smtClean="0"/>
              <a:t>data</a:t>
            </a:r>
            <a:r>
              <a:rPr lang="en-US" dirty="0" smtClean="0"/>
              <a:t> and the </a:t>
            </a:r>
            <a:r>
              <a:rPr lang="en-US" i="1" dirty="0" smtClean="0"/>
              <a:t>metadata</a:t>
            </a:r>
            <a:r>
              <a:rPr lang="en-US" dirty="0" smtClean="0"/>
              <a:t>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547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Challenge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I want to use DDI to describe my data, and you want to use SDMX, how can we ensure that we are getting the same data and metadata?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525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Proposed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SDMX-DDI Dialogue has been defining a set of relevant business cases where the two standards could be used together</a:t>
            </a:r>
          </a:p>
          <a:p>
            <a:r>
              <a:rPr lang="en-US" dirty="0" smtClean="0"/>
              <a:t>One of these business cases involves retrieving unit record data from a register</a:t>
            </a:r>
          </a:p>
          <a:p>
            <a:r>
              <a:rPr lang="en-US" dirty="0" smtClean="0"/>
              <a:t>A model of the full set of useful data and metadata has been identified</a:t>
            </a:r>
          </a:p>
          <a:p>
            <a:pPr lvl="1"/>
            <a:r>
              <a:rPr lang="en-US" dirty="0" smtClean="0"/>
              <a:t>The metadata is a subset of the DDI elements, which could be expressed in DDI as a “DDI Profile”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384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Proposed Approach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 full set of information includes:</a:t>
            </a:r>
          </a:p>
          <a:p>
            <a:pPr lvl="1"/>
            <a:r>
              <a:rPr lang="en-US" dirty="0" smtClean="0"/>
              <a:t>The unit record data</a:t>
            </a:r>
          </a:p>
          <a:p>
            <a:pPr lvl="1"/>
            <a:r>
              <a:rPr lang="en-US" dirty="0" smtClean="0"/>
              <a:t>Structural information about the variables and representations</a:t>
            </a:r>
          </a:p>
          <a:p>
            <a:pPr lvl="1"/>
            <a:r>
              <a:rPr lang="en-US" dirty="0" smtClean="0"/>
              <a:t>Additional information about how the data has been generated/collected/processed</a:t>
            </a:r>
          </a:p>
          <a:p>
            <a:r>
              <a:rPr lang="en-US" dirty="0" smtClean="0"/>
              <a:t>In DDI, this set of information can be expressed as a DDI instance and a data file</a:t>
            </a:r>
          </a:p>
          <a:p>
            <a:pPr lvl="1"/>
            <a:r>
              <a:rPr lang="en-US" dirty="0" smtClean="0"/>
              <a:t>Both the structural and processing metadata can be expressed as a single DDI instance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270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Proposed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In SDMX, we have three XML files:</a:t>
            </a:r>
          </a:p>
          <a:p>
            <a:pPr lvl="1"/>
            <a:r>
              <a:rPr lang="en-US" dirty="0" smtClean="0"/>
              <a:t>A file holding the data, expressed as dimensional </a:t>
            </a:r>
            <a:r>
              <a:rPr lang="en-US" dirty="0" err="1" smtClean="0"/>
              <a:t>microdata</a:t>
            </a:r>
            <a:endParaRPr lang="en-US" dirty="0" smtClean="0"/>
          </a:p>
          <a:p>
            <a:pPr lvl="2"/>
            <a:r>
              <a:rPr lang="en-US" dirty="0" smtClean="0"/>
              <a:t>The unit identifier is a dimension</a:t>
            </a:r>
          </a:p>
          <a:p>
            <a:pPr lvl="2"/>
            <a:r>
              <a:rPr lang="en-US" dirty="0"/>
              <a:t>T</a:t>
            </a:r>
            <a:r>
              <a:rPr lang="en-US" dirty="0" smtClean="0"/>
              <a:t>he variable identifier is a dimension</a:t>
            </a:r>
          </a:p>
          <a:p>
            <a:pPr lvl="2"/>
            <a:r>
              <a:rPr lang="en-US" dirty="0"/>
              <a:t>T</a:t>
            </a:r>
            <a:r>
              <a:rPr lang="en-US" dirty="0" smtClean="0"/>
              <a:t>here are dimensions related to time</a:t>
            </a:r>
          </a:p>
          <a:p>
            <a:pPr lvl="1"/>
            <a:r>
              <a:rPr lang="en-US" dirty="0" smtClean="0"/>
              <a:t>A reference metadata report will all other metadata describing the process/collection/generation of the administrative data</a:t>
            </a:r>
          </a:p>
          <a:p>
            <a:pPr lvl="1"/>
            <a:r>
              <a:rPr lang="en-US" dirty="0" smtClean="0"/>
              <a:t>A file describing the concepts, data structure, and </a:t>
            </a:r>
            <a:r>
              <a:rPr lang="en-US" dirty="0" err="1" smtClean="0"/>
              <a:t>codelists</a:t>
            </a:r>
            <a:r>
              <a:rPr lang="en-US" dirty="0" smtClean="0"/>
              <a:t> (“structural metadata”) for the data, and also the structure of the metadata report</a:t>
            </a:r>
          </a:p>
        </p:txBody>
      </p:sp>
    </p:spTree>
    <p:extLst>
      <p:ext uri="{BB962C8B-B14F-4D97-AF65-F5344CB8AC3E}">
        <p14:creationId xmlns:p14="http://schemas.microsoft.com/office/powerpoint/2010/main" val="1561082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29000" y="457200"/>
            <a:ext cx="2438400" cy="1295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Metadata</a:t>
            </a:r>
            <a:endParaRPr lang="en-US" dirty="0"/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Set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lded Corner 4"/>
          <p:cNvSpPr/>
          <p:nvPr/>
        </p:nvSpPr>
        <p:spPr>
          <a:xfrm>
            <a:off x="1219200" y="609600"/>
            <a:ext cx="1371600" cy="1143000"/>
          </a:xfrm>
          <a:prstGeom prst="foldedCorne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Unit Record Data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228600"/>
            <a:ext cx="5410200" cy="2057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1676400" y="2286000"/>
            <a:ext cx="1600200" cy="182880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lded Corner 9"/>
          <p:cNvSpPr/>
          <p:nvPr/>
        </p:nvSpPr>
        <p:spPr>
          <a:xfrm>
            <a:off x="228600" y="4495800"/>
            <a:ext cx="1447800" cy="1447800"/>
          </a:xfrm>
          <a:prstGeom prst="foldedCorner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DDI Instance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Folded Corner 10"/>
          <p:cNvSpPr/>
          <p:nvPr/>
        </p:nvSpPr>
        <p:spPr>
          <a:xfrm>
            <a:off x="2057400" y="4495800"/>
            <a:ext cx="1371600" cy="1447800"/>
          </a:xfrm>
          <a:prstGeom prst="foldedCorner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ASCII Data File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3886200" y="2819400"/>
            <a:ext cx="0" cy="35814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305300" y="2312158"/>
            <a:ext cx="1409700" cy="167640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olded Corner 16"/>
          <p:cNvSpPr/>
          <p:nvPr/>
        </p:nvSpPr>
        <p:spPr>
          <a:xfrm>
            <a:off x="4191000" y="4495800"/>
            <a:ext cx="1295400" cy="1066800"/>
          </a:xfrm>
          <a:prstGeom prst="foldedCorner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SDMX Data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Set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olded Corner 18"/>
          <p:cNvSpPr/>
          <p:nvPr/>
        </p:nvSpPr>
        <p:spPr>
          <a:xfrm>
            <a:off x="5638800" y="4495800"/>
            <a:ext cx="1295400" cy="1066800"/>
          </a:xfrm>
          <a:prstGeom prst="foldedCorner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SDMX Structural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Metadata</a:t>
            </a:r>
          </a:p>
        </p:txBody>
      </p:sp>
      <p:sp>
        <p:nvSpPr>
          <p:cNvPr id="20" name="Folded Corner 19"/>
          <p:cNvSpPr/>
          <p:nvPr/>
        </p:nvSpPr>
        <p:spPr>
          <a:xfrm>
            <a:off x="7086600" y="4495800"/>
            <a:ext cx="1295400" cy="1066800"/>
          </a:xfrm>
          <a:prstGeom prst="foldedCorner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SDMX Metadata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Report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7720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If I am using SDMX, but I am sent DDI, a simple transformation will give me the same payload of data and metadata</a:t>
            </a:r>
          </a:p>
          <a:p>
            <a:r>
              <a:rPr lang="en-US" dirty="0" smtClean="0"/>
              <a:t>Vice-versa for SDMX users</a:t>
            </a:r>
          </a:p>
          <a:p>
            <a:r>
              <a:rPr lang="en-US" dirty="0" smtClean="0"/>
              <a:t>There are some conventions which will need to be established regarding identifiers and the way the unit record files are structured</a:t>
            </a:r>
          </a:p>
          <a:p>
            <a:r>
              <a:rPr lang="en-US" dirty="0" smtClean="0"/>
              <a:t>There will need to be agreed models for each business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104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An SDMX File?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19200"/>
            <a:ext cx="8305799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482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Questions?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17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1373</TotalTime>
  <Words>2070</Words>
  <Application>Microsoft Office PowerPoint</Application>
  <PresentationFormat>On-screen Show (4:3)</PresentationFormat>
  <Paragraphs>326</Paragraphs>
  <Slides>33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SDMX and DDI: How Do They Fit Together in Practical Terms?</vt:lpstr>
      <vt:lpstr>Outline</vt:lpstr>
      <vt:lpstr>Background</vt:lpstr>
      <vt:lpstr>Background (2)</vt:lpstr>
      <vt:lpstr>Background (3)</vt:lpstr>
      <vt:lpstr>Characterizing the Standards: DDI</vt:lpstr>
      <vt:lpstr>Characterizing the Standards: SDMX</vt:lpstr>
      <vt:lpstr>Differences</vt:lpstr>
      <vt:lpstr>Similarities: Design</vt:lpstr>
      <vt:lpstr>Similarities: Specific Metadata Items</vt:lpstr>
      <vt:lpstr>Other Relevant Standards</vt:lpstr>
      <vt:lpstr>Implementation Approach: DDI In, SDMX Out</vt:lpstr>
      <vt:lpstr>DDI In, SDMX Out</vt:lpstr>
      <vt:lpstr>Considerations</vt:lpstr>
      <vt:lpstr>Implementation Approach:  SDMX-Centric </vt:lpstr>
      <vt:lpstr>PowerPoint Presentation</vt:lpstr>
      <vt:lpstr>MSD for DDI</vt:lpstr>
      <vt:lpstr>Considerations</vt:lpstr>
      <vt:lpstr>Implementation Approach: Standards Agnostic</vt:lpstr>
      <vt:lpstr>PowerPoint Presentation</vt:lpstr>
      <vt:lpstr>PowerPoint Presentation</vt:lpstr>
      <vt:lpstr>Standards Agnosticism</vt:lpstr>
      <vt:lpstr>Considerations</vt:lpstr>
      <vt:lpstr>Future Possibilities: The SDMX-DDI Dialogue Proposal</vt:lpstr>
      <vt:lpstr>A Simple Fact</vt:lpstr>
      <vt:lpstr>The Challenge</vt:lpstr>
      <vt:lpstr>The Proposed Approach</vt:lpstr>
      <vt:lpstr>The Proposed Approach (2)</vt:lpstr>
      <vt:lpstr>The Proposed Approach</vt:lpstr>
      <vt:lpstr>PowerPoint Presentation</vt:lpstr>
      <vt:lpstr>Results</vt:lpstr>
      <vt:lpstr>An SDMX File?</vt:lpstr>
      <vt:lpstr>Questions?</vt:lpstr>
    </vt:vector>
  </TitlesOfParts>
  <Company>Toshiba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SDMX and DDI: How Do They Fit Together in Practical Terms?</dc:title>
  <dc:creator>agregory</dc:creator>
  <cp:lastModifiedBy>agregory</cp:lastModifiedBy>
  <cp:revision>49</cp:revision>
  <dcterms:created xsi:type="dcterms:W3CDTF">2011-12-04T12:35:03Z</dcterms:created>
  <dcterms:modified xsi:type="dcterms:W3CDTF">2011-12-06T09:26:28Z</dcterms:modified>
</cp:coreProperties>
</file>