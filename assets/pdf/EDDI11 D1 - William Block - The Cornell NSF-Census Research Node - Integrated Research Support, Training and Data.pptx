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5"/>
  </p:notesMasterIdLst>
  <p:sldIdLst>
    <p:sldId id="256" r:id="rId2"/>
    <p:sldId id="287" r:id="rId3"/>
    <p:sldId id="277" r:id="rId4"/>
    <p:sldId id="285" r:id="rId5"/>
    <p:sldId id="289" r:id="rId6"/>
    <p:sldId id="271" r:id="rId7"/>
    <p:sldId id="279" r:id="rId8"/>
    <p:sldId id="286" r:id="rId9"/>
    <p:sldId id="272" r:id="rId10"/>
    <p:sldId id="273" r:id="rId11"/>
    <p:sldId id="274" r:id="rId12"/>
    <p:sldId id="280" r:id="rId13"/>
    <p:sldId id="291" r:id="rId14"/>
    <p:sldId id="275" r:id="rId15"/>
    <p:sldId id="276" r:id="rId16"/>
    <p:sldId id="266" r:id="rId17"/>
    <p:sldId id="267" r:id="rId18"/>
    <p:sldId id="281" r:id="rId19"/>
    <p:sldId id="269" r:id="rId20"/>
    <p:sldId id="282" r:id="rId21"/>
    <p:sldId id="268" r:id="rId22"/>
    <p:sldId id="265" r:id="rId23"/>
    <p:sldId id="278" r:id="rId24"/>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mn-ea"/>
        <a:cs typeface="Arial" charset="0"/>
      </a:defRPr>
    </a:lvl1pPr>
    <a:lvl2pPr marL="457200" algn="l" defTabSz="457200" rtl="0" fontAlgn="base">
      <a:spcBef>
        <a:spcPct val="0"/>
      </a:spcBef>
      <a:spcAft>
        <a:spcPct val="0"/>
      </a:spcAft>
      <a:defRPr kern="1200">
        <a:solidFill>
          <a:schemeClr val="tx1"/>
        </a:solidFill>
        <a:latin typeface="Calibri" pitchFamily="34" charset="0"/>
        <a:ea typeface="+mn-ea"/>
        <a:cs typeface="Arial" charset="0"/>
      </a:defRPr>
    </a:lvl2pPr>
    <a:lvl3pPr marL="914400" algn="l" defTabSz="457200" rtl="0" fontAlgn="base">
      <a:spcBef>
        <a:spcPct val="0"/>
      </a:spcBef>
      <a:spcAft>
        <a:spcPct val="0"/>
      </a:spcAft>
      <a:defRPr kern="1200">
        <a:solidFill>
          <a:schemeClr val="tx1"/>
        </a:solidFill>
        <a:latin typeface="Calibri" pitchFamily="34" charset="0"/>
        <a:ea typeface="+mn-ea"/>
        <a:cs typeface="Arial" charset="0"/>
      </a:defRPr>
    </a:lvl3pPr>
    <a:lvl4pPr marL="1371600" algn="l" defTabSz="457200" rtl="0" fontAlgn="base">
      <a:spcBef>
        <a:spcPct val="0"/>
      </a:spcBef>
      <a:spcAft>
        <a:spcPct val="0"/>
      </a:spcAft>
      <a:defRPr kern="1200">
        <a:solidFill>
          <a:schemeClr val="tx1"/>
        </a:solidFill>
        <a:latin typeface="Calibri" pitchFamily="34" charset="0"/>
        <a:ea typeface="+mn-ea"/>
        <a:cs typeface="Arial" charset="0"/>
      </a:defRPr>
    </a:lvl4pPr>
    <a:lvl5pPr marL="1828800" algn="l" defTabSz="457200"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9" autoAdjust="0"/>
    <p:restoredTop sz="94668" autoAdjust="0"/>
  </p:normalViewPr>
  <p:slideViewPr>
    <p:cSldViewPr snapToGrid="0" snapToObjects="1">
      <p:cViewPr varScale="1">
        <p:scale>
          <a:sx n="88" d="100"/>
          <a:sy n="88" d="100"/>
        </p:scale>
        <p:origin x="-33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40" d="100"/>
        <a:sy n="140" d="100"/>
      </p:scale>
      <p:origin x="0" y="1734"/>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26B525B7-28BC-4227-8A23-B7A5C51074DA}" type="datetimeFigureOut">
              <a:rPr lang="en-US"/>
              <a:pPr>
                <a:defRPr/>
              </a:pPr>
              <a:t>12/6/2011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7DE007F4-11C2-4CA2-8399-4D4A5E139747}"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D661810-AF5F-4971-BBBD-27437C998F23}" type="datetime1">
              <a:rPr lang="en-US"/>
              <a:pPr>
                <a:defRPr/>
              </a:pPr>
              <a:t>12/6/2011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5703C46-DD64-4C9C-9322-44CAE1339D9F}"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ADC672E-9007-4919-94A7-4022A9579A50}" type="datetime1">
              <a:rPr lang="en-US"/>
              <a:pPr>
                <a:defRPr/>
              </a:pPr>
              <a:t>12/6/2011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0D013A1-89D7-4177-A005-8C3370A4BD5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0A2F4E80-3A31-45EA-B4AA-3E98698CDEBB}" type="datetime1">
              <a:rPr lang="en-US"/>
              <a:pPr>
                <a:defRPr/>
              </a:pPr>
              <a:t>12/6/2011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02BBE6F-BC7B-44FF-B4D3-F0D03ACFC33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905B9EA5-EB50-44CF-9052-2C0F4A0A51F5}" type="datetime1">
              <a:rPr lang="en-US"/>
              <a:pPr>
                <a:defRPr/>
              </a:pPr>
              <a:t>12/6/2011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E5673F8-1D9F-4CE3-BD4C-E4AFD0972E4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0127BD72-D8B4-418F-B2FC-12A47EFC6FC0}" type="datetime1">
              <a:rPr lang="en-US"/>
              <a:pPr>
                <a:defRPr/>
              </a:pPr>
              <a:t>12/6/2011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0CE24003-9950-4F8C-807A-A10E7DB6EE93}"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82452ED9-EBE1-4D10-BC02-C99E07FD7243}" type="datetime1">
              <a:rPr lang="en-US"/>
              <a:pPr>
                <a:defRPr/>
              </a:pPr>
              <a:t>12/6/2011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05A05731-F300-49EC-A23A-7F4FAB1774C1}"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91B940C-E4D5-459D-AACB-F0CD9DBD2085}" type="datetime1">
              <a:rPr lang="en-US"/>
              <a:pPr>
                <a:defRPr/>
              </a:pPr>
              <a:t>12/6/2011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217EC21-6FD1-4504-9777-4BF081B875C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502E9E0-E81E-4977-BD0E-B0197BFC260E}" type="datetime1">
              <a:rPr lang="en-US"/>
              <a:pPr>
                <a:defRPr/>
              </a:pPr>
              <a:t>12/6/2011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A0242C6-D015-4D50-A7C2-1F9473EB84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123EEC0-FDC0-416B-AFB1-43B38AA1EAB9}" type="datetime1">
              <a:rPr lang="en-US"/>
              <a:pPr>
                <a:defRPr/>
              </a:pPr>
              <a:t>12/6/2011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35D6797-5976-4BC0-9CFF-B618A7BB39E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0F5D334-5A33-4E1F-81E0-3172A8E6C627}" type="datetime1">
              <a:rPr lang="en-US"/>
              <a:pPr>
                <a:defRPr/>
              </a:pPr>
              <a:t>12/6/2011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3DCF7DD-ECAA-4941-92D5-C4A42CFE7AD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EBC53EBC-17AE-4BDB-BDEE-FA9A92FD9AE0}" type="datetime1">
              <a:rPr lang="en-US"/>
              <a:pPr>
                <a:defRPr/>
              </a:pPr>
              <a:t>12/6/2011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9A6C482-D2B3-49B5-B2DD-650DA4E74744}"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93102E4B-25B8-4713-B26D-1968589A7488}" type="datetime1">
              <a:rPr lang="en-US"/>
              <a:pPr>
                <a:defRPr/>
              </a:pPr>
              <a:t>12/6/2011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445934FA-2042-4768-AF15-0A39C28EB0D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fontAlgn="base">
        <a:spcBef>
          <a:spcPct val="0"/>
        </a:spcBef>
        <a:spcAft>
          <a:spcPct val="0"/>
        </a:spcAft>
        <a:defRPr sz="4400" kern="1200">
          <a:solidFill>
            <a:schemeClr val="tx1"/>
          </a:solidFill>
          <a:latin typeface="+mj-lt"/>
          <a:ea typeface="+mj-ea"/>
          <a:cs typeface="+mj-cs"/>
        </a:defRPr>
      </a:lvl1pPr>
      <a:lvl2pPr algn="ctr" defTabSz="457200" rtl="0" fontAlgn="base">
        <a:spcBef>
          <a:spcPct val="0"/>
        </a:spcBef>
        <a:spcAft>
          <a:spcPct val="0"/>
        </a:spcAft>
        <a:defRPr sz="4400">
          <a:solidFill>
            <a:schemeClr val="tx1"/>
          </a:solidFill>
          <a:latin typeface="Calibri" charset="0"/>
        </a:defRPr>
      </a:lvl2pPr>
      <a:lvl3pPr algn="ctr" defTabSz="457200" rtl="0" fontAlgn="base">
        <a:spcBef>
          <a:spcPct val="0"/>
        </a:spcBef>
        <a:spcAft>
          <a:spcPct val="0"/>
        </a:spcAft>
        <a:defRPr sz="4400">
          <a:solidFill>
            <a:schemeClr val="tx1"/>
          </a:solidFill>
          <a:latin typeface="Calibri" charset="0"/>
        </a:defRPr>
      </a:lvl3pPr>
      <a:lvl4pPr algn="ctr" defTabSz="457200" rtl="0" fontAlgn="base">
        <a:spcBef>
          <a:spcPct val="0"/>
        </a:spcBef>
        <a:spcAft>
          <a:spcPct val="0"/>
        </a:spcAft>
        <a:defRPr sz="4400">
          <a:solidFill>
            <a:schemeClr val="tx1"/>
          </a:solidFill>
          <a:latin typeface="Calibri" charset="0"/>
        </a:defRPr>
      </a:lvl4pPr>
      <a:lvl5pPr algn="ctr" defTabSz="457200" rtl="0" fontAlgn="base">
        <a:spcBef>
          <a:spcPct val="0"/>
        </a:spcBef>
        <a:spcAft>
          <a:spcPct val="0"/>
        </a:spcAft>
        <a:defRPr sz="4400">
          <a:solidFill>
            <a:schemeClr val="tx1"/>
          </a:solidFill>
          <a:latin typeface="Calibri" charset="0"/>
        </a:defRPr>
      </a:lvl5pPr>
      <a:lvl6pPr marL="457200" algn="ctr" defTabSz="457200" rtl="0" eaLnBrk="1" fontAlgn="base" hangingPunct="1">
        <a:spcBef>
          <a:spcPct val="0"/>
        </a:spcBef>
        <a:spcAft>
          <a:spcPct val="0"/>
        </a:spcAft>
        <a:defRPr sz="4400">
          <a:solidFill>
            <a:schemeClr val="tx1"/>
          </a:solidFill>
          <a:latin typeface="Calibri" charset="0"/>
        </a:defRPr>
      </a:lvl6pPr>
      <a:lvl7pPr marL="914400" algn="ctr" defTabSz="457200" rtl="0" eaLnBrk="1" fontAlgn="base" hangingPunct="1">
        <a:spcBef>
          <a:spcPct val="0"/>
        </a:spcBef>
        <a:spcAft>
          <a:spcPct val="0"/>
        </a:spcAft>
        <a:defRPr sz="4400">
          <a:solidFill>
            <a:schemeClr val="tx1"/>
          </a:solidFill>
          <a:latin typeface="Calibri" charset="0"/>
        </a:defRPr>
      </a:lvl7pPr>
      <a:lvl8pPr marL="1371600" algn="ctr" defTabSz="457200" rtl="0" eaLnBrk="1" fontAlgn="base" hangingPunct="1">
        <a:spcBef>
          <a:spcPct val="0"/>
        </a:spcBef>
        <a:spcAft>
          <a:spcPct val="0"/>
        </a:spcAft>
        <a:defRPr sz="4400">
          <a:solidFill>
            <a:schemeClr val="tx1"/>
          </a:solidFill>
          <a:latin typeface="Calibri" charset="0"/>
        </a:defRPr>
      </a:lvl8pPr>
      <a:lvl9pPr marL="1828800" algn="ctr" defTabSz="457200" rtl="0" eaLnBrk="1" fontAlgn="base" hangingPunct="1">
        <a:spcBef>
          <a:spcPct val="0"/>
        </a:spcBef>
        <a:spcAft>
          <a:spcPct val="0"/>
        </a:spcAft>
        <a:defRPr sz="4400">
          <a:solidFill>
            <a:schemeClr val="tx1"/>
          </a:solidFill>
          <a:latin typeface="Calibri" charset="0"/>
        </a:defRPr>
      </a:lvl9pPr>
    </p:titleStyle>
    <p:bodyStyle>
      <a:lvl1pPr marL="342900" indent="-342900" algn="l" defTabSz="457200"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13.png"/><Relationship Id="rId3" Type="http://schemas.openxmlformats.org/officeDocument/2006/relationships/image" Target="../media/image3.jpeg"/><Relationship Id="rId7" Type="http://schemas.openxmlformats.org/officeDocument/2006/relationships/image" Target="../media/image7.jpeg"/><Relationship Id="rId12"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jpeg"/><Relationship Id="rId5" Type="http://schemas.openxmlformats.org/officeDocument/2006/relationships/image" Target="../media/image5.jpeg"/><Relationship Id="rId10" Type="http://schemas.openxmlformats.org/officeDocument/2006/relationships/image" Target="../media/image10.jpeg"/><Relationship Id="rId4" Type="http://schemas.openxmlformats.org/officeDocument/2006/relationships/image" Target="../media/image4.jpeg"/><Relationship Id="rId9"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hyperlink" Target="http://www.ces.census.gov/index.php/ces/researchdata?detail_key=3"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16.xml.rels><?xml version="1.0" encoding="UTF-8" standalone="yes"?>
<Relationships xmlns="http://schemas.openxmlformats.org/package/2006/relationships"><Relationship Id="rId3" Type="http://schemas.openxmlformats.org/officeDocument/2006/relationships/hyperlink" Target="http://dx.doi.org/10.3886/DDIOtherTopics02" TargetMode="Externa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hyperlink" Target="http://colectica.com/" TargetMode="External"/><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gif"/></Relationships>
</file>

<file path=ppt/slides/_rels/slide23.xml.rels><?xml version="1.0" encoding="UTF-8" standalone="yes"?>
<Relationships xmlns="http://schemas.openxmlformats.org/package/2006/relationships"><Relationship Id="rId3" Type="http://schemas.openxmlformats.org/officeDocument/2006/relationships/hyperlink" Target="mailto:block@cornell.edu" TargetMode="External"/><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14339" name="Picture 5" descr="CISER_PP_1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053" name="Rectangle 3"/>
          <p:cNvSpPr txBox="1">
            <a:spLocks noChangeArrowheads="1"/>
          </p:cNvSpPr>
          <p:nvPr/>
        </p:nvSpPr>
        <p:spPr bwMode="auto">
          <a:xfrm>
            <a:off x="685800" y="3429000"/>
            <a:ext cx="6619875" cy="2200275"/>
          </a:xfrm>
          <a:prstGeom prst="rect">
            <a:avLst/>
          </a:prstGeom>
          <a:noFill/>
          <a:ln>
            <a:noFill/>
          </a:ln>
          <a:extLst>
            <a:ext uri="{909E8E84-426E-40dd-AFC4-6F175D3DCCD1}"/>
            <a:ext uri="{91240B29-F687-4f45-9708-019B960494DF}"/>
          </a:extLst>
        </p:spPr>
        <p:txBody>
          <a:bodyPr/>
          <a:lstStyle>
            <a:lvl1pPr marL="342900" indent="-342900" eaLnBrk="0" hangingPunct="0">
              <a:defRPr>
                <a:solidFill>
                  <a:schemeClr val="tx1"/>
                </a:solidFill>
                <a:latin typeface="Calibri" charset="0"/>
                <a:cs typeface="Arial" charset="0"/>
              </a:defRPr>
            </a:lvl1pPr>
            <a:lvl2pPr marL="742950" indent="-285750" eaLnBrk="0" hangingPunct="0">
              <a:defRPr>
                <a:solidFill>
                  <a:schemeClr val="tx1"/>
                </a:solidFill>
                <a:latin typeface="Calibri" charset="0"/>
                <a:cs typeface="Arial" charset="0"/>
              </a:defRPr>
            </a:lvl2pPr>
            <a:lvl3pPr marL="1143000" indent="-228600" eaLnBrk="0" hangingPunct="0">
              <a:defRPr>
                <a:solidFill>
                  <a:schemeClr val="tx1"/>
                </a:solidFill>
                <a:latin typeface="Calibri" charset="0"/>
                <a:cs typeface="Arial" charset="0"/>
              </a:defRPr>
            </a:lvl3pPr>
            <a:lvl4pPr marL="1600200" indent="-228600" eaLnBrk="0" hangingPunct="0">
              <a:defRPr>
                <a:solidFill>
                  <a:schemeClr val="tx1"/>
                </a:solidFill>
                <a:latin typeface="Calibri" charset="0"/>
                <a:cs typeface="Arial" charset="0"/>
              </a:defRPr>
            </a:lvl4pPr>
            <a:lvl5pPr marL="2057400" indent="-228600" eaLnBrk="0" hangingPunct="0">
              <a:defRPr>
                <a:solidFill>
                  <a:schemeClr val="tx1"/>
                </a:solidFill>
                <a:latin typeface="Calibri" charset="0"/>
                <a:cs typeface="Arial" charset="0"/>
              </a:defRPr>
            </a:lvl5pPr>
            <a:lvl6pPr marL="2514600" indent="-228600" defTabSz="457200" eaLnBrk="0" fontAlgn="base" hangingPunct="0">
              <a:spcBef>
                <a:spcPct val="0"/>
              </a:spcBef>
              <a:spcAft>
                <a:spcPct val="0"/>
              </a:spcAft>
              <a:defRPr>
                <a:solidFill>
                  <a:schemeClr val="tx1"/>
                </a:solidFill>
                <a:latin typeface="Calibri" charset="0"/>
                <a:cs typeface="Arial" charset="0"/>
              </a:defRPr>
            </a:lvl6pPr>
            <a:lvl7pPr marL="2971800" indent="-228600" defTabSz="457200" eaLnBrk="0" fontAlgn="base" hangingPunct="0">
              <a:spcBef>
                <a:spcPct val="0"/>
              </a:spcBef>
              <a:spcAft>
                <a:spcPct val="0"/>
              </a:spcAft>
              <a:defRPr>
                <a:solidFill>
                  <a:schemeClr val="tx1"/>
                </a:solidFill>
                <a:latin typeface="Calibri" charset="0"/>
                <a:cs typeface="Arial" charset="0"/>
              </a:defRPr>
            </a:lvl7pPr>
            <a:lvl8pPr marL="3429000" indent="-228600" defTabSz="457200" eaLnBrk="0" fontAlgn="base" hangingPunct="0">
              <a:spcBef>
                <a:spcPct val="0"/>
              </a:spcBef>
              <a:spcAft>
                <a:spcPct val="0"/>
              </a:spcAft>
              <a:defRPr>
                <a:solidFill>
                  <a:schemeClr val="tx1"/>
                </a:solidFill>
                <a:latin typeface="Calibri" charset="0"/>
                <a:cs typeface="Arial" charset="0"/>
              </a:defRPr>
            </a:lvl8pPr>
            <a:lvl9pPr marL="3886200" indent="-228600" defTabSz="457200" eaLnBrk="0" fontAlgn="base" hangingPunct="0">
              <a:spcBef>
                <a:spcPct val="0"/>
              </a:spcBef>
              <a:spcAft>
                <a:spcPct val="0"/>
              </a:spcAft>
              <a:defRPr>
                <a:solidFill>
                  <a:schemeClr val="tx1"/>
                </a:solidFill>
                <a:latin typeface="Calibri" charset="0"/>
                <a:cs typeface="Arial" charset="0"/>
              </a:defRPr>
            </a:lvl9pPr>
          </a:lstStyle>
          <a:p>
            <a:pPr marL="0" indent="0" eaLnBrk="1" hangingPunct="1">
              <a:spcBef>
                <a:spcPct val="20000"/>
              </a:spcBef>
              <a:buFont typeface="Wingdings" charset="2"/>
              <a:buNone/>
              <a:defRPr/>
            </a:pPr>
            <a:r>
              <a:rPr lang="en-US" sz="2400" dirty="0" smtClean="0">
                <a:solidFill>
                  <a:schemeClr val="bg1"/>
                </a:solidFill>
              </a:rPr>
              <a:t>William Block, Co-PI</a:t>
            </a:r>
            <a:br>
              <a:rPr lang="en-US" sz="2400" dirty="0" smtClean="0">
                <a:solidFill>
                  <a:schemeClr val="bg1"/>
                </a:solidFill>
              </a:rPr>
            </a:br>
            <a:r>
              <a:rPr lang="en-US" sz="2400" dirty="0" smtClean="0">
                <a:solidFill>
                  <a:schemeClr val="bg1"/>
                </a:solidFill>
              </a:rPr>
              <a:t>Warren Brown &amp; Stefan Kramer, Senior Scientists</a:t>
            </a:r>
            <a:br>
              <a:rPr lang="en-US" sz="2400" dirty="0" smtClean="0">
                <a:solidFill>
                  <a:schemeClr val="bg1"/>
                </a:solidFill>
              </a:rPr>
            </a:br>
            <a:r>
              <a:rPr lang="en-US" sz="2400" dirty="0" smtClean="0">
                <a:solidFill>
                  <a:schemeClr val="bg1"/>
                </a:solidFill>
              </a:rPr>
              <a:t>Florio Arguillas &amp; Jeremy Williams, Project Staff</a:t>
            </a:r>
            <a:br>
              <a:rPr lang="en-US" sz="2400" dirty="0" smtClean="0">
                <a:solidFill>
                  <a:schemeClr val="bg1"/>
                </a:solidFill>
              </a:rPr>
            </a:br>
            <a:endParaRPr lang="en-US" sz="2400" dirty="0" smtClean="0">
              <a:solidFill>
                <a:schemeClr val="bg1"/>
              </a:solidFill>
            </a:endParaRPr>
          </a:p>
          <a:p>
            <a:pPr marL="457200" indent="-457200" eaLnBrk="1" hangingPunct="1">
              <a:spcBef>
                <a:spcPct val="20000"/>
              </a:spcBef>
              <a:buFont typeface="Wingdings" charset="2"/>
              <a:buNone/>
              <a:tabLst>
                <a:tab pos="457200" algn="l"/>
              </a:tabLst>
              <a:defRPr/>
            </a:pPr>
            <a:r>
              <a:rPr lang="en-US" sz="2400" dirty="0" smtClean="0">
                <a:solidFill>
                  <a:schemeClr val="bg1"/>
                </a:solidFill>
              </a:rPr>
              <a:t>Cornell </a:t>
            </a:r>
            <a:r>
              <a:rPr lang="en-US" sz="2400" dirty="0">
                <a:solidFill>
                  <a:schemeClr val="bg1"/>
                </a:solidFill>
              </a:rPr>
              <a:t>Institute for Social and Economic Research (CISER)</a:t>
            </a:r>
          </a:p>
        </p:txBody>
      </p:sp>
      <p:sp>
        <p:nvSpPr>
          <p:cNvPr id="14341" name="TextBox 3"/>
          <p:cNvSpPr txBox="1">
            <a:spLocks noChangeArrowheads="1"/>
          </p:cNvSpPr>
          <p:nvPr/>
        </p:nvSpPr>
        <p:spPr bwMode="auto">
          <a:xfrm>
            <a:off x="603250" y="1892300"/>
            <a:ext cx="5532438" cy="1816100"/>
          </a:xfrm>
          <a:prstGeom prst="rect">
            <a:avLst/>
          </a:prstGeom>
          <a:noFill/>
          <a:ln w="9525">
            <a:noFill/>
            <a:miter lim="800000"/>
            <a:headEnd/>
            <a:tailEnd/>
          </a:ln>
        </p:spPr>
        <p:txBody>
          <a:bodyPr>
            <a:spAutoFit/>
          </a:bodyPr>
          <a:lstStyle/>
          <a:p>
            <a:r>
              <a:rPr lang="en-US" sz="2800" b="1">
                <a:solidFill>
                  <a:schemeClr val="bg1"/>
                </a:solidFill>
              </a:rPr>
              <a:t>The Cornell NSF-Census Research Node: Integrated Research Support, Training and Data</a:t>
            </a:r>
            <a:br>
              <a:rPr lang="en-US" sz="2800" b="1">
                <a:solidFill>
                  <a:schemeClr val="bg1"/>
                </a:solidFill>
              </a:rPr>
            </a:br>
            <a:endParaRPr lang="en-US" sz="2800" i="1">
              <a:solidFill>
                <a:schemeClr val="bg1"/>
              </a:solidFill>
            </a:endParaRPr>
          </a:p>
        </p:txBody>
      </p:sp>
      <p:sp>
        <p:nvSpPr>
          <p:cNvPr id="14342" name="TextBox 1"/>
          <p:cNvSpPr txBox="1">
            <a:spLocks noChangeArrowheads="1"/>
          </p:cNvSpPr>
          <p:nvPr/>
        </p:nvSpPr>
        <p:spPr bwMode="auto">
          <a:xfrm>
            <a:off x="3370263" y="5629275"/>
            <a:ext cx="4737100" cy="646113"/>
          </a:xfrm>
          <a:prstGeom prst="rect">
            <a:avLst/>
          </a:prstGeom>
          <a:noFill/>
          <a:ln w="9525">
            <a:noFill/>
            <a:miter lim="800000"/>
            <a:headEnd/>
            <a:tailEnd/>
          </a:ln>
        </p:spPr>
        <p:txBody>
          <a:bodyPr>
            <a:spAutoFit/>
          </a:bodyPr>
          <a:lstStyle/>
          <a:p>
            <a:r>
              <a:rPr lang="en-US">
                <a:solidFill>
                  <a:schemeClr val="bg1"/>
                </a:solidFill>
              </a:rPr>
              <a:t>3rd Annual European DDI Users Group Meeting (EDDI11), Dec. 6, 2011</a:t>
            </a:r>
          </a:p>
        </p:txBody>
      </p:sp>
    </p:spTree>
  </p:cSld>
  <p:clrMapOvr>
    <a:masterClrMapping/>
  </p:clrMapOvr>
  <p:transition>
    <p:cut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15363"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15364" name="TextBox 1"/>
          <p:cNvSpPr txBox="1">
            <a:spLocks noChangeArrowheads="1"/>
          </p:cNvSpPr>
          <p:nvPr/>
        </p:nvSpPr>
        <p:spPr bwMode="auto">
          <a:xfrm>
            <a:off x="2878138" y="1055688"/>
            <a:ext cx="3027362" cy="647700"/>
          </a:xfrm>
          <a:prstGeom prst="rect">
            <a:avLst/>
          </a:prstGeom>
          <a:noFill/>
          <a:ln w="9525">
            <a:noFill/>
            <a:miter lim="800000"/>
            <a:headEnd/>
            <a:tailEnd/>
          </a:ln>
        </p:spPr>
        <p:txBody>
          <a:bodyPr>
            <a:spAutoFit/>
          </a:bodyPr>
          <a:lstStyle/>
          <a:p>
            <a:r>
              <a:rPr lang="en-US" sz="3600"/>
              <a:t>Overview</a:t>
            </a:r>
          </a:p>
        </p:txBody>
      </p:sp>
      <p:sp>
        <p:nvSpPr>
          <p:cNvPr id="4" name="TextBox 3"/>
          <p:cNvSpPr txBox="1"/>
          <p:nvPr/>
        </p:nvSpPr>
        <p:spPr>
          <a:xfrm>
            <a:off x="685800" y="2270125"/>
            <a:ext cx="7896225" cy="3816350"/>
          </a:xfrm>
          <a:prstGeom prst="rect">
            <a:avLst/>
          </a:prstGeom>
          <a:noFill/>
        </p:spPr>
        <p:txBody>
          <a:bodyPr>
            <a:spAutoFit/>
          </a:bodyPr>
          <a:lstStyle/>
          <a:p>
            <a:pPr marL="285750" indent="-285750">
              <a:buFont typeface="Arial"/>
              <a:buChar char="•"/>
              <a:defRPr/>
            </a:pPr>
            <a:r>
              <a:rPr lang="en-US" sz="2800" dirty="0">
                <a:latin typeface="Calibri" charset="0"/>
              </a:rPr>
              <a:t>Background on </a:t>
            </a:r>
            <a:r>
              <a:rPr lang="en-US" sz="2800">
                <a:latin typeface="Calibri" charset="0"/>
              </a:rPr>
              <a:t>NCRN and </a:t>
            </a:r>
            <a:r>
              <a:rPr lang="en-US" sz="2800" dirty="0">
                <a:latin typeface="Calibri" charset="0"/>
              </a:rPr>
              <a:t>the RDC Environment</a:t>
            </a:r>
          </a:p>
          <a:p>
            <a:pPr marL="285750" indent="-285750">
              <a:buFont typeface="Arial"/>
              <a:buChar char="•"/>
              <a:defRPr/>
            </a:pPr>
            <a:endParaRPr lang="en-US" sz="2800" dirty="0">
              <a:latin typeface="Calibri" charset="0"/>
            </a:endParaRPr>
          </a:p>
          <a:p>
            <a:pPr marL="285750" indent="-285750">
              <a:buFont typeface="Arial"/>
              <a:buChar char="•"/>
              <a:defRPr/>
            </a:pPr>
            <a:r>
              <a:rPr lang="en-US" sz="2800" dirty="0">
                <a:latin typeface="Calibri" charset="0"/>
              </a:rPr>
              <a:t>The Problem</a:t>
            </a:r>
          </a:p>
          <a:p>
            <a:pPr marL="285750" indent="-285750">
              <a:buFont typeface="Arial"/>
              <a:buChar char="•"/>
              <a:defRPr/>
            </a:pPr>
            <a:endParaRPr lang="en-US" sz="2800" dirty="0">
              <a:latin typeface="Calibri" charset="0"/>
            </a:endParaRPr>
          </a:p>
          <a:p>
            <a:pPr marL="285750" indent="-285750">
              <a:buFont typeface="Arial"/>
              <a:buChar char="•"/>
              <a:defRPr/>
            </a:pPr>
            <a:r>
              <a:rPr lang="en-US" sz="2800" dirty="0">
                <a:latin typeface="Calibri" charset="0"/>
              </a:rPr>
              <a:t>Proposed Solution</a:t>
            </a:r>
          </a:p>
          <a:p>
            <a:pPr marL="285750" indent="-285750">
              <a:buFont typeface="Arial"/>
              <a:buChar char="•"/>
              <a:defRPr/>
            </a:pPr>
            <a:endParaRPr lang="en-US" sz="2800" dirty="0">
              <a:latin typeface="Calibri" charset="0"/>
            </a:endParaRPr>
          </a:p>
          <a:p>
            <a:pPr marL="285750" indent="-285750">
              <a:buFont typeface="Arial"/>
              <a:buChar char="•"/>
              <a:defRPr/>
            </a:pPr>
            <a:r>
              <a:rPr lang="en-US" sz="2800" dirty="0">
                <a:latin typeface="Calibri" charset="0"/>
              </a:rPr>
              <a:t>Early Work</a:t>
            </a:r>
          </a:p>
          <a:p>
            <a:pPr marL="285750" indent="-285750">
              <a:buFont typeface="Arial"/>
              <a:buChar char="•"/>
              <a:defRPr/>
            </a:pPr>
            <a:endParaRPr lang="en-US" sz="2800" dirty="0">
              <a:latin typeface="Calibri" charset="0"/>
            </a:endParaRPr>
          </a:p>
          <a:p>
            <a:pPr>
              <a:defRPr/>
            </a:pPr>
            <a:endParaRPr lang="en-US" dirty="0">
              <a:latin typeface="Calibri" charset="0"/>
            </a:endParaRPr>
          </a:p>
        </p:txBody>
      </p:sp>
    </p:spTree>
  </p:cSld>
  <p:clrMapOvr>
    <a:masterClrMapping/>
  </p:clrMapOvr>
  <p:transition>
    <p:cut thruBlk="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16387"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16388" name="TextBox 1"/>
          <p:cNvSpPr txBox="1">
            <a:spLocks noChangeArrowheads="1"/>
          </p:cNvSpPr>
          <p:nvPr/>
        </p:nvSpPr>
        <p:spPr bwMode="auto">
          <a:xfrm>
            <a:off x="433388" y="1441450"/>
            <a:ext cx="7827962" cy="400050"/>
          </a:xfrm>
          <a:prstGeom prst="rect">
            <a:avLst/>
          </a:prstGeom>
          <a:noFill/>
          <a:ln w="9525">
            <a:noFill/>
            <a:miter lim="800000"/>
            <a:headEnd/>
            <a:tailEnd/>
          </a:ln>
        </p:spPr>
        <p:txBody>
          <a:bodyPr>
            <a:spAutoFit/>
          </a:bodyPr>
          <a:lstStyle/>
          <a:p>
            <a:r>
              <a:rPr lang="en-US" sz="2000"/>
              <a:t>NSF 10-621: NSF-Census Research Network (NCRN) Program Solicitation</a:t>
            </a:r>
          </a:p>
        </p:txBody>
      </p:sp>
      <p:sp>
        <p:nvSpPr>
          <p:cNvPr id="16389" name="TextBox 3"/>
          <p:cNvSpPr txBox="1">
            <a:spLocks noChangeArrowheads="1"/>
          </p:cNvSpPr>
          <p:nvPr/>
        </p:nvSpPr>
        <p:spPr bwMode="auto">
          <a:xfrm>
            <a:off x="685800" y="1995488"/>
            <a:ext cx="7772400" cy="3970337"/>
          </a:xfrm>
          <a:prstGeom prst="rect">
            <a:avLst/>
          </a:prstGeom>
          <a:noFill/>
          <a:ln w="9525">
            <a:noFill/>
            <a:miter lim="800000"/>
            <a:headEnd/>
            <a:tailEnd/>
          </a:ln>
        </p:spPr>
        <p:txBody>
          <a:bodyPr>
            <a:spAutoFit/>
          </a:bodyPr>
          <a:lstStyle/>
          <a:p>
            <a:endParaRPr lang="en-US"/>
          </a:p>
          <a:p>
            <a:r>
              <a:rPr lang="en-US"/>
              <a:t> </a:t>
            </a:r>
            <a:r>
              <a:rPr lang="en-US" b="1"/>
              <a:t>“</a:t>
            </a:r>
            <a:r>
              <a:rPr lang="en-US"/>
              <a:t>The NSF-Census Research Network will provide support for a set of research nodes, each of which will be staffed by a team of scientists conducting interdisciplinary research and educational activities on methodological questions of interest and significance to the broader research community and to the Federal Statistical System, particularly the U.S. Census Bureau. The activities will be expected to advance both fundamental and applied knowledge as well as further the training of current and future generations of researchers in research skills of relevance to the measurement of economic units, households, and persons.”</a:t>
            </a:r>
          </a:p>
          <a:p>
            <a:endParaRPr lang="en-US"/>
          </a:p>
          <a:p>
            <a:r>
              <a:rPr lang="en-US"/>
              <a:t>Total funding:  $18,500,000</a:t>
            </a:r>
          </a:p>
          <a:p>
            <a:endParaRPr lang="en-US"/>
          </a:p>
          <a:p>
            <a:r>
              <a:rPr lang="en-US"/>
              <a:t>Expected Number of Awards:  8 - 12</a:t>
            </a:r>
          </a:p>
        </p:txBody>
      </p:sp>
    </p:spTree>
  </p:cSld>
  <p:clrMapOvr>
    <a:masterClrMapping/>
  </p:clrMapOvr>
  <p:transition>
    <p:cut thruBlk="1"/>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17411"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17412" name="TextBox 1"/>
          <p:cNvSpPr txBox="1">
            <a:spLocks noChangeArrowheads="1"/>
          </p:cNvSpPr>
          <p:nvPr/>
        </p:nvSpPr>
        <p:spPr bwMode="auto">
          <a:xfrm>
            <a:off x="433388" y="1441450"/>
            <a:ext cx="7500937" cy="400050"/>
          </a:xfrm>
          <a:prstGeom prst="rect">
            <a:avLst/>
          </a:prstGeom>
          <a:noFill/>
          <a:ln w="9525">
            <a:noFill/>
            <a:miter lim="800000"/>
            <a:headEnd/>
            <a:tailEnd/>
          </a:ln>
        </p:spPr>
        <p:txBody>
          <a:bodyPr>
            <a:spAutoFit/>
          </a:bodyPr>
          <a:lstStyle/>
          <a:p>
            <a:r>
              <a:rPr lang="en-US" sz="2000"/>
              <a:t>NCRN Program Goals</a:t>
            </a:r>
          </a:p>
        </p:txBody>
      </p:sp>
      <p:sp>
        <p:nvSpPr>
          <p:cNvPr id="4" name="TextBox 3"/>
          <p:cNvSpPr txBox="1"/>
          <p:nvPr/>
        </p:nvSpPr>
        <p:spPr>
          <a:xfrm>
            <a:off x="685800" y="1995488"/>
            <a:ext cx="7772400" cy="4246562"/>
          </a:xfrm>
          <a:prstGeom prst="rect">
            <a:avLst/>
          </a:prstGeom>
          <a:noFill/>
        </p:spPr>
        <p:txBody>
          <a:bodyPr>
            <a:spAutoFit/>
          </a:bodyPr>
          <a:lstStyle/>
          <a:p>
            <a:pPr marL="342900" indent="-342900">
              <a:buFontTx/>
              <a:buAutoNum type="arabicPeriod"/>
              <a:defRPr/>
            </a:pPr>
            <a:r>
              <a:rPr lang="en-US" dirty="0">
                <a:latin typeface="Calibri" charset="0"/>
              </a:rPr>
              <a:t>Establish </a:t>
            </a:r>
            <a:r>
              <a:rPr lang="en-US" dirty="0">
                <a:latin typeface="Calibri" charset="0"/>
              </a:rPr>
              <a:t>a set of complementary research programs that advance the development of innovative methods and models </a:t>
            </a:r>
            <a:r>
              <a:rPr lang="en-US" dirty="0">
                <a:latin typeface="Calibri" charset="0"/>
              </a:rPr>
              <a:t>for the </a:t>
            </a:r>
            <a:r>
              <a:rPr lang="en-US" dirty="0">
                <a:latin typeface="Calibri" charset="0"/>
              </a:rPr>
              <a:t>collection, analysis, and dissemination of data in the social, behavioral, and economic </a:t>
            </a:r>
            <a:r>
              <a:rPr lang="en-US" dirty="0">
                <a:latin typeface="Calibri" charset="0"/>
              </a:rPr>
              <a:t>sciences.</a:t>
            </a:r>
          </a:p>
          <a:p>
            <a:pPr marL="342900" indent="-342900">
              <a:buFontTx/>
              <a:buAutoNum type="arabicPeriod"/>
              <a:defRPr/>
            </a:pPr>
            <a:endParaRPr lang="en-US" dirty="0">
              <a:latin typeface="Calibri" charset="0"/>
            </a:endParaRPr>
          </a:p>
          <a:p>
            <a:pPr marL="342900" indent="-342900">
              <a:buFontTx/>
              <a:buAutoNum type="arabicPeriod"/>
              <a:defRPr/>
            </a:pPr>
            <a:r>
              <a:rPr lang="en-US" dirty="0">
                <a:latin typeface="Calibri" charset="0"/>
              </a:rPr>
              <a:t>Relate </a:t>
            </a:r>
            <a:r>
              <a:rPr lang="en-US" dirty="0">
                <a:latin typeface="Calibri" charset="0"/>
              </a:rPr>
              <a:t>fundamental advances in methods development to the problems of the Federal Statistical System, particularly </a:t>
            </a:r>
            <a:r>
              <a:rPr lang="en-US" dirty="0">
                <a:latin typeface="Calibri" charset="0"/>
              </a:rPr>
              <a:t>the U.S</a:t>
            </a:r>
            <a:r>
              <a:rPr lang="en-US" dirty="0">
                <a:latin typeface="Calibri" charset="0"/>
              </a:rPr>
              <a:t>. Census Bureau</a:t>
            </a:r>
            <a:r>
              <a:rPr lang="en-US" dirty="0">
                <a:latin typeface="Calibri" charset="0"/>
              </a:rPr>
              <a:t>.</a:t>
            </a:r>
          </a:p>
          <a:p>
            <a:pPr marL="342900" indent="-342900">
              <a:buFontTx/>
              <a:buAutoNum type="arabicPeriod"/>
              <a:defRPr/>
            </a:pPr>
            <a:endParaRPr lang="en-US" dirty="0">
              <a:latin typeface="Calibri" charset="0"/>
            </a:endParaRPr>
          </a:p>
          <a:p>
            <a:pPr marL="342900" indent="-342900">
              <a:buFontTx/>
              <a:buAutoNum type="arabicPeriod"/>
              <a:defRPr/>
            </a:pPr>
            <a:r>
              <a:rPr lang="en-US" dirty="0">
                <a:latin typeface="Calibri" charset="0"/>
              </a:rPr>
              <a:t>Facilitate </a:t>
            </a:r>
            <a:r>
              <a:rPr lang="en-US" dirty="0">
                <a:latin typeface="Calibri" charset="0"/>
              </a:rPr>
              <a:t>the collaborative activities of scientists from across multiple disciplines, including the social, behavioral, </a:t>
            </a:r>
            <a:r>
              <a:rPr lang="en-US" dirty="0">
                <a:latin typeface="Calibri" charset="0"/>
              </a:rPr>
              <a:t>and economic </a:t>
            </a:r>
            <a:r>
              <a:rPr lang="en-US" dirty="0">
                <a:latin typeface="Calibri" charset="0"/>
              </a:rPr>
              <a:t>sciences, the statistical sciences, and the computer </a:t>
            </a:r>
            <a:r>
              <a:rPr lang="en-US" dirty="0">
                <a:latin typeface="Calibri" charset="0"/>
              </a:rPr>
              <a:t>sciences.</a:t>
            </a:r>
          </a:p>
          <a:p>
            <a:pPr marL="342900" indent="-342900">
              <a:buFontTx/>
              <a:buAutoNum type="arabicPeriod"/>
              <a:defRPr/>
            </a:pPr>
            <a:endParaRPr lang="en-US" dirty="0">
              <a:latin typeface="Calibri" charset="0"/>
            </a:endParaRPr>
          </a:p>
          <a:p>
            <a:pPr marL="342900" indent="-342900">
              <a:buFontTx/>
              <a:buAutoNum type="arabicPeriod"/>
              <a:defRPr/>
            </a:pPr>
            <a:r>
              <a:rPr lang="en-US" dirty="0">
                <a:latin typeface="Calibri" charset="0"/>
              </a:rPr>
              <a:t>Foster </a:t>
            </a:r>
            <a:r>
              <a:rPr lang="en-US" dirty="0">
                <a:latin typeface="Calibri" charset="0"/>
              </a:rPr>
              <a:t>the development of the next generation of researchers in research skills of relevance to the measurement </a:t>
            </a:r>
            <a:r>
              <a:rPr lang="en-US" dirty="0">
                <a:latin typeface="Calibri" charset="0"/>
              </a:rPr>
              <a:t>of economic </a:t>
            </a:r>
            <a:r>
              <a:rPr lang="en-US" dirty="0">
                <a:latin typeface="Calibri" charset="0"/>
              </a:rPr>
              <a:t>units, households, and persons.</a:t>
            </a:r>
          </a:p>
          <a:p>
            <a:pPr>
              <a:defRPr/>
            </a:pPr>
            <a:r>
              <a:rPr lang="en-US" dirty="0">
                <a:latin typeface="Calibri" charset="0"/>
              </a:rPr>
              <a:t>	</a:t>
            </a:r>
          </a:p>
        </p:txBody>
      </p:sp>
    </p:spTree>
  </p:cSld>
  <p:clrMapOvr>
    <a:masterClrMapping/>
  </p:clrMapOvr>
  <p:transition>
    <p:cut thruBlk="1"/>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ctrTitle"/>
          </p:nvPr>
        </p:nvSpPr>
        <p:spPr/>
        <p:txBody>
          <a:bodyPr/>
          <a:lstStyle/>
          <a:p>
            <a:r>
              <a:rPr lang="en-US" smtClean="0"/>
              <a:t>1</a:t>
            </a:r>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18435"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18436" name="Rectangle 1"/>
          <p:cNvSpPr>
            <a:spLocks noChangeArrowheads="1"/>
          </p:cNvSpPr>
          <p:nvPr/>
        </p:nvSpPr>
        <p:spPr bwMode="auto">
          <a:xfrm>
            <a:off x="360363" y="1065213"/>
            <a:ext cx="7412037" cy="369887"/>
          </a:xfrm>
          <a:prstGeom prst="rect">
            <a:avLst/>
          </a:prstGeom>
          <a:noFill/>
          <a:ln w="9525">
            <a:noFill/>
            <a:miter lim="800000"/>
            <a:headEnd/>
            <a:tailEnd/>
          </a:ln>
        </p:spPr>
        <p:txBody>
          <a:bodyPr>
            <a:spAutoFit/>
          </a:bodyPr>
          <a:lstStyle/>
          <a:p>
            <a:pPr algn="ctr"/>
            <a:endParaRPr lang="sv-SE"/>
          </a:p>
        </p:txBody>
      </p:sp>
      <p:sp>
        <p:nvSpPr>
          <p:cNvPr id="18437" name="Rectangle 4"/>
          <p:cNvSpPr>
            <a:spLocks noChangeArrowheads="1"/>
          </p:cNvSpPr>
          <p:nvPr/>
        </p:nvSpPr>
        <p:spPr bwMode="auto">
          <a:xfrm>
            <a:off x="3232150" y="1765300"/>
            <a:ext cx="184150" cy="369888"/>
          </a:xfrm>
          <a:prstGeom prst="rect">
            <a:avLst/>
          </a:prstGeom>
          <a:noFill/>
          <a:ln w="9525">
            <a:noFill/>
            <a:miter lim="800000"/>
            <a:headEnd/>
            <a:tailEnd/>
          </a:ln>
        </p:spPr>
        <p:txBody>
          <a:bodyPr wrap="none">
            <a:spAutoFit/>
          </a:bodyPr>
          <a:lstStyle/>
          <a:p>
            <a:pPr>
              <a:spcBef>
                <a:spcPct val="50000"/>
              </a:spcBef>
            </a:pPr>
            <a:endParaRPr lang="sv-SE" b="1"/>
          </a:p>
        </p:txBody>
      </p:sp>
      <p:sp>
        <p:nvSpPr>
          <p:cNvPr id="4" name="Rectangle 3"/>
          <p:cNvSpPr/>
          <p:nvPr/>
        </p:nvSpPr>
        <p:spPr>
          <a:xfrm>
            <a:off x="3416300" y="1096963"/>
            <a:ext cx="2082800" cy="368300"/>
          </a:xfrm>
          <a:prstGeom prst="rect">
            <a:avLst/>
          </a:prstGeom>
        </p:spPr>
        <p:txBody>
          <a:bodyPr wrap="none">
            <a:spAutoFit/>
          </a:bodyPr>
          <a:lstStyle/>
          <a:p>
            <a:pPr>
              <a:defRPr/>
            </a:pPr>
            <a:r>
              <a:rPr lang="en-US" b="1" dirty="0">
                <a:effectLst>
                  <a:outerShdw blurRad="38100" dist="38100" dir="2700000" algn="tl">
                    <a:srgbClr val="DDDDDD"/>
                  </a:outerShdw>
                </a:effectLst>
                <a:latin typeface="Trebuchet MS" charset="0"/>
              </a:rPr>
              <a:t>The RDC Network</a:t>
            </a:r>
            <a:endParaRPr lang="en-US" b="1" dirty="0">
              <a:latin typeface="Calibri" charset="0"/>
            </a:endParaRPr>
          </a:p>
        </p:txBody>
      </p:sp>
      <p:pic>
        <p:nvPicPr>
          <p:cNvPr id="18439" name="Picture 83" descr="2MapContinentalUS01"/>
          <p:cNvPicPr>
            <a:picLocks noChangeAspect="1" noChangeArrowheads="1"/>
          </p:cNvPicPr>
          <p:nvPr/>
        </p:nvPicPr>
        <p:blipFill>
          <a:blip r:embed="rId3"/>
          <a:srcRect/>
          <a:stretch>
            <a:fillRect/>
          </a:stretch>
        </p:blipFill>
        <p:spPr bwMode="auto">
          <a:xfrm>
            <a:off x="762000" y="1905000"/>
            <a:ext cx="6754813" cy="4022725"/>
          </a:xfrm>
          <a:prstGeom prst="rect">
            <a:avLst/>
          </a:prstGeom>
          <a:noFill/>
          <a:ln w="9525">
            <a:noFill/>
            <a:miter lim="800000"/>
            <a:headEnd/>
            <a:tailEnd/>
          </a:ln>
        </p:spPr>
      </p:pic>
      <p:pic>
        <p:nvPicPr>
          <p:cNvPr id="10" name="Picture 94" descr="ccrdc"/>
          <p:cNvPicPr>
            <a:picLocks noChangeAspect="1" noChangeArrowheads="1"/>
          </p:cNvPicPr>
          <p:nvPr/>
        </p:nvPicPr>
        <p:blipFill>
          <a:blip r:embed="rId4"/>
          <a:srcRect/>
          <a:stretch>
            <a:fillRect/>
          </a:stretch>
        </p:blipFill>
        <p:spPr bwMode="auto">
          <a:xfrm>
            <a:off x="228600" y="3200400"/>
            <a:ext cx="809625" cy="533400"/>
          </a:xfrm>
          <a:prstGeom prst="rect">
            <a:avLst/>
          </a:prstGeom>
          <a:noFill/>
          <a:ln w="9525">
            <a:noFill/>
            <a:miter lim="800000"/>
            <a:headEnd/>
            <a:tailEnd/>
          </a:ln>
        </p:spPr>
      </p:pic>
      <p:pic>
        <p:nvPicPr>
          <p:cNvPr id="11" name="Picture 96" descr="ccrdc"/>
          <p:cNvPicPr>
            <a:picLocks noChangeAspect="1" noChangeArrowheads="1"/>
          </p:cNvPicPr>
          <p:nvPr/>
        </p:nvPicPr>
        <p:blipFill>
          <a:blip r:embed="rId4"/>
          <a:srcRect/>
          <a:stretch>
            <a:fillRect/>
          </a:stretch>
        </p:blipFill>
        <p:spPr bwMode="auto">
          <a:xfrm>
            <a:off x="457200" y="3924300"/>
            <a:ext cx="809625" cy="533400"/>
          </a:xfrm>
          <a:prstGeom prst="rect">
            <a:avLst/>
          </a:prstGeom>
          <a:noFill/>
          <a:ln w="9525">
            <a:noFill/>
            <a:miter lim="800000"/>
            <a:headEnd/>
            <a:tailEnd/>
          </a:ln>
        </p:spPr>
      </p:pic>
      <p:pic>
        <p:nvPicPr>
          <p:cNvPr id="12" name="Picture 97" descr="umn_logo"/>
          <p:cNvPicPr>
            <a:picLocks noChangeAspect="1" noChangeArrowheads="1"/>
          </p:cNvPicPr>
          <p:nvPr/>
        </p:nvPicPr>
        <p:blipFill>
          <a:blip r:embed="rId5"/>
          <a:srcRect/>
          <a:stretch>
            <a:fillRect/>
          </a:stretch>
        </p:blipFill>
        <p:spPr bwMode="auto">
          <a:xfrm>
            <a:off x="4267200" y="2743200"/>
            <a:ext cx="296863" cy="304800"/>
          </a:xfrm>
          <a:prstGeom prst="rect">
            <a:avLst/>
          </a:prstGeom>
          <a:noFill/>
          <a:ln w="9525">
            <a:noFill/>
            <a:miter lim="800000"/>
            <a:headEnd/>
            <a:tailEnd/>
          </a:ln>
        </p:spPr>
      </p:pic>
      <p:pic>
        <p:nvPicPr>
          <p:cNvPr id="13" name="Picture 100" descr="crdc_01"/>
          <p:cNvPicPr>
            <a:picLocks noChangeAspect="1" noChangeArrowheads="1"/>
          </p:cNvPicPr>
          <p:nvPr/>
        </p:nvPicPr>
        <p:blipFill>
          <a:blip r:embed="rId6"/>
          <a:srcRect/>
          <a:stretch>
            <a:fillRect/>
          </a:stretch>
        </p:blipFill>
        <p:spPr bwMode="auto">
          <a:xfrm>
            <a:off x="4800600" y="3048000"/>
            <a:ext cx="419100" cy="371475"/>
          </a:xfrm>
          <a:prstGeom prst="rect">
            <a:avLst/>
          </a:prstGeom>
          <a:noFill/>
          <a:ln w="9525">
            <a:noFill/>
            <a:miter lim="800000"/>
            <a:headEnd/>
            <a:tailEnd/>
          </a:ln>
        </p:spPr>
      </p:pic>
      <p:pic>
        <p:nvPicPr>
          <p:cNvPr id="14" name="Picture 89" descr="mich"/>
          <p:cNvPicPr>
            <a:picLocks noChangeAspect="1" noChangeArrowheads="1"/>
          </p:cNvPicPr>
          <p:nvPr/>
        </p:nvPicPr>
        <p:blipFill>
          <a:blip r:embed="rId7"/>
          <a:srcRect/>
          <a:stretch>
            <a:fillRect/>
          </a:stretch>
        </p:blipFill>
        <p:spPr bwMode="auto">
          <a:xfrm>
            <a:off x="5334000" y="2971800"/>
            <a:ext cx="304800" cy="304800"/>
          </a:xfrm>
          <a:prstGeom prst="rect">
            <a:avLst/>
          </a:prstGeom>
          <a:noFill/>
          <a:ln w="9525">
            <a:noFill/>
            <a:miter lim="800000"/>
            <a:headEnd/>
            <a:tailEnd/>
          </a:ln>
        </p:spPr>
      </p:pic>
      <p:pic>
        <p:nvPicPr>
          <p:cNvPr id="15" name="Picture 92" descr="cornell_seal"/>
          <p:cNvPicPr>
            <a:picLocks noChangeAspect="1" noChangeArrowheads="1"/>
          </p:cNvPicPr>
          <p:nvPr/>
        </p:nvPicPr>
        <p:blipFill>
          <a:blip r:embed="rId8"/>
          <a:srcRect/>
          <a:stretch>
            <a:fillRect/>
          </a:stretch>
        </p:blipFill>
        <p:spPr bwMode="auto">
          <a:xfrm>
            <a:off x="6278563" y="2571750"/>
            <a:ext cx="476250" cy="476250"/>
          </a:xfrm>
          <a:prstGeom prst="rect">
            <a:avLst/>
          </a:prstGeom>
          <a:noFill/>
          <a:ln w="9525">
            <a:noFill/>
            <a:miter lim="800000"/>
            <a:headEnd/>
            <a:tailEnd/>
          </a:ln>
        </p:spPr>
      </p:pic>
      <p:pic>
        <p:nvPicPr>
          <p:cNvPr id="16" name="Picture 90" descr="nber"/>
          <p:cNvPicPr>
            <a:picLocks noChangeAspect="1" noChangeArrowheads="1"/>
          </p:cNvPicPr>
          <p:nvPr/>
        </p:nvPicPr>
        <p:blipFill>
          <a:blip r:embed="rId9"/>
          <a:srcRect/>
          <a:stretch>
            <a:fillRect/>
          </a:stretch>
        </p:blipFill>
        <p:spPr bwMode="auto">
          <a:xfrm>
            <a:off x="7315200" y="2590800"/>
            <a:ext cx="676275" cy="323850"/>
          </a:xfrm>
          <a:prstGeom prst="rect">
            <a:avLst/>
          </a:prstGeom>
          <a:noFill/>
          <a:ln w="9525">
            <a:noFill/>
            <a:miter lim="800000"/>
            <a:headEnd/>
            <a:tailEnd/>
          </a:ln>
        </p:spPr>
      </p:pic>
      <p:pic>
        <p:nvPicPr>
          <p:cNvPr id="17" name="Picture 93" descr="baruch"/>
          <p:cNvPicPr>
            <a:picLocks noChangeAspect="1" noChangeArrowheads="1"/>
          </p:cNvPicPr>
          <p:nvPr/>
        </p:nvPicPr>
        <p:blipFill>
          <a:blip r:embed="rId10"/>
          <a:srcRect/>
          <a:stretch>
            <a:fillRect/>
          </a:stretch>
        </p:blipFill>
        <p:spPr bwMode="auto">
          <a:xfrm>
            <a:off x="6934200" y="3200400"/>
            <a:ext cx="642938" cy="404813"/>
          </a:xfrm>
          <a:prstGeom prst="rect">
            <a:avLst/>
          </a:prstGeom>
          <a:noFill/>
          <a:ln w="9525">
            <a:noFill/>
            <a:miter lim="800000"/>
            <a:headEnd/>
            <a:tailEnd/>
          </a:ln>
        </p:spPr>
      </p:pic>
      <p:pic>
        <p:nvPicPr>
          <p:cNvPr id="18448" name="Picture 86" descr="census"/>
          <p:cNvPicPr>
            <a:picLocks noChangeAspect="1" noChangeArrowheads="1"/>
          </p:cNvPicPr>
          <p:nvPr/>
        </p:nvPicPr>
        <p:blipFill>
          <a:blip r:embed="rId11"/>
          <a:srcRect/>
          <a:stretch>
            <a:fillRect/>
          </a:stretch>
        </p:blipFill>
        <p:spPr bwMode="auto">
          <a:xfrm>
            <a:off x="6470650" y="3352800"/>
            <a:ext cx="381000" cy="381000"/>
          </a:xfrm>
          <a:prstGeom prst="rect">
            <a:avLst/>
          </a:prstGeom>
          <a:noFill/>
          <a:ln w="9525">
            <a:noFill/>
            <a:miter lim="800000"/>
            <a:headEnd/>
            <a:tailEnd/>
          </a:ln>
        </p:spPr>
      </p:pic>
      <p:pic>
        <p:nvPicPr>
          <p:cNvPr id="19" name="Picture 95" descr="triangle_logo"/>
          <p:cNvPicPr>
            <a:picLocks noChangeAspect="1" noChangeArrowheads="1"/>
          </p:cNvPicPr>
          <p:nvPr/>
        </p:nvPicPr>
        <p:blipFill>
          <a:blip r:embed="rId12"/>
          <a:srcRect/>
          <a:stretch>
            <a:fillRect/>
          </a:stretch>
        </p:blipFill>
        <p:spPr bwMode="auto">
          <a:xfrm>
            <a:off x="6324600" y="3810000"/>
            <a:ext cx="685800" cy="498475"/>
          </a:xfrm>
          <a:prstGeom prst="rect">
            <a:avLst/>
          </a:prstGeom>
          <a:noFill/>
          <a:ln w="9525">
            <a:noFill/>
            <a:miter lim="800000"/>
            <a:headEnd/>
            <a:tailEnd/>
          </a:ln>
        </p:spPr>
      </p:pic>
      <p:pic>
        <p:nvPicPr>
          <p:cNvPr id="20" name="Picture 104" descr="logogeorgia"/>
          <p:cNvPicPr>
            <a:picLocks noChangeAspect="1" noChangeArrowheads="1"/>
          </p:cNvPicPr>
          <p:nvPr/>
        </p:nvPicPr>
        <p:blipFill>
          <a:blip r:embed="rId13"/>
          <a:srcRect/>
          <a:stretch>
            <a:fillRect/>
          </a:stretch>
        </p:blipFill>
        <p:spPr bwMode="auto">
          <a:xfrm>
            <a:off x="5715000" y="4419600"/>
            <a:ext cx="457200" cy="379413"/>
          </a:xfrm>
          <a:prstGeom prst="rect">
            <a:avLst/>
          </a:prstGeom>
          <a:noFill/>
          <a:ln w="9525">
            <a:noFill/>
            <a:miter lim="800000"/>
            <a:headEnd/>
            <a:tailEnd/>
          </a:ln>
        </p:spPr>
      </p:pic>
    </p:spTree>
  </p:cSld>
  <p:clrMapOvr>
    <a:masterClrMapping/>
  </p:clrMapOvr>
  <p:transition advClick="0">
    <p:cut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par>
                                <p:cTn id="13" presetID="3" presetClass="entr" presetSubtype="1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linds(horizontal)">
                                      <p:cBhvr>
                                        <p:cTn id="15" dur="500"/>
                                        <p:tgtEl>
                                          <p:spTgt spid="11"/>
                                        </p:tgtEl>
                                      </p:cBhvr>
                                    </p:animEffect>
                                  </p:childTnLst>
                                </p:cTn>
                              </p:par>
                              <p:par>
                                <p:cTn id="16" presetID="3" presetClass="entr" presetSubtype="1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linds(horizontal)">
                                      <p:cBhvr>
                                        <p:cTn id="18" dur="500"/>
                                        <p:tgtEl>
                                          <p:spTgt spid="12"/>
                                        </p:tgtEl>
                                      </p:cBhvr>
                                    </p:animEffect>
                                  </p:childTnLst>
                                </p:cTn>
                              </p:par>
                              <p:par>
                                <p:cTn id="19" presetID="3" presetClass="entr" presetSubtype="1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linds(horizontal)">
                                      <p:cBhvr>
                                        <p:cTn id="21" dur="500"/>
                                        <p:tgtEl>
                                          <p:spTgt spid="13"/>
                                        </p:tgtEl>
                                      </p:cBhvr>
                                    </p:animEffect>
                                  </p:childTnLst>
                                </p:cTn>
                              </p:par>
                              <p:par>
                                <p:cTn id="22" presetID="3" presetClass="entr" presetSubtype="1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blinds(horizontal)">
                                      <p:cBhvr>
                                        <p:cTn id="24" dur="500"/>
                                        <p:tgtEl>
                                          <p:spTgt spid="14"/>
                                        </p:tgtEl>
                                      </p:cBhvr>
                                    </p:animEffect>
                                  </p:childTnLst>
                                </p:cTn>
                              </p:par>
                              <p:par>
                                <p:cTn id="25" presetID="3" presetClass="entr" presetSubtype="1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linds(horizontal)">
                                      <p:cBhvr>
                                        <p:cTn id="27" dur="500"/>
                                        <p:tgtEl>
                                          <p:spTgt spid="16"/>
                                        </p:tgtEl>
                                      </p:cBhvr>
                                    </p:animEffect>
                                  </p:childTnLst>
                                </p:cTn>
                              </p:par>
                              <p:par>
                                <p:cTn id="28" presetID="3" presetClass="entr" presetSubtype="10" fill="hold"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blinds(horizontal)">
                                      <p:cBhvr>
                                        <p:cTn id="30" dur="500"/>
                                        <p:tgtEl>
                                          <p:spTgt spid="17"/>
                                        </p:tgtEl>
                                      </p:cBhvr>
                                    </p:animEffect>
                                  </p:childTnLst>
                                </p:cTn>
                              </p:par>
                              <p:par>
                                <p:cTn id="31" presetID="3" presetClass="entr" presetSubtype="1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linds(horizontal)">
                                      <p:cBhvr>
                                        <p:cTn id="33" dur="500"/>
                                        <p:tgtEl>
                                          <p:spTgt spid="19"/>
                                        </p:tgtEl>
                                      </p:cBhvr>
                                    </p:animEffect>
                                  </p:childTnLst>
                                </p:cTn>
                              </p:par>
                              <p:par>
                                <p:cTn id="34" presetID="3" presetClass="entr" presetSubtype="10" fill="hold"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blinds(horizontal)">
                                      <p:cBhvr>
                                        <p:cTn id="3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19459"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19460" name="Rectangle 1"/>
          <p:cNvSpPr>
            <a:spLocks noChangeArrowheads="1"/>
          </p:cNvSpPr>
          <p:nvPr/>
        </p:nvSpPr>
        <p:spPr bwMode="auto">
          <a:xfrm>
            <a:off x="360363" y="1065213"/>
            <a:ext cx="7412037" cy="369887"/>
          </a:xfrm>
          <a:prstGeom prst="rect">
            <a:avLst/>
          </a:prstGeom>
          <a:noFill/>
          <a:ln w="9525">
            <a:noFill/>
            <a:miter lim="800000"/>
            <a:headEnd/>
            <a:tailEnd/>
          </a:ln>
        </p:spPr>
        <p:txBody>
          <a:bodyPr>
            <a:spAutoFit/>
          </a:bodyPr>
          <a:lstStyle/>
          <a:p>
            <a:pPr algn="ctr"/>
            <a:r>
              <a:rPr lang="en-US"/>
              <a:t>Research Opportunities at the Cornell Census Research Data Center (RDC)</a:t>
            </a:r>
          </a:p>
        </p:txBody>
      </p:sp>
      <p:sp>
        <p:nvSpPr>
          <p:cNvPr id="19461" name="Rectangle 4"/>
          <p:cNvSpPr>
            <a:spLocks noChangeArrowheads="1"/>
          </p:cNvSpPr>
          <p:nvPr/>
        </p:nvSpPr>
        <p:spPr bwMode="auto">
          <a:xfrm>
            <a:off x="3232150" y="1765300"/>
            <a:ext cx="2679700" cy="369888"/>
          </a:xfrm>
          <a:prstGeom prst="rect">
            <a:avLst/>
          </a:prstGeom>
          <a:noFill/>
          <a:ln w="9525">
            <a:noFill/>
            <a:miter lim="800000"/>
            <a:headEnd/>
            <a:tailEnd/>
          </a:ln>
        </p:spPr>
        <p:txBody>
          <a:bodyPr wrap="none">
            <a:spAutoFit/>
          </a:bodyPr>
          <a:lstStyle/>
          <a:p>
            <a:pPr>
              <a:spcBef>
                <a:spcPct val="50000"/>
              </a:spcBef>
            </a:pPr>
            <a:r>
              <a:rPr lang="en-US" b="1"/>
              <a:t>CISER, 391 Pine Tree Road</a:t>
            </a:r>
          </a:p>
        </p:txBody>
      </p:sp>
      <p:pic>
        <p:nvPicPr>
          <p:cNvPr id="19462" name="Picture 4" descr="home_building"/>
          <p:cNvPicPr>
            <a:picLocks noChangeAspect="1" noChangeArrowheads="1"/>
          </p:cNvPicPr>
          <p:nvPr/>
        </p:nvPicPr>
        <p:blipFill>
          <a:blip r:embed="rId3"/>
          <a:srcRect/>
          <a:stretch>
            <a:fillRect/>
          </a:stretch>
        </p:blipFill>
        <p:spPr bwMode="auto">
          <a:xfrm>
            <a:off x="2320925" y="2168525"/>
            <a:ext cx="4352925" cy="2901950"/>
          </a:xfrm>
          <a:prstGeom prst="rect">
            <a:avLst/>
          </a:prstGeom>
          <a:noFill/>
          <a:ln w="9525">
            <a:noFill/>
            <a:miter lim="800000"/>
            <a:headEnd/>
            <a:tailEnd/>
          </a:ln>
        </p:spPr>
      </p:pic>
    </p:spTree>
  </p:cSld>
  <p:clrMapOvr>
    <a:masterClrMapping/>
  </p:clrMapOvr>
  <p:transition>
    <p:cut thruBlk="1"/>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20483"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TextBox 1"/>
          <p:cNvSpPr txBox="1"/>
          <p:nvPr/>
        </p:nvSpPr>
        <p:spPr>
          <a:xfrm>
            <a:off x="534988" y="1330325"/>
            <a:ext cx="7923212" cy="584200"/>
          </a:xfrm>
          <a:prstGeom prst="rect">
            <a:avLst/>
          </a:prstGeom>
          <a:noFill/>
        </p:spPr>
        <p:txBody>
          <a:bodyPr>
            <a:spAutoFit/>
          </a:bodyPr>
          <a:lstStyle/>
          <a:p>
            <a:pPr algn="ctr">
              <a:defRPr/>
            </a:pPr>
            <a:r>
              <a:rPr lang="en-US" sz="3200" dirty="0">
                <a:effectLst>
                  <a:outerShdw blurRad="38100" dist="38100" dir="2700000" algn="tl">
                    <a:srgbClr val="DDDDDD"/>
                  </a:outerShdw>
                </a:effectLst>
                <a:latin typeface="Trebuchet MS" charset="0"/>
              </a:rPr>
              <a:t>Data Available in the RDC</a:t>
            </a:r>
            <a:endParaRPr lang="en-US" sz="3200" dirty="0">
              <a:latin typeface="Calibri" charset="0"/>
            </a:endParaRPr>
          </a:p>
        </p:txBody>
      </p:sp>
      <p:sp>
        <p:nvSpPr>
          <p:cNvPr id="20485" name="TextBox 3"/>
          <p:cNvSpPr txBox="1">
            <a:spLocks noChangeArrowheads="1"/>
          </p:cNvSpPr>
          <p:nvPr/>
        </p:nvSpPr>
        <p:spPr bwMode="auto">
          <a:xfrm>
            <a:off x="600075" y="2022475"/>
            <a:ext cx="8156575" cy="3476625"/>
          </a:xfrm>
          <a:prstGeom prst="rect">
            <a:avLst/>
          </a:prstGeom>
          <a:noFill/>
          <a:ln w="9525">
            <a:noFill/>
            <a:miter lim="800000"/>
            <a:headEnd/>
            <a:tailEnd/>
          </a:ln>
        </p:spPr>
        <p:txBody>
          <a:bodyPr>
            <a:spAutoFit/>
          </a:bodyPr>
          <a:lstStyle/>
          <a:p>
            <a:pPr marL="342900" indent="-342900">
              <a:lnSpc>
                <a:spcPct val="90000"/>
              </a:lnSpc>
              <a:buFont typeface="Arial" charset="0"/>
              <a:buChar char="•"/>
            </a:pPr>
            <a:r>
              <a:rPr lang="en-US" sz="2000">
                <a:latin typeface="Trebuchet MS" pitchFamily="34" charset="0"/>
              </a:rPr>
              <a:t>Economic Data</a:t>
            </a:r>
          </a:p>
          <a:p>
            <a:pPr marL="742950" lvl="1" indent="-285750">
              <a:lnSpc>
                <a:spcPct val="90000"/>
              </a:lnSpc>
              <a:buFont typeface="Arial" charset="0"/>
              <a:buChar char="•"/>
            </a:pPr>
            <a:r>
              <a:rPr lang="en-US">
                <a:latin typeface="Trebuchet MS" pitchFamily="34" charset="0"/>
              </a:rPr>
              <a:t>Interview business establishments and firms</a:t>
            </a:r>
          </a:p>
          <a:p>
            <a:pPr marL="742950" lvl="1" indent="-285750">
              <a:lnSpc>
                <a:spcPct val="90000"/>
              </a:lnSpc>
              <a:buFont typeface="Arial" charset="0"/>
              <a:buChar char="•"/>
            </a:pPr>
            <a:r>
              <a:rPr lang="en-US">
                <a:latin typeface="Trebuchet MS" pitchFamily="34" charset="0"/>
              </a:rPr>
              <a:t>No public use versions</a:t>
            </a:r>
          </a:p>
          <a:p>
            <a:pPr marL="742950" lvl="1" indent="-285750">
              <a:lnSpc>
                <a:spcPct val="90000"/>
              </a:lnSpc>
              <a:buFont typeface="Arial" charset="0"/>
              <a:buChar char="•"/>
            </a:pPr>
            <a:endParaRPr lang="en-US">
              <a:latin typeface="Trebuchet MS" pitchFamily="34" charset="0"/>
            </a:endParaRPr>
          </a:p>
          <a:p>
            <a:pPr marL="342900" indent="-342900">
              <a:lnSpc>
                <a:spcPct val="90000"/>
              </a:lnSpc>
              <a:buFont typeface="Arial" charset="0"/>
              <a:buChar char="•"/>
            </a:pPr>
            <a:r>
              <a:rPr lang="en-US" sz="2000">
                <a:latin typeface="Trebuchet MS" pitchFamily="34" charset="0"/>
              </a:rPr>
              <a:t>Demographic Data</a:t>
            </a:r>
          </a:p>
          <a:p>
            <a:pPr marL="742950" lvl="1" indent="-285750">
              <a:lnSpc>
                <a:spcPct val="90000"/>
              </a:lnSpc>
              <a:buFont typeface="Arial" charset="0"/>
              <a:buChar char="•"/>
            </a:pPr>
            <a:r>
              <a:rPr lang="en-US">
                <a:latin typeface="Trebuchet MS" pitchFamily="34" charset="0"/>
              </a:rPr>
              <a:t>Interview individuals and households</a:t>
            </a:r>
          </a:p>
          <a:p>
            <a:pPr marL="742950" lvl="1" indent="-285750">
              <a:lnSpc>
                <a:spcPct val="90000"/>
              </a:lnSpc>
              <a:buFont typeface="Arial" charset="0"/>
              <a:buChar char="•"/>
            </a:pPr>
            <a:r>
              <a:rPr lang="en-US">
                <a:latin typeface="Trebuchet MS" pitchFamily="34" charset="0"/>
              </a:rPr>
              <a:t>Complete geography, no income topcoding</a:t>
            </a:r>
          </a:p>
          <a:p>
            <a:pPr marL="742950" lvl="1" indent="-285750">
              <a:lnSpc>
                <a:spcPct val="90000"/>
              </a:lnSpc>
              <a:buFont typeface="Arial" charset="0"/>
              <a:buChar char="•"/>
            </a:pPr>
            <a:endParaRPr lang="en-US">
              <a:latin typeface="Trebuchet MS" pitchFamily="34" charset="0"/>
            </a:endParaRPr>
          </a:p>
          <a:p>
            <a:pPr marL="342900" indent="-342900">
              <a:lnSpc>
                <a:spcPct val="90000"/>
              </a:lnSpc>
              <a:buFont typeface="Arial" charset="0"/>
              <a:buChar char="•"/>
            </a:pPr>
            <a:r>
              <a:rPr lang="en-US" sz="2000">
                <a:latin typeface="Trebuchet MS" pitchFamily="34" charset="0"/>
              </a:rPr>
              <a:t>Matched Employer-Employee Data</a:t>
            </a:r>
          </a:p>
          <a:p>
            <a:pPr marL="342900" indent="-342900">
              <a:lnSpc>
                <a:spcPct val="90000"/>
              </a:lnSpc>
              <a:buFont typeface="Arial" charset="0"/>
              <a:buChar char="•"/>
            </a:pPr>
            <a:endParaRPr lang="en-US" sz="2000">
              <a:latin typeface="Trebuchet MS" pitchFamily="34" charset="0"/>
            </a:endParaRPr>
          </a:p>
          <a:p>
            <a:pPr marL="342900" indent="-342900">
              <a:lnSpc>
                <a:spcPct val="90000"/>
              </a:lnSpc>
              <a:buFont typeface="Arial" charset="0"/>
              <a:buChar char="•"/>
            </a:pPr>
            <a:r>
              <a:rPr lang="en-US" sz="2000">
                <a:latin typeface="Trebuchet MS" pitchFamily="34" charset="0"/>
              </a:rPr>
              <a:t>Health Data: Partnerships with</a:t>
            </a:r>
          </a:p>
          <a:p>
            <a:pPr marL="742950" lvl="1" indent="-285750">
              <a:lnSpc>
                <a:spcPct val="90000"/>
              </a:lnSpc>
              <a:buFont typeface="Arial" charset="0"/>
              <a:buChar char="•"/>
            </a:pPr>
            <a:r>
              <a:rPr lang="en-US">
                <a:latin typeface="Trebuchet MS" pitchFamily="34" charset="0"/>
              </a:rPr>
              <a:t>NCHS</a:t>
            </a:r>
          </a:p>
          <a:p>
            <a:pPr marL="742950" lvl="1" indent="-285750">
              <a:lnSpc>
                <a:spcPct val="90000"/>
              </a:lnSpc>
              <a:buFont typeface="Arial" charset="0"/>
              <a:buChar char="•"/>
            </a:pPr>
            <a:r>
              <a:rPr lang="en-US">
                <a:latin typeface="Trebuchet MS" pitchFamily="34" charset="0"/>
              </a:rPr>
              <a:t>AHRQ</a:t>
            </a:r>
          </a:p>
        </p:txBody>
      </p:sp>
    </p:spTree>
  </p:cSld>
  <p:clrMapOvr>
    <a:masterClrMapping/>
  </p:clrMapOvr>
  <p:transition>
    <p:cut thruBlk="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21507"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1508" name="TextBox 1"/>
          <p:cNvSpPr txBox="1">
            <a:spLocks noChangeArrowheads="1"/>
          </p:cNvSpPr>
          <p:nvPr/>
        </p:nvSpPr>
        <p:spPr bwMode="auto">
          <a:xfrm>
            <a:off x="534988" y="1103313"/>
            <a:ext cx="7923212" cy="708025"/>
          </a:xfrm>
          <a:prstGeom prst="rect">
            <a:avLst/>
          </a:prstGeom>
          <a:noFill/>
          <a:ln w="9525">
            <a:noFill/>
            <a:miter lim="800000"/>
            <a:headEnd/>
            <a:tailEnd/>
          </a:ln>
        </p:spPr>
        <p:txBody>
          <a:bodyPr>
            <a:spAutoFit/>
          </a:bodyPr>
          <a:lstStyle/>
          <a:p>
            <a:r>
              <a:rPr lang="en-US" sz="4000"/>
              <a:t>Current situation within Census RDCs</a:t>
            </a:r>
          </a:p>
        </p:txBody>
      </p:sp>
      <p:sp>
        <p:nvSpPr>
          <p:cNvPr id="21509" name="TextBox 3"/>
          <p:cNvSpPr txBox="1">
            <a:spLocks noChangeArrowheads="1"/>
          </p:cNvSpPr>
          <p:nvPr/>
        </p:nvSpPr>
        <p:spPr bwMode="auto">
          <a:xfrm>
            <a:off x="600075" y="2022475"/>
            <a:ext cx="8156575" cy="4894263"/>
          </a:xfrm>
          <a:prstGeom prst="rect">
            <a:avLst/>
          </a:prstGeom>
          <a:noFill/>
          <a:ln w="9525">
            <a:noFill/>
            <a:miter lim="800000"/>
            <a:headEnd/>
            <a:tailEnd/>
          </a:ln>
        </p:spPr>
        <p:txBody>
          <a:bodyPr>
            <a:spAutoFit/>
          </a:bodyPr>
          <a:lstStyle/>
          <a:p>
            <a:pPr marL="285750" indent="-285750">
              <a:buFont typeface="Arial" charset="0"/>
              <a:buChar char="•"/>
            </a:pPr>
            <a:r>
              <a:rPr lang="en-US" sz="2400"/>
              <a:t>Tension between confidentiality and user-friendliness</a:t>
            </a:r>
          </a:p>
          <a:p>
            <a:pPr marL="285750" indent="-285750">
              <a:buFont typeface="Arial" charset="0"/>
              <a:buChar char="•"/>
            </a:pPr>
            <a:endParaRPr lang="en-US" sz="2400"/>
          </a:p>
          <a:p>
            <a:pPr marL="285750" indent="-285750">
              <a:buFont typeface="Arial" charset="0"/>
              <a:buChar char="•"/>
            </a:pPr>
            <a:r>
              <a:rPr lang="en-US" sz="2400"/>
              <a:t>Lack of consistent documentation at variable level</a:t>
            </a:r>
          </a:p>
          <a:p>
            <a:pPr marL="285750" indent="-285750">
              <a:buFont typeface="Arial" charset="0"/>
              <a:buChar char="•"/>
            </a:pPr>
            <a:endParaRPr lang="en-US" sz="2400"/>
          </a:p>
          <a:p>
            <a:pPr marL="285750" indent="-285750">
              <a:buFont typeface="Arial" charset="0"/>
              <a:buChar char="•"/>
            </a:pPr>
            <a:r>
              <a:rPr lang="en-US" sz="2400"/>
              <a:t>Barriers to data discovery and use</a:t>
            </a:r>
          </a:p>
          <a:p>
            <a:pPr marL="285750" indent="-285750">
              <a:buFont typeface="Arial" charset="0"/>
              <a:buChar char="•"/>
            </a:pPr>
            <a:endParaRPr lang="en-US" sz="2400"/>
          </a:p>
          <a:p>
            <a:pPr marL="285750" indent="-285750">
              <a:buFont typeface="Arial" charset="0"/>
              <a:buChar char="•"/>
            </a:pPr>
            <a:r>
              <a:rPr lang="en-US" sz="2400"/>
              <a:t>Long term curation precluded</a:t>
            </a:r>
          </a:p>
          <a:p>
            <a:pPr marL="285750" indent="-285750">
              <a:buFont typeface="Arial" charset="0"/>
              <a:buChar char="•"/>
            </a:pPr>
            <a:endParaRPr lang="en-US" sz="2400"/>
          </a:p>
          <a:p>
            <a:pPr marL="285750" indent="-285750">
              <a:buFont typeface="Arial" charset="0"/>
              <a:buChar char="•"/>
            </a:pPr>
            <a:r>
              <a:rPr lang="en-US" sz="2400"/>
              <a:t>Scientific replication impossible</a:t>
            </a:r>
          </a:p>
          <a:p>
            <a:pPr marL="285750" indent="-285750">
              <a:buFont typeface="Arial" charset="0"/>
              <a:buChar char="•"/>
            </a:pPr>
            <a:endParaRPr lang="en-US" sz="2400"/>
          </a:p>
          <a:p>
            <a:pPr marL="285750" indent="-285750">
              <a:buFont typeface="Arial" charset="0"/>
              <a:buChar char="•"/>
            </a:pPr>
            <a:r>
              <a:rPr lang="en-US" sz="2400"/>
              <a:t>Two examples:  Census of Manufactures and American Community Survey</a:t>
            </a:r>
          </a:p>
          <a:p>
            <a:pPr marL="285750" indent="-285750">
              <a:buFont typeface="Arial" charset="0"/>
              <a:buChar char="•"/>
            </a:pPr>
            <a:endParaRPr lang="en-US" sz="2400"/>
          </a:p>
        </p:txBody>
      </p:sp>
    </p:spTree>
  </p:cSld>
  <p:clrMapOvr>
    <a:masterClrMapping/>
  </p:clrMapOvr>
  <p:transition>
    <p:cut thruBlk="1"/>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22531"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2532" name="Title 1"/>
          <p:cNvSpPr txBox="1">
            <a:spLocks/>
          </p:cNvSpPr>
          <p:nvPr/>
        </p:nvSpPr>
        <p:spPr bwMode="auto">
          <a:xfrm>
            <a:off x="457200" y="1066800"/>
            <a:ext cx="8229600" cy="685800"/>
          </a:xfrm>
          <a:prstGeom prst="rect">
            <a:avLst/>
          </a:prstGeom>
          <a:noFill/>
          <a:ln w="9525">
            <a:noFill/>
            <a:miter lim="800000"/>
            <a:headEnd/>
            <a:tailEnd/>
          </a:ln>
        </p:spPr>
        <p:txBody>
          <a:bodyPr anchor="ctr"/>
          <a:lstStyle/>
          <a:p>
            <a:pPr algn="ctr"/>
            <a:r>
              <a:rPr lang="en-US" sz="2800"/>
              <a:t>Present data documentation situation for RDC users</a:t>
            </a:r>
          </a:p>
        </p:txBody>
      </p:sp>
      <p:sp>
        <p:nvSpPr>
          <p:cNvPr id="22533" name="Content Placeholder 2"/>
          <p:cNvSpPr txBox="1">
            <a:spLocks/>
          </p:cNvSpPr>
          <p:nvPr/>
        </p:nvSpPr>
        <p:spPr bwMode="auto">
          <a:xfrm>
            <a:off x="457200" y="1752600"/>
            <a:ext cx="8534400" cy="5105400"/>
          </a:xfrm>
          <a:prstGeom prst="rect">
            <a:avLst/>
          </a:prstGeom>
          <a:noFill/>
          <a:ln w="9525">
            <a:noFill/>
            <a:miter lim="800000"/>
            <a:headEnd/>
            <a:tailEnd/>
          </a:ln>
        </p:spPr>
        <p:txBody>
          <a:bodyPr/>
          <a:lstStyle/>
          <a:p>
            <a:pPr algn="ctr">
              <a:spcBef>
                <a:spcPct val="20000"/>
              </a:spcBef>
              <a:buFont typeface="Arial" charset="0"/>
              <a:buNone/>
            </a:pPr>
            <a:r>
              <a:rPr lang="en-US" sz="2000"/>
              <a:t>What can be learned online about the most widely used RDC dataset, the </a:t>
            </a:r>
            <a:r>
              <a:rPr lang="en-US" sz="2000" u="sng"/>
              <a:t>Census of Manufactures</a:t>
            </a:r>
            <a:r>
              <a:rPr lang="en-US" sz="2000"/>
              <a:t>, </a:t>
            </a:r>
            <a:r>
              <a:rPr lang="en-US" sz="2000" b="1" i="1"/>
              <a:t>outside</a:t>
            </a:r>
            <a:r>
              <a:rPr lang="en-US" sz="2000"/>
              <a:t> of an RDC:</a:t>
            </a:r>
            <a:br>
              <a:rPr lang="en-US" sz="2000"/>
            </a:br>
            <a:r>
              <a:rPr lang="en-US" sz="2000"/>
              <a:t/>
            </a:r>
            <a:br>
              <a:rPr lang="en-US" sz="2000"/>
            </a:br>
            <a:r>
              <a:rPr lang="en-US" sz="2000"/>
              <a:t/>
            </a:r>
            <a:br>
              <a:rPr lang="en-US" sz="2000"/>
            </a:br>
            <a:r>
              <a:rPr lang="en-US" sz="2000"/>
              <a:t/>
            </a:r>
            <a:br>
              <a:rPr lang="en-US" sz="2000"/>
            </a:br>
            <a:r>
              <a:rPr lang="en-US" sz="2000"/>
              <a:t/>
            </a:r>
            <a:br>
              <a:rPr lang="en-US" sz="2000"/>
            </a:br>
            <a:r>
              <a:rPr lang="en-US" sz="2000"/>
              <a:t/>
            </a:r>
            <a:br>
              <a:rPr lang="en-US" sz="2000"/>
            </a:br>
            <a:endParaRPr lang="en-US" sz="2000"/>
          </a:p>
          <a:p>
            <a:pPr lvl="1" algn="ctr">
              <a:spcBef>
                <a:spcPct val="20000"/>
              </a:spcBef>
              <a:buFont typeface="Arial" charset="0"/>
              <a:buNone/>
            </a:pPr>
            <a:endParaRPr lang="en-US"/>
          </a:p>
          <a:p>
            <a:pPr lvl="1" algn="ctr">
              <a:spcBef>
                <a:spcPct val="20000"/>
              </a:spcBef>
              <a:buFont typeface="Arial" charset="0"/>
              <a:buNone/>
            </a:pPr>
            <a:endParaRPr lang="en-US"/>
          </a:p>
          <a:p>
            <a:pPr lvl="1" algn="ctr">
              <a:spcBef>
                <a:spcPct val="20000"/>
              </a:spcBef>
              <a:buFont typeface="Arial" charset="0"/>
              <a:buNone/>
            </a:pPr>
            <a:endParaRPr lang="en-US"/>
          </a:p>
          <a:p>
            <a:pPr lvl="1" algn="ctr">
              <a:spcBef>
                <a:spcPct val="20000"/>
              </a:spcBef>
              <a:buFont typeface="Arial" charset="0"/>
              <a:buNone/>
            </a:pPr>
            <a:endParaRPr lang="en-US"/>
          </a:p>
          <a:p>
            <a:pPr lvl="1" algn="ctr">
              <a:spcBef>
                <a:spcPct val="20000"/>
              </a:spcBef>
              <a:buFont typeface="Arial" charset="0"/>
              <a:buNone/>
            </a:pPr>
            <a:endParaRPr lang="en-US"/>
          </a:p>
          <a:p>
            <a:pPr lvl="1" algn="ctr">
              <a:spcBef>
                <a:spcPct val="20000"/>
              </a:spcBef>
              <a:buFont typeface="Arial" charset="0"/>
              <a:buNone/>
            </a:pPr>
            <a:r>
              <a:rPr lang="en-US"/>
              <a:t>No information provided here about which variables are contained in this dataset.  </a:t>
            </a:r>
            <a:br>
              <a:rPr lang="en-US"/>
            </a:br>
            <a:endParaRPr lang="en-US"/>
          </a:p>
        </p:txBody>
      </p:sp>
      <p:pic>
        <p:nvPicPr>
          <p:cNvPr id="7" name="Picture 2"/>
          <p:cNvPicPr>
            <a:picLocks noChangeAspect="1" noChangeArrowheads="1"/>
          </p:cNvPicPr>
          <p:nvPr/>
        </p:nvPicPr>
        <p:blipFill>
          <a:blip r:embed="rId3"/>
          <a:srcRect/>
          <a:stretch>
            <a:fillRect/>
          </a:stretch>
        </p:blipFill>
        <p:spPr bwMode="auto">
          <a:xfrm>
            <a:off x="76200" y="2570163"/>
            <a:ext cx="8915400" cy="3282950"/>
          </a:xfrm>
          <a:prstGeom prst="rect">
            <a:avLst/>
          </a:prstGeom>
          <a:noFill/>
          <a:ln w="9525">
            <a:noFill/>
            <a:miter lim="800000"/>
            <a:headEnd/>
            <a:tailEnd/>
          </a:ln>
        </p:spPr>
      </p:pic>
      <p:sp>
        <p:nvSpPr>
          <p:cNvPr id="8" name="TextBox 7"/>
          <p:cNvSpPr txBox="1">
            <a:spLocks noChangeArrowheads="1"/>
          </p:cNvSpPr>
          <p:nvPr/>
        </p:nvSpPr>
        <p:spPr bwMode="auto">
          <a:xfrm>
            <a:off x="3505200" y="5591175"/>
            <a:ext cx="5486400" cy="261938"/>
          </a:xfrm>
          <a:prstGeom prst="rect">
            <a:avLst/>
          </a:prstGeom>
          <a:solidFill>
            <a:srgbClr val="D8E2E9"/>
          </a:solidFill>
          <a:ln w="9525">
            <a:solidFill>
              <a:schemeClr val="tx1"/>
            </a:solidFill>
            <a:miter lim="800000"/>
            <a:headEnd/>
            <a:tailEnd/>
          </a:ln>
        </p:spPr>
        <p:txBody>
          <a:bodyPr>
            <a:spAutoFit/>
          </a:bodyPr>
          <a:lstStyle/>
          <a:p>
            <a:r>
              <a:rPr lang="en-US" sz="1100">
                <a:latin typeface="Arial" charset="0"/>
              </a:rPr>
              <a:t>Source: </a:t>
            </a:r>
            <a:r>
              <a:rPr lang="en-US" sz="1100">
                <a:latin typeface="Arial" charset="0"/>
                <a:hlinkClick r:id="rId4"/>
              </a:rPr>
              <a:t>http://www.ces.census.gov/index.php/ces/researchdata?detail_key=3</a:t>
            </a:r>
            <a:endParaRPr lang="en-US" sz="1100">
              <a:latin typeface="Arial" charset="0"/>
            </a:endParaRPr>
          </a:p>
        </p:txBody>
      </p:sp>
    </p:spTree>
  </p:cSld>
  <p:clrMapOvr>
    <a:masterClrMapping/>
  </p:clrMapOvr>
  <p:transition>
    <p:cut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0"/>
                                        <p:tgtEl>
                                          <p:spTgt spid="7"/>
                                        </p:tgtEl>
                                      </p:cBhvr>
                                    </p:animEffect>
                                  </p:childTnLst>
                                </p:cTn>
                              </p:par>
                            </p:childTnLst>
                          </p:cTn>
                        </p:par>
                        <p:par>
                          <p:cTn id="8" fill="hold">
                            <p:stCondLst>
                              <p:cond delay="3000"/>
                            </p:stCondLst>
                            <p:childTnLst>
                              <p:par>
                                <p:cTn id="9" presetID="1" presetClass="entr" presetSubtype="0" fill="hold" grpId="0" nodeType="afterEffect">
                                  <p:stCondLst>
                                    <p:cond delay="100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23555"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3556" name="Title 1"/>
          <p:cNvSpPr txBox="1">
            <a:spLocks/>
          </p:cNvSpPr>
          <p:nvPr/>
        </p:nvSpPr>
        <p:spPr bwMode="auto">
          <a:xfrm>
            <a:off x="457200" y="1066800"/>
            <a:ext cx="8229600" cy="685800"/>
          </a:xfrm>
          <a:prstGeom prst="rect">
            <a:avLst/>
          </a:prstGeom>
          <a:noFill/>
          <a:ln w="9525">
            <a:noFill/>
            <a:miter lim="800000"/>
            <a:headEnd/>
            <a:tailEnd/>
          </a:ln>
        </p:spPr>
        <p:txBody>
          <a:bodyPr anchor="ctr"/>
          <a:lstStyle/>
          <a:p>
            <a:pPr algn="ctr"/>
            <a:r>
              <a:rPr lang="en-US" sz="2400"/>
              <a:t>Present data documentation situation for RDC users cont.</a:t>
            </a:r>
          </a:p>
        </p:txBody>
      </p:sp>
      <p:sp>
        <p:nvSpPr>
          <p:cNvPr id="23557" name="Content Placeholder 2"/>
          <p:cNvSpPr txBox="1">
            <a:spLocks/>
          </p:cNvSpPr>
          <p:nvPr/>
        </p:nvSpPr>
        <p:spPr bwMode="auto">
          <a:xfrm>
            <a:off x="457200" y="1752600"/>
            <a:ext cx="8229600" cy="5105400"/>
          </a:xfrm>
          <a:prstGeom prst="rect">
            <a:avLst/>
          </a:prstGeom>
          <a:noFill/>
          <a:ln w="9525">
            <a:noFill/>
            <a:miter lim="800000"/>
            <a:headEnd/>
            <a:tailEnd/>
          </a:ln>
        </p:spPr>
        <p:txBody>
          <a:bodyPr/>
          <a:lstStyle/>
          <a:p>
            <a:pPr algn="ctr">
              <a:spcBef>
                <a:spcPct val="20000"/>
              </a:spcBef>
              <a:buFont typeface="Arial" charset="0"/>
              <a:buNone/>
            </a:pPr>
            <a:r>
              <a:rPr lang="en-US" sz="2000"/>
              <a:t>What can be learned online about the most widely used RDC dataset, the </a:t>
            </a:r>
            <a:r>
              <a:rPr lang="en-US" sz="2000" u="sng"/>
              <a:t>Census of Manufactures</a:t>
            </a:r>
            <a:r>
              <a:rPr lang="en-US" sz="2000"/>
              <a:t>, </a:t>
            </a:r>
            <a:r>
              <a:rPr lang="en-US" sz="2000" b="1" i="1"/>
              <a:t>inside</a:t>
            </a:r>
            <a:r>
              <a:rPr lang="en-US" sz="2000"/>
              <a:t> an RDC.  One can browse folders, “read me” files, or</a:t>
            </a:r>
            <a:endParaRPr lang="en-US"/>
          </a:p>
        </p:txBody>
      </p:sp>
      <p:sp>
        <p:nvSpPr>
          <p:cNvPr id="7" name="Rectangle 6"/>
          <p:cNvSpPr/>
          <p:nvPr/>
        </p:nvSpPr>
        <p:spPr>
          <a:xfrm>
            <a:off x="76200" y="2884488"/>
            <a:ext cx="8915400" cy="3133725"/>
          </a:xfrm>
          <a:prstGeom prst="rect">
            <a:avLst/>
          </a:prstGeom>
          <a:solidFill>
            <a:schemeClr val="tx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nvGrpSpPr>
          <p:cNvPr id="8" name="Group 7"/>
          <p:cNvGrpSpPr>
            <a:grpSpLocks/>
          </p:cNvGrpSpPr>
          <p:nvPr/>
        </p:nvGrpSpPr>
        <p:grpSpPr bwMode="auto">
          <a:xfrm>
            <a:off x="1114425" y="3846513"/>
            <a:ext cx="5748338" cy="730250"/>
            <a:chOff x="194679" y="6079387"/>
            <a:chExt cx="5748921" cy="728777"/>
          </a:xfrm>
        </p:grpSpPr>
        <p:pic>
          <p:nvPicPr>
            <p:cNvPr id="23560" name="Picture 2" descr="C:\Users\sk2349\AppData\Local\Microsoft\Windows\Temporary Internet Files\Content.IE5\5K03RBH1\MC900366386[1].wmf"/>
            <p:cNvPicPr>
              <a:picLocks noChangeAspect="1" noChangeArrowheads="1"/>
            </p:cNvPicPr>
            <p:nvPr/>
          </p:nvPicPr>
          <p:blipFill>
            <a:blip r:embed="rId3"/>
            <a:srcRect/>
            <a:stretch>
              <a:fillRect/>
            </a:stretch>
          </p:blipFill>
          <p:spPr bwMode="auto">
            <a:xfrm>
              <a:off x="194679" y="6079387"/>
              <a:ext cx="909828" cy="728777"/>
            </a:xfrm>
            <a:prstGeom prst="rect">
              <a:avLst/>
            </a:prstGeom>
            <a:noFill/>
            <a:ln w="9525">
              <a:noFill/>
              <a:miter lim="800000"/>
              <a:headEnd/>
              <a:tailEnd/>
            </a:ln>
          </p:spPr>
        </p:pic>
        <p:sp>
          <p:nvSpPr>
            <p:cNvPr id="23561" name="TextBox 9"/>
            <p:cNvSpPr txBox="1">
              <a:spLocks noChangeArrowheads="1"/>
            </p:cNvSpPr>
            <p:nvPr/>
          </p:nvSpPr>
          <p:spPr bwMode="auto">
            <a:xfrm>
              <a:off x="1066800" y="6115524"/>
              <a:ext cx="4876800" cy="584775"/>
            </a:xfrm>
            <a:prstGeom prst="rect">
              <a:avLst/>
            </a:prstGeom>
            <a:noFill/>
            <a:ln w="9525">
              <a:noFill/>
              <a:miter lim="800000"/>
              <a:headEnd/>
              <a:tailEnd/>
            </a:ln>
          </p:spPr>
          <p:txBody>
            <a:bodyPr>
              <a:spAutoFit/>
            </a:bodyPr>
            <a:lstStyle/>
            <a:p>
              <a:r>
                <a:rPr lang="en-US" sz="1600">
                  <a:solidFill>
                    <a:schemeClr val="bg1"/>
                  </a:solidFill>
                  <a:latin typeface="Arial Black" pitchFamily="34" charset="0"/>
                </a:rPr>
                <a:t>L</a:t>
              </a:r>
              <a:r>
                <a:rPr lang="en-US" sz="1600" i="1">
                  <a:solidFill>
                    <a:schemeClr val="bg1"/>
                  </a:solidFill>
                  <a:latin typeface="Arial Black" pitchFamily="34" charset="0"/>
                </a:rPr>
                <a:t>eave RDC</a:t>
              </a:r>
              <a:r>
                <a:rPr lang="en-US" sz="1600">
                  <a:solidFill>
                    <a:schemeClr val="bg1"/>
                  </a:solidFill>
                  <a:latin typeface="Arial Black" pitchFamily="34" charset="0"/>
                </a:rPr>
                <a:t>, use a computer with public Internet access!</a:t>
              </a:r>
            </a:p>
          </p:txBody>
        </p:sp>
      </p:grpSp>
    </p:spTree>
  </p:cSld>
  <p:clrMapOvr>
    <a:masterClrMapping/>
  </p:clrMapOvr>
  <p:transition>
    <p:cut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2000" fill="hold"/>
                                        <p:tgtEl>
                                          <p:spTgt spid="8"/>
                                        </p:tgtEl>
                                        <p:attrNameLst>
                                          <p:attrName>ppt_w</p:attrName>
                                        </p:attrNameLst>
                                      </p:cBhvr>
                                      <p:tavLst>
                                        <p:tav tm="0">
                                          <p:val>
                                            <p:fltVal val="0"/>
                                          </p:val>
                                        </p:tav>
                                        <p:tav tm="100000">
                                          <p:val>
                                            <p:strVal val="#ppt_w"/>
                                          </p:val>
                                        </p:tav>
                                      </p:tavLst>
                                    </p:anim>
                                    <p:anim calcmode="lin" valueType="num">
                                      <p:cBhvr>
                                        <p:cTn id="13" dur="2000" fill="hold"/>
                                        <p:tgtEl>
                                          <p:spTgt spid="8"/>
                                        </p:tgtEl>
                                        <p:attrNameLst>
                                          <p:attrName>ppt_h</p:attrName>
                                        </p:attrNameLst>
                                      </p:cBhvr>
                                      <p:tavLst>
                                        <p:tav tm="0">
                                          <p:val>
                                            <p:fltVal val="0"/>
                                          </p:val>
                                        </p:tav>
                                        <p:tav tm="100000">
                                          <p:val>
                                            <p:strVal val="#ppt_h"/>
                                          </p:val>
                                        </p:tav>
                                      </p:tavLst>
                                    </p:anim>
                                    <p:animEffect transition="in" filter="fade">
                                      <p:cBhvr>
                                        <p:cTn id="14"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24579"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5" name="Title 1"/>
          <p:cNvSpPr txBox="1">
            <a:spLocks/>
          </p:cNvSpPr>
          <p:nvPr/>
        </p:nvSpPr>
        <p:spPr>
          <a:xfrm>
            <a:off x="457200" y="1066800"/>
            <a:ext cx="8229600" cy="1143000"/>
          </a:xfrm>
          <a:prstGeom prst="rect">
            <a:avLst/>
          </a:prstGeom>
        </p:spPr>
        <p:txBody>
          <a:bodyPr anchor="ctr"/>
          <a:lstStyle>
            <a:lvl1pPr algn="ctr" defTabSz="457200" rtl="0" eaLnBrk="1" latinLnBrk="0" hangingPunct="1">
              <a:spcBef>
                <a:spcPct val="0"/>
              </a:spcBef>
              <a:buNone/>
              <a:defRPr sz="4000" b="1" i="0" kern="1200">
                <a:solidFill>
                  <a:schemeClr val="tx1"/>
                </a:solidFill>
                <a:latin typeface="Stone Sans"/>
                <a:ea typeface="+mj-ea"/>
                <a:cs typeface="Stone Sans"/>
              </a:defRPr>
            </a:lvl1pPr>
          </a:lstStyle>
          <a:p>
            <a:pPr fontAlgn="auto">
              <a:spcAft>
                <a:spcPts val="0"/>
              </a:spcAft>
              <a:defRPr/>
            </a:pPr>
            <a:r>
              <a:rPr lang="en-US" dirty="0" smtClean="0">
                <a:solidFill>
                  <a:sysClr val="windowText" lastClr="000000"/>
                </a:solidFill>
                <a:latin typeface="+mj-lt"/>
              </a:rPr>
              <a:t>Example from American Community Survey (ACS)</a:t>
            </a:r>
            <a:endParaRPr lang="en-US" dirty="0">
              <a:solidFill>
                <a:sysClr val="windowText" lastClr="000000"/>
              </a:solidFill>
              <a:latin typeface="+mj-lt"/>
            </a:endParaRPr>
          </a:p>
        </p:txBody>
      </p:sp>
      <p:sp>
        <p:nvSpPr>
          <p:cNvPr id="6" name="Content Placeholder 2"/>
          <p:cNvSpPr txBox="1">
            <a:spLocks/>
          </p:cNvSpPr>
          <p:nvPr/>
        </p:nvSpPr>
        <p:spPr>
          <a:xfrm>
            <a:off x="457200" y="2332038"/>
            <a:ext cx="8229600" cy="4525962"/>
          </a:xfrm>
          <a:prstGeom prst="rect">
            <a:avLst/>
          </a:prstGeom>
        </p:spPr>
        <p:txBody>
          <a:bodyPr>
            <a:normAutofit/>
          </a:bodyPr>
          <a:lstStyle>
            <a:lvl1pPr marL="342900" indent="-342900" algn="l" defTabSz="457200" rtl="0" eaLnBrk="1" latinLnBrk="0" hangingPunct="1">
              <a:spcBef>
                <a:spcPct val="20000"/>
              </a:spcBef>
              <a:buFont typeface="Arial"/>
              <a:buChar char="•"/>
              <a:defRPr sz="2400" b="0" i="0" kern="1200">
                <a:solidFill>
                  <a:schemeClr val="tx1"/>
                </a:solidFill>
                <a:latin typeface="Helvetica"/>
                <a:ea typeface="+mn-ea"/>
                <a:cs typeface="Helvetica"/>
              </a:defRPr>
            </a:lvl1pPr>
            <a:lvl2pPr marL="742950" indent="-285750" algn="l" defTabSz="457200" rtl="0" eaLnBrk="1" latinLnBrk="0" hangingPunct="1">
              <a:spcBef>
                <a:spcPct val="20000"/>
              </a:spcBef>
              <a:buFont typeface="Arial"/>
              <a:buChar char="–"/>
              <a:defRPr sz="2000" b="0" i="0" kern="1200">
                <a:solidFill>
                  <a:schemeClr val="tx1"/>
                </a:solidFill>
                <a:latin typeface="Helvetica"/>
                <a:ea typeface="+mn-ea"/>
                <a:cs typeface="Helvetica"/>
              </a:defRPr>
            </a:lvl2pPr>
            <a:lvl3pPr marL="1143000" indent="-228600" algn="l" defTabSz="457200" rtl="0" eaLnBrk="1" latinLnBrk="0" hangingPunct="1">
              <a:spcBef>
                <a:spcPct val="20000"/>
              </a:spcBef>
              <a:buFont typeface="Arial"/>
              <a:buChar char="•"/>
              <a:defRPr sz="1800" b="0" i="0" kern="1200">
                <a:solidFill>
                  <a:schemeClr val="tx1"/>
                </a:solidFill>
                <a:latin typeface="Helvetica"/>
                <a:ea typeface="+mn-ea"/>
                <a:cs typeface="Helvetica"/>
              </a:defRPr>
            </a:lvl3pPr>
            <a:lvl4pPr marL="1600200" indent="-228600" algn="l" defTabSz="457200" rtl="0" eaLnBrk="1" latinLnBrk="0" hangingPunct="1">
              <a:spcBef>
                <a:spcPct val="20000"/>
              </a:spcBef>
              <a:buFont typeface="Arial"/>
              <a:buChar char="–"/>
              <a:defRPr sz="1600" b="0" i="0" kern="1200">
                <a:solidFill>
                  <a:schemeClr val="tx1"/>
                </a:solidFill>
                <a:latin typeface="Helvetica"/>
                <a:ea typeface="+mn-ea"/>
                <a:cs typeface="Helvetica"/>
              </a:defRPr>
            </a:lvl4pPr>
            <a:lvl5pPr marL="2057400" indent="-228600" algn="l" defTabSz="457200" rtl="0" eaLnBrk="1" latinLnBrk="0" hangingPunct="1">
              <a:spcBef>
                <a:spcPct val="20000"/>
              </a:spcBef>
              <a:buFont typeface="Arial"/>
              <a:buChar char="»"/>
              <a:defRPr sz="1600" b="0" i="0" kern="1200">
                <a:solidFill>
                  <a:schemeClr val="tx1"/>
                </a:solidFill>
                <a:latin typeface="Helvetica"/>
                <a:ea typeface="+mn-ea"/>
                <a:cs typeface="Helvetic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defRPr/>
            </a:pPr>
            <a:endParaRPr lang="en-US" dirty="0" smtClean="0"/>
          </a:p>
          <a:p>
            <a:pPr fontAlgn="auto">
              <a:spcAft>
                <a:spcPts val="0"/>
              </a:spcAft>
              <a:defRPr/>
            </a:pPr>
            <a:r>
              <a:rPr lang="en-US" dirty="0" smtClean="0"/>
              <a:t>Internal project experience</a:t>
            </a:r>
          </a:p>
          <a:p>
            <a:pPr fontAlgn="auto">
              <a:spcAft>
                <a:spcPts val="0"/>
              </a:spcAft>
              <a:defRPr/>
            </a:pPr>
            <a:endParaRPr lang="en-US" dirty="0" smtClean="0">
              <a:solidFill>
                <a:sysClr val="windowText" lastClr="000000"/>
              </a:solidFill>
            </a:endParaRPr>
          </a:p>
          <a:p>
            <a:pPr fontAlgn="auto">
              <a:spcAft>
                <a:spcPts val="0"/>
              </a:spcAft>
              <a:defRPr/>
            </a:pPr>
            <a:r>
              <a:rPr lang="en-US" dirty="0" smtClean="0">
                <a:solidFill>
                  <a:sysClr val="windowText" lastClr="000000"/>
                </a:solidFill>
              </a:rPr>
              <a:t>Data and basic SAS program file for ACS “zero </a:t>
            </a:r>
            <a:r>
              <a:rPr lang="en-US" dirty="0" err="1" smtClean="0">
                <a:solidFill>
                  <a:sysClr val="windowText" lastClr="000000"/>
                </a:solidFill>
              </a:rPr>
              <a:t>obs</a:t>
            </a:r>
            <a:r>
              <a:rPr lang="en-US" dirty="0" smtClean="0">
                <a:solidFill>
                  <a:sysClr val="windowText" lastClr="000000"/>
                </a:solidFill>
              </a:rPr>
              <a:t>” files</a:t>
            </a:r>
          </a:p>
          <a:p>
            <a:pPr fontAlgn="auto">
              <a:spcAft>
                <a:spcPts val="0"/>
              </a:spcAft>
              <a:defRPr/>
            </a:pPr>
            <a:endParaRPr lang="en-US" dirty="0">
              <a:solidFill>
                <a:sysClr val="windowText" lastClr="000000"/>
              </a:solidFill>
            </a:endParaRPr>
          </a:p>
          <a:p>
            <a:pPr fontAlgn="auto">
              <a:spcAft>
                <a:spcPts val="0"/>
              </a:spcAft>
              <a:defRPr/>
            </a:pPr>
            <a:r>
              <a:rPr lang="en-US" dirty="0" smtClean="0">
                <a:solidFill>
                  <a:sysClr val="windowText" lastClr="000000"/>
                </a:solidFill>
              </a:rPr>
              <a:t>No internal documentation</a:t>
            </a:r>
          </a:p>
          <a:p>
            <a:pPr fontAlgn="auto">
              <a:spcAft>
                <a:spcPts val="0"/>
              </a:spcAft>
              <a:defRPr/>
            </a:pPr>
            <a:endParaRPr lang="en-US" dirty="0">
              <a:solidFill>
                <a:sysClr val="windowText" lastClr="000000"/>
              </a:solidFill>
            </a:endParaRPr>
          </a:p>
          <a:p>
            <a:pPr fontAlgn="auto">
              <a:spcAft>
                <a:spcPts val="0"/>
              </a:spcAft>
              <a:defRPr/>
            </a:pPr>
            <a:r>
              <a:rPr lang="en-US" dirty="0" smtClean="0">
                <a:solidFill>
                  <a:sysClr val="windowText" lastClr="000000"/>
                </a:solidFill>
              </a:rPr>
              <a:t>IPUMS documentation (public)</a:t>
            </a:r>
          </a:p>
          <a:p>
            <a:pPr marL="0" indent="0" fontAlgn="auto">
              <a:spcAft>
                <a:spcPts val="0"/>
              </a:spcAft>
              <a:buFont typeface="Arial"/>
              <a:buNone/>
              <a:defRPr/>
            </a:pPr>
            <a:endParaRPr lang="en-US" dirty="0">
              <a:solidFill>
                <a:sysClr val="windowText" lastClr="000000"/>
              </a:solidFill>
            </a:endParaRPr>
          </a:p>
        </p:txBody>
      </p:sp>
    </p:spTree>
  </p:cSld>
  <p:clrMapOvr>
    <a:masterClrMapping/>
  </p:clrMapOvr>
  <p:transition>
    <p:cut thruBlk="1"/>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25603"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5604" name="TextBox 1"/>
          <p:cNvSpPr txBox="1">
            <a:spLocks noChangeArrowheads="1"/>
          </p:cNvSpPr>
          <p:nvPr/>
        </p:nvSpPr>
        <p:spPr bwMode="auto">
          <a:xfrm>
            <a:off x="433388" y="1290638"/>
            <a:ext cx="7500937" cy="830262"/>
          </a:xfrm>
          <a:prstGeom prst="rect">
            <a:avLst/>
          </a:prstGeom>
          <a:noFill/>
          <a:ln w="9525">
            <a:noFill/>
            <a:miter lim="800000"/>
            <a:headEnd/>
            <a:tailEnd/>
          </a:ln>
        </p:spPr>
        <p:txBody>
          <a:bodyPr>
            <a:spAutoFit/>
          </a:bodyPr>
          <a:lstStyle/>
          <a:p>
            <a:pPr algn="ctr"/>
            <a:r>
              <a:rPr lang="en-US" sz="2400"/>
              <a:t>The Cornell NSF-Census Research Node:  </a:t>
            </a:r>
          </a:p>
          <a:p>
            <a:pPr algn="ctr"/>
            <a:r>
              <a:rPr lang="en-US" sz="2400"/>
              <a:t>Integrated Research Support, Training, and Data</a:t>
            </a:r>
          </a:p>
        </p:txBody>
      </p:sp>
      <p:sp>
        <p:nvSpPr>
          <p:cNvPr id="4" name="TextBox 3"/>
          <p:cNvSpPr txBox="1"/>
          <p:nvPr/>
        </p:nvSpPr>
        <p:spPr>
          <a:xfrm>
            <a:off x="685800" y="1995488"/>
            <a:ext cx="7772400" cy="5632450"/>
          </a:xfrm>
          <a:prstGeom prst="rect">
            <a:avLst/>
          </a:prstGeom>
          <a:noFill/>
        </p:spPr>
        <p:txBody>
          <a:bodyPr>
            <a:spAutoFit/>
          </a:bodyPr>
          <a:lstStyle/>
          <a:p>
            <a:pPr marL="285750" indent="-285750">
              <a:buClr>
                <a:schemeClr val="tx1"/>
              </a:buClr>
              <a:buFont typeface="Arial"/>
              <a:buChar char="•"/>
              <a:defRPr/>
            </a:pPr>
            <a:endParaRPr lang="en-US" dirty="0">
              <a:cs typeface="Calibri" pitchFamily="34" charset="0"/>
            </a:endParaRPr>
          </a:p>
          <a:p>
            <a:pPr marL="285750" indent="-285750">
              <a:buClr>
                <a:schemeClr val="tx1"/>
              </a:buClr>
              <a:buFont typeface="Arial"/>
              <a:buChar char="•"/>
              <a:defRPr/>
            </a:pPr>
            <a:r>
              <a:rPr lang="en-US" dirty="0">
                <a:cs typeface="Calibri" pitchFamily="34" charset="0"/>
              </a:rPr>
              <a:t>The Comprehensive Census Bureau Metadata Repository (CCBMR; co-PI Block)</a:t>
            </a:r>
            <a:endParaRPr lang="en-US" dirty="0">
              <a:cs typeface="Calibri" pitchFamily="34" charset="0"/>
            </a:endParaRPr>
          </a:p>
          <a:p>
            <a:pPr marL="742950" lvl="1" indent="-285750">
              <a:buClr>
                <a:schemeClr val="tx1"/>
              </a:buClr>
              <a:buFont typeface="Arial"/>
              <a:buChar char="•"/>
              <a:defRPr/>
            </a:pPr>
            <a:r>
              <a:rPr lang="en-US" dirty="0">
                <a:cs typeface="Calibri" pitchFamily="34" charset="0"/>
              </a:rPr>
              <a:t>DDI</a:t>
            </a:r>
            <a:r>
              <a:rPr lang="en-US" dirty="0">
                <a:cs typeface="Calibri" pitchFamily="34" charset="0"/>
              </a:rPr>
              <a:t>-based metadata </a:t>
            </a:r>
            <a:r>
              <a:rPr lang="en-US" dirty="0">
                <a:cs typeface="Calibri" pitchFamily="34" charset="0"/>
              </a:rPr>
              <a:t>schema</a:t>
            </a:r>
          </a:p>
          <a:p>
            <a:pPr marL="742950" lvl="1" indent="-285750">
              <a:buClr>
                <a:schemeClr val="tx1"/>
              </a:buClr>
              <a:buFont typeface="Arial"/>
              <a:buChar char="•"/>
              <a:defRPr/>
            </a:pPr>
            <a:r>
              <a:rPr lang="en-US" dirty="0">
                <a:cs typeface="Calibri" pitchFamily="34" charset="0"/>
              </a:rPr>
              <a:t>synchronization </a:t>
            </a:r>
            <a:r>
              <a:rPr lang="en-US" dirty="0">
                <a:cs typeface="Calibri" pitchFamily="34" charset="0"/>
              </a:rPr>
              <a:t>between public and confidential instances of the </a:t>
            </a:r>
            <a:r>
              <a:rPr lang="en-US" dirty="0">
                <a:cs typeface="Calibri" pitchFamily="34" charset="0"/>
              </a:rPr>
              <a:t>repository</a:t>
            </a:r>
          </a:p>
          <a:p>
            <a:pPr marL="742950" lvl="1" indent="-285750">
              <a:buClr>
                <a:schemeClr val="tx1"/>
              </a:buClr>
              <a:buFont typeface="Arial"/>
              <a:buChar char="•"/>
              <a:defRPr/>
            </a:pPr>
            <a:r>
              <a:rPr lang="en-US" dirty="0">
                <a:cs typeface="Calibri" pitchFamily="34" charset="0"/>
              </a:rPr>
              <a:t>Disclosure </a:t>
            </a:r>
            <a:r>
              <a:rPr lang="en-US" dirty="0">
                <a:cs typeface="Calibri" pitchFamily="34" charset="0"/>
              </a:rPr>
              <a:t>Avoidance Review-compliant and </a:t>
            </a:r>
            <a:r>
              <a:rPr lang="en-US" dirty="0">
                <a:cs typeface="Calibri" pitchFamily="34" charset="0"/>
              </a:rPr>
              <a:t>friendly</a:t>
            </a:r>
          </a:p>
          <a:p>
            <a:pPr marL="742950" lvl="1" indent="-285750">
              <a:buClr>
                <a:schemeClr val="tx1"/>
              </a:buClr>
              <a:buFont typeface="Arial"/>
              <a:buChar char="•"/>
              <a:defRPr/>
            </a:pPr>
            <a:r>
              <a:rPr lang="en-US" dirty="0">
                <a:cs typeface="Calibri" pitchFamily="34" charset="0"/>
              </a:rPr>
              <a:t>Similar web interfaces </a:t>
            </a:r>
            <a:r>
              <a:rPr lang="en-US" dirty="0">
                <a:cs typeface="Calibri" pitchFamily="34" charset="0"/>
              </a:rPr>
              <a:t>for public (partial) and internal (full-information) </a:t>
            </a:r>
            <a:r>
              <a:rPr lang="en-US" dirty="0">
                <a:cs typeface="Calibri" pitchFamily="34" charset="0"/>
              </a:rPr>
              <a:t>documentation</a:t>
            </a:r>
          </a:p>
          <a:p>
            <a:pPr marL="742950" lvl="1" indent="-285750">
              <a:buClr>
                <a:schemeClr val="tx1"/>
              </a:buClr>
              <a:buFont typeface="Arial"/>
              <a:buChar char="•"/>
              <a:defRPr/>
            </a:pPr>
            <a:r>
              <a:rPr lang="en-US" dirty="0">
                <a:cs typeface="Calibri" pitchFamily="34" charset="0"/>
              </a:rPr>
              <a:t>Create and share a CCBMR toolkit</a:t>
            </a:r>
          </a:p>
          <a:p>
            <a:pPr marL="285750" indent="-285750">
              <a:buFont typeface="Arial"/>
              <a:buChar char="•"/>
              <a:defRPr/>
            </a:pPr>
            <a:r>
              <a:rPr lang="en-US" dirty="0">
                <a:latin typeface="Calibri" charset="0"/>
              </a:rPr>
              <a:t>Other elements of the Cornell </a:t>
            </a:r>
            <a:r>
              <a:rPr lang="en-US" dirty="0">
                <a:latin typeface="Calibri" charset="0"/>
              </a:rPr>
              <a:t>NCRN Project</a:t>
            </a:r>
          </a:p>
          <a:p>
            <a:pPr marL="742950" lvl="1" indent="-285750">
              <a:buFont typeface="Arial" pitchFamily="34" charset="0"/>
              <a:buChar char="•"/>
              <a:defRPr/>
            </a:pPr>
            <a:r>
              <a:rPr lang="en-US" dirty="0">
                <a:latin typeface="Calibri" charset="0"/>
              </a:rPr>
              <a:t>Integrated Doctoral Instruction on the Information Science of Restricted-access Data Analysis (</a:t>
            </a:r>
            <a:r>
              <a:rPr lang="en-US" dirty="0">
                <a:solidFill>
                  <a:srgbClr val="000000"/>
                </a:solidFill>
                <a:latin typeface="Calibri" charset="0"/>
              </a:rPr>
              <a:t>PI: John </a:t>
            </a:r>
            <a:r>
              <a:rPr lang="en-US" dirty="0" err="1">
                <a:solidFill>
                  <a:srgbClr val="000000"/>
                </a:solidFill>
                <a:latin typeface="Calibri" charset="0"/>
              </a:rPr>
              <a:t>Abowd</a:t>
            </a:r>
            <a:r>
              <a:rPr lang="en-US" dirty="0">
                <a:solidFill>
                  <a:srgbClr val="000000"/>
                </a:solidFill>
                <a:latin typeface="Calibri" charset="0"/>
              </a:rPr>
              <a:t>; co-PI: Lars </a:t>
            </a:r>
            <a:r>
              <a:rPr lang="en-US" dirty="0" err="1">
                <a:solidFill>
                  <a:srgbClr val="000000"/>
                </a:solidFill>
                <a:latin typeface="Calibri" charset="0"/>
              </a:rPr>
              <a:t>Vilhuber</a:t>
            </a:r>
            <a:r>
              <a:rPr lang="en-US" dirty="0">
                <a:solidFill>
                  <a:srgbClr val="000000"/>
                </a:solidFill>
                <a:latin typeface="Calibri" charset="0"/>
              </a:rPr>
              <a:t>)</a:t>
            </a:r>
            <a:endParaRPr lang="en-US" dirty="0">
              <a:latin typeface="Calibri" charset="0"/>
            </a:endParaRPr>
          </a:p>
          <a:p>
            <a:pPr marL="742950" lvl="1" indent="-285750">
              <a:buFont typeface="Arial" pitchFamily="34" charset="0"/>
              <a:buChar char="•"/>
              <a:defRPr/>
            </a:pPr>
            <a:r>
              <a:rPr lang="en-US" dirty="0">
                <a:latin typeface="Calibri" charset="0"/>
              </a:rPr>
              <a:t>Adding </a:t>
            </a:r>
            <a:r>
              <a:rPr lang="en-US" dirty="0">
                <a:latin typeface="Calibri" charset="0"/>
              </a:rPr>
              <a:t>Computational Statistics to the Administrative Record Toolkit (co- PI Ping Li)</a:t>
            </a:r>
          </a:p>
          <a:p>
            <a:pPr marL="285750" indent="-285750">
              <a:buFont typeface="Arial"/>
              <a:buChar char="•"/>
              <a:defRPr/>
            </a:pPr>
            <a:endParaRPr lang="en-US" dirty="0">
              <a:latin typeface="Calibri" charset="0"/>
            </a:endParaRPr>
          </a:p>
          <a:p>
            <a:pPr>
              <a:defRPr/>
            </a:pPr>
            <a:endParaRPr lang="en-US" dirty="0">
              <a:latin typeface="Calibri" charset="0"/>
            </a:endParaRPr>
          </a:p>
          <a:p>
            <a:pPr>
              <a:defRPr/>
            </a:pPr>
            <a:endParaRPr lang="en-US" dirty="0">
              <a:latin typeface="Calibri" charset="0"/>
            </a:endParaRPr>
          </a:p>
          <a:p>
            <a:pPr>
              <a:defRPr/>
            </a:pPr>
            <a:endParaRPr lang="en-US" dirty="0">
              <a:latin typeface="Calibri" charset="0"/>
            </a:endParaRPr>
          </a:p>
          <a:p>
            <a:pPr>
              <a:defRPr/>
            </a:pPr>
            <a:r>
              <a:rPr lang="en-US" dirty="0">
                <a:latin typeface="Calibri" charset="0"/>
              </a:rPr>
              <a:t> </a:t>
            </a:r>
          </a:p>
          <a:p>
            <a:pPr marL="285750" indent="-285750">
              <a:buClr>
                <a:schemeClr val="tx1"/>
              </a:buClr>
              <a:buFont typeface="Arial"/>
              <a:buChar char="•"/>
              <a:defRPr/>
            </a:pPr>
            <a:endParaRPr lang="en-US" dirty="0">
              <a:cs typeface="Calibri" pitchFamily="34" charset="0"/>
            </a:endParaRPr>
          </a:p>
        </p:txBody>
      </p:sp>
    </p:spTree>
  </p:cSld>
  <p:clrMapOvr>
    <a:masterClrMapping/>
  </p:clrMapOvr>
  <p:transition>
    <p:cut thruBlk="1"/>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26627"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5" name="Title 1"/>
          <p:cNvSpPr txBox="1">
            <a:spLocks/>
          </p:cNvSpPr>
          <p:nvPr/>
        </p:nvSpPr>
        <p:spPr>
          <a:xfrm>
            <a:off x="457200" y="1066800"/>
            <a:ext cx="8229600" cy="1143000"/>
          </a:xfrm>
          <a:prstGeom prst="rect">
            <a:avLst/>
          </a:prstGeom>
        </p:spPr>
        <p:txBody>
          <a:bodyPr anchor="ctr"/>
          <a:lstStyle>
            <a:lvl1pPr algn="ctr" defTabSz="457200" rtl="0" eaLnBrk="1" latinLnBrk="0" hangingPunct="1">
              <a:spcBef>
                <a:spcPct val="0"/>
              </a:spcBef>
              <a:buNone/>
              <a:defRPr sz="4000" b="1" i="0" kern="1200">
                <a:solidFill>
                  <a:schemeClr val="tx1"/>
                </a:solidFill>
                <a:latin typeface="Stone Sans"/>
                <a:ea typeface="+mj-ea"/>
                <a:cs typeface="Stone Sans"/>
              </a:defRPr>
            </a:lvl1pPr>
          </a:lstStyle>
          <a:p>
            <a:pPr fontAlgn="auto">
              <a:spcAft>
                <a:spcPts val="0"/>
              </a:spcAft>
              <a:defRPr/>
            </a:pPr>
            <a:r>
              <a:rPr lang="en-US" dirty="0">
                <a:solidFill>
                  <a:sysClr val="windowText" lastClr="000000"/>
                </a:solidFill>
                <a:latin typeface="+mj-lt"/>
              </a:rPr>
              <a:t>D</a:t>
            </a:r>
            <a:r>
              <a:rPr lang="en-US" sz="3200" dirty="0" err="1" smtClean="0">
                <a:solidFill>
                  <a:sysClr val="windowText" lastClr="000000"/>
                </a:solidFill>
                <a:latin typeface="+mj-lt"/>
              </a:rPr>
              <a:t>ifferent</a:t>
            </a:r>
            <a:r>
              <a:rPr lang="en-US" sz="3200" dirty="0" smtClean="0">
                <a:solidFill>
                  <a:sysClr val="windowText" lastClr="000000"/>
                </a:solidFill>
                <a:latin typeface="+mj-lt"/>
              </a:rPr>
              <a:t> metadata inside vs. outside RDCs</a:t>
            </a:r>
            <a:endParaRPr lang="en-US" sz="3200" dirty="0">
              <a:solidFill>
                <a:sysClr val="windowText" lastClr="000000"/>
              </a:solidFill>
              <a:latin typeface="+mj-lt"/>
            </a:endParaRPr>
          </a:p>
        </p:txBody>
      </p:sp>
      <p:sp>
        <p:nvSpPr>
          <p:cNvPr id="6" name="Content Placeholder 2"/>
          <p:cNvSpPr txBox="1">
            <a:spLocks/>
          </p:cNvSpPr>
          <p:nvPr/>
        </p:nvSpPr>
        <p:spPr>
          <a:xfrm>
            <a:off x="457200" y="2332038"/>
            <a:ext cx="8229600" cy="4525962"/>
          </a:xfrm>
          <a:prstGeom prst="rect">
            <a:avLst/>
          </a:prstGeom>
        </p:spPr>
        <p:txBody>
          <a:bodyPr>
            <a:normAutofit/>
          </a:bodyPr>
          <a:lstStyle>
            <a:lvl1pPr marL="342900" indent="-342900" algn="l" defTabSz="457200" rtl="0" eaLnBrk="1" latinLnBrk="0" hangingPunct="1">
              <a:spcBef>
                <a:spcPct val="20000"/>
              </a:spcBef>
              <a:buFont typeface="Arial"/>
              <a:buChar char="•"/>
              <a:defRPr sz="2400" b="0" i="0" kern="1200">
                <a:solidFill>
                  <a:schemeClr val="tx1"/>
                </a:solidFill>
                <a:latin typeface="Helvetica"/>
                <a:ea typeface="+mn-ea"/>
                <a:cs typeface="Helvetica"/>
              </a:defRPr>
            </a:lvl1pPr>
            <a:lvl2pPr marL="742950" indent="-285750" algn="l" defTabSz="457200" rtl="0" eaLnBrk="1" latinLnBrk="0" hangingPunct="1">
              <a:spcBef>
                <a:spcPct val="20000"/>
              </a:spcBef>
              <a:buFont typeface="Arial"/>
              <a:buChar char="–"/>
              <a:defRPr sz="2000" b="0" i="0" kern="1200">
                <a:solidFill>
                  <a:schemeClr val="tx1"/>
                </a:solidFill>
                <a:latin typeface="Helvetica"/>
                <a:ea typeface="+mn-ea"/>
                <a:cs typeface="Helvetica"/>
              </a:defRPr>
            </a:lvl2pPr>
            <a:lvl3pPr marL="1143000" indent="-228600" algn="l" defTabSz="457200" rtl="0" eaLnBrk="1" latinLnBrk="0" hangingPunct="1">
              <a:spcBef>
                <a:spcPct val="20000"/>
              </a:spcBef>
              <a:buFont typeface="Arial"/>
              <a:buChar char="•"/>
              <a:defRPr sz="1800" b="0" i="0" kern="1200">
                <a:solidFill>
                  <a:schemeClr val="tx1"/>
                </a:solidFill>
                <a:latin typeface="Helvetica"/>
                <a:ea typeface="+mn-ea"/>
                <a:cs typeface="Helvetica"/>
              </a:defRPr>
            </a:lvl3pPr>
            <a:lvl4pPr marL="1600200" indent="-228600" algn="l" defTabSz="457200" rtl="0" eaLnBrk="1" latinLnBrk="0" hangingPunct="1">
              <a:spcBef>
                <a:spcPct val="20000"/>
              </a:spcBef>
              <a:buFont typeface="Arial"/>
              <a:buChar char="–"/>
              <a:defRPr sz="1600" b="0" i="0" kern="1200">
                <a:solidFill>
                  <a:schemeClr val="tx1"/>
                </a:solidFill>
                <a:latin typeface="Helvetica"/>
                <a:ea typeface="+mn-ea"/>
                <a:cs typeface="Helvetica"/>
              </a:defRPr>
            </a:lvl4pPr>
            <a:lvl5pPr marL="2057400" indent="-228600" algn="l" defTabSz="457200" rtl="0" eaLnBrk="1" latinLnBrk="0" hangingPunct="1">
              <a:spcBef>
                <a:spcPct val="20000"/>
              </a:spcBef>
              <a:buFont typeface="Arial"/>
              <a:buChar char="»"/>
              <a:defRPr sz="1600" b="0" i="0" kern="1200">
                <a:solidFill>
                  <a:schemeClr val="tx1"/>
                </a:solidFill>
                <a:latin typeface="Helvetica"/>
                <a:ea typeface="+mn-ea"/>
                <a:cs typeface="Helvetic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auto">
              <a:spcAft>
                <a:spcPts val="0"/>
              </a:spcAft>
              <a:defRPr/>
            </a:pPr>
            <a:r>
              <a:rPr lang="en-US" dirty="0" smtClean="0">
                <a:solidFill>
                  <a:sysClr val="windowText" lastClr="000000"/>
                </a:solidFill>
              </a:rPr>
              <a:t>Not all of the metadata about studies in RDCs that </a:t>
            </a:r>
            <a:r>
              <a:rPr lang="en-US" dirty="0" smtClean="0">
                <a:solidFill>
                  <a:sysClr val="windowText" lastClr="000000"/>
                </a:solidFill>
                <a:latin typeface="+mn-lt"/>
              </a:rPr>
              <a:t>should</a:t>
            </a:r>
            <a:r>
              <a:rPr lang="en-US" dirty="0" smtClean="0">
                <a:solidFill>
                  <a:sysClr val="windowText" lastClr="000000"/>
                </a:solidFill>
              </a:rPr>
              <a:t> be viewable inside an RDC can be made available on the public web</a:t>
            </a:r>
          </a:p>
          <a:p>
            <a:pPr lvl="1" fontAlgn="auto">
              <a:spcAft>
                <a:spcPts val="0"/>
              </a:spcAft>
              <a:defRPr/>
            </a:pPr>
            <a:r>
              <a:rPr lang="en-US" dirty="0" smtClean="0">
                <a:solidFill>
                  <a:sysClr val="windowText" lastClr="000000"/>
                </a:solidFill>
              </a:rPr>
              <a:t>Example: certain value ranges, or the very existence, of a variable cannot be made known outside of an RDC</a:t>
            </a:r>
          </a:p>
          <a:p>
            <a:pPr fontAlgn="auto">
              <a:spcAft>
                <a:spcPts val="0"/>
              </a:spcAft>
              <a:defRPr/>
            </a:pPr>
            <a:r>
              <a:rPr lang="en-US" dirty="0" smtClean="0">
                <a:solidFill>
                  <a:sysClr val="windowText" lastClr="000000"/>
                </a:solidFill>
              </a:rPr>
              <a:t>T</a:t>
            </a:r>
            <a:r>
              <a:rPr lang="en-US" dirty="0" err="1" smtClean="0">
                <a:solidFill>
                  <a:sysClr val="windowText" lastClr="000000"/>
                </a:solidFill>
              </a:rPr>
              <a:t>wo</a:t>
            </a:r>
            <a:r>
              <a:rPr lang="en-US" dirty="0">
                <a:solidFill>
                  <a:sysClr val="windowText" lastClr="000000"/>
                </a:solidFill>
              </a:rPr>
              <a:t> </a:t>
            </a:r>
            <a:r>
              <a:rPr lang="en-US" dirty="0" smtClean="0">
                <a:solidFill>
                  <a:sysClr val="windowText" lastClr="000000"/>
                </a:solidFill>
              </a:rPr>
              <a:t>different versions of a metadata:  bad idea</a:t>
            </a:r>
          </a:p>
          <a:p>
            <a:pPr fontAlgn="auto">
              <a:spcAft>
                <a:spcPts val="0"/>
              </a:spcAft>
              <a:defRPr/>
            </a:pPr>
            <a:r>
              <a:rPr lang="en-US" dirty="0" smtClean="0">
                <a:solidFill>
                  <a:sysClr val="windowText" lastClr="000000"/>
                </a:solidFill>
              </a:rPr>
              <a:t>Better:  complete internal version; derive subset for public</a:t>
            </a:r>
            <a:endParaRPr lang="en-US" dirty="0">
              <a:solidFill>
                <a:sysClr val="windowText" lastClr="000000"/>
              </a:solidFill>
            </a:endParaRPr>
          </a:p>
        </p:txBody>
      </p:sp>
    </p:spTree>
  </p:cSld>
  <p:clrMapOvr>
    <a:masterClrMapping/>
  </p:clrMapOvr>
  <p:transition>
    <p:cut thruBlk="1"/>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27651"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5" name="Title 1"/>
          <p:cNvSpPr txBox="1">
            <a:spLocks/>
          </p:cNvSpPr>
          <p:nvPr/>
        </p:nvSpPr>
        <p:spPr>
          <a:xfrm>
            <a:off x="457200" y="1066800"/>
            <a:ext cx="8229600" cy="1143000"/>
          </a:xfrm>
          <a:prstGeom prst="rect">
            <a:avLst/>
          </a:prstGeom>
        </p:spPr>
        <p:txBody>
          <a:bodyPr anchor="ctr"/>
          <a:lstStyle>
            <a:lvl1pPr algn="ctr" defTabSz="457200" rtl="0" eaLnBrk="1" latinLnBrk="0" hangingPunct="1">
              <a:spcBef>
                <a:spcPct val="0"/>
              </a:spcBef>
              <a:buNone/>
              <a:defRPr sz="4000" b="1" i="0" kern="1200">
                <a:solidFill>
                  <a:schemeClr val="tx1"/>
                </a:solidFill>
                <a:latin typeface="Stone Sans"/>
                <a:ea typeface="+mj-ea"/>
                <a:cs typeface="Stone Sans"/>
              </a:defRPr>
            </a:lvl1pPr>
          </a:lstStyle>
          <a:p>
            <a:pPr fontAlgn="auto">
              <a:spcAft>
                <a:spcPts val="0"/>
              </a:spcAft>
              <a:defRPr/>
            </a:pPr>
            <a:r>
              <a:rPr lang="en-US" sz="3200" dirty="0" smtClean="0">
                <a:solidFill>
                  <a:sysClr val="windowText" lastClr="000000"/>
                </a:solidFill>
                <a:latin typeface="+mj-lt"/>
              </a:rPr>
              <a:t>How DDI could help with this challenge</a:t>
            </a:r>
            <a:endParaRPr lang="en-US" sz="3200" dirty="0">
              <a:solidFill>
                <a:sysClr val="windowText" lastClr="000000"/>
              </a:solidFill>
              <a:latin typeface="+mj-lt"/>
            </a:endParaRPr>
          </a:p>
        </p:txBody>
      </p:sp>
      <p:sp>
        <p:nvSpPr>
          <p:cNvPr id="27653" name="Content Placeholder 2"/>
          <p:cNvSpPr txBox="1">
            <a:spLocks/>
          </p:cNvSpPr>
          <p:nvPr/>
        </p:nvSpPr>
        <p:spPr bwMode="auto">
          <a:xfrm>
            <a:off x="457200" y="2332038"/>
            <a:ext cx="8229600" cy="4525962"/>
          </a:xfrm>
          <a:prstGeom prst="rect">
            <a:avLst/>
          </a:prstGeom>
          <a:noFill/>
          <a:ln w="9525">
            <a:noFill/>
            <a:miter lim="800000"/>
            <a:headEnd/>
            <a:tailEnd/>
          </a:ln>
        </p:spPr>
        <p:txBody>
          <a:bodyPr/>
          <a:lstStyle/>
          <a:p>
            <a:pPr marL="342900" indent="-342900">
              <a:spcBef>
                <a:spcPct val="20000"/>
              </a:spcBef>
              <a:buFont typeface="Arial" charset="0"/>
              <a:buChar char="•"/>
            </a:pPr>
            <a:r>
              <a:rPr lang="en-US" sz="2000">
                <a:solidFill>
                  <a:srgbClr val="000000"/>
                </a:solidFill>
                <a:latin typeface="Helvetica" pitchFamily="34" charset="0"/>
              </a:rPr>
              <a:t>Develop a metadata schema based on DDI, with modifications and additional fields/elements and/or attributes as warranted to capture and represent the necessary information about RDC datasets</a:t>
            </a:r>
          </a:p>
          <a:p>
            <a:pPr marL="342900" indent="-342900">
              <a:spcBef>
                <a:spcPct val="20000"/>
              </a:spcBef>
              <a:buFont typeface="Arial" charset="0"/>
              <a:buChar char="•"/>
            </a:pPr>
            <a:r>
              <a:rPr lang="en-US" sz="2000">
                <a:solidFill>
                  <a:srgbClr val="000000"/>
                </a:solidFill>
                <a:latin typeface="Helvetica" pitchFamily="34" charset="0"/>
              </a:rPr>
              <a:t>Information about specific confidentiality considerations and access conditions can already be expressed in the DDI 3.1 specification with elements such as &lt;ConfidentialityStatement&gt; and &lt;AccessConditions&gt;</a:t>
            </a:r>
          </a:p>
          <a:p>
            <a:pPr marL="342900" indent="-342900">
              <a:spcBef>
                <a:spcPct val="20000"/>
              </a:spcBef>
              <a:buFont typeface="Arial" charset="0"/>
              <a:buChar char="•"/>
            </a:pPr>
            <a:r>
              <a:rPr lang="en-US" sz="2000">
                <a:solidFill>
                  <a:srgbClr val="000000"/>
                </a:solidFill>
                <a:latin typeface="Helvetica" pitchFamily="34" charset="0"/>
              </a:rPr>
              <a:t>DDI could be extended through the addition of machine-actionable markup describing variables to control what information about them is revealed – example follows (assuming an XML-based implementation, which is not the only option)</a:t>
            </a:r>
          </a:p>
        </p:txBody>
      </p:sp>
    </p:spTree>
  </p:cSld>
  <p:clrMapOvr>
    <a:masterClrMapping/>
  </p:clrMapOvr>
  <p:transition>
    <p:cut thruBlk="1"/>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28675"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8676" name="Title 1"/>
          <p:cNvSpPr txBox="1">
            <a:spLocks/>
          </p:cNvSpPr>
          <p:nvPr/>
        </p:nvSpPr>
        <p:spPr bwMode="auto">
          <a:xfrm>
            <a:off x="457200" y="1066800"/>
            <a:ext cx="8229600" cy="1143000"/>
          </a:xfrm>
          <a:prstGeom prst="rect">
            <a:avLst/>
          </a:prstGeom>
          <a:noFill/>
          <a:ln w="9525">
            <a:noFill/>
            <a:miter lim="800000"/>
            <a:headEnd/>
            <a:tailEnd/>
          </a:ln>
        </p:spPr>
        <p:txBody>
          <a:bodyPr anchor="ctr"/>
          <a:lstStyle/>
          <a:p>
            <a:pPr algn="ctr"/>
            <a:r>
              <a:rPr lang="en-US" sz="2800" b="1">
                <a:solidFill>
                  <a:srgbClr val="000000"/>
                </a:solidFill>
                <a:latin typeface="Stone Sans"/>
                <a:ea typeface="Stone Sans"/>
                <a:cs typeface="Stone Sans"/>
              </a:rPr>
              <a:t>How DDI could help with this challenge (cont.)</a:t>
            </a:r>
          </a:p>
        </p:txBody>
      </p:sp>
      <p:graphicFrame>
        <p:nvGraphicFramePr>
          <p:cNvPr id="6" name="Content Placeholder 4"/>
          <p:cNvGraphicFramePr>
            <a:graphicFrameLocks/>
          </p:cNvGraphicFramePr>
          <p:nvPr/>
        </p:nvGraphicFramePr>
        <p:xfrm>
          <a:off x="1066800" y="2222500"/>
          <a:ext cx="6545263" cy="1857375"/>
        </p:xfrm>
        <a:graphic>
          <a:graphicData uri="http://schemas.openxmlformats.org/drawingml/2006/table">
            <a:tbl>
              <a:tblPr firstRow="1" firstCol="1" bandRow="1"/>
              <a:tblGrid>
                <a:gridCol w="3272790"/>
                <a:gridCol w="3272790"/>
              </a:tblGrid>
              <a:tr h="0">
                <a:tc>
                  <a:txBody>
                    <a:bodyPr/>
                    <a:lstStyle>
                      <a:lvl1pPr marL="0" algn="l" defTabSz="457200" rtl="0" eaLnBrk="1" latinLnBrk="0" hangingPunct="1">
                        <a:defRPr sz="1800" kern="1200">
                          <a:solidFill>
                            <a:schemeClr val="tx1"/>
                          </a:solidFill>
                          <a:latin typeface="Goudy Old Style"/>
                        </a:defRPr>
                      </a:lvl1pPr>
                      <a:lvl2pPr marL="457200" algn="l" defTabSz="457200" rtl="0" eaLnBrk="1" latinLnBrk="0" hangingPunct="1">
                        <a:defRPr sz="1800" kern="1200">
                          <a:solidFill>
                            <a:schemeClr val="tx1"/>
                          </a:solidFill>
                          <a:latin typeface="Goudy Old Style"/>
                        </a:defRPr>
                      </a:lvl2pPr>
                      <a:lvl3pPr marL="914400" algn="l" defTabSz="457200" rtl="0" eaLnBrk="1" latinLnBrk="0" hangingPunct="1">
                        <a:defRPr sz="1800" kern="1200">
                          <a:solidFill>
                            <a:schemeClr val="tx1"/>
                          </a:solidFill>
                          <a:latin typeface="Goudy Old Style"/>
                        </a:defRPr>
                      </a:lvl3pPr>
                      <a:lvl4pPr marL="1371600" algn="l" defTabSz="457200" rtl="0" eaLnBrk="1" latinLnBrk="0" hangingPunct="1">
                        <a:defRPr sz="1800" kern="1200">
                          <a:solidFill>
                            <a:schemeClr val="tx1"/>
                          </a:solidFill>
                          <a:latin typeface="Goudy Old Style"/>
                        </a:defRPr>
                      </a:lvl4pPr>
                      <a:lvl5pPr marL="1828800" algn="l" defTabSz="457200" rtl="0" eaLnBrk="1" latinLnBrk="0" hangingPunct="1">
                        <a:defRPr sz="1800" kern="1200">
                          <a:solidFill>
                            <a:schemeClr val="tx1"/>
                          </a:solidFill>
                          <a:latin typeface="Goudy Old Style"/>
                        </a:defRPr>
                      </a:lvl5pPr>
                      <a:lvl6pPr marL="2286000" algn="l" defTabSz="457200" rtl="0" eaLnBrk="1" latinLnBrk="0" hangingPunct="1">
                        <a:defRPr sz="1800" kern="1200">
                          <a:solidFill>
                            <a:schemeClr val="tx1"/>
                          </a:solidFill>
                          <a:latin typeface="Goudy Old Style"/>
                        </a:defRPr>
                      </a:lvl6pPr>
                      <a:lvl7pPr marL="2743200" algn="l" defTabSz="457200" rtl="0" eaLnBrk="1" latinLnBrk="0" hangingPunct="1">
                        <a:defRPr sz="1800" kern="1200">
                          <a:solidFill>
                            <a:schemeClr val="tx1"/>
                          </a:solidFill>
                          <a:latin typeface="Goudy Old Style"/>
                        </a:defRPr>
                      </a:lvl7pPr>
                      <a:lvl8pPr marL="3200400" algn="l" defTabSz="457200" rtl="0" eaLnBrk="1" latinLnBrk="0" hangingPunct="1">
                        <a:defRPr sz="1800" kern="1200">
                          <a:solidFill>
                            <a:schemeClr val="tx1"/>
                          </a:solidFill>
                          <a:latin typeface="Goudy Old Style"/>
                        </a:defRPr>
                      </a:lvl8pPr>
                      <a:lvl9pPr marL="3657600" algn="l" defTabSz="457200" rtl="0" eaLnBrk="1" latinLnBrk="0" hangingPunct="1">
                        <a:defRPr sz="1800" kern="1200">
                          <a:solidFill>
                            <a:schemeClr val="tx1"/>
                          </a:solidFill>
                          <a:latin typeface="Goudy Old Style"/>
                        </a:defRPr>
                      </a:lvl9pPr>
                    </a:lstStyle>
                    <a:p>
                      <a:pPr marL="0" marR="0">
                        <a:spcBef>
                          <a:spcPts val="0"/>
                        </a:spcBef>
                        <a:spcAft>
                          <a:spcPts val="0"/>
                        </a:spcAft>
                      </a:pPr>
                      <a:r>
                        <a:rPr lang="en-US" sz="1200" b="1" dirty="0">
                          <a:effectLst/>
                          <a:latin typeface="Arial"/>
                          <a:ea typeface="Calibri"/>
                          <a:cs typeface="Times New Roman"/>
                        </a:rPr>
                        <a:t>RDC Metadata (complete)</a:t>
                      </a:r>
                      <a:endParaRPr lang="en-US" sz="1600" dirty="0">
                        <a:effectLst/>
                        <a:latin typeface="Calibri"/>
                        <a:ea typeface="Calibri"/>
                        <a:cs typeface="Times New Roman"/>
                      </a:endParaRPr>
                    </a:p>
                    <a:p>
                      <a:pPr marL="0" marR="0">
                        <a:spcBef>
                          <a:spcPts val="0"/>
                        </a:spcBef>
                        <a:spcAft>
                          <a:spcPts val="0"/>
                        </a:spcAft>
                      </a:pPr>
                      <a:r>
                        <a:rPr lang="en-US" sz="1200" dirty="0">
                          <a:effectLst/>
                          <a:latin typeface="Arial"/>
                          <a:ea typeface="Calibri"/>
                          <a:cs typeface="Times New Roman"/>
                        </a:rPr>
                        <a:t> </a:t>
                      </a:r>
                      <a:endParaRPr lang="en-US" sz="1600" dirty="0">
                        <a:effectLst/>
                        <a:latin typeface="Calibri"/>
                        <a:ea typeface="Calibri"/>
                        <a:cs typeface="Times New Roman"/>
                      </a:endParaRPr>
                    </a:p>
                    <a:p>
                      <a:pPr marL="0" marR="0">
                        <a:spcBef>
                          <a:spcPts val="0"/>
                        </a:spcBef>
                        <a:spcAft>
                          <a:spcPts val="0"/>
                        </a:spcAft>
                      </a:pPr>
                      <a:r>
                        <a:rPr lang="en-US" sz="1200" dirty="0">
                          <a:effectLst/>
                          <a:latin typeface="Arial"/>
                          <a:ea typeface="Calibri"/>
                          <a:cs typeface="Times New Roman"/>
                        </a:rPr>
                        <a:t>&lt;</a:t>
                      </a:r>
                      <a:r>
                        <a:rPr lang="en-US" sz="1200" dirty="0" err="1">
                          <a:effectLst/>
                          <a:latin typeface="Arial"/>
                          <a:ea typeface="Calibri"/>
                          <a:cs typeface="Times New Roman"/>
                        </a:rPr>
                        <a:t>d:VariableSet</a:t>
                      </a:r>
                      <a:r>
                        <a:rPr lang="en-US" sz="1200" dirty="0">
                          <a:effectLst/>
                          <a:latin typeface="Arial"/>
                          <a:ea typeface="Calibri"/>
                          <a:cs typeface="Times New Roman"/>
                        </a:rPr>
                        <a:t>&gt;	</a:t>
                      </a:r>
                      <a:endParaRPr lang="en-US" sz="1600" dirty="0">
                        <a:effectLst/>
                        <a:latin typeface="Calibri"/>
                        <a:ea typeface="Calibri"/>
                        <a:cs typeface="Times New Roman"/>
                      </a:endParaRPr>
                    </a:p>
                    <a:p>
                      <a:pPr marL="0" marR="0">
                        <a:spcBef>
                          <a:spcPts val="0"/>
                        </a:spcBef>
                        <a:spcAft>
                          <a:spcPts val="0"/>
                        </a:spcAft>
                      </a:pPr>
                      <a:r>
                        <a:rPr lang="en-US" sz="1200" dirty="0">
                          <a:effectLst/>
                          <a:latin typeface="Arial"/>
                          <a:ea typeface="Calibri"/>
                          <a:cs typeface="Times New Roman"/>
                        </a:rPr>
                        <a:t>   &lt;d: </a:t>
                      </a:r>
                      <a:r>
                        <a:rPr lang="en-US" sz="1200" dirty="0" err="1">
                          <a:effectLst/>
                          <a:latin typeface="Arial"/>
                          <a:ea typeface="Calibri"/>
                          <a:cs typeface="Times New Roman"/>
                        </a:rPr>
                        <a:t>VariableItem</a:t>
                      </a:r>
                      <a:r>
                        <a:rPr lang="en-US" sz="1200" dirty="0">
                          <a:effectLst/>
                          <a:latin typeface="Arial"/>
                          <a:ea typeface="Calibri"/>
                          <a:cs typeface="Times New Roman"/>
                        </a:rPr>
                        <a:t>&gt;…:&lt;d:/</a:t>
                      </a:r>
                      <a:r>
                        <a:rPr lang="en-US" sz="1200" dirty="0" err="1">
                          <a:effectLst/>
                          <a:latin typeface="Arial"/>
                          <a:ea typeface="Calibri"/>
                          <a:cs typeface="Times New Roman"/>
                        </a:rPr>
                        <a:t>VariableItem</a:t>
                      </a:r>
                      <a:r>
                        <a:rPr lang="en-US" sz="1200" dirty="0">
                          <a:effectLst/>
                          <a:latin typeface="Arial"/>
                          <a:ea typeface="Calibri"/>
                          <a:cs typeface="Times New Roman"/>
                        </a:rPr>
                        <a:t>&gt;</a:t>
                      </a:r>
                      <a:endParaRPr lang="en-US" sz="1600" dirty="0">
                        <a:effectLst/>
                        <a:latin typeface="Calibri"/>
                        <a:ea typeface="Calibri"/>
                        <a:cs typeface="Times New Roman"/>
                      </a:endParaRPr>
                    </a:p>
                    <a:p>
                      <a:pPr marL="0" marR="0">
                        <a:spcBef>
                          <a:spcPts val="0"/>
                        </a:spcBef>
                        <a:spcAft>
                          <a:spcPts val="0"/>
                        </a:spcAft>
                      </a:pPr>
                      <a:r>
                        <a:rPr lang="en-US" sz="1200" dirty="0">
                          <a:effectLst/>
                          <a:latin typeface="Arial"/>
                          <a:ea typeface="Calibri"/>
                          <a:cs typeface="Times New Roman"/>
                        </a:rPr>
                        <a:t>   &lt;</a:t>
                      </a:r>
                      <a:r>
                        <a:rPr lang="en-US" sz="1200" dirty="0" err="1">
                          <a:effectLst/>
                          <a:latin typeface="Arial"/>
                          <a:ea typeface="Calibri"/>
                          <a:cs typeface="Times New Roman"/>
                        </a:rPr>
                        <a:t>d:Disclosability</a:t>
                      </a:r>
                      <a:r>
                        <a:rPr lang="en-US" sz="1200" dirty="0">
                          <a:effectLst/>
                          <a:latin typeface="Arial"/>
                          <a:ea typeface="Calibri"/>
                          <a:cs typeface="Times New Roman"/>
                        </a:rPr>
                        <a:t>&gt;</a:t>
                      </a:r>
                      <a:endParaRPr lang="en-US" sz="1600" dirty="0">
                        <a:effectLst/>
                        <a:latin typeface="Calibri"/>
                        <a:ea typeface="Calibri"/>
                        <a:cs typeface="Times New Roman"/>
                      </a:endParaRPr>
                    </a:p>
                    <a:p>
                      <a:pPr marL="0" marR="0">
                        <a:spcBef>
                          <a:spcPts val="0"/>
                        </a:spcBef>
                        <a:spcAft>
                          <a:spcPts val="0"/>
                        </a:spcAft>
                      </a:pPr>
                      <a:r>
                        <a:rPr lang="en-US" sz="1200" dirty="0">
                          <a:effectLst/>
                          <a:latin typeface="Arial"/>
                          <a:ea typeface="Calibri"/>
                          <a:cs typeface="Times New Roman"/>
                        </a:rPr>
                        <a:t>     &lt;</a:t>
                      </a:r>
                      <a:r>
                        <a:rPr lang="en-US" sz="1200" dirty="0" err="1">
                          <a:effectLst/>
                          <a:latin typeface="Arial"/>
                          <a:ea typeface="Calibri"/>
                          <a:cs typeface="Times New Roman"/>
                        </a:rPr>
                        <a:t>d:min</a:t>
                      </a:r>
                      <a:r>
                        <a:rPr lang="en-US" sz="1200" dirty="0">
                          <a:effectLst/>
                          <a:latin typeface="Arial"/>
                          <a:ea typeface="Calibri"/>
                          <a:cs typeface="Times New Roman"/>
                        </a:rPr>
                        <a:t> </a:t>
                      </a:r>
                      <a:r>
                        <a:rPr lang="en-US" sz="1200" dirty="0" err="1">
                          <a:solidFill>
                            <a:srgbClr val="00B050"/>
                          </a:solidFill>
                          <a:effectLst/>
                          <a:latin typeface="Arial"/>
                          <a:ea typeface="Calibri"/>
                          <a:cs typeface="Times New Roman"/>
                        </a:rPr>
                        <a:t>disclosable</a:t>
                      </a:r>
                      <a:r>
                        <a:rPr lang="en-US" sz="1200" dirty="0">
                          <a:solidFill>
                            <a:srgbClr val="00B050"/>
                          </a:solidFill>
                          <a:effectLst/>
                          <a:latin typeface="Arial"/>
                          <a:ea typeface="Calibri"/>
                          <a:cs typeface="Times New Roman"/>
                        </a:rPr>
                        <a:t>=’’yes’</a:t>
                      </a:r>
                      <a:r>
                        <a:rPr lang="en-US" sz="1200" dirty="0">
                          <a:effectLst/>
                          <a:latin typeface="Arial"/>
                          <a:ea typeface="Calibri"/>
                          <a:cs typeface="Times New Roman"/>
                        </a:rPr>
                        <a:t>’&gt;0&lt;/</a:t>
                      </a:r>
                      <a:r>
                        <a:rPr lang="en-US" sz="1200" dirty="0" err="1">
                          <a:effectLst/>
                          <a:latin typeface="Arial"/>
                          <a:ea typeface="Calibri"/>
                          <a:cs typeface="Times New Roman"/>
                        </a:rPr>
                        <a:t>d:min</a:t>
                      </a:r>
                      <a:r>
                        <a:rPr lang="en-US" sz="1200" dirty="0">
                          <a:effectLst/>
                          <a:latin typeface="Arial"/>
                          <a:ea typeface="Calibri"/>
                          <a:cs typeface="Times New Roman"/>
                        </a:rPr>
                        <a:t>&gt;</a:t>
                      </a:r>
                      <a:endParaRPr lang="en-US" sz="1600" dirty="0">
                        <a:effectLst/>
                        <a:latin typeface="Calibri"/>
                        <a:ea typeface="Calibri"/>
                        <a:cs typeface="Times New Roman"/>
                      </a:endParaRPr>
                    </a:p>
                    <a:p>
                      <a:pPr marL="0" marR="0">
                        <a:spcBef>
                          <a:spcPts val="0"/>
                        </a:spcBef>
                        <a:spcAft>
                          <a:spcPts val="0"/>
                        </a:spcAft>
                      </a:pPr>
                      <a:r>
                        <a:rPr lang="en-US" sz="1200" dirty="0">
                          <a:effectLst/>
                          <a:latin typeface="Arial"/>
                          <a:ea typeface="Calibri"/>
                          <a:cs typeface="Times New Roman"/>
                        </a:rPr>
                        <a:t>    &lt;</a:t>
                      </a:r>
                      <a:r>
                        <a:rPr lang="en-US" sz="1200" dirty="0" err="1">
                          <a:effectLst/>
                          <a:latin typeface="Arial"/>
                          <a:ea typeface="Calibri"/>
                          <a:cs typeface="Times New Roman"/>
                        </a:rPr>
                        <a:t>d:max</a:t>
                      </a:r>
                      <a:r>
                        <a:rPr lang="en-US" sz="1200" dirty="0">
                          <a:effectLst/>
                          <a:latin typeface="Arial"/>
                          <a:ea typeface="Calibri"/>
                          <a:cs typeface="Times New Roman"/>
                        </a:rPr>
                        <a:t> </a:t>
                      </a:r>
                      <a:r>
                        <a:rPr lang="en-US" sz="1200" dirty="0" err="1">
                          <a:solidFill>
                            <a:srgbClr val="FF0000"/>
                          </a:solidFill>
                          <a:effectLst/>
                          <a:latin typeface="Arial"/>
                          <a:ea typeface="Calibri"/>
                          <a:cs typeface="Times New Roman"/>
                        </a:rPr>
                        <a:t>disclosable</a:t>
                      </a:r>
                      <a:r>
                        <a:rPr lang="en-US" sz="1200" dirty="0">
                          <a:solidFill>
                            <a:srgbClr val="FF0000"/>
                          </a:solidFill>
                          <a:effectLst/>
                          <a:latin typeface="Arial"/>
                          <a:ea typeface="Calibri"/>
                          <a:cs typeface="Times New Roman"/>
                        </a:rPr>
                        <a:t>=’’no’’&gt;</a:t>
                      </a:r>
                      <a:r>
                        <a:rPr lang="en-US" sz="1200" dirty="0">
                          <a:effectLst/>
                          <a:latin typeface="Arial"/>
                          <a:ea typeface="Calibri"/>
                          <a:cs typeface="Times New Roman"/>
                        </a:rPr>
                        <a:t>345678&lt;/</a:t>
                      </a:r>
                      <a:r>
                        <a:rPr lang="en-US" sz="1200" dirty="0" err="1">
                          <a:effectLst/>
                          <a:latin typeface="Arial"/>
                          <a:ea typeface="Calibri"/>
                          <a:cs typeface="Times New Roman"/>
                        </a:rPr>
                        <a:t>d:max</a:t>
                      </a:r>
                      <a:r>
                        <a:rPr lang="en-US" sz="1200" dirty="0">
                          <a:effectLst/>
                          <a:latin typeface="Arial"/>
                          <a:ea typeface="Calibri"/>
                          <a:cs typeface="Times New Roman"/>
                        </a:rPr>
                        <a:t>&gt;</a:t>
                      </a:r>
                      <a:endParaRPr lang="en-US" sz="1600" dirty="0">
                        <a:effectLst/>
                        <a:latin typeface="Calibri"/>
                        <a:ea typeface="Calibri"/>
                        <a:cs typeface="Times New Roman"/>
                      </a:endParaRPr>
                    </a:p>
                    <a:p>
                      <a:pPr marL="0" marR="0">
                        <a:spcBef>
                          <a:spcPts val="0"/>
                        </a:spcBef>
                        <a:spcAft>
                          <a:spcPts val="0"/>
                        </a:spcAft>
                      </a:pPr>
                      <a:r>
                        <a:rPr lang="en-US" sz="1200" dirty="0">
                          <a:effectLst/>
                          <a:latin typeface="Arial"/>
                          <a:ea typeface="Calibri"/>
                          <a:cs typeface="Times New Roman"/>
                        </a:rPr>
                        <a:t>   &lt;/</a:t>
                      </a:r>
                      <a:r>
                        <a:rPr lang="en-US" sz="1200" dirty="0" err="1">
                          <a:effectLst/>
                          <a:latin typeface="Arial"/>
                          <a:ea typeface="Calibri"/>
                          <a:cs typeface="Times New Roman"/>
                        </a:rPr>
                        <a:t>d:Disclosability</a:t>
                      </a:r>
                      <a:r>
                        <a:rPr lang="en-US" sz="1200" dirty="0">
                          <a:effectLst/>
                          <a:latin typeface="Arial"/>
                          <a:ea typeface="Calibri"/>
                          <a:cs typeface="Times New Roman"/>
                        </a:rPr>
                        <a:t>&gt;</a:t>
                      </a:r>
                      <a:endParaRPr lang="en-US" sz="1600" dirty="0">
                        <a:effectLst/>
                        <a:latin typeface="Calibri"/>
                        <a:ea typeface="Calibri"/>
                        <a:cs typeface="Times New Roman"/>
                      </a:endParaRPr>
                    </a:p>
                    <a:p>
                      <a:pPr marL="0" marR="0">
                        <a:spcBef>
                          <a:spcPts val="0"/>
                        </a:spcBef>
                        <a:spcAft>
                          <a:spcPts val="0"/>
                        </a:spcAft>
                      </a:pPr>
                      <a:r>
                        <a:rPr lang="en-US" sz="1200" dirty="0">
                          <a:effectLst/>
                          <a:latin typeface="Arial"/>
                          <a:ea typeface="Calibri"/>
                          <a:cs typeface="Times New Roman"/>
                        </a:rPr>
                        <a:t>&lt;/</a:t>
                      </a:r>
                      <a:r>
                        <a:rPr lang="en-US" sz="1200" dirty="0" err="1">
                          <a:effectLst/>
                          <a:latin typeface="Arial"/>
                          <a:ea typeface="Calibri"/>
                          <a:cs typeface="Times New Roman"/>
                        </a:rPr>
                        <a:t>d:VariableSet</a:t>
                      </a:r>
                      <a:r>
                        <a:rPr lang="en-US" sz="1200" dirty="0">
                          <a:effectLst/>
                          <a:latin typeface="Arial"/>
                          <a:ea typeface="Calibri"/>
                          <a:cs typeface="Times New Roman"/>
                        </a:rPr>
                        <a:t>&gt;</a:t>
                      </a:r>
                      <a:endParaRPr lang="en-US" sz="1600" dirty="0">
                        <a:effectLst/>
                        <a:latin typeface="Calibri"/>
                        <a:ea typeface="Calibri"/>
                        <a:cs typeface="Times New Roman"/>
                      </a:endParaRPr>
                    </a:p>
                    <a:p>
                      <a:pPr marL="0" marR="0" algn="just">
                        <a:lnSpc>
                          <a:spcPct val="115000"/>
                        </a:lnSpc>
                        <a:spcBef>
                          <a:spcPts val="0"/>
                        </a:spcBef>
                        <a:spcAft>
                          <a:spcPts val="1200"/>
                        </a:spcAft>
                      </a:pPr>
                      <a:r>
                        <a:rPr lang="en-US" sz="1200" dirty="0">
                          <a:effectLst/>
                          <a:latin typeface="Arial"/>
                          <a:ea typeface="Calibri"/>
                          <a:cs typeface="Times New Roman"/>
                        </a:rPr>
                        <a:t> </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lvl1pPr marL="0" algn="l" defTabSz="457200" rtl="0" eaLnBrk="1" latinLnBrk="0" hangingPunct="1">
                        <a:defRPr sz="1800" kern="1200">
                          <a:solidFill>
                            <a:schemeClr val="tx1"/>
                          </a:solidFill>
                          <a:latin typeface="Goudy Old Style"/>
                        </a:defRPr>
                      </a:lvl1pPr>
                      <a:lvl2pPr marL="457200" algn="l" defTabSz="457200" rtl="0" eaLnBrk="1" latinLnBrk="0" hangingPunct="1">
                        <a:defRPr sz="1800" kern="1200">
                          <a:solidFill>
                            <a:schemeClr val="tx1"/>
                          </a:solidFill>
                          <a:latin typeface="Goudy Old Style"/>
                        </a:defRPr>
                      </a:lvl2pPr>
                      <a:lvl3pPr marL="914400" algn="l" defTabSz="457200" rtl="0" eaLnBrk="1" latinLnBrk="0" hangingPunct="1">
                        <a:defRPr sz="1800" kern="1200">
                          <a:solidFill>
                            <a:schemeClr val="tx1"/>
                          </a:solidFill>
                          <a:latin typeface="Goudy Old Style"/>
                        </a:defRPr>
                      </a:lvl3pPr>
                      <a:lvl4pPr marL="1371600" algn="l" defTabSz="457200" rtl="0" eaLnBrk="1" latinLnBrk="0" hangingPunct="1">
                        <a:defRPr sz="1800" kern="1200">
                          <a:solidFill>
                            <a:schemeClr val="tx1"/>
                          </a:solidFill>
                          <a:latin typeface="Goudy Old Style"/>
                        </a:defRPr>
                      </a:lvl4pPr>
                      <a:lvl5pPr marL="1828800" algn="l" defTabSz="457200" rtl="0" eaLnBrk="1" latinLnBrk="0" hangingPunct="1">
                        <a:defRPr sz="1800" kern="1200">
                          <a:solidFill>
                            <a:schemeClr val="tx1"/>
                          </a:solidFill>
                          <a:latin typeface="Goudy Old Style"/>
                        </a:defRPr>
                      </a:lvl5pPr>
                      <a:lvl6pPr marL="2286000" algn="l" defTabSz="457200" rtl="0" eaLnBrk="1" latinLnBrk="0" hangingPunct="1">
                        <a:defRPr sz="1800" kern="1200">
                          <a:solidFill>
                            <a:schemeClr val="tx1"/>
                          </a:solidFill>
                          <a:latin typeface="Goudy Old Style"/>
                        </a:defRPr>
                      </a:lvl6pPr>
                      <a:lvl7pPr marL="2743200" algn="l" defTabSz="457200" rtl="0" eaLnBrk="1" latinLnBrk="0" hangingPunct="1">
                        <a:defRPr sz="1800" kern="1200">
                          <a:solidFill>
                            <a:schemeClr val="tx1"/>
                          </a:solidFill>
                          <a:latin typeface="Goudy Old Style"/>
                        </a:defRPr>
                      </a:lvl7pPr>
                      <a:lvl8pPr marL="3200400" algn="l" defTabSz="457200" rtl="0" eaLnBrk="1" latinLnBrk="0" hangingPunct="1">
                        <a:defRPr sz="1800" kern="1200">
                          <a:solidFill>
                            <a:schemeClr val="tx1"/>
                          </a:solidFill>
                          <a:latin typeface="Goudy Old Style"/>
                        </a:defRPr>
                      </a:lvl8pPr>
                      <a:lvl9pPr marL="3657600" algn="l" defTabSz="457200" rtl="0" eaLnBrk="1" latinLnBrk="0" hangingPunct="1">
                        <a:defRPr sz="1800" kern="1200">
                          <a:solidFill>
                            <a:schemeClr val="tx1"/>
                          </a:solidFill>
                          <a:latin typeface="Goudy Old Style"/>
                        </a:defRPr>
                      </a:lvl9pPr>
                    </a:lstStyle>
                    <a:p>
                      <a:pPr marL="0" marR="0">
                        <a:spcBef>
                          <a:spcPts val="0"/>
                        </a:spcBef>
                        <a:spcAft>
                          <a:spcPts val="0"/>
                        </a:spcAft>
                      </a:pPr>
                      <a:r>
                        <a:rPr lang="en-US" sz="1200" b="1" dirty="0">
                          <a:effectLst/>
                          <a:latin typeface="Arial"/>
                          <a:ea typeface="Calibri"/>
                          <a:cs typeface="Times New Roman"/>
                        </a:rPr>
                        <a:t>Derived Public Use Metadata (limited)</a:t>
                      </a:r>
                      <a:endParaRPr lang="en-US" sz="1600" dirty="0">
                        <a:effectLst/>
                        <a:latin typeface="Calibri"/>
                        <a:ea typeface="Calibri"/>
                        <a:cs typeface="Times New Roman"/>
                      </a:endParaRPr>
                    </a:p>
                    <a:p>
                      <a:pPr marL="0" marR="0">
                        <a:spcBef>
                          <a:spcPts val="0"/>
                        </a:spcBef>
                        <a:spcAft>
                          <a:spcPts val="0"/>
                        </a:spcAft>
                      </a:pPr>
                      <a:r>
                        <a:rPr lang="en-US" sz="1200" dirty="0">
                          <a:effectLst/>
                          <a:latin typeface="Arial"/>
                          <a:ea typeface="Calibri"/>
                          <a:cs typeface="Times New Roman"/>
                        </a:rPr>
                        <a:t> </a:t>
                      </a:r>
                      <a:endParaRPr lang="en-US" sz="1600" dirty="0">
                        <a:effectLst/>
                        <a:latin typeface="Calibri"/>
                        <a:ea typeface="Calibri"/>
                        <a:cs typeface="Times New Roman"/>
                      </a:endParaRPr>
                    </a:p>
                    <a:p>
                      <a:pPr marL="0" marR="0">
                        <a:spcBef>
                          <a:spcPts val="0"/>
                        </a:spcBef>
                        <a:spcAft>
                          <a:spcPts val="0"/>
                        </a:spcAft>
                      </a:pPr>
                      <a:r>
                        <a:rPr lang="en-US" sz="1200" dirty="0">
                          <a:effectLst/>
                          <a:latin typeface="Arial"/>
                          <a:ea typeface="Calibri"/>
                          <a:cs typeface="Times New Roman"/>
                        </a:rPr>
                        <a:t>&lt;</a:t>
                      </a:r>
                      <a:r>
                        <a:rPr lang="en-US" sz="1200" dirty="0" err="1">
                          <a:effectLst/>
                          <a:latin typeface="Arial"/>
                          <a:ea typeface="Calibri"/>
                          <a:cs typeface="Times New Roman"/>
                        </a:rPr>
                        <a:t>d:VariableSet</a:t>
                      </a:r>
                      <a:r>
                        <a:rPr lang="en-US" sz="1200" dirty="0">
                          <a:effectLst/>
                          <a:latin typeface="Arial"/>
                          <a:ea typeface="Calibri"/>
                          <a:cs typeface="Times New Roman"/>
                        </a:rPr>
                        <a:t>&gt;	</a:t>
                      </a:r>
                      <a:endParaRPr lang="en-US" sz="1600" dirty="0">
                        <a:effectLst/>
                        <a:latin typeface="Calibri"/>
                        <a:ea typeface="Calibri"/>
                        <a:cs typeface="Times New Roman"/>
                      </a:endParaRPr>
                    </a:p>
                    <a:p>
                      <a:pPr marL="0" marR="0">
                        <a:spcBef>
                          <a:spcPts val="0"/>
                        </a:spcBef>
                        <a:spcAft>
                          <a:spcPts val="0"/>
                        </a:spcAft>
                      </a:pPr>
                      <a:r>
                        <a:rPr lang="en-US" sz="1200" dirty="0">
                          <a:effectLst/>
                          <a:latin typeface="Arial"/>
                          <a:ea typeface="Calibri"/>
                          <a:cs typeface="Times New Roman"/>
                        </a:rPr>
                        <a:t>&lt;d: </a:t>
                      </a:r>
                      <a:r>
                        <a:rPr lang="en-US" sz="1200" dirty="0" err="1">
                          <a:effectLst/>
                          <a:latin typeface="Arial"/>
                          <a:ea typeface="Calibri"/>
                          <a:cs typeface="Times New Roman"/>
                        </a:rPr>
                        <a:t>VariableItem</a:t>
                      </a:r>
                      <a:r>
                        <a:rPr lang="en-US" sz="1200" dirty="0">
                          <a:effectLst/>
                          <a:latin typeface="Arial"/>
                          <a:ea typeface="Calibri"/>
                          <a:cs typeface="Times New Roman"/>
                        </a:rPr>
                        <a:t>&gt;…:&lt;d:/</a:t>
                      </a:r>
                      <a:r>
                        <a:rPr lang="en-US" sz="1200" dirty="0" err="1">
                          <a:effectLst/>
                          <a:latin typeface="Arial"/>
                          <a:ea typeface="Calibri"/>
                          <a:cs typeface="Times New Roman"/>
                        </a:rPr>
                        <a:t>VariableItem</a:t>
                      </a:r>
                      <a:r>
                        <a:rPr lang="en-US" sz="1200" dirty="0">
                          <a:effectLst/>
                          <a:latin typeface="Arial"/>
                          <a:ea typeface="Calibri"/>
                          <a:cs typeface="Times New Roman"/>
                        </a:rPr>
                        <a:t>&gt;</a:t>
                      </a:r>
                      <a:endParaRPr lang="en-US" sz="1600" dirty="0">
                        <a:effectLst/>
                        <a:latin typeface="Calibri"/>
                        <a:ea typeface="Calibri"/>
                        <a:cs typeface="Times New Roman"/>
                      </a:endParaRPr>
                    </a:p>
                    <a:p>
                      <a:pPr marL="0" marR="0">
                        <a:spcBef>
                          <a:spcPts val="0"/>
                        </a:spcBef>
                        <a:spcAft>
                          <a:spcPts val="0"/>
                        </a:spcAft>
                      </a:pPr>
                      <a:r>
                        <a:rPr lang="en-US" sz="1200" dirty="0">
                          <a:effectLst/>
                          <a:latin typeface="Arial"/>
                          <a:ea typeface="Calibri"/>
                          <a:cs typeface="Times New Roman"/>
                        </a:rPr>
                        <a:t>   &lt;</a:t>
                      </a:r>
                      <a:r>
                        <a:rPr lang="en-US" sz="1200" dirty="0" err="1">
                          <a:effectLst/>
                          <a:latin typeface="Arial"/>
                          <a:ea typeface="Calibri"/>
                          <a:cs typeface="Times New Roman"/>
                        </a:rPr>
                        <a:t>d:Disclosability</a:t>
                      </a:r>
                      <a:r>
                        <a:rPr lang="en-US" sz="1200" dirty="0">
                          <a:effectLst/>
                          <a:latin typeface="Arial"/>
                          <a:ea typeface="Calibri"/>
                          <a:cs typeface="Times New Roman"/>
                        </a:rPr>
                        <a:t>&gt;</a:t>
                      </a:r>
                      <a:endParaRPr lang="en-US" sz="1600" dirty="0">
                        <a:effectLst/>
                        <a:latin typeface="Calibri"/>
                        <a:ea typeface="Calibri"/>
                        <a:cs typeface="Times New Roman"/>
                      </a:endParaRPr>
                    </a:p>
                    <a:p>
                      <a:pPr marL="0" marR="0">
                        <a:spcBef>
                          <a:spcPts val="0"/>
                        </a:spcBef>
                        <a:spcAft>
                          <a:spcPts val="0"/>
                        </a:spcAft>
                      </a:pPr>
                      <a:r>
                        <a:rPr lang="en-US" sz="1200" dirty="0">
                          <a:effectLst/>
                          <a:latin typeface="Arial"/>
                          <a:ea typeface="Calibri"/>
                          <a:cs typeface="Times New Roman"/>
                        </a:rPr>
                        <a:t>     &lt;</a:t>
                      </a:r>
                      <a:r>
                        <a:rPr lang="en-US" sz="1200" dirty="0" err="1">
                          <a:effectLst/>
                          <a:latin typeface="Arial"/>
                          <a:ea typeface="Calibri"/>
                          <a:cs typeface="Times New Roman"/>
                        </a:rPr>
                        <a:t>d:min</a:t>
                      </a:r>
                      <a:r>
                        <a:rPr lang="en-US" sz="1200" dirty="0">
                          <a:effectLst/>
                          <a:latin typeface="Arial"/>
                          <a:ea typeface="Calibri"/>
                          <a:cs typeface="Times New Roman"/>
                        </a:rPr>
                        <a:t>&gt;</a:t>
                      </a:r>
                      <a:r>
                        <a:rPr lang="en-US" sz="1200" dirty="0">
                          <a:solidFill>
                            <a:srgbClr val="00B050"/>
                          </a:solidFill>
                          <a:effectLst/>
                          <a:latin typeface="Arial"/>
                          <a:ea typeface="Calibri"/>
                          <a:cs typeface="Times New Roman"/>
                        </a:rPr>
                        <a:t>0</a:t>
                      </a:r>
                      <a:r>
                        <a:rPr lang="en-US" sz="1200" dirty="0">
                          <a:effectLst/>
                          <a:latin typeface="Arial"/>
                          <a:ea typeface="Calibri"/>
                          <a:cs typeface="Times New Roman"/>
                        </a:rPr>
                        <a:t>&lt;/</a:t>
                      </a:r>
                      <a:r>
                        <a:rPr lang="en-US" sz="1200" dirty="0" err="1">
                          <a:effectLst/>
                          <a:latin typeface="Arial"/>
                          <a:ea typeface="Calibri"/>
                          <a:cs typeface="Times New Roman"/>
                        </a:rPr>
                        <a:t>d:min</a:t>
                      </a:r>
                      <a:r>
                        <a:rPr lang="en-US" sz="1200" dirty="0">
                          <a:effectLst/>
                          <a:latin typeface="Arial"/>
                          <a:ea typeface="Calibri"/>
                          <a:cs typeface="Times New Roman"/>
                        </a:rPr>
                        <a:t>&gt;</a:t>
                      </a:r>
                      <a:endParaRPr lang="en-US" sz="1600" dirty="0">
                        <a:effectLst/>
                        <a:latin typeface="Calibri"/>
                        <a:ea typeface="Calibri"/>
                        <a:cs typeface="Times New Roman"/>
                      </a:endParaRPr>
                    </a:p>
                    <a:p>
                      <a:pPr marL="0" marR="0">
                        <a:spcBef>
                          <a:spcPts val="0"/>
                        </a:spcBef>
                        <a:spcAft>
                          <a:spcPts val="0"/>
                        </a:spcAft>
                      </a:pPr>
                      <a:r>
                        <a:rPr lang="en-US" sz="1200" dirty="0">
                          <a:effectLst/>
                          <a:latin typeface="Arial"/>
                          <a:ea typeface="Calibri"/>
                          <a:cs typeface="Times New Roman"/>
                        </a:rPr>
                        <a:t>     &lt;</a:t>
                      </a:r>
                      <a:r>
                        <a:rPr lang="en-US" sz="1200" dirty="0" err="1">
                          <a:effectLst/>
                          <a:latin typeface="Arial"/>
                          <a:ea typeface="Calibri"/>
                          <a:cs typeface="Times New Roman"/>
                        </a:rPr>
                        <a:t>d:max</a:t>
                      </a:r>
                      <a:r>
                        <a:rPr lang="en-US" sz="1200" dirty="0">
                          <a:effectLst/>
                          <a:latin typeface="Arial"/>
                          <a:ea typeface="Calibri"/>
                          <a:cs typeface="Times New Roman"/>
                        </a:rPr>
                        <a:t>&gt;</a:t>
                      </a:r>
                      <a:r>
                        <a:rPr lang="en-US" sz="1200" dirty="0">
                          <a:solidFill>
                            <a:srgbClr val="FF0000"/>
                          </a:solidFill>
                          <a:effectLst/>
                          <a:latin typeface="Arial"/>
                          <a:ea typeface="Calibri"/>
                          <a:cs typeface="Times New Roman"/>
                        </a:rPr>
                        <a:t>not </a:t>
                      </a:r>
                      <a:r>
                        <a:rPr lang="en-US" sz="1200" dirty="0" err="1">
                          <a:solidFill>
                            <a:srgbClr val="FF0000"/>
                          </a:solidFill>
                          <a:effectLst/>
                          <a:latin typeface="Arial"/>
                          <a:ea typeface="Calibri"/>
                          <a:cs typeface="Times New Roman"/>
                        </a:rPr>
                        <a:t>disclosable</a:t>
                      </a:r>
                      <a:r>
                        <a:rPr lang="en-US" sz="1200" dirty="0">
                          <a:effectLst/>
                          <a:latin typeface="Arial"/>
                          <a:ea typeface="Calibri"/>
                          <a:cs typeface="Times New Roman"/>
                        </a:rPr>
                        <a:t>&lt;/</a:t>
                      </a:r>
                      <a:r>
                        <a:rPr lang="en-US" sz="1200" dirty="0" err="1">
                          <a:effectLst/>
                          <a:latin typeface="Arial"/>
                          <a:ea typeface="Calibri"/>
                          <a:cs typeface="Times New Roman"/>
                        </a:rPr>
                        <a:t>d:max</a:t>
                      </a:r>
                      <a:r>
                        <a:rPr lang="en-US" sz="1200" dirty="0">
                          <a:effectLst/>
                          <a:latin typeface="Arial"/>
                          <a:ea typeface="Calibri"/>
                          <a:cs typeface="Times New Roman"/>
                        </a:rPr>
                        <a:t>&gt;</a:t>
                      </a:r>
                      <a:endParaRPr lang="en-US" sz="1600" dirty="0">
                        <a:effectLst/>
                        <a:latin typeface="Calibri"/>
                        <a:ea typeface="Calibri"/>
                        <a:cs typeface="Times New Roman"/>
                      </a:endParaRPr>
                    </a:p>
                    <a:p>
                      <a:pPr marL="0" marR="0">
                        <a:spcBef>
                          <a:spcPts val="0"/>
                        </a:spcBef>
                        <a:spcAft>
                          <a:spcPts val="0"/>
                        </a:spcAft>
                      </a:pPr>
                      <a:r>
                        <a:rPr lang="en-US" sz="1200" dirty="0">
                          <a:effectLst/>
                          <a:latin typeface="Arial"/>
                          <a:ea typeface="Calibri"/>
                          <a:cs typeface="Times New Roman"/>
                        </a:rPr>
                        <a:t>   &lt;/</a:t>
                      </a:r>
                      <a:r>
                        <a:rPr lang="en-US" sz="1200" dirty="0" err="1">
                          <a:effectLst/>
                          <a:latin typeface="Arial"/>
                          <a:ea typeface="Calibri"/>
                          <a:cs typeface="Times New Roman"/>
                        </a:rPr>
                        <a:t>d:Disclosability</a:t>
                      </a:r>
                      <a:r>
                        <a:rPr lang="en-US" sz="1200" dirty="0">
                          <a:effectLst/>
                          <a:latin typeface="Arial"/>
                          <a:ea typeface="Calibri"/>
                          <a:cs typeface="Times New Roman"/>
                        </a:rPr>
                        <a:t>&gt;</a:t>
                      </a:r>
                      <a:endParaRPr lang="en-US" sz="1600" dirty="0">
                        <a:effectLst/>
                        <a:latin typeface="Calibri"/>
                        <a:ea typeface="Calibri"/>
                        <a:cs typeface="Times New Roman"/>
                      </a:endParaRPr>
                    </a:p>
                    <a:p>
                      <a:pPr marL="0" marR="0">
                        <a:spcBef>
                          <a:spcPts val="0"/>
                        </a:spcBef>
                        <a:spcAft>
                          <a:spcPts val="0"/>
                        </a:spcAft>
                      </a:pPr>
                      <a:r>
                        <a:rPr lang="en-US" sz="1200" dirty="0">
                          <a:effectLst/>
                          <a:latin typeface="Arial"/>
                          <a:ea typeface="Calibri"/>
                          <a:cs typeface="Times New Roman"/>
                        </a:rPr>
                        <a:t>&lt;/</a:t>
                      </a:r>
                      <a:r>
                        <a:rPr lang="en-US" sz="1200" dirty="0" err="1">
                          <a:effectLst/>
                          <a:latin typeface="Arial"/>
                          <a:ea typeface="Calibri"/>
                          <a:cs typeface="Times New Roman"/>
                        </a:rPr>
                        <a:t>d:VariableSet</a:t>
                      </a:r>
                      <a:r>
                        <a:rPr lang="en-US" sz="1200" dirty="0">
                          <a:effectLst/>
                          <a:latin typeface="Arial"/>
                          <a:ea typeface="Calibri"/>
                          <a:cs typeface="Times New Roman"/>
                        </a:rPr>
                        <a:t>&gt;</a:t>
                      </a:r>
                      <a:endParaRPr lang="en-US" sz="1600" dirty="0">
                        <a:effectLst/>
                        <a:latin typeface="Calibri"/>
                        <a:ea typeface="Calibri"/>
                        <a:cs typeface="Times New Roman"/>
                      </a:endParaRPr>
                    </a:p>
                    <a:p>
                      <a:pPr marL="0" marR="0" algn="just">
                        <a:lnSpc>
                          <a:spcPct val="115000"/>
                        </a:lnSpc>
                        <a:spcBef>
                          <a:spcPts val="0"/>
                        </a:spcBef>
                        <a:spcAft>
                          <a:spcPts val="1200"/>
                        </a:spcAft>
                      </a:pPr>
                      <a:r>
                        <a:rPr lang="en-US" sz="1200" dirty="0">
                          <a:effectLst/>
                          <a:latin typeface="Arial"/>
                          <a:ea typeface="Calibri"/>
                          <a:cs typeface="Times New Roman"/>
                        </a:rPr>
                        <a:t> </a:t>
                      </a:r>
                      <a:endParaRPr lang="en-US" sz="16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blipFill>
                      <a:blip r:embed="rId4"/>
                      <a:tile tx="0" ty="0" sx="100000" sy="100000" flip="none" algn="tl"/>
                    </a:blipFill>
                  </a:tcPr>
                </a:tc>
              </a:tr>
            </a:tbl>
          </a:graphicData>
        </a:graphic>
      </p:graphicFrame>
      <p:sp>
        <p:nvSpPr>
          <p:cNvPr id="28685" name="TextBox 6"/>
          <p:cNvSpPr txBox="1">
            <a:spLocks noChangeArrowheads="1"/>
          </p:cNvSpPr>
          <p:nvPr/>
        </p:nvSpPr>
        <p:spPr bwMode="auto">
          <a:xfrm>
            <a:off x="762000" y="4343400"/>
            <a:ext cx="7315200" cy="1200150"/>
          </a:xfrm>
          <a:prstGeom prst="rect">
            <a:avLst/>
          </a:prstGeom>
          <a:noFill/>
          <a:ln w="9525">
            <a:noFill/>
            <a:miter lim="800000"/>
            <a:headEnd/>
            <a:tailEnd/>
          </a:ln>
        </p:spPr>
        <p:txBody>
          <a:bodyPr>
            <a:spAutoFit/>
          </a:bodyPr>
          <a:lstStyle/>
          <a:p>
            <a:r>
              <a:rPr lang="en-US">
                <a:latin typeface="Arial" charset="0"/>
              </a:rPr>
              <a:t>The above example denotes that one extreme value associated with this variable is not releasable, regardless of the public-use nature of other information on the variable. In this example, the maximum value would not be included in the publicly-released documentation.</a:t>
            </a:r>
          </a:p>
        </p:txBody>
      </p:sp>
    </p:spTree>
  </p:cSld>
  <p:clrMapOvr>
    <a:masterClrMapping/>
  </p:clrMapOvr>
  <p:transition>
    <p:cut thruBlk="1"/>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29699"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9700" name="TextBox 1"/>
          <p:cNvSpPr txBox="1">
            <a:spLocks noChangeArrowheads="1"/>
          </p:cNvSpPr>
          <p:nvPr/>
        </p:nvSpPr>
        <p:spPr bwMode="auto">
          <a:xfrm>
            <a:off x="685800" y="1069975"/>
            <a:ext cx="6296025" cy="461963"/>
          </a:xfrm>
          <a:prstGeom prst="rect">
            <a:avLst/>
          </a:prstGeom>
          <a:noFill/>
          <a:ln w="9525">
            <a:noFill/>
            <a:miter lim="800000"/>
            <a:headEnd/>
            <a:tailEnd/>
          </a:ln>
        </p:spPr>
        <p:txBody>
          <a:bodyPr wrap="none">
            <a:spAutoFit/>
          </a:bodyPr>
          <a:lstStyle/>
          <a:p>
            <a:r>
              <a:rPr lang="en-US" sz="2400"/>
              <a:t>Metadata platforms being considered for CCBMR</a:t>
            </a:r>
          </a:p>
        </p:txBody>
      </p:sp>
      <p:sp>
        <p:nvSpPr>
          <p:cNvPr id="29701" name="TextBox 3">
            <a:hlinkClick r:id="rId3"/>
          </p:cNvPr>
          <p:cNvSpPr txBox="1">
            <a:spLocks noChangeArrowheads="1"/>
          </p:cNvSpPr>
          <p:nvPr/>
        </p:nvSpPr>
        <p:spPr bwMode="auto">
          <a:xfrm>
            <a:off x="842963" y="5799138"/>
            <a:ext cx="7204075" cy="646112"/>
          </a:xfrm>
          <a:prstGeom prst="rect">
            <a:avLst/>
          </a:prstGeom>
          <a:noFill/>
          <a:ln w="9525">
            <a:noFill/>
            <a:miter lim="800000"/>
            <a:headEnd/>
            <a:tailEnd/>
          </a:ln>
        </p:spPr>
        <p:txBody>
          <a:bodyPr>
            <a:spAutoFit/>
          </a:bodyPr>
          <a:lstStyle/>
          <a:p>
            <a:r>
              <a:rPr lang="en-US"/>
              <a:t>Related to this topic: </a:t>
            </a:r>
            <a:r>
              <a:rPr lang="en-US" i="1"/>
              <a:t>Representing and Utilizing DDI in Relational Databases</a:t>
            </a:r>
            <a:r>
              <a:rPr lang="en-US"/>
              <a:t> (http://dx.doi.org/10.3886/DDIOtherTopics02)</a:t>
            </a:r>
          </a:p>
        </p:txBody>
      </p:sp>
      <p:sp>
        <p:nvSpPr>
          <p:cNvPr id="29702" name="TextBox 4"/>
          <p:cNvSpPr txBox="1">
            <a:spLocks noChangeArrowheads="1"/>
          </p:cNvSpPr>
          <p:nvPr/>
        </p:nvSpPr>
        <p:spPr bwMode="auto">
          <a:xfrm>
            <a:off x="981075" y="1562100"/>
            <a:ext cx="7181850" cy="4276725"/>
          </a:xfrm>
          <a:prstGeom prst="rect">
            <a:avLst/>
          </a:prstGeom>
          <a:noFill/>
          <a:ln w="9525">
            <a:noFill/>
            <a:miter lim="800000"/>
            <a:headEnd/>
            <a:tailEnd/>
          </a:ln>
        </p:spPr>
        <p:txBody>
          <a:bodyPr>
            <a:spAutoFit/>
          </a:bodyPr>
          <a:lstStyle/>
          <a:p>
            <a:r>
              <a:rPr lang="en-US" sz="1600"/>
              <a:t>XML database:</a:t>
            </a:r>
          </a:p>
          <a:p>
            <a:r>
              <a:rPr lang="en-US" sz="1600"/>
              <a:t>  BaseX or</a:t>
            </a:r>
          </a:p>
          <a:p>
            <a:r>
              <a:rPr lang="en-US" sz="1600"/>
              <a:t>  eXist</a:t>
            </a:r>
          </a:p>
          <a:p>
            <a:r>
              <a:rPr lang="en-US" sz="1600"/>
              <a:t>or</a:t>
            </a:r>
          </a:p>
          <a:p>
            <a:r>
              <a:rPr lang="en-US" sz="1600"/>
              <a:t>Relational database (RDB):</a:t>
            </a:r>
          </a:p>
          <a:p>
            <a:r>
              <a:rPr lang="en-US" sz="1600"/>
              <a:t>  SQL server (MS Windows only) or</a:t>
            </a:r>
          </a:p>
          <a:p>
            <a:r>
              <a:rPr lang="en-US" sz="1600"/>
              <a:t>  PostgreSQL or</a:t>
            </a:r>
          </a:p>
          <a:p>
            <a:r>
              <a:rPr lang="en-US" sz="1600"/>
              <a:t>  MySQL or</a:t>
            </a:r>
          </a:p>
          <a:p>
            <a:r>
              <a:rPr lang="en-US" sz="1600"/>
              <a:t>  Oracle (or possibly others)</a:t>
            </a:r>
          </a:p>
          <a:p>
            <a:r>
              <a:rPr lang="en-US" sz="1600"/>
              <a:t>or</a:t>
            </a:r>
          </a:p>
          <a:p>
            <a:r>
              <a:rPr lang="en-US" sz="1600"/>
              <a:t>Hybrid approach of using RDB and storing  XML (such as variable-level DDI generated by Stat/Transfer) as objects inside it </a:t>
            </a:r>
          </a:p>
          <a:p>
            <a:r>
              <a:rPr lang="en-US" sz="1600"/>
              <a:t>or </a:t>
            </a:r>
          </a:p>
          <a:p>
            <a:r>
              <a:rPr lang="en-US" sz="1600"/>
              <a:t>Proprietary product:</a:t>
            </a:r>
          </a:p>
          <a:p>
            <a:r>
              <a:rPr lang="en-US" sz="1600"/>
              <a:t>  Colectia Repository with SDK (with which we could create a customized web front-end)</a:t>
            </a:r>
          </a:p>
          <a:p>
            <a:endParaRPr lang="en-US" sz="1600"/>
          </a:p>
        </p:txBody>
      </p:sp>
    </p:spTree>
  </p:cSld>
  <p:clrMapOvr>
    <a:masterClrMapping/>
  </p:clrMapOvr>
  <p:transition>
    <p:cut thruBlk="1"/>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30723"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0724" name="TextBox 4"/>
          <p:cNvSpPr txBox="1">
            <a:spLocks noChangeArrowheads="1"/>
          </p:cNvSpPr>
          <p:nvPr/>
        </p:nvSpPr>
        <p:spPr bwMode="auto">
          <a:xfrm>
            <a:off x="685800" y="1279525"/>
            <a:ext cx="6783388" cy="461963"/>
          </a:xfrm>
          <a:prstGeom prst="rect">
            <a:avLst/>
          </a:prstGeom>
          <a:noFill/>
          <a:ln w="9525">
            <a:noFill/>
            <a:miter lim="800000"/>
            <a:headEnd/>
            <a:tailEnd/>
          </a:ln>
        </p:spPr>
        <p:txBody>
          <a:bodyPr wrap="none">
            <a:spAutoFit/>
          </a:bodyPr>
          <a:lstStyle/>
          <a:p>
            <a:r>
              <a:rPr lang="en-US" sz="2400"/>
              <a:t>Metadata specifications being considered for CCBMR</a:t>
            </a:r>
          </a:p>
        </p:txBody>
      </p:sp>
      <p:sp>
        <p:nvSpPr>
          <p:cNvPr id="30725" name="TextBox 1"/>
          <p:cNvSpPr txBox="1">
            <a:spLocks noChangeArrowheads="1"/>
          </p:cNvSpPr>
          <p:nvPr/>
        </p:nvSpPr>
        <p:spPr bwMode="auto">
          <a:xfrm>
            <a:off x="965200" y="5913438"/>
            <a:ext cx="7670800" cy="646112"/>
          </a:xfrm>
          <a:prstGeom prst="rect">
            <a:avLst/>
          </a:prstGeom>
          <a:noFill/>
          <a:ln w="9525">
            <a:noFill/>
            <a:miter lim="800000"/>
            <a:headEnd/>
            <a:tailEnd/>
          </a:ln>
        </p:spPr>
        <p:txBody>
          <a:bodyPr>
            <a:spAutoFit/>
          </a:bodyPr>
          <a:lstStyle/>
          <a:p>
            <a:r>
              <a:rPr lang="en-US"/>
              <a:t>Approach: “as much as necessary, as little as possible” metadata for the project; </a:t>
            </a:r>
            <a:r>
              <a:rPr lang="en-US" i="1"/>
              <a:t>not </a:t>
            </a:r>
            <a:r>
              <a:rPr lang="en-US"/>
              <a:t>limited only to DDI</a:t>
            </a:r>
          </a:p>
        </p:txBody>
      </p:sp>
      <p:sp>
        <p:nvSpPr>
          <p:cNvPr id="4" name="Rounded Rectangle 3"/>
          <p:cNvSpPr/>
          <p:nvPr/>
        </p:nvSpPr>
        <p:spPr>
          <a:xfrm>
            <a:off x="854075" y="2306638"/>
            <a:ext cx="2874963" cy="1482725"/>
          </a:xfrm>
          <a:prstGeom prst="roundRect">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0727" name="TextBox 5"/>
          <p:cNvSpPr txBox="1">
            <a:spLocks noChangeArrowheads="1"/>
          </p:cNvSpPr>
          <p:nvPr/>
        </p:nvSpPr>
        <p:spPr bwMode="auto">
          <a:xfrm>
            <a:off x="1930400" y="2720975"/>
            <a:ext cx="1798638" cy="522288"/>
          </a:xfrm>
          <a:prstGeom prst="rect">
            <a:avLst/>
          </a:prstGeom>
          <a:noFill/>
          <a:ln w="9525">
            <a:noFill/>
            <a:miter lim="800000"/>
            <a:headEnd/>
            <a:tailEnd/>
          </a:ln>
        </p:spPr>
        <p:txBody>
          <a:bodyPr>
            <a:spAutoFit/>
          </a:bodyPr>
          <a:lstStyle/>
          <a:p>
            <a:r>
              <a:rPr lang="en-US" sz="2800"/>
              <a:t>DDI</a:t>
            </a:r>
          </a:p>
        </p:txBody>
      </p:sp>
      <p:sp>
        <p:nvSpPr>
          <p:cNvPr id="9" name="Rounded Rectangle 8"/>
          <p:cNvSpPr/>
          <p:nvPr/>
        </p:nvSpPr>
        <p:spPr>
          <a:xfrm>
            <a:off x="4897438" y="2306638"/>
            <a:ext cx="2874962" cy="1482725"/>
          </a:xfrm>
          <a:prstGeom prst="roundRect">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0729" name="TextBox 6"/>
          <p:cNvSpPr txBox="1">
            <a:spLocks noChangeArrowheads="1"/>
          </p:cNvSpPr>
          <p:nvPr/>
        </p:nvSpPr>
        <p:spPr bwMode="auto">
          <a:xfrm>
            <a:off x="5691188" y="2722563"/>
            <a:ext cx="1778000" cy="523875"/>
          </a:xfrm>
          <a:prstGeom prst="rect">
            <a:avLst/>
          </a:prstGeom>
          <a:noFill/>
          <a:ln w="9525">
            <a:noFill/>
            <a:miter lim="800000"/>
            <a:headEnd/>
            <a:tailEnd/>
          </a:ln>
        </p:spPr>
        <p:txBody>
          <a:bodyPr>
            <a:spAutoFit/>
          </a:bodyPr>
          <a:lstStyle/>
          <a:p>
            <a:r>
              <a:rPr lang="en-US" sz="2800"/>
              <a:t>SDMX</a:t>
            </a:r>
          </a:p>
        </p:txBody>
      </p:sp>
      <p:sp>
        <p:nvSpPr>
          <p:cNvPr id="11" name="Rounded Rectangle 10"/>
          <p:cNvSpPr/>
          <p:nvPr/>
        </p:nvSpPr>
        <p:spPr>
          <a:xfrm>
            <a:off x="2794000" y="4156075"/>
            <a:ext cx="2874963" cy="1482725"/>
          </a:xfrm>
          <a:prstGeom prst="roundRect">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0731" name="TextBox 7"/>
          <p:cNvSpPr txBox="1">
            <a:spLocks noChangeArrowheads="1"/>
          </p:cNvSpPr>
          <p:nvPr/>
        </p:nvSpPr>
        <p:spPr bwMode="auto">
          <a:xfrm>
            <a:off x="3368675" y="4643438"/>
            <a:ext cx="1762125" cy="522287"/>
          </a:xfrm>
          <a:prstGeom prst="rect">
            <a:avLst/>
          </a:prstGeom>
          <a:noFill/>
          <a:ln w="9525">
            <a:noFill/>
            <a:miter lim="800000"/>
            <a:headEnd/>
            <a:tailEnd/>
          </a:ln>
        </p:spPr>
        <p:txBody>
          <a:bodyPr>
            <a:spAutoFit/>
          </a:bodyPr>
          <a:lstStyle/>
          <a:p>
            <a:r>
              <a:rPr lang="en-US" sz="2800"/>
              <a:t>DataCite</a:t>
            </a:r>
          </a:p>
        </p:txBody>
      </p:sp>
    </p:spTree>
  </p:cSld>
  <p:clrMapOvr>
    <a:masterClrMapping/>
  </p:clrMapOvr>
  <p:transition>
    <p:cut thruBlk="1"/>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31747" name="Picture 6" descr="CISER_PP_2 10x7.5.jpg"/>
          <p:cNvPicPr>
            <a:picLocks noChangeAspect="1"/>
          </p:cNvPicPr>
          <p:nvPr/>
        </p:nvPicPr>
        <p:blipFill>
          <a:blip r:embed="rId2"/>
          <a:srcRect/>
          <a:stretch>
            <a:fillRect/>
          </a:stretch>
        </p:blipFill>
        <p:spPr bwMode="auto">
          <a:xfrm>
            <a:off x="0" y="11113"/>
            <a:ext cx="9144000" cy="6858000"/>
          </a:xfrm>
          <a:prstGeom prst="rect">
            <a:avLst/>
          </a:prstGeom>
          <a:noFill/>
          <a:ln w="9525">
            <a:noFill/>
            <a:miter lim="800000"/>
            <a:headEnd/>
            <a:tailEnd/>
          </a:ln>
        </p:spPr>
      </p:pic>
      <p:sp>
        <p:nvSpPr>
          <p:cNvPr id="31748" name="TextBox 1"/>
          <p:cNvSpPr txBox="1">
            <a:spLocks noChangeArrowheads="1"/>
          </p:cNvSpPr>
          <p:nvPr/>
        </p:nvSpPr>
        <p:spPr bwMode="auto">
          <a:xfrm>
            <a:off x="461963" y="1173163"/>
            <a:ext cx="7996237" cy="400050"/>
          </a:xfrm>
          <a:prstGeom prst="rect">
            <a:avLst/>
          </a:prstGeom>
          <a:noFill/>
          <a:ln w="9525">
            <a:noFill/>
            <a:miter lim="800000"/>
            <a:headEnd/>
            <a:tailEnd/>
          </a:ln>
        </p:spPr>
        <p:txBody>
          <a:bodyPr>
            <a:spAutoFit/>
          </a:bodyPr>
          <a:lstStyle/>
          <a:p>
            <a:r>
              <a:rPr lang="en-US" sz="2000" b="1"/>
              <a:t>From draft functional requirements for CCBMR of Nov. 14, 2011</a:t>
            </a:r>
          </a:p>
        </p:txBody>
      </p:sp>
      <p:sp>
        <p:nvSpPr>
          <p:cNvPr id="31749" name="TextBox 3"/>
          <p:cNvSpPr txBox="1">
            <a:spLocks noChangeArrowheads="1"/>
          </p:cNvSpPr>
          <p:nvPr/>
        </p:nvSpPr>
        <p:spPr bwMode="auto">
          <a:xfrm>
            <a:off x="461963" y="1976438"/>
            <a:ext cx="7996237" cy="4340225"/>
          </a:xfrm>
          <a:prstGeom prst="rect">
            <a:avLst/>
          </a:prstGeom>
          <a:noFill/>
          <a:ln w="9525">
            <a:noFill/>
            <a:miter lim="800000"/>
            <a:headEnd/>
            <a:tailEnd/>
          </a:ln>
        </p:spPr>
        <p:txBody>
          <a:bodyPr>
            <a:spAutoFit/>
          </a:bodyPr>
          <a:lstStyle/>
          <a:p>
            <a:r>
              <a:rPr lang="en-US" sz="1200"/>
              <a:t>….</a:t>
            </a:r>
          </a:p>
          <a:p>
            <a:r>
              <a:rPr lang="en-US" sz="1200"/>
              <a:t>3.	Searching and navigating</a:t>
            </a:r>
          </a:p>
          <a:p>
            <a:r>
              <a:rPr lang="en-US" sz="1200"/>
              <a:t>3.1.	Nested Boolean searching (i.e.: (A OR B) AND (X OR Y OR Z))</a:t>
            </a:r>
          </a:p>
          <a:p>
            <a:r>
              <a:rPr lang="en-US" sz="1200"/>
              <a:t>3.2.	Explicit truncation</a:t>
            </a:r>
          </a:p>
          <a:p>
            <a:r>
              <a:rPr lang="en-US" sz="1200"/>
              <a:t>3.3.	Case-sensitivity option </a:t>
            </a:r>
          </a:p>
          <a:p>
            <a:r>
              <a:rPr lang="en-US" sz="1200"/>
              <a:t>3.4.	Date-range searching</a:t>
            </a:r>
          </a:p>
          <a:p>
            <a:r>
              <a:rPr lang="en-US" sz="1200"/>
              <a:t>3.5.	Choice which field(s) to search, e.g., title, description/abstract, variable-level elements</a:t>
            </a:r>
          </a:p>
          <a:p>
            <a:r>
              <a:rPr lang="en-US" sz="1200"/>
              <a:t>3.6.	Browsing by … to-be-determined fields/elements</a:t>
            </a:r>
          </a:p>
          <a:p>
            <a:r>
              <a:rPr lang="en-US" sz="1200"/>
              <a:t>3.7.	Searching by values from summary statistics  in metadata?</a:t>
            </a:r>
          </a:p>
          <a:p>
            <a:r>
              <a:rPr lang="en-US" sz="1200"/>
              <a:t>4.	Metadata export and transformation</a:t>
            </a:r>
          </a:p>
          <a:p>
            <a:r>
              <a:rPr lang="en-US" sz="1200"/>
              <a:t>4.1.	Between RDC-internal and external version, generate elements/fields and their contents based on the (to be) developed suppression method (page 6 of proposal – “Disclosability” example)</a:t>
            </a:r>
          </a:p>
          <a:p>
            <a:r>
              <a:rPr lang="en-US" sz="1200"/>
              <a:t>4.2.	In a format that will allow fairly easy creation of syntax/command files for statistical packages – DDI?</a:t>
            </a:r>
          </a:p>
          <a:p>
            <a:r>
              <a:rPr lang="en-US" sz="1200"/>
              <a:t>5.	Metadata import and transformation</a:t>
            </a:r>
          </a:p>
          <a:p>
            <a:r>
              <a:rPr lang="en-US" sz="1200"/>
              <a:t>5.1.	Ingest DDI 3.x metadata generated by tools such as Stat/Transfer from datasets housed in RDC that are selected for project</a:t>
            </a:r>
          </a:p>
          <a:p>
            <a:r>
              <a:rPr lang="en-US" sz="1200"/>
              <a:t>5.2.	Transform ingested metadata into schema (to be) developed for project, e.g., rename and/or drop fields/elements</a:t>
            </a:r>
          </a:p>
          <a:p>
            <a:r>
              <a:rPr lang="en-US" sz="1200"/>
              <a:t>5.3.	Import metadata from/for PUFs, e.g. from IPUMS – method TBD</a:t>
            </a:r>
          </a:p>
          <a:p>
            <a:r>
              <a:rPr lang="en-US" sz="1200"/>
              <a:t>6.	Metadata editing</a:t>
            </a:r>
          </a:p>
          <a:p>
            <a:r>
              <a:rPr lang="en-US" sz="1200"/>
              <a:t>6.1.	Web-based front end for adding and editing metadata elements</a:t>
            </a:r>
          </a:p>
          <a:p>
            <a:r>
              <a:rPr lang="en-US" sz="1200"/>
              <a:t>7.	Persistent identifiers</a:t>
            </a:r>
          </a:p>
          <a:p>
            <a:r>
              <a:rPr lang="en-US" sz="1200"/>
              <a:t>7.1.	Use DOIs?  Needs further consideration.</a:t>
            </a:r>
          </a:p>
          <a:p>
            <a:endParaRPr lang="en-US" sz="1200"/>
          </a:p>
        </p:txBody>
      </p:sp>
    </p:spTree>
  </p:cSld>
  <p:clrMapOvr>
    <a:masterClrMapping/>
  </p:clrMapOvr>
  <p:transition>
    <p:cut thruBlk="1"/>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32771"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2772" name="TextBox 1"/>
          <p:cNvSpPr txBox="1">
            <a:spLocks noChangeArrowheads="1"/>
          </p:cNvSpPr>
          <p:nvPr/>
        </p:nvSpPr>
        <p:spPr bwMode="auto">
          <a:xfrm>
            <a:off x="534988" y="1330325"/>
            <a:ext cx="7923212" cy="461963"/>
          </a:xfrm>
          <a:prstGeom prst="rect">
            <a:avLst/>
          </a:prstGeom>
          <a:noFill/>
          <a:ln w="9525">
            <a:noFill/>
            <a:miter lim="800000"/>
            <a:headEnd/>
            <a:tailEnd/>
          </a:ln>
        </p:spPr>
        <p:txBody>
          <a:bodyPr>
            <a:spAutoFit/>
          </a:bodyPr>
          <a:lstStyle/>
          <a:p>
            <a:r>
              <a:rPr lang="en-US" sz="2400"/>
              <a:t>CCBMR: planned features</a:t>
            </a:r>
          </a:p>
        </p:txBody>
      </p:sp>
      <p:sp>
        <p:nvSpPr>
          <p:cNvPr id="32773" name="TextBox 3"/>
          <p:cNvSpPr txBox="1">
            <a:spLocks noChangeArrowheads="1"/>
          </p:cNvSpPr>
          <p:nvPr/>
        </p:nvSpPr>
        <p:spPr bwMode="auto">
          <a:xfrm>
            <a:off x="600075" y="2022475"/>
            <a:ext cx="8156575" cy="1754188"/>
          </a:xfrm>
          <a:prstGeom prst="rect">
            <a:avLst/>
          </a:prstGeom>
          <a:noFill/>
          <a:ln w="9525">
            <a:noFill/>
            <a:miter lim="800000"/>
            <a:headEnd/>
            <a:tailEnd/>
          </a:ln>
        </p:spPr>
        <p:txBody>
          <a:bodyPr>
            <a:spAutoFit/>
          </a:bodyPr>
          <a:lstStyle/>
          <a:p>
            <a:pPr marL="285750" indent="-285750">
              <a:buFont typeface="Arial" charset="0"/>
              <a:buChar char="•"/>
            </a:pPr>
            <a:r>
              <a:rPr lang="en-US"/>
              <a:t>Nested Boolean searching, for instance:</a:t>
            </a:r>
            <a:br>
              <a:rPr lang="en-US"/>
            </a:br>
            <a:r>
              <a:rPr lang="en-US"/>
              <a:t>(Literacy OR Dropout rates) AND (Employee turnover OR Employee retention) AND (Number of employees)</a:t>
            </a:r>
          </a:p>
          <a:p>
            <a:pPr marL="285750" indent="-285750">
              <a:buFont typeface="Arial" charset="0"/>
              <a:buChar char="•"/>
            </a:pPr>
            <a:endParaRPr lang="en-US"/>
          </a:p>
          <a:p>
            <a:pPr marL="285750" indent="-285750">
              <a:buFont typeface="Arial" charset="0"/>
              <a:buChar char="•"/>
            </a:pPr>
            <a:r>
              <a:rPr lang="en-US"/>
              <a:t>Harnessing collective knowledge: incorporating social media (“data wikis”)</a:t>
            </a:r>
          </a:p>
          <a:p>
            <a:pPr marL="285750" indent="-285750">
              <a:buFont typeface="Arial" charset="0"/>
              <a:buChar char="•"/>
            </a:pPr>
            <a:endParaRPr lang="en-US"/>
          </a:p>
        </p:txBody>
      </p:sp>
    </p:spTree>
  </p:cSld>
  <p:clrMapOvr>
    <a:masterClrMapping/>
  </p:clrMapOvr>
  <p:transition>
    <p:cut thruBlk="1"/>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33795"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3796" name="TextBox 1"/>
          <p:cNvSpPr txBox="1">
            <a:spLocks noChangeArrowheads="1"/>
          </p:cNvSpPr>
          <p:nvPr/>
        </p:nvSpPr>
        <p:spPr bwMode="auto">
          <a:xfrm>
            <a:off x="534988" y="1330325"/>
            <a:ext cx="7923212" cy="708025"/>
          </a:xfrm>
          <a:prstGeom prst="rect">
            <a:avLst/>
          </a:prstGeom>
          <a:noFill/>
          <a:ln w="9525">
            <a:noFill/>
            <a:miter lim="800000"/>
            <a:headEnd/>
            <a:tailEnd/>
          </a:ln>
        </p:spPr>
        <p:txBody>
          <a:bodyPr>
            <a:spAutoFit/>
          </a:bodyPr>
          <a:lstStyle/>
          <a:p>
            <a:r>
              <a:rPr lang="en-US" sz="4000"/>
              <a:t>Initial CCBMR Datasets</a:t>
            </a:r>
          </a:p>
        </p:txBody>
      </p:sp>
      <p:sp>
        <p:nvSpPr>
          <p:cNvPr id="33797" name="TextBox 3"/>
          <p:cNvSpPr txBox="1">
            <a:spLocks noChangeArrowheads="1"/>
          </p:cNvSpPr>
          <p:nvPr/>
        </p:nvSpPr>
        <p:spPr bwMode="auto">
          <a:xfrm>
            <a:off x="600075" y="2022475"/>
            <a:ext cx="8156575" cy="3048000"/>
          </a:xfrm>
          <a:prstGeom prst="rect">
            <a:avLst/>
          </a:prstGeom>
          <a:noFill/>
          <a:ln w="9525">
            <a:noFill/>
            <a:miter lim="800000"/>
            <a:headEnd/>
            <a:tailEnd/>
          </a:ln>
        </p:spPr>
        <p:txBody>
          <a:bodyPr>
            <a:spAutoFit/>
          </a:bodyPr>
          <a:lstStyle/>
          <a:p>
            <a:pPr marL="342900" indent="-342900">
              <a:buClr>
                <a:schemeClr val="tx1"/>
              </a:buClr>
              <a:buFont typeface="Arial" charset="0"/>
              <a:buChar char="•"/>
            </a:pPr>
            <a:endParaRPr lang="en-US" sz="2400"/>
          </a:p>
          <a:p>
            <a:pPr marL="342900" indent="-342900">
              <a:buClr>
                <a:schemeClr val="tx1"/>
              </a:buClr>
              <a:buFont typeface="Arial" charset="0"/>
              <a:buChar char="•"/>
            </a:pPr>
            <a:r>
              <a:rPr lang="en-US" sz="2400"/>
              <a:t>Longitudinal Business Database (LBD)</a:t>
            </a:r>
          </a:p>
          <a:p>
            <a:pPr marL="342900" indent="-342900">
              <a:buClr>
                <a:schemeClr val="tx1"/>
              </a:buClr>
              <a:buFont typeface="Arial" charset="0"/>
              <a:buChar char="•"/>
            </a:pPr>
            <a:endParaRPr lang="en-US" sz="2400"/>
          </a:p>
          <a:p>
            <a:pPr marL="342900" indent="-342900">
              <a:buClr>
                <a:schemeClr val="tx1"/>
              </a:buClr>
              <a:buFont typeface="Arial" charset="0"/>
              <a:buChar char="•"/>
            </a:pPr>
            <a:r>
              <a:rPr lang="en-US" sz="2400"/>
              <a:t>American Community Survey (ACS)</a:t>
            </a:r>
          </a:p>
          <a:p>
            <a:pPr marL="342900" indent="-342900">
              <a:buClr>
                <a:schemeClr val="tx1"/>
              </a:buClr>
              <a:buFont typeface="Arial" charset="0"/>
              <a:buChar char="•"/>
            </a:pPr>
            <a:endParaRPr lang="en-US" sz="2400"/>
          </a:p>
          <a:p>
            <a:pPr marL="342900" indent="-342900">
              <a:buClr>
                <a:schemeClr val="tx1"/>
              </a:buClr>
              <a:buFont typeface="Arial" charset="0"/>
              <a:buChar char="•"/>
            </a:pPr>
            <a:r>
              <a:rPr lang="en-US" sz="2400"/>
              <a:t>American Housing Survey (AHS)</a:t>
            </a:r>
          </a:p>
          <a:p>
            <a:pPr marL="342900" indent="-342900">
              <a:buClr>
                <a:schemeClr val="tx1"/>
              </a:buClr>
              <a:buFont typeface="Arial" charset="0"/>
              <a:buChar char="•"/>
            </a:pPr>
            <a:endParaRPr lang="en-US" sz="2400"/>
          </a:p>
          <a:p>
            <a:pPr marL="342900" indent="-342900">
              <a:buClr>
                <a:schemeClr val="tx1"/>
              </a:buClr>
              <a:buFont typeface="Arial" charset="0"/>
              <a:buChar char="•"/>
            </a:pPr>
            <a:r>
              <a:rPr lang="en-US" sz="2400"/>
              <a:t>Longitudinal Employer-Household Dynamics (LEHD)</a:t>
            </a:r>
          </a:p>
        </p:txBody>
      </p:sp>
    </p:spTree>
  </p:cSld>
  <p:clrMapOvr>
    <a:masterClrMapping/>
  </p:clrMapOvr>
  <p:transition>
    <p:cut thruBlk="1"/>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34819"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4820" name="Rectangle 1"/>
          <p:cNvSpPr>
            <a:spLocks noChangeArrowheads="1"/>
          </p:cNvSpPr>
          <p:nvPr/>
        </p:nvSpPr>
        <p:spPr bwMode="auto">
          <a:xfrm>
            <a:off x="685800" y="1123950"/>
            <a:ext cx="6472238" cy="461963"/>
          </a:xfrm>
          <a:prstGeom prst="rect">
            <a:avLst/>
          </a:prstGeom>
          <a:noFill/>
          <a:ln w="9525">
            <a:noFill/>
            <a:miter lim="800000"/>
            <a:headEnd/>
            <a:tailEnd/>
          </a:ln>
        </p:spPr>
        <p:txBody>
          <a:bodyPr>
            <a:spAutoFit/>
          </a:bodyPr>
          <a:lstStyle/>
          <a:p>
            <a:r>
              <a:rPr lang="en-US" sz="2400"/>
              <a:t>First draft of an enterprise application diagram</a:t>
            </a:r>
          </a:p>
        </p:txBody>
      </p:sp>
      <p:sp>
        <p:nvSpPr>
          <p:cNvPr id="34821" name="AutoShape 2" descr="https://confluence.cornell.edu/download/attachments/161666944/CCBMR.png?version=1&amp;modificationDate=1322061248000"/>
          <p:cNvSpPr>
            <a:spLocks noChangeAspect="1" noChangeArrowheads="1"/>
          </p:cNvSpPr>
          <p:nvPr/>
        </p:nvSpPr>
        <p:spPr bwMode="auto">
          <a:xfrm>
            <a:off x="155575" y="-144463"/>
            <a:ext cx="304800" cy="304801"/>
          </a:xfrm>
          <a:prstGeom prst="rect">
            <a:avLst/>
          </a:prstGeom>
          <a:noFill/>
          <a:ln w="9525">
            <a:noFill/>
            <a:miter lim="800000"/>
            <a:headEnd/>
            <a:tailEnd/>
          </a:ln>
        </p:spPr>
        <p:txBody>
          <a:bodyPr/>
          <a:lstStyle/>
          <a:p>
            <a:endParaRPr lang="sv-SE"/>
          </a:p>
        </p:txBody>
      </p:sp>
      <p:pic>
        <p:nvPicPr>
          <p:cNvPr id="34822" name="Picture 3"/>
          <p:cNvPicPr>
            <a:picLocks noChangeAspect="1" noChangeArrowheads="1"/>
          </p:cNvPicPr>
          <p:nvPr/>
        </p:nvPicPr>
        <p:blipFill>
          <a:blip r:embed="rId3"/>
          <a:srcRect/>
          <a:stretch>
            <a:fillRect/>
          </a:stretch>
        </p:blipFill>
        <p:spPr bwMode="auto">
          <a:xfrm>
            <a:off x="1203325" y="1585913"/>
            <a:ext cx="6345238" cy="4903787"/>
          </a:xfrm>
          <a:prstGeom prst="rect">
            <a:avLst/>
          </a:prstGeom>
          <a:noFill/>
          <a:ln w="9525">
            <a:noFill/>
            <a:miter lim="800000"/>
            <a:headEnd/>
            <a:tailEnd/>
          </a:ln>
        </p:spPr>
      </p:pic>
    </p:spTree>
  </p:cSld>
  <p:clrMapOvr>
    <a:masterClrMapping/>
  </p:clrMapOvr>
  <p:transition>
    <p:cut thruBlk="1"/>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35843"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5844" name="TextBox 1"/>
          <p:cNvSpPr txBox="1">
            <a:spLocks noChangeArrowheads="1"/>
          </p:cNvSpPr>
          <p:nvPr/>
        </p:nvSpPr>
        <p:spPr bwMode="auto">
          <a:xfrm>
            <a:off x="685800" y="1350963"/>
            <a:ext cx="7666038" cy="461962"/>
          </a:xfrm>
          <a:prstGeom prst="rect">
            <a:avLst/>
          </a:prstGeom>
          <a:noFill/>
          <a:ln w="9525">
            <a:noFill/>
            <a:miter lim="800000"/>
            <a:headEnd/>
            <a:tailEnd/>
          </a:ln>
        </p:spPr>
        <p:txBody>
          <a:bodyPr>
            <a:spAutoFit/>
          </a:bodyPr>
          <a:lstStyle/>
          <a:p>
            <a:r>
              <a:rPr lang="en-US" sz="2400"/>
              <a:t>Project Collaborators</a:t>
            </a:r>
          </a:p>
        </p:txBody>
      </p:sp>
      <p:sp>
        <p:nvSpPr>
          <p:cNvPr id="35845" name="TextBox 3"/>
          <p:cNvSpPr txBox="1">
            <a:spLocks noChangeArrowheads="1"/>
          </p:cNvSpPr>
          <p:nvPr/>
        </p:nvSpPr>
        <p:spPr bwMode="auto">
          <a:xfrm>
            <a:off x="792163" y="2346325"/>
            <a:ext cx="4846637" cy="3662363"/>
          </a:xfrm>
          <a:prstGeom prst="rect">
            <a:avLst/>
          </a:prstGeom>
          <a:noFill/>
          <a:ln w="9525">
            <a:noFill/>
            <a:miter lim="800000"/>
            <a:headEnd/>
            <a:tailEnd/>
          </a:ln>
        </p:spPr>
        <p:txBody>
          <a:bodyPr>
            <a:spAutoFit/>
          </a:bodyPr>
          <a:lstStyle/>
          <a:p>
            <a:r>
              <a:rPr lang="en-US"/>
              <a:t>Pascal Heus – Metadata Technology</a:t>
            </a:r>
            <a:br>
              <a:rPr lang="en-US"/>
            </a:br>
            <a:endParaRPr lang="en-US"/>
          </a:p>
          <a:p>
            <a:r>
              <a:rPr lang="en-US"/>
              <a:t>Jeremy Iverson – Colectica</a:t>
            </a:r>
          </a:p>
          <a:p>
            <a:endParaRPr lang="en-US"/>
          </a:p>
          <a:p>
            <a:r>
              <a:rPr lang="en-US"/>
              <a:t>Ingo Barkow – German Institute for Educational Research (DIPF)</a:t>
            </a:r>
          </a:p>
          <a:p>
            <a:endParaRPr lang="en-US"/>
          </a:p>
          <a:p>
            <a:r>
              <a:rPr lang="en-US"/>
              <a:t>David Schiller - Research Data Center (FDZ) of the German Federal Employment Agency (BA) at the Institute for Employment Research (IAB)</a:t>
            </a:r>
          </a:p>
          <a:p>
            <a:endParaRPr lang="en-US"/>
          </a:p>
          <a:p>
            <a:r>
              <a:rPr lang="en-US"/>
              <a:t>Chuck Humphrey – University of Alberta; Canadian RDC Network</a:t>
            </a:r>
          </a:p>
        </p:txBody>
      </p:sp>
      <p:pic>
        <p:nvPicPr>
          <p:cNvPr id="35846" name="Picture 2" descr="Metadata Technology"/>
          <p:cNvPicPr>
            <a:picLocks noChangeAspect="1" noChangeArrowheads="1"/>
          </p:cNvPicPr>
          <p:nvPr/>
        </p:nvPicPr>
        <p:blipFill>
          <a:blip r:embed="rId3"/>
          <a:srcRect/>
          <a:stretch>
            <a:fillRect/>
          </a:stretch>
        </p:blipFill>
        <p:spPr bwMode="auto">
          <a:xfrm>
            <a:off x="6288088" y="1084263"/>
            <a:ext cx="1990725" cy="752475"/>
          </a:xfrm>
          <a:prstGeom prst="rect">
            <a:avLst/>
          </a:prstGeom>
          <a:noFill/>
          <a:ln w="9525">
            <a:noFill/>
            <a:miter lim="800000"/>
            <a:headEnd/>
            <a:tailEnd/>
          </a:ln>
        </p:spPr>
      </p:pic>
      <p:pic>
        <p:nvPicPr>
          <p:cNvPr id="35848" name="Picture 6" descr="Logo Deutsches Institut für Internationale Paedagogische Forschung"/>
          <p:cNvPicPr>
            <a:picLocks noChangeAspect="1" noChangeArrowheads="1"/>
          </p:cNvPicPr>
          <p:nvPr/>
        </p:nvPicPr>
        <p:blipFill>
          <a:blip r:embed="rId4"/>
          <a:srcRect/>
          <a:stretch>
            <a:fillRect/>
          </a:stretch>
        </p:blipFill>
        <p:spPr bwMode="auto">
          <a:xfrm>
            <a:off x="5665788" y="2894013"/>
            <a:ext cx="2719387" cy="788987"/>
          </a:xfrm>
          <a:prstGeom prst="rect">
            <a:avLst/>
          </a:prstGeom>
          <a:noFill/>
          <a:ln w="9525">
            <a:noFill/>
            <a:miter lim="800000"/>
            <a:headEnd/>
            <a:tailEnd/>
          </a:ln>
        </p:spPr>
      </p:pic>
      <p:pic>
        <p:nvPicPr>
          <p:cNvPr id="35849" name="Picture 7"/>
          <p:cNvPicPr>
            <a:picLocks noChangeAspect="1" noChangeArrowheads="1"/>
          </p:cNvPicPr>
          <p:nvPr/>
        </p:nvPicPr>
        <p:blipFill>
          <a:blip r:embed="rId5"/>
          <a:srcRect/>
          <a:stretch>
            <a:fillRect/>
          </a:stretch>
        </p:blipFill>
        <p:spPr bwMode="auto">
          <a:xfrm>
            <a:off x="5867400" y="4054475"/>
            <a:ext cx="2543175" cy="1171575"/>
          </a:xfrm>
          <a:prstGeom prst="rect">
            <a:avLst/>
          </a:prstGeom>
          <a:noFill/>
          <a:ln w="9525">
            <a:noFill/>
            <a:miter lim="800000"/>
            <a:headEnd/>
            <a:tailEnd/>
          </a:ln>
        </p:spPr>
      </p:pic>
      <p:pic>
        <p:nvPicPr>
          <p:cNvPr id="35850" name="Picture 8"/>
          <p:cNvPicPr>
            <a:picLocks noChangeAspect="1" noChangeArrowheads="1"/>
          </p:cNvPicPr>
          <p:nvPr/>
        </p:nvPicPr>
        <p:blipFill>
          <a:blip r:embed="rId6"/>
          <a:srcRect/>
          <a:stretch>
            <a:fillRect/>
          </a:stretch>
        </p:blipFill>
        <p:spPr bwMode="auto">
          <a:xfrm>
            <a:off x="6194425" y="5570538"/>
            <a:ext cx="2190750" cy="723900"/>
          </a:xfrm>
          <a:prstGeom prst="rect">
            <a:avLst/>
          </a:prstGeom>
          <a:noFill/>
          <a:ln w="9525">
            <a:noFill/>
            <a:miter lim="800000"/>
            <a:headEnd/>
            <a:tailEnd/>
          </a:ln>
        </p:spPr>
      </p:pic>
      <p:pic>
        <p:nvPicPr>
          <p:cNvPr id="35852" name="Picture 12" descr="Home">
            <a:hlinkClick r:id="rId7" tooltip="Home"/>
          </p:cNvPr>
          <p:cNvPicPr>
            <a:picLocks noChangeAspect="1" noChangeArrowheads="1"/>
          </p:cNvPicPr>
          <p:nvPr/>
        </p:nvPicPr>
        <p:blipFill>
          <a:blip r:embed="rId8"/>
          <a:srcRect/>
          <a:stretch>
            <a:fillRect/>
          </a:stretch>
        </p:blipFill>
        <p:spPr bwMode="auto">
          <a:xfrm>
            <a:off x="5241925" y="1989138"/>
            <a:ext cx="3478213" cy="809625"/>
          </a:xfrm>
          <a:prstGeom prst="rect">
            <a:avLst/>
          </a:prstGeom>
          <a:noFill/>
        </p:spPr>
      </p:pic>
    </p:spTree>
  </p:cSld>
  <p:clrMapOvr>
    <a:masterClrMapping/>
  </p:clrMapOvr>
  <p:transition>
    <p:cut thruBlk="1"/>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ctrTitle"/>
          </p:nvPr>
        </p:nvSpPr>
        <p:spPr/>
        <p:txBody>
          <a:bodyPr/>
          <a:lstStyle/>
          <a:p>
            <a:endParaRPr lang="sv-SE" smtClean="0"/>
          </a:p>
        </p:txBody>
      </p:sp>
      <p:sp>
        <p:nvSpPr>
          <p:cNvPr id="3" name="Subtitle 2"/>
          <p:cNvSpPr>
            <a:spLocks noGrp="1"/>
          </p:cNvSpPr>
          <p:nvPr>
            <p:ph type="subTitle" idx="1"/>
          </p:nvPr>
        </p:nvSpPr>
        <p:spPr/>
        <p:txBody>
          <a:bodyPr rtlCol="0">
            <a:normAutofit/>
          </a:bodyPr>
          <a:lstStyle/>
          <a:p>
            <a:pPr fontAlgn="auto">
              <a:spcAft>
                <a:spcPts val="0"/>
              </a:spcAft>
              <a:buFont typeface="Arial"/>
              <a:buNone/>
              <a:defRPr/>
            </a:pPr>
            <a:endParaRPr lang="en-US" dirty="0"/>
          </a:p>
        </p:txBody>
      </p:sp>
      <p:pic>
        <p:nvPicPr>
          <p:cNvPr id="36867" name="Picture 6" descr="CISER_PP_2 10x7.5.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6868" name="TextBox 1"/>
          <p:cNvSpPr txBox="1">
            <a:spLocks noChangeArrowheads="1"/>
          </p:cNvSpPr>
          <p:nvPr/>
        </p:nvSpPr>
        <p:spPr bwMode="auto">
          <a:xfrm>
            <a:off x="1371600" y="1671638"/>
            <a:ext cx="6216650" cy="3970337"/>
          </a:xfrm>
          <a:prstGeom prst="rect">
            <a:avLst/>
          </a:prstGeom>
          <a:noFill/>
          <a:ln w="9525">
            <a:noFill/>
            <a:miter lim="800000"/>
            <a:headEnd/>
            <a:tailEnd/>
          </a:ln>
        </p:spPr>
        <p:txBody>
          <a:bodyPr>
            <a:spAutoFit/>
          </a:bodyPr>
          <a:lstStyle/>
          <a:p>
            <a:pPr algn="ctr"/>
            <a:r>
              <a:rPr lang="en-US" sz="3600"/>
              <a:t>Thank you!</a:t>
            </a:r>
          </a:p>
          <a:p>
            <a:pPr algn="ctr"/>
            <a:endParaRPr lang="en-US" sz="3600"/>
          </a:p>
          <a:p>
            <a:pPr algn="ctr"/>
            <a:r>
              <a:rPr lang="en-US" sz="3600"/>
              <a:t>Questions?  Comments?</a:t>
            </a:r>
          </a:p>
          <a:p>
            <a:pPr algn="ctr"/>
            <a:endParaRPr lang="en-US" sz="3600"/>
          </a:p>
          <a:p>
            <a:pPr algn="ctr"/>
            <a:r>
              <a:rPr lang="en-US" sz="3600"/>
              <a:t>William Block </a:t>
            </a:r>
          </a:p>
          <a:p>
            <a:pPr algn="ctr"/>
            <a:r>
              <a:rPr lang="en-US" sz="3600">
                <a:hlinkClick r:id="rId3"/>
              </a:rPr>
              <a:t>block@cornell.edu</a:t>
            </a:r>
            <a:endParaRPr lang="en-US" sz="3600"/>
          </a:p>
          <a:p>
            <a:pPr algn="ctr"/>
            <a:endParaRPr lang="en-US" sz="3600"/>
          </a:p>
        </p:txBody>
      </p:sp>
    </p:spTree>
  </p:cSld>
  <p:clrMapOvr>
    <a:masterClrMapping/>
  </p:clrMapOvr>
  <p:transition>
    <p:cut thruBlk="1"/>
  </p:transition>
  <p:timing>
    <p:tnLst>
      <p:par>
        <p:cTn id="1" dur="indefinite" restart="never" nodeType="tmRoot"/>
      </p:par>
    </p:tnLst>
  </p:timing>
</p:sld>
</file>

<file path=ppt/theme/theme1.xml><?xml version="1.0" encoding="utf-8"?>
<a:theme xmlns:a="http://schemas.openxmlformats.org/drawingml/2006/main" name="EDDI 2010 - DagstuhlRepor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EDDI 2010 - DagstuhlReport</Template>
  <TotalTime>1454</TotalTime>
  <Words>1200</Words>
  <Application>Microsoft Macintosh PowerPoint</Application>
  <PresentationFormat>Bildspel på skärmen (4:3)</PresentationFormat>
  <Paragraphs>198</Paragraphs>
  <Slides>23</Slides>
  <Notes>0</Notes>
  <HiddenSlides>0</HiddenSlides>
  <MMClips>0</MMClips>
  <ScaleCrop>false</ScaleCrop>
  <HeadingPairs>
    <vt:vector size="6" baseType="variant">
      <vt:variant>
        <vt:lpstr>Använt teckensnitt</vt:lpstr>
      </vt:variant>
      <vt:variant>
        <vt:i4>8</vt:i4>
      </vt:variant>
      <vt:variant>
        <vt:lpstr>Formgivningsmall</vt:lpstr>
      </vt:variant>
      <vt:variant>
        <vt:i4>1</vt:i4>
      </vt:variant>
      <vt:variant>
        <vt:lpstr>Bildrubriker</vt:lpstr>
      </vt:variant>
      <vt:variant>
        <vt:i4>23</vt:i4>
      </vt:variant>
    </vt:vector>
  </HeadingPairs>
  <TitlesOfParts>
    <vt:vector size="32" baseType="lpstr">
      <vt:lpstr>Calibri</vt:lpstr>
      <vt:lpstr>Arial</vt:lpstr>
      <vt:lpstr>Wingdings</vt:lpstr>
      <vt:lpstr>Trebuchet MS</vt:lpstr>
      <vt:lpstr>Arial Black</vt:lpstr>
      <vt:lpstr>Stone Sans</vt:lpstr>
      <vt:lpstr>Helvetica</vt:lpstr>
      <vt:lpstr>Times New Roman</vt:lpstr>
      <vt:lpstr>EDDI 2010 - DagstuhlReport</vt:lpstr>
      <vt:lpstr>Bild 1</vt:lpstr>
      <vt:lpstr>Bild 2</vt:lpstr>
      <vt:lpstr>Bild 3</vt:lpstr>
      <vt:lpstr>Bild 4</vt:lpstr>
      <vt:lpstr>1</vt:lpstr>
      <vt:lpstr>Bild 6</vt:lpstr>
      <vt:lpstr>Bild 7</vt:lpstr>
      <vt:lpstr>Bild 8</vt:lpstr>
      <vt:lpstr>Bild 9</vt:lpstr>
      <vt:lpstr>Bild 10</vt:lpstr>
      <vt:lpstr>Bild 11</vt:lpstr>
      <vt:lpstr>Bild 12</vt:lpstr>
      <vt:lpstr>Bild 13</vt:lpstr>
      <vt:lpstr>Bild 14</vt:lpstr>
      <vt:lpstr>Bild 15</vt:lpstr>
      <vt:lpstr>Bild 16</vt:lpstr>
      <vt:lpstr>Bild 17</vt:lpstr>
      <vt:lpstr>Bild 18</vt:lpstr>
      <vt:lpstr>Bild 19</vt:lpstr>
      <vt:lpstr>Bild 20</vt:lpstr>
      <vt:lpstr>Bild 21</vt:lpstr>
      <vt:lpstr>Bild 22</vt:lpstr>
      <vt:lpstr>Bild 23</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Stefan Kramer</dc:creator>
  <cp:lastModifiedBy>uds</cp:lastModifiedBy>
  <cp:revision>47</cp:revision>
  <dcterms:created xsi:type="dcterms:W3CDTF">2011-05-12T13:37:55Z</dcterms:created>
  <dcterms:modified xsi:type="dcterms:W3CDTF">2011-12-06T12:20:35Z</dcterms:modified>
</cp:coreProperties>
</file>