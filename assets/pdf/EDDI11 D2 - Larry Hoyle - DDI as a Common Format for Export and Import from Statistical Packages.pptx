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58"/>
  </p:notesMasterIdLst>
  <p:handoutMasterIdLst>
    <p:handoutMasterId r:id="rId59"/>
  </p:handoutMasterIdLst>
  <p:sldIdLst>
    <p:sldId id="256" r:id="rId2"/>
    <p:sldId id="281" r:id="rId3"/>
    <p:sldId id="257" r:id="rId4"/>
    <p:sldId id="322" r:id="rId5"/>
    <p:sldId id="259" r:id="rId6"/>
    <p:sldId id="318" r:id="rId7"/>
    <p:sldId id="319" r:id="rId8"/>
    <p:sldId id="284" r:id="rId9"/>
    <p:sldId id="306" r:id="rId10"/>
    <p:sldId id="307" r:id="rId11"/>
    <p:sldId id="277" r:id="rId12"/>
    <p:sldId id="278" r:id="rId13"/>
    <p:sldId id="320" r:id="rId14"/>
    <p:sldId id="260" r:id="rId15"/>
    <p:sldId id="261" r:id="rId16"/>
    <p:sldId id="262" r:id="rId17"/>
    <p:sldId id="263" r:id="rId18"/>
    <p:sldId id="279" r:id="rId19"/>
    <p:sldId id="265" r:id="rId20"/>
    <p:sldId id="270" r:id="rId21"/>
    <p:sldId id="266" r:id="rId22"/>
    <p:sldId id="272" r:id="rId23"/>
    <p:sldId id="267" r:id="rId24"/>
    <p:sldId id="289" r:id="rId25"/>
    <p:sldId id="310" r:id="rId26"/>
    <p:sldId id="301" r:id="rId27"/>
    <p:sldId id="287" r:id="rId28"/>
    <p:sldId id="290" r:id="rId29"/>
    <p:sldId id="293" r:id="rId30"/>
    <p:sldId id="291" r:id="rId31"/>
    <p:sldId id="295" r:id="rId32"/>
    <p:sldId id="275" r:id="rId33"/>
    <p:sldId id="280" r:id="rId34"/>
    <p:sldId id="285" r:id="rId35"/>
    <p:sldId id="312" r:id="rId36"/>
    <p:sldId id="313" r:id="rId37"/>
    <p:sldId id="314" r:id="rId38"/>
    <p:sldId id="315" r:id="rId39"/>
    <p:sldId id="268" r:id="rId40"/>
    <p:sldId id="296" r:id="rId41"/>
    <p:sldId id="276" r:id="rId42"/>
    <p:sldId id="303" r:id="rId43"/>
    <p:sldId id="282" r:id="rId44"/>
    <p:sldId id="283" r:id="rId45"/>
    <p:sldId id="298" r:id="rId46"/>
    <p:sldId id="299" r:id="rId47"/>
    <p:sldId id="297" r:id="rId48"/>
    <p:sldId id="321" r:id="rId49"/>
    <p:sldId id="309" r:id="rId50"/>
    <p:sldId id="316" r:id="rId51"/>
    <p:sldId id="305" r:id="rId52"/>
    <p:sldId id="294" r:id="rId53"/>
    <p:sldId id="300" r:id="rId54"/>
    <p:sldId id="288" r:id="rId55"/>
    <p:sldId id="311" r:id="rId56"/>
    <p:sldId id="323" r:id="rId5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11" autoAdjust="0"/>
  </p:normalViewPr>
  <p:slideViewPr>
    <p:cSldViewPr snapToGrid="0"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0A18A9D-0E06-4E00-83A5-58C07FC6E192}" type="datetimeFigureOut">
              <a:rPr lang="en-US" smtClean="0"/>
              <a:t>12/1/2011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B1968E-2CB8-416D-8E7D-33D24C4D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212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622EB87-FE89-4BE4-A193-6C12BF2FB6BC}" type="datetimeFigureOut">
              <a:rPr lang="en-US" smtClean="0"/>
              <a:t>12/1/2011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E9F6DDF-B0FF-4055-B8D9-7D03A15C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7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Stat/Transfer</a:t>
            </a:r>
            <a:r>
              <a:rPr lang="en-US" baseline="0" dirty="0" smtClean="0"/>
              <a:t> is software focused on moving data "Between Worksheets, Databases &amp; Statistical Packages" . DDI is a metadata structure. The intent of DDI 3.1 is to provide a structure for organizing and containing metadata across the whole data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F6DDF-B0FF-4055-B8D9-7D03A15CB7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4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  <a:gradFill>
            <a:gsLst>
              <a:gs pos="0">
                <a:schemeClr val="bg2">
                  <a:lumMod val="60000"/>
                  <a:lumOff val="40000"/>
                </a:schemeClr>
              </a:gs>
              <a:gs pos="50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</a:gradFill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22606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2F49-FFB8-49CB-95F6-E0CB17C54084}" type="datetime1">
              <a:rPr lang="en-US" smtClean="0"/>
              <a:t>12/1/2011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920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7524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838200" cy="228600"/>
          </a:xfrm>
        </p:spPr>
        <p:txBody>
          <a:bodyPr/>
          <a:lstStyle>
            <a:lvl1pPr>
              <a:defRPr sz="800"/>
            </a:lvl1pPr>
          </a:lstStyle>
          <a:p>
            <a:fld id="{B765D822-1C0C-4F80-B454-C9F5BCB7A472}" type="datetime1">
              <a:rPr lang="en-US" smtClean="0"/>
              <a:pPr/>
              <a:t>12/1/2011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21907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 smtClean="0"/>
              <a:t>EDDI 2011 Hoyle &amp; Wackerow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629400"/>
            <a:ext cx="533400" cy="228600"/>
          </a:xfrm>
        </p:spPr>
        <p:txBody>
          <a:bodyPr/>
          <a:lstStyle>
            <a:lvl1pPr>
              <a:defRPr sz="800"/>
            </a:lvl1pPr>
          </a:lstStyle>
          <a:p>
            <a:fld id="{76BADD76-14B0-453E-BEBE-929728B1F2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25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28956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6913" y="13954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10FF-85B5-4D22-A2D2-640BC2C10065}" type="datetime1">
              <a:rPr lang="en-US" smtClean="0"/>
              <a:t>12/1/2011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034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B385-CDC3-4919-A1F4-A1F1282AED2D}" type="datetime1">
              <a:rPr lang="en-US" smtClean="0"/>
              <a:t>12/1/2011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3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7036-F96D-4362-B6C0-55102CCE1EB3}" type="datetime1">
              <a:rPr lang="en-US" smtClean="0"/>
              <a:t>12/1/2011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5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8286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990600" cy="304800"/>
          </a:xfrm>
        </p:spPr>
        <p:txBody>
          <a:bodyPr/>
          <a:lstStyle>
            <a:lvl1pPr>
              <a:defRPr sz="900"/>
            </a:lvl1pPr>
          </a:lstStyle>
          <a:p>
            <a:fld id="{C98621FC-534B-4F9F-B51A-F6D393E792BB}" type="datetime1">
              <a:rPr lang="en-US" smtClean="0"/>
              <a:pPr/>
              <a:t>12/1/2011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209550"/>
          </a:xfrm>
        </p:spPr>
        <p:txBody>
          <a:bodyPr/>
          <a:lstStyle>
            <a:lvl1pPr>
              <a:defRPr sz="800"/>
            </a:lvl1pPr>
          </a:lstStyle>
          <a:p>
            <a:r>
              <a:rPr lang="en-US" dirty="0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86800" y="6553200"/>
            <a:ext cx="457200" cy="276225"/>
          </a:xfrm>
        </p:spPr>
        <p:txBody>
          <a:bodyPr/>
          <a:lstStyle>
            <a:lvl1pPr>
              <a:defRPr sz="800"/>
            </a:lvl1pPr>
          </a:lstStyle>
          <a:p>
            <a:fld id="{76BADD76-14B0-453E-BEBE-929728B1F2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0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D7C2-7D7C-4F79-800D-3451A9968846}" type="datetime1">
              <a:rPr lang="en-US" smtClean="0"/>
              <a:t>12/1/2011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1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7323-E2CA-4686-BC0B-FACA1D5F8F72}" type="datetime1">
              <a:rPr lang="en-US" smtClean="0"/>
              <a:t>12/1/2011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D39B-E924-4756-BB1A-4146037AD6F0}" type="datetime1">
              <a:rPr lang="en-US" smtClean="0"/>
              <a:t>12/1/2011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40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E0BAA-045D-4008-B612-3277C62E01E6}" type="datetime1">
              <a:rPr lang="en-US" smtClean="0"/>
              <a:t>12/1/2011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5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E6D01-A780-47C4-9B8D-03E78971DD4A}" type="datetime1">
              <a:rPr lang="en-US" smtClean="0"/>
              <a:t>12/1/2011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4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938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</a:schemeClr>
              </a:gs>
              <a:gs pos="50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29400"/>
            <a:ext cx="685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42F35-5994-4481-8507-C7BB2685348A}" type="datetime1">
              <a:rPr lang="en-US" smtClean="0"/>
              <a:pPr/>
              <a:t>12/1/2011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629400"/>
            <a:ext cx="2895600" cy="200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EDDI 2011 Hoyle &amp; Wackerow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629400"/>
            <a:ext cx="45720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ADD76-14B0-453E-BEBE-929728B1F2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77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DB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accent1">
              <a:lumMod val="40000"/>
              <a:lumOff val="6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accent1">
              <a:lumMod val="40000"/>
              <a:lumOff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accent1">
              <a:lumMod val="40000"/>
              <a:lumOff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>
              <a:lumMod val="40000"/>
              <a:lumOff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>
              <a:lumMod val="40000"/>
              <a:lumOff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transfer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tm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tattransfer.com/" TargetMode="External"/><Relationship Id="rId3" Type="http://schemas.openxmlformats.org/officeDocument/2006/relationships/hyperlink" Target="http://www.jmp.com/" TargetMode="External"/><Relationship Id="rId7" Type="http://schemas.openxmlformats.org/officeDocument/2006/relationships/hyperlink" Target="http://www.stata.com/" TargetMode="External"/><Relationship Id="rId2" Type="http://schemas.openxmlformats.org/officeDocument/2006/relationships/hyperlink" Target="http://support.sas.com/resources/papers/proceedings11/217-201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-01.ibm.com/software/analytics/spss/" TargetMode="External"/><Relationship Id="rId5" Type="http://schemas.openxmlformats.org/officeDocument/2006/relationships/hyperlink" Target="http://www.sas.com/" TargetMode="External"/><Relationship Id="rId4" Type="http://schemas.openxmlformats.org/officeDocument/2006/relationships/hyperlink" Target="http://www.r-project.org/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hoecomics.com/archives/shoe_daily/shoe_daily100211.jpg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psr.ku.edu/ksdata/DDI/" TargetMode="External"/><Relationship Id="rId2" Type="http://schemas.openxmlformats.org/officeDocument/2006/relationships/hyperlink" Target="mailto:LarryHoyle@ku.edu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2660073"/>
          </a:xfrm>
        </p:spPr>
        <p:txBody>
          <a:bodyPr>
            <a:normAutofit/>
          </a:bodyPr>
          <a:lstStyle/>
          <a:p>
            <a:r>
              <a:rPr lang="en-US" dirty="0"/>
              <a:t>DDI as a Common Format for Export and Import from Statistical Packages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400" y="2759364"/>
            <a:ext cx="8242300" cy="2536536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Larry Hoyle</a:t>
            </a:r>
          </a:p>
          <a:p>
            <a:r>
              <a:rPr lang="en-US" dirty="0" smtClean="0"/>
              <a:t>Institute for Policy &amp; Social Research, University of Kansas</a:t>
            </a:r>
          </a:p>
          <a:p>
            <a:r>
              <a:rPr lang="en-US" dirty="0" smtClean="0"/>
              <a:t>&amp;</a:t>
            </a:r>
          </a:p>
          <a:p>
            <a:r>
              <a:rPr lang="en-US" dirty="0" smtClean="0"/>
              <a:t>Joachim </a:t>
            </a:r>
            <a:r>
              <a:rPr lang="en-US" dirty="0" err="1" smtClean="0"/>
              <a:t>Wackerow</a:t>
            </a:r>
            <a:endParaRPr lang="en-US" dirty="0" smtClean="0"/>
          </a:p>
          <a:p>
            <a:r>
              <a:rPr lang="en-US" dirty="0"/>
              <a:t>GESIS - Leibniz Institute for the Social Sciences</a:t>
            </a:r>
          </a:p>
        </p:txBody>
      </p:sp>
    </p:spTree>
    <p:extLst>
      <p:ext uri="{BB962C8B-B14F-4D97-AF65-F5344CB8AC3E}">
        <p14:creationId xmlns:p14="http://schemas.microsoft.com/office/powerpoint/2010/main" val="32176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DDI - Moving Data across Space and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914400"/>
            <a:ext cx="8334375" cy="5211763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Across space – one organization to another</a:t>
            </a:r>
          </a:p>
          <a:p>
            <a:pPr lvl="1"/>
            <a:r>
              <a:rPr lang="en-US" dirty="0" smtClean="0"/>
              <a:t>Across time – via an archive</a:t>
            </a:r>
          </a:p>
          <a:p>
            <a:pPr lvl="1"/>
            <a:r>
              <a:rPr lang="en-US" dirty="0" smtClean="0"/>
              <a:t>Across software</a:t>
            </a:r>
          </a:p>
          <a:p>
            <a:pPr lvl="2"/>
            <a:r>
              <a:rPr lang="en-US" dirty="0" smtClean="0"/>
              <a:t>Different organizations use different software</a:t>
            </a:r>
          </a:p>
          <a:p>
            <a:pPr lvl="2"/>
            <a:r>
              <a:rPr lang="en-US" dirty="0" smtClean="0"/>
              <a:t>Software, and preferences for software evolve over time</a:t>
            </a:r>
          </a:p>
          <a:p>
            <a:endParaRPr lang="en-US" dirty="0"/>
          </a:p>
          <a:p>
            <a:r>
              <a:rPr lang="en-US" dirty="0" smtClean="0"/>
              <a:t>Optimize for clarity and completeness, not necessarily for speed/efficiency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67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7524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DDI 3.1 as Common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02" y="914401"/>
            <a:ext cx="8774190" cy="1316182"/>
          </a:xfrm>
        </p:spPr>
        <p:txBody>
          <a:bodyPr/>
          <a:lstStyle/>
          <a:p>
            <a:r>
              <a:rPr lang="en-US" dirty="0" err="1" smtClean="0"/>
              <a:t>Dagstuhl</a:t>
            </a:r>
            <a:r>
              <a:rPr lang="en-US" dirty="0" smtClean="0"/>
              <a:t> 2009 paper (Hoyle, </a:t>
            </a:r>
            <a:r>
              <a:rPr lang="en-US" dirty="0" err="1" smtClean="0"/>
              <a:t>Wackerow</a:t>
            </a:r>
            <a:r>
              <a:rPr lang="en-US" dirty="0" smtClean="0"/>
              <a:t> &amp; </a:t>
            </a:r>
            <a:r>
              <a:rPr lang="en-US" dirty="0" err="1" smtClean="0"/>
              <a:t>Hopt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Metadata elements in software packages and DDI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99"/>
          <a:stretch/>
        </p:blipFill>
        <p:spPr>
          <a:xfrm>
            <a:off x="219002" y="2553426"/>
            <a:ext cx="8774190" cy="2600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9975" y="5724525"/>
            <a:ext cx="5380901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Oops – </a:t>
            </a:r>
            <a:r>
              <a:rPr lang="en-US" sz="1600" dirty="0" err="1" smtClean="0">
                <a:solidFill>
                  <a:schemeClr val="bg1"/>
                </a:solidFill>
              </a:rPr>
              <a:t>Stata</a:t>
            </a:r>
            <a:r>
              <a:rPr lang="en-US" sz="1600" dirty="0" smtClean="0">
                <a:solidFill>
                  <a:schemeClr val="bg1"/>
                </a:solidFill>
              </a:rPr>
              <a:t> command can make a  characteristic on a dataset: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"Define </a:t>
            </a:r>
            <a:r>
              <a:rPr lang="en-US" sz="1600" dirty="0">
                <a:solidFill>
                  <a:schemeClr val="bg1"/>
                </a:solidFill>
              </a:rPr>
              <a:t>characteristic one attached to the data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. char _</a:t>
            </a:r>
            <a:r>
              <a:rPr lang="en-US" sz="1600" dirty="0" err="1">
                <a:solidFill>
                  <a:schemeClr val="bg1"/>
                </a:solidFill>
              </a:rPr>
              <a:t>dta</a:t>
            </a:r>
            <a:r>
              <a:rPr lang="en-US" sz="1600" dirty="0">
                <a:solidFill>
                  <a:schemeClr val="bg1"/>
                </a:solidFill>
              </a:rPr>
              <a:t>[one] this is char named one of _</a:t>
            </a:r>
            <a:r>
              <a:rPr lang="en-US" sz="1600" dirty="0" err="1" smtClean="0">
                <a:solidFill>
                  <a:schemeClr val="bg1"/>
                </a:solidFill>
              </a:rPr>
              <a:t>dta</a:t>
            </a:r>
            <a:r>
              <a:rPr lang="en-US" sz="1600" dirty="0" smtClean="0">
                <a:solidFill>
                  <a:schemeClr val="bg1"/>
                </a:solidFill>
              </a:rPr>
              <a:t>"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380507" y="5001489"/>
            <a:ext cx="2850645" cy="723036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34145" y="4710545"/>
            <a:ext cx="346362" cy="443346"/>
          </a:xfrm>
          <a:prstGeom prst="round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Stat/Transfer </a:t>
            </a:r>
            <a:r>
              <a:rPr lang="en-US" sz="2700" dirty="0" smtClean="0"/>
              <a:t>(</a:t>
            </a:r>
            <a:r>
              <a:rPr lang="en-US" sz="2700" dirty="0">
                <a:hlinkClick r:id="rId3"/>
              </a:rPr>
              <a:t>http://www.stattransfer.com/</a:t>
            </a:r>
            <a:r>
              <a:rPr lang="en-US" sz="2700" dirty="0" smtClean="0"/>
              <a:t>)</a:t>
            </a:r>
            <a:endParaRPr lang="en-US" sz="27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914400"/>
            <a:ext cx="6523759" cy="5211763"/>
          </a:xfrm>
        </p:spPr>
        <p:txBody>
          <a:bodyPr/>
          <a:lstStyle/>
          <a:p>
            <a:r>
              <a:rPr lang="en-US" dirty="0" smtClean="0"/>
              <a:t>Data conversion software</a:t>
            </a:r>
          </a:p>
          <a:p>
            <a:pPr lvl="1"/>
            <a:r>
              <a:rPr lang="en-US" dirty="0" smtClean="0"/>
              <a:t>Added DDI 3.1 with version 11</a:t>
            </a:r>
          </a:p>
          <a:p>
            <a:pPr lvl="1"/>
            <a:r>
              <a:rPr lang="en-US" dirty="0" smtClean="0"/>
              <a:t>DDI plus 35 other file formats</a:t>
            </a:r>
          </a:p>
          <a:p>
            <a:pPr lvl="1"/>
            <a:r>
              <a:rPr lang="en-US" dirty="0" smtClean="0"/>
              <a:t>Metadata aware</a:t>
            </a:r>
          </a:p>
          <a:p>
            <a:pPr lvl="1"/>
            <a:endParaRPr lang="en-US" dirty="0"/>
          </a:p>
          <a:p>
            <a:r>
              <a:rPr lang="en-US" sz="2000" dirty="0" smtClean="0"/>
              <a:t>This paper not intended as a critique of Stat/Transfer. Any suggestions for changes are offered with the intent of improving a very useful tool.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61909" y="817418"/>
            <a:ext cx="2163041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61909" y="5713268"/>
            <a:ext cx="2143991" cy="969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030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4"/>
            <a:ext cx="9144000" cy="19162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Our Experiment With Stat/Transfer (S/T)</a:t>
            </a:r>
            <a:br>
              <a:rPr lang="en-US" dirty="0" smtClean="0"/>
            </a:br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147455"/>
            <a:ext cx="9067800" cy="4505181"/>
          </a:xfrm>
        </p:spPr>
        <p:txBody>
          <a:bodyPr>
            <a:normAutofit lnSpcReduction="10000"/>
          </a:bodyPr>
          <a:lstStyle/>
          <a:p>
            <a:r>
              <a:rPr lang="en-US" sz="3400" dirty="0" smtClean="0"/>
              <a:t>What is currently </a:t>
            </a:r>
            <a:r>
              <a:rPr lang="en-US" sz="3400" b="1" dirty="0" smtClean="0">
                <a:solidFill>
                  <a:srgbClr val="FFFF00"/>
                </a:solidFill>
              </a:rPr>
              <a:t>automatic</a:t>
            </a:r>
            <a:r>
              <a:rPr lang="en-US" sz="3400" dirty="0" smtClean="0"/>
              <a:t> in moving data and metadata among software packages through DDI?</a:t>
            </a:r>
          </a:p>
          <a:p>
            <a:pPr lvl="1"/>
            <a:r>
              <a:rPr lang="en-US" sz="3000" dirty="0" smtClean="0"/>
              <a:t>(no scripts needed)</a:t>
            </a:r>
          </a:p>
          <a:p>
            <a:pPr marL="0" indent="0">
              <a:buNone/>
            </a:pPr>
            <a:endParaRPr lang="en-US" sz="3400" dirty="0" smtClean="0"/>
          </a:p>
          <a:p>
            <a:r>
              <a:rPr lang="en-US" sz="3400" dirty="0" smtClean="0"/>
              <a:t>What else does DDI support that S/T does not ?</a:t>
            </a:r>
          </a:p>
          <a:p>
            <a:pPr marL="0" indent="0">
              <a:buNone/>
            </a:pPr>
            <a:endParaRPr lang="en-US" sz="3400" dirty="0" smtClean="0"/>
          </a:p>
          <a:p>
            <a:r>
              <a:rPr lang="en-US" sz="3400" dirty="0" smtClean="0"/>
              <a:t>What more could DDI support?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1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Experiment With Stat/Transfer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2509" y="1076190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32509" y="2239741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SPSS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32509" y="3258163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Stata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32509" y="4576462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SAS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32509" y="5661813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JMP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325091" y="3258164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DDI</a:t>
            </a:r>
            <a:endParaRPr lang="en-US" sz="24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17418" y="1413164"/>
            <a:ext cx="2507673" cy="1565563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122218" y="2470573"/>
            <a:ext cx="2036618" cy="688263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212272" y="3470446"/>
            <a:ext cx="1946564" cy="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969818" y="3719829"/>
            <a:ext cx="2189018" cy="1086409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122218" y="3976255"/>
            <a:ext cx="2202873" cy="19163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Experiment With Stat/Transfer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2509" y="1076190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32509" y="2239741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SPSS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32509" y="3258163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Stata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32509" y="4576462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SAS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32509" y="5661813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JMP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325091" y="3258164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DDI</a:t>
            </a:r>
            <a:endParaRPr lang="en-US" sz="24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17418" y="1413164"/>
            <a:ext cx="2507673" cy="1565563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122218" y="2470573"/>
            <a:ext cx="2036618" cy="688263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212272" y="3470446"/>
            <a:ext cx="1946564" cy="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969818" y="3719829"/>
            <a:ext cx="2189018" cy="1086409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122218" y="3976255"/>
            <a:ext cx="2202873" cy="19163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40582" y="1182331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6040582" y="2345882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SPSS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6040582" y="3364304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Stata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040582" y="4682603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SAS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6040582" y="5767954"/>
            <a:ext cx="127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JMP</a:t>
            </a:r>
            <a:endParaRPr lang="en-US" sz="2400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3962400" y="1549246"/>
            <a:ext cx="2078182" cy="1877404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9" idx="1"/>
          </p:cNvCxnSpPr>
          <p:nvPr/>
        </p:nvCxnSpPr>
        <p:spPr>
          <a:xfrm flipV="1">
            <a:off x="3962400" y="2576715"/>
            <a:ext cx="2078182" cy="84993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1" idx="1"/>
          </p:cNvCxnSpPr>
          <p:nvPr/>
        </p:nvCxnSpPr>
        <p:spPr>
          <a:xfrm>
            <a:off x="3962400" y="3426650"/>
            <a:ext cx="2078182" cy="168487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3" idx="1"/>
          </p:cNvCxnSpPr>
          <p:nvPr/>
        </p:nvCxnSpPr>
        <p:spPr>
          <a:xfrm>
            <a:off x="3962400" y="3426650"/>
            <a:ext cx="2078182" cy="1486786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962400" y="3470446"/>
            <a:ext cx="1911927" cy="25283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51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Our Experiment With Stat/Transfer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2117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Create master DDI 3.1 file and associated data file</a:t>
            </a:r>
          </a:p>
          <a:p>
            <a:pPr lvl="1"/>
            <a:r>
              <a:rPr lang="en-US" dirty="0" smtClean="0"/>
              <a:t>Export to R, SPSS, </a:t>
            </a:r>
            <a:r>
              <a:rPr lang="en-US" dirty="0" err="1" smtClean="0"/>
              <a:t>Stata</a:t>
            </a:r>
            <a:r>
              <a:rPr lang="en-US" dirty="0" smtClean="0"/>
              <a:t>, SAS, JMP</a:t>
            </a:r>
          </a:p>
          <a:p>
            <a:pPr lvl="1"/>
            <a:r>
              <a:rPr lang="en-US" dirty="0" smtClean="0"/>
              <a:t>What metadata features carry over?</a:t>
            </a:r>
          </a:p>
          <a:p>
            <a:r>
              <a:rPr lang="en-US" dirty="0" smtClean="0"/>
              <a:t>Create a dataset in each package, convert to DDI3.1</a:t>
            </a:r>
          </a:p>
          <a:p>
            <a:pPr lvl="1"/>
            <a:r>
              <a:rPr lang="en-US" dirty="0" smtClean="0"/>
              <a:t>Include all identified metadata features for that package</a:t>
            </a:r>
          </a:p>
          <a:p>
            <a:pPr lvl="2"/>
            <a:r>
              <a:rPr lang="en-US" dirty="0" smtClean="0"/>
              <a:t>Example: a characteristic named "Universe" if supported</a:t>
            </a:r>
          </a:p>
          <a:p>
            <a:pPr lvl="1"/>
            <a:r>
              <a:rPr lang="en-US" dirty="0" smtClean="0"/>
              <a:t>Check which metadata features are included</a:t>
            </a:r>
          </a:p>
          <a:p>
            <a:r>
              <a:rPr lang="en-US" dirty="0" smtClean="0"/>
              <a:t>Build matrices showing which metadata would survive transition from one package to the other with DDI as an intermediary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73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Dataset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25" y="3915390"/>
            <a:ext cx="9144000" cy="163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25" y="1382610"/>
            <a:ext cx="9144000" cy="171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3286681"/>
            <a:ext cx="194316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With labels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773668"/>
            <a:ext cx="211949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Without labels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64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Attributes (e.g. in SPSS)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6087"/>
            <a:ext cx="9144000" cy="2485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51406" y="1828800"/>
            <a:ext cx="2192594" cy="757084"/>
          </a:xfrm>
          <a:prstGeom prst="round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0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ResourcePackage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StudyUnit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8342"/>
            <a:ext cx="8229600" cy="5211763"/>
          </a:xfrm>
        </p:spPr>
        <p:txBody>
          <a:bodyPr/>
          <a:lstStyle/>
          <a:p>
            <a:r>
              <a:rPr lang="en-US" dirty="0" smtClean="0"/>
              <a:t>Stat/Transfer uses </a:t>
            </a:r>
            <a:r>
              <a:rPr lang="en-US" dirty="0" err="1" smtClean="0"/>
              <a:t>ResourcePackage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347176" y="1518985"/>
            <a:ext cx="3481873" cy="3610479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10"/>
          <a:stretch/>
        </p:blipFill>
        <p:spPr>
          <a:xfrm>
            <a:off x="271138" y="5348215"/>
            <a:ext cx="3557911" cy="1038370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61"/>
          <a:stretch/>
        </p:blipFill>
        <p:spPr>
          <a:xfrm>
            <a:off x="4197946" y="1518985"/>
            <a:ext cx="3567508" cy="31151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9709" y="1343891"/>
            <a:ext cx="1953491" cy="415636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0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StudyUnit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88"/>
          <a:stretch/>
        </p:blipFill>
        <p:spPr>
          <a:xfrm>
            <a:off x="76918" y="952328"/>
            <a:ext cx="3605184" cy="2438741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689"/>
          <a:stretch/>
        </p:blipFill>
        <p:spPr>
          <a:xfrm>
            <a:off x="76918" y="3524131"/>
            <a:ext cx="3605184" cy="1695687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7030"/>
          <a:stretch/>
        </p:blipFill>
        <p:spPr>
          <a:xfrm>
            <a:off x="76918" y="5333913"/>
            <a:ext cx="3605184" cy="1238423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8"/>
          <a:stretch/>
        </p:blipFill>
        <p:spPr>
          <a:xfrm>
            <a:off x="3800088" y="1280811"/>
            <a:ext cx="5225925" cy="42963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54182" y="865175"/>
            <a:ext cx="1953491" cy="415636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410491" y="5686424"/>
            <a:ext cx="461552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Currently does not appear to work with Stat/Transfer</a:t>
            </a:r>
          </a:p>
        </p:txBody>
      </p:sp>
    </p:spTree>
    <p:extLst>
      <p:ext uri="{BB962C8B-B14F-4D97-AF65-F5344CB8AC3E}">
        <p14:creationId xmlns:p14="http://schemas.microsoft.com/office/powerpoint/2010/main" val="272727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0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Embedded Data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65" r="2208" b="12432"/>
          <a:stretch/>
        </p:blipFill>
        <p:spPr>
          <a:xfrm>
            <a:off x="419579" y="1102301"/>
            <a:ext cx="6852108" cy="428711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191" y="2687783"/>
            <a:ext cx="6971518" cy="2064326"/>
          </a:xfrm>
          <a:prstGeom prst="round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410491" y="5686424"/>
            <a:ext cx="4615521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Currently No Option with Stat/Transfer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Missed opportunity?</a:t>
            </a:r>
          </a:p>
        </p:txBody>
      </p:sp>
    </p:spTree>
    <p:extLst>
      <p:ext uri="{BB962C8B-B14F-4D97-AF65-F5344CB8AC3E}">
        <p14:creationId xmlns:p14="http://schemas.microsoft.com/office/powerpoint/2010/main" val="294564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 Output: A Grid of Success/Failure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EDDI 2011 Hoyle &amp; </a:t>
            </a:r>
            <a:r>
              <a:rPr lang="en-US" dirty="0" err="1" smtClean="0"/>
              <a:t>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62" y="914400"/>
            <a:ext cx="6630326" cy="5420482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6123" y="1571446"/>
            <a:ext cx="266701" cy="5810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67600" y="1285696"/>
            <a:ext cx="1352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Indicates feature not supported in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798" y="2753678"/>
            <a:ext cx="14668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+</a:t>
            </a:r>
            <a:r>
              <a:rPr lang="en-US" dirty="0" smtClean="0"/>
              <a:t> Feature translated successfully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7183" y="3902393"/>
            <a:ext cx="17335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-</a:t>
            </a:r>
            <a:r>
              <a:rPr lang="en-US" dirty="0" smtClean="0"/>
              <a:t>  Feature didn't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6123" y="5008522"/>
            <a:ext cx="191452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~</a:t>
            </a:r>
            <a:r>
              <a:rPr lang="en-US" dirty="0" smtClean="0"/>
              <a:t> Partial success</a:t>
            </a:r>
          </a:p>
          <a:p>
            <a:r>
              <a:rPr lang="en-US" dirty="0" smtClean="0"/>
              <a:t>e.g. there, but in an unexpected element</a:t>
            </a:r>
          </a:p>
        </p:txBody>
      </p:sp>
    </p:spTree>
    <p:extLst>
      <p:ext uri="{BB962C8B-B14F-4D97-AF65-F5344CB8AC3E}">
        <p14:creationId xmlns:p14="http://schemas.microsoft.com/office/powerpoint/2010/main" val="227794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25"/>
            <a:ext cx="8229600" cy="13906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Generally Worked</a:t>
            </a:r>
            <a:br>
              <a:rPr lang="en-US" dirty="0" smtClean="0"/>
            </a:br>
            <a:r>
              <a:rPr lang="en-US" dirty="0" smtClean="0"/>
              <a:t>(Classic Codebook)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43050"/>
            <a:ext cx="8382000" cy="4583113"/>
          </a:xfrm>
        </p:spPr>
        <p:txBody>
          <a:bodyPr/>
          <a:lstStyle/>
          <a:p>
            <a:r>
              <a:rPr lang="en-US" dirty="0" smtClean="0"/>
              <a:t>Dataset Name</a:t>
            </a:r>
          </a:p>
          <a:p>
            <a:r>
              <a:rPr lang="en-US" dirty="0" smtClean="0"/>
              <a:t>Variable Names, Labels, Order</a:t>
            </a:r>
          </a:p>
          <a:p>
            <a:r>
              <a:rPr lang="en-US" dirty="0" smtClean="0"/>
              <a:t>Data type (e.g. Dates and </a:t>
            </a:r>
            <a:r>
              <a:rPr lang="en-US" dirty="0" err="1" smtClean="0"/>
              <a:t>DateTimes</a:t>
            </a:r>
            <a:r>
              <a:rPr lang="en-US" dirty="0" smtClean="0"/>
              <a:t> ok)</a:t>
            </a:r>
          </a:p>
          <a:p>
            <a:r>
              <a:rPr lang="en-US" dirty="0" smtClean="0"/>
              <a:t>Missing or not</a:t>
            </a:r>
          </a:p>
          <a:p>
            <a:r>
              <a:rPr lang="en-US" dirty="0" smtClean="0"/>
              <a:t>Data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918364"/>
            <a:ext cx="896389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i.e.  Elements supported by all of the packages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60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Mostly Worked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4618"/>
            <a:ext cx="8229600" cy="4851545"/>
          </a:xfrm>
        </p:spPr>
        <p:txBody>
          <a:bodyPr/>
          <a:lstStyle/>
          <a:p>
            <a:r>
              <a:rPr lang="en-US" dirty="0" smtClean="0"/>
              <a:t>Dataset Labels</a:t>
            </a:r>
          </a:p>
          <a:p>
            <a:r>
              <a:rPr lang="en-US" dirty="0" smtClean="0"/>
              <a:t>Date Modified</a:t>
            </a:r>
          </a:p>
          <a:p>
            <a:r>
              <a:rPr lang="en-US" dirty="0" smtClean="0"/>
              <a:t>Value Labels for </a:t>
            </a:r>
            <a:r>
              <a:rPr lang="en-US" dirty="0" err="1" smtClean="0"/>
              <a:t>Numerics</a:t>
            </a:r>
            <a:r>
              <a:rPr lang="en-US" dirty="0" smtClean="0"/>
              <a:t> &lt;–&gt; Categories and Codes</a:t>
            </a:r>
          </a:p>
          <a:p>
            <a:pPr lvl="1"/>
            <a:r>
              <a:rPr lang="en-US" dirty="0" smtClean="0"/>
              <a:t>R is different (factors)</a:t>
            </a:r>
          </a:p>
          <a:p>
            <a:pPr lvl="1"/>
            <a:r>
              <a:rPr lang="en-US" dirty="0" smtClean="0"/>
              <a:t>SAS formats should work soon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16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Problems, 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9418"/>
            <a:ext cx="8229600" cy="4546745"/>
          </a:xfrm>
        </p:spPr>
        <p:txBody>
          <a:bodyPr/>
          <a:lstStyle/>
          <a:p>
            <a:r>
              <a:rPr lang="en-US" dirty="0" smtClean="0"/>
              <a:t>Notes </a:t>
            </a:r>
          </a:p>
          <a:p>
            <a:r>
              <a:rPr lang="en-US" dirty="0" smtClean="0"/>
              <a:t>User defined attributes </a:t>
            </a:r>
          </a:p>
          <a:p>
            <a:r>
              <a:rPr lang="en-US" dirty="0" smtClean="0"/>
              <a:t>Scripts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2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Dataset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62" y="914400"/>
            <a:ext cx="6630326" cy="54204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244436" y="2992582"/>
            <a:ext cx="3200400" cy="40178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244436" y="5444837"/>
            <a:ext cx="3200400" cy="40178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73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Problems - 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0436"/>
            <a:ext cx="82296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Weight                   </a:t>
            </a:r>
            <a:r>
              <a:rPr lang="en-US" sz="3000" dirty="0" smtClean="0">
                <a:solidFill>
                  <a:srgbClr val="00B0F0"/>
                </a:solidFill>
              </a:rPr>
              <a:t>(pretty important)</a:t>
            </a:r>
            <a:endParaRPr lang="en-US" sz="3000" dirty="0"/>
          </a:p>
          <a:p>
            <a:r>
              <a:rPr lang="en-US" dirty="0" smtClean="0"/>
              <a:t>Display formats    </a:t>
            </a:r>
            <a:r>
              <a:rPr lang="en-US" sz="3000" dirty="0" smtClean="0">
                <a:solidFill>
                  <a:srgbClr val="00B0F0"/>
                </a:solidFill>
              </a:rPr>
              <a:t>(no standards across packages)</a:t>
            </a:r>
          </a:p>
          <a:p>
            <a:endParaRPr lang="en-US" dirty="0" smtClean="0"/>
          </a:p>
          <a:p>
            <a:r>
              <a:rPr lang="en-US" dirty="0"/>
              <a:t>Measurement units </a:t>
            </a:r>
            <a:r>
              <a:rPr lang="en-US" dirty="0" smtClean="0"/>
              <a:t>   </a:t>
            </a:r>
            <a:r>
              <a:rPr lang="en-US" sz="2600" dirty="0" smtClean="0">
                <a:solidFill>
                  <a:srgbClr val="00B0F0"/>
                </a:solidFill>
              </a:rPr>
              <a:t>(important , most don't support)</a:t>
            </a:r>
            <a:endParaRPr lang="en-US" dirty="0"/>
          </a:p>
          <a:p>
            <a:r>
              <a:rPr lang="en-US" dirty="0"/>
              <a:t>Measurement </a:t>
            </a:r>
            <a:r>
              <a:rPr lang="en-US" dirty="0" smtClean="0"/>
              <a:t>level</a:t>
            </a:r>
          </a:p>
          <a:p>
            <a:endParaRPr lang="en-US" dirty="0"/>
          </a:p>
          <a:p>
            <a:r>
              <a:rPr lang="en-US" dirty="0" smtClean="0"/>
              <a:t>Number of decimal positions</a:t>
            </a:r>
          </a:p>
          <a:p>
            <a:r>
              <a:rPr lang="en-US" dirty="0" smtClean="0"/>
              <a:t>Scale                                    </a:t>
            </a:r>
            <a:r>
              <a:rPr lang="en-US" sz="3000" dirty="0" smtClean="0">
                <a:solidFill>
                  <a:srgbClr val="00B0F0"/>
                </a:solidFill>
              </a:rPr>
              <a:t>(where supported)</a:t>
            </a:r>
          </a:p>
          <a:p>
            <a:r>
              <a:rPr lang="en-US" dirty="0" smtClean="0"/>
              <a:t>Role</a:t>
            </a:r>
          </a:p>
          <a:p>
            <a:r>
              <a:rPr lang="en-US" dirty="0" smtClean="0"/>
              <a:t>User defined attributes      </a:t>
            </a:r>
            <a:r>
              <a:rPr lang="en-US" sz="3000" dirty="0" smtClean="0">
                <a:solidFill>
                  <a:srgbClr val="00B0F0"/>
                </a:solidFill>
              </a:rPr>
              <a:t>(could be useful)</a:t>
            </a:r>
          </a:p>
          <a:p>
            <a:r>
              <a:rPr lang="en-US" dirty="0" smtClean="0"/>
              <a:t>Notes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3"/>
          <a:stretch/>
        </p:blipFill>
        <p:spPr>
          <a:xfrm>
            <a:off x="116550" y="838200"/>
            <a:ext cx="6620799" cy="57773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35459" y="3193473"/>
            <a:ext cx="3200400" cy="40178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144250" y="6286500"/>
            <a:ext cx="3513281" cy="32904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079018" y="5957460"/>
            <a:ext cx="3513281" cy="32904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68836" y="2544679"/>
            <a:ext cx="217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 standards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592299" y="2729345"/>
            <a:ext cx="1376537" cy="464128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68836" y="5149334"/>
            <a:ext cx="2175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 universally supported by packages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592299" y="5334000"/>
            <a:ext cx="1376537" cy="464128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467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Problems -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distinct missing</a:t>
            </a:r>
          </a:p>
          <a:p>
            <a:r>
              <a:rPr lang="en-US" dirty="0" smtClean="0"/>
              <a:t>Ranges labeled</a:t>
            </a:r>
          </a:p>
          <a:p>
            <a:r>
              <a:rPr lang="en-US" dirty="0" smtClean="0"/>
              <a:t>Multiple sets of labels for a variable</a:t>
            </a:r>
          </a:p>
          <a:p>
            <a:r>
              <a:rPr lang="en-US" dirty="0"/>
              <a:t>Range </a:t>
            </a:r>
            <a:r>
              <a:rPr lang="en-US" dirty="0" smtClean="0"/>
              <a:t>restrictions</a:t>
            </a:r>
          </a:p>
          <a:p>
            <a:endParaRPr lang="en-US" dirty="0"/>
          </a:p>
          <a:p>
            <a:r>
              <a:rPr lang="en-US" dirty="0"/>
              <a:t>Labeling text values     </a:t>
            </a:r>
            <a:r>
              <a:rPr lang="en-US" sz="2400" dirty="0">
                <a:solidFill>
                  <a:srgbClr val="00B0F0"/>
                </a:solidFill>
              </a:rPr>
              <a:t>(will be fixed)</a:t>
            </a:r>
            <a:endParaRPr lang="en-US" dirty="0"/>
          </a:p>
          <a:p>
            <a:r>
              <a:rPr lang="en-US" dirty="0" smtClean="0"/>
              <a:t>Colors (only for JMP)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47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62"/>
          <a:stretch/>
        </p:blipFill>
        <p:spPr>
          <a:xfrm>
            <a:off x="471055" y="749328"/>
            <a:ext cx="8423563" cy="58206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99378" y="2590805"/>
            <a:ext cx="3980295" cy="2244431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99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Multiple Missing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Distinct</a:t>
            </a:r>
          </a:p>
          <a:p>
            <a:pPr lvl="1"/>
            <a:r>
              <a:rPr lang="en-US" sz="3200" dirty="0" smtClean="0"/>
              <a:t>In-band (SPSS)     998,   999</a:t>
            </a:r>
          </a:p>
          <a:p>
            <a:pPr marL="457200" lvl="1" indent="0">
              <a:buNone/>
            </a:pPr>
            <a:r>
              <a:rPr lang="en-US" sz="3200" dirty="0" err="1" smtClean="0"/>
              <a:t>vs</a:t>
            </a:r>
            <a:r>
              <a:rPr lang="en-US" sz="3200" dirty="0" smtClean="0"/>
              <a:t> </a:t>
            </a:r>
          </a:p>
          <a:p>
            <a:pPr lvl="1"/>
            <a:r>
              <a:rPr lang="en-US" sz="3200" dirty="0" smtClean="0"/>
              <a:t>distinct system missing (SAS, </a:t>
            </a:r>
            <a:r>
              <a:rPr lang="en-US" sz="3200" dirty="0" err="1" smtClean="0"/>
              <a:t>Stata</a:t>
            </a:r>
            <a:r>
              <a:rPr lang="en-US" sz="3200" dirty="0" smtClean="0"/>
              <a:t>) .D, .R</a:t>
            </a:r>
          </a:p>
          <a:p>
            <a:pPr lvl="2"/>
            <a:r>
              <a:rPr lang="en-US" sz="3200" dirty="0" smtClean="0"/>
              <a:t>No representation in DDI</a:t>
            </a:r>
          </a:p>
          <a:p>
            <a:pPr lvl="2"/>
            <a:r>
              <a:rPr lang="en-US" sz="3200" dirty="0" smtClean="0"/>
              <a:t>No way to associate categories &amp; codes</a:t>
            </a:r>
          </a:p>
          <a:p>
            <a:pPr marL="457200" lvl="1" indent="0">
              <a:buNone/>
            </a:pPr>
            <a:r>
              <a:rPr lang="en-US" sz="3200" dirty="0" err="1"/>
              <a:t>v</a:t>
            </a:r>
            <a:r>
              <a:rPr lang="en-US" sz="3200" dirty="0" err="1" smtClean="0"/>
              <a:t>s</a:t>
            </a:r>
            <a:endParaRPr lang="en-US" sz="3200" dirty="0" smtClean="0"/>
          </a:p>
          <a:p>
            <a:pPr lvl="1"/>
            <a:r>
              <a:rPr lang="en-US" sz="3200" dirty="0" smtClean="0"/>
              <a:t>No distinction among missing types (R,JMP)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36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7524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Multiple Sets of Value Labels for a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53075"/>
          </a:xfrm>
        </p:spPr>
        <p:txBody>
          <a:bodyPr>
            <a:normAutofit/>
          </a:bodyPr>
          <a:lstStyle/>
          <a:p>
            <a:r>
              <a:rPr lang="en-US" dirty="0" smtClean="0"/>
              <a:t>SAS – "formats" and "</a:t>
            </a:r>
            <a:r>
              <a:rPr lang="en-US" dirty="0" err="1" smtClean="0"/>
              <a:t>informats</a:t>
            </a:r>
            <a:r>
              <a:rPr lang="en-US" dirty="0" smtClean="0"/>
              <a:t>" stored separately in a catalog or "CNTLIN" dataset.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proc</a:t>
            </a:r>
            <a:r>
              <a:rPr lang="en-US" sz="2000" dirty="0" smtClean="0"/>
              <a:t> </a:t>
            </a:r>
            <a:r>
              <a:rPr lang="en-US" sz="2000" dirty="0"/>
              <a:t>format </a:t>
            </a:r>
            <a:r>
              <a:rPr lang="en-US" sz="2000" dirty="0" err="1"/>
              <a:t>cntlout</a:t>
            </a:r>
            <a:r>
              <a:rPr lang="en-US" sz="2000" dirty="0"/>
              <a:t>=</a:t>
            </a:r>
            <a:r>
              <a:rPr lang="en-US" sz="2000" dirty="0" err="1"/>
              <a:t>eddi.sas_Fmts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value </a:t>
            </a:r>
            <a:r>
              <a:rPr lang="en-US" sz="2000" dirty="0" err="1"/>
              <a:t>GENDERen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 smtClean="0"/>
              <a:t>	    </a:t>
            </a:r>
            <a:r>
              <a:rPr lang="en-US" sz="2000" dirty="0"/>
              <a:t>1="Male" 2="Female";</a:t>
            </a:r>
          </a:p>
          <a:p>
            <a:pPr marL="0" indent="0">
              <a:buNone/>
            </a:pPr>
            <a:r>
              <a:rPr lang="en-US" sz="2000" dirty="0" smtClean="0"/>
              <a:t>	value </a:t>
            </a:r>
            <a:r>
              <a:rPr lang="en-US" sz="2000" dirty="0" err="1"/>
              <a:t>GENDERde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 smtClean="0"/>
              <a:t>	    </a:t>
            </a:r>
            <a:r>
              <a:rPr lang="en-US" sz="2000" dirty="0"/>
              <a:t>1="</a:t>
            </a:r>
            <a:r>
              <a:rPr lang="en-US" sz="2000" dirty="0" err="1"/>
              <a:t>Männlich</a:t>
            </a:r>
            <a:r>
              <a:rPr lang="en-US" sz="2000" dirty="0"/>
              <a:t>" 2="</a:t>
            </a:r>
            <a:r>
              <a:rPr lang="en-US" sz="2000" dirty="0" err="1"/>
              <a:t>Weiblich</a:t>
            </a:r>
            <a:r>
              <a:rPr lang="en-US" sz="2000" dirty="0"/>
              <a:t>";</a:t>
            </a:r>
          </a:p>
          <a:p>
            <a:pPr marL="0" indent="0">
              <a:buNone/>
            </a:pPr>
            <a:r>
              <a:rPr lang="en-US" sz="2000" dirty="0" smtClean="0"/>
              <a:t>	value </a:t>
            </a:r>
            <a:r>
              <a:rPr lang="en-US" sz="2000" dirty="0" err="1"/>
              <a:t>GenderL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 smtClean="0"/>
              <a:t>	    </a:t>
            </a:r>
            <a:r>
              <a:rPr lang="en-US" sz="2000" dirty="0"/>
              <a:t>1="Self Identified Male" 2="Self Identified Female</a:t>
            </a:r>
            <a:r>
              <a:rPr lang="en-US" sz="2000" dirty="0" smtClean="0"/>
              <a:t>";</a:t>
            </a:r>
          </a:p>
          <a:p>
            <a:pPr marL="0" indent="0">
              <a:buNone/>
            </a:pPr>
            <a:r>
              <a:rPr lang="en-US" sz="2000" dirty="0" smtClean="0"/>
              <a:t>…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format gender </a:t>
            </a:r>
            <a:r>
              <a:rPr lang="en-US" sz="2000" dirty="0" err="1" smtClean="0"/>
              <a:t>GENDERen</a:t>
            </a:r>
            <a:r>
              <a:rPr lang="en-US" sz="2000" dirty="0" smtClean="0"/>
              <a:t>.;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2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7524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Multiple Sets of Value Labels for a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7756"/>
            <a:ext cx="8229600" cy="5938684"/>
          </a:xfrm>
        </p:spPr>
        <p:txBody>
          <a:bodyPr>
            <a:normAutofit/>
          </a:bodyPr>
          <a:lstStyle/>
          <a:p>
            <a:r>
              <a:rPr lang="en-US" dirty="0" err="1" smtClean="0"/>
              <a:t>Stata</a:t>
            </a:r>
            <a:r>
              <a:rPr lang="en-US" dirty="0" smtClean="0"/>
              <a:t>- Script</a:t>
            </a:r>
          </a:p>
          <a:p>
            <a:pPr marL="0" indent="0">
              <a:buNone/>
            </a:pPr>
            <a:r>
              <a:rPr lang="en-US" sz="1200" dirty="0" smtClean="0"/>
              <a:t>	</a:t>
            </a:r>
            <a:r>
              <a:rPr lang="en-US" sz="1800" dirty="0" smtClean="0"/>
              <a:t>label </a:t>
            </a:r>
            <a:r>
              <a:rPr lang="en-US" sz="1800" dirty="0"/>
              <a:t>define </a:t>
            </a:r>
            <a:r>
              <a:rPr lang="en-US" sz="1800" dirty="0" err="1"/>
              <a:t>GenderE</a:t>
            </a:r>
            <a:r>
              <a:rPr lang="en-US" sz="1800" dirty="0"/>
              <a:t> 1 "Male" 2 "Female"</a:t>
            </a:r>
          </a:p>
          <a:p>
            <a:pPr marL="0" indent="0">
              <a:buNone/>
            </a:pPr>
            <a:r>
              <a:rPr lang="en-US" sz="1800" dirty="0" smtClean="0"/>
              <a:t>	label </a:t>
            </a:r>
            <a:r>
              <a:rPr lang="en-US" sz="1800" dirty="0"/>
              <a:t>define </a:t>
            </a:r>
            <a:r>
              <a:rPr lang="en-US" sz="1800" dirty="0" err="1"/>
              <a:t>GenderG</a:t>
            </a:r>
            <a:r>
              <a:rPr lang="en-US" sz="1800" dirty="0"/>
              <a:t> 1 "</a:t>
            </a:r>
            <a:r>
              <a:rPr lang="en-US" sz="1800" dirty="0" err="1"/>
              <a:t>Männlich</a:t>
            </a:r>
            <a:r>
              <a:rPr lang="en-US" sz="1800" dirty="0"/>
              <a:t>" 2 "</a:t>
            </a:r>
            <a:r>
              <a:rPr lang="en-US" sz="1800" dirty="0" err="1"/>
              <a:t>Weiblich</a:t>
            </a:r>
            <a:r>
              <a:rPr lang="en-US" sz="1800" dirty="0"/>
              <a:t>"</a:t>
            </a:r>
          </a:p>
          <a:p>
            <a:pPr marL="0" indent="0">
              <a:buNone/>
            </a:pPr>
            <a:r>
              <a:rPr lang="en-US" sz="1800" dirty="0" smtClean="0"/>
              <a:t>	label </a:t>
            </a:r>
            <a:r>
              <a:rPr lang="en-US" sz="1800" dirty="0"/>
              <a:t>values Gender </a:t>
            </a:r>
            <a:r>
              <a:rPr lang="en-US" sz="1800" dirty="0" err="1"/>
              <a:t>GenderE</a:t>
            </a:r>
            <a:endParaRPr lang="en-US" sz="1800" dirty="0" smtClean="0"/>
          </a:p>
          <a:p>
            <a:r>
              <a:rPr lang="en-US" dirty="0" err="1" smtClean="0"/>
              <a:t>Stata</a:t>
            </a:r>
            <a:r>
              <a:rPr lang="en-US" dirty="0" smtClean="0"/>
              <a:t> – unassociated value labels not saved to .</a:t>
            </a:r>
            <a:r>
              <a:rPr lang="en-US" dirty="0" err="1" smtClean="0"/>
              <a:t>dta</a:t>
            </a:r>
            <a:r>
              <a:rPr lang="en-US" dirty="0" smtClean="0"/>
              <a:t> file, but are saved to "</a:t>
            </a:r>
            <a:r>
              <a:rPr lang="en-US" dirty="0" err="1" smtClean="0"/>
              <a:t>dta</a:t>
            </a:r>
            <a:r>
              <a:rPr lang="en-US" dirty="0" smtClean="0"/>
              <a:t>" xml file.</a:t>
            </a:r>
          </a:p>
          <a:p>
            <a:pPr marL="800100" lvl="2" indent="0">
              <a:buNone/>
            </a:pPr>
            <a:r>
              <a:rPr lang="en-US" sz="2000" dirty="0"/>
              <a:t>&lt;</a:t>
            </a:r>
            <a:r>
              <a:rPr lang="en-US" sz="2000" dirty="0" err="1"/>
              <a:t>value_labels</a:t>
            </a:r>
            <a:r>
              <a:rPr lang="en-US" sz="2000" dirty="0"/>
              <a:t>&gt;</a:t>
            </a:r>
          </a:p>
          <a:p>
            <a:pPr marL="800100" lvl="2" indent="0">
              <a:buNone/>
            </a:pPr>
            <a:r>
              <a:rPr lang="en-US" sz="2000" dirty="0"/>
              <a:t>&lt;</a:t>
            </a:r>
            <a:r>
              <a:rPr lang="en-US" sz="2000" dirty="0" err="1"/>
              <a:t>vallab</a:t>
            </a:r>
            <a:r>
              <a:rPr lang="en-US" sz="2000" dirty="0"/>
              <a:t> name='</a:t>
            </a:r>
            <a:r>
              <a:rPr lang="en-US" sz="2000" dirty="0" err="1"/>
              <a:t>GenderG</a:t>
            </a:r>
            <a:r>
              <a:rPr lang="en-US" sz="2000" dirty="0"/>
              <a:t>'&gt;</a:t>
            </a:r>
          </a:p>
          <a:p>
            <a:pPr marL="800100" lvl="2" indent="0">
              <a:buNone/>
            </a:pPr>
            <a:r>
              <a:rPr lang="en-US" sz="2000" dirty="0"/>
              <a:t>&lt;label value='1'&gt;</a:t>
            </a:r>
            <a:r>
              <a:rPr lang="en-US" sz="2000" dirty="0" err="1"/>
              <a:t>Männlich</a:t>
            </a:r>
            <a:r>
              <a:rPr lang="en-US" sz="2000" dirty="0"/>
              <a:t>&lt;/label&gt;</a:t>
            </a:r>
          </a:p>
          <a:p>
            <a:pPr marL="800100" lvl="2" indent="0">
              <a:buNone/>
            </a:pPr>
            <a:r>
              <a:rPr lang="en-US" sz="2000" dirty="0"/>
              <a:t>&lt;label value='2'&gt;</a:t>
            </a:r>
            <a:r>
              <a:rPr lang="en-US" sz="2000" dirty="0" err="1"/>
              <a:t>Weiblich</a:t>
            </a:r>
            <a:r>
              <a:rPr lang="en-US" sz="2000" dirty="0"/>
              <a:t>&lt;/label&gt;</a:t>
            </a:r>
          </a:p>
          <a:p>
            <a:pPr marL="800100" lvl="2" indent="0">
              <a:buNone/>
            </a:pPr>
            <a:r>
              <a:rPr lang="en-US" sz="2000" dirty="0"/>
              <a:t>&lt;/</a:t>
            </a:r>
            <a:r>
              <a:rPr lang="en-US" sz="2000" dirty="0" err="1"/>
              <a:t>vallab</a:t>
            </a:r>
            <a:r>
              <a:rPr lang="en-US" sz="2000" dirty="0"/>
              <a:t>&gt;</a:t>
            </a:r>
          </a:p>
          <a:p>
            <a:pPr marL="800100" lvl="2" indent="0">
              <a:buNone/>
            </a:pPr>
            <a:r>
              <a:rPr lang="en-US" sz="2000" dirty="0"/>
              <a:t>&lt;</a:t>
            </a:r>
            <a:r>
              <a:rPr lang="en-US" sz="2000" dirty="0" err="1"/>
              <a:t>vallab</a:t>
            </a:r>
            <a:r>
              <a:rPr lang="en-US" sz="2000" dirty="0"/>
              <a:t> name='</a:t>
            </a:r>
            <a:r>
              <a:rPr lang="en-US" sz="2000" dirty="0" err="1"/>
              <a:t>GenderE</a:t>
            </a:r>
            <a:r>
              <a:rPr lang="en-US" sz="2000" dirty="0"/>
              <a:t>'&gt;</a:t>
            </a:r>
          </a:p>
          <a:p>
            <a:pPr marL="800100" lvl="2" indent="0">
              <a:buNone/>
            </a:pPr>
            <a:r>
              <a:rPr lang="en-US" sz="2000" dirty="0"/>
              <a:t>&lt;label value='1'&gt;Male&lt;/label&gt;</a:t>
            </a:r>
          </a:p>
          <a:p>
            <a:pPr marL="800100" lvl="2" indent="0">
              <a:buNone/>
            </a:pPr>
            <a:r>
              <a:rPr lang="en-US" sz="2000" dirty="0"/>
              <a:t>&lt;label value='2'&gt;Female&lt;/label&gt;</a:t>
            </a:r>
          </a:p>
          <a:p>
            <a:pPr marL="800100" lvl="2" indent="0">
              <a:buNone/>
            </a:pPr>
            <a:r>
              <a:rPr lang="en-US" sz="2000" dirty="0"/>
              <a:t>&lt;/</a:t>
            </a:r>
            <a:r>
              <a:rPr lang="en-US" sz="2000" dirty="0" err="1"/>
              <a:t>vallab</a:t>
            </a:r>
            <a:r>
              <a:rPr lang="en-US" sz="2000" dirty="0" smtClean="0"/>
              <a:t>&gt;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07816" y="1953491"/>
            <a:ext cx="6553201" cy="40178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5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7524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DDI – Multiple Labels for a Category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3" y="955964"/>
            <a:ext cx="8853055" cy="5553075"/>
          </a:xfrm>
        </p:spPr>
        <p:txBody>
          <a:bodyPr>
            <a:normAutofit/>
          </a:bodyPr>
          <a:lstStyle/>
          <a:p>
            <a:r>
              <a:rPr lang="en-US" dirty="0" smtClean="0"/>
              <a:t>DDI – </a:t>
            </a:r>
            <a:r>
              <a:rPr lang="en-US" dirty="0" err="1" smtClean="0">
                <a:solidFill>
                  <a:srgbClr val="FFFF00"/>
                </a:solidFill>
              </a:rPr>
              <a:t>xml:lang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FF00"/>
                </a:solidFill>
              </a:rPr>
              <a:t>type</a:t>
            </a:r>
            <a:r>
              <a:rPr lang="en-US" dirty="0" smtClean="0"/>
              <a:t> attributes of Label in Category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100" dirty="0"/>
              <a:t> </a:t>
            </a:r>
            <a:r>
              <a:rPr lang="en-US" sz="2400" dirty="0"/>
              <a:t>&lt;</a:t>
            </a:r>
            <a:r>
              <a:rPr lang="en-US" sz="2400" dirty="0" err="1"/>
              <a:t>l:Category</a:t>
            </a:r>
            <a:r>
              <a:rPr lang="en-US" sz="2400" dirty="0"/>
              <a:t> </a:t>
            </a:r>
            <a:r>
              <a:rPr lang="en-US" sz="1200" dirty="0"/>
              <a:t>id</a:t>
            </a:r>
            <a:r>
              <a:rPr lang="en-US" sz="1200" dirty="0" smtClean="0"/>
              <a:t>=“c1" </a:t>
            </a:r>
            <a:r>
              <a:rPr lang="en-US" sz="1200" dirty="0"/>
              <a:t>version="1.0.0" </a:t>
            </a:r>
            <a:r>
              <a:rPr lang="en-US" sz="1200" dirty="0" smtClean="0"/>
              <a:t> </a:t>
            </a:r>
            <a:r>
              <a:rPr lang="en-US" sz="2400" dirty="0" smtClean="0"/>
              <a:t> </a:t>
            </a:r>
            <a:r>
              <a:rPr lang="en-US" sz="1200" dirty="0" err="1" smtClean="0"/>
              <a:t>versionDate</a:t>
            </a:r>
            <a:r>
              <a:rPr lang="en-US" sz="1200" dirty="0"/>
              <a:t>="2011-10-26T13:33:00" missing="false</a:t>
            </a:r>
            <a:r>
              <a:rPr lang="en-US" sz="1200" dirty="0" smtClean="0"/>
              <a:t>" </a:t>
            </a:r>
            <a:r>
              <a:rPr lang="en-US" sz="2400" dirty="0" smtClean="0"/>
              <a:t>&gt;            </a:t>
            </a:r>
          </a:p>
          <a:p>
            <a:pPr marL="0" indent="0">
              <a:buNone/>
            </a:pPr>
            <a:r>
              <a:rPr lang="en-US" sz="2000" dirty="0"/>
              <a:t>&lt;</a:t>
            </a:r>
            <a:r>
              <a:rPr lang="en-US" sz="2000" dirty="0" err="1"/>
              <a:t>r:Label</a:t>
            </a:r>
            <a:r>
              <a:rPr lang="en-US" sz="2000" dirty="0"/>
              <a:t> </a:t>
            </a:r>
            <a:r>
              <a:rPr lang="en-US" sz="2400" dirty="0" err="1">
                <a:solidFill>
                  <a:srgbClr val="FFFF00"/>
                </a:solidFill>
              </a:rPr>
              <a:t>xml:lang</a:t>
            </a:r>
            <a:r>
              <a:rPr lang="en-US" sz="2400" dirty="0">
                <a:solidFill>
                  <a:srgbClr val="FFFF00"/>
                </a:solidFill>
              </a:rPr>
              <a:t>="en-US" type="</a:t>
            </a:r>
            <a:r>
              <a:rPr lang="en-US" sz="2400" dirty="0" smtClean="0">
                <a:solidFill>
                  <a:srgbClr val="FFFF00"/>
                </a:solidFill>
              </a:rPr>
              <a:t>GENDER" </a:t>
            </a:r>
            <a:r>
              <a:rPr lang="en-US" sz="2400" dirty="0"/>
              <a:t>&gt;male&lt;/</a:t>
            </a:r>
            <a:r>
              <a:rPr lang="en-US" sz="2400" dirty="0" err="1"/>
              <a:t>r:Label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000" dirty="0" smtClean="0"/>
              <a:t>&lt;</a:t>
            </a:r>
            <a:r>
              <a:rPr lang="en-US" sz="2000" dirty="0" err="1"/>
              <a:t>r:Label</a:t>
            </a:r>
            <a:r>
              <a:rPr lang="en-US" sz="2000" dirty="0"/>
              <a:t> </a:t>
            </a:r>
            <a:r>
              <a:rPr lang="en-US" sz="2400" dirty="0" err="1">
                <a:solidFill>
                  <a:srgbClr val="FFFF00"/>
                </a:solidFill>
              </a:rPr>
              <a:t>xml:lang</a:t>
            </a:r>
            <a:r>
              <a:rPr lang="en-US" sz="2400" dirty="0">
                <a:solidFill>
                  <a:srgbClr val="FFFF00"/>
                </a:solidFill>
              </a:rPr>
              <a:t>="de" type="</a:t>
            </a:r>
            <a:r>
              <a:rPr lang="en-US" sz="2400" dirty="0" smtClean="0">
                <a:solidFill>
                  <a:srgbClr val="FFFF00"/>
                </a:solidFill>
              </a:rPr>
              <a:t>GENDER" </a:t>
            </a:r>
            <a:r>
              <a:rPr lang="en-US" sz="2400" dirty="0" smtClean="0"/>
              <a:t>&gt;</a:t>
            </a:r>
            <a:r>
              <a:rPr lang="en-US" sz="2400" dirty="0" err="1"/>
              <a:t>männlich</a:t>
            </a:r>
            <a:r>
              <a:rPr lang="en-US" sz="2400" dirty="0"/>
              <a:t>&lt;/</a:t>
            </a:r>
            <a:r>
              <a:rPr lang="en-US" sz="2400" dirty="0" err="1"/>
              <a:t>r:Label</a:t>
            </a:r>
            <a:r>
              <a:rPr lang="en-US" sz="2400" dirty="0"/>
              <a:t>&gt;            </a:t>
            </a:r>
            <a:r>
              <a:rPr lang="en-US" sz="2000" dirty="0"/>
              <a:t>&lt;</a:t>
            </a:r>
            <a:r>
              <a:rPr lang="en-US" sz="2000" dirty="0" err="1"/>
              <a:t>r:Label</a:t>
            </a:r>
            <a:r>
              <a:rPr lang="en-US" sz="2000" dirty="0"/>
              <a:t> </a:t>
            </a:r>
            <a:r>
              <a:rPr lang="en-US" sz="2400" dirty="0" err="1">
                <a:solidFill>
                  <a:srgbClr val="FFFF00"/>
                </a:solidFill>
              </a:rPr>
              <a:t>xml:lang</a:t>
            </a:r>
            <a:r>
              <a:rPr lang="en-US" sz="2400" dirty="0">
                <a:solidFill>
                  <a:srgbClr val="FFFF00"/>
                </a:solidFill>
              </a:rPr>
              <a:t>="en-US" type="</a:t>
            </a:r>
            <a:r>
              <a:rPr lang="en-US" sz="2400" dirty="0" smtClean="0">
                <a:solidFill>
                  <a:srgbClr val="FFFF00"/>
                </a:solidFill>
              </a:rPr>
              <a:t>GENDERL" </a:t>
            </a:r>
            <a:r>
              <a:rPr lang="en-US" sz="2400" dirty="0" smtClean="0"/>
              <a:t>&gt;</a:t>
            </a:r>
            <a:r>
              <a:rPr lang="en-US" sz="2400" dirty="0"/>
              <a:t>Self Identified Male</a:t>
            </a:r>
            <a:r>
              <a:rPr lang="en-US" sz="1400" dirty="0"/>
              <a:t>&lt;/</a:t>
            </a:r>
            <a:r>
              <a:rPr lang="en-US" sz="1400" dirty="0" err="1"/>
              <a:t>r:Label</a:t>
            </a:r>
            <a:r>
              <a:rPr lang="en-US" sz="1400" dirty="0"/>
              <a:t>&gt; </a:t>
            </a:r>
            <a:r>
              <a:rPr lang="en-US" sz="1100" dirty="0"/>
              <a:t>           </a:t>
            </a:r>
            <a:endParaRPr lang="en-US" sz="11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4400" b="1" dirty="0" smtClean="0"/>
              <a:t>Which is the "default?" (first listed?)</a:t>
            </a:r>
            <a:endParaRPr lang="en-US" sz="4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7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Role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1352550"/>
          </a:xfrm>
        </p:spPr>
        <p:txBody>
          <a:bodyPr/>
          <a:lstStyle/>
          <a:p>
            <a:r>
              <a:rPr lang="en-US" dirty="0" smtClean="0"/>
              <a:t>Several packages have metadata for "role"</a:t>
            </a:r>
          </a:p>
          <a:p>
            <a:r>
              <a:rPr lang="en-US" dirty="0" smtClean="0"/>
              <a:t>No standards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38" t="20372" r="16248" b="61162"/>
          <a:stretch/>
        </p:blipFill>
        <p:spPr bwMode="auto">
          <a:xfrm>
            <a:off x="993058" y="2890684"/>
            <a:ext cx="1557519" cy="223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2780" y="2371725"/>
            <a:ext cx="87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SPSS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99"/>
          <a:stretch/>
        </p:blipFill>
        <p:spPr bwMode="auto">
          <a:xfrm>
            <a:off x="4661105" y="2908731"/>
            <a:ext cx="3443804" cy="367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609303" y="2371070"/>
            <a:ext cx="87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JMP</a:t>
            </a:r>
          </a:p>
        </p:txBody>
      </p:sp>
    </p:spTree>
    <p:extLst>
      <p:ext uri="{BB962C8B-B14F-4D97-AF65-F5344CB8AC3E}">
        <p14:creationId xmlns:p14="http://schemas.microsoft.com/office/powerpoint/2010/main" val="216092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Custom/User Variable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 – </a:t>
            </a:r>
            <a:r>
              <a:rPr lang="en-US" b="1" dirty="0" smtClean="0">
                <a:solidFill>
                  <a:srgbClr val="FFFF00"/>
                </a:solidFill>
              </a:rPr>
              <a:t>attributes</a:t>
            </a:r>
            <a:r>
              <a:rPr lang="en-US" dirty="0" smtClean="0"/>
              <a:t>  </a:t>
            </a:r>
          </a:p>
          <a:p>
            <a:pPr lvl="1"/>
            <a:r>
              <a:rPr lang="en-US" dirty="0" smtClean="0"/>
              <a:t> function - </a:t>
            </a:r>
            <a:r>
              <a:rPr lang="en-US" dirty="0" err="1" smtClean="0"/>
              <a:t>attr</a:t>
            </a:r>
            <a:r>
              <a:rPr lang="en-US" dirty="0" smtClean="0"/>
              <a:t>()   (column and </a:t>
            </a:r>
            <a:r>
              <a:rPr lang="en-US" dirty="0" err="1" smtClean="0"/>
              <a:t>data.frame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Stata</a:t>
            </a:r>
            <a:r>
              <a:rPr lang="en-US" dirty="0" smtClean="0"/>
              <a:t> – "</a:t>
            </a:r>
            <a:r>
              <a:rPr lang="en-US" b="1" dirty="0" smtClean="0">
                <a:solidFill>
                  <a:srgbClr val="FFFF00"/>
                </a:solidFill>
              </a:rPr>
              <a:t>Characteristics</a:t>
            </a:r>
            <a:r>
              <a:rPr lang="en-US" dirty="0" smtClean="0"/>
              <a:t>"</a:t>
            </a:r>
          </a:p>
          <a:p>
            <a:pPr lvl="1"/>
            <a:r>
              <a:rPr lang="en-US" dirty="0" smtClean="0"/>
              <a:t> function – char   (variable or table)</a:t>
            </a:r>
          </a:p>
          <a:p>
            <a:r>
              <a:rPr lang="en-US" dirty="0" smtClean="0"/>
              <a:t>SPSS</a:t>
            </a:r>
          </a:p>
          <a:p>
            <a:pPr lvl="1"/>
            <a:r>
              <a:rPr lang="en-US" dirty="0"/>
              <a:t>VARIABLE </a:t>
            </a:r>
            <a:r>
              <a:rPr lang="en-US" b="1" dirty="0">
                <a:solidFill>
                  <a:srgbClr val="FFFF00"/>
                </a:solidFill>
              </a:rPr>
              <a:t>ATTRIBUTE</a:t>
            </a:r>
            <a:r>
              <a:rPr lang="en-US" dirty="0"/>
              <a:t> VARIABLES=Age Gender Region ATTRIBUTE=</a:t>
            </a:r>
            <a:r>
              <a:rPr lang="en-US" dirty="0" err="1"/>
              <a:t>DemographicVars</a:t>
            </a:r>
            <a:r>
              <a:rPr lang="en-US" dirty="0"/>
              <a:t> ('1').</a:t>
            </a:r>
            <a:endParaRPr lang="en-US" dirty="0" smtClean="0"/>
          </a:p>
          <a:p>
            <a:r>
              <a:rPr lang="en-US" dirty="0" err="1" smtClean="0"/>
              <a:t>Jmp</a:t>
            </a:r>
            <a:endParaRPr lang="en-US" dirty="0" smtClean="0"/>
          </a:p>
          <a:p>
            <a:pPr lvl="1"/>
            <a:r>
              <a:rPr lang="en-US" dirty="0" smtClean="0"/>
              <a:t>Column </a:t>
            </a:r>
            <a:r>
              <a:rPr lang="en-US" b="1" dirty="0" smtClean="0">
                <a:solidFill>
                  <a:srgbClr val="FFFF00"/>
                </a:solidFill>
              </a:rPr>
              <a:t>Properties</a:t>
            </a:r>
            <a:r>
              <a:rPr lang="en-US" dirty="0" smtClean="0"/>
              <a:t> … Other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9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Labeled Ranges in SAS and JMP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4" y="1856510"/>
            <a:ext cx="8229600" cy="3754582"/>
          </a:xfrm>
        </p:spPr>
        <p:txBody>
          <a:bodyPr/>
          <a:lstStyle/>
          <a:p>
            <a:r>
              <a:rPr lang="en-US" dirty="0" smtClean="0"/>
              <a:t>Can be used dynamically in analyses, output.</a:t>
            </a:r>
          </a:p>
          <a:p>
            <a:endParaRPr lang="en-US" dirty="0" smtClean="0"/>
          </a:p>
          <a:p>
            <a:r>
              <a:rPr lang="en-US" dirty="0" smtClean="0"/>
              <a:t>Probably not the best practice for a preservation dataset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68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Built-in Display Formats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Currency symbols</a:t>
            </a:r>
          </a:p>
          <a:p>
            <a:r>
              <a:rPr lang="en-US" dirty="0" smtClean="0"/>
              <a:t>Thousands separators,  decimal separator</a:t>
            </a:r>
          </a:p>
          <a:p>
            <a:r>
              <a:rPr lang="en-US" dirty="0" smtClean="0"/>
              <a:t>Date/Time formats</a:t>
            </a:r>
          </a:p>
          <a:p>
            <a:endParaRPr lang="en-US" dirty="0"/>
          </a:p>
          <a:p>
            <a:r>
              <a:rPr lang="en-US" dirty="0" smtClean="0"/>
              <a:t>Some of these (like currency symbols) convey units of measurement)</a:t>
            </a:r>
          </a:p>
          <a:p>
            <a:endParaRPr lang="en-US" dirty="0"/>
          </a:p>
          <a:p>
            <a:r>
              <a:rPr lang="en-US" dirty="0" smtClean="0"/>
              <a:t>Again – not standardized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30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 </a:t>
            </a:r>
            <a:r>
              <a:rPr lang="en-US" dirty="0" err="1" smtClean="0"/>
              <a:t>DateTime</a:t>
            </a:r>
            <a:r>
              <a:rPr lang="en-US" dirty="0" smtClean="0"/>
              <a:t> and UTC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491" y="2105891"/>
            <a:ext cx="8229600" cy="3422073"/>
          </a:xfrm>
        </p:spPr>
        <p:txBody>
          <a:bodyPr/>
          <a:lstStyle/>
          <a:p>
            <a:r>
              <a:rPr lang="en-US" dirty="0" smtClean="0"/>
              <a:t>Conversion may alter </a:t>
            </a:r>
            <a:r>
              <a:rPr lang="en-US" dirty="0" err="1" smtClean="0"/>
              <a:t>DateTime</a:t>
            </a:r>
            <a:r>
              <a:rPr lang="en-US" dirty="0" smtClean="0"/>
              <a:t> values if assumptions differ about </a:t>
            </a:r>
            <a:r>
              <a:rPr lang="en-US" sz="3600" b="1" dirty="0" smtClean="0">
                <a:solidFill>
                  <a:srgbClr val="FFFF00"/>
                </a:solidFill>
              </a:rPr>
              <a:t>local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   </a:t>
            </a:r>
            <a:r>
              <a:rPr lang="en-US" dirty="0" err="1" smtClean="0">
                <a:solidFill>
                  <a:srgbClr val="FFFF00"/>
                </a:solidFill>
              </a:rPr>
              <a:t>vs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Coordinated Universal Time (</a:t>
            </a:r>
            <a:r>
              <a:rPr lang="en-US" sz="3600" b="1" dirty="0" smtClean="0">
                <a:solidFill>
                  <a:srgbClr val="FFFF00"/>
                </a:solidFill>
              </a:rPr>
              <a:t>UTC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3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490" y="2937164"/>
            <a:ext cx="8714509" cy="1362075"/>
          </a:xfrm>
        </p:spPr>
        <p:txBody>
          <a:bodyPr>
            <a:normAutofit/>
          </a:bodyPr>
          <a:lstStyle/>
          <a:p>
            <a:r>
              <a:rPr lang="en-US" dirty="0" smtClean="0"/>
              <a:t>Using the Grid From Here to There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Here to There (and Back Again?)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70072" y="733246"/>
            <a:ext cx="267392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"Missing" transfers to all packages.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R does not support value labels in the same way as other packages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Fix for importing formats to SAS is pending</a:t>
            </a:r>
            <a:endParaRPr lang="en-US" sz="2800" dirty="0" smtClean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9778"/>
            <a:ext cx="6283876" cy="493985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078182" y="2431141"/>
            <a:ext cx="4205694" cy="6511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078182" y="4087091"/>
            <a:ext cx="789709" cy="52647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541818" y="4973782"/>
            <a:ext cx="415637" cy="77585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4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 to the Others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33408" y="1233055"/>
            <a:ext cx="261059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Looking at Just what R contains:</a:t>
            </a:r>
          </a:p>
          <a:p>
            <a:endParaRPr lang="en-US" sz="3200" dirty="0"/>
          </a:p>
          <a:p>
            <a:r>
              <a:rPr lang="en-US" sz="3200" dirty="0" smtClean="0"/>
              <a:t>The basics are preserved</a:t>
            </a:r>
          </a:p>
          <a:p>
            <a:endParaRPr lang="en-US" dirty="0"/>
          </a:p>
        </p:txBody>
      </p:sp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8057"/>
            <a:ext cx="553479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9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SPSS to the Others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043"/>
            <a:ext cx="6639852" cy="613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0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Stata</a:t>
            </a:r>
            <a:r>
              <a:rPr lang="en-US" dirty="0" smtClean="0"/>
              <a:t> to the Others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0" y="702381"/>
            <a:ext cx="6096851" cy="523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1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SAS to the Others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368"/>
            <a:ext cx="6906589" cy="570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8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JMP to the Others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417"/>
            <a:ext cx="6677957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4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1445649"/>
          </a:xfrm>
        </p:spPr>
        <p:txBody>
          <a:bodyPr>
            <a:normAutofit/>
          </a:bodyPr>
          <a:lstStyle/>
          <a:p>
            <a:r>
              <a:rPr lang="en-US" dirty="0" smtClean="0"/>
              <a:t>Suggestions for DDI –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Custom/User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36" y="1810364"/>
            <a:ext cx="8229600" cy="3902177"/>
          </a:xfrm>
        </p:spPr>
        <p:txBody>
          <a:bodyPr/>
          <a:lstStyle/>
          <a:p>
            <a:r>
              <a:rPr lang="en-US" dirty="0" smtClean="0"/>
              <a:t>Named attributes for variables?</a:t>
            </a:r>
          </a:p>
          <a:p>
            <a:pPr marL="0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l:Variable</a:t>
            </a:r>
            <a:r>
              <a:rPr lang="en-US" dirty="0" smtClean="0"/>
              <a:t>&gt;</a:t>
            </a:r>
          </a:p>
          <a:p>
            <a:pPr marL="457200" lvl="1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l:VariableAttribute</a:t>
            </a:r>
            <a:r>
              <a:rPr lang="en-US" dirty="0" smtClean="0"/>
              <a:t>&gt;</a:t>
            </a:r>
          </a:p>
          <a:p>
            <a:pPr marL="914400" lvl="2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r:Name</a:t>
            </a:r>
            <a:r>
              <a:rPr lang="en-US" dirty="0" smtClean="0"/>
              <a:t>&gt;</a:t>
            </a:r>
          </a:p>
          <a:p>
            <a:pPr marL="914400" lvl="2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l:Value</a:t>
            </a:r>
            <a:r>
              <a:rPr lang="en-US" dirty="0" smtClean="0"/>
              <a:t>&gt;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0" lvl="2"/>
            <a:r>
              <a:rPr lang="en-US" sz="3200" dirty="0" smtClean="0"/>
              <a:t>Named attributes for dataset?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Suggestions for </a:t>
            </a:r>
            <a:r>
              <a:rPr lang="en-US" dirty="0" smtClean="0"/>
              <a:t>DDI - Ranges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CodeScheme include a CodeRange element (contains Range and </a:t>
            </a:r>
            <a:r>
              <a:rPr lang="en-US" dirty="0" smtClean="0"/>
              <a:t>Value</a:t>
            </a:r>
            <a:r>
              <a:rPr lang="en-US" dirty="0"/>
              <a:t>, plus </a:t>
            </a:r>
            <a:r>
              <a:rPr lang="en-US" dirty="0" smtClean="0"/>
              <a:t>CodeRange </a:t>
            </a:r>
            <a:r>
              <a:rPr lang="en-US" dirty="0"/>
              <a:t>and </a:t>
            </a:r>
            <a:r>
              <a:rPr lang="en-US" dirty="0" smtClean="0"/>
              <a:t>Code </a:t>
            </a:r>
            <a:r>
              <a:rPr lang="en-US" dirty="0"/>
              <a:t>for hierarchies</a:t>
            </a:r>
            <a:r>
              <a:rPr lang="en-US" dirty="0" smtClean="0"/>
              <a:t>)?</a:t>
            </a:r>
          </a:p>
          <a:p>
            <a:endParaRPr lang="en-US" dirty="0" smtClean="0"/>
          </a:p>
          <a:p>
            <a:r>
              <a:rPr lang="en-US" dirty="0"/>
              <a:t>Alternatively Code could contain a range – this would not be </a:t>
            </a:r>
            <a:r>
              <a:rPr lang="en-US" dirty="0" err="1"/>
              <a:t>genericode</a:t>
            </a:r>
            <a:r>
              <a:rPr lang="en-US" dirty="0"/>
              <a:t> </a:t>
            </a:r>
            <a:r>
              <a:rPr lang="en-US" dirty="0" smtClean="0"/>
              <a:t>compliant, not such a good idea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0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Suggestions for DDI – Multiple Labels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smtClean="0"/>
              <a:t>&lt;</a:t>
            </a:r>
            <a:r>
              <a:rPr lang="en-US" sz="2600" dirty="0" err="1"/>
              <a:t>l:Category</a:t>
            </a:r>
            <a:r>
              <a:rPr lang="en-US" sz="2600" dirty="0"/>
              <a:t> </a:t>
            </a:r>
            <a:r>
              <a:rPr lang="en-US" sz="1600" dirty="0"/>
              <a:t>id</a:t>
            </a:r>
            <a:r>
              <a:rPr lang="en-US" sz="1600" dirty="0" smtClean="0"/>
              <a:t>="</a:t>
            </a:r>
            <a:r>
              <a:rPr lang="en-US" sz="1600" dirty="0" err="1" smtClean="0"/>
              <a:t>Gm</a:t>
            </a:r>
            <a:r>
              <a:rPr lang="en-US" sz="1600" dirty="0" smtClean="0"/>
              <a:t>" </a:t>
            </a:r>
            <a:r>
              <a:rPr lang="en-US" sz="1600" dirty="0"/>
              <a:t>version="1.0.0" </a:t>
            </a:r>
            <a:r>
              <a:rPr lang="en-US" sz="1600" dirty="0" err="1"/>
              <a:t>versionDate</a:t>
            </a:r>
            <a:r>
              <a:rPr lang="en-US" sz="1600" dirty="0"/>
              <a:t>="2011-10-26T13:33:00" missing="false"</a:t>
            </a:r>
            <a:r>
              <a:rPr lang="en-US" sz="2600" dirty="0"/>
              <a:t>&gt;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   </a:t>
            </a:r>
          </a:p>
          <a:p>
            <a:pPr marL="0" indent="0">
              <a:buNone/>
            </a:pPr>
            <a:r>
              <a:rPr lang="en-US" sz="2600" dirty="0" smtClean="0"/>
              <a:t>&lt;</a:t>
            </a:r>
            <a:r>
              <a:rPr lang="en-US" sz="2600" dirty="0" err="1"/>
              <a:t>r:Label</a:t>
            </a:r>
            <a:r>
              <a:rPr lang="en-US" sz="2600" dirty="0"/>
              <a:t> </a:t>
            </a:r>
            <a:r>
              <a:rPr lang="en-US" sz="2800" b="1" dirty="0" err="1">
                <a:solidFill>
                  <a:srgbClr val="FFFF00"/>
                </a:solidFill>
              </a:rPr>
              <a:t>xml:lang</a:t>
            </a:r>
            <a:r>
              <a:rPr lang="en-US" sz="2600" dirty="0" smtClean="0"/>
              <a:t>="</a:t>
            </a:r>
            <a:r>
              <a:rPr lang="en-US" sz="2600" dirty="0" err="1" smtClean="0"/>
              <a:t>sv</a:t>
            </a:r>
            <a:r>
              <a:rPr lang="en-US" sz="2600" dirty="0" smtClean="0"/>
              <a:t>" </a:t>
            </a:r>
            <a:r>
              <a:rPr lang="en-US" sz="2600" b="1" dirty="0">
                <a:solidFill>
                  <a:srgbClr val="FFFF00"/>
                </a:solidFill>
              </a:rPr>
              <a:t>type</a:t>
            </a:r>
            <a:r>
              <a:rPr lang="en-US" sz="2600" dirty="0"/>
              <a:t>="</a:t>
            </a:r>
            <a:r>
              <a:rPr lang="en-US" sz="2600" dirty="0" err="1" smtClean="0"/>
              <a:t>GENDERshort</a:t>
            </a:r>
            <a:r>
              <a:rPr lang="en-US" sz="2600" dirty="0" smtClean="0"/>
              <a:t>"&gt;</a:t>
            </a:r>
            <a:r>
              <a:rPr lang="en-US" sz="2800" dirty="0" err="1"/>
              <a:t>kvinna</a:t>
            </a:r>
            <a:r>
              <a:rPr lang="en-US" sz="2600" dirty="0" smtClean="0"/>
              <a:t>&lt;/</a:t>
            </a:r>
            <a:r>
              <a:rPr lang="en-US" sz="2600" dirty="0" err="1"/>
              <a:t>r:Label</a:t>
            </a:r>
            <a:r>
              <a:rPr lang="en-US" sz="2600" dirty="0"/>
              <a:t>&gt; 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/>
              <a:t>&lt;</a:t>
            </a:r>
            <a:r>
              <a:rPr lang="en-US" sz="2600" dirty="0" err="1"/>
              <a:t>r:Label</a:t>
            </a:r>
            <a:r>
              <a:rPr lang="en-US" sz="2600" dirty="0"/>
              <a:t> </a:t>
            </a:r>
            <a:r>
              <a:rPr lang="en-US" sz="2800" b="1" dirty="0" err="1">
                <a:solidFill>
                  <a:srgbClr val="FFFF00"/>
                </a:solidFill>
              </a:rPr>
              <a:t>xml:lang</a:t>
            </a:r>
            <a:r>
              <a:rPr lang="en-US" sz="2600" dirty="0"/>
              <a:t>="de" </a:t>
            </a:r>
            <a:r>
              <a:rPr lang="en-US" sz="2600" b="1" dirty="0">
                <a:solidFill>
                  <a:srgbClr val="FFFF00"/>
                </a:solidFill>
              </a:rPr>
              <a:t>type</a:t>
            </a:r>
            <a:r>
              <a:rPr lang="en-US" sz="2600" dirty="0"/>
              <a:t>="</a:t>
            </a:r>
            <a:r>
              <a:rPr lang="en-US" sz="2400" dirty="0" err="1"/>
              <a:t>GENDERshort</a:t>
            </a:r>
            <a:r>
              <a:rPr lang="en-US" sz="2600" dirty="0"/>
              <a:t>"&gt;</a:t>
            </a:r>
            <a:r>
              <a:rPr lang="en-US" sz="2600" dirty="0" err="1"/>
              <a:t>weiblich</a:t>
            </a:r>
            <a:r>
              <a:rPr lang="en-US" sz="2600" dirty="0"/>
              <a:t>&lt;/</a:t>
            </a:r>
            <a:r>
              <a:rPr lang="en-US" sz="2600" dirty="0" err="1"/>
              <a:t>r:Label</a:t>
            </a:r>
            <a:r>
              <a:rPr lang="en-US" sz="2600" dirty="0"/>
              <a:t>&gt;  </a:t>
            </a:r>
          </a:p>
          <a:p>
            <a:pPr marL="0" indent="0">
              <a:buNone/>
            </a:pPr>
            <a:r>
              <a:rPr lang="en-US" sz="2600" dirty="0"/>
              <a:t>&lt;</a:t>
            </a:r>
            <a:r>
              <a:rPr lang="en-US" sz="2600" dirty="0" err="1"/>
              <a:t>r:Label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FF00"/>
                </a:solidFill>
              </a:rPr>
              <a:t>xml:lang</a:t>
            </a:r>
            <a:r>
              <a:rPr lang="en-US" sz="2600" dirty="0"/>
              <a:t>="en-US" </a:t>
            </a:r>
            <a:r>
              <a:rPr lang="en-US" sz="2600" dirty="0">
                <a:solidFill>
                  <a:srgbClr val="FFFF00"/>
                </a:solidFill>
              </a:rPr>
              <a:t>type</a:t>
            </a:r>
            <a:r>
              <a:rPr lang="en-US" sz="2600" dirty="0"/>
              <a:t>="</a:t>
            </a:r>
            <a:r>
              <a:rPr lang="en-US" sz="2000" dirty="0" err="1"/>
              <a:t>GENDERshort</a:t>
            </a:r>
            <a:r>
              <a:rPr lang="en-US" sz="2600" dirty="0"/>
              <a:t>"&gt;female&lt;/</a:t>
            </a:r>
            <a:r>
              <a:rPr lang="en-US" sz="2600" dirty="0" err="1"/>
              <a:t>r:Label</a:t>
            </a:r>
            <a:r>
              <a:rPr lang="en-US" sz="2600" dirty="0" smtClean="0"/>
              <a:t>&gt;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 smtClean="0"/>
              <a:t>&lt;</a:t>
            </a:r>
            <a:r>
              <a:rPr lang="en-US" sz="2600" dirty="0" err="1"/>
              <a:t>r:Label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FFFF00"/>
                </a:solidFill>
              </a:rPr>
              <a:t>xml:lang</a:t>
            </a:r>
            <a:r>
              <a:rPr lang="en-US" sz="2600" dirty="0"/>
              <a:t>="en-US" </a:t>
            </a:r>
            <a:r>
              <a:rPr lang="en-US" sz="2600" dirty="0">
                <a:solidFill>
                  <a:srgbClr val="FFFF00"/>
                </a:solidFill>
              </a:rPr>
              <a:t>type</a:t>
            </a:r>
            <a:r>
              <a:rPr lang="en-US" sz="2600" dirty="0"/>
              <a:t>="</a:t>
            </a:r>
            <a:r>
              <a:rPr lang="en-US" sz="2600" dirty="0" err="1" smtClean="0"/>
              <a:t>GENDERLong</a:t>
            </a:r>
            <a:r>
              <a:rPr lang="en-US" sz="2600" dirty="0" smtClean="0"/>
              <a:t>"&gt;</a:t>
            </a:r>
            <a:r>
              <a:rPr lang="en-US" sz="2600" dirty="0"/>
              <a:t>Self </a:t>
            </a:r>
            <a:r>
              <a:rPr lang="en-US" sz="2600" dirty="0" smtClean="0"/>
              <a:t>Identified </a:t>
            </a:r>
            <a:br>
              <a:rPr lang="en-US" sz="2600" dirty="0" smtClean="0"/>
            </a:br>
            <a:r>
              <a:rPr lang="en-US" sz="2600" dirty="0" smtClean="0"/>
              <a:t>        </a:t>
            </a:r>
            <a:r>
              <a:rPr lang="en-US" sz="2600" dirty="0"/>
              <a:t>Female&lt;/</a:t>
            </a:r>
            <a:r>
              <a:rPr lang="en-US" sz="2600" dirty="0" err="1"/>
              <a:t>r:Label</a:t>
            </a:r>
            <a:r>
              <a:rPr lang="en-US" sz="2600" dirty="0"/>
              <a:t>&gt;   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&lt;/</a:t>
            </a:r>
            <a:r>
              <a:rPr lang="en-US" sz="2600" dirty="0" err="1"/>
              <a:t>l:Category</a:t>
            </a:r>
            <a:r>
              <a:rPr lang="en-US" sz="2600" dirty="0"/>
              <a:t>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75652" y="5091545"/>
            <a:ext cx="5168347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Which "type" was the primary/default/selected (if any)?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302477" y="4372898"/>
            <a:ext cx="353962" cy="5948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33800" y="3827207"/>
            <a:ext cx="2895600" cy="54569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Suggestions for </a:t>
            </a:r>
            <a:r>
              <a:rPr lang="en-US" dirty="0" smtClean="0"/>
              <a:t>DDI – Multiple Labels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14400"/>
            <a:ext cx="8750300" cy="56261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&lt;</a:t>
            </a:r>
            <a:r>
              <a:rPr lang="en-US" sz="2600" dirty="0" err="1"/>
              <a:t>r:Label</a:t>
            </a:r>
            <a:r>
              <a:rPr lang="en-US" sz="2600" dirty="0"/>
              <a:t> </a:t>
            </a:r>
            <a:r>
              <a:rPr lang="en-US" sz="2600" dirty="0" err="1"/>
              <a:t>xml:lang</a:t>
            </a:r>
            <a:r>
              <a:rPr lang="en-US" sz="2600" dirty="0"/>
              <a:t>="en-US" </a:t>
            </a:r>
            <a:r>
              <a:rPr lang="en-US" sz="2600" dirty="0">
                <a:solidFill>
                  <a:srgbClr val="FFFF00"/>
                </a:solidFill>
              </a:rPr>
              <a:t>type="</a:t>
            </a:r>
            <a:r>
              <a:rPr lang="en-US" sz="2600" dirty="0" err="1">
                <a:solidFill>
                  <a:srgbClr val="FFFF00"/>
                </a:solidFill>
              </a:rPr>
              <a:t>GENDERshort</a:t>
            </a:r>
            <a:r>
              <a:rPr lang="en-US" sz="2600" dirty="0">
                <a:solidFill>
                  <a:srgbClr val="FFFF00"/>
                </a:solidFill>
              </a:rPr>
              <a:t>"</a:t>
            </a:r>
            <a:r>
              <a:rPr lang="en-US" sz="2600" dirty="0"/>
              <a:t>&gt;female&lt;/</a:t>
            </a:r>
            <a:r>
              <a:rPr lang="en-US" sz="2600" dirty="0" err="1"/>
              <a:t>r:Label</a:t>
            </a:r>
            <a:r>
              <a:rPr lang="en-US" sz="2600" dirty="0"/>
              <a:t>&gt;</a:t>
            </a:r>
          </a:p>
          <a:p>
            <a:pPr marL="0" indent="0">
              <a:buNone/>
            </a:pPr>
            <a:r>
              <a:rPr lang="en-US" sz="2200" dirty="0"/>
              <a:t>&lt;/</a:t>
            </a:r>
            <a:r>
              <a:rPr lang="en-US" sz="2200" dirty="0" err="1"/>
              <a:t>l:Category</a:t>
            </a:r>
            <a:r>
              <a:rPr lang="en-US" sz="2200" dirty="0"/>
              <a:t>&gt;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Could l:Representation for l:Variable contain "</a:t>
            </a:r>
            <a:r>
              <a:rPr lang="en-US" dirty="0" err="1" smtClean="0">
                <a:solidFill>
                  <a:srgbClr val="FFFF00"/>
                </a:solidFill>
              </a:rPr>
              <a:t>PrimaryLabelType</a:t>
            </a:r>
            <a:r>
              <a:rPr lang="en-US" dirty="0" smtClean="0">
                <a:solidFill>
                  <a:srgbClr val="FFFF00"/>
                </a:solidFill>
              </a:rPr>
              <a:t>"?</a:t>
            </a:r>
            <a:endParaRPr lang="en-US" sz="32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&lt;</a:t>
            </a:r>
            <a:r>
              <a:rPr lang="en-US" sz="1800" dirty="0" err="1"/>
              <a:t>l:Representation</a:t>
            </a:r>
            <a:r>
              <a:rPr lang="en-US" sz="1800" dirty="0" smtClean="0"/>
              <a:t>&gt;     </a:t>
            </a:r>
          </a:p>
          <a:p>
            <a:pPr marL="0" indent="0">
              <a:buNone/>
            </a:pPr>
            <a:r>
              <a:rPr lang="en-US" sz="1800" dirty="0" smtClean="0"/>
              <a:t>  &lt;</a:t>
            </a:r>
            <a:r>
              <a:rPr lang="en-US" sz="1800" dirty="0" err="1"/>
              <a:t>l:CodeRepresentation</a:t>
            </a:r>
            <a:r>
              <a:rPr lang="en-US" sz="1800" dirty="0"/>
              <a:t> </a:t>
            </a:r>
            <a:r>
              <a:rPr lang="en-US" sz="1800" dirty="0" err="1"/>
              <a:t>blankIsMissingValue</a:t>
            </a:r>
            <a:r>
              <a:rPr lang="en-US" sz="1800" dirty="0"/>
              <a:t>="true" </a:t>
            </a:r>
            <a:r>
              <a:rPr lang="en-US" sz="1800" dirty="0" err="1"/>
              <a:t>classificationLevel</a:t>
            </a:r>
            <a:r>
              <a:rPr lang="en-US" sz="1800" dirty="0"/>
              <a:t>="Nominal</a:t>
            </a:r>
            <a:r>
              <a:rPr lang="en-US" sz="1800" dirty="0" smtClean="0"/>
              <a:t>"&gt;</a:t>
            </a:r>
          </a:p>
          <a:p>
            <a:pPr marL="0" indent="0">
              <a:buNone/>
            </a:pPr>
            <a:r>
              <a:rPr lang="en-US" sz="1800" dirty="0" smtClean="0"/>
              <a:t>      &lt;</a:t>
            </a:r>
            <a:r>
              <a:rPr lang="en-US" sz="1800" dirty="0" err="1"/>
              <a:t>r:RecommendedDataType</a:t>
            </a:r>
            <a:r>
              <a:rPr lang="en-US" sz="1800" dirty="0"/>
              <a:t>&gt;string&lt;/</a:t>
            </a:r>
            <a:r>
              <a:rPr lang="en-US" sz="1800" dirty="0" err="1"/>
              <a:t>r:RecommendedDataType</a:t>
            </a:r>
            <a:r>
              <a:rPr lang="en-US" sz="1800" dirty="0" smtClean="0"/>
              <a:t>&gt;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FF00"/>
                </a:solidFill>
              </a:rPr>
              <a:t> </a:t>
            </a:r>
            <a:r>
              <a:rPr lang="en-US" sz="2600" dirty="0" smtClean="0">
                <a:solidFill>
                  <a:srgbClr val="FFFF00"/>
                </a:solidFill>
              </a:rPr>
              <a:t>     &lt;l: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 err="1">
                <a:solidFill>
                  <a:srgbClr val="FFFF00"/>
                </a:solidFill>
              </a:rPr>
              <a:t>PrimaryLabelType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600" dirty="0" smtClean="0">
                <a:solidFill>
                  <a:srgbClr val="FFFF00"/>
                </a:solidFill>
              </a:rPr>
              <a:t>&gt; </a:t>
            </a:r>
            <a:r>
              <a:rPr lang="en-US" sz="2600" dirty="0" err="1">
                <a:solidFill>
                  <a:srgbClr val="FFFF00"/>
                </a:solidFill>
              </a:rPr>
              <a:t>GENDERshort</a:t>
            </a:r>
            <a:r>
              <a:rPr lang="en-US" sz="2600" dirty="0">
                <a:solidFill>
                  <a:srgbClr val="FFFF00"/>
                </a:solidFill>
              </a:rPr>
              <a:t> </a:t>
            </a:r>
            <a:r>
              <a:rPr lang="en-US" sz="2600" dirty="0" smtClean="0">
                <a:solidFill>
                  <a:srgbClr val="FFFF00"/>
                </a:solidFill>
              </a:rPr>
              <a:t>&lt;/l: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 err="1">
                <a:solidFill>
                  <a:srgbClr val="FFFF00"/>
                </a:solidFill>
              </a:rPr>
              <a:t>PrimaryLabelType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600" dirty="0" smtClean="0">
                <a:solidFill>
                  <a:srgbClr val="FFFF0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1800" dirty="0" smtClean="0"/>
              <a:t>      </a:t>
            </a:r>
            <a:r>
              <a:rPr lang="en-US" sz="1800" dirty="0"/>
              <a:t>&lt;</a:t>
            </a:r>
            <a:r>
              <a:rPr lang="en-US" sz="1800" dirty="0" err="1"/>
              <a:t>r:CodeSchemeReference</a:t>
            </a:r>
            <a:r>
              <a:rPr lang="en-US" sz="1800" dirty="0" smtClean="0"/>
              <a:t>&gt;       </a:t>
            </a:r>
          </a:p>
          <a:p>
            <a:pPr marL="0" indent="0">
              <a:buNone/>
            </a:pPr>
            <a:r>
              <a:rPr lang="en-US" sz="1800" dirty="0" smtClean="0"/>
              <a:t>         &lt;</a:t>
            </a:r>
            <a:r>
              <a:rPr lang="en-US" sz="1800" dirty="0" err="1"/>
              <a:t>r:ID</a:t>
            </a:r>
            <a:r>
              <a:rPr lang="en-US" sz="1800" dirty="0"/>
              <a:t>&gt;5c706c37-d19b-4b8e-ac6d-40094024421f&lt;/</a:t>
            </a:r>
            <a:r>
              <a:rPr lang="en-US" sz="1800" dirty="0" err="1"/>
              <a:t>r:ID</a:t>
            </a:r>
            <a:r>
              <a:rPr lang="en-US" sz="1800" dirty="0"/>
              <a:t>&gt;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  &lt;</a:t>
            </a:r>
            <a:r>
              <a:rPr lang="en-US" sz="1800" dirty="0" err="1"/>
              <a:t>r:IdentifyingAgency</a:t>
            </a:r>
            <a:r>
              <a:rPr lang="en-US" sz="1800" dirty="0"/>
              <a:t>&gt;example.org&lt;/</a:t>
            </a:r>
            <a:r>
              <a:rPr lang="en-US" sz="1800" dirty="0" err="1"/>
              <a:t>r:IdentifyingAgency</a:t>
            </a:r>
            <a:r>
              <a:rPr lang="en-US" sz="1800" dirty="0"/>
              <a:t>&gt;     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  &lt;</a:t>
            </a:r>
            <a:r>
              <a:rPr lang="en-US" sz="1800" dirty="0" err="1"/>
              <a:t>r:Version</a:t>
            </a:r>
            <a:r>
              <a:rPr lang="en-US" sz="1800" dirty="0"/>
              <a:t>&gt;1&lt;/</a:t>
            </a:r>
            <a:r>
              <a:rPr lang="en-US" sz="1800" dirty="0" err="1"/>
              <a:t>r:Version</a:t>
            </a:r>
            <a:r>
              <a:rPr lang="en-US" sz="1800" dirty="0"/>
              <a:t>&gt;    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&lt;/</a:t>
            </a:r>
            <a:r>
              <a:rPr lang="en-US" sz="1800" dirty="0" err="1"/>
              <a:t>r:CodeSchemeReference</a:t>
            </a:r>
            <a:r>
              <a:rPr lang="en-US" sz="1800" dirty="0"/>
              <a:t>&gt;   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&lt;/</a:t>
            </a:r>
            <a:r>
              <a:rPr lang="en-US" sz="1800" dirty="0" err="1"/>
              <a:t>l:CodeRepresentation</a:t>
            </a:r>
            <a:r>
              <a:rPr lang="en-US" sz="1800" dirty="0"/>
              <a:t>&gt;  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&lt;/</a:t>
            </a:r>
            <a:r>
              <a:rPr lang="en-US" sz="1800" dirty="0" err="1"/>
              <a:t>l:Representation</a:t>
            </a:r>
            <a:r>
              <a:rPr lang="en-US" sz="1800" dirty="0"/>
              <a:t>&gt;</a:t>
            </a:r>
            <a:endParaRPr lang="en-US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42</a:t>
            </a:fld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982817" y="1311965"/>
            <a:ext cx="357809" cy="265043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90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12535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Could be More Machine Actionable</a:t>
            </a:r>
            <a:br>
              <a:rPr lang="en-US" dirty="0" smtClean="0"/>
            </a:br>
            <a:r>
              <a:rPr lang="en-US" dirty="0" smtClean="0"/>
              <a:t>Than Using r:Description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7"/>
          <a:stretch/>
        </p:blipFill>
        <p:spPr>
          <a:xfrm>
            <a:off x="183743" y="1323680"/>
            <a:ext cx="8712063" cy="530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2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Could be More Machine Actionable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83" y="1280591"/>
            <a:ext cx="8663521" cy="205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688565"/>
          </a:xfrm>
        </p:spPr>
        <p:txBody>
          <a:bodyPr>
            <a:normAutofit fontScale="90000"/>
          </a:bodyPr>
          <a:lstStyle/>
          <a:p>
            <a:r>
              <a:rPr lang="en-US" dirty="0"/>
              <a:t>Suggestions for Archival Datasets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9"/>
          <a:stretch/>
        </p:blipFill>
        <p:spPr>
          <a:xfrm>
            <a:off x="692726" y="1994099"/>
            <a:ext cx="3587879" cy="3732338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"/>
          <a:stretch/>
        </p:blipFill>
        <p:spPr>
          <a:xfrm>
            <a:off x="4973782" y="1994099"/>
            <a:ext cx="3579036" cy="37323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2726" y="5892691"/>
            <a:ext cx="35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4938" y="5892691"/>
            <a:ext cx="35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4632" y="903408"/>
            <a:ext cx="851473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Use auxiliary variables </a:t>
            </a:r>
            <a:r>
              <a:rPr lang="en-US" sz="2800" dirty="0"/>
              <a:t>to indicate reason for </a:t>
            </a:r>
            <a:r>
              <a:rPr lang="en-US" sz="2800" dirty="0" smtClean="0"/>
              <a:t>missing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 smtClean="0"/>
              <a:t>These variables could be shared in a </a:t>
            </a:r>
            <a:r>
              <a:rPr lang="en-US" sz="2400" dirty="0" err="1" smtClean="0"/>
              <a:t>ResourcePackage</a:t>
            </a:r>
            <a:endParaRPr lang="en-US" sz="2400" dirty="0" smtClean="0"/>
          </a:p>
        </p:txBody>
      </p:sp>
      <p:sp>
        <p:nvSpPr>
          <p:cNvPr id="6" name="Rounded Rectangle 5"/>
          <p:cNvSpPr/>
          <p:nvPr/>
        </p:nvSpPr>
        <p:spPr>
          <a:xfrm>
            <a:off x="2172929" y="1795960"/>
            <a:ext cx="2399071" cy="4096731"/>
          </a:xfrm>
          <a:prstGeom prst="round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430297" y="1811902"/>
            <a:ext cx="2399071" cy="4096731"/>
          </a:xfrm>
          <a:prstGeom prst="round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9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6"/>
            <a:ext cx="9144000" cy="924540"/>
          </a:xfrm>
        </p:spPr>
        <p:txBody>
          <a:bodyPr>
            <a:normAutofit/>
          </a:bodyPr>
          <a:lstStyle/>
          <a:p>
            <a:r>
              <a:rPr lang="en-US" dirty="0"/>
              <a:t>Suggestions for Archival Datasets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6" y="2511659"/>
            <a:ext cx="8889212" cy="40152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256" y="1101213"/>
            <a:ext cx="8889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Auxiliary Variable for </a:t>
            </a:r>
            <a:r>
              <a:rPr lang="en-US" sz="3600" dirty="0" smtClean="0"/>
              <a:t>Missing:</a:t>
            </a:r>
          </a:p>
          <a:p>
            <a:r>
              <a:rPr lang="en-US" sz="3600" dirty="0" smtClean="0"/>
              <a:t> Pairing </a:t>
            </a:r>
            <a:r>
              <a:rPr lang="en-US" sz="3600" dirty="0"/>
              <a:t>Indicated With Variable 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2448484"/>
            <a:ext cx="2399071" cy="321220"/>
          </a:xfrm>
          <a:prstGeom prst="roundRect">
            <a:avLst/>
          </a:prstGeom>
          <a:noFill/>
          <a:ln w="635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2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Suggestions for Archival Datasets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additional variables for alternative formats?</a:t>
            </a:r>
          </a:p>
          <a:p>
            <a:pPr lvl="1"/>
            <a:r>
              <a:rPr lang="en-US" dirty="0" smtClean="0"/>
              <a:t>Long labels</a:t>
            </a:r>
          </a:p>
          <a:p>
            <a:pPr lvl="1"/>
            <a:r>
              <a:rPr lang="en-US" dirty="0" smtClean="0"/>
              <a:t>Languages</a:t>
            </a:r>
          </a:p>
          <a:p>
            <a:r>
              <a:rPr lang="en-US" dirty="0" smtClean="0"/>
              <a:t>An alternative would be to put multiple labels in keyed relational tables, but having multiple tables creates its own set of complications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0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Suggestions for Archival Datasets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092036"/>
            <a:ext cx="8229600" cy="4034127"/>
          </a:xfrm>
        </p:spPr>
        <p:txBody>
          <a:bodyPr/>
          <a:lstStyle/>
          <a:p>
            <a:r>
              <a:rPr lang="en-US" dirty="0" smtClean="0"/>
              <a:t>Create additional variables for coded ranges</a:t>
            </a:r>
          </a:p>
          <a:p>
            <a:pPr lvl="1"/>
            <a:r>
              <a:rPr lang="en-US" dirty="0" smtClean="0"/>
              <a:t>Information is lost – depends on what values are present.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88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Suggestions for Archival Datasets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2436"/>
            <a:ext cx="8229600" cy="4643727"/>
          </a:xfrm>
        </p:spPr>
        <p:txBody>
          <a:bodyPr/>
          <a:lstStyle/>
          <a:p>
            <a:r>
              <a:rPr lang="en-US" dirty="0" smtClean="0"/>
              <a:t>Use controlled vocabulary for user attributes (characteristics, properties)</a:t>
            </a:r>
          </a:p>
          <a:p>
            <a:pPr lvl="1"/>
            <a:r>
              <a:rPr lang="en-US" dirty="0" smtClean="0"/>
              <a:t>DDI based?</a:t>
            </a:r>
          </a:p>
          <a:p>
            <a:pPr lvl="1"/>
            <a:r>
              <a:rPr lang="en-US" dirty="0" smtClean="0"/>
              <a:t>Useful for Semantic Data form of DDI </a:t>
            </a:r>
            <a:r>
              <a:rPr lang="en-US" dirty="0"/>
              <a:t>element names ?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2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7636"/>
            <a:ext cx="8229600" cy="4948527"/>
          </a:xfrm>
        </p:spPr>
        <p:txBody>
          <a:bodyPr/>
          <a:lstStyle/>
          <a:p>
            <a:pPr lvl="0"/>
            <a:r>
              <a:rPr lang="en-US" dirty="0"/>
              <a:t>Adoption of DDI by tools like Stat/Transfer is encouraging. </a:t>
            </a:r>
            <a:endParaRPr lang="en-US" dirty="0" smtClean="0"/>
          </a:p>
          <a:p>
            <a:pPr lvl="0"/>
            <a:r>
              <a:rPr lang="en-US" dirty="0" smtClean="0"/>
              <a:t>The </a:t>
            </a:r>
            <a:r>
              <a:rPr lang="en-US" dirty="0"/>
              <a:t>current state still means that some important metadata that might be contained in proprietary format data files still must be either </a:t>
            </a:r>
            <a:endParaRPr lang="en-US" dirty="0" smtClean="0"/>
          </a:p>
          <a:p>
            <a:pPr lvl="1"/>
            <a:r>
              <a:rPr lang="en-US" dirty="0" smtClean="0"/>
              <a:t>hand </a:t>
            </a:r>
            <a:r>
              <a:rPr lang="en-US" dirty="0"/>
              <a:t>entered into DDI or </a:t>
            </a:r>
            <a:endParaRPr lang="en-US" dirty="0" smtClean="0"/>
          </a:p>
          <a:p>
            <a:pPr lvl="1"/>
            <a:r>
              <a:rPr lang="en-US" dirty="0" smtClean="0"/>
              <a:t>harvested </a:t>
            </a:r>
            <a:r>
              <a:rPr lang="en-US" dirty="0"/>
              <a:t>and entered by </a:t>
            </a:r>
            <a:r>
              <a:rPr lang="en-US" dirty="0" smtClean="0"/>
              <a:t>user-written or other </a:t>
            </a:r>
            <a:r>
              <a:rPr lang="en-US" dirty="0"/>
              <a:t>code.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93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Conclusions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Basic metadata is </a:t>
            </a:r>
            <a:r>
              <a:rPr lang="en-US" dirty="0" smtClean="0"/>
              <a:t>transferrable among </a:t>
            </a:r>
            <a:r>
              <a:rPr lang="en-US" dirty="0"/>
              <a:t>all </a:t>
            </a:r>
            <a:r>
              <a:rPr lang="en-US" dirty="0" smtClean="0"/>
              <a:t>5 packages </a:t>
            </a:r>
            <a:r>
              <a:rPr lang="en-US" dirty="0" smtClean="0"/>
              <a:t>through </a:t>
            </a:r>
            <a:r>
              <a:rPr lang="en-US" dirty="0" smtClean="0"/>
              <a:t>DDI</a:t>
            </a:r>
            <a:endParaRPr lang="en-US" dirty="0"/>
          </a:p>
          <a:p>
            <a:r>
              <a:rPr lang="en-US" dirty="0"/>
              <a:t>No one package </a:t>
            </a:r>
            <a:r>
              <a:rPr lang="en-US" dirty="0" smtClean="0"/>
              <a:t>has </a:t>
            </a:r>
            <a:r>
              <a:rPr lang="en-US" dirty="0"/>
              <a:t>a superset of the </a:t>
            </a:r>
            <a:r>
              <a:rPr lang="en-US" dirty="0" smtClean="0"/>
              <a:t>others, several desirable metadata elements are not universally supported</a:t>
            </a:r>
            <a:endParaRPr lang="en-US" dirty="0"/>
          </a:p>
          <a:p>
            <a:r>
              <a:rPr lang="en-US" dirty="0"/>
              <a:t>DDI </a:t>
            </a:r>
            <a:r>
              <a:rPr lang="en-US" dirty="0" smtClean="0"/>
              <a:t>almost supports a </a:t>
            </a:r>
            <a:r>
              <a:rPr lang="en-US" dirty="0"/>
              <a:t>superset of the packages </a:t>
            </a:r>
            <a:r>
              <a:rPr lang="en-US" dirty="0" smtClean="0"/>
              <a:t>considered – a worthwhile goal</a:t>
            </a:r>
            <a:endParaRPr lang="en-US" dirty="0"/>
          </a:p>
          <a:p>
            <a:r>
              <a:rPr lang="en-US" dirty="0" smtClean="0"/>
              <a:t>Representation </a:t>
            </a:r>
            <a:r>
              <a:rPr lang="en-US" dirty="0"/>
              <a:t>as a </a:t>
            </a:r>
            <a:r>
              <a:rPr lang="en-US" dirty="0" err="1"/>
              <a:t>ResourcePackage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a </a:t>
            </a:r>
            <a:r>
              <a:rPr lang="en-US" dirty="0" err="1"/>
              <a:t>StudyUnit</a:t>
            </a:r>
            <a:r>
              <a:rPr lang="en-US" dirty="0"/>
              <a:t> can require intermediate </a:t>
            </a:r>
            <a:r>
              <a:rPr lang="en-US" dirty="0" smtClean="0"/>
              <a:t>transformation </a:t>
            </a:r>
          </a:p>
          <a:p>
            <a:pPr lvl="1"/>
            <a:r>
              <a:rPr lang="en-US" dirty="0" smtClean="0"/>
              <a:t>Need best practice </a:t>
            </a:r>
            <a:r>
              <a:rPr lang="en-US" dirty="0" err="1" smtClean="0"/>
              <a:t>recommentation</a:t>
            </a:r>
            <a:r>
              <a:rPr lang="en-US" dirty="0" smtClean="0"/>
              <a:t>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9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Hoyle, Larry and Joachim </a:t>
            </a:r>
            <a:r>
              <a:rPr lang="en-US" sz="1800" dirty="0" err="1"/>
              <a:t>Wackerow</a:t>
            </a:r>
            <a:r>
              <a:rPr lang="en-US" sz="1800" dirty="0"/>
              <a:t> with Oliver </a:t>
            </a:r>
            <a:r>
              <a:rPr lang="en-US" sz="1800" dirty="0" err="1"/>
              <a:t>Hopt</a:t>
            </a:r>
            <a:r>
              <a:rPr lang="en-US" sz="1800" dirty="0"/>
              <a:t> </a:t>
            </a:r>
            <a:r>
              <a:rPr lang="en-US" sz="1800" i="1" dirty="0"/>
              <a:t>DDI 3: Extracting Metadata from the Data Analysis Workflow. </a:t>
            </a:r>
            <a:r>
              <a:rPr lang="en-US" sz="1800" dirty="0"/>
              <a:t>DDI Working Paper Series, </a:t>
            </a:r>
            <a:r>
              <a:rPr lang="en-US" sz="1800" dirty="0" err="1"/>
              <a:t>Schloss</a:t>
            </a:r>
            <a:r>
              <a:rPr lang="en-US" sz="1800" dirty="0"/>
              <a:t> </a:t>
            </a:r>
            <a:r>
              <a:rPr lang="en-US" sz="1800" dirty="0" err="1"/>
              <a:t>Dagstuhl</a:t>
            </a:r>
            <a:r>
              <a:rPr lang="en-US" sz="1800" dirty="0"/>
              <a:t>, Germany, 2010. http://dx.doi.org/10.3886/DDIUseCases04</a:t>
            </a:r>
            <a:endParaRPr lang="en-US" sz="1700" dirty="0" smtClean="0"/>
          </a:p>
          <a:p>
            <a:r>
              <a:rPr lang="en-US" sz="1700" dirty="0" smtClean="0"/>
              <a:t>R </a:t>
            </a:r>
            <a:r>
              <a:rPr lang="en-US" sz="1700" dirty="0"/>
              <a:t>Development Core Team (2009). R: A language and environment </a:t>
            </a:r>
            <a:r>
              <a:rPr lang="en-US" sz="1700" dirty="0" smtClean="0"/>
              <a:t>for  </a:t>
            </a:r>
            <a:r>
              <a:rPr lang="en-US" sz="1700" dirty="0"/>
              <a:t>statistical computing. R Foundation for Statistical Computing</a:t>
            </a:r>
            <a:r>
              <a:rPr lang="en-US" sz="1700" dirty="0" smtClean="0"/>
              <a:t>,  </a:t>
            </a:r>
            <a:r>
              <a:rPr lang="en-US" sz="1700" dirty="0"/>
              <a:t>Vienna, Austria. ISBN 3-900051-07-0, URL http://www.R-project.org</a:t>
            </a:r>
            <a:r>
              <a:rPr lang="en-US" sz="1700" dirty="0" smtClean="0"/>
              <a:t>.</a:t>
            </a:r>
            <a:r>
              <a:rPr lang="en-US" sz="1700" dirty="0"/>
              <a:t> </a:t>
            </a:r>
          </a:p>
          <a:p>
            <a:r>
              <a:rPr lang="en-US" sz="1700" dirty="0"/>
              <a:t>Wright, Philip A. </a:t>
            </a:r>
            <a:r>
              <a:rPr lang="en-US" sz="1700" i="1" dirty="0"/>
              <a:t>Eliminating Redundant Custom Formats </a:t>
            </a:r>
            <a:r>
              <a:rPr lang="en-US" sz="1700" dirty="0"/>
              <a:t>SAS Global Forum 2011 paper 217-2011 </a:t>
            </a:r>
            <a:r>
              <a:rPr lang="en-US" sz="1700" u="sng" dirty="0">
                <a:hlinkClick r:id="rId2"/>
              </a:rPr>
              <a:t>http://support.sas.com/resources/papers/proceedings11/217-2011.pdf</a:t>
            </a:r>
            <a:r>
              <a:rPr lang="en-US" sz="1700" dirty="0"/>
              <a:t> </a:t>
            </a:r>
            <a:r>
              <a:rPr lang="en-US" sz="1700" dirty="0" smtClean="0"/>
              <a:t> </a:t>
            </a:r>
          </a:p>
          <a:p>
            <a:endParaRPr lang="en-US" sz="1700" dirty="0"/>
          </a:p>
          <a:p>
            <a:endParaRPr lang="en-US" sz="1700" dirty="0" smtClean="0"/>
          </a:p>
          <a:p>
            <a:r>
              <a:rPr lang="en-US" sz="1700" dirty="0" smtClean="0"/>
              <a:t>JMP -  </a:t>
            </a:r>
            <a:r>
              <a:rPr lang="en-US" sz="1800" dirty="0">
                <a:hlinkClick r:id="rId3"/>
              </a:rPr>
              <a:t>http://www.jmp.com</a:t>
            </a:r>
            <a:r>
              <a:rPr lang="en-US" sz="1800" dirty="0" smtClean="0">
                <a:hlinkClick r:id="rId3"/>
              </a:rPr>
              <a:t>/</a:t>
            </a:r>
            <a:r>
              <a:rPr lang="en-US" sz="1800" dirty="0" smtClean="0"/>
              <a:t> </a:t>
            </a:r>
            <a:endParaRPr lang="en-US" sz="1700" dirty="0" smtClean="0"/>
          </a:p>
          <a:p>
            <a:r>
              <a:rPr lang="en-US" sz="1700" dirty="0" smtClean="0"/>
              <a:t>R -   </a:t>
            </a:r>
            <a:r>
              <a:rPr lang="en-US" sz="1800" dirty="0">
                <a:hlinkClick r:id="rId4"/>
              </a:rPr>
              <a:t>http://www.r-project.org</a:t>
            </a:r>
            <a:r>
              <a:rPr lang="en-US" sz="1800" dirty="0" smtClean="0">
                <a:hlinkClick r:id="rId4"/>
              </a:rPr>
              <a:t>/</a:t>
            </a:r>
            <a:r>
              <a:rPr lang="en-US" sz="1800" dirty="0" smtClean="0"/>
              <a:t> </a:t>
            </a:r>
            <a:endParaRPr lang="en-US" sz="1700" dirty="0" smtClean="0"/>
          </a:p>
          <a:p>
            <a:r>
              <a:rPr lang="en-US" sz="1700" dirty="0" smtClean="0"/>
              <a:t>SAS  -  </a:t>
            </a:r>
            <a:r>
              <a:rPr lang="en-US" sz="1800" dirty="0">
                <a:hlinkClick r:id="rId5"/>
              </a:rPr>
              <a:t>http://www.sas.com</a:t>
            </a:r>
            <a:r>
              <a:rPr lang="en-US" sz="1800" dirty="0" smtClean="0">
                <a:hlinkClick r:id="rId5"/>
              </a:rPr>
              <a:t>/</a:t>
            </a:r>
            <a:r>
              <a:rPr lang="en-US" sz="1800" dirty="0" smtClean="0"/>
              <a:t> </a:t>
            </a:r>
            <a:endParaRPr lang="en-US" sz="1700" dirty="0" smtClean="0"/>
          </a:p>
          <a:p>
            <a:r>
              <a:rPr lang="en-US" sz="1700" dirty="0" smtClean="0"/>
              <a:t>SPSS - </a:t>
            </a:r>
            <a:r>
              <a:rPr lang="en-US" sz="1800" dirty="0">
                <a:hlinkClick r:id="rId6"/>
              </a:rPr>
              <a:t>http://www-01.ibm.com/software/analytics/spss/</a:t>
            </a:r>
            <a:endParaRPr lang="en-US" sz="1700" dirty="0" smtClean="0"/>
          </a:p>
          <a:p>
            <a:r>
              <a:rPr lang="en-US" sz="1700" dirty="0" err="1" smtClean="0"/>
              <a:t>Stata</a:t>
            </a:r>
            <a:r>
              <a:rPr lang="en-US" sz="1700" dirty="0" smtClean="0"/>
              <a:t> - </a:t>
            </a:r>
            <a:r>
              <a:rPr lang="en-US" sz="1800" dirty="0">
                <a:hlinkClick r:id="rId7"/>
              </a:rPr>
              <a:t>http://www.stata.com/</a:t>
            </a:r>
            <a:endParaRPr lang="en-US" sz="1700" dirty="0" smtClean="0"/>
          </a:p>
          <a:p>
            <a:r>
              <a:rPr lang="en-US" sz="1700" dirty="0" smtClean="0"/>
              <a:t>Stat/Transfer -  </a:t>
            </a:r>
            <a:r>
              <a:rPr lang="en-US" sz="1800" dirty="0">
                <a:hlinkClick r:id="rId8"/>
              </a:rPr>
              <a:t>http://www.stattransfer.com</a:t>
            </a:r>
            <a:r>
              <a:rPr lang="en-US" sz="1800" dirty="0" smtClean="0">
                <a:hlinkClick r:id="rId8"/>
              </a:rPr>
              <a:t>/</a:t>
            </a:r>
            <a:r>
              <a:rPr lang="en-US" sz="1800" dirty="0" smtClean="0"/>
              <a:t> </a:t>
            </a:r>
            <a:endParaRPr lang="en-US" sz="17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9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731" y="3146137"/>
            <a:ext cx="7772400" cy="1362075"/>
          </a:xfrm>
        </p:spPr>
        <p:txBody>
          <a:bodyPr/>
          <a:lstStyle/>
          <a:p>
            <a:r>
              <a:rPr lang="en-US" dirty="0" smtClean="0"/>
              <a:t>Discussion?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91586" y="1438132"/>
            <a:ext cx="7772400" cy="15001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45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7524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Metadata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Shoe reference</a:t>
            </a:r>
          </a:p>
          <a:p>
            <a:r>
              <a:rPr lang="en-US" sz="3900" u="sng" dirty="0">
                <a:solidFill>
                  <a:srgbClr val="FFFF00"/>
                </a:solidFill>
                <a:hlinkClick r:id="rId2"/>
              </a:rPr>
              <a:t>http://</a:t>
            </a:r>
            <a:r>
              <a:rPr lang="en-US" sz="3900" u="sng" dirty="0" smtClean="0">
                <a:solidFill>
                  <a:srgbClr val="FFFF00"/>
                </a:solidFill>
                <a:hlinkClick r:id="rId2"/>
              </a:rPr>
              <a:t>www.shoecomics.com/archives/shoe_daily/shoe_daily100211.jpg</a:t>
            </a:r>
            <a:r>
              <a:rPr lang="en-US" sz="3900" u="sng" dirty="0" smtClean="0">
                <a:solidFill>
                  <a:srgbClr val="FFFF00"/>
                </a:solidFill>
              </a:rPr>
              <a:t> </a:t>
            </a:r>
            <a:endParaRPr lang="en-US" sz="3900" dirty="0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1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Contact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Larry Hoyle</a:t>
            </a:r>
          </a:p>
          <a:p>
            <a:pPr marL="457200" lvl="1" indent="0">
              <a:buNone/>
            </a:pPr>
            <a:r>
              <a:rPr lang="en-US" dirty="0" smtClean="0"/>
              <a:t>University of Kansas, </a:t>
            </a:r>
          </a:p>
          <a:p>
            <a:pPr marL="457200" lvl="1" indent="0">
              <a:buNone/>
            </a:pPr>
            <a:r>
              <a:rPr lang="en-US" dirty="0" smtClean="0"/>
              <a:t>Institute for Policy &amp; Social Research</a:t>
            </a:r>
          </a:p>
          <a:p>
            <a:pPr marL="457200" lvl="1" indent="0">
              <a:buNone/>
            </a:pPr>
            <a:r>
              <a:rPr lang="en-US" dirty="0" smtClean="0">
                <a:hlinkClick r:id="rId2"/>
              </a:rPr>
              <a:t>LarryHoyle@ku.edu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For files from thi</a:t>
            </a:r>
            <a:r>
              <a:rPr lang="en-US" dirty="0" smtClean="0"/>
              <a:t>s presentation s</a:t>
            </a:r>
            <a:r>
              <a:rPr lang="en-US" dirty="0" smtClean="0"/>
              <a:t>ee:</a:t>
            </a:r>
            <a:endParaRPr lang="en-US" dirty="0"/>
          </a:p>
          <a:p>
            <a:pPr marL="457200" lvl="1" indent="0">
              <a:buNone/>
            </a:pPr>
            <a:r>
              <a:rPr lang="en-US" u="sng" dirty="0">
                <a:hlinkClick r:id="rId3"/>
              </a:rPr>
              <a:t>http://www.ipsr.ku.edu/ksdata/DDI/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41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6800"/>
            <a:ext cx="8229600" cy="378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The authors view the inclusion of DDI into Stat/Transfer as an important development and look forward to its development into a very useful tool for the DDI community.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Dmitry Basko and Steven </a:t>
            </a:r>
            <a:r>
              <a:rPr lang="en-US" sz="2400" dirty="0" err="1" smtClean="0"/>
              <a:t>Dubnoff</a:t>
            </a:r>
            <a:r>
              <a:rPr lang="en-US" sz="2400" dirty="0"/>
              <a:t>  at Circle Systems have </a:t>
            </a:r>
            <a:r>
              <a:rPr lang="en-US" sz="2400" dirty="0" smtClean="0"/>
              <a:t>been very responsive in improving import and export between DDI and Stat/Transfer as suggestions have been made during the development of this paper.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EDDI 2011 Hoyle &amp; Wackerow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DD76-14B0-453E-BEBE-929728B1F293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61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F7875"/>
      </a:hlink>
      <a:folHlink>
        <a:srgbClr val="63242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1647</TotalTime>
  <Words>1983</Words>
  <Application>Microsoft Office PowerPoint</Application>
  <PresentationFormat>On-screen Show (4:3)</PresentationFormat>
  <Paragraphs>422</Paragraphs>
  <Slides>56</Slides>
  <Notes>1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Office Theme</vt:lpstr>
      <vt:lpstr>DDI as a Common Format for Export and Import from Statistical Packages</vt:lpstr>
      <vt:lpstr>DDI - Moving Data across Space and Time</vt:lpstr>
      <vt:lpstr>DDI 3.1 as Common Format</vt:lpstr>
      <vt:lpstr>Stat/Transfer (http://www.stattransfer.com/)</vt:lpstr>
      <vt:lpstr>Our Experiment With Stat/Transfer (S/T) Questions</vt:lpstr>
      <vt:lpstr>Our Experiment With Stat/Transfer</vt:lpstr>
      <vt:lpstr>Our Experiment With Stat/Transfer</vt:lpstr>
      <vt:lpstr>Our Experiment With Stat/Transfer</vt:lpstr>
      <vt:lpstr>The Dataset</vt:lpstr>
      <vt:lpstr>Custom Attributes (e.g. in SPSS)</vt:lpstr>
      <vt:lpstr>ResourcePackage vs StudyUnit?</vt:lpstr>
      <vt:lpstr>StudyUnit</vt:lpstr>
      <vt:lpstr>Embedded Data</vt:lpstr>
      <vt:lpstr>One Output: A Grid of Success/Failure</vt:lpstr>
      <vt:lpstr>What Generally Worked (Classic Codebook)</vt:lpstr>
      <vt:lpstr>What Mostly Worked</vt:lpstr>
      <vt:lpstr>Problems,  Dataset</vt:lpstr>
      <vt:lpstr>Dataset Level</vt:lpstr>
      <vt:lpstr>Problems -  Variables</vt:lpstr>
      <vt:lpstr>Variables</vt:lpstr>
      <vt:lpstr>Problems - Values</vt:lpstr>
      <vt:lpstr>Values</vt:lpstr>
      <vt:lpstr>Multiple Missing Values</vt:lpstr>
      <vt:lpstr>Multiple Sets of Value Labels for a Variable</vt:lpstr>
      <vt:lpstr>Multiple Sets of Value Labels for a Variable</vt:lpstr>
      <vt:lpstr>DDI – Multiple Labels for a Category</vt:lpstr>
      <vt:lpstr>Role </vt:lpstr>
      <vt:lpstr>Custom/User Variable Attributes</vt:lpstr>
      <vt:lpstr>Labeled Ranges in SAS and JMP</vt:lpstr>
      <vt:lpstr>Built-in Display Formats</vt:lpstr>
      <vt:lpstr>R DateTime and UTC conversion</vt:lpstr>
      <vt:lpstr>Using the Grid From Here to There</vt:lpstr>
      <vt:lpstr>Here to There (and Back Again?)</vt:lpstr>
      <vt:lpstr>R to the Others</vt:lpstr>
      <vt:lpstr>SPSS to the Others</vt:lpstr>
      <vt:lpstr>Stata to the Others</vt:lpstr>
      <vt:lpstr>SAS to the Others</vt:lpstr>
      <vt:lpstr>JMP to the Others</vt:lpstr>
      <vt:lpstr>Suggestions for DDI –  Custom/User Attributes</vt:lpstr>
      <vt:lpstr>Suggestions for DDI - Ranges</vt:lpstr>
      <vt:lpstr>Suggestions for DDI – Multiple Labels</vt:lpstr>
      <vt:lpstr>Suggestions for DDI – Multiple Labels</vt:lpstr>
      <vt:lpstr>Could be More Machine Actionable Than Using r:Description</vt:lpstr>
      <vt:lpstr>Could be More Machine Actionable</vt:lpstr>
      <vt:lpstr>Suggestions for Archival Datasets</vt:lpstr>
      <vt:lpstr>Suggestions for Archival Datasets</vt:lpstr>
      <vt:lpstr>Suggestions for Archival Datasets</vt:lpstr>
      <vt:lpstr>Suggestions for Archival Datasets</vt:lpstr>
      <vt:lpstr>Suggestions for Archival Datasets</vt:lpstr>
      <vt:lpstr>Conclusions</vt:lpstr>
      <vt:lpstr>Conclusions</vt:lpstr>
      <vt:lpstr>References</vt:lpstr>
      <vt:lpstr>Discussion?</vt:lpstr>
      <vt:lpstr>Metadata</vt:lpstr>
      <vt:lpstr>Contact</vt:lpstr>
      <vt:lpstr>Acknowledgements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DDI as a Common Format for Export and Import from Statistical Packages</dc:title>
  <dc:creator>lhoyle</dc:creator>
  <cp:lastModifiedBy>lhoyle</cp:lastModifiedBy>
  <cp:revision>201</cp:revision>
  <cp:lastPrinted>2011-11-17T22:04:57Z</cp:lastPrinted>
  <dcterms:created xsi:type="dcterms:W3CDTF">2011-11-14T19:29:07Z</dcterms:created>
  <dcterms:modified xsi:type="dcterms:W3CDTF">2011-12-01T19:31:23Z</dcterms:modified>
</cp:coreProperties>
</file>